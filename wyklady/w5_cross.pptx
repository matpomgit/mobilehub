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3" r:id="rId27"/>
    <p:sldId id="283" r:id="rId28"/>
    <p:sldId id="296" r:id="rId29"/>
    <p:sldId id="292" r:id="rId30"/>
    <p:sldId id="284" r:id="rId31"/>
    <p:sldId id="295" r:id="rId32"/>
    <p:sldId id="294" r:id="rId33"/>
    <p:sldId id="285" r:id="rId34"/>
    <p:sldId id="286" r:id="rId35"/>
    <p:sldId id="287" r:id="rId36"/>
    <p:sldId id="282" r:id="rId37"/>
    <p:sldId id="288" r:id="rId38"/>
    <p:sldId id="289" r:id="rId39"/>
    <p:sldId id="290" r:id="rId40"/>
    <p:sldId id="291" r:id="rId41"/>
  </p:sldIdLst>
  <p:sldSz cx="12192000" cy="6858000"/>
  <p:notesSz cx="6858000" cy="12192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C5"/>
    <a:srgbClr val="FF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Styl jasny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Styl z motywem 1 — Ak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034E78-7F5D-4C2E-B375-FC64B27BC917}" styleName="Styl ciemny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399" autoAdjust="0"/>
  </p:normalViewPr>
  <p:slideViewPr>
    <p:cSldViewPr snapToGrid="0">
      <p:cViewPr>
        <p:scale>
          <a:sx n="75" d="100"/>
          <a:sy n="75" d="100"/>
        </p:scale>
        <p:origin x="191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4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6173" cy="609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l-PL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sz="quarter" idx="1"/>
          </p:nvPr>
        </p:nvSpPr>
        <p:spPr>
          <a:xfrm>
            <a:off x="3881795" y="0"/>
            <a:ext cx="2976173" cy="609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l-PL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Symbol zastępczy stopki 3"/>
          <p:cNvSpPr txBox="1">
            <a:spLocks noGrp="1"/>
          </p:cNvSpPr>
          <p:nvPr>
            <p:ph type="ftr" sz="quarter" idx="2"/>
          </p:nvPr>
        </p:nvSpPr>
        <p:spPr>
          <a:xfrm>
            <a:off x="0" y="11582603"/>
            <a:ext cx="2976173" cy="609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l-PL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ymbol zastępczy numeru slajdu 4"/>
          <p:cNvSpPr txBox="1">
            <a:spLocks noGrp="1"/>
          </p:cNvSpPr>
          <p:nvPr>
            <p:ph type="sldNum" sz="quarter" idx="3"/>
          </p:nvPr>
        </p:nvSpPr>
        <p:spPr>
          <a:xfrm>
            <a:off x="3881795" y="11582603"/>
            <a:ext cx="2976173" cy="609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050CBBB5-4BD5-40DF-BDB9-6402C50C82A7}" type="slidenum">
              <a:t>‹#›</a:t>
            </a:fld>
            <a:endParaRPr lang="pl-PL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240254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lvl="0" rtl="0" hangingPunct="0">
              <a:buNone/>
              <a:tabLst/>
              <a:defRPr lang="pl-PL" sz="2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3" name="Symbol zastępczy daty 2"/>
          <p:cNvSpPr txBox="1">
            <a:spLocks noGrp="1"/>
          </p:cNvSpPr>
          <p:nvPr>
            <p:ph type="dt" idx="1"/>
          </p:nvPr>
        </p:nvSpPr>
        <p:spPr>
          <a:xfrm>
            <a:off x="3884759" y="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3880"/>
            <a:ext cx="7315200" cy="41148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5" name="Symbol zastępczy notatek 4"/>
          <p:cNvSpPr txBox="1">
            <a:spLocks noGrp="1"/>
          </p:cNvSpPr>
          <p:nvPr>
            <p:ph type="body" sz="quarter" idx="3"/>
          </p:nvPr>
        </p:nvSpPr>
        <p:spPr>
          <a:xfrm>
            <a:off x="685799" y="5867279"/>
            <a:ext cx="5486399" cy="4800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 txBox="1">
            <a:spLocks noGrp="1"/>
          </p:cNvSpPr>
          <p:nvPr>
            <p:ph type="ftr" sz="quarter" idx="4"/>
          </p:nvPr>
        </p:nvSpPr>
        <p:spPr>
          <a:xfrm>
            <a:off x="0" y="1158084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>
            <a:lvl1pPr lvl="0" rtl="0" hangingPunct="0">
              <a:buNone/>
              <a:tabLst/>
              <a:defRPr lang="pl-PL" sz="2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l-PL"/>
          </a:p>
        </p:txBody>
      </p:sp>
      <p:sp>
        <p:nvSpPr>
          <p:cNvPr id="7" name="Symbol zastępczy numeru slajdu 6"/>
          <p:cNvSpPr txBox="1">
            <a:spLocks noGrp="1"/>
          </p:cNvSpPr>
          <p:nvPr>
            <p:ph type="sldNum" sz="quarter" idx="5"/>
          </p:nvPr>
        </p:nvSpPr>
        <p:spPr>
          <a:xfrm>
            <a:off x="3884759" y="11580840"/>
            <a:ext cx="2971800" cy="611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 b="0" i="0" u="none" strike="noStrike" kern="1200" cap="none" spc="0" baseline="0">
                <a:solidFill>
                  <a:srgbClr val="000000"/>
                </a:solidFill>
                <a:latin typeface="Calibri"/>
                <a:ea typeface="DejaVu Sans" pitchFamily="2"/>
                <a:cs typeface="Noto Sans" pitchFamily="2"/>
              </a:defRPr>
            </a:lvl1pPr>
          </a:lstStyle>
          <a:p>
            <a:pPr lvl="0"/>
            <a:fld id="{F04C580B-DD70-409F-8F74-F3C693B03BCF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831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1pPr>
    <a:lvl2pPr marL="457200" marR="0" lvl="1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2pPr>
    <a:lvl3pPr marL="914400" marR="0" lvl="2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3pPr>
    <a:lvl4pPr marL="1371599" marR="0" lvl="3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4pPr>
    <a:lvl5pPr marL="1828800" marR="0" lvl="4" indent="0" algn="l" rtl="0" hangingPunct="1">
      <a:lnSpc>
        <a:spcPct val="100000"/>
      </a:lnSpc>
      <a:spcBef>
        <a:spcPts val="0"/>
      </a:spcBef>
      <a:spcAft>
        <a:spcPts val="0"/>
      </a:spcAft>
      <a:buNone/>
      <a:tabLst/>
      <a:defRPr lang="pl-PL" sz="1200" b="0" i="0" u="none" strike="noStrike" kern="1200" cap="none" spc="0" baseline="0">
        <a:ln>
          <a:noFill/>
        </a:ln>
        <a:solidFill>
          <a:srgbClr val="000000"/>
        </a:solidFill>
        <a:highlight>
          <a:scrgbClr r="0" g="0" b="0">
            <a:alpha val="0"/>
          </a:scrgbClr>
        </a:highlight>
        <a:latin typeface="Calibri" pitchFamily="18"/>
        <a:ea typeface="Noto Sans CJK SC" pitchFamily="2"/>
        <a:cs typeface="Noto Sans Devanagari" pitchFamily="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E947525D-46CD-475A-A00F-C849A0C357C9}" type="slidenum">
              <a:t>1</a:t>
            </a:fld>
            <a:endParaRPr lang="pl-PL" dirty="0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 dirty="0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3B194C2-4957-4725-A4BF-68D49832D9A5}" type="slidenum">
              <a:t>1</a:t>
            </a:fld>
            <a:endParaRPr lang="pl-PL" dirty="0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Programowanie cross-platformowe i PWA to w gruncie rzeczy odpowiedź na bardzo praktyczny problem inżynierski: jak dostarczyć tę samą funkcjonalność na wielu platformach bez dublowania pracy. W rzeczywistych projektach niemal nigdy nie mamy nieograniczonych zasobów, dlatego decyzja technologiczna jest zawsze kompromisem. Z jednej strony mamy wymagania wydajnościowe i dostęp do sprzętu, z drugiej presję czasu i budżetu. Właśnie w tym napięciu pojawiają się rozwiązania cross-platformowe. Warto zauważyć, że rosnąca liczba użytkowników mobilnych – już miliardy – powoduje, że utrzymywanie osobnych aplikacji dla każdej platformy przestaje być skalowalne w wielu scenariuszach biznesowych. Ciekawostką jest, że w praktyce wiele dużych firm zaczynało od aplikacji natywnych, a dopiero później migrowało część logiki do podejść współdzielonych, gdy skala systemu zaczynała dominować nad optymalizacją per platforma.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F4B889A-9A88-4CDE-AAB1-40CA86A4B0FD}" type="slidenum">
              <a:t>2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6F758900-6D56-4C79-9BB3-1AD345C62789}" type="slidenum">
              <a:t>2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Struktura całego materiału nie jest przypadkowa. Najpierw buduję fundament pojęciowy, bo bez niego porównania technologiczne są często powierzchowne. Następnie pokazuję ewolucję, która pozwala zrozumieć, dlaczego dzisiejsze narzędzia wyglądają tak, a nie inaczej. Dopiero na tej podstawie przechodzę do porównań i konkretnych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W praktyce taki sposób myślenia bardzo dobrze przekłada się na realne decyzje projektowe: zamiast pytać „który </a:t>
            </a:r>
            <a:r>
              <a:rPr lang="pl-PL" sz="2000" dirty="0" err="1" smtClean="0"/>
              <a:t>framework</a:t>
            </a:r>
            <a:r>
              <a:rPr lang="pl-PL" sz="2000" dirty="0" smtClean="0"/>
              <a:t> jest najlepszy”, zaczynamy od pytania „jakie mamy ograniczenia i cele systemowe”. To podejście jest bliższe inżynierii niż marketingowi technologii.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BC8F37C-9F7D-421B-B26B-03E0A442FEC9}" type="slidenum">
              <a:t>3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6DD34B2-11AA-4267-BF03-817B5816AF82}" type="slidenum">
              <a:t>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73AAB4F8-B1D0-44DA-BC85-4C24BF5483D1}" type="slidenum">
              <a:t>4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131865F-A332-45E4-B477-04F7D3EAE0EB}" type="slidenum">
              <a:t>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Programowanie cross-platformowe można rozumieć jako próbę maksymalizacji współdzielenia kodu przy akceptowalnej utracie kontroli nad platformą. W najprostszym ujęciu piszemy jedną logikę biznesową i uruchamiamy ją na wielu systemach. W praktyce jednak poziom współdzielenia nigdy nie wynosi 100% – zawsze istnieją fragmenty specyficzne dla platformy, szczególnie przy pracy z UI i sprzętem. To, co jest interesujące z naukowego punktu widzenia, to kompromis między abstrakcją a wydajnością. Każda dodatkowa warstwa abstrakcji upraszcza rozwój, ale potencjalnie wprowadza narzut. Dlatego różne </a:t>
            </a:r>
            <a:r>
              <a:rPr lang="pl-PL" sz="2000" dirty="0" err="1" smtClean="0"/>
              <a:t>frameworki</a:t>
            </a:r>
            <a:r>
              <a:rPr lang="pl-PL" sz="2000" dirty="0" smtClean="0"/>
              <a:t> podejmują różne decyzje projektowe w tym zakresie.</a:t>
            </a:r>
          </a:p>
          <a:p>
            <a:pPr indent="-216000" hangingPunct="0"/>
            <a:endParaRPr lang="pl-PL" sz="2000" dirty="0" smtClean="0">
              <a:latin typeface="Liberation Sans" pitchFamily="18"/>
            </a:endParaRPr>
          </a:p>
          <a:p>
            <a:pPr indent="-216000" hangingPunct="0"/>
            <a:r>
              <a:rPr lang="pl-PL" sz="2000" dirty="0" smtClean="0"/>
              <a:t>Nie wszystkie </a:t>
            </a:r>
            <a:r>
              <a:rPr lang="pl-PL" sz="2000" dirty="0" err="1" smtClean="0"/>
              <a:t>frameworki</a:t>
            </a:r>
            <a:r>
              <a:rPr lang="pl-PL" sz="2000" dirty="0" smtClean="0"/>
              <a:t> cross-platformowe są równoważne. Kluczowa różnica dotyczy sposobu interakcji z systemem operacyjnym. Rozwiązania oparte o </a:t>
            </a:r>
            <a:r>
              <a:rPr lang="pl-PL" sz="2000" dirty="0" err="1" smtClean="0"/>
              <a:t>WebView</a:t>
            </a:r>
            <a:r>
              <a:rPr lang="pl-PL" sz="2000" dirty="0" smtClean="0"/>
              <a:t> traktują aplikację jako stronę internetową opakowaną w natywny kontener. Podejścia mostkowe, takie jak klasyczny </a:t>
            </a:r>
            <a:r>
              <a:rPr lang="pl-PL" sz="2000" dirty="0" err="1" smtClean="0"/>
              <a:t>React</a:t>
            </a:r>
            <a:r>
              <a:rPr lang="pl-PL" sz="2000" dirty="0" smtClean="0"/>
              <a:t> Native, wprowadzają warstwę komunikacji między kodem wysokiego poziomu a natywnymi komponentami. Z kolei Flutter eliminuje ten problem, </a:t>
            </a:r>
            <a:r>
              <a:rPr lang="pl-PL" sz="2000" dirty="0" err="1" smtClean="0"/>
              <a:t>renderując</a:t>
            </a:r>
            <a:r>
              <a:rPr lang="pl-PL" sz="2000" dirty="0" smtClean="0"/>
              <a:t> UI samodzielnie. To rozróżnienie ma bezpośrednie konsekwencje dla latencji, zużycia pamięci i spójności interfejsu. W praktyce oznacza to, że wybór </a:t>
            </a:r>
            <a:r>
              <a:rPr lang="pl-PL" sz="2000" dirty="0" err="1" smtClean="0"/>
              <a:t>frameworka</a:t>
            </a:r>
            <a:r>
              <a:rPr lang="pl-PL" sz="2000" dirty="0" smtClean="0"/>
              <a:t> jest w dużej mierze wyborem modelu architektonicznego.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4D5F12F-C3D1-4A64-B907-602AACBCE5E6}" type="slidenum">
              <a:t>5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1455C802-3F15-4B97-984E-9104A69AA0A4}" type="slidenum">
              <a:t>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Ewolucja technologii cross-platformowych dobrze pokazuje, jak rynek wymusza zmiany technologiczne. Początkowe rozwiązania były szybkie w implementacji, ale cierpiały na problemy wydajnościowe i słabe UX. Kolejne generacje próbowały to naprawić, najpierw przez lepsze komponenty UI, potem przez integrację z natywnym kodem, a dziś przez eliminację wąskich gardeł architektonicznych. Warto zauważyć, że współczesne </a:t>
            </a:r>
            <a:r>
              <a:rPr lang="pl-PL" sz="2000" dirty="0" err="1" smtClean="0"/>
              <a:t>frameworki</a:t>
            </a:r>
            <a:r>
              <a:rPr lang="pl-PL" sz="2000" dirty="0" smtClean="0"/>
              <a:t> coraz bardziej zbliżają się do wydajności natywnej, co jeszcze kilka lat temu było trudne do osiągnięcia. To jest dobry przykład iteracyjnej optymalizacji w systemach programistycznych.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7FAA00B-6BBC-4868-B391-8B28229FA161}" type="slidenum">
              <a:t>6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312B40D-67F3-4B11-BA0D-15BAC7B5D881}" type="slidenum">
              <a:t>6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7F0F7FF-8F11-4D42-9CDD-AD8F75E13997}" type="slidenum">
              <a:t>7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BB2C5413-7E77-47AE-8D56-71B913193B67}" type="slidenum">
              <a:t>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Porównanie podejścia natywnego i cross-platformowego należy traktować jako analizę wielokryterialną. Nie chodzi o jednoznaczne zwycięstwo jednej strony, tylko o dopasowanie technologii do problemu. W praktyce często stosuje się podejścia hybrydowe: część aplikacji jest współdzielona, a krytyczne fragmenty są implementowane natywnie. Takie podejście pozwala uzyskać równowagę między produktywnością a wydajnością. To również pokazuje, że granica między tymi paradygmatami jest płynna.</a:t>
            </a:r>
          </a:p>
          <a:p>
            <a:pPr indent="-216000" hangingPunct="0"/>
            <a:r>
              <a:rPr lang="pl-PL" sz="2000" dirty="0" smtClean="0"/>
              <a:t>Programowanie natywne daje maksymalną kontrolę nad środowiskiem wykonawczym. Programista ma bezpośredni dostęp do API systemu, co przekłada się na wydajność, efektywność energetyczną i możliwość wykorzystania wszystkich funkcji sprzętowych. Jest to szczególnie istotne w aplikacjach czasu rzeczywistego, grach czy systemach medycznych. Jednocześnie koszt wejścia jest wyższy, ponieważ wymaga utrzymywania oddzielnych zespołów i kompetencji dla każdej platformy. W długim okresie oznacza to większą złożoność organizacyjną.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10C9EB7B-EA76-4671-940A-E1A3A6F43A8E}" type="slidenum">
              <a:t>8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F382DA6-9C90-4E6A-830E-53666E765125}" type="slidenum">
              <a:t>8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Porównanie obu podejść w praktyce pokazuje, że różnice nie są tylko techniczne, ale również organizacyjne. Cross-platform skraca czas </a:t>
            </a:r>
            <a:r>
              <a:rPr lang="pl-PL" sz="2000" dirty="0" err="1" smtClean="0"/>
              <a:t>developmentu</a:t>
            </a:r>
            <a:r>
              <a:rPr lang="pl-PL" sz="2000" dirty="0" smtClean="0"/>
              <a:t> i upraszcza utrzymanie, co jest kluczowe dla startupów i projektów MVP. Natywne rozwiązania zapewniają natomiast przewagę tam, gdzie każda milisekunda ma znaczenie. Interesujące jest to, że w wielu przypadkach użytkownik końcowy nie jest w stanie odróżnić dobrze napisanej aplikacji cross-platformowej od natywnej, co przesuwa punkt ciężkości decyzji w stronę ekonomii projektu.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A2B2BFA-BAA6-4D89-BBAA-D61805DC18FA}" type="slidenum">
              <a:t>9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4A4A73E3-D5E2-4001-9D42-0BF3EFD63E50}" type="slidenum">
              <a:t>9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Zalety podejścia natywnego wynikają głównie z braku pośrednich warstw. Bezpośredni dostęp do sprzętu eliminuje narzuty i umożliwia optymalizację na bardzo niskim poziomie. Z drugiej strony pojawia się problem duplikacji pracy. Każda poprawka, każda nowa funkcja musi być implementowana wielokrotnie. W dużych systemach prowadzi to do zjawiska rozchodzenia się funkcjonalności między platformami, co jest istotnym problemem utrzymaniowym.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D9C9136-B3AD-419A-ABC5-E6B0005DA7C3}" type="slidenum">
              <a:t>10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91F00878-E42D-4D31-A92E-35BDC579662F}" type="slidenum">
              <a:t>10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Podejście cross-platformowe upraszcza proces wytwarzania oprogramowania przez centralizację logiki. Jedna baza kodu oznacza mniej miejsc potencjalnych błędów i szybsze iteracje. Jednak ta centralizacja odbywa się kosztem pewnej utraty kontroli nad platformą. W aplikacjach wymagających intensywnych obliczeń lub zaawansowanych animacji różnice wydajnościowe mogą być zauważalne. Dlatego kluczowe jest właściwe rozpoznanie wymagań projektu przed wyborem technologii.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0C931C78-CE93-4720-9FF3-C2B4CB6D38F0}" type="slidenum">
              <a:t>11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00499A4-E90C-4513-BFDD-6B917F44401E}" type="slidenum">
              <a:t>11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6300B57-67CD-41B7-8B8C-FB4EB13CBEC6}" type="slidenum">
              <a:t>12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C5198071-7841-45D2-AAA2-7543A44DC3E7}" type="slidenum">
              <a:t>12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Architektura aplikacji mobilnych jest często niedoceniana, a w praktyce decyduje o długoterminowej jakości systemu. Warstwowe podejście pozwala oddzielić odpowiedzialności i zwiększyć testowalność. W dobrze zaprojektowanym systemie zmiana w jednej warstwie nie powinna wpływać na pozostałe. To jest klasyczna zasada inżynierii oprogramowania, która pozostaje aktualna niezależnie od użytej technologii.</a:t>
            </a:r>
          </a:p>
          <a:p>
            <a:pPr indent="-216000" hangingPunct="0"/>
            <a:r>
              <a:rPr lang="pl-PL" sz="2000" dirty="0" smtClean="0"/>
              <a:t>Architektura natywna wykorzystuje pełnię możliwości platformy. Wzorce takie jak MVC, MVVM czy VIPER nie są tylko konwencją, ale próbą rozwiązania problemu zarządzania złożonością. Szczególnie istotne jest zarządzanie stanem i przepływem danych, które w aplikacjach mobilnych bywa trudniejsze niż w systemach </a:t>
            </a:r>
            <a:r>
              <a:rPr lang="pl-PL" sz="2000" dirty="0" err="1" smtClean="0"/>
              <a:t>backendowych</a:t>
            </a:r>
            <a:r>
              <a:rPr lang="pl-PL" sz="2000" dirty="0" smtClean="0"/>
              <a:t> ze względu na ograniczenia zasobów i asynchroniczność operacji.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039D558-52E5-4D80-B800-63EB9D369F67}" type="slidenum">
              <a:t>13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A9FC7E9D-4F82-4198-A601-89265B4BDC6B}" type="slidenum">
              <a:t>13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Architektura cross-platformowa wprowadza dodatkową warstwę abstrakcji. W </a:t>
            </a:r>
            <a:r>
              <a:rPr lang="pl-PL" sz="2000" dirty="0" err="1" smtClean="0"/>
              <a:t>React</a:t>
            </a:r>
            <a:r>
              <a:rPr lang="pl-PL" sz="2000" dirty="0" smtClean="0"/>
              <a:t> Native kluczowym elementem był mostek, który komunikował świat JavaScript z natywnym kodem. Flutter podchodzi do problemu inaczej, eliminując potrzebę takiej komunikacji w większości przypadków. To pokazuje dwa różne paradygmaty: translację </a:t>
            </a:r>
            <a:r>
              <a:rPr lang="pl-PL" sz="2000" dirty="0" err="1" smtClean="0"/>
              <a:t>wywołań</a:t>
            </a:r>
            <a:r>
              <a:rPr lang="pl-PL" sz="2000" dirty="0" smtClean="0"/>
              <a:t> versus pełną kontrolę nad renderingiem. Każdy z nich ma inne konsekwencje dla wydajności i elastyczności.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63841B3-D01C-4E7B-9FFE-4AE36D161468}" type="slidenum">
              <a:t>14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E43D4D1A-83A3-41EE-9605-91F3B365B175}" type="slidenum">
              <a:t>14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488C9AF-987D-4082-BA85-40EEFED2672F}" type="slidenum">
              <a:t>15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2428E9F-31FE-4FF7-AC8D-A889B6F26BDB}" type="slidenum">
              <a:t>15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err="1" smtClean="0"/>
              <a:t>React</a:t>
            </a:r>
            <a:r>
              <a:rPr lang="pl-PL" sz="2000" dirty="0" smtClean="0"/>
              <a:t> Native jest dobrym przykładem kompromisu między światem webowym a mobilnym. Dla zespołów znających </a:t>
            </a:r>
            <a:r>
              <a:rPr lang="pl-PL" sz="2000" dirty="0" err="1" smtClean="0"/>
              <a:t>React</a:t>
            </a:r>
            <a:r>
              <a:rPr lang="pl-PL" sz="2000" dirty="0" smtClean="0"/>
              <a:t> wejście w mobile jest relatywnie łatwe. Jednocześnie zachowany jest natywny charakter interfejsu, co poprawia </a:t>
            </a:r>
            <a:r>
              <a:rPr lang="pl-PL" sz="2000" dirty="0" err="1" smtClean="0"/>
              <a:t>dośw</a:t>
            </a:r>
            <a:endParaRPr lang="pl-PL" sz="2000" dirty="0" smtClean="0"/>
          </a:p>
          <a:p>
            <a:pPr indent="-216000" hangingPunct="0"/>
            <a:r>
              <a:rPr lang="pl-PL" sz="2000" dirty="0" smtClean="0"/>
              <a:t>Mechanizm działania </a:t>
            </a:r>
            <a:r>
              <a:rPr lang="pl-PL" sz="2000" dirty="0" err="1" smtClean="0"/>
              <a:t>React</a:t>
            </a:r>
            <a:r>
              <a:rPr lang="pl-PL" sz="2000" dirty="0" smtClean="0"/>
              <a:t> Native opiera się na rozdzieleniu logiki i warstwy prezentacji. Kod JavaScript definiuje strukturę i zachowanie, a natywne komponenty odpowiadają za </a:t>
            </a:r>
            <a:r>
              <a:rPr lang="pl-PL" sz="2000" dirty="0" err="1" smtClean="0"/>
              <a:t>renderowanie</a:t>
            </a:r>
            <a:r>
              <a:rPr lang="pl-PL" sz="2000" dirty="0" smtClean="0"/>
              <a:t>. To podejście pozwala wykorzystać istniejące kompetencje webowe, ale wprowadza koszty komunikacji między warstwami. W praktyce oznacza to, że nie wszystkie operacje są równie </a:t>
            </a:r>
            <a:r>
              <a:rPr lang="pl-PL" sz="2000" dirty="0" err="1" smtClean="0"/>
              <a:t>efektywne.iadczenie</a:t>
            </a:r>
            <a:r>
              <a:rPr lang="pl-PL" sz="2000" dirty="0" smtClean="0"/>
              <a:t> użytkownika. To podejście było szczególnie popularne w firmach, które wcześniej budowały swoje produkty jako aplikacje webowe.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3208F6D-34FF-45B3-82DD-9972D35FA039}" type="slidenum">
              <a:t>16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100672B-CCAB-4FDE-8951-F2D414CCA40B}" type="slidenum">
              <a:t>16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Nowa architektura </a:t>
            </a:r>
            <a:r>
              <a:rPr lang="pl-PL" sz="2000" dirty="0" err="1" smtClean="0"/>
              <a:t>React</a:t>
            </a:r>
            <a:r>
              <a:rPr lang="pl-PL" sz="2000" dirty="0" smtClean="0"/>
              <a:t> Native jest odpowiedzią na ograniczenia wcześniejszych wersji. Eliminacja mostka i wprowadzenie bezpośredniej komunikacji znacząco poprawia wydajność i redukuje opóźnienia. To interesujący przykład </a:t>
            </a:r>
            <a:r>
              <a:rPr lang="pl-PL" sz="2000" dirty="0" err="1" smtClean="0"/>
              <a:t>refaktoryzacji</a:t>
            </a:r>
            <a:r>
              <a:rPr lang="pl-PL" sz="2000" dirty="0" smtClean="0"/>
              <a:t> architektury na poziomie </a:t>
            </a:r>
            <a:r>
              <a:rPr lang="pl-PL" sz="2000" dirty="0" err="1" smtClean="0"/>
              <a:t>frameworka</a:t>
            </a:r>
            <a:r>
              <a:rPr lang="pl-PL" sz="2000" dirty="0" smtClean="0"/>
              <a:t>, który pokazuje, jak duże znaczenie mają decyzje projektowe na poziomie systemowym.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86247BA-52FB-44A6-9C42-7609AB177FBB}" type="slidenum">
              <a:t>17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036D0CB-D485-456C-B8B5-6D23179E1A68}" type="slidenum">
              <a:t>17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9ECBB70-EA2C-4BA7-9836-311FCBC9DD75}" type="slidenum">
              <a:t>18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8DF083E-AA7B-4D3F-B559-2DBB92A47041}" type="slidenum">
              <a:t>18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Flutter reprezentuje inne podejście: zamiast adaptować się do platformy, buduje własne środowisko renderujące. Dzięki temu uzyskuje spójność i przewidywalność działania. </a:t>
            </a:r>
            <a:r>
              <a:rPr lang="pl-PL" sz="2000" dirty="0" err="1" smtClean="0"/>
              <a:t>Dart</a:t>
            </a:r>
            <a:r>
              <a:rPr lang="pl-PL" sz="2000" dirty="0" smtClean="0"/>
              <a:t> FFI uzupełnia ten model, umożliwiając integrację z kodem niskopoziomowym. To pokazuje, że nawet w wysokopoziomowym </a:t>
            </a:r>
            <a:r>
              <a:rPr lang="pl-PL" sz="2000" dirty="0" err="1" smtClean="0"/>
              <a:t>frameworku</a:t>
            </a:r>
            <a:r>
              <a:rPr lang="pl-PL" sz="2000" dirty="0" smtClean="0"/>
              <a:t> można zachować dostęp do optymalizacji na poziomie systemowym.</a:t>
            </a:r>
          </a:p>
          <a:p>
            <a:pPr indent="-216000" hangingPunct="0"/>
            <a:r>
              <a:rPr lang="pl-PL" sz="2000" dirty="0" smtClean="0"/>
              <a:t>Podstawy </a:t>
            </a:r>
            <a:r>
              <a:rPr lang="pl-PL" sz="2000" dirty="0" err="1" smtClean="0"/>
              <a:t>Fluttera</a:t>
            </a:r>
            <a:r>
              <a:rPr lang="pl-PL" sz="2000" dirty="0" smtClean="0"/>
              <a:t> opierają się na idei, że wszystko jest </a:t>
            </a:r>
            <a:r>
              <a:rPr lang="pl-PL" sz="2000" dirty="0" err="1" smtClean="0"/>
              <a:t>widgetem</a:t>
            </a:r>
            <a:r>
              <a:rPr lang="pl-PL" sz="2000" dirty="0" smtClean="0"/>
              <a:t>. To podejście upraszcza model mentalny programisty i umożliwia bardzo szybkie iteracje. Jednocześnie własny silnik renderujący eliminuje zależność od komponentów systemowych, co daje większą kontrolę nad wyglądem i zachowaniem aplikacji.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F59E7C2-2B9D-414E-8537-421DB513DC3C}" type="slidenum">
              <a:t>19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C3D3254D-23B7-480A-98E4-DD35D8F7143B}" type="slidenum">
              <a:t>19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Wydajność </a:t>
            </a:r>
            <a:r>
              <a:rPr lang="pl-PL" sz="2000" dirty="0" err="1" smtClean="0"/>
              <a:t>Fluttera</a:t>
            </a:r>
            <a:r>
              <a:rPr lang="pl-PL" sz="2000" dirty="0" smtClean="0"/>
              <a:t> wynika z kompilacji do kodu maszynowego oraz eliminacji warstw pośrednich. W praktyce oznacza to bardzo płynne animacje i relatywnie niskie zużycie zasobów. To sprawia, że </a:t>
            </a:r>
            <a:r>
              <a:rPr lang="pl-PL" sz="2000" dirty="0" err="1" smtClean="0"/>
              <a:t>framework</a:t>
            </a:r>
            <a:r>
              <a:rPr lang="pl-PL" sz="2000" dirty="0" smtClean="0"/>
              <a:t> ten jest często wybierany jako domyślna opcja dla nowych projektów cross-platformowych.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F76873B-E4B6-44B1-9233-A15675BECB7A}" type="slidenum">
              <a:t>20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3E3CBE20-F622-4A84-891E-66B471CEBCC1}" type="slidenum">
              <a:t>20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err="1" smtClean="0"/>
              <a:t>Dart</a:t>
            </a:r>
            <a:r>
              <a:rPr lang="pl-PL" sz="2000" dirty="0" smtClean="0"/>
              <a:t> FFI jest narzędziem pozwalającym przekroczyć granice wysokopoziomowego języka. Możliwość bezpośredniego wywoływania funkcji z bibliotek C czy C++ otwiera drogę do wykorzystania istniejących, zoptymalizowanych rozwiązań. W kontekście badań i zastosowań naukowych jest to szczególnie istotne, bo pozwala integrować modele numeryczne czy algorytmy ML bez przepisywania ich od zera.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C715E4F-759F-4FD5-84C6-171D672CD42E}" type="slidenum">
              <a:t>21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8B27299-1CD3-47FC-9E89-20A841B70534}" type="slidenum">
              <a:t>21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89D68498-1298-42B9-92D1-AB494EF47A02}" type="slidenum">
              <a:t>22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E6E90EF1-436F-4E37-ADA7-901D8B02F60B}" type="slidenum">
              <a:t>22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PWA stanowią interesujące połączenie świata webowego i mobilnego. Eliminują barierę instalacji, co ma ogromne znaczenie w kontekście konwersji użytkowników. Jednocześnie oferują funkcje, które jeszcze kilka lat temu były zarezerwowane dla aplikacji natywnych. To przykład, jak rozwój standardów webowych zmienia krajobraz technologiczny.</a:t>
            </a:r>
          </a:p>
          <a:p>
            <a:pPr indent="-216000" hangingPunct="0"/>
            <a:r>
              <a:rPr lang="pl-PL" sz="2000" dirty="0" smtClean="0"/>
              <a:t>Kluczowe komponenty PWA, takie jak service </a:t>
            </a:r>
            <a:r>
              <a:rPr lang="pl-PL" sz="2000" dirty="0" err="1" smtClean="0"/>
              <a:t>workers</a:t>
            </a:r>
            <a:r>
              <a:rPr lang="pl-PL" sz="2000" dirty="0" smtClean="0"/>
              <a:t>, pozwalają na działanie offline i kontrolę nad cache. To zmienia sposób projektowania aplikacji webowych, które zaczynają przypominać systemy rozproszone działające częściowo po stronie klienta. Wymóg HTTPS wynika z potrzeby zapewnienia bezpieczeństwa w tym modelu.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B4DBB8E1-43C8-4B55-ACCF-285E792C6D65}" type="slidenum">
              <a:t>23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98CFBD4-AC1D-4102-8795-CCCC4319445E}" type="slidenum">
              <a:t>23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smtClean="0"/>
              <a:t>Wydajność PWA w wielu przypadkach jest bardzo dobra, szczególnie dla aplikacji treściowych. Ograniczenia pojawiają się przy dostępie do sprzętu i funkcji systemowych, zwłaszcza na iOS. To pokazuje, że mimo dużego postępu web nie jest jeszcze pełnoprawnym zamiennikiem dla wszystkich klas aplikacji mobilnych.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79CCDF4-D861-4A1A-B175-CBD9BA9E9DE6}" type="slidenum">
              <a:t>24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663EA6FF-9539-4A31-942E-FF5E31B791C6}" type="slidenum">
              <a:t>24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E01A5B8-907F-4F5D-ADDA-404F7EBAB340}" type="slidenum">
              <a:t>25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43D0F176-F478-4D8E-B92E-36FB3D21E956}" type="slidenum">
              <a:t>25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err="1" smtClean="0"/>
              <a:t>Python</a:t>
            </a:r>
            <a:r>
              <a:rPr lang="pl-PL" sz="2000" dirty="0" smtClean="0"/>
              <a:t> w mobile pozostaje rozwiązaniem niszowym, ale ma swoje miejsce w ekosystemie. Szczególnie w projektach związanych z analizą danych czy prototypowaniem może znacząco przyspieszyć pracę. Ograniczenia wynikają głównie z mniejszego wsparcia platformowego i niższej wydajności w porównaniu z rozwiązaniami kompilowanymi.</a:t>
            </a:r>
          </a:p>
          <a:p>
            <a:pPr indent="-216000" hangingPunct="0"/>
            <a:r>
              <a:rPr lang="pl-PL" sz="2000" dirty="0" smtClean="0"/>
              <a:t>Porównanie </a:t>
            </a:r>
            <a:r>
              <a:rPr lang="pl-PL" sz="2000" dirty="0" err="1" smtClean="0"/>
              <a:t>Kivy</a:t>
            </a:r>
            <a:r>
              <a:rPr lang="pl-PL" sz="2000" dirty="0" smtClean="0"/>
              <a:t> i </a:t>
            </a:r>
            <a:r>
              <a:rPr lang="pl-PL" sz="2000" dirty="0" err="1" smtClean="0"/>
              <a:t>BeeWare</a:t>
            </a:r>
            <a:r>
              <a:rPr lang="pl-PL" sz="2000" dirty="0" smtClean="0"/>
              <a:t> dobrze ilustruje różne filozofie projektowania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Jedno podejście daje pełną kontrolę nad UI kosztem większej złożoności, drugie upraszcza rozwój kosztem elastyczności. To klasyczny trade-off, który pojawia się w wielu obszarach inżynierii oprogramowania.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8B04175-B078-4089-81D6-C032C7B1C866}" type="slidenum">
              <a:t>26</a:t>
            </a:fld>
            <a:endParaRPr lang="pl-PL" dirty="0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 dirty="0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4382AE5-F2B2-4B1F-AE46-87163FDBF1B0}" type="slidenum">
              <a:t>26</a:t>
            </a:fld>
            <a:endParaRPr lang="pl-PL" dirty="0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smtClean="0"/>
              <a:t>Solar2D jest przykładem wyspecjalizowanego narzędzia, które dobrze rozwiązuje wąski problem – tworzenie gier 2D. Ograniczenie zakresu pozwala na uproszczenie API i zwiększenie produktywności. To pokazuje, że czasami wąska specjalizacja jest bardziej efektywna niż uniwersalność.</a:t>
            </a:r>
          </a:p>
          <a:p>
            <a:endParaRPr lang="pl-PL" sz="2000" dirty="0" smtClean="0"/>
          </a:p>
          <a:p>
            <a:r>
              <a:rPr lang="pl-PL" sz="2000" dirty="0" smtClean="0"/>
              <a:t>Praktyczne wykorzystanie Solar2D opiera się na szybkim cyklu iteracji i prostym modelu programowania. W wielu przypadkach pozwala to osiągnąć efekt szybciej niż przy użyciu bardziej ogólnych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Jest to szczególnie ważne w małych zespołach i projektach eksperymentalnych.</a:t>
            </a:r>
          </a:p>
        </p:txBody>
      </p:sp>
    </p:spTree>
    <p:extLst>
      <p:ext uri="{BB962C8B-B14F-4D97-AF65-F5344CB8AC3E}">
        <p14:creationId xmlns:p14="http://schemas.microsoft.com/office/powerpoint/2010/main" val="1994122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F6624054-09FF-4556-B45A-0E3ACF1105AE}" type="slidenum">
              <a:t>27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CEB8A85E-E7C6-4B6B-8DDA-FD38034C2857}" type="slidenum">
              <a:t>27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8B04175-B078-4089-81D6-C032C7B1C866}" type="slidenum">
              <a:t>28</a:t>
            </a:fld>
            <a:endParaRPr lang="pl-PL" dirty="0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 dirty="0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4382AE5-F2B2-4B1F-AE46-87163FDBF1B0}" type="slidenum">
              <a:t>28</a:t>
            </a:fld>
            <a:endParaRPr lang="pl-PL" dirty="0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l-PL" sz="2000" dirty="0" smtClean="0"/>
          </a:p>
        </p:txBody>
      </p:sp>
    </p:spTree>
    <p:extLst>
      <p:ext uri="{BB962C8B-B14F-4D97-AF65-F5344CB8AC3E}">
        <p14:creationId xmlns:p14="http://schemas.microsoft.com/office/powerpoint/2010/main" val="6350147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8B04175-B078-4089-81D6-C032C7B1C866}" type="slidenum">
              <a:t>29</a:t>
            </a:fld>
            <a:endParaRPr lang="pl-PL" dirty="0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 dirty="0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4382AE5-F2B2-4B1F-AE46-87163FDBF1B0}" type="slidenum">
              <a:t>29</a:t>
            </a:fld>
            <a:endParaRPr lang="pl-PL" dirty="0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smtClean="0"/>
              <a:t>Solar2D jest przykładem wyspecjalizowanego narzędzia, które dobrze rozwiązuje wąski problem – tworzenie gier 2D. Ograniczenie zakresu pozwala na uproszczenie API i zwiększenie produktywności. To pokazuje, że czasami wąska specjalizacja jest bardziej efektywna niż uniwersalność.</a:t>
            </a:r>
          </a:p>
          <a:p>
            <a:endParaRPr lang="pl-PL" sz="2000" dirty="0" smtClean="0"/>
          </a:p>
          <a:p>
            <a:r>
              <a:rPr lang="pl-PL" sz="2000" dirty="0" smtClean="0"/>
              <a:t>Praktyczne wykorzystanie Solar2D opiera się na szybkim cyklu iteracji i prostym modelu programowania. W wielu przypadkach pozwala to osiągnąć efekt szybciej niż przy użyciu bardziej ogólnych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Jest to szczególnie ważne w małych zespołach i projektach eksperymentalnych.</a:t>
            </a:r>
          </a:p>
        </p:txBody>
      </p:sp>
    </p:spTree>
    <p:extLst>
      <p:ext uri="{BB962C8B-B14F-4D97-AF65-F5344CB8AC3E}">
        <p14:creationId xmlns:p14="http://schemas.microsoft.com/office/powerpoint/2010/main" val="2048322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8B04175-B078-4089-81D6-C032C7B1C866}" type="slidenum">
              <a:t>30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4382AE5-F2B2-4B1F-AE46-87163FDBF1B0}" type="slidenum">
              <a:t>30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smtClean="0"/>
              <a:t>Solar2D jest przykładem wyspecjalizowanego narzędzia, które dobrze rozwiązuje wąski problem – tworzenie gier 2D. Ograniczenie zakresu pozwala na uproszczenie API i zwiększenie produktywności. To pokazuje, że czasami wąska specjalizacja jest bardziej efektywna niż uniwersalność.</a:t>
            </a:r>
          </a:p>
          <a:p>
            <a:endParaRPr lang="pl-PL" sz="2000" dirty="0" smtClean="0"/>
          </a:p>
          <a:p>
            <a:r>
              <a:rPr lang="pl-PL" sz="2000" dirty="0" smtClean="0"/>
              <a:t>Praktyczne wykorzystanie Solar2D opiera się na szybkim cyklu iteracji i prostym modelu programowania. W wielu przypadkach pozwala to osiągnąć efekt szybciej niż przy użyciu bardziej ogólnych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Jest to szczególnie ważne w małych zespołach i projektach eksperymentalnych.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8B04175-B078-4089-81D6-C032C7B1C866}" type="slidenum">
              <a:t>31</a:t>
            </a:fld>
            <a:endParaRPr lang="pl-PL" dirty="0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 dirty="0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4382AE5-F2B2-4B1F-AE46-87163FDBF1B0}" type="slidenum">
              <a:t>31</a:t>
            </a:fld>
            <a:endParaRPr lang="pl-PL" dirty="0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smtClean="0"/>
              <a:t>Solar2D jest przykładem wyspecjalizowanego narzędzia, które dobrze rozwiązuje wąski problem – tworzenie gier 2D. Ograniczenie zakresu pozwala na uproszczenie API i zwiększenie produktywności. To pokazuje, że czasami wąska specjalizacja jest bardziej efektywna niż uniwersalność.</a:t>
            </a:r>
          </a:p>
          <a:p>
            <a:endParaRPr lang="pl-PL" sz="2000" dirty="0" smtClean="0"/>
          </a:p>
          <a:p>
            <a:r>
              <a:rPr lang="pl-PL" sz="2000" dirty="0" smtClean="0"/>
              <a:t>Praktyczne wykorzystanie Solar2D opiera się na szybkim cyklu iteracji i prostym modelu programowania. W wielu przypadkach pozwala to osiągnąć efekt szybciej niż przy użyciu bardziej ogólnych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Jest to szczególnie ważne w małych zespołach i projektach eksperymentalnych.</a:t>
            </a:r>
          </a:p>
        </p:txBody>
      </p:sp>
    </p:spTree>
    <p:extLst>
      <p:ext uri="{BB962C8B-B14F-4D97-AF65-F5344CB8AC3E}">
        <p14:creationId xmlns:p14="http://schemas.microsoft.com/office/powerpoint/2010/main" val="3206877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8B04175-B078-4089-81D6-C032C7B1C866}" type="slidenum">
              <a:t>32</a:t>
            </a:fld>
            <a:endParaRPr lang="pl-PL" dirty="0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 dirty="0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04382AE5-F2B2-4B1F-AE46-87163FDBF1B0}" type="slidenum">
              <a:t>32</a:t>
            </a:fld>
            <a:endParaRPr lang="pl-PL" dirty="0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smtClean="0"/>
              <a:t>Solar2D jest przykładem wyspecjalizowanego narzędzia, które dobrze rozwiązuje wąski problem – tworzenie gier 2D. Ograniczenie zakresu pozwala na uproszczenie API i zwiększenie produktywności. To pokazuje, że czasami wąska specjalizacja jest bardziej efektywna niż uniwersalność.</a:t>
            </a:r>
          </a:p>
          <a:p>
            <a:endParaRPr lang="pl-PL" sz="2000" dirty="0" smtClean="0"/>
          </a:p>
          <a:p>
            <a:r>
              <a:rPr lang="pl-PL" sz="2000" dirty="0" smtClean="0"/>
              <a:t>Praktyczne wykorzystanie Solar2D opiera się na szybkim cyklu iteracji i prostym modelu programowania. W wielu przypadkach pozwala to osiągnąć efekt szybciej niż przy użyciu bardziej ogólnych </a:t>
            </a:r>
            <a:r>
              <a:rPr lang="pl-PL" sz="2000" dirty="0" err="1" smtClean="0"/>
              <a:t>frameworków</a:t>
            </a:r>
            <a:r>
              <a:rPr lang="pl-PL" sz="2000" dirty="0" smtClean="0"/>
              <a:t>. Jest to szczególnie ważne w małych zespołach i projektach eksperymentalnych.</a:t>
            </a:r>
          </a:p>
        </p:txBody>
      </p:sp>
    </p:spTree>
    <p:extLst>
      <p:ext uri="{BB962C8B-B14F-4D97-AF65-F5344CB8AC3E}">
        <p14:creationId xmlns:p14="http://schemas.microsoft.com/office/powerpoint/2010/main" val="30482613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68D34DF-029F-44B9-9F8C-E4A8946B7EC1}" type="slidenum">
              <a:t>33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F753401-315D-4561-93D5-2BD99C6964AB}" type="slidenum">
              <a:t>33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3EA04115-CC05-423F-A551-271806338942}" type="slidenum">
              <a:t>34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1F1EAC3C-72BB-4F49-BBAC-76189E13E028}" type="slidenum">
              <a:t>34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err="1" smtClean="0"/>
              <a:t>Rust</a:t>
            </a:r>
            <a:r>
              <a:rPr lang="pl-PL" sz="2000" dirty="0" smtClean="0"/>
              <a:t> i Go wprowadzają do świata mobile perspektywę języków systemowych. Ich rola polega głównie na dostarczaniu wydajnych komponentów, które mogą być używane przez aplikacje napisane w innych technologiach. To podejście jest coraz bardziej popularne w systemach wymagających wysokiej wydajności.</a:t>
            </a:r>
          </a:p>
          <a:p>
            <a:endParaRPr lang="pl-PL" sz="2000" dirty="0" smtClean="0"/>
          </a:p>
          <a:p>
            <a:r>
              <a:rPr lang="pl-PL" sz="2000" dirty="0" err="1" smtClean="0"/>
              <a:t>Rust</a:t>
            </a:r>
            <a:r>
              <a:rPr lang="pl-PL" sz="2000" dirty="0" smtClean="0"/>
              <a:t> FFI jest szczególnie interesujący ze względu na model bezpieczeństwa pamięci. Eliminacja klas błędów takich jak data </a:t>
            </a:r>
            <a:r>
              <a:rPr lang="pl-PL" sz="2000" dirty="0" err="1" smtClean="0"/>
              <a:t>races</a:t>
            </a:r>
            <a:r>
              <a:rPr lang="pl-PL" sz="2000" dirty="0" smtClean="0"/>
              <a:t> czy </a:t>
            </a:r>
            <a:r>
              <a:rPr lang="pl-PL" sz="2000" dirty="0" err="1" smtClean="0"/>
              <a:t>null</a:t>
            </a:r>
            <a:r>
              <a:rPr lang="pl-PL" sz="2000" dirty="0" smtClean="0"/>
              <a:t> pointer </a:t>
            </a:r>
            <a:r>
              <a:rPr lang="pl-PL" sz="2000" dirty="0" err="1" smtClean="0"/>
              <a:t>dereferences</a:t>
            </a:r>
            <a:r>
              <a:rPr lang="pl-PL" sz="2000" dirty="0" smtClean="0"/>
              <a:t> ma duże znaczenie w aplikacjach mobilnych. W praktyce </a:t>
            </a:r>
            <a:r>
              <a:rPr lang="pl-PL" sz="2000" dirty="0" err="1" smtClean="0"/>
              <a:t>Rust</a:t>
            </a:r>
            <a:r>
              <a:rPr lang="pl-PL" sz="2000" dirty="0" smtClean="0"/>
              <a:t> często pełni rolę silnika obliczeniowego.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1D588B6-A159-4EF8-BA8E-BF790D264C95}" type="slidenum">
              <a:t>35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D28DF884-8C66-4E22-A2AD-B8F53AEFDA11}" type="slidenum">
              <a:t>35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err="1" smtClean="0"/>
              <a:t>gomobile</a:t>
            </a:r>
            <a:r>
              <a:rPr lang="pl-PL" sz="2000" dirty="0" smtClean="0"/>
              <a:t> umożliwia wykorzystanie Go w kontekście mobilnym, ale najczęściej jako komponent wspierający. Brak natywnego UI ogranicza jego zastosowanie jako głównego </a:t>
            </a:r>
            <a:r>
              <a:rPr lang="pl-PL" sz="2000" dirty="0" err="1" smtClean="0"/>
              <a:t>frameworka</a:t>
            </a:r>
            <a:r>
              <a:rPr lang="pl-PL" sz="2000" dirty="0" smtClean="0"/>
              <a:t>, ale nie eliminuje jego wartości w architekturze systemu.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D53CDA64-F17B-492B-8756-90A5EE86BF0F}" type="slidenum">
              <a:t>36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F0B2FE76-4795-4901-9316-A81FD726C330}" type="slidenum">
              <a:t>36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r>
              <a:rPr lang="pl-PL" sz="2000" dirty="0" err="1" smtClean="0"/>
              <a:t>RubyMotion</a:t>
            </a:r>
            <a:r>
              <a:rPr lang="pl-PL" sz="2000" dirty="0" smtClean="0"/>
              <a:t> jest przykładem technologii, która próbowała przenieść prostotę języka </a:t>
            </a:r>
            <a:r>
              <a:rPr lang="pl-PL" sz="2000" dirty="0" err="1" smtClean="0"/>
              <a:t>Ruby</a:t>
            </a:r>
            <a:r>
              <a:rPr lang="pl-PL" sz="2000" dirty="0" smtClean="0"/>
              <a:t> do świata mobilnego. Choć obecnie ma ograniczone znaczenie, pokazuje ciekawy kierunek: eliminację warstw pośrednich przez bezpośrednie odwzorowanie modeli obiektowych między językami.</a:t>
            </a:r>
          </a:p>
          <a:p>
            <a:pPr indent="-216000" hangingPunct="0"/>
            <a:r>
              <a:rPr lang="pl-PL" sz="2000" dirty="0" smtClean="0"/>
              <a:t>Mechanizm działania </a:t>
            </a:r>
            <a:r>
              <a:rPr lang="pl-PL" sz="2000" dirty="0" err="1" smtClean="0"/>
              <a:t>RubyMotion</a:t>
            </a:r>
            <a:r>
              <a:rPr lang="pl-PL" sz="2000" dirty="0" smtClean="0"/>
              <a:t> opiera się na integracji </a:t>
            </a:r>
            <a:r>
              <a:rPr lang="pl-PL" sz="2000" dirty="0" err="1" smtClean="0"/>
              <a:t>runtime</a:t>
            </a:r>
            <a:r>
              <a:rPr lang="pl-PL" sz="2000" dirty="0" smtClean="0"/>
              <a:t>, co eliminuje potrzebę klasycznego mostka. To rozwiązanie jest koncepcyjnie eleganckie, ale trudne do utrzymania w dłuższej perspektywie, co częściowo tłumaczy jego ograniczoną adopcję.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27124A1-F03E-4E1B-A4CB-3704A42D64B3}" type="slidenum">
              <a:t>37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81E4EE24-8089-4B49-BFE8-ED733EAD509F}" type="slidenum">
              <a:t>37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E83FD376-D7B2-41AD-B495-815E72F5E907}" type="slidenum">
              <a:t>38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531600F6-1015-4131-95DC-58AF1E3AE997}" type="slidenum">
              <a:t>38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l-PL" sz="2000" dirty="0" smtClean="0"/>
              <a:t>Podsumowanie technologii pokazuje, że rynek stabilizuje się wokół kilku dominujących rozwiązań, ale nadal istnieje miejsce dla technologii niszowych. Każda z nich odpowiada na inny zestaw wymagań, co potwierdza, że nie istnieje uniwersalne rozwiązanie.</a:t>
            </a:r>
          </a:p>
          <a:p>
            <a:endParaRPr lang="pl-PL" sz="2000" dirty="0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AB62B718-7BB8-4A1B-B51B-607B51A33ACA}" type="slidenum">
              <a:t>39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248EB6DA-9BA6-46DE-824E-24297B187207}" type="slidenum">
              <a:t>39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marR="0" lvl="0" indent="-2160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2000" dirty="0" smtClean="0"/>
              <a:t>Rekomendacje technologiczne powinny wynikać z analizy wymagań, a nie z popularności narzędzia. W praktyce oznacza to ocenę takich czynników jak wydajność, dostępność zespołu, czas wdrożenia i plan rozwoju produktu. To podejście minimalizuje ryzyko technologiczne projektu.</a:t>
            </a:r>
          </a:p>
          <a:p>
            <a:pPr indent="-216000" hangingPunct="0"/>
            <a:endParaRPr lang="pl-PL" sz="2000" dirty="0" smtClean="0"/>
          </a:p>
          <a:p>
            <a:pPr indent="-216000" hangingPunct="0"/>
            <a:r>
              <a:rPr lang="pl-PL" sz="2000" dirty="0" smtClean="0"/>
              <a:t>Najważniejszy wniosek jest taki, że wybór technologii mobilnej jest decyzją strategiczną, a nie tylko techniczną. Odpowiednie dopasowanie narzędzi do problemu może znacząco wpłynąć na sukces projektu, zarówno w krótkim, jak i długim okresie.</a:t>
            </a:r>
            <a:endParaRPr lang="pl-PL" sz="2000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9A013AA8-4FB9-4B77-B33C-A379DE49C14A}" type="slidenum">
              <a:t>40</a:t>
            </a:fld>
            <a:endParaRPr lang="pl-PL"/>
          </a:p>
        </p:txBody>
      </p:sp>
      <p:sp>
        <p:nvSpPr>
          <p:cNvPr id="6" name="Symbol zastępczy daty 2"/>
          <p:cNvSpPr txBox="1">
            <a:spLocks noGrp="1"/>
          </p:cNvSpPr>
          <p:nvPr>
            <p:ph type="dt" idx="1"/>
          </p:nvPr>
        </p:nvSpPr>
        <p:spPr>
          <a:ln/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fld id="{183127B8-2B7A-42FE-84AF-CF3DDB3FF0E2}" type="datetime1">
              <a:rPr lang="pl-PL"/>
              <a:pPr lvl="0"/>
              <a:t>07.04.2026</a:t>
            </a:fld>
            <a:endParaRPr lang="pl-PL"/>
          </a:p>
        </p:txBody>
      </p:sp>
      <p:sp>
        <p:nvSpPr>
          <p:cNvPr id="8" name="Symbol zastępczy numeru slajdu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wrap="square" lIns="91440" tIns="45720" rIns="91440" bIns="45720" anchor="b" anchorCtr="0">
            <a:noAutofit/>
          </a:bodyPr>
          <a:lstStyle/>
          <a:p>
            <a:pPr lvl="0"/>
            <a:fld id="{7F59765C-664B-4431-B36E-39AE3A339FC3}" type="slidenum">
              <a:t>40</a:t>
            </a:fld>
            <a:endParaRPr lang="pl-PL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solidFill>
            <a:srgbClr val="4472C4"/>
          </a:solidFill>
          <a:ln w="12600" cap="flat">
            <a:solidFill>
              <a:srgbClr val="172C51"/>
            </a:solidFill>
            <a:prstDash val="solid"/>
            <a:miter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indent="-216000" hangingPunct="0"/>
            <a:endParaRPr lang="pl-PL" sz="2000">
              <a:latin typeface="Liberation Sans" pitchFamily="1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algn="ctr" hangingPunct="0">
              <a:tabLst/>
              <a:defRPr lang="pl-PL" b="0" i="0" u="none" strike="noStrike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</a:defRPr>
            </a:lvl1pPr>
          </a:lstStyle>
          <a:p>
            <a:endParaRPr lang="pl-PL"/>
          </a:p>
        </p:txBody>
      </p:sp>
      <p:sp>
        <p:nvSpPr>
          <p:cNvPr id="3" name="Symbol zastępczy tekstu 2"/>
          <p:cNvSpPr txBox="1">
            <a:spLocks noGrp="1"/>
          </p:cNvSpPr>
          <p:nvPr>
            <p:ph type="body" sz="quarter" idx="4294967295"/>
          </p:nvPr>
        </p:nvSpPr>
        <p:spPr>
          <a:xfrm>
            <a:off x="609480" y="1604520"/>
            <a:ext cx="10972440" cy="3977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>
            <a:lvl1pPr hangingPunct="0">
              <a:spcBef>
                <a:spcPts val="1417"/>
              </a:spcBef>
              <a:spcAft>
                <a:spcPts val="0"/>
              </a:spcAft>
              <a:tabLst/>
              <a:defRPr lang="pl-PL" sz="3200" b="0" i="0" u="none" strike="noStrike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</a:defRPr>
            </a:lvl1pPr>
          </a:lstStyle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989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5f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41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ceinfoway.com/937ded5852b888651ea1a591f9bc8ed04eefeed4.gif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4554" r="4554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70000"/>
                </a:srgbClr>
              </a:gs>
              <a:gs pos="50000">
                <a:srgbClr val="1F2937">
                  <a:alpha val="90000"/>
                </a:srgbClr>
              </a:gs>
              <a:gs pos="100000">
                <a:srgbClr val="1F2937">
                  <a:alpha val="70000"/>
                </a:srgbClr>
              </a:gs>
            </a:gsLst>
            <a:lin ang="486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0880" y="380880"/>
            <a:ext cx="2867040" cy="343080"/>
          </a:xfrm>
          <a:custGeom>
            <a:avLst/>
            <a:gdLst>
              <a:gd name="f0" fmla="val w"/>
              <a:gd name="f1" fmla="val h"/>
              <a:gd name="f2" fmla="val 0"/>
              <a:gd name="f3" fmla="val 2867025"/>
              <a:gd name="f4" fmla="val 342900"/>
              <a:gd name="f5" fmla="*/ f0 1 2867025"/>
              <a:gd name="f6" fmla="*/ f1 1 342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2867025"/>
              <a:gd name="f13" fmla="*/ f10 1 342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867025" h="342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Text 2"/>
          <p:cNvSpPr/>
          <p:nvPr/>
        </p:nvSpPr>
        <p:spPr>
          <a:xfrm>
            <a:off x="380880" y="380880"/>
            <a:ext cx="2933639" cy="343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152280" tIns="76320" rIns="152280" bIns="7632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4" baseline="0" dirty="0">
                <a:ln>
                  <a:noFill/>
                </a:ln>
                <a:solidFill>
                  <a:srgbClr val="F9FAFB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STUDIA | INFORMATYKA</a:t>
            </a:r>
          </a:p>
        </p:txBody>
      </p:sp>
      <p:sp>
        <p:nvSpPr>
          <p:cNvPr id="6" name="Text 3"/>
          <p:cNvSpPr/>
          <p:nvPr/>
        </p:nvSpPr>
        <p:spPr>
          <a:xfrm>
            <a:off x="380880" y="1181160"/>
            <a:ext cx="7661684" cy="2143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5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5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Cross-Platformowe</a:t>
            </a:r>
          </a:p>
        </p:txBody>
      </p:sp>
      <p:sp>
        <p:nvSpPr>
          <p:cNvPr id="7" name="Shape 4"/>
          <p:cNvSpPr/>
          <p:nvPr/>
        </p:nvSpPr>
        <p:spPr>
          <a:xfrm>
            <a:off x="380880" y="3552840"/>
            <a:ext cx="914400" cy="38160"/>
          </a:xfrm>
          <a:custGeom>
            <a:avLst/>
            <a:gdLst>
              <a:gd name="f0" fmla="val w"/>
              <a:gd name="f1" fmla="val h"/>
              <a:gd name="f2" fmla="val 0"/>
              <a:gd name="f3" fmla="val 914400"/>
              <a:gd name="f4" fmla="val 38100"/>
              <a:gd name="f5" fmla="*/ f0 1 9144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9144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9144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Text 5"/>
          <p:cNvSpPr/>
          <p:nvPr/>
        </p:nvSpPr>
        <p:spPr>
          <a:xfrm>
            <a:off x="380880" y="3757254"/>
            <a:ext cx="7429680" cy="743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Technologie, architektura i porównanie</a:t>
            </a:r>
          </a:p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 programowaniem natywnym</a:t>
            </a:r>
          </a:p>
        </p:txBody>
      </p:sp>
      <p:sp>
        <p:nvSpPr>
          <p:cNvPr id="9" name="Shape 6"/>
          <p:cNvSpPr/>
          <p:nvPr/>
        </p:nvSpPr>
        <p:spPr>
          <a:xfrm>
            <a:off x="274597" y="6421762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38100"/>
              <a:gd name="f6" fmla="val 32831"/>
              <a:gd name="f7" fmla="val 28575"/>
              <a:gd name="f8" fmla="val 4256"/>
              <a:gd name="f9" fmla="val 9525"/>
              <a:gd name="f10" fmla="val 19050"/>
              <a:gd name="f11" fmla="val 8543"/>
              <a:gd name="f12" fmla="val 27593"/>
              <a:gd name="f13" fmla="val 52388"/>
              <a:gd name="f14" fmla="val 124807"/>
              <a:gd name="f15" fmla="val 114300"/>
              <a:gd name="f16" fmla="val 104775"/>
              <a:gd name="f17" fmla="val 100519"/>
              <a:gd name="f18" fmla="val 95250"/>
              <a:gd name="f19" fmla="val 89981"/>
              <a:gd name="f20" fmla="val 85725"/>
              <a:gd name="f21" fmla="val 47625"/>
              <a:gd name="f22" fmla="val 43369"/>
              <a:gd name="f23" fmla="val 66675"/>
              <a:gd name="f24" fmla="val 123825"/>
              <a:gd name="f25" fmla="val 134332"/>
              <a:gd name="f26" fmla="val 142875"/>
              <a:gd name="f27" fmla="*/ f0 1 133350"/>
              <a:gd name="f28" fmla="*/ f1 1 152400"/>
              <a:gd name="f29" fmla="val f2"/>
              <a:gd name="f30" fmla="val f3"/>
              <a:gd name="f31" fmla="val f4"/>
              <a:gd name="f32" fmla="+- f31 0 f29"/>
              <a:gd name="f33" fmla="+- f30 0 f29"/>
              <a:gd name="f34" fmla="*/ f33 1 133350"/>
              <a:gd name="f35" fmla="*/ f32 1 152400"/>
              <a:gd name="f36" fmla="*/ f29 1 f34"/>
              <a:gd name="f37" fmla="*/ f30 1 f34"/>
              <a:gd name="f38" fmla="*/ f29 1 f35"/>
              <a:gd name="f39" fmla="*/ f31 1 f35"/>
              <a:gd name="f40" fmla="*/ f36 f27 1"/>
              <a:gd name="f41" fmla="*/ f37 f27 1"/>
              <a:gd name="f42" fmla="*/ f39 f28 1"/>
              <a:gd name="f43" fmla="*/ f38 f2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40" t="f43" r="f41" b="f42"/>
            <a:pathLst>
              <a:path w="133350" h="152400">
                <a:moveTo>
                  <a:pt x="f5" y="f2"/>
                </a:moveTo>
                <a:cubicBezTo>
                  <a:pt x="f6" y="f2"/>
                  <a:pt x="f7" y="f8"/>
                  <a:pt x="f7" y="f9"/>
                </a:cubicBezTo>
                <a:lnTo>
                  <a:pt x="f7" y="f10"/>
                </a:lnTo>
                <a:lnTo>
                  <a:pt x="f10" y="f10"/>
                </a:lnTo>
                <a:cubicBezTo>
                  <a:pt x="f11" y="f10"/>
                  <a:pt x="f2" y="f12"/>
                  <a:pt x="f2" y="f5"/>
                </a:cubicBezTo>
                <a:lnTo>
                  <a:pt x="f2" y="f13"/>
                </a:lnTo>
                <a:lnTo>
                  <a:pt x="f3" y="f13"/>
                </a:lnTo>
                <a:lnTo>
                  <a:pt x="f3" y="f5"/>
                </a:lnTo>
                <a:cubicBezTo>
                  <a:pt x="f3" y="f12"/>
                  <a:pt x="f14" y="f10"/>
                  <a:pt x="f15" y="f10"/>
                </a:cubicBezTo>
                <a:lnTo>
                  <a:pt x="f16" y="f10"/>
                </a:lnTo>
                <a:lnTo>
                  <a:pt x="f16" y="f9"/>
                </a:lnTo>
                <a:cubicBezTo>
                  <a:pt x="f16" y="f8"/>
                  <a:pt x="f17" y="f2"/>
                  <a:pt x="f18" y="f2"/>
                </a:cubicBezTo>
                <a:cubicBezTo>
                  <a:pt x="f19" y="f2"/>
                  <a:pt x="f20" y="f8"/>
                  <a:pt x="f20" y="f9"/>
                </a:cubicBezTo>
                <a:lnTo>
                  <a:pt x="f20" y="f10"/>
                </a:lnTo>
                <a:lnTo>
                  <a:pt x="f21" y="f10"/>
                </a:lnTo>
                <a:lnTo>
                  <a:pt x="f21" y="f9"/>
                </a:lnTo>
                <a:cubicBezTo>
                  <a:pt x="f21" y="f8"/>
                  <a:pt x="f22" y="f2"/>
                  <a:pt x="f5" y="f2"/>
                </a:cubicBezTo>
                <a:close/>
                <a:moveTo>
                  <a:pt x="f2" y="f23"/>
                </a:moveTo>
                <a:lnTo>
                  <a:pt x="f2" y="f24"/>
                </a:lnTo>
                <a:cubicBezTo>
                  <a:pt x="f2" y="f25"/>
                  <a:pt x="f11" y="f26"/>
                  <a:pt x="f10" y="f26"/>
                </a:cubicBezTo>
                <a:lnTo>
                  <a:pt x="f15" y="f26"/>
                </a:lnTo>
                <a:cubicBezTo>
                  <a:pt x="f14" y="f26"/>
                  <a:pt x="f3" y="f25"/>
                  <a:pt x="f3" y="f24"/>
                </a:cubicBezTo>
                <a:lnTo>
                  <a:pt x="f3" y="f23"/>
                </a:lnTo>
                <a:lnTo>
                  <a:pt x="f2" y="f23"/>
                </a:lnTo>
                <a:close/>
              </a:path>
            </a:pathLst>
          </a:custGeom>
          <a:solidFill>
            <a:srgbClr val="F9FAFB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0602" y="6404385"/>
            <a:ext cx="693590" cy="1904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2026 </a:t>
            </a: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| </a:t>
            </a: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v3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206147" y="6421762"/>
            <a:ext cx="17136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71450"/>
              <a:gd name="f4" fmla="val 152400"/>
              <a:gd name="f5" fmla="val 14288"/>
              <a:gd name="f6" fmla="val 58281"/>
              <a:gd name="f7" fmla="val 76557"/>
              <a:gd name="f8" fmla="val 83909"/>
              <a:gd name="f9" fmla="val 79474"/>
              <a:gd name="f10" fmla="val 85100"/>
              <a:gd name="f11" fmla="val 82570"/>
              <a:gd name="f12" fmla="val 85725"/>
              <a:gd name="f13" fmla="val 88880"/>
              <a:gd name="f14" fmla="val 91976"/>
              <a:gd name="f15" fmla="val 94893"/>
              <a:gd name="f16" fmla="val 167045"/>
              <a:gd name="f17" fmla="val 54203"/>
              <a:gd name="f18" fmla="val 169724"/>
              <a:gd name="f19" fmla="val 53102"/>
              <a:gd name="f20" fmla="val 50512"/>
              <a:gd name="f21" fmla="val 47625"/>
              <a:gd name="f22" fmla="val 44738"/>
              <a:gd name="f23" fmla="val 42148"/>
              <a:gd name="f24" fmla="val 41047"/>
              <a:gd name="f25" fmla="val 11341"/>
              <a:gd name="f26" fmla="val 10150"/>
              <a:gd name="f27" fmla="val 9525"/>
              <a:gd name="f28" fmla="val 4405"/>
              <a:gd name="f29" fmla="val 1726"/>
              <a:gd name="f30" fmla="val 135731"/>
              <a:gd name="f31" fmla="val 139690"/>
              <a:gd name="f32" fmla="val 3185"/>
              <a:gd name="f33" fmla="val 142875"/>
              <a:gd name="f34" fmla="val 7144"/>
              <a:gd name="f35" fmla="val 11103"/>
              <a:gd name="f36" fmla="val 28575"/>
              <a:gd name="f37" fmla="val 79623"/>
              <a:gd name="f38" fmla="val 114300"/>
              <a:gd name="f39" fmla="val 130076"/>
              <a:gd name="f40" fmla="val 54173"/>
              <a:gd name="f41" fmla="val 117277"/>
              <a:gd name="f42" fmla="val 79593"/>
              <a:gd name="f43" fmla="val 100340"/>
              <a:gd name="f44" fmla="val 97125"/>
              <a:gd name="f45" fmla="val 95696"/>
              <a:gd name="f46" fmla="val 99030"/>
              <a:gd name="f47" fmla="val 90755"/>
              <a:gd name="f48" fmla="val 100012"/>
              <a:gd name="f49" fmla="val 80695"/>
              <a:gd name="f50" fmla="val 75754"/>
              <a:gd name="f51" fmla="val 71110"/>
              <a:gd name="f52" fmla="*/ f0 1 171450"/>
              <a:gd name="f53" fmla="*/ f1 1 152400"/>
              <a:gd name="f54" fmla="val f2"/>
              <a:gd name="f55" fmla="val f3"/>
              <a:gd name="f56" fmla="val f4"/>
              <a:gd name="f57" fmla="+- f56 0 f54"/>
              <a:gd name="f58" fmla="+- f55 0 f54"/>
              <a:gd name="f59" fmla="*/ f58 1 171450"/>
              <a:gd name="f60" fmla="*/ f57 1 152400"/>
              <a:gd name="f61" fmla="*/ f54 1 f59"/>
              <a:gd name="f62" fmla="*/ f55 1 f59"/>
              <a:gd name="f63" fmla="*/ f54 1 f60"/>
              <a:gd name="f64" fmla="*/ f56 1 f60"/>
              <a:gd name="f65" fmla="*/ f61 f52 1"/>
              <a:gd name="f66" fmla="*/ f62 f52 1"/>
              <a:gd name="f67" fmla="*/ f64 f53 1"/>
              <a:gd name="f68" fmla="*/ f63 f5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5" t="f68" r="f66" b="f67"/>
            <a:pathLst>
              <a:path w="171450" h="152400">
                <a:moveTo>
                  <a:pt x="f5" y="f6"/>
                </a:moveTo>
                <a:lnTo>
                  <a:pt x="f7" y="f8"/>
                </a:lnTo>
                <a:cubicBezTo>
                  <a:pt x="f9" y="f10"/>
                  <a:pt x="f11" y="f12"/>
                  <a:pt x="f12" y="f12"/>
                </a:cubicBezTo>
                <a:cubicBezTo>
                  <a:pt x="f13" y="f12"/>
                  <a:pt x="f14" y="f10"/>
                  <a:pt x="f15" y="f8"/>
                </a:cubicBezTo>
                <a:lnTo>
                  <a:pt x="f16" y="f17"/>
                </a:lnTo>
                <a:cubicBezTo>
                  <a:pt x="f18" y="f19"/>
                  <a:pt x="f3" y="f20"/>
                  <a:pt x="f3" y="f21"/>
                </a:cubicBezTo>
                <a:cubicBezTo>
                  <a:pt x="f3" y="f22"/>
                  <a:pt x="f18" y="f23"/>
                  <a:pt x="f16" y="f24"/>
                </a:cubicBezTo>
                <a:lnTo>
                  <a:pt x="f15" y="f25"/>
                </a:lnTo>
                <a:cubicBezTo>
                  <a:pt x="f14" y="f26"/>
                  <a:pt x="f13" y="f27"/>
                  <a:pt x="f12" y="f27"/>
                </a:cubicBezTo>
                <a:cubicBezTo>
                  <a:pt x="f11" y="f27"/>
                  <a:pt x="f9" y="f26"/>
                  <a:pt x="f7" y="f25"/>
                </a:cubicBezTo>
                <a:lnTo>
                  <a:pt x="f28" y="f24"/>
                </a:lnTo>
                <a:cubicBezTo>
                  <a:pt x="f29" y="f23"/>
                  <a:pt x="f2" y="f22"/>
                  <a:pt x="f2" y="f21"/>
                </a:cubicBezTo>
                <a:lnTo>
                  <a:pt x="f2" y="f30"/>
                </a:lnTo>
                <a:cubicBezTo>
                  <a:pt x="f2" y="f31"/>
                  <a:pt x="f32" y="f33"/>
                  <a:pt x="f34" y="f33"/>
                </a:cubicBezTo>
                <a:cubicBezTo>
                  <a:pt x="f35" y="f33"/>
                  <a:pt x="f5" y="f31"/>
                  <a:pt x="f5" y="f30"/>
                </a:cubicBezTo>
                <a:lnTo>
                  <a:pt x="f5" y="f6"/>
                </a:lnTo>
                <a:close/>
                <a:moveTo>
                  <a:pt x="f36" y="f37"/>
                </a:moveTo>
                <a:lnTo>
                  <a:pt x="f36" y="f38"/>
                </a:lnTo>
                <a:cubicBezTo>
                  <a:pt x="f36" y="f39"/>
                  <a:pt x="f40" y="f33"/>
                  <a:pt x="f12" y="f33"/>
                </a:cubicBezTo>
                <a:cubicBezTo>
                  <a:pt x="f41" y="f33"/>
                  <a:pt x="f33" y="f39"/>
                  <a:pt x="f33" y="f38"/>
                </a:cubicBezTo>
                <a:lnTo>
                  <a:pt x="f33" y="f42"/>
                </a:lnTo>
                <a:lnTo>
                  <a:pt x="f43" y="f44"/>
                </a:lnTo>
                <a:cubicBezTo>
                  <a:pt x="f45" y="f46"/>
                  <a:pt x="f47" y="f48"/>
                  <a:pt x="f12" y="f48"/>
                </a:cubicBezTo>
                <a:cubicBezTo>
                  <a:pt x="f49" y="f48"/>
                  <a:pt x="f50" y="f46"/>
                  <a:pt x="f51" y="f44"/>
                </a:cubicBezTo>
                <a:lnTo>
                  <a:pt x="f36" y="f42"/>
                </a:lnTo>
                <a:close/>
              </a:path>
            </a:pathLst>
          </a:custGeom>
          <a:solidFill>
            <a:srgbClr val="F9FAFB">
              <a:alpha val="7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42405" y="6383603"/>
            <a:ext cx="33656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 Aplikacji Mobilnych</a:t>
            </a:r>
          </a:p>
        </p:txBody>
      </p:sp>
      <p:sp>
        <p:nvSpPr>
          <p:cNvPr id="13" name="Text 9"/>
          <p:cNvSpPr/>
          <p:nvPr/>
        </p:nvSpPr>
        <p:spPr>
          <a:xfrm>
            <a:off x="274597" y="6026908"/>
            <a:ext cx="33656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dr inż. Mateusz Pomianek</a:t>
            </a:r>
            <a:endParaRPr lang="pl-PL" sz="1400" b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54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SPIS TREŚCI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58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3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Zawartość prezentacji</a:t>
            </a:r>
          </a:p>
        </p:txBody>
      </p:sp>
      <p:sp>
        <p:nvSpPr>
          <p:cNvPr id="4" name="Shape 2"/>
          <p:cNvSpPr/>
          <p:nvPr/>
        </p:nvSpPr>
        <p:spPr>
          <a:xfrm>
            <a:off x="380880" y="1409759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3360" y="1409759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990719" y="1409759"/>
            <a:ext cx="548927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 cross-platformowe</a:t>
            </a:r>
          </a:p>
        </p:txBody>
      </p:sp>
      <p:sp>
        <p:nvSpPr>
          <p:cNvPr id="7" name="Text 5"/>
          <p:cNvSpPr/>
          <p:nvPr/>
        </p:nvSpPr>
        <p:spPr>
          <a:xfrm>
            <a:off x="990719" y="1714680"/>
            <a:ext cx="484812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Definicje, rynek i statystyki adopcji</a:t>
            </a:r>
          </a:p>
        </p:txBody>
      </p:sp>
      <p:sp>
        <p:nvSpPr>
          <p:cNvPr id="8" name="Shape 6"/>
          <p:cNvSpPr/>
          <p:nvPr/>
        </p:nvSpPr>
        <p:spPr>
          <a:xfrm>
            <a:off x="6324479" y="1815008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76960" y="1815008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</a:t>
            </a:r>
          </a:p>
        </p:txBody>
      </p:sp>
      <p:sp>
        <p:nvSpPr>
          <p:cNvPr id="10" name="Text 8"/>
          <p:cNvSpPr/>
          <p:nvPr/>
        </p:nvSpPr>
        <p:spPr>
          <a:xfrm>
            <a:off x="6934319" y="1815008"/>
            <a:ext cx="406727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vs cross-platformowe</a:t>
            </a:r>
          </a:p>
        </p:txBody>
      </p:sp>
      <p:sp>
        <p:nvSpPr>
          <p:cNvPr id="11" name="Text 9"/>
          <p:cNvSpPr/>
          <p:nvPr/>
        </p:nvSpPr>
        <p:spPr>
          <a:xfrm>
            <a:off x="6934319" y="2119929"/>
            <a:ext cx="404819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Porównanie podejść, zalety i wady</a:t>
            </a:r>
          </a:p>
        </p:txBody>
      </p:sp>
      <p:sp>
        <p:nvSpPr>
          <p:cNvPr id="12" name="Shape 10"/>
          <p:cNvSpPr/>
          <p:nvPr/>
        </p:nvSpPr>
        <p:spPr>
          <a:xfrm>
            <a:off x="380880" y="2171520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3360" y="2171520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</a:t>
            </a:r>
          </a:p>
        </p:txBody>
      </p:sp>
      <p:sp>
        <p:nvSpPr>
          <p:cNvPr id="14" name="Text 12"/>
          <p:cNvSpPr/>
          <p:nvPr/>
        </p:nvSpPr>
        <p:spPr>
          <a:xfrm>
            <a:off x="990719" y="2171520"/>
            <a:ext cx="350927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Architektura aplikacji mobilnych</a:t>
            </a:r>
          </a:p>
        </p:txBody>
      </p:sp>
      <p:sp>
        <p:nvSpPr>
          <p:cNvPr id="15" name="Text 13"/>
          <p:cNvSpPr/>
          <p:nvPr/>
        </p:nvSpPr>
        <p:spPr>
          <a:xfrm>
            <a:off x="990719" y="2476440"/>
            <a:ext cx="291456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Struktura i wzorce architektoniczne</a:t>
            </a:r>
          </a:p>
        </p:txBody>
      </p:sp>
      <p:sp>
        <p:nvSpPr>
          <p:cNvPr id="16" name="Shape 14"/>
          <p:cNvSpPr/>
          <p:nvPr/>
        </p:nvSpPr>
        <p:spPr>
          <a:xfrm>
            <a:off x="6324479" y="2576769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 dirty="0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76960" y="2576769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</a:t>
            </a:r>
          </a:p>
        </p:txBody>
      </p:sp>
      <p:sp>
        <p:nvSpPr>
          <p:cNvPr id="18" name="Text 16"/>
          <p:cNvSpPr/>
          <p:nvPr/>
        </p:nvSpPr>
        <p:spPr>
          <a:xfrm>
            <a:off x="6934319" y="2576769"/>
            <a:ext cx="341964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</a:t>
            </a:r>
          </a:p>
        </p:txBody>
      </p:sp>
      <p:sp>
        <p:nvSpPr>
          <p:cNvPr id="19" name="Text 17"/>
          <p:cNvSpPr/>
          <p:nvPr/>
        </p:nvSpPr>
        <p:spPr>
          <a:xfrm>
            <a:off x="6934319" y="2881689"/>
            <a:ext cx="40456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Meta do tworzenia natywnych aplikacji</a:t>
            </a:r>
          </a:p>
        </p:txBody>
      </p:sp>
      <p:sp>
        <p:nvSpPr>
          <p:cNvPr id="20" name="Shape 18"/>
          <p:cNvSpPr/>
          <p:nvPr/>
        </p:nvSpPr>
        <p:spPr>
          <a:xfrm>
            <a:off x="380880" y="2933639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3360" y="2933639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5</a:t>
            </a:r>
          </a:p>
        </p:txBody>
      </p:sp>
      <p:sp>
        <p:nvSpPr>
          <p:cNvPr id="22" name="Text 20"/>
          <p:cNvSpPr/>
          <p:nvPr/>
        </p:nvSpPr>
        <p:spPr>
          <a:xfrm>
            <a:off x="990719" y="2933639"/>
            <a:ext cx="332423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 i Dart FFI</a:t>
            </a:r>
          </a:p>
        </p:txBody>
      </p:sp>
      <p:sp>
        <p:nvSpPr>
          <p:cNvPr id="23" name="Text 21"/>
          <p:cNvSpPr/>
          <p:nvPr/>
        </p:nvSpPr>
        <p:spPr>
          <a:xfrm>
            <a:off x="990719" y="3238560"/>
            <a:ext cx="38692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Google i interfejs do kodu natywnego</a:t>
            </a:r>
          </a:p>
        </p:txBody>
      </p:sp>
      <p:sp>
        <p:nvSpPr>
          <p:cNvPr id="24" name="Shape 22"/>
          <p:cNvSpPr/>
          <p:nvPr/>
        </p:nvSpPr>
        <p:spPr>
          <a:xfrm>
            <a:off x="6324479" y="3338888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6960" y="3338888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6</a:t>
            </a:r>
          </a:p>
        </p:txBody>
      </p:sp>
      <p:sp>
        <p:nvSpPr>
          <p:cNvPr id="26" name="Text 24"/>
          <p:cNvSpPr/>
          <p:nvPr/>
        </p:nvSpPr>
        <p:spPr>
          <a:xfrm>
            <a:off x="6934319" y="3338888"/>
            <a:ext cx="314315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Progressive Web Apps (PWA)</a:t>
            </a:r>
          </a:p>
        </p:txBody>
      </p:sp>
      <p:sp>
        <p:nvSpPr>
          <p:cNvPr id="27" name="Text 25"/>
          <p:cNvSpPr/>
          <p:nvPr/>
        </p:nvSpPr>
        <p:spPr>
          <a:xfrm>
            <a:off x="6934319" y="3643809"/>
            <a:ext cx="36856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Aplikacje webowe z funkcjonalnością natywną</a:t>
            </a:r>
          </a:p>
        </p:txBody>
      </p:sp>
      <p:sp>
        <p:nvSpPr>
          <p:cNvPr id="28" name="Shape 26"/>
          <p:cNvSpPr/>
          <p:nvPr/>
        </p:nvSpPr>
        <p:spPr>
          <a:xfrm>
            <a:off x="380880" y="3695760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3360" y="3695760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7</a:t>
            </a:r>
          </a:p>
        </p:txBody>
      </p:sp>
      <p:sp>
        <p:nvSpPr>
          <p:cNvPr id="30" name="Text 28"/>
          <p:cNvSpPr/>
          <p:nvPr/>
        </p:nvSpPr>
        <p:spPr>
          <a:xfrm>
            <a:off x="990719" y="3695760"/>
            <a:ext cx="386927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 na urządzeniach mobilnych</a:t>
            </a:r>
          </a:p>
        </p:txBody>
      </p:sp>
      <p:sp>
        <p:nvSpPr>
          <p:cNvPr id="31" name="Text 29"/>
          <p:cNvSpPr/>
          <p:nvPr/>
        </p:nvSpPr>
        <p:spPr>
          <a:xfrm>
            <a:off x="990719" y="4000680"/>
            <a:ext cx="30574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 Kivy i BeeWare</a:t>
            </a:r>
          </a:p>
        </p:txBody>
      </p:sp>
      <p:sp>
        <p:nvSpPr>
          <p:cNvPr id="32" name="Shape 30"/>
          <p:cNvSpPr/>
          <p:nvPr/>
        </p:nvSpPr>
        <p:spPr>
          <a:xfrm>
            <a:off x="6324479" y="4101009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76960" y="4101009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8</a:t>
            </a:r>
          </a:p>
        </p:txBody>
      </p:sp>
      <p:sp>
        <p:nvSpPr>
          <p:cNvPr id="34" name="Text 32"/>
          <p:cNvSpPr/>
          <p:nvPr/>
        </p:nvSpPr>
        <p:spPr>
          <a:xfrm>
            <a:off x="6934319" y="4101009"/>
            <a:ext cx="300024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</a:p>
        </p:txBody>
      </p:sp>
      <p:sp>
        <p:nvSpPr>
          <p:cNvPr id="35" name="Text 33"/>
          <p:cNvSpPr/>
          <p:nvPr/>
        </p:nvSpPr>
        <p:spPr>
          <a:xfrm>
            <a:off x="6934319" y="4405929"/>
            <a:ext cx="35056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 dla aplikacji natywnych iOS i Android</a:t>
            </a:r>
          </a:p>
        </p:txBody>
      </p:sp>
      <p:sp>
        <p:nvSpPr>
          <p:cNvPr id="36" name="Shape 34"/>
          <p:cNvSpPr/>
          <p:nvPr/>
        </p:nvSpPr>
        <p:spPr>
          <a:xfrm>
            <a:off x="380880" y="4457880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33360" y="4457880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9</a:t>
            </a:r>
          </a:p>
        </p:txBody>
      </p:sp>
      <p:sp>
        <p:nvSpPr>
          <p:cNvPr id="38" name="Text 36"/>
          <p:cNvSpPr/>
          <p:nvPr/>
        </p:nvSpPr>
        <p:spPr>
          <a:xfrm>
            <a:off x="990719" y="4457880"/>
            <a:ext cx="141912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Solar2D</a:t>
            </a:r>
          </a:p>
        </p:txBody>
      </p:sp>
      <p:sp>
        <p:nvSpPr>
          <p:cNvPr id="39" name="Text 37"/>
          <p:cNvSpPr/>
          <p:nvPr/>
        </p:nvSpPr>
        <p:spPr>
          <a:xfrm>
            <a:off x="990719" y="4762440"/>
            <a:ext cx="14000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 gier 2D w Lua</a:t>
            </a:r>
          </a:p>
        </p:txBody>
      </p:sp>
      <p:sp>
        <p:nvSpPr>
          <p:cNvPr id="40" name="Shape 38"/>
          <p:cNvSpPr/>
          <p:nvPr/>
        </p:nvSpPr>
        <p:spPr>
          <a:xfrm>
            <a:off x="6324479" y="4863129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76960" y="4863129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10</a:t>
            </a:r>
          </a:p>
        </p:txBody>
      </p:sp>
      <p:sp>
        <p:nvSpPr>
          <p:cNvPr id="42" name="Text 40"/>
          <p:cNvSpPr/>
          <p:nvPr/>
        </p:nvSpPr>
        <p:spPr>
          <a:xfrm>
            <a:off x="6934319" y="4863129"/>
            <a:ext cx="21240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 FFI i gomobile</a:t>
            </a:r>
          </a:p>
        </p:txBody>
      </p:sp>
      <p:sp>
        <p:nvSpPr>
          <p:cNvPr id="43" name="Text 41"/>
          <p:cNvSpPr/>
          <p:nvPr/>
        </p:nvSpPr>
        <p:spPr>
          <a:xfrm>
            <a:off x="6934319" y="5167689"/>
            <a:ext cx="27856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 i Go w rozwoju mobilnym</a:t>
            </a:r>
          </a:p>
        </p:txBody>
      </p:sp>
      <p:sp>
        <p:nvSpPr>
          <p:cNvPr id="44" name="Shape 42"/>
          <p:cNvSpPr/>
          <p:nvPr/>
        </p:nvSpPr>
        <p:spPr>
          <a:xfrm>
            <a:off x="380880" y="5219640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228600"/>
              <a:gd name="f5" fmla="val 354768"/>
              <a:gd name="f6" fmla="val 102432"/>
              <a:gd name="f7" fmla="*/ f0 1 457200"/>
              <a:gd name="f8" fmla="*/ f1 1 457200"/>
              <a:gd name="f9" fmla="val f2"/>
              <a:gd name="f10" fmla="val f3"/>
              <a:gd name="f11" fmla="+- f10 0 f9"/>
              <a:gd name="f12" fmla="*/ f11 1 4572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457200" h="4572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33360" y="5219640"/>
            <a:ext cx="552600" cy="457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11</a:t>
            </a:r>
          </a:p>
        </p:txBody>
      </p:sp>
      <p:sp>
        <p:nvSpPr>
          <p:cNvPr id="46" name="Text 44"/>
          <p:cNvSpPr/>
          <p:nvPr/>
        </p:nvSpPr>
        <p:spPr>
          <a:xfrm>
            <a:off x="990719" y="5219640"/>
            <a:ext cx="26002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Podsumowanie i wnioski</a:t>
            </a:r>
          </a:p>
        </p:txBody>
      </p:sp>
      <p:sp>
        <p:nvSpPr>
          <p:cNvPr id="47" name="Text 45"/>
          <p:cNvSpPr/>
          <p:nvPr/>
        </p:nvSpPr>
        <p:spPr>
          <a:xfrm>
            <a:off x="990719" y="5524560"/>
            <a:ext cx="33292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Rekomendacje i trendy przyszłościowe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vocso.com/fe92c8e6a624beba380936d60c5962e596a8fb77.pn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1638360"/>
            <a:ext cx="118872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01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2705039"/>
            <a:ext cx="11658600" cy="1714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Wprowadzenie </a:t>
            </a: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 programowania </a:t>
            </a:r>
            <a:b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</a:b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cross-platformowego</a:t>
            </a:r>
            <a:endParaRPr lang="pl-PL" sz="4400" b="1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80880" y="4648320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91508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Definicje, rynek i statystyki adopcji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54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1.1. </a:t>
            </a:r>
            <a:r>
              <a:rPr lang="pl-PL" sz="900" b="0" i="0" u="none" strike="noStrike" kern="0" cap="none" spc="54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DEFINICJA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programowanie cross-platformowe?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1257480"/>
            <a:ext cx="68770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Definicja</a:t>
            </a:r>
          </a:p>
        </p:txBody>
      </p:sp>
      <p:sp>
        <p:nvSpPr>
          <p:cNvPr id="5" name="Text 3"/>
          <p:cNvSpPr/>
          <p:nvPr/>
        </p:nvSpPr>
        <p:spPr>
          <a:xfrm>
            <a:off x="380880" y="1780429"/>
            <a:ext cx="6539465" cy="1383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 cross-platformowe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podejście polegające na tworzeniu aplikacji, które mogą działać na wielu platformach (iOS, Android) z wykorzystaniem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jednej bazy kodu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cross-platformowe umożliwiają deweloperom pisanie kodu raz i wdrażanie go na różne systemy operacyjne.</a:t>
            </a:r>
          </a:p>
        </p:txBody>
      </p:sp>
      <p:sp>
        <p:nvSpPr>
          <p:cNvPr id="6" name="Text 4"/>
          <p:cNvSpPr/>
          <p:nvPr/>
        </p:nvSpPr>
        <p:spPr>
          <a:xfrm>
            <a:off x="380880" y="3181679"/>
            <a:ext cx="6539465" cy="495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Celem jest redukcja kosztów, skrócenie czasu wdrożenia oraz zapewnienie spójnego doświadczenia użytkownika na wszystkich platformach.</a:t>
            </a:r>
          </a:p>
        </p:txBody>
      </p:sp>
      <p:sp>
        <p:nvSpPr>
          <p:cNvPr id="7" name="Text 5"/>
          <p:cNvSpPr/>
          <p:nvPr/>
        </p:nvSpPr>
        <p:spPr>
          <a:xfrm>
            <a:off x="380880" y="4299480"/>
            <a:ext cx="68770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frameworki</a:t>
            </a:r>
          </a:p>
        </p:txBody>
      </p:sp>
      <p:sp>
        <p:nvSpPr>
          <p:cNvPr id="8" name="Shape 6"/>
          <p:cNvSpPr/>
          <p:nvPr/>
        </p:nvSpPr>
        <p:spPr>
          <a:xfrm>
            <a:off x="399960" y="4718520"/>
            <a:ext cx="3305159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305175"/>
              <a:gd name="f4" fmla="val 609600"/>
              <a:gd name="f5" fmla="*/ f0 1 3305175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05175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05175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9960" y="4718520"/>
            <a:ext cx="38160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09600"/>
              <a:gd name="f5" fmla="*/ f0 1 38100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1680" y="4794840"/>
            <a:ext cx="32194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</a:t>
            </a:r>
          </a:p>
        </p:txBody>
      </p:sp>
      <p:sp>
        <p:nvSpPr>
          <p:cNvPr id="11" name="Text 9"/>
          <p:cNvSpPr/>
          <p:nvPr/>
        </p:nvSpPr>
        <p:spPr>
          <a:xfrm>
            <a:off x="571680" y="5061600"/>
            <a:ext cx="32004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Meta, JavaScript</a:t>
            </a:r>
          </a:p>
        </p:txBody>
      </p:sp>
      <p:sp>
        <p:nvSpPr>
          <p:cNvPr id="12" name="Shape 10"/>
          <p:cNvSpPr/>
          <p:nvPr/>
        </p:nvSpPr>
        <p:spPr>
          <a:xfrm>
            <a:off x="3840479" y="4718520"/>
            <a:ext cx="3305159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305175"/>
              <a:gd name="f4" fmla="val 609600"/>
              <a:gd name="f5" fmla="*/ f0 1 3305175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05175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05175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79" y="4718520"/>
            <a:ext cx="38160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09600"/>
              <a:gd name="f5" fmla="*/ f0 1 38100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11839" y="4794840"/>
            <a:ext cx="32194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</a:t>
            </a:r>
          </a:p>
        </p:txBody>
      </p:sp>
      <p:sp>
        <p:nvSpPr>
          <p:cNvPr id="15" name="Text 13"/>
          <p:cNvSpPr/>
          <p:nvPr/>
        </p:nvSpPr>
        <p:spPr>
          <a:xfrm>
            <a:off x="4011839" y="5061600"/>
            <a:ext cx="32004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Google, Dart</a:t>
            </a:r>
          </a:p>
        </p:txBody>
      </p:sp>
      <p:sp>
        <p:nvSpPr>
          <p:cNvPr id="16" name="Shape 14"/>
          <p:cNvSpPr/>
          <p:nvPr/>
        </p:nvSpPr>
        <p:spPr>
          <a:xfrm>
            <a:off x="399960" y="5442479"/>
            <a:ext cx="3305159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305175"/>
              <a:gd name="f4" fmla="val 609600"/>
              <a:gd name="f5" fmla="*/ f0 1 3305175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05175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05175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9960" y="5442479"/>
            <a:ext cx="38160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09600"/>
              <a:gd name="f5" fmla="*/ f0 1 38100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680" y="5518800"/>
            <a:ext cx="32194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Xamarin/.NET MAUI</a:t>
            </a:r>
          </a:p>
        </p:txBody>
      </p:sp>
      <p:sp>
        <p:nvSpPr>
          <p:cNvPr id="19" name="Text 17"/>
          <p:cNvSpPr/>
          <p:nvPr/>
        </p:nvSpPr>
        <p:spPr>
          <a:xfrm>
            <a:off x="571680" y="5785200"/>
            <a:ext cx="32004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Microsoft, C#</a:t>
            </a:r>
          </a:p>
        </p:txBody>
      </p:sp>
      <p:sp>
        <p:nvSpPr>
          <p:cNvPr id="20" name="Shape 18"/>
          <p:cNvSpPr/>
          <p:nvPr/>
        </p:nvSpPr>
        <p:spPr>
          <a:xfrm>
            <a:off x="3840479" y="5442479"/>
            <a:ext cx="3305159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305175"/>
              <a:gd name="f4" fmla="val 609600"/>
              <a:gd name="f5" fmla="*/ f0 1 3305175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05175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05175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2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40479" y="5442479"/>
            <a:ext cx="38160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09600"/>
              <a:gd name="f5" fmla="*/ f0 1 38100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11839" y="5518800"/>
            <a:ext cx="32194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Ionic/Cordova</a:t>
            </a:r>
          </a:p>
        </p:txBody>
      </p:sp>
      <p:sp>
        <p:nvSpPr>
          <p:cNvPr id="23" name="Text 21"/>
          <p:cNvSpPr/>
          <p:nvPr/>
        </p:nvSpPr>
        <p:spPr>
          <a:xfrm>
            <a:off x="4011839" y="5785200"/>
            <a:ext cx="32004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WebView-based</a:t>
            </a:r>
          </a:p>
        </p:txBody>
      </p:sp>
      <p:sp>
        <p:nvSpPr>
          <p:cNvPr id="24" name="Shape 22"/>
          <p:cNvSpPr/>
          <p:nvPr/>
        </p:nvSpPr>
        <p:spPr>
          <a:xfrm>
            <a:off x="7396821" y="1486079"/>
            <a:ext cx="4438800" cy="2801964"/>
          </a:xfrm>
          <a:custGeom>
            <a:avLst/>
            <a:gdLst>
              <a:gd name="f0" fmla="val w"/>
              <a:gd name="f1" fmla="val h"/>
              <a:gd name="f2" fmla="val 0"/>
              <a:gd name="f3" fmla="val 4438650"/>
              <a:gd name="f4" fmla="val 3162300"/>
              <a:gd name="f5" fmla="*/ f0 1 4438650"/>
              <a:gd name="f6" fmla="*/ f1 1 31623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38650"/>
              <a:gd name="f13" fmla="*/ f10 1 31623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38650" h="31623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94249" y="1548425"/>
            <a:ext cx="407664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 rynkowe (2025)</a:t>
            </a:r>
          </a:p>
        </p:txBody>
      </p:sp>
      <p:sp>
        <p:nvSpPr>
          <p:cNvPr id="26" name="Text 24"/>
          <p:cNvSpPr/>
          <p:nvPr/>
        </p:nvSpPr>
        <p:spPr>
          <a:xfrm>
            <a:off x="7604639" y="1890052"/>
            <a:ext cx="1830306" cy="274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Wartość rynku</a:t>
            </a:r>
          </a:p>
        </p:txBody>
      </p:sp>
      <p:sp>
        <p:nvSpPr>
          <p:cNvPr id="27" name="Text 25"/>
          <p:cNvSpPr/>
          <p:nvPr/>
        </p:nvSpPr>
        <p:spPr>
          <a:xfrm>
            <a:off x="10620000" y="1905120"/>
            <a:ext cx="1040040" cy="18418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2000" b="1" i="0" u="none" strike="noStrike" kern="1200" cap="none" spc="0" baseline="0" dirty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$50 mld</a:t>
            </a:r>
          </a:p>
        </p:txBody>
      </p:sp>
      <p:sp>
        <p:nvSpPr>
          <p:cNvPr id="28" name="Text 26"/>
          <p:cNvSpPr/>
          <p:nvPr/>
        </p:nvSpPr>
        <p:spPr>
          <a:xfrm>
            <a:off x="7604640" y="2132998"/>
            <a:ext cx="4028081" cy="22896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</a:t>
            </a:r>
            <a:r>
              <a:rPr lang="pl-PL" sz="11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cross-platformowe</a:t>
            </a:r>
          </a:p>
        </p:txBody>
      </p:sp>
      <p:sp>
        <p:nvSpPr>
          <p:cNvPr id="29" name="Text 27"/>
          <p:cNvSpPr/>
          <p:nvPr/>
        </p:nvSpPr>
        <p:spPr>
          <a:xfrm>
            <a:off x="7604639" y="2499532"/>
            <a:ext cx="1830306" cy="274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Wzrost CAGR</a:t>
            </a:r>
          </a:p>
        </p:txBody>
      </p:sp>
      <p:sp>
        <p:nvSpPr>
          <p:cNvPr id="30" name="Text 28"/>
          <p:cNvSpPr/>
          <p:nvPr/>
        </p:nvSpPr>
        <p:spPr>
          <a:xfrm>
            <a:off x="10620000" y="2514600"/>
            <a:ext cx="10360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2000" b="1" i="0" u="none" strike="noStrike" kern="1200" cap="none" spc="0" baseline="0" dirty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20%</a:t>
            </a:r>
          </a:p>
        </p:txBody>
      </p:sp>
      <p:sp>
        <p:nvSpPr>
          <p:cNvPr id="31" name="Text 29"/>
          <p:cNvSpPr/>
          <p:nvPr/>
        </p:nvSpPr>
        <p:spPr>
          <a:xfrm>
            <a:off x="7604640" y="2742838"/>
            <a:ext cx="4028081" cy="22896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2025-2033</a:t>
            </a:r>
          </a:p>
        </p:txBody>
      </p:sp>
      <p:sp>
        <p:nvSpPr>
          <p:cNvPr id="32" name="Text 30"/>
          <p:cNvSpPr/>
          <p:nvPr/>
        </p:nvSpPr>
        <p:spPr>
          <a:xfrm>
            <a:off x="7604639" y="3109011"/>
            <a:ext cx="1846983" cy="274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rynku</a:t>
            </a:r>
          </a:p>
        </p:txBody>
      </p:sp>
      <p:sp>
        <p:nvSpPr>
          <p:cNvPr id="33" name="Text 31"/>
          <p:cNvSpPr/>
          <p:nvPr/>
        </p:nvSpPr>
        <p:spPr>
          <a:xfrm>
            <a:off x="10620000" y="3124079"/>
            <a:ext cx="104003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2000" b="1" i="0" u="none" strike="noStrike" kern="1200" cap="none" spc="0" baseline="0" dirty="0">
                <a:ln>
                  <a:noFill/>
                </a:ln>
                <a:solidFill>
                  <a:srgbClr val="FFFF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42%</a:t>
            </a:r>
          </a:p>
        </p:txBody>
      </p:sp>
      <p:sp>
        <p:nvSpPr>
          <p:cNvPr id="34" name="Text 32"/>
          <p:cNvSpPr/>
          <p:nvPr/>
        </p:nvSpPr>
        <p:spPr>
          <a:xfrm>
            <a:off x="7604640" y="3352318"/>
            <a:ext cx="4028081" cy="22896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Wszystkich aplikacji mobilnych</a:t>
            </a:r>
          </a:p>
        </p:txBody>
      </p:sp>
      <p:sp>
        <p:nvSpPr>
          <p:cNvPr id="35" name="Text 33"/>
          <p:cNvSpPr/>
          <p:nvPr/>
        </p:nvSpPr>
        <p:spPr>
          <a:xfrm>
            <a:off x="7604640" y="3718852"/>
            <a:ext cx="3023739" cy="2748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Użytkownicy smartfonów</a:t>
            </a:r>
          </a:p>
        </p:txBody>
      </p:sp>
      <p:sp>
        <p:nvSpPr>
          <p:cNvPr id="36" name="Text 34"/>
          <p:cNvSpPr/>
          <p:nvPr/>
        </p:nvSpPr>
        <p:spPr>
          <a:xfrm>
            <a:off x="10620000" y="3733920"/>
            <a:ext cx="1043280" cy="2278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2000" b="1" i="0" u="none" strike="noStrike" kern="1200" cap="none" spc="0" baseline="0" dirty="0">
                <a:ln>
                  <a:noFill/>
                </a:ln>
                <a:solidFill>
                  <a:srgbClr val="FFFF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7 mld+</a:t>
            </a:r>
          </a:p>
        </p:txBody>
      </p:sp>
      <p:sp>
        <p:nvSpPr>
          <p:cNvPr id="37" name="Text 35"/>
          <p:cNvSpPr/>
          <p:nvPr/>
        </p:nvSpPr>
        <p:spPr>
          <a:xfrm>
            <a:off x="7604640" y="3962158"/>
            <a:ext cx="4028081" cy="22896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 świecie w 2025</a:t>
            </a:r>
          </a:p>
        </p:txBody>
      </p:sp>
      <p:grpSp>
        <p:nvGrpSpPr>
          <p:cNvPr id="41" name="Grupa 40"/>
          <p:cNvGrpSpPr/>
          <p:nvPr/>
        </p:nvGrpSpPr>
        <p:grpSpPr>
          <a:xfrm>
            <a:off x="7495560" y="4928220"/>
            <a:ext cx="4340062" cy="990719"/>
            <a:chOff x="7395119" y="4745243"/>
            <a:chExt cx="4486681" cy="990719"/>
          </a:xfrm>
        </p:grpSpPr>
        <p:sp>
          <p:nvSpPr>
            <p:cNvPr id="38" name="Shape 36"/>
            <p:cNvSpPr/>
            <p:nvPr/>
          </p:nvSpPr>
          <p:spPr>
            <a:xfrm>
              <a:off x="7395119" y="4745243"/>
              <a:ext cx="38160" cy="99071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8100"/>
                <a:gd name="f4" fmla="val 990600"/>
                <a:gd name="f5" fmla="*/ f0 1 38100"/>
                <a:gd name="f6" fmla="*/ f1 1 9906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8100"/>
                <a:gd name="f13" fmla="*/ f10 1 9906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8100" h="9906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522450" y="4859363"/>
              <a:ext cx="3907550" cy="4953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i="1"/>
              </a:pP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"Cross-platform development </a:t>
              </a:r>
              <a:r>
                <a:rPr lang="pl-PL" sz="1400" b="0" i="1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can</a:t>
              </a: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</a:t>
              </a:r>
              <a:r>
                <a:rPr lang="pl-PL" sz="1400" b="0" i="1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reduce</a:t>
              </a: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</a:t>
              </a:r>
              <a:r>
                <a:rPr lang="pl-PL" sz="1400" b="0" i="1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costs</a:t>
              </a: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by </a:t>
              </a:r>
              <a:r>
                <a:rPr lang="pl-PL" sz="1400" b="1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25-50%</a:t>
              </a: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</a:t>
              </a:r>
              <a:r>
                <a:rPr lang="pl-PL" sz="1400" b="0" i="1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compared</a:t>
              </a: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to native development"</a:t>
              </a:r>
            </a:p>
          </p:txBody>
        </p:sp>
        <p:sp>
          <p:nvSpPr>
            <p:cNvPr id="40" name="Text 38"/>
            <p:cNvSpPr/>
            <p:nvPr/>
          </p:nvSpPr>
          <p:spPr>
            <a:xfrm>
              <a:off x="7566840" y="5493188"/>
              <a:ext cx="4314960" cy="1904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—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Mobisoft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Infotech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, 2025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54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1.2. </a:t>
            </a:r>
            <a:r>
              <a:rPr lang="pl-PL" sz="900" b="0" i="0" u="none" strike="noStrike" kern="0" cap="none" spc="54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EWOLUCJA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Ewolucja technologii cross-platformowych</a:t>
            </a:r>
          </a:p>
        </p:txBody>
      </p:sp>
      <p:sp>
        <p:nvSpPr>
          <p:cNvPr id="4" name="Shape 2"/>
          <p:cNvSpPr/>
          <p:nvPr/>
        </p:nvSpPr>
        <p:spPr>
          <a:xfrm>
            <a:off x="737018" y="1327320"/>
            <a:ext cx="19080" cy="3867119"/>
          </a:xfrm>
          <a:custGeom>
            <a:avLst/>
            <a:gdLst>
              <a:gd name="f0" fmla="val w"/>
              <a:gd name="f1" fmla="val h"/>
              <a:gd name="f2" fmla="val 0"/>
              <a:gd name="f3" fmla="val 19050"/>
              <a:gd name="f4" fmla="val 3867150"/>
              <a:gd name="f5" fmla="*/ f0 1 19050"/>
              <a:gd name="f6" fmla="*/ f1 1 38671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9050"/>
              <a:gd name="f13" fmla="*/ f10 1 38671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9050" h="38671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59685" y="1327320"/>
            <a:ext cx="38088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81000"/>
              <a:gd name="f4" fmla="val 190500"/>
              <a:gd name="f5" fmla="val 295640"/>
              <a:gd name="f6" fmla="val 85360"/>
              <a:gd name="f7" fmla="*/ f0 1 381000"/>
              <a:gd name="f8" fmla="*/ f1 1 381000"/>
              <a:gd name="f9" fmla="val f2"/>
              <a:gd name="f10" fmla="val f3"/>
              <a:gd name="f11" fmla="+- f10 0 f9"/>
              <a:gd name="f12" fmla="*/ f11 1 3810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81000" h="3810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1525" y="1327320"/>
            <a:ext cx="45720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1143000" y="1250493"/>
            <a:ext cx="3958936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Era </a:t>
            </a:r>
            <a:r>
              <a:rPr lang="pl-PL" sz="18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WebView</a:t>
            </a: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(2010-2014)</a:t>
            </a:r>
          </a:p>
        </p:txBody>
      </p:sp>
      <p:sp>
        <p:nvSpPr>
          <p:cNvPr id="8" name="Text 6"/>
          <p:cNvSpPr/>
          <p:nvPr/>
        </p:nvSpPr>
        <p:spPr>
          <a:xfrm>
            <a:off x="1143000" y="1503098"/>
            <a:ext cx="7677000" cy="495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1701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Cordova, </a:t>
            </a:r>
            <a:r>
              <a:rPr lang="en-US" sz="13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PhoneGap</a:t>
            </a:r>
            <a:r>
              <a:rPr lang="en-US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Aplikacje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hybrydowe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opakowujące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strony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web w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natywny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kontener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Problemy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niska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wydajność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brak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natywnego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UX,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ograniczony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dostęp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do </a:t>
            </a:r>
            <a:r>
              <a:rPr lang="en-US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sprzętu</a:t>
            </a:r>
            <a:r>
              <a:rPr lang="en-US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538903" y="2249084"/>
            <a:ext cx="38088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81000"/>
              <a:gd name="f4" fmla="val 190500"/>
              <a:gd name="f5" fmla="val 295640"/>
              <a:gd name="f6" fmla="val 85360"/>
              <a:gd name="f7" fmla="*/ f0 1 381000"/>
              <a:gd name="f8" fmla="*/ f1 1 381000"/>
              <a:gd name="f9" fmla="val f2"/>
              <a:gd name="f10" fmla="val f3"/>
              <a:gd name="f11" fmla="+- f10 0 f9"/>
              <a:gd name="f12" fmla="*/ f11 1 3810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81000" h="3810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0743" y="2249084"/>
            <a:ext cx="45720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</a:t>
            </a:r>
          </a:p>
        </p:txBody>
      </p:sp>
      <p:sp>
        <p:nvSpPr>
          <p:cNvPr id="11" name="Text 9"/>
          <p:cNvSpPr/>
          <p:nvPr/>
        </p:nvSpPr>
        <p:spPr>
          <a:xfrm>
            <a:off x="1143000" y="2130693"/>
            <a:ext cx="5008418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Podejście hybrydowe (2014-2018)</a:t>
            </a:r>
          </a:p>
        </p:txBody>
      </p:sp>
      <p:sp>
        <p:nvSpPr>
          <p:cNvPr id="12" name="Text 10"/>
          <p:cNvSpPr/>
          <p:nvPr/>
        </p:nvSpPr>
        <p:spPr>
          <a:xfrm>
            <a:off x="1143000" y="2332800"/>
            <a:ext cx="7677000" cy="583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1701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Ionic</a:t>
            </a:r>
            <a:r>
              <a:rPr lang="pl-PL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Framework7: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Ulepszone UI komponenty, lepsza integracja z natywnymi funkcjami. Nadal ograniczenia wydajnościowe związane z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WebView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538903" y="3123573"/>
            <a:ext cx="38088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81000"/>
              <a:gd name="f4" fmla="val 190500"/>
              <a:gd name="f5" fmla="val 295640"/>
              <a:gd name="f6" fmla="val 85360"/>
              <a:gd name="f7" fmla="*/ f0 1 381000"/>
              <a:gd name="f8" fmla="*/ f1 1 381000"/>
              <a:gd name="f9" fmla="val f2"/>
              <a:gd name="f10" fmla="val f3"/>
              <a:gd name="f11" fmla="+- f10 0 f9"/>
              <a:gd name="f12" fmla="*/ f11 1 3810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81000" h="3810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0743" y="3123573"/>
            <a:ext cx="45720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</a:t>
            </a:r>
          </a:p>
        </p:txBody>
      </p:sp>
      <p:sp>
        <p:nvSpPr>
          <p:cNvPr id="15" name="Text 13"/>
          <p:cNvSpPr/>
          <p:nvPr/>
        </p:nvSpPr>
        <p:spPr>
          <a:xfrm>
            <a:off x="1143000" y="3031528"/>
            <a:ext cx="364720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Mostek natywny (2015-2020)</a:t>
            </a:r>
          </a:p>
        </p:txBody>
      </p:sp>
      <p:sp>
        <p:nvSpPr>
          <p:cNvPr id="16" name="Text 14"/>
          <p:cNvSpPr/>
          <p:nvPr/>
        </p:nvSpPr>
        <p:spPr>
          <a:xfrm>
            <a:off x="1143000" y="3218040"/>
            <a:ext cx="7677000" cy="597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1701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 Native:</a:t>
            </a: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Komponenty JS komunikują się z natywnymi modułami przez mostek. Lepsza wydajność, natywny wygląd, ale opóźnienia związane z mostkiem.</a:t>
            </a:r>
          </a:p>
        </p:txBody>
      </p:sp>
      <p:sp>
        <p:nvSpPr>
          <p:cNvPr id="17" name="Shape 15"/>
          <p:cNvSpPr/>
          <p:nvPr/>
        </p:nvSpPr>
        <p:spPr>
          <a:xfrm>
            <a:off x="570076" y="4018843"/>
            <a:ext cx="38088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81000"/>
              <a:gd name="f4" fmla="val 190500"/>
              <a:gd name="f5" fmla="val 295640"/>
              <a:gd name="f6" fmla="val 85360"/>
              <a:gd name="f7" fmla="*/ f0 1 381000"/>
              <a:gd name="f8" fmla="*/ f1 1 381000"/>
              <a:gd name="f9" fmla="val f2"/>
              <a:gd name="f10" fmla="val f3"/>
              <a:gd name="f11" fmla="+- f10 0 f9"/>
              <a:gd name="f12" fmla="*/ f11 1 3810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81000" h="3810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1525" y="4018843"/>
            <a:ext cx="45720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</a:t>
            </a:r>
          </a:p>
        </p:txBody>
      </p:sp>
      <p:sp>
        <p:nvSpPr>
          <p:cNvPr id="19" name="Text 17"/>
          <p:cNvSpPr/>
          <p:nvPr/>
        </p:nvSpPr>
        <p:spPr>
          <a:xfrm>
            <a:off x="1143000" y="3926798"/>
            <a:ext cx="76770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Kompilacja AOT (2018-obecnie)</a:t>
            </a:r>
          </a:p>
        </p:txBody>
      </p:sp>
      <p:sp>
        <p:nvSpPr>
          <p:cNvPr id="20" name="Text 18"/>
          <p:cNvSpPr/>
          <p:nvPr/>
        </p:nvSpPr>
        <p:spPr>
          <a:xfrm>
            <a:off x="1143000" y="4134453"/>
            <a:ext cx="7677000" cy="61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1701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Flutter: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Kompilacja Ahead-of-Time do kodu maszynowego, własny silnik renderujący. Wydajność bliska natywnej, płynne animacje 60/120 FPS.</a:t>
            </a:r>
          </a:p>
        </p:txBody>
      </p:sp>
      <p:sp>
        <p:nvSpPr>
          <p:cNvPr id="21" name="Shape 19"/>
          <p:cNvSpPr/>
          <p:nvPr/>
        </p:nvSpPr>
        <p:spPr>
          <a:xfrm>
            <a:off x="559685" y="4950852"/>
            <a:ext cx="38088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81000"/>
              <a:gd name="f4" fmla="val 190500"/>
              <a:gd name="f5" fmla="val 295640"/>
              <a:gd name="f6" fmla="val 85360"/>
              <a:gd name="f7" fmla="*/ f0 1 381000"/>
              <a:gd name="f8" fmla="*/ f1 1 381000"/>
              <a:gd name="f9" fmla="val f2"/>
              <a:gd name="f10" fmla="val f3"/>
              <a:gd name="f11" fmla="+- f10 0 f9"/>
              <a:gd name="f12" fmla="*/ f11 1 381000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81000" h="381000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1525" y="4950852"/>
            <a:ext cx="45720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5</a:t>
            </a:r>
          </a:p>
        </p:txBody>
      </p:sp>
      <p:sp>
        <p:nvSpPr>
          <p:cNvPr id="23" name="Text 21"/>
          <p:cNvSpPr/>
          <p:nvPr/>
        </p:nvSpPr>
        <p:spPr>
          <a:xfrm>
            <a:off x="1143000" y="4827634"/>
            <a:ext cx="80370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Nowoczesna architektura (2020-obecnie)</a:t>
            </a:r>
          </a:p>
        </p:txBody>
      </p:sp>
      <p:sp>
        <p:nvSpPr>
          <p:cNvPr id="24" name="Text 22"/>
          <p:cNvSpPr/>
          <p:nvPr/>
        </p:nvSpPr>
        <p:spPr>
          <a:xfrm>
            <a:off x="1143000" y="5097634"/>
            <a:ext cx="7677000" cy="495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 New Architecture, </a:t>
            </a:r>
            <a:r>
              <a:rPr lang="pl-PL" sz="13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SwiftUI</a:t>
            </a:r>
            <a:r>
              <a:rPr lang="pl-PL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/</a:t>
            </a:r>
            <a:r>
              <a:rPr lang="pl-PL" sz="13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3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Server Components: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Synchroniczne wywołania natywne, eliminacja mostka, wsparcie dla wielu platform (web, desktop).</a:t>
            </a:r>
          </a:p>
        </p:txBody>
      </p:sp>
      <p:sp>
        <p:nvSpPr>
          <p:cNvPr id="25" name="Shape 23"/>
          <p:cNvSpPr/>
          <p:nvPr/>
        </p:nvSpPr>
        <p:spPr>
          <a:xfrm>
            <a:off x="399960" y="6138720"/>
            <a:ext cx="3816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381000"/>
              <a:gd name="f5" fmla="*/ f0 1 38100"/>
              <a:gd name="f6" fmla="*/ f1 1 381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381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381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1680" y="6071040"/>
            <a:ext cx="11315880" cy="444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Wniosek: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Nowoczesne 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eliminują problemy wydajnościowe starszych rozwiązań, oferując wydajność zbliżoną do natywnej przy zachowaniu zalet cross-platform.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napp.com/5ca34bdd8d25451ac1185c01d48a893e31acdce4.jp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7584" b="7584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1638360"/>
            <a:ext cx="118872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02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2705039"/>
            <a:ext cx="11658600" cy="1714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vs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cross-platformowe</a:t>
            </a:r>
          </a:p>
        </p:txBody>
      </p:sp>
      <p:sp>
        <p:nvSpPr>
          <p:cNvPr id="6" name="Shape 3"/>
          <p:cNvSpPr/>
          <p:nvPr/>
        </p:nvSpPr>
        <p:spPr>
          <a:xfrm>
            <a:off x="380880" y="4648320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91508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Porównanie podejść, zalety i wady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4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2.1 PROGRAMOWANIE NATYWNE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Definicja programowania natywnego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1219320"/>
            <a:ext cx="571500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programowanie natywne?</a:t>
            </a:r>
          </a:p>
        </p:txBody>
      </p:sp>
      <p:sp>
        <p:nvSpPr>
          <p:cNvPr id="5" name="Text 3"/>
          <p:cNvSpPr/>
          <p:nvPr/>
        </p:nvSpPr>
        <p:spPr>
          <a:xfrm>
            <a:off x="380880" y="1835789"/>
            <a:ext cx="5500375" cy="1061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 natywne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polega na tworzeniu aplikacji specyficznych dla danej platformy, wykorzystując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języki i narzędzia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stworzone dla konkretnego systemu operacyjnego.</a:t>
            </a:r>
          </a:p>
        </p:txBody>
      </p:sp>
      <p:sp>
        <p:nvSpPr>
          <p:cNvPr id="6" name="Text 4"/>
          <p:cNvSpPr/>
          <p:nvPr/>
        </p:nvSpPr>
        <p:spPr>
          <a:xfrm>
            <a:off x="380880" y="2747520"/>
            <a:ext cx="5500375" cy="1212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Zapewnia pełną integrację z ekosystemem platformy, optymalizację grafiki, efektywność energetyczną oraz natywne komponenty UI, które czują się naturalnie dla użytkowników.</a:t>
            </a:r>
          </a:p>
        </p:txBody>
      </p:sp>
      <p:sp>
        <p:nvSpPr>
          <p:cNvPr id="7" name="Text 5"/>
          <p:cNvSpPr/>
          <p:nvPr/>
        </p:nvSpPr>
        <p:spPr>
          <a:xfrm>
            <a:off x="380880" y="4454480"/>
            <a:ext cx="569592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Technologie natywne</a:t>
            </a:r>
          </a:p>
        </p:txBody>
      </p:sp>
      <p:sp>
        <p:nvSpPr>
          <p:cNvPr id="8" name="Shape 6"/>
          <p:cNvSpPr/>
          <p:nvPr/>
        </p:nvSpPr>
        <p:spPr>
          <a:xfrm>
            <a:off x="399960" y="4835360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9960" y="4835360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680" y="4911680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76202"/>
              <a:gd name="f5" fmla="val 380998"/>
              <a:gd name="f6" fmla="val 423055"/>
              <a:gd name="f7" fmla="val 34145"/>
              <a:gd name="f8" fmla="*/ f0 1 457200"/>
              <a:gd name="f9" fmla="*/ f1 1 457200"/>
              <a:gd name="f10" fmla="val f2"/>
              <a:gd name="f11" fmla="val f3"/>
              <a:gd name="f12" fmla="+- f11 0 f10"/>
              <a:gd name="f13" fmla="*/ f12 1 4572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457200" h="4572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4240" y="5026160"/>
            <a:ext cx="171360" cy="228600"/>
          </a:xfrm>
          <a:custGeom>
            <a:avLst/>
            <a:gdLst>
              <a:gd name="f0" fmla="val w"/>
              <a:gd name="f1" fmla="val h"/>
              <a:gd name="f2" fmla="val 0"/>
              <a:gd name="f3" fmla="val 171450"/>
              <a:gd name="f4" fmla="val 228600"/>
              <a:gd name="f5" fmla="val 142473"/>
              <a:gd name="f6" fmla="val 119970"/>
              <a:gd name="f7" fmla="val 142384"/>
              <a:gd name="f8" fmla="val 103584"/>
              <a:gd name="f9" fmla="val 149796"/>
              <a:gd name="f10" fmla="val 91217"/>
              <a:gd name="f11" fmla="val 164797"/>
              <a:gd name="f12" fmla="val 82108"/>
              <a:gd name="f13" fmla="val 156403"/>
              <a:gd name="f14" fmla="val 70098"/>
              <a:gd name="f15" fmla="val 143723"/>
              <a:gd name="f16" fmla="val 63490"/>
              <a:gd name="f17" fmla="val 126980"/>
              <a:gd name="f18" fmla="val 62195"/>
              <a:gd name="f19" fmla="val 111130"/>
              <a:gd name="f20" fmla="val 60945"/>
              <a:gd name="f21" fmla="val 93806"/>
              <a:gd name="f22" fmla="val 71437"/>
              <a:gd name="f23" fmla="val 87466"/>
              <a:gd name="f24" fmla="val 80769"/>
              <a:gd name="f25" fmla="val 65410"/>
              <a:gd name="f26" fmla="val 62642"/>
              <a:gd name="f27" fmla="val 53355"/>
              <a:gd name="f28" fmla="val 28441"/>
              <a:gd name="f29" fmla="val 63044"/>
              <a:gd name="f30" fmla="val 1965"/>
              <a:gd name="f31" fmla="val 82510"/>
              <a:gd name="f32" fmla="val 122113"/>
              <a:gd name="f33" fmla="val 133811"/>
              <a:gd name="f34" fmla="val 4108"/>
              <a:gd name="f35" fmla="val 145911"/>
              <a:gd name="f36" fmla="val 8394"/>
              <a:gd name="f37" fmla="val 158368"/>
              <a:gd name="f38" fmla="val 14109"/>
              <a:gd name="f39" fmla="val 174754"/>
              <a:gd name="f40" fmla="val 34736"/>
              <a:gd name="f41" fmla="val 214938"/>
              <a:gd name="f42" fmla="val 56257"/>
              <a:gd name="f43" fmla="val 214268"/>
              <a:gd name="f44" fmla="val 67508"/>
              <a:gd name="f45" fmla="val 214000"/>
              <a:gd name="f46" fmla="val 75456"/>
              <a:gd name="f47" fmla="val 206276"/>
              <a:gd name="f48" fmla="val 90101"/>
              <a:gd name="f49" fmla="val 104299"/>
              <a:gd name="f50" fmla="val 111666"/>
              <a:gd name="f51" fmla="val 124212"/>
              <a:gd name="f52" fmla="val 213955"/>
              <a:gd name="f53" fmla="val 164574"/>
              <a:gd name="f54" fmla="val 177433"/>
              <a:gd name="f55" fmla="val 170021"/>
              <a:gd name="f56" fmla="val 161002"/>
              <a:gd name="f57" fmla="val 140910"/>
              <a:gd name="f58" fmla="val 147295"/>
              <a:gd name="f59" fmla="val 120819"/>
              <a:gd name="f60" fmla="val 117202"/>
              <a:gd name="f61" fmla="val 46658"/>
              <a:gd name="f62" fmla="val 129391"/>
              <a:gd name="f63" fmla="val 32192"/>
              <a:gd name="f64" fmla="val 128275"/>
              <a:gd name="f65" fmla="val 19020"/>
              <a:gd name="f66" fmla="val 127918"/>
              <a:gd name="f67" fmla="val 14288"/>
              <a:gd name="f68" fmla="val 117157"/>
              <a:gd name="f69" fmla="val 14913"/>
              <a:gd name="f70" fmla="val 104701"/>
              <a:gd name="f71" fmla="val 21610"/>
              <a:gd name="f72" fmla="val 97601"/>
              <a:gd name="f73" fmla="val 29870"/>
              <a:gd name="f74" fmla="val 89788"/>
              <a:gd name="f75" fmla="val 38710"/>
              <a:gd name="f76" fmla="val 85189"/>
              <a:gd name="f77" fmla="val 49649"/>
              <a:gd name="f78" fmla="val 86171"/>
              <a:gd name="f79" fmla="val 61972"/>
              <a:gd name="f80" fmla="val 97825"/>
              <a:gd name="f81" fmla="val 62865"/>
              <a:gd name="f82" fmla="val 108451"/>
              <a:gd name="f83" fmla="val 56882"/>
              <a:gd name="f84" fmla="*/ f0 1 171450"/>
              <a:gd name="f85" fmla="*/ f1 1 228600"/>
              <a:gd name="f86" fmla="val f2"/>
              <a:gd name="f87" fmla="val f3"/>
              <a:gd name="f88" fmla="val f4"/>
              <a:gd name="f89" fmla="+- f88 0 f86"/>
              <a:gd name="f90" fmla="+- f87 0 f86"/>
              <a:gd name="f91" fmla="*/ f90 1 171450"/>
              <a:gd name="f92" fmla="*/ f89 1 228600"/>
              <a:gd name="f93" fmla="*/ f86 1 f91"/>
              <a:gd name="f94" fmla="*/ f87 1 f91"/>
              <a:gd name="f95" fmla="*/ f86 1 f92"/>
              <a:gd name="f96" fmla="*/ f88 1 f92"/>
              <a:gd name="f97" fmla="*/ f93 f84 1"/>
              <a:gd name="f98" fmla="*/ f94 f84 1"/>
              <a:gd name="f99" fmla="*/ f96 f85 1"/>
              <a:gd name="f100" fmla="*/ f95 f8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7" t="f100" r="f98" b="f99"/>
            <a:pathLst>
              <a:path w="171450" h="2286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cubicBezTo>
                  <a:pt x="f13" y="f14"/>
                  <a:pt x="f15" y="f16"/>
                  <a:pt x="f17" y="f18"/>
                </a:cubicBezTo>
                <a:cubicBezTo>
                  <a:pt x="f19" y="f20"/>
                  <a:pt x="f21" y="f22"/>
                  <a:pt x="f23" y="f22"/>
                </a:cubicBezTo>
                <a:cubicBezTo>
                  <a:pt x="f24" y="f22"/>
                  <a:pt x="f25" y="f26"/>
                  <a:pt x="f27" y="f26"/>
                </a:cubicBezTo>
                <a:cubicBezTo>
                  <a:pt x="f28" y="f29"/>
                  <a:pt x="f30" y="f31"/>
                  <a:pt x="f30" y="f32"/>
                </a:cubicBezTo>
                <a:cubicBezTo>
                  <a:pt x="f30" y="f33"/>
                  <a:pt x="f34" y="f35"/>
                  <a:pt x="f36" y="f37"/>
                </a:cubicBezTo>
                <a:cubicBezTo>
                  <a:pt x="f38" y="f39"/>
                  <a:pt x="f40" y="f41"/>
                  <a:pt x="f42" y="f43"/>
                </a:cubicBezTo>
                <a:cubicBezTo>
                  <a:pt x="f44" y="f45"/>
                  <a:pt x="f46" y="f47"/>
                  <a:pt x="f48" y="f47"/>
                </a:cubicBezTo>
                <a:cubicBezTo>
                  <a:pt x="f49" y="f47"/>
                  <a:pt x="f50" y="f43"/>
                  <a:pt x="f51" y="f43"/>
                </a:cubicBezTo>
                <a:cubicBezTo>
                  <a:pt x="f35" y="f52"/>
                  <a:pt x="f53" y="f54"/>
                  <a:pt x="f55" y="f56"/>
                </a:cubicBezTo>
                <a:cubicBezTo>
                  <a:pt x="f57" y="f58"/>
                  <a:pt x="f5" y="f59"/>
                  <a:pt x="f5" y="f6"/>
                </a:cubicBezTo>
                <a:close/>
                <a:moveTo>
                  <a:pt x="f60" y="f61"/>
                </a:moveTo>
                <a:cubicBezTo>
                  <a:pt x="f62" y="f63"/>
                  <a:pt x="f64" y="f65"/>
                  <a:pt x="f66" y="f67"/>
                </a:cubicBezTo>
                <a:cubicBezTo>
                  <a:pt x="f68" y="f69"/>
                  <a:pt x="f70" y="f71"/>
                  <a:pt x="f72" y="f73"/>
                </a:cubicBezTo>
                <a:cubicBezTo>
                  <a:pt x="f74" y="f75"/>
                  <a:pt x="f76" y="f77"/>
                  <a:pt x="f78" y="f79"/>
                </a:cubicBezTo>
                <a:cubicBezTo>
                  <a:pt x="f80" y="f81"/>
                  <a:pt x="f82" y="f83"/>
                  <a:pt x="f60" y="f61"/>
                </a:cubicBez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60" y="4911680"/>
            <a:ext cx="220014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iOS</a:t>
            </a:r>
          </a:p>
        </p:txBody>
      </p:sp>
      <p:sp>
        <p:nvSpPr>
          <p:cNvPr id="13" name="Text 11"/>
          <p:cNvSpPr/>
          <p:nvPr/>
        </p:nvSpPr>
        <p:spPr>
          <a:xfrm>
            <a:off x="1181160" y="5178439"/>
            <a:ext cx="2188387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Swift, Objective-C, Xcode</a:t>
            </a:r>
          </a:p>
        </p:txBody>
      </p:sp>
      <p:sp>
        <p:nvSpPr>
          <p:cNvPr id="14" name="Shape 12"/>
          <p:cNvSpPr/>
          <p:nvPr/>
        </p:nvSpPr>
        <p:spPr>
          <a:xfrm>
            <a:off x="399960" y="5597480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9960" y="5597480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1680" y="5673800"/>
            <a:ext cx="457200" cy="457200"/>
          </a:xfrm>
          <a:custGeom>
            <a:avLst/>
            <a:gdLst>
              <a:gd name="f0" fmla="val w"/>
              <a:gd name="f1" fmla="val h"/>
              <a:gd name="f2" fmla="val 0"/>
              <a:gd name="f3" fmla="val 457200"/>
              <a:gd name="f4" fmla="val 76202"/>
              <a:gd name="f5" fmla="val 380998"/>
              <a:gd name="f6" fmla="val 423055"/>
              <a:gd name="f7" fmla="val 34145"/>
              <a:gd name="f8" fmla="*/ f0 1 457200"/>
              <a:gd name="f9" fmla="*/ f1 1 457200"/>
              <a:gd name="f10" fmla="val f2"/>
              <a:gd name="f11" fmla="val f3"/>
              <a:gd name="f12" fmla="+- f11 0 f10"/>
              <a:gd name="f13" fmla="*/ f12 1 4572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457200" h="4572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71400" y="5787920"/>
            <a:ext cx="257040" cy="228600"/>
          </a:xfrm>
          <a:custGeom>
            <a:avLst/>
            <a:gdLst>
              <a:gd name="f0" fmla="val w"/>
              <a:gd name="f1" fmla="val h"/>
              <a:gd name="f2" fmla="val 0"/>
              <a:gd name="f3" fmla="val 257175"/>
              <a:gd name="f4" fmla="val 228600"/>
              <a:gd name="f5" fmla="val 187747"/>
              <a:gd name="f6" fmla="val 113362"/>
              <a:gd name="f7" fmla="val 191575"/>
              <a:gd name="f8" fmla="val 195113"/>
              <a:gd name="f9" fmla="val 115405"/>
              <a:gd name="f10" fmla="val 197027"/>
              <a:gd name="f11" fmla="val 118720"/>
              <a:gd name="f12" fmla="val 198941"/>
              <a:gd name="f13" fmla="val 122036"/>
              <a:gd name="f14" fmla="val 126120"/>
              <a:gd name="f15" fmla="val 129436"/>
              <a:gd name="f16" fmla="val 132751"/>
              <a:gd name="f17" fmla="val 134794"/>
              <a:gd name="f18" fmla="val 181833"/>
              <a:gd name="f19" fmla="val 177031"/>
              <a:gd name="f20" fmla="val 129992"/>
              <a:gd name="f21" fmla="val 124078"/>
              <a:gd name="f22" fmla="val 118164"/>
              <a:gd name="f23" fmla="val 69384"/>
              <a:gd name="f24" fmla="val 73212"/>
              <a:gd name="f25" fmla="val 76750"/>
              <a:gd name="f26" fmla="val 78664"/>
              <a:gd name="f27" fmla="val 80578"/>
              <a:gd name="f28" fmla="val 63470"/>
              <a:gd name="f29" fmla="val 58668"/>
              <a:gd name="f30" fmla="val 191586"/>
              <a:gd name="f31" fmla="val 70277"/>
              <a:gd name="f32" fmla="val 212973"/>
              <a:gd name="f33" fmla="val 33218"/>
              <a:gd name="f34" fmla="val 213330"/>
              <a:gd name="f35" fmla="val 32727"/>
              <a:gd name="f36" fmla="val 213553"/>
              <a:gd name="f37" fmla="val 32147"/>
              <a:gd name="f38" fmla="val 213643"/>
              <a:gd name="f39" fmla="val 31522"/>
              <a:gd name="f40" fmla="val 213732"/>
              <a:gd name="f41" fmla="val 30897"/>
              <a:gd name="f42" fmla="val 30316"/>
              <a:gd name="f43" fmla="val 213598"/>
              <a:gd name="f44" fmla="val 29691"/>
              <a:gd name="f45" fmla="val 213464"/>
              <a:gd name="f46" fmla="val 29066"/>
              <a:gd name="f47" fmla="val 213196"/>
              <a:gd name="f48" fmla="val 28530"/>
              <a:gd name="f49" fmla="val 212839"/>
              <a:gd name="f50" fmla="val 28039"/>
              <a:gd name="f51" fmla="val 212482"/>
              <a:gd name="f52" fmla="val 27548"/>
              <a:gd name="f53" fmla="val 212035"/>
              <a:gd name="f54" fmla="val 27146"/>
              <a:gd name="f55" fmla="val 211500"/>
              <a:gd name="f56" fmla="val 26834"/>
              <a:gd name="f57" fmla="val 210964"/>
              <a:gd name="f58" fmla="val 26521"/>
              <a:gd name="f59" fmla="val 210383"/>
              <a:gd name="f60" fmla="val 26343"/>
              <a:gd name="f61" fmla="val 209758"/>
              <a:gd name="f62" fmla="val 26253"/>
              <a:gd name="f63" fmla="val 209133"/>
              <a:gd name="f64" fmla="val 26164"/>
              <a:gd name="f65" fmla="val 208553"/>
              <a:gd name="f66" fmla="val 207972"/>
              <a:gd name="f67" fmla="val 26432"/>
              <a:gd name="f68" fmla="val 207392"/>
              <a:gd name="f69" fmla="val 26610"/>
              <a:gd name="f70" fmla="val 206856"/>
              <a:gd name="f71" fmla="val 26923"/>
              <a:gd name="f72" fmla="val 206365"/>
              <a:gd name="f73" fmla="val 27280"/>
              <a:gd name="f74" fmla="val 205874"/>
              <a:gd name="f75" fmla="val 27637"/>
              <a:gd name="f76" fmla="val 205517"/>
              <a:gd name="f77" fmla="val 28173"/>
              <a:gd name="f78" fmla="val 205249"/>
              <a:gd name="f79" fmla="val 28709"/>
              <a:gd name="f80" fmla="val 183594"/>
              <a:gd name="f81" fmla="val 66258"/>
              <a:gd name="f82" fmla="val 166271"/>
              <a:gd name="f83" fmla="val 58489"/>
              <a:gd name="f84" fmla="val 147518"/>
              <a:gd name="f85" fmla="val 54471"/>
              <a:gd name="f86" fmla="val 128543"/>
              <a:gd name="f87" fmla="val 109567"/>
              <a:gd name="f88" fmla="val 90815"/>
              <a:gd name="f89" fmla="val 73491"/>
              <a:gd name="f90" fmla="val 51881"/>
              <a:gd name="f91" fmla="val 28754"/>
              <a:gd name="f92" fmla="val 51614"/>
              <a:gd name="f93" fmla="val 28218"/>
              <a:gd name="f94" fmla="val 51212"/>
              <a:gd name="f95" fmla="val 27727"/>
              <a:gd name="f96" fmla="val 50765"/>
              <a:gd name="f97" fmla="val 27325"/>
              <a:gd name="f98" fmla="val 50319"/>
              <a:gd name="f99" fmla="val 49738"/>
              <a:gd name="f100" fmla="val 26655"/>
              <a:gd name="f101" fmla="val 49158"/>
              <a:gd name="f102" fmla="val 26477"/>
              <a:gd name="f103" fmla="val 48578"/>
              <a:gd name="f104" fmla="val 26298"/>
              <a:gd name="f105" fmla="val 47952"/>
              <a:gd name="f106" fmla="val 47372"/>
              <a:gd name="f107" fmla="val 46792"/>
              <a:gd name="f108" fmla="val 46166"/>
              <a:gd name="f109" fmla="val 26566"/>
              <a:gd name="f110" fmla="val 45631"/>
              <a:gd name="f111" fmla="val 26878"/>
              <a:gd name="f112" fmla="val 45095"/>
              <a:gd name="f113" fmla="val 27191"/>
              <a:gd name="f114" fmla="val 44648"/>
              <a:gd name="f115" fmla="val 27593"/>
              <a:gd name="f116" fmla="val 44291"/>
              <a:gd name="f117" fmla="val 28084"/>
              <a:gd name="f118" fmla="val 43934"/>
              <a:gd name="f119" fmla="val 28575"/>
              <a:gd name="f120" fmla="val 43666"/>
              <a:gd name="f121" fmla="val 29155"/>
              <a:gd name="f122" fmla="val 43532"/>
              <a:gd name="f123" fmla="val 29736"/>
              <a:gd name="f124" fmla="val 43398"/>
              <a:gd name="f125" fmla="val 30941"/>
              <a:gd name="f126" fmla="val 43488"/>
              <a:gd name="f127" fmla="val 31566"/>
              <a:gd name="f128" fmla="val 43577"/>
              <a:gd name="f129" fmla="val 32192"/>
              <a:gd name="f130" fmla="val 43845"/>
              <a:gd name="f131" fmla="val 44157"/>
              <a:gd name="f132" fmla="val 33263"/>
              <a:gd name="f133" fmla="val 65544"/>
              <a:gd name="f134" fmla="val 70321"/>
              <a:gd name="f135" fmla="val 28798"/>
              <a:gd name="f136" fmla="val 90279"/>
              <a:gd name="f137" fmla="val 3661"/>
              <a:gd name="f138" fmla="val 127471"/>
              <a:gd name="f139" fmla="val 171450"/>
              <a:gd name="f140" fmla="val 253514"/>
              <a:gd name="f141" fmla="val 228377"/>
              <a:gd name="f142" fmla="*/ f0 1 257175"/>
              <a:gd name="f143" fmla="*/ f1 1 228600"/>
              <a:gd name="f144" fmla="val f2"/>
              <a:gd name="f145" fmla="val f3"/>
              <a:gd name="f146" fmla="val f4"/>
              <a:gd name="f147" fmla="+- f146 0 f144"/>
              <a:gd name="f148" fmla="+- f145 0 f144"/>
              <a:gd name="f149" fmla="*/ f148 1 257175"/>
              <a:gd name="f150" fmla="*/ f147 1 228600"/>
              <a:gd name="f151" fmla="*/ f144 1 f149"/>
              <a:gd name="f152" fmla="*/ f145 1 f149"/>
              <a:gd name="f153" fmla="*/ f144 1 f150"/>
              <a:gd name="f154" fmla="*/ f146 1 f150"/>
              <a:gd name="f155" fmla="*/ f151 f142 1"/>
              <a:gd name="f156" fmla="*/ f152 f142 1"/>
              <a:gd name="f157" fmla="*/ f154 f143 1"/>
              <a:gd name="f158" fmla="*/ f153 f14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5" t="f158" r="f156" b="f157"/>
            <a:pathLst>
              <a:path w="257175" h="228600">
                <a:moveTo>
                  <a:pt x="f5" y="f6"/>
                </a:moveTo>
                <a:cubicBezTo>
                  <a:pt x="f7" y="f6"/>
                  <a:pt x="f8" y="f9"/>
                  <a:pt x="f10" y="f11"/>
                </a:cubicBezTo>
                <a:cubicBezTo>
                  <a:pt x="f12" y="f13"/>
                  <a:pt x="f12" y="f14"/>
                  <a:pt x="f10" y="f15"/>
                </a:cubicBezTo>
                <a:cubicBezTo>
                  <a:pt x="f8" y="f16"/>
                  <a:pt x="f7" y="f17"/>
                  <a:pt x="f5" y="f17"/>
                </a:cubicBezTo>
                <a:cubicBezTo>
                  <a:pt x="f18" y="f17"/>
                  <a:pt x="f19" y="f20"/>
                  <a:pt x="f19" y="f21"/>
                </a:cubicBezTo>
                <a:cubicBezTo>
                  <a:pt x="f19" y="f22"/>
                  <a:pt x="f18" y="f6"/>
                  <a:pt x="f5" y="f6"/>
                </a:cubicBezTo>
                <a:close/>
                <a:moveTo>
                  <a:pt x="f23" y="f6"/>
                </a:moveTo>
                <a:cubicBezTo>
                  <a:pt x="f24" y="f6"/>
                  <a:pt x="f25" y="f9"/>
                  <a:pt x="f26" y="f11"/>
                </a:cubicBezTo>
                <a:cubicBezTo>
                  <a:pt x="f27" y="f13"/>
                  <a:pt x="f27" y="f14"/>
                  <a:pt x="f26" y="f15"/>
                </a:cubicBezTo>
                <a:cubicBezTo>
                  <a:pt x="f25" y="f16"/>
                  <a:pt x="f24" y="f17"/>
                  <a:pt x="f23" y="f17"/>
                </a:cubicBezTo>
                <a:cubicBezTo>
                  <a:pt x="f28" y="f17"/>
                  <a:pt x="f29" y="f20"/>
                  <a:pt x="f29" y="f21"/>
                </a:cubicBezTo>
                <a:cubicBezTo>
                  <a:pt x="f29" y="f22"/>
                  <a:pt x="f28" y="f6"/>
                  <a:pt x="f23" y="f6"/>
                </a:cubicBezTo>
                <a:close/>
                <a:moveTo>
                  <a:pt x="f30" y="f31"/>
                </a:moveTo>
                <a:lnTo>
                  <a:pt x="f32" y="f33"/>
                </a:lnTo>
                <a:cubicBezTo>
                  <a:pt x="f34" y="f35"/>
                  <a:pt x="f36" y="f37"/>
                  <a:pt x="f38" y="f39"/>
                </a:cubicBezTo>
                <a:cubicBezTo>
                  <a:pt x="f40" y="f41"/>
                  <a:pt x="f40" y="f42"/>
                  <a:pt x="f43" y="f44"/>
                </a:cubicBezTo>
                <a:cubicBezTo>
                  <a:pt x="f45" y="f46"/>
                  <a:pt x="f47" y="f48"/>
                  <a:pt x="f49" y="f50"/>
                </a:cubicBezTo>
                <a:cubicBezTo>
                  <a:pt x="f51" y="f52"/>
                  <a:pt x="f53" y="f54"/>
                  <a:pt x="f55" y="f56"/>
                </a:cubicBezTo>
                <a:cubicBezTo>
                  <a:pt x="f57" y="f58"/>
                  <a:pt x="f59" y="f60"/>
                  <a:pt x="f61" y="f62"/>
                </a:cubicBezTo>
                <a:cubicBezTo>
                  <a:pt x="f63" y="f64"/>
                  <a:pt x="f65" y="f62"/>
                  <a:pt x="f66" y="f67"/>
                </a:cubicBezTo>
                <a:cubicBezTo>
                  <a:pt x="f68" y="f69"/>
                  <a:pt x="f70" y="f71"/>
                  <a:pt x="f72" y="f73"/>
                </a:cubicBezTo>
                <a:cubicBezTo>
                  <a:pt x="f74" y="f75"/>
                  <a:pt x="f76" y="f77"/>
                  <a:pt x="f78" y="f79"/>
                </a:cubicBezTo>
                <a:lnTo>
                  <a:pt x="f80" y="f81"/>
                </a:lnTo>
                <a:cubicBezTo>
                  <a:pt x="f82" y="f83"/>
                  <a:pt x="f84" y="f85"/>
                  <a:pt x="f86" y="f85"/>
                </a:cubicBezTo>
                <a:cubicBezTo>
                  <a:pt x="f87" y="f85"/>
                  <a:pt x="f88" y="f83"/>
                  <a:pt x="f89" y="f81"/>
                </a:cubicBezTo>
                <a:lnTo>
                  <a:pt x="f90" y="f91"/>
                </a:lnTo>
                <a:cubicBezTo>
                  <a:pt x="f92" y="f93"/>
                  <a:pt x="f94" y="f95"/>
                  <a:pt x="f96" y="f97"/>
                </a:cubicBezTo>
                <a:cubicBezTo>
                  <a:pt x="f98" y="f71"/>
                  <a:pt x="f99" y="f100"/>
                  <a:pt x="f101" y="f102"/>
                </a:cubicBezTo>
                <a:cubicBezTo>
                  <a:pt x="f103" y="f104"/>
                  <a:pt x="f105" y="f62"/>
                  <a:pt x="f106" y="f104"/>
                </a:cubicBezTo>
                <a:cubicBezTo>
                  <a:pt x="f107" y="f60"/>
                  <a:pt x="f108" y="f109"/>
                  <a:pt x="f110" y="f111"/>
                </a:cubicBezTo>
                <a:cubicBezTo>
                  <a:pt x="f112" y="f113"/>
                  <a:pt x="f114" y="f115"/>
                  <a:pt x="f116" y="f117"/>
                </a:cubicBezTo>
                <a:cubicBezTo>
                  <a:pt x="f118" y="f119"/>
                  <a:pt x="f120" y="f121"/>
                  <a:pt x="f122" y="f123"/>
                </a:cubicBezTo>
                <a:cubicBezTo>
                  <a:pt x="f124" y="f42"/>
                  <a:pt x="f124" y="f125"/>
                  <a:pt x="f126" y="f127"/>
                </a:cubicBezTo>
                <a:cubicBezTo>
                  <a:pt x="f128" y="f129"/>
                  <a:pt x="f130" y="f35"/>
                  <a:pt x="f131" y="f132"/>
                </a:cubicBezTo>
                <a:lnTo>
                  <a:pt x="f133" y="f134"/>
                </a:lnTo>
                <a:cubicBezTo>
                  <a:pt x="f135" y="f136"/>
                  <a:pt x="f137" y="f138"/>
                  <a:pt x="f2" y="f139"/>
                </a:cubicBezTo>
                <a:lnTo>
                  <a:pt x="f3" y="f139"/>
                </a:lnTo>
                <a:cubicBezTo>
                  <a:pt x="f140" y="f138"/>
                  <a:pt x="f141" y="f136"/>
                  <a:pt x="f30" y="f31"/>
                </a:cubicBez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1159" y="5673800"/>
            <a:ext cx="2372531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Android</a:t>
            </a:r>
          </a:p>
        </p:txBody>
      </p:sp>
      <p:sp>
        <p:nvSpPr>
          <p:cNvPr id="19" name="Text 17"/>
          <p:cNvSpPr/>
          <p:nvPr/>
        </p:nvSpPr>
        <p:spPr>
          <a:xfrm>
            <a:off x="1181160" y="5940560"/>
            <a:ext cx="2361211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Kotlin, Java, Android Studio</a:t>
            </a:r>
          </a:p>
        </p:txBody>
      </p:sp>
      <p:sp>
        <p:nvSpPr>
          <p:cNvPr id="20" name="Shape 18"/>
          <p:cNvSpPr/>
          <p:nvPr/>
        </p:nvSpPr>
        <p:spPr>
          <a:xfrm>
            <a:off x="6210360" y="1219320"/>
            <a:ext cx="5600520" cy="3238560"/>
          </a:xfrm>
          <a:custGeom>
            <a:avLst/>
            <a:gdLst>
              <a:gd name="f0" fmla="val w"/>
              <a:gd name="f1" fmla="val h"/>
              <a:gd name="f2" fmla="val 0"/>
              <a:gd name="f3" fmla="val 5600700"/>
              <a:gd name="f4" fmla="val 3238500"/>
              <a:gd name="f5" fmla="*/ f0 1 5600700"/>
              <a:gd name="f6" fmla="*/ f1 1 3238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0700"/>
              <a:gd name="f13" fmla="*/ f10 1 3238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0700" h="3238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0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799" y="1337760"/>
            <a:ext cx="531504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2400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 (2025)</a:t>
            </a:r>
          </a:p>
        </p:txBody>
      </p:sp>
      <p:sp>
        <p:nvSpPr>
          <p:cNvPr id="22" name="Text 20"/>
          <p:cNvSpPr/>
          <p:nvPr/>
        </p:nvSpPr>
        <p:spPr>
          <a:xfrm>
            <a:off x="6400799" y="1859399"/>
            <a:ext cx="1699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rynku</a:t>
            </a:r>
          </a:p>
        </p:txBody>
      </p:sp>
      <p:sp>
        <p:nvSpPr>
          <p:cNvPr id="23" name="Text 21"/>
          <p:cNvSpPr/>
          <p:nvPr/>
        </p:nvSpPr>
        <p:spPr>
          <a:xfrm>
            <a:off x="10440000" y="1828800"/>
            <a:ext cx="12798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~66%</a:t>
            </a:r>
          </a:p>
        </p:txBody>
      </p:sp>
      <p:sp>
        <p:nvSpPr>
          <p:cNvPr id="24" name="Text 22"/>
          <p:cNvSpPr/>
          <p:nvPr/>
        </p:nvSpPr>
        <p:spPr>
          <a:xfrm>
            <a:off x="6400799" y="2133720"/>
            <a:ext cx="528624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Aplikacje natywne dominują</a:t>
            </a:r>
          </a:p>
        </p:txBody>
      </p:sp>
      <p:sp>
        <p:nvSpPr>
          <p:cNvPr id="25" name="Text 23"/>
          <p:cNvSpPr/>
          <p:nvPr/>
        </p:nvSpPr>
        <p:spPr>
          <a:xfrm>
            <a:off x="6400799" y="2507040"/>
            <a:ext cx="223236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Swift - popularność</a:t>
            </a:r>
          </a:p>
        </p:txBody>
      </p:sp>
      <p:sp>
        <p:nvSpPr>
          <p:cNvPr id="26" name="Text 24"/>
          <p:cNvSpPr/>
          <p:nvPr/>
        </p:nvSpPr>
        <p:spPr>
          <a:xfrm rot="37200">
            <a:off x="10438519" y="2497007"/>
            <a:ext cx="12744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4.91%</a:t>
            </a:r>
          </a:p>
        </p:txBody>
      </p:sp>
      <p:sp>
        <p:nvSpPr>
          <p:cNvPr id="27" name="Text 25"/>
          <p:cNvSpPr/>
          <p:nvPr/>
        </p:nvSpPr>
        <p:spPr>
          <a:xfrm>
            <a:off x="6400799" y="2781360"/>
            <a:ext cx="528624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9. miejsce w rankingu</a:t>
            </a:r>
          </a:p>
        </p:txBody>
      </p:sp>
      <p:sp>
        <p:nvSpPr>
          <p:cNvPr id="28" name="Text 26"/>
          <p:cNvSpPr/>
          <p:nvPr/>
        </p:nvSpPr>
        <p:spPr>
          <a:xfrm>
            <a:off x="6400799" y="3154680"/>
            <a:ext cx="2419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Swift - top App Store</a:t>
            </a:r>
          </a:p>
        </p:txBody>
      </p:sp>
      <p:sp>
        <p:nvSpPr>
          <p:cNvPr id="29" name="Text 27"/>
          <p:cNvSpPr/>
          <p:nvPr/>
        </p:nvSpPr>
        <p:spPr>
          <a:xfrm>
            <a:off x="10440000" y="3124079"/>
            <a:ext cx="12798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53%</a:t>
            </a:r>
          </a:p>
        </p:txBody>
      </p:sp>
      <p:sp>
        <p:nvSpPr>
          <p:cNvPr id="30" name="Text 28"/>
          <p:cNvSpPr/>
          <p:nvPr/>
        </p:nvSpPr>
        <p:spPr>
          <a:xfrm>
            <a:off x="6400799" y="3429000"/>
            <a:ext cx="528624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Top non-game apps</a:t>
            </a:r>
          </a:p>
        </p:txBody>
      </p:sp>
      <p:sp>
        <p:nvSpPr>
          <p:cNvPr id="31" name="Text 29"/>
          <p:cNvSpPr/>
          <p:nvPr/>
        </p:nvSpPr>
        <p:spPr>
          <a:xfrm>
            <a:off x="6400799" y="3810240"/>
            <a:ext cx="1039092" cy="220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Objective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-C</a:t>
            </a:r>
          </a:p>
        </p:txBody>
      </p:sp>
      <p:sp>
        <p:nvSpPr>
          <p:cNvPr id="32" name="Text 30"/>
          <p:cNvSpPr/>
          <p:nvPr/>
        </p:nvSpPr>
        <p:spPr>
          <a:xfrm>
            <a:off x="10440000" y="3771720"/>
            <a:ext cx="12790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2.39%</a:t>
            </a:r>
          </a:p>
        </p:txBody>
      </p:sp>
      <p:sp>
        <p:nvSpPr>
          <p:cNvPr id="33" name="Text 31"/>
          <p:cNvSpPr/>
          <p:nvPr/>
        </p:nvSpPr>
        <p:spPr>
          <a:xfrm>
            <a:off x="6400799" y="4076640"/>
            <a:ext cx="528624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Spadek popularności</a:t>
            </a:r>
          </a:p>
        </p:txBody>
      </p:sp>
      <p:sp>
        <p:nvSpPr>
          <p:cNvPr id="34" name="Shape 32"/>
          <p:cNvSpPr/>
          <p:nvPr/>
        </p:nvSpPr>
        <p:spPr>
          <a:xfrm>
            <a:off x="6229440" y="4610160"/>
            <a:ext cx="38160" cy="17146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1714500"/>
              <a:gd name="f5" fmla="*/ f0 1 38100"/>
              <a:gd name="f6" fmla="*/ f1 1 1714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1714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1714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00799" y="4724280"/>
            <a:ext cx="549576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cechy</a:t>
            </a:r>
          </a:p>
        </p:txBody>
      </p:sp>
      <p:sp>
        <p:nvSpPr>
          <p:cNvPr id="36" name="Shape 34"/>
          <p:cNvSpPr/>
          <p:nvPr/>
        </p:nvSpPr>
        <p:spPr>
          <a:xfrm>
            <a:off x="6429240" y="5105520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667560" y="5067360"/>
            <a:ext cx="30920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Najlepsza wydajność i płynność</a:t>
            </a:r>
          </a:p>
        </p:txBody>
      </p:sp>
      <p:sp>
        <p:nvSpPr>
          <p:cNvPr id="38" name="Shape 36"/>
          <p:cNvSpPr/>
          <p:nvPr/>
        </p:nvSpPr>
        <p:spPr>
          <a:xfrm>
            <a:off x="6429240" y="5410079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67560" y="5372280"/>
            <a:ext cx="288395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Pełny dostęp do API i sprzętu</a:t>
            </a:r>
          </a:p>
        </p:txBody>
      </p:sp>
      <p:sp>
        <p:nvSpPr>
          <p:cNvPr id="40" name="Shape 38"/>
          <p:cNvSpPr/>
          <p:nvPr/>
        </p:nvSpPr>
        <p:spPr>
          <a:xfrm>
            <a:off x="6429240" y="5715000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667560" y="5676840"/>
            <a:ext cx="3744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UX/UI zgodne z wytycznymi</a:t>
            </a:r>
          </a:p>
        </p:txBody>
      </p:sp>
      <p:sp>
        <p:nvSpPr>
          <p:cNvPr id="42" name="Shape 40"/>
          <p:cNvSpPr/>
          <p:nvPr/>
        </p:nvSpPr>
        <p:spPr>
          <a:xfrm>
            <a:off x="6429240" y="6019919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67560" y="5981760"/>
            <a:ext cx="449244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Natychmiastowe wsparcie nowych funkcji OS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54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2.2. </a:t>
            </a:r>
            <a:r>
              <a:rPr lang="pl-PL" sz="900" b="0" i="0" u="none" strike="noStrike" kern="0" cap="none" spc="54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PORÓWNANIE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Porównanie: </a:t>
            </a: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</a:t>
            </a: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cross-platform</a:t>
            </a:r>
            <a:endParaRPr lang="pl-PL" sz="28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295470"/>
              </p:ext>
            </p:extLst>
          </p:nvPr>
        </p:nvGraphicFramePr>
        <p:xfrm>
          <a:off x="396360" y="1172094"/>
          <a:ext cx="11401560" cy="4490951"/>
        </p:xfrm>
        <a:graphic>
          <a:graphicData uri="http://schemas.openxmlformats.org/drawingml/2006/table">
            <a:tbl>
              <a:tblPr firstRow="1" firstCol="1">
                <a:tableStyleId>{7E9639D4-E3E2-4D34-9284-5A2195B3D0D7}</a:tableStyleId>
              </a:tblPr>
              <a:tblGrid>
                <a:gridCol w="1816904">
                  <a:extLst>
                    <a:ext uri="{9D8B030D-6E8A-4147-A177-3AD203B41FA5}">
                      <a16:colId xmlns:a16="http://schemas.microsoft.com/office/drawing/2014/main" val="2369087676"/>
                    </a:ext>
                  </a:extLst>
                </a:gridCol>
                <a:gridCol w="4669576">
                  <a:extLst>
                    <a:ext uri="{9D8B030D-6E8A-4147-A177-3AD203B41FA5}">
                      <a16:colId xmlns:a16="http://schemas.microsoft.com/office/drawing/2014/main" val="3100166619"/>
                    </a:ext>
                  </a:extLst>
                </a:gridCol>
                <a:gridCol w="4915080">
                  <a:extLst>
                    <a:ext uri="{9D8B030D-6E8A-4147-A177-3AD203B41FA5}">
                      <a16:colId xmlns:a16="http://schemas.microsoft.com/office/drawing/2014/main" val="4018526310"/>
                    </a:ext>
                  </a:extLst>
                </a:gridCol>
              </a:tblGrid>
              <a:tr h="463029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Kryterium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Natywne</a:t>
                      </a:r>
                      <a:endParaRPr lang="en-US" sz="16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Cross-platform</a:t>
                      </a:r>
                      <a:endParaRPr lang="en-US" sz="16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287522"/>
                  </a:ext>
                </a:extLst>
              </a:tr>
              <a:tr h="45125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Wydajność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 smtClean="0">
                          <a:ln>
                            <a:noFill/>
                          </a:ln>
                        </a:rPr>
                        <a:t>Najlepsza</a:t>
                      </a:r>
                      <a:r>
                        <a:rPr lang="pl-PL" sz="1600" u="none" strike="noStrike" kern="1200" cap="none" dirty="0" smtClean="0">
                          <a:ln>
                            <a:noFill/>
                          </a:ln>
                        </a:rPr>
                        <a:t>, bo 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bezpośredni dostęp do sprzętu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 smtClean="0">
                          <a:ln>
                            <a:noFill/>
                          </a:ln>
                        </a:rPr>
                        <a:t>~</a:t>
                      </a:r>
                      <a:r>
                        <a:rPr lang="pl-PL" sz="1600" u="none" strike="noStrike" kern="1200" cap="none" baseline="0" dirty="0" smtClean="0">
                          <a:ln>
                            <a:noFill/>
                          </a:ln>
                        </a:rPr>
                        <a:t> </a:t>
                      </a:r>
                      <a:r>
                        <a:rPr lang="pl-PL" sz="1600" b="1" u="none" strike="noStrike" kern="1200" cap="none" dirty="0" smtClean="0">
                          <a:ln>
                            <a:noFill/>
                          </a:ln>
                        </a:rPr>
                        <a:t>Dobra</a:t>
                      </a:r>
                      <a:r>
                        <a:rPr lang="pl-PL" sz="1600" u="none" strike="noStrike" kern="1200" cap="none" dirty="0" smtClean="0">
                          <a:ln>
                            <a:noFill/>
                          </a:ln>
                        </a:rPr>
                        <a:t> 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- Flutter bliski natywnemu, RN z mostkiem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071927"/>
                  </a:ext>
                </a:extLst>
              </a:tr>
              <a:tr h="45125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Czas rozwoju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4-6 miesięcy na platformę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2-4 miesiące dla wszystkich platform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3968"/>
                  </a:ext>
                </a:extLst>
              </a:tr>
              <a:tr h="45125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Koszty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Wyższe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 - dwa zespoły, dwie bazy kodu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Niższe o 25-50% 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- jeden zespół, jedna baza kodu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674656"/>
                  </a:ext>
                </a:extLst>
              </a:tr>
              <a:tr h="59162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 err="1">
                          <a:ln>
                            <a:noFill/>
                          </a:ln>
                        </a:rPr>
                        <a:t>Reużywalność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 kodu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0% 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- osobne bazy kodu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70-95% 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- wspólny kod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385127"/>
                  </a:ext>
                </a:extLst>
              </a:tr>
              <a:tr h="45125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Dostęp do sprzętu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Pełny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 - natywne API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Ograniczony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 - przez wtyczki/natywne moduły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586774"/>
                  </a:ext>
                </a:extLst>
              </a:tr>
              <a:tr h="45125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UX/UI</a:t>
                      </a:r>
                      <a:endParaRPr lang="pl-PL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Natywny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 - zgodny z wytycznymi platformy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pl-PL" sz="1600" b="1" u="none" strike="noStrike" kern="1200" cap="none" dirty="0">
                          <a:ln>
                            <a:noFill/>
                          </a:ln>
                        </a:rPr>
                        <a:t>Spójny</a:t>
                      </a:r>
                      <a:r>
                        <a:rPr lang="pl-PL" sz="1600" u="none" strike="noStrike" kern="1200" cap="none" dirty="0">
                          <a:ln>
                            <a:noFill/>
                          </a:ln>
                        </a:rPr>
                        <a:t> - może wymagać dostosowania</a:t>
                      </a:r>
                      <a:endParaRPr lang="pl-PL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982572"/>
                  </a:ext>
                </a:extLst>
              </a:tr>
              <a:tr h="451259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Utrzymanie</a:t>
                      </a:r>
                      <a:endParaRPr lang="en-US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b="1" u="none" strike="noStrike" kern="1200" cap="none" dirty="0" err="1">
                          <a:ln>
                            <a:noFill/>
                          </a:ln>
                        </a:rPr>
                        <a:t>Trudniejsze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-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dwie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bazy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kodu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b="1" u="none" strike="noStrike" kern="1200" cap="none" dirty="0" err="1">
                          <a:ln>
                            <a:noFill/>
                          </a:ln>
                        </a:rPr>
                        <a:t>Łatwiejsze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-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jedna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baza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kodu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080030"/>
                  </a:ext>
                </a:extLst>
              </a:tr>
              <a:tr h="600878">
                <a:tc>
                  <a:txBody>
                    <a:bodyPr/>
                    <a:lstStyle/>
                    <a:p>
                      <a:pPr marL="14400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Aktualizacje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OS</a:t>
                      </a:r>
                      <a:endParaRPr lang="en-US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 b="1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Natychmiastowe</a:t>
                      </a:r>
                      <a:endParaRPr lang="en-US" sz="1600" b="1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lang="pl-PL"/>
                      </a:pPr>
                      <a:r>
                        <a:rPr lang="en-US" sz="1600" b="1" u="none" strike="noStrike" kern="1200" cap="none" dirty="0" err="1">
                          <a:ln>
                            <a:noFill/>
                          </a:ln>
                        </a:rPr>
                        <a:t>Opóźnione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-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zależne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</a:rPr>
                        <a:t> od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</a:rPr>
                        <a:t>frameworka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rgbClr val="1F2937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2379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062513" y="5893087"/>
            <a:ext cx="38160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09600"/>
              <a:gd name="f5" fmla="*/ f0 1 38100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13451" y="5944174"/>
            <a:ext cx="4467906" cy="5272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Zastosowanie natywne: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Gry, AR/VR, aplikacje medyczne, 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IoT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wymagające pełnej wydajności</a:t>
            </a:r>
          </a:p>
        </p:txBody>
      </p:sp>
      <p:sp>
        <p:nvSpPr>
          <p:cNvPr id="8" name="Shape 5"/>
          <p:cNvSpPr/>
          <p:nvPr/>
        </p:nvSpPr>
        <p:spPr>
          <a:xfrm>
            <a:off x="6884073" y="5929087"/>
            <a:ext cx="38160" cy="6094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09600"/>
              <a:gd name="f5" fmla="*/ f0 1 38100"/>
              <a:gd name="f6" fmla="*/ f1 1 609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09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09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46433" y="5980174"/>
            <a:ext cx="4948200" cy="5272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Zastosowanie cross-platform: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MVP, aplikacje treściowe, e-commerce, startupy, ograniczony budżet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680" y="373680"/>
            <a:ext cx="11509920" cy="186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51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2.3. </a:t>
            </a:r>
            <a:r>
              <a:rPr lang="pl-PL" sz="900" b="0" i="0" u="none" strike="noStrike" kern="0" cap="none" spc="51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ANALIZA</a:t>
            </a:r>
          </a:p>
        </p:txBody>
      </p:sp>
      <p:sp>
        <p:nvSpPr>
          <p:cNvPr id="3" name="Text 1"/>
          <p:cNvSpPr/>
          <p:nvPr/>
        </p:nvSpPr>
        <p:spPr>
          <a:xfrm>
            <a:off x="373680" y="635400"/>
            <a:ext cx="11612880" cy="373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</a:t>
            </a: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alety 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 </a:t>
            </a: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zady 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programowania natywnego</a:t>
            </a:r>
          </a:p>
        </p:txBody>
      </p:sp>
      <p:sp>
        <p:nvSpPr>
          <p:cNvPr id="4" name="Shape 2"/>
          <p:cNvSpPr/>
          <p:nvPr/>
        </p:nvSpPr>
        <p:spPr>
          <a:xfrm>
            <a:off x="373680" y="1195919"/>
            <a:ext cx="373680" cy="373680"/>
          </a:xfrm>
          <a:custGeom>
            <a:avLst/>
            <a:gdLst>
              <a:gd name="f0" fmla="val w"/>
              <a:gd name="f1" fmla="val h"/>
              <a:gd name="f2" fmla="val 0"/>
              <a:gd name="f3" fmla="val 373701"/>
              <a:gd name="f4" fmla="val 186851"/>
              <a:gd name="f5" fmla="val 289976"/>
              <a:gd name="f6" fmla="val 83725"/>
              <a:gd name="f7" fmla="*/ f0 1 373701"/>
              <a:gd name="f8" fmla="*/ f1 1 373701"/>
              <a:gd name="f9" fmla="val f2"/>
              <a:gd name="f10" fmla="val f3"/>
              <a:gd name="f11" fmla="+- f10 0 f9"/>
              <a:gd name="f12" fmla="*/ f11 1 373701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73701" h="373701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8800" y="1289160"/>
            <a:ext cx="163440" cy="186840"/>
          </a:xfrm>
          <a:custGeom>
            <a:avLst/>
            <a:gdLst>
              <a:gd name="f0" fmla="val w"/>
              <a:gd name="f1" fmla="val h"/>
              <a:gd name="f2" fmla="val 0"/>
              <a:gd name="f3" fmla="val 163494"/>
              <a:gd name="f4" fmla="val 186851"/>
              <a:gd name="f5" fmla="val 93425"/>
              <a:gd name="f6" fmla="val 23356"/>
              <a:gd name="f7" fmla="val 16897"/>
              <a:gd name="f8" fmla="val 88207"/>
              <a:gd name="f9" fmla="val 11678"/>
              <a:gd name="f10" fmla="val 81747"/>
              <a:gd name="f11" fmla="val 75288"/>
              <a:gd name="f12" fmla="val 70069"/>
              <a:gd name="f13" fmla="val 5219"/>
              <a:gd name="f14" fmla="val 86966"/>
              <a:gd name="f15" fmla="val 99885"/>
              <a:gd name="f16" fmla="val 105103"/>
              <a:gd name="f17" fmla="val 169954"/>
              <a:gd name="f18" fmla="val 175172"/>
              <a:gd name="f19" fmla="val 151816"/>
              <a:gd name="f20" fmla="val 158276"/>
              <a:gd name="f21" fmla="*/ f0 1 163494"/>
              <a:gd name="f22" fmla="*/ f1 1 186851"/>
              <a:gd name="f23" fmla="val f2"/>
              <a:gd name="f24" fmla="val f3"/>
              <a:gd name="f25" fmla="val f4"/>
              <a:gd name="f26" fmla="+- f25 0 f23"/>
              <a:gd name="f27" fmla="+- f24 0 f23"/>
              <a:gd name="f28" fmla="*/ f27 1 163494"/>
              <a:gd name="f29" fmla="*/ f26 1 186851"/>
              <a:gd name="f30" fmla="*/ f23 1 f28"/>
              <a:gd name="f31" fmla="*/ f24 1 f28"/>
              <a:gd name="f32" fmla="*/ f23 1 f29"/>
              <a:gd name="f33" fmla="*/ f25 1 f29"/>
              <a:gd name="f34" fmla="*/ f30 f21 1"/>
              <a:gd name="f35" fmla="*/ f31 f21 1"/>
              <a:gd name="f36" fmla="*/ f33 f22 1"/>
              <a:gd name="f37" fmla="*/ f32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4" t="f37" r="f35" b="f36"/>
            <a:pathLst>
              <a:path w="163494" h="186851">
                <a:moveTo>
                  <a:pt x="f5" y="f6"/>
                </a:moveTo>
                <a:cubicBezTo>
                  <a:pt x="f5" y="f7"/>
                  <a:pt x="f8" y="f9"/>
                  <a:pt x="f10" y="f9"/>
                </a:cubicBezTo>
                <a:cubicBezTo>
                  <a:pt x="f11" y="f9"/>
                  <a:pt x="f12" y="f7"/>
                  <a:pt x="f12" y="f6"/>
                </a:cubicBezTo>
                <a:lnTo>
                  <a:pt x="f12" y="f10"/>
                </a:lnTo>
                <a:lnTo>
                  <a:pt x="f9" y="f10"/>
                </a:lnTo>
                <a:cubicBezTo>
                  <a:pt x="f13" y="f10"/>
                  <a:pt x="f2" y="f14"/>
                  <a:pt x="f2" y="f5"/>
                </a:cubicBezTo>
                <a:cubicBezTo>
                  <a:pt x="f2" y="f15"/>
                  <a:pt x="f13" y="f16"/>
                  <a:pt x="f9" y="f16"/>
                </a:cubicBezTo>
                <a:lnTo>
                  <a:pt x="f12" y="f16"/>
                </a:lnTo>
                <a:lnTo>
                  <a:pt x="f12" y="f3"/>
                </a:lnTo>
                <a:cubicBezTo>
                  <a:pt x="f12" y="f17"/>
                  <a:pt x="f11" y="f18"/>
                  <a:pt x="f10" y="f18"/>
                </a:cubicBezTo>
                <a:cubicBezTo>
                  <a:pt x="f8" y="f18"/>
                  <a:pt x="f5" y="f17"/>
                  <a:pt x="f5" y="f3"/>
                </a:cubicBezTo>
                <a:lnTo>
                  <a:pt x="f5" y="f16"/>
                </a:lnTo>
                <a:lnTo>
                  <a:pt x="f19" y="f16"/>
                </a:lnTo>
                <a:cubicBezTo>
                  <a:pt x="f20" y="f16"/>
                  <a:pt x="f3" y="f15"/>
                  <a:pt x="f3" y="f5"/>
                </a:cubicBezTo>
                <a:cubicBezTo>
                  <a:pt x="f3" y="f14"/>
                  <a:pt x="f20" y="f10"/>
                  <a:pt x="f19" y="f10"/>
                </a:cubicBezTo>
                <a:lnTo>
                  <a:pt x="f5" y="f10"/>
                </a:lnTo>
                <a:lnTo>
                  <a:pt x="f5" y="f6"/>
                </a:ln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9680" y="1233360"/>
            <a:ext cx="728640" cy="29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77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Zalety</a:t>
            </a:r>
          </a:p>
        </p:txBody>
      </p:sp>
      <p:sp>
        <p:nvSpPr>
          <p:cNvPr id="7" name="Shape 5"/>
          <p:cNvSpPr/>
          <p:nvPr/>
        </p:nvSpPr>
        <p:spPr>
          <a:xfrm>
            <a:off x="392400" y="171900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92400" y="171900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0520" y="17938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Najlepsza wydajność</a:t>
            </a:r>
          </a:p>
        </p:txBody>
      </p:sp>
      <p:sp>
        <p:nvSpPr>
          <p:cNvPr id="10" name="Text 8"/>
          <p:cNvSpPr/>
          <p:nvPr/>
        </p:nvSpPr>
        <p:spPr>
          <a:xfrm>
            <a:off x="560520" y="209268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Bezpośredni dostęp do procesora, GPU i pamięci. Brak narzutu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frameworka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392400" y="25599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400" y="25599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520" y="26344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Pełny dostęp do API</a:t>
            </a:r>
          </a:p>
        </p:txBody>
      </p:sp>
      <p:sp>
        <p:nvSpPr>
          <p:cNvPr id="14" name="Text 12"/>
          <p:cNvSpPr/>
          <p:nvPr/>
        </p:nvSpPr>
        <p:spPr>
          <a:xfrm>
            <a:off x="560520" y="2933639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Natychmiastowy dostęp do wszystkich funkcji systemu i sprzętu.</a:t>
            </a:r>
          </a:p>
        </p:txBody>
      </p:sp>
      <p:sp>
        <p:nvSpPr>
          <p:cNvPr id="15" name="Shape 13"/>
          <p:cNvSpPr/>
          <p:nvPr/>
        </p:nvSpPr>
        <p:spPr>
          <a:xfrm>
            <a:off x="392400" y="34005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2400" y="34005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520" y="347544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UX/UI</a:t>
            </a:r>
          </a:p>
        </p:txBody>
      </p:sp>
      <p:sp>
        <p:nvSpPr>
          <p:cNvPr id="18" name="Text 16"/>
          <p:cNvSpPr/>
          <p:nvPr/>
        </p:nvSpPr>
        <p:spPr>
          <a:xfrm>
            <a:off x="560520" y="377424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Zgodność z wytycznymi platformy, intuicyjne gesty i animacje.</a:t>
            </a:r>
          </a:p>
        </p:txBody>
      </p:sp>
      <p:sp>
        <p:nvSpPr>
          <p:cNvPr id="19" name="Shape 17"/>
          <p:cNvSpPr/>
          <p:nvPr/>
        </p:nvSpPr>
        <p:spPr>
          <a:xfrm>
            <a:off x="392400" y="424152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2400" y="424152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0520" y="43164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Lepsza obsługa offline</a:t>
            </a:r>
          </a:p>
        </p:txBody>
      </p:sp>
      <p:sp>
        <p:nvSpPr>
          <p:cNvPr id="22" name="Text 20"/>
          <p:cNvSpPr/>
          <p:nvPr/>
        </p:nvSpPr>
        <p:spPr>
          <a:xfrm>
            <a:off x="560520" y="461520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Zaawansowane możliwości przechowywania danych lokalnie.</a:t>
            </a:r>
          </a:p>
        </p:txBody>
      </p:sp>
      <p:sp>
        <p:nvSpPr>
          <p:cNvPr id="23" name="Shape 21"/>
          <p:cNvSpPr/>
          <p:nvPr/>
        </p:nvSpPr>
        <p:spPr>
          <a:xfrm>
            <a:off x="392400" y="5082479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2400" y="5082479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0520" y="51570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Wbudowane bezpieczeństwo</a:t>
            </a:r>
          </a:p>
        </p:txBody>
      </p:sp>
      <p:sp>
        <p:nvSpPr>
          <p:cNvPr id="26" name="Text 24"/>
          <p:cNvSpPr/>
          <p:nvPr/>
        </p:nvSpPr>
        <p:spPr>
          <a:xfrm>
            <a:off x="560520" y="545616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mechanizmy szyfrowania, Keychain, Secure Enclave.</a:t>
            </a:r>
          </a:p>
        </p:txBody>
      </p:sp>
      <p:sp>
        <p:nvSpPr>
          <p:cNvPr id="27" name="Shape 25"/>
          <p:cNvSpPr/>
          <p:nvPr/>
        </p:nvSpPr>
        <p:spPr>
          <a:xfrm>
            <a:off x="6244920" y="1195919"/>
            <a:ext cx="373680" cy="373680"/>
          </a:xfrm>
          <a:custGeom>
            <a:avLst/>
            <a:gdLst>
              <a:gd name="f0" fmla="val w"/>
              <a:gd name="f1" fmla="val h"/>
              <a:gd name="f2" fmla="val 0"/>
              <a:gd name="f3" fmla="val 373701"/>
              <a:gd name="f4" fmla="val 186851"/>
              <a:gd name="f5" fmla="val 289976"/>
              <a:gd name="f6" fmla="val 83725"/>
              <a:gd name="f7" fmla="*/ f0 1 373701"/>
              <a:gd name="f8" fmla="*/ f1 1 373701"/>
              <a:gd name="f9" fmla="val f2"/>
              <a:gd name="f10" fmla="val f3"/>
              <a:gd name="f11" fmla="+- f10 0 f9"/>
              <a:gd name="f12" fmla="*/ f11 1 373701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73701" h="373701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50040" y="1289160"/>
            <a:ext cx="163440" cy="186840"/>
          </a:xfrm>
          <a:custGeom>
            <a:avLst/>
            <a:gdLst>
              <a:gd name="f0" fmla="val w"/>
              <a:gd name="f1" fmla="val h"/>
              <a:gd name="f2" fmla="val 0"/>
              <a:gd name="f3" fmla="val 163494"/>
              <a:gd name="f4" fmla="val 186851"/>
              <a:gd name="f5" fmla="val 93425"/>
              <a:gd name="f6" fmla="val 86966"/>
              <a:gd name="f7" fmla="val 5219"/>
              <a:gd name="f8" fmla="val 81747"/>
              <a:gd name="f9" fmla="val 11678"/>
              <a:gd name="f10" fmla="val 151816"/>
              <a:gd name="f11" fmla="val 158276"/>
              <a:gd name="f12" fmla="val 99885"/>
              <a:gd name="f13" fmla="val 105103"/>
              <a:gd name="f14" fmla="*/ f0 1 163494"/>
              <a:gd name="f15" fmla="*/ f1 1 186851"/>
              <a:gd name="f16" fmla="val f2"/>
              <a:gd name="f17" fmla="val f3"/>
              <a:gd name="f18" fmla="val f4"/>
              <a:gd name="f19" fmla="+- f18 0 f16"/>
              <a:gd name="f20" fmla="+- f17 0 f16"/>
              <a:gd name="f21" fmla="*/ f20 1 163494"/>
              <a:gd name="f22" fmla="*/ f19 1 186851"/>
              <a:gd name="f23" fmla="*/ f16 1 f21"/>
              <a:gd name="f24" fmla="*/ f17 1 f21"/>
              <a:gd name="f25" fmla="*/ f16 1 f22"/>
              <a:gd name="f26" fmla="*/ f18 1 f22"/>
              <a:gd name="f27" fmla="*/ f23 f14 1"/>
              <a:gd name="f28" fmla="*/ f24 f14 1"/>
              <a:gd name="f29" fmla="*/ f26 f15 1"/>
              <a:gd name="f30" fmla="*/ f25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7" t="f30" r="f28" b="f29"/>
            <a:pathLst>
              <a:path w="163494" h="186851">
                <a:moveTo>
                  <a:pt x="f2" y="f5"/>
                </a:moveTo>
                <a:cubicBezTo>
                  <a:pt x="f2" y="f6"/>
                  <a:pt x="f7" y="f8"/>
                  <a:pt x="f9" y="f8"/>
                </a:cubicBezTo>
                <a:lnTo>
                  <a:pt x="f10" y="f8"/>
                </a:lnTo>
                <a:cubicBezTo>
                  <a:pt x="f11" y="f8"/>
                  <a:pt x="f3" y="f6"/>
                  <a:pt x="f3" y="f5"/>
                </a:cubicBezTo>
                <a:cubicBezTo>
                  <a:pt x="f3" y="f12"/>
                  <a:pt x="f11" y="f13"/>
                  <a:pt x="f10" y="f13"/>
                </a:cubicBezTo>
                <a:lnTo>
                  <a:pt x="f9" y="f13"/>
                </a:lnTo>
                <a:cubicBezTo>
                  <a:pt x="f7" y="f13"/>
                  <a:pt x="f2" y="f12"/>
                  <a:pt x="f2" y="f5"/>
                </a:cubicBez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30920" y="1233360"/>
            <a:ext cx="719280" cy="29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77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Wady</a:t>
            </a:r>
          </a:p>
        </p:txBody>
      </p:sp>
      <p:sp>
        <p:nvSpPr>
          <p:cNvPr id="30" name="Shape 28"/>
          <p:cNvSpPr/>
          <p:nvPr/>
        </p:nvSpPr>
        <p:spPr>
          <a:xfrm>
            <a:off x="6263640" y="171900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63640" y="171900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1760" y="17938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Wyższe koszty</a:t>
            </a:r>
          </a:p>
        </p:txBody>
      </p:sp>
      <p:sp>
        <p:nvSpPr>
          <p:cNvPr id="33" name="Text 31"/>
          <p:cNvSpPr/>
          <p:nvPr/>
        </p:nvSpPr>
        <p:spPr>
          <a:xfrm>
            <a:off x="6431760" y="209268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Konieczność utrzymywania dwóch zespołów i dwóch baz kodu.</a:t>
            </a:r>
          </a:p>
        </p:txBody>
      </p:sp>
      <p:sp>
        <p:nvSpPr>
          <p:cNvPr id="34" name="Shape 32"/>
          <p:cNvSpPr/>
          <p:nvPr/>
        </p:nvSpPr>
        <p:spPr>
          <a:xfrm>
            <a:off x="6263640" y="25599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63640" y="25599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1760" y="26344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Dłuższy czas rozwoju</a:t>
            </a:r>
          </a:p>
        </p:txBody>
      </p:sp>
      <p:sp>
        <p:nvSpPr>
          <p:cNvPr id="37" name="Text 35"/>
          <p:cNvSpPr/>
          <p:nvPr/>
        </p:nvSpPr>
        <p:spPr>
          <a:xfrm>
            <a:off x="6431760" y="2933639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4-6 miesięcy na platformę vs 2-4 miesiące cross-platform.</a:t>
            </a:r>
          </a:p>
        </p:txBody>
      </p:sp>
      <p:sp>
        <p:nvSpPr>
          <p:cNvPr id="38" name="Shape 36"/>
          <p:cNvSpPr/>
          <p:nvPr/>
        </p:nvSpPr>
        <p:spPr>
          <a:xfrm>
            <a:off x="6263640" y="34005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63640" y="34005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31760" y="347544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Złożoność zespołowa</a:t>
            </a:r>
          </a:p>
        </p:txBody>
      </p:sp>
      <p:sp>
        <p:nvSpPr>
          <p:cNvPr id="41" name="Text 39"/>
          <p:cNvSpPr/>
          <p:nvPr/>
        </p:nvSpPr>
        <p:spPr>
          <a:xfrm>
            <a:off x="6431760" y="377424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Wymaga ekspertów od iOS i Android, trudniejsza komunikacja.</a:t>
            </a:r>
          </a:p>
        </p:txBody>
      </p:sp>
      <p:sp>
        <p:nvSpPr>
          <p:cNvPr id="42" name="Shape 40"/>
          <p:cNvSpPr/>
          <p:nvPr/>
        </p:nvSpPr>
        <p:spPr>
          <a:xfrm>
            <a:off x="6263640" y="424152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63640" y="424152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31760" y="43164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Ograniczony zasięg MVP</a:t>
            </a:r>
          </a:p>
        </p:txBody>
      </p:sp>
      <p:sp>
        <p:nvSpPr>
          <p:cNvPr id="45" name="Text 43"/>
          <p:cNvSpPr/>
          <p:nvPr/>
        </p:nvSpPr>
        <p:spPr>
          <a:xfrm>
            <a:off x="6431760" y="461520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Trudniejsze testowanie produktu na wielu platformach jednocześnie.</a:t>
            </a:r>
          </a:p>
        </p:txBody>
      </p:sp>
      <p:sp>
        <p:nvSpPr>
          <p:cNvPr id="46" name="Shape 44"/>
          <p:cNvSpPr/>
          <p:nvPr/>
        </p:nvSpPr>
        <p:spPr>
          <a:xfrm>
            <a:off x="6263640" y="5082479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63640" y="5082479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31760" y="51570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Podwójne utrzymanie</a:t>
            </a:r>
          </a:p>
        </p:txBody>
      </p:sp>
      <p:sp>
        <p:nvSpPr>
          <p:cNvPr id="49" name="Text 47"/>
          <p:cNvSpPr/>
          <p:nvPr/>
        </p:nvSpPr>
        <p:spPr>
          <a:xfrm>
            <a:off x="6431760" y="545616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Bug fixes i aktualizacje muszą być implementowane osobno.</a:t>
            </a:r>
          </a:p>
        </p:txBody>
      </p:sp>
      <p:sp>
        <p:nvSpPr>
          <p:cNvPr id="50" name="Shape 48"/>
          <p:cNvSpPr/>
          <p:nvPr/>
        </p:nvSpPr>
        <p:spPr>
          <a:xfrm>
            <a:off x="392400" y="5960520"/>
            <a:ext cx="11426040" cy="523079"/>
          </a:xfrm>
          <a:custGeom>
            <a:avLst/>
            <a:gdLst>
              <a:gd name="f0" fmla="val w"/>
              <a:gd name="f1" fmla="val h"/>
              <a:gd name="f2" fmla="val 0"/>
              <a:gd name="f3" fmla="val 11425913"/>
              <a:gd name="f4" fmla="val 523182"/>
              <a:gd name="f5" fmla="*/ f0 1 11425913"/>
              <a:gd name="f6" fmla="*/ f1 1 52318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1425913"/>
              <a:gd name="f13" fmla="*/ f10 1 52318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1425913" h="52318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>
              <a:alpha val="1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92400" y="5960520"/>
            <a:ext cx="37440" cy="523079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523182"/>
              <a:gd name="f5" fmla="*/ f0 1 37370"/>
              <a:gd name="f6" fmla="*/ f1 1 52318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52318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52318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79240" y="6161040"/>
            <a:ext cx="149400" cy="149400"/>
          </a:xfrm>
          <a:custGeom>
            <a:avLst/>
            <a:gdLst>
              <a:gd name="f0" fmla="val w"/>
              <a:gd name="f1" fmla="val h"/>
              <a:gd name="f2" fmla="val 0"/>
              <a:gd name="f3" fmla="val 149480"/>
              <a:gd name="f4" fmla="val 74740"/>
              <a:gd name="f5" fmla="val 79032"/>
              <a:gd name="f6" fmla="val 82973"/>
              <a:gd name="f7" fmla="val 2365"/>
              <a:gd name="f8" fmla="val 85017"/>
              <a:gd name="f9" fmla="val 6131"/>
              <a:gd name="f10" fmla="val 148079"/>
              <a:gd name="f11" fmla="val 122913"/>
              <a:gd name="f12" fmla="val 150035"/>
              <a:gd name="f13" fmla="val 126533"/>
              <a:gd name="f14" fmla="val 149948"/>
              <a:gd name="f15" fmla="val 130912"/>
              <a:gd name="f16" fmla="val 147846"/>
              <a:gd name="f17" fmla="val 134445"/>
              <a:gd name="f18" fmla="val 145743"/>
              <a:gd name="f19" fmla="val 137977"/>
              <a:gd name="f20" fmla="val 141919"/>
              <a:gd name="f21" fmla="val 140138"/>
              <a:gd name="f22" fmla="val 137802"/>
              <a:gd name="f23" fmla="val 11678"/>
              <a:gd name="f24" fmla="val 7562"/>
              <a:gd name="f25" fmla="val 3766"/>
              <a:gd name="f26" fmla="val 1635"/>
              <a:gd name="f27" fmla="val -496"/>
              <a:gd name="f28" fmla="val -555"/>
              <a:gd name="f29" fmla="val 1401"/>
              <a:gd name="f30" fmla="val 64463"/>
              <a:gd name="f31" fmla="val 66507"/>
              <a:gd name="f32" fmla="val 70449"/>
              <a:gd name="f33" fmla="val 49048"/>
              <a:gd name="f34" fmla="val 70857"/>
              <a:gd name="f35" fmla="val 67733"/>
              <a:gd name="f36" fmla="val 52172"/>
              <a:gd name="f37" fmla="val 56055"/>
              <a:gd name="f38" fmla="val 88754"/>
              <a:gd name="f39" fmla="val 92637"/>
              <a:gd name="f40" fmla="val 95761"/>
              <a:gd name="f41" fmla="val 78623"/>
              <a:gd name="f42" fmla="val 81747"/>
              <a:gd name="f43" fmla="val 82535"/>
              <a:gd name="f44" fmla="val 112110"/>
              <a:gd name="f45" fmla="val 82713"/>
              <a:gd name="f46" fmla="val 109217"/>
              <a:gd name="f47" fmla="val 81270"/>
              <a:gd name="f48" fmla="val 106464"/>
              <a:gd name="f49" fmla="val 78789"/>
              <a:gd name="f50" fmla="val 104964"/>
              <a:gd name="f51" fmla="val 76309"/>
              <a:gd name="f52" fmla="val 103463"/>
              <a:gd name="f53" fmla="val 73201"/>
              <a:gd name="f54" fmla="val 70720"/>
              <a:gd name="f55" fmla="val 68240"/>
              <a:gd name="f56" fmla="val 66797"/>
              <a:gd name="f57" fmla="val 66974"/>
              <a:gd name="f58" fmla="val 115004"/>
              <a:gd name="f59" fmla="val 117757"/>
              <a:gd name="f60" fmla="val 119257"/>
              <a:gd name="f61" fmla="val 120757"/>
              <a:gd name="f62" fmla="*/ f0 1 149480"/>
              <a:gd name="f63" fmla="*/ f1 1 149480"/>
              <a:gd name="f64" fmla="val f2"/>
              <a:gd name="f65" fmla="val f3"/>
              <a:gd name="f66" fmla="+- f65 0 f64"/>
              <a:gd name="f67" fmla="*/ f66 1 149480"/>
              <a:gd name="f68" fmla="*/ f64 1 f67"/>
              <a:gd name="f69" fmla="*/ f65 1 f67"/>
              <a:gd name="f70" fmla="*/ f68 f62 1"/>
              <a:gd name="f71" fmla="*/ f69 f62 1"/>
              <a:gd name="f72" fmla="*/ f69 f63 1"/>
              <a:gd name="f73" fmla="*/ f68 f6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70" t="f73" r="f71" b="f72"/>
            <a:pathLst>
              <a:path w="149480" h="149480">
                <a:moveTo>
                  <a:pt x="f4" y="f2"/>
                </a:moveTo>
                <a:cubicBezTo>
                  <a:pt x="f5" y="f2"/>
                  <a:pt x="f6" y="f7"/>
                  <a:pt x="f8" y="f9"/>
                </a:cubicBezTo>
                <a:lnTo>
                  <a:pt x="f10" y="f11"/>
                </a:lnTo>
                <a:cubicBezTo>
                  <a:pt x="f12" y="f13"/>
                  <a:pt x="f14" y="f15"/>
                  <a:pt x="f16" y="f17"/>
                </a:cubicBezTo>
                <a:cubicBezTo>
                  <a:pt x="f18" y="f19"/>
                  <a:pt x="f20" y="f21"/>
                  <a:pt x="f22" y="f21"/>
                </a:cubicBezTo>
                <a:lnTo>
                  <a:pt x="f23" y="f21"/>
                </a:lnTo>
                <a:cubicBezTo>
                  <a:pt x="f24" y="f21"/>
                  <a:pt x="f25" y="f19"/>
                  <a:pt x="f26" y="f17"/>
                </a:cubicBezTo>
                <a:cubicBezTo>
                  <a:pt x="f27" y="f15"/>
                  <a:pt x="f28" y="f13"/>
                  <a:pt x="f29" y="f11"/>
                </a:cubicBezTo>
                <a:lnTo>
                  <a:pt x="f30" y="f9"/>
                </a:lnTo>
                <a:cubicBezTo>
                  <a:pt x="f31" y="f7"/>
                  <a:pt x="f32" y="f2"/>
                  <a:pt x="f4" y="f2"/>
                </a:cubicBezTo>
                <a:close/>
                <a:moveTo>
                  <a:pt x="f4" y="f33"/>
                </a:moveTo>
                <a:cubicBezTo>
                  <a:pt x="f34" y="f33"/>
                  <a:pt x="f35" y="f36"/>
                  <a:pt x="f35" y="f37"/>
                </a:cubicBezTo>
                <a:lnTo>
                  <a:pt x="f35" y="f38"/>
                </a:lnTo>
                <a:cubicBezTo>
                  <a:pt x="f35" y="f39"/>
                  <a:pt x="f34" y="f40"/>
                  <a:pt x="f4" y="f40"/>
                </a:cubicBezTo>
                <a:cubicBezTo>
                  <a:pt x="f41" y="f40"/>
                  <a:pt x="f42" y="f39"/>
                  <a:pt x="f42" y="f38"/>
                </a:cubicBezTo>
                <a:lnTo>
                  <a:pt x="f42" y="f37"/>
                </a:lnTo>
                <a:cubicBezTo>
                  <a:pt x="f42" y="f36"/>
                  <a:pt x="f41" y="f33"/>
                  <a:pt x="f4" y="f33"/>
                </a:cubicBezTo>
                <a:close/>
                <a:moveTo>
                  <a:pt x="f43" y="f44"/>
                </a:moveTo>
                <a:cubicBezTo>
                  <a:pt x="f45" y="f46"/>
                  <a:pt x="f47" y="f48"/>
                  <a:pt x="f49" y="f50"/>
                </a:cubicBezTo>
                <a:cubicBezTo>
                  <a:pt x="f51" y="f52"/>
                  <a:pt x="f53" y="f52"/>
                  <a:pt x="f54" y="f50"/>
                </a:cubicBezTo>
                <a:cubicBezTo>
                  <a:pt x="f55" y="f48"/>
                  <a:pt x="f56" y="f46"/>
                  <a:pt x="f57" y="f44"/>
                </a:cubicBezTo>
                <a:cubicBezTo>
                  <a:pt x="f56" y="f58"/>
                  <a:pt x="f55" y="f59"/>
                  <a:pt x="f54" y="f60"/>
                </a:cubicBezTo>
                <a:cubicBezTo>
                  <a:pt x="f53" y="f61"/>
                  <a:pt x="f51" y="f61"/>
                  <a:pt x="f49" y="f60"/>
                </a:cubicBezTo>
                <a:cubicBezTo>
                  <a:pt x="f47" y="f59"/>
                  <a:pt x="f45" y="f58"/>
                  <a:pt x="f43" y="f44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02440" y="6109919"/>
            <a:ext cx="10941120" cy="224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Statystyka: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57% użytkowników 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usuwa aplikacje o słabej wydajności - natywne podejście minimalizuje to ryzyko.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680" y="373680"/>
            <a:ext cx="11509920" cy="186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51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2.4. </a:t>
            </a:r>
            <a:r>
              <a:rPr lang="pl-PL" sz="900" b="0" i="0" u="none" strike="noStrike" kern="0" cap="none" spc="51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ANALIZA</a:t>
            </a:r>
          </a:p>
        </p:txBody>
      </p:sp>
      <p:sp>
        <p:nvSpPr>
          <p:cNvPr id="3" name="Text 1"/>
          <p:cNvSpPr/>
          <p:nvPr/>
        </p:nvSpPr>
        <p:spPr>
          <a:xfrm>
            <a:off x="373680" y="635400"/>
            <a:ext cx="11612880" cy="373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pl-PL" sz="28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Walety i zady programowania 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cross-platformowego</a:t>
            </a:r>
          </a:p>
        </p:txBody>
      </p:sp>
      <p:sp>
        <p:nvSpPr>
          <p:cNvPr id="4" name="Shape 2"/>
          <p:cNvSpPr/>
          <p:nvPr/>
        </p:nvSpPr>
        <p:spPr>
          <a:xfrm>
            <a:off x="373680" y="1195919"/>
            <a:ext cx="373680" cy="373680"/>
          </a:xfrm>
          <a:custGeom>
            <a:avLst/>
            <a:gdLst>
              <a:gd name="f0" fmla="val w"/>
              <a:gd name="f1" fmla="val h"/>
              <a:gd name="f2" fmla="val 0"/>
              <a:gd name="f3" fmla="val 373701"/>
              <a:gd name="f4" fmla="val 186851"/>
              <a:gd name="f5" fmla="val 289976"/>
              <a:gd name="f6" fmla="val 83725"/>
              <a:gd name="f7" fmla="*/ f0 1 373701"/>
              <a:gd name="f8" fmla="*/ f1 1 373701"/>
              <a:gd name="f9" fmla="val f2"/>
              <a:gd name="f10" fmla="val f3"/>
              <a:gd name="f11" fmla="+- f10 0 f9"/>
              <a:gd name="f12" fmla="*/ f11 1 373701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73701" h="373701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8800" y="1289160"/>
            <a:ext cx="163440" cy="186840"/>
          </a:xfrm>
          <a:custGeom>
            <a:avLst/>
            <a:gdLst>
              <a:gd name="f0" fmla="val w"/>
              <a:gd name="f1" fmla="val h"/>
              <a:gd name="f2" fmla="val 0"/>
              <a:gd name="f3" fmla="val 163494"/>
              <a:gd name="f4" fmla="val 186851"/>
              <a:gd name="f5" fmla="val 93425"/>
              <a:gd name="f6" fmla="val 23356"/>
              <a:gd name="f7" fmla="val 16897"/>
              <a:gd name="f8" fmla="val 88207"/>
              <a:gd name="f9" fmla="val 11678"/>
              <a:gd name="f10" fmla="val 81747"/>
              <a:gd name="f11" fmla="val 75288"/>
              <a:gd name="f12" fmla="val 70069"/>
              <a:gd name="f13" fmla="val 5219"/>
              <a:gd name="f14" fmla="val 86966"/>
              <a:gd name="f15" fmla="val 99885"/>
              <a:gd name="f16" fmla="val 105103"/>
              <a:gd name="f17" fmla="val 169954"/>
              <a:gd name="f18" fmla="val 175172"/>
              <a:gd name="f19" fmla="val 151816"/>
              <a:gd name="f20" fmla="val 158276"/>
              <a:gd name="f21" fmla="*/ f0 1 163494"/>
              <a:gd name="f22" fmla="*/ f1 1 186851"/>
              <a:gd name="f23" fmla="val f2"/>
              <a:gd name="f24" fmla="val f3"/>
              <a:gd name="f25" fmla="val f4"/>
              <a:gd name="f26" fmla="+- f25 0 f23"/>
              <a:gd name="f27" fmla="+- f24 0 f23"/>
              <a:gd name="f28" fmla="*/ f27 1 163494"/>
              <a:gd name="f29" fmla="*/ f26 1 186851"/>
              <a:gd name="f30" fmla="*/ f23 1 f28"/>
              <a:gd name="f31" fmla="*/ f24 1 f28"/>
              <a:gd name="f32" fmla="*/ f23 1 f29"/>
              <a:gd name="f33" fmla="*/ f25 1 f29"/>
              <a:gd name="f34" fmla="*/ f30 f21 1"/>
              <a:gd name="f35" fmla="*/ f31 f21 1"/>
              <a:gd name="f36" fmla="*/ f33 f22 1"/>
              <a:gd name="f37" fmla="*/ f32 f2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4" t="f37" r="f35" b="f36"/>
            <a:pathLst>
              <a:path w="163494" h="186851">
                <a:moveTo>
                  <a:pt x="f5" y="f6"/>
                </a:moveTo>
                <a:cubicBezTo>
                  <a:pt x="f5" y="f7"/>
                  <a:pt x="f8" y="f9"/>
                  <a:pt x="f10" y="f9"/>
                </a:cubicBezTo>
                <a:cubicBezTo>
                  <a:pt x="f11" y="f9"/>
                  <a:pt x="f12" y="f7"/>
                  <a:pt x="f12" y="f6"/>
                </a:cubicBezTo>
                <a:lnTo>
                  <a:pt x="f12" y="f10"/>
                </a:lnTo>
                <a:lnTo>
                  <a:pt x="f9" y="f10"/>
                </a:lnTo>
                <a:cubicBezTo>
                  <a:pt x="f13" y="f10"/>
                  <a:pt x="f2" y="f14"/>
                  <a:pt x="f2" y="f5"/>
                </a:cubicBezTo>
                <a:cubicBezTo>
                  <a:pt x="f2" y="f15"/>
                  <a:pt x="f13" y="f16"/>
                  <a:pt x="f9" y="f16"/>
                </a:cubicBezTo>
                <a:lnTo>
                  <a:pt x="f12" y="f16"/>
                </a:lnTo>
                <a:lnTo>
                  <a:pt x="f12" y="f3"/>
                </a:lnTo>
                <a:cubicBezTo>
                  <a:pt x="f12" y="f17"/>
                  <a:pt x="f11" y="f18"/>
                  <a:pt x="f10" y="f18"/>
                </a:cubicBezTo>
                <a:cubicBezTo>
                  <a:pt x="f8" y="f18"/>
                  <a:pt x="f5" y="f17"/>
                  <a:pt x="f5" y="f3"/>
                </a:cubicBezTo>
                <a:lnTo>
                  <a:pt x="f5" y="f16"/>
                </a:lnTo>
                <a:lnTo>
                  <a:pt x="f19" y="f16"/>
                </a:lnTo>
                <a:cubicBezTo>
                  <a:pt x="f20" y="f16"/>
                  <a:pt x="f3" y="f15"/>
                  <a:pt x="f3" y="f5"/>
                </a:cubicBezTo>
                <a:cubicBezTo>
                  <a:pt x="f3" y="f14"/>
                  <a:pt x="f20" y="f10"/>
                  <a:pt x="f19" y="f10"/>
                </a:cubicBezTo>
                <a:lnTo>
                  <a:pt x="f5" y="f10"/>
                </a:lnTo>
                <a:lnTo>
                  <a:pt x="f5" y="f6"/>
                </a:ln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9680" y="1233360"/>
            <a:ext cx="728640" cy="29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77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Zalety</a:t>
            </a:r>
          </a:p>
        </p:txBody>
      </p:sp>
      <p:sp>
        <p:nvSpPr>
          <p:cNvPr id="7" name="Shape 5"/>
          <p:cNvSpPr/>
          <p:nvPr/>
        </p:nvSpPr>
        <p:spPr>
          <a:xfrm>
            <a:off x="392400" y="171900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92400" y="171900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0520" y="17938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Jedna baza kodu</a:t>
            </a:r>
          </a:p>
        </p:txBody>
      </p:sp>
      <p:sp>
        <p:nvSpPr>
          <p:cNvPr id="10" name="Text 8"/>
          <p:cNvSpPr/>
          <p:nvPr/>
        </p:nvSpPr>
        <p:spPr>
          <a:xfrm>
            <a:off x="560520" y="209268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70-95% 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reużywalności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kodu między iOS i Android.</a:t>
            </a:r>
          </a:p>
        </p:txBody>
      </p:sp>
      <p:sp>
        <p:nvSpPr>
          <p:cNvPr id="11" name="Shape 9"/>
          <p:cNvSpPr/>
          <p:nvPr/>
        </p:nvSpPr>
        <p:spPr>
          <a:xfrm>
            <a:off x="392400" y="25599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400" y="25599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520" y="26344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Szybszy czas wdrożenia</a:t>
            </a:r>
          </a:p>
        </p:txBody>
      </p:sp>
      <p:sp>
        <p:nvSpPr>
          <p:cNvPr id="14" name="Text 12"/>
          <p:cNvSpPr/>
          <p:nvPr/>
        </p:nvSpPr>
        <p:spPr>
          <a:xfrm>
            <a:off x="560520" y="2933639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2-4 miesiące vs 4-6 miesięcy na platformę w podejściu natywnym.</a:t>
            </a:r>
          </a:p>
        </p:txBody>
      </p:sp>
      <p:sp>
        <p:nvSpPr>
          <p:cNvPr id="15" name="Shape 13"/>
          <p:cNvSpPr/>
          <p:nvPr/>
        </p:nvSpPr>
        <p:spPr>
          <a:xfrm>
            <a:off x="392400" y="34005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2400" y="34005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520" y="347544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Niższe koszty</a:t>
            </a:r>
          </a:p>
        </p:txBody>
      </p:sp>
      <p:sp>
        <p:nvSpPr>
          <p:cNvPr id="18" name="Text 16"/>
          <p:cNvSpPr/>
          <p:nvPr/>
        </p:nvSpPr>
        <p:spPr>
          <a:xfrm>
            <a:off x="560520" y="377424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Redukcja kosztów o </a:t>
            </a: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25-50%</a:t>
            </a: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, jeden zespół deweloperski.</a:t>
            </a:r>
          </a:p>
        </p:txBody>
      </p:sp>
      <p:sp>
        <p:nvSpPr>
          <p:cNvPr id="19" name="Shape 17"/>
          <p:cNvSpPr/>
          <p:nvPr/>
        </p:nvSpPr>
        <p:spPr>
          <a:xfrm>
            <a:off x="392400" y="424152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2400" y="424152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0520" y="43164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Szerszy zasięg</a:t>
            </a:r>
          </a:p>
        </p:txBody>
      </p:sp>
      <p:sp>
        <p:nvSpPr>
          <p:cNvPr id="22" name="Text 20"/>
          <p:cNvSpPr/>
          <p:nvPr/>
        </p:nvSpPr>
        <p:spPr>
          <a:xfrm>
            <a:off x="560520" y="461520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-5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Jednoczesne wdrożenie na iOS i Android, większa baza użytkowników.</a:t>
            </a:r>
          </a:p>
        </p:txBody>
      </p:sp>
      <p:sp>
        <p:nvSpPr>
          <p:cNvPr id="23" name="Shape 21"/>
          <p:cNvSpPr/>
          <p:nvPr/>
        </p:nvSpPr>
        <p:spPr>
          <a:xfrm>
            <a:off x="392400" y="5082479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2400" y="5082479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0520" y="51570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Łatwiejsze utrzymanie</a:t>
            </a:r>
          </a:p>
        </p:txBody>
      </p:sp>
      <p:sp>
        <p:nvSpPr>
          <p:cNvPr id="26" name="Text 24"/>
          <p:cNvSpPr/>
          <p:nvPr/>
        </p:nvSpPr>
        <p:spPr>
          <a:xfrm>
            <a:off x="560520" y="545616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Jedna baza kodu = łatwiejsze bug fixes i aktualizacje.</a:t>
            </a:r>
          </a:p>
        </p:txBody>
      </p:sp>
      <p:sp>
        <p:nvSpPr>
          <p:cNvPr id="27" name="Shape 25"/>
          <p:cNvSpPr/>
          <p:nvPr/>
        </p:nvSpPr>
        <p:spPr>
          <a:xfrm>
            <a:off x="6244920" y="1195919"/>
            <a:ext cx="373680" cy="373680"/>
          </a:xfrm>
          <a:custGeom>
            <a:avLst/>
            <a:gdLst>
              <a:gd name="f0" fmla="val w"/>
              <a:gd name="f1" fmla="val h"/>
              <a:gd name="f2" fmla="val 0"/>
              <a:gd name="f3" fmla="val 373701"/>
              <a:gd name="f4" fmla="val 186851"/>
              <a:gd name="f5" fmla="val 289976"/>
              <a:gd name="f6" fmla="val 83725"/>
              <a:gd name="f7" fmla="*/ f0 1 373701"/>
              <a:gd name="f8" fmla="*/ f1 1 373701"/>
              <a:gd name="f9" fmla="val f2"/>
              <a:gd name="f10" fmla="val f3"/>
              <a:gd name="f11" fmla="+- f10 0 f9"/>
              <a:gd name="f12" fmla="*/ f11 1 373701"/>
              <a:gd name="f13" fmla="*/ f9 1 f12"/>
              <a:gd name="f14" fmla="*/ f10 1 f12"/>
              <a:gd name="f15" fmla="*/ f13 f7 1"/>
              <a:gd name="f16" fmla="*/ f14 f7 1"/>
              <a:gd name="f17" fmla="*/ f14 f8 1"/>
              <a:gd name="f18" fmla="*/ f1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73701" h="373701">
                <a:moveTo>
                  <a:pt x="f4" y="f2"/>
                </a:moveTo>
                <a:lnTo>
                  <a:pt x="f4" y="f2"/>
                </a:lnTo>
                <a:cubicBezTo>
                  <a:pt x="f5" y="f2"/>
                  <a:pt x="f3" y="f6"/>
                  <a:pt x="f3" y="f4"/>
                </a:cubicBezTo>
                <a:lnTo>
                  <a:pt x="f3" y="f4"/>
                </a:lnTo>
                <a:cubicBezTo>
                  <a:pt x="f3" y="f5"/>
                  <a:pt x="f5" y="f3"/>
                  <a:pt x="f4" y="f3"/>
                </a:cubicBezTo>
                <a:lnTo>
                  <a:pt x="f4" y="f3"/>
                </a:lnTo>
                <a:cubicBezTo>
                  <a:pt x="f6" y="f3"/>
                  <a:pt x="f2" y="f5"/>
                  <a:pt x="f2" y="f4"/>
                </a:cubicBezTo>
                <a:lnTo>
                  <a:pt x="f2" y="f4"/>
                </a:lnTo>
                <a:cubicBezTo>
                  <a:pt x="f2" y="f6"/>
                  <a:pt x="f6" y="f2"/>
                  <a:pt x="f4" y="f2"/>
                </a:cubicBez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50040" y="1289160"/>
            <a:ext cx="163440" cy="186840"/>
          </a:xfrm>
          <a:custGeom>
            <a:avLst/>
            <a:gdLst>
              <a:gd name="f0" fmla="val w"/>
              <a:gd name="f1" fmla="val h"/>
              <a:gd name="f2" fmla="val 0"/>
              <a:gd name="f3" fmla="val 163494"/>
              <a:gd name="f4" fmla="val 186851"/>
              <a:gd name="f5" fmla="val 93425"/>
              <a:gd name="f6" fmla="val 86966"/>
              <a:gd name="f7" fmla="val 5219"/>
              <a:gd name="f8" fmla="val 81747"/>
              <a:gd name="f9" fmla="val 11678"/>
              <a:gd name="f10" fmla="val 151816"/>
              <a:gd name="f11" fmla="val 158276"/>
              <a:gd name="f12" fmla="val 99885"/>
              <a:gd name="f13" fmla="val 105103"/>
              <a:gd name="f14" fmla="*/ f0 1 163494"/>
              <a:gd name="f15" fmla="*/ f1 1 186851"/>
              <a:gd name="f16" fmla="val f2"/>
              <a:gd name="f17" fmla="val f3"/>
              <a:gd name="f18" fmla="val f4"/>
              <a:gd name="f19" fmla="+- f18 0 f16"/>
              <a:gd name="f20" fmla="+- f17 0 f16"/>
              <a:gd name="f21" fmla="*/ f20 1 163494"/>
              <a:gd name="f22" fmla="*/ f19 1 186851"/>
              <a:gd name="f23" fmla="*/ f16 1 f21"/>
              <a:gd name="f24" fmla="*/ f17 1 f21"/>
              <a:gd name="f25" fmla="*/ f16 1 f22"/>
              <a:gd name="f26" fmla="*/ f18 1 f22"/>
              <a:gd name="f27" fmla="*/ f23 f14 1"/>
              <a:gd name="f28" fmla="*/ f24 f14 1"/>
              <a:gd name="f29" fmla="*/ f26 f15 1"/>
              <a:gd name="f30" fmla="*/ f25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7" t="f30" r="f28" b="f29"/>
            <a:pathLst>
              <a:path w="163494" h="186851">
                <a:moveTo>
                  <a:pt x="f2" y="f5"/>
                </a:moveTo>
                <a:cubicBezTo>
                  <a:pt x="f2" y="f6"/>
                  <a:pt x="f7" y="f8"/>
                  <a:pt x="f9" y="f8"/>
                </a:cubicBezTo>
                <a:lnTo>
                  <a:pt x="f10" y="f8"/>
                </a:lnTo>
                <a:cubicBezTo>
                  <a:pt x="f11" y="f8"/>
                  <a:pt x="f3" y="f6"/>
                  <a:pt x="f3" y="f5"/>
                </a:cubicBezTo>
                <a:cubicBezTo>
                  <a:pt x="f3" y="f12"/>
                  <a:pt x="f11" y="f13"/>
                  <a:pt x="f10" y="f13"/>
                </a:cubicBezTo>
                <a:lnTo>
                  <a:pt x="f9" y="f13"/>
                </a:lnTo>
                <a:cubicBezTo>
                  <a:pt x="f7" y="f13"/>
                  <a:pt x="f2" y="f12"/>
                  <a:pt x="f2" y="f5"/>
                </a:cubicBez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30920" y="1233360"/>
            <a:ext cx="719280" cy="298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77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Wady</a:t>
            </a:r>
          </a:p>
        </p:txBody>
      </p:sp>
      <p:sp>
        <p:nvSpPr>
          <p:cNvPr id="30" name="Shape 28"/>
          <p:cNvSpPr/>
          <p:nvPr/>
        </p:nvSpPr>
        <p:spPr>
          <a:xfrm>
            <a:off x="6263640" y="171900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263640" y="171900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31760" y="17938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Problemy wydajnościowe</a:t>
            </a:r>
          </a:p>
        </p:txBody>
      </p:sp>
      <p:sp>
        <p:nvSpPr>
          <p:cNvPr id="33" name="Text 31"/>
          <p:cNvSpPr/>
          <p:nvPr/>
        </p:nvSpPr>
        <p:spPr>
          <a:xfrm>
            <a:off x="6431760" y="209268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Mostek JS w React Native, operacje intensywne obliczeniowo.</a:t>
            </a:r>
          </a:p>
        </p:txBody>
      </p:sp>
      <p:sp>
        <p:nvSpPr>
          <p:cNvPr id="34" name="Shape 32"/>
          <p:cNvSpPr/>
          <p:nvPr/>
        </p:nvSpPr>
        <p:spPr>
          <a:xfrm>
            <a:off x="6263640" y="25599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63640" y="25599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31760" y="263448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Ograniczony dostęp do funkcji</a:t>
            </a:r>
          </a:p>
        </p:txBody>
      </p:sp>
      <p:sp>
        <p:nvSpPr>
          <p:cNvPr id="37" name="Text 35"/>
          <p:cNvSpPr/>
          <p:nvPr/>
        </p:nvSpPr>
        <p:spPr>
          <a:xfrm>
            <a:off x="6431760" y="2933639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Dostęp do funkcji specyficznych przez wtyczki lub natywne moduły.</a:t>
            </a:r>
          </a:p>
        </p:txBody>
      </p:sp>
      <p:sp>
        <p:nvSpPr>
          <p:cNvPr id="38" name="Shape 36"/>
          <p:cNvSpPr/>
          <p:nvPr/>
        </p:nvSpPr>
        <p:spPr>
          <a:xfrm>
            <a:off x="6263640" y="340056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63640" y="340056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31760" y="347544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Niespójności UI</a:t>
            </a:r>
          </a:p>
        </p:txBody>
      </p:sp>
      <p:sp>
        <p:nvSpPr>
          <p:cNvPr id="41" name="Text 39"/>
          <p:cNvSpPr/>
          <p:nvPr/>
        </p:nvSpPr>
        <p:spPr>
          <a:xfrm>
            <a:off x="6431760" y="377424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Różne wymagania UI między platformami, konieczność dostosowania.</a:t>
            </a:r>
          </a:p>
        </p:txBody>
      </p:sp>
      <p:sp>
        <p:nvSpPr>
          <p:cNvPr id="42" name="Shape 40"/>
          <p:cNvSpPr/>
          <p:nvPr/>
        </p:nvSpPr>
        <p:spPr>
          <a:xfrm>
            <a:off x="6263640" y="4241520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63640" y="4241520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431760" y="43164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Zależność od frameworka</a:t>
            </a:r>
          </a:p>
        </p:txBody>
      </p:sp>
      <p:sp>
        <p:nvSpPr>
          <p:cNvPr id="45" name="Text 43"/>
          <p:cNvSpPr/>
          <p:nvPr/>
        </p:nvSpPr>
        <p:spPr>
          <a:xfrm>
            <a:off x="6431760" y="461520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Opóźnienia w dostępie do nowych funkcji OS, ryzyko porzucenia.</a:t>
            </a:r>
          </a:p>
        </p:txBody>
      </p:sp>
      <p:sp>
        <p:nvSpPr>
          <p:cNvPr id="46" name="Shape 44"/>
          <p:cNvSpPr/>
          <p:nvPr/>
        </p:nvSpPr>
        <p:spPr>
          <a:xfrm>
            <a:off x="6263640" y="5082479"/>
            <a:ext cx="554940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5549462"/>
              <a:gd name="f4" fmla="val 691347"/>
              <a:gd name="f5" fmla="*/ f0 1 5549462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49462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49462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63640" y="5082479"/>
            <a:ext cx="37440" cy="691200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691347"/>
              <a:gd name="f5" fmla="*/ f0 1 37370"/>
              <a:gd name="f6" fmla="*/ f1 1 69134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69134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69134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31760" y="5157000"/>
            <a:ext cx="5465520" cy="261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Większy rozmiar aplikacji</a:t>
            </a:r>
          </a:p>
        </p:txBody>
      </p:sp>
      <p:sp>
        <p:nvSpPr>
          <p:cNvPr id="49" name="Text 47"/>
          <p:cNvSpPr/>
          <p:nvPr/>
        </p:nvSpPr>
        <p:spPr>
          <a:xfrm>
            <a:off x="6431760" y="5456160"/>
            <a:ext cx="5456160" cy="2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dodaje narzut do rozmiaru aplikacji.</a:t>
            </a:r>
          </a:p>
        </p:txBody>
      </p:sp>
      <p:sp>
        <p:nvSpPr>
          <p:cNvPr id="50" name="Shape 48"/>
          <p:cNvSpPr/>
          <p:nvPr/>
        </p:nvSpPr>
        <p:spPr>
          <a:xfrm>
            <a:off x="392400" y="5960520"/>
            <a:ext cx="11426040" cy="523079"/>
          </a:xfrm>
          <a:custGeom>
            <a:avLst/>
            <a:gdLst>
              <a:gd name="f0" fmla="val w"/>
              <a:gd name="f1" fmla="val h"/>
              <a:gd name="f2" fmla="val 0"/>
              <a:gd name="f3" fmla="val 11425913"/>
              <a:gd name="f4" fmla="val 523182"/>
              <a:gd name="f5" fmla="*/ f0 1 11425913"/>
              <a:gd name="f6" fmla="*/ f1 1 52318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1425913"/>
              <a:gd name="f13" fmla="*/ f10 1 52318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1425913" h="52318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>
              <a:alpha val="1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92400" y="5960520"/>
            <a:ext cx="37440" cy="523079"/>
          </a:xfrm>
          <a:custGeom>
            <a:avLst/>
            <a:gdLst>
              <a:gd name="f0" fmla="val w"/>
              <a:gd name="f1" fmla="val h"/>
              <a:gd name="f2" fmla="val 0"/>
              <a:gd name="f3" fmla="val 37370"/>
              <a:gd name="f4" fmla="val 523182"/>
              <a:gd name="f5" fmla="*/ f0 1 37370"/>
              <a:gd name="f6" fmla="*/ f1 1 52318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370"/>
              <a:gd name="f13" fmla="*/ f10 1 52318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370" h="52318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79240" y="6161040"/>
            <a:ext cx="149400" cy="149400"/>
          </a:xfrm>
          <a:custGeom>
            <a:avLst/>
            <a:gdLst>
              <a:gd name="f0" fmla="val w"/>
              <a:gd name="f1" fmla="val h"/>
              <a:gd name="f2" fmla="val 0"/>
              <a:gd name="f3" fmla="val 149480"/>
              <a:gd name="f4" fmla="val 18685"/>
              <a:gd name="f5" fmla="val 13517"/>
              <a:gd name="f6" fmla="val 14510"/>
              <a:gd name="f7" fmla="val 9343"/>
              <a:gd name="f8" fmla="val 4175"/>
              <a:gd name="f9" fmla="val 116782"/>
              <a:gd name="f10" fmla="val 129686"/>
              <a:gd name="f11" fmla="val 10452"/>
              <a:gd name="f12" fmla="val 140138"/>
              <a:gd name="f13" fmla="val 23356"/>
              <a:gd name="f14" fmla="val 145306"/>
              <a:gd name="f15" fmla="val 135963"/>
              <a:gd name="f16" fmla="val 130795"/>
              <a:gd name="f17" fmla="val 125628"/>
              <a:gd name="f18" fmla="val 121453"/>
              <a:gd name="f19" fmla="val 20787"/>
              <a:gd name="f20" fmla="val 119351"/>
              <a:gd name="f21" fmla="val 137394"/>
              <a:gd name="f22" fmla="val 43968"/>
              <a:gd name="f23" fmla="val 141043"/>
              <a:gd name="f24" fmla="val 40319"/>
              <a:gd name="f25" fmla="val 34392"/>
              <a:gd name="f26" fmla="val 30743"/>
              <a:gd name="f27" fmla="val 133744"/>
              <a:gd name="f28" fmla="val 27093"/>
              <a:gd name="f29" fmla="val 127817"/>
              <a:gd name="f30" fmla="val 124168"/>
              <a:gd name="f31" fmla="val 93425"/>
              <a:gd name="f32" fmla="val 61515"/>
              <a:gd name="f33" fmla="val 76667"/>
              <a:gd name="f34" fmla="val 44786"/>
              <a:gd name="f35" fmla="val 73018"/>
              <a:gd name="f36" fmla="val 41136"/>
              <a:gd name="f37" fmla="val 67091"/>
              <a:gd name="f38" fmla="val 63442"/>
              <a:gd name="f39" fmla="val 35414"/>
              <a:gd name="f40" fmla="val 72813"/>
              <a:gd name="f41" fmla="val 31765"/>
              <a:gd name="f42" fmla="val 76463"/>
              <a:gd name="f43" fmla="val 82389"/>
              <a:gd name="f44" fmla="val 86039"/>
              <a:gd name="f45" fmla="val 39063"/>
              <a:gd name="f46" fmla="val 89688"/>
              <a:gd name="f47" fmla="val 44990"/>
              <a:gd name="f48" fmla="val 48640"/>
              <a:gd name="f49" fmla="val 70069"/>
              <a:gd name="f50" fmla="val 64609"/>
              <a:gd name="f51" fmla="val 86827"/>
              <a:gd name="f52" fmla="val 81368"/>
              <a:gd name="f53" fmla="val 90477"/>
              <a:gd name="f54" fmla="val 85017"/>
              <a:gd name="f55" fmla="val 96403"/>
              <a:gd name="f56" fmla="val 100053"/>
              <a:gd name="f57" fmla="val 137423"/>
              <a:gd name="f58" fmla="val 43997"/>
              <a:gd name="f59" fmla="*/ f0 1 149480"/>
              <a:gd name="f60" fmla="*/ f1 1 149480"/>
              <a:gd name="f61" fmla="val f2"/>
              <a:gd name="f62" fmla="val f3"/>
              <a:gd name="f63" fmla="+- f62 0 f61"/>
              <a:gd name="f64" fmla="*/ f63 1 149480"/>
              <a:gd name="f65" fmla="*/ f61 1 f64"/>
              <a:gd name="f66" fmla="*/ f62 1 f64"/>
              <a:gd name="f67" fmla="*/ f65 f59 1"/>
              <a:gd name="f68" fmla="*/ f66 f59 1"/>
              <a:gd name="f69" fmla="*/ f66 f60 1"/>
              <a:gd name="f70" fmla="*/ f65 f6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7" t="f70" r="f68" b="f69"/>
            <a:pathLst>
              <a:path w="149480" h="149480">
                <a:moveTo>
                  <a:pt x="f4" y="f4"/>
                </a:moveTo>
                <a:cubicBezTo>
                  <a:pt x="f4" y="f5"/>
                  <a:pt x="f6" y="f7"/>
                  <a:pt x="f7" y="f7"/>
                </a:cubicBezTo>
                <a:cubicBezTo>
                  <a:pt x="f8" y="f7"/>
                  <a:pt x="f2" y="f5"/>
                  <a:pt x="f2" y="f4"/>
                </a:cubicBezTo>
                <a:lnTo>
                  <a:pt x="f2" y="f9"/>
                </a:lnTo>
                <a:cubicBezTo>
                  <a:pt x="f2" y="f10"/>
                  <a:pt x="f11" y="f12"/>
                  <a:pt x="f13" y="f12"/>
                </a:cubicBezTo>
                <a:lnTo>
                  <a:pt x="f12" y="f12"/>
                </a:lnTo>
                <a:cubicBezTo>
                  <a:pt x="f14" y="f12"/>
                  <a:pt x="f3" y="f15"/>
                  <a:pt x="f3" y="f16"/>
                </a:cubicBezTo>
                <a:cubicBezTo>
                  <a:pt x="f3" y="f17"/>
                  <a:pt x="f14" y="f18"/>
                  <a:pt x="f12" y="f18"/>
                </a:cubicBezTo>
                <a:lnTo>
                  <a:pt x="f13" y="f18"/>
                </a:lnTo>
                <a:cubicBezTo>
                  <a:pt x="f19" y="f18"/>
                  <a:pt x="f4" y="f20"/>
                  <a:pt x="f4" y="f9"/>
                </a:cubicBezTo>
                <a:lnTo>
                  <a:pt x="f4" y="f4"/>
                </a:lnTo>
                <a:close/>
                <a:moveTo>
                  <a:pt x="f21" y="f22"/>
                </a:moveTo>
                <a:cubicBezTo>
                  <a:pt x="f23" y="f24"/>
                  <a:pt x="f23" y="f25"/>
                  <a:pt x="f21" y="f26"/>
                </a:cubicBezTo>
                <a:cubicBezTo>
                  <a:pt x="f27" y="f28"/>
                  <a:pt x="f29" y="f28"/>
                  <a:pt x="f30" y="f26"/>
                </a:cubicBezTo>
                <a:lnTo>
                  <a:pt x="f31" y="f32"/>
                </a:lnTo>
                <a:lnTo>
                  <a:pt x="f33" y="f34"/>
                </a:lnTo>
                <a:cubicBezTo>
                  <a:pt x="f35" y="f36"/>
                  <a:pt x="f37" y="f36"/>
                  <a:pt x="f38" y="f34"/>
                </a:cubicBezTo>
                <a:lnTo>
                  <a:pt x="f39" y="f40"/>
                </a:lnTo>
                <a:cubicBezTo>
                  <a:pt x="f41" y="f42"/>
                  <a:pt x="f41" y="f43"/>
                  <a:pt x="f39" y="f44"/>
                </a:cubicBezTo>
                <a:cubicBezTo>
                  <a:pt x="f45" y="f46"/>
                  <a:pt x="f47" y="f46"/>
                  <a:pt x="f48" y="f44"/>
                </a:cubicBezTo>
                <a:lnTo>
                  <a:pt x="f49" y="f50"/>
                </a:lnTo>
                <a:lnTo>
                  <a:pt x="f51" y="f52"/>
                </a:lnTo>
                <a:cubicBezTo>
                  <a:pt x="f53" y="f54"/>
                  <a:pt x="f55" y="f54"/>
                  <a:pt x="f56" y="f52"/>
                </a:cubicBezTo>
                <a:lnTo>
                  <a:pt x="f57" y="f58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02440" y="6109919"/>
            <a:ext cx="10941120" cy="224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Dowód komercyjny: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 i Flutter wygenerowały 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$570 milionów 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przychodu w Q4 2024.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90000"/>
                </a:srgbClr>
              </a:gs>
              <a:gs pos="50000">
                <a:srgbClr val="1F2937"/>
              </a:gs>
              <a:gs pos="100000">
                <a:srgbClr val="1F2937">
                  <a:alpha val="90000"/>
                </a:srgbClr>
              </a:gs>
            </a:gsLst>
            <a:lin ang="486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0880" y="1638360"/>
            <a:ext cx="1188720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03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2705039"/>
            <a:ext cx="11658600" cy="1714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Architektura aplikacji</a:t>
            </a:r>
            <a:endParaRPr lang="pl-PL" sz="4400" b="1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mobilnych</a:t>
            </a:r>
          </a:p>
        </p:txBody>
      </p:sp>
      <p:sp>
        <p:nvSpPr>
          <p:cNvPr id="5" name="Shape 3"/>
          <p:cNvSpPr/>
          <p:nvPr/>
        </p:nvSpPr>
        <p:spPr>
          <a:xfrm>
            <a:off x="380880" y="4648320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0880" y="491508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Struktura i wzorce architektoniczne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4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3.1 ARCHITEKTURA NATYWNA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Architektura aplikacji natywnych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1219320"/>
            <a:ext cx="68770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Struktura warstwowa</a:t>
            </a:r>
          </a:p>
        </p:txBody>
      </p:sp>
      <p:sp>
        <p:nvSpPr>
          <p:cNvPr id="5" name="Text 3"/>
          <p:cNvSpPr/>
          <p:nvPr/>
        </p:nvSpPr>
        <p:spPr>
          <a:xfrm>
            <a:off x="380880" y="1638360"/>
            <a:ext cx="6838920" cy="865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Aplikacje natywne komunikują się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bezpośrednio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z systemem operacyjnym przez natywne API i SDK platformy. Architektura jest zoptymalizowana pod konkretną platformę.</a:t>
            </a:r>
          </a:p>
        </p:txBody>
      </p:sp>
      <p:sp>
        <p:nvSpPr>
          <p:cNvPr id="6" name="Shape 4"/>
          <p:cNvSpPr/>
          <p:nvPr/>
        </p:nvSpPr>
        <p:spPr>
          <a:xfrm>
            <a:off x="438119" y="3356396"/>
            <a:ext cx="6743880" cy="835919"/>
          </a:xfrm>
          <a:custGeom>
            <a:avLst/>
            <a:gdLst>
              <a:gd name="f0" fmla="val w"/>
              <a:gd name="f1" fmla="val h"/>
              <a:gd name="f2" fmla="val 0"/>
              <a:gd name="f3" fmla="val 6743700"/>
              <a:gd name="f4" fmla="val 723900"/>
              <a:gd name="f5" fmla="*/ f0 1 67437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437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437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8119" y="3356396"/>
            <a:ext cx="38160" cy="835919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723900"/>
              <a:gd name="f5" fmla="*/ f0 1 381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840" y="3444597"/>
            <a:ext cx="304920" cy="352080"/>
          </a:xfrm>
          <a:custGeom>
            <a:avLst/>
            <a:gdLst>
              <a:gd name="f0" fmla="val w"/>
              <a:gd name="f1" fmla="val h"/>
              <a:gd name="f2" fmla="val 0"/>
              <a:gd name="f3" fmla="val 304800"/>
              <a:gd name="f4" fmla="val 38100"/>
              <a:gd name="f5" fmla="val 266700"/>
              <a:gd name="f6" fmla="val 287728"/>
              <a:gd name="f7" fmla="val 17072"/>
              <a:gd name="f8" fmla="*/ f0 1 304800"/>
              <a:gd name="f9" fmla="*/ f1 1 304800"/>
              <a:gd name="f10" fmla="val f2"/>
              <a:gd name="f11" fmla="val f3"/>
              <a:gd name="f12" fmla="+- f11 0 f10"/>
              <a:gd name="f13" fmla="*/ f12 1 3048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04800" h="3048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6360" y="3444597"/>
            <a:ext cx="371520" cy="352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</a:t>
            </a:r>
          </a:p>
        </p:txBody>
      </p:sp>
      <p:sp>
        <p:nvSpPr>
          <p:cNvPr id="10" name="Text 8"/>
          <p:cNvSpPr/>
          <p:nvPr/>
        </p:nvSpPr>
        <p:spPr>
          <a:xfrm>
            <a:off x="1028879" y="3436121"/>
            <a:ext cx="1153212" cy="308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UI </a:t>
            </a: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Layer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840" y="3798035"/>
            <a:ext cx="6331287" cy="33193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komponenty </a:t>
            </a:r>
            <a:r>
              <a:rPr lang="pl-PL" sz="1400" b="0" i="1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UI (</a:t>
            </a:r>
            <a:r>
              <a:rPr lang="pl-PL" sz="1400" b="0" i="1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UIKit</a:t>
            </a:r>
            <a:r>
              <a:rPr lang="pl-PL" sz="1400" b="0" i="1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/</a:t>
            </a:r>
            <a:r>
              <a:rPr lang="pl-PL" sz="1400" b="0" i="1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SwiftUI</a:t>
            </a:r>
            <a:r>
              <a:rPr lang="pl-PL" sz="1400" b="0" i="1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dla iOS, </a:t>
            </a:r>
            <a:r>
              <a:rPr lang="pl-PL" sz="1400" b="0" i="1" u="none" strike="noStrike" kern="1200" cap="none" spc="0" baseline="0" dirty="0" err="1" smtClean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Views</a:t>
            </a:r>
            <a:r>
              <a:rPr lang="pl-PL" sz="1400" b="0" i="1" u="none" strike="noStrike" kern="1200" cap="none" spc="0" baseline="0" dirty="0" smtClean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/</a:t>
            </a:r>
            <a:r>
              <a:rPr lang="pl-PL" sz="1400" b="0" i="1" u="none" strike="noStrike" kern="1200" cap="none" spc="0" baseline="0" dirty="0" err="1" smtClean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Jetpack</a:t>
            </a:r>
            <a:r>
              <a:rPr lang="pl-PL" sz="1400" b="0" i="1" u="none" strike="noStrike" kern="1200" cap="none" spc="0" baseline="0" dirty="0" smtClean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dla </a:t>
            </a:r>
            <a:r>
              <a:rPr lang="pl-PL" sz="1400" b="0" i="1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Android)</a:t>
            </a:r>
          </a:p>
        </p:txBody>
      </p:sp>
      <p:sp>
        <p:nvSpPr>
          <p:cNvPr id="12" name="Shape 10"/>
          <p:cNvSpPr/>
          <p:nvPr/>
        </p:nvSpPr>
        <p:spPr>
          <a:xfrm>
            <a:off x="438119" y="4311330"/>
            <a:ext cx="6743880" cy="836280"/>
          </a:xfrm>
          <a:custGeom>
            <a:avLst/>
            <a:gdLst>
              <a:gd name="f0" fmla="val w"/>
              <a:gd name="f1" fmla="val h"/>
              <a:gd name="f2" fmla="val 0"/>
              <a:gd name="f3" fmla="val 6743700"/>
              <a:gd name="f4" fmla="val 723900"/>
              <a:gd name="f5" fmla="*/ f0 1 67437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437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437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119" y="4280157"/>
            <a:ext cx="38160" cy="8362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723900"/>
              <a:gd name="f5" fmla="*/ f0 1 381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840" y="4368357"/>
            <a:ext cx="304920" cy="352080"/>
          </a:xfrm>
          <a:custGeom>
            <a:avLst/>
            <a:gdLst>
              <a:gd name="f0" fmla="val w"/>
              <a:gd name="f1" fmla="val h"/>
              <a:gd name="f2" fmla="val 0"/>
              <a:gd name="f3" fmla="val 304800"/>
              <a:gd name="f4" fmla="val 38100"/>
              <a:gd name="f5" fmla="val 266700"/>
              <a:gd name="f6" fmla="val 287728"/>
              <a:gd name="f7" fmla="val 17072"/>
              <a:gd name="f8" fmla="*/ f0 1 304800"/>
              <a:gd name="f9" fmla="*/ f1 1 304800"/>
              <a:gd name="f10" fmla="val f2"/>
              <a:gd name="f11" fmla="val f3"/>
              <a:gd name="f12" fmla="+- f11 0 f10"/>
              <a:gd name="f13" fmla="*/ f12 1 3048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04800" h="3048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6360" y="4368357"/>
            <a:ext cx="371520" cy="352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</a:t>
            </a:r>
          </a:p>
        </p:txBody>
      </p:sp>
      <p:sp>
        <p:nvSpPr>
          <p:cNvPr id="16" name="Text 14"/>
          <p:cNvSpPr/>
          <p:nvPr/>
        </p:nvSpPr>
        <p:spPr>
          <a:xfrm>
            <a:off x="1028879" y="4395881"/>
            <a:ext cx="2789280" cy="308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Business Logic Layer</a:t>
            </a:r>
          </a:p>
        </p:txBody>
      </p:sp>
      <p:sp>
        <p:nvSpPr>
          <p:cNvPr id="17" name="Text 15"/>
          <p:cNvSpPr/>
          <p:nvPr/>
        </p:nvSpPr>
        <p:spPr>
          <a:xfrm>
            <a:off x="609840" y="4754294"/>
            <a:ext cx="6648479" cy="263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Logika aplikacji, przetwarzanie danych, walidacja, zarządzanie stanem</a:t>
            </a:r>
          </a:p>
        </p:txBody>
      </p:sp>
      <p:sp>
        <p:nvSpPr>
          <p:cNvPr id="18" name="Shape 16"/>
          <p:cNvSpPr/>
          <p:nvPr/>
        </p:nvSpPr>
        <p:spPr>
          <a:xfrm>
            <a:off x="438119" y="5235778"/>
            <a:ext cx="6743880" cy="835919"/>
          </a:xfrm>
          <a:custGeom>
            <a:avLst/>
            <a:gdLst>
              <a:gd name="f0" fmla="val w"/>
              <a:gd name="f1" fmla="val h"/>
              <a:gd name="f2" fmla="val 0"/>
              <a:gd name="f3" fmla="val 6743700"/>
              <a:gd name="f4" fmla="val 723900"/>
              <a:gd name="f5" fmla="*/ f0 1 67437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437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437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38119" y="5204637"/>
            <a:ext cx="38160" cy="835919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723900"/>
              <a:gd name="f5" fmla="*/ f0 1 381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840" y="5292477"/>
            <a:ext cx="304920" cy="352440"/>
          </a:xfrm>
          <a:custGeom>
            <a:avLst/>
            <a:gdLst>
              <a:gd name="f0" fmla="val w"/>
              <a:gd name="f1" fmla="val h"/>
              <a:gd name="f2" fmla="val 0"/>
              <a:gd name="f3" fmla="val 304800"/>
              <a:gd name="f4" fmla="val 38100"/>
              <a:gd name="f5" fmla="val 266700"/>
              <a:gd name="f6" fmla="val 287728"/>
              <a:gd name="f7" fmla="val 17072"/>
              <a:gd name="f8" fmla="*/ f0 1 304800"/>
              <a:gd name="f9" fmla="*/ f1 1 304800"/>
              <a:gd name="f10" fmla="val f2"/>
              <a:gd name="f11" fmla="val f3"/>
              <a:gd name="f12" fmla="+- f11 0 f10"/>
              <a:gd name="f13" fmla="*/ f12 1 3048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04800" h="3048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360" y="5292477"/>
            <a:ext cx="371520" cy="352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</a:t>
            </a:r>
          </a:p>
        </p:txBody>
      </p:sp>
      <p:sp>
        <p:nvSpPr>
          <p:cNvPr id="22" name="Text 20"/>
          <p:cNvSpPr/>
          <p:nvPr/>
        </p:nvSpPr>
        <p:spPr>
          <a:xfrm>
            <a:off x="1028879" y="5320361"/>
            <a:ext cx="1671119" cy="30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Data </a:t>
            </a: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Layer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9840" y="5719454"/>
            <a:ext cx="6648479" cy="2642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Dostęp do baz danych, API sieciowe, lokalne przechowywanie, cache</a:t>
            </a:r>
          </a:p>
        </p:txBody>
      </p:sp>
      <p:sp>
        <p:nvSpPr>
          <p:cNvPr id="24" name="Shape 22"/>
          <p:cNvSpPr/>
          <p:nvPr/>
        </p:nvSpPr>
        <p:spPr>
          <a:xfrm>
            <a:off x="7376039" y="1219320"/>
            <a:ext cx="4438800" cy="2971800"/>
          </a:xfrm>
          <a:custGeom>
            <a:avLst/>
            <a:gdLst>
              <a:gd name="f0" fmla="val w"/>
              <a:gd name="f1" fmla="val h"/>
              <a:gd name="f2" fmla="val 0"/>
              <a:gd name="f3" fmla="val 4438650"/>
              <a:gd name="f4" fmla="val 2971800"/>
              <a:gd name="f5" fmla="*/ f0 1 4438650"/>
              <a:gd name="f6" fmla="*/ f1 1 2971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38650"/>
              <a:gd name="f13" fmla="*/ f10 1 2971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38650" h="2971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  <a:effectLst>
            <a:outerShdw blurRad="127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66840" y="1409759"/>
            <a:ext cx="415296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Wzorce architektoniczne</a:t>
            </a:r>
          </a:p>
        </p:txBody>
      </p:sp>
      <p:sp>
        <p:nvSpPr>
          <p:cNvPr id="26" name="Text 24"/>
          <p:cNvSpPr/>
          <p:nvPr/>
        </p:nvSpPr>
        <p:spPr>
          <a:xfrm>
            <a:off x="7566840" y="1828800"/>
            <a:ext cx="4133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MVC (Model-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View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-Controller)</a:t>
            </a:r>
          </a:p>
        </p:txBody>
      </p:sp>
      <p:sp>
        <p:nvSpPr>
          <p:cNvPr id="27" name="Text 25"/>
          <p:cNvSpPr/>
          <p:nvPr/>
        </p:nvSpPr>
        <p:spPr>
          <a:xfrm>
            <a:off x="7566840" y="2095560"/>
            <a:ext cx="412416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Tradycyjny wzorzec, szeroko stosowany w iOS</a:t>
            </a:r>
          </a:p>
        </p:txBody>
      </p:sp>
      <p:sp>
        <p:nvSpPr>
          <p:cNvPr id="28" name="Text 26"/>
          <p:cNvSpPr/>
          <p:nvPr/>
        </p:nvSpPr>
        <p:spPr>
          <a:xfrm>
            <a:off x="7566840" y="2400479"/>
            <a:ext cx="4133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MVP (Model-View-Presenter)</a:t>
            </a:r>
          </a:p>
        </p:txBody>
      </p:sp>
      <p:sp>
        <p:nvSpPr>
          <p:cNvPr id="29" name="Text 27"/>
          <p:cNvSpPr/>
          <p:nvPr/>
        </p:nvSpPr>
        <p:spPr>
          <a:xfrm>
            <a:off x="7566840" y="2666880"/>
            <a:ext cx="412416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Lepsza separacja, testowalność</a:t>
            </a:r>
          </a:p>
        </p:txBody>
      </p:sp>
      <p:sp>
        <p:nvSpPr>
          <p:cNvPr id="30" name="Text 28"/>
          <p:cNvSpPr/>
          <p:nvPr/>
        </p:nvSpPr>
        <p:spPr>
          <a:xfrm>
            <a:off x="7566840" y="2971800"/>
            <a:ext cx="4133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MVVM (Model-View-ViewModel)</a:t>
            </a:r>
          </a:p>
        </p:txBody>
      </p:sp>
      <p:sp>
        <p:nvSpPr>
          <p:cNvPr id="31" name="Text 29"/>
          <p:cNvSpPr/>
          <p:nvPr/>
        </p:nvSpPr>
        <p:spPr>
          <a:xfrm>
            <a:off x="7566840" y="3238560"/>
            <a:ext cx="412416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Reaktywne podejście, data binding</a:t>
            </a:r>
          </a:p>
        </p:txBody>
      </p:sp>
      <p:sp>
        <p:nvSpPr>
          <p:cNvPr id="32" name="Text 30"/>
          <p:cNvSpPr/>
          <p:nvPr/>
        </p:nvSpPr>
        <p:spPr>
          <a:xfrm>
            <a:off x="7566840" y="3543120"/>
            <a:ext cx="413388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VIPER (iOS) / MVI (Android)</a:t>
            </a:r>
          </a:p>
        </p:txBody>
      </p:sp>
      <p:sp>
        <p:nvSpPr>
          <p:cNvPr id="33" name="Text 31"/>
          <p:cNvSpPr/>
          <p:nvPr/>
        </p:nvSpPr>
        <p:spPr>
          <a:xfrm>
            <a:off x="7566840" y="3809880"/>
            <a:ext cx="412416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Zaawansowana separacja, jednokierunkowy przepływ danych</a:t>
            </a:r>
          </a:p>
        </p:txBody>
      </p:sp>
      <p:sp>
        <p:nvSpPr>
          <p:cNvPr id="34" name="Shape 32"/>
          <p:cNvSpPr/>
          <p:nvPr/>
        </p:nvSpPr>
        <p:spPr>
          <a:xfrm>
            <a:off x="7395119" y="4426528"/>
            <a:ext cx="38160" cy="171468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1714500"/>
              <a:gd name="f5" fmla="*/ f0 1 38100"/>
              <a:gd name="f6" fmla="*/ f1 1 1714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1714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1714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66840" y="4457880"/>
            <a:ext cx="433404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cechy</a:t>
            </a:r>
          </a:p>
        </p:txBody>
      </p:sp>
      <p:sp>
        <p:nvSpPr>
          <p:cNvPr id="36" name="Shape 34"/>
          <p:cNvSpPr/>
          <p:nvPr/>
        </p:nvSpPr>
        <p:spPr>
          <a:xfrm>
            <a:off x="7595280" y="4838760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33240" y="4800600"/>
            <a:ext cx="314675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Bezpośredni dostęp do sprzętu</a:t>
            </a:r>
          </a:p>
        </p:txBody>
      </p:sp>
      <p:sp>
        <p:nvSpPr>
          <p:cNvPr id="38" name="Shape 36"/>
          <p:cNvSpPr/>
          <p:nvPr/>
        </p:nvSpPr>
        <p:spPr>
          <a:xfrm>
            <a:off x="7595280" y="5143320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833240" y="5105520"/>
            <a:ext cx="30294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Optymalizacja pod platformę</a:t>
            </a:r>
          </a:p>
        </p:txBody>
      </p:sp>
      <p:sp>
        <p:nvSpPr>
          <p:cNvPr id="40" name="Shape 38"/>
          <p:cNvSpPr/>
          <p:nvPr/>
        </p:nvSpPr>
        <p:spPr>
          <a:xfrm>
            <a:off x="7595280" y="5448239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33240" y="5410079"/>
            <a:ext cx="314675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zarządzanie pamięcią</a:t>
            </a:r>
          </a:p>
        </p:txBody>
      </p:sp>
      <p:sp>
        <p:nvSpPr>
          <p:cNvPr id="42" name="Shape 40"/>
          <p:cNvSpPr/>
          <p:nvPr/>
        </p:nvSpPr>
        <p:spPr>
          <a:xfrm>
            <a:off x="7595280" y="5753160"/>
            <a:ext cx="133200" cy="152280"/>
          </a:xfrm>
          <a:custGeom>
            <a:avLst/>
            <a:gdLst>
              <a:gd name="f0" fmla="val w"/>
              <a:gd name="f1" fmla="val h"/>
              <a:gd name="f2" fmla="val 0"/>
              <a:gd name="f3" fmla="val 133350"/>
              <a:gd name="f4" fmla="val 152400"/>
              <a:gd name="f5" fmla="val 129421"/>
              <a:gd name="f6" fmla="val 20866"/>
              <a:gd name="f7" fmla="val 133677"/>
              <a:gd name="f8" fmla="val 23961"/>
              <a:gd name="f9" fmla="val 134630"/>
              <a:gd name="f10" fmla="val 29914"/>
              <a:gd name="f11" fmla="val 131534"/>
              <a:gd name="f12" fmla="val 34171"/>
              <a:gd name="f13" fmla="val 55334"/>
              <a:gd name="f14" fmla="val 138946"/>
              <a:gd name="f15" fmla="val 53697"/>
              <a:gd name="f16" fmla="val 141208"/>
              <a:gd name="f17" fmla="val 51167"/>
              <a:gd name="f18" fmla="val 142607"/>
              <a:gd name="f19" fmla="val 48369"/>
              <a:gd name="f20" fmla="val 142845"/>
              <a:gd name="f21" fmla="val 45571"/>
              <a:gd name="f22" fmla="val 143083"/>
              <a:gd name="f23" fmla="val 42863"/>
              <a:gd name="f24" fmla="val 142042"/>
              <a:gd name="f25" fmla="val 40898"/>
              <a:gd name="f26" fmla="val 140077"/>
              <a:gd name="f27" fmla="val 2798"/>
              <a:gd name="f28" fmla="val 101977"/>
              <a:gd name="f29" fmla="val -923"/>
              <a:gd name="f30" fmla="val 98256"/>
              <a:gd name="f31" fmla="val 92214"/>
              <a:gd name="f32" fmla="val 88493"/>
              <a:gd name="f33" fmla="val 6519"/>
              <a:gd name="f34" fmla="val 84773"/>
              <a:gd name="f35" fmla="val 12561"/>
              <a:gd name="f36" fmla="val 16282"/>
              <a:gd name="f37" fmla="val 46494"/>
              <a:gd name="f38" fmla="val 118705"/>
              <a:gd name="f39" fmla="val 116145"/>
              <a:gd name="f40" fmla="val 22949"/>
              <a:gd name="f41" fmla="val 119241"/>
              <a:gd name="f42" fmla="val 18693"/>
              <a:gd name="f43" fmla="val 125194"/>
              <a:gd name="f44" fmla="val 17740"/>
              <a:gd name="f45" fmla="val 129451"/>
              <a:gd name="f46" fmla="val 20836"/>
              <a:gd name="f47" fmla="*/ f0 1 133350"/>
              <a:gd name="f48" fmla="*/ f1 1 152400"/>
              <a:gd name="f49" fmla="val f2"/>
              <a:gd name="f50" fmla="val f3"/>
              <a:gd name="f51" fmla="val f4"/>
              <a:gd name="f52" fmla="+- f51 0 f49"/>
              <a:gd name="f53" fmla="+- f50 0 f49"/>
              <a:gd name="f54" fmla="*/ f53 1 133350"/>
              <a:gd name="f55" fmla="*/ f52 1 152400"/>
              <a:gd name="f56" fmla="*/ f49 1 f54"/>
              <a:gd name="f57" fmla="*/ f50 1 f54"/>
              <a:gd name="f58" fmla="*/ f49 1 f55"/>
              <a:gd name="f59" fmla="*/ f51 1 f55"/>
              <a:gd name="f60" fmla="*/ f56 f47 1"/>
              <a:gd name="f61" fmla="*/ f57 f47 1"/>
              <a:gd name="f62" fmla="*/ f59 f48 1"/>
              <a:gd name="f63" fmla="*/ f58 f4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60" t="f63" r="f61" b="f62"/>
            <a:pathLst>
              <a:path w="133350" h="152400">
                <a:moveTo>
                  <a:pt x="f5" y="f6"/>
                </a:moveTo>
                <a:cubicBezTo>
                  <a:pt x="f7" y="f8"/>
                  <a:pt x="f9" y="f10"/>
                  <a:pt x="f11" y="f12"/>
                </a:cubicBezTo>
                <a:lnTo>
                  <a:pt x="f13" y="f14"/>
                </a:ln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lnTo>
                  <a:pt x="f27" y="f28"/>
                </a:lnTo>
                <a:cubicBezTo>
                  <a:pt x="f29" y="f30"/>
                  <a:pt x="f29" y="f31"/>
                  <a:pt x="f27" y="f32"/>
                </a:cubicBezTo>
                <a:cubicBezTo>
                  <a:pt x="f33" y="f34"/>
                  <a:pt x="f35" y="f34"/>
                  <a:pt x="f36" y="f32"/>
                </a:cubicBezTo>
                <a:lnTo>
                  <a:pt x="f37" y="f38"/>
                </a:lnTo>
                <a:lnTo>
                  <a:pt x="f39" y="f40"/>
                </a:lnTo>
                <a:cubicBezTo>
                  <a:pt x="f41" y="f42"/>
                  <a:pt x="f43" y="f44"/>
                  <a:pt x="f45" y="f46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833240" y="5715000"/>
            <a:ext cx="292715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Pełna kontrola nad wątkami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00" y="379800"/>
            <a:ext cx="11498760" cy="19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1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3.2 ARCHITEKTURA CROSS-PLATFORM</a:t>
            </a:r>
          </a:p>
        </p:txBody>
      </p:sp>
      <p:sp>
        <p:nvSpPr>
          <p:cNvPr id="3" name="Text 1"/>
          <p:cNvSpPr/>
          <p:nvPr/>
        </p:nvSpPr>
        <p:spPr>
          <a:xfrm>
            <a:off x="379800" y="645840"/>
            <a:ext cx="11603160" cy="379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Architektura aplikacji cross-platformowych</a:t>
            </a:r>
          </a:p>
        </p:txBody>
      </p:sp>
      <p:sp>
        <p:nvSpPr>
          <p:cNvPr id="4" name="Text 2"/>
          <p:cNvSpPr/>
          <p:nvPr/>
        </p:nvSpPr>
        <p:spPr>
          <a:xfrm>
            <a:off x="379800" y="1215359"/>
            <a:ext cx="5716080" cy="303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 Architecture</a:t>
            </a:r>
          </a:p>
        </p:txBody>
      </p:sp>
      <p:sp>
        <p:nvSpPr>
          <p:cNvPr id="5" name="Shape 3"/>
          <p:cNvSpPr/>
          <p:nvPr/>
        </p:nvSpPr>
        <p:spPr>
          <a:xfrm>
            <a:off x="398880" y="1633320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12700"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8880" y="163332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9880" y="1699626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JavaScript </a:t>
            </a: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Thread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9880" y="1972292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Wykonuje kod JS, zarządza logiką aplikacji</a:t>
            </a:r>
          </a:p>
        </p:txBody>
      </p:sp>
      <p:sp>
        <p:nvSpPr>
          <p:cNvPr id="9" name="Shape 7"/>
          <p:cNvSpPr/>
          <p:nvPr/>
        </p:nvSpPr>
        <p:spPr>
          <a:xfrm>
            <a:off x="398880" y="2430720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8880" y="243072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9880" y="2497026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Bridge (Mostek)</a:t>
            </a:r>
          </a:p>
        </p:txBody>
      </p:sp>
      <p:sp>
        <p:nvSpPr>
          <p:cNvPr id="12" name="Text 10"/>
          <p:cNvSpPr/>
          <p:nvPr/>
        </p:nvSpPr>
        <p:spPr>
          <a:xfrm>
            <a:off x="569880" y="2769692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Komunikacja asynchroniczna między JS a natywnymi modułami</a:t>
            </a:r>
          </a:p>
        </p:txBody>
      </p:sp>
      <p:sp>
        <p:nvSpPr>
          <p:cNvPr id="13" name="Shape 11"/>
          <p:cNvSpPr/>
          <p:nvPr/>
        </p:nvSpPr>
        <p:spPr>
          <a:xfrm>
            <a:off x="398880" y="3228480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12700"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8880" y="322848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9880" y="3294786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Native Modules</a:t>
            </a:r>
          </a:p>
        </p:txBody>
      </p:sp>
      <p:sp>
        <p:nvSpPr>
          <p:cNvPr id="16" name="Text 14"/>
          <p:cNvSpPr/>
          <p:nvPr/>
        </p:nvSpPr>
        <p:spPr>
          <a:xfrm>
            <a:off x="569880" y="3567453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komponenty UI i API platformy</a:t>
            </a:r>
          </a:p>
        </p:txBody>
      </p:sp>
      <p:sp>
        <p:nvSpPr>
          <p:cNvPr id="17" name="Shape 15"/>
          <p:cNvSpPr/>
          <p:nvPr/>
        </p:nvSpPr>
        <p:spPr>
          <a:xfrm>
            <a:off x="398880" y="4025880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12700"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98880" y="402588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9880" y="4092185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Shadow Thread</a:t>
            </a:r>
          </a:p>
        </p:txBody>
      </p:sp>
      <p:sp>
        <p:nvSpPr>
          <p:cNvPr id="20" name="Text 18"/>
          <p:cNvSpPr/>
          <p:nvPr/>
        </p:nvSpPr>
        <p:spPr>
          <a:xfrm>
            <a:off x="569880" y="4364852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Obliczenia layoutu (Yoga engine)</a:t>
            </a:r>
          </a:p>
        </p:txBody>
      </p:sp>
      <p:sp>
        <p:nvSpPr>
          <p:cNvPr id="21" name="Text 19"/>
          <p:cNvSpPr/>
          <p:nvPr/>
        </p:nvSpPr>
        <p:spPr>
          <a:xfrm>
            <a:off x="415800" y="4823640"/>
            <a:ext cx="5668559" cy="19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Nowa architektura:</a:t>
            </a: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Fabric (renderer), TurboModules, JSI - eliminują mostek</a:t>
            </a:r>
          </a:p>
        </p:txBody>
      </p:sp>
      <p:sp>
        <p:nvSpPr>
          <p:cNvPr id="22" name="Text 20"/>
          <p:cNvSpPr/>
          <p:nvPr/>
        </p:nvSpPr>
        <p:spPr>
          <a:xfrm>
            <a:off x="6207840" y="1215359"/>
            <a:ext cx="5716080" cy="303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 Architecture</a:t>
            </a:r>
          </a:p>
        </p:txBody>
      </p:sp>
      <p:sp>
        <p:nvSpPr>
          <p:cNvPr id="23" name="Shape 21"/>
          <p:cNvSpPr/>
          <p:nvPr/>
        </p:nvSpPr>
        <p:spPr>
          <a:xfrm>
            <a:off x="6226920" y="1633320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12700"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26920" y="163332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97919" y="1699626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Layer (Dart)</a:t>
            </a:r>
          </a:p>
        </p:txBody>
      </p:sp>
      <p:sp>
        <p:nvSpPr>
          <p:cNvPr id="26" name="Text 24"/>
          <p:cNvSpPr/>
          <p:nvPr/>
        </p:nvSpPr>
        <p:spPr>
          <a:xfrm>
            <a:off x="6397919" y="1972292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Widgety, Material/Cupertino, gesty, animacje</a:t>
            </a:r>
          </a:p>
        </p:txBody>
      </p:sp>
      <p:sp>
        <p:nvSpPr>
          <p:cNvPr id="27" name="Shape 25"/>
          <p:cNvSpPr/>
          <p:nvPr/>
        </p:nvSpPr>
        <p:spPr>
          <a:xfrm>
            <a:off x="6226920" y="2431457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12700"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26920" y="243072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97919" y="2497026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Engine Layer (C++)</a:t>
            </a:r>
          </a:p>
        </p:txBody>
      </p:sp>
      <p:sp>
        <p:nvSpPr>
          <p:cNvPr id="30" name="Text 28"/>
          <p:cNvSpPr/>
          <p:nvPr/>
        </p:nvSpPr>
        <p:spPr>
          <a:xfrm>
            <a:off x="6397919" y="2769692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Skia (rendering), Dart VM, text rendering</a:t>
            </a:r>
          </a:p>
        </p:txBody>
      </p:sp>
      <p:sp>
        <p:nvSpPr>
          <p:cNvPr id="31" name="Shape 29"/>
          <p:cNvSpPr/>
          <p:nvPr/>
        </p:nvSpPr>
        <p:spPr>
          <a:xfrm>
            <a:off x="6226920" y="3228480"/>
            <a:ext cx="558324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5583252"/>
              <a:gd name="f4" fmla="val 683664"/>
              <a:gd name="f5" fmla="*/ f0 1 5583252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3252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3252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12700"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26920" y="3228480"/>
            <a:ext cx="38160" cy="68364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683664"/>
              <a:gd name="f5" fmla="*/ f0 1 37981"/>
              <a:gd name="f6" fmla="*/ f1 1 68366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68366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68366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97919" y="3294786"/>
            <a:ext cx="5011299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Embedder Layer</a:t>
            </a:r>
          </a:p>
        </p:txBody>
      </p:sp>
      <p:sp>
        <p:nvSpPr>
          <p:cNvPr id="34" name="Text 32"/>
          <p:cNvSpPr/>
          <p:nvPr/>
        </p:nvSpPr>
        <p:spPr>
          <a:xfrm>
            <a:off x="6397919" y="3567453"/>
            <a:ext cx="5488200" cy="227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Integracja z platformą, natywne API</a:t>
            </a:r>
          </a:p>
        </p:txBody>
      </p:sp>
      <p:sp>
        <p:nvSpPr>
          <p:cNvPr id="35" name="Text 33"/>
          <p:cNvSpPr/>
          <p:nvPr/>
        </p:nvSpPr>
        <p:spPr>
          <a:xfrm>
            <a:off x="6207840" y="4025880"/>
            <a:ext cx="5668559" cy="19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Kompilacja AOT:</a:t>
            </a: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Kod Dart kompilowany bezpośrednio do kodu maszynowego</a:t>
            </a:r>
          </a:p>
        </p:txBody>
      </p:sp>
      <p:sp>
        <p:nvSpPr>
          <p:cNvPr id="36" name="Shape 34"/>
          <p:cNvSpPr/>
          <p:nvPr/>
        </p:nvSpPr>
        <p:spPr>
          <a:xfrm>
            <a:off x="398880" y="5279581"/>
            <a:ext cx="38160" cy="131040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1310355"/>
              <a:gd name="f5" fmla="*/ f0 1 37981"/>
              <a:gd name="f6" fmla="*/ f1 1 131035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131035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131035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9880" y="5279400"/>
            <a:ext cx="5497920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Warstwa abstrakcji</a:t>
            </a:r>
          </a:p>
        </p:txBody>
      </p:sp>
      <p:sp>
        <p:nvSpPr>
          <p:cNvPr id="38" name="Text 36"/>
          <p:cNvSpPr/>
          <p:nvPr/>
        </p:nvSpPr>
        <p:spPr>
          <a:xfrm>
            <a:off x="569880" y="5585400"/>
            <a:ext cx="5488200" cy="890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cross-platformowe tworzą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warstwę abstrakcji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między kodem aplikacji a systemem operacyjnym. Tłumaczą wywołania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frameworka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 natywne API platformy.</a:t>
            </a:r>
          </a:p>
        </p:txBody>
      </p:sp>
      <p:sp>
        <p:nvSpPr>
          <p:cNvPr id="39" name="Shape 37"/>
          <p:cNvSpPr/>
          <p:nvPr/>
        </p:nvSpPr>
        <p:spPr>
          <a:xfrm>
            <a:off x="6226920" y="5238017"/>
            <a:ext cx="38160" cy="1310400"/>
          </a:xfrm>
          <a:custGeom>
            <a:avLst/>
            <a:gdLst>
              <a:gd name="f0" fmla="val w"/>
              <a:gd name="f1" fmla="val h"/>
              <a:gd name="f2" fmla="val 0"/>
              <a:gd name="f3" fmla="val 37981"/>
              <a:gd name="f4" fmla="val 1310355"/>
              <a:gd name="f5" fmla="*/ f0 1 37981"/>
              <a:gd name="f6" fmla="*/ f1 1 131035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7981"/>
              <a:gd name="f13" fmla="*/ f10 1 131035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981" h="131035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97919" y="5279400"/>
            <a:ext cx="5497920" cy="2660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Kluczowa różnica</a:t>
            </a:r>
          </a:p>
        </p:txBody>
      </p:sp>
      <p:sp>
        <p:nvSpPr>
          <p:cNvPr id="41" name="Text 39"/>
          <p:cNvSpPr/>
          <p:nvPr/>
        </p:nvSpPr>
        <p:spPr>
          <a:xfrm>
            <a:off x="6397919" y="5677920"/>
            <a:ext cx="5488200" cy="493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Native: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Mostek JS-Native (asynchroniczny)</a:t>
            </a:r>
          </a:p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Flutter: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Bezpośrednia kompilacja, własny silnik renderujący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23b53e779034743c79cea5840ca0effb630b7744.pn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4358" b="4358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2209680"/>
            <a:ext cx="2611702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04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3276720"/>
            <a:ext cx="11658600" cy="571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</a:t>
            </a:r>
          </a:p>
        </p:txBody>
      </p:sp>
      <p:sp>
        <p:nvSpPr>
          <p:cNvPr id="6" name="Shape 3"/>
          <p:cNvSpPr/>
          <p:nvPr/>
        </p:nvSpPr>
        <p:spPr>
          <a:xfrm>
            <a:off x="380880" y="4076640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34340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Meta do tworzenia natywnych aplikacji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880" b="0" i="0" u="none" strike="noStrike" kern="0" cap="none" spc="45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4.1 PODSTAWY</a:t>
            </a:r>
          </a:p>
        </p:txBody>
      </p:sp>
      <p:sp>
        <p:nvSpPr>
          <p:cNvPr id="3" name="Text 1"/>
          <p:cNvSpPr/>
          <p:nvPr/>
        </p:nvSpPr>
        <p:spPr>
          <a:xfrm>
            <a:off x="317520" y="539640"/>
            <a:ext cx="4836371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Podstawy </a:t>
            </a:r>
            <a:r>
              <a:rPr lang="pl-PL" sz="2800" b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28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Native</a:t>
            </a:r>
            <a:endParaRPr lang="pl-PL" sz="28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</a:t>
            </a: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Native?</a:t>
            </a:r>
          </a:p>
        </p:txBody>
      </p:sp>
      <p:sp>
        <p:nvSpPr>
          <p:cNvPr id="5" name="Text 3"/>
          <p:cNvSpPr/>
          <p:nvPr/>
        </p:nvSpPr>
        <p:spPr>
          <a:xfrm>
            <a:off x="317520" y="1640782"/>
            <a:ext cx="6654780" cy="720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stworzony przez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Meta (Facebook</a:t>
            </a:r>
            <a:r>
              <a:rPr lang="pl-PL" sz="14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)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umożliwiający tworzenie natywnych aplikacji mobilnych przy użyciu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JavaScript/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TypeScript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317520" y="2413080"/>
            <a:ext cx="6654780" cy="93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Zasada działania: komponenty JavaScript komunikują się z natywnymi modułami przez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mostek (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bridge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)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, który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serializuje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i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deserializuje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dane między światem JS, a natywnym.</a:t>
            </a:r>
          </a:p>
        </p:txBody>
      </p:sp>
      <p:sp>
        <p:nvSpPr>
          <p:cNvPr id="7" name="Text 5"/>
          <p:cNvSpPr/>
          <p:nvPr/>
        </p:nvSpPr>
        <p:spPr>
          <a:xfrm>
            <a:off x="317520" y="3925080"/>
            <a:ext cx="693720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cechy</a:t>
            </a:r>
          </a:p>
        </p:txBody>
      </p:sp>
      <p:sp>
        <p:nvSpPr>
          <p:cNvPr id="8" name="Shape 6"/>
          <p:cNvSpPr/>
          <p:nvPr/>
        </p:nvSpPr>
        <p:spPr>
          <a:xfrm>
            <a:off x="333360" y="4278600"/>
            <a:ext cx="336564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360" y="4278600"/>
            <a:ext cx="3168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4599" y="4321915"/>
            <a:ext cx="331775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Reużywalność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kodu</a:t>
            </a:r>
          </a:p>
        </p:txBody>
      </p:sp>
      <p:sp>
        <p:nvSpPr>
          <p:cNvPr id="11" name="Text 9"/>
          <p:cNvSpPr/>
          <p:nvPr/>
        </p:nvSpPr>
        <p:spPr>
          <a:xfrm>
            <a:off x="444599" y="4564080"/>
            <a:ext cx="3309839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70-90% wspólnego kodu</a:t>
            </a:r>
          </a:p>
        </p:txBody>
      </p:sp>
      <p:sp>
        <p:nvSpPr>
          <p:cNvPr id="12" name="Shape 10"/>
          <p:cNvSpPr/>
          <p:nvPr/>
        </p:nvSpPr>
        <p:spPr>
          <a:xfrm>
            <a:off x="3809880" y="4278600"/>
            <a:ext cx="336564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09880" y="4278600"/>
            <a:ext cx="3168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21120" y="4321915"/>
            <a:ext cx="331775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Hot Reload</a:t>
            </a:r>
          </a:p>
        </p:txBody>
      </p:sp>
      <p:sp>
        <p:nvSpPr>
          <p:cNvPr id="15" name="Text 13"/>
          <p:cNvSpPr/>
          <p:nvPr/>
        </p:nvSpPr>
        <p:spPr>
          <a:xfrm>
            <a:off x="3921120" y="4564080"/>
            <a:ext cx="3309839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Błyskawiczne odświeżanie</a:t>
            </a:r>
          </a:p>
        </p:txBody>
      </p:sp>
      <p:sp>
        <p:nvSpPr>
          <p:cNvPr id="16" name="Shape 14"/>
          <p:cNvSpPr/>
          <p:nvPr/>
        </p:nvSpPr>
        <p:spPr>
          <a:xfrm>
            <a:off x="333360" y="4881600"/>
            <a:ext cx="336564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3360" y="4881600"/>
            <a:ext cx="3168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4599" y="4925275"/>
            <a:ext cx="331775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komponenty</a:t>
            </a:r>
          </a:p>
        </p:txBody>
      </p:sp>
      <p:sp>
        <p:nvSpPr>
          <p:cNvPr id="19" name="Text 17"/>
          <p:cNvSpPr/>
          <p:nvPr/>
        </p:nvSpPr>
        <p:spPr>
          <a:xfrm>
            <a:off x="444599" y="5167440"/>
            <a:ext cx="3309839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Prawdziwe natywne UI</a:t>
            </a:r>
          </a:p>
        </p:txBody>
      </p:sp>
      <p:sp>
        <p:nvSpPr>
          <p:cNvPr id="20" name="Shape 18"/>
          <p:cNvSpPr/>
          <p:nvPr/>
        </p:nvSpPr>
        <p:spPr>
          <a:xfrm>
            <a:off x="3809880" y="4881600"/>
            <a:ext cx="336564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09880" y="4881600"/>
            <a:ext cx="31680" cy="507959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21120" y="4925275"/>
            <a:ext cx="331775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Ekosystem npm</a:t>
            </a:r>
          </a:p>
        </p:txBody>
      </p:sp>
      <p:sp>
        <p:nvSpPr>
          <p:cNvPr id="23" name="Text 21"/>
          <p:cNvSpPr/>
          <p:nvPr/>
        </p:nvSpPr>
        <p:spPr>
          <a:xfrm>
            <a:off x="3921120" y="5167440"/>
            <a:ext cx="3309839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2M+ pakietów</a:t>
            </a:r>
          </a:p>
        </p:txBody>
      </p:sp>
      <p:sp>
        <p:nvSpPr>
          <p:cNvPr id="24" name="Shape 22"/>
          <p:cNvSpPr/>
          <p:nvPr/>
        </p:nvSpPr>
        <p:spPr>
          <a:xfrm>
            <a:off x="333360" y="5547813"/>
            <a:ext cx="31680" cy="69840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698500"/>
              <a:gd name="f5" fmla="*/ f0 1 31750"/>
              <a:gd name="f6" fmla="*/ f1 1 698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698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698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6280" y="5571213"/>
            <a:ext cx="6770520" cy="147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Popularne aplikacje</a:t>
            </a:r>
          </a:p>
        </p:txBody>
      </p:sp>
      <p:grpSp>
        <p:nvGrpSpPr>
          <p:cNvPr id="26" name="Grupa 25"/>
          <p:cNvGrpSpPr/>
          <p:nvPr/>
        </p:nvGrpSpPr>
        <p:grpSpPr>
          <a:xfrm>
            <a:off x="476280" y="5897880"/>
            <a:ext cx="4023720" cy="348333"/>
            <a:chOff x="476280" y="5897880"/>
            <a:chExt cx="4023720" cy="402120"/>
          </a:xfrm>
        </p:grpSpPr>
        <p:sp>
          <p:nvSpPr>
            <p:cNvPr id="27" name="Shape 24"/>
            <p:cNvSpPr/>
            <p:nvPr/>
          </p:nvSpPr>
          <p:spPr>
            <a:xfrm>
              <a:off x="476280" y="5897880"/>
              <a:ext cx="792720" cy="4021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50875"/>
                <a:gd name="f4" fmla="val 222250"/>
                <a:gd name="f5" fmla="val 31751"/>
                <a:gd name="f6" fmla="val 619124"/>
                <a:gd name="f7" fmla="val 63666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65087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65087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65087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476280" y="5897880"/>
              <a:ext cx="860399" cy="402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Facebook</a:t>
              </a:r>
            </a:p>
          </p:txBody>
        </p:sp>
        <p:sp>
          <p:nvSpPr>
            <p:cNvPr id="29" name="Shape 26"/>
            <p:cNvSpPr/>
            <p:nvPr/>
          </p:nvSpPr>
          <p:spPr>
            <a:xfrm>
              <a:off x="1342800" y="5897880"/>
              <a:ext cx="811800" cy="4021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66750"/>
                <a:gd name="f4" fmla="val 222250"/>
                <a:gd name="f5" fmla="val 31751"/>
                <a:gd name="f6" fmla="val 634999"/>
                <a:gd name="f7" fmla="val 6525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6667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6667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6667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1342800" y="5897880"/>
              <a:ext cx="879480" cy="402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Instagram</a:t>
              </a:r>
            </a:p>
          </p:txBody>
        </p:sp>
        <p:sp>
          <p:nvSpPr>
            <p:cNvPr id="31" name="Shape 28"/>
            <p:cNvSpPr/>
            <p:nvPr/>
          </p:nvSpPr>
          <p:spPr>
            <a:xfrm>
              <a:off x="2229119" y="5897880"/>
              <a:ext cx="657360" cy="4021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39750"/>
                <a:gd name="f4" fmla="val 222250"/>
                <a:gd name="f5" fmla="val 31751"/>
                <a:gd name="f6" fmla="val 507999"/>
                <a:gd name="f7" fmla="val 5255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5397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5397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5397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2" name="Text 29"/>
            <p:cNvSpPr/>
            <p:nvPr/>
          </p:nvSpPr>
          <p:spPr>
            <a:xfrm>
              <a:off x="2229119" y="5897880"/>
              <a:ext cx="725399" cy="402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Airbnb</a:t>
              </a:r>
            </a:p>
          </p:txBody>
        </p:sp>
        <p:sp>
          <p:nvSpPr>
            <p:cNvPr id="33" name="Shape 30"/>
            <p:cNvSpPr/>
            <p:nvPr/>
          </p:nvSpPr>
          <p:spPr>
            <a:xfrm>
              <a:off x="2965679" y="5897880"/>
              <a:ext cx="696599" cy="4021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71500"/>
                <a:gd name="f4" fmla="val 222250"/>
                <a:gd name="f5" fmla="val 31751"/>
                <a:gd name="f6" fmla="val 539749"/>
                <a:gd name="f7" fmla="val 55728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57150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57150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57150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4" name="Text 31"/>
            <p:cNvSpPr/>
            <p:nvPr/>
          </p:nvSpPr>
          <p:spPr>
            <a:xfrm>
              <a:off x="2965679" y="5897880"/>
              <a:ext cx="763920" cy="402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Discord</a:t>
              </a:r>
            </a:p>
          </p:txBody>
        </p:sp>
        <p:sp>
          <p:nvSpPr>
            <p:cNvPr id="35" name="Shape 32"/>
            <p:cNvSpPr/>
            <p:nvPr/>
          </p:nvSpPr>
          <p:spPr>
            <a:xfrm>
              <a:off x="3736080" y="5897880"/>
              <a:ext cx="696240" cy="4021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71500"/>
                <a:gd name="f4" fmla="val 222250"/>
                <a:gd name="f5" fmla="val 31751"/>
                <a:gd name="f6" fmla="val 539749"/>
                <a:gd name="f7" fmla="val 55728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57150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57150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57150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3736080" y="5897880"/>
              <a:ext cx="763920" cy="402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Shopify</a:t>
              </a:r>
            </a:p>
          </p:txBody>
        </p:sp>
      </p:grpSp>
      <p:sp>
        <p:nvSpPr>
          <p:cNvPr id="37" name="Shape 34"/>
          <p:cNvSpPr/>
          <p:nvPr/>
        </p:nvSpPr>
        <p:spPr>
          <a:xfrm>
            <a:off x="7365959" y="1015919"/>
            <a:ext cx="4508640" cy="1968480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1968500"/>
              <a:gd name="f5" fmla="*/ f0 1 4508500"/>
              <a:gd name="f6" fmla="*/ f1 1 1968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1968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1968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524719" y="1174680"/>
            <a:ext cx="427032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250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 (2025)</a:t>
            </a:r>
          </a:p>
        </p:txBody>
      </p:sp>
      <p:sp>
        <p:nvSpPr>
          <p:cNvPr id="39" name="Text 36"/>
          <p:cNvSpPr/>
          <p:nvPr/>
        </p:nvSpPr>
        <p:spPr>
          <a:xfrm>
            <a:off x="7524719" y="1549439"/>
            <a:ext cx="17146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rynku cross-platform</a:t>
            </a:r>
          </a:p>
        </p:txBody>
      </p:sp>
      <p:sp>
        <p:nvSpPr>
          <p:cNvPr id="40" name="Text 37"/>
          <p:cNvSpPr/>
          <p:nvPr/>
        </p:nvSpPr>
        <p:spPr>
          <a:xfrm>
            <a:off x="11464920" y="1523880"/>
            <a:ext cx="33336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250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35%</a:t>
            </a:r>
          </a:p>
        </p:txBody>
      </p:sp>
      <p:sp>
        <p:nvSpPr>
          <p:cNvPr id="41" name="Text 38"/>
          <p:cNvSpPr/>
          <p:nvPr/>
        </p:nvSpPr>
        <p:spPr>
          <a:xfrm>
            <a:off x="7524719" y="1898640"/>
            <a:ext cx="157175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Deweloperzy używający RN</a:t>
            </a:r>
          </a:p>
        </p:txBody>
      </p:sp>
      <p:sp>
        <p:nvSpPr>
          <p:cNvPr id="42" name="Text 39"/>
          <p:cNvSpPr/>
          <p:nvPr/>
        </p:nvSpPr>
        <p:spPr>
          <a:xfrm>
            <a:off x="11445120" y="1873080"/>
            <a:ext cx="34920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250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32%</a:t>
            </a:r>
          </a:p>
        </p:txBody>
      </p:sp>
      <p:sp>
        <p:nvSpPr>
          <p:cNvPr id="43" name="Text 40"/>
          <p:cNvSpPr/>
          <p:nvPr/>
        </p:nvSpPr>
        <p:spPr>
          <a:xfrm>
            <a:off x="7524719" y="2247840"/>
            <a:ext cx="11034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Wartość rynku RN</a:t>
            </a:r>
          </a:p>
        </p:txBody>
      </p:sp>
      <p:sp>
        <p:nvSpPr>
          <p:cNvPr id="44" name="Text 41"/>
          <p:cNvSpPr/>
          <p:nvPr/>
        </p:nvSpPr>
        <p:spPr>
          <a:xfrm>
            <a:off x="11266200" y="2222640"/>
            <a:ext cx="53172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250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$350M</a:t>
            </a:r>
          </a:p>
        </p:txBody>
      </p:sp>
      <p:sp>
        <p:nvSpPr>
          <p:cNvPr id="45" name="Text 42"/>
          <p:cNvSpPr/>
          <p:nvPr/>
        </p:nvSpPr>
        <p:spPr>
          <a:xfrm>
            <a:off x="7524719" y="2597040"/>
            <a:ext cx="770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GitHub stars</a:t>
            </a:r>
          </a:p>
        </p:txBody>
      </p:sp>
      <p:sp>
        <p:nvSpPr>
          <p:cNvPr id="46" name="Text 43"/>
          <p:cNvSpPr/>
          <p:nvPr/>
        </p:nvSpPr>
        <p:spPr>
          <a:xfrm>
            <a:off x="11403720" y="2571839"/>
            <a:ext cx="38880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250" b="1" i="0" u="none" strike="noStrike" kern="1200" cap="none" spc="0" baseline="0">
                <a:ln>
                  <a:noFill/>
                </a:ln>
                <a:solidFill>
                  <a:srgbClr val="FFEBD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120k</a:t>
            </a:r>
          </a:p>
        </p:txBody>
      </p:sp>
      <p:sp>
        <p:nvSpPr>
          <p:cNvPr id="47" name="Shape 44"/>
          <p:cNvSpPr/>
          <p:nvPr/>
        </p:nvSpPr>
        <p:spPr>
          <a:xfrm>
            <a:off x="7372440" y="3117960"/>
            <a:ext cx="4497480" cy="3600360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3600450"/>
              <a:gd name="f5" fmla="*/ f0 1 4497387"/>
              <a:gd name="f6" fmla="*/ f1 1 36004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36004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36004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505640" y="3143159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49" name="Text 46"/>
          <p:cNvSpPr/>
          <p:nvPr/>
        </p:nvSpPr>
        <p:spPr>
          <a:xfrm>
            <a:off x="7505640" y="3413159"/>
            <a:ext cx="4194360" cy="322663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import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React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from '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react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';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import {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View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,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Text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,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StyleSheet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} from '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react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-native';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endParaRPr lang="pl-PL" sz="13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MiSans" pitchFamily="34"/>
              <a:ea typeface="MiSans" pitchFamily="34"/>
              <a:cs typeface="MiSans" pitchFamily="34"/>
            </a:endParaRP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const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App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= () =&gt; {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return (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&lt;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View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style={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styles.container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}&gt;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  &lt;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Text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&gt;Hello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React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Native!&lt;/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Text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&gt;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&lt;/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View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&gt;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);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};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const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styles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=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StyleSheet.create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({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container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: {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flex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: 1,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justifyContent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: '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center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',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alignItems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: '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center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',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},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});</a:t>
            </a:r>
          </a:p>
          <a:p>
            <a:pPr marL="0" marR="0" lvl="0" indent="0" rtl="0" hangingPunct="0">
              <a:lnSpc>
                <a:spcPts val="1417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latin typeface="Console"/>
                <a:ea typeface="Console"/>
                <a:cs typeface="Console"/>
              </a:defRPr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export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default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3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App</a:t>
            </a: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440" y="334440"/>
            <a:ext cx="11581560" cy="16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20" b="0" i="0" u="none" strike="noStrike" kern="0" cap="none" spc="45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4.2 WYDAJNOŚĆ I ARCHITEKTURA</a:t>
            </a:r>
          </a:p>
        </p:txBody>
      </p:sp>
      <p:sp>
        <p:nvSpPr>
          <p:cNvPr id="3" name="Text 1"/>
          <p:cNvSpPr/>
          <p:nvPr/>
        </p:nvSpPr>
        <p:spPr>
          <a:xfrm>
            <a:off x="334440" y="568800"/>
            <a:ext cx="6731378" cy="334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Wydajność 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 </a:t>
            </a:r>
            <a:r>
              <a:rPr lang="pl-PL" sz="28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architektura </a:t>
            </a:r>
            <a:r>
              <a:rPr lang="pl-PL" sz="2800" b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28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 </a:t>
            </a:r>
            <a:endParaRPr lang="pl-PL" sz="28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4440" y="1070280"/>
            <a:ext cx="5761440" cy="267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Nowa architektura </a:t>
            </a: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</a:t>
            </a:r>
          </a:p>
        </p:txBody>
      </p:sp>
      <p:sp>
        <p:nvSpPr>
          <p:cNvPr id="5" name="Text 3"/>
          <p:cNvSpPr/>
          <p:nvPr/>
        </p:nvSpPr>
        <p:spPr>
          <a:xfrm>
            <a:off x="334440" y="1605599"/>
            <a:ext cx="5727960" cy="9143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Nowa architektura eliminuje wąskie gardła mostka przez wprowadzenie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JSI (JavaScript Interface)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- synchronicznego mostu między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JS, </a:t>
            </a:r>
            <a:b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</a:b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</a:t>
            </a:r>
            <a:r>
              <a:rPr lang="pl-PL" sz="1400" b="0" i="0" u="none" strike="noStrike" kern="1200" cap="none" spc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natywnym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kodem.</a:t>
            </a:r>
          </a:p>
        </p:txBody>
      </p:sp>
      <p:sp>
        <p:nvSpPr>
          <p:cNvPr id="6" name="Shape 4"/>
          <p:cNvSpPr/>
          <p:nvPr/>
        </p:nvSpPr>
        <p:spPr>
          <a:xfrm>
            <a:off x="284400" y="2692435"/>
            <a:ext cx="6157964" cy="674280"/>
          </a:xfrm>
          <a:custGeom>
            <a:avLst/>
            <a:gdLst>
              <a:gd name="f0" fmla="val w"/>
              <a:gd name="f1" fmla="val h"/>
              <a:gd name="f2" fmla="val 0"/>
              <a:gd name="f3" fmla="val 5644444"/>
              <a:gd name="f4" fmla="val 501728"/>
              <a:gd name="f5" fmla="*/ f0 1 5644444"/>
              <a:gd name="f6" fmla="*/ f1 1 5017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44444"/>
              <a:gd name="f13" fmla="*/ f10 1 5017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44444" h="5017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4400" y="2692435"/>
            <a:ext cx="33480" cy="674280"/>
          </a:xfrm>
          <a:custGeom>
            <a:avLst/>
            <a:gdLst>
              <a:gd name="f0" fmla="val w"/>
              <a:gd name="f1" fmla="val h"/>
              <a:gd name="f2" fmla="val 0"/>
              <a:gd name="f3" fmla="val 33449"/>
              <a:gd name="f4" fmla="val 501728"/>
              <a:gd name="f5" fmla="*/ f0 1 33449"/>
              <a:gd name="f6" fmla="*/ f1 1 5017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449"/>
              <a:gd name="f13" fmla="*/ f10 1 5017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449" h="5017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1400" y="2761652"/>
            <a:ext cx="5594400" cy="269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Fabric</a:t>
            </a:r>
          </a:p>
        </p:txBody>
      </p:sp>
      <p:sp>
        <p:nvSpPr>
          <p:cNvPr id="9" name="Text 7"/>
          <p:cNvSpPr/>
          <p:nvPr/>
        </p:nvSpPr>
        <p:spPr>
          <a:xfrm>
            <a:off x="401400" y="3051715"/>
            <a:ext cx="5585760" cy="225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Nowy renderer UI, synchroniczny dostęp do natywnych komponentów</a:t>
            </a:r>
          </a:p>
        </p:txBody>
      </p:sp>
      <p:sp>
        <p:nvSpPr>
          <p:cNvPr id="10" name="Shape 8"/>
          <p:cNvSpPr/>
          <p:nvPr/>
        </p:nvSpPr>
        <p:spPr>
          <a:xfrm>
            <a:off x="284400" y="3455995"/>
            <a:ext cx="6157964" cy="674280"/>
          </a:xfrm>
          <a:custGeom>
            <a:avLst/>
            <a:gdLst>
              <a:gd name="f0" fmla="val w"/>
              <a:gd name="f1" fmla="val h"/>
              <a:gd name="f2" fmla="val 0"/>
              <a:gd name="f3" fmla="val 5644444"/>
              <a:gd name="f4" fmla="val 501728"/>
              <a:gd name="f5" fmla="*/ f0 1 5644444"/>
              <a:gd name="f6" fmla="*/ f1 1 5017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44444"/>
              <a:gd name="f13" fmla="*/ f10 1 5017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44444" h="5017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4400" y="3455995"/>
            <a:ext cx="33480" cy="674280"/>
          </a:xfrm>
          <a:custGeom>
            <a:avLst/>
            <a:gdLst>
              <a:gd name="f0" fmla="val w"/>
              <a:gd name="f1" fmla="val h"/>
              <a:gd name="f2" fmla="val 0"/>
              <a:gd name="f3" fmla="val 33449"/>
              <a:gd name="f4" fmla="val 501728"/>
              <a:gd name="f5" fmla="*/ f0 1 33449"/>
              <a:gd name="f6" fmla="*/ f1 1 5017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449"/>
              <a:gd name="f13" fmla="*/ f10 1 5017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449" h="5017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1400" y="3525213"/>
            <a:ext cx="5594400" cy="269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TurboModules</a:t>
            </a:r>
          </a:p>
        </p:txBody>
      </p:sp>
      <p:sp>
        <p:nvSpPr>
          <p:cNvPr id="13" name="Text 11"/>
          <p:cNvSpPr/>
          <p:nvPr/>
        </p:nvSpPr>
        <p:spPr>
          <a:xfrm>
            <a:off x="401400" y="3815635"/>
            <a:ext cx="5585760" cy="225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Leniwe ładowanie natywnych modułów, lepsza wydajność</a:t>
            </a:r>
          </a:p>
        </p:txBody>
      </p:sp>
      <p:sp>
        <p:nvSpPr>
          <p:cNvPr id="14" name="Shape 12"/>
          <p:cNvSpPr/>
          <p:nvPr/>
        </p:nvSpPr>
        <p:spPr>
          <a:xfrm>
            <a:off x="284400" y="4219915"/>
            <a:ext cx="6157964" cy="674280"/>
          </a:xfrm>
          <a:custGeom>
            <a:avLst/>
            <a:gdLst>
              <a:gd name="f0" fmla="val w"/>
              <a:gd name="f1" fmla="val h"/>
              <a:gd name="f2" fmla="val 0"/>
              <a:gd name="f3" fmla="val 5644444"/>
              <a:gd name="f4" fmla="val 501728"/>
              <a:gd name="f5" fmla="*/ f0 1 5644444"/>
              <a:gd name="f6" fmla="*/ f1 1 5017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44444"/>
              <a:gd name="f13" fmla="*/ f10 1 5017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44444" h="5017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4400" y="4219915"/>
            <a:ext cx="33480" cy="674280"/>
          </a:xfrm>
          <a:custGeom>
            <a:avLst/>
            <a:gdLst>
              <a:gd name="f0" fmla="val w"/>
              <a:gd name="f1" fmla="val h"/>
              <a:gd name="f2" fmla="val 0"/>
              <a:gd name="f3" fmla="val 33449"/>
              <a:gd name="f4" fmla="val 501728"/>
              <a:gd name="f5" fmla="*/ f0 1 33449"/>
              <a:gd name="f6" fmla="*/ f1 1 50172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449"/>
              <a:gd name="f13" fmla="*/ f10 1 50172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449" h="50172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1400" y="4289133"/>
            <a:ext cx="5594400" cy="269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JSI</a:t>
            </a:r>
          </a:p>
        </p:txBody>
      </p:sp>
      <p:sp>
        <p:nvSpPr>
          <p:cNvPr id="17" name="Text 15"/>
          <p:cNvSpPr/>
          <p:nvPr/>
        </p:nvSpPr>
        <p:spPr>
          <a:xfrm>
            <a:off x="401400" y="4579555"/>
            <a:ext cx="5585760" cy="224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Bezpośredni dostęp do natywnych obiektów z JS</a:t>
            </a:r>
          </a:p>
        </p:txBody>
      </p:sp>
      <p:grpSp>
        <p:nvGrpSpPr>
          <p:cNvPr id="44" name="Grupa 43"/>
          <p:cNvGrpSpPr/>
          <p:nvPr/>
        </p:nvGrpSpPr>
        <p:grpSpPr>
          <a:xfrm>
            <a:off x="7065818" y="1299854"/>
            <a:ext cx="4790782" cy="2608920"/>
            <a:chOff x="6195600" y="1070280"/>
            <a:chExt cx="5661000" cy="2608920"/>
          </a:xfrm>
        </p:grpSpPr>
        <p:sp>
          <p:nvSpPr>
            <p:cNvPr id="18" name="Shape 16"/>
            <p:cNvSpPr/>
            <p:nvPr/>
          </p:nvSpPr>
          <p:spPr>
            <a:xfrm>
              <a:off x="6195600" y="1070280"/>
              <a:ext cx="5661000" cy="2608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661169"/>
                <a:gd name="f4" fmla="val 2608988"/>
                <a:gd name="f5" fmla="*/ f0 1 5661169"/>
                <a:gd name="f6" fmla="*/ f1 1 260898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661169"/>
                <a:gd name="f13" fmla="*/ f10 1 260898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661169" h="260898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362640" y="1237680"/>
              <a:ext cx="5410440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EBD7"/>
                  </a:solidFill>
                </a:defRPr>
              </a:pP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FFEB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Wydajność (</a:t>
              </a:r>
              <a:r>
                <a:rPr lang="pl-PL" sz="1400" b="1" i="0" u="none" strike="noStrike" kern="1200" cap="none" spc="0" baseline="0" dirty="0" err="1">
                  <a:ln>
                    <a:noFill/>
                  </a:ln>
                  <a:solidFill>
                    <a:srgbClr val="FFEB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benchmarks</a:t>
              </a: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FFEB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</a:p>
          </p:txBody>
        </p:sp>
        <p:sp>
          <p:nvSpPr>
            <p:cNvPr id="20" name="Text 18"/>
            <p:cNvSpPr/>
            <p:nvPr/>
          </p:nvSpPr>
          <p:spPr>
            <a:xfrm>
              <a:off x="6362640" y="1605600"/>
              <a:ext cx="267840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Czas uruchomienia iOS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10763640" y="1605600"/>
              <a:ext cx="98028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1.8s</a:t>
              </a:r>
            </a:p>
          </p:txBody>
        </p:sp>
        <p:sp>
          <p:nvSpPr>
            <p:cNvPr id="22" name="Text 20"/>
            <p:cNvSpPr/>
            <p:nvPr/>
          </p:nvSpPr>
          <p:spPr>
            <a:xfrm>
              <a:off x="6362640" y="1839599"/>
              <a:ext cx="5385240" cy="16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vs Native 0.9s, Flutter 1.2s</a:t>
              </a:r>
            </a:p>
          </p:txBody>
        </p:sp>
        <p:sp>
          <p:nvSpPr>
            <p:cNvPr id="23" name="Text 21"/>
            <p:cNvSpPr/>
            <p:nvPr/>
          </p:nvSpPr>
          <p:spPr>
            <a:xfrm>
              <a:off x="6362640" y="2107439"/>
              <a:ext cx="317736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Czas uruchomienia Android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10779119" y="2107439"/>
              <a:ext cx="98028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>
                  <a:ln>
                    <a:noFill/>
                  </a:ln>
                  <a:solidFill>
                    <a:srgbClr val="FFFF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2.1s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6362640" y="2341440"/>
              <a:ext cx="5385240" cy="16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vs Native 1.1s, Flutter 1.4s</a:t>
              </a:r>
            </a:p>
          </p:txBody>
        </p:sp>
        <p:sp>
          <p:nvSpPr>
            <p:cNvPr id="26" name="Text 24"/>
            <p:cNvSpPr/>
            <p:nvPr/>
          </p:nvSpPr>
          <p:spPr>
            <a:xfrm>
              <a:off x="6362640" y="2608920"/>
              <a:ext cx="228960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Zużycie pamięci iOS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10260000" y="2608920"/>
              <a:ext cx="1483919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>
                  <a:ln>
                    <a:noFill/>
                  </a:ln>
                  <a:solidFill>
                    <a:srgbClr val="FFFF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68MB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6362640" y="2843280"/>
              <a:ext cx="5385240" cy="16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vs Native 38MB, Flutter 45MB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6362640" y="3110759"/>
              <a:ext cx="2600639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FPS rendering (60 FPS)</a:t>
              </a:r>
            </a:p>
          </p:txBody>
        </p:sp>
        <p:sp>
          <p:nvSpPr>
            <p:cNvPr id="30" name="Text 28"/>
            <p:cNvSpPr/>
            <p:nvPr/>
          </p:nvSpPr>
          <p:spPr>
            <a:xfrm>
              <a:off x="10644840" y="3110759"/>
              <a:ext cx="109800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>
                  <a:ln>
                    <a:noFill/>
                  </a:ln>
                  <a:solidFill>
                    <a:srgbClr val="FFFF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89%</a:t>
              </a:r>
            </a:p>
          </p:txBody>
        </p:sp>
        <p:sp>
          <p:nvSpPr>
            <p:cNvPr id="31" name="Text 29"/>
            <p:cNvSpPr/>
            <p:nvPr/>
          </p:nvSpPr>
          <p:spPr>
            <a:xfrm>
              <a:off x="6362640" y="3344759"/>
              <a:ext cx="5385240" cy="16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vs Native 99%, Flutter 98%</a:t>
              </a:r>
            </a:p>
          </p:txBody>
        </p:sp>
      </p:grpSp>
      <p:grpSp>
        <p:nvGrpSpPr>
          <p:cNvPr id="43" name="Grupa 42"/>
          <p:cNvGrpSpPr/>
          <p:nvPr/>
        </p:nvGrpSpPr>
        <p:grpSpPr>
          <a:xfrm>
            <a:off x="6766543" y="3937873"/>
            <a:ext cx="3978376" cy="1404720"/>
            <a:chOff x="6212160" y="3813120"/>
            <a:chExt cx="5719680" cy="1404720"/>
          </a:xfrm>
        </p:grpSpPr>
        <p:sp>
          <p:nvSpPr>
            <p:cNvPr id="32" name="Shape 30"/>
            <p:cNvSpPr/>
            <p:nvPr/>
          </p:nvSpPr>
          <p:spPr>
            <a:xfrm>
              <a:off x="6212160" y="3813120"/>
              <a:ext cx="33480" cy="14047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404840"/>
                <a:gd name="f5" fmla="*/ f0 1 33449"/>
                <a:gd name="f6" fmla="*/ f1 1 140484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40484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40484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362640" y="3913560"/>
              <a:ext cx="5569200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5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34" name="Text 32"/>
            <p:cNvSpPr/>
            <p:nvPr/>
          </p:nvSpPr>
          <p:spPr>
            <a:xfrm>
              <a:off x="6362640" y="4214520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Ogromny ekosystem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npm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</a:t>
              </a:r>
              <a:r>
                <a:rPr lang="pl-PL" sz="1400" b="0" i="1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(2M+ pakietów)</a:t>
              </a:r>
            </a:p>
          </p:txBody>
        </p:sp>
        <p:sp>
          <p:nvSpPr>
            <p:cNvPr id="35" name="Text 33"/>
            <p:cNvSpPr/>
            <p:nvPr/>
          </p:nvSpPr>
          <p:spPr>
            <a:xfrm>
              <a:off x="6362640" y="4448520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Łatwość znalezienia deweloperów JS</a:t>
              </a:r>
            </a:p>
          </p:txBody>
        </p:sp>
        <p:sp>
          <p:nvSpPr>
            <p:cNvPr id="36" name="Text 34"/>
            <p:cNvSpPr/>
            <p:nvPr/>
          </p:nvSpPr>
          <p:spPr>
            <a:xfrm>
              <a:off x="6362640" y="4682880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Współdzielenie kodu z React Web</a:t>
              </a:r>
            </a:p>
          </p:txBody>
        </p:sp>
        <p:sp>
          <p:nvSpPr>
            <p:cNvPr id="37" name="Text 35"/>
            <p:cNvSpPr/>
            <p:nvPr/>
          </p:nvSpPr>
          <p:spPr>
            <a:xfrm>
              <a:off x="6362640" y="4916880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Szybkie prototypowanie z Expo</a:t>
              </a:r>
            </a:p>
          </p:txBody>
        </p:sp>
      </p:grpSp>
      <p:grpSp>
        <p:nvGrpSpPr>
          <p:cNvPr id="45" name="Grupa 44"/>
          <p:cNvGrpSpPr/>
          <p:nvPr/>
        </p:nvGrpSpPr>
        <p:grpSpPr>
          <a:xfrm>
            <a:off x="8307612" y="5382037"/>
            <a:ext cx="3783895" cy="1170720"/>
            <a:chOff x="6212160" y="5382933"/>
            <a:chExt cx="5719680" cy="1170720"/>
          </a:xfrm>
        </p:grpSpPr>
        <p:sp>
          <p:nvSpPr>
            <p:cNvPr id="38" name="Shape 36"/>
            <p:cNvSpPr/>
            <p:nvPr/>
          </p:nvSpPr>
          <p:spPr>
            <a:xfrm>
              <a:off x="6212160" y="5382933"/>
              <a:ext cx="33480" cy="11707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170700"/>
                <a:gd name="f5" fmla="*/ f0 1 33449"/>
                <a:gd name="f6" fmla="*/ f1 1 11707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1707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1707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6B728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362640" y="5452200"/>
              <a:ext cx="5569200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5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Wady</a:t>
              </a:r>
            </a:p>
          </p:txBody>
        </p:sp>
        <p:sp>
          <p:nvSpPr>
            <p:cNvPr id="40" name="Text 38"/>
            <p:cNvSpPr/>
            <p:nvPr/>
          </p:nvSpPr>
          <p:spPr>
            <a:xfrm>
              <a:off x="6362640" y="5753160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Mostek może powodować opóźnienia</a:t>
              </a:r>
            </a:p>
          </p:txBody>
        </p:sp>
        <p:sp>
          <p:nvSpPr>
            <p:cNvPr id="41" name="Text 39"/>
            <p:cNvSpPr/>
            <p:nvPr/>
          </p:nvSpPr>
          <p:spPr>
            <a:xfrm>
              <a:off x="6362640" y="5987160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Zależność od natywnych modułów</a:t>
              </a:r>
            </a:p>
          </p:txBody>
        </p:sp>
        <p:sp>
          <p:nvSpPr>
            <p:cNvPr id="42" name="Text 40"/>
            <p:cNvSpPr/>
            <p:nvPr/>
          </p:nvSpPr>
          <p:spPr>
            <a:xfrm>
              <a:off x="6362640" y="6221519"/>
              <a:ext cx="5560920" cy="200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Problemy z złożonymi animacjami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orage.googleapis.com/02486dd4cd775b88c761d20b4752b136e83eceee.pn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30708" b="30708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2209680"/>
            <a:ext cx="2538965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05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3276720"/>
            <a:ext cx="11658600" cy="571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 i </a:t>
            </a:r>
            <a:r>
              <a:rPr lang="pl-PL" sz="4400" b="1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Dart</a:t>
            </a: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FFI</a:t>
            </a:r>
          </a:p>
        </p:txBody>
      </p:sp>
      <p:sp>
        <p:nvSpPr>
          <p:cNvPr id="6" name="Shape 3"/>
          <p:cNvSpPr/>
          <p:nvPr/>
        </p:nvSpPr>
        <p:spPr>
          <a:xfrm>
            <a:off x="380880" y="4076640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34340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Google i interfejs do kodu natywnego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880" b="0" i="0" u="none" strike="noStrike" kern="0" cap="none" spc="45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5.1 FLUTTER - PODSTAWY</a:t>
            </a:r>
          </a:p>
        </p:txBody>
      </p:sp>
      <p:sp>
        <p:nvSpPr>
          <p:cNvPr id="3" name="Text 1"/>
          <p:cNvSpPr/>
          <p:nvPr/>
        </p:nvSpPr>
        <p:spPr>
          <a:xfrm>
            <a:off x="317520" y="539640"/>
            <a:ext cx="11700000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podstawy</a:t>
            </a: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Flutter?</a:t>
            </a:r>
          </a:p>
        </p:txBody>
      </p:sp>
      <p:sp>
        <p:nvSpPr>
          <p:cNvPr id="5" name="Text 3"/>
          <p:cNvSpPr/>
          <p:nvPr/>
        </p:nvSpPr>
        <p:spPr>
          <a:xfrm>
            <a:off x="348693" y="1365119"/>
            <a:ext cx="6602825" cy="16617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  <a:tabLst/>
              <a:defRPr lang="pl-PL" sz="1400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stworzony przez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Google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, używający języka </a:t>
            </a:r>
            <a:r>
              <a:rPr lang="pl-PL" sz="1400" b="0" i="0" u="none" strike="noStrike" kern="1200" cap="none" spc="0" baseline="0" dirty="0" err="1" smtClean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Dart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Kompiluje kod do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kodu maszynowego (AOT)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, eliminując mostek i oferując wydajność bliską natywnej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  <a:p>
            <a:pPr>
              <a:lnSpc>
                <a:spcPct val="150000"/>
              </a:lnSpc>
              <a:spcAft>
                <a:spcPts val="1200"/>
              </a:spcAft>
              <a:defRPr lang="pl-PL" sz="1400"/>
            </a:pP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 używa </a:t>
            </a: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własnego silnika renderującego </a:t>
            </a:r>
            <a:r>
              <a:rPr lang="pl-PL" sz="1400" b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Skia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, co zapewnia spójny wygląd i płynność na wszystkich platformach. Filozofia: "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Everything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is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a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widget</a:t>
            </a:r>
            <a:r>
              <a:rPr lang="pl-PL" sz="14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".</a:t>
            </a:r>
            <a:endParaRPr lang="pl-PL" sz="1400" dirty="0"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1680" y="3506039"/>
            <a:ext cx="6937200" cy="257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cechy</a:t>
            </a:r>
          </a:p>
        </p:txBody>
      </p:sp>
      <p:sp>
        <p:nvSpPr>
          <p:cNvPr id="8" name="Shape 6"/>
          <p:cNvSpPr/>
          <p:nvPr/>
        </p:nvSpPr>
        <p:spPr>
          <a:xfrm>
            <a:off x="317520" y="3874320"/>
            <a:ext cx="3365640" cy="58896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7520" y="3874320"/>
            <a:ext cx="31680" cy="58896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8760" y="3947760"/>
            <a:ext cx="3317759" cy="220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Kompilacja AOT</a:t>
            </a:r>
          </a:p>
        </p:txBody>
      </p:sp>
      <p:sp>
        <p:nvSpPr>
          <p:cNvPr id="11" name="Text 9"/>
          <p:cNvSpPr/>
          <p:nvPr/>
        </p:nvSpPr>
        <p:spPr>
          <a:xfrm>
            <a:off x="428760" y="4205520"/>
            <a:ext cx="3309839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 kodu maszynowego</a:t>
            </a:r>
          </a:p>
        </p:txBody>
      </p:sp>
      <p:sp>
        <p:nvSpPr>
          <p:cNvPr id="12" name="Shape 10"/>
          <p:cNvSpPr/>
          <p:nvPr/>
        </p:nvSpPr>
        <p:spPr>
          <a:xfrm>
            <a:off x="3794040" y="3874320"/>
            <a:ext cx="3365640" cy="58896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94040" y="3874320"/>
            <a:ext cx="31680" cy="58896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05279" y="3947760"/>
            <a:ext cx="3317759" cy="220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Widget-based UI</a:t>
            </a:r>
          </a:p>
        </p:txBody>
      </p:sp>
      <p:sp>
        <p:nvSpPr>
          <p:cNvPr id="15" name="Text 13"/>
          <p:cNvSpPr/>
          <p:nvPr/>
        </p:nvSpPr>
        <p:spPr>
          <a:xfrm>
            <a:off x="3905279" y="4205520"/>
            <a:ext cx="3309839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Wszystko jest widgetem</a:t>
            </a:r>
          </a:p>
        </p:txBody>
      </p:sp>
      <p:sp>
        <p:nvSpPr>
          <p:cNvPr id="16" name="Shape 14"/>
          <p:cNvSpPr/>
          <p:nvPr/>
        </p:nvSpPr>
        <p:spPr>
          <a:xfrm>
            <a:off x="317520" y="4573440"/>
            <a:ext cx="3365640" cy="58932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7520" y="4573440"/>
            <a:ext cx="31680" cy="58932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8760" y="4647600"/>
            <a:ext cx="3317759" cy="220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Hot Reload</a:t>
            </a:r>
          </a:p>
        </p:txBody>
      </p:sp>
      <p:sp>
        <p:nvSpPr>
          <p:cNvPr id="19" name="Text 17"/>
          <p:cNvSpPr/>
          <p:nvPr/>
        </p:nvSpPr>
        <p:spPr>
          <a:xfrm>
            <a:off x="428760" y="4905000"/>
            <a:ext cx="3309839" cy="18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0.4s - najszybszy</a:t>
            </a:r>
          </a:p>
        </p:txBody>
      </p:sp>
      <p:sp>
        <p:nvSpPr>
          <p:cNvPr id="20" name="Shape 18"/>
          <p:cNvSpPr/>
          <p:nvPr/>
        </p:nvSpPr>
        <p:spPr>
          <a:xfrm>
            <a:off x="3794040" y="4573440"/>
            <a:ext cx="3365640" cy="58932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794040" y="4573440"/>
            <a:ext cx="31680" cy="58932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05279" y="4647600"/>
            <a:ext cx="3317759" cy="220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Multi-platform</a:t>
            </a:r>
          </a:p>
        </p:txBody>
      </p:sp>
      <p:sp>
        <p:nvSpPr>
          <p:cNvPr id="23" name="Text 21"/>
          <p:cNvSpPr/>
          <p:nvPr/>
        </p:nvSpPr>
        <p:spPr>
          <a:xfrm>
            <a:off x="3905279" y="4905000"/>
            <a:ext cx="3309839" cy="1843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Mobile + Web + Desktop</a:t>
            </a:r>
          </a:p>
        </p:txBody>
      </p:sp>
      <p:sp>
        <p:nvSpPr>
          <p:cNvPr id="24" name="Shape 22"/>
          <p:cNvSpPr/>
          <p:nvPr/>
        </p:nvSpPr>
        <p:spPr>
          <a:xfrm>
            <a:off x="317520" y="5403519"/>
            <a:ext cx="31680" cy="81000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698500"/>
              <a:gd name="f5" fmla="*/ f0 1 31750"/>
              <a:gd name="f6" fmla="*/ f1 1 698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698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698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0439" y="5430879"/>
            <a:ext cx="6770520" cy="25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Popularne aplikacje</a:t>
            </a:r>
          </a:p>
        </p:txBody>
      </p:sp>
      <p:grpSp>
        <p:nvGrpSpPr>
          <p:cNvPr id="26" name="Grupa 25"/>
          <p:cNvGrpSpPr/>
          <p:nvPr/>
        </p:nvGrpSpPr>
        <p:grpSpPr>
          <a:xfrm>
            <a:off x="460439" y="5752080"/>
            <a:ext cx="4399561" cy="367920"/>
            <a:chOff x="460439" y="5752080"/>
            <a:chExt cx="4399561" cy="367920"/>
          </a:xfrm>
        </p:grpSpPr>
        <p:sp>
          <p:nvSpPr>
            <p:cNvPr id="27" name="Shape 24"/>
            <p:cNvSpPr/>
            <p:nvPr/>
          </p:nvSpPr>
          <p:spPr>
            <a:xfrm>
              <a:off x="460439" y="5752080"/>
              <a:ext cx="1027799" cy="367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30250"/>
                <a:gd name="f4" fmla="val 222250"/>
                <a:gd name="f5" fmla="val 31751"/>
                <a:gd name="f6" fmla="val 698499"/>
                <a:gd name="f7" fmla="val 7160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302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302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302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460439" y="5752080"/>
              <a:ext cx="1106280" cy="367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Google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Pay</a:t>
              </a:r>
              <a:endParaRPr lang="pl-PL" sz="11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29" name="Shape 26"/>
            <p:cNvSpPr/>
            <p:nvPr/>
          </p:nvSpPr>
          <p:spPr>
            <a:xfrm>
              <a:off x="1581119" y="5752080"/>
              <a:ext cx="793080" cy="367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63563"/>
                <a:gd name="f4" fmla="val 222250"/>
                <a:gd name="f5" fmla="val 31751"/>
                <a:gd name="f6" fmla="val 531812"/>
                <a:gd name="f7" fmla="val 549347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563563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563563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563563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1581119" y="5752080"/>
              <a:ext cx="871559" cy="367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Alibaba</a:t>
              </a:r>
            </a:p>
          </p:txBody>
        </p:sp>
        <p:sp>
          <p:nvSpPr>
            <p:cNvPr id="31" name="Shape 28"/>
            <p:cNvSpPr/>
            <p:nvPr/>
          </p:nvSpPr>
          <p:spPr>
            <a:xfrm>
              <a:off x="2469240" y="5752080"/>
              <a:ext cx="681120" cy="367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84187"/>
                <a:gd name="f4" fmla="val 222250"/>
                <a:gd name="f5" fmla="val 31751"/>
                <a:gd name="f6" fmla="val 452437"/>
                <a:gd name="f7" fmla="val 469972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484187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484187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484187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2" name="Text 29"/>
            <p:cNvSpPr/>
            <p:nvPr/>
          </p:nvSpPr>
          <p:spPr>
            <a:xfrm>
              <a:off x="2469240" y="5752080"/>
              <a:ext cx="759240" cy="367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BMW</a:t>
              </a:r>
            </a:p>
          </p:txBody>
        </p:sp>
        <p:sp>
          <p:nvSpPr>
            <p:cNvPr id="33" name="Shape 30"/>
            <p:cNvSpPr/>
            <p:nvPr/>
          </p:nvSpPr>
          <p:spPr>
            <a:xfrm>
              <a:off x="3242160" y="5752080"/>
              <a:ext cx="592560" cy="367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20688"/>
                <a:gd name="f4" fmla="val 222250"/>
                <a:gd name="f5" fmla="val 31751"/>
                <a:gd name="f6" fmla="val 388937"/>
                <a:gd name="f7" fmla="val 406472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420688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420688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420688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4" name="Text 31"/>
            <p:cNvSpPr/>
            <p:nvPr/>
          </p:nvSpPr>
          <p:spPr>
            <a:xfrm>
              <a:off x="3242160" y="5752080"/>
              <a:ext cx="670680" cy="367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eBay</a:t>
              </a:r>
            </a:p>
          </p:txBody>
        </p:sp>
        <p:sp>
          <p:nvSpPr>
            <p:cNvPr id="35" name="Shape 32"/>
            <p:cNvSpPr/>
            <p:nvPr/>
          </p:nvSpPr>
          <p:spPr>
            <a:xfrm>
              <a:off x="3921480" y="5752080"/>
              <a:ext cx="860399" cy="367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11188"/>
                <a:gd name="f4" fmla="val 222250"/>
                <a:gd name="f5" fmla="val 31751"/>
                <a:gd name="f6" fmla="val 579437"/>
                <a:gd name="f7" fmla="val 596972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611188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611188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611188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3921480" y="5752080"/>
              <a:ext cx="938520" cy="367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1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Reflectly</a:t>
              </a:r>
            </a:p>
          </p:txBody>
        </p:sp>
      </p:grpSp>
      <p:sp>
        <p:nvSpPr>
          <p:cNvPr id="37" name="Shape 34"/>
          <p:cNvSpPr/>
          <p:nvPr/>
        </p:nvSpPr>
        <p:spPr>
          <a:xfrm>
            <a:off x="7365959" y="1015919"/>
            <a:ext cx="4508640" cy="2224080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698750"/>
              <a:gd name="f5" fmla="*/ f0 1 4508500"/>
              <a:gd name="f6" fmla="*/ f1 1 26987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6987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6987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524719" y="1174680"/>
            <a:ext cx="427032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 (2025)</a:t>
            </a:r>
          </a:p>
        </p:txBody>
      </p:sp>
      <p:sp>
        <p:nvSpPr>
          <p:cNvPr id="39" name="Text 36"/>
          <p:cNvSpPr/>
          <p:nvPr/>
        </p:nvSpPr>
        <p:spPr>
          <a:xfrm>
            <a:off x="7524719" y="1477439"/>
            <a:ext cx="2471336" cy="196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rynku cross-platform</a:t>
            </a:r>
          </a:p>
        </p:txBody>
      </p:sp>
      <p:sp>
        <p:nvSpPr>
          <p:cNvPr id="40" name="Text 37"/>
          <p:cNvSpPr/>
          <p:nvPr/>
        </p:nvSpPr>
        <p:spPr>
          <a:xfrm>
            <a:off x="11200320" y="1523880"/>
            <a:ext cx="597240" cy="213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46%</a:t>
            </a:r>
          </a:p>
        </p:txBody>
      </p:sp>
      <p:sp>
        <p:nvSpPr>
          <p:cNvPr id="41" name="Text 38"/>
          <p:cNvSpPr/>
          <p:nvPr/>
        </p:nvSpPr>
        <p:spPr>
          <a:xfrm>
            <a:off x="7524719" y="1664476"/>
            <a:ext cx="424656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1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Lider rynku</a:t>
            </a:r>
          </a:p>
        </p:txBody>
      </p:sp>
      <p:sp>
        <p:nvSpPr>
          <p:cNvPr id="43" name="Text 39"/>
          <p:cNvSpPr/>
          <p:nvPr/>
        </p:nvSpPr>
        <p:spPr>
          <a:xfrm>
            <a:off x="7524719" y="1945080"/>
            <a:ext cx="1655280" cy="153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Deweloperzy Flutter</a:t>
            </a:r>
          </a:p>
        </p:txBody>
      </p:sp>
      <p:sp>
        <p:nvSpPr>
          <p:cNvPr id="44" name="Text 40"/>
          <p:cNvSpPr/>
          <p:nvPr/>
        </p:nvSpPr>
        <p:spPr>
          <a:xfrm>
            <a:off x="11200320" y="1982880"/>
            <a:ext cx="594720" cy="18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2-5M</a:t>
            </a:r>
          </a:p>
        </p:txBody>
      </p:sp>
      <p:sp>
        <p:nvSpPr>
          <p:cNvPr id="45" name="Text 41"/>
          <p:cNvSpPr/>
          <p:nvPr/>
        </p:nvSpPr>
        <p:spPr>
          <a:xfrm>
            <a:off x="7524719" y="2129040"/>
            <a:ext cx="4246560" cy="12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1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Wzrost 10% miesięcznie</a:t>
            </a:r>
          </a:p>
        </p:txBody>
      </p:sp>
      <p:sp>
        <p:nvSpPr>
          <p:cNvPr id="46" name="Text 42"/>
          <p:cNvSpPr/>
          <p:nvPr/>
        </p:nvSpPr>
        <p:spPr>
          <a:xfrm>
            <a:off x="7524719" y="2379240"/>
            <a:ext cx="2375280" cy="15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GitHub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stars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11200320" y="2416680"/>
            <a:ext cx="595080" cy="1468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170k</a:t>
            </a:r>
          </a:p>
        </p:txBody>
      </p:sp>
      <p:sp>
        <p:nvSpPr>
          <p:cNvPr id="48" name="Text 44"/>
          <p:cNvSpPr/>
          <p:nvPr/>
        </p:nvSpPr>
        <p:spPr>
          <a:xfrm>
            <a:off x="7524719" y="2563560"/>
            <a:ext cx="4246560" cy="127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1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</a:t>
            </a:r>
            <a:r>
              <a:rPr lang="pl-PL" sz="1100" b="0" i="1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100" b="0" i="1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 120k</a:t>
            </a:r>
          </a:p>
        </p:txBody>
      </p:sp>
      <p:sp>
        <p:nvSpPr>
          <p:cNvPr id="49" name="Text 45"/>
          <p:cNvSpPr/>
          <p:nvPr/>
        </p:nvSpPr>
        <p:spPr>
          <a:xfrm>
            <a:off x="7524719" y="2813760"/>
            <a:ext cx="2195280" cy="153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Wzrost na Google Play</a:t>
            </a:r>
          </a:p>
        </p:txBody>
      </p:sp>
      <p:sp>
        <p:nvSpPr>
          <p:cNvPr id="50" name="Text 46"/>
          <p:cNvSpPr/>
          <p:nvPr/>
        </p:nvSpPr>
        <p:spPr>
          <a:xfrm>
            <a:off x="11200320" y="2851199"/>
            <a:ext cx="592559" cy="24515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EB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+30%</a:t>
            </a:r>
          </a:p>
        </p:txBody>
      </p:sp>
      <p:sp>
        <p:nvSpPr>
          <p:cNvPr id="51" name="Text 47"/>
          <p:cNvSpPr/>
          <p:nvPr/>
        </p:nvSpPr>
        <p:spPr>
          <a:xfrm>
            <a:off x="7524719" y="2968559"/>
            <a:ext cx="4246560" cy="12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1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 </a:t>
            </a:r>
            <a:r>
              <a:rPr lang="pl-PL" sz="1100" b="0" i="1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2025 roku</a:t>
            </a:r>
          </a:p>
        </p:txBody>
      </p:sp>
      <p:sp>
        <p:nvSpPr>
          <p:cNvPr id="52" name="Shape 48"/>
          <p:cNvSpPr/>
          <p:nvPr/>
        </p:nvSpPr>
        <p:spPr>
          <a:xfrm>
            <a:off x="8280000" y="3485159"/>
            <a:ext cx="3589920" cy="3174840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3433763"/>
              <a:gd name="f5" fmla="*/ f0 1 4497387"/>
              <a:gd name="f6" fmla="*/ f1 1 3433763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3433763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3433763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8405640" y="3520638"/>
            <a:ext cx="257436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4" name="Text 50"/>
          <p:cNvSpPr/>
          <p:nvPr/>
        </p:nvSpPr>
        <p:spPr>
          <a:xfrm>
            <a:off x="8477640" y="3763798"/>
            <a:ext cx="2722680" cy="283356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import '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package:flutter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/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material.dart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';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MiSans" pitchFamily="34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void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main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() {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runApp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const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MyApp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());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}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MiSans" pitchFamily="34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class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MyApp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extends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StatelessWidget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{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const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MyApp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({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super.key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});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MiSans" pitchFamily="34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@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override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MiSans" pitchFamily="34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Widget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build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BuildContext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context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) {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return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MaterialApp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home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: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Scaffold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    body: Center(</a:t>
            </a:r>
          </a:p>
          <a:p>
            <a:pPr marL="0" marR="0" lvl="0" indent="0" algn="l" rtl="0" hangingPunct="1">
              <a:lnSpc>
                <a:spcPts val="1134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    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child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: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Text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('Hello Flutter!'),</a:t>
            </a:r>
          </a:p>
          <a:p>
            <a:pPr marL="0" marR="0" lvl="0" indent="0" algn="l" rtl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    ),</a:t>
            </a:r>
          </a:p>
          <a:p>
            <a:pPr marL="0" marR="0" lvl="0" indent="0" algn="l" rtl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  ),</a:t>
            </a:r>
          </a:p>
          <a:p>
            <a:pPr marL="0" marR="0" lvl="0" indent="0" algn="l" rtl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  );</a:t>
            </a:r>
          </a:p>
          <a:p>
            <a:pPr marL="0" marR="0" lvl="0" indent="0" algn="l" rtl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  }</a:t>
            </a:r>
          </a:p>
          <a:p>
            <a:pPr marL="0" marR="0" lvl="0" indent="0" algn="l" rtl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200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MiSans" pitchFamily="34"/>
                <a:ea typeface="MiSans" pitchFamily="34"/>
                <a:cs typeface="MiSans" pitchFamily="34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4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5.2 WYDAJNOŚĆ FLUTTER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wydajność i porównanie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1219320"/>
            <a:ext cx="571500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Benchmarks</a:t>
            </a: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wydajności</a:t>
            </a:r>
          </a:p>
        </p:txBody>
      </p:sp>
      <p:sp>
        <p:nvSpPr>
          <p:cNvPr id="5" name="Shape 3"/>
          <p:cNvSpPr/>
          <p:nvPr/>
        </p:nvSpPr>
        <p:spPr>
          <a:xfrm>
            <a:off x="399960" y="1638360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9960" y="1638360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1680" y="1669319"/>
            <a:ext cx="248832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Czas uruchomienia iOS</a:t>
            </a:r>
          </a:p>
        </p:txBody>
      </p:sp>
      <p:sp>
        <p:nvSpPr>
          <p:cNvPr id="8" name="Text 6"/>
          <p:cNvSpPr/>
          <p:nvPr/>
        </p:nvSpPr>
        <p:spPr>
          <a:xfrm>
            <a:off x="5330536" y="1714680"/>
            <a:ext cx="58427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1.2s</a:t>
            </a:r>
          </a:p>
        </p:txBody>
      </p:sp>
      <p:sp>
        <p:nvSpPr>
          <p:cNvPr id="9" name="Text 7"/>
          <p:cNvSpPr/>
          <p:nvPr/>
        </p:nvSpPr>
        <p:spPr>
          <a:xfrm>
            <a:off x="571680" y="201924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Native 0.9s, React Native 1.8s</a:t>
            </a:r>
          </a:p>
        </p:txBody>
      </p:sp>
      <p:sp>
        <p:nvSpPr>
          <p:cNvPr id="10" name="Shape 8"/>
          <p:cNvSpPr/>
          <p:nvPr/>
        </p:nvSpPr>
        <p:spPr>
          <a:xfrm>
            <a:off x="399960" y="2400479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9960" y="2400479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1680" y="2431080"/>
            <a:ext cx="248832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Czas uruchomienia Android</a:t>
            </a:r>
          </a:p>
        </p:txBody>
      </p:sp>
      <p:sp>
        <p:nvSpPr>
          <p:cNvPr id="13" name="Text 11"/>
          <p:cNvSpPr/>
          <p:nvPr/>
        </p:nvSpPr>
        <p:spPr>
          <a:xfrm>
            <a:off x="5324416" y="2476440"/>
            <a:ext cx="584279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1.4s</a:t>
            </a:r>
          </a:p>
        </p:txBody>
      </p:sp>
      <p:sp>
        <p:nvSpPr>
          <p:cNvPr id="14" name="Text 12"/>
          <p:cNvSpPr/>
          <p:nvPr/>
        </p:nvSpPr>
        <p:spPr>
          <a:xfrm>
            <a:off x="571680" y="278136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Native 1.1s, React Native 2.1s</a:t>
            </a:r>
          </a:p>
        </p:txBody>
      </p:sp>
      <p:sp>
        <p:nvSpPr>
          <p:cNvPr id="15" name="Shape 13"/>
          <p:cNvSpPr/>
          <p:nvPr/>
        </p:nvSpPr>
        <p:spPr>
          <a:xfrm>
            <a:off x="399960" y="3162239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9960" y="3162239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680" y="3193200"/>
            <a:ext cx="230832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Zużycie pamięci iOS</a:t>
            </a:r>
          </a:p>
        </p:txBody>
      </p:sp>
      <p:sp>
        <p:nvSpPr>
          <p:cNvPr id="18" name="Text 16"/>
          <p:cNvSpPr/>
          <p:nvPr/>
        </p:nvSpPr>
        <p:spPr>
          <a:xfrm>
            <a:off x="5062331" y="3238560"/>
            <a:ext cx="852843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45MB</a:t>
            </a:r>
          </a:p>
        </p:txBody>
      </p:sp>
      <p:sp>
        <p:nvSpPr>
          <p:cNvPr id="19" name="Text 17"/>
          <p:cNvSpPr/>
          <p:nvPr/>
        </p:nvSpPr>
        <p:spPr>
          <a:xfrm>
            <a:off x="571680" y="354312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Native 38MB, React Native 68MB</a:t>
            </a:r>
          </a:p>
        </p:txBody>
      </p:sp>
      <p:sp>
        <p:nvSpPr>
          <p:cNvPr id="20" name="Shape 18"/>
          <p:cNvSpPr/>
          <p:nvPr/>
        </p:nvSpPr>
        <p:spPr>
          <a:xfrm>
            <a:off x="399960" y="3924360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9960" y="3924360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1680" y="3955320"/>
            <a:ext cx="266832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FPS rendering (60 FPS)</a:t>
            </a:r>
          </a:p>
        </p:txBody>
      </p:sp>
      <p:sp>
        <p:nvSpPr>
          <p:cNvPr id="23" name="Text 21"/>
          <p:cNvSpPr/>
          <p:nvPr/>
        </p:nvSpPr>
        <p:spPr>
          <a:xfrm>
            <a:off x="5250677" y="4000680"/>
            <a:ext cx="663058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98%</a:t>
            </a:r>
          </a:p>
        </p:txBody>
      </p:sp>
      <p:sp>
        <p:nvSpPr>
          <p:cNvPr id="24" name="Text 22"/>
          <p:cNvSpPr/>
          <p:nvPr/>
        </p:nvSpPr>
        <p:spPr>
          <a:xfrm>
            <a:off x="571680" y="430524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Native 99%, React Native 89%</a:t>
            </a:r>
          </a:p>
        </p:txBody>
      </p:sp>
      <p:sp>
        <p:nvSpPr>
          <p:cNvPr id="25" name="Text 23"/>
          <p:cNvSpPr/>
          <p:nvPr/>
        </p:nvSpPr>
        <p:spPr>
          <a:xfrm>
            <a:off x="6210360" y="1219320"/>
            <a:ext cx="571500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Porównanie kosztów i czasu</a:t>
            </a:r>
          </a:p>
        </p:txBody>
      </p:sp>
      <p:sp>
        <p:nvSpPr>
          <p:cNvPr id="26" name="Shape 24"/>
          <p:cNvSpPr/>
          <p:nvPr/>
        </p:nvSpPr>
        <p:spPr>
          <a:xfrm>
            <a:off x="6229440" y="1638360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29440" y="1638360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799" y="1669319"/>
            <a:ext cx="1879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Koszt MVP</a:t>
            </a:r>
          </a:p>
        </p:txBody>
      </p:sp>
      <p:sp>
        <p:nvSpPr>
          <p:cNvPr id="29" name="Text 27"/>
          <p:cNvSpPr/>
          <p:nvPr/>
        </p:nvSpPr>
        <p:spPr>
          <a:xfrm>
            <a:off x="10980944" y="1714680"/>
            <a:ext cx="757951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$65K</a:t>
            </a:r>
          </a:p>
        </p:txBody>
      </p:sp>
      <p:sp>
        <p:nvSpPr>
          <p:cNvPr id="30" name="Text 28"/>
          <p:cNvSpPr/>
          <p:nvPr/>
        </p:nvSpPr>
        <p:spPr>
          <a:xfrm>
            <a:off x="6400799" y="201924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React Native $73K</a:t>
            </a:r>
          </a:p>
        </p:txBody>
      </p:sp>
      <p:sp>
        <p:nvSpPr>
          <p:cNvPr id="31" name="Shape 29"/>
          <p:cNvSpPr/>
          <p:nvPr/>
        </p:nvSpPr>
        <p:spPr>
          <a:xfrm>
            <a:off x="6229440" y="2400479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29440" y="2400479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799" y="2431080"/>
            <a:ext cx="2419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Czas rozwoju</a:t>
            </a:r>
          </a:p>
        </p:txBody>
      </p:sp>
      <p:sp>
        <p:nvSpPr>
          <p:cNvPr id="34" name="Text 32"/>
          <p:cNvSpPr/>
          <p:nvPr/>
        </p:nvSpPr>
        <p:spPr>
          <a:xfrm>
            <a:off x="10999341" y="2476440"/>
            <a:ext cx="742434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304h</a:t>
            </a:r>
          </a:p>
        </p:txBody>
      </p:sp>
      <p:sp>
        <p:nvSpPr>
          <p:cNvPr id="35" name="Text 33"/>
          <p:cNvSpPr/>
          <p:nvPr/>
        </p:nvSpPr>
        <p:spPr>
          <a:xfrm>
            <a:off x="6400799" y="278136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React Native 343h (13% szybciej)</a:t>
            </a:r>
          </a:p>
        </p:txBody>
      </p:sp>
      <p:sp>
        <p:nvSpPr>
          <p:cNvPr id="36" name="Shape 34"/>
          <p:cNvSpPr/>
          <p:nvPr/>
        </p:nvSpPr>
        <p:spPr>
          <a:xfrm>
            <a:off x="6229440" y="3162239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29440" y="3162239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799" y="3193200"/>
            <a:ext cx="2239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Zużycie CPU (idle)</a:t>
            </a:r>
          </a:p>
        </p:txBody>
      </p:sp>
      <p:sp>
        <p:nvSpPr>
          <p:cNvPr id="39" name="Text 37"/>
          <p:cNvSpPr/>
          <p:nvPr/>
        </p:nvSpPr>
        <p:spPr>
          <a:xfrm>
            <a:off x="11234835" y="3238560"/>
            <a:ext cx="5055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2%</a:t>
            </a:r>
          </a:p>
        </p:txBody>
      </p:sp>
      <p:sp>
        <p:nvSpPr>
          <p:cNvPr id="40" name="Text 38"/>
          <p:cNvSpPr/>
          <p:nvPr/>
        </p:nvSpPr>
        <p:spPr>
          <a:xfrm>
            <a:off x="6400799" y="354312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React Native 4%</a:t>
            </a:r>
          </a:p>
        </p:txBody>
      </p:sp>
      <p:sp>
        <p:nvSpPr>
          <p:cNvPr id="41" name="Shape 39"/>
          <p:cNvSpPr/>
          <p:nvPr/>
        </p:nvSpPr>
        <p:spPr>
          <a:xfrm>
            <a:off x="6229440" y="3924360"/>
            <a:ext cx="558180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5581650"/>
              <a:gd name="f4" fmla="val 647700"/>
              <a:gd name="f5" fmla="*/ f0 1 558165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58165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58165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29440" y="3924360"/>
            <a:ext cx="38160" cy="64764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47700"/>
              <a:gd name="f5" fmla="*/ f0 1 38100"/>
              <a:gd name="f6" fmla="*/ f1 1 6477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477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477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0799" y="3991320"/>
            <a:ext cx="22392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Zużycie baterii (1h)</a:t>
            </a:r>
          </a:p>
        </p:txBody>
      </p:sp>
      <p:sp>
        <p:nvSpPr>
          <p:cNvPr id="44" name="Text 42"/>
          <p:cNvSpPr/>
          <p:nvPr/>
        </p:nvSpPr>
        <p:spPr>
          <a:xfrm>
            <a:off x="11223278" y="4000680"/>
            <a:ext cx="521017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8%</a:t>
            </a:r>
          </a:p>
        </p:txBody>
      </p:sp>
      <p:sp>
        <p:nvSpPr>
          <p:cNvPr id="45" name="Text 43"/>
          <p:cNvSpPr/>
          <p:nvPr/>
        </p:nvSpPr>
        <p:spPr>
          <a:xfrm>
            <a:off x="6400799" y="4305240"/>
            <a:ext cx="5477039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vs React Native 11%</a:t>
            </a:r>
          </a:p>
        </p:txBody>
      </p:sp>
      <p:sp>
        <p:nvSpPr>
          <p:cNvPr id="46" name="Shape 44"/>
          <p:cNvSpPr/>
          <p:nvPr/>
        </p:nvSpPr>
        <p:spPr>
          <a:xfrm>
            <a:off x="399960" y="4796280"/>
            <a:ext cx="38160" cy="160020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1600200"/>
              <a:gd name="f5" fmla="*/ f0 1 38100"/>
              <a:gd name="f6" fmla="*/ f1 1 16002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16002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16002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71680" y="4838760"/>
            <a:ext cx="360036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 wygrywa</a:t>
            </a:r>
          </a:p>
        </p:txBody>
      </p:sp>
      <p:sp>
        <p:nvSpPr>
          <p:cNvPr id="48" name="Text 46"/>
          <p:cNvSpPr/>
          <p:nvPr/>
        </p:nvSpPr>
        <p:spPr>
          <a:xfrm>
            <a:off x="571680" y="5181480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Wydajność (20-30% szybszy)</a:t>
            </a:r>
          </a:p>
        </p:txBody>
      </p:sp>
      <p:sp>
        <p:nvSpPr>
          <p:cNvPr id="49" name="Text 47"/>
          <p:cNvSpPr/>
          <p:nvPr/>
        </p:nvSpPr>
        <p:spPr>
          <a:xfrm>
            <a:off x="571680" y="5448239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Spójność UI</a:t>
            </a:r>
          </a:p>
        </p:txBody>
      </p:sp>
      <p:sp>
        <p:nvSpPr>
          <p:cNvPr id="50" name="Text 48"/>
          <p:cNvSpPr/>
          <p:nvPr/>
        </p:nvSpPr>
        <p:spPr>
          <a:xfrm>
            <a:off x="571680" y="5715000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Szybkość rozwoju</a:t>
            </a:r>
          </a:p>
        </p:txBody>
      </p:sp>
      <p:sp>
        <p:nvSpPr>
          <p:cNvPr id="51" name="Text 49"/>
          <p:cNvSpPr/>
          <p:nvPr/>
        </p:nvSpPr>
        <p:spPr>
          <a:xfrm>
            <a:off x="571680" y="5981760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Multi-platform</a:t>
            </a:r>
          </a:p>
        </p:txBody>
      </p:sp>
      <p:sp>
        <p:nvSpPr>
          <p:cNvPr id="52" name="Shape 50"/>
          <p:cNvSpPr/>
          <p:nvPr/>
        </p:nvSpPr>
        <p:spPr>
          <a:xfrm>
            <a:off x="4260960" y="4796280"/>
            <a:ext cx="38160" cy="160020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1600200"/>
              <a:gd name="f5" fmla="*/ f0 1 38100"/>
              <a:gd name="f6" fmla="*/ f1 1 16002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16002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16002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432320" y="4838760"/>
            <a:ext cx="360036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 Native wygrywa</a:t>
            </a:r>
          </a:p>
        </p:txBody>
      </p:sp>
      <p:sp>
        <p:nvSpPr>
          <p:cNvPr id="54" name="Text 52"/>
          <p:cNvSpPr/>
          <p:nvPr/>
        </p:nvSpPr>
        <p:spPr>
          <a:xfrm>
            <a:off x="4432320" y="5181480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Dostępność deweloperów</a:t>
            </a:r>
          </a:p>
        </p:txBody>
      </p:sp>
      <p:sp>
        <p:nvSpPr>
          <p:cNvPr id="55" name="Text 53"/>
          <p:cNvSpPr/>
          <p:nvPr/>
        </p:nvSpPr>
        <p:spPr>
          <a:xfrm>
            <a:off x="4432320" y="5448239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Ekosystem npm</a:t>
            </a:r>
          </a:p>
        </p:txBody>
      </p:sp>
      <p:sp>
        <p:nvSpPr>
          <p:cNvPr id="56" name="Text 54"/>
          <p:cNvSpPr/>
          <p:nvPr/>
        </p:nvSpPr>
        <p:spPr>
          <a:xfrm>
            <a:off x="4432320" y="5715000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Krzywa uczenia</a:t>
            </a:r>
          </a:p>
        </p:txBody>
      </p:sp>
      <p:sp>
        <p:nvSpPr>
          <p:cNvPr id="57" name="Text 55"/>
          <p:cNvSpPr/>
          <p:nvPr/>
        </p:nvSpPr>
        <p:spPr>
          <a:xfrm>
            <a:off x="4432320" y="5981760"/>
            <a:ext cx="359100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 Web + mobile sharing</a:t>
            </a:r>
          </a:p>
        </p:txBody>
      </p:sp>
      <p:sp>
        <p:nvSpPr>
          <p:cNvPr id="58" name="Shape 56"/>
          <p:cNvSpPr/>
          <p:nvPr/>
        </p:nvSpPr>
        <p:spPr>
          <a:xfrm>
            <a:off x="8121600" y="4796280"/>
            <a:ext cx="38160" cy="1600200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1600200"/>
              <a:gd name="f5" fmla="*/ f0 1 38100"/>
              <a:gd name="f6" fmla="*/ f1 1 16002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16002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16002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92960" y="4838760"/>
            <a:ext cx="360036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Rekomendacja 2025</a:t>
            </a:r>
          </a:p>
        </p:txBody>
      </p:sp>
      <p:sp>
        <p:nvSpPr>
          <p:cNvPr id="60" name="Text 58"/>
          <p:cNvSpPr/>
          <p:nvPr/>
        </p:nvSpPr>
        <p:spPr>
          <a:xfrm>
            <a:off x="8292960" y="5181480"/>
            <a:ext cx="3591000" cy="4953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Dla większości projektów: </a:t>
            </a: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</a:t>
            </a: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. Dla zespołów z doświadczeniem JS: </a:t>
            </a: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 Native</a:t>
            </a: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19"/>
            <a:ext cx="5428653" cy="16307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45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5.3. </a:t>
            </a:r>
            <a:r>
              <a:rPr lang="pl-PL" sz="900" b="0" i="0" u="none" strike="noStrike" kern="0" cap="none" spc="45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DART FFI</a:t>
            </a:r>
          </a:p>
        </p:txBody>
      </p:sp>
      <p:sp>
        <p:nvSpPr>
          <p:cNvPr id="3" name="Text 1"/>
          <p:cNvSpPr/>
          <p:nvPr/>
        </p:nvSpPr>
        <p:spPr>
          <a:xfrm>
            <a:off x="317521" y="539640"/>
            <a:ext cx="5746680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Dart</a:t>
            </a:r>
            <a:r>
              <a:rPr lang="pl-PL" sz="2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4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FFI:</a:t>
            </a:r>
            <a:r>
              <a:rPr lang="pl-PL" sz="24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40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Foreign</a:t>
            </a:r>
            <a:r>
              <a:rPr lang="pl-PL" sz="24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40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Function</a:t>
            </a:r>
            <a:r>
              <a:rPr lang="pl-PL" sz="24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Interface</a:t>
            </a: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577836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</a:t>
            </a: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Dart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FFI?</a:t>
            </a:r>
          </a:p>
        </p:txBody>
      </p:sp>
      <p:sp>
        <p:nvSpPr>
          <p:cNvPr id="5" name="Text 3"/>
          <p:cNvSpPr/>
          <p:nvPr/>
        </p:nvSpPr>
        <p:spPr>
          <a:xfrm>
            <a:off x="317520" y="1577007"/>
            <a:ext cx="5428653" cy="191807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Dart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FFI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umożliwia wywoływanie funkcji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C/C++ bezpośrednio z kodu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Dart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 wydajnością bliską natywnej. Eliminuje narzut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serializacji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związany z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MethodChannel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  <a:p>
            <a:pPr algn="just">
              <a:lnSpc>
                <a:spcPct val="140000"/>
              </a:lnSpc>
              <a:defRPr lang="pl-PL"/>
            </a:pP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Mechanizm: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DynamicLibrary.open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lookup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asFunction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Overhead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FFI </a:t>
            </a:r>
            <a:r>
              <a:rPr lang="pl-PL" sz="14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to 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zaledwie </a:t>
            </a: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~100ns na wywołanie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- znacznie mniej niż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MethodChannel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 JSON.</a:t>
            </a:r>
            <a:endParaRPr lang="pl-PL" sz="1400" dirty="0"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grpSp>
        <p:nvGrpSpPr>
          <p:cNvPr id="43" name="Grupa 42"/>
          <p:cNvGrpSpPr/>
          <p:nvPr/>
        </p:nvGrpSpPr>
        <p:grpSpPr>
          <a:xfrm>
            <a:off x="317520" y="3913958"/>
            <a:ext cx="4037177" cy="2599082"/>
            <a:chOff x="333360" y="3520918"/>
            <a:chExt cx="4037177" cy="2599082"/>
          </a:xfrm>
        </p:grpSpPr>
        <p:sp>
          <p:nvSpPr>
            <p:cNvPr id="7" name="Text 5"/>
            <p:cNvSpPr/>
            <p:nvPr/>
          </p:nvSpPr>
          <p:spPr>
            <a:xfrm>
              <a:off x="333360" y="3520918"/>
              <a:ext cx="4037177" cy="222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Zastosowania FFI</a:t>
              </a:r>
            </a:p>
          </p:txBody>
        </p:sp>
        <p:grpSp>
          <p:nvGrpSpPr>
            <p:cNvPr id="8" name="Grupa 7"/>
            <p:cNvGrpSpPr/>
            <p:nvPr/>
          </p:nvGrpSpPr>
          <p:grpSpPr>
            <a:xfrm>
              <a:off x="349201" y="3813840"/>
              <a:ext cx="4014982" cy="2306160"/>
              <a:chOff x="349200" y="3813840"/>
              <a:chExt cx="5730839" cy="2306160"/>
            </a:xfrm>
          </p:grpSpPr>
          <p:sp>
            <p:nvSpPr>
              <p:cNvPr id="9" name="Shape 6"/>
              <p:cNvSpPr/>
              <p:nvPr/>
            </p:nvSpPr>
            <p:spPr>
              <a:xfrm>
                <a:off x="349200" y="3813840"/>
                <a:ext cx="5667478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5667375"/>
                  <a:gd name="f4" fmla="val 476250"/>
                  <a:gd name="f5" fmla="*/ f0 1 5667375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5667375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5667375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F9FAFB"/>
              </a:solidFill>
              <a:ln cap="flat">
                <a:solidFill>
                  <a:schemeClr val="bg2">
                    <a:lumMod val="75000"/>
                  </a:schemeClr>
                </a:solidFill>
                <a:prstDash val="solid"/>
              </a:ln>
              <a:effectLst>
                <a:outerShdw blurRad="127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0" name="Shape 7"/>
              <p:cNvSpPr/>
              <p:nvPr/>
            </p:nvSpPr>
            <p:spPr>
              <a:xfrm>
                <a:off x="349200" y="3816171"/>
                <a:ext cx="31680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1750"/>
                  <a:gd name="f4" fmla="val 476250"/>
                  <a:gd name="f5" fmla="*/ f0 1 31750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31750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31750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8B0000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1" name="Text 8"/>
              <p:cNvSpPr/>
              <p:nvPr/>
            </p:nvSpPr>
            <p:spPr>
              <a:xfrm>
                <a:off x="460439" y="3816835"/>
                <a:ext cx="5619600" cy="20952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400" b="1" i="0" u="none" strike="noStrike" kern="1200" cap="none" spc="0" baseline="0">
                    <a:ln>
                      <a:noFill/>
                    </a:ln>
                    <a:solidFill>
                      <a:srgbClr val="1F2937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Obliczenia numeryczne</a:t>
                </a:r>
              </a:p>
            </p:txBody>
          </p:sp>
          <p:sp>
            <p:nvSpPr>
              <p:cNvPr id="12" name="Text 9"/>
              <p:cNvSpPr/>
              <p:nvPr/>
            </p:nvSpPr>
            <p:spPr>
              <a:xfrm>
                <a:off x="460439" y="4053600"/>
                <a:ext cx="5611680" cy="17460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200" b="0" i="0" u="none" strike="noStrike" kern="1200" cap="none" spc="0" baseline="0">
                    <a:ln>
                      <a:noFill/>
                    </a:ln>
                    <a:solidFill>
                      <a:srgbClr val="6B7280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Algebra liniowa, symulacje fizyczne</a:t>
                </a:r>
              </a:p>
            </p:txBody>
          </p:sp>
          <p:sp>
            <p:nvSpPr>
              <p:cNvPr id="13" name="Shape 10"/>
              <p:cNvSpPr/>
              <p:nvPr/>
            </p:nvSpPr>
            <p:spPr>
              <a:xfrm>
                <a:off x="349200" y="4407839"/>
                <a:ext cx="5667479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5667375"/>
                  <a:gd name="f4" fmla="val 476250"/>
                  <a:gd name="f5" fmla="*/ f0 1 5667375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5667375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5667375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F9FAFB"/>
              </a:solidFill>
              <a:ln cap="flat">
                <a:solidFill>
                  <a:schemeClr val="bg2">
                    <a:lumMod val="75000"/>
                  </a:schemeClr>
                </a:solidFill>
                <a:prstDash val="solid"/>
              </a:ln>
              <a:effectLst>
                <a:outerShdw blurRad="127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4" name="Shape 11"/>
              <p:cNvSpPr/>
              <p:nvPr/>
            </p:nvSpPr>
            <p:spPr>
              <a:xfrm>
                <a:off x="349200" y="4409803"/>
                <a:ext cx="31680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1750"/>
                  <a:gd name="f4" fmla="val 476250"/>
                  <a:gd name="f5" fmla="*/ f0 1 31750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31750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31750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8B0000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460439" y="4450434"/>
                <a:ext cx="5619600" cy="20952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400" b="1" i="0" u="none" strike="noStrike" kern="1200" cap="none" spc="0" baseline="0">
                    <a:ln>
                      <a:noFill/>
                    </a:ln>
                    <a:solidFill>
                      <a:srgbClr val="1F2937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Przetwarzanie obrazu/audio</a:t>
                </a:r>
              </a:p>
            </p:txBody>
          </p:sp>
          <p:sp>
            <p:nvSpPr>
              <p:cNvPr id="16" name="Text 13"/>
              <p:cNvSpPr/>
              <p:nvPr/>
            </p:nvSpPr>
            <p:spPr>
              <a:xfrm>
                <a:off x="460439" y="4687560"/>
                <a:ext cx="5611680" cy="17460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200" b="0" i="0" u="none" strike="noStrike" kern="1200" cap="none" spc="0" baseline="0">
                    <a:ln>
                      <a:noFill/>
                    </a:ln>
                    <a:solidFill>
                      <a:srgbClr val="6B7280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Kodeki, filtry, efekty</a:t>
                </a:r>
              </a:p>
            </p:txBody>
          </p:sp>
          <p:sp>
            <p:nvSpPr>
              <p:cNvPr id="17" name="Shape 14"/>
              <p:cNvSpPr/>
              <p:nvPr/>
            </p:nvSpPr>
            <p:spPr>
              <a:xfrm>
                <a:off x="349200" y="4993053"/>
                <a:ext cx="5667479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5667375"/>
                  <a:gd name="f4" fmla="val 476250"/>
                  <a:gd name="f5" fmla="*/ f0 1 5667375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5667375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5667375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F9FAFB"/>
              </a:solidFill>
              <a:ln cap="flat">
                <a:solidFill>
                  <a:schemeClr val="bg2">
                    <a:lumMod val="75000"/>
                  </a:schemeClr>
                </a:solidFill>
                <a:prstDash val="solid"/>
              </a:ln>
              <a:effectLst>
                <a:outerShdw blurRad="127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8" name="Shape 15"/>
              <p:cNvSpPr/>
              <p:nvPr/>
            </p:nvSpPr>
            <p:spPr>
              <a:xfrm>
                <a:off x="349200" y="4993053"/>
                <a:ext cx="31680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1750"/>
                  <a:gd name="f4" fmla="val 476250"/>
                  <a:gd name="f5" fmla="*/ f0 1 31750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31750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31750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8B0000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460439" y="5065217"/>
                <a:ext cx="5619600" cy="20952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400" b="1" i="0" u="none" strike="noStrike" kern="1200" cap="none" spc="0" baseline="0">
                    <a:ln>
                      <a:noFill/>
                    </a:ln>
                    <a:solidFill>
                      <a:srgbClr val="1F2937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Kryptografia</a:t>
                </a:r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460439" y="5301982"/>
                <a:ext cx="5611680" cy="17496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200" b="0" i="0" u="none" strike="noStrike" kern="1200" cap="none" spc="0" baseline="0" dirty="0">
                    <a:ln>
                      <a:noFill/>
                    </a:ln>
                    <a:solidFill>
                      <a:srgbClr val="6B7280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Szyfrowanie, </a:t>
                </a:r>
                <a:r>
                  <a:rPr lang="pl-PL" sz="1200" b="0" i="0" u="none" strike="noStrike" kern="1200" cap="none" spc="0" baseline="0" dirty="0" err="1">
                    <a:ln>
                      <a:noFill/>
                    </a:ln>
                    <a:solidFill>
                      <a:srgbClr val="6B7280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hashowanie</a:t>
                </a:r>
                <a:r>
                  <a:rPr lang="pl-PL" sz="1200" b="0" i="0" u="none" strike="noStrike" kern="1200" cap="none" spc="0" baseline="0" dirty="0">
                    <a:ln>
                      <a:noFill/>
                    </a:ln>
                    <a:solidFill>
                      <a:srgbClr val="6B7280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, podpisy</a:t>
                </a:r>
              </a:p>
            </p:txBody>
          </p:sp>
          <p:sp>
            <p:nvSpPr>
              <p:cNvPr id="21" name="Shape 18"/>
              <p:cNvSpPr/>
              <p:nvPr/>
            </p:nvSpPr>
            <p:spPr>
              <a:xfrm>
                <a:off x="349200" y="5595840"/>
                <a:ext cx="5667478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5667375"/>
                  <a:gd name="f4" fmla="val 476250"/>
                  <a:gd name="f5" fmla="*/ f0 1 5667375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5667375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5667375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F9FAFB"/>
              </a:solidFill>
              <a:ln cap="flat">
                <a:solidFill>
                  <a:schemeClr val="bg2">
                    <a:lumMod val="75000"/>
                  </a:schemeClr>
                </a:solidFill>
                <a:prstDash val="solid"/>
              </a:ln>
              <a:effectLst>
                <a:outerShdw blurRad="127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22" name="Shape 19"/>
              <p:cNvSpPr/>
              <p:nvPr/>
            </p:nvSpPr>
            <p:spPr>
              <a:xfrm>
                <a:off x="349200" y="5588514"/>
                <a:ext cx="31680" cy="524160"/>
              </a:xfrm>
              <a:custGeom>
                <a:avLst/>
                <a:gdLst>
                  <a:gd name="f0" fmla="val w"/>
                  <a:gd name="f1" fmla="val h"/>
                  <a:gd name="f2" fmla="val 0"/>
                  <a:gd name="f3" fmla="val 31750"/>
                  <a:gd name="f4" fmla="val 476250"/>
                  <a:gd name="f5" fmla="*/ f0 1 31750"/>
                  <a:gd name="f6" fmla="*/ f1 1 476250"/>
                  <a:gd name="f7" fmla="val f2"/>
                  <a:gd name="f8" fmla="val f3"/>
                  <a:gd name="f9" fmla="val f4"/>
                  <a:gd name="f10" fmla="+- f9 0 f7"/>
                  <a:gd name="f11" fmla="+- f8 0 f7"/>
                  <a:gd name="f12" fmla="*/ f11 1 31750"/>
                  <a:gd name="f13" fmla="*/ f10 1 476250"/>
                  <a:gd name="f14" fmla="*/ f7 1 f12"/>
                  <a:gd name="f15" fmla="*/ f8 1 f12"/>
                  <a:gd name="f16" fmla="*/ f7 1 f13"/>
                  <a:gd name="f17" fmla="*/ f9 1 f13"/>
                  <a:gd name="f18" fmla="*/ f14 f5 1"/>
                  <a:gd name="f19" fmla="*/ f15 f5 1"/>
                  <a:gd name="f20" fmla="*/ f17 f6 1"/>
                  <a:gd name="f21" fmla="*/ f16 f6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18" t="f21" r="f19" b="f20"/>
                <a:pathLst>
                  <a:path w="31750" h="476250">
                    <a:moveTo>
                      <a:pt x="f2" y="f2"/>
                    </a:moveTo>
                    <a:lnTo>
                      <a:pt x="f3" y="f2"/>
                    </a:lnTo>
                    <a:lnTo>
                      <a:pt x="f3" y="f4"/>
                    </a:lnTo>
                    <a:lnTo>
                      <a:pt x="f2" y="f4"/>
                    </a:lnTo>
                    <a:lnTo>
                      <a:pt x="f2" y="f2"/>
                    </a:lnTo>
                    <a:close/>
                  </a:path>
                </a:pathLst>
              </a:custGeom>
              <a:solidFill>
                <a:srgbClr val="8B0000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endParaRPr lang="pl-PL" sz="2400" b="0" i="0" u="none" strike="noStrike" kern="1200" cap="none">
                  <a:ln>
                    <a:noFill/>
                  </a:ln>
                  <a:latin typeface="Liberation Sans" pitchFamily="18"/>
                  <a:ea typeface="Noto Sans CJK SC" pitchFamily="2"/>
                  <a:cs typeface="Noto Sans Devanagari" pitchFamily="2"/>
                </a:endParaRPr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460439" y="5638435"/>
                <a:ext cx="5619600" cy="20952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400" b="1" i="0" u="none" strike="noStrike" kern="1200" cap="none" spc="0" baseline="0" dirty="0">
                    <a:ln>
                      <a:noFill/>
                    </a:ln>
                    <a:solidFill>
                      <a:srgbClr val="1F2937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Machine Learning</a:t>
                </a:r>
              </a:p>
            </p:txBody>
          </p:sp>
          <p:sp>
            <p:nvSpPr>
              <p:cNvPr id="24" name="Text 21"/>
              <p:cNvSpPr/>
              <p:nvPr/>
            </p:nvSpPr>
            <p:spPr>
              <a:xfrm>
                <a:off x="460439" y="5835600"/>
                <a:ext cx="5611680" cy="174600"/>
              </a:xfrm>
              <a:prstGeom prst="rect">
                <a:avLst/>
              </a:prstGeom>
              <a:noFill/>
              <a:ln cap="flat">
                <a:noFill/>
                <a:prstDash val="solid"/>
              </a:ln>
            </p:spPr>
            <p:txBody>
              <a:bodyPr vert="horz" wrap="square" lIns="0" tIns="0" rIns="0" bIns="0" anchor="ctr" anchorCtr="0" compatLnSpc="0">
                <a:noAutofit/>
              </a:bodyPr>
              <a:lstStyle/>
              <a:p>
                <a:pPr marL="0" marR="0" lvl="0" indent="0" algn="l" rtl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lang="pl-PL"/>
                </a:pPr>
                <a:r>
                  <a:rPr lang="pl-PL" sz="1200" b="0" i="0" u="none" strike="noStrike" kern="1200" cap="none" spc="0" baseline="0">
                    <a:ln>
                      <a:noFill/>
                    </a:ln>
                    <a:solidFill>
                      <a:srgbClr val="6B7280"/>
                    </a:solidFill>
                    <a:latin typeface="Sorts Mill Goudy" pitchFamily="34"/>
                    <a:ea typeface="Sorts Mill Goudy" pitchFamily="34"/>
                    <a:cs typeface="Sorts Mill Goudy" pitchFamily="34"/>
                  </a:rPr>
                  <a:t>Integracja z bibliotekami C/C++</a:t>
                </a:r>
              </a:p>
            </p:txBody>
          </p:sp>
        </p:grpSp>
      </p:grpSp>
      <p:grpSp>
        <p:nvGrpSpPr>
          <p:cNvPr id="44" name="Grupa 43"/>
          <p:cNvGrpSpPr/>
          <p:nvPr/>
        </p:nvGrpSpPr>
        <p:grpSpPr>
          <a:xfrm>
            <a:off x="6120000" y="3314238"/>
            <a:ext cx="5672160" cy="2258223"/>
            <a:chOff x="6197760" y="1657992"/>
            <a:chExt cx="5672160" cy="2248584"/>
          </a:xfrm>
        </p:grpSpPr>
        <p:sp>
          <p:nvSpPr>
            <p:cNvPr id="25" name="Shape 22"/>
            <p:cNvSpPr/>
            <p:nvPr/>
          </p:nvSpPr>
          <p:spPr>
            <a:xfrm>
              <a:off x="6197760" y="1657992"/>
              <a:ext cx="5672160" cy="223757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672137"/>
                <a:gd name="f4" fmla="val 3108325"/>
                <a:gd name="f5" fmla="*/ f0 1 5672137"/>
                <a:gd name="f6" fmla="*/ f1 1 3108325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672137"/>
                <a:gd name="f13" fmla="*/ f10 1 3108325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672137" h="3108325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w="20160" cap="flat">
              <a:solidFill>
                <a:srgbClr val="1F2937"/>
              </a:solidFill>
              <a:prstDash val="solid"/>
              <a:miter/>
            </a:ln>
          </p:spPr>
          <p:txBody>
            <a:bodyPr vert="horz" wrap="square" lIns="100080" tIns="55080" rIns="100080" bIns="5508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6330959" y="1690266"/>
              <a:ext cx="3389040" cy="1904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Przykładowy kod FFI</a:t>
              </a:r>
            </a:p>
          </p:txBody>
        </p:sp>
        <p:sp>
          <p:nvSpPr>
            <p:cNvPr id="27" name="Text 24"/>
            <p:cNvSpPr/>
            <p:nvPr/>
          </p:nvSpPr>
          <p:spPr>
            <a:xfrm>
              <a:off x="6330959" y="1880755"/>
              <a:ext cx="5369040" cy="2025821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import '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dart:ffi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';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069A2E"/>
                  </a:solidFill>
                  <a:latin typeface="Consolas" pitchFamily="33"/>
                  <a:ea typeface="MiSans" pitchFamily="34"/>
                  <a:cs typeface="MiSans" pitchFamily="34"/>
                </a:rPr>
                <a:t>// Zdefiniuj typy funkcji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typedef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CAdd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= Int32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Function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(Int32 a, Int32 b);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typedef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DartAdd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=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int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Function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int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a,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int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b);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void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main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() {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069A2E"/>
                  </a:solidFill>
                  <a:latin typeface="Consolas" pitchFamily="33"/>
                  <a:ea typeface="MiSans" pitchFamily="34"/>
                  <a:cs typeface="MiSans" pitchFamily="34"/>
                </a:rPr>
                <a:t>  // Otwórz bibliotekę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final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dylib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=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DynamicLibrary.open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('libmath.so');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069A2E"/>
                  </a:solidFill>
                  <a:latin typeface="Consolas" pitchFamily="33"/>
                  <a:ea typeface="MiSans" pitchFamily="34"/>
                  <a:cs typeface="MiSans" pitchFamily="34"/>
                </a:rPr>
                <a:t>  // Pobierz funkcję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final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DartAdd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=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dylib</a:t>
              </a:r>
              <a:endParaRPr lang="pl-PL" sz="11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endParaRP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     .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lookup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&lt;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NativeFunction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&lt;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CAdd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&gt;&gt;('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')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     .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asFunction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();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069A2E"/>
                  </a:solidFill>
                  <a:latin typeface="Consolas" pitchFamily="33"/>
                  <a:ea typeface="MiSans" pitchFamily="34"/>
                  <a:cs typeface="MiSans" pitchFamily="34"/>
                </a:rPr>
                <a:t>  // Wywołaj funkcję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final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int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result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=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add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(2, 3);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  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print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(</a:t>
              </a:r>
              <a:r>
                <a:rPr lang="pl-PL" sz="1100" b="0" i="0" u="none" strike="noStrike" kern="1200" cap="none" spc="0" baseline="0" dirty="0" err="1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result</a:t>
              </a: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); // 5</a:t>
              </a:r>
            </a:p>
            <a:p>
              <a:pPr marL="0" marR="0" lvl="0" indent="0" algn="l" rtl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 sz="1200">
                  <a:solidFill>
                    <a:srgbClr val="1C1C1C"/>
                  </a:solidFill>
                  <a:latin typeface="Consolas" pitchFamily="33"/>
                </a:defRPr>
              </a:pPr>
              <a:r>
                <a:rPr lang="pl-PL" sz="1100" b="0" i="0" u="none" strike="noStrike" kern="1200" cap="none" spc="0" baseline="0" dirty="0">
                  <a:ln>
                    <a:noFill/>
                  </a:ln>
                  <a:solidFill>
                    <a:srgbClr val="1C1C1C"/>
                  </a:solidFill>
                  <a:latin typeface="Consolas" pitchFamily="33"/>
                  <a:ea typeface="MiSans" pitchFamily="34"/>
                  <a:cs typeface="MiSans" pitchFamily="34"/>
                </a:rPr>
                <a:t>}</a:t>
              </a:r>
            </a:p>
          </p:txBody>
        </p:sp>
      </p:grpSp>
      <p:grpSp>
        <p:nvGrpSpPr>
          <p:cNvPr id="28" name="Grupa 27"/>
          <p:cNvGrpSpPr/>
          <p:nvPr/>
        </p:nvGrpSpPr>
        <p:grpSpPr>
          <a:xfrm>
            <a:off x="6108840" y="1577006"/>
            <a:ext cx="5683320" cy="1667369"/>
            <a:chOff x="6196680" y="4140000"/>
            <a:chExt cx="5683320" cy="1800000"/>
          </a:xfrm>
        </p:grpSpPr>
        <p:sp>
          <p:nvSpPr>
            <p:cNvPr id="29" name="Shape 25"/>
            <p:cNvSpPr/>
            <p:nvPr/>
          </p:nvSpPr>
          <p:spPr>
            <a:xfrm>
              <a:off x="6196680" y="4140000"/>
              <a:ext cx="5683320" cy="1800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683250"/>
                <a:gd name="f4" fmla="val 1873250"/>
                <a:gd name="f5" fmla="*/ f0 1 5683250"/>
                <a:gd name="f6" fmla="*/ f1 1 1873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683250"/>
                <a:gd name="f13" fmla="*/ f10 1 1873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683250" h="1873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2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0" name="Text 26"/>
            <p:cNvSpPr/>
            <p:nvPr/>
          </p:nvSpPr>
          <p:spPr>
            <a:xfrm>
              <a:off x="6355440" y="4292640"/>
              <a:ext cx="5445000" cy="213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EBD7"/>
                  </a:solidFill>
                </a:defRPr>
              </a:pPr>
              <a:r>
                <a:rPr lang="pl-PL" sz="15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Najlepsze praktyki</a:t>
              </a:r>
            </a:p>
          </p:txBody>
        </p:sp>
        <p:sp>
          <p:nvSpPr>
            <p:cNvPr id="31" name="Text 27"/>
            <p:cNvSpPr/>
            <p:nvPr/>
          </p:nvSpPr>
          <p:spPr>
            <a:xfrm>
              <a:off x="6355440" y="4628160"/>
              <a:ext cx="5429160" cy="1832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Minimalizuj przejścia FFI - wsadowe operacje</a:t>
              </a:r>
            </a:p>
          </p:txBody>
        </p:sp>
        <p:sp>
          <p:nvSpPr>
            <p:cNvPr id="32" name="Text 28"/>
            <p:cNvSpPr/>
            <p:nvPr/>
          </p:nvSpPr>
          <p:spPr>
            <a:xfrm>
              <a:off x="6355440" y="4872600"/>
              <a:ext cx="5429160" cy="1828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Używaj POD structs do przekazywania danych</a:t>
              </a:r>
            </a:p>
          </p:txBody>
        </p:sp>
        <p:sp>
          <p:nvSpPr>
            <p:cNvPr id="33" name="Text 29"/>
            <p:cNvSpPr/>
            <p:nvPr/>
          </p:nvSpPr>
          <p:spPr>
            <a:xfrm>
              <a:off x="6355440" y="5116680"/>
              <a:ext cx="5429160" cy="1828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Unikaj częstego tworzenia NativeCallback</a:t>
              </a:r>
            </a:p>
          </p:txBody>
        </p:sp>
        <p:sp>
          <p:nvSpPr>
            <p:cNvPr id="34" name="Text 30"/>
            <p:cNvSpPr/>
            <p:nvPr/>
          </p:nvSpPr>
          <p:spPr>
            <a:xfrm>
              <a:off x="6355440" y="5360400"/>
              <a:ext cx="5429160" cy="1832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Reużywaj bufory, unikaj malloc/free w pętlach</a:t>
              </a:r>
            </a:p>
          </p:txBody>
        </p:sp>
        <p:sp>
          <p:nvSpPr>
            <p:cNvPr id="35" name="Text 31"/>
            <p:cNvSpPr/>
            <p:nvPr/>
          </p:nvSpPr>
          <p:spPr>
            <a:xfrm>
              <a:off x="6355440" y="5604840"/>
              <a:ext cx="5429160" cy="1828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Używaj izolatów dla długich operacji</a:t>
              </a:r>
            </a:p>
          </p:txBody>
        </p:sp>
      </p:grpSp>
      <p:grpSp>
        <p:nvGrpSpPr>
          <p:cNvPr id="36" name="Grupa 35"/>
          <p:cNvGrpSpPr/>
          <p:nvPr/>
        </p:nvGrpSpPr>
        <p:grpSpPr>
          <a:xfrm>
            <a:off x="6538909" y="5695022"/>
            <a:ext cx="4823181" cy="889085"/>
            <a:chOff x="6119999" y="5867479"/>
            <a:chExt cx="5438501" cy="1018233"/>
          </a:xfrm>
        </p:grpSpPr>
        <p:sp>
          <p:nvSpPr>
            <p:cNvPr id="37" name="Shape 32"/>
            <p:cNvSpPr/>
            <p:nvPr/>
          </p:nvSpPr>
          <p:spPr>
            <a:xfrm>
              <a:off x="6119999" y="5867479"/>
              <a:ext cx="45719" cy="101823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857250"/>
                <a:gd name="f5" fmla="*/ f0 1 31750"/>
                <a:gd name="f6" fmla="*/ f1 1 857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857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857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8" name="Text 33"/>
            <p:cNvSpPr/>
            <p:nvPr/>
          </p:nvSpPr>
          <p:spPr>
            <a:xfrm>
              <a:off x="6262920" y="5888594"/>
              <a:ext cx="3109178" cy="204529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Porównanie z </a:t>
              </a:r>
              <a:r>
                <a:rPr lang="pl-PL" sz="1400" b="1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MethodChannel</a:t>
              </a:r>
              <a:endPara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39" name="Text 34"/>
            <p:cNvSpPr/>
            <p:nvPr/>
          </p:nvSpPr>
          <p:spPr>
            <a:xfrm>
              <a:off x="6262920" y="6174434"/>
              <a:ext cx="2762280" cy="190439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MethodChannel</a:t>
              </a:r>
              <a:endParaRPr lang="pl-PL" sz="14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40" name="Text 35"/>
            <p:cNvSpPr/>
            <p:nvPr/>
          </p:nvSpPr>
          <p:spPr>
            <a:xfrm>
              <a:off x="6262920" y="6359592"/>
              <a:ext cx="2472289" cy="51995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JSON </a:t>
              </a:r>
              <a:r>
                <a:rPr lang="pl-PL" sz="1000" b="0" i="0" u="none" strike="noStrike" kern="1200" cap="none" spc="0" baseline="0" dirty="0" err="1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serialization</a:t>
              </a:r>
              <a:r>
                <a:rPr lang="pl-PL" sz="10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, opóźnienia, wyższy narzut</a:t>
              </a:r>
            </a:p>
          </p:txBody>
        </p:sp>
        <p:sp>
          <p:nvSpPr>
            <p:cNvPr id="41" name="Text 36"/>
            <p:cNvSpPr/>
            <p:nvPr/>
          </p:nvSpPr>
          <p:spPr>
            <a:xfrm>
              <a:off x="9416076" y="6189644"/>
              <a:ext cx="1862726" cy="18227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FFI</a:t>
              </a:r>
            </a:p>
          </p:txBody>
        </p:sp>
        <p:sp>
          <p:nvSpPr>
            <p:cNvPr id="42" name="Text 37"/>
            <p:cNvSpPr/>
            <p:nvPr/>
          </p:nvSpPr>
          <p:spPr>
            <a:xfrm>
              <a:off x="9416076" y="6452082"/>
              <a:ext cx="2142424" cy="2984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~100ns/</a:t>
              </a:r>
              <a:r>
                <a:rPr lang="pl-PL" sz="1000" b="0" i="0" u="none" strike="noStrike" kern="1200" cap="none" spc="0" baseline="0" dirty="0" err="1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call</a:t>
              </a:r>
              <a:r>
                <a:rPr lang="pl-PL" sz="1000" b="0" i="0" u="none" strike="noStrike" kern="1200" cap="none" spc="0" baseline="0" dirty="0">
                  <a:ln>
                    <a:noFill/>
                  </a:ln>
                  <a:solidFill>
                    <a:srgbClr val="6B728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, bezpośredni dostęp, najwyższa wydajność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odica.com/0b8013a4ed8157fc0bc7c0d0e33701bfdda12300.jp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4658" b="4658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1924200"/>
            <a:ext cx="2892256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06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2990880"/>
            <a:ext cx="11658600" cy="11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Progressive Web </a:t>
            </a:r>
            <a:r>
              <a:rPr lang="pl-PL" sz="4400" b="1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Apps</a:t>
            </a:r>
            <a:endParaRPr lang="pl-PL" sz="4400" b="1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80880" y="4362479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62924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Aplikacje webowe z funkcjonalnością natywną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4" baseline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6.1 DEFINICJA I KOMPONENTY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6612202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PWA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definicja i komponenty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1219320"/>
            <a:ext cx="6206956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PWA?</a:t>
            </a:r>
          </a:p>
        </p:txBody>
      </p:sp>
      <p:sp>
        <p:nvSpPr>
          <p:cNvPr id="5" name="Text 3"/>
          <p:cNvSpPr/>
          <p:nvPr/>
        </p:nvSpPr>
        <p:spPr>
          <a:xfrm>
            <a:off x="380880" y="1638360"/>
            <a:ext cx="6362820" cy="1731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Progressive Web 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App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(PWA)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aplikacja webowa wykorzystująca nowoczesne technologie webowe do oferowania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doświadczenia podobnego do aplikacji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natywnych,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 konieczności instalacji ze sklepu z aplikacjami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1200"/>
              </a:spcAft>
              <a:defRPr lang="pl-PL"/>
            </a:pP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PWA łączą najlepsze cechy stron webowych (dostępność,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indeksowalność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) z funkcjonalnościami aplikacji mobilnych (offline,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push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notifications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dostęp do sprzętu</a:t>
            </a:r>
            <a:r>
              <a:rPr lang="pl-PL" sz="14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).</a:t>
            </a:r>
            <a:endParaRPr lang="pl-PL" sz="1400" dirty="0"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0880" y="3523941"/>
            <a:ext cx="685800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komponenty</a:t>
            </a:r>
          </a:p>
        </p:txBody>
      </p:sp>
      <p:sp>
        <p:nvSpPr>
          <p:cNvPr id="8" name="Shape 6"/>
          <p:cNvSpPr/>
          <p:nvPr/>
        </p:nvSpPr>
        <p:spPr>
          <a:xfrm>
            <a:off x="399960" y="3884399"/>
            <a:ext cx="6743880" cy="723959"/>
          </a:xfrm>
          <a:custGeom>
            <a:avLst/>
            <a:gdLst>
              <a:gd name="f0" fmla="val w"/>
              <a:gd name="f1" fmla="val h"/>
              <a:gd name="f2" fmla="val 0"/>
              <a:gd name="f3" fmla="val 6743700"/>
              <a:gd name="f4" fmla="val 723900"/>
              <a:gd name="f5" fmla="*/ f0 1 67437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437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437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9960" y="3884399"/>
            <a:ext cx="38160" cy="723959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723900"/>
              <a:gd name="f5" fmla="*/ f0 1 381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1680" y="3960360"/>
            <a:ext cx="304920" cy="304920"/>
          </a:xfrm>
          <a:custGeom>
            <a:avLst/>
            <a:gdLst>
              <a:gd name="f0" fmla="val w"/>
              <a:gd name="f1" fmla="val h"/>
              <a:gd name="f2" fmla="val 0"/>
              <a:gd name="f3" fmla="val 304800"/>
              <a:gd name="f4" fmla="val 38100"/>
              <a:gd name="f5" fmla="val 266700"/>
              <a:gd name="f6" fmla="val 287728"/>
              <a:gd name="f7" fmla="val 17072"/>
              <a:gd name="f8" fmla="*/ f0 1 304800"/>
              <a:gd name="f9" fmla="*/ f1 1 304800"/>
              <a:gd name="f10" fmla="val f2"/>
              <a:gd name="f11" fmla="val f3"/>
              <a:gd name="f12" fmla="+- f11 0 f10"/>
              <a:gd name="f13" fmla="*/ f12 1 3048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04800" h="3048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8200" y="3960360"/>
            <a:ext cx="37152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</a:t>
            </a:r>
          </a:p>
        </p:txBody>
      </p:sp>
      <p:sp>
        <p:nvSpPr>
          <p:cNvPr id="12" name="Text 10"/>
          <p:cNvSpPr/>
          <p:nvPr/>
        </p:nvSpPr>
        <p:spPr>
          <a:xfrm>
            <a:off x="990719" y="3979440"/>
            <a:ext cx="26092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Service Workers</a:t>
            </a:r>
          </a:p>
        </p:txBody>
      </p:sp>
      <p:sp>
        <p:nvSpPr>
          <p:cNvPr id="13" name="Text 11"/>
          <p:cNvSpPr/>
          <p:nvPr/>
        </p:nvSpPr>
        <p:spPr>
          <a:xfrm>
            <a:off x="571680" y="4283395"/>
            <a:ext cx="66484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Skrypty działające w tle, obsługujące cache, offline,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push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notifications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6B728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9960" y="4722479"/>
            <a:ext cx="6743880" cy="723959"/>
          </a:xfrm>
          <a:custGeom>
            <a:avLst/>
            <a:gdLst>
              <a:gd name="f0" fmla="val w"/>
              <a:gd name="f1" fmla="val h"/>
              <a:gd name="f2" fmla="val 0"/>
              <a:gd name="f3" fmla="val 6743700"/>
              <a:gd name="f4" fmla="val 723900"/>
              <a:gd name="f5" fmla="*/ f0 1 67437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437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437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9960" y="4722479"/>
            <a:ext cx="38160" cy="723959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723900"/>
              <a:gd name="f5" fmla="*/ f0 1 381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1680" y="4798800"/>
            <a:ext cx="304920" cy="304920"/>
          </a:xfrm>
          <a:custGeom>
            <a:avLst/>
            <a:gdLst>
              <a:gd name="f0" fmla="val w"/>
              <a:gd name="f1" fmla="val h"/>
              <a:gd name="f2" fmla="val 0"/>
              <a:gd name="f3" fmla="val 304800"/>
              <a:gd name="f4" fmla="val 38100"/>
              <a:gd name="f5" fmla="val 266700"/>
              <a:gd name="f6" fmla="val 287728"/>
              <a:gd name="f7" fmla="val 17072"/>
              <a:gd name="f8" fmla="*/ f0 1 304800"/>
              <a:gd name="f9" fmla="*/ f1 1 304800"/>
              <a:gd name="f10" fmla="val f2"/>
              <a:gd name="f11" fmla="val f3"/>
              <a:gd name="f12" fmla="+- f11 0 f10"/>
              <a:gd name="f13" fmla="*/ f12 1 3048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04800" h="3048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8200" y="4798800"/>
            <a:ext cx="37152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</a:t>
            </a:r>
          </a:p>
        </p:txBody>
      </p:sp>
      <p:sp>
        <p:nvSpPr>
          <p:cNvPr id="18" name="Text 16"/>
          <p:cNvSpPr/>
          <p:nvPr/>
        </p:nvSpPr>
        <p:spPr>
          <a:xfrm>
            <a:off x="990719" y="4817880"/>
            <a:ext cx="24292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Web </a:t>
            </a: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App</a:t>
            </a: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Manifest</a:t>
            </a:r>
          </a:p>
        </p:txBody>
      </p:sp>
      <p:sp>
        <p:nvSpPr>
          <p:cNvPr id="19" name="Text 17"/>
          <p:cNvSpPr/>
          <p:nvPr/>
        </p:nvSpPr>
        <p:spPr>
          <a:xfrm>
            <a:off x="571680" y="5121475"/>
            <a:ext cx="66484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JSON opisujący aplikację: nazwa, ikony, kolory, tryb wyświetlania</a:t>
            </a:r>
          </a:p>
        </p:txBody>
      </p:sp>
      <p:sp>
        <p:nvSpPr>
          <p:cNvPr id="20" name="Shape 18"/>
          <p:cNvSpPr/>
          <p:nvPr/>
        </p:nvSpPr>
        <p:spPr>
          <a:xfrm>
            <a:off x="399960" y="5560560"/>
            <a:ext cx="6743880" cy="723959"/>
          </a:xfrm>
          <a:custGeom>
            <a:avLst/>
            <a:gdLst>
              <a:gd name="f0" fmla="val w"/>
              <a:gd name="f1" fmla="val h"/>
              <a:gd name="f2" fmla="val 0"/>
              <a:gd name="f3" fmla="val 6743700"/>
              <a:gd name="f4" fmla="val 723900"/>
              <a:gd name="f5" fmla="*/ f0 1 67437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437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437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9960" y="5560560"/>
            <a:ext cx="38160" cy="723959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723900"/>
              <a:gd name="f5" fmla="*/ f0 1 38100"/>
              <a:gd name="f6" fmla="*/ f1 1 7239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7239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7239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1680" y="5636880"/>
            <a:ext cx="304920" cy="304920"/>
          </a:xfrm>
          <a:custGeom>
            <a:avLst/>
            <a:gdLst>
              <a:gd name="f0" fmla="val w"/>
              <a:gd name="f1" fmla="val h"/>
              <a:gd name="f2" fmla="val 0"/>
              <a:gd name="f3" fmla="val 304800"/>
              <a:gd name="f4" fmla="val 38100"/>
              <a:gd name="f5" fmla="val 266700"/>
              <a:gd name="f6" fmla="val 287728"/>
              <a:gd name="f7" fmla="val 17072"/>
              <a:gd name="f8" fmla="*/ f0 1 304800"/>
              <a:gd name="f9" fmla="*/ f1 1 304800"/>
              <a:gd name="f10" fmla="val f2"/>
              <a:gd name="f11" fmla="val f3"/>
              <a:gd name="f12" fmla="+- f11 0 f10"/>
              <a:gd name="f13" fmla="*/ f12 1 304800"/>
              <a:gd name="f14" fmla="*/ f10 1 f13"/>
              <a:gd name="f15" fmla="*/ f11 1 f13"/>
              <a:gd name="f16" fmla="*/ f14 f8 1"/>
              <a:gd name="f17" fmla="*/ f15 f8 1"/>
              <a:gd name="f18" fmla="*/ f15 f9 1"/>
              <a:gd name="f19" fmla="*/ f14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304800" h="304800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6"/>
                  <a:pt x="f6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7"/>
                  <a:pt x="f7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1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8200" y="5636880"/>
            <a:ext cx="37152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3</a:t>
            </a:r>
          </a:p>
        </p:txBody>
      </p:sp>
      <p:sp>
        <p:nvSpPr>
          <p:cNvPr id="24" name="Text 22"/>
          <p:cNvSpPr/>
          <p:nvPr/>
        </p:nvSpPr>
        <p:spPr>
          <a:xfrm>
            <a:off x="990719" y="5655959"/>
            <a:ext cx="1349280" cy="266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HTTPS</a:t>
            </a:r>
          </a:p>
        </p:txBody>
      </p:sp>
      <p:sp>
        <p:nvSpPr>
          <p:cNvPr id="25" name="Text 23"/>
          <p:cNvSpPr/>
          <p:nvPr/>
        </p:nvSpPr>
        <p:spPr>
          <a:xfrm>
            <a:off x="571680" y="5959555"/>
            <a:ext cx="6648479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Wymagane dla Service Workers, zapewnia bezpieczeństwo</a:t>
            </a:r>
          </a:p>
        </p:txBody>
      </p:sp>
      <p:grpSp>
        <p:nvGrpSpPr>
          <p:cNvPr id="49" name="Grupa 48"/>
          <p:cNvGrpSpPr/>
          <p:nvPr/>
        </p:nvGrpSpPr>
        <p:grpSpPr>
          <a:xfrm>
            <a:off x="7376039" y="1350824"/>
            <a:ext cx="4438800" cy="2452435"/>
            <a:chOff x="7376039" y="1319644"/>
            <a:chExt cx="4438800" cy="2452435"/>
          </a:xfrm>
        </p:grpSpPr>
        <p:sp>
          <p:nvSpPr>
            <p:cNvPr id="26" name="Shape 24"/>
            <p:cNvSpPr/>
            <p:nvPr/>
          </p:nvSpPr>
          <p:spPr>
            <a:xfrm>
              <a:off x="7376039" y="1319644"/>
              <a:ext cx="4438800" cy="245243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438650"/>
                <a:gd name="f4" fmla="val 2552700"/>
                <a:gd name="f5" fmla="*/ f0 1 4438650"/>
                <a:gd name="f6" fmla="*/ f1 1 25527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438650"/>
                <a:gd name="f13" fmla="*/ f10 1 25527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438650" h="25527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566840" y="1409759"/>
              <a:ext cx="415296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Statystyki adopcji </a:t>
              </a:r>
              <a:r>
                <a:rPr lang="pl-PL" sz="1600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(2025)</a:t>
              </a:r>
            </a:p>
          </p:txBody>
        </p:sp>
        <p:sp>
          <p:nvSpPr>
            <p:cNvPr id="28" name="Text 26"/>
            <p:cNvSpPr/>
            <p:nvPr/>
          </p:nvSpPr>
          <p:spPr>
            <a:xfrm>
              <a:off x="7566840" y="1859398"/>
              <a:ext cx="2513160" cy="260847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Strony używające funkcji PWA</a:t>
              </a:r>
            </a:p>
          </p:txBody>
        </p:sp>
        <p:sp>
          <p:nvSpPr>
            <p:cNvPr id="29" name="Text 27"/>
            <p:cNvSpPr/>
            <p:nvPr/>
          </p:nvSpPr>
          <p:spPr>
            <a:xfrm>
              <a:off x="10800000" y="1828800"/>
              <a:ext cx="91764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24.5%</a:t>
              </a:r>
            </a:p>
          </p:txBody>
        </p:sp>
        <p:sp>
          <p:nvSpPr>
            <p:cNvPr id="30" name="Text 28"/>
            <p:cNvSpPr/>
            <p:nvPr/>
          </p:nvSpPr>
          <p:spPr>
            <a:xfrm>
              <a:off x="7566840" y="2278440"/>
              <a:ext cx="2513160" cy="2286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Pełne kryteria instalacji</a:t>
              </a:r>
            </a:p>
          </p:txBody>
        </p:sp>
        <p:sp>
          <p:nvSpPr>
            <p:cNvPr id="31" name="Text 29"/>
            <p:cNvSpPr/>
            <p:nvPr/>
          </p:nvSpPr>
          <p:spPr>
            <a:xfrm>
              <a:off x="10260000" y="2247840"/>
              <a:ext cx="145836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3.3-3.5%</a:t>
              </a:r>
            </a:p>
          </p:txBody>
        </p:sp>
        <p:sp>
          <p:nvSpPr>
            <p:cNvPr id="32" name="Text 30"/>
            <p:cNvSpPr/>
            <p:nvPr/>
          </p:nvSpPr>
          <p:spPr>
            <a:xfrm>
              <a:off x="7566840" y="2655916"/>
              <a:ext cx="2513160" cy="2286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Duże marki używające PWA</a:t>
              </a:r>
            </a:p>
          </p:txBody>
        </p:sp>
        <p:sp>
          <p:nvSpPr>
            <p:cNvPr id="33" name="Text 31"/>
            <p:cNvSpPr/>
            <p:nvPr/>
          </p:nvSpPr>
          <p:spPr>
            <a:xfrm>
              <a:off x="10620000" y="2625316"/>
              <a:ext cx="109404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60%</a:t>
              </a:r>
            </a:p>
          </p:txBody>
        </p:sp>
        <p:sp>
          <p:nvSpPr>
            <p:cNvPr id="34" name="Text 32"/>
            <p:cNvSpPr/>
            <p:nvPr/>
          </p:nvSpPr>
          <p:spPr>
            <a:xfrm>
              <a:off x="7566840" y="3074956"/>
              <a:ext cx="2333160" cy="2286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Przychód PWA 2024-25</a:t>
              </a:r>
            </a:p>
          </p:txBody>
        </p:sp>
        <p:sp>
          <p:nvSpPr>
            <p:cNvPr id="35" name="Text 33"/>
            <p:cNvSpPr/>
            <p:nvPr/>
          </p:nvSpPr>
          <p:spPr>
            <a:xfrm>
              <a:off x="10440000" y="3044356"/>
              <a:ext cx="127404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r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$10.7B</a:t>
              </a:r>
            </a:p>
          </p:txBody>
        </p:sp>
        <p:sp>
          <p:nvSpPr>
            <p:cNvPr id="36" name="Text 34"/>
            <p:cNvSpPr/>
            <p:nvPr/>
          </p:nvSpPr>
          <p:spPr>
            <a:xfrm>
              <a:off x="7566840" y="3453186"/>
              <a:ext cx="4124160" cy="1904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Prognoza </a:t>
              </a:r>
              <a:r>
                <a:rPr lang="pl-PL" sz="1400" b="0" i="0" u="none" strike="noStrike" kern="1200" cap="none" spc="0" baseline="0" dirty="0" smtClean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2027   </a:t>
              </a:r>
              <a:r>
                <a:rPr lang="pl-PL" sz="1050" b="0" i="0" u="none" strike="noStrike" kern="1200" cap="none" spc="0" baseline="0" dirty="0" smtClean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		                       </a:t>
              </a:r>
              <a:r>
                <a:rPr lang="pl-PL" sz="1600" b="1" i="0" u="none" strike="noStrike" kern="1200" cap="none" spc="0" baseline="0" dirty="0" smtClean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$</a:t>
              </a: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23B</a:t>
              </a:r>
            </a:p>
          </p:txBody>
        </p:sp>
      </p:grpSp>
      <p:grpSp>
        <p:nvGrpSpPr>
          <p:cNvPr id="50" name="Grupa 49"/>
          <p:cNvGrpSpPr/>
          <p:nvPr/>
        </p:nvGrpSpPr>
        <p:grpSpPr>
          <a:xfrm>
            <a:off x="7395119" y="3923293"/>
            <a:ext cx="4505761" cy="838080"/>
            <a:chOff x="7395119" y="4536360"/>
            <a:chExt cx="4505761" cy="838080"/>
          </a:xfrm>
        </p:grpSpPr>
        <p:sp>
          <p:nvSpPr>
            <p:cNvPr id="37" name="Shape 35"/>
            <p:cNvSpPr/>
            <p:nvPr/>
          </p:nvSpPr>
          <p:spPr>
            <a:xfrm>
              <a:off x="7395119" y="4536360"/>
              <a:ext cx="38160" cy="8380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8100"/>
                <a:gd name="f4" fmla="val 838200"/>
                <a:gd name="f5" fmla="*/ f0 1 38100"/>
                <a:gd name="f6" fmla="*/ f1 1 8382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8100"/>
                <a:gd name="f13" fmla="*/ f10 1 8382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8100" h="8382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7566840" y="4650480"/>
              <a:ext cx="433404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Popularne PWA</a:t>
              </a:r>
            </a:p>
          </p:txBody>
        </p:sp>
        <p:sp>
          <p:nvSpPr>
            <p:cNvPr id="39" name="Shape 37"/>
            <p:cNvSpPr/>
            <p:nvPr/>
          </p:nvSpPr>
          <p:spPr>
            <a:xfrm>
              <a:off x="7566840" y="4993560"/>
              <a:ext cx="800280" cy="2667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00100"/>
                <a:gd name="f4" fmla="val 266700"/>
                <a:gd name="f5" fmla="val 38101"/>
                <a:gd name="f6" fmla="val 761999"/>
                <a:gd name="f7" fmla="val 783042"/>
                <a:gd name="f8" fmla="val 17058"/>
                <a:gd name="f9" fmla="val 228599"/>
                <a:gd name="f10" fmla="val 249628"/>
                <a:gd name="f11" fmla="val 783028"/>
                <a:gd name="f12" fmla="val 249642"/>
                <a:gd name="f13" fmla="val 17072"/>
                <a:gd name="f14" fmla="*/ f0 1 800100"/>
                <a:gd name="f15" fmla="*/ f1 1 266700"/>
                <a:gd name="f16" fmla="val f2"/>
                <a:gd name="f17" fmla="val f3"/>
                <a:gd name="f18" fmla="val f4"/>
                <a:gd name="f19" fmla="+- f18 0 f16"/>
                <a:gd name="f20" fmla="+- f17 0 f16"/>
                <a:gd name="f21" fmla="*/ f20 1 800100"/>
                <a:gd name="f22" fmla="*/ f19 1 266700"/>
                <a:gd name="f23" fmla="*/ f16 1 f21"/>
                <a:gd name="f24" fmla="*/ f17 1 f21"/>
                <a:gd name="f25" fmla="*/ f16 1 f22"/>
                <a:gd name="f26" fmla="*/ f18 1 f22"/>
                <a:gd name="f27" fmla="*/ f23 f14 1"/>
                <a:gd name="f28" fmla="*/ f24 f14 1"/>
                <a:gd name="f29" fmla="*/ f26 f15 1"/>
                <a:gd name="f30" fmla="*/ f25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7" t="f30" r="f28" b="f29"/>
              <a:pathLst>
                <a:path w="800100" h="26670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11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3"/>
                    <a:pt x="f13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7566840" y="4993560"/>
              <a:ext cx="86688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114480" tIns="38160" rIns="114480" bIns="3816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5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Starbucks</a:t>
              </a:r>
            </a:p>
          </p:txBody>
        </p:sp>
        <p:sp>
          <p:nvSpPr>
            <p:cNvPr id="41" name="Shape 39"/>
            <p:cNvSpPr/>
            <p:nvPr/>
          </p:nvSpPr>
          <p:spPr>
            <a:xfrm>
              <a:off x="8443080" y="4993560"/>
              <a:ext cx="743040" cy="2667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2950"/>
                <a:gd name="f4" fmla="val 266700"/>
                <a:gd name="f5" fmla="val 38101"/>
                <a:gd name="f6" fmla="val 704849"/>
                <a:gd name="f7" fmla="val 725892"/>
                <a:gd name="f8" fmla="val 17058"/>
                <a:gd name="f9" fmla="val 228599"/>
                <a:gd name="f10" fmla="val 249628"/>
                <a:gd name="f11" fmla="val 725878"/>
                <a:gd name="f12" fmla="val 249642"/>
                <a:gd name="f13" fmla="val 17072"/>
                <a:gd name="f14" fmla="*/ f0 1 742950"/>
                <a:gd name="f15" fmla="*/ f1 1 266700"/>
                <a:gd name="f16" fmla="val f2"/>
                <a:gd name="f17" fmla="val f3"/>
                <a:gd name="f18" fmla="val f4"/>
                <a:gd name="f19" fmla="+- f18 0 f16"/>
                <a:gd name="f20" fmla="+- f17 0 f16"/>
                <a:gd name="f21" fmla="*/ f20 1 742950"/>
                <a:gd name="f22" fmla="*/ f19 1 266700"/>
                <a:gd name="f23" fmla="*/ f16 1 f21"/>
                <a:gd name="f24" fmla="*/ f17 1 f21"/>
                <a:gd name="f25" fmla="*/ f16 1 f22"/>
                <a:gd name="f26" fmla="*/ f18 1 f22"/>
                <a:gd name="f27" fmla="*/ f23 f14 1"/>
                <a:gd name="f28" fmla="*/ f24 f14 1"/>
                <a:gd name="f29" fmla="*/ f26 f15 1"/>
                <a:gd name="f30" fmla="*/ f25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7" t="f30" r="f28" b="f29"/>
              <a:pathLst>
                <a:path w="742950" h="26670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11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3"/>
                    <a:pt x="f13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8443080" y="4993560"/>
              <a:ext cx="80964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114480" tIns="38160" rIns="114480" bIns="3816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5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Pinterest</a:t>
              </a:r>
            </a:p>
          </p:txBody>
        </p:sp>
        <p:sp>
          <p:nvSpPr>
            <p:cNvPr id="43" name="Shape 41"/>
            <p:cNvSpPr/>
            <p:nvPr/>
          </p:nvSpPr>
          <p:spPr>
            <a:xfrm>
              <a:off x="9257400" y="4993560"/>
              <a:ext cx="523799" cy="2667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23875"/>
                <a:gd name="f4" fmla="val 266700"/>
                <a:gd name="f5" fmla="val 38101"/>
                <a:gd name="f6" fmla="val 485774"/>
                <a:gd name="f7" fmla="val 506817"/>
                <a:gd name="f8" fmla="val 17058"/>
                <a:gd name="f9" fmla="val 228599"/>
                <a:gd name="f10" fmla="val 249628"/>
                <a:gd name="f11" fmla="val 506803"/>
                <a:gd name="f12" fmla="val 249642"/>
                <a:gd name="f13" fmla="val 17072"/>
                <a:gd name="f14" fmla="*/ f0 1 523875"/>
                <a:gd name="f15" fmla="*/ f1 1 266700"/>
                <a:gd name="f16" fmla="val f2"/>
                <a:gd name="f17" fmla="val f3"/>
                <a:gd name="f18" fmla="val f4"/>
                <a:gd name="f19" fmla="+- f18 0 f16"/>
                <a:gd name="f20" fmla="+- f17 0 f16"/>
                <a:gd name="f21" fmla="*/ f20 1 523875"/>
                <a:gd name="f22" fmla="*/ f19 1 266700"/>
                <a:gd name="f23" fmla="*/ f16 1 f21"/>
                <a:gd name="f24" fmla="*/ f17 1 f21"/>
                <a:gd name="f25" fmla="*/ f16 1 f22"/>
                <a:gd name="f26" fmla="*/ f18 1 f22"/>
                <a:gd name="f27" fmla="*/ f23 f14 1"/>
                <a:gd name="f28" fmla="*/ f24 f14 1"/>
                <a:gd name="f29" fmla="*/ f26 f15 1"/>
                <a:gd name="f30" fmla="*/ f25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7" t="f30" r="f28" b="f29"/>
              <a:pathLst>
                <a:path w="523875" h="26670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11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3"/>
                    <a:pt x="f13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9257400" y="4993560"/>
              <a:ext cx="59040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114480" tIns="38160" rIns="114480" bIns="3816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5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Uber</a:t>
              </a:r>
            </a:p>
          </p:txBody>
        </p:sp>
        <p:sp>
          <p:nvSpPr>
            <p:cNvPr id="45" name="Shape 43"/>
            <p:cNvSpPr/>
            <p:nvPr/>
          </p:nvSpPr>
          <p:spPr>
            <a:xfrm>
              <a:off x="9856080" y="4993560"/>
              <a:ext cx="914400" cy="2667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14400"/>
                <a:gd name="f4" fmla="val 266700"/>
                <a:gd name="f5" fmla="val 38101"/>
                <a:gd name="f6" fmla="val 876299"/>
                <a:gd name="f7" fmla="val 897342"/>
                <a:gd name="f8" fmla="val 17058"/>
                <a:gd name="f9" fmla="val 228599"/>
                <a:gd name="f10" fmla="val 249642"/>
                <a:gd name="f11" fmla="val 17072"/>
                <a:gd name="f12" fmla="*/ f0 1 914400"/>
                <a:gd name="f13" fmla="*/ f1 1 266700"/>
                <a:gd name="f14" fmla="val f2"/>
                <a:gd name="f15" fmla="val f3"/>
                <a:gd name="f16" fmla="val f4"/>
                <a:gd name="f17" fmla="+- f16 0 f14"/>
                <a:gd name="f18" fmla="+- f15 0 f14"/>
                <a:gd name="f19" fmla="*/ f18 1 914400"/>
                <a:gd name="f20" fmla="*/ f17 1 266700"/>
                <a:gd name="f21" fmla="*/ f14 1 f19"/>
                <a:gd name="f22" fmla="*/ f15 1 f19"/>
                <a:gd name="f23" fmla="*/ f14 1 f20"/>
                <a:gd name="f24" fmla="*/ f16 1 f20"/>
                <a:gd name="f25" fmla="*/ f21 f12 1"/>
                <a:gd name="f26" fmla="*/ f22 f12 1"/>
                <a:gd name="f27" fmla="*/ f24 f13 1"/>
                <a:gd name="f28" fmla="*/ f2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5" t="f28" r="f26" b="f27"/>
              <a:pathLst>
                <a:path w="914400" h="26670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0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9856080" y="4993560"/>
              <a:ext cx="98100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114480" tIns="38160" rIns="114480" bIns="3816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5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Twitter Lite</a:t>
              </a:r>
            </a:p>
          </p:txBody>
        </p:sp>
        <p:sp>
          <p:nvSpPr>
            <p:cNvPr id="47" name="Shape 45"/>
            <p:cNvSpPr/>
            <p:nvPr/>
          </p:nvSpPr>
          <p:spPr>
            <a:xfrm>
              <a:off x="10850040" y="4993560"/>
              <a:ext cx="685799" cy="2667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85800"/>
                <a:gd name="f4" fmla="val 266700"/>
                <a:gd name="f5" fmla="val 38101"/>
                <a:gd name="f6" fmla="val 647699"/>
                <a:gd name="f7" fmla="val 668742"/>
                <a:gd name="f8" fmla="val 17058"/>
                <a:gd name="f9" fmla="val 228599"/>
                <a:gd name="f10" fmla="val 249628"/>
                <a:gd name="f11" fmla="val 668728"/>
                <a:gd name="f12" fmla="val 249642"/>
                <a:gd name="f13" fmla="val 17072"/>
                <a:gd name="f14" fmla="*/ f0 1 685800"/>
                <a:gd name="f15" fmla="*/ f1 1 266700"/>
                <a:gd name="f16" fmla="val f2"/>
                <a:gd name="f17" fmla="val f3"/>
                <a:gd name="f18" fmla="val f4"/>
                <a:gd name="f19" fmla="+- f18 0 f16"/>
                <a:gd name="f20" fmla="+- f17 0 f16"/>
                <a:gd name="f21" fmla="*/ f20 1 685800"/>
                <a:gd name="f22" fmla="*/ f19 1 266700"/>
                <a:gd name="f23" fmla="*/ f16 1 f21"/>
                <a:gd name="f24" fmla="*/ f17 1 f21"/>
                <a:gd name="f25" fmla="*/ f16 1 f22"/>
                <a:gd name="f26" fmla="*/ f18 1 f22"/>
                <a:gd name="f27" fmla="*/ f23 f14 1"/>
                <a:gd name="f28" fmla="*/ f24 f14 1"/>
                <a:gd name="f29" fmla="*/ f26 f15 1"/>
                <a:gd name="f30" fmla="*/ f25 f15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7" t="f30" r="f28" b="f29"/>
              <a:pathLst>
                <a:path w="685800" h="26670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11" y="f4"/>
                    <a:pt x="f6" y="f4"/>
                  </a:cubicBezTo>
                  <a:lnTo>
                    <a:pt x="f5" y="f4"/>
                  </a:lnTo>
                  <a:cubicBezTo>
                    <a:pt x="f8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3"/>
                    <a:pt x="f13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10850040" y="4993560"/>
              <a:ext cx="752400" cy="266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114480" tIns="38160" rIns="114480" bIns="3816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05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Flipkart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080" y="325080"/>
            <a:ext cx="1159848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45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6.2. </a:t>
            </a:r>
            <a:r>
              <a:rPr lang="pl-PL" sz="900" b="0" i="0" u="none" strike="noStrike" kern="0" cap="none" spc="45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WYDAJNOŚĆ I OGRANICZENIA</a:t>
            </a:r>
          </a:p>
        </p:txBody>
      </p:sp>
      <p:sp>
        <p:nvSpPr>
          <p:cNvPr id="3" name="Text 1"/>
          <p:cNvSpPr/>
          <p:nvPr/>
        </p:nvSpPr>
        <p:spPr>
          <a:xfrm>
            <a:off x="325080" y="552600"/>
            <a:ext cx="11688120" cy="325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PWA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wydajność i ograniczenia</a:t>
            </a:r>
          </a:p>
        </p:txBody>
      </p:sp>
      <p:sp>
        <p:nvSpPr>
          <p:cNvPr id="4" name="Text 2"/>
          <p:cNvSpPr/>
          <p:nvPr/>
        </p:nvSpPr>
        <p:spPr>
          <a:xfrm>
            <a:off x="325080" y="1040399"/>
            <a:ext cx="5770800" cy="259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Wydajność PWA</a:t>
            </a:r>
          </a:p>
        </p:txBody>
      </p:sp>
      <p:sp>
        <p:nvSpPr>
          <p:cNvPr id="5" name="Shape 3"/>
          <p:cNvSpPr/>
          <p:nvPr/>
        </p:nvSpPr>
        <p:spPr>
          <a:xfrm>
            <a:off x="341280" y="1397880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1280" y="1397880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800" y="146377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4x szybsze ładowanie</a:t>
            </a:r>
          </a:p>
        </p:txBody>
      </p:sp>
      <p:sp>
        <p:nvSpPr>
          <p:cNvPr id="8" name="Text 6"/>
          <p:cNvSpPr/>
          <p:nvPr/>
        </p:nvSpPr>
        <p:spPr>
          <a:xfrm>
            <a:off x="487800" y="1690560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 porównaniu do tradycyjnych stron mobilnych</a:t>
            </a:r>
          </a:p>
        </p:txBody>
      </p:sp>
      <p:sp>
        <p:nvSpPr>
          <p:cNvPr id="9" name="Shape 7"/>
          <p:cNvSpPr/>
          <p:nvPr/>
        </p:nvSpPr>
        <p:spPr>
          <a:xfrm>
            <a:off x="341280" y="2015640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280" y="2015640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800" y="208153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-50% bounce rate</a:t>
            </a:r>
          </a:p>
        </p:txBody>
      </p:sp>
      <p:sp>
        <p:nvSpPr>
          <p:cNvPr id="12" name="Text 10"/>
          <p:cNvSpPr/>
          <p:nvPr/>
        </p:nvSpPr>
        <p:spPr>
          <a:xfrm>
            <a:off x="487800" y="2308320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Redukcja współczynnika odrzuceń</a:t>
            </a:r>
          </a:p>
        </p:txBody>
      </p:sp>
      <p:sp>
        <p:nvSpPr>
          <p:cNvPr id="13" name="Shape 11"/>
          <p:cNvSpPr/>
          <p:nvPr/>
        </p:nvSpPr>
        <p:spPr>
          <a:xfrm>
            <a:off x="341280" y="2669400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1280" y="2674964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800" y="273529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+36% konwersja</a:t>
            </a:r>
          </a:p>
        </p:txBody>
      </p:sp>
      <p:sp>
        <p:nvSpPr>
          <p:cNvPr id="16" name="Text 14"/>
          <p:cNvSpPr/>
          <p:nvPr/>
        </p:nvSpPr>
        <p:spPr>
          <a:xfrm>
            <a:off x="487800" y="2926079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Średni wzrost w e-commerce</a:t>
            </a:r>
          </a:p>
        </p:txBody>
      </p:sp>
      <p:sp>
        <p:nvSpPr>
          <p:cNvPr id="17" name="Text 15"/>
          <p:cNvSpPr/>
          <p:nvPr/>
        </p:nvSpPr>
        <p:spPr>
          <a:xfrm>
            <a:off x="325080" y="3449815"/>
            <a:ext cx="5754600" cy="22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Case </a:t>
            </a: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studies</a:t>
            </a:r>
            <a:endParaRPr lang="pl-PL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1280" y="3775256"/>
            <a:ext cx="5657039" cy="48780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487680"/>
              <a:gd name="f5" fmla="*/ f0 1 5657088"/>
              <a:gd name="f6" fmla="*/ f1 1 4876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4876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4876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41280" y="3775256"/>
            <a:ext cx="32400" cy="48780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487680"/>
              <a:gd name="f5" fmla="*/ f0 1 32512"/>
              <a:gd name="f6" fmla="*/ f1 1 4876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4876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4876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5040" y="3804793"/>
            <a:ext cx="56084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Starbucks</a:t>
            </a:r>
            <a:endParaRPr lang="pl-PL" sz="14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5040" y="4035175"/>
            <a:ext cx="56001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148MB → 600KB, działa na 2G</a:t>
            </a:r>
          </a:p>
        </p:txBody>
      </p:sp>
      <p:sp>
        <p:nvSpPr>
          <p:cNvPr id="22" name="Shape 20"/>
          <p:cNvSpPr/>
          <p:nvPr/>
        </p:nvSpPr>
        <p:spPr>
          <a:xfrm>
            <a:off x="341280" y="4327856"/>
            <a:ext cx="5657039" cy="48780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487680"/>
              <a:gd name="f5" fmla="*/ f0 1 5657088"/>
              <a:gd name="f6" fmla="*/ f1 1 4876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4876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4876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1280" y="4327856"/>
            <a:ext cx="32400" cy="48780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487680"/>
              <a:gd name="f5" fmla="*/ f0 1 32512"/>
              <a:gd name="f6" fmla="*/ f1 1 4876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4876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4876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5040" y="4393392"/>
            <a:ext cx="56084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Pinterest</a:t>
            </a:r>
          </a:p>
        </p:txBody>
      </p:sp>
      <p:sp>
        <p:nvSpPr>
          <p:cNvPr id="25" name="Text 23"/>
          <p:cNvSpPr/>
          <p:nvPr/>
        </p:nvSpPr>
        <p:spPr>
          <a:xfrm>
            <a:off x="455040" y="4587776"/>
            <a:ext cx="56001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+60% engagement, +44% ad revenue</a:t>
            </a:r>
          </a:p>
        </p:txBody>
      </p:sp>
      <p:sp>
        <p:nvSpPr>
          <p:cNvPr id="26" name="Shape 24"/>
          <p:cNvSpPr/>
          <p:nvPr/>
        </p:nvSpPr>
        <p:spPr>
          <a:xfrm>
            <a:off x="341280" y="4880456"/>
            <a:ext cx="5657039" cy="48780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487680"/>
              <a:gd name="f5" fmla="*/ f0 1 5657088"/>
              <a:gd name="f6" fmla="*/ f1 1 4876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4876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4876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1280" y="4880456"/>
            <a:ext cx="32400" cy="48780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487680"/>
              <a:gd name="f5" fmla="*/ f0 1 32512"/>
              <a:gd name="f6" fmla="*/ f1 1 4876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4876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4876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5040" y="4946353"/>
            <a:ext cx="56084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Flipkart Lite</a:t>
            </a:r>
          </a:p>
        </p:txBody>
      </p:sp>
      <p:sp>
        <p:nvSpPr>
          <p:cNvPr id="29" name="Text 27"/>
          <p:cNvSpPr/>
          <p:nvPr/>
        </p:nvSpPr>
        <p:spPr>
          <a:xfrm>
            <a:off x="455040" y="5140736"/>
            <a:ext cx="56001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+40% re-engagement rates</a:t>
            </a:r>
          </a:p>
        </p:txBody>
      </p:sp>
      <p:sp>
        <p:nvSpPr>
          <p:cNvPr id="30" name="Text 28"/>
          <p:cNvSpPr/>
          <p:nvPr/>
        </p:nvSpPr>
        <p:spPr>
          <a:xfrm>
            <a:off x="6195600" y="1040399"/>
            <a:ext cx="5770800" cy="259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Ograniczenia na iOS</a:t>
            </a:r>
          </a:p>
        </p:txBody>
      </p:sp>
      <p:sp>
        <p:nvSpPr>
          <p:cNvPr id="31" name="Shape 29"/>
          <p:cNvSpPr/>
          <p:nvPr/>
        </p:nvSpPr>
        <p:spPr>
          <a:xfrm>
            <a:off x="6211800" y="1397880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1800" y="1397880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3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357960" y="149977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Tylko Safari</a:t>
            </a:r>
          </a:p>
        </p:txBody>
      </p:sp>
      <p:sp>
        <p:nvSpPr>
          <p:cNvPr id="34" name="Text 32"/>
          <p:cNvSpPr/>
          <p:nvPr/>
        </p:nvSpPr>
        <p:spPr>
          <a:xfrm>
            <a:off x="6357960" y="1690560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~80% użytkowników iOS używa Safari</a:t>
            </a:r>
          </a:p>
        </p:txBody>
      </p:sp>
      <p:sp>
        <p:nvSpPr>
          <p:cNvPr id="35" name="Shape 33"/>
          <p:cNvSpPr/>
          <p:nvPr/>
        </p:nvSpPr>
        <p:spPr>
          <a:xfrm>
            <a:off x="6211800" y="2015640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11800" y="2015640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3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57960" y="208153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Brak automatycznego promptu</a:t>
            </a:r>
          </a:p>
        </p:txBody>
      </p:sp>
      <p:sp>
        <p:nvSpPr>
          <p:cNvPr id="38" name="Text 36"/>
          <p:cNvSpPr/>
          <p:nvPr/>
        </p:nvSpPr>
        <p:spPr>
          <a:xfrm>
            <a:off x="6357960" y="2308320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Użytkownik musi dodać ręcznie przez menu Share</a:t>
            </a:r>
          </a:p>
        </p:txBody>
      </p:sp>
      <p:sp>
        <p:nvSpPr>
          <p:cNvPr id="39" name="Shape 37"/>
          <p:cNvSpPr/>
          <p:nvPr/>
        </p:nvSpPr>
        <p:spPr>
          <a:xfrm>
            <a:off x="6211800" y="2633400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1800" y="2633400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3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57960" y="269929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Limit storage: 50MB</a:t>
            </a:r>
          </a:p>
        </p:txBody>
      </p:sp>
      <p:sp>
        <p:nvSpPr>
          <p:cNvPr id="42" name="Text 40"/>
          <p:cNvSpPr/>
          <p:nvPr/>
        </p:nvSpPr>
        <p:spPr>
          <a:xfrm>
            <a:off x="6357960" y="2926079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Ograniczone przechowywanie offline</a:t>
            </a:r>
          </a:p>
        </p:txBody>
      </p:sp>
      <p:sp>
        <p:nvSpPr>
          <p:cNvPr id="43" name="Shape 41"/>
          <p:cNvSpPr/>
          <p:nvPr/>
        </p:nvSpPr>
        <p:spPr>
          <a:xfrm>
            <a:off x="6211800" y="3251159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1800" y="3251159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3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57960" y="3317057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Brak background sync</a:t>
            </a:r>
          </a:p>
        </p:txBody>
      </p:sp>
      <p:sp>
        <p:nvSpPr>
          <p:cNvPr id="46" name="Text 44"/>
          <p:cNvSpPr/>
          <p:nvPr/>
        </p:nvSpPr>
        <p:spPr>
          <a:xfrm>
            <a:off x="6357960" y="3543840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Brak synchronizacji w tle</a:t>
            </a:r>
          </a:p>
        </p:txBody>
      </p:sp>
      <p:sp>
        <p:nvSpPr>
          <p:cNvPr id="47" name="Shape 45"/>
          <p:cNvSpPr/>
          <p:nvPr/>
        </p:nvSpPr>
        <p:spPr>
          <a:xfrm>
            <a:off x="6211800" y="3868919"/>
            <a:ext cx="5657039" cy="520199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520192"/>
              <a:gd name="f5" fmla="*/ f0 1 5657088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211800" y="3868919"/>
            <a:ext cx="32400" cy="520199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520192"/>
              <a:gd name="f5" fmla="*/ f0 1 32512"/>
              <a:gd name="f6" fmla="*/ f1 1 520192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520192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52019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3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57960" y="3934816"/>
            <a:ext cx="55756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Ograniczony dostęp do sprzętu</a:t>
            </a:r>
          </a:p>
        </p:txBody>
      </p:sp>
      <p:sp>
        <p:nvSpPr>
          <p:cNvPr id="50" name="Text 48"/>
          <p:cNvSpPr/>
          <p:nvPr/>
        </p:nvSpPr>
        <p:spPr>
          <a:xfrm>
            <a:off x="6357960" y="4161600"/>
            <a:ext cx="556776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Brak Bluetooth, ARKit, Face ID, Touch ID</a:t>
            </a:r>
          </a:p>
        </p:txBody>
      </p:sp>
      <p:sp>
        <p:nvSpPr>
          <p:cNvPr id="51" name="Shape 49"/>
          <p:cNvSpPr/>
          <p:nvPr/>
        </p:nvSpPr>
        <p:spPr>
          <a:xfrm>
            <a:off x="6195600" y="4583076"/>
            <a:ext cx="5673240" cy="1236323"/>
          </a:xfrm>
          <a:custGeom>
            <a:avLst/>
            <a:gdLst>
              <a:gd name="f0" fmla="val w"/>
              <a:gd name="f1" fmla="val h"/>
              <a:gd name="f2" fmla="val 0"/>
              <a:gd name="f3" fmla="val 5673344"/>
              <a:gd name="f4" fmla="val 1300480"/>
              <a:gd name="f5" fmla="*/ f0 1 5673344"/>
              <a:gd name="f6" fmla="*/ f1 1 130048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73344"/>
              <a:gd name="f13" fmla="*/ f10 1 130048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73344" h="130048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325560" y="4676123"/>
            <a:ext cx="5486399" cy="22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Scorecard</a:t>
            </a: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przeglądarek</a:t>
            </a:r>
          </a:p>
        </p:txBody>
      </p:sp>
      <p:sp>
        <p:nvSpPr>
          <p:cNvPr id="53" name="Text 51"/>
          <p:cNvSpPr/>
          <p:nvPr/>
        </p:nvSpPr>
        <p:spPr>
          <a:xfrm>
            <a:off x="6325560" y="4974480"/>
            <a:ext cx="17744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Chrome 131</a:t>
            </a:r>
          </a:p>
        </p:txBody>
      </p:sp>
      <p:sp>
        <p:nvSpPr>
          <p:cNvPr id="54" name="Text 52"/>
          <p:cNvSpPr/>
          <p:nvPr/>
        </p:nvSpPr>
        <p:spPr>
          <a:xfrm>
            <a:off x="10443240" y="4974480"/>
            <a:ext cx="13644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97/100</a:t>
            </a:r>
          </a:p>
        </p:txBody>
      </p:sp>
      <p:sp>
        <p:nvSpPr>
          <p:cNvPr id="55" name="Text 53"/>
          <p:cNvSpPr/>
          <p:nvPr/>
        </p:nvSpPr>
        <p:spPr>
          <a:xfrm>
            <a:off x="6325560" y="5234400"/>
            <a:ext cx="14144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Safari 26</a:t>
            </a:r>
          </a:p>
        </p:txBody>
      </p:sp>
      <p:sp>
        <p:nvSpPr>
          <p:cNvPr id="56" name="Text 54"/>
          <p:cNvSpPr/>
          <p:nvPr/>
        </p:nvSpPr>
        <p:spPr>
          <a:xfrm>
            <a:off x="10440000" y="5234400"/>
            <a:ext cx="13644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86/100</a:t>
            </a:r>
          </a:p>
        </p:txBody>
      </p:sp>
      <p:sp>
        <p:nvSpPr>
          <p:cNvPr id="57" name="Text 55"/>
          <p:cNvSpPr/>
          <p:nvPr/>
        </p:nvSpPr>
        <p:spPr>
          <a:xfrm>
            <a:off x="6325560" y="5494680"/>
            <a:ext cx="14144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Firefox 138</a:t>
            </a:r>
          </a:p>
        </p:txBody>
      </p:sp>
      <p:sp>
        <p:nvSpPr>
          <p:cNvPr id="58" name="Text 56"/>
          <p:cNvSpPr/>
          <p:nvPr/>
        </p:nvSpPr>
        <p:spPr>
          <a:xfrm>
            <a:off x="10451160" y="5494680"/>
            <a:ext cx="13388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82/100</a:t>
            </a:r>
          </a:p>
        </p:txBody>
      </p:sp>
      <p:sp>
        <p:nvSpPr>
          <p:cNvPr id="59" name="Shape 57"/>
          <p:cNvSpPr/>
          <p:nvPr/>
        </p:nvSpPr>
        <p:spPr>
          <a:xfrm flipH="1">
            <a:off x="295561" y="5887373"/>
            <a:ext cx="45719" cy="770513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390144"/>
              <a:gd name="f5" fmla="*/ f0 1 32512"/>
              <a:gd name="f6" fmla="*/ f1 1 39014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39014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39014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35845" y="5813032"/>
            <a:ext cx="5707800" cy="90720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Wniosek: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PWA oferują najniższy próg wejścia i doskonałą wydajność dla treściowych aplikacji, ale mają ograniczenia na iOS i w dostępie do zaawansowanych funkcji sprzętowych.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1924200"/>
            <a:ext cx="1967465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07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2990880"/>
            <a:ext cx="11658600" cy="11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</a:t>
            </a: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 urządzeniach </a:t>
            </a: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mobilnych</a:t>
            </a:r>
          </a:p>
        </p:txBody>
      </p:sp>
      <p:sp>
        <p:nvSpPr>
          <p:cNvPr id="6" name="Shape 3"/>
          <p:cNvSpPr/>
          <p:nvPr/>
        </p:nvSpPr>
        <p:spPr>
          <a:xfrm>
            <a:off x="380880" y="4362479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62924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 Kivy i BeeWare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480" y="357480"/>
            <a:ext cx="11539439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48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7.1. </a:t>
            </a:r>
            <a:r>
              <a:rPr lang="pl-PL" sz="900" b="0" i="0" u="none" strike="noStrike" kern="0" cap="none" spc="48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FRAMEWORKI PYTHON</a:t>
            </a:r>
          </a:p>
        </p:txBody>
      </p:sp>
      <p:sp>
        <p:nvSpPr>
          <p:cNvPr id="3" name="Text 1"/>
          <p:cNvSpPr/>
          <p:nvPr/>
        </p:nvSpPr>
        <p:spPr>
          <a:xfrm>
            <a:off x="357480" y="607680"/>
            <a:ext cx="11637720" cy="357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Kivy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i </a:t>
            </a:r>
            <a:r>
              <a:rPr lang="pl-PL" sz="2800" b="1" i="0" u="none" strike="noStrike" kern="1200" cap="none" spc="0" baseline="0" dirty="0" err="1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BeeWare</a:t>
            </a:r>
            <a:r>
              <a:rPr lang="pl-PL" sz="28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80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frameworki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80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</a:t>
            </a:r>
            <a:endParaRPr lang="pl-PL" sz="28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57480" y="1144080"/>
            <a:ext cx="429120" cy="429120"/>
          </a:xfrm>
          <a:custGeom>
            <a:avLst/>
            <a:gdLst>
              <a:gd name="f0" fmla="val w"/>
              <a:gd name="f1" fmla="val h"/>
              <a:gd name="f2" fmla="val 0"/>
              <a:gd name="f3" fmla="val 429044"/>
              <a:gd name="f4" fmla="val 71509"/>
              <a:gd name="f5" fmla="val 357535"/>
              <a:gd name="f6" fmla="val 397002"/>
              <a:gd name="f7" fmla="val 32042"/>
              <a:gd name="f8" fmla="val 397028"/>
              <a:gd name="f9" fmla="val 32016"/>
              <a:gd name="f10" fmla="*/ f0 1 429044"/>
              <a:gd name="f11" fmla="*/ f1 1 429044"/>
              <a:gd name="f12" fmla="val f2"/>
              <a:gd name="f13" fmla="val f3"/>
              <a:gd name="f14" fmla="+- f13 0 f12"/>
              <a:gd name="f15" fmla="*/ f14 1 429044"/>
              <a:gd name="f16" fmla="*/ f12 1 f15"/>
              <a:gd name="f17" fmla="*/ f13 1 f15"/>
              <a:gd name="f18" fmla="*/ f16 f10 1"/>
              <a:gd name="f19" fmla="*/ f17 f10 1"/>
              <a:gd name="f20" fmla="*/ f17 f11 1"/>
              <a:gd name="f21" fmla="*/ f16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29044" h="429044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8"/>
                  <a:pt x="f8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9"/>
                  <a:pt x="f9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8080" y="1251359"/>
            <a:ext cx="187560" cy="214560"/>
          </a:xfrm>
          <a:custGeom>
            <a:avLst/>
            <a:gdLst>
              <a:gd name="f0" fmla="val w"/>
              <a:gd name="f1" fmla="val h"/>
              <a:gd name="f2" fmla="val 0"/>
              <a:gd name="f3" fmla="val 187707"/>
              <a:gd name="f4" fmla="val 214522"/>
              <a:gd name="f5" fmla="val 184271"/>
              <a:gd name="f6" fmla="val 84007"/>
              <a:gd name="f7" fmla="val 181045"/>
              <a:gd name="f8" fmla="val 71060"/>
              <a:gd name="f9" fmla="val 174928"/>
              <a:gd name="f10" fmla="val 61298"/>
              <a:gd name="f11" fmla="val 161897"/>
              <a:gd name="f12" fmla="val 145096"/>
              <a:gd name="f13" fmla="val 81158"/>
              <a:gd name="f14" fmla="val 96577"/>
              <a:gd name="f15" fmla="val 132023"/>
              <a:gd name="f16" fmla="val 109565"/>
              <a:gd name="f17" fmla="val 117107"/>
              <a:gd name="f18" fmla="val 72359"/>
              <a:gd name="f19" fmla="val 60125"/>
              <a:gd name="f20" fmla="val 49985"/>
              <a:gd name="f21" fmla="val 120040"/>
              <a:gd name="f22" fmla="val 132316"/>
              <a:gd name="f23" fmla="val 174970"/>
              <a:gd name="f24" fmla="val 187120"/>
              <a:gd name="f25" fmla="val 60544"/>
              <a:gd name="f26" fmla="val 194243"/>
              <a:gd name="f27" fmla="val 197721"/>
              <a:gd name="f28" fmla="val 86521"/>
              <a:gd name="f29" fmla="val 201869"/>
              <a:gd name="f30" fmla="val 100138"/>
              <a:gd name="f31" fmla="val 202623"/>
              <a:gd name="f32" fmla="val 128378"/>
              <a:gd name="f33" fmla="val 194452"/>
              <a:gd name="f34" fmla="val 139481"/>
              <a:gd name="f35" fmla="val 187874"/>
              <a:gd name="f36" fmla="val 157917"/>
              <a:gd name="f37" fmla="val 94775"/>
              <a:gd name="f38" fmla="val 152218"/>
              <a:gd name="f39" fmla="val 179746"/>
              <a:gd name="f40" fmla="val 143126"/>
              <a:gd name="f41" fmla="val 129509"/>
              <a:gd name="f42" fmla="val 188964"/>
              <a:gd name="f43" fmla="val 115473"/>
              <a:gd name="f44" fmla="val 188754"/>
              <a:gd name="f45" fmla="val 101982"/>
              <a:gd name="f46" fmla="val 119914"/>
              <a:gd name="f47" fmla="val 186324"/>
              <a:gd name="f48" fmla="val 116726"/>
              <a:gd name="f49" fmla="val 186548"/>
              <a:gd name="f50" fmla="val 113678"/>
              <a:gd name="f51" fmla="val 184973"/>
              <a:gd name="f52" fmla="val 112016"/>
              <a:gd name="f53" fmla="val 182243"/>
              <a:gd name="f54" fmla="val 110353"/>
              <a:gd name="f55" fmla="val 179513"/>
              <a:gd name="f56" fmla="val 176083"/>
              <a:gd name="f57" fmla="val 173352"/>
              <a:gd name="f58" fmla="val 170622"/>
              <a:gd name="f59" fmla="val 169048"/>
              <a:gd name="f60" fmla="val 169271"/>
              <a:gd name="f61" fmla="val 123103"/>
              <a:gd name="f62" fmla="val 126150"/>
              <a:gd name="f63" fmla="val 127813"/>
              <a:gd name="f64" fmla="val 129476"/>
              <a:gd name="f65" fmla="val 70306"/>
              <a:gd name="f66" fmla="val 103951"/>
              <a:gd name="f67" fmla="val 115054"/>
              <a:gd name="f68" fmla="val 127498"/>
              <a:gd name="f69" fmla="val 137428"/>
              <a:gd name="f70" fmla="val 93686"/>
              <a:gd name="f71" fmla="val 81200"/>
              <a:gd name="f72" fmla="val 38505"/>
              <a:gd name="f73" fmla="val 26354"/>
              <a:gd name="f74" fmla="val 127205"/>
              <a:gd name="f75" fmla="val 17262"/>
              <a:gd name="f76" fmla="val 15209"/>
              <a:gd name="f77" fmla="val 100054"/>
              <a:gd name="f78" fmla="val 12737"/>
              <a:gd name="f79" fmla="val 83756"/>
              <a:gd name="f80" fmla="val 12863"/>
              <a:gd name="f81" fmla="val 15251"/>
              <a:gd name="f82" fmla="val 51368"/>
              <a:gd name="f83" fmla="val 18603"/>
              <a:gd name="f84" fmla="val 47932"/>
              <a:gd name="f85" fmla="val 25600"/>
              <a:gd name="f86" fmla="val 38547"/>
              <a:gd name="f87" fmla="val 55600"/>
              <a:gd name="f88" fmla="val 92722"/>
              <a:gd name="f89" fmla="val 31131"/>
              <a:gd name="f90" fmla="val 18100"/>
              <a:gd name="f91" fmla="val 6704"/>
              <a:gd name="f92" fmla="val 69133"/>
              <a:gd name="f93" fmla="val 3142"/>
              <a:gd name="f94" fmla="val -964"/>
              <a:gd name="f95" fmla="val 101060"/>
              <a:gd name="f96" fmla="val -1131"/>
              <a:gd name="f97" fmla="val 111702"/>
              <a:gd name="f98" fmla="val 6327"/>
              <a:gd name="f99" fmla="val 142749"/>
              <a:gd name="f100" fmla="val 13910"/>
              <a:gd name="f101" fmla="val 26941"/>
              <a:gd name="f102" fmla="val 42318"/>
              <a:gd name="f103" fmla="val 131772"/>
              <a:gd name="f104" fmla="val 116982"/>
              <a:gd name="f105" fmla="val 55097"/>
              <a:gd name="f106" fmla="val 67541"/>
              <a:gd name="f107" fmla="val 27109"/>
              <a:gd name="f108" fmla="val 72258"/>
              <a:gd name="f109" fmla="val 76088"/>
              <a:gd name="f110" fmla="val 30938"/>
              <a:gd name="f111" fmla="val 35656"/>
              <a:gd name="f112" fmla="val 40373"/>
              <a:gd name="f113" fmla="val 44203"/>
              <a:gd name="f114" fmla="val 62823"/>
              <a:gd name="f115" fmla="val 58994"/>
              <a:gd name="f116" fmla="*/ f0 1 187707"/>
              <a:gd name="f117" fmla="*/ f1 1 214522"/>
              <a:gd name="f118" fmla="val f2"/>
              <a:gd name="f119" fmla="val f3"/>
              <a:gd name="f120" fmla="val f4"/>
              <a:gd name="f121" fmla="+- f120 0 f118"/>
              <a:gd name="f122" fmla="+- f119 0 f118"/>
              <a:gd name="f123" fmla="*/ f122 1 187707"/>
              <a:gd name="f124" fmla="*/ f121 1 214522"/>
              <a:gd name="f125" fmla="*/ f118 1 f123"/>
              <a:gd name="f126" fmla="*/ f119 1 f123"/>
              <a:gd name="f127" fmla="*/ f118 1 f124"/>
              <a:gd name="f128" fmla="*/ f120 1 f124"/>
              <a:gd name="f129" fmla="*/ f125 f116 1"/>
              <a:gd name="f130" fmla="*/ f126 f116 1"/>
              <a:gd name="f131" fmla="*/ f128 f117 1"/>
              <a:gd name="f132" fmla="*/ f127 f1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9" t="f132" r="f130" b="f131"/>
            <a:pathLst>
              <a:path w="187707" h="214522">
                <a:moveTo>
                  <a:pt x="f5" y="f6"/>
                </a:moveTo>
                <a:cubicBezTo>
                  <a:pt x="f7" y="f8"/>
                  <a:pt x="f9" y="f10"/>
                  <a:pt x="f11" y="f10"/>
                </a:cubicBezTo>
                <a:lnTo>
                  <a:pt x="f12" y="f10"/>
                </a:lnTo>
                <a:lnTo>
                  <a:pt x="f12" y="f13"/>
                </a:lnTo>
                <a:cubicBezTo>
                  <a:pt x="f12" y="f14"/>
                  <a:pt x="f15" y="f16"/>
                  <a:pt x="f17" y="f16"/>
                </a:cubicBezTo>
                <a:lnTo>
                  <a:pt x="f18" y="f16"/>
                </a:lnTo>
                <a:cubicBezTo>
                  <a:pt x="f19" y="f16"/>
                  <a:pt x="f20" y="f21"/>
                  <a:pt x="f20" y="f22"/>
                </a:cubicBezTo>
                <a:lnTo>
                  <a:pt x="f20" y="f23"/>
                </a:lnTo>
                <a:cubicBezTo>
                  <a:pt x="f20" y="f24"/>
                  <a:pt x="f25" y="f26"/>
                  <a:pt x="f18" y="f27"/>
                </a:cubicBezTo>
                <a:cubicBezTo>
                  <a:pt x="f28" y="f29"/>
                  <a:pt x="f30" y="f31"/>
                  <a:pt x="f17" y="f27"/>
                </a:cubicBezTo>
                <a:cubicBezTo>
                  <a:pt x="f32" y="f33"/>
                  <a:pt x="f34" y="f35"/>
                  <a:pt x="f34" y="f23"/>
                </a:cubicBezTo>
                <a:lnTo>
                  <a:pt x="f34" y="f36"/>
                </a:lnTo>
                <a:lnTo>
                  <a:pt x="f37" y="f36"/>
                </a:lnTo>
                <a:lnTo>
                  <a:pt x="f37" y="f38"/>
                </a:lnTo>
                <a:lnTo>
                  <a:pt x="f11" y="f38"/>
                </a:lnTo>
                <a:cubicBezTo>
                  <a:pt x="f9" y="f38"/>
                  <a:pt x="f39" y="f40"/>
                  <a:pt x="f5" y="f41"/>
                </a:cubicBezTo>
                <a:cubicBezTo>
                  <a:pt x="f42" y="f43"/>
                  <a:pt x="f44" y="f45"/>
                  <a:pt x="f5" y="f6"/>
                </a:cubicBezTo>
                <a:close/>
                <a:moveTo>
                  <a:pt x="f46" y="f47"/>
                </a:moveTo>
                <a:cubicBezTo>
                  <a:pt x="f48" y="f49"/>
                  <a:pt x="f50" y="f51"/>
                  <a:pt x="f52" y="f53"/>
                </a:cubicBezTo>
                <a:cubicBezTo>
                  <a:pt x="f54" y="f55"/>
                  <a:pt x="f54" y="f56"/>
                  <a:pt x="f52" y="f57"/>
                </a:cubicBezTo>
                <a:cubicBezTo>
                  <a:pt x="f50" y="f58"/>
                  <a:pt x="f48" y="f59"/>
                  <a:pt x="f46" y="f60"/>
                </a:cubicBezTo>
                <a:cubicBezTo>
                  <a:pt x="f61" y="f59"/>
                  <a:pt x="f62" y="f58"/>
                  <a:pt x="f63" y="f57"/>
                </a:cubicBezTo>
                <a:cubicBezTo>
                  <a:pt x="f64" y="f56"/>
                  <a:pt x="f64" y="f55"/>
                  <a:pt x="f63" y="f53"/>
                </a:cubicBezTo>
                <a:cubicBezTo>
                  <a:pt x="f62" y="f51"/>
                  <a:pt x="f61" y="f49"/>
                  <a:pt x="f46" y="f47"/>
                </a:cubicBezTo>
                <a:close/>
                <a:moveTo>
                  <a:pt x="f65" y="f66"/>
                </a:moveTo>
                <a:lnTo>
                  <a:pt x="f67" y="f66"/>
                </a:lnTo>
                <a:cubicBezTo>
                  <a:pt x="f68" y="f66"/>
                  <a:pt x="f69" y="f70"/>
                  <a:pt x="f69" y="f71"/>
                </a:cubicBezTo>
                <a:lnTo>
                  <a:pt x="f69" y="f72"/>
                </a:lnTo>
                <a:cubicBezTo>
                  <a:pt x="f69" y="f73"/>
                  <a:pt x="f74" y="f75"/>
                  <a:pt x="f67" y="f76"/>
                </a:cubicBezTo>
                <a:cubicBezTo>
                  <a:pt x="f77" y="f78"/>
                  <a:pt x="f79" y="f80"/>
                  <a:pt x="f65" y="f81"/>
                </a:cubicBezTo>
                <a:cubicBezTo>
                  <a:pt x="f82" y="f83"/>
                  <a:pt x="f84" y="f85"/>
                  <a:pt x="f84" y="f86"/>
                </a:cubicBezTo>
                <a:lnTo>
                  <a:pt x="f84" y="f87"/>
                </a:lnTo>
                <a:lnTo>
                  <a:pt x="f88" y="f87"/>
                </a:lnTo>
                <a:lnTo>
                  <a:pt x="f88" y="f10"/>
                </a:lnTo>
                <a:lnTo>
                  <a:pt x="f89" y="f10"/>
                </a:lnTo>
                <a:cubicBezTo>
                  <a:pt x="f90" y="f10"/>
                  <a:pt x="f91" y="f92"/>
                  <a:pt x="f93" y="f6"/>
                </a:cubicBezTo>
                <a:cubicBezTo>
                  <a:pt x="f94" y="f95"/>
                  <a:pt x="f96" y="f97"/>
                  <a:pt x="f93" y="f41"/>
                </a:cubicBezTo>
                <a:cubicBezTo>
                  <a:pt x="f98" y="f99"/>
                  <a:pt x="f100" y="f38"/>
                  <a:pt x="f101" y="f38"/>
                </a:cubicBezTo>
                <a:lnTo>
                  <a:pt x="f102" y="f38"/>
                </a:lnTo>
                <a:lnTo>
                  <a:pt x="f102" y="f103"/>
                </a:lnTo>
                <a:cubicBezTo>
                  <a:pt x="f102" y="f104"/>
                  <a:pt x="f105" y="f66"/>
                  <a:pt x="f65" y="f66"/>
                </a:cubicBezTo>
                <a:close/>
                <a:moveTo>
                  <a:pt x="f106" y="f107"/>
                </a:moveTo>
                <a:cubicBezTo>
                  <a:pt x="f108" y="f107"/>
                  <a:pt x="f109" y="f110"/>
                  <a:pt x="f109" y="f111"/>
                </a:cubicBezTo>
                <a:cubicBezTo>
                  <a:pt x="f109" y="f112"/>
                  <a:pt x="f108" y="f113"/>
                  <a:pt x="f106" y="f113"/>
                </a:cubicBezTo>
                <a:cubicBezTo>
                  <a:pt x="f114" y="f113"/>
                  <a:pt x="f115" y="f112"/>
                  <a:pt x="f115" y="f111"/>
                </a:cubicBezTo>
                <a:cubicBezTo>
                  <a:pt x="f115" y="f110"/>
                  <a:pt x="f114" y="f107"/>
                  <a:pt x="f106" y="f107"/>
                </a:cubicBez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3880" y="1215720"/>
            <a:ext cx="563040" cy="286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Kivy</a:t>
            </a:r>
            <a:endParaRPr lang="pl-PL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9121" y="1660434"/>
            <a:ext cx="5646198" cy="46698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Kivy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open-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source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do tworzenia aplikacji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/>
            </a:r>
            <a:b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</a:b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</a:t>
            </a:r>
            <a:r>
              <a:rPr lang="pl-PL" sz="1400" b="0" i="0" u="none" strike="noStrike" kern="1200" cap="none" spc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niestandardowym UI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Używa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OpenGL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ES 2 do akceleracji GPU.</a:t>
            </a:r>
          </a:p>
        </p:txBody>
      </p:sp>
      <p:sp>
        <p:nvSpPr>
          <p:cNvPr id="8" name="Shape 6"/>
          <p:cNvSpPr/>
          <p:nvPr/>
        </p:nvSpPr>
        <p:spPr>
          <a:xfrm>
            <a:off x="375480" y="225252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5480" y="2252520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0400" y="2304115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Zalety</a:t>
            </a:r>
          </a:p>
        </p:txBody>
      </p:sp>
      <p:sp>
        <p:nvSpPr>
          <p:cNvPr id="11" name="Text 9"/>
          <p:cNvSpPr/>
          <p:nvPr/>
        </p:nvSpPr>
        <p:spPr>
          <a:xfrm>
            <a:off x="500400" y="2569533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Szybka grafika GPU, custom UI, duża społeczność</a:t>
            </a:r>
          </a:p>
        </p:txBody>
      </p:sp>
      <p:sp>
        <p:nvSpPr>
          <p:cNvPr id="12" name="Shape 10"/>
          <p:cNvSpPr/>
          <p:nvPr/>
        </p:nvSpPr>
        <p:spPr>
          <a:xfrm>
            <a:off x="375480" y="286020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75480" y="2860200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0400" y="2911795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Wady</a:t>
            </a:r>
          </a:p>
        </p:txBody>
      </p:sp>
      <p:sp>
        <p:nvSpPr>
          <p:cNvPr id="15" name="Text 13"/>
          <p:cNvSpPr/>
          <p:nvPr/>
        </p:nvSpPr>
        <p:spPr>
          <a:xfrm>
            <a:off x="500400" y="3177572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Trudniejsza krzywa uczenia, niestandardowy UI</a:t>
            </a:r>
          </a:p>
        </p:txBody>
      </p:sp>
      <p:sp>
        <p:nvSpPr>
          <p:cNvPr id="16" name="Text 14"/>
          <p:cNvSpPr/>
          <p:nvPr/>
        </p:nvSpPr>
        <p:spPr>
          <a:xfrm>
            <a:off x="357480" y="3539520"/>
            <a:ext cx="5711760" cy="250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Inne narzędzia Python</a:t>
            </a:r>
          </a:p>
        </p:txBody>
      </p:sp>
      <p:sp>
        <p:nvSpPr>
          <p:cNvPr id="17" name="Shape 15"/>
          <p:cNvSpPr/>
          <p:nvPr/>
        </p:nvSpPr>
        <p:spPr>
          <a:xfrm>
            <a:off x="375480" y="389736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5480" y="3861359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0400" y="3918519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Chaquopy</a:t>
            </a:r>
          </a:p>
        </p:txBody>
      </p:sp>
      <p:sp>
        <p:nvSpPr>
          <p:cNvPr id="20" name="Text 18"/>
          <p:cNvSpPr/>
          <p:nvPr/>
        </p:nvSpPr>
        <p:spPr>
          <a:xfrm>
            <a:off x="500400" y="4178732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Android development z Python</a:t>
            </a:r>
          </a:p>
        </p:txBody>
      </p:sp>
      <p:sp>
        <p:nvSpPr>
          <p:cNvPr id="21" name="Shape 19"/>
          <p:cNvSpPr/>
          <p:nvPr/>
        </p:nvSpPr>
        <p:spPr>
          <a:xfrm>
            <a:off x="375480" y="446904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5480" y="4469040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0400" y="4526199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Pyjnius</a:t>
            </a:r>
          </a:p>
        </p:txBody>
      </p:sp>
      <p:sp>
        <p:nvSpPr>
          <p:cNvPr id="24" name="Text 22"/>
          <p:cNvSpPr/>
          <p:nvPr/>
        </p:nvSpPr>
        <p:spPr>
          <a:xfrm>
            <a:off x="500400" y="4786413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Wywoływanie Java API z Python</a:t>
            </a:r>
          </a:p>
        </p:txBody>
      </p:sp>
      <p:sp>
        <p:nvSpPr>
          <p:cNvPr id="25" name="Shape 23"/>
          <p:cNvSpPr/>
          <p:nvPr/>
        </p:nvSpPr>
        <p:spPr>
          <a:xfrm>
            <a:off x="375480" y="507708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5480" y="5077080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0400" y="5133879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Buildozer</a:t>
            </a:r>
            <a:endParaRPr lang="pl-PL" sz="15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0400" y="5394093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Pakowanie aplikacji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 Android/iOS</a:t>
            </a:r>
          </a:p>
        </p:txBody>
      </p:sp>
      <p:sp>
        <p:nvSpPr>
          <p:cNvPr id="29" name="Shape 27"/>
          <p:cNvSpPr/>
          <p:nvPr/>
        </p:nvSpPr>
        <p:spPr>
          <a:xfrm>
            <a:off x="6201360" y="1164862"/>
            <a:ext cx="429120" cy="429120"/>
          </a:xfrm>
          <a:custGeom>
            <a:avLst/>
            <a:gdLst>
              <a:gd name="f0" fmla="val w"/>
              <a:gd name="f1" fmla="val h"/>
              <a:gd name="f2" fmla="val 0"/>
              <a:gd name="f3" fmla="val 429044"/>
              <a:gd name="f4" fmla="val 71509"/>
              <a:gd name="f5" fmla="val 357535"/>
              <a:gd name="f6" fmla="val 397002"/>
              <a:gd name="f7" fmla="val 32042"/>
              <a:gd name="f8" fmla="val 397028"/>
              <a:gd name="f9" fmla="val 32016"/>
              <a:gd name="f10" fmla="*/ f0 1 429044"/>
              <a:gd name="f11" fmla="*/ f1 1 429044"/>
              <a:gd name="f12" fmla="val f2"/>
              <a:gd name="f13" fmla="val f3"/>
              <a:gd name="f14" fmla="+- f13 0 f12"/>
              <a:gd name="f15" fmla="*/ f14 1 429044"/>
              <a:gd name="f16" fmla="*/ f12 1 f15"/>
              <a:gd name="f17" fmla="*/ f13 1 f15"/>
              <a:gd name="f18" fmla="*/ f16 f10 1"/>
              <a:gd name="f19" fmla="*/ f17 f10 1"/>
              <a:gd name="f20" fmla="*/ f17 f11 1"/>
              <a:gd name="f21" fmla="*/ f16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29044" h="429044">
                <a:moveTo>
                  <a:pt x="f4" y="f2"/>
                </a:moveTo>
                <a:lnTo>
                  <a:pt x="f5" y="f2"/>
                </a:lnTo>
                <a:cubicBezTo>
                  <a:pt x="f6" y="f2"/>
                  <a:pt x="f3" y="f7"/>
                  <a:pt x="f3" y="f4"/>
                </a:cubicBezTo>
                <a:lnTo>
                  <a:pt x="f3" y="f5"/>
                </a:lnTo>
                <a:cubicBezTo>
                  <a:pt x="f3" y="f8"/>
                  <a:pt x="f8" y="f3"/>
                  <a:pt x="f5" y="f3"/>
                </a:cubicBezTo>
                <a:lnTo>
                  <a:pt x="f4" y="f3"/>
                </a:lnTo>
                <a:cubicBezTo>
                  <a:pt x="f7" y="f3"/>
                  <a:pt x="f2" y="f6"/>
                  <a:pt x="f2" y="f5"/>
                </a:cubicBezTo>
                <a:lnTo>
                  <a:pt x="f2" y="f4"/>
                </a:lnTo>
                <a:cubicBezTo>
                  <a:pt x="f2" y="f9"/>
                  <a:pt x="f9" y="f2"/>
                  <a:pt x="f4" y="f2"/>
                </a:cubicBez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35280" y="1251359"/>
            <a:ext cx="160920" cy="214560"/>
          </a:xfrm>
          <a:custGeom>
            <a:avLst/>
            <a:gdLst>
              <a:gd name="f0" fmla="val w"/>
              <a:gd name="f1" fmla="val h"/>
              <a:gd name="f2" fmla="val 0"/>
              <a:gd name="f3" fmla="val 160891"/>
              <a:gd name="f4" fmla="val 214522"/>
              <a:gd name="f5" fmla="val 6704"/>
              <a:gd name="f6" fmla="val 26815"/>
              <a:gd name="f7" fmla="val 12025"/>
              <a:gd name="f8" fmla="val 18729"/>
              <a:gd name="f9" fmla="val 33519"/>
              <a:gd name="f10" fmla="val 127372"/>
              <a:gd name="f11" fmla="val 142163"/>
              <a:gd name="f12" fmla="val 154188"/>
              <a:gd name="f13" fmla="val 187707"/>
              <a:gd name="f14" fmla="val 202497"/>
              <a:gd name="f15" fmla="val 80446"/>
              <a:gd name="f16" fmla="val 197762"/>
              <a:gd name="f17" fmla="val 87862"/>
              <a:gd name="f18" fmla="val 93853"/>
              <a:gd name="f19" fmla="val 191771"/>
              <a:gd name="f20" fmla="val 184355"/>
              <a:gd name="f21" fmla="val 176939"/>
              <a:gd name="f22" fmla="val 170947"/>
              <a:gd name="f23" fmla="val 73030"/>
              <a:gd name="f24" fmla="val 67038"/>
              <a:gd name="f25" fmla="*/ f0 1 160891"/>
              <a:gd name="f26" fmla="*/ f1 1 214522"/>
              <a:gd name="f27" fmla="val f2"/>
              <a:gd name="f28" fmla="val f3"/>
              <a:gd name="f29" fmla="val f4"/>
              <a:gd name="f30" fmla="+- f29 0 f27"/>
              <a:gd name="f31" fmla="+- f28 0 f27"/>
              <a:gd name="f32" fmla="*/ f31 1 160891"/>
              <a:gd name="f33" fmla="*/ f30 1 214522"/>
              <a:gd name="f34" fmla="*/ f27 1 f32"/>
              <a:gd name="f35" fmla="*/ f28 1 f32"/>
              <a:gd name="f36" fmla="*/ f27 1 f33"/>
              <a:gd name="f37" fmla="*/ f29 1 f33"/>
              <a:gd name="f38" fmla="*/ f34 f25 1"/>
              <a:gd name="f39" fmla="*/ f35 f25 1"/>
              <a:gd name="f40" fmla="*/ f37 f26 1"/>
              <a:gd name="f41" fmla="*/ f36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8" t="f41" r="f39" b="f40"/>
            <a:pathLst>
              <a:path w="160891" h="214522">
                <a:moveTo>
                  <a:pt x="f5" y="f6"/>
                </a:moveTo>
                <a:cubicBezTo>
                  <a:pt x="f5" y="f7"/>
                  <a:pt x="f8" y="f2"/>
                  <a:pt x="f9" y="f2"/>
                </a:cubicBezTo>
                <a:lnTo>
                  <a:pt x="f10" y="f2"/>
                </a:lnTo>
                <a:cubicBezTo>
                  <a:pt x="f11" y="f2"/>
                  <a:pt x="f12" y="f7"/>
                  <a:pt x="f12" y="f6"/>
                </a:cubicBezTo>
                <a:lnTo>
                  <a:pt x="f12" y="f13"/>
                </a:lnTo>
                <a:cubicBezTo>
                  <a:pt x="f12" y="f14"/>
                  <a:pt x="f11" y="f4"/>
                  <a:pt x="f10" y="f4"/>
                </a:cubicBezTo>
                <a:lnTo>
                  <a:pt x="f9" y="f4"/>
                </a:lnTo>
                <a:cubicBezTo>
                  <a:pt x="f8" y="f4"/>
                  <a:pt x="f5" y="f14"/>
                  <a:pt x="f5" y="f13"/>
                </a:cubicBezTo>
                <a:lnTo>
                  <a:pt x="f5" y="f6"/>
                </a:lnTo>
                <a:close/>
                <a:moveTo>
                  <a:pt x="f9" y="f6"/>
                </a:moveTo>
                <a:lnTo>
                  <a:pt x="f9" y="f12"/>
                </a:lnTo>
                <a:lnTo>
                  <a:pt x="f10" y="f12"/>
                </a:lnTo>
                <a:lnTo>
                  <a:pt x="f10" y="f6"/>
                </a:lnTo>
                <a:lnTo>
                  <a:pt x="f9" y="f6"/>
                </a:lnTo>
                <a:close/>
                <a:moveTo>
                  <a:pt x="f15" y="f16"/>
                </a:moveTo>
                <a:cubicBezTo>
                  <a:pt x="f17" y="f16"/>
                  <a:pt x="f18" y="f19"/>
                  <a:pt x="f18" y="f20"/>
                </a:cubicBezTo>
                <a:cubicBezTo>
                  <a:pt x="f18" y="f21"/>
                  <a:pt x="f17" y="f22"/>
                  <a:pt x="f15" y="f22"/>
                </a:cubicBezTo>
                <a:cubicBezTo>
                  <a:pt x="f23" y="f22"/>
                  <a:pt x="f24" y="f21"/>
                  <a:pt x="f24" y="f20"/>
                </a:cubicBezTo>
                <a:cubicBezTo>
                  <a:pt x="f24" y="f19"/>
                  <a:pt x="f23" y="f16"/>
                  <a:pt x="f15" y="f16"/>
                </a:cubicBezTo>
                <a:close/>
              </a:path>
            </a:pathLst>
          </a:custGeom>
          <a:solidFill>
            <a:srgbClr val="F9FAFB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37760" y="1236502"/>
            <a:ext cx="992159" cy="286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BeeWare</a:t>
            </a:r>
          </a:p>
        </p:txBody>
      </p:sp>
      <p:sp>
        <p:nvSpPr>
          <p:cNvPr id="32" name="Text 30"/>
          <p:cNvSpPr/>
          <p:nvPr/>
        </p:nvSpPr>
        <p:spPr>
          <a:xfrm>
            <a:off x="6201360" y="1696433"/>
            <a:ext cx="5452199" cy="48444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BeeWare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open-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source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z naciskiem na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UI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Bardziej </a:t>
            </a:r>
            <a:r>
              <a:rPr lang="pl-PL" sz="1400" b="0" i="0" u="none" strike="noStrike" kern="1200" cap="none" spc="0" baseline="0" dirty="0" err="1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python-owy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łatwiejszy w nauce.</a:t>
            </a:r>
          </a:p>
        </p:txBody>
      </p:sp>
      <p:sp>
        <p:nvSpPr>
          <p:cNvPr id="33" name="Shape 31"/>
          <p:cNvSpPr/>
          <p:nvPr/>
        </p:nvSpPr>
        <p:spPr>
          <a:xfrm>
            <a:off x="6219360" y="225252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19360" y="2252520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44280" y="2304115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Zalety</a:t>
            </a:r>
          </a:p>
        </p:txBody>
      </p:sp>
      <p:sp>
        <p:nvSpPr>
          <p:cNvPr id="36" name="Text 34"/>
          <p:cNvSpPr/>
          <p:nvPr/>
        </p:nvSpPr>
        <p:spPr>
          <a:xfrm>
            <a:off x="6344280" y="2574360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UI, pełne wsparcie platform, łatwiejszy w nauce</a:t>
            </a:r>
          </a:p>
        </p:txBody>
      </p:sp>
      <p:sp>
        <p:nvSpPr>
          <p:cNvPr id="37" name="Shape 35"/>
          <p:cNvSpPr/>
          <p:nvPr/>
        </p:nvSpPr>
        <p:spPr>
          <a:xfrm>
            <a:off x="6219360" y="2860200"/>
            <a:ext cx="561348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5613326"/>
              <a:gd name="f4" fmla="val 536305"/>
              <a:gd name="f5" fmla="*/ f0 1 5613326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13326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13326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9360" y="2860200"/>
            <a:ext cx="35640" cy="53640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536305"/>
              <a:gd name="f5" fmla="*/ f0 1 35754"/>
              <a:gd name="f6" fmla="*/ f1 1 53630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53630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53630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6B728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344280" y="2947794"/>
            <a:ext cx="5559840" cy="2145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Wady</a:t>
            </a:r>
          </a:p>
        </p:txBody>
      </p:sp>
      <p:sp>
        <p:nvSpPr>
          <p:cNvPr id="40" name="Text 38"/>
          <p:cNvSpPr/>
          <p:nvPr/>
        </p:nvSpPr>
        <p:spPr>
          <a:xfrm>
            <a:off x="6344280" y="3146399"/>
            <a:ext cx="555084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Mniejsza społeczność, ograniczona customizacja</a:t>
            </a:r>
          </a:p>
        </p:txBody>
      </p:sp>
      <p:sp>
        <p:nvSpPr>
          <p:cNvPr id="41" name="Shape 39"/>
          <p:cNvSpPr/>
          <p:nvPr/>
        </p:nvSpPr>
        <p:spPr>
          <a:xfrm>
            <a:off x="6201360" y="3611520"/>
            <a:ext cx="5631120" cy="2386440"/>
          </a:xfrm>
          <a:custGeom>
            <a:avLst/>
            <a:gdLst>
              <a:gd name="f0" fmla="val w"/>
              <a:gd name="f1" fmla="val h"/>
              <a:gd name="f2" fmla="val 0"/>
              <a:gd name="f3" fmla="val 5631202"/>
              <a:gd name="f4" fmla="val 2386557"/>
              <a:gd name="f5" fmla="*/ f0 1 5631202"/>
              <a:gd name="f6" fmla="*/ f1 1 238655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31202"/>
              <a:gd name="f13" fmla="*/ f10 1 238655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31202" h="238655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79919" y="3646440"/>
            <a:ext cx="5362920" cy="2502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A3A3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Porównanie</a:t>
            </a: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FFA3A3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500" b="1" i="0" u="none" strike="noStrike" kern="1200" cap="none" spc="0" baseline="0" dirty="0" err="1">
                <a:ln>
                  <a:noFill/>
                </a:ln>
                <a:solidFill>
                  <a:srgbClr val="FFA3A3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Kivy</a:t>
            </a:r>
            <a:r>
              <a:rPr lang="pl-PL" sz="1500" b="1" i="0" u="none" strike="noStrike" kern="1200" cap="none" spc="0" baseline="0" dirty="0">
                <a:ln>
                  <a:noFill/>
                </a:ln>
                <a:solidFill>
                  <a:srgbClr val="FFA3A3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vs </a:t>
            </a:r>
            <a:r>
              <a:rPr lang="pl-PL" sz="1500" b="1" i="0" u="none" strike="noStrike" kern="1200" cap="none" spc="0" baseline="0" dirty="0" err="1">
                <a:ln>
                  <a:noFill/>
                </a:ln>
                <a:solidFill>
                  <a:srgbClr val="FFA3A3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BeeWare</a:t>
            </a:r>
            <a:endParaRPr lang="pl-PL" sz="1500" b="1" i="0" u="none" strike="noStrike" kern="1200" cap="none" spc="0" baseline="0" dirty="0">
              <a:ln>
                <a:noFill/>
              </a:ln>
              <a:solidFill>
                <a:srgbClr val="FFA3A3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79919" y="411156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Cecha</a:t>
            </a:r>
          </a:p>
        </p:txBody>
      </p:sp>
      <p:sp>
        <p:nvSpPr>
          <p:cNvPr id="44" name="Text 42"/>
          <p:cNvSpPr/>
          <p:nvPr/>
        </p:nvSpPr>
        <p:spPr>
          <a:xfrm>
            <a:off x="8161200" y="411156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Kivy</a:t>
            </a:r>
          </a:p>
        </p:txBody>
      </p:sp>
      <p:sp>
        <p:nvSpPr>
          <p:cNvPr id="45" name="Text 43"/>
          <p:cNvSpPr/>
          <p:nvPr/>
        </p:nvSpPr>
        <p:spPr>
          <a:xfrm>
            <a:off x="9942480" y="411156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BeeWare</a:t>
            </a:r>
          </a:p>
        </p:txBody>
      </p:sp>
      <p:sp>
        <p:nvSpPr>
          <p:cNvPr id="46" name="Shape 44"/>
          <p:cNvSpPr/>
          <p:nvPr/>
        </p:nvSpPr>
        <p:spPr>
          <a:xfrm>
            <a:off x="6379919" y="4401360"/>
            <a:ext cx="5273640" cy="7200"/>
          </a:xfrm>
          <a:custGeom>
            <a:avLst/>
            <a:gdLst>
              <a:gd name="f0" fmla="val w"/>
              <a:gd name="f1" fmla="val h"/>
              <a:gd name="f2" fmla="val 0"/>
              <a:gd name="f3" fmla="val 5273666"/>
              <a:gd name="f4" fmla="val 7151"/>
              <a:gd name="f5" fmla="*/ f0 1 5273666"/>
              <a:gd name="f6" fmla="*/ f1 1 715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3666"/>
              <a:gd name="f13" fmla="*/ f10 1 715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3666" h="715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79919" y="447624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UI</a:t>
            </a:r>
          </a:p>
        </p:txBody>
      </p:sp>
      <p:sp>
        <p:nvSpPr>
          <p:cNvPr id="48" name="Text 46"/>
          <p:cNvSpPr/>
          <p:nvPr/>
        </p:nvSpPr>
        <p:spPr>
          <a:xfrm>
            <a:off x="8161200" y="447624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Niestandardowy</a:t>
            </a:r>
          </a:p>
        </p:txBody>
      </p:sp>
      <p:sp>
        <p:nvSpPr>
          <p:cNvPr id="49" name="Text 47"/>
          <p:cNvSpPr/>
          <p:nvPr/>
        </p:nvSpPr>
        <p:spPr>
          <a:xfrm>
            <a:off x="9942480" y="447624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Natywny</a:t>
            </a:r>
          </a:p>
        </p:txBody>
      </p:sp>
      <p:sp>
        <p:nvSpPr>
          <p:cNvPr id="50" name="Shape 48"/>
          <p:cNvSpPr/>
          <p:nvPr/>
        </p:nvSpPr>
        <p:spPr>
          <a:xfrm>
            <a:off x="6379919" y="4766040"/>
            <a:ext cx="5273640" cy="7200"/>
          </a:xfrm>
          <a:custGeom>
            <a:avLst/>
            <a:gdLst>
              <a:gd name="f0" fmla="val w"/>
              <a:gd name="f1" fmla="val h"/>
              <a:gd name="f2" fmla="val 0"/>
              <a:gd name="f3" fmla="val 5273666"/>
              <a:gd name="f4" fmla="val 7151"/>
              <a:gd name="f5" fmla="*/ f0 1 5273666"/>
              <a:gd name="f6" fmla="*/ f1 1 715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3666"/>
              <a:gd name="f13" fmla="*/ f10 1 715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3666" h="715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379919" y="484092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Grafika</a:t>
            </a:r>
          </a:p>
        </p:txBody>
      </p:sp>
      <p:sp>
        <p:nvSpPr>
          <p:cNvPr id="52" name="Text 50"/>
          <p:cNvSpPr/>
          <p:nvPr/>
        </p:nvSpPr>
        <p:spPr>
          <a:xfrm>
            <a:off x="8161200" y="484092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OpenGL ES 2</a:t>
            </a:r>
          </a:p>
        </p:txBody>
      </p:sp>
      <p:sp>
        <p:nvSpPr>
          <p:cNvPr id="53" name="Text 51"/>
          <p:cNvSpPr/>
          <p:nvPr/>
        </p:nvSpPr>
        <p:spPr>
          <a:xfrm>
            <a:off x="9942480" y="484092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Platforma</a:t>
            </a:r>
          </a:p>
        </p:txBody>
      </p:sp>
      <p:sp>
        <p:nvSpPr>
          <p:cNvPr id="54" name="Shape 52"/>
          <p:cNvSpPr/>
          <p:nvPr/>
        </p:nvSpPr>
        <p:spPr>
          <a:xfrm>
            <a:off x="6379919" y="5130720"/>
            <a:ext cx="5273640" cy="7200"/>
          </a:xfrm>
          <a:custGeom>
            <a:avLst/>
            <a:gdLst>
              <a:gd name="f0" fmla="val w"/>
              <a:gd name="f1" fmla="val h"/>
              <a:gd name="f2" fmla="val 0"/>
              <a:gd name="f3" fmla="val 5273666"/>
              <a:gd name="f4" fmla="val 7151"/>
              <a:gd name="f5" fmla="*/ f0 1 5273666"/>
              <a:gd name="f6" fmla="*/ f1 1 715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3666"/>
              <a:gd name="f13" fmla="*/ f10 1 715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3666" h="715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379919" y="520560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Krzywa uczenia</a:t>
            </a:r>
          </a:p>
        </p:txBody>
      </p:sp>
      <p:sp>
        <p:nvSpPr>
          <p:cNvPr id="56" name="Text 54"/>
          <p:cNvSpPr/>
          <p:nvPr/>
        </p:nvSpPr>
        <p:spPr>
          <a:xfrm>
            <a:off x="8161200" y="520560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Trudniejsza</a:t>
            </a:r>
          </a:p>
        </p:txBody>
      </p:sp>
      <p:sp>
        <p:nvSpPr>
          <p:cNvPr id="57" name="Text 55"/>
          <p:cNvSpPr/>
          <p:nvPr/>
        </p:nvSpPr>
        <p:spPr>
          <a:xfrm>
            <a:off x="9942480" y="520560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Łatwiejsza</a:t>
            </a:r>
          </a:p>
        </p:txBody>
      </p:sp>
      <p:sp>
        <p:nvSpPr>
          <p:cNvPr id="58" name="Shape 56"/>
          <p:cNvSpPr/>
          <p:nvPr/>
        </p:nvSpPr>
        <p:spPr>
          <a:xfrm>
            <a:off x="6379919" y="5495400"/>
            <a:ext cx="5273640" cy="7200"/>
          </a:xfrm>
          <a:custGeom>
            <a:avLst/>
            <a:gdLst>
              <a:gd name="f0" fmla="val w"/>
              <a:gd name="f1" fmla="val h"/>
              <a:gd name="f2" fmla="val 0"/>
              <a:gd name="f3" fmla="val 5273666"/>
              <a:gd name="f4" fmla="val 7151"/>
              <a:gd name="f5" fmla="*/ f0 1 5273666"/>
              <a:gd name="f6" fmla="*/ f1 1 7151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273666"/>
              <a:gd name="f13" fmla="*/ f10 1 7151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273666" h="715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>
              <a:alpha val="20000"/>
            </a:srgbClr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379919" y="557028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Społeczność</a:t>
            </a:r>
          </a:p>
        </p:txBody>
      </p:sp>
      <p:sp>
        <p:nvSpPr>
          <p:cNvPr id="60" name="Text 58"/>
          <p:cNvSpPr/>
          <p:nvPr/>
        </p:nvSpPr>
        <p:spPr>
          <a:xfrm>
            <a:off x="8161200" y="557028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Duża</a:t>
            </a:r>
          </a:p>
        </p:txBody>
      </p:sp>
      <p:sp>
        <p:nvSpPr>
          <p:cNvPr id="61" name="Text 59"/>
          <p:cNvSpPr/>
          <p:nvPr/>
        </p:nvSpPr>
        <p:spPr>
          <a:xfrm>
            <a:off x="9942480" y="5570280"/>
            <a:ext cx="1769760" cy="178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Rosnąca</a:t>
            </a:r>
          </a:p>
        </p:txBody>
      </p:sp>
      <p:sp>
        <p:nvSpPr>
          <p:cNvPr id="62" name="Shape 60"/>
          <p:cNvSpPr/>
          <p:nvPr/>
        </p:nvSpPr>
        <p:spPr>
          <a:xfrm>
            <a:off x="375479" y="5934960"/>
            <a:ext cx="45719" cy="694440"/>
          </a:xfrm>
          <a:custGeom>
            <a:avLst/>
            <a:gdLst>
              <a:gd name="f0" fmla="val w"/>
              <a:gd name="f1" fmla="val h"/>
              <a:gd name="f2" fmla="val 0"/>
              <a:gd name="f3" fmla="val 35754"/>
              <a:gd name="f4" fmla="val 429044"/>
              <a:gd name="f5" fmla="*/ f0 1 35754"/>
              <a:gd name="f6" fmla="*/ f1 1 429044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5754"/>
              <a:gd name="f13" fmla="*/ f10 1 429044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5754" h="429044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36401" y="5813199"/>
            <a:ext cx="4804526" cy="97206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Zastosowanie: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mobilny to nisza - najlepiej sprawdza się w aplikacjach wymagających integracji z data science, ML lub szybkiego prototypowania.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900" kern="0" spc="45" dirty="0" smtClean="0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9.3. </a:t>
            </a:r>
            <a:r>
              <a:rPr lang="pl-PL" sz="900" kern="0" spc="45" dirty="0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Cocos2d</a:t>
            </a:r>
            <a:endParaRPr lang="pl-PL" sz="900" b="0" i="0" u="none" strike="noStrike" kern="0" cap="none" spc="45" baseline="0" dirty="0">
              <a:ln>
                <a:noFill/>
              </a:ln>
              <a:solidFill>
                <a:srgbClr val="8B0000"/>
              </a:solidFill>
              <a:latin typeface="Quattrocento Sans" pitchFamily="34"/>
              <a:ea typeface="Quattrocento Sans" pitchFamily="34"/>
              <a:cs typeface="Quattrocento Sans" pitchFamily="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19" y="539640"/>
            <a:ext cx="7486053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Cocos2d-x</a:t>
            </a:r>
            <a:r>
              <a:rPr lang="pl-PL" sz="28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</a:t>
            </a: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8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wydajne gry 2D w C++</a:t>
            </a:r>
            <a:endParaRPr lang="pl-PL" sz="28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10000"/>
              </a:lnSpc>
              <a:defRPr lang="pl-PL"/>
            </a:pPr>
            <a:r>
              <a:rPr lang="pl-PL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Cocos2d-x</a:t>
            </a:r>
            <a:endParaRPr lang="pl-PL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7520" y="1656068"/>
            <a:ext cx="6467744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 algn="just">
              <a:lnSpc>
                <a:spcPct val="150000"/>
              </a:lnSpc>
              <a:defRPr lang="pl-PL"/>
            </a:pP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Cocos2d-x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do tworzenia gier 2D w języku C++ z możliwością kompilacji krzyżowej na iOS, Android, Web, Windows,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macOS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i Linux. Powstał jako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fork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Cocos2d </a:t>
            </a:r>
            <a:r>
              <a:rPr lang="pl-PL" sz="1400" i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(</a:t>
            </a:r>
            <a:r>
              <a:rPr lang="pl-PL" sz="1400" i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</a:t>
            </a:r>
            <a:r>
              <a:rPr lang="pl-PL" sz="1400" i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/</a:t>
            </a:r>
            <a:r>
              <a:rPr lang="pl-PL" sz="1400" i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Objective</a:t>
            </a:r>
            <a:r>
              <a:rPr lang="pl-PL" sz="1400" i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-C).</a:t>
            </a:r>
            <a:endParaRPr lang="pl-PL" sz="1400" i="1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7365959" y="1015920"/>
            <a:ext cx="4508640" cy="1516292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381250"/>
              <a:gd name="f5" fmla="*/ f0 1 4508500"/>
              <a:gd name="f6" fmla="*/ f1 1 23812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3812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3812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7524719" y="1151280"/>
            <a:ext cx="4270320" cy="189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 smtClean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524719" y="1449360"/>
            <a:ext cx="4254480" cy="836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200000"/>
              </a:lnSpc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Liczba gier wyprodukowanych: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	  </a:t>
            </a:r>
            <a:r>
              <a:rPr lang="pl-PL" sz="16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ponad </a:t>
            </a:r>
            <a:r>
              <a:rPr lang="pl-PL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1,6 </a:t>
            </a:r>
            <a:r>
              <a:rPr lang="pl-PL" sz="16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mln</a:t>
            </a:r>
            <a:endParaRPr lang="pl-PL" sz="1600" b="1" dirty="0">
              <a:solidFill>
                <a:schemeClr val="accent4">
                  <a:lumMod val="20000"/>
                  <a:lumOff val="80000"/>
                </a:schemeClr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lnSpc>
                <a:spcPct val="200000"/>
              </a:lnSpc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chińskim rynku gier mobilnych: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	</a:t>
            </a:r>
            <a:r>
              <a:rPr lang="pl-PL" sz="16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</a:t>
            </a:r>
            <a:r>
              <a:rPr lang="pl-PL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25</a:t>
            </a:r>
            <a:r>
              <a:rPr lang="pl-PL" sz="16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%</a:t>
            </a:r>
            <a:endParaRPr lang="pl-PL" b="1" dirty="0">
              <a:solidFill>
                <a:schemeClr val="accent4">
                  <a:lumMod val="20000"/>
                  <a:lumOff val="80000"/>
                </a:schemeClr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7372440" y="2690972"/>
            <a:ext cx="4497480" cy="2084274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2139950"/>
              <a:gd name="f5" fmla="*/ f0 1 4497387"/>
              <a:gd name="f6" fmla="*/ f1 1 21399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21399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21399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7492771" y="2744351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6" name="Text 52"/>
          <p:cNvSpPr/>
          <p:nvPr/>
        </p:nvSpPr>
        <p:spPr>
          <a:xfrm>
            <a:off x="7492770" y="2988170"/>
            <a:ext cx="4219275" cy="18796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#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include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"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cocos2d.h„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USING_NS_CC;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endParaRPr lang="pl-PL" sz="1200" spc="-40" dirty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class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MainScene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: public </a:t>
            </a: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Scene</a:t>
            </a:r>
            <a:endParaRPr lang="pl-PL" sz="1200" spc="-40" dirty="0" smtClean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{public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bool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init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()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override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{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10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auto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::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createWithTTF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("Hello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Cocos</a:t>
            </a:r>
            <a:r>
              <a:rPr lang="pl-PL" sz="1200" spc="-10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",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"arial.ttf", 24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-&gt;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setPosition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(100, 100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addChild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return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true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}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CREATE_FUNC(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MainScene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);};</a:t>
            </a:r>
            <a:endParaRPr lang="pl-PL" sz="1200" b="0" i="0" u="none" strike="noStrike" kern="1200" cap="none" spc="-4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</p:txBody>
      </p:sp>
      <p:grpSp>
        <p:nvGrpSpPr>
          <p:cNvPr id="57" name="Grupa 56"/>
          <p:cNvGrpSpPr/>
          <p:nvPr/>
        </p:nvGrpSpPr>
        <p:grpSpPr>
          <a:xfrm>
            <a:off x="9006957" y="5129104"/>
            <a:ext cx="2923081" cy="1326398"/>
            <a:chOff x="7259977" y="5658584"/>
            <a:chExt cx="4855908" cy="1326398"/>
          </a:xfrm>
        </p:grpSpPr>
        <p:sp>
          <p:nvSpPr>
            <p:cNvPr id="58" name="Shape 53"/>
            <p:cNvSpPr/>
            <p:nvPr/>
          </p:nvSpPr>
          <p:spPr>
            <a:xfrm flipH="1">
              <a:off x="7259977" y="5658584"/>
              <a:ext cx="59804" cy="132639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1333500"/>
                <a:gd name="f5" fmla="*/ f0 1 31750"/>
                <a:gd name="f6" fmla="*/ f1 1 1333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1333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1333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0070C0"/>
            </a:solidFill>
            <a:ln cap="flat">
              <a:solidFill>
                <a:srgbClr val="00B0F0"/>
              </a:solidFill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32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7576504" y="5698063"/>
              <a:ext cx="4177243" cy="17507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 smtClean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Wady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0" name="Text 55"/>
            <p:cNvSpPr/>
            <p:nvPr/>
          </p:nvSpPr>
          <p:spPr>
            <a:xfrm>
              <a:off x="7524720" y="5953516"/>
              <a:ext cx="4591165" cy="865932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Krzywa uczenia (C++, manualne zarządzanie pamięcią</a:t>
              </a:r>
              <a:r>
                <a:rPr lang="pl-PL" altLang="zh-CN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  <a:endParaRPr lang="pl-PL" altLang="zh-CN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Mniej popularny na Zachodzie</a:t>
              </a:r>
              <a:endParaRPr lang="zh-CN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sp>
        <p:nvSpPr>
          <p:cNvPr id="64" name="Prostokąt 63"/>
          <p:cNvSpPr/>
          <p:nvPr/>
        </p:nvSpPr>
        <p:spPr>
          <a:xfrm>
            <a:off x="244783" y="2863452"/>
            <a:ext cx="1671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b="1" dirty="0"/>
              <a:t>Kluczowe cechy</a:t>
            </a:r>
            <a:endParaRPr lang="pl-PL" dirty="0"/>
          </a:p>
        </p:txBody>
      </p:sp>
      <p:sp>
        <p:nvSpPr>
          <p:cNvPr id="66" name="Rectangle 2"/>
          <p:cNvSpPr>
            <a:spLocks noChangeArrowheads="1"/>
          </p:cNvSpPr>
          <p:nvPr/>
        </p:nvSpPr>
        <p:spPr bwMode="auto">
          <a:xfrm>
            <a:off x="697937" y="3205192"/>
            <a:ext cx="58523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Silnik renderujący </a:t>
            </a:r>
            <a:r>
              <a:rPr lang="pl-PL" altLang="pl-PL" sz="1400" dirty="0" err="1">
                <a:latin typeface="Arial" panose="020B0604020202020204" pitchFamily="34" charset="0"/>
              </a:rPr>
              <a:t>OpenGL</a:t>
            </a:r>
            <a:r>
              <a:rPr lang="pl-PL" altLang="pl-PL" sz="1400" dirty="0">
                <a:latin typeface="Arial" panose="020B0604020202020204" pitchFamily="34" charset="0"/>
              </a:rPr>
              <a:t> ES / Metal / </a:t>
            </a:r>
            <a:r>
              <a:rPr lang="pl-PL" altLang="pl-PL" sz="1400" dirty="0" err="1" smtClean="0">
                <a:latin typeface="Arial" panose="020B0604020202020204" pitchFamily="34" charset="0"/>
              </a:rPr>
              <a:t>Vulkan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Narzędzie </a:t>
            </a:r>
            <a:r>
              <a:rPr lang="pl-PL" altLang="pl-PL" sz="1400" dirty="0" err="1">
                <a:latin typeface="Arial" panose="020B0604020202020204" pitchFamily="34" charset="0"/>
              </a:rPr>
              <a:t>Cocos</a:t>
            </a:r>
            <a:r>
              <a:rPr lang="pl-PL" altLang="pl-PL" sz="1400" dirty="0">
                <a:latin typeface="Arial" panose="020B0604020202020204" pitchFamily="34" charset="0"/>
              </a:rPr>
              <a:t> </a:t>
            </a:r>
            <a:r>
              <a:rPr lang="pl-PL" altLang="pl-PL" sz="1400" dirty="0" err="1">
                <a:latin typeface="Arial" panose="020B0604020202020204" pitchFamily="34" charset="0"/>
              </a:rPr>
              <a:t>Creator</a:t>
            </a:r>
            <a:r>
              <a:rPr lang="pl-PL" altLang="pl-PL" sz="1400" dirty="0">
                <a:latin typeface="Arial" panose="020B0604020202020204" pitchFamily="34" charset="0"/>
              </a:rPr>
              <a:t> – wizualny edytor </a:t>
            </a:r>
            <a:r>
              <a:rPr lang="pl-PL" altLang="pl-PL" sz="1400" dirty="0" smtClean="0">
                <a:latin typeface="Arial" panose="020B0604020202020204" pitchFamily="34" charset="0"/>
              </a:rPr>
              <a:t>scen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Wsparcie dla JavaScript/</a:t>
            </a:r>
            <a:r>
              <a:rPr lang="pl-PL" altLang="pl-PL" sz="1400" dirty="0" err="1">
                <a:latin typeface="Arial" panose="020B0604020202020204" pitchFamily="34" charset="0"/>
              </a:rPr>
              <a:t>Lua</a:t>
            </a:r>
            <a:r>
              <a:rPr lang="pl-PL" altLang="pl-PL" sz="1400" dirty="0">
                <a:latin typeface="Arial" panose="020B0604020202020204" pitchFamily="34" charset="0"/>
              </a:rPr>
              <a:t> poprzez wiązania (</a:t>
            </a:r>
            <a:r>
              <a:rPr lang="pl-PL" altLang="pl-PL" sz="1400" dirty="0" err="1">
                <a:latin typeface="Arial" panose="020B0604020202020204" pitchFamily="34" charset="0"/>
              </a:rPr>
              <a:t>bindings</a:t>
            </a:r>
            <a:r>
              <a:rPr lang="pl-PL" altLang="pl-PL" sz="1400" dirty="0" smtClean="0">
                <a:latin typeface="Arial" panose="020B0604020202020204" pitchFamily="34" charset="0"/>
              </a:rPr>
              <a:t>)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Bardzo mały rozmiar wynikowego APK (~3–5 MB)</a:t>
            </a:r>
            <a:endParaRPr kumimoji="0" lang="pl-PL" altLang="pl-PL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upa 5"/>
          <p:cNvGrpSpPr/>
          <p:nvPr/>
        </p:nvGrpSpPr>
        <p:grpSpPr>
          <a:xfrm>
            <a:off x="336765" y="4962236"/>
            <a:ext cx="3656647" cy="1260540"/>
            <a:chOff x="336765" y="4962236"/>
            <a:chExt cx="3656647" cy="1260540"/>
          </a:xfrm>
        </p:grpSpPr>
        <p:sp>
          <p:nvSpPr>
            <p:cNvPr id="67" name="Shape 33"/>
            <p:cNvSpPr/>
            <p:nvPr/>
          </p:nvSpPr>
          <p:spPr>
            <a:xfrm>
              <a:off x="336765" y="4968103"/>
              <a:ext cx="45719" cy="1254673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698500"/>
                <a:gd name="f5" fmla="*/ f0 1 31750"/>
                <a:gd name="f6" fmla="*/ f1 1 698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698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698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8" name="Text 34"/>
            <p:cNvSpPr/>
            <p:nvPr/>
          </p:nvSpPr>
          <p:spPr>
            <a:xfrm>
              <a:off x="500365" y="4962236"/>
              <a:ext cx="3493047" cy="2768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lvl="0">
                <a:lnSpc>
                  <a:spcPct val="130000"/>
                </a:lnSpc>
                <a:defRPr lang="pl-PL"/>
              </a:pPr>
              <a:r>
                <a:rPr lang="pl-PL" sz="1600" b="1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Największe tytuły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9" name="Shape 35"/>
            <p:cNvSpPr/>
            <p:nvPr/>
          </p:nvSpPr>
          <p:spPr>
            <a:xfrm>
              <a:off x="500365" y="5339057"/>
              <a:ext cx="1386719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6125"/>
                <a:gd name="f4" fmla="val 222250"/>
                <a:gd name="f5" fmla="val 31751"/>
                <a:gd name="f6" fmla="val 714374"/>
                <a:gd name="f7" fmla="val 731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46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46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46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lvl="0">
                <a:lnSpc>
                  <a:spcPct val="120000"/>
                </a:lnSpc>
                <a:defRPr lang="pl-PL"/>
              </a:pP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Clash of </a:t>
              </a: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Clans</a:t>
              </a:r>
              <a:endPara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1" name="Shape 37"/>
            <p:cNvSpPr/>
            <p:nvPr/>
          </p:nvSpPr>
          <p:spPr>
            <a:xfrm>
              <a:off x="500365" y="5827856"/>
              <a:ext cx="2784796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27125"/>
                <a:gd name="f4" fmla="val 222250"/>
                <a:gd name="f5" fmla="val 31751"/>
                <a:gd name="f6" fmla="val 1095374"/>
                <a:gd name="f7" fmla="val 1112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1127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1127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1127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wczesne wersje </a:t>
              </a: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Hearthstone</a:t>
              </a:r>
              <a:endParaRPr lang="pl-PL" sz="1400" i="1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3" name="Shape 39"/>
            <p:cNvSpPr/>
            <p:nvPr/>
          </p:nvSpPr>
          <p:spPr>
            <a:xfrm>
              <a:off x="1958775" y="5339057"/>
              <a:ext cx="1321007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84250"/>
                <a:gd name="f4" fmla="val 222250"/>
                <a:gd name="f5" fmla="val 31751"/>
                <a:gd name="f6" fmla="val 952499"/>
                <a:gd name="f7" fmla="val 9700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842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842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842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 hangingPunct="0">
                <a:defRPr lang="pl-PL"/>
              </a:pPr>
              <a:r>
                <a:rPr lang="pl-PL" sz="1400" i="1" dirty="0">
                  <a:solidFill>
                    <a:schemeClr val="bg1"/>
                  </a:solidFill>
                  <a:latin typeface="Sorts Mill Goudy"/>
                </a:rPr>
                <a:t>Badland</a:t>
              </a:r>
              <a:endParaRPr lang="pl-PL" sz="14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Sorts Mill Goudy"/>
                <a:ea typeface="Noto Sans CJK SC" pitchFamily="2"/>
                <a:cs typeface="Noto Sans Devanagari" pitchFamily="2"/>
              </a:endParaRPr>
            </a:p>
          </p:txBody>
        </p:sp>
      </p:grpSp>
      <p:grpSp>
        <p:nvGrpSpPr>
          <p:cNvPr id="75" name="Grupa 74"/>
          <p:cNvGrpSpPr/>
          <p:nvPr/>
        </p:nvGrpSpPr>
        <p:grpSpPr>
          <a:xfrm>
            <a:off x="5608923" y="5078485"/>
            <a:ext cx="3220871" cy="1428840"/>
            <a:chOff x="6163764" y="3840822"/>
            <a:chExt cx="5768076" cy="1428840"/>
          </a:xfrm>
        </p:grpSpPr>
        <p:sp>
          <p:nvSpPr>
            <p:cNvPr id="76" name="Shape 30"/>
            <p:cNvSpPr/>
            <p:nvPr/>
          </p:nvSpPr>
          <p:spPr>
            <a:xfrm>
              <a:off x="6163764" y="3840822"/>
              <a:ext cx="64470" cy="13770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404840"/>
                <a:gd name="f5" fmla="*/ f0 1 33449"/>
                <a:gd name="f6" fmla="*/ f1 1 140484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40484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40484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7" name="Text 31"/>
            <p:cNvSpPr/>
            <p:nvPr/>
          </p:nvSpPr>
          <p:spPr>
            <a:xfrm>
              <a:off x="6437077" y="3840823"/>
              <a:ext cx="5220076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78" name="Text 32"/>
            <p:cNvSpPr/>
            <p:nvPr/>
          </p:nvSpPr>
          <p:spPr>
            <a:xfrm>
              <a:off x="6362641" y="4214519"/>
              <a:ext cx="5569199" cy="1055143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Najwyższa wydajność (C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++</a:t>
              </a:r>
              <a:b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</a:b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+ </a:t>
              </a: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natywny rendering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Niskie zużycie baterii i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pamięci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Świetny do gier 2D z dużą liczbą obiektów</a:t>
              </a:r>
              <a:endParaRPr lang="pl-PL" sz="1400" b="0" i="1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59781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orum.defold.com/00e4d6efddda5c50b20fddfab2b0301d02f06f38.png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5178" b="15178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85000"/>
                </a:srgbClr>
              </a:gs>
              <a:gs pos="50000">
                <a:srgbClr val="1F2937">
                  <a:alpha val="95000"/>
                </a:srgbClr>
              </a:gs>
              <a:gs pos="100000">
                <a:srgbClr val="1F2937">
                  <a:alpha val="85000"/>
                </a:srgbClr>
              </a:gs>
            </a:gsLst>
            <a:lin ang="432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1"/>
          <p:cNvSpPr/>
          <p:nvPr/>
        </p:nvSpPr>
        <p:spPr>
          <a:xfrm>
            <a:off x="380880" y="2209680"/>
            <a:ext cx="2185675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09</a:t>
            </a:r>
          </a:p>
        </p:txBody>
      </p:sp>
      <p:sp>
        <p:nvSpPr>
          <p:cNvPr id="5" name="Text 2"/>
          <p:cNvSpPr/>
          <p:nvPr/>
        </p:nvSpPr>
        <p:spPr>
          <a:xfrm>
            <a:off x="380880" y="2992582"/>
            <a:ext cx="11658600" cy="8558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>
              <a:defRPr lang="pl-PL"/>
            </a:pPr>
            <a:r>
              <a:rPr lang="pl-PL" sz="4400" dirty="0">
                <a:solidFill>
                  <a:schemeClr val="bg1"/>
                </a:solidFill>
                <a:latin typeface="Sorts Mill Goudy"/>
              </a:rPr>
              <a:t>Unity, Gadot, Solar2D, </a:t>
            </a:r>
            <a:r>
              <a:rPr lang="pl-PL" sz="4400" dirty="0" err="1" smtClean="0">
                <a:solidFill>
                  <a:schemeClr val="bg1"/>
                </a:solidFill>
                <a:latin typeface="Sorts Mill Goudy"/>
              </a:rPr>
              <a:t>Defold</a:t>
            </a:r>
            <a:r>
              <a:rPr lang="pl-PL" sz="4400" dirty="0">
                <a:solidFill>
                  <a:schemeClr val="bg1"/>
                </a:solidFill>
                <a:latin typeface="Sorts Mill Goudy"/>
              </a:rPr>
              <a:t>, Phaser </a:t>
            </a:r>
          </a:p>
        </p:txBody>
      </p:sp>
      <p:sp>
        <p:nvSpPr>
          <p:cNvPr id="6" name="Shape 3"/>
          <p:cNvSpPr/>
          <p:nvPr/>
        </p:nvSpPr>
        <p:spPr>
          <a:xfrm>
            <a:off x="380880" y="4076640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380880" y="434340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 gier 2D w Lua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900" kern="0" spc="45" dirty="0" smtClean="0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9.3. Unity</a:t>
            </a:r>
            <a:endParaRPr lang="pl-PL" sz="900" b="0" i="0" u="none" strike="noStrike" kern="0" cap="none" spc="45" baseline="0" dirty="0">
              <a:ln>
                <a:noFill/>
              </a:ln>
              <a:solidFill>
                <a:srgbClr val="8B0000"/>
              </a:solidFill>
              <a:latin typeface="Quattrocento Sans" pitchFamily="34"/>
              <a:ea typeface="Quattrocento Sans" pitchFamily="34"/>
              <a:cs typeface="Quattrocento Sans" pitchFamily="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19" y="560422"/>
            <a:ext cx="8640985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>
              <a:lnSpc>
                <a:spcPct val="90000"/>
              </a:lnSpc>
              <a:defRPr lang="pl-PL"/>
            </a:pP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Unity: </a:t>
            </a:r>
            <a:r>
              <a:rPr lang="pl-PL" sz="28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najpopularniejszy </a:t>
            </a:r>
            <a:r>
              <a:rPr lang="pl-PL" sz="28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 gier </a:t>
            </a:r>
            <a:r>
              <a:rPr lang="pl-PL" sz="28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cross-platform</a:t>
            </a:r>
            <a:endParaRPr lang="pl-PL" sz="28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r>
              <a:rPr lang="pl-PL" b="1" dirty="0"/>
              <a:t>Czym jest </a:t>
            </a:r>
            <a:r>
              <a:rPr lang="pl-PL" b="1" dirty="0" smtClean="0"/>
              <a:t>Unity?</a:t>
            </a:r>
            <a:endParaRPr lang="pl-PL" b="1" dirty="0"/>
          </a:p>
        </p:txBody>
      </p:sp>
      <p:sp>
        <p:nvSpPr>
          <p:cNvPr id="5" name="Text 3"/>
          <p:cNvSpPr/>
          <p:nvPr/>
        </p:nvSpPr>
        <p:spPr>
          <a:xfrm>
            <a:off x="317520" y="1656068"/>
            <a:ext cx="6467744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 algn="just">
              <a:lnSpc>
                <a:spcPct val="150000"/>
              </a:lnSpc>
              <a:defRPr lang="pl-PL"/>
            </a:pP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Unity 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to najszerzej stosowany profesjonalny silnik gier na świecie. Umożliwia tworzenie gier 2D, 3D, AR/VR na ponad 25 platform, w tym iOS, Android, Web, konsole, PC i urządzenia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wearable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  <a:endParaRPr lang="pl-PL" sz="1400" i="1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7365959" y="1244522"/>
            <a:ext cx="4508640" cy="1516292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381250"/>
              <a:gd name="f5" fmla="*/ f0 1 4508500"/>
              <a:gd name="f6" fmla="*/ f1 1 23812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3812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3812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7524719" y="1379882"/>
            <a:ext cx="4270320" cy="189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 smtClean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524719" y="1677962"/>
            <a:ext cx="4254480" cy="938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defRPr lang="pl-PL"/>
            </a:pP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rynku gier mobilnych:	                   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~55% </a:t>
            </a:r>
            <a:endParaRPr lang="pl-PL" sz="1400" b="1" dirty="0" smtClean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defRPr lang="pl-PL"/>
            </a:pP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Liczba deweloperów Unity: 	      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~2,8 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mln/mc</a:t>
            </a:r>
          </a:p>
          <a:p>
            <a:pPr lvl="0">
              <a:defRPr lang="pl-PL"/>
            </a:pP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Gry </a:t>
            </a: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zbudowane w Unity: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	        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ponad </a:t>
            </a:r>
            <a:r>
              <a:rPr lang="pl-PL" sz="14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70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%</a:t>
            </a:r>
            <a:b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</a:b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                                                 </a:t>
            </a:r>
            <a:r>
              <a:rPr lang="pl-PL" sz="14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top 1000 gier 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mobile</a:t>
            </a:r>
            <a:endParaRPr lang="pl-PL" sz="14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grpSp>
        <p:nvGrpSpPr>
          <p:cNvPr id="57" name="Grupa 56"/>
          <p:cNvGrpSpPr/>
          <p:nvPr/>
        </p:nvGrpSpPr>
        <p:grpSpPr>
          <a:xfrm>
            <a:off x="8840702" y="5139495"/>
            <a:ext cx="3029218" cy="1326398"/>
            <a:chOff x="7259977" y="5658584"/>
            <a:chExt cx="5032224" cy="1326398"/>
          </a:xfrm>
        </p:grpSpPr>
        <p:sp>
          <p:nvSpPr>
            <p:cNvPr id="58" name="Shape 53"/>
            <p:cNvSpPr/>
            <p:nvPr/>
          </p:nvSpPr>
          <p:spPr>
            <a:xfrm flipH="1">
              <a:off x="7259977" y="5658584"/>
              <a:ext cx="59804" cy="132639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1333500"/>
                <a:gd name="f5" fmla="*/ f0 1 31750"/>
                <a:gd name="f6" fmla="*/ f1 1 1333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1333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1333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0070C0"/>
            </a:solidFill>
            <a:ln cap="flat">
              <a:solidFill>
                <a:srgbClr val="00B0F0"/>
              </a:solidFill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32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7576504" y="5666890"/>
              <a:ext cx="4177243" cy="17507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 smtClean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Wady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0" name="Text 55"/>
            <p:cNvSpPr/>
            <p:nvPr/>
          </p:nvSpPr>
          <p:spPr>
            <a:xfrm>
              <a:off x="7455673" y="5953516"/>
              <a:ext cx="4836528" cy="10314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0">
              <a:noAutofit/>
            </a:bodyPr>
            <a:lstStyle/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Rosnące koszty licencji (Unity Pro od ~$2200/rok</a:t>
              </a:r>
              <a:r>
                <a:rPr lang="pl-PL" altLang="zh-CN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  <a:endParaRPr lang="pl-PL" altLang="zh-CN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Częste zmiany polityki cenowej (kontrowersje 2023/2024</a:t>
              </a:r>
              <a:r>
                <a:rPr lang="pl-PL" altLang="zh-CN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  <a:endParaRPr lang="pl-PL" altLang="zh-CN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Duży rozmiar aplikacji (minimalny APK ~20 MB)</a:t>
              </a:r>
              <a:endParaRPr lang="zh-CN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sp>
        <p:nvSpPr>
          <p:cNvPr id="64" name="Prostokąt 63"/>
          <p:cNvSpPr/>
          <p:nvPr/>
        </p:nvSpPr>
        <p:spPr>
          <a:xfrm>
            <a:off x="244783" y="2863452"/>
            <a:ext cx="1671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b="1" dirty="0"/>
              <a:t>Kluczowe cechy</a:t>
            </a:r>
            <a:endParaRPr lang="pl-PL" dirty="0"/>
          </a:p>
        </p:txBody>
      </p:sp>
      <p:sp>
        <p:nvSpPr>
          <p:cNvPr id="66" name="Rectangle 2"/>
          <p:cNvSpPr>
            <a:spLocks noChangeArrowheads="1"/>
          </p:cNvSpPr>
          <p:nvPr/>
        </p:nvSpPr>
        <p:spPr bwMode="auto">
          <a:xfrm>
            <a:off x="276727" y="3202505"/>
            <a:ext cx="650853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44000" lvl="0" indent="-144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300" dirty="0">
                <a:latin typeface="Arial" panose="020B0604020202020204" pitchFamily="34" charset="0"/>
              </a:rPr>
              <a:t>Języki: C# </a:t>
            </a:r>
            <a:r>
              <a:rPr lang="pl-PL" altLang="pl-PL" sz="1300" i="1" dirty="0">
                <a:latin typeface="Arial" panose="020B0604020202020204" pitchFamily="34" charset="0"/>
              </a:rPr>
              <a:t>(główny), </a:t>
            </a:r>
            <a:r>
              <a:rPr lang="pl-PL" altLang="pl-PL" sz="1300" dirty="0">
                <a:latin typeface="Arial" panose="020B0604020202020204" pitchFamily="34" charset="0"/>
              </a:rPr>
              <a:t>C++ </a:t>
            </a:r>
            <a:r>
              <a:rPr lang="pl-PL" altLang="pl-PL" sz="1300" i="1" dirty="0">
                <a:latin typeface="Arial" panose="020B0604020202020204" pitchFamily="34" charset="0"/>
              </a:rPr>
              <a:t>(</a:t>
            </a:r>
            <a:r>
              <a:rPr lang="pl-PL" altLang="pl-PL" sz="1300" i="1" dirty="0" err="1">
                <a:latin typeface="Arial" panose="020B0604020202020204" pitchFamily="34" charset="0"/>
              </a:rPr>
              <a:t>pluginy</a:t>
            </a:r>
            <a:r>
              <a:rPr lang="pl-PL" altLang="pl-PL" sz="1300" i="1" dirty="0">
                <a:latin typeface="Arial" panose="020B0604020202020204" pitchFamily="34" charset="0"/>
              </a:rPr>
              <a:t> natywne), </a:t>
            </a:r>
            <a:r>
              <a:rPr lang="pl-PL" altLang="pl-PL" sz="1300" dirty="0" err="1">
                <a:latin typeface="Arial" panose="020B0604020202020204" pitchFamily="34" charset="0"/>
              </a:rPr>
              <a:t>Burst</a:t>
            </a:r>
            <a:r>
              <a:rPr lang="pl-PL" altLang="pl-PL" sz="1300" dirty="0">
                <a:latin typeface="Arial" panose="020B0604020202020204" pitchFamily="34" charset="0"/>
              </a:rPr>
              <a:t> </a:t>
            </a:r>
            <a:r>
              <a:rPr lang="pl-PL" altLang="pl-PL" sz="1300" i="1" dirty="0">
                <a:latin typeface="Arial" panose="020B0604020202020204" pitchFamily="34" charset="0"/>
              </a:rPr>
              <a:t>(kompilator wysokiej wydajności</a:t>
            </a:r>
            <a:r>
              <a:rPr lang="pl-PL" altLang="pl-PL" sz="1300" i="1" dirty="0" smtClean="0">
                <a:latin typeface="Arial" panose="020B0604020202020204" pitchFamily="34" charset="0"/>
              </a:rPr>
              <a:t>)</a:t>
            </a:r>
            <a:endParaRPr lang="pl-PL" altLang="pl-PL" sz="1300" i="1" dirty="0">
              <a:latin typeface="Arial" panose="020B0604020202020204" pitchFamily="34" charset="0"/>
            </a:endParaRPr>
          </a:p>
          <a:p>
            <a:pPr marL="144000" lvl="0" indent="-144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300" dirty="0" err="1">
                <a:latin typeface="Arial" panose="020B0604020202020204" pitchFamily="34" charset="0"/>
              </a:rPr>
              <a:t>Renderowanie</a:t>
            </a:r>
            <a:r>
              <a:rPr lang="pl-PL" altLang="pl-PL" sz="1300" dirty="0">
                <a:latin typeface="Arial" panose="020B0604020202020204" pitchFamily="34" charset="0"/>
              </a:rPr>
              <a:t>: Universal </a:t>
            </a:r>
            <a:r>
              <a:rPr lang="pl-PL" altLang="pl-PL" sz="1300" dirty="0" err="1">
                <a:latin typeface="Arial" panose="020B0604020202020204" pitchFamily="34" charset="0"/>
              </a:rPr>
              <a:t>Render</a:t>
            </a:r>
            <a:r>
              <a:rPr lang="pl-PL" altLang="pl-PL" sz="1300" dirty="0">
                <a:latin typeface="Arial" panose="020B0604020202020204" pitchFamily="34" charset="0"/>
              </a:rPr>
              <a:t> </a:t>
            </a:r>
            <a:r>
              <a:rPr lang="pl-PL" altLang="pl-PL" sz="1300" dirty="0" err="1">
                <a:latin typeface="Arial" panose="020B0604020202020204" pitchFamily="34" charset="0"/>
              </a:rPr>
              <a:t>Pipeline</a:t>
            </a:r>
            <a:r>
              <a:rPr lang="pl-PL" altLang="pl-PL" sz="1300" dirty="0">
                <a:latin typeface="Arial" panose="020B0604020202020204" pitchFamily="34" charset="0"/>
              </a:rPr>
              <a:t> (URP), </a:t>
            </a:r>
            <a:r>
              <a:rPr lang="pl-PL" altLang="pl-PL" sz="1300" strike="sngStrike" dirty="0">
                <a:latin typeface="Arial" panose="020B0604020202020204" pitchFamily="34" charset="0"/>
              </a:rPr>
              <a:t>High Definition RP </a:t>
            </a:r>
            <a:r>
              <a:rPr lang="pl-PL" altLang="pl-PL" sz="1300" i="1" strike="sngStrike" dirty="0">
                <a:latin typeface="Arial" panose="020B0604020202020204" pitchFamily="34" charset="0"/>
              </a:rPr>
              <a:t>(HDRP</a:t>
            </a:r>
            <a:r>
              <a:rPr lang="pl-PL" altLang="pl-PL" sz="1300" i="1" strike="sngStrike" dirty="0" smtClean="0">
                <a:latin typeface="Arial" panose="020B0604020202020204" pitchFamily="34" charset="0"/>
              </a:rPr>
              <a:t>)</a:t>
            </a:r>
            <a:endParaRPr lang="pl-PL" altLang="pl-PL" sz="1300" i="1" strike="sngStrike" dirty="0">
              <a:latin typeface="Arial" panose="020B0604020202020204" pitchFamily="34" charset="0"/>
            </a:endParaRPr>
          </a:p>
          <a:p>
            <a:pPr marL="144000" lvl="0" indent="-144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300" dirty="0">
                <a:latin typeface="Arial" panose="020B0604020202020204" pitchFamily="34" charset="0"/>
              </a:rPr>
              <a:t>Mechanizmy: ECS </a:t>
            </a:r>
            <a:r>
              <a:rPr lang="pl-PL" altLang="pl-PL" sz="1300" i="1" dirty="0">
                <a:latin typeface="Arial" panose="020B0604020202020204" pitchFamily="34" charset="0"/>
              </a:rPr>
              <a:t>(</a:t>
            </a:r>
            <a:r>
              <a:rPr lang="pl-PL" altLang="pl-PL" sz="1300" i="1" dirty="0" err="1">
                <a:latin typeface="Arial" panose="020B0604020202020204" pitchFamily="34" charset="0"/>
              </a:rPr>
              <a:t>Entity</a:t>
            </a:r>
            <a:r>
              <a:rPr lang="pl-PL" altLang="pl-PL" sz="1300" i="1" dirty="0">
                <a:latin typeface="Arial" panose="020B0604020202020204" pitchFamily="34" charset="0"/>
              </a:rPr>
              <a:t> Component System), </a:t>
            </a:r>
            <a:r>
              <a:rPr lang="pl-PL" altLang="pl-PL" sz="1300" dirty="0">
                <a:latin typeface="Arial" panose="020B0604020202020204" pitchFamily="34" charset="0"/>
              </a:rPr>
              <a:t>DOTS </a:t>
            </a:r>
            <a:r>
              <a:rPr lang="pl-PL" altLang="pl-PL" sz="1300" i="1" dirty="0">
                <a:latin typeface="Arial" panose="020B0604020202020204" pitchFamily="34" charset="0"/>
              </a:rPr>
              <a:t>(Data-</a:t>
            </a:r>
            <a:r>
              <a:rPr lang="pl-PL" altLang="pl-PL" sz="1300" i="1" dirty="0" err="1">
                <a:latin typeface="Arial" panose="020B0604020202020204" pitchFamily="34" charset="0"/>
              </a:rPr>
              <a:t>Oriented</a:t>
            </a:r>
            <a:r>
              <a:rPr lang="pl-PL" altLang="pl-PL" sz="1300" i="1" dirty="0">
                <a:latin typeface="Arial" panose="020B0604020202020204" pitchFamily="34" charset="0"/>
              </a:rPr>
              <a:t> Tech </a:t>
            </a:r>
            <a:r>
              <a:rPr lang="pl-PL" altLang="pl-PL" sz="1300" i="1" dirty="0" err="1">
                <a:latin typeface="Arial" panose="020B0604020202020204" pitchFamily="34" charset="0"/>
              </a:rPr>
              <a:t>Stack</a:t>
            </a:r>
            <a:r>
              <a:rPr lang="pl-PL" altLang="pl-PL" sz="1300" i="1" dirty="0" smtClean="0">
                <a:latin typeface="Arial" panose="020B0604020202020204" pitchFamily="34" charset="0"/>
              </a:rPr>
              <a:t>)</a:t>
            </a:r>
            <a:endParaRPr lang="pl-PL" altLang="pl-PL" sz="1300" i="1" dirty="0">
              <a:latin typeface="Arial" panose="020B0604020202020204" pitchFamily="34" charset="0"/>
            </a:endParaRPr>
          </a:p>
          <a:p>
            <a:pPr marL="144000" lvl="0" indent="-1440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300" dirty="0" err="1">
                <a:latin typeface="Arial" panose="020B0604020202020204" pitchFamily="34" charset="0"/>
              </a:rPr>
              <a:t>Asset</a:t>
            </a:r>
            <a:r>
              <a:rPr lang="pl-PL" altLang="pl-PL" sz="1300" dirty="0">
                <a:latin typeface="Arial" panose="020B0604020202020204" pitchFamily="34" charset="0"/>
              </a:rPr>
              <a:t> </a:t>
            </a:r>
            <a:r>
              <a:rPr lang="pl-PL" altLang="pl-PL" sz="1300" dirty="0" err="1">
                <a:latin typeface="Arial" panose="020B0604020202020204" pitchFamily="34" charset="0"/>
              </a:rPr>
              <a:t>Store</a:t>
            </a:r>
            <a:r>
              <a:rPr lang="pl-PL" altLang="pl-PL" sz="1300" dirty="0">
                <a:latin typeface="Arial" panose="020B0604020202020204" pitchFamily="34" charset="0"/>
              </a:rPr>
              <a:t> z ponad 80 tysiącami zasobów</a:t>
            </a:r>
            <a:endParaRPr kumimoji="0" lang="pl-PL" altLang="pl-PL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5" name="Grupa 74"/>
          <p:cNvGrpSpPr/>
          <p:nvPr/>
        </p:nvGrpSpPr>
        <p:grpSpPr>
          <a:xfrm>
            <a:off x="5484231" y="5078485"/>
            <a:ext cx="3220871" cy="1428840"/>
            <a:chOff x="6163764" y="3840822"/>
            <a:chExt cx="5768076" cy="1428840"/>
          </a:xfrm>
        </p:grpSpPr>
        <p:sp>
          <p:nvSpPr>
            <p:cNvPr id="76" name="Shape 30"/>
            <p:cNvSpPr/>
            <p:nvPr/>
          </p:nvSpPr>
          <p:spPr>
            <a:xfrm>
              <a:off x="6163764" y="3840822"/>
              <a:ext cx="64470" cy="13770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404840"/>
                <a:gd name="f5" fmla="*/ f0 1 33449"/>
                <a:gd name="f6" fmla="*/ f1 1 140484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40484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40484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7" name="Text 31"/>
            <p:cNvSpPr/>
            <p:nvPr/>
          </p:nvSpPr>
          <p:spPr>
            <a:xfrm>
              <a:off x="6437077" y="3840823"/>
              <a:ext cx="5220076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78" name="Text 32"/>
            <p:cNvSpPr/>
            <p:nvPr/>
          </p:nvSpPr>
          <p:spPr>
            <a:xfrm>
              <a:off x="6362641" y="4214519"/>
              <a:ext cx="5569199" cy="1055143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Ogromny ekosystem i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wsparcie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Wspaniała dokumentacja i </a:t>
              </a:r>
              <a:r>
                <a:rPr lang="pl-PL" sz="1400" dirty="0" err="1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tutoriale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Wydajność bliska natywnej (z DOTS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lnSpc>
                  <a:spcPts val="12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Jedna baza kodu dla wszystkich platform</a:t>
              </a:r>
              <a:endParaRPr lang="pl-PL" sz="1400" b="0" i="1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grpSp>
        <p:nvGrpSpPr>
          <p:cNvPr id="7" name="Grupa 6"/>
          <p:cNvGrpSpPr/>
          <p:nvPr/>
        </p:nvGrpSpPr>
        <p:grpSpPr>
          <a:xfrm>
            <a:off x="374596" y="5139495"/>
            <a:ext cx="3083339" cy="1286088"/>
            <a:chOff x="317519" y="5366874"/>
            <a:chExt cx="3083339" cy="1286088"/>
          </a:xfrm>
        </p:grpSpPr>
        <p:sp>
          <p:nvSpPr>
            <p:cNvPr id="67" name="Shape 33"/>
            <p:cNvSpPr/>
            <p:nvPr/>
          </p:nvSpPr>
          <p:spPr>
            <a:xfrm>
              <a:off x="317519" y="5372741"/>
              <a:ext cx="45719" cy="1280221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698500"/>
                <a:gd name="f5" fmla="*/ f0 1 31750"/>
                <a:gd name="f6" fmla="*/ f1 1 698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698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698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8" name="Text 34"/>
            <p:cNvSpPr/>
            <p:nvPr/>
          </p:nvSpPr>
          <p:spPr>
            <a:xfrm>
              <a:off x="501902" y="5366874"/>
              <a:ext cx="2615372" cy="2768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lvl="0">
                <a:lnSpc>
                  <a:spcPct val="130000"/>
                </a:lnSpc>
                <a:defRPr lang="pl-PL"/>
              </a:pPr>
              <a:r>
                <a:rPr lang="pl-PL" sz="1600" b="1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Przykładowe tytuły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9" name="Shape 35"/>
            <p:cNvSpPr/>
            <p:nvPr/>
          </p:nvSpPr>
          <p:spPr>
            <a:xfrm>
              <a:off x="481119" y="5743695"/>
              <a:ext cx="1435147" cy="360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6125"/>
                <a:gd name="f4" fmla="val 222250"/>
                <a:gd name="f5" fmla="val 31751"/>
                <a:gd name="f6" fmla="val 714374"/>
                <a:gd name="f7" fmla="val 731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46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46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46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Genshin </a:t>
              </a: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Impact</a:t>
              </a:r>
              <a:endPara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1" name="Shape 37"/>
            <p:cNvSpPr/>
            <p:nvPr/>
          </p:nvSpPr>
          <p:spPr>
            <a:xfrm>
              <a:off x="1997995" y="5743695"/>
              <a:ext cx="1402863" cy="360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27125"/>
                <a:gd name="f4" fmla="val 222250"/>
                <a:gd name="f5" fmla="val 31751"/>
                <a:gd name="f6" fmla="val 1095374"/>
                <a:gd name="f7" fmla="val 1112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1127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1127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1127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Among</a:t>
              </a: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</a:t>
              </a: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Us</a:t>
              </a:r>
              <a:endParaRPr lang="pl-PL" sz="1400" i="1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3" name="Shape 39"/>
            <p:cNvSpPr/>
            <p:nvPr/>
          </p:nvSpPr>
          <p:spPr>
            <a:xfrm>
              <a:off x="1997995" y="6169597"/>
              <a:ext cx="1402863" cy="360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84250"/>
                <a:gd name="f4" fmla="val 222250"/>
                <a:gd name="f5" fmla="val 31751"/>
                <a:gd name="f6" fmla="val 952499"/>
                <a:gd name="f7" fmla="val 9700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842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842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842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 hangingPunct="0">
                <a:defRPr lang="pl-PL"/>
              </a:pPr>
              <a:r>
                <a:rPr lang="pl-PL" sz="1400" dirty="0" err="1">
                  <a:solidFill>
                    <a:schemeClr val="bg1"/>
                  </a:solidFill>
                  <a:latin typeface="Sorts Mill Goudy"/>
                </a:rPr>
                <a:t>Pokémon</a:t>
              </a:r>
              <a:r>
                <a:rPr lang="pl-PL" sz="1400" dirty="0">
                  <a:solidFill>
                    <a:schemeClr val="bg1"/>
                  </a:solidFill>
                  <a:latin typeface="Sorts Mill Goudy"/>
                </a:rPr>
                <a:t> GO</a:t>
              </a:r>
              <a:endParaRPr lang="pl-PL" sz="1400" b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Sorts Mill Goudy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8" name="Shape 35"/>
            <p:cNvSpPr/>
            <p:nvPr/>
          </p:nvSpPr>
          <p:spPr>
            <a:xfrm>
              <a:off x="481119" y="6169597"/>
              <a:ext cx="1435147" cy="36000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6125"/>
                <a:gd name="f4" fmla="val 222250"/>
                <a:gd name="f5" fmla="val 31751"/>
                <a:gd name="f6" fmla="val 714374"/>
                <a:gd name="f7" fmla="val 731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46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46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46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Hollow</a:t>
              </a: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Knight</a:t>
              </a:r>
              <a:endPara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391552"/>
              </p:ext>
            </p:extLst>
          </p:nvPr>
        </p:nvGraphicFramePr>
        <p:xfrm>
          <a:off x="7368299" y="2869174"/>
          <a:ext cx="4503960" cy="1615440"/>
        </p:xfrm>
        <a:graphic>
          <a:graphicData uri="http://schemas.openxmlformats.org/drawingml/2006/table">
            <a:tbl>
              <a:tblPr/>
              <a:tblGrid>
                <a:gridCol w="1450703">
                  <a:extLst>
                    <a:ext uri="{9D8B030D-6E8A-4147-A177-3AD203B41FA5}">
                      <a16:colId xmlns:a16="http://schemas.microsoft.com/office/drawing/2014/main" val="4274486104"/>
                    </a:ext>
                  </a:extLst>
                </a:gridCol>
                <a:gridCol w="809736">
                  <a:extLst>
                    <a:ext uri="{9D8B030D-6E8A-4147-A177-3AD203B41FA5}">
                      <a16:colId xmlns:a16="http://schemas.microsoft.com/office/drawing/2014/main" val="1398279667"/>
                    </a:ext>
                  </a:extLst>
                </a:gridCol>
                <a:gridCol w="1114594">
                  <a:extLst>
                    <a:ext uri="{9D8B030D-6E8A-4147-A177-3AD203B41FA5}">
                      <a16:colId xmlns:a16="http://schemas.microsoft.com/office/drawing/2014/main" val="1749936560"/>
                    </a:ext>
                  </a:extLst>
                </a:gridCol>
                <a:gridCol w="1128927">
                  <a:extLst>
                    <a:ext uri="{9D8B030D-6E8A-4147-A177-3AD203B41FA5}">
                      <a16:colId xmlns:a16="http://schemas.microsoft.com/office/drawing/2014/main" val="4199226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Platforma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Unity </a:t>
                      </a:r>
                      <a:r>
                        <a:rPr lang="pl-PL" sz="1200" b="1" i="1" dirty="0"/>
                        <a:t>(URP)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Natywne </a:t>
                      </a:r>
                      <a:r>
                        <a:rPr lang="pl-PL" sz="1200" b="1" i="1" dirty="0"/>
                        <a:t>(Swift/Kotlin)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Różnica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120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Czas startu </a:t>
                      </a:r>
                      <a:r>
                        <a:rPr lang="pl-PL" sz="1400" i="1" dirty="0"/>
                        <a:t>(iOS)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dirty="0"/>
                        <a:t>1,4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dirty="0"/>
                        <a:t>0,9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dirty="0"/>
                        <a:t>+55%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695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Zużycie </a:t>
                      </a:r>
                      <a:r>
                        <a:rPr lang="pl-PL" sz="1400" b="1" dirty="0" smtClean="0"/>
                        <a:t>RAM</a:t>
                      </a:r>
                      <a:endParaRPr lang="pl-PL" sz="14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/>
                        <a:t>120 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dirty="0"/>
                        <a:t>78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dirty="0"/>
                        <a:t>+54%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865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b="1" dirty="0"/>
                        <a:t>FPS</a:t>
                      </a:r>
                      <a:r>
                        <a:rPr lang="pl-PL" sz="1400" dirty="0"/>
                        <a:t> </a:t>
                      </a:r>
                      <a:r>
                        <a:rPr lang="pl-PL" sz="1400" i="1" dirty="0"/>
                        <a:t>(60 klatek)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/>
                        <a:t>59,2 FPS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/>
                        <a:t>60 FPS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pl-PL" sz="1400" dirty="0"/>
                        <a:t>praktycznie identyczny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06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0102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45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9.2. Gadot</a:t>
            </a:r>
            <a:endParaRPr lang="pl-PL" sz="900" b="0" i="0" u="none" strike="noStrike" kern="0" cap="none" spc="45" baseline="0" dirty="0">
              <a:ln>
                <a:noFill/>
              </a:ln>
              <a:solidFill>
                <a:srgbClr val="8B0000"/>
              </a:solidFill>
              <a:latin typeface="Quattrocento Sans" pitchFamily="34"/>
              <a:ea typeface="Quattrocento Sans" pitchFamily="34"/>
              <a:cs typeface="Quattrocento Sans" pitchFamily="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19" y="539640"/>
            <a:ext cx="7486053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da-DK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Godot</a:t>
            </a: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</a:t>
            </a:r>
            <a:r>
              <a:rPr lang="da-DK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da-DK" sz="28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 gier 2D i 3D open-source</a:t>
            </a:r>
            <a:endParaRPr lang="pl-PL" sz="28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10000"/>
              </a:lnSpc>
              <a:defRPr lang="pl-PL"/>
            </a:pPr>
            <a:r>
              <a:rPr lang="pl-PL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Godot?</a:t>
            </a:r>
            <a:endParaRPr lang="pl-PL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17520" y="1656068"/>
            <a:ext cx="6613216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50000"/>
              </a:lnSpc>
              <a:defRPr lang="pl-PL"/>
            </a:pP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Godot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w pełni open-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source'owy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silnik gier obsługujący 2D i 3D, rozwijany przez Fundację Godot. Umożliwia tworzenie gier na platformy: Windows,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macOS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Linux, Android, iOS, Web (HTML5), a także konsole (przez partnerów).</a:t>
            </a:r>
            <a:endParaRPr lang="pl-PL" sz="14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7365959" y="1015919"/>
            <a:ext cx="4508640" cy="2032199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381250"/>
              <a:gd name="f5" fmla="*/ f0 1 4508500"/>
              <a:gd name="f6" fmla="*/ f1 1 23812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3812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3812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7524719" y="1151280"/>
            <a:ext cx="4270320" cy="189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 smtClean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524719" y="1449360"/>
            <a:ext cx="4254480" cy="143874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200000"/>
              </a:lnSpc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GitHub </a:t>
            </a:r>
            <a:r>
              <a:rPr lang="pl-PL" sz="1400" dirty="0" err="1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stars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			</a:t>
            </a:r>
            <a:r>
              <a:rPr lang="pl-PL" sz="1600" b="1" dirty="0" smtClean="0">
                <a:solidFill>
                  <a:schemeClr val="accent4">
                    <a:lumMod val="20000"/>
                    <a:lumOff val="80000"/>
                  </a:schemeClr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6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75k</a:t>
            </a:r>
            <a:endParaRPr lang="pl-PL" sz="16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lnSpc>
                <a:spcPct val="200000"/>
              </a:lnSpc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Aktywni użytkownicy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miesięcznie		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~500k</a:t>
            </a:r>
            <a:endParaRPr lang="pl-PL" sz="16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lnSpc>
                <a:spcPct val="200000"/>
              </a:lnSpc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rynku silników gier </a:t>
            </a:r>
            <a:r>
              <a:rPr lang="pl-PL" sz="1400" dirty="0" err="1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indie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		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</a:t>
            </a:r>
            <a:r>
              <a:rPr lang="pl-PL" sz="16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18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%</a:t>
            </a:r>
            <a:endParaRPr lang="pl-PL" sz="16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7372440" y="3240000"/>
            <a:ext cx="4497480" cy="1528202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2139950"/>
              <a:gd name="f5" fmla="*/ f0 1 4497387"/>
              <a:gd name="f6" fmla="*/ f1 1 21399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21399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21399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7505640" y="3295162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6" name="Text 52"/>
          <p:cNvSpPr/>
          <p:nvPr/>
        </p:nvSpPr>
        <p:spPr>
          <a:xfrm>
            <a:off x="7505640" y="3600902"/>
            <a:ext cx="4364280" cy="2042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Extends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Node2D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func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_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ready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():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print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("Witaj w Godot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!")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6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var</a:t>
            </a:r>
            <a:r>
              <a:rPr lang="pl-PL" sz="1200" spc="-6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6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scena = </a:t>
            </a:r>
            <a:r>
              <a:rPr lang="pl-PL" sz="1200" spc="-9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preload</a:t>
            </a:r>
            <a:r>
              <a:rPr lang="pl-PL" sz="1200" spc="-9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("res</a:t>
            </a:r>
            <a:r>
              <a:rPr lang="pl-PL" sz="1200" spc="-9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://</a:t>
            </a:r>
            <a:r>
              <a:rPr lang="pl-PL" sz="1200" spc="-9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scs</a:t>
            </a:r>
            <a:r>
              <a:rPr lang="pl-PL" sz="1200" spc="-9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/</a:t>
            </a:r>
            <a:r>
              <a:rPr lang="pl-PL" sz="1200" spc="-9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lvl.tscn</a:t>
            </a:r>
            <a:r>
              <a:rPr lang="pl-PL" sz="1200" spc="-9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").</a:t>
            </a:r>
            <a:r>
              <a:rPr lang="pl-PL" sz="1200" spc="-9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instantiate</a:t>
            </a:r>
            <a:r>
              <a:rPr lang="pl-PL" sz="1200" spc="-9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()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7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add_child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nowa_scena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endParaRPr lang="pl-PL" sz="1200" spc="-40" dirty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func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_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process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(delta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):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position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+= Vector2(100, 0) * delta</a:t>
            </a:r>
            <a:endParaRPr lang="pl-PL" sz="1200" b="0" i="0" u="none" strike="noStrike" kern="1200" cap="none" spc="-4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</p:txBody>
      </p:sp>
      <p:grpSp>
        <p:nvGrpSpPr>
          <p:cNvPr id="57" name="Grupa 56"/>
          <p:cNvGrpSpPr/>
          <p:nvPr/>
        </p:nvGrpSpPr>
        <p:grpSpPr>
          <a:xfrm>
            <a:off x="9006958" y="5129104"/>
            <a:ext cx="2820744" cy="1326398"/>
            <a:chOff x="7259977" y="5658584"/>
            <a:chExt cx="4685902" cy="1326398"/>
          </a:xfrm>
        </p:grpSpPr>
        <p:sp>
          <p:nvSpPr>
            <p:cNvPr id="58" name="Shape 53"/>
            <p:cNvSpPr/>
            <p:nvPr/>
          </p:nvSpPr>
          <p:spPr>
            <a:xfrm flipH="1">
              <a:off x="7259977" y="5658584"/>
              <a:ext cx="59804" cy="132639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1333500"/>
                <a:gd name="f5" fmla="*/ f0 1 31750"/>
                <a:gd name="f6" fmla="*/ f1 1 1333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1333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1333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0070C0"/>
            </a:solidFill>
            <a:ln cap="flat">
              <a:solidFill>
                <a:srgbClr val="00B0F0"/>
              </a:solidFill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32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7576505" y="5666890"/>
              <a:ext cx="4177242" cy="17507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 smtClean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Wady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0" name="Text 55"/>
            <p:cNvSpPr/>
            <p:nvPr/>
          </p:nvSpPr>
          <p:spPr>
            <a:xfrm>
              <a:off x="7524720" y="6005471"/>
              <a:ext cx="4421159" cy="6290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Mniej zaawansowany rendering 3D niż </a:t>
              </a:r>
              <a:r>
                <a:rPr lang="pl-PL" altLang="zh-CN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Unity/</a:t>
              </a:r>
              <a:r>
                <a:rPr lang="pl-PL" altLang="zh-CN" sz="1400" dirty="0" err="1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Unreal</a:t>
              </a:r>
              <a:endParaRPr lang="pl-PL" altLang="zh-CN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Mniejszy ekosystem </a:t>
              </a:r>
              <a:r>
                <a:rPr lang="pl-PL" altLang="zh-CN" sz="1400" dirty="0" err="1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assetów</a:t>
              </a:r>
              <a:endParaRPr lang="zh-CN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sp>
        <p:nvSpPr>
          <p:cNvPr id="64" name="Prostokąt 63"/>
          <p:cNvSpPr/>
          <p:nvPr/>
        </p:nvSpPr>
        <p:spPr>
          <a:xfrm>
            <a:off x="244783" y="2863452"/>
            <a:ext cx="1671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b="1" dirty="0"/>
              <a:t>Kluczowe cechy</a:t>
            </a:r>
            <a:endParaRPr lang="pl-PL" dirty="0"/>
          </a:p>
        </p:txBody>
      </p:sp>
      <p:sp>
        <p:nvSpPr>
          <p:cNvPr id="66" name="Rectangle 2"/>
          <p:cNvSpPr>
            <a:spLocks noChangeArrowheads="1"/>
          </p:cNvSpPr>
          <p:nvPr/>
        </p:nvSpPr>
        <p:spPr bwMode="auto">
          <a:xfrm>
            <a:off x="697937" y="3205193"/>
            <a:ext cx="58523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Własny język skryptowy </a:t>
            </a:r>
            <a:r>
              <a:rPr kumimoji="0" lang="pl-PL" altLang="pl-PL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GDScript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(podobny do </a:t>
            </a:r>
            <a:r>
              <a:rPr kumimoji="0" lang="pl-PL" altLang="pl-PL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Pythona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Możliwość używania </a:t>
            </a:r>
            <a:r>
              <a:rPr kumimoji="0" lang="pl-PL" altLang="pl-PL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C#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l-PL" altLang="pl-PL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lub </a:t>
            </a:r>
            <a:r>
              <a:rPr kumimoji="0" lang="pl-PL" altLang="pl-PL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VisualScript</a:t>
            </a:r>
            <a:endParaRPr kumimoji="0" lang="pl-PL" altLang="pl-PL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Architektura scen i węzłów (</a:t>
            </a:r>
            <a:r>
              <a:rPr kumimoji="0" lang="pl-PL" altLang="pl-PL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SceneTree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Wbudowane narzędzia: edytor animacji, </a:t>
            </a:r>
            <a:r>
              <a:rPr kumimoji="0" lang="pl-PL" altLang="pl-PL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tilemap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l-PL" altLang="pl-PL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shadery</a:t>
            </a:r>
            <a:r>
              <a:rPr kumimoji="0" lang="pl-PL" altLang="pl-PL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l-PL" altLang="pl-PL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debugger</a:t>
            </a:r>
            <a:endParaRPr kumimoji="0" lang="pl-PL" altLang="pl-PL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Shape 33"/>
          <p:cNvSpPr/>
          <p:nvPr/>
        </p:nvSpPr>
        <p:spPr>
          <a:xfrm>
            <a:off x="339652" y="5053161"/>
            <a:ext cx="45719" cy="1254673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698500"/>
              <a:gd name="f5" fmla="*/ f0 1 31750"/>
              <a:gd name="f6" fmla="*/ f1 1 698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698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698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8" name="Text 34"/>
          <p:cNvSpPr/>
          <p:nvPr/>
        </p:nvSpPr>
        <p:spPr>
          <a:xfrm>
            <a:off x="503252" y="5047294"/>
            <a:ext cx="3493047" cy="2768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30000"/>
              </a:lnSpc>
              <a:defRPr lang="pl-PL"/>
            </a:pPr>
            <a:r>
              <a:rPr lang="pl-PL" sz="16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Największe tytuły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69" name="Shape 35"/>
          <p:cNvSpPr/>
          <p:nvPr/>
        </p:nvSpPr>
        <p:spPr>
          <a:xfrm>
            <a:off x="503252" y="5424115"/>
            <a:ext cx="1386719" cy="394920"/>
          </a:xfrm>
          <a:custGeom>
            <a:avLst/>
            <a:gdLst>
              <a:gd name="f0" fmla="val w"/>
              <a:gd name="f1" fmla="val h"/>
              <a:gd name="f2" fmla="val 0"/>
              <a:gd name="f3" fmla="val 746125"/>
              <a:gd name="f4" fmla="val 222250"/>
              <a:gd name="f5" fmla="val 31751"/>
              <a:gd name="f6" fmla="val 714374"/>
              <a:gd name="f7" fmla="val 731910"/>
              <a:gd name="f8" fmla="val 14215"/>
              <a:gd name="f9" fmla="val 190499"/>
              <a:gd name="f10" fmla="val 208035"/>
              <a:gd name="f11" fmla="val 14227"/>
              <a:gd name="f12" fmla="val 208023"/>
              <a:gd name="f13" fmla="*/ f0 1 746125"/>
              <a:gd name="f14" fmla="*/ f1 1 222250"/>
              <a:gd name="f15" fmla="val f2"/>
              <a:gd name="f16" fmla="val f3"/>
              <a:gd name="f17" fmla="val f4"/>
              <a:gd name="f18" fmla="+- f17 0 f15"/>
              <a:gd name="f19" fmla="+- f16 0 f15"/>
              <a:gd name="f20" fmla="*/ f19 1 746125"/>
              <a:gd name="f21" fmla="*/ f18 1 222250"/>
              <a:gd name="f22" fmla="*/ f15 1 f20"/>
              <a:gd name="f23" fmla="*/ f16 1 f20"/>
              <a:gd name="f24" fmla="*/ f15 1 f21"/>
              <a:gd name="f25" fmla="*/ f17 1 f21"/>
              <a:gd name="f26" fmla="*/ f22 f13 1"/>
              <a:gd name="f27" fmla="*/ f23 f13 1"/>
              <a:gd name="f28" fmla="*/ f25 f14 1"/>
              <a:gd name="f29" fmla="*/ f24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746125" h="222250">
                <a:moveTo>
                  <a:pt x="f5" y="f2"/>
                </a:moveTo>
                <a:lnTo>
                  <a:pt x="f6" y="f2"/>
                </a:lnTo>
                <a:cubicBezTo>
                  <a:pt x="f7" y="f2"/>
                  <a:pt x="f3" y="f8"/>
                  <a:pt x="f3" y="f5"/>
                </a:cubicBezTo>
                <a:lnTo>
                  <a:pt x="f3" y="f9"/>
                </a:lnTo>
                <a:cubicBezTo>
                  <a:pt x="f3" y="f10"/>
                  <a:pt x="f7" y="f4"/>
                  <a:pt x="f6" y="f4"/>
                </a:cubicBezTo>
                <a:lnTo>
                  <a:pt x="f5" y="f4"/>
                </a:lnTo>
                <a:cubicBezTo>
                  <a:pt x="f11" y="f4"/>
                  <a:pt x="f2" y="f12"/>
                  <a:pt x="f2" y="f9"/>
                </a:cubicBezTo>
                <a:lnTo>
                  <a:pt x="f2" y="f5"/>
                </a:lnTo>
                <a:cubicBezTo>
                  <a:pt x="f2" y="f11"/>
                  <a:pt x="f11" y="f2"/>
                  <a:pt x="f5" y="f2"/>
                </a:cubicBez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0" name="Text 36"/>
          <p:cNvSpPr/>
          <p:nvPr/>
        </p:nvSpPr>
        <p:spPr>
          <a:xfrm>
            <a:off x="503252" y="5424115"/>
            <a:ext cx="1490040" cy="39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5400" tIns="31680" rIns="95400" bIns="3168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13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Cassette </a:t>
            </a:r>
            <a:r>
              <a:rPr lang="pl-PL" sz="1300" dirty="0" err="1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Beasts</a:t>
            </a:r>
            <a:endParaRPr lang="pl-PL" sz="1300" b="0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71" name="Shape 37"/>
          <p:cNvSpPr/>
          <p:nvPr/>
        </p:nvSpPr>
        <p:spPr>
          <a:xfrm>
            <a:off x="503252" y="5898234"/>
            <a:ext cx="2784796" cy="394920"/>
          </a:xfrm>
          <a:custGeom>
            <a:avLst/>
            <a:gdLst>
              <a:gd name="f0" fmla="val w"/>
              <a:gd name="f1" fmla="val h"/>
              <a:gd name="f2" fmla="val 0"/>
              <a:gd name="f3" fmla="val 1127125"/>
              <a:gd name="f4" fmla="val 222250"/>
              <a:gd name="f5" fmla="val 31751"/>
              <a:gd name="f6" fmla="val 1095374"/>
              <a:gd name="f7" fmla="val 1112910"/>
              <a:gd name="f8" fmla="val 14215"/>
              <a:gd name="f9" fmla="val 190499"/>
              <a:gd name="f10" fmla="val 208035"/>
              <a:gd name="f11" fmla="val 14227"/>
              <a:gd name="f12" fmla="val 208023"/>
              <a:gd name="f13" fmla="*/ f0 1 1127125"/>
              <a:gd name="f14" fmla="*/ f1 1 222250"/>
              <a:gd name="f15" fmla="val f2"/>
              <a:gd name="f16" fmla="val f3"/>
              <a:gd name="f17" fmla="val f4"/>
              <a:gd name="f18" fmla="+- f17 0 f15"/>
              <a:gd name="f19" fmla="+- f16 0 f15"/>
              <a:gd name="f20" fmla="*/ f19 1 1127125"/>
              <a:gd name="f21" fmla="*/ f18 1 222250"/>
              <a:gd name="f22" fmla="*/ f15 1 f20"/>
              <a:gd name="f23" fmla="*/ f16 1 f20"/>
              <a:gd name="f24" fmla="*/ f15 1 f21"/>
              <a:gd name="f25" fmla="*/ f17 1 f21"/>
              <a:gd name="f26" fmla="*/ f22 f13 1"/>
              <a:gd name="f27" fmla="*/ f23 f13 1"/>
              <a:gd name="f28" fmla="*/ f25 f14 1"/>
              <a:gd name="f29" fmla="*/ f24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1127125" h="222250">
                <a:moveTo>
                  <a:pt x="f5" y="f2"/>
                </a:moveTo>
                <a:lnTo>
                  <a:pt x="f6" y="f2"/>
                </a:lnTo>
                <a:cubicBezTo>
                  <a:pt x="f7" y="f2"/>
                  <a:pt x="f3" y="f8"/>
                  <a:pt x="f3" y="f5"/>
                </a:cubicBezTo>
                <a:lnTo>
                  <a:pt x="f3" y="f9"/>
                </a:lnTo>
                <a:cubicBezTo>
                  <a:pt x="f3" y="f10"/>
                  <a:pt x="f7" y="f4"/>
                  <a:pt x="f6" y="f4"/>
                </a:cubicBezTo>
                <a:lnTo>
                  <a:pt x="f5" y="f4"/>
                </a:lnTo>
                <a:cubicBezTo>
                  <a:pt x="f11" y="f4"/>
                  <a:pt x="f2" y="f12"/>
                  <a:pt x="f2" y="f9"/>
                </a:cubicBezTo>
                <a:lnTo>
                  <a:pt x="f2" y="f5"/>
                </a:lnTo>
                <a:cubicBezTo>
                  <a:pt x="f2" y="f11"/>
                  <a:pt x="f11" y="f2"/>
                  <a:pt x="f5" y="f2"/>
                </a:cubicBez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2" name="Text 38"/>
          <p:cNvSpPr/>
          <p:nvPr/>
        </p:nvSpPr>
        <p:spPr>
          <a:xfrm>
            <a:off x="507624" y="5898234"/>
            <a:ext cx="2842770" cy="39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5400" tIns="31680" rIns="95400" bIns="3168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13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Sonic </a:t>
            </a:r>
            <a:r>
              <a:rPr lang="pl-PL" sz="1300" dirty="0" err="1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Colors</a:t>
            </a:r>
            <a:r>
              <a:rPr lang="pl-PL" sz="13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Ultimate </a:t>
            </a:r>
            <a:r>
              <a:rPr lang="pl-PL" sz="1200" i="1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(współpraca)</a:t>
            </a:r>
            <a:endParaRPr lang="pl-PL" sz="1200" i="1" dirty="0"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1967041" y="5424115"/>
            <a:ext cx="1321007" cy="394920"/>
          </a:xfrm>
          <a:custGeom>
            <a:avLst/>
            <a:gdLst>
              <a:gd name="f0" fmla="val w"/>
              <a:gd name="f1" fmla="val h"/>
              <a:gd name="f2" fmla="val 0"/>
              <a:gd name="f3" fmla="val 984250"/>
              <a:gd name="f4" fmla="val 222250"/>
              <a:gd name="f5" fmla="val 31751"/>
              <a:gd name="f6" fmla="val 952499"/>
              <a:gd name="f7" fmla="val 970035"/>
              <a:gd name="f8" fmla="val 14215"/>
              <a:gd name="f9" fmla="val 190499"/>
              <a:gd name="f10" fmla="val 208035"/>
              <a:gd name="f11" fmla="val 14227"/>
              <a:gd name="f12" fmla="val 208023"/>
              <a:gd name="f13" fmla="*/ f0 1 984250"/>
              <a:gd name="f14" fmla="*/ f1 1 222250"/>
              <a:gd name="f15" fmla="val f2"/>
              <a:gd name="f16" fmla="val f3"/>
              <a:gd name="f17" fmla="val f4"/>
              <a:gd name="f18" fmla="+- f17 0 f15"/>
              <a:gd name="f19" fmla="+- f16 0 f15"/>
              <a:gd name="f20" fmla="*/ f19 1 984250"/>
              <a:gd name="f21" fmla="*/ f18 1 222250"/>
              <a:gd name="f22" fmla="*/ f15 1 f20"/>
              <a:gd name="f23" fmla="*/ f16 1 f20"/>
              <a:gd name="f24" fmla="*/ f15 1 f21"/>
              <a:gd name="f25" fmla="*/ f17 1 f21"/>
              <a:gd name="f26" fmla="*/ f22 f13 1"/>
              <a:gd name="f27" fmla="*/ f23 f13 1"/>
              <a:gd name="f28" fmla="*/ f25 f14 1"/>
              <a:gd name="f29" fmla="*/ f24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984250" h="222250">
                <a:moveTo>
                  <a:pt x="f5" y="f2"/>
                </a:moveTo>
                <a:lnTo>
                  <a:pt x="f6" y="f2"/>
                </a:lnTo>
                <a:cubicBezTo>
                  <a:pt x="f7" y="f2"/>
                  <a:pt x="f3" y="f8"/>
                  <a:pt x="f3" y="f5"/>
                </a:cubicBezTo>
                <a:lnTo>
                  <a:pt x="f3" y="f9"/>
                </a:lnTo>
                <a:cubicBezTo>
                  <a:pt x="f3" y="f10"/>
                  <a:pt x="f7" y="f4"/>
                  <a:pt x="f6" y="f4"/>
                </a:cubicBezTo>
                <a:lnTo>
                  <a:pt x="f5" y="f4"/>
                </a:lnTo>
                <a:cubicBezTo>
                  <a:pt x="f11" y="f4"/>
                  <a:pt x="f2" y="f12"/>
                  <a:pt x="f2" y="f9"/>
                </a:cubicBezTo>
                <a:lnTo>
                  <a:pt x="f2" y="f5"/>
                </a:lnTo>
                <a:cubicBezTo>
                  <a:pt x="f2" y="f11"/>
                  <a:pt x="f11" y="f2"/>
                  <a:pt x="f5" y="f2"/>
                </a:cubicBez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967042" y="5424115"/>
            <a:ext cx="1321006" cy="39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5400" tIns="31680" rIns="95400" bIns="3168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1300" dirty="0" err="1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Cruelty</a:t>
            </a:r>
            <a:r>
              <a:rPr lang="pl-PL" sz="13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Squad</a:t>
            </a:r>
            <a:endParaRPr lang="pl-PL" sz="1300" b="0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grpSp>
        <p:nvGrpSpPr>
          <p:cNvPr id="75" name="Grupa 74"/>
          <p:cNvGrpSpPr/>
          <p:nvPr/>
        </p:nvGrpSpPr>
        <p:grpSpPr>
          <a:xfrm>
            <a:off x="5608923" y="5078485"/>
            <a:ext cx="3220871" cy="1377017"/>
            <a:chOff x="6163764" y="3840822"/>
            <a:chExt cx="5768076" cy="1377017"/>
          </a:xfrm>
        </p:grpSpPr>
        <p:sp>
          <p:nvSpPr>
            <p:cNvPr id="76" name="Shape 30"/>
            <p:cNvSpPr/>
            <p:nvPr/>
          </p:nvSpPr>
          <p:spPr>
            <a:xfrm>
              <a:off x="6163764" y="3840822"/>
              <a:ext cx="64470" cy="13770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404840"/>
                <a:gd name="f5" fmla="*/ f0 1 33449"/>
                <a:gd name="f6" fmla="*/ f1 1 140484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40484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40484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7" name="Text 31"/>
            <p:cNvSpPr/>
            <p:nvPr/>
          </p:nvSpPr>
          <p:spPr>
            <a:xfrm>
              <a:off x="6437077" y="3840823"/>
              <a:ext cx="5220076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78" name="Text 32"/>
            <p:cNvSpPr/>
            <p:nvPr/>
          </p:nvSpPr>
          <p:spPr>
            <a:xfrm>
              <a:off x="6362640" y="4214520"/>
              <a:ext cx="5569200" cy="925628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Całkowicie darmowy i bez opłat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licencyjnych</a:t>
              </a: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Lekki </a:t>
              </a: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(instalacja &lt; 100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MB)</a:t>
              </a: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Świetna </a:t>
              </a: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dokumentacja i społeczność</a:t>
              </a:r>
              <a:endParaRPr lang="pl-PL" sz="1400" b="0" i="1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4256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880" b="0" i="0" u="none" strike="noStrike" kern="0" cap="none" spc="45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9.1. </a:t>
            </a:r>
            <a:r>
              <a:rPr lang="pl-PL" sz="880" b="0" i="0" u="none" strike="noStrike" kern="0" cap="none" spc="45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SOLAR2D</a:t>
            </a:r>
          </a:p>
        </p:txBody>
      </p:sp>
      <p:sp>
        <p:nvSpPr>
          <p:cNvPr id="3" name="Text 1"/>
          <p:cNvSpPr/>
          <p:nvPr/>
        </p:nvSpPr>
        <p:spPr>
          <a:xfrm>
            <a:off x="317520" y="539640"/>
            <a:ext cx="6613216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Solar2D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 gier </a:t>
            </a:r>
            <a:r>
              <a:rPr lang="pl-PL" sz="280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Lua</a:t>
            </a:r>
            <a:endParaRPr lang="pl-PL" sz="28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Solar2D?</a:t>
            </a:r>
          </a:p>
        </p:txBody>
      </p:sp>
      <p:sp>
        <p:nvSpPr>
          <p:cNvPr id="5" name="Text 3"/>
          <p:cNvSpPr/>
          <p:nvPr/>
        </p:nvSpPr>
        <p:spPr>
          <a:xfrm>
            <a:off x="317520" y="1656068"/>
            <a:ext cx="6613216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Solar2D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(dawniej Corona SDK) to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do tworzenia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gier 2D i aplikacji w </a:t>
            </a:r>
            <a:r>
              <a:rPr lang="pl-PL" sz="1400" b="0" i="0" u="none" strike="noStrike" kern="1200" cap="none" spc="0" baseline="0" dirty="0" err="1" smtClean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Lua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Darmowy, open-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source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z ponad 1000 API.</a:t>
            </a:r>
          </a:p>
        </p:txBody>
      </p:sp>
      <p:sp>
        <p:nvSpPr>
          <p:cNvPr id="6" name="Text 4"/>
          <p:cNvSpPr/>
          <p:nvPr/>
        </p:nvSpPr>
        <p:spPr>
          <a:xfrm>
            <a:off x="317520" y="2399399"/>
            <a:ext cx="6613216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Solar2D oferuje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real-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time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testing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- kod aktualizuje się natychmiast na urządzeniu przez sieć lokalną, bez konieczności rekompilacji.</a:t>
            </a:r>
          </a:p>
        </p:txBody>
      </p:sp>
      <p:grpSp>
        <p:nvGrpSpPr>
          <p:cNvPr id="7" name="Grupa 6"/>
          <p:cNvGrpSpPr/>
          <p:nvPr/>
        </p:nvGrpSpPr>
        <p:grpSpPr>
          <a:xfrm>
            <a:off x="317520" y="3889080"/>
            <a:ext cx="6937200" cy="2462874"/>
            <a:chOff x="317520" y="3889080"/>
            <a:chExt cx="6937200" cy="2462874"/>
          </a:xfrm>
        </p:grpSpPr>
        <p:sp>
          <p:nvSpPr>
            <p:cNvPr id="8" name="Text 5"/>
            <p:cNvSpPr/>
            <p:nvPr/>
          </p:nvSpPr>
          <p:spPr>
            <a:xfrm>
              <a:off x="317520" y="3889080"/>
              <a:ext cx="6937200" cy="2764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20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Wspierane platformy</a:t>
              </a:r>
            </a:p>
          </p:txBody>
        </p:sp>
        <p:sp>
          <p:nvSpPr>
            <p:cNvPr id="9" name="Shape 6"/>
            <p:cNvSpPr/>
            <p:nvPr/>
          </p:nvSpPr>
          <p:spPr>
            <a:xfrm>
              <a:off x="333360" y="4284360"/>
              <a:ext cx="223056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333360" y="4284360"/>
              <a:ext cx="3168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412920" y="432396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iOS</a:t>
              </a:r>
            </a:p>
          </p:txBody>
        </p:sp>
        <p:sp>
          <p:nvSpPr>
            <p:cNvPr id="12" name="Shape 9"/>
            <p:cNvSpPr/>
            <p:nvPr/>
          </p:nvSpPr>
          <p:spPr>
            <a:xfrm>
              <a:off x="2640600" y="4284360"/>
              <a:ext cx="223056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3" name="Shape 10"/>
            <p:cNvSpPr/>
            <p:nvPr/>
          </p:nvSpPr>
          <p:spPr>
            <a:xfrm>
              <a:off x="2640600" y="4284360"/>
              <a:ext cx="3168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2719800" y="432396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Android</a:t>
              </a:r>
            </a:p>
          </p:txBody>
        </p:sp>
        <p:sp>
          <p:nvSpPr>
            <p:cNvPr id="15" name="Shape 12"/>
            <p:cNvSpPr/>
            <p:nvPr/>
          </p:nvSpPr>
          <p:spPr>
            <a:xfrm>
              <a:off x="4947839" y="4284360"/>
              <a:ext cx="223056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6" name="Shape 13"/>
            <p:cNvSpPr/>
            <p:nvPr/>
          </p:nvSpPr>
          <p:spPr>
            <a:xfrm>
              <a:off x="4947839" y="4284360"/>
              <a:ext cx="3168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027040" y="432396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Kindle</a:t>
              </a:r>
            </a:p>
          </p:txBody>
        </p:sp>
        <p:sp>
          <p:nvSpPr>
            <p:cNvPr id="18" name="Shape 15"/>
            <p:cNvSpPr/>
            <p:nvPr/>
          </p:nvSpPr>
          <p:spPr>
            <a:xfrm>
              <a:off x="333360" y="4640040"/>
              <a:ext cx="223056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19" name="Shape 16"/>
            <p:cNvSpPr/>
            <p:nvPr/>
          </p:nvSpPr>
          <p:spPr>
            <a:xfrm>
              <a:off x="333360" y="4640040"/>
              <a:ext cx="3168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412920" y="467964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Windows</a:t>
              </a:r>
            </a:p>
          </p:txBody>
        </p:sp>
        <p:sp>
          <p:nvSpPr>
            <p:cNvPr id="21" name="Shape 18"/>
            <p:cNvSpPr/>
            <p:nvPr/>
          </p:nvSpPr>
          <p:spPr>
            <a:xfrm>
              <a:off x="2640600" y="4640040"/>
              <a:ext cx="223056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2" name="Shape 19"/>
            <p:cNvSpPr/>
            <p:nvPr/>
          </p:nvSpPr>
          <p:spPr>
            <a:xfrm>
              <a:off x="2640600" y="4640040"/>
              <a:ext cx="3168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2719800" y="467964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macOS</a:t>
              </a:r>
            </a:p>
          </p:txBody>
        </p:sp>
        <p:sp>
          <p:nvSpPr>
            <p:cNvPr id="24" name="Shape 21"/>
            <p:cNvSpPr/>
            <p:nvPr/>
          </p:nvSpPr>
          <p:spPr>
            <a:xfrm>
              <a:off x="4947839" y="4640040"/>
              <a:ext cx="223056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5" name="Shape 22"/>
            <p:cNvSpPr/>
            <p:nvPr/>
          </p:nvSpPr>
          <p:spPr>
            <a:xfrm>
              <a:off x="4947839" y="4640040"/>
              <a:ext cx="31680" cy="2764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6" name="Text 23"/>
            <p:cNvSpPr/>
            <p:nvPr/>
          </p:nvSpPr>
          <p:spPr>
            <a:xfrm>
              <a:off x="5027040" y="467964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Linux</a:t>
              </a:r>
            </a:p>
          </p:txBody>
        </p:sp>
        <p:sp>
          <p:nvSpPr>
            <p:cNvPr id="27" name="Shape 24"/>
            <p:cNvSpPr/>
            <p:nvPr/>
          </p:nvSpPr>
          <p:spPr>
            <a:xfrm>
              <a:off x="333360" y="4995360"/>
              <a:ext cx="2230560" cy="2768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8" name="Shape 25"/>
            <p:cNvSpPr/>
            <p:nvPr/>
          </p:nvSpPr>
          <p:spPr>
            <a:xfrm>
              <a:off x="333360" y="4995360"/>
              <a:ext cx="31680" cy="2768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9" name="Text 26"/>
            <p:cNvSpPr/>
            <p:nvPr/>
          </p:nvSpPr>
          <p:spPr>
            <a:xfrm>
              <a:off x="412920" y="503532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Apple TV</a:t>
              </a:r>
            </a:p>
          </p:txBody>
        </p:sp>
        <p:sp>
          <p:nvSpPr>
            <p:cNvPr id="30" name="Shape 27"/>
            <p:cNvSpPr/>
            <p:nvPr/>
          </p:nvSpPr>
          <p:spPr>
            <a:xfrm>
              <a:off x="2640600" y="4995360"/>
              <a:ext cx="2230560" cy="2768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1" name="Shape 28"/>
            <p:cNvSpPr/>
            <p:nvPr/>
          </p:nvSpPr>
          <p:spPr>
            <a:xfrm>
              <a:off x="2640600" y="4995360"/>
              <a:ext cx="31680" cy="2768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2" name="Text 29"/>
            <p:cNvSpPr/>
            <p:nvPr/>
          </p:nvSpPr>
          <p:spPr>
            <a:xfrm>
              <a:off x="2719800" y="503532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Fire TV</a:t>
              </a:r>
            </a:p>
          </p:txBody>
        </p:sp>
        <p:sp>
          <p:nvSpPr>
            <p:cNvPr id="33" name="Shape 30"/>
            <p:cNvSpPr/>
            <p:nvPr/>
          </p:nvSpPr>
          <p:spPr>
            <a:xfrm>
              <a:off x="4947839" y="4995360"/>
              <a:ext cx="2230560" cy="2768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230438"/>
                <a:gd name="f4" fmla="val 222250"/>
                <a:gd name="f5" fmla="*/ f0 1 2230438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2230438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230438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4" name="Shape 31"/>
            <p:cNvSpPr/>
            <p:nvPr/>
          </p:nvSpPr>
          <p:spPr>
            <a:xfrm>
              <a:off x="4947839" y="4995360"/>
              <a:ext cx="31680" cy="2768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222250"/>
                <a:gd name="f5" fmla="*/ f0 1 31750"/>
                <a:gd name="f6" fmla="*/ f1 1 222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222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222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027040" y="5035320"/>
              <a:ext cx="2206800" cy="1976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Android TV</a:t>
              </a:r>
            </a:p>
          </p:txBody>
        </p:sp>
        <p:sp>
          <p:nvSpPr>
            <p:cNvPr id="36" name="Shape 33"/>
            <p:cNvSpPr/>
            <p:nvPr/>
          </p:nvSpPr>
          <p:spPr>
            <a:xfrm>
              <a:off x="333360" y="5482555"/>
              <a:ext cx="31680" cy="8693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698500"/>
                <a:gd name="f5" fmla="*/ f0 1 31750"/>
                <a:gd name="f6" fmla="*/ f1 1 698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698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698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7" name="Text 34"/>
            <p:cNvSpPr/>
            <p:nvPr/>
          </p:nvSpPr>
          <p:spPr>
            <a:xfrm>
              <a:off x="476280" y="5549040"/>
              <a:ext cx="6770520" cy="2768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Popularne gry</a:t>
              </a:r>
            </a:p>
          </p:txBody>
        </p:sp>
        <p:sp>
          <p:nvSpPr>
            <p:cNvPr id="38" name="Shape 35"/>
            <p:cNvSpPr/>
            <p:nvPr/>
          </p:nvSpPr>
          <p:spPr>
            <a:xfrm>
              <a:off x="476280" y="5905079"/>
              <a:ext cx="1386719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6125"/>
                <a:gd name="f4" fmla="val 222250"/>
                <a:gd name="f5" fmla="val 31751"/>
                <a:gd name="f6" fmla="val 714374"/>
                <a:gd name="f7" fmla="val 731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46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46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46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9" name="Text 36"/>
            <p:cNvSpPr/>
            <p:nvPr/>
          </p:nvSpPr>
          <p:spPr>
            <a:xfrm>
              <a:off x="476280" y="5905079"/>
              <a:ext cx="1490040" cy="394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Flappy Bird</a:t>
              </a:r>
            </a:p>
          </p:txBody>
        </p:sp>
        <p:sp>
          <p:nvSpPr>
            <p:cNvPr id="40" name="Shape 37"/>
            <p:cNvSpPr/>
            <p:nvPr/>
          </p:nvSpPr>
          <p:spPr>
            <a:xfrm>
              <a:off x="1974240" y="5905079"/>
              <a:ext cx="2094479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27125"/>
                <a:gd name="f4" fmla="val 222250"/>
                <a:gd name="f5" fmla="val 31751"/>
                <a:gd name="f6" fmla="val 1095374"/>
                <a:gd name="f7" fmla="val 1112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1127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1127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1127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1974240" y="5905079"/>
              <a:ext cx="2197439" cy="394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Match 3 Space RPG</a:t>
              </a:r>
            </a:p>
          </p:txBody>
        </p:sp>
        <p:sp>
          <p:nvSpPr>
            <p:cNvPr id="42" name="Shape 39"/>
            <p:cNvSpPr/>
            <p:nvPr/>
          </p:nvSpPr>
          <p:spPr>
            <a:xfrm>
              <a:off x="4187879" y="5905079"/>
              <a:ext cx="1829160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84250"/>
                <a:gd name="f4" fmla="val 222250"/>
                <a:gd name="f5" fmla="val 31751"/>
                <a:gd name="f6" fmla="val 952499"/>
                <a:gd name="f7" fmla="val 9700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842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842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842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4187879" y="5905079"/>
              <a:ext cx="1932119" cy="3949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3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Corona </a:t>
              </a:r>
              <a:r>
                <a:rPr lang="pl-PL" sz="13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Cannon</a:t>
              </a:r>
              <a:endParaRPr lang="pl-PL" sz="13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grpSp>
        <p:nvGrpSpPr>
          <p:cNvPr id="44" name="Grupa 43"/>
          <p:cNvGrpSpPr/>
          <p:nvPr/>
        </p:nvGrpSpPr>
        <p:grpSpPr>
          <a:xfrm>
            <a:off x="7365959" y="1015919"/>
            <a:ext cx="4508640" cy="2032199"/>
            <a:chOff x="7365959" y="1015919"/>
            <a:chExt cx="4508640" cy="2032199"/>
          </a:xfrm>
        </p:grpSpPr>
        <p:sp>
          <p:nvSpPr>
            <p:cNvPr id="45" name="Shape 41"/>
            <p:cNvSpPr/>
            <p:nvPr/>
          </p:nvSpPr>
          <p:spPr>
            <a:xfrm>
              <a:off x="7365959" y="1015919"/>
              <a:ext cx="4508640" cy="20321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508500"/>
                <a:gd name="f4" fmla="val 2381250"/>
                <a:gd name="f5" fmla="*/ f0 1 4508500"/>
                <a:gd name="f6" fmla="*/ f1 1 238125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508500"/>
                <a:gd name="f13" fmla="*/ f10 1 238125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508500" h="238125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2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6" name="Text 42"/>
            <p:cNvSpPr/>
            <p:nvPr/>
          </p:nvSpPr>
          <p:spPr>
            <a:xfrm>
              <a:off x="7524719" y="1151280"/>
              <a:ext cx="4270320" cy="1897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Funkcje</a:t>
              </a:r>
            </a:p>
          </p:txBody>
        </p:sp>
        <p:sp>
          <p:nvSpPr>
            <p:cNvPr id="47" name="Text 43"/>
            <p:cNvSpPr/>
            <p:nvPr/>
          </p:nvSpPr>
          <p:spPr>
            <a:xfrm>
              <a:off x="7524719" y="1449360"/>
              <a:ext cx="4254480" cy="1627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Ponad 1000 API</a:t>
              </a:r>
            </a:p>
          </p:txBody>
        </p:sp>
        <p:sp>
          <p:nvSpPr>
            <p:cNvPr id="48" name="Text 44"/>
            <p:cNvSpPr/>
            <p:nvPr/>
          </p:nvSpPr>
          <p:spPr>
            <a:xfrm>
              <a:off x="7524719" y="1666439"/>
              <a:ext cx="4254480" cy="1623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Pluginy (monetyzacja, analytics)</a:t>
              </a:r>
            </a:p>
          </p:txBody>
        </p:sp>
        <p:sp>
          <p:nvSpPr>
            <p:cNvPr id="49" name="Text 45"/>
            <p:cNvSpPr/>
            <p:nvPr/>
          </p:nvSpPr>
          <p:spPr>
            <a:xfrm>
              <a:off x="7524719" y="1882800"/>
              <a:ext cx="4254480" cy="1627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Solar2D Playground (online)</a:t>
              </a:r>
            </a:p>
          </p:txBody>
        </p:sp>
        <p:sp>
          <p:nvSpPr>
            <p:cNvPr id="50" name="Text 46"/>
            <p:cNvSpPr/>
            <p:nvPr/>
          </p:nvSpPr>
          <p:spPr>
            <a:xfrm>
              <a:off x="7524719" y="2099880"/>
              <a:ext cx="4254480" cy="1623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Solar2D Native (natywne rozszerzenia)</a:t>
              </a:r>
            </a:p>
          </p:txBody>
        </p:sp>
        <p:sp>
          <p:nvSpPr>
            <p:cNvPr id="51" name="Text 47"/>
            <p:cNvSpPr/>
            <p:nvPr/>
          </p:nvSpPr>
          <p:spPr>
            <a:xfrm>
              <a:off x="7524719" y="2316600"/>
              <a:ext cx="4254480" cy="1627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CoronaCards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(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embed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w natywnych)</a:t>
              </a:r>
            </a:p>
          </p:txBody>
        </p:sp>
        <p:sp>
          <p:nvSpPr>
            <p:cNvPr id="52" name="Text 48"/>
            <p:cNvSpPr/>
            <p:nvPr/>
          </p:nvSpPr>
          <p:spPr>
            <a:xfrm>
              <a:off x="7524719" y="2533320"/>
              <a:ext cx="4254480" cy="1623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Fizyka, dźwięk, grafika 2D</a:t>
              </a:r>
            </a:p>
          </p:txBody>
        </p:sp>
        <p:sp>
          <p:nvSpPr>
            <p:cNvPr id="53" name="Text 49"/>
            <p:cNvSpPr/>
            <p:nvPr/>
          </p:nvSpPr>
          <p:spPr>
            <a:xfrm>
              <a:off x="7524719" y="2750040"/>
              <a:ext cx="4254480" cy="1627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Sieć i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multiplayer</a:t>
              </a:r>
              <a:endPara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sp>
        <p:nvSpPr>
          <p:cNvPr id="54" name="Shape 50"/>
          <p:cNvSpPr/>
          <p:nvPr/>
        </p:nvSpPr>
        <p:spPr>
          <a:xfrm>
            <a:off x="7372440" y="3240000"/>
            <a:ext cx="4497480" cy="2430360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2139950"/>
              <a:gd name="f5" fmla="*/ f0 1 4497387"/>
              <a:gd name="f6" fmla="*/ f1 1 21399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21399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21399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7505640" y="3295162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6" name="Text 52"/>
          <p:cNvSpPr/>
          <p:nvPr/>
        </p:nvSpPr>
        <p:spPr>
          <a:xfrm>
            <a:off x="7505640" y="3600902"/>
            <a:ext cx="4194360" cy="20422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local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widget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require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widget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")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endParaRPr lang="pl-PL" sz="1200" b="0" i="0" u="none" strike="noStrike" kern="1200" cap="none" spc="0" baseline="0" dirty="0">
              <a:ln>
                <a:noFill/>
              </a:ln>
              <a:solidFill>
                <a:srgbClr val="127622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27622"/>
                </a:solidFill>
                <a:latin typeface="Consolas" pitchFamily="33"/>
                <a:ea typeface="MiSans" pitchFamily="34"/>
                <a:cs typeface="MiSans" pitchFamily="34"/>
              </a:rPr>
              <a:t>-- Obsługa zdarzenia przycisku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local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function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handleButtonEvent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(event)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if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event.phase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== "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ended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then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print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("Button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clicked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")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end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end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27622"/>
                </a:solidFill>
                <a:latin typeface="Consolas" pitchFamily="33"/>
                <a:ea typeface="MiSans" pitchFamily="34"/>
                <a:cs typeface="MiSans" pitchFamily="34"/>
              </a:rPr>
              <a:t>-- Stwórz przycisk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local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button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widget.newButton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({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"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Click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Me",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onEvent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handleButtonEvent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})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27622"/>
                </a:solidFill>
                <a:latin typeface="Consolas" pitchFamily="33"/>
                <a:ea typeface="MiSans" pitchFamily="34"/>
                <a:cs typeface="MiSans" pitchFamily="34"/>
              </a:rPr>
              <a:t>-- Dodaj do sceny</a:t>
            </a:r>
          </a:p>
          <a:p>
            <a:pPr marL="0" marR="0" lvl="0" indent="0" algn="l" rtl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display.getCurrentStage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():insert(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button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</a:t>
            </a:r>
          </a:p>
        </p:txBody>
      </p:sp>
      <p:grpSp>
        <p:nvGrpSpPr>
          <p:cNvPr id="57" name="Grupa 56"/>
          <p:cNvGrpSpPr/>
          <p:nvPr/>
        </p:nvGrpSpPr>
        <p:grpSpPr>
          <a:xfrm>
            <a:off x="7381801" y="5727093"/>
            <a:ext cx="4488120" cy="1047599"/>
            <a:chOff x="7381800" y="5727093"/>
            <a:chExt cx="4564079" cy="1047599"/>
          </a:xfrm>
        </p:grpSpPr>
        <p:sp>
          <p:nvSpPr>
            <p:cNvPr id="58" name="Shape 53"/>
            <p:cNvSpPr/>
            <p:nvPr/>
          </p:nvSpPr>
          <p:spPr>
            <a:xfrm>
              <a:off x="7381800" y="5727093"/>
              <a:ext cx="31680" cy="104759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1333500"/>
                <a:gd name="f5" fmla="*/ f0 1 31750"/>
                <a:gd name="f6" fmla="*/ f1 1 1333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1333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1333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32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7524719" y="5770800"/>
              <a:ext cx="4421160" cy="1746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5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60" name="Text 55"/>
            <p:cNvSpPr/>
            <p:nvPr/>
          </p:nvSpPr>
          <p:spPr>
            <a:xfrm>
              <a:off x="7524719" y="5995080"/>
              <a:ext cx="4413240" cy="149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zh-CN" sz="13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✓ Darmowy i open-source</a:t>
              </a:r>
            </a:p>
          </p:txBody>
        </p:sp>
        <p:sp>
          <p:nvSpPr>
            <p:cNvPr id="61" name="Text 56"/>
            <p:cNvSpPr/>
            <p:nvPr/>
          </p:nvSpPr>
          <p:spPr>
            <a:xfrm>
              <a:off x="7524719" y="6170040"/>
              <a:ext cx="4413240" cy="149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zh-CN" sz="13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✓ Szybki development</a:t>
              </a:r>
            </a:p>
          </p:txBody>
        </p:sp>
        <p:sp>
          <p:nvSpPr>
            <p:cNvPr id="62" name="Text 57"/>
            <p:cNvSpPr/>
            <p:nvPr/>
          </p:nvSpPr>
          <p:spPr>
            <a:xfrm>
              <a:off x="7524719" y="6344280"/>
              <a:ext cx="4413240" cy="149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zh-CN" sz="13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✓ Lua - łatwa do nauki</a:t>
              </a:r>
            </a:p>
          </p:txBody>
        </p:sp>
        <p:sp>
          <p:nvSpPr>
            <p:cNvPr id="63" name="Text 58"/>
            <p:cNvSpPr/>
            <p:nvPr/>
          </p:nvSpPr>
          <p:spPr>
            <a:xfrm>
              <a:off x="7524719" y="6518880"/>
              <a:ext cx="4413240" cy="1497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zh-CN" sz="13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✓ Real-time testing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880" kern="0" spc="45" dirty="0" smtClean="0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9.3</a:t>
            </a:r>
            <a:r>
              <a:rPr lang="pl-PL" sz="880" kern="0" spc="45" dirty="0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. </a:t>
            </a:r>
            <a:r>
              <a:rPr lang="pl-PL" sz="880" kern="0" spc="45" dirty="0" err="1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Defold</a:t>
            </a:r>
            <a:endParaRPr lang="pl-PL" sz="880" b="0" i="0" u="none" strike="noStrike" kern="0" cap="none" spc="45" baseline="0" dirty="0">
              <a:ln>
                <a:noFill/>
              </a:ln>
              <a:solidFill>
                <a:srgbClr val="8B0000"/>
              </a:solidFill>
              <a:latin typeface="Quattrocento Sans" pitchFamily="34"/>
              <a:ea typeface="Quattrocento Sans" pitchFamily="34"/>
              <a:cs typeface="Quattrocento Sans" pitchFamily="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20" y="581204"/>
            <a:ext cx="5116926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pl-PL" sz="2800" b="1" dirty="0" err="1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Defold</a:t>
            </a:r>
            <a:r>
              <a:rPr lang="pl-PL" sz="28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28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 gier </a:t>
            </a:r>
            <a:r>
              <a:rPr lang="pl-PL" sz="28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Lua</a:t>
            </a:r>
            <a:endParaRPr lang="pl-PL" sz="28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r>
              <a:rPr lang="pl-PL" b="1" dirty="0"/>
              <a:t>Czym jest </a:t>
            </a:r>
            <a:r>
              <a:rPr lang="pl-PL" b="1" dirty="0" err="1"/>
              <a:t>Defold</a:t>
            </a:r>
            <a:r>
              <a:rPr lang="pl-PL" b="1" dirty="0"/>
              <a:t>?</a:t>
            </a:r>
          </a:p>
        </p:txBody>
      </p:sp>
      <p:sp>
        <p:nvSpPr>
          <p:cNvPr id="5" name="Text 3"/>
          <p:cNvSpPr/>
          <p:nvPr/>
        </p:nvSpPr>
        <p:spPr>
          <a:xfrm>
            <a:off x="317520" y="1656068"/>
            <a:ext cx="6467744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 algn="just">
              <a:lnSpc>
                <a:spcPct val="150000"/>
              </a:lnSpc>
              <a:defRPr lang="pl-PL"/>
            </a:pPr>
            <a:r>
              <a:rPr lang="pl-PL" sz="1400" b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Defold</a:t>
            </a: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to darmowy, wydajny silnik gier 2D </a:t>
            </a:r>
            <a:r>
              <a:rPr lang="pl-PL" sz="1400" i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(od twórców </a:t>
            </a:r>
            <a:r>
              <a:rPr lang="pl-PL" sz="1400" i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Candy </a:t>
            </a:r>
            <a:r>
              <a:rPr lang="pl-PL" sz="1400" i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Crush</a:t>
            </a:r>
            <a:r>
              <a:rPr lang="pl-PL" sz="1400" i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) 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stworzony przez King </a:t>
            </a:r>
            <a:r>
              <a:rPr lang="pl-PL" sz="1400" i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(</a:t>
            </a:r>
            <a:r>
              <a:rPr lang="pl-PL" sz="1400" i="1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Activision</a:t>
            </a:r>
            <a:r>
              <a:rPr lang="pl-PL" sz="1400" i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Blizzard). 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Obecnie rozwijany jako open-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source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Ukierunkowany na gry mobilne i webowe.</a:t>
            </a:r>
            <a:endParaRPr lang="pl-PL" sz="1400" i="1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7365959" y="1015920"/>
            <a:ext cx="4508640" cy="1516292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381250"/>
              <a:gd name="f5" fmla="*/ f0 1 4508500"/>
              <a:gd name="f6" fmla="*/ f1 1 23812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3812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3812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7524719" y="1151280"/>
            <a:ext cx="4270320" cy="189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 smtClean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524719" y="1449360"/>
            <a:ext cx="4254480" cy="938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Liczba gier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wyprodukowanych	    </a:t>
            </a:r>
            <a:r>
              <a:rPr lang="pl-PL" sz="16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ponad 40 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000</a:t>
            </a:r>
            <a:endParaRPr lang="pl-PL" sz="14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Miesięczna liczba aktywnych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deweloperów 	 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~20k</a:t>
            </a:r>
            <a:endParaRPr lang="pl-PL" sz="1400" b="1" dirty="0" smtClean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defRPr lang="pl-PL"/>
            </a:pPr>
            <a:r>
              <a:rPr lang="pl-PL" sz="1400" dirty="0">
                <a:solidFill>
                  <a:schemeClr val="bg1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Średni czas uruchomienia </a:t>
            </a:r>
            <a:r>
              <a:rPr lang="pl-PL" sz="1400" dirty="0" smtClean="0">
                <a:solidFill>
                  <a:schemeClr val="bg1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gry 		 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&lt;</a:t>
            </a:r>
            <a:r>
              <a:rPr lang="pl-PL" sz="16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0,5s</a:t>
            </a:r>
          </a:p>
        </p:txBody>
      </p:sp>
      <p:sp>
        <p:nvSpPr>
          <p:cNvPr id="54" name="Shape 50"/>
          <p:cNvSpPr/>
          <p:nvPr/>
        </p:nvSpPr>
        <p:spPr>
          <a:xfrm>
            <a:off x="7372440" y="2690972"/>
            <a:ext cx="4497480" cy="2084274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2139950"/>
              <a:gd name="f5" fmla="*/ f0 1 4497387"/>
              <a:gd name="f6" fmla="*/ f1 1 21399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21399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21399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7492771" y="2744351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6" name="Text 52"/>
          <p:cNvSpPr/>
          <p:nvPr/>
        </p:nvSpPr>
        <p:spPr>
          <a:xfrm>
            <a:off x="7492770" y="2988170"/>
            <a:ext cx="4219275" cy="18796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#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include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"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cocos2d.h„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USING_NS_CC;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endParaRPr lang="pl-PL" sz="1200" spc="-40" dirty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class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MainScene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: public </a:t>
            </a: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Scene</a:t>
            </a:r>
            <a:endParaRPr lang="pl-PL" sz="1200" spc="-40" dirty="0" smtClean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{public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bool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init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()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override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{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10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auto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::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createWithTTF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("Hello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Cocos</a:t>
            </a:r>
            <a:r>
              <a:rPr lang="pl-PL" sz="1200" spc="-10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",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"arial.ttf", 24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-&gt;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setPosition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(100, 100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addChild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return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true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}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CREATE_FUNC(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MainScene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);};</a:t>
            </a:r>
            <a:endParaRPr lang="pl-PL" sz="1200" b="0" i="0" u="none" strike="noStrike" kern="1200" cap="none" spc="-4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</p:txBody>
      </p:sp>
      <p:grpSp>
        <p:nvGrpSpPr>
          <p:cNvPr id="57" name="Grupa 56"/>
          <p:cNvGrpSpPr/>
          <p:nvPr/>
        </p:nvGrpSpPr>
        <p:grpSpPr>
          <a:xfrm>
            <a:off x="8840702" y="5139495"/>
            <a:ext cx="2973762" cy="1326398"/>
            <a:chOff x="7259977" y="5658584"/>
            <a:chExt cx="4940099" cy="1326398"/>
          </a:xfrm>
        </p:grpSpPr>
        <p:sp>
          <p:nvSpPr>
            <p:cNvPr id="58" name="Shape 53"/>
            <p:cNvSpPr/>
            <p:nvPr/>
          </p:nvSpPr>
          <p:spPr>
            <a:xfrm flipH="1">
              <a:off x="7259977" y="5658584"/>
              <a:ext cx="59804" cy="132639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1333500"/>
                <a:gd name="f5" fmla="*/ f0 1 31750"/>
                <a:gd name="f6" fmla="*/ f1 1 1333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1333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1333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0070C0"/>
            </a:solidFill>
            <a:ln cap="flat">
              <a:solidFill>
                <a:srgbClr val="00B0F0"/>
              </a:solidFill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32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7576504" y="5666890"/>
              <a:ext cx="4177243" cy="17507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 smtClean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Wady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0" name="Text 55"/>
            <p:cNvSpPr/>
            <p:nvPr/>
          </p:nvSpPr>
          <p:spPr>
            <a:xfrm>
              <a:off x="7455673" y="5953516"/>
              <a:ext cx="4744403" cy="10314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Mniejsza społeczność niż </a:t>
              </a:r>
              <a:r>
                <a:rPr lang="pl-PL" altLang="zh-CN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Unity/Godot</a:t>
              </a:r>
              <a:endParaRPr lang="pl-PL" altLang="zh-CN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Głównie 2D </a:t>
              </a:r>
              <a:r>
                <a:rPr lang="pl-PL" altLang="zh-CN" sz="1400" i="1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(3D bardzo ograniczone)</a:t>
              </a:r>
              <a:endParaRPr lang="zh-CN" sz="1400" b="0" i="1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sp>
        <p:nvSpPr>
          <p:cNvPr id="64" name="Prostokąt 63"/>
          <p:cNvSpPr/>
          <p:nvPr/>
        </p:nvSpPr>
        <p:spPr>
          <a:xfrm>
            <a:off x="244783" y="2863452"/>
            <a:ext cx="1671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b="1" dirty="0"/>
              <a:t>Kluczowe cechy</a:t>
            </a:r>
            <a:endParaRPr lang="pl-PL" dirty="0"/>
          </a:p>
        </p:txBody>
      </p:sp>
      <p:sp>
        <p:nvSpPr>
          <p:cNvPr id="66" name="Rectangle 2"/>
          <p:cNvSpPr>
            <a:spLocks noChangeArrowheads="1"/>
          </p:cNvSpPr>
          <p:nvPr/>
        </p:nvSpPr>
        <p:spPr bwMode="auto">
          <a:xfrm>
            <a:off x="697937" y="3205190"/>
            <a:ext cx="58523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Język skryptowy: </a:t>
            </a:r>
            <a:r>
              <a:rPr lang="pl-PL" altLang="pl-PL" sz="1400" dirty="0" err="1" smtClean="0">
                <a:latin typeface="Arial" panose="020B0604020202020204" pitchFamily="34" charset="0"/>
              </a:rPr>
              <a:t>Lua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Wydajny rendering 2D z potokiem opartym na </a:t>
            </a:r>
            <a:r>
              <a:rPr lang="pl-PL" altLang="pl-PL" sz="1400" dirty="0" smtClean="0">
                <a:latin typeface="Arial" panose="020B0604020202020204" pitchFamily="34" charset="0"/>
              </a:rPr>
              <a:t>komponentach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Wbudowany edytor, </a:t>
            </a:r>
            <a:r>
              <a:rPr lang="pl-PL" altLang="pl-PL" sz="1400" dirty="0" err="1">
                <a:latin typeface="Arial" panose="020B0604020202020204" pitchFamily="34" charset="0"/>
              </a:rPr>
              <a:t>debugger</a:t>
            </a:r>
            <a:r>
              <a:rPr lang="pl-PL" altLang="pl-PL" sz="1400" dirty="0">
                <a:latin typeface="Arial" panose="020B0604020202020204" pitchFamily="34" charset="0"/>
              </a:rPr>
              <a:t>, </a:t>
            </a:r>
            <a:r>
              <a:rPr lang="pl-PL" altLang="pl-PL" sz="1400" dirty="0" smtClean="0">
                <a:latin typeface="Arial" panose="020B0604020202020204" pitchFamily="34" charset="0"/>
              </a:rPr>
              <a:t>profilowanie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Bardzo mały </a:t>
            </a:r>
            <a:r>
              <a:rPr lang="pl-PL" altLang="pl-PL" sz="1400" dirty="0" err="1">
                <a:latin typeface="Arial" panose="020B0604020202020204" pitchFamily="34" charset="0"/>
              </a:rPr>
              <a:t>runtime</a:t>
            </a:r>
            <a:r>
              <a:rPr lang="pl-PL" altLang="pl-PL" sz="1400" dirty="0">
                <a:latin typeface="Arial" panose="020B0604020202020204" pitchFamily="34" charset="0"/>
              </a:rPr>
              <a:t> (~2 MB)</a:t>
            </a:r>
            <a:endParaRPr kumimoji="0" lang="pl-PL" altLang="pl-PL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upa 5"/>
          <p:cNvGrpSpPr/>
          <p:nvPr/>
        </p:nvGrpSpPr>
        <p:grpSpPr>
          <a:xfrm>
            <a:off x="317519" y="5366874"/>
            <a:ext cx="1843791" cy="1271771"/>
            <a:chOff x="336765" y="4962236"/>
            <a:chExt cx="1843791" cy="1271771"/>
          </a:xfrm>
        </p:grpSpPr>
        <p:sp>
          <p:nvSpPr>
            <p:cNvPr id="67" name="Shape 33"/>
            <p:cNvSpPr/>
            <p:nvPr/>
          </p:nvSpPr>
          <p:spPr>
            <a:xfrm>
              <a:off x="336765" y="4988885"/>
              <a:ext cx="45719" cy="124512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698500"/>
                <a:gd name="f5" fmla="*/ f0 1 31750"/>
                <a:gd name="f6" fmla="*/ f1 1 698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698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698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8" name="Text 34"/>
            <p:cNvSpPr/>
            <p:nvPr/>
          </p:nvSpPr>
          <p:spPr>
            <a:xfrm>
              <a:off x="500366" y="4962236"/>
              <a:ext cx="1680190" cy="2768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lvl="0">
                <a:lnSpc>
                  <a:spcPct val="130000"/>
                </a:lnSpc>
                <a:defRPr lang="pl-PL"/>
              </a:pPr>
              <a:r>
                <a:rPr lang="pl-PL" sz="1600" b="1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Używany </a:t>
              </a:r>
              <a:r>
                <a:rPr lang="pl-PL" sz="1600" b="1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przez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9" name="Shape 35"/>
            <p:cNvSpPr/>
            <p:nvPr/>
          </p:nvSpPr>
          <p:spPr>
            <a:xfrm>
              <a:off x="500365" y="5339057"/>
              <a:ext cx="756935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6125"/>
                <a:gd name="f4" fmla="val 222250"/>
                <a:gd name="f5" fmla="val 31751"/>
                <a:gd name="f6" fmla="val 714374"/>
                <a:gd name="f7" fmla="val 731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46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46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46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King</a:t>
              </a:r>
              <a:endPara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1" name="Shape 37"/>
            <p:cNvSpPr/>
            <p:nvPr/>
          </p:nvSpPr>
          <p:spPr>
            <a:xfrm>
              <a:off x="500365" y="5797523"/>
              <a:ext cx="1585239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27125"/>
                <a:gd name="f4" fmla="val 222250"/>
                <a:gd name="f5" fmla="val 31751"/>
                <a:gd name="f6" fmla="val 1095374"/>
                <a:gd name="f7" fmla="val 1112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1127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1127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1127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 err="1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Ragdoll</a:t>
              </a: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Games</a:t>
              </a:r>
              <a:endParaRPr lang="pl-PL" sz="1400" i="1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3" name="Shape 39"/>
            <p:cNvSpPr/>
            <p:nvPr/>
          </p:nvSpPr>
          <p:spPr>
            <a:xfrm>
              <a:off x="1332352" y="5339057"/>
              <a:ext cx="753252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84250"/>
                <a:gd name="f4" fmla="val 222250"/>
                <a:gd name="f5" fmla="val 31751"/>
                <a:gd name="f6" fmla="val 952499"/>
                <a:gd name="f7" fmla="val 9700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842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842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842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 hangingPunct="0">
                <a:defRPr lang="pl-PL"/>
              </a:pPr>
              <a:r>
                <a:rPr lang="pl-PL" sz="1400" dirty="0" err="1">
                  <a:solidFill>
                    <a:schemeClr val="bg1"/>
                  </a:solidFill>
                  <a:latin typeface="Sorts Mill Goudy"/>
                </a:rPr>
                <a:t>Rovio</a:t>
              </a:r>
              <a:endParaRPr lang="pl-PL" sz="1400" b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Sorts Mill Goudy"/>
                <a:ea typeface="Noto Sans CJK SC" pitchFamily="2"/>
                <a:cs typeface="Noto Sans Devanagari" pitchFamily="2"/>
              </a:endParaRPr>
            </a:p>
          </p:txBody>
        </p:sp>
      </p:grpSp>
      <p:grpSp>
        <p:nvGrpSpPr>
          <p:cNvPr id="75" name="Grupa 74"/>
          <p:cNvGrpSpPr/>
          <p:nvPr/>
        </p:nvGrpSpPr>
        <p:grpSpPr>
          <a:xfrm>
            <a:off x="5608923" y="5078485"/>
            <a:ext cx="3220871" cy="1428840"/>
            <a:chOff x="6163764" y="3840822"/>
            <a:chExt cx="5768076" cy="1428840"/>
          </a:xfrm>
        </p:grpSpPr>
        <p:sp>
          <p:nvSpPr>
            <p:cNvPr id="76" name="Shape 30"/>
            <p:cNvSpPr/>
            <p:nvPr/>
          </p:nvSpPr>
          <p:spPr>
            <a:xfrm>
              <a:off x="6163764" y="3840822"/>
              <a:ext cx="64470" cy="13770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404840"/>
                <a:gd name="f5" fmla="*/ f0 1 33449"/>
                <a:gd name="f6" fmla="*/ f1 1 140484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40484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40484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7" name="Text 31"/>
            <p:cNvSpPr/>
            <p:nvPr/>
          </p:nvSpPr>
          <p:spPr>
            <a:xfrm>
              <a:off x="6437077" y="3840823"/>
              <a:ext cx="5220076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78" name="Text 32"/>
            <p:cNvSpPr/>
            <p:nvPr/>
          </p:nvSpPr>
          <p:spPr>
            <a:xfrm>
              <a:off x="6362641" y="4214519"/>
              <a:ext cx="5569199" cy="1055143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Bardzo niskie zużycie zasobów (idealne na słabsze urządzenia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)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Szybki hot-</a:t>
              </a:r>
              <a:r>
                <a:rPr lang="pl-PL" sz="1400" dirty="0" err="1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reload</a:t>
              </a: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na urządzeniach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mobilnych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 pełni darmowy (brak tantiem)</a:t>
              </a:r>
              <a:endParaRPr lang="pl-PL" sz="1400" b="0" i="1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99423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120000"/>
              </a:lnSpc>
              <a:defRPr lang="pl-PL"/>
            </a:pPr>
            <a:r>
              <a:rPr lang="pl-PL" sz="880" kern="0" spc="45" dirty="0" smtClean="0"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9.3. Pharser</a:t>
            </a:r>
            <a:endParaRPr lang="pl-PL" sz="880" b="0" i="0" u="none" strike="noStrike" kern="0" cap="none" spc="45" baseline="0" dirty="0">
              <a:ln>
                <a:noFill/>
              </a:ln>
              <a:solidFill>
                <a:srgbClr val="8B0000"/>
              </a:solidFill>
              <a:latin typeface="Quattrocento Sans" pitchFamily="34"/>
              <a:ea typeface="Quattrocento Sans" pitchFamily="34"/>
              <a:cs typeface="Quattrocento Sans" pitchFamily="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519" y="570813"/>
            <a:ext cx="7486053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lnSpc>
                <a:spcPct val="90000"/>
              </a:lnSpc>
              <a:defRPr lang="pl-PL"/>
            </a:pP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Phaser: </a:t>
            </a:r>
            <a:r>
              <a:rPr lang="pl-PL" sz="28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 </a:t>
            </a:r>
            <a:r>
              <a:rPr lang="pl-PL" sz="28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gier 2D w </a:t>
            </a:r>
            <a:r>
              <a:rPr lang="pl-PL" sz="28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przeglądarce</a:t>
            </a:r>
            <a:endParaRPr lang="pl-PL" sz="28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r>
              <a:rPr lang="pl-PL" b="1" dirty="0"/>
              <a:t>Czym jest Phaser?</a:t>
            </a:r>
          </a:p>
        </p:txBody>
      </p:sp>
      <p:sp>
        <p:nvSpPr>
          <p:cNvPr id="5" name="Text 3"/>
          <p:cNvSpPr/>
          <p:nvPr/>
        </p:nvSpPr>
        <p:spPr>
          <a:xfrm>
            <a:off x="317520" y="1656068"/>
            <a:ext cx="6467744" cy="8405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 algn="just">
              <a:lnSpc>
                <a:spcPct val="150000"/>
              </a:lnSpc>
              <a:defRPr lang="pl-PL"/>
            </a:pP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Phaser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darmowy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do tworzenia gier 2D w JavaScript/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TypeScript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działających w przeglądarce. Dzięki temu gry są automatycznie cross-platformowe (web, mobile, desktop) bez instalacji.</a:t>
            </a:r>
            <a:endParaRPr lang="pl-PL" sz="1400" i="1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7365959" y="1015920"/>
            <a:ext cx="4508640" cy="1516292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381250"/>
              <a:gd name="f5" fmla="*/ f0 1 4508500"/>
              <a:gd name="f6" fmla="*/ f1 1 23812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3812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3812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7524719" y="1151280"/>
            <a:ext cx="4270320" cy="189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 smtClean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Statystyki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7524719" y="1449360"/>
            <a:ext cx="4254480" cy="9383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GitHub </a:t>
            </a:r>
            <a:r>
              <a:rPr lang="pl-PL" sz="1400" dirty="0" err="1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stars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			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~36k</a:t>
            </a:r>
            <a:endParaRPr lang="pl-PL" sz="16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NPM </a:t>
            </a:r>
            <a:r>
              <a:rPr lang="pl-PL" sz="1400" dirty="0" err="1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downloads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	           </a:t>
            </a:r>
            <a:r>
              <a:rPr lang="pl-PL" sz="14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~2,5 mln 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miesięcznie</a:t>
            </a:r>
            <a:endParaRPr lang="pl-PL" sz="16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Używany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przez 	        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Disney</a:t>
            </a:r>
            <a:r>
              <a:rPr lang="pl-PL" sz="14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NASA, </a:t>
            </a:r>
            <a:r>
              <a:rPr lang="pl-PL" sz="14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Miniclip</a:t>
            </a:r>
            <a:endParaRPr lang="pl-PL" sz="16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lvl="0">
              <a:defRPr lang="pl-PL"/>
            </a:pPr>
            <a:r>
              <a: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Udział w rynku gier </a:t>
            </a:r>
            <a:r>
              <a:rPr lang="pl-PL" sz="1400" dirty="0" smtClean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HTML5 		</a:t>
            </a:r>
            <a:r>
              <a:rPr lang="pl-PL" sz="1600" b="1" dirty="0" smtClean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~</a:t>
            </a:r>
            <a:r>
              <a:rPr lang="pl-PL" sz="1600" b="1" dirty="0"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40%</a:t>
            </a:r>
            <a:endParaRPr lang="pl-PL" sz="2000" b="1" dirty="0"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7372440" y="2690972"/>
            <a:ext cx="4497480" cy="2084274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2139950"/>
              <a:gd name="f5" fmla="*/ f0 1 4497387"/>
              <a:gd name="f6" fmla="*/ f1 1 21399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21399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21399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7492771" y="2744351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6" name="Text 52"/>
          <p:cNvSpPr/>
          <p:nvPr/>
        </p:nvSpPr>
        <p:spPr>
          <a:xfrm>
            <a:off x="7492770" y="2988170"/>
            <a:ext cx="4219275" cy="187964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#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include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"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cocos2d.h„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USING_NS_CC;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endParaRPr lang="pl-PL" sz="1200" spc="-40" dirty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class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MainScene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: public </a:t>
            </a:r>
            <a:r>
              <a:rPr lang="pl-PL" sz="1200" spc="-40" dirty="0" err="1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Scene</a:t>
            </a:r>
            <a:endParaRPr lang="pl-PL" sz="1200" spc="-40" dirty="0" smtClean="0"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{public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bool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init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()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override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{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10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auto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=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::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createWithTTF</a:t>
            </a:r>
            <a:r>
              <a:rPr lang="pl-PL" sz="1200" spc="-10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("Hello </a:t>
            </a:r>
            <a:r>
              <a:rPr lang="pl-PL" sz="1200" spc="-10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Cocos</a:t>
            </a:r>
            <a:r>
              <a:rPr lang="pl-PL" sz="1200" spc="-10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",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"arial.ttf", 24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-&gt;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setPosition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(100, 100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addChild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label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   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return 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true</a:t>
            </a: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;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}</a:t>
            </a:r>
          </a:p>
          <a:p>
            <a:pPr lvl="0">
              <a:lnSpc>
                <a:spcPct val="70000"/>
              </a:lnSpc>
              <a:defRPr lang="pl-PL">
                <a:solidFill>
                  <a:srgbClr val="1C1C1C"/>
                </a:solidFill>
                <a:latin typeface="Consolas" pitchFamily="33"/>
              </a:defRPr>
            </a:pPr>
            <a:r>
              <a:rPr lang="pl-PL" sz="1200" spc="-40" dirty="0" smtClean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    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CREATE_FUNC(</a:t>
            </a:r>
            <a:r>
              <a:rPr lang="pl-PL" sz="1200" spc="-40" dirty="0" err="1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MainScene</a:t>
            </a:r>
            <a:r>
              <a:rPr lang="pl-PL" sz="1200" spc="-40" dirty="0">
                <a:solidFill>
                  <a:srgbClr val="1C1C1C"/>
                </a:solidFill>
                <a:latin typeface="Consolas" pitchFamily="33"/>
                <a:ea typeface="MiSans" pitchFamily="34"/>
                <a:cs typeface="MiSans" pitchFamily="34"/>
              </a:rPr>
              <a:t>);};</a:t>
            </a:r>
            <a:endParaRPr lang="pl-PL" sz="1200" b="0" i="0" u="none" strike="noStrike" kern="1200" cap="none" spc="-40" dirty="0">
              <a:ln>
                <a:noFill/>
              </a:ln>
              <a:solidFill>
                <a:srgbClr val="1C1C1C"/>
              </a:solidFill>
              <a:latin typeface="Consolas" pitchFamily="33"/>
              <a:ea typeface="MiSans" pitchFamily="34"/>
              <a:cs typeface="MiSans" pitchFamily="34"/>
            </a:endParaRPr>
          </a:p>
        </p:txBody>
      </p:sp>
      <p:grpSp>
        <p:nvGrpSpPr>
          <p:cNvPr id="57" name="Grupa 56"/>
          <p:cNvGrpSpPr/>
          <p:nvPr/>
        </p:nvGrpSpPr>
        <p:grpSpPr>
          <a:xfrm>
            <a:off x="8840702" y="5139495"/>
            <a:ext cx="2973762" cy="1326398"/>
            <a:chOff x="7259977" y="5658584"/>
            <a:chExt cx="4940099" cy="1326398"/>
          </a:xfrm>
        </p:grpSpPr>
        <p:sp>
          <p:nvSpPr>
            <p:cNvPr id="58" name="Shape 53"/>
            <p:cNvSpPr/>
            <p:nvPr/>
          </p:nvSpPr>
          <p:spPr>
            <a:xfrm flipH="1">
              <a:off x="7259977" y="5658584"/>
              <a:ext cx="59804" cy="1326398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1333500"/>
                <a:gd name="f5" fmla="*/ f0 1 31750"/>
                <a:gd name="f6" fmla="*/ f1 1 1333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1333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1333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0070C0"/>
            </a:solidFill>
            <a:ln cap="flat">
              <a:solidFill>
                <a:srgbClr val="00B0F0"/>
              </a:solidFill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3200" b="0" i="0" u="none" strike="noStrike" kern="1200" cap="none" dirty="0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7576504" y="5666890"/>
              <a:ext cx="4177243" cy="17507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 smtClean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Wady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0" name="Text 55"/>
            <p:cNvSpPr/>
            <p:nvPr/>
          </p:nvSpPr>
          <p:spPr>
            <a:xfrm>
              <a:off x="7455673" y="5953516"/>
              <a:ext cx="4744403" cy="1031466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Wydajność gier złożonych (wielu obiektów) niższa niż </a:t>
              </a:r>
              <a:r>
                <a:rPr lang="pl-PL" altLang="zh-CN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natywnych</a:t>
              </a:r>
              <a:endParaRPr lang="pl-PL" altLang="zh-CN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altLang="zh-CN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Ograniczony dostęp do sprzętu (brak pełnego Bluetooth, NFC itp.)</a:t>
              </a:r>
              <a:endParaRPr lang="zh-CN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  <p:sp>
        <p:nvSpPr>
          <p:cNvPr id="64" name="Prostokąt 63"/>
          <p:cNvSpPr/>
          <p:nvPr/>
        </p:nvSpPr>
        <p:spPr>
          <a:xfrm>
            <a:off x="244783" y="2863452"/>
            <a:ext cx="1671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b="1" dirty="0"/>
              <a:t>Kluczowe cechy</a:t>
            </a:r>
            <a:endParaRPr lang="pl-PL" dirty="0"/>
          </a:p>
        </p:txBody>
      </p:sp>
      <p:sp>
        <p:nvSpPr>
          <p:cNvPr id="66" name="Rectangle 2"/>
          <p:cNvSpPr>
            <a:spLocks noChangeArrowheads="1"/>
          </p:cNvSpPr>
          <p:nvPr/>
        </p:nvSpPr>
        <p:spPr bwMode="auto">
          <a:xfrm>
            <a:off x="697937" y="3205191"/>
            <a:ext cx="58523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Silnik renderujący: </a:t>
            </a:r>
            <a:r>
              <a:rPr lang="pl-PL" altLang="pl-PL" sz="1400" dirty="0" err="1">
                <a:latin typeface="Arial" panose="020B0604020202020204" pitchFamily="34" charset="0"/>
              </a:rPr>
              <a:t>Canvas</a:t>
            </a:r>
            <a:r>
              <a:rPr lang="pl-PL" altLang="pl-PL" sz="1400" dirty="0">
                <a:latin typeface="Arial" panose="020B0604020202020204" pitchFamily="34" charset="0"/>
              </a:rPr>
              <a:t> / </a:t>
            </a:r>
            <a:r>
              <a:rPr lang="pl-PL" altLang="pl-PL" sz="1400" dirty="0" err="1" smtClean="0">
                <a:latin typeface="Arial" panose="020B0604020202020204" pitchFamily="34" charset="0"/>
              </a:rPr>
              <a:t>WebGL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System scen, fizyka (Arcade, Matter.js), animacje, </a:t>
            </a:r>
            <a:r>
              <a:rPr lang="pl-PL" altLang="pl-PL" sz="1400" dirty="0" smtClean="0">
                <a:latin typeface="Arial" panose="020B0604020202020204" pitchFamily="34" charset="0"/>
              </a:rPr>
              <a:t>dźwięk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Obsługa </a:t>
            </a:r>
            <a:r>
              <a:rPr lang="pl-PL" altLang="pl-PL" sz="1400" dirty="0" err="1">
                <a:latin typeface="Arial" panose="020B0604020202020204" pitchFamily="34" charset="0"/>
              </a:rPr>
              <a:t>WebAssembly</a:t>
            </a:r>
            <a:r>
              <a:rPr lang="pl-PL" altLang="pl-PL" sz="1400" dirty="0">
                <a:latin typeface="Arial" panose="020B0604020202020204" pitchFamily="34" charset="0"/>
              </a:rPr>
              <a:t> dla wydajnych </a:t>
            </a:r>
            <a:r>
              <a:rPr lang="pl-PL" altLang="pl-PL" sz="1400" dirty="0" smtClean="0">
                <a:latin typeface="Arial" panose="020B0604020202020204" pitchFamily="34" charset="0"/>
              </a:rPr>
              <a:t>operacji</a:t>
            </a:r>
            <a:endParaRPr lang="pl-PL" altLang="pl-PL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400" dirty="0">
                <a:latin typeface="Arial" panose="020B0604020202020204" pitchFamily="34" charset="0"/>
              </a:rPr>
              <a:t>Integracja z PWA (gry offline)</a:t>
            </a:r>
            <a:endParaRPr kumimoji="0" lang="pl-PL" altLang="pl-PL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upa 5"/>
          <p:cNvGrpSpPr/>
          <p:nvPr/>
        </p:nvGrpSpPr>
        <p:grpSpPr>
          <a:xfrm>
            <a:off x="317519" y="5366874"/>
            <a:ext cx="3656647" cy="771741"/>
            <a:chOff x="336765" y="4962236"/>
            <a:chExt cx="3656647" cy="771741"/>
          </a:xfrm>
        </p:grpSpPr>
        <p:sp>
          <p:nvSpPr>
            <p:cNvPr id="67" name="Shape 33"/>
            <p:cNvSpPr/>
            <p:nvPr/>
          </p:nvSpPr>
          <p:spPr>
            <a:xfrm>
              <a:off x="336765" y="4968103"/>
              <a:ext cx="46983" cy="76008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1750"/>
                <a:gd name="f4" fmla="val 698500"/>
                <a:gd name="f5" fmla="*/ f0 1 31750"/>
                <a:gd name="f6" fmla="*/ f1 1 69850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1750"/>
                <a:gd name="f13" fmla="*/ f10 1 69850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1750" h="69850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68" name="Text 34"/>
            <p:cNvSpPr/>
            <p:nvPr/>
          </p:nvSpPr>
          <p:spPr>
            <a:xfrm>
              <a:off x="500365" y="4962236"/>
              <a:ext cx="3493047" cy="27684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lvl="0">
                <a:lnSpc>
                  <a:spcPct val="130000"/>
                </a:lnSpc>
                <a:defRPr lang="pl-PL"/>
              </a:pPr>
              <a:r>
                <a:rPr lang="pl-PL" sz="1600" b="1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Używany </a:t>
              </a:r>
              <a:r>
                <a:rPr lang="pl-PL" sz="1600" b="1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przez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69" name="Shape 35"/>
            <p:cNvSpPr/>
            <p:nvPr/>
          </p:nvSpPr>
          <p:spPr>
            <a:xfrm>
              <a:off x="500365" y="5339057"/>
              <a:ext cx="756935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46125"/>
                <a:gd name="f4" fmla="val 222250"/>
                <a:gd name="f5" fmla="val 31751"/>
                <a:gd name="f6" fmla="val 714374"/>
                <a:gd name="f7" fmla="val 731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746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746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746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Disney</a:t>
              </a:r>
              <a:endParaRPr lang="pl-PL" sz="1400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1" name="Shape 37"/>
            <p:cNvSpPr/>
            <p:nvPr/>
          </p:nvSpPr>
          <p:spPr>
            <a:xfrm>
              <a:off x="2167406" y="5333268"/>
              <a:ext cx="897912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127125"/>
                <a:gd name="f4" fmla="val 222250"/>
                <a:gd name="f5" fmla="val 31751"/>
                <a:gd name="f6" fmla="val 1095374"/>
                <a:gd name="f7" fmla="val 11129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11271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11271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11271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>
                <a:lnSpc>
                  <a:spcPct val="120000"/>
                </a:lnSpc>
                <a:defRPr lang="pl-PL"/>
              </a:pPr>
              <a:r>
                <a:rPr lang="pl-PL" sz="1400" dirty="0"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Miniclip</a:t>
              </a:r>
              <a:endParaRPr lang="pl-PL" sz="1400" i="1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73" name="Shape 39"/>
            <p:cNvSpPr/>
            <p:nvPr/>
          </p:nvSpPr>
          <p:spPr>
            <a:xfrm>
              <a:off x="1332352" y="5339057"/>
              <a:ext cx="753252" cy="39492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84250"/>
                <a:gd name="f4" fmla="val 222250"/>
                <a:gd name="f5" fmla="val 31751"/>
                <a:gd name="f6" fmla="val 952499"/>
                <a:gd name="f7" fmla="val 970035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84250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84250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84250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0" compatLnSpc="0"/>
            <a:lstStyle/>
            <a:p>
              <a:pPr lvl="0" algn="ctr" hangingPunct="0">
                <a:defRPr lang="pl-PL"/>
              </a:pPr>
              <a:r>
                <a:rPr lang="pl-PL" sz="1400" i="1" dirty="0">
                  <a:solidFill>
                    <a:schemeClr val="bg1"/>
                  </a:solidFill>
                  <a:latin typeface="Sorts Mill Goudy"/>
                </a:rPr>
                <a:t>NASA</a:t>
              </a:r>
              <a:endParaRPr lang="pl-PL" sz="1400" b="0" i="0" u="none" strike="noStrike" kern="1200" cap="none" dirty="0">
                <a:ln>
                  <a:noFill/>
                </a:ln>
                <a:solidFill>
                  <a:schemeClr val="bg1"/>
                </a:solidFill>
                <a:latin typeface="Sorts Mill Goudy"/>
                <a:ea typeface="Noto Sans CJK SC" pitchFamily="2"/>
                <a:cs typeface="Noto Sans Devanagari" pitchFamily="2"/>
              </a:endParaRPr>
            </a:p>
          </p:txBody>
        </p:sp>
      </p:grpSp>
      <p:grpSp>
        <p:nvGrpSpPr>
          <p:cNvPr id="75" name="Grupa 74"/>
          <p:cNvGrpSpPr/>
          <p:nvPr/>
        </p:nvGrpSpPr>
        <p:grpSpPr>
          <a:xfrm>
            <a:off x="5608923" y="5078485"/>
            <a:ext cx="3220871" cy="1428840"/>
            <a:chOff x="6163764" y="3840822"/>
            <a:chExt cx="5768076" cy="1428840"/>
          </a:xfrm>
        </p:grpSpPr>
        <p:sp>
          <p:nvSpPr>
            <p:cNvPr id="76" name="Shape 30"/>
            <p:cNvSpPr/>
            <p:nvPr/>
          </p:nvSpPr>
          <p:spPr>
            <a:xfrm>
              <a:off x="6163764" y="3840822"/>
              <a:ext cx="64470" cy="1377017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3449"/>
                <a:gd name="f4" fmla="val 1404840"/>
                <a:gd name="f5" fmla="*/ f0 1 33449"/>
                <a:gd name="f6" fmla="*/ f1 1 1404840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3449"/>
                <a:gd name="f13" fmla="*/ f10 1 1404840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3449" h="1404840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4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77" name="Text 31"/>
            <p:cNvSpPr/>
            <p:nvPr/>
          </p:nvSpPr>
          <p:spPr>
            <a:xfrm>
              <a:off x="6437077" y="3840823"/>
              <a:ext cx="5220076" cy="2340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Zalety</a:t>
              </a:r>
            </a:p>
          </p:txBody>
        </p:sp>
        <p:sp>
          <p:nvSpPr>
            <p:cNvPr id="78" name="Text 32"/>
            <p:cNvSpPr/>
            <p:nvPr/>
          </p:nvSpPr>
          <p:spPr>
            <a:xfrm>
              <a:off x="6362641" y="4214519"/>
              <a:ext cx="5569199" cy="1055143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Brak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instalacji, </a:t>
              </a: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działa w każdej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przeglądarce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Bardzo szybkie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prototypowanie</a:t>
              </a:r>
              <a:endPara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  <a:p>
              <a:pPr marL="144000" lvl="0" indent="-144000">
                <a:spcAft>
                  <a:spcPts val="600"/>
                </a:spcAft>
                <a:buFont typeface="Arial" panose="020B0604020202020204" pitchFamily="34" charset="0"/>
                <a:buChar char="•"/>
                <a:defRPr lang="pl-PL"/>
              </a:pPr>
              <a:r>
                <a:rPr lang="pl-PL" sz="1400" dirty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Ogromna liczba przykładów </a:t>
              </a: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/>
              </a:r>
              <a:b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</a:br>
              <a:r>
                <a:rPr lang="pl-PL" sz="1400" dirty="0" smtClean="0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 </a:t>
              </a:r>
              <a:r>
                <a:rPr lang="pl-PL" sz="1400" dirty="0" err="1"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pluginów</a:t>
              </a:r>
              <a:endParaRPr lang="pl-PL" sz="1400" b="0" i="1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6621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90000"/>
                </a:srgbClr>
              </a:gs>
              <a:gs pos="50000">
                <a:srgbClr val="1F2937"/>
              </a:gs>
              <a:gs pos="100000">
                <a:srgbClr val="1F2937">
                  <a:alpha val="90000"/>
                </a:srgbClr>
              </a:gs>
            </a:gsLst>
            <a:lin ang="486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0880" y="1924200"/>
            <a:ext cx="2372711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10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2990880"/>
            <a:ext cx="11658600" cy="11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lvl="0">
              <a:defRPr lang="pl-PL"/>
            </a:pPr>
            <a:r>
              <a:rPr lang="pl-PL" sz="4400" b="1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FFI,</a:t>
            </a:r>
            <a:r>
              <a:rPr lang="pl-PL" sz="4400" b="1" i="0" u="none" strike="noStrike" kern="1200" cap="none" spc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4400" b="1" i="0" u="none" strike="noStrike" kern="1200" cap="none" spc="0" baseline="0" dirty="0" err="1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gomobile</a:t>
            </a:r>
            <a:r>
              <a:rPr lang="pl-PL" sz="4400" b="1" dirty="0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i </a:t>
            </a:r>
            <a:r>
              <a:rPr lang="pl-PL" sz="4400" b="1" dirty="0" err="1"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  <a:endParaRPr lang="pl-PL" sz="4400" b="1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0880" y="4362479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0880" y="462924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 i Go w rozwoju mobilnym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880" y="362880"/>
            <a:ext cx="1152972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0" cap="none" spc="51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10.1. </a:t>
            </a:r>
            <a:r>
              <a:rPr lang="pl-PL" sz="1000" b="0" i="0" u="none" strike="noStrike" kern="0" cap="none" spc="51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RUST FFI</a:t>
            </a:r>
          </a:p>
        </p:txBody>
      </p:sp>
      <p:sp>
        <p:nvSpPr>
          <p:cNvPr id="3" name="Text 1"/>
          <p:cNvSpPr/>
          <p:nvPr/>
        </p:nvSpPr>
        <p:spPr>
          <a:xfrm>
            <a:off x="362880" y="616680"/>
            <a:ext cx="11629439" cy="362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FFI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dla mobilnych aplikacji</a:t>
            </a:r>
          </a:p>
        </p:txBody>
      </p:sp>
      <p:sp>
        <p:nvSpPr>
          <p:cNvPr id="4" name="Text 2"/>
          <p:cNvSpPr/>
          <p:nvPr/>
        </p:nvSpPr>
        <p:spPr>
          <a:xfrm>
            <a:off x="362880" y="1161000"/>
            <a:ext cx="5733000" cy="29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w rozwoju mobilnym</a:t>
            </a:r>
          </a:p>
        </p:txBody>
      </p:sp>
      <p:sp>
        <p:nvSpPr>
          <p:cNvPr id="5" name="Text 3"/>
          <p:cNvSpPr/>
          <p:nvPr/>
        </p:nvSpPr>
        <p:spPr>
          <a:xfrm>
            <a:off x="362880" y="1560239"/>
            <a:ext cx="5697000" cy="959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l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FFI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umożliwia integrację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z aplikacjami mobilnymi przez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bindings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oferuje wydajność C/C++ z gwarancjami bezpieczeństwa pamięci.</a:t>
            </a:r>
          </a:p>
        </p:txBody>
      </p:sp>
      <p:sp>
        <p:nvSpPr>
          <p:cNvPr id="6" name="Shape 4"/>
          <p:cNvSpPr/>
          <p:nvPr/>
        </p:nvSpPr>
        <p:spPr>
          <a:xfrm>
            <a:off x="380880" y="2829747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0880" y="286092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7959" y="2897279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Wydajność</a:t>
            </a:r>
          </a:p>
        </p:txBody>
      </p:sp>
      <p:sp>
        <p:nvSpPr>
          <p:cNvPr id="9" name="Text 7"/>
          <p:cNvSpPr/>
          <p:nvPr/>
        </p:nvSpPr>
        <p:spPr>
          <a:xfrm>
            <a:off x="507959" y="315108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Zero-cost abstractions, wydajność C/C++</a:t>
            </a:r>
          </a:p>
        </p:txBody>
      </p:sp>
      <p:sp>
        <p:nvSpPr>
          <p:cNvPr id="10" name="Shape 8"/>
          <p:cNvSpPr/>
          <p:nvPr/>
        </p:nvSpPr>
        <p:spPr>
          <a:xfrm>
            <a:off x="380880" y="3446427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0880" y="347760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7959" y="351432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Bezpieczeństwo</a:t>
            </a:r>
          </a:p>
        </p:txBody>
      </p:sp>
      <p:sp>
        <p:nvSpPr>
          <p:cNvPr id="13" name="Text 11"/>
          <p:cNvSpPr/>
          <p:nvPr/>
        </p:nvSpPr>
        <p:spPr>
          <a:xfrm>
            <a:off x="507959" y="376812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Ownership model, brak null pointer dereferences</a:t>
            </a:r>
          </a:p>
        </p:txBody>
      </p:sp>
      <p:sp>
        <p:nvSpPr>
          <p:cNvPr id="14" name="Shape 12"/>
          <p:cNvSpPr/>
          <p:nvPr/>
        </p:nvSpPr>
        <p:spPr>
          <a:xfrm>
            <a:off x="380880" y="4099467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0880" y="409464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7959" y="413100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Współbieżność</a:t>
            </a:r>
          </a:p>
        </p:txBody>
      </p:sp>
      <p:sp>
        <p:nvSpPr>
          <p:cNvPr id="17" name="Text 15"/>
          <p:cNvSpPr/>
          <p:nvPr/>
        </p:nvSpPr>
        <p:spPr>
          <a:xfrm>
            <a:off x="507959" y="438480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 data races, bezpieczne wątki</a:t>
            </a:r>
          </a:p>
        </p:txBody>
      </p:sp>
      <p:sp>
        <p:nvSpPr>
          <p:cNvPr id="18" name="Text 16"/>
          <p:cNvSpPr/>
          <p:nvPr/>
        </p:nvSpPr>
        <p:spPr>
          <a:xfrm>
            <a:off x="362880" y="4784040"/>
            <a:ext cx="57150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Integracja platform</a:t>
            </a:r>
          </a:p>
        </p:txBody>
      </p:sp>
      <p:sp>
        <p:nvSpPr>
          <p:cNvPr id="19" name="Shape 17"/>
          <p:cNvSpPr/>
          <p:nvPr/>
        </p:nvSpPr>
        <p:spPr>
          <a:xfrm>
            <a:off x="380880" y="5162138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0880" y="514692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7959" y="518328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Android</a:t>
            </a:r>
          </a:p>
        </p:txBody>
      </p:sp>
      <p:sp>
        <p:nvSpPr>
          <p:cNvPr id="22" name="Text 20"/>
          <p:cNvSpPr/>
          <p:nvPr/>
        </p:nvSpPr>
        <p:spPr>
          <a:xfrm>
            <a:off x="507959" y="543708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JNI (Java Native Interface) + Rust FFI</a:t>
            </a:r>
          </a:p>
        </p:txBody>
      </p:sp>
      <p:sp>
        <p:nvSpPr>
          <p:cNvPr id="23" name="Shape 21"/>
          <p:cNvSpPr/>
          <p:nvPr/>
        </p:nvSpPr>
        <p:spPr>
          <a:xfrm>
            <a:off x="380880" y="5742818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80880" y="576360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7959" y="580032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5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iOS</a:t>
            </a:r>
          </a:p>
        </p:txBody>
      </p:sp>
      <p:sp>
        <p:nvSpPr>
          <p:cNvPr id="26" name="Text 24"/>
          <p:cNvSpPr/>
          <p:nvPr/>
        </p:nvSpPr>
        <p:spPr>
          <a:xfrm>
            <a:off x="507959" y="605412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3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swift-bridge - automatyczne generowanie bindings</a:t>
            </a:r>
          </a:p>
        </p:txBody>
      </p:sp>
      <p:sp>
        <p:nvSpPr>
          <p:cNvPr id="27" name="Shape 25"/>
          <p:cNvSpPr/>
          <p:nvPr/>
        </p:nvSpPr>
        <p:spPr>
          <a:xfrm>
            <a:off x="6204960" y="1161000"/>
            <a:ext cx="5624280" cy="2140920"/>
          </a:xfrm>
          <a:custGeom>
            <a:avLst/>
            <a:gdLst>
              <a:gd name="f0" fmla="val w"/>
              <a:gd name="f1" fmla="val h"/>
              <a:gd name="f2" fmla="val 0"/>
              <a:gd name="f3" fmla="val 5624286"/>
              <a:gd name="f4" fmla="val 2140857"/>
              <a:gd name="f5" fmla="*/ f0 1 5624286"/>
              <a:gd name="f6" fmla="*/ f1 1 2140857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24286"/>
              <a:gd name="f13" fmla="*/ f10 1 2140857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24286" h="2140857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86399" y="1342440"/>
            <a:ext cx="535212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solidFill>
                  <a:srgbClr val="FFFFD7"/>
                </a:solidFill>
              </a:defRPr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Narzędzia</a:t>
            </a:r>
          </a:p>
        </p:txBody>
      </p:sp>
      <p:sp>
        <p:nvSpPr>
          <p:cNvPr id="29" name="Text 27"/>
          <p:cNvSpPr/>
          <p:nvPr/>
        </p:nvSpPr>
        <p:spPr>
          <a:xfrm>
            <a:off x="6386399" y="1741680"/>
            <a:ext cx="533412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rust-android-gradle - Gradle plugin</a:t>
            </a:r>
          </a:p>
        </p:txBody>
      </p:sp>
      <p:sp>
        <p:nvSpPr>
          <p:cNvPr id="30" name="Text 28"/>
          <p:cNvSpPr/>
          <p:nvPr/>
        </p:nvSpPr>
        <p:spPr>
          <a:xfrm>
            <a:off x="6386399" y="2031839"/>
            <a:ext cx="533412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cargo-apk - Budowanie APK</a:t>
            </a:r>
          </a:p>
        </p:txBody>
      </p:sp>
      <p:sp>
        <p:nvSpPr>
          <p:cNvPr id="31" name="Text 29"/>
          <p:cNvSpPr/>
          <p:nvPr/>
        </p:nvSpPr>
        <p:spPr>
          <a:xfrm>
            <a:off x="6386399" y="2322360"/>
            <a:ext cx="533412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rust-ios - Wsparcie iOS</a:t>
            </a:r>
          </a:p>
        </p:txBody>
      </p:sp>
      <p:sp>
        <p:nvSpPr>
          <p:cNvPr id="32" name="Text 30"/>
          <p:cNvSpPr/>
          <p:nvPr/>
        </p:nvSpPr>
        <p:spPr>
          <a:xfrm>
            <a:off x="6386399" y="2612520"/>
            <a:ext cx="533412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swift-bridge - Swift bindings</a:t>
            </a:r>
          </a:p>
        </p:txBody>
      </p:sp>
      <p:sp>
        <p:nvSpPr>
          <p:cNvPr id="33" name="Text 31"/>
          <p:cNvSpPr/>
          <p:nvPr/>
        </p:nvSpPr>
        <p:spPr>
          <a:xfrm>
            <a:off x="6386399" y="2902680"/>
            <a:ext cx="533412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cbindgen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- Generowanie C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headers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04960" y="3447000"/>
            <a:ext cx="57150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3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Zastosowania</a:t>
            </a:r>
          </a:p>
        </p:txBody>
      </p:sp>
      <p:sp>
        <p:nvSpPr>
          <p:cNvPr id="35" name="Shape 33"/>
          <p:cNvSpPr/>
          <p:nvPr/>
        </p:nvSpPr>
        <p:spPr>
          <a:xfrm>
            <a:off x="6222959" y="3809880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22959" y="380988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50040" y="388260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Gry i grafika</a:t>
            </a:r>
          </a:p>
        </p:txBody>
      </p:sp>
      <p:sp>
        <p:nvSpPr>
          <p:cNvPr id="38" name="Text 36"/>
          <p:cNvSpPr/>
          <p:nvPr/>
        </p:nvSpPr>
        <p:spPr>
          <a:xfrm>
            <a:off x="6350040" y="413640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Silniki gier, renderowanie</a:t>
            </a:r>
          </a:p>
        </p:txBody>
      </p:sp>
      <p:sp>
        <p:nvSpPr>
          <p:cNvPr id="39" name="Shape 37"/>
          <p:cNvSpPr/>
          <p:nvPr/>
        </p:nvSpPr>
        <p:spPr>
          <a:xfrm>
            <a:off x="6222959" y="4426920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22959" y="442692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50040" y="449928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Kryptografia</a:t>
            </a:r>
          </a:p>
        </p:txBody>
      </p:sp>
      <p:sp>
        <p:nvSpPr>
          <p:cNvPr id="42" name="Text 40"/>
          <p:cNvSpPr/>
          <p:nvPr/>
        </p:nvSpPr>
        <p:spPr>
          <a:xfrm>
            <a:off x="6350040" y="475308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Bezpieczne operacje kryptograficzne</a:t>
            </a:r>
          </a:p>
        </p:txBody>
      </p:sp>
      <p:sp>
        <p:nvSpPr>
          <p:cNvPr id="43" name="Shape 41"/>
          <p:cNvSpPr/>
          <p:nvPr/>
        </p:nvSpPr>
        <p:spPr>
          <a:xfrm>
            <a:off x="6222959" y="5043600"/>
            <a:ext cx="560628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5606143"/>
              <a:gd name="f4" fmla="val 544286"/>
              <a:gd name="f5" fmla="*/ f0 1 5606143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06143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06143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22959" y="5043600"/>
            <a:ext cx="36360" cy="5443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544286"/>
              <a:gd name="f5" fmla="*/ f0 1 36286"/>
              <a:gd name="f6" fmla="*/ f1 1 54428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54428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54428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50040" y="5116320"/>
            <a:ext cx="5551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Niskopoziomowy dostęp</a:t>
            </a:r>
          </a:p>
        </p:txBody>
      </p:sp>
      <p:sp>
        <p:nvSpPr>
          <p:cNvPr id="46" name="Text 44"/>
          <p:cNvSpPr/>
          <p:nvPr/>
        </p:nvSpPr>
        <p:spPr>
          <a:xfrm>
            <a:off x="6350040" y="5370120"/>
            <a:ext cx="5542560" cy="181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System calls, hardware access</a:t>
            </a:r>
          </a:p>
        </p:txBody>
      </p:sp>
      <p:sp>
        <p:nvSpPr>
          <p:cNvPr id="47" name="Shape 45"/>
          <p:cNvSpPr/>
          <p:nvPr/>
        </p:nvSpPr>
        <p:spPr>
          <a:xfrm>
            <a:off x="6222959" y="5768999"/>
            <a:ext cx="36360" cy="762120"/>
          </a:xfrm>
          <a:custGeom>
            <a:avLst/>
            <a:gdLst>
              <a:gd name="f0" fmla="val w"/>
              <a:gd name="f1" fmla="val h"/>
              <a:gd name="f2" fmla="val 0"/>
              <a:gd name="f3" fmla="val 36286"/>
              <a:gd name="f4" fmla="val 762000"/>
              <a:gd name="f5" fmla="*/ f0 1 36286"/>
              <a:gd name="f6" fmla="*/ f1 1 762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286"/>
              <a:gd name="f13" fmla="*/ f10 1 762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286" h="762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86399" y="5842079"/>
            <a:ext cx="552456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Wzorzec "twinning"</a:t>
            </a:r>
          </a:p>
        </p:txBody>
      </p:sp>
      <p:sp>
        <p:nvSpPr>
          <p:cNvPr id="49" name="Text 47"/>
          <p:cNvSpPr/>
          <p:nvPr/>
        </p:nvSpPr>
        <p:spPr>
          <a:xfrm>
            <a:off x="6386399" y="6168600"/>
            <a:ext cx="5515560" cy="217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15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Każda klasa JVM/Swift ma odpowiednik w Rust połączony przez FFI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920" y="367920"/>
            <a:ext cx="1152072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10" b="0" i="0" u="none" strike="noStrike" kern="0" cap="none" spc="51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10.2. </a:t>
            </a:r>
            <a:r>
              <a:rPr lang="pl-PL" sz="1010" b="0" i="0" u="none" strike="noStrike" kern="0" cap="none" spc="51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GOMOBILE</a:t>
            </a:r>
          </a:p>
        </p:txBody>
      </p:sp>
      <p:sp>
        <p:nvSpPr>
          <p:cNvPr id="3" name="Text 1"/>
          <p:cNvSpPr/>
          <p:nvPr/>
        </p:nvSpPr>
        <p:spPr>
          <a:xfrm>
            <a:off x="367920" y="625320"/>
            <a:ext cx="6693280" cy="367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err="1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Gomobile</a:t>
            </a:r>
            <a:r>
              <a:rPr lang="pl-PL" sz="28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</a:t>
            </a:r>
            <a:r>
              <a:rPr lang="pl-PL" sz="2800" b="1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80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 na urządzenia mobilne</a:t>
            </a:r>
          </a:p>
        </p:txBody>
      </p:sp>
      <p:sp>
        <p:nvSpPr>
          <p:cNvPr id="4" name="Text 2"/>
          <p:cNvSpPr/>
          <p:nvPr/>
        </p:nvSpPr>
        <p:spPr>
          <a:xfrm>
            <a:off x="367920" y="1176840"/>
            <a:ext cx="3205860" cy="294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</a:t>
            </a: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gomobile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?</a:t>
            </a:r>
          </a:p>
        </p:txBody>
      </p:sp>
      <p:sp>
        <p:nvSpPr>
          <p:cNvPr id="5" name="Text 3"/>
          <p:cNvSpPr/>
          <p:nvPr/>
        </p:nvSpPr>
        <p:spPr>
          <a:xfrm>
            <a:off x="367920" y="1581480"/>
            <a:ext cx="6502779" cy="982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 sz="1400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gomobile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narzędzie Go do kompilacji aplikacji na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Android i 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iOS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Umożliwia pisanie aplikacji całkowicie w Go lub tworzenie bibliotek do użycia w natywnych aplikacjach. Dwie strategie: 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all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-Go native 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apps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lub 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SDK </a:t>
            </a: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applications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z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bindings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.</a:t>
            </a:r>
          </a:p>
        </p:txBody>
      </p:sp>
      <p:sp>
        <p:nvSpPr>
          <p:cNvPr id="6" name="Shape 5"/>
          <p:cNvSpPr/>
          <p:nvPr/>
        </p:nvSpPr>
        <p:spPr>
          <a:xfrm>
            <a:off x="375119" y="2886479"/>
            <a:ext cx="6686081" cy="2012040"/>
          </a:xfrm>
          <a:custGeom>
            <a:avLst/>
            <a:gdLst>
              <a:gd name="f0" fmla="val w"/>
              <a:gd name="f1" fmla="val h"/>
              <a:gd name="f2" fmla="val 0"/>
              <a:gd name="f3" fmla="val 6772720"/>
              <a:gd name="f4" fmla="val 2478856"/>
              <a:gd name="f5" fmla="*/ f0 1 6772720"/>
              <a:gd name="f6" fmla="*/ f1 1 2478856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6772720"/>
              <a:gd name="f13" fmla="*/ f10 1 2478856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6772720" h="2478856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6"/>
          <p:cNvSpPr/>
          <p:nvPr/>
        </p:nvSpPr>
        <p:spPr>
          <a:xfrm>
            <a:off x="529560" y="2979654"/>
            <a:ext cx="2710440" cy="2206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Instalacja i użycie</a:t>
            </a:r>
          </a:p>
        </p:txBody>
      </p:sp>
      <p:sp>
        <p:nvSpPr>
          <p:cNvPr id="8" name="Text 7"/>
          <p:cNvSpPr/>
          <p:nvPr/>
        </p:nvSpPr>
        <p:spPr>
          <a:xfrm>
            <a:off x="529560" y="3262680"/>
            <a:ext cx="6223320" cy="161027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latin typeface="Consolas" pitchFamily="33"/>
              </a:defRPr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00B050"/>
                </a:solidFill>
                <a:latin typeface="Consolas" pitchFamily="33"/>
                <a:ea typeface="MiSans" pitchFamily="34"/>
                <a:cs typeface="MiSans" pitchFamily="34"/>
              </a:rPr>
              <a:t># Instalacja</a:t>
            </a:r>
          </a:p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latin typeface="Consolas" pitchFamily="33"/>
              </a:defRPr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$ go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install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golang.org/x/mobile/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cmd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/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gomobile@latest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latin typeface="Consolas" pitchFamily="33"/>
              </a:defRPr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$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gomobile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init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400" b="0" i="1" u="none" strike="noStrike" kern="1200" cap="none" spc="0" baseline="0" dirty="0">
                <a:ln>
                  <a:noFill/>
                </a:ln>
                <a:solidFill>
                  <a:srgbClr val="00B050"/>
                </a:solidFill>
                <a:latin typeface="Consolas" pitchFamily="33"/>
                <a:ea typeface="MiSans" pitchFamily="34"/>
                <a:cs typeface="MiSans" pitchFamily="34"/>
              </a:rPr>
              <a:t># Budowanie APK</a:t>
            </a:r>
          </a:p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latin typeface="Consolas" pitchFamily="33"/>
              </a:defRPr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$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gomobile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build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-target=android \ golang.org/x/mobile/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example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/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basic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</a:t>
            </a:r>
            <a:r>
              <a:rPr lang="pl-PL" sz="1400" b="0" i="1" u="none" strike="noStrike" kern="1200" cap="none" spc="0" baseline="0" dirty="0">
                <a:ln>
                  <a:noFill/>
                </a:ln>
                <a:solidFill>
                  <a:srgbClr val="00B050"/>
                </a:solidFill>
                <a:latin typeface="Consolas" pitchFamily="33"/>
                <a:ea typeface="MiSans" pitchFamily="34"/>
                <a:cs typeface="MiSans" pitchFamily="34"/>
              </a:rPr>
              <a:t># Generowanie </a:t>
            </a:r>
            <a:r>
              <a:rPr lang="pl-PL" sz="1400" b="0" i="1" u="none" strike="noStrike" kern="1200" cap="none" spc="0" baseline="0" dirty="0" err="1">
                <a:ln>
                  <a:noFill/>
                </a:ln>
                <a:solidFill>
                  <a:srgbClr val="00B050"/>
                </a:solidFill>
                <a:latin typeface="Consolas" pitchFamily="33"/>
                <a:ea typeface="MiSans" pitchFamily="34"/>
                <a:cs typeface="MiSans" pitchFamily="34"/>
              </a:rPr>
              <a:t>bindings</a:t>
            </a:r>
            <a:endParaRPr lang="pl-PL" sz="1400" b="0" i="1" u="none" strike="noStrike" kern="1200" cap="none" spc="0" baseline="0" dirty="0">
              <a:ln>
                <a:noFill/>
              </a:ln>
              <a:solidFill>
                <a:srgbClr val="00B050"/>
              </a:solidFill>
              <a:latin typeface="Consolas" pitchFamily="33"/>
              <a:ea typeface="MiSans" pitchFamily="34"/>
              <a:cs typeface="MiSans" pitchFamily="34"/>
            </a:endParaRPr>
          </a:p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>
                <a:latin typeface="Consolas" pitchFamily="33"/>
              </a:defRPr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$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gomobile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 bind -target=android ./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as" pitchFamily="33"/>
                <a:ea typeface="MiSans" pitchFamily="34"/>
                <a:cs typeface="MiSans" pitchFamily="34"/>
              </a:rPr>
              <a:t>package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Consolas" pitchFamily="33"/>
              <a:ea typeface="MiSans" pitchFamily="34"/>
              <a:cs typeface="MiSans" pitchFamily="34"/>
            </a:endParaRPr>
          </a:p>
        </p:txBody>
      </p:sp>
      <p:sp>
        <p:nvSpPr>
          <p:cNvPr id="9" name="Text 8"/>
          <p:cNvSpPr/>
          <p:nvPr/>
        </p:nvSpPr>
        <p:spPr>
          <a:xfrm>
            <a:off x="367920" y="5253173"/>
            <a:ext cx="2489580" cy="257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5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Dostępne pakiety</a:t>
            </a:r>
          </a:p>
        </p:txBody>
      </p:sp>
      <p:sp>
        <p:nvSpPr>
          <p:cNvPr id="10" name="Shape 9"/>
          <p:cNvSpPr/>
          <p:nvPr/>
        </p:nvSpPr>
        <p:spPr>
          <a:xfrm>
            <a:off x="386280" y="5564520"/>
            <a:ext cx="3054339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337629"/>
              <a:gd name="f4" fmla="val 257448"/>
              <a:gd name="f5" fmla="*/ f0 1 3337629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37629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37629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386280" y="5564520"/>
            <a:ext cx="36720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6778"/>
              <a:gd name="f4" fmla="val 257448"/>
              <a:gd name="f5" fmla="*/ f0 1 36778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778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778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478080" y="5601240"/>
            <a:ext cx="276192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App</a:t>
            </a: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2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control</a:t>
            </a:r>
            <a:endParaRPr lang="pl-PL" sz="12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13" name="Shape 12"/>
          <p:cNvSpPr/>
          <p:nvPr/>
        </p:nvSpPr>
        <p:spPr>
          <a:xfrm>
            <a:off x="3816359" y="5564520"/>
            <a:ext cx="3054339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337629"/>
              <a:gd name="f4" fmla="val 257448"/>
              <a:gd name="f5" fmla="*/ f0 1 3337629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37629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37629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3816359" y="5564520"/>
            <a:ext cx="36720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6778"/>
              <a:gd name="f4" fmla="val 257448"/>
              <a:gd name="f5" fmla="*/ f0 1 36778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778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778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3908520" y="5601240"/>
            <a:ext cx="272850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OpenGL</a:t>
            </a: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ES 2/3</a:t>
            </a:r>
          </a:p>
        </p:txBody>
      </p:sp>
      <p:sp>
        <p:nvSpPr>
          <p:cNvPr id="16" name="Shape 15"/>
          <p:cNvSpPr/>
          <p:nvPr/>
        </p:nvSpPr>
        <p:spPr>
          <a:xfrm>
            <a:off x="386280" y="5895720"/>
            <a:ext cx="3054339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337629"/>
              <a:gd name="f4" fmla="val 257448"/>
              <a:gd name="f5" fmla="*/ f0 1 3337629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37629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37629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386280" y="5895720"/>
            <a:ext cx="36720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6778"/>
              <a:gd name="f4" fmla="val 257448"/>
              <a:gd name="f5" fmla="*/ f0 1 36778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778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778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478080" y="5932440"/>
            <a:ext cx="276192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Asset</a:t>
            </a: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management</a:t>
            </a:r>
          </a:p>
        </p:txBody>
      </p:sp>
      <p:sp>
        <p:nvSpPr>
          <p:cNvPr id="19" name="Shape 18"/>
          <p:cNvSpPr/>
          <p:nvPr/>
        </p:nvSpPr>
        <p:spPr>
          <a:xfrm>
            <a:off x="3816359" y="5895720"/>
            <a:ext cx="3054339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337629"/>
              <a:gd name="f4" fmla="val 257448"/>
              <a:gd name="f5" fmla="*/ f0 1 3337629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37629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37629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Shape 19"/>
          <p:cNvSpPr/>
          <p:nvPr/>
        </p:nvSpPr>
        <p:spPr>
          <a:xfrm>
            <a:off x="3816359" y="5895720"/>
            <a:ext cx="36720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6778"/>
              <a:gd name="f4" fmla="val 257448"/>
              <a:gd name="f5" fmla="*/ f0 1 36778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778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778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3908520" y="5932440"/>
            <a:ext cx="272850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Event management</a:t>
            </a:r>
          </a:p>
        </p:txBody>
      </p:sp>
      <p:sp>
        <p:nvSpPr>
          <p:cNvPr id="22" name="Shape 21"/>
          <p:cNvSpPr/>
          <p:nvPr/>
        </p:nvSpPr>
        <p:spPr>
          <a:xfrm>
            <a:off x="386280" y="6226560"/>
            <a:ext cx="3054339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337629"/>
              <a:gd name="f4" fmla="val 257448"/>
              <a:gd name="f5" fmla="*/ f0 1 3337629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37629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37629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Shape 22"/>
          <p:cNvSpPr/>
          <p:nvPr/>
        </p:nvSpPr>
        <p:spPr>
          <a:xfrm>
            <a:off x="386280" y="6226560"/>
            <a:ext cx="36720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6778"/>
              <a:gd name="f4" fmla="val 257448"/>
              <a:gd name="f5" fmla="*/ f0 1 36778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778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778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478080" y="6263280"/>
            <a:ext cx="276192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Audio</a:t>
            </a:r>
          </a:p>
        </p:txBody>
      </p:sp>
      <p:sp>
        <p:nvSpPr>
          <p:cNvPr id="25" name="Shape 24"/>
          <p:cNvSpPr/>
          <p:nvPr/>
        </p:nvSpPr>
        <p:spPr>
          <a:xfrm>
            <a:off x="3816359" y="6226560"/>
            <a:ext cx="3054339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337629"/>
              <a:gd name="f4" fmla="val 257448"/>
              <a:gd name="f5" fmla="*/ f0 1 3337629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37629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37629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6" name="Shape 25"/>
          <p:cNvSpPr/>
          <p:nvPr/>
        </p:nvSpPr>
        <p:spPr>
          <a:xfrm>
            <a:off x="3816359" y="6226560"/>
            <a:ext cx="36720" cy="257400"/>
          </a:xfrm>
          <a:custGeom>
            <a:avLst/>
            <a:gdLst>
              <a:gd name="f0" fmla="val w"/>
              <a:gd name="f1" fmla="val h"/>
              <a:gd name="f2" fmla="val 0"/>
              <a:gd name="f3" fmla="val 36778"/>
              <a:gd name="f4" fmla="val 257448"/>
              <a:gd name="f5" fmla="*/ f0 1 36778"/>
              <a:gd name="f6" fmla="*/ f1 1 257448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6778"/>
              <a:gd name="f13" fmla="*/ f10 1 257448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6778" h="257448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2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3908520" y="6263280"/>
            <a:ext cx="2728500" cy="1839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Sprite</a:t>
            </a:r>
            <a:endParaRPr lang="pl-PL" sz="12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grpSp>
        <p:nvGrpSpPr>
          <p:cNvPr id="47" name="Grupa 46"/>
          <p:cNvGrpSpPr/>
          <p:nvPr/>
        </p:nvGrpSpPr>
        <p:grpSpPr>
          <a:xfrm>
            <a:off x="7849753" y="1229155"/>
            <a:ext cx="3772683" cy="2264644"/>
            <a:chOff x="7375319" y="1229155"/>
            <a:chExt cx="4450320" cy="2264644"/>
          </a:xfrm>
        </p:grpSpPr>
        <p:sp>
          <p:nvSpPr>
            <p:cNvPr id="28" name="Shape 27"/>
            <p:cNvSpPr/>
            <p:nvPr/>
          </p:nvSpPr>
          <p:spPr>
            <a:xfrm>
              <a:off x="7375319" y="1229155"/>
              <a:ext cx="4450320" cy="226464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450172"/>
                <a:gd name="f4" fmla="val 2317032"/>
                <a:gd name="f5" fmla="*/ f0 1 4450172"/>
                <a:gd name="f6" fmla="*/ f1 1 2317032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4450172"/>
                <a:gd name="f13" fmla="*/ f10 1 2317032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4450172" h="2317032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9" name="Text 28"/>
            <p:cNvSpPr/>
            <p:nvPr/>
          </p:nvSpPr>
          <p:spPr>
            <a:xfrm>
              <a:off x="7559279" y="1360800"/>
              <a:ext cx="4174200" cy="25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FFFF00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Wymagania</a:t>
              </a:r>
            </a:p>
          </p:txBody>
        </p:sp>
        <p:sp>
          <p:nvSpPr>
            <p:cNvPr id="30" name="Text 29"/>
            <p:cNvSpPr/>
            <p:nvPr/>
          </p:nvSpPr>
          <p:spPr>
            <a:xfrm>
              <a:off x="7559279" y="1765440"/>
              <a:ext cx="4155839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Go wersja</a:t>
              </a:r>
            </a:p>
          </p:txBody>
        </p:sp>
        <p:sp>
          <p:nvSpPr>
            <p:cNvPr id="31" name="Text 30"/>
            <p:cNvSpPr/>
            <p:nvPr/>
          </p:nvSpPr>
          <p:spPr>
            <a:xfrm>
              <a:off x="7559279" y="2022840"/>
              <a:ext cx="4146840" cy="183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1.16+</a:t>
              </a:r>
            </a:p>
          </p:txBody>
        </p:sp>
        <p:sp>
          <p:nvSpPr>
            <p:cNvPr id="32" name="Text 31"/>
            <p:cNvSpPr/>
            <p:nvPr/>
          </p:nvSpPr>
          <p:spPr>
            <a:xfrm>
              <a:off x="7559279" y="2316960"/>
              <a:ext cx="4155839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macOS (iOS)</a:t>
              </a:r>
            </a:p>
          </p:txBody>
        </p:sp>
        <p:sp>
          <p:nvSpPr>
            <p:cNvPr id="33" name="Text 32"/>
            <p:cNvSpPr/>
            <p:nvPr/>
          </p:nvSpPr>
          <p:spPr>
            <a:xfrm>
              <a:off x="7559279" y="2574360"/>
              <a:ext cx="4146840" cy="183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Xcode Command Line Tools</a:t>
              </a:r>
            </a:p>
          </p:txBody>
        </p:sp>
        <p:sp>
          <p:nvSpPr>
            <p:cNvPr id="34" name="Text 33"/>
            <p:cNvSpPr/>
            <p:nvPr/>
          </p:nvSpPr>
          <p:spPr>
            <a:xfrm>
              <a:off x="7559279" y="2868840"/>
              <a:ext cx="4155839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Android</a:t>
              </a:r>
            </a:p>
          </p:txBody>
        </p:sp>
        <p:sp>
          <p:nvSpPr>
            <p:cNvPr id="35" name="Text 34"/>
            <p:cNvSpPr/>
            <p:nvPr/>
          </p:nvSpPr>
          <p:spPr>
            <a:xfrm>
              <a:off x="7559279" y="3126239"/>
              <a:ext cx="4146840" cy="1839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Android SDK, NDK</a:t>
              </a:r>
            </a:p>
          </p:txBody>
        </p:sp>
      </p:grpSp>
      <p:grpSp>
        <p:nvGrpSpPr>
          <p:cNvPr id="45" name="Grupa 44"/>
          <p:cNvGrpSpPr/>
          <p:nvPr/>
        </p:nvGrpSpPr>
        <p:grpSpPr>
          <a:xfrm>
            <a:off x="7898670" y="3641039"/>
            <a:ext cx="3227570" cy="1544760"/>
            <a:chOff x="8174442" y="3641039"/>
            <a:chExt cx="3227570" cy="1544760"/>
          </a:xfrm>
        </p:grpSpPr>
        <p:sp>
          <p:nvSpPr>
            <p:cNvPr id="36" name="Shape 35"/>
            <p:cNvSpPr/>
            <p:nvPr/>
          </p:nvSpPr>
          <p:spPr>
            <a:xfrm>
              <a:off x="8174442" y="3641039"/>
              <a:ext cx="36720" cy="15447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6778"/>
                <a:gd name="f4" fmla="val 1544688"/>
                <a:gd name="f5" fmla="*/ f0 1 36778"/>
                <a:gd name="f6" fmla="*/ f1 1 1544688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6778"/>
                <a:gd name="f13" fmla="*/ f10 1 1544688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6778" h="1544688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6B728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7" name="Text 36"/>
            <p:cNvSpPr/>
            <p:nvPr/>
          </p:nvSpPr>
          <p:spPr>
            <a:xfrm>
              <a:off x="8340041" y="3751560"/>
              <a:ext cx="3061971" cy="25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Ograniczenia</a:t>
              </a:r>
            </a:p>
          </p:txBody>
        </p:sp>
        <p:sp>
          <p:nvSpPr>
            <p:cNvPr id="38" name="Text 37"/>
            <p:cNvSpPr/>
            <p:nvPr/>
          </p:nvSpPr>
          <p:spPr>
            <a:xfrm>
              <a:off x="8340041" y="4082400"/>
              <a:ext cx="3055381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Brak natywnego UI</a:t>
              </a:r>
            </a:p>
          </p:txBody>
        </p:sp>
        <p:sp>
          <p:nvSpPr>
            <p:cNvPr id="39" name="Text 38"/>
            <p:cNvSpPr/>
            <p:nvPr/>
          </p:nvSpPr>
          <p:spPr>
            <a:xfrm>
              <a:off x="8340041" y="4339800"/>
              <a:ext cx="3055381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Ograniczone wsparcie bibliotek</a:t>
              </a:r>
            </a:p>
          </p:txBody>
        </p:sp>
        <p:sp>
          <p:nvSpPr>
            <p:cNvPr id="40" name="Text 39"/>
            <p:cNvSpPr/>
            <p:nvPr/>
          </p:nvSpPr>
          <p:spPr>
            <a:xfrm>
              <a:off x="8340041" y="4597200"/>
              <a:ext cx="3055381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Wymaga hybrydy z Kotlin/Swift</a:t>
              </a:r>
            </a:p>
          </p:txBody>
        </p:sp>
        <p:sp>
          <p:nvSpPr>
            <p:cNvPr id="41" name="Text 40"/>
            <p:cNvSpPr/>
            <p:nvPr/>
          </p:nvSpPr>
          <p:spPr>
            <a:xfrm>
              <a:off x="8340041" y="4854600"/>
              <a:ext cx="3055381" cy="2206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Większy rozmiar binarki</a:t>
              </a:r>
            </a:p>
          </p:txBody>
        </p:sp>
      </p:grpSp>
      <p:grpSp>
        <p:nvGrpSpPr>
          <p:cNvPr id="46" name="Grupa 45"/>
          <p:cNvGrpSpPr/>
          <p:nvPr/>
        </p:nvGrpSpPr>
        <p:grpSpPr>
          <a:xfrm>
            <a:off x="7898670" y="5395026"/>
            <a:ext cx="3714198" cy="992880"/>
            <a:chOff x="8174442" y="5395026"/>
            <a:chExt cx="3714198" cy="992880"/>
          </a:xfrm>
        </p:grpSpPr>
        <p:sp>
          <p:nvSpPr>
            <p:cNvPr id="42" name="Shape 41"/>
            <p:cNvSpPr/>
            <p:nvPr/>
          </p:nvSpPr>
          <p:spPr>
            <a:xfrm>
              <a:off x="8174442" y="5395026"/>
              <a:ext cx="36720" cy="9928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6778"/>
                <a:gd name="f4" fmla="val 993014"/>
                <a:gd name="f5" fmla="*/ f0 1 36778"/>
                <a:gd name="f6" fmla="*/ f1 1 993014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6778"/>
                <a:gd name="f13" fmla="*/ f10 1 993014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6778" h="99301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8B000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3" name="Text 42"/>
            <p:cNvSpPr/>
            <p:nvPr/>
          </p:nvSpPr>
          <p:spPr>
            <a:xfrm>
              <a:off x="8340041" y="5495155"/>
              <a:ext cx="3548599" cy="25740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6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Alternatywa: </a:t>
              </a:r>
              <a:r>
                <a:rPr lang="pl-PL" sz="1600" b="1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Fyne</a:t>
              </a:r>
              <a:endPara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44" name="Text 43"/>
            <p:cNvSpPr/>
            <p:nvPr/>
          </p:nvSpPr>
          <p:spPr>
            <a:xfrm>
              <a:off x="8340041" y="5825995"/>
              <a:ext cx="3540962" cy="44136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UI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toolkit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w Go dla cross-platform GUI (Windows,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macOS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, Linux, Android, iOS)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20" y="317520"/>
            <a:ext cx="1161252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880" b="0" i="0" u="none" strike="noStrike" kern="0" cap="none" spc="45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8.1. </a:t>
            </a:r>
            <a:r>
              <a:rPr lang="pl-PL" sz="880" b="0" i="0" u="none" strike="noStrike" kern="0" cap="none" spc="45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RUBYMOTION</a:t>
            </a:r>
          </a:p>
        </p:txBody>
      </p:sp>
      <p:sp>
        <p:nvSpPr>
          <p:cNvPr id="3" name="Text 1"/>
          <p:cNvSpPr/>
          <p:nvPr/>
        </p:nvSpPr>
        <p:spPr>
          <a:xfrm>
            <a:off x="317520" y="570813"/>
            <a:ext cx="5252007" cy="31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 err="1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  <a:r>
              <a:rPr lang="pl-PL" sz="2800" b="1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, </a:t>
            </a:r>
            <a:r>
              <a:rPr lang="pl-PL" sz="2800" i="0" u="none" strike="noStrike" kern="1200" cap="none" spc="0" baseline="0" dirty="0" err="1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framework</a:t>
            </a:r>
            <a:r>
              <a:rPr lang="pl-PL" sz="280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280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</a:t>
            </a:r>
            <a:endParaRPr lang="pl-PL" sz="280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7520" y="1015919"/>
            <a:ext cx="6953400" cy="254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Czym jest </a:t>
            </a: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?</a:t>
            </a:r>
          </a:p>
        </p:txBody>
      </p:sp>
      <p:sp>
        <p:nvSpPr>
          <p:cNvPr id="6" name="Text 3"/>
          <p:cNvSpPr/>
          <p:nvPr/>
        </p:nvSpPr>
        <p:spPr>
          <a:xfrm>
            <a:off x="317521" y="1784113"/>
            <a:ext cx="6561262" cy="1391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toolchain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do tworzenia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natywnych aplikacji w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8B00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dla iOS, Android i OS X. Został stworzony przez Laurent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Sansonetti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(były pracownik Apple</a:t>
            </a:r>
            <a:r>
              <a:rPr lang="pl-PL" sz="1400" b="0" i="0" u="none" strike="noStrike" kern="1200" cap="none" spc="0" baseline="0" dirty="0" smtClean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).</a:t>
            </a:r>
          </a:p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1400" b="0" i="0" u="none" strike="noStrike" kern="1200" cap="none" spc="0" baseline="0" dirty="0" smtClean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  <a:p>
            <a:pPr algn="just">
              <a:lnSpc>
                <a:spcPct val="140000"/>
              </a:lnSpc>
              <a:defRPr lang="pl-PL"/>
            </a:pP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implementuje </a:t>
            </a:r>
            <a:r>
              <a:rPr lang="pl-PL" sz="1400" b="1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zunifikowany </a:t>
            </a:r>
            <a:r>
              <a:rPr lang="pl-PL" sz="1400" b="1" dirty="0" err="1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runtime</a:t>
            </a:r>
            <a:r>
              <a:rPr lang="pl-PL" sz="1400" dirty="0" smtClean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: 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obiekty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zachowują się jak </a:t>
            </a:r>
            <a:r>
              <a:rPr lang="pl-PL" sz="1400" dirty="0" err="1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Objective</a:t>
            </a:r>
            <a:r>
              <a:rPr lang="pl-PL" sz="1400" dirty="0"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-C (iOS) lub Java (Android), eliminując potrzebę mostka.</a:t>
            </a:r>
          </a:p>
          <a:p>
            <a:pPr marL="0" marR="0" lvl="0" indent="0" algn="just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14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9" name="Text 5"/>
          <p:cNvSpPr/>
          <p:nvPr/>
        </p:nvSpPr>
        <p:spPr>
          <a:xfrm>
            <a:off x="317520" y="3457080"/>
            <a:ext cx="6937200" cy="280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Kluczowe cechy</a:t>
            </a:r>
          </a:p>
        </p:txBody>
      </p:sp>
      <p:sp>
        <p:nvSpPr>
          <p:cNvPr id="10" name="Shape 6"/>
          <p:cNvSpPr/>
          <p:nvPr/>
        </p:nvSpPr>
        <p:spPr>
          <a:xfrm>
            <a:off x="333360" y="3857400"/>
            <a:ext cx="336564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33360" y="3857400"/>
            <a:ext cx="3168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44599" y="3937320"/>
            <a:ext cx="3317759" cy="24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Kompilacja AOT</a:t>
            </a:r>
          </a:p>
        </p:txBody>
      </p:sp>
      <p:sp>
        <p:nvSpPr>
          <p:cNvPr id="13" name="Text 9"/>
          <p:cNvSpPr/>
          <p:nvPr/>
        </p:nvSpPr>
        <p:spPr>
          <a:xfrm>
            <a:off x="444599" y="4217760"/>
            <a:ext cx="3309839" cy="20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LLVM do kodu maszynowego</a:t>
            </a:r>
          </a:p>
        </p:txBody>
      </p:sp>
      <p:sp>
        <p:nvSpPr>
          <p:cNvPr id="14" name="Shape 10"/>
          <p:cNvSpPr/>
          <p:nvPr/>
        </p:nvSpPr>
        <p:spPr>
          <a:xfrm>
            <a:off x="3809880" y="3857400"/>
            <a:ext cx="336564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809880" y="3857400"/>
            <a:ext cx="3168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921120" y="3937320"/>
            <a:ext cx="3317759" cy="24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Zunifikowany runtime</a:t>
            </a:r>
          </a:p>
        </p:txBody>
      </p:sp>
      <p:sp>
        <p:nvSpPr>
          <p:cNvPr id="17" name="Text 13"/>
          <p:cNvSpPr/>
          <p:nvPr/>
        </p:nvSpPr>
        <p:spPr>
          <a:xfrm>
            <a:off x="3921120" y="4217760"/>
            <a:ext cx="3309839" cy="20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 ↔ Objective-C/Java</a:t>
            </a:r>
          </a:p>
        </p:txBody>
      </p:sp>
      <p:sp>
        <p:nvSpPr>
          <p:cNvPr id="18" name="Shape 14"/>
          <p:cNvSpPr/>
          <p:nvPr/>
        </p:nvSpPr>
        <p:spPr>
          <a:xfrm>
            <a:off x="333360" y="4618080"/>
            <a:ext cx="336564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333360" y="4618080"/>
            <a:ext cx="3168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44599" y="4698360"/>
            <a:ext cx="3317759" cy="24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Terminal workflow</a:t>
            </a:r>
          </a:p>
        </p:txBody>
      </p:sp>
      <p:sp>
        <p:nvSpPr>
          <p:cNvPr id="21" name="Text 17"/>
          <p:cNvSpPr/>
          <p:nvPr/>
        </p:nvSpPr>
        <p:spPr>
          <a:xfrm>
            <a:off x="444599" y="4978800"/>
            <a:ext cx="3309839" cy="20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Bez IDE, ulubiony edytor</a:t>
            </a:r>
          </a:p>
        </p:txBody>
      </p:sp>
      <p:sp>
        <p:nvSpPr>
          <p:cNvPr id="22" name="Shape 18"/>
          <p:cNvSpPr/>
          <p:nvPr/>
        </p:nvSpPr>
        <p:spPr>
          <a:xfrm>
            <a:off x="3809880" y="4618080"/>
            <a:ext cx="336564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365500"/>
              <a:gd name="f4" fmla="val 508000"/>
              <a:gd name="f5" fmla="*/ f0 1 336550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36550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36550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809880" y="4618080"/>
            <a:ext cx="31680" cy="64080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508000"/>
              <a:gd name="f5" fmla="*/ f0 1 31750"/>
              <a:gd name="f6" fmla="*/ f1 1 50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50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50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3921120" y="4698360"/>
            <a:ext cx="3317759" cy="2404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REPL + Debugger</a:t>
            </a:r>
          </a:p>
        </p:txBody>
      </p:sp>
      <p:sp>
        <p:nvSpPr>
          <p:cNvPr id="25" name="Text 21"/>
          <p:cNvSpPr/>
          <p:nvPr/>
        </p:nvSpPr>
        <p:spPr>
          <a:xfrm>
            <a:off x="3921120" y="4978800"/>
            <a:ext cx="3309839" cy="2001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Interaktywny development</a:t>
            </a:r>
          </a:p>
        </p:txBody>
      </p:sp>
      <p:sp>
        <p:nvSpPr>
          <p:cNvPr id="26" name="Shape 22"/>
          <p:cNvSpPr/>
          <p:nvPr/>
        </p:nvSpPr>
        <p:spPr>
          <a:xfrm>
            <a:off x="333360" y="5491817"/>
            <a:ext cx="31680" cy="88092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698500"/>
              <a:gd name="f5" fmla="*/ f0 1 31750"/>
              <a:gd name="f6" fmla="*/ f1 1 6985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6985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6985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76280" y="5612057"/>
            <a:ext cx="5093247" cy="28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Wsparcie platform</a:t>
            </a:r>
          </a:p>
        </p:txBody>
      </p:sp>
      <p:grpSp>
        <p:nvGrpSpPr>
          <p:cNvPr id="57" name="Grupa 56"/>
          <p:cNvGrpSpPr/>
          <p:nvPr/>
        </p:nvGrpSpPr>
        <p:grpSpPr>
          <a:xfrm>
            <a:off x="494854" y="5972073"/>
            <a:ext cx="1030402" cy="280080"/>
            <a:chOff x="476280" y="5900040"/>
            <a:chExt cx="1030402" cy="280080"/>
          </a:xfrm>
        </p:grpSpPr>
        <p:sp>
          <p:nvSpPr>
            <p:cNvPr id="28" name="Shape 24"/>
            <p:cNvSpPr/>
            <p:nvPr/>
          </p:nvSpPr>
          <p:spPr>
            <a:xfrm>
              <a:off x="476280" y="5900040"/>
              <a:ext cx="1030402" cy="2800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690563"/>
                <a:gd name="f4" fmla="val 222250"/>
                <a:gd name="f5" fmla="val 31751"/>
                <a:gd name="f6" fmla="val 658812"/>
                <a:gd name="f7" fmla="val 676347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690563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690563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690563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6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29" name="Text 25"/>
            <p:cNvSpPr/>
            <p:nvPr/>
          </p:nvSpPr>
          <p:spPr>
            <a:xfrm>
              <a:off x="517843" y="5900040"/>
              <a:ext cx="988839" cy="2800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iOS 5.0-9.1</a:t>
              </a:r>
            </a:p>
          </p:txBody>
        </p:sp>
      </p:grpSp>
      <p:grpSp>
        <p:nvGrpSpPr>
          <p:cNvPr id="58" name="Grupa 57"/>
          <p:cNvGrpSpPr/>
          <p:nvPr/>
        </p:nvGrpSpPr>
        <p:grpSpPr>
          <a:xfrm>
            <a:off x="1655070" y="5972777"/>
            <a:ext cx="1374915" cy="280080"/>
            <a:chOff x="1229039" y="5900040"/>
            <a:chExt cx="1374915" cy="280080"/>
          </a:xfrm>
        </p:grpSpPr>
        <p:sp>
          <p:nvSpPr>
            <p:cNvPr id="30" name="Shape 26"/>
            <p:cNvSpPr/>
            <p:nvPr/>
          </p:nvSpPr>
          <p:spPr>
            <a:xfrm>
              <a:off x="1229039" y="5900040"/>
              <a:ext cx="1374915" cy="2800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36625"/>
                <a:gd name="f4" fmla="val 222250"/>
                <a:gd name="f5" fmla="val 31751"/>
                <a:gd name="f6" fmla="val 904874"/>
                <a:gd name="f7" fmla="val 92241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3662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3662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3662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6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291386" y="5900040"/>
              <a:ext cx="1261910" cy="2800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Android 3.2-6.0</a:t>
              </a:r>
            </a:p>
          </p:txBody>
        </p:sp>
      </p:grpSp>
      <p:grpSp>
        <p:nvGrpSpPr>
          <p:cNvPr id="55" name="Grupa 54"/>
          <p:cNvGrpSpPr/>
          <p:nvPr/>
        </p:nvGrpSpPr>
        <p:grpSpPr>
          <a:xfrm>
            <a:off x="3153149" y="5972777"/>
            <a:ext cx="1397913" cy="294087"/>
            <a:chOff x="2404997" y="5900040"/>
            <a:chExt cx="1397913" cy="294087"/>
          </a:xfrm>
        </p:grpSpPr>
        <p:sp>
          <p:nvSpPr>
            <p:cNvPr id="32" name="Shape 28"/>
            <p:cNvSpPr/>
            <p:nvPr/>
          </p:nvSpPr>
          <p:spPr>
            <a:xfrm>
              <a:off x="2404997" y="5914047"/>
              <a:ext cx="1397913" cy="2800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04875"/>
                <a:gd name="f4" fmla="val 222250"/>
                <a:gd name="f5" fmla="val 31751"/>
                <a:gd name="f6" fmla="val 873124"/>
                <a:gd name="f7" fmla="val 89066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90487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90487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90487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6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3" name="Text 29"/>
            <p:cNvSpPr/>
            <p:nvPr/>
          </p:nvSpPr>
          <p:spPr>
            <a:xfrm>
              <a:off x="2490950" y="5900040"/>
              <a:ext cx="1208050" cy="2800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ARM 32/64-bit</a:t>
              </a:r>
            </a:p>
          </p:txBody>
        </p:sp>
      </p:grpSp>
      <p:grpSp>
        <p:nvGrpSpPr>
          <p:cNvPr id="56" name="Grupa 55"/>
          <p:cNvGrpSpPr/>
          <p:nvPr/>
        </p:nvGrpSpPr>
        <p:grpSpPr>
          <a:xfrm>
            <a:off x="4612133" y="5972777"/>
            <a:ext cx="790090" cy="280080"/>
            <a:chOff x="3863981" y="5900040"/>
            <a:chExt cx="790090" cy="280080"/>
          </a:xfrm>
        </p:grpSpPr>
        <p:sp>
          <p:nvSpPr>
            <p:cNvPr id="34" name="Shape 30"/>
            <p:cNvSpPr/>
            <p:nvPr/>
          </p:nvSpPr>
          <p:spPr>
            <a:xfrm>
              <a:off x="3863981" y="5900040"/>
              <a:ext cx="790090" cy="2800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60375"/>
                <a:gd name="f4" fmla="val 222250"/>
                <a:gd name="f5" fmla="val 31751"/>
                <a:gd name="f6" fmla="val 428624"/>
                <a:gd name="f7" fmla="val 446160"/>
                <a:gd name="f8" fmla="val 14215"/>
                <a:gd name="f9" fmla="val 190499"/>
                <a:gd name="f10" fmla="val 208035"/>
                <a:gd name="f11" fmla="val 14227"/>
                <a:gd name="f12" fmla="val 208023"/>
                <a:gd name="f13" fmla="*/ f0 1 460375"/>
                <a:gd name="f14" fmla="*/ f1 1 222250"/>
                <a:gd name="f15" fmla="val f2"/>
                <a:gd name="f16" fmla="val f3"/>
                <a:gd name="f17" fmla="val f4"/>
                <a:gd name="f18" fmla="+- f17 0 f15"/>
                <a:gd name="f19" fmla="+- f16 0 f15"/>
                <a:gd name="f20" fmla="*/ f19 1 460375"/>
                <a:gd name="f21" fmla="*/ f18 1 222250"/>
                <a:gd name="f22" fmla="*/ f15 1 f20"/>
                <a:gd name="f23" fmla="*/ f16 1 f20"/>
                <a:gd name="f24" fmla="*/ f15 1 f21"/>
                <a:gd name="f25" fmla="*/ f17 1 f21"/>
                <a:gd name="f26" fmla="*/ f22 f13 1"/>
                <a:gd name="f27" fmla="*/ f23 f13 1"/>
                <a:gd name="f28" fmla="*/ f25 f14 1"/>
                <a:gd name="f29" fmla="*/ f24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6" t="f29" r="f27" b="f28"/>
              <a:pathLst>
                <a:path w="460375" h="222250">
                  <a:moveTo>
                    <a:pt x="f5" y="f2"/>
                  </a:moveTo>
                  <a:lnTo>
                    <a:pt x="f6" y="f2"/>
                  </a:lnTo>
                  <a:cubicBezTo>
                    <a:pt x="f7" y="f2"/>
                    <a:pt x="f3" y="f8"/>
                    <a:pt x="f3" y="f5"/>
                  </a:cubicBezTo>
                  <a:lnTo>
                    <a:pt x="f3" y="f9"/>
                  </a:lnTo>
                  <a:cubicBezTo>
                    <a:pt x="f3" y="f10"/>
                    <a:pt x="f7" y="f4"/>
                    <a:pt x="f6" y="f4"/>
                  </a:cubicBezTo>
                  <a:lnTo>
                    <a:pt x="f5" y="f4"/>
                  </a:lnTo>
                  <a:cubicBezTo>
                    <a:pt x="f11" y="f4"/>
                    <a:pt x="f2" y="f12"/>
                    <a:pt x="f2" y="f9"/>
                  </a:cubicBezTo>
                  <a:lnTo>
                    <a:pt x="f2" y="f5"/>
                  </a:lnTo>
                  <a:cubicBezTo>
                    <a:pt x="f2" y="f11"/>
                    <a:pt x="f11" y="f2"/>
                    <a:pt x="f5" y="f2"/>
                  </a:cubicBez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6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5" name="Text 31"/>
            <p:cNvSpPr/>
            <p:nvPr/>
          </p:nvSpPr>
          <p:spPr>
            <a:xfrm>
              <a:off x="3863982" y="5900040"/>
              <a:ext cx="666926" cy="28008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95400" tIns="31680" rIns="95400" bIns="3168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2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OS X</a:t>
              </a:r>
            </a:p>
          </p:txBody>
        </p:sp>
      </p:grpSp>
      <p:sp>
        <p:nvSpPr>
          <p:cNvPr id="36" name="Shape 32"/>
          <p:cNvSpPr/>
          <p:nvPr/>
        </p:nvSpPr>
        <p:spPr>
          <a:xfrm>
            <a:off x="7365959" y="1015919"/>
            <a:ext cx="4508640" cy="2698920"/>
          </a:xfrm>
          <a:custGeom>
            <a:avLst/>
            <a:gdLst>
              <a:gd name="f0" fmla="val w"/>
              <a:gd name="f1" fmla="val h"/>
              <a:gd name="f2" fmla="val 0"/>
              <a:gd name="f3" fmla="val 4508500"/>
              <a:gd name="f4" fmla="val 2698750"/>
              <a:gd name="f5" fmla="*/ f0 1 4508500"/>
              <a:gd name="f6" fmla="*/ f1 1 269875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508500"/>
              <a:gd name="f13" fmla="*/ f10 1 269875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508500" h="269875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1F2937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7524719" y="1174680"/>
            <a:ext cx="427032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C5C5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Specyfikacja</a:t>
            </a:r>
          </a:p>
        </p:txBody>
      </p:sp>
      <p:sp>
        <p:nvSpPr>
          <p:cNvPr id="38" name="Text 34"/>
          <p:cNvSpPr/>
          <p:nvPr/>
        </p:nvSpPr>
        <p:spPr>
          <a:xfrm>
            <a:off x="7524719" y="1529001"/>
            <a:ext cx="1494590" cy="17883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Rozmiar aplikacji</a:t>
            </a:r>
          </a:p>
        </p:txBody>
      </p:sp>
      <p:sp>
        <p:nvSpPr>
          <p:cNvPr id="39" name="Text 35"/>
          <p:cNvSpPr/>
          <p:nvPr/>
        </p:nvSpPr>
        <p:spPr>
          <a:xfrm>
            <a:off x="10931236" y="1523879"/>
            <a:ext cx="864163" cy="3214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C5C5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&lt;1MB</a:t>
            </a:r>
          </a:p>
        </p:txBody>
      </p:sp>
      <p:sp>
        <p:nvSpPr>
          <p:cNvPr id="40" name="Text 36"/>
          <p:cNvSpPr/>
          <p:nvPr/>
        </p:nvSpPr>
        <p:spPr>
          <a:xfrm>
            <a:off x="7524719" y="1778040"/>
            <a:ext cx="424656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Typowa aplikacja</a:t>
            </a:r>
          </a:p>
        </p:txBody>
      </p:sp>
      <p:sp>
        <p:nvSpPr>
          <p:cNvPr id="41" name="Text 37"/>
          <p:cNvSpPr/>
          <p:nvPr/>
        </p:nvSpPr>
        <p:spPr>
          <a:xfrm>
            <a:off x="7524719" y="2089080"/>
            <a:ext cx="20152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Zarządzanie pamięcią</a:t>
            </a:r>
          </a:p>
        </p:txBody>
      </p:sp>
      <p:sp>
        <p:nvSpPr>
          <p:cNvPr id="42" name="Text 38"/>
          <p:cNvSpPr/>
          <p:nvPr/>
        </p:nvSpPr>
        <p:spPr>
          <a:xfrm>
            <a:off x="10661073" y="2063880"/>
            <a:ext cx="1131447" cy="242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C5C5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ARC-</a:t>
            </a:r>
            <a:r>
              <a:rPr lang="pl-PL" sz="1600" b="1" i="0" u="none" strike="noStrike" kern="1200" cap="none" spc="0" baseline="0" dirty="0" err="1">
                <a:ln>
                  <a:noFill/>
                </a:ln>
                <a:solidFill>
                  <a:srgbClr val="FFC5C5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like</a:t>
            </a:r>
            <a:endParaRPr lang="pl-PL" sz="1600" b="1" i="0" u="none" strike="noStrike" kern="1200" cap="none" spc="0" baseline="0" dirty="0">
              <a:ln>
                <a:noFill/>
              </a:ln>
              <a:solidFill>
                <a:srgbClr val="FFC5C5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7524719" y="2317680"/>
            <a:ext cx="424656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Automatyczne (iOS/OS X)</a:t>
            </a:r>
          </a:p>
        </p:txBody>
      </p:sp>
      <p:sp>
        <p:nvSpPr>
          <p:cNvPr id="44" name="Text 40"/>
          <p:cNvSpPr/>
          <p:nvPr/>
        </p:nvSpPr>
        <p:spPr>
          <a:xfrm>
            <a:off x="7524719" y="2628720"/>
            <a:ext cx="18352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Garbage Collector</a:t>
            </a:r>
          </a:p>
        </p:txBody>
      </p:sp>
      <p:sp>
        <p:nvSpPr>
          <p:cNvPr id="45" name="Text 41"/>
          <p:cNvSpPr/>
          <p:nvPr/>
        </p:nvSpPr>
        <p:spPr>
          <a:xfrm>
            <a:off x="10848109" y="2603520"/>
            <a:ext cx="944411" cy="253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FFC5C5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Java GC</a:t>
            </a:r>
          </a:p>
        </p:txBody>
      </p:sp>
      <p:sp>
        <p:nvSpPr>
          <p:cNvPr id="46" name="Text 42"/>
          <p:cNvSpPr/>
          <p:nvPr/>
        </p:nvSpPr>
        <p:spPr>
          <a:xfrm>
            <a:off x="7524719" y="2857680"/>
            <a:ext cx="424656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Dla Android</a:t>
            </a:r>
          </a:p>
        </p:txBody>
      </p:sp>
      <p:sp>
        <p:nvSpPr>
          <p:cNvPr id="47" name="Text 43"/>
          <p:cNvSpPr/>
          <p:nvPr/>
        </p:nvSpPr>
        <p:spPr>
          <a:xfrm>
            <a:off x="7524719" y="3175198"/>
            <a:ext cx="1743972" cy="19008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CocoaPods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11593080" y="3143159"/>
            <a:ext cx="198360" cy="222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zh-CN" sz="1600" b="1" i="0" u="none" strike="noStrike" kern="1200" cap="none" spc="0" baseline="0" dirty="0">
                <a:ln>
                  <a:noFill/>
                </a:ln>
                <a:solidFill>
                  <a:srgbClr val="FFC5C5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✓</a:t>
            </a:r>
          </a:p>
        </p:txBody>
      </p:sp>
      <p:sp>
        <p:nvSpPr>
          <p:cNvPr id="49" name="Text 45"/>
          <p:cNvSpPr/>
          <p:nvPr/>
        </p:nvSpPr>
        <p:spPr>
          <a:xfrm>
            <a:off x="7524719" y="3397320"/>
            <a:ext cx="4246560" cy="15876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 wsparcie (iOS)</a:t>
            </a:r>
          </a:p>
        </p:txBody>
      </p:sp>
      <p:sp>
        <p:nvSpPr>
          <p:cNvPr id="50" name="Shape 46"/>
          <p:cNvSpPr/>
          <p:nvPr/>
        </p:nvSpPr>
        <p:spPr>
          <a:xfrm>
            <a:off x="7372440" y="3848040"/>
            <a:ext cx="4497480" cy="2091960"/>
          </a:xfrm>
          <a:custGeom>
            <a:avLst/>
            <a:gdLst>
              <a:gd name="f0" fmla="val w"/>
              <a:gd name="f1" fmla="val h"/>
              <a:gd name="f2" fmla="val 0"/>
              <a:gd name="f3" fmla="val 4497387"/>
              <a:gd name="f4" fmla="val 2790825"/>
              <a:gd name="f5" fmla="*/ f0 1 4497387"/>
              <a:gd name="f6" fmla="*/ f1 1 2790825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497387"/>
              <a:gd name="f13" fmla="*/ f10 1 2790825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497387" h="279082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7505640" y="3895119"/>
            <a:ext cx="429408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Przykładowy kod</a:t>
            </a:r>
          </a:p>
        </p:txBody>
      </p:sp>
      <p:sp>
        <p:nvSpPr>
          <p:cNvPr id="52" name="Text 48"/>
          <p:cNvSpPr/>
          <p:nvPr/>
        </p:nvSpPr>
        <p:spPr>
          <a:xfrm>
            <a:off x="7469640" y="4217760"/>
            <a:ext cx="4364280" cy="168157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0">
            <a:noAutofit/>
          </a:bodyPr>
          <a:lstStyle/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class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AppDelegate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Console" pitchFamily="18"/>
              <a:ea typeface="MiSans" pitchFamily="34"/>
              <a:cs typeface="MiSans" pitchFamily="34"/>
            </a:endParaRP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 def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application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(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application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,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didFinishLaunchingWithOptions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: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options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)</a:t>
            </a: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   @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window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=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UIWindow.alloc.initWithFrame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(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UIScreen.mainScreen.bounds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)</a:t>
            </a: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   @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window.rootViewController</a:t>
            </a: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=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UIViewController.alloc.init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Console" pitchFamily="18"/>
              <a:ea typeface="MiSans" pitchFamily="34"/>
              <a:cs typeface="MiSans" pitchFamily="34"/>
            </a:endParaRP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   @</a:t>
            </a:r>
            <a:r>
              <a:rPr lang="pl-PL" sz="1200" b="0" i="0" u="none" strike="noStrike" kern="1200" cap="none" spc="0" baseline="0" dirty="0" err="1" smtClean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window.makeKeyAndVisible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Console" pitchFamily="18"/>
              <a:ea typeface="MiSans" pitchFamily="34"/>
              <a:cs typeface="MiSans" pitchFamily="34"/>
            </a:endParaRP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   </a:t>
            </a:r>
            <a:r>
              <a:rPr lang="pl-PL" sz="12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true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Console" pitchFamily="18"/>
              <a:ea typeface="MiSans" pitchFamily="34"/>
              <a:cs typeface="MiSans" pitchFamily="34"/>
            </a:endParaRP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  end</a:t>
            </a:r>
          </a:p>
          <a:p>
            <a:pPr marL="0" marR="0" lvl="0" indent="0" rtl="0" hangingPunct="0">
              <a:lnSpc>
                <a:spcPts val="1276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>
                <a:latin typeface="Console"/>
                <a:ea typeface="Console"/>
                <a:cs typeface="Console"/>
              </a:defRPr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Console" pitchFamily="18"/>
                <a:ea typeface="MiSans" pitchFamily="34"/>
                <a:cs typeface="MiSans" pitchFamily="34"/>
              </a:rPr>
              <a:t>end</a:t>
            </a:r>
          </a:p>
        </p:txBody>
      </p:sp>
      <p:sp>
        <p:nvSpPr>
          <p:cNvPr id="53" name="Shape 49"/>
          <p:cNvSpPr/>
          <p:nvPr/>
        </p:nvSpPr>
        <p:spPr>
          <a:xfrm>
            <a:off x="7380000" y="6198203"/>
            <a:ext cx="31680" cy="380880"/>
          </a:xfrm>
          <a:custGeom>
            <a:avLst/>
            <a:gdLst>
              <a:gd name="f0" fmla="val w"/>
              <a:gd name="f1" fmla="val h"/>
              <a:gd name="f2" fmla="val 0"/>
              <a:gd name="f3" fmla="val 31750"/>
              <a:gd name="f4" fmla="val 381000"/>
              <a:gd name="f5" fmla="*/ f0 1 31750"/>
              <a:gd name="f6" fmla="*/ f1 1 381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1750"/>
              <a:gd name="f13" fmla="*/ f10 1 381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1750" h="381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7522920" y="6158519"/>
            <a:ext cx="4413240" cy="46048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RubyMotion</a:t>
            </a:r>
            <a:r>
              <a:rPr lang="pl-PL" sz="14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Starter: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Darmowa wersja ze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splash</a:t>
            </a: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screenem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90000"/>
                </a:srgbClr>
              </a:gs>
              <a:gs pos="50000">
                <a:srgbClr val="1F2937"/>
              </a:gs>
              <a:gs pos="100000">
                <a:srgbClr val="1F2937">
                  <a:alpha val="90000"/>
                </a:srgbClr>
              </a:gs>
            </a:gsLst>
            <a:lin ang="486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0880" y="1924200"/>
            <a:ext cx="2248020" cy="9144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7200" b="1" i="0" u="none" strike="noStrike" kern="1200" cap="none" spc="0" baseline="0" dirty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11</a:t>
            </a:r>
          </a:p>
        </p:txBody>
      </p:sp>
      <p:sp>
        <p:nvSpPr>
          <p:cNvPr id="4" name="Text 2"/>
          <p:cNvSpPr/>
          <p:nvPr/>
        </p:nvSpPr>
        <p:spPr>
          <a:xfrm>
            <a:off x="380880" y="2990880"/>
            <a:ext cx="11658600" cy="11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400" b="1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Podsumowanie i </a:t>
            </a:r>
            <a:r>
              <a:rPr lang="pl-PL" sz="44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wnioski</a:t>
            </a:r>
          </a:p>
        </p:txBody>
      </p:sp>
      <p:sp>
        <p:nvSpPr>
          <p:cNvPr id="5" name="Shape 3"/>
          <p:cNvSpPr/>
          <p:nvPr/>
        </p:nvSpPr>
        <p:spPr>
          <a:xfrm>
            <a:off x="380880" y="4362479"/>
            <a:ext cx="1219320" cy="38160"/>
          </a:xfrm>
          <a:custGeom>
            <a:avLst/>
            <a:gdLst>
              <a:gd name="f0" fmla="val w"/>
              <a:gd name="f1" fmla="val h"/>
              <a:gd name="f2" fmla="val 0"/>
              <a:gd name="f3" fmla="val 1219200"/>
              <a:gd name="f4" fmla="val 38100"/>
              <a:gd name="f5" fmla="*/ f0 1 12192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0880" y="4629240"/>
            <a:ext cx="11544480" cy="3049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800" b="0" i="0" u="none" strike="noStrike" kern="1200" cap="none" spc="0" baseline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Rekomendacje i trendy przyszłościowe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880" y="380880"/>
            <a:ext cx="11496600" cy="1904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050" b="0" i="0" u="none" strike="noStrike" kern="0" cap="none" spc="54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11.1 PORÓWNANIE</a:t>
            </a:r>
          </a:p>
        </p:txBody>
      </p:sp>
      <p:sp>
        <p:nvSpPr>
          <p:cNvPr id="3" name="Text 1"/>
          <p:cNvSpPr/>
          <p:nvPr/>
        </p:nvSpPr>
        <p:spPr>
          <a:xfrm>
            <a:off x="380880" y="647640"/>
            <a:ext cx="11601360" cy="3808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Porównanie wszystkich technologii</a:t>
            </a:r>
          </a:p>
        </p:txBody>
      </p:sp>
      <p:sp>
        <p:nvSpPr>
          <p:cNvPr id="4" name="Shape 2"/>
          <p:cNvSpPr/>
          <p:nvPr/>
        </p:nvSpPr>
        <p:spPr>
          <a:xfrm>
            <a:off x="388800" y="1226880"/>
            <a:ext cx="11408760" cy="4173120"/>
          </a:xfrm>
          <a:custGeom>
            <a:avLst/>
            <a:gdLst>
              <a:gd name="f0" fmla="val w"/>
              <a:gd name="f1" fmla="val h"/>
              <a:gd name="f2" fmla="val 0"/>
              <a:gd name="f3" fmla="val 11416665"/>
              <a:gd name="f4" fmla="val 3501390"/>
              <a:gd name="f5" fmla="*/ f0 1 11416665"/>
              <a:gd name="f6" fmla="*/ f1 1 350139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1416665"/>
              <a:gd name="f13" fmla="*/ f10 1 350139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1416665" h="350139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160" cap="flat">
            <a:solidFill>
              <a:srgbClr val="1F2937"/>
            </a:solidFill>
            <a:prstDash val="solid"/>
            <a:miter/>
          </a:ln>
        </p:spPr>
        <p:txBody>
          <a:bodyPr vert="horz" wrap="square" lIns="100080" tIns="55080" rIns="100080" bIns="5508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103709"/>
              </p:ext>
            </p:extLst>
          </p:nvPr>
        </p:nvGraphicFramePr>
        <p:xfrm>
          <a:off x="396360" y="1234440"/>
          <a:ext cx="11401559" cy="4165560"/>
        </p:xfrm>
        <a:graphic>
          <a:graphicData uri="http://schemas.openxmlformats.org/drawingml/2006/table">
            <a:tbl>
              <a:tblPr firstRow="1" firstCol="1">
                <a:tableStyleId>{E8034E78-7F5D-4C2E-B375-FC64B27BC917}</a:tableStyleId>
              </a:tblPr>
              <a:tblGrid>
                <a:gridCol w="2440358">
                  <a:extLst>
                    <a:ext uri="{9D8B030D-6E8A-4147-A177-3AD203B41FA5}">
                      <a16:colId xmlns:a16="http://schemas.microsoft.com/office/drawing/2014/main" val="2617879934"/>
                    </a:ext>
                  </a:extLst>
                </a:gridCol>
                <a:gridCol w="1641764">
                  <a:extLst>
                    <a:ext uri="{9D8B030D-6E8A-4147-A177-3AD203B41FA5}">
                      <a16:colId xmlns:a16="http://schemas.microsoft.com/office/drawing/2014/main" val="4021200115"/>
                    </a:ext>
                  </a:extLst>
                </a:gridCol>
                <a:gridCol w="1423554">
                  <a:extLst>
                    <a:ext uri="{9D8B030D-6E8A-4147-A177-3AD203B41FA5}">
                      <a16:colId xmlns:a16="http://schemas.microsoft.com/office/drawing/2014/main" val="1742832494"/>
                    </a:ext>
                  </a:extLst>
                </a:gridCol>
                <a:gridCol w="1580923">
                  <a:extLst>
                    <a:ext uri="{9D8B030D-6E8A-4147-A177-3AD203B41FA5}">
                      <a16:colId xmlns:a16="http://schemas.microsoft.com/office/drawing/2014/main" val="101604051"/>
                    </a:ext>
                  </a:extLst>
                </a:gridCol>
                <a:gridCol w="1577914">
                  <a:extLst>
                    <a:ext uri="{9D8B030D-6E8A-4147-A177-3AD203B41FA5}">
                      <a16:colId xmlns:a16="http://schemas.microsoft.com/office/drawing/2014/main" val="2386934605"/>
                    </a:ext>
                  </a:extLst>
                </a:gridCol>
                <a:gridCol w="2737046">
                  <a:extLst>
                    <a:ext uri="{9D8B030D-6E8A-4147-A177-3AD203B41FA5}">
                      <a16:colId xmlns:a16="http://schemas.microsoft.com/office/drawing/2014/main" val="771122213"/>
                    </a:ext>
                  </a:extLst>
                </a:gridCol>
              </a:tblGrid>
              <a:tr h="41652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pl-PL" sz="1800" u="none" strike="noStrike" kern="1200" cap="none" dirty="0">
                          <a:ln>
                            <a:noFill/>
                          </a:ln>
                        </a:rPr>
                        <a:t>Technologia</a:t>
                      </a:r>
                      <a:endParaRPr lang="pl-PL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</a:rPr>
                        <a:t>Język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</a:rPr>
                        <a:t>Wydajność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pl-PL" sz="1800" u="none" strike="noStrike" kern="1200" cap="none" dirty="0" smtClean="0">
                          <a:ln>
                            <a:noFill/>
                          </a:ln>
                        </a:rPr>
                        <a:t>K</a:t>
                      </a:r>
                      <a:r>
                        <a:rPr lang="en-US" sz="1800" u="none" strike="noStrike" kern="1200" cap="none" dirty="0" err="1" smtClean="0">
                          <a:ln>
                            <a:noFill/>
                          </a:ln>
                        </a:rPr>
                        <a:t>oszty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</a:rPr>
                        <a:t>Reużywalność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</a:rPr>
                        <a:t>Zastosowanie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177446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Natywne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Swift/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Kotlin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★★★★★</a:t>
                      </a:r>
                      <a:endParaRPr lang="zh-CN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Wysokie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Gry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, AR/VR,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medyczne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85083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Flutter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Dart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★★★★☆</a:t>
                      </a:r>
                      <a:endParaRPr lang="zh-CN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Średnie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90-95%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Większość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aplikacji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720546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React Native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JavaScript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★★★☆☆</a:t>
                      </a:r>
                      <a:endParaRPr lang="zh-CN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Średnie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70-90%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Zespoły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JS,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web+mobile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14219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PWA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JS/HTML/CSS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★★☆☆☆</a:t>
                      </a:r>
                      <a:endParaRPr lang="zh-CN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Niskie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100% (web)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MVP,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treściowe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871974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Python </a:t>
                      </a:r>
                      <a:r>
                        <a:rPr lang="en-US" sz="1800" b="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800" b="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Kivy</a:t>
                      </a:r>
                      <a:r>
                        <a:rPr lang="en-US" sz="1800" b="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sz="1800" b="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BeeWare</a:t>
                      </a:r>
                      <a:r>
                        <a:rPr lang="en-US" sz="1800" b="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8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★★☆☆☆</a:t>
                      </a:r>
                      <a:endParaRPr lang="zh-CN" sz="1600" b="0" i="0" u="none" strike="noStrike" kern="1200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Niskie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80-90%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Data science,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prototypy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042707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RubyMotion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Ruby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★★★★☆</a:t>
                      </a:r>
                      <a:endParaRPr lang="zh-CN" sz="1600" b="0" i="0" u="none" strike="noStrike" kern="1200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Średnie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70-80%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Szybkie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prototypy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386135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Solar2D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Lua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★★★★☆</a:t>
                      </a:r>
                      <a:endParaRPr lang="zh-CN" sz="1600" b="0" i="0" u="none" strike="noStrike" kern="1200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Niskie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95%+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Gry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2D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3046583"/>
                  </a:ext>
                </a:extLst>
              </a:tr>
              <a:tr h="41652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Rust FFI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Rust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★★★★★</a:t>
                      </a:r>
                      <a:endParaRPr lang="zh-CN" sz="1600" b="0" i="0" u="none" strike="noStrike" kern="1200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Wysokie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60-70%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Wydajność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krytyczna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895087"/>
                  </a:ext>
                </a:extLst>
              </a:tr>
              <a:tr h="41688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8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gomobile</a:t>
                      </a:r>
                      <a:endParaRPr lang="en-US" sz="1800" b="1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Go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zh-CN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★★★★☆</a:t>
                      </a:r>
                      <a:endParaRPr lang="zh-CN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Średnie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44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70-80%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000" marR="0" lvl="0" indent="0" algn="l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ct val="45000"/>
                        <a:buFont typeface="OpenSymbol"/>
                        <a:buNone/>
                        <a:tabLst/>
                        <a:defRPr lang="pl-PL"/>
                      </a:pP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Logika</a:t>
                      </a:r>
                      <a:r>
                        <a:rPr lang="en-US" sz="1600" u="none" strike="noStrike" kern="1200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u="none" strike="noStrike" kern="1200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biznesowa</a:t>
                      </a:r>
                      <a:endParaRPr lang="en-US" sz="1600" b="0" i="0" u="none" strike="noStrike" kern="1200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微软雅黑" pitchFamily="34"/>
                        <a:ea typeface="微软雅黑" pitchFamily="34"/>
                        <a:cs typeface="微软雅黑" pitchFamily="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188381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92400" y="5940000"/>
            <a:ext cx="38160" cy="685799"/>
          </a:xfrm>
          <a:custGeom>
            <a:avLst/>
            <a:gdLst>
              <a:gd name="f0" fmla="val w"/>
              <a:gd name="f1" fmla="val h"/>
              <a:gd name="f2" fmla="val 0"/>
              <a:gd name="f3" fmla="val 38100"/>
              <a:gd name="f4" fmla="val 685800"/>
              <a:gd name="f5" fmla="*/ f0 1 38100"/>
              <a:gd name="f6" fmla="*/ f1 1 6858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8100"/>
              <a:gd name="f13" fmla="*/ f10 1 6858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8100" h="6858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4120" y="5943601"/>
            <a:ext cx="11315880" cy="65120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6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Podsumowanie: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 i Flutter dominują rynek cross-platform. PWA oferuje najniższy próg wejścia. 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Python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/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Ruby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/Go/</a:t>
            </a:r>
            <a:r>
              <a:rPr lang="pl-PL" sz="16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Rust</a:t>
            </a:r>
            <a:r>
              <a:rPr lang="pl-PL" sz="16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to nisze z określonymi przypadkami użycia.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080" y="325080"/>
            <a:ext cx="11598480" cy="1627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900" b="0" i="0" u="none" strike="noStrike" kern="0" cap="none" spc="45" baseline="0" dirty="0" smtClean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11.2. </a:t>
            </a:r>
            <a:r>
              <a:rPr lang="pl-PL" sz="900" b="0" i="0" u="none" strike="noStrike" kern="0" cap="none" spc="45" baseline="0" dirty="0">
                <a:ln>
                  <a:noFill/>
                </a:ln>
                <a:solidFill>
                  <a:srgbClr val="8B0000"/>
                </a:solidFill>
                <a:latin typeface="Quattrocento Sans" pitchFamily="34"/>
                <a:ea typeface="Quattrocento Sans" pitchFamily="34"/>
                <a:cs typeface="Quattrocento Sans" pitchFamily="34"/>
              </a:rPr>
              <a:t>REKOMENDACJE</a:t>
            </a:r>
          </a:p>
        </p:txBody>
      </p:sp>
      <p:sp>
        <p:nvSpPr>
          <p:cNvPr id="3" name="Text 1"/>
          <p:cNvSpPr/>
          <p:nvPr/>
        </p:nvSpPr>
        <p:spPr>
          <a:xfrm>
            <a:off x="325080" y="552600"/>
            <a:ext cx="6596420" cy="32508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2800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Kiedy wybrać którą technologię?</a:t>
            </a:r>
          </a:p>
        </p:txBody>
      </p:sp>
      <p:sp>
        <p:nvSpPr>
          <p:cNvPr id="4" name="Shape 2"/>
          <p:cNvSpPr/>
          <p:nvPr/>
        </p:nvSpPr>
        <p:spPr>
          <a:xfrm>
            <a:off x="341280" y="1243599"/>
            <a:ext cx="5657039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1625600"/>
              <a:gd name="f5" fmla="*/ f0 1 5657088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1280" y="1243599"/>
            <a:ext cx="32400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1625600"/>
              <a:gd name="f5" fmla="*/ f0 1 32512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chemeClr val="accent6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800" y="1310724"/>
            <a:ext cx="1668660" cy="22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Natywne</a:t>
            </a:r>
          </a:p>
        </p:txBody>
      </p:sp>
      <p:sp>
        <p:nvSpPr>
          <p:cNvPr id="7" name="Text 5"/>
          <p:cNvSpPr/>
          <p:nvPr/>
        </p:nvSpPr>
        <p:spPr>
          <a:xfrm>
            <a:off x="487800" y="1546622"/>
            <a:ext cx="17982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Gdy potrzebujesz:</a:t>
            </a:r>
          </a:p>
        </p:txBody>
      </p:sp>
      <p:sp>
        <p:nvSpPr>
          <p:cNvPr id="8" name="Text 6"/>
          <p:cNvSpPr/>
          <p:nvPr/>
        </p:nvSpPr>
        <p:spPr>
          <a:xfrm>
            <a:off x="487800" y="1893760"/>
            <a:ext cx="33755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Najwyższej wydajności (gry, AR/VR)</a:t>
            </a:r>
          </a:p>
        </p:txBody>
      </p:sp>
      <p:sp>
        <p:nvSpPr>
          <p:cNvPr id="9" name="Text 7"/>
          <p:cNvSpPr/>
          <p:nvPr/>
        </p:nvSpPr>
        <p:spPr>
          <a:xfrm>
            <a:off x="487800" y="2121279"/>
            <a:ext cx="432042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Pełnego dostępu do sprzętu</a:t>
            </a:r>
          </a:p>
        </p:txBody>
      </p:sp>
      <p:sp>
        <p:nvSpPr>
          <p:cNvPr id="10" name="Text 8"/>
          <p:cNvSpPr/>
          <p:nvPr/>
        </p:nvSpPr>
        <p:spPr>
          <a:xfrm>
            <a:off x="487800" y="2349160"/>
            <a:ext cx="33755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Aplikacji medycznych/IoT</a:t>
            </a:r>
          </a:p>
        </p:txBody>
      </p:sp>
      <p:sp>
        <p:nvSpPr>
          <p:cNvPr id="11" name="Text 9"/>
          <p:cNvSpPr/>
          <p:nvPr/>
        </p:nvSpPr>
        <p:spPr>
          <a:xfrm>
            <a:off x="487800" y="2576680"/>
            <a:ext cx="33755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Zaawansowanych animacji 3D</a:t>
            </a:r>
          </a:p>
        </p:txBody>
      </p:sp>
      <p:sp>
        <p:nvSpPr>
          <p:cNvPr id="12" name="Shape 10"/>
          <p:cNvSpPr/>
          <p:nvPr/>
        </p:nvSpPr>
        <p:spPr>
          <a:xfrm>
            <a:off x="341280" y="2999320"/>
            <a:ext cx="5657039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1625600"/>
              <a:gd name="f5" fmla="*/ f0 1 5657088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1280" y="2999320"/>
            <a:ext cx="32400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1625600"/>
              <a:gd name="f5" fmla="*/ f0 1 32512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chemeClr val="accent5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800" y="3066444"/>
            <a:ext cx="1401960" cy="22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Flutter</a:t>
            </a:r>
            <a:endParaRPr lang="pl-PL" sz="2400" b="1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800" y="3337982"/>
            <a:ext cx="26872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Gdy potrzebujesz:</a:t>
            </a:r>
          </a:p>
        </p:txBody>
      </p:sp>
      <p:sp>
        <p:nvSpPr>
          <p:cNvPr id="16" name="Text 14"/>
          <p:cNvSpPr/>
          <p:nvPr/>
        </p:nvSpPr>
        <p:spPr>
          <a:xfrm>
            <a:off x="487800" y="3649480"/>
            <a:ext cx="34746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Najlepszego stosunku jakości do ceny</a:t>
            </a:r>
          </a:p>
        </p:txBody>
      </p:sp>
      <p:sp>
        <p:nvSpPr>
          <p:cNvPr id="17" name="Text 15"/>
          <p:cNvSpPr/>
          <p:nvPr/>
        </p:nvSpPr>
        <p:spPr>
          <a:xfrm>
            <a:off x="487800" y="3877000"/>
            <a:ext cx="34746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Custom UI i animacji</a:t>
            </a:r>
          </a:p>
        </p:txBody>
      </p:sp>
      <p:sp>
        <p:nvSpPr>
          <p:cNvPr id="18" name="Text 16"/>
          <p:cNvSpPr/>
          <p:nvPr/>
        </p:nvSpPr>
        <p:spPr>
          <a:xfrm>
            <a:off x="487800" y="4104520"/>
            <a:ext cx="34746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Multi-platform (mobile+web+desktop)</a:t>
            </a:r>
          </a:p>
        </p:txBody>
      </p:sp>
      <p:sp>
        <p:nvSpPr>
          <p:cNvPr id="19" name="Text 17"/>
          <p:cNvSpPr/>
          <p:nvPr/>
        </p:nvSpPr>
        <p:spPr>
          <a:xfrm>
            <a:off x="487800" y="4332400"/>
            <a:ext cx="34746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Szybkiego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developmentu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1280" y="4755039"/>
            <a:ext cx="5657039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1625600"/>
              <a:gd name="f5" fmla="*/ f0 1 5657088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41280" y="4755039"/>
            <a:ext cx="32400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1625600"/>
              <a:gd name="f5" fmla="*/ f0 1 32512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solidFill>
              <a:schemeClr val="accent2"/>
            </a:solidFill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7800" y="4821803"/>
            <a:ext cx="3047880" cy="22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React</a:t>
            </a: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 Native</a:t>
            </a:r>
          </a:p>
        </p:txBody>
      </p:sp>
      <p:sp>
        <p:nvSpPr>
          <p:cNvPr id="23" name="Text 21"/>
          <p:cNvSpPr/>
          <p:nvPr/>
        </p:nvSpPr>
        <p:spPr>
          <a:xfrm>
            <a:off x="487800" y="5093702"/>
            <a:ext cx="179820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Gdy potrzebujesz:</a:t>
            </a:r>
          </a:p>
        </p:txBody>
      </p:sp>
      <p:sp>
        <p:nvSpPr>
          <p:cNvPr id="24" name="Text 22"/>
          <p:cNvSpPr/>
          <p:nvPr/>
        </p:nvSpPr>
        <p:spPr>
          <a:xfrm>
            <a:off x="487800" y="5405200"/>
            <a:ext cx="39241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Zespołu z doświadczeniem JS</a:t>
            </a:r>
          </a:p>
        </p:txBody>
      </p:sp>
      <p:sp>
        <p:nvSpPr>
          <p:cNvPr id="25" name="Text 23"/>
          <p:cNvSpPr/>
          <p:nvPr/>
        </p:nvSpPr>
        <p:spPr>
          <a:xfrm>
            <a:off x="487800" y="5632720"/>
            <a:ext cx="39241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Współdzielenia kodu z web</a:t>
            </a:r>
          </a:p>
        </p:txBody>
      </p:sp>
      <p:sp>
        <p:nvSpPr>
          <p:cNvPr id="26" name="Text 24"/>
          <p:cNvSpPr/>
          <p:nvPr/>
        </p:nvSpPr>
        <p:spPr>
          <a:xfrm>
            <a:off x="487800" y="5860239"/>
            <a:ext cx="39241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Szybkiego prototypowania (Expo)</a:t>
            </a:r>
          </a:p>
        </p:txBody>
      </p:sp>
      <p:sp>
        <p:nvSpPr>
          <p:cNvPr id="27" name="Text 25"/>
          <p:cNvSpPr/>
          <p:nvPr/>
        </p:nvSpPr>
        <p:spPr>
          <a:xfrm>
            <a:off x="487800" y="6087760"/>
            <a:ext cx="392418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Dostępu do ogromnego ekosystemu </a:t>
            </a:r>
            <a:r>
              <a:rPr lang="pl-PL" sz="1400" b="0" i="0" u="none" strike="noStrike" kern="1200" cap="none" spc="0" baseline="0" dirty="0" err="1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npm</a:t>
            </a:r>
            <a:endParaRPr lang="pl-PL" sz="1400" b="0" i="0" u="none" strike="noStrike" kern="1200" cap="none" spc="0" baseline="0" dirty="0">
              <a:ln>
                <a:noFill/>
              </a:ln>
              <a:solidFill>
                <a:srgbClr val="1F2937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1800" y="1243599"/>
            <a:ext cx="5657039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5657088"/>
              <a:gd name="f4" fmla="val 1625600"/>
              <a:gd name="f5" fmla="*/ f0 1 5657088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5657088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5657088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9FAFB"/>
          </a:solidFill>
          <a:ln cap="flat">
            <a:solidFill>
              <a:schemeClr val="bg2">
                <a:lumMod val="90000"/>
              </a:schemeClr>
            </a:solidFill>
            <a:prstDash val="solid"/>
          </a:ln>
          <a:effectLst>
            <a:outerShdw blurRad="127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1800" y="1243599"/>
            <a:ext cx="32400" cy="1625760"/>
          </a:xfrm>
          <a:custGeom>
            <a:avLst/>
            <a:gdLst>
              <a:gd name="f0" fmla="val w"/>
              <a:gd name="f1" fmla="val h"/>
              <a:gd name="f2" fmla="val 0"/>
              <a:gd name="f3" fmla="val 32512"/>
              <a:gd name="f4" fmla="val 1625600"/>
              <a:gd name="f5" fmla="*/ f0 1 32512"/>
              <a:gd name="f6" fmla="*/ f1 1 16256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32512"/>
              <a:gd name="f13" fmla="*/ f10 1 16256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2512" h="16256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chemeClr val="accent4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endParaRPr lang="pl-PL" sz="26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57960" y="1310724"/>
            <a:ext cx="5592240" cy="2275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b="1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PWA</a:t>
            </a:r>
          </a:p>
        </p:txBody>
      </p:sp>
      <p:sp>
        <p:nvSpPr>
          <p:cNvPr id="31" name="Text 29"/>
          <p:cNvSpPr/>
          <p:nvPr/>
        </p:nvSpPr>
        <p:spPr>
          <a:xfrm>
            <a:off x="6357960" y="1597839"/>
            <a:ext cx="215739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6B728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Gdy potrzebujesz:</a:t>
            </a:r>
          </a:p>
        </p:txBody>
      </p:sp>
      <p:sp>
        <p:nvSpPr>
          <p:cNvPr id="32" name="Text 30"/>
          <p:cNvSpPr/>
          <p:nvPr/>
        </p:nvSpPr>
        <p:spPr>
          <a:xfrm>
            <a:off x="6357960" y="1893760"/>
            <a:ext cx="29638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Szybkiego MVP</a:t>
            </a:r>
          </a:p>
        </p:txBody>
      </p:sp>
      <p:sp>
        <p:nvSpPr>
          <p:cNvPr id="33" name="Text 31"/>
          <p:cNvSpPr/>
          <p:nvPr/>
        </p:nvSpPr>
        <p:spPr>
          <a:xfrm>
            <a:off x="6357960" y="2121279"/>
            <a:ext cx="29638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Aplikacji treściowych</a:t>
            </a:r>
          </a:p>
        </p:txBody>
      </p:sp>
      <p:sp>
        <p:nvSpPr>
          <p:cNvPr id="34" name="Text 32"/>
          <p:cNvSpPr/>
          <p:nvPr/>
        </p:nvSpPr>
        <p:spPr>
          <a:xfrm>
            <a:off x="6357960" y="2349160"/>
            <a:ext cx="29638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Ograniczonego budżetu</a:t>
            </a:r>
          </a:p>
        </p:txBody>
      </p:sp>
      <p:sp>
        <p:nvSpPr>
          <p:cNvPr id="35" name="Text 33"/>
          <p:cNvSpPr/>
          <p:nvPr/>
        </p:nvSpPr>
        <p:spPr>
          <a:xfrm>
            <a:off x="6357960" y="2576680"/>
            <a:ext cx="2963840" cy="19512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• Bez instalacji ze sklepu</a:t>
            </a:r>
          </a:p>
        </p:txBody>
      </p:sp>
      <p:grpSp>
        <p:nvGrpSpPr>
          <p:cNvPr id="52" name="Grupa 51"/>
          <p:cNvGrpSpPr/>
          <p:nvPr/>
        </p:nvGrpSpPr>
        <p:grpSpPr>
          <a:xfrm>
            <a:off x="6211800" y="2999320"/>
            <a:ext cx="5657039" cy="1654560"/>
            <a:chOff x="6211800" y="2796120"/>
            <a:chExt cx="5657039" cy="1722960"/>
          </a:xfrm>
        </p:grpSpPr>
        <p:sp>
          <p:nvSpPr>
            <p:cNvPr id="36" name="Shape 34"/>
            <p:cNvSpPr/>
            <p:nvPr/>
          </p:nvSpPr>
          <p:spPr>
            <a:xfrm>
              <a:off x="6211800" y="2796120"/>
              <a:ext cx="5657039" cy="17229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657088"/>
                <a:gd name="f4" fmla="val 1723136"/>
                <a:gd name="f5" fmla="*/ f0 1 5657088"/>
                <a:gd name="f6" fmla="*/ f1 1 172313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657088"/>
                <a:gd name="f13" fmla="*/ f10 1 172313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657088" h="172313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F9FAFB"/>
            </a:solidFill>
            <a:ln cap="flat">
              <a:solidFill>
                <a:schemeClr val="bg2">
                  <a:lumMod val="90000"/>
                </a:schemeClr>
              </a:solidFill>
              <a:prstDash val="solid"/>
            </a:ln>
            <a:effectLst>
              <a:outerShdw blurRad="127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6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6211800" y="2796120"/>
              <a:ext cx="32400" cy="172296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2512"/>
                <a:gd name="f4" fmla="val 1723136"/>
                <a:gd name="f5" fmla="*/ f0 1 32512"/>
                <a:gd name="f6" fmla="*/ f1 1 172313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32512"/>
                <a:gd name="f13" fmla="*/ f10 1 172313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32512" h="172313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6B7280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endParaRPr lang="pl-PL" sz="26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6357960" y="2863244"/>
              <a:ext cx="2684440" cy="227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Nisze specjalistyczne</a:t>
              </a:r>
            </a:p>
          </p:txBody>
        </p:sp>
        <p:sp>
          <p:nvSpPr>
            <p:cNvPr id="39" name="Text 37"/>
            <p:cNvSpPr/>
            <p:nvPr/>
          </p:nvSpPr>
          <p:spPr>
            <a:xfrm>
              <a:off x="6357960" y="3141978"/>
              <a:ext cx="3565358" cy="239142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Python</a:t>
              </a: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: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Data science, ML, prototypy</a:t>
              </a:r>
            </a:p>
          </p:txBody>
        </p:sp>
        <p:sp>
          <p:nvSpPr>
            <p:cNvPr id="40" name="Text 38"/>
            <p:cNvSpPr/>
            <p:nvPr/>
          </p:nvSpPr>
          <p:spPr>
            <a:xfrm>
              <a:off x="6357960" y="3402258"/>
              <a:ext cx="3565358" cy="239142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RubyMotion</a:t>
              </a: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: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Szybki prototyp, zespół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Ruby</a:t>
              </a:r>
              <a:endParaRPr lang="pl-PL" sz="1400" b="0" i="0" u="none" strike="noStrike" kern="1200" cap="none" spc="0" baseline="0" dirty="0">
                <a:ln>
                  <a:noFill/>
                </a:ln>
                <a:solidFill>
                  <a:srgbClr val="1F2937"/>
                </a:solidFill>
                <a:latin typeface="Sorts Mill Goudy" pitchFamily="34"/>
                <a:ea typeface="Sorts Mill Goudy" pitchFamily="34"/>
                <a:cs typeface="Sorts Mill Goudy" pitchFamily="34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357960" y="3662179"/>
              <a:ext cx="3565358" cy="239142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Solar2D:</a:t>
              </a: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Gry 2D</a:t>
              </a:r>
            </a:p>
          </p:txBody>
        </p:sp>
        <p:sp>
          <p:nvSpPr>
            <p:cNvPr id="42" name="Text 40"/>
            <p:cNvSpPr/>
            <p:nvPr/>
          </p:nvSpPr>
          <p:spPr>
            <a:xfrm>
              <a:off x="6357960" y="3922458"/>
              <a:ext cx="3565358" cy="239142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Rust FFI:</a:t>
              </a: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Wydajność krytyczna, kryptografia</a:t>
              </a:r>
            </a:p>
          </p:txBody>
        </p:sp>
        <p:sp>
          <p:nvSpPr>
            <p:cNvPr id="43" name="Text 41"/>
            <p:cNvSpPr/>
            <p:nvPr/>
          </p:nvSpPr>
          <p:spPr>
            <a:xfrm>
              <a:off x="6357960" y="4182377"/>
              <a:ext cx="3565358" cy="239142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1" i="0" u="none" strike="noStrike" kern="1200" cap="none" spc="0" baseline="0" dirty="0" err="1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gomobile</a:t>
              </a: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: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1F293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Logika biznesowa w Go</a:t>
              </a:r>
            </a:p>
          </p:txBody>
        </p:sp>
      </p:grpSp>
      <p:grpSp>
        <p:nvGrpSpPr>
          <p:cNvPr id="53" name="Grupa 52"/>
          <p:cNvGrpSpPr/>
          <p:nvPr/>
        </p:nvGrpSpPr>
        <p:grpSpPr>
          <a:xfrm>
            <a:off x="6195600" y="4755040"/>
            <a:ext cx="5673240" cy="1625760"/>
            <a:chOff x="6195600" y="4649040"/>
            <a:chExt cx="5673240" cy="1885680"/>
          </a:xfrm>
        </p:grpSpPr>
        <p:sp>
          <p:nvSpPr>
            <p:cNvPr id="44" name="Shape 42"/>
            <p:cNvSpPr/>
            <p:nvPr/>
          </p:nvSpPr>
          <p:spPr>
            <a:xfrm>
              <a:off x="6195600" y="4649040"/>
              <a:ext cx="5673240" cy="188568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5673344"/>
                <a:gd name="f4" fmla="val 1885696"/>
                <a:gd name="f5" fmla="*/ f0 1 5673344"/>
                <a:gd name="f6" fmla="*/ f1 1 1885696"/>
                <a:gd name="f7" fmla="val f2"/>
                <a:gd name="f8" fmla="val f3"/>
                <a:gd name="f9" fmla="val f4"/>
                <a:gd name="f10" fmla="+- f9 0 f7"/>
                <a:gd name="f11" fmla="+- f8 0 f7"/>
                <a:gd name="f12" fmla="*/ f11 1 5673344"/>
                <a:gd name="f13" fmla="*/ f10 1 1885696"/>
                <a:gd name="f14" fmla="*/ f7 1 f12"/>
                <a:gd name="f15" fmla="*/ f8 1 f12"/>
                <a:gd name="f16" fmla="*/ f7 1 f13"/>
                <a:gd name="f17" fmla="*/ f9 1 f13"/>
                <a:gd name="f18" fmla="*/ f14 f5 1"/>
                <a:gd name="f19" fmla="*/ f15 f5 1"/>
                <a:gd name="f20" fmla="*/ f17 f6 1"/>
                <a:gd name="f21" fmla="*/ f16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5673344" h="1885696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  <a:lnTo>
                    <a:pt x="f2" y="f4"/>
                  </a:lnTo>
                  <a:lnTo>
                    <a:pt x="f2" y="f2"/>
                  </a:lnTo>
                  <a:close/>
                </a:path>
              </a:pathLst>
            </a:custGeom>
            <a:solidFill>
              <a:srgbClr val="1F2937"/>
            </a:solidFill>
            <a:ln cap="flat">
              <a:noFill/>
              <a:prstDash val="solid"/>
            </a:ln>
            <a:effectLst>
              <a:outerShdw blurRad="12700" dist="38100" dir="2700000" algn="tl" rotWithShape="0">
                <a:schemeClr val="bg2">
                  <a:lumMod val="90000"/>
                  <a:alpha val="40000"/>
                </a:schemeClr>
              </a:outerShdw>
            </a:effectLst>
          </p:spPr>
          <p:txBody>
            <a:bodyPr vert="horz" wrap="squar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pl-PL" sz="1800" b="0" i="0" u="none" strike="noStrike" kern="1200" cap="none">
                <a:ln>
                  <a:noFill/>
                </a:ln>
                <a:latin typeface="Liberation Sans" pitchFamily="18"/>
                <a:ea typeface="Noto Sans CJK SC" pitchFamily="2"/>
                <a:cs typeface="Noto Sans Devanagari" pitchFamily="2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357960" y="4760485"/>
              <a:ext cx="5429520" cy="2275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>
                  <a:solidFill>
                    <a:srgbClr val="FFFFD7"/>
                  </a:solidFill>
                </a:defRPr>
              </a:pPr>
              <a:r>
                <a:rPr lang="pl-PL" sz="1400" b="1" i="0" u="none" strike="noStrike" kern="1200" cap="none" spc="0" baseline="0" dirty="0">
                  <a:ln>
                    <a:noFill/>
                  </a:ln>
                  <a:solidFill>
                    <a:srgbClr val="FFFFD7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Trendy 2025-2026</a:t>
              </a:r>
            </a:p>
          </p:txBody>
        </p:sp>
        <p:sp>
          <p:nvSpPr>
            <p:cNvPr id="46" name="Text 44"/>
            <p:cNvSpPr/>
            <p:nvPr/>
          </p:nvSpPr>
          <p:spPr>
            <a:xfrm>
              <a:off x="6357960" y="5100840"/>
              <a:ext cx="5413320" cy="195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AI-powered PWAs</a:t>
              </a:r>
            </a:p>
          </p:txBody>
        </p:sp>
        <p:sp>
          <p:nvSpPr>
            <p:cNvPr id="47" name="Text 45"/>
            <p:cNvSpPr/>
            <p:nvPr/>
          </p:nvSpPr>
          <p:spPr>
            <a:xfrm>
              <a:off x="6357960" y="5361120"/>
              <a:ext cx="5413320" cy="195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WebAssembly (WASM) w PWA</a:t>
              </a:r>
            </a:p>
          </p:txBody>
        </p:sp>
        <p:sp>
          <p:nvSpPr>
            <p:cNvPr id="48" name="Text 46"/>
            <p:cNvSpPr/>
            <p:nvPr/>
          </p:nvSpPr>
          <p:spPr>
            <a:xfrm>
              <a:off x="6357960" y="5621040"/>
              <a:ext cx="5413320" cy="195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Flutter dla desktop i web</a:t>
              </a:r>
            </a:p>
          </p:txBody>
        </p:sp>
        <p:sp>
          <p:nvSpPr>
            <p:cNvPr id="49" name="Text 47"/>
            <p:cNvSpPr/>
            <p:nvPr/>
          </p:nvSpPr>
          <p:spPr>
            <a:xfrm>
              <a:off x="6357960" y="5881320"/>
              <a:ext cx="5413320" cy="195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React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Native New Architecture</a:t>
              </a:r>
            </a:p>
          </p:txBody>
        </p:sp>
        <p:sp>
          <p:nvSpPr>
            <p:cNvPr id="50" name="Text 48"/>
            <p:cNvSpPr/>
            <p:nvPr/>
          </p:nvSpPr>
          <p:spPr>
            <a:xfrm>
              <a:off x="6357960" y="6141240"/>
              <a:ext cx="5413320" cy="195120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ctr" anchorCtr="0" compatLnSpc="0">
              <a:noAutofit/>
            </a:bodyPr>
            <a:lstStyle/>
            <a:p>
              <a:pPr marL="0" marR="0" lvl="0" indent="0" algn="l" rtl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lang="pl-PL"/>
              </a:pP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• Rosnąca adopcja </a:t>
              </a:r>
              <a:r>
                <a:rPr lang="pl-PL" sz="1400" b="0" i="0" u="none" strike="noStrike" kern="1200" cap="none" spc="0" baseline="0" dirty="0" err="1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Rust</a:t>
              </a:r>
              <a:r>
                <a:rPr lang="pl-PL" sz="1400" b="0" i="0" u="none" strike="noStrike" kern="1200" cap="none" spc="0" baseline="0" dirty="0">
                  <a:ln>
                    <a:noFill/>
                  </a:ln>
                  <a:solidFill>
                    <a:srgbClr val="F9FAFB"/>
                  </a:solidFill>
                  <a:latin typeface="Sorts Mill Goudy" pitchFamily="34"/>
                  <a:ea typeface="Sorts Mill Goudy" pitchFamily="34"/>
                  <a:cs typeface="Sorts Mill Goudy" pitchFamily="34"/>
                </a:rPr>
                <a:t> w mobile</a:t>
              </a:r>
            </a:p>
          </p:txBody>
        </p:sp>
      </p:grpSp>
      <p:sp>
        <p:nvSpPr>
          <p:cNvPr id="51" name="AutoShape 2" descr="data:image/png;base64,iVBORw0KGgoAAAANSUhEUgAAACAAAAAgCAMAAABEpIrGAAAASFBMVEVHcEw3u+lD0f1B0P00uOtG0v1F0f1B0P1B0P1E0f1G0f1B0P1A0f4kvv0evP4txf4evP0YpegGV5wHWZ0NTJUZoeQFV5wDVpvME6UAAAAAGHRSTlMABltpE+3//6OV/ybGxv//7v+X/v/sW2mBerO4AAAAkElEQVR4Ac3QRxKEMBBDUUdyjve/6TSFmIQtb9GOep9kdZ82mHUqNO2zLMuPFTFHUEa8QhB1BNwz4hKkPSNecZc93LPL62sO7nB+8CbHGv0OsqB/v4I5Cnib3RwFvOuzgMscvJMi5DK4FMzPIuJuQDBOKjx9FuM802JcZlaIS0CK9WBaiPFCJQudLjZsd3L1AlcdDxp3+SgrAAAAAElFTkSuQmCC"/>
          <p:cNvSpPr>
            <a:spLocks noChangeAspect="1" noChangeArrowheads="1"/>
          </p:cNvSpPr>
          <p:nvPr/>
        </p:nvSpPr>
        <p:spPr bwMode="auto">
          <a:xfrm>
            <a:off x="-190080" y="322110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l-PL"/>
          </a:p>
        </p:txBody>
      </p:sp>
      <p:graphicFrame>
        <p:nvGraphicFramePr>
          <p:cNvPr id="54" name="Obiek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603759"/>
              </p:ext>
            </p:extLst>
          </p:nvPr>
        </p:nvGraphicFramePr>
        <p:xfrm>
          <a:off x="5580000" y="3060339"/>
          <a:ext cx="358348" cy="363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Image" r:id="rId4" imgW="344964" imgH="345349" progId="Photoshop.Image.15">
                  <p:embed/>
                </p:oleObj>
              </mc:Choice>
              <mc:Fallback>
                <p:oleObj name="Image" r:id="rId4" imgW="344964" imgH="345349" progId="Photoshop.Image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80000" y="3060339"/>
                        <a:ext cx="358348" cy="363969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 w="19050"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iek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628137"/>
              </p:ext>
            </p:extLst>
          </p:nvPr>
        </p:nvGraphicFramePr>
        <p:xfrm>
          <a:off x="5580000" y="4821802"/>
          <a:ext cx="36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Image" r:id="rId6" imgW="301844" imgH="302181" progId="Photoshop.Image.15">
                  <p:embed/>
                </p:oleObj>
              </mc:Choice>
              <mc:Fallback>
                <p:oleObj name="Image" r:id="rId6" imgW="301844" imgH="302181" progId="Photoshop.Image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80000" y="4821802"/>
                        <a:ext cx="360000" cy="3600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19050">
                        <a:solidFill>
                          <a:schemeClr val="accent2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iek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010635"/>
              </p:ext>
            </p:extLst>
          </p:nvPr>
        </p:nvGraphicFramePr>
        <p:xfrm>
          <a:off x="5580000" y="1298440"/>
          <a:ext cx="36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Image" r:id="rId8" imgW="301844" imgH="302181" progId="Photoshop.Image.15">
                  <p:embed/>
                </p:oleObj>
              </mc:Choice>
              <mc:Fallback>
                <p:oleObj name="Image" r:id="rId8" imgW="301844" imgH="302181" progId="Photoshop.Image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80000" y="1298440"/>
                        <a:ext cx="360000" cy="360000"/>
                      </a:xfrm>
                      <a:prstGeom prst="rect">
                        <a:avLst/>
                      </a:prstGeom>
                      <a:solidFill>
                        <a:schemeClr val="accent6"/>
                      </a:solidFill>
                      <a:ln w="19050">
                        <a:solidFill>
                          <a:schemeClr val="accent6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iek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2775193"/>
              </p:ext>
            </p:extLst>
          </p:nvPr>
        </p:nvGraphicFramePr>
        <p:xfrm>
          <a:off x="11269800" y="1284197"/>
          <a:ext cx="539379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Image" r:id="rId10" imgW="1380469" imgH="1382009" progId="Photoshop.Image.15">
                  <p:embed/>
                </p:oleObj>
              </mc:Choice>
              <mc:Fallback>
                <p:oleObj name="Image" r:id="rId10" imgW="1380469" imgH="1382009" progId="Photoshop.Image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69800" y="1284197"/>
                        <a:ext cx="539379" cy="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119" cy="6858000"/>
          </a:xfrm>
          <a:custGeom>
            <a:avLst/>
            <a:gdLst>
              <a:gd name="f0" fmla="val w"/>
              <a:gd name="f1" fmla="val h"/>
              <a:gd name="f2" fmla="val 0"/>
              <a:gd name="f3" fmla="val 12192000"/>
              <a:gd name="f4" fmla="val 6858000"/>
              <a:gd name="f5" fmla="*/ f0 1 12192000"/>
              <a:gd name="f6" fmla="*/ f1 1 68580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12192000"/>
              <a:gd name="f13" fmla="*/ f10 1 68580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12192000" h="68580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1F2937">
                  <a:alpha val="95000"/>
                </a:srgbClr>
              </a:gs>
              <a:gs pos="50000">
                <a:srgbClr val="1F2937"/>
              </a:gs>
              <a:gs pos="100000">
                <a:srgbClr val="1F2937">
                  <a:alpha val="95000"/>
                </a:srgbClr>
              </a:gs>
            </a:gsLst>
            <a:lin ang="4860000"/>
          </a:gra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638680" y="380880"/>
            <a:ext cx="914400" cy="38160"/>
          </a:xfrm>
          <a:custGeom>
            <a:avLst/>
            <a:gdLst>
              <a:gd name="f0" fmla="val w"/>
              <a:gd name="f1" fmla="val h"/>
              <a:gd name="f2" fmla="val 0"/>
              <a:gd name="f3" fmla="val 914400"/>
              <a:gd name="f4" fmla="val 38100"/>
              <a:gd name="f5" fmla="*/ f0 1 9144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9144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9144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60000" y="723959"/>
            <a:ext cx="4320000" cy="11430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5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Dziękuję</a:t>
            </a:r>
          </a:p>
          <a:p>
            <a:pPr marL="0" marR="0" lvl="0" indent="0" algn="ctr" rtl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500" b="1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za uwagę</a:t>
            </a:r>
          </a:p>
        </p:txBody>
      </p:sp>
      <p:sp>
        <p:nvSpPr>
          <p:cNvPr id="5" name="Shape 3"/>
          <p:cNvSpPr/>
          <p:nvPr/>
        </p:nvSpPr>
        <p:spPr>
          <a:xfrm>
            <a:off x="5638680" y="2095560"/>
            <a:ext cx="914400" cy="38160"/>
          </a:xfrm>
          <a:custGeom>
            <a:avLst/>
            <a:gdLst>
              <a:gd name="f0" fmla="val w"/>
              <a:gd name="f1" fmla="val h"/>
              <a:gd name="f2" fmla="val 0"/>
              <a:gd name="f3" fmla="val 914400"/>
              <a:gd name="f4" fmla="val 38100"/>
              <a:gd name="f5" fmla="*/ f0 1 914400"/>
              <a:gd name="f6" fmla="*/ f1 1 3810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914400"/>
              <a:gd name="f13" fmla="*/ f10 1 3810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914400" h="38100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8B0000"/>
          </a:solidFill>
          <a:ln cap="flat">
            <a:noFill/>
            <a:prstDash val="solid"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l-PL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4460" y="3552839"/>
            <a:ext cx="4591080" cy="8217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4000" b="1" i="0" u="none" strike="noStrike" kern="1200" cap="none" spc="0" baseline="0" dirty="0" smtClean="0">
                <a:ln>
                  <a:noFill/>
                </a:ln>
                <a:solidFill>
                  <a:srgbClr val="FFFF00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Koniec</a:t>
            </a:r>
            <a:endParaRPr lang="pl-PL" sz="4000" b="1" i="0" u="none" strike="noStrike" kern="1200" cap="none" spc="0" baseline="0" dirty="0">
              <a:ln>
                <a:noFill/>
              </a:ln>
              <a:solidFill>
                <a:srgbClr val="FFFF00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  <p:sp>
        <p:nvSpPr>
          <p:cNvPr id="7" name="Text 9"/>
          <p:cNvSpPr/>
          <p:nvPr/>
        </p:nvSpPr>
        <p:spPr>
          <a:xfrm>
            <a:off x="3968639" y="6248520"/>
            <a:ext cx="4257720" cy="2286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0">
            <a:noAutofit/>
          </a:bodyPr>
          <a:lstStyle/>
          <a:p>
            <a:pPr marL="0" marR="0" lvl="0" indent="0" algn="ctr" rtl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l-PL"/>
            </a:pPr>
            <a:r>
              <a:rPr lang="pl-PL" sz="1200" b="0" i="0" u="none" strike="noStrike" kern="1200" cap="none" spc="0" baseline="0" dirty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Programowanie Aplikacji Mobilnych | </a:t>
            </a:r>
            <a:r>
              <a:rPr lang="pl-PL" sz="1200" b="0" i="0" u="none" strike="noStrike" kern="1200" cap="none" spc="0" baseline="0" dirty="0" smtClean="0">
                <a:ln>
                  <a:noFill/>
                </a:ln>
                <a:solidFill>
                  <a:srgbClr val="F9FAFB"/>
                </a:solidFill>
                <a:latin typeface="Sorts Mill Goudy" pitchFamily="34"/>
                <a:ea typeface="Sorts Mill Goudy" pitchFamily="34"/>
                <a:cs typeface="Sorts Mill Goudy" pitchFamily="34"/>
              </a:rPr>
              <a:t>2026</a:t>
            </a:r>
            <a:endParaRPr lang="pl-PL" sz="1200" b="0" i="0" u="none" strike="noStrike" kern="1200" cap="none" spc="0" baseline="0" dirty="0">
              <a:ln>
                <a:noFill/>
              </a:ln>
              <a:solidFill>
                <a:srgbClr val="F9FAFB"/>
              </a:solidFill>
              <a:latin typeface="Sorts Mill Goudy" pitchFamily="34"/>
              <a:ea typeface="Sorts Mill Goudy" pitchFamily="34"/>
              <a:cs typeface="Sorts Mill Goudy" pitchFamily="3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7428</Words>
  <Application>Microsoft Office PowerPoint</Application>
  <PresentationFormat>Panoramiczny</PresentationFormat>
  <Paragraphs>1221</Paragraphs>
  <Slides>40</Slides>
  <Notes>40</Notes>
  <HiddenSlides>0</HiddenSlides>
  <MMClips>0</MMClips>
  <ScaleCrop>false</ScaleCrop>
  <HeadingPairs>
    <vt:vector size="8" baseType="variant">
      <vt:variant>
        <vt:lpstr>Używane czcionki</vt:lpstr>
      </vt:variant>
      <vt:variant>
        <vt:i4>15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40</vt:i4>
      </vt:variant>
    </vt:vector>
  </HeadingPairs>
  <TitlesOfParts>
    <vt:vector size="57" baseType="lpstr">
      <vt:lpstr>微软雅黑</vt:lpstr>
      <vt:lpstr>Arial</vt:lpstr>
      <vt:lpstr>Calibri</vt:lpstr>
      <vt:lpstr>Consolas</vt:lpstr>
      <vt:lpstr>Console</vt:lpstr>
      <vt:lpstr>DejaVu Sans</vt:lpstr>
      <vt:lpstr>Liberation Sans</vt:lpstr>
      <vt:lpstr>Liberation Serif</vt:lpstr>
      <vt:lpstr>MiSans</vt:lpstr>
      <vt:lpstr>Noto Sans</vt:lpstr>
      <vt:lpstr>Noto Sans CJK SC</vt:lpstr>
      <vt:lpstr>Noto Sans Devanagari</vt:lpstr>
      <vt:lpstr>OpenSymbol</vt:lpstr>
      <vt:lpstr>Quattrocento Sans</vt:lpstr>
      <vt:lpstr>Sorts Mill Goudy</vt:lpstr>
      <vt:lpstr>Custom Theme</vt:lpstr>
      <vt:lpstr>Adobe Photoshop Image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Cross-Platformowe i PWA</dc:title>
  <dc:subject>Programowanie Cross-Platformowe i PWA</dc:subject>
  <dc:creator>Kimi</dc:creator>
  <cp:lastModifiedBy>Mateusz Pomianek</cp:lastModifiedBy>
  <cp:revision>132</cp:revision>
  <dcterms:created xsi:type="dcterms:W3CDTF">2026-02-15T11:27:47Z</dcterms:created>
  <dcterms:modified xsi:type="dcterms:W3CDTF">2026-04-07T15:38:06Z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{"Label":"Programowanie Cross-Platformowe i PWA","ContentProducer":"001191110108MACG2KBH8F10000","ProduceID":"19c60d7c-29b2-865a-8000-0000707586f9","ReservedCode1":"","ContentPropagator":"001191110108MACG2KBH8F20000","PropagateID":"19c60d7c-29b2-865a-8000</vt:lpwstr>
  </property>
</Properties>
</file>