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2" r:id="rId46"/>
    <p:sldId id="300" r:id="rId4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4F6A"/>
    <a:srgbClr val="18314C"/>
    <a:srgbClr val="27507D"/>
    <a:srgbClr val="0D1B2A"/>
    <a:srgbClr val="7198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8498" autoAdjust="0"/>
  </p:normalViewPr>
  <p:slideViewPr>
    <p:cSldViewPr snapToGrid="0" snapToObjects="1">
      <p:cViewPr>
        <p:scale>
          <a:sx n="125" d="100"/>
          <a:sy n="125" d="100"/>
        </p:scale>
        <p:origin x="1194"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5096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Dzień dobry Państwu. Witam na trzecim wykładzie z cyklu </a:t>
            </a:r>
            <a:r>
              <a:rPr lang="pl-PL" b="1" dirty="0" smtClean="0"/>
              <a:t>Programowanie Aplikacji Mobilnych</a:t>
            </a:r>
            <a:r>
              <a:rPr lang="pl-PL" dirty="0" smtClean="0"/>
              <a:t>. Dzisiejsze spotkanie poświęcimy tematowi </a:t>
            </a:r>
            <a:r>
              <a:rPr lang="pl-PL" b="1" dirty="0" smtClean="0"/>
              <a:t>projektowania UI/UX dla urządzeń mobilnych</a:t>
            </a:r>
            <a:r>
              <a:rPr lang="pl-PL" dirty="0" smtClean="0"/>
              <a:t>. To zagadnienie jest niezwykle ważne, ponieważ nawet najlepiej napisany kod, oparty na poprawnej architekturze i nowoczesnych technologiach, nie gwarantuje sukcesu aplikacji, jeśli użytkownik nie potrafi lub nie chce z niej wygodnie korzystać.</a:t>
            </a:r>
          </a:p>
          <a:p>
            <a:r>
              <a:rPr lang="pl-PL" dirty="0" smtClean="0"/>
              <a:t>W praktyce bardzo często okazuje się, że o jakości produktu nie decyduje wyłącznie to, czy działa poprawnie w sensie technicznym. Równie ważne jest to, czy jest zrozumiały, intuicyjny, przewidywalny i przyjemny w użyciu. Dlatego właśnie UI i UX stały się dziś integralną częścią procesu projektowania oprogramowania.</a:t>
            </a:r>
          </a:p>
          <a:p>
            <a:r>
              <a:rPr lang="pl-PL" dirty="0" smtClean="0"/>
              <a:t>Podczas tego wykładu będziemy poruszać się od podstawowych definicji, przez różne rodzaje interfejsów, aż po standardy branżowe, typografię, kolor, dźwięk, </a:t>
            </a:r>
            <a:r>
              <a:rPr lang="pl-PL" dirty="0" err="1" smtClean="0"/>
              <a:t>haptykę</a:t>
            </a:r>
            <a:r>
              <a:rPr lang="pl-PL" dirty="0" smtClean="0"/>
              <a:t>, projektowanie emocjonalne i narzędzia pracy. Innymi słowy: zobaczymy, jak projektuje się nowoczesne doświadczenia mobilne z perspektywy zarówno użytkownika, jak i zespołu wytwórczego.</a:t>
            </a:r>
          </a:p>
          <a:p>
            <a:r>
              <a:rPr lang="pl-PL" dirty="0" smtClean="0"/>
              <a:t>Na początek jedna ciekawostka. Użytkownik bardzo często wyrabia sobie pierwszą opinię o interfejsie w czasie krótszym niż sekunda. To oznacza, że projekt działa na poziomie percepcji niemal natychmiast, zanim jeszcze zostanie świadomie oceniony. I właśnie dlatego design ma tak duże znaczenie.</a:t>
            </a:r>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Tutaj widzą Państwo plan dzisiejszego spotkania. Wykład został podzielony na dziesięć głównych bloków tematycznych. Zaczniemy od </a:t>
            </a:r>
            <a:r>
              <a:rPr lang="pl-PL" b="1" dirty="0" smtClean="0"/>
              <a:t>wprowadzenia do UI i UX</a:t>
            </a:r>
            <a:r>
              <a:rPr lang="pl-PL" dirty="0" smtClean="0"/>
              <a:t>, ponieważ bez uporządkowania podstawowych pojęć trudno sensownie rozmawiać o dalszych aspektach projektowania.</a:t>
            </a:r>
          </a:p>
          <a:p>
            <a:r>
              <a:rPr lang="pl-PL" dirty="0" smtClean="0"/>
              <a:t>Następnie przejdziemy do </a:t>
            </a:r>
            <a:r>
              <a:rPr lang="pl-PL" b="1" dirty="0" smtClean="0"/>
              <a:t>rodzajów interfejsów użytkownika</a:t>
            </a:r>
            <a:r>
              <a:rPr lang="pl-PL" dirty="0" smtClean="0"/>
              <a:t>, aby pokazać, że interakcja z systemem nie ogranicza się tylko do klasycznego interfejsu graficznego. Potem omówimy </a:t>
            </a:r>
            <a:r>
              <a:rPr lang="pl-PL" b="1" dirty="0" smtClean="0"/>
              <a:t>zasady projektowania</a:t>
            </a:r>
            <a:r>
              <a:rPr lang="pl-PL" dirty="0" smtClean="0"/>
              <a:t>, czyli fundamenty, które pozwalają tworzyć rozwiązania nie tylko ładne, ale przede wszystkim użyteczne.</a:t>
            </a:r>
          </a:p>
          <a:p>
            <a:r>
              <a:rPr lang="pl-PL" dirty="0" smtClean="0"/>
              <a:t>Kolejny blok obejmuje </a:t>
            </a:r>
            <a:r>
              <a:rPr lang="pl-PL" b="1" dirty="0" smtClean="0"/>
              <a:t>standardy branżowe</a:t>
            </a:r>
            <a:r>
              <a:rPr lang="pl-PL" dirty="0" smtClean="0"/>
              <a:t>, a więc wytyczne Apple, Google i standardy dostępności. Później zajmiemy się </a:t>
            </a:r>
            <a:r>
              <a:rPr lang="pl-PL" b="1" dirty="0" smtClean="0"/>
              <a:t>kolorem</a:t>
            </a:r>
            <a:r>
              <a:rPr lang="pl-PL" dirty="0" smtClean="0"/>
              <a:t>, </a:t>
            </a:r>
            <a:r>
              <a:rPr lang="pl-PL" b="1" dirty="0" smtClean="0"/>
              <a:t>typografią</a:t>
            </a:r>
            <a:r>
              <a:rPr lang="pl-PL" dirty="0" smtClean="0"/>
              <a:t>, </a:t>
            </a:r>
            <a:r>
              <a:rPr lang="pl-PL" b="1" dirty="0" smtClean="0"/>
              <a:t>dźwiękiem i </a:t>
            </a:r>
            <a:r>
              <a:rPr lang="pl-PL" b="1" dirty="0" err="1" smtClean="0"/>
              <a:t>haptyką</a:t>
            </a:r>
            <a:r>
              <a:rPr lang="pl-PL" dirty="0" smtClean="0"/>
              <a:t>, a więc elementami, które budują całe doświadczenie użytkownika, nie tylko jego warstwę wizualną. Pod koniec omówimy </a:t>
            </a:r>
            <a:r>
              <a:rPr lang="pl-PL" b="1" dirty="0" smtClean="0"/>
              <a:t>projektowanie emocjonalne</a:t>
            </a:r>
            <a:r>
              <a:rPr lang="pl-PL" dirty="0" smtClean="0"/>
              <a:t>, </a:t>
            </a:r>
            <a:r>
              <a:rPr lang="pl-PL" b="1" dirty="0" smtClean="0"/>
              <a:t>hierarchię wizualną</a:t>
            </a:r>
            <a:r>
              <a:rPr lang="pl-PL" dirty="0" smtClean="0"/>
              <a:t> oraz </a:t>
            </a:r>
            <a:r>
              <a:rPr lang="pl-PL" b="1" dirty="0" smtClean="0"/>
              <a:t>narzędzia projektowe</a:t>
            </a:r>
            <a:r>
              <a:rPr lang="pl-PL" dirty="0" smtClean="0"/>
              <a:t> używane w praktyce.</a:t>
            </a:r>
          </a:p>
          <a:p>
            <a:r>
              <a:rPr lang="pl-PL" dirty="0" smtClean="0"/>
              <a:t>Proszę zwrócić uwagę, że ta kolejność nie jest przypadkowa. Najpierw budujemy fundament teoretyczny, potem pokazujemy zasady, a dopiero później przechodzimy do konkretnych środków wyrazu i procesu projektowego. Tak właśnie powinno wyglądać również myślenie w realnym projekcie.</a:t>
            </a:r>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Rozpoczynamy pierwszą sekcję, czyli wprowadzenie do UI i UX. Jest to moment kluczowy, ponieważ w języku potocznym te pojęcia są bardzo często mieszane, a czasem nawet używane zamiennie. W środowisku profesjonalnym jest to jednak rozróżnienie podstawowe.</a:t>
            </a:r>
          </a:p>
          <a:p>
            <a:r>
              <a:rPr lang="pl-PL" dirty="0" smtClean="0"/>
              <a:t>Musimy zrozumieć, czym jest interfejs użytkownika, czym jest doświadczenie użytkownika i dlaczego projektowanie mobilne wymaga szczególnego podejścia. W kolejnych slajdach zobaczymy, że UI i UX są ze sobą ściśle powiązane, ale nie są tym samym.</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smtClean="0"/>
              <a:t>Warto już tutaj zapamiętać jedną myśl: dobrze zaprojektowany produkt nie tylko umożliwia wykonanie zadania, ale robi to w taki sposób, że użytkownik czuje się kompetentny, spokojny i prowadzony przez system w sposób naturalny. Można tu zadać studentom </a:t>
            </a:r>
            <a:r>
              <a:rPr lang="pl-PL" b="1" dirty="0" smtClean="0"/>
              <a:t>pytanie aktywizujące</a:t>
            </a:r>
            <a:r>
              <a:rPr lang="pl-PL" dirty="0" smtClean="0"/>
              <a:t>: czy aplikacja może być ładna i jednocześnie zła? Odpowiedź brzmi: oczywiście tak. Estetyka nie gwarantuje użyteczności.</a:t>
            </a:r>
          </a:p>
          <a:p>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Na tym slajdzie widzimy dwa podstawowe pojęcia: </a:t>
            </a:r>
            <a:r>
              <a:rPr lang="pl-PL" b="1" dirty="0" smtClean="0"/>
              <a:t>UI</a:t>
            </a:r>
            <a:r>
              <a:rPr lang="pl-PL" dirty="0" smtClean="0"/>
              <a:t>, czyli </a:t>
            </a:r>
            <a:r>
              <a:rPr lang="pl-PL" b="1" dirty="0" smtClean="0"/>
              <a:t>User Interface</a:t>
            </a:r>
            <a:r>
              <a:rPr lang="pl-PL" dirty="0" smtClean="0"/>
              <a:t>, oraz </a:t>
            </a:r>
            <a:r>
              <a:rPr lang="pl-PL" b="1" dirty="0" smtClean="0"/>
              <a:t>UX</a:t>
            </a:r>
            <a:r>
              <a:rPr lang="pl-PL" dirty="0" smtClean="0"/>
              <a:t>, czyli </a:t>
            </a:r>
            <a:r>
              <a:rPr lang="pl-PL" b="1" dirty="0" smtClean="0"/>
              <a:t>User </a:t>
            </a:r>
            <a:r>
              <a:rPr lang="pl-PL" b="1" dirty="0" err="1" smtClean="0"/>
              <a:t>Experience</a:t>
            </a:r>
            <a:r>
              <a:rPr lang="pl-PL" dirty="0" smtClean="0"/>
              <a:t>. Zacznijmy od UI. User Interface to warstwa bezpośredniego kontaktu użytkownika z aplikacją. To wszystko, co użytkownik widzi i czego dotyka: przyciski, ikony, formularze, kolory, typografia, układ treści, animacje przejść i pozostałe elementy wizualne.</a:t>
            </a:r>
          </a:p>
          <a:p>
            <a:r>
              <a:rPr lang="pl-PL" dirty="0" smtClean="0"/>
              <a:t>Z kolei UX to pojęcie znacznie szersze. Obejmuje całe doświadczenie korzystania z produktu. Nie tylko to, jak on wygląda, ale także to, czy jest intuicyjny, czy pozwala szybko osiągnąć cel, czy nie powoduje frustracji, czy budzi zaufanie i czy użytkownik chce do niego wrócić.</a:t>
            </a:r>
          </a:p>
          <a:p>
            <a:r>
              <a:rPr lang="pl-PL" dirty="0" smtClean="0"/>
              <a:t>Można to porównać do samochodu. UI to kierownica, przyciski, deska rozdzielcza i ich rozmieszczenie. UX to całe doświadczenie jazdy: wygoda, poczucie kontroli, bezpieczeństwo i satysfakcja z użytkowania.</a:t>
            </a:r>
          </a:p>
          <a:p>
            <a:r>
              <a:rPr lang="pl-PL" dirty="0" smtClean="0"/>
              <a:t>Bardzo ważna zależność jest taka, że </a:t>
            </a:r>
            <a:r>
              <a:rPr lang="pl-PL" b="1" dirty="0" smtClean="0"/>
              <a:t>UI jest częścią UX</a:t>
            </a:r>
            <a:r>
              <a:rPr lang="pl-PL" dirty="0" smtClean="0"/>
              <a:t>, ale UX nie ogranicza się do UI. Można stworzyć piękny wizualnie interfejs, który będzie fatalny w użyciu. Można też mieć bardzo logiczny proces, który zostanie osłabiony przez zły układ i słabą komunikację wizualną. Dlatego oba obszary trzeba traktować łącznie.</a:t>
            </a:r>
          </a:p>
          <a:p>
            <a:r>
              <a:rPr lang="pl-PL" dirty="0" smtClean="0"/>
              <a:t>Warto też wspomnieć o interesującym zjawisku znanym z badań nad użytecznością. Użytkownicy mają tendencję do oceniania atrakcyjnych interfejsów jako bardziej użytecznych, nawet jeśli obiektywnie nie zawsze takie są. To pokazuje, że estetyka realnie wpływa na percepcję jakości.</a:t>
            </a:r>
          </a:p>
          <a:p>
            <a:pPr marL="0" marR="0" lvl="0" indent="0" algn="l" defTabSz="914400" rtl="0" eaLnBrk="1" fontAlgn="auto" latinLnBrk="0" hangingPunct="1">
              <a:lnSpc>
                <a:spcPct val="100000"/>
              </a:lnSpc>
              <a:spcBef>
                <a:spcPts val="0"/>
              </a:spcBef>
              <a:spcAft>
                <a:spcPts val="0"/>
              </a:spcAft>
              <a:buClrTx/>
              <a:buSzTx/>
              <a:buFontTx/>
              <a:buNone/>
              <a:tabLst/>
              <a:defRPr/>
            </a:pPr>
            <a:r>
              <a:rPr lang="pl-PL" b="1" dirty="0" smtClean="0"/>
              <a:t>Ciekawostka</a:t>
            </a:r>
            <a:r>
              <a:rPr lang="pl-PL" dirty="0" smtClean="0"/>
              <a:t>: badania pokazują, że użytkownicy mają tendencję do oceniania atrakcyjnych interfejsów jako bardziej użytecznych, nawet jeśli obiektywnie wykonują na nich zadania wolniej. To zjawisko znane jest jako </a:t>
            </a:r>
            <a:r>
              <a:rPr lang="pl-PL" dirty="0" err="1" smtClean="0"/>
              <a:t>aesthetic-usability</a:t>
            </a:r>
            <a:r>
              <a:rPr lang="pl-PL" dirty="0" smtClean="0"/>
              <a:t> </a:t>
            </a:r>
            <a:r>
              <a:rPr lang="pl-PL" dirty="0" err="1" smtClean="0"/>
              <a:t>effect</a:t>
            </a:r>
            <a:r>
              <a:rPr lang="pl-PL" dirty="0" smtClean="0"/>
              <a:t>.</a:t>
            </a:r>
          </a:p>
          <a:p>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Projektowanie mobilne nie powstało od razu w obecnej formie. Przeszło długą ewolucję. W latach dziewięćdziesiątych i na początku XXI wieku dominowały telefony z małymi ekranami i fizycznymi klawiaturami. Interakcja była oparta głównie na prostych menu tekstowych, podstawowych ikonach i bardzo ograniczonej liczbie funkcji.</a:t>
            </a:r>
          </a:p>
          <a:p>
            <a:r>
              <a:rPr lang="pl-PL" dirty="0" smtClean="0"/>
              <a:t>Prawdziwy przełom nastąpił w roku 2007 wraz z premierą </a:t>
            </a:r>
            <a:r>
              <a:rPr lang="pl-PL" dirty="0" err="1" smtClean="0"/>
              <a:t>iPhone’a</a:t>
            </a:r>
            <a:r>
              <a:rPr lang="pl-PL" dirty="0" smtClean="0"/>
              <a:t>. Wielodotykowy ekran zmienił wszystko. Zniknęła fizyczna klawiatura, a na jej miejsce pojawiła się nowa logika interakcji: gesty, przesuwanie, szczypanie, przewijanie i bezpośrednia manipulacja treścią.</a:t>
            </a:r>
          </a:p>
          <a:p>
            <a:r>
              <a:rPr lang="pl-PL" dirty="0" smtClean="0"/>
              <a:t>Kolejnym ważnym etapem było powstanie formalnych systemów projektowych. Apple rozwijało swoje </a:t>
            </a:r>
            <a:r>
              <a:rPr lang="pl-PL" b="1" dirty="0" smtClean="0"/>
              <a:t>Human Interface </a:t>
            </a:r>
            <a:r>
              <a:rPr lang="pl-PL" b="1" dirty="0" err="1" smtClean="0"/>
              <a:t>Guidelines</a:t>
            </a:r>
            <a:r>
              <a:rPr lang="pl-PL" dirty="0" smtClean="0"/>
              <a:t>, a Google wprowadził </a:t>
            </a:r>
            <a:r>
              <a:rPr lang="pl-PL" b="1" dirty="0" err="1" smtClean="0"/>
              <a:t>Material</a:t>
            </a:r>
            <a:r>
              <a:rPr lang="pl-PL" b="1" dirty="0" smtClean="0"/>
              <a:t> Design</a:t>
            </a:r>
            <a:r>
              <a:rPr lang="pl-PL" dirty="0" smtClean="0"/>
              <a:t>, czyli spójny język wizualny i komponentowy dla Androida.</a:t>
            </a:r>
          </a:p>
          <a:p>
            <a:r>
              <a:rPr lang="pl-PL" dirty="0" smtClean="0"/>
              <a:t>Obecnie projektowanie mobilne wychodzi daleko poza sam smartfon. Obejmuje smartwatche, tablety, urządzenia ubieralne, systemy samochodowe, a także rozszerzoną i wirtualną rzeczywistość. Oznacza to, że współczesny projektant coraz częściej projektuje nie pojedynczy ekran, lecz cały ekosystem interakcji.</a:t>
            </a:r>
          </a:p>
          <a:p>
            <a:r>
              <a:rPr lang="pl-PL" b="1" dirty="0" smtClean="0"/>
              <a:t>Ciekawostka historyczna</a:t>
            </a:r>
            <a:r>
              <a:rPr lang="pl-PL" dirty="0" smtClean="0"/>
              <a:t>: przez wiele lat dominował tak zwany </a:t>
            </a:r>
            <a:r>
              <a:rPr lang="pl-PL" b="1" dirty="0" err="1" smtClean="0"/>
              <a:t>skeuomorfizm</a:t>
            </a:r>
            <a:r>
              <a:rPr lang="pl-PL" dirty="0" smtClean="0"/>
              <a:t>, czyli projektowanie elementów cyfrowych tak, aby przypominały obiekty fizyczne. Kalendarz wyglądał jak papierowy notatnik, a ikona półki na książki była rzeczywiście drewnianą półką. Dziś odchodzi się od tego na rzecz większej abstrakcji i minimalizmu.</a:t>
            </a:r>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Projektowanie mobilne różni się od desktopowego na kilku fundamentalnych poziomach. Po pierwsze mamy </a:t>
            </a:r>
            <a:r>
              <a:rPr lang="pl-PL" b="1" dirty="0" smtClean="0"/>
              <a:t>ograniczoną przestrzeń ekranu</a:t>
            </a:r>
            <a:r>
              <a:rPr lang="pl-PL" dirty="0" smtClean="0"/>
              <a:t>. Na małym ekranie nie da się pokazać wszystkiego naraz, dlatego projektant musi bezlitośnie </a:t>
            </a:r>
            <a:r>
              <a:rPr lang="pl-PL" dirty="0" err="1" smtClean="0"/>
              <a:t>priorytetyzować</a:t>
            </a:r>
            <a:r>
              <a:rPr lang="pl-PL" dirty="0" smtClean="0"/>
              <a:t> treść i funkcje.</a:t>
            </a:r>
          </a:p>
          <a:p>
            <a:r>
              <a:rPr lang="pl-PL" dirty="0" smtClean="0"/>
              <a:t>Po drugie mamy </a:t>
            </a:r>
            <a:r>
              <a:rPr lang="pl-PL" b="1" dirty="0" smtClean="0"/>
              <a:t>interakcję dotykową</a:t>
            </a:r>
            <a:r>
              <a:rPr lang="pl-PL" dirty="0" smtClean="0"/>
              <a:t>. Palec jest mniej precyzyjny niż wskaźnik myszy, a dodatkowo zasłania część ekranu. Oznacza to, że rozmiar przycisków, odległości między nimi oraz ich pozycja na ekranie mają kluczowe znaczenie.</a:t>
            </a:r>
          </a:p>
          <a:p>
            <a:r>
              <a:rPr lang="pl-PL" dirty="0" smtClean="0"/>
              <a:t>Po trzecie liczy się </a:t>
            </a:r>
            <a:r>
              <a:rPr lang="pl-PL" b="1" dirty="0" smtClean="0"/>
              <a:t>kontekst użycia</a:t>
            </a:r>
            <a:r>
              <a:rPr lang="pl-PL" dirty="0" smtClean="0"/>
              <a:t>. Użytkownik mobilny często korzysta z telefonu w ruchu, jedną ręką, pod presją czasu, w pełnym słońcu, w tłumie albo przy rozproszonej uwadze. Interfejs musi więc być czytelny, odporny na błędy i szybki do zrozumienia.</a:t>
            </a:r>
          </a:p>
          <a:p>
            <a:r>
              <a:rPr lang="pl-PL" dirty="0" smtClean="0"/>
              <a:t>Dochodzi do tego jeszcze </a:t>
            </a:r>
            <a:r>
              <a:rPr lang="pl-PL" b="1" dirty="0" smtClean="0"/>
              <a:t>fragmentacja urządzeń</a:t>
            </a:r>
            <a:r>
              <a:rPr lang="pl-PL" dirty="0" smtClean="0"/>
              <a:t>. Istnieje ogromna liczba rozmiarów ekranów, rozdzielczości, proporcji i producentów. To oznacza, że projektowanie mobilne wymaga dużej elastyczności, a nie tylko statycznego myślenia w kategoriach jednego „idealnego” ekranu.</a:t>
            </a:r>
          </a:p>
          <a:p>
            <a:r>
              <a:rPr lang="pl-PL" dirty="0" smtClean="0"/>
              <a:t>Warto tutaj zapamiętać jedną </a:t>
            </a:r>
            <a:r>
              <a:rPr lang="pl-PL" b="1" dirty="0" smtClean="0"/>
              <a:t>zasadę praktyczną</a:t>
            </a:r>
            <a:r>
              <a:rPr lang="pl-PL" dirty="0" smtClean="0"/>
              <a:t>: interfejs mobilny powinien być projektowany nie dla idealnego użytkownika siedzącego spokojnie przy biurku, ale dla realnego człowieka, który jest zabiegany, rozproszony i często wykonuje kilka rzeczy naraz.</a:t>
            </a:r>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Przechodzimy teraz do drugiej sekcji, czyli do rodzajów interfejsów użytkownika. To ważny temat, ponieważ bardzo często, gdy ktoś mówi „interfejs”, myśli wyłącznie o ekranie pełnym przycisków i ikon. Tymczasem człowiek może komunikować się z systemem na wiele sposobów: przez obraz, tekst, dotyk, głos, ruch, a nawet spojrzenie.</a:t>
            </a:r>
          </a:p>
          <a:p>
            <a:r>
              <a:rPr lang="pl-PL" dirty="0" smtClean="0"/>
              <a:t>Zrozumienie tej różnorodności jest szczególnie ważne w projektowaniu nowoczesnych aplikacji, które coraz częściej łączą różne modalności interakcji. Nie chodzi więc o to, aby wybrać jeden jedyny właściwy interfejs, ale aby dobrać taki sposób komunikacji, który najlepiej odpowiada sytuacji użytkownika.</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smtClean="0"/>
              <a:t>To dobre miejsce, by uświadomić studentom, że przyszłość interakcji nie polega na zastąpieniu GUI przez inny rodzaj interfejsu, ale na inteligentnym łączeniu ich zależnie od kontekstu. W samochodzie wygodniejszy może być głos, w aplikacji bankowej formularz tekstowy, a w AR — gest i ruch głowy.</a:t>
            </a:r>
          </a:p>
          <a:p>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Najbardziej klasycznym i wciąż dominującym typem interfejsu jest </a:t>
            </a:r>
            <a:r>
              <a:rPr lang="pl-PL" b="1" dirty="0" smtClean="0"/>
              <a:t>GUI</a:t>
            </a:r>
            <a:r>
              <a:rPr lang="pl-PL" dirty="0" smtClean="0"/>
              <a:t>, czyli </a:t>
            </a:r>
            <a:r>
              <a:rPr lang="pl-PL" b="1" dirty="0" err="1" smtClean="0"/>
              <a:t>Graphical</a:t>
            </a:r>
            <a:r>
              <a:rPr lang="pl-PL" b="1" dirty="0" smtClean="0"/>
              <a:t> User Interface</a:t>
            </a:r>
            <a:r>
              <a:rPr lang="pl-PL" dirty="0" smtClean="0"/>
              <a:t>. To interfejs oparty na elementach wizualnych: ikonach, przyciskach, listach, menu, kartach i polach formularzy. Większość aplikacji mobilnych, z których korzystamy na co dzień, działa właśnie w tym paradygmacie.</a:t>
            </a:r>
          </a:p>
          <a:p>
            <a:r>
              <a:rPr lang="pl-PL" dirty="0" smtClean="0"/>
              <a:t>Siła GUI wynika przede wszystkim z jego intuicyjności. Użytkownicy bardzo szybko rozpoznają wzorce wizualne, zwłaszcza jeśli są one zgodne z utrwalonymi konwencjami. Ikona kosza oznacza usuwanie, lupa oznacza wyszukiwanie, a zębatka ustawienia. Dzięki temu interfejs może być rozumiany niemal natychmiast.</a:t>
            </a:r>
          </a:p>
          <a:p>
            <a:r>
              <a:rPr lang="pl-PL" dirty="0" smtClean="0"/>
              <a:t>GUI ma jednak także swoje ograniczenia. Wymaga wzrokowej uwagi i może łatwo zostać przeciążony nadmiarem elementów. Jeśli projektant umieści na ekranie zbyt wiele opcji, użytkownik straci orientację.</a:t>
            </a:r>
          </a:p>
          <a:p>
            <a:r>
              <a:rPr lang="pl-PL" dirty="0" smtClean="0"/>
              <a:t>W praktyce dobre GUI to nie takie, które ma dużo elementów, ale takie, które ma ich dokładnie tyle, ile potrzeba, i które są uporządkowane zgodnie z logiką zadania użytkownika.</a:t>
            </a:r>
          </a:p>
          <a:p>
            <a:r>
              <a:rPr lang="pl-PL" b="1" dirty="0" smtClean="0"/>
              <a:t>Ciekawostka</a:t>
            </a:r>
            <a:r>
              <a:rPr lang="pl-PL" dirty="0" smtClean="0"/>
              <a:t>: wiele ikon, które dziś traktujemy jako oczywiste, to po prostu kulturowe konwencje. Młodsze pokolenia rozumieją ikonę dyskietki jako „zapisz”, mimo że nigdy nie miały w ręku prawdziwej dyskietki.</a:t>
            </a:r>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Drugim typem interfejsu jest </a:t>
            </a:r>
            <a:r>
              <a:rPr lang="pl-PL" b="1" dirty="0" smtClean="0"/>
              <a:t>VUI</a:t>
            </a:r>
            <a:r>
              <a:rPr lang="pl-PL" dirty="0" smtClean="0"/>
              <a:t>, czyli </a:t>
            </a:r>
            <a:r>
              <a:rPr lang="pl-PL" b="1" dirty="0" smtClean="0"/>
              <a:t>Voice User Interface</a:t>
            </a:r>
            <a:r>
              <a:rPr lang="pl-PL" dirty="0" smtClean="0"/>
              <a:t>, a więc interfejs głosowy. W tym przypadku użytkownik komunikuje się z systemem za pomocą mowy, a system odpowiada głosowo lub tekstowo.</a:t>
            </a:r>
          </a:p>
          <a:p>
            <a:r>
              <a:rPr lang="pl-PL" dirty="0" smtClean="0"/>
              <a:t>Najbardziej znane przykłady to </a:t>
            </a:r>
            <a:r>
              <a:rPr lang="pl-PL" dirty="0" err="1" smtClean="0"/>
              <a:t>Siri</a:t>
            </a:r>
            <a:r>
              <a:rPr lang="pl-PL" dirty="0" smtClean="0"/>
              <a:t>, Google Assistant czy </a:t>
            </a:r>
            <a:r>
              <a:rPr lang="pl-PL" dirty="0" err="1" smtClean="0"/>
              <a:t>Alexa</a:t>
            </a:r>
            <a:r>
              <a:rPr lang="pl-PL" dirty="0" smtClean="0"/>
              <a:t>. W interfejsach mobilnych głos świetnie sprawdza się wtedy, gdy użytkownik nie może wygodnie korzystać z ekranu, na przykład podczas jazdy samochodem, gotowania czy wykonywania czynności manualnych.</a:t>
            </a:r>
          </a:p>
          <a:p>
            <a:r>
              <a:rPr lang="pl-PL" dirty="0" smtClean="0"/>
              <a:t>Jednocześnie trzeba pamiętać, że interfejs głosowy nie jest rozwiązaniem uniwersalnym. Bardzo dobrze działa przy prostych poleceniach i krótkich zadaniach, ale gorzej radzi sobie tam, gdzie potrzebne jest porównywanie wielu opcji jednocześnie lub precyzyjna kontrola nad skomplikowanym procesem.</a:t>
            </a:r>
          </a:p>
          <a:p>
            <a:r>
              <a:rPr lang="pl-PL" dirty="0" smtClean="0"/>
              <a:t>Projektowanie VUI jest też inne niż projektowanie GUI. Tutaj projektuje się w pewnym sensie dialog. Trzeba przewidywać różne warianty wypowiedzi, błędy rozpoznawania oraz sposoby potwierdzania intencji użytkownika.</a:t>
            </a:r>
          </a:p>
          <a:p>
            <a:r>
              <a:rPr lang="pl-PL" dirty="0" smtClean="0"/>
              <a:t>To dobry moment, żeby studentom uświadomić, że w przyszłości interfejsy głosowe będą coraz częściej współistnieć z graficznymi, tworząc systemy hybrydowe, zamiast całkowicie je zastępować.</a:t>
            </a:r>
          </a:p>
          <a:p>
            <a:pPr marL="0" marR="0" lvl="0" indent="0" algn="l" defTabSz="914400" rtl="0" eaLnBrk="1" fontAlgn="auto" latinLnBrk="0" hangingPunct="1">
              <a:lnSpc>
                <a:spcPct val="100000"/>
              </a:lnSpc>
              <a:spcBef>
                <a:spcPts val="0"/>
              </a:spcBef>
              <a:spcAft>
                <a:spcPts val="0"/>
              </a:spcAft>
              <a:buClrTx/>
              <a:buSzTx/>
              <a:buFontTx/>
              <a:buNone/>
              <a:tabLst/>
              <a:defRPr/>
            </a:pPr>
            <a:r>
              <a:rPr lang="pl-PL" b="1" dirty="0" smtClean="0"/>
              <a:t>Ciekawostka</a:t>
            </a:r>
            <a:r>
              <a:rPr lang="pl-PL" dirty="0" smtClean="0"/>
              <a:t>: paradoksalnie interfejs głosowy jest często bardziej „scenariuszowy” niż graficzny. Dobry projektant VUI musi przewidzieć wiele wariantów wypowiedzi użytkownika oraz liczne błędy rozpoznawania.</a:t>
            </a:r>
          </a:p>
          <a:p>
            <a:endParaRPr lang="pl-PL" dirty="0" smtClean="0"/>
          </a:p>
          <a:p>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Kolejną kategorią jest </a:t>
            </a:r>
            <a:r>
              <a:rPr lang="pl-PL" b="1" dirty="0" smtClean="0"/>
              <a:t>NUI</a:t>
            </a:r>
            <a:r>
              <a:rPr lang="pl-PL" dirty="0" smtClean="0"/>
              <a:t>, czyli </a:t>
            </a:r>
            <a:r>
              <a:rPr lang="pl-PL" b="1" dirty="0" smtClean="0"/>
              <a:t>Natural User Interface</a:t>
            </a:r>
            <a:r>
              <a:rPr lang="pl-PL" dirty="0" smtClean="0"/>
              <a:t>. To interfejsy wykorzystujące zachowania przypominające naturalne działania człowieka: gesty, ruch, mimikę, spojrzenie czy manipulację obiektem w przestrzeni.</a:t>
            </a:r>
          </a:p>
          <a:p>
            <a:r>
              <a:rPr lang="pl-PL" dirty="0" smtClean="0"/>
              <a:t>W praktyce mobilnej bardzo często spotykamy NUI w formie gestów dotykowych, takich jak przesunięcie, szczypanie czy obrót. Do tej kategorii można też zaliczyć rozwiązania wykorzystujące akcelerometr, żyroskop, rozpoznawanie twarzy czy elementy rozszerzonej rzeczywistości.</a:t>
            </a:r>
          </a:p>
          <a:p>
            <a:r>
              <a:rPr lang="pl-PL" dirty="0" smtClean="0"/>
              <a:t>Warto jednak zwrócić uwagę na ważną rzecz. Słowo „naturalny” nie oznacza, że sposób interakcji jest wrodzony. Wiele takich zachowań zostało po prostu utrwalonych kulturowo. Na przykład gest rozsuwania palców w celu powiększenia obrazu dziś wydaje się oczywisty, ale kiedyś wcale taki nie był.</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smtClean="0"/>
              <a:t>Dobry przykład dla studentów to rozszerzona rzeczywistość. Tam NUI obejmuje ruch urządzenia, pozycję użytkownika względem otoczenia, a czasem także rozpoznawanie twarzy czy dłoni. To już nie tylko ekran, ale całe ciało jako element interakcji.</a:t>
            </a:r>
          </a:p>
          <a:p>
            <a:endParaRPr lang="pl-PL" dirty="0" smtClean="0"/>
          </a:p>
          <a:p>
            <a:r>
              <a:rPr lang="pl-PL" dirty="0" smtClean="0"/>
              <a:t>NUI staje się szczególnie ważny w kontekście AR, VR i urządzeń ubieralnych. To właśnie tam człowiek coraz częściej komunikuje się z systemem nie przez kliknięcie, lecz przez ruch, pozycję ciała i kontekst przestrzenny.</a:t>
            </a:r>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Teraz przechodzimy do </a:t>
            </a:r>
            <a:r>
              <a:rPr lang="pl-PL" b="1" dirty="0" smtClean="0"/>
              <a:t>TUI</a:t>
            </a:r>
            <a:r>
              <a:rPr lang="pl-PL" dirty="0" smtClean="0"/>
              <a:t>, czyli </a:t>
            </a:r>
            <a:r>
              <a:rPr lang="pl-PL" b="1" dirty="0" err="1" smtClean="0"/>
              <a:t>Touch</a:t>
            </a:r>
            <a:r>
              <a:rPr lang="pl-PL" b="1" dirty="0" smtClean="0"/>
              <a:t> User Interface</a:t>
            </a:r>
            <a:r>
              <a:rPr lang="pl-PL" dirty="0" smtClean="0"/>
              <a:t>. W praktyce smartfonów jest to prawdopodobnie najważniejszy typ interfejsu, ponieważ zdecydowana większość interakcji na telefonie odbywa się właśnie przez dotyk.</a:t>
            </a:r>
          </a:p>
          <a:p>
            <a:r>
              <a:rPr lang="pl-PL" dirty="0" smtClean="0"/>
              <a:t>Projektowanie TUI wymaga zrozumienia fizycznych ograniczeń użytkownika. Palec jest mniej precyzyjny niż mysz, a człowiek bardzo często trzyma telefon jedną ręką. Dlatego tak istotne są rozmiary celów dotykowych i koncepcja tak zwanej </a:t>
            </a:r>
            <a:r>
              <a:rPr lang="pl-PL" b="1" dirty="0" smtClean="0"/>
              <a:t>strefy kciuka</a:t>
            </a:r>
            <a:r>
              <a:rPr lang="pl-PL" dirty="0" smtClean="0"/>
              <a:t>.</a:t>
            </a:r>
          </a:p>
          <a:p>
            <a:r>
              <a:rPr lang="pl-PL" dirty="0" smtClean="0"/>
              <a:t>Dolna część ekranu jest najłatwiej dostępna, środkowa wymaga większego wysiłku, a górna często jest niewygodna. To ma bezpośredni wpływ na projektowanie nawigacji, przycisków akcji i najważniejszych elementów sterujących.</a:t>
            </a:r>
          </a:p>
          <a:p>
            <a:r>
              <a:rPr lang="pl-PL" dirty="0" smtClean="0"/>
              <a:t>Warto tu studentom przypomnieć również o zasadzie, że przyciski mogą wyglądać na niewielkie, ale ich obszar aktywny powinien być odpowiednio duży. Dobrze zaprojektowany interfejs nie zmusza użytkownika do chirurgicznej precyzji.</a:t>
            </a:r>
          </a:p>
          <a:p>
            <a:r>
              <a:rPr lang="pl-PL" dirty="0" smtClean="0"/>
              <a:t>Można to </a:t>
            </a:r>
            <a:r>
              <a:rPr lang="pl-PL" b="1" dirty="0" smtClean="0"/>
              <a:t>podsumować bardzo prosto</a:t>
            </a:r>
            <a:r>
              <a:rPr lang="pl-PL" dirty="0" smtClean="0"/>
              <a:t>: jeśli użytkownik musi „polować” palcem na przycisk, to interfejs został źle zaprojektowany.</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smtClean="0"/>
              <a:t>Można studentom podać prostą zasadę: jeśli da się przypadkiem kliknąć zły element w biegu, to projekt nie jest jeszcze gotowy.</a:t>
            </a:r>
          </a:p>
          <a:p>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Na tym slajdzie zestawiono dwa typy interfejsów: </a:t>
            </a:r>
            <a:r>
              <a:rPr lang="pl-PL" b="1" dirty="0" smtClean="0"/>
              <a:t>CLI</a:t>
            </a:r>
            <a:r>
              <a:rPr lang="pl-PL" dirty="0" smtClean="0"/>
              <a:t>, czyli </a:t>
            </a:r>
            <a:r>
              <a:rPr lang="pl-PL" b="1" dirty="0" err="1" smtClean="0"/>
              <a:t>Command</a:t>
            </a:r>
            <a:r>
              <a:rPr lang="pl-PL" b="1" dirty="0" smtClean="0"/>
              <a:t> Line Interface</a:t>
            </a:r>
            <a:r>
              <a:rPr lang="pl-PL" dirty="0" smtClean="0"/>
              <a:t>, oraz </a:t>
            </a:r>
            <a:r>
              <a:rPr lang="pl-PL" b="1" dirty="0" smtClean="0"/>
              <a:t>CUI</a:t>
            </a:r>
            <a:r>
              <a:rPr lang="pl-PL" dirty="0" smtClean="0"/>
              <a:t>, czyli </a:t>
            </a:r>
            <a:r>
              <a:rPr lang="pl-PL" b="1" dirty="0" err="1" smtClean="0"/>
              <a:t>Conversational</a:t>
            </a:r>
            <a:r>
              <a:rPr lang="pl-PL" b="1" dirty="0" smtClean="0"/>
              <a:t> User Interface</a:t>
            </a:r>
            <a:r>
              <a:rPr lang="pl-PL" dirty="0" smtClean="0"/>
              <a:t>.</a:t>
            </a:r>
          </a:p>
          <a:p>
            <a:r>
              <a:rPr lang="pl-PL" dirty="0" smtClean="0"/>
              <a:t>CLI to interfejs tekstowy oparty na komendach. Na urządzeniach mobilnych nie jest powszechny, ale ma znaczenie w zastosowaniach specjalistycznych, zwłaszcza dla administratorów, programistów i osób zarządzających systemami z telefonu.</a:t>
            </a:r>
          </a:p>
          <a:p>
            <a:r>
              <a:rPr lang="pl-PL" dirty="0" smtClean="0"/>
              <a:t>CUI opiera się natomiast na rozmowie, najczęściej tekstowej. To </a:t>
            </a:r>
            <a:r>
              <a:rPr lang="pl-PL" dirty="0" err="1" smtClean="0"/>
              <a:t>chatboty</a:t>
            </a:r>
            <a:r>
              <a:rPr lang="pl-PL" dirty="0" smtClean="0"/>
              <a:t>, asystenci w aplikacjach bankowych, systemy wsparcia klienta czy inteligentne moduły pomocy w e-commerce.</a:t>
            </a:r>
          </a:p>
          <a:p>
            <a:r>
              <a:rPr lang="pl-PL" dirty="0" smtClean="0"/>
              <a:t>Różnica jest istotna. CLI wymaga znajomości składni i precyzyjnych poleceń. CUI próbuje wykorzystać język zbliżony do naturalnego, co obniża próg wejścia dla użytkownika.</a:t>
            </a:r>
          </a:p>
          <a:p>
            <a:r>
              <a:rPr lang="pl-PL" dirty="0" smtClean="0"/>
              <a:t>Współczesny trend jest bardzo interesujący: coraz więcej produktów łączy GUI z CUI. Użytkownik może na przykład napisać pytanie do bota, a następnie wybrać jedną z proponowanych opcji za pomocą przycisków. To praktyczne połączenie dialogu z szybkością wizualnego wyboru.</a:t>
            </a:r>
          </a:p>
          <a:p>
            <a:endParaRPr lang="pl-PL"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smtClean="0"/>
              <a:t>To dobry moment, by wspomnieć o interfejsach hybrydowych. W nowoczesnych produktach GUI i CUI coraz częściej współistnieją. Na przykład użytkownik może rozpocząć zadanie w oknie czatu, a następnie wybrać jedną z proponowanych akcji przyciskami. To bardzo praktyczne połączenie elastyczności rozmowy z szybkością wyboru wizualnego.</a:t>
            </a:r>
          </a:p>
          <a:p>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Przechodzimy teraz do jednej z najważniejszych części wykładu, czyli do zasad projektowania. To tutaj zaczyna się prawdziwy warsztat projektanta. Bardzo ważne jest, aby Państwo zapamiętali, że projektowanie nie polega wyłącznie na estetycznym wyczuciu. Jest oparte na regułach, obserwacjach i prawidłowościach ludzkiego zachowania.</a:t>
            </a:r>
          </a:p>
          <a:p>
            <a:r>
              <a:rPr lang="pl-PL" dirty="0" smtClean="0"/>
              <a:t>Omówimy trzy kluczowe obszary: </a:t>
            </a:r>
            <a:r>
              <a:rPr lang="pl-PL" b="1" dirty="0" smtClean="0"/>
              <a:t>heurystyki Nielsena</a:t>
            </a:r>
            <a:r>
              <a:rPr lang="pl-PL" dirty="0" smtClean="0"/>
              <a:t>, </a:t>
            </a:r>
            <a:r>
              <a:rPr lang="pl-PL" b="1" dirty="0" smtClean="0"/>
              <a:t>prawo </a:t>
            </a:r>
            <a:r>
              <a:rPr lang="pl-PL" b="1" dirty="0" err="1" smtClean="0"/>
              <a:t>Hicka</a:t>
            </a:r>
            <a:r>
              <a:rPr lang="pl-PL" dirty="0" smtClean="0"/>
              <a:t> i </a:t>
            </a:r>
            <a:r>
              <a:rPr lang="pl-PL" b="1" dirty="0" smtClean="0"/>
              <a:t>prawo </a:t>
            </a:r>
            <a:r>
              <a:rPr lang="pl-PL" b="1" dirty="0" err="1" smtClean="0"/>
              <a:t>Fittsa</a:t>
            </a:r>
            <a:r>
              <a:rPr lang="pl-PL" dirty="0" smtClean="0"/>
              <a:t>. To zestaw pojęć, które powinny wejść do codziennego języka każdego, kto projektuje lub implementuje interfejsy.</a:t>
            </a:r>
          </a:p>
          <a:p>
            <a:endParaRPr lang="pl-PL"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smtClean="0"/>
              <a:t>W tej części pokażemy trzy filary: heurystyki Nielsena, prawo </a:t>
            </a:r>
            <a:r>
              <a:rPr lang="pl-PL" dirty="0" err="1" smtClean="0"/>
              <a:t>Hicka</a:t>
            </a:r>
            <a:r>
              <a:rPr lang="pl-PL" dirty="0" smtClean="0"/>
              <a:t> i prawo </a:t>
            </a:r>
            <a:r>
              <a:rPr lang="pl-PL" dirty="0" err="1" smtClean="0"/>
              <a:t>Fittsa</a:t>
            </a:r>
            <a:r>
              <a:rPr lang="pl-PL" dirty="0" smtClean="0"/>
              <a:t>. To zestaw pojęć, które powinny wejść studentom do codziennego słownika projektowego.</a:t>
            </a:r>
          </a:p>
          <a:p>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Heurystyki Nielsena to klasyczny zestaw zasad użyteczności, opublikowany jeszcze w latach dziewięćdziesiątych, ale do dziś niezwykle aktualny. Ich siła polega na tym, że nie są związane z jedną technologią czy jedną platformą. Opisują uniwersalne wzorce dobrego projektowania.</a:t>
            </a:r>
          </a:p>
          <a:p>
            <a:r>
              <a:rPr lang="pl-PL" dirty="0" smtClean="0"/>
              <a:t>Pierwsza ważna zasada to </a:t>
            </a:r>
            <a:r>
              <a:rPr lang="pl-PL" b="1" dirty="0" smtClean="0"/>
              <a:t>widoczność statusu systemu</a:t>
            </a:r>
            <a:r>
              <a:rPr lang="pl-PL" dirty="0" smtClean="0"/>
              <a:t>. Użytkownik zawsze powinien wiedzieć, co się dzieje: czy trwa ładowanie, czy operacja została zakończona, czy coś poszło nie tak. Brak informacji zwrotnej niemal natychmiast rodzi niepewność.</a:t>
            </a:r>
          </a:p>
          <a:p>
            <a:r>
              <a:rPr lang="pl-PL" dirty="0" smtClean="0"/>
              <a:t>Druga ważna kwestia to </a:t>
            </a:r>
            <a:r>
              <a:rPr lang="pl-PL" b="1" dirty="0" smtClean="0"/>
              <a:t>kontrola i wolność użytkownika</a:t>
            </a:r>
            <a:r>
              <a:rPr lang="pl-PL" dirty="0" smtClean="0"/>
              <a:t>. Użytkownik powinien móc cofnąć akcję, przerwać proces albo wyjść z niechcianego stanu. To bardzo ważne, bo poczucie braku kontroli błyskawicznie obniża zaufanie do systemu.</a:t>
            </a:r>
          </a:p>
          <a:p>
            <a:r>
              <a:rPr lang="pl-PL" dirty="0" smtClean="0"/>
              <a:t>Kolejna zasada to </a:t>
            </a:r>
            <a:r>
              <a:rPr lang="pl-PL" b="1" dirty="0" smtClean="0"/>
              <a:t>zapobieganie błędom</a:t>
            </a:r>
            <a:r>
              <a:rPr lang="pl-PL" dirty="0" smtClean="0"/>
              <a:t>. Lepiej nie dopuścić do pomyłki, niż później przepraszać za jej konsekwencje. Dlatego tak ważne są walidacje, potwierdzenia akcji destrukcyjnych i sensowne wartości domyślne.</a:t>
            </a:r>
          </a:p>
          <a:p>
            <a:r>
              <a:rPr lang="pl-PL" dirty="0" smtClean="0"/>
              <a:t>Nie można też zapomnieć o </a:t>
            </a:r>
            <a:r>
              <a:rPr lang="pl-PL" b="1" dirty="0" smtClean="0"/>
              <a:t>spójności i standardach</a:t>
            </a:r>
            <a:r>
              <a:rPr lang="pl-PL" dirty="0" smtClean="0"/>
              <a:t>, </a:t>
            </a:r>
            <a:r>
              <a:rPr lang="pl-PL" b="1" dirty="0" smtClean="0"/>
              <a:t>minimalizmie</a:t>
            </a:r>
            <a:r>
              <a:rPr lang="pl-PL" dirty="0" smtClean="0"/>
              <a:t>, </a:t>
            </a:r>
            <a:r>
              <a:rPr lang="pl-PL" b="1" dirty="0" smtClean="0"/>
              <a:t>pomocy w rozpoznawaniu zamiast przypominaniu</a:t>
            </a:r>
            <a:r>
              <a:rPr lang="pl-PL" dirty="0" smtClean="0"/>
              <a:t> oraz o czytelnych komunikatach błędów.</a:t>
            </a:r>
          </a:p>
          <a:p>
            <a:r>
              <a:rPr lang="pl-PL" dirty="0" smtClean="0"/>
              <a:t>W praktyce heurystyki Nielsena są świetnym narzędziem do oceny istniejących interfejsów. Można niemal każdą aplikację przeanalizować przez ten zestaw zasad i bardzo szybko znaleźć słabe punkty</a:t>
            </a:r>
          </a:p>
          <a:p>
            <a:endParaRPr lang="pl-PL"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smtClean="0"/>
              <a:t>Ciekawostka dydaktyczna: nawet bardzo popularne aplikacje często łamią heurystyki. To dobra wiadomość dla studentów — oznacza, że umiejętność krytycznej oceny UI jest realną kompetencją zawodową.</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Prawo </a:t>
            </a:r>
            <a:r>
              <a:rPr lang="pl-PL" dirty="0" err="1" smtClean="0"/>
              <a:t>Hicka</a:t>
            </a:r>
            <a:r>
              <a:rPr lang="pl-PL" dirty="0" smtClean="0"/>
              <a:t> mówi, że </a:t>
            </a:r>
            <a:r>
              <a:rPr lang="pl-PL" b="1" dirty="0" smtClean="0"/>
              <a:t>czas podjęcia decyzji rośnie wraz z liczbą dostępnych opcji</a:t>
            </a:r>
            <a:r>
              <a:rPr lang="pl-PL" dirty="0" smtClean="0"/>
              <a:t>. To jedna z podstawowych zasad psychologii decyzji, która ma bezpośrednie zastosowanie w projektowaniu interfejsów.</a:t>
            </a:r>
          </a:p>
          <a:p>
            <a:r>
              <a:rPr lang="pl-PL" dirty="0" smtClean="0"/>
              <a:t>W praktyce oznacza to, że użytkownik potrzebuje więcej czasu, gdy widzi zbyt wiele możliwości naraz. Oczywiście wzrost ten nie jest liniowy, lecz logarytmiczny, ale z punktu widzenia UX najważniejsze jest to, że przeładowany ekran zwiększa koszt poznawczy.</a:t>
            </a:r>
          </a:p>
          <a:p>
            <a:r>
              <a:rPr lang="pl-PL" dirty="0" smtClean="0"/>
              <a:t>Dlatego dobre projektowanie często polega nie na dodawaniu kolejnych opcji, ale na redukowaniu złożoności. Można to osiągnąć przez grupowanie funkcji, progresywne ujawnianie, ukrywanie opcji zaawansowanych lub ustawianie sensownych wartości domyślnych.</a:t>
            </a:r>
          </a:p>
          <a:p>
            <a:r>
              <a:rPr lang="pl-PL" dirty="0" smtClean="0"/>
              <a:t>Dobrym przykładem jest wyszukiwarka Google. Jej siła nie wynika z bogactwa interfejsu, ale z radykalnego uproszczenia wyboru użytkownika. Użytkownik dostaje jedną dominującą czynność i od razu wie, co robić.</a:t>
            </a:r>
          </a:p>
          <a:p>
            <a:r>
              <a:rPr lang="pl-PL" dirty="0" smtClean="0"/>
              <a:t>Warto jednak pamiętać, że uproszczenie nie może prowadzić do ukrycia ważnych funkcji. Chodzi nie o minimalizm dla samego minimalizmu, ale o redukcję zbędnego obciążenia poznawczego.</a:t>
            </a:r>
          </a:p>
          <a:p>
            <a:endParaRPr lang="pl-PL"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smtClean="0"/>
              <a:t>Warto dodać ważne zastrzeżenie: zbyt mała liczba opcji też bywa problemem, jeśli ukrywa funkcje potrzebne użytkownikowi. Projektant nie powinien mechanicznie usuwać wszystkiego, lecz optymalizować złożoność poznawczą.</a:t>
            </a:r>
          </a:p>
          <a:p>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Prawo </a:t>
            </a:r>
            <a:r>
              <a:rPr lang="pl-PL" dirty="0" err="1" smtClean="0"/>
              <a:t>Fittsa</a:t>
            </a:r>
            <a:r>
              <a:rPr lang="pl-PL" dirty="0" smtClean="0"/>
              <a:t> opisuje zależność między czasem dotarcia do celu a jego rozmiarem i odległością. Im większy obiekt i im bliżej naturalnej ścieżki ruchu, tym szybciej oraz łatwiej można go trafić.</a:t>
            </a:r>
          </a:p>
          <a:p>
            <a:r>
              <a:rPr lang="pl-PL" dirty="0" smtClean="0"/>
              <a:t>W projektowaniu mobilnym jest to zasada absolutnie fundamentalna. Małe przyciski, ciasno rozmieszczone ikony i ważne akcje umieszczone w trudno dostępnych miejscach prowadzą do frustracji i błędów.</a:t>
            </a:r>
          </a:p>
          <a:p>
            <a:r>
              <a:rPr lang="pl-PL" dirty="0" smtClean="0"/>
              <a:t>Prawo </a:t>
            </a:r>
            <a:r>
              <a:rPr lang="pl-PL" dirty="0" err="1" smtClean="0"/>
              <a:t>Fittsa</a:t>
            </a:r>
            <a:r>
              <a:rPr lang="pl-PL" dirty="0" smtClean="0"/>
              <a:t> tłumaczy, dlaczego tak ważne są minimalne rozmiary celów dotykowych. Apple i Google nie podają tych wartości przypadkowo. To efekt wiedzy o ergonomii i ludzkiej motoryce.</a:t>
            </a:r>
          </a:p>
          <a:p>
            <a:r>
              <a:rPr lang="pl-PL" dirty="0" smtClean="0"/>
              <a:t>Bardzo praktycznym zastosowaniem prawa </a:t>
            </a:r>
            <a:r>
              <a:rPr lang="pl-PL" dirty="0" err="1" smtClean="0"/>
              <a:t>Fittsa</a:t>
            </a:r>
            <a:r>
              <a:rPr lang="pl-PL" dirty="0" smtClean="0"/>
              <a:t> jest też projektowanie w strefie kciuka. Element używany często powinien być nie tylko odpowiednio duży, ale także umieszczony tam, gdzie użytkownik może do niego wygodnie dosięgnąć.</a:t>
            </a:r>
          </a:p>
          <a:p>
            <a:r>
              <a:rPr lang="pl-PL" dirty="0" smtClean="0"/>
              <a:t>Można ten temat studentom zobrazować prostym doświadczeniem. Wystarczy spróbować jedną ręką obsłużyć duży smartfon i dotknąć niewielkiej ikony w górnym rogu ekranu. Natychmiast widać, że ergonomia nie jest teorią, tylko codzienną praktyką.</a:t>
            </a:r>
          </a:p>
          <a:p>
            <a:endParaRPr lang="pl-PL"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smtClean="0"/>
              <a:t>Warto dodać ciekawostkę: niektóre systemowe elementy są umieszczane przy krawędziach ekranu, bo krawędź działa jak „bariera”, która paradoksalnie ułatwia trafienie wskaźnikiem. Na mobile sprawa jest bardziej złożona, bo krawędzie bywają zarezerwowane przez gesty systemowe.</a:t>
            </a:r>
          </a:p>
          <a:p>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Podejście </a:t>
            </a:r>
            <a:r>
              <a:rPr lang="pl-PL" b="1" dirty="0" smtClean="0"/>
              <a:t>Mobile First</a:t>
            </a:r>
            <a:r>
              <a:rPr lang="pl-PL" dirty="0" smtClean="0"/>
              <a:t> polega na rozpoczynaniu projektowania od najmniejszych ekranów i najbardziej ograniczających warunków. To bardzo ważna filozofia, ponieważ zmusza projektanta do odpowiedzi na pytanie: co jest naprawdę najważniejsze?</a:t>
            </a:r>
          </a:p>
          <a:p>
            <a:r>
              <a:rPr lang="pl-PL" dirty="0" smtClean="0"/>
              <a:t>Jeśli zaczynamy od desktopa, często ulegamy pokusie dodawania kolejnych elementów i funkcji. Gdy zaczynamy od mobile, musimy zbudować rdzeń produktu w sposób bardziej zdyscyplinowany.</a:t>
            </a:r>
          </a:p>
          <a:p>
            <a:r>
              <a:rPr lang="pl-PL" dirty="0" smtClean="0"/>
              <a:t>Warto tutaj rozróżnić dwa podejścia. </a:t>
            </a:r>
            <a:r>
              <a:rPr lang="pl-PL" b="1" dirty="0" smtClean="0"/>
              <a:t>Progressive </a:t>
            </a:r>
            <a:r>
              <a:rPr lang="pl-PL" b="1" dirty="0" err="1" smtClean="0"/>
              <a:t>enhancement</a:t>
            </a:r>
            <a:r>
              <a:rPr lang="pl-PL" dirty="0" smtClean="0"/>
              <a:t> oznacza budowanie prostego i stabilnego rozwiązania, które następnie rozszerzamy. </a:t>
            </a:r>
            <a:r>
              <a:rPr lang="pl-PL" b="1" dirty="0" err="1" smtClean="0"/>
              <a:t>Graceful</a:t>
            </a:r>
            <a:r>
              <a:rPr lang="pl-PL" b="1" dirty="0" smtClean="0"/>
              <a:t> </a:t>
            </a:r>
            <a:r>
              <a:rPr lang="pl-PL" b="1" dirty="0" err="1" smtClean="0"/>
              <a:t>degradation</a:t>
            </a:r>
            <a:r>
              <a:rPr lang="pl-PL" dirty="0" smtClean="0"/>
              <a:t> oznacza tworzenie bogatej wersji i późniejsze jej upraszczanie. W praktyce mobilnej pierwsze podejście zwykle daje lepsze rezultaty.</a:t>
            </a:r>
          </a:p>
          <a:p>
            <a:r>
              <a:rPr lang="pl-PL" dirty="0" smtClean="0"/>
              <a:t>Mobile First nie oznacza jednak „mobile </a:t>
            </a:r>
            <a:r>
              <a:rPr lang="pl-PL" dirty="0" err="1" smtClean="0"/>
              <a:t>only</a:t>
            </a:r>
            <a:r>
              <a:rPr lang="pl-PL" dirty="0" smtClean="0"/>
              <a:t>”. Oznacza myślenie od najbardziej restrykcyjnego przypadku, a następnie rozwijanie produktu dla większych ekranów i bogatszych kontekstów.</a:t>
            </a:r>
          </a:p>
          <a:p>
            <a:endParaRPr lang="pl-PL"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smtClean="0"/>
              <a:t>To także dobry moment, by wspomnieć o tym, że Mobile First nie oznacza „tylko mobile”. Oznacza projektowanie od najbardziej wymagającego ograniczenia, a potem świadome rozszerzanie.</a:t>
            </a:r>
          </a:p>
          <a:p>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Przechodzimy do sekcji czwartej, czyli do standardów branżowych. Jest to bardzo istotny temat, ponieważ profesjonalne projektowanie nie polega na wymyślaniu wszystkiego od zera. Branża technologiczna wypracowała przez lata zestawy wzorców, które ułatwiają użytkownikowi orientację i obniżają koszt nauki interfejsu.</a:t>
            </a:r>
          </a:p>
          <a:p>
            <a:r>
              <a:rPr lang="pl-PL" dirty="0" smtClean="0"/>
              <a:t>Najważniejsze standardy, które dziś omówimy, to </a:t>
            </a:r>
            <a:r>
              <a:rPr lang="pl-PL" b="1" dirty="0" smtClean="0"/>
              <a:t>iOS Human Interface </a:t>
            </a:r>
            <a:r>
              <a:rPr lang="pl-PL" b="1" dirty="0" err="1" smtClean="0"/>
              <a:t>Guidelines</a:t>
            </a:r>
            <a:r>
              <a:rPr lang="pl-PL" dirty="0" smtClean="0"/>
              <a:t>, </a:t>
            </a:r>
            <a:r>
              <a:rPr lang="pl-PL" b="1" dirty="0" err="1" smtClean="0"/>
              <a:t>Material</a:t>
            </a:r>
            <a:r>
              <a:rPr lang="pl-PL" b="1" dirty="0" smtClean="0"/>
              <a:t> Design </a:t>
            </a:r>
            <a:r>
              <a:rPr lang="pl-PL" b="1" dirty="0" err="1" smtClean="0"/>
              <a:t>Guidelines</a:t>
            </a:r>
            <a:r>
              <a:rPr lang="pl-PL" dirty="0" smtClean="0"/>
              <a:t> oraz </a:t>
            </a:r>
            <a:r>
              <a:rPr lang="pl-PL" b="1" dirty="0" smtClean="0"/>
              <a:t>WCAG</a:t>
            </a:r>
            <a:r>
              <a:rPr lang="pl-PL" dirty="0" smtClean="0"/>
              <a:t>, czyli wytyczne dostępności. Te dokumenty mają charakter praktyczny i stanowią fundament pracy projektantów oraz programistów.</a:t>
            </a:r>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b="1" dirty="0" smtClean="0"/>
              <a:t>Human Interface </a:t>
            </a:r>
            <a:r>
              <a:rPr lang="pl-PL" b="1" dirty="0" err="1" smtClean="0"/>
              <a:t>Guidelines</a:t>
            </a:r>
            <a:r>
              <a:rPr lang="pl-PL" dirty="0" smtClean="0"/>
              <a:t> to oficjalny zbiór zasad projektowania dla ekosystemu Apple. Filary takie jak </a:t>
            </a:r>
            <a:r>
              <a:rPr lang="pl-PL" b="1" dirty="0" err="1" smtClean="0"/>
              <a:t>clarity</a:t>
            </a:r>
            <a:r>
              <a:rPr lang="pl-PL" dirty="0" smtClean="0"/>
              <a:t>, </a:t>
            </a:r>
            <a:r>
              <a:rPr lang="pl-PL" b="1" dirty="0" err="1" smtClean="0"/>
              <a:t>deference</a:t>
            </a:r>
            <a:r>
              <a:rPr lang="pl-PL" dirty="0" smtClean="0"/>
              <a:t> i </a:t>
            </a:r>
            <a:r>
              <a:rPr lang="pl-PL" b="1" dirty="0" err="1" smtClean="0"/>
              <a:t>depth</a:t>
            </a:r>
            <a:r>
              <a:rPr lang="pl-PL" dirty="0" smtClean="0"/>
              <a:t> dobrze oddają filozofię tej platformy.</a:t>
            </a:r>
          </a:p>
          <a:p>
            <a:r>
              <a:rPr lang="pl-PL" b="1" dirty="0" err="1" smtClean="0"/>
              <a:t>Clarity</a:t>
            </a:r>
            <a:r>
              <a:rPr lang="pl-PL" dirty="0" smtClean="0"/>
              <a:t> oznacza przejrzystość — użytkownik powinien natychmiast rozumieć, co widzi i jak może działać. </a:t>
            </a:r>
            <a:r>
              <a:rPr lang="pl-PL" b="1" dirty="0" err="1" smtClean="0"/>
              <a:t>Deference</a:t>
            </a:r>
            <a:r>
              <a:rPr lang="pl-PL" dirty="0" smtClean="0"/>
              <a:t> oznacza, że interfejs ma wspierać treść, a nie ją dominować. </a:t>
            </a:r>
            <a:r>
              <a:rPr lang="pl-PL" b="1" dirty="0" smtClean="0"/>
              <a:t>Depth</a:t>
            </a:r>
            <a:r>
              <a:rPr lang="pl-PL" dirty="0" smtClean="0"/>
              <a:t> wprowadza z kolei poczucie warstwowości i relacji między elementami.</a:t>
            </a:r>
          </a:p>
          <a:p>
            <a:r>
              <a:rPr lang="pl-PL" dirty="0" smtClean="0"/>
              <a:t>Apple bardzo mocno promuje korzystanie z natywnych komponentów i wzorców. To nie jest ograniczenie kreatywności, tylko sposób na zachowanie przewidywalności. Użytkownik </a:t>
            </a:r>
            <a:r>
              <a:rPr lang="pl-PL" dirty="0" err="1" smtClean="0"/>
              <a:t>iPhone’a</a:t>
            </a:r>
            <a:r>
              <a:rPr lang="pl-PL" dirty="0" smtClean="0"/>
              <a:t> ma już ukształtowane oczekiwania dotyczące zachowania nawigacji, przycisków, arkuszy modalnych czy gestów systemowych.</a:t>
            </a:r>
          </a:p>
          <a:p>
            <a:r>
              <a:rPr lang="pl-PL" dirty="0" smtClean="0"/>
              <a:t>W praktyce oznacza to, że jeśli tworzymy aplikację na iOS, powinniśmy szanować logikę tej platformy. Próba narzucenia na siłę obcych wzorców może prowadzić do pogorszenia doświadczenia użytkownika.</a:t>
            </a:r>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Teraz spójrzmy na </a:t>
            </a:r>
            <a:r>
              <a:rPr lang="pl-PL" b="1" dirty="0" err="1" smtClean="0"/>
              <a:t>Material</a:t>
            </a:r>
            <a:r>
              <a:rPr lang="pl-PL" b="1" dirty="0" smtClean="0"/>
              <a:t> Design</a:t>
            </a:r>
            <a:r>
              <a:rPr lang="pl-PL" dirty="0" smtClean="0"/>
              <a:t>, czyli system projektowy Google. To jeden z najważniejszych przykładów podejścia systemowego do designu. </a:t>
            </a:r>
            <a:r>
              <a:rPr lang="pl-PL" dirty="0" err="1" smtClean="0"/>
              <a:t>Material</a:t>
            </a:r>
            <a:r>
              <a:rPr lang="pl-PL" dirty="0" smtClean="0"/>
              <a:t> Design nie ogranicza się do estetyki. Obejmuje komponenty, zasady ruchu, hierarchię, kolor, typografię i sposób komunikacji między elementami.</a:t>
            </a:r>
          </a:p>
          <a:p>
            <a:r>
              <a:rPr lang="pl-PL" dirty="0" smtClean="0"/>
              <a:t>Jednym z kluczowych założeń jest metafora powierzchni i warstw. Elementy nie są przypadkowo rozmieszczone, lecz tworzą logiczne poziomy ważności. Dużą rolę odgrywa też ruch, który nie ma być dekoracją, lecz nośnikiem informacji o zmianie stanu czy relacji przestrzennej.</a:t>
            </a:r>
          </a:p>
          <a:p>
            <a:r>
              <a:rPr lang="pl-PL" dirty="0" smtClean="0"/>
              <a:t>Warto zaznaczyć, że </a:t>
            </a:r>
            <a:r>
              <a:rPr lang="pl-PL" b="1" dirty="0" err="1" smtClean="0"/>
              <a:t>Material</a:t>
            </a:r>
            <a:r>
              <a:rPr lang="pl-PL" b="1" dirty="0" smtClean="0"/>
              <a:t> 3</a:t>
            </a:r>
            <a:r>
              <a:rPr lang="pl-PL" dirty="0" smtClean="0"/>
              <a:t> poszedł jeszcze dalej w stronę personalizacji i adaptacyjności, między innymi przez dynamiczne systemy kolorów. To pokazuje, że współczesny design system nie jest już zbiorem statycznych zasad, ale żywym </a:t>
            </a:r>
            <a:r>
              <a:rPr lang="pl-PL" dirty="0" err="1" smtClean="0"/>
              <a:t>frameworkiem</a:t>
            </a:r>
            <a:r>
              <a:rPr lang="pl-PL" dirty="0" smtClean="0"/>
              <a:t> projektowym.</a:t>
            </a:r>
          </a:p>
          <a:p>
            <a:r>
              <a:rPr lang="pl-PL" dirty="0" smtClean="0"/>
              <a:t>Dla programistów szczególnie ważne jest to, że </a:t>
            </a:r>
            <a:r>
              <a:rPr lang="pl-PL" dirty="0" err="1" smtClean="0"/>
              <a:t>Material</a:t>
            </a:r>
            <a:r>
              <a:rPr lang="pl-PL" dirty="0" smtClean="0"/>
              <a:t> Design ma bardzo silne przełożenie na implementację — zarówno w klasycznym Androidzie, jak i w </a:t>
            </a:r>
            <a:r>
              <a:rPr lang="pl-PL" dirty="0" err="1" smtClean="0"/>
              <a:t>Jetpack</a:t>
            </a:r>
            <a:r>
              <a:rPr lang="pl-PL" dirty="0" smtClean="0"/>
              <a:t> </a:t>
            </a:r>
            <a:r>
              <a:rPr lang="pl-PL" dirty="0" err="1" smtClean="0"/>
              <a:t>Compose</a:t>
            </a:r>
            <a:r>
              <a:rPr lang="pl-PL" dirty="0" smtClean="0"/>
              <a:t>.</a:t>
            </a:r>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W tej części omawiamy </a:t>
            </a:r>
            <a:r>
              <a:rPr lang="pl-PL" b="1" dirty="0" smtClean="0"/>
              <a:t>WCAG</a:t>
            </a:r>
            <a:r>
              <a:rPr lang="pl-PL" dirty="0" smtClean="0"/>
              <a:t>, czyli </a:t>
            </a:r>
            <a:r>
              <a:rPr lang="pl-PL" b="1" dirty="0" smtClean="0"/>
              <a:t>Web Content Accessibility </a:t>
            </a:r>
            <a:r>
              <a:rPr lang="pl-PL" b="1" dirty="0" err="1" smtClean="0"/>
              <a:t>Guidelines</a:t>
            </a:r>
            <a:r>
              <a:rPr lang="pl-PL" dirty="0" smtClean="0"/>
              <a:t>. Mimo że nazwa odnosi się do treści internetowych, zasady te są powszechnie stosowane także w projektowaniu aplikacji mobilnych.</a:t>
            </a:r>
          </a:p>
          <a:p>
            <a:r>
              <a:rPr lang="pl-PL" dirty="0" smtClean="0"/>
              <a:t>WCAG opiera się na czterech filarach: produkt ma być </a:t>
            </a:r>
            <a:r>
              <a:rPr lang="pl-PL" b="1" dirty="0" smtClean="0"/>
              <a:t>postrzegalny</a:t>
            </a:r>
            <a:r>
              <a:rPr lang="pl-PL" dirty="0" smtClean="0"/>
              <a:t>, </a:t>
            </a:r>
            <a:r>
              <a:rPr lang="pl-PL" b="1" dirty="0" smtClean="0"/>
              <a:t>operowalny</a:t>
            </a:r>
            <a:r>
              <a:rPr lang="pl-PL" dirty="0" smtClean="0"/>
              <a:t>, </a:t>
            </a:r>
            <a:r>
              <a:rPr lang="pl-PL" b="1" dirty="0" smtClean="0"/>
              <a:t>zrozumiały</a:t>
            </a:r>
            <a:r>
              <a:rPr lang="pl-PL" dirty="0" smtClean="0"/>
              <a:t> i </a:t>
            </a:r>
            <a:r>
              <a:rPr lang="pl-PL" b="1" dirty="0" smtClean="0"/>
              <a:t>solidny</a:t>
            </a:r>
            <a:r>
              <a:rPr lang="pl-PL" dirty="0" smtClean="0"/>
              <a:t>. W praktyce oznacza to między innymi odpowiedni kontrast kolorów, czytelne etykiety dla technologii asystujących, logiczną strukturę nawigacji, przewidywalność działania i poprawne komunikaty błędów.</a:t>
            </a:r>
          </a:p>
          <a:p>
            <a:r>
              <a:rPr lang="pl-PL" dirty="0" smtClean="0"/>
              <a:t>Bardzo ważne jest, aby nie traktować dostępności jako dodatku dla małej grupy użytkowników. Rozwiązania </a:t>
            </a:r>
            <a:r>
              <a:rPr lang="pl-PL" dirty="0" err="1" smtClean="0"/>
              <a:t>dostępnościowe</a:t>
            </a:r>
            <a:r>
              <a:rPr lang="pl-PL" dirty="0" smtClean="0"/>
              <a:t> poprawiają komfort korzystania praktycznie wszystkim: osobom starszym, zmęczonym, rozproszonym, korzystającym z telefonu w trudnych warunkach czy czasowo ograniczonym ruchowo.</a:t>
            </a:r>
          </a:p>
          <a:p>
            <a:r>
              <a:rPr lang="pl-PL" dirty="0" smtClean="0"/>
              <a:t>Można to ująć bardzo prosto: dostępność to nie specjalna wersja produktu dla wybranych. To lepsza jakość produktu dla całego spektrum użytkowników.</a:t>
            </a:r>
          </a:p>
          <a:p>
            <a:endParaRPr lang="pl-PL"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pl-PL" b="1" dirty="0" smtClean="0"/>
              <a:t>Ciekawostka</a:t>
            </a:r>
            <a:r>
              <a:rPr lang="pl-PL" dirty="0" smtClean="0"/>
              <a:t>: wiele rozwiązań obecnie powszechnych, takich jak napisy do wideo czy sterowanie głosem, rozwinęło się między innymi dzięki potrzebom związanym z dostępnością.</a:t>
            </a:r>
          </a:p>
          <a:p>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Przechodzimy teraz do zagadnienia koloru. Kolor w interfejsie mobilnym pełni wiele funkcji jednocześnie. Może budować emocje, wzmacniać rozpoznawalność marki, kierować uwagą, porządkować hierarchię oraz sygnalizować stany i znaczenia.</a:t>
            </a:r>
          </a:p>
          <a:p>
            <a:r>
              <a:rPr lang="pl-PL" dirty="0" smtClean="0"/>
              <a:t>Dlatego w profesjonalnym projektowaniu kolor nie może być traktowany jako ozdobnik wybierany „na wyczucie”. Musi być świadomie osadzony w systemie wizualnym, semantyce interfejsu i zasadach dostępności.</a:t>
            </a:r>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Na tym slajdzie widzimy podstawowe schematy kolorystyczne: monochromatyczny, analogiczny, komplementarny i </a:t>
            </a:r>
            <a:r>
              <a:rPr lang="pl-PL" dirty="0" err="1" smtClean="0"/>
              <a:t>triadowy</a:t>
            </a:r>
            <a:r>
              <a:rPr lang="pl-PL" dirty="0" smtClean="0"/>
              <a:t>. Każdy z nich ma swoje zastosowania.</a:t>
            </a:r>
          </a:p>
          <a:p>
            <a:r>
              <a:rPr lang="pl-PL" dirty="0" smtClean="0"/>
              <a:t>Schemat monochromatyczny daje spójność i elegancję. Analogiczny buduje harmonię. Komplementarny tworzy silny kontrast, a </a:t>
            </a:r>
            <a:r>
              <a:rPr lang="pl-PL" dirty="0" err="1" smtClean="0"/>
              <a:t>triadowy</a:t>
            </a:r>
            <a:r>
              <a:rPr lang="pl-PL" dirty="0" smtClean="0"/>
              <a:t> daje żywość i równowagę. W projektowaniu mobilnym najważniejsze jest jednak nie tylko to, aby kolory dobrze wyglądały, ale aby wspierały strukturę treści i intencję interfejsu.</a:t>
            </a:r>
          </a:p>
          <a:p>
            <a:r>
              <a:rPr lang="pl-PL" dirty="0" smtClean="0"/>
              <a:t>Przydatna jest tutaj zasada </a:t>
            </a:r>
            <a:r>
              <a:rPr lang="pl-PL" b="1" dirty="0" smtClean="0"/>
              <a:t>60-30-10</a:t>
            </a:r>
            <a:r>
              <a:rPr lang="pl-PL" dirty="0" smtClean="0"/>
              <a:t>. Oznacza ona, że większość interfejsu powinna opierać się na kolorze dominującym lub neutralnym, mniejsza część na kolorze wspierającym, a najmniejsza na kolorze akcentującym. Dzięki temu użytkownik od razu widzi, które elementy są najważniejsze.</a:t>
            </a:r>
          </a:p>
          <a:p>
            <a:r>
              <a:rPr lang="pl-PL" dirty="0" smtClean="0"/>
              <a:t>Bardzo ważna uwaga praktyczna: jeśli wszystkie elementy są kontrastowe i krzykliwe, użytkownik przestaje rozumieć, co jest priorytetem. Akcent kolorystyczny działa tylko wtedy, gdy jest stosowany oszczędnie.</a:t>
            </a:r>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Kolory wywołują określone skojarzenia emocjonalne, choć trzeba pamiętać, że nie są one absolutne i zależą od kontekstu kulturowego, branży i kompozycji.</a:t>
            </a:r>
          </a:p>
          <a:p>
            <a:r>
              <a:rPr lang="pl-PL" dirty="0" smtClean="0"/>
              <a:t>Czerwień kojarzy się z energią, pilnością, pasją i zagrożeniem. Niebieski często budzi zaufanie i poczucie stabilności. Zieleń wiąże się z naturą, spokojem i sukcesem. Żółty przyciąga uwagę i komunikuje energię, ale może też szybko męczyć. Pomarańczowy bywa odbierany jako przyjazny i dynamiczny, a fiolet jako kreatywny lub luksusowy.</a:t>
            </a:r>
          </a:p>
          <a:p>
            <a:r>
              <a:rPr lang="pl-PL" dirty="0" smtClean="0"/>
              <a:t>W interfejsach mobilnych te skojarzenia mają znaczenie praktyczne. Kolory bardzo często pełnią funkcję semantyczną, na przykład czerwony sygnalizuje błąd, a zielony sukces. Trzeba jednak uważać, by nie polegać wyłącznie na kolorze, bo część użytkowników może go nie rozróżniać poprawnie.</a:t>
            </a:r>
          </a:p>
          <a:p>
            <a:r>
              <a:rPr lang="pl-PL" dirty="0" smtClean="0"/>
              <a:t>Warto też studentom przypomnieć, że psychologia koloru nie działa w próżni. Ten sam niebieski w bankowości może oznaczać bezpieczeństwo, a w aplikacji sportowej dynamikę i techniczność.</a:t>
            </a:r>
          </a:p>
          <a:p>
            <a:endParaRPr lang="pl-PL"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pl-PL" b="1" dirty="0" smtClean="0"/>
              <a:t>Ciekawostka</a:t>
            </a:r>
            <a:r>
              <a:rPr lang="pl-PL" dirty="0" smtClean="0"/>
              <a:t>: kolory bardzo silnie wpływają na postrzeganie marki. Dwa produkty o podobnej funkcjonalności mogą budzić zupełnie inne emocje wyłącznie przez odmienną dominantę kolorystyczną.</a:t>
            </a:r>
          </a:p>
          <a:p>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Tryb jasny i tryb ciemny to dziś dwa pełnoprawne warianty projektowe, a nie główna wersja i kosmetyczny dodatek. Projektowanie </a:t>
            </a:r>
            <a:r>
              <a:rPr lang="pl-PL" dirty="0" err="1" smtClean="0"/>
              <a:t>dark</a:t>
            </a:r>
            <a:r>
              <a:rPr lang="pl-PL" dirty="0" smtClean="0"/>
              <a:t> </a:t>
            </a:r>
            <a:r>
              <a:rPr lang="pl-PL" dirty="0" err="1" smtClean="0"/>
              <a:t>mode</a:t>
            </a:r>
            <a:r>
              <a:rPr lang="pl-PL" dirty="0" smtClean="0"/>
              <a:t> wymaga osobnego, świadomego podejścia.</a:t>
            </a:r>
          </a:p>
          <a:p>
            <a:r>
              <a:rPr lang="pl-PL" b="1" dirty="0" smtClean="0"/>
              <a:t>Pierwsza ważna zasada brzmi</a:t>
            </a:r>
            <a:r>
              <a:rPr lang="pl-PL" dirty="0" smtClean="0"/>
              <a:t>: nie należy automatycznie zamieniać bieli na czerń i odwrotnie. W trybie ciemnym inaczej postrzegamy kontrast, głębię i nasycenie. Czysta czerń często bywa zbyt agresywna, dlatego projektanci zwykle stosują ciemne odcienie szarości.</a:t>
            </a:r>
          </a:p>
          <a:p>
            <a:r>
              <a:rPr lang="pl-PL" dirty="0" smtClean="0"/>
              <a:t>Druga sprawa to </a:t>
            </a:r>
            <a:r>
              <a:rPr lang="pl-PL" b="1" dirty="0" smtClean="0"/>
              <a:t>kolory akcentowe</a:t>
            </a:r>
            <a:r>
              <a:rPr lang="pl-PL" dirty="0" smtClean="0"/>
              <a:t>. Na ciemnym tle kolory intensywne mogą wydawać się zbyt jaskrawe lub wręcz wibrować. Wymagają więc dostosowania.</a:t>
            </a:r>
          </a:p>
          <a:p>
            <a:r>
              <a:rPr lang="pl-PL" dirty="0" smtClean="0"/>
              <a:t>Trzecia kwestia to hierarchia. W trybie jasnym warstwowość bywa budowana cieniem, natomiast w ciemnym często lepiej działa różnicowanie jasności powierzchni.</a:t>
            </a:r>
          </a:p>
          <a:p>
            <a:r>
              <a:rPr lang="pl-PL" dirty="0" smtClean="0"/>
              <a:t>W praktyce trzeba pamiętać, że użytkownicy oczekują dziś nie tylko istnienia </a:t>
            </a:r>
            <a:r>
              <a:rPr lang="pl-PL" dirty="0" err="1" smtClean="0"/>
              <a:t>dark</a:t>
            </a:r>
            <a:r>
              <a:rPr lang="pl-PL" dirty="0" smtClean="0"/>
              <a:t> </a:t>
            </a:r>
            <a:r>
              <a:rPr lang="pl-PL" dirty="0" err="1" smtClean="0"/>
              <a:t>mode</a:t>
            </a:r>
            <a:r>
              <a:rPr lang="pl-PL" dirty="0" smtClean="0"/>
              <a:t>, ale również jego jakości. Niedopracowany tryb ciemny szybko zdradza brak dojrzałości produktu.</a:t>
            </a:r>
          </a:p>
          <a:p>
            <a:endParaRPr lang="pl-PL"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smtClean="0"/>
              <a:t>Można tu dodać </a:t>
            </a:r>
            <a:r>
              <a:rPr lang="pl-PL" b="1" dirty="0" smtClean="0"/>
              <a:t>praktyczną uwagę</a:t>
            </a:r>
            <a:r>
              <a:rPr lang="pl-PL" dirty="0" smtClean="0"/>
              <a:t>: część projektantów tworzy najpierw świetny tryb jasny, a potem </a:t>
            </a:r>
            <a:r>
              <a:rPr lang="pl-PL" dirty="0" err="1" smtClean="0"/>
              <a:t>potraktowuje</a:t>
            </a:r>
            <a:r>
              <a:rPr lang="pl-PL" dirty="0" smtClean="0"/>
              <a:t> ciemny jako kosmetyczny dodatek. To błąd. Obie wersje muszą być projektowane świadomie.</a:t>
            </a:r>
          </a:p>
          <a:p>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Tutaj dochodzimy do bardzo ważnego pojęcia z punktu widzenia współpracy między projektowaniem a programowaniem, czyli do </a:t>
            </a:r>
            <a:r>
              <a:rPr lang="pl-PL" b="1" dirty="0" smtClean="0"/>
              <a:t>design </a:t>
            </a:r>
            <a:r>
              <a:rPr lang="pl-PL" b="1" dirty="0" err="1" smtClean="0"/>
              <a:t>tokens</a:t>
            </a:r>
            <a:r>
              <a:rPr lang="pl-PL" dirty="0" smtClean="0"/>
              <a:t>. To formalne reprezentacje decyzji projektowych, takich jak kolory, odstępy, rozmiary, promienie zaokrągleń czy style typograficzne.</a:t>
            </a:r>
          </a:p>
          <a:p>
            <a:r>
              <a:rPr lang="pl-PL" dirty="0" smtClean="0"/>
              <a:t>Zamiast wpisywać konkretne wartości w wielu miejscach, tworzymy nazwane </a:t>
            </a:r>
            <a:r>
              <a:rPr lang="pl-PL" dirty="0" err="1" smtClean="0"/>
              <a:t>tokeny</a:t>
            </a:r>
            <a:r>
              <a:rPr lang="pl-PL" dirty="0" smtClean="0"/>
              <a:t>. Na przykład nie używamy bezpośrednio koloru #0071E3 w dziesiątkach miejsc, tylko definiujemy </a:t>
            </a:r>
            <a:r>
              <a:rPr lang="pl-PL" dirty="0" err="1" smtClean="0"/>
              <a:t>token</a:t>
            </a:r>
            <a:r>
              <a:rPr lang="pl-PL" dirty="0" smtClean="0"/>
              <a:t> </a:t>
            </a:r>
            <a:r>
              <a:rPr lang="pl-PL" dirty="0" err="1" smtClean="0"/>
              <a:t>primaryColor</a:t>
            </a:r>
            <a:r>
              <a:rPr lang="pl-PL" dirty="0" smtClean="0"/>
              <a:t>. To pozwala zachować spójność i upraszcza zmiany.</a:t>
            </a:r>
          </a:p>
          <a:p>
            <a:r>
              <a:rPr lang="pl-PL" dirty="0" smtClean="0"/>
              <a:t>Dla studentów-programistów warto podkreślić, że jest to bardzo podobne do pracy z dobrze nazwanymi stałymi i abstrakcjami w kodzie. </a:t>
            </a:r>
            <a:r>
              <a:rPr lang="pl-PL" dirty="0" err="1" smtClean="0"/>
              <a:t>Tokens</a:t>
            </a:r>
            <a:r>
              <a:rPr lang="pl-PL" dirty="0" smtClean="0"/>
              <a:t> redukują chaos i ułatwiają utrzymanie projektu.</a:t>
            </a:r>
          </a:p>
          <a:p>
            <a:r>
              <a:rPr lang="pl-PL" dirty="0" smtClean="0"/>
              <a:t>To także fundament nowoczesnych design systemów. Kiedy projekt i implementacja odwołują się do tych samych nazwanych jednostek, współpraca zespołu staje się znacznie bardziej efektywna.</a:t>
            </a:r>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Przechodzimy do typografii, czyli jednego z najważniejszych składników interfejsu. Szacuje się, że ogromna część informacji w produktach cyfrowych jest przekazywana właśnie przez tekst. Dotyczy to etykiet, komunikatów błędów, nagłówków, treści, przycisków i formularzy.</a:t>
            </a:r>
          </a:p>
          <a:p>
            <a:r>
              <a:rPr lang="pl-PL" dirty="0" smtClean="0"/>
              <a:t>Typografia mobilna ma jednak swoje szczególne wymagania. Ekrany są małe, warunki użycia zmienne, a uwaga użytkownika często ograniczona. To oznacza, że czytelność nie jest miłym dodatkiem, tylko warunkiem podstawowym.</a:t>
            </a:r>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Fundamenty typografii mobilnej można ująć w trzech słowach: </a:t>
            </a:r>
            <a:r>
              <a:rPr lang="pl-PL" b="1" dirty="0" smtClean="0"/>
              <a:t>czytelność</a:t>
            </a:r>
            <a:r>
              <a:rPr lang="pl-PL" dirty="0" smtClean="0"/>
              <a:t>, </a:t>
            </a:r>
            <a:r>
              <a:rPr lang="pl-PL" b="1" dirty="0" smtClean="0"/>
              <a:t>hierarchia</a:t>
            </a:r>
            <a:r>
              <a:rPr lang="pl-PL" dirty="0" smtClean="0"/>
              <a:t> i </a:t>
            </a:r>
            <a:r>
              <a:rPr lang="pl-PL" b="1" dirty="0" smtClean="0"/>
              <a:t>spójność</a:t>
            </a:r>
            <a:r>
              <a:rPr lang="pl-PL" dirty="0" smtClean="0"/>
              <a:t>.</a:t>
            </a:r>
          </a:p>
          <a:p>
            <a:r>
              <a:rPr lang="pl-PL" dirty="0" smtClean="0"/>
              <a:t>Czytelność oznacza, że tekst można szybko odczytać bez zbędnego wysiłku. Hierarchia oznacza, że użytkownik natychmiast widzi, co jest nagłówkiem, co treścią główną, a co informacją pomocniczą. Spójność zaś powoduje, że interfejs wydaje się uporządkowany i profesjonalny.</a:t>
            </a:r>
          </a:p>
          <a:p>
            <a:r>
              <a:rPr lang="pl-PL" dirty="0" smtClean="0"/>
              <a:t>Warto pamiętać, </a:t>
            </a:r>
            <a:r>
              <a:rPr lang="pl-PL" b="1" dirty="0" smtClean="0"/>
              <a:t>że typografia nie działa samodzielnie</a:t>
            </a:r>
            <a:r>
              <a:rPr lang="pl-PL" dirty="0" smtClean="0"/>
              <a:t>. Jej jakość zależy również od kontrastu, interlinii, długości wiersza, marginesów oraz szerokości kolumny tekstowej.</a:t>
            </a:r>
          </a:p>
          <a:p>
            <a:r>
              <a:rPr lang="pl-PL" dirty="0" smtClean="0"/>
              <a:t>Dobrze zaprojektowana typografia jest przezroczysta. Użytkownik nie zastanawia się nad nią, tylko po prostu rozumie treść. I właśnie to jest oznaką dobrze wykonanej pracy projektowej.</a:t>
            </a:r>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Najbezpieczniejszym i najczęściej najlepszym wyborem dla aplikacji mobilnych są </a:t>
            </a:r>
            <a:r>
              <a:rPr lang="pl-PL" b="1" dirty="0" err="1" smtClean="0"/>
              <a:t>fonty</a:t>
            </a:r>
            <a:r>
              <a:rPr lang="pl-PL" b="1" dirty="0" smtClean="0"/>
              <a:t> systemowe</a:t>
            </a:r>
            <a:r>
              <a:rPr lang="pl-PL" dirty="0" smtClean="0"/>
              <a:t>. Na iOS jest to San Francisco, a na Androidzie Roboto lub Noto. Są one zoptymalizowane do wyświetlania na ekranie, dobrze </a:t>
            </a:r>
            <a:r>
              <a:rPr lang="pl-PL" dirty="0" err="1" smtClean="0"/>
              <a:t>renderują</a:t>
            </a:r>
            <a:r>
              <a:rPr lang="pl-PL" dirty="0" smtClean="0"/>
              <a:t> się na różnych urządzeniach i nie generują dodatkowych problemów implementacyjnych.</a:t>
            </a:r>
          </a:p>
          <a:p>
            <a:r>
              <a:rPr lang="pl-PL" dirty="0" smtClean="0"/>
              <a:t>Oczywiście można używać czcionek niestandardowych, zwłaszcza jeśli marka ma silną tożsamość wizualną. Trzeba jednak pamiętać, że wiąże się to z dodatkowymi kosztami: licencyjnymi, wydajnościowymi i testowymi.</a:t>
            </a:r>
          </a:p>
          <a:p>
            <a:r>
              <a:rPr lang="pl-PL" dirty="0" smtClean="0"/>
              <a:t>Ważne jest również, aby czcionka była czytelna w małych rozmiarach. Liczy się otwarta konstrukcja znaków, odpowiednie proporcje i łatwość rozróżniania podobnych liter oraz cyfr.</a:t>
            </a:r>
          </a:p>
          <a:p>
            <a:r>
              <a:rPr lang="pl-PL" dirty="0" smtClean="0"/>
              <a:t>W praktyce warto pamiętać o jednej prostej zasadzie: jeżeli użytkownik musi się wysilać, żeby przeczytać tekst na ekranie telefonu, to problem nie leży po stronie użytkownika, tylko po stronie projektu.</a:t>
            </a:r>
          </a:p>
          <a:p>
            <a:endParaRPr lang="pl-PL"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smtClean="0"/>
              <a:t>Dobrym </a:t>
            </a:r>
            <a:r>
              <a:rPr lang="pl-PL" b="1" dirty="0" smtClean="0"/>
              <a:t>ćwiczeniem dydaktycznym </a:t>
            </a:r>
            <a:r>
              <a:rPr lang="pl-PL" dirty="0" smtClean="0"/>
              <a:t>jest porównanie dwóch </a:t>
            </a:r>
            <a:r>
              <a:rPr lang="pl-PL" dirty="0" err="1" smtClean="0"/>
              <a:t>fontów</a:t>
            </a:r>
            <a:r>
              <a:rPr lang="pl-PL" dirty="0" smtClean="0"/>
              <a:t> w rozmiarze 12–14 </a:t>
            </a:r>
            <a:r>
              <a:rPr lang="pl-PL" dirty="0" err="1" smtClean="0"/>
              <a:t>px</a:t>
            </a:r>
            <a:r>
              <a:rPr lang="pl-PL" dirty="0" smtClean="0"/>
              <a:t> i analiza, który lepiej znosi małe skale. Wtedy od razu widać znaczenie apertury, x-</a:t>
            </a:r>
            <a:r>
              <a:rPr lang="pl-PL" dirty="0" err="1" smtClean="0"/>
              <a:t>height</a:t>
            </a:r>
            <a:r>
              <a:rPr lang="pl-PL" dirty="0" smtClean="0"/>
              <a:t> i różnicowania kształtów znaków.</a:t>
            </a:r>
          </a:p>
          <a:p>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Typografia w aplikacji powinna tworzyć system, a nie przypadkowy zbiór rozmiarów i wag. Dlatego używa się skali typograficznej: innych parametrów dla tytułów, innych dla sekcji, innych dla tekstu głównego i innych dla etykiet.</a:t>
            </a:r>
          </a:p>
          <a:p>
            <a:r>
              <a:rPr lang="pl-PL" dirty="0" smtClean="0"/>
              <a:t>Jest to ważne nie tylko estetycznie, ale przede wszystkim poznawczo. Użytkownik szybciej rozumie strukturę treści, gdy widzi powtarzalne wzorce wielkości i wyróżnienia.</a:t>
            </a:r>
          </a:p>
          <a:p>
            <a:r>
              <a:rPr lang="pl-PL" dirty="0" smtClean="0"/>
              <a:t>Nie wolno też zapominać o dostępności. Użytkownicy mogą zmieniać systemowy rozmiar tekstu i oczekują, że aplikacja będzie to respektować. Jeśli interfejs rozpada się po zwiększeniu czcionki, oznacza to błąd projektowy.</a:t>
            </a:r>
          </a:p>
          <a:p>
            <a:endParaRPr lang="pl-PL"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smtClean="0"/>
              <a:t>Można dodać </a:t>
            </a:r>
            <a:r>
              <a:rPr lang="pl-PL" b="1" dirty="0" smtClean="0"/>
              <a:t>praktyczną uwagę</a:t>
            </a:r>
            <a:r>
              <a:rPr lang="pl-PL" dirty="0" smtClean="0"/>
              <a:t>: dobrze zaprojektowany interfejs nadal powinien działać przy znacznym powiększeniu tekstu. Jeśli layout się rozpada, oznacza to problem architektoniczny, nie jedynie „estetyczny”.</a:t>
            </a:r>
          </a:p>
          <a:p>
            <a:pPr marL="0" marR="0" lvl="0" indent="0" algn="l" defTabSz="914400" rtl="0" eaLnBrk="1" fontAlgn="auto" latinLnBrk="0" hangingPunct="1">
              <a:lnSpc>
                <a:spcPct val="100000"/>
              </a:lnSpc>
              <a:spcBef>
                <a:spcPts val="0"/>
              </a:spcBef>
              <a:spcAft>
                <a:spcPts val="0"/>
              </a:spcAft>
              <a:buClrTx/>
              <a:buSzTx/>
              <a:buFontTx/>
              <a:buNone/>
              <a:tabLst/>
              <a:defRPr/>
            </a:pPr>
            <a:endParaRPr lang="pl-PL"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smtClean="0"/>
              <a:t>Dobrze zaprojektowana typografia mobilna powinna więc być nie tylko ładna, ale też odporna na skalowanie, wspierać czytniki ekranu i zachowywać czytelność w różnych warunkach.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pl-PL" dirty="0" smtClean="0"/>
          </a:p>
          <a:p>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W tej sekcji przechodzimy do obszaru, który bywa pomijany, a ma duży wpływ na odbiór produktu. Smartfon nie jest wyłącznie ekranem. To urządzenie </a:t>
            </a:r>
            <a:r>
              <a:rPr lang="pl-PL" dirty="0" err="1" smtClean="0"/>
              <a:t>multisensoryczne</a:t>
            </a:r>
            <a:r>
              <a:rPr lang="pl-PL" dirty="0" smtClean="0"/>
              <a:t>. Oznacza to, że projektowanie mobilne obejmuje również dźwięk i sprzężenie dotykowe.</a:t>
            </a:r>
          </a:p>
          <a:p>
            <a:r>
              <a:rPr lang="pl-PL" dirty="0" smtClean="0"/>
              <a:t>Dobrze zaprojektowane dźwięki i </a:t>
            </a:r>
            <a:r>
              <a:rPr lang="pl-PL" dirty="0" err="1" smtClean="0"/>
              <a:t>haptyka</a:t>
            </a:r>
            <a:r>
              <a:rPr lang="pl-PL" dirty="0" smtClean="0"/>
              <a:t> wzmacniają poczucie </a:t>
            </a:r>
            <a:r>
              <a:rPr lang="pl-PL" dirty="0" err="1" smtClean="0"/>
              <a:t>responsywności</a:t>
            </a:r>
            <a:r>
              <a:rPr lang="pl-PL" dirty="0" smtClean="0"/>
              <a:t>, poprawiają orientację w stanie systemu i mogą budować pozytywny odbiór produktu na poziomie niemal intuicyjnym.</a:t>
            </a:r>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Dźwięk w aplikacjach mobilnych powinien być przede wszystkim funkcjonalny. Może potwierdzać wykonanie akcji, sygnalizować zdarzenie, wspierać orientację użytkownika lub budować atmosferę.</a:t>
            </a:r>
          </a:p>
          <a:p>
            <a:r>
              <a:rPr lang="pl-PL" dirty="0" smtClean="0"/>
              <a:t>Jednocześnie trzeba bardzo uważać, aby dźwięk nie stał się intruzem. Telefon jest używany w różnych sytuacjach społecznych, dlatego aplikacja powinna szanować tryb cichy i dawać użytkownikowi pełną kontrolę nad dźwiękami.</a:t>
            </a:r>
          </a:p>
          <a:p>
            <a:r>
              <a:rPr lang="pl-PL" dirty="0" smtClean="0"/>
              <a:t>Dobre projektowanie dźwięku opiera się na kilku zasadach: dźwięk powinien być krótki, subtelny, spójny z charakterem produktu i wyłączalny. Jeśli sygnał dźwiękowy jest za długi lub zbyt agresywny, szybko zaczyna irytować.</a:t>
            </a:r>
          </a:p>
          <a:p>
            <a:r>
              <a:rPr lang="pl-PL" dirty="0" smtClean="0"/>
              <a:t>Warto studentom powiedzieć, że dźwięk jest jednym z najszybszych kanałów informacji zwrotnej. Użytkownik może go odebrać nawet wtedy, gdy nie patrzy na ekran.</a:t>
            </a:r>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err="1" smtClean="0"/>
              <a:t>Haptyka</a:t>
            </a:r>
            <a:r>
              <a:rPr lang="pl-PL" dirty="0" smtClean="0"/>
              <a:t> to forma komunikacji przez dotyk. W nowoczesnych urządzeniach nie chodzi o przypadkową wibrację, lecz o precyzyjne sygnały informujące użytkownika o sukcesie, błędzie, zmianie stanu lub granicy interfejsu.</a:t>
            </a:r>
          </a:p>
          <a:p>
            <a:r>
              <a:rPr lang="pl-PL" dirty="0" smtClean="0"/>
              <a:t>Dobrze zaprojektowana </a:t>
            </a:r>
            <a:r>
              <a:rPr lang="pl-PL" dirty="0" err="1" smtClean="0"/>
              <a:t>haptyka</a:t>
            </a:r>
            <a:r>
              <a:rPr lang="pl-PL" dirty="0" smtClean="0"/>
              <a:t> jest zwykle subtelna. Nie musi być silna, aby była skuteczna. Jej zadaniem jest wzmacnianie poczucia działania systemu i budowanie bardziej materialnego charakteru interakcji.</a:t>
            </a:r>
          </a:p>
          <a:p>
            <a:r>
              <a:rPr lang="pl-PL" dirty="0" smtClean="0"/>
              <a:t>Bardzo ważne jest, by używać </a:t>
            </a:r>
            <a:r>
              <a:rPr lang="pl-PL" dirty="0" err="1" smtClean="0"/>
              <a:t>haptyki</a:t>
            </a:r>
            <a:r>
              <a:rPr lang="pl-PL" dirty="0" smtClean="0"/>
              <a:t> oszczędnie. Jeśli każdy element reaguje dotykowo, użytkownik szybko się przyzwyczaja i przestaje odczuwać różnice. Podobnie jak w przypadku koloru czy animacji, kluczowa jest hierarchia.</a:t>
            </a:r>
          </a:p>
          <a:p>
            <a:r>
              <a:rPr lang="pl-PL" dirty="0" smtClean="0"/>
              <a:t>Warto też pamiętać, że </a:t>
            </a:r>
            <a:r>
              <a:rPr lang="pl-PL" dirty="0" err="1" smtClean="0"/>
              <a:t>haptyka</a:t>
            </a:r>
            <a:r>
              <a:rPr lang="pl-PL" dirty="0" smtClean="0"/>
              <a:t> powinna respektować ustawienia systemowe użytkownika. Jeśli ktoś wyłączył tego typu sprzężenie, aplikacja nie powinna go ignorować.</a:t>
            </a:r>
          </a:p>
          <a:p>
            <a:endParaRPr lang="pl-PL" dirty="0" smtClean="0"/>
          </a:p>
          <a:p>
            <a:r>
              <a:rPr lang="pl-PL" b="1" dirty="0" smtClean="0"/>
              <a:t>Ciekawostka</a:t>
            </a:r>
            <a:r>
              <a:rPr lang="pl-PL" dirty="0" smtClean="0"/>
              <a:t>: dobrze zaprojektowana </a:t>
            </a:r>
            <a:r>
              <a:rPr lang="pl-PL" dirty="0" err="1" smtClean="0"/>
              <a:t>haptyka</a:t>
            </a:r>
            <a:r>
              <a:rPr lang="pl-PL" dirty="0" smtClean="0"/>
              <a:t> bywa odczuwana przez użytkownika niemal podświadomie. Nie musi być spektakularna, aby była skuteczna.</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Projektowanie emocjonalne pozwala zrozumieć, dlaczego niektóre produkty są nie tylko użyteczne, ale także lubiane. To przejście od pytania „czy działa?” do pytania „jakie uczucie wywołuje?”.</a:t>
            </a:r>
          </a:p>
          <a:p>
            <a:r>
              <a:rPr lang="pl-PL" dirty="0" smtClean="0"/>
              <a:t>Warto zaznaczyć, że emocje w UX nie są dodatkiem do funkcjonalności. Wpływają na pamięć, motywację, tolerancję błędów i chęć ponownego użycia produktu.</a:t>
            </a:r>
          </a:p>
          <a:p>
            <a:endParaRPr lang="pl-PL" dirty="0" smtClean="0"/>
          </a:p>
          <a:p>
            <a:r>
              <a:rPr lang="pl-PL" dirty="0" smtClean="0"/>
              <a:t>Teraz przechodzimy do bardzo ciekawego obszaru, jakim jest </a:t>
            </a:r>
            <a:r>
              <a:rPr lang="pl-PL" b="1" dirty="0" smtClean="0"/>
              <a:t>projektowanie emocjonalne</a:t>
            </a:r>
            <a:r>
              <a:rPr lang="pl-PL" dirty="0" smtClean="0"/>
              <a:t>. To temat, który pokazuje, że produkt cyfrowy nie jest wyłącznie narzędziem do wykonania zadania. Jest również nośnikiem emocji, skojarzeń i poczucia jakości.</a:t>
            </a:r>
            <a:r>
              <a:rPr lang="pl-PL" baseline="0" dirty="0" smtClean="0"/>
              <a:t> </a:t>
            </a:r>
            <a:r>
              <a:rPr lang="pl-PL" dirty="0" smtClean="0"/>
              <a:t>Użytkownik nie tylko ocenia, czy aplikacja działa. Odczuwa też, czy jest przyjemna, czy wzbudza zaufanie, czy sprawia satysfakcję i czy chce do niej wracać. Emocje mają więc bardzo realny wpływ na lojalność wobec produktu.</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Donald Norman wyróżnił trzy poziomy projektowania emocjonalnego: </a:t>
            </a:r>
            <a:r>
              <a:rPr lang="pl-PL" b="1" dirty="0" err="1" smtClean="0"/>
              <a:t>visceral</a:t>
            </a:r>
            <a:r>
              <a:rPr lang="pl-PL" dirty="0" smtClean="0"/>
              <a:t>, </a:t>
            </a:r>
            <a:r>
              <a:rPr lang="pl-PL" b="1" dirty="0" err="1" smtClean="0"/>
              <a:t>behavioral</a:t>
            </a:r>
            <a:r>
              <a:rPr lang="pl-PL" dirty="0" smtClean="0"/>
              <a:t> i </a:t>
            </a:r>
            <a:r>
              <a:rPr lang="pl-PL" b="1" dirty="0" err="1" smtClean="0"/>
              <a:t>reflective</a:t>
            </a:r>
            <a:r>
              <a:rPr lang="pl-PL" dirty="0" smtClean="0"/>
              <a:t>.</a:t>
            </a:r>
          </a:p>
          <a:p>
            <a:r>
              <a:rPr lang="pl-PL" dirty="0" smtClean="0"/>
              <a:t>Poziom trzewny, czyli </a:t>
            </a:r>
            <a:r>
              <a:rPr lang="pl-PL" dirty="0" err="1" smtClean="0"/>
              <a:t>visceral</a:t>
            </a:r>
            <a:r>
              <a:rPr lang="pl-PL" dirty="0" smtClean="0"/>
              <a:t>, dotyczy pierwszego wrażenia. To reakcja niemal natychmiastowa: czy produkt wydaje się atrakcyjny, nowoczesny, uporządkowany.</a:t>
            </a:r>
          </a:p>
          <a:p>
            <a:r>
              <a:rPr lang="pl-PL" dirty="0" smtClean="0"/>
              <a:t>Poziom behawioralny dotyczy tego, jak produkt działa. Czy jest wygodny, skuteczny, przewidywalny i czy pozwala osiągnąć cel bez frustracji.</a:t>
            </a:r>
          </a:p>
          <a:p>
            <a:r>
              <a:rPr lang="pl-PL" dirty="0" smtClean="0"/>
              <a:t>Poziom refleksyjny to poziom znaczenia. Użytkownik zastanawia się, co ten produkt mówi o nim samym, czy pasuje do jego stylu życia, czy budzi dumę, przywiązanie albo poczucie identyfikacji.</a:t>
            </a:r>
          </a:p>
          <a:p>
            <a:r>
              <a:rPr lang="pl-PL" dirty="0" smtClean="0"/>
              <a:t>Najlepsze produkty działają na wszystkich trzech poziomach jednocześnie. Wyglądają atrakcyjnie, działają bez zarzutu i zostają w pamięci jako coś wartościowego lub bliskiego użytkownikowi.</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err="1" smtClean="0"/>
              <a:t>Mikrointerakcje</a:t>
            </a:r>
            <a:r>
              <a:rPr lang="pl-PL" dirty="0" smtClean="0"/>
              <a:t> to drobne reakcje interfejsu na działania użytkownika lub zmiany stanu systemu. Mogą to być animacje przycisku, efekt polubienia, odświeżanie listy, potwierdzenie sukcesu lub subtelny ruch elementu.</a:t>
            </a:r>
          </a:p>
          <a:p>
            <a:r>
              <a:rPr lang="pl-PL" dirty="0" smtClean="0"/>
              <a:t>Ich podstawową funkcją nie jest ozdabianie interfejsu, ale komunikacja. </a:t>
            </a:r>
            <a:r>
              <a:rPr lang="pl-PL" dirty="0" err="1" smtClean="0"/>
              <a:t>Mikrointerakcja</a:t>
            </a:r>
            <a:r>
              <a:rPr lang="pl-PL" dirty="0" smtClean="0"/>
              <a:t> potwierdza, że system zareagował, wzmacnia poczucie kontroli i może wprowadzać element przyjemności, czyli tak zwany </a:t>
            </a:r>
            <a:r>
              <a:rPr lang="pl-PL" b="1" dirty="0" err="1" smtClean="0"/>
              <a:t>delight</a:t>
            </a:r>
            <a:r>
              <a:rPr lang="pl-PL" dirty="0" smtClean="0"/>
              <a:t>.</a:t>
            </a:r>
          </a:p>
          <a:p>
            <a:r>
              <a:rPr lang="pl-PL" dirty="0" smtClean="0"/>
              <a:t>Trzeba jednak pamiętać o umiarze. Nadmiar </a:t>
            </a:r>
            <a:r>
              <a:rPr lang="pl-PL" dirty="0" err="1" smtClean="0"/>
              <a:t>mikrointerakcji</a:t>
            </a:r>
            <a:r>
              <a:rPr lang="pl-PL" dirty="0" smtClean="0"/>
              <a:t> prowadzi do zmęczenia i rozproszenia. Dobra animacja jest szybka, celowa i subtelna. Nie spowalnia zadania, lecz je wspiera.</a:t>
            </a:r>
          </a:p>
          <a:p>
            <a:r>
              <a:rPr lang="pl-PL" dirty="0" smtClean="0"/>
              <a:t>To właśnie w takich drobnych detalach bardzo często ukrywa się różnica między aplikacją poprawną a aplikacją zapamiętywaną jako świetna.</a:t>
            </a:r>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Przechodzimy do hierarchii wizualnej. Jest to jeden z najważniejszych mechanizmów kierowania uwagą użytkownika. Ekran aplikacji nigdy nie jest odbierany jako równy zbiór elementów. Użytkownik zawsze coś zauważa najpierw, coś później, a coś pomija.</a:t>
            </a:r>
          </a:p>
          <a:p>
            <a:r>
              <a:rPr lang="pl-PL" dirty="0" smtClean="0"/>
              <a:t>Zadaniem projektanta jest świadomie zarządzać tą kolejnością i sprawić, by uwaga użytkownika naturalnie trafiała tam, gdzie powinna.</a:t>
            </a:r>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Hierarchię wizualną buduje się kilkoma podstawowymi narzędziami. Pierwszym jest </a:t>
            </a:r>
            <a:r>
              <a:rPr lang="pl-PL" b="1" dirty="0" smtClean="0"/>
              <a:t>rozmiar</a:t>
            </a:r>
            <a:r>
              <a:rPr lang="pl-PL" dirty="0" smtClean="0"/>
              <a:t> — większe elementy wydają się ważniejsze. Drugim jest </a:t>
            </a:r>
            <a:r>
              <a:rPr lang="pl-PL" b="1" dirty="0" smtClean="0"/>
              <a:t>kontrast</a:t>
            </a:r>
            <a:r>
              <a:rPr lang="pl-PL" dirty="0" smtClean="0"/>
              <a:t>, który przyciąga uwagę. Trzecim </a:t>
            </a:r>
            <a:r>
              <a:rPr lang="pl-PL" b="1" dirty="0" smtClean="0"/>
              <a:t>typografia</a:t>
            </a:r>
            <a:r>
              <a:rPr lang="pl-PL" dirty="0" smtClean="0"/>
              <a:t>, która porządkuje treść. Czwartym </a:t>
            </a:r>
            <a:r>
              <a:rPr lang="pl-PL" b="1" dirty="0" smtClean="0"/>
              <a:t>biała przestrzeń</a:t>
            </a:r>
            <a:r>
              <a:rPr lang="pl-PL" dirty="0" smtClean="0"/>
              <a:t>, która pozwala oddzielać i podkreślać. Piątym </a:t>
            </a:r>
            <a:r>
              <a:rPr lang="pl-PL" b="1" dirty="0" smtClean="0"/>
              <a:t>grupowanie i bliskość</a:t>
            </a:r>
            <a:r>
              <a:rPr lang="pl-PL" dirty="0" smtClean="0"/>
              <a:t>, a szóstym </a:t>
            </a:r>
            <a:r>
              <a:rPr lang="pl-PL" b="1" dirty="0" smtClean="0"/>
              <a:t>wyrównanie</a:t>
            </a:r>
            <a:r>
              <a:rPr lang="pl-PL" dirty="0" smtClean="0"/>
              <a:t>, które tworzy porządek.</a:t>
            </a:r>
          </a:p>
          <a:p>
            <a:r>
              <a:rPr lang="pl-PL" dirty="0" smtClean="0"/>
              <a:t>Warto podkreślić, że te środki działają razem. Jeśli wszystko jest duże, kontrastowe i pogrubione, użytkownik nie wie, od czego zacząć. Jeśli natomiast projektant świadomie wyróżnia tylko to, co najważniejsze, ekran staje się </a:t>
            </a:r>
            <a:r>
              <a:rPr lang="pl-PL" dirty="0" err="1" smtClean="0"/>
              <a:t>samowyjaśniający</a:t>
            </a:r>
            <a:r>
              <a:rPr lang="pl-PL" dirty="0" smtClean="0"/>
              <a:t>.</a:t>
            </a:r>
          </a:p>
          <a:p>
            <a:r>
              <a:rPr lang="pl-PL" dirty="0" smtClean="0"/>
              <a:t>To dobry moment, aby studentom uświadomić, że projektowanie hierarchii wizualnej to w pewnym sensie projektowanie ścieżki patrzenia.</a:t>
            </a:r>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Psychologia </a:t>
            </a:r>
            <a:r>
              <a:rPr lang="pl-PL" dirty="0" err="1" smtClean="0"/>
              <a:t>Gestalt</a:t>
            </a:r>
            <a:r>
              <a:rPr lang="pl-PL" dirty="0" smtClean="0"/>
              <a:t> dostarcza bardzo ważnych narzędzi do rozumienia tego, jak człowiek porządkuje bodźce wzrokowe. Mózg ma naturalną skłonność do grupowania elementów według podobieństwa, bliskości, ciągłości, figury i tła czy symetrii.</a:t>
            </a:r>
          </a:p>
          <a:p>
            <a:r>
              <a:rPr lang="pl-PL" dirty="0" smtClean="0"/>
              <a:t>W interfejsie oznacza to, że użytkownik widzi relacje nawet wtedy, gdy nie zostały one explicite narysowane. Jeśli dwa elementy leżą blisko siebie, będą odczytane jako powiązane. Jeśli mają podobny kolor i kształt, również zostaną zgrupowane.</a:t>
            </a:r>
          </a:p>
          <a:p>
            <a:r>
              <a:rPr lang="pl-PL" dirty="0" smtClean="0"/>
              <a:t>To ma ogromne znaczenie praktyczne. Na przykład w formularzu etykieta musi być wizualnie związana z odpowiednim polem. Jeśli odstępy są źle zaprojektowane, użytkownik może błędnie zinterpretować strukturę interfejsu.</a:t>
            </a:r>
          </a:p>
          <a:p>
            <a:r>
              <a:rPr lang="pl-PL" dirty="0" smtClean="0"/>
              <a:t>Warto zapamiętać, że </a:t>
            </a:r>
            <a:r>
              <a:rPr lang="pl-PL" b="1" dirty="0" smtClean="0"/>
              <a:t>w projektowaniu nie projektuje się tylko samych elementów</a:t>
            </a:r>
            <a:r>
              <a:rPr lang="pl-PL" dirty="0" smtClean="0"/>
              <a:t>. Projektuje się również </a:t>
            </a:r>
            <a:r>
              <a:rPr lang="pl-PL" b="1" dirty="0" smtClean="0"/>
              <a:t>relacje między nimi</a:t>
            </a:r>
            <a:r>
              <a:rPr lang="pl-PL" dirty="0" smtClean="0"/>
              <a:t>.</a:t>
            </a:r>
          </a:p>
          <a:p>
            <a:endParaRPr lang="pl-PL" dirty="0" smtClean="0"/>
          </a:p>
          <a:p>
            <a:r>
              <a:rPr lang="pl-PL" dirty="0" smtClean="0"/>
              <a:t>Dla studentów szczególnie cenne jest zrozumienie, że </a:t>
            </a:r>
            <a:r>
              <a:rPr lang="pl-PL" b="1" dirty="0" smtClean="0"/>
              <a:t>odstępy są semantyczne</a:t>
            </a:r>
            <a:r>
              <a:rPr lang="pl-PL" dirty="0" smtClean="0"/>
              <a:t>. To, które elementy leżą bliżej siebie, wpływa na interpretację ich związku. </a:t>
            </a:r>
          </a:p>
          <a:p>
            <a:r>
              <a:rPr lang="pl-PL" dirty="0" smtClean="0"/>
              <a:t>Wiele błędów formularzy lub </a:t>
            </a:r>
            <a:r>
              <a:rPr lang="pl-PL" dirty="0" err="1" smtClean="0"/>
              <a:t>dashboardów</a:t>
            </a:r>
            <a:r>
              <a:rPr lang="pl-PL" dirty="0" smtClean="0"/>
              <a:t> wynika właśnie z niewłaściwego użycia zasady bliskości.</a:t>
            </a:r>
          </a:p>
          <a:p>
            <a:r>
              <a:rPr lang="pl-PL" b="1" dirty="0" smtClean="0"/>
              <a:t>Ciekawostka</a:t>
            </a:r>
            <a:r>
              <a:rPr lang="pl-PL" dirty="0" smtClean="0"/>
              <a:t>: </a:t>
            </a:r>
            <a:r>
              <a:rPr lang="pl-PL" dirty="0" err="1" smtClean="0"/>
              <a:t>Gestalt</a:t>
            </a:r>
            <a:r>
              <a:rPr lang="pl-PL" dirty="0" smtClean="0"/>
              <a:t> bywa tak silny, że użytkownik może widzieć relacje, których projektant w ogóle nie planował. Dlatego projektowanie przestrzeni między elementami jest równie ważne jak projektowanie samych elementów.</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Przechodzimy do ostatniej sekcji, czyli do narzędzi pracy projektanta UI/UX. Warto jasno powiedzieć, że narzędzie samo w sobie nie tworzy dobrego projektu. Jednak odpowiednio dobrane środowisko pracy może znacząco usprawnić prototypowanie, współpracę, testowanie i komunikację z zespołem developerskim.</a:t>
            </a:r>
          </a:p>
          <a:p>
            <a:r>
              <a:rPr lang="pl-PL" dirty="0" smtClean="0"/>
              <a:t>W nowoczesnych zespołach projektowanie nie kończy się na makiecie. Narzędzia coraz częściej obsługują także </a:t>
            </a:r>
            <a:r>
              <a:rPr lang="pl-PL" dirty="0" err="1" smtClean="0"/>
              <a:t>handoff</a:t>
            </a:r>
            <a:r>
              <a:rPr lang="pl-PL" dirty="0" smtClean="0"/>
              <a:t>, dokumentację komponentów, systemy </a:t>
            </a:r>
            <a:r>
              <a:rPr lang="pl-PL" dirty="0" err="1" smtClean="0"/>
              <a:t>tokenów</a:t>
            </a:r>
            <a:r>
              <a:rPr lang="pl-PL" dirty="0" smtClean="0"/>
              <a:t> i prototypowanie interakcji.</a:t>
            </a:r>
            <a:endParaRPr lang="pl-PL"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Wśród najważniejszych narzędzi warto wymienić </a:t>
            </a:r>
            <a:r>
              <a:rPr lang="pl-PL" b="1" dirty="0" err="1" smtClean="0"/>
              <a:t>Figmę</a:t>
            </a:r>
            <a:r>
              <a:rPr lang="pl-PL" dirty="0" smtClean="0"/>
              <a:t>, </a:t>
            </a:r>
            <a:r>
              <a:rPr lang="pl-PL" b="1" dirty="0" err="1" smtClean="0"/>
              <a:t>Sketcha</a:t>
            </a:r>
            <a:r>
              <a:rPr lang="pl-PL" dirty="0" smtClean="0"/>
              <a:t> i historycznie także </a:t>
            </a:r>
            <a:r>
              <a:rPr lang="pl-PL" b="1" dirty="0" smtClean="0"/>
              <a:t>Adobe XD</a:t>
            </a:r>
            <a:r>
              <a:rPr lang="pl-PL" dirty="0" smtClean="0"/>
              <a:t>. Dziś zdecydowanie dominuje </a:t>
            </a:r>
            <a:r>
              <a:rPr lang="pl-PL" dirty="0" err="1" smtClean="0"/>
              <a:t>Figma</a:t>
            </a:r>
            <a:r>
              <a:rPr lang="pl-PL" dirty="0" smtClean="0"/>
              <a:t>, głównie dzięki pracy w przeglądarce, współpracy w czasie rzeczywistym i bardzo rozbudowanemu ekosystemowi </a:t>
            </a:r>
            <a:r>
              <a:rPr lang="pl-PL" dirty="0" err="1" smtClean="0"/>
              <a:t>pluginów</a:t>
            </a:r>
            <a:r>
              <a:rPr lang="pl-PL" dirty="0" smtClean="0"/>
              <a:t>.</a:t>
            </a:r>
          </a:p>
          <a:p>
            <a:r>
              <a:rPr lang="pl-PL" dirty="0" err="1" smtClean="0"/>
              <a:t>Sketch</a:t>
            </a:r>
            <a:r>
              <a:rPr lang="pl-PL" dirty="0" smtClean="0"/>
              <a:t> przez wiele lat był standardem w środowisku Apple i nadal ma swoją wartość, szczególnie dla zespołów silnie osadzonych w </a:t>
            </a:r>
            <a:r>
              <a:rPr lang="pl-PL" dirty="0" err="1" smtClean="0"/>
              <a:t>macOS</a:t>
            </a:r>
            <a:r>
              <a:rPr lang="pl-PL" dirty="0" smtClean="0"/>
              <a:t>. Adobe XD odegrał istotną rolę w pewnym momencie rynku, ale obecnie jego pozycja jest zdecydowanie słabsza.</a:t>
            </a:r>
          </a:p>
          <a:p>
            <a:r>
              <a:rPr lang="pl-PL" dirty="0" smtClean="0"/>
              <a:t>Dla studentów najważniejsza praktyczna informacja jest taka, że </a:t>
            </a:r>
            <a:r>
              <a:rPr lang="pl-PL" dirty="0" err="1" smtClean="0"/>
              <a:t>Figma</a:t>
            </a:r>
            <a:r>
              <a:rPr lang="pl-PL" dirty="0" smtClean="0"/>
              <a:t> jest dziś najbardziej uniwersalnym i dostępnym wyborem, szczególnie do nauki i pracy zespołowej.</a:t>
            </a:r>
          </a:p>
          <a:p>
            <a:endParaRPr lang="pl-PL" dirty="0" smtClean="0"/>
          </a:p>
          <a:p>
            <a:endParaRPr lang="pl-PL" dirty="0" smtClean="0"/>
          </a:p>
          <a:p>
            <a:r>
              <a:rPr lang="pl-PL" dirty="0" err="1" smtClean="0"/>
              <a:t>Figma</a:t>
            </a:r>
            <a:r>
              <a:rPr lang="pl-PL" dirty="0" smtClean="0"/>
              <a:t>, </a:t>
            </a:r>
            <a:r>
              <a:rPr lang="pl-PL" dirty="0" err="1" smtClean="0"/>
              <a:t>Sketch</a:t>
            </a:r>
            <a:r>
              <a:rPr lang="pl-PL" dirty="0" smtClean="0"/>
              <a:t> i Adobe XD reprezentują różne podejścia do projektowania. Obecnie </a:t>
            </a:r>
            <a:r>
              <a:rPr lang="pl-PL" dirty="0" err="1" smtClean="0"/>
              <a:t>Figma</a:t>
            </a:r>
            <a:r>
              <a:rPr lang="pl-PL" dirty="0" smtClean="0"/>
              <a:t> dominuje przede wszystkim dzięki łatwości współpracy, dostępności przez przeglądarkę i rozbudowanemu ekosystemowi. </a:t>
            </a:r>
            <a:r>
              <a:rPr lang="pl-PL" dirty="0" err="1" smtClean="0"/>
              <a:t>Sketch</a:t>
            </a:r>
            <a:r>
              <a:rPr lang="pl-PL" dirty="0" smtClean="0"/>
              <a:t> zachowuje znaczenie w środowiskach mocno osadzonych na </a:t>
            </a:r>
            <a:r>
              <a:rPr lang="pl-PL" dirty="0" err="1" smtClean="0"/>
              <a:t>macOS</a:t>
            </a:r>
            <a:r>
              <a:rPr lang="pl-PL" dirty="0" smtClean="0"/>
              <a:t>. Adobe XD ma dziś znaczenie historyczne i ograniczoną perspektywę rozwoju.</a:t>
            </a:r>
          </a:p>
          <a:p>
            <a:r>
              <a:rPr lang="pl-PL" dirty="0" smtClean="0"/>
              <a:t>Studentom warto powiedzieć, że wybór narzędzia nie powinien być religią. Należy patrzeć na potrzeby zespołu, integrację z </a:t>
            </a:r>
            <a:r>
              <a:rPr lang="pl-PL" dirty="0" err="1" smtClean="0"/>
              <a:t>workflow</a:t>
            </a:r>
            <a:r>
              <a:rPr lang="pl-PL" dirty="0" smtClean="0"/>
              <a:t> i skalę projektu. Dla celów dydaktycznych i większości zespołów studenckich </a:t>
            </a:r>
            <a:r>
              <a:rPr lang="pl-PL" dirty="0" err="1" smtClean="0"/>
              <a:t>Figma</a:t>
            </a:r>
            <a:r>
              <a:rPr lang="pl-PL" dirty="0" smtClean="0"/>
              <a:t> jest jednak najbardziej praktycznym wyborem.</a:t>
            </a:r>
          </a:p>
          <a:p>
            <a:endParaRPr lang="pl-PL" dirty="0" smtClean="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Samo narzędzie do rysowania ekranów nie wystarcza. Potrzebne są także rozwiązania do prototypowania, testów użyteczności, dokumentacji, zarządzania zadaniami i współpracy zespołowej.</a:t>
            </a:r>
          </a:p>
          <a:p>
            <a:r>
              <a:rPr lang="pl-PL" dirty="0" smtClean="0"/>
              <a:t>Dlatego w praktyce projektowej korzysta się z całego zestawu narzędzi: od </a:t>
            </a:r>
            <a:r>
              <a:rPr lang="pl-PL" dirty="0" err="1" smtClean="0"/>
              <a:t>Figmy</a:t>
            </a:r>
            <a:r>
              <a:rPr lang="pl-PL" dirty="0" smtClean="0"/>
              <a:t> i </a:t>
            </a:r>
            <a:r>
              <a:rPr lang="pl-PL" dirty="0" err="1" smtClean="0"/>
              <a:t>FigJam</a:t>
            </a:r>
            <a:r>
              <a:rPr lang="pl-PL" dirty="0" smtClean="0"/>
              <a:t>, przez </a:t>
            </a:r>
            <a:r>
              <a:rPr lang="pl-PL" dirty="0" err="1" smtClean="0"/>
              <a:t>Maze</a:t>
            </a:r>
            <a:r>
              <a:rPr lang="pl-PL" dirty="0" smtClean="0"/>
              <a:t> i </a:t>
            </a:r>
            <a:r>
              <a:rPr lang="pl-PL" dirty="0" err="1" smtClean="0"/>
              <a:t>UserTesting</a:t>
            </a:r>
            <a:r>
              <a:rPr lang="pl-PL" dirty="0" smtClean="0"/>
              <a:t>, aż po </a:t>
            </a:r>
            <a:r>
              <a:rPr lang="pl-PL" dirty="0" err="1" smtClean="0"/>
              <a:t>Storybook</a:t>
            </a:r>
            <a:r>
              <a:rPr lang="pl-PL" dirty="0" smtClean="0"/>
              <a:t>, </a:t>
            </a:r>
            <a:r>
              <a:rPr lang="pl-PL" dirty="0" err="1" smtClean="0"/>
              <a:t>Zeroheight</a:t>
            </a:r>
            <a:r>
              <a:rPr lang="pl-PL" dirty="0" smtClean="0"/>
              <a:t>, </a:t>
            </a:r>
            <a:r>
              <a:rPr lang="pl-PL" dirty="0" err="1" smtClean="0"/>
              <a:t>Jirę</a:t>
            </a:r>
            <a:r>
              <a:rPr lang="pl-PL" dirty="0" smtClean="0"/>
              <a:t>, Miro czy </a:t>
            </a:r>
            <a:r>
              <a:rPr lang="pl-PL" dirty="0" err="1" smtClean="0"/>
              <a:t>Notion</a:t>
            </a:r>
            <a:r>
              <a:rPr lang="pl-PL" dirty="0" smtClean="0"/>
              <a:t>.</a:t>
            </a:r>
          </a:p>
          <a:p>
            <a:r>
              <a:rPr lang="pl-PL" dirty="0" smtClean="0"/>
              <a:t>To ważne, bo projektowanie profesjonalne nie polega wyłącznie na tworzeniu estetycznych widoków. Obejmuje również walidację, iterację, przekazanie projektu do </a:t>
            </a:r>
            <a:r>
              <a:rPr lang="pl-PL" dirty="0" err="1" smtClean="0"/>
              <a:t>developmentu</a:t>
            </a:r>
            <a:r>
              <a:rPr lang="pl-PL" dirty="0" smtClean="0"/>
              <a:t> i utrzymanie spójności w czasie.</a:t>
            </a:r>
          </a:p>
          <a:p>
            <a:r>
              <a:rPr lang="pl-PL" dirty="0" smtClean="0"/>
              <a:t>Innymi słowy: narzędzia wspierają proces, a proces wspiera jakość produktu.</a:t>
            </a:r>
          </a:p>
          <a:p>
            <a:r>
              <a:rPr lang="pl-PL" dirty="0" smtClean="0"/>
              <a:t>Warto podkreślić, że wysokiej jakości produkt powstaje zwykle nie dzięki jednemu genialnemu narzędziu, lecz dzięki dobrze zorganizowanemu ekosystemowi pracy. Makieta bez testów, dokumentacji i procesu iteracji to za mało.</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Na tym slajdzie widzimy pełny proces projektowy. Zaczyna się on od </a:t>
            </a:r>
            <a:r>
              <a:rPr lang="pl-PL" b="1" dirty="0" err="1" smtClean="0"/>
              <a:t>researchu</a:t>
            </a:r>
            <a:r>
              <a:rPr lang="pl-PL" b="1" dirty="0" smtClean="0"/>
              <a:t> i </a:t>
            </a:r>
            <a:r>
              <a:rPr lang="pl-PL" b="1" dirty="0" err="1" smtClean="0"/>
              <a:t>discovery</a:t>
            </a:r>
            <a:r>
              <a:rPr lang="pl-PL" dirty="0" smtClean="0"/>
              <a:t>, czyli od zrozumienia użytkownika, jego potrzeb i problemów. Potem przechodzimy do definiowania wymagań, budowania person, user </a:t>
            </a:r>
            <a:r>
              <a:rPr lang="pl-PL" dirty="0" err="1" smtClean="0"/>
              <a:t>stories</a:t>
            </a:r>
            <a:r>
              <a:rPr lang="pl-PL" dirty="0" smtClean="0"/>
              <a:t> i map podróży użytkownika.</a:t>
            </a:r>
          </a:p>
          <a:p>
            <a:r>
              <a:rPr lang="pl-PL" dirty="0" smtClean="0"/>
              <a:t>Następnie pojawia się etap ideacji i </a:t>
            </a:r>
            <a:r>
              <a:rPr lang="pl-PL" dirty="0" err="1" smtClean="0"/>
              <a:t>wireframingu</a:t>
            </a:r>
            <a:r>
              <a:rPr lang="pl-PL" dirty="0" smtClean="0"/>
              <a:t>, czyli szybkie generowanie oraz testowanie pomysłów. Dopiero później przechodzi się do projektowania wizualnego o wysokiej wierności.</a:t>
            </a:r>
          </a:p>
          <a:p>
            <a:r>
              <a:rPr lang="pl-PL" dirty="0" smtClean="0"/>
              <a:t>Kolejny etap to prototypowanie i testy użyteczności. To moment szczególnie ważny, bo właśnie wtedy można najtaniej wykryć błędy w logice, strukturze i interakcji.</a:t>
            </a:r>
          </a:p>
          <a:p>
            <a:r>
              <a:rPr lang="pl-PL" dirty="0" smtClean="0"/>
              <a:t>Na końcu następuje </a:t>
            </a:r>
            <a:r>
              <a:rPr lang="pl-PL" dirty="0" err="1" smtClean="0"/>
              <a:t>handoff</a:t>
            </a:r>
            <a:r>
              <a:rPr lang="pl-PL" dirty="0" smtClean="0"/>
              <a:t> do zespołu developerskiego, wdrożenie i dalsza iteracja. Trzeba bowiem pamiętać, że proces UX nie kończy się w momencie publikacji produktu. W rzeczywistości wtedy zaczyna się kolejna runda uczenia się na podstawie danych, obserwacji i zachowań użytkowników.</a:t>
            </a:r>
          </a:p>
          <a:p>
            <a:endParaRPr lang="pl-PL" dirty="0" smtClean="0"/>
          </a:p>
          <a:p>
            <a:r>
              <a:rPr lang="pl-PL" dirty="0" smtClean="0"/>
              <a:t>Należy mocno zaakcentować studentom znaczenie badań i testowania. Najdroższe błędy to te, które wykrywamy dopiero po wdrożeniu. Najtańsze — te, które wykryjemy na etapie szkicu lub prostego prototypu.</a:t>
            </a:r>
          </a:p>
          <a:p>
            <a:r>
              <a:rPr lang="pl-PL" dirty="0" smtClean="0"/>
              <a:t>Można tu dodać praktyczną radę: zakochanie się w pierwszym pomyśle jest jednym z głównych wrogów dobrego projektowania. Iteracja to nie oznaka słabości projektu, ale oznaka dojrzałości procesu.</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Podsumujmy najważniejsze wnioski z dzisiejszego spotkania.</a:t>
            </a:r>
          </a:p>
          <a:p>
            <a:r>
              <a:rPr lang="pl-PL" dirty="0" smtClean="0"/>
              <a:t>Po pierwsze, </a:t>
            </a:r>
            <a:r>
              <a:rPr lang="pl-PL" b="1" dirty="0" smtClean="0"/>
              <a:t>UI i UX to nie to samo</a:t>
            </a:r>
            <a:r>
              <a:rPr lang="pl-PL" dirty="0" smtClean="0"/>
              <a:t>, ale są ze sobą nierozerwalnie związane. UI to warstwa interfejsu, a UX to całe doświadczenie korzystania z produktu.</a:t>
            </a:r>
          </a:p>
          <a:p>
            <a:r>
              <a:rPr lang="pl-PL" dirty="0" smtClean="0"/>
              <a:t>Po drugie, istnieje wiele </a:t>
            </a:r>
            <a:r>
              <a:rPr lang="pl-PL" b="1" dirty="0" smtClean="0"/>
              <a:t>rodzajów interfejsów</a:t>
            </a:r>
            <a:r>
              <a:rPr lang="pl-PL" dirty="0" smtClean="0"/>
              <a:t>, a nowoczesne produkty coraz częściej łączą je w sposób hybrydowy.</a:t>
            </a:r>
          </a:p>
          <a:p>
            <a:r>
              <a:rPr lang="pl-PL" dirty="0" smtClean="0"/>
              <a:t>Po trzecie, projektowanie powinno opierać się na </a:t>
            </a:r>
            <a:r>
              <a:rPr lang="pl-PL" b="1" dirty="0" smtClean="0"/>
              <a:t>sprawdzonych zasadach</a:t>
            </a:r>
            <a:r>
              <a:rPr lang="pl-PL" dirty="0" smtClean="0"/>
              <a:t>, takich jak heurystyki Nielsena, prawo </a:t>
            </a:r>
            <a:r>
              <a:rPr lang="pl-PL" dirty="0" err="1" smtClean="0"/>
              <a:t>Hicka</a:t>
            </a:r>
            <a:r>
              <a:rPr lang="pl-PL" dirty="0" smtClean="0"/>
              <a:t> i prawo </a:t>
            </a:r>
            <a:r>
              <a:rPr lang="pl-PL" dirty="0" err="1" smtClean="0"/>
              <a:t>Fittsa</a:t>
            </a:r>
            <a:r>
              <a:rPr lang="pl-PL" dirty="0" smtClean="0"/>
              <a:t>.</a:t>
            </a:r>
          </a:p>
          <a:p>
            <a:r>
              <a:rPr lang="pl-PL" dirty="0" smtClean="0"/>
              <a:t>Po czwarte, należy znać i szanować </a:t>
            </a:r>
            <a:r>
              <a:rPr lang="pl-PL" b="1" dirty="0" smtClean="0"/>
              <a:t>standardy platformowe</a:t>
            </a:r>
            <a:r>
              <a:rPr lang="pl-PL" dirty="0" smtClean="0"/>
              <a:t> oraz zasady </a:t>
            </a:r>
            <a:r>
              <a:rPr lang="pl-PL" b="1" dirty="0" smtClean="0"/>
              <a:t>dostępności</a:t>
            </a:r>
            <a:r>
              <a:rPr lang="pl-PL" dirty="0" smtClean="0"/>
              <a:t>.</a:t>
            </a:r>
          </a:p>
          <a:p>
            <a:r>
              <a:rPr lang="pl-PL" dirty="0" smtClean="0"/>
              <a:t>Po piąte, takie elementy jak </a:t>
            </a:r>
            <a:r>
              <a:rPr lang="pl-PL" b="1" dirty="0" smtClean="0"/>
              <a:t>kolor, typografia, dźwięk i </a:t>
            </a:r>
            <a:r>
              <a:rPr lang="pl-PL" b="1" dirty="0" err="1" smtClean="0"/>
              <a:t>haptyka</a:t>
            </a:r>
            <a:r>
              <a:rPr lang="pl-PL" dirty="0" smtClean="0"/>
              <a:t> są integralną częścią doświadczenia użytkownika, a nie dodatkami estetycznymi.</a:t>
            </a:r>
          </a:p>
          <a:p>
            <a:r>
              <a:rPr lang="pl-PL" dirty="0" smtClean="0"/>
              <a:t>Po szóste, </a:t>
            </a:r>
            <a:r>
              <a:rPr lang="pl-PL" b="1" dirty="0" smtClean="0"/>
              <a:t>projektowanie emocjonalne</a:t>
            </a:r>
            <a:r>
              <a:rPr lang="pl-PL" dirty="0" smtClean="0"/>
              <a:t>, </a:t>
            </a:r>
            <a:r>
              <a:rPr lang="pl-PL" b="1" dirty="0" err="1" smtClean="0"/>
              <a:t>mikrointerakcje</a:t>
            </a:r>
            <a:r>
              <a:rPr lang="pl-PL" dirty="0" smtClean="0"/>
              <a:t> i </a:t>
            </a:r>
            <a:r>
              <a:rPr lang="pl-PL" b="1" dirty="0" smtClean="0"/>
              <a:t>hierarchia wizualna</a:t>
            </a:r>
            <a:r>
              <a:rPr lang="pl-PL" dirty="0" smtClean="0"/>
              <a:t> decydują o tym, jak produkt jest odbierany i zapamiętywany.</a:t>
            </a:r>
          </a:p>
          <a:p>
            <a:r>
              <a:rPr lang="pl-PL" dirty="0" smtClean="0"/>
              <a:t>I wreszcie po siódme, dobry produkt nie powstaje przypadkiem. Jest wynikiem dobrze zorganizowanego procesu, świadomych decyzji i pracy zespołu korzystającego z odpowiednich narzędzi.</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daty 2"/>
          <p:cNvSpPr txBox="1"/>
          <p:nvPr/>
        </p:nvSpPr>
        <p:spPr>
          <a:xfrm>
            <a:off x="2913058" y="0"/>
            <a:ext cx="2228850" cy="458791"/>
          </a:xfrm>
          <a:prstGeom prst="rect">
            <a:avLst/>
          </a:prstGeom>
          <a:noFill/>
          <a:ln cap="flat">
            <a:noFill/>
          </a:ln>
        </p:spPr>
        <p:txBody>
          <a:bodyPr vert="horz" wrap="square" lIns="91440" tIns="45720" rIns="91440" bIns="45720" anchor="t"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0203F5D0-AB76-4AEB-983F-6D4BC8B04A18}" type="datetime1">
              <a:rPr lang="pl-PL" sz="1200" b="0" i="0" u="none" strike="noStrike" kern="1200" cap="none" spc="0" baseline="0">
                <a:solidFill>
                  <a:srgbClr val="000000"/>
                </a:solidFill>
                <a:uFillTx/>
                <a:latin typeface="Calibri"/>
              </a:rPr>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t>14.03.2026</a:t>
            </a:fld>
            <a:endParaRPr lang="pl-PL" sz="1200" b="0" i="0" u="none" strike="noStrike" kern="1200" cap="none" spc="0" baseline="0">
              <a:solidFill>
                <a:srgbClr val="000000"/>
              </a:solidFill>
              <a:uFillTx/>
              <a:latin typeface="Calibri"/>
            </a:endParaRPr>
          </a:p>
        </p:txBody>
      </p:sp>
      <p:sp>
        <p:nvSpPr>
          <p:cNvPr id="3" name="PlaceHolder 3"/>
          <p:cNvSpPr txBox="1"/>
          <p:nvPr/>
        </p:nvSpPr>
        <p:spPr>
          <a:xfrm>
            <a:off x="0" y="0"/>
            <a:ext cx="2228850" cy="458791"/>
          </a:xfrm>
          <a:prstGeom prst="rect">
            <a:avLst/>
          </a:prstGeom>
          <a:noFill/>
          <a:ln cap="flat">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l-PL" sz="1200" b="0" i="0" u="none" strike="noStrike" kern="1200" cap="none" spc="0" baseline="0">
                <a:solidFill>
                  <a:srgbClr val="000000"/>
                </a:solidFill>
                <a:uFillTx/>
                <a:latin typeface="Calibri"/>
              </a:rPr>
              <a:t> </a:t>
            </a:r>
          </a:p>
        </p:txBody>
      </p:sp>
      <p:sp>
        <p:nvSpPr>
          <p:cNvPr id="4" name="PlaceHolder 4"/>
          <p:cNvSpPr txBox="1"/>
          <p:nvPr/>
        </p:nvSpPr>
        <p:spPr>
          <a:xfrm>
            <a:off x="2913058" y="0"/>
            <a:ext cx="2228850" cy="458791"/>
          </a:xfrm>
          <a:prstGeom prst="rect">
            <a:avLst/>
          </a:prstGeom>
          <a:noFill/>
          <a:ln cap="flat">
            <a:noFill/>
          </a:ln>
        </p:spPr>
        <p:txBody>
          <a:bodyPr vert="horz" wrap="square" lIns="0" tIns="0" rIns="0" bIns="0" anchor="t"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l-PL" sz="1200" b="0" i="0" u="none" strike="noStrike" kern="1200" cap="none" spc="0" baseline="0">
                <a:solidFill>
                  <a:srgbClr val="000000"/>
                </a:solidFill>
                <a:uFillTx/>
                <a:latin typeface="Calibri"/>
              </a:rPr>
              <a:t> </a:t>
            </a:r>
          </a:p>
        </p:txBody>
      </p:sp>
      <p:sp>
        <p:nvSpPr>
          <p:cNvPr id="5" name="PlaceHolder 5"/>
          <p:cNvSpPr txBox="1"/>
          <p:nvPr/>
        </p:nvSpPr>
        <p:spPr>
          <a:xfrm>
            <a:off x="0" y="10157402"/>
            <a:ext cx="3280684" cy="534238"/>
          </a:xfrm>
          <a:prstGeom prst="rect">
            <a:avLst/>
          </a:prstGeom>
          <a:noFill/>
          <a:ln cap="flat">
            <a:noFill/>
          </a:ln>
        </p:spPr>
        <p:txBody>
          <a:bodyPr vert="horz" wrap="square" lIns="0" tIns="0" rIns="0" bIns="0" anchor="b"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l-PL" sz="1400" b="0" i="0" u="none" strike="noStrike" kern="1200" cap="none" spc="0" baseline="0">
                <a:solidFill>
                  <a:srgbClr val="000000"/>
                </a:solidFill>
                <a:uFillTx/>
                <a:latin typeface="Times New Roman"/>
                <a:ea typeface="DejaVu Sans"/>
                <a:cs typeface="DejaVu Sans"/>
              </a:rPr>
              <a:t> </a:t>
            </a:r>
          </a:p>
        </p:txBody>
      </p:sp>
      <p:sp>
        <p:nvSpPr>
          <p:cNvPr id="6" name="PlaceHolder 6"/>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9D7883FF-4FAD-4B16-912C-169CABD75435}" type="slidenum">
              <a:t>45</a:t>
            </a:fld>
            <a:endParaRPr lang="pl-PL" sz="1400" b="0" i="0" u="none" strike="noStrike" kern="1200" cap="none" spc="0" baseline="0">
              <a:solidFill>
                <a:srgbClr val="000000"/>
              </a:solidFill>
              <a:uFillTx/>
              <a:latin typeface="Times New Roman"/>
              <a:ea typeface="DejaVu Sans"/>
              <a:cs typeface="DejaVu Sans"/>
            </a:endParaRPr>
          </a:p>
        </p:txBody>
      </p:sp>
      <p:sp>
        <p:nvSpPr>
          <p:cNvPr id="7" name="Symbol zastępczy numeru slajdu 6"/>
          <p:cNvSpPr txBox="1"/>
          <p:nvPr/>
        </p:nvSpPr>
        <p:spPr>
          <a:xfrm>
            <a:off x="4278962" y="10157402"/>
            <a:ext cx="3280684" cy="534238"/>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D16C4EDA-6AC7-4F53-8B3F-BCC7F9E85C58}" type="slidenum">
              <a:t>45</a:t>
            </a:fld>
            <a:endParaRPr lang="pl-PL" sz="1400" b="0" i="0" u="none" strike="noStrike" kern="1200" cap="none" spc="0" baseline="0">
              <a:solidFill>
                <a:srgbClr val="000000"/>
              </a:solidFill>
              <a:uFillTx/>
              <a:latin typeface="Times New Roman"/>
              <a:ea typeface="DejaVu Sans"/>
              <a:cs typeface="DejaVu Sans"/>
            </a:endParaRPr>
          </a:p>
        </p:txBody>
      </p:sp>
      <p:sp>
        <p:nvSpPr>
          <p:cNvPr id="8" name="PlaceHolder 1"/>
          <p:cNvSpPr>
            <a:spLocks noGrp="1" noRot="1" noChangeAspect="1"/>
          </p:cNvSpPr>
          <p:nvPr>
            <p:ph type="sldImg"/>
          </p:nvPr>
        </p:nvSpPr>
        <p:spPr>
          <a:xfrm>
            <a:off x="685800" y="1143000"/>
            <a:ext cx="5486400" cy="3086100"/>
          </a:xfrm>
          <a:solidFill>
            <a:srgbClr val="5B9BD5"/>
          </a:solidFill>
          <a:ln w="12600" cap="flat">
            <a:solidFill>
              <a:srgbClr val="41719C"/>
            </a:solidFill>
            <a:prstDash val="solid"/>
            <a:miter/>
          </a:ln>
        </p:spPr>
      </p:sp>
      <p:sp>
        <p:nvSpPr>
          <p:cNvPr id="9" name="PlaceHolder 2"/>
          <p:cNvSpPr txBox="1">
            <a:spLocks noGrp="1"/>
          </p:cNvSpPr>
          <p:nvPr>
            <p:ph type="body" sz="quarter" idx="1"/>
          </p:nvPr>
        </p:nvSpPr>
        <p:spPr>
          <a:xfrm>
            <a:off x="685800" y="4400641"/>
            <a:ext cx="5485677" cy="3599636"/>
          </a:xfrm>
        </p:spPr>
        <p:txBody>
          <a:bodyPr/>
          <a:lstStyle/>
          <a:p>
            <a:pPr lvl="0"/>
            <a:r>
              <a:rPr lang="pl-PL"/>
              <a:t>Najważniejszym trendem w rozwoju urządzeń mobilnych jest obecnie </a:t>
            </a:r>
            <a:r>
              <a:rPr lang="pl-PL" b="1"/>
              <a:t>sztuczna inteligencja działająca bezpośrednio na urządzeniu</a:t>
            </a:r>
            <a:r>
              <a:rPr lang="pl-PL"/>
              <a:t>.</a:t>
            </a:r>
          </a:p>
          <a:p>
            <a:pPr lvl="0"/>
            <a:r>
              <a:rPr lang="pl-PL"/>
              <a:t>Dzięki coraz bardziej wydajnym akceleratorom AI możliwe jest uruchamianie modeli językowych oraz modeli generatywnych bezpośrednio na smartfonie.</a:t>
            </a:r>
          </a:p>
          <a:p>
            <a:pPr lvl="0"/>
            <a:r>
              <a:rPr lang="pl-PL"/>
              <a:t>Drugim ważnym trendem jest dalsza miniaturyzacja układów scalonych. Nowoczesne procesory mobilne są produkowane w procesach technologicznych rzędu kilku nanometrów.</a:t>
            </a:r>
          </a:p>
          <a:p>
            <a:pPr lvl="0"/>
            <a:r>
              <a:rPr lang="pl-PL"/>
              <a:t>Rozwijają się również technologie komunikacyjne, w tym </a:t>
            </a:r>
            <a:r>
              <a:rPr lang="pl-PL" b="1"/>
              <a:t>łączność satelitarna</a:t>
            </a:r>
            <a:r>
              <a:rPr lang="pl-PL"/>
              <a:t>, która umożliwia wysyłanie wiadomości nawet poza zasięgiem sieci komórkowych.</a:t>
            </a:r>
          </a:p>
          <a:p>
            <a:pPr lvl="0"/>
            <a:endParaRPr lang="pl-PL"/>
          </a:p>
          <a:p>
            <a:pPr lvl="0"/>
            <a:r>
              <a:rPr lang="pl-PL"/>
              <a:t>_______</a:t>
            </a:r>
          </a:p>
          <a:p>
            <a:pPr lvl="0"/>
            <a:r>
              <a:rPr lang="pl-PL"/>
              <a:t>Najważniejsze trendy rozwoju technologii mobilnych to:</a:t>
            </a:r>
          </a:p>
          <a:p>
            <a:pPr marL="343082" lvl="0" indent="-343082">
              <a:buSzPct val="100000"/>
              <a:buFont typeface="Arial" pitchFamily="34"/>
              <a:buChar char="•"/>
            </a:pPr>
            <a:r>
              <a:rPr lang="pl-PL"/>
              <a:t>AI działające bezpośrednio na urządzeniu</a:t>
            </a:r>
          </a:p>
          <a:p>
            <a:pPr marL="343082" lvl="0" indent="-343082">
              <a:buSzPct val="100000"/>
              <a:buFont typeface="Arial" pitchFamily="34"/>
              <a:buChar char="•"/>
            </a:pPr>
            <a:r>
              <a:rPr lang="pl-PL"/>
              <a:t>szybsze ładowanie</a:t>
            </a:r>
          </a:p>
          <a:p>
            <a:pPr marL="343082" lvl="0" indent="-343082">
              <a:buSzPct val="100000"/>
              <a:buFont typeface="Arial" pitchFamily="34"/>
              <a:buChar char="•"/>
            </a:pPr>
            <a:r>
              <a:rPr lang="pl-PL"/>
              <a:t>nowe technologie półprzewodnikowe.</a:t>
            </a:r>
          </a:p>
          <a:p>
            <a:pPr lvl="0"/>
            <a:endParaRPr lang="pl-PL"/>
          </a:p>
        </p:txBody>
      </p:sp>
      <p:sp>
        <p:nvSpPr>
          <p:cNvPr id="10" name="PlaceHolder 3"/>
          <p:cNvSpPr txBox="1"/>
          <p:nvPr/>
        </p:nvSpPr>
        <p:spPr>
          <a:xfrm>
            <a:off x="3884755" y="8685364"/>
            <a:ext cx="2971077" cy="457922"/>
          </a:xfrm>
          <a:prstGeom prst="rect">
            <a:avLst/>
          </a:prstGeom>
          <a:noFill/>
          <a:ln cap="flat">
            <a:noFill/>
          </a:ln>
        </p:spPr>
        <p:txBody>
          <a:bodyPr vert="horz" wrap="square" lIns="91440" tIns="45720" rIns="91440" bIns="45720" anchor="b" anchorCtr="0" compatLnSpc="0">
            <a:noAutofit/>
          </a:bodyPr>
          <a:lstStyle/>
          <a:p>
            <a:pPr marL="0" marR="0" lvl="0" indent="0" algn="r" defTabSz="914400" rtl="0" fontAlgn="auto" hangingPunct="1">
              <a:lnSpc>
                <a:spcPct val="100000"/>
              </a:lnSpc>
              <a:spcBef>
                <a:spcPts val="0"/>
              </a:spcBef>
              <a:spcAft>
                <a:spcPts val="0"/>
              </a:spcAft>
              <a:buNone/>
              <a:tabLst>
                <a:tab pos="0" algn="l"/>
              </a:tabLst>
              <a:defRPr sz="1800" b="0" i="0" u="none" strike="noStrike" kern="0" cap="none" spc="0" baseline="0">
                <a:solidFill>
                  <a:srgbClr val="000000"/>
                </a:solidFill>
                <a:uFillTx/>
              </a:defRPr>
            </a:pPr>
            <a:fld id="{A4768A41-28D3-4D0B-8745-B05DB0EFB277}" type="slidenum">
              <a:t>45</a:t>
            </a:fld>
            <a:endParaRPr lang="pl-PL" sz="1200" b="0" i="0" u="none" strike="noStrike" kern="1200" cap="none" spc="0" baseline="0">
              <a:solidFill>
                <a:srgbClr val="000000"/>
              </a:solidFill>
              <a:uFillTx/>
              <a:latin typeface="Arial" pitchFamily="18"/>
              <a:ea typeface="DejaVu Sans" pitchFamily="2"/>
              <a:cs typeface="DejaVu Sans" pitchFamily="2"/>
            </a:endParaRPr>
          </a:p>
        </p:txBody>
      </p:sp>
      <p:sp>
        <p:nvSpPr>
          <p:cNvPr id="11" name="Symbol zastępczy numeru slajdu 4"/>
          <p:cNvSpPr txBox="1"/>
          <p:nvPr/>
        </p:nvSpPr>
        <p:spPr>
          <a:xfrm>
            <a:off x="4278962" y="10157402"/>
            <a:ext cx="3280684" cy="534238"/>
          </a:xfrm>
          <a:prstGeom prst="rect">
            <a:avLst/>
          </a:prstGeom>
          <a:noFill/>
          <a:ln cap="flat">
            <a:noFill/>
          </a:ln>
        </p:spPr>
        <p:txBody>
          <a:bodyPr vert="horz" wrap="square" lIns="0" tIns="0" rIns="0" bIns="0" anchor="b" anchorCtr="0" compatLnSpc="0">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DE6D52C9-746B-4E28-A362-C35CBB7E0670}" type="slidenum">
              <a:t>45</a:t>
            </a:fld>
            <a:endParaRPr lang="pl-PL" sz="1400" b="0" i="0" u="none" strike="noStrike" kern="1200" cap="none" spc="0" baseline="0">
              <a:solidFill>
                <a:srgbClr val="000000"/>
              </a:solidFill>
              <a:uFillTx/>
              <a:latin typeface="Times New Roman" pitchFamily="18"/>
              <a:ea typeface="DejaVu Sans" pitchFamily="2"/>
              <a:cs typeface="DejaVu Sans" pitchFamily="2"/>
            </a:endParaRPr>
          </a:p>
        </p:txBody>
      </p:sp>
    </p:spTree>
    <p:extLst>
      <p:ext uri="{BB962C8B-B14F-4D97-AF65-F5344CB8AC3E}">
        <p14:creationId xmlns:p14="http://schemas.microsoft.com/office/powerpoint/2010/main" val="40165960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Na zakończenie chciałbym wrócić do myśli przewodniej dzisiejszego wykładu. Design to nie tylko to, jak coś wygląda. Design to przede wszystkim to, </a:t>
            </a:r>
            <a:r>
              <a:rPr lang="pl-PL" b="1" dirty="0" smtClean="0"/>
              <a:t>jak coś działa</a:t>
            </a:r>
            <a:r>
              <a:rPr lang="pl-PL" dirty="0" smtClean="0"/>
              <a:t>. To zdanie bywa często cytowane, ale naprawdę warto je traktować poważnie, szczególnie w kontekście tworzenia aplikacji mobilnych.</a:t>
            </a:r>
          </a:p>
          <a:p>
            <a:r>
              <a:rPr lang="pl-PL" dirty="0" smtClean="0"/>
              <a:t>Użytkownik bardzo rzadko chwali design wprost. Najczęściej po prostu czuje, że aplikacja jest wygodna, szybka, przewidywalna i przyjemna. I właśnie to jest najlepszy dowód na dobrze wykonaną pracę projektową.</a:t>
            </a:r>
          </a:p>
          <a:p>
            <a:r>
              <a:rPr lang="pl-PL" dirty="0" smtClean="0"/>
              <a:t>Zachęcam Państwa, aby po tym wykładzie zacząć patrzeć na aplikacje, z których korzystacie codziennie, bardziej analitycznie. Zastanówcie się, które decyzje wynikają z heurystyk, gdzie działa prawo </a:t>
            </a:r>
            <a:r>
              <a:rPr lang="pl-PL" dirty="0" err="1" smtClean="0"/>
              <a:t>Fittsa</a:t>
            </a:r>
            <a:r>
              <a:rPr lang="pl-PL" dirty="0" smtClean="0"/>
              <a:t>, jak zbudowano hierarchię wizualną i czy projekt respektuje standardy platformowe.</a:t>
            </a:r>
          </a:p>
          <a:p>
            <a:r>
              <a:rPr lang="pl-PL" dirty="0" smtClean="0"/>
              <a:t>Na następnym etapie warto będzie przełożyć tę wiedzę na praktykę implementacyjną, bo prawdziwa kompetencja inżynierska polega właśnie na tym, aby rozumieć zarówno technologię, jak i człowieka, który z niej korzysta.</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Pusty">
    <p:spTree>
      <p:nvGrpSpPr>
        <p:cNvPr id="1" name=""/>
        <p:cNvGrpSpPr/>
        <p:nvPr/>
      </p:nvGrpSpPr>
      <p:grpSpPr>
        <a:xfrm>
          <a:off x="0" y="0"/>
          <a:ext cx="0" cy="0"/>
          <a:chOff x="0" y="0"/>
          <a:chExt cx="0" cy="0"/>
        </a:xfrm>
      </p:grpSpPr>
      <p:sp>
        <p:nvSpPr>
          <p:cNvPr id="2" name="Date Placeholder 1"/>
          <p:cNvSpPr txBox="1">
            <a:spLocks noGrp="1"/>
          </p:cNvSpPr>
          <p:nvPr>
            <p:ph type="dt" sz="half" idx="7"/>
          </p:nvPr>
        </p:nvSpPr>
        <p:spPr/>
        <p:txBody>
          <a:bodyPr/>
          <a:lstStyle>
            <a:lvl1pPr>
              <a:defRPr/>
            </a:lvl1pPr>
          </a:lstStyle>
          <a:p>
            <a:pPr lvl="0"/>
            <a:fld id="{F1E1F0F4-B304-41C1-B438-71E1F08EB84A}" type="datetime1">
              <a:rPr lang="en-US"/>
              <a:pPr lvl="0"/>
              <a:t>3/14/2026</a:t>
            </a:fld>
            <a:endParaRPr lang="en-US"/>
          </a:p>
        </p:txBody>
      </p:sp>
      <p:sp>
        <p:nvSpPr>
          <p:cNvPr id="3" name="Footer Placeholder 2"/>
          <p:cNvSpPr txBox="1">
            <a:spLocks noGrp="1"/>
          </p:cNvSpPr>
          <p:nvPr>
            <p:ph type="ftr" sz="quarter" idx="9"/>
          </p:nvPr>
        </p:nvSpPr>
        <p:spPr/>
        <p:txBody>
          <a:bodyPr/>
          <a:lstStyle>
            <a:lvl1pPr>
              <a:defRPr/>
            </a:lvl1pPr>
          </a:lstStyle>
          <a:p>
            <a:pPr lvl="0"/>
            <a:endParaRPr lang="pl-PL"/>
          </a:p>
        </p:txBody>
      </p:sp>
      <p:sp>
        <p:nvSpPr>
          <p:cNvPr id="4" name="Slide Number Placeholder 3"/>
          <p:cNvSpPr txBox="1">
            <a:spLocks noGrp="1"/>
          </p:cNvSpPr>
          <p:nvPr>
            <p:ph type="sldNum" sz="quarter" idx="8"/>
          </p:nvPr>
        </p:nvSpPr>
        <p:spPr/>
        <p:txBody>
          <a:bodyPr/>
          <a:lstStyle>
            <a:lvl1pPr>
              <a:defRPr/>
            </a:lvl1pPr>
          </a:lstStyle>
          <a:p>
            <a:pPr lvl="0"/>
            <a:fld id="{1EC73862-20C3-4E4E-89DC-AC71CCFD2CC8}" type="slidenum">
              <a:t>‹#›</a:t>
            </a:fld>
            <a:endParaRPr lang="en-US"/>
          </a:p>
        </p:txBody>
      </p:sp>
      <p:sp>
        <p:nvSpPr>
          <p:cNvPr id="5" name="Tytuł 4"/>
          <p:cNvSpPr txBox="1">
            <a:spLocks noGrp="1"/>
          </p:cNvSpPr>
          <p:nvPr>
            <p:ph type="title" idx="4294967295"/>
          </p:nvPr>
        </p:nvSpPr>
        <p:spPr>
          <a:xfrm>
            <a:off x="457200" y="205200"/>
            <a:ext cx="8229243" cy="858237"/>
          </a:xfrm>
        </p:spPr>
        <p:txBody>
          <a:bodyPr lIns="0" tIns="0" rIns="0" bIns="0" anchorCtr="1"/>
          <a:lstStyle>
            <a:lvl1pPr algn="ctr" hangingPunct="0">
              <a:defRPr sz="4400">
                <a:latin typeface="Liberation Sans" pitchFamily="18"/>
              </a:defRPr>
            </a:lvl1pPr>
          </a:lstStyle>
          <a:p>
            <a:pPr lvl="0"/>
            <a:endParaRPr lang="pl-PL"/>
          </a:p>
        </p:txBody>
      </p:sp>
      <p:sp>
        <p:nvSpPr>
          <p:cNvPr id="6" name="Symbol zastępczy tekstu 5"/>
          <p:cNvSpPr txBox="1">
            <a:spLocks noGrp="1"/>
          </p:cNvSpPr>
          <p:nvPr>
            <p:ph type="body" idx="4294967295"/>
          </p:nvPr>
        </p:nvSpPr>
        <p:spPr>
          <a:xfrm>
            <a:off x="457200" y="1203478"/>
            <a:ext cx="8229243" cy="2982599"/>
          </a:xfrm>
        </p:spPr>
        <p:txBody>
          <a:bodyPr lIns="0" tIns="0" rIns="0" bIns="0"/>
          <a:lstStyle>
            <a:lvl1pPr hangingPunct="0">
              <a:spcBef>
                <a:spcPts val="1415"/>
              </a:spcBef>
              <a:defRPr sz="3200">
                <a:latin typeface="Liberation Sans" pitchFamily="18"/>
              </a:defRPr>
            </a:lvl1pPr>
          </a:lstStyle>
          <a:p>
            <a:pPr lvl="0"/>
            <a:endParaRPr lang="pl-PL"/>
          </a:p>
        </p:txBody>
      </p:sp>
    </p:spTree>
    <p:extLst>
      <p:ext uri="{BB962C8B-B14F-4D97-AF65-F5344CB8AC3E}">
        <p14:creationId xmlns:p14="http://schemas.microsoft.com/office/powerpoint/2010/main" val="255986639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hyperlink" Target="webaim.org/resources/contrastchecker" TargetMode="External"/><Relationship Id="rId3" Type="http://schemas.openxmlformats.org/officeDocument/2006/relationships/hyperlink" Target="developer.apple.com/design" TargetMode="External"/><Relationship Id="rId7" Type="http://schemas.openxmlformats.org/officeDocument/2006/relationships/hyperlink" Target="coolors.co" TargetMode="External"/><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hyperlink" Target="figma.com" TargetMode="External"/><Relationship Id="rId5" Type="http://schemas.openxmlformats.org/officeDocument/2006/relationships/hyperlink" Target="http://www.w3.org/WAI/WCAG22" TargetMode="External"/><Relationship Id="rId4" Type="http://schemas.openxmlformats.org/officeDocument/2006/relationships/hyperlink" Target="m3.material.io"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71523"/>
          </a:solidFill>
          <a:ln w="12700">
            <a:solidFill>
              <a:srgbClr val="071523"/>
            </a:solidFill>
            <a:prstDash val="solid"/>
          </a:ln>
        </p:spPr>
      </p:sp>
      <p:sp>
        <p:nvSpPr>
          <p:cNvPr id="3" name="Shape 1"/>
          <p:cNvSpPr/>
          <p:nvPr/>
        </p:nvSpPr>
        <p:spPr>
          <a:xfrm>
            <a:off x="0" y="0"/>
            <a:ext cx="3200400" cy="5143500"/>
          </a:xfrm>
          <a:prstGeom prst="rect">
            <a:avLst/>
          </a:prstGeom>
          <a:solidFill>
            <a:srgbClr val="0D1B2A"/>
          </a:solidFill>
          <a:ln w="12700">
            <a:solidFill>
              <a:srgbClr val="0D1B2A"/>
            </a:solidFill>
            <a:prstDash val="solid"/>
          </a:ln>
        </p:spPr>
      </p:sp>
      <p:sp>
        <p:nvSpPr>
          <p:cNvPr id="4" name="Shape 2"/>
          <p:cNvSpPr/>
          <p:nvPr/>
        </p:nvSpPr>
        <p:spPr>
          <a:xfrm>
            <a:off x="0" y="0"/>
            <a:ext cx="164592" cy="5143500"/>
          </a:xfrm>
          <a:prstGeom prst="rect">
            <a:avLst/>
          </a:prstGeom>
          <a:solidFill>
            <a:srgbClr val="FF2D78"/>
          </a:solidFill>
          <a:ln w="12700">
            <a:solidFill>
              <a:srgbClr val="FF2D78"/>
            </a:solidFill>
            <a:prstDash val="solid"/>
          </a:ln>
        </p:spPr>
      </p:sp>
      <p:sp>
        <p:nvSpPr>
          <p:cNvPr id="5" name="Text 3"/>
          <p:cNvSpPr/>
          <p:nvPr/>
        </p:nvSpPr>
        <p:spPr>
          <a:xfrm>
            <a:off x="256032" y="347472"/>
            <a:ext cx="2834640" cy="384048"/>
          </a:xfrm>
          <a:prstGeom prst="rect">
            <a:avLst/>
          </a:prstGeom>
          <a:noFill/>
          <a:ln/>
        </p:spPr>
        <p:txBody>
          <a:bodyPr wrap="square" lIns="0" tIns="0" rIns="0" bIns="0" rtlCol="0" anchor="ctr"/>
          <a:lstStyle/>
          <a:p>
            <a:pPr marL="0" indent="0">
              <a:buNone/>
            </a:pPr>
            <a:r>
              <a:rPr lang="en-US" sz="900" b="1" dirty="0">
                <a:solidFill>
                  <a:srgbClr val="FF2D78"/>
                </a:solidFill>
              </a:rPr>
              <a:t>01 Wprowadzenie do UI/UX</a:t>
            </a:r>
            <a:endParaRPr lang="en-US" sz="900" dirty="0"/>
          </a:p>
        </p:txBody>
      </p:sp>
      <p:sp>
        <p:nvSpPr>
          <p:cNvPr id="6" name="Text 4"/>
          <p:cNvSpPr/>
          <p:nvPr/>
        </p:nvSpPr>
        <p:spPr>
          <a:xfrm>
            <a:off x="256032" y="795528"/>
            <a:ext cx="2834640" cy="384048"/>
          </a:xfrm>
          <a:prstGeom prst="rect">
            <a:avLst/>
          </a:prstGeom>
          <a:noFill/>
          <a:ln/>
        </p:spPr>
        <p:txBody>
          <a:bodyPr wrap="square" lIns="0" tIns="0" rIns="0" bIns="0" rtlCol="0" anchor="ctr"/>
          <a:lstStyle/>
          <a:p>
            <a:pPr marL="0" indent="0">
              <a:buNone/>
            </a:pPr>
            <a:r>
              <a:rPr lang="en-US" sz="900" dirty="0">
                <a:solidFill>
                  <a:srgbClr val="8899AA"/>
                </a:solidFill>
              </a:rPr>
              <a:t>02 Rodzaje Interfejsów</a:t>
            </a:r>
            <a:endParaRPr lang="en-US" sz="900" dirty="0"/>
          </a:p>
        </p:txBody>
      </p:sp>
      <p:sp>
        <p:nvSpPr>
          <p:cNvPr id="7" name="Text 5"/>
          <p:cNvSpPr/>
          <p:nvPr/>
        </p:nvSpPr>
        <p:spPr>
          <a:xfrm>
            <a:off x="256032" y="1243584"/>
            <a:ext cx="2834640" cy="384048"/>
          </a:xfrm>
          <a:prstGeom prst="rect">
            <a:avLst/>
          </a:prstGeom>
          <a:noFill/>
          <a:ln/>
        </p:spPr>
        <p:txBody>
          <a:bodyPr wrap="square" lIns="0" tIns="0" rIns="0" bIns="0" rtlCol="0" anchor="ctr"/>
          <a:lstStyle/>
          <a:p>
            <a:pPr marL="0" indent="0">
              <a:buNone/>
            </a:pPr>
            <a:r>
              <a:rPr lang="en-US" sz="900" dirty="0">
                <a:solidFill>
                  <a:srgbClr val="8899AA"/>
                </a:solidFill>
              </a:rPr>
              <a:t>03 Zasady Projektowania</a:t>
            </a:r>
            <a:endParaRPr lang="en-US" sz="900" dirty="0"/>
          </a:p>
        </p:txBody>
      </p:sp>
      <p:sp>
        <p:nvSpPr>
          <p:cNvPr id="8" name="Text 6"/>
          <p:cNvSpPr/>
          <p:nvPr/>
        </p:nvSpPr>
        <p:spPr>
          <a:xfrm>
            <a:off x="256032" y="1691640"/>
            <a:ext cx="2834640" cy="384048"/>
          </a:xfrm>
          <a:prstGeom prst="rect">
            <a:avLst/>
          </a:prstGeom>
          <a:noFill/>
          <a:ln/>
        </p:spPr>
        <p:txBody>
          <a:bodyPr wrap="square" lIns="0" tIns="0" rIns="0" bIns="0" rtlCol="0" anchor="ctr"/>
          <a:lstStyle/>
          <a:p>
            <a:pPr marL="0" indent="0">
              <a:buNone/>
            </a:pPr>
            <a:r>
              <a:rPr lang="en-US" sz="900" dirty="0">
                <a:solidFill>
                  <a:srgbClr val="8899AA"/>
                </a:solidFill>
              </a:rPr>
              <a:t>04 Standardy Branżowe</a:t>
            </a:r>
            <a:endParaRPr lang="en-US" sz="900" dirty="0"/>
          </a:p>
        </p:txBody>
      </p:sp>
      <p:sp>
        <p:nvSpPr>
          <p:cNvPr id="9" name="Text 7"/>
          <p:cNvSpPr/>
          <p:nvPr/>
        </p:nvSpPr>
        <p:spPr>
          <a:xfrm>
            <a:off x="256032" y="2139696"/>
            <a:ext cx="2834640" cy="384048"/>
          </a:xfrm>
          <a:prstGeom prst="rect">
            <a:avLst/>
          </a:prstGeom>
          <a:noFill/>
          <a:ln/>
        </p:spPr>
        <p:txBody>
          <a:bodyPr wrap="square" lIns="0" tIns="0" rIns="0" bIns="0" rtlCol="0" anchor="ctr"/>
          <a:lstStyle/>
          <a:p>
            <a:pPr marL="0" indent="0">
              <a:buNone/>
            </a:pPr>
            <a:r>
              <a:rPr lang="en-US" sz="900" dirty="0">
                <a:solidFill>
                  <a:srgbClr val="8899AA"/>
                </a:solidFill>
              </a:rPr>
              <a:t>05 Dobór Kolorów</a:t>
            </a:r>
            <a:endParaRPr lang="en-US" sz="900" dirty="0"/>
          </a:p>
        </p:txBody>
      </p:sp>
      <p:sp>
        <p:nvSpPr>
          <p:cNvPr id="10" name="Text 8"/>
          <p:cNvSpPr/>
          <p:nvPr/>
        </p:nvSpPr>
        <p:spPr>
          <a:xfrm>
            <a:off x="256032" y="2587752"/>
            <a:ext cx="2834640" cy="384048"/>
          </a:xfrm>
          <a:prstGeom prst="rect">
            <a:avLst/>
          </a:prstGeom>
          <a:noFill/>
          <a:ln/>
        </p:spPr>
        <p:txBody>
          <a:bodyPr wrap="square" lIns="0" tIns="0" rIns="0" bIns="0" rtlCol="0" anchor="ctr"/>
          <a:lstStyle/>
          <a:p>
            <a:pPr marL="0" indent="0">
              <a:buNone/>
            </a:pPr>
            <a:r>
              <a:rPr lang="en-US" sz="900" dirty="0">
                <a:solidFill>
                  <a:srgbClr val="8899AA"/>
                </a:solidFill>
              </a:rPr>
              <a:t>06 Typografia Mobilna</a:t>
            </a:r>
            <a:endParaRPr lang="en-US" sz="900" dirty="0"/>
          </a:p>
        </p:txBody>
      </p:sp>
      <p:sp>
        <p:nvSpPr>
          <p:cNvPr id="11" name="Text 9"/>
          <p:cNvSpPr/>
          <p:nvPr/>
        </p:nvSpPr>
        <p:spPr>
          <a:xfrm>
            <a:off x="256032" y="3035808"/>
            <a:ext cx="2834640" cy="384048"/>
          </a:xfrm>
          <a:prstGeom prst="rect">
            <a:avLst/>
          </a:prstGeom>
          <a:noFill/>
          <a:ln/>
        </p:spPr>
        <p:txBody>
          <a:bodyPr wrap="square" lIns="0" tIns="0" rIns="0" bIns="0" rtlCol="0" anchor="ctr"/>
          <a:lstStyle/>
          <a:p>
            <a:pPr marL="0" indent="0">
              <a:buNone/>
            </a:pPr>
            <a:r>
              <a:rPr lang="en-US" sz="900" dirty="0">
                <a:solidFill>
                  <a:srgbClr val="8899AA"/>
                </a:solidFill>
              </a:rPr>
              <a:t>07 Dźwięki i Haptyka</a:t>
            </a:r>
            <a:endParaRPr lang="en-US" sz="900" dirty="0"/>
          </a:p>
        </p:txBody>
      </p:sp>
      <p:sp>
        <p:nvSpPr>
          <p:cNvPr id="12" name="Text 10"/>
          <p:cNvSpPr/>
          <p:nvPr/>
        </p:nvSpPr>
        <p:spPr>
          <a:xfrm>
            <a:off x="256032" y="3483864"/>
            <a:ext cx="2834640" cy="384048"/>
          </a:xfrm>
          <a:prstGeom prst="rect">
            <a:avLst/>
          </a:prstGeom>
          <a:noFill/>
          <a:ln/>
        </p:spPr>
        <p:txBody>
          <a:bodyPr wrap="square" lIns="0" tIns="0" rIns="0" bIns="0" rtlCol="0" anchor="ctr"/>
          <a:lstStyle/>
          <a:p>
            <a:pPr marL="0" indent="0">
              <a:buNone/>
            </a:pPr>
            <a:r>
              <a:rPr lang="en-US" sz="900" dirty="0">
                <a:solidFill>
                  <a:srgbClr val="8899AA"/>
                </a:solidFill>
              </a:rPr>
              <a:t>08 Projektowanie Emocjonalne</a:t>
            </a:r>
            <a:endParaRPr lang="en-US" sz="900" dirty="0"/>
          </a:p>
        </p:txBody>
      </p:sp>
      <p:sp>
        <p:nvSpPr>
          <p:cNvPr id="13" name="Text 11"/>
          <p:cNvSpPr/>
          <p:nvPr/>
        </p:nvSpPr>
        <p:spPr>
          <a:xfrm>
            <a:off x="256032" y="3931920"/>
            <a:ext cx="2834640" cy="384048"/>
          </a:xfrm>
          <a:prstGeom prst="rect">
            <a:avLst/>
          </a:prstGeom>
          <a:noFill/>
          <a:ln/>
        </p:spPr>
        <p:txBody>
          <a:bodyPr wrap="square" lIns="0" tIns="0" rIns="0" bIns="0" rtlCol="0" anchor="ctr"/>
          <a:lstStyle/>
          <a:p>
            <a:pPr marL="0" indent="0">
              <a:buNone/>
            </a:pPr>
            <a:r>
              <a:rPr lang="en-US" sz="900" dirty="0">
                <a:solidFill>
                  <a:srgbClr val="8899AA"/>
                </a:solidFill>
              </a:rPr>
              <a:t>09 Hierarchia Wizualna</a:t>
            </a:r>
            <a:endParaRPr lang="en-US" sz="900" dirty="0"/>
          </a:p>
        </p:txBody>
      </p:sp>
      <p:sp>
        <p:nvSpPr>
          <p:cNvPr id="14" name="Text 12"/>
          <p:cNvSpPr/>
          <p:nvPr/>
        </p:nvSpPr>
        <p:spPr>
          <a:xfrm>
            <a:off x="256032" y="4379976"/>
            <a:ext cx="2834640" cy="384048"/>
          </a:xfrm>
          <a:prstGeom prst="rect">
            <a:avLst/>
          </a:prstGeom>
          <a:noFill/>
          <a:ln/>
        </p:spPr>
        <p:txBody>
          <a:bodyPr wrap="square" lIns="0" tIns="0" rIns="0" bIns="0" rtlCol="0" anchor="ctr"/>
          <a:lstStyle/>
          <a:p>
            <a:pPr marL="0" indent="0">
              <a:buNone/>
            </a:pPr>
            <a:r>
              <a:rPr lang="en-US" sz="900" dirty="0">
                <a:solidFill>
                  <a:srgbClr val="8899AA"/>
                </a:solidFill>
              </a:rPr>
              <a:t>10 Narzędzia UI/UX</a:t>
            </a:r>
            <a:endParaRPr lang="en-US" sz="900" dirty="0"/>
          </a:p>
        </p:txBody>
      </p:sp>
      <p:sp>
        <p:nvSpPr>
          <p:cNvPr id="15" name="Text 13"/>
          <p:cNvSpPr/>
          <p:nvPr/>
        </p:nvSpPr>
        <p:spPr>
          <a:xfrm>
            <a:off x="3474720" y="228600"/>
            <a:ext cx="5303520" cy="1005840"/>
          </a:xfrm>
          <a:prstGeom prst="rect">
            <a:avLst/>
          </a:prstGeom>
          <a:noFill/>
          <a:ln/>
        </p:spPr>
        <p:txBody>
          <a:bodyPr wrap="square" lIns="0" tIns="0" rIns="0" bIns="0" rtlCol="0" anchor="ctr"/>
          <a:lstStyle/>
          <a:p>
            <a:pPr marL="0" indent="0" algn="r">
              <a:buNone/>
            </a:pPr>
            <a:r>
              <a:rPr lang="en-US" sz="7200" b="1" dirty="0">
                <a:solidFill>
                  <a:srgbClr val="284F6A"/>
                </a:solidFill>
              </a:rPr>
              <a:t>03</a:t>
            </a:r>
            <a:endParaRPr lang="en-US" sz="7200" dirty="0">
              <a:solidFill>
                <a:srgbClr val="284F6A"/>
              </a:solidFill>
            </a:endParaRPr>
          </a:p>
        </p:txBody>
      </p:sp>
      <p:sp>
        <p:nvSpPr>
          <p:cNvPr id="16" name="Text 14"/>
          <p:cNvSpPr/>
          <p:nvPr/>
        </p:nvSpPr>
        <p:spPr>
          <a:xfrm>
            <a:off x="3474720" y="1005840"/>
            <a:ext cx="5394960" cy="2194560"/>
          </a:xfrm>
          <a:prstGeom prst="rect">
            <a:avLst/>
          </a:prstGeom>
          <a:noFill/>
          <a:ln/>
        </p:spPr>
        <p:txBody>
          <a:bodyPr wrap="square" lIns="0" tIns="0" rIns="0" bIns="0" rtlCol="0" anchor="ctr"/>
          <a:lstStyle/>
          <a:p>
            <a:pPr marL="0" indent="0">
              <a:buNone/>
            </a:pPr>
            <a:r>
              <a:rPr lang="en-US" sz="3000" b="1" dirty="0">
                <a:solidFill>
                  <a:srgbClr val="FFFFFF"/>
                </a:solidFill>
              </a:rPr>
              <a:t>Projektowanie</a:t>
            </a:r>
            <a:endParaRPr lang="en-US" sz="3000" dirty="0"/>
          </a:p>
          <a:p>
            <a:pPr marL="0" indent="0">
              <a:buNone/>
            </a:pPr>
            <a:r>
              <a:rPr lang="en-US" sz="3000" b="1" dirty="0">
                <a:solidFill>
                  <a:srgbClr val="FFFFFF"/>
                </a:solidFill>
              </a:rPr>
              <a:t>UI/UX </a:t>
            </a:r>
            <a:r>
              <a:rPr lang="en-US" sz="3000" b="1" dirty="0" err="1">
                <a:solidFill>
                  <a:srgbClr val="FFFFFF"/>
                </a:solidFill>
              </a:rPr>
              <a:t>dla</a:t>
            </a:r>
            <a:r>
              <a:rPr lang="en-US" sz="3000" b="1" dirty="0">
                <a:solidFill>
                  <a:srgbClr val="FFFFFF"/>
                </a:solidFill>
              </a:rPr>
              <a:t> </a:t>
            </a:r>
            <a:r>
              <a:rPr lang="pl-PL" sz="3000" b="1" dirty="0" smtClean="0">
                <a:solidFill>
                  <a:srgbClr val="FFFFFF"/>
                </a:solidFill>
              </a:rPr>
              <a:t>u</a:t>
            </a:r>
            <a:r>
              <a:rPr lang="en-US" sz="3000" b="1" dirty="0" err="1" smtClean="0">
                <a:solidFill>
                  <a:srgbClr val="FFFFFF"/>
                </a:solidFill>
              </a:rPr>
              <a:t>rządzeń</a:t>
            </a:r>
            <a:endParaRPr lang="en-US" sz="3000" dirty="0"/>
          </a:p>
          <a:p>
            <a:pPr marL="0" indent="0">
              <a:buNone/>
            </a:pPr>
            <a:r>
              <a:rPr lang="pl-PL" sz="3000" b="1" dirty="0" smtClean="0">
                <a:solidFill>
                  <a:srgbClr val="FFFFFF"/>
                </a:solidFill>
              </a:rPr>
              <a:t>m</a:t>
            </a:r>
            <a:r>
              <a:rPr lang="en-US" sz="3000" b="1" dirty="0" err="1" smtClean="0">
                <a:solidFill>
                  <a:srgbClr val="FFFFFF"/>
                </a:solidFill>
              </a:rPr>
              <a:t>obilnych</a:t>
            </a:r>
            <a:endParaRPr lang="en-US" sz="3000" dirty="0"/>
          </a:p>
        </p:txBody>
      </p:sp>
      <p:sp>
        <p:nvSpPr>
          <p:cNvPr id="17" name="Text 15"/>
          <p:cNvSpPr/>
          <p:nvPr/>
        </p:nvSpPr>
        <p:spPr>
          <a:xfrm>
            <a:off x="3474720" y="3291840"/>
            <a:ext cx="5394960" cy="640080"/>
          </a:xfrm>
          <a:prstGeom prst="rect">
            <a:avLst/>
          </a:prstGeom>
          <a:noFill/>
          <a:ln/>
        </p:spPr>
        <p:txBody>
          <a:bodyPr wrap="square" lIns="0" tIns="0" rIns="0" bIns="0" rtlCol="0" anchor="t"/>
          <a:lstStyle/>
          <a:p>
            <a:pPr marL="0" indent="0">
              <a:buNone/>
            </a:pPr>
            <a:r>
              <a:rPr lang="en-US" sz="1100" dirty="0">
                <a:solidFill>
                  <a:srgbClr val="8899AA"/>
                </a:solidFill>
              </a:rPr>
              <a:t>Kompleksowe studium zagadnień projektowania interfejsów</a:t>
            </a:r>
            <a:endParaRPr lang="en-US" sz="1100" dirty="0"/>
          </a:p>
          <a:p>
            <a:pPr marL="0" indent="0">
              <a:buNone/>
            </a:pPr>
            <a:r>
              <a:rPr lang="en-US" sz="1100" dirty="0">
                <a:solidFill>
                  <a:srgbClr val="8899AA"/>
                </a:solidFill>
              </a:rPr>
              <a:t>i doświadczeń użytkownika w kontekście aplikacji mobilnych</a:t>
            </a:r>
            <a:endParaRPr lang="en-US" sz="1100" dirty="0"/>
          </a:p>
        </p:txBody>
      </p:sp>
      <p:sp>
        <p:nvSpPr>
          <p:cNvPr id="18" name="Text 16"/>
          <p:cNvSpPr/>
          <p:nvPr/>
        </p:nvSpPr>
        <p:spPr>
          <a:xfrm>
            <a:off x="3474720" y="4114800"/>
            <a:ext cx="5394960" cy="365760"/>
          </a:xfrm>
          <a:prstGeom prst="rect">
            <a:avLst/>
          </a:prstGeom>
          <a:noFill/>
          <a:ln/>
        </p:spPr>
        <p:txBody>
          <a:bodyPr wrap="square" lIns="0" tIns="0" rIns="0" bIns="0" rtlCol="0" anchor="ctr"/>
          <a:lstStyle/>
          <a:p>
            <a:pPr marL="0" indent="0">
              <a:buNone/>
            </a:pPr>
            <a:r>
              <a:rPr lang="en-US" sz="900" dirty="0">
                <a:solidFill>
                  <a:srgbClr val="FF2D78"/>
                </a:solidFill>
              </a:rPr>
              <a:t>dr inż. Mateusz Pomianek  •  Katedra Informatyki i Automatyki  •  Politechnika Rzeszowska</a:t>
            </a:r>
            <a:endParaRPr lang="en-US" sz="900" dirty="0"/>
          </a:p>
        </p:txBody>
      </p:sp>
      <p:sp>
        <p:nvSpPr>
          <p:cNvPr id="19" name="Text 17"/>
          <p:cNvSpPr/>
          <p:nvPr/>
        </p:nvSpPr>
        <p:spPr>
          <a:xfrm>
            <a:off x="3474720" y="4526280"/>
            <a:ext cx="5394960" cy="274320"/>
          </a:xfrm>
          <a:prstGeom prst="rect">
            <a:avLst/>
          </a:prstGeom>
          <a:noFill/>
          <a:ln/>
        </p:spPr>
        <p:txBody>
          <a:bodyPr wrap="square" lIns="0" tIns="0" rIns="0" bIns="0" rtlCol="0" anchor="ctr"/>
          <a:lstStyle/>
          <a:p>
            <a:pPr marL="0" indent="0">
              <a:buNone/>
            </a:pPr>
            <a:r>
              <a:rPr lang="en-US" sz="850" dirty="0">
                <a:solidFill>
                  <a:srgbClr val="8899AA"/>
                </a:solidFill>
              </a:rPr>
              <a:t>2026  •  </a:t>
            </a:r>
            <a:r>
              <a:rPr lang="en-US" sz="850" dirty="0" err="1">
                <a:solidFill>
                  <a:srgbClr val="8899AA"/>
                </a:solidFill>
              </a:rPr>
              <a:t>Studia</a:t>
            </a:r>
            <a:r>
              <a:rPr lang="en-US" sz="850" dirty="0">
                <a:solidFill>
                  <a:srgbClr val="8899AA"/>
                </a:solidFill>
              </a:rPr>
              <a:t> </a:t>
            </a:r>
            <a:r>
              <a:rPr lang="pl-PL" sz="850" dirty="0" smtClean="0">
                <a:solidFill>
                  <a:srgbClr val="8899AA"/>
                </a:solidFill>
              </a:rPr>
              <a:t>Inżynierskie</a:t>
            </a:r>
            <a:r>
              <a:rPr lang="en-US" sz="850" dirty="0" smtClean="0">
                <a:solidFill>
                  <a:srgbClr val="8899AA"/>
                </a:solidFill>
              </a:rPr>
              <a:t>  </a:t>
            </a:r>
            <a:r>
              <a:rPr lang="en-US" sz="850" dirty="0">
                <a:solidFill>
                  <a:srgbClr val="8899AA"/>
                </a:solidFill>
              </a:rPr>
              <a:t>•  Informatyka</a:t>
            </a:r>
            <a:endParaRPr lang="en-US" sz="850" dirty="0"/>
          </a:p>
        </p:txBody>
      </p:sp>
      <p:grpSp>
        <p:nvGrpSpPr>
          <p:cNvPr id="72" name="Grupa 71"/>
          <p:cNvGrpSpPr/>
          <p:nvPr/>
        </p:nvGrpSpPr>
        <p:grpSpPr>
          <a:xfrm>
            <a:off x="-20111" y="4892532"/>
            <a:ext cx="9164111" cy="261279"/>
            <a:chOff x="-20111" y="4884912"/>
            <a:chExt cx="9164111" cy="261279"/>
          </a:xfrm>
        </p:grpSpPr>
        <p:sp>
          <p:nvSpPr>
            <p:cNvPr id="73" name="Shape 52"/>
            <p:cNvSpPr/>
            <p:nvPr/>
          </p:nvSpPr>
          <p:spPr>
            <a:xfrm>
              <a:off x="0" y="4884912"/>
              <a:ext cx="9144000" cy="252000"/>
            </a:xfrm>
            <a:prstGeom prst="rect">
              <a:avLst/>
            </a:prstGeom>
            <a:solidFill>
              <a:srgbClr val="071523"/>
            </a:solidFill>
            <a:ln w="12700">
              <a:solidFill>
                <a:srgbClr val="071523"/>
              </a:solidFill>
              <a:prstDash val="solid"/>
            </a:ln>
          </p:spPr>
        </p:sp>
        <p:sp>
          <p:nvSpPr>
            <p:cNvPr id="74"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r>
                <a:rPr lang="pl-PL" sz="800" dirty="0" smtClean="0">
                  <a:solidFill>
                    <a:schemeClr val="tx1">
                      <a:lumMod val="65000"/>
                      <a:lumOff val="35000"/>
                    </a:schemeClr>
                  </a:solidFill>
                </a:rPr>
                <a:t> </a:t>
              </a:r>
              <a:r>
                <a:rPr lang="en-US" sz="800" dirty="0" smtClean="0">
                  <a:solidFill>
                    <a:schemeClr val="tx1">
                      <a:lumMod val="65000"/>
                      <a:lumOff val="35000"/>
                    </a:schemeClr>
                  </a:solidFill>
                </a:rPr>
                <a:t>•</a:t>
              </a:r>
              <a:r>
                <a:rPr lang="pl-PL" sz="800" dirty="0" smtClean="0">
                  <a:solidFill>
                    <a:schemeClr val="tx1">
                      <a:lumMod val="65000"/>
                      <a:lumOff val="35000"/>
                    </a:schemeClr>
                  </a:solidFill>
                </a:rPr>
                <a:t> v1.47</a:t>
              </a:r>
              <a:endParaRPr lang="en-US" sz="800" dirty="0">
                <a:solidFill>
                  <a:schemeClr val="tx1">
                    <a:lumMod val="65000"/>
                    <a:lumOff val="35000"/>
                  </a:schemeClr>
                </a:solidFill>
              </a:endParaRPr>
            </a:p>
          </p:txBody>
        </p:sp>
        <p:grpSp>
          <p:nvGrpSpPr>
            <p:cNvPr id="75" name="Grupa 74"/>
            <p:cNvGrpSpPr/>
            <p:nvPr/>
          </p:nvGrpSpPr>
          <p:grpSpPr>
            <a:xfrm>
              <a:off x="-20111" y="5099377"/>
              <a:ext cx="9164111" cy="46814"/>
              <a:chOff x="-20042" y="5107500"/>
              <a:chExt cx="9128754" cy="38447"/>
            </a:xfrm>
            <a:solidFill>
              <a:schemeClr val="tx1"/>
            </a:solidFill>
          </p:grpSpPr>
          <p:sp>
            <p:nvSpPr>
              <p:cNvPr id="76" name="Shape 52"/>
              <p:cNvSpPr/>
              <p:nvPr/>
            </p:nvSpPr>
            <p:spPr>
              <a:xfrm>
                <a:off x="-20042" y="5108399"/>
                <a:ext cx="223253" cy="37548"/>
              </a:xfrm>
              <a:prstGeom prst="rect">
                <a:avLst/>
              </a:prstGeom>
              <a:solidFill>
                <a:schemeClr val="accent5">
                  <a:lumMod val="20000"/>
                  <a:lumOff val="80000"/>
                </a:schemeClr>
              </a:solidFill>
              <a:ln w="12700">
                <a:noFill/>
                <a:prstDash val="solid"/>
              </a:ln>
            </p:spPr>
          </p:sp>
          <p:sp>
            <p:nvSpPr>
              <p:cNvPr id="77" name="Shape 52"/>
              <p:cNvSpPr/>
              <p:nvPr/>
            </p:nvSpPr>
            <p:spPr>
              <a:xfrm>
                <a:off x="198000" y="5108400"/>
                <a:ext cx="198000" cy="36000"/>
              </a:xfrm>
              <a:prstGeom prst="rect">
                <a:avLst/>
              </a:prstGeom>
              <a:solidFill>
                <a:schemeClr val="tx1"/>
              </a:solidFill>
              <a:ln w="12700">
                <a:noFill/>
                <a:prstDash val="solid"/>
              </a:ln>
            </p:spPr>
          </p:sp>
          <p:sp>
            <p:nvSpPr>
              <p:cNvPr id="78" name="Shape 52"/>
              <p:cNvSpPr/>
              <p:nvPr/>
            </p:nvSpPr>
            <p:spPr>
              <a:xfrm>
                <a:off x="396000" y="5108400"/>
                <a:ext cx="198000" cy="36000"/>
              </a:xfrm>
              <a:prstGeom prst="rect">
                <a:avLst/>
              </a:prstGeom>
              <a:solidFill>
                <a:schemeClr val="tx1"/>
              </a:solidFill>
              <a:ln w="12700">
                <a:noFill/>
                <a:prstDash val="solid"/>
              </a:ln>
            </p:spPr>
          </p:sp>
          <p:sp>
            <p:nvSpPr>
              <p:cNvPr id="79" name="Shape 52"/>
              <p:cNvSpPr/>
              <p:nvPr/>
            </p:nvSpPr>
            <p:spPr>
              <a:xfrm>
                <a:off x="594000" y="5108400"/>
                <a:ext cx="198000" cy="36000"/>
              </a:xfrm>
              <a:prstGeom prst="rect">
                <a:avLst/>
              </a:prstGeom>
              <a:solidFill>
                <a:schemeClr val="tx1"/>
              </a:solidFill>
              <a:ln w="12700">
                <a:noFill/>
                <a:prstDash val="solid"/>
              </a:ln>
            </p:spPr>
          </p:sp>
          <p:sp>
            <p:nvSpPr>
              <p:cNvPr id="80" name="Shape 52"/>
              <p:cNvSpPr/>
              <p:nvPr/>
            </p:nvSpPr>
            <p:spPr>
              <a:xfrm>
                <a:off x="792000" y="5108400"/>
                <a:ext cx="198000" cy="36000"/>
              </a:xfrm>
              <a:prstGeom prst="rect">
                <a:avLst/>
              </a:prstGeom>
              <a:solidFill>
                <a:schemeClr val="tx1"/>
              </a:solidFill>
              <a:ln w="12700">
                <a:noFill/>
                <a:prstDash val="solid"/>
              </a:ln>
            </p:spPr>
          </p:sp>
          <p:sp>
            <p:nvSpPr>
              <p:cNvPr id="81" name="Shape 52"/>
              <p:cNvSpPr/>
              <p:nvPr/>
            </p:nvSpPr>
            <p:spPr>
              <a:xfrm>
                <a:off x="990000" y="5108400"/>
                <a:ext cx="198000" cy="36000"/>
              </a:xfrm>
              <a:prstGeom prst="rect">
                <a:avLst/>
              </a:prstGeom>
              <a:solidFill>
                <a:schemeClr val="tx1"/>
              </a:solidFill>
              <a:ln w="12700">
                <a:noFill/>
                <a:prstDash val="solid"/>
              </a:ln>
            </p:spPr>
          </p:sp>
          <p:sp>
            <p:nvSpPr>
              <p:cNvPr id="82" name="Shape 52"/>
              <p:cNvSpPr/>
              <p:nvPr/>
            </p:nvSpPr>
            <p:spPr>
              <a:xfrm>
                <a:off x="1188000" y="5108400"/>
                <a:ext cx="198000" cy="36000"/>
              </a:xfrm>
              <a:prstGeom prst="rect">
                <a:avLst/>
              </a:prstGeom>
              <a:solidFill>
                <a:schemeClr val="tx1"/>
              </a:solidFill>
              <a:ln w="12700">
                <a:noFill/>
                <a:prstDash val="solid"/>
              </a:ln>
            </p:spPr>
          </p:sp>
          <p:sp>
            <p:nvSpPr>
              <p:cNvPr id="83" name="Shape 52"/>
              <p:cNvSpPr/>
              <p:nvPr/>
            </p:nvSpPr>
            <p:spPr>
              <a:xfrm>
                <a:off x="1386000" y="5107500"/>
                <a:ext cx="198000" cy="36000"/>
              </a:xfrm>
              <a:prstGeom prst="rect">
                <a:avLst/>
              </a:prstGeom>
              <a:grpFill/>
              <a:ln w="12700">
                <a:noFill/>
                <a:prstDash val="solid"/>
              </a:ln>
            </p:spPr>
          </p:sp>
          <p:sp>
            <p:nvSpPr>
              <p:cNvPr id="84" name="Shape 52"/>
              <p:cNvSpPr/>
              <p:nvPr/>
            </p:nvSpPr>
            <p:spPr>
              <a:xfrm>
                <a:off x="1584000" y="5107500"/>
                <a:ext cx="198000" cy="36000"/>
              </a:xfrm>
              <a:prstGeom prst="rect">
                <a:avLst/>
              </a:prstGeom>
              <a:grpFill/>
              <a:ln w="12700">
                <a:noFill/>
                <a:prstDash val="solid"/>
              </a:ln>
            </p:spPr>
          </p:sp>
          <p:sp>
            <p:nvSpPr>
              <p:cNvPr id="85" name="Shape 52"/>
              <p:cNvSpPr/>
              <p:nvPr/>
            </p:nvSpPr>
            <p:spPr>
              <a:xfrm>
                <a:off x="1782000" y="5107500"/>
                <a:ext cx="198000" cy="36000"/>
              </a:xfrm>
              <a:prstGeom prst="rect">
                <a:avLst/>
              </a:prstGeom>
              <a:grpFill/>
              <a:ln w="12700">
                <a:noFill/>
                <a:prstDash val="solid"/>
              </a:ln>
            </p:spPr>
          </p:sp>
          <p:sp>
            <p:nvSpPr>
              <p:cNvPr id="86" name="Shape 52"/>
              <p:cNvSpPr/>
              <p:nvPr/>
            </p:nvSpPr>
            <p:spPr>
              <a:xfrm>
                <a:off x="1980000" y="5107500"/>
                <a:ext cx="198000" cy="36000"/>
              </a:xfrm>
              <a:prstGeom prst="rect">
                <a:avLst/>
              </a:prstGeom>
              <a:grpFill/>
              <a:ln w="12700">
                <a:noFill/>
                <a:prstDash val="solid"/>
              </a:ln>
            </p:spPr>
          </p:sp>
          <p:sp>
            <p:nvSpPr>
              <p:cNvPr id="87" name="Shape 52"/>
              <p:cNvSpPr/>
              <p:nvPr/>
            </p:nvSpPr>
            <p:spPr>
              <a:xfrm>
                <a:off x="2178000" y="5107500"/>
                <a:ext cx="198000" cy="36000"/>
              </a:xfrm>
              <a:prstGeom prst="rect">
                <a:avLst/>
              </a:prstGeom>
              <a:grpFill/>
              <a:ln w="12700">
                <a:noFill/>
                <a:prstDash val="solid"/>
              </a:ln>
            </p:spPr>
          </p:sp>
          <p:sp>
            <p:nvSpPr>
              <p:cNvPr id="88" name="Shape 52"/>
              <p:cNvSpPr/>
              <p:nvPr/>
            </p:nvSpPr>
            <p:spPr>
              <a:xfrm>
                <a:off x="2376000" y="5107500"/>
                <a:ext cx="198000" cy="36000"/>
              </a:xfrm>
              <a:prstGeom prst="rect">
                <a:avLst/>
              </a:prstGeom>
              <a:grpFill/>
              <a:ln w="12700">
                <a:noFill/>
                <a:prstDash val="solid"/>
              </a:ln>
            </p:spPr>
          </p:sp>
          <p:sp>
            <p:nvSpPr>
              <p:cNvPr id="89" name="Shape 52"/>
              <p:cNvSpPr/>
              <p:nvPr/>
            </p:nvSpPr>
            <p:spPr>
              <a:xfrm>
                <a:off x="2574000" y="5107500"/>
                <a:ext cx="198000" cy="36000"/>
              </a:xfrm>
              <a:prstGeom prst="rect">
                <a:avLst/>
              </a:prstGeom>
              <a:grpFill/>
              <a:ln w="12700">
                <a:noFill/>
                <a:prstDash val="solid"/>
              </a:ln>
            </p:spPr>
          </p:sp>
          <p:sp>
            <p:nvSpPr>
              <p:cNvPr id="90" name="Shape 52"/>
              <p:cNvSpPr/>
              <p:nvPr/>
            </p:nvSpPr>
            <p:spPr>
              <a:xfrm>
                <a:off x="2772712" y="5108400"/>
                <a:ext cx="198000" cy="36000"/>
              </a:xfrm>
              <a:prstGeom prst="rect">
                <a:avLst/>
              </a:prstGeom>
              <a:grpFill/>
              <a:ln w="12700">
                <a:noFill/>
                <a:prstDash val="solid"/>
              </a:ln>
            </p:spPr>
          </p:sp>
          <p:sp>
            <p:nvSpPr>
              <p:cNvPr id="91" name="Shape 52"/>
              <p:cNvSpPr/>
              <p:nvPr/>
            </p:nvSpPr>
            <p:spPr>
              <a:xfrm>
                <a:off x="2970712" y="5108400"/>
                <a:ext cx="198000" cy="36000"/>
              </a:xfrm>
              <a:prstGeom prst="rect">
                <a:avLst/>
              </a:prstGeom>
              <a:grpFill/>
              <a:ln w="12700">
                <a:noFill/>
                <a:prstDash val="solid"/>
              </a:ln>
            </p:spPr>
          </p:sp>
          <p:sp>
            <p:nvSpPr>
              <p:cNvPr id="92" name="Shape 52"/>
              <p:cNvSpPr/>
              <p:nvPr/>
            </p:nvSpPr>
            <p:spPr>
              <a:xfrm>
                <a:off x="3168712" y="5108400"/>
                <a:ext cx="198000" cy="36000"/>
              </a:xfrm>
              <a:prstGeom prst="rect">
                <a:avLst/>
              </a:prstGeom>
              <a:grpFill/>
              <a:ln w="12700">
                <a:noFill/>
                <a:prstDash val="solid"/>
              </a:ln>
            </p:spPr>
          </p:sp>
          <p:sp>
            <p:nvSpPr>
              <p:cNvPr id="93" name="Shape 52"/>
              <p:cNvSpPr/>
              <p:nvPr/>
            </p:nvSpPr>
            <p:spPr>
              <a:xfrm>
                <a:off x="3366712" y="5108400"/>
                <a:ext cx="198000" cy="36000"/>
              </a:xfrm>
              <a:prstGeom prst="rect">
                <a:avLst/>
              </a:prstGeom>
              <a:grpFill/>
              <a:ln w="12700">
                <a:noFill/>
                <a:prstDash val="solid"/>
              </a:ln>
            </p:spPr>
          </p:sp>
          <p:sp>
            <p:nvSpPr>
              <p:cNvPr id="94" name="Shape 52"/>
              <p:cNvSpPr/>
              <p:nvPr/>
            </p:nvSpPr>
            <p:spPr>
              <a:xfrm>
                <a:off x="3564712" y="5108400"/>
                <a:ext cx="198000" cy="36000"/>
              </a:xfrm>
              <a:prstGeom prst="rect">
                <a:avLst/>
              </a:prstGeom>
              <a:grpFill/>
              <a:ln w="12700">
                <a:noFill/>
                <a:prstDash val="solid"/>
              </a:ln>
            </p:spPr>
          </p:sp>
          <p:sp>
            <p:nvSpPr>
              <p:cNvPr id="95" name="Shape 52"/>
              <p:cNvSpPr/>
              <p:nvPr/>
            </p:nvSpPr>
            <p:spPr>
              <a:xfrm>
                <a:off x="3762712" y="5108400"/>
                <a:ext cx="198000" cy="36000"/>
              </a:xfrm>
              <a:prstGeom prst="rect">
                <a:avLst/>
              </a:prstGeom>
              <a:grpFill/>
              <a:ln w="12700">
                <a:noFill/>
                <a:prstDash val="solid"/>
              </a:ln>
            </p:spPr>
          </p:sp>
          <p:sp>
            <p:nvSpPr>
              <p:cNvPr id="96" name="Shape 52"/>
              <p:cNvSpPr/>
              <p:nvPr/>
            </p:nvSpPr>
            <p:spPr>
              <a:xfrm>
                <a:off x="3960712" y="5107530"/>
                <a:ext cx="198000" cy="36000"/>
              </a:xfrm>
              <a:prstGeom prst="rect">
                <a:avLst/>
              </a:prstGeom>
              <a:grpFill/>
              <a:ln w="12700">
                <a:noFill/>
                <a:prstDash val="solid"/>
              </a:ln>
            </p:spPr>
          </p:sp>
          <p:sp>
            <p:nvSpPr>
              <p:cNvPr id="97" name="Shape 52"/>
              <p:cNvSpPr/>
              <p:nvPr/>
            </p:nvSpPr>
            <p:spPr>
              <a:xfrm>
                <a:off x="4158712" y="5107500"/>
                <a:ext cx="198000" cy="36000"/>
              </a:xfrm>
              <a:prstGeom prst="rect">
                <a:avLst/>
              </a:prstGeom>
              <a:grpFill/>
              <a:ln w="12700">
                <a:noFill/>
                <a:prstDash val="solid"/>
              </a:ln>
            </p:spPr>
          </p:sp>
          <p:sp>
            <p:nvSpPr>
              <p:cNvPr id="98" name="Shape 52"/>
              <p:cNvSpPr/>
              <p:nvPr/>
            </p:nvSpPr>
            <p:spPr>
              <a:xfrm>
                <a:off x="4356712" y="5107500"/>
                <a:ext cx="198000" cy="36000"/>
              </a:xfrm>
              <a:prstGeom prst="rect">
                <a:avLst/>
              </a:prstGeom>
              <a:grpFill/>
              <a:ln w="12700">
                <a:noFill/>
                <a:prstDash val="solid"/>
              </a:ln>
            </p:spPr>
          </p:sp>
          <p:sp>
            <p:nvSpPr>
              <p:cNvPr id="99" name="Shape 52"/>
              <p:cNvSpPr/>
              <p:nvPr/>
            </p:nvSpPr>
            <p:spPr>
              <a:xfrm>
                <a:off x="4554712" y="5107500"/>
                <a:ext cx="198000" cy="36000"/>
              </a:xfrm>
              <a:prstGeom prst="rect">
                <a:avLst/>
              </a:prstGeom>
              <a:grpFill/>
              <a:ln w="12700">
                <a:noFill/>
                <a:prstDash val="solid"/>
              </a:ln>
            </p:spPr>
          </p:sp>
          <p:sp>
            <p:nvSpPr>
              <p:cNvPr id="100" name="Shape 52"/>
              <p:cNvSpPr/>
              <p:nvPr/>
            </p:nvSpPr>
            <p:spPr>
              <a:xfrm>
                <a:off x="4752712" y="5107500"/>
                <a:ext cx="198000" cy="36000"/>
              </a:xfrm>
              <a:prstGeom prst="rect">
                <a:avLst/>
              </a:prstGeom>
              <a:grpFill/>
              <a:ln w="12700">
                <a:noFill/>
                <a:prstDash val="solid"/>
              </a:ln>
            </p:spPr>
          </p:sp>
          <p:sp>
            <p:nvSpPr>
              <p:cNvPr id="101" name="Shape 52"/>
              <p:cNvSpPr/>
              <p:nvPr/>
            </p:nvSpPr>
            <p:spPr>
              <a:xfrm>
                <a:off x="4950712" y="5107500"/>
                <a:ext cx="198000" cy="36000"/>
              </a:xfrm>
              <a:prstGeom prst="rect">
                <a:avLst/>
              </a:prstGeom>
              <a:grpFill/>
              <a:ln w="12700">
                <a:noFill/>
                <a:prstDash val="solid"/>
              </a:ln>
            </p:spPr>
          </p:sp>
          <p:sp>
            <p:nvSpPr>
              <p:cNvPr id="102" name="Shape 52"/>
              <p:cNvSpPr/>
              <p:nvPr/>
            </p:nvSpPr>
            <p:spPr>
              <a:xfrm>
                <a:off x="5148712" y="5107500"/>
                <a:ext cx="198000" cy="36000"/>
              </a:xfrm>
              <a:prstGeom prst="rect">
                <a:avLst/>
              </a:prstGeom>
              <a:grpFill/>
              <a:ln w="12700">
                <a:noFill/>
                <a:prstDash val="solid"/>
              </a:ln>
            </p:spPr>
          </p:sp>
          <p:sp>
            <p:nvSpPr>
              <p:cNvPr id="103" name="Shape 52"/>
              <p:cNvSpPr/>
              <p:nvPr/>
            </p:nvSpPr>
            <p:spPr>
              <a:xfrm>
                <a:off x="5346712" y="5108400"/>
                <a:ext cx="198000" cy="36000"/>
              </a:xfrm>
              <a:prstGeom prst="rect">
                <a:avLst/>
              </a:prstGeom>
              <a:grpFill/>
              <a:ln w="12700">
                <a:noFill/>
                <a:prstDash val="solid"/>
              </a:ln>
            </p:spPr>
          </p:sp>
          <p:sp>
            <p:nvSpPr>
              <p:cNvPr id="104" name="Shape 52"/>
              <p:cNvSpPr/>
              <p:nvPr/>
            </p:nvSpPr>
            <p:spPr>
              <a:xfrm>
                <a:off x="5544712" y="5108400"/>
                <a:ext cx="198000" cy="36000"/>
              </a:xfrm>
              <a:prstGeom prst="rect">
                <a:avLst/>
              </a:prstGeom>
              <a:grpFill/>
              <a:ln w="12700">
                <a:noFill/>
                <a:prstDash val="solid"/>
              </a:ln>
            </p:spPr>
          </p:sp>
          <p:sp>
            <p:nvSpPr>
              <p:cNvPr id="105" name="Shape 52"/>
              <p:cNvSpPr/>
              <p:nvPr/>
            </p:nvSpPr>
            <p:spPr>
              <a:xfrm>
                <a:off x="5742712" y="5108400"/>
                <a:ext cx="198000" cy="36000"/>
              </a:xfrm>
              <a:prstGeom prst="rect">
                <a:avLst/>
              </a:prstGeom>
              <a:grpFill/>
              <a:ln w="12700">
                <a:noFill/>
                <a:prstDash val="solid"/>
              </a:ln>
            </p:spPr>
          </p:sp>
          <p:sp>
            <p:nvSpPr>
              <p:cNvPr id="106" name="Shape 52"/>
              <p:cNvSpPr/>
              <p:nvPr/>
            </p:nvSpPr>
            <p:spPr>
              <a:xfrm>
                <a:off x="5940712" y="5108400"/>
                <a:ext cx="198000" cy="36000"/>
              </a:xfrm>
              <a:prstGeom prst="rect">
                <a:avLst/>
              </a:prstGeom>
              <a:grpFill/>
              <a:ln w="12700">
                <a:noFill/>
                <a:prstDash val="solid"/>
              </a:ln>
            </p:spPr>
          </p:sp>
          <p:sp>
            <p:nvSpPr>
              <p:cNvPr id="107" name="Shape 52"/>
              <p:cNvSpPr/>
              <p:nvPr/>
            </p:nvSpPr>
            <p:spPr>
              <a:xfrm>
                <a:off x="6138712" y="5108400"/>
                <a:ext cx="198000" cy="36000"/>
              </a:xfrm>
              <a:prstGeom prst="rect">
                <a:avLst/>
              </a:prstGeom>
              <a:grpFill/>
              <a:ln w="12700">
                <a:noFill/>
                <a:prstDash val="solid"/>
              </a:ln>
            </p:spPr>
          </p:sp>
          <p:sp>
            <p:nvSpPr>
              <p:cNvPr id="108" name="Shape 52"/>
              <p:cNvSpPr/>
              <p:nvPr/>
            </p:nvSpPr>
            <p:spPr>
              <a:xfrm>
                <a:off x="6336712" y="5108400"/>
                <a:ext cx="198000" cy="36000"/>
              </a:xfrm>
              <a:prstGeom prst="rect">
                <a:avLst/>
              </a:prstGeom>
              <a:grpFill/>
              <a:ln w="12700">
                <a:noFill/>
                <a:prstDash val="solid"/>
              </a:ln>
            </p:spPr>
          </p:sp>
          <p:sp>
            <p:nvSpPr>
              <p:cNvPr id="109" name="Shape 52"/>
              <p:cNvSpPr/>
              <p:nvPr/>
            </p:nvSpPr>
            <p:spPr>
              <a:xfrm>
                <a:off x="6534712" y="5108400"/>
                <a:ext cx="198000" cy="36000"/>
              </a:xfrm>
              <a:prstGeom prst="rect">
                <a:avLst/>
              </a:prstGeom>
              <a:grpFill/>
              <a:ln w="12700">
                <a:noFill/>
                <a:prstDash val="solid"/>
              </a:ln>
            </p:spPr>
          </p:sp>
          <p:sp>
            <p:nvSpPr>
              <p:cNvPr id="110" name="Shape 52"/>
              <p:cNvSpPr/>
              <p:nvPr/>
            </p:nvSpPr>
            <p:spPr>
              <a:xfrm>
                <a:off x="6732712" y="5108400"/>
                <a:ext cx="198000" cy="36000"/>
              </a:xfrm>
              <a:prstGeom prst="rect">
                <a:avLst/>
              </a:prstGeom>
              <a:grpFill/>
              <a:ln w="12700">
                <a:noFill/>
                <a:prstDash val="solid"/>
              </a:ln>
            </p:spPr>
          </p:sp>
          <p:sp>
            <p:nvSpPr>
              <p:cNvPr id="111" name="Shape 52"/>
              <p:cNvSpPr/>
              <p:nvPr/>
            </p:nvSpPr>
            <p:spPr>
              <a:xfrm>
                <a:off x="6930712" y="5108400"/>
                <a:ext cx="198000" cy="36000"/>
              </a:xfrm>
              <a:prstGeom prst="rect">
                <a:avLst/>
              </a:prstGeom>
              <a:grpFill/>
              <a:ln w="12700">
                <a:noFill/>
                <a:prstDash val="solid"/>
              </a:ln>
            </p:spPr>
          </p:sp>
          <p:sp>
            <p:nvSpPr>
              <p:cNvPr id="112" name="Shape 52"/>
              <p:cNvSpPr/>
              <p:nvPr/>
            </p:nvSpPr>
            <p:spPr>
              <a:xfrm>
                <a:off x="7128712" y="5108400"/>
                <a:ext cx="198000" cy="36000"/>
              </a:xfrm>
              <a:prstGeom prst="rect">
                <a:avLst/>
              </a:prstGeom>
              <a:grpFill/>
              <a:ln w="12700">
                <a:noFill/>
                <a:prstDash val="solid"/>
              </a:ln>
            </p:spPr>
          </p:sp>
          <p:sp>
            <p:nvSpPr>
              <p:cNvPr id="113" name="Shape 52"/>
              <p:cNvSpPr/>
              <p:nvPr/>
            </p:nvSpPr>
            <p:spPr>
              <a:xfrm>
                <a:off x="7326712" y="5108400"/>
                <a:ext cx="198000" cy="36000"/>
              </a:xfrm>
              <a:prstGeom prst="rect">
                <a:avLst/>
              </a:prstGeom>
              <a:grpFill/>
              <a:ln w="12700">
                <a:noFill/>
                <a:prstDash val="solid"/>
              </a:ln>
            </p:spPr>
          </p:sp>
          <p:sp>
            <p:nvSpPr>
              <p:cNvPr id="114" name="Shape 52"/>
              <p:cNvSpPr/>
              <p:nvPr/>
            </p:nvSpPr>
            <p:spPr>
              <a:xfrm>
                <a:off x="7524712" y="5108400"/>
                <a:ext cx="198000" cy="36000"/>
              </a:xfrm>
              <a:prstGeom prst="rect">
                <a:avLst/>
              </a:prstGeom>
              <a:grpFill/>
              <a:ln w="12700">
                <a:noFill/>
                <a:prstDash val="solid"/>
              </a:ln>
            </p:spPr>
          </p:sp>
          <p:sp>
            <p:nvSpPr>
              <p:cNvPr id="115" name="Shape 52"/>
              <p:cNvSpPr/>
              <p:nvPr/>
            </p:nvSpPr>
            <p:spPr>
              <a:xfrm>
                <a:off x="7722712" y="5108400"/>
                <a:ext cx="198000" cy="36000"/>
              </a:xfrm>
              <a:prstGeom prst="rect">
                <a:avLst/>
              </a:prstGeom>
              <a:grpFill/>
              <a:ln w="12700">
                <a:noFill/>
                <a:prstDash val="solid"/>
              </a:ln>
            </p:spPr>
          </p:sp>
          <p:sp>
            <p:nvSpPr>
              <p:cNvPr id="116" name="Shape 52"/>
              <p:cNvSpPr/>
              <p:nvPr/>
            </p:nvSpPr>
            <p:spPr>
              <a:xfrm>
                <a:off x="7920712" y="5109048"/>
                <a:ext cx="198000" cy="36000"/>
              </a:xfrm>
              <a:prstGeom prst="rect">
                <a:avLst/>
              </a:prstGeom>
              <a:grpFill/>
              <a:ln w="12700">
                <a:noFill/>
                <a:prstDash val="solid"/>
              </a:ln>
            </p:spPr>
          </p:sp>
          <p:sp>
            <p:nvSpPr>
              <p:cNvPr id="117" name="Shape 52"/>
              <p:cNvSpPr/>
              <p:nvPr/>
            </p:nvSpPr>
            <p:spPr>
              <a:xfrm>
                <a:off x="8118712" y="5109048"/>
                <a:ext cx="198000" cy="36000"/>
              </a:xfrm>
              <a:prstGeom prst="rect">
                <a:avLst/>
              </a:prstGeom>
              <a:grpFill/>
              <a:ln w="12700">
                <a:noFill/>
                <a:prstDash val="solid"/>
              </a:ln>
            </p:spPr>
          </p:sp>
          <p:sp>
            <p:nvSpPr>
              <p:cNvPr id="118" name="Shape 52"/>
              <p:cNvSpPr/>
              <p:nvPr/>
            </p:nvSpPr>
            <p:spPr>
              <a:xfrm>
                <a:off x="8316712" y="5109048"/>
                <a:ext cx="198000" cy="36000"/>
              </a:xfrm>
              <a:prstGeom prst="rect">
                <a:avLst/>
              </a:prstGeom>
              <a:grpFill/>
              <a:ln w="12700">
                <a:noFill/>
                <a:prstDash val="solid"/>
              </a:ln>
            </p:spPr>
          </p:sp>
          <p:sp>
            <p:nvSpPr>
              <p:cNvPr id="119" name="Shape 52"/>
              <p:cNvSpPr/>
              <p:nvPr/>
            </p:nvSpPr>
            <p:spPr>
              <a:xfrm>
                <a:off x="8514712" y="5109048"/>
                <a:ext cx="198000" cy="36000"/>
              </a:xfrm>
              <a:prstGeom prst="rect">
                <a:avLst/>
              </a:prstGeom>
              <a:grpFill/>
              <a:ln w="12700">
                <a:noFill/>
                <a:prstDash val="solid"/>
              </a:ln>
            </p:spPr>
          </p:sp>
          <p:sp>
            <p:nvSpPr>
              <p:cNvPr id="120" name="Shape 52"/>
              <p:cNvSpPr/>
              <p:nvPr/>
            </p:nvSpPr>
            <p:spPr>
              <a:xfrm>
                <a:off x="8712712" y="5109048"/>
                <a:ext cx="198000" cy="36000"/>
              </a:xfrm>
              <a:prstGeom prst="rect">
                <a:avLst/>
              </a:prstGeom>
              <a:grpFill/>
              <a:ln w="12700">
                <a:noFill/>
                <a:prstDash val="solid"/>
              </a:ln>
            </p:spPr>
          </p:sp>
          <p:sp>
            <p:nvSpPr>
              <p:cNvPr id="121" name="Shape 52"/>
              <p:cNvSpPr/>
              <p:nvPr/>
            </p:nvSpPr>
            <p:spPr>
              <a:xfrm>
                <a:off x="8910712" y="5109048"/>
                <a:ext cx="198000" cy="36000"/>
              </a:xfrm>
              <a:prstGeom prst="rect">
                <a:avLst/>
              </a:prstGeom>
              <a:grpFill/>
              <a:ln w="12700">
                <a:noFill/>
                <a:prstDash val="solid"/>
              </a:ln>
            </p:spPr>
          </p:sp>
        </p:gr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grpSp>
        <p:nvGrpSpPr>
          <p:cNvPr id="59" name="Grupa 58"/>
          <p:cNvGrpSpPr/>
          <p:nvPr/>
        </p:nvGrpSpPr>
        <p:grpSpPr>
          <a:xfrm>
            <a:off x="-2381" y="4884912"/>
            <a:ext cx="9146381" cy="260136"/>
            <a:chOff x="-2381" y="4884912"/>
            <a:chExt cx="9146381" cy="260136"/>
          </a:xfrm>
        </p:grpSpPr>
        <p:sp>
          <p:nvSpPr>
            <p:cNvPr id="60" name="Shape 52"/>
            <p:cNvSpPr/>
            <p:nvPr/>
          </p:nvSpPr>
          <p:spPr>
            <a:xfrm>
              <a:off x="0" y="4884912"/>
              <a:ext cx="9144000" cy="252000"/>
            </a:xfrm>
            <a:prstGeom prst="rect">
              <a:avLst/>
            </a:prstGeom>
            <a:solidFill>
              <a:srgbClr val="071523"/>
            </a:solidFill>
            <a:ln w="12700">
              <a:solidFill>
                <a:srgbClr val="071523"/>
              </a:solidFill>
              <a:prstDash val="solid"/>
            </a:ln>
          </p:spPr>
        </p:sp>
        <p:sp>
          <p:nvSpPr>
            <p:cNvPr id="61"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62" name="Grupa 61"/>
            <p:cNvGrpSpPr/>
            <p:nvPr/>
          </p:nvGrpSpPr>
          <p:grpSpPr>
            <a:xfrm>
              <a:off x="-2381" y="5099329"/>
              <a:ext cx="9146381" cy="45719"/>
              <a:chOff x="-2381" y="5107500"/>
              <a:chExt cx="9111093" cy="37548"/>
            </a:xfrm>
            <a:solidFill>
              <a:schemeClr val="tx1"/>
            </a:solidFill>
          </p:grpSpPr>
          <p:sp>
            <p:nvSpPr>
              <p:cNvPr id="63"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64"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65" name="Shape 52"/>
              <p:cNvSpPr/>
              <p:nvPr/>
            </p:nvSpPr>
            <p:spPr>
              <a:xfrm>
                <a:off x="396000" y="5108400"/>
                <a:ext cx="198000" cy="36000"/>
              </a:xfrm>
              <a:prstGeom prst="rect">
                <a:avLst/>
              </a:prstGeom>
              <a:solidFill>
                <a:schemeClr val="tx1"/>
              </a:solidFill>
              <a:ln w="12700">
                <a:noFill/>
                <a:prstDash val="solid"/>
              </a:ln>
            </p:spPr>
          </p:sp>
          <p:sp>
            <p:nvSpPr>
              <p:cNvPr id="66" name="Shape 52"/>
              <p:cNvSpPr/>
              <p:nvPr/>
            </p:nvSpPr>
            <p:spPr>
              <a:xfrm>
                <a:off x="594000" y="5108400"/>
                <a:ext cx="198000" cy="36000"/>
              </a:xfrm>
              <a:prstGeom prst="rect">
                <a:avLst/>
              </a:prstGeom>
              <a:solidFill>
                <a:schemeClr val="tx1"/>
              </a:solidFill>
              <a:ln w="12700">
                <a:noFill/>
                <a:prstDash val="solid"/>
              </a:ln>
            </p:spPr>
          </p:sp>
          <p:sp>
            <p:nvSpPr>
              <p:cNvPr id="67" name="Shape 52"/>
              <p:cNvSpPr/>
              <p:nvPr/>
            </p:nvSpPr>
            <p:spPr>
              <a:xfrm>
                <a:off x="792000" y="5108400"/>
                <a:ext cx="198000" cy="36000"/>
              </a:xfrm>
              <a:prstGeom prst="rect">
                <a:avLst/>
              </a:prstGeom>
              <a:solidFill>
                <a:schemeClr val="tx1"/>
              </a:solidFill>
              <a:ln w="12700">
                <a:noFill/>
                <a:prstDash val="solid"/>
              </a:ln>
            </p:spPr>
          </p:sp>
          <p:sp>
            <p:nvSpPr>
              <p:cNvPr id="68" name="Shape 52"/>
              <p:cNvSpPr/>
              <p:nvPr/>
            </p:nvSpPr>
            <p:spPr>
              <a:xfrm>
                <a:off x="990000" y="5108400"/>
                <a:ext cx="198000" cy="36000"/>
              </a:xfrm>
              <a:prstGeom prst="rect">
                <a:avLst/>
              </a:prstGeom>
              <a:solidFill>
                <a:schemeClr val="tx1"/>
              </a:solidFill>
              <a:ln w="12700">
                <a:noFill/>
                <a:prstDash val="solid"/>
              </a:ln>
            </p:spPr>
          </p:sp>
          <p:sp>
            <p:nvSpPr>
              <p:cNvPr id="69" name="Shape 52"/>
              <p:cNvSpPr/>
              <p:nvPr/>
            </p:nvSpPr>
            <p:spPr>
              <a:xfrm>
                <a:off x="1188000" y="5108400"/>
                <a:ext cx="198000" cy="36000"/>
              </a:xfrm>
              <a:prstGeom prst="rect">
                <a:avLst/>
              </a:prstGeom>
              <a:solidFill>
                <a:schemeClr val="tx1"/>
              </a:solidFill>
              <a:ln w="12700">
                <a:noFill/>
                <a:prstDash val="solid"/>
              </a:ln>
            </p:spPr>
          </p:sp>
          <p:sp>
            <p:nvSpPr>
              <p:cNvPr id="70" name="Shape 52"/>
              <p:cNvSpPr/>
              <p:nvPr/>
            </p:nvSpPr>
            <p:spPr>
              <a:xfrm>
                <a:off x="1386000" y="5107500"/>
                <a:ext cx="198000" cy="36000"/>
              </a:xfrm>
              <a:prstGeom prst="rect">
                <a:avLst/>
              </a:prstGeom>
              <a:grpFill/>
              <a:ln w="12700">
                <a:noFill/>
                <a:prstDash val="solid"/>
              </a:ln>
            </p:spPr>
          </p:sp>
          <p:sp>
            <p:nvSpPr>
              <p:cNvPr id="71" name="Shape 52"/>
              <p:cNvSpPr/>
              <p:nvPr/>
            </p:nvSpPr>
            <p:spPr>
              <a:xfrm>
                <a:off x="1584000" y="5107500"/>
                <a:ext cx="198000" cy="36000"/>
              </a:xfrm>
              <a:prstGeom prst="rect">
                <a:avLst/>
              </a:prstGeom>
              <a:grpFill/>
              <a:ln w="12700">
                <a:noFill/>
                <a:prstDash val="solid"/>
              </a:ln>
            </p:spPr>
          </p:sp>
          <p:sp>
            <p:nvSpPr>
              <p:cNvPr id="72" name="Shape 52"/>
              <p:cNvSpPr/>
              <p:nvPr/>
            </p:nvSpPr>
            <p:spPr>
              <a:xfrm>
                <a:off x="1782000" y="5107500"/>
                <a:ext cx="198000" cy="36000"/>
              </a:xfrm>
              <a:prstGeom prst="rect">
                <a:avLst/>
              </a:prstGeom>
              <a:grpFill/>
              <a:ln w="12700">
                <a:noFill/>
                <a:prstDash val="solid"/>
              </a:ln>
            </p:spPr>
          </p:sp>
          <p:sp>
            <p:nvSpPr>
              <p:cNvPr id="73" name="Shape 52"/>
              <p:cNvSpPr/>
              <p:nvPr/>
            </p:nvSpPr>
            <p:spPr>
              <a:xfrm>
                <a:off x="1980000" y="5107500"/>
                <a:ext cx="198000" cy="36000"/>
              </a:xfrm>
              <a:prstGeom prst="rect">
                <a:avLst/>
              </a:prstGeom>
              <a:grpFill/>
              <a:ln w="12700">
                <a:noFill/>
                <a:prstDash val="solid"/>
              </a:ln>
            </p:spPr>
          </p:sp>
          <p:sp>
            <p:nvSpPr>
              <p:cNvPr id="74" name="Shape 52"/>
              <p:cNvSpPr/>
              <p:nvPr/>
            </p:nvSpPr>
            <p:spPr>
              <a:xfrm>
                <a:off x="2178000" y="5107500"/>
                <a:ext cx="198000" cy="36000"/>
              </a:xfrm>
              <a:prstGeom prst="rect">
                <a:avLst/>
              </a:prstGeom>
              <a:grpFill/>
              <a:ln w="12700">
                <a:noFill/>
                <a:prstDash val="solid"/>
              </a:ln>
            </p:spPr>
          </p:sp>
          <p:sp>
            <p:nvSpPr>
              <p:cNvPr id="75" name="Shape 52"/>
              <p:cNvSpPr/>
              <p:nvPr/>
            </p:nvSpPr>
            <p:spPr>
              <a:xfrm>
                <a:off x="2376000" y="5107500"/>
                <a:ext cx="198000" cy="36000"/>
              </a:xfrm>
              <a:prstGeom prst="rect">
                <a:avLst/>
              </a:prstGeom>
              <a:grpFill/>
              <a:ln w="12700">
                <a:noFill/>
                <a:prstDash val="solid"/>
              </a:ln>
            </p:spPr>
          </p:sp>
          <p:sp>
            <p:nvSpPr>
              <p:cNvPr id="76" name="Shape 52"/>
              <p:cNvSpPr/>
              <p:nvPr/>
            </p:nvSpPr>
            <p:spPr>
              <a:xfrm>
                <a:off x="2574000" y="5107500"/>
                <a:ext cx="198000" cy="36000"/>
              </a:xfrm>
              <a:prstGeom prst="rect">
                <a:avLst/>
              </a:prstGeom>
              <a:grpFill/>
              <a:ln w="12700">
                <a:noFill/>
                <a:prstDash val="solid"/>
              </a:ln>
            </p:spPr>
          </p:sp>
          <p:sp>
            <p:nvSpPr>
              <p:cNvPr id="77" name="Shape 52"/>
              <p:cNvSpPr/>
              <p:nvPr/>
            </p:nvSpPr>
            <p:spPr>
              <a:xfrm>
                <a:off x="2772712" y="5108400"/>
                <a:ext cx="198000" cy="36000"/>
              </a:xfrm>
              <a:prstGeom prst="rect">
                <a:avLst/>
              </a:prstGeom>
              <a:grpFill/>
              <a:ln w="12700">
                <a:noFill/>
                <a:prstDash val="solid"/>
              </a:ln>
            </p:spPr>
          </p:sp>
          <p:sp>
            <p:nvSpPr>
              <p:cNvPr id="78" name="Shape 52"/>
              <p:cNvSpPr/>
              <p:nvPr/>
            </p:nvSpPr>
            <p:spPr>
              <a:xfrm>
                <a:off x="2970712" y="5108400"/>
                <a:ext cx="198000" cy="36000"/>
              </a:xfrm>
              <a:prstGeom prst="rect">
                <a:avLst/>
              </a:prstGeom>
              <a:grpFill/>
              <a:ln w="12700">
                <a:noFill/>
                <a:prstDash val="solid"/>
              </a:ln>
            </p:spPr>
          </p:sp>
          <p:sp>
            <p:nvSpPr>
              <p:cNvPr id="79" name="Shape 52"/>
              <p:cNvSpPr/>
              <p:nvPr/>
            </p:nvSpPr>
            <p:spPr>
              <a:xfrm>
                <a:off x="3168712" y="5108400"/>
                <a:ext cx="198000" cy="36000"/>
              </a:xfrm>
              <a:prstGeom prst="rect">
                <a:avLst/>
              </a:prstGeom>
              <a:grpFill/>
              <a:ln w="12700">
                <a:noFill/>
                <a:prstDash val="solid"/>
              </a:ln>
            </p:spPr>
          </p:sp>
          <p:sp>
            <p:nvSpPr>
              <p:cNvPr id="80" name="Shape 52"/>
              <p:cNvSpPr/>
              <p:nvPr/>
            </p:nvSpPr>
            <p:spPr>
              <a:xfrm>
                <a:off x="3366712" y="5108400"/>
                <a:ext cx="198000" cy="36000"/>
              </a:xfrm>
              <a:prstGeom prst="rect">
                <a:avLst/>
              </a:prstGeom>
              <a:grpFill/>
              <a:ln w="12700">
                <a:noFill/>
                <a:prstDash val="solid"/>
              </a:ln>
            </p:spPr>
          </p:sp>
          <p:sp>
            <p:nvSpPr>
              <p:cNvPr id="81" name="Shape 52"/>
              <p:cNvSpPr/>
              <p:nvPr/>
            </p:nvSpPr>
            <p:spPr>
              <a:xfrm>
                <a:off x="3564712" y="5108400"/>
                <a:ext cx="198000" cy="36000"/>
              </a:xfrm>
              <a:prstGeom prst="rect">
                <a:avLst/>
              </a:prstGeom>
              <a:grpFill/>
              <a:ln w="12700">
                <a:noFill/>
                <a:prstDash val="solid"/>
              </a:ln>
            </p:spPr>
          </p:sp>
          <p:sp>
            <p:nvSpPr>
              <p:cNvPr id="82" name="Shape 52"/>
              <p:cNvSpPr/>
              <p:nvPr/>
            </p:nvSpPr>
            <p:spPr>
              <a:xfrm>
                <a:off x="3762712" y="5108400"/>
                <a:ext cx="198000" cy="36000"/>
              </a:xfrm>
              <a:prstGeom prst="rect">
                <a:avLst/>
              </a:prstGeom>
              <a:grpFill/>
              <a:ln w="12700">
                <a:noFill/>
                <a:prstDash val="solid"/>
              </a:ln>
            </p:spPr>
          </p:sp>
          <p:sp>
            <p:nvSpPr>
              <p:cNvPr id="83" name="Shape 52"/>
              <p:cNvSpPr/>
              <p:nvPr/>
            </p:nvSpPr>
            <p:spPr>
              <a:xfrm>
                <a:off x="3960712" y="5107530"/>
                <a:ext cx="198000" cy="36000"/>
              </a:xfrm>
              <a:prstGeom prst="rect">
                <a:avLst/>
              </a:prstGeom>
              <a:grpFill/>
              <a:ln w="12700">
                <a:noFill/>
                <a:prstDash val="solid"/>
              </a:ln>
            </p:spPr>
          </p:sp>
          <p:sp>
            <p:nvSpPr>
              <p:cNvPr id="84" name="Shape 52"/>
              <p:cNvSpPr/>
              <p:nvPr/>
            </p:nvSpPr>
            <p:spPr>
              <a:xfrm>
                <a:off x="4158712" y="5107500"/>
                <a:ext cx="198000" cy="36000"/>
              </a:xfrm>
              <a:prstGeom prst="rect">
                <a:avLst/>
              </a:prstGeom>
              <a:grpFill/>
              <a:ln w="12700">
                <a:noFill/>
                <a:prstDash val="solid"/>
              </a:ln>
            </p:spPr>
          </p:sp>
          <p:sp>
            <p:nvSpPr>
              <p:cNvPr id="85" name="Shape 52"/>
              <p:cNvSpPr/>
              <p:nvPr/>
            </p:nvSpPr>
            <p:spPr>
              <a:xfrm>
                <a:off x="4356712" y="5107500"/>
                <a:ext cx="198000" cy="36000"/>
              </a:xfrm>
              <a:prstGeom prst="rect">
                <a:avLst/>
              </a:prstGeom>
              <a:grpFill/>
              <a:ln w="12700">
                <a:noFill/>
                <a:prstDash val="solid"/>
              </a:ln>
            </p:spPr>
          </p:sp>
          <p:sp>
            <p:nvSpPr>
              <p:cNvPr id="86" name="Shape 52"/>
              <p:cNvSpPr/>
              <p:nvPr/>
            </p:nvSpPr>
            <p:spPr>
              <a:xfrm>
                <a:off x="4554712" y="5107500"/>
                <a:ext cx="198000" cy="36000"/>
              </a:xfrm>
              <a:prstGeom prst="rect">
                <a:avLst/>
              </a:prstGeom>
              <a:grpFill/>
              <a:ln w="12700">
                <a:noFill/>
                <a:prstDash val="solid"/>
              </a:ln>
            </p:spPr>
          </p:sp>
          <p:sp>
            <p:nvSpPr>
              <p:cNvPr id="87" name="Shape 52"/>
              <p:cNvSpPr/>
              <p:nvPr/>
            </p:nvSpPr>
            <p:spPr>
              <a:xfrm>
                <a:off x="4752712" y="5107500"/>
                <a:ext cx="198000" cy="36000"/>
              </a:xfrm>
              <a:prstGeom prst="rect">
                <a:avLst/>
              </a:prstGeom>
              <a:grpFill/>
              <a:ln w="12700">
                <a:noFill/>
                <a:prstDash val="solid"/>
              </a:ln>
            </p:spPr>
          </p:sp>
          <p:sp>
            <p:nvSpPr>
              <p:cNvPr id="88" name="Shape 52"/>
              <p:cNvSpPr/>
              <p:nvPr/>
            </p:nvSpPr>
            <p:spPr>
              <a:xfrm>
                <a:off x="4950712" y="5107500"/>
                <a:ext cx="198000" cy="36000"/>
              </a:xfrm>
              <a:prstGeom prst="rect">
                <a:avLst/>
              </a:prstGeom>
              <a:grpFill/>
              <a:ln w="12700">
                <a:noFill/>
                <a:prstDash val="solid"/>
              </a:ln>
            </p:spPr>
          </p:sp>
          <p:sp>
            <p:nvSpPr>
              <p:cNvPr id="89" name="Shape 52"/>
              <p:cNvSpPr/>
              <p:nvPr/>
            </p:nvSpPr>
            <p:spPr>
              <a:xfrm>
                <a:off x="5148712" y="5107500"/>
                <a:ext cx="198000" cy="36000"/>
              </a:xfrm>
              <a:prstGeom prst="rect">
                <a:avLst/>
              </a:prstGeom>
              <a:grpFill/>
              <a:ln w="12700">
                <a:noFill/>
                <a:prstDash val="solid"/>
              </a:ln>
            </p:spPr>
          </p:sp>
          <p:sp>
            <p:nvSpPr>
              <p:cNvPr id="90" name="Shape 52"/>
              <p:cNvSpPr/>
              <p:nvPr/>
            </p:nvSpPr>
            <p:spPr>
              <a:xfrm>
                <a:off x="5346712" y="5108400"/>
                <a:ext cx="198000" cy="36000"/>
              </a:xfrm>
              <a:prstGeom prst="rect">
                <a:avLst/>
              </a:prstGeom>
              <a:grpFill/>
              <a:ln w="12700">
                <a:noFill/>
                <a:prstDash val="solid"/>
              </a:ln>
            </p:spPr>
          </p:sp>
          <p:sp>
            <p:nvSpPr>
              <p:cNvPr id="91" name="Shape 52"/>
              <p:cNvSpPr/>
              <p:nvPr/>
            </p:nvSpPr>
            <p:spPr>
              <a:xfrm>
                <a:off x="5544712" y="5108400"/>
                <a:ext cx="198000" cy="36000"/>
              </a:xfrm>
              <a:prstGeom prst="rect">
                <a:avLst/>
              </a:prstGeom>
              <a:grpFill/>
              <a:ln w="12700">
                <a:noFill/>
                <a:prstDash val="solid"/>
              </a:ln>
            </p:spPr>
          </p:sp>
          <p:sp>
            <p:nvSpPr>
              <p:cNvPr id="92" name="Shape 52"/>
              <p:cNvSpPr/>
              <p:nvPr/>
            </p:nvSpPr>
            <p:spPr>
              <a:xfrm>
                <a:off x="5742712" y="5108400"/>
                <a:ext cx="198000" cy="36000"/>
              </a:xfrm>
              <a:prstGeom prst="rect">
                <a:avLst/>
              </a:prstGeom>
              <a:grpFill/>
              <a:ln w="12700">
                <a:noFill/>
                <a:prstDash val="solid"/>
              </a:ln>
            </p:spPr>
          </p:sp>
          <p:sp>
            <p:nvSpPr>
              <p:cNvPr id="93" name="Shape 52"/>
              <p:cNvSpPr/>
              <p:nvPr/>
            </p:nvSpPr>
            <p:spPr>
              <a:xfrm>
                <a:off x="5940712" y="5108400"/>
                <a:ext cx="198000" cy="36000"/>
              </a:xfrm>
              <a:prstGeom prst="rect">
                <a:avLst/>
              </a:prstGeom>
              <a:grpFill/>
              <a:ln w="12700">
                <a:noFill/>
                <a:prstDash val="solid"/>
              </a:ln>
            </p:spPr>
          </p:sp>
          <p:sp>
            <p:nvSpPr>
              <p:cNvPr id="94" name="Shape 52"/>
              <p:cNvSpPr/>
              <p:nvPr/>
            </p:nvSpPr>
            <p:spPr>
              <a:xfrm>
                <a:off x="6138712" y="5108400"/>
                <a:ext cx="198000" cy="36000"/>
              </a:xfrm>
              <a:prstGeom prst="rect">
                <a:avLst/>
              </a:prstGeom>
              <a:grpFill/>
              <a:ln w="12700">
                <a:noFill/>
                <a:prstDash val="solid"/>
              </a:ln>
            </p:spPr>
          </p:sp>
          <p:sp>
            <p:nvSpPr>
              <p:cNvPr id="95" name="Shape 52"/>
              <p:cNvSpPr/>
              <p:nvPr/>
            </p:nvSpPr>
            <p:spPr>
              <a:xfrm>
                <a:off x="6336712" y="5108400"/>
                <a:ext cx="198000" cy="36000"/>
              </a:xfrm>
              <a:prstGeom prst="rect">
                <a:avLst/>
              </a:prstGeom>
              <a:grpFill/>
              <a:ln w="12700">
                <a:noFill/>
                <a:prstDash val="solid"/>
              </a:ln>
            </p:spPr>
          </p:sp>
          <p:sp>
            <p:nvSpPr>
              <p:cNvPr id="96" name="Shape 52"/>
              <p:cNvSpPr/>
              <p:nvPr/>
            </p:nvSpPr>
            <p:spPr>
              <a:xfrm>
                <a:off x="6534712" y="5108400"/>
                <a:ext cx="198000" cy="36000"/>
              </a:xfrm>
              <a:prstGeom prst="rect">
                <a:avLst/>
              </a:prstGeom>
              <a:grpFill/>
              <a:ln w="12700">
                <a:noFill/>
                <a:prstDash val="solid"/>
              </a:ln>
            </p:spPr>
          </p:sp>
          <p:sp>
            <p:nvSpPr>
              <p:cNvPr id="97" name="Shape 52"/>
              <p:cNvSpPr/>
              <p:nvPr/>
            </p:nvSpPr>
            <p:spPr>
              <a:xfrm>
                <a:off x="6732712" y="5108400"/>
                <a:ext cx="198000" cy="36000"/>
              </a:xfrm>
              <a:prstGeom prst="rect">
                <a:avLst/>
              </a:prstGeom>
              <a:grpFill/>
              <a:ln w="12700">
                <a:noFill/>
                <a:prstDash val="solid"/>
              </a:ln>
            </p:spPr>
          </p:sp>
          <p:sp>
            <p:nvSpPr>
              <p:cNvPr id="98" name="Shape 52"/>
              <p:cNvSpPr/>
              <p:nvPr/>
            </p:nvSpPr>
            <p:spPr>
              <a:xfrm>
                <a:off x="6930712" y="5108400"/>
                <a:ext cx="198000" cy="36000"/>
              </a:xfrm>
              <a:prstGeom prst="rect">
                <a:avLst/>
              </a:prstGeom>
              <a:grpFill/>
              <a:ln w="12700">
                <a:noFill/>
                <a:prstDash val="solid"/>
              </a:ln>
            </p:spPr>
          </p:sp>
          <p:sp>
            <p:nvSpPr>
              <p:cNvPr id="99" name="Shape 52"/>
              <p:cNvSpPr/>
              <p:nvPr/>
            </p:nvSpPr>
            <p:spPr>
              <a:xfrm>
                <a:off x="7128712" y="5108400"/>
                <a:ext cx="198000" cy="36000"/>
              </a:xfrm>
              <a:prstGeom prst="rect">
                <a:avLst/>
              </a:prstGeom>
              <a:grpFill/>
              <a:ln w="12700">
                <a:noFill/>
                <a:prstDash val="solid"/>
              </a:ln>
            </p:spPr>
          </p:sp>
          <p:sp>
            <p:nvSpPr>
              <p:cNvPr id="100" name="Shape 52"/>
              <p:cNvSpPr/>
              <p:nvPr/>
            </p:nvSpPr>
            <p:spPr>
              <a:xfrm>
                <a:off x="7326712" y="5108400"/>
                <a:ext cx="198000" cy="36000"/>
              </a:xfrm>
              <a:prstGeom prst="rect">
                <a:avLst/>
              </a:prstGeom>
              <a:grpFill/>
              <a:ln w="12700">
                <a:noFill/>
                <a:prstDash val="solid"/>
              </a:ln>
            </p:spPr>
          </p:sp>
          <p:sp>
            <p:nvSpPr>
              <p:cNvPr id="101" name="Shape 52"/>
              <p:cNvSpPr/>
              <p:nvPr/>
            </p:nvSpPr>
            <p:spPr>
              <a:xfrm>
                <a:off x="7524712" y="5108400"/>
                <a:ext cx="198000" cy="36000"/>
              </a:xfrm>
              <a:prstGeom prst="rect">
                <a:avLst/>
              </a:prstGeom>
              <a:grpFill/>
              <a:ln w="12700">
                <a:noFill/>
                <a:prstDash val="solid"/>
              </a:ln>
            </p:spPr>
          </p:sp>
          <p:sp>
            <p:nvSpPr>
              <p:cNvPr id="102" name="Shape 52"/>
              <p:cNvSpPr/>
              <p:nvPr/>
            </p:nvSpPr>
            <p:spPr>
              <a:xfrm>
                <a:off x="7722712" y="5108400"/>
                <a:ext cx="198000" cy="36000"/>
              </a:xfrm>
              <a:prstGeom prst="rect">
                <a:avLst/>
              </a:prstGeom>
              <a:grpFill/>
              <a:ln w="12700">
                <a:noFill/>
                <a:prstDash val="solid"/>
              </a:ln>
            </p:spPr>
          </p:sp>
          <p:sp>
            <p:nvSpPr>
              <p:cNvPr id="103" name="Shape 52"/>
              <p:cNvSpPr/>
              <p:nvPr/>
            </p:nvSpPr>
            <p:spPr>
              <a:xfrm>
                <a:off x="7920712" y="5109048"/>
                <a:ext cx="198000" cy="36000"/>
              </a:xfrm>
              <a:prstGeom prst="rect">
                <a:avLst/>
              </a:prstGeom>
              <a:grpFill/>
              <a:ln w="12700">
                <a:noFill/>
                <a:prstDash val="solid"/>
              </a:ln>
            </p:spPr>
          </p:sp>
          <p:sp>
            <p:nvSpPr>
              <p:cNvPr id="104" name="Shape 52"/>
              <p:cNvSpPr/>
              <p:nvPr/>
            </p:nvSpPr>
            <p:spPr>
              <a:xfrm>
                <a:off x="8118712" y="5109048"/>
                <a:ext cx="198000" cy="36000"/>
              </a:xfrm>
              <a:prstGeom prst="rect">
                <a:avLst/>
              </a:prstGeom>
              <a:grpFill/>
              <a:ln w="12700">
                <a:noFill/>
                <a:prstDash val="solid"/>
              </a:ln>
            </p:spPr>
          </p:sp>
          <p:sp>
            <p:nvSpPr>
              <p:cNvPr id="105" name="Shape 52"/>
              <p:cNvSpPr/>
              <p:nvPr/>
            </p:nvSpPr>
            <p:spPr>
              <a:xfrm>
                <a:off x="8316712" y="5109048"/>
                <a:ext cx="198000" cy="36000"/>
              </a:xfrm>
              <a:prstGeom prst="rect">
                <a:avLst/>
              </a:prstGeom>
              <a:grpFill/>
              <a:ln w="12700">
                <a:noFill/>
                <a:prstDash val="solid"/>
              </a:ln>
            </p:spPr>
          </p:sp>
          <p:sp>
            <p:nvSpPr>
              <p:cNvPr id="106" name="Shape 52"/>
              <p:cNvSpPr/>
              <p:nvPr/>
            </p:nvSpPr>
            <p:spPr>
              <a:xfrm>
                <a:off x="8514712" y="5109048"/>
                <a:ext cx="198000" cy="36000"/>
              </a:xfrm>
              <a:prstGeom prst="rect">
                <a:avLst/>
              </a:prstGeom>
              <a:grpFill/>
              <a:ln w="12700">
                <a:noFill/>
                <a:prstDash val="solid"/>
              </a:ln>
            </p:spPr>
          </p:sp>
          <p:sp>
            <p:nvSpPr>
              <p:cNvPr id="107" name="Shape 52"/>
              <p:cNvSpPr/>
              <p:nvPr/>
            </p:nvSpPr>
            <p:spPr>
              <a:xfrm>
                <a:off x="8712712" y="5109048"/>
                <a:ext cx="198000" cy="36000"/>
              </a:xfrm>
              <a:prstGeom prst="rect">
                <a:avLst/>
              </a:prstGeom>
              <a:grpFill/>
              <a:ln w="12700">
                <a:noFill/>
                <a:prstDash val="solid"/>
              </a:ln>
            </p:spPr>
          </p:sp>
          <p:sp>
            <p:nvSpPr>
              <p:cNvPr id="108"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FF2D78"/>
          </a:solidFill>
          <a:ln w="12700">
            <a:solidFill>
              <a:srgbClr val="FF2D78"/>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Plan Wykładu</a:t>
            </a:r>
            <a:endParaRPr lang="en-US" sz="2200" dirty="0"/>
          </a:p>
        </p:txBody>
      </p:sp>
      <p:sp>
        <p:nvSpPr>
          <p:cNvPr id="4" name="Shape 2"/>
          <p:cNvSpPr/>
          <p:nvPr/>
        </p:nvSpPr>
        <p:spPr>
          <a:xfrm>
            <a:off x="320040" y="960120"/>
            <a:ext cx="4206240" cy="685800"/>
          </a:xfrm>
          <a:prstGeom prst="rect">
            <a:avLst/>
          </a:prstGeom>
          <a:solidFill>
            <a:srgbClr val="112233"/>
          </a:solidFill>
          <a:ln w="12700">
            <a:solidFill>
              <a:srgbClr val="1A3050"/>
            </a:solidFill>
            <a:prstDash val="solid"/>
          </a:ln>
        </p:spPr>
      </p:sp>
      <p:sp>
        <p:nvSpPr>
          <p:cNvPr id="5" name="Shape 3"/>
          <p:cNvSpPr/>
          <p:nvPr/>
        </p:nvSpPr>
        <p:spPr>
          <a:xfrm>
            <a:off x="320040" y="960120"/>
            <a:ext cx="45720" cy="685800"/>
          </a:xfrm>
          <a:prstGeom prst="rect">
            <a:avLst/>
          </a:prstGeom>
          <a:solidFill>
            <a:srgbClr val="00D4FF"/>
          </a:solidFill>
          <a:ln w="12700">
            <a:solidFill>
              <a:srgbClr val="00D4FF"/>
            </a:solidFill>
            <a:prstDash val="solid"/>
          </a:ln>
        </p:spPr>
      </p:sp>
      <p:sp>
        <p:nvSpPr>
          <p:cNvPr id="6" name="Text 4"/>
          <p:cNvSpPr/>
          <p:nvPr/>
        </p:nvSpPr>
        <p:spPr>
          <a:xfrm>
            <a:off x="411480" y="996696"/>
            <a:ext cx="365760" cy="274320"/>
          </a:xfrm>
          <a:prstGeom prst="rect">
            <a:avLst/>
          </a:prstGeom>
          <a:noFill/>
          <a:ln/>
        </p:spPr>
        <p:txBody>
          <a:bodyPr wrap="square" lIns="0" tIns="0" rIns="0" bIns="0" rtlCol="0" anchor="ctr"/>
          <a:lstStyle/>
          <a:p>
            <a:pPr marL="0" indent="0">
              <a:buNone/>
            </a:pPr>
            <a:r>
              <a:rPr lang="en-US" sz="1300" b="1" dirty="0">
                <a:solidFill>
                  <a:srgbClr val="00D4FF"/>
                </a:solidFill>
              </a:rPr>
              <a:t>01</a:t>
            </a:r>
            <a:endParaRPr lang="en-US" sz="1300" dirty="0"/>
          </a:p>
        </p:txBody>
      </p:sp>
      <p:sp>
        <p:nvSpPr>
          <p:cNvPr id="7" name="Text 5"/>
          <p:cNvSpPr/>
          <p:nvPr/>
        </p:nvSpPr>
        <p:spPr>
          <a:xfrm>
            <a:off x="777240" y="1005840"/>
            <a:ext cx="3657600" cy="256032"/>
          </a:xfrm>
          <a:prstGeom prst="rect">
            <a:avLst/>
          </a:prstGeom>
          <a:noFill/>
          <a:ln/>
        </p:spPr>
        <p:txBody>
          <a:bodyPr wrap="square" lIns="0" tIns="0" rIns="0" bIns="0" rtlCol="0" anchor="ctr"/>
          <a:lstStyle/>
          <a:p>
            <a:pPr marL="0" indent="0">
              <a:buNone/>
            </a:pPr>
            <a:r>
              <a:rPr lang="en-US" sz="1000" b="1" dirty="0">
                <a:solidFill>
                  <a:srgbClr val="FFFFFF"/>
                </a:solidFill>
              </a:rPr>
              <a:t>Wprowadzenie do UI/UX</a:t>
            </a:r>
            <a:endParaRPr lang="en-US" sz="1000" dirty="0"/>
          </a:p>
        </p:txBody>
      </p:sp>
      <p:sp>
        <p:nvSpPr>
          <p:cNvPr id="8" name="Text 6"/>
          <p:cNvSpPr/>
          <p:nvPr/>
        </p:nvSpPr>
        <p:spPr>
          <a:xfrm>
            <a:off x="777240" y="1280160"/>
            <a:ext cx="3657600" cy="292608"/>
          </a:xfrm>
          <a:prstGeom prst="rect">
            <a:avLst/>
          </a:prstGeom>
          <a:noFill/>
          <a:ln/>
        </p:spPr>
        <p:txBody>
          <a:bodyPr wrap="square" lIns="0" tIns="0" rIns="0" bIns="0" rtlCol="0" anchor="ctr"/>
          <a:lstStyle/>
          <a:p>
            <a:pPr marL="0" indent="0">
              <a:buNone/>
            </a:pPr>
            <a:r>
              <a:rPr lang="en-US" sz="850" dirty="0">
                <a:solidFill>
                  <a:srgbClr val="8899AA"/>
                </a:solidFill>
              </a:rPr>
              <a:t>Definicje, ewolucja, specyfika mobilna</a:t>
            </a:r>
            <a:endParaRPr lang="en-US" sz="850" dirty="0"/>
          </a:p>
        </p:txBody>
      </p:sp>
      <p:sp>
        <p:nvSpPr>
          <p:cNvPr id="9" name="Shape 7"/>
          <p:cNvSpPr/>
          <p:nvPr/>
        </p:nvSpPr>
        <p:spPr>
          <a:xfrm>
            <a:off x="320040" y="1728216"/>
            <a:ext cx="4206240" cy="685800"/>
          </a:xfrm>
          <a:prstGeom prst="rect">
            <a:avLst/>
          </a:prstGeom>
          <a:solidFill>
            <a:srgbClr val="112233"/>
          </a:solidFill>
          <a:ln w="12700">
            <a:solidFill>
              <a:srgbClr val="1A3050"/>
            </a:solidFill>
            <a:prstDash val="solid"/>
          </a:ln>
        </p:spPr>
      </p:sp>
      <p:sp>
        <p:nvSpPr>
          <p:cNvPr id="10" name="Shape 8"/>
          <p:cNvSpPr/>
          <p:nvPr/>
        </p:nvSpPr>
        <p:spPr>
          <a:xfrm>
            <a:off x="320040" y="1728216"/>
            <a:ext cx="45720" cy="685800"/>
          </a:xfrm>
          <a:prstGeom prst="rect">
            <a:avLst/>
          </a:prstGeom>
          <a:solidFill>
            <a:srgbClr val="FF2D78"/>
          </a:solidFill>
          <a:ln w="12700">
            <a:solidFill>
              <a:srgbClr val="FF2D78"/>
            </a:solidFill>
            <a:prstDash val="solid"/>
          </a:ln>
        </p:spPr>
      </p:sp>
      <p:sp>
        <p:nvSpPr>
          <p:cNvPr id="11" name="Text 9"/>
          <p:cNvSpPr/>
          <p:nvPr/>
        </p:nvSpPr>
        <p:spPr>
          <a:xfrm>
            <a:off x="411480" y="1764792"/>
            <a:ext cx="365760" cy="274320"/>
          </a:xfrm>
          <a:prstGeom prst="rect">
            <a:avLst/>
          </a:prstGeom>
          <a:noFill/>
          <a:ln/>
        </p:spPr>
        <p:txBody>
          <a:bodyPr wrap="square" lIns="0" tIns="0" rIns="0" bIns="0" rtlCol="0" anchor="ctr"/>
          <a:lstStyle/>
          <a:p>
            <a:pPr marL="0" indent="0">
              <a:buNone/>
            </a:pPr>
            <a:r>
              <a:rPr lang="en-US" sz="1300" b="1" dirty="0">
                <a:solidFill>
                  <a:srgbClr val="FF2D78"/>
                </a:solidFill>
              </a:rPr>
              <a:t>02</a:t>
            </a:r>
            <a:endParaRPr lang="en-US" sz="1300" dirty="0"/>
          </a:p>
        </p:txBody>
      </p:sp>
      <p:sp>
        <p:nvSpPr>
          <p:cNvPr id="12" name="Text 10"/>
          <p:cNvSpPr/>
          <p:nvPr/>
        </p:nvSpPr>
        <p:spPr>
          <a:xfrm>
            <a:off x="777240" y="1773936"/>
            <a:ext cx="3657600" cy="256032"/>
          </a:xfrm>
          <a:prstGeom prst="rect">
            <a:avLst/>
          </a:prstGeom>
          <a:noFill/>
          <a:ln/>
        </p:spPr>
        <p:txBody>
          <a:bodyPr wrap="square" lIns="0" tIns="0" rIns="0" bIns="0" rtlCol="0" anchor="ctr"/>
          <a:lstStyle/>
          <a:p>
            <a:pPr marL="0" indent="0">
              <a:buNone/>
            </a:pPr>
            <a:r>
              <a:rPr lang="en-US" sz="1000" b="1" dirty="0">
                <a:solidFill>
                  <a:srgbClr val="FFFFFF"/>
                </a:solidFill>
              </a:rPr>
              <a:t>Rodzaje Interfejsów</a:t>
            </a:r>
            <a:endParaRPr lang="en-US" sz="1000" dirty="0"/>
          </a:p>
        </p:txBody>
      </p:sp>
      <p:sp>
        <p:nvSpPr>
          <p:cNvPr id="13" name="Text 11"/>
          <p:cNvSpPr/>
          <p:nvPr/>
        </p:nvSpPr>
        <p:spPr>
          <a:xfrm>
            <a:off x="777240" y="2048256"/>
            <a:ext cx="3657600" cy="292608"/>
          </a:xfrm>
          <a:prstGeom prst="rect">
            <a:avLst/>
          </a:prstGeom>
          <a:noFill/>
          <a:ln/>
        </p:spPr>
        <p:txBody>
          <a:bodyPr wrap="square" lIns="0" tIns="0" rIns="0" bIns="0" rtlCol="0" anchor="ctr"/>
          <a:lstStyle/>
          <a:p>
            <a:pPr marL="0" indent="0">
              <a:buNone/>
            </a:pPr>
            <a:r>
              <a:rPr lang="en-US" sz="850" dirty="0">
                <a:solidFill>
                  <a:srgbClr val="8899AA"/>
                </a:solidFill>
              </a:rPr>
              <a:t>GUI, VUI, NUI, TUI, CLI/CUI</a:t>
            </a:r>
            <a:endParaRPr lang="en-US" sz="850" dirty="0"/>
          </a:p>
        </p:txBody>
      </p:sp>
      <p:sp>
        <p:nvSpPr>
          <p:cNvPr id="14" name="Shape 12"/>
          <p:cNvSpPr/>
          <p:nvPr/>
        </p:nvSpPr>
        <p:spPr>
          <a:xfrm>
            <a:off x="320040" y="2496312"/>
            <a:ext cx="4206240" cy="685800"/>
          </a:xfrm>
          <a:prstGeom prst="rect">
            <a:avLst/>
          </a:prstGeom>
          <a:solidFill>
            <a:srgbClr val="112233"/>
          </a:solidFill>
          <a:ln w="12700">
            <a:solidFill>
              <a:srgbClr val="1A3050"/>
            </a:solidFill>
            <a:prstDash val="solid"/>
          </a:ln>
        </p:spPr>
      </p:sp>
      <p:sp>
        <p:nvSpPr>
          <p:cNvPr id="15" name="Shape 13"/>
          <p:cNvSpPr/>
          <p:nvPr/>
        </p:nvSpPr>
        <p:spPr>
          <a:xfrm>
            <a:off x="320040" y="2496312"/>
            <a:ext cx="45720" cy="685800"/>
          </a:xfrm>
          <a:prstGeom prst="rect">
            <a:avLst/>
          </a:prstGeom>
          <a:solidFill>
            <a:srgbClr val="00E676"/>
          </a:solidFill>
          <a:ln w="12700">
            <a:solidFill>
              <a:srgbClr val="00E676"/>
            </a:solidFill>
            <a:prstDash val="solid"/>
          </a:ln>
        </p:spPr>
      </p:sp>
      <p:sp>
        <p:nvSpPr>
          <p:cNvPr id="16" name="Text 14"/>
          <p:cNvSpPr/>
          <p:nvPr/>
        </p:nvSpPr>
        <p:spPr>
          <a:xfrm>
            <a:off x="411480" y="2532888"/>
            <a:ext cx="365760" cy="274320"/>
          </a:xfrm>
          <a:prstGeom prst="rect">
            <a:avLst/>
          </a:prstGeom>
          <a:noFill/>
          <a:ln/>
        </p:spPr>
        <p:txBody>
          <a:bodyPr wrap="square" lIns="0" tIns="0" rIns="0" bIns="0" rtlCol="0" anchor="ctr"/>
          <a:lstStyle/>
          <a:p>
            <a:pPr marL="0" indent="0">
              <a:buNone/>
            </a:pPr>
            <a:r>
              <a:rPr lang="en-US" sz="1300" b="1" dirty="0">
                <a:solidFill>
                  <a:srgbClr val="00E676"/>
                </a:solidFill>
              </a:rPr>
              <a:t>03</a:t>
            </a:r>
            <a:endParaRPr lang="en-US" sz="1300" dirty="0"/>
          </a:p>
        </p:txBody>
      </p:sp>
      <p:sp>
        <p:nvSpPr>
          <p:cNvPr id="17" name="Text 15"/>
          <p:cNvSpPr/>
          <p:nvPr/>
        </p:nvSpPr>
        <p:spPr>
          <a:xfrm>
            <a:off x="777240" y="2542032"/>
            <a:ext cx="3657600" cy="256032"/>
          </a:xfrm>
          <a:prstGeom prst="rect">
            <a:avLst/>
          </a:prstGeom>
          <a:noFill/>
          <a:ln/>
        </p:spPr>
        <p:txBody>
          <a:bodyPr wrap="square" lIns="0" tIns="0" rIns="0" bIns="0" rtlCol="0" anchor="ctr"/>
          <a:lstStyle/>
          <a:p>
            <a:pPr marL="0" indent="0">
              <a:buNone/>
            </a:pPr>
            <a:r>
              <a:rPr lang="en-US" sz="1000" b="1" dirty="0">
                <a:solidFill>
                  <a:srgbClr val="FFFFFF"/>
                </a:solidFill>
              </a:rPr>
              <a:t>Zasady Projektowania</a:t>
            </a:r>
            <a:endParaRPr lang="en-US" sz="1000" dirty="0"/>
          </a:p>
        </p:txBody>
      </p:sp>
      <p:sp>
        <p:nvSpPr>
          <p:cNvPr id="18" name="Text 16"/>
          <p:cNvSpPr/>
          <p:nvPr/>
        </p:nvSpPr>
        <p:spPr>
          <a:xfrm>
            <a:off x="777240" y="2816352"/>
            <a:ext cx="3657600" cy="292608"/>
          </a:xfrm>
          <a:prstGeom prst="rect">
            <a:avLst/>
          </a:prstGeom>
          <a:noFill/>
          <a:ln/>
        </p:spPr>
        <p:txBody>
          <a:bodyPr wrap="square" lIns="0" tIns="0" rIns="0" bIns="0" rtlCol="0" anchor="ctr"/>
          <a:lstStyle/>
          <a:p>
            <a:pPr marL="0" indent="0">
              <a:buNone/>
            </a:pPr>
            <a:r>
              <a:rPr lang="en-US" sz="850" dirty="0">
                <a:solidFill>
                  <a:srgbClr val="8899AA"/>
                </a:solidFill>
              </a:rPr>
              <a:t>Heurystyki Nielsena, prawo Hicka, Fittsa</a:t>
            </a:r>
            <a:endParaRPr lang="en-US" sz="850" dirty="0"/>
          </a:p>
        </p:txBody>
      </p:sp>
      <p:sp>
        <p:nvSpPr>
          <p:cNvPr id="19" name="Shape 17"/>
          <p:cNvSpPr/>
          <p:nvPr/>
        </p:nvSpPr>
        <p:spPr>
          <a:xfrm>
            <a:off x="320040" y="3264408"/>
            <a:ext cx="4206240" cy="685800"/>
          </a:xfrm>
          <a:prstGeom prst="rect">
            <a:avLst/>
          </a:prstGeom>
          <a:solidFill>
            <a:srgbClr val="112233"/>
          </a:solidFill>
          <a:ln w="12700">
            <a:solidFill>
              <a:srgbClr val="1A3050"/>
            </a:solidFill>
            <a:prstDash val="solid"/>
          </a:ln>
        </p:spPr>
      </p:sp>
      <p:sp>
        <p:nvSpPr>
          <p:cNvPr id="20" name="Shape 18"/>
          <p:cNvSpPr/>
          <p:nvPr/>
        </p:nvSpPr>
        <p:spPr>
          <a:xfrm>
            <a:off x="320040" y="3264408"/>
            <a:ext cx="45720" cy="685800"/>
          </a:xfrm>
          <a:prstGeom prst="rect">
            <a:avLst/>
          </a:prstGeom>
          <a:solidFill>
            <a:srgbClr val="B388FF"/>
          </a:solidFill>
          <a:ln w="12700">
            <a:solidFill>
              <a:srgbClr val="B388FF"/>
            </a:solidFill>
            <a:prstDash val="solid"/>
          </a:ln>
        </p:spPr>
      </p:sp>
      <p:sp>
        <p:nvSpPr>
          <p:cNvPr id="21" name="Text 19"/>
          <p:cNvSpPr/>
          <p:nvPr/>
        </p:nvSpPr>
        <p:spPr>
          <a:xfrm>
            <a:off x="411480" y="3300984"/>
            <a:ext cx="365760" cy="274320"/>
          </a:xfrm>
          <a:prstGeom prst="rect">
            <a:avLst/>
          </a:prstGeom>
          <a:noFill/>
          <a:ln/>
        </p:spPr>
        <p:txBody>
          <a:bodyPr wrap="square" lIns="0" tIns="0" rIns="0" bIns="0" rtlCol="0" anchor="ctr"/>
          <a:lstStyle/>
          <a:p>
            <a:pPr marL="0" indent="0">
              <a:buNone/>
            </a:pPr>
            <a:r>
              <a:rPr lang="en-US" sz="1300" b="1" dirty="0">
                <a:solidFill>
                  <a:srgbClr val="B388FF"/>
                </a:solidFill>
              </a:rPr>
              <a:t>04</a:t>
            </a:r>
            <a:endParaRPr lang="en-US" sz="1300" dirty="0"/>
          </a:p>
        </p:txBody>
      </p:sp>
      <p:sp>
        <p:nvSpPr>
          <p:cNvPr id="22" name="Text 20"/>
          <p:cNvSpPr/>
          <p:nvPr/>
        </p:nvSpPr>
        <p:spPr>
          <a:xfrm>
            <a:off x="777240" y="3310128"/>
            <a:ext cx="3657600" cy="256032"/>
          </a:xfrm>
          <a:prstGeom prst="rect">
            <a:avLst/>
          </a:prstGeom>
          <a:noFill/>
          <a:ln/>
        </p:spPr>
        <p:txBody>
          <a:bodyPr wrap="square" lIns="0" tIns="0" rIns="0" bIns="0" rtlCol="0" anchor="ctr"/>
          <a:lstStyle/>
          <a:p>
            <a:pPr marL="0" indent="0">
              <a:buNone/>
            </a:pPr>
            <a:r>
              <a:rPr lang="en-US" sz="1000" b="1" dirty="0">
                <a:solidFill>
                  <a:srgbClr val="FFFFFF"/>
                </a:solidFill>
              </a:rPr>
              <a:t>Standardy Branżowe</a:t>
            </a:r>
            <a:endParaRPr lang="en-US" sz="1000" dirty="0"/>
          </a:p>
        </p:txBody>
      </p:sp>
      <p:sp>
        <p:nvSpPr>
          <p:cNvPr id="23" name="Text 21"/>
          <p:cNvSpPr/>
          <p:nvPr/>
        </p:nvSpPr>
        <p:spPr>
          <a:xfrm>
            <a:off x="777240" y="3584448"/>
            <a:ext cx="3657600" cy="292608"/>
          </a:xfrm>
          <a:prstGeom prst="rect">
            <a:avLst/>
          </a:prstGeom>
          <a:noFill/>
          <a:ln/>
        </p:spPr>
        <p:txBody>
          <a:bodyPr wrap="square" lIns="0" tIns="0" rIns="0" bIns="0" rtlCol="0" anchor="ctr"/>
          <a:lstStyle/>
          <a:p>
            <a:pPr marL="0" indent="0">
              <a:buNone/>
            </a:pPr>
            <a:r>
              <a:rPr lang="en-US" sz="850" dirty="0">
                <a:solidFill>
                  <a:srgbClr val="8899AA"/>
                </a:solidFill>
              </a:rPr>
              <a:t>iOS HIG, Material Design, WCAG</a:t>
            </a:r>
            <a:endParaRPr lang="en-US" sz="850" dirty="0"/>
          </a:p>
        </p:txBody>
      </p:sp>
      <p:sp>
        <p:nvSpPr>
          <p:cNvPr id="24" name="Shape 22"/>
          <p:cNvSpPr/>
          <p:nvPr/>
        </p:nvSpPr>
        <p:spPr>
          <a:xfrm>
            <a:off x="320040" y="4032504"/>
            <a:ext cx="4206240" cy="685800"/>
          </a:xfrm>
          <a:prstGeom prst="rect">
            <a:avLst/>
          </a:prstGeom>
          <a:solidFill>
            <a:srgbClr val="112233"/>
          </a:solidFill>
          <a:ln w="12700">
            <a:solidFill>
              <a:srgbClr val="1A3050"/>
            </a:solidFill>
            <a:prstDash val="solid"/>
          </a:ln>
        </p:spPr>
      </p:sp>
      <p:sp>
        <p:nvSpPr>
          <p:cNvPr id="25" name="Shape 23"/>
          <p:cNvSpPr/>
          <p:nvPr/>
        </p:nvSpPr>
        <p:spPr>
          <a:xfrm>
            <a:off x="320040" y="4032504"/>
            <a:ext cx="45720" cy="685800"/>
          </a:xfrm>
          <a:prstGeom prst="rect">
            <a:avLst/>
          </a:prstGeom>
          <a:solidFill>
            <a:srgbClr val="FF9100"/>
          </a:solidFill>
          <a:ln w="12700">
            <a:solidFill>
              <a:srgbClr val="FF9100"/>
            </a:solidFill>
            <a:prstDash val="solid"/>
          </a:ln>
        </p:spPr>
      </p:sp>
      <p:sp>
        <p:nvSpPr>
          <p:cNvPr id="26" name="Text 24"/>
          <p:cNvSpPr/>
          <p:nvPr/>
        </p:nvSpPr>
        <p:spPr>
          <a:xfrm>
            <a:off x="411480" y="4069080"/>
            <a:ext cx="365760" cy="274320"/>
          </a:xfrm>
          <a:prstGeom prst="rect">
            <a:avLst/>
          </a:prstGeom>
          <a:noFill/>
          <a:ln/>
        </p:spPr>
        <p:txBody>
          <a:bodyPr wrap="square" lIns="0" tIns="0" rIns="0" bIns="0" rtlCol="0" anchor="ctr"/>
          <a:lstStyle/>
          <a:p>
            <a:pPr marL="0" indent="0">
              <a:buNone/>
            </a:pPr>
            <a:r>
              <a:rPr lang="en-US" sz="1300" b="1" dirty="0">
                <a:solidFill>
                  <a:srgbClr val="FF9100"/>
                </a:solidFill>
              </a:rPr>
              <a:t>05</a:t>
            </a:r>
            <a:endParaRPr lang="en-US" sz="1300" dirty="0"/>
          </a:p>
        </p:txBody>
      </p:sp>
      <p:sp>
        <p:nvSpPr>
          <p:cNvPr id="27" name="Text 25"/>
          <p:cNvSpPr/>
          <p:nvPr/>
        </p:nvSpPr>
        <p:spPr>
          <a:xfrm>
            <a:off x="777240" y="4078224"/>
            <a:ext cx="3657600" cy="256032"/>
          </a:xfrm>
          <a:prstGeom prst="rect">
            <a:avLst/>
          </a:prstGeom>
          <a:noFill/>
          <a:ln/>
        </p:spPr>
        <p:txBody>
          <a:bodyPr wrap="square" lIns="0" tIns="0" rIns="0" bIns="0" rtlCol="0" anchor="ctr"/>
          <a:lstStyle/>
          <a:p>
            <a:pPr marL="0" indent="0">
              <a:buNone/>
            </a:pPr>
            <a:r>
              <a:rPr lang="en-US" sz="1000" b="1" dirty="0">
                <a:solidFill>
                  <a:srgbClr val="FFFFFF"/>
                </a:solidFill>
              </a:rPr>
              <a:t>Dobór Kolorów</a:t>
            </a:r>
            <a:endParaRPr lang="en-US" sz="1000" dirty="0"/>
          </a:p>
        </p:txBody>
      </p:sp>
      <p:sp>
        <p:nvSpPr>
          <p:cNvPr id="28" name="Text 26"/>
          <p:cNvSpPr/>
          <p:nvPr/>
        </p:nvSpPr>
        <p:spPr>
          <a:xfrm>
            <a:off x="777240" y="4352544"/>
            <a:ext cx="3657600" cy="292608"/>
          </a:xfrm>
          <a:prstGeom prst="rect">
            <a:avLst/>
          </a:prstGeom>
          <a:noFill/>
          <a:ln/>
        </p:spPr>
        <p:txBody>
          <a:bodyPr wrap="square" lIns="0" tIns="0" rIns="0" bIns="0" rtlCol="0" anchor="ctr"/>
          <a:lstStyle/>
          <a:p>
            <a:pPr marL="0" indent="0">
              <a:buNone/>
            </a:pPr>
            <a:r>
              <a:rPr lang="en-US" sz="850" dirty="0">
                <a:solidFill>
                  <a:srgbClr val="8899AA"/>
                </a:solidFill>
              </a:rPr>
              <a:t>Teoria kolorów, psychologia, dark mode</a:t>
            </a:r>
            <a:endParaRPr lang="en-US" sz="850" dirty="0"/>
          </a:p>
        </p:txBody>
      </p:sp>
      <p:sp>
        <p:nvSpPr>
          <p:cNvPr id="29" name="Shape 27"/>
          <p:cNvSpPr/>
          <p:nvPr/>
        </p:nvSpPr>
        <p:spPr>
          <a:xfrm>
            <a:off x="4709160" y="960120"/>
            <a:ext cx="4206240" cy="685800"/>
          </a:xfrm>
          <a:prstGeom prst="rect">
            <a:avLst/>
          </a:prstGeom>
          <a:solidFill>
            <a:srgbClr val="112233"/>
          </a:solidFill>
          <a:ln w="12700">
            <a:solidFill>
              <a:srgbClr val="1A3050"/>
            </a:solidFill>
            <a:prstDash val="solid"/>
          </a:ln>
        </p:spPr>
      </p:sp>
      <p:sp>
        <p:nvSpPr>
          <p:cNvPr id="30" name="Shape 28"/>
          <p:cNvSpPr/>
          <p:nvPr/>
        </p:nvSpPr>
        <p:spPr>
          <a:xfrm>
            <a:off x="4709160" y="960120"/>
            <a:ext cx="45720" cy="685800"/>
          </a:xfrm>
          <a:prstGeom prst="rect">
            <a:avLst/>
          </a:prstGeom>
          <a:solidFill>
            <a:srgbClr val="FFD600"/>
          </a:solidFill>
          <a:ln w="12700">
            <a:solidFill>
              <a:srgbClr val="FFD600"/>
            </a:solidFill>
            <a:prstDash val="solid"/>
          </a:ln>
        </p:spPr>
      </p:sp>
      <p:sp>
        <p:nvSpPr>
          <p:cNvPr id="31" name="Text 29"/>
          <p:cNvSpPr/>
          <p:nvPr/>
        </p:nvSpPr>
        <p:spPr>
          <a:xfrm>
            <a:off x="4800600" y="996696"/>
            <a:ext cx="365760" cy="274320"/>
          </a:xfrm>
          <a:prstGeom prst="rect">
            <a:avLst/>
          </a:prstGeom>
          <a:noFill/>
          <a:ln/>
        </p:spPr>
        <p:txBody>
          <a:bodyPr wrap="square" lIns="0" tIns="0" rIns="0" bIns="0" rtlCol="0" anchor="ctr"/>
          <a:lstStyle/>
          <a:p>
            <a:pPr marL="0" indent="0">
              <a:buNone/>
            </a:pPr>
            <a:r>
              <a:rPr lang="en-US" sz="1300" b="1" dirty="0">
                <a:solidFill>
                  <a:srgbClr val="FFD600"/>
                </a:solidFill>
              </a:rPr>
              <a:t>06</a:t>
            </a:r>
            <a:endParaRPr lang="en-US" sz="1300" dirty="0"/>
          </a:p>
        </p:txBody>
      </p:sp>
      <p:sp>
        <p:nvSpPr>
          <p:cNvPr id="32" name="Text 30"/>
          <p:cNvSpPr/>
          <p:nvPr/>
        </p:nvSpPr>
        <p:spPr>
          <a:xfrm>
            <a:off x="5166360" y="1005840"/>
            <a:ext cx="3657600" cy="256032"/>
          </a:xfrm>
          <a:prstGeom prst="rect">
            <a:avLst/>
          </a:prstGeom>
          <a:noFill/>
          <a:ln/>
        </p:spPr>
        <p:txBody>
          <a:bodyPr wrap="square" lIns="0" tIns="0" rIns="0" bIns="0" rtlCol="0" anchor="ctr"/>
          <a:lstStyle/>
          <a:p>
            <a:pPr marL="0" indent="0">
              <a:buNone/>
            </a:pPr>
            <a:r>
              <a:rPr lang="en-US" sz="1000" b="1" dirty="0">
                <a:solidFill>
                  <a:srgbClr val="FFFFFF"/>
                </a:solidFill>
              </a:rPr>
              <a:t>Typografia Mobilna</a:t>
            </a:r>
            <a:endParaRPr lang="en-US" sz="1000" dirty="0"/>
          </a:p>
        </p:txBody>
      </p:sp>
      <p:sp>
        <p:nvSpPr>
          <p:cNvPr id="33" name="Text 31"/>
          <p:cNvSpPr/>
          <p:nvPr/>
        </p:nvSpPr>
        <p:spPr>
          <a:xfrm>
            <a:off x="5166360" y="1280160"/>
            <a:ext cx="3657600" cy="292608"/>
          </a:xfrm>
          <a:prstGeom prst="rect">
            <a:avLst/>
          </a:prstGeom>
          <a:noFill/>
          <a:ln/>
        </p:spPr>
        <p:txBody>
          <a:bodyPr wrap="square" lIns="0" tIns="0" rIns="0" bIns="0" rtlCol="0" anchor="ctr"/>
          <a:lstStyle/>
          <a:p>
            <a:pPr marL="0" indent="0">
              <a:buNone/>
            </a:pPr>
            <a:r>
              <a:rPr lang="en-US" sz="850" dirty="0">
                <a:solidFill>
                  <a:srgbClr val="8899AA"/>
                </a:solidFill>
              </a:rPr>
              <a:t>Wybór czcionek, hierarchia, dostępność</a:t>
            </a:r>
            <a:endParaRPr lang="en-US" sz="850" dirty="0"/>
          </a:p>
        </p:txBody>
      </p:sp>
      <p:sp>
        <p:nvSpPr>
          <p:cNvPr id="34" name="Shape 32"/>
          <p:cNvSpPr/>
          <p:nvPr/>
        </p:nvSpPr>
        <p:spPr>
          <a:xfrm>
            <a:off x="4709160" y="1728216"/>
            <a:ext cx="4206240" cy="685800"/>
          </a:xfrm>
          <a:prstGeom prst="rect">
            <a:avLst/>
          </a:prstGeom>
          <a:solidFill>
            <a:srgbClr val="112233"/>
          </a:solidFill>
          <a:ln w="12700">
            <a:solidFill>
              <a:srgbClr val="1A3050"/>
            </a:solidFill>
            <a:prstDash val="solid"/>
          </a:ln>
        </p:spPr>
      </p:sp>
      <p:sp>
        <p:nvSpPr>
          <p:cNvPr id="35" name="Shape 33"/>
          <p:cNvSpPr/>
          <p:nvPr/>
        </p:nvSpPr>
        <p:spPr>
          <a:xfrm>
            <a:off x="4709160" y="1728216"/>
            <a:ext cx="45720" cy="685800"/>
          </a:xfrm>
          <a:prstGeom prst="rect">
            <a:avLst/>
          </a:prstGeom>
          <a:solidFill>
            <a:srgbClr val="448AFF"/>
          </a:solidFill>
          <a:ln w="12700">
            <a:solidFill>
              <a:srgbClr val="448AFF"/>
            </a:solidFill>
            <a:prstDash val="solid"/>
          </a:ln>
        </p:spPr>
      </p:sp>
      <p:sp>
        <p:nvSpPr>
          <p:cNvPr id="36" name="Text 34"/>
          <p:cNvSpPr/>
          <p:nvPr/>
        </p:nvSpPr>
        <p:spPr>
          <a:xfrm>
            <a:off x="4800600" y="1764792"/>
            <a:ext cx="365760" cy="274320"/>
          </a:xfrm>
          <a:prstGeom prst="rect">
            <a:avLst/>
          </a:prstGeom>
          <a:noFill/>
          <a:ln/>
        </p:spPr>
        <p:txBody>
          <a:bodyPr wrap="square" lIns="0" tIns="0" rIns="0" bIns="0" rtlCol="0" anchor="ctr"/>
          <a:lstStyle/>
          <a:p>
            <a:pPr marL="0" indent="0">
              <a:buNone/>
            </a:pPr>
            <a:r>
              <a:rPr lang="en-US" sz="1300" b="1" dirty="0">
                <a:solidFill>
                  <a:srgbClr val="448AFF"/>
                </a:solidFill>
              </a:rPr>
              <a:t>07</a:t>
            </a:r>
            <a:endParaRPr lang="en-US" sz="1300" dirty="0"/>
          </a:p>
        </p:txBody>
      </p:sp>
      <p:sp>
        <p:nvSpPr>
          <p:cNvPr id="37" name="Text 35"/>
          <p:cNvSpPr/>
          <p:nvPr/>
        </p:nvSpPr>
        <p:spPr>
          <a:xfrm>
            <a:off x="5166360" y="1773936"/>
            <a:ext cx="3657600" cy="256032"/>
          </a:xfrm>
          <a:prstGeom prst="rect">
            <a:avLst/>
          </a:prstGeom>
          <a:noFill/>
          <a:ln/>
        </p:spPr>
        <p:txBody>
          <a:bodyPr wrap="square" lIns="0" tIns="0" rIns="0" bIns="0" rtlCol="0" anchor="ctr"/>
          <a:lstStyle/>
          <a:p>
            <a:pPr marL="0" indent="0">
              <a:buNone/>
            </a:pPr>
            <a:r>
              <a:rPr lang="en-US" sz="1000" b="1" dirty="0">
                <a:solidFill>
                  <a:srgbClr val="FFFFFF"/>
                </a:solidFill>
              </a:rPr>
              <a:t>Dźwięki i Haptyka</a:t>
            </a:r>
            <a:endParaRPr lang="en-US" sz="1000" dirty="0"/>
          </a:p>
        </p:txBody>
      </p:sp>
      <p:sp>
        <p:nvSpPr>
          <p:cNvPr id="38" name="Text 36"/>
          <p:cNvSpPr/>
          <p:nvPr/>
        </p:nvSpPr>
        <p:spPr>
          <a:xfrm>
            <a:off x="5166360" y="2048256"/>
            <a:ext cx="3657600" cy="292608"/>
          </a:xfrm>
          <a:prstGeom prst="rect">
            <a:avLst/>
          </a:prstGeom>
          <a:noFill/>
          <a:ln/>
        </p:spPr>
        <p:txBody>
          <a:bodyPr wrap="square" lIns="0" tIns="0" rIns="0" bIns="0" rtlCol="0" anchor="ctr"/>
          <a:lstStyle/>
          <a:p>
            <a:pPr marL="0" indent="0">
              <a:buNone/>
            </a:pPr>
            <a:r>
              <a:rPr lang="en-US" sz="850" dirty="0">
                <a:solidFill>
                  <a:srgbClr val="8899AA"/>
                </a:solidFill>
              </a:rPr>
              <a:t>Projektowanie dźwiękowe, feedback dotykowy</a:t>
            </a:r>
            <a:endParaRPr lang="en-US" sz="850" dirty="0"/>
          </a:p>
        </p:txBody>
      </p:sp>
      <p:sp>
        <p:nvSpPr>
          <p:cNvPr id="39" name="Shape 37"/>
          <p:cNvSpPr/>
          <p:nvPr/>
        </p:nvSpPr>
        <p:spPr>
          <a:xfrm>
            <a:off x="4709160" y="2496312"/>
            <a:ext cx="4206240" cy="685800"/>
          </a:xfrm>
          <a:prstGeom prst="rect">
            <a:avLst/>
          </a:prstGeom>
          <a:solidFill>
            <a:srgbClr val="112233"/>
          </a:solidFill>
          <a:ln w="12700">
            <a:solidFill>
              <a:srgbClr val="1A3050"/>
            </a:solidFill>
            <a:prstDash val="solid"/>
          </a:ln>
        </p:spPr>
      </p:sp>
      <p:sp>
        <p:nvSpPr>
          <p:cNvPr id="40" name="Shape 38"/>
          <p:cNvSpPr/>
          <p:nvPr/>
        </p:nvSpPr>
        <p:spPr>
          <a:xfrm>
            <a:off x="4709160" y="2496312"/>
            <a:ext cx="45720" cy="685800"/>
          </a:xfrm>
          <a:prstGeom prst="rect">
            <a:avLst/>
          </a:prstGeom>
          <a:solidFill>
            <a:srgbClr val="1DE9B6"/>
          </a:solidFill>
          <a:ln w="12700">
            <a:solidFill>
              <a:srgbClr val="1DE9B6"/>
            </a:solidFill>
            <a:prstDash val="solid"/>
          </a:ln>
        </p:spPr>
      </p:sp>
      <p:sp>
        <p:nvSpPr>
          <p:cNvPr id="41" name="Text 39"/>
          <p:cNvSpPr/>
          <p:nvPr/>
        </p:nvSpPr>
        <p:spPr>
          <a:xfrm>
            <a:off x="4800600" y="2532888"/>
            <a:ext cx="365760" cy="274320"/>
          </a:xfrm>
          <a:prstGeom prst="rect">
            <a:avLst/>
          </a:prstGeom>
          <a:noFill/>
          <a:ln/>
        </p:spPr>
        <p:txBody>
          <a:bodyPr wrap="square" lIns="0" tIns="0" rIns="0" bIns="0" rtlCol="0" anchor="ctr"/>
          <a:lstStyle/>
          <a:p>
            <a:pPr marL="0" indent="0">
              <a:buNone/>
            </a:pPr>
            <a:r>
              <a:rPr lang="en-US" sz="1300" b="1" dirty="0">
                <a:solidFill>
                  <a:srgbClr val="1DE9B6"/>
                </a:solidFill>
              </a:rPr>
              <a:t>08</a:t>
            </a:r>
            <a:endParaRPr lang="en-US" sz="1300" dirty="0"/>
          </a:p>
        </p:txBody>
      </p:sp>
      <p:sp>
        <p:nvSpPr>
          <p:cNvPr id="42" name="Text 40"/>
          <p:cNvSpPr/>
          <p:nvPr/>
        </p:nvSpPr>
        <p:spPr>
          <a:xfrm>
            <a:off x="5166360" y="2542032"/>
            <a:ext cx="3657600" cy="256032"/>
          </a:xfrm>
          <a:prstGeom prst="rect">
            <a:avLst/>
          </a:prstGeom>
          <a:noFill/>
          <a:ln/>
        </p:spPr>
        <p:txBody>
          <a:bodyPr wrap="square" lIns="0" tIns="0" rIns="0" bIns="0" rtlCol="0" anchor="ctr"/>
          <a:lstStyle/>
          <a:p>
            <a:pPr marL="0" indent="0">
              <a:buNone/>
            </a:pPr>
            <a:r>
              <a:rPr lang="en-US" sz="1000" b="1" dirty="0">
                <a:solidFill>
                  <a:srgbClr val="FFFFFF"/>
                </a:solidFill>
              </a:rPr>
              <a:t>Projektowanie Emocjonalne</a:t>
            </a:r>
            <a:endParaRPr lang="en-US" sz="1000" dirty="0"/>
          </a:p>
        </p:txBody>
      </p:sp>
      <p:sp>
        <p:nvSpPr>
          <p:cNvPr id="43" name="Text 41"/>
          <p:cNvSpPr/>
          <p:nvPr/>
        </p:nvSpPr>
        <p:spPr>
          <a:xfrm>
            <a:off x="5166360" y="2816352"/>
            <a:ext cx="3657600" cy="292608"/>
          </a:xfrm>
          <a:prstGeom prst="rect">
            <a:avLst/>
          </a:prstGeom>
          <a:noFill/>
          <a:ln/>
        </p:spPr>
        <p:txBody>
          <a:bodyPr wrap="square" lIns="0" tIns="0" rIns="0" bIns="0" rtlCol="0" anchor="ctr"/>
          <a:lstStyle/>
          <a:p>
            <a:pPr marL="0" indent="0">
              <a:buNone/>
            </a:pPr>
            <a:r>
              <a:rPr lang="en-US" sz="850" dirty="0">
                <a:solidFill>
                  <a:srgbClr val="8899AA"/>
                </a:solidFill>
              </a:rPr>
              <a:t>Model Normana, mikrointerakcje</a:t>
            </a:r>
            <a:endParaRPr lang="en-US" sz="850" dirty="0"/>
          </a:p>
        </p:txBody>
      </p:sp>
      <p:sp>
        <p:nvSpPr>
          <p:cNvPr id="44" name="Shape 42"/>
          <p:cNvSpPr/>
          <p:nvPr/>
        </p:nvSpPr>
        <p:spPr>
          <a:xfrm>
            <a:off x="4709160" y="3264408"/>
            <a:ext cx="4206240" cy="685800"/>
          </a:xfrm>
          <a:prstGeom prst="rect">
            <a:avLst/>
          </a:prstGeom>
          <a:solidFill>
            <a:srgbClr val="112233"/>
          </a:solidFill>
          <a:ln w="12700">
            <a:solidFill>
              <a:srgbClr val="1A3050"/>
            </a:solidFill>
            <a:prstDash val="solid"/>
          </a:ln>
        </p:spPr>
      </p:sp>
      <p:sp>
        <p:nvSpPr>
          <p:cNvPr id="45" name="Shape 43"/>
          <p:cNvSpPr/>
          <p:nvPr/>
        </p:nvSpPr>
        <p:spPr>
          <a:xfrm>
            <a:off x="4709160" y="3264408"/>
            <a:ext cx="45720" cy="685800"/>
          </a:xfrm>
          <a:prstGeom prst="rect">
            <a:avLst/>
          </a:prstGeom>
          <a:solidFill>
            <a:srgbClr val="00D4FF"/>
          </a:solidFill>
          <a:ln w="12700">
            <a:solidFill>
              <a:srgbClr val="00D4FF"/>
            </a:solidFill>
            <a:prstDash val="solid"/>
          </a:ln>
        </p:spPr>
      </p:sp>
      <p:sp>
        <p:nvSpPr>
          <p:cNvPr id="46" name="Text 44"/>
          <p:cNvSpPr/>
          <p:nvPr/>
        </p:nvSpPr>
        <p:spPr>
          <a:xfrm>
            <a:off x="4800600" y="3300984"/>
            <a:ext cx="365760" cy="274320"/>
          </a:xfrm>
          <a:prstGeom prst="rect">
            <a:avLst/>
          </a:prstGeom>
          <a:noFill/>
          <a:ln/>
        </p:spPr>
        <p:txBody>
          <a:bodyPr wrap="square" lIns="0" tIns="0" rIns="0" bIns="0" rtlCol="0" anchor="ctr"/>
          <a:lstStyle/>
          <a:p>
            <a:pPr marL="0" indent="0">
              <a:buNone/>
            </a:pPr>
            <a:r>
              <a:rPr lang="en-US" sz="1300" b="1" dirty="0">
                <a:solidFill>
                  <a:srgbClr val="00D4FF"/>
                </a:solidFill>
              </a:rPr>
              <a:t>09</a:t>
            </a:r>
            <a:endParaRPr lang="en-US" sz="1300" dirty="0"/>
          </a:p>
        </p:txBody>
      </p:sp>
      <p:sp>
        <p:nvSpPr>
          <p:cNvPr id="47" name="Text 45"/>
          <p:cNvSpPr/>
          <p:nvPr/>
        </p:nvSpPr>
        <p:spPr>
          <a:xfrm>
            <a:off x="5166360" y="3310128"/>
            <a:ext cx="3657600" cy="256032"/>
          </a:xfrm>
          <a:prstGeom prst="rect">
            <a:avLst/>
          </a:prstGeom>
          <a:noFill/>
          <a:ln/>
        </p:spPr>
        <p:txBody>
          <a:bodyPr wrap="square" lIns="0" tIns="0" rIns="0" bIns="0" rtlCol="0" anchor="ctr"/>
          <a:lstStyle/>
          <a:p>
            <a:pPr marL="0" indent="0">
              <a:buNone/>
            </a:pPr>
            <a:r>
              <a:rPr lang="en-US" sz="1000" b="1" dirty="0">
                <a:solidFill>
                  <a:srgbClr val="FFFFFF"/>
                </a:solidFill>
              </a:rPr>
              <a:t>Hierarchia Wizualna</a:t>
            </a:r>
            <a:endParaRPr lang="en-US" sz="1000" dirty="0"/>
          </a:p>
        </p:txBody>
      </p:sp>
      <p:sp>
        <p:nvSpPr>
          <p:cNvPr id="48" name="Text 46"/>
          <p:cNvSpPr/>
          <p:nvPr/>
        </p:nvSpPr>
        <p:spPr>
          <a:xfrm>
            <a:off x="5166360" y="3584448"/>
            <a:ext cx="3657600" cy="292608"/>
          </a:xfrm>
          <a:prstGeom prst="rect">
            <a:avLst/>
          </a:prstGeom>
          <a:noFill/>
          <a:ln/>
        </p:spPr>
        <p:txBody>
          <a:bodyPr wrap="square" lIns="0" tIns="0" rIns="0" bIns="0" rtlCol="0" anchor="ctr"/>
          <a:lstStyle/>
          <a:p>
            <a:pPr marL="0" indent="0">
              <a:buNone/>
            </a:pPr>
            <a:r>
              <a:rPr lang="en-US" sz="850" dirty="0">
                <a:solidFill>
                  <a:srgbClr val="8899AA"/>
                </a:solidFill>
              </a:rPr>
              <a:t>Zasady, Gestalt, kierowanie uwagą</a:t>
            </a:r>
            <a:endParaRPr lang="en-US" sz="850" dirty="0"/>
          </a:p>
        </p:txBody>
      </p:sp>
      <p:sp>
        <p:nvSpPr>
          <p:cNvPr id="49" name="Shape 47"/>
          <p:cNvSpPr/>
          <p:nvPr/>
        </p:nvSpPr>
        <p:spPr>
          <a:xfrm>
            <a:off x="4709160" y="4032504"/>
            <a:ext cx="4206240" cy="685800"/>
          </a:xfrm>
          <a:prstGeom prst="rect">
            <a:avLst/>
          </a:prstGeom>
          <a:solidFill>
            <a:srgbClr val="112233"/>
          </a:solidFill>
          <a:ln w="12700">
            <a:solidFill>
              <a:srgbClr val="1A3050"/>
            </a:solidFill>
            <a:prstDash val="solid"/>
          </a:ln>
        </p:spPr>
      </p:sp>
      <p:sp>
        <p:nvSpPr>
          <p:cNvPr id="50" name="Shape 48"/>
          <p:cNvSpPr/>
          <p:nvPr/>
        </p:nvSpPr>
        <p:spPr>
          <a:xfrm>
            <a:off x="4709160" y="4032504"/>
            <a:ext cx="45720" cy="685800"/>
          </a:xfrm>
          <a:prstGeom prst="rect">
            <a:avLst/>
          </a:prstGeom>
          <a:solidFill>
            <a:srgbClr val="FF2D78"/>
          </a:solidFill>
          <a:ln w="12700">
            <a:solidFill>
              <a:srgbClr val="FF2D78"/>
            </a:solidFill>
            <a:prstDash val="solid"/>
          </a:ln>
        </p:spPr>
      </p:sp>
      <p:sp>
        <p:nvSpPr>
          <p:cNvPr id="51" name="Text 49"/>
          <p:cNvSpPr/>
          <p:nvPr/>
        </p:nvSpPr>
        <p:spPr>
          <a:xfrm>
            <a:off x="4800600" y="4069080"/>
            <a:ext cx="365760" cy="274320"/>
          </a:xfrm>
          <a:prstGeom prst="rect">
            <a:avLst/>
          </a:prstGeom>
          <a:noFill/>
          <a:ln/>
        </p:spPr>
        <p:txBody>
          <a:bodyPr wrap="square" lIns="0" tIns="0" rIns="0" bIns="0" rtlCol="0" anchor="ctr"/>
          <a:lstStyle/>
          <a:p>
            <a:pPr marL="0" indent="0">
              <a:buNone/>
            </a:pPr>
            <a:r>
              <a:rPr lang="en-US" sz="1300" b="1" dirty="0">
                <a:solidFill>
                  <a:srgbClr val="FF2D78"/>
                </a:solidFill>
              </a:rPr>
              <a:t>10</a:t>
            </a:r>
            <a:endParaRPr lang="en-US" sz="1300" dirty="0"/>
          </a:p>
        </p:txBody>
      </p:sp>
      <p:sp>
        <p:nvSpPr>
          <p:cNvPr id="52" name="Text 50"/>
          <p:cNvSpPr/>
          <p:nvPr/>
        </p:nvSpPr>
        <p:spPr>
          <a:xfrm>
            <a:off x="5166360" y="4078224"/>
            <a:ext cx="3657600" cy="256032"/>
          </a:xfrm>
          <a:prstGeom prst="rect">
            <a:avLst/>
          </a:prstGeom>
          <a:noFill/>
          <a:ln/>
        </p:spPr>
        <p:txBody>
          <a:bodyPr wrap="square" lIns="0" tIns="0" rIns="0" bIns="0" rtlCol="0" anchor="ctr"/>
          <a:lstStyle/>
          <a:p>
            <a:pPr marL="0" indent="0">
              <a:buNone/>
            </a:pPr>
            <a:r>
              <a:rPr lang="en-US" sz="1000" b="1" dirty="0">
                <a:solidFill>
                  <a:srgbClr val="FFFFFF"/>
                </a:solidFill>
              </a:rPr>
              <a:t>Narzędzia UI/UX</a:t>
            </a:r>
            <a:endParaRPr lang="en-US" sz="1000" dirty="0"/>
          </a:p>
        </p:txBody>
      </p:sp>
      <p:sp>
        <p:nvSpPr>
          <p:cNvPr id="53" name="Text 51"/>
          <p:cNvSpPr/>
          <p:nvPr/>
        </p:nvSpPr>
        <p:spPr>
          <a:xfrm>
            <a:off x="5166360" y="4352544"/>
            <a:ext cx="3657600" cy="292608"/>
          </a:xfrm>
          <a:prstGeom prst="rect">
            <a:avLst/>
          </a:prstGeom>
          <a:noFill/>
          <a:ln/>
        </p:spPr>
        <p:txBody>
          <a:bodyPr wrap="square" lIns="0" tIns="0" rIns="0" bIns="0" rtlCol="0" anchor="ctr"/>
          <a:lstStyle/>
          <a:p>
            <a:pPr marL="0" indent="0">
              <a:buNone/>
            </a:pPr>
            <a:r>
              <a:rPr lang="en-US" sz="850" dirty="0">
                <a:solidFill>
                  <a:srgbClr val="8899AA"/>
                </a:solidFill>
              </a:rPr>
              <a:t>Figma, Sketch, proces projektowy</a:t>
            </a:r>
            <a:endParaRPr lang="en-US" sz="850" dirty="0"/>
          </a:p>
        </p:txBody>
      </p:sp>
      <p:sp>
        <p:nvSpPr>
          <p:cNvPr id="56" name="Text 54"/>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2 / </a:t>
            </a:r>
            <a:r>
              <a:rPr lang="pl-PL" sz="800" dirty="0" smtClean="0">
                <a:solidFill>
                  <a:srgbClr val="8899AA"/>
                </a:solidFill>
              </a:rPr>
              <a:t>46</a:t>
            </a:r>
            <a:endParaRPr lang="en-US" sz="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grpSp>
        <p:nvGrpSpPr>
          <p:cNvPr id="63" name="Grupa 62"/>
          <p:cNvGrpSpPr/>
          <p:nvPr/>
        </p:nvGrpSpPr>
        <p:grpSpPr>
          <a:xfrm>
            <a:off x="-2381" y="4884912"/>
            <a:ext cx="9146381" cy="260136"/>
            <a:chOff x="-2381" y="4884912"/>
            <a:chExt cx="9146381" cy="260136"/>
          </a:xfrm>
        </p:grpSpPr>
        <p:sp>
          <p:nvSpPr>
            <p:cNvPr id="61" name="Shape 52"/>
            <p:cNvSpPr/>
            <p:nvPr/>
          </p:nvSpPr>
          <p:spPr>
            <a:xfrm>
              <a:off x="0" y="4884912"/>
              <a:ext cx="9144000" cy="252000"/>
            </a:xfrm>
            <a:prstGeom prst="rect">
              <a:avLst/>
            </a:prstGeom>
            <a:solidFill>
              <a:srgbClr val="071523"/>
            </a:solidFill>
            <a:ln w="12700">
              <a:solidFill>
                <a:srgbClr val="071523"/>
              </a:solidFill>
              <a:prstDash val="solid"/>
            </a:ln>
          </p:spPr>
        </p:sp>
        <p:sp>
          <p:nvSpPr>
            <p:cNvPr id="11"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14" name="Grupa 13"/>
            <p:cNvGrpSpPr/>
            <p:nvPr/>
          </p:nvGrpSpPr>
          <p:grpSpPr>
            <a:xfrm>
              <a:off x="-2381" y="5099329"/>
              <a:ext cx="9146381" cy="45719"/>
              <a:chOff x="-2381" y="5107500"/>
              <a:chExt cx="9111093" cy="37548"/>
            </a:xfrm>
            <a:solidFill>
              <a:schemeClr val="tx1"/>
            </a:solidFill>
          </p:grpSpPr>
          <p:sp>
            <p:nvSpPr>
              <p:cNvPr id="15"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16"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17"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18" name="Shape 52"/>
              <p:cNvSpPr/>
              <p:nvPr/>
            </p:nvSpPr>
            <p:spPr>
              <a:xfrm>
                <a:off x="594000" y="5108400"/>
                <a:ext cx="198000" cy="36000"/>
              </a:xfrm>
              <a:prstGeom prst="rect">
                <a:avLst/>
              </a:prstGeom>
              <a:solidFill>
                <a:schemeClr val="tx1"/>
              </a:solidFill>
              <a:ln w="12700">
                <a:noFill/>
                <a:prstDash val="solid"/>
              </a:ln>
            </p:spPr>
          </p:sp>
          <p:sp>
            <p:nvSpPr>
              <p:cNvPr id="19" name="Shape 52"/>
              <p:cNvSpPr/>
              <p:nvPr/>
            </p:nvSpPr>
            <p:spPr>
              <a:xfrm>
                <a:off x="792000" y="5108400"/>
                <a:ext cx="198000" cy="36000"/>
              </a:xfrm>
              <a:prstGeom prst="rect">
                <a:avLst/>
              </a:prstGeom>
              <a:grpFill/>
              <a:ln w="12700">
                <a:noFill/>
                <a:prstDash val="solid"/>
              </a:ln>
            </p:spPr>
          </p:sp>
          <p:sp>
            <p:nvSpPr>
              <p:cNvPr id="20" name="Shape 52"/>
              <p:cNvSpPr/>
              <p:nvPr/>
            </p:nvSpPr>
            <p:spPr>
              <a:xfrm>
                <a:off x="990000" y="5108400"/>
                <a:ext cx="198000" cy="36000"/>
              </a:xfrm>
              <a:prstGeom prst="rect">
                <a:avLst/>
              </a:prstGeom>
              <a:grpFill/>
              <a:ln w="12700">
                <a:noFill/>
                <a:prstDash val="solid"/>
              </a:ln>
            </p:spPr>
          </p:sp>
          <p:sp>
            <p:nvSpPr>
              <p:cNvPr id="21" name="Shape 52"/>
              <p:cNvSpPr/>
              <p:nvPr/>
            </p:nvSpPr>
            <p:spPr>
              <a:xfrm>
                <a:off x="1188000" y="5108400"/>
                <a:ext cx="198000" cy="36000"/>
              </a:xfrm>
              <a:prstGeom prst="rect">
                <a:avLst/>
              </a:prstGeom>
              <a:grpFill/>
              <a:ln w="12700">
                <a:noFill/>
                <a:prstDash val="solid"/>
              </a:ln>
            </p:spPr>
          </p:sp>
          <p:sp>
            <p:nvSpPr>
              <p:cNvPr id="22" name="Shape 52"/>
              <p:cNvSpPr/>
              <p:nvPr/>
            </p:nvSpPr>
            <p:spPr>
              <a:xfrm>
                <a:off x="1386000" y="5107500"/>
                <a:ext cx="198000" cy="36000"/>
              </a:xfrm>
              <a:prstGeom prst="rect">
                <a:avLst/>
              </a:prstGeom>
              <a:grpFill/>
              <a:ln w="12700">
                <a:noFill/>
                <a:prstDash val="solid"/>
              </a:ln>
            </p:spPr>
          </p:sp>
          <p:sp>
            <p:nvSpPr>
              <p:cNvPr id="23" name="Shape 52"/>
              <p:cNvSpPr/>
              <p:nvPr/>
            </p:nvSpPr>
            <p:spPr>
              <a:xfrm>
                <a:off x="1584000" y="5107500"/>
                <a:ext cx="198000" cy="36000"/>
              </a:xfrm>
              <a:prstGeom prst="rect">
                <a:avLst/>
              </a:prstGeom>
              <a:grpFill/>
              <a:ln w="12700">
                <a:noFill/>
                <a:prstDash val="solid"/>
              </a:ln>
            </p:spPr>
          </p:sp>
          <p:sp>
            <p:nvSpPr>
              <p:cNvPr id="24" name="Shape 52"/>
              <p:cNvSpPr/>
              <p:nvPr/>
            </p:nvSpPr>
            <p:spPr>
              <a:xfrm>
                <a:off x="1782000" y="5107500"/>
                <a:ext cx="198000" cy="36000"/>
              </a:xfrm>
              <a:prstGeom prst="rect">
                <a:avLst/>
              </a:prstGeom>
              <a:grpFill/>
              <a:ln w="12700">
                <a:noFill/>
                <a:prstDash val="solid"/>
              </a:ln>
            </p:spPr>
          </p:sp>
          <p:sp>
            <p:nvSpPr>
              <p:cNvPr id="25" name="Shape 52"/>
              <p:cNvSpPr/>
              <p:nvPr/>
            </p:nvSpPr>
            <p:spPr>
              <a:xfrm>
                <a:off x="1980000" y="5107500"/>
                <a:ext cx="198000" cy="36000"/>
              </a:xfrm>
              <a:prstGeom prst="rect">
                <a:avLst/>
              </a:prstGeom>
              <a:grpFill/>
              <a:ln w="12700">
                <a:noFill/>
                <a:prstDash val="solid"/>
              </a:ln>
            </p:spPr>
          </p:sp>
          <p:sp>
            <p:nvSpPr>
              <p:cNvPr id="26" name="Shape 52"/>
              <p:cNvSpPr/>
              <p:nvPr/>
            </p:nvSpPr>
            <p:spPr>
              <a:xfrm>
                <a:off x="2178000" y="5107500"/>
                <a:ext cx="198000" cy="36000"/>
              </a:xfrm>
              <a:prstGeom prst="rect">
                <a:avLst/>
              </a:prstGeom>
              <a:grpFill/>
              <a:ln w="12700">
                <a:noFill/>
                <a:prstDash val="solid"/>
              </a:ln>
            </p:spPr>
          </p:sp>
          <p:sp>
            <p:nvSpPr>
              <p:cNvPr id="27" name="Shape 52"/>
              <p:cNvSpPr/>
              <p:nvPr/>
            </p:nvSpPr>
            <p:spPr>
              <a:xfrm>
                <a:off x="2376000" y="5107500"/>
                <a:ext cx="198000" cy="36000"/>
              </a:xfrm>
              <a:prstGeom prst="rect">
                <a:avLst/>
              </a:prstGeom>
              <a:grpFill/>
              <a:ln w="12700">
                <a:noFill/>
                <a:prstDash val="solid"/>
              </a:ln>
            </p:spPr>
          </p:sp>
          <p:sp>
            <p:nvSpPr>
              <p:cNvPr id="28" name="Shape 52"/>
              <p:cNvSpPr/>
              <p:nvPr/>
            </p:nvSpPr>
            <p:spPr>
              <a:xfrm>
                <a:off x="2574000" y="5107500"/>
                <a:ext cx="198000" cy="36000"/>
              </a:xfrm>
              <a:prstGeom prst="rect">
                <a:avLst/>
              </a:prstGeom>
              <a:grpFill/>
              <a:ln w="12700">
                <a:noFill/>
                <a:prstDash val="solid"/>
              </a:ln>
            </p:spPr>
          </p:sp>
          <p:sp>
            <p:nvSpPr>
              <p:cNvPr id="29" name="Shape 52"/>
              <p:cNvSpPr/>
              <p:nvPr/>
            </p:nvSpPr>
            <p:spPr>
              <a:xfrm>
                <a:off x="2772712" y="5108400"/>
                <a:ext cx="198000" cy="36000"/>
              </a:xfrm>
              <a:prstGeom prst="rect">
                <a:avLst/>
              </a:prstGeom>
              <a:grpFill/>
              <a:ln w="12700">
                <a:noFill/>
                <a:prstDash val="solid"/>
              </a:ln>
            </p:spPr>
          </p:sp>
          <p:sp>
            <p:nvSpPr>
              <p:cNvPr id="30" name="Shape 52"/>
              <p:cNvSpPr/>
              <p:nvPr/>
            </p:nvSpPr>
            <p:spPr>
              <a:xfrm>
                <a:off x="2970712" y="5108400"/>
                <a:ext cx="198000" cy="36000"/>
              </a:xfrm>
              <a:prstGeom prst="rect">
                <a:avLst/>
              </a:prstGeom>
              <a:grpFill/>
              <a:ln w="12700">
                <a:noFill/>
                <a:prstDash val="solid"/>
              </a:ln>
            </p:spPr>
          </p:sp>
          <p:sp>
            <p:nvSpPr>
              <p:cNvPr id="31" name="Shape 52"/>
              <p:cNvSpPr/>
              <p:nvPr/>
            </p:nvSpPr>
            <p:spPr>
              <a:xfrm>
                <a:off x="3168712" y="5108400"/>
                <a:ext cx="198000" cy="36000"/>
              </a:xfrm>
              <a:prstGeom prst="rect">
                <a:avLst/>
              </a:prstGeom>
              <a:grpFill/>
              <a:ln w="12700">
                <a:noFill/>
                <a:prstDash val="solid"/>
              </a:ln>
            </p:spPr>
          </p:sp>
          <p:sp>
            <p:nvSpPr>
              <p:cNvPr id="32" name="Shape 52"/>
              <p:cNvSpPr/>
              <p:nvPr/>
            </p:nvSpPr>
            <p:spPr>
              <a:xfrm>
                <a:off x="3366712" y="5108400"/>
                <a:ext cx="198000" cy="36000"/>
              </a:xfrm>
              <a:prstGeom prst="rect">
                <a:avLst/>
              </a:prstGeom>
              <a:grpFill/>
              <a:ln w="12700">
                <a:noFill/>
                <a:prstDash val="solid"/>
              </a:ln>
            </p:spPr>
          </p:sp>
          <p:sp>
            <p:nvSpPr>
              <p:cNvPr id="33" name="Shape 52"/>
              <p:cNvSpPr/>
              <p:nvPr/>
            </p:nvSpPr>
            <p:spPr>
              <a:xfrm>
                <a:off x="3564712" y="5108400"/>
                <a:ext cx="198000" cy="36000"/>
              </a:xfrm>
              <a:prstGeom prst="rect">
                <a:avLst/>
              </a:prstGeom>
              <a:grpFill/>
              <a:ln w="12700">
                <a:noFill/>
                <a:prstDash val="solid"/>
              </a:ln>
            </p:spPr>
          </p:sp>
          <p:sp>
            <p:nvSpPr>
              <p:cNvPr id="34" name="Shape 52"/>
              <p:cNvSpPr/>
              <p:nvPr/>
            </p:nvSpPr>
            <p:spPr>
              <a:xfrm>
                <a:off x="3762712" y="5108400"/>
                <a:ext cx="198000" cy="36000"/>
              </a:xfrm>
              <a:prstGeom prst="rect">
                <a:avLst/>
              </a:prstGeom>
              <a:grpFill/>
              <a:ln w="12700">
                <a:noFill/>
                <a:prstDash val="solid"/>
              </a:ln>
            </p:spPr>
          </p:sp>
          <p:sp>
            <p:nvSpPr>
              <p:cNvPr id="35" name="Shape 52"/>
              <p:cNvSpPr/>
              <p:nvPr/>
            </p:nvSpPr>
            <p:spPr>
              <a:xfrm>
                <a:off x="3960712" y="5107530"/>
                <a:ext cx="198000" cy="36000"/>
              </a:xfrm>
              <a:prstGeom prst="rect">
                <a:avLst/>
              </a:prstGeom>
              <a:grpFill/>
              <a:ln w="12700">
                <a:noFill/>
                <a:prstDash val="solid"/>
              </a:ln>
            </p:spPr>
          </p:sp>
          <p:sp>
            <p:nvSpPr>
              <p:cNvPr id="36" name="Shape 52"/>
              <p:cNvSpPr/>
              <p:nvPr/>
            </p:nvSpPr>
            <p:spPr>
              <a:xfrm>
                <a:off x="4158712" y="5107500"/>
                <a:ext cx="198000" cy="36000"/>
              </a:xfrm>
              <a:prstGeom prst="rect">
                <a:avLst/>
              </a:prstGeom>
              <a:grpFill/>
              <a:ln w="12700">
                <a:noFill/>
                <a:prstDash val="solid"/>
              </a:ln>
            </p:spPr>
          </p:sp>
          <p:sp>
            <p:nvSpPr>
              <p:cNvPr id="37" name="Shape 52"/>
              <p:cNvSpPr/>
              <p:nvPr/>
            </p:nvSpPr>
            <p:spPr>
              <a:xfrm>
                <a:off x="4356712" y="5107500"/>
                <a:ext cx="198000" cy="36000"/>
              </a:xfrm>
              <a:prstGeom prst="rect">
                <a:avLst/>
              </a:prstGeom>
              <a:grpFill/>
              <a:ln w="12700">
                <a:noFill/>
                <a:prstDash val="solid"/>
              </a:ln>
            </p:spPr>
          </p:sp>
          <p:sp>
            <p:nvSpPr>
              <p:cNvPr id="38" name="Shape 52"/>
              <p:cNvSpPr/>
              <p:nvPr/>
            </p:nvSpPr>
            <p:spPr>
              <a:xfrm>
                <a:off x="4554712" y="5107500"/>
                <a:ext cx="198000" cy="36000"/>
              </a:xfrm>
              <a:prstGeom prst="rect">
                <a:avLst/>
              </a:prstGeom>
              <a:grpFill/>
              <a:ln w="12700">
                <a:noFill/>
                <a:prstDash val="solid"/>
              </a:ln>
            </p:spPr>
          </p:sp>
          <p:sp>
            <p:nvSpPr>
              <p:cNvPr id="39" name="Shape 52"/>
              <p:cNvSpPr/>
              <p:nvPr/>
            </p:nvSpPr>
            <p:spPr>
              <a:xfrm>
                <a:off x="4752712" y="5107500"/>
                <a:ext cx="198000" cy="36000"/>
              </a:xfrm>
              <a:prstGeom prst="rect">
                <a:avLst/>
              </a:prstGeom>
              <a:grpFill/>
              <a:ln w="12700">
                <a:noFill/>
                <a:prstDash val="solid"/>
              </a:ln>
            </p:spPr>
          </p:sp>
          <p:sp>
            <p:nvSpPr>
              <p:cNvPr id="40" name="Shape 52"/>
              <p:cNvSpPr/>
              <p:nvPr/>
            </p:nvSpPr>
            <p:spPr>
              <a:xfrm>
                <a:off x="4950712" y="5107500"/>
                <a:ext cx="198000" cy="36000"/>
              </a:xfrm>
              <a:prstGeom prst="rect">
                <a:avLst/>
              </a:prstGeom>
              <a:grpFill/>
              <a:ln w="12700">
                <a:noFill/>
                <a:prstDash val="solid"/>
              </a:ln>
            </p:spPr>
          </p:sp>
          <p:sp>
            <p:nvSpPr>
              <p:cNvPr id="41" name="Shape 52"/>
              <p:cNvSpPr/>
              <p:nvPr/>
            </p:nvSpPr>
            <p:spPr>
              <a:xfrm>
                <a:off x="5148712" y="5107500"/>
                <a:ext cx="198000" cy="36000"/>
              </a:xfrm>
              <a:prstGeom prst="rect">
                <a:avLst/>
              </a:prstGeom>
              <a:grpFill/>
              <a:ln w="12700">
                <a:noFill/>
                <a:prstDash val="solid"/>
              </a:ln>
            </p:spPr>
          </p:sp>
          <p:sp>
            <p:nvSpPr>
              <p:cNvPr id="42" name="Shape 52"/>
              <p:cNvSpPr/>
              <p:nvPr/>
            </p:nvSpPr>
            <p:spPr>
              <a:xfrm>
                <a:off x="5346712" y="5108400"/>
                <a:ext cx="198000" cy="36000"/>
              </a:xfrm>
              <a:prstGeom prst="rect">
                <a:avLst/>
              </a:prstGeom>
              <a:grpFill/>
              <a:ln w="12700">
                <a:noFill/>
                <a:prstDash val="solid"/>
              </a:ln>
            </p:spPr>
          </p:sp>
          <p:sp>
            <p:nvSpPr>
              <p:cNvPr id="43" name="Shape 52"/>
              <p:cNvSpPr/>
              <p:nvPr/>
            </p:nvSpPr>
            <p:spPr>
              <a:xfrm>
                <a:off x="5544712" y="5108400"/>
                <a:ext cx="198000" cy="36000"/>
              </a:xfrm>
              <a:prstGeom prst="rect">
                <a:avLst/>
              </a:prstGeom>
              <a:grpFill/>
              <a:ln w="12700">
                <a:noFill/>
                <a:prstDash val="solid"/>
              </a:ln>
            </p:spPr>
          </p:sp>
          <p:sp>
            <p:nvSpPr>
              <p:cNvPr id="44" name="Shape 52"/>
              <p:cNvSpPr/>
              <p:nvPr/>
            </p:nvSpPr>
            <p:spPr>
              <a:xfrm>
                <a:off x="5742712" y="5108400"/>
                <a:ext cx="198000" cy="36000"/>
              </a:xfrm>
              <a:prstGeom prst="rect">
                <a:avLst/>
              </a:prstGeom>
              <a:grpFill/>
              <a:ln w="12700">
                <a:noFill/>
                <a:prstDash val="solid"/>
              </a:ln>
            </p:spPr>
          </p:sp>
          <p:sp>
            <p:nvSpPr>
              <p:cNvPr id="45" name="Shape 52"/>
              <p:cNvSpPr/>
              <p:nvPr/>
            </p:nvSpPr>
            <p:spPr>
              <a:xfrm>
                <a:off x="5940712" y="5108400"/>
                <a:ext cx="198000" cy="36000"/>
              </a:xfrm>
              <a:prstGeom prst="rect">
                <a:avLst/>
              </a:prstGeom>
              <a:grpFill/>
              <a:ln w="12700">
                <a:noFill/>
                <a:prstDash val="solid"/>
              </a:ln>
            </p:spPr>
          </p:sp>
          <p:sp>
            <p:nvSpPr>
              <p:cNvPr id="46" name="Shape 52"/>
              <p:cNvSpPr/>
              <p:nvPr/>
            </p:nvSpPr>
            <p:spPr>
              <a:xfrm>
                <a:off x="6138712" y="5108400"/>
                <a:ext cx="198000" cy="36000"/>
              </a:xfrm>
              <a:prstGeom prst="rect">
                <a:avLst/>
              </a:prstGeom>
              <a:grpFill/>
              <a:ln w="12700">
                <a:noFill/>
                <a:prstDash val="solid"/>
              </a:ln>
            </p:spPr>
          </p:sp>
          <p:sp>
            <p:nvSpPr>
              <p:cNvPr id="47" name="Shape 52"/>
              <p:cNvSpPr/>
              <p:nvPr/>
            </p:nvSpPr>
            <p:spPr>
              <a:xfrm>
                <a:off x="6336712" y="5108400"/>
                <a:ext cx="198000" cy="36000"/>
              </a:xfrm>
              <a:prstGeom prst="rect">
                <a:avLst/>
              </a:prstGeom>
              <a:grpFill/>
              <a:ln w="12700">
                <a:noFill/>
                <a:prstDash val="solid"/>
              </a:ln>
            </p:spPr>
          </p:sp>
          <p:sp>
            <p:nvSpPr>
              <p:cNvPr id="48" name="Shape 52"/>
              <p:cNvSpPr/>
              <p:nvPr/>
            </p:nvSpPr>
            <p:spPr>
              <a:xfrm>
                <a:off x="6534712" y="5108400"/>
                <a:ext cx="198000" cy="36000"/>
              </a:xfrm>
              <a:prstGeom prst="rect">
                <a:avLst/>
              </a:prstGeom>
              <a:grpFill/>
              <a:ln w="12700">
                <a:noFill/>
                <a:prstDash val="solid"/>
              </a:ln>
            </p:spPr>
          </p:sp>
          <p:sp>
            <p:nvSpPr>
              <p:cNvPr id="49" name="Shape 52"/>
              <p:cNvSpPr/>
              <p:nvPr/>
            </p:nvSpPr>
            <p:spPr>
              <a:xfrm>
                <a:off x="6732712" y="5108400"/>
                <a:ext cx="198000" cy="36000"/>
              </a:xfrm>
              <a:prstGeom prst="rect">
                <a:avLst/>
              </a:prstGeom>
              <a:grpFill/>
              <a:ln w="12700">
                <a:noFill/>
                <a:prstDash val="solid"/>
              </a:ln>
            </p:spPr>
          </p:sp>
          <p:sp>
            <p:nvSpPr>
              <p:cNvPr id="50" name="Shape 52"/>
              <p:cNvSpPr/>
              <p:nvPr/>
            </p:nvSpPr>
            <p:spPr>
              <a:xfrm>
                <a:off x="6930712" y="5108400"/>
                <a:ext cx="198000" cy="36000"/>
              </a:xfrm>
              <a:prstGeom prst="rect">
                <a:avLst/>
              </a:prstGeom>
              <a:grpFill/>
              <a:ln w="12700">
                <a:noFill/>
                <a:prstDash val="solid"/>
              </a:ln>
            </p:spPr>
          </p:sp>
          <p:sp>
            <p:nvSpPr>
              <p:cNvPr id="51" name="Shape 52"/>
              <p:cNvSpPr/>
              <p:nvPr/>
            </p:nvSpPr>
            <p:spPr>
              <a:xfrm>
                <a:off x="7128712" y="5108400"/>
                <a:ext cx="198000" cy="36000"/>
              </a:xfrm>
              <a:prstGeom prst="rect">
                <a:avLst/>
              </a:prstGeom>
              <a:grpFill/>
              <a:ln w="12700">
                <a:noFill/>
                <a:prstDash val="solid"/>
              </a:ln>
            </p:spPr>
          </p:sp>
          <p:sp>
            <p:nvSpPr>
              <p:cNvPr id="52" name="Shape 52"/>
              <p:cNvSpPr/>
              <p:nvPr/>
            </p:nvSpPr>
            <p:spPr>
              <a:xfrm>
                <a:off x="7326712" y="5108400"/>
                <a:ext cx="198000" cy="36000"/>
              </a:xfrm>
              <a:prstGeom prst="rect">
                <a:avLst/>
              </a:prstGeom>
              <a:grpFill/>
              <a:ln w="12700">
                <a:noFill/>
                <a:prstDash val="solid"/>
              </a:ln>
            </p:spPr>
          </p:sp>
          <p:sp>
            <p:nvSpPr>
              <p:cNvPr id="53" name="Shape 52"/>
              <p:cNvSpPr/>
              <p:nvPr/>
            </p:nvSpPr>
            <p:spPr>
              <a:xfrm>
                <a:off x="7524712" y="5108400"/>
                <a:ext cx="198000" cy="36000"/>
              </a:xfrm>
              <a:prstGeom prst="rect">
                <a:avLst/>
              </a:prstGeom>
              <a:grpFill/>
              <a:ln w="12700">
                <a:noFill/>
                <a:prstDash val="solid"/>
              </a:ln>
            </p:spPr>
          </p:sp>
          <p:sp>
            <p:nvSpPr>
              <p:cNvPr id="54" name="Shape 52"/>
              <p:cNvSpPr/>
              <p:nvPr/>
            </p:nvSpPr>
            <p:spPr>
              <a:xfrm>
                <a:off x="7722712" y="5108400"/>
                <a:ext cx="198000" cy="36000"/>
              </a:xfrm>
              <a:prstGeom prst="rect">
                <a:avLst/>
              </a:prstGeom>
              <a:grpFill/>
              <a:ln w="12700">
                <a:noFill/>
                <a:prstDash val="solid"/>
              </a:ln>
            </p:spPr>
          </p:sp>
          <p:sp>
            <p:nvSpPr>
              <p:cNvPr id="55" name="Shape 52"/>
              <p:cNvSpPr/>
              <p:nvPr/>
            </p:nvSpPr>
            <p:spPr>
              <a:xfrm>
                <a:off x="7920712" y="5109048"/>
                <a:ext cx="198000" cy="36000"/>
              </a:xfrm>
              <a:prstGeom prst="rect">
                <a:avLst/>
              </a:prstGeom>
              <a:grpFill/>
              <a:ln w="12700">
                <a:noFill/>
                <a:prstDash val="solid"/>
              </a:ln>
            </p:spPr>
          </p:sp>
          <p:sp>
            <p:nvSpPr>
              <p:cNvPr id="56" name="Shape 52"/>
              <p:cNvSpPr/>
              <p:nvPr/>
            </p:nvSpPr>
            <p:spPr>
              <a:xfrm>
                <a:off x="8118712" y="5109048"/>
                <a:ext cx="198000" cy="36000"/>
              </a:xfrm>
              <a:prstGeom prst="rect">
                <a:avLst/>
              </a:prstGeom>
              <a:grpFill/>
              <a:ln w="12700">
                <a:noFill/>
                <a:prstDash val="solid"/>
              </a:ln>
            </p:spPr>
          </p:sp>
          <p:sp>
            <p:nvSpPr>
              <p:cNvPr id="57" name="Shape 52"/>
              <p:cNvSpPr/>
              <p:nvPr/>
            </p:nvSpPr>
            <p:spPr>
              <a:xfrm>
                <a:off x="8316712" y="5109048"/>
                <a:ext cx="198000" cy="36000"/>
              </a:xfrm>
              <a:prstGeom prst="rect">
                <a:avLst/>
              </a:prstGeom>
              <a:grpFill/>
              <a:ln w="12700">
                <a:noFill/>
                <a:prstDash val="solid"/>
              </a:ln>
            </p:spPr>
          </p:sp>
          <p:sp>
            <p:nvSpPr>
              <p:cNvPr id="58" name="Shape 52"/>
              <p:cNvSpPr/>
              <p:nvPr/>
            </p:nvSpPr>
            <p:spPr>
              <a:xfrm>
                <a:off x="8514712" y="5109048"/>
                <a:ext cx="198000" cy="36000"/>
              </a:xfrm>
              <a:prstGeom prst="rect">
                <a:avLst/>
              </a:prstGeom>
              <a:grpFill/>
              <a:ln w="12700">
                <a:noFill/>
                <a:prstDash val="solid"/>
              </a:ln>
            </p:spPr>
          </p:sp>
          <p:sp>
            <p:nvSpPr>
              <p:cNvPr id="59" name="Shape 52"/>
              <p:cNvSpPr/>
              <p:nvPr/>
            </p:nvSpPr>
            <p:spPr>
              <a:xfrm>
                <a:off x="8712712" y="5109048"/>
                <a:ext cx="198000" cy="36000"/>
              </a:xfrm>
              <a:prstGeom prst="rect">
                <a:avLst/>
              </a:prstGeom>
              <a:grpFill/>
              <a:ln w="12700">
                <a:noFill/>
                <a:prstDash val="solid"/>
              </a:ln>
            </p:spPr>
          </p:sp>
          <p:sp>
            <p:nvSpPr>
              <p:cNvPr id="60" name="Shape 52"/>
              <p:cNvSpPr/>
              <p:nvPr/>
            </p:nvSpPr>
            <p:spPr>
              <a:xfrm>
                <a:off x="8910712" y="5109048"/>
                <a:ext cx="198000" cy="36000"/>
              </a:xfrm>
              <a:prstGeom prst="rect">
                <a:avLst/>
              </a:prstGeom>
              <a:grpFill/>
              <a:ln w="12700">
                <a:noFill/>
                <a:prstDash val="solid"/>
              </a:ln>
            </p:spPr>
          </p:sp>
        </p:grpSp>
      </p:grpSp>
      <p:sp>
        <p:nvSpPr>
          <p:cNvPr id="10" name="Shape 52"/>
          <p:cNvSpPr/>
          <p:nvPr/>
        </p:nvSpPr>
        <p:spPr>
          <a:xfrm>
            <a:off x="0" y="4071960"/>
            <a:ext cx="9144000" cy="252000"/>
          </a:xfrm>
          <a:prstGeom prst="rect">
            <a:avLst/>
          </a:prstGeom>
          <a:solidFill>
            <a:srgbClr val="071523"/>
          </a:solidFill>
          <a:ln w="12700">
            <a:solidFill>
              <a:srgbClr val="071523"/>
            </a:solidFill>
            <a:prstDash val="solid"/>
          </a:ln>
        </p:spPr>
      </p:sp>
      <p:sp>
        <p:nvSpPr>
          <p:cNvPr id="2" name="Shape 0"/>
          <p:cNvSpPr/>
          <p:nvPr/>
        </p:nvSpPr>
        <p:spPr>
          <a:xfrm>
            <a:off x="0" y="1645920"/>
            <a:ext cx="9144000" cy="1828800"/>
          </a:xfrm>
          <a:prstGeom prst="rect">
            <a:avLst/>
          </a:prstGeom>
          <a:solidFill>
            <a:srgbClr val="112233"/>
          </a:solidFill>
          <a:ln w="12700">
            <a:solidFill>
              <a:srgbClr val="112233"/>
            </a:solidFill>
            <a:prstDash val="solid"/>
          </a:ln>
        </p:spPr>
      </p:sp>
      <p:sp>
        <p:nvSpPr>
          <p:cNvPr id="3" name="Shape 1"/>
          <p:cNvSpPr/>
          <p:nvPr/>
        </p:nvSpPr>
        <p:spPr>
          <a:xfrm>
            <a:off x="0" y="1645920"/>
            <a:ext cx="109728" cy="1828800"/>
          </a:xfrm>
          <a:prstGeom prst="rect">
            <a:avLst/>
          </a:prstGeom>
          <a:solidFill>
            <a:srgbClr val="00D4FF"/>
          </a:solidFill>
          <a:ln w="12700">
            <a:solidFill>
              <a:srgbClr val="00D4FF"/>
            </a:solidFill>
            <a:prstDash val="solid"/>
          </a:ln>
        </p:spPr>
      </p:sp>
      <p:sp>
        <p:nvSpPr>
          <p:cNvPr id="4" name="Text 2"/>
          <p:cNvSpPr/>
          <p:nvPr/>
        </p:nvSpPr>
        <p:spPr>
          <a:xfrm>
            <a:off x="914400" y="548640"/>
            <a:ext cx="7315200" cy="822960"/>
          </a:xfrm>
          <a:prstGeom prst="rect">
            <a:avLst/>
          </a:prstGeom>
          <a:noFill/>
          <a:ln/>
        </p:spPr>
        <p:txBody>
          <a:bodyPr wrap="square" lIns="0" tIns="0" rIns="0" bIns="0" rtlCol="0" anchor="ctr"/>
          <a:lstStyle/>
          <a:p>
            <a:pPr marL="0" indent="0" algn="l">
              <a:buNone/>
            </a:pPr>
            <a:r>
              <a:rPr lang="en-US" sz="5200" b="1" dirty="0">
                <a:solidFill>
                  <a:srgbClr val="00D4FF"/>
                </a:solidFill>
              </a:rPr>
              <a:t>01</a:t>
            </a:r>
            <a:endParaRPr lang="en-US" sz="5200" dirty="0"/>
          </a:p>
        </p:txBody>
      </p:sp>
      <p:sp>
        <p:nvSpPr>
          <p:cNvPr id="5" name="Text 3"/>
          <p:cNvSpPr/>
          <p:nvPr/>
        </p:nvSpPr>
        <p:spPr>
          <a:xfrm>
            <a:off x="457200" y="1737360"/>
            <a:ext cx="8229600" cy="822960"/>
          </a:xfrm>
          <a:prstGeom prst="rect">
            <a:avLst/>
          </a:prstGeom>
          <a:noFill/>
          <a:ln/>
        </p:spPr>
        <p:txBody>
          <a:bodyPr wrap="square" lIns="0" tIns="0" rIns="0" bIns="0" rtlCol="0" anchor="ctr"/>
          <a:lstStyle/>
          <a:p>
            <a:pPr marL="0" indent="0">
              <a:buNone/>
            </a:pPr>
            <a:r>
              <a:rPr lang="en-US" sz="2800" b="1" dirty="0">
                <a:solidFill>
                  <a:srgbClr val="FFFFFF"/>
                </a:solidFill>
              </a:rPr>
              <a:t>Wprowadzenie do UI/UX</a:t>
            </a:r>
            <a:endParaRPr lang="en-US" sz="2800" dirty="0"/>
          </a:p>
        </p:txBody>
      </p:sp>
      <p:sp>
        <p:nvSpPr>
          <p:cNvPr id="6" name="Text 4"/>
          <p:cNvSpPr/>
          <p:nvPr/>
        </p:nvSpPr>
        <p:spPr>
          <a:xfrm>
            <a:off x="457200" y="2606040"/>
            <a:ext cx="8229600" cy="548640"/>
          </a:xfrm>
          <a:prstGeom prst="rect">
            <a:avLst/>
          </a:prstGeom>
          <a:noFill/>
          <a:ln/>
        </p:spPr>
        <p:txBody>
          <a:bodyPr wrap="square" lIns="0" tIns="0" rIns="0" bIns="0" rtlCol="0" anchor="t"/>
          <a:lstStyle/>
          <a:p>
            <a:pPr marL="0" indent="0">
              <a:buNone/>
            </a:pPr>
            <a:r>
              <a:rPr lang="en-US" sz="1400" dirty="0">
                <a:solidFill>
                  <a:srgbClr val="8899AA"/>
                </a:solidFill>
              </a:rPr>
              <a:t>Definicje, ewolucja i specyfika projektowania mobilnego</a:t>
            </a:r>
            <a:endParaRPr lang="en-US" sz="1400" dirty="0"/>
          </a:p>
        </p:txBody>
      </p:sp>
      <p:sp>
        <p:nvSpPr>
          <p:cNvPr id="13" name="Shape 52"/>
          <p:cNvSpPr/>
          <p:nvPr/>
        </p:nvSpPr>
        <p:spPr>
          <a:xfrm>
            <a:off x="0" y="4249980"/>
            <a:ext cx="198000" cy="72000"/>
          </a:xfrm>
          <a:prstGeom prst="rect">
            <a:avLst/>
          </a:prstGeom>
          <a:solidFill>
            <a:srgbClr val="071523"/>
          </a:solidFill>
          <a:ln w="12700">
            <a:solidFill>
              <a:srgbClr val="071523"/>
            </a:solidFill>
            <a:prstDash val="solid"/>
          </a:ln>
        </p:spPr>
      </p:sp>
      <p:sp>
        <p:nvSpPr>
          <p:cNvPr id="9" name="Text 7"/>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3 / </a:t>
            </a:r>
            <a:r>
              <a:rPr lang="pl-PL" sz="800" dirty="0" smtClean="0">
                <a:solidFill>
                  <a:srgbClr val="8899AA"/>
                </a:solidFill>
              </a:rPr>
              <a:t>46</a:t>
            </a:r>
            <a:endParaRPr lang="en-US" sz="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grpSp>
        <p:nvGrpSpPr>
          <p:cNvPr id="36" name="Grupa 35"/>
          <p:cNvGrpSpPr/>
          <p:nvPr/>
        </p:nvGrpSpPr>
        <p:grpSpPr>
          <a:xfrm>
            <a:off x="-2381" y="4884912"/>
            <a:ext cx="9146381" cy="260136"/>
            <a:chOff x="-2381" y="4884912"/>
            <a:chExt cx="9146381" cy="260136"/>
          </a:xfrm>
        </p:grpSpPr>
        <p:sp>
          <p:nvSpPr>
            <p:cNvPr id="37" name="Shape 52"/>
            <p:cNvSpPr/>
            <p:nvPr/>
          </p:nvSpPr>
          <p:spPr>
            <a:xfrm>
              <a:off x="0" y="4884912"/>
              <a:ext cx="9144000" cy="252000"/>
            </a:xfrm>
            <a:prstGeom prst="rect">
              <a:avLst/>
            </a:prstGeom>
            <a:solidFill>
              <a:srgbClr val="071523"/>
            </a:solidFill>
            <a:ln w="12700">
              <a:solidFill>
                <a:srgbClr val="071523"/>
              </a:solidFill>
              <a:prstDash val="solid"/>
            </a:ln>
          </p:spPr>
        </p:sp>
        <p:sp>
          <p:nvSpPr>
            <p:cNvPr id="38"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40" name="Grupa 39"/>
            <p:cNvGrpSpPr/>
            <p:nvPr/>
          </p:nvGrpSpPr>
          <p:grpSpPr>
            <a:xfrm>
              <a:off x="-2381" y="5099329"/>
              <a:ext cx="9146381" cy="45719"/>
              <a:chOff x="-2381" y="5107500"/>
              <a:chExt cx="9111093" cy="37548"/>
            </a:xfrm>
            <a:solidFill>
              <a:schemeClr val="tx1"/>
            </a:solidFill>
          </p:grpSpPr>
          <p:sp>
            <p:nvSpPr>
              <p:cNvPr id="41"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42"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43"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44"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45" name="Shape 52"/>
              <p:cNvSpPr/>
              <p:nvPr/>
            </p:nvSpPr>
            <p:spPr>
              <a:xfrm>
                <a:off x="792000" y="5108400"/>
                <a:ext cx="198000" cy="36000"/>
              </a:xfrm>
              <a:prstGeom prst="rect">
                <a:avLst/>
              </a:prstGeom>
              <a:solidFill>
                <a:schemeClr val="tx1"/>
              </a:solidFill>
              <a:ln w="12700">
                <a:noFill/>
                <a:prstDash val="solid"/>
              </a:ln>
            </p:spPr>
          </p:sp>
          <p:sp>
            <p:nvSpPr>
              <p:cNvPr id="46" name="Shape 52"/>
              <p:cNvSpPr/>
              <p:nvPr/>
            </p:nvSpPr>
            <p:spPr>
              <a:xfrm>
                <a:off x="990000" y="5108400"/>
                <a:ext cx="198000" cy="36000"/>
              </a:xfrm>
              <a:prstGeom prst="rect">
                <a:avLst/>
              </a:prstGeom>
              <a:grpFill/>
              <a:ln w="12700">
                <a:noFill/>
                <a:prstDash val="solid"/>
              </a:ln>
            </p:spPr>
          </p:sp>
          <p:sp>
            <p:nvSpPr>
              <p:cNvPr id="47" name="Shape 52"/>
              <p:cNvSpPr/>
              <p:nvPr/>
            </p:nvSpPr>
            <p:spPr>
              <a:xfrm>
                <a:off x="1188000" y="5108400"/>
                <a:ext cx="198000" cy="36000"/>
              </a:xfrm>
              <a:prstGeom prst="rect">
                <a:avLst/>
              </a:prstGeom>
              <a:grpFill/>
              <a:ln w="12700">
                <a:noFill/>
                <a:prstDash val="solid"/>
              </a:ln>
            </p:spPr>
          </p:sp>
          <p:sp>
            <p:nvSpPr>
              <p:cNvPr id="48" name="Shape 52"/>
              <p:cNvSpPr/>
              <p:nvPr/>
            </p:nvSpPr>
            <p:spPr>
              <a:xfrm>
                <a:off x="1386000" y="5107500"/>
                <a:ext cx="198000" cy="36000"/>
              </a:xfrm>
              <a:prstGeom prst="rect">
                <a:avLst/>
              </a:prstGeom>
              <a:grpFill/>
              <a:ln w="12700">
                <a:noFill/>
                <a:prstDash val="solid"/>
              </a:ln>
            </p:spPr>
          </p:sp>
          <p:sp>
            <p:nvSpPr>
              <p:cNvPr id="49" name="Shape 52"/>
              <p:cNvSpPr/>
              <p:nvPr/>
            </p:nvSpPr>
            <p:spPr>
              <a:xfrm>
                <a:off x="1584000" y="5107500"/>
                <a:ext cx="198000" cy="36000"/>
              </a:xfrm>
              <a:prstGeom prst="rect">
                <a:avLst/>
              </a:prstGeom>
              <a:grpFill/>
              <a:ln w="12700">
                <a:noFill/>
                <a:prstDash val="solid"/>
              </a:ln>
            </p:spPr>
          </p:sp>
          <p:sp>
            <p:nvSpPr>
              <p:cNvPr id="50" name="Shape 52"/>
              <p:cNvSpPr/>
              <p:nvPr/>
            </p:nvSpPr>
            <p:spPr>
              <a:xfrm>
                <a:off x="1782000" y="5107500"/>
                <a:ext cx="198000" cy="36000"/>
              </a:xfrm>
              <a:prstGeom prst="rect">
                <a:avLst/>
              </a:prstGeom>
              <a:grpFill/>
              <a:ln w="12700">
                <a:noFill/>
                <a:prstDash val="solid"/>
              </a:ln>
            </p:spPr>
          </p:sp>
          <p:sp>
            <p:nvSpPr>
              <p:cNvPr id="51" name="Shape 52"/>
              <p:cNvSpPr/>
              <p:nvPr/>
            </p:nvSpPr>
            <p:spPr>
              <a:xfrm>
                <a:off x="1980000" y="5107500"/>
                <a:ext cx="198000" cy="36000"/>
              </a:xfrm>
              <a:prstGeom prst="rect">
                <a:avLst/>
              </a:prstGeom>
              <a:grpFill/>
              <a:ln w="12700">
                <a:noFill/>
                <a:prstDash val="solid"/>
              </a:ln>
            </p:spPr>
          </p:sp>
          <p:sp>
            <p:nvSpPr>
              <p:cNvPr id="52" name="Shape 52"/>
              <p:cNvSpPr/>
              <p:nvPr/>
            </p:nvSpPr>
            <p:spPr>
              <a:xfrm>
                <a:off x="2178000" y="5107500"/>
                <a:ext cx="198000" cy="36000"/>
              </a:xfrm>
              <a:prstGeom prst="rect">
                <a:avLst/>
              </a:prstGeom>
              <a:grpFill/>
              <a:ln w="12700">
                <a:noFill/>
                <a:prstDash val="solid"/>
              </a:ln>
            </p:spPr>
          </p:sp>
          <p:sp>
            <p:nvSpPr>
              <p:cNvPr id="53" name="Shape 52"/>
              <p:cNvSpPr/>
              <p:nvPr/>
            </p:nvSpPr>
            <p:spPr>
              <a:xfrm>
                <a:off x="2376000" y="5107500"/>
                <a:ext cx="198000" cy="36000"/>
              </a:xfrm>
              <a:prstGeom prst="rect">
                <a:avLst/>
              </a:prstGeom>
              <a:grpFill/>
              <a:ln w="12700">
                <a:noFill/>
                <a:prstDash val="solid"/>
              </a:ln>
            </p:spPr>
          </p:sp>
          <p:sp>
            <p:nvSpPr>
              <p:cNvPr id="54" name="Shape 52"/>
              <p:cNvSpPr/>
              <p:nvPr/>
            </p:nvSpPr>
            <p:spPr>
              <a:xfrm>
                <a:off x="2574000" y="5107500"/>
                <a:ext cx="198000" cy="36000"/>
              </a:xfrm>
              <a:prstGeom prst="rect">
                <a:avLst/>
              </a:prstGeom>
              <a:grpFill/>
              <a:ln w="12700">
                <a:noFill/>
                <a:prstDash val="solid"/>
              </a:ln>
            </p:spPr>
          </p:sp>
          <p:sp>
            <p:nvSpPr>
              <p:cNvPr id="55" name="Shape 52"/>
              <p:cNvSpPr/>
              <p:nvPr/>
            </p:nvSpPr>
            <p:spPr>
              <a:xfrm>
                <a:off x="2772712" y="5108400"/>
                <a:ext cx="198000" cy="36000"/>
              </a:xfrm>
              <a:prstGeom prst="rect">
                <a:avLst/>
              </a:prstGeom>
              <a:grpFill/>
              <a:ln w="12700">
                <a:noFill/>
                <a:prstDash val="solid"/>
              </a:ln>
            </p:spPr>
          </p:sp>
          <p:sp>
            <p:nvSpPr>
              <p:cNvPr id="56" name="Shape 52"/>
              <p:cNvSpPr/>
              <p:nvPr/>
            </p:nvSpPr>
            <p:spPr>
              <a:xfrm>
                <a:off x="2970712" y="5108400"/>
                <a:ext cx="198000" cy="36000"/>
              </a:xfrm>
              <a:prstGeom prst="rect">
                <a:avLst/>
              </a:prstGeom>
              <a:grpFill/>
              <a:ln w="12700">
                <a:noFill/>
                <a:prstDash val="solid"/>
              </a:ln>
            </p:spPr>
          </p:sp>
          <p:sp>
            <p:nvSpPr>
              <p:cNvPr id="57" name="Shape 52"/>
              <p:cNvSpPr/>
              <p:nvPr/>
            </p:nvSpPr>
            <p:spPr>
              <a:xfrm>
                <a:off x="3168712" y="5108400"/>
                <a:ext cx="198000" cy="36000"/>
              </a:xfrm>
              <a:prstGeom prst="rect">
                <a:avLst/>
              </a:prstGeom>
              <a:grpFill/>
              <a:ln w="12700">
                <a:noFill/>
                <a:prstDash val="solid"/>
              </a:ln>
            </p:spPr>
          </p:sp>
          <p:sp>
            <p:nvSpPr>
              <p:cNvPr id="58" name="Shape 52"/>
              <p:cNvSpPr/>
              <p:nvPr/>
            </p:nvSpPr>
            <p:spPr>
              <a:xfrm>
                <a:off x="3366712" y="5108400"/>
                <a:ext cx="198000" cy="36000"/>
              </a:xfrm>
              <a:prstGeom prst="rect">
                <a:avLst/>
              </a:prstGeom>
              <a:grpFill/>
              <a:ln w="12700">
                <a:noFill/>
                <a:prstDash val="solid"/>
              </a:ln>
            </p:spPr>
          </p:sp>
          <p:sp>
            <p:nvSpPr>
              <p:cNvPr id="59" name="Shape 52"/>
              <p:cNvSpPr/>
              <p:nvPr/>
            </p:nvSpPr>
            <p:spPr>
              <a:xfrm>
                <a:off x="3564712" y="5108400"/>
                <a:ext cx="198000" cy="36000"/>
              </a:xfrm>
              <a:prstGeom prst="rect">
                <a:avLst/>
              </a:prstGeom>
              <a:grpFill/>
              <a:ln w="12700">
                <a:noFill/>
                <a:prstDash val="solid"/>
              </a:ln>
            </p:spPr>
          </p:sp>
          <p:sp>
            <p:nvSpPr>
              <p:cNvPr id="60" name="Shape 52"/>
              <p:cNvSpPr/>
              <p:nvPr/>
            </p:nvSpPr>
            <p:spPr>
              <a:xfrm>
                <a:off x="3762712" y="5108400"/>
                <a:ext cx="198000" cy="36000"/>
              </a:xfrm>
              <a:prstGeom prst="rect">
                <a:avLst/>
              </a:prstGeom>
              <a:grpFill/>
              <a:ln w="12700">
                <a:noFill/>
                <a:prstDash val="solid"/>
              </a:ln>
            </p:spPr>
          </p:sp>
          <p:sp>
            <p:nvSpPr>
              <p:cNvPr id="61" name="Shape 52"/>
              <p:cNvSpPr/>
              <p:nvPr/>
            </p:nvSpPr>
            <p:spPr>
              <a:xfrm>
                <a:off x="3960712" y="5107530"/>
                <a:ext cx="198000" cy="36000"/>
              </a:xfrm>
              <a:prstGeom prst="rect">
                <a:avLst/>
              </a:prstGeom>
              <a:grpFill/>
              <a:ln w="12700">
                <a:noFill/>
                <a:prstDash val="solid"/>
              </a:ln>
            </p:spPr>
          </p:sp>
          <p:sp>
            <p:nvSpPr>
              <p:cNvPr id="62" name="Shape 52"/>
              <p:cNvSpPr/>
              <p:nvPr/>
            </p:nvSpPr>
            <p:spPr>
              <a:xfrm>
                <a:off x="4158712" y="5107500"/>
                <a:ext cx="198000" cy="36000"/>
              </a:xfrm>
              <a:prstGeom prst="rect">
                <a:avLst/>
              </a:prstGeom>
              <a:grpFill/>
              <a:ln w="12700">
                <a:noFill/>
                <a:prstDash val="solid"/>
              </a:ln>
            </p:spPr>
          </p:sp>
          <p:sp>
            <p:nvSpPr>
              <p:cNvPr id="63" name="Shape 52"/>
              <p:cNvSpPr/>
              <p:nvPr/>
            </p:nvSpPr>
            <p:spPr>
              <a:xfrm>
                <a:off x="4356712" y="5107500"/>
                <a:ext cx="198000" cy="36000"/>
              </a:xfrm>
              <a:prstGeom prst="rect">
                <a:avLst/>
              </a:prstGeom>
              <a:grpFill/>
              <a:ln w="12700">
                <a:noFill/>
                <a:prstDash val="solid"/>
              </a:ln>
            </p:spPr>
          </p:sp>
          <p:sp>
            <p:nvSpPr>
              <p:cNvPr id="64" name="Shape 52"/>
              <p:cNvSpPr/>
              <p:nvPr/>
            </p:nvSpPr>
            <p:spPr>
              <a:xfrm>
                <a:off x="4554712" y="5107500"/>
                <a:ext cx="198000" cy="36000"/>
              </a:xfrm>
              <a:prstGeom prst="rect">
                <a:avLst/>
              </a:prstGeom>
              <a:grpFill/>
              <a:ln w="12700">
                <a:noFill/>
                <a:prstDash val="solid"/>
              </a:ln>
            </p:spPr>
          </p:sp>
          <p:sp>
            <p:nvSpPr>
              <p:cNvPr id="65" name="Shape 52"/>
              <p:cNvSpPr/>
              <p:nvPr/>
            </p:nvSpPr>
            <p:spPr>
              <a:xfrm>
                <a:off x="4752712" y="5107500"/>
                <a:ext cx="198000" cy="36000"/>
              </a:xfrm>
              <a:prstGeom prst="rect">
                <a:avLst/>
              </a:prstGeom>
              <a:grpFill/>
              <a:ln w="12700">
                <a:noFill/>
                <a:prstDash val="solid"/>
              </a:ln>
            </p:spPr>
          </p:sp>
          <p:sp>
            <p:nvSpPr>
              <p:cNvPr id="66" name="Shape 52"/>
              <p:cNvSpPr/>
              <p:nvPr/>
            </p:nvSpPr>
            <p:spPr>
              <a:xfrm>
                <a:off x="4950712" y="5107500"/>
                <a:ext cx="198000" cy="36000"/>
              </a:xfrm>
              <a:prstGeom prst="rect">
                <a:avLst/>
              </a:prstGeom>
              <a:grpFill/>
              <a:ln w="12700">
                <a:noFill/>
                <a:prstDash val="solid"/>
              </a:ln>
            </p:spPr>
          </p:sp>
          <p:sp>
            <p:nvSpPr>
              <p:cNvPr id="67" name="Shape 52"/>
              <p:cNvSpPr/>
              <p:nvPr/>
            </p:nvSpPr>
            <p:spPr>
              <a:xfrm>
                <a:off x="5148712" y="5107500"/>
                <a:ext cx="198000" cy="36000"/>
              </a:xfrm>
              <a:prstGeom prst="rect">
                <a:avLst/>
              </a:prstGeom>
              <a:grpFill/>
              <a:ln w="12700">
                <a:noFill/>
                <a:prstDash val="solid"/>
              </a:ln>
            </p:spPr>
          </p:sp>
          <p:sp>
            <p:nvSpPr>
              <p:cNvPr id="68" name="Shape 52"/>
              <p:cNvSpPr/>
              <p:nvPr/>
            </p:nvSpPr>
            <p:spPr>
              <a:xfrm>
                <a:off x="5346712" y="5108400"/>
                <a:ext cx="198000" cy="36000"/>
              </a:xfrm>
              <a:prstGeom prst="rect">
                <a:avLst/>
              </a:prstGeom>
              <a:grpFill/>
              <a:ln w="12700">
                <a:noFill/>
                <a:prstDash val="solid"/>
              </a:ln>
            </p:spPr>
          </p:sp>
          <p:sp>
            <p:nvSpPr>
              <p:cNvPr id="69" name="Shape 52"/>
              <p:cNvSpPr/>
              <p:nvPr/>
            </p:nvSpPr>
            <p:spPr>
              <a:xfrm>
                <a:off x="5544712" y="5108400"/>
                <a:ext cx="198000" cy="36000"/>
              </a:xfrm>
              <a:prstGeom prst="rect">
                <a:avLst/>
              </a:prstGeom>
              <a:grpFill/>
              <a:ln w="12700">
                <a:noFill/>
                <a:prstDash val="solid"/>
              </a:ln>
            </p:spPr>
          </p:sp>
          <p:sp>
            <p:nvSpPr>
              <p:cNvPr id="70" name="Shape 52"/>
              <p:cNvSpPr/>
              <p:nvPr/>
            </p:nvSpPr>
            <p:spPr>
              <a:xfrm>
                <a:off x="5742712" y="5108400"/>
                <a:ext cx="198000" cy="36000"/>
              </a:xfrm>
              <a:prstGeom prst="rect">
                <a:avLst/>
              </a:prstGeom>
              <a:grpFill/>
              <a:ln w="12700">
                <a:noFill/>
                <a:prstDash val="solid"/>
              </a:ln>
            </p:spPr>
          </p:sp>
          <p:sp>
            <p:nvSpPr>
              <p:cNvPr id="71" name="Shape 52"/>
              <p:cNvSpPr/>
              <p:nvPr/>
            </p:nvSpPr>
            <p:spPr>
              <a:xfrm>
                <a:off x="5940712" y="5108400"/>
                <a:ext cx="198000" cy="36000"/>
              </a:xfrm>
              <a:prstGeom prst="rect">
                <a:avLst/>
              </a:prstGeom>
              <a:grpFill/>
              <a:ln w="12700">
                <a:noFill/>
                <a:prstDash val="solid"/>
              </a:ln>
            </p:spPr>
          </p:sp>
          <p:sp>
            <p:nvSpPr>
              <p:cNvPr id="72" name="Shape 52"/>
              <p:cNvSpPr/>
              <p:nvPr/>
            </p:nvSpPr>
            <p:spPr>
              <a:xfrm>
                <a:off x="6138712" y="5108400"/>
                <a:ext cx="198000" cy="36000"/>
              </a:xfrm>
              <a:prstGeom prst="rect">
                <a:avLst/>
              </a:prstGeom>
              <a:grpFill/>
              <a:ln w="12700">
                <a:noFill/>
                <a:prstDash val="solid"/>
              </a:ln>
            </p:spPr>
          </p:sp>
          <p:sp>
            <p:nvSpPr>
              <p:cNvPr id="73" name="Shape 52"/>
              <p:cNvSpPr/>
              <p:nvPr/>
            </p:nvSpPr>
            <p:spPr>
              <a:xfrm>
                <a:off x="6336712" y="5108400"/>
                <a:ext cx="198000" cy="36000"/>
              </a:xfrm>
              <a:prstGeom prst="rect">
                <a:avLst/>
              </a:prstGeom>
              <a:grpFill/>
              <a:ln w="12700">
                <a:noFill/>
                <a:prstDash val="solid"/>
              </a:ln>
            </p:spPr>
          </p:sp>
          <p:sp>
            <p:nvSpPr>
              <p:cNvPr id="74" name="Shape 52"/>
              <p:cNvSpPr/>
              <p:nvPr/>
            </p:nvSpPr>
            <p:spPr>
              <a:xfrm>
                <a:off x="6534712" y="5108400"/>
                <a:ext cx="198000" cy="36000"/>
              </a:xfrm>
              <a:prstGeom prst="rect">
                <a:avLst/>
              </a:prstGeom>
              <a:grpFill/>
              <a:ln w="12700">
                <a:noFill/>
                <a:prstDash val="solid"/>
              </a:ln>
            </p:spPr>
          </p:sp>
          <p:sp>
            <p:nvSpPr>
              <p:cNvPr id="75" name="Shape 52"/>
              <p:cNvSpPr/>
              <p:nvPr/>
            </p:nvSpPr>
            <p:spPr>
              <a:xfrm>
                <a:off x="6732712" y="5108400"/>
                <a:ext cx="198000" cy="36000"/>
              </a:xfrm>
              <a:prstGeom prst="rect">
                <a:avLst/>
              </a:prstGeom>
              <a:grpFill/>
              <a:ln w="12700">
                <a:noFill/>
                <a:prstDash val="solid"/>
              </a:ln>
            </p:spPr>
          </p:sp>
          <p:sp>
            <p:nvSpPr>
              <p:cNvPr id="76" name="Shape 52"/>
              <p:cNvSpPr/>
              <p:nvPr/>
            </p:nvSpPr>
            <p:spPr>
              <a:xfrm>
                <a:off x="6930712" y="5108400"/>
                <a:ext cx="198000" cy="36000"/>
              </a:xfrm>
              <a:prstGeom prst="rect">
                <a:avLst/>
              </a:prstGeom>
              <a:grpFill/>
              <a:ln w="12700">
                <a:noFill/>
                <a:prstDash val="solid"/>
              </a:ln>
            </p:spPr>
          </p:sp>
          <p:sp>
            <p:nvSpPr>
              <p:cNvPr id="77" name="Shape 52"/>
              <p:cNvSpPr/>
              <p:nvPr/>
            </p:nvSpPr>
            <p:spPr>
              <a:xfrm>
                <a:off x="7128712" y="5108400"/>
                <a:ext cx="198000" cy="36000"/>
              </a:xfrm>
              <a:prstGeom prst="rect">
                <a:avLst/>
              </a:prstGeom>
              <a:grpFill/>
              <a:ln w="12700">
                <a:noFill/>
                <a:prstDash val="solid"/>
              </a:ln>
            </p:spPr>
          </p:sp>
          <p:sp>
            <p:nvSpPr>
              <p:cNvPr id="78" name="Shape 52"/>
              <p:cNvSpPr/>
              <p:nvPr/>
            </p:nvSpPr>
            <p:spPr>
              <a:xfrm>
                <a:off x="7326712" y="5108400"/>
                <a:ext cx="198000" cy="36000"/>
              </a:xfrm>
              <a:prstGeom prst="rect">
                <a:avLst/>
              </a:prstGeom>
              <a:grpFill/>
              <a:ln w="12700">
                <a:noFill/>
                <a:prstDash val="solid"/>
              </a:ln>
            </p:spPr>
          </p:sp>
          <p:sp>
            <p:nvSpPr>
              <p:cNvPr id="79" name="Shape 52"/>
              <p:cNvSpPr/>
              <p:nvPr/>
            </p:nvSpPr>
            <p:spPr>
              <a:xfrm>
                <a:off x="7524712" y="5108400"/>
                <a:ext cx="198000" cy="36000"/>
              </a:xfrm>
              <a:prstGeom prst="rect">
                <a:avLst/>
              </a:prstGeom>
              <a:grpFill/>
              <a:ln w="12700">
                <a:noFill/>
                <a:prstDash val="solid"/>
              </a:ln>
            </p:spPr>
          </p:sp>
          <p:sp>
            <p:nvSpPr>
              <p:cNvPr id="80" name="Shape 52"/>
              <p:cNvSpPr/>
              <p:nvPr/>
            </p:nvSpPr>
            <p:spPr>
              <a:xfrm>
                <a:off x="7722712" y="5108400"/>
                <a:ext cx="198000" cy="36000"/>
              </a:xfrm>
              <a:prstGeom prst="rect">
                <a:avLst/>
              </a:prstGeom>
              <a:grpFill/>
              <a:ln w="12700">
                <a:noFill/>
                <a:prstDash val="solid"/>
              </a:ln>
            </p:spPr>
          </p:sp>
          <p:sp>
            <p:nvSpPr>
              <p:cNvPr id="81" name="Shape 52"/>
              <p:cNvSpPr/>
              <p:nvPr/>
            </p:nvSpPr>
            <p:spPr>
              <a:xfrm>
                <a:off x="7920712" y="5109048"/>
                <a:ext cx="198000" cy="36000"/>
              </a:xfrm>
              <a:prstGeom prst="rect">
                <a:avLst/>
              </a:prstGeom>
              <a:grpFill/>
              <a:ln w="12700">
                <a:noFill/>
                <a:prstDash val="solid"/>
              </a:ln>
            </p:spPr>
          </p:sp>
          <p:sp>
            <p:nvSpPr>
              <p:cNvPr id="82" name="Shape 52"/>
              <p:cNvSpPr/>
              <p:nvPr/>
            </p:nvSpPr>
            <p:spPr>
              <a:xfrm>
                <a:off x="8118712" y="5109048"/>
                <a:ext cx="198000" cy="36000"/>
              </a:xfrm>
              <a:prstGeom prst="rect">
                <a:avLst/>
              </a:prstGeom>
              <a:grpFill/>
              <a:ln w="12700">
                <a:noFill/>
                <a:prstDash val="solid"/>
              </a:ln>
            </p:spPr>
          </p:sp>
          <p:sp>
            <p:nvSpPr>
              <p:cNvPr id="83" name="Shape 52"/>
              <p:cNvSpPr/>
              <p:nvPr/>
            </p:nvSpPr>
            <p:spPr>
              <a:xfrm>
                <a:off x="8316712" y="5109048"/>
                <a:ext cx="198000" cy="36000"/>
              </a:xfrm>
              <a:prstGeom prst="rect">
                <a:avLst/>
              </a:prstGeom>
              <a:grpFill/>
              <a:ln w="12700">
                <a:noFill/>
                <a:prstDash val="solid"/>
              </a:ln>
            </p:spPr>
          </p:sp>
          <p:sp>
            <p:nvSpPr>
              <p:cNvPr id="84" name="Shape 52"/>
              <p:cNvSpPr/>
              <p:nvPr/>
            </p:nvSpPr>
            <p:spPr>
              <a:xfrm>
                <a:off x="8514712" y="5109048"/>
                <a:ext cx="198000" cy="36000"/>
              </a:xfrm>
              <a:prstGeom prst="rect">
                <a:avLst/>
              </a:prstGeom>
              <a:grpFill/>
              <a:ln w="12700">
                <a:noFill/>
                <a:prstDash val="solid"/>
              </a:ln>
            </p:spPr>
          </p:sp>
          <p:sp>
            <p:nvSpPr>
              <p:cNvPr id="85" name="Shape 52"/>
              <p:cNvSpPr/>
              <p:nvPr/>
            </p:nvSpPr>
            <p:spPr>
              <a:xfrm>
                <a:off x="8712712" y="5109048"/>
                <a:ext cx="198000" cy="36000"/>
              </a:xfrm>
              <a:prstGeom prst="rect">
                <a:avLst/>
              </a:prstGeom>
              <a:grpFill/>
              <a:ln w="12700">
                <a:noFill/>
                <a:prstDash val="solid"/>
              </a:ln>
            </p:spPr>
          </p:sp>
          <p:sp>
            <p:nvSpPr>
              <p:cNvPr id="86"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00D4FF"/>
          </a:solidFill>
          <a:ln w="12700">
            <a:solidFill>
              <a:srgbClr val="00D4FF"/>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Definicja UI </a:t>
            </a:r>
            <a:r>
              <a:rPr lang="en-US" sz="2200" b="1" dirty="0" err="1">
                <a:solidFill>
                  <a:srgbClr val="FFFFFF"/>
                </a:solidFill>
              </a:rPr>
              <a:t>i</a:t>
            </a:r>
            <a:r>
              <a:rPr lang="en-US" sz="2200" b="1" dirty="0">
                <a:solidFill>
                  <a:srgbClr val="FFFFFF"/>
                </a:solidFill>
              </a:rPr>
              <a:t> </a:t>
            </a:r>
            <a:r>
              <a:rPr lang="en-US" sz="2200" b="1" dirty="0" smtClean="0">
                <a:solidFill>
                  <a:srgbClr val="FFFFFF"/>
                </a:solidFill>
              </a:rPr>
              <a:t>UX</a:t>
            </a:r>
            <a:r>
              <a:rPr lang="pl-PL" sz="2200" b="1" dirty="0" smtClean="0">
                <a:solidFill>
                  <a:srgbClr val="FFFFFF"/>
                </a:solidFill>
              </a:rPr>
              <a:t>:</a:t>
            </a:r>
            <a:r>
              <a:rPr lang="en-US" sz="2200" b="1" dirty="0" smtClean="0">
                <a:solidFill>
                  <a:srgbClr val="FFFFFF"/>
                </a:solidFill>
              </a:rPr>
              <a:t> </a:t>
            </a:r>
            <a:r>
              <a:rPr lang="pl-PL" sz="2200" b="1" dirty="0" smtClean="0">
                <a:solidFill>
                  <a:srgbClr val="FFFFFF"/>
                </a:solidFill>
              </a:rPr>
              <a:t>r</a:t>
            </a:r>
            <a:r>
              <a:rPr lang="en-US" sz="2200" b="1" dirty="0" err="1" smtClean="0">
                <a:solidFill>
                  <a:srgbClr val="FFFFFF"/>
                </a:solidFill>
              </a:rPr>
              <a:t>óżnice</a:t>
            </a:r>
            <a:r>
              <a:rPr lang="en-US" sz="2200" b="1" dirty="0" smtClean="0">
                <a:solidFill>
                  <a:srgbClr val="FFFFFF"/>
                </a:solidFill>
              </a:rPr>
              <a:t> </a:t>
            </a:r>
            <a:r>
              <a:rPr lang="en-US" sz="2200" b="1" dirty="0" err="1">
                <a:solidFill>
                  <a:srgbClr val="FFFFFF"/>
                </a:solidFill>
              </a:rPr>
              <a:t>i</a:t>
            </a:r>
            <a:r>
              <a:rPr lang="en-US" sz="2200" b="1" dirty="0">
                <a:solidFill>
                  <a:srgbClr val="FFFFFF"/>
                </a:solidFill>
              </a:rPr>
              <a:t> </a:t>
            </a:r>
            <a:r>
              <a:rPr lang="pl-PL" sz="2200" b="1" dirty="0" smtClean="0">
                <a:solidFill>
                  <a:srgbClr val="FFFFFF"/>
                </a:solidFill>
              </a:rPr>
              <a:t>z</a:t>
            </a:r>
            <a:r>
              <a:rPr lang="en-US" sz="2200" b="1" dirty="0" err="1" smtClean="0">
                <a:solidFill>
                  <a:srgbClr val="FFFFFF"/>
                </a:solidFill>
              </a:rPr>
              <a:t>ależności</a:t>
            </a:r>
            <a:endParaRPr lang="en-US" sz="2200" dirty="0"/>
          </a:p>
        </p:txBody>
      </p:sp>
      <p:sp>
        <p:nvSpPr>
          <p:cNvPr id="4" name="Shape 2"/>
          <p:cNvSpPr/>
          <p:nvPr/>
        </p:nvSpPr>
        <p:spPr>
          <a:xfrm>
            <a:off x="320040" y="914400"/>
            <a:ext cx="4069080" cy="3246120"/>
          </a:xfrm>
          <a:prstGeom prst="rect">
            <a:avLst/>
          </a:prstGeom>
          <a:solidFill>
            <a:srgbClr val="112233"/>
          </a:solidFill>
          <a:ln w="12700">
            <a:solidFill>
              <a:srgbClr val="1A3050"/>
            </a:solidFill>
            <a:prstDash val="solid"/>
          </a:ln>
        </p:spPr>
      </p:sp>
      <p:sp>
        <p:nvSpPr>
          <p:cNvPr id="5" name="Shape 3"/>
          <p:cNvSpPr/>
          <p:nvPr/>
        </p:nvSpPr>
        <p:spPr>
          <a:xfrm>
            <a:off x="320040" y="914400"/>
            <a:ext cx="45720" cy="3246120"/>
          </a:xfrm>
          <a:prstGeom prst="rect">
            <a:avLst/>
          </a:prstGeom>
          <a:solidFill>
            <a:srgbClr val="00D4FF"/>
          </a:solidFill>
          <a:ln w="12700">
            <a:solidFill>
              <a:srgbClr val="00D4FF"/>
            </a:solidFill>
            <a:prstDash val="solid"/>
          </a:ln>
        </p:spPr>
      </p:sp>
      <p:sp>
        <p:nvSpPr>
          <p:cNvPr id="6" name="Text 4"/>
          <p:cNvSpPr/>
          <p:nvPr/>
        </p:nvSpPr>
        <p:spPr>
          <a:xfrm>
            <a:off x="457200" y="987552"/>
            <a:ext cx="3794760" cy="292608"/>
          </a:xfrm>
          <a:prstGeom prst="rect">
            <a:avLst/>
          </a:prstGeom>
          <a:noFill/>
          <a:ln/>
        </p:spPr>
        <p:txBody>
          <a:bodyPr wrap="square" lIns="0" tIns="0" rIns="0" bIns="0" rtlCol="0" anchor="ctr"/>
          <a:lstStyle/>
          <a:p>
            <a:pPr marL="0" indent="0">
              <a:buNone/>
            </a:pPr>
            <a:r>
              <a:rPr lang="en-US" sz="1300" b="1" dirty="0">
                <a:solidFill>
                  <a:srgbClr val="00D4FF"/>
                </a:solidFill>
              </a:rPr>
              <a:t>UI — User Interface</a:t>
            </a:r>
            <a:endParaRPr lang="en-US" sz="1300" dirty="0"/>
          </a:p>
        </p:txBody>
      </p:sp>
      <p:sp>
        <p:nvSpPr>
          <p:cNvPr id="7" name="Text 5"/>
          <p:cNvSpPr/>
          <p:nvPr/>
        </p:nvSpPr>
        <p:spPr>
          <a:xfrm>
            <a:off x="457200" y="1298448"/>
            <a:ext cx="3794760" cy="228600"/>
          </a:xfrm>
          <a:prstGeom prst="rect">
            <a:avLst/>
          </a:prstGeom>
          <a:noFill/>
          <a:ln/>
        </p:spPr>
        <p:txBody>
          <a:bodyPr wrap="square" lIns="0" tIns="0" rIns="0" bIns="0" rtlCol="0" anchor="ctr"/>
          <a:lstStyle/>
          <a:p>
            <a:pPr marL="0" indent="0">
              <a:buNone/>
            </a:pPr>
            <a:r>
              <a:rPr lang="en-US" sz="950" dirty="0">
                <a:solidFill>
                  <a:srgbClr val="8899AA"/>
                </a:solidFill>
              </a:rPr>
              <a:t>warstwa wizualna i interaktywna aplikacji</a:t>
            </a:r>
            <a:endParaRPr lang="en-US" sz="950" dirty="0"/>
          </a:p>
        </p:txBody>
      </p:sp>
      <p:sp>
        <p:nvSpPr>
          <p:cNvPr id="8" name="Shape 6"/>
          <p:cNvSpPr/>
          <p:nvPr/>
        </p:nvSpPr>
        <p:spPr>
          <a:xfrm>
            <a:off x="475488" y="1609344"/>
            <a:ext cx="164592" cy="164592"/>
          </a:xfrm>
          <a:prstGeom prst="rect">
            <a:avLst/>
          </a:prstGeom>
          <a:solidFill>
            <a:srgbClr val="00D4FF"/>
          </a:solidFill>
          <a:ln w="12700">
            <a:solidFill>
              <a:srgbClr val="00D4FF"/>
            </a:solidFill>
            <a:prstDash val="solid"/>
          </a:ln>
        </p:spPr>
      </p:sp>
      <p:sp>
        <p:nvSpPr>
          <p:cNvPr id="9" name="Text 7"/>
          <p:cNvSpPr/>
          <p:nvPr/>
        </p:nvSpPr>
        <p:spPr>
          <a:xfrm>
            <a:off x="713232" y="1563624"/>
            <a:ext cx="3566160" cy="320040"/>
          </a:xfrm>
          <a:prstGeom prst="rect">
            <a:avLst/>
          </a:prstGeom>
          <a:noFill/>
          <a:ln/>
        </p:spPr>
        <p:txBody>
          <a:bodyPr wrap="square" lIns="0" tIns="0" rIns="0" bIns="0" rtlCol="0" anchor="ctr"/>
          <a:lstStyle/>
          <a:p>
            <a:pPr marL="0" indent="0">
              <a:buNone/>
            </a:pPr>
            <a:r>
              <a:rPr lang="en-US" sz="950" dirty="0">
                <a:solidFill>
                  <a:srgbClr val="CCDDEE"/>
                </a:solidFill>
              </a:rPr>
              <a:t>Elementy wizualne: kolory, typografia, ikony, przyciski</a:t>
            </a:r>
            <a:endParaRPr lang="en-US" sz="950" dirty="0"/>
          </a:p>
        </p:txBody>
      </p:sp>
      <p:sp>
        <p:nvSpPr>
          <p:cNvPr id="10" name="Shape 8"/>
          <p:cNvSpPr/>
          <p:nvPr/>
        </p:nvSpPr>
        <p:spPr>
          <a:xfrm>
            <a:off x="475488" y="2084832"/>
            <a:ext cx="164592" cy="164592"/>
          </a:xfrm>
          <a:prstGeom prst="rect">
            <a:avLst/>
          </a:prstGeom>
          <a:solidFill>
            <a:srgbClr val="00D4FF"/>
          </a:solidFill>
          <a:ln w="12700">
            <a:solidFill>
              <a:srgbClr val="00D4FF"/>
            </a:solidFill>
            <a:prstDash val="solid"/>
          </a:ln>
        </p:spPr>
      </p:sp>
      <p:sp>
        <p:nvSpPr>
          <p:cNvPr id="11" name="Text 9"/>
          <p:cNvSpPr/>
          <p:nvPr/>
        </p:nvSpPr>
        <p:spPr>
          <a:xfrm>
            <a:off x="713232" y="2039112"/>
            <a:ext cx="3566160" cy="320040"/>
          </a:xfrm>
          <a:prstGeom prst="rect">
            <a:avLst/>
          </a:prstGeom>
          <a:noFill/>
          <a:ln/>
        </p:spPr>
        <p:txBody>
          <a:bodyPr wrap="square" lIns="0" tIns="0" rIns="0" bIns="0" rtlCol="0" anchor="ctr"/>
          <a:lstStyle/>
          <a:p>
            <a:pPr marL="0" indent="0">
              <a:buNone/>
            </a:pPr>
            <a:r>
              <a:rPr lang="en-US" sz="950" dirty="0">
                <a:solidFill>
                  <a:srgbClr val="CCDDEE"/>
                </a:solidFill>
              </a:rPr>
              <a:t>Układ i kompozycja elementów na ekranie</a:t>
            </a:r>
            <a:endParaRPr lang="en-US" sz="950" dirty="0"/>
          </a:p>
        </p:txBody>
      </p:sp>
      <p:sp>
        <p:nvSpPr>
          <p:cNvPr id="12" name="Shape 10"/>
          <p:cNvSpPr/>
          <p:nvPr/>
        </p:nvSpPr>
        <p:spPr>
          <a:xfrm>
            <a:off x="475488" y="2560320"/>
            <a:ext cx="164592" cy="164592"/>
          </a:xfrm>
          <a:prstGeom prst="rect">
            <a:avLst/>
          </a:prstGeom>
          <a:solidFill>
            <a:srgbClr val="00D4FF"/>
          </a:solidFill>
          <a:ln w="12700">
            <a:solidFill>
              <a:srgbClr val="00D4FF"/>
            </a:solidFill>
            <a:prstDash val="solid"/>
          </a:ln>
        </p:spPr>
      </p:sp>
      <p:sp>
        <p:nvSpPr>
          <p:cNvPr id="13" name="Text 11"/>
          <p:cNvSpPr/>
          <p:nvPr/>
        </p:nvSpPr>
        <p:spPr>
          <a:xfrm>
            <a:off x="713232" y="2514600"/>
            <a:ext cx="3566160" cy="320040"/>
          </a:xfrm>
          <a:prstGeom prst="rect">
            <a:avLst/>
          </a:prstGeom>
          <a:noFill/>
          <a:ln/>
        </p:spPr>
        <p:txBody>
          <a:bodyPr wrap="square" lIns="0" tIns="0" rIns="0" bIns="0" rtlCol="0" anchor="ctr"/>
          <a:lstStyle/>
          <a:p>
            <a:pPr marL="0" indent="0">
              <a:buNone/>
            </a:pPr>
            <a:r>
              <a:rPr lang="en-US" sz="950" dirty="0">
                <a:solidFill>
                  <a:srgbClr val="CCDDEE"/>
                </a:solidFill>
              </a:rPr>
              <a:t>Responsywność i adaptacja do różnych ekranów</a:t>
            </a:r>
            <a:endParaRPr lang="en-US" sz="950" dirty="0"/>
          </a:p>
        </p:txBody>
      </p:sp>
      <p:sp>
        <p:nvSpPr>
          <p:cNvPr id="14" name="Shape 12"/>
          <p:cNvSpPr/>
          <p:nvPr/>
        </p:nvSpPr>
        <p:spPr>
          <a:xfrm>
            <a:off x="475488" y="3035808"/>
            <a:ext cx="164592" cy="164592"/>
          </a:xfrm>
          <a:prstGeom prst="rect">
            <a:avLst/>
          </a:prstGeom>
          <a:solidFill>
            <a:srgbClr val="00D4FF"/>
          </a:solidFill>
          <a:ln w="12700">
            <a:solidFill>
              <a:srgbClr val="00D4FF"/>
            </a:solidFill>
            <a:prstDash val="solid"/>
          </a:ln>
        </p:spPr>
      </p:sp>
      <p:sp>
        <p:nvSpPr>
          <p:cNvPr id="15" name="Text 13"/>
          <p:cNvSpPr/>
          <p:nvPr/>
        </p:nvSpPr>
        <p:spPr>
          <a:xfrm>
            <a:off x="713232" y="2990088"/>
            <a:ext cx="3566160" cy="320040"/>
          </a:xfrm>
          <a:prstGeom prst="rect">
            <a:avLst/>
          </a:prstGeom>
          <a:noFill/>
          <a:ln/>
        </p:spPr>
        <p:txBody>
          <a:bodyPr wrap="square" lIns="0" tIns="0" rIns="0" bIns="0" rtlCol="0" anchor="ctr"/>
          <a:lstStyle/>
          <a:p>
            <a:pPr marL="0" indent="0">
              <a:buNone/>
            </a:pPr>
            <a:r>
              <a:rPr lang="en-US" sz="950" dirty="0">
                <a:solidFill>
                  <a:srgbClr val="CCDDEE"/>
                </a:solidFill>
              </a:rPr>
              <a:t>Mikrointerakcje i animacje interfejsu</a:t>
            </a:r>
            <a:endParaRPr lang="en-US" sz="950" dirty="0"/>
          </a:p>
        </p:txBody>
      </p:sp>
      <p:sp>
        <p:nvSpPr>
          <p:cNvPr id="16" name="Text 14"/>
          <p:cNvSpPr/>
          <p:nvPr/>
        </p:nvSpPr>
        <p:spPr>
          <a:xfrm>
            <a:off x="457200" y="3703320"/>
            <a:ext cx="3794760" cy="274320"/>
          </a:xfrm>
          <a:prstGeom prst="rect">
            <a:avLst/>
          </a:prstGeom>
          <a:noFill/>
          <a:ln/>
        </p:spPr>
        <p:txBody>
          <a:bodyPr wrap="square" lIns="0" tIns="0" rIns="0" bIns="0" rtlCol="0" anchor="ctr"/>
          <a:lstStyle/>
          <a:p>
            <a:pPr marL="0" indent="0">
              <a:buNone/>
            </a:pPr>
            <a:r>
              <a:rPr lang="en-US" sz="900" i="1" dirty="0">
                <a:solidFill>
                  <a:srgbClr val="8899AA"/>
                </a:solidFill>
              </a:rPr>
              <a:t>Pytanie: Jak to wygląda?</a:t>
            </a:r>
            <a:endParaRPr lang="en-US" sz="900" dirty="0"/>
          </a:p>
        </p:txBody>
      </p:sp>
      <p:sp>
        <p:nvSpPr>
          <p:cNvPr id="17" name="Shape 15"/>
          <p:cNvSpPr/>
          <p:nvPr/>
        </p:nvSpPr>
        <p:spPr>
          <a:xfrm>
            <a:off x="4754880" y="914400"/>
            <a:ext cx="4069080" cy="3246120"/>
          </a:xfrm>
          <a:prstGeom prst="rect">
            <a:avLst/>
          </a:prstGeom>
          <a:solidFill>
            <a:srgbClr val="112233"/>
          </a:solidFill>
          <a:ln w="12700">
            <a:solidFill>
              <a:srgbClr val="1A3050"/>
            </a:solidFill>
            <a:prstDash val="solid"/>
          </a:ln>
        </p:spPr>
      </p:sp>
      <p:sp>
        <p:nvSpPr>
          <p:cNvPr id="18" name="Shape 16"/>
          <p:cNvSpPr/>
          <p:nvPr/>
        </p:nvSpPr>
        <p:spPr>
          <a:xfrm>
            <a:off x="4754880" y="914400"/>
            <a:ext cx="45720" cy="3246120"/>
          </a:xfrm>
          <a:prstGeom prst="rect">
            <a:avLst/>
          </a:prstGeom>
          <a:solidFill>
            <a:srgbClr val="FF2D78"/>
          </a:solidFill>
          <a:ln w="12700">
            <a:solidFill>
              <a:srgbClr val="FF2D78"/>
            </a:solidFill>
            <a:prstDash val="solid"/>
          </a:ln>
        </p:spPr>
      </p:sp>
      <p:sp>
        <p:nvSpPr>
          <p:cNvPr id="19" name="Text 17"/>
          <p:cNvSpPr/>
          <p:nvPr/>
        </p:nvSpPr>
        <p:spPr>
          <a:xfrm>
            <a:off x="4892040" y="987552"/>
            <a:ext cx="3794760" cy="292608"/>
          </a:xfrm>
          <a:prstGeom prst="rect">
            <a:avLst/>
          </a:prstGeom>
          <a:noFill/>
          <a:ln/>
        </p:spPr>
        <p:txBody>
          <a:bodyPr wrap="square" lIns="0" tIns="0" rIns="0" bIns="0" rtlCol="0" anchor="ctr"/>
          <a:lstStyle/>
          <a:p>
            <a:pPr marL="0" indent="0">
              <a:buNone/>
            </a:pPr>
            <a:r>
              <a:rPr lang="en-US" sz="1300" b="1" dirty="0">
                <a:solidFill>
                  <a:srgbClr val="FF2D78"/>
                </a:solidFill>
              </a:rPr>
              <a:t>UX — User Experience</a:t>
            </a:r>
            <a:endParaRPr lang="en-US" sz="1300" dirty="0"/>
          </a:p>
        </p:txBody>
      </p:sp>
      <p:sp>
        <p:nvSpPr>
          <p:cNvPr id="20" name="Text 18"/>
          <p:cNvSpPr/>
          <p:nvPr/>
        </p:nvSpPr>
        <p:spPr>
          <a:xfrm>
            <a:off x="4892040" y="1298448"/>
            <a:ext cx="3794760" cy="228600"/>
          </a:xfrm>
          <a:prstGeom prst="rect">
            <a:avLst/>
          </a:prstGeom>
          <a:noFill/>
          <a:ln/>
        </p:spPr>
        <p:txBody>
          <a:bodyPr wrap="square" lIns="0" tIns="0" rIns="0" bIns="0" rtlCol="0" anchor="ctr"/>
          <a:lstStyle/>
          <a:p>
            <a:pPr marL="0" indent="0">
              <a:buNone/>
            </a:pPr>
            <a:r>
              <a:rPr lang="en-US" sz="950" dirty="0">
                <a:solidFill>
                  <a:srgbClr val="8899AA"/>
                </a:solidFill>
              </a:rPr>
              <a:t>całościowe doświadczenie użytkownika z produktem</a:t>
            </a:r>
            <a:endParaRPr lang="en-US" sz="950" dirty="0"/>
          </a:p>
        </p:txBody>
      </p:sp>
      <p:sp>
        <p:nvSpPr>
          <p:cNvPr id="21" name="Shape 19"/>
          <p:cNvSpPr/>
          <p:nvPr/>
        </p:nvSpPr>
        <p:spPr>
          <a:xfrm>
            <a:off x="4910328" y="1609344"/>
            <a:ext cx="164592" cy="164592"/>
          </a:xfrm>
          <a:prstGeom prst="rect">
            <a:avLst/>
          </a:prstGeom>
          <a:solidFill>
            <a:srgbClr val="FF2D78"/>
          </a:solidFill>
          <a:ln w="12700">
            <a:solidFill>
              <a:srgbClr val="FF2D78"/>
            </a:solidFill>
            <a:prstDash val="solid"/>
          </a:ln>
        </p:spPr>
      </p:sp>
      <p:sp>
        <p:nvSpPr>
          <p:cNvPr id="22" name="Text 20"/>
          <p:cNvSpPr/>
          <p:nvPr/>
        </p:nvSpPr>
        <p:spPr>
          <a:xfrm>
            <a:off x="5148072" y="1563624"/>
            <a:ext cx="3566160" cy="320040"/>
          </a:xfrm>
          <a:prstGeom prst="rect">
            <a:avLst/>
          </a:prstGeom>
          <a:noFill/>
          <a:ln/>
        </p:spPr>
        <p:txBody>
          <a:bodyPr wrap="square" lIns="0" tIns="0" rIns="0" bIns="0" rtlCol="0" anchor="ctr"/>
          <a:lstStyle/>
          <a:p>
            <a:pPr marL="0" indent="0">
              <a:buNone/>
            </a:pPr>
            <a:r>
              <a:rPr lang="en-US" sz="950" dirty="0">
                <a:solidFill>
                  <a:srgbClr val="CCDDEE"/>
                </a:solidFill>
              </a:rPr>
              <a:t>Łatwość użycia i intuicyjność nawigacji</a:t>
            </a:r>
            <a:endParaRPr lang="en-US" sz="950" dirty="0"/>
          </a:p>
        </p:txBody>
      </p:sp>
      <p:sp>
        <p:nvSpPr>
          <p:cNvPr id="23" name="Shape 21"/>
          <p:cNvSpPr/>
          <p:nvPr/>
        </p:nvSpPr>
        <p:spPr>
          <a:xfrm>
            <a:off x="4910328" y="2084832"/>
            <a:ext cx="164592" cy="164592"/>
          </a:xfrm>
          <a:prstGeom prst="rect">
            <a:avLst/>
          </a:prstGeom>
          <a:solidFill>
            <a:srgbClr val="FF2D78"/>
          </a:solidFill>
          <a:ln w="12700">
            <a:solidFill>
              <a:srgbClr val="FF2D78"/>
            </a:solidFill>
            <a:prstDash val="solid"/>
          </a:ln>
        </p:spPr>
      </p:sp>
      <p:sp>
        <p:nvSpPr>
          <p:cNvPr id="24" name="Text 22"/>
          <p:cNvSpPr/>
          <p:nvPr/>
        </p:nvSpPr>
        <p:spPr>
          <a:xfrm>
            <a:off x="5148072" y="2039112"/>
            <a:ext cx="3566160" cy="320040"/>
          </a:xfrm>
          <a:prstGeom prst="rect">
            <a:avLst/>
          </a:prstGeom>
          <a:noFill/>
          <a:ln/>
        </p:spPr>
        <p:txBody>
          <a:bodyPr wrap="square" lIns="0" tIns="0" rIns="0" bIns="0" rtlCol="0" anchor="ctr"/>
          <a:lstStyle/>
          <a:p>
            <a:pPr marL="0" indent="0">
              <a:buNone/>
            </a:pPr>
            <a:r>
              <a:rPr lang="en-US" sz="950" dirty="0">
                <a:solidFill>
                  <a:srgbClr val="CCDDEE"/>
                </a:solidFill>
              </a:rPr>
              <a:t>Satysfakcja i emocje podczas użytkowania</a:t>
            </a:r>
            <a:endParaRPr lang="en-US" sz="950" dirty="0"/>
          </a:p>
        </p:txBody>
      </p:sp>
      <p:sp>
        <p:nvSpPr>
          <p:cNvPr id="25" name="Shape 23"/>
          <p:cNvSpPr/>
          <p:nvPr/>
        </p:nvSpPr>
        <p:spPr>
          <a:xfrm>
            <a:off x="4910328" y="2560320"/>
            <a:ext cx="164592" cy="164592"/>
          </a:xfrm>
          <a:prstGeom prst="rect">
            <a:avLst/>
          </a:prstGeom>
          <a:solidFill>
            <a:srgbClr val="FF2D78"/>
          </a:solidFill>
          <a:ln w="12700">
            <a:solidFill>
              <a:srgbClr val="FF2D78"/>
            </a:solidFill>
            <a:prstDash val="solid"/>
          </a:ln>
        </p:spPr>
      </p:sp>
      <p:sp>
        <p:nvSpPr>
          <p:cNvPr id="26" name="Text 24"/>
          <p:cNvSpPr/>
          <p:nvPr/>
        </p:nvSpPr>
        <p:spPr>
          <a:xfrm>
            <a:off x="5148072" y="2514600"/>
            <a:ext cx="3566160" cy="320040"/>
          </a:xfrm>
          <a:prstGeom prst="rect">
            <a:avLst/>
          </a:prstGeom>
          <a:noFill/>
          <a:ln/>
        </p:spPr>
        <p:txBody>
          <a:bodyPr wrap="square" lIns="0" tIns="0" rIns="0" bIns="0" rtlCol="0" anchor="ctr"/>
          <a:lstStyle/>
          <a:p>
            <a:pPr marL="0" indent="0">
              <a:buNone/>
            </a:pPr>
            <a:r>
              <a:rPr lang="en-US" sz="950" dirty="0">
                <a:solidFill>
                  <a:srgbClr val="CCDDEE"/>
                </a:solidFill>
              </a:rPr>
              <a:t>Efektywność w realizacji celów użytkownika</a:t>
            </a:r>
            <a:endParaRPr lang="en-US" sz="950" dirty="0"/>
          </a:p>
        </p:txBody>
      </p:sp>
      <p:sp>
        <p:nvSpPr>
          <p:cNvPr id="27" name="Shape 25"/>
          <p:cNvSpPr/>
          <p:nvPr/>
        </p:nvSpPr>
        <p:spPr>
          <a:xfrm>
            <a:off x="4910328" y="3035808"/>
            <a:ext cx="164592" cy="164592"/>
          </a:xfrm>
          <a:prstGeom prst="rect">
            <a:avLst/>
          </a:prstGeom>
          <a:solidFill>
            <a:srgbClr val="FF2D78"/>
          </a:solidFill>
          <a:ln w="12700">
            <a:solidFill>
              <a:srgbClr val="FF2D78"/>
            </a:solidFill>
            <a:prstDash val="solid"/>
          </a:ln>
        </p:spPr>
      </p:sp>
      <p:sp>
        <p:nvSpPr>
          <p:cNvPr id="28" name="Text 26"/>
          <p:cNvSpPr/>
          <p:nvPr/>
        </p:nvSpPr>
        <p:spPr>
          <a:xfrm>
            <a:off x="5148072" y="2990088"/>
            <a:ext cx="3566160" cy="320040"/>
          </a:xfrm>
          <a:prstGeom prst="rect">
            <a:avLst/>
          </a:prstGeom>
          <a:noFill/>
          <a:ln/>
        </p:spPr>
        <p:txBody>
          <a:bodyPr wrap="square" lIns="0" tIns="0" rIns="0" bIns="0" rtlCol="0" anchor="ctr"/>
          <a:lstStyle/>
          <a:p>
            <a:pPr marL="0" indent="0">
              <a:buNone/>
            </a:pPr>
            <a:r>
              <a:rPr lang="en-US" sz="950" dirty="0">
                <a:solidFill>
                  <a:srgbClr val="CCDDEE"/>
                </a:solidFill>
              </a:rPr>
              <a:t>Dostępność i inkluzywność projektowania</a:t>
            </a:r>
            <a:endParaRPr lang="en-US" sz="950" dirty="0"/>
          </a:p>
        </p:txBody>
      </p:sp>
      <p:sp>
        <p:nvSpPr>
          <p:cNvPr id="29" name="Text 27"/>
          <p:cNvSpPr/>
          <p:nvPr/>
        </p:nvSpPr>
        <p:spPr>
          <a:xfrm>
            <a:off x="4892040" y="3703320"/>
            <a:ext cx="3794760" cy="274320"/>
          </a:xfrm>
          <a:prstGeom prst="rect">
            <a:avLst/>
          </a:prstGeom>
          <a:noFill/>
          <a:ln/>
        </p:spPr>
        <p:txBody>
          <a:bodyPr wrap="square" lIns="0" tIns="0" rIns="0" bIns="0" rtlCol="0" anchor="ctr"/>
          <a:lstStyle/>
          <a:p>
            <a:pPr marL="0" indent="0">
              <a:buNone/>
            </a:pPr>
            <a:r>
              <a:rPr lang="en-US" sz="900" i="1" dirty="0">
                <a:solidFill>
                  <a:srgbClr val="8899AA"/>
                </a:solidFill>
              </a:rPr>
              <a:t>Pytanie: Jakie to daje uczucie?</a:t>
            </a:r>
            <a:endParaRPr lang="en-US" sz="900" dirty="0"/>
          </a:p>
        </p:txBody>
      </p:sp>
      <p:sp>
        <p:nvSpPr>
          <p:cNvPr id="30" name="Shape 28"/>
          <p:cNvSpPr/>
          <p:nvPr/>
        </p:nvSpPr>
        <p:spPr>
          <a:xfrm>
            <a:off x="320040" y="4206240"/>
            <a:ext cx="8503920" cy="457200"/>
          </a:xfrm>
          <a:prstGeom prst="rect">
            <a:avLst/>
          </a:prstGeom>
          <a:solidFill>
            <a:srgbClr val="0A1929"/>
          </a:solidFill>
          <a:ln w="12700">
            <a:solidFill>
              <a:srgbClr val="1A3050"/>
            </a:solidFill>
            <a:prstDash val="solid"/>
          </a:ln>
        </p:spPr>
      </p:sp>
      <p:sp>
        <p:nvSpPr>
          <p:cNvPr id="31" name="Text 29"/>
          <p:cNvSpPr/>
          <p:nvPr/>
        </p:nvSpPr>
        <p:spPr>
          <a:xfrm>
            <a:off x="502920" y="4233672"/>
            <a:ext cx="8229600" cy="393192"/>
          </a:xfrm>
          <a:prstGeom prst="rect">
            <a:avLst/>
          </a:prstGeom>
          <a:noFill/>
          <a:ln/>
        </p:spPr>
        <p:txBody>
          <a:bodyPr wrap="square" lIns="0" tIns="0" rIns="0" bIns="0" rtlCol="0" anchor="ctr"/>
          <a:lstStyle/>
          <a:p>
            <a:pPr marL="0" indent="0">
              <a:buNone/>
            </a:pPr>
            <a:r>
              <a:rPr lang="en-US" sz="950" dirty="0">
                <a:solidFill>
                  <a:srgbClr val="CCDDEE"/>
                </a:solidFill>
              </a:rPr>
              <a:t>Relacja UI–UX: UI jest częścią składową UX. Doskonały interfejs wizualny nie zastąpi słabego doświadczenia, ale świetny UX wymaga solidnego UI.</a:t>
            </a:r>
            <a:endParaRPr lang="en-US" sz="950" dirty="0"/>
          </a:p>
        </p:txBody>
      </p:sp>
      <p:sp>
        <p:nvSpPr>
          <p:cNvPr id="34" name="Text 32"/>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4 / </a:t>
            </a:r>
            <a:r>
              <a:rPr lang="pl-PL" sz="800" dirty="0" smtClean="0">
                <a:solidFill>
                  <a:srgbClr val="8899AA"/>
                </a:solidFill>
              </a:rPr>
              <a:t>46</a:t>
            </a:r>
            <a:endParaRPr lang="en-US" sz="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grpSp>
        <p:nvGrpSpPr>
          <p:cNvPr id="34" name="Grupa 33"/>
          <p:cNvGrpSpPr/>
          <p:nvPr/>
        </p:nvGrpSpPr>
        <p:grpSpPr>
          <a:xfrm>
            <a:off x="-2381" y="4884912"/>
            <a:ext cx="9146381" cy="260136"/>
            <a:chOff x="-2381" y="4884912"/>
            <a:chExt cx="9146381" cy="260136"/>
          </a:xfrm>
        </p:grpSpPr>
        <p:sp>
          <p:nvSpPr>
            <p:cNvPr id="35" name="Shape 52"/>
            <p:cNvSpPr/>
            <p:nvPr/>
          </p:nvSpPr>
          <p:spPr>
            <a:xfrm>
              <a:off x="0" y="4884912"/>
              <a:ext cx="9144000" cy="252000"/>
            </a:xfrm>
            <a:prstGeom prst="rect">
              <a:avLst/>
            </a:prstGeom>
            <a:solidFill>
              <a:srgbClr val="071523"/>
            </a:solidFill>
            <a:ln w="12700">
              <a:solidFill>
                <a:srgbClr val="071523"/>
              </a:solidFill>
              <a:prstDash val="solid"/>
            </a:ln>
          </p:spPr>
        </p:sp>
        <p:sp>
          <p:nvSpPr>
            <p:cNvPr id="36"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37" name="Grupa 36"/>
            <p:cNvGrpSpPr/>
            <p:nvPr/>
          </p:nvGrpSpPr>
          <p:grpSpPr>
            <a:xfrm>
              <a:off x="-2381" y="5099329"/>
              <a:ext cx="9146381" cy="45719"/>
              <a:chOff x="-2381" y="5107500"/>
              <a:chExt cx="9111093" cy="37548"/>
            </a:xfrm>
            <a:solidFill>
              <a:schemeClr val="tx1"/>
            </a:solidFill>
          </p:grpSpPr>
          <p:sp>
            <p:nvSpPr>
              <p:cNvPr id="38"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39"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40"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41"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42"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43" name="Shape 52"/>
              <p:cNvSpPr/>
              <p:nvPr/>
            </p:nvSpPr>
            <p:spPr>
              <a:xfrm>
                <a:off x="990000" y="5108400"/>
                <a:ext cx="198000" cy="36000"/>
              </a:xfrm>
              <a:prstGeom prst="rect">
                <a:avLst/>
              </a:prstGeom>
              <a:solidFill>
                <a:schemeClr val="tx1"/>
              </a:solidFill>
              <a:ln w="12700">
                <a:noFill/>
                <a:prstDash val="solid"/>
              </a:ln>
            </p:spPr>
          </p:sp>
          <p:sp>
            <p:nvSpPr>
              <p:cNvPr id="44" name="Shape 52"/>
              <p:cNvSpPr/>
              <p:nvPr/>
            </p:nvSpPr>
            <p:spPr>
              <a:xfrm>
                <a:off x="1188000" y="5108400"/>
                <a:ext cx="198000" cy="36000"/>
              </a:xfrm>
              <a:prstGeom prst="rect">
                <a:avLst/>
              </a:prstGeom>
              <a:grpFill/>
              <a:ln w="12700">
                <a:noFill/>
                <a:prstDash val="solid"/>
              </a:ln>
            </p:spPr>
          </p:sp>
          <p:sp>
            <p:nvSpPr>
              <p:cNvPr id="45" name="Shape 52"/>
              <p:cNvSpPr/>
              <p:nvPr/>
            </p:nvSpPr>
            <p:spPr>
              <a:xfrm>
                <a:off x="1386000" y="5107500"/>
                <a:ext cx="198000" cy="36000"/>
              </a:xfrm>
              <a:prstGeom prst="rect">
                <a:avLst/>
              </a:prstGeom>
              <a:grpFill/>
              <a:ln w="12700">
                <a:noFill/>
                <a:prstDash val="solid"/>
              </a:ln>
            </p:spPr>
          </p:sp>
          <p:sp>
            <p:nvSpPr>
              <p:cNvPr id="46" name="Shape 52"/>
              <p:cNvSpPr/>
              <p:nvPr/>
            </p:nvSpPr>
            <p:spPr>
              <a:xfrm>
                <a:off x="1584000" y="5107500"/>
                <a:ext cx="198000" cy="36000"/>
              </a:xfrm>
              <a:prstGeom prst="rect">
                <a:avLst/>
              </a:prstGeom>
              <a:grpFill/>
              <a:ln w="12700">
                <a:noFill/>
                <a:prstDash val="solid"/>
              </a:ln>
            </p:spPr>
          </p:sp>
          <p:sp>
            <p:nvSpPr>
              <p:cNvPr id="47" name="Shape 52"/>
              <p:cNvSpPr/>
              <p:nvPr/>
            </p:nvSpPr>
            <p:spPr>
              <a:xfrm>
                <a:off x="1782000" y="5107500"/>
                <a:ext cx="198000" cy="36000"/>
              </a:xfrm>
              <a:prstGeom prst="rect">
                <a:avLst/>
              </a:prstGeom>
              <a:grpFill/>
              <a:ln w="12700">
                <a:noFill/>
                <a:prstDash val="solid"/>
              </a:ln>
            </p:spPr>
          </p:sp>
          <p:sp>
            <p:nvSpPr>
              <p:cNvPr id="48" name="Shape 52"/>
              <p:cNvSpPr/>
              <p:nvPr/>
            </p:nvSpPr>
            <p:spPr>
              <a:xfrm>
                <a:off x="1980000" y="5107500"/>
                <a:ext cx="198000" cy="36000"/>
              </a:xfrm>
              <a:prstGeom prst="rect">
                <a:avLst/>
              </a:prstGeom>
              <a:grpFill/>
              <a:ln w="12700">
                <a:noFill/>
                <a:prstDash val="solid"/>
              </a:ln>
            </p:spPr>
          </p:sp>
          <p:sp>
            <p:nvSpPr>
              <p:cNvPr id="49" name="Shape 52"/>
              <p:cNvSpPr/>
              <p:nvPr/>
            </p:nvSpPr>
            <p:spPr>
              <a:xfrm>
                <a:off x="2178000" y="5107500"/>
                <a:ext cx="198000" cy="36000"/>
              </a:xfrm>
              <a:prstGeom prst="rect">
                <a:avLst/>
              </a:prstGeom>
              <a:grpFill/>
              <a:ln w="12700">
                <a:noFill/>
                <a:prstDash val="solid"/>
              </a:ln>
            </p:spPr>
          </p:sp>
          <p:sp>
            <p:nvSpPr>
              <p:cNvPr id="50" name="Shape 52"/>
              <p:cNvSpPr/>
              <p:nvPr/>
            </p:nvSpPr>
            <p:spPr>
              <a:xfrm>
                <a:off x="2376000" y="5107500"/>
                <a:ext cx="198000" cy="36000"/>
              </a:xfrm>
              <a:prstGeom prst="rect">
                <a:avLst/>
              </a:prstGeom>
              <a:grpFill/>
              <a:ln w="12700">
                <a:noFill/>
                <a:prstDash val="solid"/>
              </a:ln>
            </p:spPr>
          </p:sp>
          <p:sp>
            <p:nvSpPr>
              <p:cNvPr id="51" name="Shape 52"/>
              <p:cNvSpPr/>
              <p:nvPr/>
            </p:nvSpPr>
            <p:spPr>
              <a:xfrm>
                <a:off x="2574000" y="5107500"/>
                <a:ext cx="198000" cy="36000"/>
              </a:xfrm>
              <a:prstGeom prst="rect">
                <a:avLst/>
              </a:prstGeom>
              <a:grpFill/>
              <a:ln w="12700">
                <a:noFill/>
                <a:prstDash val="solid"/>
              </a:ln>
            </p:spPr>
          </p:sp>
          <p:sp>
            <p:nvSpPr>
              <p:cNvPr id="52" name="Shape 52"/>
              <p:cNvSpPr/>
              <p:nvPr/>
            </p:nvSpPr>
            <p:spPr>
              <a:xfrm>
                <a:off x="2772712" y="5108400"/>
                <a:ext cx="198000" cy="36000"/>
              </a:xfrm>
              <a:prstGeom prst="rect">
                <a:avLst/>
              </a:prstGeom>
              <a:grpFill/>
              <a:ln w="12700">
                <a:noFill/>
                <a:prstDash val="solid"/>
              </a:ln>
            </p:spPr>
          </p:sp>
          <p:sp>
            <p:nvSpPr>
              <p:cNvPr id="53" name="Shape 52"/>
              <p:cNvSpPr/>
              <p:nvPr/>
            </p:nvSpPr>
            <p:spPr>
              <a:xfrm>
                <a:off x="2970712" y="5108400"/>
                <a:ext cx="198000" cy="36000"/>
              </a:xfrm>
              <a:prstGeom prst="rect">
                <a:avLst/>
              </a:prstGeom>
              <a:grpFill/>
              <a:ln w="12700">
                <a:noFill/>
                <a:prstDash val="solid"/>
              </a:ln>
            </p:spPr>
          </p:sp>
          <p:sp>
            <p:nvSpPr>
              <p:cNvPr id="54" name="Shape 52"/>
              <p:cNvSpPr/>
              <p:nvPr/>
            </p:nvSpPr>
            <p:spPr>
              <a:xfrm>
                <a:off x="3168712" y="5108400"/>
                <a:ext cx="198000" cy="36000"/>
              </a:xfrm>
              <a:prstGeom prst="rect">
                <a:avLst/>
              </a:prstGeom>
              <a:grpFill/>
              <a:ln w="12700">
                <a:noFill/>
                <a:prstDash val="solid"/>
              </a:ln>
            </p:spPr>
          </p:sp>
          <p:sp>
            <p:nvSpPr>
              <p:cNvPr id="55" name="Shape 52"/>
              <p:cNvSpPr/>
              <p:nvPr/>
            </p:nvSpPr>
            <p:spPr>
              <a:xfrm>
                <a:off x="3366712" y="5108400"/>
                <a:ext cx="198000" cy="36000"/>
              </a:xfrm>
              <a:prstGeom prst="rect">
                <a:avLst/>
              </a:prstGeom>
              <a:grpFill/>
              <a:ln w="12700">
                <a:noFill/>
                <a:prstDash val="solid"/>
              </a:ln>
            </p:spPr>
          </p:sp>
          <p:sp>
            <p:nvSpPr>
              <p:cNvPr id="56" name="Shape 52"/>
              <p:cNvSpPr/>
              <p:nvPr/>
            </p:nvSpPr>
            <p:spPr>
              <a:xfrm>
                <a:off x="3564712" y="5108400"/>
                <a:ext cx="198000" cy="36000"/>
              </a:xfrm>
              <a:prstGeom prst="rect">
                <a:avLst/>
              </a:prstGeom>
              <a:grpFill/>
              <a:ln w="12700">
                <a:noFill/>
                <a:prstDash val="solid"/>
              </a:ln>
            </p:spPr>
          </p:sp>
          <p:sp>
            <p:nvSpPr>
              <p:cNvPr id="57" name="Shape 52"/>
              <p:cNvSpPr/>
              <p:nvPr/>
            </p:nvSpPr>
            <p:spPr>
              <a:xfrm>
                <a:off x="3762712" y="5108400"/>
                <a:ext cx="198000" cy="36000"/>
              </a:xfrm>
              <a:prstGeom prst="rect">
                <a:avLst/>
              </a:prstGeom>
              <a:grpFill/>
              <a:ln w="12700">
                <a:noFill/>
                <a:prstDash val="solid"/>
              </a:ln>
            </p:spPr>
          </p:sp>
          <p:sp>
            <p:nvSpPr>
              <p:cNvPr id="58" name="Shape 52"/>
              <p:cNvSpPr/>
              <p:nvPr/>
            </p:nvSpPr>
            <p:spPr>
              <a:xfrm>
                <a:off x="3960712" y="5107530"/>
                <a:ext cx="198000" cy="36000"/>
              </a:xfrm>
              <a:prstGeom prst="rect">
                <a:avLst/>
              </a:prstGeom>
              <a:grpFill/>
              <a:ln w="12700">
                <a:noFill/>
                <a:prstDash val="solid"/>
              </a:ln>
            </p:spPr>
          </p:sp>
          <p:sp>
            <p:nvSpPr>
              <p:cNvPr id="59" name="Shape 52"/>
              <p:cNvSpPr/>
              <p:nvPr/>
            </p:nvSpPr>
            <p:spPr>
              <a:xfrm>
                <a:off x="4158712" y="5107500"/>
                <a:ext cx="198000" cy="36000"/>
              </a:xfrm>
              <a:prstGeom prst="rect">
                <a:avLst/>
              </a:prstGeom>
              <a:grpFill/>
              <a:ln w="12700">
                <a:noFill/>
                <a:prstDash val="solid"/>
              </a:ln>
            </p:spPr>
          </p:sp>
          <p:sp>
            <p:nvSpPr>
              <p:cNvPr id="60" name="Shape 52"/>
              <p:cNvSpPr/>
              <p:nvPr/>
            </p:nvSpPr>
            <p:spPr>
              <a:xfrm>
                <a:off x="4356712" y="5107500"/>
                <a:ext cx="198000" cy="36000"/>
              </a:xfrm>
              <a:prstGeom prst="rect">
                <a:avLst/>
              </a:prstGeom>
              <a:grpFill/>
              <a:ln w="12700">
                <a:noFill/>
                <a:prstDash val="solid"/>
              </a:ln>
            </p:spPr>
          </p:sp>
          <p:sp>
            <p:nvSpPr>
              <p:cNvPr id="61" name="Shape 52"/>
              <p:cNvSpPr/>
              <p:nvPr/>
            </p:nvSpPr>
            <p:spPr>
              <a:xfrm>
                <a:off x="4554712" y="5107500"/>
                <a:ext cx="198000" cy="36000"/>
              </a:xfrm>
              <a:prstGeom prst="rect">
                <a:avLst/>
              </a:prstGeom>
              <a:grpFill/>
              <a:ln w="12700">
                <a:noFill/>
                <a:prstDash val="solid"/>
              </a:ln>
            </p:spPr>
          </p:sp>
          <p:sp>
            <p:nvSpPr>
              <p:cNvPr id="62" name="Shape 52"/>
              <p:cNvSpPr/>
              <p:nvPr/>
            </p:nvSpPr>
            <p:spPr>
              <a:xfrm>
                <a:off x="4752712" y="5107500"/>
                <a:ext cx="198000" cy="36000"/>
              </a:xfrm>
              <a:prstGeom prst="rect">
                <a:avLst/>
              </a:prstGeom>
              <a:grpFill/>
              <a:ln w="12700">
                <a:noFill/>
                <a:prstDash val="solid"/>
              </a:ln>
            </p:spPr>
          </p:sp>
          <p:sp>
            <p:nvSpPr>
              <p:cNvPr id="63" name="Shape 52"/>
              <p:cNvSpPr/>
              <p:nvPr/>
            </p:nvSpPr>
            <p:spPr>
              <a:xfrm>
                <a:off x="4950712" y="5107500"/>
                <a:ext cx="198000" cy="36000"/>
              </a:xfrm>
              <a:prstGeom prst="rect">
                <a:avLst/>
              </a:prstGeom>
              <a:grpFill/>
              <a:ln w="12700">
                <a:noFill/>
                <a:prstDash val="solid"/>
              </a:ln>
            </p:spPr>
          </p:sp>
          <p:sp>
            <p:nvSpPr>
              <p:cNvPr id="64" name="Shape 52"/>
              <p:cNvSpPr/>
              <p:nvPr/>
            </p:nvSpPr>
            <p:spPr>
              <a:xfrm>
                <a:off x="5148712" y="5107500"/>
                <a:ext cx="198000" cy="36000"/>
              </a:xfrm>
              <a:prstGeom prst="rect">
                <a:avLst/>
              </a:prstGeom>
              <a:grpFill/>
              <a:ln w="12700">
                <a:noFill/>
                <a:prstDash val="solid"/>
              </a:ln>
            </p:spPr>
          </p:sp>
          <p:sp>
            <p:nvSpPr>
              <p:cNvPr id="65" name="Shape 52"/>
              <p:cNvSpPr/>
              <p:nvPr/>
            </p:nvSpPr>
            <p:spPr>
              <a:xfrm>
                <a:off x="5346712" y="5108400"/>
                <a:ext cx="198000" cy="36000"/>
              </a:xfrm>
              <a:prstGeom prst="rect">
                <a:avLst/>
              </a:prstGeom>
              <a:grpFill/>
              <a:ln w="12700">
                <a:noFill/>
                <a:prstDash val="solid"/>
              </a:ln>
            </p:spPr>
          </p:sp>
          <p:sp>
            <p:nvSpPr>
              <p:cNvPr id="66" name="Shape 52"/>
              <p:cNvSpPr/>
              <p:nvPr/>
            </p:nvSpPr>
            <p:spPr>
              <a:xfrm>
                <a:off x="5544712" y="5108400"/>
                <a:ext cx="198000" cy="36000"/>
              </a:xfrm>
              <a:prstGeom prst="rect">
                <a:avLst/>
              </a:prstGeom>
              <a:grpFill/>
              <a:ln w="12700">
                <a:noFill/>
                <a:prstDash val="solid"/>
              </a:ln>
            </p:spPr>
          </p:sp>
          <p:sp>
            <p:nvSpPr>
              <p:cNvPr id="67" name="Shape 52"/>
              <p:cNvSpPr/>
              <p:nvPr/>
            </p:nvSpPr>
            <p:spPr>
              <a:xfrm>
                <a:off x="5742712" y="5108400"/>
                <a:ext cx="198000" cy="36000"/>
              </a:xfrm>
              <a:prstGeom prst="rect">
                <a:avLst/>
              </a:prstGeom>
              <a:grpFill/>
              <a:ln w="12700">
                <a:noFill/>
                <a:prstDash val="solid"/>
              </a:ln>
            </p:spPr>
          </p:sp>
          <p:sp>
            <p:nvSpPr>
              <p:cNvPr id="68" name="Shape 52"/>
              <p:cNvSpPr/>
              <p:nvPr/>
            </p:nvSpPr>
            <p:spPr>
              <a:xfrm>
                <a:off x="5940712" y="5108400"/>
                <a:ext cx="198000" cy="36000"/>
              </a:xfrm>
              <a:prstGeom prst="rect">
                <a:avLst/>
              </a:prstGeom>
              <a:grpFill/>
              <a:ln w="12700">
                <a:noFill/>
                <a:prstDash val="solid"/>
              </a:ln>
            </p:spPr>
          </p:sp>
          <p:sp>
            <p:nvSpPr>
              <p:cNvPr id="69" name="Shape 52"/>
              <p:cNvSpPr/>
              <p:nvPr/>
            </p:nvSpPr>
            <p:spPr>
              <a:xfrm>
                <a:off x="6138712" y="5108400"/>
                <a:ext cx="198000" cy="36000"/>
              </a:xfrm>
              <a:prstGeom prst="rect">
                <a:avLst/>
              </a:prstGeom>
              <a:grpFill/>
              <a:ln w="12700">
                <a:noFill/>
                <a:prstDash val="solid"/>
              </a:ln>
            </p:spPr>
          </p:sp>
          <p:sp>
            <p:nvSpPr>
              <p:cNvPr id="70" name="Shape 52"/>
              <p:cNvSpPr/>
              <p:nvPr/>
            </p:nvSpPr>
            <p:spPr>
              <a:xfrm>
                <a:off x="6336712" y="5108400"/>
                <a:ext cx="198000" cy="36000"/>
              </a:xfrm>
              <a:prstGeom prst="rect">
                <a:avLst/>
              </a:prstGeom>
              <a:grpFill/>
              <a:ln w="12700">
                <a:noFill/>
                <a:prstDash val="solid"/>
              </a:ln>
            </p:spPr>
          </p:sp>
          <p:sp>
            <p:nvSpPr>
              <p:cNvPr id="71" name="Shape 52"/>
              <p:cNvSpPr/>
              <p:nvPr/>
            </p:nvSpPr>
            <p:spPr>
              <a:xfrm>
                <a:off x="6534712" y="5108400"/>
                <a:ext cx="198000" cy="36000"/>
              </a:xfrm>
              <a:prstGeom prst="rect">
                <a:avLst/>
              </a:prstGeom>
              <a:grpFill/>
              <a:ln w="12700">
                <a:noFill/>
                <a:prstDash val="solid"/>
              </a:ln>
            </p:spPr>
          </p:sp>
          <p:sp>
            <p:nvSpPr>
              <p:cNvPr id="72" name="Shape 52"/>
              <p:cNvSpPr/>
              <p:nvPr/>
            </p:nvSpPr>
            <p:spPr>
              <a:xfrm>
                <a:off x="6732712" y="5108400"/>
                <a:ext cx="198000" cy="36000"/>
              </a:xfrm>
              <a:prstGeom prst="rect">
                <a:avLst/>
              </a:prstGeom>
              <a:grpFill/>
              <a:ln w="12700">
                <a:noFill/>
                <a:prstDash val="solid"/>
              </a:ln>
            </p:spPr>
          </p:sp>
          <p:sp>
            <p:nvSpPr>
              <p:cNvPr id="73" name="Shape 52"/>
              <p:cNvSpPr/>
              <p:nvPr/>
            </p:nvSpPr>
            <p:spPr>
              <a:xfrm>
                <a:off x="6930712" y="5108400"/>
                <a:ext cx="198000" cy="36000"/>
              </a:xfrm>
              <a:prstGeom prst="rect">
                <a:avLst/>
              </a:prstGeom>
              <a:grpFill/>
              <a:ln w="12700">
                <a:noFill/>
                <a:prstDash val="solid"/>
              </a:ln>
            </p:spPr>
          </p:sp>
          <p:sp>
            <p:nvSpPr>
              <p:cNvPr id="74" name="Shape 52"/>
              <p:cNvSpPr/>
              <p:nvPr/>
            </p:nvSpPr>
            <p:spPr>
              <a:xfrm>
                <a:off x="7128712" y="5108400"/>
                <a:ext cx="198000" cy="36000"/>
              </a:xfrm>
              <a:prstGeom prst="rect">
                <a:avLst/>
              </a:prstGeom>
              <a:grpFill/>
              <a:ln w="12700">
                <a:noFill/>
                <a:prstDash val="solid"/>
              </a:ln>
            </p:spPr>
          </p:sp>
          <p:sp>
            <p:nvSpPr>
              <p:cNvPr id="75" name="Shape 52"/>
              <p:cNvSpPr/>
              <p:nvPr/>
            </p:nvSpPr>
            <p:spPr>
              <a:xfrm>
                <a:off x="7326712" y="5108400"/>
                <a:ext cx="198000" cy="36000"/>
              </a:xfrm>
              <a:prstGeom prst="rect">
                <a:avLst/>
              </a:prstGeom>
              <a:grpFill/>
              <a:ln w="12700">
                <a:noFill/>
                <a:prstDash val="solid"/>
              </a:ln>
            </p:spPr>
          </p:sp>
          <p:sp>
            <p:nvSpPr>
              <p:cNvPr id="76" name="Shape 52"/>
              <p:cNvSpPr/>
              <p:nvPr/>
            </p:nvSpPr>
            <p:spPr>
              <a:xfrm>
                <a:off x="7524712" y="5108400"/>
                <a:ext cx="198000" cy="36000"/>
              </a:xfrm>
              <a:prstGeom prst="rect">
                <a:avLst/>
              </a:prstGeom>
              <a:grpFill/>
              <a:ln w="12700">
                <a:noFill/>
                <a:prstDash val="solid"/>
              </a:ln>
            </p:spPr>
          </p:sp>
          <p:sp>
            <p:nvSpPr>
              <p:cNvPr id="77" name="Shape 52"/>
              <p:cNvSpPr/>
              <p:nvPr/>
            </p:nvSpPr>
            <p:spPr>
              <a:xfrm>
                <a:off x="7722712" y="5108400"/>
                <a:ext cx="198000" cy="36000"/>
              </a:xfrm>
              <a:prstGeom prst="rect">
                <a:avLst/>
              </a:prstGeom>
              <a:grpFill/>
              <a:ln w="12700">
                <a:noFill/>
                <a:prstDash val="solid"/>
              </a:ln>
            </p:spPr>
          </p:sp>
          <p:sp>
            <p:nvSpPr>
              <p:cNvPr id="78" name="Shape 52"/>
              <p:cNvSpPr/>
              <p:nvPr/>
            </p:nvSpPr>
            <p:spPr>
              <a:xfrm>
                <a:off x="7920712" y="5109048"/>
                <a:ext cx="198000" cy="36000"/>
              </a:xfrm>
              <a:prstGeom prst="rect">
                <a:avLst/>
              </a:prstGeom>
              <a:grpFill/>
              <a:ln w="12700">
                <a:noFill/>
                <a:prstDash val="solid"/>
              </a:ln>
            </p:spPr>
          </p:sp>
          <p:sp>
            <p:nvSpPr>
              <p:cNvPr id="79" name="Shape 52"/>
              <p:cNvSpPr/>
              <p:nvPr/>
            </p:nvSpPr>
            <p:spPr>
              <a:xfrm>
                <a:off x="8118712" y="5109048"/>
                <a:ext cx="198000" cy="36000"/>
              </a:xfrm>
              <a:prstGeom prst="rect">
                <a:avLst/>
              </a:prstGeom>
              <a:grpFill/>
              <a:ln w="12700">
                <a:noFill/>
                <a:prstDash val="solid"/>
              </a:ln>
            </p:spPr>
          </p:sp>
          <p:sp>
            <p:nvSpPr>
              <p:cNvPr id="80" name="Shape 52"/>
              <p:cNvSpPr/>
              <p:nvPr/>
            </p:nvSpPr>
            <p:spPr>
              <a:xfrm>
                <a:off x="8316712" y="5109048"/>
                <a:ext cx="198000" cy="36000"/>
              </a:xfrm>
              <a:prstGeom prst="rect">
                <a:avLst/>
              </a:prstGeom>
              <a:grpFill/>
              <a:ln w="12700">
                <a:noFill/>
                <a:prstDash val="solid"/>
              </a:ln>
            </p:spPr>
          </p:sp>
          <p:sp>
            <p:nvSpPr>
              <p:cNvPr id="81" name="Shape 52"/>
              <p:cNvSpPr/>
              <p:nvPr/>
            </p:nvSpPr>
            <p:spPr>
              <a:xfrm>
                <a:off x="8514712" y="5109048"/>
                <a:ext cx="198000" cy="36000"/>
              </a:xfrm>
              <a:prstGeom prst="rect">
                <a:avLst/>
              </a:prstGeom>
              <a:grpFill/>
              <a:ln w="12700">
                <a:noFill/>
                <a:prstDash val="solid"/>
              </a:ln>
            </p:spPr>
          </p:sp>
          <p:sp>
            <p:nvSpPr>
              <p:cNvPr id="82" name="Shape 52"/>
              <p:cNvSpPr/>
              <p:nvPr/>
            </p:nvSpPr>
            <p:spPr>
              <a:xfrm>
                <a:off x="8712712" y="5109048"/>
                <a:ext cx="198000" cy="36000"/>
              </a:xfrm>
              <a:prstGeom prst="rect">
                <a:avLst/>
              </a:prstGeom>
              <a:grpFill/>
              <a:ln w="12700">
                <a:noFill/>
                <a:prstDash val="solid"/>
              </a:ln>
            </p:spPr>
          </p:sp>
          <p:sp>
            <p:nvSpPr>
              <p:cNvPr id="83"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00D4FF"/>
          </a:solidFill>
          <a:ln w="12700">
            <a:solidFill>
              <a:srgbClr val="00D4FF"/>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err="1">
                <a:solidFill>
                  <a:srgbClr val="FFFFFF"/>
                </a:solidFill>
              </a:rPr>
              <a:t>Ewolucja</a:t>
            </a:r>
            <a:r>
              <a:rPr lang="en-US" sz="2200" b="1" dirty="0">
                <a:solidFill>
                  <a:srgbClr val="FFFFFF"/>
                </a:solidFill>
              </a:rPr>
              <a:t> </a:t>
            </a:r>
            <a:r>
              <a:rPr lang="pl-PL" sz="2200" b="1" dirty="0" smtClean="0">
                <a:solidFill>
                  <a:srgbClr val="FFFFFF"/>
                </a:solidFill>
              </a:rPr>
              <a:t>p</a:t>
            </a:r>
            <a:r>
              <a:rPr lang="en-US" sz="2200" b="1" dirty="0" err="1" smtClean="0">
                <a:solidFill>
                  <a:srgbClr val="FFFFFF"/>
                </a:solidFill>
              </a:rPr>
              <a:t>rojektowania</a:t>
            </a:r>
            <a:r>
              <a:rPr lang="en-US" sz="2200" b="1" dirty="0" smtClean="0">
                <a:solidFill>
                  <a:srgbClr val="FFFFFF"/>
                </a:solidFill>
              </a:rPr>
              <a:t> </a:t>
            </a:r>
            <a:r>
              <a:rPr lang="pl-PL" sz="2200" b="1" dirty="0" smtClean="0">
                <a:solidFill>
                  <a:srgbClr val="FFFFFF"/>
                </a:solidFill>
              </a:rPr>
              <a:t>m</a:t>
            </a:r>
            <a:r>
              <a:rPr lang="en-US" sz="2200" b="1" dirty="0" err="1" smtClean="0">
                <a:solidFill>
                  <a:srgbClr val="FFFFFF"/>
                </a:solidFill>
              </a:rPr>
              <a:t>obilnego</a:t>
            </a:r>
            <a:endParaRPr lang="en-US" sz="2200" dirty="0"/>
          </a:p>
        </p:txBody>
      </p:sp>
      <p:sp>
        <p:nvSpPr>
          <p:cNvPr id="4" name="Shape 2"/>
          <p:cNvSpPr/>
          <p:nvPr/>
        </p:nvSpPr>
        <p:spPr>
          <a:xfrm>
            <a:off x="320040" y="1524000"/>
            <a:ext cx="2011680" cy="2070084"/>
          </a:xfrm>
          <a:prstGeom prst="rect">
            <a:avLst/>
          </a:prstGeom>
          <a:solidFill>
            <a:srgbClr val="112233"/>
          </a:solidFill>
          <a:ln w="12700">
            <a:solidFill>
              <a:srgbClr val="1A3050"/>
            </a:solidFill>
            <a:prstDash val="solid"/>
          </a:ln>
        </p:spPr>
      </p:sp>
      <p:sp>
        <p:nvSpPr>
          <p:cNvPr id="5" name="Shape 3"/>
          <p:cNvSpPr/>
          <p:nvPr/>
        </p:nvSpPr>
        <p:spPr>
          <a:xfrm>
            <a:off x="320040" y="1524000"/>
            <a:ext cx="2011680" cy="54864"/>
          </a:xfrm>
          <a:prstGeom prst="rect">
            <a:avLst/>
          </a:prstGeom>
          <a:solidFill>
            <a:srgbClr val="00D4FF"/>
          </a:solidFill>
          <a:ln w="12700">
            <a:solidFill>
              <a:srgbClr val="00D4FF"/>
            </a:solidFill>
            <a:prstDash val="solid"/>
          </a:ln>
        </p:spPr>
      </p:sp>
      <p:sp>
        <p:nvSpPr>
          <p:cNvPr id="6" name="Text 4"/>
          <p:cNvSpPr/>
          <p:nvPr/>
        </p:nvSpPr>
        <p:spPr>
          <a:xfrm>
            <a:off x="411480" y="1661160"/>
            <a:ext cx="1828800" cy="274320"/>
          </a:xfrm>
          <a:prstGeom prst="rect">
            <a:avLst/>
          </a:prstGeom>
          <a:noFill/>
          <a:ln/>
        </p:spPr>
        <p:txBody>
          <a:bodyPr wrap="square" lIns="0" tIns="0" rIns="0" bIns="0" rtlCol="0" anchor="ctr"/>
          <a:lstStyle/>
          <a:p>
            <a:pPr marL="0" indent="0">
              <a:buNone/>
            </a:pPr>
            <a:r>
              <a:rPr lang="en-US" sz="1400" b="1" dirty="0">
                <a:solidFill>
                  <a:srgbClr val="00D4FF"/>
                </a:solidFill>
              </a:rPr>
              <a:t>1990s–2006</a:t>
            </a:r>
            <a:endParaRPr lang="en-US" sz="1400" dirty="0"/>
          </a:p>
        </p:txBody>
      </p:sp>
      <p:sp>
        <p:nvSpPr>
          <p:cNvPr id="7" name="Text 5"/>
          <p:cNvSpPr/>
          <p:nvPr/>
        </p:nvSpPr>
        <p:spPr>
          <a:xfrm>
            <a:off x="411480" y="1999488"/>
            <a:ext cx="1828800" cy="384048"/>
          </a:xfrm>
          <a:prstGeom prst="rect">
            <a:avLst/>
          </a:prstGeom>
          <a:noFill/>
          <a:ln/>
        </p:spPr>
        <p:txBody>
          <a:bodyPr wrap="square" lIns="0" tIns="0" rIns="0" bIns="0" rtlCol="0" anchor="ctr"/>
          <a:lstStyle/>
          <a:p>
            <a:pPr marL="0" indent="0">
              <a:buNone/>
            </a:pPr>
            <a:r>
              <a:rPr lang="en-US" b="1" dirty="0">
                <a:solidFill>
                  <a:srgbClr val="FFFFFF"/>
                </a:solidFill>
              </a:rPr>
              <a:t>Era Przedsmartfonowa</a:t>
            </a:r>
            <a:endParaRPr lang="en-US" dirty="0"/>
          </a:p>
        </p:txBody>
      </p:sp>
      <p:sp>
        <p:nvSpPr>
          <p:cNvPr id="8" name="Text 6"/>
          <p:cNvSpPr/>
          <p:nvPr/>
        </p:nvSpPr>
        <p:spPr>
          <a:xfrm>
            <a:off x="411480" y="2484120"/>
            <a:ext cx="1828800" cy="995172"/>
          </a:xfrm>
          <a:prstGeom prst="rect">
            <a:avLst/>
          </a:prstGeom>
          <a:noFill/>
          <a:ln/>
        </p:spPr>
        <p:txBody>
          <a:bodyPr wrap="square" lIns="0" tIns="0" rIns="0" bIns="0" rtlCol="0" anchor="t"/>
          <a:lstStyle/>
          <a:p>
            <a:pPr marL="0" indent="0">
              <a:buNone/>
            </a:pPr>
            <a:r>
              <a:rPr lang="en-US" sz="1200" dirty="0">
                <a:solidFill>
                  <a:srgbClr val="8899AA"/>
                </a:solidFill>
              </a:rPr>
              <a:t>Telefony z fizycznymi klawiaturami, małe ekrany. Nokia, Motorola — proste menu tekstowe i ikonowe.</a:t>
            </a:r>
            <a:endParaRPr lang="en-US" sz="1200" dirty="0"/>
          </a:p>
        </p:txBody>
      </p:sp>
      <p:sp>
        <p:nvSpPr>
          <p:cNvPr id="10" name="Shape 8"/>
          <p:cNvSpPr/>
          <p:nvPr/>
        </p:nvSpPr>
        <p:spPr>
          <a:xfrm>
            <a:off x="2468880" y="1524000"/>
            <a:ext cx="2011680" cy="2070084"/>
          </a:xfrm>
          <a:prstGeom prst="rect">
            <a:avLst/>
          </a:prstGeom>
          <a:solidFill>
            <a:srgbClr val="112233"/>
          </a:solidFill>
          <a:ln w="12700">
            <a:solidFill>
              <a:srgbClr val="1A3050"/>
            </a:solidFill>
            <a:prstDash val="solid"/>
          </a:ln>
        </p:spPr>
      </p:sp>
      <p:sp>
        <p:nvSpPr>
          <p:cNvPr id="11" name="Shape 9"/>
          <p:cNvSpPr/>
          <p:nvPr/>
        </p:nvSpPr>
        <p:spPr>
          <a:xfrm>
            <a:off x="2468880" y="1524000"/>
            <a:ext cx="2011680" cy="54864"/>
          </a:xfrm>
          <a:prstGeom prst="rect">
            <a:avLst/>
          </a:prstGeom>
          <a:solidFill>
            <a:srgbClr val="FF2D78"/>
          </a:solidFill>
          <a:ln w="12700">
            <a:solidFill>
              <a:srgbClr val="FF2D78"/>
            </a:solidFill>
            <a:prstDash val="solid"/>
          </a:ln>
        </p:spPr>
      </p:sp>
      <p:sp>
        <p:nvSpPr>
          <p:cNvPr id="12" name="Text 10"/>
          <p:cNvSpPr/>
          <p:nvPr/>
        </p:nvSpPr>
        <p:spPr>
          <a:xfrm>
            <a:off x="2560320" y="1661160"/>
            <a:ext cx="1828800" cy="274320"/>
          </a:xfrm>
          <a:prstGeom prst="rect">
            <a:avLst/>
          </a:prstGeom>
          <a:noFill/>
          <a:ln/>
        </p:spPr>
        <p:txBody>
          <a:bodyPr wrap="square" lIns="0" tIns="0" rIns="0" bIns="0" rtlCol="0" anchor="ctr"/>
          <a:lstStyle/>
          <a:p>
            <a:pPr marL="0" indent="0">
              <a:buNone/>
            </a:pPr>
            <a:r>
              <a:rPr lang="en-US" sz="1400" b="1" dirty="0">
                <a:solidFill>
                  <a:srgbClr val="FF2D78"/>
                </a:solidFill>
              </a:rPr>
              <a:t>2007</a:t>
            </a:r>
            <a:endParaRPr lang="en-US" sz="1400" dirty="0"/>
          </a:p>
        </p:txBody>
      </p:sp>
      <p:sp>
        <p:nvSpPr>
          <p:cNvPr id="13" name="Text 11"/>
          <p:cNvSpPr/>
          <p:nvPr/>
        </p:nvSpPr>
        <p:spPr>
          <a:xfrm>
            <a:off x="2560320" y="1999488"/>
            <a:ext cx="1828800" cy="384048"/>
          </a:xfrm>
          <a:prstGeom prst="rect">
            <a:avLst/>
          </a:prstGeom>
          <a:noFill/>
          <a:ln/>
        </p:spPr>
        <p:txBody>
          <a:bodyPr wrap="square" lIns="0" tIns="0" rIns="0" bIns="0" rtlCol="0" anchor="ctr"/>
          <a:lstStyle/>
          <a:p>
            <a:pPr marL="0" indent="0">
              <a:buNone/>
            </a:pPr>
            <a:r>
              <a:rPr lang="en-US" b="1" dirty="0">
                <a:solidFill>
                  <a:srgbClr val="FFFFFF"/>
                </a:solidFill>
              </a:rPr>
              <a:t>Rewolucja iPhone</a:t>
            </a:r>
            <a:endParaRPr lang="en-US" dirty="0"/>
          </a:p>
        </p:txBody>
      </p:sp>
      <p:sp>
        <p:nvSpPr>
          <p:cNvPr id="14" name="Text 12"/>
          <p:cNvSpPr/>
          <p:nvPr/>
        </p:nvSpPr>
        <p:spPr>
          <a:xfrm>
            <a:off x="2560320" y="2484120"/>
            <a:ext cx="1828800" cy="995172"/>
          </a:xfrm>
          <a:prstGeom prst="rect">
            <a:avLst/>
          </a:prstGeom>
          <a:noFill/>
          <a:ln/>
        </p:spPr>
        <p:txBody>
          <a:bodyPr wrap="square" lIns="0" tIns="0" rIns="0" bIns="0" rtlCol="0" anchor="t"/>
          <a:lstStyle/>
          <a:p>
            <a:pPr marL="0" indent="0">
              <a:buNone/>
            </a:pPr>
            <a:r>
              <a:rPr lang="en-US" sz="1200" dirty="0">
                <a:solidFill>
                  <a:srgbClr val="8899AA"/>
                </a:solidFill>
              </a:rPr>
              <a:t>Pojawienie się iPhone zmienia wszystko: wielodotykowy ekran, gesty, nowa era projektowania. Początek skeuomorfizmu.</a:t>
            </a:r>
            <a:endParaRPr lang="en-US" sz="1200" dirty="0"/>
          </a:p>
        </p:txBody>
      </p:sp>
      <p:sp>
        <p:nvSpPr>
          <p:cNvPr id="16" name="Shape 14"/>
          <p:cNvSpPr/>
          <p:nvPr/>
        </p:nvSpPr>
        <p:spPr>
          <a:xfrm>
            <a:off x="4617720" y="1524000"/>
            <a:ext cx="2011680" cy="2070084"/>
          </a:xfrm>
          <a:prstGeom prst="rect">
            <a:avLst/>
          </a:prstGeom>
          <a:solidFill>
            <a:srgbClr val="112233"/>
          </a:solidFill>
          <a:ln w="12700">
            <a:solidFill>
              <a:srgbClr val="1A3050"/>
            </a:solidFill>
            <a:prstDash val="solid"/>
          </a:ln>
        </p:spPr>
      </p:sp>
      <p:sp>
        <p:nvSpPr>
          <p:cNvPr id="17" name="Shape 15"/>
          <p:cNvSpPr/>
          <p:nvPr/>
        </p:nvSpPr>
        <p:spPr>
          <a:xfrm>
            <a:off x="4617720" y="1524000"/>
            <a:ext cx="2011680" cy="54864"/>
          </a:xfrm>
          <a:prstGeom prst="rect">
            <a:avLst/>
          </a:prstGeom>
          <a:solidFill>
            <a:srgbClr val="00E676"/>
          </a:solidFill>
          <a:ln w="12700">
            <a:solidFill>
              <a:srgbClr val="00E676"/>
            </a:solidFill>
            <a:prstDash val="solid"/>
          </a:ln>
        </p:spPr>
      </p:sp>
      <p:sp>
        <p:nvSpPr>
          <p:cNvPr id="18" name="Text 16"/>
          <p:cNvSpPr/>
          <p:nvPr/>
        </p:nvSpPr>
        <p:spPr>
          <a:xfrm>
            <a:off x="4709160" y="1661160"/>
            <a:ext cx="1828800" cy="274320"/>
          </a:xfrm>
          <a:prstGeom prst="rect">
            <a:avLst/>
          </a:prstGeom>
          <a:noFill/>
          <a:ln/>
        </p:spPr>
        <p:txBody>
          <a:bodyPr wrap="square" lIns="0" tIns="0" rIns="0" bIns="0" rtlCol="0" anchor="ctr"/>
          <a:lstStyle/>
          <a:p>
            <a:pPr marL="0" indent="0">
              <a:buNone/>
            </a:pPr>
            <a:r>
              <a:rPr lang="en-US" sz="1400" b="1" dirty="0">
                <a:solidFill>
                  <a:srgbClr val="00E676"/>
                </a:solidFill>
              </a:rPr>
              <a:t>2014</a:t>
            </a:r>
            <a:endParaRPr lang="en-US" sz="1400" dirty="0"/>
          </a:p>
        </p:txBody>
      </p:sp>
      <p:sp>
        <p:nvSpPr>
          <p:cNvPr id="19" name="Text 17"/>
          <p:cNvSpPr/>
          <p:nvPr/>
        </p:nvSpPr>
        <p:spPr>
          <a:xfrm>
            <a:off x="4709160" y="1999488"/>
            <a:ext cx="1828800" cy="384048"/>
          </a:xfrm>
          <a:prstGeom prst="rect">
            <a:avLst/>
          </a:prstGeom>
          <a:noFill/>
          <a:ln/>
        </p:spPr>
        <p:txBody>
          <a:bodyPr wrap="square" lIns="0" tIns="0" rIns="0" bIns="0" rtlCol="0" anchor="ctr"/>
          <a:lstStyle/>
          <a:p>
            <a:pPr marL="0" indent="0">
              <a:buNone/>
            </a:pPr>
            <a:r>
              <a:rPr lang="en-US" b="1" dirty="0">
                <a:solidFill>
                  <a:srgbClr val="FFFFFF"/>
                </a:solidFill>
              </a:rPr>
              <a:t>Material Design</a:t>
            </a:r>
            <a:endParaRPr lang="en-US" dirty="0"/>
          </a:p>
        </p:txBody>
      </p:sp>
      <p:sp>
        <p:nvSpPr>
          <p:cNvPr id="20" name="Text 18"/>
          <p:cNvSpPr/>
          <p:nvPr/>
        </p:nvSpPr>
        <p:spPr>
          <a:xfrm>
            <a:off x="4709160" y="2484120"/>
            <a:ext cx="1828800" cy="995172"/>
          </a:xfrm>
          <a:prstGeom prst="rect">
            <a:avLst/>
          </a:prstGeom>
          <a:noFill/>
          <a:ln/>
        </p:spPr>
        <p:txBody>
          <a:bodyPr wrap="square" lIns="0" tIns="0" rIns="0" bIns="0" rtlCol="0" anchor="t"/>
          <a:lstStyle/>
          <a:p>
            <a:pPr marL="0" indent="0">
              <a:buNone/>
            </a:pPr>
            <a:r>
              <a:rPr lang="en-US" sz="1200" dirty="0">
                <a:solidFill>
                  <a:srgbClr val="8899AA"/>
                </a:solidFill>
              </a:rPr>
              <a:t>Google wprowadza Material Design — jednolity język wizualny dla Android. Flat design, cienie, animacje jako informacja.</a:t>
            </a:r>
            <a:endParaRPr lang="en-US" sz="1200" dirty="0"/>
          </a:p>
        </p:txBody>
      </p:sp>
      <p:sp>
        <p:nvSpPr>
          <p:cNvPr id="22" name="Shape 20"/>
          <p:cNvSpPr/>
          <p:nvPr/>
        </p:nvSpPr>
        <p:spPr>
          <a:xfrm>
            <a:off x="6766560" y="1524000"/>
            <a:ext cx="2011680" cy="2070084"/>
          </a:xfrm>
          <a:prstGeom prst="rect">
            <a:avLst/>
          </a:prstGeom>
          <a:solidFill>
            <a:srgbClr val="112233"/>
          </a:solidFill>
          <a:ln w="12700">
            <a:solidFill>
              <a:srgbClr val="1A3050"/>
            </a:solidFill>
            <a:prstDash val="solid"/>
          </a:ln>
        </p:spPr>
      </p:sp>
      <p:sp>
        <p:nvSpPr>
          <p:cNvPr id="23" name="Shape 21"/>
          <p:cNvSpPr/>
          <p:nvPr/>
        </p:nvSpPr>
        <p:spPr>
          <a:xfrm>
            <a:off x="6766560" y="1524000"/>
            <a:ext cx="2011680" cy="54864"/>
          </a:xfrm>
          <a:prstGeom prst="rect">
            <a:avLst/>
          </a:prstGeom>
          <a:solidFill>
            <a:srgbClr val="B388FF"/>
          </a:solidFill>
          <a:ln w="12700">
            <a:solidFill>
              <a:srgbClr val="B388FF"/>
            </a:solidFill>
            <a:prstDash val="solid"/>
          </a:ln>
        </p:spPr>
      </p:sp>
      <p:sp>
        <p:nvSpPr>
          <p:cNvPr id="24" name="Text 22"/>
          <p:cNvSpPr/>
          <p:nvPr/>
        </p:nvSpPr>
        <p:spPr>
          <a:xfrm>
            <a:off x="6858000" y="1661160"/>
            <a:ext cx="1828800" cy="274320"/>
          </a:xfrm>
          <a:prstGeom prst="rect">
            <a:avLst/>
          </a:prstGeom>
          <a:noFill/>
          <a:ln/>
        </p:spPr>
        <p:txBody>
          <a:bodyPr wrap="square" lIns="0" tIns="0" rIns="0" bIns="0" rtlCol="0" anchor="ctr"/>
          <a:lstStyle/>
          <a:p>
            <a:pPr marL="0" indent="0">
              <a:buNone/>
            </a:pPr>
            <a:r>
              <a:rPr lang="en-US" sz="1400" b="1" dirty="0">
                <a:solidFill>
                  <a:srgbClr val="B388FF"/>
                </a:solidFill>
              </a:rPr>
              <a:t>2020+</a:t>
            </a:r>
            <a:endParaRPr lang="en-US" sz="1400" dirty="0"/>
          </a:p>
        </p:txBody>
      </p:sp>
      <p:sp>
        <p:nvSpPr>
          <p:cNvPr id="25" name="Text 23"/>
          <p:cNvSpPr/>
          <p:nvPr/>
        </p:nvSpPr>
        <p:spPr>
          <a:xfrm>
            <a:off x="6858000" y="1999488"/>
            <a:ext cx="1828800" cy="384048"/>
          </a:xfrm>
          <a:prstGeom prst="rect">
            <a:avLst/>
          </a:prstGeom>
          <a:noFill/>
          <a:ln/>
        </p:spPr>
        <p:txBody>
          <a:bodyPr wrap="square" lIns="0" tIns="0" rIns="0" bIns="0" rtlCol="0" anchor="ctr"/>
          <a:lstStyle/>
          <a:p>
            <a:pPr marL="0" indent="0">
              <a:buNone/>
            </a:pPr>
            <a:r>
              <a:rPr lang="en-US" b="1" dirty="0">
                <a:solidFill>
                  <a:srgbClr val="FFFFFF"/>
                </a:solidFill>
              </a:rPr>
              <a:t>Współczesność</a:t>
            </a:r>
            <a:endParaRPr lang="en-US" dirty="0"/>
          </a:p>
        </p:txBody>
      </p:sp>
      <p:sp>
        <p:nvSpPr>
          <p:cNvPr id="26" name="Text 24"/>
          <p:cNvSpPr/>
          <p:nvPr/>
        </p:nvSpPr>
        <p:spPr>
          <a:xfrm>
            <a:off x="6858000" y="2484120"/>
            <a:ext cx="1828800" cy="995172"/>
          </a:xfrm>
          <a:prstGeom prst="rect">
            <a:avLst/>
          </a:prstGeom>
          <a:noFill/>
          <a:ln/>
        </p:spPr>
        <p:txBody>
          <a:bodyPr wrap="square" lIns="0" tIns="0" rIns="0" bIns="0" rtlCol="0" anchor="t"/>
          <a:lstStyle/>
          <a:p>
            <a:pPr marL="0" indent="0">
              <a:buNone/>
            </a:pPr>
            <a:r>
              <a:rPr lang="en-US" sz="1200" dirty="0">
                <a:solidFill>
                  <a:srgbClr val="8899AA"/>
                </a:solidFill>
              </a:rPr>
              <a:t>Neumorfizm, Dark Mode, AI-driven design, personalizacja. Design Systems i automatyzacja jako standard.</a:t>
            </a:r>
            <a:endParaRPr lang="en-US" sz="1200" dirty="0"/>
          </a:p>
        </p:txBody>
      </p:sp>
      <p:sp>
        <p:nvSpPr>
          <p:cNvPr id="28" name="Shape 26"/>
          <p:cNvSpPr/>
          <p:nvPr/>
        </p:nvSpPr>
        <p:spPr>
          <a:xfrm>
            <a:off x="320040" y="3957447"/>
            <a:ext cx="8503920" cy="54000"/>
          </a:xfrm>
          <a:prstGeom prst="rect">
            <a:avLst/>
          </a:prstGeom>
          <a:solidFill>
            <a:srgbClr val="7198D1"/>
          </a:solidFill>
          <a:ln w="12700">
            <a:solidFill>
              <a:srgbClr val="1A3050"/>
            </a:solidFill>
            <a:prstDash val="solid"/>
          </a:ln>
        </p:spPr>
      </p:sp>
      <p:sp>
        <p:nvSpPr>
          <p:cNvPr id="31" name="Text 29"/>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5 / </a:t>
            </a:r>
            <a:r>
              <a:rPr lang="pl-PL" sz="800" dirty="0" smtClean="0">
                <a:solidFill>
                  <a:srgbClr val="8899AA"/>
                </a:solidFill>
              </a:rPr>
              <a:t>46</a:t>
            </a:r>
            <a:endParaRPr lang="en-US" sz="800" dirty="0"/>
          </a:p>
        </p:txBody>
      </p:sp>
      <p:sp>
        <p:nvSpPr>
          <p:cNvPr id="9" name="Shape 7"/>
          <p:cNvSpPr/>
          <p:nvPr/>
        </p:nvSpPr>
        <p:spPr>
          <a:xfrm>
            <a:off x="1089660" y="3806571"/>
            <a:ext cx="360000" cy="360000"/>
          </a:xfrm>
          <a:prstGeom prst="ellipse">
            <a:avLst/>
          </a:prstGeom>
          <a:solidFill>
            <a:srgbClr val="00D4FF"/>
          </a:solidFill>
          <a:ln w="12700">
            <a:solidFill>
              <a:srgbClr val="00D4FF"/>
            </a:solidFill>
            <a:prstDash val="solid"/>
          </a:ln>
        </p:spPr>
      </p:sp>
      <p:sp>
        <p:nvSpPr>
          <p:cNvPr id="15" name="Shape 13"/>
          <p:cNvSpPr/>
          <p:nvPr/>
        </p:nvSpPr>
        <p:spPr>
          <a:xfrm>
            <a:off x="3238500" y="3806571"/>
            <a:ext cx="360000" cy="360000"/>
          </a:xfrm>
          <a:prstGeom prst="ellipse">
            <a:avLst/>
          </a:prstGeom>
          <a:solidFill>
            <a:srgbClr val="FF2D78"/>
          </a:solidFill>
          <a:ln w="12700">
            <a:solidFill>
              <a:srgbClr val="FF2D78"/>
            </a:solidFill>
            <a:prstDash val="solid"/>
          </a:ln>
        </p:spPr>
      </p:sp>
      <p:sp>
        <p:nvSpPr>
          <p:cNvPr id="21" name="Shape 19"/>
          <p:cNvSpPr/>
          <p:nvPr/>
        </p:nvSpPr>
        <p:spPr>
          <a:xfrm>
            <a:off x="5387340" y="3806571"/>
            <a:ext cx="360000" cy="360000"/>
          </a:xfrm>
          <a:prstGeom prst="ellipse">
            <a:avLst/>
          </a:prstGeom>
          <a:solidFill>
            <a:srgbClr val="00E676"/>
          </a:solidFill>
          <a:ln w="12700">
            <a:solidFill>
              <a:srgbClr val="00E676"/>
            </a:solidFill>
            <a:prstDash val="solid"/>
          </a:ln>
        </p:spPr>
      </p:sp>
      <p:sp>
        <p:nvSpPr>
          <p:cNvPr id="27" name="Shape 25"/>
          <p:cNvSpPr/>
          <p:nvPr/>
        </p:nvSpPr>
        <p:spPr>
          <a:xfrm>
            <a:off x="7536180" y="3806571"/>
            <a:ext cx="360000" cy="360000"/>
          </a:xfrm>
          <a:prstGeom prst="ellipse">
            <a:avLst/>
          </a:prstGeom>
          <a:solidFill>
            <a:srgbClr val="B388FF"/>
          </a:solidFill>
          <a:ln w="12700">
            <a:solidFill>
              <a:srgbClr val="B388FF"/>
            </a:solidFill>
            <a:prstDash val="solid"/>
          </a:ln>
        </p:spPr>
      </p:sp>
      <p:cxnSp>
        <p:nvCxnSpPr>
          <p:cNvPr id="85" name="Łącznik prosty ze strzałką 84"/>
          <p:cNvCxnSpPr/>
          <p:nvPr/>
        </p:nvCxnSpPr>
        <p:spPr>
          <a:xfrm>
            <a:off x="8689201" y="3983640"/>
            <a:ext cx="198767" cy="0"/>
          </a:xfrm>
          <a:prstGeom prst="straightConnector1">
            <a:avLst/>
          </a:prstGeom>
          <a:ln w="76200">
            <a:solidFill>
              <a:srgbClr val="7198D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grpSp>
        <p:nvGrpSpPr>
          <p:cNvPr id="28" name="Grupa 27"/>
          <p:cNvGrpSpPr/>
          <p:nvPr/>
        </p:nvGrpSpPr>
        <p:grpSpPr>
          <a:xfrm>
            <a:off x="-2381" y="4884912"/>
            <a:ext cx="9146381" cy="260136"/>
            <a:chOff x="-2381" y="4884912"/>
            <a:chExt cx="9146381" cy="260136"/>
          </a:xfrm>
        </p:grpSpPr>
        <p:sp>
          <p:nvSpPr>
            <p:cNvPr id="29" name="Shape 52"/>
            <p:cNvSpPr/>
            <p:nvPr/>
          </p:nvSpPr>
          <p:spPr>
            <a:xfrm>
              <a:off x="0" y="4884912"/>
              <a:ext cx="9144000" cy="252000"/>
            </a:xfrm>
            <a:prstGeom prst="rect">
              <a:avLst/>
            </a:prstGeom>
            <a:solidFill>
              <a:srgbClr val="071523"/>
            </a:solidFill>
            <a:ln w="12700">
              <a:solidFill>
                <a:srgbClr val="071523"/>
              </a:solidFill>
              <a:prstDash val="solid"/>
            </a:ln>
          </p:spPr>
        </p:sp>
        <p:sp>
          <p:nvSpPr>
            <p:cNvPr id="30"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31" name="Grupa 30"/>
            <p:cNvGrpSpPr/>
            <p:nvPr/>
          </p:nvGrpSpPr>
          <p:grpSpPr>
            <a:xfrm>
              <a:off x="-2381" y="5099329"/>
              <a:ext cx="9146381" cy="45719"/>
              <a:chOff x="-2381" y="5107500"/>
              <a:chExt cx="9111093" cy="37548"/>
            </a:xfrm>
            <a:solidFill>
              <a:schemeClr val="tx1"/>
            </a:solidFill>
          </p:grpSpPr>
          <p:sp>
            <p:nvSpPr>
              <p:cNvPr id="32"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33"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34"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35"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36"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37"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38" name="Shape 52"/>
              <p:cNvSpPr/>
              <p:nvPr/>
            </p:nvSpPr>
            <p:spPr>
              <a:xfrm>
                <a:off x="1188000" y="5108400"/>
                <a:ext cx="198000" cy="36000"/>
              </a:xfrm>
              <a:prstGeom prst="rect">
                <a:avLst/>
              </a:prstGeom>
              <a:solidFill>
                <a:schemeClr val="tx1"/>
              </a:solidFill>
              <a:ln w="12700">
                <a:noFill/>
                <a:prstDash val="solid"/>
              </a:ln>
            </p:spPr>
          </p:sp>
          <p:sp>
            <p:nvSpPr>
              <p:cNvPr id="39" name="Shape 52"/>
              <p:cNvSpPr/>
              <p:nvPr/>
            </p:nvSpPr>
            <p:spPr>
              <a:xfrm>
                <a:off x="1386000" y="5107500"/>
                <a:ext cx="198000" cy="36000"/>
              </a:xfrm>
              <a:prstGeom prst="rect">
                <a:avLst/>
              </a:prstGeom>
              <a:grpFill/>
              <a:ln w="12700">
                <a:noFill/>
                <a:prstDash val="solid"/>
              </a:ln>
            </p:spPr>
          </p:sp>
          <p:sp>
            <p:nvSpPr>
              <p:cNvPr id="40" name="Shape 52"/>
              <p:cNvSpPr/>
              <p:nvPr/>
            </p:nvSpPr>
            <p:spPr>
              <a:xfrm>
                <a:off x="1584000" y="5107500"/>
                <a:ext cx="198000" cy="36000"/>
              </a:xfrm>
              <a:prstGeom prst="rect">
                <a:avLst/>
              </a:prstGeom>
              <a:grpFill/>
              <a:ln w="12700">
                <a:noFill/>
                <a:prstDash val="solid"/>
              </a:ln>
            </p:spPr>
          </p:sp>
          <p:sp>
            <p:nvSpPr>
              <p:cNvPr id="41" name="Shape 52"/>
              <p:cNvSpPr/>
              <p:nvPr/>
            </p:nvSpPr>
            <p:spPr>
              <a:xfrm>
                <a:off x="1782000" y="5107500"/>
                <a:ext cx="198000" cy="36000"/>
              </a:xfrm>
              <a:prstGeom prst="rect">
                <a:avLst/>
              </a:prstGeom>
              <a:grpFill/>
              <a:ln w="12700">
                <a:noFill/>
                <a:prstDash val="solid"/>
              </a:ln>
            </p:spPr>
          </p:sp>
          <p:sp>
            <p:nvSpPr>
              <p:cNvPr id="42" name="Shape 52"/>
              <p:cNvSpPr/>
              <p:nvPr/>
            </p:nvSpPr>
            <p:spPr>
              <a:xfrm>
                <a:off x="1980000" y="5107500"/>
                <a:ext cx="198000" cy="36000"/>
              </a:xfrm>
              <a:prstGeom prst="rect">
                <a:avLst/>
              </a:prstGeom>
              <a:grpFill/>
              <a:ln w="12700">
                <a:noFill/>
                <a:prstDash val="solid"/>
              </a:ln>
            </p:spPr>
          </p:sp>
          <p:sp>
            <p:nvSpPr>
              <p:cNvPr id="43" name="Shape 52"/>
              <p:cNvSpPr/>
              <p:nvPr/>
            </p:nvSpPr>
            <p:spPr>
              <a:xfrm>
                <a:off x="2178000" y="5107500"/>
                <a:ext cx="198000" cy="36000"/>
              </a:xfrm>
              <a:prstGeom prst="rect">
                <a:avLst/>
              </a:prstGeom>
              <a:grpFill/>
              <a:ln w="12700">
                <a:noFill/>
                <a:prstDash val="solid"/>
              </a:ln>
            </p:spPr>
          </p:sp>
          <p:sp>
            <p:nvSpPr>
              <p:cNvPr id="44" name="Shape 52"/>
              <p:cNvSpPr/>
              <p:nvPr/>
            </p:nvSpPr>
            <p:spPr>
              <a:xfrm>
                <a:off x="2376000" y="5107500"/>
                <a:ext cx="198000" cy="36000"/>
              </a:xfrm>
              <a:prstGeom prst="rect">
                <a:avLst/>
              </a:prstGeom>
              <a:grpFill/>
              <a:ln w="12700">
                <a:noFill/>
                <a:prstDash val="solid"/>
              </a:ln>
            </p:spPr>
          </p:sp>
          <p:sp>
            <p:nvSpPr>
              <p:cNvPr id="45" name="Shape 52"/>
              <p:cNvSpPr/>
              <p:nvPr/>
            </p:nvSpPr>
            <p:spPr>
              <a:xfrm>
                <a:off x="2574000" y="5107500"/>
                <a:ext cx="198000" cy="36000"/>
              </a:xfrm>
              <a:prstGeom prst="rect">
                <a:avLst/>
              </a:prstGeom>
              <a:grpFill/>
              <a:ln w="12700">
                <a:noFill/>
                <a:prstDash val="solid"/>
              </a:ln>
            </p:spPr>
          </p:sp>
          <p:sp>
            <p:nvSpPr>
              <p:cNvPr id="46" name="Shape 52"/>
              <p:cNvSpPr/>
              <p:nvPr/>
            </p:nvSpPr>
            <p:spPr>
              <a:xfrm>
                <a:off x="2772712" y="5108400"/>
                <a:ext cx="198000" cy="36000"/>
              </a:xfrm>
              <a:prstGeom prst="rect">
                <a:avLst/>
              </a:prstGeom>
              <a:grpFill/>
              <a:ln w="12700">
                <a:noFill/>
                <a:prstDash val="solid"/>
              </a:ln>
            </p:spPr>
          </p:sp>
          <p:sp>
            <p:nvSpPr>
              <p:cNvPr id="47" name="Shape 52"/>
              <p:cNvSpPr/>
              <p:nvPr/>
            </p:nvSpPr>
            <p:spPr>
              <a:xfrm>
                <a:off x="2970712" y="5108400"/>
                <a:ext cx="198000" cy="36000"/>
              </a:xfrm>
              <a:prstGeom prst="rect">
                <a:avLst/>
              </a:prstGeom>
              <a:grpFill/>
              <a:ln w="12700">
                <a:noFill/>
                <a:prstDash val="solid"/>
              </a:ln>
            </p:spPr>
          </p:sp>
          <p:sp>
            <p:nvSpPr>
              <p:cNvPr id="48" name="Shape 52"/>
              <p:cNvSpPr/>
              <p:nvPr/>
            </p:nvSpPr>
            <p:spPr>
              <a:xfrm>
                <a:off x="3168712" y="5108400"/>
                <a:ext cx="198000" cy="36000"/>
              </a:xfrm>
              <a:prstGeom prst="rect">
                <a:avLst/>
              </a:prstGeom>
              <a:grpFill/>
              <a:ln w="12700">
                <a:noFill/>
                <a:prstDash val="solid"/>
              </a:ln>
            </p:spPr>
          </p:sp>
          <p:sp>
            <p:nvSpPr>
              <p:cNvPr id="49" name="Shape 52"/>
              <p:cNvSpPr/>
              <p:nvPr/>
            </p:nvSpPr>
            <p:spPr>
              <a:xfrm>
                <a:off x="3366712" y="5108400"/>
                <a:ext cx="198000" cy="36000"/>
              </a:xfrm>
              <a:prstGeom prst="rect">
                <a:avLst/>
              </a:prstGeom>
              <a:grpFill/>
              <a:ln w="12700">
                <a:noFill/>
                <a:prstDash val="solid"/>
              </a:ln>
            </p:spPr>
          </p:sp>
          <p:sp>
            <p:nvSpPr>
              <p:cNvPr id="50" name="Shape 52"/>
              <p:cNvSpPr/>
              <p:nvPr/>
            </p:nvSpPr>
            <p:spPr>
              <a:xfrm>
                <a:off x="3564712" y="5108400"/>
                <a:ext cx="198000" cy="36000"/>
              </a:xfrm>
              <a:prstGeom prst="rect">
                <a:avLst/>
              </a:prstGeom>
              <a:grpFill/>
              <a:ln w="12700">
                <a:noFill/>
                <a:prstDash val="solid"/>
              </a:ln>
            </p:spPr>
          </p:sp>
          <p:sp>
            <p:nvSpPr>
              <p:cNvPr id="51" name="Shape 52"/>
              <p:cNvSpPr/>
              <p:nvPr/>
            </p:nvSpPr>
            <p:spPr>
              <a:xfrm>
                <a:off x="3762712" y="5108400"/>
                <a:ext cx="198000" cy="36000"/>
              </a:xfrm>
              <a:prstGeom prst="rect">
                <a:avLst/>
              </a:prstGeom>
              <a:grpFill/>
              <a:ln w="12700">
                <a:noFill/>
                <a:prstDash val="solid"/>
              </a:ln>
            </p:spPr>
          </p:sp>
          <p:sp>
            <p:nvSpPr>
              <p:cNvPr id="52" name="Shape 52"/>
              <p:cNvSpPr/>
              <p:nvPr/>
            </p:nvSpPr>
            <p:spPr>
              <a:xfrm>
                <a:off x="3960712" y="5107530"/>
                <a:ext cx="198000" cy="36000"/>
              </a:xfrm>
              <a:prstGeom prst="rect">
                <a:avLst/>
              </a:prstGeom>
              <a:grpFill/>
              <a:ln w="12700">
                <a:noFill/>
                <a:prstDash val="solid"/>
              </a:ln>
            </p:spPr>
          </p:sp>
          <p:sp>
            <p:nvSpPr>
              <p:cNvPr id="53" name="Shape 52"/>
              <p:cNvSpPr/>
              <p:nvPr/>
            </p:nvSpPr>
            <p:spPr>
              <a:xfrm>
                <a:off x="4158712" y="5107500"/>
                <a:ext cx="198000" cy="36000"/>
              </a:xfrm>
              <a:prstGeom prst="rect">
                <a:avLst/>
              </a:prstGeom>
              <a:grpFill/>
              <a:ln w="12700">
                <a:noFill/>
                <a:prstDash val="solid"/>
              </a:ln>
            </p:spPr>
          </p:sp>
          <p:sp>
            <p:nvSpPr>
              <p:cNvPr id="54" name="Shape 52"/>
              <p:cNvSpPr/>
              <p:nvPr/>
            </p:nvSpPr>
            <p:spPr>
              <a:xfrm>
                <a:off x="4356712" y="5107500"/>
                <a:ext cx="198000" cy="36000"/>
              </a:xfrm>
              <a:prstGeom prst="rect">
                <a:avLst/>
              </a:prstGeom>
              <a:grpFill/>
              <a:ln w="12700">
                <a:noFill/>
                <a:prstDash val="solid"/>
              </a:ln>
            </p:spPr>
          </p:sp>
          <p:sp>
            <p:nvSpPr>
              <p:cNvPr id="55" name="Shape 52"/>
              <p:cNvSpPr/>
              <p:nvPr/>
            </p:nvSpPr>
            <p:spPr>
              <a:xfrm>
                <a:off x="4554712" y="5107500"/>
                <a:ext cx="198000" cy="36000"/>
              </a:xfrm>
              <a:prstGeom prst="rect">
                <a:avLst/>
              </a:prstGeom>
              <a:grpFill/>
              <a:ln w="12700">
                <a:noFill/>
                <a:prstDash val="solid"/>
              </a:ln>
            </p:spPr>
          </p:sp>
          <p:sp>
            <p:nvSpPr>
              <p:cNvPr id="56" name="Shape 52"/>
              <p:cNvSpPr/>
              <p:nvPr/>
            </p:nvSpPr>
            <p:spPr>
              <a:xfrm>
                <a:off x="4752712" y="5107500"/>
                <a:ext cx="198000" cy="36000"/>
              </a:xfrm>
              <a:prstGeom prst="rect">
                <a:avLst/>
              </a:prstGeom>
              <a:grpFill/>
              <a:ln w="12700">
                <a:noFill/>
                <a:prstDash val="solid"/>
              </a:ln>
            </p:spPr>
          </p:sp>
          <p:sp>
            <p:nvSpPr>
              <p:cNvPr id="57" name="Shape 52"/>
              <p:cNvSpPr/>
              <p:nvPr/>
            </p:nvSpPr>
            <p:spPr>
              <a:xfrm>
                <a:off x="4950712" y="5107500"/>
                <a:ext cx="198000" cy="36000"/>
              </a:xfrm>
              <a:prstGeom prst="rect">
                <a:avLst/>
              </a:prstGeom>
              <a:grpFill/>
              <a:ln w="12700">
                <a:noFill/>
                <a:prstDash val="solid"/>
              </a:ln>
            </p:spPr>
          </p:sp>
          <p:sp>
            <p:nvSpPr>
              <p:cNvPr id="58" name="Shape 52"/>
              <p:cNvSpPr/>
              <p:nvPr/>
            </p:nvSpPr>
            <p:spPr>
              <a:xfrm>
                <a:off x="5148712" y="5107500"/>
                <a:ext cx="198000" cy="36000"/>
              </a:xfrm>
              <a:prstGeom prst="rect">
                <a:avLst/>
              </a:prstGeom>
              <a:grpFill/>
              <a:ln w="12700">
                <a:noFill/>
                <a:prstDash val="solid"/>
              </a:ln>
            </p:spPr>
          </p:sp>
          <p:sp>
            <p:nvSpPr>
              <p:cNvPr id="59" name="Shape 52"/>
              <p:cNvSpPr/>
              <p:nvPr/>
            </p:nvSpPr>
            <p:spPr>
              <a:xfrm>
                <a:off x="5346712" y="5108400"/>
                <a:ext cx="198000" cy="36000"/>
              </a:xfrm>
              <a:prstGeom prst="rect">
                <a:avLst/>
              </a:prstGeom>
              <a:grpFill/>
              <a:ln w="12700">
                <a:noFill/>
                <a:prstDash val="solid"/>
              </a:ln>
            </p:spPr>
          </p:sp>
          <p:sp>
            <p:nvSpPr>
              <p:cNvPr id="60" name="Shape 52"/>
              <p:cNvSpPr/>
              <p:nvPr/>
            </p:nvSpPr>
            <p:spPr>
              <a:xfrm>
                <a:off x="5544712" y="5108400"/>
                <a:ext cx="198000" cy="36000"/>
              </a:xfrm>
              <a:prstGeom prst="rect">
                <a:avLst/>
              </a:prstGeom>
              <a:grpFill/>
              <a:ln w="12700">
                <a:noFill/>
                <a:prstDash val="solid"/>
              </a:ln>
            </p:spPr>
          </p:sp>
          <p:sp>
            <p:nvSpPr>
              <p:cNvPr id="61" name="Shape 52"/>
              <p:cNvSpPr/>
              <p:nvPr/>
            </p:nvSpPr>
            <p:spPr>
              <a:xfrm>
                <a:off x="5742712" y="5108400"/>
                <a:ext cx="198000" cy="36000"/>
              </a:xfrm>
              <a:prstGeom prst="rect">
                <a:avLst/>
              </a:prstGeom>
              <a:grpFill/>
              <a:ln w="12700">
                <a:noFill/>
                <a:prstDash val="solid"/>
              </a:ln>
            </p:spPr>
          </p:sp>
          <p:sp>
            <p:nvSpPr>
              <p:cNvPr id="62" name="Shape 52"/>
              <p:cNvSpPr/>
              <p:nvPr/>
            </p:nvSpPr>
            <p:spPr>
              <a:xfrm>
                <a:off x="5940712" y="5108400"/>
                <a:ext cx="198000" cy="36000"/>
              </a:xfrm>
              <a:prstGeom prst="rect">
                <a:avLst/>
              </a:prstGeom>
              <a:grpFill/>
              <a:ln w="12700">
                <a:noFill/>
                <a:prstDash val="solid"/>
              </a:ln>
            </p:spPr>
          </p:sp>
          <p:sp>
            <p:nvSpPr>
              <p:cNvPr id="63" name="Shape 52"/>
              <p:cNvSpPr/>
              <p:nvPr/>
            </p:nvSpPr>
            <p:spPr>
              <a:xfrm>
                <a:off x="6138712" y="5108400"/>
                <a:ext cx="198000" cy="36000"/>
              </a:xfrm>
              <a:prstGeom prst="rect">
                <a:avLst/>
              </a:prstGeom>
              <a:grpFill/>
              <a:ln w="12700">
                <a:noFill/>
                <a:prstDash val="solid"/>
              </a:ln>
            </p:spPr>
          </p:sp>
          <p:sp>
            <p:nvSpPr>
              <p:cNvPr id="64" name="Shape 52"/>
              <p:cNvSpPr/>
              <p:nvPr/>
            </p:nvSpPr>
            <p:spPr>
              <a:xfrm>
                <a:off x="6336712" y="5108400"/>
                <a:ext cx="198000" cy="36000"/>
              </a:xfrm>
              <a:prstGeom prst="rect">
                <a:avLst/>
              </a:prstGeom>
              <a:grpFill/>
              <a:ln w="12700">
                <a:noFill/>
                <a:prstDash val="solid"/>
              </a:ln>
            </p:spPr>
          </p:sp>
          <p:sp>
            <p:nvSpPr>
              <p:cNvPr id="65" name="Shape 52"/>
              <p:cNvSpPr/>
              <p:nvPr/>
            </p:nvSpPr>
            <p:spPr>
              <a:xfrm>
                <a:off x="6534712" y="5108400"/>
                <a:ext cx="198000" cy="36000"/>
              </a:xfrm>
              <a:prstGeom prst="rect">
                <a:avLst/>
              </a:prstGeom>
              <a:grpFill/>
              <a:ln w="12700">
                <a:noFill/>
                <a:prstDash val="solid"/>
              </a:ln>
            </p:spPr>
          </p:sp>
          <p:sp>
            <p:nvSpPr>
              <p:cNvPr id="66" name="Shape 52"/>
              <p:cNvSpPr/>
              <p:nvPr/>
            </p:nvSpPr>
            <p:spPr>
              <a:xfrm>
                <a:off x="6732712" y="5108400"/>
                <a:ext cx="198000" cy="36000"/>
              </a:xfrm>
              <a:prstGeom prst="rect">
                <a:avLst/>
              </a:prstGeom>
              <a:grpFill/>
              <a:ln w="12700">
                <a:noFill/>
                <a:prstDash val="solid"/>
              </a:ln>
            </p:spPr>
          </p:sp>
          <p:sp>
            <p:nvSpPr>
              <p:cNvPr id="67" name="Shape 52"/>
              <p:cNvSpPr/>
              <p:nvPr/>
            </p:nvSpPr>
            <p:spPr>
              <a:xfrm>
                <a:off x="6930712" y="5108400"/>
                <a:ext cx="198000" cy="36000"/>
              </a:xfrm>
              <a:prstGeom prst="rect">
                <a:avLst/>
              </a:prstGeom>
              <a:grpFill/>
              <a:ln w="12700">
                <a:noFill/>
                <a:prstDash val="solid"/>
              </a:ln>
            </p:spPr>
          </p:sp>
          <p:sp>
            <p:nvSpPr>
              <p:cNvPr id="68" name="Shape 52"/>
              <p:cNvSpPr/>
              <p:nvPr/>
            </p:nvSpPr>
            <p:spPr>
              <a:xfrm>
                <a:off x="7128712" y="5108400"/>
                <a:ext cx="198000" cy="36000"/>
              </a:xfrm>
              <a:prstGeom prst="rect">
                <a:avLst/>
              </a:prstGeom>
              <a:grpFill/>
              <a:ln w="12700">
                <a:noFill/>
                <a:prstDash val="solid"/>
              </a:ln>
            </p:spPr>
          </p:sp>
          <p:sp>
            <p:nvSpPr>
              <p:cNvPr id="69" name="Shape 52"/>
              <p:cNvSpPr/>
              <p:nvPr/>
            </p:nvSpPr>
            <p:spPr>
              <a:xfrm>
                <a:off x="7326712" y="5108400"/>
                <a:ext cx="198000" cy="36000"/>
              </a:xfrm>
              <a:prstGeom prst="rect">
                <a:avLst/>
              </a:prstGeom>
              <a:grpFill/>
              <a:ln w="12700">
                <a:noFill/>
                <a:prstDash val="solid"/>
              </a:ln>
            </p:spPr>
          </p:sp>
          <p:sp>
            <p:nvSpPr>
              <p:cNvPr id="70" name="Shape 52"/>
              <p:cNvSpPr/>
              <p:nvPr/>
            </p:nvSpPr>
            <p:spPr>
              <a:xfrm>
                <a:off x="7524712" y="5108400"/>
                <a:ext cx="198000" cy="36000"/>
              </a:xfrm>
              <a:prstGeom prst="rect">
                <a:avLst/>
              </a:prstGeom>
              <a:grpFill/>
              <a:ln w="12700">
                <a:noFill/>
                <a:prstDash val="solid"/>
              </a:ln>
            </p:spPr>
          </p:sp>
          <p:sp>
            <p:nvSpPr>
              <p:cNvPr id="71" name="Shape 52"/>
              <p:cNvSpPr/>
              <p:nvPr/>
            </p:nvSpPr>
            <p:spPr>
              <a:xfrm>
                <a:off x="7722712" y="5108400"/>
                <a:ext cx="198000" cy="36000"/>
              </a:xfrm>
              <a:prstGeom prst="rect">
                <a:avLst/>
              </a:prstGeom>
              <a:grpFill/>
              <a:ln w="12700">
                <a:noFill/>
                <a:prstDash val="solid"/>
              </a:ln>
            </p:spPr>
          </p:sp>
          <p:sp>
            <p:nvSpPr>
              <p:cNvPr id="72" name="Shape 52"/>
              <p:cNvSpPr/>
              <p:nvPr/>
            </p:nvSpPr>
            <p:spPr>
              <a:xfrm>
                <a:off x="7920712" y="5109048"/>
                <a:ext cx="198000" cy="36000"/>
              </a:xfrm>
              <a:prstGeom prst="rect">
                <a:avLst/>
              </a:prstGeom>
              <a:grpFill/>
              <a:ln w="12700">
                <a:noFill/>
                <a:prstDash val="solid"/>
              </a:ln>
            </p:spPr>
          </p:sp>
          <p:sp>
            <p:nvSpPr>
              <p:cNvPr id="73" name="Shape 52"/>
              <p:cNvSpPr/>
              <p:nvPr/>
            </p:nvSpPr>
            <p:spPr>
              <a:xfrm>
                <a:off x="8118712" y="5109048"/>
                <a:ext cx="198000" cy="36000"/>
              </a:xfrm>
              <a:prstGeom prst="rect">
                <a:avLst/>
              </a:prstGeom>
              <a:grpFill/>
              <a:ln w="12700">
                <a:noFill/>
                <a:prstDash val="solid"/>
              </a:ln>
            </p:spPr>
          </p:sp>
          <p:sp>
            <p:nvSpPr>
              <p:cNvPr id="74" name="Shape 52"/>
              <p:cNvSpPr/>
              <p:nvPr/>
            </p:nvSpPr>
            <p:spPr>
              <a:xfrm>
                <a:off x="8316712" y="5109048"/>
                <a:ext cx="198000" cy="36000"/>
              </a:xfrm>
              <a:prstGeom prst="rect">
                <a:avLst/>
              </a:prstGeom>
              <a:grpFill/>
              <a:ln w="12700">
                <a:noFill/>
                <a:prstDash val="solid"/>
              </a:ln>
            </p:spPr>
          </p:sp>
          <p:sp>
            <p:nvSpPr>
              <p:cNvPr id="75" name="Shape 52"/>
              <p:cNvSpPr/>
              <p:nvPr/>
            </p:nvSpPr>
            <p:spPr>
              <a:xfrm>
                <a:off x="8514712" y="5109048"/>
                <a:ext cx="198000" cy="36000"/>
              </a:xfrm>
              <a:prstGeom prst="rect">
                <a:avLst/>
              </a:prstGeom>
              <a:grpFill/>
              <a:ln w="12700">
                <a:noFill/>
                <a:prstDash val="solid"/>
              </a:ln>
            </p:spPr>
          </p:sp>
          <p:sp>
            <p:nvSpPr>
              <p:cNvPr id="76" name="Shape 52"/>
              <p:cNvSpPr/>
              <p:nvPr/>
            </p:nvSpPr>
            <p:spPr>
              <a:xfrm>
                <a:off x="8712712" y="5109048"/>
                <a:ext cx="198000" cy="36000"/>
              </a:xfrm>
              <a:prstGeom prst="rect">
                <a:avLst/>
              </a:prstGeom>
              <a:grpFill/>
              <a:ln w="12700">
                <a:noFill/>
                <a:prstDash val="solid"/>
              </a:ln>
            </p:spPr>
          </p:sp>
          <p:sp>
            <p:nvSpPr>
              <p:cNvPr id="77"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00D4FF"/>
          </a:solidFill>
          <a:ln w="12700">
            <a:solidFill>
              <a:srgbClr val="00D4FF"/>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Specyfika Projektowania dla Urządzeń Mobilnych</a:t>
            </a:r>
            <a:endParaRPr lang="en-US" sz="2200" dirty="0"/>
          </a:p>
        </p:txBody>
      </p:sp>
      <p:sp>
        <p:nvSpPr>
          <p:cNvPr id="4" name="Shape 2"/>
          <p:cNvSpPr/>
          <p:nvPr/>
        </p:nvSpPr>
        <p:spPr>
          <a:xfrm>
            <a:off x="320040" y="960120"/>
            <a:ext cx="2743200" cy="246888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5" name="Shape 3"/>
          <p:cNvSpPr/>
          <p:nvPr/>
        </p:nvSpPr>
        <p:spPr>
          <a:xfrm>
            <a:off x="320040" y="960120"/>
            <a:ext cx="45720" cy="2468880"/>
          </a:xfrm>
          <a:prstGeom prst="rect">
            <a:avLst/>
          </a:prstGeom>
          <a:solidFill>
            <a:srgbClr val="00D4FF"/>
          </a:solidFill>
          <a:ln w="12700">
            <a:solidFill>
              <a:srgbClr val="00D4FF"/>
            </a:solidFill>
            <a:prstDash val="solid"/>
          </a:ln>
        </p:spPr>
      </p:sp>
      <p:sp>
        <p:nvSpPr>
          <p:cNvPr id="6" name="Text 4"/>
          <p:cNvSpPr/>
          <p:nvPr/>
        </p:nvSpPr>
        <p:spPr>
          <a:xfrm>
            <a:off x="429768" y="1024128"/>
            <a:ext cx="2587752" cy="256032"/>
          </a:xfrm>
          <a:prstGeom prst="rect">
            <a:avLst/>
          </a:prstGeom>
          <a:noFill/>
          <a:ln/>
        </p:spPr>
        <p:txBody>
          <a:bodyPr wrap="square" lIns="0" tIns="0" rIns="0" bIns="0" rtlCol="0" anchor="t"/>
          <a:lstStyle/>
          <a:p>
            <a:pPr marL="0" indent="0">
              <a:buNone/>
            </a:pPr>
            <a:r>
              <a:rPr lang="en-US" sz="1000" b="1" dirty="0">
                <a:solidFill>
                  <a:srgbClr val="00D4FF"/>
                </a:solidFill>
              </a:rPr>
              <a:t>Ograniczona Przestrzeń</a:t>
            </a:r>
            <a:endParaRPr lang="en-US" sz="1000" dirty="0"/>
          </a:p>
        </p:txBody>
      </p:sp>
      <p:sp>
        <p:nvSpPr>
          <p:cNvPr id="7" name="Text 5"/>
          <p:cNvSpPr/>
          <p:nvPr/>
        </p:nvSpPr>
        <p:spPr>
          <a:xfrm>
            <a:off x="429768" y="1289304"/>
            <a:ext cx="2587752" cy="2084832"/>
          </a:xfrm>
          <a:prstGeom prst="rect">
            <a:avLst/>
          </a:prstGeom>
          <a:noFill/>
          <a:ln/>
        </p:spPr>
        <p:txBody>
          <a:bodyPr wrap="square" lIns="0" tIns="0" rIns="0" bIns="0" rtlCol="0" anchor="t"/>
          <a:lstStyle/>
          <a:p>
            <a:pPr marL="0" indent="0">
              <a:buNone/>
            </a:pPr>
            <a:r>
              <a:rPr lang="en-US" sz="950" dirty="0">
                <a:solidFill>
                  <a:srgbClr val="CCDDEE"/>
                </a:solidFill>
              </a:rPr>
              <a:t>Ekrany 4–7 cali wymagają radykalnej priorytetyzacji treści. Mniej miejsca = większa odpowiedzialność projektanta. Progresywne ujawnianie, hierarchia.</a:t>
            </a:r>
            <a:endParaRPr lang="en-US" sz="950" dirty="0"/>
          </a:p>
        </p:txBody>
      </p:sp>
      <p:sp>
        <p:nvSpPr>
          <p:cNvPr id="8" name="Shape 6"/>
          <p:cNvSpPr/>
          <p:nvPr/>
        </p:nvSpPr>
        <p:spPr>
          <a:xfrm>
            <a:off x="3200400" y="960120"/>
            <a:ext cx="2743200" cy="246888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9" name="Shape 7"/>
          <p:cNvSpPr/>
          <p:nvPr/>
        </p:nvSpPr>
        <p:spPr>
          <a:xfrm>
            <a:off x="3200400" y="960120"/>
            <a:ext cx="45720" cy="2468880"/>
          </a:xfrm>
          <a:prstGeom prst="rect">
            <a:avLst/>
          </a:prstGeom>
          <a:solidFill>
            <a:srgbClr val="FF2D78"/>
          </a:solidFill>
          <a:ln w="12700">
            <a:solidFill>
              <a:srgbClr val="FF2D78"/>
            </a:solidFill>
            <a:prstDash val="solid"/>
          </a:ln>
        </p:spPr>
      </p:sp>
      <p:sp>
        <p:nvSpPr>
          <p:cNvPr id="10" name="Text 8"/>
          <p:cNvSpPr/>
          <p:nvPr/>
        </p:nvSpPr>
        <p:spPr>
          <a:xfrm>
            <a:off x="3310128" y="1024128"/>
            <a:ext cx="2587752" cy="256032"/>
          </a:xfrm>
          <a:prstGeom prst="rect">
            <a:avLst/>
          </a:prstGeom>
          <a:noFill/>
          <a:ln/>
        </p:spPr>
        <p:txBody>
          <a:bodyPr wrap="square" lIns="0" tIns="0" rIns="0" bIns="0" rtlCol="0" anchor="t"/>
          <a:lstStyle/>
          <a:p>
            <a:pPr marL="0" indent="0">
              <a:buNone/>
            </a:pPr>
            <a:r>
              <a:rPr lang="en-US" sz="1000" b="1" dirty="0">
                <a:solidFill>
                  <a:srgbClr val="FF2D78"/>
                </a:solidFill>
              </a:rPr>
              <a:t>Interakcje Dotykowe</a:t>
            </a:r>
            <a:endParaRPr lang="en-US" sz="1000" dirty="0"/>
          </a:p>
        </p:txBody>
      </p:sp>
      <p:sp>
        <p:nvSpPr>
          <p:cNvPr id="11" name="Text 9"/>
          <p:cNvSpPr/>
          <p:nvPr/>
        </p:nvSpPr>
        <p:spPr>
          <a:xfrm>
            <a:off x="3310128" y="1289304"/>
            <a:ext cx="2587752" cy="2084832"/>
          </a:xfrm>
          <a:prstGeom prst="rect">
            <a:avLst/>
          </a:prstGeom>
          <a:noFill/>
          <a:ln/>
        </p:spPr>
        <p:txBody>
          <a:bodyPr wrap="square" lIns="0" tIns="0" rIns="0" bIns="0" rtlCol="0" anchor="t"/>
          <a:lstStyle/>
          <a:p>
            <a:pPr marL="0" indent="0">
              <a:buNone/>
            </a:pPr>
            <a:r>
              <a:rPr lang="en-US" sz="950" dirty="0">
                <a:solidFill>
                  <a:srgbClr val="CCDDEE"/>
                </a:solidFill>
              </a:rPr>
              <a:t>Projektowanie pod palce, nie kursor. Precyzja dotykowa jest niższa. Min. 44–48px cel dotykowy, odpowiednie odstępy, strefa kciuka.</a:t>
            </a:r>
            <a:endParaRPr lang="en-US" sz="950" dirty="0"/>
          </a:p>
        </p:txBody>
      </p:sp>
      <p:sp>
        <p:nvSpPr>
          <p:cNvPr id="12" name="Shape 10"/>
          <p:cNvSpPr/>
          <p:nvPr/>
        </p:nvSpPr>
        <p:spPr>
          <a:xfrm>
            <a:off x="6080760" y="960120"/>
            <a:ext cx="2743200" cy="246888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13" name="Shape 11"/>
          <p:cNvSpPr/>
          <p:nvPr/>
        </p:nvSpPr>
        <p:spPr>
          <a:xfrm>
            <a:off x="6080760" y="960120"/>
            <a:ext cx="45720" cy="2468880"/>
          </a:xfrm>
          <a:prstGeom prst="rect">
            <a:avLst/>
          </a:prstGeom>
          <a:solidFill>
            <a:srgbClr val="00E676"/>
          </a:solidFill>
          <a:ln w="12700">
            <a:solidFill>
              <a:srgbClr val="00E676"/>
            </a:solidFill>
            <a:prstDash val="solid"/>
          </a:ln>
        </p:spPr>
      </p:sp>
      <p:sp>
        <p:nvSpPr>
          <p:cNvPr id="14" name="Text 12"/>
          <p:cNvSpPr/>
          <p:nvPr/>
        </p:nvSpPr>
        <p:spPr>
          <a:xfrm>
            <a:off x="6190488" y="1024128"/>
            <a:ext cx="2587752" cy="256032"/>
          </a:xfrm>
          <a:prstGeom prst="rect">
            <a:avLst/>
          </a:prstGeom>
          <a:noFill/>
          <a:ln/>
        </p:spPr>
        <p:txBody>
          <a:bodyPr wrap="square" lIns="0" tIns="0" rIns="0" bIns="0" rtlCol="0" anchor="t"/>
          <a:lstStyle/>
          <a:p>
            <a:pPr marL="0" indent="0">
              <a:buNone/>
            </a:pPr>
            <a:r>
              <a:rPr lang="en-US" sz="1000" b="1" dirty="0">
                <a:solidFill>
                  <a:srgbClr val="00E676"/>
                </a:solidFill>
              </a:rPr>
              <a:t>Zmienne Warunki</a:t>
            </a:r>
            <a:endParaRPr lang="en-US" sz="1000" dirty="0"/>
          </a:p>
        </p:txBody>
      </p:sp>
      <p:sp>
        <p:nvSpPr>
          <p:cNvPr id="15" name="Text 13"/>
          <p:cNvSpPr/>
          <p:nvPr/>
        </p:nvSpPr>
        <p:spPr>
          <a:xfrm>
            <a:off x="6190488" y="1289304"/>
            <a:ext cx="2587752" cy="2084832"/>
          </a:xfrm>
          <a:prstGeom prst="rect">
            <a:avLst/>
          </a:prstGeom>
          <a:noFill/>
          <a:ln/>
        </p:spPr>
        <p:txBody>
          <a:bodyPr wrap="square" lIns="0" tIns="0" rIns="0" bIns="0" rtlCol="0" anchor="t"/>
          <a:lstStyle/>
          <a:p>
            <a:pPr marL="0" indent="0">
              <a:buNone/>
            </a:pPr>
            <a:r>
              <a:rPr lang="en-US" sz="950" dirty="0">
                <a:solidFill>
                  <a:srgbClr val="CCDDEE"/>
                </a:solidFill>
              </a:rPr>
              <a:t>Użytkownicy korzystają w ruchu, słońcu, deszczu. Wysoki kontrast, Dark Mode, duża typografia dla czytelności w każdych warunkach.</a:t>
            </a:r>
            <a:endParaRPr lang="en-US" sz="950" dirty="0"/>
          </a:p>
        </p:txBody>
      </p:sp>
      <p:sp>
        <p:nvSpPr>
          <p:cNvPr id="16" name="Shape 14"/>
          <p:cNvSpPr/>
          <p:nvPr/>
        </p:nvSpPr>
        <p:spPr>
          <a:xfrm>
            <a:off x="320040" y="3611880"/>
            <a:ext cx="4206240" cy="100584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17" name="Shape 15"/>
          <p:cNvSpPr/>
          <p:nvPr/>
        </p:nvSpPr>
        <p:spPr>
          <a:xfrm>
            <a:off x="320040" y="3611880"/>
            <a:ext cx="45720" cy="1005840"/>
          </a:xfrm>
          <a:prstGeom prst="rect">
            <a:avLst/>
          </a:prstGeom>
          <a:solidFill>
            <a:srgbClr val="B388FF"/>
          </a:solidFill>
          <a:ln w="12700">
            <a:solidFill>
              <a:srgbClr val="B388FF"/>
            </a:solidFill>
            <a:prstDash val="solid"/>
          </a:ln>
        </p:spPr>
      </p:sp>
      <p:sp>
        <p:nvSpPr>
          <p:cNvPr id="18" name="Text 16"/>
          <p:cNvSpPr/>
          <p:nvPr/>
        </p:nvSpPr>
        <p:spPr>
          <a:xfrm>
            <a:off x="429768" y="3675888"/>
            <a:ext cx="4050792" cy="256032"/>
          </a:xfrm>
          <a:prstGeom prst="rect">
            <a:avLst/>
          </a:prstGeom>
          <a:noFill/>
          <a:ln/>
        </p:spPr>
        <p:txBody>
          <a:bodyPr wrap="square" lIns="0" tIns="0" rIns="0" bIns="0" rtlCol="0" anchor="t"/>
          <a:lstStyle/>
          <a:p>
            <a:pPr marL="0" indent="0">
              <a:buNone/>
            </a:pPr>
            <a:r>
              <a:rPr lang="en-US" sz="1000" b="1" dirty="0">
                <a:solidFill>
                  <a:srgbClr val="B388FF"/>
                </a:solidFill>
              </a:rPr>
              <a:t>Kontekst Użycia</a:t>
            </a:r>
            <a:endParaRPr lang="en-US" sz="1000" dirty="0"/>
          </a:p>
        </p:txBody>
      </p:sp>
      <p:sp>
        <p:nvSpPr>
          <p:cNvPr id="19" name="Text 17"/>
          <p:cNvSpPr/>
          <p:nvPr/>
        </p:nvSpPr>
        <p:spPr>
          <a:xfrm>
            <a:off x="429768" y="3941064"/>
            <a:ext cx="4050792" cy="621792"/>
          </a:xfrm>
          <a:prstGeom prst="rect">
            <a:avLst/>
          </a:prstGeom>
          <a:noFill/>
          <a:ln/>
        </p:spPr>
        <p:txBody>
          <a:bodyPr wrap="square" lIns="0" tIns="0" rIns="0" bIns="0" rtlCol="0" anchor="t"/>
          <a:lstStyle/>
          <a:p>
            <a:pPr marL="0" indent="0">
              <a:buNone/>
            </a:pPr>
            <a:r>
              <a:rPr lang="en-US" sz="950" dirty="0">
                <a:solidFill>
                  <a:srgbClr val="CCDDEE"/>
                </a:solidFill>
              </a:rPr>
              <a:t>Użytkownicy mobilni są często rozproszeni, pośpieszni, multitaskują. Aplikacja musi dostarczać wartość w ciągu 3–5 sekund od otwarcia.</a:t>
            </a:r>
            <a:endParaRPr lang="en-US" sz="950" dirty="0"/>
          </a:p>
        </p:txBody>
      </p:sp>
      <p:sp>
        <p:nvSpPr>
          <p:cNvPr id="20" name="Shape 18"/>
          <p:cNvSpPr/>
          <p:nvPr/>
        </p:nvSpPr>
        <p:spPr>
          <a:xfrm>
            <a:off x="4663440" y="3611880"/>
            <a:ext cx="4206240" cy="100584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21" name="Shape 19"/>
          <p:cNvSpPr/>
          <p:nvPr/>
        </p:nvSpPr>
        <p:spPr>
          <a:xfrm>
            <a:off x="4663440" y="3611880"/>
            <a:ext cx="45720" cy="1005840"/>
          </a:xfrm>
          <a:prstGeom prst="rect">
            <a:avLst/>
          </a:prstGeom>
          <a:solidFill>
            <a:srgbClr val="FF9100"/>
          </a:solidFill>
          <a:ln w="12700">
            <a:solidFill>
              <a:srgbClr val="FF9100"/>
            </a:solidFill>
            <a:prstDash val="solid"/>
          </a:ln>
        </p:spPr>
      </p:sp>
      <p:sp>
        <p:nvSpPr>
          <p:cNvPr id="22" name="Text 20"/>
          <p:cNvSpPr/>
          <p:nvPr/>
        </p:nvSpPr>
        <p:spPr>
          <a:xfrm>
            <a:off x="4773168" y="3675888"/>
            <a:ext cx="4050792" cy="256032"/>
          </a:xfrm>
          <a:prstGeom prst="rect">
            <a:avLst/>
          </a:prstGeom>
          <a:noFill/>
          <a:ln/>
        </p:spPr>
        <p:txBody>
          <a:bodyPr wrap="square" lIns="0" tIns="0" rIns="0" bIns="0" rtlCol="0" anchor="t"/>
          <a:lstStyle/>
          <a:p>
            <a:pPr marL="0" indent="0">
              <a:buNone/>
            </a:pPr>
            <a:r>
              <a:rPr lang="en-US" sz="1000" b="1" dirty="0">
                <a:solidFill>
                  <a:srgbClr val="FF9100"/>
                </a:solidFill>
              </a:rPr>
              <a:t>Fragmentacja Urządzeń</a:t>
            </a:r>
            <a:endParaRPr lang="en-US" sz="1000" dirty="0"/>
          </a:p>
        </p:txBody>
      </p:sp>
      <p:sp>
        <p:nvSpPr>
          <p:cNvPr id="23" name="Text 21"/>
          <p:cNvSpPr/>
          <p:nvPr/>
        </p:nvSpPr>
        <p:spPr>
          <a:xfrm>
            <a:off x="4773168" y="3941064"/>
            <a:ext cx="4050792" cy="621792"/>
          </a:xfrm>
          <a:prstGeom prst="rect">
            <a:avLst/>
          </a:prstGeom>
          <a:noFill/>
          <a:ln/>
        </p:spPr>
        <p:txBody>
          <a:bodyPr wrap="square" lIns="0" tIns="0" rIns="0" bIns="0" rtlCol="0" anchor="t"/>
          <a:lstStyle/>
          <a:p>
            <a:pPr marL="0" indent="0">
              <a:buNone/>
            </a:pPr>
            <a:r>
              <a:rPr lang="en-US" sz="950" dirty="0">
                <a:solidFill>
                  <a:srgbClr val="CCDDEE"/>
                </a:solidFill>
              </a:rPr>
              <a:t>Setki rozmiarów ekranów, rozdzielczości, proporcji. Responsywność i elastyczność layoutów są absolutnie kluczowe.</a:t>
            </a:r>
            <a:endParaRPr lang="en-US" sz="950" dirty="0"/>
          </a:p>
        </p:txBody>
      </p:sp>
      <p:sp>
        <p:nvSpPr>
          <p:cNvPr id="26" name="Text 24"/>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6 / </a:t>
            </a:r>
            <a:r>
              <a:rPr lang="pl-PL" sz="800" dirty="0" smtClean="0">
                <a:solidFill>
                  <a:srgbClr val="8899AA"/>
                </a:solidFill>
              </a:rPr>
              <a:t>46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grpSp>
        <p:nvGrpSpPr>
          <p:cNvPr id="11" name="Grupa 10"/>
          <p:cNvGrpSpPr/>
          <p:nvPr/>
        </p:nvGrpSpPr>
        <p:grpSpPr>
          <a:xfrm>
            <a:off x="-2381" y="4884912"/>
            <a:ext cx="9146381" cy="260136"/>
            <a:chOff x="-2381" y="4884912"/>
            <a:chExt cx="9146381" cy="260136"/>
          </a:xfrm>
        </p:grpSpPr>
        <p:sp>
          <p:nvSpPr>
            <p:cNvPr id="12" name="Shape 52"/>
            <p:cNvSpPr/>
            <p:nvPr/>
          </p:nvSpPr>
          <p:spPr>
            <a:xfrm>
              <a:off x="0" y="4884912"/>
              <a:ext cx="9144000" cy="252000"/>
            </a:xfrm>
            <a:prstGeom prst="rect">
              <a:avLst/>
            </a:prstGeom>
            <a:solidFill>
              <a:srgbClr val="071523"/>
            </a:solidFill>
            <a:ln w="12700">
              <a:solidFill>
                <a:srgbClr val="071523"/>
              </a:solidFill>
              <a:prstDash val="solid"/>
            </a:ln>
          </p:spPr>
        </p:sp>
        <p:sp>
          <p:nvSpPr>
            <p:cNvPr id="13"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14" name="Grupa 13"/>
            <p:cNvGrpSpPr/>
            <p:nvPr/>
          </p:nvGrpSpPr>
          <p:grpSpPr>
            <a:xfrm>
              <a:off x="-2381" y="5099329"/>
              <a:ext cx="9146381" cy="45719"/>
              <a:chOff x="-2381" y="5107500"/>
              <a:chExt cx="9111093" cy="37548"/>
            </a:xfrm>
            <a:solidFill>
              <a:schemeClr val="tx1"/>
            </a:solidFill>
          </p:grpSpPr>
          <p:sp>
            <p:nvSpPr>
              <p:cNvPr id="15"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16"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17"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18"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19"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20"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21"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22" name="Shape 52"/>
              <p:cNvSpPr/>
              <p:nvPr/>
            </p:nvSpPr>
            <p:spPr>
              <a:xfrm>
                <a:off x="1386000" y="5107500"/>
                <a:ext cx="198000" cy="36000"/>
              </a:xfrm>
              <a:prstGeom prst="rect">
                <a:avLst/>
              </a:prstGeom>
              <a:solidFill>
                <a:schemeClr val="tx1"/>
              </a:solidFill>
              <a:ln w="12700">
                <a:noFill/>
                <a:prstDash val="solid"/>
              </a:ln>
            </p:spPr>
          </p:sp>
          <p:sp>
            <p:nvSpPr>
              <p:cNvPr id="23" name="Shape 52"/>
              <p:cNvSpPr/>
              <p:nvPr/>
            </p:nvSpPr>
            <p:spPr>
              <a:xfrm>
                <a:off x="1584000" y="5107500"/>
                <a:ext cx="198000" cy="36000"/>
              </a:xfrm>
              <a:prstGeom prst="rect">
                <a:avLst/>
              </a:prstGeom>
              <a:grpFill/>
              <a:ln w="12700">
                <a:noFill/>
                <a:prstDash val="solid"/>
              </a:ln>
            </p:spPr>
          </p:sp>
          <p:sp>
            <p:nvSpPr>
              <p:cNvPr id="24" name="Shape 52"/>
              <p:cNvSpPr/>
              <p:nvPr/>
            </p:nvSpPr>
            <p:spPr>
              <a:xfrm>
                <a:off x="1782000" y="5107500"/>
                <a:ext cx="198000" cy="36000"/>
              </a:xfrm>
              <a:prstGeom prst="rect">
                <a:avLst/>
              </a:prstGeom>
              <a:grpFill/>
              <a:ln w="12700">
                <a:noFill/>
                <a:prstDash val="solid"/>
              </a:ln>
            </p:spPr>
          </p:sp>
          <p:sp>
            <p:nvSpPr>
              <p:cNvPr id="25" name="Shape 52"/>
              <p:cNvSpPr/>
              <p:nvPr/>
            </p:nvSpPr>
            <p:spPr>
              <a:xfrm>
                <a:off x="1980000" y="5107500"/>
                <a:ext cx="198000" cy="36000"/>
              </a:xfrm>
              <a:prstGeom prst="rect">
                <a:avLst/>
              </a:prstGeom>
              <a:grpFill/>
              <a:ln w="12700">
                <a:noFill/>
                <a:prstDash val="solid"/>
              </a:ln>
            </p:spPr>
          </p:sp>
          <p:sp>
            <p:nvSpPr>
              <p:cNvPr id="26" name="Shape 52"/>
              <p:cNvSpPr/>
              <p:nvPr/>
            </p:nvSpPr>
            <p:spPr>
              <a:xfrm>
                <a:off x="2178000" y="5107500"/>
                <a:ext cx="198000" cy="36000"/>
              </a:xfrm>
              <a:prstGeom prst="rect">
                <a:avLst/>
              </a:prstGeom>
              <a:grpFill/>
              <a:ln w="12700">
                <a:noFill/>
                <a:prstDash val="solid"/>
              </a:ln>
            </p:spPr>
          </p:sp>
          <p:sp>
            <p:nvSpPr>
              <p:cNvPr id="27" name="Shape 52"/>
              <p:cNvSpPr/>
              <p:nvPr/>
            </p:nvSpPr>
            <p:spPr>
              <a:xfrm>
                <a:off x="2376000" y="5107500"/>
                <a:ext cx="198000" cy="36000"/>
              </a:xfrm>
              <a:prstGeom prst="rect">
                <a:avLst/>
              </a:prstGeom>
              <a:grpFill/>
              <a:ln w="12700">
                <a:noFill/>
                <a:prstDash val="solid"/>
              </a:ln>
            </p:spPr>
          </p:sp>
          <p:sp>
            <p:nvSpPr>
              <p:cNvPr id="28" name="Shape 52"/>
              <p:cNvSpPr/>
              <p:nvPr/>
            </p:nvSpPr>
            <p:spPr>
              <a:xfrm>
                <a:off x="2574000" y="5107500"/>
                <a:ext cx="198000" cy="36000"/>
              </a:xfrm>
              <a:prstGeom prst="rect">
                <a:avLst/>
              </a:prstGeom>
              <a:grpFill/>
              <a:ln w="12700">
                <a:noFill/>
                <a:prstDash val="solid"/>
              </a:ln>
            </p:spPr>
          </p:sp>
          <p:sp>
            <p:nvSpPr>
              <p:cNvPr id="29" name="Shape 52"/>
              <p:cNvSpPr/>
              <p:nvPr/>
            </p:nvSpPr>
            <p:spPr>
              <a:xfrm>
                <a:off x="2772712" y="5108400"/>
                <a:ext cx="198000" cy="36000"/>
              </a:xfrm>
              <a:prstGeom prst="rect">
                <a:avLst/>
              </a:prstGeom>
              <a:grpFill/>
              <a:ln w="12700">
                <a:noFill/>
                <a:prstDash val="solid"/>
              </a:ln>
            </p:spPr>
          </p:sp>
          <p:sp>
            <p:nvSpPr>
              <p:cNvPr id="30" name="Shape 52"/>
              <p:cNvSpPr/>
              <p:nvPr/>
            </p:nvSpPr>
            <p:spPr>
              <a:xfrm>
                <a:off x="2970712" y="5108400"/>
                <a:ext cx="198000" cy="36000"/>
              </a:xfrm>
              <a:prstGeom prst="rect">
                <a:avLst/>
              </a:prstGeom>
              <a:grpFill/>
              <a:ln w="12700">
                <a:noFill/>
                <a:prstDash val="solid"/>
              </a:ln>
            </p:spPr>
          </p:sp>
          <p:sp>
            <p:nvSpPr>
              <p:cNvPr id="31" name="Shape 52"/>
              <p:cNvSpPr/>
              <p:nvPr/>
            </p:nvSpPr>
            <p:spPr>
              <a:xfrm>
                <a:off x="3168712" y="5108400"/>
                <a:ext cx="198000" cy="36000"/>
              </a:xfrm>
              <a:prstGeom prst="rect">
                <a:avLst/>
              </a:prstGeom>
              <a:grpFill/>
              <a:ln w="12700">
                <a:noFill/>
                <a:prstDash val="solid"/>
              </a:ln>
            </p:spPr>
          </p:sp>
          <p:sp>
            <p:nvSpPr>
              <p:cNvPr id="32" name="Shape 52"/>
              <p:cNvSpPr/>
              <p:nvPr/>
            </p:nvSpPr>
            <p:spPr>
              <a:xfrm>
                <a:off x="3366712" y="5108400"/>
                <a:ext cx="198000" cy="36000"/>
              </a:xfrm>
              <a:prstGeom prst="rect">
                <a:avLst/>
              </a:prstGeom>
              <a:grpFill/>
              <a:ln w="12700">
                <a:noFill/>
                <a:prstDash val="solid"/>
              </a:ln>
            </p:spPr>
          </p:sp>
          <p:sp>
            <p:nvSpPr>
              <p:cNvPr id="33" name="Shape 52"/>
              <p:cNvSpPr/>
              <p:nvPr/>
            </p:nvSpPr>
            <p:spPr>
              <a:xfrm>
                <a:off x="3564712" y="5108400"/>
                <a:ext cx="198000" cy="36000"/>
              </a:xfrm>
              <a:prstGeom prst="rect">
                <a:avLst/>
              </a:prstGeom>
              <a:grpFill/>
              <a:ln w="12700">
                <a:noFill/>
                <a:prstDash val="solid"/>
              </a:ln>
            </p:spPr>
          </p:sp>
          <p:sp>
            <p:nvSpPr>
              <p:cNvPr id="34" name="Shape 52"/>
              <p:cNvSpPr/>
              <p:nvPr/>
            </p:nvSpPr>
            <p:spPr>
              <a:xfrm>
                <a:off x="3762712" y="5108400"/>
                <a:ext cx="198000" cy="36000"/>
              </a:xfrm>
              <a:prstGeom prst="rect">
                <a:avLst/>
              </a:prstGeom>
              <a:grpFill/>
              <a:ln w="12700">
                <a:noFill/>
                <a:prstDash val="solid"/>
              </a:ln>
            </p:spPr>
          </p:sp>
          <p:sp>
            <p:nvSpPr>
              <p:cNvPr id="35" name="Shape 52"/>
              <p:cNvSpPr/>
              <p:nvPr/>
            </p:nvSpPr>
            <p:spPr>
              <a:xfrm>
                <a:off x="3960712" y="5107530"/>
                <a:ext cx="198000" cy="36000"/>
              </a:xfrm>
              <a:prstGeom prst="rect">
                <a:avLst/>
              </a:prstGeom>
              <a:grpFill/>
              <a:ln w="12700">
                <a:noFill/>
                <a:prstDash val="solid"/>
              </a:ln>
            </p:spPr>
          </p:sp>
          <p:sp>
            <p:nvSpPr>
              <p:cNvPr id="36" name="Shape 52"/>
              <p:cNvSpPr/>
              <p:nvPr/>
            </p:nvSpPr>
            <p:spPr>
              <a:xfrm>
                <a:off x="4158712" y="5107500"/>
                <a:ext cx="198000" cy="36000"/>
              </a:xfrm>
              <a:prstGeom prst="rect">
                <a:avLst/>
              </a:prstGeom>
              <a:grpFill/>
              <a:ln w="12700">
                <a:noFill/>
                <a:prstDash val="solid"/>
              </a:ln>
            </p:spPr>
          </p:sp>
          <p:sp>
            <p:nvSpPr>
              <p:cNvPr id="37" name="Shape 52"/>
              <p:cNvSpPr/>
              <p:nvPr/>
            </p:nvSpPr>
            <p:spPr>
              <a:xfrm>
                <a:off x="4356712" y="5107500"/>
                <a:ext cx="198000" cy="36000"/>
              </a:xfrm>
              <a:prstGeom prst="rect">
                <a:avLst/>
              </a:prstGeom>
              <a:grpFill/>
              <a:ln w="12700">
                <a:noFill/>
                <a:prstDash val="solid"/>
              </a:ln>
            </p:spPr>
          </p:sp>
          <p:sp>
            <p:nvSpPr>
              <p:cNvPr id="38" name="Shape 52"/>
              <p:cNvSpPr/>
              <p:nvPr/>
            </p:nvSpPr>
            <p:spPr>
              <a:xfrm>
                <a:off x="4554712" y="5107500"/>
                <a:ext cx="198000" cy="36000"/>
              </a:xfrm>
              <a:prstGeom prst="rect">
                <a:avLst/>
              </a:prstGeom>
              <a:grpFill/>
              <a:ln w="12700">
                <a:noFill/>
                <a:prstDash val="solid"/>
              </a:ln>
            </p:spPr>
          </p:sp>
          <p:sp>
            <p:nvSpPr>
              <p:cNvPr id="39" name="Shape 52"/>
              <p:cNvSpPr/>
              <p:nvPr/>
            </p:nvSpPr>
            <p:spPr>
              <a:xfrm>
                <a:off x="4752712" y="5107500"/>
                <a:ext cx="198000" cy="36000"/>
              </a:xfrm>
              <a:prstGeom prst="rect">
                <a:avLst/>
              </a:prstGeom>
              <a:grpFill/>
              <a:ln w="12700">
                <a:noFill/>
                <a:prstDash val="solid"/>
              </a:ln>
            </p:spPr>
          </p:sp>
          <p:sp>
            <p:nvSpPr>
              <p:cNvPr id="40" name="Shape 52"/>
              <p:cNvSpPr/>
              <p:nvPr/>
            </p:nvSpPr>
            <p:spPr>
              <a:xfrm>
                <a:off x="4950712" y="5107500"/>
                <a:ext cx="198000" cy="36000"/>
              </a:xfrm>
              <a:prstGeom prst="rect">
                <a:avLst/>
              </a:prstGeom>
              <a:grpFill/>
              <a:ln w="12700">
                <a:noFill/>
                <a:prstDash val="solid"/>
              </a:ln>
            </p:spPr>
          </p:sp>
          <p:sp>
            <p:nvSpPr>
              <p:cNvPr id="41" name="Shape 52"/>
              <p:cNvSpPr/>
              <p:nvPr/>
            </p:nvSpPr>
            <p:spPr>
              <a:xfrm>
                <a:off x="5148712" y="5107500"/>
                <a:ext cx="198000" cy="36000"/>
              </a:xfrm>
              <a:prstGeom prst="rect">
                <a:avLst/>
              </a:prstGeom>
              <a:grpFill/>
              <a:ln w="12700">
                <a:noFill/>
                <a:prstDash val="solid"/>
              </a:ln>
            </p:spPr>
          </p:sp>
          <p:sp>
            <p:nvSpPr>
              <p:cNvPr id="42" name="Shape 52"/>
              <p:cNvSpPr/>
              <p:nvPr/>
            </p:nvSpPr>
            <p:spPr>
              <a:xfrm>
                <a:off x="5346712" y="5108400"/>
                <a:ext cx="198000" cy="36000"/>
              </a:xfrm>
              <a:prstGeom prst="rect">
                <a:avLst/>
              </a:prstGeom>
              <a:grpFill/>
              <a:ln w="12700">
                <a:noFill/>
                <a:prstDash val="solid"/>
              </a:ln>
            </p:spPr>
          </p:sp>
          <p:sp>
            <p:nvSpPr>
              <p:cNvPr id="43" name="Shape 52"/>
              <p:cNvSpPr/>
              <p:nvPr/>
            </p:nvSpPr>
            <p:spPr>
              <a:xfrm>
                <a:off x="5544712" y="5108400"/>
                <a:ext cx="198000" cy="36000"/>
              </a:xfrm>
              <a:prstGeom prst="rect">
                <a:avLst/>
              </a:prstGeom>
              <a:grpFill/>
              <a:ln w="12700">
                <a:noFill/>
                <a:prstDash val="solid"/>
              </a:ln>
            </p:spPr>
          </p:sp>
          <p:sp>
            <p:nvSpPr>
              <p:cNvPr id="44" name="Shape 52"/>
              <p:cNvSpPr/>
              <p:nvPr/>
            </p:nvSpPr>
            <p:spPr>
              <a:xfrm>
                <a:off x="5742712" y="5108400"/>
                <a:ext cx="198000" cy="36000"/>
              </a:xfrm>
              <a:prstGeom prst="rect">
                <a:avLst/>
              </a:prstGeom>
              <a:grpFill/>
              <a:ln w="12700">
                <a:noFill/>
                <a:prstDash val="solid"/>
              </a:ln>
            </p:spPr>
          </p:sp>
          <p:sp>
            <p:nvSpPr>
              <p:cNvPr id="45" name="Shape 52"/>
              <p:cNvSpPr/>
              <p:nvPr/>
            </p:nvSpPr>
            <p:spPr>
              <a:xfrm>
                <a:off x="5940712" y="5108400"/>
                <a:ext cx="198000" cy="36000"/>
              </a:xfrm>
              <a:prstGeom prst="rect">
                <a:avLst/>
              </a:prstGeom>
              <a:grpFill/>
              <a:ln w="12700">
                <a:noFill/>
                <a:prstDash val="solid"/>
              </a:ln>
            </p:spPr>
          </p:sp>
          <p:sp>
            <p:nvSpPr>
              <p:cNvPr id="46" name="Shape 52"/>
              <p:cNvSpPr/>
              <p:nvPr/>
            </p:nvSpPr>
            <p:spPr>
              <a:xfrm>
                <a:off x="6138712" y="5108400"/>
                <a:ext cx="198000" cy="36000"/>
              </a:xfrm>
              <a:prstGeom prst="rect">
                <a:avLst/>
              </a:prstGeom>
              <a:grpFill/>
              <a:ln w="12700">
                <a:noFill/>
                <a:prstDash val="solid"/>
              </a:ln>
            </p:spPr>
          </p:sp>
          <p:sp>
            <p:nvSpPr>
              <p:cNvPr id="47" name="Shape 52"/>
              <p:cNvSpPr/>
              <p:nvPr/>
            </p:nvSpPr>
            <p:spPr>
              <a:xfrm>
                <a:off x="6336712" y="5108400"/>
                <a:ext cx="198000" cy="36000"/>
              </a:xfrm>
              <a:prstGeom prst="rect">
                <a:avLst/>
              </a:prstGeom>
              <a:grpFill/>
              <a:ln w="12700">
                <a:noFill/>
                <a:prstDash val="solid"/>
              </a:ln>
            </p:spPr>
          </p:sp>
          <p:sp>
            <p:nvSpPr>
              <p:cNvPr id="48" name="Shape 52"/>
              <p:cNvSpPr/>
              <p:nvPr/>
            </p:nvSpPr>
            <p:spPr>
              <a:xfrm>
                <a:off x="6534712" y="5108400"/>
                <a:ext cx="198000" cy="36000"/>
              </a:xfrm>
              <a:prstGeom prst="rect">
                <a:avLst/>
              </a:prstGeom>
              <a:grpFill/>
              <a:ln w="12700">
                <a:noFill/>
                <a:prstDash val="solid"/>
              </a:ln>
            </p:spPr>
          </p:sp>
          <p:sp>
            <p:nvSpPr>
              <p:cNvPr id="49" name="Shape 52"/>
              <p:cNvSpPr/>
              <p:nvPr/>
            </p:nvSpPr>
            <p:spPr>
              <a:xfrm>
                <a:off x="6732712" y="5108400"/>
                <a:ext cx="198000" cy="36000"/>
              </a:xfrm>
              <a:prstGeom prst="rect">
                <a:avLst/>
              </a:prstGeom>
              <a:grpFill/>
              <a:ln w="12700">
                <a:noFill/>
                <a:prstDash val="solid"/>
              </a:ln>
            </p:spPr>
          </p:sp>
          <p:sp>
            <p:nvSpPr>
              <p:cNvPr id="50" name="Shape 52"/>
              <p:cNvSpPr/>
              <p:nvPr/>
            </p:nvSpPr>
            <p:spPr>
              <a:xfrm>
                <a:off x="6930712" y="5108400"/>
                <a:ext cx="198000" cy="36000"/>
              </a:xfrm>
              <a:prstGeom prst="rect">
                <a:avLst/>
              </a:prstGeom>
              <a:grpFill/>
              <a:ln w="12700">
                <a:noFill/>
                <a:prstDash val="solid"/>
              </a:ln>
            </p:spPr>
          </p:sp>
          <p:sp>
            <p:nvSpPr>
              <p:cNvPr id="51" name="Shape 52"/>
              <p:cNvSpPr/>
              <p:nvPr/>
            </p:nvSpPr>
            <p:spPr>
              <a:xfrm>
                <a:off x="7128712" y="5108400"/>
                <a:ext cx="198000" cy="36000"/>
              </a:xfrm>
              <a:prstGeom prst="rect">
                <a:avLst/>
              </a:prstGeom>
              <a:grpFill/>
              <a:ln w="12700">
                <a:noFill/>
                <a:prstDash val="solid"/>
              </a:ln>
            </p:spPr>
          </p:sp>
          <p:sp>
            <p:nvSpPr>
              <p:cNvPr id="52" name="Shape 52"/>
              <p:cNvSpPr/>
              <p:nvPr/>
            </p:nvSpPr>
            <p:spPr>
              <a:xfrm>
                <a:off x="7326712" y="5108400"/>
                <a:ext cx="198000" cy="36000"/>
              </a:xfrm>
              <a:prstGeom prst="rect">
                <a:avLst/>
              </a:prstGeom>
              <a:grpFill/>
              <a:ln w="12700">
                <a:noFill/>
                <a:prstDash val="solid"/>
              </a:ln>
            </p:spPr>
          </p:sp>
          <p:sp>
            <p:nvSpPr>
              <p:cNvPr id="53" name="Shape 52"/>
              <p:cNvSpPr/>
              <p:nvPr/>
            </p:nvSpPr>
            <p:spPr>
              <a:xfrm>
                <a:off x="7524712" y="5108400"/>
                <a:ext cx="198000" cy="36000"/>
              </a:xfrm>
              <a:prstGeom prst="rect">
                <a:avLst/>
              </a:prstGeom>
              <a:grpFill/>
              <a:ln w="12700">
                <a:noFill/>
                <a:prstDash val="solid"/>
              </a:ln>
            </p:spPr>
          </p:sp>
          <p:sp>
            <p:nvSpPr>
              <p:cNvPr id="54" name="Shape 52"/>
              <p:cNvSpPr/>
              <p:nvPr/>
            </p:nvSpPr>
            <p:spPr>
              <a:xfrm>
                <a:off x="7722712" y="5108400"/>
                <a:ext cx="198000" cy="36000"/>
              </a:xfrm>
              <a:prstGeom prst="rect">
                <a:avLst/>
              </a:prstGeom>
              <a:grpFill/>
              <a:ln w="12700">
                <a:noFill/>
                <a:prstDash val="solid"/>
              </a:ln>
            </p:spPr>
          </p:sp>
          <p:sp>
            <p:nvSpPr>
              <p:cNvPr id="55" name="Shape 52"/>
              <p:cNvSpPr/>
              <p:nvPr/>
            </p:nvSpPr>
            <p:spPr>
              <a:xfrm>
                <a:off x="7920712" y="5109048"/>
                <a:ext cx="198000" cy="36000"/>
              </a:xfrm>
              <a:prstGeom prst="rect">
                <a:avLst/>
              </a:prstGeom>
              <a:grpFill/>
              <a:ln w="12700">
                <a:noFill/>
                <a:prstDash val="solid"/>
              </a:ln>
            </p:spPr>
          </p:sp>
          <p:sp>
            <p:nvSpPr>
              <p:cNvPr id="56" name="Shape 52"/>
              <p:cNvSpPr/>
              <p:nvPr/>
            </p:nvSpPr>
            <p:spPr>
              <a:xfrm>
                <a:off x="8118712" y="5109048"/>
                <a:ext cx="198000" cy="36000"/>
              </a:xfrm>
              <a:prstGeom prst="rect">
                <a:avLst/>
              </a:prstGeom>
              <a:grpFill/>
              <a:ln w="12700">
                <a:noFill/>
                <a:prstDash val="solid"/>
              </a:ln>
            </p:spPr>
          </p:sp>
          <p:sp>
            <p:nvSpPr>
              <p:cNvPr id="57" name="Shape 52"/>
              <p:cNvSpPr/>
              <p:nvPr/>
            </p:nvSpPr>
            <p:spPr>
              <a:xfrm>
                <a:off x="8316712" y="5109048"/>
                <a:ext cx="198000" cy="36000"/>
              </a:xfrm>
              <a:prstGeom prst="rect">
                <a:avLst/>
              </a:prstGeom>
              <a:grpFill/>
              <a:ln w="12700">
                <a:noFill/>
                <a:prstDash val="solid"/>
              </a:ln>
            </p:spPr>
          </p:sp>
          <p:sp>
            <p:nvSpPr>
              <p:cNvPr id="58" name="Shape 52"/>
              <p:cNvSpPr/>
              <p:nvPr/>
            </p:nvSpPr>
            <p:spPr>
              <a:xfrm>
                <a:off x="8514712" y="5109048"/>
                <a:ext cx="198000" cy="36000"/>
              </a:xfrm>
              <a:prstGeom prst="rect">
                <a:avLst/>
              </a:prstGeom>
              <a:grpFill/>
              <a:ln w="12700">
                <a:noFill/>
                <a:prstDash val="solid"/>
              </a:ln>
            </p:spPr>
          </p:sp>
          <p:sp>
            <p:nvSpPr>
              <p:cNvPr id="59" name="Shape 52"/>
              <p:cNvSpPr/>
              <p:nvPr/>
            </p:nvSpPr>
            <p:spPr>
              <a:xfrm>
                <a:off x="8712712" y="5109048"/>
                <a:ext cx="198000" cy="36000"/>
              </a:xfrm>
              <a:prstGeom prst="rect">
                <a:avLst/>
              </a:prstGeom>
              <a:grpFill/>
              <a:ln w="12700">
                <a:noFill/>
                <a:prstDash val="solid"/>
              </a:ln>
            </p:spPr>
          </p:sp>
          <p:sp>
            <p:nvSpPr>
              <p:cNvPr id="60"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0" y="1645920"/>
            <a:ext cx="9144000" cy="1828800"/>
          </a:xfrm>
          <a:prstGeom prst="rect">
            <a:avLst/>
          </a:prstGeom>
          <a:solidFill>
            <a:srgbClr val="112233"/>
          </a:solidFill>
          <a:ln w="12700">
            <a:solidFill>
              <a:srgbClr val="112233"/>
            </a:solidFill>
            <a:prstDash val="solid"/>
          </a:ln>
        </p:spPr>
      </p:sp>
      <p:sp>
        <p:nvSpPr>
          <p:cNvPr id="3" name="Shape 1"/>
          <p:cNvSpPr/>
          <p:nvPr/>
        </p:nvSpPr>
        <p:spPr>
          <a:xfrm>
            <a:off x="0" y="1645920"/>
            <a:ext cx="109728" cy="1828800"/>
          </a:xfrm>
          <a:prstGeom prst="rect">
            <a:avLst/>
          </a:prstGeom>
          <a:solidFill>
            <a:srgbClr val="FF2D78"/>
          </a:solidFill>
          <a:ln w="12700">
            <a:solidFill>
              <a:srgbClr val="FF2D78"/>
            </a:solidFill>
            <a:prstDash val="solid"/>
          </a:ln>
        </p:spPr>
      </p:sp>
      <p:sp>
        <p:nvSpPr>
          <p:cNvPr id="4" name="Text 2"/>
          <p:cNvSpPr/>
          <p:nvPr/>
        </p:nvSpPr>
        <p:spPr>
          <a:xfrm>
            <a:off x="914400" y="548640"/>
            <a:ext cx="7315200" cy="822960"/>
          </a:xfrm>
          <a:prstGeom prst="rect">
            <a:avLst/>
          </a:prstGeom>
          <a:noFill/>
          <a:ln/>
        </p:spPr>
        <p:txBody>
          <a:bodyPr wrap="square" lIns="0" tIns="0" rIns="0" bIns="0" rtlCol="0" anchor="ctr"/>
          <a:lstStyle/>
          <a:p>
            <a:pPr marL="0" indent="0" algn="l">
              <a:buNone/>
            </a:pPr>
            <a:r>
              <a:rPr lang="en-US" sz="5200" b="1" dirty="0">
                <a:solidFill>
                  <a:srgbClr val="FF2D78"/>
                </a:solidFill>
              </a:rPr>
              <a:t>02</a:t>
            </a:r>
            <a:endParaRPr lang="en-US" sz="5200" dirty="0"/>
          </a:p>
        </p:txBody>
      </p:sp>
      <p:sp>
        <p:nvSpPr>
          <p:cNvPr id="5" name="Text 3"/>
          <p:cNvSpPr/>
          <p:nvPr/>
        </p:nvSpPr>
        <p:spPr>
          <a:xfrm>
            <a:off x="457200" y="1737360"/>
            <a:ext cx="8229600" cy="822960"/>
          </a:xfrm>
          <a:prstGeom prst="rect">
            <a:avLst/>
          </a:prstGeom>
          <a:noFill/>
          <a:ln/>
        </p:spPr>
        <p:txBody>
          <a:bodyPr wrap="square" lIns="0" tIns="0" rIns="0" bIns="0" rtlCol="0" anchor="ctr"/>
          <a:lstStyle/>
          <a:p>
            <a:pPr marL="0" indent="0">
              <a:buNone/>
            </a:pPr>
            <a:r>
              <a:rPr lang="en-US" sz="2800" b="1" dirty="0">
                <a:solidFill>
                  <a:srgbClr val="FFFFFF"/>
                </a:solidFill>
              </a:rPr>
              <a:t>Rodzaje Interfejsów Użytkownika</a:t>
            </a:r>
            <a:endParaRPr lang="en-US" sz="2800" dirty="0"/>
          </a:p>
        </p:txBody>
      </p:sp>
      <p:sp>
        <p:nvSpPr>
          <p:cNvPr id="6" name="Text 4"/>
          <p:cNvSpPr/>
          <p:nvPr/>
        </p:nvSpPr>
        <p:spPr>
          <a:xfrm>
            <a:off x="457200" y="2606040"/>
            <a:ext cx="8229600" cy="548640"/>
          </a:xfrm>
          <a:prstGeom prst="rect">
            <a:avLst/>
          </a:prstGeom>
          <a:noFill/>
          <a:ln/>
        </p:spPr>
        <p:txBody>
          <a:bodyPr wrap="square" lIns="0" tIns="0" rIns="0" bIns="0" rtlCol="0" anchor="t"/>
          <a:lstStyle/>
          <a:p>
            <a:pPr marL="0" indent="0">
              <a:buNone/>
            </a:pPr>
            <a:r>
              <a:rPr lang="en-US" sz="1400" dirty="0">
                <a:solidFill>
                  <a:srgbClr val="8899AA"/>
                </a:solidFill>
              </a:rPr>
              <a:t>Klasyfikacja i charakterystyka różnych typów interfejsów</a:t>
            </a:r>
            <a:endParaRPr lang="en-US" sz="1400" dirty="0"/>
          </a:p>
        </p:txBody>
      </p:sp>
      <p:sp>
        <p:nvSpPr>
          <p:cNvPr id="9" name="Text 7"/>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7 / </a:t>
            </a:r>
            <a:r>
              <a:rPr lang="pl-PL" sz="800" dirty="0" smtClean="0">
                <a:solidFill>
                  <a:srgbClr val="8899AA"/>
                </a:solidFill>
              </a:rPr>
              <a:t>46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grpSp>
        <p:nvGrpSpPr>
          <p:cNvPr id="41" name="Grupa 40"/>
          <p:cNvGrpSpPr/>
          <p:nvPr/>
        </p:nvGrpSpPr>
        <p:grpSpPr>
          <a:xfrm>
            <a:off x="-2381" y="4884912"/>
            <a:ext cx="9146381" cy="260136"/>
            <a:chOff x="-2381" y="4884912"/>
            <a:chExt cx="9146381" cy="260136"/>
          </a:xfrm>
        </p:grpSpPr>
        <p:sp>
          <p:nvSpPr>
            <p:cNvPr id="42" name="Shape 52"/>
            <p:cNvSpPr/>
            <p:nvPr/>
          </p:nvSpPr>
          <p:spPr>
            <a:xfrm>
              <a:off x="0" y="4884912"/>
              <a:ext cx="9144000" cy="252000"/>
            </a:xfrm>
            <a:prstGeom prst="rect">
              <a:avLst/>
            </a:prstGeom>
            <a:solidFill>
              <a:srgbClr val="071523"/>
            </a:solidFill>
            <a:ln w="12700">
              <a:solidFill>
                <a:srgbClr val="071523"/>
              </a:solidFill>
              <a:prstDash val="solid"/>
            </a:ln>
          </p:spPr>
        </p:sp>
        <p:sp>
          <p:nvSpPr>
            <p:cNvPr id="43"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44" name="Grupa 43"/>
            <p:cNvGrpSpPr/>
            <p:nvPr/>
          </p:nvGrpSpPr>
          <p:grpSpPr>
            <a:xfrm>
              <a:off x="-2381" y="5099329"/>
              <a:ext cx="9146381" cy="45719"/>
              <a:chOff x="-2381" y="5107500"/>
              <a:chExt cx="9111093" cy="37548"/>
            </a:xfrm>
            <a:solidFill>
              <a:schemeClr val="tx1"/>
            </a:solidFill>
          </p:grpSpPr>
          <p:sp>
            <p:nvSpPr>
              <p:cNvPr id="45"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46"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47"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48"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49"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50"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1584000" y="5107500"/>
                <a:ext cx="198000" cy="36000"/>
              </a:xfrm>
              <a:prstGeom prst="rect">
                <a:avLst/>
              </a:prstGeom>
              <a:solidFill>
                <a:schemeClr val="tx1"/>
              </a:solidFill>
              <a:ln w="12700">
                <a:noFill/>
                <a:prstDash val="solid"/>
              </a:ln>
            </p:spPr>
          </p:sp>
          <p:sp>
            <p:nvSpPr>
              <p:cNvPr id="54" name="Shape 52"/>
              <p:cNvSpPr/>
              <p:nvPr/>
            </p:nvSpPr>
            <p:spPr>
              <a:xfrm>
                <a:off x="1782000" y="5107500"/>
                <a:ext cx="198000" cy="36000"/>
              </a:xfrm>
              <a:prstGeom prst="rect">
                <a:avLst/>
              </a:prstGeom>
              <a:grpFill/>
              <a:ln w="12700">
                <a:noFill/>
                <a:prstDash val="solid"/>
              </a:ln>
            </p:spPr>
          </p:sp>
          <p:sp>
            <p:nvSpPr>
              <p:cNvPr id="55" name="Shape 52"/>
              <p:cNvSpPr/>
              <p:nvPr/>
            </p:nvSpPr>
            <p:spPr>
              <a:xfrm>
                <a:off x="1980000" y="5107500"/>
                <a:ext cx="198000" cy="36000"/>
              </a:xfrm>
              <a:prstGeom prst="rect">
                <a:avLst/>
              </a:prstGeom>
              <a:grpFill/>
              <a:ln w="12700">
                <a:noFill/>
                <a:prstDash val="solid"/>
              </a:ln>
            </p:spPr>
          </p:sp>
          <p:sp>
            <p:nvSpPr>
              <p:cNvPr id="56" name="Shape 52"/>
              <p:cNvSpPr/>
              <p:nvPr/>
            </p:nvSpPr>
            <p:spPr>
              <a:xfrm>
                <a:off x="2178000" y="5107500"/>
                <a:ext cx="198000" cy="36000"/>
              </a:xfrm>
              <a:prstGeom prst="rect">
                <a:avLst/>
              </a:prstGeom>
              <a:grpFill/>
              <a:ln w="12700">
                <a:noFill/>
                <a:prstDash val="solid"/>
              </a:ln>
            </p:spPr>
          </p:sp>
          <p:sp>
            <p:nvSpPr>
              <p:cNvPr id="57" name="Shape 52"/>
              <p:cNvSpPr/>
              <p:nvPr/>
            </p:nvSpPr>
            <p:spPr>
              <a:xfrm>
                <a:off x="2376000" y="5107500"/>
                <a:ext cx="198000" cy="36000"/>
              </a:xfrm>
              <a:prstGeom prst="rect">
                <a:avLst/>
              </a:prstGeom>
              <a:grpFill/>
              <a:ln w="12700">
                <a:noFill/>
                <a:prstDash val="solid"/>
              </a:ln>
            </p:spPr>
          </p:sp>
          <p:sp>
            <p:nvSpPr>
              <p:cNvPr id="58" name="Shape 52"/>
              <p:cNvSpPr/>
              <p:nvPr/>
            </p:nvSpPr>
            <p:spPr>
              <a:xfrm>
                <a:off x="2574000" y="5107500"/>
                <a:ext cx="198000" cy="36000"/>
              </a:xfrm>
              <a:prstGeom prst="rect">
                <a:avLst/>
              </a:prstGeom>
              <a:grpFill/>
              <a:ln w="12700">
                <a:noFill/>
                <a:prstDash val="solid"/>
              </a:ln>
            </p:spPr>
          </p:sp>
          <p:sp>
            <p:nvSpPr>
              <p:cNvPr id="59" name="Shape 52"/>
              <p:cNvSpPr/>
              <p:nvPr/>
            </p:nvSpPr>
            <p:spPr>
              <a:xfrm>
                <a:off x="2772712" y="5108400"/>
                <a:ext cx="198000" cy="36000"/>
              </a:xfrm>
              <a:prstGeom prst="rect">
                <a:avLst/>
              </a:prstGeom>
              <a:grpFill/>
              <a:ln w="12700">
                <a:noFill/>
                <a:prstDash val="solid"/>
              </a:ln>
            </p:spPr>
          </p:sp>
          <p:sp>
            <p:nvSpPr>
              <p:cNvPr id="60" name="Shape 52"/>
              <p:cNvSpPr/>
              <p:nvPr/>
            </p:nvSpPr>
            <p:spPr>
              <a:xfrm>
                <a:off x="2970712" y="5108400"/>
                <a:ext cx="198000" cy="36000"/>
              </a:xfrm>
              <a:prstGeom prst="rect">
                <a:avLst/>
              </a:prstGeom>
              <a:grpFill/>
              <a:ln w="12700">
                <a:noFill/>
                <a:prstDash val="solid"/>
              </a:ln>
            </p:spPr>
          </p:sp>
          <p:sp>
            <p:nvSpPr>
              <p:cNvPr id="61" name="Shape 52"/>
              <p:cNvSpPr/>
              <p:nvPr/>
            </p:nvSpPr>
            <p:spPr>
              <a:xfrm>
                <a:off x="3168712" y="5108400"/>
                <a:ext cx="198000" cy="36000"/>
              </a:xfrm>
              <a:prstGeom prst="rect">
                <a:avLst/>
              </a:prstGeom>
              <a:grpFill/>
              <a:ln w="12700">
                <a:noFill/>
                <a:prstDash val="solid"/>
              </a:ln>
            </p:spPr>
          </p:sp>
          <p:sp>
            <p:nvSpPr>
              <p:cNvPr id="62" name="Shape 52"/>
              <p:cNvSpPr/>
              <p:nvPr/>
            </p:nvSpPr>
            <p:spPr>
              <a:xfrm>
                <a:off x="3366712" y="5108400"/>
                <a:ext cx="198000" cy="36000"/>
              </a:xfrm>
              <a:prstGeom prst="rect">
                <a:avLst/>
              </a:prstGeom>
              <a:grpFill/>
              <a:ln w="12700">
                <a:noFill/>
                <a:prstDash val="solid"/>
              </a:ln>
            </p:spPr>
          </p:sp>
          <p:sp>
            <p:nvSpPr>
              <p:cNvPr id="63" name="Shape 52"/>
              <p:cNvSpPr/>
              <p:nvPr/>
            </p:nvSpPr>
            <p:spPr>
              <a:xfrm>
                <a:off x="3564712" y="5108400"/>
                <a:ext cx="198000" cy="36000"/>
              </a:xfrm>
              <a:prstGeom prst="rect">
                <a:avLst/>
              </a:prstGeom>
              <a:grpFill/>
              <a:ln w="12700">
                <a:noFill/>
                <a:prstDash val="solid"/>
              </a:ln>
            </p:spPr>
          </p:sp>
          <p:sp>
            <p:nvSpPr>
              <p:cNvPr id="64" name="Shape 52"/>
              <p:cNvSpPr/>
              <p:nvPr/>
            </p:nvSpPr>
            <p:spPr>
              <a:xfrm>
                <a:off x="3762712" y="5108400"/>
                <a:ext cx="198000" cy="36000"/>
              </a:xfrm>
              <a:prstGeom prst="rect">
                <a:avLst/>
              </a:prstGeom>
              <a:grpFill/>
              <a:ln w="12700">
                <a:noFill/>
                <a:prstDash val="solid"/>
              </a:ln>
            </p:spPr>
          </p:sp>
          <p:sp>
            <p:nvSpPr>
              <p:cNvPr id="65" name="Shape 52"/>
              <p:cNvSpPr/>
              <p:nvPr/>
            </p:nvSpPr>
            <p:spPr>
              <a:xfrm>
                <a:off x="3960712" y="5107530"/>
                <a:ext cx="198000" cy="36000"/>
              </a:xfrm>
              <a:prstGeom prst="rect">
                <a:avLst/>
              </a:prstGeom>
              <a:grpFill/>
              <a:ln w="12700">
                <a:noFill/>
                <a:prstDash val="solid"/>
              </a:ln>
            </p:spPr>
          </p:sp>
          <p:sp>
            <p:nvSpPr>
              <p:cNvPr id="66" name="Shape 52"/>
              <p:cNvSpPr/>
              <p:nvPr/>
            </p:nvSpPr>
            <p:spPr>
              <a:xfrm>
                <a:off x="4158712" y="5107500"/>
                <a:ext cx="198000" cy="36000"/>
              </a:xfrm>
              <a:prstGeom prst="rect">
                <a:avLst/>
              </a:prstGeom>
              <a:grpFill/>
              <a:ln w="12700">
                <a:noFill/>
                <a:prstDash val="solid"/>
              </a:ln>
            </p:spPr>
          </p:sp>
          <p:sp>
            <p:nvSpPr>
              <p:cNvPr id="67" name="Shape 52"/>
              <p:cNvSpPr/>
              <p:nvPr/>
            </p:nvSpPr>
            <p:spPr>
              <a:xfrm>
                <a:off x="4356712" y="5107500"/>
                <a:ext cx="198000" cy="36000"/>
              </a:xfrm>
              <a:prstGeom prst="rect">
                <a:avLst/>
              </a:prstGeom>
              <a:grpFill/>
              <a:ln w="12700">
                <a:noFill/>
                <a:prstDash val="solid"/>
              </a:ln>
            </p:spPr>
          </p:sp>
          <p:sp>
            <p:nvSpPr>
              <p:cNvPr id="68" name="Shape 52"/>
              <p:cNvSpPr/>
              <p:nvPr/>
            </p:nvSpPr>
            <p:spPr>
              <a:xfrm>
                <a:off x="4554712" y="5107500"/>
                <a:ext cx="198000" cy="36000"/>
              </a:xfrm>
              <a:prstGeom prst="rect">
                <a:avLst/>
              </a:prstGeom>
              <a:grpFill/>
              <a:ln w="12700">
                <a:noFill/>
                <a:prstDash val="solid"/>
              </a:ln>
            </p:spPr>
          </p:sp>
          <p:sp>
            <p:nvSpPr>
              <p:cNvPr id="69" name="Shape 52"/>
              <p:cNvSpPr/>
              <p:nvPr/>
            </p:nvSpPr>
            <p:spPr>
              <a:xfrm>
                <a:off x="4752712" y="5107500"/>
                <a:ext cx="198000" cy="36000"/>
              </a:xfrm>
              <a:prstGeom prst="rect">
                <a:avLst/>
              </a:prstGeom>
              <a:grpFill/>
              <a:ln w="12700">
                <a:noFill/>
                <a:prstDash val="solid"/>
              </a:ln>
            </p:spPr>
          </p:sp>
          <p:sp>
            <p:nvSpPr>
              <p:cNvPr id="70" name="Shape 52"/>
              <p:cNvSpPr/>
              <p:nvPr/>
            </p:nvSpPr>
            <p:spPr>
              <a:xfrm>
                <a:off x="4950712" y="5107500"/>
                <a:ext cx="198000" cy="36000"/>
              </a:xfrm>
              <a:prstGeom prst="rect">
                <a:avLst/>
              </a:prstGeom>
              <a:grpFill/>
              <a:ln w="12700">
                <a:noFill/>
                <a:prstDash val="solid"/>
              </a:ln>
            </p:spPr>
          </p:sp>
          <p:sp>
            <p:nvSpPr>
              <p:cNvPr id="71" name="Shape 52"/>
              <p:cNvSpPr/>
              <p:nvPr/>
            </p:nvSpPr>
            <p:spPr>
              <a:xfrm>
                <a:off x="5148712" y="5107500"/>
                <a:ext cx="198000" cy="36000"/>
              </a:xfrm>
              <a:prstGeom prst="rect">
                <a:avLst/>
              </a:prstGeom>
              <a:grpFill/>
              <a:ln w="12700">
                <a:noFill/>
                <a:prstDash val="solid"/>
              </a:ln>
            </p:spPr>
          </p:sp>
          <p:sp>
            <p:nvSpPr>
              <p:cNvPr id="72" name="Shape 52"/>
              <p:cNvSpPr/>
              <p:nvPr/>
            </p:nvSpPr>
            <p:spPr>
              <a:xfrm>
                <a:off x="5346712" y="5108400"/>
                <a:ext cx="198000" cy="36000"/>
              </a:xfrm>
              <a:prstGeom prst="rect">
                <a:avLst/>
              </a:prstGeom>
              <a:grpFill/>
              <a:ln w="12700">
                <a:noFill/>
                <a:prstDash val="solid"/>
              </a:ln>
            </p:spPr>
          </p:sp>
          <p:sp>
            <p:nvSpPr>
              <p:cNvPr id="73" name="Shape 52"/>
              <p:cNvSpPr/>
              <p:nvPr/>
            </p:nvSpPr>
            <p:spPr>
              <a:xfrm>
                <a:off x="5544712" y="5108400"/>
                <a:ext cx="198000" cy="36000"/>
              </a:xfrm>
              <a:prstGeom prst="rect">
                <a:avLst/>
              </a:prstGeom>
              <a:grpFill/>
              <a:ln w="12700">
                <a:noFill/>
                <a:prstDash val="solid"/>
              </a:ln>
            </p:spPr>
          </p:sp>
          <p:sp>
            <p:nvSpPr>
              <p:cNvPr id="74" name="Shape 52"/>
              <p:cNvSpPr/>
              <p:nvPr/>
            </p:nvSpPr>
            <p:spPr>
              <a:xfrm>
                <a:off x="5742712" y="5108400"/>
                <a:ext cx="198000" cy="36000"/>
              </a:xfrm>
              <a:prstGeom prst="rect">
                <a:avLst/>
              </a:prstGeom>
              <a:grpFill/>
              <a:ln w="12700">
                <a:noFill/>
                <a:prstDash val="solid"/>
              </a:ln>
            </p:spPr>
          </p:sp>
          <p:sp>
            <p:nvSpPr>
              <p:cNvPr id="75" name="Shape 52"/>
              <p:cNvSpPr/>
              <p:nvPr/>
            </p:nvSpPr>
            <p:spPr>
              <a:xfrm>
                <a:off x="5940712" y="5108400"/>
                <a:ext cx="198000" cy="36000"/>
              </a:xfrm>
              <a:prstGeom prst="rect">
                <a:avLst/>
              </a:prstGeom>
              <a:grpFill/>
              <a:ln w="12700">
                <a:noFill/>
                <a:prstDash val="solid"/>
              </a:ln>
            </p:spPr>
          </p:sp>
          <p:sp>
            <p:nvSpPr>
              <p:cNvPr id="76" name="Shape 52"/>
              <p:cNvSpPr/>
              <p:nvPr/>
            </p:nvSpPr>
            <p:spPr>
              <a:xfrm>
                <a:off x="6138712" y="5108400"/>
                <a:ext cx="198000" cy="36000"/>
              </a:xfrm>
              <a:prstGeom prst="rect">
                <a:avLst/>
              </a:prstGeom>
              <a:grpFill/>
              <a:ln w="12700">
                <a:noFill/>
                <a:prstDash val="solid"/>
              </a:ln>
            </p:spPr>
          </p:sp>
          <p:sp>
            <p:nvSpPr>
              <p:cNvPr id="77" name="Shape 52"/>
              <p:cNvSpPr/>
              <p:nvPr/>
            </p:nvSpPr>
            <p:spPr>
              <a:xfrm>
                <a:off x="6336712" y="5108400"/>
                <a:ext cx="198000" cy="36000"/>
              </a:xfrm>
              <a:prstGeom prst="rect">
                <a:avLst/>
              </a:prstGeom>
              <a:grpFill/>
              <a:ln w="12700">
                <a:noFill/>
                <a:prstDash val="solid"/>
              </a:ln>
            </p:spPr>
          </p:sp>
          <p:sp>
            <p:nvSpPr>
              <p:cNvPr id="78" name="Shape 52"/>
              <p:cNvSpPr/>
              <p:nvPr/>
            </p:nvSpPr>
            <p:spPr>
              <a:xfrm>
                <a:off x="6534712" y="5108400"/>
                <a:ext cx="198000" cy="36000"/>
              </a:xfrm>
              <a:prstGeom prst="rect">
                <a:avLst/>
              </a:prstGeom>
              <a:grpFill/>
              <a:ln w="12700">
                <a:noFill/>
                <a:prstDash val="solid"/>
              </a:ln>
            </p:spPr>
          </p:sp>
          <p:sp>
            <p:nvSpPr>
              <p:cNvPr id="79" name="Shape 52"/>
              <p:cNvSpPr/>
              <p:nvPr/>
            </p:nvSpPr>
            <p:spPr>
              <a:xfrm>
                <a:off x="6732712" y="5108400"/>
                <a:ext cx="198000" cy="36000"/>
              </a:xfrm>
              <a:prstGeom prst="rect">
                <a:avLst/>
              </a:prstGeom>
              <a:grpFill/>
              <a:ln w="12700">
                <a:noFill/>
                <a:prstDash val="solid"/>
              </a:ln>
            </p:spPr>
          </p:sp>
          <p:sp>
            <p:nvSpPr>
              <p:cNvPr id="80" name="Shape 52"/>
              <p:cNvSpPr/>
              <p:nvPr/>
            </p:nvSpPr>
            <p:spPr>
              <a:xfrm>
                <a:off x="6930712" y="5108400"/>
                <a:ext cx="198000" cy="36000"/>
              </a:xfrm>
              <a:prstGeom prst="rect">
                <a:avLst/>
              </a:prstGeom>
              <a:grpFill/>
              <a:ln w="12700">
                <a:noFill/>
                <a:prstDash val="solid"/>
              </a:ln>
            </p:spPr>
          </p:sp>
          <p:sp>
            <p:nvSpPr>
              <p:cNvPr id="81" name="Shape 52"/>
              <p:cNvSpPr/>
              <p:nvPr/>
            </p:nvSpPr>
            <p:spPr>
              <a:xfrm>
                <a:off x="7128712" y="5108400"/>
                <a:ext cx="198000" cy="36000"/>
              </a:xfrm>
              <a:prstGeom prst="rect">
                <a:avLst/>
              </a:prstGeom>
              <a:grpFill/>
              <a:ln w="12700">
                <a:noFill/>
                <a:prstDash val="solid"/>
              </a:ln>
            </p:spPr>
          </p:sp>
          <p:sp>
            <p:nvSpPr>
              <p:cNvPr id="82" name="Shape 52"/>
              <p:cNvSpPr/>
              <p:nvPr/>
            </p:nvSpPr>
            <p:spPr>
              <a:xfrm>
                <a:off x="7326712" y="5108400"/>
                <a:ext cx="198000" cy="36000"/>
              </a:xfrm>
              <a:prstGeom prst="rect">
                <a:avLst/>
              </a:prstGeom>
              <a:grpFill/>
              <a:ln w="12700">
                <a:noFill/>
                <a:prstDash val="solid"/>
              </a:ln>
            </p:spPr>
          </p:sp>
          <p:sp>
            <p:nvSpPr>
              <p:cNvPr id="83" name="Shape 52"/>
              <p:cNvSpPr/>
              <p:nvPr/>
            </p:nvSpPr>
            <p:spPr>
              <a:xfrm>
                <a:off x="7524712" y="5108400"/>
                <a:ext cx="198000" cy="36000"/>
              </a:xfrm>
              <a:prstGeom prst="rect">
                <a:avLst/>
              </a:prstGeom>
              <a:grpFill/>
              <a:ln w="12700">
                <a:noFill/>
                <a:prstDash val="solid"/>
              </a:ln>
            </p:spPr>
          </p:sp>
          <p:sp>
            <p:nvSpPr>
              <p:cNvPr id="84" name="Shape 52"/>
              <p:cNvSpPr/>
              <p:nvPr/>
            </p:nvSpPr>
            <p:spPr>
              <a:xfrm>
                <a:off x="7722712" y="5108400"/>
                <a:ext cx="198000" cy="36000"/>
              </a:xfrm>
              <a:prstGeom prst="rect">
                <a:avLst/>
              </a:prstGeom>
              <a:grpFill/>
              <a:ln w="12700">
                <a:noFill/>
                <a:prstDash val="solid"/>
              </a:ln>
            </p:spPr>
          </p:sp>
          <p:sp>
            <p:nvSpPr>
              <p:cNvPr id="85" name="Shape 52"/>
              <p:cNvSpPr/>
              <p:nvPr/>
            </p:nvSpPr>
            <p:spPr>
              <a:xfrm>
                <a:off x="7920712" y="5109048"/>
                <a:ext cx="198000" cy="36000"/>
              </a:xfrm>
              <a:prstGeom prst="rect">
                <a:avLst/>
              </a:prstGeom>
              <a:grpFill/>
              <a:ln w="12700">
                <a:noFill/>
                <a:prstDash val="solid"/>
              </a:ln>
            </p:spPr>
          </p:sp>
          <p:sp>
            <p:nvSpPr>
              <p:cNvPr id="86" name="Shape 52"/>
              <p:cNvSpPr/>
              <p:nvPr/>
            </p:nvSpPr>
            <p:spPr>
              <a:xfrm>
                <a:off x="8118712" y="5109048"/>
                <a:ext cx="198000" cy="36000"/>
              </a:xfrm>
              <a:prstGeom prst="rect">
                <a:avLst/>
              </a:prstGeom>
              <a:grpFill/>
              <a:ln w="12700">
                <a:noFill/>
                <a:prstDash val="solid"/>
              </a:ln>
            </p:spPr>
          </p:sp>
          <p:sp>
            <p:nvSpPr>
              <p:cNvPr id="87" name="Shape 52"/>
              <p:cNvSpPr/>
              <p:nvPr/>
            </p:nvSpPr>
            <p:spPr>
              <a:xfrm>
                <a:off x="8316712" y="5109048"/>
                <a:ext cx="198000" cy="36000"/>
              </a:xfrm>
              <a:prstGeom prst="rect">
                <a:avLst/>
              </a:prstGeom>
              <a:grpFill/>
              <a:ln w="12700">
                <a:noFill/>
                <a:prstDash val="solid"/>
              </a:ln>
            </p:spPr>
          </p:sp>
          <p:sp>
            <p:nvSpPr>
              <p:cNvPr id="88" name="Shape 52"/>
              <p:cNvSpPr/>
              <p:nvPr/>
            </p:nvSpPr>
            <p:spPr>
              <a:xfrm>
                <a:off x="8514712" y="5109048"/>
                <a:ext cx="198000" cy="36000"/>
              </a:xfrm>
              <a:prstGeom prst="rect">
                <a:avLst/>
              </a:prstGeom>
              <a:grpFill/>
              <a:ln w="12700">
                <a:noFill/>
                <a:prstDash val="solid"/>
              </a:ln>
            </p:spPr>
          </p:sp>
          <p:sp>
            <p:nvSpPr>
              <p:cNvPr id="89" name="Shape 52"/>
              <p:cNvSpPr/>
              <p:nvPr/>
            </p:nvSpPr>
            <p:spPr>
              <a:xfrm>
                <a:off x="8712712" y="5109048"/>
                <a:ext cx="198000" cy="36000"/>
              </a:xfrm>
              <a:prstGeom prst="rect">
                <a:avLst/>
              </a:prstGeom>
              <a:grpFill/>
              <a:ln w="12700">
                <a:noFill/>
                <a:prstDash val="solid"/>
              </a:ln>
            </p:spPr>
          </p:sp>
          <p:sp>
            <p:nvSpPr>
              <p:cNvPr id="90"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FF2D78"/>
          </a:solidFill>
          <a:ln w="12700">
            <a:solidFill>
              <a:srgbClr val="FF2D78"/>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GUI — Graphical User Interface</a:t>
            </a:r>
            <a:endParaRPr lang="en-US" sz="2200" dirty="0"/>
          </a:p>
        </p:txBody>
      </p:sp>
      <p:sp>
        <p:nvSpPr>
          <p:cNvPr id="4" name="Shape 2"/>
          <p:cNvSpPr/>
          <p:nvPr/>
        </p:nvSpPr>
        <p:spPr>
          <a:xfrm>
            <a:off x="320040" y="914400"/>
            <a:ext cx="4069080" cy="3246120"/>
          </a:xfrm>
          <a:prstGeom prst="rect">
            <a:avLst/>
          </a:prstGeom>
          <a:solidFill>
            <a:srgbClr val="112233"/>
          </a:solidFill>
          <a:ln w="12700">
            <a:solidFill>
              <a:srgbClr val="1A3050"/>
            </a:solidFill>
            <a:prstDash val="solid"/>
          </a:ln>
        </p:spPr>
      </p:sp>
      <p:sp>
        <p:nvSpPr>
          <p:cNvPr id="5" name="Shape 3"/>
          <p:cNvSpPr/>
          <p:nvPr/>
        </p:nvSpPr>
        <p:spPr>
          <a:xfrm>
            <a:off x="320040" y="914400"/>
            <a:ext cx="45720" cy="3246120"/>
          </a:xfrm>
          <a:prstGeom prst="rect">
            <a:avLst/>
          </a:prstGeom>
          <a:solidFill>
            <a:srgbClr val="FF2D78"/>
          </a:solidFill>
          <a:ln w="12700">
            <a:solidFill>
              <a:srgbClr val="FF2D78"/>
            </a:solidFill>
            <a:prstDash val="solid"/>
          </a:ln>
        </p:spPr>
      </p:sp>
      <p:sp>
        <p:nvSpPr>
          <p:cNvPr id="6" name="Text 4"/>
          <p:cNvSpPr/>
          <p:nvPr/>
        </p:nvSpPr>
        <p:spPr>
          <a:xfrm>
            <a:off x="457200" y="987552"/>
            <a:ext cx="3794760" cy="274320"/>
          </a:xfrm>
          <a:prstGeom prst="rect">
            <a:avLst/>
          </a:prstGeom>
          <a:noFill/>
          <a:ln/>
        </p:spPr>
        <p:txBody>
          <a:bodyPr wrap="square" lIns="0" tIns="0" rIns="0" bIns="0" rtlCol="0" anchor="ctr"/>
          <a:lstStyle/>
          <a:p>
            <a:pPr marL="0" indent="0">
              <a:buNone/>
            </a:pPr>
            <a:r>
              <a:rPr lang="en-US" sz="1200" b="1" dirty="0">
                <a:solidFill>
                  <a:srgbClr val="FFFFFF"/>
                </a:solidFill>
              </a:rPr>
              <a:t>Charakterystyka</a:t>
            </a:r>
            <a:endParaRPr lang="en-US" sz="1200" dirty="0"/>
          </a:p>
        </p:txBody>
      </p:sp>
      <p:sp>
        <p:nvSpPr>
          <p:cNvPr id="7" name="Text 5"/>
          <p:cNvSpPr/>
          <p:nvPr/>
        </p:nvSpPr>
        <p:spPr>
          <a:xfrm>
            <a:off x="457200" y="1307592"/>
            <a:ext cx="3794760" cy="594360"/>
          </a:xfrm>
          <a:prstGeom prst="rect">
            <a:avLst/>
          </a:prstGeom>
          <a:noFill/>
          <a:ln/>
        </p:spPr>
        <p:txBody>
          <a:bodyPr wrap="square" lIns="0" tIns="0" rIns="0" bIns="0" rtlCol="0" anchor="ctr"/>
          <a:lstStyle/>
          <a:p>
            <a:pPr marL="0" indent="0">
              <a:buNone/>
            </a:pPr>
            <a:r>
              <a:rPr lang="en-US" sz="950" dirty="0">
                <a:solidFill>
                  <a:srgbClr val="8899AA"/>
                </a:solidFill>
              </a:rPr>
              <a:t>Graficzne interfejsy użytkownika to najpopularniejszy typ w aplikacjach mobilnych. Wykorzystują elementy wizualne do reprezentacji funkcji i nawigacji.</a:t>
            </a:r>
            <a:endParaRPr lang="en-US" sz="950" dirty="0"/>
          </a:p>
        </p:txBody>
      </p:sp>
      <p:sp>
        <p:nvSpPr>
          <p:cNvPr id="8" name="Shape 6"/>
          <p:cNvSpPr/>
          <p:nvPr/>
        </p:nvSpPr>
        <p:spPr>
          <a:xfrm>
            <a:off x="457200" y="1993392"/>
            <a:ext cx="201168" cy="201168"/>
          </a:xfrm>
          <a:prstGeom prst="rect">
            <a:avLst/>
          </a:prstGeom>
          <a:solidFill>
            <a:srgbClr val="FF2D78"/>
          </a:solidFill>
          <a:ln w="12700">
            <a:solidFill>
              <a:srgbClr val="FF2D78"/>
            </a:solidFill>
            <a:prstDash val="solid"/>
          </a:ln>
        </p:spPr>
      </p:sp>
      <p:sp>
        <p:nvSpPr>
          <p:cNvPr id="9" name="Text 7"/>
          <p:cNvSpPr/>
          <p:nvPr/>
        </p:nvSpPr>
        <p:spPr>
          <a:xfrm>
            <a:off x="749808" y="1993392"/>
            <a:ext cx="1097280" cy="201168"/>
          </a:xfrm>
          <a:prstGeom prst="rect">
            <a:avLst/>
          </a:prstGeom>
          <a:noFill/>
          <a:ln/>
        </p:spPr>
        <p:txBody>
          <a:bodyPr wrap="square" lIns="0" tIns="0" rIns="0" bIns="0" rtlCol="0" anchor="ctr"/>
          <a:lstStyle/>
          <a:p>
            <a:pPr marL="0" indent="0">
              <a:buNone/>
            </a:pPr>
            <a:r>
              <a:rPr lang="en-US" sz="950" b="1" dirty="0">
                <a:solidFill>
                  <a:srgbClr val="FFFFFF"/>
                </a:solidFill>
              </a:rPr>
              <a:t>Okna</a:t>
            </a:r>
            <a:endParaRPr lang="en-US" sz="950" dirty="0"/>
          </a:p>
        </p:txBody>
      </p:sp>
      <p:sp>
        <p:nvSpPr>
          <p:cNvPr id="10" name="Text 8"/>
          <p:cNvSpPr/>
          <p:nvPr/>
        </p:nvSpPr>
        <p:spPr>
          <a:xfrm>
            <a:off x="1874520" y="1993392"/>
            <a:ext cx="2377440" cy="201168"/>
          </a:xfrm>
          <a:prstGeom prst="rect">
            <a:avLst/>
          </a:prstGeom>
          <a:noFill/>
          <a:ln/>
        </p:spPr>
        <p:txBody>
          <a:bodyPr wrap="square" lIns="0" tIns="0" rIns="0" bIns="0" rtlCol="0" anchor="ctr"/>
          <a:lstStyle/>
          <a:p>
            <a:pPr marL="0" indent="0">
              <a:buNone/>
            </a:pPr>
            <a:r>
              <a:rPr lang="en-US" sz="900" dirty="0">
                <a:solidFill>
                  <a:srgbClr val="8899AA"/>
                </a:solidFill>
              </a:rPr>
              <a:t>Kontenery treści, modale, bottom sheets</a:t>
            </a:r>
            <a:endParaRPr lang="en-US" sz="900" dirty="0"/>
          </a:p>
        </p:txBody>
      </p:sp>
      <p:sp>
        <p:nvSpPr>
          <p:cNvPr id="11" name="Shape 9"/>
          <p:cNvSpPr/>
          <p:nvPr/>
        </p:nvSpPr>
        <p:spPr>
          <a:xfrm>
            <a:off x="457200" y="2496312"/>
            <a:ext cx="201168" cy="201168"/>
          </a:xfrm>
          <a:prstGeom prst="rect">
            <a:avLst/>
          </a:prstGeom>
          <a:solidFill>
            <a:srgbClr val="FF2D78"/>
          </a:solidFill>
          <a:ln w="12700">
            <a:solidFill>
              <a:srgbClr val="FF2D78"/>
            </a:solidFill>
            <a:prstDash val="solid"/>
          </a:ln>
        </p:spPr>
      </p:sp>
      <p:sp>
        <p:nvSpPr>
          <p:cNvPr id="12" name="Text 10"/>
          <p:cNvSpPr/>
          <p:nvPr/>
        </p:nvSpPr>
        <p:spPr>
          <a:xfrm>
            <a:off x="749808" y="2496312"/>
            <a:ext cx="1097280" cy="201168"/>
          </a:xfrm>
          <a:prstGeom prst="rect">
            <a:avLst/>
          </a:prstGeom>
          <a:noFill/>
          <a:ln/>
        </p:spPr>
        <p:txBody>
          <a:bodyPr wrap="square" lIns="0" tIns="0" rIns="0" bIns="0" rtlCol="0" anchor="ctr"/>
          <a:lstStyle/>
          <a:p>
            <a:pPr marL="0" indent="0">
              <a:buNone/>
            </a:pPr>
            <a:r>
              <a:rPr lang="en-US" sz="950" b="1" dirty="0">
                <a:solidFill>
                  <a:srgbClr val="FFFFFF"/>
                </a:solidFill>
              </a:rPr>
              <a:t>Ikony</a:t>
            </a:r>
            <a:endParaRPr lang="en-US" sz="950" dirty="0"/>
          </a:p>
        </p:txBody>
      </p:sp>
      <p:sp>
        <p:nvSpPr>
          <p:cNvPr id="13" name="Text 11"/>
          <p:cNvSpPr/>
          <p:nvPr/>
        </p:nvSpPr>
        <p:spPr>
          <a:xfrm>
            <a:off x="1874520" y="2496312"/>
            <a:ext cx="2377440" cy="201168"/>
          </a:xfrm>
          <a:prstGeom prst="rect">
            <a:avLst/>
          </a:prstGeom>
          <a:noFill/>
          <a:ln/>
        </p:spPr>
        <p:txBody>
          <a:bodyPr wrap="square" lIns="0" tIns="0" rIns="0" bIns="0" rtlCol="0" anchor="ctr"/>
          <a:lstStyle/>
          <a:p>
            <a:pPr marL="0" indent="0">
              <a:buNone/>
            </a:pPr>
            <a:r>
              <a:rPr lang="en-US" sz="900" dirty="0">
                <a:solidFill>
                  <a:srgbClr val="8899AA"/>
                </a:solidFill>
              </a:rPr>
              <a:t>Wizualne reprezentacje funkcji i akcji</a:t>
            </a:r>
            <a:endParaRPr lang="en-US" sz="900" dirty="0"/>
          </a:p>
        </p:txBody>
      </p:sp>
      <p:sp>
        <p:nvSpPr>
          <p:cNvPr id="14" name="Shape 12"/>
          <p:cNvSpPr/>
          <p:nvPr/>
        </p:nvSpPr>
        <p:spPr>
          <a:xfrm>
            <a:off x="457200" y="2999232"/>
            <a:ext cx="201168" cy="201168"/>
          </a:xfrm>
          <a:prstGeom prst="rect">
            <a:avLst/>
          </a:prstGeom>
          <a:solidFill>
            <a:srgbClr val="FF2D78"/>
          </a:solidFill>
          <a:ln w="12700">
            <a:solidFill>
              <a:srgbClr val="FF2D78"/>
            </a:solidFill>
            <a:prstDash val="solid"/>
          </a:ln>
        </p:spPr>
      </p:sp>
      <p:sp>
        <p:nvSpPr>
          <p:cNvPr id="15" name="Text 13"/>
          <p:cNvSpPr/>
          <p:nvPr/>
        </p:nvSpPr>
        <p:spPr>
          <a:xfrm>
            <a:off x="749808" y="2999232"/>
            <a:ext cx="1097280" cy="201168"/>
          </a:xfrm>
          <a:prstGeom prst="rect">
            <a:avLst/>
          </a:prstGeom>
          <a:noFill/>
          <a:ln/>
        </p:spPr>
        <p:txBody>
          <a:bodyPr wrap="square" lIns="0" tIns="0" rIns="0" bIns="0" rtlCol="0" anchor="ctr"/>
          <a:lstStyle/>
          <a:p>
            <a:pPr marL="0" indent="0">
              <a:buNone/>
            </a:pPr>
            <a:r>
              <a:rPr lang="en-US" sz="950" b="1" dirty="0">
                <a:solidFill>
                  <a:srgbClr val="FFFFFF"/>
                </a:solidFill>
              </a:rPr>
              <a:t>Menu</a:t>
            </a:r>
            <a:endParaRPr lang="en-US" sz="950" dirty="0"/>
          </a:p>
        </p:txBody>
      </p:sp>
      <p:sp>
        <p:nvSpPr>
          <p:cNvPr id="16" name="Text 14"/>
          <p:cNvSpPr/>
          <p:nvPr/>
        </p:nvSpPr>
        <p:spPr>
          <a:xfrm>
            <a:off x="1874520" y="2999232"/>
            <a:ext cx="2377440" cy="201168"/>
          </a:xfrm>
          <a:prstGeom prst="rect">
            <a:avLst/>
          </a:prstGeom>
          <a:noFill/>
          <a:ln/>
        </p:spPr>
        <p:txBody>
          <a:bodyPr wrap="square" lIns="0" tIns="0" rIns="0" bIns="0" rtlCol="0" anchor="ctr"/>
          <a:lstStyle/>
          <a:p>
            <a:pPr marL="0" indent="0">
              <a:buNone/>
            </a:pPr>
            <a:r>
              <a:rPr lang="en-US" sz="900" dirty="0">
                <a:solidFill>
                  <a:srgbClr val="8899AA"/>
                </a:solidFill>
              </a:rPr>
              <a:t>Nawigacja, hamburger menu, tab bars</a:t>
            </a:r>
            <a:endParaRPr lang="en-US" sz="900" dirty="0"/>
          </a:p>
        </p:txBody>
      </p:sp>
      <p:sp>
        <p:nvSpPr>
          <p:cNvPr id="17" name="Shape 15"/>
          <p:cNvSpPr/>
          <p:nvPr/>
        </p:nvSpPr>
        <p:spPr>
          <a:xfrm>
            <a:off x="457200" y="3502152"/>
            <a:ext cx="201168" cy="201168"/>
          </a:xfrm>
          <a:prstGeom prst="rect">
            <a:avLst/>
          </a:prstGeom>
          <a:solidFill>
            <a:srgbClr val="FF2D78"/>
          </a:solidFill>
          <a:ln w="12700">
            <a:solidFill>
              <a:srgbClr val="FF2D78"/>
            </a:solidFill>
            <a:prstDash val="solid"/>
          </a:ln>
        </p:spPr>
      </p:sp>
      <p:sp>
        <p:nvSpPr>
          <p:cNvPr id="18" name="Text 16"/>
          <p:cNvSpPr/>
          <p:nvPr/>
        </p:nvSpPr>
        <p:spPr>
          <a:xfrm>
            <a:off x="749808" y="3502152"/>
            <a:ext cx="1097280" cy="201168"/>
          </a:xfrm>
          <a:prstGeom prst="rect">
            <a:avLst/>
          </a:prstGeom>
          <a:noFill/>
          <a:ln/>
        </p:spPr>
        <p:txBody>
          <a:bodyPr wrap="square" lIns="0" tIns="0" rIns="0" bIns="0" rtlCol="0" anchor="ctr"/>
          <a:lstStyle/>
          <a:p>
            <a:pPr marL="0" indent="0">
              <a:buNone/>
            </a:pPr>
            <a:r>
              <a:rPr lang="en-US" sz="950" b="1" dirty="0">
                <a:solidFill>
                  <a:srgbClr val="FFFFFF"/>
                </a:solidFill>
              </a:rPr>
              <a:t>Przyciski</a:t>
            </a:r>
            <a:endParaRPr lang="en-US" sz="950" dirty="0"/>
          </a:p>
        </p:txBody>
      </p:sp>
      <p:sp>
        <p:nvSpPr>
          <p:cNvPr id="19" name="Text 17"/>
          <p:cNvSpPr/>
          <p:nvPr/>
        </p:nvSpPr>
        <p:spPr>
          <a:xfrm>
            <a:off x="1874520" y="3502152"/>
            <a:ext cx="2377440" cy="201168"/>
          </a:xfrm>
          <a:prstGeom prst="rect">
            <a:avLst/>
          </a:prstGeom>
          <a:noFill/>
          <a:ln/>
        </p:spPr>
        <p:txBody>
          <a:bodyPr wrap="square" lIns="0" tIns="0" rIns="0" bIns="0" rtlCol="0" anchor="ctr"/>
          <a:lstStyle/>
          <a:p>
            <a:pPr marL="0" indent="0">
              <a:buNone/>
            </a:pPr>
            <a:r>
              <a:rPr lang="en-US" sz="900" dirty="0">
                <a:solidFill>
                  <a:srgbClr val="8899AA"/>
                </a:solidFill>
              </a:rPr>
              <a:t>CTA, akcje, interaktywne elementy</a:t>
            </a:r>
            <a:endParaRPr lang="en-US" sz="900" dirty="0"/>
          </a:p>
        </p:txBody>
      </p:sp>
      <p:sp>
        <p:nvSpPr>
          <p:cNvPr id="20" name="Shape 18"/>
          <p:cNvSpPr/>
          <p:nvPr/>
        </p:nvSpPr>
        <p:spPr>
          <a:xfrm>
            <a:off x="4754880" y="914400"/>
            <a:ext cx="4069080" cy="3246120"/>
          </a:xfrm>
          <a:prstGeom prst="rect">
            <a:avLst/>
          </a:prstGeom>
          <a:solidFill>
            <a:srgbClr val="112233"/>
          </a:solidFill>
          <a:ln w="12700">
            <a:solidFill>
              <a:srgbClr val="1A3050"/>
            </a:solidFill>
            <a:prstDash val="solid"/>
          </a:ln>
        </p:spPr>
      </p:sp>
      <p:sp>
        <p:nvSpPr>
          <p:cNvPr id="21" name="Shape 19"/>
          <p:cNvSpPr/>
          <p:nvPr/>
        </p:nvSpPr>
        <p:spPr>
          <a:xfrm>
            <a:off x="4754880" y="914400"/>
            <a:ext cx="45720" cy="3246120"/>
          </a:xfrm>
          <a:prstGeom prst="rect">
            <a:avLst/>
          </a:prstGeom>
          <a:solidFill>
            <a:srgbClr val="00E676"/>
          </a:solidFill>
          <a:ln w="12700">
            <a:solidFill>
              <a:srgbClr val="00E676"/>
            </a:solidFill>
            <a:prstDash val="solid"/>
          </a:ln>
        </p:spPr>
      </p:sp>
      <p:sp>
        <p:nvSpPr>
          <p:cNvPr id="22" name="Text 20"/>
          <p:cNvSpPr/>
          <p:nvPr/>
        </p:nvSpPr>
        <p:spPr>
          <a:xfrm>
            <a:off x="4892040" y="987552"/>
            <a:ext cx="3794760" cy="274320"/>
          </a:xfrm>
          <a:prstGeom prst="rect">
            <a:avLst/>
          </a:prstGeom>
          <a:noFill/>
          <a:ln/>
        </p:spPr>
        <p:txBody>
          <a:bodyPr wrap="square" lIns="0" tIns="0" rIns="0" bIns="0" rtlCol="0" anchor="ctr"/>
          <a:lstStyle/>
          <a:p>
            <a:pPr marL="0" indent="0">
              <a:buNone/>
            </a:pPr>
            <a:r>
              <a:rPr lang="en-US" sz="1200" b="1" dirty="0">
                <a:solidFill>
                  <a:srgbClr val="FFFFFF"/>
                </a:solidFill>
              </a:rPr>
              <a:t>Zalety GUI</a:t>
            </a:r>
            <a:endParaRPr lang="en-US" sz="1200" dirty="0"/>
          </a:p>
        </p:txBody>
      </p:sp>
      <p:sp>
        <p:nvSpPr>
          <p:cNvPr id="23" name="Text 21"/>
          <p:cNvSpPr/>
          <p:nvPr/>
        </p:nvSpPr>
        <p:spPr>
          <a:xfrm>
            <a:off x="4892040" y="1371600"/>
            <a:ext cx="256032" cy="256032"/>
          </a:xfrm>
          <a:prstGeom prst="rect">
            <a:avLst/>
          </a:prstGeom>
          <a:solidFill>
            <a:srgbClr val="00E676"/>
          </a:solidFill>
          <a:ln/>
        </p:spPr>
        <p:txBody>
          <a:bodyPr wrap="square" lIns="0" tIns="0" rIns="0" bIns="0" rtlCol="0" anchor="ctr"/>
          <a:lstStyle/>
          <a:p>
            <a:pPr marL="0" indent="0" algn="ctr">
              <a:buNone/>
            </a:pPr>
            <a:r>
              <a:rPr lang="en-US" sz="1100" b="1" dirty="0">
                <a:solidFill>
                  <a:srgbClr val="0D1B2A"/>
                </a:solidFill>
              </a:rPr>
              <a:t>1</a:t>
            </a:r>
            <a:endParaRPr lang="en-US" sz="1100" dirty="0"/>
          </a:p>
        </p:txBody>
      </p:sp>
      <p:sp>
        <p:nvSpPr>
          <p:cNvPr id="24" name="Text 22"/>
          <p:cNvSpPr/>
          <p:nvPr/>
        </p:nvSpPr>
        <p:spPr>
          <a:xfrm>
            <a:off x="5239512" y="1371600"/>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Intuicyjność</a:t>
            </a:r>
            <a:endParaRPr lang="en-US" sz="1000" dirty="0"/>
          </a:p>
        </p:txBody>
      </p:sp>
      <p:sp>
        <p:nvSpPr>
          <p:cNvPr id="25" name="Text 23"/>
          <p:cNvSpPr/>
          <p:nvPr/>
        </p:nvSpPr>
        <p:spPr>
          <a:xfrm>
            <a:off x="5239512" y="1636776"/>
            <a:ext cx="3474720" cy="329184"/>
          </a:xfrm>
          <a:prstGeom prst="rect">
            <a:avLst/>
          </a:prstGeom>
          <a:noFill/>
          <a:ln/>
        </p:spPr>
        <p:txBody>
          <a:bodyPr wrap="square" lIns="0" tIns="0" rIns="0" bIns="0" rtlCol="0" anchor="ctr"/>
          <a:lstStyle/>
          <a:p>
            <a:pPr marL="0" indent="0">
              <a:buNone/>
            </a:pPr>
            <a:r>
              <a:rPr lang="en-US" sz="850" dirty="0">
                <a:solidFill>
                  <a:srgbClr val="8899AA"/>
                </a:solidFill>
              </a:rPr>
              <a:t>Użytkownicy rozumieją bez szkolenia — metafory rzeczywistości (kosz na śmieci = usuwanie).</a:t>
            </a:r>
            <a:endParaRPr lang="en-US" sz="850" dirty="0"/>
          </a:p>
        </p:txBody>
      </p:sp>
      <p:sp>
        <p:nvSpPr>
          <p:cNvPr id="26" name="Text 24"/>
          <p:cNvSpPr/>
          <p:nvPr/>
        </p:nvSpPr>
        <p:spPr>
          <a:xfrm>
            <a:off x="4892040" y="2029968"/>
            <a:ext cx="256032" cy="256032"/>
          </a:xfrm>
          <a:prstGeom prst="rect">
            <a:avLst/>
          </a:prstGeom>
          <a:solidFill>
            <a:srgbClr val="00E676"/>
          </a:solidFill>
          <a:ln/>
        </p:spPr>
        <p:txBody>
          <a:bodyPr wrap="square" lIns="0" tIns="0" rIns="0" bIns="0" rtlCol="0" anchor="ctr"/>
          <a:lstStyle/>
          <a:p>
            <a:pPr marL="0" indent="0" algn="ctr">
              <a:buNone/>
            </a:pPr>
            <a:r>
              <a:rPr lang="en-US" sz="1100" b="1" dirty="0">
                <a:solidFill>
                  <a:srgbClr val="0D1B2A"/>
                </a:solidFill>
              </a:rPr>
              <a:t>2</a:t>
            </a:r>
            <a:endParaRPr lang="en-US" sz="1100" dirty="0"/>
          </a:p>
        </p:txBody>
      </p:sp>
      <p:sp>
        <p:nvSpPr>
          <p:cNvPr id="27" name="Text 25"/>
          <p:cNvSpPr/>
          <p:nvPr/>
        </p:nvSpPr>
        <p:spPr>
          <a:xfrm>
            <a:off x="5239512" y="2029968"/>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Niski próg wejścia</a:t>
            </a:r>
            <a:endParaRPr lang="en-US" sz="1000" dirty="0"/>
          </a:p>
        </p:txBody>
      </p:sp>
      <p:sp>
        <p:nvSpPr>
          <p:cNvPr id="28" name="Text 26"/>
          <p:cNvSpPr/>
          <p:nvPr/>
        </p:nvSpPr>
        <p:spPr>
          <a:xfrm>
            <a:off x="5239512" y="2295144"/>
            <a:ext cx="3474720" cy="329184"/>
          </a:xfrm>
          <a:prstGeom prst="rect">
            <a:avLst/>
          </a:prstGeom>
          <a:noFill/>
          <a:ln/>
        </p:spPr>
        <p:txBody>
          <a:bodyPr wrap="square" lIns="0" tIns="0" rIns="0" bIns="0" rtlCol="0" anchor="ctr"/>
          <a:lstStyle/>
          <a:p>
            <a:pPr marL="0" indent="0">
              <a:buNone/>
            </a:pPr>
            <a:r>
              <a:rPr lang="en-US" sz="850" dirty="0">
                <a:solidFill>
                  <a:srgbClr val="8899AA"/>
                </a:solidFill>
              </a:rPr>
              <a:t>Odpowiedni dla wszystkich poziomów zaawansowania.</a:t>
            </a:r>
            <a:endParaRPr lang="en-US" sz="850" dirty="0"/>
          </a:p>
        </p:txBody>
      </p:sp>
      <p:sp>
        <p:nvSpPr>
          <p:cNvPr id="29" name="Text 27"/>
          <p:cNvSpPr/>
          <p:nvPr/>
        </p:nvSpPr>
        <p:spPr>
          <a:xfrm>
            <a:off x="4892040" y="2688336"/>
            <a:ext cx="256032" cy="256032"/>
          </a:xfrm>
          <a:prstGeom prst="rect">
            <a:avLst/>
          </a:prstGeom>
          <a:solidFill>
            <a:srgbClr val="00E676"/>
          </a:solidFill>
          <a:ln/>
        </p:spPr>
        <p:txBody>
          <a:bodyPr wrap="square" lIns="0" tIns="0" rIns="0" bIns="0" rtlCol="0" anchor="ctr"/>
          <a:lstStyle/>
          <a:p>
            <a:pPr marL="0" indent="0" algn="ctr">
              <a:buNone/>
            </a:pPr>
            <a:r>
              <a:rPr lang="en-US" sz="1100" b="1" dirty="0">
                <a:solidFill>
                  <a:srgbClr val="0D1B2A"/>
                </a:solidFill>
              </a:rPr>
              <a:t>3</a:t>
            </a:r>
            <a:endParaRPr lang="en-US" sz="1100" dirty="0"/>
          </a:p>
        </p:txBody>
      </p:sp>
      <p:sp>
        <p:nvSpPr>
          <p:cNvPr id="30" name="Text 28"/>
          <p:cNvSpPr/>
          <p:nvPr/>
        </p:nvSpPr>
        <p:spPr>
          <a:xfrm>
            <a:off x="5239512" y="2688336"/>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Wizualizacja danych</a:t>
            </a:r>
            <a:endParaRPr lang="en-US" sz="1000" dirty="0"/>
          </a:p>
        </p:txBody>
      </p:sp>
      <p:sp>
        <p:nvSpPr>
          <p:cNvPr id="31" name="Text 29"/>
          <p:cNvSpPr/>
          <p:nvPr/>
        </p:nvSpPr>
        <p:spPr>
          <a:xfrm>
            <a:off x="5239512" y="2953512"/>
            <a:ext cx="3474720" cy="329184"/>
          </a:xfrm>
          <a:prstGeom prst="rect">
            <a:avLst/>
          </a:prstGeom>
          <a:noFill/>
          <a:ln/>
        </p:spPr>
        <p:txBody>
          <a:bodyPr wrap="square" lIns="0" tIns="0" rIns="0" bIns="0" rtlCol="0" anchor="ctr"/>
          <a:lstStyle/>
          <a:p>
            <a:pPr marL="0" indent="0">
              <a:buNone/>
            </a:pPr>
            <a:r>
              <a:rPr lang="en-US" sz="850" dirty="0">
                <a:solidFill>
                  <a:srgbClr val="8899AA"/>
                </a:solidFill>
              </a:rPr>
              <a:t>Złożone informacje w przystępny graficzny sposób.</a:t>
            </a:r>
            <a:endParaRPr lang="en-US" sz="850" dirty="0"/>
          </a:p>
        </p:txBody>
      </p:sp>
      <p:sp>
        <p:nvSpPr>
          <p:cNvPr id="32" name="Text 30"/>
          <p:cNvSpPr/>
          <p:nvPr/>
        </p:nvSpPr>
        <p:spPr>
          <a:xfrm>
            <a:off x="4892040" y="3346704"/>
            <a:ext cx="256032" cy="256032"/>
          </a:xfrm>
          <a:prstGeom prst="rect">
            <a:avLst/>
          </a:prstGeom>
          <a:solidFill>
            <a:srgbClr val="00E676"/>
          </a:solidFill>
          <a:ln/>
        </p:spPr>
        <p:txBody>
          <a:bodyPr wrap="square" lIns="0" tIns="0" rIns="0" bIns="0" rtlCol="0" anchor="ctr"/>
          <a:lstStyle/>
          <a:p>
            <a:pPr marL="0" indent="0" algn="ctr">
              <a:buNone/>
            </a:pPr>
            <a:r>
              <a:rPr lang="en-US" sz="1100" b="1" dirty="0">
                <a:solidFill>
                  <a:srgbClr val="0D1B2A"/>
                </a:solidFill>
              </a:rPr>
              <a:t>4</a:t>
            </a:r>
            <a:endParaRPr lang="en-US" sz="1100" dirty="0"/>
          </a:p>
        </p:txBody>
      </p:sp>
      <p:sp>
        <p:nvSpPr>
          <p:cNvPr id="33" name="Text 31"/>
          <p:cNvSpPr/>
          <p:nvPr/>
        </p:nvSpPr>
        <p:spPr>
          <a:xfrm>
            <a:off x="5239512" y="3346704"/>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Spójność</a:t>
            </a:r>
            <a:endParaRPr lang="en-US" sz="1000" dirty="0"/>
          </a:p>
        </p:txBody>
      </p:sp>
      <p:sp>
        <p:nvSpPr>
          <p:cNvPr id="34" name="Text 32"/>
          <p:cNvSpPr/>
          <p:nvPr/>
        </p:nvSpPr>
        <p:spPr>
          <a:xfrm>
            <a:off x="5239512" y="3611880"/>
            <a:ext cx="3474720" cy="329184"/>
          </a:xfrm>
          <a:prstGeom prst="rect">
            <a:avLst/>
          </a:prstGeom>
          <a:noFill/>
          <a:ln/>
        </p:spPr>
        <p:txBody>
          <a:bodyPr wrap="square" lIns="0" tIns="0" rIns="0" bIns="0" rtlCol="0" anchor="ctr"/>
          <a:lstStyle/>
          <a:p>
            <a:pPr marL="0" indent="0">
              <a:buNone/>
            </a:pPr>
            <a:r>
              <a:rPr lang="en-US" sz="850" dirty="0">
                <a:solidFill>
                  <a:srgbClr val="8899AA"/>
                </a:solidFill>
              </a:rPr>
              <a:t>Łatwość utrzymania spójnego doświadczenia na różnych platformach.</a:t>
            </a:r>
            <a:endParaRPr lang="en-US" sz="850" dirty="0"/>
          </a:p>
        </p:txBody>
      </p:sp>
      <p:sp>
        <p:nvSpPr>
          <p:cNvPr id="35" name="Shape 33"/>
          <p:cNvSpPr/>
          <p:nvPr/>
        </p:nvSpPr>
        <p:spPr>
          <a:xfrm>
            <a:off x="320040" y="4224528"/>
            <a:ext cx="8503920" cy="365760"/>
          </a:xfrm>
          <a:prstGeom prst="rect">
            <a:avLst/>
          </a:prstGeom>
          <a:solidFill>
            <a:srgbClr val="0A1929"/>
          </a:solidFill>
          <a:ln w="12700">
            <a:solidFill>
              <a:srgbClr val="1A3050"/>
            </a:solidFill>
            <a:prstDash val="solid"/>
          </a:ln>
        </p:spPr>
      </p:sp>
      <p:sp>
        <p:nvSpPr>
          <p:cNvPr id="36" name="Text 34"/>
          <p:cNvSpPr/>
          <p:nvPr/>
        </p:nvSpPr>
        <p:spPr>
          <a:xfrm>
            <a:off x="457200" y="4251960"/>
            <a:ext cx="8229600" cy="320040"/>
          </a:xfrm>
          <a:prstGeom prst="rect">
            <a:avLst/>
          </a:prstGeom>
          <a:noFill/>
          <a:ln/>
        </p:spPr>
        <p:txBody>
          <a:bodyPr wrap="square" lIns="0" tIns="0" rIns="0" bIns="0" rtlCol="0" anchor="ctr"/>
          <a:lstStyle/>
          <a:p>
            <a:pPr marL="0" indent="0">
              <a:buNone/>
            </a:pPr>
            <a:r>
              <a:rPr lang="en-US" sz="900" dirty="0">
                <a:solidFill>
                  <a:srgbClr val="8899AA"/>
                </a:solidFill>
              </a:rPr>
              <a:t>Przykłady:  Instagram, Facebook, Gmail, bankowość mobilna, e-commerce apps</a:t>
            </a:r>
            <a:endParaRPr lang="en-US" sz="900" dirty="0"/>
          </a:p>
        </p:txBody>
      </p:sp>
      <p:sp>
        <p:nvSpPr>
          <p:cNvPr id="39" name="Text 37"/>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8 / </a:t>
            </a:r>
            <a:r>
              <a:rPr lang="pl-PL" sz="800" dirty="0" smtClean="0">
                <a:solidFill>
                  <a:srgbClr val="8899AA"/>
                </a:solidFill>
              </a:rPr>
              <a:t>46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grpSp>
        <p:nvGrpSpPr>
          <p:cNvPr id="33" name="Grupa 32"/>
          <p:cNvGrpSpPr/>
          <p:nvPr/>
        </p:nvGrpSpPr>
        <p:grpSpPr>
          <a:xfrm>
            <a:off x="-2381" y="4884912"/>
            <a:ext cx="9146381" cy="260136"/>
            <a:chOff x="-2381" y="4884912"/>
            <a:chExt cx="9146381" cy="260136"/>
          </a:xfrm>
        </p:grpSpPr>
        <p:sp>
          <p:nvSpPr>
            <p:cNvPr id="34" name="Shape 52"/>
            <p:cNvSpPr/>
            <p:nvPr/>
          </p:nvSpPr>
          <p:spPr>
            <a:xfrm>
              <a:off x="0" y="4884912"/>
              <a:ext cx="9144000" cy="252000"/>
            </a:xfrm>
            <a:prstGeom prst="rect">
              <a:avLst/>
            </a:prstGeom>
            <a:solidFill>
              <a:srgbClr val="071523"/>
            </a:solidFill>
            <a:ln w="12700">
              <a:solidFill>
                <a:srgbClr val="071523"/>
              </a:solidFill>
              <a:prstDash val="solid"/>
            </a:ln>
          </p:spPr>
        </p:sp>
        <p:sp>
          <p:nvSpPr>
            <p:cNvPr id="35"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36" name="Grupa 35"/>
            <p:cNvGrpSpPr/>
            <p:nvPr/>
          </p:nvGrpSpPr>
          <p:grpSpPr>
            <a:xfrm>
              <a:off x="-2381" y="5099329"/>
              <a:ext cx="9146381" cy="45719"/>
              <a:chOff x="-2381" y="5107500"/>
              <a:chExt cx="9111093" cy="37548"/>
            </a:xfrm>
            <a:solidFill>
              <a:schemeClr val="tx1"/>
            </a:solidFill>
          </p:grpSpPr>
          <p:sp>
            <p:nvSpPr>
              <p:cNvPr id="37"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38"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39"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40"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41"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42"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43"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44"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45"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46" name="Shape 52"/>
              <p:cNvSpPr/>
              <p:nvPr/>
            </p:nvSpPr>
            <p:spPr>
              <a:xfrm>
                <a:off x="1782000" y="5107500"/>
                <a:ext cx="198000" cy="36000"/>
              </a:xfrm>
              <a:prstGeom prst="rect">
                <a:avLst/>
              </a:prstGeom>
              <a:grpFill/>
              <a:ln w="12700">
                <a:noFill/>
                <a:prstDash val="solid"/>
              </a:ln>
            </p:spPr>
          </p:sp>
          <p:sp>
            <p:nvSpPr>
              <p:cNvPr id="47" name="Shape 52"/>
              <p:cNvSpPr/>
              <p:nvPr/>
            </p:nvSpPr>
            <p:spPr>
              <a:xfrm>
                <a:off x="1980000" y="5107500"/>
                <a:ext cx="198000" cy="36000"/>
              </a:xfrm>
              <a:prstGeom prst="rect">
                <a:avLst/>
              </a:prstGeom>
              <a:grpFill/>
              <a:ln w="12700">
                <a:noFill/>
                <a:prstDash val="solid"/>
              </a:ln>
            </p:spPr>
          </p:sp>
          <p:sp>
            <p:nvSpPr>
              <p:cNvPr id="48" name="Shape 52"/>
              <p:cNvSpPr/>
              <p:nvPr/>
            </p:nvSpPr>
            <p:spPr>
              <a:xfrm>
                <a:off x="2178000" y="5107500"/>
                <a:ext cx="198000" cy="36000"/>
              </a:xfrm>
              <a:prstGeom prst="rect">
                <a:avLst/>
              </a:prstGeom>
              <a:grpFill/>
              <a:ln w="12700">
                <a:noFill/>
                <a:prstDash val="solid"/>
              </a:ln>
            </p:spPr>
          </p:sp>
          <p:sp>
            <p:nvSpPr>
              <p:cNvPr id="49" name="Shape 52"/>
              <p:cNvSpPr/>
              <p:nvPr/>
            </p:nvSpPr>
            <p:spPr>
              <a:xfrm>
                <a:off x="2376000" y="5107500"/>
                <a:ext cx="198000" cy="36000"/>
              </a:xfrm>
              <a:prstGeom prst="rect">
                <a:avLst/>
              </a:prstGeom>
              <a:grpFill/>
              <a:ln w="12700">
                <a:noFill/>
                <a:prstDash val="solid"/>
              </a:ln>
            </p:spPr>
          </p:sp>
          <p:sp>
            <p:nvSpPr>
              <p:cNvPr id="50" name="Shape 52"/>
              <p:cNvSpPr/>
              <p:nvPr/>
            </p:nvSpPr>
            <p:spPr>
              <a:xfrm>
                <a:off x="2574000" y="5107500"/>
                <a:ext cx="198000" cy="36000"/>
              </a:xfrm>
              <a:prstGeom prst="rect">
                <a:avLst/>
              </a:prstGeom>
              <a:grpFill/>
              <a:ln w="12700">
                <a:noFill/>
                <a:prstDash val="solid"/>
              </a:ln>
            </p:spPr>
          </p:sp>
          <p:sp>
            <p:nvSpPr>
              <p:cNvPr id="51" name="Shape 52"/>
              <p:cNvSpPr/>
              <p:nvPr/>
            </p:nvSpPr>
            <p:spPr>
              <a:xfrm>
                <a:off x="2772712" y="5108400"/>
                <a:ext cx="198000" cy="36000"/>
              </a:xfrm>
              <a:prstGeom prst="rect">
                <a:avLst/>
              </a:prstGeom>
              <a:grpFill/>
              <a:ln w="12700">
                <a:noFill/>
                <a:prstDash val="solid"/>
              </a:ln>
            </p:spPr>
          </p:sp>
          <p:sp>
            <p:nvSpPr>
              <p:cNvPr id="52" name="Shape 52"/>
              <p:cNvSpPr/>
              <p:nvPr/>
            </p:nvSpPr>
            <p:spPr>
              <a:xfrm>
                <a:off x="2970712" y="5108400"/>
                <a:ext cx="198000" cy="36000"/>
              </a:xfrm>
              <a:prstGeom prst="rect">
                <a:avLst/>
              </a:prstGeom>
              <a:grpFill/>
              <a:ln w="12700">
                <a:noFill/>
                <a:prstDash val="solid"/>
              </a:ln>
            </p:spPr>
          </p:sp>
          <p:sp>
            <p:nvSpPr>
              <p:cNvPr id="53" name="Shape 52"/>
              <p:cNvSpPr/>
              <p:nvPr/>
            </p:nvSpPr>
            <p:spPr>
              <a:xfrm>
                <a:off x="3168712" y="5108400"/>
                <a:ext cx="198000" cy="36000"/>
              </a:xfrm>
              <a:prstGeom prst="rect">
                <a:avLst/>
              </a:prstGeom>
              <a:grpFill/>
              <a:ln w="12700">
                <a:noFill/>
                <a:prstDash val="solid"/>
              </a:ln>
            </p:spPr>
          </p:sp>
          <p:sp>
            <p:nvSpPr>
              <p:cNvPr id="54" name="Shape 52"/>
              <p:cNvSpPr/>
              <p:nvPr/>
            </p:nvSpPr>
            <p:spPr>
              <a:xfrm>
                <a:off x="3366712" y="5108400"/>
                <a:ext cx="198000" cy="36000"/>
              </a:xfrm>
              <a:prstGeom prst="rect">
                <a:avLst/>
              </a:prstGeom>
              <a:grpFill/>
              <a:ln w="12700">
                <a:noFill/>
                <a:prstDash val="solid"/>
              </a:ln>
            </p:spPr>
          </p:sp>
          <p:sp>
            <p:nvSpPr>
              <p:cNvPr id="55" name="Shape 52"/>
              <p:cNvSpPr/>
              <p:nvPr/>
            </p:nvSpPr>
            <p:spPr>
              <a:xfrm>
                <a:off x="3564712" y="5108400"/>
                <a:ext cx="198000" cy="36000"/>
              </a:xfrm>
              <a:prstGeom prst="rect">
                <a:avLst/>
              </a:prstGeom>
              <a:grpFill/>
              <a:ln w="12700">
                <a:noFill/>
                <a:prstDash val="solid"/>
              </a:ln>
            </p:spPr>
          </p:sp>
          <p:sp>
            <p:nvSpPr>
              <p:cNvPr id="56" name="Shape 52"/>
              <p:cNvSpPr/>
              <p:nvPr/>
            </p:nvSpPr>
            <p:spPr>
              <a:xfrm>
                <a:off x="3762712" y="5108400"/>
                <a:ext cx="198000" cy="36000"/>
              </a:xfrm>
              <a:prstGeom prst="rect">
                <a:avLst/>
              </a:prstGeom>
              <a:grpFill/>
              <a:ln w="12700">
                <a:noFill/>
                <a:prstDash val="solid"/>
              </a:ln>
            </p:spPr>
          </p:sp>
          <p:sp>
            <p:nvSpPr>
              <p:cNvPr id="57" name="Shape 52"/>
              <p:cNvSpPr/>
              <p:nvPr/>
            </p:nvSpPr>
            <p:spPr>
              <a:xfrm>
                <a:off x="3960712" y="5107530"/>
                <a:ext cx="198000" cy="36000"/>
              </a:xfrm>
              <a:prstGeom prst="rect">
                <a:avLst/>
              </a:prstGeom>
              <a:grpFill/>
              <a:ln w="12700">
                <a:noFill/>
                <a:prstDash val="solid"/>
              </a:ln>
            </p:spPr>
          </p:sp>
          <p:sp>
            <p:nvSpPr>
              <p:cNvPr id="58" name="Shape 52"/>
              <p:cNvSpPr/>
              <p:nvPr/>
            </p:nvSpPr>
            <p:spPr>
              <a:xfrm>
                <a:off x="4158712" y="5107500"/>
                <a:ext cx="198000" cy="36000"/>
              </a:xfrm>
              <a:prstGeom prst="rect">
                <a:avLst/>
              </a:prstGeom>
              <a:grpFill/>
              <a:ln w="12700">
                <a:noFill/>
                <a:prstDash val="solid"/>
              </a:ln>
            </p:spPr>
          </p:sp>
          <p:sp>
            <p:nvSpPr>
              <p:cNvPr id="59" name="Shape 52"/>
              <p:cNvSpPr/>
              <p:nvPr/>
            </p:nvSpPr>
            <p:spPr>
              <a:xfrm>
                <a:off x="4356712" y="5107500"/>
                <a:ext cx="198000" cy="36000"/>
              </a:xfrm>
              <a:prstGeom prst="rect">
                <a:avLst/>
              </a:prstGeom>
              <a:grpFill/>
              <a:ln w="12700">
                <a:noFill/>
                <a:prstDash val="solid"/>
              </a:ln>
            </p:spPr>
          </p:sp>
          <p:sp>
            <p:nvSpPr>
              <p:cNvPr id="60" name="Shape 52"/>
              <p:cNvSpPr/>
              <p:nvPr/>
            </p:nvSpPr>
            <p:spPr>
              <a:xfrm>
                <a:off x="4554712" y="5107500"/>
                <a:ext cx="198000" cy="36000"/>
              </a:xfrm>
              <a:prstGeom prst="rect">
                <a:avLst/>
              </a:prstGeom>
              <a:grpFill/>
              <a:ln w="12700">
                <a:noFill/>
                <a:prstDash val="solid"/>
              </a:ln>
            </p:spPr>
          </p:sp>
          <p:sp>
            <p:nvSpPr>
              <p:cNvPr id="61" name="Shape 52"/>
              <p:cNvSpPr/>
              <p:nvPr/>
            </p:nvSpPr>
            <p:spPr>
              <a:xfrm>
                <a:off x="4752712" y="5107500"/>
                <a:ext cx="198000" cy="36000"/>
              </a:xfrm>
              <a:prstGeom prst="rect">
                <a:avLst/>
              </a:prstGeom>
              <a:grpFill/>
              <a:ln w="12700">
                <a:noFill/>
                <a:prstDash val="solid"/>
              </a:ln>
            </p:spPr>
          </p:sp>
          <p:sp>
            <p:nvSpPr>
              <p:cNvPr id="62" name="Shape 52"/>
              <p:cNvSpPr/>
              <p:nvPr/>
            </p:nvSpPr>
            <p:spPr>
              <a:xfrm>
                <a:off x="4950712" y="5107500"/>
                <a:ext cx="198000" cy="36000"/>
              </a:xfrm>
              <a:prstGeom prst="rect">
                <a:avLst/>
              </a:prstGeom>
              <a:grpFill/>
              <a:ln w="12700">
                <a:noFill/>
                <a:prstDash val="solid"/>
              </a:ln>
            </p:spPr>
          </p:sp>
          <p:sp>
            <p:nvSpPr>
              <p:cNvPr id="63" name="Shape 52"/>
              <p:cNvSpPr/>
              <p:nvPr/>
            </p:nvSpPr>
            <p:spPr>
              <a:xfrm>
                <a:off x="5148712" y="5107500"/>
                <a:ext cx="198000" cy="36000"/>
              </a:xfrm>
              <a:prstGeom prst="rect">
                <a:avLst/>
              </a:prstGeom>
              <a:grpFill/>
              <a:ln w="12700">
                <a:noFill/>
                <a:prstDash val="solid"/>
              </a:ln>
            </p:spPr>
          </p:sp>
          <p:sp>
            <p:nvSpPr>
              <p:cNvPr id="64" name="Shape 52"/>
              <p:cNvSpPr/>
              <p:nvPr/>
            </p:nvSpPr>
            <p:spPr>
              <a:xfrm>
                <a:off x="5346712" y="5108400"/>
                <a:ext cx="198000" cy="36000"/>
              </a:xfrm>
              <a:prstGeom prst="rect">
                <a:avLst/>
              </a:prstGeom>
              <a:grpFill/>
              <a:ln w="12700">
                <a:noFill/>
                <a:prstDash val="solid"/>
              </a:ln>
            </p:spPr>
          </p:sp>
          <p:sp>
            <p:nvSpPr>
              <p:cNvPr id="65" name="Shape 52"/>
              <p:cNvSpPr/>
              <p:nvPr/>
            </p:nvSpPr>
            <p:spPr>
              <a:xfrm>
                <a:off x="5544712" y="5108400"/>
                <a:ext cx="198000" cy="36000"/>
              </a:xfrm>
              <a:prstGeom prst="rect">
                <a:avLst/>
              </a:prstGeom>
              <a:grpFill/>
              <a:ln w="12700">
                <a:noFill/>
                <a:prstDash val="solid"/>
              </a:ln>
            </p:spPr>
          </p:sp>
          <p:sp>
            <p:nvSpPr>
              <p:cNvPr id="66" name="Shape 52"/>
              <p:cNvSpPr/>
              <p:nvPr/>
            </p:nvSpPr>
            <p:spPr>
              <a:xfrm>
                <a:off x="5742712" y="5108400"/>
                <a:ext cx="198000" cy="36000"/>
              </a:xfrm>
              <a:prstGeom prst="rect">
                <a:avLst/>
              </a:prstGeom>
              <a:grpFill/>
              <a:ln w="12700">
                <a:noFill/>
                <a:prstDash val="solid"/>
              </a:ln>
            </p:spPr>
          </p:sp>
          <p:sp>
            <p:nvSpPr>
              <p:cNvPr id="67" name="Shape 52"/>
              <p:cNvSpPr/>
              <p:nvPr/>
            </p:nvSpPr>
            <p:spPr>
              <a:xfrm>
                <a:off x="5940712" y="5108400"/>
                <a:ext cx="198000" cy="36000"/>
              </a:xfrm>
              <a:prstGeom prst="rect">
                <a:avLst/>
              </a:prstGeom>
              <a:grpFill/>
              <a:ln w="12700">
                <a:noFill/>
                <a:prstDash val="solid"/>
              </a:ln>
            </p:spPr>
          </p:sp>
          <p:sp>
            <p:nvSpPr>
              <p:cNvPr id="68" name="Shape 52"/>
              <p:cNvSpPr/>
              <p:nvPr/>
            </p:nvSpPr>
            <p:spPr>
              <a:xfrm>
                <a:off x="6138712" y="5108400"/>
                <a:ext cx="198000" cy="36000"/>
              </a:xfrm>
              <a:prstGeom prst="rect">
                <a:avLst/>
              </a:prstGeom>
              <a:grpFill/>
              <a:ln w="12700">
                <a:noFill/>
                <a:prstDash val="solid"/>
              </a:ln>
            </p:spPr>
          </p:sp>
          <p:sp>
            <p:nvSpPr>
              <p:cNvPr id="69" name="Shape 52"/>
              <p:cNvSpPr/>
              <p:nvPr/>
            </p:nvSpPr>
            <p:spPr>
              <a:xfrm>
                <a:off x="6336712" y="5108400"/>
                <a:ext cx="198000" cy="36000"/>
              </a:xfrm>
              <a:prstGeom prst="rect">
                <a:avLst/>
              </a:prstGeom>
              <a:grpFill/>
              <a:ln w="12700">
                <a:noFill/>
                <a:prstDash val="solid"/>
              </a:ln>
            </p:spPr>
          </p:sp>
          <p:sp>
            <p:nvSpPr>
              <p:cNvPr id="70" name="Shape 52"/>
              <p:cNvSpPr/>
              <p:nvPr/>
            </p:nvSpPr>
            <p:spPr>
              <a:xfrm>
                <a:off x="6534712" y="5108400"/>
                <a:ext cx="198000" cy="36000"/>
              </a:xfrm>
              <a:prstGeom prst="rect">
                <a:avLst/>
              </a:prstGeom>
              <a:grpFill/>
              <a:ln w="12700">
                <a:noFill/>
                <a:prstDash val="solid"/>
              </a:ln>
            </p:spPr>
          </p:sp>
          <p:sp>
            <p:nvSpPr>
              <p:cNvPr id="71" name="Shape 52"/>
              <p:cNvSpPr/>
              <p:nvPr/>
            </p:nvSpPr>
            <p:spPr>
              <a:xfrm>
                <a:off x="6732712" y="5108400"/>
                <a:ext cx="198000" cy="36000"/>
              </a:xfrm>
              <a:prstGeom prst="rect">
                <a:avLst/>
              </a:prstGeom>
              <a:grpFill/>
              <a:ln w="12700">
                <a:noFill/>
                <a:prstDash val="solid"/>
              </a:ln>
            </p:spPr>
          </p:sp>
          <p:sp>
            <p:nvSpPr>
              <p:cNvPr id="72" name="Shape 52"/>
              <p:cNvSpPr/>
              <p:nvPr/>
            </p:nvSpPr>
            <p:spPr>
              <a:xfrm>
                <a:off x="6930712" y="5108400"/>
                <a:ext cx="198000" cy="36000"/>
              </a:xfrm>
              <a:prstGeom prst="rect">
                <a:avLst/>
              </a:prstGeom>
              <a:grpFill/>
              <a:ln w="12700">
                <a:noFill/>
                <a:prstDash val="solid"/>
              </a:ln>
            </p:spPr>
          </p:sp>
          <p:sp>
            <p:nvSpPr>
              <p:cNvPr id="73" name="Shape 52"/>
              <p:cNvSpPr/>
              <p:nvPr/>
            </p:nvSpPr>
            <p:spPr>
              <a:xfrm>
                <a:off x="7128712" y="5108400"/>
                <a:ext cx="198000" cy="36000"/>
              </a:xfrm>
              <a:prstGeom prst="rect">
                <a:avLst/>
              </a:prstGeom>
              <a:grpFill/>
              <a:ln w="12700">
                <a:noFill/>
                <a:prstDash val="solid"/>
              </a:ln>
            </p:spPr>
          </p:sp>
          <p:sp>
            <p:nvSpPr>
              <p:cNvPr id="74" name="Shape 52"/>
              <p:cNvSpPr/>
              <p:nvPr/>
            </p:nvSpPr>
            <p:spPr>
              <a:xfrm>
                <a:off x="7326712" y="5108400"/>
                <a:ext cx="198000" cy="36000"/>
              </a:xfrm>
              <a:prstGeom prst="rect">
                <a:avLst/>
              </a:prstGeom>
              <a:grpFill/>
              <a:ln w="12700">
                <a:noFill/>
                <a:prstDash val="solid"/>
              </a:ln>
            </p:spPr>
          </p:sp>
          <p:sp>
            <p:nvSpPr>
              <p:cNvPr id="75" name="Shape 52"/>
              <p:cNvSpPr/>
              <p:nvPr/>
            </p:nvSpPr>
            <p:spPr>
              <a:xfrm>
                <a:off x="7524712" y="5108400"/>
                <a:ext cx="198000" cy="36000"/>
              </a:xfrm>
              <a:prstGeom prst="rect">
                <a:avLst/>
              </a:prstGeom>
              <a:grpFill/>
              <a:ln w="12700">
                <a:noFill/>
                <a:prstDash val="solid"/>
              </a:ln>
            </p:spPr>
          </p:sp>
          <p:sp>
            <p:nvSpPr>
              <p:cNvPr id="76" name="Shape 52"/>
              <p:cNvSpPr/>
              <p:nvPr/>
            </p:nvSpPr>
            <p:spPr>
              <a:xfrm>
                <a:off x="7722712" y="5108400"/>
                <a:ext cx="198000" cy="36000"/>
              </a:xfrm>
              <a:prstGeom prst="rect">
                <a:avLst/>
              </a:prstGeom>
              <a:grpFill/>
              <a:ln w="12700">
                <a:noFill/>
                <a:prstDash val="solid"/>
              </a:ln>
            </p:spPr>
          </p:sp>
          <p:sp>
            <p:nvSpPr>
              <p:cNvPr id="77" name="Shape 52"/>
              <p:cNvSpPr/>
              <p:nvPr/>
            </p:nvSpPr>
            <p:spPr>
              <a:xfrm>
                <a:off x="7920712" y="5109048"/>
                <a:ext cx="198000" cy="36000"/>
              </a:xfrm>
              <a:prstGeom prst="rect">
                <a:avLst/>
              </a:prstGeom>
              <a:grpFill/>
              <a:ln w="12700">
                <a:noFill/>
                <a:prstDash val="solid"/>
              </a:ln>
            </p:spPr>
          </p:sp>
          <p:sp>
            <p:nvSpPr>
              <p:cNvPr id="78" name="Shape 52"/>
              <p:cNvSpPr/>
              <p:nvPr/>
            </p:nvSpPr>
            <p:spPr>
              <a:xfrm>
                <a:off x="8118712" y="5109048"/>
                <a:ext cx="198000" cy="36000"/>
              </a:xfrm>
              <a:prstGeom prst="rect">
                <a:avLst/>
              </a:prstGeom>
              <a:grpFill/>
              <a:ln w="12700">
                <a:noFill/>
                <a:prstDash val="solid"/>
              </a:ln>
            </p:spPr>
          </p:sp>
          <p:sp>
            <p:nvSpPr>
              <p:cNvPr id="79" name="Shape 52"/>
              <p:cNvSpPr/>
              <p:nvPr/>
            </p:nvSpPr>
            <p:spPr>
              <a:xfrm>
                <a:off x="8316712" y="5109048"/>
                <a:ext cx="198000" cy="36000"/>
              </a:xfrm>
              <a:prstGeom prst="rect">
                <a:avLst/>
              </a:prstGeom>
              <a:grpFill/>
              <a:ln w="12700">
                <a:noFill/>
                <a:prstDash val="solid"/>
              </a:ln>
            </p:spPr>
          </p:sp>
          <p:sp>
            <p:nvSpPr>
              <p:cNvPr id="80" name="Shape 52"/>
              <p:cNvSpPr/>
              <p:nvPr/>
            </p:nvSpPr>
            <p:spPr>
              <a:xfrm>
                <a:off x="8514712" y="5109048"/>
                <a:ext cx="198000" cy="36000"/>
              </a:xfrm>
              <a:prstGeom prst="rect">
                <a:avLst/>
              </a:prstGeom>
              <a:grpFill/>
              <a:ln w="12700">
                <a:noFill/>
                <a:prstDash val="solid"/>
              </a:ln>
            </p:spPr>
          </p:sp>
          <p:sp>
            <p:nvSpPr>
              <p:cNvPr id="81" name="Shape 52"/>
              <p:cNvSpPr/>
              <p:nvPr/>
            </p:nvSpPr>
            <p:spPr>
              <a:xfrm>
                <a:off x="8712712" y="5109048"/>
                <a:ext cx="198000" cy="36000"/>
              </a:xfrm>
              <a:prstGeom prst="rect">
                <a:avLst/>
              </a:prstGeom>
              <a:grpFill/>
              <a:ln w="12700">
                <a:noFill/>
                <a:prstDash val="solid"/>
              </a:ln>
            </p:spPr>
          </p:sp>
          <p:sp>
            <p:nvSpPr>
              <p:cNvPr id="82"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FF2D78"/>
          </a:solidFill>
          <a:ln w="12700">
            <a:solidFill>
              <a:srgbClr val="FF2D78"/>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VUI — Voice User Interface</a:t>
            </a:r>
            <a:endParaRPr lang="en-US" sz="2200" dirty="0"/>
          </a:p>
        </p:txBody>
      </p:sp>
      <p:sp>
        <p:nvSpPr>
          <p:cNvPr id="4" name="Shape 2"/>
          <p:cNvSpPr/>
          <p:nvPr/>
        </p:nvSpPr>
        <p:spPr>
          <a:xfrm>
            <a:off x="320040" y="914400"/>
            <a:ext cx="4069080" cy="324612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5" name="Shape 3"/>
          <p:cNvSpPr/>
          <p:nvPr/>
        </p:nvSpPr>
        <p:spPr>
          <a:xfrm>
            <a:off x="320040" y="914400"/>
            <a:ext cx="45720" cy="3246120"/>
          </a:xfrm>
          <a:prstGeom prst="rect">
            <a:avLst/>
          </a:prstGeom>
          <a:solidFill>
            <a:srgbClr val="FF2D78"/>
          </a:solidFill>
          <a:ln w="12700">
            <a:solidFill>
              <a:srgbClr val="FF2D78"/>
            </a:solidFill>
            <a:prstDash val="solid"/>
          </a:ln>
        </p:spPr>
      </p:sp>
      <p:sp>
        <p:nvSpPr>
          <p:cNvPr id="6" name="Text 4"/>
          <p:cNvSpPr/>
          <p:nvPr/>
        </p:nvSpPr>
        <p:spPr>
          <a:xfrm>
            <a:off x="429768" y="978408"/>
            <a:ext cx="3913632" cy="256032"/>
          </a:xfrm>
          <a:prstGeom prst="rect">
            <a:avLst/>
          </a:prstGeom>
          <a:noFill/>
          <a:ln/>
        </p:spPr>
        <p:txBody>
          <a:bodyPr wrap="square" lIns="0" tIns="0" rIns="0" bIns="0" rtlCol="0" anchor="t"/>
          <a:lstStyle/>
          <a:p>
            <a:pPr marL="0" indent="0">
              <a:buNone/>
            </a:pPr>
            <a:r>
              <a:rPr lang="en-US" sz="1000" b="1" dirty="0">
                <a:solidFill>
                  <a:srgbClr val="FF2D78"/>
                </a:solidFill>
              </a:rPr>
              <a:t>Interfejsy Głosowe</a:t>
            </a:r>
            <a:endParaRPr lang="en-US" sz="1000" dirty="0"/>
          </a:p>
        </p:txBody>
      </p:sp>
      <p:sp>
        <p:nvSpPr>
          <p:cNvPr id="7" name="Text 5"/>
          <p:cNvSpPr/>
          <p:nvPr/>
        </p:nvSpPr>
        <p:spPr>
          <a:xfrm>
            <a:off x="429768" y="1243584"/>
            <a:ext cx="3913632" cy="2862072"/>
          </a:xfrm>
          <a:prstGeom prst="rect">
            <a:avLst/>
          </a:prstGeom>
          <a:noFill/>
          <a:ln/>
        </p:spPr>
        <p:txBody>
          <a:bodyPr wrap="square" lIns="0" tIns="0" rIns="0" bIns="0" rtlCol="0" anchor="t"/>
          <a:lstStyle/>
          <a:p>
            <a:pPr marL="0" indent="0">
              <a:buNone/>
            </a:pPr>
            <a:r>
              <a:rPr lang="en-US" sz="950" dirty="0">
                <a:solidFill>
                  <a:srgbClr val="CCDDEE"/>
                </a:solidFill>
              </a:rPr>
              <a:t>Interfejsy głosowe rewolucjonizują interakcję z technologią. Wykorzystują rozpoznawanie mowy i przetwarzanie języka naturalnego (NLP).</a:t>
            </a:r>
            <a:endParaRPr lang="en-US" sz="950" dirty="0"/>
          </a:p>
          <a:p>
            <a:pPr marL="0" indent="0">
              <a:buNone/>
            </a:pPr>
            <a:endParaRPr lang="en-US" sz="950" dirty="0"/>
          </a:p>
          <a:p>
            <a:pPr marL="0" indent="0">
              <a:buNone/>
            </a:pPr>
            <a:r>
              <a:rPr lang="en-US" sz="950" dirty="0">
                <a:solidFill>
                  <a:srgbClr val="CCDDEE"/>
                </a:solidFill>
              </a:rPr>
              <a:t>Asystenci: Siri, Google Assistant, Alexa</a:t>
            </a:r>
            <a:endParaRPr lang="en-US" sz="950" dirty="0"/>
          </a:p>
          <a:p>
            <a:pPr marL="0" indent="0">
              <a:buNone/>
            </a:pPr>
            <a:r>
              <a:rPr lang="en-US" sz="950" dirty="0">
                <a:solidFill>
                  <a:srgbClr val="CCDDEE"/>
                </a:solidFill>
              </a:rPr>
              <a:t>Rozpoznawanie Mowy: konwersja głosu na tekst w czasie rzeczywistym</a:t>
            </a:r>
            <a:endParaRPr lang="en-US" sz="950" dirty="0"/>
          </a:p>
          <a:p>
            <a:pPr marL="0" indent="0">
              <a:buNone/>
            </a:pPr>
            <a:r>
              <a:rPr lang="en-US" sz="950" dirty="0">
                <a:solidFill>
                  <a:srgbClr val="CCDDEE"/>
                </a:solidFill>
              </a:rPr>
              <a:t>Przetwarzanie Języka: rozumienie kontekstu i intencji użytkownika</a:t>
            </a:r>
            <a:endParaRPr lang="en-US" sz="950" dirty="0"/>
          </a:p>
        </p:txBody>
      </p:sp>
      <p:sp>
        <p:nvSpPr>
          <p:cNvPr id="8" name="Shape 6"/>
          <p:cNvSpPr/>
          <p:nvPr/>
        </p:nvSpPr>
        <p:spPr>
          <a:xfrm>
            <a:off x="320040" y="4224528"/>
            <a:ext cx="1965960" cy="594360"/>
          </a:xfrm>
          <a:prstGeom prst="rect">
            <a:avLst/>
          </a:prstGeom>
          <a:solidFill>
            <a:srgbClr val="112233"/>
          </a:solidFill>
          <a:ln w="12700">
            <a:solidFill>
              <a:srgbClr val="00D4FF"/>
            </a:solidFill>
            <a:prstDash val="solid"/>
          </a:ln>
        </p:spPr>
      </p:sp>
      <p:sp>
        <p:nvSpPr>
          <p:cNvPr id="9" name="Text 7"/>
          <p:cNvSpPr/>
          <p:nvPr/>
        </p:nvSpPr>
        <p:spPr>
          <a:xfrm>
            <a:off x="320040" y="4315968"/>
            <a:ext cx="1965960" cy="326898"/>
          </a:xfrm>
          <a:prstGeom prst="rect">
            <a:avLst/>
          </a:prstGeom>
          <a:noFill/>
          <a:ln/>
        </p:spPr>
        <p:txBody>
          <a:bodyPr wrap="square" lIns="0" tIns="0" rIns="0" bIns="0" rtlCol="0" anchor="ctr"/>
          <a:lstStyle/>
          <a:p>
            <a:pPr marL="0" indent="0" algn="ctr">
              <a:buNone/>
            </a:pPr>
            <a:r>
              <a:rPr lang="en-US" sz="2400" b="1" dirty="0">
                <a:solidFill>
                  <a:srgbClr val="00D4FF"/>
                </a:solidFill>
              </a:rPr>
              <a:t>95%</a:t>
            </a:r>
            <a:endParaRPr lang="en-US" sz="2400" dirty="0"/>
          </a:p>
        </p:txBody>
      </p:sp>
      <p:sp>
        <p:nvSpPr>
          <p:cNvPr id="10" name="Text 8"/>
          <p:cNvSpPr/>
          <p:nvPr/>
        </p:nvSpPr>
        <p:spPr>
          <a:xfrm>
            <a:off x="320040" y="4581144"/>
            <a:ext cx="1965960" cy="225857"/>
          </a:xfrm>
          <a:prstGeom prst="rect">
            <a:avLst/>
          </a:prstGeom>
          <a:noFill/>
          <a:ln/>
        </p:spPr>
        <p:txBody>
          <a:bodyPr wrap="square" lIns="0" tIns="0" rIns="0" bIns="0" rtlCol="0" anchor="ctr"/>
          <a:lstStyle/>
          <a:p>
            <a:pPr marL="0" indent="0" algn="ctr">
              <a:buNone/>
            </a:pPr>
            <a:r>
              <a:rPr lang="en-US" sz="850" dirty="0">
                <a:solidFill>
                  <a:srgbClr val="8899AA"/>
                </a:solidFill>
              </a:rPr>
              <a:t>dokładność rozpoznawania mowy (top systemy)</a:t>
            </a:r>
            <a:endParaRPr lang="en-US" sz="850" dirty="0"/>
          </a:p>
        </p:txBody>
      </p:sp>
      <p:sp>
        <p:nvSpPr>
          <p:cNvPr id="11" name="Shape 9"/>
          <p:cNvSpPr/>
          <p:nvPr/>
        </p:nvSpPr>
        <p:spPr>
          <a:xfrm>
            <a:off x="2423160" y="4224528"/>
            <a:ext cx="1965960" cy="594360"/>
          </a:xfrm>
          <a:prstGeom prst="rect">
            <a:avLst/>
          </a:prstGeom>
          <a:solidFill>
            <a:srgbClr val="112233"/>
          </a:solidFill>
          <a:ln w="12700">
            <a:solidFill>
              <a:srgbClr val="00E676"/>
            </a:solidFill>
            <a:prstDash val="solid"/>
          </a:ln>
        </p:spPr>
      </p:sp>
      <p:sp>
        <p:nvSpPr>
          <p:cNvPr id="12" name="Text 10"/>
          <p:cNvSpPr/>
          <p:nvPr/>
        </p:nvSpPr>
        <p:spPr>
          <a:xfrm>
            <a:off x="2423160" y="4315968"/>
            <a:ext cx="1965960" cy="326898"/>
          </a:xfrm>
          <a:prstGeom prst="rect">
            <a:avLst/>
          </a:prstGeom>
          <a:noFill/>
          <a:ln/>
        </p:spPr>
        <p:txBody>
          <a:bodyPr wrap="square" lIns="0" tIns="0" rIns="0" bIns="0" rtlCol="0" anchor="ctr"/>
          <a:lstStyle/>
          <a:p>
            <a:pPr marL="0" indent="0" algn="ctr">
              <a:buNone/>
            </a:pPr>
            <a:r>
              <a:rPr lang="en-US" sz="2400" b="1" dirty="0">
                <a:solidFill>
                  <a:srgbClr val="00E676"/>
                </a:solidFill>
              </a:rPr>
              <a:t>3×</a:t>
            </a:r>
            <a:endParaRPr lang="en-US" sz="2400" dirty="0"/>
          </a:p>
        </p:txBody>
      </p:sp>
      <p:sp>
        <p:nvSpPr>
          <p:cNvPr id="13" name="Text 11"/>
          <p:cNvSpPr/>
          <p:nvPr/>
        </p:nvSpPr>
        <p:spPr>
          <a:xfrm>
            <a:off x="2423160" y="4581144"/>
            <a:ext cx="1965960" cy="225857"/>
          </a:xfrm>
          <a:prstGeom prst="rect">
            <a:avLst/>
          </a:prstGeom>
          <a:noFill/>
          <a:ln/>
        </p:spPr>
        <p:txBody>
          <a:bodyPr wrap="square" lIns="0" tIns="0" rIns="0" bIns="0" rtlCol="0" anchor="ctr"/>
          <a:lstStyle/>
          <a:p>
            <a:pPr marL="0" indent="0" algn="ctr">
              <a:buNone/>
            </a:pPr>
            <a:r>
              <a:rPr lang="en-US" sz="850" dirty="0">
                <a:solidFill>
                  <a:srgbClr val="8899AA"/>
                </a:solidFill>
              </a:rPr>
              <a:t>szybsze niż pisanie dla doświadczonych użytkowników</a:t>
            </a:r>
            <a:endParaRPr lang="en-US" sz="850" dirty="0"/>
          </a:p>
        </p:txBody>
      </p:sp>
      <p:sp>
        <p:nvSpPr>
          <p:cNvPr id="14" name="Shape 12"/>
          <p:cNvSpPr/>
          <p:nvPr/>
        </p:nvSpPr>
        <p:spPr>
          <a:xfrm>
            <a:off x="4754880" y="914400"/>
            <a:ext cx="4069080" cy="3246120"/>
          </a:xfrm>
          <a:prstGeom prst="rect">
            <a:avLst/>
          </a:prstGeom>
          <a:solidFill>
            <a:srgbClr val="112233"/>
          </a:solidFill>
          <a:ln w="12700">
            <a:solidFill>
              <a:srgbClr val="1A3050"/>
            </a:solidFill>
            <a:prstDash val="solid"/>
          </a:ln>
        </p:spPr>
      </p:sp>
      <p:sp>
        <p:nvSpPr>
          <p:cNvPr id="15" name="Shape 13"/>
          <p:cNvSpPr/>
          <p:nvPr/>
        </p:nvSpPr>
        <p:spPr>
          <a:xfrm>
            <a:off x="4754880" y="914400"/>
            <a:ext cx="45720" cy="3246120"/>
          </a:xfrm>
          <a:prstGeom prst="rect">
            <a:avLst/>
          </a:prstGeom>
          <a:solidFill>
            <a:srgbClr val="00E676"/>
          </a:solidFill>
          <a:ln w="12700">
            <a:solidFill>
              <a:srgbClr val="00E676"/>
            </a:solidFill>
            <a:prstDash val="solid"/>
          </a:ln>
        </p:spPr>
      </p:sp>
      <p:sp>
        <p:nvSpPr>
          <p:cNvPr id="16" name="Text 14"/>
          <p:cNvSpPr/>
          <p:nvPr/>
        </p:nvSpPr>
        <p:spPr>
          <a:xfrm>
            <a:off x="4892040" y="987552"/>
            <a:ext cx="3794760" cy="274320"/>
          </a:xfrm>
          <a:prstGeom prst="rect">
            <a:avLst/>
          </a:prstGeom>
          <a:noFill/>
          <a:ln/>
        </p:spPr>
        <p:txBody>
          <a:bodyPr wrap="square" lIns="0" tIns="0" rIns="0" bIns="0" rtlCol="0" anchor="ctr"/>
          <a:lstStyle/>
          <a:p>
            <a:pPr marL="0" indent="0">
              <a:buNone/>
            </a:pPr>
            <a:r>
              <a:rPr lang="en-US" sz="1200" b="1" dirty="0">
                <a:solidFill>
                  <a:srgbClr val="FFFFFF"/>
                </a:solidFill>
              </a:rPr>
              <a:t>Zalety i Wyzwania</a:t>
            </a:r>
            <a:endParaRPr lang="en-US" sz="1200" dirty="0"/>
          </a:p>
        </p:txBody>
      </p:sp>
      <p:sp>
        <p:nvSpPr>
          <p:cNvPr id="17" name="Text 15"/>
          <p:cNvSpPr/>
          <p:nvPr/>
        </p:nvSpPr>
        <p:spPr>
          <a:xfrm>
            <a:off x="4892040" y="1325880"/>
            <a:ext cx="1828800" cy="256032"/>
          </a:xfrm>
          <a:prstGeom prst="rect">
            <a:avLst/>
          </a:prstGeom>
          <a:noFill/>
          <a:ln/>
        </p:spPr>
        <p:txBody>
          <a:bodyPr wrap="square" lIns="0" tIns="0" rIns="0" bIns="0" rtlCol="0" anchor="ctr"/>
          <a:lstStyle/>
          <a:p>
            <a:pPr marL="0" indent="0">
              <a:buNone/>
            </a:pPr>
            <a:r>
              <a:rPr lang="en-US" sz="1000" b="1" dirty="0">
                <a:solidFill>
                  <a:srgbClr val="00E676"/>
                </a:solidFill>
              </a:rPr>
              <a:t>✓ Zalety</a:t>
            </a:r>
            <a:endParaRPr lang="en-US" sz="1000" dirty="0"/>
          </a:p>
        </p:txBody>
      </p:sp>
      <p:sp>
        <p:nvSpPr>
          <p:cNvPr id="18" name="Text 16"/>
          <p:cNvSpPr/>
          <p:nvPr/>
        </p:nvSpPr>
        <p:spPr>
          <a:xfrm>
            <a:off x="6812280" y="1325880"/>
            <a:ext cx="1828800" cy="256032"/>
          </a:xfrm>
          <a:prstGeom prst="rect">
            <a:avLst/>
          </a:prstGeom>
          <a:noFill/>
          <a:ln/>
        </p:spPr>
        <p:txBody>
          <a:bodyPr wrap="square" lIns="0" tIns="0" rIns="0" bIns="0" rtlCol="0" anchor="ctr"/>
          <a:lstStyle/>
          <a:p>
            <a:pPr marL="0" indent="0">
              <a:buNone/>
            </a:pPr>
            <a:r>
              <a:rPr lang="en-US" sz="1000" b="1" dirty="0">
                <a:solidFill>
                  <a:srgbClr val="FF9100"/>
                </a:solidFill>
              </a:rPr>
              <a:t>✗ Wyzwania</a:t>
            </a:r>
            <a:endParaRPr lang="en-US" sz="1000" dirty="0"/>
          </a:p>
        </p:txBody>
      </p:sp>
      <p:sp>
        <p:nvSpPr>
          <p:cNvPr id="19" name="Text 17"/>
          <p:cNvSpPr/>
          <p:nvPr/>
        </p:nvSpPr>
        <p:spPr>
          <a:xfrm>
            <a:off x="4892040" y="1664208"/>
            <a:ext cx="1828800" cy="347472"/>
          </a:xfrm>
          <a:prstGeom prst="rect">
            <a:avLst/>
          </a:prstGeom>
          <a:noFill/>
          <a:ln/>
        </p:spPr>
        <p:txBody>
          <a:bodyPr wrap="square" lIns="0" tIns="0" rIns="0" bIns="0" rtlCol="0" anchor="ctr"/>
          <a:lstStyle/>
          <a:p>
            <a:pPr marL="0" indent="0">
              <a:buNone/>
            </a:pPr>
            <a:r>
              <a:rPr lang="en-US" sz="850" dirty="0">
                <a:solidFill>
                  <a:srgbClr val="00E676"/>
                </a:solidFill>
              </a:rPr>
              <a:t>+ Obsługa bez użycia rąk (hands-free)</a:t>
            </a:r>
            <a:endParaRPr lang="en-US" sz="850" dirty="0"/>
          </a:p>
        </p:txBody>
      </p:sp>
      <p:sp>
        <p:nvSpPr>
          <p:cNvPr id="20" name="Text 18"/>
          <p:cNvSpPr/>
          <p:nvPr/>
        </p:nvSpPr>
        <p:spPr>
          <a:xfrm>
            <a:off x="4892040" y="2048256"/>
            <a:ext cx="1828800" cy="347472"/>
          </a:xfrm>
          <a:prstGeom prst="rect">
            <a:avLst/>
          </a:prstGeom>
          <a:noFill/>
          <a:ln/>
        </p:spPr>
        <p:txBody>
          <a:bodyPr wrap="square" lIns="0" tIns="0" rIns="0" bIns="0" rtlCol="0" anchor="ctr"/>
          <a:lstStyle/>
          <a:p>
            <a:pPr marL="0" indent="0">
              <a:buNone/>
            </a:pPr>
            <a:r>
              <a:rPr lang="en-US" sz="850" dirty="0">
                <a:solidFill>
                  <a:srgbClr val="00E676"/>
                </a:solidFill>
              </a:rPr>
              <a:t>+ Dostępność dla osób z niepełnosprawnościami</a:t>
            </a:r>
            <a:endParaRPr lang="en-US" sz="850" dirty="0"/>
          </a:p>
        </p:txBody>
      </p:sp>
      <p:sp>
        <p:nvSpPr>
          <p:cNvPr id="21" name="Text 19"/>
          <p:cNvSpPr/>
          <p:nvPr/>
        </p:nvSpPr>
        <p:spPr>
          <a:xfrm>
            <a:off x="4892040" y="2432304"/>
            <a:ext cx="1828800" cy="347472"/>
          </a:xfrm>
          <a:prstGeom prst="rect">
            <a:avLst/>
          </a:prstGeom>
          <a:noFill/>
          <a:ln/>
        </p:spPr>
        <p:txBody>
          <a:bodyPr wrap="square" lIns="0" tIns="0" rIns="0" bIns="0" rtlCol="0" anchor="ctr"/>
          <a:lstStyle/>
          <a:p>
            <a:pPr marL="0" indent="0">
              <a:buNone/>
            </a:pPr>
            <a:r>
              <a:rPr lang="en-US" sz="850" dirty="0">
                <a:solidFill>
                  <a:srgbClr val="00E676"/>
                </a:solidFill>
              </a:rPr>
              <a:t>+ Szybkość w odpowiednich kontekstach</a:t>
            </a:r>
            <a:endParaRPr lang="en-US" sz="850" dirty="0"/>
          </a:p>
        </p:txBody>
      </p:sp>
      <p:sp>
        <p:nvSpPr>
          <p:cNvPr id="22" name="Text 20"/>
          <p:cNvSpPr/>
          <p:nvPr/>
        </p:nvSpPr>
        <p:spPr>
          <a:xfrm>
            <a:off x="4892040" y="2816352"/>
            <a:ext cx="1828800" cy="347472"/>
          </a:xfrm>
          <a:prstGeom prst="rect">
            <a:avLst/>
          </a:prstGeom>
          <a:noFill/>
          <a:ln/>
        </p:spPr>
        <p:txBody>
          <a:bodyPr wrap="square" lIns="0" tIns="0" rIns="0" bIns="0" rtlCol="0" anchor="ctr"/>
          <a:lstStyle/>
          <a:p>
            <a:pPr marL="0" indent="0">
              <a:buNone/>
            </a:pPr>
            <a:r>
              <a:rPr lang="en-US" sz="850" dirty="0">
                <a:solidFill>
                  <a:srgbClr val="00E676"/>
                </a:solidFill>
              </a:rPr>
              <a:t>+ Naturalność interakcji</a:t>
            </a:r>
            <a:endParaRPr lang="en-US" sz="850" dirty="0"/>
          </a:p>
        </p:txBody>
      </p:sp>
      <p:sp>
        <p:nvSpPr>
          <p:cNvPr id="23" name="Text 21"/>
          <p:cNvSpPr/>
          <p:nvPr/>
        </p:nvSpPr>
        <p:spPr>
          <a:xfrm>
            <a:off x="6812280" y="1664208"/>
            <a:ext cx="1920240" cy="347472"/>
          </a:xfrm>
          <a:prstGeom prst="rect">
            <a:avLst/>
          </a:prstGeom>
          <a:noFill/>
          <a:ln/>
        </p:spPr>
        <p:txBody>
          <a:bodyPr wrap="square" lIns="0" tIns="0" rIns="0" bIns="0" rtlCol="0" anchor="ctr"/>
          <a:lstStyle/>
          <a:p>
            <a:pPr marL="0" indent="0">
              <a:buNone/>
            </a:pPr>
            <a:r>
              <a:rPr lang="en-US" sz="850" dirty="0">
                <a:solidFill>
                  <a:srgbClr val="FF9100"/>
                </a:solidFill>
              </a:rPr>
              <a:t>– Dokładność w hałaśliwym otoczeniu</a:t>
            </a:r>
            <a:endParaRPr lang="en-US" sz="850" dirty="0"/>
          </a:p>
        </p:txBody>
      </p:sp>
      <p:sp>
        <p:nvSpPr>
          <p:cNvPr id="24" name="Text 22"/>
          <p:cNvSpPr/>
          <p:nvPr/>
        </p:nvSpPr>
        <p:spPr>
          <a:xfrm>
            <a:off x="6812280" y="2048256"/>
            <a:ext cx="1920240" cy="347472"/>
          </a:xfrm>
          <a:prstGeom prst="rect">
            <a:avLst/>
          </a:prstGeom>
          <a:noFill/>
          <a:ln/>
        </p:spPr>
        <p:txBody>
          <a:bodyPr wrap="square" lIns="0" tIns="0" rIns="0" bIns="0" rtlCol="0" anchor="ctr"/>
          <a:lstStyle/>
          <a:p>
            <a:pPr marL="0" indent="0">
              <a:buNone/>
            </a:pPr>
            <a:r>
              <a:rPr lang="en-US" sz="850" dirty="0">
                <a:solidFill>
                  <a:srgbClr val="FF9100"/>
                </a:solidFill>
              </a:rPr>
              <a:t>– Kontekst językowy i akcenty regionalne</a:t>
            </a:r>
            <a:endParaRPr lang="en-US" sz="850" dirty="0"/>
          </a:p>
        </p:txBody>
      </p:sp>
      <p:sp>
        <p:nvSpPr>
          <p:cNvPr id="25" name="Text 23"/>
          <p:cNvSpPr/>
          <p:nvPr/>
        </p:nvSpPr>
        <p:spPr>
          <a:xfrm>
            <a:off x="6812280" y="2432304"/>
            <a:ext cx="1920240" cy="347472"/>
          </a:xfrm>
          <a:prstGeom prst="rect">
            <a:avLst/>
          </a:prstGeom>
          <a:noFill/>
          <a:ln/>
        </p:spPr>
        <p:txBody>
          <a:bodyPr wrap="square" lIns="0" tIns="0" rIns="0" bIns="0" rtlCol="0" anchor="ctr"/>
          <a:lstStyle/>
          <a:p>
            <a:pPr marL="0" indent="0">
              <a:buNone/>
            </a:pPr>
            <a:r>
              <a:rPr lang="en-US" sz="850" dirty="0">
                <a:solidFill>
                  <a:srgbClr val="FF9100"/>
                </a:solidFill>
              </a:rPr>
              <a:t>– Prywatność i bezpieczeństwo danych</a:t>
            </a:r>
            <a:endParaRPr lang="en-US" sz="850" dirty="0"/>
          </a:p>
        </p:txBody>
      </p:sp>
      <p:sp>
        <p:nvSpPr>
          <p:cNvPr id="26" name="Text 24"/>
          <p:cNvSpPr/>
          <p:nvPr/>
        </p:nvSpPr>
        <p:spPr>
          <a:xfrm>
            <a:off x="6812280" y="2816352"/>
            <a:ext cx="1920240" cy="347472"/>
          </a:xfrm>
          <a:prstGeom prst="rect">
            <a:avLst/>
          </a:prstGeom>
          <a:noFill/>
          <a:ln/>
        </p:spPr>
        <p:txBody>
          <a:bodyPr wrap="square" lIns="0" tIns="0" rIns="0" bIns="0" rtlCol="0" anchor="ctr"/>
          <a:lstStyle/>
          <a:p>
            <a:pPr marL="0" indent="0">
              <a:buNone/>
            </a:pPr>
            <a:r>
              <a:rPr lang="en-US" sz="850" dirty="0">
                <a:solidFill>
                  <a:srgbClr val="FF9100"/>
                </a:solidFill>
              </a:rPr>
              <a:t>– Brak wizualnej informacji zwrotnej</a:t>
            </a:r>
            <a:endParaRPr lang="en-US" sz="850" dirty="0"/>
          </a:p>
        </p:txBody>
      </p:sp>
      <p:sp>
        <p:nvSpPr>
          <p:cNvPr id="27" name="Shape 25"/>
          <p:cNvSpPr/>
          <p:nvPr/>
        </p:nvSpPr>
        <p:spPr>
          <a:xfrm>
            <a:off x="4754880" y="4224528"/>
            <a:ext cx="4069080" cy="594360"/>
          </a:xfrm>
          <a:prstGeom prst="rect">
            <a:avLst/>
          </a:prstGeom>
          <a:solidFill>
            <a:srgbClr val="0A1929"/>
          </a:solidFill>
          <a:ln w="12700">
            <a:solidFill>
              <a:srgbClr val="1A3050"/>
            </a:solidFill>
            <a:prstDash val="solid"/>
          </a:ln>
        </p:spPr>
      </p:sp>
      <p:sp>
        <p:nvSpPr>
          <p:cNvPr id="28" name="Text 26"/>
          <p:cNvSpPr/>
          <p:nvPr/>
        </p:nvSpPr>
        <p:spPr>
          <a:xfrm>
            <a:off x="4892040" y="4251960"/>
            <a:ext cx="3794760" cy="530352"/>
          </a:xfrm>
          <a:prstGeom prst="rect">
            <a:avLst/>
          </a:prstGeom>
          <a:noFill/>
          <a:ln/>
        </p:spPr>
        <p:txBody>
          <a:bodyPr wrap="square" lIns="0" tIns="0" rIns="0" bIns="0" rtlCol="0" anchor="ctr"/>
          <a:lstStyle/>
          <a:p>
            <a:pPr marL="0" indent="0">
              <a:buNone/>
            </a:pPr>
            <a:r>
              <a:rPr lang="en-US" sz="850" dirty="0">
                <a:solidFill>
                  <a:srgbClr val="8899AA"/>
                </a:solidFill>
              </a:rPr>
              <a:t>Zastosowania: nawigacja samochodowa, smart home, aplikacje bankowe (transakcje głosowe), wyszukiwanie, dyktowanie</a:t>
            </a:r>
            <a:endParaRPr lang="en-US" sz="850" dirty="0"/>
          </a:p>
        </p:txBody>
      </p:sp>
      <p:sp>
        <p:nvSpPr>
          <p:cNvPr id="31" name="Text 29"/>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9 / </a:t>
            </a:r>
            <a:r>
              <a:rPr lang="pl-PL" sz="800" dirty="0" smtClean="0">
                <a:solidFill>
                  <a:srgbClr val="8899AA"/>
                </a:solidFill>
              </a:rPr>
              <a:t>46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grpSp>
        <p:nvGrpSpPr>
          <p:cNvPr id="38" name="Grupa 37"/>
          <p:cNvGrpSpPr/>
          <p:nvPr/>
        </p:nvGrpSpPr>
        <p:grpSpPr>
          <a:xfrm>
            <a:off x="-2381" y="4884912"/>
            <a:ext cx="9146381" cy="260136"/>
            <a:chOff x="-2381" y="4884912"/>
            <a:chExt cx="9146381" cy="260136"/>
          </a:xfrm>
        </p:grpSpPr>
        <p:sp>
          <p:nvSpPr>
            <p:cNvPr id="39" name="Shape 52"/>
            <p:cNvSpPr/>
            <p:nvPr/>
          </p:nvSpPr>
          <p:spPr>
            <a:xfrm>
              <a:off x="0" y="4884912"/>
              <a:ext cx="9144000" cy="252000"/>
            </a:xfrm>
            <a:prstGeom prst="rect">
              <a:avLst/>
            </a:prstGeom>
            <a:solidFill>
              <a:srgbClr val="071523"/>
            </a:solidFill>
            <a:ln w="12700">
              <a:solidFill>
                <a:srgbClr val="071523"/>
              </a:solidFill>
              <a:prstDash val="solid"/>
            </a:ln>
          </p:spPr>
        </p:sp>
        <p:sp>
          <p:nvSpPr>
            <p:cNvPr id="40"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41" name="Grupa 40"/>
            <p:cNvGrpSpPr/>
            <p:nvPr/>
          </p:nvGrpSpPr>
          <p:grpSpPr>
            <a:xfrm>
              <a:off x="-2381" y="5099329"/>
              <a:ext cx="9146381" cy="45719"/>
              <a:chOff x="-2381" y="5107500"/>
              <a:chExt cx="9111093" cy="37548"/>
            </a:xfrm>
            <a:solidFill>
              <a:schemeClr val="tx1"/>
            </a:solidFill>
          </p:grpSpPr>
          <p:sp>
            <p:nvSpPr>
              <p:cNvPr id="42"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43"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44"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45"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46"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47"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48"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49"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50"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1980000" y="5107500"/>
                <a:ext cx="198000" cy="36000"/>
              </a:xfrm>
              <a:prstGeom prst="rect">
                <a:avLst/>
              </a:prstGeom>
              <a:grpFill/>
              <a:ln w="12700">
                <a:noFill/>
                <a:prstDash val="solid"/>
              </a:ln>
            </p:spPr>
          </p:sp>
          <p:sp>
            <p:nvSpPr>
              <p:cNvPr id="53" name="Shape 52"/>
              <p:cNvSpPr/>
              <p:nvPr/>
            </p:nvSpPr>
            <p:spPr>
              <a:xfrm>
                <a:off x="2178000" y="5107500"/>
                <a:ext cx="198000" cy="36000"/>
              </a:xfrm>
              <a:prstGeom prst="rect">
                <a:avLst/>
              </a:prstGeom>
              <a:grpFill/>
              <a:ln w="12700">
                <a:noFill/>
                <a:prstDash val="solid"/>
              </a:ln>
            </p:spPr>
          </p:sp>
          <p:sp>
            <p:nvSpPr>
              <p:cNvPr id="54" name="Shape 52"/>
              <p:cNvSpPr/>
              <p:nvPr/>
            </p:nvSpPr>
            <p:spPr>
              <a:xfrm>
                <a:off x="2376000" y="5107500"/>
                <a:ext cx="198000" cy="36000"/>
              </a:xfrm>
              <a:prstGeom prst="rect">
                <a:avLst/>
              </a:prstGeom>
              <a:grpFill/>
              <a:ln w="12700">
                <a:noFill/>
                <a:prstDash val="solid"/>
              </a:ln>
            </p:spPr>
          </p:sp>
          <p:sp>
            <p:nvSpPr>
              <p:cNvPr id="55" name="Shape 52"/>
              <p:cNvSpPr/>
              <p:nvPr/>
            </p:nvSpPr>
            <p:spPr>
              <a:xfrm>
                <a:off x="2574000" y="5107500"/>
                <a:ext cx="198000" cy="36000"/>
              </a:xfrm>
              <a:prstGeom prst="rect">
                <a:avLst/>
              </a:prstGeom>
              <a:grpFill/>
              <a:ln w="12700">
                <a:noFill/>
                <a:prstDash val="solid"/>
              </a:ln>
            </p:spPr>
          </p:sp>
          <p:sp>
            <p:nvSpPr>
              <p:cNvPr id="56" name="Shape 52"/>
              <p:cNvSpPr/>
              <p:nvPr/>
            </p:nvSpPr>
            <p:spPr>
              <a:xfrm>
                <a:off x="2772712" y="5108400"/>
                <a:ext cx="198000" cy="36000"/>
              </a:xfrm>
              <a:prstGeom prst="rect">
                <a:avLst/>
              </a:prstGeom>
              <a:grpFill/>
              <a:ln w="12700">
                <a:noFill/>
                <a:prstDash val="solid"/>
              </a:ln>
            </p:spPr>
          </p:sp>
          <p:sp>
            <p:nvSpPr>
              <p:cNvPr id="57" name="Shape 52"/>
              <p:cNvSpPr/>
              <p:nvPr/>
            </p:nvSpPr>
            <p:spPr>
              <a:xfrm>
                <a:off x="2970712" y="5108400"/>
                <a:ext cx="198000" cy="36000"/>
              </a:xfrm>
              <a:prstGeom prst="rect">
                <a:avLst/>
              </a:prstGeom>
              <a:grpFill/>
              <a:ln w="12700">
                <a:noFill/>
                <a:prstDash val="solid"/>
              </a:ln>
            </p:spPr>
          </p:sp>
          <p:sp>
            <p:nvSpPr>
              <p:cNvPr id="58" name="Shape 52"/>
              <p:cNvSpPr/>
              <p:nvPr/>
            </p:nvSpPr>
            <p:spPr>
              <a:xfrm>
                <a:off x="3168712" y="5108400"/>
                <a:ext cx="198000" cy="36000"/>
              </a:xfrm>
              <a:prstGeom prst="rect">
                <a:avLst/>
              </a:prstGeom>
              <a:grpFill/>
              <a:ln w="12700">
                <a:noFill/>
                <a:prstDash val="solid"/>
              </a:ln>
            </p:spPr>
          </p:sp>
          <p:sp>
            <p:nvSpPr>
              <p:cNvPr id="59" name="Shape 52"/>
              <p:cNvSpPr/>
              <p:nvPr/>
            </p:nvSpPr>
            <p:spPr>
              <a:xfrm>
                <a:off x="3366712" y="5108400"/>
                <a:ext cx="198000" cy="36000"/>
              </a:xfrm>
              <a:prstGeom prst="rect">
                <a:avLst/>
              </a:prstGeom>
              <a:grpFill/>
              <a:ln w="12700">
                <a:noFill/>
                <a:prstDash val="solid"/>
              </a:ln>
            </p:spPr>
          </p:sp>
          <p:sp>
            <p:nvSpPr>
              <p:cNvPr id="60" name="Shape 52"/>
              <p:cNvSpPr/>
              <p:nvPr/>
            </p:nvSpPr>
            <p:spPr>
              <a:xfrm>
                <a:off x="3564712" y="5108400"/>
                <a:ext cx="198000" cy="36000"/>
              </a:xfrm>
              <a:prstGeom prst="rect">
                <a:avLst/>
              </a:prstGeom>
              <a:grpFill/>
              <a:ln w="12700">
                <a:noFill/>
                <a:prstDash val="solid"/>
              </a:ln>
            </p:spPr>
          </p:sp>
          <p:sp>
            <p:nvSpPr>
              <p:cNvPr id="61" name="Shape 52"/>
              <p:cNvSpPr/>
              <p:nvPr/>
            </p:nvSpPr>
            <p:spPr>
              <a:xfrm>
                <a:off x="3762712" y="5108400"/>
                <a:ext cx="198000" cy="36000"/>
              </a:xfrm>
              <a:prstGeom prst="rect">
                <a:avLst/>
              </a:prstGeom>
              <a:grpFill/>
              <a:ln w="12700">
                <a:noFill/>
                <a:prstDash val="solid"/>
              </a:ln>
            </p:spPr>
          </p:sp>
          <p:sp>
            <p:nvSpPr>
              <p:cNvPr id="62" name="Shape 52"/>
              <p:cNvSpPr/>
              <p:nvPr/>
            </p:nvSpPr>
            <p:spPr>
              <a:xfrm>
                <a:off x="3960712" y="5107530"/>
                <a:ext cx="198000" cy="36000"/>
              </a:xfrm>
              <a:prstGeom prst="rect">
                <a:avLst/>
              </a:prstGeom>
              <a:grpFill/>
              <a:ln w="12700">
                <a:noFill/>
                <a:prstDash val="solid"/>
              </a:ln>
            </p:spPr>
          </p:sp>
          <p:sp>
            <p:nvSpPr>
              <p:cNvPr id="63" name="Shape 52"/>
              <p:cNvSpPr/>
              <p:nvPr/>
            </p:nvSpPr>
            <p:spPr>
              <a:xfrm>
                <a:off x="4158712" y="5107500"/>
                <a:ext cx="198000" cy="36000"/>
              </a:xfrm>
              <a:prstGeom prst="rect">
                <a:avLst/>
              </a:prstGeom>
              <a:grpFill/>
              <a:ln w="12700">
                <a:noFill/>
                <a:prstDash val="solid"/>
              </a:ln>
            </p:spPr>
          </p:sp>
          <p:sp>
            <p:nvSpPr>
              <p:cNvPr id="64" name="Shape 52"/>
              <p:cNvSpPr/>
              <p:nvPr/>
            </p:nvSpPr>
            <p:spPr>
              <a:xfrm>
                <a:off x="4356712" y="5107500"/>
                <a:ext cx="198000" cy="36000"/>
              </a:xfrm>
              <a:prstGeom prst="rect">
                <a:avLst/>
              </a:prstGeom>
              <a:grpFill/>
              <a:ln w="12700">
                <a:noFill/>
                <a:prstDash val="solid"/>
              </a:ln>
            </p:spPr>
          </p:sp>
          <p:sp>
            <p:nvSpPr>
              <p:cNvPr id="65" name="Shape 52"/>
              <p:cNvSpPr/>
              <p:nvPr/>
            </p:nvSpPr>
            <p:spPr>
              <a:xfrm>
                <a:off x="4554712" y="5107500"/>
                <a:ext cx="198000" cy="36000"/>
              </a:xfrm>
              <a:prstGeom prst="rect">
                <a:avLst/>
              </a:prstGeom>
              <a:grpFill/>
              <a:ln w="12700">
                <a:noFill/>
                <a:prstDash val="solid"/>
              </a:ln>
            </p:spPr>
          </p:sp>
          <p:sp>
            <p:nvSpPr>
              <p:cNvPr id="66" name="Shape 52"/>
              <p:cNvSpPr/>
              <p:nvPr/>
            </p:nvSpPr>
            <p:spPr>
              <a:xfrm>
                <a:off x="4752712" y="5107500"/>
                <a:ext cx="198000" cy="36000"/>
              </a:xfrm>
              <a:prstGeom prst="rect">
                <a:avLst/>
              </a:prstGeom>
              <a:grpFill/>
              <a:ln w="12700">
                <a:noFill/>
                <a:prstDash val="solid"/>
              </a:ln>
            </p:spPr>
          </p:sp>
          <p:sp>
            <p:nvSpPr>
              <p:cNvPr id="67" name="Shape 52"/>
              <p:cNvSpPr/>
              <p:nvPr/>
            </p:nvSpPr>
            <p:spPr>
              <a:xfrm>
                <a:off x="4950712" y="5107500"/>
                <a:ext cx="198000" cy="36000"/>
              </a:xfrm>
              <a:prstGeom prst="rect">
                <a:avLst/>
              </a:prstGeom>
              <a:grpFill/>
              <a:ln w="12700">
                <a:noFill/>
                <a:prstDash val="solid"/>
              </a:ln>
            </p:spPr>
          </p:sp>
          <p:sp>
            <p:nvSpPr>
              <p:cNvPr id="68" name="Shape 52"/>
              <p:cNvSpPr/>
              <p:nvPr/>
            </p:nvSpPr>
            <p:spPr>
              <a:xfrm>
                <a:off x="5148712" y="5107500"/>
                <a:ext cx="198000" cy="36000"/>
              </a:xfrm>
              <a:prstGeom prst="rect">
                <a:avLst/>
              </a:prstGeom>
              <a:grpFill/>
              <a:ln w="12700">
                <a:noFill/>
                <a:prstDash val="solid"/>
              </a:ln>
            </p:spPr>
          </p:sp>
          <p:sp>
            <p:nvSpPr>
              <p:cNvPr id="69" name="Shape 52"/>
              <p:cNvSpPr/>
              <p:nvPr/>
            </p:nvSpPr>
            <p:spPr>
              <a:xfrm>
                <a:off x="5346712" y="5108400"/>
                <a:ext cx="198000" cy="36000"/>
              </a:xfrm>
              <a:prstGeom prst="rect">
                <a:avLst/>
              </a:prstGeom>
              <a:grpFill/>
              <a:ln w="12700">
                <a:noFill/>
                <a:prstDash val="solid"/>
              </a:ln>
            </p:spPr>
          </p:sp>
          <p:sp>
            <p:nvSpPr>
              <p:cNvPr id="70" name="Shape 52"/>
              <p:cNvSpPr/>
              <p:nvPr/>
            </p:nvSpPr>
            <p:spPr>
              <a:xfrm>
                <a:off x="5544712" y="5108400"/>
                <a:ext cx="198000" cy="36000"/>
              </a:xfrm>
              <a:prstGeom prst="rect">
                <a:avLst/>
              </a:prstGeom>
              <a:grpFill/>
              <a:ln w="12700">
                <a:noFill/>
                <a:prstDash val="solid"/>
              </a:ln>
            </p:spPr>
          </p:sp>
          <p:sp>
            <p:nvSpPr>
              <p:cNvPr id="71" name="Shape 52"/>
              <p:cNvSpPr/>
              <p:nvPr/>
            </p:nvSpPr>
            <p:spPr>
              <a:xfrm>
                <a:off x="5742712" y="5108400"/>
                <a:ext cx="198000" cy="36000"/>
              </a:xfrm>
              <a:prstGeom prst="rect">
                <a:avLst/>
              </a:prstGeom>
              <a:grpFill/>
              <a:ln w="12700">
                <a:noFill/>
                <a:prstDash val="solid"/>
              </a:ln>
            </p:spPr>
          </p:sp>
          <p:sp>
            <p:nvSpPr>
              <p:cNvPr id="72" name="Shape 52"/>
              <p:cNvSpPr/>
              <p:nvPr/>
            </p:nvSpPr>
            <p:spPr>
              <a:xfrm>
                <a:off x="5940712" y="5108400"/>
                <a:ext cx="198000" cy="36000"/>
              </a:xfrm>
              <a:prstGeom prst="rect">
                <a:avLst/>
              </a:prstGeom>
              <a:grpFill/>
              <a:ln w="12700">
                <a:noFill/>
                <a:prstDash val="solid"/>
              </a:ln>
            </p:spPr>
          </p:sp>
          <p:sp>
            <p:nvSpPr>
              <p:cNvPr id="73" name="Shape 52"/>
              <p:cNvSpPr/>
              <p:nvPr/>
            </p:nvSpPr>
            <p:spPr>
              <a:xfrm>
                <a:off x="6138712" y="5108400"/>
                <a:ext cx="198000" cy="36000"/>
              </a:xfrm>
              <a:prstGeom prst="rect">
                <a:avLst/>
              </a:prstGeom>
              <a:grpFill/>
              <a:ln w="12700">
                <a:noFill/>
                <a:prstDash val="solid"/>
              </a:ln>
            </p:spPr>
          </p:sp>
          <p:sp>
            <p:nvSpPr>
              <p:cNvPr id="74" name="Shape 52"/>
              <p:cNvSpPr/>
              <p:nvPr/>
            </p:nvSpPr>
            <p:spPr>
              <a:xfrm>
                <a:off x="6336712" y="5108400"/>
                <a:ext cx="198000" cy="36000"/>
              </a:xfrm>
              <a:prstGeom prst="rect">
                <a:avLst/>
              </a:prstGeom>
              <a:grpFill/>
              <a:ln w="12700">
                <a:noFill/>
                <a:prstDash val="solid"/>
              </a:ln>
            </p:spPr>
          </p:sp>
          <p:sp>
            <p:nvSpPr>
              <p:cNvPr id="75" name="Shape 52"/>
              <p:cNvSpPr/>
              <p:nvPr/>
            </p:nvSpPr>
            <p:spPr>
              <a:xfrm>
                <a:off x="6534712" y="5108400"/>
                <a:ext cx="198000" cy="36000"/>
              </a:xfrm>
              <a:prstGeom prst="rect">
                <a:avLst/>
              </a:prstGeom>
              <a:grpFill/>
              <a:ln w="12700">
                <a:noFill/>
                <a:prstDash val="solid"/>
              </a:ln>
            </p:spPr>
          </p:sp>
          <p:sp>
            <p:nvSpPr>
              <p:cNvPr id="76" name="Shape 52"/>
              <p:cNvSpPr/>
              <p:nvPr/>
            </p:nvSpPr>
            <p:spPr>
              <a:xfrm>
                <a:off x="6732712" y="5108400"/>
                <a:ext cx="198000" cy="36000"/>
              </a:xfrm>
              <a:prstGeom prst="rect">
                <a:avLst/>
              </a:prstGeom>
              <a:grpFill/>
              <a:ln w="12700">
                <a:noFill/>
                <a:prstDash val="solid"/>
              </a:ln>
            </p:spPr>
          </p:sp>
          <p:sp>
            <p:nvSpPr>
              <p:cNvPr id="77" name="Shape 52"/>
              <p:cNvSpPr/>
              <p:nvPr/>
            </p:nvSpPr>
            <p:spPr>
              <a:xfrm>
                <a:off x="6930712" y="5108400"/>
                <a:ext cx="198000" cy="36000"/>
              </a:xfrm>
              <a:prstGeom prst="rect">
                <a:avLst/>
              </a:prstGeom>
              <a:grpFill/>
              <a:ln w="12700">
                <a:noFill/>
                <a:prstDash val="solid"/>
              </a:ln>
            </p:spPr>
          </p:sp>
          <p:sp>
            <p:nvSpPr>
              <p:cNvPr id="78" name="Shape 52"/>
              <p:cNvSpPr/>
              <p:nvPr/>
            </p:nvSpPr>
            <p:spPr>
              <a:xfrm>
                <a:off x="7128712" y="5108400"/>
                <a:ext cx="198000" cy="36000"/>
              </a:xfrm>
              <a:prstGeom prst="rect">
                <a:avLst/>
              </a:prstGeom>
              <a:grpFill/>
              <a:ln w="12700">
                <a:noFill/>
                <a:prstDash val="solid"/>
              </a:ln>
            </p:spPr>
          </p:sp>
          <p:sp>
            <p:nvSpPr>
              <p:cNvPr id="79" name="Shape 52"/>
              <p:cNvSpPr/>
              <p:nvPr/>
            </p:nvSpPr>
            <p:spPr>
              <a:xfrm>
                <a:off x="7326712" y="5108400"/>
                <a:ext cx="198000" cy="36000"/>
              </a:xfrm>
              <a:prstGeom prst="rect">
                <a:avLst/>
              </a:prstGeom>
              <a:grpFill/>
              <a:ln w="12700">
                <a:noFill/>
                <a:prstDash val="solid"/>
              </a:ln>
            </p:spPr>
          </p:sp>
          <p:sp>
            <p:nvSpPr>
              <p:cNvPr id="80" name="Shape 52"/>
              <p:cNvSpPr/>
              <p:nvPr/>
            </p:nvSpPr>
            <p:spPr>
              <a:xfrm>
                <a:off x="7524712" y="5108400"/>
                <a:ext cx="198000" cy="36000"/>
              </a:xfrm>
              <a:prstGeom prst="rect">
                <a:avLst/>
              </a:prstGeom>
              <a:grpFill/>
              <a:ln w="12700">
                <a:noFill/>
                <a:prstDash val="solid"/>
              </a:ln>
            </p:spPr>
          </p:sp>
          <p:sp>
            <p:nvSpPr>
              <p:cNvPr id="81" name="Shape 52"/>
              <p:cNvSpPr/>
              <p:nvPr/>
            </p:nvSpPr>
            <p:spPr>
              <a:xfrm>
                <a:off x="7722712" y="5108400"/>
                <a:ext cx="198000" cy="36000"/>
              </a:xfrm>
              <a:prstGeom prst="rect">
                <a:avLst/>
              </a:prstGeom>
              <a:grpFill/>
              <a:ln w="12700">
                <a:noFill/>
                <a:prstDash val="solid"/>
              </a:ln>
            </p:spPr>
          </p:sp>
          <p:sp>
            <p:nvSpPr>
              <p:cNvPr id="82" name="Shape 52"/>
              <p:cNvSpPr/>
              <p:nvPr/>
            </p:nvSpPr>
            <p:spPr>
              <a:xfrm>
                <a:off x="7920712" y="5109048"/>
                <a:ext cx="198000" cy="36000"/>
              </a:xfrm>
              <a:prstGeom prst="rect">
                <a:avLst/>
              </a:prstGeom>
              <a:grpFill/>
              <a:ln w="12700">
                <a:noFill/>
                <a:prstDash val="solid"/>
              </a:ln>
            </p:spPr>
          </p:sp>
          <p:sp>
            <p:nvSpPr>
              <p:cNvPr id="83" name="Shape 52"/>
              <p:cNvSpPr/>
              <p:nvPr/>
            </p:nvSpPr>
            <p:spPr>
              <a:xfrm>
                <a:off x="8118712" y="5109048"/>
                <a:ext cx="198000" cy="36000"/>
              </a:xfrm>
              <a:prstGeom prst="rect">
                <a:avLst/>
              </a:prstGeom>
              <a:grpFill/>
              <a:ln w="12700">
                <a:noFill/>
                <a:prstDash val="solid"/>
              </a:ln>
            </p:spPr>
          </p:sp>
          <p:sp>
            <p:nvSpPr>
              <p:cNvPr id="84" name="Shape 52"/>
              <p:cNvSpPr/>
              <p:nvPr/>
            </p:nvSpPr>
            <p:spPr>
              <a:xfrm>
                <a:off x="8316712" y="5109048"/>
                <a:ext cx="198000" cy="36000"/>
              </a:xfrm>
              <a:prstGeom prst="rect">
                <a:avLst/>
              </a:prstGeom>
              <a:grpFill/>
              <a:ln w="12700">
                <a:noFill/>
                <a:prstDash val="solid"/>
              </a:ln>
            </p:spPr>
          </p:sp>
          <p:sp>
            <p:nvSpPr>
              <p:cNvPr id="85" name="Shape 52"/>
              <p:cNvSpPr/>
              <p:nvPr/>
            </p:nvSpPr>
            <p:spPr>
              <a:xfrm>
                <a:off x="8514712" y="5109048"/>
                <a:ext cx="198000" cy="36000"/>
              </a:xfrm>
              <a:prstGeom prst="rect">
                <a:avLst/>
              </a:prstGeom>
              <a:grpFill/>
              <a:ln w="12700">
                <a:noFill/>
                <a:prstDash val="solid"/>
              </a:ln>
            </p:spPr>
          </p:sp>
          <p:sp>
            <p:nvSpPr>
              <p:cNvPr id="86" name="Shape 52"/>
              <p:cNvSpPr/>
              <p:nvPr/>
            </p:nvSpPr>
            <p:spPr>
              <a:xfrm>
                <a:off x="8712712" y="5109048"/>
                <a:ext cx="198000" cy="36000"/>
              </a:xfrm>
              <a:prstGeom prst="rect">
                <a:avLst/>
              </a:prstGeom>
              <a:grpFill/>
              <a:ln w="12700">
                <a:noFill/>
                <a:prstDash val="solid"/>
              </a:ln>
            </p:spPr>
          </p:sp>
          <p:sp>
            <p:nvSpPr>
              <p:cNvPr id="87"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FF2D78"/>
          </a:solidFill>
          <a:ln w="12700">
            <a:solidFill>
              <a:srgbClr val="FF2D78"/>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NUI — Natural User Interface</a:t>
            </a:r>
            <a:endParaRPr lang="en-US" sz="2200" dirty="0"/>
          </a:p>
        </p:txBody>
      </p:sp>
      <p:sp>
        <p:nvSpPr>
          <p:cNvPr id="4" name="Shape 2"/>
          <p:cNvSpPr/>
          <p:nvPr/>
        </p:nvSpPr>
        <p:spPr>
          <a:xfrm>
            <a:off x="320040" y="914400"/>
            <a:ext cx="4069080" cy="228600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5" name="Shape 3"/>
          <p:cNvSpPr/>
          <p:nvPr/>
        </p:nvSpPr>
        <p:spPr>
          <a:xfrm>
            <a:off x="320040" y="914400"/>
            <a:ext cx="45720" cy="2286000"/>
          </a:xfrm>
          <a:prstGeom prst="rect">
            <a:avLst/>
          </a:prstGeom>
          <a:solidFill>
            <a:srgbClr val="00E676"/>
          </a:solidFill>
          <a:ln w="12700">
            <a:solidFill>
              <a:srgbClr val="00E676"/>
            </a:solidFill>
            <a:prstDash val="solid"/>
          </a:ln>
        </p:spPr>
      </p:sp>
      <p:sp>
        <p:nvSpPr>
          <p:cNvPr id="6" name="Text 4"/>
          <p:cNvSpPr/>
          <p:nvPr/>
        </p:nvSpPr>
        <p:spPr>
          <a:xfrm>
            <a:off x="429768" y="978408"/>
            <a:ext cx="3913632" cy="256032"/>
          </a:xfrm>
          <a:prstGeom prst="rect">
            <a:avLst/>
          </a:prstGeom>
          <a:noFill/>
          <a:ln/>
        </p:spPr>
        <p:txBody>
          <a:bodyPr wrap="square" lIns="0" tIns="0" rIns="0" bIns="0" rtlCol="0" anchor="t"/>
          <a:lstStyle/>
          <a:p>
            <a:pPr marL="0" indent="0">
              <a:buNone/>
            </a:pPr>
            <a:r>
              <a:rPr lang="en-US" sz="1000" b="1" dirty="0">
                <a:solidFill>
                  <a:srgbClr val="00E676"/>
                </a:solidFill>
              </a:rPr>
              <a:t>Naturalne Interakcje</a:t>
            </a:r>
            <a:endParaRPr lang="en-US" sz="1000" dirty="0"/>
          </a:p>
        </p:txBody>
      </p:sp>
      <p:sp>
        <p:nvSpPr>
          <p:cNvPr id="7" name="Text 5"/>
          <p:cNvSpPr/>
          <p:nvPr/>
        </p:nvSpPr>
        <p:spPr>
          <a:xfrm>
            <a:off x="429768" y="1243584"/>
            <a:ext cx="3913632" cy="1901952"/>
          </a:xfrm>
          <a:prstGeom prst="rect">
            <a:avLst/>
          </a:prstGeom>
          <a:noFill/>
          <a:ln/>
        </p:spPr>
        <p:txBody>
          <a:bodyPr wrap="square" lIns="0" tIns="0" rIns="0" bIns="0" rtlCol="0" anchor="t"/>
          <a:lstStyle/>
          <a:p>
            <a:pPr marL="0" indent="0">
              <a:buNone/>
            </a:pPr>
            <a:r>
              <a:rPr lang="en-US" sz="950" dirty="0">
                <a:solidFill>
                  <a:srgbClr val="CCDDEE"/>
                </a:solidFill>
              </a:rPr>
              <a:t>NUI wykorzystują naturalne ludzkie zachowania — gesty, ruchy, dotyk, mimikę — do interakcji z technologią. Eliminują barierę między człowiekiem a maszyną.</a:t>
            </a:r>
            <a:endParaRPr lang="en-US" sz="950" dirty="0"/>
          </a:p>
        </p:txBody>
      </p:sp>
      <p:sp>
        <p:nvSpPr>
          <p:cNvPr id="8" name="Shape 6"/>
          <p:cNvSpPr/>
          <p:nvPr/>
        </p:nvSpPr>
        <p:spPr>
          <a:xfrm>
            <a:off x="320040" y="3310128"/>
            <a:ext cx="749808" cy="292608"/>
          </a:xfrm>
          <a:prstGeom prst="rect">
            <a:avLst/>
          </a:prstGeom>
          <a:solidFill>
            <a:srgbClr val="1A3050"/>
          </a:solidFill>
          <a:ln w="12700">
            <a:solidFill>
              <a:srgbClr val="00E676"/>
            </a:solidFill>
            <a:prstDash val="solid"/>
          </a:ln>
        </p:spPr>
      </p:sp>
      <p:sp>
        <p:nvSpPr>
          <p:cNvPr id="9" name="Text 7"/>
          <p:cNvSpPr/>
          <p:nvPr/>
        </p:nvSpPr>
        <p:spPr>
          <a:xfrm>
            <a:off x="320040" y="3310128"/>
            <a:ext cx="749808" cy="292608"/>
          </a:xfrm>
          <a:prstGeom prst="rect">
            <a:avLst/>
          </a:prstGeom>
          <a:noFill/>
          <a:ln/>
        </p:spPr>
        <p:txBody>
          <a:bodyPr wrap="square" lIns="0" tIns="0" rIns="0" bIns="0" rtlCol="0" anchor="ctr"/>
          <a:lstStyle/>
          <a:p>
            <a:pPr marL="0" indent="0" algn="ctr">
              <a:buNone/>
            </a:pPr>
            <a:r>
              <a:rPr lang="en-US" sz="850" dirty="0">
                <a:solidFill>
                  <a:srgbClr val="00E676"/>
                </a:solidFill>
              </a:rPr>
              <a:t>Swipe</a:t>
            </a:r>
            <a:endParaRPr lang="en-US" sz="850" dirty="0"/>
          </a:p>
        </p:txBody>
      </p:sp>
      <p:sp>
        <p:nvSpPr>
          <p:cNvPr id="10" name="Shape 8"/>
          <p:cNvSpPr/>
          <p:nvPr/>
        </p:nvSpPr>
        <p:spPr>
          <a:xfrm>
            <a:off x="1143000" y="3310128"/>
            <a:ext cx="749808" cy="292608"/>
          </a:xfrm>
          <a:prstGeom prst="rect">
            <a:avLst/>
          </a:prstGeom>
          <a:solidFill>
            <a:srgbClr val="1A3050"/>
          </a:solidFill>
          <a:ln w="12700">
            <a:solidFill>
              <a:srgbClr val="00E676"/>
            </a:solidFill>
            <a:prstDash val="solid"/>
          </a:ln>
        </p:spPr>
      </p:sp>
      <p:sp>
        <p:nvSpPr>
          <p:cNvPr id="11" name="Text 9"/>
          <p:cNvSpPr/>
          <p:nvPr/>
        </p:nvSpPr>
        <p:spPr>
          <a:xfrm>
            <a:off x="1143000" y="3310128"/>
            <a:ext cx="749808" cy="292608"/>
          </a:xfrm>
          <a:prstGeom prst="rect">
            <a:avLst/>
          </a:prstGeom>
          <a:noFill/>
          <a:ln/>
        </p:spPr>
        <p:txBody>
          <a:bodyPr wrap="square" lIns="0" tIns="0" rIns="0" bIns="0" rtlCol="0" anchor="ctr"/>
          <a:lstStyle/>
          <a:p>
            <a:pPr marL="0" indent="0" algn="ctr">
              <a:buNone/>
            </a:pPr>
            <a:r>
              <a:rPr lang="en-US" sz="850" dirty="0">
                <a:solidFill>
                  <a:srgbClr val="00E676"/>
                </a:solidFill>
              </a:rPr>
              <a:t>Pinch</a:t>
            </a:r>
            <a:endParaRPr lang="en-US" sz="850" dirty="0"/>
          </a:p>
        </p:txBody>
      </p:sp>
      <p:sp>
        <p:nvSpPr>
          <p:cNvPr id="12" name="Shape 10"/>
          <p:cNvSpPr/>
          <p:nvPr/>
        </p:nvSpPr>
        <p:spPr>
          <a:xfrm>
            <a:off x="1965960" y="3310128"/>
            <a:ext cx="749808" cy="292608"/>
          </a:xfrm>
          <a:prstGeom prst="rect">
            <a:avLst/>
          </a:prstGeom>
          <a:solidFill>
            <a:srgbClr val="1A3050"/>
          </a:solidFill>
          <a:ln w="12700">
            <a:solidFill>
              <a:srgbClr val="00E676"/>
            </a:solidFill>
            <a:prstDash val="solid"/>
          </a:ln>
        </p:spPr>
      </p:sp>
      <p:sp>
        <p:nvSpPr>
          <p:cNvPr id="13" name="Text 11"/>
          <p:cNvSpPr/>
          <p:nvPr/>
        </p:nvSpPr>
        <p:spPr>
          <a:xfrm>
            <a:off x="1965960" y="3310128"/>
            <a:ext cx="749808" cy="292608"/>
          </a:xfrm>
          <a:prstGeom prst="rect">
            <a:avLst/>
          </a:prstGeom>
          <a:noFill/>
          <a:ln/>
        </p:spPr>
        <p:txBody>
          <a:bodyPr wrap="square" lIns="0" tIns="0" rIns="0" bIns="0" rtlCol="0" anchor="ctr"/>
          <a:lstStyle/>
          <a:p>
            <a:pPr marL="0" indent="0" algn="ctr">
              <a:buNone/>
            </a:pPr>
            <a:r>
              <a:rPr lang="en-US" sz="850" dirty="0">
                <a:solidFill>
                  <a:srgbClr val="00E676"/>
                </a:solidFill>
              </a:rPr>
              <a:t>Rotate</a:t>
            </a:r>
            <a:endParaRPr lang="en-US" sz="850" dirty="0"/>
          </a:p>
        </p:txBody>
      </p:sp>
      <p:sp>
        <p:nvSpPr>
          <p:cNvPr id="14" name="Shape 12"/>
          <p:cNvSpPr/>
          <p:nvPr/>
        </p:nvSpPr>
        <p:spPr>
          <a:xfrm>
            <a:off x="2788920" y="3310128"/>
            <a:ext cx="749808" cy="292608"/>
          </a:xfrm>
          <a:prstGeom prst="rect">
            <a:avLst/>
          </a:prstGeom>
          <a:solidFill>
            <a:srgbClr val="1A3050"/>
          </a:solidFill>
          <a:ln w="12700">
            <a:solidFill>
              <a:srgbClr val="00E676"/>
            </a:solidFill>
            <a:prstDash val="solid"/>
          </a:ln>
        </p:spPr>
      </p:sp>
      <p:sp>
        <p:nvSpPr>
          <p:cNvPr id="15" name="Text 13"/>
          <p:cNvSpPr/>
          <p:nvPr/>
        </p:nvSpPr>
        <p:spPr>
          <a:xfrm>
            <a:off x="2788920" y="3310128"/>
            <a:ext cx="749808" cy="292608"/>
          </a:xfrm>
          <a:prstGeom prst="rect">
            <a:avLst/>
          </a:prstGeom>
          <a:noFill/>
          <a:ln/>
        </p:spPr>
        <p:txBody>
          <a:bodyPr wrap="square" lIns="0" tIns="0" rIns="0" bIns="0" rtlCol="0" anchor="ctr"/>
          <a:lstStyle/>
          <a:p>
            <a:pPr marL="0" indent="0" algn="ctr">
              <a:buNone/>
            </a:pPr>
            <a:r>
              <a:rPr lang="en-US" sz="850" dirty="0">
                <a:solidFill>
                  <a:srgbClr val="00E676"/>
                </a:solidFill>
              </a:rPr>
              <a:t>Scroll</a:t>
            </a:r>
            <a:endParaRPr lang="en-US" sz="850" dirty="0"/>
          </a:p>
        </p:txBody>
      </p:sp>
      <p:sp>
        <p:nvSpPr>
          <p:cNvPr id="16" name="Shape 14"/>
          <p:cNvSpPr/>
          <p:nvPr/>
        </p:nvSpPr>
        <p:spPr>
          <a:xfrm>
            <a:off x="3611880" y="3310128"/>
            <a:ext cx="749808" cy="292608"/>
          </a:xfrm>
          <a:prstGeom prst="rect">
            <a:avLst/>
          </a:prstGeom>
          <a:solidFill>
            <a:srgbClr val="1A3050"/>
          </a:solidFill>
          <a:ln w="12700">
            <a:solidFill>
              <a:srgbClr val="00E676"/>
            </a:solidFill>
            <a:prstDash val="solid"/>
          </a:ln>
        </p:spPr>
      </p:sp>
      <p:sp>
        <p:nvSpPr>
          <p:cNvPr id="17" name="Text 15"/>
          <p:cNvSpPr/>
          <p:nvPr/>
        </p:nvSpPr>
        <p:spPr>
          <a:xfrm>
            <a:off x="3611880" y="3310128"/>
            <a:ext cx="749808" cy="292608"/>
          </a:xfrm>
          <a:prstGeom prst="rect">
            <a:avLst/>
          </a:prstGeom>
          <a:noFill/>
          <a:ln/>
        </p:spPr>
        <p:txBody>
          <a:bodyPr wrap="square" lIns="0" tIns="0" rIns="0" bIns="0" rtlCol="0" anchor="ctr"/>
          <a:lstStyle/>
          <a:p>
            <a:pPr marL="0" indent="0" algn="ctr">
              <a:buNone/>
            </a:pPr>
            <a:r>
              <a:rPr lang="en-US" sz="850" dirty="0">
                <a:solidFill>
                  <a:srgbClr val="00E676"/>
                </a:solidFill>
              </a:rPr>
              <a:t>Shake</a:t>
            </a:r>
            <a:endParaRPr lang="en-US" sz="850" dirty="0"/>
          </a:p>
        </p:txBody>
      </p:sp>
      <p:sp>
        <p:nvSpPr>
          <p:cNvPr id="18" name="Shape 16"/>
          <p:cNvSpPr/>
          <p:nvPr/>
        </p:nvSpPr>
        <p:spPr>
          <a:xfrm>
            <a:off x="4754880" y="914400"/>
            <a:ext cx="2011680" cy="1627632"/>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19" name="Shape 17"/>
          <p:cNvSpPr/>
          <p:nvPr/>
        </p:nvSpPr>
        <p:spPr>
          <a:xfrm>
            <a:off x="4754880" y="914400"/>
            <a:ext cx="45720" cy="1627632"/>
          </a:xfrm>
          <a:prstGeom prst="rect">
            <a:avLst/>
          </a:prstGeom>
          <a:solidFill>
            <a:srgbClr val="00E676"/>
          </a:solidFill>
          <a:ln w="12700">
            <a:solidFill>
              <a:srgbClr val="00E676"/>
            </a:solidFill>
            <a:prstDash val="solid"/>
          </a:ln>
        </p:spPr>
      </p:sp>
      <p:sp>
        <p:nvSpPr>
          <p:cNvPr id="20" name="Text 18"/>
          <p:cNvSpPr/>
          <p:nvPr/>
        </p:nvSpPr>
        <p:spPr>
          <a:xfrm>
            <a:off x="4864608" y="978408"/>
            <a:ext cx="1856232" cy="256032"/>
          </a:xfrm>
          <a:prstGeom prst="rect">
            <a:avLst/>
          </a:prstGeom>
          <a:noFill/>
          <a:ln/>
        </p:spPr>
        <p:txBody>
          <a:bodyPr wrap="square" lIns="0" tIns="0" rIns="0" bIns="0" rtlCol="0" anchor="t"/>
          <a:lstStyle/>
          <a:p>
            <a:pPr marL="0" indent="0">
              <a:buNone/>
            </a:pPr>
            <a:r>
              <a:rPr lang="en-US" sz="1000" b="1" dirty="0">
                <a:solidFill>
                  <a:srgbClr val="00E676"/>
                </a:solidFill>
              </a:rPr>
              <a:t>Rozpoznawanie Gestów</a:t>
            </a:r>
            <a:endParaRPr lang="en-US" sz="1000" dirty="0"/>
          </a:p>
        </p:txBody>
      </p:sp>
      <p:sp>
        <p:nvSpPr>
          <p:cNvPr id="21" name="Text 19"/>
          <p:cNvSpPr/>
          <p:nvPr/>
        </p:nvSpPr>
        <p:spPr>
          <a:xfrm>
            <a:off x="4864608" y="1243584"/>
            <a:ext cx="1856232" cy="1243584"/>
          </a:xfrm>
          <a:prstGeom prst="rect">
            <a:avLst/>
          </a:prstGeom>
          <a:noFill/>
          <a:ln/>
        </p:spPr>
        <p:txBody>
          <a:bodyPr wrap="square" lIns="0" tIns="0" rIns="0" bIns="0" rtlCol="0" anchor="t"/>
          <a:lstStyle/>
          <a:p>
            <a:pPr marL="0" indent="0">
              <a:buNone/>
            </a:pPr>
            <a:r>
              <a:rPr lang="en-US" sz="950" dirty="0">
                <a:solidFill>
                  <a:srgbClr val="CCDDEE"/>
                </a:solidFill>
              </a:rPr>
              <a:t>Kamery i czujniki śledzące ruchy ciała i dłoni</a:t>
            </a:r>
            <a:endParaRPr lang="en-US" sz="950" dirty="0"/>
          </a:p>
        </p:txBody>
      </p:sp>
      <p:sp>
        <p:nvSpPr>
          <p:cNvPr id="22" name="Shape 20"/>
          <p:cNvSpPr/>
          <p:nvPr/>
        </p:nvSpPr>
        <p:spPr>
          <a:xfrm>
            <a:off x="6903720" y="914400"/>
            <a:ext cx="2011680" cy="1627632"/>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23" name="Shape 21"/>
          <p:cNvSpPr/>
          <p:nvPr/>
        </p:nvSpPr>
        <p:spPr>
          <a:xfrm>
            <a:off x="6903720" y="914400"/>
            <a:ext cx="45720" cy="1627632"/>
          </a:xfrm>
          <a:prstGeom prst="rect">
            <a:avLst/>
          </a:prstGeom>
          <a:solidFill>
            <a:srgbClr val="00D4FF"/>
          </a:solidFill>
          <a:ln w="12700">
            <a:solidFill>
              <a:srgbClr val="00D4FF"/>
            </a:solidFill>
            <a:prstDash val="solid"/>
          </a:ln>
        </p:spPr>
      </p:sp>
      <p:sp>
        <p:nvSpPr>
          <p:cNvPr id="24" name="Text 22"/>
          <p:cNvSpPr/>
          <p:nvPr/>
        </p:nvSpPr>
        <p:spPr>
          <a:xfrm>
            <a:off x="7013448" y="978408"/>
            <a:ext cx="1856232" cy="256032"/>
          </a:xfrm>
          <a:prstGeom prst="rect">
            <a:avLst/>
          </a:prstGeom>
          <a:noFill/>
          <a:ln/>
        </p:spPr>
        <p:txBody>
          <a:bodyPr wrap="square" lIns="0" tIns="0" rIns="0" bIns="0" rtlCol="0" anchor="t"/>
          <a:lstStyle/>
          <a:p>
            <a:pPr marL="0" indent="0">
              <a:buNone/>
            </a:pPr>
            <a:r>
              <a:rPr lang="en-US" sz="1000" b="1" dirty="0">
                <a:solidFill>
                  <a:srgbClr val="00D4FF"/>
                </a:solidFill>
              </a:rPr>
              <a:t>Eye Tracking</a:t>
            </a:r>
            <a:endParaRPr lang="en-US" sz="1000" dirty="0"/>
          </a:p>
        </p:txBody>
      </p:sp>
      <p:sp>
        <p:nvSpPr>
          <p:cNvPr id="25" name="Text 23"/>
          <p:cNvSpPr/>
          <p:nvPr/>
        </p:nvSpPr>
        <p:spPr>
          <a:xfrm>
            <a:off x="7013448" y="1243584"/>
            <a:ext cx="1856232" cy="1243584"/>
          </a:xfrm>
          <a:prstGeom prst="rect">
            <a:avLst/>
          </a:prstGeom>
          <a:noFill/>
          <a:ln/>
        </p:spPr>
        <p:txBody>
          <a:bodyPr wrap="square" lIns="0" tIns="0" rIns="0" bIns="0" rtlCol="0" anchor="t"/>
          <a:lstStyle/>
          <a:p>
            <a:pPr marL="0" indent="0">
              <a:buNone/>
            </a:pPr>
            <a:r>
              <a:rPr lang="en-US" sz="950" dirty="0">
                <a:solidFill>
                  <a:srgbClr val="CCDDEE"/>
                </a:solidFill>
              </a:rPr>
              <a:t>Śledzenie kierunku wzroku użytkownika — VR/AR, dostępność</a:t>
            </a:r>
            <a:endParaRPr lang="en-US" sz="950" dirty="0"/>
          </a:p>
        </p:txBody>
      </p:sp>
      <p:sp>
        <p:nvSpPr>
          <p:cNvPr id="26" name="Shape 24"/>
          <p:cNvSpPr/>
          <p:nvPr/>
        </p:nvSpPr>
        <p:spPr>
          <a:xfrm>
            <a:off x="4754880" y="2697480"/>
            <a:ext cx="2011680" cy="1627632"/>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27" name="Shape 25"/>
          <p:cNvSpPr/>
          <p:nvPr/>
        </p:nvSpPr>
        <p:spPr>
          <a:xfrm>
            <a:off x="4754880" y="2697480"/>
            <a:ext cx="45720" cy="1627632"/>
          </a:xfrm>
          <a:prstGeom prst="rect">
            <a:avLst/>
          </a:prstGeom>
          <a:solidFill>
            <a:srgbClr val="B388FF"/>
          </a:solidFill>
          <a:ln w="12700">
            <a:solidFill>
              <a:srgbClr val="B388FF"/>
            </a:solidFill>
            <a:prstDash val="solid"/>
          </a:ln>
        </p:spPr>
      </p:sp>
      <p:sp>
        <p:nvSpPr>
          <p:cNvPr id="28" name="Text 26"/>
          <p:cNvSpPr/>
          <p:nvPr/>
        </p:nvSpPr>
        <p:spPr>
          <a:xfrm>
            <a:off x="4864608" y="2761488"/>
            <a:ext cx="1856232" cy="256032"/>
          </a:xfrm>
          <a:prstGeom prst="rect">
            <a:avLst/>
          </a:prstGeom>
          <a:noFill/>
          <a:ln/>
        </p:spPr>
        <p:txBody>
          <a:bodyPr wrap="square" lIns="0" tIns="0" rIns="0" bIns="0" rtlCol="0" anchor="t"/>
          <a:lstStyle/>
          <a:p>
            <a:pPr marL="0" indent="0">
              <a:buNone/>
            </a:pPr>
            <a:r>
              <a:rPr lang="en-US" sz="1000" b="1" dirty="0">
                <a:solidFill>
                  <a:srgbClr val="B388FF"/>
                </a:solidFill>
              </a:rPr>
              <a:t>AR/VR Headsets</a:t>
            </a:r>
            <a:endParaRPr lang="en-US" sz="1000" dirty="0"/>
          </a:p>
        </p:txBody>
      </p:sp>
      <p:sp>
        <p:nvSpPr>
          <p:cNvPr id="29" name="Text 27"/>
          <p:cNvSpPr/>
          <p:nvPr/>
        </p:nvSpPr>
        <p:spPr>
          <a:xfrm>
            <a:off x="4864608" y="3026664"/>
            <a:ext cx="1856232" cy="1243584"/>
          </a:xfrm>
          <a:prstGeom prst="rect">
            <a:avLst/>
          </a:prstGeom>
          <a:noFill/>
          <a:ln/>
        </p:spPr>
        <p:txBody>
          <a:bodyPr wrap="square" lIns="0" tIns="0" rIns="0" bIns="0" rtlCol="0" anchor="t"/>
          <a:lstStyle/>
          <a:p>
            <a:pPr marL="0" indent="0">
              <a:buNone/>
            </a:pPr>
            <a:r>
              <a:rPr lang="en-US" sz="950" dirty="0">
                <a:solidFill>
                  <a:srgbClr val="CCDDEE"/>
                </a:solidFill>
              </a:rPr>
              <a:t>Immersyjne doświadczenia w rzeczywistości rozszerzonej i wirtualnej</a:t>
            </a:r>
            <a:endParaRPr lang="en-US" sz="950" dirty="0"/>
          </a:p>
        </p:txBody>
      </p:sp>
      <p:sp>
        <p:nvSpPr>
          <p:cNvPr id="30" name="Shape 28"/>
          <p:cNvSpPr/>
          <p:nvPr/>
        </p:nvSpPr>
        <p:spPr>
          <a:xfrm>
            <a:off x="6903720" y="2697480"/>
            <a:ext cx="2011680" cy="1627632"/>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31" name="Shape 29"/>
          <p:cNvSpPr/>
          <p:nvPr/>
        </p:nvSpPr>
        <p:spPr>
          <a:xfrm>
            <a:off x="6903720" y="2697480"/>
            <a:ext cx="45720" cy="1627632"/>
          </a:xfrm>
          <a:prstGeom prst="rect">
            <a:avLst/>
          </a:prstGeom>
          <a:solidFill>
            <a:srgbClr val="FF9100"/>
          </a:solidFill>
          <a:ln w="12700">
            <a:solidFill>
              <a:srgbClr val="FF9100"/>
            </a:solidFill>
            <a:prstDash val="solid"/>
          </a:ln>
        </p:spPr>
      </p:sp>
      <p:sp>
        <p:nvSpPr>
          <p:cNvPr id="32" name="Text 30"/>
          <p:cNvSpPr/>
          <p:nvPr/>
        </p:nvSpPr>
        <p:spPr>
          <a:xfrm>
            <a:off x="7013448" y="2761488"/>
            <a:ext cx="1856232" cy="256032"/>
          </a:xfrm>
          <a:prstGeom prst="rect">
            <a:avLst/>
          </a:prstGeom>
          <a:noFill/>
          <a:ln/>
        </p:spPr>
        <p:txBody>
          <a:bodyPr wrap="square" lIns="0" tIns="0" rIns="0" bIns="0" rtlCol="0" anchor="t"/>
          <a:lstStyle/>
          <a:p>
            <a:pPr marL="0" indent="0">
              <a:buNone/>
            </a:pPr>
            <a:r>
              <a:rPr lang="en-US" sz="1000" b="1" dirty="0">
                <a:solidFill>
                  <a:srgbClr val="FF9100"/>
                </a:solidFill>
              </a:rPr>
              <a:t>Czujniki Mobilne</a:t>
            </a:r>
            <a:endParaRPr lang="en-US" sz="1000" dirty="0"/>
          </a:p>
        </p:txBody>
      </p:sp>
      <p:sp>
        <p:nvSpPr>
          <p:cNvPr id="33" name="Text 31"/>
          <p:cNvSpPr/>
          <p:nvPr/>
        </p:nvSpPr>
        <p:spPr>
          <a:xfrm>
            <a:off x="7013448" y="3026664"/>
            <a:ext cx="1856232" cy="1243584"/>
          </a:xfrm>
          <a:prstGeom prst="rect">
            <a:avLst/>
          </a:prstGeom>
          <a:noFill/>
          <a:ln/>
        </p:spPr>
        <p:txBody>
          <a:bodyPr wrap="square" lIns="0" tIns="0" rIns="0" bIns="0" rtlCol="0" anchor="t"/>
          <a:lstStyle/>
          <a:p>
            <a:pPr marL="0" indent="0">
              <a:buNone/>
            </a:pPr>
            <a:r>
              <a:rPr lang="en-US" sz="950" dirty="0">
                <a:solidFill>
                  <a:srgbClr val="CCDDEE"/>
                </a:solidFill>
              </a:rPr>
              <a:t>Akcelerometr, żyroskop, czujnik zbliżeniowy w smartfonach</a:t>
            </a:r>
            <a:endParaRPr lang="en-US" sz="950" dirty="0"/>
          </a:p>
        </p:txBody>
      </p:sp>
      <p:sp>
        <p:nvSpPr>
          <p:cNvPr id="36" name="Text 34"/>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10 / </a:t>
            </a:r>
            <a:r>
              <a:rPr lang="pl-PL" sz="800" dirty="0" smtClean="0">
                <a:solidFill>
                  <a:srgbClr val="8899AA"/>
                </a:solidFill>
              </a:rPr>
              <a:t>46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grpSp>
        <p:nvGrpSpPr>
          <p:cNvPr id="46" name="Grupa 45"/>
          <p:cNvGrpSpPr/>
          <p:nvPr/>
        </p:nvGrpSpPr>
        <p:grpSpPr>
          <a:xfrm>
            <a:off x="-2381" y="4884912"/>
            <a:ext cx="9146381" cy="260136"/>
            <a:chOff x="-2381" y="4884912"/>
            <a:chExt cx="9146381" cy="260136"/>
          </a:xfrm>
        </p:grpSpPr>
        <p:sp>
          <p:nvSpPr>
            <p:cNvPr id="47" name="Shape 52"/>
            <p:cNvSpPr/>
            <p:nvPr/>
          </p:nvSpPr>
          <p:spPr>
            <a:xfrm>
              <a:off x="0" y="4884912"/>
              <a:ext cx="9144000" cy="252000"/>
            </a:xfrm>
            <a:prstGeom prst="rect">
              <a:avLst/>
            </a:prstGeom>
            <a:solidFill>
              <a:srgbClr val="071523"/>
            </a:solidFill>
            <a:ln w="12700">
              <a:solidFill>
                <a:srgbClr val="071523"/>
              </a:solidFill>
              <a:prstDash val="solid"/>
            </a:ln>
          </p:spPr>
        </p:sp>
        <p:sp>
          <p:nvSpPr>
            <p:cNvPr id="48"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49" name="Grupa 48"/>
            <p:cNvGrpSpPr/>
            <p:nvPr/>
          </p:nvGrpSpPr>
          <p:grpSpPr>
            <a:xfrm>
              <a:off x="-2381" y="5099329"/>
              <a:ext cx="9146381" cy="45719"/>
              <a:chOff x="-2381" y="5107500"/>
              <a:chExt cx="9111093" cy="37548"/>
            </a:xfrm>
            <a:solidFill>
              <a:schemeClr val="tx1"/>
            </a:solidFill>
          </p:grpSpPr>
          <p:sp>
            <p:nvSpPr>
              <p:cNvPr id="50"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2178000" y="5107500"/>
                <a:ext cx="198000" cy="36000"/>
              </a:xfrm>
              <a:prstGeom prst="rect">
                <a:avLst/>
              </a:prstGeom>
              <a:grpFill/>
              <a:ln w="12700">
                <a:noFill/>
                <a:prstDash val="solid"/>
              </a:ln>
            </p:spPr>
          </p:sp>
          <p:sp>
            <p:nvSpPr>
              <p:cNvPr id="62" name="Shape 52"/>
              <p:cNvSpPr/>
              <p:nvPr/>
            </p:nvSpPr>
            <p:spPr>
              <a:xfrm>
                <a:off x="2376000" y="5107500"/>
                <a:ext cx="198000" cy="36000"/>
              </a:xfrm>
              <a:prstGeom prst="rect">
                <a:avLst/>
              </a:prstGeom>
              <a:grpFill/>
              <a:ln w="12700">
                <a:noFill/>
                <a:prstDash val="solid"/>
              </a:ln>
            </p:spPr>
          </p:sp>
          <p:sp>
            <p:nvSpPr>
              <p:cNvPr id="63" name="Shape 52"/>
              <p:cNvSpPr/>
              <p:nvPr/>
            </p:nvSpPr>
            <p:spPr>
              <a:xfrm>
                <a:off x="2574000" y="5107500"/>
                <a:ext cx="198000" cy="36000"/>
              </a:xfrm>
              <a:prstGeom prst="rect">
                <a:avLst/>
              </a:prstGeom>
              <a:grpFill/>
              <a:ln w="12700">
                <a:noFill/>
                <a:prstDash val="solid"/>
              </a:ln>
            </p:spPr>
          </p:sp>
          <p:sp>
            <p:nvSpPr>
              <p:cNvPr id="64" name="Shape 52"/>
              <p:cNvSpPr/>
              <p:nvPr/>
            </p:nvSpPr>
            <p:spPr>
              <a:xfrm>
                <a:off x="2772712" y="5108400"/>
                <a:ext cx="198000" cy="36000"/>
              </a:xfrm>
              <a:prstGeom prst="rect">
                <a:avLst/>
              </a:prstGeom>
              <a:grpFill/>
              <a:ln w="12700">
                <a:noFill/>
                <a:prstDash val="solid"/>
              </a:ln>
            </p:spPr>
          </p:sp>
          <p:sp>
            <p:nvSpPr>
              <p:cNvPr id="65" name="Shape 52"/>
              <p:cNvSpPr/>
              <p:nvPr/>
            </p:nvSpPr>
            <p:spPr>
              <a:xfrm>
                <a:off x="2970712" y="5108400"/>
                <a:ext cx="198000" cy="36000"/>
              </a:xfrm>
              <a:prstGeom prst="rect">
                <a:avLst/>
              </a:prstGeom>
              <a:grpFill/>
              <a:ln w="12700">
                <a:noFill/>
                <a:prstDash val="solid"/>
              </a:ln>
            </p:spPr>
          </p:sp>
          <p:sp>
            <p:nvSpPr>
              <p:cNvPr id="66" name="Shape 52"/>
              <p:cNvSpPr/>
              <p:nvPr/>
            </p:nvSpPr>
            <p:spPr>
              <a:xfrm>
                <a:off x="3168712" y="5108400"/>
                <a:ext cx="198000" cy="36000"/>
              </a:xfrm>
              <a:prstGeom prst="rect">
                <a:avLst/>
              </a:prstGeom>
              <a:grpFill/>
              <a:ln w="12700">
                <a:noFill/>
                <a:prstDash val="solid"/>
              </a:ln>
            </p:spPr>
          </p:sp>
          <p:sp>
            <p:nvSpPr>
              <p:cNvPr id="67" name="Shape 52"/>
              <p:cNvSpPr/>
              <p:nvPr/>
            </p:nvSpPr>
            <p:spPr>
              <a:xfrm>
                <a:off x="3366712" y="5108400"/>
                <a:ext cx="198000" cy="36000"/>
              </a:xfrm>
              <a:prstGeom prst="rect">
                <a:avLst/>
              </a:prstGeom>
              <a:grpFill/>
              <a:ln w="12700">
                <a:noFill/>
                <a:prstDash val="solid"/>
              </a:ln>
            </p:spPr>
          </p:sp>
          <p:sp>
            <p:nvSpPr>
              <p:cNvPr id="68" name="Shape 52"/>
              <p:cNvSpPr/>
              <p:nvPr/>
            </p:nvSpPr>
            <p:spPr>
              <a:xfrm>
                <a:off x="3564712" y="5108400"/>
                <a:ext cx="198000" cy="36000"/>
              </a:xfrm>
              <a:prstGeom prst="rect">
                <a:avLst/>
              </a:prstGeom>
              <a:grpFill/>
              <a:ln w="12700">
                <a:noFill/>
                <a:prstDash val="solid"/>
              </a:ln>
            </p:spPr>
          </p:sp>
          <p:sp>
            <p:nvSpPr>
              <p:cNvPr id="69" name="Shape 52"/>
              <p:cNvSpPr/>
              <p:nvPr/>
            </p:nvSpPr>
            <p:spPr>
              <a:xfrm>
                <a:off x="3762712" y="5108400"/>
                <a:ext cx="198000" cy="36000"/>
              </a:xfrm>
              <a:prstGeom prst="rect">
                <a:avLst/>
              </a:prstGeom>
              <a:grpFill/>
              <a:ln w="12700">
                <a:noFill/>
                <a:prstDash val="solid"/>
              </a:ln>
            </p:spPr>
          </p:sp>
          <p:sp>
            <p:nvSpPr>
              <p:cNvPr id="70" name="Shape 52"/>
              <p:cNvSpPr/>
              <p:nvPr/>
            </p:nvSpPr>
            <p:spPr>
              <a:xfrm>
                <a:off x="3960712" y="5107530"/>
                <a:ext cx="198000" cy="36000"/>
              </a:xfrm>
              <a:prstGeom prst="rect">
                <a:avLst/>
              </a:prstGeom>
              <a:grpFill/>
              <a:ln w="12700">
                <a:noFill/>
                <a:prstDash val="solid"/>
              </a:ln>
            </p:spPr>
          </p:sp>
          <p:sp>
            <p:nvSpPr>
              <p:cNvPr id="71" name="Shape 52"/>
              <p:cNvSpPr/>
              <p:nvPr/>
            </p:nvSpPr>
            <p:spPr>
              <a:xfrm>
                <a:off x="4158712" y="5107500"/>
                <a:ext cx="198000" cy="36000"/>
              </a:xfrm>
              <a:prstGeom prst="rect">
                <a:avLst/>
              </a:prstGeom>
              <a:grpFill/>
              <a:ln w="12700">
                <a:noFill/>
                <a:prstDash val="solid"/>
              </a:ln>
            </p:spPr>
          </p:sp>
          <p:sp>
            <p:nvSpPr>
              <p:cNvPr id="72" name="Shape 52"/>
              <p:cNvSpPr/>
              <p:nvPr/>
            </p:nvSpPr>
            <p:spPr>
              <a:xfrm>
                <a:off x="4356712" y="5107500"/>
                <a:ext cx="198000" cy="36000"/>
              </a:xfrm>
              <a:prstGeom prst="rect">
                <a:avLst/>
              </a:prstGeom>
              <a:grpFill/>
              <a:ln w="12700">
                <a:noFill/>
                <a:prstDash val="solid"/>
              </a:ln>
            </p:spPr>
          </p:sp>
          <p:sp>
            <p:nvSpPr>
              <p:cNvPr id="73" name="Shape 52"/>
              <p:cNvSpPr/>
              <p:nvPr/>
            </p:nvSpPr>
            <p:spPr>
              <a:xfrm>
                <a:off x="4554712" y="5107500"/>
                <a:ext cx="198000" cy="36000"/>
              </a:xfrm>
              <a:prstGeom prst="rect">
                <a:avLst/>
              </a:prstGeom>
              <a:grpFill/>
              <a:ln w="12700">
                <a:noFill/>
                <a:prstDash val="solid"/>
              </a:ln>
            </p:spPr>
          </p:sp>
          <p:sp>
            <p:nvSpPr>
              <p:cNvPr id="74" name="Shape 52"/>
              <p:cNvSpPr/>
              <p:nvPr/>
            </p:nvSpPr>
            <p:spPr>
              <a:xfrm>
                <a:off x="4752712" y="5107500"/>
                <a:ext cx="198000" cy="36000"/>
              </a:xfrm>
              <a:prstGeom prst="rect">
                <a:avLst/>
              </a:prstGeom>
              <a:grpFill/>
              <a:ln w="12700">
                <a:noFill/>
                <a:prstDash val="solid"/>
              </a:ln>
            </p:spPr>
          </p:sp>
          <p:sp>
            <p:nvSpPr>
              <p:cNvPr id="75" name="Shape 52"/>
              <p:cNvSpPr/>
              <p:nvPr/>
            </p:nvSpPr>
            <p:spPr>
              <a:xfrm>
                <a:off x="4950712" y="5107500"/>
                <a:ext cx="198000" cy="36000"/>
              </a:xfrm>
              <a:prstGeom prst="rect">
                <a:avLst/>
              </a:prstGeom>
              <a:grpFill/>
              <a:ln w="12700">
                <a:noFill/>
                <a:prstDash val="solid"/>
              </a:ln>
            </p:spPr>
          </p:sp>
          <p:sp>
            <p:nvSpPr>
              <p:cNvPr id="76" name="Shape 52"/>
              <p:cNvSpPr/>
              <p:nvPr/>
            </p:nvSpPr>
            <p:spPr>
              <a:xfrm>
                <a:off x="5148712" y="5107500"/>
                <a:ext cx="198000" cy="36000"/>
              </a:xfrm>
              <a:prstGeom prst="rect">
                <a:avLst/>
              </a:prstGeom>
              <a:grpFill/>
              <a:ln w="12700">
                <a:noFill/>
                <a:prstDash val="solid"/>
              </a:ln>
            </p:spPr>
          </p:sp>
          <p:sp>
            <p:nvSpPr>
              <p:cNvPr id="77" name="Shape 52"/>
              <p:cNvSpPr/>
              <p:nvPr/>
            </p:nvSpPr>
            <p:spPr>
              <a:xfrm>
                <a:off x="5346712" y="5108400"/>
                <a:ext cx="198000" cy="36000"/>
              </a:xfrm>
              <a:prstGeom prst="rect">
                <a:avLst/>
              </a:prstGeom>
              <a:grpFill/>
              <a:ln w="12700">
                <a:noFill/>
                <a:prstDash val="solid"/>
              </a:ln>
            </p:spPr>
          </p:sp>
          <p:sp>
            <p:nvSpPr>
              <p:cNvPr id="78" name="Shape 52"/>
              <p:cNvSpPr/>
              <p:nvPr/>
            </p:nvSpPr>
            <p:spPr>
              <a:xfrm>
                <a:off x="5544712" y="5108400"/>
                <a:ext cx="198000" cy="36000"/>
              </a:xfrm>
              <a:prstGeom prst="rect">
                <a:avLst/>
              </a:prstGeom>
              <a:grpFill/>
              <a:ln w="12700">
                <a:noFill/>
                <a:prstDash val="solid"/>
              </a:ln>
            </p:spPr>
          </p:sp>
          <p:sp>
            <p:nvSpPr>
              <p:cNvPr id="79" name="Shape 52"/>
              <p:cNvSpPr/>
              <p:nvPr/>
            </p:nvSpPr>
            <p:spPr>
              <a:xfrm>
                <a:off x="5742712" y="5108400"/>
                <a:ext cx="198000" cy="36000"/>
              </a:xfrm>
              <a:prstGeom prst="rect">
                <a:avLst/>
              </a:prstGeom>
              <a:grpFill/>
              <a:ln w="12700">
                <a:noFill/>
                <a:prstDash val="solid"/>
              </a:ln>
            </p:spPr>
          </p:sp>
          <p:sp>
            <p:nvSpPr>
              <p:cNvPr id="80" name="Shape 52"/>
              <p:cNvSpPr/>
              <p:nvPr/>
            </p:nvSpPr>
            <p:spPr>
              <a:xfrm>
                <a:off x="5940712" y="5108400"/>
                <a:ext cx="198000" cy="36000"/>
              </a:xfrm>
              <a:prstGeom prst="rect">
                <a:avLst/>
              </a:prstGeom>
              <a:grpFill/>
              <a:ln w="12700">
                <a:noFill/>
                <a:prstDash val="solid"/>
              </a:ln>
            </p:spPr>
          </p:sp>
          <p:sp>
            <p:nvSpPr>
              <p:cNvPr id="81" name="Shape 52"/>
              <p:cNvSpPr/>
              <p:nvPr/>
            </p:nvSpPr>
            <p:spPr>
              <a:xfrm>
                <a:off x="6138712" y="5108400"/>
                <a:ext cx="198000" cy="36000"/>
              </a:xfrm>
              <a:prstGeom prst="rect">
                <a:avLst/>
              </a:prstGeom>
              <a:grpFill/>
              <a:ln w="12700">
                <a:noFill/>
                <a:prstDash val="solid"/>
              </a:ln>
            </p:spPr>
          </p:sp>
          <p:sp>
            <p:nvSpPr>
              <p:cNvPr id="82" name="Shape 52"/>
              <p:cNvSpPr/>
              <p:nvPr/>
            </p:nvSpPr>
            <p:spPr>
              <a:xfrm>
                <a:off x="6336712" y="5108400"/>
                <a:ext cx="198000" cy="36000"/>
              </a:xfrm>
              <a:prstGeom prst="rect">
                <a:avLst/>
              </a:prstGeom>
              <a:grpFill/>
              <a:ln w="12700">
                <a:noFill/>
                <a:prstDash val="solid"/>
              </a:ln>
            </p:spPr>
          </p:sp>
          <p:sp>
            <p:nvSpPr>
              <p:cNvPr id="83" name="Shape 52"/>
              <p:cNvSpPr/>
              <p:nvPr/>
            </p:nvSpPr>
            <p:spPr>
              <a:xfrm>
                <a:off x="6534712" y="5108400"/>
                <a:ext cx="198000" cy="36000"/>
              </a:xfrm>
              <a:prstGeom prst="rect">
                <a:avLst/>
              </a:prstGeom>
              <a:grpFill/>
              <a:ln w="12700">
                <a:noFill/>
                <a:prstDash val="solid"/>
              </a:ln>
            </p:spPr>
          </p:sp>
          <p:sp>
            <p:nvSpPr>
              <p:cNvPr id="84" name="Shape 52"/>
              <p:cNvSpPr/>
              <p:nvPr/>
            </p:nvSpPr>
            <p:spPr>
              <a:xfrm>
                <a:off x="6732712" y="5108400"/>
                <a:ext cx="198000" cy="36000"/>
              </a:xfrm>
              <a:prstGeom prst="rect">
                <a:avLst/>
              </a:prstGeom>
              <a:grpFill/>
              <a:ln w="12700">
                <a:noFill/>
                <a:prstDash val="solid"/>
              </a:ln>
            </p:spPr>
          </p:sp>
          <p:sp>
            <p:nvSpPr>
              <p:cNvPr id="85" name="Shape 52"/>
              <p:cNvSpPr/>
              <p:nvPr/>
            </p:nvSpPr>
            <p:spPr>
              <a:xfrm>
                <a:off x="6930712" y="5108400"/>
                <a:ext cx="198000" cy="36000"/>
              </a:xfrm>
              <a:prstGeom prst="rect">
                <a:avLst/>
              </a:prstGeom>
              <a:grpFill/>
              <a:ln w="12700">
                <a:noFill/>
                <a:prstDash val="solid"/>
              </a:ln>
            </p:spPr>
          </p:sp>
          <p:sp>
            <p:nvSpPr>
              <p:cNvPr id="86" name="Shape 52"/>
              <p:cNvSpPr/>
              <p:nvPr/>
            </p:nvSpPr>
            <p:spPr>
              <a:xfrm>
                <a:off x="7128712" y="5108400"/>
                <a:ext cx="198000" cy="36000"/>
              </a:xfrm>
              <a:prstGeom prst="rect">
                <a:avLst/>
              </a:prstGeom>
              <a:grpFill/>
              <a:ln w="12700">
                <a:noFill/>
                <a:prstDash val="solid"/>
              </a:ln>
            </p:spPr>
          </p:sp>
          <p:sp>
            <p:nvSpPr>
              <p:cNvPr id="87" name="Shape 52"/>
              <p:cNvSpPr/>
              <p:nvPr/>
            </p:nvSpPr>
            <p:spPr>
              <a:xfrm>
                <a:off x="7326712" y="5108400"/>
                <a:ext cx="198000" cy="36000"/>
              </a:xfrm>
              <a:prstGeom prst="rect">
                <a:avLst/>
              </a:prstGeom>
              <a:grpFill/>
              <a:ln w="12700">
                <a:noFill/>
                <a:prstDash val="solid"/>
              </a:ln>
            </p:spPr>
          </p:sp>
          <p:sp>
            <p:nvSpPr>
              <p:cNvPr id="88" name="Shape 52"/>
              <p:cNvSpPr/>
              <p:nvPr/>
            </p:nvSpPr>
            <p:spPr>
              <a:xfrm>
                <a:off x="7524712" y="5108400"/>
                <a:ext cx="198000" cy="36000"/>
              </a:xfrm>
              <a:prstGeom prst="rect">
                <a:avLst/>
              </a:prstGeom>
              <a:grpFill/>
              <a:ln w="12700">
                <a:noFill/>
                <a:prstDash val="solid"/>
              </a:ln>
            </p:spPr>
          </p:sp>
          <p:sp>
            <p:nvSpPr>
              <p:cNvPr id="89" name="Shape 52"/>
              <p:cNvSpPr/>
              <p:nvPr/>
            </p:nvSpPr>
            <p:spPr>
              <a:xfrm>
                <a:off x="7722712" y="5108400"/>
                <a:ext cx="198000" cy="36000"/>
              </a:xfrm>
              <a:prstGeom prst="rect">
                <a:avLst/>
              </a:prstGeom>
              <a:grpFill/>
              <a:ln w="12700">
                <a:noFill/>
                <a:prstDash val="solid"/>
              </a:ln>
            </p:spPr>
          </p:sp>
          <p:sp>
            <p:nvSpPr>
              <p:cNvPr id="90" name="Shape 52"/>
              <p:cNvSpPr/>
              <p:nvPr/>
            </p:nvSpPr>
            <p:spPr>
              <a:xfrm>
                <a:off x="7920712" y="5109048"/>
                <a:ext cx="198000" cy="36000"/>
              </a:xfrm>
              <a:prstGeom prst="rect">
                <a:avLst/>
              </a:prstGeom>
              <a:grpFill/>
              <a:ln w="12700">
                <a:noFill/>
                <a:prstDash val="solid"/>
              </a:ln>
            </p:spPr>
          </p:sp>
          <p:sp>
            <p:nvSpPr>
              <p:cNvPr id="91" name="Shape 52"/>
              <p:cNvSpPr/>
              <p:nvPr/>
            </p:nvSpPr>
            <p:spPr>
              <a:xfrm>
                <a:off x="8118712" y="5109048"/>
                <a:ext cx="198000" cy="36000"/>
              </a:xfrm>
              <a:prstGeom prst="rect">
                <a:avLst/>
              </a:prstGeom>
              <a:grpFill/>
              <a:ln w="12700">
                <a:noFill/>
                <a:prstDash val="solid"/>
              </a:ln>
            </p:spPr>
          </p:sp>
          <p:sp>
            <p:nvSpPr>
              <p:cNvPr id="92" name="Shape 52"/>
              <p:cNvSpPr/>
              <p:nvPr/>
            </p:nvSpPr>
            <p:spPr>
              <a:xfrm>
                <a:off x="8316712" y="5109048"/>
                <a:ext cx="198000" cy="36000"/>
              </a:xfrm>
              <a:prstGeom prst="rect">
                <a:avLst/>
              </a:prstGeom>
              <a:grpFill/>
              <a:ln w="12700">
                <a:noFill/>
                <a:prstDash val="solid"/>
              </a:ln>
            </p:spPr>
          </p:sp>
          <p:sp>
            <p:nvSpPr>
              <p:cNvPr id="93" name="Shape 52"/>
              <p:cNvSpPr/>
              <p:nvPr/>
            </p:nvSpPr>
            <p:spPr>
              <a:xfrm>
                <a:off x="8514712" y="5109048"/>
                <a:ext cx="198000" cy="36000"/>
              </a:xfrm>
              <a:prstGeom prst="rect">
                <a:avLst/>
              </a:prstGeom>
              <a:grpFill/>
              <a:ln w="12700">
                <a:noFill/>
                <a:prstDash val="solid"/>
              </a:ln>
            </p:spPr>
          </p:sp>
          <p:sp>
            <p:nvSpPr>
              <p:cNvPr id="94" name="Shape 52"/>
              <p:cNvSpPr/>
              <p:nvPr/>
            </p:nvSpPr>
            <p:spPr>
              <a:xfrm>
                <a:off x="8712712" y="5109048"/>
                <a:ext cx="198000" cy="36000"/>
              </a:xfrm>
              <a:prstGeom prst="rect">
                <a:avLst/>
              </a:prstGeom>
              <a:grpFill/>
              <a:ln w="12700">
                <a:noFill/>
                <a:prstDash val="solid"/>
              </a:ln>
            </p:spPr>
          </p:sp>
          <p:sp>
            <p:nvSpPr>
              <p:cNvPr id="95"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FF2D78"/>
          </a:solidFill>
          <a:ln w="12700">
            <a:solidFill>
              <a:srgbClr val="FF2D78"/>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TUI — Touch User Interface</a:t>
            </a:r>
            <a:endParaRPr lang="en-US" sz="2200" dirty="0"/>
          </a:p>
        </p:txBody>
      </p:sp>
      <p:sp>
        <p:nvSpPr>
          <p:cNvPr id="4" name="Shape 2"/>
          <p:cNvSpPr/>
          <p:nvPr/>
        </p:nvSpPr>
        <p:spPr>
          <a:xfrm>
            <a:off x="320040" y="960120"/>
            <a:ext cx="1920240" cy="914400"/>
          </a:xfrm>
          <a:prstGeom prst="rect">
            <a:avLst/>
          </a:prstGeom>
          <a:solidFill>
            <a:srgbClr val="112233"/>
          </a:solidFill>
          <a:ln w="12700">
            <a:solidFill>
              <a:srgbClr val="1A3050"/>
            </a:solidFill>
            <a:prstDash val="solid"/>
          </a:ln>
        </p:spPr>
      </p:sp>
      <p:sp>
        <p:nvSpPr>
          <p:cNvPr id="5" name="Shape 3"/>
          <p:cNvSpPr/>
          <p:nvPr/>
        </p:nvSpPr>
        <p:spPr>
          <a:xfrm>
            <a:off x="320040" y="960120"/>
            <a:ext cx="1920240" cy="45720"/>
          </a:xfrm>
          <a:prstGeom prst="rect">
            <a:avLst/>
          </a:prstGeom>
          <a:solidFill>
            <a:srgbClr val="FF2D78"/>
          </a:solidFill>
          <a:ln w="12700">
            <a:solidFill>
              <a:srgbClr val="FF2D78"/>
            </a:solidFill>
            <a:prstDash val="solid"/>
          </a:ln>
        </p:spPr>
      </p:sp>
      <p:sp>
        <p:nvSpPr>
          <p:cNvPr id="6" name="Text 4"/>
          <p:cNvSpPr/>
          <p:nvPr/>
        </p:nvSpPr>
        <p:spPr>
          <a:xfrm>
            <a:off x="411480" y="1097280"/>
            <a:ext cx="1737360" cy="274320"/>
          </a:xfrm>
          <a:prstGeom prst="rect">
            <a:avLst/>
          </a:prstGeom>
          <a:noFill/>
          <a:ln/>
        </p:spPr>
        <p:txBody>
          <a:bodyPr wrap="square" lIns="0" tIns="0" rIns="0" bIns="0" rtlCol="0" anchor="ctr"/>
          <a:lstStyle/>
          <a:p>
            <a:pPr marL="0" indent="0" algn="ctr">
              <a:buNone/>
            </a:pPr>
            <a:r>
              <a:rPr lang="en-US" sz="1200" b="1" dirty="0">
                <a:solidFill>
                  <a:srgbClr val="FFFFFF"/>
                </a:solidFill>
              </a:rPr>
              <a:t>Tap</a:t>
            </a:r>
            <a:endParaRPr lang="en-US" sz="1200" dirty="0"/>
          </a:p>
        </p:txBody>
      </p:sp>
      <p:sp>
        <p:nvSpPr>
          <p:cNvPr id="7" name="Text 5"/>
          <p:cNvSpPr/>
          <p:nvPr/>
        </p:nvSpPr>
        <p:spPr>
          <a:xfrm>
            <a:off x="411480" y="1417320"/>
            <a:ext cx="1737360" cy="320040"/>
          </a:xfrm>
          <a:prstGeom prst="rect">
            <a:avLst/>
          </a:prstGeom>
          <a:noFill/>
          <a:ln/>
        </p:spPr>
        <p:txBody>
          <a:bodyPr wrap="square" lIns="0" tIns="0" rIns="0" bIns="0" rtlCol="0" anchor="ctr"/>
          <a:lstStyle/>
          <a:p>
            <a:pPr marL="0" indent="0" algn="ctr">
              <a:buNone/>
            </a:pPr>
            <a:r>
              <a:rPr lang="en-US" sz="900" dirty="0">
                <a:solidFill>
                  <a:srgbClr val="8899AA"/>
                </a:solidFill>
              </a:rPr>
              <a:t>Pojedyncze dotknięcie</a:t>
            </a:r>
            <a:endParaRPr lang="en-US" sz="900" dirty="0"/>
          </a:p>
        </p:txBody>
      </p:sp>
      <p:sp>
        <p:nvSpPr>
          <p:cNvPr id="8" name="Shape 6"/>
          <p:cNvSpPr/>
          <p:nvPr/>
        </p:nvSpPr>
        <p:spPr>
          <a:xfrm>
            <a:off x="2404872" y="960120"/>
            <a:ext cx="1920240" cy="914400"/>
          </a:xfrm>
          <a:prstGeom prst="rect">
            <a:avLst/>
          </a:prstGeom>
          <a:solidFill>
            <a:srgbClr val="112233"/>
          </a:solidFill>
          <a:ln w="12700">
            <a:solidFill>
              <a:srgbClr val="1A3050"/>
            </a:solidFill>
            <a:prstDash val="solid"/>
          </a:ln>
        </p:spPr>
      </p:sp>
      <p:sp>
        <p:nvSpPr>
          <p:cNvPr id="9" name="Shape 7"/>
          <p:cNvSpPr/>
          <p:nvPr/>
        </p:nvSpPr>
        <p:spPr>
          <a:xfrm>
            <a:off x="2404872" y="960120"/>
            <a:ext cx="1920240" cy="45720"/>
          </a:xfrm>
          <a:prstGeom prst="rect">
            <a:avLst/>
          </a:prstGeom>
          <a:solidFill>
            <a:srgbClr val="FF2D78"/>
          </a:solidFill>
          <a:ln w="12700">
            <a:solidFill>
              <a:srgbClr val="FF2D78"/>
            </a:solidFill>
            <a:prstDash val="solid"/>
          </a:ln>
        </p:spPr>
      </p:sp>
      <p:sp>
        <p:nvSpPr>
          <p:cNvPr id="10" name="Text 8"/>
          <p:cNvSpPr/>
          <p:nvPr/>
        </p:nvSpPr>
        <p:spPr>
          <a:xfrm>
            <a:off x="2496312" y="1097280"/>
            <a:ext cx="1737360" cy="274320"/>
          </a:xfrm>
          <a:prstGeom prst="rect">
            <a:avLst/>
          </a:prstGeom>
          <a:noFill/>
          <a:ln/>
        </p:spPr>
        <p:txBody>
          <a:bodyPr wrap="square" lIns="0" tIns="0" rIns="0" bIns="0" rtlCol="0" anchor="ctr"/>
          <a:lstStyle/>
          <a:p>
            <a:pPr marL="0" indent="0" algn="ctr">
              <a:buNone/>
            </a:pPr>
            <a:r>
              <a:rPr lang="en-US" sz="1200" b="1" dirty="0">
                <a:solidFill>
                  <a:srgbClr val="FFFFFF"/>
                </a:solidFill>
              </a:rPr>
              <a:t>Swipe</a:t>
            </a:r>
            <a:endParaRPr lang="en-US" sz="1200" dirty="0"/>
          </a:p>
        </p:txBody>
      </p:sp>
      <p:sp>
        <p:nvSpPr>
          <p:cNvPr id="11" name="Text 9"/>
          <p:cNvSpPr/>
          <p:nvPr/>
        </p:nvSpPr>
        <p:spPr>
          <a:xfrm>
            <a:off x="2496312" y="1417320"/>
            <a:ext cx="1737360" cy="320040"/>
          </a:xfrm>
          <a:prstGeom prst="rect">
            <a:avLst/>
          </a:prstGeom>
          <a:noFill/>
          <a:ln/>
        </p:spPr>
        <p:txBody>
          <a:bodyPr wrap="square" lIns="0" tIns="0" rIns="0" bIns="0" rtlCol="0" anchor="ctr"/>
          <a:lstStyle/>
          <a:p>
            <a:pPr marL="0" indent="0" algn="ctr">
              <a:buNone/>
            </a:pPr>
            <a:r>
              <a:rPr lang="en-US" sz="900" dirty="0">
                <a:solidFill>
                  <a:srgbClr val="8899AA"/>
                </a:solidFill>
              </a:rPr>
              <a:t>Przesunięcie palcem</a:t>
            </a:r>
            <a:endParaRPr lang="en-US" sz="900" dirty="0"/>
          </a:p>
        </p:txBody>
      </p:sp>
      <p:sp>
        <p:nvSpPr>
          <p:cNvPr id="12" name="Shape 10"/>
          <p:cNvSpPr/>
          <p:nvPr/>
        </p:nvSpPr>
        <p:spPr>
          <a:xfrm>
            <a:off x="320040" y="1984248"/>
            <a:ext cx="1920240" cy="914400"/>
          </a:xfrm>
          <a:prstGeom prst="rect">
            <a:avLst/>
          </a:prstGeom>
          <a:solidFill>
            <a:srgbClr val="112233"/>
          </a:solidFill>
          <a:ln w="12700">
            <a:solidFill>
              <a:srgbClr val="1A3050"/>
            </a:solidFill>
            <a:prstDash val="solid"/>
          </a:ln>
        </p:spPr>
      </p:sp>
      <p:sp>
        <p:nvSpPr>
          <p:cNvPr id="13" name="Shape 11"/>
          <p:cNvSpPr/>
          <p:nvPr/>
        </p:nvSpPr>
        <p:spPr>
          <a:xfrm>
            <a:off x="320040" y="1984248"/>
            <a:ext cx="1920240" cy="45720"/>
          </a:xfrm>
          <a:prstGeom prst="rect">
            <a:avLst/>
          </a:prstGeom>
          <a:solidFill>
            <a:srgbClr val="FF2D78"/>
          </a:solidFill>
          <a:ln w="12700">
            <a:solidFill>
              <a:srgbClr val="FF2D78"/>
            </a:solidFill>
            <a:prstDash val="solid"/>
          </a:ln>
        </p:spPr>
      </p:sp>
      <p:sp>
        <p:nvSpPr>
          <p:cNvPr id="14" name="Text 12"/>
          <p:cNvSpPr/>
          <p:nvPr/>
        </p:nvSpPr>
        <p:spPr>
          <a:xfrm>
            <a:off x="411480" y="2121408"/>
            <a:ext cx="1737360" cy="274320"/>
          </a:xfrm>
          <a:prstGeom prst="rect">
            <a:avLst/>
          </a:prstGeom>
          <a:noFill/>
          <a:ln/>
        </p:spPr>
        <p:txBody>
          <a:bodyPr wrap="square" lIns="0" tIns="0" rIns="0" bIns="0" rtlCol="0" anchor="ctr"/>
          <a:lstStyle/>
          <a:p>
            <a:pPr marL="0" indent="0" algn="ctr">
              <a:buNone/>
            </a:pPr>
            <a:r>
              <a:rPr lang="en-US" sz="1200" b="1" dirty="0">
                <a:solidFill>
                  <a:srgbClr val="FFFFFF"/>
                </a:solidFill>
              </a:rPr>
              <a:t>Pinch</a:t>
            </a:r>
            <a:endParaRPr lang="en-US" sz="1200" dirty="0"/>
          </a:p>
        </p:txBody>
      </p:sp>
      <p:sp>
        <p:nvSpPr>
          <p:cNvPr id="15" name="Text 13"/>
          <p:cNvSpPr/>
          <p:nvPr/>
        </p:nvSpPr>
        <p:spPr>
          <a:xfrm>
            <a:off x="411480" y="2441448"/>
            <a:ext cx="1737360" cy="320040"/>
          </a:xfrm>
          <a:prstGeom prst="rect">
            <a:avLst/>
          </a:prstGeom>
          <a:noFill/>
          <a:ln/>
        </p:spPr>
        <p:txBody>
          <a:bodyPr wrap="square" lIns="0" tIns="0" rIns="0" bIns="0" rtlCol="0" anchor="ctr"/>
          <a:lstStyle/>
          <a:p>
            <a:pPr marL="0" indent="0" algn="ctr">
              <a:buNone/>
            </a:pPr>
            <a:r>
              <a:rPr lang="en-US" sz="900" dirty="0">
                <a:solidFill>
                  <a:srgbClr val="8899AA"/>
                </a:solidFill>
              </a:rPr>
              <a:t>Szczypty do skalowania</a:t>
            </a:r>
            <a:endParaRPr lang="en-US" sz="900" dirty="0"/>
          </a:p>
        </p:txBody>
      </p:sp>
      <p:sp>
        <p:nvSpPr>
          <p:cNvPr id="16" name="Shape 14"/>
          <p:cNvSpPr/>
          <p:nvPr/>
        </p:nvSpPr>
        <p:spPr>
          <a:xfrm>
            <a:off x="2404872" y="1984248"/>
            <a:ext cx="1920240" cy="914400"/>
          </a:xfrm>
          <a:prstGeom prst="rect">
            <a:avLst/>
          </a:prstGeom>
          <a:solidFill>
            <a:srgbClr val="112233"/>
          </a:solidFill>
          <a:ln w="12700">
            <a:solidFill>
              <a:srgbClr val="1A3050"/>
            </a:solidFill>
            <a:prstDash val="solid"/>
          </a:ln>
        </p:spPr>
      </p:sp>
      <p:sp>
        <p:nvSpPr>
          <p:cNvPr id="17" name="Shape 15"/>
          <p:cNvSpPr/>
          <p:nvPr/>
        </p:nvSpPr>
        <p:spPr>
          <a:xfrm>
            <a:off x="2404872" y="1984248"/>
            <a:ext cx="1920240" cy="45720"/>
          </a:xfrm>
          <a:prstGeom prst="rect">
            <a:avLst/>
          </a:prstGeom>
          <a:solidFill>
            <a:srgbClr val="FF2D78"/>
          </a:solidFill>
          <a:ln w="12700">
            <a:solidFill>
              <a:srgbClr val="FF2D78"/>
            </a:solidFill>
            <a:prstDash val="solid"/>
          </a:ln>
        </p:spPr>
      </p:sp>
      <p:sp>
        <p:nvSpPr>
          <p:cNvPr id="18" name="Text 16"/>
          <p:cNvSpPr/>
          <p:nvPr/>
        </p:nvSpPr>
        <p:spPr>
          <a:xfrm>
            <a:off x="2496312" y="2121408"/>
            <a:ext cx="1737360" cy="274320"/>
          </a:xfrm>
          <a:prstGeom prst="rect">
            <a:avLst/>
          </a:prstGeom>
          <a:noFill/>
          <a:ln/>
        </p:spPr>
        <p:txBody>
          <a:bodyPr wrap="square" lIns="0" tIns="0" rIns="0" bIns="0" rtlCol="0" anchor="ctr"/>
          <a:lstStyle/>
          <a:p>
            <a:pPr marL="0" indent="0" algn="ctr">
              <a:buNone/>
            </a:pPr>
            <a:r>
              <a:rPr lang="en-US" sz="1200" b="1" dirty="0">
                <a:solidFill>
                  <a:srgbClr val="FFFFFF"/>
                </a:solidFill>
              </a:rPr>
              <a:t>Long Press</a:t>
            </a:r>
            <a:endParaRPr lang="en-US" sz="1200" dirty="0"/>
          </a:p>
        </p:txBody>
      </p:sp>
      <p:sp>
        <p:nvSpPr>
          <p:cNvPr id="19" name="Text 17"/>
          <p:cNvSpPr/>
          <p:nvPr/>
        </p:nvSpPr>
        <p:spPr>
          <a:xfrm>
            <a:off x="2496312" y="2441448"/>
            <a:ext cx="1737360" cy="320040"/>
          </a:xfrm>
          <a:prstGeom prst="rect">
            <a:avLst/>
          </a:prstGeom>
          <a:noFill/>
          <a:ln/>
        </p:spPr>
        <p:txBody>
          <a:bodyPr wrap="square" lIns="0" tIns="0" rIns="0" bIns="0" rtlCol="0" anchor="ctr"/>
          <a:lstStyle/>
          <a:p>
            <a:pPr marL="0" indent="0" algn="ctr">
              <a:buNone/>
            </a:pPr>
            <a:r>
              <a:rPr lang="en-US" sz="900" dirty="0">
                <a:solidFill>
                  <a:srgbClr val="8899AA"/>
                </a:solidFill>
              </a:rPr>
              <a:t>Przytrzymanie</a:t>
            </a:r>
            <a:endParaRPr lang="en-US" sz="900" dirty="0"/>
          </a:p>
        </p:txBody>
      </p:sp>
      <p:sp>
        <p:nvSpPr>
          <p:cNvPr id="20" name="Shape 18"/>
          <p:cNvSpPr/>
          <p:nvPr/>
        </p:nvSpPr>
        <p:spPr>
          <a:xfrm>
            <a:off x="320040" y="3017520"/>
            <a:ext cx="1920240" cy="713232"/>
          </a:xfrm>
          <a:prstGeom prst="rect">
            <a:avLst/>
          </a:prstGeom>
          <a:solidFill>
            <a:srgbClr val="112233"/>
          </a:solidFill>
          <a:ln w="12700">
            <a:solidFill>
              <a:srgbClr val="00D4FF"/>
            </a:solidFill>
            <a:prstDash val="solid"/>
          </a:ln>
        </p:spPr>
      </p:sp>
      <p:sp>
        <p:nvSpPr>
          <p:cNvPr id="21" name="Text 19"/>
          <p:cNvSpPr/>
          <p:nvPr/>
        </p:nvSpPr>
        <p:spPr>
          <a:xfrm>
            <a:off x="320040" y="3108960"/>
            <a:ext cx="1920240" cy="392278"/>
          </a:xfrm>
          <a:prstGeom prst="rect">
            <a:avLst/>
          </a:prstGeom>
          <a:noFill/>
          <a:ln/>
        </p:spPr>
        <p:txBody>
          <a:bodyPr wrap="square" lIns="0" tIns="0" rIns="0" bIns="0" rtlCol="0" anchor="ctr"/>
          <a:lstStyle/>
          <a:p>
            <a:pPr marL="0" indent="0" algn="ctr">
              <a:buNone/>
            </a:pPr>
            <a:r>
              <a:rPr lang="en-US" sz="2400" b="1" dirty="0">
                <a:solidFill>
                  <a:srgbClr val="00D4FF"/>
                </a:solidFill>
              </a:rPr>
              <a:t>44px</a:t>
            </a:r>
            <a:endParaRPr lang="en-US" sz="2400" dirty="0"/>
          </a:p>
        </p:txBody>
      </p:sp>
      <p:sp>
        <p:nvSpPr>
          <p:cNvPr id="22" name="Text 20"/>
          <p:cNvSpPr/>
          <p:nvPr/>
        </p:nvSpPr>
        <p:spPr>
          <a:xfrm>
            <a:off x="320040" y="3445459"/>
            <a:ext cx="1920240" cy="271028"/>
          </a:xfrm>
          <a:prstGeom prst="rect">
            <a:avLst/>
          </a:prstGeom>
          <a:noFill/>
          <a:ln/>
        </p:spPr>
        <p:txBody>
          <a:bodyPr wrap="square" lIns="0" tIns="0" rIns="0" bIns="0" rtlCol="0" anchor="ctr"/>
          <a:lstStyle/>
          <a:p>
            <a:pPr marL="0" indent="0" algn="ctr">
              <a:buNone/>
            </a:pPr>
            <a:r>
              <a:rPr lang="en-US" sz="850" dirty="0">
                <a:solidFill>
                  <a:srgbClr val="8899AA"/>
                </a:solidFill>
              </a:rPr>
              <a:t>min. cel dotykowy (iOS)</a:t>
            </a:r>
            <a:endParaRPr lang="en-US" sz="850" dirty="0"/>
          </a:p>
        </p:txBody>
      </p:sp>
      <p:sp>
        <p:nvSpPr>
          <p:cNvPr id="23" name="Shape 21"/>
          <p:cNvSpPr/>
          <p:nvPr/>
        </p:nvSpPr>
        <p:spPr>
          <a:xfrm>
            <a:off x="2404872" y="3017520"/>
            <a:ext cx="1920240" cy="713232"/>
          </a:xfrm>
          <a:prstGeom prst="rect">
            <a:avLst/>
          </a:prstGeom>
          <a:solidFill>
            <a:srgbClr val="112233"/>
          </a:solidFill>
          <a:ln w="12700">
            <a:solidFill>
              <a:srgbClr val="FF2D78"/>
            </a:solidFill>
            <a:prstDash val="solid"/>
          </a:ln>
        </p:spPr>
      </p:sp>
      <p:sp>
        <p:nvSpPr>
          <p:cNvPr id="24" name="Text 22"/>
          <p:cNvSpPr/>
          <p:nvPr/>
        </p:nvSpPr>
        <p:spPr>
          <a:xfrm>
            <a:off x="2404872" y="3108960"/>
            <a:ext cx="1920240" cy="392278"/>
          </a:xfrm>
          <a:prstGeom prst="rect">
            <a:avLst/>
          </a:prstGeom>
          <a:noFill/>
          <a:ln/>
        </p:spPr>
        <p:txBody>
          <a:bodyPr wrap="square" lIns="0" tIns="0" rIns="0" bIns="0" rtlCol="0" anchor="ctr"/>
          <a:lstStyle/>
          <a:p>
            <a:pPr marL="0" indent="0" algn="ctr">
              <a:buNone/>
            </a:pPr>
            <a:r>
              <a:rPr lang="en-US" sz="2400" b="1" dirty="0">
                <a:solidFill>
                  <a:srgbClr val="FF2D78"/>
                </a:solidFill>
              </a:rPr>
              <a:t>48dp</a:t>
            </a:r>
            <a:endParaRPr lang="en-US" sz="2400" dirty="0"/>
          </a:p>
        </p:txBody>
      </p:sp>
      <p:sp>
        <p:nvSpPr>
          <p:cNvPr id="25" name="Text 23"/>
          <p:cNvSpPr/>
          <p:nvPr/>
        </p:nvSpPr>
        <p:spPr>
          <a:xfrm>
            <a:off x="2404872" y="3445459"/>
            <a:ext cx="1920240" cy="271028"/>
          </a:xfrm>
          <a:prstGeom prst="rect">
            <a:avLst/>
          </a:prstGeom>
          <a:noFill/>
          <a:ln/>
        </p:spPr>
        <p:txBody>
          <a:bodyPr wrap="square" lIns="0" tIns="0" rIns="0" bIns="0" rtlCol="0" anchor="ctr"/>
          <a:lstStyle/>
          <a:p>
            <a:pPr marL="0" indent="0" algn="ctr">
              <a:buNone/>
            </a:pPr>
            <a:r>
              <a:rPr lang="en-US" sz="850" dirty="0">
                <a:solidFill>
                  <a:srgbClr val="8899AA"/>
                </a:solidFill>
              </a:rPr>
              <a:t>min. cel dotykowy (Android)</a:t>
            </a:r>
            <a:endParaRPr lang="en-US" sz="850" dirty="0"/>
          </a:p>
        </p:txBody>
      </p:sp>
      <p:sp>
        <p:nvSpPr>
          <p:cNvPr id="26" name="Shape 24"/>
          <p:cNvSpPr/>
          <p:nvPr/>
        </p:nvSpPr>
        <p:spPr>
          <a:xfrm>
            <a:off x="4754880" y="914400"/>
            <a:ext cx="4069080" cy="3246120"/>
          </a:xfrm>
          <a:prstGeom prst="rect">
            <a:avLst/>
          </a:prstGeom>
          <a:solidFill>
            <a:srgbClr val="112233"/>
          </a:solidFill>
          <a:ln w="12700">
            <a:solidFill>
              <a:srgbClr val="1A3050"/>
            </a:solidFill>
            <a:prstDash val="solid"/>
          </a:ln>
        </p:spPr>
      </p:sp>
      <p:sp>
        <p:nvSpPr>
          <p:cNvPr id="27" name="Shape 25"/>
          <p:cNvSpPr/>
          <p:nvPr/>
        </p:nvSpPr>
        <p:spPr>
          <a:xfrm>
            <a:off x="4754880" y="914400"/>
            <a:ext cx="45720" cy="3246120"/>
          </a:xfrm>
          <a:prstGeom prst="rect">
            <a:avLst/>
          </a:prstGeom>
          <a:solidFill>
            <a:srgbClr val="FF2D78"/>
          </a:solidFill>
          <a:ln w="12700">
            <a:solidFill>
              <a:srgbClr val="FF2D78"/>
            </a:solidFill>
            <a:prstDash val="solid"/>
          </a:ln>
        </p:spPr>
      </p:sp>
      <p:sp>
        <p:nvSpPr>
          <p:cNvPr id="28" name="Text 26"/>
          <p:cNvSpPr/>
          <p:nvPr/>
        </p:nvSpPr>
        <p:spPr>
          <a:xfrm>
            <a:off x="4892040" y="987552"/>
            <a:ext cx="3794760" cy="274320"/>
          </a:xfrm>
          <a:prstGeom prst="rect">
            <a:avLst/>
          </a:prstGeom>
          <a:noFill/>
          <a:ln/>
        </p:spPr>
        <p:txBody>
          <a:bodyPr wrap="square" lIns="0" tIns="0" rIns="0" bIns="0" rtlCol="0" anchor="ctr"/>
          <a:lstStyle/>
          <a:p>
            <a:pPr marL="0" indent="0">
              <a:buNone/>
            </a:pPr>
            <a:r>
              <a:rPr lang="en-US" sz="1200" b="1" dirty="0">
                <a:solidFill>
                  <a:srgbClr val="FFFFFF"/>
                </a:solidFill>
              </a:rPr>
              <a:t>Strefa Kciuka</a:t>
            </a:r>
            <a:endParaRPr lang="en-US" sz="1200" dirty="0"/>
          </a:p>
        </p:txBody>
      </p:sp>
      <p:sp>
        <p:nvSpPr>
          <p:cNvPr id="29" name="Text 27"/>
          <p:cNvSpPr/>
          <p:nvPr/>
        </p:nvSpPr>
        <p:spPr>
          <a:xfrm>
            <a:off x="4892040" y="1307592"/>
            <a:ext cx="3794760" cy="457200"/>
          </a:xfrm>
          <a:prstGeom prst="rect">
            <a:avLst/>
          </a:prstGeom>
          <a:noFill/>
          <a:ln/>
        </p:spPr>
        <p:txBody>
          <a:bodyPr wrap="square" lIns="0" tIns="0" rIns="0" bIns="0" rtlCol="0" anchor="ctr"/>
          <a:lstStyle/>
          <a:p>
            <a:pPr marL="0" indent="0">
              <a:buNone/>
            </a:pPr>
            <a:r>
              <a:rPr lang="en-US" sz="950" dirty="0">
                <a:solidFill>
                  <a:srgbClr val="8899AA"/>
                </a:solidFill>
              </a:rPr>
              <a:t>Użytkownicy trzymają telefon jedną ręką i obsługują kciukiem. Ekran dzieli się na trzy strefy:</a:t>
            </a:r>
            <a:endParaRPr lang="en-US" sz="950" dirty="0"/>
          </a:p>
        </p:txBody>
      </p:sp>
      <p:sp>
        <p:nvSpPr>
          <p:cNvPr id="30" name="Shape 28"/>
          <p:cNvSpPr/>
          <p:nvPr/>
        </p:nvSpPr>
        <p:spPr>
          <a:xfrm>
            <a:off x="4892040" y="1901952"/>
            <a:ext cx="274320" cy="502920"/>
          </a:xfrm>
          <a:prstGeom prst="rect">
            <a:avLst/>
          </a:prstGeom>
          <a:solidFill>
            <a:srgbClr val="00E676"/>
          </a:solidFill>
          <a:ln w="12700">
            <a:solidFill>
              <a:srgbClr val="00E676"/>
            </a:solidFill>
            <a:prstDash val="solid"/>
          </a:ln>
        </p:spPr>
      </p:sp>
      <p:sp>
        <p:nvSpPr>
          <p:cNvPr id="31" name="Text 29"/>
          <p:cNvSpPr/>
          <p:nvPr/>
        </p:nvSpPr>
        <p:spPr>
          <a:xfrm>
            <a:off x="4892040" y="1901952"/>
            <a:ext cx="274320" cy="502920"/>
          </a:xfrm>
          <a:prstGeom prst="rect">
            <a:avLst/>
          </a:prstGeom>
          <a:noFill/>
          <a:ln/>
        </p:spPr>
        <p:txBody>
          <a:bodyPr wrap="square" lIns="0" tIns="0" rIns="0" bIns="0" rtlCol="0" anchor="ctr"/>
          <a:lstStyle/>
          <a:p>
            <a:pPr marL="0" indent="0" algn="ctr">
              <a:buNone/>
            </a:pPr>
            <a:r>
              <a:rPr lang="en-US" sz="1400" b="1" dirty="0">
                <a:solidFill>
                  <a:srgbClr val="0D1B2A"/>
                </a:solidFill>
              </a:rPr>
              <a:t>1</a:t>
            </a:r>
            <a:endParaRPr lang="en-US" sz="1400" dirty="0"/>
          </a:p>
        </p:txBody>
      </p:sp>
      <p:sp>
        <p:nvSpPr>
          <p:cNvPr id="32" name="Text 30"/>
          <p:cNvSpPr/>
          <p:nvPr/>
        </p:nvSpPr>
        <p:spPr>
          <a:xfrm>
            <a:off x="5257800" y="1901952"/>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Łatwy Zasięg</a:t>
            </a:r>
            <a:endParaRPr lang="en-US" sz="1000" dirty="0"/>
          </a:p>
        </p:txBody>
      </p:sp>
      <p:sp>
        <p:nvSpPr>
          <p:cNvPr id="33" name="Text 31"/>
          <p:cNvSpPr/>
          <p:nvPr/>
        </p:nvSpPr>
        <p:spPr>
          <a:xfrm>
            <a:off x="5257800" y="2167128"/>
            <a:ext cx="3474720" cy="256032"/>
          </a:xfrm>
          <a:prstGeom prst="rect">
            <a:avLst/>
          </a:prstGeom>
          <a:noFill/>
          <a:ln/>
        </p:spPr>
        <p:txBody>
          <a:bodyPr wrap="square" lIns="0" tIns="0" rIns="0" bIns="0" rtlCol="0" anchor="ctr"/>
          <a:lstStyle/>
          <a:p>
            <a:pPr marL="0" indent="0">
              <a:buNone/>
            </a:pPr>
            <a:r>
              <a:rPr lang="en-US" sz="900" dirty="0">
                <a:solidFill>
                  <a:srgbClr val="8899AA"/>
                </a:solidFill>
              </a:rPr>
              <a:t>Dolna część ekranu — najczęściej używane elementy</a:t>
            </a:r>
            <a:endParaRPr lang="en-US" sz="900" dirty="0"/>
          </a:p>
        </p:txBody>
      </p:sp>
      <p:sp>
        <p:nvSpPr>
          <p:cNvPr id="34" name="Shape 32"/>
          <p:cNvSpPr/>
          <p:nvPr/>
        </p:nvSpPr>
        <p:spPr>
          <a:xfrm>
            <a:off x="4892040" y="2615184"/>
            <a:ext cx="274320" cy="502920"/>
          </a:xfrm>
          <a:prstGeom prst="rect">
            <a:avLst/>
          </a:prstGeom>
          <a:solidFill>
            <a:srgbClr val="FFD600"/>
          </a:solidFill>
          <a:ln w="12700">
            <a:solidFill>
              <a:srgbClr val="FFD600"/>
            </a:solidFill>
            <a:prstDash val="solid"/>
          </a:ln>
        </p:spPr>
      </p:sp>
      <p:sp>
        <p:nvSpPr>
          <p:cNvPr id="35" name="Text 33"/>
          <p:cNvSpPr/>
          <p:nvPr/>
        </p:nvSpPr>
        <p:spPr>
          <a:xfrm>
            <a:off x="4892040" y="2615184"/>
            <a:ext cx="274320" cy="502920"/>
          </a:xfrm>
          <a:prstGeom prst="rect">
            <a:avLst/>
          </a:prstGeom>
          <a:noFill/>
          <a:ln/>
        </p:spPr>
        <p:txBody>
          <a:bodyPr wrap="square" lIns="0" tIns="0" rIns="0" bIns="0" rtlCol="0" anchor="ctr"/>
          <a:lstStyle/>
          <a:p>
            <a:pPr marL="0" indent="0" algn="ctr">
              <a:buNone/>
            </a:pPr>
            <a:r>
              <a:rPr lang="en-US" sz="1400" b="1" dirty="0">
                <a:solidFill>
                  <a:srgbClr val="0D1B2A"/>
                </a:solidFill>
              </a:rPr>
              <a:t>2</a:t>
            </a:r>
            <a:endParaRPr lang="en-US" sz="1400" dirty="0"/>
          </a:p>
        </p:txBody>
      </p:sp>
      <p:sp>
        <p:nvSpPr>
          <p:cNvPr id="36" name="Text 34"/>
          <p:cNvSpPr/>
          <p:nvPr/>
        </p:nvSpPr>
        <p:spPr>
          <a:xfrm>
            <a:off x="5257800" y="2615184"/>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Strefa Rozciągania</a:t>
            </a:r>
            <a:endParaRPr lang="en-US" sz="1000" dirty="0"/>
          </a:p>
        </p:txBody>
      </p:sp>
      <p:sp>
        <p:nvSpPr>
          <p:cNvPr id="37" name="Text 35"/>
          <p:cNvSpPr/>
          <p:nvPr/>
        </p:nvSpPr>
        <p:spPr>
          <a:xfrm>
            <a:off x="5257800" y="2880360"/>
            <a:ext cx="3474720" cy="256032"/>
          </a:xfrm>
          <a:prstGeom prst="rect">
            <a:avLst/>
          </a:prstGeom>
          <a:noFill/>
          <a:ln/>
        </p:spPr>
        <p:txBody>
          <a:bodyPr wrap="square" lIns="0" tIns="0" rIns="0" bIns="0" rtlCol="0" anchor="ctr"/>
          <a:lstStyle/>
          <a:p>
            <a:pPr marL="0" indent="0">
              <a:buNone/>
            </a:pPr>
            <a:r>
              <a:rPr lang="en-US" sz="900" dirty="0">
                <a:solidFill>
                  <a:srgbClr val="8899AA"/>
                </a:solidFill>
              </a:rPr>
              <a:t>Środkowa część — wymaga wysiłku, ale osiągalna</a:t>
            </a:r>
            <a:endParaRPr lang="en-US" sz="900" dirty="0"/>
          </a:p>
        </p:txBody>
      </p:sp>
      <p:sp>
        <p:nvSpPr>
          <p:cNvPr id="38" name="Shape 36"/>
          <p:cNvSpPr/>
          <p:nvPr/>
        </p:nvSpPr>
        <p:spPr>
          <a:xfrm>
            <a:off x="4892040" y="3328416"/>
            <a:ext cx="274320" cy="502920"/>
          </a:xfrm>
          <a:prstGeom prst="rect">
            <a:avLst/>
          </a:prstGeom>
          <a:solidFill>
            <a:srgbClr val="FF9100"/>
          </a:solidFill>
          <a:ln w="12700">
            <a:solidFill>
              <a:srgbClr val="FF9100"/>
            </a:solidFill>
            <a:prstDash val="solid"/>
          </a:ln>
        </p:spPr>
      </p:sp>
      <p:sp>
        <p:nvSpPr>
          <p:cNvPr id="39" name="Text 37"/>
          <p:cNvSpPr/>
          <p:nvPr/>
        </p:nvSpPr>
        <p:spPr>
          <a:xfrm>
            <a:off x="4892040" y="3328416"/>
            <a:ext cx="274320" cy="502920"/>
          </a:xfrm>
          <a:prstGeom prst="rect">
            <a:avLst/>
          </a:prstGeom>
          <a:noFill/>
          <a:ln/>
        </p:spPr>
        <p:txBody>
          <a:bodyPr wrap="square" lIns="0" tIns="0" rIns="0" bIns="0" rtlCol="0" anchor="ctr"/>
          <a:lstStyle/>
          <a:p>
            <a:pPr marL="0" indent="0" algn="ctr">
              <a:buNone/>
            </a:pPr>
            <a:r>
              <a:rPr lang="en-US" sz="1400" b="1" dirty="0">
                <a:solidFill>
                  <a:srgbClr val="0D1B2A"/>
                </a:solidFill>
              </a:rPr>
              <a:t>3</a:t>
            </a:r>
            <a:endParaRPr lang="en-US" sz="1400" dirty="0"/>
          </a:p>
        </p:txBody>
      </p:sp>
      <p:sp>
        <p:nvSpPr>
          <p:cNvPr id="40" name="Text 38"/>
          <p:cNvSpPr/>
          <p:nvPr/>
        </p:nvSpPr>
        <p:spPr>
          <a:xfrm>
            <a:off x="5257800" y="3328416"/>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Trudny Zasięg</a:t>
            </a:r>
            <a:endParaRPr lang="en-US" sz="1000" dirty="0"/>
          </a:p>
        </p:txBody>
      </p:sp>
      <p:sp>
        <p:nvSpPr>
          <p:cNvPr id="41" name="Text 39"/>
          <p:cNvSpPr/>
          <p:nvPr/>
        </p:nvSpPr>
        <p:spPr>
          <a:xfrm>
            <a:off x="5257800" y="3593592"/>
            <a:ext cx="3474720" cy="256032"/>
          </a:xfrm>
          <a:prstGeom prst="rect">
            <a:avLst/>
          </a:prstGeom>
          <a:noFill/>
          <a:ln/>
        </p:spPr>
        <p:txBody>
          <a:bodyPr wrap="square" lIns="0" tIns="0" rIns="0" bIns="0" rtlCol="0" anchor="ctr"/>
          <a:lstStyle/>
          <a:p>
            <a:pPr marL="0" indent="0">
              <a:buNone/>
            </a:pPr>
            <a:r>
              <a:rPr lang="en-US" sz="900" dirty="0">
                <a:solidFill>
                  <a:srgbClr val="8899AA"/>
                </a:solidFill>
              </a:rPr>
              <a:t>Górna część ekranu — rzadko używane funkcje</a:t>
            </a:r>
            <a:endParaRPr lang="en-US" sz="900" dirty="0"/>
          </a:p>
        </p:txBody>
      </p:sp>
      <p:sp>
        <p:nvSpPr>
          <p:cNvPr id="44" name="Text 42"/>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11 / </a:t>
            </a:r>
            <a:r>
              <a:rPr lang="pl-PL" sz="800" dirty="0" smtClean="0">
                <a:solidFill>
                  <a:srgbClr val="8899AA"/>
                </a:solidFill>
              </a:rPr>
              <a:t>46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grpSp>
        <p:nvGrpSpPr>
          <p:cNvPr id="37" name="Grupa 36"/>
          <p:cNvGrpSpPr/>
          <p:nvPr/>
        </p:nvGrpSpPr>
        <p:grpSpPr>
          <a:xfrm>
            <a:off x="-2381" y="4884912"/>
            <a:ext cx="9146381" cy="260136"/>
            <a:chOff x="-2381" y="4884912"/>
            <a:chExt cx="9146381" cy="260136"/>
          </a:xfrm>
        </p:grpSpPr>
        <p:sp>
          <p:nvSpPr>
            <p:cNvPr id="38" name="Shape 52"/>
            <p:cNvSpPr/>
            <p:nvPr/>
          </p:nvSpPr>
          <p:spPr>
            <a:xfrm>
              <a:off x="0" y="4884912"/>
              <a:ext cx="9144000" cy="252000"/>
            </a:xfrm>
            <a:prstGeom prst="rect">
              <a:avLst/>
            </a:prstGeom>
            <a:solidFill>
              <a:srgbClr val="071523"/>
            </a:solidFill>
            <a:ln w="12700">
              <a:solidFill>
                <a:srgbClr val="071523"/>
              </a:solidFill>
              <a:prstDash val="solid"/>
            </a:ln>
          </p:spPr>
        </p:sp>
        <p:sp>
          <p:nvSpPr>
            <p:cNvPr id="39"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40" name="Grupa 39"/>
            <p:cNvGrpSpPr/>
            <p:nvPr/>
          </p:nvGrpSpPr>
          <p:grpSpPr>
            <a:xfrm>
              <a:off x="-2381" y="5099329"/>
              <a:ext cx="9146381" cy="45719"/>
              <a:chOff x="-2381" y="5107500"/>
              <a:chExt cx="9111093" cy="37548"/>
            </a:xfrm>
            <a:solidFill>
              <a:schemeClr val="tx1"/>
            </a:solidFill>
          </p:grpSpPr>
          <p:sp>
            <p:nvSpPr>
              <p:cNvPr id="41"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42"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43"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44"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45"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46"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47"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48"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49"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50"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2376000" y="5107500"/>
                <a:ext cx="198000" cy="36000"/>
              </a:xfrm>
              <a:prstGeom prst="rect">
                <a:avLst/>
              </a:prstGeom>
              <a:grpFill/>
              <a:ln w="12700">
                <a:noFill/>
                <a:prstDash val="solid"/>
              </a:ln>
            </p:spPr>
          </p:sp>
          <p:sp>
            <p:nvSpPr>
              <p:cNvPr id="54" name="Shape 52"/>
              <p:cNvSpPr/>
              <p:nvPr/>
            </p:nvSpPr>
            <p:spPr>
              <a:xfrm>
                <a:off x="2574000" y="5107500"/>
                <a:ext cx="198000" cy="36000"/>
              </a:xfrm>
              <a:prstGeom prst="rect">
                <a:avLst/>
              </a:prstGeom>
              <a:grpFill/>
              <a:ln w="12700">
                <a:noFill/>
                <a:prstDash val="solid"/>
              </a:ln>
            </p:spPr>
          </p:sp>
          <p:sp>
            <p:nvSpPr>
              <p:cNvPr id="55" name="Shape 52"/>
              <p:cNvSpPr/>
              <p:nvPr/>
            </p:nvSpPr>
            <p:spPr>
              <a:xfrm>
                <a:off x="2772712" y="5108400"/>
                <a:ext cx="198000" cy="36000"/>
              </a:xfrm>
              <a:prstGeom prst="rect">
                <a:avLst/>
              </a:prstGeom>
              <a:grpFill/>
              <a:ln w="12700">
                <a:noFill/>
                <a:prstDash val="solid"/>
              </a:ln>
            </p:spPr>
          </p:sp>
          <p:sp>
            <p:nvSpPr>
              <p:cNvPr id="56" name="Shape 52"/>
              <p:cNvSpPr/>
              <p:nvPr/>
            </p:nvSpPr>
            <p:spPr>
              <a:xfrm>
                <a:off x="2970712" y="5108400"/>
                <a:ext cx="198000" cy="36000"/>
              </a:xfrm>
              <a:prstGeom prst="rect">
                <a:avLst/>
              </a:prstGeom>
              <a:grpFill/>
              <a:ln w="12700">
                <a:noFill/>
                <a:prstDash val="solid"/>
              </a:ln>
            </p:spPr>
          </p:sp>
          <p:sp>
            <p:nvSpPr>
              <p:cNvPr id="57" name="Shape 52"/>
              <p:cNvSpPr/>
              <p:nvPr/>
            </p:nvSpPr>
            <p:spPr>
              <a:xfrm>
                <a:off x="3168712" y="5108400"/>
                <a:ext cx="198000" cy="36000"/>
              </a:xfrm>
              <a:prstGeom prst="rect">
                <a:avLst/>
              </a:prstGeom>
              <a:grpFill/>
              <a:ln w="12700">
                <a:noFill/>
                <a:prstDash val="solid"/>
              </a:ln>
            </p:spPr>
          </p:sp>
          <p:sp>
            <p:nvSpPr>
              <p:cNvPr id="58" name="Shape 52"/>
              <p:cNvSpPr/>
              <p:nvPr/>
            </p:nvSpPr>
            <p:spPr>
              <a:xfrm>
                <a:off x="3366712" y="5108400"/>
                <a:ext cx="198000" cy="36000"/>
              </a:xfrm>
              <a:prstGeom prst="rect">
                <a:avLst/>
              </a:prstGeom>
              <a:grpFill/>
              <a:ln w="12700">
                <a:noFill/>
                <a:prstDash val="solid"/>
              </a:ln>
            </p:spPr>
          </p:sp>
          <p:sp>
            <p:nvSpPr>
              <p:cNvPr id="59" name="Shape 52"/>
              <p:cNvSpPr/>
              <p:nvPr/>
            </p:nvSpPr>
            <p:spPr>
              <a:xfrm>
                <a:off x="3564712" y="5108400"/>
                <a:ext cx="198000" cy="36000"/>
              </a:xfrm>
              <a:prstGeom prst="rect">
                <a:avLst/>
              </a:prstGeom>
              <a:grpFill/>
              <a:ln w="12700">
                <a:noFill/>
                <a:prstDash val="solid"/>
              </a:ln>
            </p:spPr>
          </p:sp>
          <p:sp>
            <p:nvSpPr>
              <p:cNvPr id="60" name="Shape 52"/>
              <p:cNvSpPr/>
              <p:nvPr/>
            </p:nvSpPr>
            <p:spPr>
              <a:xfrm>
                <a:off x="3762712" y="5108400"/>
                <a:ext cx="198000" cy="36000"/>
              </a:xfrm>
              <a:prstGeom prst="rect">
                <a:avLst/>
              </a:prstGeom>
              <a:grpFill/>
              <a:ln w="12700">
                <a:noFill/>
                <a:prstDash val="solid"/>
              </a:ln>
            </p:spPr>
          </p:sp>
          <p:sp>
            <p:nvSpPr>
              <p:cNvPr id="61" name="Shape 52"/>
              <p:cNvSpPr/>
              <p:nvPr/>
            </p:nvSpPr>
            <p:spPr>
              <a:xfrm>
                <a:off x="3960712" y="5107530"/>
                <a:ext cx="198000" cy="36000"/>
              </a:xfrm>
              <a:prstGeom prst="rect">
                <a:avLst/>
              </a:prstGeom>
              <a:grpFill/>
              <a:ln w="12700">
                <a:noFill/>
                <a:prstDash val="solid"/>
              </a:ln>
            </p:spPr>
          </p:sp>
          <p:sp>
            <p:nvSpPr>
              <p:cNvPr id="62" name="Shape 52"/>
              <p:cNvSpPr/>
              <p:nvPr/>
            </p:nvSpPr>
            <p:spPr>
              <a:xfrm>
                <a:off x="4158712" y="5107500"/>
                <a:ext cx="198000" cy="36000"/>
              </a:xfrm>
              <a:prstGeom prst="rect">
                <a:avLst/>
              </a:prstGeom>
              <a:grpFill/>
              <a:ln w="12700">
                <a:noFill/>
                <a:prstDash val="solid"/>
              </a:ln>
            </p:spPr>
          </p:sp>
          <p:sp>
            <p:nvSpPr>
              <p:cNvPr id="63" name="Shape 52"/>
              <p:cNvSpPr/>
              <p:nvPr/>
            </p:nvSpPr>
            <p:spPr>
              <a:xfrm>
                <a:off x="4356712" y="5107500"/>
                <a:ext cx="198000" cy="36000"/>
              </a:xfrm>
              <a:prstGeom prst="rect">
                <a:avLst/>
              </a:prstGeom>
              <a:grpFill/>
              <a:ln w="12700">
                <a:noFill/>
                <a:prstDash val="solid"/>
              </a:ln>
            </p:spPr>
          </p:sp>
          <p:sp>
            <p:nvSpPr>
              <p:cNvPr id="64" name="Shape 52"/>
              <p:cNvSpPr/>
              <p:nvPr/>
            </p:nvSpPr>
            <p:spPr>
              <a:xfrm>
                <a:off x="4554712" y="5107500"/>
                <a:ext cx="198000" cy="36000"/>
              </a:xfrm>
              <a:prstGeom prst="rect">
                <a:avLst/>
              </a:prstGeom>
              <a:grpFill/>
              <a:ln w="12700">
                <a:noFill/>
                <a:prstDash val="solid"/>
              </a:ln>
            </p:spPr>
          </p:sp>
          <p:sp>
            <p:nvSpPr>
              <p:cNvPr id="65" name="Shape 52"/>
              <p:cNvSpPr/>
              <p:nvPr/>
            </p:nvSpPr>
            <p:spPr>
              <a:xfrm>
                <a:off x="4752712" y="5107500"/>
                <a:ext cx="198000" cy="36000"/>
              </a:xfrm>
              <a:prstGeom prst="rect">
                <a:avLst/>
              </a:prstGeom>
              <a:grpFill/>
              <a:ln w="12700">
                <a:noFill/>
                <a:prstDash val="solid"/>
              </a:ln>
            </p:spPr>
          </p:sp>
          <p:sp>
            <p:nvSpPr>
              <p:cNvPr id="66" name="Shape 52"/>
              <p:cNvSpPr/>
              <p:nvPr/>
            </p:nvSpPr>
            <p:spPr>
              <a:xfrm>
                <a:off x="4950712" y="5107500"/>
                <a:ext cx="198000" cy="36000"/>
              </a:xfrm>
              <a:prstGeom prst="rect">
                <a:avLst/>
              </a:prstGeom>
              <a:grpFill/>
              <a:ln w="12700">
                <a:noFill/>
                <a:prstDash val="solid"/>
              </a:ln>
            </p:spPr>
          </p:sp>
          <p:sp>
            <p:nvSpPr>
              <p:cNvPr id="67" name="Shape 52"/>
              <p:cNvSpPr/>
              <p:nvPr/>
            </p:nvSpPr>
            <p:spPr>
              <a:xfrm>
                <a:off x="5148712" y="5107500"/>
                <a:ext cx="198000" cy="36000"/>
              </a:xfrm>
              <a:prstGeom prst="rect">
                <a:avLst/>
              </a:prstGeom>
              <a:grpFill/>
              <a:ln w="12700">
                <a:noFill/>
                <a:prstDash val="solid"/>
              </a:ln>
            </p:spPr>
          </p:sp>
          <p:sp>
            <p:nvSpPr>
              <p:cNvPr id="68" name="Shape 52"/>
              <p:cNvSpPr/>
              <p:nvPr/>
            </p:nvSpPr>
            <p:spPr>
              <a:xfrm>
                <a:off x="5346712" y="5108400"/>
                <a:ext cx="198000" cy="36000"/>
              </a:xfrm>
              <a:prstGeom prst="rect">
                <a:avLst/>
              </a:prstGeom>
              <a:grpFill/>
              <a:ln w="12700">
                <a:noFill/>
                <a:prstDash val="solid"/>
              </a:ln>
            </p:spPr>
          </p:sp>
          <p:sp>
            <p:nvSpPr>
              <p:cNvPr id="69" name="Shape 52"/>
              <p:cNvSpPr/>
              <p:nvPr/>
            </p:nvSpPr>
            <p:spPr>
              <a:xfrm>
                <a:off x="5544712" y="5108400"/>
                <a:ext cx="198000" cy="36000"/>
              </a:xfrm>
              <a:prstGeom prst="rect">
                <a:avLst/>
              </a:prstGeom>
              <a:grpFill/>
              <a:ln w="12700">
                <a:noFill/>
                <a:prstDash val="solid"/>
              </a:ln>
            </p:spPr>
          </p:sp>
          <p:sp>
            <p:nvSpPr>
              <p:cNvPr id="70" name="Shape 52"/>
              <p:cNvSpPr/>
              <p:nvPr/>
            </p:nvSpPr>
            <p:spPr>
              <a:xfrm>
                <a:off x="5742712" y="5108400"/>
                <a:ext cx="198000" cy="36000"/>
              </a:xfrm>
              <a:prstGeom prst="rect">
                <a:avLst/>
              </a:prstGeom>
              <a:grpFill/>
              <a:ln w="12700">
                <a:noFill/>
                <a:prstDash val="solid"/>
              </a:ln>
            </p:spPr>
          </p:sp>
          <p:sp>
            <p:nvSpPr>
              <p:cNvPr id="71" name="Shape 52"/>
              <p:cNvSpPr/>
              <p:nvPr/>
            </p:nvSpPr>
            <p:spPr>
              <a:xfrm>
                <a:off x="5940712" y="5108400"/>
                <a:ext cx="198000" cy="36000"/>
              </a:xfrm>
              <a:prstGeom prst="rect">
                <a:avLst/>
              </a:prstGeom>
              <a:grpFill/>
              <a:ln w="12700">
                <a:noFill/>
                <a:prstDash val="solid"/>
              </a:ln>
            </p:spPr>
          </p:sp>
          <p:sp>
            <p:nvSpPr>
              <p:cNvPr id="72" name="Shape 52"/>
              <p:cNvSpPr/>
              <p:nvPr/>
            </p:nvSpPr>
            <p:spPr>
              <a:xfrm>
                <a:off x="6138712" y="5108400"/>
                <a:ext cx="198000" cy="36000"/>
              </a:xfrm>
              <a:prstGeom prst="rect">
                <a:avLst/>
              </a:prstGeom>
              <a:grpFill/>
              <a:ln w="12700">
                <a:noFill/>
                <a:prstDash val="solid"/>
              </a:ln>
            </p:spPr>
          </p:sp>
          <p:sp>
            <p:nvSpPr>
              <p:cNvPr id="73" name="Shape 52"/>
              <p:cNvSpPr/>
              <p:nvPr/>
            </p:nvSpPr>
            <p:spPr>
              <a:xfrm>
                <a:off x="6336712" y="5108400"/>
                <a:ext cx="198000" cy="36000"/>
              </a:xfrm>
              <a:prstGeom prst="rect">
                <a:avLst/>
              </a:prstGeom>
              <a:grpFill/>
              <a:ln w="12700">
                <a:noFill/>
                <a:prstDash val="solid"/>
              </a:ln>
            </p:spPr>
          </p:sp>
          <p:sp>
            <p:nvSpPr>
              <p:cNvPr id="74" name="Shape 52"/>
              <p:cNvSpPr/>
              <p:nvPr/>
            </p:nvSpPr>
            <p:spPr>
              <a:xfrm>
                <a:off x="6534712" y="5108400"/>
                <a:ext cx="198000" cy="36000"/>
              </a:xfrm>
              <a:prstGeom prst="rect">
                <a:avLst/>
              </a:prstGeom>
              <a:grpFill/>
              <a:ln w="12700">
                <a:noFill/>
                <a:prstDash val="solid"/>
              </a:ln>
            </p:spPr>
          </p:sp>
          <p:sp>
            <p:nvSpPr>
              <p:cNvPr id="75" name="Shape 52"/>
              <p:cNvSpPr/>
              <p:nvPr/>
            </p:nvSpPr>
            <p:spPr>
              <a:xfrm>
                <a:off x="6732712" y="5108400"/>
                <a:ext cx="198000" cy="36000"/>
              </a:xfrm>
              <a:prstGeom prst="rect">
                <a:avLst/>
              </a:prstGeom>
              <a:grpFill/>
              <a:ln w="12700">
                <a:noFill/>
                <a:prstDash val="solid"/>
              </a:ln>
            </p:spPr>
          </p:sp>
          <p:sp>
            <p:nvSpPr>
              <p:cNvPr id="76" name="Shape 52"/>
              <p:cNvSpPr/>
              <p:nvPr/>
            </p:nvSpPr>
            <p:spPr>
              <a:xfrm>
                <a:off x="6930712" y="5108400"/>
                <a:ext cx="198000" cy="36000"/>
              </a:xfrm>
              <a:prstGeom prst="rect">
                <a:avLst/>
              </a:prstGeom>
              <a:grpFill/>
              <a:ln w="12700">
                <a:noFill/>
                <a:prstDash val="solid"/>
              </a:ln>
            </p:spPr>
          </p:sp>
          <p:sp>
            <p:nvSpPr>
              <p:cNvPr id="77" name="Shape 52"/>
              <p:cNvSpPr/>
              <p:nvPr/>
            </p:nvSpPr>
            <p:spPr>
              <a:xfrm>
                <a:off x="7128712" y="5108400"/>
                <a:ext cx="198000" cy="36000"/>
              </a:xfrm>
              <a:prstGeom prst="rect">
                <a:avLst/>
              </a:prstGeom>
              <a:grpFill/>
              <a:ln w="12700">
                <a:noFill/>
                <a:prstDash val="solid"/>
              </a:ln>
            </p:spPr>
          </p:sp>
          <p:sp>
            <p:nvSpPr>
              <p:cNvPr id="78" name="Shape 52"/>
              <p:cNvSpPr/>
              <p:nvPr/>
            </p:nvSpPr>
            <p:spPr>
              <a:xfrm>
                <a:off x="7326712" y="5108400"/>
                <a:ext cx="198000" cy="36000"/>
              </a:xfrm>
              <a:prstGeom prst="rect">
                <a:avLst/>
              </a:prstGeom>
              <a:grpFill/>
              <a:ln w="12700">
                <a:noFill/>
                <a:prstDash val="solid"/>
              </a:ln>
            </p:spPr>
          </p:sp>
          <p:sp>
            <p:nvSpPr>
              <p:cNvPr id="79" name="Shape 52"/>
              <p:cNvSpPr/>
              <p:nvPr/>
            </p:nvSpPr>
            <p:spPr>
              <a:xfrm>
                <a:off x="7524712" y="5108400"/>
                <a:ext cx="198000" cy="36000"/>
              </a:xfrm>
              <a:prstGeom prst="rect">
                <a:avLst/>
              </a:prstGeom>
              <a:grpFill/>
              <a:ln w="12700">
                <a:noFill/>
                <a:prstDash val="solid"/>
              </a:ln>
            </p:spPr>
          </p:sp>
          <p:sp>
            <p:nvSpPr>
              <p:cNvPr id="80" name="Shape 52"/>
              <p:cNvSpPr/>
              <p:nvPr/>
            </p:nvSpPr>
            <p:spPr>
              <a:xfrm>
                <a:off x="7722712" y="5108400"/>
                <a:ext cx="198000" cy="36000"/>
              </a:xfrm>
              <a:prstGeom prst="rect">
                <a:avLst/>
              </a:prstGeom>
              <a:grpFill/>
              <a:ln w="12700">
                <a:noFill/>
                <a:prstDash val="solid"/>
              </a:ln>
            </p:spPr>
          </p:sp>
          <p:sp>
            <p:nvSpPr>
              <p:cNvPr id="81" name="Shape 52"/>
              <p:cNvSpPr/>
              <p:nvPr/>
            </p:nvSpPr>
            <p:spPr>
              <a:xfrm>
                <a:off x="7920712" y="5109048"/>
                <a:ext cx="198000" cy="36000"/>
              </a:xfrm>
              <a:prstGeom prst="rect">
                <a:avLst/>
              </a:prstGeom>
              <a:grpFill/>
              <a:ln w="12700">
                <a:noFill/>
                <a:prstDash val="solid"/>
              </a:ln>
            </p:spPr>
          </p:sp>
          <p:sp>
            <p:nvSpPr>
              <p:cNvPr id="82" name="Shape 52"/>
              <p:cNvSpPr/>
              <p:nvPr/>
            </p:nvSpPr>
            <p:spPr>
              <a:xfrm>
                <a:off x="8118712" y="5109048"/>
                <a:ext cx="198000" cy="36000"/>
              </a:xfrm>
              <a:prstGeom prst="rect">
                <a:avLst/>
              </a:prstGeom>
              <a:grpFill/>
              <a:ln w="12700">
                <a:noFill/>
                <a:prstDash val="solid"/>
              </a:ln>
            </p:spPr>
          </p:sp>
          <p:sp>
            <p:nvSpPr>
              <p:cNvPr id="83" name="Shape 52"/>
              <p:cNvSpPr/>
              <p:nvPr/>
            </p:nvSpPr>
            <p:spPr>
              <a:xfrm>
                <a:off x="8316712" y="5109048"/>
                <a:ext cx="198000" cy="36000"/>
              </a:xfrm>
              <a:prstGeom prst="rect">
                <a:avLst/>
              </a:prstGeom>
              <a:grpFill/>
              <a:ln w="12700">
                <a:noFill/>
                <a:prstDash val="solid"/>
              </a:ln>
            </p:spPr>
          </p:sp>
          <p:sp>
            <p:nvSpPr>
              <p:cNvPr id="84" name="Shape 52"/>
              <p:cNvSpPr/>
              <p:nvPr/>
            </p:nvSpPr>
            <p:spPr>
              <a:xfrm>
                <a:off x="8514712" y="5109048"/>
                <a:ext cx="198000" cy="36000"/>
              </a:xfrm>
              <a:prstGeom prst="rect">
                <a:avLst/>
              </a:prstGeom>
              <a:grpFill/>
              <a:ln w="12700">
                <a:noFill/>
                <a:prstDash val="solid"/>
              </a:ln>
            </p:spPr>
          </p:sp>
          <p:sp>
            <p:nvSpPr>
              <p:cNvPr id="85" name="Shape 52"/>
              <p:cNvSpPr/>
              <p:nvPr/>
            </p:nvSpPr>
            <p:spPr>
              <a:xfrm>
                <a:off x="8712712" y="5109048"/>
                <a:ext cx="198000" cy="36000"/>
              </a:xfrm>
              <a:prstGeom prst="rect">
                <a:avLst/>
              </a:prstGeom>
              <a:grpFill/>
              <a:ln w="12700">
                <a:noFill/>
                <a:prstDash val="solid"/>
              </a:ln>
            </p:spPr>
          </p:sp>
          <p:sp>
            <p:nvSpPr>
              <p:cNvPr id="86"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FF2D78"/>
          </a:solidFill>
          <a:ln w="12700">
            <a:solidFill>
              <a:srgbClr val="FF2D78"/>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CLI i CUI w Kontekście Mobilnym</a:t>
            </a:r>
            <a:endParaRPr lang="en-US" sz="2200" dirty="0"/>
          </a:p>
        </p:txBody>
      </p:sp>
      <p:sp>
        <p:nvSpPr>
          <p:cNvPr id="4" name="Shape 2"/>
          <p:cNvSpPr/>
          <p:nvPr/>
        </p:nvSpPr>
        <p:spPr>
          <a:xfrm>
            <a:off x="320040" y="914400"/>
            <a:ext cx="4069080" cy="3246120"/>
          </a:xfrm>
          <a:prstGeom prst="rect">
            <a:avLst/>
          </a:prstGeom>
          <a:solidFill>
            <a:srgbClr val="112233"/>
          </a:solidFill>
          <a:ln w="12700">
            <a:solidFill>
              <a:srgbClr val="1A3050"/>
            </a:solidFill>
            <a:prstDash val="solid"/>
          </a:ln>
        </p:spPr>
      </p:sp>
      <p:sp>
        <p:nvSpPr>
          <p:cNvPr id="5" name="Shape 3"/>
          <p:cNvSpPr/>
          <p:nvPr/>
        </p:nvSpPr>
        <p:spPr>
          <a:xfrm>
            <a:off x="320040" y="914400"/>
            <a:ext cx="45720" cy="3246120"/>
          </a:xfrm>
          <a:prstGeom prst="rect">
            <a:avLst/>
          </a:prstGeom>
          <a:solidFill>
            <a:srgbClr val="00E676"/>
          </a:solidFill>
          <a:ln w="12700">
            <a:solidFill>
              <a:srgbClr val="00E676"/>
            </a:solidFill>
            <a:prstDash val="solid"/>
          </a:ln>
        </p:spPr>
      </p:sp>
      <p:sp>
        <p:nvSpPr>
          <p:cNvPr id="6" name="Text 4"/>
          <p:cNvSpPr/>
          <p:nvPr/>
        </p:nvSpPr>
        <p:spPr>
          <a:xfrm>
            <a:off x="457200" y="987552"/>
            <a:ext cx="3794760" cy="274320"/>
          </a:xfrm>
          <a:prstGeom prst="rect">
            <a:avLst/>
          </a:prstGeom>
          <a:noFill/>
          <a:ln/>
        </p:spPr>
        <p:txBody>
          <a:bodyPr wrap="square" lIns="0" tIns="0" rIns="0" bIns="0" rtlCol="0" anchor="ctr"/>
          <a:lstStyle/>
          <a:p>
            <a:pPr marL="0" indent="0">
              <a:buNone/>
            </a:pPr>
            <a:r>
              <a:rPr lang="en-US" sz="1200" b="1" dirty="0">
                <a:solidFill>
                  <a:srgbClr val="FFFFFF"/>
                </a:solidFill>
              </a:rPr>
              <a:t>CLI — Command Line Interface</a:t>
            </a:r>
            <a:endParaRPr lang="en-US" sz="1200" dirty="0"/>
          </a:p>
        </p:txBody>
      </p:sp>
      <p:sp>
        <p:nvSpPr>
          <p:cNvPr id="7" name="Text 5"/>
          <p:cNvSpPr/>
          <p:nvPr/>
        </p:nvSpPr>
        <p:spPr>
          <a:xfrm>
            <a:off x="457200" y="1307592"/>
            <a:ext cx="3794760" cy="457200"/>
          </a:xfrm>
          <a:prstGeom prst="rect">
            <a:avLst/>
          </a:prstGeom>
          <a:noFill/>
          <a:ln/>
        </p:spPr>
        <p:txBody>
          <a:bodyPr wrap="square" lIns="0" tIns="0" rIns="0" bIns="0" rtlCol="0" anchor="ctr"/>
          <a:lstStyle/>
          <a:p>
            <a:pPr marL="0" indent="0">
              <a:buNone/>
            </a:pPr>
            <a:r>
              <a:rPr lang="en-US" sz="950" dirty="0">
                <a:solidFill>
                  <a:srgbClr val="8899AA"/>
                </a:solidFill>
              </a:rPr>
              <a:t>Interfejs tekstowy oparty na komendach. Rzadki w mobilnym, ale istotny dla specjalistów i deweloperów.</a:t>
            </a:r>
            <a:endParaRPr lang="en-US" sz="950" dirty="0"/>
          </a:p>
        </p:txBody>
      </p:sp>
      <p:sp>
        <p:nvSpPr>
          <p:cNvPr id="8" name="Text 6"/>
          <p:cNvSpPr/>
          <p:nvPr/>
        </p:nvSpPr>
        <p:spPr>
          <a:xfrm>
            <a:off x="457200" y="1828800"/>
            <a:ext cx="3794760" cy="219456"/>
          </a:xfrm>
          <a:prstGeom prst="rect">
            <a:avLst/>
          </a:prstGeom>
          <a:noFill/>
          <a:ln/>
        </p:spPr>
        <p:txBody>
          <a:bodyPr wrap="square" lIns="0" tIns="0" rIns="0" bIns="0" rtlCol="0" anchor="ctr"/>
          <a:lstStyle/>
          <a:p>
            <a:pPr marL="0" indent="0">
              <a:buNone/>
            </a:pPr>
            <a:r>
              <a:rPr lang="en-US" sz="950" b="1" dirty="0">
                <a:solidFill>
                  <a:srgbClr val="00E676"/>
                </a:solidFill>
              </a:rPr>
              <a:t>Zalety:</a:t>
            </a:r>
            <a:endParaRPr lang="en-US" sz="950" dirty="0"/>
          </a:p>
        </p:txBody>
      </p:sp>
      <p:sp>
        <p:nvSpPr>
          <p:cNvPr id="9" name="Text 7"/>
          <p:cNvSpPr/>
          <p:nvPr/>
        </p:nvSpPr>
        <p:spPr>
          <a:xfrm>
            <a:off x="457200" y="2084832"/>
            <a:ext cx="3794760" cy="237744"/>
          </a:xfrm>
          <a:prstGeom prst="rect">
            <a:avLst/>
          </a:prstGeom>
          <a:noFill/>
          <a:ln/>
        </p:spPr>
        <p:txBody>
          <a:bodyPr wrap="square" lIns="0" tIns="0" rIns="0" bIns="0" rtlCol="0" anchor="ctr"/>
          <a:lstStyle/>
          <a:p>
            <a:pPr marL="0" indent="0">
              <a:buNone/>
            </a:pPr>
            <a:r>
              <a:rPr lang="en-US" sz="900" dirty="0">
                <a:solidFill>
                  <a:srgbClr val="8899AA"/>
                </a:solidFill>
              </a:rPr>
              <a:t>• Szybkość dla zaawansowanych użytkowników</a:t>
            </a:r>
            <a:endParaRPr lang="en-US" sz="900" dirty="0"/>
          </a:p>
        </p:txBody>
      </p:sp>
      <p:sp>
        <p:nvSpPr>
          <p:cNvPr id="10" name="Text 8"/>
          <p:cNvSpPr/>
          <p:nvPr/>
        </p:nvSpPr>
        <p:spPr>
          <a:xfrm>
            <a:off x="457200" y="2359152"/>
            <a:ext cx="3794760" cy="237744"/>
          </a:xfrm>
          <a:prstGeom prst="rect">
            <a:avLst/>
          </a:prstGeom>
          <a:noFill/>
          <a:ln/>
        </p:spPr>
        <p:txBody>
          <a:bodyPr wrap="square" lIns="0" tIns="0" rIns="0" bIns="0" rtlCol="0" anchor="ctr"/>
          <a:lstStyle/>
          <a:p>
            <a:pPr marL="0" indent="0">
              <a:buNone/>
            </a:pPr>
            <a:r>
              <a:rPr lang="en-US" sz="900" dirty="0">
                <a:solidFill>
                  <a:srgbClr val="8899AA"/>
                </a:solidFill>
              </a:rPr>
              <a:t>• Precyzyjna kontrola i automatyzacja</a:t>
            </a:r>
            <a:endParaRPr lang="en-US" sz="900" dirty="0"/>
          </a:p>
        </p:txBody>
      </p:sp>
      <p:sp>
        <p:nvSpPr>
          <p:cNvPr id="11" name="Text 9"/>
          <p:cNvSpPr/>
          <p:nvPr/>
        </p:nvSpPr>
        <p:spPr>
          <a:xfrm>
            <a:off x="457200" y="2633472"/>
            <a:ext cx="3794760" cy="237744"/>
          </a:xfrm>
          <a:prstGeom prst="rect">
            <a:avLst/>
          </a:prstGeom>
          <a:noFill/>
          <a:ln/>
        </p:spPr>
        <p:txBody>
          <a:bodyPr wrap="square" lIns="0" tIns="0" rIns="0" bIns="0" rtlCol="0" anchor="ctr"/>
          <a:lstStyle/>
          <a:p>
            <a:pPr marL="0" indent="0">
              <a:buNone/>
            </a:pPr>
            <a:r>
              <a:rPr lang="en-US" sz="900" dirty="0">
                <a:solidFill>
                  <a:srgbClr val="8899AA"/>
                </a:solidFill>
              </a:rPr>
              <a:t>• Niskie zużycie zasobów systemowych</a:t>
            </a:r>
            <a:endParaRPr lang="en-US" sz="900" dirty="0"/>
          </a:p>
        </p:txBody>
      </p:sp>
      <p:sp>
        <p:nvSpPr>
          <p:cNvPr id="12" name="Text 10"/>
          <p:cNvSpPr/>
          <p:nvPr/>
        </p:nvSpPr>
        <p:spPr>
          <a:xfrm>
            <a:off x="457200" y="2926080"/>
            <a:ext cx="3794760" cy="219456"/>
          </a:xfrm>
          <a:prstGeom prst="rect">
            <a:avLst/>
          </a:prstGeom>
          <a:noFill/>
          <a:ln/>
        </p:spPr>
        <p:txBody>
          <a:bodyPr wrap="square" lIns="0" tIns="0" rIns="0" bIns="0" rtlCol="0" anchor="ctr"/>
          <a:lstStyle/>
          <a:p>
            <a:pPr marL="0" indent="0">
              <a:buNone/>
            </a:pPr>
            <a:r>
              <a:rPr lang="en-US" sz="950" b="1" dirty="0">
                <a:solidFill>
                  <a:srgbClr val="00E676"/>
                </a:solidFill>
              </a:rPr>
              <a:t>Zastosowania mobilne:</a:t>
            </a:r>
            <a:endParaRPr lang="en-US" sz="950" dirty="0"/>
          </a:p>
        </p:txBody>
      </p:sp>
      <p:sp>
        <p:nvSpPr>
          <p:cNvPr id="13" name="Text 11"/>
          <p:cNvSpPr/>
          <p:nvPr/>
        </p:nvSpPr>
        <p:spPr>
          <a:xfrm>
            <a:off x="457200" y="3182112"/>
            <a:ext cx="3794760" cy="237744"/>
          </a:xfrm>
          <a:prstGeom prst="rect">
            <a:avLst/>
          </a:prstGeom>
          <a:noFill/>
          <a:ln/>
        </p:spPr>
        <p:txBody>
          <a:bodyPr wrap="square" lIns="0" tIns="0" rIns="0" bIns="0" rtlCol="0" anchor="ctr"/>
          <a:lstStyle/>
          <a:p>
            <a:pPr marL="0" indent="0">
              <a:buNone/>
            </a:pPr>
            <a:r>
              <a:rPr lang="en-US" sz="900" dirty="0">
                <a:solidFill>
                  <a:srgbClr val="8899AA"/>
                </a:solidFill>
              </a:rPr>
              <a:t>• Aplikacje terminalowe (Termius, iSH Shell)</a:t>
            </a:r>
            <a:endParaRPr lang="en-US" sz="900" dirty="0"/>
          </a:p>
        </p:txBody>
      </p:sp>
      <p:sp>
        <p:nvSpPr>
          <p:cNvPr id="14" name="Text 12"/>
          <p:cNvSpPr/>
          <p:nvPr/>
        </p:nvSpPr>
        <p:spPr>
          <a:xfrm>
            <a:off x="457200" y="3456432"/>
            <a:ext cx="3794760" cy="237744"/>
          </a:xfrm>
          <a:prstGeom prst="rect">
            <a:avLst/>
          </a:prstGeom>
          <a:noFill/>
          <a:ln/>
        </p:spPr>
        <p:txBody>
          <a:bodyPr wrap="square" lIns="0" tIns="0" rIns="0" bIns="0" rtlCol="0" anchor="ctr"/>
          <a:lstStyle/>
          <a:p>
            <a:pPr marL="0" indent="0">
              <a:buNone/>
            </a:pPr>
            <a:r>
              <a:rPr lang="en-US" sz="900" dirty="0">
                <a:solidFill>
                  <a:srgbClr val="8899AA"/>
                </a:solidFill>
              </a:rPr>
              <a:t>• Narzędzia dla deweloperów mobilnych</a:t>
            </a:r>
            <a:endParaRPr lang="en-US" sz="900" dirty="0"/>
          </a:p>
        </p:txBody>
      </p:sp>
      <p:sp>
        <p:nvSpPr>
          <p:cNvPr id="15" name="Text 13"/>
          <p:cNvSpPr/>
          <p:nvPr/>
        </p:nvSpPr>
        <p:spPr>
          <a:xfrm>
            <a:off x="457200" y="3730752"/>
            <a:ext cx="3794760" cy="237744"/>
          </a:xfrm>
          <a:prstGeom prst="rect">
            <a:avLst/>
          </a:prstGeom>
          <a:noFill/>
          <a:ln/>
        </p:spPr>
        <p:txBody>
          <a:bodyPr wrap="square" lIns="0" tIns="0" rIns="0" bIns="0" rtlCol="0" anchor="ctr"/>
          <a:lstStyle/>
          <a:p>
            <a:pPr marL="0" indent="0">
              <a:buNone/>
            </a:pPr>
            <a:r>
              <a:rPr lang="en-US" sz="900" dirty="0">
                <a:solidFill>
                  <a:srgbClr val="8899AA"/>
                </a:solidFill>
              </a:rPr>
              <a:t>• Zarządzanie serwerami zdalnymi z telefonu</a:t>
            </a:r>
            <a:endParaRPr lang="en-US" sz="900" dirty="0"/>
          </a:p>
        </p:txBody>
      </p:sp>
      <p:sp>
        <p:nvSpPr>
          <p:cNvPr id="16" name="Shape 14"/>
          <p:cNvSpPr/>
          <p:nvPr/>
        </p:nvSpPr>
        <p:spPr>
          <a:xfrm>
            <a:off x="320040" y="4224528"/>
            <a:ext cx="4069080" cy="594360"/>
          </a:xfrm>
          <a:prstGeom prst="rect">
            <a:avLst/>
          </a:prstGeom>
          <a:solidFill>
            <a:srgbClr val="0A1929"/>
          </a:solidFill>
          <a:ln w="12700">
            <a:solidFill>
              <a:srgbClr val="1A3A5C"/>
            </a:solidFill>
            <a:prstDash val="solid"/>
          </a:ln>
        </p:spPr>
      </p:sp>
      <p:sp>
        <p:nvSpPr>
          <p:cNvPr id="17" name="Text 15"/>
          <p:cNvSpPr/>
          <p:nvPr/>
        </p:nvSpPr>
        <p:spPr>
          <a:xfrm>
            <a:off x="429768" y="4315968"/>
            <a:ext cx="3867912" cy="457200"/>
          </a:xfrm>
          <a:prstGeom prst="rect">
            <a:avLst/>
          </a:prstGeom>
          <a:noFill/>
          <a:ln/>
        </p:spPr>
        <p:txBody>
          <a:bodyPr wrap="square" lIns="0" tIns="0" rIns="0" bIns="0" rtlCol="0" anchor="t"/>
          <a:lstStyle/>
          <a:p>
            <a:pPr marL="0" indent="0">
              <a:buNone/>
            </a:pPr>
            <a:r>
              <a:rPr lang="en-US" sz="800" dirty="0">
                <a:solidFill>
                  <a:srgbClr val="00E676"/>
                </a:solidFill>
                <a:latin typeface="Consolas" pitchFamily="34" charset="0"/>
                <a:ea typeface="Consolas" pitchFamily="34" charset="-122"/>
                <a:cs typeface="Consolas" pitchFamily="34" charset="-120"/>
              </a:rPr>
              <a:t>$ ssh user@server.example.com</a:t>
            </a:r>
            <a:endParaRPr lang="en-US" sz="800" dirty="0"/>
          </a:p>
          <a:p>
            <a:pPr marL="0" indent="0">
              <a:buNone/>
            </a:pPr>
            <a:r>
              <a:rPr lang="en-US" sz="800" dirty="0">
                <a:solidFill>
                  <a:srgbClr val="00E676"/>
                </a:solidFill>
                <a:latin typeface="Consolas" pitchFamily="34" charset="0"/>
                <a:ea typeface="Consolas" pitchFamily="34" charset="-122"/>
                <a:cs typeface="Consolas" pitchFamily="34" charset="-120"/>
              </a:rPr>
              <a:t>$ git commit -m "update"</a:t>
            </a:r>
            <a:endParaRPr lang="en-US" sz="800" dirty="0"/>
          </a:p>
          <a:p>
            <a:pPr marL="0" indent="0">
              <a:buNone/>
            </a:pPr>
            <a:r>
              <a:rPr lang="en-US" sz="800" dirty="0">
                <a:solidFill>
                  <a:srgbClr val="00E676"/>
                </a:solidFill>
                <a:latin typeface="Consolas" pitchFamily="34" charset="0"/>
                <a:ea typeface="Consolas" pitchFamily="34" charset="-122"/>
                <a:cs typeface="Consolas" pitchFamily="34" charset="-120"/>
              </a:rPr>
              <a:t>$ npm run build</a:t>
            </a:r>
            <a:endParaRPr lang="en-US" sz="800" dirty="0"/>
          </a:p>
        </p:txBody>
      </p:sp>
      <p:sp>
        <p:nvSpPr>
          <p:cNvPr id="18" name="Shape 16"/>
          <p:cNvSpPr/>
          <p:nvPr/>
        </p:nvSpPr>
        <p:spPr>
          <a:xfrm>
            <a:off x="4754880" y="914400"/>
            <a:ext cx="4069080" cy="3246120"/>
          </a:xfrm>
          <a:prstGeom prst="rect">
            <a:avLst/>
          </a:prstGeom>
          <a:solidFill>
            <a:srgbClr val="112233"/>
          </a:solidFill>
          <a:ln w="12700">
            <a:solidFill>
              <a:srgbClr val="1A3050"/>
            </a:solidFill>
            <a:prstDash val="solid"/>
          </a:ln>
        </p:spPr>
      </p:sp>
      <p:sp>
        <p:nvSpPr>
          <p:cNvPr id="19" name="Shape 17"/>
          <p:cNvSpPr/>
          <p:nvPr/>
        </p:nvSpPr>
        <p:spPr>
          <a:xfrm>
            <a:off x="4754880" y="914400"/>
            <a:ext cx="45720" cy="3246120"/>
          </a:xfrm>
          <a:prstGeom prst="rect">
            <a:avLst/>
          </a:prstGeom>
          <a:solidFill>
            <a:srgbClr val="448AFF"/>
          </a:solidFill>
          <a:ln w="12700">
            <a:solidFill>
              <a:srgbClr val="448AFF"/>
            </a:solidFill>
            <a:prstDash val="solid"/>
          </a:ln>
        </p:spPr>
      </p:sp>
      <p:sp>
        <p:nvSpPr>
          <p:cNvPr id="20" name="Text 18"/>
          <p:cNvSpPr/>
          <p:nvPr/>
        </p:nvSpPr>
        <p:spPr>
          <a:xfrm>
            <a:off x="4892040" y="987552"/>
            <a:ext cx="3794760" cy="274320"/>
          </a:xfrm>
          <a:prstGeom prst="rect">
            <a:avLst/>
          </a:prstGeom>
          <a:noFill/>
          <a:ln/>
        </p:spPr>
        <p:txBody>
          <a:bodyPr wrap="square" lIns="0" tIns="0" rIns="0" bIns="0" rtlCol="0" anchor="ctr"/>
          <a:lstStyle/>
          <a:p>
            <a:pPr marL="0" indent="0">
              <a:buNone/>
            </a:pPr>
            <a:r>
              <a:rPr lang="en-US" sz="1200" b="1" dirty="0">
                <a:solidFill>
                  <a:srgbClr val="FFFFFF"/>
                </a:solidFill>
              </a:rPr>
              <a:t>CUI — Conversational UI</a:t>
            </a:r>
            <a:endParaRPr lang="en-US" sz="1200" dirty="0"/>
          </a:p>
        </p:txBody>
      </p:sp>
      <p:sp>
        <p:nvSpPr>
          <p:cNvPr id="21" name="Text 19"/>
          <p:cNvSpPr/>
          <p:nvPr/>
        </p:nvSpPr>
        <p:spPr>
          <a:xfrm>
            <a:off x="4892040" y="1307592"/>
            <a:ext cx="3794760" cy="457200"/>
          </a:xfrm>
          <a:prstGeom prst="rect">
            <a:avLst/>
          </a:prstGeom>
          <a:noFill/>
          <a:ln/>
        </p:spPr>
        <p:txBody>
          <a:bodyPr wrap="square" lIns="0" tIns="0" rIns="0" bIns="0" rtlCol="0" anchor="ctr"/>
          <a:lstStyle/>
          <a:p>
            <a:pPr marL="0" indent="0">
              <a:buNone/>
            </a:pPr>
            <a:r>
              <a:rPr lang="en-US" sz="950" dirty="0">
                <a:solidFill>
                  <a:srgbClr val="8899AA"/>
                </a:solidFill>
              </a:rPr>
              <a:t>Interfejs konwersacyjny oparty na dialogu tekstowym. Chatboty i asystenci AI w aplikacjach mobilnych.</a:t>
            </a:r>
            <a:endParaRPr lang="en-US" sz="950" dirty="0"/>
          </a:p>
        </p:txBody>
      </p:sp>
      <p:sp>
        <p:nvSpPr>
          <p:cNvPr id="22" name="Text 20"/>
          <p:cNvSpPr/>
          <p:nvPr/>
        </p:nvSpPr>
        <p:spPr>
          <a:xfrm>
            <a:off x="4892040" y="1847088"/>
            <a:ext cx="3794760" cy="219456"/>
          </a:xfrm>
          <a:prstGeom prst="rect">
            <a:avLst/>
          </a:prstGeom>
          <a:noFill/>
          <a:ln/>
        </p:spPr>
        <p:txBody>
          <a:bodyPr wrap="square" lIns="0" tIns="0" rIns="0" bIns="0" rtlCol="0" anchor="ctr"/>
          <a:lstStyle/>
          <a:p>
            <a:pPr marL="0" indent="0">
              <a:buNone/>
            </a:pPr>
            <a:r>
              <a:rPr lang="en-US" sz="950" b="1" dirty="0">
                <a:solidFill>
                  <a:srgbClr val="448AFF"/>
                </a:solidFill>
              </a:rPr>
              <a:t>Zastosowania mobilne:</a:t>
            </a:r>
            <a:endParaRPr lang="en-US" sz="950" dirty="0"/>
          </a:p>
        </p:txBody>
      </p:sp>
      <p:sp>
        <p:nvSpPr>
          <p:cNvPr id="23" name="Text 21"/>
          <p:cNvSpPr/>
          <p:nvPr/>
        </p:nvSpPr>
        <p:spPr>
          <a:xfrm>
            <a:off x="4892040" y="2103120"/>
            <a:ext cx="3794760" cy="237744"/>
          </a:xfrm>
          <a:prstGeom prst="rect">
            <a:avLst/>
          </a:prstGeom>
          <a:noFill/>
          <a:ln/>
        </p:spPr>
        <p:txBody>
          <a:bodyPr wrap="square" lIns="0" tIns="0" rIns="0" bIns="0" rtlCol="0" anchor="ctr"/>
          <a:lstStyle/>
          <a:p>
            <a:pPr marL="0" indent="0">
              <a:buNone/>
            </a:pPr>
            <a:r>
              <a:rPr lang="en-US" sz="900" dirty="0">
                <a:solidFill>
                  <a:srgbClr val="8899AA"/>
                </a:solidFill>
              </a:rPr>
              <a:t>• Chatboty w aplikacjach bankowych</a:t>
            </a:r>
            <a:endParaRPr lang="en-US" sz="900" dirty="0"/>
          </a:p>
        </p:txBody>
      </p:sp>
      <p:sp>
        <p:nvSpPr>
          <p:cNvPr id="24" name="Text 22"/>
          <p:cNvSpPr/>
          <p:nvPr/>
        </p:nvSpPr>
        <p:spPr>
          <a:xfrm>
            <a:off x="4892040" y="2377440"/>
            <a:ext cx="3794760" cy="237744"/>
          </a:xfrm>
          <a:prstGeom prst="rect">
            <a:avLst/>
          </a:prstGeom>
          <a:noFill/>
          <a:ln/>
        </p:spPr>
        <p:txBody>
          <a:bodyPr wrap="square" lIns="0" tIns="0" rIns="0" bIns="0" rtlCol="0" anchor="ctr"/>
          <a:lstStyle/>
          <a:p>
            <a:pPr marL="0" indent="0">
              <a:buNone/>
            </a:pPr>
            <a:r>
              <a:rPr lang="en-US" sz="900" dirty="0">
                <a:solidFill>
                  <a:srgbClr val="8899AA"/>
                </a:solidFill>
              </a:rPr>
              <a:t>• Wsparcie techniczne (Zendesk, Intercom)</a:t>
            </a:r>
            <a:endParaRPr lang="en-US" sz="900" dirty="0"/>
          </a:p>
        </p:txBody>
      </p:sp>
      <p:sp>
        <p:nvSpPr>
          <p:cNvPr id="25" name="Text 23"/>
          <p:cNvSpPr/>
          <p:nvPr/>
        </p:nvSpPr>
        <p:spPr>
          <a:xfrm>
            <a:off x="4892040" y="2651760"/>
            <a:ext cx="3794760" cy="237744"/>
          </a:xfrm>
          <a:prstGeom prst="rect">
            <a:avLst/>
          </a:prstGeom>
          <a:noFill/>
          <a:ln/>
        </p:spPr>
        <p:txBody>
          <a:bodyPr wrap="square" lIns="0" tIns="0" rIns="0" bIns="0" rtlCol="0" anchor="ctr"/>
          <a:lstStyle/>
          <a:p>
            <a:pPr marL="0" indent="0">
              <a:buNone/>
            </a:pPr>
            <a:r>
              <a:rPr lang="en-US" sz="900" dirty="0">
                <a:solidFill>
                  <a:srgbClr val="8899AA"/>
                </a:solidFill>
              </a:rPr>
              <a:t>• Asystenci zakupowi w e-commerce</a:t>
            </a:r>
            <a:endParaRPr lang="en-US" sz="900" dirty="0"/>
          </a:p>
        </p:txBody>
      </p:sp>
      <p:sp>
        <p:nvSpPr>
          <p:cNvPr id="26" name="Text 24"/>
          <p:cNvSpPr/>
          <p:nvPr/>
        </p:nvSpPr>
        <p:spPr>
          <a:xfrm>
            <a:off x="4892040" y="2926080"/>
            <a:ext cx="3794760" cy="237744"/>
          </a:xfrm>
          <a:prstGeom prst="rect">
            <a:avLst/>
          </a:prstGeom>
          <a:noFill/>
          <a:ln/>
        </p:spPr>
        <p:txBody>
          <a:bodyPr wrap="square" lIns="0" tIns="0" rIns="0" bIns="0" rtlCol="0" anchor="ctr"/>
          <a:lstStyle/>
          <a:p>
            <a:pPr marL="0" indent="0">
              <a:buNone/>
            </a:pPr>
            <a:r>
              <a:rPr lang="en-US" sz="900" dirty="0">
                <a:solidFill>
                  <a:srgbClr val="8899AA"/>
                </a:solidFill>
              </a:rPr>
              <a:t>• Rezerwacje i umawianie wizyt online</a:t>
            </a:r>
            <a:endParaRPr lang="en-US" sz="900" dirty="0"/>
          </a:p>
        </p:txBody>
      </p:sp>
      <p:sp>
        <p:nvSpPr>
          <p:cNvPr id="27" name="Shape 25"/>
          <p:cNvSpPr/>
          <p:nvPr/>
        </p:nvSpPr>
        <p:spPr>
          <a:xfrm>
            <a:off x="4754880" y="3218688"/>
            <a:ext cx="4069080" cy="960120"/>
          </a:xfrm>
          <a:prstGeom prst="rect">
            <a:avLst/>
          </a:prstGeom>
          <a:solidFill>
            <a:srgbClr val="0A1929"/>
          </a:solidFill>
          <a:ln w="12700">
            <a:solidFill>
              <a:srgbClr val="1A3050"/>
            </a:solidFill>
            <a:prstDash val="solid"/>
          </a:ln>
        </p:spPr>
      </p:sp>
      <p:sp>
        <p:nvSpPr>
          <p:cNvPr id="28" name="Shape 26"/>
          <p:cNvSpPr/>
          <p:nvPr/>
        </p:nvSpPr>
        <p:spPr>
          <a:xfrm>
            <a:off x="4846320" y="3319272"/>
            <a:ext cx="2011680" cy="274320"/>
          </a:xfrm>
          <a:prstGeom prst="rect">
            <a:avLst/>
          </a:prstGeom>
          <a:solidFill>
            <a:srgbClr val="1A3050"/>
          </a:solidFill>
          <a:ln w="12700">
            <a:solidFill>
              <a:srgbClr val="448AFF"/>
            </a:solidFill>
            <a:prstDash val="solid"/>
          </a:ln>
        </p:spPr>
      </p:sp>
      <p:sp>
        <p:nvSpPr>
          <p:cNvPr id="29" name="Text 27"/>
          <p:cNvSpPr/>
          <p:nvPr/>
        </p:nvSpPr>
        <p:spPr>
          <a:xfrm>
            <a:off x="4864608" y="3337560"/>
            <a:ext cx="1965960" cy="237744"/>
          </a:xfrm>
          <a:prstGeom prst="rect">
            <a:avLst/>
          </a:prstGeom>
          <a:noFill/>
          <a:ln/>
        </p:spPr>
        <p:txBody>
          <a:bodyPr wrap="square" lIns="0" tIns="0" rIns="0" bIns="0" rtlCol="0" anchor="ctr"/>
          <a:lstStyle/>
          <a:p>
            <a:pPr marL="0" indent="0">
              <a:buNone/>
            </a:pPr>
            <a:r>
              <a:rPr lang="en-US" sz="800" dirty="0">
                <a:solidFill>
                  <a:srgbClr val="FFFFFF"/>
                </a:solidFill>
              </a:rPr>
              <a:t>U  Chcę zresetować hasło</a:t>
            </a:r>
            <a:endParaRPr lang="en-US" sz="800" dirty="0"/>
          </a:p>
        </p:txBody>
      </p:sp>
      <p:sp>
        <p:nvSpPr>
          <p:cNvPr id="30" name="Shape 28"/>
          <p:cNvSpPr/>
          <p:nvPr/>
        </p:nvSpPr>
        <p:spPr>
          <a:xfrm>
            <a:off x="6675120" y="3703320"/>
            <a:ext cx="2011680" cy="274320"/>
          </a:xfrm>
          <a:prstGeom prst="rect">
            <a:avLst/>
          </a:prstGeom>
          <a:solidFill>
            <a:srgbClr val="448AFF"/>
          </a:solidFill>
          <a:ln w="12700">
            <a:solidFill>
              <a:srgbClr val="448AFF"/>
            </a:solidFill>
            <a:prstDash val="solid"/>
          </a:ln>
        </p:spPr>
      </p:sp>
      <p:sp>
        <p:nvSpPr>
          <p:cNvPr id="31" name="Text 29"/>
          <p:cNvSpPr/>
          <p:nvPr/>
        </p:nvSpPr>
        <p:spPr>
          <a:xfrm>
            <a:off x="6693408" y="3721608"/>
            <a:ext cx="1965960" cy="237744"/>
          </a:xfrm>
          <a:prstGeom prst="rect">
            <a:avLst/>
          </a:prstGeom>
          <a:noFill/>
          <a:ln/>
        </p:spPr>
        <p:txBody>
          <a:bodyPr wrap="square" lIns="0" tIns="0" rIns="0" bIns="0" rtlCol="0" anchor="ctr"/>
          <a:lstStyle/>
          <a:p>
            <a:pPr marL="0" indent="0">
              <a:buNone/>
            </a:pPr>
            <a:r>
              <a:rPr lang="en-US" sz="800" dirty="0">
                <a:solidFill>
                  <a:srgbClr val="FFFFFF"/>
                </a:solidFill>
              </a:rPr>
              <a:t>B  Wyślę link na Twój email!</a:t>
            </a:r>
            <a:endParaRPr lang="en-US" sz="800" dirty="0"/>
          </a:p>
        </p:txBody>
      </p:sp>
      <p:sp>
        <p:nvSpPr>
          <p:cNvPr id="32" name="Text 30"/>
          <p:cNvSpPr/>
          <p:nvPr/>
        </p:nvSpPr>
        <p:spPr>
          <a:xfrm>
            <a:off x="4754880" y="4224528"/>
            <a:ext cx="4069080" cy="457200"/>
          </a:xfrm>
          <a:prstGeom prst="rect">
            <a:avLst/>
          </a:prstGeom>
          <a:noFill/>
          <a:ln/>
        </p:spPr>
        <p:txBody>
          <a:bodyPr wrap="square" lIns="0" tIns="0" rIns="0" bIns="0" rtlCol="0" anchor="ctr"/>
          <a:lstStyle/>
          <a:p>
            <a:pPr marL="0" indent="0">
              <a:buNone/>
            </a:pPr>
            <a:r>
              <a:rPr lang="en-US" sz="850" dirty="0">
                <a:solidFill>
                  <a:srgbClr val="8899AA"/>
                </a:solidFill>
              </a:rPr>
              <a:t>Trend: interfejsy hybrydowe łączące GUI z CUI — widgety czatu z przyciskami szybkich akcji.</a:t>
            </a:r>
            <a:endParaRPr lang="en-US" sz="850" dirty="0"/>
          </a:p>
        </p:txBody>
      </p:sp>
      <p:sp>
        <p:nvSpPr>
          <p:cNvPr id="35" name="Text 33"/>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12 / </a:t>
            </a:r>
            <a:r>
              <a:rPr lang="pl-PL" sz="800" dirty="0" smtClean="0">
                <a:solidFill>
                  <a:srgbClr val="8899AA"/>
                </a:solidFill>
              </a:rPr>
              <a:t>46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grpSp>
        <p:nvGrpSpPr>
          <p:cNvPr id="11" name="Grupa 10"/>
          <p:cNvGrpSpPr/>
          <p:nvPr/>
        </p:nvGrpSpPr>
        <p:grpSpPr>
          <a:xfrm>
            <a:off x="-2381" y="4884912"/>
            <a:ext cx="9146381" cy="260136"/>
            <a:chOff x="-2381" y="4884912"/>
            <a:chExt cx="9146381" cy="260136"/>
          </a:xfrm>
        </p:grpSpPr>
        <p:sp>
          <p:nvSpPr>
            <p:cNvPr id="12" name="Shape 52"/>
            <p:cNvSpPr/>
            <p:nvPr/>
          </p:nvSpPr>
          <p:spPr>
            <a:xfrm>
              <a:off x="0" y="4884912"/>
              <a:ext cx="9144000" cy="252000"/>
            </a:xfrm>
            <a:prstGeom prst="rect">
              <a:avLst/>
            </a:prstGeom>
            <a:solidFill>
              <a:srgbClr val="071523"/>
            </a:solidFill>
            <a:ln w="12700">
              <a:solidFill>
                <a:srgbClr val="071523"/>
              </a:solidFill>
              <a:prstDash val="solid"/>
            </a:ln>
          </p:spPr>
        </p:sp>
        <p:sp>
          <p:nvSpPr>
            <p:cNvPr id="13"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14" name="Grupa 13"/>
            <p:cNvGrpSpPr/>
            <p:nvPr/>
          </p:nvGrpSpPr>
          <p:grpSpPr>
            <a:xfrm>
              <a:off x="-2381" y="5099329"/>
              <a:ext cx="9146381" cy="45719"/>
              <a:chOff x="-2381" y="5107500"/>
              <a:chExt cx="9111093" cy="37548"/>
            </a:xfrm>
            <a:solidFill>
              <a:schemeClr val="tx1"/>
            </a:solidFill>
          </p:grpSpPr>
          <p:sp>
            <p:nvSpPr>
              <p:cNvPr id="15"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16"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17"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18"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19"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20"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21"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22"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23"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24"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25"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26"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27"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28" name="Shape 52"/>
              <p:cNvSpPr/>
              <p:nvPr/>
            </p:nvSpPr>
            <p:spPr>
              <a:xfrm>
                <a:off x="2574000" y="5107500"/>
                <a:ext cx="198000" cy="36000"/>
              </a:xfrm>
              <a:prstGeom prst="rect">
                <a:avLst/>
              </a:prstGeom>
              <a:grpFill/>
              <a:ln w="12700">
                <a:noFill/>
                <a:prstDash val="solid"/>
              </a:ln>
            </p:spPr>
          </p:sp>
          <p:sp>
            <p:nvSpPr>
              <p:cNvPr id="29" name="Shape 52"/>
              <p:cNvSpPr/>
              <p:nvPr/>
            </p:nvSpPr>
            <p:spPr>
              <a:xfrm>
                <a:off x="2772712" y="5108400"/>
                <a:ext cx="198000" cy="36000"/>
              </a:xfrm>
              <a:prstGeom prst="rect">
                <a:avLst/>
              </a:prstGeom>
              <a:grpFill/>
              <a:ln w="12700">
                <a:noFill/>
                <a:prstDash val="solid"/>
              </a:ln>
            </p:spPr>
          </p:sp>
          <p:sp>
            <p:nvSpPr>
              <p:cNvPr id="30" name="Shape 52"/>
              <p:cNvSpPr/>
              <p:nvPr/>
            </p:nvSpPr>
            <p:spPr>
              <a:xfrm>
                <a:off x="2970712" y="5108400"/>
                <a:ext cx="198000" cy="36000"/>
              </a:xfrm>
              <a:prstGeom prst="rect">
                <a:avLst/>
              </a:prstGeom>
              <a:grpFill/>
              <a:ln w="12700">
                <a:noFill/>
                <a:prstDash val="solid"/>
              </a:ln>
            </p:spPr>
          </p:sp>
          <p:sp>
            <p:nvSpPr>
              <p:cNvPr id="31" name="Shape 52"/>
              <p:cNvSpPr/>
              <p:nvPr/>
            </p:nvSpPr>
            <p:spPr>
              <a:xfrm>
                <a:off x="3168712" y="5108400"/>
                <a:ext cx="198000" cy="36000"/>
              </a:xfrm>
              <a:prstGeom prst="rect">
                <a:avLst/>
              </a:prstGeom>
              <a:grpFill/>
              <a:ln w="12700">
                <a:noFill/>
                <a:prstDash val="solid"/>
              </a:ln>
            </p:spPr>
          </p:sp>
          <p:sp>
            <p:nvSpPr>
              <p:cNvPr id="32" name="Shape 52"/>
              <p:cNvSpPr/>
              <p:nvPr/>
            </p:nvSpPr>
            <p:spPr>
              <a:xfrm>
                <a:off x="3366712" y="5108400"/>
                <a:ext cx="198000" cy="36000"/>
              </a:xfrm>
              <a:prstGeom prst="rect">
                <a:avLst/>
              </a:prstGeom>
              <a:grpFill/>
              <a:ln w="12700">
                <a:noFill/>
                <a:prstDash val="solid"/>
              </a:ln>
            </p:spPr>
          </p:sp>
          <p:sp>
            <p:nvSpPr>
              <p:cNvPr id="33" name="Shape 52"/>
              <p:cNvSpPr/>
              <p:nvPr/>
            </p:nvSpPr>
            <p:spPr>
              <a:xfrm>
                <a:off x="3564712" y="5108400"/>
                <a:ext cx="198000" cy="36000"/>
              </a:xfrm>
              <a:prstGeom prst="rect">
                <a:avLst/>
              </a:prstGeom>
              <a:grpFill/>
              <a:ln w="12700">
                <a:noFill/>
                <a:prstDash val="solid"/>
              </a:ln>
            </p:spPr>
          </p:sp>
          <p:sp>
            <p:nvSpPr>
              <p:cNvPr id="34" name="Shape 52"/>
              <p:cNvSpPr/>
              <p:nvPr/>
            </p:nvSpPr>
            <p:spPr>
              <a:xfrm>
                <a:off x="3762712" y="5108400"/>
                <a:ext cx="198000" cy="36000"/>
              </a:xfrm>
              <a:prstGeom prst="rect">
                <a:avLst/>
              </a:prstGeom>
              <a:grpFill/>
              <a:ln w="12700">
                <a:noFill/>
                <a:prstDash val="solid"/>
              </a:ln>
            </p:spPr>
          </p:sp>
          <p:sp>
            <p:nvSpPr>
              <p:cNvPr id="35" name="Shape 52"/>
              <p:cNvSpPr/>
              <p:nvPr/>
            </p:nvSpPr>
            <p:spPr>
              <a:xfrm>
                <a:off x="3960712" y="5107530"/>
                <a:ext cx="198000" cy="36000"/>
              </a:xfrm>
              <a:prstGeom prst="rect">
                <a:avLst/>
              </a:prstGeom>
              <a:grpFill/>
              <a:ln w="12700">
                <a:noFill/>
                <a:prstDash val="solid"/>
              </a:ln>
            </p:spPr>
          </p:sp>
          <p:sp>
            <p:nvSpPr>
              <p:cNvPr id="36" name="Shape 52"/>
              <p:cNvSpPr/>
              <p:nvPr/>
            </p:nvSpPr>
            <p:spPr>
              <a:xfrm>
                <a:off x="4158712" y="5107500"/>
                <a:ext cx="198000" cy="36000"/>
              </a:xfrm>
              <a:prstGeom prst="rect">
                <a:avLst/>
              </a:prstGeom>
              <a:grpFill/>
              <a:ln w="12700">
                <a:noFill/>
                <a:prstDash val="solid"/>
              </a:ln>
            </p:spPr>
          </p:sp>
          <p:sp>
            <p:nvSpPr>
              <p:cNvPr id="37" name="Shape 52"/>
              <p:cNvSpPr/>
              <p:nvPr/>
            </p:nvSpPr>
            <p:spPr>
              <a:xfrm>
                <a:off x="4356712" y="5107500"/>
                <a:ext cx="198000" cy="36000"/>
              </a:xfrm>
              <a:prstGeom prst="rect">
                <a:avLst/>
              </a:prstGeom>
              <a:grpFill/>
              <a:ln w="12700">
                <a:noFill/>
                <a:prstDash val="solid"/>
              </a:ln>
            </p:spPr>
          </p:sp>
          <p:sp>
            <p:nvSpPr>
              <p:cNvPr id="38" name="Shape 52"/>
              <p:cNvSpPr/>
              <p:nvPr/>
            </p:nvSpPr>
            <p:spPr>
              <a:xfrm>
                <a:off x="4554712" y="5107500"/>
                <a:ext cx="198000" cy="36000"/>
              </a:xfrm>
              <a:prstGeom prst="rect">
                <a:avLst/>
              </a:prstGeom>
              <a:grpFill/>
              <a:ln w="12700">
                <a:noFill/>
                <a:prstDash val="solid"/>
              </a:ln>
            </p:spPr>
          </p:sp>
          <p:sp>
            <p:nvSpPr>
              <p:cNvPr id="39" name="Shape 52"/>
              <p:cNvSpPr/>
              <p:nvPr/>
            </p:nvSpPr>
            <p:spPr>
              <a:xfrm>
                <a:off x="4752712" y="5107500"/>
                <a:ext cx="198000" cy="36000"/>
              </a:xfrm>
              <a:prstGeom prst="rect">
                <a:avLst/>
              </a:prstGeom>
              <a:grpFill/>
              <a:ln w="12700">
                <a:noFill/>
                <a:prstDash val="solid"/>
              </a:ln>
            </p:spPr>
          </p:sp>
          <p:sp>
            <p:nvSpPr>
              <p:cNvPr id="40" name="Shape 52"/>
              <p:cNvSpPr/>
              <p:nvPr/>
            </p:nvSpPr>
            <p:spPr>
              <a:xfrm>
                <a:off x="4950712" y="5107500"/>
                <a:ext cx="198000" cy="36000"/>
              </a:xfrm>
              <a:prstGeom prst="rect">
                <a:avLst/>
              </a:prstGeom>
              <a:grpFill/>
              <a:ln w="12700">
                <a:noFill/>
                <a:prstDash val="solid"/>
              </a:ln>
            </p:spPr>
          </p:sp>
          <p:sp>
            <p:nvSpPr>
              <p:cNvPr id="41" name="Shape 52"/>
              <p:cNvSpPr/>
              <p:nvPr/>
            </p:nvSpPr>
            <p:spPr>
              <a:xfrm>
                <a:off x="5148712" y="5107500"/>
                <a:ext cx="198000" cy="36000"/>
              </a:xfrm>
              <a:prstGeom prst="rect">
                <a:avLst/>
              </a:prstGeom>
              <a:grpFill/>
              <a:ln w="12700">
                <a:noFill/>
                <a:prstDash val="solid"/>
              </a:ln>
            </p:spPr>
          </p:sp>
          <p:sp>
            <p:nvSpPr>
              <p:cNvPr id="42" name="Shape 52"/>
              <p:cNvSpPr/>
              <p:nvPr/>
            </p:nvSpPr>
            <p:spPr>
              <a:xfrm>
                <a:off x="5346712" y="5108400"/>
                <a:ext cx="198000" cy="36000"/>
              </a:xfrm>
              <a:prstGeom prst="rect">
                <a:avLst/>
              </a:prstGeom>
              <a:grpFill/>
              <a:ln w="12700">
                <a:noFill/>
                <a:prstDash val="solid"/>
              </a:ln>
            </p:spPr>
          </p:sp>
          <p:sp>
            <p:nvSpPr>
              <p:cNvPr id="43" name="Shape 52"/>
              <p:cNvSpPr/>
              <p:nvPr/>
            </p:nvSpPr>
            <p:spPr>
              <a:xfrm>
                <a:off x="5544712" y="5108400"/>
                <a:ext cx="198000" cy="36000"/>
              </a:xfrm>
              <a:prstGeom prst="rect">
                <a:avLst/>
              </a:prstGeom>
              <a:grpFill/>
              <a:ln w="12700">
                <a:noFill/>
                <a:prstDash val="solid"/>
              </a:ln>
            </p:spPr>
          </p:sp>
          <p:sp>
            <p:nvSpPr>
              <p:cNvPr id="44" name="Shape 52"/>
              <p:cNvSpPr/>
              <p:nvPr/>
            </p:nvSpPr>
            <p:spPr>
              <a:xfrm>
                <a:off x="5742712" y="5108400"/>
                <a:ext cx="198000" cy="36000"/>
              </a:xfrm>
              <a:prstGeom prst="rect">
                <a:avLst/>
              </a:prstGeom>
              <a:grpFill/>
              <a:ln w="12700">
                <a:noFill/>
                <a:prstDash val="solid"/>
              </a:ln>
            </p:spPr>
          </p:sp>
          <p:sp>
            <p:nvSpPr>
              <p:cNvPr id="45" name="Shape 52"/>
              <p:cNvSpPr/>
              <p:nvPr/>
            </p:nvSpPr>
            <p:spPr>
              <a:xfrm>
                <a:off x="5940712" y="5108400"/>
                <a:ext cx="198000" cy="36000"/>
              </a:xfrm>
              <a:prstGeom prst="rect">
                <a:avLst/>
              </a:prstGeom>
              <a:grpFill/>
              <a:ln w="12700">
                <a:noFill/>
                <a:prstDash val="solid"/>
              </a:ln>
            </p:spPr>
          </p:sp>
          <p:sp>
            <p:nvSpPr>
              <p:cNvPr id="46" name="Shape 52"/>
              <p:cNvSpPr/>
              <p:nvPr/>
            </p:nvSpPr>
            <p:spPr>
              <a:xfrm>
                <a:off x="6138712" y="5108400"/>
                <a:ext cx="198000" cy="36000"/>
              </a:xfrm>
              <a:prstGeom prst="rect">
                <a:avLst/>
              </a:prstGeom>
              <a:grpFill/>
              <a:ln w="12700">
                <a:noFill/>
                <a:prstDash val="solid"/>
              </a:ln>
            </p:spPr>
          </p:sp>
          <p:sp>
            <p:nvSpPr>
              <p:cNvPr id="47" name="Shape 52"/>
              <p:cNvSpPr/>
              <p:nvPr/>
            </p:nvSpPr>
            <p:spPr>
              <a:xfrm>
                <a:off x="6336712" y="5108400"/>
                <a:ext cx="198000" cy="36000"/>
              </a:xfrm>
              <a:prstGeom prst="rect">
                <a:avLst/>
              </a:prstGeom>
              <a:grpFill/>
              <a:ln w="12700">
                <a:noFill/>
                <a:prstDash val="solid"/>
              </a:ln>
            </p:spPr>
          </p:sp>
          <p:sp>
            <p:nvSpPr>
              <p:cNvPr id="48" name="Shape 52"/>
              <p:cNvSpPr/>
              <p:nvPr/>
            </p:nvSpPr>
            <p:spPr>
              <a:xfrm>
                <a:off x="6534712" y="5108400"/>
                <a:ext cx="198000" cy="36000"/>
              </a:xfrm>
              <a:prstGeom prst="rect">
                <a:avLst/>
              </a:prstGeom>
              <a:grpFill/>
              <a:ln w="12700">
                <a:noFill/>
                <a:prstDash val="solid"/>
              </a:ln>
            </p:spPr>
          </p:sp>
          <p:sp>
            <p:nvSpPr>
              <p:cNvPr id="49" name="Shape 52"/>
              <p:cNvSpPr/>
              <p:nvPr/>
            </p:nvSpPr>
            <p:spPr>
              <a:xfrm>
                <a:off x="6732712" y="5108400"/>
                <a:ext cx="198000" cy="36000"/>
              </a:xfrm>
              <a:prstGeom prst="rect">
                <a:avLst/>
              </a:prstGeom>
              <a:grpFill/>
              <a:ln w="12700">
                <a:noFill/>
                <a:prstDash val="solid"/>
              </a:ln>
            </p:spPr>
          </p:sp>
          <p:sp>
            <p:nvSpPr>
              <p:cNvPr id="50" name="Shape 52"/>
              <p:cNvSpPr/>
              <p:nvPr/>
            </p:nvSpPr>
            <p:spPr>
              <a:xfrm>
                <a:off x="6930712" y="5108400"/>
                <a:ext cx="198000" cy="36000"/>
              </a:xfrm>
              <a:prstGeom prst="rect">
                <a:avLst/>
              </a:prstGeom>
              <a:grpFill/>
              <a:ln w="12700">
                <a:noFill/>
                <a:prstDash val="solid"/>
              </a:ln>
            </p:spPr>
          </p:sp>
          <p:sp>
            <p:nvSpPr>
              <p:cNvPr id="51" name="Shape 52"/>
              <p:cNvSpPr/>
              <p:nvPr/>
            </p:nvSpPr>
            <p:spPr>
              <a:xfrm>
                <a:off x="7128712" y="5108400"/>
                <a:ext cx="198000" cy="36000"/>
              </a:xfrm>
              <a:prstGeom prst="rect">
                <a:avLst/>
              </a:prstGeom>
              <a:grpFill/>
              <a:ln w="12700">
                <a:noFill/>
                <a:prstDash val="solid"/>
              </a:ln>
            </p:spPr>
          </p:sp>
          <p:sp>
            <p:nvSpPr>
              <p:cNvPr id="52" name="Shape 52"/>
              <p:cNvSpPr/>
              <p:nvPr/>
            </p:nvSpPr>
            <p:spPr>
              <a:xfrm>
                <a:off x="7326712" y="5108400"/>
                <a:ext cx="198000" cy="36000"/>
              </a:xfrm>
              <a:prstGeom prst="rect">
                <a:avLst/>
              </a:prstGeom>
              <a:grpFill/>
              <a:ln w="12700">
                <a:noFill/>
                <a:prstDash val="solid"/>
              </a:ln>
            </p:spPr>
          </p:sp>
          <p:sp>
            <p:nvSpPr>
              <p:cNvPr id="53" name="Shape 52"/>
              <p:cNvSpPr/>
              <p:nvPr/>
            </p:nvSpPr>
            <p:spPr>
              <a:xfrm>
                <a:off x="7524712" y="5108400"/>
                <a:ext cx="198000" cy="36000"/>
              </a:xfrm>
              <a:prstGeom prst="rect">
                <a:avLst/>
              </a:prstGeom>
              <a:grpFill/>
              <a:ln w="12700">
                <a:noFill/>
                <a:prstDash val="solid"/>
              </a:ln>
            </p:spPr>
          </p:sp>
          <p:sp>
            <p:nvSpPr>
              <p:cNvPr id="54" name="Shape 52"/>
              <p:cNvSpPr/>
              <p:nvPr/>
            </p:nvSpPr>
            <p:spPr>
              <a:xfrm>
                <a:off x="7722712" y="5108400"/>
                <a:ext cx="198000" cy="36000"/>
              </a:xfrm>
              <a:prstGeom prst="rect">
                <a:avLst/>
              </a:prstGeom>
              <a:grpFill/>
              <a:ln w="12700">
                <a:noFill/>
                <a:prstDash val="solid"/>
              </a:ln>
            </p:spPr>
          </p:sp>
          <p:sp>
            <p:nvSpPr>
              <p:cNvPr id="55" name="Shape 52"/>
              <p:cNvSpPr/>
              <p:nvPr/>
            </p:nvSpPr>
            <p:spPr>
              <a:xfrm>
                <a:off x="7920712" y="5109048"/>
                <a:ext cx="198000" cy="36000"/>
              </a:xfrm>
              <a:prstGeom prst="rect">
                <a:avLst/>
              </a:prstGeom>
              <a:grpFill/>
              <a:ln w="12700">
                <a:noFill/>
                <a:prstDash val="solid"/>
              </a:ln>
            </p:spPr>
          </p:sp>
          <p:sp>
            <p:nvSpPr>
              <p:cNvPr id="56" name="Shape 52"/>
              <p:cNvSpPr/>
              <p:nvPr/>
            </p:nvSpPr>
            <p:spPr>
              <a:xfrm>
                <a:off x="8118712" y="5109048"/>
                <a:ext cx="198000" cy="36000"/>
              </a:xfrm>
              <a:prstGeom prst="rect">
                <a:avLst/>
              </a:prstGeom>
              <a:grpFill/>
              <a:ln w="12700">
                <a:noFill/>
                <a:prstDash val="solid"/>
              </a:ln>
            </p:spPr>
          </p:sp>
          <p:sp>
            <p:nvSpPr>
              <p:cNvPr id="57" name="Shape 52"/>
              <p:cNvSpPr/>
              <p:nvPr/>
            </p:nvSpPr>
            <p:spPr>
              <a:xfrm>
                <a:off x="8316712" y="5109048"/>
                <a:ext cx="198000" cy="36000"/>
              </a:xfrm>
              <a:prstGeom prst="rect">
                <a:avLst/>
              </a:prstGeom>
              <a:grpFill/>
              <a:ln w="12700">
                <a:noFill/>
                <a:prstDash val="solid"/>
              </a:ln>
            </p:spPr>
          </p:sp>
          <p:sp>
            <p:nvSpPr>
              <p:cNvPr id="58" name="Shape 52"/>
              <p:cNvSpPr/>
              <p:nvPr/>
            </p:nvSpPr>
            <p:spPr>
              <a:xfrm>
                <a:off x="8514712" y="5109048"/>
                <a:ext cx="198000" cy="36000"/>
              </a:xfrm>
              <a:prstGeom prst="rect">
                <a:avLst/>
              </a:prstGeom>
              <a:grpFill/>
              <a:ln w="12700">
                <a:noFill/>
                <a:prstDash val="solid"/>
              </a:ln>
            </p:spPr>
          </p:sp>
          <p:sp>
            <p:nvSpPr>
              <p:cNvPr id="59" name="Shape 52"/>
              <p:cNvSpPr/>
              <p:nvPr/>
            </p:nvSpPr>
            <p:spPr>
              <a:xfrm>
                <a:off x="8712712" y="5109048"/>
                <a:ext cx="198000" cy="36000"/>
              </a:xfrm>
              <a:prstGeom prst="rect">
                <a:avLst/>
              </a:prstGeom>
              <a:grpFill/>
              <a:ln w="12700">
                <a:noFill/>
                <a:prstDash val="solid"/>
              </a:ln>
            </p:spPr>
          </p:sp>
          <p:sp>
            <p:nvSpPr>
              <p:cNvPr id="60"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0" y="1645920"/>
            <a:ext cx="9144000" cy="1828800"/>
          </a:xfrm>
          <a:prstGeom prst="rect">
            <a:avLst/>
          </a:prstGeom>
          <a:solidFill>
            <a:srgbClr val="112233"/>
          </a:solidFill>
          <a:ln w="12700">
            <a:solidFill>
              <a:srgbClr val="112233"/>
            </a:solidFill>
            <a:prstDash val="solid"/>
          </a:ln>
        </p:spPr>
      </p:sp>
      <p:sp>
        <p:nvSpPr>
          <p:cNvPr id="3" name="Shape 1"/>
          <p:cNvSpPr/>
          <p:nvPr/>
        </p:nvSpPr>
        <p:spPr>
          <a:xfrm>
            <a:off x="0" y="1645920"/>
            <a:ext cx="109728" cy="1828800"/>
          </a:xfrm>
          <a:prstGeom prst="rect">
            <a:avLst/>
          </a:prstGeom>
          <a:solidFill>
            <a:srgbClr val="00E676"/>
          </a:solidFill>
          <a:ln w="12700">
            <a:solidFill>
              <a:srgbClr val="00E676"/>
            </a:solidFill>
            <a:prstDash val="solid"/>
          </a:ln>
        </p:spPr>
      </p:sp>
      <p:sp>
        <p:nvSpPr>
          <p:cNvPr id="4" name="Text 2"/>
          <p:cNvSpPr/>
          <p:nvPr/>
        </p:nvSpPr>
        <p:spPr>
          <a:xfrm>
            <a:off x="914400" y="548640"/>
            <a:ext cx="7315200" cy="822960"/>
          </a:xfrm>
          <a:prstGeom prst="rect">
            <a:avLst/>
          </a:prstGeom>
          <a:noFill/>
          <a:ln/>
        </p:spPr>
        <p:txBody>
          <a:bodyPr wrap="square" lIns="0" tIns="0" rIns="0" bIns="0" rtlCol="0" anchor="ctr"/>
          <a:lstStyle/>
          <a:p>
            <a:pPr marL="0" indent="0" algn="l">
              <a:buNone/>
            </a:pPr>
            <a:r>
              <a:rPr lang="en-US" sz="5200" b="1" dirty="0">
                <a:solidFill>
                  <a:srgbClr val="00E676"/>
                </a:solidFill>
              </a:rPr>
              <a:t>03</a:t>
            </a:r>
            <a:endParaRPr lang="en-US" sz="5200" dirty="0"/>
          </a:p>
        </p:txBody>
      </p:sp>
      <p:sp>
        <p:nvSpPr>
          <p:cNvPr id="5" name="Text 3"/>
          <p:cNvSpPr/>
          <p:nvPr/>
        </p:nvSpPr>
        <p:spPr>
          <a:xfrm>
            <a:off x="457200" y="1737360"/>
            <a:ext cx="8229600" cy="822960"/>
          </a:xfrm>
          <a:prstGeom prst="rect">
            <a:avLst/>
          </a:prstGeom>
          <a:noFill/>
          <a:ln/>
        </p:spPr>
        <p:txBody>
          <a:bodyPr wrap="square" lIns="0" tIns="0" rIns="0" bIns="0" rtlCol="0" anchor="ctr"/>
          <a:lstStyle/>
          <a:p>
            <a:pPr marL="0" indent="0">
              <a:buNone/>
            </a:pPr>
            <a:r>
              <a:rPr lang="en-US" sz="2800" b="1" dirty="0">
                <a:solidFill>
                  <a:srgbClr val="FFFFFF"/>
                </a:solidFill>
              </a:rPr>
              <a:t>Zasady Projektowania UI/UX</a:t>
            </a:r>
            <a:endParaRPr lang="en-US" sz="2800" dirty="0"/>
          </a:p>
        </p:txBody>
      </p:sp>
      <p:sp>
        <p:nvSpPr>
          <p:cNvPr id="6" name="Text 4"/>
          <p:cNvSpPr/>
          <p:nvPr/>
        </p:nvSpPr>
        <p:spPr>
          <a:xfrm>
            <a:off x="457200" y="2606040"/>
            <a:ext cx="8229600" cy="548640"/>
          </a:xfrm>
          <a:prstGeom prst="rect">
            <a:avLst/>
          </a:prstGeom>
          <a:noFill/>
          <a:ln/>
        </p:spPr>
        <p:txBody>
          <a:bodyPr wrap="square" lIns="0" tIns="0" rIns="0" bIns="0" rtlCol="0" anchor="t"/>
          <a:lstStyle/>
          <a:p>
            <a:pPr marL="0" indent="0">
              <a:buNone/>
            </a:pPr>
            <a:r>
              <a:rPr lang="en-US" sz="1400" dirty="0">
                <a:solidFill>
                  <a:srgbClr val="8899AA"/>
                </a:solidFill>
              </a:rPr>
              <a:t>Fundamentalne reguły i heurystyki projektowania interfejsów</a:t>
            </a:r>
            <a:endParaRPr lang="en-US" sz="1400" dirty="0"/>
          </a:p>
        </p:txBody>
      </p:sp>
      <p:sp>
        <p:nvSpPr>
          <p:cNvPr id="9" name="Text 7"/>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13 / </a:t>
            </a:r>
            <a:r>
              <a:rPr lang="pl-PL" sz="800" dirty="0" smtClean="0">
                <a:solidFill>
                  <a:srgbClr val="8899AA"/>
                </a:solidFill>
              </a:rPr>
              <a:t>46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grpSp>
        <p:nvGrpSpPr>
          <p:cNvPr id="68" name="Grupa 67"/>
          <p:cNvGrpSpPr/>
          <p:nvPr/>
        </p:nvGrpSpPr>
        <p:grpSpPr>
          <a:xfrm>
            <a:off x="-2381" y="4884912"/>
            <a:ext cx="9146381" cy="260136"/>
            <a:chOff x="-2381" y="4884912"/>
            <a:chExt cx="9146381" cy="260136"/>
          </a:xfrm>
        </p:grpSpPr>
        <p:sp>
          <p:nvSpPr>
            <p:cNvPr id="69" name="Shape 52"/>
            <p:cNvSpPr/>
            <p:nvPr/>
          </p:nvSpPr>
          <p:spPr>
            <a:xfrm>
              <a:off x="0" y="4884912"/>
              <a:ext cx="9144000" cy="252000"/>
            </a:xfrm>
            <a:prstGeom prst="rect">
              <a:avLst/>
            </a:prstGeom>
            <a:solidFill>
              <a:srgbClr val="071523"/>
            </a:solidFill>
            <a:ln w="12700">
              <a:solidFill>
                <a:srgbClr val="071523"/>
              </a:solidFill>
              <a:prstDash val="solid"/>
            </a:ln>
          </p:spPr>
        </p:sp>
        <p:sp>
          <p:nvSpPr>
            <p:cNvPr id="70"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71" name="Grupa 70"/>
            <p:cNvGrpSpPr/>
            <p:nvPr/>
          </p:nvGrpSpPr>
          <p:grpSpPr>
            <a:xfrm>
              <a:off x="-2381" y="5099329"/>
              <a:ext cx="9146381" cy="45719"/>
              <a:chOff x="-2381" y="5107500"/>
              <a:chExt cx="9111093" cy="37548"/>
            </a:xfrm>
            <a:solidFill>
              <a:schemeClr val="tx1"/>
            </a:solidFill>
          </p:grpSpPr>
          <p:sp>
            <p:nvSpPr>
              <p:cNvPr id="72"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73"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74"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75"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76"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77"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78"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79"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80"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81"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82"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83"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84"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85"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86" name="Shape 52"/>
              <p:cNvSpPr/>
              <p:nvPr/>
            </p:nvSpPr>
            <p:spPr>
              <a:xfrm>
                <a:off x="2772712" y="5108400"/>
                <a:ext cx="198000" cy="36000"/>
              </a:xfrm>
              <a:prstGeom prst="rect">
                <a:avLst/>
              </a:prstGeom>
              <a:grpFill/>
              <a:ln w="12700">
                <a:noFill/>
                <a:prstDash val="solid"/>
              </a:ln>
            </p:spPr>
          </p:sp>
          <p:sp>
            <p:nvSpPr>
              <p:cNvPr id="87" name="Shape 52"/>
              <p:cNvSpPr/>
              <p:nvPr/>
            </p:nvSpPr>
            <p:spPr>
              <a:xfrm>
                <a:off x="2970712" y="5108400"/>
                <a:ext cx="198000" cy="36000"/>
              </a:xfrm>
              <a:prstGeom prst="rect">
                <a:avLst/>
              </a:prstGeom>
              <a:grpFill/>
              <a:ln w="12700">
                <a:noFill/>
                <a:prstDash val="solid"/>
              </a:ln>
            </p:spPr>
          </p:sp>
          <p:sp>
            <p:nvSpPr>
              <p:cNvPr id="88" name="Shape 52"/>
              <p:cNvSpPr/>
              <p:nvPr/>
            </p:nvSpPr>
            <p:spPr>
              <a:xfrm>
                <a:off x="3168712" y="5108400"/>
                <a:ext cx="198000" cy="36000"/>
              </a:xfrm>
              <a:prstGeom prst="rect">
                <a:avLst/>
              </a:prstGeom>
              <a:grpFill/>
              <a:ln w="12700">
                <a:noFill/>
                <a:prstDash val="solid"/>
              </a:ln>
            </p:spPr>
          </p:sp>
          <p:sp>
            <p:nvSpPr>
              <p:cNvPr id="89" name="Shape 52"/>
              <p:cNvSpPr/>
              <p:nvPr/>
            </p:nvSpPr>
            <p:spPr>
              <a:xfrm>
                <a:off x="3366712" y="5108400"/>
                <a:ext cx="198000" cy="36000"/>
              </a:xfrm>
              <a:prstGeom prst="rect">
                <a:avLst/>
              </a:prstGeom>
              <a:grpFill/>
              <a:ln w="12700">
                <a:noFill/>
                <a:prstDash val="solid"/>
              </a:ln>
            </p:spPr>
          </p:sp>
          <p:sp>
            <p:nvSpPr>
              <p:cNvPr id="90" name="Shape 52"/>
              <p:cNvSpPr/>
              <p:nvPr/>
            </p:nvSpPr>
            <p:spPr>
              <a:xfrm>
                <a:off x="3564712" y="5108400"/>
                <a:ext cx="198000" cy="36000"/>
              </a:xfrm>
              <a:prstGeom prst="rect">
                <a:avLst/>
              </a:prstGeom>
              <a:grpFill/>
              <a:ln w="12700">
                <a:noFill/>
                <a:prstDash val="solid"/>
              </a:ln>
            </p:spPr>
          </p:sp>
          <p:sp>
            <p:nvSpPr>
              <p:cNvPr id="91" name="Shape 52"/>
              <p:cNvSpPr/>
              <p:nvPr/>
            </p:nvSpPr>
            <p:spPr>
              <a:xfrm>
                <a:off x="3762712" y="5108400"/>
                <a:ext cx="198000" cy="36000"/>
              </a:xfrm>
              <a:prstGeom prst="rect">
                <a:avLst/>
              </a:prstGeom>
              <a:grpFill/>
              <a:ln w="12700">
                <a:noFill/>
                <a:prstDash val="solid"/>
              </a:ln>
            </p:spPr>
          </p:sp>
          <p:sp>
            <p:nvSpPr>
              <p:cNvPr id="92" name="Shape 52"/>
              <p:cNvSpPr/>
              <p:nvPr/>
            </p:nvSpPr>
            <p:spPr>
              <a:xfrm>
                <a:off x="3960712" y="5107530"/>
                <a:ext cx="198000" cy="36000"/>
              </a:xfrm>
              <a:prstGeom prst="rect">
                <a:avLst/>
              </a:prstGeom>
              <a:grpFill/>
              <a:ln w="12700">
                <a:noFill/>
                <a:prstDash val="solid"/>
              </a:ln>
            </p:spPr>
          </p:sp>
          <p:sp>
            <p:nvSpPr>
              <p:cNvPr id="93" name="Shape 52"/>
              <p:cNvSpPr/>
              <p:nvPr/>
            </p:nvSpPr>
            <p:spPr>
              <a:xfrm>
                <a:off x="4158712" y="5107500"/>
                <a:ext cx="198000" cy="36000"/>
              </a:xfrm>
              <a:prstGeom prst="rect">
                <a:avLst/>
              </a:prstGeom>
              <a:grpFill/>
              <a:ln w="12700">
                <a:noFill/>
                <a:prstDash val="solid"/>
              </a:ln>
            </p:spPr>
          </p:sp>
          <p:sp>
            <p:nvSpPr>
              <p:cNvPr id="94" name="Shape 52"/>
              <p:cNvSpPr/>
              <p:nvPr/>
            </p:nvSpPr>
            <p:spPr>
              <a:xfrm>
                <a:off x="4356712" y="5107500"/>
                <a:ext cx="198000" cy="36000"/>
              </a:xfrm>
              <a:prstGeom prst="rect">
                <a:avLst/>
              </a:prstGeom>
              <a:grpFill/>
              <a:ln w="12700">
                <a:noFill/>
                <a:prstDash val="solid"/>
              </a:ln>
            </p:spPr>
          </p:sp>
          <p:sp>
            <p:nvSpPr>
              <p:cNvPr id="95" name="Shape 52"/>
              <p:cNvSpPr/>
              <p:nvPr/>
            </p:nvSpPr>
            <p:spPr>
              <a:xfrm>
                <a:off x="4554712" y="5107500"/>
                <a:ext cx="198000" cy="36000"/>
              </a:xfrm>
              <a:prstGeom prst="rect">
                <a:avLst/>
              </a:prstGeom>
              <a:grpFill/>
              <a:ln w="12700">
                <a:noFill/>
                <a:prstDash val="solid"/>
              </a:ln>
            </p:spPr>
          </p:sp>
          <p:sp>
            <p:nvSpPr>
              <p:cNvPr id="96" name="Shape 52"/>
              <p:cNvSpPr/>
              <p:nvPr/>
            </p:nvSpPr>
            <p:spPr>
              <a:xfrm>
                <a:off x="4752712" y="5107500"/>
                <a:ext cx="198000" cy="36000"/>
              </a:xfrm>
              <a:prstGeom prst="rect">
                <a:avLst/>
              </a:prstGeom>
              <a:grpFill/>
              <a:ln w="12700">
                <a:noFill/>
                <a:prstDash val="solid"/>
              </a:ln>
            </p:spPr>
          </p:sp>
          <p:sp>
            <p:nvSpPr>
              <p:cNvPr id="97" name="Shape 52"/>
              <p:cNvSpPr/>
              <p:nvPr/>
            </p:nvSpPr>
            <p:spPr>
              <a:xfrm>
                <a:off x="4950712" y="5107500"/>
                <a:ext cx="198000" cy="36000"/>
              </a:xfrm>
              <a:prstGeom prst="rect">
                <a:avLst/>
              </a:prstGeom>
              <a:grpFill/>
              <a:ln w="12700">
                <a:noFill/>
                <a:prstDash val="solid"/>
              </a:ln>
            </p:spPr>
          </p:sp>
          <p:sp>
            <p:nvSpPr>
              <p:cNvPr id="98" name="Shape 52"/>
              <p:cNvSpPr/>
              <p:nvPr/>
            </p:nvSpPr>
            <p:spPr>
              <a:xfrm>
                <a:off x="5148712" y="5107500"/>
                <a:ext cx="198000" cy="36000"/>
              </a:xfrm>
              <a:prstGeom prst="rect">
                <a:avLst/>
              </a:prstGeom>
              <a:grpFill/>
              <a:ln w="12700">
                <a:noFill/>
                <a:prstDash val="solid"/>
              </a:ln>
            </p:spPr>
          </p:sp>
          <p:sp>
            <p:nvSpPr>
              <p:cNvPr id="99" name="Shape 52"/>
              <p:cNvSpPr/>
              <p:nvPr/>
            </p:nvSpPr>
            <p:spPr>
              <a:xfrm>
                <a:off x="5346712" y="5108400"/>
                <a:ext cx="198000" cy="36000"/>
              </a:xfrm>
              <a:prstGeom prst="rect">
                <a:avLst/>
              </a:prstGeom>
              <a:grpFill/>
              <a:ln w="12700">
                <a:noFill/>
                <a:prstDash val="solid"/>
              </a:ln>
            </p:spPr>
          </p:sp>
          <p:sp>
            <p:nvSpPr>
              <p:cNvPr id="100" name="Shape 52"/>
              <p:cNvSpPr/>
              <p:nvPr/>
            </p:nvSpPr>
            <p:spPr>
              <a:xfrm>
                <a:off x="5544712" y="5108400"/>
                <a:ext cx="198000" cy="36000"/>
              </a:xfrm>
              <a:prstGeom prst="rect">
                <a:avLst/>
              </a:prstGeom>
              <a:grpFill/>
              <a:ln w="12700">
                <a:noFill/>
                <a:prstDash val="solid"/>
              </a:ln>
            </p:spPr>
          </p:sp>
          <p:sp>
            <p:nvSpPr>
              <p:cNvPr id="101" name="Shape 52"/>
              <p:cNvSpPr/>
              <p:nvPr/>
            </p:nvSpPr>
            <p:spPr>
              <a:xfrm>
                <a:off x="5742712" y="5108400"/>
                <a:ext cx="198000" cy="36000"/>
              </a:xfrm>
              <a:prstGeom prst="rect">
                <a:avLst/>
              </a:prstGeom>
              <a:grpFill/>
              <a:ln w="12700">
                <a:noFill/>
                <a:prstDash val="solid"/>
              </a:ln>
            </p:spPr>
          </p:sp>
          <p:sp>
            <p:nvSpPr>
              <p:cNvPr id="102" name="Shape 52"/>
              <p:cNvSpPr/>
              <p:nvPr/>
            </p:nvSpPr>
            <p:spPr>
              <a:xfrm>
                <a:off x="5940712" y="5108400"/>
                <a:ext cx="198000" cy="36000"/>
              </a:xfrm>
              <a:prstGeom prst="rect">
                <a:avLst/>
              </a:prstGeom>
              <a:grpFill/>
              <a:ln w="12700">
                <a:noFill/>
                <a:prstDash val="solid"/>
              </a:ln>
            </p:spPr>
          </p:sp>
          <p:sp>
            <p:nvSpPr>
              <p:cNvPr id="103" name="Shape 52"/>
              <p:cNvSpPr/>
              <p:nvPr/>
            </p:nvSpPr>
            <p:spPr>
              <a:xfrm>
                <a:off x="6138712" y="5108400"/>
                <a:ext cx="198000" cy="36000"/>
              </a:xfrm>
              <a:prstGeom prst="rect">
                <a:avLst/>
              </a:prstGeom>
              <a:grpFill/>
              <a:ln w="12700">
                <a:noFill/>
                <a:prstDash val="solid"/>
              </a:ln>
            </p:spPr>
          </p:sp>
          <p:sp>
            <p:nvSpPr>
              <p:cNvPr id="104" name="Shape 52"/>
              <p:cNvSpPr/>
              <p:nvPr/>
            </p:nvSpPr>
            <p:spPr>
              <a:xfrm>
                <a:off x="6336712" y="5108400"/>
                <a:ext cx="198000" cy="36000"/>
              </a:xfrm>
              <a:prstGeom prst="rect">
                <a:avLst/>
              </a:prstGeom>
              <a:grpFill/>
              <a:ln w="12700">
                <a:noFill/>
                <a:prstDash val="solid"/>
              </a:ln>
            </p:spPr>
          </p:sp>
          <p:sp>
            <p:nvSpPr>
              <p:cNvPr id="105" name="Shape 52"/>
              <p:cNvSpPr/>
              <p:nvPr/>
            </p:nvSpPr>
            <p:spPr>
              <a:xfrm>
                <a:off x="6534712" y="5108400"/>
                <a:ext cx="198000" cy="36000"/>
              </a:xfrm>
              <a:prstGeom prst="rect">
                <a:avLst/>
              </a:prstGeom>
              <a:grpFill/>
              <a:ln w="12700">
                <a:noFill/>
                <a:prstDash val="solid"/>
              </a:ln>
            </p:spPr>
          </p:sp>
          <p:sp>
            <p:nvSpPr>
              <p:cNvPr id="106" name="Shape 52"/>
              <p:cNvSpPr/>
              <p:nvPr/>
            </p:nvSpPr>
            <p:spPr>
              <a:xfrm>
                <a:off x="6732712" y="5108400"/>
                <a:ext cx="198000" cy="36000"/>
              </a:xfrm>
              <a:prstGeom prst="rect">
                <a:avLst/>
              </a:prstGeom>
              <a:grpFill/>
              <a:ln w="12700">
                <a:noFill/>
                <a:prstDash val="solid"/>
              </a:ln>
            </p:spPr>
          </p:sp>
          <p:sp>
            <p:nvSpPr>
              <p:cNvPr id="107" name="Shape 52"/>
              <p:cNvSpPr/>
              <p:nvPr/>
            </p:nvSpPr>
            <p:spPr>
              <a:xfrm>
                <a:off x="6930712" y="5108400"/>
                <a:ext cx="198000" cy="36000"/>
              </a:xfrm>
              <a:prstGeom prst="rect">
                <a:avLst/>
              </a:prstGeom>
              <a:grpFill/>
              <a:ln w="12700">
                <a:noFill/>
                <a:prstDash val="solid"/>
              </a:ln>
            </p:spPr>
          </p:sp>
          <p:sp>
            <p:nvSpPr>
              <p:cNvPr id="108" name="Shape 52"/>
              <p:cNvSpPr/>
              <p:nvPr/>
            </p:nvSpPr>
            <p:spPr>
              <a:xfrm>
                <a:off x="7128712" y="5108400"/>
                <a:ext cx="198000" cy="36000"/>
              </a:xfrm>
              <a:prstGeom prst="rect">
                <a:avLst/>
              </a:prstGeom>
              <a:grpFill/>
              <a:ln w="12700">
                <a:noFill/>
                <a:prstDash val="solid"/>
              </a:ln>
            </p:spPr>
          </p:sp>
          <p:sp>
            <p:nvSpPr>
              <p:cNvPr id="109" name="Shape 52"/>
              <p:cNvSpPr/>
              <p:nvPr/>
            </p:nvSpPr>
            <p:spPr>
              <a:xfrm>
                <a:off x="7326712" y="5108400"/>
                <a:ext cx="198000" cy="36000"/>
              </a:xfrm>
              <a:prstGeom prst="rect">
                <a:avLst/>
              </a:prstGeom>
              <a:grpFill/>
              <a:ln w="12700">
                <a:noFill/>
                <a:prstDash val="solid"/>
              </a:ln>
            </p:spPr>
          </p:sp>
          <p:sp>
            <p:nvSpPr>
              <p:cNvPr id="110" name="Shape 52"/>
              <p:cNvSpPr/>
              <p:nvPr/>
            </p:nvSpPr>
            <p:spPr>
              <a:xfrm>
                <a:off x="7524712" y="5108400"/>
                <a:ext cx="198000" cy="36000"/>
              </a:xfrm>
              <a:prstGeom prst="rect">
                <a:avLst/>
              </a:prstGeom>
              <a:grpFill/>
              <a:ln w="12700">
                <a:noFill/>
                <a:prstDash val="solid"/>
              </a:ln>
            </p:spPr>
          </p:sp>
          <p:sp>
            <p:nvSpPr>
              <p:cNvPr id="111" name="Shape 52"/>
              <p:cNvSpPr/>
              <p:nvPr/>
            </p:nvSpPr>
            <p:spPr>
              <a:xfrm>
                <a:off x="7722712" y="5108400"/>
                <a:ext cx="198000" cy="36000"/>
              </a:xfrm>
              <a:prstGeom prst="rect">
                <a:avLst/>
              </a:prstGeom>
              <a:grpFill/>
              <a:ln w="12700">
                <a:noFill/>
                <a:prstDash val="solid"/>
              </a:ln>
            </p:spPr>
          </p:sp>
          <p:sp>
            <p:nvSpPr>
              <p:cNvPr id="112" name="Shape 52"/>
              <p:cNvSpPr/>
              <p:nvPr/>
            </p:nvSpPr>
            <p:spPr>
              <a:xfrm>
                <a:off x="7920712" y="5109048"/>
                <a:ext cx="198000" cy="36000"/>
              </a:xfrm>
              <a:prstGeom prst="rect">
                <a:avLst/>
              </a:prstGeom>
              <a:grpFill/>
              <a:ln w="12700">
                <a:noFill/>
                <a:prstDash val="solid"/>
              </a:ln>
            </p:spPr>
          </p:sp>
          <p:sp>
            <p:nvSpPr>
              <p:cNvPr id="113" name="Shape 52"/>
              <p:cNvSpPr/>
              <p:nvPr/>
            </p:nvSpPr>
            <p:spPr>
              <a:xfrm>
                <a:off x="8118712" y="5109048"/>
                <a:ext cx="198000" cy="36000"/>
              </a:xfrm>
              <a:prstGeom prst="rect">
                <a:avLst/>
              </a:prstGeom>
              <a:grpFill/>
              <a:ln w="12700">
                <a:noFill/>
                <a:prstDash val="solid"/>
              </a:ln>
            </p:spPr>
          </p:sp>
          <p:sp>
            <p:nvSpPr>
              <p:cNvPr id="114" name="Shape 52"/>
              <p:cNvSpPr/>
              <p:nvPr/>
            </p:nvSpPr>
            <p:spPr>
              <a:xfrm>
                <a:off x="8316712" y="5109048"/>
                <a:ext cx="198000" cy="36000"/>
              </a:xfrm>
              <a:prstGeom prst="rect">
                <a:avLst/>
              </a:prstGeom>
              <a:grpFill/>
              <a:ln w="12700">
                <a:noFill/>
                <a:prstDash val="solid"/>
              </a:ln>
            </p:spPr>
          </p:sp>
          <p:sp>
            <p:nvSpPr>
              <p:cNvPr id="115" name="Shape 52"/>
              <p:cNvSpPr/>
              <p:nvPr/>
            </p:nvSpPr>
            <p:spPr>
              <a:xfrm>
                <a:off x="8514712" y="5109048"/>
                <a:ext cx="198000" cy="36000"/>
              </a:xfrm>
              <a:prstGeom prst="rect">
                <a:avLst/>
              </a:prstGeom>
              <a:grpFill/>
              <a:ln w="12700">
                <a:noFill/>
                <a:prstDash val="solid"/>
              </a:ln>
            </p:spPr>
          </p:sp>
          <p:sp>
            <p:nvSpPr>
              <p:cNvPr id="116" name="Shape 52"/>
              <p:cNvSpPr/>
              <p:nvPr/>
            </p:nvSpPr>
            <p:spPr>
              <a:xfrm>
                <a:off x="8712712" y="5109048"/>
                <a:ext cx="198000" cy="36000"/>
              </a:xfrm>
              <a:prstGeom prst="rect">
                <a:avLst/>
              </a:prstGeom>
              <a:grpFill/>
              <a:ln w="12700">
                <a:noFill/>
                <a:prstDash val="solid"/>
              </a:ln>
            </p:spPr>
          </p:sp>
          <p:sp>
            <p:nvSpPr>
              <p:cNvPr id="117"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00E676"/>
          </a:solidFill>
          <a:ln w="12700">
            <a:solidFill>
              <a:srgbClr val="00E676"/>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10 Heurystyk Nielsena w Projektowaniu Mobilnym</a:t>
            </a:r>
            <a:endParaRPr lang="en-US" sz="2200" dirty="0"/>
          </a:p>
        </p:txBody>
      </p:sp>
      <p:sp>
        <p:nvSpPr>
          <p:cNvPr id="4" name="Shape 2"/>
          <p:cNvSpPr/>
          <p:nvPr/>
        </p:nvSpPr>
        <p:spPr>
          <a:xfrm>
            <a:off x="320040" y="960120"/>
            <a:ext cx="4251960" cy="658368"/>
          </a:xfrm>
          <a:prstGeom prst="rect">
            <a:avLst/>
          </a:prstGeom>
          <a:solidFill>
            <a:srgbClr val="112233"/>
          </a:solidFill>
          <a:ln w="12700">
            <a:solidFill>
              <a:srgbClr val="1A3050"/>
            </a:solidFill>
            <a:prstDash val="solid"/>
          </a:ln>
        </p:spPr>
      </p:sp>
      <p:sp>
        <p:nvSpPr>
          <p:cNvPr id="5" name="Shape 3"/>
          <p:cNvSpPr/>
          <p:nvPr/>
        </p:nvSpPr>
        <p:spPr>
          <a:xfrm>
            <a:off x="320040" y="960120"/>
            <a:ext cx="36576" cy="658368"/>
          </a:xfrm>
          <a:prstGeom prst="rect">
            <a:avLst/>
          </a:prstGeom>
          <a:solidFill>
            <a:srgbClr val="00D4FF"/>
          </a:solidFill>
          <a:ln w="12700">
            <a:solidFill>
              <a:srgbClr val="00D4FF"/>
            </a:solidFill>
            <a:prstDash val="solid"/>
          </a:ln>
        </p:spPr>
      </p:sp>
      <p:sp>
        <p:nvSpPr>
          <p:cNvPr id="6" name="Shape 4"/>
          <p:cNvSpPr/>
          <p:nvPr/>
        </p:nvSpPr>
        <p:spPr>
          <a:xfrm>
            <a:off x="411480" y="1069848"/>
            <a:ext cx="329184" cy="329184"/>
          </a:xfrm>
          <a:prstGeom prst="ellipse">
            <a:avLst/>
          </a:prstGeom>
          <a:solidFill>
            <a:srgbClr val="00D4FF"/>
          </a:solidFill>
          <a:ln w="12700">
            <a:solidFill>
              <a:srgbClr val="00D4FF"/>
            </a:solidFill>
            <a:prstDash val="solid"/>
          </a:ln>
        </p:spPr>
      </p:sp>
      <p:sp>
        <p:nvSpPr>
          <p:cNvPr id="7" name="Text 5"/>
          <p:cNvSpPr/>
          <p:nvPr/>
        </p:nvSpPr>
        <p:spPr>
          <a:xfrm>
            <a:off x="411480" y="1069848"/>
            <a:ext cx="329184" cy="329184"/>
          </a:xfrm>
          <a:prstGeom prst="rect">
            <a:avLst/>
          </a:prstGeom>
          <a:noFill/>
          <a:ln/>
        </p:spPr>
        <p:txBody>
          <a:bodyPr wrap="square" lIns="0" tIns="0" rIns="0" bIns="0" rtlCol="0" anchor="ctr"/>
          <a:lstStyle/>
          <a:p>
            <a:pPr marL="0" indent="0" algn="ctr">
              <a:buNone/>
            </a:pPr>
            <a:r>
              <a:rPr lang="en-US" sz="1000" b="1" dirty="0">
                <a:solidFill>
                  <a:srgbClr val="0D1B2A"/>
                </a:solidFill>
              </a:rPr>
              <a:t>1</a:t>
            </a:r>
            <a:endParaRPr lang="en-US" sz="1000" dirty="0"/>
          </a:p>
        </p:txBody>
      </p:sp>
      <p:sp>
        <p:nvSpPr>
          <p:cNvPr id="8" name="Text 6"/>
          <p:cNvSpPr/>
          <p:nvPr/>
        </p:nvSpPr>
        <p:spPr>
          <a:xfrm>
            <a:off x="822960" y="1033272"/>
            <a:ext cx="3657600" cy="274320"/>
          </a:xfrm>
          <a:prstGeom prst="rect">
            <a:avLst/>
          </a:prstGeom>
          <a:noFill/>
          <a:ln/>
        </p:spPr>
        <p:txBody>
          <a:bodyPr wrap="square" lIns="0" tIns="0" rIns="0" bIns="0" rtlCol="0" anchor="ctr"/>
          <a:lstStyle/>
          <a:p>
            <a:pPr marL="0" indent="0">
              <a:buNone/>
            </a:pPr>
            <a:r>
              <a:rPr lang="en-US" sz="1000" b="1" dirty="0">
                <a:solidFill>
                  <a:srgbClr val="FFFFFF"/>
                </a:solidFill>
              </a:rPr>
              <a:t>Widoczność Statusu</a:t>
            </a:r>
            <a:endParaRPr lang="en-US" sz="1000" dirty="0"/>
          </a:p>
        </p:txBody>
      </p:sp>
      <p:sp>
        <p:nvSpPr>
          <p:cNvPr id="9" name="Text 7"/>
          <p:cNvSpPr/>
          <p:nvPr/>
        </p:nvSpPr>
        <p:spPr>
          <a:xfrm>
            <a:off x="822960" y="1325880"/>
            <a:ext cx="3657600" cy="237744"/>
          </a:xfrm>
          <a:prstGeom prst="rect">
            <a:avLst/>
          </a:prstGeom>
          <a:noFill/>
          <a:ln/>
        </p:spPr>
        <p:txBody>
          <a:bodyPr wrap="square" lIns="0" tIns="0" rIns="0" bIns="0" rtlCol="0" anchor="ctr"/>
          <a:lstStyle/>
          <a:p>
            <a:pPr marL="0" indent="0">
              <a:buNone/>
            </a:pPr>
            <a:r>
              <a:rPr lang="en-US" sz="850" dirty="0">
                <a:solidFill>
                  <a:srgbClr val="8899AA"/>
                </a:solidFill>
              </a:rPr>
              <a:t>Loadery, toasty, paski postępu</a:t>
            </a:r>
            <a:endParaRPr lang="en-US" sz="850" dirty="0"/>
          </a:p>
        </p:txBody>
      </p:sp>
      <p:sp>
        <p:nvSpPr>
          <p:cNvPr id="10" name="Shape 8"/>
          <p:cNvSpPr/>
          <p:nvPr/>
        </p:nvSpPr>
        <p:spPr>
          <a:xfrm>
            <a:off x="320040" y="1709928"/>
            <a:ext cx="4251960" cy="658368"/>
          </a:xfrm>
          <a:prstGeom prst="rect">
            <a:avLst/>
          </a:prstGeom>
          <a:solidFill>
            <a:srgbClr val="112233"/>
          </a:solidFill>
          <a:ln w="12700">
            <a:solidFill>
              <a:srgbClr val="1A3050"/>
            </a:solidFill>
            <a:prstDash val="solid"/>
          </a:ln>
        </p:spPr>
      </p:sp>
      <p:sp>
        <p:nvSpPr>
          <p:cNvPr id="11" name="Shape 9"/>
          <p:cNvSpPr/>
          <p:nvPr/>
        </p:nvSpPr>
        <p:spPr>
          <a:xfrm>
            <a:off x="320040" y="1709928"/>
            <a:ext cx="36576" cy="658368"/>
          </a:xfrm>
          <a:prstGeom prst="rect">
            <a:avLst/>
          </a:prstGeom>
          <a:solidFill>
            <a:srgbClr val="FF2D78"/>
          </a:solidFill>
          <a:ln w="12700">
            <a:solidFill>
              <a:srgbClr val="FF2D78"/>
            </a:solidFill>
            <a:prstDash val="solid"/>
          </a:ln>
        </p:spPr>
      </p:sp>
      <p:sp>
        <p:nvSpPr>
          <p:cNvPr id="12" name="Shape 10"/>
          <p:cNvSpPr/>
          <p:nvPr/>
        </p:nvSpPr>
        <p:spPr>
          <a:xfrm>
            <a:off x="411480" y="1819656"/>
            <a:ext cx="329184" cy="329184"/>
          </a:xfrm>
          <a:prstGeom prst="ellipse">
            <a:avLst/>
          </a:prstGeom>
          <a:solidFill>
            <a:srgbClr val="FF2D78"/>
          </a:solidFill>
          <a:ln w="12700">
            <a:solidFill>
              <a:srgbClr val="FF2D78"/>
            </a:solidFill>
            <a:prstDash val="solid"/>
          </a:ln>
        </p:spPr>
      </p:sp>
      <p:sp>
        <p:nvSpPr>
          <p:cNvPr id="13" name="Text 11"/>
          <p:cNvSpPr/>
          <p:nvPr/>
        </p:nvSpPr>
        <p:spPr>
          <a:xfrm>
            <a:off x="411480" y="1819656"/>
            <a:ext cx="329184" cy="329184"/>
          </a:xfrm>
          <a:prstGeom prst="rect">
            <a:avLst/>
          </a:prstGeom>
          <a:noFill/>
          <a:ln/>
        </p:spPr>
        <p:txBody>
          <a:bodyPr wrap="square" lIns="0" tIns="0" rIns="0" bIns="0" rtlCol="0" anchor="ctr"/>
          <a:lstStyle/>
          <a:p>
            <a:pPr marL="0" indent="0" algn="ctr">
              <a:buNone/>
            </a:pPr>
            <a:r>
              <a:rPr lang="en-US" sz="1000" b="1" dirty="0">
                <a:solidFill>
                  <a:srgbClr val="0D1B2A"/>
                </a:solidFill>
              </a:rPr>
              <a:t>2</a:t>
            </a:r>
            <a:endParaRPr lang="en-US" sz="1000" dirty="0"/>
          </a:p>
        </p:txBody>
      </p:sp>
      <p:sp>
        <p:nvSpPr>
          <p:cNvPr id="14" name="Text 12"/>
          <p:cNvSpPr/>
          <p:nvPr/>
        </p:nvSpPr>
        <p:spPr>
          <a:xfrm>
            <a:off x="822960" y="1783080"/>
            <a:ext cx="3657600" cy="274320"/>
          </a:xfrm>
          <a:prstGeom prst="rect">
            <a:avLst/>
          </a:prstGeom>
          <a:noFill/>
          <a:ln/>
        </p:spPr>
        <p:txBody>
          <a:bodyPr wrap="square" lIns="0" tIns="0" rIns="0" bIns="0" rtlCol="0" anchor="ctr"/>
          <a:lstStyle/>
          <a:p>
            <a:pPr marL="0" indent="0">
              <a:buNone/>
            </a:pPr>
            <a:r>
              <a:rPr lang="en-US" sz="1000" b="1" dirty="0">
                <a:solidFill>
                  <a:srgbClr val="FFFFFF"/>
                </a:solidFill>
              </a:rPr>
              <a:t>Dopasowanie do Świata</a:t>
            </a:r>
            <a:endParaRPr lang="en-US" sz="1000" dirty="0"/>
          </a:p>
        </p:txBody>
      </p:sp>
      <p:sp>
        <p:nvSpPr>
          <p:cNvPr id="15" name="Text 13"/>
          <p:cNvSpPr/>
          <p:nvPr/>
        </p:nvSpPr>
        <p:spPr>
          <a:xfrm>
            <a:off x="822960" y="2075688"/>
            <a:ext cx="3657600" cy="237744"/>
          </a:xfrm>
          <a:prstGeom prst="rect">
            <a:avLst/>
          </a:prstGeom>
          <a:noFill/>
          <a:ln/>
        </p:spPr>
        <p:txBody>
          <a:bodyPr wrap="square" lIns="0" tIns="0" rIns="0" bIns="0" rtlCol="0" anchor="ctr"/>
          <a:lstStyle/>
          <a:p>
            <a:pPr marL="0" indent="0">
              <a:buNone/>
            </a:pPr>
            <a:r>
              <a:rPr lang="en-US" sz="850" dirty="0">
                <a:solidFill>
                  <a:srgbClr val="8899AA"/>
                </a:solidFill>
              </a:rPr>
              <a:t>Realne metafory (kosz = usuwanie)</a:t>
            </a:r>
            <a:endParaRPr lang="en-US" sz="850" dirty="0"/>
          </a:p>
        </p:txBody>
      </p:sp>
      <p:sp>
        <p:nvSpPr>
          <p:cNvPr id="16" name="Shape 14"/>
          <p:cNvSpPr/>
          <p:nvPr/>
        </p:nvSpPr>
        <p:spPr>
          <a:xfrm>
            <a:off x="320040" y="2459736"/>
            <a:ext cx="4251960" cy="658368"/>
          </a:xfrm>
          <a:prstGeom prst="rect">
            <a:avLst/>
          </a:prstGeom>
          <a:solidFill>
            <a:srgbClr val="112233"/>
          </a:solidFill>
          <a:ln w="12700">
            <a:solidFill>
              <a:srgbClr val="1A3050"/>
            </a:solidFill>
            <a:prstDash val="solid"/>
          </a:ln>
        </p:spPr>
      </p:sp>
      <p:sp>
        <p:nvSpPr>
          <p:cNvPr id="17" name="Shape 15"/>
          <p:cNvSpPr/>
          <p:nvPr/>
        </p:nvSpPr>
        <p:spPr>
          <a:xfrm>
            <a:off x="320040" y="2459736"/>
            <a:ext cx="36576" cy="658368"/>
          </a:xfrm>
          <a:prstGeom prst="rect">
            <a:avLst/>
          </a:prstGeom>
          <a:solidFill>
            <a:srgbClr val="00E676"/>
          </a:solidFill>
          <a:ln w="12700">
            <a:solidFill>
              <a:srgbClr val="00E676"/>
            </a:solidFill>
            <a:prstDash val="solid"/>
          </a:ln>
        </p:spPr>
      </p:sp>
      <p:sp>
        <p:nvSpPr>
          <p:cNvPr id="18" name="Shape 16"/>
          <p:cNvSpPr/>
          <p:nvPr/>
        </p:nvSpPr>
        <p:spPr>
          <a:xfrm>
            <a:off x="411480" y="2569464"/>
            <a:ext cx="329184" cy="329184"/>
          </a:xfrm>
          <a:prstGeom prst="ellipse">
            <a:avLst/>
          </a:prstGeom>
          <a:solidFill>
            <a:srgbClr val="00E676"/>
          </a:solidFill>
          <a:ln w="12700">
            <a:solidFill>
              <a:srgbClr val="00E676"/>
            </a:solidFill>
            <a:prstDash val="solid"/>
          </a:ln>
        </p:spPr>
      </p:sp>
      <p:sp>
        <p:nvSpPr>
          <p:cNvPr id="19" name="Text 17"/>
          <p:cNvSpPr/>
          <p:nvPr/>
        </p:nvSpPr>
        <p:spPr>
          <a:xfrm>
            <a:off x="411480" y="2569464"/>
            <a:ext cx="329184" cy="329184"/>
          </a:xfrm>
          <a:prstGeom prst="rect">
            <a:avLst/>
          </a:prstGeom>
          <a:noFill/>
          <a:ln/>
        </p:spPr>
        <p:txBody>
          <a:bodyPr wrap="square" lIns="0" tIns="0" rIns="0" bIns="0" rtlCol="0" anchor="ctr"/>
          <a:lstStyle/>
          <a:p>
            <a:pPr marL="0" indent="0" algn="ctr">
              <a:buNone/>
            </a:pPr>
            <a:r>
              <a:rPr lang="en-US" sz="1000" b="1" dirty="0">
                <a:solidFill>
                  <a:srgbClr val="0D1B2A"/>
                </a:solidFill>
              </a:rPr>
              <a:t>3</a:t>
            </a:r>
            <a:endParaRPr lang="en-US" sz="1000" dirty="0"/>
          </a:p>
        </p:txBody>
      </p:sp>
      <p:sp>
        <p:nvSpPr>
          <p:cNvPr id="20" name="Text 18"/>
          <p:cNvSpPr/>
          <p:nvPr/>
        </p:nvSpPr>
        <p:spPr>
          <a:xfrm>
            <a:off x="822960" y="2532888"/>
            <a:ext cx="3657600" cy="274320"/>
          </a:xfrm>
          <a:prstGeom prst="rect">
            <a:avLst/>
          </a:prstGeom>
          <a:noFill/>
          <a:ln/>
        </p:spPr>
        <p:txBody>
          <a:bodyPr wrap="square" lIns="0" tIns="0" rIns="0" bIns="0" rtlCol="0" anchor="ctr"/>
          <a:lstStyle/>
          <a:p>
            <a:pPr marL="0" indent="0">
              <a:buNone/>
            </a:pPr>
            <a:r>
              <a:rPr lang="en-US" sz="1000" b="1" dirty="0">
                <a:solidFill>
                  <a:srgbClr val="FFFFFF"/>
                </a:solidFill>
              </a:rPr>
              <a:t>Kontrola i Wolność</a:t>
            </a:r>
            <a:endParaRPr lang="en-US" sz="1000" dirty="0"/>
          </a:p>
        </p:txBody>
      </p:sp>
      <p:sp>
        <p:nvSpPr>
          <p:cNvPr id="21" name="Text 19"/>
          <p:cNvSpPr/>
          <p:nvPr/>
        </p:nvSpPr>
        <p:spPr>
          <a:xfrm>
            <a:off x="822960" y="2825496"/>
            <a:ext cx="3657600" cy="237744"/>
          </a:xfrm>
          <a:prstGeom prst="rect">
            <a:avLst/>
          </a:prstGeom>
          <a:noFill/>
          <a:ln/>
        </p:spPr>
        <p:txBody>
          <a:bodyPr wrap="square" lIns="0" tIns="0" rIns="0" bIns="0" rtlCol="0" anchor="ctr"/>
          <a:lstStyle/>
          <a:p>
            <a:pPr marL="0" indent="0">
              <a:buNone/>
            </a:pPr>
            <a:r>
              <a:rPr lang="en-US" sz="850" dirty="0">
                <a:solidFill>
                  <a:srgbClr val="8899AA"/>
                </a:solidFill>
              </a:rPr>
              <a:t>Undo, Cancel, Back button</a:t>
            </a:r>
            <a:endParaRPr lang="en-US" sz="850" dirty="0"/>
          </a:p>
        </p:txBody>
      </p:sp>
      <p:sp>
        <p:nvSpPr>
          <p:cNvPr id="22" name="Shape 20"/>
          <p:cNvSpPr/>
          <p:nvPr/>
        </p:nvSpPr>
        <p:spPr>
          <a:xfrm>
            <a:off x="320040" y="3209544"/>
            <a:ext cx="4251960" cy="658368"/>
          </a:xfrm>
          <a:prstGeom prst="rect">
            <a:avLst/>
          </a:prstGeom>
          <a:solidFill>
            <a:srgbClr val="112233"/>
          </a:solidFill>
          <a:ln w="12700">
            <a:solidFill>
              <a:srgbClr val="1A3050"/>
            </a:solidFill>
            <a:prstDash val="solid"/>
          </a:ln>
        </p:spPr>
      </p:sp>
      <p:sp>
        <p:nvSpPr>
          <p:cNvPr id="23" name="Shape 21"/>
          <p:cNvSpPr/>
          <p:nvPr/>
        </p:nvSpPr>
        <p:spPr>
          <a:xfrm>
            <a:off x="320040" y="3209544"/>
            <a:ext cx="36576" cy="658368"/>
          </a:xfrm>
          <a:prstGeom prst="rect">
            <a:avLst/>
          </a:prstGeom>
          <a:solidFill>
            <a:srgbClr val="B388FF"/>
          </a:solidFill>
          <a:ln w="12700">
            <a:solidFill>
              <a:srgbClr val="B388FF"/>
            </a:solidFill>
            <a:prstDash val="solid"/>
          </a:ln>
        </p:spPr>
      </p:sp>
      <p:sp>
        <p:nvSpPr>
          <p:cNvPr id="24" name="Shape 22"/>
          <p:cNvSpPr/>
          <p:nvPr/>
        </p:nvSpPr>
        <p:spPr>
          <a:xfrm>
            <a:off x="411480" y="3319272"/>
            <a:ext cx="329184" cy="329184"/>
          </a:xfrm>
          <a:prstGeom prst="ellipse">
            <a:avLst/>
          </a:prstGeom>
          <a:solidFill>
            <a:srgbClr val="B388FF"/>
          </a:solidFill>
          <a:ln w="12700">
            <a:solidFill>
              <a:srgbClr val="B388FF"/>
            </a:solidFill>
            <a:prstDash val="solid"/>
          </a:ln>
        </p:spPr>
      </p:sp>
      <p:sp>
        <p:nvSpPr>
          <p:cNvPr id="25" name="Text 23"/>
          <p:cNvSpPr/>
          <p:nvPr/>
        </p:nvSpPr>
        <p:spPr>
          <a:xfrm>
            <a:off x="411480" y="3319272"/>
            <a:ext cx="329184" cy="329184"/>
          </a:xfrm>
          <a:prstGeom prst="rect">
            <a:avLst/>
          </a:prstGeom>
          <a:noFill/>
          <a:ln/>
        </p:spPr>
        <p:txBody>
          <a:bodyPr wrap="square" lIns="0" tIns="0" rIns="0" bIns="0" rtlCol="0" anchor="ctr"/>
          <a:lstStyle/>
          <a:p>
            <a:pPr marL="0" indent="0" algn="ctr">
              <a:buNone/>
            </a:pPr>
            <a:r>
              <a:rPr lang="en-US" sz="1000" b="1" dirty="0">
                <a:solidFill>
                  <a:srgbClr val="0D1B2A"/>
                </a:solidFill>
              </a:rPr>
              <a:t>4</a:t>
            </a:r>
            <a:endParaRPr lang="en-US" sz="1000" dirty="0"/>
          </a:p>
        </p:txBody>
      </p:sp>
      <p:sp>
        <p:nvSpPr>
          <p:cNvPr id="26" name="Text 24"/>
          <p:cNvSpPr/>
          <p:nvPr/>
        </p:nvSpPr>
        <p:spPr>
          <a:xfrm>
            <a:off x="822960" y="3282696"/>
            <a:ext cx="3657600" cy="274320"/>
          </a:xfrm>
          <a:prstGeom prst="rect">
            <a:avLst/>
          </a:prstGeom>
          <a:noFill/>
          <a:ln/>
        </p:spPr>
        <p:txBody>
          <a:bodyPr wrap="square" lIns="0" tIns="0" rIns="0" bIns="0" rtlCol="0" anchor="ctr"/>
          <a:lstStyle/>
          <a:p>
            <a:pPr marL="0" indent="0">
              <a:buNone/>
            </a:pPr>
            <a:r>
              <a:rPr lang="en-US" sz="1000" b="1" dirty="0">
                <a:solidFill>
                  <a:srgbClr val="FFFFFF"/>
                </a:solidFill>
              </a:rPr>
              <a:t>Spójność i Standardy</a:t>
            </a:r>
            <a:endParaRPr lang="en-US" sz="1000" dirty="0"/>
          </a:p>
        </p:txBody>
      </p:sp>
      <p:sp>
        <p:nvSpPr>
          <p:cNvPr id="27" name="Text 25"/>
          <p:cNvSpPr/>
          <p:nvPr/>
        </p:nvSpPr>
        <p:spPr>
          <a:xfrm>
            <a:off x="822960" y="3575304"/>
            <a:ext cx="3657600" cy="237744"/>
          </a:xfrm>
          <a:prstGeom prst="rect">
            <a:avLst/>
          </a:prstGeom>
          <a:noFill/>
          <a:ln/>
        </p:spPr>
        <p:txBody>
          <a:bodyPr wrap="square" lIns="0" tIns="0" rIns="0" bIns="0" rtlCol="0" anchor="ctr"/>
          <a:lstStyle/>
          <a:p>
            <a:pPr marL="0" indent="0">
              <a:buNone/>
            </a:pPr>
            <a:r>
              <a:rPr lang="en-US" sz="850" dirty="0">
                <a:solidFill>
                  <a:srgbClr val="8899AA"/>
                </a:solidFill>
              </a:rPr>
              <a:t>Platformowe wzorce iOS/Android</a:t>
            </a:r>
            <a:endParaRPr lang="en-US" sz="850" dirty="0"/>
          </a:p>
        </p:txBody>
      </p:sp>
      <p:sp>
        <p:nvSpPr>
          <p:cNvPr id="28" name="Shape 26"/>
          <p:cNvSpPr/>
          <p:nvPr/>
        </p:nvSpPr>
        <p:spPr>
          <a:xfrm>
            <a:off x="320040" y="3959352"/>
            <a:ext cx="4251960" cy="658368"/>
          </a:xfrm>
          <a:prstGeom prst="rect">
            <a:avLst/>
          </a:prstGeom>
          <a:solidFill>
            <a:srgbClr val="112233"/>
          </a:solidFill>
          <a:ln w="12700">
            <a:solidFill>
              <a:srgbClr val="1A3050"/>
            </a:solidFill>
            <a:prstDash val="solid"/>
          </a:ln>
        </p:spPr>
      </p:sp>
      <p:sp>
        <p:nvSpPr>
          <p:cNvPr id="29" name="Shape 27"/>
          <p:cNvSpPr/>
          <p:nvPr/>
        </p:nvSpPr>
        <p:spPr>
          <a:xfrm>
            <a:off x="320040" y="3959352"/>
            <a:ext cx="36576" cy="658368"/>
          </a:xfrm>
          <a:prstGeom prst="rect">
            <a:avLst/>
          </a:prstGeom>
          <a:solidFill>
            <a:srgbClr val="FF9100"/>
          </a:solidFill>
          <a:ln w="12700">
            <a:solidFill>
              <a:srgbClr val="FF9100"/>
            </a:solidFill>
            <a:prstDash val="solid"/>
          </a:ln>
        </p:spPr>
      </p:sp>
      <p:sp>
        <p:nvSpPr>
          <p:cNvPr id="30" name="Shape 28"/>
          <p:cNvSpPr/>
          <p:nvPr/>
        </p:nvSpPr>
        <p:spPr>
          <a:xfrm>
            <a:off x="411480" y="4069080"/>
            <a:ext cx="329184" cy="329184"/>
          </a:xfrm>
          <a:prstGeom prst="ellipse">
            <a:avLst/>
          </a:prstGeom>
          <a:solidFill>
            <a:srgbClr val="FF9100"/>
          </a:solidFill>
          <a:ln w="12700">
            <a:solidFill>
              <a:srgbClr val="FF9100"/>
            </a:solidFill>
            <a:prstDash val="solid"/>
          </a:ln>
        </p:spPr>
      </p:sp>
      <p:sp>
        <p:nvSpPr>
          <p:cNvPr id="31" name="Text 29"/>
          <p:cNvSpPr/>
          <p:nvPr/>
        </p:nvSpPr>
        <p:spPr>
          <a:xfrm>
            <a:off x="411480" y="4069080"/>
            <a:ext cx="329184" cy="329184"/>
          </a:xfrm>
          <a:prstGeom prst="rect">
            <a:avLst/>
          </a:prstGeom>
          <a:noFill/>
          <a:ln/>
        </p:spPr>
        <p:txBody>
          <a:bodyPr wrap="square" lIns="0" tIns="0" rIns="0" bIns="0" rtlCol="0" anchor="ctr"/>
          <a:lstStyle/>
          <a:p>
            <a:pPr marL="0" indent="0" algn="ctr">
              <a:buNone/>
            </a:pPr>
            <a:r>
              <a:rPr lang="en-US" sz="1000" b="1" dirty="0">
                <a:solidFill>
                  <a:srgbClr val="0D1B2A"/>
                </a:solidFill>
              </a:rPr>
              <a:t>5</a:t>
            </a:r>
            <a:endParaRPr lang="en-US" sz="1000" dirty="0"/>
          </a:p>
        </p:txBody>
      </p:sp>
      <p:sp>
        <p:nvSpPr>
          <p:cNvPr id="32" name="Text 30"/>
          <p:cNvSpPr/>
          <p:nvPr/>
        </p:nvSpPr>
        <p:spPr>
          <a:xfrm>
            <a:off x="822960" y="4032504"/>
            <a:ext cx="3657600" cy="274320"/>
          </a:xfrm>
          <a:prstGeom prst="rect">
            <a:avLst/>
          </a:prstGeom>
          <a:noFill/>
          <a:ln/>
        </p:spPr>
        <p:txBody>
          <a:bodyPr wrap="square" lIns="0" tIns="0" rIns="0" bIns="0" rtlCol="0" anchor="ctr"/>
          <a:lstStyle/>
          <a:p>
            <a:pPr marL="0" indent="0">
              <a:buNone/>
            </a:pPr>
            <a:r>
              <a:rPr lang="en-US" sz="1000" b="1" dirty="0">
                <a:solidFill>
                  <a:srgbClr val="FFFFFF"/>
                </a:solidFill>
              </a:rPr>
              <a:t>Zapobieganie Błędom</a:t>
            </a:r>
            <a:endParaRPr lang="en-US" sz="1000" dirty="0"/>
          </a:p>
        </p:txBody>
      </p:sp>
      <p:sp>
        <p:nvSpPr>
          <p:cNvPr id="33" name="Text 31"/>
          <p:cNvSpPr/>
          <p:nvPr/>
        </p:nvSpPr>
        <p:spPr>
          <a:xfrm>
            <a:off x="822960" y="4325112"/>
            <a:ext cx="3657600" cy="237744"/>
          </a:xfrm>
          <a:prstGeom prst="rect">
            <a:avLst/>
          </a:prstGeom>
          <a:noFill/>
          <a:ln/>
        </p:spPr>
        <p:txBody>
          <a:bodyPr wrap="square" lIns="0" tIns="0" rIns="0" bIns="0" rtlCol="0" anchor="ctr"/>
          <a:lstStyle/>
          <a:p>
            <a:pPr marL="0" indent="0">
              <a:buNone/>
            </a:pPr>
            <a:r>
              <a:rPr lang="en-US" sz="850" dirty="0">
                <a:solidFill>
                  <a:srgbClr val="8899AA"/>
                </a:solidFill>
              </a:rPr>
              <a:t>Potwierdzenia destrukcyjnych akcji</a:t>
            </a:r>
            <a:endParaRPr lang="en-US" sz="850" dirty="0"/>
          </a:p>
        </p:txBody>
      </p:sp>
      <p:sp>
        <p:nvSpPr>
          <p:cNvPr id="34" name="Shape 32"/>
          <p:cNvSpPr/>
          <p:nvPr/>
        </p:nvSpPr>
        <p:spPr>
          <a:xfrm>
            <a:off x="4727448" y="960120"/>
            <a:ext cx="4251960" cy="658368"/>
          </a:xfrm>
          <a:prstGeom prst="rect">
            <a:avLst/>
          </a:prstGeom>
          <a:solidFill>
            <a:srgbClr val="112233"/>
          </a:solidFill>
          <a:ln w="12700">
            <a:solidFill>
              <a:srgbClr val="1A3050"/>
            </a:solidFill>
            <a:prstDash val="solid"/>
          </a:ln>
        </p:spPr>
      </p:sp>
      <p:sp>
        <p:nvSpPr>
          <p:cNvPr id="35" name="Shape 33"/>
          <p:cNvSpPr/>
          <p:nvPr/>
        </p:nvSpPr>
        <p:spPr>
          <a:xfrm>
            <a:off x="4727448" y="960120"/>
            <a:ext cx="36576" cy="658368"/>
          </a:xfrm>
          <a:prstGeom prst="rect">
            <a:avLst/>
          </a:prstGeom>
          <a:solidFill>
            <a:srgbClr val="FFD600"/>
          </a:solidFill>
          <a:ln w="12700">
            <a:solidFill>
              <a:srgbClr val="FFD600"/>
            </a:solidFill>
            <a:prstDash val="solid"/>
          </a:ln>
        </p:spPr>
      </p:sp>
      <p:sp>
        <p:nvSpPr>
          <p:cNvPr id="36" name="Shape 34"/>
          <p:cNvSpPr/>
          <p:nvPr/>
        </p:nvSpPr>
        <p:spPr>
          <a:xfrm>
            <a:off x="4818888" y="1069848"/>
            <a:ext cx="329184" cy="329184"/>
          </a:xfrm>
          <a:prstGeom prst="ellipse">
            <a:avLst/>
          </a:prstGeom>
          <a:solidFill>
            <a:srgbClr val="FFD600"/>
          </a:solidFill>
          <a:ln w="12700">
            <a:solidFill>
              <a:srgbClr val="FFD600"/>
            </a:solidFill>
            <a:prstDash val="solid"/>
          </a:ln>
        </p:spPr>
      </p:sp>
      <p:sp>
        <p:nvSpPr>
          <p:cNvPr id="37" name="Text 35"/>
          <p:cNvSpPr/>
          <p:nvPr/>
        </p:nvSpPr>
        <p:spPr>
          <a:xfrm>
            <a:off x="4818888" y="1069848"/>
            <a:ext cx="329184" cy="329184"/>
          </a:xfrm>
          <a:prstGeom prst="rect">
            <a:avLst/>
          </a:prstGeom>
          <a:noFill/>
          <a:ln/>
        </p:spPr>
        <p:txBody>
          <a:bodyPr wrap="square" lIns="0" tIns="0" rIns="0" bIns="0" rtlCol="0" anchor="ctr"/>
          <a:lstStyle/>
          <a:p>
            <a:pPr marL="0" indent="0" algn="ctr">
              <a:buNone/>
            </a:pPr>
            <a:r>
              <a:rPr lang="en-US" sz="1000" b="1" dirty="0">
                <a:solidFill>
                  <a:srgbClr val="0D1B2A"/>
                </a:solidFill>
              </a:rPr>
              <a:t>6</a:t>
            </a:r>
            <a:endParaRPr lang="en-US" sz="1000" dirty="0"/>
          </a:p>
        </p:txBody>
      </p:sp>
      <p:sp>
        <p:nvSpPr>
          <p:cNvPr id="38" name="Text 36"/>
          <p:cNvSpPr/>
          <p:nvPr/>
        </p:nvSpPr>
        <p:spPr>
          <a:xfrm>
            <a:off x="5230368" y="1033272"/>
            <a:ext cx="3657600" cy="274320"/>
          </a:xfrm>
          <a:prstGeom prst="rect">
            <a:avLst/>
          </a:prstGeom>
          <a:noFill/>
          <a:ln/>
        </p:spPr>
        <p:txBody>
          <a:bodyPr wrap="square" lIns="0" tIns="0" rIns="0" bIns="0" rtlCol="0" anchor="ctr"/>
          <a:lstStyle/>
          <a:p>
            <a:pPr marL="0" indent="0">
              <a:buNone/>
            </a:pPr>
            <a:r>
              <a:rPr lang="en-US" sz="1000" b="1" dirty="0">
                <a:solidFill>
                  <a:srgbClr val="FFFFFF"/>
                </a:solidFill>
              </a:rPr>
              <a:t>Rozpoznawanie</a:t>
            </a:r>
            <a:endParaRPr lang="en-US" sz="1000" dirty="0"/>
          </a:p>
        </p:txBody>
      </p:sp>
      <p:sp>
        <p:nvSpPr>
          <p:cNvPr id="39" name="Text 37"/>
          <p:cNvSpPr/>
          <p:nvPr/>
        </p:nvSpPr>
        <p:spPr>
          <a:xfrm>
            <a:off x="5230368" y="1325880"/>
            <a:ext cx="3657600" cy="237744"/>
          </a:xfrm>
          <a:prstGeom prst="rect">
            <a:avLst/>
          </a:prstGeom>
          <a:noFill/>
          <a:ln/>
        </p:spPr>
        <p:txBody>
          <a:bodyPr wrap="square" lIns="0" tIns="0" rIns="0" bIns="0" rtlCol="0" anchor="ctr"/>
          <a:lstStyle/>
          <a:p>
            <a:pPr marL="0" indent="0">
              <a:buNone/>
            </a:pPr>
            <a:r>
              <a:rPr lang="en-US" sz="850" dirty="0">
                <a:solidFill>
                  <a:srgbClr val="8899AA"/>
                </a:solidFill>
              </a:rPr>
              <a:t>Widoczne opcje zamiast komend</a:t>
            </a:r>
            <a:endParaRPr lang="en-US" sz="850" dirty="0"/>
          </a:p>
        </p:txBody>
      </p:sp>
      <p:sp>
        <p:nvSpPr>
          <p:cNvPr id="40" name="Shape 38"/>
          <p:cNvSpPr/>
          <p:nvPr/>
        </p:nvSpPr>
        <p:spPr>
          <a:xfrm>
            <a:off x="4727448" y="1709928"/>
            <a:ext cx="4251960" cy="658368"/>
          </a:xfrm>
          <a:prstGeom prst="rect">
            <a:avLst/>
          </a:prstGeom>
          <a:solidFill>
            <a:srgbClr val="112233"/>
          </a:solidFill>
          <a:ln w="12700">
            <a:solidFill>
              <a:srgbClr val="1A3050"/>
            </a:solidFill>
            <a:prstDash val="solid"/>
          </a:ln>
        </p:spPr>
      </p:sp>
      <p:sp>
        <p:nvSpPr>
          <p:cNvPr id="41" name="Shape 39"/>
          <p:cNvSpPr/>
          <p:nvPr/>
        </p:nvSpPr>
        <p:spPr>
          <a:xfrm>
            <a:off x="4727448" y="1709928"/>
            <a:ext cx="36576" cy="658368"/>
          </a:xfrm>
          <a:prstGeom prst="rect">
            <a:avLst/>
          </a:prstGeom>
          <a:solidFill>
            <a:srgbClr val="448AFF"/>
          </a:solidFill>
          <a:ln w="12700">
            <a:solidFill>
              <a:srgbClr val="448AFF"/>
            </a:solidFill>
            <a:prstDash val="solid"/>
          </a:ln>
        </p:spPr>
      </p:sp>
      <p:sp>
        <p:nvSpPr>
          <p:cNvPr id="42" name="Shape 40"/>
          <p:cNvSpPr/>
          <p:nvPr/>
        </p:nvSpPr>
        <p:spPr>
          <a:xfrm>
            <a:off x="4818888" y="1819656"/>
            <a:ext cx="329184" cy="329184"/>
          </a:xfrm>
          <a:prstGeom prst="ellipse">
            <a:avLst/>
          </a:prstGeom>
          <a:solidFill>
            <a:srgbClr val="448AFF"/>
          </a:solidFill>
          <a:ln w="12700">
            <a:solidFill>
              <a:srgbClr val="448AFF"/>
            </a:solidFill>
            <a:prstDash val="solid"/>
          </a:ln>
        </p:spPr>
      </p:sp>
      <p:sp>
        <p:nvSpPr>
          <p:cNvPr id="43" name="Text 41"/>
          <p:cNvSpPr/>
          <p:nvPr/>
        </p:nvSpPr>
        <p:spPr>
          <a:xfrm>
            <a:off x="4818888" y="1819656"/>
            <a:ext cx="329184" cy="329184"/>
          </a:xfrm>
          <a:prstGeom prst="rect">
            <a:avLst/>
          </a:prstGeom>
          <a:noFill/>
          <a:ln/>
        </p:spPr>
        <p:txBody>
          <a:bodyPr wrap="square" lIns="0" tIns="0" rIns="0" bIns="0" rtlCol="0" anchor="ctr"/>
          <a:lstStyle/>
          <a:p>
            <a:pPr marL="0" indent="0" algn="ctr">
              <a:buNone/>
            </a:pPr>
            <a:r>
              <a:rPr lang="en-US" sz="1000" b="1" dirty="0">
                <a:solidFill>
                  <a:srgbClr val="0D1B2A"/>
                </a:solidFill>
              </a:rPr>
              <a:t>7</a:t>
            </a:r>
            <a:endParaRPr lang="en-US" sz="1000" dirty="0"/>
          </a:p>
        </p:txBody>
      </p:sp>
      <p:sp>
        <p:nvSpPr>
          <p:cNvPr id="44" name="Text 42"/>
          <p:cNvSpPr/>
          <p:nvPr/>
        </p:nvSpPr>
        <p:spPr>
          <a:xfrm>
            <a:off x="5230368" y="1783080"/>
            <a:ext cx="3657600" cy="274320"/>
          </a:xfrm>
          <a:prstGeom prst="rect">
            <a:avLst/>
          </a:prstGeom>
          <a:noFill/>
          <a:ln/>
        </p:spPr>
        <p:txBody>
          <a:bodyPr wrap="square" lIns="0" tIns="0" rIns="0" bIns="0" rtlCol="0" anchor="ctr"/>
          <a:lstStyle/>
          <a:p>
            <a:pPr marL="0" indent="0">
              <a:buNone/>
            </a:pPr>
            <a:r>
              <a:rPr lang="en-US" sz="1000" b="1" dirty="0">
                <a:solidFill>
                  <a:srgbClr val="FFFFFF"/>
                </a:solidFill>
              </a:rPr>
              <a:t>Elastyczność</a:t>
            </a:r>
            <a:endParaRPr lang="en-US" sz="1000" dirty="0"/>
          </a:p>
        </p:txBody>
      </p:sp>
      <p:sp>
        <p:nvSpPr>
          <p:cNvPr id="45" name="Text 43"/>
          <p:cNvSpPr/>
          <p:nvPr/>
        </p:nvSpPr>
        <p:spPr>
          <a:xfrm>
            <a:off x="5230368" y="2075688"/>
            <a:ext cx="3657600" cy="237744"/>
          </a:xfrm>
          <a:prstGeom prst="rect">
            <a:avLst/>
          </a:prstGeom>
          <a:noFill/>
          <a:ln/>
        </p:spPr>
        <p:txBody>
          <a:bodyPr wrap="square" lIns="0" tIns="0" rIns="0" bIns="0" rtlCol="0" anchor="ctr"/>
          <a:lstStyle/>
          <a:p>
            <a:pPr marL="0" indent="0">
              <a:buNone/>
            </a:pPr>
            <a:r>
              <a:rPr lang="en-US" sz="850" dirty="0">
                <a:solidFill>
                  <a:srgbClr val="8899AA"/>
                </a:solidFill>
              </a:rPr>
              <a:t>Skróty dla zaawansowanych, shake-to-undo</a:t>
            </a:r>
            <a:endParaRPr lang="en-US" sz="850" dirty="0"/>
          </a:p>
        </p:txBody>
      </p:sp>
      <p:sp>
        <p:nvSpPr>
          <p:cNvPr id="46" name="Shape 44"/>
          <p:cNvSpPr/>
          <p:nvPr/>
        </p:nvSpPr>
        <p:spPr>
          <a:xfrm>
            <a:off x="4727448" y="2459736"/>
            <a:ext cx="4251960" cy="658368"/>
          </a:xfrm>
          <a:prstGeom prst="rect">
            <a:avLst/>
          </a:prstGeom>
          <a:solidFill>
            <a:srgbClr val="112233"/>
          </a:solidFill>
          <a:ln w="12700">
            <a:solidFill>
              <a:srgbClr val="1A3050"/>
            </a:solidFill>
            <a:prstDash val="solid"/>
          </a:ln>
        </p:spPr>
      </p:sp>
      <p:sp>
        <p:nvSpPr>
          <p:cNvPr id="47" name="Shape 45"/>
          <p:cNvSpPr/>
          <p:nvPr/>
        </p:nvSpPr>
        <p:spPr>
          <a:xfrm>
            <a:off x="4727448" y="2459736"/>
            <a:ext cx="36576" cy="658368"/>
          </a:xfrm>
          <a:prstGeom prst="rect">
            <a:avLst/>
          </a:prstGeom>
          <a:solidFill>
            <a:srgbClr val="1DE9B6"/>
          </a:solidFill>
          <a:ln w="12700">
            <a:solidFill>
              <a:srgbClr val="1DE9B6"/>
            </a:solidFill>
            <a:prstDash val="solid"/>
          </a:ln>
        </p:spPr>
      </p:sp>
      <p:sp>
        <p:nvSpPr>
          <p:cNvPr id="48" name="Shape 46"/>
          <p:cNvSpPr/>
          <p:nvPr/>
        </p:nvSpPr>
        <p:spPr>
          <a:xfrm>
            <a:off x="4818888" y="2569464"/>
            <a:ext cx="329184" cy="329184"/>
          </a:xfrm>
          <a:prstGeom prst="ellipse">
            <a:avLst/>
          </a:prstGeom>
          <a:solidFill>
            <a:srgbClr val="1DE9B6"/>
          </a:solidFill>
          <a:ln w="12700">
            <a:solidFill>
              <a:srgbClr val="1DE9B6"/>
            </a:solidFill>
            <a:prstDash val="solid"/>
          </a:ln>
        </p:spPr>
      </p:sp>
      <p:sp>
        <p:nvSpPr>
          <p:cNvPr id="49" name="Text 47"/>
          <p:cNvSpPr/>
          <p:nvPr/>
        </p:nvSpPr>
        <p:spPr>
          <a:xfrm>
            <a:off x="4818888" y="2569464"/>
            <a:ext cx="329184" cy="329184"/>
          </a:xfrm>
          <a:prstGeom prst="rect">
            <a:avLst/>
          </a:prstGeom>
          <a:noFill/>
          <a:ln/>
        </p:spPr>
        <p:txBody>
          <a:bodyPr wrap="square" lIns="0" tIns="0" rIns="0" bIns="0" rtlCol="0" anchor="ctr"/>
          <a:lstStyle/>
          <a:p>
            <a:pPr marL="0" indent="0" algn="ctr">
              <a:buNone/>
            </a:pPr>
            <a:r>
              <a:rPr lang="en-US" sz="1000" b="1" dirty="0">
                <a:solidFill>
                  <a:srgbClr val="0D1B2A"/>
                </a:solidFill>
              </a:rPr>
              <a:t>8</a:t>
            </a:r>
            <a:endParaRPr lang="en-US" sz="1000" dirty="0"/>
          </a:p>
        </p:txBody>
      </p:sp>
      <p:sp>
        <p:nvSpPr>
          <p:cNvPr id="50" name="Text 48"/>
          <p:cNvSpPr/>
          <p:nvPr/>
        </p:nvSpPr>
        <p:spPr>
          <a:xfrm>
            <a:off x="5230368" y="2532888"/>
            <a:ext cx="3657600" cy="274320"/>
          </a:xfrm>
          <a:prstGeom prst="rect">
            <a:avLst/>
          </a:prstGeom>
          <a:noFill/>
          <a:ln/>
        </p:spPr>
        <p:txBody>
          <a:bodyPr wrap="square" lIns="0" tIns="0" rIns="0" bIns="0" rtlCol="0" anchor="ctr"/>
          <a:lstStyle/>
          <a:p>
            <a:pPr marL="0" indent="0">
              <a:buNone/>
            </a:pPr>
            <a:r>
              <a:rPr lang="en-US" sz="1000" b="1" dirty="0">
                <a:solidFill>
                  <a:srgbClr val="FFFFFF"/>
                </a:solidFill>
              </a:rPr>
              <a:t>Estetyka i Minimalizm</a:t>
            </a:r>
            <a:endParaRPr lang="en-US" sz="1000" dirty="0"/>
          </a:p>
        </p:txBody>
      </p:sp>
      <p:sp>
        <p:nvSpPr>
          <p:cNvPr id="51" name="Text 49"/>
          <p:cNvSpPr/>
          <p:nvPr/>
        </p:nvSpPr>
        <p:spPr>
          <a:xfrm>
            <a:off x="5230368" y="2825496"/>
            <a:ext cx="3657600" cy="237744"/>
          </a:xfrm>
          <a:prstGeom prst="rect">
            <a:avLst/>
          </a:prstGeom>
          <a:noFill/>
          <a:ln/>
        </p:spPr>
        <p:txBody>
          <a:bodyPr wrap="square" lIns="0" tIns="0" rIns="0" bIns="0" rtlCol="0" anchor="ctr"/>
          <a:lstStyle/>
          <a:p>
            <a:pPr marL="0" indent="0">
              <a:buNone/>
            </a:pPr>
            <a:r>
              <a:rPr lang="en-US" sz="850" dirty="0">
                <a:solidFill>
                  <a:srgbClr val="8899AA"/>
                </a:solidFill>
              </a:rPr>
              <a:t>Tylko niezbędne elementy</a:t>
            </a:r>
            <a:endParaRPr lang="en-US" sz="850" dirty="0"/>
          </a:p>
        </p:txBody>
      </p:sp>
      <p:sp>
        <p:nvSpPr>
          <p:cNvPr id="52" name="Shape 50"/>
          <p:cNvSpPr/>
          <p:nvPr/>
        </p:nvSpPr>
        <p:spPr>
          <a:xfrm>
            <a:off x="4727448" y="3209544"/>
            <a:ext cx="4251960" cy="658368"/>
          </a:xfrm>
          <a:prstGeom prst="rect">
            <a:avLst/>
          </a:prstGeom>
          <a:solidFill>
            <a:srgbClr val="112233"/>
          </a:solidFill>
          <a:ln w="12700">
            <a:solidFill>
              <a:srgbClr val="1A3050"/>
            </a:solidFill>
            <a:prstDash val="solid"/>
          </a:ln>
        </p:spPr>
      </p:sp>
      <p:sp>
        <p:nvSpPr>
          <p:cNvPr id="53" name="Shape 51"/>
          <p:cNvSpPr/>
          <p:nvPr/>
        </p:nvSpPr>
        <p:spPr>
          <a:xfrm>
            <a:off x="4727448" y="3209544"/>
            <a:ext cx="36576" cy="658368"/>
          </a:xfrm>
          <a:prstGeom prst="rect">
            <a:avLst/>
          </a:prstGeom>
          <a:solidFill>
            <a:srgbClr val="000000"/>
          </a:solidFill>
          <a:ln w="12700">
            <a:solidFill>
              <a:srgbClr val="333333"/>
            </a:solidFill>
            <a:prstDash val="solid"/>
          </a:ln>
        </p:spPr>
      </p:sp>
      <p:sp>
        <p:nvSpPr>
          <p:cNvPr id="54" name="Shape 52"/>
          <p:cNvSpPr/>
          <p:nvPr/>
        </p:nvSpPr>
        <p:spPr>
          <a:xfrm>
            <a:off x="4818888" y="3319272"/>
            <a:ext cx="329184" cy="329184"/>
          </a:xfrm>
          <a:prstGeom prst="ellipse">
            <a:avLst/>
          </a:prstGeom>
          <a:solidFill>
            <a:srgbClr val="000000"/>
          </a:solidFill>
          <a:ln w="12700">
            <a:solidFill>
              <a:srgbClr val="333333"/>
            </a:solidFill>
            <a:prstDash val="solid"/>
          </a:ln>
        </p:spPr>
      </p:sp>
      <p:sp>
        <p:nvSpPr>
          <p:cNvPr id="55" name="Text 53"/>
          <p:cNvSpPr/>
          <p:nvPr/>
        </p:nvSpPr>
        <p:spPr>
          <a:xfrm>
            <a:off x="4818888" y="3319272"/>
            <a:ext cx="329184" cy="329184"/>
          </a:xfrm>
          <a:prstGeom prst="rect">
            <a:avLst/>
          </a:prstGeom>
          <a:noFill/>
          <a:ln/>
        </p:spPr>
        <p:txBody>
          <a:bodyPr wrap="square" lIns="0" tIns="0" rIns="0" bIns="0" rtlCol="0" anchor="ctr"/>
          <a:lstStyle/>
          <a:p>
            <a:pPr marL="0" indent="0" algn="ctr">
              <a:buNone/>
            </a:pPr>
            <a:r>
              <a:rPr lang="en-US" sz="1000" b="1" dirty="0">
                <a:solidFill>
                  <a:srgbClr val="0D1B2A"/>
                </a:solidFill>
              </a:rPr>
              <a:t>9</a:t>
            </a:r>
            <a:endParaRPr lang="en-US" sz="1000" dirty="0"/>
          </a:p>
        </p:txBody>
      </p:sp>
      <p:sp>
        <p:nvSpPr>
          <p:cNvPr id="56" name="Text 54"/>
          <p:cNvSpPr/>
          <p:nvPr/>
        </p:nvSpPr>
        <p:spPr>
          <a:xfrm>
            <a:off x="5230368" y="3282696"/>
            <a:ext cx="3657600" cy="274320"/>
          </a:xfrm>
          <a:prstGeom prst="rect">
            <a:avLst/>
          </a:prstGeom>
          <a:noFill/>
          <a:ln/>
        </p:spPr>
        <p:txBody>
          <a:bodyPr wrap="square" lIns="0" tIns="0" rIns="0" bIns="0" rtlCol="0" anchor="ctr"/>
          <a:lstStyle/>
          <a:p>
            <a:pPr marL="0" indent="0">
              <a:buNone/>
            </a:pPr>
            <a:r>
              <a:rPr lang="en-US" sz="1000" b="1" dirty="0">
                <a:solidFill>
                  <a:srgbClr val="FFFFFF"/>
                </a:solidFill>
              </a:rPr>
              <a:t>Pomoc w Błędach</a:t>
            </a:r>
            <a:endParaRPr lang="en-US" sz="1000" dirty="0"/>
          </a:p>
        </p:txBody>
      </p:sp>
      <p:sp>
        <p:nvSpPr>
          <p:cNvPr id="57" name="Text 55"/>
          <p:cNvSpPr/>
          <p:nvPr/>
        </p:nvSpPr>
        <p:spPr>
          <a:xfrm>
            <a:off x="5230368" y="3575304"/>
            <a:ext cx="3657600" cy="237744"/>
          </a:xfrm>
          <a:prstGeom prst="rect">
            <a:avLst/>
          </a:prstGeom>
          <a:noFill/>
          <a:ln/>
        </p:spPr>
        <p:txBody>
          <a:bodyPr wrap="square" lIns="0" tIns="0" rIns="0" bIns="0" rtlCol="0" anchor="ctr"/>
          <a:lstStyle/>
          <a:p>
            <a:pPr marL="0" indent="0">
              <a:buNone/>
            </a:pPr>
            <a:r>
              <a:rPr lang="en-US" sz="850" dirty="0">
                <a:solidFill>
                  <a:srgbClr val="8899AA"/>
                </a:solidFill>
              </a:rPr>
              <a:t>Jasne komunikaty: nie 'Error 404'</a:t>
            </a:r>
            <a:endParaRPr lang="en-US" sz="850" dirty="0"/>
          </a:p>
        </p:txBody>
      </p:sp>
      <p:sp>
        <p:nvSpPr>
          <p:cNvPr id="58" name="Shape 56"/>
          <p:cNvSpPr/>
          <p:nvPr/>
        </p:nvSpPr>
        <p:spPr>
          <a:xfrm>
            <a:off x="4727448" y="3959352"/>
            <a:ext cx="4251960" cy="658368"/>
          </a:xfrm>
          <a:prstGeom prst="rect">
            <a:avLst/>
          </a:prstGeom>
          <a:solidFill>
            <a:srgbClr val="112233"/>
          </a:solidFill>
          <a:ln w="12700">
            <a:solidFill>
              <a:srgbClr val="1A3050"/>
            </a:solidFill>
            <a:prstDash val="solid"/>
          </a:ln>
        </p:spPr>
      </p:sp>
      <p:sp>
        <p:nvSpPr>
          <p:cNvPr id="59" name="Shape 57"/>
          <p:cNvSpPr/>
          <p:nvPr/>
        </p:nvSpPr>
        <p:spPr>
          <a:xfrm>
            <a:off x="4727448" y="3959352"/>
            <a:ext cx="36576" cy="658368"/>
          </a:xfrm>
          <a:prstGeom prst="rect">
            <a:avLst/>
          </a:prstGeom>
          <a:solidFill>
            <a:srgbClr val="000000"/>
          </a:solidFill>
          <a:ln w="12700">
            <a:solidFill>
              <a:srgbClr val="333333"/>
            </a:solidFill>
            <a:prstDash val="solid"/>
          </a:ln>
        </p:spPr>
      </p:sp>
      <p:sp>
        <p:nvSpPr>
          <p:cNvPr id="60" name="Shape 58"/>
          <p:cNvSpPr/>
          <p:nvPr/>
        </p:nvSpPr>
        <p:spPr>
          <a:xfrm>
            <a:off x="4818888" y="4069080"/>
            <a:ext cx="329184" cy="329184"/>
          </a:xfrm>
          <a:prstGeom prst="ellipse">
            <a:avLst/>
          </a:prstGeom>
          <a:solidFill>
            <a:srgbClr val="000000"/>
          </a:solidFill>
          <a:ln w="12700">
            <a:solidFill>
              <a:srgbClr val="333333"/>
            </a:solidFill>
            <a:prstDash val="solid"/>
          </a:ln>
        </p:spPr>
      </p:sp>
      <p:sp>
        <p:nvSpPr>
          <p:cNvPr id="61" name="Text 59"/>
          <p:cNvSpPr/>
          <p:nvPr/>
        </p:nvSpPr>
        <p:spPr>
          <a:xfrm>
            <a:off x="4818888" y="4069080"/>
            <a:ext cx="329184" cy="329184"/>
          </a:xfrm>
          <a:prstGeom prst="rect">
            <a:avLst/>
          </a:prstGeom>
          <a:noFill/>
          <a:ln/>
        </p:spPr>
        <p:txBody>
          <a:bodyPr wrap="square" lIns="0" tIns="0" rIns="0" bIns="0" rtlCol="0" anchor="ctr"/>
          <a:lstStyle/>
          <a:p>
            <a:pPr marL="0" indent="0" algn="ctr">
              <a:buNone/>
            </a:pPr>
            <a:r>
              <a:rPr lang="en-US" sz="1000" b="1" dirty="0">
                <a:solidFill>
                  <a:srgbClr val="0D1B2A"/>
                </a:solidFill>
              </a:rPr>
              <a:t>10</a:t>
            </a:r>
            <a:endParaRPr lang="en-US" sz="1000" dirty="0"/>
          </a:p>
        </p:txBody>
      </p:sp>
      <p:sp>
        <p:nvSpPr>
          <p:cNvPr id="62" name="Text 60"/>
          <p:cNvSpPr/>
          <p:nvPr/>
        </p:nvSpPr>
        <p:spPr>
          <a:xfrm>
            <a:off x="5230368" y="4032504"/>
            <a:ext cx="3657600" cy="274320"/>
          </a:xfrm>
          <a:prstGeom prst="rect">
            <a:avLst/>
          </a:prstGeom>
          <a:noFill/>
          <a:ln/>
        </p:spPr>
        <p:txBody>
          <a:bodyPr wrap="square" lIns="0" tIns="0" rIns="0" bIns="0" rtlCol="0" anchor="ctr"/>
          <a:lstStyle/>
          <a:p>
            <a:pPr marL="0" indent="0">
              <a:buNone/>
            </a:pPr>
            <a:r>
              <a:rPr lang="en-US" sz="1000" b="1" dirty="0">
                <a:solidFill>
                  <a:srgbClr val="FFFFFF"/>
                </a:solidFill>
              </a:rPr>
              <a:t>Dokumentacja</a:t>
            </a:r>
            <a:endParaRPr lang="en-US" sz="1000" dirty="0"/>
          </a:p>
        </p:txBody>
      </p:sp>
      <p:sp>
        <p:nvSpPr>
          <p:cNvPr id="63" name="Text 61"/>
          <p:cNvSpPr/>
          <p:nvPr/>
        </p:nvSpPr>
        <p:spPr>
          <a:xfrm>
            <a:off x="5230368" y="4325112"/>
            <a:ext cx="3657600" cy="237744"/>
          </a:xfrm>
          <a:prstGeom prst="rect">
            <a:avLst/>
          </a:prstGeom>
          <a:noFill/>
          <a:ln/>
        </p:spPr>
        <p:txBody>
          <a:bodyPr wrap="square" lIns="0" tIns="0" rIns="0" bIns="0" rtlCol="0" anchor="ctr"/>
          <a:lstStyle/>
          <a:p>
            <a:pPr marL="0" indent="0">
              <a:buNone/>
            </a:pPr>
            <a:r>
              <a:rPr lang="en-US" sz="850" dirty="0">
                <a:solidFill>
                  <a:srgbClr val="8899AA"/>
                </a:solidFill>
              </a:rPr>
              <a:t>Onboarding, tooltips, FAQ w aplikacji</a:t>
            </a:r>
            <a:endParaRPr lang="en-US" sz="850" dirty="0"/>
          </a:p>
        </p:txBody>
      </p:sp>
      <p:sp>
        <p:nvSpPr>
          <p:cNvPr id="66" name="Text 64"/>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14 / </a:t>
            </a:r>
            <a:r>
              <a:rPr lang="pl-PL" sz="800" dirty="0" smtClean="0">
                <a:solidFill>
                  <a:srgbClr val="8899AA"/>
                </a:solidFill>
              </a:rPr>
              <a:t>46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grpSp>
        <p:nvGrpSpPr>
          <p:cNvPr id="50" name="Grupa 49"/>
          <p:cNvGrpSpPr/>
          <p:nvPr/>
        </p:nvGrpSpPr>
        <p:grpSpPr>
          <a:xfrm>
            <a:off x="-2381" y="4884912"/>
            <a:ext cx="9146381" cy="260136"/>
            <a:chOff x="-2381" y="4884912"/>
            <a:chExt cx="9146381" cy="260136"/>
          </a:xfrm>
        </p:grpSpPr>
        <p:sp>
          <p:nvSpPr>
            <p:cNvPr id="51" name="Shape 52"/>
            <p:cNvSpPr/>
            <p:nvPr/>
          </p:nvSpPr>
          <p:spPr>
            <a:xfrm>
              <a:off x="0" y="4884912"/>
              <a:ext cx="9144000" cy="252000"/>
            </a:xfrm>
            <a:prstGeom prst="rect">
              <a:avLst/>
            </a:prstGeom>
            <a:solidFill>
              <a:srgbClr val="071523"/>
            </a:solidFill>
            <a:ln w="12700">
              <a:solidFill>
                <a:srgbClr val="071523"/>
              </a:solidFill>
              <a:prstDash val="solid"/>
            </a:ln>
          </p:spPr>
        </p:sp>
        <p:sp>
          <p:nvSpPr>
            <p:cNvPr id="52"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53" name="Grupa 52"/>
            <p:cNvGrpSpPr/>
            <p:nvPr/>
          </p:nvGrpSpPr>
          <p:grpSpPr>
            <a:xfrm>
              <a:off x="-2381" y="5099329"/>
              <a:ext cx="9146381" cy="45719"/>
              <a:chOff x="-2381" y="5107500"/>
              <a:chExt cx="9111093" cy="37548"/>
            </a:xfrm>
            <a:solidFill>
              <a:schemeClr val="tx1"/>
            </a:solidFill>
          </p:grpSpPr>
          <p:sp>
            <p:nvSpPr>
              <p:cNvPr id="54"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62"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63"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64"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65"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66"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67"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68"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69" name="Shape 52"/>
              <p:cNvSpPr/>
              <p:nvPr/>
            </p:nvSpPr>
            <p:spPr>
              <a:xfrm>
                <a:off x="2970712" y="5108400"/>
                <a:ext cx="198000" cy="36000"/>
              </a:xfrm>
              <a:prstGeom prst="rect">
                <a:avLst/>
              </a:prstGeom>
              <a:solidFill>
                <a:schemeClr val="tx1"/>
              </a:solidFill>
              <a:ln w="12700">
                <a:noFill/>
                <a:prstDash val="solid"/>
              </a:ln>
            </p:spPr>
          </p:sp>
          <p:sp>
            <p:nvSpPr>
              <p:cNvPr id="70" name="Shape 52"/>
              <p:cNvSpPr/>
              <p:nvPr/>
            </p:nvSpPr>
            <p:spPr>
              <a:xfrm>
                <a:off x="3168712" y="5108400"/>
                <a:ext cx="198000" cy="36000"/>
              </a:xfrm>
              <a:prstGeom prst="rect">
                <a:avLst/>
              </a:prstGeom>
              <a:grpFill/>
              <a:ln w="12700">
                <a:noFill/>
                <a:prstDash val="solid"/>
              </a:ln>
            </p:spPr>
          </p:sp>
          <p:sp>
            <p:nvSpPr>
              <p:cNvPr id="71" name="Shape 52"/>
              <p:cNvSpPr/>
              <p:nvPr/>
            </p:nvSpPr>
            <p:spPr>
              <a:xfrm>
                <a:off x="3366712" y="5108400"/>
                <a:ext cx="198000" cy="36000"/>
              </a:xfrm>
              <a:prstGeom prst="rect">
                <a:avLst/>
              </a:prstGeom>
              <a:grpFill/>
              <a:ln w="12700">
                <a:noFill/>
                <a:prstDash val="solid"/>
              </a:ln>
            </p:spPr>
          </p:sp>
          <p:sp>
            <p:nvSpPr>
              <p:cNvPr id="72" name="Shape 52"/>
              <p:cNvSpPr/>
              <p:nvPr/>
            </p:nvSpPr>
            <p:spPr>
              <a:xfrm>
                <a:off x="3564712" y="5108400"/>
                <a:ext cx="198000" cy="36000"/>
              </a:xfrm>
              <a:prstGeom prst="rect">
                <a:avLst/>
              </a:prstGeom>
              <a:grpFill/>
              <a:ln w="12700">
                <a:noFill/>
                <a:prstDash val="solid"/>
              </a:ln>
            </p:spPr>
          </p:sp>
          <p:sp>
            <p:nvSpPr>
              <p:cNvPr id="73" name="Shape 52"/>
              <p:cNvSpPr/>
              <p:nvPr/>
            </p:nvSpPr>
            <p:spPr>
              <a:xfrm>
                <a:off x="3762712" y="5108400"/>
                <a:ext cx="198000" cy="36000"/>
              </a:xfrm>
              <a:prstGeom prst="rect">
                <a:avLst/>
              </a:prstGeom>
              <a:grpFill/>
              <a:ln w="12700">
                <a:noFill/>
                <a:prstDash val="solid"/>
              </a:ln>
            </p:spPr>
          </p:sp>
          <p:sp>
            <p:nvSpPr>
              <p:cNvPr id="74" name="Shape 52"/>
              <p:cNvSpPr/>
              <p:nvPr/>
            </p:nvSpPr>
            <p:spPr>
              <a:xfrm>
                <a:off x="3960712" y="5107530"/>
                <a:ext cx="198000" cy="36000"/>
              </a:xfrm>
              <a:prstGeom prst="rect">
                <a:avLst/>
              </a:prstGeom>
              <a:grpFill/>
              <a:ln w="12700">
                <a:noFill/>
                <a:prstDash val="solid"/>
              </a:ln>
            </p:spPr>
          </p:sp>
          <p:sp>
            <p:nvSpPr>
              <p:cNvPr id="75" name="Shape 52"/>
              <p:cNvSpPr/>
              <p:nvPr/>
            </p:nvSpPr>
            <p:spPr>
              <a:xfrm>
                <a:off x="4158712" y="5107500"/>
                <a:ext cx="198000" cy="36000"/>
              </a:xfrm>
              <a:prstGeom prst="rect">
                <a:avLst/>
              </a:prstGeom>
              <a:grpFill/>
              <a:ln w="12700">
                <a:noFill/>
                <a:prstDash val="solid"/>
              </a:ln>
            </p:spPr>
          </p:sp>
          <p:sp>
            <p:nvSpPr>
              <p:cNvPr id="76" name="Shape 52"/>
              <p:cNvSpPr/>
              <p:nvPr/>
            </p:nvSpPr>
            <p:spPr>
              <a:xfrm>
                <a:off x="4356712" y="5107500"/>
                <a:ext cx="198000" cy="36000"/>
              </a:xfrm>
              <a:prstGeom prst="rect">
                <a:avLst/>
              </a:prstGeom>
              <a:grpFill/>
              <a:ln w="12700">
                <a:noFill/>
                <a:prstDash val="solid"/>
              </a:ln>
            </p:spPr>
          </p:sp>
          <p:sp>
            <p:nvSpPr>
              <p:cNvPr id="77" name="Shape 52"/>
              <p:cNvSpPr/>
              <p:nvPr/>
            </p:nvSpPr>
            <p:spPr>
              <a:xfrm>
                <a:off x="4554712" y="5107500"/>
                <a:ext cx="198000" cy="36000"/>
              </a:xfrm>
              <a:prstGeom prst="rect">
                <a:avLst/>
              </a:prstGeom>
              <a:grpFill/>
              <a:ln w="12700">
                <a:noFill/>
                <a:prstDash val="solid"/>
              </a:ln>
            </p:spPr>
          </p:sp>
          <p:sp>
            <p:nvSpPr>
              <p:cNvPr id="78" name="Shape 52"/>
              <p:cNvSpPr/>
              <p:nvPr/>
            </p:nvSpPr>
            <p:spPr>
              <a:xfrm>
                <a:off x="4752712" y="5107500"/>
                <a:ext cx="198000" cy="36000"/>
              </a:xfrm>
              <a:prstGeom prst="rect">
                <a:avLst/>
              </a:prstGeom>
              <a:grpFill/>
              <a:ln w="12700">
                <a:noFill/>
                <a:prstDash val="solid"/>
              </a:ln>
            </p:spPr>
          </p:sp>
          <p:sp>
            <p:nvSpPr>
              <p:cNvPr id="79" name="Shape 52"/>
              <p:cNvSpPr/>
              <p:nvPr/>
            </p:nvSpPr>
            <p:spPr>
              <a:xfrm>
                <a:off x="4950712" y="5107500"/>
                <a:ext cx="198000" cy="36000"/>
              </a:xfrm>
              <a:prstGeom prst="rect">
                <a:avLst/>
              </a:prstGeom>
              <a:grpFill/>
              <a:ln w="12700">
                <a:noFill/>
                <a:prstDash val="solid"/>
              </a:ln>
            </p:spPr>
          </p:sp>
          <p:sp>
            <p:nvSpPr>
              <p:cNvPr id="80" name="Shape 52"/>
              <p:cNvSpPr/>
              <p:nvPr/>
            </p:nvSpPr>
            <p:spPr>
              <a:xfrm>
                <a:off x="5148712" y="5107500"/>
                <a:ext cx="198000" cy="36000"/>
              </a:xfrm>
              <a:prstGeom prst="rect">
                <a:avLst/>
              </a:prstGeom>
              <a:grpFill/>
              <a:ln w="12700">
                <a:noFill/>
                <a:prstDash val="solid"/>
              </a:ln>
            </p:spPr>
          </p:sp>
          <p:sp>
            <p:nvSpPr>
              <p:cNvPr id="81" name="Shape 52"/>
              <p:cNvSpPr/>
              <p:nvPr/>
            </p:nvSpPr>
            <p:spPr>
              <a:xfrm>
                <a:off x="5346712" y="5108400"/>
                <a:ext cx="198000" cy="36000"/>
              </a:xfrm>
              <a:prstGeom prst="rect">
                <a:avLst/>
              </a:prstGeom>
              <a:grpFill/>
              <a:ln w="12700">
                <a:noFill/>
                <a:prstDash val="solid"/>
              </a:ln>
            </p:spPr>
          </p:sp>
          <p:sp>
            <p:nvSpPr>
              <p:cNvPr id="82" name="Shape 52"/>
              <p:cNvSpPr/>
              <p:nvPr/>
            </p:nvSpPr>
            <p:spPr>
              <a:xfrm>
                <a:off x="5544712" y="5108400"/>
                <a:ext cx="198000" cy="36000"/>
              </a:xfrm>
              <a:prstGeom prst="rect">
                <a:avLst/>
              </a:prstGeom>
              <a:grpFill/>
              <a:ln w="12700">
                <a:noFill/>
                <a:prstDash val="solid"/>
              </a:ln>
            </p:spPr>
          </p:sp>
          <p:sp>
            <p:nvSpPr>
              <p:cNvPr id="83" name="Shape 52"/>
              <p:cNvSpPr/>
              <p:nvPr/>
            </p:nvSpPr>
            <p:spPr>
              <a:xfrm>
                <a:off x="5742712" y="5108400"/>
                <a:ext cx="198000" cy="36000"/>
              </a:xfrm>
              <a:prstGeom prst="rect">
                <a:avLst/>
              </a:prstGeom>
              <a:grpFill/>
              <a:ln w="12700">
                <a:noFill/>
                <a:prstDash val="solid"/>
              </a:ln>
            </p:spPr>
          </p:sp>
          <p:sp>
            <p:nvSpPr>
              <p:cNvPr id="84" name="Shape 52"/>
              <p:cNvSpPr/>
              <p:nvPr/>
            </p:nvSpPr>
            <p:spPr>
              <a:xfrm>
                <a:off x="5940712" y="5108400"/>
                <a:ext cx="198000" cy="36000"/>
              </a:xfrm>
              <a:prstGeom prst="rect">
                <a:avLst/>
              </a:prstGeom>
              <a:grpFill/>
              <a:ln w="12700">
                <a:noFill/>
                <a:prstDash val="solid"/>
              </a:ln>
            </p:spPr>
          </p:sp>
          <p:sp>
            <p:nvSpPr>
              <p:cNvPr id="85" name="Shape 52"/>
              <p:cNvSpPr/>
              <p:nvPr/>
            </p:nvSpPr>
            <p:spPr>
              <a:xfrm>
                <a:off x="6138712" y="5108400"/>
                <a:ext cx="198000" cy="36000"/>
              </a:xfrm>
              <a:prstGeom prst="rect">
                <a:avLst/>
              </a:prstGeom>
              <a:grpFill/>
              <a:ln w="12700">
                <a:noFill/>
                <a:prstDash val="solid"/>
              </a:ln>
            </p:spPr>
          </p:sp>
          <p:sp>
            <p:nvSpPr>
              <p:cNvPr id="86" name="Shape 52"/>
              <p:cNvSpPr/>
              <p:nvPr/>
            </p:nvSpPr>
            <p:spPr>
              <a:xfrm>
                <a:off x="6336712" y="5108400"/>
                <a:ext cx="198000" cy="36000"/>
              </a:xfrm>
              <a:prstGeom prst="rect">
                <a:avLst/>
              </a:prstGeom>
              <a:grpFill/>
              <a:ln w="12700">
                <a:noFill/>
                <a:prstDash val="solid"/>
              </a:ln>
            </p:spPr>
          </p:sp>
          <p:sp>
            <p:nvSpPr>
              <p:cNvPr id="87" name="Shape 52"/>
              <p:cNvSpPr/>
              <p:nvPr/>
            </p:nvSpPr>
            <p:spPr>
              <a:xfrm>
                <a:off x="6534712" y="5108400"/>
                <a:ext cx="198000" cy="36000"/>
              </a:xfrm>
              <a:prstGeom prst="rect">
                <a:avLst/>
              </a:prstGeom>
              <a:grpFill/>
              <a:ln w="12700">
                <a:noFill/>
                <a:prstDash val="solid"/>
              </a:ln>
            </p:spPr>
          </p:sp>
          <p:sp>
            <p:nvSpPr>
              <p:cNvPr id="88" name="Shape 52"/>
              <p:cNvSpPr/>
              <p:nvPr/>
            </p:nvSpPr>
            <p:spPr>
              <a:xfrm>
                <a:off x="6732712" y="5108400"/>
                <a:ext cx="198000" cy="36000"/>
              </a:xfrm>
              <a:prstGeom prst="rect">
                <a:avLst/>
              </a:prstGeom>
              <a:grpFill/>
              <a:ln w="12700">
                <a:noFill/>
                <a:prstDash val="solid"/>
              </a:ln>
            </p:spPr>
          </p:sp>
          <p:sp>
            <p:nvSpPr>
              <p:cNvPr id="89" name="Shape 52"/>
              <p:cNvSpPr/>
              <p:nvPr/>
            </p:nvSpPr>
            <p:spPr>
              <a:xfrm>
                <a:off x="6930712" y="5108400"/>
                <a:ext cx="198000" cy="36000"/>
              </a:xfrm>
              <a:prstGeom prst="rect">
                <a:avLst/>
              </a:prstGeom>
              <a:grpFill/>
              <a:ln w="12700">
                <a:noFill/>
                <a:prstDash val="solid"/>
              </a:ln>
            </p:spPr>
          </p:sp>
          <p:sp>
            <p:nvSpPr>
              <p:cNvPr id="90" name="Shape 52"/>
              <p:cNvSpPr/>
              <p:nvPr/>
            </p:nvSpPr>
            <p:spPr>
              <a:xfrm>
                <a:off x="7128712" y="5108400"/>
                <a:ext cx="198000" cy="36000"/>
              </a:xfrm>
              <a:prstGeom prst="rect">
                <a:avLst/>
              </a:prstGeom>
              <a:grpFill/>
              <a:ln w="12700">
                <a:noFill/>
                <a:prstDash val="solid"/>
              </a:ln>
            </p:spPr>
          </p:sp>
          <p:sp>
            <p:nvSpPr>
              <p:cNvPr id="91" name="Shape 52"/>
              <p:cNvSpPr/>
              <p:nvPr/>
            </p:nvSpPr>
            <p:spPr>
              <a:xfrm>
                <a:off x="7326712" y="5108400"/>
                <a:ext cx="198000" cy="36000"/>
              </a:xfrm>
              <a:prstGeom prst="rect">
                <a:avLst/>
              </a:prstGeom>
              <a:grpFill/>
              <a:ln w="12700">
                <a:noFill/>
                <a:prstDash val="solid"/>
              </a:ln>
            </p:spPr>
          </p:sp>
          <p:sp>
            <p:nvSpPr>
              <p:cNvPr id="92" name="Shape 52"/>
              <p:cNvSpPr/>
              <p:nvPr/>
            </p:nvSpPr>
            <p:spPr>
              <a:xfrm>
                <a:off x="7524712" y="5108400"/>
                <a:ext cx="198000" cy="36000"/>
              </a:xfrm>
              <a:prstGeom prst="rect">
                <a:avLst/>
              </a:prstGeom>
              <a:grpFill/>
              <a:ln w="12700">
                <a:noFill/>
                <a:prstDash val="solid"/>
              </a:ln>
            </p:spPr>
          </p:sp>
          <p:sp>
            <p:nvSpPr>
              <p:cNvPr id="93" name="Shape 52"/>
              <p:cNvSpPr/>
              <p:nvPr/>
            </p:nvSpPr>
            <p:spPr>
              <a:xfrm>
                <a:off x="7722712" y="5108400"/>
                <a:ext cx="198000" cy="36000"/>
              </a:xfrm>
              <a:prstGeom prst="rect">
                <a:avLst/>
              </a:prstGeom>
              <a:grpFill/>
              <a:ln w="12700">
                <a:noFill/>
                <a:prstDash val="solid"/>
              </a:ln>
            </p:spPr>
          </p:sp>
          <p:sp>
            <p:nvSpPr>
              <p:cNvPr id="94" name="Shape 52"/>
              <p:cNvSpPr/>
              <p:nvPr/>
            </p:nvSpPr>
            <p:spPr>
              <a:xfrm>
                <a:off x="7920712" y="5109048"/>
                <a:ext cx="198000" cy="36000"/>
              </a:xfrm>
              <a:prstGeom prst="rect">
                <a:avLst/>
              </a:prstGeom>
              <a:grpFill/>
              <a:ln w="12700">
                <a:noFill/>
                <a:prstDash val="solid"/>
              </a:ln>
            </p:spPr>
          </p:sp>
          <p:sp>
            <p:nvSpPr>
              <p:cNvPr id="95" name="Shape 52"/>
              <p:cNvSpPr/>
              <p:nvPr/>
            </p:nvSpPr>
            <p:spPr>
              <a:xfrm>
                <a:off x="8118712" y="5109048"/>
                <a:ext cx="198000" cy="36000"/>
              </a:xfrm>
              <a:prstGeom prst="rect">
                <a:avLst/>
              </a:prstGeom>
              <a:grpFill/>
              <a:ln w="12700">
                <a:noFill/>
                <a:prstDash val="solid"/>
              </a:ln>
            </p:spPr>
          </p:sp>
          <p:sp>
            <p:nvSpPr>
              <p:cNvPr id="96" name="Shape 52"/>
              <p:cNvSpPr/>
              <p:nvPr/>
            </p:nvSpPr>
            <p:spPr>
              <a:xfrm>
                <a:off x="8316712" y="5109048"/>
                <a:ext cx="198000" cy="36000"/>
              </a:xfrm>
              <a:prstGeom prst="rect">
                <a:avLst/>
              </a:prstGeom>
              <a:grpFill/>
              <a:ln w="12700">
                <a:noFill/>
                <a:prstDash val="solid"/>
              </a:ln>
            </p:spPr>
          </p:sp>
          <p:sp>
            <p:nvSpPr>
              <p:cNvPr id="97" name="Shape 52"/>
              <p:cNvSpPr/>
              <p:nvPr/>
            </p:nvSpPr>
            <p:spPr>
              <a:xfrm>
                <a:off x="8514712" y="5109048"/>
                <a:ext cx="198000" cy="36000"/>
              </a:xfrm>
              <a:prstGeom prst="rect">
                <a:avLst/>
              </a:prstGeom>
              <a:grpFill/>
              <a:ln w="12700">
                <a:noFill/>
                <a:prstDash val="solid"/>
              </a:ln>
            </p:spPr>
          </p:sp>
          <p:sp>
            <p:nvSpPr>
              <p:cNvPr id="98" name="Shape 52"/>
              <p:cNvSpPr/>
              <p:nvPr/>
            </p:nvSpPr>
            <p:spPr>
              <a:xfrm>
                <a:off x="8712712" y="5109048"/>
                <a:ext cx="198000" cy="36000"/>
              </a:xfrm>
              <a:prstGeom prst="rect">
                <a:avLst/>
              </a:prstGeom>
              <a:grpFill/>
              <a:ln w="12700">
                <a:noFill/>
                <a:prstDash val="solid"/>
              </a:ln>
            </p:spPr>
          </p:sp>
          <p:sp>
            <p:nvSpPr>
              <p:cNvPr id="99"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00E676"/>
          </a:solidFill>
          <a:ln w="12700">
            <a:solidFill>
              <a:srgbClr val="00E676"/>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Prawo Hicka w Projektowaniu Mobilnym</a:t>
            </a:r>
            <a:endParaRPr lang="en-US" sz="2200" dirty="0"/>
          </a:p>
        </p:txBody>
      </p:sp>
      <p:sp>
        <p:nvSpPr>
          <p:cNvPr id="4" name="Shape 2"/>
          <p:cNvSpPr/>
          <p:nvPr/>
        </p:nvSpPr>
        <p:spPr>
          <a:xfrm>
            <a:off x="320040" y="914400"/>
            <a:ext cx="4069080" cy="3246120"/>
          </a:xfrm>
          <a:prstGeom prst="rect">
            <a:avLst/>
          </a:prstGeom>
          <a:solidFill>
            <a:srgbClr val="112233"/>
          </a:solidFill>
          <a:ln w="12700">
            <a:solidFill>
              <a:srgbClr val="1A3050"/>
            </a:solidFill>
            <a:prstDash val="solid"/>
          </a:ln>
        </p:spPr>
      </p:sp>
      <p:sp>
        <p:nvSpPr>
          <p:cNvPr id="5" name="Shape 3"/>
          <p:cNvSpPr/>
          <p:nvPr/>
        </p:nvSpPr>
        <p:spPr>
          <a:xfrm>
            <a:off x="320040" y="914400"/>
            <a:ext cx="45720" cy="3246120"/>
          </a:xfrm>
          <a:prstGeom prst="rect">
            <a:avLst/>
          </a:prstGeom>
          <a:solidFill>
            <a:srgbClr val="00E676"/>
          </a:solidFill>
          <a:ln w="12700">
            <a:solidFill>
              <a:srgbClr val="00E676"/>
            </a:solidFill>
            <a:prstDash val="solid"/>
          </a:ln>
        </p:spPr>
      </p:sp>
      <p:sp>
        <p:nvSpPr>
          <p:cNvPr id="6" name="Text 4"/>
          <p:cNvSpPr/>
          <p:nvPr/>
        </p:nvSpPr>
        <p:spPr>
          <a:xfrm>
            <a:off x="457200" y="987552"/>
            <a:ext cx="3794760" cy="292608"/>
          </a:xfrm>
          <a:prstGeom prst="rect">
            <a:avLst/>
          </a:prstGeom>
          <a:noFill/>
          <a:ln/>
        </p:spPr>
        <p:txBody>
          <a:bodyPr wrap="square" lIns="0" tIns="0" rIns="0" bIns="0" rtlCol="0" anchor="ctr"/>
          <a:lstStyle/>
          <a:p>
            <a:pPr marL="0" indent="0">
              <a:buNone/>
            </a:pPr>
            <a:r>
              <a:rPr lang="en-US" sz="1400" b="1" dirty="0">
                <a:solidFill>
                  <a:srgbClr val="FFFFFF"/>
                </a:solidFill>
              </a:rPr>
              <a:t>Hick's Law</a:t>
            </a:r>
            <a:endParaRPr lang="en-US" sz="1400" dirty="0"/>
          </a:p>
        </p:txBody>
      </p:sp>
      <p:sp>
        <p:nvSpPr>
          <p:cNvPr id="7" name="Text 5"/>
          <p:cNvSpPr/>
          <p:nvPr/>
        </p:nvSpPr>
        <p:spPr>
          <a:xfrm>
            <a:off x="457200" y="1353312"/>
            <a:ext cx="3794760" cy="502920"/>
          </a:xfrm>
          <a:prstGeom prst="rect">
            <a:avLst/>
          </a:prstGeom>
          <a:noFill/>
          <a:ln/>
        </p:spPr>
        <p:txBody>
          <a:bodyPr wrap="square" lIns="0" tIns="0" rIns="0" bIns="0" rtlCol="0" anchor="ctr"/>
          <a:lstStyle/>
          <a:p>
            <a:pPr marL="0" indent="0">
              <a:buNone/>
            </a:pPr>
            <a:r>
              <a:rPr lang="en-US" sz="950" dirty="0">
                <a:solidFill>
                  <a:srgbClr val="CCDDEE"/>
                </a:solidFill>
              </a:rPr>
              <a:t>Czas decyzji rośnie wraz z liczbą opcji. Im więcej wyborów, tym dłużej użytkownik potrzebuje na podjęcie decyzji.</a:t>
            </a:r>
            <a:endParaRPr lang="en-US" sz="950" dirty="0"/>
          </a:p>
        </p:txBody>
      </p:sp>
      <p:sp>
        <p:nvSpPr>
          <p:cNvPr id="8" name="Shape 6"/>
          <p:cNvSpPr/>
          <p:nvPr/>
        </p:nvSpPr>
        <p:spPr>
          <a:xfrm>
            <a:off x="320040" y="1920240"/>
            <a:ext cx="4069080" cy="777240"/>
          </a:xfrm>
          <a:prstGeom prst="rect">
            <a:avLst/>
          </a:prstGeom>
          <a:solidFill>
            <a:srgbClr val="0A1929"/>
          </a:solidFill>
          <a:ln w="12700">
            <a:solidFill>
              <a:srgbClr val="1A3A5C"/>
            </a:solidFill>
            <a:prstDash val="solid"/>
          </a:ln>
        </p:spPr>
      </p:sp>
      <p:sp>
        <p:nvSpPr>
          <p:cNvPr id="9" name="Text 7"/>
          <p:cNvSpPr/>
          <p:nvPr/>
        </p:nvSpPr>
        <p:spPr>
          <a:xfrm>
            <a:off x="429768" y="2011680"/>
            <a:ext cx="3867912" cy="640080"/>
          </a:xfrm>
          <a:prstGeom prst="rect">
            <a:avLst/>
          </a:prstGeom>
          <a:noFill/>
          <a:ln/>
        </p:spPr>
        <p:txBody>
          <a:bodyPr wrap="square" lIns="0" tIns="0" rIns="0" bIns="0" rtlCol="0" anchor="t"/>
          <a:lstStyle/>
          <a:p>
            <a:pPr marL="0" indent="0">
              <a:buNone/>
            </a:pPr>
            <a:r>
              <a:rPr lang="en-US" sz="950" dirty="0">
                <a:solidFill>
                  <a:srgbClr val="00E676"/>
                </a:solidFill>
                <a:latin typeface="Consolas" pitchFamily="34" charset="0"/>
                <a:ea typeface="Consolas" pitchFamily="34" charset="-122"/>
                <a:cs typeface="Consolas" pitchFamily="34" charset="-120"/>
              </a:rPr>
              <a:t>T = b × log₂(n + 1)</a:t>
            </a:r>
            <a:endParaRPr lang="en-US" sz="950" dirty="0"/>
          </a:p>
          <a:p>
            <a:pPr marL="0" indent="0">
              <a:buNone/>
            </a:pPr>
            <a:endParaRPr lang="en-US" sz="950" dirty="0"/>
          </a:p>
          <a:p>
            <a:pPr marL="0" indent="0">
              <a:buNone/>
            </a:pPr>
            <a:r>
              <a:rPr lang="en-US" sz="950" dirty="0">
                <a:solidFill>
                  <a:srgbClr val="00E676"/>
                </a:solidFill>
                <a:latin typeface="Consolas" pitchFamily="34" charset="0"/>
                <a:ea typeface="Consolas" pitchFamily="34" charset="-122"/>
                <a:cs typeface="Consolas" pitchFamily="34" charset="-120"/>
              </a:rPr>
              <a:t>T = czas decyzji</a:t>
            </a:r>
            <a:endParaRPr lang="en-US" sz="950" dirty="0"/>
          </a:p>
          <a:p>
            <a:pPr marL="0" indent="0">
              <a:buNone/>
            </a:pPr>
            <a:r>
              <a:rPr lang="en-US" sz="950" dirty="0">
                <a:solidFill>
                  <a:srgbClr val="00E676"/>
                </a:solidFill>
                <a:latin typeface="Consolas" pitchFamily="34" charset="0"/>
                <a:ea typeface="Consolas" pitchFamily="34" charset="-122"/>
                <a:cs typeface="Consolas" pitchFamily="34" charset="-120"/>
              </a:rPr>
              <a:t>n = liczba opcji</a:t>
            </a:r>
            <a:endParaRPr lang="en-US" sz="950" dirty="0"/>
          </a:p>
          <a:p>
            <a:pPr marL="0" indent="0">
              <a:buNone/>
            </a:pPr>
            <a:r>
              <a:rPr lang="en-US" sz="950" dirty="0">
                <a:solidFill>
                  <a:srgbClr val="00E676"/>
                </a:solidFill>
                <a:latin typeface="Consolas" pitchFamily="34" charset="0"/>
                <a:ea typeface="Consolas" pitchFamily="34" charset="-122"/>
                <a:cs typeface="Consolas" pitchFamily="34" charset="-120"/>
              </a:rPr>
              <a:t>b = stała (złożoność zadania)</a:t>
            </a:r>
            <a:endParaRPr lang="en-US" sz="950" dirty="0"/>
          </a:p>
        </p:txBody>
      </p:sp>
      <p:sp>
        <p:nvSpPr>
          <p:cNvPr id="10" name="Shape 8"/>
          <p:cNvSpPr/>
          <p:nvPr/>
        </p:nvSpPr>
        <p:spPr>
          <a:xfrm>
            <a:off x="320040" y="2788920"/>
            <a:ext cx="4069080" cy="502920"/>
          </a:xfrm>
          <a:prstGeom prst="rect">
            <a:avLst/>
          </a:prstGeom>
          <a:solidFill>
            <a:srgbClr val="0A1929"/>
          </a:solidFill>
          <a:ln w="12700">
            <a:solidFill>
              <a:srgbClr val="00E676"/>
            </a:solidFill>
            <a:prstDash val="solid"/>
          </a:ln>
        </p:spPr>
      </p:sp>
      <p:sp>
        <p:nvSpPr>
          <p:cNvPr id="11" name="Text 9"/>
          <p:cNvSpPr/>
          <p:nvPr/>
        </p:nvSpPr>
        <p:spPr>
          <a:xfrm>
            <a:off x="457200" y="2816352"/>
            <a:ext cx="3794760" cy="438912"/>
          </a:xfrm>
          <a:prstGeom prst="rect">
            <a:avLst/>
          </a:prstGeom>
          <a:noFill/>
          <a:ln/>
        </p:spPr>
        <p:txBody>
          <a:bodyPr wrap="square" lIns="0" tIns="0" rIns="0" bIns="0" rtlCol="0" anchor="ctr"/>
          <a:lstStyle/>
          <a:p>
            <a:pPr marL="0" indent="0">
              <a:buNone/>
            </a:pPr>
            <a:r>
              <a:rPr lang="en-US" sz="900" dirty="0">
                <a:solidFill>
                  <a:srgbClr val="CCDDEE"/>
                </a:solidFill>
              </a:rPr>
              <a:t>Wniosek: Podwojenie opcji NIE podwaja czasu decyzji — wzrost jest logarytmiczny, ale w UX każda milisekunda ma znaczenie.</a:t>
            </a:r>
            <a:endParaRPr lang="en-US" sz="900" dirty="0"/>
          </a:p>
        </p:txBody>
      </p:sp>
      <p:sp>
        <p:nvSpPr>
          <p:cNvPr id="12" name="Shape 10"/>
          <p:cNvSpPr/>
          <p:nvPr/>
        </p:nvSpPr>
        <p:spPr>
          <a:xfrm>
            <a:off x="320040" y="3364992"/>
            <a:ext cx="1261872" cy="713232"/>
          </a:xfrm>
          <a:prstGeom prst="rect">
            <a:avLst/>
          </a:prstGeom>
          <a:solidFill>
            <a:srgbClr val="112233"/>
          </a:solidFill>
          <a:ln w="12700">
            <a:solidFill>
              <a:srgbClr val="00E676"/>
            </a:solidFill>
            <a:prstDash val="solid"/>
          </a:ln>
        </p:spPr>
      </p:sp>
      <p:sp>
        <p:nvSpPr>
          <p:cNvPr id="13" name="Text 11"/>
          <p:cNvSpPr/>
          <p:nvPr/>
        </p:nvSpPr>
        <p:spPr>
          <a:xfrm>
            <a:off x="320040" y="3456432"/>
            <a:ext cx="1261872" cy="392278"/>
          </a:xfrm>
          <a:prstGeom prst="rect">
            <a:avLst/>
          </a:prstGeom>
          <a:noFill/>
          <a:ln/>
        </p:spPr>
        <p:txBody>
          <a:bodyPr wrap="square" lIns="0" tIns="0" rIns="0" bIns="0" rtlCol="0" anchor="ctr"/>
          <a:lstStyle/>
          <a:p>
            <a:pPr marL="0" indent="0" algn="ctr">
              <a:buNone/>
            </a:pPr>
            <a:r>
              <a:rPr lang="en-US" sz="2400" b="1" dirty="0">
                <a:solidFill>
                  <a:srgbClr val="00E676"/>
                </a:solidFill>
              </a:rPr>
              <a:t>3–5</a:t>
            </a:r>
            <a:endParaRPr lang="en-US" sz="2400" dirty="0"/>
          </a:p>
        </p:txBody>
      </p:sp>
      <p:sp>
        <p:nvSpPr>
          <p:cNvPr id="14" name="Text 12"/>
          <p:cNvSpPr/>
          <p:nvPr/>
        </p:nvSpPr>
        <p:spPr>
          <a:xfrm>
            <a:off x="320040" y="3792931"/>
            <a:ext cx="1261872" cy="271028"/>
          </a:xfrm>
          <a:prstGeom prst="rect">
            <a:avLst/>
          </a:prstGeom>
          <a:noFill/>
          <a:ln/>
        </p:spPr>
        <p:txBody>
          <a:bodyPr wrap="square" lIns="0" tIns="0" rIns="0" bIns="0" rtlCol="0" anchor="ctr"/>
          <a:lstStyle/>
          <a:p>
            <a:pPr marL="0" indent="0" algn="ctr">
              <a:buNone/>
            </a:pPr>
            <a:r>
              <a:rPr lang="en-US" sz="850" dirty="0">
                <a:solidFill>
                  <a:srgbClr val="8899AA"/>
                </a:solidFill>
              </a:rPr>
              <a:t>optymalna liczba opcji w menu</a:t>
            </a:r>
            <a:endParaRPr lang="en-US" sz="850" dirty="0"/>
          </a:p>
        </p:txBody>
      </p:sp>
      <p:sp>
        <p:nvSpPr>
          <p:cNvPr id="15" name="Shape 13"/>
          <p:cNvSpPr/>
          <p:nvPr/>
        </p:nvSpPr>
        <p:spPr>
          <a:xfrm>
            <a:off x="1691640" y="3364992"/>
            <a:ext cx="1261872" cy="713232"/>
          </a:xfrm>
          <a:prstGeom prst="rect">
            <a:avLst/>
          </a:prstGeom>
          <a:solidFill>
            <a:srgbClr val="112233"/>
          </a:solidFill>
          <a:ln w="12700">
            <a:solidFill>
              <a:srgbClr val="00D4FF"/>
            </a:solidFill>
            <a:prstDash val="solid"/>
          </a:ln>
        </p:spPr>
      </p:sp>
      <p:sp>
        <p:nvSpPr>
          <p:cNvPr id="16" name="Text 14"/>
          <p:cNvSpPr/>
          <p:nvPr/>
        </p:nvSpPr>
        <p:spPr>
          <a:xfrm>
            <a:off x="1691640" y="3456432"/>
            <a:ext cx="1261872" cy="392278"/>
          </a:xfrm>
          <a:prstGeom prst="rect">
            <a:avLst/>
          </a:prstGeom>
          <a:noFill/>
          <a:ln/>
        </p:spPr>
        <p:txBody>
          <a:bodyPr wrap="square" lIns="0" tIns="0" rIns="0" bIns="0" rtlCol="0" anchor="ctr"/>
          <a:lstStyle/>
          <a:p>
            <a:pPr marL="0" indent="0" algn="ctr">
              <a:buNone/>
            </a:pPr>
            <a:r>
              <a:rPr lang="en-US" sz="2400" b="1" dirty="0">
                <a:solidFill>
                  <a:srgbClr val="00D4FF"/>
                </a:solidFill>
              </a:rPr>
              <a:t>7±2</a:t>
            </a:r>
            <a:endParaRPr lang="en-US" sz="2400" dirty="0"/>
          </a:p>
        </p:txBody>
      </p:sp>
      <p:sp>
        <p:nvSpPr>
          <p:cNvPr id="17" name="Text 15"/>
          <p:cNvSpPr/>
          <p:nvPr/>
        </p:nvSpPr>
        <p:spPr>
          <a:xfrm>
            <a:off x="1691640" y="3792931"/>
            <a:ext cx="1261872" cy="271028"/>
          </a:xfrm>
          <a:prstGeom prst="rect">
            <a:avLst/>
          </a:prstGeom>
          <a:noFill/>
          <a:ln/>
        </p:spPr>
        <p:txBody>
          <a:bodyPr wrap="square" lIns="0" tIns="0" rIns="0" bIns="0" rtlCol="0" anchor="ctr"/>
          <a:lstStyle/>
          <a:p>
            <a:pPr marL="0" indent="0" algn="ctr">
              <a:buNone/>
            </a:pPr>
            <a:r>
              <a:rPr lang="en-US" sz="850" dirty="0">
                <a:solidFill>
                  <a:srgbClr val="8899AA"/>
                </a:solidFill>
              </a:rPr>
              <a:t>maksymalna liczba elementów (Miller)</a:t>
            </a:r>
            <a:endParaRPr lang="en-US" sz="850" dirty="0"/>
          </a:p>
        </p:txBody>
      </p:sp>
      <p:sp>
        <p:nvSpPr>
          <p:cNvPr id="18" name="Shape 16"/>
          <p:cNvSpPr/>
          <p:nvPr/>
        </p:nvSpPr>
        <p:spPr>
          <a:xfrm>
            <a:off x="3063240" y="3364992"/>
            <a:ext cx="1325880" cy="713232"/>
          </a:xfrm>
          <a:prstGeom prst="rect">
            <a:avLst/>
          </a:prstGeom>
          <a:solidFill>
            <a:srgbClr val="112233"/>
          </a:solidFill>
          <a:ln w="12700">
            <a:solidFill>
              <a:srgbClr val="FF9100"/>
            </a:solidFill>
            <a:prstDash val="solid"/>
          </a:ln>
        </p:spPr>
      </p:sp>
      <p:sp>
        <p:nvSpPr>
          <p:cNvPr id="19" name="Text 17"/>
          <p:cNvSpPr/>
          <p:nvPr/>
        </p:nvSpPr>
        <p:spPr>
          <a:xfrm>
            <a:off x="3063240" y="3456432"/>
            <a:ext cx="1325880" cy="392278"/>
          </a:xfrm>
          <a:prstGeom prst="rect">
            <a:avLst/>
          </a:prstGeom>
          <a:noFill/>
          <a:ln/>
        </p:spPr>
        <p:txBody>
          <a:bodyPr wrap="square" lIns="0" tIns="0" rIns="0" bIns="0" rtlCol="0" anchor="ctr"/>
          <a:lstStyle/>
          <a:p>
            <a:pPr marL="0" indent="0" algn="ctr">
              <a:buNone/>
            </a:pPr>
            <a:r>
              <a:rPr lang="en-US" sz="2400" b="1" dirty="0">
                <a:solidFill>
                  <a:srgbClr val="FF9100"/>
                </a:solidFill>
              </a:rPr>
              <a:t>30%</a:t>
            </a:r>
            <a:endParaRPr lang="en-US" sz="2400" dirty="0"/>
          </a:p>
        </p:txBody>
      </p:sp>
      <p:sp>
        <p:nvSpPr>
          <p:cNvPr id="20" name="Text 18"/>
          <p:cNvSpPr/>
          <p:nvPr/>
        </p:nvSpPr>
        <p:spPr>
          <a:xfrm>
            <a:off x="3063240" y="3792931"/>
            <a:ext cx="1325880" cy="271028"/>
          </a:xfrm>
          <a:prstGeom prst="rect">
            <a:avLst/>
          </a:prstGeom>
          <a:noFill/>
          <a:ln/>
        </p:spPr>
        <p:txBody>
          <a:bodyPr wrap="square" lIns="0" tIns="0" rIns="0" bIns="0" rtlCol="0" anchor="ctr"/>
          <a:lstStyle/>
          <a:p>
            <a:pPr marL="0" indent="0" algn="ctr">
              <a:buNone/>
            </a:pPr>
            <a:r>
              <a:rPr lang="en-US" sz="850" dirty="0">
                <a:solidFill>
                  <a:srgbClr val="8899AA"/>
                </a:solidFill>
              </a:rPr>
              <a:t>redukcja błędów przy mniejszej liczbie opcji</a:t>
            </a:r>
            <a:endParaRPr lang="en-US" sz="850" dirty="0"/>
          </a:p>
        </p:txBody>
      </p:sp>
      <p:sp>
        <p:nvSpPr>
          <p:cNvPr id="21" name="Shape 19"/>
          <p:cNvSpPr/>
          <p:nvPr/>
        </p:nvSpPr>
        <p:spPr>
          <a:xfrm>
            <a:off x="4754880" y="914400"/>
            <a:ext cx="4069080" cy="3246120"/>
          </a:xfrm>
          <a:prstGeom prst="rect">
            <a:avLst/>
          </a:prstGeom>
          <a:solidFill>
            <a:srgbClr val="112233"/>
          </a:solidFill>
          <a:ln w="12700">
            <a:solidFill>
              <a:srgbClr val="1A3050"/>
            </a:solidFill>
            <a:prstDash val="solid"/>
          </a:ln>
        </p:spPr>
      </p:sp>
      <p:sp>
        <p:nvSpPr>
          <p:cNvPr id="22" name="Shape 20"/>
          <p:cNvSpPr/>
          <p:nvPr/>
        </p:nvSpPr>
        <p:spPr>
          <a:xfrm>
            <a:off x="4754880" y="914400"/>
            <a:ext cx="45720" cy="3246120"/>
          </a:xfrm>
          <a:prstGeom prst="rect">
            <a:avLst/>
          </a:prstGeom>
          <a:solidFill>
            <a:srgbClr val="FF9100"/>
          </a:solidFill>
          <a:ln w="12700">
            <a:solidFill>
              <a:srgbClr val="FF9100"/>
            </a:solidFill>
            <a:prstDash val="solid"/>
          </a:ln>
        </p:spPr>
      </p:sp>
      <p:sp>
        <p:nvSpPr>
          <p:cNvPr id="23" name="Text 21"/>
          <p:cNvSpPr/>
          <p:nvPr/>
        </p:nvSpPr>
        <p:spPr>
          <a:xfrm>
            <a:off x="4892040" y="987552"/>
            <a:ext cx="3794760" cy="274320"/>
          </a:xfrm>
          <a:prstGeom prst="rect">
            <a:avLst/>
          </a:prstGeom>
          <a:noFill/>
          <a:ln/>
        </p:spPr>
        <p:txBody>
          <a:bodyPr wrap="square" lIns="0" tIns="0" rIns="0" bIns="0" rtlCol="0" anchor="ctr"/>
          <a:lstStyle/>
          <a:p>
            <a:pPr marL="0" indent="0">
              <a:buNone/>
            </a:pPr>
            <a:r>
              <a:rPr lang="en-US" sz="1200" b="1" dirty="0">
                <a:solidFill>
                  <a:srgbClr val="FFFFFF"/>
                </a:solidFill>
              </a:rPr>
              <a:t>Praktyczne Zastosowania</a:t>
            </a:r>
            <a:endParaRPr lang="en-US" sz="1200" dirty="0"/>
          </a:p>
        </p:txBody>
      </p:sp>
      <p:sp>
        <p:nvSpPr>
          <p:cNvPr id="24" name="Text 22"/>
          <p:cNvSpPr/>
          <p:nvPr/>
        </p:nvSpPr>
        <p:spPr>
          <a:xfrm>
            <a:off x="4892040" y="1371600"/>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1</a:t>
            </a:r>
            <a:endParaRPr lang="en-US" sz="1100" dirty="0"/>
          </a:p>
        </p:txBody>
      </p:sp>
      <p:sp>
        <p:nvSpPr>
          <p:cNvPr id="25" name="Shape 23"/>
          <p:cNvSpPr/>
          <p:nvPr/>
        </p:nvSpPr>
        <p:spPr>
          <a:xfrm>
            <a:off x="4892040" y="1371600"/>
            <a:ext cx="256032" cy="256032"/>
          </a:xfrm>
          <a:prstGeom prst="ellipse">
            <a:avLst/>
          </a:prstGeom>
          <a:solidFill>
            <a:srgbClr val="FF9100"/>
          </a:solidFill>
          <a:ln w="12700">
            <a:solidFill>
              <a:srgbClr val="FF9100"/>
            </a:solidFill>
            <a:prstDash val="solid"/>
          </a:ln>
        </p:spPr>
      </p:sp>
      <p:sp>
        <p:nvSpPr>
          <p:cNvPr id="26" name="Text 24"/>
          <p:cNvSpPr/>
          <p:nvPr/>
        </p:nvSpPr>
        <p:spPr>
          <a:xfrm>
            <a:off x="4892040" y="1371600"/>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1</a:t>
            </a:r>
            <a:endParaRPr lang="en-US" sz="1100" dirty="0"/>
          </a:p>
        </p:txBody>
      </p:sp>
      <p:sp>
        <p:nvSpPr>
          <p:cNvPr id="27" name="Text 25"/>
          <p:cNvSpPr/>
          <p:nvPr/>
        </p:nvSpPr>
        <p:spPr>
          <a:xfrm>
            <a:off x="5239512" y="1371600"/>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Ograniczaj opcje w menu</a:t>
            </a:r>
            <a:endParaRPr lang="en-US" sz="1000" dirty="0"/>
          </a:p>
        </p:txBody>
      </p:sp>
      <p:sp>
        <p:nvSpPr>
          <p:cNvPr id="28" name="Text 26"/>
          <p:cNvSpPr/>
          <p:nvPr/>
        </p:nvSpPr>
        <p:spPr>
          <a:xfrm>
            <a:off x="5239512" y="1636776"/>
            <a:ext cx="3474720" cy="329184"/>
          </a:xfrm>
          <a:prstGeom prst="rect">
            <a:avLst/>
          </a:prstGeom>
          <a:noFill/>
          <a:ln/>
        </p:spPr>
        <p:txBody>
          <a:bodyPr wrap="square" lIns="0" tIns="0" rIns="0" bIns="0" rtlCol="0" anchor="ctr"/>
          <a:lstStyle/>
          <a:p>
            <a:pPr marL="0" indent="0">
              <a:buNone/>
            </a:pPr>
            <a:r>
              <a:rPr lang="en-US" sz="850" dirty="0">
                <a:solidFill>
                  <a:srgbClr val="8899AA"/>
                </a:solidFill>
              </a:rPr>
              <a:t>Pokazuj tylko najważniejsze. Resztę ukryj w 'Więcej' lub podmenu.</a:t>
            </a:r>
            <a:endParaRPr lang="en-US" sz="850" dirty="0"/>
          </a:p>
        </p:txBody>
      </p:sp>
      <p:sp>
        <p:nvSpPr>
          <p:cNvPr id="29" name="Text 27"/>
          <p:cNvSpPr/>
          <p:nvPr/>
        </p:nvSpPr>
        <p:spPr>
          <a:xfrm>
            <a:off x="4892040" y="2029968"/>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2</a:t>
            </a:r>
            <a:endParaRPr lang="en-US" sz="1100" dirty="0"/>
          </a:p>
        </p:txBody>
      </p:sp>
      <p:sp>
        <p:nvSpPr>
          <p:cNvPr id="30" name="Shape 28"/>
          <p:cNvSpPr/>
          <p:nvPr/>
        </p:nvSpPr>
        <p:spPr>
          <a:xfrm>
            <a:off x="4892040" y="2029968"/>
            <a:ext cx="256032" cy="256032"/>
          </a:xfrm>
          <a:prstGeom prst="ellipse">
            <a:avLst/>
          </a:prstGeom>
          <a:solidFill>
            <a:srgbClr val="FF9100"/>
          </a:solidFill>
          <a:ln w="12700">
            <a:solidFill>
              <a:srgbClr val="FF9100"/>
            </a:solidFill>
            <a:prstDash val="solid"/>
          </a:ln>
        </p:spPr>
      </p:sp>
      <p:sp>
        <p:nvSpPr>
          <p:cNvPr id="31" name="Text 29"/>
          <p:cNvSpPr/>
          <p:nvPr/>
        </p:nvSpPr>
        <p:spPr>
          <a:xfrm>
            <a:off x="4892040" y="2029968"/>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2</a:t>
            </a:r>
            <a:endParaRPr lang="en-US" sz="1100" dirty="0"/>
          </a:p>
        </p:txBody>
      </p:sp>
      <p:sp>
        <p:nvSpPr>
          <p:cNvPr id="32" name="Text 30"/>
          <p:cNvSpPr/>
          <p:nvPr/>
        </p:nvSpPr>
        <p:spPr>
          <a:xfrm>
            <a:off x="5239512" y="2029968"/>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Progresywne ujawnianie</a:t>
            </a:r>
            <a:endParaRPr lang="en-US" sz="1000" dirty="0"/>
          </a:p>
        </p:txBody>
      </p:sp>
      <p:sp>
        <p:nvSpPr>
          <p:cNvPr id="33" name="Text 31"/>
          <p:cNvSpPr/>
          <p:nvPr/>
        </p:nvSpPr>
        <p:spPr>
          <a:xfrm>
            <a:off x="5239512" y="2295144"/>
            <a:ext cx="3474720" cy="329184"/>
          </a:xfrm>
          <a:prstGeom prst="rect">
            <a:avLst/>
          </a:prstGeom>
          <a:noFill/>
          <a:ln/>
        </p:spPr>
        <p:txBody>
          <a:bodyPr wrap="square" lIns="0" tIns="0" rIns="0" bIns="0" rtlCol="0" anchor="ctr"/>
          <a:lstStyle/>
          <a:p>
            <a:pPr marL="0" indent="0">
              <a:buNone/>
            </a:pPr>
            <a:r>
              <a:rPr lang="en-US" sz="850" dirty="0">
                <a:solidFill>
                  <a:srgbClr val="8899AA"/>
                </a:solidFill>
              </a:rPr>
              <a:t>Pokaż zaawansowane opcje tylko gdy użytkownik ich potrzebuje.</a:t>
            </a:r>
            <a:endParaRPr lang="en-US" sz="850" dirty="0"/>
          </a:p>
        </p:txBody>
      </p:sp>
      <p:sp>
        <p:nvSpPr>
          <p:cNvPr id="34" name="Text 32"/>
          <p:cNvSpPr/>
          <p:nvPr/>
        </p:nvSpPr>
        <p:spPr>
          <a:xfrm>
            <a:off x="4892040" y="2688336"/>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3</a:t>
            </a:r>
            <a:endParaRPr lang="en-US" sz="1100" dirty="0"/>
          </a:p>
        </p:txBody>
      </p:sp>
      <p:sp>
        <p:nvSpPr>
          <p:cNvPr id="35" name="Shape 33"/>
          <p:cNvSpPr/>
          <p:nvPr/>
        </p:nvSpPr>
        <p:spPr>
          <a:xfrm>
            <a:off x="4892040" y="2688336"/>
            <a:ext cx="256032" cy="256032"/>
          </a:xfrm>
          <a:prstGeom prst="ellipse">
            <a:avLst/>
          </a:prstGeom>
          <a:solidFill>
            <a:srgbClr val="FF9100"/>
          </a:solidFill>
          <a:ln w="12700">
            <a:solidFill>
              <a:srgbClr val="FF9100"/>
            </a:solidFill>
            <a:prstDash val="solid"/>
          </a:ln>
        </p:spPr>
      </p:sp>
      <p:sp>
        <p:nvSpPr>
          <p:cNvPr id="36" name="Text 34"/>
          <p:cNvSpPr/>
          <p:nvPr/>
        </p:nvSpPr>
        <p:spPr>
          <a:xfrm>
            <a:off x="4892040" y="2688336"/>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3</a:t>
            </a:r>
            <a:endParaRPr lang="en-US" sz="1100" dirty="0"/>
          </a:p>
        </p:txBody>
      </p:sp>
      <p:sp>
        <p:nvSpPr>
          <p:cNvPr id="37" name="Text 35"/>
          <p:cNvSpPr/>
          <p:nvPr/>
        </p:nvSpPr>
        <p:spPr>
          <a:xfrm>
            <a:off x="5239512" y="2688336"/>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Grupowanie opcji</a:t>
            </a:r>
            <a:endParaRPr lang="en-US" sz="1000" dirty="0"/>
          </a:p>
        </p:txBody>
      </p:sp>
      <p:sp>
        <p:nvSpPr>
          <p:cNvPr id="38" name="Text 36"/>
          <p:cNvSpPr/>
          <p:nvPr/>
        </p:nvSpPr>
        <p:spPr>
          <a:xfrm>
            <a:off x="5239512" y="2953512"/>
            <a:ext cx="3474720" cy="329184"/>
          </a:xfrm>
          <a:prstGeom prst="rect">
            <a:avLst/>
          </a:prstGeom>
          <a:noFill/>
          <a:ln/>
        </p:spPr>
        <p:txBody>
          <a:bodyPr wrap="square" lIns="0" tIns="0" rIns="0" bIns="0" rtlCol="0" anchor="ctr"/>
          <a:lstStyle/>
          <a:p>
            <a:pPr marL="0" indent="0">
              <a:buNone/>
            </a:pPr>
            <a:r>
              <a:rPr lang="en-US" sz="850" dirty="0">
                <a:solidFill>
                  <a:srgbClr val="8899AA"/>
                </a:solidFill>
              </a:rPr>
              <a:t>Organizuj w kategorie, by zmniejszyć pozorną liczbę wyborów.</a:t>
            </a:r>
            <a:endParaRPr lang="en-US" sz="850" dirty="0"/>
          </a:p>
        </p:txBody>
      </p:sp>
      <p:sp>
        <p:nvSpPr>
          <p:cNvPr id="39" name="Text 37"/>
          <p:cNvSpPr/>
          <p:nvPr/>
        </p:nvSpPr>
        <p:spPr>
          <a:xfrm>
            <a:off x="4892040" y="3346704"/>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4</a:t>
            </a:r>
            <a:endParaRPr lang="en-US" sz="1100" dirty="0"/>
          </a:p>
        </p:txBody>
      </p:sp>
      <p:sp>
        <p:nvSpPr>
          <p:cNvPr id="40" name="Shape 38"/>
          <p:cNvSpPr/>
          <p:nvPr/>
        </p:nvSpPr>
        <p:spPr>
          <a:xfrm>
            <a:off x="4892040" y="3346704"/>
            <a:ext cx="256032" cy="256032"/>
          </a:xfrm>
          <a:prstGeom prst="ellipse">
            <a:avLst/>
          </a:prstGeom>
          <a:solidFill>
            <a:srgbClr val="FF9100"/>
          </a:solidFill>
          <a:ln w="12700">
            <a:solidFill>
              <a:srgbClr val="FF9100"/>
            </a:solidFill>
            <a:prstDash val="solid"/>
          </a:ln>
        </p:spPr>
      </p:sp>
      <p:sp>
        <p:nvSpPr>
          <p:cNvPr id="41" name="Text 39"/>
          <p:cNvSpPr/>
          <p:nvPr/>
        </p:nvSpPr>
        <p:spPr>
          <a:xfrm>
            <a:off x="4892040" y="3346704"/>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4</a:t>
            </a:r>
            <a:endParaRPr lang="en-US" sz="1100" dirty="0"/>
          </a:p>
        </p:txBody>
      </p:sp>
      <p:sp>
        <p:nvSpPr>
          <p:cNvPr id="42" name="Text 40"/>
          <p:cNvSpPr/>
          <p:nvPr/>
        </p:nvSpPr>
        <p:spPr>
          <a:xfrm>
            <a:off x="5239512" y="3346704"/>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Domyślne wartości</a:t>
            </a:r>
            <a:endParaRPr lang="en-US" sz="1000" dirty="0"/>
          </a:p>
        </p:txBody>
      </p:sp>
      <p:sp>
        <p:nvSpPr>
          <p:cNvPr id="43" name="Text 41"/>
          <p:cNvSpPr/>
          <p:nvPr/>
        </p:nvSpPr>
        <p:spPr>
          <a:xfrm>
            <a:off x="5239512" y="3611880"/>
            <a:ext cx="3474720" cy="329184"/>
          </a:xfrm>
          <a:prstGeom prst="rect">
            <a:avLst/>
          </a:prstGeom>
          <a:noFill/>
          <a:ln/>
        </p:spPr>
        <p:txBody>
          <a:bodyPr wrap="square" lIns="0" tIns="0" rIns="0" bIns="0" rtlCol="0" anchor="ctr"/>
          <a:lstStyle/>
          <a:p>
            <a:pPr marL="0" indent="0">
              <a:buNone/>
            </a:pPr>
            <a:r>
              <a:rPr lang="en-US" sz="850" dirty="0">
                <a:solidFill>
                  <a:srgbClr val="8899AA"/>
                </a:solidFill>
              </a:rPr>
              <a:t>Ustawiaj sensowne defaults — redukuj konieczność wyboru.</a:t>
            </a:r>
            <a:endParaRPr lang="en-US" sz="850" dirty="0"/>
          </a:p>
        </p:txBody>
      </p:sp>
      <p:sp>
        <p:nvSpPr>
          <p:cNvPr id="44" name="Shape 42"/>
          <p:cNvSpPr/>
          <p:nvPr/>
        </p:nvSpPr>
        <p:spPr>
          <a:xfrm>
            <a:off x="4754880" y="4224528"/>
            <a:ext cx="4069080" cy="594360"/>
          </a:xfrm>
          <a:prstGeom prst="rect">
            <a:avLst/>
          </a:prstGeom>
          <a:solidFill>
            <a:srgbClr val="0A1929"/>
          </a:solidFill>
          <a:ln w="12700">
            <a:solidFill>
              <a:srgbClr val="1A3050"/>
            </a:solidFill>
            <a:prstDash val="solid"/>
          </a:ln>
        </p:spPr>
      </p:sp>
      <p:sp>
        <p:nvSpPr>
          <p:cNvPr id="45" name="Text 43"/>
          <p:cNvSpPr/>
          <p:nvPr/>
        </p:nvSpPr>
        <p:spPr>
          <a:xfrm>
            <a:off x="4892040" y="4251960"/>
            <a:ext cx="3794760" cy="530352"/>
          </a:xfrm>
          <a:prstGeom prst="rect">
            <a:avLst/>
          </a:prstGeom>
          <a:noFill/>
          <a:ln/>
        </p:spPr>
        <p:txBody>
          <a:bodyPr wrap="square" lIns="0" tIns="0" rIns="0" bIns="0" rtlCol="0" anchor="ctr"/>
          <a:lstStyle/>
          <a:p>
            <a:pPr marL="0" indent="0">
              <a:buNone/>
            </a:pPr>
            <a:r>
              <a:rPr lang="en-US" sz="900" dirty="0">
                <a:solidFill>
                  <a:srgbClr val="8899AA"/>
                </a:solidFill>
              </a:rPr>
              <a:t>Przykłady: Google Search (jedno pole), Netflix (max 6 kategorii), Amazon (stopniowe filtry)</a:t>
            </a:r>
            <a:endParaRPr lang="en-US" sz="900" dirty="0"/>
          </a:p>
        </p:txBody>
      </p:sp>
      <p:sp>
        <p:nvSpPr>
          <p:cNvPr id="48" name="Text 46"/>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15 / </a:t>
            </a:r>
            <a:r>
              <a:rPr lang="pl-PL" sz="800" dirty="0" smtClean="0">
                <a:solidFill>
                  <a:srgbClr val="8899AA"/>
                </a:solidFill>
              </a:rPr>
              <a:t>46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a:effectLst/>
      </p:bgPr>
    </p:bg>
    <p:spTree>
      <p:nvGrpSpPr>
        <p:cNvPr id="1" name=""/>
        <p:cNvGrpSpPr/>
        <p:nvPr/>
      </p:nvGrpSpPr>
      <p:grpSpPr>
        <a:xfrm>
          <a:off x="0" y="0"/>
          <a:ext cx="0" cy="0"/>
          <a:chOff x="0" y="0"/>
          <a:chExt cx="0" cy="0"/>
        </a:xfrm>
      </p:grpSpPr>
      <p:grpSp>
        <p:nvGrpSpPr>
          <p:cNvPr id="43" name="Grupa 42"/>
          <p:cNvGrpSpPr/>
          <p:nvPr/>
        </p:nvGrpSpPr>
        <p:grpSpPr>
          <a:xfrm>
            <a:off x="-2381" y="4884912"/>
            <a:ext cx="9146381" cy="260136"/>
            <a:chOff x="-2381" y="4884912"/>
            <a:chExt cx="9146381" cy="260136"/>
          </a:xfrm>
        </p:grpSpPr>
        <p:sp>
          <p:nvSpPr>
            <p:cNvPr id="44" name="Shape 52"/>
            <p:cNvSpPr/>
            <p:nvPr/>
          </p:nvSpPr>
          <p:spPr>
            <a:xfrm>
              <a:off x="0" y="4884912"/>
              <a:ext cx="9144000" cy="252000"/>
            </a:xfrm>
            <a:prstGeom prst="rect">
              <a:avLst/>
            </a:prstGeom>
            <a:solidFill>
              <a:srgbClr val="071523"/>
            </a:solidFill>
            <a:ln w="12700">
              <a:solidFill>
                <a:srgbClr val="071523"/>
              </a:solidFill>
              <a:prstDash val="solid"/>
            </a:ln>
          </p:spPr>
        </p:sp>
        <p:sp>
          <p:nvSpPr>
            <p:cNvPr id="45"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46" name="Grupa 45"/>
            <p:cNvGrpSpPr/>
            <p:nvPr/>
          </p:nvGrpSpPr>
          <p:grpSpPr>
            <a:xfrm>
              <a:off x="-2381" y="5099329"/>
              <a:ext cx="9146381" cy="45719"/>
              <a:chOff x="-2381" y="5107500"/>
              <a:chExt cx="9111093" cy="37548"/>
            </a:xfrm>
            <a:solidFill>
              <a:schemeClr val="tx1"/>
            </a:solidFill>
          </p:grpSpPr>
          <p:sp>
            <p:nvSpPr>
              <p:cNvPr id="47"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48"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49"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50"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62"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63" name="Shape 52"/>
              <p:cNvSpPr/>
              <p:nvPr/>
            </p:nvSpPr>
            <p:spPr>
              <a:xfrm>
                <a:off x="3168712" y="5108400"/>
                <a:ext cx="198000" cy="36000"/>
              </a:xfrm>
              <a:prstGeom prst="rect">
                <a:avLst/>
              </a:prstGeom>
              <a:solidFill>
                <a:schemeClr val="tx1"/>
              </a:solidFill>
              <a:ln w="12700">
                <a:noFill/>
                <a:prstDash val="solid"/>
              </a:ln>
            </p:spPr>
          </p:sp>
          <p:sp>
            <p:nvSpPr>
              <p:cNvPr id="64" name="Shape 52"/>
              <p:cNvSpPr/>
              <p:nvPr/>
            </p:nvSpPr>
            <p:spPr>
              <a:xfrm>
                <a:off x="3366712" y="5108400"/>
                <a:ext cx="198000" cy="36000"/>
              </a:xfrm>
              <a:prstGeom prst="rect">
                <a:avLst/>
              </a:prstGeom>
              <a:grpFill/>
              <a:ln w="12700">
                <a:noFill/>
                <a:prstDash val="solid"/>
              </a:ln>
            </p:spPr>
          </p:sp>
          <p:sp>
            <p:nvSpPr>
              <p:cNvPr id="65" name="Shape 52"/>
              <p:cNvSpPr/>
              <p:nvPr/>
            </p:nvSpPr>
            <p:spPr>
              <a:xfrm>
                <a:off x="3564712" y="5108400"/>
                <a:ext cx="198000" cy="36000"/>
              </a:xfrm>
              <a:prstGeom prst="rect">
                <a:avLst/>
              </a:prstGeom>
              <a:grpFill/>
              <a:ln w="12700">
                <a:noFill/>
                <a:prstDash val="solid"/>
              </a:ln>
            </p:spPr>
          </p:sp>
          <p:sp>
            <p:nvSpPr>
              <p:cNvPr id="66" name="Shape 52"/>
              <p:cNvSpPr/>
              <p:nvPr/>
            </p:nvSpPr>
            <p:spPr>
              <a:xfrm>
                <a:off x="3762712" y="5108400"/>
                <a:ext cx="198000" cy="36000"/>
              </a:xfrm>
              <a:prstGeom prst="rect">
                <a:avLst/>
              </a:prstGeom>
              <a:grpFill/>
              <a:ln w="12700">
                <a:noFill/>
                <a:prstDash val="solid"/>
              </a:ln>
            </p:spPr>
          </p:sp>
          <p:sp>
            <p:nvSpPr>
              <p:cNvPr id="67" name="Shape 52"/>
              <p:cNvSpPr/>
              <p:nvPr/>
            </p:nvSpPr>
            <p:spPr>
              <a:xfrm>
                <a:off x="3960712" y="5107530"/>
                <a:ext cx="198000" cy="36000"/>
              </a:xfrm>
              <a:prstGeom prst="rect">
                <a:avLst/>
              </a:prstGeom>
              <a:grpFill/>
              <a:ln w="12700">
                <a:noFill/>
                <a:prstDash val="solid"/>
              </a:ln>
            </p:spPr>
          </p:sp>
          <p:sp>
            <p:nvSpPr>
              <p:cNvPr id="68" name="Shape 52"/>
              <p:cNvSpPr/>
              <p:nvPr/>
            </p:nvSpPr>
            <p:spPr>
              <a:xfrm>
                <a:off x="4158712" y="5107500"/>
                <a:ext cx="198000" cy="36000"/>
              </a:xfrm>
              <a:prstGeom prst="rect">
                <a:avLst/>
              </a:prstGeom>
              <a:grpFill/>
              <a:ln w="12700">
                <a:noFill/>
                <a:prstDash val="solid"/>
              </a:ln>
            </p:spPr>
          </p:sp>
          <p:sp>
            <p:nvSpPr>
              <p:cNvPr id="69" name="Shape 52"/>
              <p:cNvSpPr/>
              <p:nvPr/>
            </p:nvSpPr>
            <p:spPr>
              <a:xfrm>
                <a:off x="4356712" y="5107500"/>
                <a:ext cx="198000" cy="36000"/>
              </a:xfrm>
              <a:prstGeom prst="rect">
                <a:avLst/>
              </a:prstGeom>
              <a:grpFill/>
              <a:ln w="12700">
                <a:noFill/>
                <a:prstDash val="solid"/>
              </a:ln>
            </p:spPr>
          </p:sp>
          <p:sp>
            <p:nvSpPr>
              <p:cNvPr id="70" name="Shape 52"/>
              <p:cNvSpPr/>
              <p:nvPr/>
            </p:nvSpPr>
            <p:spPr>
              <a:xfrm>
                <a:off x="4554712" y="5107500"/>
                <a:ext cx="198000" cy="36000"/>
              </a:xfrm>
              <a:prstGeom prst="rect">
                <a:avLst/>
              </a:prstGeom>
              <a:grpFill/>
              <a:ln w="12700">
                <a:noFill/>
                <a:prstDash val="solid"/>
              </a:ln>
            </p:spPr>
          </p:sp>
          <p:sp>
            <p:nvSpPr>
              <p:cNvPr id="71" name="Shape 52"/>
              <p:cNvSpPr/>
              <p:nvPr/>
            </p:nvSpPr>
            <p:spPr>
              <a:xfrm>
                <a:off x="4752712" y="5107500"/>
                <a:ext cx="198000" cy="36000"/>
              </a:xfrm>
              <a:prstGeom prst="rect">
                <a:avLst/>
              </a:prstGeom>
              <a:grpFill/>
              <a:ln w="12700">
                <a:noFill/>
                <a:prstDash val="solid"/>
              </a:ln>
            </p:spPr>
          </p:sp>
          <p:sp>
            <p:nvSpPr>
              <p:cNvPr id="72" name="Shape 52"/>
              <p:cNvSpPr/>
              <p:nvPr/>
            </p:nvSpPr>
            <p:spPr>
              <a:xfrm>
                <a:off x="4950712" y="5107500"/>
                <a:ext cx="198000" cy="36000"/>
              </a:xfrm>
              <a:prstGeom prst="rect">
                <a:avLst/>
              </a:prstGeom>
              <a:grpFill/>
              <a:ln w="12700">
                <a:noFill/>
                <a:prstDash val="solid"/>
              </a:ln>
            </p:spPr>
          </p:sp>
          <p:sp>
            <p:nvSpPr>
              <p:cNvPr id="73" name="Shape 52"/>
              <p:cNvSpPr/>
              <p:nvPr/>
            </p:nvSpPr>
            <p:spPr>
              <a:xfrm>
                <a:off x="5148712" y="5107500"/>
                <a:ext cx="198000" cy="36000"/>
              </a:xfrm>
              <a:prstGeom prst="rect">
                <a:avLst/>
              </a:prstGeom>
              <a:grpFill/>
              <a:ln w="12700">
                <a:noFill/>
                <a:prstDash val="solid"/>
              </a:ln>
            </p:spPr>
          </p:sp>
          <p:sp>
            <p:nvSpPr>
              <p:cNvPr id="74" name="Shape 52"/>
              <p:cNvSpPr/>
              <p:nvPr/>
            </p:nvSpPr>
            <p:spPr>
              <a:xfrm>
                <a:off x="5346712" y="5108400"/>
                <a:ext cx="198000" cy="36000"/>
              </a:xfrm>
              <a:prstGeom prst="rect">
                <a:avLst/>
              </a:prstGeom>
              <a:grpFill/>
              <a:ln w="12700">
                <a:noFill/>
                <a:prstDash val="solid"/>
              </a:ln>
            </p:spPr>
          </p:sp>
          <p:sp>
            <p:nvSpPr>
              <p:cNvPr id="75" name="Shape 52"/>
              <p:cNvSpPr/>
              <p:nvPr/>
            </p:nvSpPr>
            <p:spPr>
              <a:xfrm>
                <a:off x="5544712" y="5108400"/>
                <a:ext cx="198000" cy="36000"/>
              </a:xfrm>
              <a:prstGeom prst="rect">
                <a:avLst/>
              </a:prstGeom>
              <a:grpFill/>
              <a:ln w="12700">
                <a:noFill/>
                <a:prstDash val="solid"/>
              </a:ln>
            </p:spPr>
          </p:sp>
          <p:sp>
            <p:nvSpPr>
              <p:cNvPr id="76" name="Shape 52"/>
              <p:cNvSpPr/>
              <p:nvPr/>
            </p:nvSpPr>
            <p:spPr>
              <a:xfrm>
                <a:off x="5742712" y="5108400"/>
                <a:ext cx="198000" cy="36000"/>
              </a:xfrm>
              <a:prstGeom prst="rect">
                <a:avLst/>
              </a:prstGeom>
              <a:grpFill/>
              <a:ln w="12700">
                <a:noFill/>
                <a:prstDash val="solid"/>
              </a:ln>
            </p:spPr>
          </p:sp>
          <p:sp>
            <p:nvSpPr>
              <p:cNvPr id="77" name="Shape 52"/>
              <p:cNvSpPr/>
              <p:nvPr/>
            </p:nvSpPr>
            <p:spPr>
              <a:xfrm>
                <a:off x="5940712" y="5108400"/>
                <a:ext cx="198000" cy="36000"/>
              </a:xfrm>
              <a:prstGeom prst="rect">
                <a:avLst/>
              </a:prstGeom>
              <a:grpFill/>
              <a:ln w="12700">
                <a:noFill/>
                <a:prstDash val="solid"/>
              </a:ln>
            </p:spPr>
          </p:sp>
          <p:sp>
            <p:nvSpPr>
              <p:cNvPr id="78" name="Shape 52"/>
              <p:cNvSpPr/>
              <p:nvPr/>
            </p:nvSpPr>
            <p:spPr>
              <a:xfrm>
                <a:off x="6138712" y="5108400"/>
                <a:ext cx="198000" cy="36000"/>
              </a:xfrm>
              <a:prstGeom prst="rect">
                <a:avLst/>
              </a:prstGeom>
              <a:grpFill/>
              <a:ln w="12700">
                <a:noFill/>
                <a:prstDash val="solid"/>
              </a:ln>
            </p:spPr>
          </p:sp>
          <p:sp>
            <p:nvSpPr>
              <p:cNvPr id="79" name="Shape 52"/>
              <p:cNvSpPr/>
              <p:nvPr/>
            </p:nvSpPr>
            <p:spPr>
              <a:xfrm>
                <a:off x="6336712" y="5108400"/>
                <a:ext cx="198000" cy="36000"/>
              </a:xfrm>
              <a:prstGeom prst="rect">
                <a:avLst/>
              </a:prstGeom>
              <a:grpFill/>
              <a:ln w="12700">
                <a:noFill/>
                <a:prstDash val="solid"/>
              </a:ln>
            </p:spPr>
          </p:sp>
          <p:sp>
            <p:nvSpPr>
              <p:cNvPr id="80" name="Shape 52"/>
              <p:cNvSpPr/>
              <p:nvPr/>
            </p:nvSpPr>
            <p:spPr>
              <a:xfrm>
                <a:off x="6534712" y="5108400"/>
                <a:ext cx="198000" cy="36000"/>
              </a:xfrm>
              <a:prstGeom prst="rect">
                <a:avLst/>
              </a:prstGeom>
              <a:grpFill/>
              <a:ln w="12700">
                <a:noFill/>
                <a:prstDash val="solid"/>
              </a:ln>
            </p:spPr>
          </p:sp>
          <p:sp>
            <p:nvSpPr>
              <p:cNvPr id="81" name="Shape 52"/>
              <p:cNvSpPr/>
              <p:nvPr/>
            </p:nvSpPr>
            <p:spPr>
              <a:xfrm>
                <a:off x="6732712" y="5108400"/>
                <a:ext cx="198000" cy="36000"/>
              </a:xfrm>
              <a:prstGeom prst="rect">
                <a:avLst/>
              </a:prstGeom>
              <a:grpFill/>
              <a:ln w="12700">
                <a:noFill/>
                <a:prstDash val="solid"/>
              </a:ln>
            </p:spPr>
          </p:sp>
          <p:sp>
            <p:nvSpPr>
              <p:cNvPr id="82" name="Shape 52"/>
              <p:cNvSpPr/>
              <p:nvPr/>
            </p:nvSpPr>
            <p:spPr>
              <a:xfrm>
                <a:off x="6930712" y="5108400"/>
                <a:ext cx="198000" cy="36000"/>
              </a:xfrm>
              <a:prstGeom prst="rect">
                <a:avLst/>
              </a:prstGeom>
              <a:grpFill/>
              <a:ln w="12700">
                <a:noFill/>
                <a:prstDash val="solid"/>
              </a:ln>
            </p:spPr>
          </p:sp>
          <p:sp>
            <p:nvSpPr>
              <p:cNvPr id="83" name="Shape 52"/>
              <p:cNvSpPr/>
              <p:nvPr/>
            </p:nvSpPr>
            <p:spPr>
              <a:xfrm>
                <a:off x="7128712" y="5108400"/>
                <a:ext cx="198000" cy="36000"/>
              </a:xfrm>
              <a:prstGeom prst="rect">
                <a:avLst/>
              </a:prstGeom>
              <a:grpFill/>
              <a:ln w="12700">
                <a:noFill/>
                <a:prstDash val="solid"/>
              </a:ln>
            </p:spPr>
          </p:sp>
          <p:sp>
            <p:nvSpPr>
              <p:cNvPr id="84" name="Shape 52"/>
              <p:cNvSpPr/>
              <p:nvPr/>
            </p:nvSpPr>
            <p:spPr>
              <a:xfrm>
                <a:off x="7326712" y="5108400"/>
                <a:ext cx="198000" cy="36000"/>
              </a:xfrm>
              <a:prstGeom prst="rect">
                <a:avLst/>
              </a:prstGeom>
              <a:grpFill/>
              <a:ln w="12700">
                <a:noFill/>
                <a:prstDash val="solid"/>
              </a:ln>
            </p:spPr>
          </p:sp>
          <p:sp>
            <p:nvSpPr>
              <p:cNvPr id="85" name="Shape 52"/>
              <p:cNvSpPr/>
              <p:nvPr/>
            </p:nvSpPr>
            <p:spPr>
              <a:xfrm>
                <a:off x="7524712" y="5108400"/>
                <a:ext cx="198000" cy="36000"/>
              </a:xfrm>
              <a:prstGeom prst="rect">
                <a:avLst/>
              </a:prstGeom>
              <a:grpFill/>
              <a:ln w="12700">
                <a:noFill/>
                <a:prstDash val="solid"/>
              </a:ln>
            </p:spPr>
          </p:sp>
          <p:sp>
            <p:nvSpPr>
              <p:cNvPr id="86" name="Shape 52"/>
              <p:cNvSpPr/>
              <p:nvPr/>
            </p:nvSpPr>
            <p:spPr>
              <a:xfrm>
                <a:off x="7722712" y="5108400"/>
                <a:ext cx="198000" cy="36000"/>
              </a:xfrm>
              <a:prstGeom prst="rect">
                <a:avLst/>
              </a:prstGeom>
              <a:grpFill/>
              <a:ln w="12700">
                <a:noFill/>
                <a:prstDash val="solid"/>
              </a:ln>
            </p:spPr>
          </p:sp>
          <p:sp>
            <p:nvSpPr>
              <p:cNvPr id="87" name="Shape 52"/>
              <p:cNvSpPr/>
              <p:nvPr/>
            </p:nvSpPr>
            <p:spPr>
              <a:xfrm>
                <a:off x="7920712" y="5109048"/>
                <a:ext cx="198000" cy="36000"/>
              </a:xfrm>
              <a:prstGeom prst="rect">
                <a:avLst/>
              </a:prstGeom>
              <a:grpFill/>
              <a:ln w="12700">
                <a:noFill/>
                <a:prstDash val="solid"/>
              </a:ln>
            </p:spPr>
          </p:sp>
          <p:sp>
            <p:nvSpPr>
              <p:cNvPr id="88" name="Shape 52"/>
              <p:cNvSpPr/>
              <p:nvPr/>
            </p:nvSpPr>
            <p:spPr>
              <a:xfrm>
                <a:off x="8118712" y="5109048"/>
                <a:ext cx="198000" cy="36000"/>
              </a:xfrm>
              <a:prstGeom prst="rect">
                <a:avLst/>
              </a:prstGeom>
              <a:grpFill/>
              <a:ln w="12700">
                <a:noFill/>
                <a:prstDash val="solid"/>
              </a:ln>
            </p:spPr>
          </p:sp>
          <p:sp>
            <p:nvSpPr>
              <p:cNvPr id="89" name="Shape 52"/>
              <p:cNvSpPr/>
              <p:nvPr/>
            </p:nvSpPr>
            <p:spPr>
              <a:xfrm>
                <a:off x="8316712" y="5109048"/>
                <a:ext cx="198000" cy="36000"/>
              </a:xfrm>
              <a:prstGeom prst="rect">
                <a:avLst/>
              </a:prstGeom>
              <a:grpFill/>
              <a:ln w="12700">
                <a:noFill/>
                <a:prstDash val="solid"/>
              </a:ln>
            </p:spPr>
          </p:sp>
          <p:sp>
            <p:nvSpPr>
              <p:cNvPr id="90" name="Shape 52"/>
              <p:cNvSpPr/>
              <p:nvPr/>
            </p:nvSpPr>
            <p:spPr>
              <a:xfrm>
                <a:off x="8514712" y="5109048"/>
                <a:ext cx="198000" cy="36000"/>
              </a:xfrm>
              <a:prstGeom prst="rect">
                <a:avLst/>
              </a:prstGeom>
              <a:grpFill/>
              <a:ln w="12700">
                <a:noFill/>
                <a:prstDash val="solid"/>
              </a:ln>
            </p:spPr>
          </p:sp>
          <p:sp>
            <p:nvSpPr>
              <p:cNvPr id="91" name="Shape 52"/>
              <p:cNvSpPr/>
              <p:nvPr/>
            </p:nvSpPr>
            <p:spPr>
              <a:xfrm>
                <a:off x="8712712" y="5109048"/>
                <a:ext cx="198000" cy="36000"/>
              </a:xfrm>
              <a:prstGeom prst="rect">
                <a:avLst/>
              </a:prstGeom>
              <a:grpFill/>
              <a:ln w="12700">
                <a:noFill/>
                <a:prstDash val="solid"/>
              </a:ln>
            </p:spPr>
          </p:sp>
          <p:sp>
            <p:nvSpPr>
              <p:cNvPr id="92"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00E676"/>
          </a:solidFill>
          <a:ln w="12700">
            <a:solidFill>
              <a:srgbClr val="00E676"/>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Prawo Fittsa </a:t>
            </a:r>
            <a:r>
              <a:rPr lang="en-US" sz="2200" b="1" dirty="0" err="1">
                <a:solidFill>
                  <a:srgbClr val="FFFFFF"/>
                </a:solidFill>
              </a:rPr>
              <a:t>i</a:t>
            </a:r>
            <a:r>
              <a:rPr lang="en-US" sz="2200" b="1" dirty="0">
                <a:solidFill>
                  <a:srgbClr val="FFFFFF"/>
                </a:solidFill>
              </a:rPr>
              <a:t> </a:t>
            </a:r>
            <a:r>
              <a:rPr lang="pl-PL" sz="2200" b="1" dirty="0" smtClean="0">
                <a:solidFill>
                  <a:srgbClr val="FFFFFF"/>
                </a:solidFill>
              </a:rPr>
              <a:t>p</a:t>
            </a:r>
            <a:r>
              <a:rPr lang="en-US" sz="2200" b="1" dirty="0" err="1" smtClean="0">
                <a:solidFill>
                  <a:srgbClr val="FFFFFF"/>
                </a:solidFill>
              </a:rPr>
              <a:t>rojektowanie</a:t>
            </a:r>
            <a:r>
              <a:rPr lang="en-US" sz="2200" b="1" dirty="0" smtClean="0">
                <a:solidFill>
                  <a:srgbClr val="FFFFFF"/>
                </a:solidFill>
              </a:rPr>
              <a:t> </a:t>
            </a:r>
            <a:r>
              <a:rPr lang="pl-PL" sz="2200" b="1" dirty="0" smtClean="0">
                <a:solidFill>
                  <a:srgbClr val="FFFFFF"/>
                </a:solidFill>
              </a:rPr>
              <a:t>d</a:t>
            </a:r>
            <a:r>
              <a:rPr lang="en-US" sz="2200" b="1" dirty="0" err="1" smtClean="0">
                <a:solidFill>
                  <a:srgbClr val="FFFFFF"/>
                </a:solidFill>
              </a:rPr>
              <a:t>otykowe</a:t>
            </a:r>
            <a:endParaRPr lang="en-US" sz="2200" dirty="0"/>
          </a:p>
        </p:txBody>
      </p:sp>
      <p:sp>
        <p:nvSpPr>
          <p:cNvPr id="4" name="Shape 2"/>
          <p:cNvSpPr/>
          <p:nvPr/>
        </p:nvSpPr>
        <p:spPr>
          <a:xfrm>
            <a:off x="320040" y="914400"/>
            <a:ext cx="4069080" cy="3246120"/>
          </a:xfrm>
          <a:prstGeom prst="rect">
            <a:avLst/>
          </a:prstGeom>
          <a:solidFill>
            <a:srgbClr val="112233"/>
          </a:solidFill>
          <a:ln w="12700">
            <a:solidFill>
              <a:srgbClr val="1A3050"/>
            </a:solidFill>
            <a:prstDash val="solid"/>
          </a:ln>
        </p:spPr>
      </p:sp>
      <p:sp>
        <p:nvSpPr>
          <p:cNvPr id="5" name="Shape 3"/>
          <p:cNvSpPr/>
          <p:nvPr/>
        </p:nvSpPr>
        <p:spPr>
          <a:xfrm>
            <a:off x="320040" y="914400"/>
            <a:ext cx="45720" cy="3246120"/>
          </a:xfrm>
          <a:prstGeom prst="rect">
            <a:avLst/>
          </a:prstGeom>
          <a:solidFill>
            <a:srgbClr val="00D4FF"/>
          </a:solidFill>
          <a:ln w="12700">
            <a:solidFill>
              <a:srgbClr val="00D4FF"/>
            </a:solidFill>
            <a:prstDash val="solid"/>
          </a:ln>
        </p:spPr>
      </p:sp>
      <p:sp>
        <p:nvSpPr>
          <p:cNvPr id="6" name="Text 4"/>
          <p:cNvSpPr/>
          <p:nvPr/>
        </p:nvSpPr>
        <p:spPr>
          <a:xfrm>
            <a:off x="457200" y="987552"/>
            <a:ext cx="3794760" cy="292608"/>
          </a:xfrm>
          <a:prstGeom prst="rect">
            <a:avLst/>
          </a:prstGeom>
          <a:noFill/>
          <a:ln/>
        </p:spPr>
        <p:txBody>
          <a:bodyPr wrap="square" lIns="0" tIns="0" rIns="0" bIns="0" rtlCol="0" anchor="ctr"/>
          <a:lstStyle/>
          <a:p>
            <a:pPr marL="0" indent="0">
              <a:buNone/>
            </a:pPr>
            <a:r>
              <a:rPr lang="en-US" sz="1400" b="1" dirty="0">
                <a:solidFill>
                  <a:srgbClr val="FFFFFF"/>
                </a:solidFill>
              </a:rPr>
              <a:t>Fitts's Law</a:t>
            </a:r>
            <a:endParaRPr lang="en-US" sz="1400" dirty="0"/>
          </a:p>
        </p:txBody>
      </p:sp>
      <p:sp>
        <p:nvSpPr>
          <p:cNvPr id="7" name="Text 5"/>
          <p:cNvSpPr/>
          <p:nvPr/>
        </p:nvSpPr>
        <p:spPr>
          <a:xfrm>
            <a:off x="457200" y="1353312"/>
            <a:ext cx="3794760" cy="502920"/>
          </a:xfrm>
          <a:prstGeom prst="rect">
            <a:avLst/>
          </a:prstGeom>
          <a:noFill/>
          <a:ln/>
        </p:spPr>
        <p:txBody>
          <a:bodyPr wrap="square" lIns="0" tIns="0" rIns="0" bIns="0" rtlCol="0" anchor="ctr"/>
          <a:lstStyle/>
          <a:p>
            <a:pPr marL="0" indent="0">
              <a:buNone/>
            </a:pPr>
            <a:r>
              <a:rPr lang="en-US" sz="950" dirty="0">
                <a:solidFill>
                  <a:srgbClr val="CCDDEE"/>
                </a:solidFill>
              </a:rPr>
              <a:t>Czas dotarcia do celu zależy od jego wielkości i odległości. Im większy cel i bliżej rąk, tym szybciej użytkownik go dotknie.</a:t>
            </a:r>
            <a:endParaRPr lang="en-US" sz="950" dirty="0"/>
          </a:p>
        </p:txBody>
      </p:sp>
      <p:sp>
        <p:nvSpPr>
          <p:cNvPr id="8" name="Shape 6"/>
          <p:cNvSpPr/>
          <p:nvPr/>
        </p:nvSpPr>
        <p:spPr>
          <a:xfrm>
            <a:off x="320040" y="1920240"/>
            <a:ext cx="4069080" cy="777240"/>
          </a:xfrm>
          <a:prstGeom prst="rect">
            <a:avLst/>
          </a:prstGeom>
          <a:solidFill>
            <a:srgbClr val="0A1929"/>
          </a:solidFill>
          <a:ln w="12700">
            <a:solidFill>
              <a:srgbClr val="1A3A5C"/>
            </a:solidFill>
            <a:prstDash val="solid"/>
          </a:ln>
        </p:spPr>
      </p:sp>
      <p:sp>
        <p:nvSpPr>
          <p:cNvPr id="9" name="Text 7"/>
          <p:cNvSpPr/>
          <p:nvPr/>
        </p:nvSpPr>
        <p:spPr>
          <a:xfrm>
            <a:off x="429768" y="2011680"/>
            <a:ext cx="3867912" cy="640080"/>
          </a:xfrm>
          <a:prstGeom prst="rect">
            <a:avLst/>
          </a:prstGeom>
          <a:noFill/>
          <a:ln/>
        </p:spPr>
        <p:txBody>
          <a:bodyPr wrap="square" lIns="0" tIns="0" rIns="0" bIns="0" rtlCol="0" anchor="t"/>
          <a:lstStyle/>
          <a:p>
            <a:pPr marL="0" indent="0">
              <a:buNone/>
            </a:pPr>
            <a:r>
              <a:rPr lang="en-US" sz="950" dirty="0">
                <a:solidFill>
                  <a:srgbClr val="00E676"/>
                </a:solidFill>
                <a:latin typeface="Consolas" pitchFamily="34" charset="0"/>
                <a:ea typeface="Consolas" pitchFamily="34" charset="-122"/>
                <a:cs typeface="Consolas" pitchFamily="34" charset="-120"/>
              </a:rPr>
              <a:t>T = a + b × log₂(2D/W)</a:t>
            </a:r>
            <a:endParaRPr lang="en-US" sz="950" dirty="0"/>
          </a:p>
          <a:p>
            <a:pPr marL="0" indent="0">
              <a:buNone/>
            </a:pPr>
            <a:endParaRPr lang="en-US" sz="950" dirty="0"/>
          </a:p>
          <a:p>
            <a:pPr marL="0" indent="0">
              <a:buNone/>
            </a:pPr>
            <a:r>
              <a:rPr lang="en-US" sz="950" dirty="0">
                <a:solidFill>
                  <a:srgbClr val="00E676"/>
                </a:solidFill>
                <a:latin typeface="Consolas" pitchFamily="34" charset="0"/>
                <a:ea typeface="Consolas" pitchFamily="34" charset="-122"/>
                <a:cs typeface="Consolas" pitchFamily="34" charset="-120"/>
              </a:rPr>
              <a:t>T = czas ruchu</a:t>
            </a:r>
            <a:endParaRPr lang="en-US" sz="950" dirty="0"/>
          </a:p>
          <a:p>
            <a:pPr marL="0" indent="0">
              <a:buNone/>
            </a:pPr>
            <a:r>
              <a:rPr lang="en-US" sz="950" dirty="0">
                <a:solidFill>
                  <a:srgbClr val="00E676"/>
                </a:solidFill>
                <a:latin typeface="Consolas" pitchFamily="34" charset="0"/>
                <a:ea typeface="Consolas" pitchFamily="34" charset="-122"/>
                <a:cs typeface="Consolas" pitchFamily="34" charset="-120"/>
              </a:rPr>
              <a:t>D = odległość do celu</a:t>
            </a:r>
            <a:endParaRPr lang="en-US" sz="950" dirty="0"/>
          </a:p>
          <a:p>
            <a:pPr marL="0" indent="0">
              <a:buNone/>
            </a:pPr>
            <a:r>
              <a:rPr lang="en-US" sz="950" dirty="0">
                <a:solidFill>
                  <a:srgbClr val="00E676"/>
                </a:solidFill>
                <a:latin typeface="Consolas" pitchFamily="34" charset="0"/>
                <a:ea typeface="Consolas" pitchFamily="34" charset="-122"/>
                <a:cs typeface="Consolas" pitchFamily="34" charset="-120"/>
              </a:rPr>
              <a:t>W = szerokość (rozmiar) celu</a:t>
            </a:r>
            <a:endParaRPr lang="en-US" sz="950" dirty="0"/>
          </a:p>
        </p:txBody>
      </p:sp>
      <p:sp>
        <p:nvSpPr>
          <p:cNvPr id="10" name="Shape 8"/>
          <p:cNvSpPr/>
          <p:nvPr/>
        </p:nvSpPr>
        <p:spPr>
          <a:xfrm>
            <a:off x="320040" y="2788920"/>
            <a:ext cx="4069080" cy="502920"/>
          </a:xfrm>
          <a:prstGeom prst="rect">
            <a:avLst/>
          </a:prstGeom>
          <a:solidFill>
            <a:srgbClr val="0A1929"/>
          </a:solidFill>
          <a:ln w="12700">
            <a:solidFill>
              <a:srgbClr val="00D4FF"/>
            </a:solidFill>
            <a:prstDash val="solid"/>
          </a:ln>
        </p:spPr>
      </p:sp>
      <p:sp>
        <p:nvSpPr>
          <p:cNvPr id="11" name="Text 9"/>
          <p:cNvSpPr/>
          <p:nvPr/>
        </p:nvSpPr>
        <p:spPr>
          <a:xfrm>
            <a:off x="457200" y="2816352"/>
            <a:ext cx="3794760" cy="438912"/>
          </a:xfrm>
          <a:prstGeom prst="rect">
            <a:avLst/>
          </a:prstGeom>
          <a:noFill/>
          <a:ln/>
        </p:spPr>
        <p:txBody>
          <a:bodyPr wrap="square" lIns="0" tIns="0" rIns="0" bIns="0" rtlCol="0" anchor="ctr"/>
          <a:lstStyle/>
          <a:p>
            <a:pPr marL="0" indent="0">
              <a:buNone/>
            </a:pPr>
            <a:r>
              <a:rPr lang="en-US" sz="900" dirty="0">
                <a:solidFill>
                  <a:srgbClr val="CCDDEE"/>
                </a:solidFill>
              </a:rPr>
              <a:t>Wniosek: Większe cele są łatwiejsze do trafienia. Często używane elementy powinny być duże i blisko naturalnej pozycji palca.</a:t>
            </a:r>
            <a:endParaRPr lang="en-US" sz="900" dirty="0"/>
          </a:p>
        </p:txBody>
      </p:sp>
      <p:sp>
        <p:nvSpPr>
          <p:cNvPr id="12" name="Shape 10"/>
          <p:cNvSpPr/>
          <p:nvPr/>
        </p:nvSpPr>
        <p:spPr>
          <a:xfrm>
            <a:off x="320040" y="3364992"/>
            <a:ext cx="1965960" cy="713232"/>
          </a:xfrm>
          <a:prstGeom prst="rect">
            <a:avLst/>
          </a:prstGeom>
          <a:solidFill>
            <a:srgbClr val="112233"/>
          </a:solidFill>
          <a:ln w="12700">
            <a:solidFill>
              <a:srgbClr val="00D4FF"/>
            </a:solidFill>
            <a:prstDash val="solid"/>
          </a:ln>
        </p:spPr>
      </p:sp>
      <p:sp>
        <p:nvSpPr>
          <p:cNvPr id="13" name="Text 11"/>
          <p:cNvSpPr/>
          <p:nvPr/>
        </p:nvSpPr>
        <p:spPr>
          <a:xfrm>
            <a:off x="320040" y="3456432"/>
            <a:ext cx="1965960" cy="392278"/>
          </a:xfrm>
          <a:prstGeom prst="rect">
            <a:avLst/>
          </a:prstGeom>
          <a:noFill/>
          <a:ln/>
        </p:spPr>
        <p:txBody>
          <a:bodyPr wrap="square" lIns="0" tIns="0" rIns="0" bIns="0" rtlCol="0" anchor="ctr"/>
          <a:lstStyle/>
          <a:p>
            <a:pPr marL="0" indent="0" algn="ctr">
              <a:buNone/>
            </a:pPr>
            <a:r>
              <a:rPr lang="en-US" sz="2400" b="1" dirty="0">
                <a:solidFill>
                  <a:srgbClr val="00D4FF"/>
                </a:solidFill>
              </a:rPr>
              <a:t>44px</a:t>
            </a:r>
            <a:endParaRPr lang="en-US" sz="2400" dirty="0"/>
          </a:p>
        </p:txBody>
      </p:sp>
      <p:sp>
        <p:nvSpPr>
          <p:cNvPr id="14" name="Text 12"/>
          <p:cNvSpPr/>
          <p:nvPr/>
        </p:nvSpPr>
        <p:spPr>
          <a:xfrm>
            <a:off x="320040" y="3792931"/>
            <a:ext cx="1965960" cy="271028"/>
          </a:xfrm>
          <a:prstGeom prst="rect">
            <a:avLst/>
          </a:prstGeom>
          <a:noFill/>
          <a:ln/>
        </p:spPr>
        <p:txBody>
          <a:bodyPr wrap="square" lIns="0" tIns="0" rIns="0" bIns="0" rtlCol="0" anchor="ctr"/>
          <a:lstStyle/>
          <a:p>
            <a:pPr marL="0" indent="0" algn="ctr">
              <a:buNone/>
            </a:pPr>
            <a:r>
              <a:rPr lang="en-US" sz="850" dirty="0">
                <a:solidFill>
                  <a:srgbClr val="8899AA"/>
                </a:solidFill>
              </a:rPr>
              <a:t>min. cel dotykowy (iOS)</a:t>
            </a:r>
            <a:endParaRPr lang="en-US" sz="850" dirty="0"/>
          </a:p>
        </p:txBody>
      </p:sp>
      <p:sp>
        <p:nvSpPr>
          <p:cNvPr id="15" name="Shape 13"/>
          <p:cNvSpPr/>
          <p:nvPr/>
        </p:nvSpPr>
        <p:spPr>
          <a:xfrm>
            <a:off x="2423160" y="3364992"/>
            <a:ext cx="1965960" cy="713232"/>
          </a:xfrm>
          <a:prstGeom prst="rect">
            <a:avLst/>
          </a:prstGeom>
          <a:solidFill>
            <a:srgbClr val="112233"/>
          </a:solidFill>
          <a:ln w="12700">
            <a:solidFill>
              <a:srgbClr val="FF2D78"/>
            </a:solidFill>
            <a:prstDash val="solid"/>
          </a:ln>
        </p:spPr>
      </p:sp>
      <p:sp>
        <p:nvSpPr>
          <p:cNvPr id="16" name="Text 14"/>
          <p:cNvSpPr/>
          <p:nvPr/>
        </p:nvSpPr>
        <p:spPr>
          <a:xfrm>
            <a:off x="2423160" y="3456432"/>
            <a:ext cx="1965960" cy="392278"/>
          </a:xfrm>
          <a:prstGeom prst="rect">
            <a:avLst/>
          </a:prstGeom>
          <a:noFill/>
          <a:ln/>
        </p:spPr>
        <p:txBody>
          <a:bodyPr wrap="square" lIns="0" tIns="0" rIns="0" bIns="0" rtlCol="0" anchor="ctr"/>
          <a:lstStyle/>
          <a:p>
            <a:pPr marL="0" indent="0" algn="ctr">
              <a:buNone/>
            </a:pPr>
            <a:r>
              <a:rPr lang="en-US" sz="2400" b="1" dirty="0">
                <a:solidFill>
                  <a:srgbClr val="FF2D78"/>
                </a:solidFill>
              </a:rPr>
              <a:t>48dp</a:t>
            </a:r>
            <a:endParaRPr lang="en-US" sz="2400" dirty="0"/>
          </a:p>
        </p:txBody>
      </p:sp>
      <p:sp>
        <p:nvSpPr>
          <p:cNvPr id="17" name="Text 15"/>
          <p:cNvSpPr/>
          <p:nvPr/>
        </p:nvSpPr>
        <p:spPr>
          <a:xfrm>
            <a:off x="2423160" y="3792931"/>
            <a:ext cx="1965960" cy="271028"/>
          </a:xfrm>
          <a:prstGeom prst="rect">
            <a:avLst/>
          </a:prstGeom>
          <a:noFill/>
          <a:ln/>
        </p:spPr>
        <p:txBody>
          <a:bodyPr wrap="square" lIns="0" tIns="0" rIns="0" bIns="0" rtlCol="0" anchor="ctr"/>
          <a:lstStyle/>
          <a:p>
            <a:pPr marL="0" indent="0" algn="ctr">
              <a:buNone/>
            </a:pPr>
            <a:r>
              <a:rPr lang="en-US" sz="850" dirty="0">
                <a:solidFill>
                  <a:srgbClr val="8899AA"/>
                </a:solidFill>
              </a:rPr>
              <a:t>min. cel dotykowy (Android)</a:t>
            </a:r>
            <a:endParaRPr lang="en-US" sz="850" dirty="0"/>
          </a:p>
        </p:txBody>
      </p:sp>
      <p:sp>
        <p:nvSpPr>
          <p:cNvPr id="18" name="Shape 16"/>
          <p:cNvSpPr/>
          <p:nvPr/>
        </p:nvSpPr>
        <p:spPr>
          <a:xfrm>
            <a:off x="4754880" y="914400"/>
            <a:ext cx="4069080" cy="3246120"/>
          </a:xfrm>
          <a:prstGeom prst="rect">
            <a:avLst/>
          </a:prstGeom>
          <a:solidFill>
            <a:srgbClr val="112233"/>
          </a:solidFill>
          <a:ln w="12700">
            <a:solidFill>
              <a:srgbClr val="1A3050"/>
            </a:solidFill>
            <a:prstDash val="solid"/>
          </a:ln>
        </p:spPr>
      </p:sp>
      <p:sp>
        <p:nvSpPr>
          <p:cNvPr id="19" name="Shape 17"/>
          <p:cNvSpPr/>
          <p:nvPr/>
        </p:nvSpPr>
        <p:spPr>
          <a:xfrm>
            <a:off x="4754880" y="914400"/>
            <a:ext cx="45720" cy="3246120"/>
          </a:xfrm>
          <a:prstGeom prst="rect">
            <a:avLst/>
          </a:prstGeom>
          <a:solidFill>
            <a:srgbClr val="00D4FF"/>
          </a:solidFill>
          <a:ln w="12700">
            <a:solidFill>
              <a:srgbClr val="00D4FF"/>
            </a:solidFill>
            <a:prstDash val="solid"/>
          </a:ln>
        </p:spPr>
      </p:sp>
      <p:sp>
        <p:nvSpPr>
          <p:cNvPr id="20" name="Text 18"/>
          <p:cNvSpPr/>
          <p:nvPr/>
        </p:nvSpPr>
        <p:spPr>
          <a:xfrm>
            <a:off x="4892040" y="987552"/>
            <a:ext cx="3794760" cy="274320"/>
          </a:xfrm>
          <a:prstGeom prst="rect">
            <a:avLst/>
          </a:prstGeom>
          <a:noFill/>
          <a:ln/>
        </p:spPr>
        <p:txBody>
          <a:bodyPr wrap="square" lIns="0" tIns="0" rIns="0" bIns="0" rtlCol="0" anchor="ctr"/>
          <a:lstStyle/>
          <a:p>
            <a:pPr marL="0" indent="0">
              <a:buNone/>
            </a:pPr>
            <a:r>
              <a:rPr lang="en-US" sz="1200" b="1" dirty="0">
                <a:solidFill>
                  <a:srgbClr val="FFFFFF"/>
                </a:solidFill>
              </a:rPr>
              <a:t>Implikacje dla Mobile</a:t>
            </a:r>
            <a:endParaRPr lang="en-US" sz="1200" dirty="0"/>
          </a:p>
        </p:txBody>
      </p:sp>
      <p:sp>
        <p:nvSpPr>
          <p:cNvPr id="21" name="Shape 19"/>
          <p:cNvSpPr/>
          <p:nvPr/>
        </p:nvSpPr>
        <p:spPr>
          <a:xfrm>
            <a:off x="4892040" y="1371600"/>
            <a:ext cx="256032" cy="256032"/>
          </a:xfrm>
          <a:prstGeom prst="ellipse">
            <a:avLst/>
          </a:prstGeom>
          <a:solidFill>
            <a:srgbClr val="00D4FF"/>
          </a:solidFill>
          <a:ln w="12700">
            <a:solidFill>
              <a:srgbClr val="00D4FF"/>
            </a:solidFill>
            <a:prstDash val="solid"/>
          </a:ln>
        </p:spPr>
      </p:sp>
      <p:sp>
        <p:nvSpPr>
          <p:cNvPr id="22" name="Text 20"/>
          <p:cNvSpPr/>
          <p:nvPr/>
        </p:nvSpPr>
        <p:spPr>
          <a:xfrm>
            <a:off x="4892040" y="1371600"/>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1</a:t>
            </a:r>
            <a:endParaRPr lang="en-US" sz="1100" dirty="0"/>
          </a:p>
        </p:txBody>
      </p:sp>
      <p:sp>
        <p:nvSpPr>
          <p:cNvPr id="23" name="Text 21"/>
          <p:cNvSpPr/>
          <p:nvPr/>
        </p:nvSpPr>
        <p:spPr>
          <a:xfrm>
            <a:off x="5239512" y="1371600"/>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Rozmiar Celów Dotykowych</a:t>
            </a:r>
            <a:endParaRPr lang="en-US" sz="1000" dirty="0"/>
          </a:p>
        </p:txBody>
      </p:sp>
      <p:sp>
        <p:nvSpPr>
          <p:cNvPr id="24" name="Text 22"/>
          <p:cNvSpPr/>
          <p:nvPr/>
        </p:nvSpPr>
        <p:spPr>
          <a:xfrm>
            <a:off x="5239512" y="1636776"/>
            <a:ext cx="3474720" cy="329184"/>
          </a:xfrm>
          <a:prstGeom prst="rect">
            <a:avLst/>
          </a:prstGeom>
          <a:noFill/>
          <a:ln/>
        </p:spPr>
        <p:txBody>
          <a:bodyPr wrap="square" lIns="0" tIns="0" rIns="0" bIns="0" rtlCol="0" anchor="ctr"/>
          <a:lstStyle/>
          <a:p>
            <a:pPr marL="0" indent="0">
              <a:buNone/>
            </a:pPr>
            <a:r>
              <a:rPr lang="en-US" sz="850" dirty="0">
                <a:solidFill>
                  <a:srgbClr val="8899AA"/>
                </a:solidFill>
              </a:rPr>
              <a:t>Min. 44–48px. Ikony mogą być mniejsze, ale obszar dotykowy musi być wystarczający.</a:t>
            </a:r>
            <a:endParaRPr lang="en-US" sz="850" dirty="0"/>
          </a:p>
        </p:txBody>
      </p:sp>
      <p:sp>
        <p:nvSpPr>
          <p:cNvPr id="25" name="Shape 23"/>
          <p:cNvSpPr/>
          <p:nvPr/>
        </p:nvSpPr>
        <p:spPr>
          <a:xfrm>
            <a:off x="4892040" y="2029968"/>
            <a:ext cx="256032" cy="256032"/>
          </a:xfrm>
          <a:prstGeom prst="ellipse">
            <a:avLst/>
          </a:prstGeom>
          <a:solidFill>
            <a:srgbClr val="00D4FF"/>
          </a:solidFill>
          <a:ln w="12700">
            <a:solidFill>
              <a:srgbClr val="00D4FF"/>
            </a:solidFill>
            <a:prstDash val="solid"/>
          </a:ln>
        </p:spPr>
      </p:sp>
      <p:sp>
        <p:nvSpPr>
          <p:cNvPr id="26" name="Text 24"/>
          <p:cNvSpPr/>
          <p:nvPr/>
        </p:nvSpPr>
        <p:spPr>
          <a:xfrm>
            <a:off x="4892040" y="2029968"/>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2</a:t>
            </a:r>
            <a:endParaRPr lang="en-US" sz="1100" dirty="0"/>
          </a:p>
        </p:txBody>
      </p:sp>
      <p:sp>
        <p:nvSpPr>
          <p:cNvPr id="27" name="Text 25"/>
          <p:cNvSpPr/>
          <p:nvPr/>
        </p:nvSpPr>
        <p:spPr>
          <a:xfrm>
            <a:off x="5239512" y="2029968"/>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Strefa Kciuka</a:t>
            </a:r>
            <a:endParaRPr lang="en-US" sz="1000" dirty="0"/>
          </a:p>
        </p:txBody>
      </p:sp>
      <p:sp>
        <p:nvSpPr>
          <p:cNvPr id="28" name="Text 26"/>
          <p:cNvSpPr/>
          <p:nvPr/>
        </p:nvSpPr>
        <p:spPr>
          <a:xfrm>
            <a:off x="5239512" y="2295144"/>
            <a:ext cx="3474720" cy="329184"/>
          </a:xfrm>
          <a:prstGeom prst="rect">
            <a:avLst/>
          </a:prstGeom>
          <a:noFill/>
          <a:ln/>
        </p:spPr>
        <p:txBody>
          <a:bodyPr wrap="square" lIns="0" tIns="0" rIns="0" bIns="0" rtlCol="0" anchor="ctr"/>
          <a:lstStyle/>
          <a:p>
            <a:pPr marL="0" indent="0">
              <a:buNone/>
            </a:pPr>
            <a:r>
              <a:rPr lang="en-US" sz="850" dirty="0">
                <a:solidFill>
                  <a:srgbClr val="8899AA"/>
                </a:solidFill>
              </a:rPr>
              <a:t>Umieszczaj kluczowe elementy w dolnej połowie ekranu — w zasięgu kciuka.</a:t>
            </a:r>
            <a:endParaRPr lang="en-US" sz="850" dirty="0"/>
          </a:p>
        </p:txBody>
      </p:sp>
      <p:sp>
        <p:nvSpPr>
          <p:cNvPr id="29" name="Shape 27"/>
          <p:cNvSpPr/>
          <p:nvPr/>
        </p:nvSpPr>
        <p:spPr>
          <a:xfrm>
            <a:off x="4892040" y="2688336"/>
            <a:ext cx="256032" cy="256032"/>
          </a:xfrm>
          <a:prstGeom prst="ellipse">
            <a:avLst/>
          </a:prstGeom>
          <a:solidFill>
            <a:srgbClr val="00D4FF"/>
          </a:solidFill>
          <a:ln w="12700">
            <a:solidFill>
              <a:srgbClr val="00D4FF"/>
            </a:solidFill>
            <a:prstDash val="solid"/>
          </a:ln>
        </p:spPr>
      </p:sp>
      <p:sp>
        <p:nvSpPr>
          <p:cNvPr id="30" name="Text 28"/>
          <p:cNvSpPr/>
          <p:nvPr/>
        </p:nvSpPr>
        <p:spPr>
          <a:xfrm>
            <a:off x="4892040" y="2688336"/>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3</a:t>
            </a:r>
            <a:endParaRPr lang="en-US" sz="1100" dirty="0"/>
          </a:p>
        </p:txBody>
      </p:sp>
      <p:sp>
        <p:nvSpPr>
          <p:cNvPr id="31" name="Text 29"/>
          <p:cNvSpPr/>
          <p:nvPr/>
        </p:nvSpPr>
        <p:spPr>
          <a:xfrm>
            <a:off x="5239512" y="2688336"/>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Odstępy Między Elementami</a:t>
            </a:r>
            <a:endParaRPr lang="en-US" sz="1000" dirty="0"/>
          </a:p>
        </p:txBody>
      </p:sp>
      <p:sp>
        <p:nvSpPr>
          <p:cNvPr id="32" name="Text 30"/>
          <p:cNvSpPr/>
          <p:nvPr/>
        </p:nvSpPr>
        <p:spPr>
          <a:xfrm>
            <a:off x="5239512" y="2953512"/>
            <a:ext cx="3474720" cy="329184"/>
          </a:xfrm>
          <a:prstGeom prst="rect">
            <a:avLst/>
          </a:prstGeom>
          <a:noFill/>
          <a:ln/>
        </p:spPr>
        <p:txBody>
          <a:bodyPr wrap="square" lIns="0" tIns="0" rIns="0" bIns="0" rtlCol="0" anchor="ctr"/>
          <a:lstStyle/>
          <a:p>
            <a:pPr marL="0" indent="0">
              <a:buNone/>
            </a:pPr>
            <a:r>
              <a:rPr lang="en-US" sz="850" dirty="0">
                <a:solidFill>
                  <a:srgbClr val="8899AA"/>
                </a:solidFill>
              </a:rPr>
              <a:t>Min. 8px między celami dotykowymi. Zapobiega przypadkowym dotknięciom.</a:t>
            </a:r>
            <a:endParaRPr lang="en-US" sz="850" dirty="0"/>
          </a:p>
        </p:txBody>
      </p:sp>
      <p:sp>
        <p:nvSpPr>
          <p:cNvPr id="33" name="Shape 31"/>
          <p:cNvSpPr/>
          <p:nvPr/>
        </p:nvSpPr>
        <p:spPr>
          <a:xfrm>
            <a:off x="4892040" y="3346704"/>
            <a:ext cx="256032" cy="256032"/>
          </a:xfrm>
          <a:prstGeom prst="ellipse">
            <a:avLst/>
          </a:prstGeom>
          <a:solidFill>
            <a:srgbClr val="00D4FF"/>
          </a:solidFill>
          <a:ln w="12700">
            <a:solidFill>
              <a:srgbClr val="00D4FF"/>
            </a:solidFill>
            <a:prstDash val="solid"/>
          </a:ln>
        </p:spPr>
      </p:sp>
      <p:sp>
        <p:nvSpPr>
          <p:cNvPr id="34" name="Text 32"/>
          <p:cNvSpPr/>
          <p:nvPr/>
        </p:nvSpPr>
        <p:spPr>
          <a:xfrm>
            <a:off x="4892040" y="3346704"/>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4</a:t>
            </a:r>
            <a:endParaRPr lang="en-US" sz="1100" dirty="0"/>
          </a:p>
        </p:txBody>
      </p:sp>
      <p:sp>
        <p:nvSpPr>
          <p:cNvPr id="35" name="Text 33"/>
          <p:cNvSpPr/>
          <p:nvPr/>
        </p:nvSpPr>
        <p:spPr>
          <a:xfrm>
            <a:off x="5239512" y="3346704"/>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Rozmieszczenie CTA</a:t>
            </a:r>
            <a:endParaRPr lang="en-US" sz="1000" dirty="0"/>
          </a:p>
        </p:txBody>
      </p:sp>
      <p:sp>
        <p:nvSpPr>
          <p:cNvPr id="36" name="Text 34"/>
          <p:cNvSpPr/>
          <p:nvPr/>
        </p:nvSpPr>
        <p:spPr>
          <a:xfrm>
            <a:off x="5239512" y="3611880"/>
            <a:ext cx="3474720" cy="329184"/>
          </a:xfrm>
          <a:prstGeom prst="rect">
            <a:avLst/>
          </a:prstGeom>
          <a:noFill/>
          <a:ln/>
        </p:spPr>
        <p:txBody>
          <a:bodyPr wrap="square" lIns="0" tIns="0" rIns="0" bIns="0" rtlCol="0" anchor="ctr"/>
          <a:lstStyle/>
          <a:p>
            <a:pPr marL="0" indent="0">
              <a:buNone/>
            </a:pPr>
            <a:r>
              <a:rPr lang="en-US" sz="850" dirty="0">
                <a:solidFill>
                  <a:srgbClr val="8899AA"/>
                </a:solidFill>
              </a:rPr>
              <a:t>Główne przyciski akcji (FAB, CTA) na dole ekranu — łatwo dostępne.</a:t>
            </a:r>
            <a:endParaRPr lang="en-US" sz="850" dirty="0"/>
          </a:p>
        </p:txBody>
      </p:sp>
      <p:sp>
        <p:nvSpPr>
          <p:cNvPr id="37" name="Shape 35"/>
          <p:cNvSpPr/>
          <p:nvPr/>
        </p:nvSpPr>
        <p:spPr>
          <a:xfrm>
            <a:off x="4754880" y="4224528"/>
            <a:ext cx="4069080" cy="594360"/>
          </a:xfrm>
          <a:prstGeom prst="rect">
            <a:avLst/>
          </a:prstGeom>
          <a:solidFill>
            <a:srgbClr val="0A1929"/>
          </a:solidFill>
          <a:ln w="12700">
            <a:solidFill>
              <a:srgbClr val="FF9100"/>
            </a:solidFill>
            <a:prstDash val="solid"/>
          </a:ln>
        </p:spPr>
      </p:sp>
      <p:sp>
        <p:nvSpPr>
          <p:cNvPr id="38" name="Text 36"/>
          <p:cNvSpPr/>
          <p:nvPr/>
        </p:nvSpPr>
        <p:spPr>
          <a:xfrm>
            <a:off x="4892040" y="4251960"/>
            <a:ext cx="3794760" cy="530352"/>
          </a:xfrm>
          <a:prstGeom prst="rect">
            <a:avLst/>
          </a:prstGeom>
          <a:noFill/>
          <a:ln/>
        </p:spPr>
        <p:txBody>
          <a:bodyPr wrap="square" lIns="0" tIns="0" rIns="0" bIns="0" rtlCol="0" anchor="ctr"/>
          <a:lstStyle/>
          <a:p>
            <a:pPr marL="0" indent="0">
              <a:buNone/>
            </a:pPr>
            <a:r>
              <a:rPr lang="en-US" sz="850" dirty="0">
                <a:solidFill>
                  <a:srgbClr val="FF9100"/>
                </a:solidFill>
              </a:rPr>
              <a:t>⚠ Edge Swiping: systemowe gesty z krawędzi ekranu mają priorytet. Unikaj kluczowych elementów przy krawędziach — zostaw marginesy bezpieczeństwa.</a:t>
            </a:r>
            <a:endParaRPr lang="en-US" sz="850" dirty="0"/>
          </a:p>
        </p:txBody>
      </p:sp>
      <p:sp>
        <p:nvSpPr>
          <p:cNvPr id="41" name="Text 39"/>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16 / </a:t>
            </a:r>
            <a:r>
              <a:rPr lang="pl-PL" sz="800" dirty="0" smtClean="0">
                <a:solidFill>
                  <a:srgbClr val="8899AA"/>
                </a:solidFill>
              </a:rPr>
              <a:t>46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a:effectLst/>
      </p:bgPr>
    </p:bg>
    <p:spTree>
      <p:nvGrpSpPr>
        <p:cNvPr id="1" name=""/>
        <p:cNvGrpSpPr/>
        <p:nvPr/>
      </p:nvGrpSpPr>
      <p:grpSpPr>
        <a:xfrm>
          <a:off x="0" y="0"/>
          <a:ext cx="0" cy="0"/>
          <a:chOff x="0" y="0"/>
          <a:chExt cx="0" cy="0"/>
        </a:xfrm>
      </p:grpSpPr>
      <p:grpSp>
        <p:nvGrpSpPr>
          <p:cNvPr id="44" name="Grupa 43"/>
          <p:cNvGrpSpPr/>
          <p:nvPr/>
        </p:nvGrpSpPr>
        <p:grpSpPr>
          <a:xfrm>
            <a:off x="-2381" y="4884912"/>
            <a:ext cx="9146381" cy="260136"/>
            <a:chOff x="-2381" y="4884912"/>
            <a:chExt cx="9146381" cy="260136"/>
          </a:xfrm>
        </p:grpSpPr>
        <p:sp>
          <p:nvSpPr>
            <p:cNvPr id="45" name="Shape 52"/>
            <p:cNvSpPr/>
            <p:nvPr/>
          </p:nvSpPr>
          <p:spPr>
            <a:xfrm>
              <a:off x="0" y="4884912"/>
              <a:ext cx="9144000" cy="252000"/>
            </a:xfrm>
            <a:prstGeom prst="rect">
              <a:avLst/>
            </a:prstGeom>
            <a:solidFill>
              <a:srgbClr val="071523"/>
            </a:solidFill>
            <a:ln w="12700">
              <a:solidFill>
                <a:srgbClr val="071523"/>
              </a:solidFill>
              <a:prstDash val="solid"/>
            </a:ln>
          </p:spPr>
        </p:sp>
        <p:sp>
          <p:nvSpPr>
            <p:cNvPr id="46"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47" name="Grupa 46"/>
            <p:cNvGrpSpPr/>
            <p:nvPr/>
          </p:nvGrpSpPr>
          <p:grpSpPr>
            <a:xfrm>
              <a:off x="-2381" y="5099329"/>
              <a:ext cx="9146381" cy="45719"/>
              <a:chOff x="-2381" y="5107500"/>
              <a:chExt cx="9111093" cy="37548"/>
            </a:xfrm>
            <a:solidFill>
              <a:schemeClr val="tx1"/>
            </a:solidFill>
          </p:grpSpPr>
          <p:sp>
            <p:nvSpPr>
              <p:cNvPr id="48"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49"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50"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62"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63"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64"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65" name="Shape 52"/>
              <p:cNvSpPr/>
              <p:nvPr/>
            </p:nvSpPr>
            <p:spPr>
              <a:xfrm>
                <a:off x="3366712" y="5108400"/>
                <a:ext cx="198000" cy="36000"/>
              </a:xfrm>
              <a:prstGeom prst="rect">
                <a:avLst/>
              </a:prstGeom>
              <a:solidFill>
                <a:schemeClr val="tx1"/>
              </a:solidFill>
              <a:ln w="12700">
                <a:noFill/>
                <a:prstDash val="solid"/>
              </a:ln>
            </p:spPr>
          </p:sp>
          <p:sp>
            <p:nvSpPr>
              <p:cNvPr id="66" name="Shape 52"/>
              <p:cNvSpPr/>
              <p:nvPr/>
            </p:nvSpPr>
            <p:spPr>
              <a:xfrm>
                <a:off x="3564712" y="5108400"/>
                <a:ext cx="198000" cy="36000"/>
              </a:xfrm>
              <a:prstGeom prst="rect">
                <a:avLst/>
              </a:prstGeom>
              <a:grpFill/>
              <a:ln w="12700">
                <a:noFill/>
                <a:prstDash val="solid"/>
              </a:ln>
            </p:spPr>
          </p:sp>
          <p:sp>
            <p:nvSpPr>
              <p:cNvPr id="67" name="Shape 52"/>
              <p:cNvSpPr/>
              <p:nvPr/>
            </p:nvSpPr>
            <p:spPr>
              <a:xfrm>
                <a:off x="3762712" y="5108400"/>
                <a:ext cx="198000" cy="36000"/>
              </a:xfrm>
              <a:prstGeom prst="rect">
                <a:avLst/>
              </a:prstGeom>
              <a:grpFill/>
              <a:ln w="12700">
                <a:noFill/>
                <a:prstDash val="solid"/>
              </a:ln>
            </p:spPr>
          </p:sp>
          <p:sp>
            <p:nvSpPr>
              <p:cNvPr id="68" name="Shape 52"/>
              <p:cNvSpPr/>
              <p:nvPr/>
            </p:nvSpPr>
            <p:spPr>
              <a:xfrm>
                <a:off x="3960712" y="5107530"/>
                <a:ext cx="198000" cy="36000"/>
              </a:xfrm>
              <a:prstGeom prst="rect">
                <a:avLst/>
              </a:prstGeom>
              <a:grpFill/>
              <a:ln w="12700">
                <a:noFill/>
                <a:prstDash val="solid"/>
              </a:ln>
            </p:spPr>
          </p:sp>
          <p:sp>
            <p:nvSpPr>
              <p:cNvPr id="69" name="Shape 52"/>
              <p:cNvSpPr/>
              <p:nvPr/>
            </p:nvSpPr>
            <p:spPr>
              <a:xfrm>
                <a:off x="4158712" y="5107500"/>
                <a:ext cx="198000" cy="36000"/>
              </a:xfrm>
              <a:prstGeom prst="rect">
                <a:avLst/>
              </a:prstGeom>
              <a:grpFill/>
              <a:ln w="12700">
                <a:noFill/>
                <a:prstDash val="solid"/>
              </a:ln>
            </p:spPr>
          </p:sp>
          <p:sp>
            <p:nvSpPr>
              <p:cNvPr id="70" name="Shape 52"/>
              <p:cNvSpPr/>
              <p:nvPr/>
            </p:nvSpPr>
            <p:spPr>
              <a:xfrm>
                <a:off x="4356712" y="5107500"/>
                <a:ext cx="198000" cy="36000"/>
              </a:xfrm>
              <a:prstGeom prst="rect">
                <a:avLst/>
              </a:prstGeom>
              <a:grpFill/>
              <a:ln w="12700">
                <a:noFill/>
                <a:prstDash val="solid"/>
              </a:ln>
            </p:spPr>
          </p:sp>
          <p:sp>
            <p:nvSpPr>
              <p:cNvPr id="71" name="Shape 52"/>
              <p:cNvSpPr/>
              <p:nvPr/>
            </p:nvSpPr>
            <p:spPr>
              <a:xfrm>
                <a:off x="4554712" y="5107500"/>
                <a:ext cx="198000" cy="36000"/>
              </a:xfrm>
              <a:prstGeom prst="rect">
                <a:avLst/>
              </a:prstGeom>
              <a:grpFill/>
              <a:ln w="12700">
                <a:noFill/>
                <a:prstDash val="solid"/>
              </a:ln>
            </p:spPr>
          </p:sp>
          <p:sp>
            <p:nvSpPr>
              <p:cNvPr id="72" name="Shape 52"/>
              <p:cNvSpPr/>
              <p:nvPr/>
            </p:nvSpPr>
            <p:spPr>
              <a:xfrm>
                <a:off x="4752712" y="5107500"/>
                <a:ext cx="198000" cy="36000"/>
              </a:xfrm>
              <a:prstGeom prst="rect">
                <a:avLst/>
              </a:prstGeom>
              <a:grpFill/>
              <a:ln w="12700">
                <a:noFill/>
                <a:prstDash val="solid"/>
              </a:ln>
            </p:spPr>
          </p:sp>
          <p:sp>
            <p:nvSpPr>
              <p:cNvPr id="73" name="Shape 52"/>
              <p:cNvSpPr/>
              <p:nvPr/>
            </p:nvSpPr>
            <p:spPr>
              <a:xfrm>
                <a:off x="4950712" y="5107500"/>
                <a:ext cx="198000" cy="36000"/>
              </a:xfrm>
              <a:prstGeom prst="rect">
                <a:avLst/>
              </a:prstGeom>
              <a:grpFill/>
              <a:ln w="12700">
                <a:noFill/>
                <a:prstDash val="solid"/>
              </a:ln>
            </p:spPr>
          </p:sp>
          <p:sp>
            <p:nvSpPr>
              <p:cNvPr id="74" name="Shape 52"/>
              <p:cNvSpPr/>
              <p:nvPr/>
            </p:nvSpPr>
            <p:spPr>
              <a:xfrm>
                <a:off x="5148712" y="5107500"/>
                <a:ext cx="198000" cy="36000"/>
              </a:xfrm>
              <a:prstGeom prst="rect">
                <a:avLst/>
              </a:prstGeom>
              <a:grpFill/>
              <a:ln w="12700">
                <a:noFill/>
                <a:prstDash val="solid"/>
              </a:ln>
            </p:spPr>
          </p:sp>
          <p:sp>
            <p:nvSpPr>
              <p:cNvPr id="75" name="Shape 52"/>
              <p:cNvSpPr/>
              <p:nvPr/>
            </p:nvSpPr>
            <p:spPr>
              <a:xfrm>
                <a:off x="5346712" y="5108400"/>
                <a:ext cx="198000" cy="36000"/>
              </a:xfrm>
              <a:prstGeom prst="rect">
                <a:avLst/>
              </a:prstGeom>
              <a:grpFill/>
              <a:ln w="12700">
                <a:noFill/>
                <a:prstDash val="solid"/>
              </a:ln>
            </p:spPr>
          </p:sp>
          <p:sp>
            <p:nvSpPr>
              <p:cNvPr id="76" name="Shape 52"/>
              <p:cNvSpPr/>
              <p:nvPr/>
            </p:nvSpPr>
            <p:spPr>
              <a:xfrm>
                <a:off x="5544712" y="5108400"/>
                <a:ext cx="198000" cy="36000"/>
              </a:xfrm>
              <a:prstGeom prst="rect">
                <a:avLst/>
              </a:prstGeom>
              <a:grpFill/>
              <a:ln w="12700">
                <a:noFill/>
                <a:prstDash val="solid"/>
              </a:ln>
            </p:spPr>
          </p:sp>
          <p:sp>
            <p:nvSpPr>
              <p:cNvPr id="77" name="Shape 52"/>
              <p:cNvSpPr/>
              <p:nvPr/>
            </p:nvSpPr>
            <p:spPr>
              <a:xfrm>
                <a:off x="5742712" y="5108400"/>
                <a:ext cx="198000" cy="36000"/>
              </a:xfrm>
              <a:prstGeom prst="rect">
                <a:avLst/>
              </a:prstGeom>
              <a:grpFill/>
              <a:ln w="12700">
                <a:noFill/>
                <a:prstDash val="solid"/>
              </a:ln>
            </p:spPr>
          </p:sp>
          <p:sp>
            <p:nvSpPr>
              <p:cNvPr id="78" name="Shape 52"/>
              <p:cNvSpPr/>
              <p:nvPr/>
            </p:nvSpPr>
            <p:spPr>
              <a:xfrm>
                <a:off x="5940712" y="5108400"/>
                <a:ext cx="198000" cy="36000"/>
              </a:xfrm>
              <a:prstGeom prst="rect">
                <a:avLst/>
              </a:prstGeom>
              <a:grpFill/>
              <a:ln w="12700">
                <a:noFill/>
                <a:prstDash val="solid"/>
              </a:ln>
            </p:spPr>
          </p:sp>
          <p:sp>
            <p:nvSpPr>
              <p:cNvPr id="79" name="Shape 52"/>
              <p:cNvSpPr/>
              <p:nvPr/>
            </p:nvSpPr>
            <p:spPr>
              <a:xfrm>
                <a:off x="6138712" y="5108400"/>
                <a:ext cx="198000" cy="36000"/>
              </a:xfrm>
              <a:prstGeom prst="rect">
                <a:avLst/>
              </a:prstGeom>
              <a:grpFill/>
              <a:ln w="12700">
                <a:noFill/>
                <a:prstDash val="solid"/>
              </a:ln>
            </p:spPr>
          </p:sp>
          <p:sp>
            <p:nvSpPr>
              <p:cNvPr id="80" name="Shape 52"/>
              <p:cNvSpPr/>
              <p:nvPr/>
            </p:nvSpPr>
            <p:spPr>
              <a:xfrm>
                <a:off x="6336712" y="5108400"/>
                <a:ext cx="198000" cy="36000"/>
              </a:xfrm>
              <a:prstGeom prst="rect">
                <a:avLst/>
              </a:prstGeom>
              <a:grpFill/>
              <a:ln w="12700">
                <a:noFill/>
                <a:prstDash val="solid"/>
              </a:ln>
            </p:spPr>
          </p:sp>
          <p:sp>
            <p:nvSpPr>
              <p:cNvPr id="81" name="Shape 52"/>
              <p:cNvSpPr/>
              <p:nvPr/>
            </p:nvSpPr>
            <p:spPr>
              <a:xfrm>
                <a:off x="6534712" y="5108400"/>
                <a:ext cx="198000" cy="36000"/>
              </a:xfrm>
              <a:prstGeom prst="rect">
                <a:avLst/>
              </a:prstGeom>
              <a:grpFill/>
              <a:ln w="12700">
                <a:noFill/>
                <a:prstDash val="solid"/>
              </a:ln>
            </p:spPr>
          </p:sp>
          <p:sp>
            <p:nvSpPr>
              <p:cNvPr id="82" name="Shape 52"/>
              <p:cNvSpPr/>
              <p:nvPr/>
            </p:nvSpPr>
            <p:spPr>
              <a:xfrm>
                <a:off x="6732712" y="5108400"/>
                <a:ext cx="198000" cy="36000"/>
              </a:xfrm>
              <a:prstGeom prst="rect">
                <a:avLst/>
              </a:prstGeom>
              <a:grpFill/>
              <a:ln w="12700">
                <a:noFill/>
                <a:prstDash val="solid"/>
              </a:ln>
            </p:spPr>
          </p:sp>
          <p:sp>
            <p:nvSpPr>
              <p:cNvPr id="83" name="Shape 52"/>
              <p:cNvSpPr/>
              <p:nvPr/>
            </p:nvSpPr>
            <p:spPr>
              <a:xfrm>
                <a:off x="6930712" y="5108400"/>
                <a:ext cx="198000" cy="36000"/>
              </a:xfrm>
              <a:prstGeom prst="rect">
                <a:avLst/>
              </a:prstGeom>
              <a:grpFill/>
              <a:ln w="12700">
                <a:noFill/>
                <a:prstDash val="solid"/>
              </a:ln>
            </p:spPr>
          </p:sp>
          <p:sp>
            <p:nvSpPr>
              <p:cNvPr id="84" name="Shape 52"/>
              <p:cNvSpPr/>
              <p:nvPr/>
            </p:nvSpPr>
            <p:spPr>
              <a:xfrm>
                <a:off x="7128712" y="5108400"/>
                <a:ext cx="198000" cy="36000"/>
              </a:xfrm>
              <a:prstGeom prst="rect">
                <a:avLst/>
              </a:prstGeom>
              <a:grpFill/>
              <a:ln w="12700">
                <a:noFill/>
                <a:prstDash val="solid"/>
              </a:ln>
            </p:spPr>
          </p:sp>
          <p:sp>
            <p:nvSpPr>
              <p:cNvPr id="85" name="Shape 52"/>
              <p:cNvSpPr/>
              <p:nvPr/>
            </p:nvSpPr>
            <p:spPr>
              <a:xfrm>
                <a:off x="7326712" y="5108400"/>
                <a:ext cx="198000" cy="36000"/>
              </a:xfrm>
              <a:prstGeom prst="rect">
                <a:avLst/>
              </a:prstGeom>
              <a:grpFill/>
              <a:ln w="12700">
                <a:noFill/>
                <a:prstDash val="solid"/>
              </a:ln>
            </p:spPr>
          </p:sp>
          <p:sp>
            <p:nvSpPr>
              <p:cNvPr id="86" name="Shape 52"/>
              <p:cNvSpPr/>
              <p:nvPr/>
            </p:nvSpPr>
            <p:spPr>
              <a:xfrm>
                <a:off x="7524712" y="5108400"/>
                <a:ext cx="198000" cy="36000"/>
              </a:xfrm>
              <a:prstGeom prst="rect">
                <a:avLst/>
              </a:prstGeom>
              <a:grpFill/>
              <a:ln w="12700">
                <a:noFill/>
                <a:prstDash val="solid"/>
              </a:ln>
            </p:spPr>
          </p:sp>
          <p:sp>
            <p:nvSpPr>
              <p:cNvPr id="87" name="Shape 52"/>
              <p:cNvSpPr/>
              <p:nvPr/>
            </p:nvSpPr>
            <p:spPr>
              <a:xfrm>
                <a:off x="7722712" y="5108400"/>
                <a:ext cx="198000" cy="36000"/>
              </a:xfrm>
              <a:prstGeom prst="rect">
                <a:avLst/>
              </a:prstGeom>
              <a:grpFill/>
              <a:ln w="12700">
                <a:noFill/>
                <a:prstDash val="solid"/>
              </a:ln>
            </p:spPr>
          </p:sp>
          <p:sp>
            <p:nvSpPr>
              <p:cNvPr id="88" name="Shape 52"/>
              <p:cNvSpPr/>
              <p:nvPr/>
            </p:nvSpPr>
            <p:spPr>
              <a:xfrm>
                <a:off x="7920712" y="5109048"/>
                <a:ext cx="198000" cy="36000"/>
              </a:xfrm>
              <a:prstGeom prst="rect">
                <a:avLst/>
              </a:prstGeom>
              <a:grpFill/>
              <a:ln w="12700">
                <a:noFill/>
                <a:prstDash val="solid"/>
              </a:ln>
            </p:spPr>
          </p:sp>
          <p:sp>
            <p:nvSpPr>
              <p:cNvPr id="89" name="Shape 52"/>
              <p:cNvSpPr/>
              <p:nvPr/>
            </p:nvSpPr>
            <p:spPr>
              <a:xfrm>
                <a:off x="8118712" y="5109048"/>
                <a:ext cx="198000" cy="36000"/>
              </a:xfrm>
              <a:prstGeom prst="rect">
                <a:avLst/>
              </a:prstGeom>
              <a:grpFill/>
              <a:ln w="12700">
                <a:noFill/>
                <a:prstDash val="solid"/>
              </a:ln>
            </p:spPr>
          </p:sp>
          <p:sp>
            <p:nvSpPr>
              <p:cNvPr id="90" name="Shape 52"/>
              <p:cNvSpPr/>
              <p:nvPr/>
            </p:nvSpPr>
            <p:spPr>
              <a:xfrm>
                <a:off x="8316712" y="5109048"/>
                <a:ext cx="198000" cy="36000"/>
              </a:xfrm>
              <a:prstGeom prst="rect">
                <a:avLst/>
              </a:prstGeom>
              <a:grpFill/>
              <a:ln w="12700">
                <a:noFill/>
                <a:prstDash val="solid"/>
              </a:ln>
            </p:spPr>
          </p:sp>
          <p:sp>
            <p:nvSpPr>
              <p:cNvPr id="91" name="Shape 52"/>
              <p:cNvSpPr/>
              <p:nvPr/>
            </p:nvSpPr>
            <p:spPr>
              <a:xfrm>
                <a:off x="8514712" y="5109048"/>
                <a:ext cx="198000" cy="36000"/>
              </a:xfrm>
              <a:prstGeom prst="rect">
                <a:avLst/>
              </a:prstGeom>
              <a:grpFill/>
              <a:ln w="12700">
                <a:noFill/>
                <a:prstDash val="solid"/>
              </a:ln>
            </p:spPr>
          </p:sp>
          <p:sp>
            <p:nvSpPr>
              <p:cNvPr id="92" name="Shape 52"/>
              <p:cNvSpPr/>
              <p:nvPr/>
            </p:nvSpPr>
            <p:spPr>
              <a:xfrm>
                <a:off x="8712712" y="5109048"/>
                <a:ext cx="198000" cy="36000"/>
              </a:xfrm>
              <a:prstGeom prst="rect">
                <a:avLst/>
              </a:prstGeom>
              <a:grpFill/>
              <a:ln w="12700">
                <a:noFill/>
                <a:prstDash val="solid"/>
              </a:ln>
            </p:spPr>
          </p:sp>
          <p:sp>
            <p:nvSpPr>
              <p:cNvPr id="93"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00E676"/>
          </a:solidFill>
          <a:ln w="12700">
            <a:solidFill>
              <a:srgbClr val="00E676"/>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Mobile First Design Principles</a:t>
            </a:r>
            <a:endParaRPr lang="en-US" sz="2200" dirty="0"/>
          </a:p>
        </p:txBody>
      </p:sp>
      <p:sp>
        <p:nvSpPr>
          <p:cNvPr id="4" name="Shape 2"/>
          <p:cNvSpPr/>
          <p:nvPr/>
        </p:nvSpPr>
        <p:spPr>
          <a:xfrm>
            <a:off x="320040" y="914400"/>
            <a:ext cx="4069080" cy="3246120"/>
          </a:xfrm>
          <a:prstGeom prst="rect">
            <a:avLst/>
          </a:prstGeom>
          <a:solidFill>
            <a:srgbClr val="112233"/>
          </a:solidFill>
          <a:ln w="12700">
            <a:solidFill>
              <a:srgbClr val="1A3050"/>
            </a:solidFill>
            <a:prstDash val="solid"/>
          </a:ln>
        </p:spPr>
      </p:sp>
      <p:sp>
        <p:nvSpPr>
          <p:cNvPr id="5" name="Shape 3"/>
          <p:cNvSpPr/>
          <p:nvPr/>
        </p:nvSpPr>
        <p:spPr>
          <a:xfrm>
            <a:off x="320040" y="914400"/>
            <a:ext cx="45720" cy="3246120"/>
          </a:xfrm>
          <a:prstGeom prst="rect">
            <a:avLst/>
          </a:prstGeom>
          <a:solidFill>
            <a:srgbClr val="1DE9B6"/>
          </a:solidFill>
          <a:ln w="12700">
            <a:solidFill>
              <a:srgbClr val="1DE9B6"/>
            </a:solidFill>
            <a:prstDash val="solid"/>
          </a:ln>
        </p:spPr>
      </p:sp>
      <p:sp>
        <p:nvSpPr>
          <p:cNvPr id="6" name="Text 4"/>
          <p:cNvSpPr/>
          <p:nvPr/>
        </p:nvSpPr>
        <p:spPr>
          <a:xfrm>
            <a:off x="457200" y="987552"/>
            <a:ext cx="3794760" cy="274320"/>
          </a:xfrm>
          <a:prstGeom prst="rect">
            <a:avLst/>
          </a:prstGeom>
          <a:noFill/>
          <a:ln/>
        </p:spPr>
        <p:txBody>
          <a:bodyPr wrap="square" lIns="0" tIns="0" rIns="0" bIns="0" rtlCol="0" anchor="ctr"/>
          <a:lstStyle/>
          <a:p>
            <a:pPr marL="0" indent="0">
              <a:buNone/>
            </a:pPr>
            <a:r>
              <a:rPr lang="en-US" sz="1200" b="1" dirty="0">
                <a:solidFill>
                  <a:srgbClr val="FFFFFF"/>
                </a:solidFill>
              </a:rPr>
              <a:t>Podejście Mobile First</a:t>
            </a:r>
            <a:endParaRPr lang="en-US" sz="1200" dirty="0"/>
          </a:p>
        </p:txBody>
      </p:sp>
      <p:sp>
        <p:nvSpPr>
          <p:cNvPr id="7" name="Text 5"/>
          <p:cNvSpPr/>
          <p:nvPr/>
        </p:nvSpPr>
        <p:spPr>
          <a:xfrm>
            <a:off x="457200" y="1307592"/>
            <a:ext cx="3794760" cy="548640"/>
          </a:xfrm>
          <a:prstGeom prst="rect">
            <a:avLst/>
          </a:prstGeom>
          <a:noFill/>
          <a:ln/>
        </p:spPr>
        <p:txBody>
          <a:bodyPr wrap="square" lIns="0" tIns="0" rIns="0" bIns="0" rtlCol="0" anchor="ctr"/>
          <a:lstStyle/>
          <a:p>
            <a:pPr marL="0" indent="0">
              <a:buNone/>
            </a:pPr>
            <a:r>
              <a:rPr lang="en-US" sz="950" dirty="0">
                <a:solidFill>
                  <a:srgbClr val="CCDDEE"/>
                </a:solidFill>
              </a:rPr>
              <a:t>Projektowanie zaczynając od najmniejszych ekranów, stopniowo rozszerzając funkcjonalność. Content is king — priorytetyzacja treści nad dekoracją.</a:t>
            </a:r>
            <a:endParaRPr lang="en-US" sz="950" dirty="0"/>
          </a:p>
        </p:txBody>
      </p:sp>
      <p:sp>
        <p:nvSpPr>
          <p:cNvPr id="8" name="Shape 6"/>
          <p:cNvSpPr/>
          <p:nvPr/>
        </p:nvSpPr>
        <p:spPr>
          <a:xfrm>
            <a:off x="411480" y="1938528"/>
            <a:ext cx="3886200" cy="914400"/>
          </a:xfrm>
          <a:prstGeom prst="rect">
            <a:avLst/>
          </a:prstGeom>
          <a:solidFill>
            <a:srgbClr val="0A1929"/>
          </a:solidFill>
          <a:ln w="12700">
            <a:solidFill>
              <a:srgbClr val="1DE9B6"/>
            </a:solidFill>
            <a:prstDash val="solid"/>
          </a:ln>
        </p:spPr>
      </p:sp>
      <p:sp>
        <p:nvSpPr>
          <p:cNvPr id="9" name="Text 7"/>
          <p:cNvSpPr/>
          <p:nvPr/>
        </p:nvSpPr>
        <p:spPr>
          <a:xfrm>
            <a:off x="548640" y="1993392"/>
            <a:ext cx="3611880" cy="256032"/>
          </a:xfrm>
          <a:prstGeom prst="rect">
            <a:avLst/>
          </a:prstGeom>
          <a:noFill/>
          <a:ln/>
        </p:spPr>
        <p:txBody>
          <a:bodyPr wrap="square" lIns="0" tIns="0" rIns="0" bIns="0" rtlCol="0" anchor="ctr"/>
          <a:lstStyle/>
          <a:p>
            <a:pPr marL="0" indent="0">
              <a:buNone/>
            </a:pPr>
            <a:r>
              <a:rPr lang="en-US" sz="1000" b="1" dirty="0">
                <a:solidFill>
                  <a:srgbClr val="1DE9B6"/>
                </a:solidFill>
              </a:rPr>
              <a:t>Progressive Enhancement ✓</a:t>
            </a:r>
            <a:endParaRPr lang="en-US" sz="1000" dirty="0"/>
          </a:p>
        </p:txBody>
      </p:sp>
      <p:sp>
        <p:nvSpPr>
          <p:cNvPr id="10" name="Text 8"/>
          <p:cNvSpPr/>
          <p:nvPr/>
        </p:nvSpPr>
        <p:spPr>
          <a:xfrm>
            <a:off x="548640" y="2286000"/>
            <a:ext cx="3611880" cy="502920"/>
          </a:xfrm>
          <a:prstGeom prst="rect">
            <a:avLst/>
          </a:prstGeom>
          <a:noFill/>
          <a:ln/>
        </p:spPr>
        <p:txBody>
          <a:bodyPr wrap="square" lIns="0" tIns="0" rIns="0" bIns="0" rtlCol="0" anchor="ctr"/>
          <a:lstStyle/>
          <a:p>
            <a:pPr marL="0" indent="0">
              <a:buNone/>
            </a:pPr>
            <a:r>
              <a:rPr lang="en-US" sz="850" dirty="0">
                <a:solidFill>
                  <a:srgbClr val="8899AA"/>
                </a:solidFill>
              </a:rPr>
              <a:t>Zacznij od podstaw, dodawaj funkcje dla większych ekranów. Solidna podstawa + rozszerzenia.</a:t>
            </a:r>
            <a:endParaRPr lang="en-US" sz="850" dirty="0"/>
          </a:p>
        </p:txBody>
      </p:sp>
      <p:sp>
        <p:nvSpPr>
          <p:cNvPr id="11" name="Shape 9"/>
          <p:cNvSpPr/>
          <p:nvPr/>
        </p:nvSpPr>
        <p:spPr>
          <a:xfrm>
            <a:off x="411480" y="2990088"/>
            <a:ext cx="3886200" cy="914400"/>
          </a:xfrm>
          <a:prstGeom prst="rect">
            <a:avLst/>
          </a:prstGeom>
          <a:solidFill>
            <a:srgbClr val="0A1929"/>
          </a:solidFill>
          <a:ln w="12700">
            <a:solidFill>
              <a:srgbClr val="FF9100"/>
            </a:solidFill>
            <a:prstDash val="solid"/>
          </a:ln>
        </p:spPr>
      </p:sp>
      <p:sp>
        <p:nvSpPr>
          <p:cNvPr id="12" name="Text 10"/>
          <p:cNvSpPr/>
          <p:nvPr/>
        </p:nvSpPr>
        <p:spPr>
          <a:xfrm>
            <a:off x="548640" y="3044952"/>
            <a:ext cx="3611880" cy="256032"/>
          </a:xfrm>
          <a:prstGeom prst="rect">
            <a:avLst/>
          </a:prstGeom>
          <a:noFill/>
          <a:ln/>
        </p:spPr>
        <p:txBody>
          <a:bodyPr wrap="square" lIns="0" tIns="0" rIns="0" bIns="0" rtlCol="0" anchor="ctr"/>
          <a:lstStyle/>
          <a:p>
            <a:pPr marL="0" indent="0">
              <a:buNone/>
            </a:pPr>
            <a:r>
              <a:rPr lang="en-US" sz="1000" b="1" dirty="0">
                <a:solidFill>
                  <a:srgbClr val="FF9100"/>
                </a:solidFill>
              </a:rPr>
              <a:t>Graceful Degradation ✗</a:t>
            </a:r>
            <a:endParaRPr lang="en-US" sz="1000" dirty="0"/>
          </a:p>
        </p:txBody>
      </p:sp>
      <p:sp>
        <p:nvSpPr>
          <p:cNvPr id="13" name="Text 11"/>
          <p:cNvSpPr/>
          <p:nvPr/>
        </p:nvSpPr>
        <p:spPr>
          <a:xfrm>
            <a:off x="548640" y="3337560"/>
            <a:ext cx="3611880" cy="502920"/>
          </a:xfrm>
          <a:prstGeom prst="rect">
            <a:avLst/>
          </a:prstGeom>
          <a:noFill/>
          <a:ln/>
        </p:spPr>
        <p:txBody>
          <a:bodyPr wrap="square" lIns="0" tIns="0" rIns="0" bIns="0" rtlCol="0" anchor="ctr"/>
          <a:lstStyle/>
          <a:p>
            <a:pPr marL="0" indent="0">
              <a:buNone/>
            </a:pPr>
            <a:r>
              <a:rPr lang="en-US" sz="850" dirty="0">
                <a:solidFill>
                  <a:srgbClr val="8899AA"/>
                </a:solidFill>
              </a:rPr>
              <a:t>Zacznij od pełnej wersji, upraszczaj dla mniejszych. Starsze podejście — mniej efektywne.</a:t>
            </a:r>
            <a:endParaRPr lang="en-US" sz="850" dirty="0"/>
          </a:p>
        </p:txBody>
      </p:sp>
      <p:sp>
        <p:nvSpPr>
          <p:cNvPr id="14" name="Shape 12"/>
          <p:cNvSpPr/>
          <p:nvPr/>
        </p:nvSpPr>
        <p:spPr>
          <a:xfrm>
            <a:off x="320040" y="3950208"/>
            <a:ext cx="4069080" cy="365760"/>
          </a:xfrm>
          <a:prstGeom prst="rect">
            <a:avLst/>
          </a:prstGeom>
          <a:solidFill>
            <a:srgbClr val="0A1929"/>
          </a:solidFill>
          <a:ln w="12700">
            <a:solidFill>
              <a:srgbClr val="1DE9B6"/>
            </a:solidFill>
            <a:prstDash val="solid"/>
          </a:ln>
        </p:spPr>
      </p:sp>
      <p:sp>
        <p:nvSpPr>
          <p:cNvPr id="15" name="Text 13"/>
          <p:cNvSpPr/>
          <p:nvPr/>
        </p:nvSpPr>
        <p:spPr>
          <a:xfrm>
            <a:off x="457200" y="3977640"/>
            <a:ext cx="3794760" cy="320040"/>
          </a:xfrm>
          <a:prstGeom prst="rect">
            <a:avLst/>
          </a:prstGeom>
          <a:noFill/>
          <a:ln/>
        </p:spPr>
        <p:txBody>
          <a:bodyPr wrap="square" lIns="0" tIns="0" rIns="0" bIns="0" rtlCol="0" anchor="ctr"/>
          <a:lstStyle/>
          <a:p>
            <a:pPr marL="0" indent="0">
              <a:buNone/>
            </a:pPr>
            <a:r>
              <a:rPr lang="en-US" sz="850" dirty="0">
                <a:solidFill>
                  <a:srgbClr val="1DE9B6"/>
                </a:solidFill>
              </a:rPr>
              <a:t>58% ruchu internetowego pochodzi z urządzeń mobilnych. Projektując od desktopa, pomijasz większość użytkowników.</a:t>
            </a:r>
            <a:endParaRPr lang="en-US" sz="850" dirty="0"/>
          </a:p>
        </p:txBody>
      </p:sp>
      <p:sp>
        <p:nvSpPr>
          <p:cNvPr id="16" name="Shape 14"/>
          <p:cNvSpPr/>
          <p:nvPr/>
        </p:nvSpPr>
        <p:spPr>
          <a:xfrm>
            <a:off x="4754880" y="914400"/>
            <a:ext cx="4069080" cy="3246120"/>
          </a:xfrm>
          <a:prstGeom prst="rect">
            <a:avLst/>
          </a:prstGeom>
          <a:solidFill>
            <a:srgbClr val="112233"/>
          </a:solidFill>
          <a:ln w="12700">
            <a:solidFill>
              <a:srgbClr val="1A3050"/>
            </a:solidFill>
            <a:prstDash val="solid"/>
          </a:ln>
        </p:spPr>
      </p:sp>
      <p:sp>
        <p:nvSpPr>
          <p:cNvPr id="17" name="Shape 15"/>
          <p:cNvSpPr/>
          <p:nvPr/>
        </p:nvSpPr>
        <p:spPr>
          <a:xfrm>
            <a:off x="4754880" y="914400"/>
            <a:ext cx="45720" cy="3246120"/>
          </a:xfrm>
          <a:prstGeom prst="rect">
            <a:avLst/>
          </a:prstGeom>
          <a:solidFill>
            <a:srgbClr val="1DE9B6"/>
          </a:solidFill>
          <a:ln w="12700">
            <a:solidFill>
              <a:srgbClr val="1DE9B6"/>
            </a:solidFill>
            <a:prstDash val="solid"/>
          </a:ln>
        </p:spPr>
      </p:sp>
      <p:sp>
        <p:nvSpPr>
          <p:cNvPr id="18" name="Text 16"/>
          <p:cNvSpPr/>
          <p:nvPr/>
        </p:nvSpPr>
        <p:spPr>
          <a:xfrm>
            <a:off x="4892040" y="987552"/>
            <a:ext cx="3794760" cy="274320"/>
          </a:xfrm>
          <a:prstGeom prst="rect">
            <a:avLst/>
          </a:prstGeom>
          <a:noFill/>
          <a:ln/>
        </p:spPr>
        <p:txBody>
          <a:bodyPr wrap="square" lIns="0" tIns="0" rIns="0" bIns="0" rtlCol="0" anchor="ctr"/>
          <a:lstStyle/>
          <a:p>
            <a:pPr marL="0" indent="0">
              <a:buNone/>
            </a:pPr>
            <a:r>
              <a:rPr lang="en-US" sz="1200" b="1" dirty="0">
                <a:solidFill>
                  <a:srgbClr val="FFFFFF"/>
                </a:solidFill>
              </a:rPr>
              <a:t>Kluczowe Zasady</a:t>
            </a:r>
            <a:endParaRPr lang="en-US" sz="1200" dirty="0"/>
          </a:p>
        </p:txBody>
      </p:sp>
      <p:sp>
        <p:nvSpPr>
          <p:cNvPr id="19" name="Shape 17"/>
          <p:cNvSpPr/>
          <p:nvPr/>
        </p:nvSpPr>
        <p:spPr>
          <a:xfrm>
            <a:off x="4892040" y="1371600"/>
            <a:ext cx="256032" cy="256032"/>
          </a:xfrm>
          <a:prstGeom prst="ellipse">
            <a:avLst/>
          </a:prstGeom>
          <a:solidFill>
            <a:srgbClr val="1DE9B6"/>
          </a:solidFill>
          <a:ln w="12700">
            <a:solidFill>
              <a:srgbClr val="1DE9B6"/>
            </a:solidFill>
            <a:prstDash val="solid"/>
          </a:ln>
        </p:spPr>
      </p:sp>
      <p:sp>
        <p:nvSpPr>
          <p:cNvPr id="20" name="Text 18"/>
          <p:cNvSpPr/>
          <p:nvPr/>
        </p:nvSpPr>
        <p:spPr>
          <a:xfrm>
            <a:off x="4892040" y="1371600"/>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1</a:t>
            </a:r>
            <a:endParaRPr lang="en-US" sz="1100" dirty="0"/>
          </a:p>
        </p:txBody>
      </p:sp>
      <p:sp>
        <p:nvSpPr>
          <p:cNvPr id="21" name="Text 19"/>
          <p:cNvSpPr/>
          <p:nvPr/>
        </p:nvSpPr>
        <p:spPr>
          <a:xfrm>
            <a:off x="5239512" y="1371600"/>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Priorytetyzacja Treści</a:t>
            </a:r>
            <a:endParaRPr lang="en-US" sz="1000" dirty="0"/>
          </a:p>
        </p:txBody>
      </p:sp>
      <p:sp>
        <p:nvSpPr>
          <p:cNvPr id="22" name="Text 20"/>
          <p:cNvSpPr/>
          <p:nvPr/>
        </p:nvSpPr>
        <p:spPr>
          <a:xfrm>
            <a:off x="5239512" y="1636776"/>
            <a:ext cx="3474720" cy="329184"/>
          </a:xfrm>
          <a:prstGeom prst="rect">
            <a:avLst/>
          </a:prstGeom>
          <a:noFill/>
          <a:ln/>
        </p:spPr>
        <p:txBody>
          <a:bodyPr wrap="square" lIns="0" tIns="0" rIns="0" bIns="0" rtlCol="0" anchor="ctr"/>
          <a:lstStyle/>
          <a:p>
            <a:pPr marL="0" indent="0">
              <a:buNone/>
            </a:pPr>
            <a:r>
              <a:rPr lang="en-US" sz="850" dirty="0">
                <a:solidFill>
                  <a:srgbClr val="8899AA"/>
                </a:solidFill>
              </a:rPr>
              <a:t>Pokaż tylko co niezbędne. Każdy element musi mieć jasny cel.</a:t>
            </a:r>
            <a:endParaRPr lang="en-US" sz="850" dirty="0"/>
          </a:p>
        </p:txBody>
      </p:sp>
      <p:sp>
        <p:nvSpPr>
          <p:cNvPr id="23" name="Shape 21"/>
          <p:cNvSpPr/>
          <p:nvPr/>
        </p:nvSpPr>
        <p:spPr>
          <a:xfrm>
            <a:off x="4892040" y="2029968"/>
            <a:ext cx="256032" cy="256032"/>
          </a:xfrm>
          <a:prstGeom prst="ellipse">
            <a:avLst/>
          </a:prstGeom>
          <a:solidFill>
            <a:srgbClr val="1DE9B6"/>
          </a:solidFill>
          <a:ln w="12700">
            <a:solidFill>
              <a:srgbClr val="1DE9B6"/>
            </a:solidFill>
            <a:prstDash val="solid"/>
          </a:ln>
        </p:spPr>
      </p:sp>
      <p:sp>
        <p:nvSpPr>
          <p:cNvPr id="24" name="Text 22"/>
          <p:cNvSpPr/>
          <p:nvPr/>
        </p:nvSpPr>
        <p:spPr>
          <a:xfrm>
            <a:off x="4892040" y="2029968"/>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2</a:t>
            </a:r>
            <a:endParaRPr lang="en-US" sz="1100" dirty="0"/>
          </a:p>
        </p:txBody>
      </p:sp>
      <p:sp>
        <p:nvSpPr>
          <p:cNvPr id="25" name="Text 23"/>
          <p:cNvSpPr/>
          <p:nvPr/>
        </p:nvSpPr>
        <p:spPr>
          <a:xfrm>
            <a:off x="5239512" y="2029968"/>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Progressive Enhancement</a:t>
            </a:r>
            <a:endParaRPr lang="en-US" sz="1000" dirty="0"/>
          </a:p>
        </p:txBody>
      </p:sp>
      <p:sp>
        <p:nvSpPr>
          <p:cNvPr id="26" name="Text 24"/>
          <p:cNvSpPr/>
          <p:nvPr/>
        </p:nvSpPr>
        <p:spPr>
          <a:xfrm>
            <a:off x="5239512" y="2295144"/>
            <a:ext cx="3474720" cy="329184"/>
          </a:xfrm>
          <a:prstGeom prst="rect">
            <a:avLst/>
          </a:prstGeom>
          <a:noFill/>
          <a:ln/>
        </p:spPr>
        <p:txBody>
          <a:bodyPr wrap="square" lIns="0" tIns="0" rIns="0" bIns="0" rtlCol="0" anchor="ctr"/>
          <a:lstStyle/>
          <a:p>
            <a:pPr marL="0" indent="0">
              <a:buNone/>
            </a:pPr>
            <a:r>
              <a:rPr lang="en-US" sz="850" dirty="0">
                <a:solidFill>
                  <a:srgbClr val="8899AA"/>
                </a:solidFill>
              </a:rPr>
              <a:t>Dodawaj funkcje w miarę wzrostu dostępnej przestrzeni.</a:t>
            </a:r>
            <a:endParaRPr lang="en-US" sz="850" dirty="0"/>
          </a:p>
        </p:txBody>
      </p:sp>
      <p:sp>
        <p:nvSpPr>
          <p:cNvPr id="27" name="Shape 25"/>
          <p:cNvSpPr/>
          <p:nvPr/>
        </p:nvSpPr>
        <p:spPr>
          <a:xfrm>
            <a:off x="4892040" y="2688336"/>
            <a:ext cx="256032" cy="256032"/>
          </a:xfrm>
          <a:prstGeom prst="ellipse">
            <a:avLst/>
          </a:prstGeom>
          <a:solidFill>
            <a:srgbClr val="1DE9B6"/>
          </a:solidFill>
          <a:ln w="12700">
            <a:solidFill>
              <a:srgbClr val="1DE9B6"/>
            </a:solidFill>
            <a:prstDash val="solid"/>
          </a:ln>
        </p:spPr>
      </p:sp>
      <p:sp>
        <p:nvSpPr>
          <p:cNvPr id="28" name="Text 26"/>
          <p:cNvSpPr/>
          <p:nvPr/>
        </p:nvSpPr>
        <p:spPr>
          <a:xfrm>
            <a:off x="4892040" y="2688336"/>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3</a:t>
            </a:r>
            <a:endParaRPr lang="en-US" sz="1100" dirty="0"/>
          </a:p>
        </p:txBody>
      </p:sp>
      <p:sp>
        <p:nvSpPr>
          <p:cNvPr id="29" name="Text 27"/>
          <p:cNvSpPr/>
          <p:nvPr/>
        </p:nvSpPr>
        <p:spPr>
          <a:xfrm>
            <a:off x="5239512" y="2688336"/>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Responsive Layout</a:t>
            </a:r>
            <a:endParaRPr lang="en-US" sz="1000" dirty="0"/>
          </a:p>
        </p:txBody>
      </p:sp>
      <p:sp>
        <p:nvSpPr>
          <p:cNvPr id="30" name="Text 28"/>
          <p:cNvSpPr/>
          <p:nvPr/>
        </p:nvSpPr>
        <p:spPr>
          <a:xfrm>
            <a:off x="5239512" y="2953512"/>
            <a:ext cx="3474720" cy="329184"/>
          </a:xfrm>
          <a:prstGeom prst="rect">
            <a:avLst/>
          </a:prstGeom>
          <a:noFill/>
          <a:ln/>
        </p:spPr>
        <p:txBody>
          <a:bodyPr wrap="square" lIns="0" tIns="0" rIns="0" bIns="0" rtlCol="0" anchor="ctr"/>
          <a:lstStyle/>
          <a:p>
            <a:pPr marL="0" indent="0">
              <a:buNone/>
            </a:pPr>
            <a:r>
              <a:rPr lang="en-US" sz="850" dirty="0">
                <a:solidFill>
                  <a:srgbClr val="8899AA"/>
                </a:solidFill>
              </a:rPr>
              <a:t>Elastyczne siatki, obrazy i media queries dla breakpointów.</a:t>
            </a:r>
            <a:endParaRPr lang="en-US" sz="850" dirty="0"/>
          </a:p>
        </p:txBody>
      </p:sp>
      <p:sp>
        <p:nvSpPr>
          <p:cNvPr id="31" name="Shape 29"/>
          <p:cNvSpPr/>
          <p:nvPr/>
        </p:nvSpPr>
        <p:spPr>
          <a:xfrm>
            <a:off x="4892040" y="3346704"/>
            <a:ext cx="256032" cy="256032"/>
          </a:xfrm>
          <a:prstGeom prst="ellipse">
            <a:avLst/>
          </a:prstGeom>
          <a:solidFill>
            <a:srgbClr val="1DE9B6"/>
          </a:solidFill>
          <a:ln w="12700">
            <a:solidFill>
              <a:srgbClr val="1DE9B6"/>
            </a:solidFill>
            <a:prstDash val="solid"/>
          </a:ln>
        </p:spPr>
      </p:sp>
      <p:sp>
        <p:nvSpPr>
          <p:cNvPr id="32" name="Text 30"/>
          <p:cNvSpPr/>
          <p:nvPr/>
        </p:nvSpPr>
        <p:spPr>
          <a:xfrm>
            <a:off x="4892040" y="3346704"/>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4</a:t>
            </a:r>
            <a:endParaRPr lang="en-US" sz="1100" dirty="0"/>
          </a:p>
        </p:txBody>
      </p:sp>
      <p:sp>
        <p:nvSpPr>
          <p:cNvPr id="33" name="Text 31"/>
          <p:cNvSpPr/>
          <p:nvPr/>
        </p:nvSpPr>
        <p:spPr>
          <a:xfrm>
            <a:off x="5239512" y="3346704"/>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Touch-Friendly UI</a:t>
            </a:r>
            <a:endParaRPr lang="en-US" sz="1000" dirty="0"/>
          </a:p>
        </p:txBody>
      </p:sp>
      <p:sp>
        <p:nvSpPr>
          <p:cNvPr id="34" name="Text 32"/>
          <p:cNvSpPr/>
          <p:nvPr/>
        </p:nvSpPr>
        <p:spPr>
          <a:xfrm>
            <a:off x="5239512" y="3611880"/>
            <a:ext cx="3474720" cy="329184"/>
          </a:xfrm>
          <a:prstGeom prst="rect">
            <a:avLst/>
          </a:prstGeom>
          <a:noFill/>
          <a:ln/>
        </p:spPr>
        <p:txBody>
          <a:bodyPr wrap="square" lIns="0" tIns="0" rIns="0" bIns="0" rtlCol="0" anchor="ctr"/>
          <a:lstStyle/>
          <a:p>
            <a:pPr marL="0" indent="0">
              <a:buNone/>
            </a:pPr>
            <a:r>
              <a:rPr lang="en-US" sz="850" dirty="0">
                <a:solidFill>
                  <a:srgbClr val="8899AA"/>
                </a:solidFill>
              </a:rPr>
              <a:t>Projektuj pod dotyk, nie myszkę. Odpowiednie rozmiary i odstępy.</a:t>
            </a:r>
            <a:endParaRPr lang="en-US" sz="850" dirty="0"/>
          </a:p>
        </p:txBody>
      </p:sp>
      <p:sp>
        <p:nvSpPr>
          <p:cNvPr id="35" name="Shape 33"/>
          <p:cNvSpPr/>
          <p:nvPr/>
        </p:nvSpPr>
        <p:spPr>
          <a:xfrm>
            <a:off x="4754880" y="4005072"/>
            <a:ext cx="4069080" cy="804672"/>
          </a:xfrm>
          <a:prstGeom prst="rect">
            <a:avLst/>
          </a:prstGeom>
          <a:solidFill>
            <a:srgbClr val="0A1929"/>
          </a:solidFill>
          <a:ln w="12700">
            <a:solidFill>
              <a:srgbClr val="1A3050"/>
            </a:solidFill>
            <a:prstDash val="solid"/>
          </a:ln>
        </p:spPr>
      </p:sp>
      <p:sp>
        <p:nvSpPr>
          <p:cNvPr id="36" name="Text 34"/>
          <p:cNvSpPr/>
          <p:nvPr/>
        </p:nvSpPr>
        <p:spPr>
          <a:xfrm>
            <a:off x="4892040" y="4041648"/>
            <a:ext cx="914400" cy="219456"/>
          </a:xfrm>
          <a:prstGeom prst="rect">
            <a:avLst/>
          </a:prstGeom>
          <a:noFill/>
          <a:ln/>
        </p:spPr>
        <p:txBody>
          <a:bodyPr wrap="square" lIns="0" tIns="0" rIns="0" bIns="0" rtlCol="0" anchor="ctr"/>
          <a:lstStyle/>
          <a:p>
            <a:pPr marL="0" indent="0">
              <a:buNone/>
            </a:pPr>
            <a:r>
              <a:rPr lang="en-US" sz="900" b="1" dirty="0">
                <a:solidFill>
                  <a:srgbClr val="1DE9B6"/>
                </a:solidFill>
              </a:rPr>
              <a:t>Przykłady:</a:t>
            </a:r>
            <a:endParaRPr lang="en-US" sz="900" dirty="0"/>
          </a:p>
        </p:txBody>
      </p:sp>
      <p:sp>
        <p:nvSpPr>
          <p:cNvPr id="37" name="Text 35"/>
          <p:cNvSpPr/>
          <p:nvPr/>
        </p:nvSpPr>
        <p:spPr>
          <a:xfrm>
            <a:off x="4892040" y="4279392"/>
            <a:ext cx="3794760" cy="146304"/>
          </a:xfrm>
          <a:prstGeom prst="rect">
            <a:avLst/>
          </a:prstGeom>
          <a:noFill/>
          <a:ln/>
        </p:spPr>
        <p:txBody>
          <a:bodyPr wrap="square" lIns="0" tIns="0" rIns="0" bIns="0" rtlCol="0" anchor="ctr"/>
          <a:lstStyle/>
          <a:p>
            <a:pPr marL="0" indent="0">
              <a:buNone/>
            </a:pPr>
            <a:r>
              <a:rPr lang="en-US" sz="850" dirty="0">
                <a:solidFill>
                  <a:srgbClr val="8899AA"/>
                </a:solidFill>
              </a:rPr>
              <a:t>★ Airbnb — mobile booking jako priorytet</a:t>
            </a:r>
            <a:endParaRPr lang="en-US" sz="850" dirty="0"/>
          </a:p>
        </p:txBody>
      </p:sp>
      <p:sp>
        <p:nvSpPr>
          <p:cNvPr id="38" name="Text 36"/>
          <p:cNvSpPr/>
          <p:nvPr/>
        </p:nvSpPr>
        <p:spPr>
          <a:xfrm>
            <a:off x="4892040" y="4443984"/>
            <a:ext cx="3794760" cy="146304"/>
          </a:xfrm>
          <a:prstGeom prst="rect">
            <a:avLst/>
          </a:prstGeom>
          <a:noFill/>
          <a:ln/>
        </p:spPr>
        <p:txBody>
          <a:bodyPr wrap="square" lIns="0" tIns="0" rIns="0" bIns="0" rtlCol="0" anchor="ctr"/>
          <a:lstStyle/>
          <a:p>
            <a:pPr marL="0" indent="0">
              <a:buNone/>
            </a:pPr>
            <a:r>
              <a:rPr lang="en-US" sz="850" dirty="0">
                <a:solidFill>
                  <a:srgbClr val="8899AA"/>
                </a:solidFill>
              </a:rPr>
              <a:t>★ Dropbox — responsywny od podstaw</a:t>
            </a:r>
            <a:endParaRPr lang="en-US" sz="850" dirty="0"/>
          </a:p>
        </p:txBody>
      </p:sp>
      <p:sp>
        <p:nvSpPr>
          <p:cNvPr id="39" name="Text 37"/>
          <p:cNvSpPr/>
          <p:nvPr/>
        </p:nvSpPr>
        <p:spPr>
          <a:xfrm>
            <a:off x="4892040" y="4608576"/>
            <a:ext cx="3794760" cy="146304"/>
          </a:xfrm>
          <a:prstGeom prst="rect">
            <a:avLst/>
          </a:prstGeom>
          <a:noFill/>
          <a:ln/>
        </p:spPr>
        <p:txBody>
          <a:bodyPr wrap="square" lIns="0" tIns="0" rIns="0" bIns="0" rtlCol="0" anchor="ctr"/>
          <a:lstStyle/>
          <a:p>
            <a:pPr marL="0" indent="0">
              <a:buNone/>
            </a:pPr>
            <a:r>
              <a:rPr lang="en-US" sz="850" dirty="0">
                <a:solidFill>
                  <a:srgbClr val="8899AA"/>
                </a:solidFill>
              </a:rPr>
              <a:t>★ Slack — mobile-first komunikacja</a:t>
            </a:r>
            <a:endParaRPr lang="en-US" sz="850" dirty="0"/>
          </a:p>
        </p:txBody>
      </p:sp>
      <p:sp>
        <p:nvSpPr>
          <p:cNvPr id="42" name="Text 40"/>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17 / </a:t>
            </a:r>
            <a:r>
              <a:rPr lang="pl-PL" sz="800" dirty="0" smtClean="0">
                <a:solidFill>
                  <a:srgbClr val="8899AA"/>
                </a:solidFill>
              </a:rPr>
              <a:t>46</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a:effectLst/>
      </p:bgPr>
    </p:bg>
    <p:spTree>
      <p:nvGrpSpPr>
        <p:cNvPr id="1" name=""/>
        <p:cNvGrpSpPr/>
        <p:nvPr/>
      </p:nvGrpSpPr>
      <p:grpSpPr>
        <a:xfrm>
          <a:off x="0" y="0"/>
          <a:ext cx="0" cy="0"/>
          <a:chOff x="0" y="0"/>
          <a:chExt cx="0" cy="0"/>
        </a:xfrm>
      </p:grpSpPr>
      <p:grpSp>
        <p:nvGrpSpPr>
          <p:cNvPr id="11" name="Grupa 10"/>
          <p:cNvGrpSpPr/>
          <p:nvPr/>
        </p:nvGrpSpPr>
        <p:grpSpPr>
          <a:xfrm>
            <a:off x="-2381" y="4884912"/>
            <a:ext cx="9146381" cy="260136"/>
            <a:chOff x="-2381" y="4884912"/>
            <a:chExt cx="9146381" cy="260136"/>
          </a:xfrm>
        </p:grpSpPr>
        <p:sp>
          <p:nvSpPr>
            <p:cNvPr id="12" name="Shape 52"/>
            <p:cNvSpPr/>
            <p:nvPr/>
          </p:nvSpPr>
          <p:spPr>
            <a:xfrm>
              <a:off x="0" y="4884912"/>
              <a:ext cx="9144000" cy="252000"/>
            </a:xfrm>
            <a:prstGeom prst="rect">
              <a:avLst/>
            </a:prstGeom>
            <a:solidFill>
              <a:srgbClr val="071523"/>
            </a:solidFill>
            <a:ln w="12700">
              <a:solidFill>
                <a:srgbClr val="071523"/>
              </a:solidFill>
              <a:prstDash val="solid"/>
            </a:ln>
          </p:spPr>
        </p:sp>
        <p:sp>
          <p:nvSpPr>
            <p:cNvPr id="13"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14" name="Grupa 13"/>
            <p:cNvGrpSpPr/>
            <p:nvPr/>
          </p:nvGrpSpPr>
          <p:grpSpPr>
            <a:xfrm>
              <a:off x="-2381" y="5099329"/>
              <a:ext cx="9146381" cy="45719"/>
              <a:chOff x="-2381" y="5107500"/>
              <a:chExt cx="9111093" cy="37548"/>
            </a:xfrm>
            <a:solidFill>
              <a:schemeClr val="tx1"/>
            </a:solidFill>
          </p:grpSpPr>
          <p:sp>
            <p:nvSpPr>
              <p:cNvPr id="15"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16"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17"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18"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19"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20"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21"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22"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23"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24"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25"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26"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27"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28"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29"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30"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31"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32"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33" name="Shape 52"/>
              <p:cNvSpPr/>
              <p:nvPr/>
            </p:nvSpPr>
            <p:spPr>
              <a:xfrm>
                <a:off x="3564712" y="5108400"/>
                <a:ext cx="198000" cy="36000"/>
              </a:xfrm>
              <a:prstGeom prst="rect">
                <a:avLst/>
              </a:prstGeom>
              <a:grpFill/>
              <a:ln w="12700">
                <a:noFill/>
                <a:prstDash val="solid"/>
              </a:ln>
            </p:spPr>
          </p:sp>
          <p:sp>
            <p:nvSpPr>
              <p:cNvPr id="34" name="Shape 52"/>
              <p:cNvSpPr/>
              <p:nvPr/>
            </p:nvSpPr>
            <p:spPr>
              <a:xfrm>
                <a:off x="3762712" y="5108400"/>
                <a:ext cx="198000" cy="36000"/>
              </a:xfrm>
              <a:prstGeom prst="rect">
                <a:avLst/>
              </a:prstGeom>
              <a:grpFill/>
              <a:ln w="12700">
                <a:noFill/>
                <a:prstDash val="solid"/>
              </a:ln>
            </p:spPr>
          </p:sp>
          <p:sp>
            <p:nvSpPr>
              <p:cNvPr id="35" name="Shape 52"/>
              <p:cNvSpPr/>
              <p:nvPr/>
            </p:nvSpPr>
            <p:spPr>
              <a:xfrm>
                <a:off x="3960712" y="5107530"/>
                <a:ext cx="198000" cy="36000"/>
              </a:xfrm>
              <a:prstGeom prst="rect">
                <a:avLst/>
              </a:prstGeom>
              <a:grpFill/>
              <a:ln w="12700">
                <a:noFill/>
                <a:prstDash val="solid"/>
              </a:ln>
            </p:spPr>
          </p:sp>
          <p:sp>
            <p:nvSpPr>
              <p:cNvPr id="36" name="Shape 52"/>
              <p:cNvSpPr/>
              <p:nvPr/>
            </p:nvSpPr>
            <p:spPr>
              <a:xfrm>
                <a:off x="4158712" y="5107500"/>
                <a:ext cx="198000" cy="36000"/>
              </a:xfrm>
              <a:prstGeom prst="rect">
                <a:avLst/>
              </a:prstGeom>
              <a:grpFill/>
              <a:ln w="12700">
                <a:noFill/>
                <a:prstDash val="solid"/>
              </a:ln>
            </p:spPr>
          </p:sp>
          <p:sp>
            <p:nvSpPr>
              <p:cNvPr id="37" name="Shape 52"/>
              <p:cNvSpPr/>
              <p:nvPr/>
            </p:nvSpPr>
            <p:spPr>
              <a:xfrm>
                <a:off x="4356712" y="5107500"/>
                <a:ext cx="198000" cy="36000"/>
              </a:xfrm>
              <a:prstGeom prst="rect">
                <a:avLst/>
              </a:prstGeom>
              <a:grpFill/>
              <a:ln w="12700">
                <a:noFill/>
                <a:prstDash val="solid"/>
              </a:ln>
            </p:spPr>
          </p:sp>
          <p:sp>
            <p:nvSpPr>
              <p:cNvPr id="38" name="Shape 52"/>
              <p:cNvSpPr/>
              <p:nvPr/>
            </p:nvSpPr>
            <p:spPr>
              <a:xfrm>
                <a:off x="4554712" y="5107500"/>
                <a:ext cx="198000" cy="36000"/>
              </a:xfrm>
              <a:prstGeom prst="rect">
                <a:avLst/>
              </a:prstGeom>
              <a:grpFill/>
              <a:ln w="12700">
                <a:noFill/>
                <a:prstDash val="solid"/>
              </a:ln>
            </p:spPr>
          </p:sp>
          <p:sp>
            <p:nvSpPr>
              <p:cNvPr id="39" name="Shape 52"/>
              <p:cNvSpPr/>
              <p:nvPr/>
            </p:nvSpPr>
            <p:spPr>
              <a:xfrm>
                <a:off x="4752712" y="5107500"/>
                <a:ext cx="198000" cy="36000"/>
              </a:xfrm>
              <a:prstGeom prst="rect">
                <a:avLst/>
              </a:prstGeom>
              <a:grpFill/>
              <a:ln w="12700">
                <a:noFill/>
                <a:prstDash val="solid"/>
              </a:ln>
            </p:spPr>
          </p:sp>
          <p:sp>
            <p:nvSpPr>
              <p:cNvPr id="40" name="Shape 52"/>
              <p:cNvSpPr/>
              <p:nvPr/>
            </p:nvSpPr>
            <p:spPr>
              <a:xfrm>
                <a:off x="4950712" y="5107500"/>
                <a:ext cx="198000" cy="36000"/>
              </a:xfrm>
              <a:prstGeom prst="rect">
                <a:avLst/>
              </a:prstGeom>
              <a:grpFill/>
              <a:ln w="12700">
                <a:noFill/>
                <a:prstDash val="solid"/>
              </a:ln>
            </p:spPr>
          </p:sp>
          <p:sp>
            <p:nvSpPr>
              <p:cNvPr id="41" name="Shape 52"/>
              <p:cNvSpPr/>
              <p:nvPr/>
            </p:nvSpPr>
            <p:spPr>
              <a:xfrm>
                <a:off x="5148712" y="5107500"/>
                <a:ext cx="198000" cy="36000"/>
              </a:xfrm>
              <a:prstGeom prst="rect">
                <a:avLst/>
              </a:prstGeom>
              <a:grpFill/>
              <a:ln w="12700">
                <a:noFill/>
                <a:prstDash val="solid"/>
              </a:ln>
            </p:spPr>
          </p:sp>
          <p:sp>
            <p:nvSpPr>
              <p:cNvPr id="42" name="Shape 52"/>
              <p:cNvSpPr/>
              <p:nvPr/>
            </p:nvSpPr>
            <p:spPr>
              <a:xfrm>
                <a:off x="5346712" y="5108400"/>
                <a:ext cx="198000" cy="36000"/>
              </a:xfrm>
              <a:prstGeom prst="rect">
                <a:avLst/>
              </a:prstGeom>
              <a:grpFill/>
              <a:ln w="12700">
                <a:noFill/>
                <a:prstDash val="solid"/>
              </a:ln>
            </p:spPr>
          </p:sp>
          <p:sp>
            <p:nvSpPr>
              <p:cNvPr id="43" name="Shape 52"/>
              <p:cNvSpPr/>
              <p:nvPr/>
            </p:nvSpPr>
            <p:spPr>
              <a:xfrm>
                <a:off x="5544712" y="5108400"/>
                <a:ext cx="198000" cy="36000"/>
              </a:xfrm>
              <a:prstGeom prst="rect">
                <a:avLst/>
              </a:prstGeom>
              <a:grpFill/>
              <a:ln w="12700">
                <a:noFill/>
                <a:prstDash val="solid"/>
              </a:ln>
            </p:spPr>
          </p:sp>
          <p:sp>
            <p:nvSpPr>
              <p:cNvPr id="44" name="Shape 52"/>
              <p:cNvSpPr/>
              <p:nvPr/>
            </p:nvSpPr>
            <p:spPr>
              <a:xfrm>
                <a:off x="5742712" y="5108400"/>
                <a:ext cx="198000" cy="36000"/>
              </a:xfrm>
              <a:prstGeom prst="rect">
                <a:avLst/>
              </a:prstGeom>
              <a:grpFill/>
              <a:ln w="12700">
                <a:noFill/>
                <a:prstDash val="solid"/>
              </a:ln>
            </p:spPr>
          </p:sp>
          <p:sp>
            <p:nvSpPr>
              <p:cNvPr id="45" name="Shape 52"/>
              <p:cNvSpPr/>
              <p:nvPr/>
            </p:nvSpPr>
            <p:spPr>
              <a:xfrm>
                <a:off x="5940712" y="5108400"/>
                <a:ext cx="198000" cy="36000"/>
              </a:xfrm>
              <a:prstGeom prst="rect">
                <a:avLst/>
              </a:prstGeom>
              <a:grpFill/>
              <a:ln w="12700">
                <a:noFill/>
                <a:prstDash val="solid"/>
              </a:ln>
            </p:spPr>
          </p:sp>
          <p:sp>
            <p:nvSpPr>
              <p:cNvPr id="46" name="Shape 52"/>
              <p:cNvSpPr/>
              <p:nvPr/>
            </p:nvSpPr>
            <p:spPr>
              <a:xfrm>
                <a:off x="6138712" y="5108400"/>
                <a:ext cx="198000" cy="36000"/>
              </a:xfrm>
              <a:prstGeom prst="rect">
                <a:avLst/>
              </a:prstGeom>
              <a:grpFill/>
              <a:ln w="12700">
                <a:noFill/>
                <a:prstDash val="solid"/>
              </a:ln>
            </p:spPr>
          </p:sp>
          <p:sp>
            <p:nvSpPr>
              <p:cNvPr id="47" name="Shape 52"/>
              <p:cNvSpPr/>
              <p:nvPr/>
            </p:nvSpPr>
            <p:spPr>
              <a:xfrm>
                <a:off x="6336712" y="5108400"/>
                <a:ext cx="198000" cy="36000"/>
              </a:xfrm>
              <a:prstGeom prst="rect">
                <a:avLst/>
              </a:prstGeom>
              <a:grpFill/>
              <a:ln w="12700">
                <a:noFill/>
                <a:prstDash val="solid"/>
              </a:ln>
            </p:spPr>
          </p:sp>
          <p:sp>
            <p:nvSpPr>
              <p:cNvPr id="48" name="Shape 52"/>
              <p:cNvSpPr/>
              <p:nvPr/>
            </p:nvSpPr>
            <p:spPr>
              <a:xfrm>
                <a:off x="6534712" y="5108400"/>
                <a:ext cx="198000" cy="36000"/>
              </a:xfrm>
              <a:prstGeom prst="rect">
                <a:avLst/>
              </a:prstGeom>
              <a:grpFill/>
              <a:ln w="12700">
                <a:noFill/>
                <a:prstDash val="solid"/>
              </a:ln>
            </p:spPr>
          </p:sp>
          <p:sp>
            <p:nvSpPr>
              <p:cNvPr id="49" name="Shape 52"/>
              <p:cNvSpPr/>
              <p:nvPr/>
            </p:nvSpPr>
            <p:spPr>
              <a:xfrm>
                <a:off x="6732712" y="5108400"/>
                <a:ext cx="198000" cy="36000"/>
              </a:xfrm>
              <a:prstGeom prst="rect">
                <a:avLst/>
              </a:prstGeom>
              <a:grpFill/>
              <a:ln w="12700">
                <a:noFill/>
                <a:prstDash val="solid"/>
              </a:ln>
            </p:spPr>
          </p:sp>
          <p:sp>
            <p:nvSpPr>
              <p:cNvPr id="50" name="Shape 52"/>
              <p:cNvSpPr/>
              <p:nvPr/>
            </p:nvSpPr>
            <p:spPr>
              <a:xfrm>
                <a:off x="6930712" y="5108400"/>
                <a:ext cx="198000" cy="36000"/>
              </a:xfrm>
              <a:prstGeom prst="rect">
                <a:avLst/>
              </a:prstGeom>
              <a:grpFill/>
              <a:ln w="12700">
                <a:noFill/>
                <a:prstDash val="solid"/>
              </a:ln>
            </p:spPr>
          </p:sp>
          <p:sp>
            <p:nvSpPr>
              <p:cNvPr id="51" name="Shape 52"/>
              <p:cNvSpPr/>
              <p:nvPr/>
            </p:nvSpPr>
            <p:spPr>
              <a:xfrm>
                <a:off x="7128712" y="5108400"/>
                <a:ext cx="198000" cy="36000"/>
              </a:xfrm>
              <a:prstGeom prst="rect">
                <a:avLst/>
              </a:prstGeom>
              <a:grpFill/>
              <a:ln w="12700">
                <a:noFill/>
                <a:prstDash val="solid"/>
              </a:ln>
            </p:spPr>
          </p:sp>
          <p:sp>
            <p:nvSpPr>
              <p:cNvPr id="52" name="Shape 52"/>
              <p:cNvSpPr/>
              <p:nvPr/>
            </p:nvSpPr>
            <p:spPr>
              <a:xfrm>
                <a:off x="7326712" y="5108400"/>
                <a:ext cx="198000" cy="36000"/>
              </a:xfrm>
              <a:prstGeom prst="rect">
                <a:avLst/>
              </a:prstGeom>
              <a:grpFill/>
              <a:ln w="12700">
                <a:noFill/>
                <a:prstDash val="solid"/>
              </a:ln>
            </p:spPr>
          </p:sp>
          <p:sp>
            <p:nvSpPr>
              <p:cNvPr id="53" name="Shape 52"/>
              <p:cNvSpPr/>
              <p:nvPr/>
            </p:nvSpPr>
            <p:spPr>
              <a:xfrm>
                <a:off x="7524712" y="5108400"/>
                <a:ext cx="198000" cy="36000"/>
              </a:xfrm>
              <a:prstGeom prst="rect">
                <a:avLst/>
              </a:prstGeom>
              <a:grpFill/>
              <a:ln w="12700">
                <a:noFill/>
                <a:prstDash val="solid"/>
              </a:ln>
            </p:spPr>
          </p:sp>
          <p:sp>
            <p:nvSpPr>
              <p:cNvPr id="54" name="Shape 52"/>
              <p:cNvSpPr/>
              <p:nvPr/>
            </p:nvSpPr>
            <p:spPr>
              <a:xfrm>
                <a:off x="7722712" y="5108400"/>
                <a:ext cx="198000" cy="36000"/>
              </a:xfrm>
              <a:prstGeom prst="rect">
                <a:avLst/>
              </a:prstGeom>
              <a:grpFill/>
              <a:ln w="12700">
                <a:noFill/>
                <a:prstDash val="solid"/>
              </a:ln>
            </p:spPr>
          </p:sp>
          <p:sp>
            <p:nvSpPr>
              <p:cNvPr id="55" name="Shape 52"/>
              <p:cNvSpPr/>
              <p:nvPr/>
            </p:nvSpPr>
            <p:spPr>
              <a:xfrm>
                <a:off x="7920712" y="5109048"/>
                <a:ext cx="198000" cy="36000"/>
              </a:xfrm>
              <a:prstGeom prst="rect">
                <a:avLst/>
              </a:prstGeom>
              <a:grpFill/>
              <a:ln w="12700">
                <a:noFill/>
                <a:prstDash val="solid"/>
              </a:ln>
            </p:spPr>
          </p:sp>
          <p:sp>
            <p:nvSpPr>
              <p:cNvPr id="56" name="Shape 52"/>
              <p:cNvSpPr/>
              <p:nvPr/>
            </p:nvSpPr>
            <p:spPr>
              <a:xfrm>
                <a:off x="8118712" y="5109048"/>
                <a:ext cx="198000" cy="36000"/>
              </a:xfrm>
              <a:prstGeom prst="rect">
                <a:avLst/>
              </a:prstGeom>
              <a:grpFill/>
              <a:ln w="12700">
                <a:noFill/>
                <a:prstDash val="solid"/>
              </a:ln>
            </p:spPr>
          </p:sp>
          <p:sp>
            <p:nvSpPr>
              <p:cNvPr id="57" name="Shape 52"/>
              <p:cNvSpPr/>
              <p:nvPr/>
            </p:nvSpPr>
            <p:spPr>
              <a:xfrm>
                <a:off x="8316712" y="5109048"/>
                <a:ext cx="198000" cy="36000"/>
              </a:xfrm>
              <a:prstGeom prst="rect">
                <a:avLst/>
              </a:prstGeom>
              <a:grpFill/>
              <a:ln w="12700">
                <a:noFill/>
                <a:prstDash val="solid"/>
              </a:ln>
            </p:spPr>
          </p:sp>
          <p:sp>
            <p:nvSpPr>
              <p:cNvPr id="58" name="Shape 52"/>
              <p:cNvSpPr/>
              <p:nvPr/>
            </p:nvSpPr>
            <p:spPr>
              <a:xfrm>
                <a:off x="8514712" y="5109048"/>
                <a:ext cx="198000" cy="36000"/>
              </a:xfrm>
              <a:prstGeom prst="rect">
                <a:avLst/>
              </a:prstGeom>
              <a:grpFill/>
              <a:ln w="12700">
                <a:noFill/>
                <a:prstDash val="solid"/>
              </a:ln>
            </p:spPr>
          </p:sp>
          <p:sp>
            <p:nvSpPr>
              <p:cNvPr id="59" name="Shape 52"/>
              <p:cNvSpPr/>
              <p:nvPr/>
            </p:nvSpPr>
            <p:spPr>
              <a:xfrm>
                <a:off x="8712712" y="5109048"/>
                <a:ext cx="198000" cy="36000"/>
              </a:xfrm>
              <a:prstGeom prst="rect">
                <a:avLst/>
              </a:prstGeom>
              <a:grpFill/>
              <a:ln w="12700">
                <a:noFill/>
                <a:prstDash val="solid"/>
              </a:ln>
            </p:spPr>
          </p:sp>
          <p:sp>
            <p:nvSpPr>
              <p:cNvPr id="60"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0" y="1645920"/>
            <a:ext cx="9144000" cy="1828800"/>
          </a:xfrm>
          <a:prstGeom prst="rect">
            <a:avLst/>
          </a:prstGeom>
          <a:solidFill>
            <a:srgbClr val="112233"/>
          </a:solidFill>
          <a:ln w="12700">
            <a:solidFill>
              <a:srgbClr val="112233"/>
            </a:solidFill>
            <a:prstDash val="solid"/>
          </a:ln>
        </p:spPr>
      </p:sp>
      <p:sp>
        <p:nvSpPr>
          <p:cNvPr id="3" name="Shape 1"/>
          <p:cNvSpPr/>
          <p:nvPr/>
        </p:nvSpPr>
        <p:spPr>
          <a:xfrm>
            <a:off x="0" y="1645920"/>
            <a:ext cx="109728" cy="1828800"/>
          </a:xfrm>
          <a:prstGeom prst="rect">
            <a:avLst/>
          </a:prstGeom>
          <a:solidFill>
            <a:srgbClr val="B388FF"/>
          </a:solidFill>
          <a:ln w="12700">
            <a:solidFill>
              <a:srgbClr val="B388FF"/>
            </a:solidFill>
            <a:prstDash val="solid"/>
          </a:ln>
        </p:spPr>
      </p:sp>
      <p:sp>
        <p:nvSpPr>
          <p:cNvPr id="4" name="Text 2"/>
          <p:cNvSpPr/>
          <p:nvPr/>
        </p:nvSpPr>
        <p:spPr>
          <a:xfrm>
            <a:off x="914400" y="548640"/>
            <a:ext cx="7315200" cy="822960"/>
          </a:xfrm>
          <a:prstGeom prst="rect">
            <a:avLst/>
          </a:prstGeom>
          <a:noFill/>
          <a:ln/>
        </p:spPr>
        <p:txBody>
          <a:bodyPr wrap="square" lIns="0" tIns="0" rIns="0" bIns="0" rtlCol="0" anchor="ctr"/>
          <a:lstStyle/>
          <a:p>
            <a:pPr marL="0" indent="0" algn="l">
              <a:buNone/>
            </a:pPr>
            <a:r>
              <a:rPr lang="en-US" sz="5200" b="1" dirty="0">
                <a:solidFill>
                  <a:srgbClr val="B388FF"/>
                </a:solidFill>
              </a:rPr>
              <a:t>04</a:t>
            </a:r>
            <a:endParaRPr lang="en-US" sz="5200" dirty="0"/>
          </a:p>
        </p:txBody>
      </p:sp>
      <p:sp>
        <p:nvSpPr>
          <p:cNvPr id="5" name="Text 3"/>
          <p:cNvSpPr/>
          <p:nvPr/>
        </p:nvSpPr>
        <p:spPr>
          <a:xfrm>
            <a:off x="457200" y="1737360"/>
            <a:ext cx="8229600" cy="822960"/>
          </a:xfrm>
          <a:prstGeom prst="rect">
            <a:avLst/>
          </a:prstGeom>
          <a:noFill/>
          <a:ln/>
        </p:spPr>
        <p:txBody>
          <a:bodyPr wrap="square" lIns="0" tIns="0" rIns="0" bIns="0" rtlCol="0" anchor="ctr"/>
          <a:lstStyle/>
          <a:p>
            <a:pPr marL="0" indent="0">
              <a:buNone/>
            </a:pPr>
            <a:r>
              <a:rPr lang="en-US" sz="2800" b="1" dirty="0">
                <a:solidFill>
                  <a:srgbClr val="FFFFFF"/>
                </a:solidFill>
              </a:rPr>
              <a:t>Standardy Branżowe</a:t>
            </a:r>
            <a:endParaRPr lang="en-US" sz="2800" dirty="0"/>
          </a:p>
        </p:txBody>
      </p:sp>
      <p:sp>
        <p:nvSpPr>
          <p:cNvPr id="6" name="Text 4"/>
          <p:cNvSpPr/>
          <p:nvPr/>
        </p:nvSpPr>
        <p:spPr>
          <a:xfrm>
            <a:off x="457200" y="2606040"/>
            <a:ext cx="8229600" cy="548640"/>
          </a:xfrm>
          <a:prstGeom prst="rect">
            <a:avLst/>
          </a:prstGeom>
          <a:noFill/>
          <a:ln/>
        </p:spPr>
        <p:txBody>
          <a:bodyPr wrap="square" lIns="0" tIns="0" rIns="0" bIns="0" rtlCol="0" anchor="t"/>
          <a:lstStyle/>
          <a:p>
            <a:pPr marL="0" indent="0">
              <a:buNone/>
            </a:pPr>
            <a:r>
              <a:rPr lang="en-US" sz="1400" dirty="0">
                <a:solidFill>
                  <a:srgbClr val="8899AA"/>
                </a:solidFill>
              </a:rPr>
              <a:t>iOS HIG, Material Design i WCAG — oficjalne wytyczne platform</a:t>
            </a:r>
            <a:endParaRPr lang="en-US" sz="1400" dirty="0"/>
          </a:p>
        </p:txBody>
      </p:sp>
      <p:sp>
        <p:nvSpPr>
          <p:cNvPr id="9" name="Text 7"/>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18 / </a:t>
            </a:r>
            <a:r>
              <a:rPr lang="pl-PL" sz="800" dirty="0" smtClean="0">
                <a:solidFill>
                  <a:srgbClr val="8899AA"/>
                </a:solidFill>
              </a:rPr>
              <a:t>46</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a:effectLst/>
      </p:bgPr>
    </p:bg>
    <p:spTree>
      <p:nvGrpSpPr>
        <p:cNvPr id="1" name=""/>
        <p:cNvGrpSpPr/>
        <p:nvPr/>
      </p:nvGrpSpPr>
      <p:grpSpPr>
        <a:xfrm>
          <a:off x="0" y="0"/>
          <a:ext cx="0" cy="0"/>
          <a:chOff x="0" y="0"/>
          <a:chExt cx="0" cy="0"/>
        </a:xfrm>
      </p:grpSpPr>
      <p:grpSp>
        <p:nvGrpSpPr>
          <p:cNvPr id="40" name="Grupa 39"/>
          <p:cNvGrpSpPr/>
          <p:nvPr/>
        </p:nvGrpSpPr>
        <p:grpSpPr>
          <a:xfrm>
            <a:off x="-2381" y="4884912"/>
            <a:ext cx="9146381" cy="260136"/>
            <a:chOff x="-2381" y="4884912"/>
            <a:chExt cx="9146381" cy="260136"/>
          </a:xfrm>
        </p:grpSpPr>
        <p:sp>
          <p:nvSpPr>
            <p:cNvPr id="41" name="Shape 52"/>
            <p:cNvSpPr/>
            <p:nvPr/>
          </p:nvSpPr>
          <p:spPr>
            <a:xfrm>
              <a:off x="0" y="4884912"/>
              <a:ext cx="9144000" cy="252000"/>
            </a:xfrm>
            <a:prstGeom prst="rect">
              <a:avLst/>
            </a:prstGeom>
            <a:solidFill>
              <a:srgbClr val="071523"/>
            </a:solidFill>
            <a:ln w="12700">
              <a:solidFill>
                <a:srgbClr val="071523"/>
              </a:solidFill>
              <a:prstDash val="solid"/>
            </a:ln>
          </p:spPr>
        </p:sp>
        <p:sp>
          <p:nvSpPr>
            <p:cNvPr id="42"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43" name="Grupa 42"/>
            <p:cNvGrpSpPr/>
            <p:nvPr/>
          </p:nvGrpSpPr>
          <p:grpSpPr>
            <a:xfrm>
              <a:off x="-2381" y="5099329"/>
              <a:ext cx="9146381" cy="45719"/>
              <a:chOff x="-2381" y="5107500"/>
              <a:chExt cx="9111093" cy="37548"/>
            </a:xfrm>
            <a:solidFill>
              <a:schemeClr val="tx1"/>
            </a:solidFill>
          </p:grpSpPr>
          <p:sp>
            <p:nvSpPr>
              <p:cNvPr id="44"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45"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46"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47"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48"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49"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50"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62"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63" name="Shape 52"/>
              <p:cNvSpPr/>
              <p:nvPr/>
            </p:nvSpPr>
            <p:spPr>
              <a:xfrm>
                <a:off x="3762712" y="5108400"/>
                <a:ext cx="198000" cy="36000"/>
              </a:xfrm>
              <a:prstGeom prst="rect">
                <a:avLst/>
              </a:prstGeom>
              <a:grpFill/>
              <a:ln w="12700">
                <a:noFill/>
                <a:prstDash val="solid"/>
              </a:ln>
            </p:spPr>
          </p:sp>
          <p:sp>
            <p:nvSpPr>
              <p:cNvPr id="64" name="Shape 52"/>
              <p:cNvSpPr/>
              <p:nvPr/>
            </p:nvSpPr>
            <p:spPr>
              <a:xfrm>
                <a:off x="3960712" y="5107530"/>
                <a:ext cx="198000" cy="36000"/>
              </a:xfrm>
              <a:prstGeom prst="rect">
                <a:avLst/>
              </a:prstGeom>
              <a:grpFill/>
              <a:ln w="12700">
                <a:noFill/>
                <a:prstDash val="solid"/>
              </a:ln>
            </p:spPr>
          </p:sp>
          <p:sp>
            <p:nvSpPr>
              <p:cNvPr id="65" name="Shape 52"/>
              <p:cNvSpPr/>
              <p:nvPr/>
            </p:nvSpPr>
            <p:spPr>
              <a:xfrm>
                <a:off x="4158712" y="5107500"/>
                <a:ext cx="198000" cy="36000"/>
              </a:xfrm>
              <a:prstGeom prst="rect">
                <a:avLst/>
              </a:prstGeom>
              <a:grpFill/>
              <a:ln w="12700">
                <a:noFill/>
                <a:prstDash val="solid"/>
              </a:ln>
            </p:spPr>
          </p:sp>
          <p:sp>
            <p:nvSpPr>
              <p:cNvPr id="66" name="Shape 52"/>
              <p:cNvSpPr/>
              <p:nvPr/>
            </p:nvSpPr>
            <p:spPr>
              <a:xfrm>
                <a:off x="4356712" y="5107500"/>
                <a:ext cx="198000" cy="36000"/>
              </a:xfrm>
              <a:prstGeom prst="rect">
                <a:avLst/>
              </a:prstGeom>
              <a:grpFill/>
              <a:ln w="12700">
                <a:noFill/>
                <a:prstDash val="solid"/>
              </a:ln>
            </p:spPr>
          </p:sp>
          <p:sp>
            <p:nvSpPr>
              <p:cNvPr id="67" name="Shape 52"/>
              <p:cNvSpPr/>
              <p:nvPr/>
            </p:nvSpPr>
            <p:spPr>
              <a:xfrm>
                <a:off x="4554712" y="5107500"/>
                <a:ext cx="198000" cy="36000"/>
              </a:xfrm>
              <a:prstGeom prst="rect">
                <a:avLst/>
              </a:prstGeom>
              <a:grpFill/>
              <a:ln w="12700">
                <a:noFill/>
                <a:prstDash val="solid"/>
              </a:ln>
            </p:spPr>
          </p:sp>
          <p:sp>
            <p:nvSpPr>
              <p:cNvPr id="68" name="Shape 52"/>
              <p:cNvSpPr/>
              <p:nvPr/>
            </p:nvSpPr>
            <p:spPr>
              <a:xfrm>
                <a:off x="4752712" y="5107500"/>
                <a:ext cx="198000" cy="36000"/>
              </a:xfrm>
              <a:prstGeom prst="rect">
                <a:avLst/>
              </a:prstGeom>
              <a:grpFill/>
              <a:ln w="12700">
                <a:noFill/>
                <a:prstDash val="solid"/>
              </a:ln>
            </p:spPr>
          </p:sp>
          <p:sp>
            <p:nvSpPr>
              <p:cNvPr id="69" name="Shape 52"/>
              <p:cNvSpPr/>
              <p:nvPr/>
            </p:nvSpPr>
            <p:spPr>
              <a:xfrm>
                <a:off x="4950712" y="5107500"/>
                <a:ext cx="198000" cy="36000"/>
              </a:xfrm>
              <a:prstGeom prst="rect">
                <a:avLst/>
              </a:prstGeom>
              <a:grpFill/>
              <a:ln w="12700">
                <a:noFill/>
                <a:prstDash val="solid"/>
              </a:ln>
            </p:spPr>
          </p:sp>
          <p:sp>
            <p:nvSpPr>
              <p:cNvPr id="70" name="Shape 52"/>
              <p:cNvSpPr/>
              <p:nvPr/>
            </p:nvSpPr>
            <p:spPr>
              <a:xfrm>
                <a:off x="5148712" y="5107500"/>
                <a:ext cx="198000" cy="36000"/>
              </a:xfrm>
              <a:prstGeom prst="rect">
                <a:avLst/>
              </a:prstGeom>
              <a:grpFill/>
              <a:ln w="12700">
                <a:noFill/>
                <a:prstDash val="solid"/>
              </a:ln>
            </p:spPr>
          </p:sp>
          <p:sp>
            <p:nvSpPr>
              <p:cNvPr id="71" name="Shape 52"/>
              <p:cNvSpPr/>
              <p:nvPr/>
            </p:nvSpPr>
            <p:spPr>
              <a:xfrm>
                <a:off x="5346712" y="5108400"/>
                <a:ext cx="198000" cy="36000"/>
              </a:xfrm>
              <a:prstGeom prst="rect">
                <a:avLst/>
              </a:prstGeom>
              <a:grpFill/>
              <a:ln w="12700">
                <a:noFill/>
                <a:prstDash val="solid"/>
              </a:ln>
            </p:spPr>
          </p:sp>
          <p:sp>
            <p:nvSpPr>
              <p:cNvPr id="72" name="Shape 52"/>
              <p:cNvSpPr/>
              <p:nvPr/>
            </p:nvSpPr>
            <p:spPr>
              <a:xfrm>
                <a:off x="5544712" y="5108400"/>
                <a:ext cx="198000" cy="36000"/>
              </a:xfrm>
              <a:prstGeom prst="rect">
                <a:avLst/>
              </a:prstGeom>
              <a:grpFill/>
              <a:ln w="12700">
                <a:noFill/>
                <a:prstDash val="solid"/>
              </a:ln>
            </p:spPr>
          </p:sp>
          <p:sp>
            <p:nvSpPr>
              <p:cNvPr id="73" name="Shape 52"/>
              <p:cNvSpPr/>
              <p:nvPr/>
            </p:nvSpPr>
            <p:spPr>
              <a:xfrm>
                <a:off x="5742712" y="5108400"/>
                <a:ext cx="198000" cy="36000"/>
              </a:xfrm>
              <a:prstGeom prst="rect">
                <a:avLst/>
              </a:prstGeom>
              <a:grpFill/>
              <a:ln w="12700">
                <a:noFill/>
                <a:prstDash val="solid"/>
              </a:ln>
            </p:spPr>
          </p:sp>
          <p:sp>
            <p:nvSpPr>
              <p:cNvPr id="74" name="Shape 52"/>
              <p:cNvSpPr/>
              <p:nvPr/>
            </p:nvSpPr>
            <p:spPr>
              <a:xfrm>
                <a:off x="5940712" y="5108400"/>
                <a:ext cx="198000" cy="36000"/>
              </a:xfrm>
              <a:prstGeom prst="rect">
                <a:avLst/>
              </a:prstGeom>
              <a:grpFill/>
              <a:ln w="12700">
                <a:noFill/>
                <a:prstDash val="solid"/>
              </a:ln>
            </p:spPr>
          </p:sp>
          <p:sp>
            <p:nvSpPr>
              <p:cNvPr id="75" name="Shape 52"/>
              <p:cNvSpPr/>
              <p:nvPr/>
            </p:nvSpPr>
            <p:spPr>
              <a:xfrm>
                <a:off x="6138712" y="5108400"/>
                <a:ext cx="198000" cy="36000"/>
              </a:xfrm>
              <a:prstGeom prst="rect">
                <a:avLst/>
              </a:prstGeom>
              <a:grpFill/>
              <a:ln w="12700">
                <a:noFill/>
                <a:prstDash val="solid"/>
              </a:ln>
            </p:spPr>
          </p:sp>
          <p:sp>
            <p:nvSpPr>
              <p:cNvPr id="76" name="Shape 52"/>
              <p:cNvSpPr/>
              <p:nvPr/>
            </p:nvSpPr>
            <p:spPr>
              <a:xfrm>
                <a:off x="6336712" y="5108400"/>
                <a:ext cx="198000" cy="36000"/>
              </a:xfrm>
              <a:prstGeom prst="rect">
                <a:avLst/>
              </a:prstGeom>
              <a:grpFill/>
              <a:ln w="12700">
                <a:noFill/>
                <a:prstDash val="solid"/>
              </a:ln>
            </p:spPr>
          </p:sp>
          <p:sp>
            <p:nvSpPr>
              <p:cNvPr id="77" name="Shape 52"/>
              <p:cNvSpPr/>
              <p:nvPr/>
            </p:nvSpPr>
            <p:spPr>
              <a:xfrm>
                <a:off x="6534712" y="5108400"/>
                <a:ext cx="198000" cy="36000"/>
              </a:xfrm>
              <a:prstGeom prst="rect">
                <a:avLst/>
              </a:prstGeom>
              <a:grpFill/>
              <a:ln w="12700">
                <a:noFill/>
                <a:prstDash val="solid"/>
              </a:ln>
            </p:spPr>
          </p:sp>
          <p:sp>
            <p:nvSpPr>
              <p:cNvPr id="78" name="Shape 52"/>
              <p:cNvSpPr/>
              <p:nvPr/>
            </p:nvSpPr>
            <p:spPr>
              <a:xfrm>
                <a:off x="6732712" y="5108400"/>
                <a:ext cx="198000" cy="36000"/>
              </a:xfrm>
              <a:prstGeom prst="rect">
                <a:avLst/>
              </a:prstGeom>
              <a:grpFill/>
              <a:ln w="12700">
                <a:noFill/>
                <a:prstDash val="solid"/>
              </a:ln>
            </p:spPr>
          </p:sp>
          <p:sp>
            <p:nvSpPr>
              <p:cNvPr id="79" name="Shape 52"/>
              <p:cNvSpPr/>
              <p:nvPr/>
            </p:nvSpPr>
            <p:spPr>
              <a:xfrm>
                <a:off x="6930712" y="5108400"/>
                <a:ext cx="198000" cy="36000"/>
              </a:xfrm>
              <a:prstGeom prst="rect">
                <a:avLst/>
              </a:prstGeom>
              <a:grpFill/>
              <a:ln w="12700">
                <a:noFill/>
                <a:prstDash val="solid"/>
              </a:ln>
            </p:spPr>
          </p:sp>
          <p:sp>
            <p:nvSpPr>
              <p:cNvPr id="80" name="Shape 52"/>
              <p:cNvSpPr/>
              <p:nvPr/>
            </p:nvSpPr>
            <p:spPr>
              <a:xfrm>
                <a:off x="7128712" y="5108400"/>
                <a:ext cx="198000" cy="36000"/>
              </a:xfrm>
              <a:prstGeom prst="rect">
                <a:avLst/>
              </a:prstGeom>
              <a:grpFill/>
              <a:ln w="12700">
                <a:noFill/>
                <a:prstDash val="solid"/>
              </a:ln>
            </p:spPr>
          </p:sp>
          <p:sp>
            <p:nvSpPr>
              <p:cNvPr id="81" name="Shape 52"/>
              <p:cNvSpPr/>
              <p:nvPr/>
            </p:nvSpPr>
            <p:spPr>
              <a:xfrm>
                <a:off x="7326712" y="5108400"/>
                <a:ext cx="198000" cy="36000"/>
              </a:xfrm>
              <a:prstGeom prst="rect">
                <a:avLst/>
              </a:prstGeom>
              <a:grpFill/>
              <a:ln w="12700">
                <a:noFill/>
                <a:prstDash val="solid"/>
              </a:ln>
            </p:spPr>
          </p:sp>
          <p:sp>
            <p:nvSpPr>
              <p:cNvPr id="82" name="Shape 52"/>
              <p:cNvSpPr/>
              <p:nvPr/>
            </p:nvSpPr>
            <p:spPr>
              <a:xfrm>
                <a:off x="7524712" y="5108400"/>
                <a:ext cx="198000" cy="36000"/>
              </a:xfrm>
              <a:prstGeom prst="rect">
                <a:avLst/>
              </a:prstGeom>
              <a:grpFill/>
              <a:ln w="12700">
                <a:noFill/>
                <a:prstDash val="solid"/>
              </a:ln>
            </p:spPr>
          </p:sp>
          <p:sp>
            <p:nvSpPr>
              <p:cNvPr id="83" name="Shape 52"/>
              <p:cNvSpPr/>
              <p:nvPr/>
            </p:nvSpPr>
            <p:spPr>
              <a:xfrm>
                <a:off x="7722712" y="5108400"/>
                <a:ext cx="198000" cy="36000"/>
              </a:xfrm>
              <a:prstGeom prst="rect">
                <a:avLst/>
              </a:prstGeom>
              <a:grpFill/>
              <a:ln w="12700">
                <a:noFill/>
                <a:prstDash val="solid"/>
              </a:ln>
            </p:spPr>
          </p:sp>
          <p:sp>
            <p:nvSpPr>
              <p:cNvPr id="84" name="Shape 52"/>
              <p:cNvSpPr/>
              <p:nvPr/>
            </p:nvSpPr>
            <p:spPr>
              <a:xfrm>
                <a:off x="7920712" y="5109048"/>
                <a:ext cx="198000" cy="36000"/>
              </a:xfrm>
              <a:prstGeom prst="rect">
                <a:avLst/>
              </a:prstGeom>
              <a:grpFill/>
              <a:ln w="12700">
                <a:noFill/>
                <a:prstDash val="solid"/>
              </a:ln>
            </p:spPr>
          </p:sp>
          <p:sp>
            <p:nvSpPr>
              <p:cNvPr id="85" name="Shape 52"/>
              <p:cNvSpPr/>
              <p:nvPr/>
            </p:nvSpPr>
            <p:spPr>
              <a:xfrm>
                <a:off x="8118712" y="5109048"/>
                <a:ext cx="198000" cy="36000"/>
              </a:xfrm>
              <a:prstGeom prst="rect">
                <a:avLst/>
              </a:prstGeom>
              <a:grpFill/>
              <a:ln w="12700">
                <a:noFill/>
                <a:prstDash val="solid"/>
              </a:ln>
            </p:spPr>
          </p:sp>
          <p:sp>
            <p:nvSpPr>
              <p:cNvPr id="86" name="Shape 52"/>
              <p:cNvSpPr/>
              <p:nvPr/>
            </p:nvSpPr>
            <p:spPr>
              <a:xfrm>
                <a:off x="8316712" y="5109048"/>
                <a:ext cx="198000" cy="36000"/>
              </a:xfrm>
              <a:prstGeom prst="rect">
                <a:avLst/>
              </a:prstGeom>
              <a:grpFill/>
              <a:ln w="12700">
                <a:noFill/>
                <a:prstDash val="solid"/>
              </a:ln>
            </p:spPr>
          </p:sp>
          <p:sp>
            <p:nvSpPr>
              <p:cNvPr id="87" name="Shape 52"/>
              <p:cNvSpPr/>
              <p:nvPr/>
            </p:nvSpPr>
            <p:spPr>
              <a:xfrm>
                <a:off x="8514712" y="5109048"/>
                <a:ext cx="198000" cy="36000"/>
              </a:xfrm>
              <a:prstGeom prst="rect">
                <a:avLst/>
              </a:prstGeom>
              <a:grpFill/>
              <a:ln w="12700">
                <a:noFill/>
                <a:prstDash val="solid"/>
              </a:ln>
            </p:spPr>
          </p:sp>
          <p:sp>
            <p:nvSpPr>
              <p:cNvPr id="88" name="Shape 52"/>
              <p:cNvSpPr/>
              <p:nvPr/>
            </p:nvSpPr>
            <p:spPr>
              <a:xfrm>
                <a:off x="8712712" y="5109048"/>
                <a:ext cx="198000" cy="36000"/>
              </a:xfrm>
              <a:prstGeom prst="rect">
                <a:avLst/>
              </a:prstGeom>
              <a:grpFill/>
              <a:ln w="12700">
                <a:noFill/>
                <a:prstDash val="solid"/>
              </a:ln>
            </p:spPr>
          </p:sp>
          <p:sp>
            <p:nvSpPr>
              <p:cNvPr id="89"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B388FF"/>
          </a:solidFill>
          <a:ln w="12700">
            <a:solidFill>
              <a:srgbClr val="B388FF"/>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iOS Human Interface Guidelines</a:t>
            </a:r>
            <a:endParaRPr lang="en-US" sz="2200" dirty="0"/>
          </a:p>
        </p:txBody>
      </p:sp>
      <p:sp>
        <p:nvSpPr>
          <p:cNvPr id="4" name="Shape 2"/>
          <p:cNvSpPr/>
          <p:nvPr/>
        </p:nvSpPr>
        <p:spPr>
          <a:xfrm>
            <a:off x="320040" y="914400"/>
            <a:ext cx="2743200" cy="182880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5" name="Shape 3"/>
          <p:cNvSpPr/>
          <p:nvPr/>
        </p:nvSpPr>
        <p:spPr>
          <a:xfrm>
            <a:off x="320040" y="914400"/>
            <a:ext cx="45720" cy="1828800"/>
          </a:xfrm>
          <a:prstGeom prst="rect">
            <a:avLst/>
          </a:prstGeom>
          <a:solidFill>
            <a:srgbClr val="B388FF"/>
          </a:solidFill>
          <a:ln w="12700">
            <a:solidFill>
              <a:srgbClr val="B388FF"/>
            </a:solidFill>
            <a:prstDash val="solid"/>
          </a:ln>
        </p:spPr>
      </p:sp>
      <p:sp>
        <p:nvSpPr>
          <p:cNvPr id="6" name="Text 4"/>
          <p:cNvSpPr/>
          <p:nvPr/>
        </p:nvSpPr>
        <p:spPr>
          <a:xfrm>
            <a:off x="429768" y="978408"/>
            <a:ext cx="2587752" cy="256032"/>
          </a:xfrm>
          <a:prstGeom prst="rect">
            <a:avLst/>
          </a:prstGeom>
          <a:noFill/>
          <a:ln/>
        </p:spPr>
        <p:txBody>
          <a:bodyPr wrap="square" lIns="0" tIns="0" rIns="0" bIns="0" rtlCol="0" anchor="t"/>
          <a:lstStyle/>
          <a:p>
            <a:pPr marL="0" indent="0">
              <a:buNone/>
            </a:pPr>
            <a:r>
              <a:rPr lang="en-US" sz="1000" b="1" dirty="0">
                <a:solidFill>
                  <a:srgbClr val="B388FF"/>
                </a:solidFill>
              </a:rPr>
              <a:t>Clarity (Klarowność)</a:t>
            </a:r>
            <a:endParaRPr lang="en-US" sz="1000" dirty="0"/>
          </a:p>
        </p:txBody>
      </p:sp>
      <p:sp>
        <p:nvSpPr>
          <p:cNvPr id="7" name="Text 5"/>
          <p:cNvSpPr/>
          <p:nvPr/>
        </p:nvSpPr>
        <p:spPr>
          <a:xfrm>
            <a:off x="429768" y="1243584"/>
            <a:ext cx="2587752" cy="1444752"/>
          </a:xfrm>
          <a:prstGeom prst="rect">
            <a:avLst/>
          </a:prstGeom>
          <a:noFill/>
          <a:ln/>
        </p:spPr>
        <p:txBody>
          <a:bodyPr wrap="square" lIns="0" tIns="0" rIns="0" bIns="0" rtlCol="0" anchor="t"/>
          <a:lstStyle/>
          <a:p>
            <a:pPr marL="0" indent="0">
              <a:buNone/>
            </a:pPr>
            <a:r>
              <a:rPr lang="en-US" sz="950" dirty="0">
                <a:solidFill>
                  <a:srgbClr val="CCDDEE"/>
                </a:solidFill>
              </a:rPr>
              <a:t>Tekst czytelny, ikony precyzyjne, grafika ostra. Użytkownik rozumie interfejs na pierwszy rzut oka. Czytelna typografia i precyzyjne ikony.</a:t>
            </a:r>
            <a:endParaRPr lang="en-US" sz="950" dirty="0"/>
          </a:p>
        </p:txBody>
      </p:sp>
      <p:sp>
        <p:nvSpPr>
          <p:cNvPr id="8" name="Shape 6"/>
          <p:cNvSpPr/>
          <p:nvPr/>
        </p:nvSpPr>
        <p:spPr>
          <a:xfrm>
            <a:off x="3200400" y="914400"/>
            <a:ext cx="2743200" cy="182880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9" name="Shape 7"/>
          <p:cNvSpPr/>
          <p:nvPr/>
        </p:nvSpPr>
        <p:spPr>
          <a:xfrm>
            <a:off x="3200400" y="914400"/>
            <a:ext cx="45720" cy="1828800"/>
          </a:xfrm>
          <a:prstGeom prst="rect">
            <a:avLst/>
          </a:prstGeom>
          <a:solidFill>
            <a:srgbClr val="00D4FF"/>
          </a:solidFill>
          <a:ln w="12700">
            <a:solidFill>
              <a:srgbClr val="00D4FF"/>
            </a:solidFill>
            <a:prstDash val="solid"/>
          </a:ln>
        </p:spPr>
      </p:sp>
      <p:sp>
        <p:nvSpPr>
          <p:cNvPr id="10" name="Text 8"/>
          <p:cNvSpPr/>
          <p:nvPr/>
        </p:nvSpPr>
        <p:spPr>
          <a:xfrm>
            <a:off x="3310128" y="978408"/>
            <a:ext cx="2587752" cy="256032"/>
          </a:xfrm>
          <a:prstGeom prst="rect">
            <a:avLst/>
          </a:prstGeom>
          <a:noFill/>
          <a:ln/>
        </p:spPr>
        <p:txBody>
          <a:bodyPr wrap="square" lIns="0" tIns="0" rIns="0" bIns="0" rtlCol="0" anchor="t"/>
          <a:lstStyle/>
          <a:p>
            <a:pPr marL="0" indent="0">
              <a:buNone/>
            </a:pPr>
            <a:r>
              <a:rPr lang="en-US" sz="1000" b="1" dirty="0">
                <a:solidFill>
                  <a:srgbClr val="00D4FF"/>
                </a:solidFill>
              </a:rPr>
              <a:t>Deference (Ustępowanie)</a:t>
            </a:r>
            <a:endParaRPr lang="en-US" sz="1000" dirty="0"/>
          </a:p>
        </p:txBody>
      </p:sp>
      <p:sp>
        <p:nvSpPr>
          <p:cNvPr id="11" name="Text 9"/>
          <p:cNvSpPr/>
          <p:nvPr/>
        </p:nvSpPr>
        <p:spPr>
          <a:xfrm>
            <a:off x="3310128" y="1243584"/>
            <a:ext cx="2587752" cy="1444752"/>
          </a:xfrm>
          <a:prstGeom prst="rect">
            <a:avLst/>
          </a:prstGeom>
          <a:noFill/>
          <a:ln/>
        </p:spPr>
        <p:txBody>
          <a:bodyPr wrap="square" lIns="0" tIns="0" rIns="0" bIns="0" rtlCol="0" anchor="t"/>
          <a:lstStyle/>
          <a:p>
            <a:pPr marL="0" indent="0">
              <a:buNone/>
            </a:pPr>
            <a:r>
              <a:rPr lang="en-US" sz="950" dirty="0">
                <a:solidFill>
                  <a:srgbClr val="CCDDEE"/>
                </a:solidFill>
              </a:rPr>
              <a:t>Interfejs nie dominuje nad treścią. Treść jest na pierwszym planie, UI wspiera, nie rozprasza. Minimalizm i transparentność.</a:t>
            </a:r>
            <a:endParaRPr lang="en-US" sz="950" dirty="0"/>
          </a:p>
        </p:txBody>
      </p:sp>
      <p:sp>
        <p:nvSpPr>
          <p:cNvPr id="12" name="Shape 10"/>
          <p:cNvSpPr/>
          <p:nvPr/>
        </p:nvSpPr>
        <p:spPr>
          <a:xfrm>
            <a:off x="6080760" y="914400"/>
            <a:ext cx="2743200" cy="182880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13" name="Shape 11"/>
          <p:cNvSpPr/>
          <p:nvPr/>
        </p:nvSpPr>
        <p:spPr>
          <a:xfrm>
            <a:off x="6080760" y="914400"/>
            <a:ext cx="45720" cy="1828800"/>
          </a:xfrm>
          <a:prstGeom prst="rect">
            <a:avLst/>
          </a:prstGeom>
          <a:solidFill>
            <a:srgbClr val="FF2D78"/>
          </a:solidFill>
          <a:ln w="12700">
            <a:solidFill>
              <a:srgbClr val="FF2D78"/>
            </a:solidFill>
            <a:prstDash val="solid"/>
          </a:ln>
        </p:spPr>
      </p:sp>
      <p:sp>
        <p:nvSpPr>
          <p:cNvPr id="14" name="Text 12"/>
          <p:cNvSpPr/>
          <p:nvPr/>
        </p:nvSpPr>
        <p:spPr>
          <a:xfrm>
            <a:off x="6190488" y="978408"/>
            <a:ext cx="2587752" cy="256032"/>
          </a:xfrm>
          <a:prstGeom prst="rect">
            <a:avLst/>
          </a:prstGeom>
          <a:noFill/>
          <a:ln/>
        </p:spPr>
        <p:txBody>
          <a:bodyPr wrap="square" lIns="0" tIns="0" rIns="0" bIns="0" rtlCol="0" anchor="t"/>
          <a:lstStyle/>
          <a:p>
            <a:pPr marL="0" indent="0">
              <a:buNone/>
            </a:pPr>
            <a:r>
              <a:rPr lang="en-US" sz="1000" b="1" dirty="0">
                <a:solidFill>
                  <a:srgbClr val="FF2D78"/>
                </a:solidFill>
              </a:rPr>
              <a:t>Depth (Głębia)</a:t>
            </a:r>
            <a:endParaRPr lang="en-US" sz="1000" dirty="0"/>
          </a:p>
        </p:txBody>
      </p:sp>
      <p:sp>
        <p:nvSpPr>
          <p:cNvPr id="15" name="Text 13"/>
          <p:cNvSpPr/>
          <p:nvPr/>
        </p:nvSpPr>
        <p:spPr>
          <a:xfrm>
            <a:off x="6190488" y="1243584"/>
            <a:ext cx="2587752" cy="1444752"/>
          </a:xfrm>
          <a:prstGeom prst="rect">
            <a:avLst/>
          </a:prstGeom>
          <a:noFill/>
          <a:ln/>
        </p:spPr>
        <p:txBody>
          <a:bodyPr wrap="square" lIns="0" tIns="0" rIns="0" bIns="0" rtlCol="0" anchor="t"/>
          <a:lstStyle/>
          <a:p>
            <a:pPr marL="0" indent="0">
              <a:buNone/>
            </a:pPr>
            <a:r>
              <a:rPr lang="en-US" sz="950" dirty="0">
                <a:solidFill>
                  <a:srgbClr val="CCDDEE"/>
                </a:solidFill>
              </a:rPr>
              <a:t>Warstwy wizualne i realistyczne ruchy tworzą hierarchię. Użytkownik rozumie relacje między elementami przez animacje.</a:t>
            </a:r>
            <a:endParaRPr lang="en-US" sz="950" dirty="0"/>
          </a:p>
        </p:txBody>
      </p:sp>
      <p:sp>
        <p:nvSpPr>
          <p:cNvPr id="16" name="Shape 14"/>
          <p:cNvSpPr/>
          <p:nvPr/>
        </p:nvSpPr>
        <p:spPr>
          <a:xfrm>
            <a:off x="320040" y="2834640"/>
            <a:ext cx="2743200" cy="841248"/>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17" name="Shape 15"/>
          <p:cNvSpPr/>
          <p:nvPr/>
        </p:nvSpPr>
        <p:spPr>
          <a:xfrm>
            <a:off x="320040" y="2834640"/>
            <a:ext cx="45720" cy="841248"/>
          </a:xfrm>
          <a:prstGeom prst="rect">
            <a:avLst/>
          </a:prstGeom>
          <a:solidFill>
            <a:srgbClr val="B388FF"/>
          </a:solidFill>
          <a:ln w="12700">
            <a:solidFill>
              <a:srgbClr val="B388FF"/>
            </a:solidFill>
            <a:prstDash val="solid"/>
          </a:ln>
        </p:spPr>
      </p:sp>
      <p:sp>
        <p:nvSpPr>
          <p:cNvPr id="18" name="Text 16"/>
          <p:cNvSpPr/>
          <p:nvPr/>
        </p:nvSpPr>
        <p:spPr>
          <a:xfrm>
            <a:off x="429768" y="2898648"/>
            <a:ext cx="2587752" cy="256032"/>
          </a:xfrm>
          <a:prstGeom prst="rect">
            <a:avLst/>
          </a:prstGeom>
          <a:noFill/>
          <a:ln/>
        </p:spPr>
        <p:txBody>
          <a:bodyPr wrap="square" lIns="0" tIns="0" rIns="0" bIns="0" rtlCol="0" anchor="t"/>
          <a:lstStyle/>
          <a:p>
            <a:pPr marL="0" indent="0">
              <a:buNone/>
            </a:pPr>
            <a:r>
              <a:rPr lang="en-US" sz="1000" b="1" dirty="0">
                <a:solidFill>
                  <a:srgbClr val="B388FF"/>
                </a:solidFill>
              </a:rPr>
              <a:t>Systemowe Komponenty UI</a:t>
            </a:r>
            <a:endParaRPr lang="en-US" sz="1000" dirty="0"/>
          </a:p>
        </p:txBody>
      </p:sp>
      <p:sp>
        <p:nvSpPr>
          <p:cNvPr id="19" name="Text 17"/>
          <p:cNvSpPr/>
          <p:nvPr/>
        </p:nvSpPr>
        <p:spPr>
          <a:xfrm>
            <a:off x="429768" y="3163824"/>
            <a:ext cx="2587752" cy="457200"/>
          </a:xfrm>
          <a:prstGeom prst="rect">
            <a:avLst/>
          </a:prstGeom>
          <a:noFill/>
          <a:ln/>
        </p:spPr>
        <p:txBody>
          <a:bodyPr wrap="square" lIns="0" tIns="0" rIns="0" bIns="0" rtlCol="0" anchor="t"/>
          <a:lstStyle/>
          <a:p>
            <a:pPr marL="0" indent="0">
              <a:buNone/>
            </a:pPr>
            <a:r>
              <a:rPr lang="en-US" sz="850" dirty="0">
                <a:solidFill>
                  <a:srgbClr val="CCDDEE"/>
                </a:solidFill>
              </a:rPr>
              <a:t>Używaj natywnych: UIButton, UITableView, UINavigationController</a:t>
            </a:r>
            <a:endParaRPr lang="en-US" sz="850" dirty="0"/>
          </a:p>
        </p:txBody>
      </p:sp>
      <p:sp>
        <p:nvSpPr>
          <p:cNvPr id="20" name="Shape 18"/>
          <p:cNvSpPr/>
          <p:nvPr/>
        </p:nvSpPr>
        <p:spPr>
          <a:xfrm>
            <a:off x="3200400" y="2834640"/>
            <a:ext cx="2743200" cy="841248"/>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21" name="Shape 19"/>
          <p:cNvSpPr/>
          <p:nvPr/>
        </p:nvSpPr>
        <p:spPr>
          <a:xfrm>
            <a:off x="3200400" y="2834640"/>
            <a:ext cx="45720" cy="841248"/>
          </a:xfrm>
          <a:prstGeom prst="rect">
            <a:avLst/>
          </a:prstGeom>
          <a:solidFill>
            <a:srgbClr val="00D4FF"/>
          </a:solidFill>
          <a:ln w="12700">
            <a:solidFill>
              <a:srgbClr val="00D4FF"/>
            </a:solidFill>
            <a:prstDash val="solid"/>
          </a:ln>
        </p:spPr>
      </p:sp>
      <p:sp>
        <p:nvSpPr>
          <p:cNvPr id="22" name="Text 20"/>
          <p:cNvSpPr/>
          <p:nvPr/>
        </p:nvSpPr>
        <p:spPr>
          <a:xfrm>
            <a:off x="3310128" y="2898648"/>
            <a:ext cx="2587752" cy="256032"/>
          </a:xfrm>
          <a:prstGeom prst="rect">
            <a:avLst/>
          </a:prstGeom>
          <a:noFill/>
          <a:ln/>
        </p:spPr>
        <p:txBody>
          <a:bodyPr wrap="square" lIns="0" tIns="0" rIns="0" bIns="0" rtlCol="0" anchor="t"/>
          <a:lstStyle/>
          <a:p>
            <a:pPr marL="0" indent="0">
              <a:buNone/>
            </a:pPr>
            <a:r>
              <a:rPr lang="en-US" sz="1000" b="1" dirty="0">
                <a:solidFill>
                  <a:srgbClr val="00D4FF"/>
                </a:solidFill>
              </a:rPr>
              <a:t>Gestury Systemowe</a:t>
            </a:r>
            <a:endParaRPr lang="en-US" sz="1000" dirty="0"/>
          </a:p>
        </p:txBody>
      </p:sp>
      <p:sp>
        <p:nvSpPr>
          <p:cNvPr id="23" name="Text 21"/>
          <p:cNvSpPr/>
          <p:nvPr/>
        </p:nvSpPr>
        <p:spPr>
          <a:xfrm>
            <a:off x="3310128" y="3163824"/>
            <a:ext cx="2587752" cy="457200"/>
          </a:xfrm>
          <a:prstGeom prst="rect">
            <a:avLst/>
          </a:prstGeom>
          <a:noFill/>
          <a:ln/>
        </p:spPr>
        <p:txBody>
          <a:bodyPr wrap="square" lIns="0" tIns="0" rIns="0" bIns="0" rtlCol="0" anchor="t"/>
          <a:lstStyle/>
          <a:p>
            <a:pPr marL="0" indent="0">
              <a:buNone/>
            </a:pPr>
            <a:r>
              <a:rPr lang="en-US" sz="850" dirty="0">
                <a:solidFill>
                  <a:srgbClr val="CCDDEE"/>
                </a:solidFill>
              </a:rPr>
              <a:t>Swipe back, pull-to-refresh, pinch-to-zoom — standardowe gesty iOS</a:t>
            </a:r>
            <a:endParaRPr lang="en-US" sz="850" dirty="0"/>
          </a:p>
        </p:txBody>
      </p:sp>
      <p:sp>
        <p:nvSpPr>
          <p:cNvPr id="24" name="Shape 22"/>
          <p:cNvSpPr/>
          <p:nvPr/>
        </p:nvSpPr>
        <p:spPr>
          <a:xfrm>
            <a:off x="6080760" y="2834640"/>
            <a:ext cx="2743200" cy="841248"/>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25" name="Shape 23"/>
          <p:cNvSpPr/>
          <p:nvPr/>
        </p:nvSpPr>
        <p:spPr>
          <a:xfrm>
            <a:off x="6080760" y="2834640"/>
            <a:ext cx="45720" cy="841248"/>
          </a:xfrm>
          <a:prstGeom prst="rect">
            <a:avLst/>
          </a:prstGeom>
          <a:solidFill>
            <a:srgbClr val="FF2D78"/>
          </a:solidFill>
          <a:ln w="12700">
            <a:solidFill>
              <a:srgbClr val="FF2D78"/>
            </a:solidFill>
            <a:prstDash val="solid"/>
          </a:ln>
        </p:spPr>
      </p:sp>
      <p:sp>
        <p:nvSpPr>
          <p:cNvPr id="26" name="Text 24"/>
          <p:cNvSpPr/>
          <p:nvPr/>
        </p:nvSpPr>
        <p:spPr>
          <a:xfrm>
            <a:off x="6190488" y="2898648"/>
            <a:ext cx="2587752" cy="256032"/>
          </a:xfrm>
          <a:prstGeom prst="rect">
            <a:avLst/>
          </a:prstGeom>
          <a:noFill/>
          <a:ln/>
        </p:spPr>
        <p:txBody>
          <a:bodyPr wrap="square" lIns="0" tIns="0" rIns="0" bIns="0" rtlCol="0" anchor="t"/>
          <a:lstStyle/>
          <a:p>
            <a:pPr marL="0" indent="0">
              <a:buNone/>
            </a:pPr>
            <a:r>
              <a:rPr lang="en-US" sz="1000" b="1" dirty="0">
                <a:solidFill>
                  <a:srgbClr val="FF2D78"/>
                </a:solidFill>
              </a:rPr>
              <a:t>Dark Mode (od iOS 13)</a:t>
            </a:r>
            <a:endParaRPr lang="en-US" sz="1000" dirty="0"/>
          </a:p>
        </p:txBody>
      </p:sp>
      <p:sp>
        <p:nvSpPr>
          <p:cNvPr id="27" name="Text 25"/>
          <p:cNvSpPr/>
          <p:nvPr/>
        </p:nvSpPr>
        <p:spPr>
          <a:xfrm>
            <a:off x="6190488" y="3163824"/>
            <a:ext cx="2587752" cy="457200"/>
          </a:xfrm>
          <a:prstGeom prst="rect">
            <a:avLst/>
          </a:prstGeom>
          <a:noFill/>
          <a:ln/>
        </p:spPr>
        <p:txBody>
          <a:bodyPr wrap="square" lIns="0" tIns="0" rIns="0" bIns="0" rtlCol="0" anchor="t"/>
          <a:lstStyle/>
          <a:p>
            <a:pPr marL="0" indent="0">
              <a:buNone/>
            </a:pPr>
            <a:r>
              <a:rPr lang="en-US" sz="850" dirty="0">
                <a:solidFill>
                  <a:srgbClr val="CCDDEE"/>
                </a:solidFill>
              </a:rPr>
              <a:t>Wsparcie obowiązkowe. Dynamiczne kolory systemowe. UIColor.label.</a:t>
            </a:r>
            <a:endParaRPr lang="en-US" sz="850" dirty="0"/>
          </a:p>
        </p:txBody>
      </p:sp>
      <p:sp>
        <p:nvSpPr>
          <p:cNvPr id="28" name="Shape 26"/>
          <p:cNvSpPr/>
          <p:nvPr/>
        </p:nvSpPr>
        <p:spPr>
          <a:xfrm>
            <a:off x="320040" y="3794760"/>
            <a:ext cx="2743200" cy="841248"/>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29" name="Shape 27"/>
          <p:cNvSpPr/>
          <p:nvPr/>
        </p:nvSpPr>
        <p:spPr>
          <a:xfrm>
            <a:off x="320040" y="3794760"/>
            <a:ext cx="45720" cy="841248"/>
          </a:xfrm>
          <a:prstGeom prst="rect">
            <a:avLst/>
          </a:prstGeom>
          <a:solidFill>
            <a:srgbClr val="00E676"/>
          </a:solidFill>
          <a:ln w="12700">
            <a:solidFill>
              <a:srgbClr val="00E676"/>
            </a:solidFill>
            <a:prstDash val="solid"/>
          </a:ln>
        </p:spPr>
      </p:sp>
      <p:sp>
        <p:nvSpPr>
          <p:cNvPr id="30" name="Text 28"/>
          <p:cNvSpPr/>
          <p:nvPr/>
        </p:nvSpPr>
        <p:spPr>
          <a:xfrm>
            <a:off x="429768" y="3858768"/>
            <a:ext cx="2587752" cy="256032"/>
          </a:xfrm>
          <a:prstGeom prst="rect">
            <a:avLst/>
          </a:prstGeom>
          <a:noFill/>
          <a:ln/>
        </p:spPr>
        <p:txBody>
          <a:bodyPr wrap="square" lIns="0" tIns="0" rIns="0" bIns="0" rtlCol="0" anchor="t"/>
          <a:lstStyle/>
          <a:p>
            <a:pPr marL="0" indent="0">
              <a:buNone/>
            </a:pPr>
            <a:r>
              <a:rPr lang="en-US" sz="1000" b="1" dirty="0">
                <a:solidFill>
                  <a:srgbClr val="00E676"/>
                </a:solidFill>
              </a:rPr>
              <a:t>San Francisco Font</a:t>
            </a:r>
            <a:endParaRPr lang="en-US" sz="1000" dirty="0"/>
          </a:p>
        </p:txBody>
      </p:sp>
      <p:sp>
        <p:nvSpPr>
          <p:cNvPr id="31" name="Text 29"/>
          <p:cNvSpPr/>
          <p:nvPr/>
        </p:nvSpPr>
        <p:spPr>
          <a:xfrm>
            <a:off x="429768" y="4123944"/>
            <a:ext cx="2587752" cy="457200"/>
          </a:xfrm>
          <a:prstGeom prst="rect">
            <a:avLst/>
          </a:prstGeom>
          <a:noFill/>
          <a:ln/>
        </p:spPr>
        <p:txBody>
          <a:bodyPr wrap="square" lIns="0" tIns="0" rIns="0" bIns="0" rtlCol="0" anchor="t"/>
          <a:lstStyle/>
          <a:p>
            <a:pPr marL="0" indent="0">
              <a:buNone/>
            </a:pPr>
            <a:r>
              <a:rPr lang="en-US" sz="850" dirty="0">
                <a:solidFill>
                  <a:srgbClr val="CCDDEE"/>
                </a:solidFill>
              </a:rPr>
              <a:t>Systemowa czcionka zoptymalizowana dla ekranów Retina Apple</a:t>
            </a:r>
            <a:endParaRPr lang="en-US" sz="850" dirty="0"/>
          </a:p>
        </p:txBody>
      </p:sp>
      <p:sp>
        <p:nvSpPr>
          <p:cNvPr id="32" name="Shape 30"/>
          <p:cNvSpPr/>
          <p:nvPr/>
        </p:nvSpPr>
        <p:spPr>
          <a:xfrm>
            <a:off x="3200400" y="3794760"/>
            <a:ext cx="2743200" cy="841248"/>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33" name="Shape 31"/>
          <p:cNvSpPr/>
          <p:nvPr/>
        </p:nvSpPr>
        <p:spPr>
          <a:xfrm>
            <a:off x="3200400" y="3794760"/>
            <a:ext cx="45720" cy="841248"/>
          </a:xfrm>
          <a:prstGeom prst="rect">
            <a:avLst/>
          </a:prstGeom>
          <a:solidFill>
            <a:srgbClr val="FF9100"/>
          </a:solidFill>
          <a:ln w="12700">
            <a:solidFill>
              <a:srgbClr val="FF9100"/>
            </a:solidFill>
            <a:prstDash val="solid"/>
          </a:ln>
        </p:spPr>
      </p:sp>
      <p:sp>
        <p:nvSpPr>
          <p:cNvPr id="34" name="Text 32"/>
          <p:cNvSpPr/>
          <p:nvPr/>
        </p:nvSpPr>
        <p:spPr>
          <a:xfrm>
            <a:off x="3310128" y="3858768"/>
            <a:ext cx="2587752" cy="256032"/>
          </a:xfrm>
          <a:prstGeom prst="rect">
            <a:avLst/>
          </a:prstGeom>
          <a:noFill/>
          <a:ln/>
        </p:spPr>
        <p:txBody>
          <a:bodyPr wrap="square" lIns="0" tIns="0" rIns="0" bIns="0" rtlCol="0" anchor="t"/>
          <a:lstStyle/>
          <a:p>
            <a:pPr marL="0" indent="0">
              <a:buNone/>
            </a:pPr>
            <a:r>
              <a:rPr lang="en-US" sz="1000" b="1" dirty="0">
                <a:solidFill>
                  <a:srgbClr val="FF9100"/>
                </a:solidFill>
              </a:rPr>
              <a:t>Auto Layout / Size Classes</a:t>
            </a:r>
            <a:endParaRPr lang="en-US" sz="1000" dirty="0"/>
          </a:p>
        </p:txBody>
      </p:sp>
      <p:sp>
        <p:nvSpPr>
          <p:cNvPr id="35" name="Text 33"/>
          <p:cNvSpPr/>
          <p:nvPr/>
        </p:nvSpPr>
        <p:spPr>
          <a:xfrm>
            <a:off x="3310128" y="4123944"/>
            <a:ext cx="2587752" cy="457200"/>
          </a:xfrm>
          <a:prstGeom prst="rect">
            <a:avLst/>
          </a:prstGeom>
          <a:noFill/>
          <a:ln/>
        </p:spPr>
        <p:txBody>
          <a:bodyPr wrap="square" lIns="0" tIns="0" rIns="0" bIns="0" rtlCol="0" anchor="t"/>
          <a:lstStyle/>
          <a:p>
            <a:pPr marL="0" indent="0">
              <a:buNone/>
            </a:pPr>
            <a:r>
              <a:rPr lang="en-US" sz="850" dirty="0">
                <a:solidFill>
                  <a:srgbClr val="CCDDEE"/>
                </a:solidFill>
              </a:rPr>
              <a:t>Responsywność na iPhone i iPad — jeden kod, wiele rozmiarów</a:t>
            </a:r>
            <a:endParaRPr lang="en-US" sz="850" dirty="0"/>
          </a:p>
        </p:txBody>
      </p:sp>
      <p:sp>
        <p:nvSpPr>
          <p:cNvPr id="38" name="Text 36"/>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19 / </a:t>
            </a:r>
            <a:r>
              <a:rPr lang="pl-PL" sz="800" dirty="0" smtClean="0">
                <a:solidFill>
                  <a:srgbClr val="8899AA"/>
                </a:solidFill>
              </a:rPr>
              <a:t>46</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a:effectLst/>
      </p:bgPr>
    </p:bg>
    <p:spTree>
      <p:nvGrpSpPr>
        <p:cNvPr id="1" name=""/>
        <p:cNvGrpSpPr/>
        <p:nvPr/>
      </p:nvGrpSpPr>
      <p:grpSpPr>
        <a:xfrm>
          <a:off x="0" y="0"/>
          <a:ext cx="0" cy="0"/>
          <a:chOff x="0" y="0"/>
          <a:chExt cx="0" cy="0"/>
        </a:xfrm>
      </p:grpSpPr>
      <p:grpSp>
        <p:nvGrpSpPr>
          <p:cNvPr id="39" name="Grupa 38"/>
          <p:cNvGrpSpPr/>
          <p:nvPr/>
        </p:nvGrpSpPr>
        <p:grpSpPr>
          <a:xfrm>
            <a:off x="-2381" y="4884912"/>
            <a:ext cx="9146381" cy="260136"/>
            <a:chOff x="-2381" y="4884912"/>
            <a:chExt cx="9146381" cy="260136"/>
          </a:xfrm>
        </p:grpSpPr>
        <p:sp>
          <p:nvSpPr>
            <p:cNvPr id="40" name="Shape 52"/>
            <p:cNvSpPr/>
            <p:nvPr/>
          </p:nvSpPr>
          <p:spPr>
            <a:xfrm>
              <a:off x="0" y="4884912"/>
              <a:ext cx="9144000" cy="252000"/>
            </a:xfrm>
            <a:prstGeom prst="rect">
              <a:avLst/>
            </a:prstGeom>
            <a:solidFill>
              <a:srgbClr val="071523"/>
            </a:solidFill>
            <a:ln w="12700">
              <a:solidFill>
                <a:srgbClr val="071523"/>
              </a:solidFill>
              <a:prstDash val="solid"/>
            </a:ln>
          </p:spPr>
        </p:sp>
        <p:sp>
          <p:nvSpPr>
            <p:cNvPr id="41"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42" name="Grupa 41"/>
            <p:cNvGrpSpPr/>
            <p:nvPr/>
          </p:nvGrpSpPr>
          <p:grpSpPr>
            <a:xfrm>
              <a:off x="-2381" y="5099329"/>
              <a:ext cx="9146381" cy="45719"/>
              <a:chOff x="-2381" y="5107500"/>
              <a:chExt cx="9111093" cy="37548"/>
            </a:xfrm>
            <a:solidFill>
              <a:schemeClr val="tx1"/>
            </a:solidFill>
          </p:grpSpPr>
          <p:sp>
            <p:nvSpPr>
              <p:cNvPr id="43"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44"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45"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46"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47"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48"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49"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50"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62"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63" name="Shape 52"/>
              <p:cNvSpPr/>
              <p:nvPr/>
            </p:nvSpPr>
            <p:spPr>
              <a:xfrm>
                <a:off x="3960712" y="5107530"/>
                <a:ext cx="198000" cy="36000"/>
              </a:xfrm>
              <a:prstGeom prst="rect">
                <a:avLst/>
              </a:prstGeom>
              <a:grpFill/>
              <a:ln w="12700">
                <a:noFill/>
                <a:prstDash val="solid"/>
              </a:ln>
            </p:spPr>
          </p:sp>
          <p:sp>
            <p:nvSpPr>
              <p:cNvPr id="64" name="Shape 52"/>
              <p:cNvSpPr/>
              <p:nvPr/>
            </p:nvSpPr>
            <p:spPr>
              <a:xfrm>
                <a:off x="4158712" y="5107500"/>
                <a:ext cx="198000" cy="36000"/>
              </a:xfrm>
              <a:prstGeom prst="rect">
                <a:avLst/>
              </a:prstGeom>
              <a:grpFill/>
              <a:ln w="12700">
                <a:noFill/>
                <a:prstDash val="solid"/>
              </a:ln>
            </p:spPr>
          </p:sp>
          <p:sp>
            <p:nvSpPr>
              <p:cNvPr id="65" name="Shape 52"/>
              <p:cNvSpPr/>
              <p:nvPr/>
            </p:nvSpPr>
            <p:spPr>
              <a:xfrm>
                <a:off x="4356712" y="5107500"/>
                <a:ext cx="198000" cy="36000"/>
              </a:xfrm>
              <a:prstGeom prst="rect">
                <a:avLst/>
              </a:prstGeom>
              <a:grpFill/>
              <a:ln w="12700">
                <a:noFill/>
                <a:prstDash val="solid"/>
              </a:ln>
            </p:spPr>
          </p:sp>
          <p:sp>
            <p:nvSpPr>
              <p:cNvPr id="66" name="Shape 52"/>
              <p:cNvSpPr/>
              <p:nvPr/>
            </p:nvSpPr>
            <p:spPr>
              <a:xfrm>
                <a:off x="4554712" y="5107500"/>
                <a:ext cx="198000" cy="36000"/>
              </a:xfrm>
              <a:prstGeom prst="rect">
                <a:avLst/>
              </a:prstGeom>
              <a:grpFill/>
              <a:ln w="12700">
                <a:noFill/>
                <a:prstDash val="solid"/>
              </a:ln>
            </p:spPr>
          </p:sp>
          <p:sp>
            <p:nvSpPr>
              <p:cNvPr id="67" name="Shape 52"/>
              <p:cNvSpPr/>
              <p:nvPr/>
            </p:nvSpPr>
            <p:spPr>
              <a:xfrm>
                <a:off x="4752712" y="5107500"/>
                <a:ext cx="198000" cy="36000"/>
              </a:xfrm>
              <a:prstGeom prst="rect">
                <a:avLst/>
              </a:prstGeom>
              <a:grpFill/>
              <a:ln w="12700">
                <a:noFill/>
                <a:prstDash val="solid"/>
              </a:ln>
            </p:spPr>
          </p:sp>
          <p:sp>
            <p:nvSpPr>
              <p:cNvPr id="68" name="Shape 52"/>
              <p:cNvSpPr/>
              <p:nvPr/>
            </p:nvSpPr>
            <p:spPr>
              <a:xfrm>
                <a:off x="4950712" y="5107500"/>
                <a:ext cx="198000" cy="36000"/>
              </a:xfrm>
              <a:prstGeom prst="rect">
                <a:avLst/>
              </a:prstGeom>
              <a:grpFill/>
              <a:ln w="12700">
                <a:noFill/>
                <a:prstDash val="solid"/>
              </a:ln>
            </p:spPr>
          </p:sp>
          <p:sp>
            <p:nvSpPr>
              <p:cNvPr id="69" name="Shape 52"/>
              <p:cNvSpPr/>
              <p:nvPr/>
            </p:nvSpPr>
            <p:spPr>
              <a:xfrm>
                <a:off x="5148712" y="5107500"/>
                <a:ext cx="198000" cy="36000"/>
              </a:xfrm>
              <a:prstGeom prst="rect">
                <a:avLst/>
              </a:prstGeom>
              <a:grpFill/>
              <a:ln w="12700">
                <a:noFill/>
                <a:prstDash val="solid"/>
              </a:ln>
            </p:spPr>
          </p:sp>
          <p:sp>
            <p:nvSpPr>
              <p:cNvPr id="70" name="Shape 52"/>
              <p:cNvSpPr/>
              <p:nvPr/>
            </p:nvSpPr>
            <p:spPr>
              <a:xfrm>
                <a:off x="5346712" y="5108400"/>
                <a:ext cx="198000" cy="36000"/>
              </a:xfrm>
              <a:prstGeom prst="rect">
                <a:avLst/>
              </a:prstGeom>
              <a:grpFill/>
              <a:ln w="12700">
                <a:noFill/>
                <a:prstDash val="solid"/>
              </a:ln>
            </p:spPr>
          </p:sp>
          <p:sp>
            <p:nvSpPr>
              <p:cNvPr id="71" name="Shape 52"/>
              <p:cNvSpPr/>
              <p:nvPr/>
            </p:nvSpPr>
            <p:spPr>
              <a:xfrm>
                <a:off x="5544712" y="5108400"/>
                <a:ext cx="198000" cy="36000"/>
              </a:xfrm>
              <a:prstGeom prst="rect">
                <a:avLst/>
              </a:prstGeom>
              <a:grpFill/>
              <a:ln w="12700">
                <a:noFill/>
                <a:prstDash val="solid"/>
              </a:ln>
            </p:spPr>
          </p:sp>
          <p:sp>
            <p:nvSpPr>
              <p:cNvPr id="72" name="Shape 52"/>
              <p:cNvSpPr/>
              <p:nvPr/>
            </p:nvSpPr>
            <p:spPr>
              <a:xfrm>
                <a:off x="5742712" y="5108400"/>
                <a:ext cx="198000" cy="36000"/>
              </a:xfrm>
              <a:prstGeom prst="rect">
                <a:avLst/>
              </a:prstGeom>
              <a:grpFill/>
              <a:ln w="12700">
                <a:noFill/>
                <a:prstDash val="solid"/>
              </a:ln>
            </p:spPr>
          </p:sp>
          <p:sp>
            <p:nvSpPr>
              <p:cNvPr id="73" name="Shape 52"/>
              <p:cNvSpPr/>
              <p:nvPr/>
            </p:nvSpPr>
            <p:spPr>
              <a:xfrm>
                <a:off x="5940712" y="5108400"/>
                <a:ext cx="198000" cy="36000"/>
              </a:xfrm>
              <a:prstGeom prst="rect">
                <a:avLst/>
              </a:prstGeom>
              <a:grpFill/>
              <a:ln w="12700">
                <a:noFill/>
                <a:prstDash val="solid"/>
              </a:ln>
            </p:spPr>
          </p:sp>
          <p:sp>
            <p:nvSpPr>
              <p:cNvPr id="74" name="Shape 52"/>
              <p:cNvSpPr/>
              <p:nvPr/>
            </p:nvSpPr>
            <p:spPr>
              <a:xfrm>
                <a:off x="6138712" y="5108400"/>
                <a:ext cx="198000" cy="36000"/>
              </a:xfrm>
              <a:prstGeom prst="rect">
                <a:avLst/>
              </a:prstGeom>
              <a:grpFill/>
              <a:ln w="12700">
                <a:noFill/>
                <a:prstDash val="solid"/>
              </a:ln>
            </p:spPr>
          </p:sp>
          <p:sp>
            <p:nvSpPr>
              <p:cNvPr id="75" name="Shape 52"/>
              <p:cNvSpPr/>
              <p:nvPr/>
            </p:nvSpPr>
            <p:spPr>
              <a:xfrm>
                <a:off x="6336712" y="5108400"/>
                <a:ext cx="198000" cy="36000"/>
              </a:xfrm>
              <a:prstGeom prst="rect">
                <a:avLst/>
              </a:prstGeom>
              <a:grpFill/>
              <a:ln w="12700">
                <a:noFill/>
                <a:prstDash val="solid"/>
              </a:ln>
            </p:spPr>
          </p:sp>
          <p:sp>
            <p:nvSpPr>
              <p:cNvPr id="76" name="Shape 52"/>
              <p:cNvSpPr/>
              <p:nvPr/>
            </p:nvSpPr>
            <p:spPr>
              <a:xfrm>
                <a:off x="6534712" y="5108400"/>
                <a:ext cx="198000" cy="36000"/>
              </a:xfrm>
              <a:prstGeom prst="rect">
                <a:avLst/>
              </a:prstGeom>
              <a:grpFill/>
              <a:ln w="12700">
                <a:noFill/>
                <a:prstDash val="solid"/>
              </a:ln>
            </p:spPr>
          </p:sp>
          <p:sp>
            <p:nvSpPr>
              <p:cNvPr id="77" name="Shape 52"/>
              <p:cNvSpPr/>
              <p:nvPr/>
            </p:nvSpPr>
            <p:spPr>
              <a:xfrm>
                <a:off x="6732712" y="5108400"/>
                <a:ext cx="198000" cy="36000"/>
              </a:xfrm>
              <a:prstGeom prst="rect">
                <a:avLst/>
              </a:prstGeom>
              <a:grpFill/>
              <a:ln w="12700">
                <a:noFill/>
                <a:prstDash val="solid"/>
              </a:ln>
            </p:spPr>
          </p:sp>
          <p:sp>
            <p:nvSpPr>
              <p:cNvPr id="78" name="Shape 52"/>
              <p:cNvSpPr/>
              <p:nvPr/>
            </p:nvSpPr>
            <p:spPr>
              <a:xfrm>
                <a:off x="6930712" y="5108400"/>
                <a:ext cx="198000" cy="36000"/>
              </a:xfrm>
              <a:prstGeom prst="rect">
                <a:avLst/>
              </a:prstGeom>
              <a:grpFill/>
              <a:ln w="12700">
                <a:noFill/>
                <a:prstDash val="solid"/>
              </a:ln>
            </p:spPr>
          </p:sp>
          <p:sp>
            <p:nvSpPr>
              <p:cNvPr id="79" name="Shape 52"/>
              <p:cNvSpPr/>
              <p:nvPr/>
            </p:nvSpPr>
            <p:spPr>
              <a:xfrm>
                <a:off x="7128712" y="5108400"/>
                <a:ext cx="198000" cy="36000"/>
              </a:xfrm>
              <a:prstGeom prst="rect">
                <a:avLst/>
              </a:prstGeom>
              <a:grpFill/>
              <a:ln w="12700">
                <a:noFill/>
                <a:prstDash val="solid"/>
              </a:ln>
            </p:spPr>
          </p:sp>
          <p:sp>
            <p:nvSpPr>
              <p:cNvPr id="80" name="Shape 52"/>
              <p:cNvSpPr/>
              <p:nvPr/>
            </p:nvSpPr>
            <p:spPr>
              <a:xfrm>
                <a:off x="7326712" y="5108400"/>
                <a:ext cx="198000" cy="36000"/>
              </a:xfrm>
              <a:prstGeom prst="rect">
                <a:avLst/>
              </a:prstGeom>
              <a:grpFill/>
              <a:ln w="12700">
                <a:noFill/>
                <a:prstDash val="solid"/>
              </a:ln>
            </p:spPr>
          </p:sp>
          <p:sp>
            <p:nvSpPr>
              <p:cNvPr id="81" name="Shape 52"/>
              <p:cNvSpPr/>
              <p:nvPr/>
            </p:nvSpPr>
            <p:spPr>
              <a:xfrm>
                <a:off x="7524712" y="5108400"/>
                <a:ext cx="198000" cy="36000"/>
              </a:xfrm>
              <a:prstGeom prst="rect">
                <a:avLst/>
              </a:prstGeom>
              <a:grpFill/>
              <a:ln w="12700">
                <a:noFill/>
                <a:prstDash val="solid"/>
              </a:ln>
            </p:spPr>
          </p:sp>
          <p:sp>
            <p:nvSpPr>
              <p:cNvPr id="82" name="Shape 52"/>
              <p:cNvSpPr/>
              <p:nvPr/>
            </p:nvSpPr>
            <p:spPr>
              <a:xfrm>
                <a:off x="7722712" y="5108400"/>
                <a:ext cx="198000" cy="36000"/>
              </a:xfrm>
              <a:prstGeom prst="rect">
                <a:avLst/>
              </a:prstGeom>
              <a:grpFill/>
              <a:ln w="12700">
                <a:noFill/>
                <a:prstDash val="solid"/>
              </a:ln>
            </p:spPr>
          </p:sp>
          <p:sp>
            <p:nvSpPr>
              <p:cNvPr id="83" name="Shape 52"/>
              <p:cNvSpPr/>
              <p:nvPr/>
            </p:nvSpPr>
            <p:spPr>
              <a:xfrm>
                <a:off x="7920712" y="5109048"/>
                <a:ext cx="198000" cy="36000"/>
              </a:xfrm>
              <a:prstGeom prst="rect">
                <a:avLst/>
              </a:prstGeom>
              <a:grpFill/>
              <a:ln w="12700">
                <a:noFill/>
                <a:prstDash val="solid"/>
              </a:ln>
            </p:spPr>
          </p:sp>
          <p:sp>
            <p:nvSpPr>
              <p:cNvPr id="84" name="Shape 52"/>
              <p:cNvSpPr/>
              <p:nvPr/>
            </p:nvSpPr>
            <p:spPr>
              <a:xfrm>
                <a:off x="8118712" y="5109048"/>
                <a:ext cx="198000" cy="36000"/>
              </a:xfrm>
              <a:prstGeom prst="rect">
                <a:avLst/>
              </a:prstGeom>
              <a:grpFill/>
              <a:ln w="12700">
                <a:noFill/>
                <a:prstDash val="solid"/>
              </a:ln>
            </p:spPr>
          </p:sp>
          <p:sp>
            <p:nvSpPr>
              <p:cNvPr id="85" name="Shape 52"/>
              <p:cNvSpPr/>
              <p:nvPr/>
            </p:nvSpPr>
            <p:spPr>
              <a:xfrm>
                <a:off x="8316712" y="5109048"/>
                <a:ext cx="198000" cy="36000"/>
              </a:xfrm>
              <a:prstGeom prst="rect">
                <a:avLst/>
              </a:prstGeom>
              <a:grpFill/>
              <a:ln w="12700">
                <a:noFill/>
                <a:prstDash val="solid"/>
              </a:ln>
            </p:spPr>
          </p:sp>
          <p:sp>
            <p:nvSpPr>
              <p:cNvPr id="86" name="Shape 52"/>
              <p:cNvSpPr/>
              <p:nvPr/>
            </p:nvSpPr>
            <p:spPr>
              <a:xfrm>
                <a:off x="8514712" y="5109048"/>
                <a:ext cx="198000" cy="36000"/>
              </a:xfrm>
              <a:prstGeom prst="rect">
                <a:avLst/>
              </a:prstGeom>
              <a:grpFill/>
              <a:ln w="12700">
                <a:noFill/>
                <a:prstDash val="solid"/>
              </a:ln>
            </p:spPr>
          </p:sp>
          <p:sp>
            <p:nvSpPr>
              <p:cNvPr id="87" name="Shape 52"/>
              <p:cNvSpPr/>
              <p:nvPr/>
            </p:nvSpPr>
            <p:spPr>
              <a:xfrm>
                <a:off x="8712712" y="5109048"/>
                <a:ext cx="198000" cy="36000"/>
              </a:xfrm>
              <a:prstGeom prst="rect">
                <a:avLst/>
              </a:prstGeom>
              <a:grpFill/>
              <a:ln w="12700">
                <a:noFill/>
                <a:prstDash val="solid"/>
              </a:ln>
            </p:spPr>
          </p:sp>
          <p:sp>
            <p:nvSpPr>
              <p:cNvPr id="88"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B388FF"/>
          </a:solidFill>
          <a:ln w="12700">
            <a:solidFill>
              <a:srgbClr val="B388FF"/>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Material Design Guidelines</a:t>
            </a:r>
            <a:endParaRPr lang="en-US" sz="2200" dirty="0"/>
          </a:p>
        </p:txBody>
      </p:sp>
      <p:sp>
        <p:nvSpPr>
          <p:cNvPr id="4" name="Shape 2"/>
          <p:cNvSpPr/>
          <p:nvPr/>
        </p:nvSpPr>
        <p:spPr>
          <a:xfrm>
            <a:off x="320040" y="914400"/>
            <a:ext cx="4069080" cy="2084832"/>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5" name="Shape 3"/>
          <p:cNvSpPr/>
          <p:nvPr/>
        </p:nvSpPr>
        <p:spPr>
          <a:xfrm>
            <a:off x="320040" y="914400"/>
            <a:ext cx="45720" cy="2084832"/>
          </a:xfrm>
          <a:prstGeom prst="rect">
            <a:avLst/>
          </a:prstGeom>
          <a:solidFill>
            <a:srgbClr val="B388FF"/>
          </a:solidFill>
          <a:ln w="12700">
            <a:solidFill>
              <a:srgbClr val="B388FF"/>
            </a:solidFill>
            <a:prstDash val="solid"/>
          </a:ln>
        </p:spPr>
      </p:sp>
      <p:sp>
        <p:nvSpPr>
          <p:cNvPr id="6" name="Text 4"/>
          <p:cNvSpPr/>
          <p:nvPr/>
        </p:nvSpPr>
        <p:spPr>
          <a:xfrm>
            <a:off x="429768" y="978408"/>
            <a:ext cx="3913632" cy="256032"/>
          </a:xfrm>
          <a:prstGeom prst="rect">
            <a:avLst/>
          </a:prstGeom>
          <a:noFill/>
          <a:ln/>
        </p:spPr>
        <p:txBody>
          <a:bodyPr wrap="square" lIns="0" tIns="0" rIns="0" bIns="0" rtlCol="0" anchor="t"/>
          <a:lstStyle/>
          <a:p>
            <a:pPr marL="0" indent="0">
              <a:buNone/>
            </a:pPr>
            <a:r>
              <a:rPr lang="en-US" sz="1000" b="1" dirty="0">
                <a:solidFill>
                  <a:srgbClr val="B388FF"/>
                </a:solidFill>
              </a:rPr>
              <a:t>Filozofia Material Design</a:t>
            </a:r>
            <a:endParaRPr lang="en-US" sz="1000" dirty="0"/>
          </a:p>
        </p:txBody>
      </p:sp>
      <p:sp>
        <p:nvSpPr>
          <p:cNvPr id="7" name="Text 5"/>
          <p:cNvSpPr/>
          <p:nvPr/>
        </p:nvSpPr>
        <p:spPr>
          <a:xfrm>
            <a:off x="429768" y="1243584"/>
            <a:ext cx="3913632" cy="1700784"/>
          </a:xfrm>
          <a:prstGeom prst="rect">
            <a:avLst/>
          </a:prstGeom>
          <a:noFill/>
          <a:ln/>
        </p:spPr>
        <p:txBody>
          <a:bodyPr wrap="square" lIns="0" tIns="0" rIns="0" bIns="0" rtlCol="0" anchor="t"/>
          <a:lstStyle/>
          <a:p>
            <a:pPr marL="0" indent="0">
              <a:buNone/>
            </a:pPr>
            <a:r>
              <a:rPr lang="en-US" sz="900" dirty="0">
                <a:solidFill>
                  <a:srgbClr val="CCDDEE"/>
                </a:solidFill>
              </a:rPr>
              <a:t>Material Design to język wizualny Google inspirowany fizycznymi właściwościami materiałów — głębią, cieniami, oświetleniem.</a:t>
            </a:r>
            <a:endParaRPr lang="en-US" sz="900" dirty="0"/>
          </a:p>
          <a:p>
            <a:pPr marL="0" indent="0">
              <a:buNone/>
            </a:pPr>
            <a:endParaRPr lang="en-US" sz="900" dirty="0"/>
          </a:p>
          <a:p>
            <a:pPr marL="0" indent="0">
              <a:buNone/>
            </a:pPr>
            <a:r>
              <a:rPr lang="en-US" sz="900" dirty="0">
                <a:solidFill>
                  <a:srgbClr val="CCDDEE"/>
                </a:solidFill>
              </a:rPr>
              <a:t>Material jako Metafory: elementy mają grubość, rzucają cienie.</a:t>
            </a:r>
            <a:endParaRPr lang="en-US" sz="900" dirty="0"/>
          </a:p>
          <a:p>
            <a:pPr marL="0" indent="0">
              <a:buNone/>
            </a:pPr>
            <a:r>
              <a:rPr lang="en-US" sz="900" dirty="0">
                <a:solidFill>
                  <a:srgbClr val="CCDDEE"/>
                </a:solidFill>
              </a:rPr>
              <a:t>Pogrubione i Celowe: typografia, kolor i przestrzeń tworzą hierarchię.</a:t>
            </a:r>
            <a:endParaRPr lang="en-US" sz="900" dirty="0"/>
          </a:p>
          <a:p>
            <a:pPr marL="0" indent="0">
              <a:buNone/>
            </a:pPr>
            <a:r>
              <a:rPr lang="en-US" sz="900" dirty="0">
                <a:solidFill>
                  <a:srgbClr val="CCDDEE"/>
                </a:solidFill>
              </a:rPr>
              <a:t>Ruch Daje Znaczenie: animacje informują, nie dekorują.</a:t>
            </a:r>
            <a:endParaRPr lang="en-US" sz="900" dirty="0"/>
          </a:p>
        </p:txBody>
      </p:sp>
      <p:sp>
        <p:nvSpPr>
          <p:cNvPr id="8" name="Shape 6"/>
          <p:cNvSpPr/>
          <p:nvPr/>
        </p:nvSpPr>
        <p:spPr>
          <a:xfrm>
            <a:off x="320040" y="3090672"/>
            <a:ext cx="1298448" cy="804672"/>
          </a:xfrm>
          <a:prstGeom prst="rect">
            <a:avLst/>
          </a:prstGeom>
          <a:solidFill>
            <a:srgbClr val="112233"/>
          </a:solidFill>
          <a:ln w="12700">
            <a:solidFill>
              <a:srgbClr val="B388FF"/>
            </a:solidFill>
            <a:prstDash val="solid"/>
          </a:ln>
        </p:spPr>
      </p:sp>
      <p:sp>
        <p:nvSpPr>
          <p:cNvPr id="9" name="Text 7"/>
          <p:cNvSpPr/>
          <p:nvPr/>
        </p:nvSpPr>
        <p:spPr>
          <a:xfrm>
            <a:off x="320040" y="3127248"/>
            <a:ext cx="1298448" cy="256032"/>
          </a:xfrm>
          <a:prstGeom prst="rect">
            <a:avLst/>
          </a:prstGeom>
          <a:noFill/>
          <a:ln/>
        </p:spPr>
        <p:txBody>
          <a:bodyPr wrap="square" lIns="0" tIns="0" rIns="0" bIns="0" rtlCol="0" anchor="ctr"/>
          <a:lstStyle/>
          <a:p>
            <a:pPr marL="0" indent="0" algn="ctr">
              <a:buNone/>
            </a:pPr>
            <a:r>
              <a:rPr lang="en-US" sz="1000" b="1" dirty="0">
                <a:solidFill>
                  <a:srgbClr val="B388FF"/>
                </a:solidFill>
              </a:rPr>
              <a:t>Elevation</a:t>
            </a:r>
            <a:endParaRPr lang="en-US" sz="1000" dirty="0"/>
          </a:p>
        </p:txBody>
      </p:sp>
      <p:sp>
        <p:nvSpPr>
          <p:cNvPr id="10" name="Text 8"/>
          <p:cNvSpPr/>
          <p:nvPr/>
        </p:nvSpPr>
        <p:spPr>
          <a:xfrm>
            <a:off x="320040" y="3401568"/>
            <a:ext cx="1298448" cy="292608"/>
          </a:xfrm>
          <a:prstGeom prst="rect">
            <a:avLst/>
          </a:prstGeom>
          <a:noFill/>
          <a:ln/>
        </p:spPr>
        <p:txBody>
          <a:bodyPr wrap="square" lIns="0" tIns="0" rIns="0" bIns="0" rtlCol="0" anchor="ctr"/>
          <a:lstStyle/>
          <a:p>
            <a:pPr marL="0" indent="0" algn="ctr">
              <a:buNone/>
            </a:pPr>
            <a:r>
              <a:rPr lang="en-US" sz="800" dirty="0">
                <a:solidFill>
                  <a:srgbClr val="8899AA"/>
                </a:solidFill>
              </a:rPr>
              <a:t>0–24dp</a:t>
            </a:r>
            <a:endParaRPr lang="en-US" sz="800" dirty="0"/>
          </a:p>
        </p:txBody>
      </p:sp>
      <p:sp>
        <p:nvSpPr>
          <p:cNvPr id="11" name="Shape 9"/>
          <p:cNvSpPr/>
          <p:nvPr/>
        </p:nvSpPr>
        <p:spPr>
          <a:xfrm>
            <a:off x="1709928" y="3090672"/>
            <a:ext cx="1298448" cy="804672"/>
          </a:xfrm>
          <a:prstGeom prst="rect">
            <a:avLst/>
          </a:prstGeom>
          <a:solidFill>
            <a:srgbClr val="112233"/>
          </a:solidFill>
          <a:ln w="12700">
            <a:solidFill>
              <a:srgbClr val="B388FF"/>
            </a:solidFill>
            <a:prstDash val="solid"/>
          </a:ln>
        </p:spPr>
      </p:sp>
      <p:sp>
        <p:nvSpPr>
          <p:cNvPr id="12" name="Text 10"/>
          <p:cNvSpPr/>
          <p:nvPr/>
        </p:nvSpPr>
        <p:spPr>
          <a:xfrm>
            <a:off x="1709928" y="3127248"/>
            <a:ext cx="1298448" cy="256032"/>
          </a:xfrm>
          <a:prstGeom prst="rect">
            <a:avLst/>
          </a:prstGeom>
          <a:noFill/>
          <a:ln/>
        </p:spPr>
        <p:txBody>
          <a:bodyPr wrap="square" lIns="0" tIns="0" rIns="0" bIns="0" rtlCol="0" anchor="ctr"/>
          <a:lstStyle/>
          <a:p>
            <a:pPr marL="0" indent="0" algn="ctr">
              <a:buNone/>
            </a:pPr>
            <a:r>
              <a:rPr lang="en-US" sz="1000" b="1" dirty="0">
                <a:solidFill>
                  <a:srgbClr val="B388FF"/>
                </a:solidFill>
              </a:rPr>
              <a:t>Color Roles</a:t>
            </a:r>
            <a:endParaRPr lang="en-US" sz="1000" dirty="0"/>
          </a:p>
        </p:txBody>
      </p:sp>
      <p:sp>
        <p:nvSpPr>
          <p:cNvPr id="13" name="Text 11"/>
          <p:cNvSpPr/>
          <p:nvPr/>
        </p:nvSpPr>
        <p:spPr>
          <a:xfrm>
            <a:off x="1709928" y="3401568"/>
            <a:ext cx="1298448" cy="292608"/>
          </a:xfrm>
          <a:prstGeom prst="rect">
            <a:avLst/>
          </a:prstGeom>
          <a:noFill/>
          <a:ln/>
        </p:spPr>
        <p:txBody>
          <a:bodyPr wrap="square" lIns="0" tIns="0" rIns="0" bIns="0" rtlCol="0" anchor="ctr"/>
          <a:lstStyle/>
          <a:p>
            <a:pPr marL="0" indent="0" algn="ctr">
              <a:buNone/>
            </a:pPr>
            <a:r>
              <a:rPr lang="en-US" sz="800" dirty="0">
                <a:solidFill>
                  <a:srgbClr val="8899AA"/>
                </a:solidFill>
              </a:rPr>
              <a:t>Primary, Secondary, Surface, Background, Error</a:t>
            </a:r>
            <a:endParaRPr lang="en-US" sz="800" dirty="0"/>
          </a:p>
        </p:txBody>
      </p:sp>
      <p:sp>
        <p:nvSpPr>
          <p:cNvPr id="14" name="Shape 12"/>
          <p:cNvSpPr/>
          <p:nvPr/>
        </p:nvSpPr>
        <p:spPr>
          <a:xfrm>
            <a:off x="3099816" y="3090672"/>
            <a:ext cx="1298448" cy="804672"/>
          </a:xfrm>
          <a:prstGeom prst="rect">
            <a:avLst/>
          </a:prstGeom>
          <a:solidFill>
            <a:srgbClr val="112233"/>
          </a:solidFill>
          <a:ln w="12700">
            <a:solidFill>
              <a:srgbClr val="B388FF"/>
            </a:solidFill>
            <a:prstDash val="solid"/>
          </a:ln>
        </p:spPr>
      </p:sp>
      <p:sp>
        <p:nvSpPr>
          <p:cNvPr id="15" name="Text 13"/>
          <p:cNvSpPr/>
          <p:nvPr/>
        </p:nvSpPr>
        <p:spPr>
          <a:xfrm>
            <a:off x="3099816" y="3127248"/>
            <a:ext cx="1298448" cy="256032"/>
          </a:xfrm>
          <a:prstGeom prst="rect">
            <a:avLst/>
          </a:prstGeom>
          <a:noFill/>
          <a:ln/>
        </p:spPr>
        <p:txBody>
          <a:bodyPr wrap="square" lIns="0" tIns="0" rIns="0" bIns="0" rtlCol="0" anchor="ctr"/>
          <a:lstStyle/>
          <a:p>
            <a:pPr marL="0" indent="0" algn="ctr">
              <a:buNone/>
            </a:pPr>
            <a:r>
              <a:rPr lang="en-US" sz="1000" b="1" dirty="0">
                <a:solidFill>
                  <a:srgbClr val="B388FF"/>
                </a:solidFill>
              </a:rPr>
              <a:t>Roboto</a:t>
            </a:r>
            <a:endParaRPr lang="en-US" sz="1000" dirty="0"/>
          </a:p>
        </p:txBody>
      </p:sp>
      <p:sp>
        <p:nvSpPr>
          <p:cNvPr id="16" name="Text 14"/>
          <p:cNvSpPr/>
          <p:nvPr/>
        </p:nvSpPr>
        <p:spPr>
          <a:xfrm>
            <a:off x="3099816" y="3401568"/>
            <a:ext cx="1298448" cy="292608"/>
          </a:xfrm>
          <a:prstGeom prst="rect">
            <a:avLst/>
          </a:prstGeom>
          <a:noFill/>
          <a:ln/>
        </p:spPr>
        <p:txBody>
          <a:bodyPr wrap="square" lIns="0" tIns="0" rIns="0" bIns="0" rtlCol="0" anchor="ctr"/>
          <a:lstStyle/>
          <a:p>
            <a:pPr marL="0" indent="0" algn="ctr">
              <a:buNone/>
            </a:pPr>
            <a:r>
              <a:rPr lang="en-US" sz="800" dirty="0">
                <a:solidFill>
                  <a:srgbClr val="8899AA"/>
                </a:solidFill>
              </a:rPr>
              <a:t>6 stylów typografii</a:t>
            </a:r>
            <a:endParaRPr lang="en-US" sz="800" dirty="0"/>
          </a:p>
        </p:txBody>
      </p:sp>
      <p:sp>
        <p:nvSpPr>
          <p:cNvPr id="17" name="Shape 15"/>
          <p:cNvSpPr/>
          <p:nvPr/>
        </p:nvSpPr>
        <p:spPr>
          <a:xfrm>
            <a:off x="320040" y="3977640"/>
            <a:ext cx="4069080" cy="841248"/>
          </a:xfrm>
          <a:prstGeom prst="rect">
            <a:avLst/>
          </a:prstGeom>
          <a:solidFill>
            <a:srgbClr val="0A1929"/>
          </a:solidFill>
          <a:ln w="12700">
            <a:solidFill>
              <a:srgbClr val="1A3A5C"/>
            </a:solidFill>
            <a:prstDash val="solid"/>
          </a:ln>
        </p:spPr>
      </p:sp>
      <p:sp>
        <p:nvSpPr>
          <p:cNvPr id="18" name="Text 16"/>
          <p:cNvSpPr/>
          <p:nvPr/>
        </p:nvSpPr>
        <p:spPr>
          <a:xfrm>
            <a:off x="429768" y="4069080"/>
            <a:ext cx="3867912" cy="704088"/>
          </a:xfrm>
          <a:prstGeom prst="rect">
            <a:avLst/>
          </a:prstGeom>
          <a:noFill/>
          <a:ln/>
        </p:spPr>
        <p:txBody>
          <a:bodyPr wrap="square" lIns="0" tIns="0" rIns="0" bIns="0" rtlCol="0" anchor="t"/>
          <a:lstStyle/>
          <a:p>
            <a:pPr marL="0" indent="0">
              <a:buNone/>
            </a:pPr>
            <a:r>
              <a:rPr lang="en-US" sz="800" dirty="0">
                <a:solidFill>
                  <a:srgbClr val="00E676"/>
                </a:solidFill>
                <a:latin typeface="Consolas" pitchFamily="34" charset="0"/>
                <a:ea typeface="Consolas" pitchFamily="34" charset="-122"/>
                <a:cs typeface="Consolas" pitchFamily="34" charset="-120"/>
              </a:rPr>
              <a:t>// Material 3 ColorScheme (Jetpack Compose)</a:t>
            </a:r>
            <a:endParaRPr lang="en-US" sz="800" dirty="0"/>
          </a:p>
          <a:p>
            <a:pPr marL="0" indent="0">
              <a:buNone/>
            </a:pPr>
            <a:r>
              <a:rPr lang="en-US" sz="800" dirty="0">
                <a:solidFill>
                  <a:srgbClr val="00E676"/>
                </a:solidFill>
                <a:latin typeface="Consolas" pitchFamily="34" charset="0"/>
                <a:ea typeface="Consolas" pitchFamily="34" charset="-122"/>
                <a:cs typeface="Consolas" pitchFamily="34" charset="-120"/>
              </a:rPr>
              <a:t>val colorScheme = lightColorScheme(</a:t>
            </a:r>
            <a:endParaRPr lang="en-US" sz="800" dirty="0"/>
          </a:p>
          <a:p>
            <a:pPr marL="0" indent="0">
              <a:buNone/>
            </a:pPr>
            <a:r>
              <a:rPr lang="en-US" sz="800" dirty="0">
                <a:solidFill>
                  <a:srgbClr val="00E676"/>
                </a:solidFill>
                <a:latin typeface="Consolas" pitchFamily="34" charset="0"/>
                <a:ea typeface="Consolas" pitchFamily="34" charset="-122"/>
                <a:cs typeface="Consolas" pitchFamily="34" charset="-120"/>
              </a:rPr>
              <a:t>  primary = Color(0xFF6750A4),</a:t>
            </a:r>
            <a:endParaRPr lang="en-US" sz="800" dirty="0"/>
          </a:p>
          <a:p>
            <a:pPr marL="0" indent="0">
              <a:buNone/>
            </a:pPr>
            <a:r>
              <a:rPr lang="en-US" sz="800" dirty="0">
                <a:solidFill>
                  <a:srgbClr val="00E676"/>
                </a:solidFill>
                <a:latin typeface="Consolas" pitchFamily="34" charset="0"/>
                <a:ea typeface="Consolas" pitchFamily="34" charset="-122"/>
                <a:cs typeface="Consolas" pitchFamily="34" charset="-120"/>
              </a:rPr>
              <a:t>  secondary = Color(0xFF625B71),</a:t>
            </a:r>
            <a:endParaRPr lang="en-US" sz="800" dirty="0"/>
          </a:p>
          <a:p>
            <a:pPr marL="0" indent="0">
              <a:buNone/>
            </a:pPr>
            <a:r>
              <a:rPr lang="en-US" sz="800" dirty="0">
                <a:solidFill>
                  <a:srgbClr val="00E676"/>
                </a:solidFill>
                <a:latin typeface="Consolas" pitchFamily="34" charset="0"/>
                <a:ea typeface="Consolas" pitchFamily="34" charset="-122"/>
                <a:cs typeface="Consolas" pitchFamily="34" charset="-120"/>
              </a:rPr>
              <a:t>  surface = Color(0xFFFFFBFE)</a:t>
            </a:r>
            <a:endParaRPr lang="en-US" sz="800" dirty="0"/>
          </a:p>
          <a:p>
            <a:pPr marL="0" indent="0">
              <a:buNone/>
            </a:pPr>
            <a:r>
              <a:rPr lang="en-US" sz="800" dirty="0">
                <a:solidFill>
                  <a:srgbClr val="00E676"/>
                </a:solidFill>
                <a:latin typeface="Consolas" pitchFamily="34" charset="0"/>
                <a:ea typeface="Consolas" pitchFamily="34" charset="-122"/>
                <a:cs typeface="Consolas" pitchFamily="34" charset="-120"/>
              </a:rPr>
              <a:t>)</a:t>
            </a:r>
            <a:endParaRPr lang="en-US" sz="800" dirty="0"/>
          </a:p>
        </p:txBody>
      </p:sp>
      <p:sp>
        <p:nvSpPr>
          <p:cNvPr id="19" name="Shape 17"/>
          <p:cNvSpPr/>
          <p:nvPr/>
        </p:nvSpPr>
        <p:spPr>
          <a:xfrm>
            <a:off x="4754880" y="914400"/>
            <a:ext cx="4069080" cy="896112"/>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20" name="Shape 18"/>
          <p:cNvSpPr/>
          <p:nvPr/>
        </p:nvSpPr>
        <p:spPr>
          <a:xfrm>
            <a:off x="4754880" y="914400"/>
            <a:ext cx="45720" cy="896112"/>
          </a:xfrm>
          <a:prstGeom prst="rect">
            <a:avLst/>
          </a:prstGeom>
          <a:solidFill>
            <a:srgbClr val="B388FF"/>
          </a:solidFill>
          <a:ln w="12700">
            <a:solidFill>
              <a:srgbClr val="B388FF"/>
            </a:solidFill>
            <a:prstDash val="solid"/>
          </a:ln>
        </p:spPr>
      </p:sp>
      <p:sp>
        <p:nvSpPr>
          <p:cNvPr id="21" name="Text 19"/>
          <p:cNvSpPr/>
          <p:nvPr/>
        </p:nvSpPr>
        <p:spPr>
          <a:xfrm>
            <a:off x="4864608" y="978408"/>
            <a:ext cx="3913632" cy="256032"/>
          </a:xfrm>
          <a:prstGeom prst="rect">
            <a:avLst/>
          </a:prstGeom>
          <a:noFill/>
          <a:ln/>
        </p:spPr>
        <p:txBody>
          <a:bodyPr wrap="square" lIns="0" tIns="0" rIns="0" bIns="0" rtlCol="0" anchor="t"/>
          <a:lstStyle/>
          <a:p>
            <a:pPr marL="0" indent="0">
              <a:buNone/>
            </a:pPr>
            <a:r>
              <a:rPr lang="en-US" sz="1000" b="1" dirty="0">
                <a:solidFill>
                  <a:srgbClr val="B388FF"/>
                </a:solidFill>
              </a:rPr>
              <a:t>Elevation (Wysokość)</a:t>
            </a:r>
            <a:endParaRPr lang="en-US" sz="1000" dirty="0"/>
          </a:p>
        </p:txBody>
      </p:sp>
      <p:sp>
        <p:nvSpPr>
          <p:cNvPr id="22" name="Text 20"/>
          <p:cNvSpPr/>
          <p:nvPr/>
        </p:nvSpPr>
        <p:spPr>
          <a:xfrm>
            <a:off x="4864608" y="1243584"/>
            <a:ext cx="3913632" cy="512064"/>
          </a:xfrm>
          <a:prstGeom prst="rect">
            <a:avLst/>
          </a:prstGeom>
          <a:noFill/>
          <a:ln/>
        </p:spPr>
        <p:txBody>
          <a:bodyPr wrap="square" lIns="0" tIns="0" rIns="0" bIns="0" rtlCol="0" anchor="t"/>
          <a:lstStyle/>
          <a:p>
            <a:pPr marL="0" indent="0">
              <a:buNone/>
            </a:pPr>
            <a:r>
              <a:rPr lang="en-US" sz="850" dirty="0">
                <a:solidFill>
                  <a:srgbClr val="CCDDEE"/>
                </a:solidFill>
              </a:rPr>
              <a:t>Cienie tworzą hierarchię. Im wyżej, tym większy cień (0–24dp). Cards, FAB, AppBar.</a:t>
            </a:r>
            <a:endParaRPr lang="en-US" sz="850" dirty="0"/>
          </a:p>
        </p:txBody>
      </p:sp>
      <p:sp>
        <p:nvSpPr>
          <p:cNvPr id="23" name="Shape 21"/>
          <p:cNvSpPr/>
          <p:nvPr/>
        </p:nvSpPr>
        <p:spPr>
          <a:xfrm>
            <a:off x="4754880" y="1938528"/>
            <a:ext cx="4069080" cy="896112"/>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24" name="Shape 22"/>
          <p:cNvSpPr/>
          <p:nvPr/>
        </p:nvSpPr>
        <p:spPr>
          <a:xfrm>
            <a:off x="4754880" y="1938528"/>
            <a:ext cx="45720" cy="896112"/>
          </a:xfrm>
          <a:prstGeom prst="rect">
            <a:avLst/>
          </a:prstGeom>
          <a:solidFill>
            <a:srgbClr val="00D4FF"/>
          </a:solidFill>
          <a:ln w="12700">
            <a:solidFill>
              <a:srgbClr val="00D4FF"/>
            </a:solidFill>
            <a:prstDash val="solid"/>
          </a:ln>
        </p:spPr>
      </p:sp>
      <p:sp>
        <p:nvSpPr>
          <p:cNvPr id="25" name="Text 23"/>
          <p:cNvSpPr/>
          <p:nvPr/>
        </p:nvSpPr>
        <p:spPr>
          <a:xfrm>
            <a:off x="4864608" y="2002536"/>
            <a:ext cx="3913632" cy="256032"/>
          </a:xfrm>
          <a:prstGeom prst="rect">
            <a:avLst/>
          </a:prstGeom>
          <a:noFill/>
          <a:ln/>
        </p:spPr>
        <p:txBody>
          <a:bodyPr wrap="square" lIns="0" tIns="0" rIns="0" bIns="0" rtlCol="0" anchor="t"/>
          <a:lstStyle/>
          <a:p>
            <a:pPr marL="0" indent="0">
              <a:buNone/>
            </a:pPr>
            <a:r>
              <a:rPr lang="en-US" sz="1000" b="1" dirty="0">
                <a:solidFill>
                  <a:srgbClr val="00D4FF"/>
                </a:solidFill>
              </a:rPr>
              <a:t>Komponenty Material 3</a:t>
            </a:r>
            <a:endParaRPr lang="en-US" sz="1000" dirty="0"/>
          </a:p>
        </p:txBody>
      </p:sp>
      <p:sp>
        <p:nvSpPr>
          <p:cNvPr id="26" name="Text 24"/>
          <p:cNvSpPr/>
          <p:nvPr/>
        </p:nvSpPr>
        <p:spPr>
          <a:xfrm>
            <a:off x="4864608" y="2267712"/>
            <a:ext cx="3913632" cy="512064"/>
          </a:xfrm>
          <a:prstGeom prst="rect">
            <a:avLst/>
          </a:prstGeom>
          <a:noFill/>
          <a:ln/>
        </p:spPr>
        <p:txBody>
          <a:bodyPr wrap="square" lIns="0" tIns="0" rIns="0" bIns="0" rtlCol="0" anchor="t"/>
          <a:lstStyle/>
          <a:p>
            <a:pPr marL="0" indent="0">
              <a:buNone/>
            </a:pPr>
            <a:r>
              <a:rPr lang="en-US" sz="850" dirty="0">
                <a:solidFill>
                  <a:srgbClr val="CCDDEE"/>
                </a:solidFill>
              </a:rPr>
              <a:t>Cards, Buttons, Text Fields, Chips, Bottom Nav, Modal Sheets — gotowe.</a:t>
            </a:r>
            <a:endParaRPr lang="en-US" sz="850" dirty="0"/>
          </a:p>
        </p:txBody>
      </p:sp>
      <p:sp>
        <p:nvSpPr>
          <p:cNvPr id="27" name="Shape 25"/>
          <p:cNvSpPr/>
          <p:nvPr/>
        </p:nvSpPr>
        <p:spPr>
          <a:xfrm>
            <a:off x="4754880" y="2962656"/>
            <a:ext cx="4069080" cy="896112"/>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28" name="Shape 26"/>
          <p:cNvSpPr/>
          <p:nvPr/>
        </p:nvSpPr>
        <p:spPr>
          <a:xfrm>
            <a:off x="4754880" y="2962656"/>
            <a:ext cx="45720" cy="896112"/>
          </a:xfrm>
          <a:prstGeom prst="rect">
            <a:avLst/>
          </a:prstGeom>
          <a:solidFill>
            <a:srgbClr val="FF2D78"/>
          </a:solidFill>
          <a:ln w="12700">
            <a:solidFill>
              <a:srgbClr val="FF2D78"/>
            </a:solidFill>
            <a:prstDash val="solid"/>
          </a:ln>
        </p:spPr>
      </p:sp>
      <p:sp>
        <p:nvSpPr>
          <p:cNvPr id="29" name="Text 27"/>
          <p:cNvSpPr/>
          <p:nvPr/>
        </p:nvSpPr>
        <p:spPr>
          <a:xfrm>
            <a:off x="4864608" y="3026664"/>
            <a:ext cx="3913632" cy="256032"/>
          </a:xfrm>
          <a:prstGeom prst="rect">
            <a:avLst/>
          </a:prstGeom>
          <a:noFill/>
          <a:ln/>
        </p:spPr>
        <p:txBody>
          <a:bodyPr wrap="square" lIns="0" tIns="0" rIns="0" bIns="0" rtlCol="0" anchor="t"/>
          <a:lstStyle/>
          <a:p>
            <a:pPr marL="0" indent="0">
              <a:buNone/>
            </a:pPr>
            <a:r>
              <a:rPr lang="en-US" sz="1000" b="1" dirty="0">
                <a:solidFill>
                  <a:srgbClr val="FF2D78"/>
                </a:solidFill>
              </a:rPr>
              <a:t>Dark Theme</a:t>
            </a:r>
            <a:endParaRPr lang="en-US" sz="1000" dirty="0"/>
          </a:p>
        </p:txBody>
      </p:sp>
      <p:sp>
        <p:nvSpPr>
          <p:cNvPr id="30" name="Text 28"/>
          <p:cNvSpPr/>
          <p:nvPr/>
        </p:nvSpPr>
        <p:spPr>
          <a:xfrm>
            <a:off x="4864608" y="3291840"/>
            <a:ext cx="3913632" cy="512064"/>
          </a:xfrm>
          <a:prstGeom prst="rect">
            <a:avLst/>
          </a:prstGeom>
          <a:noFill/>
          <a:ln/>
        </p:spPr>
        <p:txBody>
          <a:bodyPr wrap="square" lIns="0" tIns="0" rIns="0" bIns="0" rtlCol="0" anchor="t"/>
          <a:lstStyle/>
          <a:p>
            <a:pPr marL="0" indent="0">
              <a:buNone/>
            </a:pPr>
            <a:r>
              <a:rPr lang="en-US" sz="850" dirty="0">
                <a:solidFill>
                  <a:srgbClr val="CCDDEE"/>
                </a:solidFill>
              </a:rPr>
              <a:t>Wsparcie od Material Design 2.0. Automatyczne tokeny kolorów.</a:t>
            </a:r>
            <a:endParaRPr lang="en-US" sz="850" dirty="0"/>
          </a:p>
        </p:txBody>
      </p:sp>
      <p:sp>
        <p:nvSpPr>
          <p:cNvPr id="31" name="Shape 29"/>
          <p:cNvSpPr/>
          <p:nvPr/>
        </p:nvSpPr>
        <p:spPr>
          <a:xfrm>
            <a:off x="4754880" y="3986784"/>
            <a:ext cx="4069080" cy="896112"/>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32" name="Shape 30"/>
          <p:cNvSpPr/>
          <p:nvPr/>
        </p:nvSpPr>
        <p:spPr>
          <a:xfrm>
            <a:off x="4754880" y="3986784"/>
            <a:ext cx="45720" cy="896112"/>
          </a:xfrm>
          <a:prstGeom prst="rect">
            <a:avLst/>
          </a:prstGeom>
          <a:solidFill>
            <a:srgbClr val="FF9100"/>
          </a:solidFill>
          <a:ln w="12700">
            <a:solidFill>
              <a:srgbClr val="FF9100"/>
            </a:solidFill>
            <a:prstDash val="solid"/>
          </a:ln>
        </p:spPr>
      </p:sp>
      <p:sp>
        <p:nvSpPr>
          <p:cNvPr id="33" name="Text 31"/>
          <p:cNvSpPr/>
          <p:nvPr/>
        </p:nvSpPr>
        <p:spPr>
          <a:xfrm>
            <a:off x="4864608" y="4050792"/>
            <a:ext cx="3913632" cy="256032"/>
          </a:xfrm>
          <a:prstGeom prst="rect">
            <a:avLst/>
          </a:prstGeom>
          <a:noFill/>
          <a:ln/>
        </p:spPr>
        <p:txBody>
          <a:bodyPr wrap="square" lIns="0" tIns="0" rIns="0" bIns="0" rtlCol="0" anchor="t"/>
          <a:lstStyle/>
          <a:p>
            <a:pPr marL="0" indent="0">
              <a:buNone/>
            </a:pPr>
            <a:r>
              <a:rPr lang="en-US" sz="1000" b="1" dirty="0">
                <a:solidFill>
                  <a:srgbClr val="FF9100"/>
                </a:solidFill>
              </a:rPr>
              <a:t>iOS vs Material</a:t>
            </a:r>
            <a:endParaRPr lang="en-US" sz="1000" dirty="0"/>
          </a:p>
        </p:txBody>
      </p:sp>
      <p:sp>
        <p:nvSpPr>
          <p:cNvPr id="34" name="Text 32"/>
          <p:cNvSpPr/>
          <p:nvPr/>
        </p:nvSpPr>
        <p:spPr>
          <a:xfrm>
            <a:off x="4864608" y="4315968"/>
            <a:ext cx="3913632" cy="512064"/>
          </a:xfrm>
          <a:prstGeom prst="rect">
            <a:avLst/>
          </a:prstGeom>
          <a:noFill/>
          <a:ln/>
        </p:spPr>
        <p:txBody>
          <a:bodyPr wrap="square" lIns="0" tIns="0" rIns="0" bIns="0" rtlCol="0" anchor="t"/>
          <a:lstStyle/>
          <a:p>
            <a:pPr marL="0" indent="0">
              <a:buNone/>
            </a:pPr>
            <a:r>
              <a:rPr lang="en-US" sz="850" dirty="0">
                <a:solidFill>
                  <a:srgbClr val="CCDDEE"/>
                </a:solidFill>
              </a:rPr>
              <a:t>iOS: płaski, minimalistyczny. Material: głębia, ruch, nasycone kolory. Nie mieszaj!</a:t>
            </a:r>
            <a:endParaRPr lang="en-US" sz="850" dirty="0"/>
          </a:p>
        </p:txBody>
      </p:sp>
      <p:sp>
        <p:nvSpPr>
          <p:cNvPr id="37" name="Text 35"/>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20 / </a:t>
            </a:r>
            <a:r>
              <a:rPr lang="pl-PL" sz="800" dirty="0" smtClean="0">
                <a:solidFill>
                  <a:srgbClr val="8899AA"/>
                </a:solidFill>
              </a:rPr>
              <a:t>46</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2A"/>
        </a:solidFill>
        <a:effectLst/>
      </p:bgPr>
    </p:bg>
    <p:spTree>
      <p:nvGrpSpPr>
        <p:cNvPr id="1" name=""/>
        <p:cNvGrpSpPr/>
        <p:nvPr/>
      </p:nvGrpSpPr>
      <p:grpSpPr>
        <a:xfrm>
          <a:off x="0" y="0"/>
          <a:ext cx="0" cy="0"/>
          <a:chOff x="0" y="0"/>
          <a:chExt cx="0" cy="0"/>
        </a:xfrm>
      </p:grpSpPr>
      <p:grpSp>
        <p:nvGrpSpPr>
          <p:cNvPr id="46" name="Grupa 45"/>
          <p:cNvGrpSpPr/>
          <p:nvPr/>
        </p:nvGrpSpPr>
        <p:grpSpPr>
          <a:xfrm>
            <a:off x="-2381" y="4884912"/>
            <a:ext cx="9146381" cy="260136"/>
            <a:chOff x="-2381" y="4884912"/>
            <a:chExt cx="9146381" cy="260136"/>
          </a:xfrm>
        </p:grpSpPr>
        <p:sp>
          <p:nvSpPr>
            <p:cNvPr id="47" name="Shape 52"/>
            <p:cNvSpPr/>
            <p:nvPr/>
          </p:nvSpPr>
          <p:spPr>
            <a:xfrm>
              <a:off x="0" y="4884912"/>
              <a:ext cx="9144000" cy="252000"/>
            </a:xfrm>
            <a:prstGeom prst="rect">
              <a:avLst/>
            </a:prstGeom>
            <a:solidFill>
              <a:srgbClr val="071523"/>
            </a:solidFill>
            <a:ln w="12700">
              <a:solidFill>
                <a:srgbClr val="071523"/>
              </a:solidFill>
              <a:prstDash val="solid"/>
            </a:ln>
          </p:spPr>
        </p:sp>
        <p:sp>
          <p:nvSpPr>
            <p:cNvPr id="48"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49" name="Grupa 48"/>
            <p:cNvGrpSpPr/>
            <p:nvPr/>
          </p:nvGrpSpPr>
          <p:grpSpPr>
            <a:xfrm>
              <a:off x="-2381" y="5099329"/>
              <a:ext cx="9146381" cy="45719"/>
              <a:chOff x="-2381" y="5107500"/>
              <a:chExt cx="9111093" cy="37548"/>
            </a:xfrm>
            <a:solidFill>
              <a:schemeClr val="tx1"/>
            </a:solidFill>
          </p:grpSpPr>
          <p:sp>
            <p:nvSpPr>
              <p:cNvPr id="50"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62"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63"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64"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65"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66"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67"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68"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69"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70"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71" name="Shape 52"/>
              <p:cNvSpPr/>
              <p:nvPr/>
            </p:nvSpPr>
            <p:spPr>
              <a:xfrm>
                <a:off x="4158712" y="5107500"/>
                <a:ext cx="198000" cy="36000"/>
              </a:xfrm>
              <a:prstGeom prst="rect">
                <a:avLst/>
              </a:prstGeom>
              <a:grpFill/>
              <a:ln w="12700">
                <a:noFill/>
                <a:prstDash val="solid"/>
              </a:ln>
            </p:spPr>
          </p:sp>
          <p:sp>
            <p:nvSpPr>
              <p:cNvPr id="72" name="Shape 52"/>
              <p:cNvSpPr/>
              <p:nvPr/>
            </p:nvSpPr>
            <p:spPr>
              <a:xfrm>
                <a:off x="4356712" y="5107500"/>
                <a:ext cx="198000" cy="36000"/>
              </a:xfrm>
              <a:prstGeom prst="rect">
                <a:avLst/>
              </a:prstGeom>
              <a:grpFill/>
              <a:ln w="12700">
                <a:noFill/>
                <a:prstDash val="solid"/>
              </a:ln>
            </p:spPr>
          </p:sp>
          <p:sp>
            <p:nvSpPr>
              <p:cNvPr id="73" name="Shape 52"/>
              <p:cNvSpPr/>
              <p:nvPr/>
            </p:nvSpPr>
            <p:spPr>
              <a:xfrm>
                <a:off x="4554712" y="5107500"/>
                <a:ext cx="198000" cy="36000"/>
              </a:xfrm>
              <a:prstGeom prst="rect">
                <a:avLst/>
              </a:prstGeom>
              <a:grpFill/>
              <a:ln w="12700">
                <a:noFill/>
                <a:prstDash val="solid"/>
              </a:ln>
            </p:spPr>
          </p:sp>
          <p:sp>
            <p:nvSpPr>
              <p:cNvPr id="74" name="Shape 52"/>
              <p:cNvSpPr/>
              <p:nvPr/>
            </p:nvSpPr>
            <p:spPr>
              <a:xfrm>
                <a:off x="4752712" y="5107500"/>
                <a:ext cx="198000" cy="36000"/>
              </a:xfrm>
              <a:prstGeom prst="rect">
                <a:avLst/>
              </a:prstGeom>
              <a:grpFill/>
              <a:ln w="12700">
                <a:noFill/>
                <a:prstDash val="solid"/>
              </a:ln>
            </p:spPr>
          </p:sp>
          <p:sp>
            <p:nvSpPr>
              <p:cNvPr id="75" name="Shape 52"/>
              <p:cNvSpPr/>
              <p:nvPr/>
            </p:nvSpPr>
            <p:spPr>
              <a:xfrm>
                <a:off x="4950712" y="5107500"/>
                <a:ext cx="198000" cy="36000"/>
              </a:xfrm>
              <a:prstGeom prst="rect">
                <a:avLst/>
              </a:prstGeom>
              <a:grpFill/>
              <a:ln w="12700">
                <a:noFill/>
                <a:prstDash val="solid"/>
              </a:ln>
            </p:spPr>
          </p:sp>
          <p:sp>
            <p:nvSpPr>
              <p:cNvPr id="76" name="Shape 52"/>
              <p:cNvSpPr/>
              <p:nvPr/>
            </p:nvSpPr>
            <p:spPr>
              <a:xfrm>
                <a:off x="5148712" y="5107500"/>
                <a:ext cx="198000" cy="36000"/>
              </a:xfrm>
              <a:prstGeom prst="rect">
                <a:avLst/>
              </a:prstGeom>
              <a:grpFill/>
              <a:ln w="12700">
                <a:noFill/>
                <a:prstDash val="solid"/>
              </a:ln>
            </p:spPr>
          </p:sp>
          <p:sp>
            <p:nvSpPr>
              <p:cNvPr id="77" name="Shape 52"/>
              <p:cNvSpPr/>
              <p:nvPr/>
            </p:nvSpPr>
            <p:spPr>
              <a:xfrm>
                <a:off x="5346712" y="5108400"/>
                <a:ext cx="198000" cy="36000"/>
              </a:xfrm>
              <a:prstGeom prst="rect">
                <a:avLst/>
              </a:prstGeom>
              <a:grpFill/>
              <a:ln w="12700">
                <a:noFill/>
                <a:prstDash val="solid"/>
              </a:ln>
            </p:spPr>
          </p:sp>
          <p:sp>
            <p:nvSpPr>
              <p:cNvPr id="78" name="Shape 52"/>
              <p:cNvSpPr/>
              <p:nvPr/>
            </p:nvSpPr>
            <p:spPr>
              <a:xfrm>
                <a:off x="5544712" y="5108400"/>
                <a:ext cx="198000" cy="36000"/>
              </a:xfrm>
              <a:prstGeom prst="rect">
                <a:avLst/>
              </a:prstGeom>
              <a:grpFill/>
              <a:ln w="12700">
                <a:noFill/>
                <a:prstDash val="solid"/>
              </a:ln>
            </p:spPr>
          </p:sp>
          <p:sp>
            <p:nvSpPr>
              <p:cNvPr id="79" name="Shape 52"/>
              <p:cNvSpPr/>
              <p:nvPr/>
            </p:nvSpPr>
            <p:spPr>
              <a:xfrm>
                <a:off x="5742712" y="5108400"/>
                <a:ext cx="198000" cy="36000"/>
              </a:xfrm>
              <a:prstGeom prst="rect">
                <a:avLst/>
              </a:prstGeom>
              <a:grpFill/>
              <a:ln w="12700">
                <a:noFill/>
                <a:prstDash val="solid"/>
              </a:ln>
            </p:spPr>
          </p:sp>
          <p:sp>
            <p:nvSpPr>
              <p:cNvPr id="80" name="Shape 52"/>
              <p:cNvSpPr/>
              <p:nvPr/>
            </p:nvSpPr>
            <p:spPr>
              <a:xfrm>
                <a:off x="5940712" y="5108400"/>
                <a:ext cx="198000" cy="36000"/>
              </a:xfrm>
              <a:prstGeom prst="rect">
                <a:avLst/>
              </a:prstGeom>
              <a:grpFill/>
              <a:ln w="12700">
                <a:noFill/>
                <a:prstDash val="solid"/>
              </a:ln>
            </p:spPr>
          </p:sp>
          <p:sp>
            <p:nvSpPr>
              <p:cNvPr id="81" name="Shape 52"/>
              <p:cNvSpPr/>
              <p:nvPr/>
            </p:nvSpPr>
            <p:spPr>
              <a:xfrm>
                <a:off x="6138712" y="5108400"/>
                <a:ext cx="198000" cy="36000"/>
              </a:xfrm>
              <a:prstGeom prst="rect">
                <a:avLst/>
              </a:prstGeom>
              <a:grpFill/>
              <a:ln w="12700">
                <a:noFill/>
                <a:prstDash val="solid"/>
              </a:ln>
            </p:spPr>
          </p:sp>
          <p:sp>
            <p:nvSpPr>
              <p:cNvPr id="82" name="Shape 52"/>
              <p:cNvSpPr/>
              <p:nvPr/>
            </p:nvSpPr>
            <p:spPr>
              <a:xfrm>
                <a:off x="6336712" y="5108400"/>
                <a:ext cx="198000" cy="36000"/>
              </a:xfrm>
              <a:prstGeom prst="rect">
                <a:avLst/>
              </a:prstGeom>
              <a:grpFill/>
              <a:ln w="12700">
                <a:noFill/>
                <a:prstDash val="solid"/>
              </a:ln>
            </p:spPr>
          </p:sp>
          <p:sp>
            <p:nvSpPr>
              <p:cNvPr id="83" name="Shape 52"/>
              <p:cNvSpPr/>
              <p:nvPr/>
            </p:nvSpPr>
            <p:spPr>
              <a:xfrm>
                <a:off x="6534712" y="5108400"/>
                <a:ext cx="198000" cy="36000"/>
              </a:xfrm>
              <a:prstGeom prst="rect">
                <a:avLst/>
              </a:prstGeom>
              <a:grpFill/>
              <a:ln w="12700">
                <a:noFill/>
                <a:prstDash val="solid"/>
              </a:ln>
            </p:spPr>
          </p:sp>
          <p:sp>
            <p:nvSpPr>
              <p:cNvPr id="84" name="Shape 52"/>
              <p:cNvSpPr/>
              <p:nvPr/>
            </p:nvSpPr>
            <p:spPr>
              <a:xfrm>
                <a:off x="6732712" y="5108400"/>
                <a:ext cx="198000" cy="36000"/>
              </a:xfrm>
              <a:prstGeom prst="rect">
                <a:avLst/>
              </a:prstGeom>
              <a:grpFill/>
              <a:ln w="12700">
                <a:noFill/>
                <a:prstDash val="solid"/>
              </a:ln>
            </p:spPr>
          </p:sp>
          <p:sp>
            <p:nvSpPr>
              <p:cNvPr id="85" name="Shape 52"/>
              <p:cNvSpPr/>
              <p:nvPr/>
            </p:nvSpPr>
            <p:spPr>
              <a:xfrm>
                <a:off x="6930712" y="5108400"/>
                <a:ext cx="198000" cy="36000"/>
              </a:xfrm>
              <a:prstGeom prst="rect">
                <a:avLst/>
              </a:prstGeom>
              <a:grpFill/>
              <a:ln w="12700">
                <a:noFill/>
                <a:prstDash val="solid"/>
              </a:ln>
            </p:spPr>
          </p:sp>
          <p:sp>
            <p:nvSpPr>
              <p:cNvPr id="86" name="Shape 52"/>
              <p:cNvSpPr/>
              <p:nvPr/>
            </p:nvSpPr>
            <p:spPr>
              <a:xfrm>
                <a:off x="7128712" y="5108400"/>
                <a:ext cx="198000" cy="36000"/>
              </a:xfrm>
              <a:prstGeom prst="rect">
                <a:avLst/>
              </a:prstGeom>
              <a:grpFill/>
              <a:ln w="12700">
                <a:noFill/>
                <a:prstDash val="solid"/>
              </a:ln>
            </p:spPr>
          </p:sp>
          <p:sp>
            <p:nvSpPr>
              <p:cNvPr id="87" name="Shape 52"/>
              <p:cNvSpPr/>
              <p:nvPr/>
            </p:nvSpPr>
            <p:spPr>
              <a:xfrm>
                <a:off x="7326712" y="5108400"/>
                <a:ext cx="198000" cy="36000"/>
              </a:xfrm>
              <a:prstGeom prst="rect">
                <a:avLst/>
              </a:prstGeom>
              <a:grpFill/>
              <a:ln w="12700">
                <a:noFill/>
                <a:prstDash val="solid"/>
              </a:ln>
            </p:spPr>
          </p:sp>
          <p:sp>
            <p:nvSpPr>
              <p:cNvPr id="88" name="Shape 52"/>
              <p:cNvSpPr/>
              <p:nvPr/>
            </p:nvSpPr>
            <p:spPr>
              <a:xfrm>
                <a:off x="7524712" y="5108400"/>
                <a:ext cx="198000" cy="36000"/>
              </a:xfrm>
              <a:prstGeom prst="rect">
                <a:avLst/>
              </a:prstGeom>
              <a:grpFill/>
              <a:ln w="12700">
                <a:noFill/>
                <a:prstDash val="solid"/>
              </a:ln>
            </p:spPr>
          </p:sp>
          <p:sp>
            <p:nvSpPr>
              <p:cNvPr id="89" name="Shape 52"/>
              <p:cNvSpPr/>
              <p:nvPr/>
            </p:nvSpPr>
            <p:spPr>
              <a:xfrm>
                <a:off x="7722712" y="5108400"/>
                <a:ext cx="198000" cy="36000"/>
              </a:xfrm>
              <a:prstGeom prst="rect">
                <a:avLst/>
              </a:prstGeom>
              <a:grpFill/>
              <a:ln w="12700">
                <a:noFill/>
                <a:prstDash val="solid"/>
              </a:ln>
            </p:spPr>
          </p:sp>
          <p:sp>
            <p:nvSpPr>
              <p:cNvPr id="90" name="Shape 52"/>
              <p:cNvSpPr/>
              <p:nvPr/>
            </p:nvSpPr>
            <p:spPr>
              <a:xfrm>
                <a:off x="7920712" y="5109048"/>
                <a:ext cx="198000" cy="36000"/>
              </a:xfrm>
              <a:prstGeom prst="rect">
                <a:avLst/>
              </a:prstGeom>
              <a:grpFill/>
              <a:ln w="12700">
                <a:noFill/>
                <a:prstDash val="solid"/>
              </a:ln>
            </p:spPr>
          </p:sp>
          <p:sp>
            <p:nvSpPr>
              <p:cNvPr id="91" name="Shape 52"/>
              <p:cNvSpPr/>
              <p:nvPr/>
            </p:nvSpPr>
            <p:spPr>
              <a:xfrm>
                <a:off x="8118712" y="5109048"/>
                <a:ext cx="198000" cy="36000"/>
              </a:xfrm>
              <a:prstGeom prst="rect">
                <a:avLst/>
              </a:prstGeom>
              <a:grpFill/>
              <a:ln w="12700">
                <a:noFill/>
                <a:prstDash val="solid"/>
              </a:ln>
            </p:spPr>
          </p:sp>
          <p:sp>
            <p:nvSpPr>
              <p:cNvPr id="92" name="Shape 52"/>
              <p:cNvSpPr/>
              <p:nvPr/>
            </p:nvSpPr>
            <p:spPr>
              <a:xfrm>
                <a:off x="8316712" y="5109048"/>
                <a:ext cx="198000" cy="36000"/>
              </a:xfrm>
              <a:prstGeom prst="rect">
                <a:avLst/>
              </a:prstGeom>
              <a:grpFill/>
              <a:ln w="12700">
                <a:noFill/>
                <a:prstDash val="solid"/>
              </a:ln>
            </p:spPr>
          </p:sp>
          <p:sp>
            <p:nvSpPr>
              <p:cNvPr id="93" name="Shape 52"/>
              <p:cNvSpPr/>
              <p:nvPr/>
            </p:nvSpPr>
            <p:spPr>
              <a:xfrm>
                <a:off x="8514712" y="5109048"/>
                <a:ext cx="198000" cy="36000"/>
              </a:xfrm>
              <a:prstGeom prst="rect">
                <a:avLst/>
              </a:prstGeom>
              <a:grpFill/>
              <a:ln w="12700">
                <a:noFill/>
                <a:prstDash val="solid"/>
              </a:ln>
            </p:spPr>
          </p:sp>
          <p:sp>
            <p:nvSpPr>
              <p:cNvPr id="94" name="Shape 52"/>
              <p:cNvSpPr/>
              <p:nvPr/>
            </p:nvSpPr>
            <p:spPr>
              <a:xfrm>
                <a:off x="8712712" y="5109048"/>
                <a:ext cx="198000" cy="36000"/>
              </a:xfrm>
              <a:prstGeom prst="rect">
                <a:avLst/>
              </a:prstGeom>
              <a:grpFill/>
              <a:ln w="12700">
                <a:noFill/>
                <a:prstDash val="solid"/>
              </a:ln>
            </p:spPr>
          </p:sp>
          <p:sp>
            <p:nvSpPr>
              <p:cNvPr id="95"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B388FF"/>
          </a:solidFill>
          <a:ln w="12700">
            <a:solidFill>
              <a:srgbClr val="B388FF"/>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WCAG i Dostępność w Aplikacjach Mobilnych</a:t>
            </a:r>
            <a:endParaRPr lang="en-US" sz="2200" dirty="0"/>
          </a:p>
        </p:txBody>
      </p:sp>
      <p:sp>
        <p:nvSpPr>
          <p:cNvPr id="4" name="Shape 2"/>
          <p:cNvSpPr/>
          <p:nvPr/>
        </p:nvSpPr>
        <p:spPr>
          <a:xfrm>
            <a:off x="320040" y="914400"/>
            <a:ext cx="2029968" cy="187452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5" name="Shape 3"/>
          <p:cNvSpPr/>
          <p:nvPr/>
        </p:nvSpPr>
        <p:spPr>
          <a:xfrm>
            <a:off x="320040" y="914400"/>
            <a:ext cx="45720" cy="1874520"/>
          </a:xfrm>
          <a:prstGeom prst="rect">
            <a:avLst/>
          </a:prstGeom>
          <a:solidFill>
            <a:srgbClr val="B388FF"/>
          </a:solidFill>
          <a:ln w="12700">
            <a:solidFill>
              <a:srgbClr val="B388FF"/>
            </a:solidFill>
            <a:prstDash val="solid"/>
          </a:ln>
        </p:spPr>
      </p:sp>
      <p:sp>
        <p:nvSpPr>
          <p:cNvPr id="6" name="Text 4"/>
          <p:cNvSpPr/>
          <p:nvPr/>
        </p:nvSpPr>
        <p:spPr>
          <a:xfrm>
            <a:off x="429768" y="978408"/>
            <a:ext cx="1874520" cy="256032"/>
          </a:xfrm>
          <a:prstGeom prst="rect">
            <a:avLst/>
          </a:prstGeom>
          <a:noFill/>
          <a:ln/>
        </p:spPr>
        <p:txBody>
          <a:bodyPr wrap="square" lIns="0" tIns="0" rIns="0" bIns="0" rtlCol="0" anchor="t"/>
          <a:lstStyle/>
          <a:p>
            <a:pPr marL="0" indent="0">
              <a:buNone/>
            </a:pPr>
            <a:r>
              <a:rPr lang="en-US" sz="1000" b="1" dirty="0">
                <a:solidFill>
                  <a:srgbClr val="B388FF"/>
                </a:solidFill>
              </a:rPr>
              <a:t>Perceivable</a:t>
            </a:r>
            <a:endParaRPr lang="en-US" sz="1000" dirty="0"/>
          </a:p>
          <a:p>
            <a:pPr marL="0" indent="0">
              <a:buNone/>
            </a:pPr>
            <a:r>
              <a:rPr lang="en-US" sz="1000" b="1" dirty="0">
                <a:solidFill>
                  <a:srgbClr val="B388FF"/>
                </a:solidFill>
              </a:rPr>
              <a:t>(Postrzegalny)</a:t>
            </a:r>
            <a:endParaRPr lang="en-US" sz="1000" dirty="0"/>
          </a:p>
        </p:txBody>
      </p:sp>
      <p:sp>
        <p:nvSpPr>
          <p:cNvPr id="7" name="Text 5"/>
          <p:cNvSpPr/>
          <p:nvPr/>
        </p:nvSpPr>
        <p:spPr>
          <a:xfrm>
            <a:off x="429768" y="1243584"/>
            <a:ext cx="1874520" cy="1490472"/>
          </a:xfrm>
          <a:prstGeom prst="rect">
            <a:avLst/>
          </a:prstGeom>
          <a:noFill/>
          <a:ln/>
        </p:spPr>
        <p:txBody>
          <a:bodyPr wrap="square" lIns="0" tIns="0" rIns="0" bIns="0" rtlCol="0" anchor="t"/>
          <a:lstStyle/>
          <a:p>
            <a:pPr marL="0" indent="0">
              <a:buNone/>
            </a:pPr>
            <a:r>
              <a:rPr lang="en-US" sz="900" dirty="0">
                <a:solidFill>
                  <a:srgbClr val="CCDDEE"/>
                </a:solidFill>
              </a:rPr>
              <a:t>Użytkownik może postrzegać informacje. Kontrast, alt text, podpisy video.</a:t>
            </a:r>
            <a:endParaRPr lang="en-US" sz="900" dirty="0"/>
          </a:p>
        </p:txBody>
      </p:sp>
      <p:sp>
        <p:nvSpPr>
          <p:cNvPr id="8" name="Shape 6"/>
          <p:cNvSpPr/>
          <p:nvPr/>
        </p:nvSpPr>
        <p:spPr>
          <a:xfrm>
            <a:off x="2468880" y="914400"/>
            <a:ext cx="2029968" cy="187452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9" name="Shape 7"/>
          <p:cNvSpPr/>
          <p:nvPr/>
        </p:nvSpPr>
        <p:spPr>
          <a:xfrm>
            <a:off x="2468880" y="914400"/>
            <a:ext cx="45720" cy="1874520"/>
          </a:xfrm>
          <a:prstGeom prst="rect">
            <a:avLst/>
          </a:prstGeom>
          <a:solidFill>
            <a:srgbClr val="00D4FF"/>
          </a:solidFill>
          <a:ln w="12700">
            <a:solidFill>
              <a:srgbClr val="00D4FF"/>
            </a:solidFill>
            <a:prstDash val="solid"/>
          </a:ln>
        </p:spPr>
      </p:sp>
      <p:sp>
        <p:nvSpPr>
          <p:cNvPr id="10" name="Text 8"/>
          <p:cNvSpPr/>
          <p:nvPr/>
        </p:nvSpPr>
        <p:spPr>
          <a:xfrm>
            <a:off x="2578608" y="978408"/>
            <a:ext cx="1874520" cy="256032"/>
          </a:xfrm>
          <a:prstGeom prst="rect">
            <a:avLst/>
          </a:prstGeom>
          <a:noFill/>
          <a:ln/>
        </p:spPr>
        <p:txBody>
          <a:bodyPr wrap="square" lIns="0" tIns="0" rIns="0" bIns="0" rtlCol="0" anchor="t"/>
          <a:lstStyle/>
          <a:p>
            <a:pPr marL="0" indent="0">
              <a:buNone/>
            </a:pPr>
            <a:r>
              <a:rPr lang="en-US" sz="1000" b="1" dirty="0">
                <a:solidFill>
                  <a:srgbClr val="00D4FF"/>
                </a:solidFill>
              </a:rPr>
              <a:t>Operable</a:t>
            </a:r>
            <a:endParaRPr lang="en-US" sz="1000" dirty="0"/>
          </a:p>
          <a:p>
            <a:pPr marL="0" indent="0">
              <a:buNone/>
            </a:pPr>
            <a:r>
              <a:rPr lang="en-US" sz="1000" b="1" dirty="0">
                <a:solidFill>
                  <a:srgbClr val="00D4FF"/>
                </a:solidFill>
              </a:rPr>
              <a:t>(Operatywny)</a:t>
            </a:r>
            <a:endParaRPr lang="en-US" sz="1000" dirty="0"/>
          </a:p>
        </p:txBody>
      </p:sp>
      <p:sp>
        <p:nvSpPr>
          <p:cNvPr id="11" name="Text 9"/>
          <p:cNvSpPr/>
          <p:nvPr/>
        </p:nvSpPr>
        <p:spPr>
          <a:xfrm>
            <a:off x="2578608" y="1243584"/>
            <a:ext cx="1874520" cy="1490472"/>
          </a:xfrm>
          <a:prstGeom prst="rect">
            <a:avLst/>
          </a:prstGeom>
          <a:noFill/>
          <a:ln/>
        </p:spPr>
        <p:txBody>
          <a:bodyPr wrap="square" lIns="0" tIns="0" rIns="0" bIns="0" rtlCol="0" anchor="t"/>
          <a:lstStyle/>
          <a:p>
            <a:pPr marL="0" indent="0">
              <a:buNone/>
            </a:pPr>
            <a:r>
              <a:rPr lang="en-US" sz="900" dirty="0">
                <a:solidFill>
                  <a:srgbClr val="CCDDEE"/>
                </a:solidFill>
              </a:rPr>
              <a:t>Interfejs można obsługiwać. Rozmiar celów, gesty, czas na akcje.</a:t>
            </a:r>
            <a:endParaRPr lang="en-US" sz="900" dirty="0"/>
          </a:p>
        </p:txBody>
      </p:sp>
      <p:sp>
        <p:nvSpPr>
          <p:cNvPr id="12" name="Shape 10"/>
          <p:cNvSpPr/>
          <p:nvPr/>
        </p:nvSpPr>
        <p:spPr>
          <a:xfrm>
            <a:off x="4617720" y="914400"/>
            <a:ext cx="2029968" cy="187452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13" name="Shape 11"/>
          <p:cNvSpPr/>
          <p:nvPr/>
        </p:nvSpPr>
        <p:spPr>
          <a:xfrm>
            <a:off x="4617720" y="914400"/>
            <a:ext cx="45720" cy="1874520"/>
          </a:xfrm>
          <a:prstGeom prst="rect">
            <a:avLst/>
          </a:prstGeom>
          <a:solidFill>
            <a:srgbClr val="FF2D78"/>
          </a:solidFill>
          <a:ln w="12700">
            <a:solidFill>
              <a:srgbClr val="FF2D78"/>
            </a:solidFill>
            <a:prstDash val="solid"/>
          </a:ln>
        </p:spPr>
      </p:sp>
      <p:sp>
        <p:nvSpPr>
          <p:cNvPr id="14" name="Text 12"/>
          <p:cNvSpPr/>
          <p:nvPr/>
        </p:nvSpPr>
        <p:spPr>
          <a:xfrm>
            <a:off x="4727448" y="978408"/>
            <a:ext cx="1874520" cy="256032"/>
          </a:xfrm>
          <a:prstGeom prst="rect">
            <a:avLst/>
          </a:prstGeom>
          <a:noFill/>
          <a:ln/>
        </p:spPr>
        <p:txBody>
          <a:bodyPr wrap="square" lIns="0" tIns="0" rIns="0" bIns="0" rtlCol="0" anchor="t"/>
          <a:lstStyle/>
          <a:p>
            <a:pPr marL="0" indent="0">
              <a:buNone/>
            </a:pPr>
            <a:r>
              <a:rPr lang="en-US" sz="1000" b="1" dirty="0">
                <a:solidFill>
                  <a:srgbClr val="FF2D78"/>
                </a:solidFill>
              </a:rPr>
              <a:t>Understandable</a:t>
            </a:r>
            <a:endParaRPr lang="en-US" sz="1000" dirty="0"/>
          </a:p>
          <a:p>
            <a:pPr marL="0" indent="0">
              <a:buNone/>
            </a:pPr>
            <a:r>
              <a:rPr lang="en-US" sz="1000" b="1" dirty="0">
                <a:solidFill>
                  <a:srgbClr val="FF2D78"/>
                </a:solidFill>
              </a:rPr>
              <a:t>(Zrozumiały)</a:t>
            </a:r>
            <a:endParaRPr lang="en-US" sz="1000" dirty="0"/>
          </a:p>
        </p:txBody>
      </p:sp>
      <p:sp>
        <p:nvSpPr>
          <p:cNvPr id="15" name="Text 13"/>
          <p:cNvSpPr/>
          <p:nvPr/>
        </p:nvSpPr>
        <p:spPr>
          <a:xfrm>
            <a:off x="4727448" y="1243584"/>
            <a:ext cx="1874520" cy="1490472"/>
          </a:xfrm>
          <a:prstGeom prst="rect">
            <a:avLst/>
          </a:prstGeom>
          <a:noFill/>
          <a:ln/>
        </p:spPr>
        <p:txBody>
          <a:bodyPr wrap="square" lIns="0" tIns="0" rIns="0" bIns="0" rtlCol="0" anchor="t"/>
          <a:lstStyle/>
          <a:p>
            <a:pPr marL="0" indent="0">
              <a:buNone/>
            </a:pPr>
            <a:r>
              <a:rPr lang="en-US" sz="900" dirty="0">
                <a:solidFill>
                  <a:srgbClr val="CCDDEE"/>
                </a:solidFill>
              </a:rPr>
              <a:t>Treść i nawigacja są zrozumiałe. Język, spójność, pomoc w błędach.</a:t>
            </a:r>
            <a:endParaRPr lang="en-US" sz="900" dirty="0"/>
          </a:p>
        </p:txBody>
      </p:sp>
      <p:sp>
        <p:nvSpPr>
          <p:cNvPr id="16" name="Shape 14"/>
          <p:cNvSpPr/>
          <p:nvPr/>
        </p:nvSpPr>
        <p:spPr>
          <a:xfrm>
            <a:off x="6766560" y="914400"/>
            <a:ext cx="2029968" cy="187452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17" name="Shape 15"/>
          <p:cNvSpPr/>
          <p:nvPr/>
        </p:nvSpPr>
        <p:spPr>
          <a:xfrm>
            <a:off x="6766560" y="914400"/>
            <a:ext cx="45720" cy="1874520"/>
          </a:xfrm>
          <a:prstGeom prst="rect">
            <a:avLst/>
          </a:prstGeom>
          <a:solidFill>
            <a:srgbClr val="00E676"/>
          </a:solidFill>
          <a:ln w="12700">
            <a:solidFill>
              <a:srgbClr val="00E676"/>
            </a:solidFill>
            <a:prstDash val="solid"/>
          </a:ln>
        </p:spPr>
      </p:sp>
      <p:sp>
        <p:nvSpPr>
          <p:cNvPr id="18" name="Text 16"/>
          <p:cNvSpPr/>
          <p:nvPr/>
        </p:nvSpPr>
        <p:spPr>
          <a:xfrm>
            <a:off x="6876288" y="978408"/>
            <a:ext cx="1874520" cy="256032"/>
          </a:xfrm>
          <a:prstGeom prst="rect">
            <a:avLst/>
          </a:prstGeom>
          <a:noFill/>
          <a:ln/>
        </p:spPr>
        <p:txBody>
          <a:bodyPr wrap="square" lIns="0" tIns="0" rIns="0" bIns="0" rtlCol="0" anchor="t"/>
          <a:lstStyle/>
          <a:p>
            <a:pPr marL="0" indent="0">
              <a:buNone/>
            </a:pPr>
            <a:r>
              <a:rPr lang="en-US" sz="1000" b="1" dirty="0">
                <a:solidFill>
                  <a:srgbClr val="00E676"/>
                </a:solidFill>
              </a:rPr>
              <a:t>Robust</a:t>
            </a:r>
            <a:endParaRPr lang="en-US" sz="1000" dirty="0"/>
          </a:p>
          <a:p>
            <a:pPr marL="0" indent="0">
              <a:buNone/>
            </a:pPr>
            <a:r>
              <a:rPr lang="en-US" sz="1000" b="1" dirty="0">
                <a:solidFill>
                  <a:srgbClr val="00E676"/>
                </a:solidFill>
              </a:rPr>
              <a:t>(Solidny)</a:t>
            </a:r>
            <a:endParaRPr lang="en-US" sz="1000" dirty="0"/>
          </a:p>
        </p:txBody>
      </p:sp>
      <p:sp>
        <p:nvSpPr>
          <p:cNvPr id="19" name="Text 17"/>
          <p:cNvSpPr/>
          <p:nvPr/>
        </p:nvSpPr>
        <p:spPr>
          <a:xfrm>
            <a:off x="6876288" y="1243584"/>
            <a:ext cx="1874520" cy="1490472"/>
          </a:xfrm>
          <a:prstGeom prst="rect">
            <a:avLst/>
          </a:prstGeom>
          <a:noFill/>
          <a:ln/>
        </p:spPr>
        <p:txBody>
          <a:bodyPr wrap="square" lIns="0" tIns="0" rIns="0" bIns="0" rtlCol="0" anchor="t"/>
          <a:lstStyle/>
          <a:p>
            <a:pPr marL="0" indent="0">
              <a:buNone/>
            </a:pPr>
            <a:r>
              <a:rPr lang="en-US" sz="900" dirty="0">
                <a:solidFill>
                  <a:srgbClr val="CCDDEE"/>
                </a:solidFill>
              </a:rPr>
              <a:t>Działa z różnymi technologiami. Kompatybilność z czytnikami ekranu.</a:t>
            </a:r>
            <a:endParaRPr lang="en-US" sz="900" dirty="0"/>
          </a:p>
        </p:txBody>
      </p:sp>
      <p:sp>
        <p:nvSpPr>
          <p:cNvPr id="20" name="Shape 18"/>
          <p:cNvSpPr/>
          <p:nvPr/>
        </p:nvSpPr>
        <p:spPr>
          <a:xfrm>
            <a:off x="320040" y="2880360"/>
            <a:ext cx="8503920" cy="274320"/>
          </a:xfrm>
          <a:prstGeom prst="rect">
            <a:avLst/>
          </a:prstGeom>
          <a:solidFill>
            <a:srgbClr val="1A3050"/>
          </a:solidFill>
          <a:ln w="12700">
            <a:solidFill>
              <a:srgbClr val="1A3050"/>
            </a:solidFill>
            <a:prstDash val="solid"/>
          </a:ln>
        </p:spPr>
      </p:sp>
      <p:sp>
        <p:nvSpPr>
          <p:cNvPr id="21" name="Text 19"/>
          <p:cNvSpPr/>
          <p:nvPr/>
        </p:nvSpPr>
        <p:spPr>
          <a:xfrm>
            <a:off x="457200" y="2907792"/>
            <a:ext cx="8229600" cy="219456"/>
          </a:xfrm>
          <a:prstGeom prst="rect">
            <a:avLst/>
          </a:prstGeom>
          <a:noFill/>
          <a:ln/>
        </p:spPr>
        <p:txBody>
          <a:bodyPr wrap="square" lIns="0" tIns="0" rIns="0" bIns="0" rtlCol="0" anchor="ctr"/>
          <a:lstStyle/>
          <a:p>
            <a:pPr marL="0" indent="0">
              <a:buNone/>
            </a:pPr>
            <a:r>
              <a:rPr lang="en-US" sz="1000" b="1" dirty="0">
                <a:solidFill>
                  <a:srgbClr val="FFFFFF"/>
                </a:solidFill>
              </a:rPr>
              <a:t>Konkretne Wymagania Kontrastu i Rozmiarów</a:t>
            </a:r>
            <a:endParaRPr lang="en-US" sz="1000" dirty="0"/>
          </a:p>
        </p:txBody>
      </p:sp>
      <p:sp>
        <p:nvSpPr>
          <p:cNvPr id="22" name="Shape 20"/>
          <p:cNvSpPr/>
          <p:nvPr/>
        </p:nvSpPr>
        <p:spPr>
          <a:xfrm>
            <a:off x="320040" y="3227832"/>
            <a:ext cx="8503920" cy="256032"/>
          </a:xfrm>
          <a:prstGeom prst="rect">
            <a:avLst/>
          </a:prstGeom>
          <a:solidFill>
            <a:srgbClr val="112233"/>
          </a:solidFill>
          <a:ln w="12700">
            <a:solidFill>
              <a:srgbClr val="112233"/>
            </a:solidFill>
            <a:prstDash val="solid"/>
          </a:ln>
        </p:spPr>
      </p:sp>
      <p:sp>
        <p:nvSpPr>
          <p:cNvPr id="23" name="Text 21"/>
          <p:cNvSpPr/>
          <p:nvPr/>
        </p:nvSpPr>
        <p:spPr>
          <a:xfrm>
            <a:off x="457200" y="3227832"/>
            <a:ext cx="5943600" cy="256032"/>
          </a:xfrm>
          <a:prstGeom prst="rect">
            <a:avLst/>
          </a:prstGeom>
          <a:noFill/>
          <a:ln/>
        </p:spPr>
        <p:txBody>
          <a:bodyPr wrap="square" lIns="0" tIns="0" rIns="0" bIns="0" rtlCol="0" anchor="ctr"/>
          <a:lstStyle/>
          <a:p>
            <a:pPr marL="0" indent="0">
              <a:buNone/>
            </a:pPr>
            <a:r>
              <a:rPr lang="en-US" sz="900" dirty="0">
                <a:solidFill>
                  <a:srgbClr val="CCDDEE"/>
                </a:solidFill>
              </a:rPr>
              <a:t>Tekst normalny (&lt;18px)</a:t>
            </a:r>
            <a:endParaRPr lang="en-US" sz="900" dirty="0"/>
          </a:p>
        </p:txBody>
      </p:sp>
      <p:sp>
        <p:nvSpPr>
          <p:cNvPr id="24" name="Shape 22"/>
          <p:cNvSpPr/>
          <p:nvPr/>
        </p:nvSpPr>
        <p:spPr>
          <a:xfrm>
            <a:off x="6400800" y="3227832"/>
            <a:ext cx="2286000" cy="256032"/>
          </a:xfrm>
          <a:prstGeom prst="rect">
            <a:avLst/>
          </a:prstGeom>
          <a:solidFill>
            <a:srgbClr val="112233"/>
          </a:solidFill>
          <a:ln w="12700">
            <a:solidFill>
              <a:srgbClr val="112233"/>
            </a:solidFill>
            <a:prstDash val="solid"/>
          </a:ln>
        </p:spPr>
      </p:sp>
      <p:sp>
        <p:nvSpPr>
          <p:cNvPr id="25" name="Text 23"/>
          <p:cNvSpPr/>
          <p:nvPr/>
        </p:nvSpPr>
        <p:spPr>
          <a:xfrm>
            <a:off x="6400800" y="3227832"/>
            <a:ext cx="2286000" cy="256032"/>
          </a:xfrm>
          <a:prstGeom prst="rect">
            <a:avLst/>
          </a:prstGeom>
          <a:noFill/>
          <a:ln/>
        </p:spPr>
        <p:txBody>
          <a:bodyPr wrap="square" lIns="0" tIns="0" rIns="0" bIns="0" rtlCol="0" anchor="ctr"/>
          <a:lstStyle/>
          <a:p>
            <a:pPr marL="0" indent="0" algn="ctr">
              <a:buNone/>
            </a:pPr>
            <a:r>
              <a:rPr lang="en-US" sz="900" b="1" dirty="0">
                <a:solidFill>
                  <a:srgbClr val="00D4FF"/>
                </a:solidFill>
              </a:rPr>
              <a:t>4.5:1</a:t>
            </a:r>
            <a:endParaRPr lang="en-US" sz="900" dirty="0"/>
          </a:p>
        </p:txBody>
      </p:sp>
      <p:sp>
        <p:nvSpPr>
          <p:cNvPr id="26" name="Shape 24"/>
          <p:cNvSpPr/>
          <p:nvPr/>
        </p:nvSpPr>
        <p:spPr>
          <a:xfrm>
            <a:off x="320040" y="3502152"/>
            <a:ext cx="8503920" cy="256032"/>
          </a:xfrm>
          <a:prstGeom prst="rect">
            <a:avLst/>
          </a:prstGeom>
          <a:solidFill>
            <a:srgbClr val="0A1929"/>
          </a:solidFill>
          <a:ln w="12700">
            <a:solidFill>
              <a:srgbClr val="0A1929"/>
            </a:solidFill>
            <a:prstDash val="solid"/>
          </a:ln>
        </p:spPr>
      </p:sp>
      <p:sp>
        <p:nvSpPr>
          <p:cNvPr id="27" name="Text 25"/>
          <p:cNvSpPr/>
          <p:nvPr/>
        </p:nvSpPr>
        <p:spPr>
          <a:xfrm>
            <a:off x="457200" y="3502152"/>
            <a:ext cx="5943600" cy="256032"/>
          </a:xfrm>
          <a:prstGeom prst="rect">
            <a:avLst/>
          </a:prstGeom>
          <a:noFill/>
          <a:ln/>
        </p:spPr>
        <p:txBody>
          <a:bodyPr wrap="square" lIns="0" tIns="0" rIns="0" bIns="0" rtlCol="0" anchor="ctr"/>
          <a:lstStyle/>
          <a:p>
            <a:pPr marL="0" indent="0">
              <a:buNone/>
            </a:pPr>
            <a:r>
              <a:rPr lang="en-US" sz="900" dirty="0">
                <a:solidFill>
                  <a:srgbClr val="CCDDEE"/>
                </a:solidFill>
              </a:rPr>
              <a:t>Duży tekst (≥18px bold / 24px)</a:t>
            </a:r>
            <a:endParaRPr lang="en-US" sz="900" dirty="0"/>
          </a:p>
        </p:txBody>
      </p:sp>
      <p:sp>
        <p:nvSpPr>
          <p:cNvPr id="28" name="Shape 26"/>
          <p:cNvSpPr/>
          <p:nvPr/>
        </p:nvSpPr>
        <p:spPr>
          <a:xfrm>
            <a:off x="6400800" y="3502152"/>
            <a:ext cx="2286000" cy="256032"/>
          </a:xfrm>
          <a:prstGeom prst="rect">
            <a:avLst/>
          </a:prstGeom>
          <a:solidFill>
            <a:srgbClr val="0A1929"/>
          </a:solidFill>
          <a:ln w="12700">
            <a:solidFill>
              <a:srgbClr val="0A1929"/>
            </a:solidFill>
            <a:prstDash val="solid"/>
          </a:ln>
        </p:spPr>
      </p:sp>
      <p:sp>
        <p:nvSpPr>
          <p:cNvPr id="29" name="Text 27"/>
          <p:cNvSpPr/>
          <p:nvPr/>
        </p:nvSpPr>
        <p:spPr>
          <a:xfrm>
            <a:off x="6400800" y="3502152"/>
            <a:ext cx="2286000" cy="256032"/>
          </a:xfrm>
          <a:prstGeom prst="rect">
            <a:avLst/>
          </a:prstGeom>
          <a:noFill/>
          <a:ln/>
        </p:spPr>
        <p:txBody>
          <a:bodyPr wrap="square" lIns="0" tIns="0" rIns="0" bIns="0" rtlCol="0" anchor="ctr"/>
          <a:lstStyle/>
          <a:p>
            <a:pPr marL="0" indent="0" algn="ctr">
              <a:buNone/>
            </a:pPr>
            <a:r>
              <a:rPr lang="en-US" sz="900" b="1" dirty="0">
                <a:solidFill>
                  <a:srgbClr val="00E676"/>
                </a:solidFill>
              </a:rPr>
              <a:t>3:1</a:t>
            </a:r>
            <a:endParaRPr lang="en-US" sz="900" dirty="0"/>
          </a:p>
        </p:txBody>
      </p:sp>
      <p:sp>
        <p:nvSpPr>
          <p:cNvPr id="30" name="Shape 28"/>
          <p:cNvSpPr/>
          <p:nvPr/>
        </p:nvSpPr>
        <p:spPr>
          <a:xfrm>
            <a:off x="320040" y="3776472"/>
            <a:ext cx="8503920" cy="256032"/>
          </a:xfrm>
          <a:prstGeom prst="rect">
            <a:avLst/>
          </a:prstGeom>
          <a:solidFill>
            <a:srgbClr val="112233"/>
          </a:solidFill>
          <a:ln w="12700">
            <a:solidFill>
              <a:srgbClr val="112233"/>
            </a:solidFill>
            <a:prstDash val="solid"/>
          </a:ln>
        </p:spPr>
      </p:sp>
      <p:sp>
        <p:nvSpPr>
          <p:cNvPr id="31" name="Text 29"/>
          <p:cNvSpPr/>
          <p:nvPr/>
        </p:nvSpPr>
        <p:spPr>
          <a:xfrm>
            <a:off x="457200" y="3776472"/>
            <a:ext cx="5943600" cy="256032"/>
          </a:xfrm>
          <a:prstGeom prst="rect">
            <a:avLst/>
          </a:prstGeom>
          <a:noFill/>
          <a:ln/>
        </p:spPr>
        <p:txBody>
          <a:bodyPr wrap="square" lIns="0" tIns="0" rIns="0" bIns="0" rtlCol="0" anchor="ctr"/>
          <a:lstStyle/>
          <a:p>
            <a:pPr marL="0" indent="0">
              <a:buNone/>
            </a:pPr>
            <a:r>
              <a:rPr lang="en-US" sz="900" dirty="0">
                <a:solidFill>
                  <a:srgbClr val="CCDDEE"/>
                </a:solidFill>
              </a:rPr>
              <a:t>Elementy interfejsu (ikony, granice)</a:t>
            </a:r>
            <a:endParaRPr lang="en-US" sz="900" dirty="0"/>
          </a:p>
        </p:txBody>
      </p:sp>
      <p:sp>
        <p:nvSpPr>
          <p:cNvPr id="32" name="Shape 30"/>
          <p:cNvSpPr/>
          <p:nvPr/>
        </p:nvSpPr>
        <p:spPr>
          <a:xfrm>
            <a:off x="6400800" y="3776472"/>
            <a:ext cx="2286000" cy="256032"/>
          </a:xfrm>
          <a:prstGeom prst="rect">
            <a:avLst/>
          </a:prstGeom>
          <a:solidFill>
            <a:srgbClr val="112233"/>
          </a:solidFill>
          <a:ln w="12700">
            <a:solidFill>
              <a:srgbClr val="112233"/>
            </a:solidFill>
            <a:prstDash val="solid"/>
          </a:ln>
        </p:spPr>
      </p:sp>
      <p:sp>
        <p:nvSpPr>
          <p:cNvPr id="33" name="Text 31"/>
          <p:cNvSpPr/>
          <p:nvPr/>
        </p:nvSpPr>
        <p:spPr>
          <a:xfrm>
            <a:off x="6400800" y="3776472"/>
            <a:ext cx="2286000" cy="256032"/>
          </a:xfrm>
          <a:prstGeom prst="rect">
            <a:avLst/>
          </a:prstGeom>
          <a:noFill/>
          <a:ln/>
        </p:spPr>
        <p:txBody>
          <a:bodyPr wrap="square" lIns="0" tIns="0" rIns="0" bIns="0" rtlCol="0" anchor="ctr"/>
          <a:lstStyle/>
          <a:p>
            <a:pPr marL="0" indent="0" algn="ctr">
              <a:buNone/>
            </a:pPr>
            <a:r>
              <a:rPr lang="en-US" sz="900" b="1" dirty="0">
                <a:solidFill>
                  <a:srgbClr val="FF2D78"/>
                </a:solidFill>
              </a:rPr>
              <a:t>3:1</a:t>
            </a:r>
            <a:endParaRPr lang="en-US" sz="900" dirty="0"/>
          </a:p>
        </p:txBody>
      </p:sp>
      <p:sp>
        <p:nvSpPr>
          <p:cNvPr id="34" name="Shape 32"/>
          <p:cNvSpPr/>
          <p:nvPr/>
        </p:nvSpPr>
        <p:spPr>
          <a:xfrm>
            <a:off x="320040" y="4050792"/>
            <a:ext cx="8503920" cy="256032"/>
          </a:xfrm>
          <a:prstGeom prst="rect">
            <a:avLst/>
          </a:prstGeom>
          <a:solidFill>
            <a:srgbClr val="0A1929"/>
          </a:solidFill>
          <a:ln w="12700">
            <a:solidFill>
              <a:srgbClr val="0A1929"/>
            </a:solidFill>
            <a:prstDash val="solid"/>
          </a:ln>
        </p:spPr>
      </p:sp>
      <p:sp>
        <p:nvSpPr>
          <p:cNvPr id="35" name="Text 33"/>
          <p:cNvSpPr/>
          <p:nvPr/>
        </p:nvSpPr>
        <p:spPr>
          <a:xfrm>
            <a:off x="457200" y="4050792"/>
            <a:ext cx="5943600" cy="256032"/>
          </a:xfrm>
          <a:prstGeom prst="rect">
            <a:avLst/>
          </a:prstGeom>
          <a:noFill/>
          <a:ln/>
        </p:spPr>
        <p:txBody>
          <a:bodyPr wrap="square" lIns="0" tIns="0" rIns="0" bIns="0" rtlCol="0" anchor="ctr"/>
          <a:lstStyle/>
          <a:p>
            <a:pPr marL="0" indent="0">
              <a:buNone/>
            </a:pPr>
            <a:r>
              <a:rPr lang="en-US" sz="900" dirty="0">
                <a:solidFill>
                  <a:srgbClr val="CCDDEE"/>
                </a:solidFill>
              </a:rPr>
              <a:t>Min. rozmiar celu (WCAG 2.2)</a:t>
            </a:r>
            <a:endParaRPr lang="en-US" sz="900" dirty="0"/>
          </a:p>
        </p:txBody>
      </p:sp>
      <p:sp>
        <p:nvSpPr>
          <p:cNvPr id="36" name="Shape 34"/>
          <p:cNvSpPr/>
          <p:nvPr/>
        </p:nvSpPr>
        <p:spPr>
          <a:xfrm>
            <a:off x="6400800" y="4050792"/>
            <a:ext cx="2286000" cy="256032"/>
          </a:xfrm>
          <a:prstGeom prst="rect">
            <a:avLst/>
          </a:prstGeom>
          <a:solidFill>
            <a:srgbClr val="0A1929"/>
          </a:solidFill>
          <a:ln w="12700">
            <a:solidFill>
              <a:srgbClr val="0A1929"/>
            </a:solidFill>
            <a:prstDash val="solid"/>
          </a:ln>
        </p:spPr>
      </p:sp>
      <p:sp>
        <p:nvSpPr>
          <p:cNvPr id="37" name="Text 35"/>
          <p:cNvSpPr/>
          <p:nvPr/>
        </p:nvSpPr>
        <p:spPr>
          <a:xfrm>
            <a:off x="6400800" y="4050792"/>
            <a:ext cx="2286000" cy="256032"/>
          </a:xfrm>
          <a:prstGeom prst="rect">
            <a:avLst/>
          </a:prstGeom>
          <a:noFill/>
          <a:ln/>
        </p:spPr>
        <p:txBody>
          <a:bodyPr wrap="square" lIns="0" tIns="0" rIns="0" bIns="0" rtlCol="0" anchor="ctr"/>
          <a:lstStyle/>
          <a:p>
            <a:pPr marL="0" indent="0" algn="ctr">
              <a:buNone/>
            </a:pPr>
            <a:r>
              <a:rPr lang="en-US" sz="900" b="1" dirty="0">
                <a:solidFill>
                  <a:srgbClr val="FF9100"/>
                </a:solidFill>
              </a:rPr>
              <a:t>24×24px</a:t>
            </a:r>
            <a:endParaRPr lang="en-US" sz="900" dirty="0"/>
          </a:p>
        </p:txBody>
      </p:sp>
      <p:sp>
        <p:nvSpPr>
          <p:cNvPr id="38" name="Shape 36"/>
          <p:cNvSpPr/>
          <p:nvPr/>
        </p:nvSpPr>
        <p:spPr>
          <a:xfrm>
            <a:off x="320040" y="4325112"/>
            <a:ext cx="8503920" cy="256032"/>
          </a:xfrm>
          <a:prstGeom prst="rect">
            <a:avLst/>
          </a:prstGeom>
          <a:solidFill>
            <a:srgbClr val="112233"/>
          </a:solidFill>
          <a:ln w="12700">
            <a:solidFill>
              <a:srgbClr val="112233"/>
            </a:solidFill>
            <a:prstDash val="solid"/>
          </a:ln>
        </p:spPr>
      </p:sp>
      <p:sp>
        <p:nvSpPr>
          <p:cNvPr id="39" name="Text 37"/>
          <p:cNvSpPr/>
          <p:nvPr/>
        </p:nvSpPr>
        <p:spPr>
          <a:xfrm>
            <a:off x="457200" y="4325112"/>
            <a:ext cx="5943600" cy="256032"/>
          </a:xfrm>
          <a:prstGeom prst="rect">
            <a:avLst/>
          </a:prstGeom>
          <a:noFill/>
          <a:ln/>
        </p:spPr>
        <p:txBody>
          <a:bodyPr wrap="square" lIns="0" tIns="0" rIns="0" bIns="0" rtlCol="0" anchor="ctr"/>
          <a:lstStyle/>
          <a:p>
            <a:pPr marL="0" indent="0">
              <a:buNone/>
            </a:pPr>
            <a:r>
              <a:rPr lang="en-US" sz="900" dirty="0">
                <a:solidFill>
                  <a:srgbClr val="CCDDEE"/>
                </a:solidFill>
              </a:rPr>
              <a:t>Zalecany rozmiar celu (iOS / Android)</a:t>
            </a:r>
            <a:endParaRPr lang="en-US" sz="900" dirty="0"/>
          </a:p>
        </p:txBody>
      </p:sp>
      <p:sp>
        <p:nvSpPr>
          <p:cNvPr id="40" name="Shape 38"/>
          <p:cNvSpPr/>
          <p:nvPr/>
        </p:nvSpPr>
        <p:spPr>
          <a:xfrm>
            <a:off x="6400800" y="4325112"/>
            <a:ext cx="2286000" cy="256032"/>
          </a:xfrm>
          <a:prstGeom prst="rect">
            <a:avLst/>
          </a:prstGeom>
          <a:solidFill>
            <a:srgbClr val="112233"/>
          </a:solidFill>
          <a:ln w="12700">
            <a:solidFill>
              <a:srgbClr val="112233"/>
            </a:solidFill>
            <a:prstDash val="solid"/>
          </a:ln>
        </p:spPr>
      </p:sp>
      <p:sp>
        <p:nvSpPr>
          <p:cNvPr id="41" name="Text 39"/>
          <p:cNvSpPr/>
          <p:nvPr/>
        </p:nvSpPr>
        <p:spPr>
          <a:xfrm>
            <a:off x="6400800" y="4325112"/>
            <a:ext cx="2286000" cy="256032"/>
          </a:xfrm>
          <a:prstGeom prst="rect">
            <a:avLst/>
          </a:prstGeom>
          <a:noFill/>
          <a:ln/>
        </p:spPr>
        <p:txBody>
          <a:bodyPr wrap="square" lIns="0" tIns="0" rIns="0" bIns="0" rtlCol="0" anchor="ctr"/>
          <a:lstStyle/>
          <a:p>
            <a:pPr marL="0" indent="0" algn="ctr">
              <a:buNone/>
            </a:pPr>
            <a:r>
              <a:rPr lang="en-US" sz="900" b="1" dirty="0">
                <a:solidFill>
                  <a:srgbClr val="B388FF"/>
                </a:solidFill>
              </a:rPr>
              <a:t>44px / 48dp</a:t>
            </a:r>
            <a:endParaRPr lang="en-US" sz="900" dirty="0"/>
          </a:p>
        </p:txBody>
      </p:sp>
      <p:sp>
        <p:nvSpPr>
          <p:cNvPr id="44" name="Text 42"/>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21 / </a:t>
            </a:r>
            <a:r>
              <a:rPr lang="pl-PL" sz="800" dirty="0" smtClean="0">
                <a:solidFill>
                  <a:srgbClr val="8899AA"/>
                </a:solidFill>
              </a:rPr>
              <a:t>46</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2A"/>
        </a:solidFill>
        <a:effectLst/>
      </p:bgPr>
    </p:bg>
    <p:spTree>
      <p:nvGrpSpPr>
        <p:cNvPr id="1" name=""/>
        <p:cNvGrpSpPr/>
        <p:nvPr/>
      </p:nvGrpSpPr>
      <p:grpSpPr>
        <a:xfrm>
          <a:off x="0" y="0"/>
          <a:ext cx="0" cy="0"/>
          <a:chOff x="0" y="0"/>
          <a:chExt cx="0" cy="0"/>
        </a:xfrm>
      </p:grpSpPr>
      <p:grpSp>
        <p:nvGrpSpPr>
          <p:cNvPr id="10" name="Grupa 9"/>
          <p:cNvGrpSpPr/>
          <p:nvPr/>
        </p:nvGrpSpPr>
        <p:grpSpPr>
          <a:xfrm>
            <a:off x="-2381" y="4884912"/>
            <a:ext cx="9146381" cy="260136"/>
            <a:chOff x="-2381" y="4884912"/>
            <a:chExt cx="9146381" cy="260136"/>
          </a:xfrm>
        </p:grpSpPr>
        <p:sp>
          <p:nvSpPr>
            <p:cNvPr id="11" name="Shape 52"/>
            <p:cNvSpPr/>
            <p:nvPr/>
          </p:nvSpPr>
          <p:spPr>
            <a:xfrm>
              <a:off x="0" y="4884912"/>
              <a:ext cx="9144000" cy="252000"/>
            </a:xfrm>
            <a:prstGeom prst="rect">
              <a:avLst/>
            </a:prstGeom>
            <a:solidFill>
              <a:srgbClr val="071523"/>
            </a:solidFill>
            <a:ln w="12700">
              <a:solidFill>
                <a:srgbClr val="071523"/>
              </a:solidFill>
              <a:prstDash val="solid"/>
            </a:ln>
          </p:spPr>
        </p:sp>
        <p:sp>
          <p:nvSpPr>
            <p:cNvPr id="12"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13" name="Grupa 12"/>
            <p:cNvGrpSpPr/>
            <p:nvPr/>
          </p:nvGrpSpPr>
          <p:grpSpPr>
            <a:xfrm>
              <a:off x="-2381" y="5099329"/>
              <a:ext cx="9146381" cy="45719"/>
              <a:chOff x="-2381" y="5107500"/>
              <a:chExt cx="9111093" cy="37548"/>
            </a:xfrm>
            <a:solidFill>
              <a:schemeClr val="tx1"/>
            </a:solidFill>
          </p:grpSpPr>
          <p:sp>
            <p:nvSpPr>
              <p:cNvPr id="14"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15"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16"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17"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18"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19"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20"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21"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22"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23"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24"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25"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26"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27"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28"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29"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30"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31"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32"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33"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34"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35"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36" name="Shape 52"/>
              <p:cNvSpPr/>
              <p:nvPr/>
            </p:nvSpPr>
            <p:spPr>
              <a:xfrm>
                <a:off x="4356712" y="5107500"/>
                <a:ext cx="198000" cy="36000"/>
              </a:xfrm>
              <a:prstGeom prst="rect">
                <a:avLst/>
              </a:prstGeom>
              <a:grpFill/>
              <a:ln w="12700">
                <a:noFill/>
                <a:prstDash val="solid"/>
              </a:ln>
            </p:spPr>
          </p:sp>
          <p:sp>
            <p:nvSpPr>
              <p:cNvPr id="37" name="Shape 52"/>
              <p:cNvSpPr/>
              <p:nvPr/>
            </p:nvSpPr>
            <p:spPr>
              <a:xfrm>
                <a:off x="4554712" y="5107500"/>
                <a:ext cx="198000" cy="36000"/>
              </a:xfrm>
              <a:prstGeom prst="rect">
                <a:avLst/>
              </a:prstGeom>
              <a:grpFill/>
              <a:ln w="12700">
                <a:noFill/>
                <a:prstDash val="solid"/>
              </a:ln>
            </p:spPr>
          </p:sp>
          <p:sp>
            <p:nvSpPr>
              <p:cNvPr id="38" name="Shape 52"/>
              <p:cNvSpPr/>
              <p:nvPr/>
            </p:nvSpPr>
            <p:spPr>
              <a:xfrm>
                <a:off x="4752712" y="5107500"/>
                <a:ext cx="198000" cy="36000"/>
              </a:xfrm>
              <a:prstGeom prst="rect">
                <a:avLst/>
              </a:prstGeom>
              <a:grpFill/>
              <a:ln w="12700">
                <a:noFill/>
                <a:prstDash val="solid"/>
              </a:ln>
            </p:spPr>
          </p:sp>
          <p:sp>
            <p:nvSpPr>
              <p:cNvPr id="39" name="Shape 52"/>
              <p:cNvSpPr/>
              <p:nvPr/>
            </p:nvSpPr>
            <p:spPr>
              <a:xfrm>
                <a:off x="4950712" y="5107500"/>
                <a:ext cx="198000" cy="36000"/>
              </a:xfrm>
              <a:prstGeom prst="rect">
                <a:avLst/>
              </a:prstGeom>
              <a:grpFill/>
              <a:ln w="12700">
                <a:noFill/>
                <a:prstDash val="solid"/>
              </a:ln>
            </p:spPr>
          </p:sp>
          <p:sp>
            <p:nvSpPr>
              <p:cNvPr id="40" name="Shape 52"/>
              <p:cNvSpPr/>
              <p:nvPr/>
            </p:nvSpPr>
            <p:spPr>
              <a:xfrm>
                <a:off x="5148712" y="5107500"/>
                <a:ext cx="198000" cy="36000"/>
              </a:xfrm>
              <a:prstGeom prst="rect">
                <a:avLst/>
              </a:prstGeom>
              <a:grpFill/>
              <a:ln w="12700">
                <a:noFill/>
                <a:prstDash val="solid"/>
              </a:ln>
            </p:spPr>
          </p:sp>
          <p:sp>
            <p:nvSpPr>
              <p:cNvPr id="41" name="Shape 52"/>
              <p:cNvSpPr/>
              <p:nvPr/>
            </p:nvSpPr>
            <p:spPr>
              <a:xfrm>
                <a:off x="5346712" y="5108400"/>
                <a:ext cx="198000" cy="36000"/>
              </a:xfrm>
              <a:prstGeom prst="rect">
                <a:avLst/>
              </a:prstGeom>
              <a:grpFill/>
              <a:ln w="12700">
                <a:noFill/>
                <a:prstDash val="solid"/>
              </a:ln>
            </p:spPr>
          </p:sp>
          <p:sp>
            <p:nvSpPr>
              <p:cNvPr id="42" name="Shape 52"/>
              <p:cNvSpPr/>
              <p:nvPr/>
            </p:nvSpPr>
            <p:spPr>
              <a:xfrm>
                <a:off x="5544712" y="5108400"/>
                <a:ext cx="198000" cy="36000"/>
              </a:xfrm>
              <a:prstGeom prst="rect">
                <a:avLst/>
              </a:prstGeom>
              <a:grpFill/>
              <a:ln w="12700">
                <a:noFill/>
                <a:prstDash val="solid"/>
              </a:ln>
            </p:spPr>
          </p:sp>
          <p:sp>
            <p:nvSpPr>
              <p:cNvPr id="43" name="Shape 52"/>
              <p:cNvSpPr/>
              <p:nvPr/>
            </p:nvSpPr>
            <p:spPr>
              <a:xfrm>
                <a:off x="5742712" y="5108400"/>
                <a:ext cx="198000" cy="36000"/>
              </a:xfrm>
              <a:prstGeom prst="rect">
                <a:avLst/>
              </a:prstGeom>
              <a:grpFill/>
              <a:ln w="12700">
                <a:noFill/>
                <a:prstDash val="solid"/>
              </a:ln>
            </p:spPr>
          </p:sp>
          <p:sp>
            <p:nvSpPr>
              <p:cNvPr id="44" name="Shape 52"/>
              <p:cNvSpPr/>
              <p:nvPr/>
            </p:nvSpPr>
            <p:spPr>
              <a:xfrm>
                <a:off x="5940712" y="5108400"/>
                <a:ext cx="198000" cy="36000"/>
              </a:xfrm>
              <a:prstGeom prst="rect">
                <a:avLst/>
              </a:prstGeom>
              <a:grpFill/>
              <a:ln w="12700">
                <a:noFill/>
                <a:prstDash val="solid"/>
              </a:ln>
            </p:spPr>
          </p:sp>
          <p:sp>
            <p:nvSpPr>
              <p:cNvPr id="45" name="Shape 52"/>
              <p:cNvSpPr/>
              <p:nvPr/>
            </p:nvSpPr>
            <p:spPr>
              <a:xfrm>
                <a:off x="6138712" y="5108400"/>
                <a:ext cx="198000" cy="36000"/>
              </a:xfrm>
              <a:prstGeom prst="rect">
                <a:avLst/>
              </a:prstGeom>
              <a:grpFill/>
              <a:ln w="12700">
                <a:noFill/>
                <a:prstDash val="solid"/>
              </a:ln>
            </p:spPr>
          </p:sp>
          <p:sp>
            <p:nvSpPr>
              <p:cNvPr id="46" name="Shape 52"/>
              <p:cNvSpPr/>
              <p:nvPr/>
            </p:nvSpPr>
            <p:spPr>
              <a:xfrm>
                <a:off x="6336712" y="5108400"/>
                <a:ext cx="198000" cy="36000"/>
              </a:xfrm>
              <a:prstGeom prst="rect">
                <a:avLst/>
              </a:prstGeom>
              <a:grpFill/>
              <a:ln w="12700">
                <a:noFill/>
                <a:prstDash val="solid"/>
              </a:ln>
            </p:spPr>
          </p:sp>
          <p:sp>
            <p:nvSpPr>
              <p:cNvPr id="47" name="Shape 52"/>
              <p:cNvSpPr/>
              <p:nvPr/>
            </p:nvSpPr>
            <p:spPr>
              <a:xfrm>
                <a:off x="6534712" y="5108400"/>
                <a:ext cx="198000" cy="36000"/>
              </a:xfrm>
              <a:prstGeom prst="rect">
                <a:avLst/>
              </a:prstGeom>
              <a:grpFill/>
              <a:ln w="12700">
                <a:noFill/>
                <a:prstDash val="solid"/>
              </a:ln>
            </p:spPr>
          </p:sp>
          <p:sp>
            <p:nvSpPr>
              <p:cNvPr id="48" name="Shape 52"/>
              <p:cNvSpPr/>
              <p:nvPr/>
            </p:nvSpPr>
            <p:spPr>
              <a:xfrm>
                <a:off x="6732712" y="5108400"/>
                <a:ext cx="198000" cy="36000"/>
              </a:xfrm>
              <a:prstGeom prst="rect">
                <a:avLst/>
              </a:prstGeom>
              <a:grpFill/>
              <a:ln w="12700">
                <a:noFill/>
                <a:prstDash val="solid"/>
              </a:ln>
            </p:spPr>
          </p:sp>
          <p:sp>
            <p:nvSpPr>
              <p:cNvPr id="49" name="Shape 52"/>
              <p:cNvSpPr/>
              <p:nvPr/>
            </p:nvSpPr>
            <p:spPr>
              <a:xfrm>
                <a:off x="6930712" y="5108400"/>
                <a:ext cx="198000" cy="36000"/>
              </a:xfrm>
              <a:prstGeom prst="rect">
                <a:avLst/>
              </a:prstGeom>
              <a:grpFill/>
              <a:ln w="12700">
                <a:noFill/>
                <a:prstDash val="solid"/>
              </a:ln>
            </p:spPr>
          </p:sp>
          <p:sp>
            <p:nvSpPr>
              <p:cNvPr id="50" name="Shape 52"/>
              <p:cNvSpPr/>
              <p:nvPr/>
            </p:nvSpPr>
            <p:spPr>
              <a:xfrm>
                <a:off x="7128712" y="5108400"/>
                <a:ext cx="198000" cy="36000"/>
              </a:xfrm>
              <a:prstGeom prst="rect">
                <a:avLst/>
              </a:prstGeom>
              <a:grpFill/>
              <a:ln w="12700">
                <a:noFill/>
                <a:prstDash val="solid"/>
              </a:ln>
            </p:spPr>
          </p:sp>
          <p:sp>
            <p:nvSpPr>
              <p:cNvPr id="51" name="Shape 52"/>
              <p:cNvSpPr/>
              <p:nvPr/>
            </p:nvSpPr>
            <p:spPr>
              <a:xfrm>
                <a:off x="7326712" y="5108400"/>
                <a:ext cx="198000" cy="36000"/>
              </a:xfrm>
              <a:prstGeom prst="rect">
                <a:avLst/>
              </a:prstGeom>
              <a:grpFill/>
              <a:ln w="12700">
                <a:noFill/>
                <a:prstDash val="solid"/>
              </a:ln>
            </p:spPr>
          </p:sp>
          <p:sp>
            <p:nvSpPr>
              <p:cNvPr id="52" name="Shape 52"/>
              <p:cNvSpPr/>
              <p:nvPr/>
            </p:nvSpPr>
            <p:spPr>
              <a:xfrm>
                <a:off x="7524712" y="5108400"/>
                <a:ext cx="198000" cy="36000"/>
              </a:xfrm>
              <a:prstGeom prst="rect">
                <a:avLst/>
              </a:prstGeom>
              <a:grpFill/>
              <a:ln w="12700">
                <a:noFill/>
                <a:prstDash val="solid"/>
              </a:ln>
            </p:spPr>
          </p:sp>
          <p:sp>
            <p:nvSpPr>
              <p:cNvPr id="53" name="Shape 52"/>
              <p:cNvSpPr/>
              <p:nvPr/>
            </p:nvSpPr>
            <p:spPr>
              <a:xfrm>
                <a:off x="7722712" y="5108400"/>
                <a:ext cx="198000" cy="36000"/>
              </a:xfrm>
              <a:prstGeom prst="rect">
                <a:avLst/>
              </a:prstGeom>
              <a:grpFill/>
              <a:ln w="12700">
                <a:noFill/>
                <a:prstDash val="solid"/>
              </a:ln>
            </p:spPr>
          </p:sp>
          <p:sp>
            <p:nvSpPr>
              <p:cNvPr id="54" name="Shape 52"/>
              <p:cNvSpPr/>
              <p:nvPr/>
            </p:nvSpPr>
            <p:spPr>
              <a:xfrm>
                <a:off x="7920712" y="5109048"/>
                <a:ext cx="198000" cy="36000"/>
              </a:xfrm>
              <a:prstGeom prst="rect">
                <a:avLst/>
              </a:prstGeom>
              <a:grpFill/>
              <a:ln w="12700">
                <a:noFill/>
                <a:prstDash val="solid"/>
              </a:ln>
            </p:spPr>
          </p:sp>
          <p:sp>
            <p:nvSpPr>
              <p:cNvPr id="55" name="Shape 52"/>
              <p:cNvSpPr/>
              <p:nvPr/>
            </p:nvSpPr>
            <p:spPr>
              <a:xfrm>
                <a:off x="8118712" y="5109048"/>
                <a:ext cx="198000" cy="36000"/>
              </a:xfrm>
              <a:prstGeom prst="rect">
                <a:avLst/>
              </a:prstGeom>
              <a:grpFill/>
              <a:ln w="12700">
                <a:noFill/>
                <a:prstDash val="solid"/>
              </a:ln>
            </p:spPr>
          </p:sp>
          <p:sp>
            <p:nvSpPr>
              <p:cNvPr id="56" name="Shape 52"/>
              <p:cNvSpPr/>
              <p:nvPr/>
            </p:nvSpPr>
            <p:spPr>
              <a:xfrm>
                <a:off x="8316712" y="5109048"/>
                <a:ext cx="198000" cy="36000"/>
              </a:xfrm>
              <a:prstGeom prst="rect">
                <a:avLst/>
              </a:prstGeom>
              <a:grpFill/>
              <a:ln w="12700">
                <a:noFill/>
                <a:prstDash val="solid"/>
              </a:ln>
            </p:spPr>
          </p:sp>
          <p:sp>
            <p:nvSpPr>
              <p:cNvPr id="57" name="Shape 52"/>
              <p:cNvSpPr/>
              <p:nvPr/>
            </p:nvSpPr>
            <p:spPr>
              <a:xfrm>
                <a:off x="8514712" y="5109048"/>
                <a:ext cx="198000" cy="36000"/>
              </a:xfrm>
              <a:prstGeom prst="rect">
                <a:avLst/>
              </a:prstGeom>
              <a:grpFill/>
              <a:ln w="12700">
                <a:noFill/>
                <a:prstDash val="solid"/>
              </a:ln>
            </p:spPr>
          </p:sp>
          <p:sp>
            <p:nvSpPr>
              <p:cNvPr id="58" name="Shape 52"/>
              <p:cNvSpPr/>
              <p:nvPr/>
            </p:nvSpPr>
            <p:spPr>
              <a:xfrm>
                <a:off x="8712712" y="5109048"/>
                <a:ext cx="198000" cy="36000"/>
              </a:xfrm>
              <a:prstGeom prst="rect">
                <a:avLst/>
              </a:prstGeom>
              <a:grpFill/>
              <a:ln w="12700">
                <a:noFill/>
                <a:prstDash val="solid"/>
              </a:ln>
            </p:spPr>
          </p:sp>
          <p:sp>
            <p:nvSpPr>
              <p:cNvPr id="59"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0" y="1645920"/>
            <a:ext cx="9144000" cy="1828800"/>
          </a:xfrm>
          <a:prstGeom prst="rect">
            <a:avLst/>
          </a:prstGeom>
          <a:solidFill>
            <a:srgbClr val="112233"/>
          </a:solidFill>
          <a:ln w="12700">
            <a:solidFill>
              <a:srgbClr val="112233"/>
            </a:solidFill>
            <a:prstDash val="solid"/>
          </a:ln>
        </p:spPr>
      </p:sp>
      <p:sp>
        <p:nvSpPr>
          <p:cNvPr id="3" name="Shape 1"/>
          <p:cNvSpPr/>
          <p:nvPr/>
        </p:nvSpPr>
        <p:spPr>
          <a:xfrm>
            <a:off x="0" y="1645920"/>
            <a:ext cx="109728" cy="1828800"/>
          </a:xfrm>
          <a:prstGeom prst="rect">
            <a:avLst/>
          </a:prstGeom>
          <a:solidFill>
            <a:srgbClr val="FF9100"/>
          </a:solidFill>
          <a:ln w="12700">
            <a:solidFill>
              <a:srgbClr val="FF9100"/>
            </a:solidFill>
            <a:prstDash val="solid"/>
          </a:ln>
        </p:spPr>
      </p:sp>
      <p:sp>
        <p:nvSpPr>
          <p:cNvPr id="4" name="Text 2"/>
          <p:cNvSpPr/>
          <p:nvPr/>
        </p:nvSpPr>
        <p:spPr>
          <a:xfrm>
            <a:off x="914400" y="548640"/>
            <a:ext cx="7315200" cy="822960"/>
          </a:xfrm>
          <a:prstGeom prst="rect">
            <a:avLst/>
          </a:prstGeom>
          <a:noFill/>
          <a:ln/>
        </p:spPr>
        <p:txBody>
          <a:bodyPr wrap="square" lIns="0" tIns="0" rIns="0" bIns="0" rtlCol="0" anchor="ctr"/>
          <a:lstStyle/>
          <a:p>
            <a:pPr marL="0" indent="0" algn="l">
              <a:buNone/>
            </a:pPr>
            <a:r>
              <a:rPr lang="en-US" sz="5200" b="1" dirty="0">
                <a:solidFill>
                  <a:srgbClr val="FF9100"/>
                </a:solidFill>
              </a:rPr>
              <a:t>05</a:t>
            </a:r>
            <a:endParaRPr lang="en-US" sz="5200" dirty="0"/>
          </a:p>
        </p:txBody>
      </p:sp>
      <p:sp>
        <p:nvSpPr>
          <p:cNvPr id="5" name="Text 3"/>
          <p:cNvSpPr/>
          <p:nvPr/>
        </p:nvSpPr>
        <p:spPr>
          <a:xfrm>
            <a:off x="457200" y="1737360"/>
            <a:ext cx="8229600" cy="822960"/>
          </a:xfrm>
          <a:prstGeom prst="rect">
            <a:avLst/>
          </a:prstGeom>
          <a:noFill/>
          <a:ln/>
        </p:spPr>
        <p:txBody>
          <a:bodyPr wrap="square" lIns="0" tIns="0" rIns="0" bIns="0" rtlCol="0" anchor="ctr"/>
          <a:lstStyle/>
          <a:p>
            <a:pPr marL="0" indent="0">
              <a:buNone/>
            </a:pPr>
            <a:r>
              <a:rPr lang="en-US" sz="2800" b="1" dirty="0">
                <a:solidFill>
                  <a:srgbClr val="FFFFFF"/>
                </a:solidFill>
              </a:rPr>
              <a:t>Dobór Kolorów i Psychologia Barw</a:t>
            </a:r>
            <a:endParaRPr lang="en-US" sz="2800" dirty="0"/>
          </a:p>
        </p:txBody>
      </p:sp>
      <p:sp>
        <p:nvSpPr>
          <p:cNvPr id="6" name="Text 4"/>
          <p:cNvSpPr/>
          <p:nvPr/>
        </p:nvSpPr>
        <p:spPr>
          <a:xfrm>
            <a:off x="457200" y="2606040"/>
            <a:ext cx="8229600" cy="548640"/>
          </a:xfrm>
          <a:prstGeom prst="rect">
            <a:avLst/>
          </a:prstGeom>
          <a:noFill/>
          <a:ln/>
        </p:spPr>
        <p:txBody>
          <a:bodyPr wrap="square" lIns="0" tIns="0" rIns="0" bIns="0" rtlCol="0" anchor="t"/>
          <a:lstStyle/>
          <a:p>
            <a:pPr marL="0" indent="0">
              <a:buNone/>
            </a:pPr>
            <a:r>
              <a:rPr lang="en-US" sz="1400" dirty="0">
                <a:solidFill>
                  <a:srgbClr val="8899AA"/>
                </a:solidFill>
              </a:rPr>
              <a:t>Teoria kolorów i jej zastosowanie w projektowaniu mobilnym</a:t>
            </a:r>
            <a:endParaRPr lang="en-US" sz="1400" dirty="0"/>
          </a:p>
        </p:txBody>
      </p:sp>
      <p:sp>
        <p:nvSpPr>
          <p:cNvPr id="9" name="Text 7"/>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22 / </a:t>
            </a:r>
            <a:r>
              <a:rPr lang="pl-PL" sz="800" dirty="0" smtClean="0">
                <a:solidFill>
                  <a:srgbClr val="8899AA"/>
                </a:solidFill>
              </a:rPr>
              <a:t>46</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2A"/>
        </a:solidFill>
        <a:effectLst/>
      </p:bgPr>
    </p:bg>
    <p:spTree>
      <p:nvGrpSpPr>
        <p:cNvPr id="1" name=""/>
        <p:cNvGrpSpPr/>
        <p:nvPr/>
      </p:nvGrpSpPr>
      <p:grpSpPr>
        <a:xfrm>
          <a:off x="0" y="0"/>
          <a:ext cx="0" cy="0"/>
          <a:chOff x="0" y="0"/>
          <a:chExt cx="0" cy="0"/>
        </a:xfrm>
      </p:grpSpPr>
      <p:grpSp>
        <p:nvGrpSpPr>
          <p:cNvPr id="44" name="Grupa 43"/>
          <p:cNvGrpSpPr/>
          <p:nvPr/>
        </p:nvGrpSpPr>
        <p:grpSpPr>
          <a:xfrm>
            <a:off x="-2381" y="4884912"/>
            <a:ext cx="9146381" cy="260136"/>
            <a:chOff x="-2381" y="4884912"/>
            <a:chExt cx="9146381" cy="260136"/>
          </a:xfrm>
        </p:grpSpPr>
        <p:sp>
          <p:nvSpPr>
            <p:cNvPr id="45" name="Shape 52"/>
            <p:cNvSpPr/>
            <p:nvPr/>
          </p:nvSpPr>
          <p:spPr>
            <a:xfrm>
              <a:off x="0" y="4884912"/>
              <a:ext cx="9144000" cy="252000"/>
            </a:xfrm>
            <a:prstGeom prst="rect">
              <a:avLst/>
            </a:prstGeom>
            <a:solidFill>
              <a:srgbClr val="071523"/>
            </a:solidFill>
            <a:ln w="12700">
              <a:solidFill>
                <a:srgbClr val="071523"/>
              </a:solidFill>
              <a:prstDash val="solid"/>
            </a:ln>
          </p:spPr>
        </p:sp>
        <p:sp>
          <p:nvSpPr>
            <p:cNvPr id="46"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47" name="Grupa 46"/>
            <p:cNvGrpSpPr/>
            <p:nvPr/>
          </p:nvGrpSpPr>
          <p:grpSpPr>
            <a:xfrm>
              <a:off x="-2381" y="5099329"/>
              <a:ext cx="9146381" cy="45719"/>
              <a:chOff x="-2381" y="5107500"/>
              <a:chExt cx="9111093" cy="37548"/>
            </a:xfrm>
            <a:solidFill>
              <a:schemeClr val="tx1"/>
            </a:solidFill>
          </p:grpSpPr>
          <p:sp>
            <p:nvSpPr>
              <p:cNvPr id="48"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49"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50"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62"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63"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64"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65"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66"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67"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68"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69"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70" name="Shape 52"/>
              <p:cNvSpPr/>
              <p:nvPr/>
            </p:nvSpPr>
            <p:spPr>
              <a:xfrm>
                <a:off x="4356712" y="5107500"/>
                <a:ext cx="198000" cy="36000"/>
              </a:xfrm>
              <a:prstGeom prst="rect">
                <a:avLst/>
              </a:prstGeom>
              <a:solidFill>
                <a:schemeClr val="accent5">
                  <a:lumMod val="20000"/>
                  <a:lumOff val="80000"/>
                </a:schemeClr>
              </a:solidFill>
              <a:ln w="12700">
                <a:noFill/>
                <a:prstDash val="solid"/>
              </a:ln>
            </p:spPr>
          </p:sp>
          <p:sp>
            <p:nvSpPr>
              <p:cNvPr id="71" name="Shape 52"/>
              <p:cNvSpPr/>
              <p:nvPr/>
            </p:nvSpPr>
            <p:spPr>
              <a:xfrm>
                <a:off x="4554712" y="5107500"/>
                <a:ext cx="198000" cy="36000"/>
              </a:xfrm>
              <a:prstGeom prst="rect">
                <a:avLst/>
              </a:prstGeom>
              <a:grpFill/>
              <a:ln w="12700">
                <a:noFill/>
                <a:prstDash val="solid"/>
              </a:ln>
            </p:spPr>
          </p:sp>
          <p:sp>
            <p:nvSpPr>
              <p:cNvPr id="72" name="Shape 52"/>
              <p:cNvSpPr/>
              <p:nvPr/>
            </p:nvSpPr>
            <p:spPr>
              <a:xfrm>
                <a:off x="4752712" y="5107500"/>
                <a:ext cx="198000" cy="36000"/>
              </a:xfrm>
              <a:prstGeom prst="rect">
                <a:avLst/>
              </a:prstGeom>
              <a:grpFill/>
              <a:ln w="12700">
                <a:noFill/>
                <a:prstDash val="solid"/>
              </a:ln>
            </p:spPr>
          </p:sp>
          <p:sp>
            <p:nvSpPr>
              <p:cNvPr id="73" name="Shape 52"/>
              <p:cNvSpPr/>
              <p:nvPr/>
            </p:nvSpPr>
            <p:spPr>
              <a:xfrm>
                <a:off x="4950712" y="5107500"/>
                <a:ext cx="198000" cy="36000"/>
              </a:xfrm>
              <a:prstGeom prst="rect">
                <a:avLst/>
              </a:prstGeom>
              <a:grpFill/>
              <a:ln w="12700">
                <a:noFill/>
                <a:prstDash val="solid"/>
              </a:ln>
            </p:spPr>
          </p:sp>
          <p:sp>
            <p:nvSpPr>
              <p:cNvPr id="74" name="Shape 52"/>
              <p:cNvSpPr/>
              <p:nvPr/>
            </p:nvSpPr>
            <p:spPr>
              <a:xfrm>
                <a:off x="5148712" y="5107500"/>
                <a:ext cx="198000" cy="36000"/>
              </a:xfrm>
              <a:prstGeom prst="rect">
                <a:avLst/>
              </a:prstGeom>
              <a:grpFill/>
              <a:ln w="12700">
                <a:noFill/>
                <a:prstDash val="solid"/>
              </a:ln>
            </p:spPr>
          </p:sp>
          <p:sp>
            <p:nvSpPr>
              <p:cNvPr id="75" name="Shape 52"/>
              <p:cNvSpPr/>
              <p:nvPr/>
            </p:nvSpPr>
            <p:spPr>
              <a:xfrm>
                <a:off x="5346712" y="5108400"/>
                <a:ext cx="198000" cy="36000"/>
              </a:xfrm>
              <a:prstGeom prst="rect">
                <a:avLst/>
              </a:prstGeom>
              <a:grpFill/>
              <a:ln w="12700">
                <a:noFill/>
                <a:prstDash val="solid"/>
              </a:ln>
            </p:spPr>
          </p:sp>
          <p:sp>
            <p:nvSpPr>
              <p:cNvPr id="76" name="Shape 52"/>
              <p:cNvSpPr/>
              <p:nvPr/>
            </p:nvSpPr>
            <p:spPr>
              <a:xfrm>
                <a:off x="5544712" y="5108400"/>
                <a:ext cx="198000" cy="36000"/>
              </a:xfrm>
              <a:prstGeom prst="rect">
                <a:avLst/>
              </a:prstGeom>
              <a:grpFill/>
              <a:ln w="12700">
                <a:noFill/>
                <a:prstDash val="solid"/>
              </a:ln>
            </p:spPr>
          </p:sp>
          <p:sp>
            <p:nvSpPr>
              <p:cNvPr id="77" name="Shape 52"/>
              <p:cNvSpPr/>
              <p:nvPr/>
            </p:nvSpPr>
            <p:spPr>
              <a:xfrm>
                <a:off x="5742712" y="5108400"/>
                <a:ext cx="198000" cy="36000"/>
              </a:xfrm>
              <a:prstGeom prst="rect">
                <a:avLst/>
              </a:prstGeom>
              <a:grpFill/>
              <a:ln w="12700">
                <a:noFill/>
                <a:prstDash val="solid"/>
              </a:ln>
            </p:spPr>
          </p:sp>
          <p:sp>
            <p:nvSpPr>
              <p:cNvPr id="78" name="Shape 52"/>
              <p:cNvSpPr/>
              <p:nvPr/>
            </p:nvSpPr>
            <p:spPr>
              <a:xfrm>
                <a:off x="5940712" y="5108400"/>
                <a:ext cx="198000" cy="36000"/>
              </a:xfrm>
              <a:prstGeom prst="rect">
                <a:avLst/>
              </a:prstGeom>
              <a:grpFill/>
              <a:ln w="12700">
                <a:noFill/>
                <a:prstDash val="solid"/>
              </a:ln>
            </p:spPr>
          </p:sp>
          <p:sp>
            <p:nvSpPr>
              <p:cNvPr id="79" name="Shape 52"/>
              <p:cNvSpPr/>
              <p:nvPr/>
            </p:nvSpPr>
            <p:spPr>
              <a:xfrm>
                <a:off x="6138712" y="5108400"/>
                <a:ext cx="198000" cy="36000"/>
              </a:xfrm>
              <a:prstGeom prst="rect">
                <a:avLst/>
              </a:prstGeom>
              <a:grpFill/>
              <a:ln w="12700">
                <a:noFill/>
                <a:prstDash val="solid"/>
              </a:ln>
            </p:spPr>
          </p:sp>
          <p:sp>
            <p:nvSpPr>
              <p:cNvPr id="80" name="Shape 52"/>
              <p:cNvSpPr/>
              <p:nvPr/>
            </p:nvSpPr>
            <p:spPr>
              <a:xfrm>
                <a:off x="6336712" y="5108400"/>
                <a:ext cx="198000" cy="36000"/>
              </a:xfrm>
              <a:prstGeom prst="rect">
                <a:avLst/>
              </a:prstGeom>
              <a:grpFill/>
              <a:ln w="12700">
                <a:noFill/>
                <a:prstDash val="solid"/>
              </a:ln>
            </p:spPr>
          </p:sp>
          <p:sp>
            <p:nvSpPr>
              <p:cNvPr id="81" name="Shape 52"/>
              <p:cNvSpPr/>
              <p:nvPr/>
            </p:nvSpPr>
            <p:spPr>
              <a:xfrm>
                <a:off x="6534712" y="5108400"/>
                <a:ext cx="198000" cy="36000"/>
              </a:xfrm>
              <a:prstGeom prst="rect">
                <a:avLst/>
              </a:prstGeom>
              <a:grpFill/>
              <a:ln w="12700">
                <a:noFill/>
                <a:prstDash val="solid"/>
              </a:ln>
            </p:spPr>
          </p:sp>
          <p:sp>
            <p:nvSpPr>
              <p:cNvPr id="82" name="Shape 52"/>
              <p:cNvSpPr/>
              <p:nvPr/>
            </p:nvSpPr>
            <p:spPr>
              <a:xfrm>
                <a:off x="6732712" y="5108400"/>
                <a:ext cx="198000" cy="36000"/>
              </a:xfrm>
              <a:prstGeom prst="rect">
                <a:avLst/>
              </a:prstGeom>
              <a:grpFill/>
              <a:ln w="12700">
                <a:noFill/>
                <a:prstDash val="solid"/>
              </a:ln>
            </p:spPr>
          </p:sp>
          <p:sp>
            <p:nvSpPr>
              <p:cNvPr id="83" name="Shape 52"/>
              <p:cNvSpPr/>
              <p:nvPr/>
            </p:nvSpPr>
            <p:spPr>
              <a:xfrm>
                <a:off x="6930712" y="5108400"/>
                <a:ext cx="198000" cy="36000"/>
              </a:xfrm>
              <a:prstGeom prst="rect">
                <a:avLst/>
              </a:prstGeom>
              <a:grpFill/>
              <a:ln w="12700">
                <a:noFill/>
                <a:prstDash val="solid"/>
              </a:ln>
            </p:spPr>
          </p:sp>
          <p:sp>
            <p:nvSpPr>
              <p:cNvPr id="84" name="Shape 52"/>
              <p:cNvSpPr/>
              <p:nvPr/>
            </p:nvSpPr>
            <p:spPr>
              <a:xfrm>
                <a:off x="7128712" y="5108400"/>
                <a:ext cx="198000" cy="36000"/>
              </a:xfrm>
              <a:prstGeom prst="rect">
                <a:avLst/>
              </a:prstGeom>
              <a:grpFill/>
              <a:ln w="12700">
                <a:noFill/>
                <a:prstDash val="solid"/>
              </a:ln>
            </p:spPr>
          </p:sp>
          <p:sp>
            <p:nvSpPr>
              <p:cNvPr id="85" name="Shape 52"/>
              <p:cNvSpPr/>
              <p:nvPr/>
            </p:nvSpPr>
            <p:spPr>
              <a:xfrm>
                <a:off x="7326712" y="5108400"/>
                <a:ext cx="198000" cy="36000"/>
              </a:xfrm>
              <a:prstGeom prst="rect">
                <a:avLst/>
              </a:prstGeom>
              <a:grpFill/>
              <a:ln w="12700">
                <a:noFill/>
                <a:prstDash val="solid"/>
              </a:ln>
            </p:spPr>
          </p:sp>
          <p:sp>
            <p:nvSpPr>
              <p:cNvPr id="86" name="Shape 52"/>
              <p:cNvSpPr/>
              <p:nvPr/>
            </p:nvSpPr>
            <p:spPr>
              <a:xfrm>
                <a:off x="7524712" y="5108400"/>
                <a:ext cx="198000" cy="36000"/>
              </a:xfrm>
              <a:prstGeom prst="rect">
                <a:avLst/>
              </a:prstGeom>
              <a:grpFill/>
              <a:ln w="12700">
                <a:noFill/>
                <a:prstDash val="solid"/>
              </a:ln>
            </p:spPr>
          </p:sp>
          <p:sp>
            <p:nvSpPr>
              <p:cNvPr id="87" name="Shape 52"/>
              <p:cNvSpPr/>
              <p:nvPr/>
            </p:nvSpPr>
            <p:spPr>
              <a:xfrm>
                <a:off x="7722712" y="5108400"/>
                <a:ext cx="198000" cy="36000"/>
              </a:xfrm>
              <a:prstGeom prst="rect">
                <a:avLst/>
              </a:prstGeom>
              <a:grpFill/>
              <a:ln w="12700">
                <a:noFill/>
                <a:prstDash val="solid"/>
              </a:ln>
            </p:spPr>
          </p:sp>
          <p:sp>
            <p:nvSpPr>
              <p:cNvPr id="88" name="Shape 52"/>
              <p:cNvSpPr/>
              <p:nvPr/>
            </p:nvSpPr>
            <p:spPr>
              <a:xfrm>
                <a:off x="7920712" y="5109048"/>
                <a:ext cx="198000" cy="36000"/>
              </a:xfrm>
              <a:prstGeom prst="rect">
                <a:avLst/>
              </a:prstGeom>
              <a:grpFill/>
              <a:ln w="12700">
                <a:noFill/>
                <a:prstDash val="solid"/>
              </a:ln>
            </p:spPr>
          </p:sp>
          <p:sp>
            <p:nvSpPr>
              <p:cNvPr id="89" name="Shape 52"/>
              <p:cNvSpPr/>
              <p:nvPr/>
            </p:nvSpPr>
            <p:spPr>
              <a:xfrm>
                <a:off x="8118712" y="5109048"/>
                <a:ext cx="198000" cy="36000"/>
              </a:xfrm>
              <a:prstGeom prst="rect">
                <a:avLst/>
              </a:prstGeom>
              <a:grpFill/>
              <a:ln w="12700">
                <a:noFill/>
                <a:prstDash val="solid"/>
              </a:ln>
            </p:spPr>
          </p:sp>
          <p:sp>
            <p:nvSpPr>
              <p:cNvPr id="90" name="Shape 52"/>
              <p:cNvSpPr/>
              <p:nvPr/>
            </p:nvSpPr>
            <p:spPr>
              <a:xfrm>
                <a:off x="8316712" y="5109048"/>
                <a:ext cx="198000" cy="36000"/>
              </a:xfrm>
              <a:prstGeom prst="rect">
                <a:avLst/>
              </a:prstGeom>
              <a:grpFill/>
              <a:ln w="12700">
                <a:noFill/>
                <a:prstDash val="solid"/>
              </a:ln>
            </p:spPr>
          </p:sp>
          <p:sp>
            <p:nvSpPr>
              <p:cNvPr id="91" name="Shape 52"/>
              <p:cNvSpPr/>
              <p:nvPr/>
            </p:nvSpPr>
            <p:spPr>
              <a:xfrm>
                <a:off x="8514712" y="5109048"/>
                <a:ext cx="198000" cy="36000"/>
              </a:xfrm>
              <a:prstGeom prst="rect">
                <a:avLst/>
              </a:prstGeom>
              <a:grpFill/>
              <a:ln w="12700">
                <a:noFill/>
                <a:prstDash val="solid"/>
              </a:ln>
            </p:spPr>
          </p:sp>
          <p:sp>
            <p:nvSpPr>
              <p:cNvPr id="92" name="Shape 52"/>
              <p:cNvSpPr/>
              <p:nvPr/>
            </p:nvSpPr>
            <p:spPr>
              <a:xfrm>
                <a:off x="8712712" y="5109048"/>
                <a:ext cx="198000" cy="36000"/>
              </a:xfrm>
              <a:prstGeom prst="rect">
                <a:avLst/>
              </a:prstGeom>
              <a:grpFill/>
              <a:ln w="12700">
                <a:noFill/>
                <a:prstDash val="solid"/>
              </a:ln>
            </p:spPr>
          </p:sp>
          <p:sp>
            <p:nvSpPr>
              <p:cNvPr id="93"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FF9100"/>
          </a:solidFill>
          <a:ln w="12700">
            <a:solidFill>
              <a:srgbClr val="FF9100"/>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Teoria Kolorów w Projektowaniu Mobilnym</a:t>
            </a:r>
            <a:endParaRPr lang="en-US" sz="2200" dirty="0"/>
          </a:p>
        </p:txBody>
      </p:sp>
      <p:sp>
        <p:nvSpPr>
          <p:cNvPr id="4" name="Shape 2"/>
          <p:cNvSpPr/>
          <p:nvPr/>
        </p:nvSpPr>
        <p:spPr>
          <a:xfrm>
            <a:off x="320040" y="914400"/>
            <a:ext cx="4069080" cy="219456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5" name="Shape 3"/>
          <p:cNvSpPr/>
          <p:nvPr/>
        </p:nvSpPr>
        <p:spPr>
          <a:xfrm>
            <a:off x="320040" y="914400"/>
            <a:ext cx="45720" cy="2194560"/>
          </a:xfrm>
          <a:prstGeom prst="rect">
            <a:avLst/>
          </a:prstGeom>
          <a:solidFill>
            <a:srgbClr val="FF9100"/>
          </a:solidFill>
          <a:ln w="12700">
            <a:solidFill>
              <a:srgbClr val="FF9100"/>
            </a:solidFill>
            <a:prstDash val="solid"/>
          </a:ln>
        </p:spPr>
      </p:sp>
      <p:sp>
        <p:nvSpPr>
          <p:cNvPr id="6" name="Text 4"/>
          <p:cNvSpPr/>
          <p:nvPr/>
        </p:nvSpPr>
        <p:spPr>
          <a:xfrm>
            <a:off x="429768" y="978408"/>
            <a:ext cx="3913632" cy="256032"/>
          </a:xfrm>
          <a:prstGeom prst="rect">
            <a:avLst/>
          </a:prstGeom>
          <a:noFill/>
          <a:ln/>
        </p:spPr>
        <p:txBody>
          <a:bodyPr wrap="square" lIns="0" tIns="0" rIns="0" bIns="0" rtlCol="0" anchor="t"/>
          <a:lstStyle/>
          <a:p>
            <a:pPr marL="0" indent="0">
              <a:buNone/>
            </a:pPr>
            <a:r>
              <a:rPr lang="en-US" sz="1000" b="1" dirty="0">
                <a:solidFill>
                  <a:srgbClr val="FF9100"/>
                </a:solidFill>
              </a:rPr>
              <a:t>Schematy Kolorystyczne</a:t>
            </a:r>
            <a:endParaRPr lang="en-US" sz="1000" dirty="0"/>
          </a:p>
        </p:txBody>
      </p:sp>
      <p:sp>
        <p:nvSpPr>
          <p:cNvPr id="7" name="Text 5"/>
          <p:cNvSpPr/>
          <p:nvPr/>
        </p:nvSpPr>
        <p:spPr>
          <a:xfrm>
            <a:off x="429768" y="1243584"/>
            <a:ext cx="3913632" cy="1810512"/>
          </a:xfrm>
          <a:prstGeom prst="rect">
            <a:avLst/>
          </a:prstGeom>
          <a:noFill/>
          <a:ln/>
        </p:spPr>
        <p:txBody>
          <a:bodyPr wrap="square" lIns="0" tIns="0" rIns="0" bIns="0" rtlCol="0" anchor="t"/>
          <a:lstStyle/>
          <a:p>
            <a:pPr marL="0" indent="0">
              <a:buNone/>
            </a:pPr>
            <a:r>
              <a:rPr lang="en-US" sz="950" dirty="0">
                <a:solidFill>
                  <a:srgbClr val="CCDDEE"/>
                </a:solidFill>
              </a:rPr>
              <a:t>Monochromatyczny: wariacje jednego koloru — spójność i elegancja</a:t>
            </a:r>
            <a:endParaRPr lang="en-US" sz="950" dirty="0"/>
          </a:p>
          <a:p>
            <a:pPr marL="0" indent="0">
              <a:buNone/>
            </a:pPr>
            <a:r>
              <a:rPr lang="en-US" sz="950" dirty="0">
                <a:solidFill>
                  <a:srgbClr val="CCDDEE"/>
                </a:solidFill>
              </a:rPr>
              <a:t>Analogiczny: kolory sąsiadujące na kole — harmonia</a:t>
            </a:r>
            <a:endParaRPr lang="en-US" sz="950" dirty="0"/>
          </a:p>
          <a:p>
            <a:pPr marL="0" indent="0">
              <a:buNone/>
            </a:pPr>
            <a:r>
              <a:rPr lang="en-US" sz="950" dirty="0">
                <a:solidFill>
                  <a:srgbClr val="CCDDEE"/>
                </a:solidFill>
              </a:rPr>
              <a:t>Komplementarny: kolory przeciwne na kole — kontrast i energia</a:t>
            </a:r>
            <a:endParaRPr lang="en-US" sz="950" dirty="0"/>
          </a:p>
          <a:p>
            <a:pPr marL="0" indent="0">
              <a:buNone/>
            </a:pPr>
            <a:r>
              <a:rPr lang="en-US" sz="950" dirty="0">
                <a:solidFill>
                  <a:srgbClr val="CCDDEE"/>
                </a:solidFill>
              </a:rPr>
              <a:t>Triadowy: trzy kolory równomiernie — żywość i balans</a:t>
            </a:r>
            <a:endParaRPr lang="en-US" sz="950" dirty="0"/>
          </a:p>
        </p:txBody>
      </p:sp>
      <p:sp>
        <p:nvSpPr>
          <p:cNvPr id="8" name="Shape 6"/>
          <p:cNvSpPr/>
          <p:nvPr/>
        </p:nvSpPr>
        <p:spPr>
          <a:xfrm>
            <a:off x="457200" y="3218688"/>
            <a:ext cx="457200" cy="457200"/>
          </a:xfrm>
          <a:prstGeom prst="ellipse">
            <a:avLst/>
          </a:prstGeom>
          <a:solidFill>
            <a:srgbClr val="E53935"/>
          </a:solidFill>
          <a:ln w="12700">
            <a:solidFill>
              <a:srgbClr val="E53935"/>
            </a:solidFill>
            <a:prstDash val="solid"/>
          </a:ln>
        </p:spPr>
      </p:sp>
      <p:sp>
        <p:nvSpPr>
          <p:cNvPr id="9" name="Shape 7"/>
          <p:cNvSpPr/>
          <p:nvPr/>
        </p:nvSpPr>
        <p:spPr>
          <a:xfrm>
            <a:off x="1097280" y="3218688"/>
            <a:ext cx="457200" cy="457200"/>
          </a:xfrm>
          <a:prstGeom prst="ellipse">
            <a:avLst/>
          </a:prstGeom>
          <a:solidFill>
            <a:srgbClr val="F57C00"/>
          </a:solidFill>
          <a:ln w="12700">
            <a:solidFill>
              <a:srgbClr val="F57C00"/>
            </a:solidFill>
            <a:prstDash val="solid"/>
          </a:ln>
        </p:spPr>
      </p:sp>
      <p:sp>
        <p:nvSpPr>
          <p:cNvPr id="10" name="Shape 8"/>
          <p:cNvSpPr/>
          <p:nvPr/>
        </p:nvSpPr>
        <p:spPr>
          <a:xfrm>
            <a:off x="1737360" y="3218688"/>
            <a:ext cx="457200" cy="457200"/>
          </a:xfrm>
          <a:prstGeom prst="ellipse">
            <a:avLst/>
          </a:prstGeom>
          <a:solidFill>
            <a:srgbClr val="FDD835"/>
          </a:solidFill>
          <a:ln w="12700">
            <a:solidFill>
              <a:srgbClr val="FDD835"/>
            </a:solidFill>
            <a:prstDash val="solid"/>
          </a:ln>
        </p:spPr>
      </p:sp>
      <p:sp>
        <p:nvSpPr>
          <p:cNvPr id="11" name="Shape 9"/>
          <p:cNvSpPr/>
          <p:nvPr/>
        </p:nvSpPr>
        <p:spPr>
          <a:xfrm>
            <a:off x="2377440" y="3218688"/>
            <a:ext cx="457200" cy="457200"/>
          </a:xfrm>
          <a:prstGeom prst="ellipse">
            <a:avLst/>
          </a:prstGeom>
          <a:solidFill>
            <a:srgbClr val="43A047"/>
          </a:solidFill>
          <a:ln w="12700">
            <a:solidFill>
              <a:srgbClr val="43A047"/>
            </a:solidFill>
            <a:prstDash val="solid"/>
          </a:ln>
        </p:spPr>
      </p:sp>
      <p:sp>
        <p:nvSpPr>
          <p:cNvPr id="12" name="Shape 10"/>
          <p:cNvSpPr/>
          <p:nvPr/>
        </p:nvSpPr>
        <p:spPr>
          <a:xfrm>
            <a:off x="3017520" y="3218688"/>
            <a:ext cx="457200" cy="457200"/>
          </a:xfrm>
          <a:prstGeom prst="ellipse">
            <a:avLst/>
          </a:prstGeom>
          <a:solidFill>
            <a:srgbClr val="1E88E5"/>
          </a:solidFill>
          <a:ln w="12700">
            <a:solidFill>
              <a:srgbClr val="1E88E5"/>
            </a:solidFill>
            <a:prstDash val="solid"/>
          </a:ln>
        </p:spPr>
      </p:sp>
      <p:sp>
        <p:nvSpPr>
          <p:cNvPr id="13" name="Shape 11"/>
          <p:cNvSpPr/>
          <p:nvPr/>
        </p:nvSpPr>
        <p:spPr>
          <a:xfrm>
            <a:off x="3657600" y="3218688"/>
            <a:ext cx="457200" cy="457200"/>
          </a:xfrm>
          <a:prstGeom prst="ellipse">
            <a:avLst/>
          </a:prstGeom>
          <a:solidFill>
            <a:srgbClr val="8E24AA"/>
          </a:solidFill>
          <a:ln w="12700">
            <a:solidFill>
              <a:srgbClr val="8E24AA"/>
            </a:solidFill>
            <a:prstDash val="solid"/>
          </a:ln>
        </p:spPr>
      </p:sp>
      <p:sp>
        <p:nvSpPr>
          <p:cNvPr id="14" name="Shape 12"/>
          <p:cNvSpPr/>
          <p:nvPr/>
        </p:nvSpPr>
        <p:spPr>
          <a:xfrm>
            <a:off x="320040" y="3767328"/>
            <a:ext cx="1965960" cy="713232"/>
          </a:xfrm>
          <a:prstGeom prst="rect">
            <a:avLst/>
          </a:prstGeom>
          <a:solidFill>
            <a:srgbClr val="112233"/>
          </a:solidFill>
          <a:ln w="12700">
            <a:solidFill>
              <a:srgbClr val="FF9100"/>
            </a:solidFill>
            <a:prstDash val="solid"/>
          </a:ln>
        </p:spPr>
      </p:sp>
      <p:sp>
        <p:nvSpPr>
          <p:cNvPr id="15" name="Text 13"/>
          <p:cNvSpPr/>
          <p:nvPr/>
        </p:nvSpPr>
        <p:spPr>
          <a:xfrm>
            <a:off x="320040" y="3858768"/>
            <a:ext cx="1965960" cy="392278"/>
          </a:xfrm>
          <a:prstGeom prst="rect">
            <a:avLst/>
          </a:prstGeom>
          <a:noFill/>
          <a:ln/>
        </p:spPr>
        <p:txBody>
          <a:bodyPr wrap="square" lIns="0" tIns="0" rIns="0" bIns="0" rtlCol="0" anchor="ctr"/>
          <a:lstStyle/>
          <a:p>
            <a:pPr marL="0" indent="0" algn="ctr">
              <a:buNone/>
            </a:pPr>
            <a:r>
              <a:rPr lang="en-US" sz="2400" b="1" dirty="0">
                <a:solidFill>
                  <a:srgbClr val="FF9100"/>
                </a:solidFill>
              </a:rPr>
              <a:t>60-30-10</a:t>
            </a:r>
            <a:endParaRPr lang="en-US" sz="2400" dirty="0"/>
          </a:p>
        </p:txBody>
      </p:sp>
      <p:sp>
        <p:nvSpPr>
          <p:cNvPr id="16" name="Text 14"/>
          <p:cNvSpPr/>
          <p:nvPr/>
        </p:nvSpPr>
        <p:spPr>
          <a:xfrm>
            <a:off x="320040" y="4195267"/>
            <a:ext cx="1965960" cy="271028"/>
          </a:xfrm>
          <a:prstGeom prst="rect">
            <a:avLst/>
          </a:prstGeom>
          <a:noFill/>
          <a:ln/>
        </p:spPr>
        <p:txBody>
          <a:bodyPr wrap="square" lIns="0" tIns="0" rIns="0" bIns="0" rtlCol="0" anchor="ctr"/>
          <a:lstStyle/>
          <a:p>
            <a:pPr marL="0" indent="0" algn="ctr">
              <a:buNone/>
            </a:pPr>
            <a:r>
              <a:rPr lang="en-US" sz="850" dirty="0">
                <a:solidFill>
                  <a:srgbClr val="8899AA"/>
                </a:solidFill>
              </a:rPr>
              <a:t>zasada proporcji kolorów</a:t>
            </a:r>
            <a:endParaRPr lang="en-US" sz="850" dirty="0"/>
          </a:p>
        </p:txBody>
      </p:sp>
      <p:sp>
        <p:nvSpPr>
          <p:cNvPr id="17" name="Shape 15"/>
          <p:cNvSpPr/>
          <p:nvPr/>
        </p:nvSpPr>
        <p:spPr>
          <a:xfrm>
            <a:off x="2423160" y="3767328"/>
            <a:ext cx="1965960" cy="713232"/>
          </a:xfrm>
          <a:prstGeom prst="rect">
            <a:avLst/>
          </a:prstGeom>
          <a:solidFill>
            <a:srgbClr val="112233"/>
          </a:solidFill>
          <a:ln w="12700">
            <a:solidFill>
              <a:srgbClr val="00D4FF"/>
            </a:solidFill>
            <a:prstDash val="solid"/>
          </a:ln>
        </p:spPr>
      </p:sp>
      <p:sp>
        <p:nvSpPr>
          <p:cNvPr id="18" name="Text 16"/>
          <p:cNvSpPr/>
          <p:nvPr/>
        </p:nvSpPr>
        <p:spPr>
          <a:xfrm>
            <a:off x="2423160" y="3858768"/>
            <a:ext cx="1965960" cy="392278"/>
          </a:xfrm>
          <a:prstGeom prst="rect">
            <a:avLst/>
          </a:prstGeom>
          <a:noFill/>
          <a:ln/>
        </p:spPr>
        <p:txBody>
          <a:bodyPr wrap="square" lIns="0" tIns="0" rIns="0" bIns="0" rtlCol="0" anchor="ctr"/>
          <a:lstStyle/>
          <a:p>
            <a:pPr marL="0" indent="0" algn="ctr">
              <a:buNone/>
            </a:pPr>
            <a:r>
              <a:rPr lang="en-US" sz="2400" b="1" dirty="0">
                <a:solidFill>
                  <a:srgbClr val="00D4FF"/>
                </a:solidFill>
              </a:rPr>
              <a:t>3:1</a:t>
            </a:r>
            <a:endParaRPr lang="en-US" sz="2400" dirty="0"/>
          </a:p>
        </p:txBody>
      </p:sp>
      <p:sp>
        <p:nvSpPr>
          <p:cNvPr id="19" name="Text 17"/>
          <p:cNvSpPr/>
          <p:nvPr/>
        </p:nvSpPr>
        <p:spPr>
          <a:xfrm>
            <a:off x="2423160" y="4195267"/>
            <a:ext cx="1965960" cy="271028"/>
          </a:xfrm>
          <a:prstGeom prst="rect">
            <a:avLst/>
          </a:prstGeom>
          <a:noFill/>
          <a:ln/>
        </p:spPr>
        <p:txBody>
          <a:bodyPr wrap="square" lIns="0" tIns="0" rIns="0" bIns="0" rtlCol="0" anchor="ctr"/>
          <a:lstStyle/>
          <a:p>
            <a:pPr marL="0" indent="0" algn="ctr">
              <a:buNone/>
            </a:pPr>
            <a:r>
              <a:rPr lang="en-US" sz="850" dirty="0">
                <a:solidFill>
                  <a:srgbClr val="8899AA"/>
                </a:solidFill>
              </a:rPr>
              <a:t>min. kontrast dla elementów UI</a:t>
            </a:r>
            <a:endParaRPr lang="en-US" sz="850" dirty="0"/>
          </a:p>
        </p:txBody>
      </p:sp>
      <p:sp>
        <p:nvSpPr>
          <p:cNvPr id="20" name="Shape 18"/>
          <p:cNvSpPr/>
          <p:nvPr/>
        </p:nvSpPr>
        <p:spPr>
          <a:xfrm>
            <a:off x="4754880" y="914400"/>
            <a:ext cx="4069080" cy="3246120"/>
          </a:xfrm>
          <a:prstGeom prst="rect">
            <a:avLst/>
          </a:prstGeom>
          <a:solidFill>
            <a:srgbClr val="112233"/>
          </a:solidFill>
          <a:ln w="12700">
            <a:solidFill>
              <a:srgbClr val="1A3050"/>
            </a:solidFill>
            <a:prstDash val="solid"/>
          </a:ln>
        </p:spPr>
      </p:sp>
      <p:sp>
        <p:nvSpPr>
          <p:cNvPr id="21" name="Shape 19"/>
          <p:cNvSpPr/>
          <p:nvPr/>
        </p:nvSpPr>
        <p:spPr>
          <a:xfrm>
            <a:off x="4754880" y="914400"/>
            <a:ext cx="45720" cy="3246120"/>
          </a:xfrm>
          <a:prstGeom prst="rect">
            <a:avLst/>
          </a:prstGeom>
          <a:solidFill>
            <a:srgbClr val="FF9100"/>
          </a:solidFill>
          <a:ln w="12700">
            <a:solidFill>
              <a:srgbClr val="FF9100"/>
            </a:solidFill>
            <a:prstDash val="solid"/>
          </a:ln>
        </p:spPr>
      </p:sp>
      <p:sp>
        <p:nvSpPr>
          <p:cNvPr id="22" name="Text 20"/>
          <p:cNvSpPr/>
          <p:nvPr/>
        </p:nvSpPr>
        <p:spPr>
          <a:xfrm>
            <a:off x="4892040" y="987552"/>
            <a:ext cx="3794760" cy="274320"/>
          </a:xfrm>
          <a:prstGeom prst="rect">
            <a:avLst/>
          </a:prstGeom>
          <a:noFill/>
          <a:ln/>
        </p:spPr>
        <p:txBody>
          <a:bodyPr wrap="square" lIns="0" tIns="0" rIns="0" bIns="0" rtlCol="0" anchor="ctr"/>
          <a:lstStyle/>
          <a:p>
            <a:pPr marL="0" indent="0">
              <a:buNone/>
            </a:pPr>
            <a:r>
              <a:rPr lang="en-US" sz="1200" b="1" dirty="0">
                <a:solidFill>
                  <a:srgbClr val="FFFFFF"/>
                </a:solidFill>
              </a:rPr>
              <a:t>Zastosowanie w Mobile</a:t>
            </a:r>
            <a:endParaRPr lang="en-US" sz="1200" dirty="0"/>
          </a:p>
        </p:txBody>
      </p:sp>
      <p:sp>
        <p:nvSpPr>
          <p:cNvPr id="23" name="Shape 21"/>
          <p:cNvSpPr/>
          <p:nvPr/>
        </p:nvSpPr>
        <p:spPr>
          <a:xfrm>
            <a:off x="4892040" y="1371600"/>
            <a:ext cx="256032" cy="256032"/>
          </a:xfrm>
          <a:prstGeom prst="ellipse">
            <a:avLst/>
          </a:prstGeom>
          <a:solidFill>
            <a:srgbClr val="FF9100"/>
          </a:solidFill>
          <a:ln w="12700">
            <a:solidFill>
              <a:srgbClr val="FF9100"/>
            </a:solidFill>
            <a:prstDash val="solid"/>
          </a:ln>
        </p:spPr>
      </p:sp>
      <p:sp>
        <p:nvSpPr>
          <p:cNvPr id="24" name="Text 22"/>
          <p:cNvSpPr/>
          <p:nvPr/>
        </p:nvSpPr>
        <p:spPr>
          <a:xfrm>
            <a:off x="4892040" y="1371600"/>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1</a:t>
            </a:r>
            <a:endParaRPr lang="en-US" sz="1100" dirty="0"/>
          </a:p>
        </p:txBody>
      </p:sp>
      <p:sp>
        <p:nvSpPr>
          <p:cNvPr id="25" name="Text 23"/>
          <p:cNvSpPr/>
          <p:nvPr/>
        </p:nvSpPr>
        <p:spPr>
          <a:xfrm>
            <a:off x="5239512" y="1371600"/>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Tożsamość Marki</a:t>
            </a:r>
            <a:endParaRPr lang="en-US" sz="1000" dirty="0"/>
          </a:p>
        </p:txBody>
      </p:sp>
      <p:sp>
        <p:nvSpPr>
          <p:cNvPr id="26" name="Text 24"/>
          <p:cNvSpPr/>
          <p:nvPr/>
        </p:nvSpPr>
        <p:spPr>
          <a:xfrm>
            <a:off x="5239512" y="1636776"/>
            <a:ext cx="3474720" cy="329184"/>
          </a:xfrm>
          <a:prstGeom prst="rect">
            <a:avLst/>
          </a:prstGeom>
          <a:noFill/>
          <a:ln/>
        </p:spPr>
        <p:txBody>
          <a:bodyPr wrap="square" lIns="0" tIns="0" rIns="0" bIns="0" rtlCol="0" anchor="ctr"/>
          <a:lstStyle/>
          <a:p>
            <a:pPr marL="0" indent="0">
              <a:buNone/>
            </a:pPr>
            <a:r>
              <a:rPr lang="en-US" sz="850" dirty="0">
                <a:solidFill>
                  <a:srgbClr val="8899AA"/>
                </a:solidFill>
              </a:rPr>
              <a:t>Kolory budują rozpoznawalność. Spójność we wszystkich punktach styku.</a:t>
            </a:r>
            <a:endParaRPr lang="en-US" sz="850" dirty="0"/>
          </a:p>
        </p:txBody>
      </p:sp>
      <p:sp>
        <p:nvSpPr>
          <p:cNvPr id="27" name="Shape 25"/>
          <p:cNvSpPr/>
          <p:nvPr/>
        </p:nvSpPr>
        <p:spPr>
          <a:xfrm>
            <a:off x="4892040" y="2029968"/>
            <a:ext cx="256032" cy="256032"/>
          </a:xfrm>
          <a:prstGeom prst="ellipse">
            <a:avLst/>
          </a:prstGeom>
          <a:solidFill>
            <a:srgbClr val="FF9100"/>
          </a:solidFill>
          <a:ln w="12700">
            <a:solidFill>
              <a:srgbClr val="FF9100"/>
            </a:solidFill>
            <a:prstDash val="solid"/>
          </a:ln>
        </p:spPr>
      </p:sp>
      <p:sp>
        <p:nvSpPr>
          <p:cNvPr id="28" name="Text 26"/>
          <p:cNvSpPr/>
          <p:nvPr/>
        </p:nvSpPr>
        <p:spPr>
          <a:xfrm>
            <a:off x="4892040" y="2029968"/>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2</a:t>
            </a:r>
            <a:endParaRPr lang="en-US" sz="1100" dirty="0"/>
          </a:p>
        </p:txBody>
      </p:sp>
      <p:sp>
        <p:nvSpPr>
          <p:cNvPr id="29" name="Text 27"/>
          <p:cNvSpPr/>
          <p:nvPr/>
        </p:nvSpPr>
        <p:spPr>
          <a:xfrm>
            <a:off x="5239512" y="2029968"/>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Kierowanie Uwagą</a:t>
            </a:r>
            <a:endParaRPr lang="en-US" sz="1000" dirty="0"/>
          </a:p>
        </p:txBody>
      </p:sp>
      <p:sp>
        <p:nvSpPr>
          <p:cNvPr id="30" name="Text 28"/>
          <p:cNvSpPr/>
          <p:nvPr/>
        </p:nvSpPr>
        <p:spPr>
          <a:xfrm>
            <a:off x="5239512" y="2295144"/>
            <a:ext cx="3474720" cy="329184"/>
          </a:xfrm>
          <a:prstGeom prst="rect">
            <a:avLst/>
          </a:prstGeom>
          <a:noFill/>
          <a:ln/>
        </p:spPr>
        <p:txBody>
          <a:bodyPr wrap="square" lIns="0" tIns="0" rIns="0" bIns="0" rtlCol="0" anchor="ctr"/>
          <a:lstStyle/>
          <a:p>
            <a:pPr marL="0" indent="0">
              <a:buNone/>
            </a:pPr>
            <a:r>
              <a:rPr lang="en-US" sz="850" dirty="0">
                <a:solidFill>
                  <a:srgbClr val="8899AA"/>
                </a:solidFill>
              </a:rPr>
              <a:t>Kontrastowe kolory przyciągają do kluczowych elementów (CTA, błędy).</a:t>
            </a:r>
            <a:endParaRPr lang="en-US" sz="850" dirty="0"/>
          </a:p>
        </p:txBody>
      </p:sp>
      <p:sp>
        <p:nvSpPr>
          <p:cNvPr id="31" name="Shape 29"/>
          <p:cNvSpPr/>
          <p:nvPr/>
        </p:nvSpPr>
        <p:spPr>
          <a:xfrm>
            <a:off x="4892040" y="2688336"/>
            <a:ext cx="256032" cy="256032"/>
          </a:xfrm>
          <a:prstGeom prst="ellipse">
            <a:avLst/>
          </a:prstGeom>
          <a:solidFill>
            <a:srgbClr val="FF9100"/>
          </a:solidFill>
          <a:ln w="12700">
            <a:solidFill>
              <a:srgbClr val="FF9100"/>
            </a:solidFill>
            <a:prstDash val="solid"/>
          </a:ln>
        </p:spPr>
      </p:sp>
      <p:sp>
        <p:nvSpPr>
          <p:cNvPr id="32" name="Text 30"/>
          <p:cNvSpPr/>
          <p:nvPr/>
        </p:nvSpPr>
        <p:spPr>
          <a:xfrm>
            <a:off x="4892040" y="2688336"/>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3</a:t>
            </a:r>
            <a:endParaRPr lang="en-US" sz="1100" dirty="0"/>
          </a:p>
        </p:txBody>
      </p:sp>
      <p:sp>
        <p:nvSpPr>
          <p:cNvPr id="33" name="Text 31"/>
          <p:cNvSpPr/>
          <p:nvPr/>
        </p:nvSpPr>
        <p:spPr>
          <a:xfrm>
            <a:off x="5239512" y="2688336"/>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Tworzenie Nastroju</a:t>
            </a:r>
            <a:endParaRPr lang="en-US" sz="1000" dirty="0"/>
          </a:p>
        </p:txBody>
      </p:sp>
      <p:sp>
        <p:nvSpPr>
          <p:cNvPr id="34" name="Text 32"/>
          <p:cNvSpPr/>
          <p:nvPr/>
        </p:nvSpPr>
        <p:spPr>
          <a:xfrm>
            <a:off x="5239512" y="2953512"/>
            <a:ext cx="3474720" cy="329184"/>
          </a:xfrm>
          <a:prstGeom prst="rect">
            <a:avLst/>
          </a:prstGeom>
          <a:noFill/>
          <a:ln/>
        </p:spPr>
        <p:txBody>
          <a:bodyPr wrap="square" lIns="0" tIns="0" rIns="0" bIns="0" rtlCol="0" anchor="ctr"/>
          <a:lstStyle/>
          <a:p>
            <a:pPr marL="0" indent="0">
              <a:buNone/>
            </a:pPr>
            <a:r>
              <a:rPr lang="en-US" sz="850" dirty="0">
                <a:solidFill>
                  <a:srgbClr val="8899AA"/>
                </a:solidFill>
              </a:rPr>
              <a:t>Kolory wpływają na emocje. Niebieski = spokój, czerwony = pilność.</a:t>
            </a:r>
            <a:endParaRPr lang="en-US" sz="850" dirty="0"/>
          </a:p>
        </p:txBody>
      </p:sp>
      <p:sp>
        <p:nvSpPr>
          <p:cNvPr id="35" name="Shape 33"/>
          <p:cNvSpPr/>
          <p:nvPr/>
        </p:nvSpPr>
        <p:spPr>
          <a:xfrm>
            <a:off x="4892040" y="3346704"/>
            <a:ext cx="256032" cy="256032"/>
          </a:xfrm>
          <a:prstGeom prst="ellipse">
            <a:avLst/>
          </a:prstGeom>
          <a:solidFill>
            <a:srgbClr val="FF9100"/>
          </a:solidFill>
          <a:ln w="12700">
            <a:solidFill>
              <a:srgbClr val="FF9100"/>
            </a:solidFill>
            <a:prstDash val="solid"/>
          </a:ln>
        </p:spPr>
      </p:sp>
      <p:sp>
        <p:nvSpPr>
          <p:cNvPr id="36" name="Text 34"/>
          <p:cNvSpPr/>
          <p:nvPr/>
        </p:nvSpPr>
        <p:spPr>
          <a:xfrm>
            <a:off x="4892040" y="3346704"/>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4</a:t>
            </a:r>
            <a:endParaRPr lang="en-US" sz="1100" dirty="0"/>
          </a:p>
        </p:txBody>
      </p:sp>
      <p:sp>
        <p:nvSpPr>
          <p:cNvPr id="37" name="Text 35"/>
          <p:cNvSpPr/>
          <p:nvPr/>
        </p:nvSpPr>
        <p:spPr>
          <a:xfrm>
            <a:off x="5239512" y="3346704"/>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Dostępność</a:t>
            </a:r>
            <a:endParaRPr lang="en-US" sz="1000" dirty="0"/>
          </a:p>
        </p:txBody>
      </p:sp>
      <p:sp>
        <p:nvSpPr>
          <p:cNvPr id="38" name="Text 36"/>
          <p:cNvSpPr/>
          <p:nvPr/>
        </p:nvSpPr>
        <p:spPr>
          <a:xfrm>
            <a:off x="5239512" y="3611880"/>
            <a:ext cx="3474720" cy="329184"/>
          </a:xfrm>
          <a:prstGeom prst="rect">
            <a:avLst/>
          </a:prstGeom>
          <a:noFill/>
          <a:ln/>
        </p:spPr>
        <p:txBody>
          <a:bodyPr wrap="square" lIns="0" tIns="0" rIns="0" bIns="0" rtlCol="0" anchor="ctr"/>
          <a:lstStyle/>
          <a:p>
            <a:pPr marL="0" indent="0">
              <a:buNone/>
            </a:pPr>
            <a:r>
              <a:rPr lang="en-US" sz="850" dirty="0">
                <a:solidFill>
                  <a:srgbClr val="8899AA"/>
                </a:solidFill>
              </a:rPr>
              <a:t>Odpowiedni kontrast dla osób z wadami wzroku. Nie polegaj tylko na kolorze.</a:t>
            </a:r>
            <a:endParaRPr lang="en-US" sz="850" dirty="0"/>
          </a:p>
        </p:txBody>
      </p:sp>
      <p:sp>
        <p:nvSpPr>
          <p:cNvPr id="39" name="Shape 37"/>
          <p:cNvSpPr/>
          <p:nvPr/>
        </p:nvSpPr>
        <p:spPr>
          <a:xfrm>
            <a:off x="4754880" y="4224528"/>
            <a:ext cx="4069080" cy="594360"/>
          </a:xfrm>
          <a:prstGeom prst="rect">
            <a:avLst/>
          </a:prstGeom>
          <a:solidFill>
            <a:srgbClr val="0A1929"/>
          </a:solidFill>
          <a:ln w="12700">
            <a:solidFill>
              <a:srgbClr val="1A3050"/>
            </a:solidFill>
            <a:prstDash val="solid"/>
          </a:ln>
        </p:spPr>
      </p:sp>
      <p:sp>
        <p:nvSpPr>
          <p:cNvPr id="40" name="Text 38"/>
          <p:cNvSpPr/>
          <p:nvPr/>
        </p:nvSpPr>
        <p:spPr>
          <a:xfrm>
            <a:off x="4892040" y="4251960"/>
            <a:ext cx="3794760" cy="530352"/>
          </a:xfrm>
          <a:prstGeom prst="rect">
            <a:avLst/>
          </a:prstGeom>
          <a:noFill/>
          <a:ln/>
        </p:spPr>
        <p:txBody>
          <a:bodyPr wrap="square" lIns="0" tIns="0" rIns="0" bIns="0" rtlCol="0" anchor="ctr"/>
          <a:lstStyle/>
          <a:p>
            <a:pPr marL="0" indent="0">
              <a:buNone/>
            </a:pPr>
            <a:r>
              <a:rPr lang="en-US" sz="900" dirty="0">
                <a:solidFill>
                  <a:srgbClr val="8899AA"/>
                </a:solidFill>
              </a:rPr>
              <a:t>Narzędzia: Coolors.co | Adobe Color | Material Color Tool | Stark (kontrast checker)</a:t>
            </a:r>
            <a:endParaRPr lang="en-US" sz="900" dirty="0"/>
          </a:p>
        </p:txBody>
      </p:sp>
      <p:sp>
        <p:nvSpPr>
          <p:cNvPr id="43" name="Text 41"/>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23 / </a:t>
            </a:r>
            <a:r>
              <a:rPr lang="pl-PL" sz="800" dirty="0" smtClean="0">
                <a:solidFill>
                  <a:srgbClr val="8899AA"/>
                </a:solidFill>
              </a:rPr>
              <a:t>46</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2A"/>
        </a:solidFill>
        <a:effectLst/>
      </p:bgPr>
    </p:bg>
    <p:spTree>
      <p:nvGrpSpPr>
        <p:cNvPr id="1" name=""/>
        <p:cNvGrpSpPr/>
        <p:nvPr/>
      </p:nvGrpSpPr>
      <p:grpSpPr>
        <a:xfrm>
          <a:off x="0" y="0"/>
          <a:ext cx="0" cy="0"/>
          <a:chOff x="0" y="0"/>
          <a:chExt cx="0" cy="0"/>
        </a:xfrm>
      </p:grpSpPr>
      <p:grpSp>
        <p:nvGrpSpPr>
          <p:cNvPr id="33" name="Grupa 32"/>
          <p:cNvGrpSpPr/>
          <p:nvPr/>
        </p:nvGrpSpPr>
        <p:grpSpPr>
          <a:xfrm>
            <a:off x="-2381" y="4884912"/>
            <a:ext cx="9146381" cy="260136"/>
            <a:chOff x="-2381" y="4884912"/>
            <a:chExt cx="9146381" cy="260136"/>
          </a:xfrm>
        </p:grpSpPr>
        <p:sp>
          <p:nvSpPr>
            <p:cNvPr id="34" name="Shape 52"/>
            <p:cNvSpPr/>
            <p:nvPr/>
          </p:nvSpPr>
          <p:spPr>
            <a:xfrm>
              <a:off x="0" y="4884912"/>
              <a:ext cx="9144000" cy="252000"/>
            </a:xfrm>
            <a:prstGeom prst="rect">
              <a:avLst/>
            </a:prstGeom>
            <a:solidFill>
              <a:srgbClr val="071523"/>
            </a:solidFill>
            <a:ln w="12700">
              <a:solidFill>
                <a:srgbClr val="071523"/>
              </a:solidFill>
              <a:prstDash val="solid"/>
            </a:ln>
          </p:spPr>
        </p:sp>
        <p:sp>
          <p:nvSpPr>
            <p:cNvPr id="35"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36" name="Grupa 35"/>
            <p:cNvGrpSpPr/>
            <p:nvPr/>
          </p:nvGrpSpPr>
          <p:grpSpPr>
            <a:xfrm>
              <a:off x="-2381" y="5099329"/>
              <a:ext cx="9146381" cy="45719"/>
              <a:chOff x="-2381" y="5107500"/>
              <a:chExt cx="9111093" cy="37548"/>
            </a:xfrm>
            <a:solidFill>
              <a:schemeClr val="tx1"/>
            </a:solidFill>
          </p:grpSpPr>
          <p:sp>
            <p:nvSpPr>
              <p:cNvPr id="37"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38"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39"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40"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41"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42"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43"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44"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45"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46"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47"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48"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49"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50"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4356712" y="51075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4554712" y="51075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4752712" y="5107500"/>
                <a:ext cx="198000" cy="36000"/>
              </a:xfrm>
              <a:prstGeom prst="rect">
                <a:avLst/>
              </a:prstGeom>
              <a:grpFill/>
              <a:ln w="12700">
                <a:noFill/>
                <a:prstDash val="solid"/>
              </a:ln>
            </p:spPr>
          </p:sp>
          <p:sp>
            <p:nvSpPr>
              <p:cNvPr id="62" name="Shape 52"/>
              <p:cNvSpPr/>
              <p:nvPr/>
            </p:nvSpPr>
            <p:spPr>
              <a:xfrm>
                <a:off x="4950712" y="5107500"/>
                <a:ext cx="198000" cy="36000"/>
              </a:xfrm>
              <a:prstGeom prst="rect">
                <a:avLst/>
              </a:prstGeom>
              <a:grpFill/>
              <a:ln w="12700">
                <a:noFill/>
                <a:prstDash val="solid"/>
              </a:ln>
            </p:spPr>
          </p:sp>
          <p:sp>
            <p:nvSpPr>
              <p:cNvPr id="63" name="Shape 52"/>
              <p:cNvSpPr/>
              <p:nvPr/>
            </p:nvSpPr>
            <p:spPr>
              <a:xfrm>
                <a:off x="5148712" y="5107500"/>
                <a:ext cx="198000" cy="36000"/>
              </a:xfrm>
              <a:prstGeom prst="rect">
                <a:avLst/>
              </a:prstGeom>
              <a:grpFill/>
              <a:ln w="12700">
                <a:noFill/>
                <a:prstDash val="solid"/>
              </a:ln>
            </p:spPr>
          </p:sp>
          <p:sp>
            <p:nvSpPr>
              <p:cNvPr id="64" name="Shape 52"/>
              <p:cNvSpPr/>
              <p:nvPr/>
            </p:nvSpPr>
            <p:spPr>
              <a:xfrm>
                <a:off x="5346712" y="5108400"/>
                <a:ext cx="198000" cy="36000"/>
              </a:xfrm>
              <a:prstGeom prst="rect">
                <a:avLst/>
              </a:prstGeom>
              <a:grpFill/>
              <a:ln w="12700">
                <a:noFill/>
                <a:prstDash val="solid"/>
              </a:ln>
            </p:spPr>
          </p:sp>
          <p:sp>
            <p:nvSpPr>
              <p:cNvPr id="65" name="Shape 52"/>
              <p:cNvSpPr/>
              <p:nvPr/>
            </p:nvSpPr>
            <p:spPr>
              <a:xfrm>
                <a:off x="5544712" y="5108400"/>
                <a:ext cx="198000" cy="36000"/>
              </a:xfrm>
              <a:prstGeom prst="rect">
                <a:avLst/>
              </a:prstGeom>
              <a:grpFill/>
              <a:ln w="12700">
                <a:noFill/>
                <a:prstDash val="solid"/>
              </a:ln>
            </p:spPr>
          </p:sp>
          <p:sp>
            <p:nvSpPr>
              <p:cNvPr id="66" name="Shape 52"/>
              <p:cNvSpPr/>
              <p:nvPr/>
            </p:nvSpPr>
            <p:spPr>
              <a:xfrm>
                <a:off x="5742712" y="5108400"/>
                <a:ext cx="198000" cy="36000"/>
              </a:xfrm>
              <a:prstGeom prst="rect">
                <a:avLst/>
              </a:prstGeom>
              <a:grpFill/>
              <a:ln w="12700">
                <a:noFill/>
                <a:prstDash val="solid"/>
              </a:ln>
            </p:spPr>
          </p:sp>
          <p:sp>
            <p:nvSpPr>
              <p:cNvPr id="67" name="Shape 52"/>
              <p:cNvSpPr/>
              <p:nvPr/>
            </p:nvSpPr>
            <p:spPr>
              <a:xfrm>
                <a:off x="5940712" y="5108400"/>
                <a:ext cx="198000" cy="36000"/>
              </a:xfrm>
              <a:prstGeom prst="rect">
                <a:avLst/>
              </a:prstGeom>
              <a:grpFill/>
              <a:ln w="12700">
                <a:noFill/>
                <a:prstDash val="solid"/>
              </a:ln>
            </p:spPr>
          </p:sp>
          <p:sp>
            <p:nvSpPr>
              <p:cNvPr id="68" name="Shape 52"/>
              <p:cNvSpPr/>
              <p:nvPr/>
            </p:nvSpPr>
            <p:spPr>
              <a:xfrm>
                <a:off x="6138712" y="5108400"/>
                <a:ext cx="198000" cy="36000"/>
              </a:xfrm>
              <a:prstGeom prst="rect">
                <a:avLst/>
              </a:prstGeom>
              <a:grpFill/>
              <a:ln w="12700">
                <a:noFill/>
                <a:prstDash val="solid"/>
              </a:ln>
            </p:spPr>
          </p:sp>
          <p:sp>
            <p:nvSpPr>
              <p:cNvPr id="69" name="Shape 52"/>
              <p:cNvSpPr/>
              <p:nvPr/>
            </p:nvSpPr>
            <p:spPr>
              <a:xfrm>
                <a:off x="6336712" y="5108400"/>
                <a:ext cx="198000" cy="36000"/>
              </a:xfrm>
              <a:prstGeom prst="rect">
                <a:avLst/>
              </a:prstGeom>
              <a:grpFill/>
              <a:ln w="12700">
                <a:noFill/>
                <a:prstDash val="solid"/>
              </a:ln>
            </p:spPr>
          </p:sp>
          <p:sp>
            <p:nvSpPr>
              <p:cNvPr id="70" name="Shape 52"/>
              <p:cNvSpPr/>
              <p:nvPr/>
            </p:nvSpPr>
            <p:spPr>
              <a:xfrm>
                <a:off x="6534712" y="5108400"/>
                <a:ext cx="198000" cy="36000"/>
              </a:xfrm>
              <a:prstGeom prst="rect">
                <a:avLst/>
              </a:prstGeom>
              <a:grpFill/>
              <a:ln w="12700">
                <a:noFill/>
                <a:prstDash val="solid"/>
              </a:ln>
            </p:spPr>
          </p:sp>
          <p:sp>
            <p:nvSpPr>
              <p:cNvPr id="71" name="Shape 52"/>
              <p:cNvSpPr/>
              <p:nvPr/>
            </p:nvSpPr>
            <p:spPr>
              <a:xfrm>
                <a:off x="6732712" y="5108400"/>
                <a:ext cx="198000" cy="36000"/>
              </a:xfrm>
              <a:prstGeom prst="rect">
                <a:avLst/>
              </a:prstGeom>
              <a:grpFill/>
              <a:ln w="12700">
                <a:noFill/>
                <a:prstDash val="solid"/>
              </a:ln>
            </p:spPr>
          </p:sp>
          <p:sp>
            <p:nvSpPr>
              <p:cNvPr id="72" name="Shape 52"/>
              <p:cNvSpPr/>
              <p:nvPr/>
            </p:nvSpPr>
            <p:spPr>
              <a:xfrm>
                <a:off x="6930712" y="5108400"/>
                <a:ext cx="198000" cy="36000"/>
              </a:xfrm>
              <a:prstGeom prst="rect">
                <a:avLst/>
              </a:prstGeom>
              <a:grpFill/>
              <a:ln w="12700">
                <a:noFill/>
                <a:prstDash val="solid"/>
              </a:ln>
            </p:spPr>
          </p:sp>
          <p:sp>
            <p:nvSpPr>
              <p:cNvPr id="73" name="Shape 52"/>
              <p:cNvSpPr/>
              <p:nvPr/>
            </p:nvSpPr>
            <p:spPr>
              <a:xfrm>
                <a:off x="7128712" y="5108400"/>
                <a:ext cx="198000" cy="36000"/>
              </a:xfrm>
              <a:prstGeom prst="rect">
                <a:avLst/>
              </a:prstGeom>
              <a:grpFill/>
              <a:ln w="12700">
                <a:noFill/>
                <a:prstDash val="solid"/>
              </a:ln>
            </p:spPr>
          </p:sp>
          <p:sp>
            <p:nvSpPr>
              <p:cNvPr id="74" name="Shape 52"/>
              <p:cNvSpPr/>
              <p:nvPr/>
            </p:nvSpPr>
            <p:spPr>
              <a:xfrm>
                <a:off x="7326712" y="5108400"/>
                <a:ext cx="198000" cy="36000"/>
              </a:xfrm>
              <a:prstGeom prst="rect">
                <a:avLst/>
              </a:prstGeom>
              <a:grpFill/>
              <a:ln w="12700">
                <a:noFill/>
                <a:prstDash val="solid"/>
              </a:ln>
            </p:spPr>
          </p:sp>
          <p:sp>
            <p:nvSpPr>
              <p:cNvPr id="75" name="Shape 52"/>
              <p:cNvSpPr/>
              <p:nvPr/>
            </p:nvSpPr>
            <p:spPr>
              <a:xfrm>
                <a:off x="7524712" y="5108400"/>
                <a:ext cx="198000" cy="36000"/>
              </a:xfrm>
              <a:prstGeom prst="rect">
                <a:avLst/>
              </a:prstGeom>
              <a:grpFill/>
              <a:ln w="12700">
                <a:noFill/>
                <a:prstDash val="solid"/>
              </a:ln>
            </p:spPr>
          </p:sp>
          <p:sp>
            <p:nvSpPr>
              <p:cNvPr id="76" name="Shape 52"/>
              <p:cNvSpPr/>
              <p:nvPr/>
            </p:nvSpPr>
            <p:spPr>
              <a:xfrm>
                <a:off x="7722712" y="5108400"/>
                <a:ext cx="198000" cy="36000"/>
              </a:xfrm>
              <a:prstGeom prst="rect">
                <a:avLst/>
              </a:prstGeom>
              <a:grpFill/>
              <a:ln w="12700">
                <a:noFill/>
                <a:prstDash val="solid"/>
              </a:ln>
            </p:spPr>
          </p:sp>
          <p:sp>
            <p:nvSpPr>
              <p:cNvPr id="77" name="Shape 52"/>
              <p:cNvSpPr/>
              <p:nvPr/>
            </p:nvSpPr>
            <p:spPr>
              <a:xfrm>
                <a:off x="7920712" y="5109048"/>
                <a:ext cx="198000" cy="36000"/>
              </a:xfrm>
              <a:prstGeom prst="rect">
                <a:avLst/>
              </a:prstGeom>
              <a:grpFill/>
              <a:ln w="12700">
                <a:noFill/>
                <a:prstDash val="solid"/>
              </a:ln>
            </p:spPr>
          </p:sp>
          <p:sp>
            <p:nvSpPr>
              <p:cNvPr id="78" name="Shape 52"/>
              <p:cNvSpPr/>
              <p:nvPr/>
            </p:nvSpPr>
            <p:spPr>
              <a:xfrm>
                <a:off x="8118712" y="5109048"/>
                <a:ext cx="198000" cy="36000"/>
              </a:xfrm>
              <a:prstGeom prst="rect">
                <a:avLst/>
              </a:prstGeom>
              <a:grpFill/>
              <a:ln w="12700">
                <a:noFill/>
                <a:prstDash val="solid"/>
              </a:ln>
            </p:spPr>
          </p:sp>
          <p:sp>
            <p:nvSpPr>
              <p:cNvPr id="79" name="Shape 52"/>
              <p:cNvSpPr/>
              <p:nvPr/>
            </p:nvSpPr>
            <p:spPr>
              <a:xfrm>
                <a:off x="8316712" y="5109048"/>
                <a:ext cx="198000" cy="36000"/>
              </a:xfrm>
              <a:prstGeom prst="rect">
                <a:avLst/>
              </a:prstGeom>
              <a:grpFill/>
              <a:ln w="12700">
                <a:noFill/>
                <a:prstDash val="solid"/>
              </a:ln>
            </p:spPr>
          </p:sp>
          <p:sp>
            <p:nvSpPr>
              <p:cNvPr id="80" name="Shape 52"/>
              <p:cNvSpPr/>
              <p:nvPr/>
            </p:nvSpPr>
            <p:spPr>
              <a:xfrm>
                <a:off x="8514712" y="5109048"/>
                <a:ext cx="198000" cy="36000"/>
              </a:xfrm>
              <a:prstGeom prst="rect">
                <a:avLst/>
              </a:prstGeom>
              <a:grpFill/>
              <a:ln w="12700">
                <a:noFill/>
                <a:prstDash val="solid"/>
              </a:ln>
            </p:spPr>
          </p:sp>
          <p:sp>
            <p:nvSpPr>
              <p:cNvPr id="81" name="Shape 52"/>
              <p:cNvSpPr/>
              <p:nvPr/>
            </p:nvSpPr>
            <p:spPr>
              <a:xfrm>
                <a:off x="8712712" y="5109048"/>
                <a:ext cx="198000" cy="36000"/>
              </a:xfrm>
              <a:prstGeom prst="rect">
                <a:avLst/>
              </a:prstGeom>
              <a:grpFill/>
              <a:ln w="12700">
                <a:noFill/>
                <a:prstDash val="solid"/>
              </a:ln>
            </p:spPr>
          </p:sp>
          <p:sp>
            <p:nvSpPr>
              <p:cNvPr id="82"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FF9100"/>
          </a:solidFill>
          <a:ln w="12700">
            <a:solidFill>
              <a:srgbClr val="FF9100"/>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Psychologia Kolorów i Emocje</a:t>
            </a:r>
            <a:endParaRPr lang="en-US" sz="2200" dirty="0"/>
          </a:p>
        </p:txBody>
      </p:sp>
      <p:sp>
        <p:nvSpPr>
          <p:cNvPr id="4" name="Shape 2"/>
          <p:cNvSpPr/>
          <p:nvPr/>
        </p:nvSpPr>
        <p:spPr>
          <a:xfrm>
            <a:off x="320040" y="960120"/>
            <a:ext cx="2743200" cy="1417320"/>
          </a:xfrm>
          <a:prstGeom prst="rect">
            <a:avLst/>
          </a:prstGeom>
          <a:solidFill>
            <a:srgbClr val="112233"/>
          </a:solidFill>
          <a:ln w="12700">
            <a:solidFill>
              <a:srgbClr val="1A3050"/>
            </a:solidFill>
            <a:prstDash val="solid"/>
          </a:ln>
        </p:spPr>
      </p:sp>
      <p:sp>
        <p:nvSpPr>
          <p:cNvPr id="5" name="Shape 3"/>
          <p:cNvSpPr/>
          <p:nvPr/>
        </p:nvSpPr>
        <p:spPr>
          <a:xfrm>
            <a:off x="411480" y="1069848"/>
            <a:ext cx="384048" cy="384048"/>
          </a:xfrm>
          <a:prstGeom prst="ellipse">
            <a:avLst/>
          </a:prstGeom>
          <a:solidFill>
            <a:srgbClr val="E53935"/>
          </a:solidFill>
          <a:ln w="12700">
            <a:solidFill>
              <a:srgbClr val="E53935"/>
            </a:solidFill>
            <a:prstDash val="solid"/>
          </a:ln>
        </p:spPr>
      </p:sp>
      <p:sp>
        <p:nvSpPr>
          <p:cNvPr id="6" name="Text 4"/>
          <p:cNvSpPr/>
          <p:nvPr/>
        </p:nvSpPr>
        <p:spPr>
          <a:xfrm>
            <a:off x="886968" y="1069848"/>
            <a:ext cx="2084832" cy="256032"/>
          </a:xfrm>
          <a:prstGeom prst="rect">
            <a:avLst/>
          </a:prstGeom>
          <a:noFill/>
          <a:ln/>
        </p:spPr>
        <p:txBody>
          <a:bodyPr wrap="square" lIns="0" tIns="0" rIns="0" bIns="0" rtlCol="0" anchor="ctr"/>
          <a:lstStyle/>
          <a:p>
            <a:pPr marL="0" indent="0">
              <a:buNone/>
            </a:pPr>
            <a:r>
              <a:rPr lang="en-US" sz="1100" b="1" dirty="0">
                <a:solidFill>
                  <a:srgbClr val="FFFFFF"/>
                </a:solidFill>
              </a:rPr>
              <a:t>Czerwień</a:t>
            </a:r>
            <a:endParaRPr lang="en-US" sz="1100" dirty="0"/>
          </a:p>
        </p:txBody>
      </p:sp>
      <p:sp>
        <p:nvSpPr>
          <p:cNvPr id="7" name="Text 5"/>
          <p:cNvSpPr/>
          <p:nvPr/>
        </p:nvSpPr>
        <p:spPr>
          <a:xfrm>
            <a:off x="411480" y="1527048"/>
            <a:ext cx="2560320" cy="749808"/>
          </a:xfrm>
          <a:prstGeom prst="rect">
            <a:avLst/>
          </a:prstGeom>
          <a:noFill/>
          <a:ln/>
        </p:spPr>
        <p:txBody>
          <a:bodyPr wrap="square" lIns="0" tIns="0" rIns="0" bIns="0" rtlCol="0" anchor="t"/>
          <a:lstStyle/>
          <a:p>
            <a:pPr marL="0" indent="0">
              <a:buNone/>
            </a:pPr>
            <a:r>
              <a:rPr lang="en-US" sz="850" dirty="0">
                <a:solidFill>
                  <a:srgbClr val="8899AA"/>
                </a:solidFill>
              </a:rPr>
              <a:t>Podekscytowanie, pilność, pasja. YouTube, Netflix, Coca-Cola. Zwiększa tętno.</a:t>
            </a:r>
            <a:endParaRPr lang="en-US" sz="850" dirty="0"/>
          </a:p>
        </p:txBody>
      </p:sp>
      <p:sp>
        <p:nvSpPr>
          <p:cNvPr id="8" name="Shape 6"/>
          <p:cNvSpPr/>
          <p:nvPr/>
        </p:nvSpPr>
        <p:spPr>
          <a:xfrm>
            <a:off x="3200400" y="960120"/>
            <a:ext cx="2743200" cy="1417320"/>
          </a:xfrm>
          <a:prstGeom prst="rect">
            <a:avLst/>
          </a:prstGeom>
          <a:solidFill>
            <a:srgbClr val="112233"/>
          </a:solidFill>
          <a:ln w="12700">
            <a:solidFill>
              <a:srgbClr val="1A3050"/>
            </a:solidFill>
            <a:prstDash val="solid"/>
          </a:ln>
        </p:spPr>
      </p:sp>
      <p:sp>
        <p:nvSpPr>
          <p:cNvPr id="9" name="Shape 7"/>
          <p:cNvSpPr/>
          <p:nvPr/>
        </p:nvSpPr>
        <p:spPr>
          <a:xfrm>
            <a:off x="3291840" y="1069848"/>
            <a:ext cx="384048" cy="384048"/>
          </a:xfrm>
          <a:prstGeom prst="ellipse">
            <a:avLst/>
          </a:prstGeom>
          <a:solidFill>
            <a:srgbClr val="1E88E5"/>
          </a:solidFill>
          <a:ln w="12700">
            <a:solidFill>
              <a:srgbClr val="1E88E5"/>
            </a:solidFill>
            <a:prstDash val="solid"/>
          </a:ln>
        </p:spPr>
      </p:sp>
      <p:sp>
        <p:nvSpPr>
          <p:cNvPr id="10" name="Text 8"/>
          <p:cNvSpPr/>
          <p:nvPr/>
        </p:nvSpPr>
        <p:spPr>
          <a:xfrm>
            <a:off x="3767328" y="1069848"/>
            <a:ext cx="2084832" cy="256032"/>
          </a:xfrm>
          <a:prstGeom prst="rect">
            <a:avLst/>
          </a:prstGeom>
          <a:noFill/>
          <a:ln/>
        </p:spPr>
        <p:txBody>
          <a:bodyPr wrap="square" lIns="0" tIns="0" rIns="0" bIns="0" rtlCol="0" anchor="ctr"/>
          <a:lstStyle/>
          <a:p>
            <a:pPr marL="0" indent="0">
              <a:buNone/>
            </a:pPr>
            <a:r>
              <a:rPr lang="en-US" sz="1100" b="1" dirty="0">
                <a:solidFill>
                  <a:srgbClr val="FFFFFF"/>
                </a:solidFill>
              </a:rPr>
              <a:t>Niebieski</a:t>
            </a:r>
            <a:endParaRPr lang="en-US" sz="1100" dirty="0"/>
          </a:p>
        </p:txBody>
      </p:sp>
      <p:sp>
        <p:nvSpPr>
          <p:cNvPr id="11" name="Text 9"/>
          <p:cNvSpPr/>
          <p:nvPr/>
        </p:nvSpPr>
        <p:spPr>
          <a:xfrm>
            <a:off x="3291840" y="1527048"/>
            <a:ext cx="2560320" cy="749808"/>
          </a:xfrm>
          <a:prstGeom prst="rect">
            <a:avLst/>
          </a:prstGeom>
          <a:noFill/>
          <a:ln/>
        </p:spPr>
        <p:txBody>
          <a:bodyPr wrap="square" lIns="0" tIns="0" rIns="0" bIns="0" rtlCol="0" anchor="t"/>
          <a:lstStyle/>
          <a:p>
            <a:pPr marL="0" indent="0">
              <a:buNone/>
            </a:pPr>
            <a:r>
              <a:rPr lang="en-US" sz="850" dirty="0">
                <a:solidFill>
                  <a:srgbClr val="8899AA"/>
                </a:solidFill>
              </a:rPr>
              <a:t>Zaufanie, spokój, profesjonalizm. Facebook, LinkedIn, PayPal. Najbardziej lubiany globalnie.</a:t>
            </a:r>
            <a:endParaRPr lang="en-US" sz="850" dirty="0"/>
          </a:p>
        </p:txBody>
      </p:sp>
      <p:sp>
        <p:nvSpPr>
          <p:cNvPr id="12" name="Shape 10"/>
          <p:cNvSpPr/>
          <p:nvPr/>
        </p:nvSpPr>
        <p:spPr>
          <a:xfrm>
            <a:off x="6080760" y="960120"/>
            <a:ext cx="2743200" cy="1417320"/>
          </a:xfrm>
          <a:prstGeom prst="rect">
            <a:avLst/>
          </a:prstGeom>
          <a:solidFill>
            <a:srgbClr val="112233"/>
          </a:solidFill>
          <a:ln w="12700">
            <a:solidFill>
              <a:srgbClr val="1A3050"/>
            </a:solidFill>
            <a:prstDash val="solid"/>
          </a:ln>
        </p:spPr>
      </p:sp>
      <p:sp>
        <p:nvSpPr>
          <p:cNvPr id="13" name="Shape 11"/>
          <p:cNvSpPr/>
          <p:nvPr/>
        </p:nvSpPr>
        <p:spPr>
          <a:xfrm>
            <a:off x="6172200" y="1069848"/>
            <a:ext cx="384048" cy="384048"/>
          </a:xfrm>
          <a:prstGeom prst="ellipse">
            <a:avLst/>
          </a:prstGeom>
          <a:solidFill>
            <a:srgbClr val="43A047"/>
          </a:solidFill>
          <a:ln w="12700">
            <a:solidFill>
              <a:srgbClr val="43A047"/>
            </a:solidFill>
            <a:prstDash val="solid"/>
          </a:ln>
        </p:spPr>
      </p:sp>
      <p:sp>
        <p:nvSpPr>
          <p:cNvPr id="14" name="Text 12"/>
          <p:cNvSpPr/>
          <p:nvPr/>
        </p:nvSpPr>
        <p:spPr>
          <a:xfrm>
            <a:off x="6647688" y="1069848"/>
            <a:ext cx="2084832" cy="256032"/>
          </a:xfrm>
          <a:prstGeom prst="rect">
            <a:avLst/>
          </a:prstGeom>
          <a:noFill/>
          <a:ln/>
        </p:spPr>
        <p:txBody>
          <a:bodyPr wrap="square" lIns="0" tIns="0" rIns="0" bIns="0" rtlCol="0" anchor="ctr"/>
          <a:lstStyle/>
          <a:p>
            <a:pPr marL="0" indent="0">
              <a:buNone/>
            </a:pPr>
            <a:r>
              <a:rPr lang="en-US" sz="1100" b="1" dirty="0">
                <a:solidFill>
                  <a:srgbClr val="FFFFFF"/>
                </a:solidFill>
              </a:rPr>
              <a:t>Zieleń</a:t>
            </a:r>
            <a:endParaRPr lang="en-US" sz="1100" dirty="0"/>
          </a:p>
        </p:txBody>
      </p:sp>
      <p:sp>
        <p:nvSpPr>
          <p:cNvPr id="15" name="Text 13"/>
          <p:cNvSpPr/>
          <p:nvPr/>
        </p:nvSpPr>
        <p:spPr>
          <a:xfrm>
            <a:off x="6172200" y="1527048"/>
            <a:ext cx="2560320" cy="749808"/>
          </a:xfrm>
          <a:prstGeom prst="rect">
            <a:avLst/>
          </a:prstGeom>
          <a:noFill/>
          <a:ln/>
        </p:spPr>
        <p:txBody>
          <a:bodyPr wrap="square" lIns="0" tIns="0" rIns="0" bIns="0" rtlCol="0" anchor="t"/>
          <a:lstStyle/>
          <a:p>
            <a:pPr marL="0" indent="0">
              <a:buNone/>
            </a:pPr>
            <a:r>
              <a:rPr lang="en-US" sz="850" dirty="0">
                <a:solidFill>
                  <a:srgbClr val="8899AA"/>
                </a:solidFill>
              </a:rPr>
              <a:t>Natura, wzrost, sukces, harmonia. WhatsApp, Spotify, Starbucks. Relaksujący dla oczu.</a:t>
            </a:r>
            <a:endParaRPr lang="en-US" sz="850" dirty="0"/>
          </a:p>
        </p:txBody>
      </p:sp>
      <p:sp>
        <p:nvSpPr>
          <p:cNvPr id="16" name="Shape 14"/>
          <p:cNvSpPr/>
          <p:nvPr/>
        </p:nvSpPr>
        <p:spPr>
          <a:xfrm>
            <a:off x="320040" y="2532888"/>
            <a:ext cx="2743200" cy="1417320"/>
          </a:xfrm>
          <a:prstGeom prst="rect">
            <a:avLst/>
          </a:prstGeom>
          <a:solidFill>
            <a:srgbClr val="112233"/>
          </a:solidFill>
          <a:ln w="12700">
            <a:solidFill>
              <a:srgbClr val="1A3050"/>
            </a:solidFill>
            <a:prstDash val="solid"/>
          </a:ln>
        </p:spPr>
      </p:sp>
      <p:sp>
        <p:nvSpPr>
          <p:cNvPr id="17" name="Shape 15"/>
          <p:cNvSpPr/>
          <p:nvPr/>
        </p:nvSpPr>
        <p:spPr>
          <a:xfrm>
            <a:off x="411480" y="2642616"/>
            <a:ext cx="384048" cy="384048"/>
          </a:xfrm>
          <a:prstGeom prst="ellipse">
            <a:avLst/>
          </a:prstGeom>
          <a:solidFill>
            <a:srgbClr val="FDD835"/>
          </a:solidFill>
          <a:ln w="12700">
            <a:solidFill>
              <a:srgbClr val="FDD835"/>
            </a:solidFill>
            <a:prstDash val="solid"/>
          </a:ln>
        </p:spPr>
      </p:sp>
      <p:sp>
        <p:nvSpPr>
          <p:cNvPr id="18" name="Text 16"/>
          <p:cNvSpPr/>
          <p:nvPr/>
        </p:nvSpPr>
        <p:spPr>
          <a:xfrm>
            <a:off x="886968" y="2642616"/>
            <a:ext cx="2084832" cy="256032"/>
          </a:xfrm>
          <a:prstGeom prst="rect">
            <a:avLst/>
          </a:prstGeom>
          <a:noFill/>
          <a:ln/>
        </p:spPr>
        <p:txBody>
          <a:bodyPr wrap="square" lIns="0" tIns="0" rIns="0" bIns="0" rtlCol="0" anchor="ctr"/>
          <a:lstStyle/>
          <a:p>
            <a:pPr marL="0" indent="0">
              <a:buNone/>
            </a:pPr>
            <a:r>
              <a:rPr lang="en-US" sz="1100" b="1" dirty="0">
                <a:solidFill>
                  <a:srgbClr val="FFFFFF"/>
                </a:solidFill>
              </a:rPr>
              <a:t>Żółty</a:t>
            </a:r>
            <a:endParaRPr lang="en-US" sz="1100" dirty="0"/>
          </a:p>
        </p:txBody>
      </p:sp>
      <p:sp>
        <p:nvSpPr>
          <p:cNvPr id="19" name="Text 17"/>
          <p:cNvSpPr/>
          <p:nvPr/>
        </p:nvSpPr>
        <p:spPr>
          <a:xfrm>
            <a:off x="411480" y="3099816"/>
            <a:ext cx="2560320" cy="749808"/>
          </a:xfrm>
          <a:prstGeom prst="rect">
            <a:avLst/>
          </a:prstGeom>
          <a:noFill/>
          <a:ln/>
        </p:spPr>
        <p:txBody>
          <a:bodyPr wrap="square" lIns="0" tIns="0" rIns="0" bIns="0" rtlCol="0" anchor="t"/>
          <a:lstStyle/>
          <a:p>
            <a:pPr marL="0" indent="0">
              <a:buNone/>
            </a:pPr>
            <a:r>
              <a:rPr lang="en-US" sz="850" dirty="0">
                <a:solidFill>
                  <a:srgbClr val="8899AA"/>
                </a:solidFill>
              </a:rPr>
              <a:t>Optymizm, energia, kreatywność. Snapchat, IKEA, McDonald's. Przyciąga uwagę, ale może męczyć.</a:t>
            </a:r>
            <a:endParaRPr lang="en-US" sz="850" dirty="0"/>
          </a:p>
        </p:txBody>
      </p:sp>
      <p:sp>
        <p:nvSpPr>
          <p:cNvPr id="20" name="Shape 18"/>
          <p:cNvSpPr/>
          <p:nvPr/>
        </p:nvSpPr>
        <p:spPr>
          <a:xfrm>
            <a:off x="3200400" y="2532888"/>
            <a:ext cx="2743200" cy="1417320"/>
          </a:xfrm>
          <a:prstGeom prst="rect">
            <a:avLst/>
          </a:prstGeom>
          <a:solidFill>
            <a:srgbClr val="112233"/>
          </a:solidFill>
          <a:ln w="12700">
            <a:solidFill>
              <a:srgbClr val="1A3050"/>
            </a:solidFill>
            <a:prstDash val="solid"/>
          </a:ln>
        </p:spPr>
      </p:sp>
      <p:sp>
        <p:nvSpPr>
          <p:cNvPr id="21" name="Shape 19"/>
          <p:cNvSpPr/>
          <p:nvPr/>
        </p:nvSpPr>
        <p:spPr>
          <a:xfrm>
            <a:off x="3291840" y="2642616"/>
            <a:ext cx="384048" cy="384048"/>
          </a:xfrm>
          <a:prstGeom prst="ellipse">
            <a:avLst/>
          </a:prstGeom>
          <a:solidFill>
            <a:srgbClr val="F57C00"/>
          </a:solidFill>
          <a:ln w="12700">
            <a:solidFill>
              <a:srgbClr val="F57C00"/>
            </a:solidFill>
            <a:prstDash val="solid"/>
          </a:ln>
        </p:spPr>
      </p:sp>
      <p:sp>
        <p:nvSpPr>
          <p:cNvPr id="22" name="Text 20"/>
          <p:cNvSpPr/>
          <p:nvPr/>
        </p:nvSpPr>
        <p:spPr>
          <a:xfrm>
            <a:off x="3767328" y="2642616"/>
            <a:ext cx="2084832" cy="256032"/>
          </a:xfrm>
          <a:prstGeom prst="rect">
            <a:avLst/>
          </a:prstGeom>
          <a:noFill/>
          <a:ln/>
        </p:spPr>
        <p:txBody>
          <a:bodyPr wrap="square" lIns="0" tIns="0" rIns="0" bIns="0" rtlCol="0" anchor="ctr"/>
          <a:lstStyle/>
          <a:p>
            <a:pPr marL="0" indent="0">
              <a:buNone/>
            </a:pPr>
            <a:r>
              <a:rPr lang="en-US" sz="1100" b="1" dirty="0">
                <a:solidFill>
                  <a:srgbClr val="FFFFFF"/>
                </a:solidFill>
              </a:rPr>
              <a:t>Pomarańczowy</a:t>
            </a:r>
            <a:endParaRPr lang="en-US" sz="1100" dirty="0"/>
          </a:p>
        </p:txBody>
      </p:sp>
      <p:sp>
        <p:nvSpPr>
          <p:cNvPr id="23" name="Text 21"/>
          <p:cNvSpPr/>
          <p:nvPr/>
        </p:nvSpPr>
        <p:spPr>
          <a:xfrm>
            <a:off x="3291840" y="3099816"/>
            <a:ext cx="2560320" cy="749808"/>
          </a:xfrm>
          <a:prstGeom prst="rect">
            <a:avLst/>
          </a:prstGeom>
          <a:noFill/>
          <a:ln/>
        </p:spPr>
        <p:txBody>
          <a:bodyPr wrap="square" lIns="0" tIns="0" rIns="0" bIns="0" rtlCol="0" anchor="t"/>
          <a:lstStyle/>
          <a:p>
            <a:pPr marL="0" indent="0">
              <a:buNone/>
            </a:pPr>
            <a:r>
              <a:rPr lang="en-US" sz="850" dirty="0">
                <a:solidFill>
                  <a:srgbClr val="8899AA"/>
                </a:solidFill>
              </a:rPr>
              <a:t>Entuzjazm, kreatywność, przyjaźń. Amazon, Firefox, Fanta. Mniej agresywny niż czerwień.</a:t>
            </a:r>
            <a:endParaRPr lang="en-US" sz="850" dirty="0"/>
          </a:p>
        </p:txBody>
      </p:sp>
      <p:sp>
        <p:nvSpPr>
          <p:cNvPr id="24" name="Shape 22"/>
          <p:cNvSpPr/>
          <p:nvPr/>
        </p:nvSpPr>
        <p:spPr>
          <a:xfrm>
            <a:off x="6080760" y="2532888"/>
            <a:ext cx="2743200" cy="1417320"/>
          </a:xfrm>
          <a:prstGeom prst="rect">
            <a:avLst/>
          </a:prstGeom>
          <a:solidFill>
            <a:srgbClr val="112233"/>
          </a:solidFill>
          <a:ln w="12700">
            <a:solidFill>
              <a:srgbClr val="1A3050"/>
            </a:solidFill>
            <a:prstDash val="solid"/>
          </a:ln>
        </p:spPr>
      </p:sp>
      <p:sp>
        <p:nvSpPr>
          <p:cNvPr id="25" name="Shape 23"/>
          <p:cNvSpPr/>
          <p:nvPr/>
        </p:nvSpPr>
        <p:spPr>
          <a:xfrm>
            <a:off x="6172200" y="2642616"/>
            <a:ext cx="384048" cy="384048"/>
          </a:xfrm>
          <a:prstGeom prst="ellipse">
            <a:avLst/>
          </a:prstGeom>
          <a:solidFill>
            <a:srgbClr val="8E24AA"/>
          </a:solidFill>
          <a:ln w="12700">
            <a:solidFill>
              <a:srgbClr val="8E24AA"/>
            </a:solidFill>
            <a:prstDash val="solid"/>
          </a:ln>
        </p:spPr>
      </p:sp>
      <p:sp>
        <p:nvSpPr>
          <p:cNvPr id="26" name="Text 24"/>
          <p:cNvSpPr/>
          <p:nvPr/>
        </p:nvSpPr>
        <p:spPr>
          <a:xfrm>
            <a:off x="6647688" y="2642616"/>
            <a:ext cx="2084832" cy="256032"/>
          </a:xfrm>
          <a:prstGeom prst="rect">
            <a:avLst/>
          </a:prstGeom>
          <a:noFill/>
          <a:ln/>
        </p:spPr>
        <p:txBody>
          <a:bodyPr wrap="square" lIns="0" tIns="0" rIns="0" bIns="0" rtlCol="0" anchor="ctr"/>
          <a:lstStyle/>
          <a:p>
            <a:pPr marL="0" indent="0">
              <a:buNone/>
            </a:pPr>
            <a:r>
              <a:rPr lang="en-US" sz="1100" b="1" dirty="0">
                <a:solidFill>
                  <a:srgbClr val="FFFFFF"/>
                </a:solidFill>
              </a:rPr>
              <a:t>Fiolet</a:t>
            </a:r>
            <a:endParaRPr lang="en-US" sz="1100" dirty="0"/>
          </a:p>
        </p:txBody>
      </p:sp>
      <p:sp>
        <p:nvSpPr>
          <p:cNvPr id="27" name="Text 25"/>
          <p:cNvSpPr/>
          <p:nvPr/>
        </p:nvSpPr>
        <p:spPr>
          <a:xfrm>
            <a:off x="6172200" y="3099816"/>
            <a:ext cx="2560320" cy="749808"/>
          </a:xfrm>
          <a:prstGeom prst="rect">
            <a:avLst/>
          </a:prstGeom>
          <a:noFill/>
          <a:ln/>
        </p:spPr>
        <p:txBody>
          <a:bodyPr wrap="square" lIns="0" tIns="0" rIns="0" bIns="0" rtlCol="0" anchor="t"/>
          <a:lstStyle/>
          <a:p>
            <a:pPr marL="0" indent="0">
              <a:buNone/>
            </a:pPr>
            <a:r>
              <a:rPr lang="en-US" sz="850" dirty="0">
                <a:solidFill>
                  <a:srgbClr val="8899AA"/>
                </a:solidFill>
              </a:rPr>
              <a:t>Luksus, kreatywność, duchowość. Twitch, Yahoo, Cadbury. Historycznie kolor królewski.</a:t>
            </a:r>
            <a:endParaRPr lang="en-US" sz="850" dirty="0"/>
          </a:p>
        </p:txBody>
      </p:sp>
      <p:sp>
        <p:nvSpPr>
          <p:cNvPr id="28" name="Shape 26"/>
          <p:cNvSpPr/>
          <p:nvPr/>
        </p:nvSpPr>
        <p:spPr>
          <a:xfrm>
            <a:off x="320040" y="4160520"/>
            <a:ext cx="8503920" cy="658368"/>
          </a:xfrm>
          <a:prstGeom prst="rect">
            <a:avLst/>
          </a:prstGeom>
          <a:solidFill>
            <a:srgbClr val="0A1929"/>
          </a:solidFill>
          <a:ln w="12700">
            <a:solidFill>
              <a:srgbClr val="FF9100"/>
            </a:solidFill>
            <a:prstDash val="solid"/>
          </a:ln>
        </p:spPr>
      </p:sp>
      <p:sp>
        <p:nvSpPr>
          <p:cNvPr id="29" name="Text 27"/>
          <p:cNvSpPr/>
          <p:nvPr/>
        </p:nvSpPr>
        <p:spPr>
          <a:xfrm>
            <a:off x="457200" y="4187952"/>
            <a:ext cx="8229600" cy="594360"/>
          </a:xfrm>
          <a:prstGeom prst="rect">
            <a:avLst/>
          </a:prstGeom>
          <a:noFill/>
          <a:ln/>
        </p:spPr>
        <p:txBody>
          <a:bodyPr wrap="square" lIns="0" tIns="0" rIns="0" bIns="0" rtlCol="0" anchor="ctr"/>
          <a:lstStyle/>
          <a:p>
            <a:pPr marL="0" indent="0">
              <a:buNone/>
            </a:pPr>
            <a:r>
              <a:rPr lang="en-US" sz="900" dirty="0">
                <a:solidFill>
                  <a:srgbClr val="FF9100"/>
                </a:solidFill>
              </a:rPr>
              <a:t>⚠ Uwaga kulturowa: Kolory mają różne znaczenia w różnych kulturach. Biały = żałoba w Azji Wschodniej, czerwień = szczęście w Chinach. Projektując globalnie, zawsze badaj kontekst kulturowy docelowego rynku!</a:t>
            </a:r>
            <a:endParaRPr lang="en-US" sz="900" dirty="0"/>
          </a:p>
        </p:txBody>
      </p:sp>
      <p:sp>
        <p:nvSpPr>
          <p:cNvPr id="32" name="Text 30"/>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24 / </a:t>
            </a:r>
            <a:r>
              <a:rPr lang="pl-PL" sz="800" dirty="0" smtClean="0">
                <a:solidFill>
                  <a:srgbClr val="8899AA"/>
                </a:solidFill>
              </a:rPr>
              <a:t>46</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B2A"/>
        </a:solidFill>
        <a:effectLst/>
      </p:bgPr>
    </p:bg>
    <p:spTree>
      <p:nvGrpSpPr>
        <p:cNvPr id="1" name=""/>
        <p:cNvGrpSpPr/>
        <p:nvPr/>
      </p:nvGrpSpPr>
      <p:grpSpPr>
        <a:xfrm>
          <a:off x="0" y="0"/>
          <a:ext cx="0" cy="0"/>
          <a:chOff x="0" y="0"/>
          <a:chExt cx="0" cy="0"/>
        </a:xfrm>
      </p:grpSpPr>
      <p:grpSp>
        <p:nvGrpSpPr>
          <p:cNvPr id="47" name="Grupa 46"/>
          <p:cNvGrpSpPr/>
          <p:nvPr/>
        </p:nvGrpSpPr>
        <p:grpSpPr>
          <a:xfrm>
            <a:off x="-2381" y="4884912"/>
            <a:ext cx="9146381" cy="260136"/>
            <a:chOff x="-2381" y="4884912"/>
            <a:chExt cx="9146381" cy="260136"/>
          </a:xfrm>
        </p:grpSpPr>
        <p:sp>
          <p:nvSpPr>
            <p:cNvPr id="48" name="Shape 52"/>
            <p:cNvSpPr/>
            <p:nvPr/>
          </p:nvSpPr>
          <p:spPr>
            <a:xfrm>
              <a:off x="0" y="4884912"/>
              <a:ext cx="9144000" cy="252000"/>
            </a:xfrm>
            <a:prstGeom prst="rect">
              <a:avLst/>
            </a:prstGeom>
            <a:solidFill>
              <a:srgbClr val="071523"/>
            </a:solidFill>
            <a:ln w="12700">
              <a:solidFill>
                <a:srgbClr val="071523"/>
              </a:solidFill>
              <a:prstDash val="solid"/>
            </a:ln>
          </p:spPr>
        </p:sp>
        <p:sp>
          <p:nvSpPr>
            <p:cNvPr id="49"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50" name="Grupa 49"/>
            <p:cNvGrpSpPr/>
            <p:nvPr/>
          </p:nvGrpSpPr>
          <p:grpSpPr>
            <a:xfrm>
              <a:off x="-2381" y="5099329"/>
              <a:ext cx="9146381" cy="45719"/>
              <a:chOff x="-2381" y="5107500"/>
              <a:chExt cx="9111093" cy="37548"/>
            </a:xfrm>
            <a:solidFill>
              <a:schemeClr val="tx1"/>
            </a:solidFill>
          </p:grpSpPr>
          <p:sp>
            <p:nvSpPr>
              <p:cNvPr id="51"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62"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63"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64"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65"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66"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67"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68"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69"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70"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71"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72"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73" name="Shape 52"/>
              <p:cNvSpPr/>
              <p:nvPr/>
            </p:nvSpPr>
            <p:spPr>
              <a:xfrm>
                <a:off x="4356712" y="5107500"/>
                <a:ext cx="198000" cy="36000"/>
              </a:xfrm>
              <a:prstGeom prst="rect">
                <a:avLst/>
              </a:prstGeom>
              <a:solidFill>
                <a:schemeClr val="accent5">
                  <a:lumMod val="20000"/>
                  <a:lumOff val="80000"/>
                </a:schemeClr>
              </a:solidFill>
              <a:ln w="12700">
                <a:noFill/>
                <a:prstDash val="solid"/>
              </a:ln>
            </p:spPr>
          </p:sp>
          <p:sp>
            <p:nvSpPr>
              <p:cNvPr id="74" name="Shape 52"/>
              <p:cNvSpPr/>
              <p:nvPr/>
            </p:nvSpPr>
            <p:spPr>
              <a:xfrm>
                <a:off x="4554712" y="5107500"/>
                <a:ext cx="198000" cy="36000"/>
              </a:xfrm>
              <a:prstGeom prst="rect">
                <a:avLst/>
              </a:prstGeom>
              <a:solidFill>
                <a:schemeClr val="accent5">
                  <a:lumMod val="20000"/>
                  <a:lumOff val="80000"/>
                </a:schemeClr>
              </a:solidFill>
              <a:ln w="12700">
                <a:noFill/>
                <a:prstDash val="solid"/>
              </a:ln>
            </p:spPr>
          </p:sp>
          <p:sp>
            <p:nvSpPr>
              <p:cNvPr id="75" name="Shape 52"/>
              <p:cNvSpPr/>
              <p:nvPr/>
            </p:nvSpPr>
            <p:spPr>
              <a:xfrm>
                <a:off x="4752712" y="5107500"/>
                <a:ext cx="198000" cy="36000"/>
              </a:xfrm>
              <a:prstGeom prst="rect">
                <a:avLst/>
              </a:prstGeom>
              <a:solidFill>
                <a:schemeClr val="accent5">
                  <a:lumMod val="20000"/>
                  <a:lumOff val="80000"/>
                </a:schemeClr>
              </a:solidFill>
              <a:ln w="12700">
                <a:noFill/>
                <a:prstDash val="solid"/>
              </a:ln>
            </p:spPr>
          </p:sp>
          <p:sp>
            <p:nvSpPr>
              <p:cNvPr id="76" name="Shape 52"/>
              <p:cNvSpPr/>
              <p:nvPr/>
            </p:nvSpPr>
            <p:spPr>
              <a:xfrm>
                <a:off x="4950712" y="5107500"/>
                <a:ext cx="198000" cy="36000"/>
              </a:xfrm>
              <a:prstGeom prst="rect">
                <a:avLst/>
              </a:prstGeom>
              <a:grpFill/>
              <a:ln w="12700">
                <a:noFill/>
                <a:prstDash val="solid"/>
              </a:ln>
            </p:spPr>
          </p:sp>
          <p:sp>
            <p:nvSpPr>
              <p:cNvPr id="77" name="Shape 52"/>
              <p:cNvSpPr/>
              <p:nvPr/>
            </p:nvSpPr>
            <p:spPr>
              <a:xfrm>
                <a:off x="5148712" y="5107500"/>
                <a:ext cx="198000" cy="36000"/>
              </a:xfrm>
              <a:prstGeom prst="rect">
                <a:avLst/>
              </a:prstGeom>
              <a:grpFill/>
              <a:ln w="12700">
                <a:noFill/>
                <a:prstDash val="solid"/>
              </a:ln>
            </p:spPr>
          </p:sp>
          <p:sp>
            <p:nvSpPr>
              <p:cNvPr id="78" name="Shape 52"/>
              <p:cNvSpPr/>
              <p:nvPr/>
            </p:nvSpPr>
            <p:spPr>
              <a:xfrm>
                <a:off x="5346712" y="5108400"/>
                <a:ext cx="198000" cy="36000"/>
              </a:xfrm>
              <a:prstGeom prst="rect">
                <a:avLst/>
              </a:prstGeom>
              <a:grpFill/>
              <a:ln w="12700">
                <a:noFill/>
                <a:prstDash val="solid"/>
              </a:ln>
            </p:spPr>
          </p:sp>
          <p:sp>
            <p:nvSpPr>
              <p:cNvPr id="79" name="Shape 52"/>
              <p:cNvSpPr/>
              <p:nvPr/>
            </p:nvSpPr>
            <p:spPr>
              <a:xfrm>
                <a:off x="5544712" y="5108400"/>
                <a:ext cx="198000" cy="36000"/>
              </a:xfrm>
              <a:prstGeom prst="rect">
                <a:avLst/>
              </a:prstGeom>
              <a:grpFill/>
              <a:ln w="12700">
                <a:noFill/>
                <a:prstDash val="solid"/>
              </a:ln>
            </p:spPr>
          </p:sp>
          <p:sp>
            <p:nvSpPr>
              <p:cNvPr id="80" name="Shape 52"/>
              <p:cNvSpPr/>
              <p:nvPr/>
            </p:nvSpPr>
            <p:spPr>
              <a:xfrm>
                <a:off x="5742712" y="5108400"/>
                <a:ext cx="198000" cy="36000"/>
              </a:xfrm>
              <a:prstGeom prst="rect">
                <a:avLst/>
              </a:prstGeom>
              <a:grpFill/>
              <a:ln w="12700">
                <a:noFill/>
                <a:prstDash val="solid"/>
              </a:ln>
            </p:spPr>
          </p:sp>
          <p:sp>
            <p:nvSpPr>
              <p:cNvPr id="81" name="Shape 52"/>
              <p:cNvSpPr/>
              <p:nvPr/>
            </p:nvSpPr>
            <p:spPr>
              <a:xfrm>
                <a:off x="5940712" y="5108400"/>
                <a:ext cx="198000" cy="36000"/>
              </a:xfrm>
              <a:prstGeom prst="rect">
                <a:avLst/>
              </a:prstGeom>
              <a:grpFill/>
              <a:ln w="12700">
                <a:noFill/>
                <a:prstDash val="solid"/>
              </a:ln>
            </p:spPr>
          </p:sp>
          <p:sp>
            <p:nvSpPr>
              <p:cNvPr id="82" name="Shape 52"/>
              <p:cNvSpPr/>
              <p:nvPr/>
            </p:nvSpPr>
            <p:spPr>
              <a:xfrm>
                <a:off x="6138712" y="5108400"/>
                <a:ext cx="198000" cy="36000"/>
              </a:xfrm>
              <a:prstGeom prst="rect">
                <a:avLst/>
              </a:prstGeom>
              <a:grpFill/>
              <a:ln w="12700">
                <a:noFill/>
                <a:prstDash val="solid"/>
              </a:ln>
            </p:spPr>
          </p:sp>
          <p:sp>
            <p:nvSpPr>
              <p:cNvPr id="83" name="Shape 52"/>
              <p:cNvSpPr/>
              <p:nvPr/>
            </p:nvSpPr>
            <p:spPr>
              <a:xfrm>
                <a:off x="6336712" y="5108400"/>
                <a:ext cx="198000" cy="36000"/>
              </a:xfrm>
              <a:prstGeom prst="rect">
                <a:avLst/>
              </a:prstGeom>
              <a:grpFill/>
              <a:ln w="12700">
                <a:noFill/>
                <a:prstDash val="solid"/>
              </a:ln>
            </p:spPr>
          </p:sp>
          <p:sp>
            <p:nvSpPr>
              <p:cNvPr id="84" name="Shape 52"/>
              <p:cNvSpPr/>
              <p:nvPr/>
            </p:nvSpPr>
            <p:spPr>
              <a:xfrm>
                <a:off x="6534712" y="5108400"/>
                <a:ext cx="198000" cy="36000"/>
              </a:xfrm>
              <a:prstGeom prst="rect">
                <a:avLst/>
              </a:prstGeom>
              <a:grpFill/>
              <a:ln w="12700">
                <a:noFill/>
                <a:prstDash val="solid"/>
              </a:ln>
            </p:spPr>
          </p:sp>
          <p:sp>
            <p:nvSpPr>
              <p:cNvPr id="85" name="Shape 52"/>
              <p:cNvSpPr/>
              <p:nvPr/>
            </p:nvSpPr>
            <p:spPr>
              <a:xfrm>
                <a:off x="6732712" y="5108400"/>
                <a:ext cx="198000" cy="36000"/>
              </a:xfrm>
              <a:prstGeom prst="rect">
                <a:avLst/>
              </a:prstGeom>
              <a:grpFill/>
              <a:ln w="12700">
                <a:noFill/>
                <a:prstDash val="solid"/>
              </a:ln>
            </p:spPr>
          </p:sp>
          <p:sp>
            <p:nvSpPr>
              <p:cNvPr id="86" name="Shape 52"/>
              <p:cNvSpPr/>
              <p:nvPr/>
            </p:nvSpPr>
            <p:spPr>
              <a:xfrm>
                <a:off x="6930712" y="5108400"/>
                <a:ext cx="198000" cy="36000"/>
              </a:xfrm>
              <a:prstGeom prst="rect">
                <a:avLst/>
              </a:prstGeom>
              <a:grpFill/>
              <a:ln w="12700">
                <a:noFill/>
                <a:prstDash val="solid"/>
              </a:ln>
            </p:spPr>
          </p:sp>
          <p:sp>
            <p:nvSpPr>
              <p:cNvPr id="87" name="Shape 52"/>
              <p:cNvSpPr/>
              <p:nvPr/>
            </p:nvSpPr>
            <p:spPr>
              <a:xfrm>
                <a:off x="7128712" y="5108400"/>
                <a:ext cx="198000" cy="36000"/>
              </a:xfrm>
              <a:prstGeom prst="rect">
                <a:avLst/>
              </a:prstGeom>
              <a:grpFill/>
              <a:ln w="12700">
                <a:noFill/>
                <a:prstDash val="solid"/>
              </a:ln>
            </p:spPr>
          </p:sp>
          <p:sp>
            <p:nvSpPr>
              <p:cNvPr id="88" name="Shape 52"/>
              <p:cNvSpPr/>
              <p:nvPr/>
            </p:nvSpPr>
            <p:spPr>
              <a:xfrm>
                <a:off x="7326712" y="5108400"/>
                <a:ext cx="198000" cy="36000"/>
              </a:xfrm>
              <a:prstGeom prst="rect">
                <a:avLst/>
              </a:prstGeom>
              <a:grpFill/>
              <a:ln w="12700">
                <a:noFill/>
                <a:prstDash val="solid"/>
              </a:ln>
            </p:spPr>
          </p:sp>
          <p:sp>
            <p:nvSpPr>
              <p:cNvPr id="89" name="Shape 52"/>
              <p:cNvSpPr/>
              <p:nvPr/>
            </p:nvSpPr>
            <p:spPr>
              <a:xfrm>
                <a:off x="7524712" y="5108400"/>
                <a:ext cx="198000" cy="36000"/>
              </a:xfrm>
              <a:prstGeom prst="rect">
                <a:avLst/>
              </a:prstGeom>
              <a:grpFill/>
              <a:ln w="12700">
                <a:noFill/>
                <a:prstDash val="solid"/>
              </a:ln>
            </p:spPr>
          </p:sp>
          <p:sp>
            <p:nvSpPr>
              <p:cNvPr id="90" name="Shape 52"/>
              <p:cNvSpPr/>
              <p:nvPr/>
            </p:nvSpPr>
            <p:spPr>
              <a:xfrm>
                <a:off x="7722712" y="5108400"/>
                <a:ext cx="198000" cy="36000"/>
              </a:xfrm>
              <a:prstGeom prst="rect">
                <a:avLst/>
              </a:prstGeom>
              <a:grpFill/>
              <a:ln w="12700">
                <a:noFill/>
                <a:prstDash val="solid"/>
              </a:ln>
            </p:spPr>
          </p:sp>
          <p:sp>
            <p:nvSpPr>
              <p:cNvPr id="91" name="Shape 52"/>
              <p:cNvSpPr/>
              <p:nvPr/>
            </p:nvSpPr>
            <p:spPr>
              <a:xfrm>
                <a:off x="7920712" y="5109048"/>
                <a:ext cx="198000" cy="36000"/>
              </a:xfrm>
              <a:prstGeom prst="rect">
                <a:avLst/>
              </a:prstGeom>
              <a:grpFill/>
              <a:ln w="12700">
                <a:noFill/>
                <a:prstDash val="solid"/>
              </a:ln>
            </p:spPr>
          </p:sp>
          <p:sp>
            <p:nvSpPr>
              <p:cNvPr id="92" name="Shape 52"/>
              <p:cNvSpPr/>
              <p:nvPr/>
            </p:nvSpPr>
            <p:spPr>
              <a:xfrm>
                <a:off x="8118712" y="5109048"/>
                <a:ext cx="198000" cy="36000"/>
              </a:xfrm>
              <a:prstGeom prst="rect">
                <a:avLst/>
              </a:prstGeom>
              <a:grpFill/>
              <a:ln w="12700">
                <a:noFill/>
                <a:prstDash val="solid"/>
              </a:ln>
            </p:spPr>
          </p:sp>
          <p:sp>
            <p:nvSpPr>
              <p:cNvPr id="93" name="Shape 52"/>
              <p:cNvSpPr/>
              <p:nvPr/>
            </p:nvSpPr>
            <p:spPr>
              <a:xfrm>
                <a:off x="8316712" y="5109048"/>
                <a:ext cx="198000" cy="36000"/>
              </a:xfrm>
              <a:prstGeom prst="rect">
                <a:avLst/>
              </a:prstGeom>
              <a:grpFill/>
              <a:ln w="12700">
                <a:noFill/>
                <a:prstDash val="solid"/>
              </a:ln>
            </p:spPr>
          </p:sp>
          <p:sp>
            <p:nvSpPr>
              <p:cNvPr id="94" name="Shape 52"/>
              <p:cNvSpPr/>
              <p:nvPr/>
            </p:nvSpPr>
            <p:spPr>
              <a:xfrm>
                <a:off x="8514712" y="5109048"/>
                <a:ext cx="198000" cy="36000"/>
              </a:xfrm>
              <a:prstGeom prst="rect">
                <a:avLst/>
              </a:prstGeom>
              <a:grpFill/>
              <a:ln w="12700">
                <a:noFill/>
                <a:prstDash val="solid"/>
              </a:ln>
            </p:spPr>
          </p:sp>
          <p:sp>
            <p:nvSpPr>
              <p:cNvPr id="95" name="Shape 52"/>
              <p:cNvSpPr/>
              <p:nvPr/>
            </p:nvSpPr>
            <p:spPr>
              <a:xfrm>
                <a:off x="8712712" y="5109048"/>
                <a:ext cx="198000" cy="36000"/>
              </a:xfrm>
              <a:prstGeom prst="rect">
                <a:avLst/>
              </a:prstGeom>
              <a:grpFill/>
              <a:ln w="12700">
                <a:noFill/>
                <a:prstDash val="solid"/>
              </a:ln>
            </p:spPr>
          </p:sp>
          <p:sp>
            <p:nvSpPr>
              <p:cNvPr id="96"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FF9100"/>
          </a:solidFill>
          <a:ln w="12700">
            <a:solidFill>
              <a:srgbClr val="FF9100"/>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Tryb Jasny i Ciemny — Best Practices</a:t>
            </a:r>
            <a:endParaRPr lang="en-US" sz="2200" dirty="0"/>
          </a:p>
        </p:txBody>
      </p:sp>
      <p:sp>
        <p:nvSpPr>
          <p:cNvPr id="4" name="Shape 2"/>
          <p:cNvSpPr/>
          <p:nvPr/>
        </p:nvSpPr>
        <p:spPr>
          <a:xfrm>
            <a:off x="320040" y="914400"/>
            <a:ext cx="4069080" cy="82296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5" name="Shape 3"/>
          <p:cNvSpPr/>
          <p:nvPr/>
        </p:nvSpPr>
        <p:spPr>
          <a:xfrm>
            <a:off x="320040" y="914400"/>
            <a:ext cx="45720" cy="822960"/>
          </a:xfrm>
          <a:prstGeom prst="rect">
            <a:avLst/>
          </a:prstGeom>
          <a:solidFill>
            <a:srgbClr val="FF9100"/>
          </a:solidFill>
          <a:ln w="12700">
            <a:solidFill>
              <a:srgbClr val="FF9100"/>
            </a:solidFill>
            <a:prstDash val="solid"/>
          </a:ln>
        </p:spPr>
      </p:sp>
      <p:sp>
        <p:nvSpPr>
          <p:cNvPr id="6" name="Text 4"/>
          <p:cNvSpPr/>
          <p:nvPr/>
        </p:nvSpPr>
        <p:spPr>
          <a:xfrm>
            <a:off x="429768" y="978408"/>
            <a:ext cx="3913632" cy="256032"/>
          </a:xfrm>
          <a:prstGeom prst="rect">
            <a:avLst/>
          </a:prstGeom>
          <a:noFill/>
          <a:ln/>
        </p:spPr>
        <p:txBody>
          <a:bodyPr wrap="square" lIns="0" tIns="0" rIns="0" bIns="0" rtlCol="0" anchor="t"/>
          <a:lstStyle/>
          <a:p>
            <a:pPr marL="0" indent="0">
              <a:buNone/>
            </a:pPr>
            <a:r>
              <a:rPr lang="en-US" sz="1000" b="1" dirty="0">
                <a:solidFill>
                  <a:srgbClr val="FF9100"/>
                </a:solidFill>
              </a:rPr>
              <a:t>Unikaj Czystej Czerni</a:t>
            </a:r>
            <a:endParaRPr lang="en-US" sz="1000" dirty="0"/>
          </a:p>
        </p:txBody>
      </p:sp>
      <p:sp>
        <p:nvSpPr>
          <p:cNvPr id="7" name="Text 5"/>
          <p:cNvSpPr/>
          <p:nvPr/>
        </p:nvSpPr>
        <p:spPr>
          <a:xfrm>
            <a:off x="429768" y="1243584"/>
            <a:ext cx="3913632" cy="438912"/>
          </a:xfrm>
          <a:prstGeom prst="rect">
            <a:avLst/>
          </a:prstGeom>
          <a:noFill/>
          <a:ln/>
        </p:spPr>
        <p:txBody>
          <a:bodyPr wrap="square" lIns="0" tIns="0" rIns="0" bIns="0" rtlCol="0" anchor="t"/>
          <a:lstStyle/>
          <a:p>
            <a:pPr marL="0" indent="0">
              <a:buNone/>
            </a:pPr>
            <a:r>
              <a:rPr lang="en-US" sz="850" dirty="0">
                <a:solidFill>
                  <a:srgbClr val="CCDDEE"/>
                </a:solidFill>
              </a:rPr>
              <a:t>#000000 jest zbyt mocny. Używaj ciemnoszarych: #121212 (bg), #1E1E1E (surface), #2D2D2D (elevated)</a:t>
            </a:r>
            <a:endParaRPr lang="en-US" sz="850" dirty="0"/>
          </a:p>
        </p:txBody>
      </p:sp>
      <p:sp>
        <p:nvSpPr>
          <p:cNvPr id="8" name="Shape 6"/>
          <p:cNvSpPr/>
          <p:nvPr/>
        </p:nvSpPr>
        <p:spPr>
          <a:xfrm>
            <a:off x="320040" y="1847088"/>
            <a:ext cx="4069080" cy="82296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9" name="Shape 7"/>
          <p:cNvSpPr/>
          <p:nvPr/>
        </p:nvSpPr>
        <p:spPr>
          <a:xfrm>
            <a:off x="320040" y="1847088"/>
            <a:ext cx="45720" cy="822960"/>
          </a:xfrm>
          <a:prstGeom prst="rect">
            <a:avLst/>
          </a:prstGeom>
          <a:solidFill>
            <a:srgbClr val="00D4FF"/>
          </a:solidFill>
          <a:ln w="12700">
            <a:solidFill>
              <a:srgbClr val="00D4FF"/>
            </a:solidFill>
            <a:prstDash val="solid"/>
          </a:ln>
        </p:spPr>
      </p:sp>
      <p:sp>
        <p:nvSpPr>
          <p:cNvPr id="10" name="Text 8"/>
          <p:cNvSpPr/>
          <p:nvPr/>
        </p:nvSpPr>
        <p:spPr>
          <a:xfrm>
            <a:off x="429768" y="1911096"/>
            <a:ext cx="3913632" cy="256032"/>
          </a:xfrm>
          <a:prstGeom prst="rect">
            <a:avLst/>
          </a:prstGeom>
          <a:noFill/>
          <a:ln/>
        </p:spPr>
        <p:txBody>
          <a:bodyPr wrap="square" lIns="0" tIns="0" rIns="0" bIns="0" rtlCol="0" anchor="t"/>
          <a:lstStyle/>
          <a:p>
            <a:pPr marL="0" indent="0">
              <a:buNone/>
            </a:pPr>
            <a:r>
              <a:rPr lang="en-US" sz="1000" b="1" dirty="0">
                <a:solidFill>
                  <a:srgbClr val="00D4FF"/>
                </a:solidFill>
              </a:rPr>
              <a:t>Kontrast i Dostępność</a:t>
            </a:r>
            <a:endParaRPr lang="en-US" sz="1000" dirty="0"/>
          </a:p>
        </p:txBody>
      </p:sp>
      <p:sp>
        <p:nvSpPr>
          <p:cNvPr id="11" name="Text 9"/>
          <p:cNvSpPr/>
          <p:nvPr/>
        </p:nvSpPr>
        <p:spPr>
          <a:xfrm>
            <a:off x="429768" y="2176272"/>
            <a:ext cx="3913632" cy="438912"/>
          </a:xfrm>
          <a:prstGeom prst="rect">
            <a:avLst/>
          </a:prstGeom>
          <a:noFill/>
          <a:ln/>
        </p:spPr>
        <p:txBody>
          <a:bodyPr wrap="square" lIns="0" tIns="0" rIns="0" bIns="0" rtlCol="0" anchor="t"/>
          <a:lstStyle/>
          <a:p>
            <a:pPr marL="0" indent="0">
              <a:buNone/>
            </a:pPr>
            <a:r>
              <a:rPr lang="en-US" sz="850" dirty="0">
                <a:solidFill>
                  <a:srgbClr val="CCDDEE"/>
                </a:solidFill>
              </a:rPr>
              <a:t>Zachowaj te same wymagania kontrastu co w trybie jasnym (4.5:1 dla tekstu normalnego).</a:t>
            </a:r>
            <a:endParaRPr lang="en-US" sz="850" dirty="0"/>
          </a:p>
        </p:txBody>
      </p:sp>
      <p:sp>
        <p:nvSpPr>
          <p:cNvPr id="12" name="Shape 10"/>
          <p:cNvSpPr/>
          <p:nvPr/>
        </p:nvSpPr>
        <p:spPr>
          <a:xfrm>
            <a:off x="320040" y="2779776"/>
            <a:ext cx="4069080" cy="82296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13" name="Shape 11"/>
          <p:cNvSpPr/>
          <p:nvPr/>
        </p:nvSpPr>
        <p:spPr>
          <a:xfrm>
            <a:off x="320040" y="2779776"/>
            <a:ext cx="45720" cy="822960"/>
          </a:xfrm>
          <a:prstGeom prst="rect">
            <a:avLst/>
          </a:prstGeom>
          <a:solidFill>
            <a:srgbClr val="FF2D78"/>
          </a:solidFill>
          <a:ln w="12700">
            <a:solidFill>
              <a:srgbClr val="FF2D78"/>
            </a:solidFill>
            <a:prstDash val="solid"/>
          </a:ln>
        </p:spPr>
      </p:sp>
      <p:sp>
        <p:nvSpPr>
          <p:cNvPr id="14" name="Text 12"/>
          <p:cNvSpPr/>
          <p:nvPr/>
        </p:nvSpPr>
        <p:spPr>
          <a:xfrm>
            <a:off x="429768" y="2843784"/>
            <a:ext cx="3913632" cy="256032"/>
          </a:xfrm>
          <a:prstGeom prst="rect">
            <a:avLst/>
          </a:prstGeom>
          <a:noFill/>
          <a:ln/>
        </p:spPr>
        <p:txBody>
          <a:bodyPr wrap="square" lIns="0" tIns="0" rIns="0" bIns="0" rtlCol="0" anchor="t"/>
          <a:lstStyle/>
          <a:p>
            <a:pPr marL="0" indent="0">
              <a:buNone/>
            </a:pPr>
            <a:r>
              <a:rPr lang="en-US" sz="1000" b="1" dirty="0">
                <a:solidFill>
                  <a:srgbClr val="FF2D78"/>
                </a:solidFill>
              </a:rPr>
              <a:t>Desaturacja Kolorów</a:t>
            </a:r>
            <a:endParaRPr lang="en-US" sz="1000" dirty="0"/>
          </a:p>
        </p:txBody>
      </p:sp>
      <p:sp>
        <p:nvSpPr>
          <p:cNvPr id="15" name="Text 13"/>
          <p:cNvSpPr/>
          <p:nvPr/>
        </p:nvSpPr>
        <p:spPr>
          <a:xfrm>
            <a:off x="429768" y="3108960"/>
            <a:ext cx="3913632" cy="438912"/>
          </a:xfrm>
          <a:prstGeom prst="rect">
            <a:avLst/>
          </a:prstGeom>
          <a:noFill/>
          <a:ln/>
        </p:spPr>
        <p:txBody>
          <a:bodyPr wrap="square" lIns="0" tIns="0" rIns="0" bIns="0" rtlCol="0" anchor="t"/>
          <a:lstStyle/>
          <a:p>
            <a:pPr marL="0" indent="0">
              <a:buNone/>
            </a:pPr>
            <a:r>
              <a:rPr lang="en-US" sz="850" dirty="0">
                <a:solidFill>
                  <a:srgbClr val="CCDDEE"/>
                </a:solidFill>
              </a:rPr>
              <a:t>Nasycone kolory wibrują na ciemnym tle. Używaj wersji z niższą saturacją i wyższą jasnością.</a:t>
            </a:r>
            <a:endParaRPr lang="en-US" sz="850" dirty="0"/>
          </a:p>
        </p:txBody>
      </p:sp>
      <p:sp>
        <p:nvSpPr>
          <p:cNvPr id="16" name="Shape 14"/>
          <p:cNvSpPr/>
          <p:nvPr/>
        </p:nvSpPr>
        <p:spPr>
          <a:xfrm>
            <a:off x="320040" y="3712464"/>
            <a:ext cx="4069080" cy="82296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17" name="Shape 15"/>
          <p:cNvSpPr/>
          <p:nvPr/>
        </p:nvSpPr>
        <p:spPr>
          <a:xfrm>
            <a:off x="320040" y="3712464"/>
            <a:ext cx="45720" cy="822960"/>
          </a:xfrm>
          <a:prstGeom prst="rect">
            <a:avLst/>
          </a:prstGeom>
          <a:solidFill>
            <a:srgbClr val="00E676"/>
          </a:solidFill>
          <a:ln w="12700">
            <a:solidFill>
              <a:srgbClr val="00E676"/>
            </a:solidFill>
            <a:prstDash val="solid"/>
          </a:ln>
        </p:spPr>
      </p:sp>
      <p:sp>
        <p:nvSpPr>
          <p:cNvPr id="18" name="Text 16"/>
          <p:cNvSpPr/>
          <p:nvPr/>
        </p:nvSpPr>
        <p:spPr>
          <a:xfrm>
            <a:off x="429768" y="3776472"/>
            <a:ext cx="3913632" cy="256032"/>
          </a:xfrm>
          <a:prstGeom prst="rect">
            <a:avLst/>
          </a:prstGeom>
          <a:noFill/>
          <a:ln/>
        </p:spPr>
        <p:txBody>
          <a:bodyPr wrap="square" lIns="0" tIns="0" rIns="0" bIns="0" rtlCol="0" anchor="t"/>
          <a:lstStyle/>
          <a:p>
            <a:pPr marL="0" indent="0">
              <a:buNone/>
            </a:pPr>
            <a:r>
              <a:rPr lang="en-US" sz="1000" b="1" dirty="0">
                <a:solidFill>
                  <a:srgbClr val="00E676"/>
                </a:solidFill>
              </a:rPr>
              <a:t>Elevation przez Jasność</a:t>
            </a:r>
            <a:endParaRPr lang="en-US" sz="1000" dirty="0"/>
          </a:p>
        </p:txBody>
      </p:sp>
      <p:sp>
        <p:nvSpPr>
          <p:cNvPr id="19" name="Text 17"/>
          <p:cNvSpPr/>
          <p:nvPr/>
        </p:nvSpPr>
        <p:spPr>
          <a:xfrm>
            <a:off x="429768" y="4041648"/>
            <a:ext cx="3913632" cy="438912"/>
          </a:xfrm>
          <a:prstGeom prst="rect">
            <a:avLst/>
          </a:prstGeom>
          <a:noFill/>
          <a:ln/>
        </p:spPr>
        <p:txBody>
          <a:bodyPr wrap="square" lIns="0" tIns="0" rIns="0" bIns="0" rtlCol="0" anchor="t"/>
          <a:lstStyle/>
          <a:p>
            <a:pPr marL="0" indent="0">
              <a:buNone/>
            </a:pPr>
            <a:r>
              <a:rPr lang="en-US" sz="850" dirty="0">
                <a:solidFill>
                  <a:srgbClr val="CCDDEE"/>
                </a:solidFill>
              </a:rPr>
              <a:t>Zamiast cieni (niewidoczne na czerni), używaj jaśniejszych odcieni dla wyższych warstw.</a:t>
            </a:r>
            <a:endParaRPr lang="en-US" sz="850" dirty="0"/>
          </a:p>
        </p:txBody>
      </p:sp>
      <p:sp>
        <p:nvSpPr>
          <p:cNvPr id="20" name="Shape 18"/>
          <p:cNvSpPr/>
          <p:nvPr/>
        </p:nvSpPr>
        <p:spPr>
          <a:xfrm>
            <a:off x="4754880" y="914400"/>
            <a:ext cx="1920240" cy="1691640"/>
          </a:xfrm>
          <a:prstGeom prst="rect">
            <a:avLst/>
          </a:prstGeom>
          <a:solidFill>
            <a:srgbClr val="F5F5F5"/>
          </a:solidFill>
          <a:ln w="12700">
            <a:solidFill>
              <a:srgbClr val="CCCCCC"/>
            </a:solidFill>
            <a:prstDash val="solid"/>
          </a:ln>
        </p:spPr>
      </p:sp>
      <p:sp>
        <p:nvSpPr>
          <p:cNvPr id="21" name="Text 19"/>
          <p:cNvSpPr/>
          <p:nvPr/>
        </p:nvSpPr>
        <p:spPr>
          <a:xfrm>
            <a:off x="4754880" y="960120"/>
            <a:ext cx="1920240" cy="274320"/>
          </a:xfrm>
          <a:prstGeom prst="rect">
            <a:avLst/>
          </a:prstGeom>
          <a:noFill/>
          <a:ln/>
        </p:spPr>
        <p:txBody>
          <a:bodyPr wrap="square" lIns="0" tIns="0" rIns="0" bIns="0" rtlCol="0" anchor="ctr"/>
          <a:lstStyle/>
          <a:p>
            <a:pPr marL="0" indent="0" algn="ctr">
              <a:buNone/>
            </a:pPr>
            <a:r>
              <a:rPr lang="en-US" sz="900" b="1" dirty="0">
                <a:solidFill>
                  <a:srgbClr val="333333"/>
                </a:solidFill>
              </a:rPr>
              <a:t>Light Mode</a:t>
            </a:r>
            <a:endParaRPr lang="en-US" sz="900" dirty="0"/>
          </a:p>
        </p:txBody>
      </p:sp>
      <p:sp>
        <p:nvSpPr>
          <p:cNvPr id="22" name="Shape 20"/>
          <p:cNvSpPr/>
          <p:nvPr/>
        </p:nvSpPr>
        <p:spPr>
          <a:xfrm>
            <a:off x="4846320" y="1325880"/>
            <a:ext cx="1737360" cy="201168"/>
          </a:xfrm>
          <a:prstGeom prst="rect">
            <a:avLst/>
          </a:prstGeom>
          <a:solidFill>
            <a:srgbClr val="FFFFFF"/>
          </a:solidFill>
          <a:ln w="12700">
            <a:solidFill>
              <a:srgbClr val="CCCCCC"/>
            </a:solidFill>
            <a:prstDash val="solid"/>
          </a:ln>
        </p:spPr>
      </p:sp>
      <p:sp>
        <p:nvSpPr>
          <p:cNvPr id="23" name="Shape 21"/>
          <p:cNvSpPr/>
          <p:nvPr/>
        </p:nvSpPr>
        <p:spPr>
          <a:xfrm>
            <a:off x="4846320" y="1600200"/>
            <a:ext cx="1737360" cy="201168"/>
          </a:xfrm>
          <a:prstGeom prst="rect">
            <a:avLst/>
          </a:prstGeom>
          <a:solidFill>
            <a:srgbClr val="F5F5F5"/>
          </a:solidFill>
          <a:ln w="12700">
            <a:solidFill>
              <a:srgbClr val="CCCCCC"/>
            </a:solidFill>
            <a:prstDash val="solid"/>
          </a:ln>
        </p:spPr>
      </p:sp>
      <p:sp>
        <p:nvSpPr>
          <p:cNvPr id="24" name="Shape 22"/>
          <p:cNvSpPr/>
          <p:nvPr/>
        </p:nvSpPr>
        <p:spPr>
          <a:xfrm>
            <a:off x="4846320" y="1874520"/>
            <a:ext cx="1737360" cy="201168"/>
          </a:xfrm>
          <a:prstGeom prst="rect">
            <a:avLst/>
          </a:prstGeom>
          <a:solidFill>
            <a:srgbClr val="EEEEEE"/>
          </a:solidFill>
          <a:ln w="12700">
            <a:solidFill>
              <a:srgbClr val="CCCCCC"/>
            </a:solidFill>
            <a:prstDash val="solid"/>
          </a:ln>
        </p:spPr>
      </p:sp>
      <p:sp>
        <p:nvSpPr>
          <p:cNvPr id="25" name="Shape 23"/>
          <p:cNvSpPr/>
          <p:nvPr/>
        </p:nvSpPr>
        <p:spPr>
          <a:xfrm>
            <a:off x="6903720" y="914400"/>
            <a:ext cx="1920240" cy="1691640"/>
          </a:xfrm>
          <a:prstGeom prst="rect">
            <a:avLst/>
          </a:prstGeom>
          <a:solidFill>
            <a:srgbClr val="121212"/>
          </a:solidFill>
          <a:ln w="12700">
            <a:solidFill>
              <a:srgbClr val="333333"/>
            </a:solidFill>
            <a:prstDash val="solid"/>
          </a:ln>
        </p:spPr>
      </p:sp>
      <p:sp>
        <p:nvSpPr>
          <p:cNvPr id="26" name="Text 24"/>
          <p:cNvSpPr/>
          <p:nvPr/>
        </p:nvSpPr>
        <p:spPr>
          <a:xfrm>
            <a:off x="6903720" y="960120"/>
            <a:ext cx="1920240" cy="274320"/>
          </a:xfrm>
          <a:prstGeom prst="rect">
            <a:avLst/>
          </a:prstGeom>
          <a:noFill/>
          <a:ln/>
        </p:spPr>
        <p:txBody>
          <a:bodyPr wrap="square" lIns="0" tIns="0" rIns="0" bIns="0" rtlCol="0" anchor="ctr"/>
          <a:lstStyle/>
          <a:p>
            <a:pPr marL="0" indent="0" algn="ctr">
              <a:buNone/>
            </a:pPr>
            <a:r>
              <a:rPr lang="en-US" sz="900" b="1" dirty="0">
                <a:solidFill>
                  <a:srgbClr val="FFFFFF"/>
                </a:solidFill>
              </a:rPr>
              <a:t>Dark Mode</a:t>
            </a:r>
            <a:endParaRPr lang="en-US" sz="900" dirty="0"/>
          </a:p>
        </p:txBody>
      </p:sp>
      <p:sp>
        <p:nvSpPr>
          <p:cNvPr id="27" name="Shape 25"/>
          <p:cNvSpPr/>
          <p:nvPr/>
        </p:nvSpPr>
        <p:spPr>
          <a:xfrm>
            <a:off x="6995160" y="1325880"/>
            <a:ext cx="1737360" cy="201168"/>
          </a:xfrm>
          <a:prstGeom prst="rect">
            <a:avLst/>
          </a:prstGeom>
          <a:solidFill>
            <a:srgbClr val="1E1E1E"/>
          </a:solidFill>
          <a:ln w="12700">
            <a:solidFill>
              <a:srgbClr val="333333"/>
            </a:solidFill>
            <a:prstDash val="solid"/>
          </a:ln>
        </p:spPr>
      </p:sp>
      <p:sp>
        <p:nvSpPr>
          <p:cNvPr id="28" name="Shape 26"/>
          <p:cNvSpPr/>
          <p:nvPr/>
        </p:nvSpPr>
        <p:spPr>
          <a:xfrm>
            <a:off x="6995160" y="1600200"/>
            <a:ext cx="1737360" cy="201168"/>
          </a:xfrm>
          <a:prstGeom prst="rect">
            <a:avLst/>
          </a:prstGeom>
          <a:solidFill>
            <a:srgbClr val="2D2D2D"/>
          </a:solidFill>
          <a:ln w="12700">
            <a:solidFill>
              <a:srgbClr val="333333"/>
            </a:solidFill>
            <a:prstDash val="solid"/>
          </a:ln>
        </p:spPr>
      </p:sp>
      <p:sp>
        <p:nvSpPr>
          <p:cNvPr id="29" name="Shape 27"/>
          <p:cNvSpPr/>
          <p:nvPr/>
        </p:nvSpPr>
        <p:spPr>
          <a:xfrm>
            <a:off x="6995160" y="1874520"/>
            <a:ext cx="1737360" cy="201168"/>
          </a:xfrm>
          <a:prstGeom prst="rect">
            <a:avLst/>
          </a:prstGeom>
          <a:solidFill>
            <a:srgbClr val="3D3D3D"/>
          </a:solidFill>
          <a:ln w="12700">
            <a:solidFill>
              <a:srgbClr val="333333"/>
            </a:solidFill>
            <a:prstDash val="solid"/>
          </a:ln>
        </p:spPr>
      </p:sp>
      <p:sp>
        <p:nvSpPr>
          <p:cNvPr id="30" name="Shape 28"/>
          <p:cNvSpPr/>
          <p:nvPr/>
        </p:nvSpPr>
        <p:spPr>
          <a:xfrm>
            <a:off x="4754880" y="2724912"/>
            <a:ext cx="4069080" cy="64008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31" name="Shape 29"/>
          <p:cNvSpPr/>
          <p:nvPr/>
        </p:nvSpPr>
        <p:spPr>
          <a:xfrm>
            <a:off x="4754880" y="2724912"/>
            <a:ext cx="45720" cy="640080"/>
          </a:xfrm>
          <a:prstGeom prst="rect">
            <a:avLst/>
          </a:prstGeom>
          <a:solidFill>
            <a:srgbClr val="00D4FF"/>
          </a:solidFill>
          <a:ln w="12700">
            <a:solidFill>
              <a:srgbClr val="00D4FF"/>
            </a:solidFill>
            <a:prstDash val="solid"/>
          </a:ln>
        </p:spPr>
      </p:sp>
      <p:sp>
        <p:nvSpPr>
          <p:cNvPr id="32" name="Text 30"/>
          <p:cNvSpPr/>
          <p:nvPr/>
        </p:nvSpPr>
        <p:spPr>
          <a:xfrm>
            <a:off x="4864608" y="2788920"/>
            <a:ext cx="3913632" cy="256032"/>
          </a:xfrm>
          <a:prstGeom prst="rect">
            <a:avLst/>
          </a:prstGeom>
          <a:noFill/>
          <a:ln/>
        </p:spPr>
        <p:txBody>
          <a:bodyPr wrap="square" lIns="0" tIns="0" rIns="0" bIns="0" rtlCol="0" anchor="t"/>
          <a:lstStyle/>
          <a:p>
            <a:pPr marL="0" indent="0">
              <a:buNone/>
            </a:pPr>
            <a:r>
              <a:rPr lang="en-US" sz="1000" b="1" dirty="0">
                <a:solidFill>
                  <a:srgbClr val="00D4FF"/>
                </a:solidFill>
              </a:rPr>
              <a:t>Unikaj Czystej Bieli</a:t>
            </a:r>
            <a:endParaRPr lang="en-US" sz="1000" dirty="0"/>
          </a:p>
        </p:txBody>
      </p:sp>
      <p:sp>
        <p:nvSpPr>
          <p:cNvPr id="33" name="Text 31"/>
          <p:cNvSpPr/>
          <p:nvPr/>
        </p:nvSpPr>
        <p:spPr>
          <a:xfrm>
            <a:off x="4864608" y="3054096"/>
            <a:ext cx="3913632" cy="256032"/>
          </a:xfrm>
          <a:prstGeom prst="rect">
            <a:avLst/>
          </a:prstGeom>
          <a:noFill/>
          <a:ln/>
        </p:spPr>
        <p:txBody>
          <a:bodyPr wrap="square" lIns="0" tIns="0" rIns="0" bIns="0" rtlCol="0" anchor="t"/>
          <a:lstStyle/>
          <a:p>
            <a:pPr marL="0" indent="0">
              <a:buNone/>
            </a:pPr>
            <a:r>
              <a:rPr lang="en-US" sz="850" dirty="0">
                <a:solidFill>
                  <a:srgbClr val="CCDDEE"/>
                </a:solidFill>
              </a:rPr>
              <a:t>Używaj #FFFFFF tylko dla tekstu. Standard tła: #FAFAFA</a:t>
            </a:r>
            <a:endParaRPr lang="en-US" sz="850" dirty="0"/>
          </a:p>
        </p:txBody>
      </p:sp>
      <p:sp>
        <p:nvSpPr>
          <p:cNvPr id="34" name="Shape 32"/>
          <p:cNvSpPr/>
          <p:nvPr/>
        </p:nvSpPr>
        <p:spPr>
          <a:xfrm>
            <a:off x="4754880" y="3474720"/>
            <a:ext cx="4069080" cy="64008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35" name="Shape 33"/>
          <p:cNvSpPr/>
          <p:nvPr/>
        </p:nvSpPr>
        <p:spPr>
          <a:xfrm>
            <a:off x="4754880" y="3474720"/>
            <a:ext cx="45720" cy="640080"/>
          </a:xfrm>
          <a:prstGeom prst="rect">
            <a:avLst/>
          </a:prstGeom>
          <a:solidFill>
            <a:srgbClr val="00E676"/>
          </a:solidFill>
          <a:ln w="12700">
            <a:solidFill>
              <a:srgbClr val="00E676"/>
            </a:solidFill>
            <a:prstDash val="solid"/>
          </a:ln>
        </p:spPr>
      </p:sp>
      <p:sp>
        <p:nvSpPr>
          <p:cNvPr id="36" name="Text 34"/>
          <p:cNvSpPr/>
          <p:nvPr/>
        </p:nvSpPr>
        <p:spPr>
          <a:xfrm>
            <a:off x="4864608" y="3538728"/>
            <a:ext cx="3913632" cy="256032"/>
          </a:xfrm>
          <a:prstGeom prst="rect">
            <a:avLst/>
          </a:prstGeom>
          <a:noFill/>
          <a:ln/>
        </p:spPr>
        <p:txBody>
          <a:bodyPr wrap="square" lIns="0" tIns="0" rIns="0" bIns="0" rtlCol="0" anchor="t"/>
          <a:lstStyle/>
          <a:p>
            <a:pPr marL="0" indent="0">
              <a:buNone/>
            </a:pPr>
            <a:r>
              <a:rPr lang="en-US" sz="1000" b="1" dirty="0">
                <a:solidFill>
                  <a:srgbClr val="00E676"/>
                </a:solidFill>
              </a:rPr>
              <a:t>Testuj na OLED</a:t>
            </a:r>
            <a:endParaRPr lang="en-US" sz="1000" dirty="0"/>
          </a:p>
        </p:txBody>
      </p:sp>
      <p:sp>
        <p:nvSpPr>
          <p:cNvPr id="37" name="Text 35"/>
          <p:cNvSpPr/>
          <p:nvPr/>
        </p:nvSpPr>
        <p:spPr>
          <a:xfrm>
            <a:off x="4864608" y="3803904"/>
            <a:ext cx="3913632" cy="256032"/>
          </a:xfrm>
          <a:prstGeom prst="rect">
            <a:avLst/>
          </a:prstGeom>
          <a:noFill/>
          <a:ln/>
        </p:spPr>
        <p:txBody>
          <a:bodyPr wrap="square" lIns="0" tIns="0" rIns="0" bIns="0" rtlCol="0" anchor="t"/>
          <a:lstStyle/>
          <a:p>
            <a:pPr marL="0" indent="0">
              <a:buNone/>
            </a:pPr>
            <a:r>
              <a:rPr lang="en-US" sz="850" dirty="0">
                <a:solidFill>
                  <a:srgbClr val="CCDDEE"/>
                </a:solidFill>
              </a:rPr>
              <a:t>Ekrany OLED renderują kolory inaczej niż LCD. Testuj na obu.</a:t>
            </a:r>
            <a:endParaRPr lang="en-US" sz="850" dirty="0"/>
          </a:p>
        </p:txBody>
      </p:sp>
      <p:sp>
        <p:nvSpPr>
          <p:cNvPr id="38" name="Shape 36"/>
          <p:cNvSpPr/>
          <p:nvPr/>
        </p:nvSpPr>
        <p:spPr>
          <a:xfrm>
            <a:off x="4754880" y="4224528"/>
            <a:ext cx="4069080" cy="64008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39" name="Shape 37"/>
          <p:cNvSpPr/>
          <p:nvPr/>
        </p:nvSpPr>
        <p:spPr>
          <a:xfrm>
            <a:off x="4754880" y="4224528"/>
            <a:ext cx="45720" cy="640080"/>
          </a:xfrm>
          <a:prstGeom prst="rect">
            <a:avLst/>
          </a:prstGeom>
          <a:solidFill>
            <a:srgbClr val="B388FF"/>
          </a:solidFill>
          <a:ln w="12700">
            <a:solidFill>
              <a:srgbClr val="B388FF"/>
            </a:solidFill>
            <a:prstDash val="solid"/>
          </a:ln>
        </p:spPr>
      </p:sp>
      <p:sp>
        <p:nvSpPr>
          <p:cNvPr id="40" name="Text 38"/>
          <p:cNvSpPr/>
          <p:nvPr/>
        </p:nvSpPr>
        <p:spPr>
          <a:xfrm>
            <a:off x="4864608" y="4288536"/>
            <a:ext cx="3913632" cy="256032"/>
          </a:xfrm>
          <a:prstGeom prst="rect">
            <a:avLst/>
          </a:prstGeom>
          <a:noFill/>
          <a:ln/>
        </p:spPr>
        <p:txBody>
          <a:bodyPr wrap="square" lIns="0" tIns="0" rIns="0" bIns="0" rtlCol="0" anchor="t"/>
          <a:lstStyle/>
          <a:p>
            <a:pPr marL="0" indent="0">
              <a:buNone/>
            </a:pPr>
            <a:r>
              <a:rPr lang="en-US" sz="1000" b="1" dirty="0">
                <a:solidFill>
                  <a:srgbClr val="B388FF"/>
                </a:solidFill>
              </a:rPr>
              <a:t>Respektuj Ustawienia</a:t>
            </a:r>
            <a:endParaRPr lang="en-US" sz="1000" dirty="0"/>
          </a:p>
        </p:txBody>
      </p:sp>
      <p:sp>
        <p:nvSpPr>
          <p:cNvPr id="41" name="Text 39"/>
          <p:cNvSpPr/>
          <p:nvPr/>
        </p:nvSpPr>
        <p:spPr>
          <a:xfrm>
            <a:off x="4864608" y="4553712"/>
            <a:ext cx="3913632" cy="256032"/>
          </a:xfrm>
          <a:prstGeom prst="rect">
            <a:avLst/>
          </a:prstGeom>
          <a:noFill/>
          <a:ln/>
        </p:spPr>
        <p:txBody>
          <a:bodyPr wrap="square" lIns="0" tIns="0" rIns="0" bIns="0" rtlCol="0" anchor="t"/>
          <a:lstStyle/>
          <a:p>
            <a:pPr marL="0" indent="0">
              <a:buNone/>
            </a:pPr>
            <a:r>
              <a:rPr lang="en-US" sz="850" dirty="0">
                <a:solidFill>
                  <a:srgbClr val="CCDDEE"/>
                </a:solidFill>
              </a:rPr>
              <a:t>Używaj UIUserInterfaceStyle / isSystemDarkModeEnabled.</a:t>
            </a:r>
            <a:endParaRPr lang="en-US" sz="850" dirty="0"/>
          </a:p>
        </p:txBody>
      </p:sp>
      <p:sp>
        <p:nvSpPr>
          <p:cNvPr id="42" name="Shape 40"/>
          <p:cNvSpPr/>
          <p:nvPr/>
        </p:nvSpPr>
        <p:spPr>
          <a:xfrm>
            <a:off x="4754880" y="4114800"/>
            <a:ext cx="4069080" cy="713232"/>
          </a:xfrm>
          <a:prstGeom prst="rect">
            <a:avLst/>
          </a:prstGeom>
          <a:solidFill>
            <a:srgbClr val="0A1929"/>
          </a:solidFill>
          <a:ln w="12700">
            <a:solidFill>
              <a:srgbClr val="1A3050"/>
            </a:solidFill>
            <a:prstDash val="solid"/>
          </a:ln>
        </p:spPr>
      </p:sp>
      <p:sp>
        <p:nvSpPr>
          <p:cNvPr id="43" name="Text 41"/>
          <p:cNvSpPr/>
          <p:nvPr/>
        </p:nvSpPr>
        <p:spPr>
          <a:xfrm>
            <a:off x="4892040" y="4142232"/>
            <a:ext cx="3794760" cy="658368"/>
          </a:xfrm>
          <a:prstGeom prst="rect">
            <a:avLst/>
          </a:prstGeom>
          <a:noFill/>
          <a:ln/>
        </p:spPr>
        <p:txBody>
          <a:bodyPr wrap="square" lIns="0" tIns="0" rIns="0" bIns="0" rtlCol="0" anchor="ctr"/>
          <a:lstStyle/>
          <a:p>
            <a:pPr marL="0" indent="0">
              <a:buNone/>
            </a:pPr>
            <a:r>
              <a:rPr lang="en-US" sz="850" dirty="0">
                <a:solidFill>
                  <a:srgbClr val="8899AA"/>
                </a:solidFill>
              </a:rPr>
              <a:t>Zalety Dark Mode: oszczędność baterii (OLED do 30%), mniejsze zmęczenie wzroku, lepszy dla nocnego użytkowania, emocjonalny wpływ na percepcję produktu.</a:t>
            </a:r>
            <a:endParaRPr lang="en-US" sz="850" dirty="0"/>
          </a:p>
        </p:txBody>
      </p:sp>
      <p:sp>
        <p:nvSpPr>
          <p:cNvPr id="46" name="Text 44"/>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25 / </a:t>
            </a:r>
            <a:r>
              <a:rPr lang="pl-PL" sz="800" dirty="0" smtClean="0">
                <a:solidFill>
                  <a:srgbClr val="8899AA"/>
                </a:solidFill>
              </a:rPr>
              <a:t>46</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B2A"/>
        </a:solidFill>
        <a:effectLst/>
      </p:bgPr>
    </p:bg>
    <p:spTree>
      <p:nvGrpSpPr>
        <p:cNvPr id="1" name=""/>
        <p:cNvGrpSpPr/>
        <p:nvPr/>
      </p:nvGrpSpPr>
      <p:grpSpPr>
        <a:xfrm>
          <a:off x="0" y="0"/>
          <a:ext cx="0" cy="0"/>
          <a:chOff x="0" y="0"/>
          <a:chExt cx="0" cy="0"/>
        </a:xfrm>
      </p:grpSpPr>
      <p:grpSp>
        <p:nvGrpSpPr>
          <p:cNvPr id="42" name="Grupa 41"/>
          <p:cNvGrpSpPr/>
          <p:nvPr/>
        </p:nvGrpSpPr>
        <p:grpSpPr>
          <a:xfrm>
            <a:off x="-2381" y="4884912"/>
            <a:ext cx="9146381" cy="260136"/>
            <a:chOff x="-2381" y="4884912"/>
            <a:chExt cx="9146381" cy="260136"/>
          </a:xfrm>
        </p:grpSpPr>
        <p:sp>
          <p:nvSpPr>
            <p:cNvPr id="43" name="Shape 52"/>
            <p:cNvSpPr/>
            <p:nvPr/>
          </p:nvSpPr>
          <p:spPr>
            <a:xfrm>
              <a:off x="0" y="4884912"/>
              <a:ext cx="9144000" cy="252000"/>
            </a:xfrm>
            <a:prstGeom prst="rect">
              <a:avLst/>
            </a:prstGeom>
            <a:solidFill>
              <a:srgbClr val="071523"/>
            </a:solidFill>
            <a:ln w="12700">
              <a:solidFill>
                <a:srgbClr val="071523"/>
              </a:solidFill>
              <a:prstDash val="solid"/>
            </a:ln>
          </p:spPr>
        </p:sp>
        <p:sp>
          <p:nvSpPr>
            <p:cNvPr id="44"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45" name="Grupa 44"/>
            <p:cNvGrpSpPr/>
            <p:nvPr/>
          </p:nvGrpSpPr>
          <p:grpSpPr>
            <a:xfrm>
              <a:off x="-2381" y="5099329"/>
              <a:ext cx="9146381" cy="45719"/>
              <a:chOff x="-2381" y="5107500"/>
              <a:chExt cx="9111093" cy="37548"/>
            </a:xfrm>
            <a:solidFill>
              <a:schemeClr val="tx1"/>
            </a:solidFill>
          </p:grpSpPr>
          <p:sp>
            <p:nvSpPr>
              <p:cNvPr id="46"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47"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48"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49"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50"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62"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63"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64"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65"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66"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67"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68" name="Shape 52"/>
              <p:cNvSpPr/>
              <p:nvPr/>
            </p:nvSpPr>
            <p:spPr>
              <a:xfrm>
                <a:off x="4356712" y="5107500"/>
                <a:ext cx="198000" cy="36000"/>
              </a:xfrm>
              <a:prstGeom prst="rect">
                <a:avLst/>
              </a:prstGeom>
              <a:solidFill>
                <a:schemeClr val="accent5">
                  <a:lumMod val="20000"/>
                  <a:lumOff val="80000"/>
                </a:schemeClr>
              </a:solidFill>
              <a:ln w="12700">
                <a:noFill/>
                <a:prstDash val="solid"/>
              </a:ln>
            </p:spPr>
          </p:sp>
          <p:sp>
            <p:nvSpPr>
              <p:cNvPr id="69" name="Shape 52"/>
              <p:cNvSpPr/>
              <p:nvPr/>
            </p:nvSpPr>
            <p:spPr>
              <a:xfrm>
                <a:off x="4554712" y="5107500"/>
                <a:ext cx="198000" cy="36000"/>
              </a:xfrm>
              <a:prstGeom prst="rect">
                <a:avLst/>
              </a:prstGeom>
              <a:solidFill>
                <a:schemeClr val="accent5">
                  <a:lumMod val="20000"/>
                  <a:lumOff val="80000"/>
                </a:schemeClr>
              </a:solidFill>
              <a:ln w="12700">
                <a:noFill/>
                <a:prstDash val="solid"/>
              </a:ln>
            </p:spPr>
          </p:sp>
          <p:sp>
            <p:nvSpPr>
              <p:cNvPr id="70" name="Shape 52"/>
              <p:cNvSpPr/>
              <p:nvPr/>
            </p:nvSpPr>
            <p:spPr>
              <a:xfrm>
                <a:off x="4752712" y="5107500"/>
                <a:ext cx="198000" cy="36000"/>
              </a:xfrm>
              <a:prstGeom prst="rect">
                <a:avLst/>
              </a:prstGeom>
              <a:solidFill>
                <a:schemeClr val="accent5">
                  <a:lumMod val="20000"/>
                  <a:lumOff val="80000"/>
                </a:schemeClr>
              </a:solidFill>
              <a:ln w="12700">
                <a:noFill/>
                <a:prstDash val="solid"/>
              </a:ln>
            </p:spPr>
          </p:sp>
          <p:sp>
            <p:nvSpPr>
              <p:cNvPr id="71" name="Shape 52"/>
              <p:cNvSpPr/>
              <p:nvPr/>
            </p:nvSpPr>
            <p:spPr>
              <a:xfrm>
                <a:off x="4950712" y="5107500"/>
                <a:ext cx="198000" cy="36000"/>
              </a:xfrm>
              <a:prstGeom prst="rect">
                <a:avLst/>
              </a:prstGeom>
              <a:solidFill>
                <a:schemeClr val="accent5">
                  <a:lumMod val="20000"/>
                  <a:lumOff val="80000"/>
                </a:schemeClr>
              </a:solidFill>
              <a:ln w="12700">
                <a:noFill/>
                <a:prstDash val="solid"/>
              </a:ln>
            </p:spPr>
          </p:sp>
          <p:sp>
            <p:nvSpPr>
              <p:cNvPr id="72" name="Shape 52"/>
              <p:cNvSpPr/>
              <p:nvPr/>
            </p:nvSpPr>
            <p:spPr>
              <a:xfrm>
                <a:off x="5148712" y="5107500"/>
                <a:ext cx="198000" cy="36000"/>
              </a:xfrm>
              <a:prstGeom prst="rect">
                <a:avLst/>
              </a:prstGeom>
              <a:grpFill/>
              <a:ln w="12700">
                <a:noFill/>
                <a:prstDash val="solid"/>
              </a:ln>
            </p:spPr>
          </p:sp>
          <p:sp>
            <p:nvSpPr>
              <p:cNvPr id="73" name="Shape 52"/>
              <p:cNvSpPr/>
              <p:nvPr/>
            </p:nvSpPr>
            <p:spPr>
              <a:xfrm>
                <a:off x="5346712" y="5108400"/>
                <a:ext cx="198000" cy="36000"/>
              </a:xfrm>
              <a:prstGeom prst="rect">
                <a:avLst/>
              </a:prstGeom>
              <a:grpFill/>
              <a:ln w="12700">
                <a:noFill/>
                <a:prstDash val="solid"/>
              </a:ln>
            </p:spPr>
          </p:sp>
          <p:sp>
            <p:nvSpPr>
              <p:cNvPr id="74" name="Shape 52"/>
              <p:cNvSpPr/>
              <p:nvPr/>
            </p:nvSpPr>
            <p:spPr>
              <a:xfrm>
                <a:off x="5544712" y="5108400"/>
                <a:ext cx="198000" cy="36000"/>
              </a:xfrm>
              <a:prstGeom prst="rect">
                <a:avLst/>
              </a:prstGeom>
              <a:grpFill/>
              <a:ln w="12700">
                <a:noFill/>
                <a:prstDash val="solid"/>
              </a:ln>
            </p:spPr>
          </p:sp>
          <p:sp>
            <p:nvSpPr>
              <p:cNvPr id="75" name="Shape 52"/>
              <p:cNvSpPr/>
              <p:nvPr/>
            </p:nvSpPr>
            <p:spPr>
              <a:xfrm>
                <a:off x="5742712" y="5108400"/>
                <a:ext cx="198000" cy="36000"/>
              </a:xfrm>
              <a:prstGeom prst="rect">
                <a:avLst/>
              </a:prstGeom>
              <a:grpFill/>
              <a:ln w="12700">
                <a:noFill/>
                <a:prstDash val="solid"/>
              </a:ln>
            </p:spPr>
          </p:sp>
          <p:sp>
            <p:nvSpPr>
              <p:cNvPr id="76" name="Shape 52"/>
              <p:cNvSpPr/>
              <p:nvPr/>
            </p:nvSpPr>
            <p:spPr>
              <a:xfrm>
                <a:off x="5940712" y="5108400"/>
                <a:ext cx="198000" cy="36000"/>
              </a:xfrm>
              <a:prstGeom prst="rect">
                <a:avLst/>
              </a:prstGeom>
              <a:grpFill/>
              <a:ln w="12700">
                <a:noFill/>
                <a:prstDash val="solid"/>
              </a:ln>
            </p:spPr>
          </p:sp>
          <p:sp>
            <p:nvSpPr>
              <p:cNvPr id="77" name="Shape 52"/>
              <p:cNvSpPr/>
              <p:nvPr/>
            </p:nvSpPr>
            <p:spPr>
              <a:xfrm>
                <a:off x="6138712" y="5108400"/>
                <a:ext cx="198000" cy="36000"/>
              </a:xfrm>
              <a:prstGeom prst="rect">
                <a:avLst/>
              </a:prstGeom>
              <a:grpFill/>
              <a:ln w="12700">
                <a:noFill/>
                <a:prstDash val="solid"/>
              </a:ln>
            </p:spPr>
          </p:sp>
          <p:sp>
            <p:nvSpPr>
              <p:cNvPr id="78" name="Shape 52"/>
              <p:cNvSpPr/>
              <p:nvPr/>
            </p:nvSpPr>
            <p:spPr>
              <a:xfrm>
                <a:off x="6336712" y="5108400"/>
                <a:ext cx="198000" cy="36000"/>
              </a:xfrm>
              <a:prstGeom prst="rect">
                <a:avLst/>
              </a:prstGeom>
              <a:grpFill/>
              <a:ln w="12700">
                <a:noFill/>
                <a:prstDash val="solid"/>
              </a:ln>
            </p:spPr>
          </p:sp>
          <p:sp>
            <p:nvSpPr>
              <p:cNvPr id="79" name="Shape 52"/>
              <p:cNvSpPr/>
              <p:nvPr/>
            </p:nvSpPr>
            <p:spPr>
              <a:xfrm>
                <a:off x="6534712" y="5108400"/>
                <a:ext cx="198000" cy="36000"/>
              </a:xfrm>
              <a:prstGeom prst="rect">
                <a:avLst/>
              </a:prstGeom>
              <a:grpFill/>
              <a:ln w="12700">
                <a:noFill/>
                <a:prstDash val="solid"/>
              </a:ln>
            </p:spPr>
          </p:sp>
          <p:sp>
            <p:nvSpPr>
              <p:cNvPr id="80" name="Shape 52"/>
              <p:cNvSpPr/>
              <p:nvPr/>
            </p:nvSpPr>
            <p:spPr>
              <a:xfrm>
                <a:off x="6732712" y="5108400"/>
                <a:ext cx="198000" cy="36000"/>
              </a:xfrm>
              <a:prstGeom prst="rect">
                <a:avLst/>
              </a:prstGeom>
              <a:grpFill/>
              <a:ln w="12700">
                <a:noFill/>
                <a:prstDash val="solid"/>
              </a:ln>
            </p:spPr>
          </p:sp>
          <p:sp>
            <p:nvSpPr>
              <p:cNvPr id="81" name="Shape 52"/>
              <p:cNvSpPr/>
              <p:nvPr/>
            </p:nvSpPr>
            <p:spPr>
              <a:xfrm>
                <a:off x="6930712" y="5108400"/>
                <a:ext cx="198000" cy="36000"/>
              </a:xfrm>
              <a:prstGeom prst="rect">
                <a:avLst/>
              </a:prstGeom>
              <a:grpFill/>
              <a:ln w="12700">
                <a:noFill/>
                <a:prstDash val="solid"/>
              </a:ln>
            </p:spPr>
          </p:sp>
          <p:sp>
            <p:nvSpPr>
              <p:cNvPr id="82" name="Shape 52"/>
              <p:cNvSpPr/>
              <p:nvPr/>
            </p:nvSpPr>
            <p:spPr>
              <a:xfrm>
                <a:off x="7128712" y="5108400"/>
                <a:ext cx="198000" cy="36000"/>
              </a:xfrm>
              <a:prstGeom prst="rect">
                <a:avLst/>
              </a:prstGeom>
              <a:grpFill/>
              <a:ln w="12700">
                <a:noFill/>
                <a:prstDash val="solid"/>
              </a:ln>
            </p:spPr>
          </p:sp>
          <p:sp>
            <p:nvSpPr>
              <p:cNvPr id="83" name="Shape 52"/>
              <p:cNvSpPr/>
              <p:nvPr/>
            </p:nvSpPr>
            <p:spPr>
              <a:xfrm>
                <a:off x="7326712" y="5108400"/>
                <a:ext cx="198000" cy="36000"/>
              </a:xfrm>
              <a:prstGeom prst="rect">
                <a:avLst/>
              </a:prstGeom>
              <a:grpFill/>
              <a:ln w="12700">
                <a:noFill/>
                <a:prstDash val="solid"/>
              </a:ln>
            </p:spPr>
          </p:sp>
          <p:sp>
            <p:nvSpPr>
              <p:cNvPr id="84" name="Shape 52"/>
              <p:cNvSpPr/>
              <p:nvPr/>
            </p:nvSpPr>
            <p:spPr>
              <a:xfrm>
                <a:off x="7524712" y="5108400"/>
                <a:ext cx="198000" cy="36000"/>
              </a:xfrm>
              <a:prstGeom prst="rect">
                <a:avLst/>
              </a:prstGeom>
              <a:grpFill/>
              <a:ln w="12700">
                <a:noFill/>
                <a:prstDash val="solid"/>
              </a:ln>
            </p:spPr>
          </p:sp>
          <p:sp>
            <p:nvSpPr>
              <p:cNvPr id="85" name="Shape 52"/>
              <p:cNvSpPr/>
              <p:nvPr/>
            </p:nvSpPr>
            <p:spPr>
              <a:xfrm>
                <a:off x="7722712" y="5108400"/>
                <a:ext cx="198000" cy="36000"/>
              </a:xfrm>
              <a:prstGeom prst="rect">
                <a:avLst/>
              </a:prstGeom>
              <a:grpFill/>
              <a:ln w="12700">
                <a:noFill/>
                <a:prstDash val="solid"/>
              </a:ln>
            </p:spPr>
          </p:sp>
          <p:sp>
            <p:nvSpPr>
              <p:cNvPr id="86" name="Shape 52"/>
              <p:cNvSpPr/>
              <p:nvPr/>
            </p:nvSpPr>
            <p:spPr>
              <a:xfrm>
                <a:off x="7920712" y="5109048"/>
                <a:ext cx="198000" cy="36000"/>
              </a:xfrm>
              <a:prstGeom prst="rect">
                <a:avLst/>
              </a:prstGeom>
              <a:grpFill/>
              <a:ln w="12700">
                <a:noFill/>
                <a:prstDash val="solid"/>
              </a:ln>
            </p:spPr>
          </p:sp>
          <p:sp>
            <p:nvSpPr>
              <p:cNvPr id="87" name="Shape 52"/>
              <p:cNvSpPr/>
              <p:nvPr/>
            </p:nvSpPr>
            <p:spPr>
              <a:xfrm>
                <a:off x="8118712" y="5109048"/>
                <a:ext cx="198000" cy="36000"/>
              </a:xfrm>
              <a:prstGeom prst="rect">
                <a:avLst/>
              </a:prstGeom>
              <a:grpFill/>
              <a:ln w="12700">
                <a:noFill/>
                <a:prstDash val="solid"/>
              </a:ln>
            </p:spPr>
          </p:sp>
          <p:sp>
            <p:nvSpPr>
              <p:cNvPr id="88" name="Shape 52"/>
              <p:cNvSpPr/>
              <p:nvPr/>
            </p:nvSpPr>
            <p:spPr>
              <a:xfrm>
                <a:off x="8316712" y="5109048"/>
                <a:ext cx="198000" cy="36000"/>
              </a:xfrm>
              <a:prstGeom prst="rect">
                <a:avLst/>
              </a:prstGeom>
              <a:grpFill/>
              <a:ln w="12700">
                <a:noFill/>
                <a:prstDash val="solid"/>
              </a:ln>
            </p:spPr>
          </p:sp>
          <p:sp>
            <p:nvSpPr>
              <p:cNvPr id="89" name="Shape 52"/>
              <p:cNvSpPr/>
              <p:nvPr/>
            </p:nvSpPr>
            <p:spPr>
              <a:xfrm>
                <a:off x="8514712" y="5109048"/>
                <a:ext cx="198000" cy="36000"/>
              </a:xfrm>
              <a:prstGeom prst="rect">
                <a:avLst/>
              </a:prstGeom>
              <a:grpFill/>
              <a:ln w="12700">
                <a:noFill/>
                <a:prstDash val="solid"/>
              </a:ln>
            </p:spPr>
          </p:sp>
          <p:sp>
            <p:nvSpPr>
              <p:cNvPr id="90" name="Shape 52"/>
              <p:cNvSpPr/>
              <p:nvPr/>
            </p:nvSpPr>
            <p:spPr>
              <a:xfrm>
                <a:off x="8712712" y="5109048"/>
                <a:ext cx="198000" cy="36000"/>
              </a:xfrm>
              <a:prstGeom prst="rect">
                <a:avLst/>
              </a:prstGeom>
              <a:grpFill/>
              <a:ln w="12700">
                <a:noFill/>
                <a:prstDash val="solid"/>
              </a:ln>
            </p:spPr>
          </p:sp>
          <p:sp>
            <p:nvSpPr>
              <p:cNvPr id="91"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FF9100"/>
          </a:solidFill>
          <a:ln w="12700">
            <a:solidFill>
              <a:srgbClr val="FF9100"/>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Systemy Kolorów i Design Tokens</a:t>
            </a:r>
            <a:endParaRPr lang="en-US" sz="2200" dirty="0"/>
          </a:p>
        </p:txBody>
      </p:sp>
      <p:sp>
        <p:nvSpPr>
          <p:cNvPr id="4" name="Shape 2"/>
          <p:cNvSpPr/>
          <p:nvPr/>
        </p:nvSpPr>
        <p:spPr>
          <a:xfrm>
            <a:off x="320040" y="914400"/>
            <a:ext cx="2029968" cy="169164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5" name="Shape 3"/>
          <p:cNvSpPr/>
          <p:nvPr/>
        </p:nvSpPr>
        <p:spPr>
          <a:xfrm>
            <a:off x="320040" y="914400"/>
            <a:ext cx="45720" cy="1691640"/>
          </a:xfrm>
          <a:prstGeom prst="rect">
            <a:avLst/>
          </a:prstGeom>
          <a:solidFill>
            <a:srgbClr val="FF9100"/>
          </a:solidFill>
          <a:ln w="12700">
            <a:solidFill>
              <a:srgbClr val="FF9100"/>
            </a:solidFill>
            <a:prstDash val="solid"/>
          </a:ln>
        </p:spPr>
      </p:sp>
      <p:sp>
        <p:nvSpPr>
          <p:cNvPr id="6" name="Text 4"/>
          <p:cNvSpPr/>
          <p:nvPr/>
        </p:nvSpPr>
        <p:spPr>
          <a:xfrm>
            <a:off x="429768" y="978408"/>
            <a:ext cx="1874520" cy="256032"/>
          </a:xfrm>
          <a:prstGeom prst="rect">
            <a:avLst/>
          </a:prstGeom>
          <a:noFill/>
          <a:ln/>
        </p:spPr>
        <p:txBody>
          <a:bodyPr wrap="square" lIns="0" tIns="0" rIns="0" bIns="0" rtlCol="0" anchor="t"/>
          <a:lstStyle/>
          <a:p>
            <a:pPr marL="0" indent="0">
              <a:buNone/>
            </a:pPr>
            <a:r>
              <a:rPr lang="en-US" sz="1000" b="1" dirty="0">
                <a:solidFill>
                  <a:srgbClr val="FF9100"/>
                </a:solidFill>
              </a:rPr>
              <a:t>Primary (Główny)</a:t>
            </a:r>
            <a:endParaRPr lang="en-US" sz="1000" dirty="0"/>
          </a:p>
        </p:txBody>
      </p:sp>
      <p:sp>
        <p:nvSpPr>
          <p:cNvPr id="7" name="Text 5"/>
          <p:cNvSpPr/>
          <p:nvPr/>
        </p:nvSpPr>
        <p:spPr>
          <a:xfrm>
            <a:off x="429768" y="1243584"/>
            <a:ext cx="1874520" cy="1307592"/>
          </a:xfrm>
          <a:prstGeom prst="rect">
            <a:avLst/>
          </a:prstGeom>
          <a:noFill/>
          <a:ln/>
        </p:spPr>
        <p:txBody>
          <a:bodyPr wrap="square" lIns="0" tIns="0" rIns="0" bIns="0" rtlCol="0" anchor="t"/>
          <a:lstStyle/>
          <a:p>
            <a:pPr marL="0" indent="0">
              <a:buNone/>
            </a:pPr>
            <a:r>
              <a:rPr lang="en-US" sz="850" dirty="0">
                <a:solidFill>
                  <a:srgbClr val="CCDDEE"/>
                </a:solidFill>
              </a:rPr>
              <a:t>Kolory marki. Dla CTA, aktywnych stanów, kluczowych elementów. Zazwyczaj 1–2 kolory.</a:t>
            </a:r>
            <a:endParaRPr lang="en-US" sz="850" dirty="0"/>
          </a:p>
        </p:txBody>
      </p:sp>
      <p:sp>
        <p:nvSpPr>
          <p:cNvPr id="8" name="Shape 6"/>
          <p:cNvSpPr/>
          <p:nvPr/>
        </p:nvSpPr>
        <p:spPr>
          <a:xfrm>
            <a:off x="2468880" y="914400"/>
            <a:ext cx="2029968" cy="169164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9" name="Shape 7"/>
          <p:cNvSpPr/>
          <p:nvPr/>
        </p:nvSpPr>
        <p:spPr>
          <a:xfrm>
            <a:off x="2468880" y="914400"/>
            <a:ext cx="45720" cy="1691640"/>
          </a:xfrm>
          <a:prstGeom prst="rect">
            <a:avLst/>
          </a:prstGeom>
          <a:solidFill>
            <a:srgbClr val="FFD600"/>
          </a:solidFill>
          <a:ln w="12700">
            <a:solidFill>
              <a:srgbClr val="FFD600"/>
            </a:solidFill>
            <a:prstDash val="solid"/>
          </a:ln>
        </p:spPr>
      </p:sp>
      <p:sp>
        <p:nvSpPr>
          <p:cNvPr id="10" name="Text 8"/>
          <p:cNvSpPr/>
          <p:nvPr/>
        </p:nvSpPr>
        <p:spPr>
          <a:xfrm>
            <a:off x="2578608" y="978408"/>
            <a:ext cx="1874520" cy="256032"/>
          </a:xfrm>
          <a:prstGeom prst="rect">
            <a:avLst/>
          </a:prstGeom>
          <a:noFill/>
          <a:ln/>
        </p:spPr>
        <p:txBody>
          <a:bodyPr wrap="square" lIns="0" tIns="0" rIns="0" bIns="0" rtlCol="0" anchor="t"/>
          <a:lstStyle/>
          <a:p>
            <a:pPr marL="0" indent="0">
              <a:buNone/>
            </a:pPr>
            <a:r>
              <a:rPr lang="en-US" sz="1000" b="1" dirty="0">
                <a:solidFill>
                  <a:srgbClr val="FFD600"/>
                </a:solidFill>
              </a:rPr>
              <a:t>Secondary (Drugorzędny)</a:t>
            </a:r>
            <a:endParaRPr lang="en-US" sz="1000" dirty="0"/>
          </a:p>
        </p:txBody>
      </p:sp>
      <p:sp>
        <p:nvSpPr>
          <p:cNvPr id="11" name="Text 9"/>
          <p:cNvSpPr/>
          <p:nvPr/>
        </p:nvSpPr>
        <p:spPr>
          <a:xfrm>
            <a:off x="2578608" y="1243584"/>
            <a:ext cx="1874520" cy="1307592"/>
          </a:xfrm>
          <a:prstGeom prst="rect">
            <a:avLst/>
          </a:prstGeom>
          <a:noFill/>
          <a:ln/>
        </p:spPr>
        <p:txBody>
          <a:bodyPr wrap="square" lIns="0" tIns="0" rIns="0" bIns="0" rtlCol="0" anchor="t"/>
          <a:lstStyle/>
          <a:p>
            <a:pPr marL="0" indent="0">
              <a:buNone/>
            </a:pPr>
            <a:r>
              <a:rPr lang="en-US" sz="850" dirty="0">
                <a:solidFill>
                  <a:srgbClr val="CCDDEE"/>
                </a:solidFill>
              </a:rPr>
              <a:t>Uzupełniają Primary. Mniej dominujące, wspierają hierarchię wizualną.</a:t>
            </a:r>
            <a:endParaRPr lang="en-US" sz="850" dirty="0"/>
          </a:p>
        </p:txBody>
      </p:sp>
      <p:sp>
        <p:nvSpPr>
          <p:cNvPr id="12" name="Shape 10"/>
          <p:cNvSpPr/>
          <p:nvPr/>
        </p:nvSpPr>
        <p:spPr>
          <a:xfrm>
            <a:off x="4617720" y="914400"/>
            <a:ext cx="2029968" cy="169164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13" name="Shape 11"/>
          <p:cNvSpPr/>
          <p:nvPr/>
        </p:nvSpPr>
        <p:spPr>
          <a:xfrm>
            <a:off x="4617720" y="914400"/>
            <a:ext cx="45720" cy="1691640"/>
          </a:xfrm>
          <a:prstGeom prst="rect">
            <a:avLst/>
          </a:prstGeom>
          <a:solidFill>
            <a:srgbClr val="00D4FF"/>
          </a:solidFill>
          <a:ln w="12700">
            <a:solidFill>
              <a:srgbClr val="00D4FF"/>
            </a:solidFill>
            <a:prstDash val="solid"/>
          </a:ln>
        </p:spPr>
      </p:sp>
      <p:sp>
        <p:nvSpPr>
          <p:cNvPr id="14" name="Text 12"/>
          <p:cNvSpPr/>
          <p:nvPr/>
        </p:nvSpPr>
        <p:spPr>
          <a:xfrm>
            <a:off x="4727448" y="978408"/>
            <a:ext cx="1874520" cy="256032"/>
          </a:xfrm>
          <a:prstGeom prst="rect">
            <a:avLst/>
          </a:prstGeom>
          <a:noFill/>
          <a:ln/>
        </p:spPr>
        <p:txBody>
          <a:bodyPr wrap="square" lIns="0" tIns="0" rIns="0" bIns="0" rtlCol="0" anchor="t"/>
          <a:lstStyle/>
          <a:p>
            <a:pPr marL="0" indent="0">
              <a:buNone/>
            </a:pPr>
            <a:r>
              <a:rPr lang="en-US" sz="1000" b="1" dirty="0">
                <a:solidFill>
                  <a:srgbClr val="00D4FF"/>
                </a:solidFill>
              </a:rPr>
              <a:t>Functional (Funkcjonalne)</a:t>
            </a:r>
            <a:endParaRPr lang="en-US" sz="1000" dirty="0"/>
          </a:p>
        </p:txBody>
      </p:sp>
      <p:sp>
        <p:nvSpPr>
          <p:cNvPr id="15" name="Text 13"/>
          <p:cNvSpPr/>
          <p:nvPr/>
        </p:nvSpPr>
        <p:spPr>
          <a:xfrm>
            <a:off x="4727448" y="1243584"/>
            <a:ext cx="1874520" cy="1307592"/>
          </a:xfrm>
          <a:prstGeom prst="rect">
            <a:avLst/>
          </a:prstGeom>
          <a:noFill/>
          <a:ln/>
        </p:spPr>
        <p:txBody>
          <a:bodyPr wrap="square" lIns="0" tIns="0" rIns="0" bIns="0" rtlCol="0" anchor="t"/>
          <a:lstStyle/>
          <a:p>
            <a:pPr marL="0" indent="0">
              <a:buNone/>
            </a:pPr>
            <a:r>
              <a:rPr lang="en-US" sz="850" dirty="0">
                <a:solidFill>
                  <a:srgbClr val="CCDDEE"/>
                </a:solidFill>
              </a:rPr>
              <a:t>Sukces (✓), Błąd (✗), Ostrzeżenie (⚠), Informacja (ℹ). Stałe znaczenie semantyczne.</a:t>
            </a:r>
            <a:endParaRPr lang="en-US" sz="850" dirty="0"/>
          </a:p>
        </p:txBody>
      </p:sp>
      <p:sp>
        <p:nvSpPr>
          <p:cNvPr id="16" name="Shape 14"/>
          <p:cNvSpPr/>
          <p:nvPr/>
        </p:nvSpPr>
        <p:spPr>
          <a:xfrm>
            <a:off x="6766560" y="914400"/>
            <a:ext cx="2029968" cy="169164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17" name="Shape 15"/>
          <p:cNvSpPr/>
          <p:nvPr/>
        </p:nvSpPr>
        <p:spPr>
          <a:xfrm>
            <a:off x="6766560" y="914400"/>
            <a:ext cx="45720" cy="1691640"/>
          </a:xfrm>
          <a:prstGeom prst="rect">
            <a:avLst/>
          </a:prstGeom>
          <a:solidFill>
            <a:srgbClr val="8899AA"/>
          </a:solidFill>
          <a:ln w="12700">
            <a:solidFill>
              <a:srgbClr val="8899AA"/>
            </a:solidFill>
            <a:prstDash val="solid"/>
          </a:ln>
        </p:spPr>
      </p:sp>
      <p:sp>
        <p:nvSpPr>
          <p:cNvPr id="18" name="Text 16"/>
          <p:cNvSpPr/>
          <p:nvPr/>
        </p:nvSpPr>
        <p:spPr>
          <a:xfrm>
            <a:off x="6876288" y="978408"/>
            <a:ext cx="1874520" cy="256032"/>
          </a:xfrm>
          <a:prstGeom prst="rect">
            <a:avLst/>
          </a:prstGeom>
          <a:noFill/>
          <a:ln/>
        </p:spPr>
        <p:txBody>
          <a:bodyPr wrap="square" lIns="0" tIns="0" rIns="0" bIns="0" rtlCol="0" anchor="t"/>
          <a:lstStyle/>
          <a:p>
            <a:pPr marL="0" indent="0">
              <a:buNone/>
            </a:pPr>
            <a:r>
              <a:rPr lang="en-US" sz="1000" b="1" dirty="0">
                <a:solidFill>
                  <a:srgbClr val="8899AA"/>
                </a:solidFill>
              </a:rPr>
              <a:t>Neutral (Neutralne)</a:t>
            </a:r>
            <a:endParaRPr lang="en-US" sz="1000" dirty="0"/>
          </a:p>
        </p:txBody>
      </p:sp>
      <p:sp>
        <p:nvSpPr>
          <p:cNvPr id="19" name="Text 17"/>
          <p:cNvSpPr/>
          <p:nvPr/>
        </p:nvSpPr>
        <p:spPr>
          <a:xfrm>
            <a:off x="6876288" y="1243584"/>
            <a:ext cx="1874520" cy="1307592"/>
          </a:xfrm>
          <a:prstGeom prst="rect">
            <a:avLst/>
          </a:prstGeom>
          <a:noFill/>
          <a:ln/>
        </p:spPr>
        <p:txBody>
          <a:bodyPr wrap="square" lIns="0" tIns="0" rIns="0" bIns="0" rtlCol="0" anchor="t"/>
          <a:lstStyle/>
          <a:p>
            <a:pPr marL="0" indent="0">
              <a:buNone/>
            </a:pPr>
            <a:r>
              <a:rPr lang="en-US" sz="850" dirty="0">
                <a:solidFill>
                  <a:srgbClr val="CCDDEE"/>
                </a:solidFill>
              </a:rPr>
              <a:t>Szarości dla tekstu, tła, obramowań. 8–10 odcieni szarości jako fundament.</a:t>
            </a:r>
            <a:endParaRPr lang="en-US" sz="850" dirty="0"/>
          </a:p>
        </p:txBody>
      </p:sp>
      <p:sp>
        <p:nvSpPr>
          <p:cNvPr id="20" name="Shape 18"/>
          <p:cNvSpPr/>
          <p:nvPr/>
        </p:nvSpPr>
        <p:spPr>
          <a:xfrm>
            <a:off x="320040" y="2697480"/>
            <a:ext cx="2029968" cy="292608"/>
          </a:xfrm>
          <a:prstGeom prst="rect">
            <a:avLst/>
          </a:prstGeom>
          <a:solidFill>
            <a:srgbClr val="22C55E"/>
          </a:solidFill>
          <a:ln w="12700">
            <a:solidFill>
              <a:srgbClr val="22C55E"/>
            </a:solidFill>
            <a:prstDash val="solid"/>
          </a:ln>
        </p:spPr>
      </p:sp>
      <p:sp>
        <p:nvSpPr>
          <p:cNvPr id="21" name="Text 19"/>
          <p:cNvSpPr/>
          <p:nvPr/>
        </p:nvSpPr>
        <p:spPr>
          <a:xfrm>
            <a:off x="320040" y="2697480"/>
            <a:ext cx="2029968" cy="292608"/>
          </a:xfrm>
          <a:prstGeom prst="rect">
            <a:avLst/>
          </a:prstGeom>
          <a:noFill/>
          <a:ln/>
        </p:spPr>
        <p:txBody>
          <a:bodyPr wrap="square" lIns="0" tIns="0" rIns="0" bIns="0" rtlCol="0" anchor="ctr"/>
          <a:lstStyle/>
          <a:p>
            <a:pPr marL="0" indent="0" algn="ctr">
              <a:buNone/>
            </a:pPr>
            <a:r>
              <a:rPr lang="en-US" sz="900" b="1" dirty="0">
                <a:solidFill>
                  <a:srgbClr val="FFFFFF"/>
                </a:solidFill>
              </a:rPr>
              <a:t>Sukces  #22C55E</a:t>
            </a:r>
            <a:endParaRPr lang="en-US" sz="900" dirty="0"/>
          </a:p>
        </p:txBody>
      </p:sp>
      <p:sp>
        <p:nvSpPr>
          <p:cNvPr id="22" name="Shape 20"/>
          <p:cNvSpPr/>
          <p:nvPr/>
        </p:nvSpPr>
        <p:spPr>
          <a:xfrm>
            <a:off x="2468880" y="2697480"/>
            <a:ext cx="2029968" cy="292608"/>
          </a:xfrm>
          <a:prstGeom prst="rect">
            <a:avLst/>
          </a:prstGeom>
          <a:solidFill>
            <a:srgbClr val="EF4444"/>
          </a:solidFill>
          <a:ln w="12700">
            <a:solidFill>
              <a:srgbClr val="EF4444"/>
            </a:solidFill>
            <a:prstDash val="solid"/>
          </a:ln>
        </p:spPr>
      </p:sp>
      <p:sp>
        <p:nvSpPr>
          <p:cNvPr id="23" name="Text 21"/>
          <p:cNvSpPr/>
          <p:nvPr/>
        </p:nvSpPr>
        <p:spPr>
          <a:xfrm>
            <a:off x="2468880" y="2697480"/>
            <a:ext cx="2029968" cy="292608"/>
          </a:xfrm>
          <a:prstGeom prst="rect">
            <a:avLst/>
          </a:prstGeom>
          <a:noFill/>
          <a:ln/>
        </p:spPr>
        <p:txBody>
          <a:bodyPr wrap="square" lIns="0" tIns="0" rIns="0" bIns="0" rtlCol="0" anchor="ctr"/>
          <a:lstStyle/>
          <a:p>
            <a:pPr marL="0" indent="0" algn="ctr">
              <a:buNone/>
            </a:pPr>
            <a:r>
              <a:rPr lang="en-US" sz="900" b="1" dirty="0">
                <a:solidFill>
                  <a:srgbClr val="FFFFFF"/>
                </a:solidFill>
              </a:rPr>
              <a:t>Błąd  #EF4444</a:t>
            </a:r>
            <a:endParaRPr lang="en-US" sz="900" dirty="0"/>
          </a:p>
        </p:txBody>
      </p:sp>
      <p:sp>
        <p:nvSpPr>
          <p:cNvPr id="24" name="Shape 22"/>
          <p:cNvSpPr/>
          <p:nvPr/>
        </p:nvSpPr>
        <p:spPr>
          <a:xfrm>
            <a:off x="4617720" y="2697480"/>
            <a:ext cx="2029968" cy="292608"/>
          </a:xfrm>
          <a:prstGeom prst="rect">
            <a:avLst/>
          </a:prstGeom>
          <a:solidFill>
            <a:srgbClr val="F59E0B"/>
          </a:solidFill>
          <a:ln w="12700">
            <a:solidFill>
              <a:srgbClr val="F59E0B"/>
            </a:solidFill>
            <a:prstDash val="solid"/>
          </a:ln>
        </p:spPr>
      </p:sp>
      <p:sp>
        <p:nvSpPr>
          <p:cNvPr id="25" name="Text 23"/>
          <p:cNvSpPr/>
          <p:nvPr/>
        </p:nvSpPr>
        <p:spPr>
          <a:xfrm>
            <a:off x="4617720" y="2697480"/>
            <a:ext cx="2029968" cy="292608"/>
          </a:xfrm>
          <a:prstGeom prst="rect">
            <a:avLst/>
          </a:prstGeom>
          <a:noFill/>
          <a:ln/>
        </p:spPr>
        <p:txBody>
          <a:bodyPr wrap="square" lIns="0" tIns="0" rIns="0" bIns="0" rtlCol="0" anchor="ctr"/>
          <a:lstStyle/>
          <a:p>
            <a:pPr marL="0" indent="0" algn="ctr">
              <a:buNone/>
            </a:pPr>
            <a:r>
              <a:rPr lang="en-US" sz="900" b="1" dirty="0">
                <a:solidFill>
                  <a:srgbClr val="FFFFFF"/>
                </a:solidFill>
              </a:rPr>
              <a:t>Ostrzeżenie  #F59E0B</a:t>
            </a:r>
            <a:endParaRPr lang="en-US" sz="900" dirty="0"/>
          </a:p>
        </p:txBody>
      </p:sp>
      <p:sp>
        <p:nvSpPr>
          <p:cNvPr id="26" name="Shape 24"/>
          <p:cNvSpPr/>
          <p:nvPr/>
        </p:nvSpPr>
        <p:spPr>
          <a:xfrm>
            <a:off x="6766560" y="2697480"/>
            <a:ext cx="2029968" cy="292608"/>
          </a:xfrm>
          <a:prstGeom prst="rect">
            <a:avLst/>
          </a:prstGeom>
          <a:solidFill>
            <a:srgbClr val="3B82F6"/>
          </a:solidFill>
          <a:ln w="12700">
            <a:solidFill>
              <a:srgbClr val="3B82F6"/>
            </a:solidFill>
            <a:prstDash val="solid"/>
          </a:ln>
        </p:spPr>
      </p:sp>
      <p:sp>
        <p:nvSpPr>
          <p:cNvPr id="27" name="Text 25"/>
          <p:cNvSpPr/>
          <p:nvPr/>
        </p:nvSpPr>
        <p:spPr>
          <a:xfrm>
            <a:off x="6766560" y="2697480"/>
            <a:ext cx="2029968" cy="292608"/>
          </a:xfrm>
          <a:prstGeom prst="rect">
            <a:avLst/>
          </a:prstGeom>
          <a:noFill/>
          <a:ln/>
        </p:spPr>
        <p:txBody>
          <a:bodyPr wrap="square" lIns="0" tIns="0" rIns="0" bIns="0" rtlCol="0" anchor="ctr"/>
          <a:lstStyle/>
          <a:p>
            <a:pPr marL="0" indent="0" algn="ctr">
              <a:buNone/>
            </a:pPr>
            <a:r>
              <a:rPr lang="en-US" sz="900" b="1" dirty="0">
                <a:solidFill>
                  <a:srgbClr val="FFFFFF"/>
                </a:solidFill>
              </a:rPr>
              <a:t>Informacja  #3B82F6</a:t>
            </a:r>
            <a:endParaRPr lang="en-US" sz="900" dirty="0"/>
          </a:p>
        </p:txBody>
      </p:sp>
      <p:sp>
        <p:nvSpPr>
          <p:cNvPr id="28" name="Shape 26"/>
          <p:cNvSpPr/>
          <p:nvPr/>
        </p:nvSpPr>
        <p:spPr>
          <a:xfrm>
            <a:off x="320040" y="3090672"/>
            <a:ext cx="5029200" cy="1234440"/>
          </a:xfrm>
          <a:prstGeom prst="rect">
            <a:avLst/>
          </a:prstGeom>
          <a:solidFill>
            <a:srgbClr val="0A1929"/>
          </a:solidFill>
          <a:ln w="12700">
            <a:solidFill>
              <a:srgbClr val="1A3A5C"/>
            </a:solidFill>
            <a:prstDash val="solid"/>
          </a:ln>
        </p:spPr>
      </p:sp>
      <p:sp>
        <p:nvSpPr>
          <p:cNvPr id="29" name="Text 27"/>
          <p:cNvSpPr/>
          <p:nvPr/>
        </p:nvSpPr>
        <p:spPr>
          <a:xfrm>
            <a:off x="429768" y="3182112"/>
            <a:ext cx="4828032" cy="1097280"/>
          </a:xfrm>
          <a:prstGeom prst="rect">
            <a:avLst/>
          </a:prstGeom>
          <a:noFill/>
          <a:ln/>
        </p:spPr>
        <p:txBody>
          <a:bodyPr wrap="square" lIns="0" tIns="0" rIns="0" bIns="0" rtlCol="0" anchor="t"/>
          <a:lstStyle/>
          <a:p>
            <a:pPr marL="0" indent="0">
              <a:buNone/>
            </a:pPr>
            <a:r>
              <a:rPr lang="en-US" sz="850" dirty="0">
                <a:solidFill>
                  <a:srgbClr val="00E676"/>
                </a:solidFill>
                <a:latin typeface="Consolas" pitchFamily="34" charset="0"/>
                <a:ea typeface="Consolas" pitchFamily="34" charset="-122"/>
                <a:cs typeface="Consolas" pitchFamily="34" charset="-120"/>
              </a:rPr>
              <a:t>// Design Tokens — Kotlin / Android (Compose)</a:t>
            </a:r>
            <a:endParaRPr lang="en-US" sz="850" dirty="0"/>
          </a:p>
          <a:p>
            <a:pPr marL="0" indent="0">
              <a:buNone/>
            </a:pPr>
            <a:r>
              <a:rPr lang="en-US" sz="850" dirty="0">
                <a:solidFill>
                  <a:srgbClr val="00E676"/>
                </a:solidFill>
                <a:latin typeface="Consolas" pitchFamily="34" charset="0"/>
                <a:ea typeface="Consolas" pitchFamily="34" charset="-122"/>
                <a:cs typeface="Consolas" pitchFamily="34" charset="-120"/>
              </a:rPr>
              <a:t>val ColorPrimary = Color(0xFF0071E3)</a:t>
            </a:r>
            <a:endParaRPr lang="en-US" sz="850" dirty="0"/>
          </a:p>
          <a:p>
            <a:pPr marL="0" indent="0">
              <a:buNone/>
            </a:pPr>
            <a:r>
              <a:rPr lang="en-US" sz="850" dirty="0">
                <a:solidFill>
                  <a:srgbClr val="00E676"/>
                </a:solidFill>
                <a:latin typeface="Consolas" pitchFamily="34" charset="0"/>
                <a:ea typeface="Consolas" pitchFamily="34" charset="-122"/>
                <a:cs typeface="Consolas" pitchFamily="34" charset="-120"/>
              </a:rPr>
              <a:t>val ColorTextPrimary = Color(0xFF1D1D1D)</a:t>
            </a:r>
            <a:endParaRPr lang="en-US" sz="850" dirty="0"/>
          </a:p>
          <a:p>
            <a:pPr marL="0" indent="0">
              <a:buNone/>
            </a:pPr>
            <a:r>
              <a:rPr lang="en-US" sz="850" dirty="0">
                <a:solidFill>
                  <a:srgbClr val="00E676"/>
                </a:solidFill>
                <a:latin typeface="Consolas" pitchFamily="34" charset="0"/>
                <a:ea typeface="Consolas" pitchFamily="34" charset="-122"/>
                <a:cs typeface="Consolas" pitchFamily="34" charset="-120"/>
              </a:rPr>
              <a:t>val ColorBackground = Color(0xFFFAFAFA)</a:t>
            </a:r>
            <a:endParaRPr lang="en-US" sz="850" dirty="0"/>
          </a:p>
          <a:p>
            <a:pPr marL="0" indent="0">
              <a:buNone/>
            </a:pPr>
            <a:r>
              <a:rPr lang="en-US" sz="850" dirty="0">
                <a:solidFill>
                  <a:srgbClr val="00E676"/>
                </a:solidFill>
                <a:latin typeface="Consolas" pitchFamily="34" charset="0"/>
                <a:ea typeface="Consolas" pitchFamily="34" charset="-122"/>
                <a:cs typeface="Consolas" pitchFamily="34" charset="-120"/>
              </a:rPr>
              <a:t>val SpacingMd = 16.dp</a:t>
            </a:r>
            <a:endParaRPr lang="en-US" sz="850" dirty="0"/>
          </a:p>
          <a:p>
            <a:pPr marL="0" indent="0">
              <a:buNone/>
            </a:pPr>
            <a:r>
              <a:rPr lang="en-US" sz="850" dirty="0">
                <a:solidFill>
                  <a:srgbClr val="00E676"/>
                </a:solidFill>
                <a:latin typeface="Consolas" pitchFamily="34" charset="0"/>
                <a:ea typeface="Consolas" pitchFamily="34" charset="-122"/>
                <a:cs typeface="Consolas" pitchFamily="34" charset="-120"/>
              </a:rPr>
              <a:t>val BorderRadius = 8.dp</a:t>
            </a:r>
            <a:endParaRPr lang="en-US" sz="850" dirty="0"/>
          </a:p>
        </p:txBody>
      </p:sp>
      <p:sp>
        <p:nvSpPr>
          <p:cNvPr id="30" name="Shape 28"/>
          <p:cNvSpPr/>
          <p:nvPr/>
        </p:nvSpPr>
        <p:spPr>
          <a:xfrm>
            <a:off x="5486400" y="3090672"/>
            <a:ext cx="3337560" cy="1234440"/>
          </a:xfrm>
          <a:prstGeom prst="rect">
            <a:avLst/>
          </a:prstGeom>
          <a:solidFill>
            <a:srgbClr val="112233"/>
          </a:solidFill>
          <a:ln w="12700">
            <a:solidFill>
              <a:srgbClr val="1A3050"/>
            </a:solidFill>
            <a:prstDash val="solid"/>
          </a:ln>
        </p:spPr>
      </p:sp>
      <p:sp>
        <p:nvSpPr>
          <p:cNvPr id="31" name="Shape 29"/>
          <p:cNvSpPr/>
          <p:nvPr/>
        </p:nvSpPr>
        <p:spPr>
          <a:xfrm>
            <a:off x="5486400" y="3090672"/>
            <a:ext cx="45720" cy="1234440"/>
          </a:xfrm>
          <a:prstGeom prst="rect">
            <a:avLst/>
          </a:prstGeom>
          <a:solidFill>
            <a:srgbClr val="FF9100"/>
          </a:solidFill>
          <a:ln w="12700">
            <a:solidFill>
              <a:srgbClr val="FF9100"/>
            </a:solidFill>
            <a:prstDash val="solid"/>
          </a:ln>
        </p:spPr>
      </p:sp>
      <p:sp>
        <p:nvSpPr>
          <p:cNvPr id="32" name="Text 30"/>
          <p:cNvSpPr/>
          <p:nvPr/>
        </p:nvSpPr>
        <p:spPr>
          <a:xfrm>
            <a:off x="5623560" y="3154680"/>
            <a:ext cx="3063240" cy="256032"/>
          </a:xfrm>
          <a:prstGeom prst="rect">
            <a:avLst/>
          </a:prstGeom>
          <a:noFill/>
          <a:ln/>
        </p:spPr>
        <p:txBody>
          <a:bodyPr wrap="square" lIns="0" tIns="0" rIns="0" bIns="0" rtlCol="0" anchor="ctr"/>
          <a:lstStyle/>
          <a:p>
            <a:pPr marL="0" indent="0">
              <a:buNone/>
            </a:pPr>
            <a:r>
              <a:rPr lang="en-US" sz="1000" b="1" dirty="0">
                <a:solidFill>
                  <a:srgbClr val="FFFFFF"/>
                </a:solidFill>
              </a:rPr>
              <a:t>Design Tokens</a:t>
            </a:r>
            <a:endParaRPr lang="en-US" sz="1000" dirty="0"/>
          </a:p>
        </p:txBody>
      </p:sp>
      <p:sp>
        <p:nvSpPr>
          <p:cNvPr id="33" name="Text 31"/>
          <p:cNvSpPr/>
          <p:nvPr/>
        </p:nvSpPr>
        <p:spPr>
          <a:xfrm>
            <a:off x="5623560" y="3474720"/>
            <a:ext cx="3063240" cy="192024"/>
          </a:xfrm>
          <a:prstGeom prst="rect">
            <a:avLst/>
          </a:prstGeom>
          <a:noFill/>
          <a:ln/>
        </p:spPr>
        <p:txBody>
          <a:bodyPr wrap="square" lIns="0" tIns="0" rIns="0" bIns="0" rtlCol="0" anchor="ctr"/>
          <a:lstStyle/>
          <a:p>
            <a:pPr marL="0" indent="0">
              <a:buNone/>
            </a:pPr>
            <a:r>
              <a:rPr lang="en-US" sz="850" dirty="0">
                <a:solidFill>
                  <a:srgbClr val="8899AA"/>
                </a:solidFill>
              </a:rPr>
              <a:t>• Jedno źródło prawdy dla wszystkich platform</a:t>
            </a:r>
            <a:endParaRPr lang="en-US" sz="850" dirty="0"/>
          </a:p>
        </p:txBody>
      </p:sp>
      <p:sp>
        <p:nvSpPr>
          <p:cNvPr id="34" name="Text 32"/>
          <p:cNvSpPr/>
          <p:nvPr/>
        </p:nvSpPr>
        <p:spPr>
          <a:xfrm>
            <a:off x="5623560" y="3685032"/>
            <a:ext cx="3063240" cy="192024"/>
          </a:xfrm>
          <a:prstGeom prst="rect">
            <a:avLst/>
          </a:prstGeom>
          <a:noFill/>
          <a:ln/>
        </p:spPr>
        <p:txBody>
          <a:bodyPr wrap="square" lIns="0" tIns="0" rIns="0" bIns="0" rtlCol="0" anchor="ctr"/>
          <a:lstStyle/>
          <a:p>
            <a:pPr marL="0" indent="0">
              <a:buNone/>
            </a:pPr>
            <a:r>
              <a:rPr lang="en-US" sz="850" dirty="0">
                <a:solidFill>
                  <a:srgbClr val="8899AA"/>
                </a:solidFill>
              </a:rPr>
              <a:t>• Łatwa aktualizacja — zmiana w jednym miejscu</a:t>
            </a:r>
            <a:endParaRPr lang="en-US" sz="850" dirty="0"/>
          </a:p>
        </p:txBody>
      </p:sp>
      <p:sp>
        <p:nvSpPr>
          <p:cNvPr id="35" name="Text 33"/>
          <p:cNvSpPr/>
          <p:nvPr/>
        </p:nvSpPr>
        <p:spPr>
          <a:xfrm>
            <a:off x="5623560" y="3895344"/>
            <a:ext cx="3063240" cy="192024"/>
          </a:xfrm>
          <a:prstGeom prst="rect">
            <a:avLst/>
          </a:prstGeom>
          <a:noFill/>
          <a:ln/>
        </p:spPr>
        <p:txBody>
          <a:bodyPr wrap="square" lIns="0" tIns="0" rIns="0" bIns="0" rtlCol="0" anchor="ctr"/>
          <a:lstStyle/>
          <a:p>
            <a:pPr marL="0" indent="0">
              <a:buNone/>
            </a:pPr>
            <a:r>
              <a:rPr lang="en-US" sz="850" dirty="0">
                <a:solidFill>
                  <a:srgbClr val="8899AA"/>
                </a:solidFill>
              </a:rPr>
              <a:t>• Automatyczna synchronizacja z kodem</a:t>
            </a:r>
            <a:endParaRPr lang="en-US" sz="850" dirty="0"/>
          </a:p>
        </p:txBody>
      </p:sp>
      <p:sp>
        <p:nvSpPr>
          <p:cNvPr id="36" name="Text 34"/>
          <p:cNvSpPr/>
          <p:nvPr/>
        </p:nvSpPr>
        <p:spPr>
          <a:xfrm>
            <a:off x="5623560" y="4105656"/>
            <a:ext cx="3063240" cy="192024"/>
          </a:xfrm>
          <a:prstGeom prst="rect">
            <a:avLst/>
          </a:prstGeom>
          <a:noFill/>
          <a:ln/>
        </p:spPr>
        <p:txBody>
          <a:bodyPr wrap="square" lIns="0" tIns="0" rIns="0" bIns="0" rtlCol="0" anchor="ctr"/>
          <a:lstStyle/>
          <a:p>
            <a:pPr marL="0" indent="0">
              <a:buNone/>
            </a:pPr>
            <a:r>
              <a:rPr lang="en-US" sz="850" dirty="0">
                <a:solidFill>
                  <a:srgbClr val="8899AA"/>
                </a:solidFill>
              </a:rPr>
              <a:t>• Spójność Design ↔ Development</a:t>
            </a:r>
            <a:endParaRPr lang="en-US" sz="850" dirty="0"/>
          </a:p>
        </p:txBody>
      </p:sp>
      <p:sp>
        <p:nvSpPr>
          <p:cNvPr id="37" name="Shape 35"/>
          <p:cNvSpPr/>
          <p:nvPr/>
        </p:nvSpPr>
        <p:spPr>
          <a:xfrm>
            <a:off x="320040" y="4407408"/>
            <a:ext cx="8503920" cy="411480"/>
          </a:xfrm>
          <a:prstGeom prst="rect">
            <a:avLst/>
          </a:prstGeom>
          <a:solidFill>
            <a:srgbClr val="0A1929"/>
          </a:solidFill>
          <a:ln w="12700">
            <a:solidFill>
              <a:srgbClr val="1A3050"/>
            </a:solidFill>
            <a:prstDash val="solid"/>
          </a:ln>
        </p:spPr>
      </p:sp>
      <p:sp>
        <p:nvSpPr>
          <p:cNvPr id="38" name="Text 36"/>
          <p:cNvSpPr/>
          <p:nvPr/>
        </p:nvSpPr>
        <p:spPr>
          <a:xfrm>
            <a:off x="457200" y="4434840"/>
            <a:ext cx="8229600" cy="347472"/>
          </a:xfrm>
          <a:prstGeom prst="rect">
            <a:avLst/>
          </a:prstGeom>
          <a:noFill/>
          <a:ln/>
        </p:spPr>
        <p:txBody>
          <a:bodyPr wrap="square" lIns="0" tIns="0" rIns="0" bIns="0" rtlCol="0" anchor="ctr"/>
          <a:lstStyle/>
          <a:p>
            <a:pPr marL="0" indent="0">
              <a:buNone/>
            </a:pPr>
            <a:r>
              <a:rPr lang="en-US" sz="900" dirty="0">
                <a:solidFill>
                  <a:srgbClr val="8899AA"/>
                </a:solidFill>
              </a:rPr>
              <a:t>Narzędzia: Figma Variables | Style Dictionary | Zeroheight | Storybook — automatyzacja procesu handoff do deweloperów</a:t>
            </a:r>
            <a:endParaRPr lang="en-US" sz="900" dirty="0"/>
          </a:p>
        </p:txBody>
      </p:sp>
      <p:sp>
        <p:nvSpPr>
          <p:cNvPr id="41" name="Text 39"/>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26 / </a:t>
            </a:r>
            <a:r>
              <a:rPr lang="pl-PL" sz="800" dirty="0" smtClean="0">
                <a:solidFill>
                  <a:srgbClr val="8899AA"/>
                </a:solidFill>
              </a:rPr>
              <a:t>46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B2A"/>
        </a:solidFill>
        <a:effectLst/>
      </p:bgPr>
    </p:bg>
    <p:spTree>
      <p:nvGrpSpPr>
        <p:cNvPr id="1" name=""/>
        <p:cNvGrpSpPr/>
        <p:nvPr/>
      </p:nvGrpSpPr>
      <p:grpSpPr>
        <a:xfrm>
          <a:off x="0" y="0"/>
          <a:ext cx="0" cy="0"/>
          <a:chOff x="0" y="0"/>
          <a:chExt cx="0" cy="0"/>
        </a:xfrm>
      </p:grpSpPr>
      <p:grpSp>
        <p:nvGrpSpPr>
          <p:cNvPr id="10" name="Grupa 9"/>
          <p:cNvGrpSpPr/>
          <p:nvPr/>
        </p:nvGrpSpPr>
        <p:grpSpPr>
          <a:xfrm>
            <a:off x="-2381" y="4884912"/>
            <a:ext cx="9146381" cy="260136"/>
            <a:chOff x="-2381" y="4884912"/>
            <a:chExt cx="9146381" cy="260136"/>
          </a:xfrm>
        </p:grpSpPr>
        <p:sp>
          <p:nvSpPr>
            <p:cNvPr id="11" name="Shape 52"/>
            <p:cNvSpPr/>
            <p:nvPr/>
          </p:nvSpPr>
          <p:spPr>
            <a:xfrm>
              <a:off x="0" y="4884912"/>
              <a:ext cx="9144000" cy="252000"/>
            </a:xfrm>
            <a:prstGeom prst="rect">
              <a:avLst/>
            </a:prstGeom>
            <a:solidFill>
              <a:srgbClr val="071523"/>
            </a:solidFill>
            <a:ln w="12700">
              <a:solidFill>
                <a:srgbClr val="071523"/>
              </a:solidFill>
              <a:prstDash val="solid"/>
            </a:ln>
          </p:spPr>
        </p:sp>
        <p:sp>
          <p:nvSpPr>
            <p:cNvPr id="12"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13" name="Grupa 12"/>
            <p:cNvGrpSpPr/>
            <p:nvPr/>
          </p:nvGrpSpPr>
          <p:grpSpPr>
            <a:xfrm>
              <a:off x="-2381" y="5099329"/>
              <a:ext cx="9146381" cy="45719"/>
              <a:chOff x="-2381" y="5107500"/>
              <a:chExt cx="9111093" cy="37548"/>
            </a:xfrm>
            <a:solidFill>
              <a:schemeClr val="tx1"/>
            </a:solidFill>
          </p:grpSpPr>
          <p:sp>
            <p:nvSpPr>
              <p:cNvPr id="14"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15"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16"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17"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18"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19"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20"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21"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22"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23"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24"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25"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26"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27"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28"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29"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30"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31"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32"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33"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34"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35"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36" name="Shape 52"/>
              <p:cNvSpPr/>
              <p:nvPr/>
            </p:nvSpPr>
            <p:spPr>
              <a:xfrm>
                <a:off x="4356712" y="5107500"/>
                <a:ext cx="198000" cy="36000"/>
              </a:xfrm>
              <a:prstGeom prst="rect">
                <a:avLst/>
              </a:prstGeom>
              <a:solidFill>
                <a:schemeClr val="accent5">
                  <a:lumMod val="20000"/>
                  <a:lumOff val="80000"/>
                </a:schemeClr>
              </a:solidFill>
              <a:ln w="12700">
                <a:noFill/>
                <a:prstDash val="solid"/>
              </a:ln>
            </p:spPr>
          </p:sp>
          <p:sp>
            <p:nvSpPr>
              <p:cNvPr id="37" name="Shape 52"/>
              <p:cNvSpPr/>
              <p:nvPr/>
            </p:nvSpPr>
            <p:spPr>
              <a:xfrm>
                <a:off x="4554712" y="5107500"/>
                <a:ext cx="198000" cy="36000"/>
              </a:xfrm>
              <a:prstGeom prst="rect">
                <a:avLst/>
              </a:prstGeom>
              <a:solidFill>
                <a:schemeClr val="accent5">
                  <a:lumMod val="20000"/>
                  <a:lumOff val="80000"/>
                </a:schemeClr>
              </a:solidFill>
              <a:ln w="12700">
                <a:noFill/>
                <a:prstDash val="solid"/>
              </a:ln>
            </p:spPr>
          </p:sp>
          <p:sp>
            <p:nvSpPr>
              <p:cNvPr id="38" name="Shape 52"/>
              <p:cNvSpPr/>
              <p:nvPr/>
            </p:nvSpPr>
            <p:spPr>
              <a:xfrm>
                <a:off x="4752712" y="5107500"/>
                <a:ext cx="198000" cy="36000"/>
              </a:xfrm>
              <a:prstGeom prst="rect">
                <a:avLst/>
              </a:prstGeom>
              <a:solidFill>
                <a:schemeClr val="accent5">
                  <a:lumMod val="20000"/>
                  <a:lumOff val="80000"/>
                </a:schemeClr>
              </a:solidFill>
              <a:ln w="12700">
                <a:noFill/>
                <a:prstDash val="solid"/>
              </a:ln>
            </p:spPr>
          </p:sp>
          <p:sp>
            <p:nvSpPr>
              <p:cNvPr id="39" name="Shape 52"/>
              <p:cNvSpPr/>
              <p:nvPr/>
            </p:nvSpPr>
            <p:spPr>
              <a:xfrm>
                <a:off x="4950712" y="5107500"/>
                <a:ext cx="198000" cy="36000"/>
              </a:xfrm>
              <a:prstGeom prst="rect">
                <a:avLst/>
              </a:prstGeom>
              <a:solidFill>
                <a:schemeClr val="accent5">
                  <a:lumMod val="20000"/>
                  <a:lumOff val="80000"/>
                </a:schemeClr>
              </a:solidFill>
              <a:ln w="12700">
                <a:noFill/>
                <a:prstDash val="solid"/>
              </a:ln>
            </p:spPr>
          </p:sp>
          <p:sp>
            <p:nvSpPr>
              <p:cNvPr id="40" name="Shape 52"/>
              <p:cNvSpPr/>
              <p:nvPr/>
            </p:nvSpPr>
            <p:spPr>
              <a:xfrm>
                <a:off x="5148712" y="5107500"/>
                <a:ext cx="198000" cy="36000"/>
              </a:xfrm>
              <a:prstGeom prst="rect">
                <a:avLst/>
              </a:prstGeom>
              <a:solidFill>
                <a:schemeClr val="accent5">
                  <a:lumMod val="20000"/>
                  <a:lumOff val="80000"/>
                </a:schemeClr>
              </a:solidFill>
              <a:ln w="12700">
                <a:noFill/>
                <a:prstDash val="solid"/>
              </a:ln>
            </p:spPr>
          </p:sp>
          <p:sp>
            <p:nvSpPr>
              <p:cNvPr id="41" name="Shape 52"/>
              <p:cNvSpPr/>
              <p:nvPr/>
            </p:nvSpPr>
            <p:spPr>
              <a:xfrm>
                <a:off x="5346712" y="5108400"/>
                <a:ext cx="198000" cy="36000"/>
              </a:xfrm>
              <a:prstGeom prst="rect">
                <a:avLst/>
              </a:prstGeom>
              <a:grpFill/>
              <a:ln w="12700">
                <a:noFill/>
                <a:prstDash val="solid"/>
              </a:ln>
            </p:spPr>
          </p:sp>
          <p:sp>
            <p:nvSpPr>
              <p:cNvPr id="42" name="Shape 52"/>
              <p:cNvSpPr/>
              <p:nvPr/>
            </p:nvSpPr>
            <p:spPr>
              <a:xfrm>
                <a:off x="5544712" y="5108400"/>
                <a:ext cx="198000" cy="36000"/>
              </a:xfrm>
              <a:prstGeom prst="rect">
                <a:avLst/>
              </a:prstGeom>
              <a:grpFill/>
              <a:ln w="12700">
                <a:noFill/>
                <a:prstDash val="solid"/>
              </a:ln>
            </p:spPr>
          </p:sp>
          <p:sp>
            <p:nvSpPr>
              <p:cNvPr id="43" name="Shape 52"/>
              <p:cNvSpPr/>
              <p:nvPr/>
            </p:nvSpPr>
            <p:spPr>
              <a:xfrm>
                <a:off x="5742712" y="5108400"/>
                <a:ext cx="198000" cy="36000"/>
              </a:xfrm>
              <a:prstGeom prst="rect">
                <a:avLst/>
              </a:prstGeom>
              <a:grpFill/>
              <a:ln w="12700">
                <a:noFill/>
                <a:prstDash val="solid"/>
              </a:ln>
            </p:spPr>
          </p:sp>
          <p:sp>
            <p:nvSpPr>
              <p:cNvPr id="44" name="Shape 52"/>
              <p:cNvSpPr/>
              <p:nvPr/>
            </p:nvSpPr>
            <p:spPr>
              <a:xfrm>
                <a:off x="5940712" y="5108400"/>
                <a:ext cx="198000" cy="36000"/>
              </a:xfrm>
              <a:prstGeom prst="rect">
                <a:avLst/>
              </a:prstGeom>
              <a:grpFill/>
              <a:ln w="12700">
                <a:noFill/>
                <a:prstDash val="solid"/>
              </a:ln>
            </p:spPr>
          </p:sp>
          <p:sp>
            <p:nvSpPr>
              <p:cNvPr id="45" name="Shape 52"/>
              <p:cNvSpPr/>
              <p:nvPr/>
            </p:nvSpPr>
            <p:spPr>
              <a:xfrm>
                <a:off x="6138712" y="5108400"/>
                <a:ext cx="198000" cy="36000"/>
              </a:xfrm>
              <a:prstGeom prst="rect">
                <a:avLst/>
              </a:prstGeom>
              <a:grpFill/>
              <a:ln w="12700">
                <a:noFill/>
                <a:prstDash val="solid"/>
              </a:ln>
            </p:spPr>
          </p:sp>
          <p:sp>
            <p:nvSpPr>
              <p:cNvPr id="46" name="Shape 52"/>
              <p:cNvSpPr/>
              <p:nvPr/>
            </p:nvSpPr>
            <p:spPr>
              <a:xfrm>
                <a:off x="6336712" y="5108400"/>
                <a:ext cx="198000" cy="36000"/>
              </a:xfrm>
              <a:prstGeom prst="rect">
                <a:avLst/>
              </a:prstGeom>
              <a:grpFill/>
              <a:ln w="12700">
                <a:noFill/>
                <a:prstDash val="solid"/>
              </a:ln>
            </p:spPr>
          </p:sp>
          <p:sp>
            <p:nvSpPr>
              <p:cNvPr id="47" name="Shape 52"/>
              <p:cNvSpPr/>
              <p:nvPr/>
            </p:nvSpPr>
            <p:spPr>
              <a:xfrm>
                <a:off x="6534712" y="5108400"/>
                <a:ext cx="198000" cy="36000"/>
              </a:xfrm>
              <a:prstGeom prst="rect">
                <a:avLst/>
              </a:prstGeom>
              <a:grpFill/>
              <a:ln w="12700">
                <a:noFill/>
                <a:prstDash val="solid"/>
              </a:ln>
            </p:spPr>
          </p:sp>
          <p:sp>
            <p:nvSpPr>
              <p:cNvPr id="48" name="Shape 52"/>
              <p:cNvSpPr/>
              <p:nvPr/>
            </p:nvSpPr>
            <p:spPr>
              <a:xfrm>
                <a:off x="6732712" y="5108400"/>
                <a:ext cx="198000" cy="36000"/>
              </a:xfrm>
              <a:prstGeom prst="rect">
                <a:avLst/>
              </a:prstGeom>
              <a:grpFill/>
              <a:ln w="12700">
                <a:noFill/>
                <a:prstDash val="solid"/>
              </a:ln>
            </p:spPr>
          </p:sp>
          <p:sp>
            <p:nvSpPr>
              <p:cNvPr id="49" name="Shape 52"/>
              <p:cNvSpPr/>
              <p:nvPr/>
            </p:nvSpPr>
            <p:spPr>
              <a:xfrm>
                <a:off x="6930712" y="5108400"/>
                <a:ext cx="198000" cy="36000"/>
              </a:xfrm>
              <a:prstGeom prst="rect">
                <a:avLst/>
              </a:prstGeom>
              <a:grpFill/>
              <a:ln w="12700">
                <a:noFill/>
                <a:prstDash val="solid"/>
              </a:ln>
            </p:spPr>
          </p:sp>
          <p:sp>
            <p:nvSpPr>
              <p:cNvPr id="50" name="Shape 52"/>
              <p:cNvSpPr/>
              <p:nvPr/>
            </p:nvSpPr>
            <p:spPr>
              <a:xfrm>
                <a:off x="7128712" y="5108400"/>
                <a:ext cx="198000" cy="36000"/>
              </a:xfrm>
              <a:prstGeom prst="rect">
                <a:avLst/>
              </a:prstGeom>
              <a:grpFill/>
              <a:ln w="12700">
                <a:noFill/>
                <a:prstDash val="solid"/>
              </a:ln>
            </p:spPr>
          </p:sp>
          <p:sp>
            <p:nvSpPr>
              <p:cNvPr id="51" name="Shape 52"/>
              <p:cNvSpPr/>
              <p:nvPr/>
            </p:nvSpPr>
            <p:spPr>
              <a:xfrm>
                <a:off x="7326712" y="5108400"/>
                <a:ext cx="198000" cy="36000"/>
              </a:xfrm>
              <a:prstGeom prst="rect">
                <a:avLst/>
              </a:prstGeom>
              <a:grpFill/>
              <a:ln w="12700">
                <a:noFill/>
                <a:prstDash val="solid"/>
              </a:ln>
            </p:spPr>
          </p:sp>
          <p:sp>
            <p:nvSpPr>
              <p:cNvPr id="52" name="Shape 52"/>
              <p:cNvSpPr/>
              <p:nvPr/>
            </p:nvSpPr>
            <p:spPr>
              <a:xfrm>
                <a:off x="7524712" y="5108400"/>
                <a:ext cx="198000" cy="36000"/>
              </a:xfrm>
              <a:prstGeom prst="rect">
                <a:avLst/>
              </a:prstGeom>
              <a:grpFill/>
              <a:ln w="12700">
                <a:noFill/>
                <a:prstDash val="solid"/>
              </a:ln>
            </p:spPr>
          </p:sp>
          <p:sp>
            <p:nvSpPr>
              <p:cNvPr id="53" name="Shape 52"/>
              <p:cNvSpPr/>
              <p:nvPr/>
            </p:nvSpPr>
            <p:spPr>
              <a:xfrm>
                <a:off x="7722712" y="5108400"/>
                <a:ext cx="198000" cy="36000"/>
              </a:xfrm>
              <a:prstGeom prst="rect">
                <a:avLst/>
              </a:prstGeom>
              <a:grpFill/>
              <a:ln w="12700">
                <a:noFill/>
                <a:prstDash val="solid"/>
              </a:ln>
            </p:spPr>
          </p:sp>
          <p:sp>
            <p:nvSpPr>
              <p:cNvPr id="54" name="Shape 52"/>
              <p:cNvSpPr/>
              <p:nvPr/>
            </p:nvSpPr>
            <p:spPr>
              <a:xfrm>
                <a:off x="7920712" y="5109048"/>
                <a:ext cx="198000" cy="36000"/>
              </a:xfrm>
              <a:prstGeom prst="rect">
                <a:avLst/>
              </a:prstGeom>
              <a:grpFill/>
              <a:ln w="12700">
                <a:noFill/>
                <a:prstDash val="solid"/>
              </a:ln>
            </p:spPr>
          </p:sp>
          <p:sp>
            <p:nvSpPr>
              <p:cNvPr id="55" name="Shape 52"/>
              <p:cNvSpPr/>
              <p:nvPr/>
            </p:nvSpPr>
            <p:spPr>
              <a:xfrm>
                <a:off x="8118712" y="5109048"/>
                <a:ext cx="198000" cy="36000"/>
              </a:xfrm>
              <a:prstGeom prst="rect">
                <a:avLst/>
              </a:prstGeom>
              <a:grpFill/>
              <a:ln w="12700">
                <a:noFill/>
                <a:prstDash val="solid"/>
              </a:ln>
            </p:spPr>
          </p:sp>
          <p:sp>
            <p:nvSpPr>
              <p:cNvPr id="56" name="Shape 52"/>
              <p:cNvSpPr/>
              <p:nvPr/>
            </p:nvSpPr>
            <p:spPr>
              <a:xfrm>
                <a:off x="8316712" y="5109048"/>
                <a:ext cx="198000" cy="36000"/>
              </a:xfrm>
              <a:prstGeom prst="rect">
                <a:avLst/>
              </a:prstGeom>
              <a:grpFill/>
              <a:ln w="12700">
                <a:noFill/>
                <a:prstDash val="solid"/>
              </a:ln>
            </p:spPr>
          </p:sp>
          <p:sp>
            <p:nvSpPr>
              <p:cNvPr id="57" name="Shape 52"/>
              <p:cNvSpPr/>
              <p:nvPr/>
            </p:nvSpPr>
            <p:spPr>
              <a:xfrm>
                <a:off x="8514712" y="5109048"/>
                <a:ext cx="198000" cy="36000"/>
              </a:xfrm>
              <a:prstGeom prst="rect">
                <a:avLst/>
              </a:prstGeom>
              <a:grpFill/>
              <a:ln w="12700">
                <a:noFill/>
                <a:prstDash val="solid"/>
              </a:ln>
            </p:spPr>
          </p:sp>
          <p:sp>
            <p:nvSpPr>
              <p:cNvPr id="58" name="Shape 52"/>
              <p:cNvSpPr/>
              <p:nvPr/>
            </p:nvSpPr>
            <p:spPr>
              <a:xfrm>
                <a:off x="8712712" y="5109048"/>
                <a:ext cx="198000" cy="36000"/>
              </a:xfrm>
              <a:prstGeom prst="rect">
                <a:avLst/>
              </a:prstGeom>
              <a:grpFill/>
              <a:ln w="12700">
                <a:noFill/>
                <a:prstDash val="solid"/>
              </a:ln>
            </p:spPr>
          </p:sp>
          <p:sp>
            <p:nvSpPr>
              <p:cNvPr id="59"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0" y="1645920"/>
            <a:ext cx="9144000" cy="1828800"/>
          </a:xfrm>
          <a:prstGeom prst="rect">
            <a:avLst/>
          </a:prstGeom>
          <a:solidFill>
            <a:srgbClr val="112233"/>
          </a:solidFill>
          <a:ln w="12700">
            <a:solidFill>
              <a:srgbClr val="112233"/>
            </a:solidFill>
            <a:prstDash val="solid"/>
          </a:ln>
        </p:spPr>
      </p:sp>
      <p:sp>
        <p:nvSpPr>
          <p:cNvPr id="3" name="Shape 1"/>
          <p:cNvSpPr/>
          <p:nvPr/>
        </p:nvSpPr>
        <p:spPr>
          <a:xfrm>
            <a:off x="0" y="1645920"/>
            <a:ext cx="109728" cy="1828800"/>
          </a:xfrm>
          <a:prstGeom prst="rect">
            <a:avLst/>
          </a:prstGeom>
          <a:solidFill>
            <a:srgbClr val="FFD600"/>
          </a:solidFill>
          <a:ln w="12700">
            <a:solidFill>
              <a:srgbClr val="FFD600"/>
            </a:solidFill>
            <a:prstDash val="solid"/>
          </a:ln>
        </p:spPr>
      </p:sp>
      <p:sp>
        <p:nvSpPr>
          <p:cNvPr id="4" name="Text 2"/>
          <p:cNvSpPr/>
          <p:nvPr/>
        </p:nvSpPr>
        <p:spPr>
          <a:xfrm>
            <a:off x="914400" y="548640"/>
            <a:ext cx="7315200" cy="822960"/>
          </a:xfrm>
          <a:prstGeom prst="rect">
            <a:avLst/>
          </a:prstGeom>
          <a:noFill/>
          <a:ln/>
        </p:spPr>
        <p:txBody>
          <a:bodyPr wrap="square" lIns="0" tIns="0" rIns="0" bIns="0" rtlCol="0" anchor="ctr"/>
          <a:lstStyle/>
          <a:p>
            <a:pPr marL="0" indent="0" algn="l">
              <a:buNone/>
            </a:pPr>
            <a:r>
              <a:rPr lang="en-US" sz="5200" b="1" dirty="0">
                <a:solidFill>
                  <a:srgbClr val="FFD600"/>
                </a:solidFill>
              </a:rPr>
              <a:t>06</a:t>
            </a:r>
            <a:endParaRPr lang="en-US" sz="5200" dirty="0"/>
          </a:p>
        </p:txBody>
      </p:sp>
      <p:sp>
        <p:nvSpPr>
          <p:cNvPr id="5" name="Text 3"/>
          <p:cNvSpPr/>
          <p:nvPr/>
        </p:nvSpPr>
        <p:spPr>
          <a:xfrm>
            <a:off x="457200" y="1737360"/>
            <a:ext cx="8229600" cy="822960"/>
          </a:xfrm>
          <a:prstGeom prst="rect">
            <a:avLst/>
          </a:prstGeom>
          <a:noFill/>
          <a:ln/>
        </p:spPr>
        <p:txBody>
          <a:bodyPr wrap="square" lIns="0" tIns="0" rIns="0" bIns="0" rtlCol="0" anchor="ctr"/>
          <a:lstStyle/>
          <a:p>
            <a:pPr marL="0" indent="0">
              <a:buNone/>
            </a:pPr>
            <a:r>
              <a:rPr lang="en-US" sz="2800" b="1" dirty="0">
                <a:solidFill>
                  <a:srgbClr val="FFFFFF"/>
                </a:solidFill>
              </a:rPr>
              <a:t>Typografia w Projektowaniu Mobilnym</a:t>
            </a:r>
            <a:endParaRPr lang="en-US" sz="2800" dirty="0"/>
          </a:p>
        </p:txBody>
      </p:sp>
      <p:sp>
        <p:nvSpPr>
          <p:cNvPr id="6" name="Text 4"/>
          <p:cNvSpPr/>
          <p:nvPr/>
        </p:nvSpPr>
        <p:spPr>
          <a:xfrm>
            <a:off x="457200" y="2606040"/>
            <a:ext cx="8229600" cy="548640"/>
          </a:xfrm>
          <a:prstGeom prst="rect">
            <a:avLst/>
          </a:prstGeom>
          <a:noFill/>
          <a:ln/>
        </p:spPr>
        <p:txBody>
          <a:bodyPr wrap="square" lIns="0" tIns="0" rIns="0" bIns="0" rtlCol="0" anchor="t"/>
          <a:lstStyle/>
          <a:p>
            <a:pPr marL="0" indent="0">
              <a:buNone/>
            </a:pPr>
            <a:r>
              <a:rPr lang="en-US" sz="1400" dirty="0">
                <a:solidFill>
                  <a:srgbClr val="8899AA"/>
                </a:solidFill>
              </a:rPr>
              <a:t>Zasady doboru i stosowania czcionek w aplikacjach mobilnych</a:t>
            </a:r>
            <a:endParaRPr lang="en-US" sz="1400" dirty="0"/>
          </a:p>
        </p:txBody>
      </p:sp>
      <p:sp>
        <p:nvSpPr>
          <p:cNvPr id="9" name="Text 7"/>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27 / </a:t>
            </a:r>
            <a:r>
              <a:rPr lang="pl-PL" sz="800" dirty="0" smtClean="0">
                <a:solidFill>
                  <a:srgbClr val="8899AA"/>
                </a:solidFill>
              </a:rPr>
              <a:t>46</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B2A"/>
        </a:solidFill>
        <a:effectLst/>
      </p:bgPr>
    </p:bg>
    <p:spTree>
      <p:nvGrpSpPr>
        <p:cNvPr id="1" name=""/>
        <p:cNvGrpSpPr/>
        <p:nvPr/>
      </p:nvGrpSpPr>
      <p:grpSpPr>
        <a:xfrm>
          <a:off x="0" y="0"/>
          <a:ext cx="0" cy="0"/>
          <a:chOff x="0" y="0"/>
          <a:chExt cx="0" cy="0"/>
        </a:xfrm>
      </p:grpSpPr>
      <p:grpSp>
        <p:nvGrpSpPr>
          <p:cNvPr id="39" name="Grupa 38"/>
          <p:cNvGrpSpPr/>
          <p:nvPr/>
        </p:nvGrpSpPr>
        <p:grpSpPr>
          <a:xfrm>
            <a:off x="-2381" y="4884912"/>
            <a:ext cx="9146381" cy="260136"/>
            <a:chOff x="-2381" y="4884912"/>
            <a:chExt cx="9146381" cy="260136"/>
          </a:xfrm>
        </p:grpSpPr>
        <p:sp>
          <p:nvSpPr>
            <p:cNvPr id="40" name="Shape 52"/>
            <p:cNvSpPr/>
            <p:nvPr/>
          </p:nvSpPr>
          <p:spPr>
            <a:xfrm>
              <a:off x="0" y="4884912"/>
              <a:ext cx="9144000" cy="252000"/>
            </a:xfrm>
            <a:prstGeom prst="rect">
              <a:avLst/>
            </a:prstGeom>
            <a:solidFill>
              <a:srgbClr val="071523"/>
            </a:solidFill>
            <a:ln w="12700">
              <a:solidFill>
                <a:srgbClr val="071523"/>
              </a:solidFill>
              <a:prstDash val="solid"/>
            </a:ln>
          </p:spPr>
        </p:sp>
        <p:sp>
          <p:nvSpPr>
            <p:cNvPr id="41"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42" name="Grupa 41"/>
            <p:cNvGrpSpPr/>
            <p:nvPr/>
          </p:nvGrpSpPr>
          <p:grpSpPr>
            <a:xfrm>
              <a:off x="-2381" y="5099329"/>
              <a:ext cx="9146381" cy="45719"/>
              <a:chOff x="-2381" y="5107500"/>
              <a:chExt cx="9111093" cy="37548"/>
            </a:xfrm>
            <a:solidFill>
              <a:schemeClr val="tx1"/>
            </a:solidFill>
          </p:grpSpPr>
          <p:sp>
            <p:nvSpPr>
              <p:cNvPr id="43"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44"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45"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46"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47"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48"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49"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50"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62"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63"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64"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65" name="Shape 52"/>
              <p:cNvSpPr/>
              <p:nvPr/>
            </p:nvSpPr>
            <p:spPr>
              <a:xfrm>
                <a:off x="4356712" y="5107500"/>
                <a:ext cx="198000" cy="36000"/>
              </a:xfrm>
              <a:prstGeom prst="rect">
                <a:avLst/>
              </a:prstGeom>
              <a:solidFill>
                <a:schemeClr val="accent5">
                  <a:lumMod val="20000"/>
                  <a:lumOff val="80000"/>
                </a:schemeClr>
              </a:solidFill>
              <a:ln w="12700">
                <a:noFill/>
                <a:prstDash val="solid"/>
              </a:ln>
            </p:spPr>
          </p:sp>
          <p:sp>
            <p:nvSpPr>
              <p:cNvPr id="66" name="Shape 52"/>
              <p:cNvSpPr/>
              <p:nvPr/>
            </p:nvSpPr>
            <p:spPr>
              <a:xfrm>
                <a:off x="4554712" y="5107500"/>
                <a:ext cx="198000" cy="36000"/>
              </a:xfrm>
              <a:prstGeom prst="rect">
                <a:avLst/>
              </a:prstGeom>
              <a:solidFill>
                <a:schemeClr val="accent5">
                  <a:lumMod val="20000"/>
                  <a:lumOff val="80000"/>
                </a:schemeClr>
              </a:solidFill>
              <a:ln w="12700">
                <a:noFill/>
                <a:prstDash val="solid"/>
              </a:ln>
            </p:spPr>
          </p:sp>
          <p:sp>
            <p:nvSpPr>
              <p:cNvPr id="67" name="Shape 52"/>
              <p:cNvSpPr/>
              <p:nvPr/>
            </p:nvSpPr>
            <p:spPr>
              <a:xfrm>
                <a:off x="4752712" y="5107500"/>
                <a:ext cx="198000" cy="36000"/>
              </a:xfrm>
              <a:prstGeom prst="rect">
                <a:avLst/>
              </a:prstGeom>
              <a:solidFill>
                <a:schemeClr val="accent5">
                  <a:lumMod val="20000"/>
                  <a:lumOff val="80000"/>
                </a:schemeClr>
              </a:solidFill>
              <a:ln w="12700">
                <a:noFill/>
                <a:prstDash val="solid"/>
              </a:ln>
            </p:spPr>
          </p:sp>
          <p:sp>
            <p:nvSpPr>
              <p:cNvPr id="68" name="Shape 52"/>
              <p:cNvSpPr/>
              <p:nvPr/>
            </p:nvSpPr>
            <p:spPr>
              <a:xfrm>
                <a:off x="4950712" y="5107500"/>
                <a:ext cx="198000" cy="36000"/>
              </a:xfrm>
              <a:prstGeom prst="rect">
                <a:avLst/>
              </a:prstGeom>
              <a:solidFill>
                <a:schemeClr val="accent5">
                  <a:lumMod val="20000"/>
                  <a:lumOff val="80000"/>
                </a:schemeClr>
              </a:solidFill>
              <a:ln w="12700">
                <a:noFill/>
                <a:prstDash val="solid"/>
              </a:ln>
            </p:spPr>
          </p:sp>
          <p:sp>
            <p:nvSpPr>
              <p:cNvPr id="69" name="Shape 52"/>
              <p:cNvSpPr/>
              <p:nvPr/>
            </p:nvSpPr>
            <p:spPr>
              <a:xfrm>
                <a:off x="5148712" y="5107500"/>
                <a:ext cx="198000" cy="36000"/>
              </a:xfrm>
              <a:prstGeom prst="rect">
                <a:avLst/>
              </a:prstGeom>
              <a:solidFill>
                <a:schemeClr val="accent5">
                  <a:lumMod val="20000"/>
                  <a:lumOff val="80000"/>
                </a:schemeClr>
              </a:solidFill>
              <a:ln w="12700">
                <a:noFill/>
                <a:prstDash val="solid"/>
              </a:ln>
            </p:spPr>
          </p:sp>
          <p:sp>
            <p:nvSpPr>
              <p:cNvPr id="70" name="Shape 52"/>
              <p:cNvSpPr/>
              <p:nvPr/>
            </p:nvSpPr>
            <p:spPr>
              <a:xfrm>
                <a:off x="5346712" y="5108400"/>
                <a:ext cx="198000" cy="36000"/>
              </a:xfrm>
              <a:prstGeom prst="rect">
                <a:avLst/>
              </a:prstGeom>
              <a:solidFill>
                <a:schemeClr val="accent5">
                  <a:lumMod val="20000"/>
                  <a:lumOff val="80000"/>
                </a:schemeClr>
              </a:solidFill>
              <a:ln w="12700">
                <a:noFill/>
                <a:prstDash val="solid"/>
              </a:ln>
            </p:spPr>
          </p:sp>
          <p:sp>
            <p:nvSpPr>
              <p:cNvPr id="71" name="Shape 52"/>
              <p:cNvSpPr/>
              <p:nvPr/>
            </p:nvSpPr>
            <p:spPr>
              <a:xfrm>
                <a:off x="5544712" y="5108400"/>
                <a:ext cx="198000" cy="36000"/>
              </a:xfrm>
              <a:prstGeom prst="rect">
                <a:avLst/>
              </a:prstGeom>
              <a:grpFill/>
              <a:ln w="12700">
                <a:noFill/>
                <a:prstDash val="solid"/>
              </a:ln>
            </p:spPr>
          </p:sp>
          <p:sp>
            <p:nvSpPr>
              <p:cNvPr id="72" name="Shape 52"/>
              <p:cNvSpPr/>
              <p:nvPr/>
            </p:nvSpPr>
            <p:spPr>
              <a:xfrm>
                <a:off x="5742712" y="5108400"/>
                <a:ext cx="198000" cy="36000"/>
              </a:xfrm>
              <a:prstGeom prst="rect">
                <a:avLst/>
              </a:prstGeom>
              <a:grpFill/>
              <a:ln w="12700">
                <a:noFill/>
                <a:prstDash val="solid"/>
              </a:ln>
            </p:spPr>
          </p:sp>
          <p:sp>
            <p:nvSpPr>
              <p:cNvPr id="73" name="Shape 52"/>
              <p:cNvSpPr/>
              <p:nvPr/>
            </p:nvSpPr>
            <p:spPr>
              <a:xfrm>
                <a:off x="5940712" y="5108400"/>
                <a:ext cx="198000" cy="36000"/>
              </a:xfrm>
              <a:prstGeom prst="rect">
                <a:avLst/>
              </a:prstGeom>
              <a:grpFill/>
              <a:ln w="12700">
                <a:noFill/>
                <a:prstDash val="solid"/>
              </a:ln>
            </p:spPr>
          </p:sp>
          <p:sp>
            <p:nvSpPr>
              <p:cNvPr id="74" name="Shape 52"/>
              <p:cNvSpPr/>
              <p:nvPr/>
            </p:nvSpPr>
            <p:spPr>
              <a:xfrm>
                <a:off x="6138712" y="5108400"/>
                <a:ext cx="198000" cy="36000"/>
              </a:xfrm>
              <a:prstGeom prst="rect">
                <a:avLst/>
              </a:prstGeom>
              <a:grpFill/>
              <a:ln w="12700">
                <a:noFill/>
                <a:prstDash val="solid"/>
              </a:ln>
            </p:spPr>
          </p:sp>
          <p:sp>
            <p:nvSpPr>
              <p:cNvPr id="75" name="Shape 52"/>
              <p:cNvSpPr/>
              <p:nvPr/>
            </p:nvSpPr>
            <p:spPr>
              <a:xfrm>
                <a:off x="6336712" y="5108400"/>
                <a:ext cx="198000" cy="36000"/>
              </a:xfrm>
              <a:prstGeom prst="rect">
                <a:avLst/>
              </a:prstGeom>
              <a:grpFill/>
              <a:ln w="12700">
                <a:noFill/>
                <a:prstDash val="solid"/>
              </a:ln>
            </p:spPr>
          </p:sp>
          <p:sp>
            <p:nvSpPr>
              <p:cNvPr id="76" name="Shape 52"/>
              <p:cNvSpPr/>
              <p:nvPr/>
            </p:nvSpPr>
            <p:spPr>
              <a:xfrm>
                <a:off x="6534712" y="5108400"/>
                <a:ext cx="198000" cy="36000"/>
              </a:xfrm>
              <a:prstGeom prst="rect">
                <a:avLst/>
              </a:prstGeom>
              <a:grpFill/>
              <a:ln w="12700">
                <a:noFill/>
                <a:prstDash val="solid"/>
              </a:ln>
            </p:spPr>
          </p:sp>
          <p:sp>
            <p:nvSpPr>
              <p:cNvPr id="77" name="Shape 52"/>
              <p:cNvSpPr/>
              <p:nvPr/>
            </p:nvSpPr>
            <p:spPr>
              <a:xfrm>
                <a:off x="6732712" y="5108400"/>
                <a:ext cx="198000" cy="36000"/>
              </a:xfrm>
              <a:prstGeom prst="rect">
                <a:avLst/>
              </a:prstGeom>
              <a:grpFill/>
              <a:ln w="12700">
                <a:noFill/>
                <a:prstDash val="solid"/>
              </a:ln>
            </p:spPr>
          </p:sp>
          <p:sp>
            <p:nvSpPr>
              <p:cNvPr id="78" name="Shape 52"/>
              <p:cNvSpPr/>
              <p:nvPr/>
            </p:nvSpPr>
            <p:spPr>
              <a:xfrm>
                <a:off x="6930712" y="5108400"/>
                <a:ext cx="198000" cy="36000"/>
              </a:xfrm>
              <a:prstGeom prst="rect">
                <a:avLst/>
              </a:prstGeom>
              <a:grpFill/>
              <a:ln w="12700">
                <a:noFill/>
                <a:prstDash val="solid"/>
              </a:ln>
            </p:spPr>
          </p:sp>
          <p:sp>
            <p:nvSpPr>
              <p:cNvPr id="79" name="Shape 52"/>
              <p:cNvSpPr/>
              <p:nvPr/>
            </p:nvSpPr>
            <p:spPr>
              <a:xfrm>
                <a:off x="7128712" y="5108400"/>
                <a:ext cx="198000" cy="36000"/>
              </a:xfrm>
              <a:prstGeom prst="rect">
                <a:avLst/>
              </a:prstGeom>
              <a:grpFill/>
              <a:ln w="12700">
                <a:noFill/>
                <a:prstDash val="solid"/>
              </a:ln>
            </p:spPr>
          </p:sp>
          <p:sp>
            <p:nvSpPr>
              <p:cNvPr id="80" name="Shape 52"/>
              <p:cNvSpPr/>
              <p:nvPr/>
            </p:nvSpPr>
            <p:spPr>
              <a:xfrm>
                <a:off x="7326712" y="5108400"/>
                <a:ext cx="198000" cy="36000"/>
              </a:xfrm>
              <a:prstGeom prst="rect">
                <a:avLst/>
              </a:prstGeom>
              <a:grpFill/>
              <a:ln w="12700">
                <a:noFill/>
                <a:prstDash val="solid"/>
              </a:ln>
            </p:spPr>
          </p:sp>
          <p:sp>
            <p:nvSpPr>
              <p:cNvPr id="81" name="Shape 52"/>
              <p:cNvSpPr/>
              <p:nvPr/>
            </p:nvSpPr>
            <p:spPr>
              <a:xfrm>
                <a:off x="7524712" y="5108400"/>
                <a:ext cx="198000" cy="36000"/>
              </a:xfrm>
              <a:prstGeom prst="rect">
                <a:avLst/>
              </a:prstGeom>
              <a:grpFill/>
              <a:ln w="12700">
                <a:noFill/>
                <a:prstDash val="solid"/>
              </a:ln>
            </p:spPr>
          </p:sp>
          <p:sp>
            <p:nvSpPr>
              <p:cNvPr id="82" name="Shape 52"/>
              <p:cNvSpPr/>
              <p:nvPr/>
            </p:nvSpPr>
            <p:spPr>
              <a:xfrm>
                <a:off x="7722712" y="5108400"/>
                <a:ext cx="198000" cy="36000"/>
              </a:xfrm>
              <a:prstGeom prst="rect">
                <a:avLst/>
              </a:prstGeom>
              <a:grpFill/>
              <a:ln w="12700">
                <a:noFill/>
                <a:prstDash val="solid"/>
              </a:ln>
            </p:spPr>
          </p:sp>
          <p:sp>
            <p:nvSpPr>
              <p:cNvPr id="83" name="Shape 52"/>
              <p:cNvSpPr/>
              <p:nvPr/>
            </p:nvSpPr>
            <p:spPr>
              <a:xfrm>
                <a:off x="7920712" y="5109048"/>
                <a:ext cx="198000" cy="36000"/>
              </a:xfrm>
              <a:prstGeom prst="rect">
                <a:avLst/>
              </a:prstGeom>
              <a:grpFill/>
              <a:ln w="12700">
                <a:noFill/>
                <a:prstDash val="solid"/>
              </a:ln>
            </p:spPr>
          </p:sp>
          <p:sp>
            <p:nvSpPr>
              <p:cNvPr id="84" name="Shape 52"/>
              <p:cNvSpPr/>
              <p:nvPr/>
            </p:nvSpPr>
            <p:spPr>
              <a:xfrm>
                <a:off x="8118712" y="5109048"/>
                <a:ext cx="198000" cy="36000"/>
              </a:xfrm>
              <a:prstGeom prst="rect">
                <a:avLst/>
              </a:prstGeom>
              <a:grpFill/>
              <a:ln w="12700">
                <a:noFill/>
                <a:prstDash val="solid"/>
              </a:ln>
            </p:spPr>
          </p:sp>
          <p:sp>
            <p:nvSpPr>
              <p:cNvPr id="85" name="Shape 52"/>
              <p:cNvSpPr/>
              <p:nvPr/>
            </p:nvSpPr>
            <p:spPr>
              <a:xfrm>
                <a:off x="8316712" y="5109048"/>
                <a:ext cx="198000" cy="36000"/>
              </a:xfrm>
              <a:prstGeom prst="rect">
                <a:avLst/>
              </a:prstGeom>
              <a:grpFill/>
              <a:ln w="12700">
                <a:noFill/>
                <a:prstDash val="solid"/>
              </a:ln>
            </p:spPr>
          </p:sp>
          <p:sp>
            <p:nvSpPr>
              <p:cNvPr id="86" name="Shape 52"/>
              <p:cNvSpPr/>
              <p:nvPr/>
            </p:nvSpPr>
            <p:spPr>
              <a:xfrm>
                <a:off x="8514712" y="5109048"/>
                <a:ext cx="198000" cy="36000"/>
              </a:xfrm>
              <a:prstGeom prst="rect">
                <a:avLst/>
              </a:prstGeom>
              <a:grpFill/>
              <a:ln w="12700">
                <a:noFill/>
                <a:prstDash val="solid"/>
              </a:ln>
            </p:spPr>
          </p:sp>
          <p:sp>
            <p:nvSpPr>
              <p:cNvPr id="87" name="Shape 52"/>
              <p:cNvSpPr/>
              <p:nvPr/>
            </p:nvSpPr>
            <p:spPr>
              <a:xfrm>
                <a:off x="8712712" y="5109048"/>
                <a:ext cx="198000" cy="36000"/>
              </a:xfrm>
              <a:prstGeom prst="rect">
                <a:avLst/>
              </a:prstGeom>
              <a:grpFill/>
              <a:ln w="12700">
                <a:noFill/>
                <a:prstDash val="solid"/>
              </a:ln>
            </p:spPr>
          </p:sp>
          <p:sp>
            <p:nvSpPr>
              <p:cNvPr id="88"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FFD600"/>
          </a:solidFill>
          <a:ln w="12700">
            <a:solidFill>
              <a:srgbClr val="FFD600"/>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Fundamenty Typografii Mobilnej</a:t>
            </a:r>
            <a:endParaRPr lang="en-US" sz="2200" dirty="0"/>
          </a:p>
        </p:txBody>
      </p:sp>
      <p:sp>
        <p:nvSpPr>
          <p:cNvPr id="4" name="Shape 2"/>
          <p:cNvSpPr/>
          <p:nvPr/>
        </p:nvSpPr>
        <p:spPr>
          <a:xfrm>
            <a:off x="320040" y="914400"/>
            <a:ext cx="2743200" cy="187452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5" name="Shape 3"/>
          <p:cNvSpPr/>
          <p:nvPr/>
        </p:nvSpPr>
        <p:spPr>
          <a:xfrm>
            <a:off x="320040" y="914400"/>
            <a:ext cx="45720" cy="1874520"/>
          </a:xfrm>
          <a:prstGeom prst="rect">
            <a:avLst/>
          </a:prstGeom>
          <a:solidFill>
            <a:srgbClr val="FFD600"/>
          </a:solidFill>
          <a:ln w="12700">
            <a:solidFill>
              <a:srgbClr val="FFD600"/>
            </a:solidFill>
            <a:prstDash val="solid"/>
          </a:ln>
        </p:spPr>
      </p:sp>
      <p:sp>
        <p:nvSpPr>
          <p:cNvPr id="6" name="Text 4"/>
          <p:cNvSpPr/>
          <p:nvPr/>
        </p:nvSpPr>
        <p:spPr>
          <a:xfrm>
            <a:off x="429768" y="978408"/>
            <a:ext cx="2587752" cy="256032"/>
          </a:xfrm>
          <a:prstGeom prst="rect">
            <a:avLst/>
          </a:prstGeom>
          <a:noFill/>
          <a:ln/>
        </p:spPr>
        <p:txBody>
          <a:bodyPr wrap="square" lIns="0" tIns="0" rIns="0" bIns="0" rtlCol="0" anchor="t"/>
          <a:lstStyle/>
          <a:p>
            <a:pPr marL="0" indent="0">
              <a:buNone/>
            </a:pPr>
            <a:r>
              <a:rPr lang="en-US" sz="1000" b="1" dirty="0">
                <a:solidFill>
                  <a:srgbClr val="FFD600"/>
                </a:solidFill>
              </a:rPr>
              <a:t>Readability (Czytelność)</a:t>
            </a:r>
            <a:endParaRPr lang="en-US" sz="1000" dirty="0"/>
          </a:p>
        </p:txBody>
      </p:sp>
      <p:sp>
        <p:nvSpPr>
          <p:cNvPr id="7" name="Text 5"/>
          <p:cNvSpPr/>
          <p:nvPr/>
        </p:nvSpPr>
        <p:spPr>
          <a:xfrm>
            <a:off x="429768" y="1243584"/>
            <a:ext cx="2587752" cy="1490472"/>
          </a:xfrm>
          <a:prstGeom prst="rect">
            <a:avLst/>
          </a:prstGeom>
          <a:noFill/>
          <a:ln/>
        </p:spPr>
        <p:txBody>
          <a:bodyPr wrap="square" lIns="0" tIns="0" rIns="0" bIns="0" rtlCol="0" anchor="t"/>
          <a:lstStyle/>
          <a:p>
            <a:pPr marL="0" indent="0">
              <a:buNone/>
            </a:pPr>
            <a:r>
              <a:rPr lang="en-US" sz="900" dirty="0">
                <a:solidFill>
                  <a:srgbClr val="CCDDEE"/>
                </a:solidFill>
              </a:rPr>
              <a:t>Użytkownicy muszą czytać szybko i bez wysiłku. Odpowiedni rozmiar, kontrast i interlinia to podstawa — szczególnie w mobilnych warunkach.</a:t>
            </a:r>
            <a:endParaRPr lang="en-US" sz="900" dirty="0"/>
          </a:p>
        </p:txBody>
      </p:sp>
      <p:sp>
        <p:nvSpPr>
          <p:cNvPr id="8" name="Shape 6"/>
          <p:cNvSpPr/>
          <p:nvPr/>
        </p:nvSpPr>
        <p:spPr>
          <a:xfrm>
            <a:off x="3200400" y="914400"/>
            <a:ext cx="2743200" cy="187452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9" name="Shape 7"/>
          <p:cNvSpPr/>
          <p:nvPr/>
        </p:nvSpPr>
        <p:spPr>
          <a:xfrm>
            <a:off x="3200400" y="914400"/>
            <a:ext cx="45720" cy="1874520"/>
          </a:xfrm>
          <a:prstGeom prst="rect">
            <a:avLst/>
          </a:prstGeom>
          <a:solidFill>
            <a:srgbClr val="00D4FF"/>
          </a:solidFill>
          <a:ln w="12700">
            <a:solidFill>
              <a:srgbClr val="00D4FF"/>
            </a:solidFill>
            <a:prstDash val="solid"/>
          </a:ln>
        </p:spPr>
      </p:sp>
      <p:sp>
        <p:nvSpPr>
          <p:cNvPr id="10" name="Text 8"/>
          <p:cNvSpPr/>
          <p:nvPr/>
        </p:nvSpPr>
        <p:spPr>
          <a:xfrm>
            <a:off x="3310128" y="978408"/>
            <a:ext cx="2587752" cy="256032"/>
          </a:xfrm>
          <a:prstGeom prst="rect">
            <a:avLst/>
          </a:prstGeom>
          <a:noFill/>
          <a:ln/>
        </p:spPr>
        <p:txBody>
          <a:bodyPr wrap="square" lIns="0" tIns="0" rIns="0" bIns="0" rtlCol="0" anchor="t"/>
          <a:lstStyle/>
          <a:p>
            <a:pPr marL="0" indent="0">
              <a:buNone/>
            </a:pPr>
            <a:r>
              <a:rPr lang="en-US" sz="1000" b="1" dirty="0">
                <a:solidFill>
                  <a:srgbClr val="00D4FF"/>
                </a:solidFill>
              </a:rPr>
              <a:t>Hierarchy (Hierarchia)</a:t>
            </a:r>
            <a:endParaRPr lang="en-US" sz="1000" dirty="0"/>
          </a:p>
        </p:txBody>
      </p:sp>
      <p:sp>
        <p:nvSpPr>
          <p:cNvPr id="11" name="Text 9"/>
          <p:cNvSpPr/>
          <p:nvPr/>
        </p:nvSpPr>
        <p:spPr>
          <a:xfrm>
            <a:off x="3310128" y="1243584"/>
            <a:ext cx="2587752" cy="1490472"/>
          </a:xfrm>
          <a:prstGeom prst="rect">
            <a:avLst/>
          </a:prstGeom>
          <a:noFill/>
          <a:ln/>
        </p:spPr>
        <p:txBody>
          <a:bodyPr wrap="square" lIns="0" tIns="0" rIns="0" bIns="0" rtlCol="0" anchor="t"/>
          <a:lstStyle/>
          <a:p>
            <a:pPr marL="0" indent="0">
              <a:buNone/>
            </a:pPr>
            <a:r>
              <a:rPr lang="en-US" sz="900" dirty="0">
                <a:solidFill>
                  <a:srgbClr val="CCDDEE"/>
                </a:solidFill>
              </a:rPr>
              <a:t>Użytkownik musi rozumieć, co jest ważne. Rozmiar, waga czcionki i kolor tworzą mapę priorytetu treści.</a:t>
            </a:r>
            <a:endParaRPr lang="en-US" sz="900" dirty="0"/>
          </a:p>
        </p:txBody>
      </p:sp>
      <p:sp>
        <p:nvSpPr>
          <p:cNvPr id="12" name="Shape 10"/>
          <p:cNvSpPr/>
          <p:nvPr/>
        </p:nvSpPr>
        <p:spPr>
          <a:xfrm>
            <a:off x="6080760" y="914400"/>
            <a:ext cx="2743200" cy="187452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13" name="Shape 11"/>
          <p:cNvSpPr/>
          <p:nvPr/>
        </p:nvSpPr>
        <p:spPr>
          <a:xfrm>
            <a:off x="6080760" y="914400"/>
            <a:ext cx="45720" cy="1874520"/>
          </a:xfrm>
          <a:prstGeom prst="rect">
            <a:avLst/>
          </a:prstGeom>
          <a:solidFill>
            <a:srgbClr val="FF2D78"/>
          </a:solidFill>
          <a:ln w="12700">
            <a:solidFill>
              <a:srgbClr val="FF2D78"/>
            </a:solidFill>
            <a:prstDash val="solid"/>
          </a:ln>
        </p:spPr>
      </p:sp>
      <p:sp>
        <p:nvSpPr>
          <p:cNvPr id="14" name="Text 12"/>
          <p:cNvSpPr/>
          <p:nvPr/>
        </p:nvSpPr>
        <p:spPr>
          <a:xfrm>
            <a:off x="6190488" y="978408"/>
            <a:ext cx="2587752" cy="256032"/>
          </a:xfrm>
          <a:prstGeom prst="rect">
            <a:avLst/>
          </a:prstGeom>
          <a:noFill/>
          <a:ln/>
        </p:spPr>
        <p:txBody>
          <a:bodyPr wrap="square" lIns="0" tIns="0" rIns="0" bIns="0" rtlCol="0" anchor="t"/>
          <a:lstStyle/>
          <a:p>
            <a:pPr marL="0" indent="0">
              <a:buNone/>
            </a:pPr>
            <a:r>
              <a:rPr lang="en-US" sz="1000" b="1" dirty="0">
                <a:solidFill>
                  <a:srgbClr val="FF2D78"/>
                </a:solidFill>
              </a:rPr>
              <a:t>Consistency (Spójność)</a:t>
            </a:r>
            <a:endParaRPr lang="en-US" sz="1000" dirty="0"/>
          </a:p>
        </p:txBody>
      </p:sp>
      <p:sp>
        <p:nvSpPr>
          <p:cNvPr id="15" name="Text 13"/>
          <p:cNvSpPr/>
          <p:nvPr/>
        </p:nvSpPr>
        <p:spPr>
          <a:xfrm>
            <a:off x="6190488" y="1243584"/>
            <a:ext cx="2587752" cy="1490472"/>
          </a:xfrm>
          <a:prstGeom prst="rect">
            <a:avLst/>
          </a:prstGeom>
          <a:noFill/>
          <a:ln/>
        </p:spPr>
        <p:txBody>
          <a:bodyPr wrap="square" lIns="0" tIns="0" rIns="0" bIns="0" rtlCol="0" anchor="t"/>
          <a:lstStyle/>
          <a:p>
            <a:pPr marL="0" indent="0">
              <a:buNone/>
            </a:pPr>
            <a:r>
              <a:rPr lang="en-US" sz="900" dirty="0">
                <a:solidFill>
                  <a:srgbClr val="CCDDEE"/>
                </a:solidFill>
              </a:rPr>
              <a:t>Spójne użycie typografii buduje profesjonalny wizerunek. Style guide i Design System zapewniają jednolitość.</a:t>
            </a:r>
            <a:endParaRPr lang="en-US" sz="900" dirty="0"/>
          </a:p>
        </p:txBody>
      </p:sp>
      <p:sp>
        <p:nvSpPr>
          <p:cNvPr id="16" name="Shape 14"/>
          <p:cNvSpPr/>
          <p:nvPr/>
        </p:nvSpPr>
        <p:spPr>
          <a:xfrm>
            <a:off x="320040" y="2880360"/>
            <a:ext cx="2743200" cy="758952"/>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17" name="Shape 15"/>
          <p:cNvSpPr/>
          <p:nvPr/>
        </p:nvSpPr>
        <p:spPr>
          <a:xfrm>
            <a:off x="320040" y="2880360"/>
            <a:ext cx="45720" cy="758952"/>
          </a:xfrm>
          <a:prstGeom prst="rect">
            <a:avLst/>
          </a:prstGeom>
          <a:solidFill>
            <a:srgbClr val="FFD600"/>
          </a:solidFill>
          <a:ln w="12700">
            <a:solidFill>
              <a:srgbClr val="FFD600"/>
            </a:solidFill>
            <a:prstDash val="solid"/>
          </a:ln>
        </p:spPr>
      </p:sp>
      <p:sp>
        <p:nvSpPr>
          <p:cNvPr id="18" name="Text 16"/>
          <p:cNvSpPr/>
          <p:nvPr/>
        </p:nvSpPr>
        <p:spPr>
          <a:xfrm>
            <a:off x="429768" y="2944368"/>
            <a:ext cx="2587752" cy="256032"/>
          </a:xfrm>
          <a:prstGeom prst="rect">
            <a:avLst/>
          </a:prstGeom>
          <a:noFill/>
          <a:ln/>
        </p:spPr>
        <p:txBody>
          <a:bodyPr wrap="square" lIns="0" tIns="0" rIns="0" bIns="0" rtlCol="0" anchor="t"/>
          <a:lstStyle/>
          <a:p>
            <a:pPr marL="0" indent="0">
              <a:buNone/>
            </a:pPr>
            <a:r>
              <a:rPr lang="en-US" sz="1000" b="1" dirty="0">
                <a:solidFill>
                  <a:srgbClr val="FFD600"/>
                </a:solidFill>
              </a:rPr>
              <a:t>Wybór Kroju Pisma</a:t>
            </a:r>
            <a:endParaRPr lang="en-US" sz="1000" dirty="0"/>
          </a:p>
        </p:txBody>
      </p:sp>
      <p:sp>
        <p:nvSpPr>
          <p:cNvPr id="19" name="Text 17"/>
          <p:cNvSpPr/>
          <p:nvPr/>
        </p:nvSpPr>
        <p:spPr>
          <a:xfrm>
            <a:off x="429768" y="3209544"/>
            <a:ext cx="2587752" cy="374904"/>
          </a:xfrm>
          <a:prstGeom prst="rect">
            <a:avLst/>
          </a:prstGeom>
          <a:noFill/>
          <a:ln/>
        </p:spPr>
        <p:txBody>
          <a:bodyPr wrap="square" lIns="0" tIns="0" rIns="0" bIns="0" rtlCol="0" anchor="t"/>
          <a:lstStyle/>
          <a:p>
            <a:pPr marL="0" indent="0">
              <a:buNone/>
            </a:pPr>
            <a:r>
              <a:rPr lang="en-US" sz="850" dirty="0">
                <a:solidFill>
                  <a:srgbClr val="CCDDEE"/>
                </a:solidFill>
              </a:rPr>
              <a:t>Czcionki zaprojektowane dla ekranów. Unikaj dekoracyjnych dla treści.</a:t>
            </a:r>
            <a:endParaRPr lang="en-US" sz="850" dirty="0"/>
          </a:p>
        </p:txBody>
      </p:sp>
      <p:sp>
        <p:nvSpPr>
          <p:cNvPr id="20" name="Shape 18"/>
          <p:cNvSpPr/>
          <p:nvPr/>
        </p:nvSpPr>
        <p:spPr>
          <a:xfrm>
            <a:off x="3200400" y="2880360"/>
            <a:ext cx="2743200" cy="758952"/>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21" name="Shape 19"/>
          <p:cNvSpPr/>
          <p:nvPr/>
        </p:nvSpPr>
        <p:spPr>
          <a:xfrm>
            <a:off x="3200400" y="2880360"/>
            <a:ext cx="45720" cy="758952"/>
          </a:xfrm>
          <a:prstGeom prst="rect">
            <a:avLst/>
          </a:prstGeom>
          <a:solidFill>
            <a:srgbClr val="00D4FF"/>
          </a:solidFill>
          <a:ln w="12700">
            <a:solidFill>
              <a:srgbClr val="00D4FF"/>
            </a:solidFill>
            <a:prstDash val="solid"/>
          </a:ln>
        </p:spPr>
      </p:sp>
      <p:sp>
        <p:nvSpPr>
          <p:cNvPr id="22" name="Text 20"/>
          <p:cNvSpPr/>
          <p:nvPr/>
        </p:nvSpPr>
        <p:spPr>
          <a:xfrm>
            <a:off x="3310128" y="2944368"/>
            <a:ext cx="2587752" cy="256032"/>
          </a:xfrm>
          <a:prstGeom prst="rect">
            <a:avLst/>
          </a:prstGeom>
          <a:noFill/>
          <a:ln/>
        </p:spPr>
        <p:txBody>
          <a:bodyPr wrap="square" lIns="0" tIns="0" rIns="0" bIns="0" rtlCol="0" anchor="t"/>
          <a:lstStyle/>
          <a:p>
            <a:pPr marL="0" indent="0">
              <a:buNone/>
            </a:pPr>
            <a:r>
              <a:rPr lang="en-US" sz="1000" b="1" dirty="0">
                <a:solidFill>
                  <a:srgbClr val="00D4FF"/>
                </a:solidFill>
              </a:rPr>
              <a:t>Waga i Styl</a:t>
            </a:r>
            <a:endParaRPr lang="en-US" sz="1000" dirty="0"/>
          </a:p>
        </p:txBody>
      </p:sp>
      <p:sp>
        <p:nvSpPr>
          <p:cNvPr id="23" name="Text 21"/>
          <p:cNvSpPr/>
          <p:nvPr/>
        </p:nvSpPr>
        <p:spPr>
          <a:xfrm>
            <a:off x="3310128" y="3209544"/>
            <a:ext cx="2587752" cy="374904"/>
          </a:xfrm>
          <a:prstGeom prst="rect">
            <a:avLst/>
          </a:prstGeom>
          <a:noFill/>
          <a:ln/>
        </p:spPr>
        <p:txBody>
          <a:bodyPr wrap="square" lIns="0" tIns="0" rIns="0" bIns="0" rtlCol="0" anchor="t"/>
          <a:lstStyle/>
          <a:p>
            <a:pPr marL="0" indent="0">
              <a:buNone/>
            </a:pPr>
            <a:r>
              <a:rPr lang="en-US" sz="850" dirty="0">
                <a:solidFill>
                  <a:srgbClr val="CCDDEE"/>
                </a:solidFill>
              </a:rPr>
              <a:t>Regular, Medium, Semibold, Bold — różne wagi do budowania hierarchii.</a:t>
            </a:r>
            <a:endParaRPr lang="en-US" sz="850" dirty="0"/>
          </a:p>
        </p:txBody>
      </p:sp>
      <p:sp>
        <p:nvSpPr>
          <p:cNvPr id="24" name="Shape 22"/>
          <p:cNvSpPr/>
          <p:nvPr/>
        </p:nvSpPr>
        <p:spPr>
          <a:xfrm>
            <a:off x="6080760" y="2880360"/>
            <a:ext cx="2743200" cy="758952"/>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25" name="Shape 23"/>
          <p:cNvSpPr/>
          <p:nvPr/>
        </p:nvSpPr>
        <p:spPr>
          <a:xfrm>
            <a:off x="6080760" y="2880360"/>
            <a:ext cx="45720" cy="758952"/>
          </a:xfrm>
          <a:prstGeom prst="rect">
            <a:avLst/>
          </a:prstGeom>
          <a:solidFill>
            <a:srgbClr val="FF2D78"/>
          </a:solidFill>
          <a:ln w="12700">
            <a:solidFill>
              <a:srgbClr val="FF2D78"/>
            </a:solidFill>
            <a:prstDash val="solid"/>
          </a:ln>
        </p:spPr>
      </p:sp>
      <p:sp>
        <p:nvSpPr>
          <p:cNvPr id="26" name="Text 24"/>
          <p:cNvSpPr/>
          <p:nvPr/>
        </p:nvSpPr>
        <p:spPr>
          <a:xfrm>
            <a:off x="6190488" y="2944368"/>
            <a:ext cx="2587752" cy="256032"/>
          </a:xfrm>
          <a:prstGeom prst="rect">
            <a:avLst/>
          </a:prstGeom>
          <a:noFill/>
          <a:ln/>
        </p:spPr>
        <p:txBody>
          <a:bodyPr wrap="square" lIns="0" tIns="0" rIns="0" bIns="0" rtlCol="0" anchor="t"/>
          <a:lstStyle/>
          <a:p>
            <a:pPr marL="0" indent="0">
              <a:buNone/>
            </a:pPr>
            <a:r>
              <a:rPr lang="en-US" sz="1000" b="1" dirty="0">
                <a:solidFill>
                  <a:srgbClr val="FF2D78"/>
                </a:solidFill>
              </a:rPr>
              <a:t>Kolor i Kontrast</a:t>
            </a:r>
            <a:endParaRPr lang="en-US" sz="1000" dirty="0"/>
          </a:p>
        </p:txBody>
      </p:sp>
      <p:sp>
        <p:nvSpPr>
          <p:cNvPr id="27" name="Text 25"/>
          <p:cNvSpPr/>
          <p:nvPr/>
        </p:nvSpPr>
        <p:spPr>
          <a:xfrm>
            <a:off x="6190488" y="3209544"/>
            <a:ext cx="2587752" cy="374904"/>
          </a:xfrm>
          <a:prstGeom prst="rect">
            <a:avLst/>
          </a:prstGeom>
          <a:noFill/>
          <a:ln/>
        </p:spPr>
        <p:txBody>
          <a:bodyPr wrap="square" lIns="0" tIns="0" rIns="0" bIns="0" rtlCol="0" anchor="t"/>
          <a:lstStyle/>
          <a:p>
            <a:pPr marL="0" indent="0">
              <a:buNone/>
            </a:pPr>
            <a:r>
              <a:rPr lang="en-US" sz="850" dirty="0">
                <a:solidFill>
                  <a:srgbClr val="CCDDEE"/>
                </a:solidFill>
              </a:rPr>
              <a:t>Min. 4.5:1 dla tekstu normalnego. Testuj w różnych warunkach oświetlenia.</a:t>
            </a:r>
            <a:endParaRPr lang="en-US" sz="850" dirty="0"/>
          </a:p>
        </p:txBody>
      </p:sp>
      <p:sp>
        <p:nvSpPr>
          <p:cNvPr id="28" name="Shape 26"/>
          <p:cNvSpPr/>
          <p:nvPr/>
        </p:nvSpPr>
        <p:spPr>
          <a:xfrm>
            <a:off x="320040" y="3749040"/>
            <a:ext cx="2743200" cy="758952"/>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29" name="Shape 27"/>
          <p:cNvSpPr/>
          <p:nvPr/>
        </p:nvSpPr>
        <p:spPr>
          <a:xfrm>
            <a:off x="320040" y="3749040"/>
            <a:ext cx="45720" cy="758952"/>
          </a:xfrm>
          <a:prstGeom prst="rect">
            <a:avLst/>
          </a:prstGeom>
          <a:solidFill>
            <a:srgbClr val="00E676"/>
          </a:solidFill>
          <a:ln w="12700">
            <a:solidFill>
              <a:srgbClr val="00E676"/>
            </a:solidFill>
            <a:prstDash val="solid"/>
          </a:ln>
        </p:spPr>
      </p:sp>
      <p:sp>
        <p:nvSpPr>
          <p:cNvPr id="30" name="Text 28"/>
          <p:cNvSpPr/>
          <p:nvPr/>
        </p:nvSpPr>
        <p:spPr>
          <a:xfrm>
            <a:off x="429768" y="3813048"/>
            <a:ext cx="2587752" cy="256032"/>
          </a:xfrm>
          <a:prstGeom prst="rect">
            <a:avLst/>
          </a:prstGeom>
          <a:noFill/>
          <a:ln/>
        </p:spPr>
        <p:txBody>
          <a:bodyPr wrap="square" lIns="0" tIns="0" rIns="0" bIns="0" rtlCol="0" anchor="t"/>
          <a:lstStyle/>
          <a:p>
            <a:pPr marL="0" indent="0">
              <a:buNone/>
            </a:pPr>
            <a:r>
              <a:rPr lang="en-US" sz="1000" b="1" dirty="0">
                <a:solidFill>
                  <a:srgbClr val="00E676"/>
                </a:solidFill>
              </a:rPr>
              <a:t>Interlinia</a:t>
            </a:r>
            <a:endParaRPr lang="en-US" sz="1000" dirty="0"/>
          </a:p>
        </p:txBody>
      </p:sp>
      <p:sp>
        <p:nvSpPr>
          <p:cNvPr id="31" name="Text 29"/>
          <p:cNvSpPr/>
          <p:nvPr/>
        </p:nvSpPr>
        <p:spPr>
          <a:xfrm>
            <a:off x="429768" y="4078224"/>
            <a:ext cx="2587752" cy="374904"/>
          </a:xfrm>
          <a:prstGeom prst="rect">
            <a:avLst/>
          </a:prstGeom>
          <a:noFill/>
          <a:ln/>
        </p:spPr>
        <p:txBody>
          <a:bodyPr wrap="square" lIns="0" tIns="0" rIns="0" bIns="0" rtlCol="0" anchor="t"/>
          <a:lstStyle/>
          <a:p>
            <a:pPr marL="0" indent="0">
              <a:buNone/>
            </a:pPr>
            <a:r>
              <a:rPr lang="en-US" sz="850" dirty="0">
                <a:solidFill>
                  <a:srgbClr val="CCDDEE"/>
                </a:solidFill>
              </a:rPr>
              <a:t>1.4–1.6× rozmiar czcionki dla tekstu. Więcej dla nagłówków.</a:t>
            </a:r>
            <a:endParaRPr lang="en-US" sz="850" dirty="0"/>
          </a:p>
        </p:txBody>
      </p:sp>
      <p:sp>
        <p:nvSpPr>
          <p:cNvPr id="32" name="Shape 30"/>
          <p:cNvSpPr/>
          <p:nvPr/>
        </p:nvSpPr>
        <p:spPr>
          <a:xfrm>
            <a:off x="3200400" y="3749040"/>
            <a:ext cx="2743200" cy="758952"/>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33" name="Shape 31"/>
          <p:cNvSpPr/>
          <p:nvPr/>
        </p:nvSpPr>
        <p:spPr>
          <a:xfrm>
            <a:off x="3200400" y="3749040"/>
            <a:ext cx="45720" cy="758952"/>
          </a:xfrm>
          <a:prstGeom prst="rect">
            <a:avLst/>
          </a:prstGeom>
          <a:solidFill>
            <a:srgbClr val="FF9100"/>
          </a:solidFill>
          <a:ln w="12700">
            <a:solidFill>
              <a:srgbClr val="FF9100"/>
            </a:solidFill>
            <a:prstDash val="solid"/>
          </a:ln>
        </p:spPr>
      </p:sp>
      <p:sp>
        <p:nvSpPr>
          <p:cNvPr id="34" name="Text 32"/>
          <p:cNvSpPr/>
          <p:nvPr/>
        </p:nvSpPr>
        <p:spPr>
          <a:xfrm>
            <a:off x="3310128" y="3813048"/>
            <a:ext cx="2587752" cy="256032"/>
          </a:xfrm>
          <a:prstGeom prst="rect">
            <a:avLst/>
          </a:prstGeom>
          <a:noFill/>
          <a:ln/>
        </p:spPr>
        <p:txBody>
          <a:bodyPr wrap="square" lIns="0" tIns="0" rIns="0" bIns="0" rtlCol="0" anchor="t"/>
          <a:lstStyle/>
          <a:p>
            <a:pPr marL="0" indent="0">
              <a:buNone/>
            </a:pPr>
            <a:r>
              <a:rPr lang="en-US" sz="1000" b="1" dirty="0">
                <a:solidFill>
                  <a:srgbClr val="FF9100"/>
                </a:solidFill>
              </a:rPr>
              <a:t>Tracking i Kerning</a:t>
            </a:r>
            <a:endParaRPr lang="en-US" sz="1000" dirty="0"/>
          </a:p>
        </p:txBody>
      </p:sp>
      <p:sp>
        <p:nvSpPr>
          <p:cNvPr id="35" name="Text 33"/>
          <p:cNvSpPr/>
          <p:nvPr/>
        </p:nvSpPr>
        <p:spPr>
          <a:xfrm>
            <a:off x="3310128" y="4078224"/>
            <a:ext cx="2587752" cy="374904"/>
          </a:xfrm>
          <a:prstGeom prst="rect">
            <a:avLst/>
          </a:prstGeom>
          <a:noFill/>
          <a:ln/>
        </p:spPr>
        <p:txBody>
          <a:bodyPr wrap="square" lIns="0" tIns="0" rIns="0" bIns="0" rtlCol="0" anchor="t"/>
          <a:lstStyle/>
          <a:p>
            <a:pPr marL="0" indent="0">
              <a:buNone/>
            </a:pPr>
            <a:r>
              <a:rPr lang="en-US" sz="850" dirty="0">
                <a:solidFill>
                  <a:srgbClr val="CCDDEE"/>
                </a:solidFill>
              </a:rPr>
              <a:t>Odstępy między literami (tracking) i parami (kerning) wpływają na czytelność.</a:t>
            </a:r>
            <a:endParaRPr lang="en-US" sz="850" dirty="0"/>
          </a:p>
        </p:txBody>
      </p:sp>
      <p:sp>
        <p:nvSpPr>
          <p:cNvPr id="38" name="Text 36"/>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28 / </a:t>
            </a:r>
            <a:r>
              <a:rPr lang="pl-PL" sz="800" dirty="0" smtClean="0">
                <a:solidFill>
                  <a:srgbClr val="8899AA"/>
                </a:solidFill>
              </a:rPr>
              <a:t>46</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B2A"/>
        </a:solidFill>
        <a:effectLst/>
      </p:bgPr>
    </p:bg>
    <p:spTree>
      <p:nvGrpSpPr>
        <p:cNvPr id="1" name=""/>
        <p:cNvGrpSpPr/>
        <p:nvPr/>
      </p:nvGrpSpPr>
      <p:grpSpPr>
        <a:xfrm>
          <a:off x="0" y="0"/>
          <a:ext cx="0" cy="0"/>
          <a:chOff x="0" y="0"/>
          <a:chExt cx="0" cy="0"/>
        </a:xfrm>
      </p:grpSpPr>
      <p:grpSp>
        <p:nvGrpSpPr>
          <p:cNvPr id="44" name="Grupa 43"/>
          <p:cNvGrpSpPr/>
          <p:nvPr/>
        </p:nvGrpSpPr>
        <p:grpSpPr>
          <a:xfrm>
            <a:off x="-2381" y="4884912"/>
            <a:ext cx="9146381" cy="260136"/>
            <a:chOff x="-2381" y="4884912"/>
            <a:chExt cx="9146381" cy="260136"/>
          </a:xfrm>
        </p:grpSpPr>
        <p:sp>
          <p:nvSpPr>
            <p:cNvPr id="45" name="Shape 52"/>
            <p:cNvSpPr/>
            <p:nvPr/>
          </p:nvSpPr>
          <p:spPr>
            <a:xfrm>
              <a:off x="0" y="4884912"/>
              <a:ext cx="9144000" cy="252000"/>
            </a:xfrm>
            <a:prstGeom prst="rect">
              <a:avLst/>
            </a:prstGeom>
            <a:solidFill>
              <a:srgbClr val="071523"/>
            </a:solidFill>
            <a:ln w="12700">
              <a:solidFill>
                <a:srgbClr val="071523"/>
              </a:solidFill>
              <a:prstDash val="solid"/>
            </a:ln>
          </p:spPr>
        </p:sp>
        <p:sp>
          <p:nvSpPr>
            <p:cNvPr id="46"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47" name="Grupa 46"/>
            <p:cNvGrpSpPr/>
            <p:nvPr/>
          </p:nvGrpSpPr>
          <p:grpSpPr>
            <a:xfrm>
              <a:off x="-2381" y="5099329"/>
              <a:ext cx="9146381" cy="45719"/>
              <a:chOff x="-2381" y="5107500"/>
              <a:chExt cx="9111093" cy="37548"/>
            </a:xfrm>
            <a:solidFill>
              <a:schemeClr val="tx1"/>
            </a:solidFill>
          </p:grpSpPr>
          <p:sp>
            <p:nvSpPr>
              <p:cNvPr id="48"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49"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50"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62"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63"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64"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65"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66"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67"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68"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69"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70" name="Shape 52"/>
              <p:cNvSpPr/>
              <p:nvPr/>
            </p:nvSpPr>
            <p:spPr>
              <a:xfrm>
                <a:off x="4356712" y="5107500"/>
                <a:ext cx="198000" cy="36000"/>
              </a:xfrm>
              <a:prstGeom prst="rect">
                <a:avLst/>
              </a:prstGeom>
              <a:solidFill>
                <a:schemeClr val="accent5">
                  <a:lumMod val="20000"/>
                  <a:lumOff val="80000"/>
                </a:schemeClr>
              </a:solidFill>
              <a:ln w="12700">
                <a:noFill/>
                <a:prstDash val="solid"/>
              </a:ln>
            </p:spPr>
          </p:sp>
          <p:sp>
            <p:nvSpPr>
              <p:cNvPr id="71" name="Shape 52"/>
              <p:cNvSpPr/>
              <p:nvPr/>
            </p:nvSpPr>
            <p:spPr>
              <a:xfrm>
                <a:off x="4554712" y="5107500"/>
                <a:ext cx="198000" cy="36000"/>
              </a:xfrm>
              <a:prstGeom prst="rect">
                <a:avLst/>
              </a:prstGeom>
              <a:solidFill>
                <a:schemeClr val="accent5">
                  <a:lumMod val="20000"/>
                  <a:lumOff val="80000"/>
                </a:schemeClr>
              </a:solidFill>
              <a:ln w="12700">
                <a:noFill/>
                <a:prstDash val="solid"/>
              </a:ln>
            </p:spPr>
          </p:sp>
          <p:sp>
            <p:nvSpPr>
              <p:cNvPr id="72" name="Shape 52"/>
              <p:cNvSpPr/>
              <p:nvPr/>
            </p:nvSpPr>
            <p:spPr>
              <a:xfrm>
                <a:off x="4752712" y="5107500"/>
                <a:ext cx="198000" cy="36000"/>
              </a:xfrm>
              <a:prstGeom prst="rect">
                <a:avLst/>
              </a:prstGeom>
              <a:solidFill>
                <a:schemeClr val="accent5">
                  <a:lumMod val="20000"/>
                  <a:lumOff val="80000"/>
                </a:schemeClr>
              </a:solidFill>
              <a:ln w="12700">
                <a:noFill/>
                <a:prstDash val="solid"/>
              </a:ln>
            </p:spPr>
          </p:sp>
          <p:sp>
            <p:nvSpPr>
              <p:cNvPr id="73" name="Shape 52"/>
              <p:cNvSpPr/>
              <p:nvPr/>
            </p:nvSpPr>
            <p:spPr>
              <a:xfrm>
                <a:off x="4950712" y="5107500"/>
                <a:ext cx="198000" cy="36000"/>
              </a:xfrm>
              <a:prstGeom prst="rect">
                <a:avLst/>
              </a:prstGeom>
              <a:solidFill>
                <a:schemeClr val="accent5">
                  <a:lumMod val="20000"/>
                  <a:lumOff val="80000"/>
                </a:schemeClr>
              </a:solidFill>
              <a:ln w="12700">
                <a:noFill/>
                <a:prstDash val="solid"/>
              </a:ln>
            </p:spPr>
          </p:sp>
          <p:sp>
            <p:nvSpPr>
              <p:cNvPr id="74" name="Shape 52"/>
              <p:cNvSpPr/>
              <p:nvPr/>
            </p:nvSpPr>
            <p:spPr>
              <a:xfrm>
                <a:off x="5148712" y="5107500"/>
                <a:ext cx="198000" cy="36000"/>
              </a:xfrm>
              <a:prstGeom prst="rect">
                <a:avLst/>
              </a:prstGeom>
              <a:solidFill>
                <a:schemeClr val="accent5">
                  <a:lumMod val="20000"/>
                  <a:lumOff val="80000"/>
                </a:schemeClr>
              </a:solidFill>
              <a:ln w="12700">
                <a:noFill/>
                <a:prstDash val="solid"/>
              </a:ln>
            </p:spPr>
          </p:sp>
          <p:sp>
            <p:nvSpPr>
              <p:cNvPr id="75" name="Shape 52"/>
              <p:cNvSpPr/>
              <p:nvPr/>
            </p:nvSpPr>
            <p:spPr>
              <a:xfrm>
                <a:off x="5346712" y="5108400"/>
                <a:ext cx="198000" cy="36000"/>
              </a:xfrm>
              <a:prstGeom prst="rect">
                <a:avLst/>
              </a:prstGeom>
              <a:solidFill>
                <a:schemeClr val="accent5">
                  <a:lumMod val="20000"/>
                  <a:lumOff val="80000"/>
                </a:schemeClr>
              </a:solidFill>
              <a:ln w="12700">
                <a:noFill/>
                <a:prstDash val="solid"/>
              </a:ln>
            </p:spPr>
          </p:sp>
          <p:sp>
            <p:nvSpPr>
              <p:cNvPr id="76" name="Shape 52"/>
              <p:cNvSpPr/>
              <p:nvPr/>
            </p:nvSpPr>
            <p:spPr>
              <a:xfrm>
                <a:off x="5544712" y="5108400"/>
                <a:ext cx="198000" cy="36000"/>
              </a:xfrm>
              <a:prstGeom prst="rect">
                <a:avLst/>
              </a:prstGeom>
              <a:solidFill>
                <a:schemeClr val="accent5">
                  <a:lumMod val="20000"/>
                  <a:lumOff val="80000"/>
                </a:schemeClr>
              </a:solidFill>
              <a:ln w="12700">
                <a:noFill/>
                <a:prstDash val="solid"/>
              </a:ln>
            </p:spPr>
          </p:sp>
          <p:sp>
            <p:nvSpPr>
              <p:cNvPr id="77" name="Shape 52"/>
              <p:cNvSpPr/>
              <p:nvPr/>
            </p:nvSpPr>
            <p:spPr>
              <a:xfrm>
                <a:off x="5742712" y="5108400"/>
                <a:ext cx="198000" cy="36000"/>
              </a:xfrm>
              <a:prstGeom prst="rect">
                <a:avLst/>
              </a:prstGeom>
              <a:grpFill/>
              <a:ln w="12700">
                <a:noFill/>
                <a:prstDash val="solid"/>
              </a:ln>
            </p:spPr>
          </p:sp>
          <p:sp>
            <p:nvSpPr>
              <p:cNvPr id="78" name="Shape 52"/>
              <p:cNvSpPr/>
              <p:nvPr/>
            </p:nvSpPr>
            <p:spPr>
              <a:xfrm>
                <a:off x="5940712" y="5108400"/>
                <a:ext cx="198000" cy="36000"/>
              </a:xfrm>
              <a:prstGeom prst="rect">
                <a:avLst/>
              </a:prstGeom>
              <a:grpFill/>
              <a:ln w="12700">
                <a:noFill/>
                <a:prstDash val="solid"/>
              </a:ln>
            </p:spPr>
          </p:sp>
          <p:sp>
            <p:nvSpPr>
              <p:cNvPr id="79" name="Shape 52"/>
              <p:cNvSpPr/>
              <p:nvPr/>
            </p:nvSpPr>
            <p:spPr>
              <a:xfrm>
                <a:off x="6138712" y="5108400"/>
                <a:ext cx="198000" cy="36000"/>
              </a:xfrm>
              <a:prstGeom prst="rect">
                <a:avLst/>
              </a:prstGeom>
              <a:grpFill/>
              <a:ln w="12700">
                <a:noFill/>
                <a:prstDash val="solid"/>
              </a:ln>
            </p:spPr>
          </p:sp>
          <p:sp>
            <p:nvSpPr>
              <p:cNvPr id="80" name="Shape 52"/>
              <p:cNvSpPr/>
              <p:nvPr/>
            </p:nvSpPr>
            <p:spPr>
              <a:xfrm>
                <a:off x="6336712" y="5108400"/>
                <a:ext cx="198000" cy="36000"/>
              </a:xfrm>
              <a:prstGeom prst="rect">
                <a:avLst/>
              </a:prstGeom>
              <a:grpFill/>
              <a:ln w="12700">
                <a:noFill/>
                <a:prstDash val="solid"/>
              </a:ln>
            </p:spPr>
          </p:sp>
          <p:sp>
            <p:nvSpPr>
              <p:cNvPr id="81" name="Shape 52"/>
              <p:cNvSpPr/>
              <p:nvPr/>
            </p:nvSpPr>
            <p:spPr>
              <a:xfrm>
                <a:off x="6534712" y="5108400"/>
                <a:ext cx="198000" cy="36000"/>
              </a:xfrm>
              <a:prstGeom prst="rect">
                <a:avLst/>
              </a:prstGeom>
              <a:grpFill/>
              <a:ln w="12700">
                <a:noFill/>
                <a:prstDash val="solid"/>
              </a:ln>
            </p:spPr>
          </p:sp>
          <p:sp>
            <p:nvSpPr>
              <p:cNvPr id="82" name="Shape 52"/>
              <p:cNvSpPr/>
              <p:nvPr/>
            </p:nvSpPr>
            <p:spPr>
              <a:xfrm>
                <a:off x="6732712" y="5108400"/>
                <a:ext cx="198000" cy="36000"/>
              </a:xfrm>
              <a:prstGeom prst="rect">
                <a:avLst/>
              </a:prstGeom>
              <a:grpFill/>
              <a:ln w="12700">
                <a:noFill/>
                <a:prstDash val="solid"/>
              </a:ln>
            </p:spPr>
          </p:sp>
          <p:sp>
            <p:nvSpPr>
              <p:cNvPr id="83" name="Shape 52"/>
              <p:cNvSpPr/>
              <p:nvPr/>
            </p:nvSpPr>
            <p:spPr>
              <a:xfrm>
                <a:off x="6930712" y="5108400"/>
                <a:ext cx="198000" cy="36000"/>
              </a:xfrm>
              <a:prstGeom prst="rect">
                <a:avLst/>
              </a:prstGeom>
              <a:grpFill/>
              <a:ln w="12700">
                <a:noFill/>
                <a:prstDash val="solid"/>
              </a:ln>
            </p:spPr>
          </p:sp>
          <p:sp>
            <p:nvSpPr>
              <p:cNvPr id="84" name="Shape 52"/>
              <p:cNvSpPr/>
              <p:nvPr/>
            </p:nvSpPr>
            <p:spPr>
              <a:xfrm>
                <a:off x="7128712" y="5108400"/>
                <a:ext cx="198000" cy="36000"/>
              </a:xfrm>
              <a:prstGeom prst="rect">
                <a:avLst/>
              </a:prstGeom>
              <a:grpFill/>
              <a:ln w="12700">
                <a:noFill/>
                <a:prstDash val="solid"/>
              </a:ln>
            </p:spPr>
          </p:sp>
          <p:sp>
            <p:nvSpPr>
              <p:cNvPr id="85" name="Shape 52"/>
              <p:cNvSpPr/>
              <p:nvPr/>
            </p:nvSpPr>
            <p:spPr>
              <a:xfrm>
                <a:off x="7326712" y="5108400"/>
                <a:ext cx="198000" cy="36000"/>
              </a:xfrm>
              <a:prstGeom prst="rect">
                <a:avLst/>
              </a:prstGeom>
              <a:grpFill/>
              <a:ln w="12700">
                <a:noFill/>
                <a:prstDash val="solid"/>
              </a:ln>
            </p:spPr>
          </p:sp>
          <p:sp>
            <p:nvSpPr>
              <p:cNvPr id="86" name="Shape 52"/>
              <p:cNvSpPr/>
              <p:nvPr/>
            </p:nvSpPr>
            <p:spPr>
              <a:xfrm>
                <a:off x="7524712" y="5108400"/>
                <a:ext cx="198000" cy="36000"/>
              </a:xfrm>
              <a:prstGeom prst="rect">
                <a:avLst/>
              </a:prstGeom>
              <a:grpFill/>
              <a:ln w="12700">
                <a:noFill/>
                <a:prstDash val="solid"/>
              </a:ln>
            </p:spPr>
          </p:sp>
          <p:sp>
            <p:nvSpPr>
              <p:cNvPr id="87" name="Shape 52"/>
              <p:cNvSpPr/>
              <p:nvPr/>
            </p:nvSpPr>
            <p:spPr>
              <a:xfrm>
                <a:off x="7722712" y="5108400"/>
                <a:ext cx="198000" cy="36000"/>
              </a:xfrm>
              <a:prstGeom prst="rect">
                <a:avLst/>
              </a:prstGeom>
              <a:grpFill/>
              <a:ln w="12700">
                <a:noFill/>
                <a:prstDash val="solid"/>
              </a:ln>
            </p:spPr>
          </p:sp>
          <p:sp>
            <p:nvSpPr>
              <p:cNvPr id="88" name="Shape 52"/>
              <p:cNvSpPr/>
              <p:nvPr/>
            </p:nvSpPr>
            <p:spPr>
              <a:xfrm>
                <a:off x="7920712" y="5109048"/>
                <a:ext cx="198000" cy="36000"/>
              </a:xfrm>
              <a:prstGeom prst="rect">
                <a:avLst/>
              </a:prstGeom>
              <a:grpFill/>
              <a:ln w="12700">
                <a:noFill/>
                <a:prstDash val="solid"/>
              </a:ln>
            </p:spPr>
          </p:sp>
          <p:sp>
            <p:nvSpPr>
              <p:cNvPr id="89" name="Shape 52"/>
              <p:cNvSpPr/>
              <p:nvPr/>
            </p:nvSpPr>
            <p:spPr>
              <a:xfrm>
                <a:off x="8118712" y="5109048"/>
                <a:ext cx="198000" cy="36000"/>
              </a:xfrm>
              <a:prstGeom prst="rect">
                <a:avLst/>
              </a:prstGeom>
              <a:grpFill/>
              <a:ln w="12700">
                <a:noFill/>
                <a:prstDash val="solid"/>
              </a:ln>
            </p:spPr>
          </p:sp>
          <p:sp>
            <p:nvSpPr>
              <p:cNvPr id="90" name="Shape 52"/>
              <p:cNvSpPr/>
              <p:nvPr/>
            </p:nvSpPr>
            <p:spPr>
              <a:xfrm>
                <a:off x="8316712" y="5109048"/>
                <a:ext cx="198000" cy="36000"/>
              </a:xfrm>
              <a:prstGeom prst="rect">
                <a:avLst/>
              </a:prstGeom>
              <a:grpFill/>
              <a:ln w="12700">
                <a:noFill/>
                <a:prstDash val="solid"/>
              </a:ln>
            </p:spPr>
          </p:sp>
          <p:sp>
            <p:nvSpPr>
              <p:cNvPr id="91" name="Shape 52"/>
              <p:cNvSpPr/>
              <p:nvPr/>
            </p:nvSpPr>
            <p:spPr>
              <a:xfrm>
                <a:off x="8514712" y="5109048"/>
                <a:ext cx="198000" cy="36000"/>
              </a:xfrm>
              <a:prstGeom prst="rect">
                <a:avLst/>
              </a:prstGeom>
              <a:grpFill/>
              <a:ln w="12700">
                <a:noFill/>
                <a:prstDash val="solid"/>
              </a:ln>
            </p:spPr>
          </p:sp>
          <p:sp>
            <p:nvSpPr>
              <p:cNvPr id="92" name="Shape 52"/>
              <p:cNvSpPr/>
              <p:nvPr/>
            </p:nvSpPr>
            <p:spPr>
              <a:xfrm>
                <a:off x="8712712" y="5109048"/>
                <a:ext cx="198000" cy="36000"/>
              </a:xfrm>
              <a:prstGeom prst="rect">
                <a:avLst/>
              </a:prstGeom>
              <a:grpFill/>
              <a:ln w="12700">
                <a:noFill/>
                <a:prstDash val="solid"/>
              </a:ln>
            </p:spPr>
          </p:sp>
          <p:sp>
            <p:nvSpPr>
              <p:cNvPr id="93"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FFD600"/>
          </a:solidFill>
          <a:ln w="12700">
            <a:solidFill>
              <a:srgbClr val="FFD600"/>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Wybór Czcionek dla Aplikacji Mobilnych</a:t>
            </a:r>
            <a:endParaRPr lang="en-US" sz="2200" dirty="0"/>
          </a:p>
        </p:txBody>
      </p:sp>
      <p:sp>
        <p:nvSpPr>
          <p:cNvPr id="4" name="Shape 2"/>
          <p:cNvSpPr/>
          <p:nvPr/>
        </p:nvSpPr>
        <p:spPr>
          <a:xfrm>
            <a:off x="320040" y="914400"/>
            <a:ext cx="4069080" cy="2743200"/>
          </a:xfrm>
          <a:prstGeom prst="rect">
            <a:avLst/>
          </a:prstGeom>
          <a:solidFill>
            <a:srgbClr val="112233"/>
          </a:solidFill>
          <a:ln w="12700">
            <a:solidFill>
              <a:srgbClr val="1A3050"/>
            </a:solidFill>
            <a:prstDash val="solid"/>
          </a:ln>
        </p:spPr>
      </p:sp>
      <p:sp>
        <p:nvSpPr>
          <p:cNvPr id="5" name="Shape 3"/>
          <p:cNvSpPr/>
          <p:nvPr/>
        </p:nvSpPr>
        <p:spPr>
          <a:xfrm>
            <a:off x="320040" y="914400"/>
            <a:ext cx="45720" cy="2743200"/>
          </a:xfrm>
          <a:prstGeom prst="rect">
            <a:avLst/>
          </a:prstGeom>
          <a:solidFill>
            <a:srgbClr val="FFD600"/>
          </a:solidFill>
          <a:ln w="12700">
            <a:solidFill>
              <a:srgbClr val="FFD600"/>
            </a:solidFill>
            <a:prstDash val="solid"/>
          </a:ln>
        </p:spPr>
      </p:sp>
      <p:sp>
        <p:nvSpPr>
          <p:cNvPr id="6" name="Text 4"/>
          <p:cNvSpPr/>
          <p:nvPr/>
        </p:nvSpPr>
        <p:spPr>
          <a:xfrm>
            <a:off x="457200" y="987552"/>
            <a:ext cx="3794760" cy="274320"/>
          </a:xfrm>
          <a:prstGeom prst="rect">
            <a:avLst/>
          </a:prstGeom>
          <a:noFill/>
          <a:ln/>
        </p:spPr>
        <p:txBody>
          <a:bodyPr wrap="square" lIns="0" tIns="0" rIns="0" bIns="0" rtlCol="0" anchor="ctr"/>
          <a:lstStyle/>
          <a:p>
            <a:pPr marL="0" indent="0">
              <a:buNone/>
            </a:pPr>
            <a:r>
              <a:rPr lang="en-US" sz="1200" b="1" dirty="0">
                <a:solidFill>
                  <a:srgbClr val="FFFFFF"/>
                </a:solidFill>
              </a:rPr>
              <a:t>Złota Zasada: System Fonts</a:t>
            </a:r>
            <a:endParaRPr lang="en-US" sz="1200" dirty="0"/>
          </a:p>
        </p:txBody>
      </p:sp>
      <p:sp>
        <p:nvSpPr>
          <p:cNvPr id="7" name="Text 5"/>
          <p:cNvSpPr/>
          <p:nvPr/>
        </p:nvSpPr>
        <p:spPr>
          <a:xfrm>
            <a:off x="457200" y="1307592"/>
            <a:ext cx="3794760" cy="457200"/>
          </a:xfrm>
          <a:prstGeom prst="rect">
            <a:avLst/>
          </a:prstGeom>
          <a:noFill/>
          <a:ln/>
        </p:spPr>
        <p:txBody>
          <a:bodyPr wrap="square" lIns="0" tIns="0" rIns="0" bIns="0" rtlCol="0" anchor="ctr"/>
          <a:lstStyle/>
          <a:p>
            <a:pPr marL="0" indent="0">
              <a:buNone/>
            </a:pPr>
            <a:r>
              <a:rPr lang="en-US" sz="950" dirty="0">
                <a:solidFill>
                  <a:srgbClr val="CCDDEE"/>
                </a:solidFill>
              </a:rPr>
              <a:t>Używaj czcionek systemowych tam, gdzie to możliwe. Są zoptymalizowane dla platformy, szybciej się ładują i zapewniają natywne doświadczenie.</a:t>
            </a:r>
            <a:endParaRPr lang="en-US" sz="950" dirty="0"/>
          </a:p>
        </p:txBody>
      </p:sp>
      <p:sp>
        <p:nvSpPr>
          <p:cNvPr id="8" name="Shape 6"/>
          <p:cNvSpPr/>
          <p:nvPr/>
        </p:nvSpPr>
        <p:spPr>
          <a:xfrm>
            <a:off x="411480" y="1874520"/>
            <a:ext cx="3886200" cy="749808"/>
          </a:xfrm>
          <a:prstGeom prst="rect">
            <a:avLst/>
          </a:prstGeom>
          <a:solidFill>
            <a:srgbClr val="0A1929"/>
          </a:solidFill>
          <a:ln w="12700">
            <a:solidFill>
              <a:srgbClr val="FFD600"/>
            </a:solidFill>
            <a:prstDash val="solid"/>
          </a:ln>
        </p:spPr>
      </p:sp>
      <p:sp>
        <p:nvSpPr>
          <p:cNvPr id="9" name="Text 7"/>
          <p:cNvSpPr/>
          <p:nvPr/>
        </p:nvSpPr>
        <p:spPr>
          <a:xfrm>
            <a:off x="548640" y="1920240"/>
            <a:ext cx="3611880" cy="256032"/>
          </a:xfrm>
          <a:prstGeom prst="rect">
            <a:avLst/>
          </a:prstGeom>
          <a:noFill/>
          <a:ln/>
        </p:spPr>
        <p:txBody>
          <a:bodyPr wrap="square" lIns="0" tIns="0" rIns="0" bIns="0" rtlCol="0" anchor="ctr"/>
          <a:lstStyle/>
          <a:p>
            <a:pPr marL="0" indent="0">
              <a:buNone/>
            </a:pPr>
            <a:r>
              <a:rPr lang="en-US" sz="1000" b="1" dirty="0">
                <a:solidFill>
                  <a:srgbClr val="FFD600"/>
                </a:solidFill>
              </a:rPr>
              <a:t>iOS: San Francisco</a:t>
            </a:r>
            <a:endParaRPr lang="en-US" sz="1000" dirty="0"/>
          </a:p>
        </p:txBody>
      </p:sp>
      <p:sp>
        <p:nvSpPr>
          <p:cNvPr id="10" name="Text 8"/>
          <p:cNvSpPr/>
          <p:nvPr/>
        </p:nvSpPr>
        <p:spPr>
          <a:xfrm>
            <a:off x="548640" y="2212848"/>
            <a:ext cx="3611880" cy="347472"/>
          </a:xfrm>
          <a:prstGeom prst="rect">
            <a:avLst/>
          </a:prstGeom>
          <a:noFill/>
          <a:ln/>
        </p:spPr>
        <p:txBody>
          <a:bodyPr wrap="square" lIns="0" tIns="0" rIns="0" bIns="0" rtlCol="0" anchor="ctr"/>
          <a:lstStyle/>
          <a:p>
            <a:pPr marL="0" indent="0">
              <a:buNone/>
            </a:pPr>
            <a:r>
              <a:rPr lang="en-US" sz="850" dirty="0">
                <a:solidFill>
                  <a:srgbClr val="8899AA"/>
                </a:solidFill>
              </a:rPr>
              <a:t>SF Pro (zmienna waga), SF Compact (zegarek). Zoptymalizowana dla Retina.</a:t>
            </a:r>
            <a:endParaRPr lang="en-US" sz="850" dirty="0"/>
          </a:p>
        </p:txBody>
      </p:sp>
      <p:sp>
        <p:nvSpPr>
          <p:cNvPr id="11" name="Shape 9"/>
          <p:cNvSpPr/>
          <p:nvPr/>
        </p:nvSpPr>
        <p:spPr>
          <a:xfrm>
            <a:off x="411480" y="2743200"/>
            <a:ext cx="3886200" cy="749808"/>
          </a:xfrm>
          <a:prstGeom prst="rect">
            <a:avLst/>
          </a:prstGeom>
          <a:solidFill>
            <a:srgbClr val="0A1929"/>
          </a:solidFill>
          <a:ln w="12700">
            <a:solidFill>
              <a:srgbClr val="00D4FF"/>
            </a:solidFill>
            <a:prstDash val="solid"/>
          </a:ln>
        </p:spPr>
      </p:sp>
      <p:sp>
        <p:nvSpPr>
          <p:cNvPr id="12" name="Text 10"/>
          <p:cNvSpPr/>
          <p:nvPr/>
        </p:nvSpPr>
        <p:spPr>
          <a:xfrm>
            <a:off x="548640" y="2788920"/>
            <a:ext cx="3611880" cy="256032"/>
          </a:xfrm>
          <a:prstGeom prst="rect">
            <a:avLst/>
          </a:prstGeom>
          <a:noFill/>
          <a:ln/>
        </p:spPr>
        <p:txBody>
          <a:bodyPr wrap="square" lIns="0" tIns="0" rIns="0" bIns="0" rtlCol="0" anchor="ctr"/>
          <a:lstStyle/>
          <a:p>
            <a:pPr marL="0" indent="0">
              <a:buNone/>
            </a:pPr>
            <a:r>
              <a:rPr lang="en-US" sz="1000" b="1" dirty="0">
                <a:solidFill>
                  <a:srgbClr val="00D4FF"/>
                </a:solidFill>
              </a:rPr>
              <a:t>Android: Roboto / Noto</a:t>
            </a:r>
            <a:endParaRPr lang="en-US" sz="1000" dirty="0"/>
          </a:p>
        </p:txBody>
      </p:sp>
      <p:sp>
        <p:nvSpPr>
          <p:cNvPr id="13" name="Text 11"/>
          <p:cNvSpPr/>
          <p:nvPr/>
        </p:nvSpPr>
        <p:spPr>
          <a:xfrm>
            <a:off x="548640" y="3081528"/>
            <a:ext cx="3611880" cy="347472"/>
          </a:xfrm>
          <a:prstGeom prst="rect">
            <a:avLst/>
          </a:prstGeom>
          <a:noFill/>
          <a:ln/>
        </p:spPr>
        <p:txBody>
          <a:bodyPr wrap="square" lIns="0" tIns="0" rIns="0" bIns="0" rtlCol="0" anchor="ctr"/>
          <a:lstStyle/>
          <a:p>
            <a:pPr marL="0" indent="0">
              <a:buNone/>
            </a:pPr>
            <a:r>
              <a:rPr lang="en-US" sz="850" dirty="0">
                <a:solidFill>
                  <a:srgbClr val="8899AA"/>
                </a:solidFill>
              </a:rPr>
              <a:t>Roboto — główna czcionka Android/Chrome. Noto dla języków azjatyckich.</a:t>
            </a:r>
            <a:endParaRPr lang="en-US" sz="850" dirty="0"/>
          </a:p>
        </p:txBody>
      </p:sp>
      <p:sp>
        <p:nvSpPr>
          <p:cNvPr id="14" name="Shape 12"/>
          <p:cNvSpPr/>
          <p:nvPr/>
        </p:nvSpPr>
        <p:spPr>
          <a:xfrm>
            <a:off x="320040" y="3749040"/>
            <a:ext cx="1965960" cy="713232"/>
          </a:xfrm>
          <a:prstGeom prst="rect">
            <a:avLst/>
          </a:prstGeom>
          <a:solidFill>
            <a:srgbClr val="112233"/>
          </a:solidFill>
          <a:ln w="12700">
            <a:solidFill>
              <a:srgbClr val="FFD600"/>
            </a:solidFill>
            <a:prstDash val="solid"/>
          </a:ln>
        </p:spPr>
      </p:sp>
      <p:sp>
        <p:nvSpPr>
          <p:cNvPr id="15" name="Text 13"/>
          <p:cNvSpPr/>
          <p:nvPr/>
        </p:nvSpPr>
        <p:spPr>
          <a:xfrm>
            <a:off x="320040" y="3840480"/>
            <a:ext cx="1965960" cy="392278"/>
          </a:xfrm>
          <a:prstGeom prst="rect">
            <a:avLst/>
          </a:prstGeom>
          <a:noFill/>
          <a:ln/>
        </p:spPr>
        <p:txBody>
          <a:bodyPr wrap="square" lIns="0" tIns="0" rIns="0" bIns="0" rtlCol="0" anchor="ctr"/>
          <a:lstStyle/>
          <a:p>
            <a:pPr marL="0" indent="0" algn="ctr">
              <a:buNone/>
            </a:pPr>
            <a:r>
              <a:rPr lang="en-US" sz="2400" b="1" dirty="0">
                <a:solidFill>
                  <a:srgbClr val="FFD600"/>
                </a:solidFill>
              </a:rPr>
              <a:t>16px</a:t>
            </a:r>
            <a:endParaRPr lang="en-US" sz="2400" dirty="0"/>
          </a:p>
        </p:txBody>
      </p:sp>
      <p:sp>
        <p:nvSpPr>
          <p:cNvPr id="16" name="Text 14"/>
          <p:cNvSpPr/>
          <p:nvPr/>
        </p:nvSpPr>
        <p:spPr>
          <a:xfrm>
            <a:off x="320040" y="4176979"/>
            <a:ext cx="1965960" cy="271028"/>
          </a:xfrm>
          <a:prstGeom prst="rect">
            <a:avLst/>
          </a:prstGeom>
          <a:noFill/>
          <a:ln/>
        </p:spPr>
        <p:txBody>
          <a:bodyPr wrap="square" lIns="0" tIns="0" rIns="0" bIns="0" rtlCol="0" anchor="ctr"/>
          <a:lstStyle/>
          <a:p>
            <a:pPr marL="0" indent="0" algn="ctr">
              <a:buNone/>
            </a:pPr>
            <a:r>
              <a:rPr lang="en-US" sz="850" dirty="0">
                <a:solidFill>
                  <a:srgbClr val="8899AA"/>
                </a:solidFill>
              </a:rPr>
              <a:t>min. rozmiar tekstu</a:t>
            </a:r>
            <a:endParaRPr lang="en-US" sz="850" dirty="0"/>
          </a:p>
        </p:txBody>
      </p:sp>
      <p:sp>
        <p:nvSpPr>
          <p:cNvPr id="17" name="Shape 15"/>
          <p:cNvSpPr/>
          <p:nvPr/>
        </p:nvSpPr>
        <p:spPr>
          <a:xfrm>
            <a:off x="2423160" y="3749040"/>
            <a:ext cx="1965960" cy="713232"/>
          </a:xfrm>
          <a:prstGeom prst="rect">
            <a:avLst/>
          </a:prstGeom>
          <a:solidFill>
            <a:srgbClr val="112233"/>
          </a:solidFill>
          <a:ln w="12700">
            <a:solidFill>
              <a:srgbClr val="00D4FF"/>
            </a:solidFill>
            <a:prstDash val="solid"/>
          </a:ln>
        </p:spPr>
      </p:sp>
      <p:sp>
        <p:nvSpPr>
          <p:cNvPr id="18" name="Text 16"/>
          <p:cNvSpPr/>
          <p:nvPr/>
        </p:nvSpPr>
        <p:spPr>
          <a:xfrm>
            <a:off x="2423160" y="3840480"/>
            <a:ext cx="1965960" cy="392278"/>
          </a:xfrm>
          <a:prstGeom prst="rect">
            <a:avLst/>
          </a:prstGeom>
          <a:noFill/>
          <a:ln/>
        </p:spPr>
        <p:txBody>
          <a:bodyPr wrap="square" lIns="0" tIns="0" rIns="0" bIns="0" rtlCol="0" anchor="ctr"/>
          <a:lstStyle/>
          <a:p>
            <a:pPr marL="0" indent="0" algn="ctr">
              <a:buNone/>
            </a:pPr>
            <a:r>
              <a:rPr lang="en-US" sz="2400" b="1" dirty="0">
                <a:solidFill>
                  <a:srgbClr val="00D4FF"/>
                </a:solidFill>
              </a:rPr>
              <a:t>1.5</a:t>
            </a:r>
            <a:endParaRPr lang="en-US" sz="2400" dirty="0"/>
          </a:p>
        </p:txBody>
      </p:sp>
      <p:sp>
        <p:nvSpPr>
          <p:cNvPr id="19" name="Text 17"/>
          <p:cNvSpPr/>
          <p:nvPr/>
        </p:nvSpPr>
        <p:spPr>
          <a:xfrm>
            <a:off x="2423160" y="4176979"/>
            <a:ext cx="1965960" cy="271028"/>
          </a:xfrm>
          <a:prstGeom prst="rect">
            <a:avLst/>
          </a:prstGeom>
          <a:noFill/>
          <a:ln/>
        </p:spPr>
        <p:txBody>
          <a:bodyPr wrap="square" lIns="0" tIns="0" rIns="0" bIns="0" rtlCol="0" anchor="ctr"/>
          <a:lstStyle/>
          <a:p>
            <a:pPr marL="0" indent="0" algn="ctr">
              <a:buNone/>
            </a:pPr>
            <a:r>
              <a:rPr lang="en-US" sz="850" dirty="0">
                <a:solidFill>
                  <a:srgbClr val="8899AA"/>
                </a:solidFill>
              </a:rPr>
              <a:t>optymalna interlinia</a:t>
            </a:r>
            <a:endParaRPr lang="en-US" sz="850" dirty="0"/>
          </a:p>
        </p:txBody>
      </p:sp>
      <p:sp>
        <p:nvSpPr>
          <p:cNvPr id="20" name="Shape 18"/>
          <p:cNvSpPr/>
          <p:nvPr/>
        </p:nvSpPr>
        <p:spPr>
          <a:xfrm>
            <a:off x="4754880" y="914400"/>
            <a:ext cx="4069080" cy="3246120"/>
          </a:xfrm>
          <a:prstGeom prst="rect">
            <a:avLst/>
          </a:prstGeom>
          <a:solidFill>
            <a:srgbClr val="112233"/>
          </a:solidFill>
          <a:ln w="12700">
            <a:solidFill>
              <a:srgbClr val="1A3050"/>
            </a:solidFill>
            <a:prstDash val="solid"/>
          </a:ln>
        </p:spPr>
      </p:sp>
      <p:sp>
        <p:nvSpPr>
          <p:cNvPr id="21" name="Shape 19"/>
          <p:cNvSpPr/>
          <p:nvPr/>
        </p:nvSpPr>
        <p:spPr>
          <a:xfrm>
            <a:off x="4754880" y="914400"/>
            <a:ext cx="45720" cy="3246120"/>
          </a:xfrm>
          <a:prstGeom prst="rect">
            <a:avLst/>
          </a:prstGeom>
          <a:solidFill>
            <a:srgbClr val="FFD600"/>
          </a:solidFill>
          <a:ln w="12700">
            <a:solidFill>
              <a:srgbClr val="FFD600"/>
            </a:solidFill>
            <a:prstDash val="solid"/>
          </a:ln>
        </p:spPr>
      </p:sp>
      <p:sp>
        <p:nvSpPr>
          <p:cNvPr id="22" name="Text 20"/>
          <p:cNvSpPr/>
          <p:nvPr/>
        </p:nvSpPr>
        <p:spPr>
          <a:xfrm>
            <a:off x="4892040" y="987552"/>
            <a:ext cx="3794760" cy="274320"/>
          </a:xfrm>
          <a:prstGeom prst="rect">
            <a:avLst/>
          </a:prstGeom>
          <a:noFill/>
          <a:ln/>
        </p:spPr>
        <p:txBody>
          <a:bodyPr wrap="square" lIns="0" tIns="0" rIns="0" bIns="0" rtlCol="0" anchor="ctr"/>
          <a:lstStyle/>
          <a:p>
            <a:pPr marL="0" indent="0">
              <a:buNone/>
            </a:pPr>
            <a:r>
              <a:rPr lang="en-US" sz="1200" b="1" dirty="0">
                <a:solidFill>
                  <a:srgbClr val="FFFFFF"/>
                </a:solidFill>
              </a:rPr>
              <a:t>Cechy Dobrych Czcionek Mobilnych</a:t>
            </a:r>
            <a:endParaRPr lang="en-US" sz="1200" dirty="0"/>
          </a:p>
        </p:txBody>
      </p:sp>
      <p:sp>
        <p:nvSpPr>
          <p:cNvPr id="23" name="Shape 21"/>
          <p:cNvSpPr/>
          <p:nvPr/>
        </p:nvSpPr>
        <p:spPr>
          <a:xfrm>
            <a:off x="4892040" y="1371600"/>
            <a:ext cx="256032" cy="256032"/>
          </a:xfrm>
          <a:prstGeom prst="ellipse">
            <a:avLst/>
          </a:prstGeom>
          <a:solidFill>
            <a:srgbClr val="FFD600"/>
          </a:solidFill>
          <a:ln w="12700">
            <a:solidFill>
              <a:srgbClr val="FFD600"/>
            </a:solidFill>
            <a:prstDash val="solid"/>
          </a:ln>
        </p:spPr>
      </p:sp>
      <p:sp>
        <p:nvSpPr>
          <p:cNvPr id="24" name="Text 22"/>
          <p:cNvSpPr/>
          <p:nvPr/>
        </p:nvSpPr>
        <p:spPr>
          <a:xfrm>
            <a:off x="4892040" y="1371600"/>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1</a:t>
            </a:r>
            <a:endParaRPr lang="en-US" sz="1100" dirty="0"/>
          </a:p>
        </p:txBody>
      </p:sp>
      <p:sp>
        <p:nvSpPr>
          <p:cNvPr id="25" name="Text 23"/>
          <p:cNvSpPr/>
          <p:nvPr/>
        </p:nvSpPr>
        <p:spPr>
          <a:xfrm>
            <a:off x="5239512" y="1371600"/>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Niski Kontrast Wewnętrzny</a:t>
            </a:r>
            <a:endParaRPr lang="en-US" sz="1000" dirty="0"/>
          </a:p>
        </p:txBody>
      </p:sp>
      <p:sp>
        <p:nvSpPr>
          <p:cNvPr id="26" name="Text 24"/>
          <p:cNvSpPr/>
          <p:nvPr/>
        </p:nvSpPr>
        <p:spPr>
          <a:xfrm>
            <a:off x="5239512" y="1636776"/>
            <a:ext cx="3474720" cy="329184"/>
          </a:xfrm>
          <a:prstGeom prst="rect">
            <a:avLst/>
          </a:prstGeom>
          <a:noFill/>
          <a:ln/>
        </p:spPr>
        <p:txBody>
          <a:bodyPr wrap="square" lIns="0" tIns="0" rIns="0" bIns="0" rtlCol="0" anchor="ctr"/>
          <a:lstStyle/>
          <a:p>
            <a:pPr marL="0" indent="0">
              <a:buNone/>
            </a:pPr>
            <a:r>
              <a:rPr lang="en-US" sz="850" dirty="0">
                <a:solidFill>
                  <a:srgbClr val="8899AA"/>
                </a:solidFill>
              </a:rPr>
              <a:t>Unikaj czcionek z dużym kontrastem grubość/cieńkość. Trudne w małych rozmiarach.</a:t>
            </a:r>
            <a:endParaRPr lang="en-US" sz="850" dirty="0"/>
          </a:p>
        </p:txBody>
      </p:sp>
      <p:sp>
        <p:nvSpPr>
          <p:cNvPr id="27" name="Shape 25"/>
          <p:cNvSpPr/>
          <p:nvPr/>
        </p:nvSpPr>
        <p:spPr>
          <a:xfrm>
            <a:off x="4892040" y="2029968"/>
            <a:ext cx="256032" cy="256032"/>
          </a:xfrm>
          <a:prstGeom prst="ellipse">
            <a:avLst/>
          </a:prstGeom>
          <a:solidFill>
            <a:srgbClr val="FFD600"/>
          </a:solidFill>
          <a:ln w="12700">
            <a:solidFill>
              <a:srgbClr val="FFD600"/>
            </a:solidFill>
            <a:prstDash val="solid"/>
          </a:ln>
        </p:spPr>
      </p:sp>
      <p:sp>
        <p:nvSpPr>
          <p:cNvPr id="28" name="Text 26"/>
          <p:cNvSpPr/>
          <p:nvPr/>
        </p:nvSpPr>
        <p:spPr>
          <a:xfrm>
            <a:off x="4892040" y="2029968"/>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2</a:t>
            </a:r>
            <a:endParaRPr lang="en-US" sz="1100" dirty="0"/>
          </a:p>
        </p:txBody>
      </p:sp>
      <p:sp>
        <p:nvSpPr>
          <p:cNvPr id="29" name="Text 27"/>
          <p:cNvSpPr/>
          <p:nvPr/>
        </p:nvSpPr>
        <p:spPr>
          <a:xfrm>
            <a:off x="5239512" y="2029968"/>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Otwarta Apertura</a:t>
            </a:r>
            <a:endParaRPr lang="en-US" sz="1000" dirty="0"/>
          </a:p>
        </p:txBody>
      </p:sp>
      <p:sp>
        <p:nvSpPr>
          <p:cNvPr id="30" name="Text 28"/>
          <p:cNvSpPr/>
          <p:nvPr/>
        </p:nvSpPr>
        <p:spPr>
          <a:xfrm>
            <a:off x="5239512" y="2295144"/>
            <a:ext cx="3474720" cy="329184"/>
          </a:xfrm>
          <a:prstGeom prst="rect">
            <a:avLst/>
          </a:prstGeom>
          <a:noFill/>
          <a:ln/>
        </p:spPr>
        <p:txBody>
          <a:bodyPr wrap="square" lIns="0" tIns="0" rIns="0" bIns="0" rtlCol="0" anchor="ctr"/>
          <a:lstStyle/>
          <a:p>
            <a:pPr marL="0" indent="0">
              <a:buNone/>
            </a:pPr>
            <a:r>
              <a:rPr lang="en-US" sz="850" dirty="0">
                <a:solidFill>
                  <a:srgbClr val="8899AA"/>
                </a:solidFill>
              </a:rPr>
              <a:t>Otwarte przestrzenie w literach a, e, s poprawiają czytelność małego tekstu.</a:t>
            </a:r>
            <a:endParaRPr lang="en-US" sz="850" dirty="0"/>
          </a:p>
        </p:txBody>
      </p:sp>
      <p:sp>
        <p:nvSpPr>
          <p:cNvPr id="31" name="Shape 29"/>
          <p:cNvSpPr/>
          <p:nvPr/>
        </p:nvSpPr>
        <p:spPr>
          <a:xfrm>
            <a:off x="4892040" y="2688336"/>
            <a:ext cx="256032" cy="256032"/>
          </a:xfrm>
          <a:prstGeom prst="ellipse">
            <a:avLst/>
          </a:prstGeom>
          <a:solidFill>
            <a:srgbClr val="FFD600"/>
          </a:solidFill>
          <a:ln w="12700">
            <a:solidFill>
              <a:srgbClr val="FFD600"/>
            </a:solidFill>
            <a:prstDash val="solid"/>
          </a:ln>
        </p:spPr>
      </p:sp>
      <p:sp>
        <p:nvSpPr>
          <p:cNvPr id="32" name="Text 30"/>
          <p:cNvSpPr/>
          <p:nvPr/>
        </p:nvSpPr>
        <p:spPr>
          <a:xfrm>
            <a:off x="4892040" y="2688336"/>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3</a:t>
            </a:r>
            <a:endParaRPr lang="en-US" sz="1100" dirty="0"/>
          </a:p>
        </p:txBody>
      </p:sp>
      <p:sp>
        <p:nvSpPr>
          <p:cNvPr id="33" name="Text 31"/>
          <p:cNvSpPr/>
          <p:nvPr/>
        </p:nvSpPr>
        <p:spPr>
          <a:xfrm>
            <a:off x="5239512" y="2688336"/>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Wyraźne Różnice Liter</a:t>
            </a:r>
            <a:endParaRPr lang="en-US" sz="1000" dirty="0"/>
          </a:p>
        </p:txBody>
      </p:sp>
      <p:sp>
        <p:nvSpPr>
          <p:cNvPr id="34" name="Text 32"/>
          <p:cNvSpPr/>
          <p:nvPr/>
        </p:nvSpPr>
        <p:spPr>
          <a:xfrm>
            <a:off x="5239512" y="2953512"/>
            <a:ext cx="3474720" cy="329184"/>
          </a:xfrm>
          <a:prstGeom prst="rect">
            <a:avLst/>
          </a:prstGeom>
          <a:noFill/>
          <a:ln/>
        </p:spPr>
        <p:txBody>
          <a:bodyPr wrap="square" lIns="0" tIns="0" rIns="0" bIns="0" rtlCol="0" anchor="ctr"/>
          <a:lstStyle/>
          <a:p>
            <a:pPr marL="0" indent="0">
              <a:buNone/>
            </a:pPr>
            <a:r>
              <a:rPr lang="en-US" sz="850" dirty="0">
                <a:solidFill>
                  <a:srgbClr val="8899AA"/>
                </a:solidFill>
              </a:rPr>
              <a:t>Litery muszą być łatwo rozróżnialne: I vs l vs 1, O vs 0, m vs rn.</a:t>
            </a:r>
            <a:endParaRPr lang="en-US" sz="850" dirty="0"/>
          </a:p>
        </p:txBody>
      </p:sp>
      <p:sp>
        <p:nvSpPr>
          <p:cNvPr id="35" name="Shape 33"/>
          <p:cNvSpPr/>
          <p:nvPr/>
        </p:nvSpPr>
        <p:spPr>
          <a:xfrm>
            <a:off x="4892040" y="3346704"/>
            <a:ext cx="256032" cy="256032"/>
          </a:xfrm>
          <a:prstGeom prst="ellipse">
            <a:avLst/>
          </a:prstGeom>
          <a:solidFill>
            <a:srgbClr val="FFD600"/>
          </a:solidFill>
          <a:ln w="12700">
            <a:solidFill>
              <a:srgbClr val="FFD600"/>
            </a:solidFill>
            <a:prstDash val="solid"/>
          </a:ln>
        </p:spPr>
      </p:sp>
      <p:sp>
        <p:nvSpPr>
          <p:cNvPr id="36" name="Text 34"/>
          <p:cNvSpPr/>
          <p:nvPr/>
        </p:nvSpPr>
        <p:spPr>
          <a:xfrm>
            <a:off x="4892040" y="3346704"/>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4</a:t>
            </a:r>
            <a:endParaRPr lang="en-US" sz="1100" dirty="0"/>
          </a:p>
        </p:txBody>
      </p:sp>
      <p:sp>
        <p:nvSpPr>
          <p:cNvPr id="37" name="Text 35"/>
          <p:cNvSpPr/>
          <p:nvPr/>
        </p:nvSpPr>
        <p:spPr>
          <a:xfrm>
            <a:off x="5239512" y="3346704"/>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Duże X-Height</a:t>
            </a:r>
            <a:endParaRPr lang="en-US" sz="1000" dirty="0"/>
          </a:p>
        </p:txBody>
      </p:sp>
      <p:sp>
        <p:nvSpPr>
          <p:cNvPr id="38" name="Text 36"/>
          <p:cNvSpPr/>
          <p:nvPr/>
        </p:nvSpPr>
        <p:spPr>
          <a:xfrm>
            <a:off x="5239512" y="3611880"/>
            <a:ext cx="3474720" cy="329184"/>
          </a:xfrm>
          <a:prstGeom prst="rect">
            <a:avLst/>
          </a:prstGeom>
          <a:noFill/>
          <a:ln/>
        </p:spPr>
        <p:txBody>
          <a:bodyPr wrap="square" lIns="0" tIns="0" rIns="0" bIns="0" rtlCol="0" anchor="ctr"/>
          <a:lstStyle/>
          <a:p>
            <a:pPr marL="0" indent="0">
              <a:buNone/>
            </a:pPr>
            <a:r>
              <a:rPr lang="en-US" sz="850" dirty="0">
                <a:solidFill>
                  <a:srgbClr val="8899AA"/>
                </a:solidFill>
              </a:rPr>
              <a:t>Wysoka proporcja małych liter do wielkich = lepsza czytelność tekstu.</a:t>
            </a:r>
            <a:endParaRPr lang="en-US" sz="850" dirty="0"/>
          </a:p>
        </p:txBody>
      </p:sp>
      <p:sp>
        <p:nvSpPr>
          <p:cNvPr id="39" name="Shape 37"/>
          <p:cNvSpPr/>
          <p:nvPr/>
        </p:nvSpPr>
        <p:spPr>
          <a:xfrm>
            <a:off x="4754880" y="4224528"/>
            <a:ext cx="4069080" cy="594360"/>
          </a:xfrm>
          <a:prstGeom prst="rect">
            <a:avLst/>
          </a:prstGeom>
          <a:solidFill>
            <a:srgbClr val="0A1929"/>
          </a:solidFill>
          <a:ln w="12700">
            <a:solidFill>
              <a:srgbClr val="FF9100"/>
            </a:solidFill>
            <a:prstDash val="solid"/>
          </a:ln>
        </p:spPr>
      </p:sp>
      <p:sp>
        <p:nvSpPr>
          <p:cNvPr id="40" name="Text 38"/>
          <p:cNvSpPr/>
          <p:nvPr/>
        </p:nvSpPr>
        <p:spPr>
          <a:xfrm>
            <a:off x="4892040" y="4251960"/>
            <a:ext cx="3794760" cy="530352"/>
          </a:xfrm>
          <a:prstGeom prst="rect">
            <a:avLst/>
          </a:prstGeom>
          <a:noFill/>
          <a:ln/>
        </p:spPr>
        <p:txBody>
          <a:bodyPr wrap="square" lIns="0" tIns="0" rIns="0" bIns="0" rtlCol="0" anchor="ctr"/>
          <a:lstStyle/>
          <a:p>
            <a:pPr marL="0" indent="0">
              <a:buNone/>
            </a:pPr>
            <a:r>
              <a:rPr lang="en-US" sz="850" dirty="0">
                <a:solidFill>
                  <a:srgbClr val="FF9100"/>
                </a:solidFill>
              </a:rPr>
              <a:t>⚠ Czcionki niestandardowe: wpływają na wydajność, wymagają licencji, mogą nie renderować poprawnie. Zawsze testuj na rzeczywistych urządzeniach!</a:t>
            </a:r>
            <a:endParaRPr lang="en-US" sz="850" dirty="0"/>
          </a:p>
        </p:txBody>
      </p:sp>
      <p:sp>
        <p:nvSpPr>
          <p:cNvPr id="43" name="Text 41"/>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29 / </a:t>
            </a:r>
            <a:r>
              <a:rPr lang="pl-PL" sz="800" dirty="0" smtClean="0">
                <a:solidFill>
                  <a:srgbClr val="8899AA"/>
                </a:solidFill>
              </a:rPr>
              <a:t>46</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2A"/>
        </a:solidFill>
        <a:effectLst/>
      </p:bgPr>
    </p:bg>
    <p:spTree>
      <p:nvGrpSpPr>
        <p:cNvPr id="1" name=""/>
        <p:cNvGrpSpPr/>
        <p:nvPr/>
      </p:nvGrpSpPr>
      <p:grpSpPr>
        <a:xfrm>
          <a:off x="0" y="0"/>
          <a:ext cx="0" cy="0"/>
          <a:chOff x="0" y="0"/>
          <a:chExt cx="0" cy="0"/>
        </a:xfrm>
      </p:grpSpPr>
      <p:grpSp>
        <p:nvGrpSpPr>
          <p:cNvPr id="47" name="Grupa 46"/>
          <p:cNvGrpSpPr/>
          <p:nvPr/>
        </p:nvGrpSpPr>
        <p:grpSpPr>
          <a:xfrm>
            <a:off x="-2381" y="4884912"/>
            <a:ext cx="9146381" cy="260136"/>
            <a:chOff x="-2381" y="4884912"/>
            <a:chExt cx="9146381" cy="260136"/>
          </a:xfrm>
        </p:grpSpPr>
        <p:sp>
          <p:nvSpPr>
            <p:cNvPr id="48" name="Shape 52"/>
            <p:cNvSpPr/>
            <p:nvPr/>
          </p:nvSpPr>
          <p:spPr>
            <a:xfrm>
              <a:off x="0" y="4884912"/>
              <a:ext cx="9144000" cy="252000"/>
            </a:xfrm>
            <a:prstGeom prst="rect">
              <a:avLst/>
            </a:prstGeom>
            <a:solidFill>
              <a:srgbClr val="071523"/>
            </a:solidFill>
            <a:ln w="12700">
              <a:solidFill>
                <a:srgbClr val="071523"/>
              </a:solidFill>
              <a:prstDash val="solid"/>
            </a:ln>
          </p:spPr>
        </p:sp>
        <p:sp>
          <p:nvSpPr>
            <p:cNvPr id="49"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50" name="Grupa 49"/>
            <p:cNvGrpSpPr/>
            <p:nvPr/>
          </p:nvGrpSpPr>
          <p:grpSpPr>
            <a:xfrm>
              <a:off x="-2381" y="5099329"/>
              <a:ext cx="9146381" cy="45719"/>
              <a:chOff x="-2381" y="5107500"/>
              <a:chExt cx="9111093" cy="37548"/>
            </a:xfrm>
            <a:solidFill>
              <a:schemeClr val="tx1"/>
            </a:solidFill>
          </p:grpSpPr>
          <p:sp>
            <p:nvSpPr>
              <p:cNvPr id="51"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62"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63"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64"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65"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66"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67"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68"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69"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70"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71"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72"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73" name="Shape 52"/>
              <p:cNvSpPr/>
              <p:nvPr/>
            </p:nvSpPr>
            <p:spPr>
              <a:xfrm>
                <a:off x="4356712" y="5107500"/>
                <a:ext cx="198000" cy="36000"/>
              </a:xfrm>
              <a:prstGeom prst="rect">
                <a:avLst/>
              </a:prstGeom>
              <a:solidFill>
                <a:schemeClr val="accent5">
                  <a:lumMod val="20000"/>
                  <a:lumOff val="80000"/>
                </a:schemeClr>
              </a:solidFill>
              <a:ln w="12700">
                <a:noFill/>
                <a:prstDash val="solid"/>
              </a:ln>
            </p:spPr>
          </p:sp>
          <p:sp>
            <p:nvSpPr>
              <p:cNvPr id="74" name="Shape 52"/>
              <p:cNvSpPr/>
              <p:nvPr/>
            </p:nvSpPr>
            <p:spPr>
              <a:xfrm>
                <a:off x="4554712" y="5107500"/>
                <a:ext cx="198000" cy="36000"/>
              </a:xfrm>
              <a:prstGeom prst="rect">
                <a:avLst/>
              </a:prstGeom>
              <a:solidFill>
                <a:schemeClr val="accent5">
                  <a:lumMod val="20000"/>
                  <a:lumOff val="80000"/>
                </a:schemeClr>
              </a:solidFill>
              <a:ln w="12700">
                <a:noFill/>
                <a:prstDash val="solid"/>
              </a:ln>
            </p:spPr>
          </p:sp>
          <p:sp>
            <p:nvSpPr>
              <p:cNvPr id="75" name="Shape 52"/>
              <p:cNvSpPr/>
              <p:nvPr/>
            </p:nvSpPr>
            <p:spPr>
              <a:xfrm>
                <a:off x="4752712" y="5107500"/>
                <a:ext cx="198000" cy="36000"/>
              </a:xfrm>
              <a:prstGeom prst="rect">
                <a:avLst/>
              </a:prstGeom>
              <a:solidFill>
                <a:schemeClr val="accent5">
                  <a:lumMod val="20000"/>
                  <a:lumOff val="80000"/>
                </a:schemeClr>
              </a:solidFill>
              <a:ln w="12700">
                <a:noFill/>
                <a:prstDash val="solid"/>
              </a:ln>
            </p:spPr>
          </p:sp>
          <p:sp>
            <p:nvSpPr>
              <p:cNvPr id="76" name="Shape 52"/>
              <p:cNvSpPr/>
              <p:nvPr/>
            </p:nvSpPr>
            <p:spPr>
              <a:xfrm>
                <a:off x="4950712" y="5107500"/>
                <a:ext cx="198000" cy="36000"/>
              </a:xfrm>
              <a:prstGeom prst="rect">
                <a:avLst/>
              </a:prstGeom>
              <a:solidFill>
                <a:schemeClr val="accent5">
                  <a:lumMod val="20000"/>
                  <a:lumOff val="80000"/>
                </a:schemeClr>
              </a:solidFill>
              <a:ln w="12700">
                <a:noFill/>
                <a:prstDash val="solid"/>
              </a:ln>
            </p:spPr>
          </p:sp>
          <p:sp>
            <p:nvSpPr>
              <p:cNvPr id="77" name="Shape 52"/>
              <p:cNvSpPr/>
              <p:nvPr/>
            </p:nvSpPr>
            <p:spPr>
              <a:xfrm>
                <a:off x="5148712" y="5107500"/>
                <a:ext cx="198000" cy="36000"/>
              </a:xfrm>
              <a:prstGeom prst="rect">
                <a:avLst/>
              </a:prstGeom>
              <a:solidFill>
                <a:schemeClr val="accent5">
                  <a:lumMod val="20000"/>
                  <a:lumOff val="80000"/>
                </a:schemeClr>
              </a:solidFill>
              <a:ln w="12700">
                <a:noFill/>
                <a:prstDash val="solid"/>
              </a:ln>
            </p:spPr>
          </p:sp>
          <p:sp>
            <p:nvSpPr>
              <p:cNvPr id="78" name="Shape 52"/>
              <p:cNvSpPr/>
              <p:nvPr/>
            </p:nvSpPr>
            <p:spPr>
              <a:xfrm>
                <a:off x="5346712" y="5108400"/>
                <a:ext cx="198000" cy="36000"/>
              </a:xfrm>
              <a:prstGeom prst="rect">
                <a:avLst/>
              </a:prstGeom>
              <a:solidFill>
                <a:schemeClr val="accent5">
                  <a:lumMod val="20000"/>
                  <a:lumOff val="80000"/>
                </a:schemeClr>
              </a:solidFill>
              <a:ln w="12700">
                <a:noFill/>
                <a:prstDash val="solid"/>
              </a:ln>
            </p:spPr>
          </p:sp>
          <p:sp>
            <p:nvSpPr>
              <p:cNvPr id="79" name="Shape 52"/>
              <p:cNvSpPr/>
              <p:nvPr/>
            </p:nvSpPr>
            <p:spPr>
              <a:xfrm>
                <a:off x="5544712" y="5108400"/>
                <a:ext cx="198000" cy="36000"/>
              </a:xfrm>
              <a:prstGeom prst="rect">
                <a:avLst/>
              </a:prstGeom>
              <a:solidFill>
                <a:schemeClr val="accent5">
                  <a:lumMod val="20000"/>
                  <a:lumOff val="80000"/>
                </a:schemeClr>
              </a:solidFill>
              <a:ln w="12700">
                <a:noFill/>
                <a:prstDash val="solid"/>
              </a:ln>
            </p:spPr>
          </p:sp>
          <p:sp>
            <p:nvSpPr>
              <p:cNvPr id="80" name="Shape 52"/>
              <p:cNvSpPr/>
              <p:nvPr/>
            </p:nvSpPr>
            <p:spPr>
              <a:xfrm>
                <a:off x="5742712" y="5108400"/>
                <a:ext cx="198000" cy="36000"/>
              </a:xfrm>
              <a:prstGeom prst="rect">
                <a:avLst/>
              </a:prstGeom>
              <a:solidFill>
                <a:schemeClr val="accent5">
                  <a:lumMod val="20000"/>
                  <a:lumOff val="80000"/>
                </a:schemeClr>
              </a:solidFill>
              <a:ln w="12700">
                <a:noFill/>
                <a:prstDash val="solid"/>
              </a:ln>
            </p:spPr>
          </p:sp>
          <p:sp>
            <p:nvSpPr>
              <p:cNvPr id="81" name="Shape 52"/>
              <p:cNvSpPr/>
              <p:nvPr/>
            </p:nvSpPr>
            <p:spPr>
              <a:xfrm>
                <a:off x="5940712" y="5108400"/>
                <a:ext cx="198000" cy="36000"/>
              </a:xfrm>
              <a:prstGeom prst="rect">
                <a:avLst/>
              </a:prstGeom>
              <a:grpFill/>
              <a:ln w="12700">
                <a:noFill/>
                <a:prstDash val="solid"/>
              </a:ln>
            </p:spPr>
          </p:sp>
          <p:sp>
            <p:nvSpPr>
              <p:cNvPr id="82" name="Shape 52"/>
              <p:cNvSpPr/>
              <p:nvPr/>
            </p:nvSpPr>
            <p:spPr>
              <a:xfrm>
                <a:off x="6138712" y="5108400"/>
                <a:ext cx="198000" cy="36000"/>
              </a:xfrm>
              <a:prstGeom prst="rect">
                <a:avLst/>
              </a:prstGeom>
              <a:grpFill/>
              <a:ln w="12700">
                <a:noFill/>
                <a:prstDash val="solid"/>
              </a:ln>
            </p:spPr>
          </p:sp>
          <p:sp>
            <p:nvSpPr>
              <p:cNvPr id="83" name="Shape 52"/>
              <p:cNvSpPr/>
              <p:nvPr/>
            </p:nvSpPr>
            <p:spPr>
              <a:xfrm>
                <a:off x="6336712" y="5108400"/>
                <a:ext cx="198000" cy="36000"/>
              </a:xfrm>
              <a:prstGeom prst="rect">
                <a:avLst/>
              </a:prstGeom>
              <a:grpFill/>
              <a:ln w="12700">
                <a:noFill/>
                <a:prstDash val="solid"/>
              </a:ln>
            </p:spPr>
          </p:sp>
          <p:sp>
            <p:nvSpPr>
              <p:cNvPr id="84" name="Shape 52"/>
              <p:cNvSpPr/>
              <p:nvPr/>
            </p:nvSpPr>
            <p:spPr>
              <a:xfrm>
                <a:off x="6534712" y="5108400"/>
                <a:ext cx="198000" cy="36000"/>
              </a:xfrm>
              <a:prstGeom prst="rect">
                <a:avLst/>
              </a:prstGeom>
              <a:grpFill/>
              <a:ln w="12700">
                <a:noFill/>
                <a:prstDash val="solid"/>
              </a:ln>
            </p:spPr>
          </p:sp>
          <p:sp>
            <p:nvSpPr>
              <p:cNvPr id="85" name="Shape 52"/>
              <p:cNvSpPr/>
              <p:nvPr/>
            </p:nvSpPr>
            <p:spPr>
              <a:xfrm>
                <a:off x="6732712" y="5108400"/>
                <a:ext cx="198000" cy="36000"/>
              </a:xfrm>
              <a:prstGeom prst="rect">
                <a:avLst/>
              </a:prstGeom>
              <a:grpFill/>
              <a:ln w="12700">
                <a:noFill/>
                <a:prstDash val="solid"/>
              </a:ln>
            </p:spPr>
          </p:sp>
          <p:sp>
            <p:nvSpPr>
              <p:cNvPr id="86" name="Shape 52"/>
              <p:cNvSpPr/>
              <p:nvPr/>
            </p:nvSpPr>
            <p:spPr>
              <a:xfrm>
                <a:off x="6930712" y="5108400"/>
                <a:ext cx="198000" cy="36000"/>
              </a:xfrm>
              <a:prstGeom prst="rect">
                <a:avLst/>
              </a:prstGeom>
              <a:grpFill/>
              <a:ln w="12700">
                <a:noFill/>
                <a:prstDash val="solid"/>
              </a:ln>
            </p:spPr>
          </p:sp>
          <p:sp>
            <p:nvSpPr>
              <p:cNvPr id="87" name="Shape 52"/>
              <p:cNvSpPr/>
              <p:nvPr/>
            </p:nvSpPr>
            <p:spPr>
              <a:xfrm>
                <a:off x="7128712" y="5108400"/>
                <a:ext cx="198000" cy="36000"/>
              </a:xfrm>
              <a:prstGeom prst="rect">
                <a:avLst/>
              </a:prstGeom>
              <a:grpFill/>
              <a:ln w="12700">
                <a:noFill/>
                <a:prstDash val="solid"/>
              </a:ln>
            </p:spPr>
          </p:sp>
          <p:sp>
            <p:nvSpPr>
              <p:cNvPr id="88" name="Shape 52"/>
              <p:cNvSpPr/>
              <p:nvPr/>
            </p:nvSpPr>
            <p:spPr>
              <a:xfrm>
                <a:off x="7326712" y="5108400"/>
                <a:ext cx="198000" cy="36000"/>
              </a:xfrm>
              <a:prstGeom prst="rect">
                <a:avLst/>
              </a:prstGeom>
              <a:grpFill/>
              <a:ln w="12700">
                <a:noFill/>
                <a:prstDash val="solid"/>
              </a:ln>
            </p:spPr>
          </p:sp>
          <p:sp>
            <p:nvSpPr>
              <p:cNvPr id="89" name="Shape 52"/>
              <p:cNvSpPr/>
              <p:nvPr/>
            </p:nvSpPr>
            <p:spPr>
              <a:xfrm>
                <a:off x="7524712" y="5108400"/>
                <a:ext cx="198000" cy="36000"/>
              </a:xfrm>
              <a:prstGeom prst="rect">
                <a:avLst/>
              </a:prstGeom>
              <a:grpFill/>
              <a:ln w="12700">
                <a:noFill/>
                <a:prstDash val="solid"/>
              </a:ln>
            </p:spPr>
          </p:sp>
          <p:sp>
            <p:nvSpPr>
              <p:cNvPr id="90" name="Shape 52"/>
              <p:cNvSpPr/>
              <p:nvPr/>
            </p:nvSpPr>
            <p:spPr>
              <a:xfrm>
                <a:off x="7722712" y="5108400"/>
                <a:ext cx="198000" cy="36000"/>
              </a:xfrm>
              <a:prstGeom prst="rect">
                <a:avLst/>
              </a:prstGeom>
              <a:grpFill/>
              <a:ln w="12700">
                <a:noFill/>
                <a:prstDash val="solid"/>
              </a:ln>
            </p:spPr>
          </p:sp>
          <p:sp>
            <p:nvSpPr>
              <p:cNvPr id="91" name="Shape 52"/>
              <p:cNvSpPr/>
              <p:nvPr/>
            </p:nvSpPr>
            <p:spPr>
              <a:xfrm>
                <a:off x="7920712" y="5109048"/>
                <a:ext cx="198000" cy="36000"/>
              </a:xfrm>
              <a:prstGeom prst="rect">
                <a:avLst/>
              </a:prstGeom>
              <a:grpFill/>
              <a:ln w="12700">
                <a:noFill/>
                <a:prstDash val="solid"/>
              </a:ln>
            </p:spPr>
          </p:sp>
          <p:sp>
            <p:nvSpPr>
              <p:cNvPr id="92" name="Shape 52"/>
              <p:cNvSpPr/>
              <p:nvPr/>
            </p:nvSpPr>
            <p:spPr>
              <a:xfrm>
                <a:off x="8118712" y="5109048"/>
                <a:ext cx="198000" cy="36000"/>
              </a:xfrm>
              <a:prstGeom prst="rect">
                <a:avLst/>
              </a:prstGeom>
              <a:grpFill/>
              <a:ln w="12700">
                <a:noFill/>
                <a:prstDash val="solid"/>
              </a:ln>
            </p:spPr>
          </p:sp>
          <p:sp>
            <p:nvSpPr>
              <p:cNvPr id="93" name="Shape 52"/>
              <p:cNvSpPr/>
              <p:nvPr/>
            </p:nvSpPr>
            <p:spPr>
              <a:xfrm>
                <a:off x="8316712" y="5109048"/>
                <a:ext cx="198000" cy="36000"/>
              </a:xfrm>
              <a:prstGeom prst="rect">
                <a:avLst/>
              </a:prstGeom>
              <a:grpFill/>
              <a:ln w="12700">
                <a:noFill/>
                <a:prstDash val="solid"/>
              </a:ln>
            </p:spPr>
          </p:sp>
          <p:sp>
            <p:nvSpPr>
              <p:cNvPr id="94" name="Shape 52"/>
              <p:cNvSpPr/>
              <p:nvPr/>
            </p:nvSpPr>
            <p:spPr>
              <a:xfrm>
                <a:off x="8514712" y="5109048"/>
                <a:ext cx="198000" cy="36000"/>
              </a:xfrm>
              <a:prstGeom prst="rect">
                <a:avLst/>
              </a:prstGeom>
              <a:grpFill/>
              <a:ln w="12700">
                <a:noFill/>
                <a:prstDash val="solid"/>
              </a:ln>
            </p:spPr>
          </p:sp>
          <p:sp>
            <p:nvSpPr>
              <p:cNvPr id="95" name="Shape 52"/>
              <p:cNvSpPr/>
              <p:nvPr/>
            </p:nvSpPr>
            <p:spPr>
              <a:xfrm>
                <a:off x="8712712" y="5109048"/>
                <a:ext cx="198000" cy="36000"/>
              </a:xfrm>
              <a:prstGeom prst="rect">
                <a:avLst/>
              </a:prstGeom>
              <a:grpFill/>
              <a:ln w="12700">
                <a:noFill/>
                <a:prstDash val="solid"/>
              </a:ln>
            </p:spPr>
          </p:sp>
          <p:sp>
            <p:nvSpPr>
              <p:cNvPr id="96"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FFD600"/>
          </a:solidFill>
          <a:ln w="12700">
            <a:solidFill>
              <a:srgbClr val="FFD600"/>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Hierarchia Typograficzna i Dostępność</a:t>
            </a:r>
            <a:endParaRPr lang="en-US" sz="2200" dirty="0"/>
          </a:p>
        </p:txBody>
      </p:sp>
      <p:sp>
        <p:nvSpPr>
          <p:cNvPr id="4" name="Shape 2"/>
          <p:cNvSpPr/>
          <p:nvPr/>
        </p:nvSpPr>
        <p:spPr>
          <a:xfrm>
            <a:off x="320040" y="914400"/>
            <a:ext cx="4069080" cy="2487168"/>
          </a:xfrm>
          <a:prstGeom prst="rect">
            <a:avLst/>
          </a:prstGeom>
          <a:solidFill>
            <a:srgbClr val="112233"/>
          </a:solidFill>
          <a:ln w="12700">
            <a:solidFill>
              <a:srgbClr val="1A3050"/>
            </a:solidFill>
            <a:prstDash val="solid"/>
          </a:ln>
        </p:spPr>
      </p:sp>
      <p:sp>
        <p:nvSpPr>
          <p:cNvPr id="5" name="Shape 3"/>
          <p:cNvSpPr/>
          <p:nvPr/>
        </p:nvSpPr>
        <p:spPr>
          <a:xfrm>
            <a:off x="320040" y="914400"/>
            <a:ext cx="45720" cy="2487168"/>
          </a:xfrm>
          <a:prstGeom prst="rect">
            <a:avLst/>
          </a:prstGeom>
          <a:solidFill>
            <a:srgbClr val="FFD600"/>
          </a:solidFill>
          <a:ln w="12700">
            <a:solidFill>
              <a:srgbClr val="FFD600"/>
            </a:solidFill>
            <a:prstDash val="solid"/>
          </a:ln>
        </p:spPr>
      </p:sp>
      <p:sp>
        <p:nvSpPr>
          <p:cNvPr id="6" name="Text 4"/>
          <p:cNvSpPr/>
          <p:nvPr/>
        </p:nvSpPr>
        <p:spPr>
          <a:xfrm>
            <a:off x="457200" y="987552"/>
            <a:ext cx="3794760" cy="256032"/>
          </a:xfrm>
          <a:prstGeom prst="rect">
            <a:avLst/>
          </a:prstGeom>
          <a:noFill/>
          <a:ln/>
        </p:spPr>
        <p:txBody>
          <a:bodyPr wrap="square" lIns="0" tIns="0" rIns="0" bIns="0" rtlCol="0" anchor="ctr"/>
          <a:lstStyle/>
          <a:p>
            <a:pPr marL="0" indent="0">
              <a:buNone/>
            </a:pPr>
            <a:r>
              <a:rPr lang="en-US" sz="1100" b="1" dirty="0">
                <a:solidFill>
                  <a:srgbClr val="FFFFFF"/>
                </a:solidFill>
              </a:rPr>
              <a:t>Typowa Skala Mobilna</a:t>
            </a:r>
            <a:endParaRPr lang="en-US" sz="1100" dirty="0"/>
          </a:p>
        </p:txBody>
      </p:sp>
      <p:sp>
        <p:nvSpPr>
          <p:cNvPr id="7" name="Text 5"/>
          <p:cNvSpPr/>
          <p:nvPr/>
        </p:nvSpPr>
        <p:spPr>
          <a:xfrm>
            <a:off x="457200" y="1316736"/>
            <a:ext cx="2926080" cy="347472"/>
          </a:xfrm>
          <a:prstGeom prst="rect">
            <a:avLst/>
          </a:prstGeom>
          <a:noFill/>
          <a:ln/>
        </p:spPr>
        <p:txBody>
          <a:bodyPr wrap="square" lIns="0" tIns="0" rIns="0" bIns="0" rtlCol="0" anchor="ctr"/>
          <a:lstStyle/>
          <a:p>
            <a:pPr marL="0" indent="0">
              <a:buNone/>
            </a:pPr>
            <a:r>
              <a:rPr lang="en-US" sz="1400" b="1" dirty="0">
                <a:solidFill>
                  <a:srgbClr val="FFD600"/>
                </a:solidFill>
              </a:rPr>
              <a:t>H1 — Tytuł ekranu</a:t>
            </a:r>
            <a:endParaRPr lang="en-US" sz="1400" dirty="0"/>
          </a:p>
        </p:txBody>
      </p:sp>
      <p:sp>
        <p:nvSpPr>
          <p:cNvPr id="8" name="Text 6"/>
          <p:cNvSpPr/>
          <p:nvPr/>
        </p:nvSpPr>
        <p:spPr>
          <a:xfrm>
            <a:off x="3474720" y="1316736"/>
            <a:ext cx="777240" cy="347472"/>
          </a:xfrm>
          <a:prstGeom prst="rect">
            <a:avLst/>
          </a:prstGeom>
          <a:noFill/>
          <a:ln/>
        </p:spPr>
        <p:txBody>
          <a:bodyPr wrap="square" lIns="0" tIns="0" rIns="0" bIns="0" rtlCol="0" anchor="ctr"/>
          <a:lstStyle/>
          <a:p>
            <a:pPr marL="0" indent="0" algn="r">
              <a:buNone/>
            </a:pPr>
            <a:r>
              <a:rPr lang="en-US" sz="900" dirty="0">
                <a:solidFill>
                  <a:srgbClr val="8899AA"/>
                </a:solidFill>
              </a:rPr>
              <a:t>32px</a:t>
            </a:r>
            <a:endParaRPr lang="en-US" sz="900" dirty="0"/>
          </a:p>
        </p:txBody>
      </p:sp>
      <p:sp>
        <p:nvSpPr>
          <p:cNvPr id="9" name="Text 7"/>
          <p:cNvSpPr/>
          <p:nvPr/>
        </p:nvSpPr>
        <p:spPr>
          <a:xfrm>
            <a:off x="457200" y="1719072"/>
            <a:ext cx="2926080" cy="347472"/>
          </a:xfrm>
          <a:prstGeom prst="rect">
            <a:avLst/>
          </a:prstGeom>
          <a:noFill/>
          <a:ln/>
        </p:spPr>
        <p:txBody>
          <a:bodyPr wrap="square" lIns="0" tIns="0" rIns="0" bIns="0" rtlCol="0" anchor="ctr"/>
          <a:lstStyle/>
          <a:p>
            <a:pPr marL="0" indent="0">
              <a:buNone/>
            </a:pPr>
            <a:r>
              <a:rPr lang="en-US" sz="1250" b="1" dirty="0">
                <a:solidFill>
                  <a:srgbClr val="00D4FF"/>
                </a:solidFill>
              </a:rPr>
              <a:t>H2 — Sekcja</a:t>
            </a:r>
            <a:endParaRPr lang="en-US" sz="1250" dirty="0"/>
          </a:p>
        </p:txBody>
      </p:sp>
      <p:sp>
        <p:nvSpPr>
          <p:cNvPr id="10" name="Text 8"/>
          <p:cNvSpPr/>
          <p:nvPr/>
        </p:nvSpPr>
        <p:spPr>
          <a:xfrm>
            <a:off x="3474720" y="1719072"/>
            <a:ext cx="777240" cy="347472"/>
          </a:xfrm>
          <a:prstGeom prst="rect">
            <a:avLst/>
          </a:prstGeom>
          <a:noFill/>
          <a:ln/>
        </p:spPr>
        <p:txBody>
          <a:bodyPr wrap="square" lIns="0" tIns="0" rIns="0" bIns="0" rtlCol="0" anchor="ctr"/>
          <a:lstStyle/>
          <a:p>
            <a:pPr marL="0" indent="0" algn="r">
              <a:buNone/>
            </a:pPr>
            <a:r>
              <a:rPr lang="en-US" sz="900" dirty="0">
                <a:solidFill>
                  <a:srgbClr val="8899AA"/>
                </a:solidFill>
              </a:rPr>
              <a:t>24px</a:t>
            </a:r>
            <a:endParaRPr lang="en-US" sz="900" dirty="0"/>
          </a:p>
        </p:txBody>
      </p:sp>
      <p:sp>
        <p:nvSpPr>
          <p:cNvPr id="11" name="Text 9"/>
          <p:cNvSpPr/>
          <p:nvPr/>
        </p:nvSpPr>
        <p:spPr>
          <a:xfrm>
            <a:off x="457200" y="2121408"/>
            <a:ext cx="2926080" cy="347472"/>
          </a:xfrm>
          <a:prstGeom prst="rect">
            <a:avLst/>
          </a:prstGeom>
          <a:noFill/>
          <a:ln/>
        </p:spPr>
        <p:txBody>
          <a:bodyPr wrap="square" lIns="0" tIns="0" rIns="0" bIns="0" rtlCol="0" anchor="ctr"/>
          <a:lstStyle/>
          <a:p>
            <a:pPr marL="0" indent="0">
              <a:buNone/>
            </a:pPr>
            <a:r>
              <a:rPr lang="en-US" sz="1100" b="1" dirty="0">
                <a:solidFill>
                  <a:srgbClr val="FF2D78"/>
                </a:solidFill>
              </a:rPr>
              <a:t>H3 — Podsekcja</a:t>
            </a:r>
            <a:endParaRPr lang="en-US" sz="1100" dirty="0"/>
          </a:p>
        </p:txBody>
      </p:sp>
      <p:sp>
        <p:nvSpPr>
          <p:cNvPr id="12" name="Text 10"/>
          <p:cNvSpPr/>
          <p:nvPr/>
        </p:nvSpPr>
        <p:spPr>
          <a:xfrm>
            <a:off x="3474720" y="2121408"/>
            <a:ext cx="777240" cy="347472"/>
          </a:xfrm>
          <a:prstGeom prst="rect">
            <a:avLst/>
          </a:prstGeom>
          <a:noFill/>
          <a:ln/>
        </p:spPr>
        <p:txBody>
          <a:bodyPr wrap="square" lIns="0" tIns="0" rIns="0" bIns="0" rtlCol="0" anchor="ctr"/>
          <a:lstStyle/>
          <a:p>
            <a:pPr marL="0" indent="0" algn="r">
              <a:buNone/>
            </a:pPr>
            <a:r>
              <a:rPr lang="en-US" sz="900" dirty="0">
                <a:solidFill>
                  <a:srgbClr val="8899AA"/>
                </a:solidFill>
              </a:rPr>
              <a:t>20px</a:t>
            </a:r>
            <a:endParaRPr lang="en-US" sz="900" dirty="0"/>
          </a:p>
        </p:txBody>
      </p:sp>
      <p:sp>
        <p:nvSpPr>
          <p:cNvPr id="13" name="Text 11"/>
          <p:cNvSpPr/>
          <p:nvPr/>
        </p:nvSpPr>
        <p:spPr>
          <a:xfrm>
            <a:off x="457200" y="2523744"/>
            <a:ext cx="2926080" cy="347472"/>
          </a:xfrm>
          <a:prstGeom prst="rect">
            <a:avLst/>
          </a:prstGeom>
          <a:noFill/>
          <a:ln/>
        </p:spPr>
        <p:txBody>
          <a:bodyPr wrap="square" lIns="0" tIns="0" rIns="0" bIns="0" rtlCol="0" anchor="ctr"/>
          <a:lstStyle/>
          <a:p>
            <a:pPr marL="0" indent="0">
              <a:buNone/>
            </a:pPr>
            <a:r>
              <a:rPr lang="en-US" sz="950" dirty="0">
                <a:solidFill>
                  <a:srgbClr val="FFFFFF"/>
                </a:solidFill>
              </a:rPr>
              <a:t>Body — Treść</a:t>
            </a:r>
            <a:endParaRPr lang="en-US" sz="950" dirty="0"/>
          </a:p>
        </p:txBody>
      </p:sp>
      <p:sp>
        <p:nvSpPr>
          <p:cNvPr id="14" name="Text 12"/>
          <p:cNvSpPr/>
          <p:nvPr/>
        </p:nvSpPr>
        <p:spPr>
          <a:xfrm>
            <a:off x="3474720" y="2523744"/>
            <a:ext cx="777240" cy="347472"/>
          </a:xfrm>
          <a:prstGeom prst="rect">
            <a:avLst/>
          </a:prstGeom>
          <a:noFill/>
          <a:ln/>
        </p:spPr>
        <p:txBody>
          <a:bodyPr wrap="square" lIns="0" tIns="0" rIns="0" bIns="0" rtlCol="0" anchor="ctr"/>
          <a:lstStyle/>
          <a:p>
            <a:pPr marL="0" indent="0" algn="r">
              <a:buNone/>
            </a:pPr>
            <a:r>
              <a:rPr lang="en-US" sz="900" dirty="0">
                <a:solidFill>
                  <a:srgbClr val="8899AA"/>
                </a:solidFill>
              </a:rPr>
              <a:t>16px</a:t>
            </a:r>
            <a:endParaRPr lang="en-US" sz="900" dirty="0"/>
          </a:p>
        </p:txBody>
      </p:sp>
      <p:sp>
        <p:nvSpPr>
          <p:cNvPr id="15" name="Text 13"/>
          <p:cNvSpPr/>
          <p:nvPr/>
        </p:nvSpPr>
        <p:spPr>
          <a:xfrm>
            <a:off x="457200" y="2926080"/>
            <a:ext cx="2926080" cy="347472"/>
          </a:xfrm>
          <a:prstGeom prst="rect">
            <a:avLst/>
          </a:prstGeom>
          <a:noFill/>
          <a:ln/>
        </p:spPr>
        <p:txBody>
          <a:bodyPr wrap="square" lIns="0" tIns="0" rIns="0" bIns="0" rtlCol="0" anchor="ctr"/>
          <a:lstStyle/>
          <a:p>
            <a:pPr marL="0" indent="0">
              <a:buNone/>
            </a:pPr>
            <a:r>
              <a:rPr lang="en-US" sz="800" dirty="0">
                <a:solidFill>
                  <a:srgbClr val="8899AA"/>
                </a:solidFill>
              </a:rPr>
              <a:t>Caption / Label</a:t>
            </a:r>
            <a:endParaRPr lang="en-US" sz="800" dirty="0"/>
          </a:p>
        </p:txBody>
      </p:sp>
      <p:sp>
        <p:nvSpPr>
          <p:cNvPr id="16" name="Text 14"/>
          <p:cNvSpPr/>
          <p:nvPr/>
        </p:nvSpPr>
        <p:spPr>
          <a:xfrm>
            <a:off x="3474720" y="2926080"/>
            <a:ext cx="777240" cy="347472"/>
          </a:xfrm>
          <a:prstGeom prst="rect">
            <a:avLst/>
          </a:prstGeom>
          <a:noFill/>
          <a:ln/>
        </p:spPr>
        <p:txBody>
          <a:bodyPr wrap="square" lIns="0" tIns="0" rIns="0" bIns="0" rtlCol="0" anchor="ctr"/>
          <a:lstStyle/>
          <a:p>
            <a:pPr marL="0" indent="0" algn="r">
              <a:buNone/>
            </a:pPr>
            <a:r>
              <a:rPr lang="en-US" sz="900" dirty="0">
                <a:solidFill>
                  <a:srgbClr val="8899AA"/>
                </a:solidFill>
              </a:rPr>
              <a:t>12–14px</a:t>
            </a:r>
            <a:endParaRPr lang="en-US" sz="900" dirty="0"/>
          </a:p>
        </p:txBody>
      </p:sp>
      <p:sp>
        <p:nvSpPr>
          <p:cNvPr id="17" name="Shape 15"/>
          <p:cNvSpPr/>
          <p:nvPr/>
        </p:nvSpPr>
        <p:spPr>
          <a:xfrm>
            <a:off x="320040" y="3493008"/>
            <a:ext cx="4069080" cy="1325880"/>
          </a:xfrm>
          <a:prstGeom prst="rect">
            <a:avLst/>
          </a:prstGeom>
          <a:solidFill>
            <a:srgbClr val="112233"/>
          </a:solidFill>
          <a:ln w="12700">
            <a:solidFill>
              <a:srgbClr val="1A3050"/>
            </a:solidFill>
            <a:prstDash val="solid"/>
          </a:ln>
        </p:spPr>
      </p:sp>
      <p:sp>
        <p:nvSpPr>
          <p:cNvPr id="18" name="Shape 16"/>
          <p:cNvSpPr/>
          <p:nvPr/>
        </p:nvSpPr>
        <p:spPr>
          <a:xfrm>
            <a:off x="320040" y="3493008"/>
            <a:ext cx="45720" cy="1325880"/>
          </a:xfrm>
          <a:prstGeom prst="rect">
            <a:avLst/>
          </a:prstGeom>
          <a:solidFill>
            <a:srgbClr val="00D4FF"/>
          </a:solidFill>
          <a:ln w="12700">
            <a:solidFill>
              <a:srgbClr val="00D4FF"/>
            </a:solidFill>
            <a:prstDash val="solid"/>
          </a:ln>
        </p:spPr>
      </p:sp>
      <p:sp>
        <p:nvSpPr>
          <p:cNvPr id="19" name="Text 17"/>
          <p:cNvSpPr/>
          <p:nvPr/>
        </p:nvSpPr>
        <p:spPr>
          <a:xfrm>
            <a:off x="457200" y="3547872"/>
            <a:ext cx="3794760" cy="256032"/>
          </a:xfrm>
          <a:prstGeom prst="rect">
            <a:avLst/>
          </a:prstGeom>
          <a:noFill/>
          <a:ln/>
        </p:spPr>
        <p:txBody>
          <a:bodyPr wrap="square" lIns="0" tIns="0" rIns="0" bIns="0" rtlCol="0" anchor="ctr"/>
          <a:lstStyle/>
          <a:p>
            <a:pPr marL="0" indent="0">
              <a:buNone/>
            </a:pPr>
            <a:r>
              <a:rPr lang="en-US" sz="1100" b="1" dirty="0">
                <a:solidFill>
                  <a:srgbClr val="FFFFFF"/>
                </a:solidFill>
              </a:rPr>
              <a:t>Dostępność Typograficzna</a:t>
            </a:r>
            <a:endParaRPr lang="en-US" sz="1100" dirty="0"/>
          </a:p>
        </p:txBody>
      </p:sp>
      <p:sp>
        <p:nvSpPr>
          <p:cNvPr id="20" name="Text 18"/>
          <p:cNvSpPr/>
          <p:nvPr/>
        </p:nvSpPr>
        <p:spPr>
          <a:xfrm>
            <a:off x="457200" y="3840480"/>
            <a:ext cx="3794760" cy="237744"/>
          </a:xfrm>
          <a:prstGeom prst="rect">
            <a:avLst/>
          </a:prstGeom>
          <a:noFill/>
          <a:ln/>
        </p:spPr>
        <p:txBody>
          <a:bodyPr wrap="square" lIns="0" tIns="0" rIns="0" bIns="0" rtlCol="0" anchor="ctr"/>
          <a:lstStyle/>
          <a:p>
            <a:pPr marL="0" indent="0">
              <a:buNone/>
            </a:pPr>
            <a:r>
              <a:rPr lang="en-US" sz="850" dirty="0">
                <a:solidFill>
                  <a:srgbClr val="8899AA"/>
                </a:solidFill>
              </a:rPr>
              <a:t>• iOS Dynamic Type / Android Scalable Text — skalowanie do 200%</a:t>
            </a:r>
            <a:endParaRPr lang="en-US" sz="850" dirty="0"/>
          </a:p>
        </p:txBody>
      </p:sp>
      <p:sp>
        <p:nvSpPr>
          <p:cNvPr id="21" name="Text 19"/>
          <p:cNvSpPr/>
          <p:nvPr/>
        </p:nvSpPr>
        <p:spPr>
          <a:xfrm>
            <a:off x="457200" y="4114800"/>
            <a:ext cx="3794760" cy="237744"/>
          </a:xfrm>
          <a:prstGeom prst="rect">
            <a:avLst/>
          </a:prstGeom>
          <a:noFill/>
          <a:ln/>
        </p:spPr>
        <p:txBody>
          <a:bodyPr wrap="square" lIns="0" tIns="0" rIns="0" bIns="0" rtlCol="0" anchor="ctr"/>
          <a:lstStyle/>
          <a:p>
            <a:pPr marL="0" indent="0">
              <a:buNone/>
            </a:pPr>
            <a:r>
              <a:rPr lang="en-US" sz="850" dirty="0">
                <a:solidFill>
                  <a:srgbClr val="8899AA"/>
                </a:solidFill>
              </a:rPr>
              <a:t>• Wsparcie dla Bold Text (ustawienie systemowe)</a:t>
            </a:r>
            <a:endParaRPr lang="en-US" sz="850" dirty="0"/>
          </a:p>
        </p:txBody>
      </p:sp>
      <p:sp>
        <p:nvSpPr>
          <p:cNvPr id="22" name="Text 20"/>
          <p:cNvSpPr/>
          <p:nvPr/>
        </p:nvSpPr>
        <p:spPr>
          <a:xfrm>
            <a:off x="457200" y="4389120"/>
            <a:ext cx="3794760" cy="237744"/>
          </a:xfrm>
          <a:prstGeom prst="rect">
            <a:avLst/>
          </a:prstGeom>
          <a:noFill/>
          <a:ln/>
        </p:spPr>
        <p:txBody>
          <a:bodyPr wrap="square" lIns="0" tIns="0" rIns="0" bIns="0" rtlCol="0" anchor="ctr"/>
          <a:lstStyle/>
          <a:p>
            <a:pPr marL="0" indent="0">
              <a:buNone/>
            </a:pPr>
            <a:r>
              <a:rPr lang="en-US" sz="850" dirty="0">
                <a:solidFill>
                  <a:srgbClr val="8899AA"/>
                </a:solidFill>
              </a:rPr>
              <a:t>• Unikanie justowania tekstu — left-align = najłatwiejszy odczyt</a:t>
            </a:r>
            <a:endParaRPr lang="en-US" sz="850" dirty="0"/>
          </a:p>
        </p:txBody>
      </p:sp>
      <p:sp>
        <p:nvSpPr>
          <p:cNvPr id="23" name="Shape 21"/>
          <p:cNvSpPr/>
          <p:nvPr/>
        </p:nvSpPr>
        <p:spPr>
          <a:xfrm>
            <a:off x="4754880" y="914400"/>
            <a:ext cx="4069080" cy="3246120"/>
          </a:xfrm>
          <a:prstGeom prst="rect">
            <a:avLst/>
          </a:prstGeom>
          <a:solidFill>
            <a:srgbClr val="112233"/>
          </a:solidFill>
          <a:ln w="12700">
            <a:solidFill>
              <a:srgbClr val="1A3050"/>
            </a:solidFill>
            <a:prstDash val="solid"/>
          </a:ln>
        </p:spPr>
      </p:sp>
      <p:sp>
        <p:nvSpPr>
          <p:cNvPr id="24" name="Shape 22"/>
          <p:cNvSpPr/>
          <p:nvPr/>
        </p:nvSpPr>
        <p:spPr>
          <a:xfrm>
            <a:off x="4754880" y="914400"/>
            <a:ext cx="45720" cy="3246120"/>
          </a:xfrm>
          <a:prstGeom prst="rect">
            <a:avLst/>
          </a:prstGeom>
          <a:solidFill>
            <a:srgbClr val="FFD600"/>
          </a:solidFill>
          <a:ln w="12700">
            <a:solidFill>
              <a:srgbClr val="FFD600"/>
            </a:solidFill>
            <a:prstDash val="solid"/>
          </a:ln>
        </p:spPr>
      </p:sp>
      <p:sp>
        <p:nvSpPr>
          <p:cNvPr id="25" name="Text 23"/>
          <p:cNvSpPr/>
          <p:nvPr/>
        </p:nvSpPr>
        <p:spPr>
          <a:xfrm>
            <a:off x="4892040" y="987552"/>
            <a:ext cx="3794760" cy="274320"/>
          </a:xfrm>
          <a:prstGeom prst="rect">
            <a:avLst/>
          </a:prstGeom>
          <a:noFill/>
          <a:ln/>
        </p:spPr>
        <p:txBody>
          <a:bodyPr wrap="square" lIns="0" tIns="0" rIns="0" bIns="0" rtlCol="0" anchor="ctr"/>
          <a:lstStyle/>
          <a:p>
            <a:pPr marL="0" indent="0">
              <a:buNone/>
            </a:pPr>
            <a:r>
              <a:rPr lang="en-US" sz="1200" b="1" dirty="0">
                <a:solidFill>
                  <a:srgbClr val="FFFFFF"/>
                </a:solidFill>
              </a:rPr>
              <a:t>Kluczowe Wytyczne</a:t>
            </a:r>
            <a:endParaRPr lang="en-US" sz="1200" dirty="0"/>
          </a:p>
        </p:txBody>
      </p:sp>
      <p:sp>
        <p:nvSpPr>
          <p:cNvPr id="26" name="Shape 24"/>
          <p:cNvSpPr/>
          <p:nvPr/>
        </p:nvSpPr>
        <p:spPr>
          <a:xfrm>
            <a:off x="4892040" y="1371600"/>
            <a:ext cx="256032" cy="256032"/>
          </a:xfrm>
          <a:prstGeom prst="ellipse">
            <a:avLst/>
          </a:prstGeom>
          <a:solidFill>
            <a:srgbClr val="FFD600"/>
          </a:solidFill>
          <a:ln w="12700">
            <a:solidFill>
              <a:srgbClr val="FFD600"/>
            </a:solidFill>
            <a:prstDash val="solid"/>
          </a:ln>
        </p:spPr>
      </p:sp>
      <p:sp>
        <p:nvSpPr>
          <p:cNvPr id="27" name="Text 25"/>
          <p:cNvSpPr/>
          <p:nvPr/>
        </p:nvSpPr>
        <p:spPr>
          <a:xfrm>
            <a:off x="4892040" y="1371600"/>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1</a:t>
            </a:r>
            <a:endParaRPr lang="en-US" sz="1100" dirty="0"/>
          </a:p>
        </p:txBody>
      </p:sp>
      <p:sp>
        <p:nvSpPr>
          <p:cNvPr id="28" name="Text 26"/>
          <p:cNvSpPr/>
          <p:nvPr/>
        </p:nvSpPr>
        <p:spPr>
          <a:xfrm>
            <a:off x="5239512" y="1371600"/>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Jednostki Względne</a:t>
            </a:r>
            <a:endParaRPr lang="en-US" sz="1000" dirty="0"/>
          </a:p>
        </p:txBody>
      </p:sp>
      <p:sp>
        <p:nvSpPr>
          <p:cNvPr id="29" name="Text 27"/>
          <p:cNvSpPr/>
          <p:nvPr/>
        </p:nvSpPr>
        <p:spPr>
          <a:xfrm>
            <a:off x="5239512" y="1636776"/>
            <a:ext cx="3474720" cy="329184"/>
          </a:xfrm>
          <a:prstGeom prst="rect">
            <a:avLst/>
          </a:prstGeom>
          <a:noFill/>
          <a:ln/>
        </p:spPr>
        <p:txBody>
          <a:bodyPr wrap="square" lIns="0" tIns="0" rIns="0" bIns="0" rtlCol="0" anchor="ctr"/>
          <a:lstStyle/>
          <a:p>
            <a:pPr marL="0" indent="0">
              <a:buNone/>
            </a:pPr>
            <a:r>
              <a:rPr lang="en-US" sz="850" dirty="0">
                <a:solidFill>
                  <a:srgbClr val="8899AA"/>
                </a:solidFill>
              </a:rPr>
              <a:t>Używaj sp (Android) i Dynamic Type (iOS) zamiast stałych px. Pozwala na responsywność.</a:t>
            </a:r>
            <a:endParaRPr lang="en-US" sz="850" dirty="0"/>
          </a:p>
        </p:txBody>
      </p:sp>
      <p:sp>
        <p:nvSpPr>
          <p:cNvPr id="30" name="Shape 28"/>
          <p:cNvSpPr/>
          <p:nvPr/>
        </p:nvSpPr>
        <p:spPr>
          <a:xfrm>
            <a:off x="4892040" y="2029968"/>
            <a:ext cx="256032" cy="256032"/>
          </a:xfrm>
          <a:prstGeom prst="ellipse">
            <a:avLst/>
          </a:prstGeom>
          <a:solidFill>
            <a:srgbClr val="FFD600"/>
          </a:solidFill>
          <a:ln w="12700">
            <a:solidFill>
              <a:srgbClr val="FFD600"/>
            </a:solidFill>
            <a:prstDash val="solid"/>
          </a:ln>
        </p:spPr>
      </p:sp>
      <p:sp>
        <p:nvSpPr>
          <p:cNvPr id="31" name="Text 29"/>
          <p:cNvSpPr/>
          <p:nvPr/>
        </p:nvSpPr>
        <p:spPr>
          <a:xfrm>
            <a:off x="4892040" y="2029968"/>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2</a:t>
            </a:r>
            <a:endParaRPr lang="en-US" sz="1100" dirty="0"/>
          </a:p>
        </p:txBody>
      </p:sp>
      <p:sp>
        <p:nvSpPr>
          <p:cNvPr id="32" name="Text 30"/>
          <p:cNvSpPr/>
          <p:nvPr/>
        </p:nvSpPr>
        <p:spPr>
          <a:xfrm>
            <a:off x="5239512" y="2029968"/>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Optymalna Długość Wiersza</a:t>
            </a:r>
            <a:endParaRPr lang="en-US" sz="1000" dirty="0"/>
          </a:p>
        </p:txBody>
      </p:sp>
      <p:sp>
        <p:nvSpPr>
          <p:cNvPr id="33" name="Text 31"/>
          <p:cNvSpPr/>
          <p:nvPr/>
        </p:nvSpPr>
        <p:spPr>
          <a:xfrm>
            <a:off x="5239512" y="2295144"/>
            <a:ext cx="3474720" cy="329184"/>
          </a:xfrm>
          <a:prstGeom prst="rect">
            <a:avLst/>
          </a:prstGeom>
          <a:noFill/>
          <a:ln/>
        </p:spPr>
        <p:txBody>
          <a:bodyPr wrap="square" lIns="0" tIns="0" rIns="0" bIns="0" rtlCol="0" anchor="ctr"/>
          <a:lstStyle/>
          <a:p>
            <a:pPr marL="0" indent="0">
              <a:buNone/>
            </a:pPr>
            <a:r>
              <a:rPr lang="en-US" sz="850" dirty="0">
                <a:solidFill>
                  <a:srgbClr val="8899AA"/>
                </a:solidFill>
              </a:rPr>
              <a:t>50–75 znaków na wiersz. Zbyt długi = trudny do śledzenia, zbyt krótki = zbyt częsty powrót wzroku.</a:t>
            </a:r>
            <a:endParaRPr lang="en-US" sz="850" dirty="0"/>
          </a:p>
        </p:txBody>
      </p:sp>
      <p:sp>
        <p:nvSpPr>
          <p:cNvPr id="34" name="Shape 32"/>
          <p:cNvSpPr/>
          <p:nvPr/>
        </p:nvSpPr>
        <p:spPr>
          <a:xfrm>
            <a:off x="4892040" y="2688336"/>
            <a:ext cx="256032" cy="256032"/>
          </a:xfrm>
          <a:prstGeom prst="ellipse">
            <a:avLst/>
          </a:prstGeom>
          <a:solidFill>
            <a:srgbClr val="FFD600"/>
          </a:solidFill>
          <a:ln w="12700">
            <a:solidFill>
              <a:srgbClr val="FFD600"/>
            </a:solidFill>
            <a:prstDash val="solid"/>
          </a:ln>
        </p:spPr>
      </p:sp>
      <p:sp>
        <p:nvSpPr>
          <p:cNvPr id="35" name="Text 33"/>
          <p:cNvSpPr/>
          <p:nvPr/>
        </p:nvSpPr>
        <p:spPr>
          <a:xfrm>
            <a:off x="4892040" y="2688336"/>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3</a:t>
            </a:r>
            <a:endParaRPr lang="en-US" sz="1100" dirty="0"/>
          </a:p>
        </p:txBody>
      </p:sp>
      <p:sp>
        <p:nvSpPr>
          <p:cNvPr id="36" name="Text 34"/>
          <p:cNvSpPr/>
          <p:nvPr/>
        </p:nvSpPr>
        <p:spPr>
          <a:xfrm>
            <a:off x="5239512" y="2688336"/>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Testowanie Dostępności</a:t>
            </a:r>
            <a:endParaRPr lang="en-US" sz="1000" dirty="0"/>
          </a:p>
        </p:txBody>
      </p:sp>
      <p:sp>
        <p:nvSpPr>
          <p:cNvPr id="37" name="Text 35"/>
          <p:cNvSpPr/>
          <p:nvPr/>
        </p:nvSpPr>
        <p:spPr>
          <a:xfrm>
            <a:off x="5239512" y="2953512"/>
            <a:ext cx="3474720" cy="329184"/>
          </a:xfrm>
          <a:prstGeom prst="rect">
            <a:avLst/>
          </a:prstGeom>
          <a:noFill/>
          <a:ln/>
        </p:spPr>
        <p:txBody>
          <a:bodyPr wrap="square" lIns="0" tIns="0" rIns="0" bIns="0" rtlCol="0" anchor="ctr"/>
          <a:lstStyle/>
          <a:p>
            <a:pPr marL="0" indent="0">
              <a:buNone/>
            </a:pPr>
            <a:r>
              <a:rPr lang="en-US" sz="850" dirty="0">
                <a:solidFill>
                  <a:srgbClr val="8899AA"/>
                </a:solidFill>
              </a:rPr>
              <a:t>Testuj z VoiceOver (iOS) i TalkBack (Android). Sprawdź z maksymalnym rozmiarem tekstu.</a:t>
            </a:r>
            <a:endParaRPr lang="en-US" sz="850" dirty="0"/>
          </a:p>
        </p:txBody>
      </p:sp>
      <p:sp>
        <p:nvSpPr>
          <p:cNvPr id="38" name="Shape 36"/>
          <p:cNvSpPr/>
          <p:nvPr/>
        </p:nvSpPr>
        <p:spPr>
          <a:xfrm>
            <a:off x="4892040" y="3346704"/>
            <a:ext cx="256032" cy="256032"/>
          </a:xfrm>
          <a:prstGeom prst="ellipse">
            <a:avLst/>
          </a:prstGeom>
          <a:solidFill>
            <a:srgbClr val="FFD600"/>
          </a:solidFill>
          <a:ln w="12700">
            <a:solidFill>
              <a:srgbClr val="FFD600"/>
            </a:solidFill>
            <a:prstDash val="solid"/>
          </a:ln>
        </p:spPr>
      </p:sp>
      <p:sp>
        <p:nvSpPr>
          <p:cNvPr id="39" name="Text 37"/>
          <p:cNvSpPr/>
          <p:nvPr/>
        </p:nvSpPr>
        <p:spPr>
          <a:xfrm>
            <a:off x="4892040" y="3346704"/>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4</a:t>
            </a:r>
            <a:endParaRPr lang="en-US" sz="1100" dirty="0"/>
          </a:p>
        </p:txBody>
      </p:sp>
      <p:sp>
        <p:nvSpPr>
          <p:cNvPr id="40" name="Text 38"/>
          <p:cNvSpPr/>
          <p:nvPr/>
        </p:nvSpPr>
        <p:spPr>
          <a:xfrm>
            <a:off x="5239512" y="3346704"/>
            <a:ext cx="3474720" cy="237744"/>
          </a:xfrm>
          <a:prstGeom prst="rect">
            <a:avLst/>
          </a:prstGeom>
          <a:noFill/>
          <a:ln/>
        </p:spPr>
        <p:txBody>
          <a:bodyPr wrap="square" lIns="0" tIns="0" rIns="0" bIns="0" rtlCol="0" anchor="ctr"/>
          <a:lstStyle/>
          <a:p>
            <a:pPr marL="0" indent="0">
              <a:buNone/>
            </a:pPr>
            <a:r>
              <a:rPr lang="en-US" sz="1000" b="1" dirty="0">
                <a:solidFill>
                  <a:srgbClr val="FFFFFF"/>
                </a:solidFill>
              </a:rPr>
              <a:t>Czytniki Ekranu</a:t>
            </a:r>
            <a:endParaRPr lang="en-US" sz="1000" dirty="0"/>
          </a:p>
        </p:txBody>
      </p:sp>
      <p:sp>
        <p:nvSpPr>
          <p:cNvPr id="41" name="Text 39"/>
          <p:cNvSpPr/>
          <p:nvPr/>
        </p:nvSpPr>
        <p:spPr>
          <a:xfrm>
            <a:off x="5239512" y="3611880"/>
            <a:ext cx="3474720" cy="329184"/>
          </a:xfrm>
          <a:prstGeom prst="rect">
            <a:avLst/>
          </a:prstGeom>
          <a:noFill/>
          <a:ln/>
        </p:spPr>
        <p:txBody>
          <a:bodyPr wrap="square" lIns="0" tIns="0" rIns="0" bIns="0" rtlCol="0" anchor="ctr"/>
          <a:lstStyle/>
          <a:p>
            <a:pPr marL="0" indent="0">
              <a:buNone/>
            </a:pPr>
            <a:r>
              <a:rPr lang="en-US" sz="850" dirty="0">
                <a:solidFill>
                  <a:srgbClr val="8899AA"/>
                </a:solidFill>
              </a:rPr>
              <a:t>Upewnij się, że kolejność odczytu przez screen reader odpowiada logice wizualnej.</a:t>
            </a:r>
            <a:endParaRPr lang="en-US" sz="850" dirty="0"/>
          </a:p>
        </p:txBody>
      </p:sp>
      <p:sp>
        <p:nvSpPr>
          <p:cNvPr id="42" name="Shape 40"/>
          <p:cNvSpPr/>
          <p:nvPr/>
        </p:nvSpPr>
        <p:spPr>
          <a:xfrm>
            <a:off x="4754880" y="4224528"/>
            <a:ext cx="4069080" cy="594360"/>
          </a:xfrm>
          <a:prstGeom prst="rect">
            <a:avLst/>
          </a:prstGeom>
          <a:solidFill>
            <a:srgbClr val="0A1929"/>
          </a:solidFill>
          <a:ln w="12700">
            <a:solidFill>
              <a:srgbClr val="1A3050"/>
            </a:solidFill>
            <a:prstDash val="solid"/>
          </a:ln>
        </p:spPr>
      </p:sp>
      <p:sp>
        <p:nvSpPr>
          <p:cNvPr id="43" name="Text 41"/>
          <p:cNvSpPr/>
          <p:nvPr/>
        </p:nvSpPr>
        <p:spPr>
          <a:xfrm>
            <a:off x="4892040" y="4251960"/>
            <a:ext cx="3794760" cy="530352"/>
          </a:xfrm>
          <a:prstGeom prst="rect">
            <a:avLst/>
          </a:prstGeom>
          <a:noFill/>
          <a:ln/>
        </p:spPr>
        <p:txBody>
          <a:bodyPr wrap="square" lIns="0" tIns="0" rIns="0" bIns="0" rtlCol="0" anchor="ctr"/>
          <a:lstStyle/>
          <a:p>
            <a:pPr marL="0" indent="0">
              <a:buNone/>
            </a:pPr>
            <a:r>
              <a:rPr lang="en-US" sz="850" dirty="0">
                <a:solidFill>
                  <a:srgbClr val="FF9100"/>
                </a:solidFill>
              </a:rPr>
              <a:t>Częste błędy: tekst poniżej 16px, szary tekst na białym tle (zbyt niski kontrast), ignorowanie ustawień systemowych rozmiaru czcionki.</a:t>
            </a:r>
            <a:endParaRPr lang="en-US" sz="850" dirty="0"/>
          </a:p>
        </p:txBody>
      </p:sp>
      <p:sp>
        <p:nvSpPr>
          <p:cNvPr id="46" name="Text 44"/>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30 / </a:t>
            </a:r>
            <a:r>
              <a:rPr lang="pl-PL" sz="800" dirty="0" smtClean="0">
                <a:solidFill>
                  <a:srgbClr val="8899AA"/>
                </a:solidFill>
              </a:rPr>
              <a:t>46</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B2A"/>
        </a:solidFill>
        <a:effectLst/>
      </p:bgPr>
    </p:bg>
    <p:spTree>
      <p:nvGrpSpPr>
        <p:cNvPr id="1" name=""/>
        <p:cNvGrpSpPr/>
        <p:nvPr/>
      </p:nvGrpSpPr>
      <p:grpSpPr>
        <a:xfrm>
          <a:off x="0" y="0"/>
          <a:ext cx="0" cy="0"/>
          <a:chOff x="0" y="0"/>
          <a:chExt cx="0" cy="0"/>
        </a:xfrm>
      </p:grpSpPr>
      <p:grpSp>
        <p:nvGrpSpPr>
          <p:cNvPr id="10" name="Grupa 9"/>
          <p:cNvGrpSpPr/>
          <p:nvPr/>
        </p:nvGrpSpPr>
        <p:grpSpPr>
          <a:xfrm>
            <a:off x="-2381" y="4884912"/>
            <a:ext cx="9146381" cy="260136"/>
            <a:chOff x="-2381" y="4884912"/>
            <a:chExt cx="9146381" cy="260136"/>
          </a:xfrm>
        </p:grpSpPr>
        <p:sp>
          <p:nvSpPr>
            <p:cNvPr id="11" name="Shape 52"/>
            <p:cNvSpPr/>
            <p:nvPr/>
          </p:nvSpPr>
          <p:spPr>
            <a:xfrm>
              <a:off x="0" y="4884912"/>
              <a:ext cx="9144000" cy="252000"/>
            </a:xfrm>
            <a:prstGeom prst="rect">
              <a:avLst/>
            </a:prstGeom>
            <a:solidFill>
              <a:srgbClr val="071523"/>
            </a:solidFill>
            <a:ln w="12700">
              <a:solidFill>
                <a:srgbClr val="071523"/>
              </a:solidFill>
              <a:prstDash val="solid"/>
            </a:ln>
          </p:spPr>
        </p:sp>
        <p:sp>
          <p:nvSpPr>
            <p:cNvPr id="12"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13" name="Grupa 12"/>
            <p:cNvGrpSpPr/>
            <p:nvPr/>
          </p:nvGrpSpPr>
          <p:grpSpPr>
            <a:xfrm>
              <a:off x="-2381" y="5099329"/>
              <a:ext cx="9146381" cy="45719"/>
              <a:chOff x="-2381" y="5107500"/>
              <a:chExt cx="9111093" cy="37548"/>
            </a:xfrm>
            <a:solidFill>
              <a:schemeClr val="tx1"/>
            </a:solidFill>
          </p:grpSpPr>
          <p:sp>
            <p:nvSpPr>
              <p:cNvPr id="14"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15"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16"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17"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18"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19"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20"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21"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22"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23"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24"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25"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26"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27"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28"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29"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30"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31"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32"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33"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34"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35"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36" name="Shape 52"/>
              <p:cNvSpPr/>
              <p:nvPr/>
            </p:nvSpPr>
            <p:spPr>
              <a:xfrm>
                <a:off x="4356712" y="5107500"/>
                <a:ext cx="198000" cy="36000"/>
              </a:xfrm>
              <a:prstGeom prst="rect">
                <a:avLst/>
              </a:prstGeom>
              <a:solidFill>
                <a:schemeClr val="accent5">
                  <a:lumMod val="20000"/>
                  <a:lumOff val="80000"/>
                </a:schemeClr>
              </a:solidFill>
              <a:ln w="12700">
                <a:noFill/>
                <a:prstDash val="solid"/>
              </a:ln>
            </p:spPr>
          </p:sp>
          <p:sp>
            <p:nvSpPr>
              <p:cNvPr id="37" name="Shape 52"/>
              <p:cNvSpPr/>
              <p:nvPr/>
            </p:nvSpPr>
            <p:spPr>
              <a:xfrm>
                <a:off x="4554712" y="5107500"/>
                <a:ext cx="198000" cy="36000"/>
              </a:xfrm>
              <a:prstGeom prst="rect">
                <a:avLst/>
              </a:prstGeom>
              <a:solidFill>
                <a:schemeClr val="accent5">
                  <a:lumMod val="20000"/>
                  <a:lumOff val="80000"/>
                </a:schemeClr>
              </a:solidFill>
              <a:ln w="12700">
                <a:noFill/>
                <a:prstDash val="solid"/>
              </a:ln>
            </p:spPr>
          </p:sp>
          <p:sp>
            <p:nvSpPr>
              <p:cNvPr id="38" name="Shape 52"/>
              <p:cNvSpPr/>
              <p:nvPr/>
            </p:nvSpPr>
            <p:spPr>
              <a:xfrm>
                <a:off x="4752712" y="5107500"/>
                <a:ext cx="198000" cy="36000"/>
              </a:xfrm>
              <a:prstGeom prst="rect">
                <a:avLst/>
              </a:prstGeom>
              <a:solidFill>
                <a:schemeClr val="accent5">
                  <a:lumMod val="20000"/>
                  <a:lumOff val="80000"/>
                </a:schemeClr>
              </a:solidFill>
              <a:ln w="12700">
                <a:noFill/>
                <a:prstDash val="solid"/>
              </a:ln>
            </p:spPr>
          </p:sp>
          <p:sp>
            <p:nvSpPr>
              <p:cNvPr id="39" name="Shape 52"/>
              <p:cNvSpPr/>
              <p:nvPr/>
            </p:nvSpPr>
            <p:spPr>
              <a:xfrm>
                <a:off x="4950712" y="5107500"/>
                <a:ext cx="198000" cy="36000"/>
              </a:xfrm>
              <a:prstGeom prst="rect">
                <a:avLst/>
              </a:prstGeom>
              <a:solidFill>
                <a:schemeClr val="accent5">
                  <a:lumMod val="20000"/>
                  <a:lumOff val="80000"/>
                </a:schemeClr>
              </a:solidFill>
              <a:ln w="12700">
                <a:noFill/>
                <a:prstDash val="solid"/>
              </a:ln>
            </p:spPr>
          </p:sp>
          <p:sp>
            <p:nvSpPr>
              <p:cNvPr id="40" name="Shape 52"/>
              <p:cNvSpPr/>
              <p:nvPr/>
            </p:nvSpPr>
            <p:spPr>
              <a:xfrm>
                <a:off x="5148712" y="5107500"/>
                <a:ext cx="198000" cy="36000"/>
              </a:xfrm>
              <a:prstGeom prst="rect">
                <a:avLst/>
              </a:prstGeom>
              <a:solidFill>
                <a:schemeClr val="accent5">
                  <a:lumMod val="20000"/>
                  <a:lumOff val="80000"/>
                </a:schemeClr>
              </a:solidFill>
              <a:ln w="12700">
                <a:noFill/>
                <a:prstDash val="solid"/>
              </a:ln>
            </p:spPr>
          </p:sp>
          <p:sp>
            <p:nvSpPr>
              <p:cNvPr id="41" name="Shape 52"/>
              <p:cNvSpPr/>
              <p:nvPr/>
            </p:nvSpPr>
            <p:spPr>
              <a:xfrm>
                <a:off x="5346712" y="5108400"/>
                <a:ext cx="198000" cy="36000"/>
              </a:xfrm>
              <a:prstGeom prst="rect">
                <a:avLst/>
              </a:prstGeom>
              <a:solidFill>
                <a:schemeClr val="accent5">
                  <a:lumMod val="20000"/>
                  <a:lumOff val="80000"/>
                </a:schemeClr>
              </a:solidFill>
              <a:ln w="12700">
                <a:noFill/>
                <a:prstDash val="solid"/>
              </a:ln>
            </p:spPr>
          </p:sp>
          <p:sp>
            <p:nvSpPr>
              <p:cNvPr id="42" name="Shape 52"/>
              <p:cNvSpPr/>
              <p:nvPr/>
            </p:nvSpPr>
            <p:spPr>
              <a:xfrm>
                <a:off x="5544712" y="5108400"/>
                <a:ext cx="198000" cy="36000"/>
              </a:xfrm>
              <a:prstGeom prst="rect">
                <a:avLst/>
              </a:prstGeom>
              <a:solidFill>
                <a:schemeClr val="accent5">
                  <a:lumMod val="20000"/>
                  <a:lumOff val="80000"/>
                </a:schemeClr>
              </a:solidFill>
              <a:ln w="12700">
                <a:noFill/>
                <a:prstDash val="solid"/>
              </a:ln>
            </p:spPr>
          </p:sp>
          <p:sp>
            <p:nvSpPr>
              <p:cNvPr id="43" name="Shape 52"/>
              <p:cNvSpPr/>
              <p:nvPr/>
            </p:nvSpPr>
            <p:spPr>
              <a:xfrm>
                <a:off x="5742712" y="5108400"/>
                <a:ext cx="198000" cy="36000"/>
              </a:xfrm>
              <a:prstGeom prst="rect">
                <a:avLst/>
              </a:prstGeom>
              <a:solidFill>
                <a:schemeClr val="accent5">
                  <a:lumMod val="20000"/>
                  <a:lumOff val="80000"/>
                </a:schemeClr>
              </a:solidFill>
              <a:ln w="12700">
                <a:noFill/>
                <a:prstDash val="solid"/>
              </a:ln>
            </p:spPr>
          </p:sp>
          <p:sp>
            <p:nvSpPr>
              <p:cNvPr id="44" name="Shape 52"/>
              <p:cNvSpPr/>
              <p:nvPr/>
            </p:nvSpPr>
            <p:spPr>
              <a:xfrm>
                <a:off x="5940712" y="5108400"/>
                <a:ext cx="198000" cy="36000"/>
              </a:xfrm>
              <a:prstGeom prst="rect">
                <a:avLst/>
              </a:prstGeom>
              <a:solidFill>
                <a:schemeClr val="accent5">
                  <a:lumMod val="20000"/>
                  <a:lumOff val="80000"/>
                </a:schemeClr>
              </a:solidFill>
              <a:ln w="12700">
                <a:noFill/>
                <a:prstDash val="solid"/>
              </a:ln>
            </p:spPr>
          </p:sp>
          <p:sp>
            <p:nvSpPr>
              <p:cNvPr id="45" name="Shape 52"/>
              <p:cNvSpPr/>
              <p:nvPr/>
            </p:nvSpPr>
            <p:spPr>
              <a:xfrm>
                <a:off x="6138712" y="5108400"/>
                <a:ext cx="198000" cy="36000"/>
              </a:xfrm>
              <a:prstGeom prst="rect">
                <a:avLst/>
              </a:prstGeom>
              <a:grpFill/>
              <a:ln w="12700">
                <a:noFill/>
                <a:prstDash val="solid"/>
              </a:ln>
            </p:spPr>
          </p:sp>
          <p:sp>
            <p:nvSpPr>
              <p:cNvPr id="46" name="Shape 52"/>
              <p:cNvSpPr/>
              <p:nvPr/>
            </p:nvSpPr>
            <p:spPr>
              <a:xfrm>
                <a:off x="6336712" y="5108400"/>
                <a:ext cx="198000" cy="36000"/>
              </a:xfrm>
              <a:prstGeom prst="rect">
                <a:avLst/>
              </a:prstGeom>
              <a:grpFill/>
              <a:ln w="12700">
                <a:noFill/>
                <a:prstDash val="solid"/>
              </a:ln>
            </p:spPr>
          </p:sp>
          <p:sp>
            <p:nvSpPr>
              <p:cNvPr id="47" name="Shape 52"/>
              <p:cNvSpPr/>
              <p:nvPr/>
            </p:nvSpPr>
            <p:spPr>
              <a:xfrm>
                <a:off x="6534712" y="5108400"/>
                <a:ext cx="198000" cy="36000"/>
              </a:xfrm>
              <a:prstGeom prst="rect">
                <a:avLst/>
              </a:prstGeom>
              <a:grpFill/>
              <a:ln w="12700">
                <a:noFill/>
                <a:prstDash val="solid"/>
              </a:ln>
            </p:spPr>
          </p:sp>
          <p:sp>
            <p:nvSpPr>
              <p:cNvPr id="48" name="Shape 52"/>
              <p:cNvSpPr/>
              <p:nvPr/>
            </p:nvSpPr>
            <p:spPr>
              <a:xfrm>
                <a:off x="6732712" y="5108400"/>
                <a:ext cx="198000" cy="36000"/>
              </a:xfrm>
              <a:prstGeom prst="rect">
                <a:avLst/>
              </a:prstGeom>
              <a:grpFill/>
              <a:ln w="12700">
                <a:noFill/>
                <a:prstDash val="solid"/>
              </a:ln>
            </p:spPr>
          </p:sp>
          <p:sp>
            <p:nvSpPr>
              <p:cNvPr id="49" name="Shape 52"/>
              <p:cNvSpPr/>
              <p:nvPr/>
            </p:nvSpPr>
            <p:spPr>
              <a:xfrm>
                <a:off x="6930712" y="5108400"/>
                <a:ext cx="198000" cy="36000"/>
              </a:xfrm>
              <a:prstGeom prst="rect">
                <a:avLst/>
              </a:prstGeom>
              <a:grpFill/>
              <a:ln w="12700">
                <a:noFill/>
                <a:prstDash val="solid"/>
              </a:ln>
            </p:spPr>
          </p:sp>
          <p:sp>
            <p:nvSpPr>
              <p:cNvPr id="50" name="Shape 52"/>
              <p:cNvSpPr/>
              <p:nvPr/>
            </p:nvSpPr>
            <p:spPr>
              <a:xfrm>
                <a:off x="7128712" y="5108400"/>
                <a:ext cx="198000" cy="36000"/>
              </a:xfrm>
              <a:prstGeom prst="rect">
                <a:avLst/>
              </a:prstGeom>
              <a:grpFill/>
              <a:ln w="12700">
                <a:noFill/>
                <a:prstDash val="solid"/>
              </a:ln>
            </p:spPr>
          </p:sp>
          <p:sp>
            <p:nvSpPr>
              <p:cNvPr id="51" name="Shape 52"/>
              <p:cNvSpPr/>
              <p:nvPr/>
            </p:nvSpPr>
            <p:spPr>
              <a:xfrm>
                <a:off x="7326712" y="5108400"/>
                <a:ext cx="198000" cy="36000"/>
              </a:xfrm>
              <a:prstGeom prst="rect">
                <a:avLst/>
              </a:prstGeom>
              <a:grpFill/>
              <a:ln w="12700">
                <a:noFill/>
                <a:prstDash val="solid"/>
              </a:ln>
            </p:spPr>
          </p:sp>
          <p:sp>
            <p:nvSpPr>
              <p:cNvPr id="52" name="Shape 52"/>
              <p:cNvSpPr/>
              <p:nvPr/>
            </p:nvSpPr>
            <p:spPr>
              <a:xfrm>
                <a:off x="7524712" y="5108400"/>
                <a:ext cx="198000" cy="36000"/>
              </a:xfrm>
              <a:prstGeom prst="rect">
                <a:avLst/>
              </a:prstGeom>
              <a:grpFill/>
              <a:ln w="12700">
                <a:noFill/>
                <a:prstDash val="solid"/>
              </a:ln>
            </p:spPr>
          </p:sp>
          <p:sp>
            <p:nvSpPr>
              <p:cNvPr id="53" name="Shape 52"/>
              <p:cNvSpPr/>
              <p:nvPr/>
            </p:nvSpPr>
            <p:spPr>
              <a:xfrm>
                <a:off x="7722712" y="5108400"/>
                <a:ext cx="198000" cy="36000"/>
              </a:xfrm>
              <a:prstGeom prst="rect">
                <a:avLst/>
              </a:prstGeom>
              <a:grpFill/>
              <a:ln w="12700">
                <a:noFill/>
                <a:prstDash val="solid"/>
              </a:ln>
            </p:spPr>
          </p:sp>
          <p:sp>
            <p:nvSpPr>
              <p:cNvPr id="54" name="Shape 52"/>
              <p:cNvSpPr/>
              <p:nvPr/>
            </p:nvSpPr>
            <p:spPr>
              <a:xfrm>
                <a:off x="7920712" y="5109048"/>
                <a:ext cx="198000" cy="36000"/>
              </a:xfrm>
              <a:prstGeom prst="rect">
                <a:avLst/>
              </a:prstGeom>
              <a:grpFill/>
              <a:ln w="12700">
                <a:noFill/>
                <a:prstDash val="solid"/>
              </a:ln>
            </p:spPr>
          </p:sp>
          <p:sp>
            <p:nvSpPr>
              <p:cNvPr id="55" name="Shape 52"/>
              <p:cNvSpPr/>
              <p:nvPr/>
            </p:nvSpPr>
            <p:spPr>
              <a:xfrm>
                <a:off x="8118712" y="5109048"/>
                <a:ext cx="198000" cy="36000"/>
              </a:xfrm>
              <a:prstGeom prst="rect">
                <a:avLst/>
              </a:prstGeom>
              <a:grpFill/>
              <a:ln w="12700">
                <a:noFill/>
                <a:prstDash val="solid"/>
              </a:ln>
            </p:spPr>
          </p:sp>
          <p:sp>
            <p:nvSpPr>
              <p:cNvPr id="56" name="Shape 52"/>
              <p:cNvSpPr/>
              <p:nvPr/>
            </p:nvSpPr>
            <p:spPr>
              <a:xfrm>
                <a:off x="8316712" y="5109048"/>
                <a:ext cx="198000" cy="36000"/>
              </a:xfrm>
              <a:prstGeom prst="rect">
                <a:avLst/>
              </a:prstGeom>
              <a:grpFill/>
              <a:ln w="12700">
                <a:noFill/>
                <a:prstDash val="solid"/>
              </a:ln>
            </p:spPr>
          </p:sp>
          <p:sp>
            <p:nvSpPr>
              <p:cNvPr id="57" name="Shape 52"/>
              <p:cNvSpPr/>
              <p:nvPr/>
            </p:nvSpPr>
            <p:spPr>
              <a:xfrm>
                <a:off x="8514712" y="5109048"/>
                <a:ext cx="198000" cy="36000"/>
              </a:xfrm>
              <a:prstGeom prst="rect">
                <a:avLst/>
              </a:prstGeom>
              <a:grpFill/>
              <a:ln w="12700">
                <a:noFill/>
                <a:prstDash val="solid"/>
              </a:ln>
            </p:spPr>
          </p:sp>
          <p:sp>
            <p:nvSpPr>
              <p:cNvPr id="58" name="Shape 52"/>
              <p:cNvSpPr/>
              <p:nvPr/>
            </p:nvSpPr>
            <p:spPr>
              <a:xfrm>
                <a:off x="8712712" y="5109048"/>
                <a:ext cx="198000" cy="36000"/>
              </a:xfrm>
              <a:prstGeom prst="rect">
                <a:avLst/>
              </a:prstGeom>
              <a:grpFill/>
              <a:ln w="12700">
                <a:noFill/>
                <a:prstDash val="solid"/>
              </a:ln>
            </p:spPr>
          </p:sp>
          <p:sp>
            <p:nvSpPr>
              <p:cNvPr id="59"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0" y="1645920"/>
            <a:ext cx="9144000" cy="1828800"/>
          </a:xfrm>
          <a:prstGeom prst="rect">
            <a:avLst/>
          </a:prstGeom>
          <a:solidFill>
            <a:srgbClr val="112233"/>
          </a:solidFill>
          <a:ln w="12700">
            <a:solidFill>
              <a:srgbClr val="112233"/>
            </a:solidFill>
            <a:prstDash val="solid"/>
          </a:ln>
        </p:spPr>
      </p:sp>
      <p:sp>
        <p:nvSpPr>
          <p:cNvPr id="3" name="Shape 1"/>
          <p:cNvSpPr/>
          <p:nvPr/>
        </p:nvSpPr>
        <p:spPr>
          <a:xfrm>
            <a:off x="0" y="1645920"/>
            <a:ext cx="109728" cy="1828800"/>
          </a:xfrm>
          <a:prstGeom prst="rect">
            <a:avLst/>
          </a:prstGeom>
          <a:solidFill>
            <a:srgbClr val="448AFF"/>
          </a:solidFill>
          <a:ln w="12700">
            <a:solidFill>
              <a:srgbClr val="448AFF"/>
            </a:solidFill>
            <a:prstDash val="solid"/>
          </a:ln>
        </p:spPr>
      </p:sp>
      <p:sp>
        <p:nvSpPr>
          <p:cNvPr id="4" name="Text 2"/>
          <p:cNvSpPr/>
          <p:nvPr/>
        </p:nvSpPr>
        <p:spPr>
          <a:xfrm>
            <a:off x="914400" y="548640"/>
            <a:ext cx="7315200" cy="822960"/>
          </a:xfrm>
          <a:prstGeom prst="rect">
            <a:avLst/>
          </a:prstGeom>
          <a:noFill/>
          <a:ln/>
        </p:spPr>
        <p:txBody>
          <a:bodyPr wrap="square" lIns="0" tIns="0" rIns="0" bIns="0" rtlCol="0" anchor="ctr"/>
          <a:lstStyle/>
          <a:p>
            <a:pPr marL="0" indent="0" algn="l">
              <a:buNone/>
            </a:pPr>
            <a:r>
              <a:rPr lang="en-US" sz="5200" b="1" dirty="0">
                <a:solidFill>
                  <a:srgbClr val="448AFF"/>
                </a:solidFill>
              </a:rPr>
              <a:t>07</a:t>
            </a:r>
            <a:endParaRPr lang="en-US" sz="5200" dirty="0"/>
          </a:p>
        </p:txBody>
      </p:sp>
      <p:sp>
        <p:nvSpPr>
          <p:cNvPr id="5" name="Text 3"/>
          <p:cNvSpPr/>
          <p:nvPr/>
        </p:nvSpPr>
        <p:spPr>
          <a:xfrm>
            <a:off x="457200" y="1737360"/>
            <a:ext cx="8229600" cy="822960"/>
          </a:xfrm>
          <a:prstGeom prst="rect">
            <a:avLst/>
          </a:prstGeom>
          <a:noFill/>
          <a:ln/>
        </p:spPr>
        <p:txBody>
          <a:bodyPr wrap="square" lIns="0" tIns="0" rIns="0" bIns="0" rtlCol="0" anchor="ctr"/>
          <a:lstStyle/>
          <a:p>
            <a:pPr marL="0" indent="0">
              <a:buNone/>
            </a:pPr>
            <a:r>
              <a:rPr lang="en-US" sz="2800" b="1" dirty="0">
                <a:solidFill>
                  <a:srgbClr val="FFFFFF"/>
                </a:solidFill>
              </a:rPr>
              <a:t>Dźwięki i Haptyka</a:t>
            </a:r>
            <a:endParaRPr lang="en-US" sz="2800" dirty="0"/>
          </a:p>
        </p:txBody>
      </p:sp>
      <p:sp>
        <p:nvSpPr>
          <p:cNvPr id="6" name="Text 4"/>
          <p:cNvSpPr/>
          <p:nvPr/>
        </p:nvSpPr>
        <p:spPr>
          <a:xfrm>
            <a:off x="457200" y="2606040"/>
            <a:ext cx="8229600" cy="548640"/>
          </a:xfrm>
          <a:prstGeom prst="rect">
            <a:avLst/>
          </a:prstGeom>
          <a:noFill/>
          <a:ln/>
        </p:spPr>
        <p:txBody>
          <a:bodyPr wrap="square" lIns="0" tIns="0" rIns="0" bIns="0" rtlCol="0" anchor="t"/>
          <a:lstStyle/>
          <a:p>
            <a:pPr marL="0" indent="0">
              <a:buNone/>
            </a:pPr>
            <a:r>
              <a:rPr lang="en-US" sz="1400" dirty="0">
                <a:solidFill>
                  <a:srgbClr val="8899AA"/>
                </a:solidFill>
              </a:rPr>
              <a:t>Projektowanie dźwiękowe i sprzężenie zwrotne dotykowe w UX</a:t>
            </a:r>
            <a:endParaRPr lang="en-US" sz="1400" dirty="0"/>
          </a:p>
        </p:txBody>
      </p:sp>
      <p:sp>
        <p:nvSpPr>
          <p:cNvPr id="9" name="Text 7"/>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31 / </a:t>
            </a:r>
            <a:r>
              <a:rPr lang="pl-PL" sz="800" dirty="0" smtClean="0">
                <a:solidFill>
                  <a:srgbClr val="8899AA"/>
                </a:solidFill>
              </a:rPr>
              <a:t>46</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B2A"/>
        </a:solidFill>
        <a:effectLst/>
      </p:bgPr>
    </p:bg>
    <p:spTree>
      <p:nvGrpSpPr>
        <p:cNvPr id="1" name=""/>
        <p:cNvGrpSpPr/>
        <p:nvPr/>
      </p:nvGrpSpPr>
      <p:grpSpPr>
        <a:xfrm>
          <a:off x="0" y="0"/>
          <a:ext cx="0" cy="0"/>
          <a:chOff x="0" y="0"/>
          <a:chExt cx="0" cy="0"/>
        </a:xfrm>
      </p:grpSpPr>
      <p:grpSp>
        <p:nvGrpSpPr>
          <p:cNvPr id="31" name="Grupa 30"/>
          <p:cNvGrpSpPr/>
          <p:nvPr/>
        </p:nvGrpSpPr>
        <p:grpSpPr>
          <a:xfrm>
            <a:off x="-2381" y="4884912"/>
            <a:ext cx="9146381" cy="260136"/>
            <a:chOff x="-2381" y="4884912"/>
            <a:chExt cx="9146381" cy="260136"/>
          </a:xfrm>
        </p:grpSpPr>
        <p:sp>
          <p:nvSpPr>
            <p:cNvPr id="32" name="Shape 52"/>
            <p:cNvSpPr/>
            <p:nvPr/>
          </p:nvSpPr>
          <p:spPr>
            <a:xfrm>
              <a:off x="0" y="4884912"/>
              <a:ext cx="9144000" cy="252000"/>
            </a:xfrm>
            <a:prstGeom prst="rect">
              <a:avLst/>
            </a:prstGeom>
            <a:solidFill>
              <a:srgbClr val="071523"/>
            </a:solidFill>
            <a:ln w="12700">
              <a:solidFill>
                <a:srgbClr val="071523"/>
              </a:solidFill>
              <a:prstDash val="solid"/>
            </a:ln>
          </p:spPr>
        </p:sp>
        <p:sp>
          <p:nvSpPr>
            <p:cNvPr id="33"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34" name="Grupa 33"/>
            <p:cNvGrpSpPr/>
            <p:nvPr/>
          </p:nvGrpSpPr>
          <p:grpSpPr>
            <a:xfrm>
              <a:off x="-2381" y="5099329"/>
              <a:ext cx="9146381" cy="45719"/>
              <a:chOff x="-2381" y="5107500"/>
              <a:chExt cx="9111093" cy="37548"/>
            </a:xfrm>
            <a:solidFill>
              <a:schemeClr val="tx1"/>
            </a:solidFill>
          </p:grpSpPr>
          <p:sp>
            <p:nvSpPr>
              <p:cNvPr id="35"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36"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37"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38"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39"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40"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41"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42"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43"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44"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45"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46"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47"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48"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49"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50"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4356712" y="510750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4554712" y="51075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4752712" y="51075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4950712" y="51075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5148712" y="5107500"/>
                <a:ext cx="198000" cy="36000"/>
              </a:xfrm>
              <a:prstGeom prst="rect">
                <a:avLst/>
              </a:prstGeom>
              <a:solidFill>
                <a:schemeClr val="accent5">
                  <a:lumMod val="20000"/>
                  <a:lumOff val="80000"/>
                </a:schemeClr>
              </a:solidFill>
              <a:ln w="12700">
                <a:noFill/>
                <a:prstDash val="solid"/>
              </a:ln>
            </p:spPr>
          </p:sp>
          <p:sp>
            <p:nvSpPr>
              <p:cNvPr id="62" name="Shape 52"/>
              <p:cNvSpPr/>
              <p:nvPr/>
            </p:nvSpPr>
            <p:spPr>
              <a:xfrm>
                <a:off x="5346712" y="5108400"/>
                <a:ext cx="198000" cy="36000"/>
              </a:xfrm>
              <a:prstGeom prst="rect">
                <a:avLst/>
              </a:prstGeom>
              <a:solidFill>
                <a:schemeClr val="accent5">
                  <a:lumMod val="20000"/>
                  <a:lumOff val="80000"/>
                </a:schemeClr>
              </a:solidFill>
              <a:ln w="12700">
                <a:noFill/>
                <a:prstDash val="solid"/>
              </a:ln>
            </p:spPr>
          </p:sp>
          <p:sp>
            <p:nvSpPr>
              <p:cNvPr id="63" name="Shape 52"/>
              <p:cNvSpPr/>
              <p:nvPr/>
            </p:nvSpPr>
            <p:spPr>
              <a:xfrm>
                <a:off x="5544712" y="5108400"/>
                <a:ext cx="198000" cy="36000"/>
              </a:xfrm>
              <a:prstGeom prst="rect">
                <a:avLst/>
              </a:prstGeom>
              <a:solidFill>
                <a:schemeClr val="accent5">
                  <a:lumMod val="20000"/>
                  <a:lumOff val="80000"/>
                </a:schemeClr>
              </a:solidFill>
              <a:ln w="12700">
                <a:noFill/>
                <a:prstDash val="solid"/>
              </a:ln>
            </p:spPr>
          </p:sp>
          <p:sp>
            <p:nvSpPr>
              <p:cNvPr id="64" name="Shape 52"/>
              <p:cNvSpPr/>
              <p:nvPr/>
            </p:nvSpPr>
            <p:spPr>
              <a:xfrm>
                <a:off x="5742712" y="5108400"/>
                <a:ext cx="198000" cy="36000"/>
              </a:xfrm>
              <a:prstGeom prst="rect">
                <a:avLst/>
              </a:prstGeom>
              <a:solidFill>
                <a:schemeClr val="accent5">
                  <a:lumMod val="20000"/>
                  <a:lumOff val="80000"/>
                </a:schemeClr>
              </a:solidFill>
              <a:ln w="12700">
                <a:noFill/>
                <a:prstDash val="solid"/>
              </a:ln>
            </p:spPr>
          </p:sp>
          <p:sp>
            <p:nvSpPr>
              <p:cNvPr id="65" name="Shape 52"/>
              <p:cNvSpPr/>
              <p:nvPr/>
            </p:nvSpPr>
            <p:spPr>
              <a:xfrm>
                <a:off x="5940712" y="5108400"/>
                <a:ext cx="198000" cy="36000"/>
              </a:xfrm>
              <a:prstGeom prst="rect">
                <a:avLst/>
              </a:prstGeom>
              <a:solidFill>
                <a:schemeClr val="accent5">
                  <a:lumMod val="20000"/>
                  <a:lumOff val="80000"/>
                </a:schemeClr>
              </a:solidFill>
              <a:ln w="12700">
                <a:noFill/>
                <a:prstDash val="solid"/>
              </a:ln>
            </p:spPr>
          </p:sp>
          <p:sp>
            <p:nvSpPr>
              <p:cNvPr id="66" name="Shape 52"/>
              <p:cNvSpPr/>
              <p:nvPr/>
            </p:nvSpPr>
            <p:spPr>
              <a:xfrm>
                <a:off x="6138712" y="5108400"/>
                <a:ext cx="198000" cy="36000"/>
              </a:xfrm>
              <a:prstGeom prst="rect">
                <a:avLst/>
              </a:prstGeom>
              <a:solidFill>
                <a:schemeClr val="accent5">
                  <a:lumMod val="20000"/>
                  <a:lumOff val="80000"/>
                </a:schemeClr>
              </a:solidFill>
              <a:ln w="12700">
                <a:noFill/>
                <a:prstDash val="solid"/>
              </a:ln>
            </p:spPr>
          </p:sp>
          <p:sp>
            <p:nvSpPr>
              <p:cNvPr id="67" name="Shape 52"/>
              <p:cNvSpPr/>
              <p:nvPr/>
            </p:nvSpPr>
            <p:spPr>
              <a:xfrm>
                <a:off x="6336712" y="5108400"/>
                <a:ext cx="198000" cy="36000"/>
              </a:xfrm>
              <a:prstGeom prst="rect">
                <a:avLst/>
              </a:prstGeom>
              <a:grpFill/>
              <a:ln w="12700">
                <a:noFill/>
                <a:prstDash val="solid"/>
              </a:ln>
            </p:spPr>
          </p:sp>
          <p:sp>
            <p:nvSpPr>
              <p:cNvPr id="68" name="Shape 52"/>
              <p:cNvSpPr/>
              <p:nvPr/>
            </p:nvSpPr>
            <p:spPr>
              <a:xfrm>
                <a:off x="6534712" y="5108400"/>
                <a:ext cx="198000" cy="36000"/>
              </a:xfrm>
              <a:prstGeom prst="rect">
                <a:avLst/>
              </a:prstGeom>
              <a:grpFill/>
              <a:ln w="12700">
                <a:noFill/>
                <a:prstDash val="solid"/>
              </a:ln>
            </p:spPr>
          </p:sp>
          <p:sp>
            <p:nvSpPr>
              <p:cNvPr id="69" name="Shape 52"/>
              <p:cNvSpPr/>
              <p:nvPr/>
            </p:nvSpPr>
            <p:spPr>
              <a:xfrm>
                <a:off x="6732712" y="5108400"/>
                <a:ext cx="198000" cy="36000"/>
              </a:xfrm>
              <a:prstGeom prst="rect">
                <a:avLst/>
              </a:prstGeom>
              <a:grpFill/>
              <a:ln w="12700">
                <a:noFill/>
                <a:prstDash val="solid"/>
              </a:ln>
            </p:spPr>
          </p:sp>
          <p:sp>
            <p:nvSpPr>
              <p:cNvPr id="70" name="Shape 52"/>
              <p:cNvSpPr/>
              <p:nvPr/>
            </p:nvSpPr>
            <p:spPr>
              <a:xfrm>
                <a:off x="6930712" y="5108400"/>
                <a:ext cx="198000" cy="36000"/>
              </a:xfrm>
              <a:prstGeom prst="rect">
                <a:avLst/>
              </a:prstGeom>
              <a:grpFill/>
              <a:ln w="12700">
                <a:noFill/>
                <a:prstDash val="solid"/>
              </a:ln>
            </p:spPr>
          </p:sp>
          <p:sp>
            <p:nvSpPr>
              <p:cNvPr id="71" name="Shape 52"/>
              <p:cNvSpPr/>
              <p:nvPr/>
            </p:nvSpPr>
            <p:spPr>
              <a:xfrm>
                <a:off x="7128712" y="5108400"/>
                <a:ext cx="198000" cy="36000"/>
              </a:xfrm>
              <a:prstGeom prst="rect">
                <a:avLst/>
              </a:prstGeom>
              <a:grpFill/>
              <a:ln w="12700">
                <a:noFill/>
                <a:prstDash val="solid"/>
              </a:ln>
            </p:spPr>
          </p:sp>
          <p:sp>
            <p:nvSpPr>
              <p:cNvPr id="72" name="Shape 52"/>
              <p:cNvSpPr/>
              <p:nvPr/>
            </p:nvSpPr>
            <p:spPr>
              <a:xfrm>
                <a:off x="7326712" y="5108400"/>
                <a:ext cx="198000" cy="36000"/>
              </a:xfrm>
              <a:prstGeom prst="rect">
                <a:avLst/>
              </a:prstGeom>
              <a:grpFill/>
              <a:ln w="12700">
                <a:noFill/>
                <a:prstDash val="solid"/>
              </a:ln>
            </p:spPr>
          </p:sp>
          <p:sp>
            <p:nvSpPr>
              <p:cNvPr id="73" name="Shape 52"/>
              <p:cNvSpPr/>
              <p:nvPr/>
            </p:nvSpPr>
            <p:spPr>
              <a:xfrm>
                <a:off x="7524712" y="5108400"/>
                <a:ext cx="198000" cy="36000"/>
              </a:xfrm>
              <a:prstGeom prst="rect">
                <a:avLst/>
              </a:prstGeom>
              <a:grpFill/>
              <a:ln w="12700">
                <a:noFill/>
                <a:prstDash val="solid"/>
              </a:ln>
            </p:spPr>
          </p:sp>
          <p:sp>
            <p:nvSpPr>
              <p:cNvPr id="74" name="Shape 52"/>
              <p:cNvSpPr/>
              <p:nvPr/>
            </p:nvSpPr>
            <p:spPr>
              <a:xfrm>
                <a:off x="7722712" y="5108400"/>
                <a:ext cx="198000" cy="36000"/>
              </a:xfrm>
              <a:prstGeom prst="rect">
                <a:avLst/>
              </a:prstGeom>
              <a:grpFill/>
              <a:ln w="12700">
                <a:noFill/>
                <a:prstDash val="solid"/>
              </a:ln>
            </p:spPr>
          </p:sp>
          <p:sp>
            <p:nvSpPr>
              <p:cNvPr id="75" name="Shape 52"/>
              <p:cNvSpPr/>
              <p:nvPr/>
            </p:nvSpPr>
            <p:spPr>
              <a:xfrm>
                <a:off x="7920712" y="5109048"/>
                <a:ext cx="198000" cy="36000"/>
              </a:xfrm>
              <a:prstGeom prst="rect">
                <a:avLst/>
              </a:prstGeom>
              <a:grpFill/>
              <a:ln w="12700">
                <a:noFill/>
                <a:prstDash val="solid"/>
              </a:ln>
            </p:spPr>
          </p:sp>
          <p:sp>
            <p:nvSpPr>
              <p:cNvPr id="76" name="Shape 52"/>
              <p:cNvSpPr/>
              <p:nvPr/>
            </p:nvSpPr>
            <p:spPr>
              <a:xfrm>
                <a:off x="8118712" y="5109048"/>
                <a:ext cx="198000" cy="36000"/>
              </a:xfrm>
              <a:prstGeom prst="rect">
                <a:avLst/>
              </a:prstGeom>
              <a:grpFill/>
              <a:ln w="12700">
                <a:noFill/>
                <a:prstDash val="solid"/>
              </a:ln>
            </p:spPr>
          </p:sp>
          <p:sp>
            <p:nvSpPr>
              <p:cNvPr id="77" name="Shape 52"/>
              <p:cNvSpPr/>
              <p:nvPr/>
            </p:nvSpPr>
            <p:spPr>
              <a:xfrm>
                <a:off x="8316712" y="5109048"/>
                <a:ext cx="198000" cy="36000"/>
              </a:xfrm>
              <a:prstGeom prst="rect">
                <a:avLst/>
              </a:prstGeom>
              <a:grpFill/>
              <a:ln w="12700">
                <a:noFill/>
                <a:prstDash val="solid"/>
              </a:ln>
            </p:spPr>
          </p:sp>
          <p:sp>
            <p:nvSpPr>
              <p:cNvPr id="78" name="Shape 52"/>
              <p:cNvSpPr/>
              <p:nvPr/>
            </p:nvSpPr>
            <p:spPr>
              <a:xfrm>
                <a:off x="8514712" y="5109048"/>
                <a:ext cx="198000" cy="36000"/>
              </a:xfrm>
              <a:prstGeom prst="rect">
                <a:avLst/>
              </a:prstGeom>
              <a:grpFill/>
              <a:ln w="12700">
                <a:noFill/>
                <a:prstDash val="solid"/>
              </a:ln>
            </p:spPr>
          </p:sp>
          <p:sp>
            <p:nvSpPr>
              <p:cNvPr id="79" name="Shape 52"/>
              <p:cNvSpPr/>
              <p:nvPr/>
            </p:nvSpPr>
            <p:spPr>
              <a:xfrm>
                <a:off x="8712712" y="5109048"/>
                <a:ext cx="198000" cy="36000"/>
              </a:xfrm>
              <a:prstGeom prst="rect">
                <a:avLst/>
              </a:prstGeom>
              <a:grpFill/>
              <a:ln w="12700">
                <a:noFill/>
                <a:prstDash val="solid"/>
              </a:ln>
            </p:spPr>
          </p:sp>
          <p:sp>
            <p:nvSpPr>
              <p:cNvPr id="80"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448AFF"/>
          </a:solidFill>
          <a:ln w="12700">
            <a:solidFill>
              <a:srgbClr val="448AFF"/>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Projektowanie </a:t>
            </a:r>
            <a:r>
              <a:rPr lang="pl-PL" sz="2200" b="1" dirty="0" smtClean="0">
                <a:solidFill>
                  <a:srgbClr val="FFFFFF"/>
                </a:solidFill>
              </a:rPr>
              <a:t>d</a:t>
            </a:r>
            <a:r>
              <a:rPr lang="en-US" sz="2200" b="1" dirty="0" err="1" smtClean="0">
                <a:solidFill>
                  <a:srgbClr val="FFFFFF"/>
                </a:solidFill>
              </a:rPr>
              <a:t>źwiękowe</a:t>
            </a:r>
            <a:r>
              <a:rPr lang="en-US" sz="2200" b="1" dirty="0" smtClean="0">
                <a:solidFill>
                  <a:srgbClr val="FFFFFF"/>
                </a:solidFill>
              </a:rPr>
              <a:t> </a:t>
            </a:r>
            <a:r>
              <a:rPr lang="en-US" sz="2200" b="1" dirty="0">
                <a:solidFill>
                  <a:srgbClr val="FFFFFF"/>
                </a:solidFill>
              </a:rPr>
              <a:t>w </a:t>
            </a:r>
            <a:r>
              <a:rPr lang="pl-PL" sz="2200" b="1" dirty="0" smtClean="0">
                <a:solidFill>
                  <a:srgbClr val="FFFFFF"/>
                </a:solidFill>
              </a:rPr>
              <a:t>a</a:t>
            </a:r>
            <a:r>
              <a:rPr lang="en-US" sz="2200" b="1" dirty="0" err="1" smtClean="0">
                <a:solidFill>
                  <a:srgbClr val="FFFFFF"/>
                </a:solidFill>
              </a:rPr>
              <a:t>plikacjach</a:t>
            </a:r>
            <a:r>
              <a:rPr lang="en-US" sz="2200" b="1" dirty="0" smtClean="0">
                <a:solidFill>
                  <a:srgbClr val="FFFFFF"/>
                </a:solidFill>
              </a:rPr>
              <a:t> </a:t>
            </a:r>
            <a:r>
              <a:rPr lang="pl-PL" sz="2200" b="1" dirty="0" smtClean="0">
                <a:solidFill>
                  <a:srgbClr val="FFFFFF"/>
                </a:solidFill>
              </a:rPr>
              <a:t>m</a:t>
            </a:r>
            <a:r>
              <a:rPr lang="en-US" sz="2200" b="1" dirty="0" err="1" smtClean="0">
                <a:solidFill>
                  <a:srgbClr val="FFFFFF"/>
                </a:solidFill>
              </a:rPr>
              <a:t>obilnych</a:t>
            </a:r>
            <a:endParaRPr lang="en-US" sz="2200" dirty="0"/>
          </a:p>
        </p:txBody>
      </p:sp>
      <p:sp>
        <p:nvSpPr>
          <p:cNvPr id="4" name="Shape 2"/>
          <p:cNvSpPr/>
          <p:nvPr/>
        </p:nvSpPr>
        <p:spPr>
          <a:xfrm>
            <a:off x="320040" y="914400"/>
            <a:ext cx="4251960" cy="96012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5" name="Shape 3"/>
          <p:cNvSpPr/>
          <p:nvPr/>
        </p:nvSpPr>
        <p:spPr>
          <a:xfrm>
            <a:off x="320040" y="914400"/>
            <a:ext cx="45720" cy="960120"/>
          </a:xfrm>
          <a:prstGeom prst="rect">
            <a:avLst/>
          </a:prstGeom>
          <a:solidFill>
            <a:srgbClr val="448AFF"/>
          </a:solidFill>
          <a:ln w="12700">
            <a:solidFill>
              <a:srgbClr val="448AFF"/>
            </a:solidFill>
            <a:prstDash val="solid"/>
          </a:ln>
        </p:spPr>
      </p:sp>
      <p:sp>
        <p:nvSpPr>
          <p:cNvPr id="6" name="Text 4"/>
          <p:cNvSpPr/>
          <p:nvPr/>
        </p:nvSpPr>
        <p:spPr>
          <a:xfrm>
            <a:off x="429768" y="978408"/>
            <a:ext cx="4096512" cy="256032"/>
          </a:xfrm>
          <a:prstGeom prst="rect">
            <a:avLst/>
          </a:prstGeom>
          <a:noFill/>
          <a:ln/>
        </p:spPr>
        <p:txBody>
          <a:bodyPr wrap="square" lIns="0" tIns="0" rIns="0" bIns="0" rtlCol="0" anchor="t"/>
          <a:lstStyle/>
          <a:p>
            <a:pPr marL="0" indent="0">
              <a:buNone/>
            </a:pPr>
            <a:r>
              <a:rPr lang="en-US" sz="1600" b="1" dirty="0">
                <a:solidFill>
                  <a:srgbClr val="448AFF"/>
                </a:solidFill>
              </a:rPr>
              <a:t>Potwierdzenie Akcji</a:t>
            </a:r>
            <a:endParaRPr lang="en-US" sz="1600" dirty="0"/>
          </a:p>
        </p:txBody>
      </p:sp>
      <p:sp>
        <p:nvSpPr>
          <p:cNvPr id="7" name="Text 5"/>
          <p:cNvSpPr/>
          <p:nvPr/>
        </p:nvSpPr>
        <p:spPr>
          <a:xfrm>
            <a:off x="429768" y="1243584"/>
            <a:ext cx="4096512" cy="877824"/>
          </a:xfrm>
          <a:prstGeom prst="rect">
            <a:avLst/>
          </a:prstGeom>
          <a:noFill/>
          <a:ln/>
        </p:spPr>
        <p:txBody>
          <a:bodyPr wrap="square" lIns="0" tIns="0" rIns="0" bIns="0" rtlCol="0" anchor="t"/>
          <a:lstStyle/>
          <a:p>
            <a:pPr marL="0" indent="0">
              <a:buNone/>
            </a:pPr>
            <a:r>
              <a:rPr lang="en-US" sz="1400" dirty="0">
                <a:solidFill>
                  <a:srgbClr val="CCDDEE"/>
                </a:solidFill>
              </a:rPr>
              <a:t>Krótkie dźwięki potwierdzają wykonanie akcji (wysłanie wiadomości, zapisanie). Natychmiastowy feedback.</a:t>
            </a:r>
            <a:endParaRPr lang="en-US" sz="1400" dirty="0"/>
          </a:p>
        </p:txBody>
      </p:sp>
      <p:sp>
        <p:nvSpPr>
          <p:cNvPr id="8" name="Shape 6"/>
          <p:cNvSpPr/>
          <p:nvPr/>
        </p:nvSpPr>
        <p:spPr>
          <a:xfrm>
            <a:off x="4727448" y="914400"/>
            <a:ext cx="4251960" cy="96012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9" name="Shape 7"/>
          <p:cNvSpPr/>
          <p:nvPr/>
        </p:nvSpPr>
        <p:spPr>
          <a:xfrm>
            <a:off x="4727448" y="914400"/>
            <a:ext cx="45720" cy="960120"/>
          </a:xfrm>
          <a:prstGeom prst="rect">
            <a:avLst/>
          </a:prstGeom>
          <a:solidFill>
            <a:srgbClr val="00D4FF"/>
          </a:solidFill>
          <a:ln w="12700">
            <a:solidFill>
              <a:srgbClr val="00D4FF"/>
            </a:solidFill>
            <a:prstDash val="solid"/>
          </a:ln>
        </p:spPr>
      </p:sp>
      <p:sp>
        <p:nvSpPr>
          <p:cNvPr id="10" name="Text 8"/>
          <p:cNvSpPr/>
          <p:nvPr/>
        </p:nvSpPr>
        <p:spPr>
          <a:xfrm>
            <a:off x="4837176" y="978408"/>
            <a:ext cx="4096512" cy="256032"/>
          </a:xfrm>
          <a:prstGeom prst="rect">
            <a:avLst/>
          </a:prstGeom>
          <a:noFill/>
          <a:ln/>
        </p:spPr>
        <p:txBody>
          <a:bodyPr wrap="square" lIns="0" tIns="0" rIns="0" bIns="0" rtlCol="0" anchor="t"/>
          <a:lstStyle/>
          <a:p>
            <a:pPr marL="0" indent="0">
              <a:buNone/>
            </a:pPr>
            <a:r>
              <a:rPr lang="en-US" sz="1600" b="1" dirty="0">
                <a:solidFill>
                  <a:srgbClr val="00D4FF"/>
                </a:solidFill>
              </a:rPr>
              <a:t>Informowanie o Zdarzeniach</a:t>
            </a:r>
            <a:endParaRPr lang="en-US" sz="1600" dirty="0"/>
          </a:p>
        </p:txBody>
      </p:sp>
      <p:sp>
        <p:nvSpPr>
          <p:cNvPr id="11" name="Text 9"/>
          <p:cNvSpPr/>
          <p:nvPr/>
        </p:nvSpPr>
        <p:spPr>
          <a:xfrm>
            <a:off x="4837176" y="1243584"/>
            <a:ext cx="4096512" cy="877824"/>
          </a:xfrm>
          <a:prstGeom prst="rect">
            <a:avLst/>
          </a:prstGeom>
          <a:noFill/>
          <a:ln/>
        </p:spPr>
        <p:txBody>
          <a:bodyPr wrap="square" lIns="0" tIns="0" rIns="0" bIns="0" rtlCol="0" anchor="t"/>
          <a:lstStyle/>
          <a:p>
            <a:pPr marL="0" indent="0">
              <a:buNone/>
            </a:pPr>
            <a:r>
              <a:rPr lang="en-US" sz="1400" dirty="0">
                <a:solidFill>
                  <a:srgbClr val="CCDDEE"/>
                </a:solidFill>
              </a:rPr>
              <a:t>Powiadomienia o nowych wiadomościach, alertach, błędach. Przyciąga uwagę gdy użytkownik nie patrzy.</a:t>
            </a:r>
            <a:endParaRPr lang="en-US" sz="1400" dirty="0"/>
          </a:p>
        </p:txBody>
      </p:sp>
      <p:sp>
        <p:nvSpPr>
          <p:cNvPr id="12" name="Shape 10"/>
          <p:cNvSpPr/>
          <p:nvPr/>
        </p:nvSpPr>
        <p:spPr>
          <a:xfrm>
            <a:off x="320040" y="1981200"/>
            <a:ext cx="4251960" cy="96012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13" name="Shape 11"/>
          <p:cNvSpPr/>
          <p:nvPr/>
        </p:nvSpPr>
        <p:spPr>
          <a:xfrm>
            <a:off x="320040" y="1981200"/>
            <a:ext cx="45720" cy="960120"/>
          </a:xfrm>
          <a:prstGeom prst="rect">
            <a:avLst/>
          </a:prstGeom>
          <a:solidFill>
            <a:srgbClr val="B388FF"/>
          </a:solidFill>
          <a:ln w="12700">
            <a:solidFill>
              <a:srgbClr val="B388FF"/>
            </a:solidFill>
            <a:prstDash val="solid"/>
          </a:ln>
        </p:spPr>
      </p:sp>
      <p:sp>
        <p:nvSpPr>
          <p:cNvPr id="14" name="Text 12"/>
          <p:cNvSpPr/>
          <p:nvPr/>
        </p:nvSpPr>
        <p:spPr>
          <a:xfrm>
            <a:off x="429768" y="2045208"/>
            <a:ext cx="4096512" cy="256032"/>
          </a:xfrm>
          <a:prstGeom prst="rect">
            <a:avLst/>
          </a:prstGeom>
          <a:noFill/>
          <a:ln/>
        </p:spPr>
        <p:txBody>
          <a:bodyPr wrap="square" lIns="0" tIns="0" rIns="0" bIns="0" rtlCol="0" anchor="t"/>
          <a:lstStyle/>
          <a:p>
            <a:pPr marL="0" indent="0">
              <a:buNone/>
            </a:pPr>
            <a:r>
              <a:rPr lang="en-US" sz="1600" b="1" dirty="0">
                <a:solidFill>
                  <a:srgbClr val="B388FF"/>
                </a:solidFill>
              </a:rPr>
              <a:t>Budowanie Atmosfery</a:t>
            </a:r>
            <a:endParaRPr lang="en-US" sz="1600" dirty="0"/>
          </a:p>
        </p:txBody>
      </p:sp>
      <p:sp>
        <p:nvSpPr>
          <p:cNvPr id="15" name="Text 13"/>
          <p:cNvSpPr/>
          <p:nvPr/>
        </p:nvSpPr>
        <p:spPr>
          <a:xfrm>
            <a:off x="429768" y="2310384"/>
            <a:ext cx="4096512" cy="532368"/>
          </a:xfrm>
          <a:prstGeom prst="rect">
            <a:avLst/>
          </a:prstGeom>
          <a:noFill/>
          <a:ln/>
        </p:spPr>
        <p:txBody>
          <a:bodyPr wrap="square" lIns="0" tIns="0" rIns="0" bIns="0" rtlCol="0" anchor="t"/>
          <a:lstStyle/>
          <a:p>
            <a:pPr marL="0" indent="0">
              <a:buNone/>
            </a:pPr>
            <a:r>
              <a:rPr lang="en-US" sz="1400" dirty="0">
                <a:solidFill>
                  <a:srgbClr val="CCDDEE"/>
                </a:solidFill>
              </a:rPr>
              <a:t>Dźwięki ambientowe w grach, medytacji, edukacji. Wzmacniają immersję i zaangażowanie.</a:t>
            </a:r>
            <a:endParaRPr lang="en-US" sz="1400" dirty="0"/>
          </a:p>
        </p:txBody>
      </p:sp>
      <p:sp>
        <p:nvSpPr>
          <p:cNvPr id="16" name="Shape 14"/>
          <p:cNvSpPr/>
          <p:nvPr/>
        </p:nvSpPr>
        <p:spPr>
          <a:xfrm>
            <a:off x="4727448" y="1981200"/>
            <a:ext cx="4251960" cy="96012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17" name="Shape 15"/>
          <p:cNvSpPr/>
          <p:nvPr/>
        </p:nvSpPr>
        <p:spPr>
          <a:xfrm>
            <a:off x="4727448" y="1981200"/>
            <a:ext cx="45720" cy="960120"/>
          </a:xfrm>
          <a:prstGeom prst="rect">
            <a:avLst/>
          </a:prstGeom>
          <a:solidFill>
            <a:srgbClr val="1DE9B6"/>
          </a:solidFill>
          <a:ln w="12700">
            <a:solidFill>
              <a:srgbClr val="1DE9B6"/>
            </a:solidFill>
            <a:prstDash val="solid"/>
          </a:ln>
        </p:spPr>
      </p:sp>
      <p:sp>
        <p:nvSpPr>
          <p:cNvPr id="18" name="Text 16"/>
          <p:cNvSpPr/>
          <p:nvPr/>
        </p:nvSpPr>
        <p:spPr>
          <a:xfrm>
            <a:off x="4837176" y="2045208"/>
            <a:ext cx="4096512" cy="256032"/>
          </a:xfrm>
          <a:prstGeom prst="rect">
            <a:avLst/>
          </a:prstGeom>
          <a:noFill/>
          <a:ln/>
        </p:spPr>
        <p:txBody>
          <a:bodyPr wrap="square" lIns="0" tIns="0" rIns="0" bIns="0" rtlCol="0" anchor="t"/>
          <a:lstStyle/>
          <a:p>
            <a:pPr marL="0" indent="0">
              <a:buNone/>
            </a:pPr>
            <a:r>
              <a:rPr lang="en-US" sz="1000" b="1" dirty="0">
                <a:solidFill>
                  <a:srgbClr val="1DE9B6"/>
                </a:solidFill>
              </a:rPr>
              <a:t>Wsparcie Dostępności</a:t>
            </a:r>
            <a:endParaRPr lang="en-US" sz="1000" dirty="0"/>
          </a:p>
        </p:txBody>
      </p:sp>
      <p:sp>
        <p:nvSpPr>
          <p:cNvPr id="19" name="Text 17"/>
          <p:cNvSpPr/>
          <p:nvPr/>
        </p:nvSpPr>
        <p:spPr>
          <a:xfrm>
            <a:off x="4837176" y="2310384"/>
            <a:ext cx="4096512" cy="532368"/>
          </a:xfrm>
          <a:prstGeom prst="rect">
            <a:avLst/>
          </a:prstGeom>
          <a:noFill/>
          <a:ln/>
        </p:spPr>
        <p:txBody>
          <a:bodyPr wrap="square" lIns="0" tIns="0" rIns="0" bIns="0" rtlCol="0" anchor="t"/>
          <a:lstStyle/>
          <a:p>
            <a:pPr marL="0" indent="0">
              <a:buNone/>
            </a:pPr>
            <a:r>
              <a:rPr lang="en-US" sz="1400" dirty="0">
                <a:solidFill>
                  <a:srgbClr val="CCDDEE"/>
                </a:solidFill>
              </a:rPr>
              <a:t>Dźwięki i opisy audio pomagają osobom niewidomym w nawigacji przez interfejs aplikacji.</a:t>
            </a:r>
            <a:endParaRPr lang="en-US" sz="1400" dirty="0"/>
          </a:p>
        </p:txBody>
      </p:sp>
      <p:sp>
        <p:nvSpPr>
          <p:cNvPr id="20" name="Shape 18"/>
          <p:cNvSpPr/>
          <p:nvPr/>
        </p:nvSpPr>
        <p:spPr>
          <a:xfrm>
            <a:off x="320040" y="3223260"/>
            <a:ext cx="8503920" cy="292608"/>
          </a:xfrm>
          <a:prstGeom prst="rect">
            <a:avLst/>
          </a:prstGeom>
          <a:solidFill>
            <a:srgbClr val="1A3050"/>
          </a:solidFill>
          <a:ln w="12700">
            <a:solidFill>
              <a:srgbClr val="1A3050"/>
            </a:solidFill>
            <a:prstDash val="solid"/>
          </a:ln>
        </p:spPr>
      </p:sp>
      <p:sp>
        <p:nvSpPr>
          <p:cNvPr id="21" name="Text 19"/>
          <p:cNvSpPr/>
          <p:nvPr/>
        </p:nvSpPr>
        <p:spPr>
          <a:xfrm>
            <a:off x="457200" y="3250692"/>
            <a:ext cx="8229600" cy="237744"/>
          </a:xfrm>
          <a:prstGeom prst="rect">
            <a:avLst/>
          </a:prstGeom>
          <a:noFill/>
          <a:ln/>
        </p:spPr>
        <p:txBody>
          <a:bodyPr wrap="square" lIns="0" tIns="0" rIns="0" bIns="0" rtlCol="0" anchor="ctr"/>
          <a:lstStyle/>
          <a:p>
            <a:pPr marL="0" indent="0">
              <a:buNone/>
            </a:pPr>
            <a:r>
              <a:rPr lang="en-US" sz="1000" b="1" dirty="0">
                <a:solidFill>
                  <a:srgbClr val="FFFFFF"/>
                </a:solidFill>
              </a:rPr>
              <a:t>Zasady Projektowania Dźwiękowego</a:t>
            </a:r>
            <a:endParaRPr lang="en-US" sz="1000" dirty="0"/>
          </a:p>
        </p:txBody>
      </p:sp>
      <p:sp>
        <p:nvSpPr>
          <p:cNvPr id="22" name="Text 20"/>
          <p:cNvSpPr/>
          <p:nvPr/>
        </p:nvSpPr>
        <p:spPr>
          <a:xfrm>
            <a:off x="274320" y="3589020"/>
            <a:ext cx="1515885" cy="274320"/>
          </a:xfrm>
          <a:prstGeom prst="rect">
            <a:avLst/>
          </a:prstGeom>
          <a:noFill/>
          <a:ln/>
        </p:spPr>
        <p:txBody>
          <a:bodyPr wrap="square" lIns="0" tIns="0" rIns="0" bIns="0" rtlCol="0" anchor="ctr"/>
          <a:lstStyle/>
          <a:p>
            <a:pPr marL="0" indent="0">
              <a:buNone/>
            </a:pPr>
            <a:r>
              <a:rPr lang="en-US" sz="1000" dirty="0">
                <a:solidFill>
                  <a:schemeClr val="bg1"/>
                </a:solidFill>
              </a:rPr>
              <a:t>• </a:t>
            </a:r>
            <a:r>
              <a:rPr lang="en-US" sz="1000" b="1" dirty="0">
                <a:solidFill>
                  <a:schemeClr val="bg1"/>
                </a:solidFill>
              </a:rPr>
              <a:t>Krótkość</a:t>
            </a:r>
            <a:r>
              <a:rPr lang="en-US" sz="1000" dirty="0">
                <a:solidFill>
                  <a:schemeClr val="bg1"/>
                </a:solidFill>
              </a:rPr>
              <a:t>: max 0.5–1 sek.</a:t>
            </a:r>
          </a:p>
        </p:txBody>
      </p:sp>
      <p:sp>
        <p:nvSpPr>
          <p:cNvPr id="23" name="Text 21"/>
          <p:cNvSpPr/>
          <p:nvPr/>
        </p:nvSpPr>
        <p:spPr>
          <a:xfrm>
            <a:off x="1828305" y="3589020"/>
            <a:ext cx="2111235" cy="274320"/>
          </a:xfrm>
          <a:prstGeom prst="rect">
            <a:avLst/>
          </a:prstGeom>
          <a:noFill/>
          <a:ln/>
        </p:spPr>
        <p:txBody>
          <a:bodyPr wrap="square" lIns="0" tIns="0" rIns="0" bIns="0" rtlCol="0" anchor="ctr"/>
          <a:lstStyle/>
          <a:p>
            <a:pPr marL="0" indent="0">
              <a:buNone/>
            </a:pPr>
            <a:r>
              <a:rPr lang="en-US" sz="1000" dirty="0">
                <a:solidFill>
                  <a:schemeClr val="bg1"/>
                </a:solidFill>
              </a:rPr>
              <a:t>• </a:t>
            </a:r>
            <a:r>
              <a:rPr lang="en-US" sz="1000" b="1" dirty="0">
                <a:solidFill>
                  <a:schemeClr val="bg1"/>
                </a:solidFill>
              </a:rPr>
              <a:t>Subtelność</a:t>
            </a:r>
            <a:r>
              <a:rPr lang="en-US" sz="1000" dirty="0">
                <a:solidFill>
                  <a:schemeClr val="bg1"/>
                </a:solidFill>
              </a:rPr>
              <a:t>: nie dominuj nad treścią</a:t>
            </a:r>
          </a:p>
        </p:txBody>
      </p:sp>
      <p:sp>
        <p:nvSpPr>
          <p:cNvPr id="24" name="Text 22"/>
          <p:cNvSpPr/>
          <p:nvPr/>
        </p:nvSpPr>
        <p:spPr>
          <a:xfrm>
            <a:off x="3909060" y="3589020"/>
            <a:ext cx="2377440" cy="274320"/>
          </a:xfrm>
          <a:prstGeom prst="rect">
            <a:avLst/>
          </a:prstGeom>
          <a:noFill/>
          <a:ln/>
        </p:spPr>
        <p:txBody>
          <a:bodyPr wrap="square" lIns="0" tIns="0" rIns="0" bIns="0" rtlCol="0" anchor="ctr"/>
          <a:lstStyle/>
          <a:p>
            <a:pPr marL="0" indent="0">
              <a:buNone/>
            </a:pPr>
            <a:r>
              <a:rPr lang="en-US" sz="1000" dirty="0">
                <a:solidFill>
                  <a:schemeClr val="bg1"/>
                </a:solidFill>
              </a:rPr>
              <a:t>• </a:t>
            </a:r>
            <a:r>
              <a:rPr lang="en-US" sz="1000" b="1" dirty="0">
                <a:solidFill>
                  <a:schemeClr val="bg1"/>
                </a:solidFill>
              </a:rPr>
              <a:t>Spójność</a:t>
            </a:r>
            <a:r>
              <a:rPr lang="en-US" sz="1000" dirty="0">
                <a:solidFill>
                  <a:schemeClr val="bg1"/>
                </a:solidFill>
              </a:rPr>
              <a:t>: podobne akcje = podobne dźwięki</a:t>
            </a:r>
          </a:p>
        </p:txBody>
      </p:sp>
      <p:sp>
        <p:nvSpPr>
          <p:cNvPr id="25" name="Text 23"/>
          <p:cNvSpPr/>
          <p:nvPr/>
        </p:nvSpPr>
        <p:spPr>
          <a:xfrm>
            <a:off x="6385560" y="3589020"/>
            <a:ext cx="2491740" cy="274320"/>
          </a:xfrm>
          <a:prstGeom prst="rect">
            <a:avLst/>
          </a:prstGeom>
          <a:noFill/>
          <a:ln/>
        </p:spPr>
        <p:txBody>
          <a:bodyPr wrap="square" lIns="0" tIns="0" rIns="0" bIns="0" rtlCol="0" anchor="ctr"/>
          <a:lstStyle/>
          <a:p>
            <a:pPr marL="0" indent="0">
              <a:buNone/>
            </a:pPr>
            <a:r>
              <a:rPr lang="en-US" sz="1000" dirty="0">
                <a:solidFill>
                  <a:schemeClr val="bg1"/>
                </a:solidFill>
              </a:rPr>
              <a:t>• </a:t>
            </a:r>
            <a:r>
              <a:rPr lang="en-US" sz="1000" b="1" dirty="0">
                <a:solidFill>
                  <a:schemeClr val="bg1"/>
                </a:solidFill>
              </a:rPr>
              <a:t>Wyłączalność</a:t>
            </a:r>
            <a:r>
              <a:rPr lang="en-US" sz="1000" dirty="0">
                <a:solidFill>
                  <a:schemeClr val="bg1"/>
                </a:solidFill>
              </a:rPr>
              <a:t>: użytkownik musi mieć kontrolę</a:t>
            </a:r>
          </a:p>
        </p:txBody>
      </p:sp>
      <p:sp>
        <p:nvSpPr>
          <p:cNvPr id="26" name="Shape 24"/>
          <p:cNvSpPr/>
          <p:nvPr/>
        </p:nvSpPr>
        <p:spPr>
          <a:xfrm>
            <a:off x="320040" y="3927348"/>
            <a:ext cx="8503920" cy="411480"/>
          </a:xfrm>
          <a:prstGeom prst="rect">
            <a:avLst/>
          </a:prstGeom>
          <a:solidFill>
            <a:srgbClr val="0A1929"/>
          </a:solidFill>
          <a:ln w="12700">
            <a:solidFill>
              <a:srgbClr val="448AFF"/>
            </a:solidFill>
            <a:prstDash val="solid"/>
          </a:ln>
        </p:spPr>
      </p:sp>
      <p:sp>
        <p:nvSpPr>
          <p:cNvPr id="27" name="Text 25"/>
          <p:cNvSpPr/>
          <p:nvPr/>
        </p:nvSpPr>
        <p:spPr>
          <a:xfrm>
            <a:off x="365760" y="3954780"/>
            <a:ext cx="8473440" cy="347472"/>
          </a:xfrm>
          <a:prstGeom prst="rect">
            <a:avLst/>
          </a:prstGeom>
          <a:noFill/>
          <a:ln/>
        </p:spPr>
        <p:txBody>
          <a:bodyPr wrap="square" lIns="0" tIns="0" rIns="0" bIns="0" rtlCol="0" anchor="ctr"/>
          <a:lstStyle/>
          <a:p>
            <a:pPr marL="0" indent="0">
              <a:buNone/>
            </a:pPr>
            <a:r>
              <a:rPr lang="en-US" sz="1100" dirty="0">
                <a:solidFill>
                  <a:schemeClr val="bg1"/>
                </a:solidFill>
              </a:rPr>
              <a:t>Kontekst: rozważ otoczenie użytkownika. W cichym miejscu dźwięki mogą być zakłócające, w </a:t>
            </a:r>
            <a:r>
              <a:rPr lang="en-US" sz="1100" dirty="0" err="1" smtClean="0">
                <a:solidFill>
                  <a:schemeClr val="bg1"/>
                </a:solidFill>
              </a:rPr>
              <a:t>hałaśliwym</a:t>
            </a:r>
            <a:r>
              <a:rPr lang="en-US" sz="1100" dirty="0" smtClean="0">
                <a:solidFill>
                  <a:schemeClr val="bg1"/>
                </a:solidFill>
              </a:rPr>
              <a:t> </a:t>
            </a:r>
            <a:r>
              <a:rPr lang="en-US" sz="1100" dirty="0">
                <a:solidFill>
                  <a:schemeClr val="bg1"/>
                </a:solidFill>
              </a:rPr>
              <a:t>niezbędne. Zawsze dawaj opcję wyciszenia.</a:t>
            </a:r>
          </a:p>
        </p:txBody>
      </p:sp>
      <p:sp>
        <p:nvSpPr>
          <p:cNvPr id="30" name="Text 28"/>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32 / </a:t>
            </a:r>
            <a:r>
              <a:rPr lang="pl-PL" sz="800" dirty="0" smtClean="0">
                <a:solidFill>
                  <a:srgbClr val="8899AA"/>
                </a:solidFill>
              </a:rPr>
              <a:t>46</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B2A"/>
        </a:solidFill>
        <a:effectLst/>
      </p:bgPr>
    </p:bg>
    <p:spTree>
      <p:nvGrpSpPr>
        <p:cNvPr id="1" name=""/>
        <p:cNvGrpSpPr/>
        <p:nvPr/>
      </p:nvGrpSpPr>
      <p:grpSpPr>
        <a:xfrm>
          <a:off x="0" y="0"/>
          <a:ext cx="0" cy="0"/>
          <a:chOff x="0" y="0"/>
          <a:chExt cx="0" cy="0"/>
        </a:xfrm>
      </p:grpSpPr>
      <p:grpSp>
        <p:nvGrpSpPr>
          <p:cNvPr id="48" name="Grupa 47"/>
          <p:cNvGrpSpPr/>
          <p:nvPr/>
        </p:nvGrpSpPr>
        <p:grpSpPr>
          <a:xfrm>
            <a:off x="-2381" y="4884912"/>
            <a:ext cx="9146381" cy="260136"/>
            <a:chOff x="-2381" y="4884912"/>
            <a:chExt cx="9146381" cy="260136"/>
          </a:xfrm>
        </p:grpSpPr>
        <p:sp>
          <p:nvSpPr>
            <p:cNvPr id="49" name="Shape 52"/>
            <p:cNvSpPr/>
            <p:nvPr/>
          </p:nvSpPr>
          <p:spPr>
            <a:xfrm>
              <a:off x="0" y="4884912"/>
              <a:ext cx="9144000" cy="252000"/>
            </a:xfrm>
            <a:prstGeom prst="rect">
              <a:avLst/>
            </a:prstGeom>
            <a:solidFill>
              <a:srgbClr val="071523"/>
            </a:solidFill>
            <a:ln w="12700">
              <a:solidFill>
                <a:srgbClr val="071523"/>
              </a:solidFill>
              <a:prstDash val="solid"/>
            </a:ln>
          </p:spPr>
        </p:sp>
        <p:sp>
          <p:nvSpPr>
            <p:cNvPr id="50"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51" name="Grupa 50"/>
            <p:cNvGrpSpPr/>
            <p:nvPr/>
          </p:nvGrpSpPr>
          <p:grpSpPr>
            <a:xfrm>
              <a:off x="-2381" y="5099329"/>
              <a:ext cx="9146381" cy="45719"/>
              <a:chOff x="-2381" y="5107500"/>
              <a:chExt cx="9111093" cy="37548"/>
            </a:xfrm>
            <a:solidFill>
              <a:schemeClr val="tx1"/>
            </a:solidFill>
          </p:grpSpPr>
          <p:sp>
            <p:nvSpPr>
              <p:cNvPr id="52"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62"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63"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64"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65"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66"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67"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68"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69"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70"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71"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72"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73"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74" name="Shape 52"/>
              <p:cNvSpPr/>
              <p:nvPr/>
            </p:nvSpPr>
            <p:spPr>
              <a:xfrm>
                <a:off x="4356712" y="5107500"/>
                <a:ext cx="198000" cy="36000"/>
              </a:xfrm>
              <a:prstGeom prst="rect">
                <a:avLst/>
              </a:prstGeom>
              <a:solidFill>
                <a:schemeClr val="accent5">
                  <a:lumMod val="20000"/>
                  <a:lumOff val="80000"/>
                </a:schemeClr>
              </a:solidFill>
              <a:ln w="12700">
                <a:noFill/>
                <a:prstDash val="solid"/>
              </a:ln>
            </p:spPr>
          </p:sp>
          <p:sp>
            <p:nvSpPr>
              <p:cNvPr id="75" name="Shape 52"/>
              <p:cNvSpPr/>
              <p:nvPr/>
            </p:nvSpPr>
            <p:spPr>
              <a:xfrm>
                <a:off x="4554712" y="5107500"/>
                <a:ext cx="198000" cy="36000"/>
              </a:xfrm>
              <a:prstGeom prst="rect">
                <a:avLst/>
              </a:prstGeom>
              <a:solidFill>
                <a:schemeClr val="accent5">
                  <a:lumMod val="20000"/>
                  <a:lumOff val="80000"/>
                </a:schemeClr>
              </a:solidFill>
              <a:ln w="12700">
                <a:noFill/>
                <a:prstDash val="solid"/>
              </a:ln>
            </p:spPr>
          </p:sp>
          <p:sp>
            <p:nvSpPr>
              <p:cNvPr id="76" name="Shape 52"/>
              <p:cNvSpPr/>
              <p:nvPr/>
            </p:nvSpPr>
            <p:spPr>
              <a:xfrm>
                <a:off x="4752712" y="5107500"/>
                <a:ext cx="198000" cy="36000"/>
              </a:xfrm>
              <a:prstGeom prst="rect">
                <a:avLst/>
              </a:prstGeom>
              <a:solidFill>
                <a:schemeClr val="accent5">
                  <a:lumMod val="20000"/>
                  <a:lumOff val="80000"/>
                </a:schemeClr>
              </a:solidFill>
              <a:ln w="12700">
                <a:noFill/>
                <a:prstDash val="solid"/>
              </a:ln>
            </p:spPr>
          </p:sp>
          <p:sp>
            <p:nvSpPr>
              <p:cNvPr id="77" name="Shape 52"/>
              <p:cNvSpPr/>
              <p:nvPr/>
            </p:nvSpPr>
            <p:spPr>
              <a:xfrm>
                <a:off x="4950712" y="5107500"/>
                <a:ext cx="198000" cy="36000"/>
              </a:xfrm>
              <a:prstGeom prst="rect">
                <a:avLst/>
              </a:prstGeom>
              <a:solidFill>
                <a:schemeClr val="accent5">
                  <a:lumMod val="20000"/>
                  <a:lumOff val="80000"/>
                </a:schemeClr>
              </a:solidFill>
              <a:ln w="12700">
                <a:noFill/>
                <a:prstDash val="solid"/>
              </a:ln>
            </p:spPr>
          </p:sp>
          <p:sp>
            <p:nvSpPr>
              <p:cNvPr id="78" name="Shape 52"/>
              <p:cNvSpPr/>
              <p:nvPr/>
            </p:nvSpPr>
            <p:spPr>
              <a:xfrm>
                <a:off x="5148712" y="5107500"/>
                <a:ext cx="198000" cy="36000"/>
              </a:xfrm>
              <a:prstGeom prst="rect">
                <a:avLst/>
              </a:prstGeom>
              <a:solidFill>
                <a:schemeClr val="accent5">
                  <a:lumMod val="20000"/>
                  <a:lumOff val="80000"/>
                </a:schemeClr>
              </a:solidFill>
              <a:ln w="12700">
                <a:noFill/>
                <a:prstDash val="solid"/>
              </a:ln>
            </p:spPr>
          </p:sp>
          <p:sp>
            <p:nvSpPr>
              <p:cNvPr id="79" name="Shape 52"/>
              <p:cNvSpPr/>
              <p:nvPr/>
            </p:nvSpPr>
            <p:spPr>
              <a:xfrm>
                <a:off x="5346712" y="5108400"/>
                <a:ext cx="198000" cy="36000"/>
              </a:xfrm>
              <a:prstGeom prst="rect">
                <a:avLst/>
              </a:prstGeom>
              <a:solidFill>
                <a:schemeClr val="accent5">
                  <a:lumMod val="20000"/>
                  <a:lumOff val="80000"/>
                </a:schemeClr>
              </a:solidFill>
              <a:ln w="12700">
                <a:noFill/>
                <a:prstDash val="solid"/>
              </a:ln>
            </p:spPr>
          </p:sp>
          <p:sp>
            <p:nvSpPr>
              <p:cNvPr id="80" name="Shape 52"/>
              <p:cNvSpPr/>
              <p:nvPr/>
            </p:nvSpPr>
            <p:spPr>
              <a:xfrm>
                <a:off x="5544712" y="5108400"/>
                <a:ext cx="198000" cy="36000"/>
              </a:xfrm>
              <a:prstGeom prst="rect">
                <a:avLst/>
              </a:prstGeom>
              <a:solidFill>
                <a:schemeClr val="accent5">
                  <a:lumMod val="20000"/>
                  <a:lumOff val="80000"/>
                </a:schemeClr>
              </a:solidFill>
              <a:ln w="12700">
                <a:noFill/>
                <a:prstDash val="solid"/>
              </a:ln>
            </p:spPr>
          </p:sp>
          <p:sp>
            <p:nvSpPr>
              <p:cNvPr id="81" name="Shape 52"/>
              <p:cNvSpPr/>
              <p:nvPr/>
            </p:nvSpPr>
            <p:spPr>
              <a:xfrm>
                <a:off x="5742712" y="5108400"/>
                <a:ext cx="198000" cy="36000"/>
              </a:xfrm>
              <a:prstGeom prst="rect">
                <a:avLst/>
              </a:prstGeom>
              <a:solidFill>
                <a:schemeClr val="accent5">
                  <a:lumMod val="20000"/>
                  <a:lumOff val="80000"/>
                </a:schemeClr>
              </a:solidFill>
              <a:ln w="12700">
                <a:noFill/>
                <a:prstDash val="solid"/>
              </a:ln>
            </p:spPr>
          </p:sp>
          <p:sp>
            <p:nvSpPr>
              <p:cNvPr id="82" name="Shape 52"/>
              <p:cNvSpPr/>
              <p:nvPr/>
            </p:nvSpPr>
            <p:spPr>
              <a:xfrm>
                <a:off x="5940712" y="5108400"/>
                <a:ext cx="198000" cy="36000"/>
              </a:xfrm>
              <a:prstGeom prst="rect">
                <a:avLst/>
              </a:prstGeom>
              <a:solidFill>
                <a:schemeClr val="accent5">
                  <a:lumMod val="20000"/>
                  <a:lumOff val="80000"/>
                </a:schemeClr>
              </a:solidFill>
              <a:ln w="12700">
                <a:noFill/>
                <a:prstDash val="solid"/>
              </a:ln>
            </p:spPr>
          </p:sp>
          <p:sp>
            <p:nvSpPr>
              <p:cNvPr id="83" name="Shape 52"/>
              <p:cNvSpPr/>
              <p:nvPr/>
            </p:nvSpPr>
            <p:spPr>
              <a:xfrm>
                <a:off x="6138712" y="5108400"/>
                <a:ext cx="198000" cy="36000"/>
              </a:xfrm>
              <a:prstGeom prst="rect">
                <a:avLst/>
              </a:prstGeom>
              <a:solidFill>
                <a:schemeClr val="accent5">
                  <a:lumMod val="20000"/>
                  <a:lumOff val="80000"/>
                </a:schemeClr>
              </a:solidFill>
              <a:ln w="12700">
                <a:noFill/>
                <a:prstDash val="solid"/>
              </a:ln>
            </p:spPr>
          </p:sp>
          <p:sp>
            <p:nvSpPr>
              <p:cNvPr id="84" name="Shape 52"/>
              <p:cNvSpPr/>
              <p:nvPr/>
            </p:nvSpPr>
            <p:spPr>
              <a:xfrm>
                <a:off x="6336712" y="5108400"/>
                <a:ext cx="198000" cy="36000"/>
              </a:xfrm>
              <a:prstGeom prst="rect">
                <a:avLst/>
              </a:prstGeom>
              <a:solidFill>
                <a:schemeClr val="accent5">
                  <a:lumMod val="20000"/>
                  <a:lumOff val="80000"/>
                </a:schemeClr>
              </a:solidFill>
              <a:ln w="12700">
                <a:noFill/>
                <a:prstDash val="solid"/>
              </a:ln>
            </p:spPr>
          </p:sp>
          <p:sp>
            <p:nvSpPr>
              <p:cNvPr id="85" name="Shape 52"/>
              <p:cNvSpPr/>
              <p:nvPr/>
            </p:nvSpPr>
            <p:spPr>
              <a:xfrm>
                <a:off x="6534712" y="5108400"/>
                <a:ext cx="198000" cy="36000"/>
              </a:xfrm>
              <a:prstGeom prst="rect">
                <a:avLst/>
              </a:prstGeom>
              <a:grpFill/>
              <a:ln w="12700">
                <a:noFill/>
                <a:prstDash val="solid"/>
              </a:ln>
            </p:spPr>
          </p:sp>
          <p:sp>
            <p:nvSpPr>
              <p:cNvPr id="86" name="Shape 52"/>
              <p:cNvSpPr/>
              <p:nvPr/>
            </p:nvSpPr>
            <p:spPr>
              <a:xfrm>
                <a:off x="6732712" y="5108400"/>
                <a:ext cx="198000" cy="36000"/>
              </a:xfrm>
              <a:prstGeom prst="rect">
                <a:avLst/>
              </a:prstGeom>
              <a:grpFill/>
              <a:ln w="12700">
                <a:noFill/>
                <a:prstDash val="solid"/>
              </a:ln>
            </p:spPr>
          </p:sp>
          <p:sp>
            <p:nvSpPr>
              <p:cNvPr id="87" name="Shape 52"/>
              <p:cNvSpPr/>
              <p:nvPr/>
            </p:nvSpPr>
            <p:spPr>
              <a:xfrm>
                <a:off x="6930712" y="5108400"/>
                <a:ext cx="198000" cy="36000"/>
              </a:xfrm>
              <a:prstGeom prst="rect">
                <a:avLst/>
              </a:prstGeom>
              <a:grpFill/>
              <a:ln w="12700">
                <a:noFill/>
                <a:prstDash val="solid"/>
              </a:ln>
            </p:spPr>
          </p:sp>
          <p:sp>
            <p:nvSpPr>
              <p:cNvPr id="88" name="Shape 52"/>
              <p:cNvSpPr/>
              <p:nvPr/>
            </p:nvSpPr>
            <p:spPr>
              <a:xfrm>
                <a:off x="7128712" y="5108400"/>
                <a:ext cx="198000" cy="36000"/>
              </a:xfrm>
              <a:prstGeom prst="rect">
                <a:avLst/>
              </a:prstGeom>
              <a:grpFill/>
              <a:ln w="12700">
                <a:noFill/>
                <a:prstDash val="solid"/>
              </a:ln>
            </p:spPr>
          </p:sp>
          <p:sp>
            <p:nvSpPr>
              <p:cNvPr id="89" name="Shape 52"/>
              <p:cNvSpPr/>
              <p:nvPr/>
            </p:nvSpPr>
            <p:spPr>
              <a:xfrm>
                <a:off x="7326712" y="5108400"/>
                <a:ext cx="198000" cy="36000"/>
              </a:xfrm>
              <a:prstGeom prst="rect">
                <a:avLst/>
              </a:prstGeom>
              <a:grpFill/>
              <a:ln w="12700">
                <a:noFill/>
                <a:prstDash val="solid"/>
              </a:ln>
            </p:spPr>
          </p:sp>
          <p:sp>
            <p:nvSpPr>
              <p:cNvPr id="90" name="Shape 52"/>
              <p:cNvSpPr/>
              <p:nvPr/>
            </p:nvSpPr>
            <p:spPr>
              <a:xfrm>
                <a:off x="7524712" y="5108400"/>
                <a:ext cx="198000" cy="36000"/>
              </a:xfrm>
              <a:prstGeom prst="rect">
                <a:avLst/>
              </a:prstGeom>
              <a:grpFill/>
              <a:ln w="12700">
                <a:noFill/>
                <a:prstDash val="solid"/>
              </a:ln>
            </p:spPr>
          </p:sp>
          <p:sp>
            <p:nvSpPr>
              <p:cNvPr id="91" name="Shape 52"/>
              <p:cNvSpPr/>
              <p:nvPr/>
            </p:nvSpPr>
            <p:spPr>
              <a:xfrm>
                <a:off x="7722712" y="5108400"/>
                <a:ext cx="198000" cy="36000"/>
              </a:xfrm>
              <a:prstGeom prst="rect">
                <a:avLst/>
              </a:prstGeom>
              <a:grpFill/>
              <a:ln w="12700">
                <a:noFill/>
                <a:prstDash val="solid"/>
              </a:ln>
            </p:spPr>
          </p:sp>
          <p:sp>
            <p:nvSpPr>
              <p:cNvPr id="92" name="Shape 52"/>
              <p:cNvSpPr/>
              <p:nvPr/>
            </p:nvSpPr>
            <p:spPr>
              <a:xfrm>
                <a:off x="7920712" y="5109048"/>
                <a:ext cx="198000" cy="36000"/>
              </a:xfrm>
              <a:prstGeom prst="rect">
                <a:avLst/>
              </a:prstGeom>
              <a:grpFill/>
              <a:ln w="12700">
                <a:noFill/>
                <a:prstDash val="solid"/>
              </a:ln>
            </p:spPr>
          </p:sp>
          <p:sp>
            <p:nvSpPr>
              <p:cNvPr id="93" name="Shape 52"/>
              <p:cNvSpPr/>
              <p:nvPr/>
            </p:nvSpPr>
            <p:spPr>
              <a:xfrm>
                <a:off x="8118712" y="5109048"/>
                <a:ext cx="198000" cy="36000"/>
              </a:xfrm>
              <a:prstGeom prst="rect">
                <a:avLst/>
              </a:prstGeom>
              <a:grpFill/>
              <a:ln w="12700">
                <a:noFill/>
                <a:prstDash val="solid"/>
              </a:ln>
            </p:spPr>
          </p:sp>
          <p:sp>
            <p:nvSpPr>
              <p:cNvPr id="94" name="Shape 52"/>
              <p:cNvSpPr/>
              <p:nvPr/>
            </p:nvSpPr>
            <p:spPr>
              <a:xfrm>
                <a:off x="8316712" y="5109048"/>
                <a:ext cx="198000" cy="36000"/>
              </a:xfrm>
              <a:prstGeom prst="rect">
                <a:avLst/>
              </a:prstGeom>
              <a:grpFill/>
              <a:ln w="12700">
                <a:noFill/>
                <a:prstDash val="solid"/>
              </a:ln>
            </p:spPr>
          </p:sp>
          <p:sp>
            <p:nvSpPr>
              <p:cNvPr id="95" name="Shape 52"/>
              <p:cNvSpPr/>
              <p:nvPr/>
            </p:nvSpPr>
            <p:spPr>
              <a:xfrm>
                <a:off x="8514712" y="5109048"/>
                <a:ext cx="198000" cy="36000"/>
              </a:xfrm>
              <a:prstGeom prst="rect">
                <a:avLst/>
              </a:prstGeom>
              <a:grpFill/>
              <a:ln w="12700">
                <a:noFill/>
                <a:prstDash val="solid"/>
              </a:ln>
            </p:spPr>
          </p:sp>
          <p:sp>
            <p:nvSpPr>
              <p:cNvPr id="96" name="Shape 52"/>
              <p:cNvSpPr/>
              <p:nvPr/>
            </p:nvSpPr>
            <p:spPr>
              <a:xfrm>
                <a:off x="8712712" y="5109048"/>
                <a:ext cx="198000" cy="36000"/>
              </a:xfrm>
              <a:prstGeom prst="rect">
                <a:avLst/>
              </a:prstGeom>
              <a:grpFill/>
              <a:ln w="12700">
                <a:noFill/>
                <a:prstDash val="solid"/>
              </a:ln>
            </p:spPr>
          </p:sp>
          <p:sp>
            <p:nvSpPr>
              <p:cNvPr id="97"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448AFF"/>
          </a:solidFill>
          <a:ln w="12700">
            <a:solidFill>
              <a:srgbClr val="448AFF"/>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Haptyka </a:t>
            </a:r>
            <a:r>
              <a:rPr lang="en-US" sz="2200" b="1" dirty="0" err="1">
                <a:solidFill>
                  <a:srgbClr val="FFFFFF"/>
                </a:solidFill>
              </a:rPr>
              <a:t>i</a:t>
            </a:r>
            <a:r>
              <a:rPr lang="en-US" sz="2200" b="1" dirty="0">
                <a:solidFill>
                  <a:srgbClr val="FFFFFF"/>
                </a:solidFill>
              </a:rPr>
              <a:t> </a:t>
            </a:r>
            <a:r>
              <a:rPr lang="pl-PL" sz="2200" b="1" dirty="0" smtClean="0">
                <a:solidFill>
                  <a:srgbClr val="FFFFFF"/>
                </a:solidFill>
              </a:rPr>
              <a:t>s</a:t>
            </a:r>
            <a:r>
              <a:rPr lang="en-US" sz="2200" b="1" dirty="0" err="1" smtClean="0">
                <a:solidFill>
                  <a:srgbClr val="FFFFFF"/>
                </a:solidFill>
              </a:rPr>
              <a:t>przężenie</a:t>
            </a:r>
            <a:r>
              <a:rPr lang="en-US" sz="2200" b="1" dirty="0" smtClean="0">
                <a:solidFill>
                  <a:srgbClr val="FFFFFF"/>
                </a:solidFill>
              </a:rPr>
              <a:t> </a:t>
            </a:r>
            <a:r>
              <a:rPr lang="pl-PL" sz="2200" b="1" dirty="0" smtClean="0">
                <a:solidFill>
                  <a:srgbClr val="FFFFFF"/>
                </a:solidFill>
              </a:rPr>
              <a:t>z</a:t>
            </a:r>
            <a:r>
              <a:rPr lang="en-US" sz="2200" b="1" dirty="0" err="1" smtClean="0">
                <a:solidFill>
                  <a:srgbClr val="FFFFFF"/>
                </a:solidFill>
              </a:rPr>
              <a:t>wrotne</a:t>
            </a:r>
            <a:r>
              <a:rPr lang="en-US" sz="2200" b="1" dirty="0" smtClean="0">
                <a:solidFill>
                  <a:srgbClr val="FFFFFF"/>
                </a:solidFill>
              </a:rPr>
              <a:t> </a:t>
            </a:r>
            <a:r>
              <a:rPr lang="pl-PL" sz="2200" b="1" dirty="0" smtClean="0">
                <a:solidFill>
                  <a:srgbClr val="FFFFFF"/>
                </a:solidFill>
              </a:rPr>
              <a:t>d</a:t>
            </a:r>
            <a:r>
              <a:rPr lang="en-US" sz="2200" b="1" dirty="0" err="1" smtClean="0">
                <a:solidFill>
                  <a:srgbClr val="FFFFFF"/>
                </a:solidFill>
              </a:rPr>
              <a:t>otykowe</a:t>
            </a:r>
            <a:endParaRPr lang="en-US" sz="2200" dirty="0"/>
          </a:p>
        </p:txBody>
      </p:sp>
      <p:sp>
        <p:nvSpPr>
          <p:cNvPr id="4" name="Shape 2"/>
          <p:cNvSpPr/>
          <p:nvPr/>
        </p:nvSpPr>
        <p:spPr>
          <a:xfrm>
            <a:off x="320040" y="914400"/>
            <a:ext cx="4069080" cy="1444752"/>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5" name="Shape 3"/>
          <p:cNvSpPr/>
          <p:nvPr/>
        </p:nvSpPr>
        <p:spPr>
          <a:xfrm>
            <a:off x="320040" y="914400"/>
            <a:ext cx="45720" cy="1444752"/>
          </a:xfrm>
          <a:prstGeom prst="rect">
            <a:avLst/>
          </a:prstGeom>
          <a:solidFill>
            <a:srgbClr val="448AFF"/>
          </a:solidFill>
          <a:ln w="12700">
            <a:solidFill>
              <a:srgbClr val="448AFF"/>
            </a:solidFill>
            <a:prstDash val="solid"/>
          </a:ln>
        </p:spPr>
      </p:sp>
      <p:sp>
        <p:nvSpPr>
          <p:cNvPr id="6" name="Text 4"/>
          <p:cNvSpPr/>
          <p:nvPr/>
        </p:nvSpPr>
        <p:spPr>
          <a:xfrm>
            <a:off x="429768" y="978408"/>
            <a:ext cx="3913632" cy="256032"/>
          </a:xfrm>
          <a:prstGeom prst="rect">
            <a:avLst/>
          </a:prstGeom>
          <a:noFill/>
          <a:ln/>
        </p:spPr>
        <p:txBody>
          <a:bodyPr wrap="square" lIns="0" tIns="0" rIns="0" bIns="0" rtlCol="0" anchor="t"/>
          <a:lstStyle/>
          <a:p>
            <a:pPr marL="0" indent="0">
              <a:buNone/>
            </a:pPr>
            <a:r>
              <a:rPr lang="en-US" sz="1100" b="1" dirty="0">
                <a:solidFill>
                  <a:srgbClr val="448AFF"/>
                </a:solidFill>
              </a:rPr>
              <a:t>Wibracje vs Haptyka</a:t>
            </a:r>
            <a:endParaRPr lang="en-US" sz="1100" dirty="0"/>
          </a:p>
        </p:txBody>
      </p:sp>
      <p:sp>
        <p:nvSpPr>
          <p:cNvPr id="7" name="Text 5"/>
          <p:cNvSpPr/>
          <p:nvPr/>
        </p:nvSpPr>
        <p:spPr>
          <a:xfrm>
            <a:off x="429768" y="1213104"/>
            <a:ext cx="3913632" cy="1095264"/>
          </a:xfrm>
          <a:prstGeom prst="rect">
            <a:avLst/>
          </a:prstGeom>
          <a:noFill/>
          <a:ln/>
        </p:spPr>
        <p:txBody>
          <a:bodyPr wrap="square" lIns="0" tIns="0" rIns="0" bIns="0" rtlCol="0" anchor="t"/>
          <a:lstStyle/>
          <a:p>
            <a:pPr marL="0" indent="0">
              <a:buNone/>
            </a:pPr>
            <a:r>
              <a:rPr lang="en-US" sz="1000" dirty="0">
                <a:solidFill>
                  <a:srgbClr val="CCDDEE"/>
                </a:solidFill>
              </a:rPr>
              <a:t>Haptyka to precyzyjne, kontrolowane sprzężenie zwrotne dotykowe. Nie jest to 'wibracja' — to komunikacja przez dotyk.</a:t>
            </a:r>
            <a:endParaRPr lang="en-US" sz="1000" dirty="0"/>
          </a:p>
          <a:p>
            <a:pPr marL="0" indent="0">
              <a:buNone/>
            </a:pPr>
            <a:endParaRPr lang="en-US" sz="1000" dirty="0"/>
          </a:p>
          <a:p>
            <a:pPr marL="0" indent="0">
              <a:buNone/>
            </a:pPr>
            <a:r>
              <a:rPr lang="en-US" sz="1000" dirty="0">
                <a:solidFill>
                  <a:srgbClr val="CCDDEE"/>
                </a:solidFill>
              </a:rPr>
              <a:t>Rodzaje (iOS):</a:t>
            </a:r>
            <a:endParaRPr lang="en-US" sz="1000" dirty="0"/>
          </a:p>
          <a:p>
            <a:pPr marL="0" indent="0">
              <a:buNone/>
            </a:pPr>
            <a:r>
              <a:rPr lang="en-US" sz="1000" dirty="0">
                <a:solidFill>
                  <a:srgbClr val="CCDDEE"/>
                </a:solidFill>
              </a:rPr>
              <a:t>• Impact: Light, Medium, Heavy — różna intensywność</a:t>
            </a:r>
            <a:endParaRPr lang="en-US" sz="1000" dirty="0"/>
          </a:p>
          <a:p>
            <a:pPr marL="0" indent="0">
              <a:buNone/>
            </a:pPr>
            <a:r>
              <a:rPr lang="en-US" sz="1000" dirty="0">
                <a:solidFill>
                  <a:srgbClr val="CCDDEE"/>
                </a:solidFill>
              </a:rPr>
              <a:t>• Selection: delikatny feedback przy zmianie wyboru</a:t>
            </a:r>
            <a:endParaRPr lang="en-US" sz="1000" dirty="0"/>
          </a:p>
          <a:p>
            <a:pPr marL="0" indent="0">
              <a:buNone/>
            </a:pPr>
            <a:r>
              <a:rPr lang="en-US" sz="1000" dirty="0">
                <a:solidFill>
                  <a:srgbClr val="CCDDEE"/>
                </a:solidFill>
              </a:rPr>
              <a:t>• Notification: Success, Warning, Error — stany aplikacji</a:t>
            </a:r>
            <a:endParaRPr lang="en-US" sz="1000" dirty="0"/>
          </a:p>
        </p:txBody>
      </p:sp>
      <p:sp>
        <p:nvSpPr>
          <p:cNvPr id="8" name="Shape 6"/>
          <p:cNvSpPr/>
          <p:nvPr/>
        </p:nvSpPr>
        <p:spPr>
          <a:xfrm>
            <a:off x="320040" y="2491740"/>
            <a:ext cx="4069080" cy="475488"/>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9" name="Shape 7"/>
          <p:cNvSpPr/>
          <p:nvPr/>
        </p:nvSpPr>
        <p:spPr>
          <a:xfrm>
            <a:off x="320040" y="2491740"/>
            <a:ext cx="45720" cy="475488"/>
          </a:xfrm>
          <a:prstGeom prst="rect">
            <a:avLst/>
          </a:prstGeom>
          <a:solidFill>
            <a:srgbClr val="00D4FF"/>
          </a:solidFill>
          <a:ln w="12700">
            <a:solidFill>
              <a:srgbClr val="00D4FF"/>
            </a:solidFill>
            <a:prstDash val="solid"/>
          </a:ln>
        </p:spPr>
      </p:sp>
      <p:sp>
        <p:nvSpPr>
          <p:cNvPr id="10" name="Text 8"/>
          <p:cNvSpPr/>
          <p:nvPr/>
        </p:nvSpPr>
        <p:spPr>
          <a:xfrm>
            <a:off x="429768" y="2555748"/>
            <a:ext cx="3913632" cy="256032"/>
          </a:xfrm>
          <a:prstGeom prst="rect">
            <a:avLst/>
          </a:prstGeom>
          <a:noFill/>
          <a:ln/>
        </p:spPr>
        <p:txBody>
          <a:bodyPr wrap="square" lIns="0" tIns="0" rIns="0" bIns="0" rtlCol="0" anchor="t"/>
          <a:lstStyle/>
          <a:p>
            <a:pPr marL="0" indent="0">
              <a:buNone/>
            </a:pPr>
            <a:r>
              <a:rPr lang="en-US" sz="1000" b="1" dirty="0">
                <a:solidFill>
                  <a:srgbClr val="00D4FF"/>
                </a:solidFill>
              </a:rPr>
              <a:t>Potwierdzenie akcji</a:t>
            </a:r>
            <a:endParaRPr lang="en-US" sz="1000" dirty="0"/>
          </a:p>
        </p:txBody>
      </p:sp>
      <p:sp>
        <p:nvSpPr>
          <p:cNvPr id="11" name="Text 9"/>
          <p:cNvSpPr/>
          <p:nvPr/>
        </p:nvSpPr>
        <p:spPr>
          <a:xfrm>
            <a:off x="429768" y="2820924"/>
            <a:ext cx="3913632" cy="91440"/>
          </a:xfrm>
          <a:prstGeom prst="rect">
            <a:avLst/>
          </a:prstGeom>
          <a:noFill/>
          <a:ln/>
        </p:spPr>
        <p:txBody>
          <a:bodyPr wrap="square" lIns="0" tIns="0" rIns="0" bIns="0" rtlCol="0" anchor="t"/>
          <a:lstStyle/>
          <a:p>
            <a:pPr marL="0" indent="0">
              <a:buNone/>
            </a:pPr>
            <a:r>
              <a:rPr lang="en-US" sz="800" dirty="0">
                <a:solidFill>
                  <a:srgbClr val="CCDDEE"/>
                </a:solidFill>
              </a:rPr>
              <a:t>Tapnięcie przycisku, sukces operacji</a:t>
            </a:r>
            <a:endParaRPr lang="en-US" sz="800" dirty="0"/>
          </a:p>
        </p:txBody>
      </p:sp>
      <p:sp>
        <p:nvSpPr>
          <p:cNvPr id="12" name="Shape 10"/>
          <p:cNvSpPr/>
          <p:nvPr/>
        </p:nvSpPr>
        <p:spPr>
          <a:xfrm>
            <a:off x="320040" y="3058668"/>
            <a:ext cx="4069080" cy="475488"/>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13" name="Shape 11"/>
          <p:cNvSpPr/>
          <p:nvPr/>
        </p:nvSpPr>
        <p:spPr>
          <a:xfrm>
            <a:off x="320040" y="3058668"/>
            <a:ext cx="45720" cy="475488"/>
          </a:xfrm>
          <a:prstGeom prst="rect">
            <a:avLst/>
          </a:prstGeom>
          <a:solidFill>
            <a:srgbClr val="00E676"/>
          </a:solidFill>
          <a:ln w="12700">
            <a:solidFill>
              <a:srgbClr val="00E676"/>
            </a:solidFill>
            <a:prstDash val="solid"/>
          </a:ln>
        </p:spPr>
      </p:sp>
      <p:sp>
        <p:nvSpPr>
          <p:cNvPr id="14" name="Text 12"/>
          <p:cNvSpPr/>
          <p:nvPr/>
        </p:nvSpPr>
        <p:spPr>
          <a:xfrm>
            <a:off x="429768" y="3122676"/>
            <a:ext cx="3913632" cy="256032"/>
          </a:xfrm>
          <a:prstGeom prst="rect">
            <a:avLst/>
          </a:prstGeom>
          <a:noFill/>
          <a:ln/>
        </p:spPr>
        <p:txBody>
          <a:bodyPr wrap="square" lIns="0" tIns="0" rIns="0" bIns="0" rtlCol="0" anchor="t"/>
          <a:lstStyle/>
          <a:p>
            <a:pPr marL="0" indent="0">
              <a:buNone/>
            </a:pPr>
            <a:r>
              <a:rPr lang="en-US" sz="1000" b="1" dirty="0">
                <a:solidFill>
                  <a:srgbClr val="00E676"/>
                </a:solidFill>
              </a:rPr>
              <a:t>Granice interfejsu</a:t>
            </a:r>
            <a:endParaRPr lang="en-US" sz="1000" dirty="0"/>
          </a:p>
        </p:txBody>
      </p:sp>
      <p:sp>
        <p:nvSpPr>
          <p:cNvPr id="15" name="Text 13"/>
          <p:cNvSpPr/>
          <p:nvPr/>
        </p:nvSpPr>
        <p:spPr>
          <a:xfrm>
            <a:off x="429768" y="3387852"/>
            <a:ext cx="3913632" cy="91440"/>
          </a:xfrm>
          <a:prstGeom prst="rect">
            <a:avLst/>
          </a:prstGeom>
          <a:noFill/>
          <a:ln/>
        </p:spPr>
        <p:txBody>
          <a:bodyPr wrap="square" lIns="0" tIns="0" rIns="0" bIns="0" rtlCol="0" anchor="t"/>
          <a:lstStyle/>
          <a:p>
            <a:pPr marL="0" indent="0">
              <a:buNone/>
            </a:pPr>
            <a:r>
              <a:rPr lang="en-US" sz="800" dirty="0">
                <a:solidFill>
                  <a:srgbClr val="CCDDEE"/>
                </a:solidFill>
              </a:rPr>
              <a:t>Koniec listy, limit znaków w polu</a:t>
            </a:r>
            <a:endParaRPr lang="en-US" sz="800" dirty="0"/>
          </a:p>
        </p:txBody>
      </p:sp>
      <p:sp>
        <p:nvSpPr>
          <p:cNvPr id="16" name="Shape 14"/>
          <p:cNvSpPr/>
          <p:nvPr/>
        </p:nvSpPr>
        <p:spPr>
          <a:xfrm>
            <a:off x="320040" y="3625596"/>
            <a:ext cx="4069080" cy="475488"/>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17" name="Shape 15"/>
          <p:cNvSpPr/>
          <p:nvPr/>
        </p:nvSpPr>
        <p:spPr>
          <a:xfrm>
            <a:off x="320040" y="3625596"/>
            <a:ext cx="45720" cy="475488"/>
          </a:xfrm>
          <a:prstGeom prst="rect">
            <a:avLst/>
          </a:prstGeom>
          <a:solidFill>
            <a:srgbClr val="FF9100"/>
          </a:solidFill>
          <a:ln w="12700">
            <a:solidFill>
              <a:srgbClr val="FF9100"/>
            </a:solidFill>
            <a:prstDash val="solid"/>
          </a:ln>
        </p:spPr>
      </p:sp>
      <p:sp>
        <p:nvSpPr>
          <p:cNvPr id="18" name="Text 16"/>
          <p:cNvSpPr/>
          <p:nvPr/>
        </p:nvSpPr>
        <p:spPr>
          <a:xfrm>
            <a:off x="429768" y="3689604"/>
            <a:ext cx="3913632" cy="256032"/>
          </a:xfrm>
          <a:prstGeom prst="rect">
            <a:avLst/>
          </a:prstGeom>
          <a:noFill/>
          <a:ln/>
        </p:spPr>
        <p:txBody>
          <a:bodyPr wrap="square" lIns="0" tIns="0" rIns="0" bIns="0" rtlCol="0" anchor="t"/>
          <a:lstStyle/>
          <a:p>
            <a:pPr marL="0" indent="0">
              <a:buNone/>
            </a:pPr>
            <a:r>
              <a:rPr lang="en-US" sz="1000" b="1" dirty="0">
                <a:solidFill>
                  <a:srgbClr val="FF9100"/>
                </a:solidFill>
              </a:rPr>
              <a:t>Błędy i walidacja</a:t>
            </a:r>
            <a:endParaRPr lang="en-US" sz="1000" dirty="0"/>
          </a:p>
        </p:txBody>
      </p:sp>
      <p:sp>
        <p:nvSpPr>
          <p:cNvPr id="19" name="Text 17"/>
          <p:cNvSpPr/>
          <p:nvPr/>
        </p:nvSpPr>
        <p:spPr>
          <a:xfrm>
            <a:off x="429768" y="3954780"/>
            <a:ext cx="3913632" cy="91440"/>
          </a:xfrm>
          <a:prstGeom prst="rect">
            <a:avLst/>
          </a:prstGeom>
          <a:noFill/>
          <a:ln/>
        </p:spPr>
        <p:txBody>
          <a:bodyPr wrap="square" lIns="0" tIns="0" rIns="0" bIns="0" rtlCol="0" anchor="t"/>
          <a:lstStyle/>
          <a:p>
            <a:pPr marL="0" indent="0">
              <a:buNone/>
            </a:pPr>
            <a:r>
              <a:rPr lang="en-US" sz="800" dirty="0">
                <a:solidFill>
                  <a:srgbClr val="CCDDEE"/>
                </a:solidFill>
              </a:rPr>
              <a:t>Nieprawidłowe hasło, błąd formularza</a:t>
            </a:r>
            <a:endParaRPr lang="en-US" sz="800" dirty="0"/>
          </a:p>
        </p:txBody>
      </p:sp>
      <p:sp>
        <p:nvSpPr>
          <p:cNvPr id="20" name="Shape 18"/>
          <p:cNvSpPr/>
          <p:nvPr/>
        </p:nvSpPr>
        <p:spPr>
          <a:xfrm>
            <a:off x="320040" y="4192524"/>
            <a:ext cx="4069080" cy="475488"/>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21" name="Shape 19"/>
          <p:cNvSpPr/>
          <p:nvPr/>
        </p:nvSpPr>
        <p:spPr>
          <a:xfrm>
            <a:off x="320040" y="4192524"/>
            <a:ext cx="45720" cy="475488"/>
          </a:xfrm>
          <a:prstGeom prst="rect">
            <a:avLst/>
          </a:prstGeom>
          <a:solidFill>
            <a:srgbClr val="FF2D78"/>
          </a:solidFill>
          <a:ln w="12700">
            <a:solidFill>
              <a:srgbClr val="FF2D78"/>
            </a:solidFill>
            <a:prstDash val="solid"/>
          </a:ln>
        </p:spPr>
      </p:sp>
      <p:sp>
        <p:nvSpPr>
          <p:cNvPr id="22" name="Text 20"/>
          <p:cNvSpPr/>
          <p:nvPr/>
        </p:nvSpPr>
        <p:spPr>
          <a:xfrm>
            <a:off x="429768" y="4256532"/>
            <a:ext cx="3913632" cy="256032"/>
          </a:xfrm>
          <a:prstGeom prst="rect">
            <a:avLst/>
          </a:prstGeom>
          <a:noFill/>
          <a:ln/>
        </p:spPr>
        <p:txBody>
          <a:bodyPr wrap="square" lIns="0" tIns="0" rIns="0" bIns="0" rtlCol="0" anchor="t"/>
          <a:lstStyle/>
          <a:p>
            <a:pPr marL="0" indent="0">
              <a:buNone/>
            </a:pPr>
            <a:r>
              <a:rPr lang="en-US" sz="1000" b="1" dirty="0">
                <a:solidFill>
                  <a:srgbClr val="FF2D78"/>
                </a:solidFill>
              </a:rPr>
              <a:t>Zmiana stanu</a:t>
            </a:r>
            <a:endParaRPr lang="en-US" sz="1000" dirty="0"/>
          </a:p>
        </p:txBody>
      </p:sp>
      <p:sp>
        <p:nvSpPr>
          <p:cNvPr id="23" name="Text 21"/>
          <p:cNvSpPr/>
          <p:nvPr/>
        </p:nvSpPr>
        <p:spPr>
          <a:xfrm>
            <a:off x="429768" y="4521708"/>
            <a:ext cx="3913632" cy="91440"/>
          </a:xfrm>
          <a:prstGeom prst="rect">
            <a:avLst/>
          </a:prstGeom>
          <a:noFill/>
          <a:ln/>
        </p:spPr>
        <p:txBody>
          <a:bodyPr wrap="square" lIns="0" tIns="0" rIns="0" bIns="0" rtlCol="0" anchor="t"/>
          <a:lstStyle/>
          <a:p>
            <a:pPr marL="0" indent="0">
              <a:buNone/>
            </a:pPr>
            <a:r>
              <a:rPr lang="en-US" sz="800" dirty="0">
                <a:solidFill>
                  <a:srgbClr val="CCDDEE"/>
                </a:solidFill>
              </a:rPr>
              <a:t>Włączenie/wyłączenie przełącznika Toggle</a:t>
            </a:r>
            <a:endParaRPr lang="en-US" sz="800" dirty="0"/>
          </a:p>
        </p:txBody>
      </p:sp>
      <p:sp>
        <p:nvSpPr>
          <p:cNvPr id="24" name="Shape 22"/>
          <p:cNvSpPr/>
          <p:nvPr/>
        </p:nvSpPr>
        <p:spPr>
          <a:xfrm>
            <a:off x="4754880" y="914400"/>
            <a:ext cx="4069080" cy="3246120"/>
          </a:xfrm>
          <a:prstGeom prst="rect">
            <a:avLst/>
          </a:prstGeom>
          <a:solidFill>
            <a:srgbClr val="112233"/>
          </a:solidFill>
          <a:ln w="12700">
            <a:solidFill>
              <a:srgbClr val="1A3050"/>
            </a:solidFill>
            <a:prstDash val="solid"/>
          </a:ln>
        </p:spPr>
      </p:sp>
      <p:sp>
        <p:nvSpPr>
          <p:cNvPr id="25" name="Shape 23"/>
          <p:cNvSpPr/>
          <p:nvPr/>
        </p:nvSpPr>
        <p:spPr>
          <a:xfrm>
            <a:off x="4754880" y="914400"/>
            <a:ext cx="45720" cy="3246120"/>
          </a:xfrm>
          <a:prstGeom prst="rect">
            <a:avLst/>
          </a:prstGeom>
          <a:solidFill>
            <a:srgbClr val="448AFF"/>
          </a:solidFill>
          <a:ln w="12700">
            <a:solidFill>
              <a:srgbClr val="448AFF"/>
            </a:solidFill>
            <a:prstDash val="solid"/>
          </a:ln>
        </p:spPr>
      </p:sp>
      <p:sp>
        <p:nvSpPr>
          <p:cNvPr id="26" name="Text 24"/>
          <p:cNvSpPr/>
          <p:nvPr/>
        </p:nvSpPr>
        <p:spPr>
          <a:xfrm>
            <a:off x="4892040" y="972312"/>
            <a:ext cx="3794760" cy="274320"/>
          </a:xfrm>
          <a:prstGeom prst="rect">
            <a:avLst/>
          </a:prstGeom>
          <a:noFill/>
          <a:ln/>
        </p:spPr>
        <p:txBody>
          <a:bodyPr wrap="square" lIns="0" tIns="0" rIns="0" bIns="0" rtlCol="0" anchor="ctr"/>
          <a:lstStyle/>
          <a:p>
            <a:pPr marL="0" indent="0">
              <a:buNone/>
            </a:pPr>
            <a:r>
              <a:rPr lang="en-US" sz="1200" b="1" dirty="0">
                <a:solidFill>
                  <a:srgbClr val="FFFFFF"/>
                </a:solidFill>
              </a:rPr>
              <a:t>Implementacja Haptyki</a:t>
            </a:r>
            <a:endParaRPr lang="en-US" sz="1200" dirty="0"/>
          </a:p>
        </p:txBody>
      </p:sp>
      <p:sp>
        <p:nvSpPr>
          <p:cNvPr id="27" name="Shape 25"/>
          <p:cNvSpPr/>
          <p:nvPr/>
        </p:nvSpPr>
        <p:spPr>
          <a:xfrm>
            <a:off x="4892040" y="1371600"/>
            <a:ext cx="256032" cy="256032"/>
          </a:xfrm>
          <a:prstGeom prst="ellipse">
            <a:avLst/>
          </a:prstGeom>
          <a:solidFill>
            <a:srgbClr val="448AFF"/>
          </a:solidFill>
          <a:ln w="12700">
            <a:solidFill>
              <a:srgbClr val="448AFF"/>
            </a:solidFill>
            <a:prstDash val="solid"/>
          </a:ln>
        </p:spPr>
      </p:sp>
      <p:sp>
        <p:nvSpPr>
          <p:cNvPr id="28" name="Text 26"/>
          <p:cNvSpPr/>
          <p:nvPr/>
        </p:nvSpPr>
        <p:spPr>
          <a:xfrm>
            <a:off x="4892040" y="1371600"/>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1</a:t>
            </a:r>
            <a:endParaRPr lang="en-US" sz="1100" dirty="0"/>
          </a:p>
        </p:txBody>
      </p:sp>
      <p:sp>
        <p:nvSpPr>
          <p:cNvPr id="29" name="Text 27"/>
          <p:cNvSpPr/>
          <p:nvPr/>
        </p:nvSpPr>
        <p:spPr>
          <a:xfrm>
            <a:off x="5239512" y="1371600"/>
            <a:ext cx="3474720" cy="237744"/>
          </a:xfrm>
          <a:prstGeom prst="rect">
            <a:avLst/>
          </a:prstGeom>
          <a:noFill/>
          <a:ln/>
        </p:spPr>
        <p:txBody>
          <a:bodyPr wrap="square" lIns="0" tIns="0" rIns="0" bIns="0" rtlCol="0" anchor="ctr"/>
          <a:lstStyle/>
          <a:p>
            <a:pPr marL="0" indent="0">
              <a:buNone/>
            </a:pPr>
            <a:r>
              <a:rPr lang="en-US" sz="1100" b="1" dirty="0" err="1">
                <a:solidFill>
                  <a:srgbClr val="FFFFFF"/>
                </a:solidFill>
              </a:rPr>
              <a:t>Szanuj</a:t>
            </a:r>
            <a:r>
              <a:rPr lang="en-US" sz="1100" b="1" dirty="0">
                <a:solidFill>
                  <a:srgbClr val="FFFFFF"/>
                </a:solidFill>
              </a:rPr>
              <a:t> </a:t>
            </a:r>
            <a:r>
              <a:rPr lang="pl-PL" sz="1100" b="1" dirty="0" smtClean="0">
                <a:solidFill>
                  <a:srgbClr val="FFFFFF"/>
                </a:solidFill>
              </a:rPr>
              <a:t>u</a:t>
            </a:r>
            <a:r>
              <a:rPr lang="en-US" sz="1100" b="1" dirty="0" err="1" smtClean="0">
                <a:solidFill>
                  <a:srgbClr val="FFFFFF"/>
                </a:solidFill>
              </a:rPr>
              <a:t>stawienia</a:t>
            </a:r>
            <a:r>
              <a:rPr lang="en-US" sz="1100" b="1" dirty="0" smtClean="0">
                <a:solidFill>
                  <a:srgbClr val="FFFFFF"/>
                </a:solidFill>
              </a:rPr>
              <a:t> </a:t>
            </a:r>
            <a:r>
              <a:rPr lang="pl-PL" sz="1100" b="1" dirty="0" smtClean="0">
                <a:solidFill>
                  <a:srgbClr val="FFFFFF"/>
                </a:solidFill>
              </a:rPr>
              <a:t>s</a:t>
            </a:r>
            <a:r>
              <a:rPr lang="en-US" sz="1100" b="1" dirty="0" err="1" smtClean="0">
                <a:solidFill>
                  <a:srgbClr val="FFFFFF"/>
                </a:solidFill>
              </a:rPr>
              <a:t>ystemowe</a:t>
            </a:r>
            <a:endParaRPr lang="en-US" sz="1100" dirty="0"/>
          </a:p>
        </p:txBody>
      </p:sp>
      <p:sp>
        <p:nvSpPr>
          <p:cNvPr id="30" name="Text 28"/>
          <p:cNvSpPr/>
          <p:nvPr/>
        </p:nvSpPr>
        <p:spPr>
          <a:xfrm>
            <a:off x="5239512" y="1636776"/>
            <a:ext cx="3474720" cy="329184"/>
          </a:xfrm>
          <a:prstGeom prst="rect">
            <a:avLst/>
          </a:prstGeom>
          <a:noFill/>
          <a:ln/>
        </p:spPr>
        <p:txBody>
          <a:bodyPr wrap="square" lIns="0" tIns="0" rIns="0" bIns="0" rtlCol="0" anchor="ctr"/>
          <a:lstStyle/>
          <a:p>
            <a:pPr marL="0" indent="0">
              <a:buNone/>
            </a:pPr>
            <a:r>
              <a:rPr lang="en-US" sz="900" dirty="0">
                <a:solidFill>
                  <a:srgbClr val="8899AA"/>
                </a:solidFill>
              </a:rPr>
              <a:t>Jeśli użytkownik wyłączył haptykę w systemie — nie używaj jej. Nigdy.</a:t>
            </a:r>
            <a:endParaRPr lang="en-US" sz="900" dirty="0"/>
          </a:p>
        </p:txBody>
      </p:sp>
      <p:sp>
        <p:nvSpPr>
          <p:cNvPr id="31" name="Shape 29"/>
          <p:cNvSpPr/>
          <p:nvPr/>
        </p:nvSpPr>
        <p:spPr>
          <a:xfrm>
            <a:off x="4892040" y="2029968"/>
            <a:ext cx="256032" cy="256032"/>
          </a:xfrm>
          <a:prstGeom prst="ellipse">
            <a:avLst/>
          </a:prstGeom>
          <a:solidFill>
            <a:srgbClr val="448AFF"/>
          </a:solidFill>
          <a:ln w="12700">
            <a:solidFill>
              <a:srgbClr val="448AFF"/>
            </a:solidFill>
            <a:prstDash val="solid"/>
          </a:ln>
        </p:spPr>
      </p:sp>
      <p:sp>
        <p:nvSpPr>
          <p:cNvPr id="32" name="Text 30"/>
          <p:cNvSpPr/>
          <p:nvPr/>
        </p:nvSpPr>
        <p:spPr>
          <a:xfrm>
            <a:off x="4892040" y="2029968"/>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2</a:t>
            </a:r>
            <a:endParaRPr lang="en-US" sz="1100" dirty="0"/>
          </a:p>
        </p:txBody>
      </p:sp>
      <p:sp>
        <p:nvSpPr>
          <p:cNvPr id="33" name="Text 31"/>
          <p:cNvSpPr/>
          <p:nvPr/>
        </p:nvSpPr>
        <p:spPr>
          <a:xfrm>
            <a:off x="5239512" y="2029968"/>
            <a:ext cx="3474720" cy="237744"/>
          </a:xfrm>
          <a:prstGeom prst="rect">
            <a:avLst/>
          </a:prstGeom>
          <a:noFill/>
          <a:ln/>
        </p:spPr>
        <p:txBody>
          <a:bodyPr wrap="square" lIns="0" tIns="0" rIns="0" bIns="0" rtlCol="0" anchor="ctr"/>
          <a:lstStyle/>
          <a:p>
            <a:pPr marL="0" indent="0">
              <a:buNone/>
            </a:pPr>
            <a:r>
              <a:rPr lang="en-US" sz="1100" b="1" dirty="0">
                <a:solidFill>
                  <a:srgbClr val="FFFFFF"/>
                </a:solidFill>
              </a:rPr>
              <a:t>Integracja z </a:t>
            </a:r>
            <a:r>
              <a:rPr lang="pl-PL" sz="1100" b="1" dirty="0" smtClean="0">
                <a:solidFill>
                  <a:srgbClr val="FFFFFF"/>
                </a:solidFill>
              </a:rPr>
              <a:t>d</a:t>
            </a:r>
            <a:r>
              <a:rPr lang="en-US" sz="1100" b="1" dirty="0" err="1" smtClean="0">
                <a:solidFill>
                  <a:srgbClr val="FFFFFF"/>
                </a:solidFill>
              </a:rPr>
              <a:t>źwiękiem</a:t>
            </a:r>
            <a:endParaRPr lang="en-US" sz="1100" dirty="0"/>
          </a:p>
        </p:txBody>
      </p:sp>
      <p:sp>
        <p:nvSpPr>
          <p:cNvPr id="34" name="Text 32"/>
          <p:cNvSpPr/>
          <p:nvPr/>
        </p:nvSpPr>
        <p:spPr>
          <a:xfrm>
            <a:off x="5239512" y="2295144"/>
            <a:ext cx="3474720" cy="329184"/>
          </a:xfrm>
          <a:prstGeom prst="rect">
            <a:avLst/>
          </a:prstGeom>
          <a:noFill/>
          <a:ln/>
        </p:spPr>
        <p:txBody>
          <a:bodyPr wrap="square" lIns="0" tIns="0" rIns="0" bIns="0" rtlCol="0" anchor="ctr"/>
          <a:lstStyle/>
          <a:p>
            <a:pPr marL="0" indent="0">
              <a:buNone/>
            </a:pPr>
            <a:r>
              <a:rPr lang="en-US" sz="900" dirty="0">
                <a:solidFill>
                  <a:srgbClr val="8899AA"/>
                </a:solidFill>
              </a:rPr>
              <a:t>Haptyka + dźwięk = silniejszy feedback. Używaj razem dla kluczowych akcji.</a:t>
            </a:r>
            <a:endParaRPr lang="en-US" sz="900" dirty="0"/>
          </a:p>
        </p:txBody>
      </p:sp>
      <p:sp>
        <p:nvSpPr>
          <p:cNvPr id="35" name="Shape 33"/>
          <p:cNvSpPr/>
          <p:nvPr/>
        </p:nvSpPr>
        <p:spPr>
          <a:xfrm>
            <a:off x="4892040" y="2688336"/>
            <a:ext cx="256032" cy="256032"/>
          </a:xfrm>
          <a:prstGeom prst="ellipse">
            <a:avLst/>
          </a:prstGeom>
          <a:solidFill>
            <a:srgbClr val="448AFF"/>
          </a:solidFill>
          <a:ln w="12700">
            <a:solidFill>
              <a:srgbClr val="448AFF"/>
            </a:solidFill>
            <a:prstDash val="solid"/>
          </a:ln>
        </p:spPr>
      </p:sp>
      <p:sp>
        <p:nvSpPr>
          <p:cNvPr id="36" name="Text 34"/>
          <p:cNvSpPr/>
          <p:nvPr/>
        </p:nvSpPr>
        <p:spPr>
          <a:xfrm>
            <a:off x="4892040" y="2688336"/>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3</a:t>
            </a:r>
            <a:endParaRPr lang="en-US" sz="1100" dirty="0"/>
          </a:p>
        </p:txBody>
      </p:sp>
      <p:sp>
        <p:nvSpPr>
          <p:cNvPr id="37" name="Text 35"/>
          <p:cNvSpPr/>
          <p:nvPr/>
        </p:nvSpPr>
        <p:spPr>
          <a:xfrm>
            <a:off x="5239512" y="2688336"/>
            <a:ext cx="3474720" cy="237744"/>
          </a:xfrm>
          <a:prstGeom prst="rect">
            <a:avLst/>
          </a:prstGeom>
          <a:noFill/>
          <a:ln/>
        </p:spPr>
        <p:txBody>
          <a:bodyPr wrap="square" lIns="0" tIns="0" rIns="0" bIns="0" rtlCol="0" anchor="ctr"/>
          <a:lstStyle/>
          <a:p>
            <a:pPr marL="0" indent="0">
              <a:buNone/>
            </a:pPr>
            <a:r>
              <a:rPr lang="en-US" sz="1100" b="1" dirty="0">
                <a:solidFill>
                  <a:srgbClr val="FFFFFF"/>
                </a:solidFill>
              </a:rPr>
              <a:t>Testuj </a:t>
            </a:r>
            <a:r>
              <a:rPr lang="en-US" sz="1100" b="1" dirty="0" err="1">
                <a:solidFill>
                  <a:srgbClr val="FFFFFF"/>
                </a:solidFill>
              </a:rPr>
              <a:t>na</a:t>
            </a:r>
            <a:r>
              <a:rPr lang="en-US" sz="1100" b="1" dirty="0">
                <a:solidFill>
                  <a:srgbClr val="FFFFFF"/>
                </a:solidFill>
              </a:rPr>
              <a:t> </a:t>
            </a:r>
            <a:r>
              <a:rPr lang="pl-PL" sz="1100" b="1" dirty="0" smtClean="0">
                <a:solidFill>
                  <a:srgbClr val="FFFFFF"/>
                </a:solidFill>
              </a:rPr>
              <a:t>r</a:t>
            </a:r>
            <a:r>
              <a:rPr lang="en-US" sz="1100" b="1" dirty="0" err="1" smtClean="0">
                <a:solidFill>
                  <a:srgbClr val="FFFFFF"/>
                </a:solidFill>
              </a:rPr>
              <a:t>óżnych</a:t>
            </a:r>
            <a:r>
              <a:rPr lang="en-US" sz="1100" b="1" dirty="0" smtClean="0">
                <a:solidFill>
                  <a:srgbClr val="FFFFFF"/>
                </a:solidFill>
              </a:rPr>
              <a:t> </a:t>
            </a:r>
            <a:r>
              <a:rPr lang="pl-PL" sz="1100" b="1" dirty="0" smtClean="0">
                <a:solidFill>
                  <a:srgbClr val="FFFFFF"/>
                </a:solidFill>
              </a:rPr>
              <a:t>u</a:t>
            </a:r>
            <a:r>
              <a:rPr lang="en-US" sz="1100" b="1" dirty="0" err="1" smtClean="0">
                <a:solidFill>
                  <a:srgbClr val="FFFFFF"/>
                </a:solidFill>
              </a:rPr>
              <a:t>rządzeniach</a:t>
            </a:r>
            <a:endParaRPr lang="en-US" sz="1100" dirty="0"/>
          </a:p>
        </p:txBody>
      </p:sp>
      <p:sp>
        <p:nvSpPr>
          <p:cNvPr id="38" name="Text 36"/>
          <p:cNvSpPr/>
          <p:nvPr/>
        </p:nvSpPr>
        <p:spPr>
          <a:xfrm>
            <a:off x="5239512" y="2953512"/>
            <a:ext cx="3474720" cy="329184"/>
          </a:xfrm>
          <a:prstGeom prst="rect">
            <a:avLst/>
          </a:prstGeom>
          <a:noFill/>
          <a:ln/>
        </p:spPr>
        <p:txBody>
          <a:bodyPr wrap="square" lIns="0" tIns="0" rIns="0" bIns="0" rtlCol="0" anchor="ctr"/>
          <a:lstStyle/>
          <a:p>
            <a:pPr marL="0" indent="0">
              <a:buNone/>
            </a:pPr>
            <a:r>
              <a:rPr lang="en-US" sz="900" dirty="0">
                <a:solidFill>
                  <a:srgbClr val="8899AA"/>
                </a:solidFill>
              </a:rPr>
              <a:t>Silniki haptyczne różnią się między modelami. iPhone 13 ≠ iPhone 7.</a:t>
            </a:r>
            <a:endParaRPr lang="en-US" sz="900" dirty="0"/>
          </a:p>
        </p:txBody>
      </p:sp>
      <p:sp>
        <p:nvSpPr>
          <p:cNvPr id="39" name="Shape 37"/>
          <p:cNvSpPr/>
          <p:nvPr/>
        </p:nvSpPr>
        <p:spPr>
          <a:xfrm>
            <a:off x="4892040" y="3346704"/>
            <a:ext cx="256032" cy="256032"/>
          </a:xfrm>
          <a:prstGeom prst="ellipse">
            <a:avLst/>
          </a:prstGeom>
          <a:solidFill>
            <a:srgbClr val="448AFF"/>
          </a:solidFill>
          <a:ln w="12700">
            <a:solidFill>
              <a:srgbClr val="448AFF"/>
            </a:solidFill>
            <a:prstDash val="solid"/>
          </a:ln>
        </p:spPr>
      </p:sp>
      <p:sp>
        <p:nvSpPr>
          <p:cNvPr id="40" name="Text 38"/>
          <p:cNvSpPr/>
          <p:nvPr/>
        </p:nvSpPr>
        <p:spPr>
          <a:xfrm>
            <a:off x="4892040" y="3346704"/>
            <a:ext cx="256032" cy="256032"/>
          </a:xfrm>
          <a:prstGeom prst="rect">
            <a:avLst/>
          </a:prstGeom>
          <a:noFill/>
          <a:ln/>
        </p:spPr>
        <p:txBody>
          <a:bodyPr wrap="square" lIns="0" tIns="0" rIns="0" bIns="0" rtlCol="0" anchor="ctr"/>
          <a:lstStyle/>
          <a:p>
            <a:pPr marL="0" indent="0" algn="ctr">
              <a:buNone/>
            </a:pPr>
            <a:r>
              <a:rPr lang="en-US" sz="1100" b="1" dirty="0">
                <a:solidFill>
                  <a:srgbClr val="0D1B2A"/>
                </a:solidFill>
              </a:rPr>
              <a:t>4</a:t>
            </a:r>
            <a:endParaRPr lang="en-US" sz="1100" dirty="0"/>
          </a:p>
        </p:txBody>
      </p:sp>
      <p:sp>
        <p:nvSpPr>
          <p:cNvPr id="41" name="Text 39"/>
          <p:cNvSpPr/>
          <p:nvPr/>
        </p:nvSpPr>
        <p:spPr>
          <a:xfrm>
            <a:off x="5239512" y="3346704"/>
            <a:ext cx="3474720" cy="237744"/>
          </a:xfrm>
          <a:prstGeom prst="rect">
            <a:avLst/>
          </a:prstGeom>
          <a:noFill/>
          <a:ln/>
        </p:spPr>
        <p:txBody>
          <a:bodyPr wrap="square" lIns="0" tIns="0" rIns="0" bIns="0" rtlCol="0" anchor="ctr"/>
          <a:lstStyle/>
          <a:p>
            <a:pPr marL="0" indent="0">
              <a:buNone/>
            </a:pPr>
            <a:r>
              <a:rPr lang="en-US" sz="1100" b="1" dirty="0" err="1">
                <a:solidFill>
                  <a:srgbClr val="FFFFFF"/>
                </a:solidFill>
              </a:rPr>
              <a:t>Unikaj</a:t>
            </a:r>
            <a:r>
              <a:rPr lang="en-US" sz="1100" b="1" dirty="0">
                <a:solidFill>
                  <a:srgbClr val="FFFFFF"/>
                </a:solidFill>
              </a:rPr>
              <a:t> </a:t>
            </a:r>
            <a:r>
              <a:rPr lang="pl-PL" sz="1100" b="1" dirty="0" smtClean="0">
                <a:solidFill>
                  <a:srgbClr val="FFFFFF"/>
                </a:solidFill>
              </a:rPr>
              <a:t>n</a:t>
            </a:r>
            <a:r>
              <a:rPr lang="en-US" sz="1100" b="1" dirty="0" err="1" smtClean="0">
                <a:solidFill>
                  <a:srgbClr val="FFFFFF"/>
                </a:solidFill>
              </a:rPr>
              <a:t>admiernego</a:t>
            </a:r>
            <a:r>
              <a:rPr lang="en-US" sz="1100" b="1" dirty="0" smtClean="0">
                <a:solidFill>
                  <a:srgbClr val="FFFFFF"/>
                </a:solidFill>
              </a:rPr>
              <a:t> </a:t>
            </a:r>
            <a:r>
              <a:rPr lang="pl-PL" sz="1100" b="1" dirty="0" smtClean="0">
                <a:solidFill>
                  <a:srgbClr val="FFFFFF"/>
                </a:solidFill>
              </a:rPr>
              <a:t>u</a:t>
            </a:r>
            <a:r>
              <a:rPr lang="en-US" sz="1100" b="1" dirty="0" err="1" smtClean="0">
                <a:solidFill>
                  <a:srgbClr val="FFFFFF"/>
                </a:solidFill>
              </a:rPr>
              <a:t>życia</a:t>
            </a:r>
            <a:endParaRPr lang="en-US" sz="1100" dirty="0"/>
          </a:p>
        </p:txBody>
      </p:sp>
      <p:sp>
        <p:nvSpPr>
          <p:cNvPr id="42" name="Text 40"/>
          <p:cNvSpPr/>
          <p:nvPr/>
        </p:nvSpPr>
        <p:spPr>
          <a:xfrm>
            <a:off x="5239512" y="3611880"/>
            <a:ext cx="3474720" cy="329184"/>
          </a:xfrm>
          <a:prstGeom prst="rect">
            <a:avLst/>
          </a:prstGeom>
          <a:noFill/>
          <a:ln/>
        </p:spPr>
        <p:txBody>
          <a:bodyPr wrap="square" lIns="0" tIns="0" rIns="0" bIns="0" rtlCol="0" anchor="ctr"/>
          <a:lstStyle/>
          <a:p>
            <a:pPr marL="0" indent="0">
              <a:buNone/>
            </a:pPr>
            <a:r>
              <a:rPr lang="en-US" sz="900" dirty="0">
                <a:solidFill>
                  <a:srgbClr val="8899AA"/>
                </a:solidFill>
              </a:rPr>
              <a:t>Haptyka przy każdym dotknięciu jest zmęczająca. Używaj celowo i rzadko.</a:t>
            </a:r>
            <a:endParaRPr lang="en-US" sz="900" dirty="0"/>
          </a:p>
        </p:txBody>
      </p:sp>
      <p:sp>
        <p:nvSpPr>
          <p:cNvPr id="43" name="Shape 41"/>
          <p:cNvSpPr/>
          <p:nvPr/>
        </p:nvSpPr>
        <p:spPr>
          <a:xfrm>
            <a:off x="4754880" y="4224528"/>
            <a:ext cx="4069080" cy="594360"/>
          </a:xfrm>
          <a:prstGeom prst="rect">
            <a:avLst/>
          </a:prstGeom>
          <a:solidFill>
            <a:srgbClr val="0A1929"/>
          </a:solidFill>
          <a:ln w="12700">
            <a:solidFill>
              <a:srgbClr val="1A3050"/>
            </a:solidFill>
            <a:prstDash val="solid"/>
          </a:ln>
        </p:spPr>
      </p:sp>
      <p:sp>
        <p:nvSpPr>
          <p:cNvPr id="44" name="Text 42"/>
          <p:cNvSpPr/>
          <p:nvPr/>
        </p:nvSpPr>
        <p:spPr>
          <a:xfrm>
            <a:off x="4892040" y="4251960"/>
            <a:ext cx="3794760" cy="530352"/>
          </a:xfrm>
          <a:prstGeom prst="rect">
            <a:avLst/>
          </a:prstGeom>
          <a:noFill/>
          <a:ln/>
        </p:spPr>
        <p:txBody>
          <a:bodyPr wrap="square" lIns="0" tIns="0" rIns="0" bIns="0" rtlCol="0" anchor="ctr"/>
          <a:lstStyle/>
          <a:p>
            <a:pPr marL="0" indent="0">
              <a:buNone/>
            </a:pPr>
            <a:r>
              <a:rPr lang="en-US" sz="1000" dirty="0">
                <a:solidFill>
                  <a:schemeClr val="bg1"/>
                </a:solidFill>
              </a:rPr>
              <a:t>Przykłady dobrej haptyki: iPhone Haptic Touch / 3D Touch, klawiatura iOS feedback, Instagram lajki, Apple Pay potwierdzenie płatności.</a:t>
            </a:r>
          </a:p>
        </p:txBody>
      </p:sp>
      <p:sp>
        <p:nvSpPr>
          <p:cNvPr id="47" name="Text 45"/>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33 / </a:t>
            </a:r>
            <a:r>
              <a:rPr lang="pl-PL" sz="800" dirty="0" smtClean="0">
                <a:solidFill>
                  <a:srgbClr val="8899AA"/>
                </a:solidFill>
              </a:rPr>
              <a:t>46</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B2A"/>
        </a:solidFill>
        <a:effectLst/>
      </p:bgPr>
    </p:bg>
    <p:spTree>
      <p:nvGrpSpPr>
        <p:cNvPr id="1" name=""/>
        <p:cNvGrpSpPr/>
        <p:nvPr/>
      </p:nvGrpSpPr>
      <p:grpSpPr>
        <a:xfrm>
          <a:off x="0" y="0"/>
          <a:ext cx="0" cy="0"/>
          <a:chOff x="0" y="0"/>
          <a:chExt cx="0" cy="0"/>
        </a:xfrm>
      </p:grpSpPr>
      <p:grpSp>
        <p:nvGrpSpPr>
          <p:cNvPr id="10" name="Grupa 9"/>
          <p:cNvGrpSpPr/>
          <p:nvPr/>
        </p:nvGrpSpPr>
        <p:grpSpPr>
          <a:xfrm>
            <a:off x="-2381" y="4884912"/>
            <a:ext cx="9146381" cy="260136"/>
            <a:chOff x="-2381" y="4884912"/>
            <a:chExt cx="9146381" cy="260136"/>
          </a:xfrm>
        </p:grpSpPr>
        <p:sp>
          <p:nvSpPr>
            <p:cNvPr id="11" name="Shape 52"/>
            <p:cNvSpPr/>
            <p:nvPr/>
          </p:nvSpPr>
          <p:spPr>
            <a:xfrm>
              <a:off x="0" y="4884912"/>
              <a:ext cx="9144000" cy="252000"/>
            </a:xfrm>
            <a:prstGeom prst="rect">
              <a:avLst/>
            </a:prstGeom>
            <a:solidFill>
              <a:srgbClr val="071523"/>
            </a:solidFill>
            <a:ln w="12700">
              <a:solidFill>
                <a:srgbClr val="071523"/>
              </a:solidFill>
              <a:prstDash val="solid"/>
            </a:ln>
          </p:spPr>
        </p:sp>
        <p:sp>
          <p:nvSpPr>
            <p:cNvPr id="12"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13" name="Grupa 12"/>
            <p:cNvGrpSpPr/>
            <p:nvPr/>
          </p:nvGrpSpPr>
          <p:grpSpPr>
            <a:xfrm>
              <a:off x="-2381" y="5099329"/>
              <a:ext cx="9146381" cy="45719"/>
              <a:chOff x="-2381" y="5107500"/>
              <a:chExt cx="9111093" cy="37548"/>
            </a:xfrm>
            <a:solidFill>
              <a:schemeClr val="tx1"/>
            </a:solidFill>
          </p:grpSpPr>
          <p:sp>
            <p:nvSpPr>
              <p:cNvPr id="14"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15"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16"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17"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18"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19"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20"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21"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22"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23"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24"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25"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26"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27"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28"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29"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30"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31"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32"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33"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34"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35"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36" name="Shape 52"/>
              <p:cNvSpPr/>
              <p:nvPr/>
            </p:nvSpPr>
            <p:spPr>
              <a:xfrm>
                <a:off x="4356712" y="5107500"/>
                <a:ext cx="198000" cy="36000"/>
              </a:xfrm>
              <a:prstGeom prst="rect">
                <a:avLst/>
              </a:prstGeom>
              <a:solidFill>
                <a:schemeClr val="accent5">
                  <a:lumMod val="20000"/>
                  <a:lumOff val="80000"/>
                </a:schemeClr>
              </a:solidFill>
              <a:ln w="12700">
                <a:noFill/>
                <a:prstDash val="solid"/>
              </a:ln>
            </p:spPr>
          </p:sp>
          <p:sp>
            <p:nvSpPr>
              <p:cNvPr id="37" name="Shape 52"/>
              <p:cNvSpPr/>
              <p:nvPr/>
            </p:nvSpPr>
            <p:spPr>
              <a:xfrm>
                <a:off x="4554712" y="5107500"/>
                <a:ext cx="198000" cy="36000"/>
              </a:xfrm>
              <a:prstGeom prst="rect">
                <a:avLst/>
              </a:prstGeom>
              <a:solidFill>
                <a:schemeClr val="accent5">
                  <a:lumMod val="20000"/>
                  <a:lumOff val="80000"/>
                </a:schemeClr>
              </a:solidFill>
              <a:ln w="12700">
                <a:noFill/>
                <a:prstDash val="solid"/>
              </a:ln>
            </p:spPr>
          </p:sp>
          <p:sp>
            <p:nvSpPr>
              <p:cNvPr id="38" name="Shape 52"/>
              <p:cNvSpPr/>
              <p:nvPr/>
            </p:nvSpPr>
            <p:spPr>
              <a:xfrm>
                <a:off x="4752712" y="5107500"/>
                <a:ext cx="198000" cy="36000"/>
              </a:xfrm>
              <a:prstGeom prst="rect">
                <a:avLst/>
              </a:prstGeom>
              <a:solidFill>
                <a:schemeClr val="accent5">
                  <a:lumMod val="20000"/>
                  <a:lumOff val="80000"/>
                </a:schemeClr>
              </a:solidFill>
              <a:ln w="12700">
                <a:noFill/>
                <a:prstDash val="solid"/>
              </a:ln>
            </p:spPr>
          </p:sp>
          <p:sp>
            <p:nvSpPr>
              <p:cNvPr id="39" name="Shape 52"/>
              <p:cNvSpPr/>
              <p:nvPr/>
            </p:nvSpPr>
            <p:spPr>
              <a:xfrm>
                <a:off x="4950712" y="5107500"/>
                <a:ext cx="198000" cy="36000"/>
              </a:xfrm>
              <a:prstGeom prst="rect">
                <a:avLst/>
              </a:prstGeom>
              <a:solidFill>
                <a:schemeClr val="accent5">
                  <a:lumMod val="20000"/>
                  <a:lumOff val="80000"/>
                </a:schemeClr>
              </a:solidFill>
              <a:ln w="12700">
                <a:noFill/>
                <a:prstDash val="solid"/>
              </a:ln>
            </p:spPr>
          </p:sp>
          <p:sp>
            <p:nvSpPr>
              <p:cNvPr id="40" name="Shape 52"/>
              <p:cNvSpPr/>
              <p:nvPr/>
            </p:nvSpPr>
            <p:spPr>
              <a:xfrm>
                <a:off x="5148712" y="5107500"/>
                <a:ext cx="198000" cy="36000"/>
              </a:xfrm>
              <a:prstGeom prst="rect">
                <a:avLst/>
              </a:prstGeom>
              <a:solidFill>
                <a:schemeClr val="accent5">
                  <a:lumMod val="20000"/>
                  <a:lumOff val="80000"/>
                </a:schemeClr>
              </a:solidFill>
              <a:ln w="12700">
                <a:noFill/>
                <a:prstDash val="solid"/>
              </a:ln>
            </p:spPr>
          </p:sp>
          <p:sp>
            <p:nvSpPr>
              <p:cNvPr id="41" name="Shape 52"/>
              <p:cNvSpPr/>
              <p:nvPr/>
            </p:nvSpPr>
            <p:spPr>
              <a:xfrm>
                <a:off x="5346712" y="5108400"/>
                <a:ext cx="198000" cy="36000"/>
              </a:xfrm>
              <a:prstGeom prst="rect">
                <a:avLst/>
              </a:prstGeom>
              <a:solidFill>
                <a:schemeClr val="accent5">
                  <a:lumMod val="20000"/>
                  <a:lumOff val="80000"/>
                </a:schemeClr>
              </a:solidFill>
              <a:ln w="12700">
                <a:noFill/>
                <a:prstDash val="solid"/>
              </a:ln>
            </p:spPr>
          </p:sp>
          <p:sp>
            <p:nvSpPr>
              <p:cNvPr id="42" name="Shape 52"/>
              <p:cNvSpPr/>
              <p:nvPr/>
            </p:nvSpPr>
            <p:spPr>
              <a:xfrm>
                <a:off x="5544712" y="5108400"/>
                <a:ext cx="198000" cy="36000"/>
              </a:xfrm>
              <a:prstGeom prst="rect">
                <a:avLst/>
              </a:prstGeom>
              <a:solidFill>
                <a:schemeClr val="accent5">
                  <a:lumMod val="20000"/>
                  <a:lumOff val="80000"/>
                </a:schemeClr>
              </a:solidFill>
              <a:ln w="12700">
                <a:noFill/>
                <a:prstDash val="solid"/>
              </a:ln>
            </p:spPr>
          </p:sp>
          <p:sp>
            <p:nvSpPr>
              <p:cNvPr id="43" name="Shape 52"/>
              <p:cNvSpPr/>
              <p:nvPr/>
            </p:nvSpPr>
            <p:spPr>
              <a:xfrm>
                <a:off x="5742712" y="5108400"/>
                <a:ext cx="198000" cy="36000"/>
              </a:xfrm>
              <a:prstGeom prst="rect">
                <a:avLst/>
              </a:prstGeom>
              <a:solidFill>
                <a:schemeClr val="accent5">
                  <a:lumMod val="20000"/>
                  <a:lumOff val="80000"/>
                </a:schemeClr>
              </a:solidFill>
              <a:ln w="12700">
                <a:noFill/>
                <a:prstDash val="solid"/>
              </a:ln>
            </p:spPr>
          </p:sp>
          <p:sp>
            <p:nvSpPr>
              <p:cNvPr id="44" name="Shape 52"/>
              <p:cNvSpPr/>
              <p:nvPr/>
            </p:nvSpPr>
            <p:spPr>
              <a:xfrm>
                <a:off x="5940712" y="5108400"/>
                <a:ext cx="198000" cy="36000"/>
              </a:xfrm>
              <a:prstGeom prst="rect">
                <a:avLst/>
              </a:prstGeom>
              <a:solidFill>
                <a:schemeClr val="accent5">
                  <a:lumMod val="20000"/>
                  <a:lumOff val="80000"/>
                </a:schemeClr>
              </a:solidFill>
              <a:ln w="12700">
                <a:noFill/>
                <a:prstDash val="solid"/>
              </a:ln>
            </p:spPr>
          </p:sp>
          <p:sp>
            <p:nvSpPr>
              <p:cNvPr id="45" name="Shape 52"/>
              <p:cNvSpPr/>
              <p:nvPr/>
            </p:nvSpPr>
            <p:spPr>
              <a:xfrm>
                <a:off x="6138712" y="5108400"/>
                <a:ext cx="198000" cy="36000"/>
              </a:xfrm>
              <a:prstGeom prst="rect">
                <a:avLst/>
              </a:prstGeom>
              <a:solidFill>
                <a:schemeClr val="accent5">
                  <a:lumMod val="20000"/>
                  <a:lumOff val="80000"/>
                </a:schemeClr>
              </a:solidFill>
              <a:ln w="12700">
                <a:noFill/>
                <a:prstDash val="solid"/>
              </a:ln>
            </p:spPr>
          </p:sp>
          <p:sp>
            <p:nvSpPr>
              <p:cNvPr id="46" name="Shape 52"/>
              <p:cNvSpPr/>
              <p:nvPr/>
            </p:nvSpPr>
            <p:spPr>
              <a:xfrm>
                <a:off x="6336712" y="5108400"/>
                <a:ext cx="198000" cy="36000"/>
              </a:xfrm>
              <a:prstGeom prst="rect">
                <a:avLst/>
              </a:prstGeom>
              <a:solidFill>
                <a:schemeClr val="accent5">
                  <a:lumMod val="20000"/>
                  <a:lumOff val="80000"/>
                </a:schemeClr>
              </a:solidFill>
              <a:ln w="12700">
                <a:noFill/>
                <a:prstDash val="solid"/>
              </a:ln>
            </p:spPr>
          </p:sp>
          <p:sp>
            <p:nvSpPr>
              <p:cNvPr id="47" name="Shape 52"/>
              <p:cNvSpPr/>
              <p:nvPr/>
            </p:nvSpPr>
            <p:spPr>
              <a:xfrm>
                <a:off x="6534712" y="5108400"/>
                <a:ext cx="198000" cy="36000"/>
              </a:xfrm>
              <a:prstGeom prst="rect">
                <a:avLst/>
              </a:prstGeom>
              <a:solidFill>
                <a:schemeClr val="accent5">
                  <a:lumMod val="20000"/>
                  <a:lumOff val="80000"/>
                </a:schemeClr>
              </a:solidFill>
              <a:ln w="12700">
                <a:noFill/>
                <a:prstDash val="solid"/>
              </a:ln>
            </p:spPr>
          </p:sp>
          <p:sp>
            <p:nvSpPr>
              <p:cNvPr id="48" name="Shape 52"/>
              <p:cNvSpPr/>
              <p:nvPr/>
            </p:nvSpPr>
            <p:spPr>
              <a:xfrm>
                <a:off x="6732712" y="5108400"/>
                <a:ext cx="198000" cy="36000"/>
              </a:xfrm>
              <a:prstGeom prst="rect">
                <a:avLst/>
              </a:prstGeom>
              <a:grpFill/>
              <a:ln w="12700">
                <a:noFill/>
                <a:prstDash val="solid"/>
              </a:ln>
            </p:spPr>
          </p:sp>
          <p:sp>
            <p:nvSpPr>
              <p:cNvPr id="49" name="Shape 52"/>
              <p:cNvSpPr/>
              <p:nvPr/>
            </p:nvSpPr>
            <p:spPr>
              <a:xfrm>
                <a:off x="6930712" y="5108400"/>
                <a:ext cx="198000" cy="36000"/>
              </a:xfrm>
              <a:prstGeom prst="rect">
                <a:avLst/>
              </a:prstGeom>
              <a:grpFill/>
              <a:ln w="12700">
                <a:noFill/>
                <a:prstDash val="solid"/>
              </a:ln>
            </p:spPr>
          </p:sp>
          <p:sp>
            <p:nvSpPr>
              <p:cNvPr id="50" name="Shape 52"/>
              <p:cNvSpPr/>
              <p:nvPr/>
            </p:nvSpPr>
            <p:spPr>
              <a:xfrm>
                <a:off x="7128712" y="5108400"/>
                <a:ext cx="198000" cy="36000"/>
              </a:xfrm>
              <a:prstGeom prst="rect">
                <a:avLst/>
              </a:prstGeom>
              <a:grpFill/>
              <a:ln w="12700">
                <a:noFill/>
                <a:prstDash val="solid"/>
              </a:ln>
            </p:spPr>
          </p:sp>
          <p:sp>
            <p:nvSpPr>
              <p:cNvPr id="51" name="Shape 52"/>
              <p:cNvSpPr/>
              <p:nvPr/>
            </p:nvSpPr>
            <p:spPr>
              <a:xfrm>
                <a:off x="7326712" y="5108400"/>
                <a:ext cx="198000" cy="36000"/>
              </a:xfrm>
              <a:prstGeom prst="rect">
                <a:avLst/>
              </a:prstGeom>
              <a:grpFill/>
              <a:ln w="12700">
                <a:noFill/>
                <a:prstDash val="solid"/>
              </a:ln>
            </p:spPr>
          </p:sp>
          <p:sp>
            <p:nvSpPr>
              <p:cNvPr id="52" name="Shape 52"/>
              <p:cNvSpPr/>
              <p:nvPr/>
            </p:nvSpPr>
            <p:spPr>
              <a:xfrm>
                <a:off x="7524712" y="5108400"/>
                <a:ext cx="198000" cy="36000"/>
              </a:xfrm>
              <a:prstGeom prst="rect">
                <a:avLst/>
              </a:prstGeom>
              <a:grpFill/>
              <a:ln w="12700">
                <a:noFill/>
                <a:prstDash val="solid"/>
              </a:ln>
            </p:spPr>
          </p:sp>
          <p:sp>
            <p:nvSpPr>
              <p:cNvPr id="53" name="Shape 52"/>
              <p:cNvSpPr/>
              <p:nvPr/>
            </p:nvSpPr>
            <p:spPr>
              <a:xfrm>
                <a:off x="7722712" y="5108400"/>
                <a:ext cx="198000" cy="36000"/>
              </a:xfrm>
              <a:prstGeom prst="rect">
                <a:avLst/>
              </a:prstGeom>
              <a:grpFill/>
              <a:ln w="12700">
                <a:noFill/>
                <a:prstDash val="solid"/>
              </a:ln>
            </p:spPr>
          </p:sp>
          <p:sp>
            <p:nvSpPr>
              <p:cNvPr id="54" name="Shape 52"/>
              <p:cNvSpPr/>
              <p:nvPr/>
            </p:nvSpPr>
            <p:spPr>
              <a:xfrm>
                <a:off x="7920712" y="5109048"/>
                <a:ext cx="198000" cy="36000"/>
              </a:xfrm>
              <a:prstGeom prst="rect">
                <a:avLst/>
              </a:prstGeom>
              <a:grpFill/>
              <a:ln w="12700">
                <a:noFill/>
                <a:prstDash val="solid"/>
              </a:ln>
            </p:spPr>
          </p:sp>
          <p:sp>
            <p:nvSpPr>
              <p:cNvPr id="55" name="Shape 52"/>
              <p:cNvSpPr/>
              <p:nvPr/>
            </p:nvSpPr>
            <p:spPr>
              <a:xfrm>
                <a:off x="8118712" y="5109048"/>
                <a:ext cx="198000" cy="36000"/>
              </a:xfrm>
              <a:prstGeom prst="rect">
                <a:avLst/>
              </a:prstGeom>
              <a:grpFill/>
              <a:ln w="12700">
                <a:noFill/>
                <a:prstDash val="solid"/>
              </a:ln>
            </p:spPr>
          </p:sp>
          <p:sp>
            <p:nvSpPr>
              <p:cNvPr id="56" name="Shape 52"/>
              <p:cNvSpPr/>
              <p:nvPr/>
            </p:nvSpPr>
            <p:spPr>
              <a:xfrm>
                <a:off x="8316712" y="5109048"/>
                <a:ext cx="198000" cy="36000"/>
              </a:xfrm>
              <a:prstGeom prst="rect">
                <a:avLst/>
              </a:prstGeom>
              <a:grpFill/>
              <a:ln w="12700">
                <a:noFill/>
                <a:prstDash val="solid"/>
              </a:ln>
            </p:spPr>
          </p:sp>
          <p:sp>
            <p:nvSpPr>
              <p:cNvPr id="57" name="Shape 52"/>
              <p:cNvSpPr/>
              <p:nvPr/>
            </p:nvSpPr>
            <p:spPr>
              <a:xfrm>
                <a:off x="8514712" y="5109048"/>
                <a:ext cx="198000" cy="36000"/>
              </a:xfrm>
              <a:prstGeom prst="rect">
                <a:avLst/>
              </a:prstGeom>
              <a:grpFill/>
              <a:ln w="12700">
                <a:noFill/>
                <a:prstDash val="solid"/>
              </a:ln>
            </p:spPr>
          </p:sp>
          <p:sp>
            <p:nvSpPr>
              <p:cNvPr id="58" name="Shape 52"/>
              <p:cNvSpPr/>
              <p:nvPr/>
            </p:nvSpPr>
            <p:spPr>
              <a:xfrm>
                <a:off x="8712712" y="5109048"/>
                <a:ext cx="198000" cy="36000"/>
              </a:xfrm>
              <a:prstGeom prst="rect">
                <a:avLst/>
              </a:prstGeom>
              <a:grpFill/>
              <a:ln w="12700">
                <a:noFill/>
                <a:prstDash val="solid"/>
              </a:ln>
            </p:spPr>
          </p:sp>
          <p:sp>
            <p:nvSpPr>
              <p:cNvPr id="59"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0" y="1645920"/>
            <a:ext cx="9144000" cy="1828800"/>
          </a:xfrm>
          <a:prstGeom prst="rect">
            <a:avLst/>
          </a:prstGeom>
          <a:solidFill>
            <a:srgbClr val="112233"/>
          </a:solidFill>
          <a:ln w="12700">
            <a:solidFill>
              <a:srgbClr val="112233"/>
            </a:solidFill>
            <a:prstDash val="solid"/>
          </a:ln>
        </p:spPr>
      </p:sp>
      <p:sp>
        <p:nvSpPr>
          <p:cNvPr id="3" name="Shape 1"/>
          <p:cNvSpPr/>
          <p:nvPr/>
        </p:nvSpPr>
        <p:spPr>
          <a:xfrm>
            <a:off x="0" y="1645920"/>
            <a:ext cx="109728" cy="1828800"/>
          </a:xfrm>
          <a:prstGeom prst="rect">
            <a:avLst/>
          </a:prstGeom>
          <a:solidFill>
            <a:srgbClr val="1DE9B6"/>
          </a:solidFill>
          <a:ln w="12700">
            <a:solidFill>
              <a:srgbClr val="1DE9B6"/>
            </a:solidFill>
            <a:prstDash val="solid"/>
          </a:ln>
        </p:spPr>
      </p:sp>
      <p:sp>
        <p:nvSpPr>
          <p:cNvPr id="4" name="Text 2"/>
          <p:cNvSpPr/>
          <p:nvPr/>
        </p:nvSpPr>
        <p:spPr>
          <a:xfrm>
            <a:off x="914400" y="548640"/>
            <a:ext cx="7315200" cy="822960"/>
          </a:xfrm>
          <a:prstGeom prst="rect">
            <a:avLst/>
          </a:prstGeom>
          <a:noFill/>
          <a:ln/>
        </p:spPr>
        <p:txBody>
          <a:bodyPr wrap="square" lIns="0" tIns="0" rIns="0" bIns="0" rtlCol="0" anchor="ctr"/>
          <a:lstStyle/>
          <a:p>
            <a:pPr marL="0" indent="0" algn="l">
              <a:buNone/>
            </a:pPr>
            <a:r>
              <a:rPr lang="en-US" sz="5200" b="1" dirty="0">
                <a:solidFill>
                  <a:srgbClr val="1DE9B6"/>
                </a:solidFill>
              </a:rPr>
              <a:t>08</a:t>
            </a:r>
            <a:endParaRPr lang="en-US" sz="5200" dirty="0"/>
          </a:p>
        </p:txBody>
      </p:sp>
      <p:sp>
        <p:nvSpPr>
          <p:cNvPr id="5" name="Text 3"/>
          <p:cNvSpPr/>
          <p:nvPr/>
        </p:nvSpPr>
        <p:spPr>
          <a:xfrm>
            <a:off x="457200" y="1737360"/>
            <a:ext cx="8229600" cy="822960"/>
          </a:xfrm>
          <a:prstGeom prst="rect">
            <a:avLst/>
          </a:prstGeom>
          <a:noFill/>
          <a:ln/>
        </p:spPr>
        <p:txBody>
          <a:bodyPr wrap="square" lIns="0" tIns="0" rIns="0" bIns="0" rtlCol="0" anchor="ctr"/>
          <a:lstStyle/>
          <a:p>
            <a:pPr marL="0" indent="0">
              <a:buNone/>
            </a:pPr>
            <a:r>
              <a:rPr lang="en-US" sz="2800" b="1" dirty="0">
                <a:solidFill>
                  <a:srgbClr val="FFFFFF"/>
                </a:solidFill>
              </a:rPr>
              <a:t>Projektowanie </a:t>
            </a:r>
            <a:r>
              <a:rPr lang="pl-PL" sz="2800" b="1" dirty="0" smtClean="0">
                <a:solidFill>
                  <a:srgbClr val="FFFFFF"/>
                </a:solidFill>
              </a:rPr>
              <a:t>e</a:t>
            </a:r>
            <a:r>
              <a:rPr lang="en-US" sz="2800" b="1" dirty="0" err="1" smtClean="0">
                <a:solidFill>
                  <a:srgbClr val="FFFFFF"/>
                </a:solidFill>
              </a:rPr>
              <a:t>mocjonalne</a:t>
            </a:r>
            <a:endParaRPr lang="en-US" sz="2800" dirty="0"/>
          </a:p>
        </p:txBody>
      </p:sp>
      <p:sp>
        <p:nvSpPr>
          <p:cNvPr id="6" name="Text 4"/>
          <p:cNvSpPr/>
          <p:nvPr/>
        </p:nvSpPr>
        <p:spPr>
          <a:xfrm>
            <a:off x="457200" y="2606040"/>
            <a:ext cx="8229600" cy="548640"/>
          </a:xfrm>
          <a:prstGeom prst="rect">
            <a:avLst/>
          </a:prstGeom>
          <a:noFill/>
          <a:ln/>
        </p:spPr>
        <p:txBody>
          <a:bodyPr wrap="square" lIns="0" tIns="0" rIns="0" bIns="0" rtlCol="0" anchor="t"/>
          <a:lstStyle/>
          <a:p>
            <a:pPr marL="0" indent="0">
              <a:buNone/>
            </a:pPr>
            <a:r>
              <a:rPr lang="en-US" sz="1400" dirty="0">
                <a:solidFill>
                  <a:srgbClr val="8899AA"/>
                </a:solidFill>
              </a:rPr>
              <a:t>Tworzenie połączeń emocjonalnych poprzez design interfejsów</a:t>
            </a:r>
            <a:endParaRPr lang="en-US" sz="1400" dirty="0"/>
          </a:p>
        </p:txBody>
      </p:sp>
      <p:sp>
        <p:nvSpPr>
          <p:cNvPr id="9" name="Text 7"/>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34 / </a:t>
            </a:r>
            <a:r>
              <a:rPr lang="pl-PL" sz="800" dirty="0" smtClean="0">
                <a:solidFill>
                  <a:srgbClr val="8899AA"/>
                </a:solidFill>
              </a:rPr>
              <a:t>46</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B2A"/>
        </a:solidFill>
        <a:effectLst/>
      </p:bgPr>
    </p:bg>
    <p:spTree>
      <p:nvGrpSpPr>
        <p:cNvPr id="1" name=""/>
        <p:cNvGrpSpPr/>
        <p:nvPr/>
      </p:nvGrpSpPr>
      <p:grpSpPr>
        <a:xfrm>
          <a:off x="0" y="0"/>
          <a:ext cx="0" cy="0"/>
          <a:chOff x="0" y="0"/>
          <a:chExt cx="0" cy="0"/>
        </a:xfrm>
      </p:grpSpPr>
      <p:grpSp>
        <p:nvGrpSpPr>
          <p:cNvPr id="21" name="Grupa 20"/>
          <p:cNvGrpSpPr/>
          <p:nvPr/>
        </p:nvGrpSpPr>
        <p:grpSpPr>
          <a:xfrm>
            <a:off x="-2381" y="4884912"/>
            <a:ext cx="9146381" cy="260136"/>
            <a:chOff x="-2381" y="4884912"/>
            <a:chExt cx="9146381" cy="260136"/>
          </a:xfrm>
        </p:grpSpPr>
        <p:sp>
          <p:nvSpPr>
            <p:cNvPr id="22" name="Shape 52"/>
            <p:cNvSpPr/>
            <p:nvPr/>
          </p:nvSpPr>
          <p:spPr>
            <a:xfrm>
              <a:off x="0" y="4884912"/>
              <a:ext cx="9144000" cy="252000"/>
            </a:xfrm>
            <a:prstGeom prst="rect">
              <a:avLst/>
            </a:prstGeom>
            <a:solidFill>
              <a:srgbClr val="071523"/>
            </a:solidFill>
            <a:ln w="12700">
              <a:solidFill>
                <a:srgbClr val="071523"/>
              </a:solidFill>
              <a:prstDash val="solid"/>
            </a:ln>
          </p:spPr>
        </p:sp>
        <p:sp>
          <p:nvSpPr>
            <p:cNvPr id="23"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24" name="Grupa 23"/>
            <p:cNvGrpSpPr/>
            <p:nvPr/>
          </p:nvGrpSpPr>
          <p:grpSpPr>
            <a:xfrm>
              <a:off x="-2381" y="5099329"/>
              <a:ext cx="9146381" cy="45719"/>
              <a:chOff x="-2381" y="5107500"/>
              <a:chExt cx="9111093" cy="37548"/>
            </a:xfrm>
            <a:solidFill>
              <a:schemeClr val="tx1"/>
            </a:solidFill>
          </p:grpSpPr>
          <p:sp>
            <p:nvSpPr>
              <p:cNvPr id="25"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26"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27"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28"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29"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30"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31"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32"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33"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34"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35"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36"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37"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38"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39"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40"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41"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42"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43"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44"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45"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46"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47" name="Shape 52"/>
              <p:cNvSpPr/>
              <p:nvPr/>
            </p:nvSpPr>
            <p:spPr>
              <a:xfrm>
                <a:off x="4356712" y="5107500"/>
                <a:ext cx="198000" cy="36000"/>
              </a:xfrm>
              <a:prstGeom prst="rect">
                <a:avLst/>
              </a:prstGeom>
              <a:solidFill>
                <a:schemeClr val="accent5">
                  <a:lumMod val="20000"/>
                  <a:lumOff val="80000"/>
                </a:schemeClr>
              </a:solidFill>
              <a:ln w="12700">
                <a:noFill/>
                <a:prstDash val="solid"/>
              </a:ln>
            </p:spPr>
          </p:sp>
          <p:sp>
            <p:nvSpPr>
              <p:cNvPr id="48" name="Shape 52"/>
              <p:cNvSpPr/>
              <p:nvPr/>
            </p:nvSpPr>
            <p:spPr>
              <a:xfrm>
                <a:off x="4554712" y="5107500"/>
                <a:ext cx="198000" cy="36000"/>
              </a:xfrm>
              <a:prstGeom prst="rect">
                <a:avLst/>
              </a:prstGeom>
              <a:solidFill>
                <a:schemeClr val="accent5">
                  <a:lumMod val="20000"/>
                  <a:lumOff val="80000"/>
                </a:schemeClr>
              </a:solidFill>
              <a:ln w="12700">
                <a:noFill/>
                <a:prstDash val="solid"/>
              </a:ln>
            </p:spPr>
          </p:sp>
          <p:sp>
            <p:nvSpPr>
              <p:cNvPr id="49" name="Shape 52"/>
              <p:cNvSpPr/>
              <p:nvPr/>
            </p:nvSpPr>
            <p:spPr>
              <a:xfrm>
                <a:off x="4752712" y="5107500"/>
                <a:ext cx="198000" cy="36000"/>
              </a:xfrm>
              <a:prstGeom prst="rect">
                <a:avLst/>
              </a:prstGeom>
              <a:solidFill>
                <a:schemeClr val="accent5">
                  <a:lumMod val="20000"/>
                  <a:lumOff val="80000"/>
                </a:schemeClr>
              </a:solidFill>
              <a:ln w="12700">
                <a:noFill/>
                <a:prstDash val="solid"/>
              </a:ln>
            </p:spPr>
          </p:sp>
          <p:sp>
            <p:nvSpPr>
              <p:cNvPr id="50" name="Shape 52"/>
              <p:cNvSpPr/>
              <p:nvPr/>
            </p:nvSpPr>
            <p:spPr>
              <a:xfrm>
                <a:off x="4950712" y="51075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5148712" y="51075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5346712" y="51084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5544712" y="51084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5742712" y="510840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5940712" y="510840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6138712" y="51084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6336712" y="510840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6534712" y="51084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6732712" y="51084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6930712" y="5108400"/>
                <a:ext cx="198000" cy="36000"/>
              </a:xfrm>
              <a:prstGeom prst="rect">
                <a:avLst/>
              </a:prstGeom>
              <a:grpFill/>
              <a:ln w="12700">
                <a:noFill/>
                <a:prstDash val="solid"/>
              </a:ln>
            </p:spPr>
          </p:sp>
          <p:sp>
            <p:nvSpPr>
              <p:cNvPr id="61" name="Shape 52"/>
              <p:cNvSpPr/>
              <p:nvPr/>
            </p:nvSpPr>
            <p:spPr>
              <a:xfrm>
                <a:off x="7128712" y="5108400"/>
                <a:ext cx="198000" cy="36000"/>
              </a:xfrm>
              <a:prstGeom prst="rect">
                <a:avLst/>
              </a:prstGeom>
              <a:grpFill/>
              <a:ln w="12700">
                <a:noFill/>
                <a:prstDash val="solid"/>
              </a:ln>
            </p:spPr>
          </p:sp>
          <p:sp>
            <p:nvSpPr>
              <p:cNvPr id="62" name="Shape 52"/>
              <p:cNvSpPr/>
              <p:nvPr/>
            </p:nvSpPr>
            <p:spPr>
              <a:xfrm>
                <a:off x="7326712" y="5108400"/>
                <a:ext cx="198000" cy="36000"/>
              </a:xfrm>
              <a:prstGeom prst="rect">
                <a:avLst/>
              </a:prstGeom>
              <a:grpFill/>
              <a:ln w="12700">
                <a:noFill/>
                <a:prstDash val="solid"/>
              </a:ln>
            </p:spPr>
          </p:sp>
          <p:sp>
            <p:nvSpPr>
              <p:cNvPr id="63" name="Shape 52"/>
              <p:cNvSpPr/>
              <p:nvPr/>
            </p:nvSpPr>
            <p:spPr>
              <a:xfrm>
                <a:off x="7524712" y="5108400"/>
                <a:ext cx="198000" cy="36000"/>
              </a:xfrm>
              <a:prstGeom prst="rect">
                <a:avLst/>
              </a:prstGeom>
              <a:grpFill/>
              <a:ln w="12700">
                <a:noFill/>
                <a:prstDash val="solid"/>
              </a:ln>
            </p:spPr>
          </p:sp>
          <p:sp>
            <p:nvSpPr>
              <p:cNvPr id="64" name="Shape 52"/>
              <p:cNvSpPr/>
              <p:nvPr/>
            </p:nvSpPr>
            <p:spPr>
              <a:xfrm>
                <a:off x="7722712" y="5108400"/>
                <a:ext cx="198000" cy="36000"/>
              </a:xfrm>
              <a:prstGeom prst="rect">
                <a:avLst/>
              </a:prstGeom>
              <a:grpFill/>
              <a:ln w="12700">
                <a:noFill/>
                <a:prstDash val="solid"/>
              </a:ln>
            </p:spPr>
          </p:sp>
          <p:sp>
            <p:nvSpPr>
              <p:cNvPr id="65" name="Shape 52"/>
              <p:cNvSpPr/>
              <p:nvPr/>
            </p:nvSpPr>
            <p:spPr>
              <a:xfrm>
                <a:off x="7920712" y="5109048"/>
                <a:ext cx="198000" cy="36000"/>
              </a:xfrm>
              <a:prstGeom prst="rect">
                <a:avLst/>
              </a:prstGeom>
              <a:grpFill/>
              <a:ln w="12700">
                <a:noFill/>
                <a:prstDash val="solid"/>
              </a:ln>
            </p:spPr>
          </p:sp>
          <p:sp>
            <p:nvSpPr>
              <p:cNvPr id="66" name="Shape 52"/>
              <p:cNvSpPr/>
              <p:nvPr/>
            </p:nvSpPr>
            <p:spPr>
              <a:xfrm>
                <a:off x="8118712" y="5109048"/>
                <a:ext cx="198000" cy="36000"/>
              </a:xfrm>
              <a:prstGeom prst="rect">
                <a:avLst/>
              </a:prstGeom>
              <a:grpFill/>
              <a:ln w="12700">
                <a:noFill/>
                <a:prstDash val="solid"/>
              </a:ln>
            </p:spPr>
          </p:sp>
          <p:sp>
            <p:nvSpPr>
              <p:cNvPr id="67" name="Shape 52"/>
              <p:cNvSpPr/>
              <p:nvPr/>
            </p:nvSpPr>
            <p:spPr>
              <a:xfrm>
                <a:off x="8316712" y="5109048"/>
                <a:ext cx="198000" cy="36000"/>
              </a:xfrm>
              <a:prstGeom prst="rect">
                <a:avLst/>
              </a:prstGeom>
              <a:grpFill/>
              <a:ln w="12700">
                <a:noFill/>
                <a:prstDash val="solid"/>
              </a:ln>
            </p:spPr>
          </p:sp>
          <p:sp>
            <p:nvSpPr>
              <p:cNvPr id="68" name="Shape 52"/>
              <p:cNvSpPr/>
              <p:nvPr/>
            </p:nvSpPr>
            <p:spPr>
              <a:xfrm>
                <a:off x="8514712" y="5109048"/>
                <a:ext cx="198000" cy="36000"/>
              </a:xfrm>
              <a:prstGeom prst="rect">
                <a:avLst/>
              </a:prstGeom>
              <a:grpFill/>
              <a:ln w="12700">
                <a:noFill/>
                <a:prstDash val="solid"/>
              </a:ln>
            </p:spPr>
          </p:sp>
          <p:sp>
            <p:nvSpPr>
              <p:cNvPr id="69" name="Shape 52"/>
              <p:cNvSpPr/>
              <p:nvPr/>
            </p:nvSpPr>
            <p:spPr>
              <a:xfrm>
                <a:off x="8712712" y="5109048"/>
                <a:ext cx="198000" cy="36000"/>
              </a:xfrm>
              <a:prstGeom prst="rect">
                <a:avLst/>
              </a:prstGeom>
              <a:grpFill/>
              <a:ln w="12700">
                <a:noFill/>
                <a:prstDash val="solid"/>
              </a:ln>
            </p:spPr>
          </p:sp>
          <p:sp>
            <p:nvSpPr>
              <p:cNvPr id="70"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1DE9B6"/>
          </a:solidFill>
          <a:ln w="12700">
            <a:solidFill>
              <a:srgbClr val="1DE9B6"/>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err="1">
                <a:solidFill>
                  <a:srgbClr val="FFFFFF"/>
                </a:solidFill>
              </a:rPr>
              <a:t>Trzy</a:t>
            </a:r>
            <a:r>
              <a:rPr lang="en-US" sz="2200" b="1" dirty="0">
                <a:solidFill>
                  <a:srgbClr val="FFFFFF"/>
                </a:solidFill>
              </a:rPr>
              <a:t> </a:t>
            </a:r>
            <a:r>
              <a:rPr lang="pl-PL" sz="2200" b="1" dirty="0" smtClean="0">
                <a:solidFill>
                  <a:srgbClr val="FFFFFF"/>
                </a:solidFill>
              </a:rPr>
              <a:t>p</a:t>
            </a:r>
            <a:r>
              <a:rPr lang="en-US" sz="2200" b="1" dirty="0" err="1" smtClean="0">
                <a:solidFill>
                  <a:srgbClr val="FFFFFF"/>
                </a:solidFill>
              </a:rPr>
              <a:t>oziomy</a:t>
            </a:r>
            <a:r>
              <a:rPr lang="en-US" sz="2200" b="1" dirty="0" smtClean="0">
                <a:solidFill>
                  <a:srgbClr val="FFFFFF"/>
                </a:solidFill>
              </a:rPr>
              <a:t> </a:t>
            </a:r>
            <a:r>
              <a:rPr lang="pl-PL" sz="2200" b="1" dirty="0" smtClean="0">
                <a:solidFill>
                  <a:srgbClr val="FFFFFF"/>
                </a:solidFill>
              </a:rPr>
              <a:t>p</a:t>
            </a:r>
            <a:r>
              <a:rPr lang="en-US" sz="2200" b="1" dirty="0" err="1" smtClean="0">
                <a:solidFill>
                  <a:srgbClr val="FFFFFF"/>
                </a:solidFill>
              </a:rPr>
              <a:t>rojektowania</a:t>
            </a:r>
            <a:r>
              <a:rPr lang="en-US" sz="2200" b="1" dirty="0" smtClean="0">
                <a:solidFill>
                  <a:srgbClr val="FFFFFF"/>
                </a:solidFill>
              </a:rPr>
              <a:t> </a:t>
            </a:r>
            <a:r>
              <a:rPr lang="pl-PL" sz="2200" b="1" dirty="0" smtClean="0">
                <a:solidFill>
                  <a:srgbClr val="FFFFFF"/>
                </a:solidFill>
              </a:rPr>
              <a:t>e</a:t>
            </a:r>
            <a:r>
              <a:rPr lang="en-US" sz="2200" b="1" dirty="0" err="1" smtClean="0">
                <a:solidFill>
                  <a:srgbClr val="FFFFFF"/>
                </a:solidFill>
              </a:rPr>
              <a:t>mocjonalnego</a:t>
            </a:r>
            <a:endParaRPr lang="en-US" sz="2200" dirty="0"/>
          </a:p>
        </p:txBody>
      </p:sp>
      <p:sp>
        <p:nvSpPr>
          <p:cNvPr id="4" name="Shape 2"/>
          <p:cNvSpPr/>
          <p:nvPr/>
        </p:nvSpPr>
        <p:spPr>
          <a:xfrm>
            <a:off x="320040" y="914400"/>
            <a:ext cx="2743200" cy="244602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5" name="Shape 3"/>
          <p:cNvSpPr/>
          <p:nvPr/>
        </p:nvSpPr>
        <p:spPr>
          <a:xfrm>
            <a:off x="320040" y="914400"/>
            <a:ext cx="45720" cy="2446020"/>
          </a:xfrm>
          <a:prstGeom prst="rect">
            <a:avLst/>
          </a:prstGeom>
          <a:solidFill>
            <a:srgbClr val="1DE9B6"/>
          </a:solidFill>
          <a:ln w="12700">
            <a:solidFill>
              <a:srgbClr val="1DE9B6"/>
            </a:solidFill>
            <a:prstDash val="solid"/>
          </a:ln>
        </p:spPr>
      </p:sp>
      <p:sp>
        <p:nvSpPr>
          <p:cNvPr id="6" name="Text 4"/>
          <p:cNvSpPr/>
          <p:nvPr/>
        </p:nvSpPr>
        <p:spPr>
          <a:xfrm>
            <a:off x="429768" y="978408"/>
            <a:ext cx="2587752" cy="256032"/>
          </a:xfrm>
          <a:prstGeom prst="rect">
            <a:avLst/>
          </a:prstGeom>
          <a:noFill/>
          <a:ln/>
        </p:spPr>
        <p:txBody>
          <a:bodyPr wrap="square" lIns="0" tIns="0" rIns="0" bIns="0" rtlCol="0" anchor="t"/>
          <a:lstStyle/>
          <a:p>
            <a:pPr marL="0" indent="0">
              <a:buNone/>
            </a:pPr>
            <a:r>
              <a:rPr lang="en-US" sz="1000" b="1" dirty="0">
                <a:solidFill>
                  <a:srgbClr val="1DE9B6"/>
                </a:solidFill>
              </a:rPr>
              <a:t>Visceral</a:t>
            </a:r>
            <a:endParaRPr lang="en-US" sz="1000" dirty="0"/>
          </a:p>
          <a:p>
            <a:pPr marL="0" indent="0">
              <a:buNone/>
            </a:pPr>
            <a:r>
              <a:rPr lang="en-US" sz="1000" b="1" dirty="0">
                <a:solidFill>
                  <a:srgbClr val="1DE9B6"/>
                </a:solidFill>
              </a:rPr>
              <a:t>(Trzewny)</a:t>
            </a:r>
            <a:endParaRPr lang="en-US" sz="1000" dirty="0"/>
          </a:p>
        </p:txBody>
      </p:sp>
      <p:sp>
        <p:nvSpPr>
          <p:cNvPr id="7" name="Text 5"/>
          <p:cNvSpPr/>
          <p:nvPr/>
        </p:nvSpPr>
        <p:spPr>
          <a:xfrm>
            <a:off x="429768" y="1243584"/>
            <a:ext cx="2587752" cy="3108960"/>
          </a:xfrm>
          <a:prstGeom prst="rect">
            <a:avLst/>
          </a:prstGeom>
          <a:noFill/>
          <a:ln/>
        </p:spPr>
        <p:txBody>
          <a:bodyPr wrap="square" lIns="0" tIns="0" rIns="0" bIns="0" rtlCol="0" anchor="t"/>
          <a:lstStyle/>
          <a:p>
            <a:pPr marL="0" indent="0">
              <a:buNone/>
            </a:pPr>
            <a:r>
              <a:rPr lang="en-US" sz="880" dirty="0">
                <a:solidFill>
                  <a:srgbClr val="CCDDEE"/>
                </a:solidFill>
              </a:rPr>
              <a:t>Pierwsze wrażenie. Natychmiastowy, instynktowny poziom reakcji na wygląd produktu.</a:t>
            </a:r>
            <a:endParaRPr lang="en-US" sz="880" dirty="0"/>
          </a:p>
          <a:p>
            <a:pPr marL="0" indent="0">
              <a:buNone/>
            </a:pPr>
            <a:endParaRPr lang="en-US" sz="880" dirty="0"/>
          </a:p>
          <a:p>
            <a:pPr marL="0" indent="0">
              <a:buNone/>
            </a:pPr>
            <a:r>
              <a:rPr lang="en-US" sz="880" dirty="0">
                <a:solidFill>
                  <a:srgbClr val="CCDDEE"/>
                </a:solidFill>
              </a:rPr>
              <a:t>• Estetyka: kolory, typografia, layout</a:t>
            </a:r>
            <a:endParaRPr lang="en-US" sz="880" dirty="0"/>
          </a:p>
          <a:p>
            <a:pPr marL="0" indent="0">
              <a:buNone/>
            </a:pPr>
            <a:r>
              <a:rPr lang="en-US" sz="880" dirty="0">
                <a:solidFill>
                  <a:srgbClr val="CCDDEE"/>
                </a:solidFill>
              </a:rPr>
              <a:t>• Prezentacja: jakość grafiki, animacje</a:t>
            </a:r>
            <a:endParaRPr lang="en-US" sz="880" dirty="0"/>
          </a:p>
          <a:p>
            <a:pPr marL="0" indent="0">
              <a:buNone/>
            </a:pPr>
            <a:r>
              <a:rPr lang="en-US" sz="880" dirty="0">
                <a:solidFill>
                  <a:srgbClr val="CCDDEE"/>
                </a:solidFill>
              </a:rPr>
              <a:t>• Tożsamość marki: rozpoznawalność</a:t>
            </a:r>
            <a:endParaRPr lang="en-US" sz="880" dirty="0"/>
          </a:p>
          <a:p>
            <a:pPr marL="0" indent="0">
              <a:buNone/>
            </a:pPr>
            <a:endParaRPr lang="en-US" sz="880" dirty="0"/>
          </a:p>
          <a:p>
            <a:pPr marL="0" indent="0">
              <a:buNone/>
            </a:pPr>
            <a:r>
              <a:rPr lang="en-US" sz="880" dirty="0">
                <a:solidFill>
                  <a:srgbClr val="CCDDEE"/>
                </a:solidFill>
              </a:rPr>
              <a:t>Pytanie: Czy to wygląda atrakcyjnie?</a:t>
            </a:r>
            <a:endParaRPr lang="en-US" sz="880" dirty="0"/>
          </a:p>
        </p:txBody>
      </p:sp>
      <p:sp>
        <p:nvSpPr>
          <p:cNvPr id="8" name="Shape 6"/>
          <p:cNvSpPr/>
          <p:nvPr/>
        </p:nvSpPr>
        <p:spPr>
          <a:xfrm>
            <a:off x="3200400" y="914400"/>
            <a:ext cx="2743200" cy="244602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9" name="Shape 7"/>
          <p:cNvSpPr/>
          <p:nvPr/>
        </p:nvSpPr>
        <p:spPr>
          <a:xfrm>
            <a:off x="3200400" y="914400"/>
            <a:ext cx="45720" cy="2446020"/>
          </a:xfrm>
          <a:prstGeom prst="rect">
            <a:avLst/>
          </a:prstGeom>
          <a:solidFill>
            <a:srgbClr val="00D4FF"/>
          </a:solidFill>
          <a:ln w="12700">
            <a:solidFill>
              <a:srgbClr val="00D4FF"/>
            </a:solidFill>
            <a:prstDash val="solid"/>
          </a:ln>
        </p:spPr>
      </p:sp>
      <p:sp>
        <p:nvSpPr>
          <p:cNvPr id="10" name="Text 8"/>
          <p:cNvSpPr/>
          <p:nvPr/>
        </p:nvSpPr>
        <p:spPr>
          <a:xfrm>
            <a:off x="3310128" y="978408"/>
            <a:ext cx="2587752" cy="256032"/>
          </a:xfrm>
          <a:prstGeom prst="rect">
            <a:avLst/>
          </a:prstGeom>
          <a:noFill/>
          <a:ln/>
        </p:spPr>
        <p:txBody>
          <a:bodyPr wrap="square" lIns="0" tIns="0" rIns="0" bIns="0" rtlCol="0" anchor="t"/>
          <a:lstStyle/>
          <a:p>
            <a:pPr marL="0" indent="0">
              <a:buNone/>
            </a:pPr>
            <a:r>
              <a:rPr lang="en-US" sz="1000" b="1" dirty="0">
                <a:solidFill>
                  <a:srgbClr val="00D4FF"/>
                </a:solidFill>
              </a:rPr>
              <a:t>Behavioral</a:t>
            </a:r>
            <a:endParaRPr lang="en-US" sz="1000" dirty="0"/>
          </a:p>
          <a:p>
            <a:pPr marL="0" indent="0">
              <a:buNone/>
            </a:pPr>
            <a:r>
              <a:rPr lang="en-US" sz="1000" b="1" dirty="0">
                <a:solidFill>
                  <a:srgbClr val="00D4FF"/>
                </a:solidFill>
              </a:rPr>
              <a:t>(Behawioralny)</a:t>
            </a:r>
            <a:endParaRPr lang="en-US" sz="1000" dirty="0"/>
          </a:p>
        </p:txBody>
      </p:sp>
      <p:sp>
        <p:nvSpPr>
          <p:cNvPr id="11" name="Text 9"/>
          <p:cNvSpPr/>
          <p:nvPr/>
        </p:nvSpPr>
        <p:spPr>
          <a:xfrm>
            <a:off x="3310128" y="1243584"/>
            <a:ext cx="2587752" cy="3108960"/>
          </a:xfrm>
          <a:prstGeom prst="rect">
            <a:avLst/>
          </a:prstGeom>
          <a:noFill/>
          <a:ln/>
        </p:spPr>
        <p:txBody>
          <a:bodyPr wrap="square" lIns="0" tIns="0" rIns="0" bIns="0" rtlCol="0" anchor="t"/>
          <a:lstStyle/>
          <a:p>
            <a:pPr marL="0" indent="0">
              <a:buNone/>
            </a:pPr>
            <a:r>
              <a:rPr lang="en-US" sz="880" dirty="0">
                <a:solidFill>
                  <a:srgbClr val="CCDDEE"/>
                </a:solidFill>
              </a:rPr>
              <a:t>Użyteczność. Poziom funkcjonalny — jak produkt działa, jak łatwo się go używa.</a:t>
            </a:r>
            <a:endParaRPr lang="en-US" sz="880" dirty="0"/>
          </a:p>
          <a:p>
            <a:pPr marL="0" indent="0">
              <a:buNone/>
            </a:pPr>
            <a:endParaRPr lang="en-US" sz="880" dirty="0"/>
          </a:p>
          <a:p>
            <a:pPr marL="0" indent="0">
              <a:buNone/>
            </a:pPr>
            <a:r>
              <a:rPr lang="en-US" sz="880" dirty="0">
                <a:solidFill>
                  <a:srgbClr val="CCDDEE"/>
                </a:solidFill>
              </a:rPr>
              <a:t>• Funkcjonalność: czy robi co obiecuje?</a:t>
            </a:r>
            <a:endParaRPr lang="en-US" sz="880" dirty="0"/>
          </a:p>
          <a:p>
            <a:pPr marL="0" indent="0">
              <a:buNone/>
            </a:pPr>
            <a:r>
              <a:rPr lang="en-US" sz="880" dirty="0">
                <a:solidFill>
                  <a:srgbClr val="CCDDEE"/>
                </a:solidFill>
              </a:rPr>
              <a:t>• Łatwość użycia: intuicyjność, efektywność</a:t>
            </a:r>
            <a:endParaRPr lang="en-US" sz="880" dirty="0"/>
          </a:p>
          <a:p>
            <a:pPr marL="0" indent="0">
              <a:buNone/>
            </a:pPr>
            <a:r>
              <a:rPr lang="en-US" sz="880" dirty="0">
                <a:solidFill>
                  <a:srgbClr val="CCDDEE"/>
                </a:solidFill>
              </a:rPr>
              <a:t>• Feedback: informacja o akcjach</a:t>
            </a:r>
            <a:endParaRPr lang="en-US" sz="880" dirty="0"/>
          </a:p>
          <a:p>
            <a:pPr marL="0" indent="0">
              <a:buNone/>
            </a:pPr>
            <a:endParaRPr lang="en-US" sz="880" dirty="0"/>
          </a:p>
          <a:p>
            <a:pPr marL="0" indent="0">
              <a:buNone/>
            </a:pPr>
            <a:r>
              <a:rPr lang="en-US" sz="880" dirty="0">
                <a:solidFill>
                  <a:srgbClr val="CCDDEE"/>
                </a:solidFill>
              </a:rPr>
              <a:t>Pytanie: Czy to działa dobrze?</a:t>
            </a:r>
            <a:endParaRPr lang="en-US" sz="880" dirty="0"/>
          </a:p>
        </p:txBody>
      </p:sp>
      <p:sp>
        <p:nvSpPr>
          <p:cNvPr id="12" name="Shape 10"/>
          <p:cNvSpPr/>
          <p:nvPr/>
        </p:nvSpPr>
        <p:spPr>
          <a:xfrm>
            <a:off x="6080760" y="914400"/>
            <a:ext cx="2743200" cy="244602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13" name="Shape 11"/>
          <p:cNvSpPr/>
          <p:nvPr/>
        </p:nvSpPr>
        <p:spPr>
          <a:xfrm>
            <a:off x="6080760" y="914400"/>
            <a:ext cx="45720" cy="2446020"/>
          </a:xfrm>
          <a:prstGeom prst="rect">
            <a:avLst/>
          </a:prstGeom>
          <a:solidFill>
            <a:srgbClr val="FF2D78"/>
          </a:solidFill>
          <a:ln w="12700">
            <a:solidFill>
              <a:srgbClr val="FF2D78"/>
            </a:solidFill>
            <a:prstDash val="solid"/>
          </a:ln>
        </p:spPr>
      </p:sp>
      <p:sp>
        <p:nvSpPr>
          <p:cNvPr id="14" name="Text 12"/>
          <p:cNvSpPr/>
          <p:nvPr/>
        </p:nvSpPr>
        <p:spPr>
          <a:xfrm>
            <a:off x="6190488" y="978408"/>
            <a:ext cx="2587752" cy="256032"/>
          </a:xfrm>
          <a:prstGeom prst="rect">
            <a:avLst/>
          </a:prstGeom>
          <a:noFill/>
          <a:ln/>
        </p:spPr>
        <p:txBody>
          <a:bodyPr wrap="square" lIns="0" tIns="0" rIns="0" bIns="0" rtlCol="0" anchor="t"/>
          <a:lstStyle/>
          <a:p>
            <a:pPr marL="0" indent="0">
              <a:buNone/>
            </a:pPr>
            <a:r>
              <a:rPr lang="en-US" sz="1000" b="1" dirty="0">
                <a:solidFill>
                  <a:srgbClr val="FF2D78"/>
                </a:solidFill>
              </a:rPr>
              <a:t>Reflective</a:t>
            </a:r>
            <a:endParaRPr lang="en-US" sz="1000" dirty="0"/>
          </a:p>
          <a:p>
            <a:pPr marL="0" indent="0">
              <a:buNone/>
            </a:pPr>
            <a:r>
              <a:rPr lang="en-US" sz="1000" b="1" dirty="0">
                <a:solidFill>
                  <a:srgbClr val="FF2D78"/>
                </a:solidFill>
              </a:rPr>
              <a:t>(Refleksyjny)</a:t>
            </a:r>
            <a:endParaRPr lang="en-US" sz="1000" dirty="0"/>
          </a:p>
        </p:txBody>
      </p:sp>
      <p:sp>
        <p:nvSpPr>
          <p:cNvPr id="15" name="Text 13"/>
          <p:cNvSpPr/>
          <p:nvPr/>
        </p:nvSpPr>
        <p:spPr>
          <a:xfrm>
            <a:off x="6190488" y="1243584"/>
            <a:ext cx="2587752" cy="3108960"/>
          </a:xfrm>
          <a:prstGeom prst="rect">
            <a:avLst/>
          </a:prstGeom>
          <a:noFill/>
          <a:ln/>
        </p:spPr>
        <p:txBody>
          <a:bodyPr wrap="square" lIns="0" tIns="0" rIns="0" bIns="0" rtlCol="0" anchor="t"/>
          <a:lstStyle/>
          <a:p>
            <a:pPr marL="0" indent="0">
              <a:buNone/>
            </a:pPr>
            <a:r>
              <a:rPr lang="en-US" sz="880" dirty="0">
                <a:solidFill>
                  <a:srgbClr val="CCDDEE"/>
                </a:solidFill>
              </a:rPr>
              <a:t>Znaczenie. Poziom refleksyjny — osobista wartość, wspomnienia, tożsamość.</a:t>
            </a:r>
            <a:endParaRPr lang="en-US" sz="880" dirty="0"/>
          </a:p>
          <a:p>
            <a:pPr marL="0" indent="0">
              <a:buNone/>
            </a:pPr>
            <a:endParaRPr lang="en-US" sz="880" dirty="0"/>
          </a:p>
          <a:p>
            <a:pPr marL="0" indent="0">
              <a:buNone/>
            </a:pPr>
            <a:r>
              <a:rPr lang="en-US" sz="880" dirty="0">
                <a:solidFill>
                  <a:srgbClr val="CCDDEE"/>
                </a:solidFill>
              </a:rPr>
              <a:t>• Tożsamość osobista: czy pasuje do mnie?</a:t>
            </a:r>
            <a:endParaRPr lang="en-US" sz="880" dirty="0"/>
          </a:p>
          <a:p>
            <a:pPr marL="0" indent="0">
              <a:buNone/>
            </a:pPr>
            <a:r>
              <a:rPr lang="en-US" sz="880" dirty="0">
                <a:solidFill>
                  <a:srgbClr val="CCDDEE"/>
                </a:solidFill>
              </a:rPr>
              <a:t>• Wspomnienia: emocjonalne powiązania</a:t>
            </a:r>
            <a:endParaRPr lang="en-US" sz="880" dirty="0"/>
          </a:p>
          <a:p>
            <a:pPr marL="0" indent="0">
              <a:buNone/>
            </a:pPr>
            <a:r>
              <a:rPr lang="en-US" sz="880" dirty="0">
                <a:solidFill>
                  <a:srgbClr val="CCDDEE"/>
                </a:solidFill>
              </a:rPr>
              <a:t>• Status: kulturowe i społeczne znaczenie</a:t>
            </a:r>
            <a:endParaRPr lang="en-US" sz="880" dirty="0"/>
          </a:p>
          <a:p>
            <a:pPr marL="0" indent="0">
              <a:buNone/>
            </a:pPr>
            <a:endParaRPr lang="en-US" sz="880" dirty="0"/>
          </a:p>
          <a:p>
            <a:pPr marL="0" indent="0">
              <a:buNone/>
            </a:pPr>
            <a:r>
              <a:rPr lang="en-US" sz="880" dirty="0">
                <a:solidFill>
                  <a:srgbClr val="CCDDEE"/>
                </a:solidFill>
              </a:rPr>
              <a:t>Pytanie: Czy to pasuje do mnie?</a:t>
            </a:r>
            <a:endParaRPr lang="en-US" sz="880" dirty="0"/>
          </a:p>
        </p:txBody>
      </p:sp>
      <p:sp>
        <p:nvSpPr>
          <p:cNvPr id="16" name="Shape 14"/>
          <p:cNvSpPr/>
          <p:nvPr/>
        </p:nvSpPr>
        <p:spPr>
          <a:xfrm>
            <a:off x="320040" y="4161431"/>
            <a:ext cx="8503920" cy="502920"/>
          </a:xfrm>
          <a:prstGeom prst="rect">
            <a:avLst/>
          </a:prstGeom>
          <a:solidFill>
            <a:srgbClr val="0A1929"/>
          </a:solidFill>
          <a:ln w="12700">
            <a:solidFill>
              <a:srgbClr val="1DE9B6"/>
            </a:solidFill>
            <a:prstDash val="solid"/>
          </a:ln>
        </p:spPr>
      </p:sp>
      <p:sp>
        <p:nvSpPr>
          <p:cNvPr id="17" name="Text 15"/>
          <p:cNvSpPr/>
          <p:nvPr/>
        </p:nvSpPr>
        <p:spPr>
          <a:xfrm>
            <a:off x="457200" y="4188863"/>
            <a:ext cx="8229600" cy="438912"/>
          </a:xfrm>
          <a:prstGeom prst="rect">
            <a:avLst/>
          </a:prstGeom>
          <a:noFill/>
          <a:ln/>
        </p:spPr>
        <p:txBody>
          <a:bodyPr wrap="square" lIns="0" tIns="0" rIns="0" bIns="0" rtlCol="0" anchor="ctr"/>
          <a:lstStyle/>
          <a:p>
            <a:pPr marL="0" indent="0">
              <a:buNone/>
            </a:pPr>
            <a:r>
              <a:rPr lang="en-US" sz="900" dirty="0">
                <a:solidFill>
                  <a:srgbClr val="CCDDEE"/>
                </a:solidFill>
              </a:rPr>
              <a:t>Model Don Normana: Visceral przyciąga, Behavioral utrzymuje, Reflective tworzy lojalność. Najlepsze produkty — jak iPhone, Instagram, Duolingo — doskonale działają na wszystkich trzech poziomach jednocześnie.</a:t>
            </a:r>
            <a:endParaRPr lang="en-US" sz="900" dirty="0"/>
          </a:p>
        </p:txBody>
      </p:sp>
      <p:sp>
        <p:nvSpPr>
          <p:cNvPr id="20" name="Text 18"/>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35 / </a:t>
            </a:r>
            <a:r>
              <a:rPr lang="en-US" sz="800" dirty="0" smtClean="0">
                <a:solidFill>
                  <a:srgbClr val="8899AA"/>
                </a:solidFill>
              </a:rPr>
              <a:t>4</a:t>
            </a:r>
            <a:r>
              <a:rPr lang="pl-PL" sz="800" dirty="0" smtClean="0">
                <a:solidFill>
                  <a:srgbClr val="8899AA"/>
                </a:solidFill>
              </a:rPr>
              <a:t>6</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B2A"/>
        </a:solidFill>
        <a:effectLst/>
      </p:bgPr>
    </p:bg>
    <p:spTree>
      <p:nvGrpSpPr>
        <p:cNvPr id="1" name=""/>
        <p:cNvGrpSpPr/>
        <p:nvPr/>
      </p:nvGrpSpPr>
      <p:grpSpPr>
        <a:xfrm>
          <a:off x="0" y="0"/>
          <a:ext cx="0" cy="0"/>
          <a:chOff x="0" y="0"/>
          <a:chExt cx="0" cy="0"/>
        </a:xfrm>
      </p:grpSpPr>
      <p:grpSp>
        <p:nvGrpSpPr>
          <p:cNvPr id="39" name="Grupa 38"/>
          <p:cNvGrpSpPr/>
          <p:nvPr/>
        </p:nvGrpSpPr>
        <p:grpSpPr>
          <a:xfrm>
            <a:off x="-2381" y="4884912"/>
            <a:ext cx="9146381" cy="260136"/>
            <a:chOff x="-2381" y="4884912"/>
            <a:chExt cx="9146381" cy="260136"/>
          </a:xfrm>
        </p:grpSpPr>
        <p:sp>
          <p:nvSpPr>
            <p:cNvPr id="40" name="Shape 52"/>
            <p:cNvSpPr/>
            <p:nvPr/>
          </p:nvSpPr>
          <p:spPr>
            <a:xfrm>
              <a:off x="0" y="4884912"/>
              <a:ext cx="9144000" cy="252000"/>
            </a:xfrm>
            <a:prstGeom prst="rect">
              <a:avLst/>
            </a:prstGeom>
            <a:solidFill>
              <a:srgbClr val="071523"/>
            </a:solidFill>
            <a:ln w="12700">
              <a:solidFill>
                <a:srgbClr val="071523"/>
              </a:solidFill>
              <a:prstDash val="solid"/>
            </a:ln>
          </p:spPr>
        </p:sp>
        <p:sp>
          <p:nvSpPr>
            <p:cNvPr id="41"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42" name="Grupa 41"/>
            <p:cNvGrpSpPr/>
            <p:nvPr/>
          </p:nvGrpSpPr>
          <p:grpSpPr>
            <a:xfrm>
              <a:off x="-2381" y="5099329"/>
              <a:ext cx="9146381" cy="45719"/>
              <a:chOff x="-2381" y="5107500"/>
              <a:chExt cx="9111093" cy="37548"/>
            </a:xfrm>
            <a:solidFill>
              <a:schemeClr val="tx1"/>
            </a:solidFill>
          </p:grpSpPr>
          <p:sp>
            <p:nvSpPr>
              <p:cNvPr id="43"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44"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45"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46"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47"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48"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49"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50"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62"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63"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64"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65" name="Shape 52"/>
              <p:cNvSpPr/>
              <p:nvPr/>
            </p:nvSpPr>
            <p:spPr>
              <a:xfrm>
                <a:off x="4356712" y="5107500"/>
                <a:ext cx="198000" cy="36000"/>
              </a:xfrm>
              <a:prstGeom prst="rect">
                <a:avLst/>
              </a:prstGeom>
              <a:solidFill>
                <a:schemeClr val="accent5">
                  <a:lumMod val="20000"/>
                  <a:lumOff val="80000"/>
                </a:schemeClr>
              </a:solidFill>
              <a:ln w="12700">
                <a:noFill/>
                <a:prstDash val="solid"/>
              </a:ln>
            </p:spPr>
          </p:sp>
          <p:sp>
            <p:nvSpPr>
              <p:cNvPr id="66" name="Shape 52"/>
              <p:cNvSpPr/>
              <p:nvPr/>
            </p:nvSpPr>
            <p:spPr>
              <a:xfrm>
                <a:off x="4554712" y="5107500"/>
                <a:ext cx="198000" cy="36000"/>
              </a:xfrm>
              <a:prstGeom prst="rect">
                <a:avLst/>
              </a:prstGeom>
              <a:solidFill>
                <a:schemeClr val="accent5">
                  <a:lumMod val="20000"/>
                  <a:lumOff val="80000"/>
                </a:schemeClr>
              </a:solidFill>
              <a:ln w="12700">
                <a:noFill/>
                <a:prstDash val="solid"/>
              </a:ln>
            </p:spPr>
          </p:sp>
          <p:sp>
            <p:nvSpPr>
              <p:cNvPr id="67" name="Shape 52"/>
              <p:cNvSpPr/>
              <p:nvPr/>
            </p:nvSpPr>
            <p:spPr>
              <a:xfrm>
                <a:off x="4752712" y="5107500"/>
                <a:ext cx="198000" cy="36000"/>
              </a:xfrm>
              <a:prstGeom prst="rect">
                <a:avLst/>
              </a:prstGeom>
              <a:solidFill>
                <a:schemeClr val="accent5">
                  <a:lumMod val="20000"/>
                  <a:lumOff val="80000"/>
                </a:schemeClr>
              </a:solidFill>
              <a:ln w="12700">
                <a:noFill/>
                <a:prstDash val="solid"/>
              </a:ln>
            </p:spPr>
          </p:sp>
          <p:sp>
            <p:nvSpPr>
              <p:cNvPr id="68" name="Shape 52"/>
              <p:cNvSpPr/>
              <p:nvPr/>
            </p:nvSpPr>
            <p:spPr>
              <a:xfrm>
                <a:off x="4950712" y="5107500"/>
                <a:ext cx="198000" cy="36000"/>
              </a:xfrm>
              <a:prstGeom prst="rect">
                <a:avLst/>
              </a:prstGeom>
              <a:solidFill>
                <a:schemeClr val="accent5">
                  <a:lumMod val="20000"/>
                  <a:lumOff val="80000"/>
                </a:schemeClr>
              </a:solidFill>
              <a:ln w="12700">
                <a:noFill/>
                <a:prstDash val="solid"/>
              </a:ln>
            </p:spPr>
          </p:sp>
          <p:sp>
            <p:nvSpPr>
              <p:cNvPr id="69" name="Shape 52"/>
              <p:cNvSpPr/>
              <p:nvPr/>
            </p:nvSpPr>
            <p:spPr>
              <a:xfrm>
                <a:off x="5148712" y="5107500"/>
                <a:ext cx="198000" cy="36000"/>
              </a:xfrm>
              <a:prstGeom prst="rect">
                <a:avLst/>
              </a:prstGeom>
              <a:solidFill>
                <a:schemeClr val="accent5">
                  <a:lumMod val="20000"/>
                  <a:lumOff val="80000"/>
                </a:schemeClr>
              </a:solidFill>
              <a:ln w="12700">
                <a:noFill/>
                <a:prstDash val="solid"/>
              </a:ln>
            </p:spPr>
          </p:sp>
          <p:sp>
            <p:nvSpPr>
              <p:cNvPr id="70" name="Shape 52"/>
              <p:cNvSpPr/>
              <p:nvPr/>
            </p:nvSpPr>
            <p:spPr>
              <a:xfrm>
                <a:off x="5346712" y="5108400"/>
                <a:ext cx="198000" cy="36000"/>
              </a:xfrm>
              <a:prstGeom prst="rect">
                <a:avLst/>
              </a:prstGeom>
              <a:solidFill>
                <a:schemeClr val="accent5">
                  <a:lumMod val="20000"/>
                  <a:lumOff val="80000"/>
                </a:schemeClr>
              </a:solidFill>
              <a:ln w="12700">
                <a:noFill/>
                <a:prstDash val="solid"/>
              </a:ln>
            </p:spPr>
          </p:sp>
          <p:sp>
            <p:nvSpPr>
              <p:cNvPr id="71" name="Shape 52"/>
              <p:cNvSpPr/>
              <p:nvPr/>
            </p:nvSpPr>
            <p:spPr>
              <a:xfrm>
                <a:off x="5544712" y="5108400"/>
                <a:ext cx="198000" cy="36000"/>
              </a:xfrm>
              <a:prstGeom prst="rect">
                <a:avLst/>
              </a:prstGeom>
              <a:solidFill>
                <a:schemeClr val="accent5">
                  <a:lumMod val="20000"/>
                  <a:lumOff val="80000"/>
                </a:schemeClr>
              </a:solidFill>
              <a:ln w="12700">
                <a:noFill/>
                <a:prstDash val="solid"/>
              </a:ln>
            </p:spPr>
          </p:sp>
          <p:sp>
            <p:nvSpPr>
              <p:cNvPr id="72" name="Shape 52"/>
              <p:cNvSpPr/>
              <p:nvPr/>
            </p:nvSpPr>
            <p:spPr>
              <a:xfrm>
                <a:off x="5742712" y="5108400"/>
                <a:ext cx="198000" cy="36000"/>
              </a:xfrm>
              <a:prstGeom prst="rect">
                <a:avLst/>
              </a:prstGeom>
              <a:solidFill>
                <a:schemeClr val="accent5">
                  <a:lumMod val="20000"/>
                  <a:lumOff val="80000"/>
                </a:schemeClr>
              </a:solidFill>
              <a:ln w="12700">
                <a:noFill/>
                <a:prstDash val="solid"/>
              </a:ln>
            </p:spPr>
          </p:sp>
          <p:sp>
            <p:nvSpPr>
              <p:cNvPr id="73" name="Shape 52"/>
              <p:cNvSpPr/>
              <p:nvPr/>
            </p:nvSpPr>
            <p:spPr>
              <a:xfrm>
                <a:off x="5940712" y="5108400"/>
                <a:ext cx="198000" cy="36000"/>
              </a:xfrm>
              <a:prstGeom prst="rect">
                <a:avLst/>
              </a:prstGeom>
              <a:solidFill>
                <a:schemeClr val="accent5">
                  <a:lumMod val="20000"/>
                  <a:lumOff val="80000"/>
                </a:schemeClr>
              </a:solidFill>
              <a:ln w="12700">
                <a:noFill/>
                <a:prstDash val="solid"/>
              </a:ln>
            </p:spPr>
          </p:sp>
          <p:sp>
            <p:nvSpPr>
              <p:cNvPr id="74" name="Shape 52"/>
              <p:cNvSpPr/>
              <p:nvPr/>
            </p:nvSpPr>
            <p:spPr>
              <a:xfrm>
                <a:off x="6138712" y="5108400"/>
                <a:ext cx="198000" cy="36000"/>
              </a:xfrm>
              <a:prstGeom prst="rect">
                <a:avLst/>
              </a:prstGeom>
              <a:solidFill>
                <a:schemeClr val="accent5">
                  <a:lumMod val="20000"/>
                  <a:lumOff val="80000"/>
                </a:schemeClr>
              </a:solidFill>
              <a:ln w="12700">
                <a:noFill/>
                <a:prstDash val="solid"/>
              </a:ln>
            </p:spPr>
          </p:sp>
          <p:sp>
            <p:nvSpPr>
              <p:cNvPr id="75" name="Shape 52"/>
              <p:cNvSpPr/>
              <p:nvPr/>
            </p:nvSpPr>
            <p:spPr>
              <a:xfrm>
                <a:off x="6336712" y="5108400"/>
                <a:ext cx="198000" cy="36000"/>
              </a:xfrm>
              <a:prstGeom prst="rect">
                <a:avLst/>
              </a:prstGeom>
              <a:solidFill>
                <a:schemeClr val="accent5">
                  <a:lumMod val="20000"/>
                  <a:lumOff val="80000"/>
                </a:schemeClr>
              </a:solidFill>
              <a:ln w="12700">
                <a:noFill/>
                <a:prstDash val="solid"/>
              </a:ln>
            </p:spPr>
          </p:sp>
          <p:sp>
            <p:nvSpPr>
              <p:cNvPr id="76" name="Shape 52"/>
              <p:cNvSpPr/>
              <p:nvPr/>
            </p:nvSpPr>
            <p:spPr>
              <a:xfrm>
                <a:off x="6534712" y="5108400"/>
                <a:ext cx="198000" cy="36000"/>
              </a:xfrm>
              <a:prstGeom prst="rect">
                <a:avLst/>
              </a:prstGeom>
              <a:solidFill>
                <a:schemeClr val="accent5">
                  <a:lumMod val="20000"/>
                  <a:lumOff val="80000"/>
                </a:schemeClr>
              </a:solidFill>
              <a:ln w="12700">
                <a:noFill/>
                <a:prstDash val="solid"/>
              </a:ln>
            </p:spPr>
          </p:sp>
          <p:sp>
            <p:nvSpPr>
              <p:cNvPr id="77" name="Shape 52"/>
              <p:cNvSpPr/>
              <p:nvPr/>
            </p:nvSpPr>
            <p:spPr>
              <a:xfrm>
                <a:off x="6732712" y="5108400"/>
                <a:ext cx="198000" cy="36000"/>
              </a:xfrm>
              <a:prstGeom prst="rect">
                <a:avLst/>
              </a:prstGeom>
              <a:solidFill>
                <a:schemeClr val="accent5">
                  <a:lumMod val="20000"/>
                  <a:lumOff val="80000"/>
                </a:schemeClr>
              </a:solidFill>
              <a:ln w="12700">
                <a:noFill/>
                <a:prstDash val="solid"/>
              </a:ln>
            </p:spPr>
          </p:sp>
          <p:sp>
            <p:nvSpPr>
              <p:cNvPr id="78" name="Shape 52"/>
              <p:cNvSpPr/>
              <p:nvPr/>
            </p:nvSpPr>
            <p:spPr>
              <a:xfrm>
                <a:off x="6930712" y="5108400"/>
                <a:ext cx="198000" cy="36000"/>
              </a:xfrm>
              <a:prstGeom prst="rect">
                <a:avLst/>
              </a:prstGeom>
              <a:solidFill>
                <a:schemeClr val="accent5">
                  <a:lumMod val="20000"/>
                  <a:lumOff val="80000"/>
                </a:schemeClr>
              </a:solidFill>
              <a:ln w="12700">
                <a:noFill/>
                <a:prstDash val="solid"/>
              </a:ln>
            </p:spPr>
          </p:sp>
          <p:sp>
            <p:nvSpPr>
              <p:cNvPr id="79" name="Shape 52"/>
              <p:cNvSpPr/>
              <p:nvPr/>
            </p:nvSpPr>
            <p:spPr>
              <a:xfrm>
                <a:off x="7128712" y="5108400"/>
                <a:ext cx="198000" cy="36000"/>
              </a:xfrm>
              <a:prstGeom prst="rect">
                <a:avLst/>
              </a:prstGeom>
              <a:grpFill/>
              <a:ln w="12700">
                <a:noFill/>
                <a:prstDash val="solid"/>
              </a:ln>
            </p:spPr>
          </p:sp>
          <p:sp>
            <p:nvSpPr>
              <p:cNvPr id="80" name="Shape 52"/>
              <p:cNvSpPr/>
              <p:nvPr/>
            </p:nvSpPr>
            <p:spPr>
              <a:xfrm>
                <a:off x="7326712" y="5108400"/>
                <a:ext cx="198000" cy="36000"/>
              </a:xfrm>
              <a:prstGeom prst="rect">
                <a:avLst/>
              </a:prstGeom>
              <a:grpFill/>
              <a:ln w="12700">
                <a:noFill/>
                <a:prstDash val="solid"/>
              </a:ln>
            </p:spPr>
          </p:sp>
          <p:sp>
            <p:nvSpPr>
              <p:cNvPr id="81" name="Shape 52"/>
              <p:cNvSpPr/>
              <p:nvPr/>
            </p:nvSpPr>
            <p:spPr>
              <a:xfrm>
                <a:off x="7524712" y="5108400"/>
                <a:ext cx="198000" cy="36000"/>
              </a:xfrm>
              <a:prstGeom prst="rect">
                <a:avLst/>
              </a:prstGeom>
              <a:grpFill/>
              <a:ln w="12700">
                <a:noFill/>
                <a:prstDash val="solid"/>
              </a:ln>
            </p:spPr>
          </p:sp>
          <p:sp>
            <p:nvSpPr>
              <p:cNvPr id="82" name="Shape 52"/>
              <p:cNvSpPr/>
              <p:nvPr/>
            </p:nvSpPr>
            <p:spPr>
              <a:xfrm>
                <a:off x="7722712" y="5108400"/>
                <a:ext cx="198000" cy="36000"/>
              </a:xfrm>
              <a:prstGeom prst="rect">
                <a:avLst/>
              </a:prstGeom>
              <a:grpFill/>
              <a:ln w="12700">
                <a:noFill/>
                <a:prstDash val="solid"/>
              </a:ln>
            </p:spPr>
          </p:sp>
          <p:sp>
            <p:nvSpPr>
              <p:cNvPr id="83" name="Shape 52"/>
              <p:cNvSpPr/>
              <p:nvPr/>
            </p:nvSpPr>
            <p:spPr>
              <a:xfrm>
                <a:off x="7920712" y="5109048"/>
                <a:ext cx="198000" cy="36000"/>
              </a:xfrm>
              <a:prstGeom prst="rect">
                <a:avLst/>
              </a:prstGeom>
              <a:grpFill/>
              <a:ln w="12700">
                <a:noFill/>
                <a:prstDash val="solid"/>
              </a:ln>
            </p:spPr>
          </p:sp>
          <p:sp>
            <p:nvSpPr>
              <p:cNvPr id="84" name="Shape 52"/>
              <p:cNvSpPr/>
              <p:nvPr/>
            </p:nvSpPr>
            <p:spPr>
              <a:xfrm>
                <a:off x="8118712" y="5109048"/>
                <a:ext cx="198000" cy="36000"/>
              </a:xfrm>
              <a:prstGeom prst="rect">
                <a:avLst/>
              </a:prstGeom>
              <a:grpFill/>
              <a:ln w="12700">
                <a:noFill/>
                <a:prstDash val="solid"/>
              </a:ln>
            </p:spPr>
          </p:sp>
          <p:sp>
            <p:nvSpPr>
              <p:cNvPr id="85" name="Shape 52"/>
              <p:cNvSpPr/>
              <p:nvPr/>
            </p:nvSpPr>
            <p:spPr>
              <a:xfrm>
                <a:off x="8316712" y="5109048"/>
                <a:ext cx="198000" cy="36000"/>
              </a:xfrm>
              <a:prstGeom prst="rect">
                <a:avLst/>
              </a:prstGeom>
              <a:grpFill/>
              <a:ln w="12700">
                <a:noFill/>
                <a:prstDash val="solid"/>
              </a:ln>
            </p:spPr>
          </p:sp>
          <p:sp>
            <p:nvSpPr>
              <p:cNvPr id="86" name="Shape 52"/>
              <p:cNvSpPr/>
              <p:nvPr/>
            </p:nvSpPr>
            <p:spPr>
              <a:xfrm>
                <a:off x="8514712" y="5109048"/>
                <a:ext cx="198000" cy="36000"/>
              </a:xfrm>
              <a:prstGeom prst="rect">
                <a:avLst/>
              </a:prstGeom>
              <a:grpFill/>
              <a:ln w="12700">
                <a:noFill/>
                <a:prstDash val="solid"/>
              </a:ln>
            </p:spPr>
          </p:sp>
          <p:sp>
            <p:nvSpPr>
              <p:cNvPr id="87" name="Shape 52"/>
              <p:cNvSpPr/>
              <p:nvPr/>
            </p:nvSpPr>
            <p:spPr>
              <a:xfrm>
                <a:off x="8712712" y="5109048"/>
                <a:ext cx="198000" cy="36000"/>
              </a:xfrm>
              <a:prstGeom prst="rect">
                <a:avLst/>
              </a:prstGeom>
              <a:grpFill/>
              <a:ln w="12700">
                <a:noFill/>
                <a:prstDash val="solid"/>
              </a:ln>
            </p:spPr>
          </p:sp>
          <p:sp>
            <p:nvSpPr>
              <p:cNvPr id="88"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1DE9B6"/>
          </a:solidFill>
          <a:ln w="12700">
            <a:solidFill>
              <a:srgbClr val="1DE9B6"/>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Mikrointerakcje i Delight w UX</a:t>
            </a:r>
            <a:endParaRPr lang="en-US" sz="2200" dirty="0"/>
          </a:p>
        </p:txBody>
      </p:sp>
      <p:sp>
        <p:nvSpPr>
          <p:cNvPr id="4" name="Shape 2"/>
          <p:cNvSpPr/>
          <p:nvPr/>
        </p:nvSpPr>
        <p:spPr>
          <a:xfrm>
            <a:off x="320040" y="914400"/>
            <a:ext cx="4069080" cy="210312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5" name="Shape 3"/>
          <p:cNvSpPr/>
          <p:nvPr/>
        </p:nvSpPr>
        <p:spPr>
          <a:xfrm>
            <a:off x="320040" y="914400"/>
            <a:ext cx="45720" cy="2103120"/>
          </a:xfrm>
          <a:prstGeom prst="rect">
            <a:avLst/>
          </a:prstGeom>
          <a:solidFill>
            <a:srgbClr val="1DE9B6"/>
          </a:solidFill>
          <a:ln w="12700">
            <a:solidFill>
              <a:srgbClr val="1DE9B6"/>
            </a:solidFill>
            <a:prstDash val="solid"/>
          </a:ln>
        </p:spPr>
      </p:sp>
      <p:sp>
        <p:nvSpPr>
          <p:cNvPr id="6" name="Text 4"/>
          <p:cNvSpPr/>
          <p:nvPr/>
        </p:nvSpPr>
        <p:spPr>
          <a:xfrm>
            <a:off x="429768" y="978408"/>
            <a:ext cx="3913632" cy="256032"/>
          </a:xfrm>
          <a:prstGeom prst="rect">
            <a:avLst/>
          </a:prstGeom>
          <a:noFill/>
          <a:ln/>
        </p:spPr>
        <p:txBody>
          <a:bodyPr wrap="square" lIns="0" tIns="0" rIns="0" bIns="0" rtlCol="0" anchor="t"/>
          <a:lstStyle/>
          <a:p>
            <a:pPr marL="0" indent="0">
              <a:buNone/>
            </a:pPr>
            <a:r>
              <a:rPr lang="en-US" sz="1000" b="1" dirty="0">
                <a:solidFill>
                  <a:srgbClr val="1DE9B6"/>
                </a:solidFill>
              </a:rPr>
              <a:t>Znaczenie Mikrointerakcji</a:t>
            </a:r>
            <a:endParaRPr lang="en-US" sz="1000" dirty="0"/>
          </a:p>
        </p:txBody>
      </p:sp>
      <p:sp>
        <p:nvSpPr>
          <p:cNvPr id="7" name="Text 5"/>
          <p:cNvSpPr/>
          <p:nvPr/>
        </p:nvSpPr>
        <p:spPr>
          <a:xfrm>
            <a:off x="429768" y="1243584"/>
            <a:ext cx="3913632" cy="1719072"/>
          </a:xfrm>
          <a:prstGeom prst="rect">
            <a:avLst/>
          </a:prstGeom>
          <a:noFill/>
          <a:ln/>
        </p:spPr>
        <p:txBody>
          <a:bodyPr wrap="square" lIns="0" tIns="0" rIns="0" bIns="0" rtlCol="0" anchor="t"/>
          <a:lstStyle/>
          <a:p>
            <a:pPr marL="0" indent="0">
              <a:buNone/>
            </a:pPr>
            <a:r>
              <a:rPr lang="en-US" sz="900" dirty="0">
                <a:solidFill>
                  <a:srgbClr val="CCDDEE"/>
                </a:solidFill>
              </a:rPr>
              <a:t>Mikrointerakcje to małe animacje i efekty, które wzbogacają doświadczenie. Tworzą momenty 'delight' — radości z użytkowania.</a:t>
            </a:r>
            <a:endParaRPr lang="en-US" sz="900" dirty="0"/>
          </a:p>
          <a:p>
            <a:pPr marL="0" indent="0">
              <a:buNone/>
            </a:pPr>
            <a:endParaRPr lang="en-US" sz="900" dirty="0"/>
          </a:p>
          <a:p>
            <a:pPr marL="0" indent="0">
              <a:buNone/>
            </a:pPr>
            <a:r>
              <a:rPr lang="en-US" sz="900" dirty="0">
                <a:solidFill>
                  <a:srgbClr val="CCDDEE"/>
                </a:solidFill>
              </a:rPr>
              <a:t>Przykłady:</a:t>
            </a:r>
            <a:endParaRPr lang="en-US" sz="900" dirty="0"/>
          </a:p>
          <a:p>
            <a:pPr marL="0" indent="0">
              <a:buNone/>
            </a:pPr>
            <a:r>
              <a:rPr lang="en-US" sz="900" dirty="0">
                <a:solidFill>
                  <a:srgbClr val="CCDDEE"/>
                </a:solidFill>
              </a:rPr>
              <a:t>• Pulsowanie serca po lajku (Instagram)</a:t>
            </a:r>
            <a:endParaRPr lang="en-US" sz="900" dirty="0"/>
          </a:p>
          <a:p>
            <a:pPr marL="0" indent="0">
              <a:buNone/>
            </a:pPr>
            <a:r>
              <a:rPr lang="en-US" sz="900" dirty="0">
                <a:solidFill>
                  <a:srgbClr val="CCDDEE"/>
                </a:solidFill>
              </a:rPr>
              <a:t>• Pull-to-refresh z animacją odświeżania</a:t>
            </a:r>
            <a:endParaRPr lang="en-US" sz="900" dirty="0"/>
          </a:p>
          <a:p>
            <a:pPr marL="0" indent="0">
              <a:buNone/>
            </a:pPr>
            <a:r>
              <a:rPr lang="en-US" sz="900" dirty="0">
                <a:solidFill>
                  <a:srgbClr val="CCDDEE"/>
                </a:solidFill>
              </a:rPr>
              <a:t>• Checkmark po zakończeniu zadania</a:t>
            </a:r>
            <a:endParaRPr lang="en-US" sz="900" dirty="0"/>
          </a:p>
          <a:p>
            <a:pPr marL="0" indent="0">
              <a:buNone/>
            </a:pPr>
            <a:r>
              <a:rPr lang="en-US" sz="900" dirty="0">
                <a:solidFill>
                  <a:srgbClr val="CCDDEE"/>
                </a:solidFill>
              </a:rPr>
              <a:t>• Kreatywne animacje stanów ładowania</a:t>
            </a:r>
            <a:endParaRPr lang="en-US" sz="900" dirty="0"/>
          </a:p>
        </p:txBody>
      </p:sp>
      <p:sp>
        <p:nvSpPr>
          <p:cNvPr id="8" name="Shape 6"/>
          <p:cNvSpPr/>
          <p:nvPr/>
        </p:nvSpPr>
        <p:spPr>
          <a:xfrm>
            <a:off x="320040" y="3108960"/>
            <a:ext cx="4069080" cy="868680"/>
          </a:xfrm>
          <a:prstGeom prst="rect">
            <a:avLst/>
          </a:prstGeom>
          <a:solidFill>
            <a:srgbClr val="0A1929"/>
          </a:solidFill>
          <a:ln w="12700">
            <a:solidFill>
              <a:srgbClr val="1DE9B6"/>
            </a:solidFill>
            <a:prstDash val="solid"/>
          </a:ln>
        </p:spPr>
      </p:sp>
      <p:sp>
        <p:nvSpPr>
          <p:cNvPr id="9" name="Text 7"/>
          <p:cNvSpPr/>
          <p:nvPr/>
        </p:nvSpPr>
        <p:spPr>
          <a:xfrm>
            <a:off x="457200" y="3154680"/>
            <a:ext cx="3794760" cy="237744"/>
          </a:xfrm>
          <a:prstGeom prst="rect">
            <a:avLst/>
          </a:prstGeom>
          <a:noFill/>
          <a:ln/>
        </p:spPr>
        <p:txBody>
          <a:bodyPr wrap="square" lIns="0" tIns="0" rIns="0" bIns="0" rtlCol="0" anchor="ctr"/>
          <a:lstStyle/>
          <a:p>
            <a:pPr marL="0" indent="0">
              <a:buNone/>
            </a:pPr>
            <a:r>
              <a:rPr lang="en-US" sz="1000" b="1" dirty="0">
                <a:solidFill>
                  <a:srgbClr val="1DE9B6"/>
                </a:solidFill>
              </a:rPr>
              <a:t>Dlaczego działają:</a:t>
            </a:r>
            <a:endParaRPr lang="en-US" sz="1000" dirty="0"/>
          </a:p>
        </p:txBody>
      </p:sp>
      <p:sp>
        <p:nvSpPr>
          <p:cNvPr id="10" name="Text 8"/>
          <p:cNvSpPr/>
          <p:nvPr/>
        </p:nvSpPr>
        <p:spPr>
          <a:xfrm>
            <a:off x="457200" y="3419856"/>
            <a:ext cx="3794760" cy="502920"/>
          </a:xfrm>
          <a:prstGeom prst="rect">
            <a:avLst/>
          </a:prstGeom>
          <a:noFill/>
          <a:ln/>
        </p:spPr>
        <p:txBody>
          <a:bodyPr wrap="square" lIns="0" tIns="0" rIns="0" bIns="0" rtlCol="0" anchor="ctr"/>
          <a:lstStyle/>
          <a:p>
            <a:pPr marL="0" indent="0">
              <a:buNone/>
            </a:pPr>
            <a:r>
              <a:rPr lang="en-US" sz="850" dirty="0">
                <a:solidFill>
                  <a:srgbClr val="8899AA"/>
                </a:solidFill>
              </a:rPr>
              <a:t>Aktywują system nagrody w mózgu (dopamina), tworzą pozytywne skojarzenia z produktem, zwiększają zaangażowanie i budują lojalność użytkowników.</a:t>
            </a:r>
            <a:endParaRPr lang="en-US" sz="850" dirty="0"/>
          </a:p>
        </p:txBody>
      </p:sp>
      <p:sp>
        <p:nvSpPr>
          <p:cNvPr id="11" name="Shape 9"/>
          <p:cNvSpPr/>
          <p:nvPr/>
        </p:nvSpPr>
        <p:spPr>
          <a:xfrm>
            <a:off x="4754880" y="914400"/>
            <a:ext cx="4069080" cy="3246120"/>
          </a:xfrm>
          <a:prstGeom prst="rect">
            <a:avLst/>
          </a:prstGeom>
          <a:solidFill>
            <a:srgbClr val="112233"/>
          </a:solidFill>
          <a:ln w="12700">
            <a:solidFill>
              <a:srgbClr val="1A3050"/>
            </a:solidFill>
            <a:prstDash val="solid"/>
          </a:ln>
        </p:spPr>
      </p:sp>
      <p:sp>
        <p:nvSpPr>
          <p:cNvPr id="12" name="Shape 10"/>
          <p:cNvSpPr/>
          <p:nvPr/>
        </p:nvSpPr>
        <p:spPr>
          <a:xfrm>
            <a:off x="4754880" y="914400"/>
            <a:ext cx="45720" cy="3246120"/>
          </a:xfrm>
          <a:prstGeom prst="rect">
            <a:avLst/>
          </a:prstGeom>
          <a:solidFill>
            <a:srgbClr val="1DE9B6"/>
          </a:solidFill>
          <a:ln w="12700">
            <a:solidFill>
              <a:srgbClr val="1DE9B6"/>
            </a:solidFill>
            <a:prstDash val="solid"/>
          </a:ln>
        </p:spPr>
      </p:sp>
      <p:sp>
        <p:nvSpPr>
          <p:cNvPr id="13" name="Text 11"/>
          <p:cNvSpPr/>
          <p:nvPr/>
        </p:nvSpPr>
        <p:spPr>
          <a:xfrm>
            <a:off x="4892040" y="987552"/>
            <a:ext cx="3794760" cy="274320"/>
          </a:xfrm>
          <a:prstGeom prst="rect">
            <a:avLst/>
          </a:prstGeom>
          <a:noFill/>
          <a:ln/>
        </p:spPr>
        <p:txBody>
          <a:bodyPr wrap="square" lIns="0" tIns="0" rIns="0" bIns="0" rtlCol="0" anchor="ctr"/>
          <a:lstStyle/>
          <a:p>
            <a:pPr marL="0" indent="0">
              <a:buNone/>
            </a:pPr>
            <a:r>
              <a:rPr lang="en-US" sz="1100" b="1" dirty="0">
                <a:solidFill>
                  <a:srgbClr val="FFFFFF"/>
                </a:solidFill>
              </a:rPr>
              <a:t>Zasady Projektowania Mikrointerakcji</a:t>
            </a:r>
            <a:endParaRPr lang="en-US" sz="1100" dirty="0"/>
          </a:p>
        </p:txBody>
      </p:sp>
      <p:sp>
        <p:nvSpPr>
          <p:cNvPr id="14" name="Shape 12"/>
          <p:cNvSpPr/>
          <p:nvPr/>
        </p:nvSpPr>
        <p:spPr>
          <a:xfrm>
            <a:off x="4892040" y="1371600"/>
            <a:ext cx="219456" cy="219456"/>
          </a:xfrm>
          <a:prstGeom prst="ellipse">
            <a:avLst/>
          </a:prstGeom>
          <a:solidFill>
            <a:srgbClr val="1DE9B6"/>
          </a:solidFill>
          <a:ln w="12700">
            <a:solidFill>
              <a:srgbClr val="1DE9B6"/>
            </a:solidFill>
            <a:prstDash val="solid"/>
          </a:ln>
        </p:spPr>
      </p:sp>
      <p:sp>
        <p:nvSpPr>
          <p:cNvPr id="15" name="Text 13"/>
          <p:cNvSpPr/>
          <p:nvPr/>
        </p:nvSpPr>
        <p:spPr>
          <a:xfrm>
            <a:off x="4892040" y="1371600"/>
            <a:ext cx="219456" cy="219456"/>
          </a:xfrm>
          <a:prstGeom prst="rect">
            <a:avLst/>
          </a:prstGeom>
          <a:noFill/>
          <a:ln/>
        </p:spPr>
        <p:txBody>
          <a:bodyPr wrap="square" lIns="0" tIns="0" rIns="0" bIns="0" rtlCol="0" anchor="ctr"/>
          <a:lstStyle/>
          <a:p>
            <a:pPr marL="0" indent="0" algn="ctr">
              <a:buNone/>
            </a:pPr>
            <a:r>
              <a:rPr lang="en-US" sz="900" b="1" dirty="0">
                <a:solidFill>
                  <a:srgbClr val="0D1B2A"/>
                </a:solidFill>
              </a:rPr>
              <a:t>1</a:t>
            </a:r>
            <a:endParaRPr lang="en-US" sz="900" dirty="0"/>
          </a:p>
        </p:txBody>
      </p:sp>
      <p:sp>
        <p:nvSpPr>
          <p:cNvPr id="16" name="Text 14"/>
          <p:cNvSpPr/>
          <p:nvPr/>
        </p:nvSpPr>
        <p:spPr>
          <a:xfrm>
            <a:off x="5193792" y="1371600"/>
            <a:ext cx="3520440" cy="201168"/>
          </a:xfrm>
          <a:prstGeom prst="rect">
            <a:avLst/>
          </a:prstGeom>
          <a:noFill/>
          <a:ln/>
        </p:spPr>
        <p:txBody>
          <a:bodyPr wrap="square" lIns="0" tIns="0" rIns="0" bIns="0" rtlCol="0" anchor="ctr"/>
          <a:lstStyle/>
          <a:p>
            <a:pPr marL="0" indent="0">
              <a:buNone/>
            </a:pPr>
            <a:r>
              <a:rPr lang="en-US" sz="950" b="1" dirty="0">
                <a:solidFill>
                  <a:srgbClr val="FFFFFF"/>
                </a:solidFill>
              </a:rPr>
              <a:t>Spójność</a:t>
            </a:r>
            <a:endParaRPr lang="en-US" sz="950" dirty="0"/>
          </a:p>
        </p:txBody>
      </p:sp>
      <p:sp>
        <p:nvSpPr>
          <p:cNvPr id="17" name="Text 15"/>
          <p:cNvSpPr/>
          <p:nvPr/>
        </p:nvSpPr>
        <p:spPr>
          <a:xfrm>
            <a:off x="5193792" y="1591056"/>
            <a:ext cx="3520440" cy="256032"/>
          </a:xfrm>
          <a:prstGeom prst="rect">
            <a:avLst/>
          </a:prstGeom>
          <a:noFill/>
          <a:ln/>
        </p:spPr>
        <p:txBody>
          <a:bodyPr wrap="square" lIns="0" tIns="0" rIns="0" bIns="0" rtlCol="0" anchor="ctr"/>
          <a:lstStyle/>
          <a:p>
            <a:pPr marL="0" indent="0">
              <a:buNone/>
            </a:pPr>
            <a:r>
              <a:rPr lang="en-US" sz="850" dirty="0">
                <a:solidFill>
                  <a:srgbClr val="8899AA"/>
                </a:solidFill>
              </a:rPr>
              <a:t>Mikrointerakcje muszą być spójne z językiem wizualnym marki.</a:t>
            </a:r>
            <a:endParaRPr lang="en-US" sz="850" dirty="0"/>
          </a:p>
        </p:txBody>
      </p:sp>
      <p:sp>
        <p:nvSpPr>
          <p:cNvPr id="18" name="Shape 16"/>
          <p:cNvSpPr/>
          <p:nvPr/>
        </p:nvSpPr>
        <p:spPr>
          <a:xfrm>
            <a:off x="4892040" y="1901952"/>
            <a:ext cx="219456" cy="219456"/>
          </a:xfrm>
          <a:prstGeom prst="ellipse">
            <a:avLst/>
          </a:prstGeom>
          <a:solidFill>
            <a:srgbClr val="1DE9B6"/>
          </a:solidFill>
          <a:ln w="12700">
            <a:solidFill>
              <a:srgbClr val="1DE9B6"/>
            </a:solidFill>
            <a:prstDash val="solid"/>
          </a:ln>
        </p:spPr>
      </p:sp>
      <p:sp>
        <p:nvSpPr>
          <p:cNvPr id="19" name="Text 17"/>
          <p:cNvSpPr/>
          <p:nvPr/>
        </p:nvSpPr>
        <p:spPr>
          <a:xfrm>
            <a:off x="4892040" y="1901952"/>
            <a:ext cx="219456" cy="219456"/>
          </a:xfrm>
          <a:prstGeom prst="rect">
            <a:avLst/>
          </a:prstGeom>
          <a:noFill/>
          <a:ln/>
        </p:spPr>
        <p:txBody>
          <a:bodyPr wrap="square" lIns="0" tIns="0" rIns="0" bIns="0" rtlCol="0" anchor="ctr"/>
          <a:lstStyle/>
          <a:p>
            <a:pPr marL="0" indent="0" algn="ctr">
              <a:buNone/>
            </a:pPr>
            <a:r>
              <a:rPr lang="en-US" sz="900" b="1" dirty="0">
                <a:solidFill>
                  <a:srgbClr val="0D1B2A"/>
                </a:solidFill>
              </a:rPr>
              <a:t>2</a:t>
            </a:r>
            <a:endParaRPr lang="en-US" sz="900" dirty="0"/>
          </a:p>
        </p:txBody>
      </p:sp>
      <p:sp>
        <p:nvSpPr>
          <p:cNvPr id="20" name="Text 18"/>
          <p:cNvSpPr/>
          <p:nvPr/>
        </p:nvSpPr>
        <p:spPr>
          <a:xfrm>
            <a:off x="5193792" y="1901952"/>
            <a:ext cx="3520440" cy="201168"/>
          </a:xfrm>
          <a:prstGeom prst="rect">
            <a:avLst/>
          </a:prstGeom>
          <a:noFill/>
          <a:ln/>
        </p:spPr>
        <p:txBody>
          <a:bodyPr wrap="square" lIns="0" tIns="0" rIns="0" bIns="0" rtlCol="0" anchor="ctr"/>
          <a:lstStyle/>
          <a:p>
            <a:pPr marL="0" indent="0">
              <a:buNone/>
            </a:pPr>
            <a:r>
              <a:rPr lang="en-US" sz="950" b="1" dirty="0">
                <a:solidFill>
                  <a:srgbClr val="FFFFFF"/>
                </a:solidFill>
              </a:rPr>
              <a:t>Subtelność</a:t>
            </a:r>
            <a:endParaRPr lang="en-US" sz="950" dirty="0"/>
          </a:p>
        </p:txBody>
      </p:sp>
      <p:sp>
        <p:nvSpPr>
          <p:cNvPr id="21" name="Text 19"/>
          <p:cNvSpPr/>
          <p:nvPr/>
        </p:nvSpPr>
        <p:spPr>
          <a:xfrm>
            <a:off x="5193792" y="2121408"/>
            <a:ext cx="3520440" cy="256032"/>
          </a:xfrm>
          <a:prstGeom prst="rect">
            <a:avLst/>
          </a:prstGeom>
          <a:noFill/>
          <a:ln/>
        </p:spPr>
        <p:txBody>
          <a:bodyPr wrap="square" lIns="0" tIns="0" rIns="0" bIns="0" rtlCol="0" anchor="ctr"/>
          <a:lstStyle/>
          <a:p>
            <a:pPr marL="0" indent="0">
              <a:buNone/>
            </a:pPr>
            <a:r>
              <a:rPr lang="en-US" sz="850" dirty="0">
                <a:solidFill>
                  <a:srgbClr val="8899AA"/>
                </a:solidFill>
              </a:rPr>
              <a:t>Wzbogacają, nie dominują. Animacje: 200–500ms — nie dłużej.</a:t>
            </a:r>
            <a:endParaRPr lang="en-US" sz="850" dirty="0"/>
          </a:p>
        </p:txBody>
      </p:sp>
      <p:sp>
        <p:nvSpPr>
          <p:cNvPr id="22" name="Shape 20"/>
          <p:cNvSpPr/>
          <p:nvPr/>
        </p:nvSpPr>
        <p:spPr>
          <a:xfrm>
            <a:off x="4892040" y="2432304"/>
            <a:ext cx="219456" cy="219456"/>
          </a:xfrm>
          <a:prstGeom prst="ellipse">
            <a:avLst/>
          </a:prstGeom>
          <a:solidFill>
            <a:srgbClr val="1DE9B6"/>
          </a:solidFill>
          <a:ln w="12700">
            <a:solidFill>
              <a:srgbClr val="1DE9B6"/>
            </a:solidFill>
            <a:prstDash val="solid"/>
          </a:ln>
        </p:spPr>
      </p:sp>
      <p:sp>
        <p:nvSpPr>
          <p:cNvPr id="23" name="Text 21"/>
          <p:cNvSpPr/>
          <p:nvPr/>
        </p:nvSpPr>
        <p:spPr>
          <a:xfrm>
            <a:off x="4892040" y="2432304"/>
            <a:ext cx="219456" cy="219456"/>
          </a:xfrm>
          <a:prstGeom prst="rect">
            <a:avLst/>
          </a:prstGeom>
          <a:noFill/>
          <a:ln/>
        </p:spPr>
        <p:txBody>
          <a:bodyPr wrap="square" lIns="0" tIns="0" rIns="0" bIns="0" rtlCol="0" anchor="ctr"/>
          <a:lstStyle/>
          <a:p>
            <a:pPr marL="0" indent="0" algn="ctr">
              <a:buNone/>
            </a:pPr>
            <a:r>
              <a:rPr lang="en-US" sz="900" b="1" dirty="0">
                <a:solidFill>
                  <a:srgbClr val="0D1B2A"/>
                </a:solidFill>
              </a:rPr>
              <a:t>3</a:t>
            </a:r>
            <a:endParaRPr lang="en-US" sz="900" dirty="0"/>
          </a:p>
        </p:txBody>
      </p:sp>
      <p:sp>
        <p:nvSpPr>
          <p:cNvPr id="24" name="Text 22"/>
          <p:cNvSpPr/>
          <p:nvPr/>
        </p:nvSpPr>
        <p:spPr>
          <a:xfrm>
            <a:off x="5193792" y="2432304"/>
            <a:ext cx="3520440" cy="201168"/>
          </a:xfrm>
          <a:prstGeom prst="rect">
            <a:avLst/>
          </a:prstGeom>
          <a:noFill/>
          <a:ln/>
        </p:spPr>
        <p:txBody>
          <a:bodyPr wrap="square" lIns="0" tIns="0" rIns="0" bIns="0" rtlCol="0" anchor="ctr"/>
          <a:lstStyle/>
          <a:p>
            <a:pPr marL="0" indent="0">
              <a:buNone/>
            </a:pPr>
            <a:r>
              <a:rPr lang="en-US" sz="950" b="1" dirty="0">
                <a:solidFill>
                  <a:srgbClr val="FFFFFF"/>
                </a:solidFill>
              </a:rPr>
              <a:t>Celowość</a:t>
            </a:r>
            <a:endParaRPr lang="en-US" sz="950" dirty="0"/>
          </a:p>
        </p:txBody>
      </p:sp>
      <p:sp>
        <p:nvSpPr>
          <p:cNvPr id="25" name="Text 23"/>
          <p:cNvSpPr/>
          <p:nvPr/>
        </p:nvSpPr>
        <p:spPr>
          <a:xfrm>
            <a:off x="5193792" y="2651760"/>
            <a:ext cx="3520440" cy="256032"/>
          </a:xfrm>
          <a:prstGeom prst="rect">
            <a:avLst/>
          </a:prstGeom>
          <a:noFill/>
          <a:ln/>
        </p:spPr>
        <p:txBody>
          <a:bodyPr wrap="square" lIns="0" tIns="0" rIns="0" bIns="0" rtlCol="0" anchor="ctr"/>
          <a:lstStyle/>
          <a:p>
            <a:pPr marL="0" indent="0">
              <a:buNone/>
            </a:pPr>
            <a:r>
              <a:rPr lang="en-US" sz="850" dirty="0">
                <a:solidFill>
                  <a:srgbClr val="8899AA"/>
                </a:solidFill>
              </a:rPr>
              <a:t>Każda ma cel: informować, potwierdzać lub bawić. Bez sensu = spam.</a:t>
            </a:r>
            <a:endParaRPr lang="en-US" sz="850" dirty="0"/>
          </a:p>
        </p:txBody>
      </p:sp>
      <p:sp>
        <p:nvSpPr>
          <p:cNvPr id="26" name="Shape 24"/>
          <p:cNvSpPr/>
          <p:nvPr/>
        </p:nvSpPr>
        <p:spPr>
          <a:xfrm>
            <a:off x="4892040" y="2962656"/>
            <a:ext cx="219456" cy="219456"/>
          </a:xfrm>
          <a:prstGeom prst="ellipse">
            <a:avLst/>
          </a:prstGeom>
          <a:solidFill>
            <a:srgbClr val="1DE9B6"/>
          </a:solidFill>
          <a:ln w="12700">
            <a:solidFill>
              <a:srgbClr val="1DE9B6"/>
            </a:solidFill>
            <a:prstDash val="solid"/>
          </a:ln>
        </p:spPr>
      </p:sp>
      <p:sp>
        <p:nvSpPr>
          <p:cNvPr id="27" name="Text 25"/>
          <p:cNvSpPr/>
          <p:nvPr/>
        </p:nvSpPr>
        <p:spPr>
          <a:xfrm>
            <a:off x="4892040" y="2962656"/>
            <a:ext cx="219456" cy="219456"/>
          </a:xfrm>
          <a:prstGeom prst="rect">
            <a:avLst/>
          </a:prstGeom>
          <a:noFill/>
          <a:ln/>
        </p:spPr>
        <p:txBody>
          <a:bodyPr wrap="square" lIns="0" tIns="0" rIns="0" bIns="0" rtlCol="0" anchor="ctr"/>
          <a:lstStyle/>
          <a:p>
            <a:pPr marL="0" indent="0" algn="ctr">
              <a:buNone/>
            </a:pPr>
            <a:r>
              <a:rPr lang="en-US" sz="900" b="1" dirty="0">
                <a:solidFill>
                  <a:srgbClr val="0D1B2A"/>
                </a:solidFill>
              </a:rPr>
              <a:t>4</a:t>
            </a:r>
            <a:endParaRPr lang="en-US" sz="900" dirty="0"/>
          </a:p>
        </p:txBody>
      </p:sp>
      <p:sp>
        <p:nvSpPr>
          <p:cNvPr id="28" name="Text 26"/>
          <p:cNvSpPr/>
          <p:nvPr/>
        </p:nvSpPr>
        <p:spPr>
          <a:xfrm>
            <a:off x="5193792" y="2962656"/>
            <a:ext cx="3520440" cy="201168"/>
          </a:xfrm>
          <a:prstGeom prst="rect">
            <a:avLst/>
          </a:prstGeom>
          <a:noFill/>
          <a:ln/>
        </p:spPr>
        <p:txBody>
          <a:bodyPr wrap="square" lIns="0" tIns="0" rIns="0" bIns="0" rtlCol="0" anchor="ctr"/>
          <a:lstStyle/>
          <a:p>
            <a:pPr marL="0" indent="0">
              <a:buNone/>
            </a:pPr>
            <a:r>
              <a:rPr lang="en-US" sz="950" b="1" dirty="0">
                <a:solidFill>
                  <a:srgbClr val="FFFFFF"/>
                </a:solidFill>
              </a:rPr>
              <a:t>Natychmiastowość</a:t>
            </a:r>
            <a:endParaRPr lang="en-US" sz="950" dirty="0"/>
          </a:p>
        </p:txBody>
      </p:sp>
      <p:sp>
        <p:nvSpPr>
          <p:cNvPr id="29" name="Text 27"/>
          <p:cNvSpPr/>
          <p:nvPr/>
        </p:nvSpPr>
        <p:spPr>
          <a:xfrm>
            <a:off x="5193792" y="3182112"/>
            <a:ext cx="3520440" cy="256032"/>
          </a:xfrm>
          <a:prstGeom prst="rect">
            <a:avLst/>
          </a:prstGeom>
          <a:noFill/>
          <a:ln/>
        </p:spPr>
        <p:txBody>
          <a:bodyPr wrap="square" lIns="0" tIns="0" rIns="0" bIns="0" rtlCol="0" anchor="ctr"/>
          <a:lstStyle/>
          <a:p>
            <a:pPr marL="0" indent="0">
              <a:buNone/>
            </a:pPr>
            <a:r>
              <a:rPr lang="en-US" sz="850" dirty="0">
                <a:solidFill>
                  <a:srgbClr val="8899AA"/>
                </a:solidFill>
              </a:rPr>
              <a:t>Feedback musi być natychmiastowy. Opóźnienia powyżej 100ms są frustrujące.</a:t>
            </a:r>
            <a:endParaRPr lang="en-US" sz="850" dirty="0"/>
          </a:p>
        </p:txBody>
      </p:sp>
      <p:sp>
        <p:nvSpPr>
          <p:cNvPr id="30" name="Shape 28"/>
          <p:cNvSpPr/>
          <p:nvPr/>
        </p:nvSpPr>
        <p:spPr>
          <a:xfrm>
            <a:off x="4892040" y="3493008"/>
            <a:ext cx="219456" cy="219456"/>
          </a:xfrm>
          <a:prstGeom prst="ellipse">
            <a:avLst/>
          </a:prstGeom>
          <a:solidFill>
            <a:srgbClr val="1DE9B6"/>
          </a:solidFill>
          <a:ln w="12700">
            <a:solidFill>
              <a:srgbClr val="1DE9B6"/>
            </a:solidFill>
            <a:prstDash val="solid"/>
          </a:ln>
        </p:spPr>
      </p:sp>
      <p:sp>
        <p:nvSpPr>
          <p:cNvPr id="31" name="Text 29"/>
          <p:cNvSpPr/>
          <p:nvPr/>
        </p:nvSpPr>
        <p:spPr>
          <a:xfrm>
            <a:off x="4892040" y="3493008"/>
            <a:ext cx="219456" cy="219456"/>
          </a:xfrm>
          <a:prstGeom prst="rect">
            <a:avLst/>
          </a:prstGeom>
          <a:noFill/>
          <a:ln/>
        </p:spPr>
        <p:txBody>
          <a:bodyPr wrap="square" lIns="0" tIns="0" rIns="0" bIns="0" rtlCol="0" anchor="ctr"/>
          <a:lstStyle/>
          <a:p>
            <a:pPr marL="0" indent="0" algn="ctr">
              <a:buNone/>
            </a:pPr>
            <a:r>
              <a:rPr lang="en-US" sz="900" b="1" dirty="0">
                <a:solidFill>
                  <a:srgbClr val="0D1B2A"/>
                </a:solidFill>
              </a:rPr>
              <a:t>5</a:t>
            </a:r>
            <a:endParaRPr lang="en-US" sz="900" dirty="0"/>
          </a:p>
        </p:txBody>
      </p:sp>
      <p:sp>
        <p:nvSpPr>
          <p:cNvPr id="32" name="Text 30"/>
          <p:cNvSpPr/>
          <p:nvPr/>
        </p:nvSpPr>
        <p:spPr>
          <a:xfrm>
            <a:off x="5193792" y="3493008"/>
            <a:ext cx="3520440" cy="201168"/>
          </a:xfrm>
          <a:prstGeom prst="rect">
            <a:avLst/>
          </a:prstGeom>
          <a:noFill/>
          <a:ln/>
        </p:spPr>
        <p:txBody>
          <a:bodyPr wrap="square" lIns="0" tIns="0" rIns="0" bIns="0" rtlCol="0" anchor="ctr"/>
          <a:lstStyle/>
          <a:p>
            <a:pPr marL="0" indent="0">
              <a:buNone/>
            </a:pPr>
            <a:r>
              <a:rPr lang="en-US" sz="950" b="1" dirty="0">
                <a:solidFill>
                  <a:srgbClr val="FFFFFF"/>
                </a:solidFill>
              </a:rPr>
              <a:t>Szanuj prefers-reduced-motion</a:t>
            </a:r>
            <a:endParaRPr lang="en-US" sz="950" dirty="0"/>
          </a:p>
        </p:txBody>
      </p:sp>
      <p:sp>
        <p:nvSpPr>
          <p:cNvPr id="33" name="Text 31"/>
          <p:cNvSpPr/>
          <p:nvPr/>
        </p:nvSpPr>
        <p:spPr>
          <a:xfrm>
            <a:off x="5193792" y="3712464"/>
            <a:ext cx="3520440" cy="256032"/>
          </a:xfrm>
          <a:prstGeom prst="rect">
            <a:avLst/>
          </a:prstGeom>
          <a:noFill/>
          <a:ln/>
        </p:spPr>
        <p:txBody>
          <a:bodyPr wrap="square" lIns="0" tIns="0" rIns="0" bIns="0" rtlCol="0" anchor="ctr"/>
          <a:lstStyle/>
          <a:p>
            <a:pPr marL="0" indent="0">
              <a:buNone/>
            </a:pPr>
            <a:r>
              <a:rPr lang="en-US" sz="850" dirty="0">
                <a:solidFill>
                  <a:srgbClr val="8899AA"/>
                </a:solidFill>
              </a:rPr>
              <a:t>Niektórzy użytkownicy nie tolerują animacji. Zawsze sprawdzaj ten system flag.</a:t>
            </a:r>
            <a:endParaRPr lang="en-US" sz="850" dirty="0"/>
          </a:p>
        </p:txBody>
      </p:sp>
      <p:sp>
        <p:nvSpPr>
          <p:cNvPr id="34" name="Shape 32"/>
          <p:cNvSpPr/>
          <p:nvPr/>
        </p:nvSpPr>
        <p:spPr>
          <a:xfrm>
            <a:off x="4754880" y="4224528"/>
            <a:ext cx="4069080" cy="594360"/>
          </a:xfrm>
          <a:prstGeom prst="rect">
            <a:avLst/>
          </a:prstGeom>
          <a:solidFill>
            <a:srgbClr val="0A1929"/>
          </a:solidFill>
          <a:ln w="12700">
            <a:solidFill>
              <a:srgbClr val="1A3050"/>
            </a:solidFill>
            <a:prstDash val="solid"/>
          </a:ln>
        </p:spPr>
      </p:sp>
      <p:sp>
        <p:nvSpPr>
          <p:cNvPr id="35" name="Text 33"/>
          <p:cNvSpPr/>
          <p:nvPr/>
        </p:nvSpPr>
        <p:spPr>
          <a:xfrm>
            <a:off x="4892040" y="4251960"/>
            <a:ext cx="3794760" cy="530352"/>
          </a:xfrm>
          <a:prstGeom prst="rect">
            <a:avLst/>
          </a:prstGeom>
          <a:noFill/>
          <a:ln/>
        </p:spPr>
        <p:txBody>
          <a:bodyPr wrap="square" lIns="0" tIns="0" rIns="0" bIns="0" rtlCol="0" anchor="ctr"/>
          <a:lstStyle/>
          <a:p>
            <a:pPr marL="0" indent="0">
              <a:buNone/>
            </a:pPr>
            <a:r>
              <a:rPr lang="en-US" sz="900" dirty="0">
                <a:solidFill>
                  <a:srgbClr val="8899AA"/>
                </a:solidFill>
              </a:rPr>
              <a:t>Mistrzowie mikrointerakcji: Instagram (serce), Slack (konfetti), Duolingo (celebracja lekcji), Apple Pay (podwójne kliknięcie).</a:t>
            </a:r>
            <a:endParaRPr lang="en-US" sz="900" dirty="0"/>
          </a:p>
        </p:txBody>
      </p:sp>
      <p:sp>
        <p:nvSpPr>
          <p:cNvPr id="38" name="Text 36"/>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36 / </a:t>
            </a:r>
            <a:r>
              <a:rPr lang="pl-PL" sz="800" dirty="0" smtClean="0">
                <a:solidFill>
                  <a:srgbClr val="8899AA"/>
                </a:solidFill>
              </a:rPr>
              <a:t>46</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1B2A"/>
        </a:solidFill>
        <a:effectLst/>
      </p:bgPr>
    </p:bg>
    <p:spTree>
      <p:nvGrpSpPr>
        <p:cNvPr id="1" name=""/>
        <p:cNvGrpSpPr/>
        <p:nvPr/>
      </p:nvGrpSpPr>
      <p:grpSpPr>
        <a:xfrm>
          <a:off x="0" y="0"/>
          <a:ext cx="0" cy="0"/>
          <a:chOff x="0" y="0"/>
          <a:chExt cx="0" cy="0"/>
        </a:xfrm>
      </p:grpSpPr>
      <p:grpSp>
        <p:nvGrpSpPr>
          <p:cNvPr id="10" name="Grupa 9"/>
          <p:cNvGrpSpPr/>
          <p:nvPr/>
        </p:nvGrpSpPr>
        <p:grpSpPr>
          <a:xfrm>
            <a:off x="-2381" y="4884912"/>
            <a:ext cx="9146381" cy="260136"/>
            <a:chOff x="-2381" y="4884912"/>
            <a:chExt cx="9146381" cy="260136"/>
          </a:xfrm>
        </p:grpSpPr>
        <p:sp>
          <p:nvSpPr>
            <p:cNvPr id="11" name="Shape 52"/>
            <p:cNvSpPr/>
            <p:nvPr/>
          </p:nvSpPr>
          <p:spPr>
            <a:xfrm>
              <a:off x="0" y="4884912"/>
              <a:ext cx="9144000" cy="252000"/>
            </a:xfrm>
            <a:prstGeom prst="rect">
              <a:avLst/>
            </a:prstGeom>
            <a:solidFill>
              <a:srgbClr val="071523"/>
            </a:solidFill>
            <a:ln w="12700">
              <a:solidFill>
                <a:srgbClr val="071523"/>
              </a:solidFill>
              <a:prstDash val="solid"/>
            </a:ln>
          </p:spPr>
        </p:sp>
        <p:sp>
          <p:nvSpPr>
            <p:cNvPr id="12"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13" name="Grupa 12"/>
            <p:cNvGrpSpPr/>
            <p:nvPr/>
          </p:nvGrpSpPr>
          <p:grpSpPr>
            <a:xfrm>
              <a:off x="-2381" y="5099329"/>
              <a:ext cx="9146381" cy="45719"/>
              <a:chOff x="-2381" y="5107500"/>
              <a:chExt cx="9111093" cy="37548"/>
            </a:xfrm>
            <a:solidFill>
              <a:schemeClr val="tx1"/>
            </a:solidFill>
          </p:grpSpPr>
          <p:sp>
            <p:nvSpPr>
              <p:cNvPr id="14"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15"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16"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17"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18"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19"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20"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21"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22"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23"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24"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25"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26"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27"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28"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29"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30"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31"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32"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33"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34"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35"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36" name="Shape 52"/>
              <p:cNvSpPr/>
              <p:nvPr/>
            </p:nvSpPr>
            <p:spPr>
              <a:xfrm>
                <a:off x="4356712" y="5107500"/>
                <a:ext cx="198000" cy="36000"/>
              </a:xfrm>
              <a:prstGeom prst="rect">
                <a:avLst/>
              </a:prstGeom>
              <a:solidFill>
                <a:schemeClr val="accent5">
                  <a:lumMod val="20000"/>
                  <a:lumOff val="80000"/>
                </a:schemeClr>
              </a:solidFill>
              <a:ln w="12700">
                <a:noFill/>
                <a:prstDash val="solid"/>
              </a:ln>
            </p:spPr>
          </p:sp>
          <p:sp>
            <p:nvSpPr>
              <p:cNvPr id="37" name="Shape 52"/>
              <p:cNvSpPr/>
              <p:nvPr/>
            </p:nvSpPr>
            <p:spPr>
              <a:xfrm>
                <a:off x="4554712" y="5107500"/>
                <a:ext cx="198000" cy="36000"/>
              </a:xfrm>
              <a:prstGeom prst="rect">
                <a:avLst/>
              </a:prstGeom>
              <a:solidFill>
                <a:schemeClr val="accent5">
                  <a:lumMod val="20000"/>
                  <a:lumOff val="80000"/>
                </a:schemeClr>
              </a:solidFill>
              <a:ln w="12700">
                <a:noFill/>
                <a:prstDash val="solid"/>
              </a:ln>
            </p:spPr>
          </p:sp>
          <p:sp>
            <p:nvSpPr>
              <p:cNvPr id="38" name="Shape 52"/>
              <p:cNvSpPr/>
              <p:nvPr/>
            </p:nvSpPr>
            <p:spPr>
              <a:xfrm>
                <a:off x="4752712" y="5107500"/>
                <a:ext cx="198000" cy="36000"/>
              </a:xfrm>
              <a:prstGeom prst="rect">
                <a:avLst/>
              </a:prstGeom>
              <a:solidFill>
                <a:schemeClr val="accent5">
                  <a:lumMod val="20000"/>
                  <a:lumOff val="80000"/>
                </a:schemeClr>
              </a:solidFill>
              <a:ln w="12700">
                <a:noFill/>
                <a:prstDash val="solid"/>
              </a:ln>
            </p:spPr>
          </p:sp>
          <p:sp>
            <p:nvSpPr>
              <p:cNvPr id="39" name="Shape 52"/>
              <p:cNvSpPr/>
              <p:nvPr/>
            </p:nvSpPr>
            <p:spPr>
              <a:xfrm>
                <a:off x="4950712" y="5107500"/>
                <a:ext cx="198000" cy="36000"/>
              </a:xfrm>
              <a:prstGeom prst="rect">
                <a:avLst/>
              </a:prstGeom>
              <a:solidFill>
                <a:schemeClr val="accent5">
                  <a:lumMod val="20000"/>
                  <a:lumOff val="80000"/>
                </a:schemeClr>
              </a:solidFill>
              <a:ln w="12700">
                <a:noFill/>
                <a:prstDash val="solid"/>
              </a:ln>
            </p:spPr>
          </p:sp>
          <p:sp>
            <p:nvSpPr>
              <p:cNvPr id="40" name="Shape 52"/>
              <p:cNvSpPr/>
              <p:nvPr/>
            </p:nvSpPr>
            <p:spPr>
              <a:xfrm>
                <a:off x="5148712" y="5107500"/>
                <a:ext cx="198000" cy="36000"/>
              </a:xfrm>
              <a:prstGeom prst="rect">
                <a:avLst/>
              </a:prstGeom>
              <a:solidFill>
                <a:schemeClr val="accent5">
                  <a:lumMod val="20000"/>
                  <a:lumOff val="80000"/>
                </a:schemeClr>
              </a:solidFill>
              <a:ln w="12700">
                <a:noFill/>
                <a:prstDash val="solid"/>
              </a:ln>
            </p:spPr>
          </p:sp>
          <p:sp>
            <p:nvSpPr>
              <p:cNvPr id="41" name="Shape 52"/>
              <p:cNvSpPr/>
              <p:nvPr/>
            </p:nvSpPr>
            <p:spPr>
              <a:xfrm>
                <a:off x="5346712" y="5108400"/>
                <a:ext cx="198000" cy="36000"/>
              </a:xfrm>
              <a:prstGeom prst="rect">
                <a:avLst/>
              </a:prstGeom>
              <a:solidFill>
                <a:schemeClr val="accent5">
                  <a:lumMod val="20000"/>
                  <a:lumOff val="80000"/>
                </a:schemeClr>
              </a:solidFill>
              <a:ln w="12700">
                <a:noFill/>
                <a:prstDash val="solid"/>
              </a:ln>
            </p:spPr>
          </p:sp>
          <p:sp>
            <p:nvSpPr>
              <p:cNvPr id="42" name="Shape 52"/>
              <p:cNvSpPr/>
              <p:nvPr/>
            </p:nvSpPr>
            <p:spPr>
              <a:xfrm>
                <a:off x="5544712" y="5108400"/>
                <a:ext cx="198000" cy="36000"/>
              </a:xfrm>
              <a:prstGeom prst="rect">
                <a:avLst/>
              </a:prstGeom>
              <a:solidFill>
                <a:schemeClr val="accent5">
                  <a:lumMod val="20000"/>
                  <a:lumOff val="80000"/>
                </a:schemeClr>
              </a:solidFill>
              <a:ln w="12700">
                <a:noFill/>
                <a:prstDash val="solid"/>
              </a:ln>
            </p:spPr>
          </p:sp>
          <p:sp>
            <p:nvSpPr>
              <p:cNvPr id="43" name="Shape 52"/>
              <p:cNvSpPr/>
              <p:nvPr/>
            </p:nvSpPr>
            <p:spPr>
              <a:xfrm>
                <a:off x="5742712" y="5108400"/>
                <a:ext cx="198000" cy="36000"/>
              </a:xfrm>
              <a:prstGeom prst="rect">
                <a:avLst/>
              </a:prstGeom>
              <a:solidFill>
                <a:schemeClr val="accent5">
                  <a:lumMod val="20000"/>
                  <a:lumOff val="80000"/>
                </a:schemeClr>
              </a:solidFill>
              <a:ln w="12700">
                <a:noFill/>
                <a:prstDash val="solid"/>
              </a:ln>
            </p:spPr>
          </p:sp>
          <p:sp>
            <p:nvSpPr>
              <p:cNvPr id="44" name="Shape 52"/>
              <p:cNvSpPr/>
              <p:nvPr/>
            </p:nvSpPr>
            <p:spPr>
              <a:xfrm>
                <a:off x="5940712" y="5108400"/>
                <a:ext cx="198000" cy="36000"/>
              </a:xfrm>
              <a:prstGeom prst="rect">
                <a:avLst/>
              </a:prstGeom>
              <a:solidFill>
                <a:schemeClr val="accent5">
                  <a:lumMod val="20000"/>
                  <a:lumOff val="80000"/>
                </a:schemeClr>
              </a:solidFill>
              <a:ln w="12700">
                <a:noFill/>
                <a:prstDash val="solid"/>
              </a:ln>
            </p:spPr>
          </p:sp>
          <p:sp>
            <p:nvSpPr>
              <p:cNvPr id="45" name="Shape 52"/>
              <p:cNvSpPr/>
              <p:nvPr/>
            </p:nvSpPr>
            <p:spPr>
              <a:xfrm>
                <a:off x="6138712" y="5108400"/>
                <a:ext cx="198000" cy="36000"/>
              </a:xfrm>
              <a:prstGeom prst="rect">
                <a:avLst/>
              </a:prstGeom>
              <a:solidFill>
                <a:schemeClr val="accent5">
                  <a:lumMod val="20000"/>
                  <a:lumOff val="80000"/>
                </a:schemeClr>
              </a:solidFill>
              <a:ln w="12700">
                <a:noFill/>
                <a:prstDash val="solid"/>
              </a:ln>
            </p:spPr>
          </p:sp>
          <p:sp>
            <p:nvSpPr>
              <p:cNvPr id="46" name="Shape 52"/>
              <p:cNvSpPr/>
              <p:nvPr/>
            </p:nvSpPr>
            <p:spPr>
              <a:xfrm>
                <a:off x="6336712" y="5108400"/>
                <a:ext cx="198000" cy="36000"/>
              </a:xfrm>
              <a:prstGeom prst="rect">
                <a:avLst/>
              </a:prstGeom>
              <a:solidFill>
                <a:schemeClr val="accent5">
                  <a:lumMod val="20000"/>
                  <a:lumOff val="80000"/>
                </a:schemeClr>
              </a:solidFill>
              <a:ln w="12700">
                <a:noFill/>
                <a:prstDash val="solid"/>
              </a:ln>
            </p:spPr>
          </p:sp>
          <p:sp>
            <p:nvSpPr>
              <p:cNvPr id="47" name="Shape 52"/>
              <p:cNvSpPr/>
              <p:nvPr/>
            </p:nvSpPr>
            <p:spPr>
              <a:xfrm>
                <a:off x="6534712" y="5108400"/>
                <a:ext cx="198000" cy="36000"/>
              </a:xfrm>
              <a:prstGeom prst="rect">
                <a:avLst/>
              </a:prstGeom>
              <a:solidFill>
                <a:schemeClr val="accent5">
                  <a:lumMod val="20000"/>
                  <a:lumOff val="80000"/>
                </a:schemeClr>
              </a:solidFill>
              <a:ln w="12700">
                <a:noFill/>
                <a:prstDash val="solid"/>
              </a:ln>
            </p:spPr>
          </p:sp>
          <p:sp>
            <p:nvSpPr>
              <p:cNvPr id="48" name="Shape 52"/>
              <p:cNvSpPr/>
              <p:nvPr/>
            </p:nvSpPr>
            <p:spPr>
              <a:xfrm>
                <a:off x="6732712" y="5108400"/>
                <a:ext cx="198000" cy="36000"/>
              </a:xfrm>
              <a:prstGeom prst="rect">
                <a:avLst/>
              </a:prstGeom>
              <a:solidFill>
                <a:schemeClr val="accent5">
                  <a:lumMod val="20000"/>
                  <a:lumOff val="80000"/>
                </a:schemeClr>
              </a:solidFill>
              <a:ln w="12700">
                <a:noFill/>
                <a:prstDash val="solid"/>
              </a:ln>
            </p:spPr>
          </p:sp>
          <p:sp>
            <p:nvSpPr>
              <p:cNvPr id="49" name="Shape 52"/>
              <p:cNvSpPr/>
              <p:nvPr/>
            </p:nvSpPr>
            <p:spPr>
              <a:xfrm>
                <a:off x="6930712" y="5108400"/>
                <a:ext cx="198000" cy="36000"/>
              </a:xfrm>
              <a:prstGeom prst="rect">
                <a:avLst/>
              </a:prstGeom>
              <a:solidFill>
                <a:schemeClr val="accent5">
                  <a:lumMod val="20000"/>
                  <a:lumOff val="80000"/>
                </a:schemeClr>
              </a:solidFill>
              <a:ln w="12700">
                <a:noFill/>
                <a:prstDash val="solid"/>
              </a:ln>
            </p:spPr>
          </p:sp>
          <p:sp>
            <p:nvSpPr>
              <p:cNvPr id="50" name="Shape 52"/>
              <p:cNvSpPr/>
              <p:nvPr/>
            </p:nvSpPr>
            <p:spPr>
              <a:xfrm>
                <a:off x="7128712" y="51084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7326712" y="5108400"/>
                <a:ext cx="198000" cy="36000"/>
              </a:xfrm>
              <a:prstGeom prst="rect">
                <a:avLst/>
              </a:prstGeom>
              <a:grpFill/>
              <a:ln w="12700">
                <a:noFill/>
                <a:prstDash val="solid"/>
              </a:ln>
            </p:spPr>
          </p:sp>
          <p:sp>
            <p:nvSpPr>
              <p:cNvPr id="52" name="Shape 52"/>
              <p:cNvSpPr/>
              <p:nvPr/>
            </p:nvSpPr>
            <p:spPr>
              <a:xfrm>
                <a:off x="7524712" y="5108400"/>
                <a:ext cx="198000" cy="36000"/>
              </a:xfrm>
              <a:prstGeom prst="rect">
                <a:avLst/>
              </a:prstGeom>
              <a:grpFill/>
              <a:ln w="12700">
                <a:noFill/>
                <a:prstDash val="solid"/>
              </a:ln>
            </p:spPr>
          </p:sp>
          <p:sp>
            <p:nvSpPr>
              <p:cNvPr id="53" name="Shape 52"/>
              <p:cNvSpPr/>
              <p:nvPr/>
            </p:nvSpPr>
            <p:spPr>
              <a:xfrm>
                <a:off x="7722712" y="5108400"/>
                <a:ext cx="198000" cy="36000"/>
              </a:xfrm>
              <a:prstGeom prst="rect">
                <a:avLst/>
              </a:prstGeom>
              <a:grpFill/>
              <a:ln w="12700">
                <a:noFill/>
                <a:prstDash val="solid"/>
              </a:ln>
            </p:spPr>
          </p:sp>
          <p:sp>
            <p:nvSpPr>
              <p:cNvPr id="54" name="Shape 52"/>
              <p:cNvSpPr/>
              <p:nvPr/>
            </p:nvSpPr>
            <p:spPr>
              <a:xfrm>
                <a:off x="7920712" y="5109048"/>
                <a:ext cx="198000" cy="36000"/>
              </a:xfrm>
              <a:prstGeom prst="rect">
                <a:avLst/>
              </a:prstGeom>
              <a:grpFill/>
              <a:ln w="12700">
                <a:noFill/>
                <a:prstDash val="solid"/>
              </a:ln>
            </p:spPr>
          </p:sp>
          <p:sp>
            <p:nvSpPr>
              <p:cNvPr id="55" name="Shape 52"/>
              <p:cNvSpPr/>
              <p:nvPr/>
            </p:nvSpPr>
            <p:spPr>
              <a:xfrm>
                <a:off x="8118712" y="5109048"/>
                <a:ext cx="198000" cy="36000"/>
              </a:xfrm>
              <a:prstGeom prst="rect">
                <a:avLst/>
              </a:prstGeom>
              <a:grpFill/>
              <a:ln w="12700">
                <a:noFill/>
                <a:prstDash val="solid"/>
              </a:ln>
            </p:spPr>
          </p:sp>
          <p:sp>
            <p:nvSpPr>
              <p:cNvPr id="56" name="Shape 52"/>
              <p:cNvSpPr/>
              <p:nvPr/>
            </p:nvSpPr>
            <p:spPr>
              <a:xfrm>
                <a:off x="8316712" y="5109048"/>
                <a:ext cx="198000" cy="36000"/>
              </a:xfrm>
              <a:prstGeom prst="rect">
                <a:avLst/>
              </a:prstGeom>
              <a:grpFill/>
              <a:ln w="12700">
                <a:noFill/>
                <a:prstDash val="solid"/>
              </a:ln>
            </p:spPr>
          </p:sp>
          <p:sp>
            <p:nvSpPr>
              <p:cNvPr id="57" name="Shape 52"/>
              <p:cNvSpPr/>
              <p:nvPr/>
            </p:nvSpPr>
            <p:spPr>
              <a:xfrm>
                <a:off x="8514712" y="5109048"/>
                <a:ext cx="198000" cy="36000"/>
              </a:xfrm>
              <a:prstGeom prst="rect">
                <a:avLst/>
              </a:prstGeom>
              <a:grpFill/>
              <a:ln w="12700">
                <a:noFill/>
                <a:prstDash val="solid"/>
              </a:ln>
            </p:spPr>
          </p:sp>
          <p:sp>
            <p:nvSpPr>
              <p:cNvPr id="58" name="Shape 52"/>
              <p:cNvSpPr/>
              <p:nvPr/>
            </p:nvSpPr>
            <p:spPr>
              <a:xfrm>
                <a:off x="8712712" y="5109048"/>
                <a:ext cx="198000" cy="36000"/>
              </a:xfrm>
              <a:prstGeom prst="rect">
                <a:avLst/>
              </a:prstGeom>
              <a:grpFill/>
              <a:ln w="12700">
                <a:noFill/>
                <a:prstDash val="solid"/>
              </a:ln>
            </p:spPr>
          </p:sp>
          <p:sp>
            <p:nvSpPr>
              <p:cNvPr id="59"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0" y="1645920"/>
            <a:ext cx="9144000" cy="1828800"/>
          </a:xfrm>
          <a:prstGeom prst="rect">
            <a:avLst/>
          </a:prstGeom>
          <a:solidFill>
            <a:srgbClr val="112233"/>
          </a:solidFill>
          <a:ln w="12700">
            <a:solidFill>
              <a:srgbClr val="112233"/>
            </a:solidFill>
            <a:prstDash val="solid"/>
          </a:ln>
        </p:spPr>
      </p:sp>
      <p:sp>
        <p:nvSpPr>
          <p:cNvPr id="3" name="Shape 1"/>
          <p:cNvSpPr/>
          <p:nvPr/>
        </p:nvSpPr>
        <p:spPr>
          <a:xfrm>
            <a:off x="0" y="1645920"/>
            <a:ext cx="109728" cy="1828800"/>
          </a:xfrm>
          <a:prstGeom prst="rect">
            <a:avLst/>
          </a:prstGeom>
          <a:solidFill>
            <a:srgbClr val="00D4FF"/>
          </a:solidFill>
          <a:ln w="12700">
            <a:solidFill>
              <a:srgbClr val="00D4FF"/>
            </a:solidFill>
            <a:prstDash val="solid"/>
          </a:ln>
        </p:spPr>
      </p:sp>
      <p:sp>
        <p:nvSpPr>
          <p:cNvPr id="4" name="Text 2"/>
          <p:cNvSpPr/>
          <p:nvPr/>
        </p:nvSpPr>
        <p:spPr>
          <a:xfrm>
            <a:off x="914400" y="548640"/>
            <a:ext cx="7315200" cy="822960"/>
          </a:xfrm>
          <a:prstGeom prst="rect">
            <a:avLst/>
          </a:prstGeom>
          <a:noFill/>
          <a:ln/>
        </p:spPr>
        <p:txBody>
          <a:bodyPr wrap="square" lIns="0" tIns="0" rIns="0" bIns="0" rtlCol="0" anchor="ctr"/>
          <a:lstStyle/>
          <a:p>
            <a:pPr marL="0" indent="0" algn="l">
              <a:buNone/>
            </a:pPr>
            <a:r>
              <a:rPr lang="en-US" sz="5200" b="1" dirty="0">
                <a:solidFill>
                  <a:srgbClr val="00D4FF"/>
                </a:solidFill>
              </a:rPr>
              <a:t>09</a:t>
            </a:r>
            <a:endParaRPr lang="en-US" sz="5200" dirty="0"/>
          </a:p>
        </p:txBody>
      </p:sp>
      <p:sp>
        <p:nvSpPr>
          <p:cNvPr id="5" name="Text 3"/>
          <p:cNvSpPr/>
          <p:nvPr/>
        </p:nvSpPr>
        <p:spPr>
          <a:xfrm>
            <a:off x="457200" y="1737360"/>
            <a:ext cx="8229600" cy="822960"/>
          </a:xfrm>
          <a:prstGeom prst="rect">
            <a:avLst/>
          </a:prstGeom>
          <a:noFill/>
          <a:ln/>
        </p:spPr>
        <p:txBody>
          <a:bodyPr wrap="square" lIns="0" tIns="0" rIns="0" bIns="0" rtlCol="0" anchor="ctr"/>
          <a:lstStyle/>
          <a:p>
            <a:pPr marL="0" indent="0">
              <a:buNone/>
            </a:pPr>
            <a:r>
              <a:rPr lang="en-US" sz="2800" b="1" dirty="0">
                <a:solidFill>
                  <a:srgbClr val="FFFFFF"/>
                </a:solidFill>
              </a:rPr>
              <a:t>Hierarchia Wizualna</a:t>
            </a:r>
            <a:endParaRPr lang="en-US" sz="2800" dirty="0"/>
          </a:p>
        </p:txBody>
      </p:sp>
      <p:sp>
        <p:nvSpPr>
          <p:cNvPr id="6" name="Text 4"/>
          <p:cNvSpPr/>
          <p:nvPr/>
        </p:nvSpPr>
        <p:spPr>
          <a:xfrm>
            <a:off x="457200" y="2606040"/>
            <a:ext cx="8229600" cy="548640"/>
          </a:xfrm>
          <a:prstGeom prst="rect">
            <a:avLst/>
          </a:prstGeom>
          <a:noFill/>
          <a:ln/>
        </p:spPr>
        <p:txBody>
          <a:bodyPr wrap="square" lIns="0" tIns="0" rIns="0" bIns="0" rtlCol="0" anchor="t"/>
          <a:lstStyle/>
          <a:p>
            <a:pPr marL="0" indent="0">
              <a:buNone/>
            </a:pPr>
            <a:r>
              <a:rPr lang="en-US" sz="1400" dirty="0">
                <a:solidFill>
                  <a:srgbClr val="8899AA"/>
                </a:solidFill>
              </a:rPr>
              <a:t>Kierowanie uwagą użytkownika poprzez design interfejsu</a:t>
            </a:r>
            <a:endParaRPr lang="en-US" sz="1400" dirty="0"/>
          </a:p>
        </p:txBody>
      </p:sp>
      <p:sp>
        <p:nvSpPr>
          <p:cNvPr id="9" name="Text 7"/>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37 / </a:t>
            </a:r>
            <a:r>
              <a:rPr lang="pl-PL" sz="800" dirty="0" smtClean="0">
                <a:solidFill>
                  <a:srgbClr val="8899AA"/>
                </a:solidFill>
              </a:rPr>
              <a:t>46</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D1B2A"/>
        </a:solidFill>
        <a:effectLst/>
      </p:bgPr>
    </p:bg>
    <p:spTree>
      <p:nvGrpSpPr>
        <p:cNvPr id="1" name=""/>
        <p:cNvGrpSpPr/>
        <p:nvPr/>
      </p:nvGrpSpPr>
      <p:grpSpPr>
        <a:xfrm>
          <a:off x="0" y="0"/>
          <a:ext cx="0" cy="0"/>
          <a:chOff x="0" y="0"/>
          <a:chExt cx="0" cy="0"/>
        </a:xfrm>
      </p:grpSpPr>
      <p:grpSp>
        <p:nvGrpSpPr>
          <p:cNvPr id="31" name="Grupa 30"/>
          <p:cNvGrpSpPr/>
          <p:nvPr/>
        </p:nvGrpSpPr>
        <p:grpSpPr>
          <a:xfrm>
            <a:off x="-2381" y="4884912"/>
            <a:ext cx="9146381" cy="260136"/>
            <a:chOff x="-2381" y="4884912"/>
            <a:chExt cx="9146381" cy="260136"/>
          </a:xfrm>
        </p:grpSpPr>
        <p:sp>
          <p:nvSpPr>
            <p:cNvPr id="32" name="Shape 52"/>
            <p:cNvSpPr/>
            <p:nvPr/>
          </p:nvSpPr>
          <p:spPr>
            <a:xfrm>
              <a:off x="0" y="4884912"/>
              <a:ext cx="9144000" cy="252000"/>
            </a:xfrm>
            <a:prstGeom prst="rect">
              <a:avLst/>
            </a:prstGeom>
            <a:solidFill>
              <a:srgbClr val="071523"/>
            </a:solidFill>
            <a:ln w="12700">
              <a:solidFill>
                <a:srgbClr val="071523"/>
              </a:solidFill>
              <a:prstDash val="solid"/>
            </a:ln>
          </p:spPr>
        </p:sp>
        <p:sp>
          <p:nvSpPr>
            <p:cNvPr id="33"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34" name="Grupa 33"/>
            <p:cNvGrpSpPr/>
            <p:nvPr/>
          </p:nvGrpSpPr>
          <p:grpSpPr>
            <a:xfrm>
              <a:off x="-2381" y="5099329"/>
              <a:ext cx="9146381" cy="45719"/>
              <a:chOff x="-2381" y="5107500"/>
              <a:chExt cx="9111093" cy="37548"/>
            </a:xfrm>
            <a:solidFill>
              <a:schemeClr val="tx1"/>
            </a:solidFill>
          </p:grpSpPr>
          <p:sp>
            <p:nvSpPr>
              <p:cNvPr id="35"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36"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37"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38"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39"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40"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41"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42"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43"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44"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45"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46"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47"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48"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49"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50"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4356712" y="510750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4554712" y="51075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4752712" y="51075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4950712" y="51075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5148712" y="5107500"/>
                <a:ext cx="198000" cy="36000"/>
              </a:xfrm>
              <a:prstGeom prst="rect">
                <a:avLst/>
              </a:prstGeom>
              <a:solidFill>
                <a:schemeClr val="accent5">
                  <a:lumMod val="20000"/>
                  <a:lumOff val="80000"/>
                </a:schemeClr>
              </a:solidFill>
              <a:ln w="12700">
                <a:noFill/>
                <a:prstDash val="solid"/>
              </a:ln>
            </p:spPr>
          </p:sp>
          <p:sp>
            <p:nvSpPr>
              <p:cNvPr id="62" name="Shape 52"/>
              <p:cNvSpPr/>
              <p:nvPr/>
            </p:nvSpPr>
            <p:spPr>
              <a:xfrm>
                <a:off x="5346712" y="5108400"/>
                <a:ext cx="198000" cy="36000"/>
              </a:xfrm>
              <a:prstGeom prst="rect">
                <a:avLst/>
              </a:prstGeom>
              <a:solidFill>
                <a:schemeClr val="accent5">
                  <a:lumMod val="20000"/>
                  <a:lumOff val="80000"/>
                </a:schemeClr>
              </a:solidFill>
              <a:ln w="12700">
                <a:noFill/>
                <a:prstDash val="solid"/>
              </a:ln>
            </p:spPr>
          </p:sp>
          <p:sp>
            <p:nvSpPr>
              <p:cNvPr id="63" name="Shape 52"/>
              <p:cNvSpPr/>
              <p:nvPr/>
            </p:nvSpPr>
            <p:spPr>
              <a:xfrm>
                <a:off x="5544712" y="5108400"/>
                <a:ext cx="198000" cy="36000"/>
              </a:xfrm>
              <a:prstGeom prst="rect">
                <a:avLst/>
              </a:prstGeom>
              <a:solidFill>
                <a:schemeClr val="accent5">
                  <a:lumMod val="20000"/>
                  <a:lumOff val="80000"/>
                </a:schemeClr>
              </a:solidFill>
              <a:ln w="12700">
                <a:noFill/>
                <a:prstDash val="solid"/>
              </a:ln>
            </p:spPr>
          </p:sp>
          <p:sp>
            <p:nvSpPr>
              <p:cNvPr id="64" name="Shape 52"/>
              <p:cNvSpPr/>
              <p:nvPr/>
            </p:nvSpPr>
            <p:spPr>
              <a:xfrm>
                <a:off x="5742712" y="5108400"/>
                <a:ext cx="198000" cy="36000"/>
              </a:xfrm>
              <a:prstGeom prst="rect">
                <a:avLst/>
              </a:prstGeom>
              <a:solidFill>
                <a:schemeClr val="accent5">
                  <a:lumMod val="20000"/>
                  <a:lumOff val="80000"/>
                </a:schemeClr>
              </a:solidFill>
              <a:ln w="12700">
                <a:noFill/>
                <a:prstDash val="solid"/>
              </a:ln>
            </p:spPr>
          </p:sp>
          <p:sp>
            <p:nvSpPr>
              <p:cNvPr id="65" name="Shape 52"/>
              <p:cNvSpPr/>
              <p:nvPr/>
            </p:nvSpPr>
            <p:spPr>
              <a:xfrm>
                <a:off x="5940712" y="5108400"/>
                <a:ext cx="198000" cy="36000"/>
              </a:xfrm>
              <a:prstGeom prst="rect">
                <a:avLst/>
              </a:prstGeom>
              <a:solidFill>
                <a:schemeClr val="accent5">
                  <a:lumMod val="20000"/>
                  <a:lumOff val="80000"/>
                </a:schemeClr>
              </a:solidFill>
              <a:ln w="12700">
                <a:noFill/>
                <a:prstDash val="solid"/>
              </a:ln>
            </p:spPr>
          </p:sp>
          <p:sp>
            <p:nvSpPr>
              <p:cNvPr id="66" name="Shape 52"/>
              <p:cNvSpPr/>
              <p:nvPr/>
            </p:nvSpPr>
            <p:spPr>
              <a:xfrm>
                <a:off x="6138712" y="5108400"/>
                <a:ext cx="198000" cy="36000"/>
              </a:xfrm>
              <a:prstGeom prst="rect">
                <a:avLst/>
              </a:prstGeom>
              <a:solidFill>
                <a:schemeClr val="accent5">
                  <a:lumMod val="20000"/>
                  <a:lumOff val="80000"/>
                </a:schemeClr>
              </a:solidFill>
              <a:ln w="12700">
                <a:noFill/>
                <a:prstDash val="solid"/>
              </a:ln>
            </p:spPr>
          </p:sp>
          <p:sp>
            <p:nvSpPr>
              <p:cNvPr id="67" name="Shape 52"/>
              <p:cNvSpPr/>
              <p:nvPr/>
            </p:nvSpPr>
            <p:spPr>
              <a:xfrm>
                <a:off x="6336712" y="5108400"/>
                <a:ext cx="198000" cy="36000"/>
              </a:xfrm>
              <a:prstGeom prst="rect">
                <a:avLst/>
              </a:prstGeom>
              <a:solidFill>
                <a:schemeClr val="accent5">
                  <a:lumMod val="20000"/>
                  <a:lumOff val="80000"/>
                </a:schemeClr>
              </a:solidFill>
              <a:ln w="12700">
                <a:noFill/>
                <a:prstDash val="solid"/>
              </a:ln>
            </p:spPr>
          </p:sp>
          <p:sp>
            <p:nvSpPr>
              <p:cNvPr id="68" name="Shape 52"/>
              <p:cNvSpPr/>
              <p:nvPr/>
            </p:nvSpPr>
            <p:spPr>
              <a:xfrm>
                <a:off x="6534712" y="5108400"/>
                <a:ext cx="198000" cy="36000"/>
              </a:xfrm>
              <a:prstGeom prst="rect">
                <a:avLst/>
              </a:prstGeom>
              <a:solidFill>
                <a:schemeClr val="accent5">
                  <a:lumMod val="20000"/>
                  <a:lumOff val="80000"/>
                </a:schemeClr>
              </a:solidFill>
              <a:ln w="12700">
                <a:noFill/>
                <a:prstDash val="solid"/>
              </a:ln>
            </p:spPr>
          </p:sp>
          <p:sp>
            <p:nvSpPr>
              <p:cNvPr id="69" name="Shape 52"/>
              <p:cNvSpPr/>
              <p:nvPr/>
            </p:nvSpPr>
            <p:spPr>
              <a:xfrm>
                <a:off x="6732712" y="5108400"/>
                <a:ext cx="198000" cy="36000"/>
              </a:xfrm>
              <a:prstGeom prst="rect">
                <a:avLst/>
              </a:prstGeom>
              <a:solidFill>
                <a:schemeClr val="accent5">
                  <a:lumMod val="20000"/>
                  <a:lumOff val="80000"/>
                </a:schemeClr>
              </a:solidFill>
              <a:ln w="12700">
                <a:noFill/>
                <a:prstDash val="solid"/>
              </a:ln>
            </p:spPr>
          </p:sp>
          <p:sp>
            <p:nvSpPr>
              <p:cNvPr id="70" name="Shape 52"/>
              <p:cNvSpPr/>
              <p:nvPr/>
            </p:nvSpPr>
            <p:spPr>
              <a:xfrm>
                <a:off x="6930712" y="5108400"/>
                <a:ext cx="198000" cy="36000"/>
              </a:xfrm>
              <a:prstGeom prst="rect">
                <a:avLst/>
              </a:prstGeom>
              <a:solidFill>
                <a:schemeClr val="accent5">
                  <a:lumMod val="20000"/>
                  <a:lumOff val="80000"/>
                </a:schemeClr>
              </a:solidFill>
              <a:ln w="12700">
                <a:noFill/>
                <a:prstDash val="solid"/>
              </a:ln>
            </p:spPr>
          </p:sp>
          <p:sp>
            <p:nvSpPr>
              <p:cNvPr id="71" name="Shape 52"/>
              <p:cNvSpPr/>
              <p:nvPr/>
            </p:nvSpPr>
            <p:spPr>
              <a:xfrm>
                <a:off x="7128712" y="5108400"/>
                <a:ext cx="198000" cy="36000"/>
              </a:xfrm>
              <a:prstGeom prst="rect">
                <a:avLst/>
              </a:prstGeom>
              <a:solidFill>
                <a:schemeClr val="accent5">
                  <a:lumMod val="20000"/>
                  <a:lumOff val="80000"/>
                </a:schemeClr>
              </a:solidFill>
              <a:ln w="12700">
                <a:noFill/>
                <a:prstDash val="solid"/>
              </a:ln>
            </p:spPr>
          </p:sp>
          <p:sp>
            <p:nvSpPr>
              <p:cNvPr id="72" name="Shape 52"/>
              <p:cNvSpPr/>
              <p:nvPr/>
            </p:nvSpPr>
            <p:spPr>
              <a:xfrm>
                <a:off x="7326712" y="5108400"/>
                <a:ext cx="198000" cy="36000"/>
              </a:xfrm>
              <a:prstGeom prst="rect">
                <a:avLst/>
              </a:prstGeom>
              <a:solidFill>
                <a:schemeClr val="accent5">
                  <a:lumMod val="20000"/>
                  <a:lumOff val="80000"/>
                </a:schemeClr>
              </a:solidFill>
              <a:ln w="12700">
                <a:noFill/>
                <a:prstDash val="solid"/>
              </a:ln>
            </p:spPr>
          </p:sp>
          <p:sp>
            <p:nvSpPr>
              <p:cNvPr id="73" name="Shape 52"/>
              <p:cNvSpPr/>
              <p:nvPr/>
            </p:nvSpPr>
            <p:spPr>
              <a:xfrm>
                <a:off x="7524712" y="5108400"/>
                <a:ext cx="198000" cy="36000"/>
              </a:xfrm>
              <a:prstGeom prst="rect">
                <a:avLst/>
              </a:prstGeom>
              <a:grpFill/>
              <a:ln w="12700">
                <a:noFill/>
                <a:prstDash val="solid"/>
              </a:ln>
            </p:spPr>
          </p:sp>
          <p:sp>
            <p:nvSpPr>
              <p:cNvPr id="74" name="Shape 52"/>
              <p:cNvSpPr/>
              <p:nvPr/>
            </p:nvSpPr>
            <p:spPr>
              <a:xfrm>
                <a:off x="7722712" y="5108400"/>
                <a:ext cx="198000" cy="36000"/>
              </a:xfrm>
              <a:prstGeom prst="rect">
                <a:avLst/>
              </a:prstGeom>
              <a:grpFill/>
              <a:ln w="12700">
                <a:noFill/>
                <a:prstDash val="solid"/>
              </a:ln>
            </p:spPr>
          </p:sp>
          <p:sp>
            <p:nvSpPr>
              <p:cNvPr id="75" name="Shape 52"/>
              <p:cNvSpPr/>
              <p:nvPr/>
            </p:nvSpPr>
            <p:spPr>
              <a:xfrm>
                <a:off x="7920712" y="5109048"/>
                <a:ext cx="198000" cy="36000"/>
              </a:xfrm>
              <a:prstGeom prst="rect">
                <a:avLst/>
              </a:prstGeom>
              <a:grpFill/>
              <a:ln w="12700">
                <a:noFill/>
                <a:prstDash val="solid"/>
              </a:ln>
            </p:spPr>
          </p:sp>
          <p:sp>
            <p:nvSpPr>
              <p:cNvPr id="76" name="Shape 52"/>
              <p:cNvSpPr/>
              <p:nvPr/>
            </p:nvSpPr>
            <p:spPr>
              <a:xfrm>
                <a:off x="8118712" y="5109048"/>
                <a:ext cx="198000" cy="36000"/>
              </a:xfrm>
              <a:prstGeom prst="rect">
                <a:avLst/>
              </a:prstGeom>
              <a:grpFill/>
              <a:ln w="12700">
                <a:noFill/>
                <a:prstDash val="solid"/>
              </a:ln>
            </p:spPr>
          </p:sp>
          <p:sp>
            <p:nvSpPr>
              <p:cNvPr id="77" name="Shape 52"/>
              <p:cNvSpPr/>
              <p:nvPr/>
            </p:nvSpPr>
            <p:spPr>
              <a:xfrm>
                <a:off x="8316712" y="5109048"/>
                <a:ext cx="198000" cy="36000"/>
              </a:xfrm>
              <a:prstGeom prst="rect">
                <a:avLst/>
              </a:prstGeom>
              <a:grpFill/>
              <a:ln w="12700">
                <a:noFill/>
                <a:prstDash val="solid"/>
              </a:ln>
            </p:spPr>
          </p:sp>
          <p:sp>
            <p:nvSpPr>
              <p:cNvPr id="78" name="Shape 52"/>
              <p:cNvSpPr/>
              <p:nvPr/>
            </p:nvSpPr>
            <p:spPr>
              <a:xfrm>
                <a:off x="8514712" y="5109048"/>
                <a:ext cx="198000" cy="36000"/>
              </a:xfrm>
              <a:prstGeom prst="rect">
                <a:avLst/>
              </a:prstGeom>
              <a:grpFill/>
              <a:ln w="12700">
                <a:noFill/>
                <a:prstDash val="solid"/>
              </a:ln>
            </p:spPr>
          </p:sp>
          <p:sp>
            <p:nvSpPr>
              <p:cNvPr id="79" name="Shape 52"/>
              <p:cNvSpPr/>
              <p:nvPr/>
            </p:nvSpPr>
            <p:spPr>
              <a:xfrm>
                <a:off x="8712712" y="5109048"/>
                <a:ext cx="198000" cy="36000"/>
              </a:xfrm>
              <a:prstGeom prst="rect">
                <a:avLst/>
              </a:prstGeom>
              <a:grpFill/>
              <a:ln w="12700">
                <a:noFill/>
                <a:prstDash val="solid"/>
              </a:ln>
            </p:spPr>
          </p:sp>
          <p:sp>
            <p:nvSpPr>
              <p:cNvPr id="80"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00D4FF"/>
          </a:solidFill>
          <a:ln w="12700">
            <a:solidFill>
              <a:srgbClr val="00D4FF"/>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Zasady Hierarchii Wizualnej</a:t>
            </a:r>
            <a:endParaRPr lang="en-US" sz="2200" dirty="0"/>
          </a:p>
        </p:txBody>
      </p:sp>
      <p:sp>
        <p:nvSpPr>
          <p:cNvPr id="4" name="Shape 2"/>
          <p:cNvSpPr/>
          <p:nvPr/>
        </p:nvSpPr>
        <p:spPr>
          <a:xfrm>
            <a:off x="320040" y="914400"/>
            <a:ext cx="2743200" cy="150876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5" name="Shape 3"/>
          <p:cNvSpPr/>
          <p:nvPr/>
        </p:nvSpPr>
        <p:spPr>
          <a:xfrm>
            <a:off x="320040" y="914400"/>
            <a:ext cx="45720" cy="1508760"/>
          </a:xfrm>
          <a:prstGeom prst="rect">
            <a:avLst/>
          </a:prstGeom>
          <a:solidFill>
            <a:srgbClr val="00D4FF"/>
          </a:solidFill>
          <a:ln w="12700">
            <a:solidFill>
              <a:srgbClr val="00D4FF"/>
            </a:solidFill>
            <a:prstDash val="solid"/>
          </a:ln>
        </p:spPr>
      </p:sp>
      <p:sp>
        <p:nvSpPr>
          <p:cNvPr id="6" name="Text 4"/>
          <p:cNvSpPr/>
          <p:nvPr/>
        </p:nvSpPr>
        <p:spPr>
          <a:xfrm>
            <a:off x="429768" y="978408"/>
            <a:ext cx="2587752" cy="256032"/>
          </a:xfrm>
          <a:prstGeom prst="rect">
            <a:avLst/>
          </a:prstGeom>
          <a:noFill/>
          <a:ln/>
        </p:spPr>
        <p:txBody>
          <a:bodyPr wrap="square" lIns="0" tIns="0" rIns="0" bIns="0" rtlCol="0" anchor="t"/>
          <a:lstStyle/>
          <a:p>
            <a:pPr marL="0" indent="0">
              <a:buNone/>
            </a:pPr>
            <a:r>
              <a:rPr lang="en-US" sz="1000" b="1" dirty="0">
                <a:solidFill>
                  <a:srgbClr val="00D4FF"/>
                </a:solidFill>
              </a:rPr>
              <a:t>Rozmiar i Skala</a:t>
            </a:r>
            <a:endParaRPr lang="en-US" sz="1000" dirty="0"/>
          </a:p>
        </p:txBody>
      </p:sp>
      <p:sp>
        <p:nvSpPr>
          <p:cNvPr id="7" name="Text 5"/>
          <p:cNvSpPr/>
          <p:nvPr/>
        </p:nvSpPr>
        <p:spPr>
          <a:xfrm>
            <a:off x="429768" y="1243584"/>
            <a:ext cx="2587752" cy="1124712"/>
          </a:xfrm>
          <a:prstGeom prst="rect">
            <a:avLst/>
          </a:prstGeom>
          <a:noFill/>
          <a:ln/>
        </p:spPr>
        <p:txBody>
          <a:bodyPr wrap="square" lIns="0" tIns="0" rIns="0" bIns="0" rtlCol="0" anchor="t"/>
          <a:lstStyle/>
          <a:p>
            <a:pPr marL="0" indent="0">
              <a:buNone/>
            </a:pPr>
            <a:r>
              <a:rPr lang="en-US" sz="900" dirty="0">
                <a:solidFill>
                  <a:srgbClr val="CCDDEE"/>
                </a:solidFill>
              </a:rPr>
              <a:t>Większe elementy przyciągają więcej uwagi. Rozmiar jest najsilniejszym wskaźnikiem hierarchii.</a:t>
            </a:r>
            <a:endParaRPr lang="en-US" sz="900" dirty="0"/>
          </a:p>
        </p:txBody>
      </p:sp>
      <p:sp>
        <p:nvSpPr>
          <p:cNvPr id="8" name="Shape 6"/>
          <p:cNvSpPr/>
          <p:nvPr/>
        </p:nvSpPr>
        <p:spPr>
          <a:xfrm>
            <a:off x="3200400" y="914400"/>
            <a:ext cx="2743200" cy="150876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9" name="Shape 7"/>
          <p:cNvSpPr/>
          <p:nvPr/>
        </p:nvSpPr>
        <p:spPr>
          <a:xfrm>
            <a:off x="3200400" y="914400"/>
            <a:ext cx="45720" cy="1508760"/>
          </a:xfrm>
          <a:prstGeom prst="rect">
            <a:avLst/>
          </a:prstGeom>
          <a:solidFill>
            <a:srgbClr val="FF2D78"/>
          </a:solidFill>
          <a:ln w="12700">
            <a:solidFill>
              <a:srgbClr val="FF2D78"/>
            </a:solidFill>
            <a:prstDash val="solid"/>
          </a:ln>
        </p:spPr>
      </p:sp>
      <p:sp>
        <p:nvSpPr>
          <p:cNvPr id="10" name="Text 8"/>
          <p:cNvSpPr/>
          <p:nvPr/>
        </p:nvSpPr>
        <p:spPr>
          <a:xfrm>
            <a:off x="3310128" y="978408"/>
            <a:ext cx="2587752" cy="256032"/>
          </a:xfrm>
          <a:prstGeom prst="rect">
            <a:avLst/>
          </a:prstGeom>
          <a:noFill/>
          <a:ln/>
        </p:spPr>
        <p:txBody>
          <a:bodyPr wrap="square" lIns="0" tIns="0" rIns="0" bIns="0" rtlCol="0" anchor="t"/>
          <a:lstStyle/>
          <a:p>
            <a:pPr marL="0" indent="0">
              <a:buNone/>
            </a:pPr>
            <a:r>
              <a:rPr lang="en-US" sz="1000" b="1" dirty="0">
                <a:solidFill>
                  <a:srgbClr val="FF2D78"/>
                </a:solidFill>
              </a:rPr>
              <a:t>Kolor i Kontrast</a:t>
            </a:r>
            <a:endParaRPr lang="en-US" sz="1000" dirty="0"/>
          </a:p>
        </p:txBody>
      </p:sp>
      <p:sp>
        <p:nvSpPr>
          <p:cNvPr id="11" name="Text 9"/>
          <p:cNvSpPr/>
          <p:nvPr/>
        </p:nvSpPr>
        <p:spPr>
          <a:xfrm>
            <a:off x="3310128" y="1243584"/>
            <a:ext cx="2587752" cy="1124712"/>
          </a:xfrm>
          <a:prstGeom prst="rect">
            <a:avLst/>
          </a:prstGeom>
          <a:noFill/>
          <a:ln/>
        </p:spPr>
        <p:txBody>
          <a:bodyPr wrap="square" lIns="0" tIns="0" rIns="0" bIns="0" rtlCol="0" anchor="t"/>
          <a:lstStyle/>
          <a:p>
            <a:pPr marL="0" indent="0">
              <a:buNone/>
            </a:pPr>
            <a:r>
              <a:rPr lang="en-US" sz="900" dirty="0">
                <a:solidFill>
                  <a:srgbClr val="CCDDEE"/>
                </a:solidFill>
              </a:rPr>
              <a:t>Jasne, nasycone kolory dominują. Wysoki kontrast przyciąga, niski spycha w tło.</a:t>
            </a:r>
            <a:endParaRPr lang="en-US" sz="900" dirty="0"/>
          </a:p>
        </p:txBody>
      </p:sp>
      <p:sp>
        <p:nvSpPr>
          <p:cNvPr id="12" name="Shape 10"/>
          <p:cNvSpPr/>
          <p:nvPr/>
        </p:nvSpPr>
        <p:spPr>
          <a:xfrm>
            <a:off x="6080760" y="914400"/>
            <a:ext cx="2743200" cy="150876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13" name="Shape 11"/>
          <p:cNvSpPr/>
          <p:nvPr/>
        </p:nvSpPr>
        <p:spPr>
          <a:xfrm>
            <a:off x="6080760" y="914400"/>
            <a:ext cx="45720" cy="1508760"/>
          </a:xfrm>
          <a:prstGeom prst="rect">
            <a:avLst/>
          </a:prstGeom>
          <a:solidFill>
            <a:srgbClr val="00E676"/>
          </a:solidFill>
          <a:ln w="12700">
            <a:solidFill>
              <a:srgbClr val="00E676"/>
            </a:solidFill>
            <a:prstDash val="solid"/>
          </a:ln>
        </p:spPr>
      </p:sp>
      <p:sp>
        <p:nvSpPr>
          <p:cNvPr id="14" name="Text 12"/>
          <p:cNvSpPr/>
          <p:nvPr/>
        </p:nvSpPr>
        <p:spPr>
          <a:xfrm>
            <a:off x="6190488" y="978408"/>
            <a:ext cx="2587752" cy="256032"/>
          </a:xfrm>
          <a:prstGeom prst="rect">
            <a:avLst/>
          </a:prstGeom>
          <a:noFill/>
          <a:ln/>
        </p:spPr>
        <p:txBody>
          <a:bodyPr wrap="square" lIns="0" tIns="0" rIns="0" bIns="0" rtlCol="0" anchor="t"/>
          <a:lstStyle/>
          <a:p>
            <a:pPr marL="0" indent="0">
              <a:buNone/>
            </a:pPr>
            <a:r>
              <a:rPr lang="en-US" sz="1000" b="1" dirty="0">
                <a:solidFill>
                  <a:srgbClr val="00E676"/>
                </a:solidFill>
              </a:rPr>
              <a:t>Typografia</a:t>
            </a:r>
            <a:endParaRPr lang="en-US" sz="1000" dirty="0"/>
          </a:p>
        </p:txBody>
      </p:sp>
      <p:sp>
        <p:nvSpPr>
          <p:cNvPr id="15" name="Text 13"/>
          <p:cNvSpPr/>
          <p:nvPr/>
        </p:nvSpPr>
        <p:spPr>
          <a:xfrm>
            <a:off x="6190488" y="1243584"/>
            <a:ext cx="2587752" cy="1124712"/>
          </a:xfrm>
          <a:prstGeom prst="rect">
            <a:avLst/>
          </a:prstGeom>
          <a:noFill/>
          <a:ln/>
        </p:spPr>
        <p:txBody>
          <a:bodyPr wrap="square" lIns="0" tIns="0" rIns="0" bIns="0" rtlCol="0" anchor="t"/>
          <a:lstStyle/>
          <a:p>
            <a:pPr marL="0" indent="0">
              <a:buNone/>
            </a:pPr>
            <a:r>
              <a:rPr lang="en-US" sz="900" dirty="0">
                <a:solidFill>
                  <a:srgbClr val="CCDDEE"/>
                </a:solidFill>
              </a:rPr>
              <a:t>Waga, rozmiar i styl kroju tworzą hierarchię tekstową. Bold &gt; Semibold &gt; Regular &gt; Light.</a:t>
            </a:r>
            <a:endParaRPr lang="en-US" sz="900" dirty="0"/>
          </a:p>
        </p:txBody>
      </p:sp>
      <p:sp>
        <p:nvSpPr>
          <p:cNvPr id="16" name="Shape 14"/>
          <p:cNvSpPr/>
          <p:nvPr/>
        </p:nvSpPr>
        <p:spPr>
          <a:xfrm>
            <a:off x="320040" y="2578608"/>
            <a:ext cx="2743200" cy="150876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17" name="Shape 15"/>
          <p:cNvSpPr/>
          <p:nvPr/>
        </p:nvSpPr>
        <p:spPr>
          <a:xfrm>
            <a:off x="320040" y="2578608"/>
            <a:ext cx="45720" cy="1508760"/>
          </a:xfrm>
          <a:prstGeom prst="rect">
            <a:avLst/>
          </a:prstGeom>
          <a:solidFill>
            <a:srgbClr val="B388FF"/>
          </a:solidFill>
          <a:ln w="12700">
            <a:solidFill>
              <a:srgbClr val="B388FF"/>
            </a:solidFill>
            <a:prstDash val="solid"/>
          </a:ln>
        </p:spPr>
      </p:sp>
      <p:sp>
        <p:nvSpPr>
          <p:cNvPr id="18" name="Text 16"/>
          <p:cNvSpPr/>
          <p:nvPr/>
        </p:nvSpPr>
        <p:spPr>
          <a:xfrm>
            <a:off x="429768" y="2642616"/>
            <a:ext cx="2587752" cy="256032"/>
          </a:xfrm>
          <a:prstGeom prst="rect">
            <a:avLst/>
          </a:prstGeom>
          <a:noFill/>
          <a:ln/>
        </p:spPr>
        <p:txBody>
          <a:bodyPr wrap="square" lIns="0" tIns="0" rIns="0" bIns="0" rtlCol="0" anchor="t"/>
          <a:lstStyle/>
          <a:p>
            <a:pPr marL="0" indent="0">
              <a:buNone/>
            </a:pPr>
            <a:r>
              <a:rPr lang="en-US" sz="1000" b="1" dirty="0">
                <a:solidFill>
                  <a:srgbClr val="B388FF"/>
                </a:solidFill>
              </a:rPr>
              <a:t>Biała Przestrzeń</a:t>
            </a:r>
            <a:endParaRPr lang="en-US" sz="1000" dirty="0"/>
          </a:p>
        </p:txBody>
      </p:sp>
      <p:sp>
        <p:nvSpPr>
          <p:cNvPr id="19" name="Text 17"/>
          <p:cNvSpPr/>
          <p:nvPr/>
        </p:nvSpPr>
        <p:spPr>
          <a:xfrm>
            <a:off x="429768" y="2907792"/>
            <a:ext cx="2587752" cy="1124712"/>
          </a:xfrm>
          <a:prstGeom prst="rect">
            <a:avLst/>
          </a:prstGeom>
          <a:noFill/>
          <a:ln/>
        </p:spPr>
        <p:txBody>
          <a:bodyPr wrap="square" lIns="0" tIns="0" rIns="0" bIns="0" rtlCol="0" anchor="t"/>
          <a:lstStyle/>
          <a:p>
            <a:pPr marL="0" indent="0">
              <a:buNone/>
            </a:pPr>
            <a:r>
              <a:rPr lang="en-US" sz="900" dirty="0">
                <a:solidFill>
                  <a:srgbClr val="CCDDEE"/>
                </a:solidFill>
              </a:rPr>
              <a:t>Puste miejsce oddziela i podkreśla. Element otoczony przestrzenią wydaje się ważniejszy.</a:t>
            </a:r>
            <a:endParaRPr lang="en-US" sz="900" dirty="0"/>
          </a:p>
        </p:txBody>
      </p:sp>
      <p:sp>
        <p:nvSpPr>
          <p:cNvPr id="20" name="Shape 18"/>
          <p:cNvSpPr/>
          <p:nvPr/>
        </p:nvSpPr>
        <p:spPr>
          <a:xfrm>
            <a:off x="3200400" y="2578608"/>
            <a:ext cx="2743200" cy="150876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21" name="Shape 19"/>
          <p:cNvSpPr/>
          <p:nvPr/>
        </p:nvSpPr>
        <p:spPr>
          <a:xfrm>
            <a:off x="3200400" y="2578608"/>
            <a:ext cx="45720" cy="1508760"/>
          </a:xfrm>
          <a:prstGeom prst="rect">
            <a:avLst/>
          </a:prstGeom>
          <a:solidFill>
            <a:srgbClr val="FF9100"/>
          </a:solidFill>
          <a:ln w="12700">
            <a:solidFill>
              <a:srgbClr val="FF9100"/>
            </a:solidFill>
            <a:prstDash val="solid"/>
          </a:ln>
        </p:spPr>
      </p:sp>
      <p:sp>
        <p:nvSpPr>
          <p:cNvPr id="22" name="Text 20"/>
          <p:cNvSpPr/>
          <p:nvPr/>
        </p:nvSpPr>
        <p:spPr>
          <a:xfrm>
            <a:off x="3310128" y="2642616"/>
            <a:ext cx="2587752" cy="256032"/>
          </a:xfrm>
          <a:prstGeom prst="rect">
            <a:avLst/>
          </a:prstGeom>
          <a:noFill/>
          <a:ln/>
        </p:spPr>
        <p:txBody>
          <a:bodyPr wrap="square" lIns="0" tIns="0" rIns="0" bIns="0" rtlCol="0" anchor="t"/>
          <a:lstStyle/>
          <a:p>
            <a:pPr marL="0" indent="0">
              <a:buNone/>
            </a:pPr>
            <a:r>
              <a:rPr lang="en-US" sz="1000" b="1" dirty="0">
                <a:solidFill>
                  <a:srgbClr val="FF9100"/>
                </a:solidFill>
              </a:rPr>
              <a:t>Bliskość / Grupowanie</a:t>
            </a:r>
            <a:endParaRPr lang="en-US" sz="1000" dirty="0"/>
          </a:p>
        </p:txBody>
      </p:sp>
      <p:sp>
        <p:nvSpPr>
          <p:cNvPr id="23" name="Text 21"/>
          <p:cNvSpPr/>
          <p:nvPr/>
        </p:nvSpPr>
        <p:spPr>
          <a:xfrm>
            <a:off x="3310128" y="2907792"/>
            <a:ext cx="2587752" cy="1124712"/>
          </a:xfrm>
          <a:prstGeom prst="rect">
            <a:avLst/>
          </a:prstGeom>
          <a:noFill/>
          <a:ln/>
        </p:spPr>
        <p:txBody>
          <a:bodyPr wrap="square" lIns="0" tIns="0" rIns="0" bIns="0" rtlCol="0" anchor="t"/>
          <a:lstStyle/>
          <a:p>
            <a:pPr marL="0" indent="0">
              <a:buNone/>
            </a:pPr>
            <a:r>
              <a:rPr lang="en-US" sz="900" dirty="0">
                <a:solidFill>
                  <a:srgbClr val="CCDDEE"/>
                </a:solidFill>
              </a:rPr>
              <a:t>Elementy blisko siebie tworzą relacje. Grupowanie wizualne organizuje informacje.</a:t>
            </a:r>
            <a:endParaRPr lang="en-US" sz="900" dirty="0"/>
          </a:p>
        </p:txBody>
      </p:sp>
      <p:sp>
        <p:nvSpPr>
          <p:cNvPr id="24" name="Shape 22"/>
          <p:cNvSpPr/>
          <p:nvPr/>
        </p:nvSpPr>
        <p:spPr>
          <a:xfrm>
            <a:off x="6080760" y="2578608"/>
            <a:ext cx="2743200" cy="150876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25" name="Shape 23"/>
          <p:cNvSpPr/>
          <p:nvPr/>
        </p:nvSpPr>
        <p:spPr>
          <a:xfrm>
            <a:off x="6080760" y="2578608"/>
            <a:ext cx="45720" cy="1508760"/>
          </a:xfrm>
          <a:prstGeom prst="rect">
            <a:avLst/>
          </a:prstGeom>
          <a:solidFill>
            <a:srgbClr val="FFD600"/>
          </a:solidFill>
          <a:ln w="12700">
            <a:solidFill>
              <a:srgbClr val="FFD600"/>
            </a:solidFill>
            <a:prstDash val="solid"/>
          </a:ln>
        </p:spPr>
      </p:sp>
      <p:sp>
        <p:nvSpPr>
          <p:cNvPr id="26" name="Text 24"/>
          <p:cNvSpPr/>
          <p:nvPr/>
        </p:nvSpPr>
        <p:spPr>
          <a:xfrm>
            <a:off x="6190488" y="2642616"/>
            <a:ext cx="2587752" cy="256032"/>
          </a:xfrm>
          <a:prstGeom prst="rect">
            <a:avLst/>
          </a:prstGeom>
          <a:noFill/>
          <a:ln/>
        </p:spPr>
        <p:txBody>
          <a:bodyPr wrap="square" lIns="0" tIns="0" rIns="0" bIns="0" rtlCol="0" anchor="t"/>
          <a:lstStyle/>
          <a:p>
            <a:pPr marL="0" indent="0">
              <a:buNone/>
            </a:pPr>
            <a:r>
              <a:rPr lang="en-US" sz="1000" b="1" dirty="0">
                <a:solidFill>
                  <a:srgbClr val="FFD600"/>
                </a:solidFill>
              </a:rPr>
              <a:t>Wyrównanie</a:t>
            </a:r>
            <a:endParaRPr lang="en-US" sz="1000" dirty="0"/>
          </a:p>
        </p:txBody>
      </p:sp>
      <p:sp>
        <p:nvSpPr>
          <p:cNvPr id="27" name="Text 25"/>
          <p:cNvSpPr/>
          <p:nvPr/>
        </p:nvSpPr>
        <p:spPr>
          <a:xfrm>
            <a:off x="6190488" y="2907792"/>
            <a:ext cx="2587752" cy="1124712"/>
          </a:xfrm>
          <a:prstGeom prst="rect">
            <a:avLst/>
          </a:prstGeom>
          <a:noFill/>
          <a:ln/>
        </p:spPr>
        <p:txBody>
          <a:bodyPr wrap="square" lIns="0" tIns="0" rIns="0" bIns="0" rtlCol="0" anchor="t"/>
          <a:lstStyle/>
          <a:p>
            <a:pPr marL="0" indent="0">
              <a:buNone/>
            </a:pPr>
            <a:r>
              <a:rPr lang="en-US" sz="900" dirty="0">
                <a:solidFill>
                  <a:srgbClr val="CCDDEE"/>
                </a:solidFill>
              </a:rPr>
              <a:t>Wyrównanie tworzy porządek i strukturę. Left-align to najczytelniejsza opcja dla treści.</a:t>
            </a:r>
            <a:endParaRPr lang="en-US" sz="900" dirty="0"/>
          </a:p>
        </p:txBody>
      </p:sp>
      <p:sp>
        <p:nvSpPr>
          <p:cNvPr id="30" name="Text 28"/>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38 / </a:t>
            </a:r>
            <a:r>
              <a:rPr lang="pl-PL" sz="800" dirty="0" smtClean="0">
                <a:solidFill>
                  <a:srgbClr val="8899AA"/>
                </a:solidFill>
              </a:rPr>
              <a:t>46</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D1B2A"/>
        </a:solidFill>
        <a:effectLst/>
      </p:bgPr>
    </p:bg>
    <p:spTree>
      <p:nvGrpSpPr>
        <p:cNvPr id="1" name=""/>
        <p:cNvGrpSpPr/>
        <p:nvPr/>
      </p:nvGrpSpPr>
      <p:grpSpPr>
        <a:xfrm>
          <a:off x="0" y="0"/>
          <a:ext cx="0" cy="0"/>
          <a:chOff x="0" y="0"/>
          <a:chExt cx="0" cy="0"/>
        </a:xfrm>
      </p:grpSpPr>
      <p:grpSp>
        <p:nvGrpSpPr>
          <p:cNvPr id="43" name="Grupa 42"/>
          <p:cNvGrpSpPr/>
          <p:nvPr/>
        </p:nvGrpSpPr>
        <p:grpSpPr>
          <a:xfrm>
            <a:off x="-2381" y="4884912"/>
            <a:ext cx="9146381" cy="260136"/>
            <a:chOff x="-2381" y="4884912"/>
            <a:chExt cx="9146381" cy="260136"/>
          </a:xfrm>
        </p:grpSpPr>
        <p:sp>
          <p:nvSpPr>
            <p:cNvPr id="44" name="Shape 52"/>
            <p:cNvSpPr/>
            <p:nvPr/>
          </p:nvSpPr>
          <p:spPr>
            <a:xfrm>
              <a:off x="0" y="4884912"/>
              <a:ext cx="9144000" cy="252000"/>
            </a:xfrm>
            <a:prstGeom prst="rect">
              <a:avLst/>
            </a:prstGeom>
            <a:solidFill>
              <a:srgbClr val="071523"/>
            </a:solidFill>
            <a:ln w="12700">
              <a:solidFill>
                <a:srgbClr val="071523"/>
              </a:solidFill>
              <a:prstDash val="solid"/>
            </a:ln>
          </p:spPr>
        </p:sp>
        <p:sp>
          <p:nvSpPr>
            <p:cNvPr id="45"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46" name="Grupa 45"/>
            <p:cNvGrpSpPr/>
            <p:nvPr/>
          </p:nvGrpSpPr>
          <p:grpSpPr>
            <a:xfrm>
              <a:off x="-2381" y="5099329"/>
              <a:ext cx="9146381" cy="45719"/>
              <a:chOff x="-2381" y="5107500"/>
              <a:chExt cx="9111093" cy="37548"/>
            </a:xfrm>
            <a:solidFill>
              <a:schemeClr val="tx1"/>
            </a:solidFill>
          </p:grpSpPr>
          <p:sp>
            <p:nvSpPr>
              <p:cNvPr id="47"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48"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49"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50"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62"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63"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64"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65"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66"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67"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68"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69" name="Shape 52"/>
              <p:cNvSpPr/>
              <p:nvPr/>
            </p:nvSpPr>
            <p:spPr>
              <a:xfrm>
                <a:off x="4356712" y="5107500"/>
                <a:ext cx="198000" cy="36000"/>
              </a:xfrm>
              <a:prstGeom prst="rect">
                <a:avLst/>
              </a:prstGeom>
              <a:solidFill>
                <a:schemeClr val="accent5">
                  <a:lumMod val="20000"/>
                  <a:lumOff val="80000"/>
                </a:schemeClr>
              </a:solidFill>
              <a:ln w="12700">
                <a:noFill/>
                <a:prstDash val="solid"/>
              </a:ln>
            </p:spPr>
          </p:sp>
          <p:sp>
            <p:nvSpPr>
              <p:cNvPr id="70" name="Shape 52"/>
              <p:cNvSpPr/>
              <p:nvPr/>
            </p:nvSpPr>
            <p:spPr>
              <a:xfrm>
                <a:off x="4554712" y="5107500"/>
                <a:ext cx="198000" cy="36000"/>
              </a:xfrm>
              <a:prstGeom prst="rect">
                <a:avLst/>
              </a:prstGeom>
              <a:solidFill>
                <a:schemeClr val="accent5">
                  <a:lumMod val="20000"/>
                  <a:lumOff val="80000"/>
                </a:schemeClr>
              </a:solidFill>
              <a:ln w="12700">
                <a:noFill/>
                <a:prstDash val="solid"/>
              </a:ln>
            </p:spPr>
          </p:sp>
          <p:sp>
            <p:nvSpPr>
              <p:cNvPr id="71" name="Shape 52"/>
              <p:cNvSpPr/>
              <p:nvPr/>
            </p:nvSpPr>
            <p:spPr>
              <a:xfrm>
                <a:off x="4752712" y="5107500"/>
                <a:ext cx="198000" cy="36000"/>
              </a:xfrm>
              <a:prstGeom prst="rect">
                <a:avLst/>
              </a:prstGeom>
              <a:solidFill>
                <a:schemeClr val="accent5">
                  <a:lumMod val="20000"/>
                  <a:lumOff val="80000"/>
                </a:schemeClr>
              </a:solidFill>
              <a:ln w="12700">
                <a:noFill/>
                <a:prstDash val="solid"/>
              </a:ln>
            </p:spPr>
          </p:sp>
          <p:sp>
            <p:nvSpPr>
              <p:cNvPr id="72" name="Shape 52"/>
              <p:cNvSpPr/>
              <p:nvPr/>
            </p:nvSpPr>
            <p:spPr>
              <a:xfrm>
                <a:off x="4950712" y="5107500"/>
                <a:ext cx="198000" cy="36000"/>
              </a:xfrm>
              <a:prstGeom prst="rect">
                <a:avLst/>
              </a:prstGeom>
              <a:solidFill>
                <a:schemeClr val="accent5">
                  <a:lumMod val="20000"/>
                  <a:lumOff val="80000"/>
                </a:schemeClr>
              </a:solidFill>
              <a:ln w="12700">
                <a:noFill/>
                <a:prstDash val="solid"/>
              </a:ln>
            </p:spPr>
          </p:sp>
          <p:sp>
            <p:nvSpPr>
              <p:cNvPr id="73" name="Shape 52"/>
              <p:cNvSpPr/>
              <p:nvPr/>
            </p:nvSpPr>
            <p:spPr>
              <a:xfrm>
                <a:off x="5148712" y="5107500"/>
                <a:ext cx="198000" cy="36000"/>
              </a:xfrm>
              <a:prstGeom prst="rect">
                <a:avLst/>
              </a:prstGeom>
              <a:solidFill>
                <a:schemeClr val="accent5">
                  <a:lumMod val="20000"/>
                  <a:lumOff val="80000"/>
                </a:schemeClr>
              </a:solidFill>
              <a:ln w="12700">
                <a:noFill/>
                <a:prstDash val="solid"/>
              </a:ln>
            </p:spPr>
          </p:sp>
          <p:sp>
            <p:nvSpPr>
              <p:cNvPr id="74" name="Shape 52"/>
              <p:cNvSpPr/>
              <p:nvPr/>
            </p:nvSpPr>
            <p:spPr>
              <a:xfrm>
                <a:off x="5346712" y="5108400"/>
                <a:ext cx="198000" cy="36000"/>
              </a:xfrm>
              <a:prstGeom prst="rect">
                <a:avLst/>
              </a:prstGeom>
              <a:solidFill>
                <a:schemeClr val="accent5">
                  <a:lumMod val="20000"/>
                  <a:lumOff val="80000"/>
                </a:schemeClr>
              </a:solidFill>
              <a:ln w="12700">
                <a:noFill/>
                <a:prstDash val="solid"/>
              </a:ln>
            </p:spPr>
          </p:sp>
          <p:sp>
            <p:nvSpPr>
              <p:cNvPr id="75" name="Shape 52"/>
              <p:cNvSpPr/>
              <p:nvPr/>
            </p:nvSpPr>
            <p:spPr>
              <a:xfrm>
                <a:off x="5544712" y="5108400"/>
                <a:ext cx="198000" cy="36000"/>
              </a:xfrm>
              <a:prstGeom prst="rect">
                <a:avLst/>
              </a:prstGeom>
              <a:solidFill>
                <a:schemeClr val="accent5">
                  <a:lumMod val="20000"/>
                  <a:lumOff val="80000"/>
                </a:schemeClr>
              </a:solidFill>
              <a:ln w="12700">
                <a:noFill/>
                <a:prstDash val="solid"/>
              </a:ln>
            </p:spPr>
          </p:sp>
          <p:sp>
            <p:nvSpPr>
              <p:cNvPr id="76" name="Shape 52"/>
              <p:cNvSpPr/>
              <p:nvPr/>
            </p:nvSpPr>
            <p:spPr>
              <a:xfrm>
                <a:off x="5742712" y="5108400"/>
                <a:ext cx="198000" cy="36000"/>
              </a:xfrm>
              <a:prstGeom prst="rect">
                <a:avLst/>
              </a:prstGeom>
              <a:solidFill>
                <a:schemeClr val="accent5">
                  <a:lumMod val="20000"/>
                  <a:lumOff val="80000"/>
                </a:schemeClr>
              </a:solidFill>
              <a:ln w="12700">
                <a:noFill/>
                <a:prstDash val="solid"/>
              </a:ln>
            </p:spPr>
          </p:sp>
          <p:sp>
            <p:nvSpPr>
              <p:cNvPr id="77" name="Shape 52"/>
              <p:cNvSpPr/>
              <p:nvPr/>
            </p:nvSpPr>
            <p:spPr>
              <a:xfrm>
                <a:off x="5940712" y="5108400"/>
                <a:ext cx="198000" cy="36000"/>
              </a:xfrm>
              <a:prstGeom prst="rect">
                <a:avLst/>
              </a:prstGeom>
              <a:solidFill>
                <a:schemeClr val="accent5">
                  <a:lumMod val="20000"/>
                  <a:lumOff val="80000"/>
                </a:schemeClr>
              </a:solidFill>
              <a:ln w="12700">
                <a:noFill/>
                <a:prstDash val="solid"/>
              </a:ln>
            </p:spPr>
          </p:sp>
          <p:sp>
            <p:nvSpPr>
              <p:cNvPr id="78" name="Shape 52"/>
              <p:cNvSpPr/>
              <p:nvPr/>
            </p:nvSpPr>
            <p:spPr>
              <a:xfrm>
                <a:off x="6138712" y="5108400"/>
                <a:ext cx="198000" cy="36000"/>
              </a:xfrm>
              <a:prstGeom prst="rect">
                <a:avLst/>
              </a:prstGeom>
              <a:solidFill>
                <a:schemeClr val="accent5">
                  <a:lumMod val="20000"/>
                  <a:lumOff val="80000"/>
                </a:schemeClr>
              </a:solidFill>
              <a:ln w="12700">
                <a:noFill/>
                <a:prstDash val="solid"/>
              </a:ln>
            </p:spPr>
          </p:sp>
          <p:sp>
            <p:nvSpPr>
              <p:cNvPr id="79" name="Shape 52"/>
              <p:cNvSpPr/>
              <p:nvPr/>
            </p:nvSpPr>
            <p:spPr>
              <a:xfrm>
                <a:off x="6336712" y="5108400"/>
                <a:ext cx="198000" cy="36000"/>
              </a:xfrm>
              <a:prstGeom prst="rect">
                <a:avLst/>
              </a:prstGeom>
              <a:solidFill>
                <a:schemeClr val="accent5">
                  <a:lumMod val="20000"/>
                  <a:lumOff val="80000"/>
                </a:schemeClr>
              </a:solidFill>
              <a:ln w="12700">
                <a:noFill/>
                <a:prstDash val="solid"/>
              </a:ln>
            </p:spPr>
          </p:sp>
          <p:sp>
            <p:nvSpPr>
              <p:cNvPr id="80" name="Shape 52"/>
              <p:cNvSpPr/>
              <p:nvPr/>
            </p:nvSpPr>
            <p:spPr>
              <a:xfrm>
                <a:off x="6534712" y="5108400"/>
                <a:ext cx="198000" cy="36000"/>
              </a:xfrm>
              <a:prstGeom prst="rect">
                <a:avLst/>
              </a:prstGeom>
              <a:solidFill>
                <a:schemeClr val="accent5">
                  <a:lumMod val="20000"/>
                  <a:lumOff val="80000"/>
                </a:schemeClr>
              </a:solidFill>
              <a:ln w="12700">
                <a:noFill/>
                <a:prstDash val="solid"/>
              </a:ln>
            </p:spPr>
          </p:sp>
          <p:sp>
            <p:nvSpPr>
              <p:cNvPr id="81" name="Shape 52"/>
              <p:cNvSpPr/>
              <p:nvPr/>
            </p:nvSpPr>
            <p:spPr>
              <a:xfrm>
                <a:off x="6732712" y="5108400"/>
                <a:ext cx="198000" cy="36000"/>
              </a:xfrm>
              <a:prstGeom prst="rect">
                <a:avLst/>
              </a:prstGeom>
              <a:solidFill>
                <a:schemeClr val="accent5">
                  <a:lumMod val="20000"/>
                  <a:lumOff val="80000"/>
                </a:schemeClr>
              </a:solidFill>
              <a:ln w="12700">
                <a:noFill/>
                <a:prstDash val="solid"/>
              </a:ln>
            </p:spPr>
          </p:sp>
          <p:sp>
            <p:nvSpPr>
              <p:cNvPr id="82" name="Shape 52"/>
              <p:cNvSpPr/>
              <p:nvPr/>
            </p:nvSpPr>
            <p:spPr>
              <a:xfrm>
                <a:off x="6930712" y="5108400"/>
                <a:ext cx="198000" cy="36000"/>
              </a:xfrm>
              <a:prstGeom prst="rect">
                <a:avLst/>
              </a:prstGeom>
              <a:solidFill>
                <a:schemeClr val="accent5">
                  <a:lumMod val="20000"/>
                  <a:lumOff val="80000"/>
                </a:schemeClr>
              </a:solidFill>
              <a:ln w="12700">
                <a:noFill/>
                <a:prstDash val="solid"/>
              </a:ln>
            </p:spPr>
          </p:sp>
          <p:sp>
            <p:nvSpPr>
              <p:cNvPr id="83" name="Shape 52"/>
              <p:cNvSpPr/>
              <p:nvPr/>
            </p:nvSpPr>
            <p:spPr>
              <a:xfrm>
                <a:off x="7128712" y="5108400"/>
                <a:ext cx="198000" cy="36000"/>
              </a:xfrm>
              <a:prstGeom prst="rect">
                <a:avLst/>
              </a:prstGeom>
              <a:solidFill>
                <a:schemeClr val="accent5">
                  <a:lumMod val="20000"/>
                  <a:lumOff val="80000"/>
                </a:schemeClr>
              </a:solidFill>
              <a:ln w="12700">
                <a:noFill/>
                <a:prstDash val="solid"/>
              </a:ln>
            </p:spPr>
          </p:sp>
          <p:sp>
            <p:nvSpPr>
              <p:cNvPr id="84" name="Shape 52"/>
              <p:cNvSpPr/>
              <p:nvPr/>
            </p:nvSpPr>
            <p:spPr>
              <a:xfrm>
                <a:off x="7326712" y="5108400"/>
                <a:ext cx="198000" cy="36000"/>
              </a:xfrm>
              <a:prstGeom prst="rect">
                <a:avLst/>
              </a:prstGeom>
              <a:solidFill>
                <a:schemeClr val="accent5">
                  <a:lumMod val="20000"/>
                  <a:lumOff val="80000"/>
                </a:schemeClr>
              </a:solidFill>
              <a:ln w="12700">
                <a:noFill/>
                <a:prstDash val="solid"/>
              </a:ln>
            </p:spPr>
          </p:sp>
          <p:sp>
            <p:nvSpPr>
              <p:cNvPr id="85" name="Shape 52"/>
              <p:cNvSpPr/>
              <p:nvPr/>
            </p:nvSpPr>
            <p:spPr>
              <a:xfrm>
                <a:off x="7524712" y="5108400"/>
                <a:ext cx="198000" cy="36000"/>
              </a:xfrm>
              <a:prstGeom prst="rect">
                <a:avLst/>
              </a:prstGeom>
              <a:solidFill>
                <a:schemeClr val="accent5">
                  <a:lumMod val="20000"/>
                  <a:lumOff val="80000"/>
                </a:schemeClr>
              </a:solidFill>
              <a:ln w="12700">
                <a:noFill/>
                <a:prstDash val="solid"/>
              </a:ln>
            </p:spPr>
          </p:sp>
          <p:sp>
            <p:nvSpPr>
              <p:cNvPr id="86" name="Shape 52"/>
              <p:cNvSpPr/>
              <p:nvPr/>
            </p:nvSpPr>
            <p:spPr>
              <a:xfrm>
                <a:off x="7722712" y="5108400"/>
                <a:ext cx="198000" cy="36000"/>
              </a:xfrm>
              <a:prstGeom prst="rect">
                <a:avLst/>
              </a:prstGeom>
              <a:grpFill/>
              <a:ln w="12700">
                <a:noFill/>
                <a:prstDash val="solid"/>
              </a:ln>
            </p:spPr>
          </p:sp>
          <p:sp>
            <p:nvSpPr>
              <p:cNvPr id="87" name="Shape 52"/>
              <p:cNvSpPr/>
              <p:nvPr/>
            </p:nvSpPr>
            <p:spPr>
              <a:xfrm>
                <a:off x="7920712" y="5109048"/>
                <a:ext cx="198000" cy="36000"/>
              </a:xfrm>
              <a:prstGeom prst="rect">
                <a:avLst/>
              </a:prstGeom>
              <a:grpFill/>
              <a:ln w="12700">
                <a:noFill/>
                <a:prstDash val="solid"/>
              </a:ln>
            </p:spPr>
          </p:sp>
          <p:sp>
            <p:nvSpPr>
              <p:cNvPr id="88" name="Shape 52"/>
              <p:cNvSpPr/>
              <p:nvPr/>
            </p:nvSpPr>
            <p:spPr>
              <a:xfrm>
                <a:off x="8118712" y="5109048"/>
                <a:ext cx="198000" cy="36000"/>
              </a:xfrm>
              <a:prstGeom prst="rect">
                <a:avLst/>
              </a:prstGeom>
              <a:grpFill/>
              <a:ln w="12700">
                <a:noFill/>
                <a:prstDash val="solid"/>
              </a:ln>
            </p:spPr>
          </p:sp>
          <p:sp>
            <p:nvSpPr>
              <p:cNvPr id="89" name="Shape 52"/>
              <p:cNvSpPr/>
              <p:nvPr/>
            </p:nvSpPr>
            <p:spPr>
              <a:xfrm>
                <a:off x="8316712" y="5109048"/>
                <a:ext cx="198000" cy="36000"/>
              </a:xfrm>
              <a:prstGeom prst="rect">
                <a:avLst/>
              </a:prstGeom>
              <a:grpFill/>
              <a:ln w="12700">
                <a:noFill/>
                <a:prstDash val="solid"/>
              </a:ln>
            </p:spPr>
          </p:sp>
          <p:sp>
            <p:nvSpPr>
              <p:cNvPr id="90" name="Shape 52"/>
              <p:cNvSpPr/>
              <p:nvPr/>
            </p:nvSpPr>
            <p:spPr>
              <a:xfrm>
                <a:off x="8514712" y="5109048"/>
                <a:ext cx="198000" cy="36000"/>
              </a:xfrm>
              <a:prstGeom prst="rect">
                <a:avLst/>
              </a:prstGeom>
              <a:grpFill/>
              <a:ln w="12700">
                <a:noFill/>
                <a:prstDash val="solid"/>
              </a:ln>
            </p:spPr>
          </p:sp>
          <p:sp>
            <p:nvSpPr>
              <p:cNvPr id="91" name="Shape 52"/>
              <p:cNvSpPr/>
              <p:nvPr/>
            </p:nvSpPr>
            <p:spPr>
              <a:xfrm>
                <a:off x="8712712" y="5109048"/>
                <a:ext cx="198000" cy="36000"/>
              </a:xfrm>
              <a:prstGeom prst="rect">
                <a:avLst/>
              </a:prstGeom>
              <a:grpFill/>
              <a:ln w="12700">
                <a:noFill/>
                <a:prstDash val="solid"/>
              </a:ln>
            </p:spPr>
          </p:sp>
          <p:sp>
            <p:nvSpPr>
              <p:cNvPr id="92"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00D4FF"/>
          </a:solidFill>
          <a:ln w="12700">
            <a:solidFill>
              <a:srgbClr val="00D4FF"/>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Zasady Gestalt w Projektowaniu Mobilnym</a:t>
            </a:r>
            <a:endParaRPr lang="en-US" sz="2200" dirty="0"/>
          </a:p>
        </p:txBody>
      </p:sp>
      <p:sp>
        <p:nvSpPr>
          <p:cNvPr id="4" name="Shape 2"/>
          <p:cNvSpPr/>
          <p:nvPr/>
        </p:nvSpPr>
        <p:spPr>
          <a:xfrm>
            <a:off x="320040" y="914400"/>
            <a:ext cx="2743200" cy="1581912"/>
          </a:xfrm>
          <a:prstGeom prst="rect">
            <a:avLst/>
          </a:prstGeom>
          <a:solidFill>
            <a:srgbClr val="112233"/>
          </a:solidFill>
          <a:ln w="12700">
            <a:solidFill>
              <a:srgbClr val="1A3050"/>
            </a:solidFill>
            <a:prstDash val="solid"/>
          </a:ln>
        </p:spPr>
      </p:sp>
      <p:sp>
        <p:nvSpPr>
          <p:cNvPr id="5" name="Shape 3"/>
          <p:cNvSpPr/>
          <p:nvPr/>
        </p:nvSpPr>
        <p:spPr>
          <a:xfrm>
            <a:off x="320040" y="914400"/>
            <a:ext cx="45720" cy="1581912"/>
          </a:xfrm>
          <a:prstGeom prst="rect">
            <a:avLst/>
          </a:prstGeom>
          <a:solidFill>
            <a:srgbClr val="00D4FF"/>
          </a:solidFill>
          <a:ln w="12700">
            <a:solidFill>
              <a:srgbClr val="00D4FF"/>
            </a:solidFill>
            <a:prstDash val="solid"/>
          </a:ln>
        </p:spPr>
      </p:sp>
      <p:sp>
        <p:nvSpPr>
          <p:cNvPr id="6" name="Shape 4"/>
          <p:cNvSpPr/>
          <p:nvPr/>
        </p:nvSpPr>
        <p:spPr>
          <a:xfrm>
            <a:off x="411480" y="1024128"/>
            <a:ext cx="310896" cy="310896"/>
          </a:xfrm>
          <a:prstGeom prst="ellipse">
            <a:avLst/>
          </a:prstGeom>
          <a:solidFill>
            <a:srgbClr val="00D4FF"/>
          </a:solidFill>
          <a:ln w="12700">
            <a:solidFill>
              <a:srgbClr val="00D4FF"/>
            </a:solidFill>
            <a:prstDash val="solid"/>
          </a:ln>
        </p:spPr>
      </p:sp>
      <p:sp>
        <p:nvSpPr>
          <p:cNvPr id="7" name="Text 5"/>
          <p:cNvSpPr/>
          <p:nvPr/>
        </p:nvSpPr>
        <p:spPr>
          <a:xfrm>
            <a:off x="411480" y="1024128"/>
            <a:ext cx="310896" cy="310896"/>
          </a:xfrm>
          <a:prstGeom prst="rect">
            <a:avLst/>
          </a:prstGeom>
          <a:noFill/>
          <a:ln/>
        </p:spPr>
        <p:txBody>
          <a:bodyPr wrap="square" lIns="0" tIns="0" rIns="0" bIns="0" rtlCol="0" anchor="ctr"/>
          <a:lstStyle/>
          <a:p>
            <a:pPr marL="0" indent="0" algn="ctr">
              <a:buNone/>
            </a:pPr>
            <a:r>
              <a:rPr lang="en-US" sz="1100" b="1" dirty="0">
                <a:solidFill>
                  <a:srgbClr val="0D1B2A"/>
                </a:solidFill>
              </a:rPr>
              <a:t>1</a:t>
            </a:r>
            <a:endParaRPr lang="en-US" sz="1100" dirty="0"/>
          </a:p>
        </p:txBody>
      </p:sp>
      <p:sp>
        <p:nvSpPr>
          <p:cNvPr id="8" name="Text 6"/>
          <p:cNvSpPr/>
          <p:nvPr/>
        </p:nvSpPr>
        <p:spPr>
          <a:xfrm>
            <a:off x="832104" y="1024128"/>
            <a:ext cx="2148840" cy="274320"/>
          </a:xfrm>
          <a:prstGeom prst="rect">
            <a:avLst/>
          </a:prstGeom>
          <a:noFill/>
          <a:ln/>
        </p:spPr>
        <p:txBody>
          <a:bodyPr wrap="square" lIns="0" tIns="0" rIns="0" bIns="0" rtlCol="0" anchor="ctr"/>
          <a:lstStyle/>
          <a:p>
            <a:pPr marL="0" indent="0">
              <a:buNone/>
            </a:pPr>
            <a:r>
              <a:rPr lang="en-US" sz="1000" b="1" dirty="0">
                <a:solidFill>
                  <a:srgbClr val="FFFFFF"/>
                </a:solidFill>
              </a:rPr>
              <a:t>Podobieństwo</a:t>
            </a:r>
            <a:endParaRPr lang="en-US" sz="1000" dirty="0"/>
          </a:p>
        </p:txBody>
      </p:sp>
      <p:sp>
        <p:nvSpPr>
          <p:cNvPr id="9" name="Text 7"/>
          <p:cNvSpPr/>
          <p:nvPr/>
        </p:nvSpPr>
        <p:spPr>
          <a:xfrm>
            <a:off x="429768" y="1426464"/>
            <a:ext cx="2542032" cy="987552"/>
          </a:xfrm>
          <a:prstGeom prst="rect">
            <a:avLst/>
          </a:prstGeom>
          <a:noFill/>
          <a:ln/>
        </p:spPr>
        <p:txBody>
          <a:bodyPr wrap="square" lIns="0" tIns="0" rIns="0" bIns="0" rtlCol="0" anchor="t"/>
          <a:lstStyle/>
          <a:p>
            <a:pPr marL="0" indent="0">
              <a:buNone/>
            </a:pPr>
            <a:r>
              <a:rPr lang="en-US" sz="850" dirty="0">
                <a:solidFill>
                  <a:srgbClr val="8899AA"/>
                </a:solidFill>
              </a:rPr>
              <a:t>Elementy podobne wizualnie są grupowane. Spójne style dla podobnych funkcji — wszystkie przyciski CTA w tym samym kolorze.</a:t>
            </a:r>
            <a:endParaRPr lang="en-US" sz="850" dirty="0"/>
          </a:p>
        </p:txBody>
      </p:sp>
      <p:sp>
        <p:nvSpPr>
          <p:cNvPr id="10" name="Shape 8"/>
          <p:cNvSpPr/>
          <p:nvPr/>
        </p:nvSpPr>
        <p:spPr>
          <a:xfrm>
            <a:off x="3200400" y="914400"/>
            <a:ext cx="2743200" cy="1581912"/>
          </a:xfrm>
          <a:prstGeom prst="rect">
            <a:avLst/>
          </a:prstGeom>
          <a:solidFill>
            <a:srgbClr val="112233"/>
          </a:solidFill>
          <a:ln w="12700">
            <a:solidFill>
              <a:srgbClr val="1A3050"/>
            </a:solidFill>
            <a:prstDash val="solid"/>
          </a:ln>
        </p:spPr>
      </p:sp>
      <p:sp>
        <p:nvSpPr>
          <p:cNvPr id="11" name="Shape 9"/>
          <p:cNvSpPr/>
          <p:nvPr/>
        </p:nvSpPr>
        <p:spPr>
          <a:xfrm>
            <a:off x="3200400" y="914400"/>
            <a:ext cx="45720" cy="1581912"/>
          </a:xfrm>
          <a:prstGeom prst="rect">
            <a:avLst/>
          </a:prstGeom>
          <a:solidFill>
            <a:srgbClr val="FF2D78"/>
          </a:solidFill>
          <a:ln w="12700">
            <a:solidFill>
              <a:srgbClr val="FF2D78"/>
            </a:solidFill>
            <a:prstDash val="solid"/>
          </a:ln>
        </p:spPr>
      </p:sp>
      <p:sp>
        <p:nvSpPr>
          <p:cNvPr id="12" name="Shape 10"/>
          <p:cNvSpPr/>
          <p:nvPr/>
        </p:nvSpPr>
        <p:spPr>
          <a:xfrm>
            <a:off x="3291840" y="1024128"/>
            <a:ext cx="310896" cy="310896"/>
          </a:xfrm>
          <a:prstGeom prst="ellipse">
            <a:avLst/>
          </a:prstGeom>
          <a:solidFill>
            <a:srgbClr val="FF2D78"/>
          </a:solidFill>
          <a:ln w="12700">
            <a:solidFill>
              <a:srgbClr val="FF2D78"/>
            </a:solidFill>
            <a:prstDash val="solid"/>
          </a:ln>
        </p:spPr>
      </p:sp>
      <p:sp>
        <p:nvSpPr>
          <p:cNvPr id="13" name="Text 11"/>
          <p:cNvSpPr/>
          <p:nvPr/>
        </p:nvSpPr>
        <p:spPr>
          <a:xfrm>
            <a:off x="3291840" y="1024128"/>
            <a:ext cx="310896" cy="310896"/>
          </a:xfrm>
          <a:prstGeom prst="rect">
            <a:avLst/>
          </a:prstGeom>
          <a:noFill/>
          <a:ln/>
        </p:spPr>
        <p:txBody>
          <a:bodyPr wrap="square" lIns="0" tIns="0" rIns="0" bIns="0" rtlCol="0" anchor="ctr"/>
          <a:lstStyle/>
          <a:p>
            <a:pPr marL="0" indent="0" algn="ctr">
              <a:buNone/>
            </a:pPr>
            <a:r>
              <a:rPr lang="en-US" sz="1100" b="1" dirty="0">
                <a:solidFill>
                  <a:srgbClr val="0D1B2A"/>
                </a:solidFill>
              </a:rPr>
              <a:t>2</a:t>
            </a:r>
            <a:endParaRPr lang="en-US" sz="1100" dirty="0"/>
          </a:p>
        </p:txBody>
      </p:sp>
      <p:sp>
        <p:nvSpPr>
          <p:cNvPr id="14" name="Text 12"/>
          <p:cNvSpPr/>
          <p:nvPr/>
        </p:nvSpPr>
        <p:spPr>
          <a:xfrm>
            <a:off x="3712464" y="1024128"/>
            <a:ext cx="2148840" cy="274320"/>
          </a:xfrm>
          <a:prstGeom prst="rect">
            <a:avLst/>
          </a:prstGeom>
          <a:noFill/>
          <a:ln/>
        </p:spPr>
        <p:txBody>
          <a:bodyPr wrap="square" lIns="0" tIns="0" rIns="0" bIns="0" rtlCol="0" anchor="ctr"/>
          <a:lstStyle/>
          <a:p>
            <a:pPr marL="0" indent="0">
              <a:buNone/>
            </a:pPr>
            <a:r>
              <a:rPr lang="en-US" sz="1000" b="1" dirty="0">
                <a:solidFill>
                  <a:srgbClr val="FFFFFF"/>
                </a:solidFill>
              </a:rPr>
              <a:t>Bliskość</a:t>
            </a:r>
            <a:endParaRPr lang="en-US" sz="1000" dirty="0"/>
          </a:p>
        </p:txBody>
      </p:sp>
      <p:sp>
        <p:nvSpPr>
          <p:cNvPr id="15" name="Text 13"/>
          <p:cNvSpPr/>
          <p:nvPr/>
        </p:nvSpPr>
        <p:spPr>
          <a:xfrm>
            <a:off x="3310128" y="1426464"/>
            <a:ext cx="2542032" cy="987552"/>
          </a:xfrm>
          <a:prstGeom prst="rect">
            <a:avLst/>
          </a:prstGeom>
          <a:noFill/>
          <a:ln/>
        </p:spPr>
        <p:txBody>
          <a:bodyPr wrap="square" lIns="0" tIns="0" rIns="0" bIns="0" rtlCol="0" anchor="t"/>
          <a:lstStyle/>
          <a:p>
            <a:pPr marL="0" indent="0">
              <a:buNone/>
            </a:pPr>
            <a:r>
              <a:rPr lang="en-US" sz="850" dirty="0">
                <a:solidFill>
                  <a:srgbClr val="8899AA"/>
                </a:solidFill>
              </a:rPr>
              <a:t>Elementy blisko siebie tworzą grupy. Odstępy definiują relacje — powiązane elementy blisko, niepowiązane dalej.</a:t>
            </a:r>
            <a:endParaRPr lang="en-US" sz="850" dirty="0"/>
          </a:p>
        </p:txBody>
      </p:sp>
      <p:sp>
        <p:nvSpPr>
          <p:cNvPr id="16" name="Shape 14"/>
          <p:cNvSpPr/>
          <p:nvPr/>
        </p:nvSpPr>
        <p:spPr>
          <a:xfrm>
            <a:off x="6080760" y="914400"/>
            <a:ext cx="2743200" cy="1581912"/>
          </a:xfrm>
          <a:prstGeom prst="rect">
            <a:avLst/>
          </a:prstGeom>
          <a:solidFill>
            <a:srgbClr val="112233"/>
          </a:solidFill>
          <a:ln w="12700">
            <a:solidFill>
              <a:srgbClr val="1A3050"/>
            </a:solidFill>
            <a:prstDash val="solid"/>
          </a:ln>
        </p:spPr>
      </p:sp>
      <p:sp>
        <p:nvSpPr>
          <p:cNvPr id="17" name="Shape 15"/>
          <p:cNvSpPr/>
          <p:nvPr/>
        </p:nvSpPr>
        <p:spPr>
          <a:xfrm>
            <a:off x="6080760" y="914400"/>
            <a:ext cx="45720" cy="1581912"/>
          </a:xfrm>
          <a:prstGeom prst="rect">
            <a:avLst/>
          </a:prstGeom>
          <a:solidFill>
            <a:srgbClr val="00E676"/>
          </a:solidFill>
          <a:ln w="12700">
            <a:solidFill>
              <a:srgbClr val="00E676"/>
            </a:solidFill>
            <a:prstDash val="solid"/>
          </a:ln>
        </p:spPr>
      </p:sp>
      <p:sp>
        <p:nvSpPr>
          <p:cNvPr id="18" name="Shape 16"/>
          <p:cNvSpPr/>
          <p:nvPr/>
        </p:nvSpPr>
        <p:spPr>
          <a:xfrm>
            <a:off x="6172200" y="1024128"/>
            <a:ext cx="310896" cy="310896"/>
          </a:xfrm>
          <a:prstGeom prst="ellipse">
            <a:avLst/>
          </a:prstGeom>
          <a:solidFill>
            <a:srgbClr val="00E676"/>
          </a:solidFill>
          <a:ln w="12700">
            <a:solidFill>
              <a:srgbClr val="00E676"/>
            </a:solidFill>
            <a:prstDash val="solid"/>
          </a:ln>
        </p:spPr>
      </p:sp>
      <p:sp>
        <p:nvSpPr>
          <p:cNvPr id="19" name="Text 17"/>
          <p:cNvSpPr/>
          <p:nvPr/>
        </p:nvSpPr>
        <p:spPr>
          <a:xfrm>
            <a:off x="6172200" y="1024128"/>
            <a:ext cx="310896" cy="310896"/>
          </a:xfrm>
          <a:prstGeom prst="rect">
            <a:avLst/>
          </a:prstGeom>
          <a:noFill/>
          <a:ln/>
        </p:spPr>
        <p:txBody>
          <a:bodyPr wrap="square" lIns="0" tIns="0" rIns="0" bIns="0" rtlCol="0" anchor="ctr"/>
          <a:lstStyle/>
          <a:p>
            <a:pPr marL="0" indent="0" algn="ctr">
              <a:buNone/>
            </a:pPr>
            <a:r>
              <a:rPr lang="en-US" sz="1100" b="1" dirty="0">
                <a:solidFill>
                  <a:srgbClr val="0D1B2A"/>
                </a:solidFill>
              </a:rPr>
              <a:t>3</a:t>
            </a:r>
            <a:endParaRPr lang="en-US" sz="1100" dirty="0"/>
          </a:p>
        </p:txBody>
      </p:sp>
      <p:sp>
        <p:nvSpPr>
          <p:cNvPr id="20" name="Text 18"/>
          <p:cNvSpPr/>
          <p:nvPr/>
        </p:nvSpPr>
        <p:spPr>
          <a:xfrm>
            <a:off x="6592824" y="1024128"/>
            <a:ext cx="2148840" cy="274320"/>
          </a:xfrm>
          <a:prstGeom prst="rect">
            <a:avLst/>
          </a:prstGeom>
          <a:noFill/>
          <a:ln/>
        </p:spPr>
        <p:txBody>
          <a:bodyPr wrap="square" lIns="0" tIns="0" rIns="0" bIns="0" rtlCol="0" anchor="ctr"/>
          <a:lstStyle/>
          <a:p>
            <a:pPr marL="0" indent="0">
              <a:buNone/>
            </a:pPr>
            <a:r>
              <a:rPr lang="en-US" sz="1000" b="1" dirty="0">
                <a:solidFill>
                  <a:srgbClr val="FFFFFF"/>
                </a:solidFill>
              </a:rPr>
              <a:t>Zamknięcie</a:t>
            </a:r>
            <a:endParaRPr lang="en-US" sz="1000" dirty="0"/>
          </a:p>
        </p:txBody>
      </p:sp>
      <p:sp>
        <p:nvSpPr>
          <p:cNvPr id="21" name="Text 19"/>
          <p:cNvSpPr/>
          <p:nvPr/>
        </p:nvSpPr>
        <p:spPr>
          <a:xfrm>
            <a:off x="6190488" y="1426464"/>
            <a:ext cx="2542032" cy="987552"/>
          </a:xfrm>
          <a:prstGeom prst="rect">
            <a:avLst/>
          </a:prstGeom>
          <a:noFill/>
          <a:ln/>
        </p:spPr>
        <p:txBody>
          <a:bodyPr wrap="square" lIns="0" tIns="0" rIns="0" bIns="0" rtlCol="0" anchor="t"/>
          <a:lstStyle/>
          <a:p>
            <a:pPr marL="0" indent="0">
              <a:buNone/>
            </a:pPr>
            <a:r>
              <a:rPr lang="en-US" sz="850" dirty="0">
                <a:solidFill>
                  <a:srgbClr val="8899AA"/>
                </a:solidFill>
              </a:rPr>
              <a:t>Mózg uzupełnia brakujące elementy. Ikony często wykorzystują zamknięcie — niepełny okrąg = pierścionek.</a:t>
            </a:r>
            <a:endParaRPr lang="en-US" sz="850" dirty="0"/>
          </a:p>
        </p:txBody>
      </p:sp>
      <p:sp>
        <p:nvSpPr>
          <p:cNvPr id="22" name="Shape 20"/>
          <p:cNvSpPr/>
          <p:nvPr/>
        </p:nvSpPr>
        <p:spPr>
          <a:xfrm>
            <a:off x="320040" y="2651760"/>
            <a:ext cx="2743200" cy="1581912"/>
          </a:xfrm>
          <a:prstGeom prst="rect">
            <a:avLst/>
          </a:prstGeom>
          <a:solidFill>
            <a:srgbClr val="112233"/>
          </a:solidFill>
          <a:ln w="12700">
            <a:solidFill>
              <a:srgbClr val="1A3050"/>
            </a:solidFill>
            <a:prstDash val="solid"/>
          </a:ln>
        </p:spPr>
      </p:sp>
      <p:sp>
        <p:nvSpPr>
          <p:cNvPr id="23" name="Shape 21"/>
          <p:cNvSpPr/>
          <p:nvPr/>
        </p:nvSpPr>
        <p:spPr>
          <a:xfrm>
            <a:off x="320040" y="2651760"/>
            <a:ext cx="45720" cy="1581912"/>
          </a:xfrm>
          <a:prstGeom prst="rect">
            <a:avLst/>
          </a:prstGeom>
          <a:solidFill>
            <a:srgbClr val="B388FF"/>
          </a:solidFill>
          <a:ln w="12700">
            <a:solidFill>
              <a:srgbClr val="B388FF"/>
            </a:solidFill>
            <a:prstDash val="solid"/>
          </a:ln>
        </p:spPr>
      </p:sp>
      <p:sp>
        <p:nvSpPr>
          <p:cNvPr id="24" name="Shape 22"/>
          <p:cNvSpPr/>
          <p:nvPr/>
        </p:nvSpPr>
        <p:spPr>
          <a:xfrm>
            <a:off x="411480" y="2761488"/>
            <a:ext cx="310896" cy="310896"/>
          </a:xfrm>
          <a:prstGeom prst="ellipse">
            <a:avLst/>
          </a:prstGeom>
          <a:solidFill>
            <a:srgbClr val="B388FF"/>
          </a:solidFill>
          <a:ln w="12700">
            <a:solidFill>
              <a:srgbClr val="B388FF"/>
            </a:solidFill>
            <a:prstDash val="solid"/>
          </a:ln>
        </p:spPr>
      </p:sp>
      <p:sp>
        <p:nvSpPr>
          <p:cNvPr id="25" name="Text 23"/>
          <p:cNvSpPr/>
          <p:nvPr/>
        </p:nvSpPr>
        <p:spPr>
          <a:xfrm>
            <a:off x="411480" y="2761488"/>
            <a:ext cx="310896" cy="310896"/>
          </a:xfrm>
          <a:prstGeom prst="rect">
            <a:avLst/>
          </a:prstGeom>
          <a:noFill/>
          <a:ln/>
        </p:spPr>
        <p:txBody>
          <a:bodyPr wrap="square" lIns="0" tIns="0" rIns="0" bIns="0" rtlCol="0" anchor="ctr"/>
          <a:lstStyle/>
          <a:p>
            <a:pPr marL="0" indent="0" algn="ctr">
              <a:buNone/>
            </a:pPr>
            <a:r>
              <a:rPr lang="en-US" sz="1100" b="1" dirty="0">
                <a:solidFill>
                  <a:srgbClr val="0D1B2A"/>
                </a:solidFill>
              </a:rPr>
              <a:t>4</a:t>
            </a:r>
            <a:endParaRPr lang="en-US" sz="1100" dirty="0"/>
          </a:p>
        </p:txBody>
      </p:sp>
      <p:sp>
        <p:nvSpPr>
          <p:cNvPr id="26" name="Text 24"/>
          <p:cNvSpPr/>
          <p:nvPr/>
        </p:nvSpPr>
        <p:spPr>
          <a:xfrm>
            <a:off x="832104" y="2761488"/>
            <a:ext cx="2148840" cy="274320"/>
          </a:xfrm>
          <a:prstGeom prst="rect">
            <a:avLst/>
          </a:prstGeom>
          <a:noFill/>
          <a:ln/>
        </p:spPr>
        <p:txBody>
          <a:bodyPr wrap="square" lIns="0" tIns="0" rIns="0" bIns="0" rtlCol="0" anchor="ctr"/>
          <a:lstStyle/>
          <a:p>
            <a:pPr marL="0" indent="0">
              <a:buNone/>
            </a:pPr>
            <a:r>
              <a:rPr lang="en-US" sz="1000" b="1" dirty="0">
                <a:solidFill>
                  <a:srgbClr val="FFFFFF"/>
                </a:solidFill>
              </a:rPr>
              <a:t>Figura-Tło</a:t>
            </a:r>
            <a:endParaRPr lang="en-US" sz="1000" dirty="0"/>
          </a:p>
        </p:txBody>
      </p:sp>
      <p:sp>
        <p:nvSpPr>
          <p:cNvPr id="27" name="Text 25"/>
          <p:cNvSpPr/>
          <p:nvPr/>
        </p:nvSpPr>
        <p:spPr>
          <a:xfrm>
            <a:off x="429768" y="3163824"/>
            <a:ext cx="2542032" cy="987552"/>
          </a:xfrm>
          <a:prstGeom prst="rect">
            <a:avLst/>
          </a:prstGeom>
          <a:noFill/>
          <a:ln/>
        </p:spPr>
        <p:txBody>
          <a:bodyPr wrap="square" lIns="0" tIns="0" rIns="0" bIns="0" rtlCol="0" anchor="t"/>
          <a:lstStyle/>
          <a:p>
            <a:pPr marL="0" indent="0">
              <a:buNone/>
            </a:pPr>
            <a:r>
              <a:rPr lang="en-US" sz="850" dirty="0">
                <a:solidFill>
                  <a:srgbClr val="8899AA"/>
                </a:solidFill>
              </a:rPr>
              <a:t>Mózg rozdziela pierwszy plan i tło. Modalne okna ciemnym overlay są doskonałym przykładem tej zasady.</a:t>
            </a:r>
            <a:endParaRPr lang="en-US" sz="850" dirty="0"/>
          </a:p>
        </p:txBody>
      </p:sp>
      <p:sp>
        <p:nvSpPr>
          <p:cNvPr id="28" name="Shape 26"/>
          <p:cNvSpPr/>
          <p:nvPr/>
        </p:nvSpPr>
        <p:spPr>
          <a:xfrm>
            <a:off x="3200400" y="2651760"/>
            <a:ext cx="2743200" cy="1581912"/>
          </a:xfrm>
          <a:prstGeom prst="rect">
            <a:avLst/>
          </a:prstGeom>
          <a:solidFill>
            <a:srgbClr val="112233"/>
          </a:solidFill>
          <a:ln w="12700">
            <a:solidFill>
              <a:srgbClr val="1A3050"/>
            </a:solidFill>
            <a:prstDash val="solid"/>
          </a:ln>
        </p:spPr>
      </p:sp>
      <p:sp>
        <p:nvSpPr>
          <p:cNvPr id="29" name="Shape 27"/>
          <p:cNvSpPr/>
          <p:nvPr/>
        </p:nvSpPr>
        <p:spPr>
          <a:xfrm>
            <a:off x="3200400" y="2651760"/>
            <a:ext cx="45720" cy="1581912"/>
          </a:xfrm>
          <a:prstGeom prst="rect">
            <a:avLst/>
          </a:prstGeom>
          <a:solidFill>
            <a:srgbClr val="FF9100"/>
          </a:solidFill>
          <a:ln w="12700">
            <a:solidFill>
              <a:srgbClr val="FF9100"/>
            </a:solidFill>
            <a:prstDash val="solid"/>
          </a:ln>
        </p:spPr>
      </p:sp>
      <p:sp>
        <p:nvSpPr>
          <p:cNvPr id="30" name="Shape 28"/>
          <p:cNvSpPr/>
          <p:nvPr/>
        </p:nvSpPr>
        <p:spPr>
          <a:xfrm>
            <a:off x="3291840" y="2761488"/>
            <a:ext cx="310896" cy="310896"/>
          </a:xfrm>
          <a:prstGeom prst="ellipse">
            <a:avLst/>
          </a:prstGeom>
          <a:solidFill>
            <a:srgbClr val="FF9100"/>
          </a:solidFill>
          <a:ln w="12700">
            <a:solidFill>
              <a:srgbClr val="FF9100"/>
            </a:solidFill>
            <a:prstDash val="solid"/>
          </a:ln>
        </p:spPr>
      </p:sp>
      <p:sp>
        <p:nvSpPr>
          <p:cNvPr id="31" name="Text 29"/>
          <p:cNvSpPr/>
          <p:nvPr/>
        </p:nvSpPr>
        <p:spPr>
          <a:xfrm>
            <a:off x="3291840" y="2761488"/>
            <a:ext cx="310896" cy="310896"/>
          </a:xfrm>
          <a:prstGeom prst="rect">
            <a:avLst/>
          </a:prstGeom>
          <a:noFill/>
          <a:ln/>
        </p:spPr>
        <p:txBody>
          <a:bodyPr wrap="square" lIns="0" tIns="0" rIns="0" bIns="0" rtlCol="0" anchor="ctr"/>
          <a:lstStyle/>
          <a:p>
            <a:pPr marL="0" indent="0" algn="ctr">
              <a:buNone/>
            </a:pPr>
            <a:r>
              <a:rPr lang="en-US" sz="1100" b="1" dirty="0">
                <a:solidFill>
                  <a:srgbClr val="0D1B2A"/>
                </a:solidFill>
              </a:rPr>
              <a:t>5</a:t>
            </a:r>
            <a:endParaRPr lang="en-US" sz="1100" dirty="0"/>
          </a:p>
        </p:txBody>
      </p:sp>
      <p:sp>
        <p:nvSpPr>
          <p:cNvPr id="32" name="Text 30"/>
          <p:cNvSpPr/>
          <p:nvPr/>
        </p:nvSpPr>
        <p:spPr>
          <a:xfrm>
            <a:off x="3712464" y="2761488"/>
            <a:ext cx="2148840" cy="274320"/>
          </a:xfrm>
          <a:prstGeom prst="rect">
            <a:avLst/>
          </a:prstGeom>
          <a:noFill/>
          <a:ln/>
        </p:spPr>
        <p:txBody>
          <a:bodyPr wrap="square" lIns="0" tIns="0" rIns="0" bIns="0" rtlCol="0" anchor="ctr"/>
          <a:lstStyle/>
          <a:p>
            <a:pPr marL="0" indent="0">
              <a:buNone/>
            </a:pPr>
            <a:r>
              <a:rPr lang="en-US" sz="1000" b="1" dirty="0">
                <a:solidFill>
                  <a:srgbClr val="FFFFFF"/>
                </a:solidFill>
              </a:rPr>
              <a:t>Kontynuacja</a:t>
            </a:r>
            <a:endParaRPr lang="en-US" sz="1000" dirty="0"/>
          </a:p>
        </p:txBody>
      </p:sp>
      <p:sp>
        <p:nvSpPr>
          <p:cNvPr id="33" name="Text 31"/>
          <p:cNvSpPr/>
          <p:nvPr/>
        </p:nvSpPr>
        <p:spPr>
          <a:xfrm>
            <a:off x="3310128" y="3163824"/>
            <a:ext cx="2542032" cy="987552"/>
          </a:xfrm>
          <a:prstGeom prst="rect">
            <a:avLst/>
          </a:prstGeom>
          <a:noFill/>
          <a:ln/>
        </p:spPr>
        <p:txBody>
          <a:bodyPr wrap="square" lIns="0" tIns="0" rIns="0" bIns="0" rtlCol="0" anchor="t"/>
          <a:lstStyle/>
          <a:p>
            <a:pPr marL="0" indent="0">
              <a:buNone/>
            </a:pPr>
            <a:r>
              <a:rPr lang="en-US" sz="850" dirty="0">
                <a:solidFill>
                  <a:srgbClr val="8899AA"/>
                </a:solidFill>
              </a:rPr>
              <a:t>Oko podąża za liniami i kształtami. Timeline, steppery nawigacyjne, progress bary — wszystkie to kontynuacja.</a:t>
            </a:r>
            <a:endParaRPr lang="en-US" sz="850" dirty="0"/>
          </a:p>
        </p:txBody>
      </p:sp>
      <p:sp>
        <p:nvSpPr>
          <p:cNvPr id="34" name="Shape 32"/>
          <p:cNvSpPr/>
          <p:nvPr/>
        </p:nvSpPr>
        <p:spPr>
          <a:xfrm>
            <a:off x="6080760" y="2651760"/>
            <a:ext cx="2743200" cy="1581912"/>
          </a:xfrm>
          <a:prstGeom prst="rect">
            <a:avLst/>
          </a:prstGeom>
          <a:solidFill>
            <a:srgbClr val="112233"/>
          </a:solidFill>
          <a:ln w="12700">
            <a:solidFill>
              <a:srgbClr val="1A3050"/>
            </a:solidFill>
            <a:prstDash val="solid"/>
          </a:ln>
        </p:spPr>
      </p:sp>
      <p:sp>
        <p:nvSpPr>
          <p:cNvPr id="35" name="Shape 33"/>
          <p:cNvSpPr/>
          <p:nvPr/>
        </p:nvSpPr>
        <p:spPr>
          <a:xfrm>
            <a:off x="6080760" y="2651760"/>
            <a:ext cx="45720" cy="1581912"/>
          </a:xfrm>
          <a:prstGeom prst="rect">
            <a:avLst/>
          </a:prstGeom>
          <a:solidFill>
            <a:srgbClr val="FFD600"/>
          </a:solidFill>
          <a:ln w="12700">
            <a:solidFill>
              <a:srgbClr val="FFD600"/>
            </a:solidFill>
            <a:prstDash val="solid"/>
          </a:ln>
        </p:spPr>
      </p:sp>
      <p:sp>
        <p:nvSpPr>
          <p:cNvPr id="36" name="Shape 34"/>
          <p:cNvSpPr/>
          <p:nvPr/>
        </p:nvSpPr>
        <p:spPr>
          <a:xfrm>
            <a:off x="6172200" y="2761488"/>
            <a:ext cx="310896" cy="310896"/>
          </a:xfrm>
          <a:prstGeom prst="ellipse">
            <a:avLst/>
          </a:prstGeom>
          <a:solidFill>
            <a:srgbClr val="FFD600"/>
          </a:solidFill>
          <a:ln w="12700">
            <a:solidFill>
              <a:srgbClr val="FFD600"/>
            </a:solidFill>
            <a:prstDash val="solid"/>
          </a:ln>
        </p:spPr>
      </p:sp>
      <p:sp>
        <p:nvSpPr>
          <p:cNvPr id="37" name="Text 35"/>
          <p:cNvSpPr/>
          <p:nvPr/>
        </p:nvSpPr>
        <p:spPr>
          <a:xfrm>
            <a:off x="6172200" y="2761488"/>
            <a:ext cx="310896" cy="310896"/>
          </a:xfrm>
          <a:prstGeom prst="rect">
            <a:avLst/>
          </a:prstGeom>
          <a:noFill/>
          <a:ln/>
        </p:spPr>
        <p:txBody>
          <a:bodyPr wrap="square" lIns="0" tIns="0" rIns="0" bIns="0" rtlCol="0" anchor="ctr"/>
          <a:lstStyle/>
          <a:p>
            <a:pPr marL="0" indent="0" algn="ctr">
              <a:buNone/>
            </a:pPr>
            <a:r>
              <a:rPr lang="en-US" sz="1100" b="1" dirty="0">
                <a:solidFill>
                  <a:srgbClr val="0D1B2A"/>
                </a:solidFill>
              </a:rPr>
              <a:t>6</a:t>
            </a:r>
            <a:endParaRPr lang="en-US" sz="1100" dirty="0"/>
          </a:p>
        </p:txBody>
      </p:sp>
      <p:sp>
        <p:nvSpPr>
          <p:cNvPr id="38" name="Text 36"/>
          <p:cNvSpPr/>
          <p:nvPr/>
        </p:nvSpPr>
        <p:spPr>
          <a:xfrm>
            <a:off x="6592824" y="2761488"/>
            <a:ext cx="2148840" cy="274320"/>
          </a:xfrm>
          <a:prstGeom prst="rect">
            <a:avLst/>
          </a:prstGeom>
          <a:noFill/>
          <a:ln/>
        </p:spPr>
        <p:txBody>
          <a:bodyPr wrap="square" lIns="0" tIns="0" rIns="0" bIns="0" rtlCol="0" anchor="ctr"/>
          <a:lstStyle/>
          <a:p>
            <a:pPr marL="0" indent="0">
              <a:buNone/>
            </a:pPr>
            <a:r>
              <a:rPr lang="en-US" sz="1000" b="1" dirty="0">
                <a:solidFill>
                  <a:srgbClr val="FFFFFF"/>
                </a:solidFill>
              </a:rPr>
              <a:t>Symetria i Porządek</a:t>
            </a:r>
            <a:endParaRPr lang="en-US" sz="1000" dirty="0"/>
          </a:p>
        </p:txBody>
      </p:sp>
      <p:sp>
        <p:nvSpPr>
          <p:cNvPr id="39" name="Text 37"/>
          <p:cNvSpPr/>
          <p:nvPr/>
        </p:nvSpPr>
        <p:spPr>
          <a:xfrm>
            <a:off x="6190488" y="3163824"/>
            <a:ext cx="2542032" cy="987552"/>
          </a:xfrm>
          <a:prstGeom prst="rect">
            <a:avLst/>
          </a:prstGeom>
          <a:noFill/>
          <a:ln/>
        </p:spPr>
        <p:txBody>
          <a:bodyPr wrap="square" lIns="0" tIns="0" rIns="0" bIns="0" rtlCol="0" anchor="t"/>
          <a:lstStyle/>
          <a:p>
            <a:pPr marL="0" indent="0">
              <a:buNone/>
            </a:pPr>
            <a:r>
              <a:rPr lang="en-US" sz="850" dirty="0">
                <a:solidFill>
                  <a:srgbClr val="8899AA"/>
                </a:solidFill>
              </a:rPr>
              <a:t>Preferujemy symetryczne kompozycje. Symetryczne layouty są odbierane jako bardziej profesjonalne.</a:t>
            </a:r>
            <a:endParaRPr lang="en-US" sz="850" dirty="0"/>
          </a:p>
        </p:txBody>
      </p:sp>
      <p:sp>
        <p:nvSpPr>
          <p:cNvPr id="42" name="Text 40"/>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39 / </a:t>
            </a:r>
            <a:r>
              <a:rPr lang="en-US" sz="800" dirty="0" smtClean="0">
                <a:solidFill>
                  <a:srgbClr val="8899AA"/>
                </a:solidFill>
              </a:rPr>
              <a:t>4</a:t>
            </a:r>
            <a:r>
              <a:rPr lang="pl-PL" sz="800" dirty="0" smtClean="0">
                <a:solidFill>
                  <a:srgbClr val="8899AA"/>
                </a:solidFill>
              </a:rPr>
              <a:t>6</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D1B2A"/>
        </a:solidFill>
        <a:effectLst/>
      </p:bgPr>
    </p:bg>
    <p:spTree>
      <p:nvGrpSpPr>
        <p:cNvPr id="1" name=""/>
        <p:cNvGrpSpPr/>
        <p:nvPr/>
      </p:nvGrpSpPr>
      <p:grpSpPr>
        <a:xfrm>
          <a:off x="0" y="0"/>
          <a:ext cx="0" cy="0"/>
          <a:chOff x="0" y="0"/>
          <a:chExt cx="0" cy="0"/>
        </a:xfrm>
      </p:grpSpPr>
      <p:grpSp>
        <p:nvGrpSpPr>
          <p:cNvPr id="10" name="Grupa 9"/>
          <p:cNvGrpSpPr/>
          <p:nvPr/>
        </p:nvGrpSpPr>
        <p:grpSpPr>
          <a:xfrm>
            <a:off x="-2381" y="4884912"/>
            <a:ext cx="9146381" cy="260136"/>
            <a:chOff x="-2381" y="4884912"/>
            <a:chExt cx="9146381" cy="260136"/>
          </a:xfrm>
        </p:grpSpPr>
        <p:sp>
          <p:nvSpPr>
            <p:cNvPr id="11" name="Shape 52"/>
            <p:cNvSpPr/>
            <p:nvPr/>
          </p:nvSpPr>
          <p:spPr>
            <a:xfrm>
              <a:off x="0" y="4884912"/>
              <a:ext cx="9144000" cy="252000"/>
            </a:xfrm>
            <a:prstGeom prst="rect">
              <a:avLst/>
            </a:prstGeom>
            <a:solidFill>
              <a:srgbClr val="071523"/>
            </a:solidFill>
            <a:ln w="12700">
              <a:solidFill>
                <a:srgbClr val="071523"/>
              </a:solidFill>
              <a:prstDash val="solid"/>
            </a:ln>
          </p:spPr>
        </p:sp>
        <p:sp>
          <p:nvSpPr>
            <p:cNvPr id="12"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13" name="Grupa 12"/>
            <p:cNvGrpSpPr/>
            <p:nvPr/>
          </p:nvGrpSpPr>
          <p:grpSpPr>
            <a:xfrm>
              <a:off x="-2381" y="5099329"/>
              <a:ext cx="9146381" cy="45719"/>
              <a:chOff x="-2381" y="5107500"/>
              <a:chExt cx="9111093" cy="37548"/>
            </a:xfrm>
            <a:solidFill>
              <a:schemeClr val="tx1"/>
            </a:solidFill>
          </p:grpSpPr>
          <p:sp>
            <p:nvSpPr>
              <p:cNvPr id="14"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15"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16"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17"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18"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19"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20"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21"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22"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23"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24"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25"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26"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27"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28"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29"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30"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31"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32"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33"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34"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35"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36" name="Shape 52"/>
              <p:cNvSpPr/>
              <p:nvPr/>
            </p:nvSpPr>
            <p:spPr>
              <a:xfrm>
                <a:off x="4356712" y="5107500"/>
                <a:ext cx="198000" cy="36000"/>
              </a:xfrm>
              <a:prstGeom prst="rect">
                <a:avLst/>
              </a:prstGeom>
              <a:solidFill>
                <a:schemeClr val="accent5">
                  <a:lumMod val="20000"/>
                  <a:lumOff val="80000"/>
                </a:schemeClr>
              </a:solidFill>
              <a:ln w="12700">
                <a:noFill/>
                <a:prstDash val="solid"/>
              </a:ln>
            </p:spPr>
          </p:sp>
          <p:sp>
            <p:nvSpPr>
              <p:cNvPr id="37" name="Shape 52"/>
              <p:cNvSpPr/>
              <p:nvPr/>
            </p:nvSpPr>
            <p:spPr>
              <a:xfrm>
                <a:off x="4554712" y="5107500"/>
                <a:ext cx="198000" cy="36000"/>
              </a:xfrm>
              <a:prstGeom prst="rect">
                <a:avLst/>
              </a:prstGeom>
              <a:solidFill>
                <a:schemeClr val="accent5">
                  <a:lumMod val="20000"/>
                  <a:lumOff val="80000"/>
                </a:schemeClr>
              </a:solidFill>
              <a:ln w="12700">
                <a:noFill/>
                <a:prstDash val="solid"/>
              </a:ln>
            </p:spPr>
          </p:sp>
          <p:sp>
            <p:nvSpPr>
              <p:cNvPr id="38" name="Shape 52"/>
              <p:cNvSpPr/>
              <p:nvPr/>
            </p:nvSpPr>
            <p:spPr>
              <a:xfrm>
                <a:off x="4752712" y="5107500"/>
                <a:ext cx="198000" cy="36000"/>
              </a:xfrm>
              <a:prstGeom prst="rect">
                <a:avLst/>
              </a:prstGeom>
              <a:solidFill>
                <a:schemeClr val="accent5">
                  <a:lumMod val="20000"/>
                  <a:lumOff val="80000"/>
                </a:schemeClr>
              </a:solidFill>
              <a:ln w="12700">
                <a:noFill/>
                <a:prstDash val="solid"/>
              </a:ln>
            </p:spPr>
          </p:sp>
          <p:sp>
            <p:nvSpPr>
              <p:cNvPr id="39" name="Shape 52"/>
              <p:cNvSpPr/>
              <p:nvPr/>
            </p:nvSpPr>
            <p:spPr>
              <a:xfrm>
                <a:off x="4950712" y="5107500"/>
                <a:ext cx="198000" cy="36000"/>
              </a:xfrm>
              <a:prstGeom prst="rect">
                <a:avLst/>
              </a:prstGeom>
              <a:solidFill>
                <a:schemeClr val="accent5">
                  <a:lumMod val="20000"/>
                  <a:lumOff val="80000"/>
                </a:schemeClr>
              </a:solidFill>
              <a:ln w="12700">
                <a:noFill/>
                <a:prstDash val="solid"/>
              </a:ln>
            </p:spPr>
          </p:sp>
          <p:sp>
            <p:nvSpPr>
              <p:cNvPr id="40" name="Shape 52"/>
              <p:cNvSpPr/>
              <p:nvPr/>
            </p:nvSpPr>
            <p:spPr>
              <a:xfrm>
                <a:off x="5148712" y="5107500"/>
                <a:ext cx="198000" cy="36000"/>
              </a:xfrm>
              <a:prstGeom prst="rect">
                <a:avLst/>
              </a:prstGeom>
              <a:solidFill>
                <a:schemeClr val="accent5">
                  <a:lumMod val="20000"/>
                  <a:lumOff val="80000"/>
                </a:schemeClr>
              </a:solidFill>
              <a:ln w="12700">
                <a:noFill/>
                <a:prstDash val="solid"/>
              </a:ln>
            </p:spPr>
          </p:sp>
          <p:sp>
            <p:nvSpPr>
              <p:cNvPr id="41" name="Shape 52"/>
              <p:cNvSpPr/>
              <p:nvPr/>
            </p:nvSpPr>
            <p:spPr>
              <a:xfrm>
                <a:off x="5346712" y="5108400"/>
                <a:ext cx="198000" cy="36000"/>
              </a:xfrm>
              <a:prstGeom prst="rect">
                <a:avLst/>
              </a:prstGeom>
              <a:solidFill>
                <a:schemeClr val="accent5">
                  <a:lumMod val="20000"/>
                  <a:lumOff val="80000"/>
                </a:schemeClr>
              </a:solidFill>
              <a:ln w="12700">
                <a:noFill/>
                <a:prstDash val="solid"/>
              </a:ln>
            </p:spPr>
          </p:sp>
          <p:sp>
            <p:nvSpPr>
              <p:cNvPr id="42" name="Shape 52"/>
              <p:cNvSpPr/>
              <p:nvPr/>
            </p:nvSpPr>
            <p:spPr>
              <a:xfrm>
                <a:off x="5544712" y="5108400"/>
                <a:ext cx="198000" cy="36000"/>
              </a:xfrm>
              <a:prstGeom prst="rect">
                <a:avLst/>
              </a:prstGeom>
              <a:solidFill>
                <a:schemeClr val="accent5">
                  <a:lumMod val="20000"/>
                  <a:lumOff val="80000"/>
                </a:schemeClr>
              </a:solidFill>
              <a:ln w="12700">
                <a:noFill/>
                <a:prstDash val="solid"/>
              </a:ln>
            </p:spPr>
          </p:sp>
          <p:sp>
            <p:nvSpPr>
              <p:cNvPr id="43" name="Shape 52"/>
              <p:cNvSpPr/>
              <p:nvPr/>
            </p:nvSpPr>
            <p:spPr>
              <a:xfrm>
                <a:off x="5742712" y="5108400"/>
                <a:ext cx="198000" cy="36000"/>
              </a:xfrm>
              <a:prstGeom prst="rect">
                <a:avLst/>
              </a:prstGeom>
              <a:solidFill>
                <a:schemeClr val="accent5">
                  <a:lumMod val="20000"/>
                  <a:lumOff val="80000"/>
                </a:schemeClr>
              </a:solidFill>
              <a:ln w="12700">
                <a:noFill/>
                <a:prstDash val="solid"/>
              </a:ln>
            </p:spPr>
          </p:sp>
          <p:sp>
            <p:nvSpPr>
              <p:cNvPr id="44" name="Shape 52"/>
              <p:cNvSpPr/>
              <p:nvPr/>
            </p:nvSpPr>
            <p:spPr>
              <a:xfrm>
                <a:off x="5940712" y="5108400"/>
                <a:ext cx="198000" cy="36000"/>
              </a:xfrm>
              <a:prstGeom prst="rect">
                <a:avLst/>
              </a:prstGeom>
              <a:solidFill>
                <a:schemeClr val="accent5">
                  <a:lumMod val="20000"/>
                  <a:lumOff val="80000"/>
                </a:schemeClr>
              </a:solidFill>
              <a:ln w="12700">
                <a:noFill/>
                <a:prstDash val="solid"/>
              </a:ln>
            </p:spPr>
          </p:sp>
          <p:sp>
            <p:nvSpPr>
              <p:cNvPr id="45" name="Shape 52"/>
              <p:cNvSpPr/>
              <p:nvPr/>
            </p:nvSpPr>
            <p:spPr>
              <a:xfrm>
                <a:off x="6138712" y="5108400"/>
                <a:ext cx="198000" cy="36000"/>
              </a:xfrm>
              <a:prstGeom prst="rect">
                <a:avLst/>
              </a:prstGeom>
              <a:solidFill>
                <a:schemeClr val="accent5">
                  <a:lumMod val="20000"/>
                  <a:lumOff val="80000"/>
                </a:schemeClr>
              </a:solidFill>
              <a:ln w="12700">
                <a:noFill/>
                <a:prstDash val="solid"/>
              </a:ln>
            </p:spPr>
          </p:sp>
          <p:sp>
            <p:nvSpPr>
              <p:cNvPr id="46" name="Shape 52"/>
              <p:cNvSpPr/>
              <p:nvPr/>
            </p:nvSpPr>
            <p:spPr>
              <a:xfrm>
                <a:off x="6336712" y="5108400"/>
                <a:ext cx="198000" cy="36000"/>
              </a:xfrm>
              <a:prstGeom prst="rect">
                <a:avLst/>
              </a:prstGeom>
              <a:solidFill>
                <a:schemeClr val="accent5">
                  <a:lumMod val="20000"/>
                  <a:lumOff val="80000"/>
                </a:schemeClr>
              </a:solidFill>
              <a:ln w="12700">
                <a:noFill/>
                <a:prstDash val="solid"/>
              </a:ln>
            </p:spPr>
          </p:sp>
          <p:sp>
            <p:nvSpPr>
              <p:cNvPr id="47" name="Shape 52"/>
              <p:cNvSpPr/>
              <p:nvPr/>
            </p:nvSpPr>
            <p:spPr>
              <a:xfrm>
                <a:off x="6534712" y="5108400"/>
                <a:ext cx="198000" cy="36000"/>
              </a:xfrm>
              <a:prstGeom prst="rect">
                <a:avLst/>
              </a:prstGeom>
              <a:solidFill>
                <a:schemeClr val="accent5">
                  <a:lumMod val="20000"/>
                  <a:lumOff val="80000"/>
                </a:schemeClr>
              </a:solidFill>
              <a:ln w="12700">
                <a:noFill/>
                <a:prstDash val="solid"/>
              </a:ln>
            </p:spPr>
          </p:sp>
          <p:sp>
            <p:nvSpPr>
              <p:cNvPr id="48" name="Shape 52"/>
              <p:cNvSpPr/>
              <p:nvPr/>
            </p:nvSpPr>
            <p:spPr>
              <a:xfrm>
                <a:off x="6732712" y="5108400"/>
                <a:ext cx="198000" cy="36000"/>
              </a:xfrm>
              <a:prstGeom prst="rect">
                <a:avLst/>
              </a:prstGeom>
              <a:solidFill>
                <a:schemeClr val="accent5">
                  <a:lumMod val="20000"/>
                  <a:lumOff val="80000"/>
                </a:schemeClr>
              </a:solidFill>
              <a:ln w="12700">
                <a:noFill/>
                <a:prstDash val="solid"/>
              </a:ln>
            </p:spPr>
          </p:sp>
          <p:sp>
            <p:nvSpPr>
              <p:cNvPr id="49" name="Shape 52"/>
              <p:cNvSpPr/>
              <p:nvPr/>
            </p:nvSpPr>
            <p:spPr>
              <a:xfrm>
                <a:off x="6930712" y="5108400"/>
                <a:ext cx="198000" cy="36000"/>
              </a:xfrm>
              <a:prstGeom prst="rect">
                <a:avLst/>
              </a:prstGeom>
              <a:solidFill>
                <a:schemeClr val="accent5">
                  <a:lumMod val="20000"/>
                  <a:lumOff val="80000"/>
                </a:schemeClr>
              </a:solidFill>
              <a:ln w="12700">
                <a:noFill/>
                <a:prstDash val="solid"/>
              </a:ln>
            </p:spPr>
          </p:sp>
          <p:sp>
            <p:nvSpPr>
              <p:cNvPr id="50" name="Shape 52"/>
              <p:cNvSpPr/>
              <p:nvPr/>
            </p:nvSpPr>
            <p:spPr>
              <a:xfrm>
                <a:off x="7128712" y="51084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7326712" y="51084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7524712" y="51084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7722712" y="51084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7920712" y="5109048"/>
                <a:ext cx="198000" cy="36000"/>
              </a:xfrm>
              <a:prstGeom prst="rect">
                <a:avLst/>
              </a:prstGeom>
              <a:grpFill/>
              <a:ln w="12700">
                <a:noFill/>
                <a:prstDash val="solid"/>
              </a:ln>
            </p:spPr>
          </p:sp>
          <p:sp>
            <p:nvSpPr>
              <p:cNvPr id="55" name="Shape 52"/>
              <p:cNvSpPr/>
              <p:nvPr/>
            </p:nvSpPr>
            <p:spPr>
              <a:xfrm>
                <a:off x="8118712" y="5109048"/>
                <a:ext cx="198000" cy="36000"/>
              </a:xfrm>
              <a:prstGeom prst="rect">
                <a:avLst/>
              </a:prstGeom>
              <a:grpFill/>
              <a:ln w="12700">
                <a:noFill/>
                <a:prstDash val="solid"/>
              </a:ln>
            </p:spPr>
          </p:sp>
          <p:sp>
            <p:nvSpPr>
              <p:cNvPr id="56" name="Shape 52"/>
              <p:cNvSpPr/>
              <p:nvPr/>
            </p:nvSpPr>
            <p:spPr>
              <a:xfrm>
                <a:off x="8316712" y="5109048"/>
                <a:ext cx="198000" cy="36000"/>
              </a:xfrm>
              <a:prstGeom prst="rect">
                <a:avLst/>
              </a:prstGeom>
              <a:grpFill/>
              <a:ln w="12700">
                <a:noFill/>
                <a:prstDash val="solid"/>
              </a:ln>
            </p:spPr>
          </p:sp>
          <p:sp>
            <p:nvSpPr>
              <p:cNvPr id="57" name="Shape 52"/>
              <p:cNvSpPr/>
              <p:nvPr/>
            </p:nvSpPr>
            <p:spPr>
              <a:xfrm>
                <a:off x="8514712" y="5109048"/>
                <a:ext cx="198000" cy="36000"/>
              </a:xfrm>
              <a:prstGeom prst="rect">
                <a:avLst/>
              </a:prstGeom>
              <a:grpFill/>
              <a:ln w="12700">
                <a:noFill/>
                <a:prstDash val="solid"/>
              </a:ln>
            </p:spPr>
          </p:sp>
          <p:sp>
            <p:nvSpPr>
              <p:cNvPr id="58" name="Shape 52"/>
              <p:cNvSpPr/>
              <p:nvPr/>
            </p:nvSpPr>
            <p:spPr>
              <a:xfrm>
                <a:off x="8712712" y="5109048"/>
                <a:ext cx="198000" cy="36000"/>
              </a:xfrm>
              <a:prstGeom prst="rect">
                <a:avLst/>
              </a:prstGeom>
              <a:grpFill/>
              <a:ln w="12700">
                <a:noFill/>
                <a:prstDash val="solid"/>
              </a:ln>
            </p:spPr>
          </p:sp>
          <p:sp>
            <p:nvSpPr>
              <p:cNvPr id="59"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0" y="1645920"/>
            <a:ext cx="9144000" cy="1828800"/>
          </a:xfrm>
          <a:prstGeom prst="rect">
            <a:avLst/>
          </a:prstGeom>
          <a:solidFill>
            <a:srgbClr val="112233"/>
          </a:solidFill>
          <a:ln w="12700">
            <a:solidFill>
              <a:srgbClr val="112233"/>
            </a:solidFill>
            <a:prstDash val="solid"/>
          </a:ln>
        </p:spPr>
      </p:sp>
      <p:sp>
        <p:nvSpPr>
          <p:cNvPr id="3" name="Shape 1"/>
          <p:cNvSpPr/>
          <p:nvPr/>
        </p:nvSpPr>
        <p:spPr>
          <a:xfrm>
            <a:off x="0" y="1645920"/>
            <a:ext cx="109728" cy="1828800"/>
          </a:xfrm>
          <a:prstGeom prst="rect">
            <a:avLst/>
          </a:prstGeom>
          <a:solidFill>
            <a:srgbClr val="00E676"/>
          </a:solidFill>
          <a:ln w="12700">
            <a:solidFill>
              <a:srgbClr val="00E676"/>
            </a:solidFill>
            <a:prstDash val="solid"/>
          </a:ln>
        </p:spPr>
      </p:sp>
      <p:sp>
        <p:nvSpPr>
          <p:cNvPr id="4" name="Text 2"/>
          <p:cNvSpPr/>
          <p:nvPr/>
        </p:nvSpPr>
        <p:spPr>
          <a:xfrm>
            <a:off x="914400" y="548640"/>
            <a:ext cx="7315200" cy="822960"/>
          </a:xfrm>
          <a:prstGeom prst="rect">
            <a:avLst/>
          </a:prstGeom>
          <a:noFill/>
          <a:ln/>
        </p:spPr>
        <p:txBody>
          <a:bodyPr wrap="square" lIns="0" tIns="0" rIns="0" bIns="0" rtlCol="0" anchor="ctr"/>
          <a:lstStyle/>
          <a:p>
            <a:pPr marL="0" indent="0" algn="l">
              <a:buNone/>
            </a:pPr>
            <a:r>
              <a:rPr lang="en-US" sz="5200" b="1" dirty="0">
                <a:solidFill>
                  <a:srgbClr val="00E676"/>
                </a:solidFill>
              </a:rPr>
              <a:t>010</a:t>
            </a:r>
            <a:endParaRPr lang="en-US" sz="5200" dirty="0"/>
          </a:p>
        </p:txBody>
      </p:sp>
      <p:sp>
        <p:nvSpPr>
          <p:cNvPr id="5" name="Text 3"/>
          <p:cNvSpPr/>
          <p:nvPr/>
        </p:nvSpPr>
        <p:spPr>
          <a:xfrm>
            <a:off x="457200" y="1737360"/>
            <a:ext cx="8229600" cy="822960"/>
          </a:xfrm>
          <a:prstGeom prst="rect">
            <a:avLst/>
          </a:prstGeom>
          <a:noFill/>
          <a:ln/>
        </p:spPr>
        <p:txBody>
          <a:bodyPr wrap="square" lIns="0" tIns="0" rIns="0" bIns="0" rtlCol="0" anchor="ctr"/>
          <a:lstStyle/>
          <a:p>
            <a:pPr marL="0" indent="0">
              <a:buNone/>
            </a:pPr>
            <a:r>
              <a:rPr lang="en-US" sz="2800" b="1" dirty="0">
                <a:solidFill>
                  <a:srgbClr val="FFFFFF"/>
                </a:solidFill>
              </a:rPr>
              <a:t>Narzędzia Projektowania UI/UX</a:t>
            </a:r>
            <a:endParaRPr lang="en-US" sz="2800" dirty="0"/>
          </a:p>
        </p:txBody>
      </p:sp>
      <p:sp>
        <p:nvSpPr>
          <p:cNvPr id="6" name="Text 4"/>
          <p:cNvSpPr/>
          <p:nvPr/>
        </p:nvSpPr>
        <p:spPr>
          <a:xfrm>
            <a:off x="457200" y="2606040"/>
            <a:ext cx="8229600" cy="548640"/>
          </a:xfrm>
          <a:prstGeom prst="rect">
            <a:avLst/>
          </a:prstGeom>
          <a:noFill/>
          <a:ln/>
        </p:spPr>
        <p:txBody>
          <a:bodyPr wrap="square" lIns="0" tIns="0" rIns="0" bIns="0" rtlCol="0" anchor="t"/>
          <a:lstStyle/>
          <a:p>
            <a:pPr marL="0" indent="0">
              <a:buNone/>
            </a:pPr>
            <a:r>
              <a:rPr lang="en-US" sz="1400" dirty="0">
                <a:solidFill>
                  <a:srgbClr val="8899AA"/>
                </a:solidFill>
              </a:rPr>
              <a:t>Przegląd profesjonalnych narzędzi do projektowania interfejsów</a:t>
            </a:r>
            <a:endParaRPr lang="en-US" sz="1400" dirty="0"/>
          </a:p>
        </p:txBody>
      </p:sp>
      <p:sp>
        <p:nvSpPr>
          <p:cNvPr id="9" name="Text 7"/>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40 / </a:t>
            </a:r>
            <a:r>
              <a:rPr lang="pl-PL" sz="800" dirty="0" smtClean="0">
                <a:solidFill>
                  <a:srgbClr val="8899AA"/>
                </a:solidFill>
              </a:rPr>
              <a:t>46</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D1B2A"/>
        </a:solidFill>
        <a:effectLst/>
      </p:bgPr>
    </p:bg>
    <p:spTree>
      <p:nvGrpSpPr>
        <p:cNvPr id="1" name=""/>
        <p:cNvGrpSpPr/>
        <p:nvPr/>
      </p:nvGrpSpPr>
      <p:grpSpPr>
        <a:xfrm>
          <a:off x="0" y="0"/>
          <a:ext cx="0" cy="0"/>
          <a:chOff x="0" y="0"/>
          <a:chExt cx="0" cy="0"/>
        </a:xfrm>
      </p:grpSpPr>
      <p:grpSp>
        <p:nvGrpSpPr>
          <p:cNvPr id="30" name="Grupa 29"/>
          <p:cNvGrpSpPr/>
          <p:nvPr/>
        </p:nvGrpSpPr>
        <p:grpSpPr>
          <a:xfrm>
            <a:off x="-2381" y="4884912"/>
            <a:ext cx="9146381" cy="260136"/>
            <a:chOff x="-2381" y="4884912"/>
            <a:chExt cx="9146381" cy="260136"/>
          </a:xfrm>
        </p:grpSpPr>
        <p:sp>
          <p:nvSpPr>
            <p:cNvPr id="31" name="Shape 52"/>
            <p:cNvSpPr/>
            <p:nvPr/>
          </p:nvSpPr>
          <p:spPr>
            <a:xfrm>
              <a:off x="0" y="4884912"/>
              <a:ext cx="9144000" cy="252000"/>
            </a:xfrm>
            <a:prstGeom prst="rect">
              <a:avLst/>
            </a:prstGeom>
            <a:solidFill>
              <a:srgbClr val="071523"/>
            </a:solidFill>
            <a:ln w="12700">
              <a:solidFill>
                <a:srgbClr val="071523"/>
              </a:solidFill>
              <a:prstDash val="solid"/>
            </a:ln>
          </p:spPr>
        </p:sp>
        <p:sp>
          <p:nvSpPr>
            <p:cNvPr id="32"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33" name="Grupa 32"/>
            <p:cNvGrpSpPr/>
            <p:nvPr/>
          </p:nvGrpSpPr>
          <p:grpSpPr>
            <a:xfrm>
              <a:off x="-2381" y="5099329"/>
              <a:ext cx="9146381" cy="45719"/>
              <a:chOff x="-2381" y="5107500"/>
              <a:chExt cx="9111093" cy="37548"/>
            </a:xfrm>
            <a:solidFill>
              <a:schemeClr val="tx1"/>
            </a:solidFill>
          </p:grpSpPr>
          <p:sp>
            <p:nvSpPr>
              <p:cNvPr id="34"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35"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36"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37"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38"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39"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40"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41"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42"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43"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44"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45"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46"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47"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48"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49"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50"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4356712" y="51075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4554712" y="510750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4752712" y="51075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4950712" y="51075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5148712" y="51075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5346712" y="5108400"/>
                <a:ext cx="198000" cy="36000"/>
              </a:xfrm>
              <a:prstGeom prst="rect">
                <a:avLst/>
              </a:prstGeom>
              <a:solidFill>
                <a:schemeClr val="accent5">
                  <a:lumMod val="20000"/>
                  <a:lumOff val="80000"/>
                </a:schemeClr>
              </a:solidFill>
              <a:ln w="12700">
                <a:noFill/>
                <a:prstDash val="solid"/>
              </a:ln>
            </p:spPr>
          </p:sp>
          <p:sp>
            <p:nvSpPr>
              <p:cNvPr id="62" name="Shape 52"/>
              <p:cNvSpPr/>
              <p:nvPr/>
            </p:nvSpPr>
            <p:spPr>
              <a:xfrm>
                <a:off x="5544712" y="5108400"/>
                <a:ext cx="198000" cy="36000"/>
              </a:xfrm>
              <a:prstGeom prst="rect">
                <a:avLst/>
              </a:prstGeom>
              <a:solidFill>
                <a:schemeClr val="accent5">
                  <a:lumMod val="20000"/>
                  <a:lumOff val="80000"/>
                </a:schemeClr>
              </a:solidFill>
              <a:ln w="12700">
                <a:noFill/>
                <a:prstDash val="solid"/>
              </a:ln>
            </p:spPr>
          </p:sp>
          <p:sp>
            <p:nvSpPr>
              <p:cNvPr id="63" name="Shape 52"/>
              <p:cNvSpPr/>
              <p:nvPr/>
            </p:nvSpPr>
            <p:spPr>
              <a:xfrm>
                <a:off x="5742712" y="5108400"/>
                <a:ext cx="198000" cy="36000"/>
              </a:xfrm>
              <a:prstGeom prst="rect">
                <a:avLst/>
              </a:prstGeom>
              <a:solidFill>
                <a:schemeClr val="accent5">
                  <a:lumMod val="20000"/>
                  <a:lumOff val="80000"/>
                </a:schemeClr>
              </a:solidFill>
              <a:ln w="12700">
                <a:noFill/>
                <a:prstDash val="solid"/>
              </a:ln>
            </p:spPr>
          </p:sp>
          <p:sp>
            <p:nvSpPr>
              <p:cNvPr id="64" name="Shape 52"/>
              <p:cNvSpPr/>
              <p:nvPr/>
            </p:nvSpPr>
            <p:spPr>
              <a:xfrm>
                <a:off x="5940712" y="5108400"/>
                <a:ext cx="198000" cy="36000"/>
              </a:xfrm>
              <a:prstGeom prst="rect">
                <a:avLst/>
              </a:prstGeom>
              <a:solidFill>
                <a:schemeClr val="accent5">
                  <a:lumMod val="20000"/>
                  <a:lumOff val="80000"/>
                </a:schemeClr>
              </a:solidFill>
              <a:ln w="12700">
                <a:noFill/>
                <a:prstDash val="solid"/>
              </a:ln>
            </p:spPr>
          </p:sp>
          <p:sp>
            <p:nvSpPr>
              <p:cNvPr id="65" name="Shape 52"/>
              <p:cNvSpPr/>
              <p:nvPr/>
            </p:nvSpPr>
            <p:spPr>
              <a:xfrm>
                <a:off x="6138712" y="5108400"/>
                <a:ext cx="198000" cy="36000"/>
              </a:xfrm>
              <a:prstGeom prst="rect">
                <a:avLst/>
              </a:prstGeom>
              <a:solidFill>
                <a:schemeClr val="accent5">
                  <a:lumMod val="20000"/>
                  <a:lumOff val="80000"/>
                </a:schemeClr>
              </a:solidFill>
              <a:ln w="12700">
                <a:noFill/>
                <a:prstDash val="solid"/>
              </a:ln>
            </p:spPr>
          </p:sp>
          <p:sp>
            <p:nvSpPr>
              <p:cNvPr id="66" name="Shape 52"/>
              <p:cNvSpPr/>
              <p:nvPr/>
            </p:nvSpPr>
            <p:spPr>
              <a:xfrm>
                <a:off x="6336712" y="5108400"/>
                <a:ext cx="198000" cy="36000"/>
              </a:xfrm>
              <a:prstGeom prst="rect">
                <a:avLst/>
              </a:prstGeom>
              <a:solidFill>
                <a:schemeClr val="accent5">
                  <a:lumMod val="20000"/>
                  <a:lumOff val="80000"/>
                </a:schemeClr>
              </a:solidFill>
              <a:ln w="12700">
                <a:noFill/>
                <a:prstDash val="solid"/>
              </a:ln>
            </p:spPr>
          </p:sp>
          <p:sp>
            <p:nvSpPr>
              <p:cNvPr id="67" name="Shape 52"/>
              <p:cNvSpPr/>
              <p:nvPr/>
            </p:nvSpPr>
            <p:spPr>
              <a:xfrm>
                <a:off x="6534712" y="5108400"/>
                <a:ext cx="198000" cy="36000"/>
              </a:xfrm>
              <a:prstGeom prst="rect">
                <a:avLst/>
              </a:prstGeom>
              <a:solidFill>
                <a:schemeClr val="accent5">
                  <a:lumMod val="20000"/>
                  <a:lumOff val="80000"/>
                </a:schemeClr>
              </a:solidFill>
              <a:ln w="12700">
                <a:noFill/>
                <a:prstDash val="solid"/>
              </a:ln>
            </p:spPr>
          </p:sp>
          <p:sp>
            <p:nvSpPr>
              <p:cNvPr id="68" name="Shape 52"/>
              <p:cNvSpPr/>
              <p:nvPr/>
            </p:nvSpPr>
            <p:spPr>
              <a:xfrm>
                <a:off x="6732712" y="5108400"/>
                <a:ext cx="198000" cy="36000"/>
              </a:xfrm>
              <a:prstGeom prst="rect">
                <a:avLst/>
              </a:prstGeom>
              <a:solidFill>
                <a:schemeClr val="accent5">
                  <a:lumMod val="20000"/>
                  <a:lumOff val="80000"/>
                </a:schemeClr>
              </a:solidFill>
              <a:ln w="12700">
                <a:noFill/>
                <a:prstDash val="solid"/>
              </a:ln>
            </p:spPr>
          </p:sp>
          <p:sp>
            <p:nvSpPr>
              <p:cNvPr id="69" name="Shape 52"/>
              <p:cNvSpPr/>
              <p:nvPr/>
            </p:nvSpPr>
            <p:spPr>
              <a:xfrm>
                <a:off x="6930712" y="5108400"/>
                <a:ext cx="198000" cy="36000"/>
              </a:xfrm>
              <a:prstGeom prst="rect">
                <a:avLst/>
              </a:prstGeom>
              <a:solidFill>
                <a:schemeClr val="accent5">
                  <a:lumMod val="20000"/>
                  <a:lumOff val="80000"/>
                </a:schemeClr>
              </a:solidFill>
              <a:ln w="12700">
                <a:noFill/>
                <a:prstDash val="solid"/>
              </a:ln>
            </p:spPr>
          </p:sp>
          <p:sp>
            <p:nvSpPr>
              <p:cNvPr id="70" name="Shape 52"/>
              <p:cNvSpPr/>
              <p:nvPr/>
            </p:nvSpPr>
            <p:spPr>
              <a:xfrm>
                <a:off x="7128712" y="5108400"/>
                <a:ext cx="198000" cy="36000"/>
              </a:xfrm>
              <a:prstGeom prst="rect">
                <a:avLst/>
              </a:prstGeom>
              <a:solidFill>
                <a:schemeClr val="accent5">
                  <a:lumMod val="20000"/>
                  <a:lumOff val="80000"/>
                </a:schemeClr>
              </a:solidFill>
              <a:ln w="12700">
                <a:noFill/>
                <a:prstDash val="solid"/>
              </a:ln>
            </p:spPr>
          </p:sp>
          <p:sp>
            <p:nvSpPr>
              <p:cNvPr id="71" name="Shape 52"/>
              <p:cNvSpPr/>
              <p:nvPr/>
            </p:nvSpPr>
            <p:spPr>
              <a:xfrm>
                <a:off x="7326712" y="5108400"/>
                <a:ext cx="198000" cy="36000"/>
              </a:xfrm>
              <a:prstGeom prst="rect">
                <a:avLst/>
              </a:prstGeom>
              <a:solidFill>
                <a:schemeClr val="accent5">
                  <a:lumMod val="20000"/>
                  <a:lumOff val="80000"/>
                </a:schemeClr>
              </a:solidFill>
              <a:ln w="12700">
                <a:noFill/>
                <a:prstDash val="solid"/>
              </a:ln>
            </p:spPr>
          </p:sp>
          <p:sp>
            <p:nvSpPr>
              <p:cNvPr id="72" name="Shape 52"/>
              <p:cNvSpPr/>
              <p:nvPr/>
            </p:nvSpPr>
            <p:spPr>
              <a:xfrm>
                <a:off x="7524712" y="5108400"/>
                <a:ext cx="198000" cy="36000"/>
              </a:xfrm>
              <a:prstGeom prst="rect">
                <a:avLst/>
              </a:prstGeom>
              <a:solidFill>
                <a:schemeClr val="accent5">
                  <a:lumMod val="20000"/>
                  <a:lumOff val="80000"/>
                </a:schemeClr>
              </a:solidFill>
              <a:ln w="12700">
                <a:noFill/>
                <a:prstDash val="solid"/>
              </a:ln>
            </p:spPr>
          </p:sp>
          <p:sp>
            <p:nvSpPr>
              <p:cNvPr id="73" name="Shape 52"/>
              <p:cNvSpPr/>
              <p:nvPr/>
            </p:nvSpPr>
            <p:spPr>
              <a:xfrm>
                <a:off x="7722712" y="5108400"/>
                <a:ext cx="198000" cy="36000"/>
              </a:xfrm>
              <a:prstGeom prst="rect">
                <a:avLst/>
              </a:prstGeom>
              <a:solidFill>
                <a:schemeClr val="accent5">
                  <a:lumMod val="20000"/>
                  <a:lumOff val="80000"/>
                </a:schemeClr>
              </a:solidFill>
              <a:ln w="12700">
                <a:noFill/>
                <a:prstDash val="solid"/>
              </a:ln>
            </p:spPr>
          </p:sp>
          <p:sp>
            <p:nvSpPr>
              <p:cNvPr id="74" name="Shape 52"/>
              <p:cNvSpPr/>
              <p:nvPr/>
            </p:nvSpPr>
            <p:spPr>
              <a:xfrm>
                <a:off x="7920712" y="5109048"/>
                <a:ext cx="198000" cy="36000"/>
              </a:xfrm>
              <a:prstGeom prst="rect">
                <a:avLst/>
              </a:prstGeom>
              <a:solidFill>
                <a:schemeClr val="accent5">
                  <a:lumMod val="20000"/>
                  <a:lumOff val="80000"/>
                </a:schemeClr>
              </a:solidFill>
              <a:ln w="12700">
                <a:noFill/>
                <a:prstDash val="solid"/>
              </a:ln>
            </p:spPr>
          </p:sp>
          <p:sp>
            <p:nvSpPr>
              <p:cNvPr id="75" name="Shape 52"/>
              <p:cNvSpPr/>
              <p:nvPr/>
            </p:nvSpPr>
            <p:spPr>
              <a:xfrm>
                <a:off x="8118712" y="5109048"/>
                <a:ext cx="198000" cy="36000"/>
              </a:xfrm>
              <a:prstGeom prst="rect">
                <a:avLst/>
              </a:prstGeom>
              <a:grpFill/>
              <a:ln w="12700">
                <a:noFill/>
                <a:prstDash val="solid"/>
              </a:ln>
            </p:spPr>
          </p:sp>
          <p:sp>
            <p:nvSpPr>
              <p:cNvPr id="76" name="Shape 52"/>
              <p:cNvSpPr/>
              <p:nvPr/>
            </p:nvSpPr>
            <p:spPr>
              <a:xfrm>
                <a:off x="8316712" y="5109048"/>
                <a:ext cx="198000" cy="36000"/>
              </a:xfrm>
              <a:prstGeom prst="rect">
                <a:avLst/>
              </a:prstGeom>
              <a:grpFill/>
              <a:ln w="12700">
                <a:noFill/>
                <a:prstDash val="solid"/>
              </a:ln>
            </p:spPr>
          </p:sp>
          <p:sp>
            <p:nvSpPr>
              <p:cNvPr id="77" name="Shape 52"/>
              <p:cNvSpPr/>
              <p:nvPr/>
            </p:nvSpPr>
            <p:spPr>
              <a:xfrm>
                <a:off x="8514712" y="5109048"/>
                <a:ext cx="198000" cy="36000"/>
              </a:xfrm>
              <a:prstGeom prst="rect">
                <a:avLst/>
              </a:prstGeom>
              <a:grpFill/>
              <a:ln w="12700">
                <a:noFill/>
                <a:prstDash val="solid"/>
              </a:ln>
            </p:spPr>
          </p:sp>
          <p:sp>
            <p:nvSpPr>
              <p:cNvPr id="78" name="Shape 52"/>
              <p:cNvSpPr/>
              <p:nvPr/>
            </p:nvSpPr>
            <p:spPr>
              <a:xfrm>
                <a:off x="8712712" y="5109048"/>
                <a:ext cx="198000" cy="36000"/>
              </a:xfrm>
              <a:prstGeom prst="rect">
                <a:avLst/>
              </a:prstGeom>
              <a:grpFill/>
              <a:ln w="12700">
                <a:noFill/>
                <a:prstDash val="solid"/>
              </a:ln>
            </p:spPr>
          </p:sp>
          <p:sp>
            <p:nvSpPr>
              <p:cNvPr id="79"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00E676"/>
          </a:solidFill>
          <a:ln w="12700">
            <a:solidFill>
              <a:srgbClr val="00E676"/>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Narzędzia do Projektowania Interfejsów</a:t>
            </a:r>
            <a:endParaRPr lang="en-US" sz="2200" dirty="0"/>
          </a:p>
        </p:txBody>
      </p:sp>
      <p:sp>
        <p:nvSpPr>
          <p:cNvPr id="4" name="Shape 2"/>
          <p:cNvSpPr/>
          <p:nvPr/>
        </p:nvSpPr>
        <p:spPr>
          <a:xfrm>
            <a:off x="320040" y="914400"/>
            <a:ext cx="2743200" cy="2926080"/>
          </a:xfrm>
          <a:prstGeom prst="rect">
            <a:avLst/>
          </a:prstGeom>
          <a:solidFill>
            <a:srgbClr val="112233"/>
          </a:solidFill>
          <a:ln w="12700">
            <a:solidFill>
              <a:srgbClr val="1A3050"/>
            </a:solidFill>
            <a:prstDash val="solid"/>
          </a:ln>
        </p:spPr>
      </p:sp>
      <p:sp>
        <p:nvSpPr>
          <p:cNvPr id="5" name="Shape 3"/>
          <p:cNvSpPr/>
          <p:nvPr/>
        </p:nvSpPr>
        <p:spPr>
          <a:xfrm>
            <a:off x="320040" y="914400"/>
            <a:ext cx="2743200" cy="54864"/>
          </a:xfrm>
          <a:prstGeom prst="rect">
            <a:avLst/>
          </a:prstGeom>
          <a:solidFill>
            <a:srgbClr val="00E676"/>
          </a:solidFill>
          <a:ln w="12700">
            <a:solidFill>
              <a:srgbClr val="00E676"/>
            </a:solidFill>
            <a:prstDash val="solid"/>
          </a:ln>
        </p:spPr>
      </p:sp>
      <p:sp>
        <p:nvSpPr>
          <p:cNvPr id="6" name="Text 4"/>
          <p:cNvSpPr/>
          <p:nvPr/>
        </p:nvSpPr>
        <p:spPr>
          <a:xfrm>
            <a:off x="429768" y="1051560"/>
            <a:ext cx="1828800" cy="320040"/>
          </a:xfrm>
          <a:prstGeom prst="rect">
            <a:avLst/>
          </a:prstGeom>
          <a:noFill/>
          <a:ln/>
        </p:spPr>
        <p:txBody>
          <a:bodyPr wrap="square" lIns="0" tIns="0" rIns="0" bIns="0" rtlCol="0" anchor="ctr"/>
          <a:lstStyle/>
          <a:p>
            <a:pPr marL="0" indent="0">
              <a:buNone/>
            </a:pPr>
            <a:r>
              <a:rPr lang="en-US" sz="1500" b="1" dirty="0">
                <a:solidFill>
                  <a:srgbClr val="FFFFFF"/>
                </a:solidFill>
              </a:rPr>
              <a:t>Figma</a:t>
            </a:r>
            <a:endParaRPr lang="en-US" sz="1500" dirty="0"/>
          </a:p>
        </p:txBody>
      </p:sp>
      <p:sp>
        <p:nvSpPr>
          <p:cNvPr id="7" name="Shape 5"/>
          <p:cNvSpPr/>
          <p:nvPr/>
        </p:nvSpPr>
        <p:spPr>
          <a:xfrm>
            <a:off x="2331720" y="1078992"/>
            <a:ext cx="658368" cy="237744"/>
          </a:xfrm>
          <a:prstGeom prst="rect">
            <a:avLst/>
          </a:prstGeom>
          <a:solidFill>
            <a:srgbClr val="00E676"/>
          </a:solidFill>
          <a:ln w="12700">
            <a:solidFill>
              <a:srgbClr val="00E676"/>
            </a:solidFill>
            <a:prstDash val="solid"/>
          </a:ln>
        </p:spPr>
      </p:sp>
      <p:sp>
        <p:nvSpPr>
          <p:cNvPr id="8" name="Text 6"/>
          <p:cNvSpPr/>
          <p:nvPr/>
        </p:nvSpPr>
        <p:spPr>
          <a:xfrm>
            <a:off x="2331720" y="1078992"/>
            <a:ext cx="658368" cy="237744"/>
          </a:xfrm>
          <a:prstGeom prst="rect">
            <a:avLst/>
          </a:prstGeom>
          <a:noFill/>
          <a:ln/>
        </p:spPr>
        <p:txBody>
          <a:bodyPr wrap="square" lIns="0" tIns="0" rIns="0" bIns="0" rtlCol="0" anchor="ctr"/>
          <a:lstStyle/>
          <a:p>
            <a:pPr marL="0" indent="0" algn="ctr">
              <a:buNone/>
            </a:pPr>
            <a:r>
              <a:rPr lang="en-US" sz="750" b="1" dirty="0">
                <a:solidFill>
                  <a:srgbClr val="0D1B2A"/>
                </a:solidFill>
              </a:rPr>
              <a:t>Lider branży</a:t>
            </a:r>
            <a:endParaRPr lang="en-US" sz="750" dirty="0"/>
          </a:p>
        </p:txBody>
      </p:sp>
      <p:sp>
        <p:nvSpPr>
          <p:cNvPr id="9" name="Text 7"/>
          <p:cNvSpPr/>
          <p:nvPr/>
        </p:nvSpPr>
        <p:spPr>
          <a:xfrm>
            <a:off x="429768" y="1389888"/>
            <a:ext cx="2523744" cy="219456"/>
          </a:xfrm>
          <a:prstGeom prst="rect">
            <a:avLst/>
          </a:prstGeom>
          <a:noFill/>
          <a:ln/>
        </p:spPr>
        <p:txBody>
          <a:bodyPr wrap="square" lIns="0" tIns="0" rIns="0" bIns="0" rtlCol="0" anchor="ctr"/>
          <a:lstStyle/>
          <a:p>
            <a:pPr marL="0" indent="0">
              <a:buNone/>
            </a:pPr>
            <a:r>
              <a:rPr lang="en-US" sz="950" dirty="0">
                <a:solidFill>
                  <a:srgbClr val="00E676"/>
                </a:solidFill>
              </a:rPr>
              <a:t>77% rynku</a:t>
            </a:r>
            <a:endParaRPr lang="en-US" sz="950" dirty="0"/>
          </a:p>
        </p:txBody>
      </p:sp>
      <p:sp>
        <p:nvSpPr>
          <p:cNvPr id="10" name="Text 8"/>
          <p:cNvSpPr/>
          <p:nvPr/>
        </p:nvSpPr>
        <p:spPr>
          <a:xfrm>
            <a:off x="429768" y="1664208"/>
            <a:ext cx="2523744" cy="2084832"/>
          </a:xfrm>
          <a:prstGeom prst="rect">
            <a:avLst/>
          </a:prstGeom>
          <a:noFill/>
          <a:ln/>
        </p:spPr>
        <p:txBody>
          <a:bodyPr wrap="square" lIns="0" tIns="0" rIns="0" bIns="0" rtlCol="0" anchor="t"/>
          <a:lstStyle/>
          <a:p>
            <a:pPr marL="0" indent="0">
              <a:buNone/>
            </a:pPr>
            <a:r>
              <a:rPr lang="en-US" sz="880" dirty="0">
                <a:solidFill>
                  <a:srgbClr val="8899AA"/>
                </a:solidFill>
              </a:rPr>
              <a:t>Przeglądarkowy — na każdym systemie. Real-time collaboration. Dev Mode + design tokens. 1000+ pluginów (Stark, Unsplash, Content Reel).</a:t>
            </a:r>
            <a:endParaRPr lang="en-US" sz="880" dirty="0"/>
          </a:p>
        </p:txBody>
      </p:sp>
      <p:sp>
        <p:nvSpPr>
          <p:cNvPr id="11" name="Shape 9"/>
          <p:cNvSpPr/>
          <p:nvPr/>
        </p:nvSpPr>
        <p:spPr>
          <a:xfrm>
            <a:off x="3200400" y="914400"/>
            <a:ext cx="2743200" cy="2926080"/>
          </a:xfrm>
          <a:prstGeom prst="rect">
            <a:avLst/>
          </a:prstGeom>
          <a:solidFill>
            <a:srgbClr val="112233"/>
          </a:solidFill>
          <a:ln w="12700">
            <a:solidFill>
              <a:srgbClr val="1A3050"/>
            </a:solidFill>
            <a:prstDash val="solid"/>
          </a:ln>
        </p:spPr>
      </p:sp>
      <p:sp>
        <p:nvSpPr>
          <p:cNvPr id="12" name="Shape 10"/>
          <p:cNvSpPr/>
          <p:nvPr/>
        </p:nvSpPr>
        <p:spPr>
          <a:xfrm>
            <a:off x="3200400" y="914400"/>
            <a:ext cx="2743200" cy="54864"/>
          </a:xfrm>
          <a:prstGeom prst="rect">
            <a:avLst/>
          </a:prstGeom>
          <a:solidFill>
            <a:srgbClr val="00D4FF"/>
          </a:solidFill>
          <a:ln w="12700">
            <a:solidFill>
              <a:srgbClr val="00D4FF"/>
            </a:solidFill>
            <a:prstDash val="solid"/>
          </a:ln>
        </p:spPr>
      </p:sp>
      <p:sp>
        <p:nvSpPr>
          <p:cNvPr id="13" name="Text 11"/>
          <p:cNvSpPr/>
          <p:nvPr/>
        </p:nvSpPr>
        <p:spPr>
          <a:xfrm>
            <a:off x="3310128" y="1051560"/>
            <a:ext cx="1828800" cy="320040"/>
          </a:xfrm>
          <a:prstGeom prst="rect">
            <a:avLst/>
          </a:prstGeom>
          <a:noFill/>
          <a:ln/>
        </p:spPr>
        <p:txBody>
          <a:bodyPr wrap="square" lIns="0" tIns="0" rIns="0" bIns="0" rtlCol="0" anchor="ctr"/>
          <a:lstStyle/>
          <a:p>
            <a:pPr marL="0" indent="0">
              <a:buNone/>
            </a:pPr>
            <a:r>
              <a:rPr lang="en-US" sz="1500" b="1" dirty="0">
                <a:solidFill>
                  <a:srgbClr val="FFFFFF"/>
                </a:solidFill>
              </a:rPr>
              <a:t>Sketch</a:t>
            </a:r>
            <a:endParaRPr lang="en-US" sz="1500" dirty="0"/>
          </a:p>
        </p:txBody>
      </p:sp>
      <p:sp>
        <p:nvSpPr>
          <p:cNvPr id="14" name="Shape 12"/>
          <p:cNvSpPr/>
          <p:nvPr/>
        </p:nvSpPr>
        <p:spPr>
          <a:xfrm>
            <a:off x="5212080" y="1078992"/>
            <a:ext cx="658368" cy="237744"/>
          </a:xfrm>
          <a:prstGeom prst="rect">
            <a:avLst/>
          </a:prstGeom>
          <a:solidFill>
            <a:srgbClr val="00D4FF"/>
          </a:solidFill>
          <a:ln w="12700">
            <a:solidFill>
              <a:srgbClr val="00D4FF"/>
            </a:solidFill>
            <a:prstDash val="solid"/>
          </a:ln>
        </p:spPr>
      </p:sp>
      <p:sp>
        <p:nvSpPr>
          <p:cNvPr id="15" name="Text 13"/>
          <p:cNvSpPr/>
          <p:nvPr/>
        </p:nvSpPr>
        <p:spPr>
          <a:xfrm>
            <a:off x="5212080" y="1078992"/>
            <a:ext cx="658368" cy="237744"/>
          </a:xfrm>
          <a:prstGeom prst="rect">
            <a:avLst/>
          </a:prstGeom>
          <a:noFill/>
          <a:ln/>
        </p:spPr>
        <p:txBody>
          <a:bodyPr wrap="square" lIns="0" tIns="0" rIns="0" bIns="0" rtlCol="0" anchor="ctr"/>
          <a:lstStyle/>
          <a:p>
            <a:pPr marL="0" indent="0" algn="ctr">
              <a:buNone/>
            </a:pPr>
            <a:r>
              <a:rPr lang="en-US" sz="750" b="1" dirty="0">
                <a:solidFill>
                  <a:srgbClr val="0D1B2A"/>
                </a:solidFill>
              </a:rPr>
              <a:t>Mac Teams</a:t>
            </a:r>
            <a:endParaRPr lang="en-US" sz="750" dirty="0"/>
          </a:p>
        </p:txBody>
      </p:sp>
      <p:sp>
        <p:nvSpPr>
          <p:cNvPr id="16" name="Text 14"/>
          <p:cNvSpPr/>
          <p:nvPr/>
        </p:nvSpPr>
        <p:spPr>
          <a:xfrm>
            <a:off x="3310128" y="1389888"/>
            <a:ext cx="2523744" cy="219456"/>
          </a:xfrm>
          <a:prstGeom prst="rect">
            <a:avLst/>
          </a:prstGeom>
          <a:noFill/>
          <a:ln/>
        </p:spPr>
        <p:txBody>
          <a:bodyPr wrap="square" lIns="0" tIns="0" rIns="0" bIns="0" rtlCol="0" anchor="ctr"/>
          <a:lstStyle/>
          <a:p>
            <a:pPr marL="0" indent="0">
              <a:buNone/>
            </a:pPr>
            <a:r>
              <a:rPr lang="en-US" sz="950" dirty="0">
                <a:solidFill>
                  <a:srgbClr val="00D4FF"/>
                </a:solidFill>
              </a:rPr>
              <a:t>macOS Only</a:t>
            </a:r>
            <a:endParaRPr lang="en-US" sz="950" dirty="0"/>
          </a:p>
        </p:txBody>
      </p:sp>
      <p:sp>
        <p:nvSpPr>
          <p:cNvPr id="17" name="Text 15"/>
          <p:cNvSpPr/>
          <p:nvPr/>
        </p:nvSpPr>
        <p:spPr>
          <a:xfrm>
            <a:off x="3310128" y="1664208"/>
            <a:ext cx="2523744" cy="2084832"/>
          </a:xfrm>
          <a:prstGeom prst="rect">
            <a:avLst/>
          </a:prstGeom>
          <a:noFill/>
          <a:ln/>
        </p:spPr>
        <p:txBody>
          <a:bodyPr wrap="square" lIns="0" tIns="0" rIns="0" bIns="0" rtlCol="0" anchor="t"/>
          <a:lstStyle/>
          <a:p>
            <a:pPr marL="0" indent="0">
              <a:buNone/>
            </a:pPr>
            <a:r>
              <a:rPr lang="en-US" sz="880" dirty="0">
                <a:solidFill>
                  <a:srgbClr val="8899AA"/>
                </a:solidFill>
              </a:rPr>
              <a:t>Natywna aplikacja Mac. Lepsza wydajność przy dużych plikach. Dojrzały ekosystem pluginów. $99 jednorazowo lub $9/mies.</a:t>
            </a:r>
            <a:endParaRPr lang="en-US" sz="880" dirty="0"/>
          </a:p>
        </p:txBody>
      </p:sp>
      <p:sp>
        <p:nvSpPr>
          <p:cNvPr id="18" name="Shape 16"/>
          <p:cNvSpPr/>
          <p:nvPr/>
        </p:nvSpPr>
        <p:spPr>
          <a:xfrm>
            <a:off x="6080760" y="914400"/>
            <a:ext cx="2743200" cy="2926080"/>
          </a:xfrm>
          <a:prstGeom prst="rect">
            <a:avLst/>
          </a:prstGeom>
          <a:solidFill>
            <a:srgbClr val="112233"/>
          </a:solidFill>
          <a:ln w="12700">
            <a:solidFill>
              <a:srgbClr val="1A3050"/>
            </a:solidFill>
            <a:prstDash val="solid"/>
          </a:ln>
        </p:spPr>
      </p:sp>
      <p:sp>
        <p:nvSpPr>
          <p:cNvPr id="19" name="Shape 17"/>
          <p:cNvSpPr/>
          <p:nvPr/>
        </p:nvSpPr>
        <p:spPr>
          <a:xfrm>
            <a:off x="6080760" y="914400"/>
            <a:ext cx="2743200" cy="54864"/>
          </a:xfrm>
          <a:prstGeom prst="rect">
            <a:avLst/>
          </a:prstGeom>
          <a:solidFill>
            <a:srgbClr val="FF9100"/>
          </a:solidFill>
          <a:ln w="12700">
            <a:solidFill>
              <a:srgbClr val="FF9100"/>
            </a:solidFill>
            <a:prstDash val="solid"/>
          </a:ln>
        </p:spPr>
      </p:sp>
      <p:sp>
        <p:nvSpPr>
          <p:cNvPr id="20" name="Text 18"/>
          <p:cNvSpPr/>
          <p:nvPr/>
        </p:nvSpPr>
        <p:spPr>
          <a:xfrm>
            <a:off x="6190488" y="1051560"/>
            <a:ext cx="1828800" cy="320040"/>
          </a:xfrm>
          <a:prstGeom prst="rect">
            <a:avLst/>
          </a:prstGeom>
          <a:noFill/>
          <a:ln/>
        </p:spPr>
        <p:txBody>
          <a:bodyPr wrap="square" lIns="0" tIns="0" rIns="0" bIns="0" rtlCol="0" anchor="ctr"/>
          <a:lstStyle/>
          <a:p>
            <a:pPr marL="0" indent="0">
              <a:buNone/>
            </a:pPr>
            <a:r>
              <a:rPr lang="en-US" sz="1500" b="1" dirty="0">
                <a:solidFill>
                  <a:srgbClr val="FFFFFF"/>
                </a:solidFill>
              </a:rPr>
              <a:t>Adobe XD</a:t>
            </a:r>
            <a:endParaRPr lang="en-US" sz="1500" dirty="0"/>
          </a:p>
        </p:txBody>
      </p:sp>
      <p:sp>
        <p:nvSpPr>
          <p:cNvPr id="21" name="Shape 19"/>
          <p:cNvSpPr/>
          <p:nvPr/>
        </p:nvSpPr>
        <p:spPr>
          <a:xfrm>
            <a:off x="8092440" y="1078992"/>
            <a:ext cx="658368" cy="237744"/>
          </a:xfrm>
          <a:prstGeom prst="rect">
            <a:avLst/>
          </a:prstGeom>
          <a:solidFill>
            <a:srgbClr val="FF9100"/>
          </a:solidFill>
          <a:ln w="12700">
            <a:solidFill>
              <a:srgbClr val="FF9100"/>
            </a:solidFill>
            <a:prstDash val="solid"/>
          </a:ln>
        </p:spPr>
      </p:sp>
      <p:sp>
        <p:nvSpPr>
          <p:cNvPr id="22" name="Text 20"/>
          <p:cNvSpPr/>
          <p:nvPr/>
        </p:nvSpPr>
        <p:spPr>
          <a:xfrm>
            <a:off x="8092440" y="1078992"/>
            <a:ext cx="658368" cy="237744"/>
          </a:xfrm>
          <a:prstGeom prst="rect">
            <a:avLst/>
          </a:prstGeom>
          <a:noFill/>
          <a:ln/>
        </p:spPr>
        <p:txBody>
          <a:bodyPr wrap="square" lIns="0" tIns="0" rIns="0" bIns="0" rtlCol="0" anchor="ctr"/>
          <a:lstStyle/>
          <a:p>
            <a:pPr marL="0" indent="0" algn="ctr">
              <a:buNone/>
            </a:pPr>
            <a:r>
              <a:rPr lang="en-US" sz="750" b="1" dirty="0">
                <a:solidFill>
                  <a:srgbClr val="0D1B2A"/>
                </a:solidFill>
              </a:rPr>
              <a:t>Legacy</a:t>
            </a:r>
            <a:endParaRPr lang="en-US" sz="750" dirty="0"/>
          </a:p>
        </p:txBody>
      </p:sp>
      <p:sp>
        <p:nvSpPr>
          <p:cNvPr id="23" name="Text 21"/>
          <p:cNvSpPr/>
          <p:nvPr/>
        </p:nvSpPr>
        <p:spPr>
          <a:xfrm>
            <a:off x="6190488" y="1389888"/>
            <a:ext cx="2523744" cy="219456"/>
          </a:xfrm>
          <a:prstGeom prst="rect">
            <a:avLst/>
          </a:prstGeom>
          <a:noFill/>
          <a:ln/>
        </p:spPr>
        <p:txBody>
          <a:bodyPr wrap="square" lIns="0" tIns="0" rIns="0" bIns="0" rtlCol="0" anchor="ctr"/>
          <a:lstStyle/>
          <a:p>
            <a:pPr marL="0" indent="0">
              <a:buNone/>
            </a:pPr>
            <a:r>
              <a:rPr lang="en-US" sz="950" dirty="0">
                <a:solidFill>
                  <a:srgbClr val="FF9100"/>
                </a:solidFill>
              </a:rPr>
              <a:t>Status niepewny</a:t>
            </a:r>
            <a:endParaRPr lang="en-US" sz="950" dirty="0"/>
          </a:p>
        </p:txBody>
      </p:sp>
      <p:sp>
        <p:nvSpPr>
          <p:cNvPr id="24" name="Text 22"/>
          <p:cNvSpPr/>
          <p:nvPr/>
        </p:nvSpPr>
        <p:spPr>
          <a:xfrm>
            <a:off x="6190488" y="1664208"/>
            <a:ext cx="2523744" cy="2084832"/>
          </a:xfrm>
          <a:prstGeom prst="rect">
            <a:avLst/>
          </a:prstGeom>
          <a:noFill/>
          <a:ln/>
        </p:spPr>
        <p:txBody>
          <a:bodyPr wrap="square" lIns="0" tIns="0" rIns="0" bIns="0" rtlCol="0" anchor="t"/>
          <a:lstStyle/>
          <a:p>
            <a:pPr marL="0" indent="0">
              <a:buNone/>
            </a:pPr>
            <a:r>
              <a:rPr lang="en-US" sz="880" dirty="0">
                <a:solidFill>
                  <a:srgbClr val="8899AA"/>
                </a:solidFill>
              </a:rPr>
              <a:t>Creative Cloud + integracja z Ps/Ai. Auto-Animate, voice prototyping. Windows + macOS. Przyszłość niepewna po próbie przejęcia przez Figma.</a:t>
            </a:r>
            <a:endParaRPr lang="en-US" sz="880" dirty="0"/>
          </a:p>
        </p:txBody>
      </p:sp>
      <p:sp>
        <p:nvSpPr>
          <p:cNvPr id="25" name="Shape 23"/>
          <p:cNvSpPr/>
          <p:nvPr/>
        </p:nvSpPr>
        <p:spPr>
          <a:xfrm>
            <a:off x="320040" y="3913632"/>
            <a:ext cx="8503920" cy="896112"/>
          </a:xfrm>
          <a:prstGeom prst="rect">
            <a:avLst/>
          </a:prstGeom>
          <a:solidFill>
            <a:srgbClr val="0A1929"/>
          </a:solidFill>
          <a:ln w="12700">
            <a:solidFill>
              <a:srgbClr val="1A3050"/>
            </a:solidFill>
            <a:prstDash val="solid"/>
          </a:ln>
        </p:spPr>
      </p:sp>
      <p:sp>
        <p:nvSpPr>
          <p:cNvPr id="26" name="Text 24"/>
          <p:cNvSpPr/>
          <p:nvPr/>
        </p:nvSpPr>
        <p:spPr>
          <a:xfrm>
            <a:off x="457200" y="3950208"/>
            <a:ext cx="8229600" cy="804672"/>
          </a:xfrm>
          <a:prstGeom prst="rect">
            <a:avLst/>
          </a:prstGeom>
          <a:noFill/>
          <a:ln/>
        </p:spPr>
        <p:txBody>
          <a:bodyPr wrap="square" lIns="0" tIns="0" rIns="0" bIns="0" rtlCol="0" anchor="ctr"/>
          <a:lstStyle/>
          <a:p>
            <a:pPr marL="0" indent="0">
              <a:buNone/>
            </a:pPr>
            <a:r>
              <a:rPr lang="en-US" sz="900" dirty="0">
                <a:solidFill>
                  <a:srgbClr val="8899AA"/>
                </a:solidFill>
              </a:rPr>
              <a:t>Kryteria Wyboru: Wielkość zespołu, wymagania współpracy, integracja z workflow deweloperskim, budżet, platforma systemowa.</a:t>
            </a:r>
            <a:endParaRPr lang="en-US" sz="900" dirty="0"/>
          </a:p>
          <a:p>
            <a:pPr marL="0" indent="0">
              <a:buNone/>
            </a:pPr>
            <a:r>
              <a:rPr lang="en-US" sz="900" dirty="0">
                <a:solidFill>
                  <a:srgbClr val="8899AA"/>
                </a:solidFill>
              </a:rPr>
              <a:t>Dla większości nowych projektów i studentów: Figma jest aktualnie optymalnym wyborem — darmowy plan jest bardzo rozbudowany.</a:t>
            </a:r>
            <a:endParaRPr lang="en-US" sz="900" dirty="0"/>
          </a:p>
        </p:txBody>
      </p:sp>
      <p:sp>
        <p:nvSpPr>
          <p:cNvPr id="29" name="Text 27"/>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41 / </a:t>
            </a:r>
            <a:r>
              <a:rPr lang="pl-PL" sz="800" dirty="0" smtClean="0">
                <a:solidFill>
                  <a:srgbClr val="8899AA"/>
                </a:solidFill>
              </a:rPr>
              <a:t>46</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D1B2A"/>
        </a:solidFill>
        <a:effectLst/>
      </p:bgPr>
    </p:bg>
    <p:spTree>
      <p:nvGrpSpPr>
        <p:cNvPr id="1" name=""/>
        <p:cNvGrpSpPr/>
        <p:nvPr/>
      </p:nvGrpSpPr>
      <p:grpSpPr>
        <a:xfrm>
          <a:off x="0" y="0"/>
          <a:ext cx="0" cy="0"/>
          <a:chOff x="0" y="0"/>
          <a:chExt cx="0" cy="0"/>
        </a:xfrm>
      </p:grpSpPr>
      <p:grpSp>
        <p:nvGrpSpPr>
          <p:cNvPr id="43" name="Grupa 42"/>
          <p:cNvGrpSpPr/>
          <p:nvPr/>
        </p:nvGrpSpPr>
        <p:grpSpPr>
          <a:xfrm>
            <a:off x="-2381" y="4884912"/>
            <a:ext cx="9146381" cy="260136"/>
            <a:chOff x="-2381" y="4884912"/>
            <a:chExt cx="9146381" cy="260136"/>
          </a:xfrm>
        </p:grpSpPr>
        <p:sp>
          <p:nvSpPr>
            <p:cNvPr id="44" name="Shape 52"/>
            <p:cNvSpPr/>
            <p:nvPr/>
          </p:nvSpPr>
          <p:spPr>
            <a:xfrm>
              <a:off x="0" y="4884912"/>
              <a:ext cx="9144000" cy="252000"/>
            </a:xfrm>
            <a:prstGeom prst="rect">
              <a:avLst/>
            </a:prstGeom>
            <a:solidFill>
              <a:srgbClr val="071523"/>
            </a:solidFill>
            <a:ln w="12700">
              <a:solidFill>
                <a:srgbClr val="071523"/>
              </a:solidFill>
              <a:prstDash val="solid"/>
            </a:ln>
          </p:spPr>
        </p:sp>
        <p:sp>
          <p:nvSpPr>
            <p:cNvPr id="45"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46" name="Grupa 45"/>
            <p:cNvGrpSpPr/>
            <p:nvPr/>
          </p:nvGrpSpPr>
          <p:grpSpPr>
            <a:xfrm>
              <a:off x="-2381" y="5099329"/>
              <a:ext cx="9146381" cy="45719"/>
              <a:chOff x="-2381" y="5107500"/>
              <a:chExt cx="9111093" cy="37548"/>
            </a:xfrm>
            <a:solidFill>
              <a:schemeClr val="tx1"/>
            </a:solidFill>
          </p:grpSpPr>
          <p:sp>
            <p:nvSpPr>
              <p:cNvPr id="47"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48"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49"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50"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62"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63"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64"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65"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66"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67"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68"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69" name="Shape 52"/>
              <p:cNvSpPr/>
              <p:nvPr/>
            </p:nvSpPr>
            <p:spPr>
              <a:xfrm>
                <a:off x="4356712" y="5107500"/>
                <a:ext cx="198000" cy="36000"/>
              </a:xfrm>
              <a:prstGeom prst="rect">
                <a:avLst/>
              </a:prstGeom>
              <a:solidFill>
                <a:schemeClr val="accent5">
                  <a:lumMod val="20000"/>
                  <a:lumOff val="80000"/>
                </a:schemeClr>
              </a:solidFill>
              <a:ln w="12700">
                <a:noFill/>
                <a:prstDash val="solid"/>
              </a:ln>
            </p:spPr>
          </p:sp>
          <p:sp>
            <p:nvSpPr>
              <p:cNvPr id="70" name="Shape 52"/>
              <p:cNvSpPr/>
              <p:nvPr/>
            </p:nvSpPr>
            <p:spPr>
              <a:xfrm>
                <a:off x="4554712" y="5107500"/>
                <a:ext cx="198000" cy="36000"/>
              </a:xfrm>
              <a:prstGeom prst="rect">
                <a:avLst/>
              </a:prstGeom>
              <a:solidFill>
                <a:schemeClr val="accent5">
                  <a:lumMod val="20000"/>
                  <a:lumOff val="80000"/>
                </a:schemeClr>
              </a:solidFill>
              <a:ln w="12700">
                <a:noFill/>
                <a:prstDash val="solid"/>
              </a:ln>
            </p:spPr>
          </p:sp>
          <p:sp>
            <p:nvSpPr>
              <p:cNvPr id="71" name="Shape 52"/>
              <p:cNvSpPr/>
              <p:nvPr/>
            </p:nvSpPr>
            <p:spPr>
              <a:xfrm>
                <a:off x="4752712" y="5107500"/>
                <a:ext cx="198000" cy="36000"/>
              </a:xfrm>
              <a:prstGeom prst="rect">
                <a:avLst/>
              </a:prstGeom>
              <a:solidFill>
                <a:schemeClr val="accent5">
                  <a:lumMod val="20000"/>
                  <a:lumOff val="80000"/>
                </a:schemeClr>
              </a:solidFill>
              <a:ln w="12700">
                <a:noFill/>
                <a:prstDash val="solid"/>
              </a:ln>
            </p:spPr>
          </p:sp>
          <p:sp>
            <p:nvSpPr>
              <p:cNvPr id="72" name="Shape 52"/>
              <p:cNvSpPr/>
              <p:nvPr/>
            </p:nvSpPr>
            <p:spPr>
              <a:xfrm>
                <a:off x="4950712" y="5107500"/>
                <a:ext cx="198000" cy="36000"/>
              </a:xfrm>
              <a:prstGeom prst="rect">
                <a:avLst/>
              </a:prstGeom>
              <a:solidFill>
                <a:schemeClr val="accent5">
                  <a:lumMod val="20000"/>
                  <a:lumOff val="80000"/>
                </a:schemeClr>
              </a:solidFill>
              <a:ln w="12700">
                <a:noFill/>
                <a:prstDash val="solid"/>
              </a:ln>
            </p:spPr>
          </p:sp>
          <p:sp>
            <p:nvSpPr>
              <p:cNvPr id="73" name="Shape 52"/>
              <p:cNvSpPr/>
              <p:nvPr/>
            </p:nvSpPr>
            <p:spPr>
              <a:xfrm>
                <a:off x="5148712" y="5107500"/>
                <a:ext cx="198000" cy="36000"/>
              </a:xfrm>
              <a:prstGeom prst="rect">
                <a:avLst/>
              </a:prstGeom>
              <a:solidFill>
                <a:schemeClr val="accent5">
                  <a:lumMod val="20000"/>
                  <a:lumOff val="80000"/>
                </a:schemeClr>
              </a:solidFill>
              <a:ln w="12700">
                <a:noFill/>
                <a:prstDash val="solid"/>
              </a:ln>
            </p:spPr>
          </p:sp>
          <p:sp>
            <p:nvSpPr>
              <p:cNvPr id="74" name="Shape 52"/>
              <p:cNvSpPr/>
              <p:nvPr/>
            </p:nvSpPr>
            <p:spPr>
              <a:xfrm>
                <a:off x="5346712" y="5108400"/>
                <a:ext cx="198000" cy="36000"/>
              </a:xfrm>
              <a:prstGeom prst="rect">
                <a:avLst/>
              </a:prstGeom>
              <a:solidFill>
                <a:schemeClr val="accent5">
                  <a:lumMod val="20000"/>
                  <a:lumOff val="80000"/>
                </a:schemeClr>
              </a:solidFill>
              <a:ln w="12700">
                <a:noFill/>
                <a:prstDash val="solid"/>
              </a:ln>
            </p:spPr>
          </p:sp>
          <p:sp>
            <p:nvSpPr>
              <p:cNvPr id="75" name="Shape 52"/>
              <p:cNvSpPr/>
              <p:nvPr/>
            </p:nvSpPr>
            <p:spPr>
              <a:xfrm>
                <a:off x="5544712" y="5108400"/>
                <a:ext cx="198000" cy="36000"/>
              </a:xfrm>
              <a:prstGeom prst="rect">
                <a:avLst/>
              </a:prstGeom>
              <a:solidFill>
                <a:schemeClr val="accent5">
                  <a:lumMod val="20000"/>
                  <a:lumOff val="80000"/>
                </a:schemeClr>
              </a:solidFill>
              <a:ln w="12700">
                <a:noFill/>
                <a:prstDash val="solid"/>
              </a:ln>
            </p:spPr>
          </p:sp>
          <p:sp>
            <p:nvSpPr>
              <p:cNvPr id="76" name="Shape 52"/>
              <p:cNvSpPr/>
              <p:nvPr/>
            </p:nvSpPr>
            <p:spPr>
              <a:xfrm>
                <a:off x="5742712" y="5108400"/>
                <a:ext cx="198000" cy="36000"/>
              </a:xfrm>
              <a:prstGeom prst="rect">
                <a:avLst/>
              </a:prstGeom>
              <a:solidFill>
                <a:schemeClr val="accent5">
                  <a:lumMod val="20000"/>
                  <a:lumOff val="80000"/>
                </a:schemeClr>
              </a:solidFill>
              <a:ln w="12700">
                <a:noFill/>
                <a:prstDash val="solid"/>
              </a:ln>
            </p:spPr>
          </p:sp>
          <p:sp>
            <p:nvSpPr>
              <p:cNvPr id="77" name="Shape 52"/>
              <p:cNvSpPr/>
              <p:nvPr/>
            </p:nvSpPr>
            <p:spPr>
              <a:xfrm>
                <a:off x="5940712" y="5108400"/>
                <a:ext cx="198000" cy="36000"/>
              </a:xfrm>
              <a:prstGeom prst="rect">
                <a:avLst/>
              </a:prstGeom>
              <a:solidFill>
                <a:schemeClr val="accent5">
                  <a:lumMod val="20000"/>
                  <a:lumOff val="80000"/>
                </a:schemeClr>
              </a:solidFill>
              <a:ln w="12700">
                <a:noFill/>
                <a:prstDash val="solid"/>
              </a:ln>
            </p:spPr>
          </p:sp>
          <p:sp>
            <p:nvSpPr>
              <p:cNvPr id="78" name="Shape 52"/>
              <p:cNvSpPr/>
              <p:nvPr/>
            </p:nvSpPr>
            <p:spPr>
              <a:xfrm>
                <a:off x="6138712" y="5108400"/>
                <a:ext cx="198000" cy="36000"/>
              </a:xfrm>
              <a:prstGeom prst="rect">
                <a:avLst/>
              </a:prstGeom>
              <a:solidFill>
                <a:schemeClr val="accent5">
                  <a:lumMod val="20000"/>
                  <a:lumOff val="80000"/>
                </a:schemeClr>
              </a:solidFill>
              <a:ln w="12700">
                <a:noFill/>
                <a:prstDash val="solid"/>
              </a:ln>
            </p:spPr>
          </p:sp>
          <p:sp>
            <p:nvSpPr>
              <p:cNvPr id="79" name="Shape 52"/>
              <p:cNvSpPr/>
              <p:nvPr/>
            </p:nvSpPr>
            <p:spPr>
              <a:xfrm>
                <a:off x="6336712" y="5108400"/>
                <a:ext cx="198000" cy="36000"/>
              </a:xfrm>
              <a:prstGeom prst="rect">
                <a:avLst/>
              </a:prstGeom>
              <a:solidFill>
                <a:schemeClr val="accent5">
                  <a:lumMod val="20000"/>
                  <a:lumOff val="80000"/>
                </a:schemeClr>
              </a:solidFill>
              <a:ln w="12700">
                <a:noFill/>
                <a:prstDash val="solid"/>
              </a:ln>
            </p:spPr>
          </p:sp>
          <p:sp>
            <p:nvSpPr>
              <p:cNvPr id="80" name="Shape 52"/>
              <p:cNvSpPr/>
              <p:nvPr/>
            </p:nvSpPr>
            <p:spPr>
              <a:xfrm>
                <a:off x="6534712" y="5108400"/>
                <a:ext cx="198000" cy="36000"/>
              </a:xfrm>
              <a:prstGeom prst="rect">
                <a:avLst/>
              </a:prstGeom>
              <a:solidFill>
                <a:schemeClr val="accent5">
                  <a:lumMod val="20000"/>
                  <a:lumOff val="80000"/>
                </a:schemeClr>
              </a:solidFill>
              <a:ln w="12700">
                <a:noFill/>
                <a:prstDash val="solid"/>
              </a:ln>
            </p:spPr>
          </p:sp>
          <p:sp>
            <p:nvSpPr>
              <p:cNvPr id="81" name="Shape 52"/>
              <p:cNvSpPr/>
              <p:nvPr/>
            </p:nvSpPr>
            <p:spPr>
              <a:xfrm>
                <a:off x="6732712" y="5108400"/>
                <a:ext cx="198000" cy="36000"/>
              </a:xfrm>
              <a:prstGeom prst="rect">
                <a:avLst/>
              </a:prstGeom>
              <a:solidFill>
                <a:schemeClr val="accent5">
                  <a:lumMod val="20000"/>
                  <a:lumOff val="80000"/>
                </a:schemeClr>
              </a:solidFill>
              <a:ln w="12700">
                <a:noFill/>
                <a:prstDash val="solid"/>
              </a:ln>
            </p:spPr>
          </p:sp>
          <p:sp>
            <p:nvSpPr>
              <p:cNvPr id="82" name="Shape 52"/>
              <p:cNvSpPr/>
              <p:nvPr/>
            </p:nvSpPr>
            <p:spPr>
              <a:xfrm>
                <a:off x="6930712" y="5108400"/>
                <a:ext cx="198000" cy="36000"/>
              </a:xfrm>
              <a:prstGeom prst="rect">
                <a:avLst/>
              </a:prstGeom>
              <a:solidFill>
                <a:schemeClr val="accent5">
                  <a:lumMod val="20000"/>
                  <a:lumOff val="80000"/>
                </a:schemeClr>
              </a:solidFill>
              <a:ln w="12700">
                <a:noFill/>
                <a:prstDash val="solid"/>
              </a:ln>
            </p:spPr>
          </p:sp>
          <p:sp>
            <p:nvSpPr>
              <p:cNvPr id="83" name="Shape 52"/>
              <p:cNvSpPr/>
              <p:nvPr/>
            </p:nvSpPr>
            <p:spPr>
              <a:xfrm>
                <a:off x="7128712" y="5108400"/>
                <a:ext cx="198000" cy="36000"/>
              </a:xfrm>
              <a:prstGeom prst="rect">
                <a:avLst/>
              </a:prstGeom>
              <a:solidFill>
                <a:schemeClr val="accent5">
                  <a:lumMod val="20000"/>
                  <a:lumOff val="80000"/>
                </a:schemeClr>
              </a:solidFill>
              <a:ln w="12700">
                <a:noFill/>
                <a:prstDash val="solid"/>
              </a:ln>
            </p:spPr>
          </p:sp>
          <p:sp>
            <p:nvSpPr>
              <p:cNvPr id="84" name="Shape 52"/>
              <p:cNvSpPr/>
              <p:nvPr/>
            </p:nvSpPr>
            <p:spPr>
              <a:xfrm>
                <a:off x="7326712" y="5108400"/>
                <a:ext cx="198000" cy="36000"/>
              </a:xfrm>
              <a:prstGeom prst="rect">
                <a:avLst/>
              </a:prstGeom>
              <a:solidFill>
                <a:schemeClr val="accent5">
                  <a:lumMod val="20000"/>
                  <a:lumOff val="80000"/>
                </a:schemeClr>
              </a:solidFill>
              <a:ln w="12700">
                <a:noFill/>
                <a:prstDash val="solid"/>
              </a:ln>
            </p:spPr>
          </p:sp>
          <p:sp>
            <p:nvSpPr>
              <p:cNvPr id="85" name="Shape 52"/>
              <p:cNvSpPr/>
              <p:nvPr/>
            </p:nvSpPr>
            <p:spPr>
              <a:xfrm>
                <a:off x="7524712" y="5108400"/>
                <a:ext cx="198000" cy="36000"/>
              </a:xfrm>
              <a:prstGeom prst="rect">
                <a:avLst/>
              </a:prstGeom>
              <a:solidFill>
                <a:schemeClr val="accent5">
                  <a:lumMod val="20000"/>
                  <a:lumOff val="80000"/>
                </a:schemeClr>
              </a:solidFill>
              <a:ln w="12700">
                <a:noFill/>
                <a:prstDash val="solid"/>
              </a:ln>
            </p:spPr>
          </p:sp>
          <p:sp>
            <p:nvSpPr>
              <p:cNvPr id="86" name="Shape 52"/>
              <p:cNvSpPr/>
              <p:nvPr/>
            </p:nvSpPr>
            <p:spPr>
              <a:xfrm>
                <a:off x="7722712" y="5108400"/>
                <a:ext cx="198000" cy="36000"/>
              </a:xfrm>
              <a:prstGeom prst="rect">
                <a:avLst/>
              </a:prstGeom>
              <a:solidFill>
                <a:schemeClr val="accent5">
                  <a:lumMod val="20000"/>
                  <a:lumOff val="80000"/>
                </a:schemeClr>
              </a:solidFill>
              <a:ln w="12700">
                <a:noFill/>
                <a:prstDash val="solid"/>
              </a:ln>
            </p:spPr>
          </p:sp>
          <p:sp>
            <p:nvSpPr>
              <p:cNvPr id="87" name="Shape 52"/>
              <p:cNvSpPr/>
              <p:nvPr/>
            </p:nvSpPr>
            <p:spPr>
              <a:xfrm>
                <a:off x="7920712" y="5109048"/>
                <a:ext cx="198000" cy="36000"/>
              </a:xfrm>
              <a:prstGeom prst="rect">
                <a:avLst/>
              </a:prstGeom>
              <a:solidFill>
                <a:schemeClr val="accent5">
                  <a:lumMod val="20000"/>
                  <a:lumOff val="80000"/>
                </a:schemeClr>
              </a:solidFill>
              <a:ln w="12700">
                <a:noFill/>
                <a:prstDash val="solid"/>
              </a:ln>
            </p:spPr>
          </p:sp>
          <p:sp>
            <p:nvSpPr>
              <p:cNvPr id="88" name="Shape 52"/>
              <p:cNvSpPr/>
              <p:nvPr/>
            </p:nvSpPr>
            <p:spPr>
              <a:xfrm>
                <a:off x="8118712" y="5109048"/>
                <a:ext cx="198000" cy="36000"/>
              </a:xfrm>
              <a:prstGeom prst="rect">
                <a:avLst/>
              </a:prstGeom>
              <a:solidFill>
                <a:schemeClr val="accent5">
                  <a:lumMod val="20000"/>
                  <a:lumOff val="80000"/>
                </a:schemeClr>
              </a:solidFill>
              <a:ln w="12700">
                <a:noFill/>
                <a:prstDash val="solid"/>
              </a:ln>
            </p:spPr>
          </p:sp>
          <p:sp>
            <p:nvSpPr>
              <p:cNvPr id="89" name="Shape 52"/>
              <p:cNvSpPr/>
              <p:nvPr/>
            </p:nvSpPr>
            <p:spPr>
              <a:xfrm>
                <a:off x="8316712" y="5109048"/>
                <a:ext cx="198000" cy="36000"/>
              </a:xfrm>
              <a:prstGeom prst="rect">
                <a:avLst/>
              </a:prstGeom>
              <a:grpFill/>
              <a:ln w="12700">
                <a:noFill/>
                <a:prstDash val="solid"/>
              </a:ln>
            </p:spPr>
          </p:sp>
          <p:sp>
            <p:nvSpPr>
              <p:cNvPr id="90" name="Shape 52"/>
              <p:cNvSpPr/>
              <p:nvPr/>
            </p:nvSpPr>
            <p:spPr>
              <a:xfrm>
                <a:off x="8514712" y="5109048"/>
                <a:ext cx="198000" cy="36000"/>
              </a:xfrm>
              <a:prstGeom prst="rect">
                <a:avLst/>
              </a:prstGeom>
              <a:grpFill/>
              <a:ln w="12700">
                <a:noFill/>
                <a:prstDash val="solid"/>
              </a:ln>
            </p:spPr>
          </p:sp>
          <p:sp>
            <p:nvSpPr>
              <p:cNvPr id="91" name="Shape 52"/>
              <p:cNvSpPr/>
              <p:nvPr/>
            </p:nvSpPr>
            <p:spPr>
              <a:xfrm>
                <a:off x="8712712" y="5109048"/>
                <a:ext cx="198000" cy="36000"/>
              </a:xfrm>
              <a:prstGeom prst="rect">
                <a:avLst/>
              </a:prstGeom>
              <a:grpFill/>
              <a:ln w="12700">
                <a:noFill/>
                <a:prstDash val="solid"/>
              </a:ln>
            </p:spPr>
          </p:sp>
          <p:sp>
            <p:nvSpPr>
              <p:cNvPr id="92"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00E676"/>
          </a:solidFill>
          <a:ln w="12700">
            <a:solidFill>
              <a:srgbClr val="00E676"/>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Narzędzia Wspierające Proces Projektowy</a:t>
            </a:r>
            <a:endParaRPr lang="en-US" sz="2200" dirty="0"/>
          </a:p>
        </p:txBody>
      </p:sp>
      <p:sp>
        <p:nvSpPr>
          <p:cNvPr id="4" name="Shape 2"/>
          <p:cNvSpPr/>
          <p:nvPr/>
        </p:nvSpPr>
        <p:spPr>
          <a:xfrm>
            <a:off x="320040" y="914400"/>
            <a:ext cx="2743200" cy="1645920"/>
          </a:xfrm>
          <a:prstGeom prst="rect">
            <a:avLst/>
          </a:prstGeom>
          <a:solidFill>
            <a:srgbClr val="112233"/>
          </a:solidFill>
          <a:ln w="12700">
            <a:solidFill>
              <a:srgbClr val="1A3050"/>
            </a:solidFill>
            <a:prstDash val="solid"/>
          </a:ln>
        </p:spPr>
      </p:sp>
      <p:sp>
        <p:nvSpPr>
          <p:cNvPr id="5" name="Shape 3"/>
          <p:cNvSpPr/>
          <p:nvPr/>
        </p:nvSpPr>
        <p:spPr>
          <a:xfrm>
            <a:off x="320040" y="914400"/>
            <a:ext cx="45720" cy="1645920"/>
          </a:xfrm>
          <a:prstGeom prst="rect">
            <a:avLst/>
          </a:prstGeom>
          <a:solidFill>
            <a:srgbClr val="00E676"/>
          </a:solidFill>
          <a:ln w="12700">
            <a:solidFill>
              <a:srgbClr val="00E676"/>
            </a:solidFill>
            <a:prstDash val="solid"/>
          </a:ln>
        </p:spPr>
      </p:sp>
      <p:sp>
        <p:nvSpPr>
          <p:cNvPr id="6" name="Text 4"/>
          <p:cNvSpPr/>
          <p:nvPr/>
        </p:nvSpPr>
        <p:spPr>
          <a:xfrm>
            <a:off x="429768" y="1005840"/>
            <a:ext cx="2542032" cy="274320"/>
          </a:xfrm>
          <a:prstGeom prst="rect">
            <a:avLst/>
          </a:prstGeom>
          <a:noFill/>
          <a:ln/>
        </p:spPr>
        <p:txBody>
          <a:bodyPr wrap="square" lIns="0" tIns="0" rIns="0" bIns="0" rtlCol="0" anchor="ctr"/>
          <a:lstStyle/>
          <a:p>
            <a:pPr marL="0" indent="0">
              <a:buNone/>
            </a:pPr>
            <a:r>
              <a:rPr lang="en-US" sz="1100" b="1" dirty="0">
                <a:solidFill>
                  <a:srgbClr val="00E676"/>
                </a:solidFill>
              </a:rPr>
              <a:t>Prototypowanie</a:t>
            </a:r>
            <a:endParaRPr lang="en-US" sz="1100" dirty="0"/>
          </a:p>
        </p:txBody>
      </p:sp>
      <p:sp>
        <p:nvSpPr>
          <p:cNvPr id="7" name="Text 5"/>
          <p:cNvSpPr/>
          <p:nvPr/>
        </p:nvSpPr>
        <p:spPr>
          <a:xfrm>
            <a:off x="429768" y="1353312"/>
            <a:ext cx="2542032" cy="310896"/>
          </a:xfrm>
          <a:prstGeom prst="rect">
            <a:avLst/>
          </a:prstGeom>
          <a:noFill/>
          <a:ln/>
        </p:spPr>
        <p:txBody>
          <a:bodyPr wrap="square" lIns="0" tIns="0" rIns="0" bIns="0" rtlCol="0" anchor="ctr"/>
          <a:lstStyle/>
          <a:p>
            <a:pPr marL="0" indent="0">
              <a:buNone/>
            </a:pPr>
            <a:r>
              <a:rPr lang="en-US" sz="900" dirty="0">
                <a:solidFill>
                  <a:srgbClr val="8899AA"/>
                </a:solidFill>
              </a:rPr>
              <a:t>• Principle — zaawansowane animacje</a:t>
            </a:r>
            <a:endParaRPr lang="en-US" sz="900" dirty="0"/>
          </a:p>
        </p:txBody>
      </p:sp>
      <p:sp>
        <p:nvSpPr>
          <p:cNvPr id="8" name="Text 6"/>
          <p:cNvSpPr/>
          <p:nvPr/>
        </p:nvSpPr>
        <p:spPr>
          <a:xfrm>
            <a:off x="429768" y="1700784"/>
            <a:ext cx="2542032" cy="310896"/>
          </a:xfrm>
          <a:prstGeom prst="rect">
            <a:avLst/>
          </a:prstGeom>
          <a:noFill/>
          <a:ln/>
        </p:spPr>
        <p:txBody>
          <a:bodyPr wrap="square" lIns="0" tIns="0" rIns="0" bIns="0" rtlCol="0" anchor="ctr"/>
          <a:lstStyle/>
          <a:p>
            <a:pPr marL="0" indent="0">
              <a:buNone/>
            </a:pPr>
            <a:r>
              <a:rPr lang="en-US" sz="900" dirty="0">
                <a:solidFill>
                  <a:srgbClr val="8899AA"/>
                </a:solidFill>
              </a:rPr>
              <a:t>• ProtoPie — high-fidelity z sensorami</a:t>
            </a:r>
            <a:endParaRPr lang="en-US" sz="900" dirty="0"/>
          </a:p>
        </p:txBody>
      </p:sp>
      <p:sp>
        <p:nvSpPr>
          <p:cNvPr id="9" name="Text 7"/>
          <p:cNvSpPr/>
          <p:nvPr/>
        </p:nvSpPr>
        <p:spPr>
          <a:xfrm>
            <a:off x="429768" y="2048256"/>
            <a:ext cx="2542032" cy="310896"/>
          </a:xfrm>
          <a:prstGeom prst="rect">
            <a:avLst/>
          </a:prstGeom>
          <a:noFill/>
          <a:ln/>
        </p:spPr>
        <p:txBody>
          <a:bodyPr wrap="square" lIns="0" tIns="0" rIns="0" bIns="0" rtlCol="0" anchor="ctr"/>
          <a:lstStyle/>
          <a:p>
            <a:pPr marL="0" indent="0">
              <a:buNone/>
            </a:pPr>
            <a:r>
              <a:rPr lang="en-US" sz="900" dirty="0">
                <a:solidFill>
                  <a:srgbClr val="8899AA"/>
                </a:solidFill>
              </a:rPr>
              <a:t>• Framer — prototypy z kodem React</a:t>
            </a:r>
            <a:endParaRPr lang="en-US" sz="900" dirty="0"/>
          </a:p>
        </p:txBody>
      </p:sp>
      <p:sp>
        <p:nvSpPr>
          <p:cNvPr id="10" name="Shape 8"/>
          <p:cNvSpPr/>
          <p:nvPr/>
        </p:nvSpPr>
        <p:spPr>
          <a:xfrm>
            <a:off x="3200400" y="914400"/>
            <a:ext cx="2743200" cy="1645920"/>
          </a:xfrm>
          <a:prstGeom prst="rect">
            <a:avLst/>
          </a:prstGeom>
          <a:solidFill>
            <a:srgbClr val="112233"/>
          </a:solidFill>
          <a:ln w="12700">
            <a:solidFill>
              <a:srgbClr val="1A3050"/>
            </a:solidFill>
            <a:prstDash val="solid"/>
          </a:ln>
        </p:spPr>
      </p:sp>
      <p:sp>
        <p:nvSpPr>
          <p:cNvPr id="11" name="Shape 9"/>
          <p:cNvSpPr/>
          <p:nvPr/>
        </p:nvSpPr>
        <p:spPr>
          <a:xfrm>
            <a:off x="3200400" y="914400"/>
            <a:ext cx="45720" cy="1645920"/>
          </a:xfrm>
          <a:prstGeom prst="rect">
            <a:avLst/>
          </a:prstGeom>
          <a:solidFill>
            <a:srgbClr val="00D4FF"/>
          </a:solidFill>
          <a:ln w="12700">
            <a:solidFill>
              <a:srgbClr val="00D4FF"/>
            </a:solidFill>
            <a:prstDash val="solid"/>
          </a:ln>
        </p:spPr>
      </p:sp>
      <p:sp>
        <p:nvSpPr>
          <p:cNvPr id="12" name="Text 10"/>
          <p:cNvSpPr/>
          <p:nvPr/>
        </p:nvSpPr>
        <p:spPr>
          <a:xfrm>
            <a:off x="3310128" y="1005840"/>
            <a:ext cx="2542032" cy="274320"/>
          </a:xfrm>
          <a:prstGeom prst="rect">
            <a:avLst/>
          </a:prstGeom>
          <a:noFill/>
          <a:ln/>
        </p:spPr>
        <p:txBody>
          <a:bodyPr wrap="square" lIns="0" tIns="0" rIns="0" bIns="0" rtlCol="0" anchor="ctr"/>
          <a:lstStyle/>
          <a:p>
            <a:pPr marL="0" indent="0">
              <a:buNone/>
            </a:pPr>
            <a:r>
              <a:rPr lang="en-US" sz="1100" b="1" dirty="0">
                <a:solidFill>
                  <a:srgbClr val="00D4FF"/>
                </a:solidFill>
              </a:rPr>
              <a:t>Testowanie</a:t>
            </a:r>
            <a:endParaRPr lang="en-US" sz="1100" dirty="0"/>
          </a:p>
        </p:txBody>
      </p:sp>
      <p:sp>
        <p:nvSpPr>
          <p:cNvPr id="13" name="Text 11"/>
          <p:cNvSpPr/>
          <p:nvPr/>
        </p:nvSpPr>
        <p:spPr>
          <a:xfrm>
            <a:off x="3310128" y="1353312"/>
            <a:ext cx="2542032" cy="310896"/>
          </a:xfrm>
          <a:prstGeom prst="rect">
            <a:avLst/>
          </a:prstGeom>
          <a:noFill/>
          <a:ln/>
        </p:spPr>
        <p:txBody>
          <a:bodyPr wrap="square" lIns="0" tIns="0" rIns="0" bIns="0" rtlCol="0" anchor="ctr"/>
          <a:lstStyle/>
          <a:p>
            <a:pPr marL="0" indent="0">
              <a:buNone/>
            </a:pPr>
            <a:r>
              <a:rPr lang="en-US" sz="900" dirty="0">
                <a:solidFill>
                  <a:srgbClr val="8899AA"/>
                </a:solidFill>
              </a:rPr>
              <a:t>• Maze — testy użyteczności, heatmapy</a:t>
            </a:r>
            <a:endParaRPr lang="en-US" sz="900" dirty="0"/>
          </a:p>
        </p:txBody>
      </p:sp>
      <p:sp>
        <p:nvSpPr>
          <p:cNvPr id="14" name="Text 12"/>
          <p:cNvSpPr/>
          <p:nvPr/>
        </p:nvSpPr>
        <p:spPr>
          <a:xfrm>
            <a:off x="3310128" y="1700784"/>
            <a:ext cx="2542032" cy="310896"/>
          </a:xfrm>
          <a:prstGeom prst="rect">
            <a:avLst/>
          </a:prstGeom>
          <a:noFill/>
          <a:ln/>
        </p:spPr>
        <p:txBody>
          <a:bodyPr wrap="square" lIns="0" tIns="0" rIns="0" bIns="0" rtlCol="0" anchor="ctr"/>
          <a:lstStyle/>
          <a:p>
            <a:pPr marL="0" indent="0">
              <a:buNone/>
            </a:pPr>
            <a:r>
              <a:rPr lang="en-US" sz="900" dirty="0">
                <a:solidFill>
                  <a:srgbClr val="8899AA"/>
                </a:solidFill>
              </a:rPr>
              <a:t>• UserTesting — zdalne testy z użytkownikami</a:t>
            </a:r>
            <a:endParaRPr lang="en-US" sz="900" dirty="0"/>
          </a:p>
        </p:txBody>
      </p:sp>
      <p:sp>
        <p:nvSpPr>
          <p:cNvPr id="15" name="Text 13"/>
          <p:cNvSpPr/>
          <p:nvPr/>
        </p:nvSpPr>
        <p:spPr>
          <a:xfrm>
            <a:off x="3310128" y="2048256"/>
            <a:ext cx="2542032" cy="310896"/>
          </a:xfrm>
          <a:prstGeom prst="rect">
            <a:avLst/>
          </a:prstGeom>
          <a:noFill/>
          <a:ln/>
        </p:spPr>
        <p:txBody>
          <a:bodyPr wrap="square" lIns="0" tIns="0" rIns="0" bIns="0" rtlCol="0" anchor="ctr"/>
          <a:lstStyle/>
          <a:p>
            <a:pPr marL="0" indent="0">
              <a:buNone/>
            </a:pPr>
            <a:r>
              <a:rPr lang="en-US" sz="900" dirty="0">
                <a:solidFill>
                  <a:srgbClr val="8899AA"/>
                </a:solidFill>
              </a:rPr>
              <a:t>• Lookback — sesje testowe + nagrania</a:t>
            </a:r>
            <a:endParaRPr lang="en-US" sz="900" dirty="0"/>
          </a:p>
        </p:txBody>
      </p:sp>
      <p:sp>
        <p:nvSpPr>
          <p:cNvPr id="16" name="Shape 14"/>
          <p:cNvSpPr/>
          <p:nvPr/>
        </p:nvSpPr>
        <p:spPr>
          <a:xfrm>
            <a:off x="6080760" y="914400"/>
            <a:ext cx="2743200" cy="1645920"/>
          </a:xfrm>
          <a:prstGeom prst="rect">
            <a:avLst/>
          </a:prstGeom>
          <a:solidFill>
            <a:srgbClr val="112233"/>
          </a:solidFill>
          <a:ln w="12700">
            <a:solidFill>
              <a:srgbClr val="1A3050"/>
            </a:solidFill>
            <a:prstDash val="solid"/>
          </a:ln>
        </p:spPr>
      </p:sp>
      <p:sp>
        <p:nvSpPr>
          <p:cNvPr id="17" name="Shape 15"/>
          <p:cNvSpPr/>
          <p:nvPr/>
        </p:nvSpPr>
        <p:spPr>
          <a:xfrm>
            <a:off x="6080760" y="914400"/>
            <a:ext cx="45720" cy="1645920"/>
          </a:xfrm>
          <a:prstGeom prst="rect">
            <a:avLst/>
          </a:prstGeom>
          <a:solidFill>
            <a:srgbClr val="FF2D78"/>
          </a:solidFill>
          <a:ln w="12700">
            <a:solidFill>
              <a:srgbClr val="FF2D78"/>
            </a:solidFill>
            <a:prstDash val="solid"/>
          </a:ln>
        </p:spPr>
      </p:sp>
      <p:sp>
        <p:nvSpPr>
          <p:cNvPr id="18" name="Text 16"/>
          <p:cNvSpPr/>
          <p:nvPr/>
        </p:nvSpPr>
        <p:spPr>
          <a:xfrm>
            <a:off x="6190488" y="1005840"/>
            <a:ext cx="2542032" cy="274320"/>
          </a:xfrm>
          <a:prstGeom prst="rect">
            <a:avLst/>
          </a:prstGeom>
          <a:noFill/>
          <a:ln/>
        </p:spPr>
        <p:txBody>
          <a:bodyPr wrap="square" lIns="0" tIns="0" rIns="0" bIns="0" rtlCol="0" anchor="ctr"/>
          <a:lstStyle/>
          <a:p>
            <a:pPr marL="0" indent="0">
              <a:buNone/>
            </a:pPr>
            <a:r>
              <a:rPr lang="en-US" sz="1100" b="1" dirty="0">
                <a:solidFill>
                  <a:srgbClr val="FF2D78"/>
                </a:solidFill>
              </a:rPr>
              <a:t>Zarządzanie</a:t>
            </a:r>
            <a:endParaRPr lang="en-US" sz="1100" dirty="0"/>
          </a:p>
        </p:txBody>
      </p:sp>
      <p:sp>
        <p:nvSpPr>
          <p:cNvPr id="19" name="Text 17"/>
          <p:cNvSpPr/>
          <p:nvPr/>
        </p:nvSpPr>
        <p:spPr>
          <a:xfrm>
            <a:off x="6190488" y="1353312"/>
            <a:ext cx="2542032" cy="310896"/>
          </a:xfrm>
          <a:prstGeom prst="rect">
            <a:avLst/>
          </a:prstGeom>
          <a:noFill/>
          <a:ln/>
        </p:spPr>
        <p:txBody>
          <a:bodyPr wrap="square" lIns="0" tIns="0" rIns="0" bIns="0" rtlCol="0" anchor="ctr"/>
          <a:lstStyle/>
          <a:p>
            <a:pPr marL="0" indent="0">
              <a:buNone/>
            </a:pPr>
            <a:r>
              <a:rPr lang="en-US" sz="900" dirty="0">
                <a:solidFill>
                  <a:srgbClr val="8899AA"/>
                </a:solidFill>
              </a:rPr>
              <a:t>• Jira — Agile, backlog, sprinty</a:t>
            </a:r>
            <a:endParaRPr lang="en-US" sz="900" dirty="0"/>
          </a:p>
        </p:txBody>
      </p:sp>
      <p:sp>
        <p:nvSpPr>
          <p:cNvPr id="20" name="Text 18"/>
          <p:cNvSpPr/>
          <p:nvPr/>
        </p:nvSpPr>
        <p:spPr>
          <a:xfrm>
            <a:off x="6190488" y="1700784"/>
            <a:ext cx="2542032" cy="310896"/>
          </a:xfrm>
          <a:prstGeom prst="rect">
            <a:avLst/>
          </a:prstGeom>
          <a:noFill/>
          <a:ln/>
        </p:spPr>
        <p:txBody>
          <a:bodyPr wrap="square" lIns="0" tIns="0" rIns="0" bIns="0" rtlCol="0" anchor="ctr"/>
          <a:lstStyle/>
          <a:p>
            <a:pPr marL="0" indent="0">
              <a:buNone/>
            </a:pPr>
            <a:r>
              <a:rPr lang="en-US" sz="900" dirty="0">
                <a:solidFill>
                  <a:srgbClr val="8899AA"/>
                </a:solidFill>
              </a:rPr>
              <a:t>• Trello — Kanban, prostsze projekty</a:t>
            </a:r>
            <a:endParaRPr lang="en-US" sz="900" dirty="0"/>
          </a:p>
        </p:txBody>
      </p:sp>
      <p:sp>
        <p:nvSpPr>
          <p:cNvPr id="21" name="Text 19"/>
          <p:cNvSpPr/>
          <p:nvPr/>
        </p:nvSpPr>
        <p:spPr>
          <a:xfrm>
            <a:off x="6190488" y="2048256"/>
            <a:ext cx="2542032" cy="310896"/>
          </a:xfrm>
          <a:prstGeom prst="rect">
            <a:avLst/>
          </a:prstGeom>
          <a:noFill/>
          <a:ln/>
        </p:spPr>
        <p:txBody>
          <a:bodyPr wrap="square" lIns="0" tIns="0" rIns="0" bIns="0" rtlCol="0" anchor="ctr"/>
          <a:lstStyle/>
          <a:p>
            <a:pPr marL="0" indent="0">
              <a:buNone/>
            </a:pPr>
            <a:r>
              <a:rPr lang="en-US" sz="900" dirty="0">
                <a:solidFill>
                  <a:srgbClr val="8899AA"/>
                </a:solidFill>
              </a:rPr>
              <a:t>• Linear — nowoczesne zarządzanie</a:t>
            </a:r>
            <a:endParaRPr lang="en-US" sz="900" dirty="0"/>
          </a:p>
        </p:txBody>
      </p:sp>
      <p:sp>
        <p:nvSpPr>
          <p:cNvPr id="22" name="Shape 20"/>
          <p:cNvSpPr/>
          <p:nvPr/>
        </p:nvSpPr>
        <p:spPr>
          <a:xfrm>
            <a:off x="320040" y="2724912"/>
            <a:ext cx="2743200" cy="1645920"/>
          </a:xfrm>
          <a:prstGeom prst="rect">
            <a:avLst/>
          </a:prstGeom>
          <a:solidFill>
            <a:srgbClr val="112233"/>
          </a:solidFill>
          <a:ln w="12700">
            <a:solidFill>
              <a:srgbClr val="1A3050"/>
            </a:solidFill>
            <a:prstDash val="solid"/>
          </a:ln>
        </p:spPr>
      </p:sp>
      <p:sp>
        <p:nvSpPr>
          <p:cNvPr id="23" name="Shape 21"/>
          <p:cNvSpPr/>
          <p:nvPr/>
        </p:nvSpPr>
        <p:spPr>
          <a:xfrm>
            <a:off x="320040" y="2724912"/>
            <a:ext cx="45720" cy="1645920"/>
          </a:xfrm>
          <a:prstGeom prst="rect">
            <a:avLst/>
          </a:prstGeom>
          <a:solidFill>
            <a:srgbClr val="B388FF"/>
          </a:solidFill>
          <a:ln w="12700">
            <a:solidFill>
              <a:srgbClr val="B388FF"/>
            </a:solidFill>
            <a:prstDash val="solid"/>
          </a:ln>
        </p:spPr>
      </p:sp>
      <p:sp>
        <p:nvSpPr>
          <p:cNvPr id="24" name="Text 22"/>
          <p:cNvSpPr/>
          <p:nvPr/>
        </p:nvSpPr>
        <p:spPr>
          <a:xfrm>
            <a:off x="429768" y="2816352"/>
            <a:ext cx="2542032" cy="274320"/>
          </a:xfrm>
          <a:prstGeom prst="rect">
            <a:avLst/>
          </a:prstGeom>
          <a:noFill/>
          <a:ln/>
        </p:spPr>
        <p:txBody>
          <a:bodyPr wrap="square" lIns="0" tIns="0" rIns="0" bIns="0" rtlCol="0" anchor="ctr"/>
          <a:lstStyle/>
          <a:p>
            <a:pPr marL="0" indent="0">
              <a:buNone/>
            </a:pPr>
            <a:r>
              <a:rPr lang="en-US" sz="1100" b="1" dirty="0">
                <a:solidFill>
                  <a:srgbClr val="B388FF"/>
                </a:solidFill>
              </a:rPr>
              <a:t>Design Systems</a:t>
            </a:r>
            <a:endParaRPr lang="en-US" sz="1100" dirty="0"/>
          </a:p>
        </p:txBody>
      </p:sp>
      <p:sp>
        <p:nvSpPr>
          <p:cNvPr id="25" name="Text 23"/>
          <p:cNvSpPr/>
          <p:nvPr/>
        </p:nvSpPr>
        <p:spPr>
          <a:xfrm>
            <a:off x="429768" y="3163824"/>
            <a:ext cx="2542032" cy="310896"/>
          </a:xfrm>
          <a:prstGeom prst="rect">
            <a:avLst/>
          </a:prstGeom>
          <a:noFill/>
          <a:ln/>
        </p:spPr>
        <p:txBody>
          <a:bodyPr wrap="square" lIns="0" tIns="0" rIns="0" bIns="0" rtlCol="0" anchor="ctr"/>
          <a:lstStyle/>
          <a:p>
            <a:pPr marL="0" indent="0">
              <a:buNone/>
            </a:pPr>
            <a:r>
              <a:rPr lang="en-US" sz="900" dirty="0">
                <a:solidFill>
                  <a:srgbClr val="8899AA"/>
                </a:solidFill>
              </a:rPr>
              <a:t>• Storybook — dokumentacja komponentów</a:t>
            </a:r>
            <a:endParaRPr lang="en-US" sz="900" dirty="0"/>
          </a:p>
        </p:txBody>
      </p:sp>
      <p:sp>
        <p:nvSpPr>
          <p:cNvPr id="26" name="Text 24"/>
          <p:cNvSpPr/>
          <p:nvPr/>
        </p:nvSpPr>
        <p:spPr>
          <a:xfrm>
            <a:off x="429768" y="3511296"/>
            <a:ext cx="2542032" cy="310896"/>
          </a:xfrm>
          <a:prstGeom prst="rect">
            <a:avLst/>
          </a:prstGeom>
          <a:noFill/>
          <a:ln/>
        </p:spPr>
        <p:txBody>
          <a:bodyPr wrap="square" lIns="0" tIns="0" rIns="0" bIns="0" rtlCol="0" anchor="ctr"/>
          <a:lstStyle/>
          <a:p>
            <a:pPr marL="0" indent="0">
              <a:buNone/>
            </a:pPr>
            <a:r>
              <a:rPr lang="en-US" sz="900" dirty="0">
                <a:solidFill>
                  <a:srgbClr val="8899AA"/>
                </a:solidFill>
              </a:rPr>
              <a:t>• Zeroheight — dokumentacja DS</a:t>
            </a:r>
            <a:endParaRPr lang="en-US" sz="900" dirty="0"/>
          </a:p>
        </p:txBody>
      </p:sp>
      <p:sp>
        <p:nvSpPr>
          <p:cNvPr id="27" name="Text 25"/>
          <p:cNvSpPr/>
          <p:nvPr/>
        </p:nvSpPr>
        <p:spPr>
          <a:xfrm>
            <a:off x="429768" y="3858768"/>
            <a:ext cx="2542032" cy="310896"/>
          </a:xfrm>
          <a:prstGeom prst="rect">
            <a:avLst/>
          </a:prstGeom>
          <a:noFill/>
          <a:ln/>
        </p:spPr>
        <p:txBody>
          <a:bodyPr wrap="square" lIns="0" tIns="0" rIns="0" bIns="0" rtlCol="0" anchor="ctr"/>
          <a:lstStyle/>
          <a:p>
            <a:pPr marL="0" indent="0">
              <a:buNone/>
            </a:pPr>
            <a:r>
              <a:rPr lang="en-US" sz="900" dirty="0">
                <a:solidFill>
                  <a:srgbClr val="8899AA"/>
                </a:solidFill>
              </a:rPr>
              <a:t>• Figma Variables — design tokens</a:t>
            </a:r>
            <a:endParaRPr lang="en-US" sz="900" dirty="0"/>
          </a:p>
        </p:txBody>
      </p:sp>
      <p:sp>
        <p:nvSpPr>
          <p:cNvPr id="28" name="Shape 26"/>
          <p:cNvSpPr/>
          <p:nvPr/>
        </p:nvSpPr>
        <p:spPr>
          <a:xfrm>
            <a:off x="3200400" y="2724912"/>
            <a:ext cx="2743200" cy="1645920"/>
          </a:xfrm>
          <a:prstGeom prst="rect">
            <a:avLst/>
          </a:prstGeom>
          <a:solidFill>
            <a:srgbClr val="112233"/>
          </a:solidFill>
          <a:ln w="12700">
            <a:solidFill>
              <a:srgbClr val="1A3050"/>
            </a:solidFill>
            <a:prstDash val="solid"/>
          </a:ln>
        </p:spPr>
      </p:sp>
      <p:sp>
        <p:nvSpPr>
          <p:cNvPr id="29" name="Shape 27"/>
          <p:cNvSpPr/>
          <p:nvPr/>
        </p:nvSpPr>
        <p:spPr>
          <a:xfrm>
            <a:off x="3200400" y="2724912"/>
            <a:ext cx="45720" cy="1645920"/>
          </a:xfrm>
          <a:prstGeom prst="rect">
            <a:avLst/>
          </a:prstGeom>
          <a:solidFill>
            <a:srgbClr val="FF9100"/>
          </a:solidFill>
          <a:ln w="12700">
            <a:solidFill>
              <a:srgbClr val="FF9100"/>
            </a:solidFill>
            <a:prstDash val="solid"/>
          </a:ln>
        </p:spPr>
      </p:sp>
      <p:sp>
        <p:nvSpPr>
          <p:cNvPr id="30" name="Text 28"/>
          <p:cNvSpPr/>
          <p:nvPr/>
        </p:nvSpPr>
        <p:spPr>
          <a:xfrm>
            <a:off x="3310128" y="2816352"/>
            <a:ext cx="2542032" cy="274320"/>
          </a:xfrm>
          <a:prstGeom prst="rect">
            <a:avLst/>
          </a:prstGeom>
          <a:noFill/>
          <a:ln/>
        </p:spPr>
        <p:txBody>
          <a:bodyPr wrap="square" lIns="0" tIns="0" rIns="0" bIns="0" rtlCol="0" anchor="ctr"/>
          <a:lstStyle/>
          <a:p>
            <a:pPr marL="0" indent="0">
              <a:buNone/>
            </a:pPr>
            <a:r>
              <a:rPr lang="en-US" sz="1100" b="1" dirty="0">
                <a:solidFill>
                  <a:srgbClr val="FF9100"/>
                </a:solidFill>
              </a:rPr>
              <a:t>Kolaboracja</a:t>
            </a:r>
            <a:endParaRPr lang="en-US" sz="1100" dirty="0"/>
          </a:p>
        </p:txBody>
      </p:sp>
      <p:sp>
        <p:nvSpPr>
          <p:cNvPr id="31" name="Text 29"/>
          <p:cNvSpPr/>
          <p:nvPr/>
        </p:nvSpPr>
        <p:spPr>
          <a:xfrm>
            <a:off x="3310128" y="3163824"/>
            <a:ext cx="2542032" cy="310896"/>
          </a:xfrm>
          <a:prstGeom prst="rect">
            <a:avLst/>
          </a:prstGeom>
          <a:noFill/>
          <a:ln/>
        </p:spPr>
        <p:txBody>
          <a:bodyPr wrap="square" lIns="0" tIns="0" rIns="0" bIns="0" rtlCol="0" anchor="ctr"/>
          <a:lstStyle/>
          <a:p>
            <a:pPr marL="0" indent="0">
              <a:buNone/>
            </a:pPr>
            <a:r>
              <a:rPr lang="en-US" sz="900" dirty="0">
                <a:solidFill>
                  <a:srgbClr val="8899AA"/>
                </a:solidFill>
              </a:rPr>
              <a:t>• Miro — wirtualna tablica, warsztaty</a:t>
            </a:r>
            <a:endParaRPr lang="en-US" sz="900" dirty="0"/>
          </a:p>
        </p:txBody>
      </p:sp>
      <p:sp>
        <p:nvSpPr>
          <p:cNvPr id="32" name="Text 30"/>
          <p:cNvSpPr/>
          <p:nvPr/>
        </p:nvSpPr>
        <p:spPr>
          <a:xfrm>
            <a:off x="3310128" y="3511296"/>
            <a:ext cx="2542032" cy="310896"/>
          </a:xfrm>
          <a:prstGeom prst="rect">
            <a:avLst/>
          </a:prstGeom>
          <a:noFill/>
          <a:ln/>
        </p:spPr>
        <p:txBody>
          <a:bodyPr wrap="square" lIns="0" tIns="0" rIns="0" bIns="0" rtlCol="0" anchor="ctr"/>
          <a:lstStyle/>
          <a:p>
            <a:pPr marL="0" indent="0">
              <a:buNone/>
            </a:pPr>
            <a:r>
              <a:rPr lang="en-US" sz="900" dirty="0">
                <a:solidFill>
                  <a:srgbClr val="8899AA"/>
                </a:solidFill>
              </a:rPr>
              <a:t>• FigJam — whiteboard od Figma</a:t>
            </a:r>
            <a:endParaRPr lang="en-US" sz="900" dirty="0"/>
          </a:p>
        </p:txBody>
      </p:sp>
      <p:sp>
        <p:nvSpPr>
          <p:cNvPr id="33" name="Text 31"/>
          <p:cNvSpPr/>
          <p:nvPr/>
        </p:nvSpPr>
        <p:spPr>
          <a:xfrm>
            <a:off x="3310128" y="3858768"/>
            <a:ext cx="2542032" cy="310896"/>
          </a:xfrm>
          <a:prstGeom prst="rect">
            <a:avLst/>
          </a:prstGeom>
          <a:noFill/>
          <a:ln/>
        </p:spPr>
        <p:txBody>
          <a:bodyPr wrap="square" lIns="0" tIns="0" rIns="0" bIns="0" rtlCol="0" anchor="ctr"/>
          <a:lstStyle/>
          <a:p>
            <a:pPr marL="0" indent="0">
              <a:buNone/>
            </a:pPr>
            <a:r>
              <a:rPr lang="en-US" sz="900" dirty="0">
                <a:solidFill>
                  <a:srgbClr val="8899AA"/>
                </a:solidFill>
              </a:rPr>
              <a:t>• Notion — dokumentacja, wiki</a:t>
            </a:r>
            <a:endParaRPr lang="en-US" sz="900" dirty="0"/>
          </a:p>
        </p:txBody>
      </p:sp>
      <p:sp>
        <p:nvSpPr>
          <p:cNvPr id="34" name="Shape 32"/>
          <p:cNvSpPr/>
          <p:nvPr/>
        </p:nvSpPr>
        <p:spPr>
          <a:xfrm>
            <a:off x="6080760" y="2724912"/>
            <a:ext cx="2743200" cy="1645920"/>
          </a:xfrm>
          <a:prstGeom prst="rect">
            <a:avLst/>
          </a:prstGeom>
          <a:solidFill>
            <a:srgbClr val="112233"/>
          </a:solidFill>
          <a:ln w="12700">
            <a:solidFill>
              <a:srgbClr val="1A3050"/>
            </a:solidFill>
            <a:prstDash val="solid"/>
          </a:ln>
        </p:spPr>
      </p:sp>
      <p:sp>
        <p:nvSpPr>
          <p:cNvPr id="35" name="Shape 33"/>
          <p:cNvSpPr/>
          <p:nvPr/>
        </p:nvSpPr>
        <p:spPr>
          <a:xfrm>
            <a:off x="6080760" y="2724912"/>
            <a:ext cx="45720" cy="1645920"/>
          </a:xfrm>
          <a:prstGeom prst="rect">
            <a:avLst/>
          </a:prstGeom>
          <a:solidFill>
            <a:srgbClr val="FFD600"/>
          </a:solidFill>
          <a:ln w="12700">
            <a:solidFill>
              <a:srgbClr val="FFD600"/>
            </a:solidFill>
            <a:prstDash val="solid"/>
          </a:ln>
        </p:spPr>
      </p:sp>
      <p:sp>
        <p:nvSpPr>
          <p:cNvPr id="36" name="Text 34"/>
          <p:cNvSpPr/>
          <p:nvPr/>
        </p:nvSpPr>
        <p:spPr>
          <a:xfrm>
            <a:off x="6190488" y="2816352"/>
            <a:ext cx="2542032" cy="274320"/>
          </a:xfrm>
          <a:prstGeom prst="rect">
            <a:avLst/>
          </a:prstGeom>
          <a:noFill/>
          <a:ln/>
        </p:spPr>
        <p:txBody>
          <a:bodyPr wrap="square" lIns="0" tIns="0" rIns="0" bIns="0" rtlCol="0" anchor="ctr"/>
          <a:lstStyle/>
          <a:p>
            <a:pPr marL="0" indent="0">
              <a:buNone/>
            </a:pPr>
            <a:r>
              <a:rPr lang="en-US" sz="1100" b="1" dirty="0">
                <a:solidFill>
                  <a:srgbClr val="FFD600"/>
                </a:solidFill>
              </a:rPr>
              <a:t>Dostępność</a:t>
            </a:r>
            <a:endParaRPr lang="en-US" sz="1100" dirty="0"/>
          </a:p>
        </p:txBody>
      </p:sp>
      <p:sp>
        <p:nvSpPr>
          <p:cNvPr id="37" name="Text 35"/>
          <p:cNvSpPr/>
          <p:nvPr/>
        </p:nvSpPr>
        <p:spPr>
          <a:xfrm>
            <a:off x="6190488" y="3163824"/>
            <a:ext cx="2542032" cy="310896"/>
          </a:xfrm>
          <a:prstGeom prst="rect">
            <a:avLst/>
          </a:prstGeom>
          <a:noFill/>
          <a:ln/>
        </p:spPr>
        <p:txBody>
          <a:bodyPr wrap="square" lIns="0" tIns="0" rIns="0" bIns="0" rtlCol="0" anchor="ctr"/>
          <a:lstStyle/>
          <a:p>
            <a:pPr marL="0" indent="0">
              <a:buNone/>
            </a:pPr>
            <a:r>
              <a:rPr lang="en-US" sz="900" dirty="0">
                <a:solidFill>
                  <a:srgbClr val="8899AA"/>
                </a:solidFill>
              </a:rPr>
              <a:t>• Stark — plugin Figma/Sketch (kontrast)</a:t>
            </a:r>
            <a:endParaRPr lang="en-US" sz="900" dirty="0"/>
          </a:p>
        </p:txBody>
      </p:sp>
      <p:sp>
        <p:nvSpPr>
          <p:cNvPr id="38" name="Text 36"/>
          <p:cNvSpPr/>
          <p:nvPr/>
        </p:nvSpPr>
        <p:spPr>
          <a:xfrm>
            <a:off x="6190488" y="3511296"/>
            <a:ext cx="2542032" cy="310896"/>
          </a:xfrm>
          <a:prstGeom prst="rect">
            <a:avLst/>
          </a:prstGeom>
          <a:noFill/>
          <a:ln/>
        </p:spPr>
        <p:txBody>
          <a:bodyPr wrap="square" lIns="0" tIns="0" rIns="0" bIns="0" rtlCol="0" anchor="ctr"/>
          <a:lstStyle/>
          <a:p>
            <a:pPr marL="0" indent="0">
              <a:buNone/>
            </a:pPr>
            <a:r>
              <a:rPr lang="en-US" sz="900" dirty="0">
                <a:solidFill>
                  <a:srgbClr val="8899AA"/>
                </a:solidFill>
              </a:rPr>
              <a:t>• axe DevTools — automatyczne testy a11y</a:t>
            </a:r>
            <a:endParaRPr lang="en-US" sz="900" dirty="0"/>
          </a:p>
        </p:txBody>
      </p:sp>
      <p:sp>
        <p:nvSpPr>
          <p:cNvPr id="39" name="Text 37"/>
          <p:cNvSpPr/>
          <p:nvPr/>
        </p:nvSpPr>
        <p:spPr>
          <a:xfrm>
            <a:off x="6190488" y="3858768"/>
            <a:ext cx="2542032" cy="310896"/>
          </a:xfrm>
          <a:prstGeom prst="rect">
            <a:avLst/>
          </a:prstGeom>
          <a:noFill/>
          <a:ln/>
        </p:spPr>
        <p:txBody>
          <a:bodyPr wrap="square" lIns="0" tIns="0" rIns="0" bIns="0" rtlCol="0" anchor="ctr"/>
          <a:lstStyle/>
          <a:p>
            <a:pPr marL="0" indent="0">
              <a:buNone/>
            </a:pPr>
            <a:r>
              <a:rPr lang="en-US" sz="900" dirty="0">
                <a:solidFill>
                  <a:srgbClr val="8899AA"/>
                </a:solidFill>
              </a:rPr>
              <a:t>• WebAIM — kontrast checker online</a:t>
            </a:r>
            <a:endParaRPr lang="en-US" sz="900" dirty="0"/>
          </a:p>
        </p:txBody>
      </p:sp>
      <p:sp>
        <p:nvSpPr>
          <p:cNvPr id="42" name="Text 40"/>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42 / </a:t>
            </a:r>
            <a:r>
              <a:rPr lang="pl-PL" sz="800" dirty="0" smtClean="0">
                <a:solidFill>
                  <a:srgbClr val="8899AA"/>
                </a:solidFill>
              </a:rPr>
              <a:t>46</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D1B2A"/>
        </a:solidFill>
        <a:effectLst/>
      </p:bgPr>
    </p:bg>
    <p:spTree>
      <p:nvGrpSpPr>
        <p:cNvPr id="1" name=""/>
        <p:cNvGrpSpPr/>
        <p:nvPr/>
      </p:nvGrpSpPr>
      <p:grpSpPr>
        <a:xfrm>
          <a:off x="0" y="0"/>
          <a:ext cx="0" cy="0"/>
          <a:chOff x="0" y="0"/>
          <a:chExt cx="0" cy="0"/>
        </a:xfrm>
      </p:grpSpPr>
      <p:grpSp>
        <p:nvGrpSpPr>
          <p:cNvPr id="41" name="Grupa 40"/>
          <p:cNvGrpSpPr/>
          <p:nvPr/>
        </p:nvGrpSpPr>
        <p:grpSpPr>
          <a:xfrm>
            <a:off x="-2381" y="4884912"/>
            <a:ext cx="9146381" cy="260136"/>
            <a:chOff x="-2381" y="4884912"/>
            <a:chExt cx="9146381" cy="260136"/>
          </a:xfrm>
        </p:grpSpPr>
        <p:sp>
          <p:nvSpPr>
            <p:cNvPr id="42" name="Shape 52"/>
            <p:cNvSpPr/>
            <p:nvPr/>
          </p:nvSpPr>
          <p:spPr>
            <a:xfrm>
              <a:off x="0" y="4884912"/>
              <a:ext cx="9144000" cy="252000"/>
            </a:xfrm>
            <a:prstGeom prst="rect">
              <a:avLst/>
            </a:prstGeom>
            <a:solidFill>
              <a:srgbClr val="071523"/>
            </a:solidFill>
            <a:ln w="12700">
              <a:solidFill>
                <a:srgbClr val="071523"/>
              </a:solidFill>
              <a:prstDash val="solid"/>
            </a:ln>
          </p:spPr>
        </p:sp>
        <p:sp>
          <p:nvSpPr>
            <p:cNvPr id="43"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44" name="Grupa 43"/>
            <p:cNvGrpSpPr/>
            <p:nvPr/>
          </p:nvGrpSpPr>
          <p:grpSpPr>
            <a:xfrm>
              <a:off x="-2381" y="5099329"/>
              <a:ext cx="9146381" cy="45719"/>
              <a:chOff x="-2381" y="5107500"/>
              <a:chExt cx="9111093" cy="37548"/>
            </a:xfrm>
            <a:solidFill>
              <a:schemeClr val="tx1"/>
            </a:solidFill>
          </p:grpSpPr>
          <p:sp>
            <p:nvSpPr>
              <p:cNvPr id="45"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46"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47"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48"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49"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50"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62"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63"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64"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65"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66"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67" name="Shape 52"/>
              <p:cNvSpPr/>
              <p:nvPr/>
            </p:nvSpPr>
            <p:spPr>
              <a:xfrm>
                <a:off x="4356712" y="5107500"/>
                <a:ext cx="198000" cy="36000"/>
              </a:xfrm>
              <a:prstGeom prst="rect">
                <a:avLst/>
              </a:prstGeom>
              <a:solidFill>
                <a:schemeClr val="accent5">
                  <a:lumMod val="20000"/>
                  <a:lumOff val="80000"/>
                </a:schemeClr>
              </a:solidFill>
              <a:ln w="12700">
                <a:noFill/>
                <a:prstDash val="solid"/>
              </a:ln>
            </p:spPr>
          </p:sp>
          <p:sp>
            <p:nvSpPr>
              <p:cNvPr id="68" name="Shape 52"/>
              <p:cNvSpPr/>
              <p:nvPr/>
            </p:nvSpPr>
            <p:spPr>
              <a:xfrm>
                <a:off x="4554712" y="5107500"/>
                <a:ext cx="198000" cy="36000"/>
              </a:xfrm>
              <a:prstGeom prst="rect">
                <a:avLst/>
              </a:prstGeom>
              <a:solidFill>
                <a:schemeClr val="accent5">
                  <a:lumMod val="20000"/>
                  <a:lumOff val="80000"/>
                </a:schemeClr>
              </a:solidFill>
              <a:ln w="12700">
                <a:noFill/>
                <a:prstDash val="solid"/>
              </a:ln>
            </p:spPr>
          </p:sp>
          <p:sp>
            <p:nvSpPr>
              <p:cNvPr id="69" name="Shape 52"/>
              <p:cNvSpPr/>
              <p:nvPr/>
            </p:nvSpPr>
            <p:spPr>
              <a:xfrm>
                <a:off x="4752712" y="5107500"/>
                <a:ext cx="198000" cy="36000"/>
              </a:xfrm>
              <a:prstGeom prst="rect">
                <a:avLst/>
              </a:prstGeom>
              <a:solidFill>
                <a:schemeClr val="accent5">
                  <a:lumMod val="20000"/>
                  <a:lumOff val="80000"/>
                </a:schemeClr>
              </a:solidFill>
              <a:ln w="12700">
                <a:noFill/>
                <a:prstDash val="solid"/>
              </a:ln>
            </p:spPr>
          </p:sp>
          <p:sp>
            <p:nvSpPr>
              <p:cNvPr id="70" name="Shape 52"/>
              <p:cNvSpPr/>
              <p:nvPr/>
            </p:nvSpPr>
            <p:spPr>
              <a:xfrm>
                <a:off x="4950712" y="5107500"/>
                <a:ext cx="198000" cy="36000"/>
              </a:xfrm>
              <a:prstGeom prst="rect">
                <a:avLst/>
              </a:prstGeom>
              <a:solidFill>
                <a:schemeClr val="accent5">
                  <a:lumMod val="20000"/>
                  <a:lumOff val="80000"/>
                </a:schemeClr>
              </a:solidFill>
              <a:ln w="12700">
                <a:noFill/>
                <a:prstDash val="solid"/>
              </a:ln>
            </p:spPr>
          </p:sp>
          <p:sp>
            <p:nvSpPr>
              <p:cNvPr id="71" name="Shape 52"/>
              <p:cNvSpPr/>
              <p:nvPr/>
            </p:nvSpPr>
            <p:spPr>
              <a:xfrm>
                <a:off x="5148712" y="5107500"/>
                <a:ext cx="198000" cy="36000"/>
              </a:xfrm>
              <a:prstGeom prst="rect">
                <a:avLst/>
              </a:prstGeom>
              <a:solidFill>
                <a:schemeClr val="accent5">
                  <a:lumMod val="20000"/>
                  <a:lumOff val="80000"/>
                </a:schemeClr>
              </a:solidFill>
              <a:ln w="12700">
                <a:noFill/>
                <a:prstDash val="solid"/>
              </a:ln>
            </p:spPr>
          </p:sp>
          <p:sp>
            <p:nvSpPr>
              <p:cNvPr id="72" name="Shape 52"/>
              <p:cNvSpPr/>
              <p:nvPr/>
            </p:nvSpPr>
            <p:spPr>
              <a:xfrm>
                <a:off x="5346712" y="5108400"/>
                <a:ext cx="198000" cy="36000"/>
              </a:xfrm>
              <a:prstGeom prst="rect">
                <a:avLst/>
              </a:prstGeom>
              <a:solidFill>
                <a:schemeClr val="accent5">
                  <a:lumMod val="20000"/>
                  <a:lumOff val="80000"/>
                </a:schemeClr>
              </a:solidFill>
              <a:ln w="12700">
                <a:noFill/>
                <a:prstDash val="solid"/>
              </a:ln>
            </p:spPr>
          </p:sp>
          <p:sp>
            <p:nvSpPr>
              <p:cNvPr id="73" name="Shape 52"/>
              <p:cNvSpPr/>
              <p:nvPr/>
            </p:nvSpPr>
            <p:spPr>
              <a:xfrm>
                <a:off x="5544712" y="5108400"/>
                <a:ext cx="198000" cy="36000"/>
              </a:xfrm>
              <a:prstGeom prst="rect">
                <a:avLst/>
              </a:prstGeom>
              <a:solidFill>
                <a:schemeClr val="accent5">
                  <a:lumMod val="20000"/>
                  <a:lumOff val="80000"/>
                </a:schemeClr>
              </a:solidFill>
              <a:ln w="12700">
                <a:noFill/>
                <a:prstDash val="solid"/>
              </a:ln>
            </p:spPr>
          </p:sp>
          <p:sp>
            <p:nvSpPr>
              <p:cNvPr id="74" name="Shape 52"/>
              <p:cNvSpPr/>
              <p:nvPr/>
            </p:nvSpPr>
            <p:spPr>
              <a:xfrm>
                <a:off x="5742712" y="5108400"/>
                <a:ext cx="198000" cy="36000"/>
              </a:xfrm>
              <a:prstGeom prst="rect">
                <a:avLst/>
              </a:prstGeom>
              <a:solidFill>
                <a:schemeClr val="accent5">
                  <a:lumMod val="20000"/>
                  <a:lumOff val="80000"/>
                </a:schemeClr>
              </a:solidFill>
              <a:ln w="12700">
                <a:noFill/>
                <a:prstDash val="solid"/>
              </a:ln>
            </p:spPr>
          </p:sp>
          <p:sp>
            <p:nvSpPr>
              <p:cNvPr id="75" name="Shape 52"/>
              <p:cNvSpPr/>
              <p:nvPr/>
            </p:nvSpPr>
            <p:spPr>
              <a:xfrm>
                <a:off x="5940712" y="5108400"/>
                <a:ext cx="198000" cy="36000"/>
              </a:xfrm>
              <a:prstGeom prst="rect">
                <a:avLst/>
              </a:prstGeom>
              <a:solidFill>
                <a:schemeClr val="accent5">
                  <a:lumMod val="20000"/>
                  <a:lumOff val="80000"/>
                </a:schemeClr>
              </a:solidFill>
              <a:ln w="12700">
                <a:noFill/>
                <a:prstDash val="solid"/>
              </a:ln>
            </p:spPr>
          </p:sp>
          <p:sp>
            <p:nvSpPr>
              <p:cNvPr id="76" name="Shape 52"/>
              <p:cNvSpPr/>
              <p:nvPr/>
            </p:nvSpPr>
            <p:spPr>
              <a:xfrm>
                <a:off x="6138712" y="5108400"/>
                <a:ext cx="198000" cy="36000"/>
              </a:xfrm>
              <a:prstGeom prst="rect">
                <a:avLst/>
              </a:prstGeom>
              <a:solidFill>
                <a:schemeClr val="accent5">
                  <a:lumMod val="20000"/>
                  <a:lumOff val="80000"/>
                </a:schemeClr>
              </a:solidFill>
              <a:ln w="12700">
                <a:noFill/>
                <a:prstDash val="solid"/>
              </a:ln>
            </p:spPr>
          </p:sp>
          <p:sp>
            <p:nvSpPr>
              <p:cNvPr id="77" name="Shape 52"/>
              <p:cNvSpPr/>
              <p:nvPr/>
            </p:nvSpPr>
            <p:spPr>
              <a:xfrm>
                <a:off x="6336712" y="5108400"/>
                <a:ext cx="198000" cy="36000"/>
              </a:xfrm>
              <a:prstGeom prst="rect">
                <a:avLst/>
              </a:prstGeom>
              <a:solidFill>
                <a:schemeClr val="accent5">
                  <a:lumMod val="20000"/>
                  <a:lumOff val="80000"/>
                </a:schemeClr>
              </a:solidFill>
              <a:ln w="12700">
                <a:noFill/>
                <a:prstDash val="solid"/>
              </a:ln>
            </p:spPr>
          </p:sp>
          <p:sp>
            <p:nvSpPr>
              <p:cNvPr id="78" name="Shape 52"/>
              <p:cNvSpPr/>
              <p:nvPr/>
            </p:nvSpPr>
            <p:spPr>
              <a:xfrm>
                <a:off x="6534712" y="5108400"/>
                <a:ext cx="198000" cy="36000"/>
              </a:xfrm>
              <a:prstGeom prst="rect">
                <a:avLst/>
              </a:prstGeom>
              <a:solidFill>
                <a:schemeClr val="accent5">
                  <a:lumMod val="20000"/>
                  <a:lumOff val="80000"/>
                </a:schemeClr>
              </a:solidFill>
              <a:ln w="12700">
                <a:noFill/>
                <a:prstDash val="solid"/>
              </a:ln>
            </p:spPr>
          </p:sp>
          <p:sp>
            <p:nvSpPr>
              <p:cNvPr id="79" name="Shape 52"/>
              <p:cNvSpPr/>
              <p:nvPr/>
            </p:nvSpPr>
            <p:spPr>
              <a:xfrm>
                <a:off x="6732712" y="5108400"/>
                <a:ext cx="198000" cy="36000"/>
              </a:xfrm>
              <a:prstGeom prst="rect">
                <a:avLst/>
              </a:prstGeom>
              <a:solidFill>
                <a:schemeClr val="accent5">
                  <a:lumMod val="20000"/>
                  <a:lumOff val="80000"/>
                </a:schemeClr>
              </a:solidFill>
              <a:ln w="12700">
                <a:noFill/>
                <a:prstDash val="solid"/>
              </a:ln>
            </p:spPr>
          </p:sp>
          <p:sp>
            <p:nvSpPr>
              <p:cNvPr id="80" name="Shape 52"/>
              <p:cNvSpPr/>
              <p:nvPr/>
            </p:nvSpPr>
            <p:spPr>
              <a:xfrm>
                <a:off x="6930712" y="5108400"/>
                <a:ext cx="198000" cy="36000"/>
              </a:xfrm>
              <a:prstGeom prst="rect">
                <a:avLst/>
              </a:prstGeom>
              <a:solidFill>
                <a:schemeClr val="accent5">
                  <a:lumMod val="20000"/>
                  <a:lumOff val="80000"/>
                </a:schemeClr>
              </a:solidFill>
              <a:ln w="12700">
                <a:noFill/>
                <a:prstDash val="solid"/>
              </a:ln>
            </p:spPr>
          </p:sp>
          <p:sp>
            <p:nvSpPr>
              <p:cNvPr id="81" name="Shape 52"/>
              <p:cNvSpPr/>
              <p:nvPr/>
            </p:nvSpPr>
            <p:spPr>
              <a:xfrm>
                <a:off x="7128712" y="5108400"/>
                <a:ext cx="198000" cy="36000"/>
              </a:xfrm>
              <a:prstGeom prst="rect">
                <a:avLst/>
              </a:prstGeom>
              <a:solidFill>
                <a:schemeClr val="accent5">
                  <a:lumMod val="20000"/>
                  <a:lumOff val="80000"/>
                </a:schemeClr>
              </a:solidFill>
              <a:ln w="12700">
                <a:noFill/>
                <a:prstDash val="solid"/>
              </a:ln>
            </p:spPr>
          </p:sp>
          <p:sp>
            <p:nvSpPr>
              <p:cNvPr id="82" name="Shape 52"/>
              <p:cNvSpPr/>
              <p:nvPr/>
            </p:nvSpPr>
            <p:spPr>
              <a:xfrm>
                <a:off x="7326712" y="5108400"/>
                <a:ext cx="198000" cy="36000"/>
              </a:xfrm>
              <a:prstGeom prst="rect">
                <a:avLst/>
              </a:prstGeom>
              <a:solidFill>
                <a:schemeClr val="accent5">
                  <a:lumMod val="20000"/>
                  <a:lumOff val="80000"/>
                </a:schemeClr>
              </a:solidFill>
              <a:ln w="12700">
                <a:noFill/>
                <a:prstDash val="solid"/>
              </a:ln>
            </p:spPr>
          </p:sp>
          <p:sp>
            <p:nvSpPr>
              <p:cNvPr id="83" name="Shape 52"/>
              <p:cNvSpPr/>
              <p:nvPr/>
            </p:nvSpPr>
            <p:spPr>
              <a:xfrm>
                <a:off x="7524712" y="5108400"/>
                <a:ext cx="198000" cy="36000"/>
              </a:xfrm>
              <a:prstGeom prst="rect">
                <a:avLst/>
              </a:prstGeom>
              <a:solidFill>
                <a:schemeClr val="accent5">
                  <a:lumMod val="20000"/>
                  <a:lumOff val="80000"/>
                </a:schemeClr>
              </a:solidFill>
              <a:ln w="12700">
                <a:noFill/>
                <a:prstDash val="solid"/>
              </a:ln>
            </p:spPr>
          </p:sp>
          <p:sp>
            <p:nvSpPr>
              <p:cNvPr id="84" name="Shape 52"/>
              <p:cNvSpPr/>
              <p:nvPr/>
            </p:nvSpPr>
            <p:spPr>
              <a:xfrm>
                <a:off x="7722712" y="5108400"/>
                <a:ext cx="198000" cy="36000"/>
              </a:xfrm>
              <a:prstGeom prst="rect">
                <a:avLst/>
              </a:prstGeom>
              <a:solidFill>
                <a:schemeClr val="accent5">
                  <a:lumMod val="20000"/>
                  <a:lumOff val="80000"/>
                </a:schemeClr>
              </a:solidFill>
              <a:ln w="12700">
                <a:noFill/>
                <a:prstDash val="solid"/>
              </a:ln>
            </p:spPr>
          </p:sp>
          <p:sp>
            <p:nvSpPr>
              <p:cNvPr id="85" name="Shape 52"/>
              <p:cNvSpPr/>
              <p:nvPr/>
            </p:nvSpPr>
            <p:spPr>
              <a:xfrm>
                <a:off x="7920712" y="5109048"/>
                <a:ext cx="198000" cy="36000"/>
              </a:xfrm>
              <a:prstGeom prst="rect">
                <a:avLst/>
              </a:prstGeom>
              <a:solidFill>
                <a:schemeClr val="accent5">
                  <a:lumMod val="20000"/>
                  <a:lumOff val="80000"/>
                </a:schemeClr>
              </a:solidFill>
              <a:ln w="12700">
                <a:noFill/>
                <a:prstDash val="solid"/>
              </a:ln>
            </p:spPr>
          </p:sp>
          <p:sp>
            <p:nvSpPr>
              <p:cNvPr id="86" name="Shape 52"/>
              <p:cNvSpPr/>
              <p:nvPr/>
            </p:nvSpPr>
            <p:spPr>
              <a:xfrm>
                <a:off x="8118712" y="5109048"/>
                <a:ext cx="198000" cy="36000"/>
              </a:xfrm>
              <a:prstGeom prst="rect">
                <a:avLst/>
              </a:prstGeom>
              <a:solidFill>
                <a:schemeClr val="accent5">
                  <a:lumMod val="20000"/>
                  <a:lumOff val="80000"/>
                </a:schemeClr>
              </a:solidFill>
              <a:ln w="12700">
                <a:noFill/>
                <a:prstDash val="solid"/>
              </a:ln>
            </p:spPr>
          </p:sp>
          <p:sp>
            <p:nvSpPr>
              <p:cNvPr id="87" name="Shape 52"/>
              <p:cNvSpPr/>
              <p:nvPr/>
            </p:nvSpPr>
            <p:spPr>
              <a:xfrm>
                <a:off x="8316712" y="5109048"/>
                <a:ext cx="198000" cy="36000"/>
              </a:xfrm>
              <a:prstGeom prst="rect">
                <a:avLst/>
              </a:prstGeom>
              <a:solidFill>
                <a:schemeClr val="accent5">
                  <a:lumMod val="20000"/>
                  <a:lumOff val="80000"/>
                </a:schemeClr>
              </a:solidFill>
              <a:ln w="12700">
                <a:noFill/>
                <a:prstDash val="solid"/>
              </a:ln>
            </p:spPr>
          </p:sp>
          <p:sp>
            <p:nvSpPr>
              <p:cNvPr id="88" name="Shape 52"/>
              <p:cNvSpPr/>
              <p:nvPr/>
            </p:nvSpPr>
            <p:spPr>
              <a:xfrm>
                <a:off x="8514712" y="5109048"/>
                <a:ext cx="198000" cy="36000"/>
              </a:xfrm>
              <a:prstGeom prst="rect">
                <a:avLst/>
              </a:prstGeom>
              <a:grpFill/>
              <a:ln w="12700">
                <a:noFill/>
                <a:prstDash val="solid"/>
              </a:ln>
            </p:spPr>
          </p:sp>
          <p:sp>
            <p:nvSpPr>
              <p:cNvPr id="89" name="Shape 52"/>
              <p:cNvSpPr/>
              <p:nvPr/>
            </p:nvSpPr>
            <p:spPr>
              <a:xfrm>
                <a:off x="8712712" y="5109048"/>
                <a:ext cx="198000" cy="36000"/>
              </a:xfrm>
              <a:prstGeom prst="rect">
                <a:avLst/>
              </a:prstGeom>
              <a:grpFill/>
              <a:ln w="12700">
                <a:noFill/>
                <a:prstDash val="solid"/>
              </a:ln>
            </p:spPr>
          </p:sp>
          <p:sp>
            <p:nvSpPr>
              <p:cNvPr id="90"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00E676"/>
          </a:solidFill>
          <a:ln w="12700">
            <a:solidFill>
              <a:srgbClr val="00E676"/>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Proces Projektowania UI/UX — Od Pomysłu do Produktu</a:t>
            </a:r>
            <a:endParaRPr lang="en-US" sz="2200" dirty="0"/>
          </a:p>
        </p:txBody>
      </p:sp>
      <p:sp>
        <p:nvSpPr>
          <p:cNvPr id="4" name="Shape 2"/>
          <p:cNvSpPr/>
          <p:nvPr/>
        </p:nvSpPr>
        <p:spPr>
          <a:xfrm>
            <a:off x="320040" y="914400"/>
            <a:ext cx="2743200" cy="1600200"/>
          </a:xfrm>
          <a:prstGeom prst="rect">
            <a:avLst/>
          </a:prstGeom>
          <a:solidFill>
            <a:srgbClr val="112233"/>
          </a:solidFill>
          <a:ln w="12700">
            <a:solidFill>
              <a:srgbClr val="1A3050"/>
            </a:solidFill>
            <a:prstDash val="solid"/>
          </a:ln>
        </p:spPr>
      </p:sp>
      <p:sp>
        <p:nvSpPr>
          <p:cNvPr id="5" name="Shape 3"/>
          <p:cNvSpPr/>
          <p:nvPr/>
        </p:nvSpPr>
        <p:spPr>
          <a:xfrm>
            <a:off x="320040" y="914400"/>
            <a:ext cx="45720" cy="1600200"/>
          </a:xfrm>
          <a:prstGeom prst="rect">
            <a:avLst/>
          </a:prstGeom>
          <a:solidFill>
            <a:srgbClr val="00D4FF"/>
          </a:solidFill>
          <a:ln w="12700">
            <a:solidFill>
              <a:srgbClr val="00D4FF"/>
            </a:solidFill>
            <a:prstDash val="solid"/>
          </a:ln>
        </p:spPr>
      </p:sp>
      <p:sp>
        <p:nvSpPr>
          <p:cNvPr id="6" name="Text 4"/>
          <p:cNvSpPr/>
          <p:nvPr/>
        </p:nvSpPr>
        <p:spPr>
          <a:xfrm>
            <a:off x="429768" y="1005840"/>
            <a:ext cx="2542032" cy="237744"/>
          </a:xfrm>
          <a:prstGeom prst="rect">
            <a:avLst/>
          </a:prstGeom>
          <a:noFill/>
          <a:ln/>
        </p:spPr>
        <p:txBody>
          <a:bodyPr wrap="square" lIns="0" tIns="0" rIns="0" bIns="0" rtlCol="0" anchor="ctr"/>
          <a:lstStyle/>
          <a:p>
            <a:pPr marL="0" indent="0">
              <a:buNone/>
            </a:pPr>
            <a:r>
              <a:rPr lang="en-US" sz="950" b="1" dirty="0">
                <a:solidFill>
                  <a:srgbClr val="00D4FF"/>
                </a:solidFill>
              </a:rPr>
              <a:t>Faza 1</a:t>
            </a:r>
            <a:endParaRPr lang="en-US" sz="950" dirty="0"/>
          </a:p>
        </p:txBody>
      </p:sp>
      <p:sp>
        <p:nvSpPr>
          <p:cNvPr id="7" name="Text 5"/>
          <p:cNvSpPr/>
          <p:nvPr/>
        </p:nvSpPr>
        <p:spPr>
          <a:xfrm>
            <a:off x="429768" y="1298448"/>
            <a:ext cx="2542032" cy="292608"/>
          </a:xfrm>
          <a:prstGeom prst="rect">
            <a:avLst/>
          </a:prstGeom>
          <a:noFill/>
          <a:ln/>
        </p:spPr>
        <p:txBody>
          <a:bodyPr wrap="square" lIns="0" tIns="0" rIns="0" bIns="0" rtlCol="0" anchor="ctr"/>
          <a:lstStyle/>
          <a:p>
            <a:pPr marL="0" indent="0">
              <a:buNone/>
            </a:pPr>
            <a:r>
              <a:rPr lang="en-US" sz="1100" b="1" dirty="0">
                <a:solidFill>
                  <a:srgbClr val="FFFFFF"/>
                </a:solidFill>
              </a:rPr>
              <a:t>Research i Discovery</a:t>
            </a:r>
            <a:endParaRPr lang="en-US" sz="1100" dirty="0"/>
          </a:p>
        </p:txBody>
      </p:sp>
      <p:sp>
        <p:nvSpPr>
          <p:cNvPr id="8" name="Text 6"/>
          <p:cNvSpPr/>
          <p:nvPr/>
        </p:nvSpPr>
        <p:spPr>
          <a:xfrm>
            <a:off x="429768" y="1645920"/>
            <a:ext cx="2542032" cy="777240"/>
          </a:xfrm>
          <a:prstGeom prst="rect">
            <a:avLst/>
          </a:prstGeom>
          <a:noFill/>
          <a:ln/>
        </p:spPr>
        <p:txBody>
          <a:bodyPr wrap="square" lIns="0" tIns="0" rIns="0" bIns="0" rtlCol="0" anchor="t"/>
          <a:lstStyle/>
          <a:p>
            <a:pPr marL="0" indent="0">
              <a:buNone/>
            </a:pPr>
            <a:r>
              <a:rPr lang="en-US" sz="880" dirty="0">
                <a:solidFill>
                  <a:srgbClr val="8899AA"/>
                </a:solidFill>
              </a:rPr>
              <a:t>Analiza użytkowników, konkurencji, rynku. User interviews, surveys, competitive analysis.</a:t>
            </a:r>
            <a:endParaRPr lang="en-US" sz="880" dirty="0"/>
          </a:p>
        </p:txBody>
      </p:sp>
      <p:sp>
        <p:nvSpPr>
          <p:cNvPr id="9" name="Shape 7"/>
          <p:cNvSpPr/>
          <p:nvPr/>
        </p:nvSpPr>
        <p:spPr>
          <a:xfrm>
            <a:off x="3099816" y="1627632"/>
            <a:ext cx="45720" cy="201168"/>
          </a:xfrm>
          <a:prstGeom prst="rect">
            <a:avLst/>
          </a:prstGeom>
          <a:solidFill>
            <a:srgbClr val="00D4FF"/>
          </a:solidFill>
          <a:ln w="12700">
            <a:solidFill>
              <a:srgbClr val="00D4FF"/>
            </a:solidFill>
            <a:prstDash val="solid"/>
          </a:ln>
        </p:spPr>
      </p:sp>
      <p:sp>
        <p:nvSpPr>
          <p:cNvPr id="10" name="Shape 8"/>
          <p:cNvSpPr/>
          <p:nvPr/>
        </p:nvSpPr>
        <p:spPr>
          <a:xfrm>
            <a:off x="3200400" y="914400"/>
            <a:ext cx="2743200" cy="1600200"/>
          </a:xfrm>
          <a:prstGeom prst="rect">
            <a:avLst/>
          </a:prstGeom>
          <a:solidFill>
            <a:srgbClr val="112233"/>
          </a:solidFill>
          <a:ln w="12700">
            <a:solidFill>
              <a:srgbClr val="1A3050"/>
            </a:solidFill>
            <a:prstDash val="solid"/>
          </a:ln>
        </p:spPr>
      </p:sp>
      <p:sp>
        <p:nvSpPr>
          <p:cNvPr id="11" name="Shape 9"/>
          <p:cNvSpPr/>
          <p:nvPr/>
        </p:nvSpPr>
        <p:spPr>
          <a:xfrm>
            <a:off x="3200400" y="914400"/>
            <a:ext cx="45720" cy="1600200"/>
          </a:xfrm>
          <a:prstGeom prst="rect">
            <a:avLst/>
          </a:prstGeom>
          <a:solidFill>
            <a:srgbClr val="00E676"/>
          </a:solidFill>
          <a:ln w="12700">
            <a:solidFill>
              <a:srgbClr val="00E676"/>
            </a:solidFill>
            <a:prstDash val="solid"/>
          </a:ln>
        </p:spPr>
      </p:sp>
      <p:sp>
        <p:nvSpPr>
          <p:cNvPr id="12" name="Text 10"/>
          <p:cNvSpPr/>
          <p:nvPr/>
        </p:nvSpPr>
        <p:spPr>
          <a:xfrm>
            <a:off x="3310128" y="1005840"/>
            <a:ext cx="2542032" cy="237744"/>
          </a:xfrm>
          <a:prstGeom prst="rect">
            <a:avLst/>
          </a:prstGeom>
          <a:noFill/>
          <a:ln/>
        </p:spPr>
        <p:txBody>
          <a:bodyPr wrap="square" lIns="0" tIns="0" rIns="0" bIns="0" rtlCol="0" anchor="ctr"/>
          <a:lstStyle/>
          <a:p>
            <a:pPr marL="0" indent="0">
              <a:buNone/>
            </a:pPr>
            <a:r>
              <a:rPr lang="en-US" sz="950" b="1" dirty="0">
                <a:solidFill>
                  <a:srgbClr val="00E676"/>
                </a:solidFill>
              </a:rPr>
              <a:t>Faza 2</a:t>
            </a:r>
            <a:endParaRPr lang="en-US" sz="950" dirty="0"/>
          </a:p>
        </p:txBody>
      </p:sp>
      <p:sp>
        <p:nvSpPr>
          <p:cNvPr id="13" name="Text 11"/>
          <p:cNvSpPr/>
          <p:nvPr/>
        </p:nvSpPr>
        <p:spPr>
          <a:xfrm>
            <a:off x="3310128" y="1298448"/>
            <a:ext cx="2542032" cy="292608"/>
          </a:xfrm>
          <a:prstGeom prst="rect">
            <a:avLst/>
          </a:prstGeom>
          <a:noFill/>
          <a:ln/>
        </p:spPr>
        <p:txBody>
          <a:bodyPr wrap="square" lIns="0" tIns="0" rIns="0" bIns="0" rtlCol="0" anchor="ctr"/>
          <a:lstStyle/>
          <a:p>
            <a:pPr marL="0" indent="0">
              <a:buNone/>
            </a:pPr>
            <a:r>
              <a:rPr lang="en-US" sz="1100" b="1" dirty="0">
                <a:solidFill>
                  <a:srgbClr val="FFFFFF"/>
                </a:solidFill>
              </a:rPr>
              <a:t>Definicja i Wymagania</a:t>
            </a:r>
            <a:endParaRPr lang="en-US" sz="1100" dirty="0"/>
          </a:p>
        </p:txBody>
      </p:sp>
      <p:sp>
        <p:nvSpPr>
          <p:cNvPr id="14" name="Text 12"/>
          <p:cNvSpPr/>
          <p:nvPr/>
        </p:nvSpPr>
        <p:spPr>
          <a:xfrm>
            <a:off x="3310128" y="1645920"/>
            <a:ext cx="2542032" cy="777240"/>
          </a:xfrm>
          <a:prstGeom prst="rect">
            <a:avLst/>
          </a:prstGeom>
          <a:noFill/>
          <a:ln/>
        </p:spPr>
        <p:txBody>
          <a:bodyPr wrap="square" lIns="0" tIns="0" rIns="0" bIns="0" rtlCol="0" anchor="t"/>
          <a:lstStyle/>
          <a:p>
            <a:pPr marL="0" indent="0">
              <a:buNone/>
            </a:pPr>
            <a:r>
              <a:rPr lang="en-US" sz="880" dirty="0">
                <a:solidFill>
                  <a:srgbClr val="8899AA"/>
                </a:solidFill>
              </a:rPr>
              <a:t>Personas, user stories, journey maps. Definiowanie problemu i celów biznesowych.</a:t>
            </a:r>
            <a:endParaRPr lang="en-US" sz="880" dirty="0"/>
          </a:p>
        </p:txBody>
      </p:sp>
      <p:sp>
        <p:nvSpPr>
          <p:cNvPr id="15" name="Shape 13"/>
          <p:cNvSpPr/>
          <p:nvPr/>
        </p:nvSpPr>
        <p:spPr>
          <a:xfrm>
            <a:off x="5980176" y="1627632"/>
            <a:ext cx="45720" cy="201168"/>
          </a:xfrm>
          <a:prstGeom prst="rect">
            <a:avLst/>
          </a:prstGeom>
          <a:solidFill>
            <a:srgbClr val="00E676"/>
          </a:solidFill>
          <a:ln w="12700">
            <a:solidFill>
              <a:srgbClr val="00E676"/>
            </a:solidFill>
            <a:prstDash val="solid"/>
          </a:ln>
        </p:spPr>
      </p:sp>
      <p:sp>
        <p:nvSpPr>
          <p:cNvPr id="16" name="Shape 14"/>
          <p:cNvSpPr/>
          <p:nvPr/>
        </p:nvSpPr>
        <p:spPr>
          <a:xfrm>
            <a:off x="6080760" y="914400"/>
            <a:ext cx="2743200" cy="1600200"/>
          </a:xfrm>
          <a:prstGeom prst="rect">
            <a:avLst/>
          </a:prstGeom>
          <a:solidFill>
            <a:srgbClr val="112233"/>
          </a:solidFill>
          <a:ln w="12700">
            <a:solidFill>
              <a:srgbClr val="1A3050"/>
            </a:solidFill>
            <a:prstDash val="solid"/>
          </a:ln>
        </p:spPr>
      </p:sp>
      <p:sp>
        <p:nvSpPr>
          <p:cNvPr id="17" name="Shape 15"/>
          <p:cNvSpPr/>
          <p:nvPr/>
        </p:nvSpPr>
        <p:spPr>
          <a:xfrm>
            <a:off x="6080760" y="914400"/>
            <a:ext cx="45720" cy="1600200"/>
          </a:xfrm>
          <a:prstGeom prst="rect">
            <a:avLst/>
          </a:prstGeom>
          <a:solidFill>
            <a:srgbClr val="FFD600"/>
          </a:solidFill>
          <a:ln w="12700">
            <a:solidFill>
              <a:srgbClr val="FFD600"/>
            </a:solidFill>
            <a:prstDash val="solid"/>
          </a:ln>
        </p:spPr>
      </p:sp>
      <p:sp>
        <p:nvSpPr>
          <p:cNvPr id="18" name="Text 16"/>
          <p:cNvSpPr/>
          <p:nvPr/>
        </p:nvSpPr>
        <p:spPr>
          <a:xfrm>
            <a:off x="6190488" y="1005840"/>
            <a:ext cx="2542032" cy="237744"/>
          </a:xfrm>
          <a:prstGeom prst="rect">
            <a:avLst/>
          </a:prstGeom>
          <a:noFill/>
          <a:ln/>
        </p:spPr>
        <p:txBody>
          <a:bodyPr wrap="square" lIns="0" tIns="0" rIns="0" bIns="0" rtlCol="0" anchor="ctr"/>
          <a:lstStyle/>
          <a:p>
            <a:pPr marL="0" indent="0">
              <a:buNone/>
            </a:pPr>
            <a:r>
              <a:rPr lang="en-US" sz="950" b="1" dirty="0">
                <a:solidFill>
                  <a:srgbClr val="FFD600"/>
                </a:solidFill>
              </a:rPr>
              <a:t>Faza 3</a:t>
            </a:r>
            <a:endParaRPr lang="en-US" sz="950" dirty="0"/>
          </a:p>
        </p:txBody>
      </p:sp>
      <p:sp>
        <p:nvSpPr>
          <p:cNvPr id="19" name="Text 17"/>
          <p:cNvSpPr/>
          <p:nvPr/>
        </p:nvSpPr>
        <p:spPr>
          <a:xfrm>
            <a:off x="6190488" y="1298448"/>
            <a:ext cx="2542032" cy="292608"/>
          </a:xfrm>
          <a:prstGeom prst="rect">
            <a:avLst/>
          </a:prstGeom>
          <a:noFill/>
          <a:ln/>
        </p:spPr>
        <p:txBody>
          <a:bodyPr wrap="square" lIns="0" tIns="0" rIns="0" bIns="0" rtlCol="0" anchor="ctr"/>
          <a:lstStyle/>
          <a:p>
            <a:pPr marL="0" indent="0">
              <a:buNone/>
            </a:pPr>
            <a:r>
              <a:rPr lang="en-US" sz="1100" b="1" dirty="0">
                <a:solidFill>
                  <a:srgbClr val="FFFFFF"/>
                </a:solidFill>
              </a:rPr>
              <a:t>Ideacja i Wireframing</a:t>
            </a:r>
            <a:endParaRPr lang="en-US" sz="1100" dirty="0"/>
          </a:p>
        </p:txBody>
      </p:sp>
      <p:sp>
        <p:nvSpPr>
          <p:cNvPr id="20" name="Text 18"/>
          <p:cNvSpPr/>
          <p:nvPr/>
        </p:nvSpPr>
        <p:spPr>
          <a:xfrm>
            <a:off x="6190488" y="1645920"/>
            <a:ext cx="2542032" cy="777240"/>
          </a:xfrm>
          <a:prstGeom prst="rect">
            <a:avLst/>
          </a:prstGeom>
          <a:noFill/>
          <a:ln/>
        </p:spPr>
        <p:txBody>
          <a:bodyPr wrap="square" lIns="0" tIns="0" rIns="0" bIns="0" rtlCol="0" anchor="t"/>
          <a:lstStyle/>
          <a:p>
            <a:pPr marL="0" indent="0">
              <a:buNone/>
            </a:pPr>
            <a:r>
              <a:rPr lang="en-US" sz="880" dirty="0">
                <a:solidFill>
                  <a:srgbClr val="8899AA"/>
                </a:solidFill>
              </a:rPr>
              <a:t>Brainstorming, sketching, low-fidelity wireframes. Szybkie iteracje pomysłów.</a:t>
            </a:r>
            <a:endParaRPr lang="en-US" sz="880" dirty="0"/>
          </a:p>
        </p:txBody>
      </p:sp>
      <p:sp>
        <p:nvSpPr>
          <p:cNvPr id="21" name="Shape 19"/>
          <p:cNvSpPr/>
          <p:nvPr/>
        </p:nvSpPr>
        <p:spPr>
          <a:xfrm>
            <a:off x="320040" y="2670048"/>
            <a:ext cx="2743200" cy="1600200"/>
          </a:xfrm>
          <a:prstGeom prst="rect">
            <a:avLst/>
          </a:prstGeom>
          <a:solidFill>
            <a:srgbClr val="112233"/>
          </a:solidFill>
          <a:ln w="12700">
            <a:solidFill>
              <a:srgbClr val="1A3050"/>
            </a:solidFill>
            <a:prstDash val="solid"/>
          </a:ln>
        </p:spPr>
      </p:sp>
      <p:sp>
        <p:nvSpPr>
          <p:cNvPr id="22" name="Shape 20"/>
          <p:cNvSpPr/>
          <p:nvPr/>
        </p:nvSpPr>
        <p:spPr>
          <a:xfrm>
            <a:off x="320040" y="2670048"/>
            <a:ext cx="45720" cy="1600200"/>
          </a:xfrm>
          <a:prstGeom prst="rect">
            <a:avLst/>
          </a:prstGeom>
          <a:solidFill>
            <a:srgbClr val="FF9100"/>
          </a:solidFill>
          <a:ln w="12700">
            <a:solidFill>
              <a:srgbClr val="FF9100"/>
            </a:solidFill>
            <a:prstDash val="solid"/>
          </a:ln>
        </p:spPr>
      </p:sp>
      <p:sp>
        <p:nvSpPr>
          <p:cNvPr id="23" name="Text 21"/>
          <p:cNvSpPr/>
          <p:nvPr/>
        </p:nvSpPr>
        <p:spPr>
          <a:xfrm>
            <a:off x="429768" y="2761488"/>
            <a:ext cx="2542032" cy="237744"/>
          </a:xfrm>
          <a:prstGeom prst="rect">
            <a:avLst/>
          </a:prstGeom>
          <a:noFill/>
          <a:ln/>
        </p:spPr>
        <p:txBody>
          <a:bodyPr wrap="square" lIns="0" tIns="0" rIns="0" bIns="0" rtlCol="0" anchor="ctr"/>
          <a:lstStyle/>
          <a:p>
            <a:pPr marL="0" indent="0">
              <a:buNone/>
            </a:pPr>
            <a:r>
              <a:rPr lang="en-US" sz="950" b="1" dirty="0">
                <a:solidFill>
                  <a:srgbClr val="FF9100"/>
                </a:solidFill>
              </a:rPr>
              <a:t>Faza 4</a:t>
            </a:r>
            <a:endParaRPr lang="en-US" sz="950" dirty="0"/>
          </a:p>
        </p:txBody>
      </p:sp>
      <p:sp>
        <p:nvSpPr>
          <p:cNvPr id="24" name="Text 22"/>
          <p:cNvSpPr/>
          <p:nvPr/>
        </p:nvSpPr>
        <p:spPr>
          <a:xfrm>
            <a:off x="429768" y="3054096"/>
            <a:ext cx="2542032" cy="292608"/>
          </a:xfrm>
          <a:prstGeom prst="rect">
            <a:avLst/>
          </a:prstGeom>
          <a:noFill/>
          <a:ln/>
        </p:spPr>
        <p:txBody>
          <a:bodyPr wrap="square" lIns="0" tIns="0" rIns="0" bIns="0" rtlCol="0" anchor="ctr"/>
          <a:lstStyle/>
          <a:p>
            <a:pPr marL="0" indent="0">
              <a:buNone/>
            </a:pPr>
            <a:r>
              <a:rPr lang="en-US" sz="1100" b="1" dirty="0">
                <a:solidFill>
                  <a:srgbClr val="FFFFFF"/>
                </a:solidFill>
              </a:rPr>
              <a:t>Projektowanie Wizualne</a:t>
            </a:r>
            <a:endParaRPr lang="en-US" sz="1100" dirty="0"/>
          </a:p>
        </p:txBody>
      </p:sp>
      <p:sp>
        <p:nvSpPr>
          <p:cNvPr id="25" name="Text 23"/>
          <p:cNvSpPr/>
          <p:nvPr/>
        </p:nvSpPr>
        <p:spPr>
          <a:xfrm>
            <a:off x="429768" y="3401568"/>
            <a:ext cx="2542032" cy="777240"/>
          </a:xfrm>
          <a:prstGeom prst="rect">
            <a:avLst/>
          </a:prstGeom>
          <a:noFill/>
          <a:ln/>
        </p:spPr>
        <p:txBody>
          <a:bodyPr wrap="square" lIns="0" tIns="0" rIns="0" bIns="0" rtlCol="0" anchor="t"/>
          <a:lstStyle/>
          <a:p>
            <a:pPr marL="0" indent="0">
              <a:buNone/>
            </a:pPr>
            <a:r>
              <a:rPr lang="en-US" sz="880" dirty="0">
                <a:solidFill>
                  <a:srgbClr val="8899AA"/>
                </a:solidFill>
              </a:rPr>
              <a:t>High-fidelity mockups, design system, komponenty. Kolory, typografia, ikony.</a:t>
            </a:r>
            <a:endParaRPr lang="en-US" sz="880" dirty="0"/>
          </a:p>
        </p:txBody>
      </p:sp>
      <p:sp>
        <p:nvSpPr>
          <p:cNvPr id="26" name="Shape 24"/>
          <p:cNvSpPr/>
          <p:nvPr/>
        </p:nvSpPr>
        <p:spPr>
          <a:xfrm>
            <a:off x="3099816" y="3383280"/>
            <a:ext cx="45720" cy="201168"/>
          </a:xfrm>
          <a:prstGeom prst="rect">
            <a:avLst/>
          </a:prstGeom>
          <a:solidFill>
            <a:srgbClr val="FF9100"/>
          </a:solidFill>
          <a:ln w="12700">
            <a:solidFill>
              <a:srgbClr val="FF9100"/>
            </a:solidFill>
            <a:prstDash val="solid"/>
          </a:ln>
        </p:spPr>
      </p:sp>
      <p:sp>
        <p:nvSpPr>
          <p:cNvPr id="27" name="Shape 25"/>
          <p:cNvSpPr/>
          <p:nvPr/>
        </p:nvSpPr>
        <p:spPr>
          <a:xfrm>
            <a:off x="3200400" y="2670048"/>
            <a:ext cx="2743200" cy="1600200"/>
          </a:xfrm>
          <a:prstGeom prst="rect">
            <a:avLst/>
          </a:prstGeom>
          <a:solidFill>
            <a:srgbClr val="112233"/>
          </a:solidFill>
          <a:ln w="12700">
            <a:solidFill>
              <a:srgbClr val="1A3050"/>
            </a:solidFill>
            <a:prstDash val="solid"/>
          </a:ln>
        </p:spPr>
      </p:sp>
      <p:sp>
        <p:nvSpPr>
          <p:cNvPr id="28" name="Shape 26"/>
          <p:cNvSpPr/>
          <p:nvPr/>
        </p:nvSpPr>
        <p:spPr>
          <a:xfrm>
            <a:off x="3200400" y="2670048"/>
            <a:ext cx="45720" cy="1600200"/>
          </a:xfrm>
          <a:prstGeom prst="rect">
            <a:avLst/>
          </a:prstGeom>
          <a:solidFill>
            <a:srgbClr val="FF2D78"/>
          </a:solidFill>
          <a:ln w="12700">
            <a:solidFill>
              <a:srgbClr val="FF2D78"/>
            </a:solidFill>
            <a:prstDash val="solid"/>
          </a:ln>
        </p:spPr>
      </p:sp>
      <p:sp>
        <p:nvSpPr>
          <p:cNvPr id="29" name="Text 27"/>
          <p:cNvSpPr/>
          <p:nvPr/>
        </p:nvSpPr>
        <p:spPr>
          <a:xfrm>
            <a:off x="3310128" y="2761488"/>
            <a:ext cx="2542032" cy="237744"/>
          </a:xfrm>
          <a:prstGeom prst="rect">
            <a:avLst/>
          </a:prstGeom>
          <a:noFill/>
          <a:ln/>
        </p:spPr>
        <p:txBody>
          <a:bodyPr wrap="square" lIns="0" tIns="0" rIns="0" bIns="0" rtlCol="0" anchor="ctr"/>
          <a:lstStyle/>
          <a:p>
            <a:pPr marL="0" indent="0">
              <a:buNone/>
            </a:pPr>
            <a:r>
              <a:rPr lang="en-US" sz="950" b="1" dirty="0">
                <a:solidFill>
                  <a:srgbClr val="FF2D78"/>
                </a:solidFill>
              </a:rPr>
              <a:t>Faza 5</a:t>
            </a:r>
            <a:endParaRPr lang="en-US" sz="950" dirty="0"/>
          </a:p>
        </p:txBody>
      </p:sp>
      <p:sp>
        <p:nvSpPr>
          <p:cNvPr id="30" name="Text 28"/>
          <p:cNvSpPr/>
          <p:nvPr/>
        </p:nvSpPr>
        <p:spPr>
          <a:xfrm>
            <a:off x="3310128" y="3054096"/>
            <a:ext cx="2542032" cy="292608"/>
          </a:xfrm>
          <a:prstGeom prst="rect">
            <a:avLst/>
          </a:prstGeom>
          <a:noFill/>
          <a:ln/>
        </p:spPr>
        <p:txBody>
          <a:bodyPr wrap="square" lIns="0" tIns="0" rIns="0" bIns="0" rtlCol="0" anchor="ctr"/>
          <a:lstStyle/>
          <a:p>
            <a:pPr marL="0" indent="0">
              <a:buNone/>
            </a:pPr>
            <a:r>
              <a:rPr lang="en-US" sz="1100" b="1" dirty="0">
                <a:solidFill>
                  <a:srgbClr val="FFFFFF"/>
                </a:solidFill>
              </a:rPr>
              <a:t>Prototypowanie i Testowanie</a:t>
            </a:r>
            <a:endParaRPr lang="en-US" sz="1100" dirty="0"/>
          </a:p>
        </p:txBody>
      </p:sp>
      <p:sp>
        <p:nvSpPr>
          <p:cNvPr id="31" name="Text 29"/>
          <p:cNvSpPr/>
          <p:nvPr/>
        </p:nvSpPr>
        <p:spPr>
          <a:xfrm>
            <a:off x="3310128" y="3401568"/>
            <a:ext cx="2542032" cy="777240"/>
          </a:xfrm>
          <a:prstGeom prst="rect">
            <a:avLst/>
          </a:prstGeom>
          <a:noFill/>
          <a:ln/>
        </p:spPr>
        <p:txBody>
          <a:bodyPr wrap="square" lIns="0" tIns="0" rIns="0" bIns="0" rtlCol="0" anchor="t"/>
          <a:lstStyle/>
          <a:p>
            <a:pPr marL="0" indent="0">
              <a:buNone/>
            </a:pPr>
            <a:r>
              <a:rPr lang="en-US" sz="880" dirty="0">
                <a:solidFill>
                  <a:srgbClr val="8899AA"/>
                </a:solidFill>
              </a:rPr>
              <a:t>Interaktywne prototypy, usability testing z użytkownikami, iteracje wyników.</a:t>
            </a:r>
            <a:endParaRPr lang="en-US" sz="880" dirty="0"/>
          </a:p>
        </p:txBody>
      </p:sp>
      <p:sp>
        <p:nvSpPr>
          <p:cNvPr id="32" name="Shape 30"/>
          <p:cNvSpPr/>
          <p:nvPr/>
        </p:nvSpPr>
        <p:spPr>
          <a:xfrm>
            <a:off x="5980176" y="3383280"/>
            <a:ext cx="45720" cy="201168"/>
          </a:xfrm>
          <a:prstGeom prst="rect">
            <a:avLst/>
          </a:prstGeom>
          <a:solidFill>
            <a:srgbClr val="FF2D78"/>
          </a:solidFill>
          <a:ln w="12700">
            <a:solidFill>
              <a:srgbClr val="FF2D78"/>
            </a:solidFill>
            <a:prstDash val="solid"/>
          </a:ln>
        </p:spPr>
      </p:sp>
      <p:sp>
        <p:nvSpPr>
          <p:cNvPr id="33" name="Shape 31"/>
          <p:cNvSpPr/>
          <p:nvPr/>
        </p:nvSpPr>
        <p:spPr>
          <a:xfrm>
            <a:off x="6080760" y="2670048"/>
            <a:ext cx="2743200" cy="1600200"/>
          </a:xfrm>
          <a:prstGeom prst="rect">
            <a:avLst/>
          </a:prstGeom>
          <a:solidFill>
            <a:srgbClr val="112233"/>
          </a:solidFill>
          <a:ln w="12700">
            <a:solidFill>
              <a:srgbClr val="1A3050"/>
            </a:solidFill>
            <a:prstDash val="solid"/>
          </a:ln>
        </p:spPr>
      </p:sp>
      <p:sp>
        <p:nvSpPr>
          <p:cNvPr id="34" name="Shape 32"/>
          <p:cNvSpPr/>
          <p:nvPr/>
        </p:nvSpPr>
        <p:spPr>
          <a:xfrm>
            <a:off x="6080760" y="2670048"/>
            <a:ext cx="45720" cy="1600200"/>
          </a:xfrm>
          <a:prstGeom prst="rect">
            <a:avLst/>
          </a:prstGeom>
          <a:solidFill>
            <a:srgbClr val="B388FF"/>
          </a:solidFill>
          <a:ln w="12700">
            <a:solidFill>
              <a:srgbClr val="B388FF"/>
            </a:solidFill>
            <a:prstDash val="solid"/>
          </a:ln>
        </p:spPr>
      </p:sp>
      <p:sp>
        <p:nvSpPr>
          <p:cNvPr id="35" name="Text 33"/>
          <p:cNvSpPr/>
          <p:nvPr/>
        </p:nvSpPr>
        <p:spPr>
          <a:xfrm>
            <a:off x="6190488" y="2761488"/>
            <a:ext cx="2542032" cy="237744"/>
          </a:xfrm>
          <a:prstGeom prst="rect">
            <a:avLst/>
          </a:prstGeom>
          <a:noFill/>
          <a:ln/>
        </p:spPr>
        <p:txBody>
          <a:bodyPr wrap="square" lIns="0" tIns="0" rIns="0" bIns="0" rtlCol="0" anchor="ctr"/>
          <a:lstStyle/>
          <a:p>
            <a:pPr marL="0" indent="0">
              <a:buNone/>
            </a:pPr>
            <a:r>
              <a:rPr lang="en-US" sz="950" b="1" dirty="0">
                <a:solidFill>
                  <a:srgbClr val="B388FF"/>
                </a:solidFill>
              </a:rPr>
              <a:t>Faza 6</a:t>
            </a:r>
            <a:endParaRPr lang="en-US" sz="950" dirty="0"/>
          </a:p>
        </p:txBody>
      </p:sp>
      <p:sp>
        <p:nvSpPr>
          <p:cNvPr id="36" name="Text 34"/>
          <p:cNvSpPr/>
          <p:nvPr/>
        </p:nvSpPr>
        <p:spPr>
          <a:xfrm>
            <a:off x="6190488" y="3054096"/>
            <a:ext cx="2542032" cy="292608"/>
          </a:xfrm>
          <a:prstGeom prst="rect">
            <a:avLst/>
          </a:prstGeom>
          <a:noFill/>
          <a:ln/>
        </p:spPr>
        <p:txBody>
          <a:bodyPr wrap="square" lIns="0" tIns="0" rIns="0" bIns="0" rtlCol="0" anchor="ctr"/>
          <a:lstStyle/>
          <a:p>
            <a:pPr marL="0" indent="0">
              <a:buNone/>
            </a:pPr>
            <a:r>
              <a:rPr lang="en-US" sz="1100" b="1" dirty="0">
                <a:solidFill>
                  <a:srgbClr val="FFFFFF"/>
                </a:solidFill>
              </a:rPr>
              <a:t>Handoff i Wdrożenie</a:t>
            </a:r>
            <a:endParaRPr lang="en-US" sz="1100" dirty="0"/>
          </a:p>
        </p:txBody>
      </p:sp>
      <p:sp>
        <p:nvSpPr>
          <p:cNvPr id="37" name="Text 35"/>
          <p:cNvSpPr/>
          <p:nvPr/>
        </p:nvSpPr>
        <p:spPr>
          <a:xfrm>
            <a:off x="6190488" y="3401568"/>
            <a:ext cx="2542032" cy="777240"/>
          </a:xfrm>
          <a:prstGeom prst="rect">
            <a:avLst/>
          </a:prstGeom>
          <a:noFill/>
          <a:ln/>
        </p:spPr>
        <p:txBody>
          <a:bodyPr wrap="square" lIns="0" tIns="0" rIns="0" bIns="0" rtlCol="0" anchor="t"/>
          <a:lstStyle/>
          <a:p>
            <a:pPr marL="0" indent="0">
              <a:buNone/>
            </a:pPr>
            <a:r>
              <a:rPr lang="en-US" sz="880" dirty="0">
                <a:solidFill>
                  <a:srgbClr val="8899AA"/>
                </a:solidFill>
              </a:rPr>
              <a:t>Dev handoff w Figma Dev Mode, design tokens, QA i testy akceptacyjne.</a:t>
            </a:r>
            <a:endParaRPr lang="en-US" sz="880" dirty="0"/>
          </a:p>
        </p:txBody>
      </p:sp>
      <p:sp>
        <p:nvSpPr>
          <p:cNvPr id="40" name="Text 38"/>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43 / </a:t>
            </a:r>
            <a:r>
              <a:rPr lang="pl-PL" sz="800" dirty="0" smtClean="0">
                <a:solidFill>
                  <a:srgbClr val="8899AA"/>
                </a:solidFill>
              </a:rPr>
              <a:t>46</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B2A"/>
        </a:solidFill>
        <a:effectLst/>
      </p:bgPr>
    </p:bg>
    <p:spTree>
      <p:nvGrpSpPr>
        <p:cNvPr id="1" name=""/>
        <p:cNvGrpSpPr/>
        <p:nvPr/>
      </p:nvGrpSpPr>
      <p:grpSpPr>
        <a:xfrm>
          <a:off x="0" y="0"/>
          <a:ext cx="0" cy="0"/>
          <a:chOff x="0" y="0"/>
          <a:chExt cx="0" cy="0"/>
        </a:xfrm>
      </p:grpSpPr>
      <p:grpSp>
        <p:nvGrpSpPr>
          <p:cNvPr id="31" name="Grupa 30"/>
          <p:cNvGrpSpPr/>
          <p:nvPr/>
        </p:nvGrpSpPr>
        <p:grpSpPr>
          <a:xfrm>
            <a:off x="-2381" y="4884912"/>
            <a:ext cx="9146381" cy="260136"/>
            <a:chOff x="-2381" y="4884912"/>
            <a:chExt cx="9146381" cy="260136"/>
          </a:xfrm>
        </p:grpSpPr>
        <p:sp>
          <p:nvSpPr>
            <p:cNvPr id="32" name="Shape 52"/>
            <p:cNvSpPr/>
            <p:nvPr/>
          </p:nvSpPr>
          <p:spPr>
            <a:xfrm>
              <a:off x="0" y="4884912"/>
              <a:ext cx="9144000" cy="252000"/>
            </a:xfrm>
            <a:prstGeom prst="rect">
              <a:avLst/>
            </a:prstGeom>
            <a:solidFill>
              <a:srgbClr val="071523"/>
            </a:solidFill>
            <a:ln w="12700">
              <a:solidFill>
                <a:srgbClr val="071523"/>
              </a:solidFill>
              <a:prstDash val="solid"/>
            </a:ln>
          </p:spPr>
        </p:sp>
        <p:sp>
          <p:nvSpPr>
            <p:cNvPr id="33"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34" name="Grupa 33"/>
            <p:cNvGrpSpPr/>
            <p:nvPr/>
          </p:nvGrpSpPr>
          <p:grpSpPr>
            <a:xfrm>
              <a:off x="-2381" y="5099329"/>
              <a:ext cx="9146381" cy="45719"/>
              <a:chOff x="-2381" y="5107500"/>
              <a:chExt cx="9111093" cy="37548"/>
            </a:xfrm>
            <a:solidFill>
              <a:schemeClr val="tx1"/>
            </a:solidFill>
          </p:grpSpPr>
          <p:sp>
            <p:nvSpPr>
              <p:cNvPr id="35"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36"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37"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38"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39"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40"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41"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42"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43"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44"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45"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46"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47"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48"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49"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50"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4356712" y="510750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4554712" y="51075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4752712" y="51075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4950712" y="51075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5148712" y="5107500"/>
                <a:ext cx="198000" cy="36000"/>
              </a:xfrm>
              <a:prstGeom prst="rect">
                <a:avLst/>
              </a:prstGeom>
              <a:solidFill>
                <a:schemeClr val="accent5">
                  <a:lumMod val="20000"/>
                  <a:lumOff val="80000"/>
                </a:schemeClr>
              </a:solidFill>
              <a:ln w="12700">
                <a:noFill/>
                <a:prstDash val="solid"/>
              </a:ln>
            </p:spPr>
          </p:sp>
          <p:sp>
            <p:nvSpPr>
              <p:cNvPr id="62" name="Shape 52"/>
              <p:cNvSpPr/>
              <p:nvPr/>
            </p:nvSpPr>
            <p:spPr>
              <a:xfrm>
                <a:off x="5346712" y="5108400"/>
                <a:ext cx="198000" cy="36000"/>
              </a:xfrm>
              <a:prstGeom prst="rect">
                <a:avLst/>
              </a:prstGeom>
              <a:solidFill>
                <a:schemeClr val="accent5">
                  <a:lumMod val="20000"/>
                  <a:lumOff val="80000"/>
                </a:schemeClr>
              </a:solidFill>
              <a:ln w="12700">
                <a:noFill/>
                <a:prstDash val="solid"/>
              </a:ln>
            </p:spPr>
          </p:sp>
          <p:sp>
            <p:nvSpPr>
              <p:cNvPr id="63" name="Shape 52"/>
              <p:cNvSpPr/>
              <p:nvPr/>
            </p:nvSpPr>
            <p:spPr>
              <a:xfrm>
                <a:off x="5544712" y="5108400"/>
                <a:ext cx="198000" cy="36000"/>
              </a:xfrm>
              <a:prstGeom prst="rect">
                <a:avLst/>
              </a:prstGeom>
              <a:solidFill>
                <a:schemeClr val="accent5">
                  <a:lumMod val="20000"/>
                  <a:lumOff val="80000"/>
                </a:schemeClr>
              </a:solidFill>
              <a:ln w="12700">
                <a:noFill/>
                <a:prstDash val="solid"/>
              </a:ln>
            </p:spPr>
          </p:sp>
          <p:sp>
            <p:nvSpPr>
              <p:cNvPr id="64" name="Shape 52"/>
              <p:cNvSpPr/>
              <p:nvPr/>
            </p:nvSpPr>
            <p:spPr>
              <a:xfrm>
                <a:off x="5742712" y="5108400"/>
                <a:ext cx="198000" cy="36000"/>
              </a:xfrm>
              <a:prstGeom prst="rect">
                <a:avLst/>
              </a:prstGeom>
              <a:solidFill>
                <a:schemeClr val="accent5">
                  <a:lumMod val="20000"/>
                  <a:lumOff val="80000"/>
                </a:schemeClr>
              </a:solidFill>
              <a:ln w="12700">
                <a:noFill/>
                <a:prstDash val="solid"/>
              </a:ln>
            </p:spPr>
          </p:sp>
          <p:sp>
            <p:nvSpPr>
              <p:cNvPr id="65" name="Shape 52"/>
              <p:cNvSpPr/>
              <p:nvPr/>
            </p:nvSpPr>
            <p:spPr>
              <a:xfrm>
                <a:off x="5940712" y="5108400"/>
                <a:ext cx="198000" cy="36000"/>
              </a:xfrm>
              <a:prstGeom prst="rect">
                <a:avLst/>
              </a:prstGeom>
              <a:solidFill>
                <a:schemeClr val="accent5">
                  <a:lumMod val="20000"/>
                  <a:lumOff val="80000"/>
                </a:schemeClr>
              </a:solidFill>
              <a:ln w="12700">
                <a:noFill/>
                <a:prstDash val="solid"/>
              </a:ln>
            </p:spPr>
          </p:sp>
          <p:sp>
            <p:nvSpPr>
              <p:cNvPr id="66" name="Shape 52"/>
              <p:cNvSpPr/>
              <p:nvPr/>
            </p:nvSpPr>
            <p:spPr>
              <a:xfrm>
                <a:off x="6138712" y="5108400"/>
                <a:ext cx="198000" cy="36000"/>
              </a:xfrm>
              <a:prstGeom prst="rect">
                <a:avLst/>
              </a:prstGeom>
              <a:solidFill>
                <a:schemeClr val="accent5">
                  <a:lumMod val="20000"/>
                  <a:lumOff val="80000"/>
                </a:schemeClr>
              </a:solidFill>
              <a:ln w="12700">
                <a:noFill/>
                <a:prstDash val="solid"/>
              </a:ln>
            </p:spPr>
          </p:sp>
          <p:sp>
            <p:nvSpPr>
              <p:cNvPr id="67" name="Shape 52"/>
              <p:cNvSpPr/>
              <p:nvPr/>
            </p:nvSpPr>
            <p:spPr>
              <a:xfrm>
                <a:off x="6336712" y="5108400"/>
                <a:ext cx="198000" cy="36000"/>
              </a:xfrm>
              <a:prstGeom prst="rect">
                <a:avLst/>
              </a:prstGeom>
              <a:solidFill>
                <a:schemeClr val="accent5">
                  <a:lumMod val="20000"/>
                  <a:lumOff val="80000"/>
                </a:schemeClr>
              </a:solidFill>
              <a:ln w="12700">
                <a:noFill/>
                <a:prstDash val="solid"/>
              </a:ln>
            </p:spPr>
          </p:sp>
          <p:sp>
            <p:nvSpPr>
              <p:cNvPr id="68" name="Shape 52"/>
              <p:cNvSpPr/>
              <p:nvPr/>
            </p:nvSpPr>
            <p:spPr>
              <a:xfrm>
                <a:off x="6534712" y="5108400"/>
                <a:ext cx="198000" cy="36000"/>
              </a:xfrm>
              <a:prstGeom prst="rect">
                <a:avLst/>
              </a:prstGeom>
              <a:solidFill>
                <a:schemeClr val="accent5">
                  <a:lumMod val="20000"/>
                  <a:lumOff val="80000"/>
                </a:schemeClr>
              </a:solidFill>
              <a:ln w="12700">
                <a:noFill/>
                <a:prstDash val="solid"/>
              </a:ln>
            </p:spPr>
          </p:sp>
          <p:sp>
            <p:nvSpPr>
              <p:cNvPr id="69" name="Shape 52"/>
              <p:cNvSpPr/>
              <p:nvPr/>
            </p:nvSpPr>
            <p:spPr>
              <a:xfrm>
                <a:off x="6732712" y="5108400"/>
                <a:ext cx="198000" cy="36000"/>
              </a:xfrm>
              <a:prstGeom prst="rect">
                <a:avLst/>
              </a:prstGeom>
              <a:solidFill>
                <a:schemeClr val="accent5">
                  <a:lumMod val="20000"/>
                  <a:lumOff val="80000"/>
                </a:schemeClr>
              </a:solidFill>
              <a:ln w="12700">
                <a:noFill/>
                <a:prstDash val="solid"/>
              </a:ln>
            </p:spPr>
          </p:sp>
          <p:sp>
            <p:nvSpPr>
              <p:cNvPr id="70" name="Shape 52"/>
              <p:cNvSpPr/>
              <p:nvPr/>
            </p:nvSpPr>
            <p:spPr>
              <a:xfrm>
                <a:off x="6930712" y="5108400"/>
                <a:ext cx="198000" cy="36000"/>
              </a:xfrm>
              <a:prstGeom prst="rect">
                <a:avLst/>
              </a:prstGeom>
              <a:solidFill>
                <a:schemeClr val="accent5">
                  <a:lumMod val="20000"/>
                  <a:lumOff val="80000"/>
                </a:schemeClr>
              </a:solidFill>
              <a:ln w="12700">
                <a:noFill/>
                <a:prstDash val="solid"/>
              </a:ln>
            </p:spPr>
          </p:sp>
          <p:sp>
            <p:nvSpPr>
              <p:cNvPr id="71" name="Shape 52"/>
              <p:cNvSpPr/>
              <p:nvPr/>
            </p:nvSpPr>
            <p:spPr>
              <a:xfrm>
                <a:off x="7128712" y="5108400"/>
                <a:ext cx="198000" cy="36000"/>
              </a:xfrm>
              <a:prstGeom prst="rect">
                <a:avLst/>
              </a:prstGeom>
              <a:solidFill>
                <a:schemeClr val="accent5">
                  <a:lumMod val="20000"/>
                  <a:lumOff val="80000"/>
                </a:schemeClr>
              </a:solidFill>
              <a:ln w="12700">
                <a:noFill/>
                <a:prstDash val="solid"/>
              </a:ln>
            </p:spPr>
          </p:sp>
          <p:sp>
            <p:nvSpPr>
              <p:cNvPr id="72" name="Shape 52"/>
              <p:cNvSpPr/>
              <p:nvPr/>
            </p:nvSpPr>
            <p:spPr>
              <a:xfrm>
                <a:off x="7326712" y="5108400"/>
                <a:ext cx="198000" cy="36000"/>
              </a:xfrm>
              <a:prstGeom prst="rect">
                <a:avLst/>
              </a:prstGeom>
              <a:solidFill>
                <a:schemeClr val="accent5">
                  <a:lumMod val="20000"/>
                  <a:lumOff val="80000"/>
                </a:schemeClr>
              </a:solidFill>
              <a:ln w="12700">
                <a:noFill/>
                <a:prstDash val="solid"/>
              </a:ln>
            </p:spPr>
          </p:sp>
          <p:sp>
            <p:nvSpPr>
              <p:cNvPr id="73" name="Shape 52"/>
              <p:cNvSpPr/>
              <p:nvPr/>
            </p:nvSpPr>
            <p:spPr>
              <a:xfrm>
                <a:off x="7524712" y="5108400"/>
                <a:ext cx="198000" cy="36000"/>
              </a:xfrm>
              <a:prstGeom prst="rect">
                <a:avLst/>
              </a:prstGeom>
              <a:solidFill>
                <a:schemeClr val="accent5">
                  <a:lumMod val="20000"/>
                  <a:lumOff val="80000"/>
                </a:schemeClr>
              </a:solidFill>
              <a:ln w="12700">
                <a:noFill/>
                <a:prstDash val="solid"/>
              </a:ln>
            </p:spPr>
          </p:sp>
          <p:sp>
            <p:nvSpPr>
              <p:cNvPr id="74" name="Shape 52"/>
              <p:cNvSpPr/>
              <p:nvPr/>
            </p:nvSpPr>
            <p:spPr>
              <a:xfrm>
                <a:off x="7722712" y="5108400"/>
                <a:ext cx="198000" cy="36000"/>
              </a:xfrm>
              <a:prstGeom prst="rect">
                <a:avLst/>
              </a:prstGeom>
              <a:solidFill>
                <a:schemeClr val="accent5">
                  <a:lumMod val="20000"/>
                  <a:lumOff val="80000"/>
                </a:schemeClr>
              </a:solidFill>
              <a:ln w="12700">
                <a:noFill/>
                <a:prstDash val="solid"/>
              </a:ln>
            </p:spPr>
          </p:sp>
          <p:sp>
            <p:nvSpPr>
              <p:cNvPr id="75" name="Shape 52"/>
              <p:cNvSpPr/>
              <p:nvPr/>
            </p:nvSpPr>
            <p:spPr>
              <a:xfrm>
                <a:off x="7920712" y="5109048"/>
                <a:ext cx="198000" cy="36000"/>
              </a:xfrm>
              <a:prstGeom prst="rect">
                <a:avLst/>
              </a:prstGeom>
              <a:solidFill>
                <a:schemeClr val="accent5">
                  <a:lumMod val="20000"/>
                  <a:lumOff val="80000"/>
                </a:schemeClr>
              </a:solidFill>
              <a:ln w="12700">
                <a:noFill/>
                <a:prstDash val="solid"/>
              </a:ln>
            </p:spPr>
          </p:sp>
          <p:sp>
            <p:nvSpPr>
              <p:cNvPr id="76" name="Shape 52"/>
              <p:cNvSpPr/>
              <p:nvPr/>
            </p:nvSpPr>
            <p:spPr>
              <a:xfrm>
                <a:off x="8118712" y="5109048"/>
                <a:ext cx="198000" cy="36000"/>
              </a:xfrm>
              <a:prstGeom prst="rect">
                <a:avLst/>
              </a:prstGeom>
              <a:solidFill>
                <a:schemeClr val="accent5">
                  <a:lumMod val="20000"/>
                  <a:lumOff val="80000"/>
                </a:schemeClr>
              </a:solidFill>
              <a:ln w="12700">
                <a:noFill/>
                <a:prstDash val="solid"/>
              </a:ln>
            </p:spPr>
          </p:sp>
          <p:sp>
            <p:nvSpPr>
              <p:cNvPr id="77" name="Shape 52"/>
              <p:cNvSpPr/>
              <p:nvPr/>
            </p:nvSpPr>
            <p:spPr>
              <a:xfrm>
                <a:off x="8316712" y="5109048"/>
                <a:ext cx="198000" cy="36000"/>
              </a:xfrm>
              <a:prstGeom prst="rect">
                <a:avLst/>
              </a:prstGeom>
              <a:solidFill>
                <a:schemeClr val="accent5">
                  <a:lumMod val="20000"/>
                  <a:lumOff val="80000"/>
                </a:schemeClr>
              </a:solidFill>
              <a:ln w="12700">
                <a:noFill/>
                <a:prstDash val="solid"/>
              </a:ln>
            </p:spPr>
          </p:sp>
          <p:sp>
            <p:nvSpPr>
              <p:cNvPr id="78" name="Shape 52"/>
              <p:cNvSpPr/>
              <p:nvPr/>
            </p:nvSpPr>
            <p:spPr>
              <a:xfrm>
                <a:off x="8514712" y="5109048"/>
                <a:ext cx="198000" cy="36000"/>
              </a:xfrm>
              <a:prstGeom prst="rect">
                <a:avLst/>
              </a:prstGeom>
              <a:solidFill>
                <a:schemeClr val="accent5">
                  <a:lumMod val="20000"/>
                  <a:lumOff val="80000"/>
                </a:schemeClr>
              </a:solidFill>
              <a:ln w="12700">
                <a:noFill/>
                <a:prstDash val="solid"/>
              </a:ln>
            </p:spPr>
          </p:sp>
          <p:sp>
            <p:nvSpPr>
              <p:cNvPr id="79" name="Shape 52"/>
              <p:cNvSpPr/>
              <p:nvPr/>
            </p:nvSpPr>
            <p:spPr>
              <a:xfrm>
                <a:off x="8712712" y="5109048"/>
                <a:ext cx="198000" cy="36000"/>
              </a:xfrm>
              <a:prstGeom prst="rect">
                <a:avLst/>
              </a:prstGeom>
              <a:grpFill/>
              <a:ln w="12700">
                <a:noFill/>
                <a:prstDash val="solid"/>
              </a:ln>
            </p:spPr>
          </p:sp>
          <p:sp>
            <p:nvSpPr>
              <p:cNvPr id="80"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320040" y="256032"/>
            <a:ext cx="54864" cy="502920"/>
          </a:xfrm>
          <a:prstGeom prst="rect">
            <a:avLst/>
          </a:prstGeom>
          <a:solidFill>
            <a:srgbClr val="FF2D78"/>
          </a:solidFill>
          <a:ln w="12700">
            <a:solidFill>
              <a:srgbClr val="FF2D78"/>
            </a:solidFill>
            <a:prstDash val="solid"/>
          </a:ln>
        </p:spPr>
      </p:sp>
      <p:sp>
        <p:nvSpPr>
          <p:cNvPr id="3" name="Text 1"/>
          <p:cNvSpPr/>
          <p:nvPr/>
        </p:nvSpPr>
        <p:spPr>
          <a:xfrm>
            <a:off x="475488" y="219456"/>
            <a:ext cx="8412480" cy="594360"/>
          </a:xfrm>
          <a:prstGeom prst="rect">
            <a:avLst/>
          </a:prstGeom>
          <a:noFill/>
          <a:ln/>
        </p:spPr>
        <p:txBody>
          <a:bodyPr wrap="square" lIns="0" tIns="0" rIns="0" bIns="0" rtlCol="0" anchor="ctr"/>
          <a:lstStyle/>
          <a:p>
            <a:pPr marL="0" indent="0">
              <a:buNone/>
            </a:pPr>
            <a:r>
              <a:rPr lang="en-US" sz="2200" b="1" dirty="0" err="1">
                <a:solidFill>
                  <a:srgbClr val="FFFFFF"/>
                </a:solidFill>
              </a:rPr>
              <a:t>Podsumowanie</a:t>
            </a:r>
            <a:r>
              <a:rPr lang="en-US" sz="2200" b="1" dirty="0">
                <a:solidFill>
                  <a:srgbClr val="FFFFFF"/>
                </a:solidFill>
              </a:rPr>
              <a:t> </a:t>
            </a:r>
            <a:r>
              <a:rPr lang="pl-PL" sz="2200" b="1" dirty="0" smtClean="0">
                <a:solidFill>
                  <a:srgbClr val="FFFFFF"/>
                </a:solidFill>
              </a:rPr>
              <a:t>w</a:t>
            </a:r>
            <a:r>
              <a:rPr lang="en-US" sz="2200" b="1" dirty="0" err="1" smtClean="0">
                <a:solidFill>
                  <a:srgbClr val="FFFFFF"/>
                </a:solidFill>
              </a:rPr>
              <a:t>ykładu</a:t>
            </a:r>
            <a:endParaRPr lang="en-US" sz="2200" dirty="0"/>
          </a:p>
        </p:txBody>
      </p:sp>
      <p:sp>
        <p:nvSpPr>
          <p:cNvPr id="4" name="Shape 2"/>
          <p:cNvSpPr/>
          <p:nvPr/>
        </p:nvSpPr>
        <p:spPr>
          <a:xfrm>
            <a:off x="320040" y="932688"/>
            <a:ext cx="4251960" cy="1024128"/>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5" name="Shape 3"/>
          <p:cNvSpPr/>
          <p:nvPr/>
        </p:nvSpPr>
        <p:spPr>
          <a:xfrm>
            <a:off x="320040" y="932688"/>
            <a:ext cx="45720" cy="1024128"/>
          </a:xfrm>
          <a:prstGeom prst="rect">
            <a:avLst/>
          </a:prstGeom>
          <a:solidFill>
            <a:srgbClr val="00D4FF"/>
          </a:solidFill>
          <a:ln w="12700">
            <a:solidFill>
              <a:srgbClr val="00D4FF"/>
            </a:solidFill>
            <a:prstDash val="solid"/>
          </a:ln>
        </p:spPr>
      </p:sp>
      <p:sp>
        <p:nvSpPr>
          <p:cNvPr id="6" name="Text 4"/>
          <p:cNvSpPr/>
          <p:nvPr/>
        </p:nvSpPr>
        <p:spPr>
          <a:xfrm>
            <a:off x="429768" y="996696"/>
            <a:ext cx="4096512" cy="256032"/>
          </a:xfrm>
          <a:prstGeom prst="rect">
            <a:avLst/>
          </a:prstGeom>
          <a:noFill/>
          <a:ln/>
        </p:spPr>
        <p:txBody>
          <a:bodyPr wrap="square" lIns="0" tIns="0" rIns="0" bIns="0" rtlCol="0" anchor="t"/>
          <a:lstStyle/>
          <a:p>
            <a:pPr marL="0" indent="0">
              <a:buNone/>
            </a:pPr>
            <a:r>
              <a:rPr lang="en-US" sz="1000" b="1" dirty="0">
                <a:solidFill>
                  <a:srgbClr val="00D4FF"/>
                </a:solidFill>
              </a:rPr>
              <a:t>UI vs UX &amp; Rodzaje Interfejsów</a:t>
            </a:r>
            <a:endParaRPr lang="en-US" sz="1000" dirty="0"/>
          </a:p>
        </p:txBody>
      </p:sp>
      <p:sp>
        <p:nvSpPr>
          <p:cNvPr id="7" name="Text 5"/>
          <p:cNvSpPr/>
          <p:nvPr/>
        </p:nvSpPr>
        <p:spPr>
          <a:xfrm>
            <a:off x="429768" y="1261872"/>
            <a:ext cx="4096512" cy="640080"/>
          </a:xfrm>
          <a:prstGeom prst="rect">
            <a:avLst/>
          </a:prstGeom>
          <a:noFill/>
          <a:ln/>
        </p:spPr>
        <p:txBody>
          <a:bodyPr wrap="square" lIns="0" tIns="0" rIns="0" bIns="0" rtlCol="0" anchor="t"/>
          <a:lstStyle/>
          <a:p>
            <a:pPr marL="0" indent="0">
              <a:buNone/>
            </a:pPr>
            <a:r>
              <a:rPr lang="en-US" sz="880" dirty="0">
                <a:solidFill>
                  <a:srgbClr val="CCDDEE"/>
                </a:solidFill>
              </a:rPr>
              <a:t>UI = warstwa wizualna; UX = całościowe doświadczenie. GUI dominuje, ale VUI, NUI, TUI i CUI mają rosnące znaczenie.</a:t>
            </a:r>
            <a:endParaRPr lang="en-US" sz="880" dirty="0"/>
          </a:p>
        </p:txBody>
      </p:sp>
      <p:sp>
        <p:nvSpPr>
          <p:cNvPr id="8" name="Shape 6"/>
          <p:cNvSpPr/>
          <p:nvPr/>
        </p:nvSpPr>
        <p:spPr>
          <a:xfrm>
            <a:off x="4727448" y="932688"/>
            <a:ext cx="4251960" cy="1024128"/>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9" name="Shape 7"/>
          <p:cNvSpPr/>
          <p:nvPr/>
        </p:nvSpPr>
        <p:spPr>
          <a:xfrm>
            <a:off x="4727448" y="932688"/>
            <a:ext cx="45720" cy="1024128"/>
          </a:xfrm>
          <a:prstGeom prst="rect">
            <a:avLst/>
          </a:prstGeom>
          <a:solidFill>
            <a:srgbClr val="FF2D78"/>
          </a:solidFill>
          <a:ln w="12700">
            <a:solidFill>
              <a:srgbClr val="FF2D78"/>
            </a:solidFill>
            <a:prstDash val="solid"/>
          </a:ln>
        </p:spPr>
      </p:sp>
      <p:sp>
        <p:nvSpPr>
          <p:cNvPr id="10" name="Text 8"/>
          <p:cNvSpPr/>
          <p:nvPr/>
        </p:nvSpPr>
        <p:spPr>
          <a:xfrm>
            <a:off x="4837176" y="996696"/>
            <a:ext cx="4096512" cy="256032"/>
          </a:xfrm>
          <a:prstGeom prst="rect">
            <a:avLst/>
          </a:prstGeom>
          <a:noFill/>
          <a:ln/>
        </p:spPr>
        <p:txBody>
          <a:bodyPr wrap="square" lIns="0" tIns="0" rIns="0" bIns="0" rtlCol="0" anchor="t"/>
          <a:lstStyle/>
          <a:p>
            <a:pPr marL="0" indent="0">
              <a:buNone/>
            </a:pPr>
            <a:r>
              <a:rPr lang="en-US" sz="1000" b="1" dirty="0">
                <a:solidFill>
                  <a:srgbClr val="FF2D78"/>
                </a:solidFill>
              </a:rPr>
              <a:t>Zasady Projektowania</a:t>
            </a:r>
            <a:endParaRPr lang="en-US" sz="1000" dirty="0"/>
          </a:p>
        </p:txBody>
      </p:sp>
      <p:sp>
        <p:nvSpPr>
          <p:cNvPr id="11" name="Text 9"/>
          <p:cNvSpPr/>
          <p:nvPr/>
        </p:nvSpPr>
        <p:spPr>
          <a:xfrm>
            <a:off x="4837176" y="1261872"/>
            <a:ext cx="4096512" cy="640080"/>
          </a:xfrm>
          <a:prstGeom prst="rect">
            <a:avLst/>
          </a:prstGeom>
          <a:noFill/>
          <a:ln/>
        </p:spPr>
        <p:txBody>
          <a:bodyPr wrap="square" lIns="0" tIns="0" rIns="0" bIns="0" rtlCol="0" anchor="t"/>
          <a:lstStyle/>
          <a:p>
            <a:pPr marL="0" indent="0">
              <a:buNone/>
            </a:pPr>
            <a:r>
              <a:rPr lang="en-US" sz="880" dirty="0">
                <a:solidFill>
                  <a:srgbClr val="CCDDEE"/>
                </a:solidFill>
              </a:rPr>
              <a:t>Heurystyki Nielsena, prawo Hicka (ogranicz opcje) i prawo Fittsa (większy cel = lepszy) to fundamenty decyzji projektowych.</a:t>
            </a:r>
            <a:endParaRPr lang="en-US" sz="880" dirty="0"/>
          </a:p>
        </p:txBody>
      </p:sp>
      <p:sp>
        <p:nvSpPr>
          <p:cNvPr id="12" name="Shape 10"/>
          <p:cNvSpPr/>
          <p:nvPr/>
        </p:nvSpPr>
        <p:spPr>
          <a:xfrm>
            <a:off x="320040" y="2121408"/>
            <a:ext cx="4251960" cy="1024128"/>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13" name="Shape 11"/>
          <p:cNvSpPr/>
          <p:nvPr/>
        </p:nvSpPr>
        <p:spPr>
          <a:xfrm>
            <a:off x="320040" y="2121408"/>
            <a:ext cx="45720" cy="1024128"/>
          </a:xfrm>
          <a:prstGeom prst="rect">
            <a:avLst/>
          </a:prstGeom>
          <a:solidFill>
            <a:srgbClr val="00E676"/>
          </a:solidFill>
          <a:ln w="12700">
            <a:solidFill>
              <a:srgbClr val="00E676"/>
            </a:solidFill>
            <a:prstDash val="solid"/>
          </a:ln>
        </p:spPr>
      </p:sp>
      <p:sp>
        <p:nvSpPr>
          <p:cNvPr id="14" name="Text 12"/>
          <p:cNvSpPr/>
          <p:nvPr/>
        </p:nvSpPr>
        <p:spPr>
          <a:xfrm>
            <a:off x="429768" y="2185416"/>
            <a:ext cx="4096512" cy="256032"/>
          </a:xfrm>
          <a:prstGeom prst="rect">
            <a:avLst/>
          </a:prstGeom>
          <a:noFill/>
          <a:ln/>
        </p:spPr>
        <p:txBody>
          <a:bodyPr wrap="square" lIns="0" tIns="0" rIns="0" bIns="0" rtlCol="0" anchor="t"/>
          <a:lstStyle/>
          <a:p>
            <a:pPr marL="0" indent="0">
              <a:buNone/>
            </a:pPr>
            <a:r>
              <a:rPr lang="en-US" sz="1000" b="1" dirty="0">
                <a:solidFill>
                  <a:srgbClr val="00E676"/>
                </a:solidFill>
              </a:rPr>
              <a:t>Standardy iOS HIG / Material Design / WCAG</a:t>
            </a:r>
            <a:endParaRPr lang="en-US" sz="1000" dirty="0"/>
          </a:p>
        </p:txBody>
      </p:sp>
      <p:sp>
        <p:nvSpPr>
          <p:cNvPr id="15" name="Text 13"/>
          <p:cNvSpPr/>
          <p:nvPr/>
        </p:nvSpPr>
        <p:spPr>
          <a:xfrm>
            <a:off x="429768" y="2450592"/>
            <a:ext cx="4096512" cy="640080"/>
          </a:xfrm>
          <a:prstGeom prst="rect">
            <a:avLst/>
          </a:prstGeom>
          <a:noFill/>
          <a:ln/>
        </p:spPr>
        <p:txBody>
          <a:bodyPr wrap="square" lIns="0" tIns="0" rIns="0" bIns="0" rtlCol="0" anchor="t"/>
          <a:lstStyle/>
          <a:p>
            <a:pPr marL="0" indent="0">
              <a:buNone/>
            </a:pPr>
            <a:r>
              <a:rPr lang="en-US" sz="880" dirty="0">
                <a:solidFill>
                  <a:srgbClr val="CCDDEE"/>
                </a:solidFill>
              </a:rPr>
              <a:t>Znaj platformowe standardy — Apple, Google i W3C publikują wytyczne, które są obowiązującymi standardami branżowymi.</a:t>
            </a:r>
            <a:endParaRPr lang="en-US" sz="880" dirty="0"/>
          </a:p>
        </p:txBody>
      </p:sp>
      <p:sp>
        <p:nvSpPr>
          <p:cNvPr id="16" name="Shape 14"/>
          <p:cNvSpPr/>
          <p:nvPr/>
        </p:nvSpPr>
        <p:spPr>
          <a:xfrm>
            <a:off x="4727448" y="2121408"/>
            <a:ext cx="4251960" cy="1024128"/>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17" name="Shape 15"/>
          <p:cNvSpPr/>
          <p:nvPr/>
        </p:nvSpPr>
        <p:spPr>
          <a:xfrm>
            <a:off x="4727448" y="2121408"/>
            <a:ext cx="45720" cy="1024128"/>
          </a:xfrm>
          <a:prstGeom prst="rect">
            <a:avLst/>
          </a:prstGeom>
          <a:solidFill>
            <a:srgbClr val="B388FF"/>
          </a:solidFill>
          <a:ln w="12700">
            <a:solidFill>
              <a:srgbClr val="B388FF"/>
            </a:solidFill>
            <a:prstDash val="solid"/>
          </a:ln>
        </p:spPr>
      </p:sp>
      <p:sp>
        <p:nvSpPr>
          <p:cNvPr id="18" name="Text 16"/>
          <p:cNvSpPr/>
          <p:nvPr/>
        </p:nvSpPr>
        <p:spPr>
          <a:xfrm>
            <a:off x="4837176" y="2185416"/>
            <a:ext cx="4096512" cy="256032"/>
          </a:xfrm>
          <a:prstGeom prst="rect">
            <a:avLst/>
          </a:prstGeom>
          <a:noFill/>
          <a:ln/>
        </p:spPr>
        <p:txBody>
          <a:bodyPr wrap="square" lIns="0" tIns="0" rIns="0" bIns="0" rtlCol="0" anchor="t"/>
          <a:lstStyle/>
          <a:p>
            <a:pPr marL="0" indent="0">
              <a:buNone/>
            </a:pPr>
            <a:r>
              <a:rPr lang="en-US" sz="1000" b="1" dirty="0">
                <a:solidFill>
                  <a:srgbClr val="B388FF"/>
                </a:solidFill>
              </a:rPr>
              <a:t>Kolor, Typografia, Dźwięk, Haptyka</a:t>
            </a:r>
            <a:endParaRPr lang="en-US" sz="1000" dirty="0"/>
          </a:p>
        </p:txBody>
      </p:sp>
      <p:sp>
        <p:nvSpPr>
          <p:cNvPr id="19" name="Text 17"/>
          <p:cNvSpPr/>
          <p:nvPr/>
        </p:nvSpPr>
        <p:spPr>
          <a:xfrm>
            <a:off x="4837176" y="2450592"/>
            <a:ext cx="4096512" cy="640080"/>
          </a:xfrm>
          <a:prstGeom prst="rect">
            <a:avLst/>
          </a:prstGeom>
          <a:noFill/>
          <a:ln/>
        </p:spPr>
        <p:txBody>
          <a:bodyPr wrap="square" lIns="0" tIns="0" rIns="0" bIns="0" rtlCol="0" anchor="t"/>
          <a:lstStyle/>
          <a:p>
            <a:pPr marL="0" indent="0">
              <a:buNone/>
            </a:pPr>
            <a:r>
              <a:rPr lang="en-US" sz="880" dirty="0">
                <a:solidFill>
                  <a:srgbClr val="CCDDEE"/>
                </a:solidFill>
              </a:rPr>
              <a:t>Systemy kolorów z tokenami, hierarchia typograficzna, dźwięk i haptyka współtworzą pełne, zmysłowe doświadczenie mobilne.</a:t>
            </a:r>
            <a:endParaRPr lang="en-US" sz="880" dirty="0"/>
          </a:p>
        </p:txBody>
      </p:sp>
      <p:sp>
        <p:nvSpPr>
          <p:cNvPr id="20" name="Shape 18"/>
          <p:cNvSpPr/>
          <p:nvPr/>
        </p:nvSpPr>
        <p:spPr>
          <a:xfrm>
            <a:off x="320040" y="3310128"/>
            <a:ext cx="4251960" cy="1024128"/>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21" name="Shape 19"/>
          <p:cNvSpPr/>
          <p:nvPr/>
        </p:nvSpPr>
        <p:spPr>
          <a:xfrm>
            <a:off x="320040" y="3310128"/>
            <a:ext cx="45720" cy="1024128"/>
          </a:xfrm>
          <a:prstGeom prst="rect">
            <a:avLst/>
          </a:prstGeom>
          <a:solidFill>
            <a:srgbClr val="FF9100"/>
          </a:solidFill>
          <a:ln w="12700">
            <a:solidFill>
              <a:srgbClr val="FF9100"/>
            </a:solidFill>
            <a:prstDash val="solid"/>
          </a:ln>
        </p:spPr>
      </p:sp>
      <p:sp>
        <p:nvSpPr>
          <p:cNvPr id="22" name="Text 20"/>
          <p:cNvSpPr/>
          <p:nvPr/>
        </p:nvSpPr>
        <p:spPr>
          <a:xfrm>
            <a:off x="429768" y="3374136"/>
            <a:ext cx="4096512" cy="256032"/>
          </a:xfrm>
          <a:prstGeom prst="rect">
            <a:avLst/>
          </a:prstGeom>
          <a:noFill/>
          <a:ln/>
        </p:spPr>
        <p:txBody>
          <a:bodyPr wrap="square" lIns="0" tIns="0" rIns="0" bIns="0" rtlCol="0" anchor="t"/>
          <a:lstStyle/>
          <a:p>
            <a:pPr marL="0" indent="0">
              <a:buNone/>
            </a:pPr>
            <a:r>
              <a:rPr lang="en-US" sz="1000" b="1" dirty="0">
                <a:solidFill>
                  <a:srgbClr val="FF9100"/>
                </a:solidFill>
              </a:rPr>
              <a:t>Projektowanie Emocjonalne i Hierarchia</a:t>
            </a:r>
            <a:endParaRPr lang="en-US" sz="1000" dirty="0"/>
          </a:p>
        </p:txBody>
      </p:sp>
      <p:sp>
        <p:nvSpPr>
          <p:cNvPr id="23" name="Text 21"/>
          <p:cNvSpPr/>
          <p:nvPr/>
        </p:nvSpPr>
        <p:spPr>
          <a:xfrm>
            <a:off x="429768" y="3639312"/>
            <a:ext cx="4096512" cy="640080"/>
          </a:xfrm>
          <a:prstGeom prst="rect">
            <a:avLst/>
          </a:prstGeom>
          <a:noFill/>
          <a:ln/>
        </p:spPr>
        <p:txBody>
          <a:bodyPr wrap="square" lIns="0" tIns="0" rIns="0" bIns="0" rtlCol="0" anchor="t"/>
          <a:lstStyle/>
          <a:p>
            <a:pPr marL="0" indent="0">
              <a:buNone/>
            </a:pPr>
            <a:r>
              <a:rPr lang="en-US" sz="880" dirty="0">
                <a:solidFill>
                  <a:srgbClr val="CCDDEE"/>
                </a:solidFill>
              </a:rPr>
              <a:t>Model Normana (Visceral → Behavioral → Reflective), mikrointerakcje i zasady Gestalt tworzą zaangażowanie emocjonalne.</a:t>
            </a:r>
            <a:endParaRPr lang="en-US" sz="880" dirty="0"/>
          </a:p>
        </p:txBody>
      </p:sp>
      <p:sp>
        <p:nvSpPr>
          <p:cNvPr id="24" name="Shape 22"/>
          <p:cNvSpPr/>
          <p:nvPr/>
        </p:nvSpPr>
        <p:spPr>
          <a:xfrm>
            <a:off x="4727448" y="3310128"/>
            <a:ext cx="4251960" cy="1024128"/>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25" name="Shape 23"/>
          <p:cNvSpPr/>
          <p:nvPr/>
        </p:nvSpPr>
        <p:spPr>
          <a:xfrm>
            <a:off x="4727448" y="3310128"/>
            <a:ext cx="45720" cy="1024128"/>
          </a:xfrm>
          <a:prstGeom prst="rect">
            <a:avLst/>
          </a:prstGeom>
          <a:solidFill>
            <a:srgbClr val="FFD600"/>
          </a:solidFill>
          <a:ln w="12700">
            <a:solidFill>
              <a:srgbClr val="FFD600"/>
            </a:solidFill>
            <a:prstDash val="solid"/>
          </a:ln>
        </p:spPr>
      </p:sp>
      <p:sp>
        <p:nvSpPr>
          <p:cNvPr id="26" name="Text 24"/>
          <p:cNvSpPr/>
          <p:nvPr/>
        </p:nvSpPr>
        <p:spPr>
          <a:xfrm>
            <a:off x="4837176" y="3374136"/>
            <a:ext cx="4096512" cy="256032"/>
          </a:xfrm>
          <a:prstGeom prst="rect">
            <a:avLst/>
          </a:prstGeom>
          <a:noFill/>
          <a:ln/>
        </p:spPr>
        <p:txBody>
          <a:bodyPr wrap="square" lIns="0" tIns="0" rIns="0" bIns="0" rtlCol="0" anchor="t"/>
          <a:lstStyle/>
          <a:p>
            <a:pPr marL="0" indent="0">
              <a:buNone/>
            </a:pPr>
            <a:r>
              <a:rPr lang="en-US" sz="1000" b="1" dirty="0">
                <a:solidFill>
                  <a:srgbClr val="FFD600"/>
                </a:solidFill>
              </a:rPr>
              <a:t>Proces i Narzędzia</a:t>
            </a:r>
            <a:endParaRPr lang="en-US" sz="1000" dirty="0"/>
          </a:p>
        </p:txBody>
      </p:sp>
      <p:sp>
        <p:nvSpPr>
          <p:cNvPr id="27" name="Text 25"/>
          <p:cNvSpPr/>
          <p:nvPr/>
        </p:nvSpPr>
        <p:spPr>
          <a:xfrm>
            <a:off x="4837176" y="3639312"/>
            <a:ext cx="4096512" cy="640080"/>
          </a:xfrm>
          <a:prstGeom prst="rect">
            <a:avLst/>
          </a:prstGeom>
          <a:noFill/>
          <a:ln/>
        </p:spPr>
        <p:txBody>
          <a:bodyPr wrap="square" lIns="0" tIns="0" rIns="0" bIns="0" rtlCol="0" anchor="t"/>
          <a:lstStyle/>
          <a:p>
            <a:pPr marL="0" indent="0">
              <a:buNone/>
            </a:pPr>
            <a:r>
              <a:rPr lang="en-US" sz="880" dirty="0">
                <a:solidFill>
                  <a:srgbClr val="CCDDEE"/>
                </a:solidFill>
              </a:rPr>
              <a:t>Design Thinking: Research → Definicja → Ideacja → Projektowanie → Testowanie → Handoff. Figma to de facto standard.</a:t>
            </a:r>
            <a:endParaRPr lang="en-US" sz="880" dirty="0"/>
          </a:p>
        </p:txBody>
      </p:sp>
      <p:sp>
        <p:nvSpPr>
          <p:cNvPr id="30" name="Text 28"/>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a:solidFill>
                  <a:srgbClr val="8899AA"/>
                </a:solidFill>
              </a:rPr>
              <a:t>44 / </a:t>
            </a:r>
            <a:r>
              <a:rPr lang="pl-PL" sz="800" dirty="0" smtClean="0">
                <a:solidFill>
                  <a:srgbClr val="8899AA"/>
                </a:solidFill>
              </a:rPr>
              <a:t>46</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18314C"/>
        </a:solidFill>
        <a:effectLst/>
      </p:bgPr>
    </p:bg>
    <p:spTree>
      <p:nvGrpSpPr>
        <p:cNvPr id="1" name=""/>
        <p:cNvGrpSpPr/>
        <p:nvPr/>
      </p:nvGrpSpPr>
      <p:grpSpPr>
        <a:xfrm>
          <a:off x="0" y="0"/>
          <a:ext cx="0" cy="0"/>
          <a:chOff x="0" y="0"/>
          <a:chExt cx="0" cy="0"/>
        </a:xfrm>
      </p:grpSpPr>
      <p:grpSp>
        <p:nvGrpSpPr>
          <p:cNvPr id="56" name="Grupa 55"/>
          <p:cNvGrpSpPr/>
          <p:nvPr/>
        </p:nvGrpSpPr>
        <p:grpSpPr>
          <a:xfrm>
            <a:off x="-2381" y="4884912"/>
            <a:ext cx="9146381" cy="260136"/>
            <a:chOff x="-2381" y="4884912"/>
            <a:chExt cx="9146381" cy="260136"/>
          </a:xfrm>
        </p:grpSpPr>
        <p:sp>
          <p:nvSpPr>
            <p:cNvPr id="57" name="Shape 52"/>
            <p:cNvSpPr/>
            <p:nvPr/>
          </p:nvSpPr>
          <p:spPr>
            <a:xfrm>
              <a:off x="0" y="4884912"/>
              <a:ext cx="9144000" cy="252000"/>
            </a:xfrm>
            <a:prstGeom prst="rect">
              <a:avLst/>
            </a:prstGeom>
            <a:solidFill>
              <a:srgbClr val="071523"/>
            </a:solidFill>
            <a:ln w="12700">
              <a:solidFill>
                <a:srgbClr val="071523"/>
              </a:solidFill>
              <a:prstDash val="solid"/>
            </a:ln>
          </p:spPr>
        </p:sp>
        <p:sp>
          <p:nvSpPr>
            <p:cNvPr id="58" name="Text 38"/>
            <p:cNvSpPr/>
            <p:nvPr/>
          </p:nvSpPr>
          <p:spPr>
            <a:xfrm>
              <a:off x="32956" y="4917349"/>
              <a:ext cx="3613680" cy="180000"/>
            </a:xfrm>
            <a:prstGeom prst="rect">
              <a:avLst/>
            </a:prstGeom>
            <a:noFill/>
            <a:ln/>
          </p:spPr>
          <p:txBody>
            <a:bodyPr wrap="square" lIns="0" tIns="0" rIns="0" bIns="0" rtlCol="0" anchor="ctr"/>
            <a:lstStyle/>
            <a:p>
              <a:r>
                <a:rPr lang="en-US" sz="800" dirty="0">
                  <a:solidFill>
                    <a:schemeClr val="tx1">
                      <a:lumMod val="65000"/>
                      <a:lumOff val="35000"/>
                    </a:schemeClr>
                  </a:solidFill>
                </a:rPr>
                <a:t>Programowanie Aplikacji Mobilnych  •  </a:t>
              </a:r>
              <a:r>
                <a:rPr lang="pl-PL" sz="800" dirty="0" smtClean="0">
                  <a:solidFill>
                    <a:schemeClr val="tx1">
                      <a:lumMod val="65000"/>
                      <a:lumOff val="35000"/>
                    </a:schemeClr>
                  </a:solidFill>
                </a:rPr>
                <a:t>Projektowanie</a:t>
              </a:r>
              <a:r>
                <a:rPr lang="en-US" sz="800" dirty="0" smtClean="0">
                  <a:solidFill>
                    <a:schemeClr val="tx1">
                      <a:lumMod val="65000"/>
                      <a:lumOff val="35000"/>
                    </a:schemeClr>
                  </a:solidFill>
                </a:rPr>
                <a:t> UI/UX</a:t>
              </a:r>
              <a:endParaRPr lang="en-US" sz="800" dirty="0">
                <a:solidFill>
                  <a:schemeClr val="tx1">
                    <a:lumMod val="65000"/>
                    <a:lumOff val="35000"/>
                  </a:schemeClr>
                </a:solidFill>
              </a:endParaRPr>
            </a:p>
          </p:txBody>
        </p:sp>
        <p:grpSp>
          <p:nvGrpSpPr>
            <p:cNvPr id="59" name="Grupa 58"/>
            <p:cNvGrpSpPr/>
            <p:nvPr/>
          </p:nvGrpSpPr>
          <p:grpSpPr>
            <a:xfrm>
              <a:off x="-2381" y="5099329"/>
              <a:ext cx="9146381" cy="45719"/>
              <a:chOff x="-2381" y="5107500"/>
              <a:chExt cx="9111093" cy="37548"/>
            </a:xfrm>
            <a:solidFill>
              <a:schemeClr val="tx1"/>
            </a:solidFill>
          </p:grpSpPr>
          <p:sp>
            <p:nvSpPr>
              <p:cNvPr id="60"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62"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63"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64"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65"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66"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67"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68"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69"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70"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71"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72"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73"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74"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75"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76"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77"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78"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79"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80"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81"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82" name="Shape 52"/>
              <p:cNvSpPr/>
              <p:nvPr/>
            </p:nvSpPr>
            <p:spPr>
              <a:xfrm>
                <a:off x="4356712" y="5107500"/>
                <a:ext cx="198000" cy="36000"/>
              </a:xfrm>
              <a:prstGeom prst="rect">
                <a:avLst/>
              </a:prstGeom>
              <a:solidFill>
                <a:schemeClr val="accent5">
                  <a:lumMod val="20000"/>
                  <a:lumOff val="80000"/>
                </a:schemeClr>
              </a:solidFill>
              <a:ln w="12700">
                <a:noFill/>
                <a:prstDash val="solid"/>
              </a:ln>
            </p:spPr>
          </p:sp>
          <p:sp>
            <p:nvSpPr>
              <p:cNvPr id="83" name="Shape 52"/>
              <p:cNvSpPr/>
              <p:nvPr/>
            </p:nvSpPr>
            <p:spPr>
              <a:xfrm>
                <a:off x="4554712" y="5107500"/>
                <a:ext cx="198000" cy="36000"/>
              </a:xfrm>
              <a:prstGeom prst="rect">
                <a:avLst/>
              </a:prstGeom>
              <a:solidFill>
                <a:schemeClr val="accent5">
                  <a:lumMod val="20000"/>
                  <a:lumOff val="80000"/>
                </a:schemeClr>
              </a:solidFill>
              <a:ln w="12700">
                <a:noFill/>
                <a:prstDash val="solid"/>
              </a:ln>
            </p:spPr>
          </p:sp>
          <p:sp>
            <p:nvSpPr>
              <p:cNvPr id="84" name="Shape 52"/>
              <p:cNvSpPr/>
              <p:nvPr/>
            </p:nvSpPr>
            <p:spPr>
              <a:xfrm>
                <a:off x="4752712" y="5107500"/>
                <a:ext cx="198000" cy="36000"/>
              </a:xfrm>
              <a:prstGeom prst="rect">
                <a:avLst/>
              </a:prstGeom>
              <a:solidFill>
                <a:schemeClr val="accent5">
                  <a:lumMod val="20000"/>
                  <a:lumOff val="80000"/>
                </a:schemeClr>
              </a:solidFill>
              <a:ln w="12700">
                <a:noFill/>
                <a:prstDash val="solid"/>
              </a:ln>
            </p:spPr>
          </p:sp>
          <p:sp>
            <p:nvSpPr>
              <p:cNvPr id="85" name="Shape 52"/>
              <p:cNvSpPr/>
              <p:nvPr/>
            </p:nvSpPr>
            <p:spPr>
              <a:xfrm>
                <a:off x="4950712" y="5107500"/>
                <a:ext cx="198000" cy="36000"/>
              </a:xfrm>
              <a:prstGeom prst="rect">
                <a:avLst/>
              </a:prstGeom>
              <a:solidFill>
                <a:schemeClr val="accent5">
                  <a:lumMod val="20000"/>
                  <a:lumOff val="80000"/>
                </a:schemeClr>
              </a:solidFill>
              <a:ln w="12700">
                <a:noFill/>
                <a:prstDash val="solid"/>
              </a:ln>
            </p:spPr>
          </p:sp>
          <p:sp>
            <p:nvSpPr>
              <p:cNvPr id="86" name="Shape 52"/>
              <p:cNvSpPr/>
              <p:nvPr/>
            </p:nvSpPr>
            <p:spPr>
              <a:xfrm>
                <a:off x="5148712" y="5107500"/>
                <a:ext cx="198000" cy="36000"/>
              </a:xfrm>
              <a:prstGeom prst="rect">
                <a:avLst/>
              </a:prstGeom>
              <a:solidFill>
                <a:schemeClr val="accent5">
                  <a:lumMod val="20000"/>
                  <a:lumOff val="80000"/>
                </a:schemeClr>
              </a:solidFill>
              <a:ln w="12700">
                <a:noFill/>
                <a:prstDash val="solid"/>
              </a:ln>
            </p:spPr>
          </p:sp>
          <p:sp>
            <p:nvSpPr>
              <p:cNvPr id="87" name="Shape 52"/>
              <p:cNvSpPr/>
              <p:nvPr/>
            </p:nvSpPr>
            <p:spPr>
              <a:xfrm>
                <a:off x="5346712" y="5108400"/>
                <a:ext cx="198000" cy="36000"/>
              </a:xfrm>
              <a:prstGeom prst="rect">
                <a:avLst/>
              </a:prstGeom>
              <a:solidFill>
                <a:schemeClr val="accent5">
                  <a:lumMod val="20000"/>
                  <a:lumOff val="80000"/>
                </a:schemeClr>
              </a:solidFill>
              <a:ln w="12700">
                <a:noFill/>
                <a:prstDash val="solid"/>
              </a:ln>
            </p:spPr>
          </p:sp>
          <p:sp>
            <p:nvSpPr>
              <p:cNvPr id="88" name="Shape 52"/>
              <p:cNvSpPr/>
              <p:nvPr/>
            </p:nvSpPr>
            <p:spPr>
              <a:xfrm>
                <a:off x="5544712" y="5108400"/>
                <a:ext cx="198000" cy="36000"/>
              </a:xfrm>
              <a:prstGeom prst="rect">
                <a:avLst/>
              </a:prstGeom>
              <a:solidFill>
                <a:schemeClr val="accent5">
                  <a:lumMod val="20000"/>
                  <a:lumOff val="80000"/>
                </a:schemeClr>
              </a:solidFill>
              <a:ln w="12700">
                <a:noFill/>
                <a:prstDash val="solid"/>
              </a:ln>
            </p:spPr>
          </p:sp>
          <p:sp>
            <p:nvSpPr>
              <p:cNvPr id="89" name="Shape 52"/>
              <p:cNvSpPr/>
              <p:nvPr/>
            </p:nvSpPr>
            <p:spPr>
              <a:xfrm>
                <a:off x="5742712" y="5108400"/>
                <a:ext cx="198000" cy="36000"/>
              </a:xfrm>
              <a:prstGeom prst="rect">
                <a:avLst/>
              </a:prstGeom>
              <a:solidFill>
                <a:schemeClr val="accent5">
                  <a:lumMod val="20000"/>
                  <a:lumOff val="80000"/>
                </a:schemeClr>
              </a:solidFill>
              <a:ln w="12700">
                <a:noFill/>
                <a:prstDash val="solid"/>
              </a:ln>
            </p:spPr>
          </p:sp>
          <p:sp>
            <p:nvSpPr>
              <p:cNvPr id="90" name="Shape 52"/>
              <p:cNvSpPr/>
              <p:nvPr/>
            </p:nvSpPr>
            <p:spPr>
              <a:xfrm>
                <a:off x="5940712" y="5108400"/>
                <a:ext cx="198000" cy="36000"/>
              </a:xfrm>
              <a:prstGeom prst="rect">
                <a:avLst/>
              </a:prstGeom>
              <a:solidFill>
                <a:schemeClr val="accent5">
                  <a:lumMod val="20000"/>
                  <a:lumOff val="80000"/>
                </a:schemeClr>
              </a:solidFill>
              <a:ln w="12700">
                <a:noFill/>
                <a:prstDash val="solid"/>
              </a:ln>
            </p:spPr>
          </p:sp>
          <p:sp>
            <p:nvSpPr>
              <p:cNvPr id="91" name="Shape 52"/>
              <p:cNvSpPr/>
              <p:nvPr/>
            </p:nvSpPr>
            <p:spPr>
              <a:xfrm>
                <a:off x="6138712" y="5108400"/>
                <a:ext cx="198000" cy="36000"/>
              </a:xfrm>
              <a:prstGeom prst="rect">
                <a:avLst/>
              </a:prstGeom>
              <a:solidFill>
                <a:schemeClr val="accent5">
                  <a:lumMod val="20000"/>
                  <a:lumOff val="80000"/>
                </a:schemeClr>
              </a:solidFill>
              <a:ln w="12700">
                <a:noFill/>
                <a:prstDash val="solid"/>
              </a:ln>
            </p:spPr>
          </p:sp>
          <p:sp>
            <p:nvSpPr>
              <p:cNvPr id="92" name="Shape 52"/>
              <p:cNvSpPr/>
              <p:nvPr/>
            </p:nvSpPr>
            <p:spPr>
              <a:xfrm>
                <a:off x="6336712" y="5108400"/>
                <a:ext cx="198000" cy="36000"/>
              </a:xfrm>
              <a:prstGeom prst="rect">
                <a:avLst/>
              </a:prstGeom>
              <a:solidFill>
                <a:schemeClr val="accent5">
                  <a:lumMod val="20000"/>
                  <a:lumOff val="80000"/>
                </a:schemeClr>
              </a:solidFill>
              <a:ln w="12700">
                <a:noFill/>
                <a:prstDash val="solid"/>
              </a:ln>
            </p:spPr>
          </p:sp>
          <p:sp>
            <p:nvSpPr>
              <p:cNvPr id="93" name="Shape 52"/>
              <p:cNvSpPr/>
              <p:nvPr/>
            </p:nvSpPr>
            <p:spPr>
              <a:xfrm>
                <a:off x="6534712" y="5108400"/>
                <a:ext cx="198000" cy="36000"/>
              </a:xfrm>
              <a:prstGeom prst="rect">
                <a:avLst/>
              </a:prstGeom>
              <a:solidFill>
                <a:schemeClr val="accent5">
                  <a:lumMod val="20000"/>
                  <a:lumOff val="80000"/>
                </a:schemeClr>
              </a:solidFill>
              <a:ln w="12700">
                <a:noFill/>
                <a:prstDash val="solid"/>
              </a:ln>
            </p:spPr>
          </p:sp>
          <p:sp>
            <p:nvSpPr>
              <p:cNvPr id="94" name="Shape 52"/>
              <p:cNvSpPr/>
              <p:nvPr/>
            </p:nvSpPr>
            <p:spPr>
              <a:xfrm>
                <a:off x="6732712" y="5108400"/>
                <a:ext cx="198000" cy="36000"/>
              </a:xfrm>
              <a:prstGeom prst="rect">
                <a:avLst/>
              </a:prstGeom>
              <a:solidFill>
                <a:schemeClr val="accent5">
                  <a:lumMod val="20000"/>
                  <a:lumOff val="80000"/>
                </a:schemeClr>
              </a:solidFill>
              <a:ln w="12700">
                <a:noFill/>
                <a:prstDash val="solid"/>
              </a:ln>
            </p:spPr>
          </p:sp>
          <p:sp>
            <p:nvSpPr>
              <p:cNvPr id="95" name="Shape 52"/>
              <p:cNvSpPr/>
              <p:nvPr/>
            </p:nvSpPr>
            <p:spPr>
              <a:xfrm>
                <a:off x="6930712" y="5108400"/>
                <a:ext cx="198000" cy="36000"/>
              </a:xfrm>
              <a:prstGeom prst="rect">
                <a:avLst/>
              </a:prstGeom>
              <a:solidFill>
                <a:schemeClr val="accent5">
                  <a:lumMod val="20000"/>
                  <a:lumOff val="80000"/>
                </a:schemeClr>
              </a:solidFill>
              <a:ln w="12700">
                <a:noFill/>
                <a:prstDash val="solid"/>
              </a:ln>
            </p:spPr>
          </p:sp>
          <p:sp>
            <p:nvSpPr>
              <p:cNvPr id="96" name="Shape 52"/>
              <p:cNvSpPr/>
              <p:nvPr/>
            </p:nvSpPr>
            <p:spPr>
              <a:xfrm>
                <a:off x="7128712" y="5108400"/>
                <a:ext cx="198000" cy="36000"/>
              </a:xfrm>
              <a:prstGeom prst="rect">
                <a:avLst/>
              </a:prstGeom>
              <a:solidFill>
                <a:schemeClr val="accent5">
                  <a:lumMod val="20000"/>
                  <a:lumOff val="80000"/>
                </a:schemeClr>
              </a:solidFill>
              <a:ln w="12700">
                <a:noFill/>
                <a:prstDash val="solid"/>
              </a:ln>
            </p:spPr>
          </p:sp>
          <p:sp>
            <p:nvSpPr>
              <p:cNvPr id="97" name="Shape 52"/>
              <p:cNvSpPr/>
              <p:nvPr/>
            </p:nvSpPr>
            <p:spPr>
              <a:xfrm>
                <a:off x="7326712" y="5108400"/>
                <a:ext cx="198000" cy="36000"/>
              </a:xfrm>
              <a:prstGeom prst="rect">
                <a:avLst/>
              </a:prstGeom>
              <a:solidFill>
                <a:schemeClr val="accent5">
                  <a:lumMod val="20000"/>
                  <a:lumOff val="80000"/>
                </a:schemeClr>
              </a:solidFill>
              <a:ln w="12700">
                <a:noFill/>
                <a:prstDash val="solid"/>
              </a:ln>
            </p:spPr>
          </p:sp>
          <p:sp>
            <p:nvSpPr>
              <p:cNvPr id="98" name="Shape 52"/>
              <p:cNvSpPr/>
              <p:nvPr/>
            </p:nvSpPr>
            <p:spPr>
              <a:xfrm>
                <a:off x="7524712" y="5108400"/>
                <a:ext cx="198000" cy="36000"/>
              </a:xfrm>
              <a:prstGeom prst="rect">
                <a:avLst/>
              </a:prstGeom>
              <a:solidFill>
                <a:schemeClr val="accent5">
                  <a:lumMod val="20000"/>
                  <a:lumOff val="80000"/>
                </a:schemeClr>
              </a:solidFill>
              <a:ln w="12700">
                <a:noFill/>
                <a:prstDash val="solid"/>
              </a:ln>
            </p:spPr>
          </p:sp>
          <p:sp>
            <p:nvSpPr>
              <p:cNvPr id="99" name="Shape 52"/>
              <p:cNvSpPr/>
              <p:nvPr/>
            </p:nvSpPr>
            <p:spPr>
              <a:xfrm>
                <a:off x="7722712" y="5108400"/>
                <a:ext cx="198000" cy="36000"/>
              </a:xfrm>
              <a:prstGeom prst="rect">
                <a:avLst/>
              </a:prstGeom>
              <a:solidFill>
                <a:schemeClr val="accent5">
                  <a:lumMod val="20000"/>
                  <a:lumOff val="80000"/>
                </a:schemeClr>
              </a:solidFill>
              <a:ln w="12700">
                <a:noFill/>
                <a:prstDash val="solid"/>
              </a:ln>
            </p:spPr>
          </p:sp>
          <p:sp>
            <p:nvSpPr>
              <p:cNvPr id="100" name="Shape 52"/>
              <p:cNvSpPr/>
              <p:nvPr/>
            </p:nvSpPr>
            <p:spPr>
              <a:xfrm>
                <a:off x="7920712" y="5109048"/>
                <a:ext cx="198000" cy="36000"/>
              </a:xfrm>
              <a:prstGeom prst="rect">
                <a:avLst/>
              </a:prstGeom>
              <a:solidFill>
                <a:schemeClr val="accent5">
                  <a:lumMod val="20000"/>
                  <a:lumOff val="80000"/>
                </a:schemeClr>
              </a:solidFill>
              <a:ln w="12700">
                <a:noFill/>
                <a:prstDash val="solid"/>
              </a:ln>
            </p:spPr>
          </p:sp>
          <p:sp>
            <p:nvSpPr>
              <p:cNvPr id="101" name="Shape 52"/>
              <p:cNvSpPr/>
              <p:nvPr/>
            </p:nvSpPr>
            <p:spPr>
              <a:xfrm>
                <a:off x="8118712" y="5109048"/>
                <a:ext cx="198000" cy="36000"/>
              </a:xfrm>
              <a:prstGeom prst="rect">
                <a:avLst/>
              </a:prstGeom>
              <a:solidFill>
                <a:schemeClr val="accent5">
                  <a:lumMod val="20000"/>
                  <a:lumOff val="80000"/>
                </a:schemeClr>
              </a:solidFill>
              <a:ln w="12700">
                <a:noFill/>
                <a:prstDash val="solid"/>
              </a:ln>
            </p:spPr>
          </p:sp>
          <p:sp>
            <p:nvSpPr>
              <p:cNvPr id="102" name="Shape 52"/>
              <p:cNvSpPr/>
              <p:nvPr/>
            </p:nvSpPr>
            <p:spPr>
              <a:xfrm>
                <a:off x="8316712" y="5109048"/>
                <a:ext cx="198000" cy="36000"/>
              </a:xfrm>
              <a:prstGeom prst="rect">
                <a:avLst/>
              </a:prstGeom>
              <a:solidFill>
                <a:schemeClr val="accent5">
                  <a:lumMod val="20000"/>
                  <a:lumOff val="80000"/>
                </a:schemeClr>
              </a:solidFill>
              <a:ln w="12700">
                <a:noFill/>
                <a:prstDash val="solid"/>
              </a:ln>
            </p:spPr>
          </p:sp>
          <p:sp>
            <p:nvSpPr>
              <p:cNvPr id="103" name="Shape 52"/>
              <p:cNvSpPr/>
              <p:nvPr/>
            </p:nvSpPr>
            <p:spPr>
              <a:xfrm>
                <a:off x="8514712" y="5109048"/>
                <a:ext cx="198000" cy="36000"/>
              </a:xfrm>
              <a:prstGeom prst="rect">
                <a:avLst/>
              </a:prstGeom>
              <a:solidFill>
                <a:schemeClr val="accent5">
                  <a:lumMod val="20000"/>
                  <a:lumOff val="80000"/>
                </a:schemeClr>
              </a:solidFill>
              <a:ln w="12700">
                <a:noFill/>
                <a:prstDash val="solid"/>
              </a:ln>
            </p:spPr>
          </p:sp>
          <p:sp>
            <p:nvSpPr>
              <p:cNvPr id="104" name="Shape 52"/>
              <p:cNvSpPr/>
              <p:nvPr/>
            </p:nvSpPr>
            <p:spPr>
              <a:xfrm>
                <a:off x="8712712" y="5109048"/>
                <a:ext cx="198000" cy="36000"/>
              </a:xfrm>
              <a:prstGeom prst="rect">
                <a:avLst/>
              </a:prstGeom>
              <a:solidFill>
                <a:schemeClr val="accent5">
                  <a:lumMod val="20000"/>
                  <a:lumOff val="80000"/>
                </a:schemeClr>
              </a:solidFill>
              <a:ln w="12700">
                <a:noFill/>
                <a:prstDash val="solid"/>
              </a:ln>
            </p:spPr>
          </p:sp>
          <p:sp>
            <p:nvSpPr>
              <p:cNvPr id="105" name="Shape 52"/>
              <p:cNvSpPr/>
              <p:nvPr/>
            </p:nvSpPr>
            <p:spPr>
              <a:xfrm>
                <a:off x="8910712" y="5109048"/>
                <a:ext cx="198000" cy="36000"/>
              </a:xfrm>
              <a:prstGeom prst="rect">
                <a:avLst/>
              </a:prstGeom>
              <a:grpFill/>
              <a:ln w="12700">
                <a:noFill/>
                <a:prstDash val="solid"/>
              </a:ln>
            </p:spPr>
          </p:sp>
        </p:grpSp>
      </p:grpSp>
      <p:sp>
        <p:nvSpPr>
          <p:cNvPr id="2" name="Shape 0"/>
          <p:cNvSpPr/>
          <p:nvPr/>
        </p:nvSpPr>
        <p:spPr>
          <a:xfrm>
            <a:off x="0" y="0"/>
            <a:ext cx="9143277" cy="657718"/>
          </a:xfrm>
          <a:prstGeom prst="rect">
            <a:avLst/>
          </a:prstGeom>
          <a:solidFill>
            <a:srgbClr val="0A1628"/>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3" name="Shape 1"/>
          <p:cNvSpPr/>
          <p:nvPr/>
        </p:nvSpPr>
        <p:spPr>
          <a:xfrm>
            <a:off x="0" y="658441"/>
            <a:ext cx="9143277" cy="18000"/>
          </a:xfrm>
          <a:prstGeom prst="rect">
            <a:avLst/>
          </a:prstGeom>
          <a:solidFill>
            <a:srgbClr val="00B4C5"/>
          </a:solidFill>
          <a:ln cap="flat">
            <a:noFill/>
            <a:prstDash val="solid"/>
          </a:ln>
        </p:spPr>
        <p:txBody>
          <a:bodyPr vert="horz" wrap="square" lIns="90004" tIns="722" rIns="90004" bIns="722"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4" name="Text 2"/>
          <p:cNvSpPr/>
          <p:nvPr/>
        </p:nvSpPr>
        <p:spPr>
          <a:xfrm>
            <a:off x="320040" y="54717"/>
            <a:ext cx="8503197" cy="566278"/>
          </a:xfrm>
          <a:prstGeom prst="rect">
            <a:avLst/>
          </a:prstGeom>
          <a:noFill/>
          <a:ln cap="flat">
            <a:noFill/>
            <a:prstDash val="solid"/>
          </a:ln>
        </p:spPr>
        <p:txBody>
          <a:bodyPr vert="horz" wrap="square" lIns="0" tIns="0" rIns="0" bIns="0" anchor="ctr" anchorCtr="0" compatLnSpc="0">
            <a:noAutofit/>
          </a:bodyPr>
          <a:lstStyle/>
          <a:p>
            <a:pPr marL="0" marR="0" lvl="0" indent="0" algn="l" defTabSz="914400" rtl="0" fontAlgn="auto" hangingPunct="1">
              <a:lnSpc>
                <a:spcPct val="100000"/>
              </a:lnSpc>
              <a:spcBef>
                <a:spcPts val="0"/>
              </a:spcBef>
              <a:spcAft>
                <a:spcPts val="0"/>
              </a:spcAft>
              <a:buNone/>
              <a:tabLst>
                <a:tab pos="0" algn="l"/>
              </a:tabLst>
              <a:defRPr lang="pl-PL" sz="1800" b="0" i="0" u="none" strike="noStrike" kern="0" cap="none" spc="0" baseline="0">
                <a:solidFill>
                  <a:srgbClr val="000000"/>
                </a:solidFill>
                <a:uFillTx/>
              </a:defRPr>
            </a:pPr>
            <a:r>
              <a:rPr lang="pl-PL" sz="2000" b="1" i="0" u="none" strike="noStrike" kern="0" cap="none" spc="0" baseline="0">
                <a:solidFill>
                  <a:srgbClr val="FFFFFF"/>
                </a:solidFill>
                <a:uFillTx/>
                <a:latin typeface="Cambria"/>
                <a:ea typeface="Cambria"/>
                <a:cs typeface="Noto Sans Devanagari"/>
              </a:rPr>
              <a:t>Pytania 1</a:t>
            </a:r>
            <a:endParaRPr lang="pl-PL" sz="1800" b="0" i="0" u="none" strike="noStrike" kern="0" cap="none" spc="0" baseline="0">
              <a:solidFill>
                <a:srgbClr val="000000"/>
              </a:solidFill>
              <a:uFillTx/>
              <a:latin typeface="Calibri"/>
            </a:endParaRPr>
          </a:p>
        </p:txBody>
      </p:sp>
      <p:sp>
        <p:nvSpPr>
          <p:cNvPr id="7" name="Shape 19"/>
          <p:cNvSpPr/>
          <p:nvPr/>
        </p:nvSpPr>
        <p:spPr>
          <a:xfrm>
            <a:off x="214134" y="757717"/>
            <a:ext cx="2880003" cy="971998"/>
          </a:xfrm>
          <a:prstGeom prst="rect">
            <a:avLst/>
          </a:prstGeom>
          <a:solidFill>
            <a:schemeClr val="bg1"/>
          </a:solidFill>
          <a:ln w="12600" cap="flat">
            <a:solidFill>
              <a:srgbClr val="CBD5E5"/>
            </a:solidFill>
            <a:prstDash val="solid"/>
            <a:round/>
          </a:ln>
          <a:effectLst>
            <a:outerShdw dist="25462" dir="8100000" algn="tl">
              <a:srgbClr val="000000">
                <a:alpha val="6000"/>
              </a:srgbClr>
            </a:outerShdw>
          </a:effectLst>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8" name="Shape 20"/>
          <p:cNvSpPr/>
          <p:nvPr/>
        </p:nvSpPr>
        <p:spPr>
          <a:xfrm>
            <a:off x="214134" y="757717"/>
            <a:ext cx="36594" cy="971998"/>
          </a:xfrm>
          <a:prstGeom prst="rect">
            <a:avLst/>
          </a:prstGeom>
          <a:solidFill>
            <a:srgbClr val="00B4C5"/>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9" name="Text 21"/>
          <p:cNvSpPr/>
          <p:nvPr/>
        </p:nvSpPr>
        <p:spPr>
          <a:xfrm>
            <a:off x="301139" y="784911"/>
            <a:ext cx="2772003" cy="359999"/>
          </a:xfrm>
          <a:prstGeom prst="rect">
            <a:avLst/>
          </a:prstGeom>
          <a:noFill/>
          <a:ln cap="flat">
            <a:noFill/>
            <a:prstDash val="solid"/>
          </a:ln>
        </p:spPr>
        <p:txBody>
          <a:bodyPr vert="horz" wrap="square" lIns="0" tIns="0" rIns="0" bIns="0" anchor="ctr" anchorCtr="0" compatLnSpc="0">
            <a:noAutofit/>
          </a:bodyPr>
          <a:lstStyle/>
          <a:p>
            <a:pPr marL="0" marR="0" lvl="0" indent="0" algn="l" defTabSz="914400" rtl="0" fontAlgn="auto" hangingPunct="1">
              <a:lnSpc>
                <a:spcPts val="900"/>
              </a:lnSpc>
              <a:spcBef>
                <a:spcPts val="0"/>
              </a:spcBef>
              <a:spcAft>
                <a:spcPts val="0"/>
              </a:spcAft>
              <a:buNone/>
              <a:tabLst>
                <a:tab pos="0" algn="l"/>
              </a:tabLst>
              <a:defRPr lang="pl-PL" sz="1800" b="0" i="0" u="none" strike="noStrike" kern="0" cap="none" spc="0" baseline="0">
                <a:solidFill>
                  <a:srgbClr val="000000"/>
                </a:solidFill>
                <a:uFillTx/>
              </a:defRPr>
            </a:pPr>
            <a:r>
              <a:rPr lang="pl-PL" sz="850" b="1" i="0" u="none" strike="noStrike" kern="0" cap="none" spc="0" baseline="0" dirty="0">
                <a:solidFill>
                  <a:srgbClr val="182030"/>
                </a:solidFill>
                <a:uFillTx/>
                <a:latin typeface="Arial Nova" pitchFamily="34"/>
                <a:ea typeface="Calibri"/>
                <a:cs typeface="Calibri"/>
              </a:rPr>
              <a:t>Które problemy architektoniczne są szczególnie istotne przy projektowaniu aplikacji mobilnych </a:t>
            </a:r>
            <a:r>
              <a:rPr lang="pl-PL" sz="850" b="1" i="0" u="none" strike="noStrike" kern="0" cap="none" spc="0" baseline="0" dirty="0" smtClean="0">
                <a:solidFill>
                  <a:srgbClr val="182030"/>
                </a:solidFill>
                <a:uFillTx/>
                <a:latin typeface="Arial Nova" pitchFamily="34"/>
                <a:ea typeface="Calibri"/>
                <a:cs typeface="Calibri"/>
              </a:rPr>
              <a:t/>
            </a:r>
            <a:br>
              <a:rPr lang="pl-PL" sz="850" b="1" i="0" u="none" strike="noStrike" kern="0" cap="none" spc="0" baseline="0" dirty="0" smtClean="0">
                <a:solidFill>
                  <a:srgbClr val="182030"/>
                </a:solidFill>
                <a:uFillTx/>
                <a:latin typeface="Arial Nova" pitchFamily="34"/>
                <a:ea typeface="Calibri"/>
                <a:cs typeface="Calibri"/>
              </a:rPr>
            </a:br>
            <a:r>
              <a:rPr lang="pl-PL" sz="850" b="1" i="0" u="none" strike="noStrike" kern="0" cap="none" spc="0" baseline="0" dirty="0" smtClean="0">
                <a:solidFill>
                  <a:srgbClr val="182030"/>
                </a:solidFill>
                <a:uFillTx/>
                <a:latin typeface="Arial Nova" pitchFamily="34"/>
                <a:ea typeface="Calibri"/>
                <a:cs typeface="Calibri"/>
              </a:rPr>
              <a:t>w</a:t>
            </a:r>
            <a:r>
              <a:rPr lang="pl-PL" sz="850" b="1" i="0" u="none" strike="noStrike" kern="0" cap="none" spc="0" dirty="0" smtClean="0">
                <a:solidFill>
                  <a:srgbClr val="182030"/>
                </a:solidFill>
                <a:uFillTx/>
                <a:latin typeface="Arial Nova" pitchFamily="34"/>
                <a:ea typeface="Calibri"/>
                <a:cs typeface="Calibri"/>
              </a:rPr>
              <a:t> </a:t>
            </a:r>
            <a:r>
              <a:rPr lang="pl-PL" sz="850" b="1" i="0" u="none" strike="noStrike" kern="0" cap="none" spc="0" baseline="0" dirty="0" smtClean="0">
                <a:solidFill>
                  <a:srgbClr val="182030"/>
                </a:solidFill>
                <a:uFillTx/>
                <a:latin typeface="Arial Nova" pitchFamily="34"/>
                <a:ea typeface="Calibri"/>
                <a:cs typeface="Calibri"/>
              </a:rPr>
              <a:t>porównaniu </a:t>
            </a:r>
            <a:r>
              <a:rPr lang="pl-PL" sz="850" b="1" i="0" u="none" strike="noStrike" kern="0" cap="none" spc="0" baseline="0" dirty="0">
                <a:solidFill>
                  <a:srgbClr val="182030"/>
                </a:solidFill>
                <a:uFillTx/>
                <a:latin typeface="Arial Nova" pitchFamily="34"/>
                <a:ea typeface="Calibri"/>
                <a:cs typeface="Calibri"/>
              </a:rPr>
              <a:t>z aplikacjami desktopowymi?</a:t>
            </a:r>
            <a:endParaRPr lang="pl-PL" sz="850" b="1" i="0" u="none" strike="noStrike" kern="0" cap="none" spc="0" baseline="0" dirty="0">
              <a:solidFill>
                <a:srgbClr val="000000"/>
              </a:solidFill>
              <a:uFillTx/>
              <a:latin typeface="Arial Nova" pitchFamily="34"/>
              <a:ea typeface="Calibri"/>
              <a:cs typeface="Calibri"/>
            </a:endParaRPr>
          </a:p>
        </p:txBody>
      </p:sp>
      <p:sp>
        <p:nvSpPr>
          <p:cNvPr id="10" name="Text 22"/>
          <p:cNvSpPr/>
          <p:nvPr/>
        </p:nvSpPr>
        <p:spPr>
          <a:xfrm>
            <a:off x="367753" y="1119426"/>
            <a:ext cx="2596310" cy="611998"/>
          </a:xfrm>
          <a:prstGeom prst="rect">
            <a:avLst/>
          </a:prstGeom>
          <a:noFill/>
          <a:ln cap="flat">
            <a:noFill/>
            <a:prstDash val="solid"/>
          </a:ln>
        </p:spPr>
        <p:txBody>
          <a:bodyPr vert="horz" wrap="square" lIns="0" tIns="0" rIns="0" bIns="0" anchor="ctr" anchorCtr="0" compatLnSpc="0">
            <a:noAutofit/>
          </a:bodyPr>
          <a:lstStyle/>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3B5168"/>
                </a:solidFill>
                <a:uFillTx/>
                <a:latin typeface="Calibri"/>
                <a:ea typeface="Calibri"/>
                <a:cs typeface="Calibri"/>
              </a:rPr>
              <a:t>brak wielozadaniowości systemu operacyjnego</a:t>
            </a: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pl-PL" sz="800" b="0" i="0" u="none" strike="noStrike" kern="0" cap="none" spc="-31" baseline="0">
                <a:solidFill>
                  <a:srgbClr val="3B5168"/>
                </a:solidFill>
                <a:uFillTx/>
                <a:latin typeface="Calibri"/>
                <a:ea typeface="Calibri"/>
                <a:cs typeface="Calibri"/>
              </a:rPr>
              <a:t>brak systemów plików w urządzeniach mobilnych</a:t>
            </a: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000000"/>
                </a:solidFill>
                <a:uFillTx/>
                <a:latin typeface="Calibri"/>
                <a:ea typeface="Calibri"/>
                <a:cs typeface="Calibri"/>
              </a:rPr>
              <a:t>niestabilność połączenia sieciowego</a:t>
            </a: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000000"/>
                </a:solidFill>
                <a:uFillTx/>
                <a:latin typeface="Calibri"/>
                <a:ea typeface="Calibri"/>
                <a:cs typeface="Calibri"/>
              </a:rPr>
              <a:t>ograniczona dostępność energii</a:t>
            </a:r>
          </a:p>
        </p:txBody>
      </p:sp>
      <p:sp>
        <p:nvSpPr>
          <p:cNvPr id="12" name="Shape 19"/>
          <p:cNvSpPr/>
          <p:nvPr/>
        </p:nvSpPr>
        <p:spPr>
          <a:xfrm>
            <a:off x="214134" y="1774682"/>
            <a:ext cx="2880003" cy="971998"/>
          </a:xfrm>
          <a:prstGeom prst="rect">
            <a:avLst/>
          </a:prstGeom>
          <a:solidFill>
            <a:schemeClr val="bg1"/>
          </a:solidFill>
          <a:ln w="12600" cap="flat">
            <a:solidFill>
              <a:srgbClr val="CBD5E5"/>
            </a:solidFill>
            <a:prstDash val="solid"/>
            <a:round/>
          </a:ln>
          <a:effectLst>
            <a:outerShdw dist="25462" dir="8100000" algn="tl">
              <a:srgbClr val="000000">
                <a:alpha val="6000"/>
              </a:srgbClr>
            </a:outerShdw>
          </a:effectLst>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13" name="Shape 20"/>
          <p:cNvSpPr/>
          <p:nvPr/>
        </p:nvSpPr>
        <p:spPr>
          <a:xfrm>
            <a:off x="214134" y="1782302"/>
            <a:ext cx="36594" cy="971998"/>
          </a:xfrm>
          <a:prstGeom prst="rect">
            <a:avLst/>
          </a:prstGeom>
          <a:solidFill>
            <a:srgbClr val="ED7D31"/>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14" name="Text 21"/>
          <p:cNvSpPr/>
          <p:nvPr/>
        </p:nvSpPr>
        <p:spPr>
          <a:xfrm>
            <a:off x="301139" y="1825672"/>
            <a:ext cx="2772003" cy="359999"/>
          </a:xfrm>
          <a:prstGeom prst="rect">
            <a:avLst/>
          </a:prstGeom>
          <a:noFill/>
          <a:ln cap="flat">
            <a:noFill/>
            <a:prstDash val="solid"/>
          </a:ln>
        </p:spPr>
        <p:txBody>
          <a:bodyPr vert="horz" wrap="square" lIns="0" tIns="0" rIns="0" bIns="0" anchor="ctr" anchorCtr="0" compatLnSpc="0">
            <a:noAutofit/>
          </a:bodyPr>
          <a:lstStyle/>
          <a:p>
            <a:pPr marL="0" marR="0" lvl="0" indent="0" algn="l" defTabSz="914400" rtl="0" fontAlgn="auto" hangingPunct="1">
              <a:lnSpc>
                <a:spcPts val="900"/>
              </a:lnSpc>
              <a:spcBef>
                <a:spcPts val="0"/>
              </a:spcBef>
              <a:spcAft>
                <a:spcPts val="0"/>
              </a:spcAft>
              <a:buNone/>
              <a:tabLst>
                <a:tab pos="0" algn="l"/>
              </a:tabLst>
              <a:defRPr lang="pl-PL" sz="1800" b="0" i="0" u="none" strike="noStrike" kern="0" cap="none" spc="0" baseline="0">
                <a:solidFill>
                  <a:srgbClr val="000000"/>
                </a:solidFill>
                <a:uFillTx/>
              </a:defRPr>
            </a:pPr>
            <a:r>
              <a:rPr lang="pl-PL" sz="850" b="1" i="0" u="none" strike="noStrike" kern="0" cap="none" spc="0" baseline="0" dirty="0">
                <a:solidFill>
                  <a:srgbClr val="182030"/>
                </a:solidFill>
                <a:uFillTx/>
                <a:latin typeface="Arial Nova" pitchFamily="34"/>
                <a:ea typeface="Calibri"/>
                <a:cs typeface="Calibri"/>
              </a:rPr>
              <a:t>Które czynniki mają największy wpływ na fragmentację platformy Android z punktu </a:t>
            </a:r>
            <a:r>
              <a:rPr lang="pl-PL" sz="850" b="1" i="0" u="none" strike="noStrike" kern="0" cap="none" spc="0" baseline="0" dirty="0" smtClean="0">
                <a:solidFill>
                  <a:srgbClr val="182030"/>
                </a:solidFill>
                <a:uFillTx/>
                <a:latin typeface="Arial Nova" pitchFamily="34"/>
                <a:ea typeface="Calibri"/>
                <a:cs typeface="Calibri"/>
              </a:rPr>
              <a:t/>
            </a:r>
            <a:br>
              <a:rPr lang="pl-PL" sz="850" b="1" i="0" u="none" strike="noStrike" kern="0" cap="none" spc="0" baseline="0" dirty="0" smtClean="0">
                <a:solidFill>
                  <a:srgbClr val="182030"/>
                </a:solidFill>
                <a:uFillTx/>
                <a:latin typeface="Arial Nova" pitchFamily="34"/>
                <a:ea typeface="Calibri"/>
                <a:cs typeface="Calibri"/>
              </a:rPr>
            </a:br>
            <a:r>
              <a:rPr lang="pl-PL" sz="850" b="1" i="0" u="none" strike="noStrike" kern="0" cap="none" spc="0" baseline="0" dirty="0" smtClean="0">
                <a:solidFill>
                  <a:srgbClr val="182030"/>
                </a:solidFill>
                <a:uFillTx/>
                <a:latin typeface="Arial Nova" pitchFamily="34"/>
                <a:ea typeface="Calibri"/>
                <a:cs typeface="Calibri"/>
              </a:rPr>
              <a:t>widzenia </a:t>
            </a:r>
            <a:r>
              <a:rPr lang="pl-PL" sz="850" b="1" i="0" u="none" strike="noStrike" kern="0" cap="none" spc="0" baseline="0" dirty="0">
                <a:solidFill>
                  <a:srgbClr val="182030"/>
                </a:solidFill>
                <a:uFillTx/>
                <a:latin typeface="Arial Nova" pitchFamily="34"/>
                <a:ea typeface="Calibri"/>
                <a:cs typeface="Calibri"/>
              </a:rPr>
              <a:t>projektowania aplikacji?</a:t>
            </a:r>
            <a:endParaRPr lang="pl-PL" sz="850" b="1" i="0" u="none" strike="noStrike" kern="0" cap="none" spc="0" baseline="0" dirty="0">
              <a:solidFill>
                <a:srgbClr val="000000"/>
              </a:solidFill>
              <a:uFillTx/>
              <a:latin typeface="Arial Nova" pitchFamily="34"/>
              <a:ea typeface="Calibri"/>
              <a:cs typeface="Calibri"/>
            </a:endParaRPr>
          </a:p>
        </p:txBody>
      </p:sp>
      <p:sp>
        <p:nvSpPr>
          <p:cNvPr id="15" name="Text 22"/>
          <p:cNvSpPr/>
          <p:nvPr/>
        </p:nvSpPr>
        <p:spPr>
          <a:xfrm>
            <a:off x="367753" y="2166862"/>
            <a:ext cx="2596310" cy="611998"/>
          </a:xfrm>
          <a:prstGeom prst="rect">
            <a:avLst/>
          </a:prstGeom>
          <a:noFill/>
          <a:ln cap="flat">
            <a:noFill/>
            <a:prstDash val="solid"/>
          </a:ln>
        </p:spPr>
        <p:txBody>
          <a:bodyPr vert="horz" wrap="square" lIns="0" tIns="0" rIns="0" bIns="0" anchor="ctr" anchorCtr="0" compatLnSpc="0">
            <a:noAutofit/>
          </a:bodyPr>
          <a:lstStyle/>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pl-PL" sz="800" b="0" i="0" u="none" strike="noStrike" kern="0" cap="none" spc="-31" baseline="0">
                <a:solidFill>
                  <a:srgbClr val="3B5168"/>
                </a:solidFill>
                <a:uFillTx/>
                <a:latin typeface="Calibri"/>
                <a:ea typeface="Calibri"/>
                <a:cs typeface="Calibri"/>
              </a:rPr>
              <a:t>otwartość kodu źródłowego systemu Android</a:t>
            </a: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3B5168"/>
                </a:solidFill>
                <a:uFillTx/>
                <a:latin typeface="Calibri"/>
                <a:ea typeface="Calibri"/>
                <a:cs typeface="Calibri"/>
              </a:rPr>
              <a:t>obecność wielu języków programowania</a:t>
            </a:r>
            <a:endParaRPr lang="pl-PL" sz="800" b="0" i="0" u="none" strike="noStrike" kern="0" cap="none" spc="-31" baseline="0">
              <a:solidFill>
                <a:srgbClr val="3B5168"/>
              </a:solidFill>
              <a:uFillTx/>
              <a:latin typeface="Calibri"/>
              <a:ea typeface="Calibri"/>
              <a:cs typeface="Calibri"/>
            </a:endParaRP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pl-PL" sz="800" b="0" i="0" u="none" strike="noStrike" kern="0" cap="none" spc="-31" baseline="0">
                <a:solidFill>
                  <a:srgbClr val="000000"/>
                </a:solidFill>
                <a:uFillTx/>
                <a:latin typeface="Calibri"/>
                <a:ea typeface="Calibri"/>
                <a:cs typeface="Calibri"/>
              </a:rPr>
              <a:t>różnorodność konfiguracji sprzętowych urządzeń</a:t>
            </a: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pl-PL" sz="800" b="0" i="0" u="none" strike="noStrike" kern="0" cap="none" spc="-31" baseline="0">
                <a:solidFill>
                  <a:srgbClr val="000000"/>
                </a:solidFill>
                <a:uFillTx/>
                <a:latin typeface="Calibri"/>
                <a:ea typeface="Calibri"/>
                <a:cs typeface="Calibri"/>
              </a:rPr>
              <a:t>różnorodność producentów sprzętu i konfiguracji hardware</a:t>
            </a:r>
            <a:endParaRPr lang="en-US" sz="800" b="0" i="0" u="none" strike="noStrike" kern="0" cap="none" spc="-31" baseline="0">
              <a:solidFill>
                <a:srgbClr val="000000"/>
              </a:solidFill>
              <a:uFillTx/>
              <a:latin typeface="Calibri"/>
              <a:ea typeface="Calibri"/>
              <a:cs typeface="Calibri"/>
            </a:endParaRPr>
          </a:p>
        </p:txBody>
      </p:sp>
      <p:sp>
        <p:nvSpPr>
          <p:cNvPr id="16" name="Shape 19"/>
          <p:cNvSpPr/>
          <p:nvPr/>
        </p:nvSpPr>
        <p:spPr>
          <a:xfrm>
            <a:off x="214134" y="2809969"/>
            <a:ext cx="2880003" cy="971998"/>
          </a:xfrm>
          <a:prstGeom prst="rect">
            <a:avLst/>
          </a:prstGeom>
          <a:solidFill>
            <a:schemeClr val="bg1"/>
          </a:solidFill>
          <a:ln w="12600" cap="flat">
            <a:solidFill>
              <a:srgbClr val="CBD5E5"/>
            </a:solidFill>
            <a:prstDash val="solid"/>
            <a:round/>
          </a:ln>
          <a:effectLst>
            <a:outerShdw dist="25462" dir="8100000" algn="tl">
              <a:srgbClr val="000000">
                <a:alpha val="6000"/>
              </a:srgbClr>
            </a:outerShdw>
          </a:effectLst>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17" name="Shape 20"/>
          <p:cNvSpPr/>
          <p:nvPr/>
        </p:nvSpPr>
        <p:spPr>
          <a:xfrm>
            <a:off x="214134" y="2809969"/>
            <a:ext cx="36594" cy="971998"/>
          </a:xfrm>
          <a:prstGeom prst="rect">
            <a:avLst/>
          </a:prstGeom>
          <a:solidFill>
            <a:srgbClr val="548235"/>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18" name="Text 21"/>
          <p:cNvSpPr/>
          <p:nvPr/>
        </p:nvSpPr>
        <p:spPr>
          <a:xfrm>
            <a:off x="301139" y="2850504"/>
            <a:ext cx="2772003" cy="359999"/>
          </a:xfrm>
          <a:prstGeom prst="rect">
            <a:avLst/>
          </a:prstGeom>
          <a:noFill/>
          <a:ln cap="flat">
            <a:noFill/>
            <a:prstDash val="solid"/>
          </a:ln>
        </p:spPr>
        <p:txBody>
          <a:bodyPr vert="horz" wrap="square" lIns="0" tIns="0" rIns="0" bIns="0" anchor="ctr" anchorCtr="0" compatLnSpc="0">
            <a:noAutofit/>
          </a:bodyPr>
          <a:lstStyle/>
          <a:p>
            <a:pPr marL="0" marR="0" lvl="0" indent="0" algn="l" defTabSz="914400" rtl="0" fontAlgn="auto" hangingPunct="1">
              <a:lnSpc>
                <a:spcPts val="900"/>
              </a:lnSpc>
              <a:spcBef>
                <a:spcPts val="0"/>
              </a:spcBef>
              <a:spcAft>
                <a:spcPts val="0"/>
              </a:spcAft>
              <a:buNone/>
              <a:tabLst>
                <a:tab pos="0" algn="l"/>
              </a:tabLst>
              <a:defRPr lang="pl-PL" sz="1800" b="0" i="0" u="none" strike="noStrike" kern="0" cap="none" spc="0" baseline="0">
                <a:solidFill>
                  <a:srgbClr val="000000"/>
                </a:solidFill>
                <a:uFillTx/>
              </a:defRPr>
            </a:pPr>
            <a:r>
              <a:rPr lang="pl-PL" sz="850" b="1" i="0" u="none" strike="noStrike" kern="0" cap="none" spc="0" baseline="0" dirty="0">
                <a:solidFill>
                  <a:srgbClr val="182030"/>
                </a:solidFill>
                <a:uFillTx/>
                <a:latin typeface="Arial Nova" pitchFamily="34"/>
                <a:ea typeface="Calibri"/>
                <a:cs typeface="Calibri"/>
              </a:rPr>
              <a:t>Które elementy architektury aplikacji mobilnej zmniejszają sprzężenie między warstwą UI, </a:t>
            </a:r>
            <a:r>
              <a:rPr lang="pl-PL" sz="850" b="1" i="0" u="none" strike="noStrike" kern="0" cap="none" spc="0" baseline="0" dirty="0" smtClean="0">
                <a:solidFill>
                  <a:srgbClr val="182030"/>
                </a:solidFill>
                <a:uFillTx/>
                <a:latin typeface="Arial Nova" pitchFamily="34"/>
                <a:ea typeface="Calibri"/>
                <a:cs typeface="Calibri"/>
              </a:rPr>
              <a:t/>
            </a:r>
            <a:br>
              <a:rPr lang="pl-PL" sz="850" b="1" i="0" u="none" strike="noStrike" kern="0" cap="none" spc="0" baseline="0" dirty="0" smtClean="0">
                <a:solidFill>
                  <a:srgbClr val="182030"/>
                </a:solidFill>
                <a:uFillTx/>
                <a:latin typeface="Arial Nova" pitchFamily="34"/>
                <a:ea typeface="Calibri"/>
                <a:cs typeface="Calibri"/>
              </a:rPr>
            </a:br>
            <a:r>
              <a:rPr lang="pl-PL" sz="850" b="1" i="0" u="none" strike="noStrike" kern="0" cap="none" spc="0" baseline="0" dirty="0" smtClean="0">
                <a:solidFill>
                  <a:srgbClr val="182030"/>
                </a:solidFill>
                <a:uFillTx/>
                <a:latin typeface="Arial Nova" pitchFamily="34"/>
                <a:ea typeface="Calibri"/>
                <a:cs typeface="Calibri"/>
              </a:rPr>
              <a:t>a </a:t>
            </a:r>
            <a:r>
              <a:rPr lang="pl-PL" sz="850" b="1" i="0" u="none" strike="noStrike" kern="0" cap="none" spc="0" baseline="0" dirty="0">
                <a:solidFill>
                  <a:srgbClr val="182030"/>
                </a:solidFill>
                <a:uFillTx/>
                <a:latin typeface="Arial Nova" pitchFamily="34"/>
                <a:ea typeface="Calibri"/>
                <a:cs typeface="Calibri"/>
              </a:rPr>
              <a:t>logiką biznesową?</a:t>
            </a:r>
            <a:endParaRPr lang="pl-PL" sz="850" b="1" i="0" u="none" strike="noStrike" kern="0" cap="none" spc="0" baseline="0" dirty="0">
              <a:solidFill>
                <a:srgbClr val="000000"/>
              </a:solidFill>
              <a:uFillTx/>
              <a:latin typeface="Arial Nova" pitchFamily="34"/>
              <a:ea typeface="Calibri"/>
              <a:cs typeface="Calibri"/>
            </a:endParaRPr>
          </a:p>
        </p:txBody>
      </p:sp>
      <p:sp>
        <p:nvSpPr>
          <p:cNvPr id="19" name="Text 22"/>
          <p:cNvSpPr/>
          <p:nvPr/>
        </p:nvSpPr>
        <p:spPr>
          <a:xfrm>
            <a:off x="367753" y="3171669"/>
            <a:ext cx="2596310" cy="611998"/>
          </a:xfrm>
          <a:prstGeom prst="rect">
            <a:avLst/>
          </a:prstGeom>
          <a:noFill/>
          <a:ln cap="flat">
            <a:noFill/>
            <a:prstDash val="solid"/>
          </a:ln>
        </p:spPr>
        <p:txBody>
          <a:bodyPr vert="horz" wrap="square" lIns="0" tIns="0" rIns="0" bIns="0" anchor="ctr" anchorCtr="0" compatLnSpc="0">
            <a:noAutofit/>
          </a:bodyPr>
          <a:lstStyle/>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pl-PL" sz="800" b="0" i="0" u="none" strike="noStrike" kern="0" cap="none" spc="-31" baseline="0">
                <a:solidFill>
                  <a:srgbClr val="3B5168"/>
                </a:solidFill>
                <a:uFillTx/>
                <a:latin typeface="Calibri"/>
                <a:ea typeface="Calibri"/>
                <a:cs typeface="Calibri"/>
              </a:rPr>
              <a:t>bezpośrednie wywoływanie zapytań do bazy danych z Activity</a:t>
            </a: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pl-PL" sz="800" b="0" i="0" u="none" strike="noStrike" kern="0" cap="none" spc="-31" baseline="0">
                <a:solidFill>
                  <a:srgbClr val="3B5168"/>
                </a:solidFill>
                <a:uFillTx/>
                <a:latin typeface="Calibri"/>
                <a:ea typeface="Calibri"/>
                <a:cs typeface="Calibri"/>
              </a:rPr>
              <a:t>umieszczanie logiki biznesowej w klasach widoku</a:t>
            </a: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000000"/>
                </a:solidFill>
                <a:uFillTx/>
                <a:latin typeface="Calibri"/>
                <a:ea typeface="Calibri"/>
                <a:cs typeface="Calibri"/>
              </a:rPr>
              <a:t>zastosowanie architektury MVVM</a:t>
            </a:r>
            <a:endParaRPr lang="pl-PL" sz="800" b="0" i="0" u="none" strike="noStrike" kern="0" cap="none" spc="-31" baseline="0">
              <a:solidFill>
                <a:srgbClr val="000000"/>
              </a:solidFill>
              <a:uFillTx/>
              <a:latin typeface="Calibri"/>
              <a:ea typeface="Calibri"/>
              <a:cs typeface="Calibri"/>
            </a:endParaRP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pl-PL" sz="800" b="0" i="0" u="none" strike="noStrike" kern="0" cap="none" spc="-31" baseline="0">
                <a:solidFill>
                  <a:srgbClr val="000000"/>
                </a:solidFill>
                <a:uFillTx/>
                <a:latin typeface="Calibri"/>
                <a:ea typeface="Calibri"/>
                <a:cs typeface="Calibri"/>
              </a:rPr>
              <a:t>wykorzystanie warstwy repozytorium (repository pattern)</a:t>
            </a:r>
            <a:endParaRPr lang="en-US" sz="800" b="0" i="0" u="none" strike="noStrike" kern="0" cap="none" spc="-31" baseline="0">
              <a:solidFill>
                <a:srgbClr val="000000"/>
              </a:solidFill>
              <a:uFillTx/>
              <a:latin typeface="Calibri"/>
              <a:ea typeface="Calibri"/>
              <a:cs typeface="Calibri"/>
            </a:endParaRPr>
          </a:p>
        </p:txBody>
      </p:sp>
      <p:sp>
        <p:nvSpPr>
          <p:cNvPr id="20" name="Shape 19"/>
          <p:cNvSpPr/>
          <p:nvPr/>
        </p:nvSpPr>
        <p:spPr>
          <a:xfrm>
            <a:off x="214134" y="3841613"/>
            <a:ext cx="2880003" cy="971998"/>
          </a:xfrm>
          <a:prstGeom prst="rect">
            <a:avLst/>
          </a:prstGeom>
          <a:solidFill>
            <a:schemeClr val="bg1"/>
          </a:solidFill>
          <a:ln w="12600" cap="flat">
            <a:solidFill>
              <a:srgbClr val="CBD5E5"/>
            </a:solidFill>
            <a:prstDash val="solid"/>
            <a:round/>
          </a:ln>
          <a:effectLst>
            <a:outerShdw dist="25462" dir="8100000" algn="tl">
              <a:srgbClr val="000000">
                <a:alpha val="6000"/>
              </a:srgbClr>
            </a:outerShdw>
          </a:effectLst>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21" name="Shape 20"/>
          <p:cNvSpPr/>
          <p:nvPr/>
        </p:nvSpPr>
        <p:spPr>
          <a:xfrm>
            <a:off x="214134" y="3841613"/>
            <a:ext cx="36594" cy="971998"/>
          </a:xfrm>
          <a:prstGeom prst="rect">
            <a:avLst/>
          </a:prstGeom>
          <a:solidFill>
            <a:srgbClr val="7030A0"/>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22" name="Text 21"/>
          <p:cNvSpPr/>
          <p:nvPr/>
        </p:nvSpPr>
        <p:spPr>
          <a:xfrm>
            <a:off x="301139" y="3882149"/>
            <a:ext cx="2772003" cy="359999"/>
          </a:xfrm>
          <a:prstGeom prst="rect">
            <a:avLst/>
          </a:prstGeom>
          <a:noFill/>
          <a:ln cap="flat">
            <a:noFill/>
            <a:prstDash val="solid"/>
          </a:ln>
        </p:spPr>
        <p:txBody>
          <a:bodyPr vert="horz" wrap="square" lIns="0" tIns="0" rIns="0" bIns="0" anchor="ctr" anchorCtr="0" compatLnSpc="0">
            <a:noAutofit/>
          </a:bodyPr>
          <a:lstStyle/>
          <a:p>
            <a:pPr marL="0" marR="0" lvl="0" indent="0" algn="l" defTabSz="914400" rtl="0" fontAlgn="auto" hangingPunct="1">
              <a:lnSpc>
                <a:spcPts val="900"/>
              </a:lnSpc>
              <a:spcBef>
                <a:spcPts val="0"/>
              </a:spcBef>
              <a:spcAft>
                <a:spcPts val="0"/>
              </a:spcAft>
              <a:buNone/>
              <a:tabLst>
                <a:tab pos="0" algn="l"/>
              </a:tabLst>
              <a:defRPr lang="pl-PL" sz="1800" b="0" i="0" u="none" strike="noStrike" kern="0" cap="none" spc="0" baseline="0">
                <a:solidFill>
                  <a:srgbClr val="000000"/>
                </a:solidFill>
                <a:uFillTx/>
              </a:defRPr>
            </a:pPr>
            <a:r>
              <a:rPr lang="pl-PL" sz="850" b="1" i="0" u="none" strike="noStrike" kern="0" cap="none" spc="0" baseline="0">
                <a:solidFill>
                  <a:srgbClr val="182030"/>
                </a:solidFill>
                <a:uFillTx/>
                <a:latin typeface="Arial Nova" pitchFamily="34"/>
                <a:ea typeface="Calibri"/>
                <a:cs typeface="Calibri"/>
              </a:rPr>
              <a:t>Które mechanizmy systemu Android umożliwiają komunikację między komponentami aplikacji lub między aplikacjami?</a:t>
            </a:r>
            <a:endParaRPr lang="pl-PL" sz="850" b="1" i="0" u="none" strike="noStrike" kern="0" cap="none" spc="0" baseline="0">
              <a:solidFill>
                <a:srgbClr val="000000"/>
              </a:solidFill>
              <a:uFillTx/>
              <a:latin typeface="Arial Nova" pitchFamily="34"/>
              <a:ea typeface="Calibri"/>
              <a:cs typeface="Calibri"/>
            </a:endParaRPr>
          </a:p>
        </p:txBody>
      </p:sp>
      <p:sp>
        <p:nvSpPr>
          <p:cNvPr id="23" name="Text 22"/>
          <p:cNvSpPr/>
          <p:nvPr/>
        </p:nvSpPr>
        <p:spPr>
          <a:xfrm>
            <a:off x="367753" y="4203313"/>
            <a:ext cx="2596310" cy="611998"/>
          </a:xfrm>
          <a:prstGeom prst="rect">
            <a:avLst/>
          </a:prstGeom>
          <a:noFill/>
          <a:ln cap="flat">
            <a:noFill/>
            <a:prstDash val="solid"/>
          </a:ln>
        </p:spPr>
        <p:txBody>
          <a:bodyPr vert="horz" wrap="square" lIns="0" tIns="0" rIns="0" bIns="0" anchor="ctr" anchorCtr="0" compatLnSpc="0">
            <a:noAutofit/>
          </a:bodyPr>
          <a:lstStyle/>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pl-PL" sz="800" b="0" i="0" u="none" strike="noStrike" kern="0" cap="none" spc="-31" baseline="0">
                <a:solidFill>
                  <a:srgbClr val="3B5168"/>
                </a:solidFill>
                <a:uFillTx/>
                <a:latin typeface="Calibri"/>
                <a:ea typeface="Calibri"/>
                <a:cs typeface="Calibri"/>
              </a:rPr>
              <a:t>ViewModel</a:t>
            </a: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3B5168"/>
                </a:solidFill>
                <a:uFillTx/>
                <a:latin typeface="Calibri"/>
                <a:ea typeface="Calibri"/>
                <a:cs typeface="Calibri"/>
              </a:rPr>
              <a:t>Fragment transactions</a:t>
            </a:r>
            <a:endParaRPr lang="pl-PL" sz="800" b="0" i="0" u="none" strike="noStrike" kern="0" cap="none" spc="-31" baseline="0">
              <a:solidFill>
                <a:srgbClr val="3B5168"/>
              </a:solidFill>
              <a:uFillTx/>
              <a:latin typeface="Calibri"/>
              <a:ea typeface="Calibri"/>
              <a:cs typeface="Calibri"/>
            </a:endParaRP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000000"/>
                </a:solidFill>
                <a:uFillTx/>
                <a:latin typeface="Calibri"/>
                <a:ea typeface="Calibri"/>
                <a:cs typeface="Calibri"/>
              </a:rPr>
              <a:t>Binder IPC</a:t>
            </a: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pl-PL" sz="800" b="0" i="0" u="none" strike="noStrike" kern="0" cap="none" spc="-31" baseline="0">
                <a:solidFill>
                  <a:srgbClr val="000000"/>
                </a:solidFill>
                <a:uFillTx/>
                <a:latin typeface="Calibri"/>
                <a:ea typeface="Calibri"/>
                <a:cs typeface="Calibri"/>
              </a:rPr>
              <a:t>Intents</a:t>
            </a:r>
            <a:r>
              <a:rPr lang="en-US" sz="800" b="0" i="0" u="none" strike="noStrike" kern="0" cap="none" spc="-31" baseline="0">
                <a:solidFill>
                  <a:srgbClr val="000000"/>
                </a:solidFill>
                <a:uFillTx/>
                <a:latin typeface="Calibri"/>
                <a:ea typeface="Calibri"/>
                <a:cs typeface="Calibri"/>
              </a:rPr>
              <a:t> </a:t>
            </a:r>
          </a:p>
        </p:txBody>
      </p:sp>
      <p:sp>
        <p:nvSpPr>
          <p:cNvPr id="24" name="Shape 19"/>
          <p:cNvSpPr/>
          <p:nvPr/>
        </p:nvSpPr>
        <p:spPr>
          <a:xfrm>
            <a:off x="3159279" y="756016"/>
            <a:ext cx="2880003" cy="971998"/>
          </a:xfrm>
          <a:prstGeom prst="rect">
            <a:avLst/>
          </a:prstGeom>
          <a:solidFill>
            <a:schemeClr val="bg1"/>
          </a:solidFill>
          <a:ln w="12600" cap="flat">
            <a:solidFill>
              <a:srgbClr val="CBD5E5"/>
            </a:solidFill>
            <a:prstDash val="solid"/>
            <a:round/>
          </a:ln>
          <a:effectLst>
            <a:outerShdw dist="25462" dir="8100000" algn="tl">
              <a:srgbClr val="000000">
                <a:alpha val="6000"/>
              </a:srgbClr>
            </a:outerShdw>
          </a:effectLst>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25" name="Shape 20"/>
          <p:cNvSpPr/>
          <p:nvPr/>
        </p:nvSpPr>
        <p:spPr>
          <a:xfrm>
            <a:off x="3163129" y="756016"/>
            <a:ext cx="36594" cy="971998"/>
          </a:xfrm>
          <a:prstGeom prst="rect">
            <a:avLst/>
          </a:prstGeom>
          <a:solidFill>
            <a:srgbClr val="F4B183"/>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26" name="Text 21"/>
          <p:cNvSpPr/>
          <p:nvPr/>
        </p:nvSpPr>
        <p:spPr>
          <a:xfrm>
            <a:off x="3250134" y="783211"/>
            <a:ext cx="2772003" cy="359999"/>
          </a:xfrm>
          <a:prstGeom prst="rect">
            <a:avLst/>
          </a:prstGeom>
          <a:noFill/>
          <a:ln cap="flat">
            <a:noFill/>
            <a:prstDash val="solid"/>
          </a:ln>
        </p:spPr>
        <p:txBody>
          <a:bodyPr vert="horz" wrap="square" lIns="0" tIns="0" rIns="0" bIns="0" anchor="ctr" anchorCtr="0" compatLnSpc="0">
            <a:noAutofit/>
          </a:bodyPr>
          <a:lstStyle/>
          <a:p>
            <a:pPr marL="0" marR="0" lvl="0" indent="0" algn="l" defTabSz="914400" rtl="0" fontAlgn="auto" hangingPunct="1">
              <a:lnSpc>
                <a:spcPts val="900"/>
              </a:lnSpc>
              <a:spcBef>
                <a:spcPts val="0"/>
              </a:spcBef>
              <a:spcAft>
                <a:spcPts val="0"/>
              </a:spcAft>
              <a:buNone/>
              <a:tabLst>
                <a:tab pos="0" algn="l"/>
              </a:tabLst>
              <a:defRPr lang="pl-PL" sz="1800" b="0" i="0" u="none" strike="noStrike" kern="0" cap="none" spc="0" baseline="0">
                <a:solidFill>
                  <a:srgbClr val="000000"/>
                </a:solidFill>
                <a:uFillTx/>
              </a:defRPr>
            </a:pPr>
            <a:r>
              <a:rPr lang="pl-PL" sz="850" b="1" i="0" u="none" strike="noStrike" kern="0" cap="none" spc="0" baseline="0">
                <a:solidFill>
                  <a:srgbClr val="182030"/>
                </a:solidFill>
                <a:uFillTx/>
                <a:latin typeface="Arial Nova" pitchFamily="34"/>
                <a:ea typeface="Calibri"/>
                <a:cs typeface="Calibri"/>
              </a:rPr>
              <a:t>Które czynniki mają największy wpływ </a:t>
            </a:r>
            <a:br>
              <a:rPr lang="pl-PL" sz="850" b="1" i="0" u="none" strike="noStrike" kern="0" cap="none" spc="0" baseline="0">
                <a:solidFill>
                  <a:srgbClr val="182030"/>
                </a:solidFill>
                <a:uFillTx/>
                <a:latin typeface="Arial Nova" pitchFamily="34"/>
                <a:ea typeface="Calibri"/>
                <a:cs typeface="Calibri"/>
              </a:rPr>
            </a:br>
            <a:r>
              <a:rPr lang="pl-PL" sz="850" b="1" i="0" u="none" strike="noStrike" kern="0" cap="none" spc="0" baseline="0">
                <a:solidFill>
                  <a:srgbClr val="182030"/>
                </a:solidFill>
                <a:uFillTx/>
                <a:latin typeface="Arial Nova" pitchFamily="34"/>
                <a:ea typeface="Calibri"/>
                <a:cs typeface="Calibri"/>
              </a:rPr>
              <a:t>na zużycie energii przez aplikację mobilną?</a:t>
            </a:r>
            <a:endParaRPr lang="pl-PL" sz="850" b="1" i="0" u="none" strike="noStrike" kern="0" cap="none" spc="0" baseline="0">
              <a:solidFill>
                <a:srgbClr val="000000"/>
              </a:solidFill>
              <a:uFillTx/>
              <a:latin typeface="Arial Nova" pitchFamily="34"/>
              <a:ea typeface="Calibri"/>
              <a:cs typeface="Calibri"/>
            </a:endParaRPr>
          </a:p>
        </p:txBody>
      </p:sp>
      <p:sp>
        <p:nvSpPr>
          <p:cNvPr id="27" name="Text 22"/>
          <p:cNvSpPr/>
          <p:nvPr/>
        </p:nvSpPr>
        <p:spPr>
          <a:xfrm>
            <a:off x="3316748" y="1117725"/>
            <a:ext cx="2596310" cy="611998"/>
          </a:xfrm>
          <a:prstGeom prst="rect">
            <a:avLst/>
          </a:prstGeom>
          <a:noFill/>
          <a:ln cap="flat">
            <a:noFill/>
            <a:prstDash val="solid"/>
          </a:ln>
        </p:spPr>
        <p:txBody>
          <a:bodyPr vert="horz" wrap="square" lIns="0" tIns="0" rIns="0" bIns="0" anchor="ctr" anchorCtr="0" compatLnSpc="0">
            <a:noAutofit/>
          </a:bodyPr>
          <a:lstStyle/>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3B5168"/>
                </a:solidFill>
                <a:uFillTx/>
                <a:latin typeface="Calibri"/>
                <a:ea typeface="Calibri"/>
                <a:cs typeface="Calibri"/>
              </a:rPr>
              <a:t>liczba bibliotek Gradle</a:t>
            </a: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3B5168"/>
                </a:solidFill>
                <a:uFillTx/>
                <a:latin typeface="Calibri"/>
                <a:ea typeface="Calibri"/>
                <a:cs typeface="Calibri"/>
              </a:rPr>
              <a:t>liczba klas w projekcie</a:t>
            </a:r>
            <a:endParaRPr lang="pl-PL" sz="800" b="0" i="0" u="none" strike="noStrike" kern="0" cap="none" spc="-31" baseline="0">
              <a:solidFill>
                <a:srgbClr val="3B5168"/>
              </a:solidFill>
              <a:uFillTx/>
              <a:latin typeface="Calibri"/>
              <a:ea typeface="Calibri"/>
              <a:cs typeface="Calibri"/>
            </a:endParaRP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000000"/>
                </a:solidFill>
                <a:uFillTx/>
                <a:latin typeface="Calibri"/>
                <a:ea typeface="Calibri"/>
                <a:cs typeface="Calibri"/>
              </a:rPr>
              <a:t>intensywne użycie GPU</a:t>
            </a:r>
            <a:endParaRPr lang="pl-PL" sz="800" b="0" i="0" u="none" strike="noStrike" kern="0" cap="none" spc="-31" baseline="0">
              <a:solidFill>
                <a:srgbClr val="000000"/>
              </a:solidFill>
              <a:uFillTx/>
              <a:latin typeface="Calibri"/>
              <a:ea typeface="Calibri"/>
              <a:cs typeface="Calibri"/>
            </a:endParaRP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000000"/>
                </a:solidFill>
                <a:uFillTx/>
                <a:latin typeface="Calibri"/>
                <a:ea typeface="Calibri"/>
                <a:cs typeface="Calibri"/>
              </a:rPr>
              <a:t>częste operacje sieciowe</a:t>
            </a:r>
          </a:p>
        </p:txBody>
      </p:sp>
      <p:sp>
        <p:nvSpPr>
          <p:cNvPr id="28" name="Shape 19"/>
          <p:cNvSpPr/>
          <p:nvPr/>
        </p:nvSpPr>
        <p:spPr>
          <a:xfrm>
            <a:off x="3163129" y="1772981"/>
            <a:ext cx="2880003" cy="971998"/>
          </a:xfrm>
          <a:prstGeom prst="rect">
            <a:avLst/>
          </a:prstGeom>
          <a:solidFill>
            <a:schemeClr val="bg1"/>
          </a:solidFill>
          <a:ln w="12600" cap="flat">
            <a:solidFill>
              <a:srgbClr val="CBD5E5"/>
            </a:solidFill>
            <a:prstDash val="solid"/>
            <a:round/>
          </a:ln>
          <a:effectLst>
            <a:outerShdw dist="25462" dir="8100000" algn="tl">
              <a:srgbClr val="000000">
                <a:alpha val="6000"/>
              </a:srgbClr>
            </a:outerShdw>
          </a:effectLst>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29" name="Shape 20"/>
          <p:cNvSpPr/>
          <p:nvPr/>
        </p:nvSpPr>
        <p:spPr>
          <a:xfrm>
            <a:off x="3163129" y="1772981"/>
            <a:ext cx="36594" cy="971998"/>
          </a:xfrm>
          <a:prstGeom prst="rect">
            <a:avLst/>
          </a:prstGeom>
          <a:solidFill>
            <a:srgbClr val="2E75B6"/>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30" name="Text 21"/>
          <p:cNvSpPr/>
          <p:nvPr/>
        </p:nvSpPr>
        <p:spPr>
          <a:xfrm>
            <a:off x="3250134" y="1823971"/>
            <a:ext cx="2772003" cy="359999"/>
          </a:xfrm>
          <a:prstGeom prst="rect">
            <a:avLst/>
          </a:prstGeom>
          <a:noFill/>
          <a:ln cap="flat">
            <a:noFill/>
            <a:prstDash val="solid"/>
          </a:ln>
        </p:spPr>
        <p:txBody>
          <a:bodyPr vert="horz" wrap="square" lIns="0" tIns="0" rIns="0" bIns="0" anchor="ctr" anchorCtr="0" compatLnSpc="0">
            <a:noAutofit/>
          </a:bodyPr>
          <a:lstStyle/>
          <a:p>
            <a:pPr marL="0" marR="0" lvl="0" indent="0" algn="l" defTabSz="914400" rtl="0" fontAlgn="auto" hangingPunct="1">
              <a:lnSpc>
                <a:spcPts val="900"/>
              </a:lnSpc>
              <a:spcBef>
                <a:spcPts val="0"/>
              </a:spcBef>
              <a:spcAft>
                <a:spcPts val="0"/>
              </a:spcAft>
              <a:buNone/>
              <a:tabLst>
                <a:tab pos="0" algn="l"/>
              </a:tabLst>
              <a:defRPr lang="pl-PL" sz="1800" b="0" i="0" u="none" strike="noStrike" kern="0" cap="none" spc="0" baseline="0">
                <a:solidFill>
                  <a:srgbClr val="000000"/>
                </a:solidFill>
                <a:uFillTx/>
              </a:defRPr>
            </a:pPr>
            <a:r>
              <a:rPr lang="pl-PL" sz="850" b="1" i="0" u="none" strike="noStrike" kern="0" cap="none" spc="0" baseline="0" dirty="0">
                <a:solidFill>
                  <a:srgbClr val="182030"/>
                </a:solidFill>
                <a:uFillTx/>
                <a:latin typeface="Arial Nova" pitchFamily="34"/>
                <a:ea typeface="Calibri"/>
                <a:cs typeface="Calibri"/>
              </a:rPr>
              <a:t>Które cechy architektury offline-</a:t>
            </a:r>
            <a:r>
              <a:rPr lang="pl-PL" sz="850" b="1" i="0" u="none" strike="noStrike" kern="0" cap="none" spc="0" baseline="0" dirty="0" err="1">
                <a:solidFill>
                  <a:srgbClr val="182030"/>
                </a:solidFill>
                <a:uFillTx/>
                <a:latin typeface="Arial Nova" pitchFamily="34"/>
                <a:ea typeface="Calibri"/>
                <a:cs typeface="Calibri"/>
              </a:rPr>
              <a:t>first</a:t>
            </a:r>
            <a:r>
              <a:rPr lang="pl-PL" sz="850" b="1" i="0" u="none" strike="noStrike" kern="0" cap="none" spc="0" baseline="0" dirty="0">
                <a:solidFill>
                  <a:srgbClr val="182030"/>
                </a:solidFill>
                <a:uFillTx/>
                <a:latin typeface="Arial Nova" pitchFamily="34"/>
                <a:ea typeface="Calibri"/>
                <a:cs typeface="Calibri"/>
              </a:rPr>
              <a:t> </a:t>
            </a:r>
            <a:r>
              <a:rPr lang="pl-PL" sz="850" b="1" i="0" u="none" strike="noStrike" kern="0" cap="none" spc="0" baseline="0" dirty="0" smtClean="0">
                <a:solidFill>
                  <a:srgbClr val="182030"/>
                </a:solidFill>
                <a:uFillTx/>
                <a:latin typeface="Arial Nova" pitchFamily="34"/>
                <a:ea typeface="Calibri"/>
                <a:cs typeface="Calibri"/>
              </a:rPr>
              <a:t/>
            </a:r>
            <a:br>
              <a:rPr lang="pl-PL" sz="850" b="1" i="0" u="none" strike="noStrike" kern="0" cap="none" spc="0" baseline="0" dirty="0" smtClean="0">
                <a:solidFill>
                  <a:srgbClr val="182030"/>
                </a:solidFill>
                <a:uFillTx/>
                <a:latin typeface="Arial Nova" pitchFamily="34"/>
                <a:ea typeface="Calibri"/>
                <a:cs typeface="Calibri"/>
              </a:rPr>
            </a:br>
            <a:r>
              <a:rPr lang="pl-PL" sz="850" b="1" i="0" u="none" strike="noStrike" kern="0" cap="none" spc="0" baseline="0" dirty="0" smtClean="0">
                <a:solidFill>
                  <a:srgbClr val="182030"/>
                </a:solidFill>
                <a:uFillTx/>
                <a:latin typeface="Arial Nova" pitchFamily="34"/>
                <a:ea typeface="Calibri"/>
                <a:cs typeface="Calibri"/>
              </a:rPr>
              <a:t>są </a:t>
            </a:r>
            <a:r>
              <a:rPr lang="pl-PL" sz="850" b="1" i="0" u="none" strike="noStrike" kern="0" cap="none" spc="0" baseline="0" dirty="0">
                <a:solidFill>
                  <a:srgbClr val="182030"/>
                </a:solidFill>
                <a:uFillTx/>
                <a:latin typeface="Arial Nova" pitchFamily="34"/>
                <a:ea typeface="Calibri"/>
                <a:cs typeface="Calibri"/>
              </a:rPr>
              <a:t>kluczowe </a:t>
            </a:r>
            <a:r>
              <a:rPr lang="pl-PL" sz="850" b="1" i="0" u="none" strike="noStrike" kern="0" cap="none" spc="0" baseline="0" dirty="0" smtClean="0">
                <a:solidFill>
                  <a:srgbClr val="182030"/>
                </a:solidFill>
                <a:uFillTx/>
                <a:latin typeface="Arial Nova" pitchFamily="34"/>
                <a:ea typeface="Calibri"/>
                <a:cs typeface="Calibri"/>
              </a:rPr>
              <a:t>dla </a:t>
            </a:r>
            <a:r>
              <a:rPr lang="pl-PL" sz="850" b="1" i="0" u="none" strike="noStrike" kern="0" cap="none" spc="0" baseline="0" dirty="0">
                <a:solidFill>
                  <a:srgbClr val="182030"/>
                </a:solidFill>
                <a:uFillTx/>
                <a:latin typeface="Arial Nova" pitchFamily="34"/>
                <a:ea typeface="Calibri"/>
                <a:cs typeface="Calibri"/>
              </a:rPr>
              <a:t>aplikacji mobilnych?</a:t>
            </a:r>
            <a:endParaRPr lang="pl-PL" sz="850" b="1" i="0" u="none" strike="noStrike" kern="0" cap="none" spc="0" baseline="0" dirty="0">
              <a:solidFill>
                <a:srgbClr val="000000"/>
              </a:solidFill>
              <a:uFillTx/>
              <a:latin typeface="Arial Nova" pitchFamily="34"/>
              <a:ea typeface="Calibri"/>
              <a:cs typeface="Calibri"/>
            </a:endParaRPr>
          </a:p>
        </p:txBody>
      </p:sp>
      <p:sp>
        <p:nvSpPr>
          <p:cNvPr id="31" name="Text 22"/>
          <p:cNvSpPr/>
          <p:nvPr/>
        </p:nvSpPr>
        <p:spPr>
          <a:xfrm>
            <a:off x="3316748" y="2165162"/>
            <a:ext cx="2596310" cy="611998"/>
          </a:xfrm>
          <a:prstGeom prst="rect">
            <a:avLst/>
          </a:prstGeom>
          <a:noFill/>
          <a:ln cap="flat">
            <a:noFill/>
            <a:prstDash val="solid"/>
          </a:ln>
        </p:spPr>
        <p:txBody>
          <a:bodyPr vert="horz" wrap="square" lIns="0" tIns="0" rIns="0" bIns="0" anchor="ctr" anchorCtr="0" compatLnSpc="0">
            <a:noAutofit/>
          </a:bodyPr>
          <a:lstStyle/>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pl-PL" sz="800" b="0" i="0" u="none" strike="noStrike" kern="0" cap="none" spc="-31" baseline="0">
                <a:solidFill>
                  <a:srgbClr val="3B5168"/>
                </a:solidFill>
                <a:uFillTx/>
                <a:latin typeface="Calibri"/>
                <a:ea typeface="Calibri"/>
                <a:cs typeface="Calibri"/>
              </a:rPr>
              <a:t>blokowanie UI w przypadku braku połączenia z siecią</a:t>
            </a: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pl-PL" sz="800" b="0" i="0" u="none" strike="noStrike" kern="0" cap="none" spc="-31" baseline="0">
                <a:solidFill>
                  <a:srgbClr val="3B5168"/>
                </a:solidFill>
                <a:uFillTx/>
                <a:latin typeface="Calibri"/>
                <a:ea typeface="Calibri"/>
                <a:cs typeface="Calibri"/>
              </a:rPr>
              <a:t>przechowywanie danych wyłącznie w pamięci RAM</a:t>
            </a: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000000"/>
                </a:solidFill>
                <a:uFillTx/>
                <a:latin typeface="Calibri"/>
                <a:ea typeface="Calibri"/>
                <a:cs typeface="Calibri"/>
              </a:rPr>
              <a:t>mechanizmy synchronizacji konfliktów danych</a:t>
            </a:r>
            <a:endParaRPr lang="pl-PL" sz="800" b="0" i="0" u="none" strike="noStrike" kern="0" cap="none" spc="-31" baseline="0">
              <a:solidFill>
                <a:srgbClr val="000000"/>
              </a:solidFill>
              <a:uFillTx/>
              <a:latin typeface="Calibri"/>
              <a:ea typeface="Calibri"/>
              <a:cs typeface="Calibri"/>
            </a:endParaRP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pl-PL" sz="800" b="0" i="0" u="none" strike="noStrike" kern="0" cap="none" spc="-31" baseline="0">
                <a:solidFill>
                  <a:srgbClr val="000000"/>
                </a:solidFill>
                <a:uFillTx/>
                <a:latin typeface="Calibri"/>
                <a:ea typeface="Calibri"/>
                <a:cs typeface="Calibri"/>
              </a:rPr>
              <a:t>lokalna baza danych synchronizowana z serwerem</a:t>
            </a:r>
            <a:endParaRPr lang="en-US" sz="800" b="0" i="0" u="none" strike="noStrike" kern="0" cap="none" spc="-31" baseline="0">
              <a:solidFill>
                <a:srgbClr val="000000"/>
              </a:solidFill>
              <a:uFillTx/>
              <a:latin typeface="Calibri"/>
              <a:ea typeface="Calibri"/>
              <a:cs typeface="Calibri"/>
            </a:endParaRPr>
          </a:p>
        </p:txBody>
      </p:sp>
      <p:sp>
        <p:nvSpPr>
          <p:cNvPr id="32" name="Shape 19"/>
          <p:cNvSpPr/>
          <p:nvPr/>
        </p:nvSpPr>
        <p:spPr>
          <a:xfrm>
            <a:off x="3163129" y="2808268"/>
            <a:ext cx="2880003" cy="971998"/>
          </a:xfrm>
          <a:prstGeom prst="rect">
            <a:avLst/>
          </a:prstGeom>
          <a:solidFill>
            <a:schemeClr val="bg1"/>
          </a:solidFill>
          <a:ln w="12600" cap="flat">
            <a:solidFill>
              <a:srgbClr val="CBD5E5"/>
            </a:solidFill>
            <a:prstDash val="solid"/>
            <a:round/>
          </a:ln>
          <a:effectLst>
            <a:outerShdw dist="25462" dir="8100000" algn="tl">
              <a:srgbClr val="000000">
                <a:alpha val="6000"/>
              </a:srgbClr>
            </a:outerShdw>
          </a:effectLst>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33" name="Shape 20"/>
          <p:cNvSpPr/>
          <p:nvPr/>
        </p:nvSpPr>
        <p:spPr>
          <a:xfrm>
            <a:off x="3163129" y="2808268"/>
            <a:ext cx="36594" cy="971998"/>
          </a:xfrm>
          <a:prstGeom prst="rect">
            <a:avLst/>
          </a:prstGeom>
          <a:solidFill>
            <a:srgbClr val="FFD966"/>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34" name="Text 21"/>
          <p:cNvSpPr/>
          <p:nvPr/>
        </p:nvSpPr>
        <p:spPr>
          <a:xfrm>
            <a:off x="3250134" y="2848804"/>
            <a:ext cx="2772003" cy="359999"/>
          </a:xfrm>
          <a:prstGeom prst="rect">
            <a:avLst/>
          </a:prstGeom>
          <a:noFill/>
          <a:ln cap="flat">
            <a:noFill/>
            <a:prstDash val="solid"/>
          </a:ln>
        </p:spPr>
        <p:txBody>
          <a:bodyPr vert="horz" wrap="square" lIns="0" tIns="0" rIns="0" bIns="0" anchor="ctr" anchorCtr="0" compatLnSpc="0">
            <a:noAutofit/>
          </a:bodyPr>
          <a:lstStyle/>
          <a:p>
            <a:pPr marL="0" marR="0" lvl="0" indent="0" algn="l" defTabSz="914400" rtl="0" fontAlgn="auto" hangingPunct="1">
              <a:lnSpc>
                <a:spcPts val="900"/>
              </a:lnSpc>
              <a:spcBef>
                <a:spcPts val="0"/>
              </a:spcBef>
              <a:spcAft>
                <a:spcPts val="0"/>
              </a:spcAft>
              <a:buNone/>
              <a:tabLst>
                <a:tab pos="0" algn="l"/>
              </a:tabLst>
              <a:defRPr lang="pl-PL" sz="1800" b="0" i="0" u="none" strike="noStrike" kern="0" cap="none" spc="0" baseline="0">
                <a:solidFill>
                  <a:srgbClr val="000000"/>
                </a:solidFill>
                <a:uFillTx/>
              </a:defRPr>
            </a:pPr>
            <a:r>
              <a:rPr lang="pl-PL" sz="850" b="1" i="0" u="none" strike="noStrike" kern="0" cap="none" spc="0" baseline="0">
                <a:solidFill>
                  <a:srgbClr val="182030"/>
                </a:solidFill>
                <a:uFillTx/>
                <a:latin typeface="Arial Nova" pitchFamily="34"/>
                <a:ea typeface="Calibri"/>
                <a:cs typeface="Calibri"/>
              </a:rPr>
              <a:t>Które czynniki wpływają na decyzję o wyborze </a:t>
            </a:r>
            <a:br>
              <a:rPr lang="pl-PL" sz="850" b="1" i="0" u="none" strike="noStrike" kern="0" cap="none" spc="0" baseline="0">
                <a:solidFill>
                  <a:srgbClr val="182030"/>
                </a:solidFill>
                <a:uFillTx/>
                <a:latin typeface="Arial Nova" pitchFamily="34"/>
                <a:ea typeface="Calibri"/>
                <a:cs typeface="Calibri"/>
              </a:rPr>
            </a:br>
            <a:r>
              <a:rPr lang="pl-PL" sz="850" b="1" i="0" u="none" strike="noStrike" kern="0" cap="none" spc="0" baseline="0">
                <a:solidFill>
                  <a:srgbClr val="182030"/>
                </a:solidFill>
                <a:uFillTx/>
                <a:latin typeface="Arial Nova" pitchFamily="34"/>
                <a:ea typeface="Calibri"/>
                <a:cs typeface="Calibri"/>
              </a:rPr>
              <a:t>native development zamiast cross-platform?</a:t>
            </a:r>
            <a:endParaRPr lang="pl-PL" sz="850" b="1" i="0" u="none" strike="noStrike" kern="0" cap="none" spc="0" baseline="0">
              <a:solidFill>
                <a:srgbClr val="000000"/>
              </a:solidFill>
              <a:uFillTx/>
              <a:latin typeface="Arial Nova" pitchFamily="34"/>
              <a:ea typeface="Calibri"/>
              <a:cs typeface="Calibri"/>
            </a:endParaRPr>
          </a:p>
        </p:txBody>
      </p:sp>
      <p:sp>
        <p:nvSpPr>
          <p:cNvPr id="35" name="Text 22"/>
          <p:cNvSpPr/>
          <p:nvPr/>
        </p:nvSpPr>
        <p:spPr>
          <a:xfrm>
            <a:off x="3316748" y="3169968"/>
            <a:ext cx="2596310" cy="611998"/>
          </a:xfrm>
          <a:prstGeom prst="rect">
            <a:avLst/>
          </a:prstGeom>
          <a:noFill/>
          <a:ln cap="flat">
            <a:noFill/>
            <a:prstDash val="solid"/>
          </a:ln>
        </p:spPr>
        <p:txBody>
          <a:bodyPr vert="horz" wrap="square" lIns="0" tIns="0" rIns="0" bIns="0" anchor="ctr" anchorCtr="0" compatLnSpc="0">
            <a:noAutofit/>
          </a:bodyPr>
          <a:lstStyle/>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pl-PL" sz="800" b="0" i="0" u="none" strike="noStrike" kern="0" cap="none" spc="-31" baseline="0">
                <a:solidFill>
                  <a:srgbClr val="3B5168"/>
                </a:solidFill>
                <a:uFillTx/>
                <a:latin typeface="Calibri"/>
                <a:ea typeface="Calibri"/>
                <a:cs typeface="Calibri"/>
              </a:rPr>
              <a:t>brak interfejsu użytkownika w aplikacji</a:t>
            </a: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pl-PL" sz="800" b="0" i="0" u="none" strike="noStrike" kern="0" cap="none" spc="-31" baseline="0">
                <a:solidFill>
                  <a:srgbClr val="3B5168"/>
                </a:solidFill>
                <a:uFillTx/>
                <a:latin typeface="Calibri"/>
                <a:ea typeface="Calibri"/>
                <a:cs typeface="Calibri"/>
              </a:rPr>
              <a:t>brak potrzeby publikacji w sklepach aplikacji</a:t>
            </a: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000000"/>
                </a:solidFill>
                <a:uFillTx/>
                <a:latin typeface="Calibri"/>
                <a:ea typeface="Calibri"/>
                <a:cs typeface="Calibri"/>
              </a:rPr>
              <a:t>maksymalizacja wydajności aplikacji</a:t>
            </a:r>
            <a:endParaRPr lang="pl-PL" sz="800" b="0" i="0" u="none" strike="noStrike" kern="0" cap="none" spc="-31" baseline="0">
              <a:solidFill>
                <a:srgbClr val="000000"/>
              </a:solidFill>
              <a:uFillTx/>
              <a:latin typeface="Calibri"/>
              <a:ea typeface="Calibri"/>
              <a:cs typeface="Calibri"/>
            </a:endParaRP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pl-PL" sz="800" b="0" i="0" u="none" strike="noStrike" kern="0" cap="none" spc="-31" baseline="0">
                <a:solidFill>
                  <a:srgbClr val="000000"/>
                </a:solidFill>
                <a:uFillTx/>
                <a:latin typeface="Calibri"/>
                <a:ea typeface="Calibri"/>
                <a:cs typeface="Calibri"/>
              </a:rPr>
              <a:t>potrzeba dostępu do zaawansowanych API sprzętowych</a:t>
            </a:r>
            <a:endParaRPr lang="en-US" sz="800" b="0" i="0" u="none" strike="noStrike" kern="0" cap="none" spc="-31" baseline="0">
              <a:solidFill>
                <a:srgbClr val="000000"/>
              </a:solidFill>
              <a:uFillTx/>
              <a:latin typeface="Calibri"/>
              <a:ea typeface="Calibri"/>
              <a:cs typeface="Calibri"/>
            </a:endParaRPr>
          </a:p>
        </p:txBody>
      </p:sp>
      <p:sp>
        <p:nvSpPr>
          <p:cNvPr id="36" name="Shape 19"/>
          <p:cNvSpPr/>
          <p:nvPr/>
        </p:nvSpPr>
        <p:spPr>
          <a:xfrm>
            <a:off x="3163129" y="3847523"/>
            <a:ext cx="2880003" cy="971998"/>
          </a:xfrm>
          <a:prstGeom prst="rect">
            <a:avLst/>
          </a:prstGeom>
          <a:solidFill>
            <a:schemeClr val="bg1"/>
          </a:solidFill>
          <a:ln w="12600" cap="flat">
            <a:solidFill>
              <a:srgbClr val="CBD5E5"/>
            </a:solidFill>
            <a:prstDash val="solid"/>
            <a:round/>
          </a:ln>
          <a:effectLst>
            <a:outerShdw dist="25462" dir="8100000" algn="tl">
              <a:srgbClr val="000000">
                <a:alpha val="6000"/>
              </a:srgbClr>
            </a:outerShdw>
          </a:effectLst>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37" name="Shape 20"/>
          <p:cNvSpPr/>
          <p:nvPr/>
        </p:nvSpPr>
        <p:spPr>
          <a:xfrm>
            <a:off x="3163129" y="3847523"/>
            <a:ext cx="36594" cy="971998"/>
          </a:xfrm>
          <a:prstGeom prst="rect">
            <a:avLst/>
          </a:prstGeom>
          <a:solidFill>
            <a:srgbClr val="333F50"/>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38" name="Text 21"/>
          <p:cNvSpPr/>
          <p:nvPr/>
        </p:nvSpPr>
        <p:spPr>
          <a:xfrm>
            <a:off x="3250134" y="3867098"/>
            <a:ext cx="2772003" cy="359999"/>
          </a:xfrm>
          <a:prstGeom prst="rect">
            <a:avLst/>
          </a:prstGeom>
          <a:noFill/>
          <a:ln cap="flat">
            <a:noFill/>
            <a:prstDash val="solid"/>
          </a:ln>
        </p:spPr>
        <p:txBody>
          <a:bodyPr vert="horz" wrap="square" lIns="0" tIns="0" rIns="0" bIns="0" anchor="ctr" anchorCtr="0" compatLnSpc="0">
            <a:noAutofit/>
          </a:bodyPr>
          <a:lstStyle/>
          <a:p>
            <a:pPr marL="0" marR="0" lvl="0" indent="0" algn="l" defTabSz="914400" rtl="0" fontAlgn="auto" hangingPunct="1">
              <a:lnSpc>
                <a:spcPts val="900"/>
              </a:lnSpc>
              <a:spcBef>
                <a:spcPts val="0"/>
              </a:spcBef>
              <a:spcAft>
                <a:spcPts val="0"/>
              </a:spcAft>
              <a:buNone/>
              <a:tabLst>
                <a:tab pos="0" algn="l"/>
              </a:tabLst>
              <a:defRPr lang="pl-PL" sz="1800" b="0" i="0" u="none" strike="noStrike" kern="0" cap="none" spc="0" baseline="0">
                <a:solidFill>
                  <a:srgbClr val="000000"/>
                </a:solidFill>
                <a:uFillTx/>
              </a:defRPr>
            </a:pPr>
            <a:r>
              <a:rPr lang="pl-PL" sz="850" b="1" i="0" u="none" strike="noStrike" kern="0" cap="none" spc="0" baseline="0" dirty="0">
                <a:solidFill>
                  <a:srgbClr val="182030"/>
                </a:solidFill>
                <a:uFillTx/>
                <a:latin typeface="Arial Nova" pitchFamily="34"/>
                <a:ea typeface="Calibri"/>
                <a:cs typeface="Calibri"/>
              </a:rPr>
              <a:t>Które elementy procesu CI/CD są szczególnie </a:t>
            </a:r>
            <a:r>
              <a:rPr lang="pl-PL" sz="850" b="1" i="0" u="none" strike="noStrike" kern="0" cap="none" spc="0" baseline="0" dirty="0" smtClean="0">
                <a:solidFill>
                  <a:srgbClr val="182030"/>
                </a:solidFill>
                <a:uFillTx/>
                <a:latin typeface="Arial Nova" pitchFamily="34"/>
                <a:ea typeface="Calibri"/>
                <a:cs typeface="Calibri"/>
              </a:rPr>
              <a:t/>
            </a:r>
            <a:br>
              <a:rPr lang="pl-PL" sz="850" b="1" i="0" u="none" strike="noStrike" kern="0" cap="none" spc="0" baseline="0" dirty="0" smtClean="0">
                <a:solidFill>
                  <a:srgbClr val="182030"/>
                </a:solidFill>
                <a:uFillTx/>
                <a:latin typeface="Arial Nova" pitchFamily="34"/>
                <a:ea typeface="Calibri"/>
                <a:cs typeface="Calibri"/>
              </a:rPr>
            </a:br>
            <a:r>
              <a:rPr lang="pl-PL" sz="850" b="1" i="0" u="none" strike="noStrike" kern="0" cap="none" spc="0" baseline="0" dirty="0" smtClean="0">
                <a:solidFill>
                  <a:srgbClr val="182030"/>
                </a:solidFill>
                <a:uFillTx/>
                <a:latin typeface="Arial Nova" pitchFamily="34"/>
                <a:ea typeface="Calibri"/>
                <a:cs typeface="Calibri"/>
              </a:rPr>
              <a:t>istotne </a:t>
            </a:r>
            <a:r>
              <a:rPr lang="pl-PL" sz="850" b="1" i="0" u="none" strike="noStrike" kern="0" cap="none" spc="0" baseline="0" dirty="0">
                <a:solidFill>
                  <a:srgbClr val="182030"/>
                </a:solidFill>
                <a:uFillTx/>
                <a:latin typeface="Arial Nova" pitchFamily="34"/>
                <a:ea typeface="Calibri"/>
                <a:cs typeface="Calibri"/>
              </a:rPr>
              <a:t>dla projektów mobilnych?</a:t>
            </a:r>
            <a:endParaRPr lang="pl-PL" sz="850" b="1" i="0" u="none" strike="noStrike" kern="0" cap="none" spc="0" baseline="0" dirty="0">
              <a:solidFill>
                <a:srgbClr val="000000"/>
              </a:solidFill>
              <a:uFillTx/>
              <a:latin typeface="Arial Nova" pitchFamily="34"/>
              <a:ea typeface="Calibri"/>
              <a:cs typeface="Calibri"/>
            </a:endParaRPr>
          </a:p>
        </p:txBody>
      </p:sp>
      <p:sp>
        <p:nvSpPr>
          <p:cNvPr id="39" name="Text 22"/>
          <p:cNvSpPr/>
          <p:nvPr/>
        </p:nvSpPr>
        <p:spPr>
          <a:xfrm>
            <a:off x="3316748" y="4201613"/>
            <a:ext cx="2596310" cy="611998"/>
          </a:xfrm>
          <a:prstGeom prst="rect">
            <a:avLst/>
          </a:prstGeom>
          <a:noFill/>
          <a:ln cap="flat">
            <a:noFill/>
            <a:prstDash val="solid"/>
          </a:ln>
        </p:spPr>
        <p:txBody>
          <a:bodyPr vert="horz" wrap="square" lIns="0" tIns="0" rIns="0" bIns="0" anchor="ctr" anchorCtr="0" compatLnSpc="0">
            <a:noAutofit/>
          </a:bodyPr>
          <a:lstStyle/>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pl-PL" sz="800" b="0" i="0" u="none" strike="noStrike" kern="0" cap="none" spc="-31" baseline="0">
                <a:solidFill>
                  <a:srgbClr val="3B5168"/>
                </a:solidFill>
                <a:uFillTx/>
                <a:latin typeface="Calibri"/>
                <a:ea typeface="Calibri"/>
                <a:cs typeface="Calibri"/>
              </a:rPr>
              <a:t>ograniczona pamięć ROM</a:t>
            </a: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pl-PL" sz="800" b="0" i="0" u="none" strike="noStrike" kern="0" cap="none" spc="-31" baseline="0">
                <a:solidFill>
                  <a:srgbClr val="3B5168"/>
                </a:solidFill>
                <a:uFillTx/>
                <a:latin typeface="Calibri"/>
                <a:ea typeface="Calibri"/>
                <a:cs typeface="Calibri"/>
              </a:rPr>
              <a:t>brak wielowątkowości w systemie operacyjnym</a:t>
            </a: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pl-PL" sz="800" b="0" i="0" u="none" strike="noStrike" kern="0" cap="none" spc="-31" baseline="0">
                <a:solidFill>
                  <a:srgbClr val="000000"/>
                </a:solidFill>
                <a:uFillTx/>
                <a:latin typeface="Calibri"/>
                <a:ea typeface="Calibri"/>
                <a:cs typeface="Calibri"/>
              </a:rPr>
              <a:t>operacje sieciowe o wysokiej latencji</a:t>
            </a: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pl-PL" sz="800" b="0" i="0" u="none" strike="noStrike" kern="0" cap="none" spc="-31" baseline="0">
                <a:solidFill>
                  <a:srgbClr val="000000"/>
                </a:solidFill>
                <a:uFillTx/>
                <a:latin typeface="Calibri"/>
                <a:ea typeface="Calibri"/>
                <a:cs typeface="Calibri"/>
              </a:rPr>
              <a:t>automatyczne budowanie aplikacji dla wielu architektur CPU</a:t>
            </a:r>
            <a:r>
              <a:rPr lang="en-US" sz="800" b="0" i="0" u="none" strike="noStrike" kern="0" cap="none" spc="-31" baseline="0">
                <a:solidFill>
                  <a:srgbClr val="000000"/>
                </a:solidFill>
                <a:uFillTx/>
                <a:latin typeface="Calibri"/>
                <a:ea typeface="Calibri"/>
                <a:cs typeface="Calibri"/>
              </a:rPr>
              <a:t> </a:t>
            </a:r>
          </a:p>
        </p:txBody>
      </p:sp>
      <p:sp>
        <p:nvSpPr>
          <p:cNvPr id="40" name="Shape 19"/>
          <p:cNvSpPr/>
          <p:nvPr/>
        </p:nvSpPr>
        <p:spPr>
          <a:xfrm>
            <a:off x="6119027" y="768946"/>
            <a:ext cx="2880003" cy="971998"/>
          </a:xfrm>
          <a:prstGeom prst="rect">
            <a:avLst/>
          </a:prstGeom>
          <a:solidFill>
            <a:schemeClr val="bg1"/>
          </a:solidFill>
          <a:ln w="12600" cap="flat">
            <a:solidFill>
              <a:srgbClr val="CBD5E5"/>
            </a:solidFill>
            <a:prstDash val="solid"/>
            <a:round/>
          </a:ln>
          <a:effectLst>
            <a:outerShdw dist="25462" dir="8100000" algn="tl">
              <a:srgbClr val="000000">
                <a:alpha val="6000"/>
              </a:srgbClr>
            </a:outerShdw>
          </a:effectLst>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41" name="Shape 20"/>
          <p:cNvSpPr/>
          <p:nvPr/>
        </p:nvSpPr>
        <p:spPr>
          <a:xfrm>
            <a:off x="6119027" y="768946"/>
            <a:ext cx="36594" cy="971998"/>
          </a:xfrm>
          <a:prstGeom prst="rect">
            <a:avLst/>
          </a:prstGeom>
          <a:solidFill>
            <a:srgbClr val="C5E0B4"/>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42" name="Text 21"/>
          <p:cNvSpPr/>
          <p:nvPr/>
        </p:nvSpPr>
        <p:spPr>
          <a:xfrm>
            <a:off x="6206032" y="796131"/>
            <a:ext cx="2772003" cy="359999"/>
          </a:xfrm>
          <a:prstGeom prst="rect">
            <a:avLst/>
          </a:prstGeom>
          <a:noFill/>
          <a:ln cap="flat">
            <a:noFill/>
            <a:prstDash val="solid"/>
          </a:ln>
        </p:spPr>
        <p:txBody>
          <a:bodyPr vert="horz" wrap="square" lIns="0" tIns="0" rIns="0" bIns="0" anchor="ctr" anchorCtr="0" compatLnSpc="0">
            <a:noAutofit/>
          </a:bodyPr>
          <a:lstStyle/>
          <a:p>
            <a:pPr marL="0" marR="0" lvl="0" indent="0" algn="l" defTabSz="914400" rtl="0" fontAlgn="auto" hangingPunct="1">
              <a:lnSpc>
                <a:spcPts val="900"/>
              </a:lnSpc>
              <a:spcBef>
                <a:spcPts val="0"/>
              </a:spcBef>
              <a:spcAft>
                <a:spcPts val="0"/>
              </a:spcAft>
              <a:buNone/>
              <a:tabLst>
                <a:tab pos="0" algn="l"/>
              </a:tabLst>
              <a:defRPr lang="pl-PL" sz="1800" b="0" i="0" u="none" strike="noStrike" kern="0" cap="none" spc="0" baseline="0">
                <a:solidFill>
                  <a:srgbClr val="000000"/>
                </a:solidFill>
                <a:uFillTx/>
              </a:defRPr>
            </a:pPr>
            <a:r>
              <a:rPr lang="pl-PL" sz="850" b="1" i="0" u="none" strike="noStrike" kern="0" cap="none" spc="0" baseline="0">
                <a:solidFill>
                  <a:srgbClr val="182030"/>
                </a:solidFill>
                <a:uFillTx/>
                <a:latin typeface="Georgia Pro Cond"/>
                <a:ea typeface="Calibri"/>
                <a:cs typeface="Calibri"/>
              </a:rPr>
              <a:t>Które elementy są typowymi komponentami architektury aplikacji mobilnej opartej na Clean Architecture?</a:t>
            </a:r>
            <a:endParaRPr lang="pl-PL" sz="850" b="1" i="0" u="none" strike="noStrike" kern="0" cap="none" spc="0" baseline="0">
              <a:solidFill>
                <a:srgbClr val="000000"/>
              </a:solidFill>
              <a:uFillTx/>
              <a:latin typeface="Georgia Pro Cond"/>
              <a:ea typeface="Calibri"/>
              <a:cs typeface="Calibri"/>
            </a:endParaRPr>
          </a:p>
        </p:txBody>
      </p:sp>
      <p:sp>
        <p:nvSpPr>
          <p:cNvPr id="43" name="Text 22"/>
          <p:cNvSpPr/>
          <p:nvPr/>
        </p:nvSpPr>
        <p:spPr>
          <a:xfrm>
            <a:off x="6272646" y="1130646"/>
            <a:ext cx="2596310" cy="611998"/>
          </a:xfrm>
          <a:prstGeom prst="rect">
            <a:avLst/>
          </a:prstGeom>
          <a:noFill/>
          <a:ln cap="flat">
            <a:noFill/>
            <a:prstDash val="solid"/>
          </a:ln>
        </p:spPr>
        <p:txBody>
          <a:bodyPr vert="horz" wrap="square" lIns="0" tIns="0" rIns="0" bIns="0" anchor="ctr" anchorCtr="0" compatLnSpc="0">
            <a:noAutofit/>
          </a:bodyPr>
          <a:lstStyle/>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3B5168"/>
                </a:solidFill>
                <a:uFillTx/>
                <a:latin typeface="Calibri"/>
                <a:ea typeface="Calibri"/>
                <a:cs typeface="Calibri"/>
              </a:rPr>
              <a:t>warstwa kernel</a:t>
            </a: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pl-PL" sz="800" b="0" i="0" u="none" strike="noStrike" kern="0" cap="none" spc="-31" baseline="0">
                <a:solidFill>
                  <a:srgbClr val="3B5168"/>
                </a:solidFill>
                <a:uFillTx/>
                <a:latin typeface="Calibri"/>
                <a:ea typeface="Calibri"/>
                <a:cs typeface="Calibri"/>
              </a:rPr>
              <a:t>warstwa HAL</a:t>
            </a: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000000"/>
                </a:solidFill>
                <a:uFillTx/>
                <a:latin typeface="Calibri"/>
                <a:ea typeface="Calibri"/>
                <a:cs typeface="Calibri"/>
              </a:rPr>
              <a:t>warstwa data</a:t>
            </a:r>
            <a:endParaRPr lang="pl-PL" sz="800" b="0" i="0" u="none" strike="noStrike" kern="0" cap="none" spc="-31" baseline="0">
              <a:solidFill>
                <a:srgbClr val="000000"/>
              </a:solidFill>
              <a:uFillTx/>
              <a:latin typeface="Calibri"/>
              <a:ea typeface="Calibri"/>
              <a:cs typeface="Calibri"/>
            </a:endParaRP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000000"/>
                </a:solidFill>
                <a:uFillTx/>
                <a:latin typeface="Calibri"/>
                <a:ea typeface="Calibri"/>
                <a:cs typeface="Calibri"/>
              </a:rPr>
              <a:t>warstwa domain</a:t>
            </a:r>
          </a:p>
        </p:txBody>
      </p:sp>
      <p:sp>
        <p:nvSpPr>
          <p:cNvPr id="44" name="Shape 19"/>
          <p:cNvSpPr/>
          <p:nvPr/>
        </p:nvSpPr>
        <p:spPr>
          <a:xfrm>
            <a:off x="6119027" y="1785902"/>
            <a:ext cx="2880003" cy="971998"/>
          </a:xfrm>
          <a:prstGeom prst="rect">
            <a:avLst/>
          </a:prstGeom>
          <a:solidFill>
            <a:schemeClr val="bg1"/>
          </a:solidFill>
          <a:ln w="12600" cap="flat">
            <a:solidFill>
              <a:srgbClr val="CBD5E5"/>
            </a:solidFill>
            <a:prstDash val="solid"/>
            <a:round/>
          </a:ln>
          <a:effectLst>
            <a:outerShdw dist="25462" dir="8100000" algn="tl">
              <a:srgbClr val="000000">
                <a:alpha val="6000"/>
              </a:srgbClr>
            </a:outerShdw>
          </a:effectLst>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45" name="Shape 20"/>
          <p:cNvSpPr/>
          <p:nvPr/>
        </p:nvSpPr>
        <p:spPr>
          <a:xfrm>
            <a:off x="6111407" y="1785902"/>
            <a:ext cx="36594" cy="971998"/>
          </a:xfrm>
          <a:prstGeom prst="rect">
            <a:avLst/>
          </a:prstGeom>
          <a:solidFill>
            <a:srgbClr val="7C7C7C"/>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46" name="Text 21"/>
          <p:cNvSpPr/>
          <p:nvPr/>
        </p:nvSpPr>
        <p:spPr>
          <a:xfrm>
            <a:off x="6206032" y="1836901"/>
            <a:ext cx="2772003" cy="359999"/>
          </a:xfrm>
          <a:prstGeom prst="rect">
            <a:avLst/>
          </a:prstGeom>
          <a:noFill/>
          <a:ln cap="flat">
            <a:noFill/>
            <a:prstDash val="solid"/>
          </a:ln>
        </p:spPr>
        <p:txBody>
          <a:bodyPr vert="horz" wrap="square" lIns="0" tIns="0" rIns="0" bIns="0" anchor="ctr" anchorCtr="0" compatLnSpc="0">
            <a:noAutofit/>
          </a:bodyPr>
          <a:lstStyle/>
          <a:p>
            <a:pPr marL="0" marR="0" lvl="0" indent="0" algn="l" defTabSz="914400" rtl="0" fontAlgn="auto" hangingPunct="1">
              <a:lnSpc>
                <a:spcPts val="900"/>
              </a:lnSpc>
              <a:spcBef>
                <a:spcPts val="0"/>
              </a:spcBef>
              <a:spcAft>
                <a:spcPts val="0"/>
              </a:spcAft>
              <a:buNone/>
              <a:tabLst>
                <a:tab pos="0" algn="l"/>
              </a:tabLst>
              <a:defRPr lang="pl-PL" sz="1800" b="0" i="0" u="none" strike="noStrike" kern="0" cap="none" spc="0" baseline="0">
                <a:solidFill>
                  <a:srgbClr val="000000"/>
                </a:solidFill>
                <a:uFillTx/>
              </a:defRPr>
            </a:pPr>
            <a:r>
              <a:rPr lang="pl-PL" sz="850" b="1" i="0" u="none" strike="noStrike" kern="0" cap="none" spc="0" baseline="0">
                <a:solidFill>
                  <a:srgbClr val="182030"/>
                </a:solidFill>
                <a:uFillTx/>
                <a:latin typeface="Arial Nova" pitchFamily="34"/>
                <a:ea typeface="Calibri"/>
                <a:cs typeface="Calibri"/>
              </a:rPr>
              <a:t>Które cechy architektury aplikacji mobilnych poprawiają skalowalność i testowalność kodu?</a:t>
            </a:r>
            <a:endParaRPr lang="pl-PL" sz="850" b="1" i="0" u="none" strike="noStrike" kern="0" cap="none" spc="0" baseline="0">
              <a:solidFill>
                <a:srgbClr val="000000"/>
              </a:solidFill>
              <a:uFillTx/>
              <a:latin typeface="Arial Nova" pitchFamily="34"/>
              <a:ea typeface="Calibri"/>
              <a:cs typeface="Calibri"/>
            </a:endParaRPr>
          </a:p>
        </p:txBody>
      </p:sp>
      <p:sp>
        <p:nvSpPr>
          <p:cNvPr id="47" name="Text 22"/>
          <p:cNvSpPr/>
          <p:nvPr/>
        </p:nvSpPr>
        <p:spPr>
          <a:xfrm>
            <a:off x="6272646" y="2178082"/>
            <a:ext cx="2596310" cy="611998"/>
          </a:xfrm>
          <a:prstGeom prst="rect">
            <a:avLst/>
          </a:prstGeom>
          <a:noFill/>
          <a:ln cap="flat">
            <a:noFill/>
            <a:prstDash val="solid"/>
          </a:ln>
        </p:spPr>
        <p:txBody>
          <a:bodyPr vert="horz" wrap="square" lIns="0" tIns="0" rIns="0" bIns="0" anchor="ctr" anchorCtr="0" compatLnSpc="0">
            <a:noAutofit/>
          </a:bodyPr>
          <a:lstStyle/>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3B5168"/>
                </a:solidFill>
                <a:uFillTx/>
                <a:latin typeface="Calibri"/>
                <a:ea typeface="Calibri"/>
                <a:cs typeface="Calibri"/>
              </a:rPr>
              <a:t>globalne zmienne stanu aplikacji</a:t>
            </a:r>
            <a:endParaRPr lang="pl-PL" sz="800" b="0" i="0" u="none" strike="noStrike" kern="0" cap="none" spc="-31" baseline="0">
              <a:solidFill>
                <a:srgbClr val="3B5168"/>
              </a:solidFill>
              <a:uFillTx/>
              <a:latin typeface="Calibri"/>
              <a:ea typeface="Calibri"/>
              <a:cs typeface="Calibri"/>
            </a:endParaRP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3B5168"/>
                </a:solidFill>
                <a:uFillTx/>
                <a:latin typeface="Calibri"/>
                <a:ea typeface="Calibri"/>
                <a:cs typeface="Calibri"/>
              </a:rPr>
              <a:t>bezpośredni dostęp UI do bazy danych</a:t>
            </a:r>
            <a:endParaRPr lang="pl-PL" sz="800" b="0" i="0" u="none" strike="noStrike" kern="0" cap="none" spc="-31" baseline="0">
              <a:solidFill>
                <a:srgbClr val="3B5168"/>
              </a:solidFill>
              <a:uFillTx/>
              <a:latin typeface="Calibri"/>
              <a:ea typeface="Calibri"/>
              <a:cs typeface="Calibri"/>
            </a:endParaRP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000000"/>
                </a:solidFill>
                <a:uFillTx/>
                <a:latin typeface="Calibri"/>
                <a:ea typeface="Calibri"/>
                <a:cs typeface="Calibri"/>
              </a:rPr>
              <a:t>dependency injection</a:t>
            </a:r>
            <a:endParaRPr lang="pl-PL" sz="800" b="0" i="0" u="none" strike="noStrike" kern="0" cap="none" spc="-31" baseline="0">
              <a:solidFill>
                <a:srgbClr val="000000"/>
              </a:solidFill>
              <a:uFillTx/>
              <a:latin typeface="Calibri"/>
              <a:ea typeface="Calibri"/>
              <a:cs typeface="Calibri"/>
            </a:endParaRP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000000"/>
                </a:solidFill>
                <a:uFillTx/>
                <a:latin typeface="Calibri"/>
                <a:ea typeface="Calibri"/>
                <a:cs typeface="Calibri"/>
              </a:rPr>
              <a:t>separacja warstw (domain / data / presentation)</a:t>
            </a:r>
            <a:endParaRPr lang="pl-PL" sz="800" b="0" i="0" u="none" strike="noStrike" kern="0" cap="none" spc="-31" baseline="0">
              <a:solidFill>
                <a:srgbClr val="000000"/>
              </a:solidFill>
              <a:uFillTx/>
              <a:latin typeface="Calibri"/>
              <a:ea typeface="Calibri"/>
              <a:cs typeface="Calibri"/>
            </a:endParaRPr>
          </a:p>
        </p:txBody>
      </p:sp>
      <p:sp>
        <p:nvSpPr>
          <p:cNvPr id="48" name="Shape 19"/>
          <p:cNvSpPr/>
          <p:nvPr/>
        </p:nvSpPr>
        <p:spPr>
          <a:xfrm>
            <a:off x="6119027" y="2821189"/>
            <a:ext cx="2880003" cy="971998"/>
          </a:xfrm>
          <a:prstGeom prst="rect">
            <a:avLst/>
          </a:prstGeom>
          <a:solidFill>
            <a:schemeClr val="bg1"/>
          </a:solidFill>
          <a:ln w="12600" cap="flat">
            <a:solidFill>
              <a:srgbClr val="CBD5E5"/>
            </a:solidFill>
            <a:prstDash val="solid"/>
            <a:round/>
          </a:ln>
          <a:effectLst>
            <a:outerShdw dist="25462" dir="8100000" algn="tl">
              <a:srgbClr val="000000">
                <a:alpha val="6000"/>
              </a:srgbClr>
            </a:outerShdw>
          </a:effectLst>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49" name="Shape 20"/>
          <p:cNvSpPr/>
          <p:nvPr/>
        </p:nvSpPr>
        <p:spPr>
          <a:xfrm>
            <a:off x="6119027" y="2821189"/>
            <a:ext cx="36594" cy="971998"/>
          </a:xfrm>
          <a:prstGeom prst="rect">
            <a:avLst/>
          </a:prstGeom>
          <a:solidFill>
            <a:srgbClr val="92D050"/>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50" name="Text 21"/>
          <p:cNvSpPr/>
          <p:nvPr/>
        </p:nvSpPr>
        <p:spPr>
          <a:xfrm>
            <a:off x="6206032" y="2861724"/>
            <a:ext cx="2772003" cy="359999"/>
          </a:xfrm>
          <a:prstGeom prst="rect">
            <a:avLst/>
          </a:prstGeom>
          <a:noFill/>
          <a:ln cap="flat">
            <a:noFill/>
            <a:prstDash val="solid"/>
          </a:ln>
        </p:spPr>
        <p:txBody>
          <a:bodyPr vert="horz" wrap="square" lIns="0" tIns="0" rIns="0" bIns="0" anchor="ctr" anchorCtr="0" compatLnSpc="0">
            <a:noAutofit/>
          </a:bodyPr>
          <a:lstStyle/>
          <a:p>
            <a:pPr marL="0" marR="0" lvl="0" indent="0" algn="l" defTabSz="914400" rtl="0" fontAlgn="auto" hangingPunct="1">
              <a:lnSpc>
                <a:spcPts val="900"/>
              </a:lnSpc>
              <a:spcBef>
                <a:spcPts val="0"/>
              </a:spcBef>
              <a:spcAft>
                <a:spcPts val="0"/>
              </a:spcAft>
              <a:buNone/>
              <a:tabLst>
                <a:tab pos="0" algn="l"/>
              </a:tabLst>
              <a:defRPr lang="pl-PL" sz="1800" b="0" i="0" u="none" strike="noStrike" kern="0" cap="none" spc="0" baseline="0">
                <a:solidFill>
                  <a:srgbClr val="000000"/>
                </a:solidFill>
                <a:uFillTx/>
              </a:defRPr>
            </a:pPr>
            <a:r>
              <a:rPr lang="pl-PL" sz="850" b="1" i="0" u="none" strike="noStrike" kern="0" cap="none" spc="0" baseline="0" dirty="0">
                <a:solidFill>
                  <a:srgbClr val="182030"/>
                </a:solidFill>
                <a:uFillTx/>
                <a:latin typeface="Arial Nova" pitchFamily="34"/>
                <a:ea typeface="Calibri"/>
                <a:cs typeface="Calibri"/>
              </a:rPr>
              <a:t>Które mechanizmy systemowe ograniczają </a:t>
            </a:r>
            <a:r>
              <a:rPr lang="pl-PL" sz="850" b="1" i="0" u="none" strike="noStrike" kern="0" cap="none" spc="0" baseline="0" dirty="0" smtClean="0">
                <a:solidFill>
                  <a:srgbClr val="182030"/>
                </a:solidFill>
                <a:uFillTx/>
                <a:latin typeface="Arial Nova" pitchFamily="34"/>
                <a:ea typeface="Calibri"/>
                <a:cs typeface="Calibri"/>
              </a:rPr>
              <a:t/>
            </a:r>
            <a:br>
              <a:rPr lang="pl-PL" sz="850" b="1" i="0" u="none" strike="noStrike" kern="0" cap="none" spc="0" baseline="0" dirty="0" smtClean="0">
                <a:solidFill>
                  <a:srgbClr val="182030"/>
                </a:solidFill>
                <a:uFillTx/>
                <a:latin typeface="Arial Nova" pitchFamily="34"/>
                <a:ea typeface="Calibri"/>
                <a:cs typeface="Calibri"/>
              </a:rPr>
            </a:br>
            <a:r>
              <a:rPr lang="pl-PL" sz="850" b="1" i="0" u="none" strike="noStrike" kern="0" cap="none" spc="0" baseline="0" dirty="0" smtClean="0">
                <a:solidFill>
                  <a:srgbClr val="182030"/>
                </a:solidFill>
                <a:uFillTx/>
                <a:latin typeface="Arial Nova" pitchFamily="34"/>
                <a:ea typeface="Calibri"/>
                <a:cs typeface="Calibri"/>
              </a:rPr>
              <a:t>aktywność </a:t>
            </a:r>
            <a:r>
              <a:rPr lang="pl-PL" sz="850" b="1" i="0" u="none" strike="noStrike" kern="0" cap="none" spc="0" baseline="0" dirty="0">
                <a:solidFill>
                  <a:srgbClr val="182030"/>
                </a:solidFill>
                <a:uFillTx/>
                <a:latin typeface="Arial Nova" pitchFamily="34"/>
                <a:ea typeface="Calibri"/>
                <a:cs typeface="Calibri"/>
              </a:rPr>
              <a:t>aplikacji w tle w Androidzie?</a:t>
            </a:r>
            <a:endParaRPr lang="pl-PL" sz="850" b="1" i="0" u="none" strike="noStrike" kern="0" cap="none" spc="0" baseline="0" dirty="0">
              <a:solidFill>
                <a:srgbClr val="000000"/>
              </a:solidFill>
              <a:uFillTx/>
              <a:latin typeface="Arial Nova" pitchFamily="34"/>
              <a:ea typeface="Calibri"/>
              <a:cs typeface="Calibri"/>
            </a:endParaRPr>
          </a:p>
        </p:txBody>
      </p:sp>
      <p:sp>
        <p:nvSpPr>
          <p:cNvPr id="51" name="Text 22"/>
          <p:cNvSpPr/>
          <p:nvPr/>
        </p:nvSpPr>
        <p:spPr>
          <a:xfrm>
            <a:off x="6272646" y="3182889"/>
            <a:ext cx="2596310" cy="611998"/>
          </a:xfrm>
          <a:prstGeom prst="rect">
            <a:avLst/>
          </a:prstGeom>
          <a:noFill/>
          <a:ln cap="flat">
            <a:noFill/>
            <a:prstDash val="solid"/>
          </a:ln>
        </p:spPr>
        <p:txBody>
          <a:bodyPr vert="horz" wrap="square" lIns="0" tIns="0" rIns="0" bIns="0" anchor="ctr" anchorCtr="0" compatLnSpc="0">
            <a:noAutofit/>
          </a:bodyPr>
          <a:lstStyle/>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3B5168"/>
                </a:solidFill>
                <a:uFillTx/>
                <a:latin typeface="Calibri"/>
                <a:ea typeface="Calibri"/>
                <a:cs typeface="Calibri"/>
              </a:rPr>
              <a:t>Garbage collector</a:t>
            </a:r>
            <a:endParaRPr lang="pl-PL" sz="800" b="0" i="0" u="none" strike="noStrike" kern="0" cap="none" spc="-31" baseline="0">
              <a:solidFill>
                <a:srgbClr val="3B5168"/>
              </a:solidFill>
              <a:uFillTx/>
              <a:latin typeface="Calibri"/>
              <a:ea typeface="Calibri"/>
              <a:cs typeface="Calibri"/>
            </a:endParaRP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3B5168"/>
                </a:solidFill>
                <a:uFillTx/>
                <a:latin typeface="Calibri"/>
                <a:ea typeface="Calibri"/>
                <a:cs typeface="Calibri"/>
              </a:rPr>
              <a:t>Fragment lifecycle</a:t>
            </a:r>
            <a:endParaRPr lang="pl-PL" sz="800" b="0" i="0" u="none" strike="noStrike" kern="0" cap="none" spc="-31" baseline="0">
              <a:solidFill>
                <a:srgbClr val="3B5168"/>
              </a:solidFill>
              <a:uFillTx/>
              <a:latin typeface="Calibri"/>
              <a:ea typeface="Calibri"/>
              <a:cs typeface="Calibri"/>
            </a:endParaRP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000000"/>
                </a:solidFill>
                <a:uFillTx/>
                <a:latin typeface="Calibri"/>
                <a:ea typeface="Calibri"/>
                <a:cs typeface="Calibri"/>
              </a:rPr>
              <a:t>Doze mode</a:t>
            </a:r>
            <a:endParaRPr lang="pl-PL" sz="800" b="0" i="0" u="none" strike="noStrike" kern="0" cap="none" spc="-31" baseline="0">
              <a:solidFill>
                <a:srgbClr val="000000"/>
              </a:solidFill>
              <a:uFillTx/>
              <a:latin typeface="Calibri"/>
              <a:ea typeface="Calibri"/>
              <a:cs typeface="Calibri"/>
            </a:endParaRP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000000"/>
                </a:solidFill>
                <a:uFillTx/>
                <a:latin typeface="Calibri"/>
                <a:ea typeface="Calibri"/>
                <a:cs typeface="Calibri"/>
              </a:rPr>
              <a:t>App Standby buckets</a:t>
            </a:r>
            <a:endParaRPr lang="pl-PL" sz="800" b="0" i="0" u="none" strike="noStrike" kern="0" cap="none" spc="-31" baseline="0">
              <a:solidFill>
                <a:srgbClr val="000000"/>
              </a:solidFill>
              <a:uFillTx/>
              <a:latin typeface="Calibri"/>
              <a:ea typeface="Calibri"/>
              <a:cs typeface="Calibri"/>
            </a:endParaRPr>
          </a:p>
        </p:txBody>
      </p:sp>
      <p:sp>
        <p:nvSpPr>
          <p:cNvPr id="52" name="Shape 19"/>
          <p:cNvSpPr/>
          <p:nvPr/>
        </p:nvSpPr>
        <p:spPr>
          <a:xfrm>
            <a:off x="6119027" y="3852833"/>
            <a:ext cx="2880003" cy="971998"/>
          </a:xfrm>
          <a:prstGeom prst="rect">
            <a:avLst/>
          </a:prstGeom>
          <a:solidFill>
            <a:schemeClr val="bg1"/>
          </a:solidFill>
          <a:ln w="12600" cap="flat">
            <a:solidFill>
              <a:srgbClr val="CBD5E5"/>
            </a:solidFill>
            <a:prstDash val="solid"/>
            <a:round/>
          </a:ln>
          <a:effectLst>
            <a:outerShdw dist="25462" dir="8100000" algn="tl">
              <a:srgbClr val="000000">
                <a:alpha val="6000"/>
              </a:srgbClr>
            </a:outerShdw>
          </a:effectLst>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53" name="Shape 20"/>
          <p:cNvSpPr/>
          <p:nvPr/>
        </p:nvSpPr>
        <p:spPr>
          <a:xfrm>
            <a:off x="6119027" y="3852833"/>
            <a:ext cx="36594" cy="971998"/>
          </a:xfrm>
          <a:prstGeom prst="rect">
            <a:avLst/>
          </a:prstGeom>
          <a:solidFill>
            <a:srgbClr val="0070C0"/>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54" name="Text 21"/>
          <p:cNvSpPr/>
          <p:nvPr/>
        </p:nvSpPr>
        <p:spPr>
          <a:xfrm>
            <a:off x="6206032" y="3880018"/>
            <a:ext cx="2772003" cy="359999"/>
          </a:xfrm>
          <a:prstGeom prst="rect">
            <a:avLst/>
          </a:prstGeom>
          <a:noFill/>
          <a:ln cap="flat">
            <a:noFill/>
            <a:prstDash val="solid"/>
          </a:ln>
        </p:spPr>
        <p:txBody>
          <a:bodyPr vert="horz" wrap="square" lIns="0" tIns="0" rIns="0" bIns="0" anchor="ctr" anchorCtr="0" compatLnSpc="0">
            <a:noAutofit/>
          </a:bodyPr>
          <a:lstStyle/>
          <a:p>
            <a:pPr marL="0" marR="0" lvl="0" indent="0" algn="l" defTabSz="914400" rtl="0" fontAlgn="auto" hangingPunct="1">
              <a:lnSpc>
                <a:spcPts val="900"/>
              </a:lnSpc>
              <a:spcBef>
                <a:spcPts val="0"/>
              </a:spcBef>
              <a:spcAft>
                <a:spcPts val="0"/>
              </a:spcAft>
              <a:buNone/>
              <a:tabLst>
                <a:tab pos="0" algn="l"/>
              </a:tabLst>
              <a:defRPr lang="pl-PL" sz="1800" b="0" i="0" u="none" strike="noStrike" kern="0" cap="none" spc="0" baseline="0">
                <a:solidFill>
                  <a:srgbClr val="000000"/>
                </a:solidFill>
                <a:uFillTx/>
              </a:defRPr>
            </a:pPr>
            <a:r>
              <a:rPr lang="pl-PL" sz="850" b="1" i="0" u="none" strike="noStrike" kern="0" cap="none" spc="0" baseline="0">
                <a:solidFill>
                  <a:srgbClr val="182030"/>
                </a:solidFill>
                <a:uFillTx/>
                <a:latin typeface="Arial Nova" pitchFamily="34"/>
                <a:ea typeface="Calibri"/>
                <a:cs typeface="Calibri"/>
              </a:rPr>
              <a:t>Które mechanizmy pozwalają aplikacjom Android korzystać z kodów natywnych (C/C++)?</a:t>
            </a:r>
            <a:endParaRPr lang="pl-PL" sz="850" b="1" i="0" u="none" strike="noStrike" kern="0" cap="none" spc="0" baseline="0">
              <a:solidFill>
                <a:srgbClr val="000000"/>
              </a:solidFill>
              <a:uFillTx/>
              <a:latin typeface="Arial Nova" pitchFamily="34"/>
              <a:ea typeface="Calibri"/>
              <a:cs typeface="Calibri"/>
            </a:endParaRPr>
          </a:p>
        </p:txBody>
      </p:sp>
      <p:sp>
        <p:nvSpPr>
          <p:cNvPr id="55" name="Text 22"/>
          <p:cNvSpPr/>
          <p:nvPr/>
        </p:nvSpPr>
        <p:spPr>
          <a:xfrm>
            <a:off x="6272646" y="4214533"/>
            <a:ext cx="2596310" cy="611998"/>
          </a:xfrm>
          <a:prstGeom prst="rect">
            <a:avLst/>
          </a:prstGeom>
          <a:noFill/>
          <a:ln cap="flat">
            <a:noFill/>
            <a:prstDash val="solid"/>
          </a:ln>
        </p:spPr>
        <p:txBody>
          <a:bodyPr vert="horz" wrap="square" lIns="0" tIns="0" rIns="0" bIns="0" anchor="ctr" anchorCtr="0" compatLnSpc="0">
            <a:noAutofit/>
          </a:bodyPr>
          <a:lstStyle/>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3B5168"/>
                </a:solidFill>
                <a:uFillTx/>
                <a:latin typeface="Calibri"/>
                <a:ea typeface="Calibri"/>
                <a:cs typeface="Calibri"/>
              </a:rPr>
              <a:t>Binder IPC</a:t>
            </a:r>
            <a:endParaRPr lang="pl-PL" sz="800" b="0" i="0" u="none" strike="noStrike" kern="0" cap="none" spc="-31" baseline="0">
              <a:solidFill>
                <a:srgbClr val="3B5168"/>
              </a:solidFill>
              <a:uFillTx/>
              <a:latin typeface="Calibri"/>
              <a:ea typeface="Calibri"/>
              <a:cs typeface="Calibri"/>
            </a:endParaRP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3B5168"/>
                </a:solidFill>
                <a:uFillTx/>
                <a:latin typeface="Calibri"/>
                <a:ea typeface="Calibri"/>
                <a:cs typeface="Calibri"/>
              </a:rPr>
              <a:t>ART bytecode verifier</a:t>
            </a:r>
            <a:endParaRPr lang="pl-PL" sz="800" b="0" i="0" u="none" strike="noStrike" kern="0" cap="none" spc="-31" baseline="0">
              <a:solidFill>
                <a:srgbClr val="3B5168"/>
              </a:solidFill>
              <a:uFillTx/>
              <a:latin typeface="Calibri"/>
              <a:ea typeface="Calibri"/>
              <a:cs typeface="Calibri"/>
            </a:endParaRP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000000"/>
                </a:solidFill>
                <a:uFillTx/>
                <a:latin typeface="Calibri"/>
                <a:ea typeface="Calibri"/>
                <a:cs typeface="Calibri"/>
              </a:rPr>
              <a:t>Android NDK</a:t>
            </a:r>
            <a:endParaRPr lang="pl-PL" sz="800" b="0" i="0" u="none" strike="noStrike" kern="0" cap="none" spc="-31" baseline="0">
              <a:solidFill>
                <a:srgbClr val="000000"/>
              </a:solidFill>
              <a:uFillTx/>
              <a:latin typeface="Calibri"/>
              <a:ea typeface="Calibri"/>
              <a:cs typeface="Calibri"/>
            </a:endParaRPr>
          </a:p>
          <a:p>
            <a:pPr marL="228600" marR="0" lvl="0" indent="-228600" algn="l" defTabSz="914400" rtl="0" fontAlgn="auto" hangingPunct="1">
              <a:lnSpc>
                <a:spcPct val="100000"/>
              </a:lnSpc>
              <a:spcBef>
                <a:spcPts val="0"/>
              </a:spcBef>
              <a:spcAft>
                <a:spcPts val="0"/>
              </a:spcAft>
              <a:buSzPct val="100000"/>
              <a:buFont typeface="Calibri Light"/>
              <a:buAutoNum type="alphaUcPeriod"/>
              <a:tabLst>
                <a:tab pos="0" algn="l"/>
              </a:tabLst>
              <a:defRPr lang="pl-PL" sz="1800" b="0" i="0" u="none" strike="noStrike" kern="0" cap="none" spc="0" baseline="0">
                <a:solidFill>
                  <a:srgbClr val="000000"/>
                </a:solidFill>
                <a:uFillTx/>
              </a:defRPr>
            </a:pPr>
            <a:r>
              <a:rPr lang="en-US" sz="800" b="0" i="0" u="none" strike="noStrike" kern="0" cap="none" spc="-31" baseline="0">
                <a:solidFill>
                  <a:srgbClr val="000000"/>
                </a:solidFill>
                <a:uFillTx/>
                <a:latin typeface="Calibri"/>
                <a:ea typeface="Calibri"/>
                <a:cs typeface="Calibri"/>
              </a:rPr>
              <a:t>JNI (Java Native Interface)</a:t>
            </a:r>
            <a:endParaRPr lang="pl-PL" sz="800" b="0" i="0" u="none" strike="noStrike" kern="0" cap="none" spc="-31" baseline="0">
              <a:solidFill>
                <a:srgbClr val="000000"/>
              </a:solidFill>
              <a:uFillTx/>
              <a:latin typeface="Calibri"/>
              <a:ea typeface="Calibri"/>
              <a:cs typeface="Calibri"/>
            </a:endParaRPr>
          </a:p>
        </p:txBody>
      </p:sp>
      <p:sp>
        <p:nvSpPr>
          <p:cNvPr id="106" name="Text 28"/>
          <p:cNvSpPr/>
          <p:nvPr/>
        </p:nvSpPr>
        <p:spPr>
          <a:xfrm>
            <a:off x="8046720" y="4901184"/>
            <a:ext cx="822960" cy="219456"/>
          </a:xfrm>
          <a:prstGeom prst="rect">
            <a:avLst/>
          </a:prstGeom>
          <a:noFill/>
          <a:ln/>
        </p:spPr>
        <p:txBody>
          <a:bodyPr wrap="square" lIns="0" tIns="0" rIns="0" bIns="0" rtlCol="0" anchor="ctr"/>
          <a:lstStyle/>
          <a:p>
            <a:pPr marL="0" indent="0" algn="r">
              <a:buNone/>
            </a:pPr>
            <a:r>
              <a:rPr lang="en-US" sz="800" dirty="0" smtClean="0">
                <a:solidFill>
                  <a:srgbClr val="8899AA"/>
                </a:solidFill>
              </a:rPr>
              <a:t>4</a:t>
            </a:r>
            <a:r>
              <a:rPr lang="pl-PL" sz="800" dirty="0" smtClean="0">
                <a:solidFill>
                  <a:srgbClr val="8899AA"/>
                </a:solidFill>
              </a:rPr>
              <a:t>5</a:t>
            </a:r>
            <a:r>
              <a:rPr lang="en-US" sz="800" dirty="0" smtClean="0">
                <a:solidFill>
                  <a:srgbClr val="8899AA"/>
                </a:solidFill>
              </a:rPr>
              <a:t> </a:t>
            </a:r>
            <a:r>
              <a:rPr lang="en-US" sz="800" dirty="0">
                <a:solidFill>
                  <a:srgbClr val="8899AA"/>
                </a:solidFill>
              </a:rPr>
              <a:t>/ </a:t>
            </a:r>
            <a:r>
              <a:rPr lang="pl-PL" sz="800" dirty="0" smtClean="0">
                <a:solidFill>
                  <a:srgbClr val="8899AA"/>
                </a:solidFill>
              </a:rPr>
              <a:t>46</a:t>
            </a:r>
            <a:endParaRPr lang="en-US" sz="800" dirty="0"/>
          </a:p>
        </p:txBody>
      </p:sp>
    </p:spTree>
    <p:extLst>
      <p:ext uri="{BB962C8B-B14F-4D97-AF65-F5344CB8AC3E}">
        <p14:creationId xmlns:p14="http://schemas.microsoft.com/office/powerpoint/2010/main" val="4362155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name="Slide 4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71523"/>
          </a:solidFill>
          <a:ln w="12700">
            <a:solidFill>
              <a:srgbClr val="071523"/>
            </a:solidFill>
            <a:prstDash val="solid"/>
          </a:ln>
        </p:spPr>
      </p:sp>
      <p:sp>
        <p:nvSpPr>
          <p:cNvPr id="3" name="Shape 1"/>
          <p:cNvSpPr/>
          <p:nvPr/>
        </p:nvSpPr>
        <p:spPr>
          <a:xfrm>
            <a:off x="0" y="0"/>
            <a:ext cx="164592" cy="5143500"/>
          </a:xfrm>
          <a:prstGeom prst="rect">
            <a:avLst/>
          </a:prstGeom>
          <a:solidFill>
            <a:srgbClr val="FF2D78"/>
          </a:solidFill>
          <a:ln w="12700">
            <a:solidFill>
              <a:srgbClr val="FF2D78"/>
            </a:solidFill>
            <a:prstDash val="solid"/>
          </a:ln>
        </p:spPr>
      </p:sp>
      <p:sp>
        <p:nvSpPr>
          <p:cNvPr id="4" name="Shape 2"/>
          <p:cNvSpPr/>
          <p:nvPr/>
        </p:nvSpPr>
        <p:spPr>
          <a:xfrm>
            <a:off x="0" y="2468880"/>
            <a:ext cx="9144000" cy="73152"/>
          </a:xfrm>
          <a:prstGeom prst="rect">
            <a:avLst/>
          </a:prstGeom>
          <a:solidFill>
            <a:srgbClr val="1A3050"/>
          </a:solidFill>
          <a:ln w="12700">
            <a:solidFill>
              <a:srgbClr val="1A3050"/>
            </a:solidFill>
            <a:prstDash val="solid"/>
          </a:ln>
        </p:spPr>
      </p:sp>
      <p:sp>
        <p:nvSpPr>
          <p:cNvPr id="5" name="Text 3"/>
          <p:cNvSpPr/>
          <p:nvPr/>
        </p:nvSpPr>
        <p:spPr>
          <a:xfrm>
            <a:off x="457200" y="457200"/>
            <a:ext cx="8229600" cy="1645920"/>
          </a:xfrm>
          <a:prstGeom prst="rect">
            <a:avLst/>
          </a:prstGeom>
          <a:noFill/>
          <a:ln/>
        </p:spPr>
        <p:txBody>
          <a:bodyPr wrap="square" lIns="0" tIns="0" rIns="0" bIns="0" rtlCol="0" anchor="ctr"/>
          <a:lstStyle/>
          <a:p>
            <a:pPr marL="0" indent="0">
              <a:buNone/>
            </a:pPr>
            <a:r>
              <a:rPr lang="en-US" sz="3400" b="1" dirty="0">
                <a:solidFill>
                  <a:srgbClr val="FFFFFF"/>
                </a:solidFill>
              </a:rPr>
              <a:t>Projektowanie UI/UX</a:t>
            </a:r>
            <a:endParaRPr lang="en-US" sz="3400" dirty="0"/>
          </a:p>
          <a:p>
            <a:pPr marL="0" indent="0">
              <a:buNone/>
            </a:pPr>
            <a:r>
              <a:rPr lang="en-US" sz="3400" b="1" dirty="0" err="1">
                <a:solidFill>
                  <a:srgbClr val="FFFFFF"/>
                </a:solidFill>
              </a:rPr>
              <a:t>dla</a:t>
            </a:r>
            <a:r>
              <a:rPr lang="en-US" sz="3400" b="1" dirty="0">
                <a:solidFill>
                  <a:srgbClr val="FFFFFF"/>
                </a:solidFill>
              </a:rPr>
              <a:t> </a:t>
            </a:r>
            <a:r>
              <a:rPr lang="pl-PL" sz="3400" b="1" dirty="0" smtClean="0">
                <a:solidFill>
                  <a:srgbClr val="FFFFFF"/>
                </a:solidFill>
              </a:rPr>
              <a:t>u</a:t>
            </a:r>
            <a:r>
              <a:rPr lang="en-US" sz="3400" b="1" dirty="0" err="1" smtClean="0">
                <a:solidFill>
                  <a:srgbClr val="FFFFFF"/>
                </a:solidFill>
              </a:rPr>
              <a:t>rządzeń</a:t>
            </a:r>
            <a:r>
              <a:rPr lang="en-US" sz="3400" b="1" dirty="0" smtClean="0">
                <a:solidFill>
                  <a:srgbClr val="FFFFFF"/>
                </a:solidFill>
              </a:rPr>
              <a:t> </a:t>
            </a:r>
            <a:r>
              <a:rPr lang="pl-PL" sz="3400" b="1" dirty="0" smtClean="0">
                <a:solidFill>
                  <a:srgbClr val="FFFFFF"/>
                </a:solidFill>
              </a:rPr>
              <a:t>m</a:t>
            </a:r>
            <a:r>
              <a:rPr lang="en-US" sz="3400" b="1" dirty="0" err="1" smtClean="0">
                <a:solidFill>
                  <a:srgbClr val="FFFFFF"/>
                </a:solidFill>
              </a:rPr>
              <a:t>obilnych</a:t>
            </a:r>
            <a:endParaRPr lang="en-US" sz="3400" dirty="0"/>
          </a:p>
        </p:txBody>
      </p:sp>
      <p:sp>
        <p:nvSpPr>
          <p:cNvPr id="6" name="Text 4"/>
          <p:cNvSpPr/>
          <p:nvPr/>
        </p:nvSpPr>
        <p:spPr>
          <a:xfrm>
            <a:off x="457200" y="2095050"/>
            <a:ext cx="8229600" cy="502920"/>
          </a:xfrm>
          <a:prstGeom prst="rect">
            <a:avLst/>
          </a:prstGeom>
          <a:noFill/>
          <a:ln/>
        </p:spPr>
        <p:txBody>
          <a:bodyPr wrap="square" lIns="0" tIns="0" rIns="0" bIns="0" rtlCol="0" anchor="ctr"/>
          <a:lstStyle/>
          <a:p>
            <a:pPr marL="0" indent="0">
              <a:buNone/>
            </a:pPr>
            <a:r>
              <a:rPr lang="en-US" sz="1600" i="1" dirty="0">
                <a:solidFill>
                  <a:srgbClr val="FF2D78"/>
                </a:solidFill>
              </a:rPr>
              <a:t>"Design is not just what it looks like and feels like. Design is how it works."</a:t>
            </a:r>
            <a:endParaRPr lang="en-US" sz="1600" dirty="0"/>
          </a:p>
        </p:txBody>
      </p:sp>
      <p:sp>
        <p:nvSpPr>
          <p:cNvPr id="7" name="Text 5"/>
          <p:cNvSpPr/>
          <p:nvPr/>
        </p:nvSpPr>
        <p:spPr>
          <a:xfrm>
            <a:off x="5318760" y="2606040"/>
            <a:ext cx="3368040" cy="274320"/>
          </a:xfrm>
          <a:prstGeom prst="rect">
            <a:avLst/>
          </a:prstGeom>
          <a:noFill/>
          <a:ln/>
        </p:spPr>
        <p:txBody>
          <a:bodyPr wrap="square" lIns="0" tIns="0" rIns="0" bIns="0" rtlCol="0" anchor="ctr"/>
          <a:lstStyle/>
          <a:p>
            <a:pPr marL="0" indent="0">
              <a:buNone/>
            </a:pPr>
            <a:r>
              <a:rPr lang="en-US" sz="1400" dirty="0">
                <a:solidFill>
                  <a:srgbClr val="8899AA"/>
                </a:solidFill>
              </a:rPr>
              <a:t>— Steve Jobs</a:t>
            </a:r>
            <a:endParaRPr lang="en-US" sz="1400" dirty="0"/>
          </a:p>
        </p:txBody>
      </p:sp>
      <p:sp>
        <p:nvSpPr>
          <p:cNvPr id="8" name="Shape 6"/>
          <p:cNvSpPr/>
          <p:nvPr/>
        </p:nvSpPr>
        <p:spPr>
          <a:xfrm>
            <a:off x="320040" y="3017520"/>
            <a:ext cx="2743200" cy="164592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9" name="Shape 7"/>
          <p:cNvSpPr/>
          <p:nvPr/>
        </p:nvSpPr>
        <p:spPr>
          <a:xfrm>
            <a:off x="320040" y="3017520"/>
            <a:ext cx="45720" cy="1645920"/>
          </a:xfrm>
          <a:prstGeom prst="rect">
            <a:avLst/>
          </a:prstGeom>
          <a:solidFill>
            <a:srgbClr val="00D4FF"/>
          </a:solidFill>
          <a:ln w="12700">
            <a:solidFill>
              <a:srgbClr val="00D4FF"/>
            </a:solidFill>
            <a:prstDash val="solid"/>
          </a:ln>
        </p:spPr>
      </p:sp>
      <p:sp>
        <p:nvSpPr>
          <p:cNvPr id="10" name="Text 8"/>
          <p:cNvSpPr/>
          <p:nvPr/>
        </p:nvSpPr>
        <p:spPr>
          <a:xfrm>
            <a:off x="429768" y="3081528"/>
            <a:ext cx="2587752" cy="256032"/>
          </a:xfrm>
          <a:prstGeom prst="rect">
            <a:avLst/>
          </a:prstGeom>
          <a:noFill/>
          <a:ln/>
        </p:spPr>
        <p:txBody>
          <a:bodyPr wrap="square" lIns="0" tIns="0" rIns="0" bIns="0" rtlCol="0" anchor="t"/>
          <a:lstStyle/>
          <a:p>
            <a:pPr marL="0" indent="0">
              <a:buNone/>
            </a:pPr>
            <a:r>
              <a:rPr lang="en-US" sz="1600" b="1" dirty="0">
                <a:solidFill>
                  <a:srgbClr val="00D4FF"/>
                </a:solidFill>
              </a:rPr>
              <a:t>Dokumentacja</a:t>
            </a:r>
            <a:endParaRPr lang="en-US" sz="1600" dirty="0"/>
          </a:p>
        </p:txBody>
      </p:sp>
      <p:sp>
        <p:nvSpPr>
          <p:cNvPr id="11" name="Text 9"/>
          <p:cNvSpPr/>
          <p:nvPr/>
        </p:nvSpPr>
        <p:spPr>
          <a:xfrm>
            <a:off x="429768" y="3346704"/>
            <a:ext cx="2587752" cy="1261872"/>
          </a:xfrm>
          <a:prstGeom prst="rect">
            <a:avLst/>
          </a:prstGeom>
          <a:noFill/>
          <a:ln/>
        </p:spPr>
        <p:txBody>
          <a:bodyPr wrap="square" lIns="0" tIns="0" rIns="0" bIns="0" rtlCol="0" anchor="t"/>
          <a:lstStyle/>
          <a:p>
            <a:pPr marL="0" indent="0">
              <a:lnSpc>
                <a:spcPct val="150000"/>
              </a:lnSpc>
              <a:buNone/>
            </a:pPr>
            <a:r>
              <a:rPr lang="en-US" sz="1100" dirty="0">
                <a:solidFill>
                  <a:srgbClr val="CCDDEE"/>
                </a:solidFill>
              </a:rPr>
              <a:t>iOS HIG: </a:t>
            </a:r>
            <a:r>
              <a:rPr lang="en-US" sz="1100" dirty="0">
                <a:solidFill>
                  <a:srgbClr val="CCDDEE"/>
                </a:solidFill>
                <a:hlinkClick r:id="rId3" action="ppaction://hlinkfile"/>
              </a:rPr>
              <a:t>developer.apple.com/design</a:t>
            </a:r>
            <a:endParaRPr lang="en-US" sz="1100" dirty="0"/>
          </a:p>
          <a:p>
            <a:pPr marL="0" indent="0">
              <a:lnSpc>
                <a:spcPct val="150000"/>
              </a:lnSpc>
              <a:buNone/>
            </a:pPr>
            <a:r>
              <a:rPr lang="en-US" sz="1100" dirty="0">
                <a:solidFill>
                  <a:srgbClr val="CCDDEE"/>
                </a:solidFill>
              </a:rPr>
              <a:t>Material Design: </a:t>
            </a:r>
            <a:r>
              <a:rPr lang="en-US" sz="1100" dirty="0" smtClean="0">
                <a:solidFill>
                  <a:srgbClr val="CCDDEE"/>
                </a:solidFill>
                <a:hlinkClick r:id="rId4" action="ppaction://hlinkfile"/>
              </a:rPr>
              <a:t>m3.material.io</a:t>
            </a:r>
            <a:endParaRPr lang="en-US" sz="1100" dirty="0"/>
          </a:p>
          <a:p>
            <a:pPr marL="0" indent="0">
              <a:lnSpc>
                <a:spcPct val="150000"/>
              </a:lnSpc>
              <a:buNone/>
            </a:pPr>
            <a:r>
              <a:rPr lang="en-US" sz="1100" dirty="0">
                <a:solidFill>
                  <a:srgbClr val="CCDDEE"/>
                </a:solidFill>
              </a:rPr>
              <a:t>WCAG: </a:t>
            </a:r>
            <a:r>
              <a:rPr lang="en-US" sz="1100" dirty="0">
                <a:solidFill>
                  <a:srgbClr val="CCDDEE"/>
                </a:solidFill>
                <a:hlinkClick r:id="rId5"/>
              </a:rPr>
              <a:t>www.w3.org/WAI/WCAG22</a:t>
            </a:r>
            <a:endParaRPr lang="en-US" sz="1100" dirty="0"/>
          </a:p>
        </p:txBody>
      </p:sp>
      <p:sp>
        <p:nvSpPr>
          <p:cNvPr id="12" name="Shape 10"/>
          <p:cNvSpPr/>
          <p:nvPr/>
        </p:nvSpPr>
        <p:spPr>
          <a:xfrm>
            <a:off x="3200400" y="3017520"/>
            <a:ext cx="2743200" cy="164592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13" name="Shape 11"/>
          <p:cNvSpPr/>
          <p:nvPr/>
        </p:nvSpPr>
        <p:spPr>
          <a:xfrm>
            <a:off x="3200400" y="3017520"/>
            <a:ext cx="45720" cy="1645920"/>
          </a:xfrm>
          <a:prstGeom prst="rect">
            <a:avLst/>
          </a:prstGeom>
          <a:solidFill>
            <a:srgbClr val="00E676"/>
          </a:solidFill>
          <a:ln w="12700">
            <a:solidFill>
              <a:srgbClr val="00E676"/>
            </a:solidFill>
            <a:prstDash val="solid"/>
          </a:ln>
        </p:spPr>
      </p:sp>
      <p:sp>
        <p:nvSpPr>
          <p:cNvPr id="14" name="Text 12"/>
          <p:cNvSpPr/>
          <p:nvPr/>
        </p:nvSpPr>
        <p:spPr>
          <a:xfrm>
            <a:off x="3310128" y="3081528"/>
            <a:ext cx="2587752" cy="256032"/>
          </a:xfrm>
          <a:prstGeom prst="rect">
            <a:avLst/>
          </a:prstGeom>
          <a:noFill/>
          <a:ln/>
        </p:spPr>
        <p:txBody>
          <a:bodyPr wrap="square" lIns="0" tIns="0" rIns="0" bIns="0" rtlCol="0" anchor="t"/>
          <a:lstStyle/>
          <a:p>
            <a:pPr marL="0" indent="0">
              <a:buNone/>
            </a:pPr>
            <a:r>
              <a:rPr lang="en-US" sz="1600" b="1" dirty="0">
                <a:solidFill>
                  <a:srgbClr val="00E676"/>
                </a:solidFill>
              </a:rPr>
              <a:t>Narzędzia Online</a:t>
            </a:r>
            <a:endParaRPr lang="en-US" sz="1600" dirty="0"/>
          </a:p>
        </p:txBody>
      </p:sp>
      <p:sp>
        <p:nvSpPr>
          <p:cNvPr id="15" name="Text 13"/>
          <p:cNvSpPr/>
          <p:nvPr/>
        </p:nvSpPr>
        <p:spPr>
          <a:xfrm>
            <a:off x="3310128" y="3346704"/>
            <a:ext cx="2587752" cy="1261872"/>
          </a:xfrm>
          <a:prstGeom prst="rect">
            <a:avLst/>
          </a:prstGeom>
          <a:noFill/>
          <a:ln/>
        </p:spPr>
        <p:txBody>
          <a:bodyPr wrap="square" lIns="0" tIns="0" rIns="0" bIns="0" rtlCol="0" anchor="t"/>
          <a:lstStyle/>
          <a:p>
            <a:pPr marL="0" indent="0">
              <a:lnSpc>
                <a:spcPct val="150000"/>
              </a:lnSpc>
              <a:buNone/>
            </a:pPr>
            <a:r>
              <a:rPr lang="en-US" sz="1100" dirty="0">
                <a:solidFill>
                  <a:srgbClr val="CCDDEE"/>
                </a:solidFill>
              </a:rPr>
              <a:t>Figma: </a:t>
            </a:r>
            <a:r>
              <a:rPr lang="en-US" sz="1100" dirty="0">
                <a:solidFill>
                  <a:srgbClr val="CCDDEE"/>
                </a:solidFill>
                <a:hlinkClick r:id="rId6" action="ppaction://hlinkfile"/>
              </a:rPr>
              <a:t>figma.com</a:t>
            </a:r>
            <a:r>
              <a:rPr lang="en-US" sz="1100" dirty="0">
                <a:solidFill>
                  <a:srgbClr val="CCDDEE"/>
                </a:solidFill>
              </a:rPr>
              <a:t> (darmowe konto)</a:t>
            </a:r>
            <a:endParaRPr lang="en-US" sz="1100" dirty="0"/>
          </a:p>
          <a:p>
            <a:pPr marL="0" indent="0">
              <a:lnSpc>
                <a:spcPct val="150000"/>
              </a:lnSpc>
              <a:buNone/>
            </a:pPr>
            <a:r>
              <a:rPr lang="en-US" sz="1100" dirty="0">
                <a:solidFill>
                  <a:srgbClr val="CCDDEE"/>
                </a:solidFill>
              </a:rPr>
              <a:t>Coolors: </a:t>
            </a:r>
            <a:r>
              <a:rPr lang="en-US" sz="1100" dirty="0">
                <a:solidFill>
                  <a:srgbClr val="CCDDEE"/>
                </a:solidFill>
                <a:hlinkClick r:id="rId7" action="ppaction://hlinkfile"/>
              </a:rPr>
              <a:t>coolors.co</a:t>
            </a:r>
            <a:endParaRPr lang="en-US" sz="1100" dirty="0"/>
          </a:p>
          <a:p>
            <a:pPr marL="0" indent="0">
              <a:lnSpc>
                <a:spcPct val="150000"/>
              </a:lnSpc>
              <a:buNone/>
            </a:pPr>
            <a:r>
              <a:rPr lang="en-US" sz="1100" dirty="0">
                <a:solidFill>
                  <a:srgbClr val="CCDDEE"/>
                </a:solidFill>
              </a:rPr>
              <a:t>WebAIM Contrast: </a:t>
            </a:r>
            <a:r>
              <a:rPr lang="en-US" sz="1100" dirty="0">
                <a:solidFill>
                  <a:srgbClr val="CCDDEE"/>
                </a:solidFill>
                <a:hlinkClick r:id="rId8" action="ppaction://hlinkfile"/>
              </a:rPr>
              <a:t>webaim.org/resources/contrastchecker</a:t>
            </a:r>
            <a:endParaRPr lang="en-US" sz="1100" dirty="0"/>
          </a:p>
        </p:txBody>
      </p:sp>
      <p:sp>
        <p:nvSpPr>
          <p:cNvPr id="16" name="Shape 14"/>
          <p:cNvSpPr/>
          <p:nvPr/>
        </p:nvSpPr>
        <p:spPr>
          <a:xfrm>
            <a:off x="6080760" y="3017520"/>
            <a:ext cx="2743200" cy="1645920"/>
          </a:xfrm>
          <a:prstGeom prst="rect">
            <a:avLst/>
          </a:prstGeom>
          <a:solidFill>
            <a:srgbClr val="112233"/>
          </a:solidFill>
          <a:ln w="12700">
            <a:solidFill>
              <a:srgbClr val="1A3050"/>
            </a:solidFill>
            <a:prstDash val="solid"/>
          </a:ln>
          <a:effectLst>
            <a:outerShdw blurRad="76200" dist="25400" dir="8100000" algn="bl" rotWithShape="0">
              <a:srgbClr val="000000">
                <a:alpha val="20000"/>
              </a:srgbClr>
            </a:outerShdw>
          </a:effectLst>
        </p:spPr>
      </p:sp>
      <p:sp>
        <p:nvSpPr>
          <p:cNvPr id="17" name="Shape 15"/>
          <p:cNvSpPr/>
          <p:nvPr/>
        </p:nvSpPr>
        <p:spPr>
          <a:xfrm>
            <a:off x="6080760" y="3017520"/>
            <a:ext cx="45720" cy="1645920"/>
          </a:xfrm>
          <a:prstGeom prst="rect">
            <a:avLst/>
          </a:prstGeom>
          <a:solidFill>
            <a:srgbClr val="B388FF"/>
          </a:solidFill>
          <a:ln w="12700">
            <a:solidFill>
              <a:srgbClr val="B388FF"/>
            </a:solidFill>
            <a:prstDash val="solid"/>
          </a:ln>
        </p:spPr>
      </p:sp>
      <p:sp>
        <p:nvSpPr>
          <p:cNvPr id="18" name="Text 16"/>
          <p:cNvSpPr/>
          <p:nvPr/>
        </p:nvSpPr>
        <p:spPr>
          <a:xfrm>
            <a:off x="6190488" y="3081528"/>
            <a:ext cx="2587752" cy="256032"/>
          </a:xfrm>
          <a:prstGeom prst="rect">
            <a:avLst/>
          </a:prstGeom>
          <a:noFill/>
          <a:ln/>
        </p:spPr>
        <p:txBody>
          <a:bodyPr wrap="square" lIns="0" tIns="0" rIns="0" bIns="0" rtlCol="0" anchor="t"/>
          <a:lstStyle/>
          <a:p>
            <a:pPr marL="0" indent="0">
              <a:buNone/>
            </a:pPr>
            <a:r>
              <a:rPr lang="en-US" sz="1600" b="1" dirty="0">
                <a:solidFill>
                  <a:srgbClr val="B388FF"/>
                </a:solidFill>
              </a:rPr>
              <a:t>Polecane Lektury</a:t>
            </a:r>
            <a:endParaRPr lang="en-US" sz="1600" dirty="0"/>
          </a:p>
        </p:txBody>
      </p:sp>
      <p:sp>
        <p:nvSpPr>
          <p:cNvPr id="19" name="Text 17"/>
          <p:cNvSpPr/>
          <p:nvPr/>
        </p:nvSpPr>
        <p:spPr>
          <a:xfrm>
            <a:off x="6190488" y="3346704"/>
            <a:ext cx="2587752" cy="1261872"/>
          </a:xfrm>
          <a:prstGeom prst="rect">
            <a:avLst/>
          </a:prstGeom>
          <a:noFill/>
          <a:ln/>
        </p:spPr>
        <p:txBody>
          <a:bodyPr wrap="square" lIns="0" tIns="0" rIns="0" bIns="0" rtlCol="0" anchor="t"/>
          <a:lstStyle/>
          <a:p>
            <a:pPr marL="171450" indent="-171450">
              <a:lnSpc>
                <a:spcPct val="150000"/>
              </a:lnSpc>
              <a:buFont typeface="Arial" panose="020B0604020202020204" pitchFamily="34" charset="0"/>
              <a:buChar char="•"/>
            </a:pPr>
            <a:r>
              <a:rPr lang="en-US" sz="1100" dirty="0">
                <a:solidFill>
                  <a:srgbClr val="CCDDEE"/>
                </a:solidFill>
              </a:rPr>
              <a:t>Don Norman 'Emotional Design'</a:t>
            </a:r>
            <a:endParaRPr lang="en-US" sz="1100" dirty="0"/>
          </a:p>
          <a:p>
            <a:pPr marL="171450" indent="-171450">
              <a:lnSpc>
                <a:spcPct val="150000"/>
              </a:lnSpc>
              <a:buFont typeface="Arial" panose="020B0604020202020204" pitchFamily="34" charset="0"/>
              <a:buChar char="•"/>
            </a:pPr>
            <a:r>
              <a:rPr lang="en-US" sz="1100" dirty="0">
                <a:solidFill>
                  <a:srgbClr val="CCDDEE"/>
                </a:solidFill>
              </a:rPr>
              <a:t>Luke Wroblewski 'Mobile First'</a:t>
            </a:r>
            <a:endParaRPr lang="en-US" sz="1100" dirty="0"/>
          </a:p>
          <a:p>
            <a:pPr marL="171450" indent="-171450">
              <a:lnSpc>
                <a:spcPct val="150000"/>
              </a:lnSpc>
              <a:buFont typeface="Arial" panose="020B0604020202020204" pitchFamily="34" charset="0"/>
              <a:buChar char="•"/>
            </a:pPr>
            <a:r>
              <a:rPr lang="en-US" sz="1100" dirty="0" smtClean="0">
                <a:solidFill>
                  <a:srgbClr val="CCDDEE"/>
                </a:solidFill>
              </a:rPr>
              <a:t>Viktor </a:t>
            </a:r>
            <a:r>
              <a:rPr lang="en-US" sz="1100" dirty="0" err="1" smtClean="0">
                <a:solidFill>
                  <a:srgbClr val="CCDDEE"/>
                </a:solidFill>
              </a:rPr>
              <a:t>Papanek</a:t>
            </a:r>
            <a:r>
              <a:rPr lang="en-US" sz="1100" dirty="0" smtClean="0">
                <a:solidFill>
                  <a:srgbClr val="CCDDEE"/>
                </a:solidFill>
              </a:rPr>
              <a:t> '</a:t>
            </a:r>
            <a:r>
              <a:rPr lang="en-US" sz="1100" dirty="0" err="1" smtClean="0">
                <a:solidFill>
                  <a:srgbClr val="CCDDEE"/>
                </a:solidFill>
              </a:rPr>
              <a:t>Wzornictwo</a:t>
            </a:r>
            <a:r>
              <a:rPr lang="en-US" sz="1100" dirty="0" smtClean="0">
                <a:solidFill>
                  <a:srgbClr val="CCDDEE"/>
                </a:solidFill>
              </a:rPr>
              <a:t> </a:t>
            </a:r>
            <a:r>
              <a:rPr lang="en-US" sz="1100" dirty="0" err="1" smtClean="0">
                <a:solidFill>
                  <a:srgbClr val="CCDDEE"/>
                </a:solidFill>
              </a:rPr>
              <a:t>dla</a:t>
            </a:r>
            <a:r>
              <a:rPr lang="en-US" sz="1100" dirty="0" smtClean="0">
                <a:solidFill>
                  <a:srgbClr val="CCDDEE"/>
                </a:solidFill>
              </a:rPr>
              <a:t> </a:t>
            </a:r>
            <a:r>
              <a:rPr lang="en-US" sz="1100" dirty="0" err="1" smtClean="0">
                <a:solidFill>
                  <a:srgbClr val="CCDDEE"/>
                </a:solidFill>
              </a:rPr>
              <a:t>realnego</a:t>
            </a:r>
            <a:r>
              <a:rPr lang="en-US" sz="1100" dirty="0" smtClean="0">
                <a:solidFill>
                  <a:srgbClr val="CCDDEE"/>
                </a:solidFill>
              </a:rPr>
              <a:t> </a:t>
            </a:r>
            <a:r>
              <a:rPr lang="en-US" sz="1100" dirty="0" err="1" smtClean="0">
                <a:solidFill>
                  <a:srgbClr val="CCDDEE"/>
                </a:solidFill>
              </a:rPr>
              <a:t>świata</a:t>
            </a:r>
            <a:r>
              <a:rPr lang="en-US" sz="1100" dirty="0" smtClean="0">
                <a:solidFill>
                  <a:srgbClr val="CCDDEE"/>
                </a:solidFill>
              </a:rPr>
              <a:t>‚</a:t>
            </a:r>
            <a:r>
              <a:rPr lang="pl-PL" sz="1100" dirty="0">
                <a:solidFill>
                  <a:srgbClr val="CCDDEE"/>
                </a:solidFill>
              </a:rPr>
              <a:t> </a:t>
            </a:r>
            <a:r>
              <a:rPr lang="pl-PL" sz="1100" dirty="0" smtClean="0">
                <a:solidFill>
                  <a:srgbClr val="CCDDEE"/>
                </a:solidFill>
              </a:rPr>
              <a:t>(„</a:t>
            </a:r>
            <a:r>
              <a:rPr lang="pl-PL" sz="1100" dirty="0" err="1" smtClean="0">
                <a:solidFill>
                  <a:srgbClr val="CCDDEE"/>
                </a:solidFill>
              </a:rPr>
              <a:t>Dizajn</a:t>
            </a:r>
            <a:r>
              <a:rPr lang="pl-PL" sz="1100" dirty="0" smtClean="0">
                <a:solidFill>
                  <a:srgbClr val="CCDDEE"/>
                </a:solidFill>
              </a:rPr>
              <a:t> </a:t>
            </a:r>
            <a:r>
              <a:rPr lang="pl-PL" sz="1100" dirty="0">
                <a:solidFill>
                  <a:srgbClr val="CCDDEE"/>
                </a:solidFill>
              </a:rPr>
              <a:t>dla realnego świat”)</a:t>
            </a:r>
            <a:endParaRPr lang="en-US" sz="1100" dirty="0"/>
          </a:p>
        </p:txBody>
      </p:sp>
      <p:grpSp>
        <p:nvGrpSpPr>
          <p:cNvPr id="21" name="Grupa 20"/>
          <p:cNvGrpSpPr/>
          <p:nvPr/>
        </p:nvGrpSpPr>
        <p:grpSpPr>
          <a:xfrm>
            <a:off x="-2381" y="4892532"/>
            <a:ext cx="9146381" cy="260136"/>
            <a:chOff x="-2381" y="4884912"/>
            <a:chExt cx="9146381" cy="260136"/>
          </a:xfrm>
        </p:grpSpPr>
        <p:sp>
          <p:nvSpPr>
            <p:cNvPr id="22" name="Shape 52"/>
            <p:cNvSpPr/>
            <p:nvPr/>
          </p:nvSpPr>
          <p:spPr>
            <a:xfrm>
              <a:off x="0" y="4884912"/>
              <a:ext cx="9144000" cy="252000"/>
            </a:xfrm>
            <a:prstGeom prst="rect">
              <a:avLst/>
            </a:prstGeom>
            <a:solidFill>
              <a:srgbClr val="071523"/>
            </a:solidFill>
            <a:ln w="12700">
              <a:solidFill>
                <a:srgbClr val="071523"/>
              </a:solidFill>
              <a:prstDash val="solid"/>
            </a:ln>
          </p:spPr>
        </p:sp>
        <p:grpSp>
          <p:nvGrpSpPr>
            <p:cNvPr id="24" name="Grupa 23"/>
            <p:cNvGrpSpPr/>
            <p:nvPr/>
          </p:nvGrpSpPr>
          <p:grpSpPr>
            <a:xfrm>
              <a:off x="-2381" y="5099329"/>
              <a:ext cx="9146381" cy="45719"/>
              <a:chOff x="-2381" y="5107500"/>
              <a:chExt cx="9111093" cy="37548"/>
            </a:xfrm>
            <a:solidFill>
              <a:schemeClr val="tx1"/>
            </a:solidFill>
          </p:grpSpPr>
          <p:sp>
            <p:nvSpPr>
              <p:cNvPr id="25" name="Shape 52"/>
              <p:cNvSpPr/>
              <p:nvPr/>
            </p:nvSpPr>
            <p:spPr>
              <a:xfrm>
                <a:off x="-2381" y="5108400"/>
                <a:ext cx="198000" cy="36000"/>
              </a:xfrm>
              <a:prstGeom prst="rect">
                <a:avLst/>
              </a:prstGeom>
              <a:solidFill>
                <a:schemeClr val="accent5">
                  <a:lumMod val="20000"/>
                  <a:lumOff val="80000"/>
                </a:schemeClr>
              </a:solidFill>
              <a:ln w="12700">
                <a:noFill/>
                <a:prstDash val="solid"/>
              </a:ln>
            </p:spPr>
          </p:sp>
          <p:sp>
            <p:nvSpPr>
              <p:cNvPr id="26" name="Shape 52"/>
              <p:cNvSpPr/>
              <p:nvPr/>
            </p:nvSpPr>
            <p:spPr>
              <a:xfrm>
                <a:off x="198000" y="5108400"/>
                <a:ext cx="198000" cy="36000"/>
              </a:xfrm>
              <a:prstGeom prst="rect">
                <a:avLst/>
              </a:prstGeom>
              <a:solidFill>
                <a:schemeClr val="accent5">
                  <a:lumMod val="20000"/>
                  <a:lumOff val="80000"/>
                </a:schemeClr>
              </a:solidFill>
              <a:ln w="12700">
                <a:noFill/>
                <a:prstDash val="solid"/>
              </a:ln>
            </p:spPr>
          </p:sp>
          <p:sp>
            <p:nvSpPr>
              <p:cNvPr id="27" name="Shape 52"/>
              <p:cNvSpPr/>
              <p:nvPr/>
            </p:nvSpPr>
            <p:spPr>
              <a:xfrm>
                <a:off x="396000" y="5108400"/>
                <a:ext cx="198000" cy="36000"/>
              </a:xfrm>
              <a:prstGeom prst="rect">
                <a:avLst/>
              </a:prstGeom>
              <a:solidFill>
                <a:schemeClr val="accent5">
                  <a:lumMod val="20000"/>
                  <a:lumOff val="80000"/>
                </a:schemeClr>
              </a:solidFill>
              <a:ln w="12700">
                <a:noFill/>
                <a:prstDash val="solid"/>
              </a:ln>
            </p:spPr>
          </p:sp>
          <p:sp>
            <p:nvSpPr>
              <p:cNvPr id="28" name="Shape 52"/>
              <p:cNvSpPr/>
              <p:nvPr/>
            </p:nvSpPr>
            <p:spPr>
              <a:xfrm>
                <a:off x="594000" y="5108400"/>
                <a:ext cx="198000" cy="36000"/>
              </a:xfrm>
              <a:prstGeom prst="rect">
                <a:avLst/>
              </a:prstGeom>
              <a:solidFill>
                <a:schemeClr val="accent5">
                  <a:lumMod val="20000"/>
                  <a:lumOff val="80000"/>
                </a:schemeClr>
              </a:solidFill>
              <a:ln w="12700">
                <a:noFill/>
                <a:prstDash val="solid"/>
              </a:ln>
            </p:spPr>
          </p:sp>
          <p:sp>
            <p:nvSpPr>
              <p:cNvPr id="29" name="Shape 52"/>
              <p:cNvSpPr/>
              <p:nvPr/>
            </p:nvSpPr>
            <p:spPr>
              <a:xfrm>
                <a:off x="792000" y="5108400"/>
                <a:ext cx="198000" cy="36000"/>
              </a:xfrm>
              <a:prstGeom prst="rect">
                <a:avLst/>
              </a:prstGeom>
              <a:solidFill>
                <a:schemeClr val="accent5">
                  <a:lumMod val="20000"/>
                  <a:lumOff val="80000"/>
                </a:schemeClr>
              </a:solidFill>
              <a:ln w="12700">
                <a:noFill/>
                <a:prstDash val="solid"/>
              </a:ln>
            </p:spPr>
          </p:sp>
          <p:sp>
            <p:nvSpPr>
              <p:cNvPr id="30" name="Shape 52"/>
              <p:cNvSpPr/>
              <p:nvPr/>
            </p:nvSpPr>
            <p:spPr>
              <a:xfrm>
                <a:off x="990000" y="5108400"/>
                <a:ext cx="198000" cy="36000"/>
              </a:xfrm>
              <a:prstGeom prst="rect">
                <a:avLst/>
              </a:prstGeom>
              <a:solidFill>
                <a:schemeClr val="accent5">
                  <a:lumMod val="20000"/>
                  <a:lumOff val="80000"/>
                </a:schemeClr>
              </a:solidFill>
              <a:ln w="12700">
                <a:noFill/>
                <a:prstDash val="solid"/>
              </a:ln>
            </p:spPr>
          </p:sp>
          <p:sp>
            <p:nvSpPr>
              <p:cNvPr id="31" name="Shape 52"/>
              <p:cNvSpPr/>
              <p:nvPr/>
            </p:nvSpPr>
            <p:spPr>
              <a:xfrm>
                <a:off x="1188000" y="5108400"/>
                <a:ext cx="198000" cy="36000"/>
              </a:xfrm>
              <a:prstGeom prst="rect">
                <a:avLst/>
              </a:prstGeom>
              <a:solidFill>
                <a:schemeClr val="accent5">
                  <a:lumMod val="20000"/>
                  <a:lumOff val="80000"/>
                </a:schemeClr>
              </a:solidFill>
              <a:ln w="12700">
                <a:noFill/>
                <a:prstDash val="solid"/>
              </a:ln>
            </p:spPr>
          </p:sp>
          <p:sp>
            <p:nvSpPr>
              <p:cNvPr id="32" name="Shape 52"/>
              <p:cNvSpPr/>
              <p:nvPr/>
            </p:nvSpPr>
            <p:spPr>
              <a:xfrm>
                <a:off x="1386000" y="5107500"/>
                <a:ext cx="198000" cy="36000"/>
              </a:xfrm>
              <a:prstGeom prst="rect">
                <a:avLst/>
              </a:prstGeom>
              <a:solidFill>
                <a:schemeClr val="accent5">
                  <a:lumMod val="20000"/>
                  <a:lumOff val="80000"/>
                </a:schemeClr>
              </a:solidFill>
              <a:ln w="12700">
                <a:noFill/>
                <a:prstDash val="solid"/>
              </a:ln>
            </p:spPr>
          </p:sp>
          <p:sp>
            <p:nvSpPr>
              <p:cNvPr id="33" name="Shape 52"/>
              <p:cNvSpPr/>
              <p:nvPr/>
            </p:nvSpPr>
            <p:spPr>
              <a:xfrm>
                <a:off x="1584000" y="5107500"/>
                <a:ext cx="198000" cy="36000"/>
              </a:xfrm>
              <a:prstGeom prst="rect">
                <a:avLst/>
              </a:prstGeom>
              <a:solidFill>
                <a:schemeClr val="accent5">
                  <a:lumMod val="20000"/>
                  <a:lumOff val="80000"/>
                </a:schemeClr>
              </a:solidFill>
              <a:ln w="12700">
                <a:noFill/>
                <a:prstDash val="solid"/>
              </a:ln>
            </p:spPr>
          </p:sp>
          <p:sp>
            <p:nvSpPr>
              <p:cNvPr id="34" name="Shape 52"/>
              <p:cNvSpPr/>
              <p:nvPr/>
            </p:nvSpPr>
            <p:spPr>
              <a:xfrm>
                <a:off x="1782000" y="5107500"/>
                <a:ext cx="198000" cy="36000"/>
              </a:xfrm>
              <a:prstGeom prst="rect">
                <a:avLst/>
              </a:prstGeom>
              <a:solidFill>
                <a:schemeClr val="accent5">
                  <a:lumMod val="20000"/>
                  <a:lumOff val="80000"/>
                </a:schemeClr>
              </a:solidFill>
              <a:ln w="12700">
                <a:noFill/>
                <a:prstDash val="solid"/>
              </a:ln>
            </p:spPr>
          </p:sp>
          <p:sp>
            <p:nvSpPr>
              <p:cNvPr id="35" name="Shape 52"/>
              <p:cNvSpPr/>
              <p:nvPr/>
            </p:nvSpPr>
            <p:spPr>
              <a:xfrm>
                <a:off x="1980000" y="5107500"/>
                <a:ext cx="198000" cy="36000"/>
              </a:xfrm>
              <a:prstGeom prst="rect">
                <a:avLst/>
              </a:prstGeom>
              <a:solidFill>
                <a:schemeClr val="accent5">
                  <a:lumMod val="20000"/>
                  <a:lumOff val="80000"/>
                </a:schemeClr>
              </a:solidFill>
              <a:ln w="12700">
                <a:noFill/>
                <a:prstDash val="solid"/>
              </a:ln>
            </p:spPr>
          </p:sp>
          <p:sp>
            <p:nvSpPr>
              <p:cNvPr id="36" name="Shape 52"/>
              <p:cNvSpPr/>
              <p:nvPr/>
            </p:nvSpPr>
            <p:spPr>
              <a:xfrm>
                <a:off x="2178000" y="5107500"/>
                <a:ext cx="198000" cy="36000"/>
              </a:xfrm>
              <a:prstGeom prst="rect">
                <a:avLst/>
              </a:prstGeom>
              <a:solidFill>
                <a:schemeClr val="accent5">
                  <a:lumMod val="20000"/>
                  <a:lumOff val="80000"/>
                </a:schemeClr>
              </a:solidFill>
              <a:ln w="12700">
                <a:noFill/>
                <a:prstDash val="solid"/>
              </a:ln>
            </p:spPr>
          </p:sp>
          <p:sp>
            <p:nvSpPr>
              <p:cNvPr id="37" name="Shape 52"/>
              <p:cNvSpPr/>
              <p:nvPr/>
            </p:nvSpPr>
            <p:spPr>
              <a:xfrm>
                <a:off x="2376000" y="5107500"/>
                <a:ext cx="198000" cy="36000"/>
              </a:xfrm>
              <a:prstGeom prst="rect">
                <a:avLst/>
              </a:prstGeom>
              <a:solidFill>
                <a:schemeClr val="accent5">
                  <a:lumMod val="20000"/>
                  <a:lumOff val="80000"/>
                </a:schemeClr>
              </a:solidFill>
              <a:ln w="12700">
                <a:noFill/>
                <a:prstDash val="solid"/>
              </a:ln>
            </p:spPr>
          </p:sp>
          <p:sp>
            <p:nvSpPr>
              <p:cNvPr id="38" name="Shape 52"/>
              <p:cNvSpPr/>
              <p:nvPr/>
            </p:nvSpPr>
            <p:spPr>
              <a:xfrm>
                <a:off x="2574000" y="5107500"/>
                <a:ext cx="198000" cy="36000"/>
              </a:xfrm>
              <a:prstGeom prst="rect">
                <a:avLst/>
              </a:prstGeom>
              <a:solidFill>
                <a:schemeClr val="accent5">
                  <a:lumMod val="20000"/>
                  <a:lumOff val="80000"/>
                </a:schemeClr>
              </a:solidFill>
              <a:ln w="12700">
                <a:noFill/>
                <a:prstDash val="solid"/>
              </a:ln>
            </p:spPr>
          </p:sp>
          <p:sp>
            <p:nvSpPr>
              <p:cNvPr id="39" name="Shape 52"/>
              <p:cNvSpPr/>
              <p:nvPr/>
            </p:nvSpPr>
            <p:spPr>
              <a:xfrm>
                <a:off x="2772712" y="5108400"/>
                <a:ext cx="198000" cy="36000"/>
              </a:xfrm>
              <a:prstGeom prst="rect">
                <a:avLst/>
              </a:prstGeom>
              <a:solidFill>
                <a:schemeClr val="accent5">
                  <a:lumMod val="20000"/>
                  <a:lumOff val="80000"/>
                </a:schemeClr>
              </a:solidFill>
              <a:ln w="12700">
                <a:noFill/>
                <a:prstDash val="solid"/>
              </a:ln>
            </p:spPr>
          </p:sp>
          <p:sp>
            <p:nvSpPr>
              <p:cNvPr id="40" name="Shape 52"/>
              <p:cNvSpPr/>
              <p:nvPr/>
            </p:nvSpPr>
            <p:spPr>
              <a:xfrm>
                <a:off x="2970712" y="5108400"/>
                <a:ext cx="198000" cy="36000"/>
              </a:xfrm>
              <a:prstGeom prst="rect">
                <a:avLst/>
              </a:prstGeom>
              <a:solidFill>
                <a:schemeClr val="accent5">
                  <a:lumMod val="20000"/>
                  <a:lumOff val="80000"/>
                </a:schemeClr>
              </a:solidFill>
              <a:ln w="12700">
                <a:noFill/>
                <a:prstDash val="solid"/>
              </a:ln>
            </p:spPr>
          </p:sp>
          <p:sp>
            <p:nvSpPr>
              <p:cNvPr id="41" name="Shape 52"/>
              <p:cNvSpPr/>
              <p:nvPr/>
            </p:nvSpPr>
            <p:spPr>
              <a:xfrm>
                <a:off x="3168712" y="5108400"/>
                <a:ext cx="198000" cy="36000"/>
              </a:xfrm>
              <a:prstGeom prst="rect">
                <a:avLst/>
              </a:prstGeom>
              <a:solidFill>
                <a:schemeClr val="accent5">
                  <a:lumMod val="20000"/>
                  <a:lumOff val="80000"/>
                </a:schemeClr>
              </a:solidFill>
              <a:ln w="12700">
                <a:noFill/>
                <a:prstDash val="solid"/>
              </a:ln>
            </p:spPr>
          </p:sp>
          <p:sp>
            <p:nvSpPr>
              <p:cNvPr id="42" name="Shape 52"/>
              <p:cNvSpPr/>
              <p:nvPr/>
            </p:nvSpPr>
            <p:spPr>
              <a:xfrm>
                <a:off x="3366712" y="5108400"/>
                <a:ext cx="198000" cy="36000"/>
              </a:xfrm>
              <a:prstGeom prst="rect">
                <a:avLst/>
              </a:prstGeom>
              <a:solidFill>
                <a:schemeClr val="accent5">
                  <a:lumMod val="20000"/>
                  <a:lumOff val="80000"/>
                </a:schemeClr>
              </a:solidFill>
              <a:ln w="12700">
                <a:noFill/>
                <a:prstDash val="solid"/>
              </a:ln>
            </p:spPr>
          </p:sp>
          <p:sp>
            <p:nvSpPr>
              <p:cNvPr id="43" name="Shape 52"/>
              <p:cNvSpPr/>
              <p:nvPr/>
            </p:nvSpPr>
            <p:spPr>
              <a:xfrm>
                <a:off x="3564712" y="5108400"/>
                <a:ext cx="198000" cy="36000"/>
              </a:xfrm>
              <a:prstGeom prst="rect">
                <a:avLst/>
              </a:prstGeom>
              <a:solidFill>
                <a:schemeClr val="accent5">
                  <a:lumMod val="20000"/>
                  <a:lumOff val="80000"/>
                </a:schemeClr>
              </a:solidFill>
              <a:ln w="12700">
                <a:noFill/>
                <a:prstDash val="solid"/>
              </a:ln>
            </p:spPr>
          </p:sp>
          <p:sp>
            <p:nvSpPr>
              <p:cNvPr id="44" name="Shape 52"/>
              <p:cNvSpPr/>
              <p:nvPr/>
            </p:nvSpPr>
            <p:spPr>
              <a:xfrm>
                <a:off x="3762712" y="5108400"/>
                <a:ext cx="198000" cy="36000"/>
              </a:xfrm>
              <a:prstGeom prst="rect">
                <a:avLst/>
              </a:prstGeom>
              <a:solidFill>
                <a:schemeClr val="accent5">
                  <a:lumMod val="20000"/>
                  <a:lumOff val="80000"/>
                </a:schemeClr>
              </a:solidFill>
              <a:ln w="12700">
                <a:noFill/>
                <a:prstDash val="solid"/>
              </a:ln>
            </p:spPr>
          </p:sp>
          <p:sp>
            <p:nvSpPr>
              <p:cNvPr id="45" name="Shape 52"/>
              <p:cNvSpPr/>
              <p:nvPr/>
            </p:nvSpPr>
            <p:spPr>
              <a:xfrm>
                <a:off x="3960712" y="5107530"/>
                <a:ext cx="198000" cy="36000"/>
              </a:xfrm>
              <a:prstGeom prst="rect">
                <a:avLst/>
              </a:prstGeom>
              <a:solidFill>
                <a:schemeClr val="accent5">
                  <a:lumMod val="20000"/>
                  <a:lumOff val="80000"/>
                </a:schemeClr>
              </a:solidFill>
              <a:ln w="12700">
                <a:noFill/>
                <a:prstDash val="solid"/>
              </a:ln>
            </p:spPr>
          </p:sp>
          <p:sp>
            <p:nvSpPr>
              <p:cNvPr id="46" name="Shape 52"/>
              <p:cNvSpPr/>
              <p:nvPr/>
            </p:nvSpPr>
            <p:spPr>
              <a:xfrm>
                <a:off x="4158712" y="5107500"/>
                <a:ext cx="198000" cy="36000"/>
              </a:xfrm>
              <a:prstGeom prst="rect">
                <a:avLst/>
              </a:prstGeom>
              <a:solidFill>
                <a:schemeClr val="accent5">
                  <a:lumMod val="20000"/>
                  <a:lumOff val="80000"/>
                </a:schemeClr>
              </a:solidFill>
              <a:ln w="12700">
                <a:noFill/>
                <a:prstDash val="solid"/>
              </a:ln>
            </p:spPr>
          </p:sp>
          <p:sp>
            <p:nvSpPr>
              <p:cNvPr id="47" name="Shape 52"/>
              <p:cNvSpPr/>
              <p:nvPr/>
            </p:nvSpPr>
            <p:spPr>
              <a:xfrm>
                <a:off x="4356712" y="5107500"/>
                <a:ext cx="198000" cy="36000"/>
              </a:xfrm>
              <a:prstGeom prst="rect">
                <a:avLst/>
              </a:prstGeom>
              <a:solidFill>
                <a:schemeClr val="accent5">
                  <a:lumMod val="20000"/>
                  <a:lumOff val="80000"/>
                </a:schemeClr>
              </a:solidFill>
              <a:ln w="12700">
                <a:noFill/>
                <a:prstDash val="solid"/>
              </a:ln>
            </p:spPr>
          </p:sp>
          <p:sp>
            <p:nvSpPr>
              <p:cNvPr id="48" name="Shape 52"/>
              <p:cNvSpPr/>
              <p:nvPr/>
            </p:nvSpPr>
            <p:spPr>
              <a:xfrm>
                <a:off x="4554712" y="5107500"/>
                <a:ext cx="198000" cy="36000"/>
              </a:xfrm>
              <a:prstGeom prst="rect">
                <a:avLst/>
              </a:prstGeom>
              <a:solidFill>
                <a:schemeClr val="accent5">
                  <a:lumMod val="20000"/>
                  <a:lumOff val="80000"/>
                </a:schemeClr>
              </a:solidFill>
              <a:ln w="12700">
                <a:noFill/>
                <a:prstDash val="solid"/>
              </a:ln>
            </p:spPr>
          </p:sp>
          <p:sp>
            <p:nvSpPr>
              <p:cNvPr id="49" name="Shape 52"/>
              <p:cNvSpPr/>
              <p:nvPr/>
            </p:nvSpPr>
            <p:spPr>
              <a:xfrm>
                <a:off x="4752712" y="5107500"/>
                <a:ext cx="198000" cy="36000"/>
              </a:xfrm>
              <a:prstGeom prst="rect">
                <a:avLst/>
              </a:prstGeom>
              <a:solidFill>
                <a:schemeClr val="accent5">
                  <a:lumMod val="20000"/>
                  <a:lumOff val="80000"/>
                </a:schemeClr>
              </a:solidFill>
              <a:ln w="12700">
                <a:noFill/>
                <a:prstDash val="solid"/>
              </a:ln>
            </p:spPr>
          </p:sp>
          <p:sp>
            <p:nvSpPr>
              <p:cNvPr id="50" name="Shape 52"/>
              <p:cNvSpPr/>
              <p:nvPr/>
            </p:nvSpPr>
            <p:spPr>
              <a:xfrm>
                <a:off x="4950712" y="5107500"/>
                <a:ext cx="198000" cy="36000"/>
              </a:xfrm>
              <a:prstGeom prst="rect">
                <a:avLst/>
              </a:prstGeom>
              <a:solidFill>
                <a:schemeClr val="accent5">
                  <a:lumMod val="20000"/>
                  <a:lumOff val="80000"/>
                </a:schemeClr>
              </a:solidFill>
              <a:ln w="12700">
                <a:noFill/>
                <a:prstDash val="solid"/>
              </a:ln>
            </p:spPr>
          </p:sp>
          <p:sp>
            <p:nvSpPr>
              <p:cNvPr id="51" name="Shape 52"/>
              <p:cNvSpPr/>
              <p:nvPr/>
            </p:nvSpPr>
            <p:spPr>
              <a:xfrm>
                <a:off x="5148712" y="5107500"/>
                <a:ext cx="198000" cy="36000"/>
              </a:xfrm>
              <a:prstGeom prst="rect">
                <a:avLst/>
              </a:prstGeom>
              <a:solidFill>
                <a:schemeClr val="accent5">
                  <a:lumMod val="20000"/>
                  <a:lumOff val="80000"/>
                </a:schemeClr>
              </a:solidFill>
              <a:ln w="12700">
                <a:noFill/>
                <a:prstDash val="solid"/>
              </a:ln>
            </p:spPr>
          </p:sp>
          <p:sp>
            <p:nvSpPr>
              <p:cNvPr id="52" name="Shape 52"/>
              <p:cNvSpPr/>
              <p:nvPr/>
            </p:nvSpPr>
            <p:spPr>
              <a:xfrm>
                <a:off x="5346712" y="5108400"/>
                <a:ext cx="198000" cy="36000"/>
              </a:xfrm>
              <a:prstGeom prst="rect">
                <a:avLst/>
              </a:prstGeom>
              <a:solidFill>
                <a:schemeClr val="accent5">
                  <a:lumMod val="20000"/>
                  <a:lumOff val="80000"/>
                </a:schemeClr>
              </a:solidFill>
              <a:ln w="12700">
                <a:noFill/>
                <a:prstDash val="solid"/>
              </a:ln>
            </p:spPr>
          </p:sp>
          <p:sp>
            <p:nvSpPr>
              <p:cNvPr id="53" name="Shape 52"/>
              <p:cNvSpPr/>
              <p:nvPr/>
            </p:nvSpPr>
            <p:spPr>
              <a:xfrm>
                <a:off x="5544712" y="5108400"/>
                <a:ext cx="198000" cy="36000"/>
              </a:xfrm>
              <a:prstGeom prst="rect">
                <a:avLst/>
              </a:prstGeom>
              <a:solidFill>
                <a:schemeClr val="accent5">
                  <a:lumMod val="20000"/>
                  <a:lumOff val="80000"/>
                </a:schemeClr>
              </a:solidFill>
              <a:ln w="12700">
                <a:noFill/>
                <a:prstDash val="solid"/>
              </a:ln>
            </p:spPr>
          </p:sp>
          <p:sp>
            <p:nvSpPr>
              <p:cNvPr id="54" name="Shape 52"/>
              <p:cNvSpPr/>
              <p:nvPr/>
            </p:nvSpPr>
            <p:spPr>
              <a:xfrm>
                <a:off x="5742712" y="5108400"/>
                <a:ext cx="198000" cy="36000"/>
              </a:xfrm>
              <a:prstGeom prst="rect">
                <a:avLst/>
              </a:prstGeom>
              <a:solidFill>
                <a:schemeClr val="accent5">
                  <a:lumMod val="20000"/>
                  <a:lumOff val="80000"/>
                </a:schemeClr>
              </a:solidFill>
              <a:ln w="12700">
                <a:noFill/>
                <a:prstDash val="solid"/>
              </a:ln>
            </p:spPr>
          </p:sp>
          <p:sp>
            <p:nvSpPr>
              <p:cNvPr id="55" name="Shape 52"/>
              <p:cNvSpPr/>
              <p:nvPr/>
            </p:nvSpPr>
            <p:spPr>
              <a:xfrm>
                <a:off x="5940712" y="5108400"/>
                <a:ext cx="198000" cy="36000"/>
              </a:xfrm>
              <a:prstGeom prst="rect">
                <a:avLst/>
              </a:prstGeom>
              <a:solidFill>
                <a:schemeClr val="accent5">
                  <a:lumMod val="20000"/>
                  <a:lumOff val="80000"/>
                </a:schemeClr>
              </a:solidFill>
              <a:ln w="12700">
                <a:noFill/>
                <a:prstDash val="solid"/>
              </a:ln>
            </p:spPr>
          </p:sp>
          <p:sp>
            <p:nvSpPr>
              <p:cNvPr id="56" name="Shape 52"/>
              <p:cNvSpPr/>
              <p:nvPr/>
            </p:nvSpPr>
            <p:spPr>
              <a:xfrm>
                <a:off x="6138712" y="5108400"/>
                <a:ext cx="198000" cy="36000"/>
              </a:xfrm>
              <a:prstGeom prst="rect">
                <a:avLst/>
              </a:prstGeom>
              <a:solidFill>
                <a:schemeClr val="accent5">
                  <a:lumMod val="20000"/>
                  <a:lumOff val="80000"/>
                </a:schemeClr>
              </a:solidFill>
              <a:ln w="12700">
                <a:noFill/>
                <a:prstDash val="solid"/>
              </a:ln>
            </p:spPr>
          </p:sp>
          <p:sp>
            <p:nvSpPr>
              <p:cNvPr id="57" name="Shape 52"/>
              <p:cNvSpPr/>
              <p:nvPr/>
            </p:nvSpPr>
            <p:spPr>
              <a:xfrm>
                <a:off x="6336712" y="5108400"/>
                <a:ext cx="198000" cy="36000"/>
              </a:xfrm>
              <a:prstGeom prst="rect">
                <a:avLst/>
              </a:prstGeom>
              <a:solidFill>
                <a:schemeClr val="accent5">
                  <a:lumMod val="20000"/>
                  <a:lumOff val="80000"/>
                </a:schemeClr>
              </a:solidFill>
              <a:ln w="12700">
                <a:noFill/>
                <a:prstDash val="solid"/>
              </a:ln>
            </p:spPr>
          </p:sp>
          <p:sp>
            <p:nvSpPr>
              <p:cNvPr id="58" name="Shape 52"/>
              <p:cNvSpPr/>
              <p:nvPr/>
            </p:nvSpPr>
            <p:spPr>
              <a:xfrm>
                <a:off x="6534712" y="5108400"/>
                <a:ext cx="198000" cy="36000"/>
              </a:xfrm>
              <a:prstGeom prst="rect">
                <a:avLst/>
              </a:prstGeom>
              <a:solidFill>
                <a:schemeClr val="accent5">
                  <a:lumMod val="20000"/>
                  <a:lumOff val="80000"/>
                </a:schemeClr>
              </a:solidFill>
              <a:ln w="12700">
                <a:noFill/>
                <a:prstDash val="solid"/>
              </a:ln>
            </p:spPr>
          </p:sp>
          <p:sp>
            <p:nvSpPr>
              <p:cNvPr id="59" name="Shape 52"/>
              <p:cNvSpPr/>
              <p:nvPr/>
            </p:nvSpPr>
            <p:spPr>
              <a:xfrm>
                <a:off x="6732712" y="5108400"/>
                <a:ext cx="198000" cy="36000"/>
              </a:xfrm>
              <a:prstGeom prst="rect">
                <a:avLst/>
              </a:prstGeom>
              <a:solidFill>
                <a:schemeClr val="accent5">
                  <a:lumMod val="20000"/>
                  <a:lumOff val="80000"/>
                </a:schemeClr>
              </a:solidFill>
              <a:ln w="12700">
                <a:noFill/>
                <a:prstDash val="solid"/>
              </a:ln>
            </p:spPr>
          </p:sp>
          <p:sp>
            <p:nvSpPr>
              <p:cNvPr id="60" name="Shape 52"/>
              <p:cNvSpPr/>
              <p:nvPr/>
            </p:nvSpPr>
            <p:spPr>
              <a:xfrm>
                <a:off x="6930712" y="5108400"/>
                <a:ext cx="198000" cy="36000"/>
              </a:xfrm>
              <a:prstGeom prst="rect">
                <a:avLst/>
              </a:prstGeom>
              <a:solidFill>
                <a:schemeClr val="accent5">
                  <a:lumMod val="20000"/>
                  <a:lumOff val="80000"/>
                </a:schemeClr>
              </a:solidFill>
              <a:ln w="12700">
                <a:noFill/>
                <a:prstDash val="solid"/>
              </a:ln>
            </p:spPr>
          </p:sp>
          <p:sp>
            <p:nvSpPr>
              <p:cNvPr id="61" name="Shape 52"/>
              <p:cNvSpPr/>
              <p:nvPr/>
            </p:nvSpPr>
            <p:spPr>
              <a:xfrm>
                <a:off x="7128712" y="5108400"/>
                <a:ext cx="198000" cy="36000"/>
              </a:xfrm>
              <a:prstGeom prst="rect">
                <a:avLst/>
              </a:prstGeom>
              <a:solidFill>
                <a:schemeClr val="accent5">
                  <a:lumMod val="20000"/>
                  <a:lumOff val="80000"/>
                </a:schemeClr>
              </a:solidFill>
              <a:ln w="12700">
                <a:noFill/>
                <a:prstDash val="solid"/>
              </a:ln>
            </p:spPr>
          </p:sp>
          <p:sp>
            <p:nvSpPr>
              <p:cNvPr id="62" name="Shape 52"/>
              <p:cNvSpPr/>
              <p:nvPr/>
            </p:nvSpPr>
            <p:spPr>
              <a:xfrm>
                <a:off x="7326712" y="5108400"/>
                <a:ext cx="198000" cy="36000"/>
              </a:xfrm>
              <a:prstGeom prst="rect">
                <a:avLst/>
              </a:prstGeom>
              <a:solidFill>
                <a:schemeClr val="accent5">
                  <a:lumMod val="20000"/>
                  <a:lumOff val="80000"/>
                </a:schemeClr>
              </a:solidFill>
              <a:ln w="12700">
                <a:noFill/>
                <a:prstDash val="solid"/>
              </a:ln>
            </p:spPr>
          </p:sp>
          <p:sp>
            <p:nvSpPr>
              <p:cNvPr id="63" name="Shape 52"/>
              <p:cNvSpPr/>
              <p:nvPr/>
            </p:nvSpPr>
            <p:spPr>
              <a:xfrm>
                <a:off x="7524712" y="5108400"/>
                <a:ext cx="198000" cy="36000"/>
              </a:xfrm>
              <a:prstGeom prst="rect">
                <a:avLst/>
              </a:prstGeom>
              <a:solidFill>
                <a:schemeClr val="accent5">
                  <a:lumMod val="20000"/>
                  <a:lumOff val="80000"/>
                </a:schemeClr>
              </a:solidFill>
              <a:ln w="12700">
                <a:noFill/>
                <a:prstDash val="solid"/>
              </a:ln>
            </p:spPr>
          </p:sp>
          <p:sp>
            <p:nvSpPr>
              <p:cNvPr id="64" name="Shape 52"/>
              <p:cNvSpPr/>
              <p:nvPr/>
            </p:nvSpPr>
            <p:spPr>
              <a:xfrm>
                <a:off x="7722712" y="5108400"/>
                <a:ext cx="198000" cy="36000"/>
              </a:xfrm>
              <a:prstGeom prst="rect">
                <a:avLst/>
              </a:prstGeom>
              <a:solidFill>
                <a:schemeClr val="accent5">
                  <a:lumMod val="20000"/>
                  <a:lumOff val="80000"/>
                </a:schemeClr>
              </a:solidFill>
              <a:ln w="12700">
                <a:noFill/>
                <a:prstDash val="solid"/>
              </a:ln>
            </p:spPr>
          </p:sp>
          <p:sp>
            <p:nvSpPr>
              <p:cNvPr id="65" name="Shape 52"/>
              <p:cNvSpPr/>
              <p:nvPr/>
            </p:nvSpPr>
            <p:spPr>
              <a:xfrm>
                <a:off x="7920712" y="5109048"/>
                <a:ext cx="198000" cy="36000"/>
              </a:xfrm>
              <a:prstGeom prst="rect">
                <a:avLst/>
              </a:prstGeom>
              <a:solidFill>
                <a:schemeClr val="accent5">
                  <a:lumMod val="20000"/>
                  <a:lumOff val="80000"/>
                </a:schemeClr>
              </a:solidFill>
              <a:ln w="12700">
                <a:noFill/>
                <a:prstDash val="solid"/>
              </a:ln>
            </p:spPr>
          </p:sp>
          <p:sp>
            <p:nvSpPr>
              <p:cNvPr id="66" name="Shape 52"/>
              <p:cNvSpPr/>
              <p:nvPr/>
            </p:nvSpPr>
            <p:spPr>
              <a:xfrm>
                <a:off x="8118712" y="5109048"/>
                <a:ext cx="198000" cy="36000"/>
              </a:xfrm>
              <a:prstGeom prst="rect">
                <a:avLst/>
              </a:prstGeom>
              <a:solidFill>
                <a:schemeClr val="accent5">
                  <a:lumMod val="20000"/>
                  <a:lumOff val="80000"/>
                </a:schemeClr>
              </a:solidFill>
              <a:ln w="12700">
                <a:noFill/>
                <a:prstDash val="solid"/>
              </a:ln>
            </p:spPr>
          </p:sp>
          <p:sp>
            <p:nvSpPr>
              <p:cNvPr id="67" name="Shape 52"/>
              <p:cNvSpPr/>
              <p:nvPr/>
            </p:nvSpPr>
            <p:spPr>
              <a:xfrm>
                <a:off x="8316712" y="5109048"/>
                <a:ext cx="198000" cy="36000"/>
              </a:xfrm>
              <a:prstGeom prst="rect">
                <a:avLst/>
              </a:prstGeom>
              <a:solidFill>
                <a:schemeClr val="accent5">
                  <a:lumMod val="20000"/>
                  <a:lumOff val="80000"/>
                </a:schemeClr>
              </a:solidFill>
              <a:ln w="12700">
                <a:noFill/>
                <a:prstDash val="solid"/>
              </a:ln>
            </p:spPr>
          </p:sp>
          <p:sp>
            <p:nvSpPr>
              <p:cNvPr id="68" name="Shape 52"/>
              <p:cNvSpPr/>
              <p:nvPr/>
            </p:nvSpPr>
            <p:spPr>
              <a:xfrm>
                <a:off x="8514712" y="5109048"/>
                <a:ext cx="198000" cy="36000"/>
              </a:xfrm>
              <a:prstGeom prst="rect">
                <a:avLst/>
              </a:prstGeom>
              <a:solidFill>
                <a:schemeClr val="accent5">
                  <a:lumMod val="20000"/>
                  <a:lumOff val="80000"/>
                </a:schemeClr>
              </a:solidFill>
              <a:ln w="12700">
                <a:noFill/>
                <a:prstDash val="solid"/>
              </a:ln>
            </p:spPr>
          </p:sp>
          <p:sp>
            <p:nvSpPr>
              <p:cNvPr id="69" name="Shape 52"/>
              <p:cNvSpPr/>
              <p:nvPr/>
            </p:nvSpPr>
            <p:spPr>
              <a:xfrm>
                <a:off x="8712712" y="5109048"/>
                <a:ext cx="198000" cy="36000"/>
              </a:xfrm>
              <a:prstGeom prst="rect">
                <a:avLst/>
              </a:prstGeom>
              <a:solidFill>
                <a:schemeClr val="accent5">
                  <a:lumMod val="20000"/>
                  <a:lumOff val="80000"/>
                </a:schemeClr>
              </a:solidFill>
              <a:ln w="12700">
                <a:noFill/>
                <a:prstDash val="solid"/>
              </a:ln>
            </p:spPr>
          </p:sp>
          <p:sp>
            <p:nvSpPr>
              <p:cNvPr id="70" name="Shape 52"/>
              <p:cNvSpPr/>
              <p:nvPr/>
            </p:nvSpPr>
            <p:spPr>
              <a:xfrm>
                <a:off x="8910712" y="5109048"/>
                <a:ext cx="198000" cy="36000"/>
              </a:xfrm>
              <a:prstGeom prst="rect">
                <a:avLst/>
              </a:prstGeom>
              <a:solidFill>
                <a:schemeClr val="accent5">
                  <a:lumMod val="20000"/>
                  <a:lumOff val="80000"/>
                </a:schemeClr>
              </a:solidFill>
              <a:ln w="12700">
                <a:noFill/>
                <a:prstDash val="solid"/>
              </a:ln>
            </p:spPr>
          </p:sp>
        </p:grpSp>
      </p:grpSp>
      <p:sp>
        <p:nvSpPr>
          <p:cNvPr id="20" name="Text 18"/>
          <p:cNvSpPr/>
          <p:nvPr/>
        </p:nvSpPr>
        <p:spPr>
          <a:xfrm>
            <a:off x="274320" y="4901184"/>
            <a:ext cx="8229600" cy="219456"/>
          </a:xfrm>
          <a:prstGeom prst="rect">
            <a:avLst/>
          </a:prstGeom>
          <a:noFill/>
          <a:ln/>
        </p:spPr>
        <p:txBody>
          <a:bodyPr wrap="square" lIns="0" tIns="0" rIns="0" bIns="0" rtlCol="0" anchor="ctr"/>
          <a:lstStyle/>
          <a:p>
            <a:pPr marL="0" indent="0">
              <a:buNone/>
            </a:pPr>
            <a:r>
              <a:rPr lang="en-US" sz="800" dirty="0">
                <a:solidFill>
                  <a:srgbClr val="8899AA"/>
                </a:solidFill>
              </a:rPr>
              <a:t>dr inż. Mateusz Pomianek  •  Katedra Informatyki i Automatyki  •  Politechnika Rzeszowska  •  2026</a:t>
            </a:r>
            <a:endParaRPr lang="en-US" sz="8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12839</Words>
  <Application>Microsoft Office PowerPoint</Application>
  <PresentationFormat>Pokaz na ekranie (16:9)</PresentationFormat>
  <Paragraphs>1225</Paragraphs>
  <Slides>46</Slides>
  <Notes>46</Notes>
  <HiddenSlides>0</HiddenSlides>
  <MMClips>0</MMClips>
  <ScaleCrop>false</ScaleCrop>
  <HeadingPairs>
    <vt:vector size="6" baseType="variant">
      <vt:variant>
        <vt:lpstr>Używane czcionki</vt:lpstr>
      </vt:variant>
      <vt:variant>
        <vt:i4>12</vt:i4>
      </vt:variant>
      <vt:variant>
        <vt:lpstr>Motyw</vt:lpstr>
      </vt:variant>
      <vt:variant>
        <vt:i4>1</vt:i4>
      </vt:variant>
      <vt:variant>
        <vt:lpstr>Tytuły slajdów</vt:lpstr>
      </vt:variant>
      <vt:variant>
        <vt:i4>46</vt:i4>
      </vt:variant>
    </vt:vector>
  </HeadingPairs>
  <TitlesOfParts>
    <vt:vector size="59" baseType="lpstr">
      <vt:lpstr>Arial</vt:lpstr>
      <vt:lpstr>Arial Nova</vt:lpstr>
      <vt:lpstr>Calibri</vt:lpstr>
      <vt:lpstr>Calibri Light</vt:lpstr>
      <vt:lpstr>Cambria</vt:lpstr>
      <vt:lpstr>Consolas</vt:lpstr>
      <vt:lpstr>DejaVu Sans</vt:lpstr>
      <vt:lpstr>Georgia Pro Cond</vt:lpstr>
      <vt:lpstr>Liberation Sans</vt:lpstr>
      <vt:lpstr>Noto Sans CJK SC</vt:lpstr>
      <vt:lpstr>Noto Sans Devanagari</vt:lpstr>
      <vt:lpstr>Times New Roman</vt:lpstr>
      <vt:lpstr>Office Theme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Projektowanie UI/UX dla Urządzeń Mobilnych</dc:title>
  <dc:subject>PptxGenJS Presentation</dc:subject>
  <dc:creator>Mateusz Pomianek</dc:creator>
  <cp:keywords>mobile;ux;ui;smartphone</cp:keywords>
  <cp:lastModifiedBy>Mateusz Pomianek</cp:lastModifiedBy>
  <cp:revision>24</cp:revision>
  <dcterms:created xsi:type="dcterms:W3CDTF">2026-03-14T14:42:52Z</dcterms:created>
  <dcterms:modified xsi:type="dcterms:W3CDTF">2026-03-14T16:12:00Z</dcterms:modified>
</cp:coreProperties>
</file>