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presProps.xml" ContentType="application/vnd.openxmlformats-officedocument.presentationml.presProps+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slides/slide29.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2.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35.xml" ContentType="application/vnd.openxmlformats-officedocument.presentationml.notesSlide+xml"/>
  <Override PartName="/ppt/notesSlides/notesSlide45.xml" ContentType="application/vnd.openxmlformats-officedocument.presentationml.notesSlide+xml"/>
  <Override PartName="/ppt/notesSlides/notesSlide30.xml" ContentType="application/vnd.openxmlformats-officedocument.presentationml.notesSlide+xml"/>
  <Override PartName="/ppt/notesSlides/notesSlide18.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44.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17.xml" ContentType="application/vnd.openxmlformats-officedocument.presentationml.notesSlide+xml"/>
  <Override PartName="/ppt/notesSlides/notesSlide38.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6.xml" ContentType="application/vnd.openxmlformats-officedocument.presentationml.notesSlide+xml"/>
  <Override PartName="/ppt/notesSlides/notesSlide16.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31.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0.xml" ContentType="application/vnd.openxmlformats-officedocument.presentationml.notesSlid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pl-PL" sz="4400" b="0" u="none" strike="noStrike">
                <a:solidFill>
                  <a:srgbClr val="000000"/>
                </a:solidFill>
                <a:effectLst/>
                <a:uFillTx/>
                <a:latin typeface="Arial"/>
              </a:rPr>
              <a:t>Kliknij, aby przesunąć slajd</a:t>
            </a:r>
            <a:endParaRPr lang="pl-PL" sz="4400" b="0" u="none" strike="noStrike">
              <a:solidFill>
                <a:srgbClr val="000000"/>
              </a:solidFill>
              <a:effectLst/>
              <a:uFillTx/>
              <a:latin typeface="Arial"/>
            </a:endParaRPr>
          </a:p>
        </p:txBody>
      </p:sp>
      <p:sp>
        <p:nvSpPr>
          <p:cNvPr id="1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pl-PL" sz="2000" b="0" u="none" strike="noStrike">
                <a:solidFill>
                  <a:srgbClr val="000000"/>
                </a:solidFill>
                <a:effectLst/>
                <a:uFillTx/>
                <a:latin typeface="Arial"/>
              </a:rPr>
              <a:t>Kliknij, aby edytować format notatek</a:t>
            </a:r>
            <a:endParaRPr lang="pl-PL" sz="2000" b="0" u="none" strike="noStrike">
              <a:solidFill>
                <a:srgbClr val="000000"/>
              </a:solidFill>
              <a:effectLst/>
              <a:uFillTx/>
              <a:latin typeface="Arial"/>
            </a:endParaRPr>
          </a:p>
        </p:txBody>
      </p:sp>
      <p:sp>
        <p:nvSpPr>
          <p:cNvPr id="1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19"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lang="pl-PL" sz="1400" b="0" u="none" strike="noStrike">
                <a:solidFill>
                  <a:srgbClr val="000000"/>
                </a:solidFill>
                <a:effectLst/>
                <a:uFillTx/>
                <a:latin typeface="Times New Roman"/>
              </a:defRPr>
            </a:lvl1pPr>
          </a:lstStyle>
          <a:p>
            <a:pPr indent="0" algn="r">
              <a:buNone/>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20"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lang="pl-PL" sz="1400" b="0" u="none" strike="noStrike">
                <a:solidFill>
                  <a:srgbClr val="000000"/>
                </a:solidFill>
                <a:effectLst/>
                <a:uFillTx/>
                <a:latin typeface="Times New Roman"/>
              </a:defRPr>
            </a:lvl1pPr>
          </a:lstStyle>
          <a:p>
            <a:pPr indent="0">
              <a:buNone/>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21"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lang="pl-PL" sz="1400" b="0" u="none" strike="noStrike">
                <a:solidFill>
                  <a:srgbClr val="000000"/>
                </a:solidFill>
                <a:effectLst/>
                <a:uFillTx/>
                <a:latin typeface="Times New Roman"/>
              </a:defRPr>
            </a:lvl1pPr>
          </a:lstStyle>
          <a:p>
            <a:pPr indent="0" algn="r">
              <a:buNone/>
            </a:pPr>
            <a:fld id="{B92615B3-9618-4521-B583-0E1F8837CC92}" type="slidenum">
              <a:rPr lang="pl-PL" sz="1400" b="0" u="none" strike="noStrike">
                <a:solidFill>
                  <a:srgbClr val="000000"/>
                </a:solidFill>
                <a:effectLst/>
                <a:uFillTx/>
                <a:latin typeface="Times New Roman"/>
              </a:rPr>
              <a:t>1</a:t>
            </a:fld>
            <a:endParaRPr lang="pl-P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7" name="PlaceHolder 1"/>
          <p:cNvSpPr>
            <a:spLocks noGrp="1"/>
          </p:cNvSpPr>
          <p:nvPr>
            <p:ph type="sldImg"/>
          </p:nvPr>
        </p:nvSpPr>
        <p:spPr>
          <a:xfrm>
            <a:off x="0" y="0"/>
            <a:ext cx="0" cy="0"/>
          </a:xfrm>
          <a:prstGeom prst="rect">
            <a:avLst/>
          </a:prstGeom>
          <a:ln w="0">
            <a:noFill/>
          </a:ln>
        </p:spPr>
      </p:sp>
      <p:sp>
        <p:nvSpPr>
          <p:cNvPr id="3668"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Dzień dobry Państwu. Witam na trzecim wykładzie z cyklu </a:t>
            </a:r>
            <a:r>
              <a:rPr lang="pl-PL" sz="2000" b="1" u="none" strike="noStrike">
                <a:solidFill>
                  <a:srgbClr val="000000"/>
                </a:solidFill>
                <a:effectLst/>
                <a:uFillTx/>
                <a:latin typeface="Arial"/>
              </a:rPr>
              <a:t>Programowanie Aplikacji Mobilnych</a:t>
            </a:r>
            <a:r>
              <a:rPr lang="pl-PL" sz="2000" b="0" u="none" strike="noStrike">
                <a:solidFill>
                  <a:srgbClr val="000000"/>
                </a:solidFill>
                <a:effectLst/>
                <a:uFillTx/>
                <a:latin typeface="Arial"/>
              </a:rPr>
              <a:t>. Dzisiejsze spotkanie poświęcimy tematowi </a:t>
            </a:r>
            <a:r>
              <a:rPr lang="pl-PL" sz="2000" b="1" u="none" strike="noStrike">
                <a:solidFill>
                  <a:srgbClr val="000000"/>
                </a:solidFill>
                <a:effectLst/>
                <a:uFillTx/>
                <a:latin typeface="Arial"/>
              </a:rPr>
              <a:t>projektowania UI/UX dla urządzeń mobilnych</a:t>
            </a:r>
            <a:r>
              <a:rPr lang="pl-PL" sz="2000" b="0" u="none" strike="noStrike">
                <a:solidFill>
                  <a:srgbClr val="000000"/>
                </a:solidFill>
                <a:effectLst/>
                <a:uFillTx/>
                <a:latin typeface="Arial"/>
              </a:rPr>
              <a:t>. To zagadnienie jest niezwykle ważne, ponieważ nawet najlepiej napisany kod, oparty na poprawnej architekturze i nowoczesnych technologiach, nie gwarantuje sukcesu aplikacji, jeśli użytkownik nie potrafi lub nie chce z niej wygodnie korzystać.</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bardzo często okazuje się, że o jakości produktu nie decyduje wyłącznie to, czy działa poprawnie w sensie technicznym. Równie ważne jest to, czy jest zrozumiały, intuicyjny, przewidywalny i przyjemny w użyciu. Dlatego właśnie UI i UX stały się dziś integralną częścią procesu projektowania oprogramowania.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Podczas tego wykładu będziemy poruszać się od podstawowych definicji, przez różne rodzaje interfejsów, aż po standardy branżowe, typografię, kolor, dźwięk, haptykę, projektowanie emocjonalne i narzędzia pracy. Innymi słowy: zobaczymy, jak projektuje się nowoczesne doświadczenia mobilne z perspektywy zarówno użytkownika, jak i zespołu wytwórczego.</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 początek jedna ciekawostka. Użytkownik bardzo często wyrabia sobie pierwszą opinię o interfejsie w czasie krótszym niż sekunda. To oznacza, że projekt działa na poziomie percepcji niemal natychmiast, zanim jeszcze zostanie świadomie oceniony. I właśnie dlatego design ma tak duże znaczenie.</a:t>
            </a:r>
            <a:endParaRPr lang="pl-PL" sz="2000" b="0" u="none" strike="noStrike">
              <a:solidFill>
                <a:srgbClr val="000000"/>
              </a:solidFill>
              <a:effectLst/>
              <a:uFillTx/>
              <a:latin typeface="Arial"/>
            </a:endParaRPr>
          </a:p>
        </p:txBody>
      </p:sp>
      <p:sp>
        <p:nvSpPr>
          <p:cNvPr id="3669" name="PlaceHolder 3"/>
          <p:cNvSpPr>
            <a:spLocks noGrp="1"/>
          </p:cNvSpPr>
          <p:nvPr>
            <p:ph type="sldNum" idx="7"/>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F369D97A-7272-4425-BAD5-A8049565DDC4}"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0" name="PlaceHolder 1"/>
          <p:cNvSpPr>
            <a:spLocks noGrp="1"/>
          </p:cNvSpPr>
          <p:nvPr>
            <p:ph type="sldImg"/>
          </p:nvPr>
        </p:nvSpPr>
        <p:spPr>
          <a:xfrm>
            <a:off x="-360" y="-360"/>
            <a:ext cx="0" cy="0"/>
          </a:xfrm>
          <a:prstGeom prst="rect">
            <a:avLst/>
          </a:prstGeom>
          <a:ln w="0">
            <a:noFill/>
          </a:ln>
        </p:spPr>
      </p:sp>
      <p:sp>
        <p:nvSpPr>
          <p:cNvPr id="3671"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Tutaj widzą Państwo plan dzisiejszego spotkania. Wykład został podzielony na dziesięć głównych bloków tematycznych. Zaczniemy od </a:t>
            </a:r>
            <a:r>
              <a:rPr lang="pl-PL" sz="2000" b="1" u="none" strike="noStrike">
                <a:solidFill>
                  <a:srgbClr val="000000"/>
                </a:solidFill>
                <a:effectLst/>
                <a:uFillTx/>
                <a:latin typeface="Arial"/>
              </a:rPr>
              <a:t>wprowadzenia do UI i UX</a:t>
            </a:r>
            <a:r>
              <a:rPr lang="pl-PL" sz="2000" b="0" u="none" strike="noStrike">
                <a:solidFill>
                  <a:srgbClr val="000000"/>
                </a:solidFill>
                <a:effectLst/>
                <a:uFillTx/>
                <a:latin typeface="Arial"/>
              </a:rPr>
              <a:t>, ponieważ bez uporządkowania podstawowych pojęć trudno sensownie rozmawiać o dalszych aspektach projektowania.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Następnie przejdziemy do </a:t>
            </a:r>
            <a:r>
              <a:rPr lang="pl-PL" sz="2000" b="1" u="none" strike="noStrike">
                <a:solidFill>
                  <a:srgbClr val="000000"/>
                </a:solidFill>
                <a:effectLst/>
                <a:uFillTx/>
                <a:latin typeface="Arial"/>
              </a:rPr>
              <a:t>rodzajów interfejsów użytkownika</a:t>
            </a:r>
            <a:r>
              <a:rPr lang="pl-PL" sz="2000" b="0" u="none" strike="noStrike">
                <a:solidFill>
                  <a:srgbClr val="000000"/>
                </a:solidFill>
                <a:effectLst/>
                <a:uFillTx/>
                <a:latin typeface="Arial"/>
              </a:rPr>
              <a:t>, aby pokazać, że interakcja z systemem nie ogranicza się tylko do klasycznego interfejsu graficznego. Potem omówimy </a:t>
            </a:r>
            <a:r>
              <a:rPr lang="pl-PL" sz="2000" b="1" u="none" strike="noStrike">
                <a:solidFill>
                  <a:srgbClr val="000000"/>
                </a:solidFill>
                <a:effectLst/>
                <a:uFillTx/>
                <a:latin typeface="Arial"/>
              </a:rPr>
              <a:t>zasady projektowania</a:t>
            </a:r>
            <a:r>
              <a:rPr lang="pl-PL" sz="2000" b="0" u="none" strike="noStrike">
                <a:solidFill>
                  <a:srgbClr val="000000"/>
                </a:solidFill>
                <a:effectLst/>
                <a:uFillTx/>
                <a:latin typeface="Arial"/>
              </a:rPr>
              <a:t>, czyli fundamenty, które pozwalają tworzyć rozwiązania nie tylko ładne, ale przede wszystkim użyteczne.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Kolejny blok obejmuje </a:t>
            </a:r>
            <a:r>
              <a:rPr lang="pl-PL" sz="2000" b="1" u="none" strike="noStrike">
                <a:solidFill>
                  <a:srgbClr val="000000"/>
                </a:solidFill>
                <a:effectLst/>
                <a:uFillTx/>
                <a:latin typeface="Arial"/>
              </a:rPr>
              <a:t>standardy branżowe</a:t>
            </a:r>
            <a:r>
              <a:rPr lang="pl-PL" sz="2000" b="0" u="none" strike="noStrike">
                <a:solidFill>
                  <a:srgbClr val="000000"/>
                </a:solidFill>
                <a:effectLst/>
                <a:uFillTx/>
                <a:latin typeface="Arial"/>
              </a:rPr>
              <a:t>, a więc wytyczne Apple, Google i standardy dostępności. Później zajmiemy się </a:t>
            </a:r>
            <a:r>
              <a:rPr lang="pl-PL" sz="2000" b="1" u="none" strike="noStrike">
                <a:solidFill>
                  <a:srgbClr val="000000"/>
                </a:solidFill>
                <a:effectLst/>
                <a:uFillTx/>
                <a:latin typeface="Arial"/>
              </a:rPr>
              <a:t>kolorem</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typografią</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dźwiękiem i haptyką</a:t>
            </a:r>
            <a:r>
              <a:rPr lang="pl-PL" sz="2000" b="0" u="none" strike="noStrike">
                <a:solidFill>
                  <a:srgbClr val="000000"/>
                </a:solidFill>
                <a:effectLst/>
                <a:uFillTx/>
                <a:latin typeface="Arial"/>
              </a:rPr>
              <a:t>, a więc elementami, które budują całe doświadczenie użytkownika, nie tylko jego warstwę wizualną. Pod koniec omówimy </a:t>
            </a:r>
            <a:r>
              <a:rPr lang="pl-PL" sz="2000" b="1" u="none" strike="noStrike">
                <a:solidFill>
                  <a:srgbClr val="000000"/>
                </a:solidFill>
                <a:effectLst/>
                <a:uFillTx/>
                <a:latin typeface="Arial"/>
              </a:rPr>
              <a:t>projektowanie emocjonalne</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hierarchię wizualną</a:t>
            </a:r>
            <a:r>
              <a:rPr lang="pl-PL" sz="2000" b="0" u="none" strike="noStrike">
                <a:solidFill>
                  <a:srgbClr val="000000"/>
                </a:solidFill>
                <a:effectLst/>
                <a:uFillTx/>
                <a:latin typeface="Arial"/>
              </a:rPr>
              <a:t> oraz </a:t>
            </a:r>
            <a:r>
              <a:rPr lang="pl-PL" sz="2000" b="1" u="none" strike="noStrike">
                <a:solidFill>
                  <a:srgbClr val="000000"/>
                </a:solidFill>
                <a:effectLst/>
                <a:uFillTx/>
                <a:latin typeface="Arial"/>
              </a:rPr>
              <a:t>narzędzia projektowe</a:t>
            </a:r>
            <a:r>
              <a:rPr lang="pl-PL" sz="2000" b="0" u="none" strike="noStrike">
                <a:solidFill>
                  <a:srgbClr val="000000"/>
                </a:solidFill>
                <a:effectLst/>
                <a:uFillTx/>
                <a:latin typeface="Arial"/>
              </a:rPr>
              <a:t> używane w praktyce.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Proszę zwrócić uwagę, że ta kolejność nie jest przypadkowa. Najpierw budujemy fundament teoretyczny, potem pokazujemy zasady, a dopiero później przechodzimy do konkretnych środków wyrazu i procesu projektowego. Tak właśnie powinno wyglądać również myślenie w realnym projekcie.</a:t>
            </a:r>
            <a:endParaRPr lang="pl-PL" sz="2000" b="0" u="none" strike="noStrike">
              <a:solidFill>
                <a:srgbClr val="000000"/>
              </a:solidFill>
              <a:effectLst/>
              <a:uFillTx/>
              <a:latin typeface="Arial"/>
            </a:endParaRPr>
          </a:p>
        </p:txBody>
      </p:sp>
      <p:sp>
        <p:nvSpPr>
          <p:cNvPr id="3672" name="PlaceHolder 3"/>
          <p:cNvSpPr>
            <a:spLocks noGrp="1"/>
          </p:cNvSpPr>
          <p:nvPr>
            <p:ph type="sldNum" idx="8"/>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B7894752-861B-4D10-A6E2-AAF85B383516}"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3" name="PlaceHolder 1"/>
          <p:cNvSpPr>
            <a:spLocks noGrp="1"/>
          </p:cNvSpPr>
          <p:nvPr>
            <p:ph type="sldImg"/>
          </p:nvPr>
        </p:nvSpPr>
        <p:spPr>
          <a:xfrm>
            <a:off x="0" y="0"/>
            <a:ext cx="0" cy="0"/>
          </a:xfrm>
          <a:prstGeom prst="rect">
            <a:avLst/>
          </a:prstGeom>
          <a:ln w="0">
            <a:noFill/>
          </a:ln>
        </p:spPr>
      </p:sp>
      <p:sp>
        <p:nvSpPr>
          <p:cNvPr id="3674"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Rozpoczynamy pierwszą sekcję, czyli wprowadzenie do UI i UX. Jest to moment kluczowy, ponieważ w języku potocznym te pojęcia są bardzo często mieszane, a czasem nawet używane zamiennie. W środowisku profesjonalnym jest to jednak rozróżnienie podstawowe.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Musimy zrozumieć, czym jest interfejs użytkownika, czym jest doświadczenie użytkownika i dlaczego projektowanie mobilne wymaga szczególnego podejścia. W kolejnych slajdach zobaczymy, że UI i UX są ze sobą ściśle powiązane, ale nie są tym samym.</a:t>
            </a: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Warto już tutaj zapamiętać jedną myśl: dobrze zaprojektowany produkt nie tylko umożliwia wykonanie zadania, ale robi to w taki sposób, że użytkownik czuje się kompetentny, spokojny i prowadzony przez system w sposób naturalny. Można tu zadać studentom </a:t>
            </a:r>
            <a:r>
              <a:rPr lang="pl-PL" sz="2000" b="1" u="none" strike="noStrike">
                <a:solidFill>
                  <a:srgbClr val="000000"/>
                </a:solidFill>
                <a:effectLst/>
                <a:uFillTx/>
                <a:latin typeface="Arial"/>
              </a:rPr>
              <a:t>pytanie aktywizujące</a:t>
            </a:r>
            <a:r>
              <a:rPr lang="pl-PL" sz="2000" b="0" u="none" strike="noStrike">
                <a:solidFill>
                  <a:srgbClr val="000000"/>
                </a:solidFill>
                <a:effectLst/>
                <a:uFillTx/>
                <a:latin typeface="Arial"/>
              </a:rPr>
              <a:t>: czy aplikacja może być ładna i jednocześnie zła? Odpowiedź brzmi: oczywiście tak. Estetyka nie gwarantuje użyteczności.</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675" name="PlaceHolder 3"/>
          <p:cNvSpPr>
            <a:spLocks noGrp="1"/>
          </p:cNvSpPr>
          <p:nvPr>
            <p:ph type="sldNum" idx="9"/>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F53462D5-F65A-4F68-9405-5FBE6AD907EF}"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6" name="PlaceHolder 1"/>
          <p:cNvSpPr>
            <a:spLocks noGrp="1"/>
          </p:cNvSpPr>
          <p:nvPr>
            <p:ph type="sldImg"/>
          </p:nvPr>
        </p:nvSpPr>
        <p:spPr>
          <a:xfrm>
            <a:off x="-360" y="-360"/>
            <a:ext cx="0" cy="0"/>
          </a:xfrm>
          <a:prstGeom prst="rect">
            <a:avLst/>
          </a:prstGeom>
          <a:ln w="0">
            <a:noFill/>
          </a:ln>
        </p:spPr>
      </p:sp>
      <p:sp>
        <p:nvSpPr>
          <p:cNvPr id="3677"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Na tym slajdzie widzimy dwa podstawowe pojęcia: </a:t>
            </a:r>
            <a:r>
              <a:rPr lang="pl-PL" sz="2000" b="1" u="none" strike="noStrike">
                <a:solidFill>
                  <a:srgbClr val="000000"/>
                </a:solidFill>
                <a:effectLst/>
                <a:uFillTx/>
                <a:latin typeface="Arial"/>
              </a:rPr>
              <a:t>UI</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User Interface</a:t>
            </a:r>
            <a:r>
              <a:rPr lang="pl-PL" sz="2000" b="0" u="none" strike="noStrike">
                <a:solidFill>
                  <a:srgbClr val="000000"/>
                </a:solidFill>
                <a:effectLst/>
                <a:uFillTx/>
                <a:latin typeface="Arial"/>
              </a:rPr>
              <a:t>, oraz </a:t>
            </a:r>
            <a:r>
              <a:rPr lang="pl-PL" sz="2000" b="1" u="none" strike="noStrike">
                <a:solidFill>
                  <a:srgbClr val="000000"/>
                </a:solidFill>
                <a:effectLst/>
                <a:uFillTx/>
                <a:latin typeface="Arial"/>
              </a:rPr>
              <a:t>UX</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User Experience</a:t>
            </a:r>
            <a:r>
              <a:rPr lang="pl-PL" sz="2000" b="0" u="none" strike="noStrike">
                <a:solidFill>
                  <a:srgbClr val="000000"/>
                </a:solidFill>
                <a:effectLst/>
                <a:uFillTx/>
                <a:latin typeface="Arial"/>
              </a:rPr>
              <a:t>. Zacznijmy od UI. User Interface to warstwa bezpośredniego kontaktu użytkownika z aplikacją. To wszystko, co użytkownik widzi i czego dotyka: przyciski, ikony, formularze, kolory, typografia, układ treści, animacje przejść i pozostałe elementy wizualne.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Z kolei UX to pojęcie znacznie szersze. Obejmuje całe doświadczenie korzystania z produktu. Nie tylko to, jak on wygląda, ale także to, czy jest intuicyjny, czy pozwala szybko osiągnąć cel, czy nie powoduje frustracji, czy budzi zaufanie i czy użytkownik chce do niego wrócić.</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Można to porównać do samochodu. UI to kierownica, przyciski, deska rozdzielcza i ich rozmieszczenie. UX to całe doświadczenie jazdy: wygoda, poczucie kontroli, bezpieczeństwo i satysfakcja z użytkowania.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Bardzo ważna zależność jest taka, że </a:t>
            </a:r>
            <a:r>
              <a:rPr lang="pl-PL" sz="2000" b="1" u="none" strike="noStrike">
                <a:solidFill>
                  <a:srgbClr val="000000"/>
                </a:solidFill>
                <a:effectLst/>
                <a:uFillTx/>
                <a:latin typeface="Arial"/>
              </a:rPr>
              <a:t>UI jest częścią UX</a:t>
            </a:r>
            <a:r>
              <a:rPr lang="pl-PL" sz="2000" b="0" u="none" strike="noStrike">
                <a:solidFill>
                  <a:srgbClr val="000000"/>
                </a:solidFill>
                <a:effectLst/>
                <a:uFillTx/>
                <a:latin typeface="Arial"/>
              </a:rPr>
              <a:t>, ale UX nie ogranicza się do UI. Można stworzyć piękny wizualnie interfejs, który będzie fatalny w użyciu. Można też mieć bardzo logiczny proces, który zostanie osłabiony przez zły układ i słabą komunikację wizualną. Dlatego oba obszary trzeba traktować łącznie.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też wspomnieć o interesującym zjawisku znanym z badań nad użytecznością. Użytkownicy mają tendencję do oceniania atrakcyjnych interfejsów jako bardziej użytecznych, nawet jeśli obiektywnie nie zawsze takie są. To pokazuje, że estetyka realnie wpływa na percepcję jakości.</a:t>
            </a: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1" u="none" strike="noStrike">
                <a:solidFill>
                  <a:srgbClr val="000000"/>
                </a:solidFill>
                <a:effectLst/>
                <a:uFillTx/>
                <a:latin typeface="Arial"/>
              </a:rPr>
              <a:t>Ciekawostka</a:t>
            </a:r>
            <a:r>
              <a:rPr lang="pl-PL" sz="2000" b="0" u="none" strike="noStrike">
                <a:solidFill>
                  <a:srgbClr val="000000"/>
                </a:solidFill>
                <a:effectLst/>
                <a:uFillTx/>
                <a:latin typeface="Arial"/>
              </a:rPr>
              <a:t>: badania pokazują, że użytkownicy mają tendencję do oceniania atrakcyjnych interfejsów jako bardziej użytecznych, nawet jeśli obiektywnie wykonują na nich zadania wolniej. To zjawisko znane jest jako aesthetic-usability effect.</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678" name="PlaceHolder 3"/>
          <p:cNvSpPr>
            <a:spLocks noGrp="1"/>
          </p:cNvSpPr>
          <p:nvPr>
            <p:ph type="sldNum" idx="10"/>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2F8B5397-84FC-4DF2-B2E6-8C007F22EB91}"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9" name="PlaceHolder 1"/>
          <p:cNvSpPr>
            <a:spLocks noGrp="1"/>
          </p:cNvSpPr>
          <p:nvPr>
            <p:ph type="sldImg"/>
          </p:nvPr>
        </p:nvSpPr>
        <p:spPr>
          <a:xfrm>
            <a:off x="0" y="0"/>
            <a:ext cx="0" cy="0"/>
          </a:xfrm>
          <a:prstGeom prst="rect">
            <a:avLst/>
          </a:prstGeom>
          <a:ln w="0">
            <a:noFill/>
          </a:ln>
        </p:spPr>
      </p:sp>
      <p:sp>
        <p:nvSpPr>
          <p:cNvPr id="3680"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Projektowanie mobilne nie powstało od razu w obecnej formie. Przeszło długą ewolucję. W latach dziewięćdziesiątych i na początku XXI wieku dominowały telefony z małymi ekranami i fizycznymi klawiaturami. Interakcja była oparta głównie na prostych menu tekstowych, podstawowych ikonach i bardzo ograniczonej liczbie funkcji.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Prawdziwy przełom nastąpił w roku 2007 wraz z premierą iPhone’a. Wielodotykowy ekran zmienił wszystko. Zniknęła fizyczna klawiatura, a na jej miejsce pojawiła się nowa logika interakcji: gesty, przesuwanie, szczypanie, przewijanie i bezpośrednia manipulacja treścią.</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Kolejnym ważnym etapem było powstanie formalnych systemów projektowych. Apple rozwijało swoje </a:t>
            </a:r>
            <a:r>
              <a:rPr lang="pl-PL" sz="2000" b="1" u="none" strike="noStrike">
                <a:solidFill>
                  <a:srgbClr val="000000"/>
                </a:solidFill>
                <a:effectLst/>
                <a:uFillTx/>
                <a:latin typeface="Arial"/>
              </a:rPr>
              <a:t>Human Interface Guidelines</a:t>
            </a:r>
            <a:r>
              <a:rPr lang="pl-PL" sz="2000" b="0" u="none" strike="noStrike">
                <a:solidFill>
                  <a:srgbClr val="000000"/>
                </a:solidFill>
                <a:effectLst/>
                <a:uFillTx/>
                <a:latin typeface="Arial"/>
              </a:rPr>
              <a:t>, a Google wprowadził </a:t>
            </a:r>
            <a:r>
              <a:rPr lang="pl-PL" sz="2000" b="1" u="none" strike="noStrike">
                <a:solidFill>
                  <a:srgbClr val="000000"/>
                </a:solidFill>
                <a:effectLst/>
                <a:uFillTx/>
                <a:latin typeface="Arial"/>
              </a:rPr>
              <a:t>Material Design</a:t>
            </a:r>
            <a:r>
              <a:rPr lang="pl-PL" sz="2000" b="0" u="none" strike="noStrike">
                <a:solidFill>
                  <a:srgbClr val="000000"/>
                </a:solidFill>
                <a:effectLst/>
                <a:uFillTx/>
                <a:latin typeface="Arial"/>
              </a:rPr>
              <a:t>, czyli spójny język wizualny i komponentowy dla Androida.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Obecnie projektowanie mobilne wychodzi daleko poza sam smartfon. Obejmuje smartwatche, tablety, urządzenia ubieralne, systemy samochodowe, a także rozszerzoną i wirtualną rzeczywistość. Oznacza to, że współczesny projektant coraz częściej projektuje nie pojedynczy ekran, lecz cały ekosystem interakcji.</a:t>
            </a:r>
            <a:endParaRPr lang="pl-PL" sz="2000" b="0" u="none" strike="noStrike">
              <a:solidFill>
                <a:srgbClr val="000000"/>
              </a:solidFill>
              <a:effectLst/>
              <a:uFillTx/>
              <a:latin typeface="Arial"/>
            </a:endParaRPr>
          </a:p>
          <a:p>
            <a:pPr indent="0">
              <a:lnSpc>
                <a:spcPct val="100000"/>
              </a:lnSpc>
              <a:buNone/>
              <a:tabLst>
                <a:tab algn="l" pos="0"/>
              </a:tabLst>
            </a:pPr>
            <a:r>
              <a:rPr lang="pl-PL" sz="2000" b="1" u="none" strike="noStrike">
                <a:solidFill>
                  <a:srgbClr val="000000"/>
                </a:solidFill>
                <a:effectLst/>
                <a:uFillTx/>
                <a:latin typeface="Arial"/>
              </a:rPr>
              <a:t>Ciekawostka historyczna</a:t>
            </a:r>
            <a:r>
              <a:rPr lang="pl-PL" sz="2000" b="0" u="none" strike="noStrike">
                <a:solidFill>
                  <a:srgbClr val="000000"/>
                </a:solidFill>
                <a:effectLst/>
                <a:uFillTx/>
                <a:latin typeface="Arial"/>
              </a:rPr>
              <a:t>: przez wiele lat dominował tak zwany </a:t>
            </a:r>
            <a:r>
              <a:rPr lang="pl-PL" sz="2000" b="1" u="none" strike="noStrike">
                <a:solidFill>
                  <a:srgbClr val="000000"/>
                </a:solidFill>
                <a:effectLst/>
                <a:uFillTx/>
                <a:latin typeface="Arial"/>
              </a:rPr>
              <a:t>skeuomorfizm</a:t>
            </a:r>
            <a:r>
              <a:rPr lang="pl-PL" sz="2000" b="0" u="none" strike="noStrike">
                <a:solidFill>
                  <a:srgbClr val="000000"/>
                </a:solidFill>
                <a:effectLst/>
                <a:uFillTx/>
                <a:latin typeface="Arial"/>
              </a:rPr>
              <a:t>, czyli projektowanie elementów cyfrowych tak, aby przypominały obiekty fizyczne. Kalendarz wyglądał jak papierowy notatnik, a ikona półki na książki była rzeczywiście drewnianą półką. Dziś odchodzi się od tego na rzecz większej abstrakcji i minimalizmu.</a:t>
            </a:r>
            <a:endParaRPr lang="pl-PL" sz="2000" b="0" u="none" strike="noStrike">
              <a:solidFill>
                <a:srgbClr val="000000"/>
              </a:solidFill>
              <a:effectLst/>
              <a:uFillTx/>
              <a:latin typeface="Arial"/>
            </a:endParaRPr>
          </a:p>
        </p:txBody>
      </p:sp>
      <p:sp>
        <p:nvSpPr>
          <p:cNvPr id="3681" name="PlaceHolder 3"/>
          <p:cNvSpPr>
            <a:spLocks noGrp="1"/>
          </p:cNvSpPr>
          <p:nvPr>
            <p:ph type="sldNum" idx="11"/>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AC9FEB83-5D90-49FC-B746-A2FA376CE644}"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2" name="PlaceHolder 1"/>
          <p:cNvSpPr>
            <a:spLocks noGrp="1"/>
          </p:cNvSpPr>
          <p:nvPr>
            <p:ph type="sldImg"/>
          </p:nvPr>
        </p:nvSpPr>
        <p:spPr>
          <a:xfrm>
            <a:off x="0" y="0"/>
            <a:ext cx="0" cy="0"/>
          </a:xfrm>
          <a:prstGeom prst="rect">
            <a:avLst/>
          </a:prstGeom>
          <a:ln w="0">
            <a:noFill/>
          </a:ln>
        </p:spPr>
      </p:sp>
      <p:sp>
        <p:nvSpPr>
          <p:cNvPr id="3683"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Projektowanie mobilne różni się od desktopowego na kilku fundamentalnych poziomach. Po pierwsze mamy </a:t>
            </a:r>
            <a:r>
              <a:rPr lang="pl-PL" sz="2000" b="1" u="none" strike="noStrike">
                <a:solidFill>
                  <a:srgbClr val="000000"/>
                </a:solidFill>
                <a:effectLst/>
                <a:uFillTx/>
                <a:latin typeface="Arial"/>
              </a:rPr>
              <a:t>ograniczoną przestrzeń ekranu</a:t>
            </a:r>
            <a:r>
              <a:rPr lang="pl-PL" sz="2000" b="0" u="none" strike="noStrike">
                <a:solidFill>
                  <a:srgbClr val="000000"/>
                </a:solidFill>
                <a:effectLst/>
                <a:uFillTx/>
                <a:latin typeface="Arial"/>
              </a:rPr>
              <a:t>. Na małym ekranie nie da się pokazać wszystkiego naraz, dlatego projektant musi bezlitośnie priorytetyzować treść i funkcje.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drugie mamy </a:t>
            </a:r>
            <a:r>
              <a:rPr lang="pl-PL" sz="2000" b="1" u="none" strike="noStrike">
                <a:solidFill>
                  <a:srgbClr val="000000"/>
                </a:solidFill>
                <a:effectLst/>
                <a:uFillTx/>
                <a:latin typeface="Arial"/>
              </a:rPr>
              <a:t>interakcję dotykową</a:t>
            </a:r>
            <a:r>
              <a:rPr lang="pl-PL" sz="2000" b="0" u="none" strike="noStrike">
                <a:solidFill>
                  <a:srgbClr val="000000"/>
                </a:solidFill>
                <a:effectLst/>
                <a:uFillTx/>
                <a:latin typeface="Arial"/>
              </a:rPr>
              <a:t>. Palec jest mniej precyzyjny niż wskaźnik myszy, a dodatkowo zasłania część ekranu. Oznacza to, że rozmiar przycisków, odległości między nimi oraz ich pozycja na ekranie mają kluczowe znaczenie.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trzecie liczy się </a:t>
            </a:r>
            <a:r>
              <a:rPr lang="pl-PL" sz="2000" b="1" u="none" strike="noStrike">
                <a:solidFill>
                  <a:srgbClr val="000000"/>
                </a:solidFill>
                <a:effectLst/>
                <a:uFillTx/>
                <a:latin typeface="Arial"/>
              </a:rPr>
              <a:t>kontekst użycia</a:t>
            </a:r>
            <a:r>
              <a:rPr lang="pl-PL" sz="2000" b="0" u="none" strike="noStrike">
                <a:solidFill>
                  <a:srgbClr val="000000"/>
                </a:solidFill>
                <a:effectLst/>
                <a:uFillTx/>
                <a:latin typeface="Arial"/>
              </a:rPr>
              <a:t>. Użytkownik mobilny często korzysta z telefonu w ruchu, jedną ręką, pod presją czasu, w pełnym słońcu, w tłumie albo przy rozproszonej uwadze. Interfejs musi więc być czytelny, odporny na błędy i szybki do zrozumienia.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Dochodzi do tego jeszcze </a:t>
            </a:r>
            <a:r>
              <a:rPr lang="pl-PL" sz="2000" b="1" u="none" strike="noStrike">
                <a:solidFill>
                  <a:srgbClr val="000000"/>
                </a:solidFill>
                <a:effectLst/>
                <a:uFillTx/>
                <a:latin typeface="Arial"/>
              </a:rPr>
              <a:t>fragmentacja urządzeń</a:t>
            </a:r>
            <a:r>
              <a:rPr lang="pl-PL" sz="2000" b="0" u="none" strike="noStrike">
                <a:solidFill>
                  <a:srgbClr val="000000"/>
                </a:solidFill>
                <a:effectLst/>
                <a:uFillTx/>
                <a:latin typeface="Arial"/>
              </a:rPr>
              <a:t>. Istnieje ogromna liczba rozmiarów ekranów, rozdzielczości, proporcji i producentów. To oznacza, że projektowanie mobilne wymaga dużej elastyczności, a nie tylko statycznego myślenia w kategoriach jednego „idealnego” ekranu.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tutaj zapamiętać jedną </a:t>
            </a:r>
            <a:r>
              <a:rPr lang="pl-PL" sz="2000" b="1" u="none" strike="noStrike">
                <a:solidFill>
                  <a:srgbClr val="000000"/>
                </a:solidFill>
                <a:effectLst/>
                <a:uFillTx/>
                <a:latin typeface="Arial"/>
              </a:rPr>
              <a:t>zasadę praktyczną</a:t>
            </a:r>
            <a:r>
              <a:rPr lang="pl-PL" sz="2000" b="0" u="none" strike="noStrike">
                <a:solidFill>
                  <a:srgbClr val="000000"/>
                </a:solidFill>
                <a:effectLst/>
                <a:uFillTx/>
                <a:latin typeface="Arial"/>
              </a:rPr>
              <a:t>: interfejs mobilny powinien być projektowany nie dla idealnego użytkownika siedzącego spokojnie przy biurku, ale dla realnego człowieka, który jest zabiegany, rozproszony i często wykonuje kilka rzeczy naraz.</a:t>
            </a:r>
            <a:endParaRPr lang="pl-PL" sz="2000" b="0" u="none" strike="noStrike">
              <a:solidFill>
                <a:srgbClr val="000000"/>
              </a:solidFill>
              <a:effectLst/>
              <a:uFillTx/>
              <a:latin typeface="Arial"/>
            </a:endParaRPr>
          </a:p>
        </p:txBody>
      </p:sp>
      <p:sp>
        <p:nvSpPr>
          <p:cNvPr id="3684" name="PlaceHolder 3"/>
          <p:cNvSpPr>
            <a:spLocks noGrp="1"/>
          </p:cNvSpPr>
          <p:nvPr>
            <p:ph type="sldNum" idx="12"/>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31DF2A1F-84CE-4D3F-9173-E00394B1E0B6}"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5" name="PlaceHolder 1"/>
          <p:cNvSpPr>
            <a:spLocks noGrp="1"/>
          </p:cNvSpPr>
          <p:nvPr>
            <p:ph type="sldImg"/>
          </p:nvPr>
        </p:nvSpPr>
        <p:spPr>
          <a:xfrm>
            <a:off x="0" y="0"/>
            <a:ext cx="0" cy="0"/>
          </a:xfrm>
          <a:prstGeom prst="rect">
            <a:avLst/>
          </a:prstGeom>
          <a:ln w="0">
            <a:noFill/>
          </a:ln>
        </p:spPr>
      </p:sp>
      <p:sp>
        <p:nvSpPr>
          <p:cNvPr id="3686"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Przechodzimy teraz do drugiej sekcji, czyli do rodzajów interfejsów użytkownika. To ważny temat, ponieważ bardzo często, gdy ktoś mówi „interfejs”, myśli wyłącznie o ekranie pełnym przycisków i ikon. Tymczasem człowiek może komunikować się z systemem na wiele sposobów: przez obraz, tekst, dotyk, głos, ruch, a nawet spojrzenie.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Zrozumienie tej różnorodności jest szczególnie ważne w projektowaniu nowoczesnych aplikacji, które coraz częściej łączą różne modalności interakcji. Nie chodzi więc o to, aby wybrać jeden jedyny właściwy interfejs, ale aby dobrać taki sposób komunikacji, który najlepiej odpowiada sytuacji użytkownika.</a:t>
            </a: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To dobre miejsce, by uświadomić studentom, że przyszłość interakcji nie polega na zastąpieniu GUI przez inny rodzaj interfejsu, ale na inteligentnym łączeniu ich zależnie od kontekstu. W samochodzie wygodniejszy może być głos, w aplikacji bankowej formularz tekstowy, a w AR - gest i ruch głowy.</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687" name="PlaceHolder 3"/>
          <p:cNvSpPr>
            <a:spLocks noGrp="1"/>
          </p:cNvSpPr>
          <p:nvPr>
            <p:ph type="sldNum" idx="13"/>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878E6334-B6E0-4A9F-88FC-CC41C6BCE7E0}"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8" name="PlaceHolder 1"/>
          <p:cNvSpPr>
            <a:spLocks noGrp="1"/>
          </p:cNvSpPr>
          <p:nvPr>
            <p:ph type="sldImg"/>
          </p:nvPr>
        </p:nvSpPr>
        <p:spPr>
          <a:xfrm>
            <a:off x="0" y="0"/>
            <a:ext cx="0" cy="0"/>
          </a:xfrm>
          <a:prstGeom prst="rect">
            <a:avLst/>
          </a:prstGeom>
          <a:ln w="0">
            <a:noFill/>
          </a:ln>
        </p:spPr>
      </p:sp>
      <p:sp>
        <p:nvSpPr>
          <p:cNvPr id="3689"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Najbardziej klasycznym i wciąż dominującym typem interfejsu jest </a:t>
            </a:r>
            <a:r>
              <a:rPr lang="pl-PL" sz="2000" b="1" u="none" strike="noStrike">
                <a:solidFill>
                  <a:srgbClr val="000000"/>
                </a:solidFill>
                <a:effectLst/>
                <a:uFillTx/>
                <a:latin typeface="Arial"/>
              </a:rPr>
              <a:t>GUI</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Graphical User Interface</a:t>
            </a:r>
            <a:r>
              <a:rPr lang="pl-PL" sz="2000" b="0" u="none" strike="noStrike">
                <a:solidFill>
                  <a:srgbClr val="000000"/>
                </a:solidFill>
                <a:effectLst/>
                <a:uFillTx/>
                <a:latin typeface="Arial"/>
              </a:rPr>
              <a:t>. To interfejs oparty na elementach wizualnych: ikonach, przyciskach, listach, menu, kartach i polach formularzy. Większość aplikacji mobilnych, z których korzystamy na co dzień, działa właśnie w tym paradygmacie.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Siła GUI wynika przede wszystkim z jego intuicyjności. Użytkownicy bardzo szybko rozpoznają wzorce wizualne, zwłaszcza jeśli są one zgodne z utrwalonymi konwencjami. Ikona kosza oznacza usuwanie, lupa oznacza wyszukiwanie, a zębatka ustawienia. Dzięki temu interfejs może być rozumiany niemal natychmiast.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GUI ma jednak także swoje ograniczenia. Wymaga wzrokowej uwagi i może łatwo zostać przeciążony nadmiarem elementów. Jeśli projektant umieści na ekranie zbyt wiele opcji, użytkownik straci orientację.</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dobre GUI to nie takie, które ma dużo elementów, ale takie, które ma ich dokładnie tyle, ile potrzeba, i które są uporządkowane zgodnie z logiką zadania użytkownika.</a:t>
            </a:r>
            <a:endParaRPr lang="pl-PL" sz="2000" b="0" u="none" strike="noStrike">
              <a:solidFill>
                <a:srgbClr val="000000"/>
              </a:solidFill>
              <a:effectLst/>
              <a:uFillTx/>
              <a:latin typeface="Arial"/>
            </a:endParaRPr>
          </a:p>
          <a:p>
            <a:pPr indent="0">
              <a:lnSpc>
                <a:spcPct val="100000"/>
              </a:lnSpc>
              <a:buNone/>
              <a:tabLst>
                <a:tab algn="l" pos="0"/>
              </a:tabLst>
            </a:pPr>
            <a:r>
              <a:rPr lang="pl-PL" sz="2000" b="1" u="none" strike="noStrike">
                <a:solidFill>
                  <a:srgbClr val="000000"/>
                </a:solidFill>
                <a:effectLst/>
                <a:uFillTx/>
                <a:latin typeface="Arial"/>
              </a:rPr>
              <a:t>Ciekawostka</a:t>
            </a:r>
            <a:r>
              <a:rPr lang="pl-PL" sz="2000" b="0" u="none" strike="noStrike">
                <a:solidFill>
                  <a:srgbClr val="000000"/>
                </a:solidFill>
                <a:effectLst/>
                <a:uFillTx/>
                <a:latin typeface="Arial"/>
              </a:rPr>
              <a:t>: wiele ikon, które dziś traktujemy jako oczywiste, to po prostu kulturowe konwencje. Młodsze pokolenia rozumieją ikonę dyskietki jako „zapisz”, mimo że nigdy nie miały w ręku prawdziwej dyskietki.</a:t>
            </a:r>
            <a:endParaRPr lang="pl-PL" sz="2000" b="0" u="none" strike="noStrike">
              <a:solidFill>
                <a:srgbClr val="000000"/>
              </a:solidFill>
              <a:effectLst/>
              <a:uFillTx/>
              <a:latin typeface="Arial"/>
            </a:endParaRPr>
          </a:p>
        </p:txBody>
      </p:sp>
      <p:sp>
        <p:nvSpPr>
          <p:cNvPr id="3690" name="PlaceHolder 3"/>
          <p:cNvSpPr>
            <a:spLocks noGrp="1"/>
          </p:cNvSpPr>
          <p:nvPr>
            <p:ph type="sldNum" idx="14"/>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C0E32224-1A08-4686-8D7E-4842ABE1E238}"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1" name="PlaceHolder 1"/>
          <p:cNvSpPr>
            <a:spLocks noGrp="1"/>
          </p:cNvSpPr>
          <p:nvPr>
            <p:ph type="sldImg"/>
          </p:nvPr>
        </p:nvSpPr>
        <p:spPr>
          <a:xfrm>
            <a:off x="0" y="0"/>
            <a:ext cx="0" cy="0"/>
          </a:xfrm>
          <a:prstGeom prst="rect">
            <a:avLst/>
          </a:prstGeom>
          <a:ln w="0">
            <a:noFill/>
          </a:ln>
        </p:spPr>
      </p:sp>
      <p:sp>
        <p:nvSpPr>
          <p:cNvPr id="3692"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Drugim typem interfejsu jest </a:t>
            </a:r>
            <a:r>
              <a:rPr lang="pl-PL" sz="2000" b="1" u="none" strike="noStrike">
                <a:solidFill>
                  <a:srgbClr val="000000"/>
                </a:solidFill>
                <a:effectLst/>
                <a:uFillTx/>
                <a:latin typeface="Arial"/>
              </a:rPr>
              <a:t>VUI</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Voice User Interface</a:t>
            </a:r>
            <a:r>
              <a:rPr lang="pl-PL" sz="2000" b="0" u="none" strike="noStrike">
                <a:solidFill>
                  <a:srgbClr val="000000"/>
                </a:solidFill>
                <a:effectLst/>
                <a:uFillTx/>
                <a:latin typeface="Arial"/>
              </a:rPr>
              <a:t>, a więc interfejs głosowy. W tym przypadku użytkownik komunikuje się z systemem za pomocą mowy, a system odpowiada głosowo lub tekstowo.</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Najbardziej znane przykłady to Siri, Google Assistant czy Alexa. W interfejsach mobilnych głos świetnie sprawdza się wtedy, gdy użytkownik nie może wygodnie korzystać z ekranu, na przykład podczas jazdy samochodem, gotowania czy wykonywania czynności manualnych.</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Jednocześnie trzeba pamiętać, że interfejs głosowy nie jest rozwiązaniem uniwersalnym. Bardzo dobrze działa przy prostych poleceniach i krótkich zadaniach, ale gorzej radzi sobie tam, gdzie potrzebne jest porównywanie wielu opcji jednocześnie lub precyzyjna kontrola nad skomplikowanym procesem.</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Projektowanie VUI jest też inne niż projektowanie GUI. Tutaj projektuje się w pewnym sensie dialog. Trzeba przewidywać różne warianty wypowiedzi, błędy rozpoznawania oraz sposoby potwierdzania intencji użytkownika.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To dobry moment, żeby studentom uświadomić, że w przyszłości interfejsy głosowe będą coraz częściej współistnieć z graficznymi, tworząc systemy hybrydowe, zamiast całkowicie je zastępować.</a:t>
            </a: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1" u="none" strike="noStrike">
                <a:solidFill>
                  <a:srgbClr val="000000"/>
                </a:solidFill>
                <a:effectLst/>
                <a:uFillTx/>
                <a:latin typeface="Arial"/>
              </a:rPr>
              <a:t>Ciekawostka</a:t>
            </a:r>
            <a:r>
              <a:rPr lang="pl-PL" sz="2000" b="0" u="none" strike="noStrike">
                <a:solidFill>
                  <a:srgbClr val="000000"/>
                </a:solidFill>
                <a:effectLst/>
                <a:uFillTx/>
                <a:latin typeface="Arial"/>
              </a:rPr>
              <a:t>: paradoksalnie interfejs głosowy jest często bardziej „scenariuszowy” niż graficzny. Dobry projektant VUI musi przewidzieć wiele wariantów wypowiedzi użytkownika oraz liczne błędy rozpoznawania.</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693" name="PlaceHolder 3"/>
          <p:cNvSpPr>
            <a:spLocks noGrp="1"/>
          </p:cNvSpPr>
          <p:nvPr>
            <p:ph type="sldNum" idx="15"/>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46180D22-93E8-4926-B1DE-7123E72B6401}"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4" name="PlaceHolder 1"/>
          <p:cNvSpPr>
            <a:spLocks noGrp="1"/>
          </p:cNvSpPr>
          <p:nvPr>
            <p:ph type="sldImg"/>
          </p:nvPr>
        </p:nvSpPr>
        <p:spPr>
          <a:xfrm>
            <a:off x="0" y="0"/>
            <a:ext cx="0" cy="0"/>
          </a:xfrm>
          <a:prstGeom prst="rect">
            <a:avLst/>
          </a:prstGeom>
          <a:ln w="0">
            <a:noFill/>
          </a:ln>
        </p:spPr>
      </p:sp>
      <p:sp>
        <p:nvSpPr>
          <p:cNvPr id="3695"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Kolejną kategorią jest </a:t>
            </a:r>
            <a:r>
              <a:rPr lang="pl-PL" sz="2000" b="1" u="none" strike="noStrike">
                <a:solidFill>
                  <a:srgbClr val="000000"/>
                </a:solidFill>
                <a:effectLst/>
                <a:uFillTx/>
                <a:latin typeface="Arial"/>
              </a:rPr>
              <a:t>NUI</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Natural User Interface</a:t>
            </a:r>
            <a:r>
              <a:rPr lang="pl-PL" sz="2000" b="0" u="none" strike="noStrike">
                <a:solidFill>
                  <a:srgbClr val="000000"/>
                </a:solidFill>
                <a:effectLst/>
                <a:uFillTx/>
                <a:latin typeface="Arial"/>
              </a:rPr>
              <a:t>. To interfejsy wykorzystujące zachowania przypominające naturalne działania człowieka: gesty, ruch, mimikę, spojrzenie czy manipulację obiektem w przestrzeni.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mobilnej bardzo często spotykamy NUI w formie gestów dotykowych, takich jak przesunięcie, szczypanie czy obrót. Do tej kategorii można też zaliczyć rozwiązania wykorzystujące akcelerometr, żyroskop, rozpoznawanie twarzy czy elementy rozszerzonej rzeczywistości.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jednak zwrócić uwagę na ważną rzecz. Słowo „naturalny” nie oznacza, że sposób interakcji jest wrodzony. Wiele takich zachowań zostało po prostu utrwalonych kulturowo. Na przykład gest rozsuwania palców w celu powiększenia obrazu dziś wydaje się oczywisty, ale kiedyś wcale taki nie był.</a:t>
            </a: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Dobry przykład dla studentów to rozszerzona rzeczywistość. Tam NUI obejmuje ruch urządzenia, pozycję użytkownika względem otoczenia, a czasem także rozpoznawanie twarzy czy dłoni. To już nie tylko ekran, ale całe ciało jako element interakcji.</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NUI staje się szczególnie ważny w kontekście AR, VR i urządzeń ubieralnych. To właśnie tam człowiek coraz częściej komunikuje się z systemem nie przez kliknięcie, lecz przez ruch, pozycję ciała i kontekst przestrzenny.</a:t>
            </a:r>
            <a:endParaRPr lang="pl-PL" sz="2000" b="0" u="none" strike="noStrike">
              <a:solidFill>
                <a:srgbClr val="000000"/>
              </a:solidFill>
              <a:effectLst/>
              <a:uFillTx/>
              <a:latin typeface="Arial"/>
            </a:endParaRPr>
          </a:p>
        </p:txBody>
      </p:sp>
      <p:sp>
        <p:nvSpPr>
          <p:cNvPr id="3696" name="PlaceHolder 3"/>
          <p:cNvSpPr>
            <a:spLocks noGrp="1"/>
          </p:cNvSpPr>
          <p:nvPr>
            <p:ph type="sldNum" idx="16"/>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76AE31A9-D6B4-483D-845E-D7BC8A40B974}"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7" name="PlaceHolder 1"/>
          <p:cNvSpPr>
            <a:spLocks noGrp="1"/>
          </p:cNvSpPr>
          <p:nvPr>
            <p:ph type="sldImg"/>
          </p:nvPr>
        </p:nvSpPr>
        <p:spPr>
          <a:xfrm>
            <a:off x="0" y="0"/>
            <a:ext cx="0" cy="0"/>
          </a:xfrm>
          <a:prstGeom prst="rect">
            <a:avLst/>
          </a:prstGeom>
          <a:ln w="0">
            <a:noFill/>
          </a:ln>
        </p:spPr>
      </p:sp>
      <p:sp>
        <p:nvSpPr>
          <p:cNvPr id="3698"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Teraz przechodzimy do </a:t>
            </a:r>
            <a:r>
              <a:rPr lang="pl-PL" sz="2000" b="1" u="none" strike="noStrike">
                <a:solidFill>
                  <a:srgbClr val="000000"/>
                </a:solidFill>
                <a:effectLst/>
                <a:uFillTx/>
                <a:latin typeface="Arial"/>
              </a:rPr>
              <a:t>TUI</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Touch User Interface</a:t>
            </a:r>
            <a:r>
              <a:rPr lang="pl-PL" sz="2000" b="0" u="none" strike="noStrike">
                <a:solidFill>
                  <a:srgbClr val="000000"/>
                </a:solidFill>
                <a:effectLst/>
                <a:uFillTx/>
                <a:latin typeface="Arial"/>
              </a:rPr>
              <a:t>. W praktyce smartfonów jest to prawdopodobnie najważniejszy typ interfejsu, ponieważ zdecydowana większość interakcji na telefonie odbywa się właśnie przez dotyk.</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Projektowanie TUI wymaga zrozumienia fizycznych ograniczeń użytkownika. Palec jest mniej precyzyjny niż mysz, a człowiek bardzo często trzyma telefon jedną ręką. Dlatego tak istotne są rozmiary celów dotykowych i koncepcja tak zwanej </a:t>
            </a:r>
            <a:r>
              <a:rPr lang="pl-PL" sz="2000" b="1" u="none" strike="noStrike">
                <a:solidFill>
                  <a:srgbClr val="000000"/>
                </a:solidFill>
                <a:effectLst/>
                <a:uFillTx/>
                <a:latin typeface="Arial"/>
              </a:rPr>
              <a:t>strefy kciuka</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Dolna część ekranu jest najłatwiej dostępna, środkowa wymaga większego wysiłku, a górna często jest niewygodna. To ma bezpośredni wpływ na projektowanie nawigacji, przycisków akcji i najważniejszych elementów sterujących.</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tu studentom przypomnieć również o zasadzie, że przyciski mogą wyglądać na niewielkie, ale ich obszar aktywny powinien być odpowiednio duży. Dobrze zaprojektowany interfejs nie zmusza użytkownika do chirurgicznej precyzji.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Można to </a:t>
            </a:r>
            <a:r>
              <a:rPr lang="pl-PL" sz="2000" b="1" u="none" strike="noStrike">
                <a:solidFill>
                  <a:srgbClr val="000000"/>
                </a:solidFill>
                <a:effectLst/>
                <a:uFillTx/>
                <a:latin typeface="Arial"/>
              </a:rPr>
              <a:t>podsumować bardzo prosto</a:t>
            </a:r>
            <a:r>
              <a:rPr lang="pl-PL" sz="2000" b="0" u="none" strike="noStrike">
                <a:solidFill>
                  <a:srgbClr val="000000"/>
                </a:solidFill>
                <a:effectLst/>
                <a:uFillTx/>
                <a:latin typeface="Arial"/>
              </a:rPr>
              <a:t>: jeśli użytkownik musi „polować” palcem na przycisk, to interfejs został źle zaprojektowany.</a:t>
            </a: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Można studentom podać prostą zasadę: jeśli da się przypadkiem kliknąć zły element w biegu, to projekt nie jest jeszcze gotowy.</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699" name="PlaceHolder 3"/>
          <p:cNvSpPr>
            <a:spLocks noGrp="1"/>
          </p:cNvSpPr>
          <p:nvPr>
            <p:ph type="sldNum" idx="17"/>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1BB34CA3-5781-4D5D-B618-63C258A08A73}"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0" name="PlaceHolder 1"/>
          <p:cNvSpPr>
            <a:spLocks noGrp="1"/>
          </p:cNvSpPr>
          <p:nvPr>
            <p:ph type="sldImg"/>
          </p:nvPr>
        </p:nvSpPr>
        <p:spPr>
          <a:xfrm>
            <a:off x="0" y="0"/>
            <a:ext cx="0" cy="0"/>
          </a:xfrm>
          <a:prstGeom prst="rect">
            <a:avLst/>
          </a:prstGeom>
          <a:ln w="0">
            <a:noFill/>
          </a:ln>
        </p:spPr>
      </p:sp>
      <p:sp>
        <p:nvSpPr>
          <p:cNvPr id="3701"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Na tym slajdzie zestawiono dwa typy interfejsów: </a:t>
            </a:r>
            <a:r>
              <a:rPr lang="pl-PL" sz="2000" b="1" u="none" strike="noStrike">
                <a:solidFill>
                  <a:srgbClr val="000000"/>
                </a:solidFill>
                <a:effectLst/>
                <a:uFillTx/>
                <a:latin typeface="Arial"/>
              </a:rPr>
              <a:t>CLI</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Command Line Interface</a:t>
            </a:r>
            <a:r>
              <a:rPr lang="pl-PL" sz="2000" b="0" u="none" strike="noStrike">
                <a:solidFill>
                  <a:srgbClr val="000000"/>
                </a:solidFill>
                <a:effectLst/>
                <a:uFillTx/>
                <a:latin typeface="Arial"/>
              </a:rPr>
              <a:t>, oraz </a:t>
            </a:r>
            <a:r>
              <a:rPr lang="pl-PL" sz="2000" b="1" u="none" strike="noStrike">
                <a:solidFill>
                  <a:srgbClr val="000000"/>
                </a:solidFill>
                <a:effectLst/>
                <a:uFillTx/>
                <a:latin typeface="Arial"/>
              </a:rPr>
              <a:t>CUI</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Conversational User Interface</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CLI to interfejs tekstowy oparty na komendach. Na urządzeniach mobilnych nie jest powszechny, ale ma znaczenie w zastosowaniach specjalistycznych, zwłaszcza dla administratorów, programistów i osób zarządzających systemami z telefonu.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CUI opiera się natomiast na rozmowie, najczęściej tekstowej. To chatboty, asystenci w aplikacjach bankowych, systemy wsparcia klienta czy inteligentne moduły pomocy w e-commerce.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Różnica jest istotna. CLI wymaga znajomości składni i precyzyjnych poleceń. CUI próbuje wykorzystać język zbliżony do naturalnego, co obniża próg wejścia dla użytkownika.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Współczesny trend jest bardzo interesujący: coraz więcej produktów łączy GUI z CUI. Użytkownik może na przykład napisać pytanie do bota, a następnie wybrać jedną z proponowanych opcji za pomocą przycisków. To praktyczne połączenie dialogu z szybkością wizualnego wyboru.</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To dobry moment, by wspomnieć o interfejsach hybrydowych. W nowoczesnych produktach GUI i CUI coraz częściej współistnieją. Na przykład użytkownik może rozpocząć zadanie w oknie czatu, a następnie wybrać jedną z proponowanych akcji przyciskami. To bardzo praktyczne połączenie elastyczności rozmowy z szybkością wyboru wizualnego.</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02" name="PlaceHolder 3"/>
          <p:cNvSpPr>
            <a:spLocks noGrp="1"/>
          </p:cNvSpPr>
          <p:nvPr>
            <p:ph type="sldNum" idx="18"/>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82AB782D-A244-4D5A-B8A9-988930CF634A}"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3" name="PlaceHolder 1"/>
          <p:cNvSpPr>
            <a:spLocks noGrp="1"/>
          </p:cNvSpPr>
          <p:nvPr>
            <p:ph type="sldImg"/>
          </p:nvPr>
        </p:nvSpPr>
        <p:spPr>
          <a:xfrm>
            <a:off x="0" y="0"/>
            <a:ext cx="0" cy="0"/>
          </a:xfrm>
          <a:prstGeom prst="rect">
            <a:avLst/>
          </a:prstGeom>
          <a:ln w="0">
            <a:noFill/>
          </a:ln>
        </p:spPr>
      </p:sp>
      <p:sp>
        <p:nvSpPr>
          <p:cNvPr id="3704"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Przechodzimy teraz do jednej z najważniejszych części wykładu, czyli do zasad projektowania. To tutaj zaczyna się prawdziwy warsztat projektanta. Bardzo ważne jest, aby Państwo zapamiętali, że projektowanie nie polega wyłącznie na estetycznym wyczuciu. Jest oparte na regułach, obserwacjach i prawidłowościach ludzkiego zachowania.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Omówimy trzy kluczowe obszary: </a:t>
            </a:r>
            <a:r>
              <a:rPr lang="pl-PL" sz="2000" b="1" u="none" strike="noStrike">
                <a:solidFill>
                  <a:srgbClr val="000000"/>
                </a:solidFill>
                <a:effectLst/>
                <a:uFillTx/>
                <a:latin typeface="Arial"/>
              </a:rPr>
              <a:t>heurystyki Nielsena</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prawo Hicka</a:t>
            </a:r>
            <a:r>
              <a:rPr lang="pl-PL" sz="2000" b="0" u="none" strike="noStrike">
                <a:solidFill>
                  <a:srgbClr val="000000"/>
                </a:solidFill>
                <a:effectLst/>
                <a:uFillTx/>
                <a:latin typeface="Arial"/>
              </a:rPr>
              <a:t> i </a:t>
            </a:r>
            <a:r>
              <a:rPr lang="pl-PL" sz="2000" b="1" u="none" strike="noStrike">
                <a:solidFill>
                  <a:srgbClr val="000000"/>
                </a:solidFill>
                <a:effectLst/>
                <a:uFillTx/>
                <a:latin typeface="Arial"/>
              </a:rPr>
              <a:t>prawo Fittsa</a:t>
            </a:r>
            <a:r>
              <a:rPr lang="pl-PL" sz="2000" b="0" u="none" strike="noStrike">
                <a:solidFill>
                  <a:srgbClr val="000000"/>
                </a:solidFill>
                <a:effectLst/>
                <a:uFillTx/>
                <a:latin typeface="Arial"/>
              </a:rPr>
              <a:t>. To zestaw pojęć, które powinny wejść do codziennego języka każdego, kto projektuje lub implementuje interfejsy.</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W tej części pokażemy trzy filary: heurystyki Nielsena, prawo Hicka i prawo Fittsa. To zestaw pojęć, które powinny wejść studentom do codziennego słownika projektowego.</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05" name="PlaceHolder 3"/>
          <p:cNvSpPr>
            <a:spLocks noGrp="1"/>
          </p:cNvSpPr>
          <p:nvPr>
            <p:ph type="sldNum" idx="19"/>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293F0A6A-5CCB-4C6F-ABFD-D64EF4EAD9B0}"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6" name="PlaceHolder 1"/>
          <p:cNvSpPr>
            <a:spLocks noGrp="1"/>
          </p:cNvSpPr>
          <p:nvPr>
            <p:ph type="sldImg"/>
          </p:nvPr>
        </p:nvSpPr>
        <p:spPr>
          <a:xfrm>
            <a:off x="0" y="0"/>
            <a:ext cx="0" cy="0"/>
          </a:xfrm>
          <a:prstGeom prst="rect">
            <a:avLst/>
          </a:prstGeom>
          <a:ln w="0">
            <a:noFill/>
          </a:ln>
        </p:spPr>
      </p:sp>
      <p:sp>
        <p:nvSpPr>
          <p:cNvPr id="3707"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Heurystyki Nielsena to klasyczny zestaw zasad użyteczności, opublikowany jeszcze w latach dziewięćdziesiątych, ale do dziś niezwykle aktualny. Ich siła polega na tym, że nie są związane z jedną technologią czy jedną platformą. Opisują uniwersalne wzorce dobrego projektowania.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Pierwsza ważna zasada to </a:t>
            </a:r>
            <a:r>
              <a:rPr lang="pl-PL" sz="2000" b="1" u="none" strike="noStrike">
                <a:solidFill>
                  <a:srgbClr val="000000"/>
                </a:solidFill>
                <a:effectLst/>
                <a:uFillTx/>
                <a:latin typeface="Arial"/>
              </a:rPr>
              <a:t>widoczność statusu systemu</a:t>
            </a:r>
            <a:r>
              <a:rPr lang="pl-PL" sz="2000" b="0" u="none" strike="noStrike">
                <a:solidFill>
                  <a:srgbClr val="000000"/>
                </a:solidFill>
                <a:effectLst/>
                <a:uFillTx/>
                <a:latin typeface="Arial"/>
              </a:rPr>
              <a:t>. Użytkownik zawsze powinien wiedzieć, co się dzieje: czy trwa ładowanie, czy operacja została zakończona, czy coś poszło nie tak. Brak informacji zwrotnej niemal natychmiast rodzi niepewność.</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Druga ważna kwestia to </a:t>
            </a:r>
            <a:r>
              <a:rPr lang="pl-PL" sz="2000" b="1" u="none" strike="noStrike">
                <a:solidFill>
                  <a:srgbClr val="000000"/>
                </a:solidFill>
                <a:effectLst/>
                <a:uFillTx/>
                <a:latin typeface="Arial"/>
              </a:rPr>
              <a:t>kontrola i wolność użytkownika</a:t>
            </a:r>
            <a:r>
              <a:rPr lang="pl-PL" sz="2000" b="0" u="none" strike="noStrike">
                <a:solidFill>
                  <a:srgbClr val="000000"/>
                </a:solidFill>
                <a:effectLst/>
                <a:uFillTx/>
                <a:latin typeface="Arial"/>
              </a:rPr>
              <a:t>. Użytkownik powinien móc cofnąć akcję, przerwać proces albo wyjść z niechcianego stanu. To bardzo ważne, bo poczucie braku kontroli błyskawicznie obniża zaufanie do systemu.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Kolejna zasada to </a:t>
            </a:r>
            <a:r>
              <a:rPr lang="pl-PL" sz="2000" b="1" u="none" strike="noStrike">
                <a:solidFill>
                  <a:srgbClr val="000000"/>
                </a:solidFill>
                <a:effectLst/>
                <a:uFillTx/>
                <a:latin typeface="Arial"/>
              </a:rPr>
              <a:t>zapobieganie błędom</a:t>
            </a:r>
            <a:r>
              <a:rPr lang="pl-PL" sz="2000" b="0" u="none" strike="noStrike">
                <a:solidFill>
                  <a:srgbClr val="000000"/>
                </a:solidFill>
                <a:effectLst/>
                <a:uFillTx/>
                <a:latin typeface="Arial"/>
              </a:rPr>
              <a:t>. Lepiej nie dopuścić do pomyłki, niż później przepraszać za jej konsekwencje. Dlatego tak ważne są walidacje, potwierdzenia akcji destrukcyjnych i sensowne wartości domyślne.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Nie można też zapomnieć o </a:t>
            </a:r>
            <a:r>
              <a:rPr lang="pl-PL" sz="2000" b="1" u="none" strike="noStrike">
                <a:solidFill>
                  <a:srgbClr val="000000"/>
                </a:solidFill>
                <a:effectLst/>
                <a:uFillTx/>
                <a:latin typeface="Arial"/>
              </a:rPr>
              <a:t>spójności i standardach</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minimalizmie</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pomocy w rozpoznawaniu zamiast przypominaniu</a:t>
            </a:r>
            <a:r>
              <a:rPr lang="pl-PL" sz="2000" b="0" u="none" strike="noStrike">
                <a:solidFill>
                  <a:srgbClr val="000000"/>
                </a:solidFill>
                <a:effectLst/>
                <a:uFillTx/>
                <a:latin typeface="Arial"/>
              </a:rPr>
              <a:t> oraz o czytelnych komunikatach błędów.</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heurystyki Nielsena są świetnym narzędziem do oceny istniejących interfejsów. Można niemal każdą aplikację przeanalizować przez ten zestaw zasad i bardzo szybko znaleźć słabe punkty</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Ciekawostka dydaktyczna: nawet bardzo popularne aplikacje często łamią heurystyki. To dobra wiadomość dla studentów - oznacza, że umiejętność krytycznej oceny UI jest realną kompetencją zawodową.</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08" name="PlaceHolder 3"/>
          <p:cNvSpPr>
            <a:spLocks noGrp="1"/>
          </p:cNvSpPr>
          <p:nvPr>
            <p:ph type="sldNum" idx="20"/>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D6186D2A-9F56-43B6-9572-4A3B71609CE3}"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9" name="PlaceHolder 1"/>
          <p:cNvSpPr>
            <a:spLocks noGrp="1"/>
          </p:cNvSpPr>
          <p:nvPr>
            <p:ph type="sldImg"/>
          </p:nvPr>
        </p:nvSpPr>
        <p:spPr>
          <a:xfrm>
            <a:off x="0" y="0"/>
            <a:ext cx="0" cy="0"/>
          </a:xfrm>
          <a:prstGeom prst="rect">
            <a:avLst/>
          </a:prstGeom>
          <a:ln w="0">
            <a:noFill/>
          </a:ln>
        </p:spPr>
      </p:sp>
      <p:sp>
        <p:nvSpPr>
          <p:cNvPr id="3710"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Prawo Hicka mówi, że </a:t>
            </a:r>
            <a:r>
              <a:rPr lang="pl-PL" sz="2000" b="1" u="none" strike="noStrike">
                <a:solidFill>
                  <a:srgbClr val="000000"/>
                </a:solidFill>
                <a:effectLst/>
                <a:uFillTx/>
                <a:latin typeface="Arial"/>
              </a:rPr>
              <a:t>czas podjęcia decyzji rośnie wraz z liczbą dostępnych opcji</a:t>
            </a:r>
            <a:r>
              <a:rPr lang="pl-PL" sz="2000" b="0" u="none" strike="noStrike">
                <a:solidFill>
                  <a:srgbClr val="000000"/>
                </a:solidFill>
                <a:effectLst/>
                <a:uFillTx/>
                <a:latin typeface="Arial"/>
              </a:rPr>
              <a:t>. To jedna z podstawowych zasad psychologii decyzji, która ma bezpośrednie zastosowanie w projektowaniu interfejsów.</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oznacza to, że użytkownik potrzebuje więcej czasu, gdy widzi zbyt wiele możliwości naraz. Oczywiście wzrost ten nie jest liniowy, lecz logarytmiczny, ale z punktu widzenia UX najważniejsze jest to, że przeładowany ekran zwiększa koszt poznawczy.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Dlatego dobre projektowanie często polega nie na dodawaniu kolejnych opcji, ale na redukowaniu złożoności. Można to osiągnąć przez grupowanie funkcji, progresywne ujawnianie, ukrywanie opcji zaawansowanych lub ustawianie sensownych wartości domyślnych.</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Dobrym przykładem jest wyszukiwarka Google. Jej siła nie wynika z bogactwa interfejsu, ale z radykalnego uproszczenia wyboru użytkownika. Użytkownik dostaje jedną dominującą czynność i od razu wie, co robić.</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jednak pamiętać, że uproszczenie nie może prowadzić do ukrycia ważnych funkcji. Chodzi nie o minimalizm dla samego minimalizmu, ale o redukcję zbędnego obciążenia poznawczego.</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Warto dodać ważne zastrzeżenie: zbyt mała liczba opcji też bywa problemem, jeśli ukrywa funkcje potrzebne użytkownikowi. Projektant nie powinien mechanicznie usuwać wszystkiego, lecz optymalizować złożoność poznawczą.</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11" name="PlaceHolder 3"/>
          <p:cNvSpPr>
            <a:spLocks noGrp="1"/>
          </p:cNvSpPr>
          <p:nvPr>
            <p:ph type="sldNum" idx="21"/>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F95DD9E7-A572-421C-A74F-3A4E01F22880}"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2" name="PlaceHolder 1"/>
          <p:cNvSpPr>
            <a:spLocks noGrp="1"/>
          </p:cNvSpPr>
          <p:nvPr>
            <p:ph type="sldImg"/>
          </p:nvPr>
        </p:nvSpPr>
        <p:spPr>
          <a:xfrm>
            <a:off x="0" y="0"/>
            <a:ext cx="0" cy="0"/>
          </a:xfrm>
          <a:prstGeom prst="rect">
            <a:avLst/>
          </a:prstGeom>
          <a:ln w="0">
            <a:noFill/>
          </a:ln>
        </p:spPr>
      </p:sp>
      <p:sp>
        <p:nvSpPr>
          <p:cNvPr id="3713"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Prawo Fittsa opisuje zależność między czasem dotarcia do celu a jego rozmiarem i odległością. Im większy obiekt i im bliżej naturalnej ścieżki ruchu, tym szybciej oraz łatwiej można go trafić.</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projektowaniu mobilnym jest to zasada absolutnie fundamentalna. Małe przyciski, ciasno rozmieszczone ikony i ważne akcje umieszczone w trudno dostępnych miejscach prowadzą do frustracji i błędów.</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Prawo Fittsa tłumaczy, dlaczego tak ważne są minimalne rozmiary celów dotykowych. Apple i Google nie podają tych wartości przypadkowo. To efekt wiedzy o ergonomii i ludzkiej motoryce.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Bardzo praktycznym zastosowaniem prawa Fittsa jest też projektowanie w strefie kciuka. Element używany często powinien być nie tylko odpowiednio duży, ale także umieszczony tam, gdzie użytkownik może do niego wygodnie dosięgnąć.</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Można ten temat studentom zobrazować prostym doświadczeniem. Wystarczy spróbować jedną ręką obsłużyć duży smartfon i dotknąć niewielkiej ikony w górnym rogu ekranu. Natychmiast widać, że ergonomia nie jest teorią, tylko codzienną praktyką.</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Warto dodać ciekawostkę: niektóre systemowe elementy są umieszczane przy krawędziach ekranu, bo krawędź działa jak „bariera”, która paradoksalnie ułatwia trafienie wskaźnikiem. Na mobile sprawa jest bardziej złożona, bo krawędzie bywają zarezerwowane przez gesty systemowe.</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14" name="PlaceHolder 3"/>
          <p:cNvSpPr>
            <a:spLocks noGrp="1"/>
          </p:cNvSpPr>
          <p:nvPr>
            <p:ph type="sldNum" idx="22"/>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22D58782-B52E-41B5-B60F-AE5F01B6E69A}"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5" name="PlaceHolder 1"/>
          <p:cNvSpPr>
            <a:spLocks noGrp="1"/>
          </p:cNvSpPr>
          <p:nvPr>
            <p:ph type="sldImg"/>
          </p:nvPr>
        </p:nvSpPr>
        <p:spPr>
          <a:xfrm>
            <a:off x="0" y="0"/>
            <a:ext cx="0" cy="0"/>
          </a:xfrm>
          <a:prstGeom prst="rect">
            <a:avLst/>
          </a:prstGeom>
          <a:ln w="0">
            <a:noFill/>
          </a:ln>
        </p:spPr>
      </p:sp>
      <p:sp>
        <p:nvSpPr>
          <p:cNvPr id="3716"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Podejście </a:t>
            </a:r>
            <a:r>
              <a:rPr lang="pl-PL" sz="2000" b="1" u="none" strike="noStrike">
                <a:solidFill>
                  <a:srgbClr val="000000"/>
                </a:solidFill>
                <a:effectLst/>
                <a:uFillTx/>
                <a:latin typeface="Arial"/>
              </a:rPr>
              <a:t>Mobile First</a:t>
            </a:r>
            <a:r>
              <a:rPr lang="pl-PL" sz="2000" b="0" u="none" strike="noStrike">
                <a:solidFill>
                  <a:srgbClr val="000000"/>
                </a:solidFill>
                <a:effectLst/>
                <a:uFillTx/>
                <a:latin typeface="Arial"/>
              </a:rPr>
              <a:t> polega na rozpoczynaniu projektowania od najmniejszych ekranów i najbardziej ograniczających warunków. To bardzo ważna filozofia, ponieważ zmusza projektanta do odpowiedzi na pytanie: co jest naprawdę najważniejsze?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Jeśli zaczynamy od desktopa, często ulegamy pokusie dodawania kolejnych elementów i funkcji. Gdy zaczynamy od mobile, musimy zbudować rdzeń produktu w sposób bardziej zdyscyplinowany.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tutaj rozróżnić dwa podejścia. </a:t>
            </a:r>
            <a:r>
              <a:rPr lang="pl-PL" sz="2000" b="1" u="none" strike="noStrike">
                <a:solidFill>
                  <a:srgbClr val="000000"/>
                </a:solidFill>
                <a:effectLst/>
                <a:uFillTx/>
                <a:latin typeface="Arial"/>
              </a:rPr>
              <a:t>Progressive enhancement</a:t>
            </a:r>
            <a:r>
              <a:rPr lang="pl-PL" sz="2000" b="0" u="none" strike="noStrike">
                <a:solidFill>
                  <a:srgbClr val="000000"/>
                </a:solidFill>
                <a:effectLst/>
                <a:uFillTx/>
                <a:latin typeface="Arial"/>
              </a:rPr>
              <a:t> oznacza budowanie prostego i stabilnego rozwiązania, które następnie rozszerzamy. </a:t>
            </a:r>
            <a:r>
              <a:rPr lang="pl-PL" sz="2000" b="1" u="none" strike="noStrike">
                <a:solidFill>
                  <a:srgbClr val="000000"/>
                </a:solidFill>
                <a:effectLst/>
                <a:uFillTx/>
                <a:latin typeface="Arial"/>
              </a:rPr>
              <a:t>Graceful degradation</a:t>
            </a:r>
            <a:r>
              <a:rPr lang="pl-PL" sz="2000" b="0" u="none" strike="noStrike">
                <a:solidFill>
                  <a:srgbClr val="000000"/>
                </a:solidFill>
                <a:effectLst/>
                <a:uFillTx/>
                <a:latin typeface="Arial"/>
              </a:rPr>
              <a:t> oznacza tworzenie bogatej wersji i późniejsze jej upraszczanie. W praktyce mobilnej pierwsze podejście zwykle daje lepsze rezultaty.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Mobile First nie oznacza jednak „mobile only”. Oznacza myślenie od najbardziej restrykcyjnego przypadku, a następnie rozwijanie produktu dla większych ekranów i bogatszych kontekstów.</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To także dobry moment, by wspomnieć o tym, że Mobile First nie oznacza „tylko mobile”. Oznacza projektowanie od najbardziej wymagającego ograniczenia, a potem świadome rozszerzanie.</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17" name="PlaceHolder 3"/>
          <p:cNvSpPr>
            <a:spLocks noGrp="1"/>
          </p:cNvSpPr>
          <p:nvPr>
            <p:ph type="sldNum" idx="23"/>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12E6EF07-83E8-4C75-B61D-E9CD85320FE3}"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8" name="PlaceHolder 1"/>
          <p:cNvSpPr>
            <a:spLocks noGrp="1"/>
          </p:cNvSpPr>
          <p:nvPr>
            <p:ph type="sldImg"/>
          </p:nvPr>
        </p:nvSpPr>
        <p:spPr>
          <a:xfrm>
            <a:off x="0" y="0"/>
            <a:ext cx="0" cy="0"/>
          </a:xfrm>
          <a:prstGeom prst="rect">
            <a:avLst/>
          </a:prstGeom>
          <a:ln w="0">
            <a:noFill/>
          </a:ln>
        </p:spPr>
      </p:sp>
      <p:sp>
        <p:nvSpPr>
          <p:cNvPr id="3719"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Przechodzimy do sekcji czwartej, czyli do standardów branżowych. Jest to bardzo istotny temat, ponieważ profesjonalne projektowanie nie polega na wymyślaniu wszystkiego od zera. Branża technologiczna wypracowała przez lata zestawy wzorców, które ułatwiają użytkownikowi orientację i obniżają koszt nauki interfejsu.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Najważniejsze standardy, które dziś omówimy, to </a:t>
            </a:r>
            <a:r>
              <a:rPr lang="pl-PL" sz="2000" b="1" u="none" strike="noStrike">
                <a:solidFill>
                  <a:srgbClr val="000000"/>
                </a:solidFill>
                <a:effectLst/>
                <a:uFillTx/>
                <a:latin typeface="Arial"/>
              </a:rPr>
              <a:t>iOS Human Interface Guidelines</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Material Design Guidelines</a:t>
            </a:r>
            <a:r>
              <a:rPr lang="pl-PL" sz="2000" b="0" u="none" strike="noStrike">
                <a:solidFill>
                  <a:srgbClr val="000000"/>
                </a:solidFill>
                <a:effectLst/>
                <a:uFillTx/>
                <a:latin typeface="Arial"/>
              </a:rPr>
              <a:t> oraz </a:t>
            </a:r>
            <a:r>
              <a:rPr lang="pl-PL" sz="2000" b="1" u="none" strike="noStrike">
                <a:solidFill>
                  <a:srgbClr val="000000"/>
                </a:solidFill>
                <a:effectLst/>
                <a:uFillTx/>
                <a:latin typeface="Arial"/>
              </a:rPr>
              <a:t>WCAG</a:t>
            </a:r>
            <a:r>
              <a:rPr lang="pl-PL" sz="2000" b="0" u="none" strike="noStrike">
                <a:solidFill>
                  <a:srgbClr val="000000"/>
                </a:solidFill>
                <a:effectLst/>
                <a:uFillTx/>
                <a:latin typeface="Arial"/>
              </a:rPr>
              <a:t>, czyli wytyczne dostępności. Te dokumenty mają charakter praktyczny i stanowią fundament pracy projektantów oraz programistów.</a:t>
            </a:r>
            <a:endParaRPr lang="pl-PL" sz="2000" b="0" u="none" strike="noStrike">
              <a:solidFill>
                <a:srgbClr val="000000"/>
              </a:solidFill>
              <a:effectLst/>
              <a:uFillTx/>
              <a:latin typeface="Arial"/>
            </a:endParaRPr>
          </a:p>
        </p:txBody>
      </p:sp>
      <p:sp>
        <p:nvSpPr>
          <p:cNvPr id="3720" name="PlaceHolder 3"/>
          <p:cNvSpPr>
            <a:spLocks noGrp="1"/>
          </p:cNvSpPr>
          <p:nvPr>
            <p:ph type="sldNum" idx="24"/>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827865D5-799F-4E3F-8A09-6F9D1CD90FBA}"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1" name="PlaceHolder 1"/>
          <p:cNvSpPr>
            <a:spLocks noGrp="1"/>
          </p:cNvSpPr>
          <p:nvPr>
            <p:ph type="sldImg"/>
          </p:nvPr>
        </p:nvSpPr>
        <p:spPr>
          <a:xfrm>
            <a:off x="0" y="0"/>
            <a:ext cx="0" cy="0"/>
          </a:xfrm>
          <a:prstGeom prst="rect">
            <a:avLst/>
          </a:prstGeom>
          <a:ln w="0">
            <a:noFill/>
          </a:ln>
        </p:spPr>
      </p:sp>
      <p:sp>
        <p:nvSpPr>
          <p:cNvPr id="3722"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1" u="none" strike="noStrike">
                <a:solidFill>
                  <a:srgbClr val="000000"/>
                </a:solidFill>
                <a:effectLst/>
                <a:uFillTx/>
                <a:latin typeface="Arial"/>
              </a:rPr>
              <a:t>Human Interface Guidelines</a:t>
            </a:r>
            <a:r>
              <a:rPr lang="pl-PL" sz="2000" b="0" u="none" strike="noStrike">
                <a:solidFill>
                  <a:srgbClr val="000000"/>
                </a:solidFill>
                <a:effectLst/>
                <a:uFillTx/>
                <a:latin typeface="Arial"/>
              </a:rPr>
              <a:t> to oficjalny zbiór zasad projektowania dla ekosystemu Apple. Filary takie jak </a:t>
            </a:r>
            <a:r>
              <a:rPr lang="pl-PL" sz="2000" b="1" u="none" strike="noStrike">
                <a:solidFill>
                  <a:srgbClr val="000000"/>
                </a:solidFill>
                <a:effectLst/>
                <a:uFillTx/>
                <a:latin typeface="Arial"/>
              </a:rPr>
              <a:t>clarity</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deference</a:t>
            </a:r>
            <a:r>
              <a:rPr lang="pl-PL" sz="2000" b="0" u="none" strike="noStrike">
                <a:solidFill>
                  <a:srgbClr val="000000"/>
                </a:solidFill>
                <a:effectLst/>
                <a:uFillTx/>
                <a:latin typeface="Arial"/>
              </a:rPr>
              <a:t> i </a:t>
            </a:r>
            <a:r>
              <a:rPr lang="pl-PL" sz="2000" b="1" u="none" strike="noStrike">
                <a:solidFill>
                  <a:srgbClr val="000000"/>
                </a:solidFill>
                <a:effectLst/>
                <a:uFillTx/>
                <a:latin typeface="Arial"/>
              </a:rPr>
              <a:t>depth</a:t>
            </a:r>
            <a:r>
              <a:rPr lang="pl-PL" sz="2000" b="0" u="none" strike="noStrike">
                <a:solidFill>
                  <a:srgbClr val="000000"/>
                </a:solidFill>
                <a:effectLst/>
                <a:uFillTx/>
                <a:latin typeface="Arial"/>
              </a:rPr>
              <a:t> dobrze oddają filozofię tej platformy.</a:t>
            </a:r>
            <a:endParaRPr lang="pl-PL" sz="2000" b="0" u="none" strike="noStrike">
              <a:solidFill>
                <a:srgbClr val="000000"/>
              </a:solidFill>
              <a:effectLst/>
              <a:uFillTx/>
              <a:latin typeface="Arial"/>
            </a:endParaRPr>
          </a:p>
          <a:p>
            <a:pPr indent="0">
              <a:lnSpc>
                <a:spcPct val="100000"/>
              </a:lnSpc>
              <a:buNone/>
              <a:tabLst>
                <a:tab algn="l" pos="0"/>
              </a:tabLst>
            </a:pPr>
            <a:r>
              <a:rPr lang="pl-PL" sz="2000" b="1" u="none" strike="noStrike">
                <a:solidFill>
                  <a:srgbClr val="000000"/>
                </a:solidFill>
                <a:effectLst/>
                <a:uFillTx/>
                <a:latin typeface="Arial"/>
              </a:rPr>
              <a:t>Clarity</a:t>
            </a:r>
            <a:r>
              <a:rPr lang="pl-PL" sz="2000" b="0" u="none" strike="noStrike">
                <a:solidFill>
                  <a:srgbClr val="000000"/>
                </a:solidFill>
                <a:effectLst/>
                <a:uFillTx/>
                <a:latin typeface="Arial"/>
              </a:rPr>
              <a:t> oznacza przejrzystość - użytkownik powinien natychmiast rozumieć, co widzi i jak może działać. </a:t>
            </a:r>
            <a:r>
              <a:rPr lang="pl-PL" sz="2000" b="1" u="none" strike="noStrike">
                <a:solidFill>
                  <a:srgbClr val="000000"/>
                </a:solidFill>
                <a:effectLst/>
                <a:uFillTx/>
                <a:latin typeface="Arial"/>
              </a:rPr>
              <a:t>Deference</a:t>
            </a:r>
            <a:r>
              <a:rPr lang="pl-PL" sz="2000" b="0" u="none" strike="noStrike">
                <a:solidFill>
                  <a:srgbClr val="000000"/>
                </a:solidFill>
                <a:effectLst/>
                <a:uFillTx/>
                <a:latin typeface="Arial"/>
              </a:rPr>
              <a:t> oznacza, że interfejs ma wspierać treść, a nie ją dominować. </a:t>
            </a:r>
            <a:r>
              <a:rPr lang="pl-PL" sz="2000" b="1" u="none" strike="noStrike">
                <a:solidFill>
                  <a:srgbClr val="000000"/>
                </a:solidFill>
                <a:effectLst/>
                <a:uFillTx/>
                <a:latin typeface="Arial"/>
              </a:rPr>
              <a:t>Depth</a:t>
            </a:r>
            <a:r>
              <a:rPr lang="pl-PL" sz="2000" b="0" u="none" strike="noStrike">
                <a:solidFill>
                  <a:srgbClr val="000000"/>
                </a:solidFill>
                <a:effectLst/>
                <a:uFillTx/>
                <a:latin typeface="Arial"/>
              </a:rPr>
              <a:t> wprowadza z kolei poczucie warstwowości i relacji między elementami.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Apple bardzo mocno promuje korzystanie z natywnych komponentów i wzorców. To nie jest ograniczenie kreatywności, tylko sposób na zachowanie przewidywalności. Użytkownik iPhone’a ma już ukształtowane oczekiwania dotyczące zachowania nawigacji, przycisków, arkuszy modalnych czy gestów systemowych.</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oznacza to, że jeśli tworzymy aplikację na iOS, powinniśmy szanować logikę tej platformy. Próba narzucenia na siłę obcych wzorców może prowadzić do pogorszenia doświadczenia użytkownika.</a:t>
            </a:r>
            <a:endParaRPr lang="pl-PL" sz="2000" b="0" u="none" strike="noStrike">
              <a:solidFill>
                <a:srgbClr val="000000"/>
              </a:solidFill>
              <a:effectLst/>
              <a:uFillTx/>
              <a:latin typeface="Arial"/>
            </a:endParaRPr>
          </a:p>
        </p:txBody>
      </p:sp>
      <p:sp>
        <p:nvSpPr>
          <p:cNvPr id="3723" name="PlaceHolder 3"/>
          <p:cNvSpPr>
            <a:spLocks noGrp="1"/>
          </p:cNvSpPr>
          <p:nvPr>
            <p:ph type="sldNum" idx="25"/>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BD4274B0-4893-425B-86EB-E1485AEA20FF}"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4" name="PlaceHolder 1"/>
          <p:cNvSpPr>
            <a:spLocks noGrp="1"/>
          </p:cNvSpPr>
          <p:nvPr>
            <p:ph type="sldImg"/>
          </p:nvPr>
        </p:nvSpPr>
        <p:spPr>
          <a:xfrm>
            <a:off x="0" y="0"/>
            <a:ext cx="0" cy="0"/>
          </a:xfrm>
          <a:prstGeom prst="rect">
            <a:avLst/>
          </a:prstGeom>
          <a:ln w="0">
            <a:noFill/>
          </a:ln>
        </p:spPr>
      </p:sp>
      <p:sp>
        <p:nvSpPr>
          <p:cNvPr id="3725"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Teraz spójrzmy na </a:t>
            </a:r>
            <a:r>
              <a:rPr lang="pl-PL" sz="2000" b="1" u="none" strike="noStrike">
                <a:solidFill>
                  <a:srgbClr val="000000"/>
                </a:solidFill>
                <a:effectLst/>
                <a:uFillTx/>
                <a:latin typeface="Arial"/>
              </a:rPr>
              <a:t>Material Design</a:t>
            </a:r>
            <a:r>
              <a:rPr lang="pl-PL" sz="2000" b="0" u="none" strike="noStrike">
                <a:solidFill>
                  <a:srgbClr val="000000"/>
                </a:solidFill>
                <a:effectLst/>
                <a:uFillTx/>
                <a:latin typeface="Arial"/>
              </a:rPr>
              <a:t>, czyli system projektowy Google. To jeden z najważniejszych przykładów podejścia systemowego do designu. Material Design nie ogranicza się do estetyki. Obejmuje komponenty, zasady ruchu, hierarchię, kolor, typografię i sposób komunikacji między elementami.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Jednym z kluczowych założeń jest metafora powierzchni i warstw. Elementy nie są przypadkowo rozmieszczone, lecz tworzą logiczne poziomy ważności. Dużą rolę odgrywa też ruch, który nie ma być dekoracją, lecz nośnikiem informacji o zmianie stanu czy relacji przestrzennej.</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zaznaczyć, że </a:t>
            </a:r>
            <a:r>
              <a:rPr lang="pl-PL" sz="2000" b="1" u="none" strike="noStrike">
                <a:solidFill>
                  <a:srgbClr val="000000"/>
                </a:solidFill>
                <a:effectLst/>
                <a:uFillTx/>
                <a:latin typeface="Arial"/>
              </a:rPr>
              <a:t>Material 3</a:t>
            </a:r>
            <a:r>
              <a:rPr lang="pl-PL" sz="2000" b="0" u="none" strike="noStrike">
                <a:solidFill>
                  <a:srgbClr val="000000"/>
                </a:solidFill>
                <a:effectLst/>
                <a:uFillTx/>
                <a:latin typeface="Arial"/>
              </a:rPr>
              <a:t> poszedł jeszcze dalej w stronę personalizacji i adaptacyjności, między innymi przez dynamiczne systemy kolorów. To pokazuje, że współczesny design system nie jest już zbiorem statycznych zasad, ale żywym frameworkiem projektowym.</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Dla programistów szczególnie ważne jest to, że Material Design ma bardzo silne przełożenie na implementację - zarówno w klasycznym Androidzie, jak i w Jetpack Compose.</a:t>
            </a:r>
            <a:endParaRPr lang="pl-PL" sz="2000" b="0" u="none" strike="noStrike">
              <a:solidFill>
                <a:srgbClr val="000000"/>
              </a:solidFill>
              <a:effectLst/>
              <a:uFillTx/>
              <a:latin typeface="Arial"/>
            </a:endParaRPr>
          </a:p>
        </p:txBody>
      </p:sp>
      <p:sp>
        <p:nvSpPr>
          <p:cNvPr id="3726" name="PlaceHolder 3"/>
          <p:cNvSpPr>
            <a:spLocks noGrp="1"/>
          </p:cNvSpPr>
          <p:nvPr>
            <p:ph type="sldNum" idx="26"/>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944A5BC0-7B2E-4BEE-98FA-378CB67BABFA}"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7" name="PlaceHolder 1"/>
          <p:cNvSpPr>
            <a:spLocks noGrp="1"/>
          </p:cNvSpPr>
          <p:nvPr>
            <p:ph type="sldImg"/>
          </p:nvPr>
        </p:nvSpPr>
        <p:spPr>
          <a:xfrm>
            <a:off x="0" y="0"/>
            <a:ext cx="0" cy="0"/>
          </a:xfrm>
          <a:prstGeom prst="rect">
            <a:avLst/>
          </a:prstGeom>
          <a:ln w="0">
            <a:noFill/>
          </a:ln>
        </p:spPr>
      </p:sp>
      <p:sp>
        <p:nvSpPr>
          <p:cNvPr id="3728"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W tej części omawiamy </a:t>
            </a:r>
            <a:r>
              <a:rPr lang="pl-PL" sz="2000" b="1" u="none" strike="noStrike">
                <a:solidFill>
                  <a:srgbClr val="000000"/>
                </a:solidFill>
                <a:effectLst/>
                <a:uFillTx/>
                <a:latin typeface="Arial"/>
              </a:rPr>
              <a:t>WCAG</a:t>
            </a:r>
            <a:r>
              <a:rPr lang="pl-PL" sz="2000" b="0" u="none" strike="noStrike">
                <a:solidFill>
                  <a:srgbClr val="000000"/>
                </a:solidFill>
                <a:effectLst/>
                <a:uFillTx/>
                <a:latin typeface="Arial"/>
              </a:rPr>
              <a:t>, czyli </a:t>
            </a:r>
            <a:r>
              <a:rPr lang="pl-PL" sz="2000" b="1" u="none" strike="noStrike">
                <a:solidFill>
                  <a:srgbClr val="000000"/>
                </a:solidFill>
                <a:effectLst/>
                <a:uFillTx/>
                <a:latin typeface="Arial"/>
              </a:rPr>
              <a:t>Web Content Accessibility Guidelines</a:t>
            </a:r>
            <a:r>
              <a:rPr lang="pl-PL" sz="2000" b="0" u="none" strike="noStrike">
                <a:solidFill>
                  <a:srgbClr val="000000"/>
                </a:solidFill>
                <a:effectLst/>
                <a:uFillTx/>
                <a:latin typeface="Arial"/>
              </a:rPr>
              <a:t>. Mimo że nazwa odnosi się do treści internetowych, zasady te są powszechnie stosowane także w projektowaniu aplikacji mobilnych.</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WCAG opiera się na czterech filarach: produkt ma być </a:t>
            </a:r>
            <a:r>
              <a:rPr lang="pl-PL" sz="2000" b="1" u="none" strike="noStrike">
                <a:solidFill>
                  <a:srgbClr val="000000"/>
                </a:solidFill>
                <a:effectLst/>
                <a:uFillTx/>
                <a:latin typeface="Arial"/>
              </a:rPr>
              <a:t>postrzegalny</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operowalny</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zrozumiały</a:t>
            </a:r>
            <a:r>
              <a:rPr lang="pl-PL" sz="2000" b="0" u="none" strike="noStrike">
                <a:solidFill>
                  <a:srgbClr val="000000"/>
                </a:solidFill>
                <a:effectLst/>
                <a:uFillTx/>
                <a:latin typeface="Arial"/>
              </a:rPr>
              <a:t> i </a:t>
            </a:r>
            <a:r>
              <a:rPr lang="pl-PL" sz="2000" b="1" u="none" strike="noStrike">
                <a:solidFill>
                  <a:srgbClr val="000000"/>
                </a:solidFill>
                <a:effectLst/>
                <a:uFillTx/>
                <a:latin typeface="Arial"/>
              </a:rPr>
              <a:t>solidny</a:t>
            </a:r>
            <a:r>
              <a:rPr lang="pl-PL" sz="2000" b="0" u="none" strike="noStrike">
                <a:solidFill>
                  <a:srgbClr val="000000"/>
                </a:solidFill>
                <a:effectLst/>
                <a:uFillTx/>
                <a:latin typeface="Arial"/>
              </a:rPr>
              <a:t>. W praktyce oznacza to między innymi odpowiedni kontrast kolorów, czytelne etykiety dla technologii asystujących, logiczną strukturę nawigacji, przewidywalność działania i poprawne komunikaty błędów.</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Bardzo ważne jest, aby nie traktować dostępności jako dodatku dla małej grupy użytkowników. Rozwiązania dostępnościowe poprawiają komfort korzystania praktycznie wszystkim: osobom starszym, zmęczonym, rozproszonym, korzystającym z telefonu w trudnych warunkach czy czasowo ograniczonym ruchowo.</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Można to ująć bardzo prosto: dostępność to nie specjalna wersja produktu dla wybranych. To lepsza jakość produktu dla całego spektrum użytkowników.</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1" u="none" strike="noStrike">
                <a:solidFill>
                  <a:srgbClr val="000000"/>
                </a:solidFill>
                <a:effectLst/>
                <a:uFillTx/>
                <a:latin typeface="Arial"/>
              </a:rPr>
              <a:t>Ciekawostka</a:t>
            </a:r>
            <a:r>
              <a:rPr lang="pl-PL" sz="2000" b="0" u="none" strike="noStrike">
                <a:solidFill>
                  <a:srgbClr val="000000"/>
                </a:solidFill>
                <a:effectLst/>
                <a:uFillTx/>
                <a:latin typeface="Arial"/>
              </a:rPr>
              <a:t>: wiele rozwiązań obecnie powszechnych, takich jak napisy do wideo czy sterowanie głosem, rozwinęło się między innymi dzięki potrzebom związanym z dostępnością.</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29" name="PlaceHolder 3"/>
          <p:cNvSpPr>
            <a:spLocks noGrp="1"/>
          </p:cNvSpPr>
          <p:nvPr>
            <p:ph type="sldNum" idx="27"/>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4E42BD52-38FE-4451-A960-083FF010AC26}"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0" name="PlaceHolder 1"/>
          <p:cNvSpPr>
            <a:spLocks noGrp="1"/>
          </p:cNvSpPr>
          <p:nvPr>
            <p:ph type="sldImg"/>
          </p:nvPr>
        </p:nvSpPr>
        <p:spPr>
          <a:xfrm>
            <a:off x="0" y="0"/>
            <a:ext cx="0" cy="0"/>
          </a:xfrm>
          <a:prstGeom prst="rect">
            <a:avLst/>
          </a:prstGeom>
          <a:ln w="0">
            <a:noFill/>
          </a:ln>
        </p:spPr>
      </p:sp>
      <p:sp>
        <p:nvSpPr>
          <p:cNvPr id="3731"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Przechodzimy teraz do zagadnienia koloru. Kolor w interfejsie mobilnym pełni wiele funkcji jednocześnie. Może budować emocje, wzmacniać rozpoznawalność marki, kierować uwagą, porządkować hierarchię oraz sygnalizować stany i znaczenia.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Dlatego w profesjonalnym projektowaniu kolor nie może być traktowany jako ozdobnik wybierany „na wyczucie”. Musi być świadomie osadzony w systemie wizualnym, semantyce interfejsu i zasadach dostępności.</a:t>
            </a:r>
            <a:endParaRPr lang="pl-PL" sz="2000" b="0" u="none" strike="noStrike">
              <a:solidFill>
                <a:srgbClr val="000000"/>
              </a:solidFill>
              <a:effectLst/>
              <a:uFillTx/>
              <a:latin typeface="Arial"/>
            </a:endParaRPr>
          </a:p>
        </p:txBody>
      </p:sp>
      <p:sp>
        <p:nvSpPr>
          <p:cNvPr id="3732" name="PlaceHolder 3"/>
          <p:cNvSpPr>
            <a:spLocks noGrp="1"/>
          </p:cNvSpPr>
          <p:nvPr>
            <p:ph type="sldNum" idx="28"/>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37BEC626-58A4-4209-B0DA-390CEC45ADAA}"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3" name="PlaceHolder 1"/>
          <p:cNvSpPr>
            <a:spLocks noGrp="1"/>
          </p:cNvSpPr>
          <p:nvPr>
            <p:ph type="sldImg"/>
          </p:nvPr>
        </p:nvSpPr>
        <p:spPr>
          <a:xfrm>
            <a:off x="0" y="0"/>
            <a:ext cx="0" cy="0"/>
          </a:xfrm>
          <a:prstGeom prst="rect">
            <a:avLst/>
          </a:prstGeom>
          <a:ln w="0">
            <a:noFill/>
          </a:ln>
        </p:spPr>
      </p:sp>
      <p:sp>
        <p:nvSpPr>
          <p:cNvPr id="3734"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Na tym slajdzie widzimy podstawowe schematy kolorystyczne: monochromatyczny, analogiczny, komplementarny i triadowy. Każdy z nich ma swoje zastosowania.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Schemat monochromatyczny daje spójność i elegancję. Analogiczny buduje harmonię. Komplementarny tworzy silny kontrast, a triadowy daje żywość i równowagę. W projektowaniu mobilnym najważniejsze jest jednak nie tylko to, aby kolory dobrze wyglądały, ale aby wspierały strukturę treści i intencję interfejsu.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Przydatna jest tutaj zasada </a:t>
            </a:r>
            <a:r>
              <a:rPr lang="pl-PL" sz="2000" b="1" u="none" strike="noStrike">
                <a:solidFill>
                  <a:srgbClr val="000000"/>
                </a:solidFill>
                <a:effectLst/>
                <a:uFillTx/>
                <a:latin typeface="Arial"/>
              </a:rPr>
              <a:t>60-30-10</a:t>
            </a:r>
            <a:r>
              <a:rPr lang="pl-PL" sz="2000" b="0" u="none" strike="noStrike">
                <a:solidFill>
                  <a:srgbClr val="000000"/>
                </a:solidFill>
                <a:effectLst/>
                <a:uFillTx/>
                <a:latin typeface="Arial"/>
              </a:rPr>
              <a:t>. Oznacza ona, że większość interfejsu powinna opierać się na kolorze dominującym lub neutralnym, mniejsza część na kolorze wspierającym, a najmniejsza na kolorze akcentującym. Dzięki temu użytkownik od razu widzi, które elementy są najważniejsze.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Bardzo ważna uwaga praktyczna: jeśli wszystkie elementy są kontrastowe i krzykliwe, użytkownik przestaje rozumieć, co jest priorytetem. Akcent kolorystyczny działa tylko wtedy, gdy jest stosowany oszczędnie.</a:t>
            </a:r>
            <a:endParaRPr lang="pl-PL" sz="2000" b="0" u="none" strike="noStrike">
              <a:solidFill>
                <a:srgbClr val="000000"/>
              </a:solidFill>
              <a:effectLst/>
              <a:uFillTx/>
              <a:latin typeface="Arial"/>
            </a:endParaRPr>
          </a:p>
        </p:txBody>
      </p:sp>
      <p:sp>
        <p:nvSpPr>
          <p:cNvPr id="3735" name="PlaceHolder 3"/>
          <p:cNvSpPr>
            <a:spLocks noGrp="1"/>
          </p:cNvSpPr>
          <p:nvPr>
            <p:ph type="sldNum" idx="29"/>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582D3A30-5D35-4643-84EF-324E54B80663}"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6" name="PlaceHolder 1"/>
          <p:cNvSpPr>
            <a:spLocks noGrp="1"/>
          </p:cNvSpPr>
          <p:nvPr>
            <p:ph type="sldImg"/>
          </p:nvPr>
        </p:nvSpPr>
        <p:spPr>
          <a:xfrm>
            <a:off x="0" y="0"/>
            <a:ext cx="0" cy="0"/>
          </a:xfrm>
          <a:prstGeom prst="rect">
            <a:avLst/>
          </a:prstGeom>
          <a:ln w="0">
            <a:noFill/>
          </a:ln>
        </p:spPr>
      </p:sp>
      <p:sp>
        <p:nvSpPr>
          <p:cNvPr id="3737"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Kolory wywołują określone skojarzenia emocjonalne, choć trzeba pamiętać, że nie są one absolutne i zależą od kontekstu kulturowego, branży i kompozycji.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Czerwień kojarzy się z energią, pilnością, pasją i zagrożeniem. Niebieski często budzi zaufanie i poczucie stabilności. Zieleń wiąże się z naturą, spokojem i sukcesem. Żółty przyciąga uwagę i komunikuje energię, ale może też szybko męczyć. Pomarańczowy bywa odbierany jako przyjazny i dynamiczny, a fiolet jako kreatywny lub luksusowy.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interfejsach mobilnych te skojarzenia mają znaczenie praktyczne. Kolory bardzo często pełnią funkcję semantyczną, na przykład czerwony sygnalizuje błąd, a zielony sukces. Trzeba jednak uważać, by nie polegać wyłącznie na kolorze, bo część użytkowników może go nie rozróżniać poprawnie.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też studentom przypomnieć, że psychologia koloru nie działa w próżni. Ten sam niebieski w bankowości może oznaczać bezpieczeństwo, a w aplikacji sportowej dynamikę i techniczność.</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1" u="none" strike="noStrike">
                <a:solidFill>
                  <a:srgbClr val="000000"/>
                </a:solidFill>
                <a:effectLst/>
                <a:uFillTx/>
                <a:latin typeface="Arial"/>
              </a:rPr>
              <a:t>Ciekawostka</a:t>
            </a:r>
            <a:r>
              <a:rPr lang="pl-PL" sz="2000" b="0" u="none" strike="noStrike">
                <a:solidFill>
                  <a:srgbClr val="000000"/>
                </a:solidFill>
                <a:effectLst/>
                <a:uFillTx/>
                <a:latin typeface="Arial"/>
              </a:rPr>
              <a:t>: kolory bardzo silnie wpływają na postrzeganie marki. Dwa produkty o podobnej funkcjonalności mogą budzić zupełnie inne emocje wyłącznie przez odmienną dominantę kolorystyczną.</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38" name="PlaceHolder 3"/>
          <p:cNvSpPr>
            <a:spLocks noGrp="1"/>
          </p:cNvSpPr>
          <p:nvPr>
            <p:ph type="sldNum" idx="30"/>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420B1854-17E9-4527-9A18-CB4BA6FA063B}"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9" name="PlaceHolder 1"/>
          <p:cNvSpPr>
            <a:spLocks noGrp="1"/>
          </p:cNvSpPr>
          <p:nvPr>
            <p:ph type="sldImg"/>
          </p:nvPr>
        </p:nvSpPr>
        <p:spPr>
          <a:xfrm>
            <a:off x="0" y="0"/>
            <a:ext cx="0" cy="0"/>
          </a:xfrm>
          <a:prstGeom prst="rect">
            <a:avLst/>
          </a:prstGeom>
          <a:ln w="0">
            <a:noFill/>
          </a:ln>
        </p:spPr>
      </p:sp>
      <p:sp>
        <p:nvSpPr>
          <p:cNvPr id="3740"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Tryb jasny i tryb ciemny to dziś dwa pełnoprawne warianty projektowe, a nie główna wersja i kosmetyczny dodatek. Projektowanie dark mode wymaga osobnego, świadomego podejścia.</a:t>
            </a:r>
            <a:endParaRPr lang="pl-PL" sz="2000" b="0" u="none" strike="noStrike">
              <a:solidFill>
                <a:srgbClr val="000000"/>
              </a:solidFill>
              <a:effectLst/>
              <a:uFillTx/>
              <a:latin typeface="Arial"/>
            </a:endParaRPr>
          </a:p>
          <a:p>
            <a:pPr indent="0">
              <a:lnSpc>
                <a:spcPct val="100000"/>
              </a:lnSpc>
              <a:buNone/>
              <a:tabLst>
                <a:tab algn="l" pos="0"/>
              </a:tabLst>
            </a:pPr>
            <a:r>
              <a:rPr lang="pl-PL" sz="2000" b="1" u="none" strike="noStrike">
                <a:solidFill>
                  <a:srgbClr val="000000"/>
                </a:solidFill>
                <a:effectLst/>
                <a:uFillTx/>
                <a:latin typeface="Arial"/>
              </a:rPr>
              <a:t>Pierwsza ważna zasada brzmi</a:t>
            </a:r>
            <a:r>
              <a:rPr lang="pl-PL" sz="2000" b="0" u="none" strike="noStrike">
                <a:solidFill>
                  <a:srgbClr val="000000"/>
                </a:solidFill>
                <a:effectLst/>
                <a:uFillTx/>
                <a:latin typeface="Arial"/>
              </a:rPr>
              <a:t>: nie należy automatycznie zamieniać bieli na czerń i odwrotnie. W trybie ciemnym inaczej postrzegamy kontrast, głębię i nasycenie. Czysta czerń często bywa zbyt agresywna, dlatego projektanci zwykle stosują ciemne odcienie szarości.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Druga sprawa to </a:t>
            </a:r>
            <a:r>
              <a:rPr lang="pl-PL" sz="2000" b="1" u="none" strike="noStrike">
                <a:solidFill>
                  <a:srgbClr val="000000"/>
                </a:solidFill>
                <a:effectLst/>
                <a:uFillTx/>
                <a:latin typeface="Arial"/>
              </a:rPr>
              <a:t>kolory akcentowe</a:t>
            </a:r>
            <a:r>
              <a:rPr lang="pl-PL" sz="2000" b="0" u="none" strike="noStrike">
                <a:solidFill>
                  <a:srgbClr val="000000"/>
                </a:solidFill>
                <a:effectLst/>
                <a:uFillTx/>
                <a:latin typeface="Arial"/>
              </a:rPr>
              <a:t>. Na ciemnym tle kolory intensywne mogą wydawać się zbyt jaskrawe lub wręcz wibrować. Wymagają więc dostosowania.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Trzecia kwestia to hierarchia. W trybie jasnym warstwowość bywa budowana cieniem, natomiast w ciemnym często lepiej działa różnicowanie jasności powierzchni.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trzeba pamiętać, że użytkownicy oczekują dziś nie tylko istnienia dark mode, ale również jego jakości. Niedopracowany tryb ciemny szybko zdradza brak dojrzałości produktu.</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Można tu dodać </a:t>
            </a:r>
            <a:r>
              <a:rPr lang="pl-PL" sz="2000" b="1" u="none" strike="noStrike">
                <a:solidFill>
                  <a:srgbClr val="000000"/>
                </a:solidFill>
                <a:effectLst/>
                <a:uFillTx/>
                <a:latin typeface="Arial"/>
              </a:rPr>
              <a:t>praktyczną uwagę</a:t>
            </a:r>
            <a:r>
              <a:rPr lang="pl-PL" sz="2000" b="0" u="none" strike="noStrike">
                <a:solidFill>
                  <a:srgbClr val="000000"/>
                </a:solidFill>
                <a:effectLst/>
                <a:uFillTx/>
                <a:latin typeface="Arial"/>
              </a:rPr>
              <a:t>: część projektantów tworzy najpierw świetny tryb jasny, a potem potraktowuje ciemny jako kosmetyczny dodatek. To błąd. Obie wersje muszą być projektowane świadomie.</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41" name="PlaceHolder 3"/>
          <p:cNvSpPr>
            <a:spLocks noGrp="1"/>
          </p:cNvSpPr>
          <p:nvPr>
            <p:ph type="sldNum" idx="31"/>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71F10D64-2F7F-4C70-83C5-DC92A248EABB}"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2" name="PlaceHolder 1"/>
          <p:cNvSpPr>
            <a:spLocks noGrp="1"/>
          </p:cNvSpPr>
          <p:nvPr>
            <p:ph type="sldImg"/>
          </p:nvPr>
        </p:nvSpPr>
        <p:spPr>
          <a:xfrm>
            <a:off x="0" y="0"/>
            <a:ext cx="0" cy="0"/>
          </a:xfrm>
          <a:prstGeom prst="rect">
            <a:avLst/>
          </a:prstGeom>
          <a:ln w="0">
            <a:noFill/>
          </a:ln>
        </p:spPr>
      </p:sp>
      <p:sp>
        <p:nvSpPr>
          <p:cNvPr id="3743"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Tutaj dochodzimy do bardzo ważnego pojęcia z punktu widzenia współpracy między projektowaniem a programowaniem, czyli do </a:t>
            </a:r>
            <a:r>
              <a:rPr lang="pl-PL" sz="2000" b="1" u="none" strike="noStrike">
                <a:solidFill>
                  <a:srgbClr val="000000"/>
                </a:solidFill>
                <a:effectLst/>
                <a:uFillTx/>
                <a:latin typeface="Arial"/>
              </a:rPr>
              <a:t>design tokens</a:t>
            </a:r>
            <a:r>
              <a:rPr lang="pl-PL" sz="2000" b="0" u="none" strike="noStrike">
                <a:solidFill>
                  <a:srgbClr val="000000"/>
                </a:solidFill>
                <a:effectLst/>
                <a:uFillTx/>
                <a:latin typeface="Arial"/>
              </a:rPr>
              <a:t>. To formalne reprezentacje decyzji projektowych, takich jak kolory, odstępy, rozmiary, promienie zaokrągleń czy style typograficzne.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Zamiast wpisywać konkretne wartości w wielu miejscach, tworzymy nazwane tokeny. Na przykład nie używamy bezpośrednio koloru #0071E3 w dziesiątkach miejsc, tylko definiujemy token primaryColor. To pozwala zachować spójność i upraszcza zmiany.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Dla studentów-programistów warto podkreślić, że jest to bardzo podobne do pracy z dobrze nazwanymi stałymi i abstrakcjami w kodzie. Tokens redukują chaos i ułatwiają utrzymanie projektu.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To także fundament nowoczesnych design systemów. Kiedy projekt i implementacja odwołują się do tych samych nazwanych jednostek, współpraca zespołu staje się znacznie bardziej efektywna.</a:t>
            </a:r>
            <a:endParaRPr lang="pl-PL" sz="2000" b="0" u="none" strike="noStrike">
              <a:solidFill>
                <a:srgbClr val="000000"/>
              </a:solidFill>
              <a:effectLst/>
              <a:uFillTx/>
              <a:latin typeface="Arial"/>
            </a:endParaRPr>
          </a:p>
        </p:txBody>
      </p:sp>
      <p:sp>
        <p:nvSpPr>
          <p:cNvPr id="3744" name="PlaceHolder 3"/>
          <p:cNvSpPr>
            <a:spLocks noGrp="1"/>
          </p:cNvSpPr>
          <p:nvPr>
            <p:ph type="sldNum" idx="32"/>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EB9C1695-01A4-4A6D-8234-9CCF4D84D8EA}"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5" name="PlaceHolder 1"/>
          <p:cNvSpPr>
            <a:spLocks noGrp="1"/>
          </p:cNvSpPr>
          <p:nvPr>
            <p:ph type="sldImg"/>
          </p:nvPr>
        </p:nvSpPr>
        <p:spPr>
          <a:xfrm>
            <a:off x="0" y="0"/>
            <a:ext cx="0" cy="0"/>
          </a:xfrm>
          <a:prstGeom prst="rect">
            <a:avLst/>
          </a:prstGeom>
          <a:ln w="0">
            <a:noFill/>
          </a:ln>
        </p:spPr>
      </p:sp>
      <p:sp>
        <p:nvSpPr>
          <p:cNvPr id="3746"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Przechodzimy do typografii, czyli jednego z najważniejszych składników interfejsu. Szacuje się, że ogromna część informacji w produktach cyfrowych jest przekazywana właśnie przez tekst. Dotyczy to etykiet, komunikatów błędów, nagłówków, treści, przycisków i formularzy.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Typografia mobilna ma jednak swoje szczególne wymagania. Ekrany są małe, warunki użycia zmienne, a uwaga użytkownika często ograniczona. To oznacza, że czytelność nie jest miłym dodatkiem, tylko warunkiem podstawowym.</a:t>
            </a:r>
            <a:endParaRPr lang="pl-PL" sz="2000" b="0" u="none" strike="noStrike">
              <a:solidFill>
                <a:srgbClr val="000000"/>
              </a:solidFill>
              <a:effectLst/>
              <a:uFillTx/>
              <a:latin typeface="Arial"/>
            </a:endParaRPr>
          </a:p>
        </p:txBody>
      </p:sp>
      <p:sp>
        <p:nvSpPr>
          <p:cNvPr id="3747" name="PlaceHolder 3"/>
          <p:cNvSpPr>
            <a:spLocks noGrp="1"/>
          </p:cNvSpPr>
          <p:nvPr>
            <p:ph type="sldNum" idx="33"/>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50E3AE6D-8338-44F9-A2F0-BCAFE9200626}"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8" name="PlaceHolder 1"/>
          <p:cNvSpPr>
            <a:spLocks noGrp="1"/>
          </p:cNvSpPr>
          <p:nvPr>
            <p:ph type="sldImg"/>
          </p:nvPr>
        </p:nvSpPr>
        <p:spPr>
          <a:xfrm>
            <a:off x="0" y="0"/>
            <a:ext cx="0" cy="0"/>
          </a:xfrm>
          <a:prstGeom prst="rect">
            <a:avLst/>
          </a:prstGeom>
          <a:ln w="0">
            <a:noFill/>
          </a:ln>
        </p:spPr>
      </p:sp>
      <p:sp>
        <p:nvSpPr>
          <p:cNvPr id="3749"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Fundamenty typografii mobilnej można ująć w trzech słowach: </a:t>
            </a:r>
            <a:r>
              <a:rPr lang="pl-PL" sz="2000" b="1" u="none" strike="noStrike">
                <a:solidFill>
                  <a:srgbClr val="000000"/>
                </a:solidFill>
                <a:effectLst/>
                <a:uFillTx/>
                <a:latin typeface="Arial"/>
              </a:rPr>
              <a:t>czytelność</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hierarchia</a:t>
            </a:r>
            <a:r>
              <a:rPr lang="pl-PL" sz="2000" b="0" u="none" strike="noStrike">
                <a:solidFill>
                  <a:srgbClr val="000000"/>
                </a:solidFill>
                <a:effectLst/>
                <a:uFillTx/>
                <a:latin typeface="Arial"/>
              </a:rPr>
              <a:t> i </a:t>
            </a:r>
            <a:r>
              <a:rPr lang="pl-PL" sz="2000" b="1" u="none" strike="noStrike">
                <a:solidFill>
                  <a:srgbClr val="000000"/>
                </a:solidFill>
                <a:effectLst/>
                <a:uFillTx/>
                <a:latin typeface="Arial"/>
              </a:rPr>
              <a:t>spójność</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Czytelność oznacza, że tekst można szybko odczytać bez zbędnego wysiłku. Hierarchia oznacza, że użytkownik natychmiast widzi, co jest nagłówkiem, co treścią główną, a co informacją pomocniczą. Spójność zaś powoduje, że interfejs wydaje się uporządkowany i profesjonalny.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pamiętać, </a:t>
            </a:r>
            <a:r>
              <a:rPr lang="pl-PL" sz="2000" b="1" u="none" strike="noStrike">
                <a:solidFill>
                  <a:srgbClr val="000000"/>
                </a:solidFill>
                <a:effectLst/>
                <a:uFillTx/>
                <a:latin typeface="Arial"/>
              </a:rPr>
              <a:t>że typografia nie działa samodzielnie</a:t>
            </a:r>
            <a:r>
              <a:rPr lang="pl-PL" sz="2000" b="0" u="none" strike="noStrike">
                <a:solidFill>
                  <a:srgbClr val="000000"/>
                </a:solidFill>
                <a:effectLst/>
                <a:uFillTx/>
                <a:latin typeface="Arial"/>
              </a:rPr>
              <a:t>. Jej jakość zależy również od kontrastu, interlinii, długości wiersza, marginesów oraz szerokości kolumny tekstowej.</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Dobrze zaprojektowana typografia jest przezroczysta. Użytkownik nie zastanawia się nad nią, tylko po prostu rozumie treść. I właśnie to jest oznaką dobrze wykonanej pracy projektowej.</a:t>
            </a:r>
            <a:endParaRPr lang="pl-PL" sz="2000" b="0" u="none" strike="noStrike">
              <a:solidFill>
                <a:srgbClr val="000000"/>
              </a:solidFill>
              <a:effectLst/>
              <a:uFillTx/>
              <a:latin typeface="Arial"/>
            </a:endParaRPr>
          </a:p>
        </p:txBody>
      </p:sp>
      <p:sp>
        <p:nvSpPr>
          <p:cNvPr id="3750" name="PlaceHolder 3"/>
          <p:cNvSpPr>
            <a:spLocks noGrp="1"/>
          </p:cNvSpPr>
          <p:nvPr>
            <p:ph type="sldNum" idx="34"/>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207E7FFA-519B-4117-8E77-E7297C722820}"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1" name="PlaceHolder 1"/>
          <p:cNvSpPr>
            <a:spLocks noGrp="1"/>
          </p:cNvSpPr>
          <p:nvPr>
            <p:ph type="sldImg"/>
          </p:nvPr>
        </p:nvSpPr>
        <p:spPr>
          <a:xfrm>
            <a:off x="0" y="0"/>
            <a:ext cx="0" cy="0"/>
          </a:xfrm>
          <a:prstGeom prst="rect">
            <a:avLst/>
          </a:prstGeom>
          <a:ln w="0">
            <a:noFill/>
          </a:ln>
        </p:spPr>
      </p:sp>
      <p:sp>
        <p:nvSpPr>
          <p:cNvPr id="3752"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Najbezpieczniejszym i najczęściej najlepszym wyborem dla aplikacji mobilnych są </a:t>
            </a:r>
            <a:r>
              <a:rPr lang="pl-PL" sz="2000" b="1" u="none" strike="noStrike">
                <a:solidFill>
                  <a:srgbClr val="000000"/>
                </a:solidFill>
                <a:effectLst/>
                <a:uFillTx/>
                <a:latin typeface="Arial"/>
              </a:rPr>
              <a:t>fonty systemowe</a:t>
            </a:r>
            <a:r>
              <a:rPr lang="pl-PL" sz="2000" b="0" u="none" strike="noStrike">
                <a:solidFill>
                  <a:srgbClr val="000000"/>
                </a:solidFill>
                <a:effectLst/>
                <a:uFillTx/>
                <a:latin typeface="Arial"/>
              </a:rPr>
              <a:t>. Na iOS jest to San Francisco, a na Androidzie Roboto lub Noto. Są one zoptymalizowane do wyświetlania na ekranie, dobrze renderują się na różnych urządzeniach i nie generują dodatkowych problemów implementacyjnych.</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Oczywiście można używać czcionek niestandardowych, zwłaszcza jeśli marka ma silną tożsamość wizualną. Trzeba jednak pamiętać, że wiąże się to z dodatkowymi kosztami: licencyjnymi, wydajnościowymi i testowymi.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Ważne jest również, aby czcionka była czytelna w małych rozmiarach. Liczy się otwarta konstrukcja znaków, odpowiednie proporcje i łatwość rozróżniania podobnych liter oraz cyfr.</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praktyce warto pamiętać o jednej prostej zasadzie: jeżeli użytkownik musi się wysilać, żeby przeczytać tekst na ekranie telefonu, to problem nie leży po stronie użytkownika, tylko po stronie projektu.</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Dobrym </a:t>
            </a:r>
            <a:r>
              <a:rPr lang="pl-PL" sz="2000" b="1" u="none" strike="noStrike">
                <a:solidFill>
                  <a:srgbClr val="000000"/>
                </a:solidFill>
                <a:effectLst/>
                <a:uFillTx/>
                <a:latin typeface="Arial"/>
              </a:rPr>
              <a:t>ćwiczeniem dydaktycznym </a:t>
            </a:r>
            <a:r>
              <a:rPr lang="pl-PL" sz="2000" b="0" u="none" strike="noStrike">
                <a:solidFill>
                  <a:srgbClr val="000000"/>
                </a:solidFill>
                <a:effectLst/>
                <a:uFillTx/>
                <a:latin typeface="Arial"/>
              </a:rPr>
              <a:t>jest porównanie dwóch fontów w rozmiarze 12–14 px i analiza, który lepiej znosi małe skale. Wtedy od razu widać znaczenie apertury, x-height i różnicowania kształtów znaków.</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53" name="PlaceHolder 3"/>
          <p:cNvSpPr>
            <a:spLocks noGrp="1"/>
          </p:cNvSpPr>
          <p:nvPr>
            <p:ph type="sldNum" idx="35"/>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9BEA8696-24DD-45C1-AD64-C1F8A7D59079}"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4" name="PlaceHolder 1"/>
          <p:cNvSpPr>
            <a:spLocks noGrp="1"/>
          </p:cNvSpPr>
          <p:nvPr>
            <p:ph type="sldImg"/>
          </p:nvPr>
        </p:nvSpPr>
        <p:spPr>
          <a:xfrm>
            <a:off x="0" y="0"/>
            <a:ext cx="0" cy="0"/>
          </a:xfrm>
          <a:prstGeom prst="rect">
            <a:avLst/>
          </a:prstGeom>
          <a:ln w="0">
            <a:noFill/>
          </a:ln>
        </p:spPr>
      </p:sp>
      <p:sp>
        <p:nvSpPr>
          <p:cNvPr id="3755"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Typografia w aplikacji powinna tworzyć system, a nie przypadkowy zbiór rozmiarów i wag. Dlatego używa się skali typograficznej: innych parametrów dla tytułów, innych dla sekcji, innych dla tekstu głównego i innych dla etykiet.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Jest to ważne nie tylko estetycznie, ale przede wszystkim poznawczo. Użytkownik szybciej rozumie strukturę treści, gdy widzi powtarzalne wzorce wielkości i wyróżnienia.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Nie wolno też zapominać o dostępności. Użytkownicy mogą zmieniać systemowy rozmiar tekstu i oczekują, że aplikacja będzie to respektować. Jeśli interfejs rozpada się po zwiększeniu czcionki, oznacza to błąd projektowy.</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Można dodać </a:t>
            </a:r>
            <a:r>
              <a:rPr lang="pl-PL" sz="2000" b="1" u="none" strike="noStrike">
                <a:solidFill>
                  <a:srgbClr val="000000"/>
                </a:solidFill>
                <a:effectLst/>
                <a:uFillTx/>
                <a:latin typeface="Arial"/>
              </a:rPr>
              <a:t>praktyczną uwagę</a:t>
            </a:r>
            <a:r>
              <a:rPr lang="pl-PL" sz="2000" b="0" u="none" strike="noStrike">
                <a:solidFill>
                  <a:srgbClr val="000000"/>
                </a:solidFill>
                <a:effectLst/>
                <a:uFillTx/>
                <a:latin typeface="Arial"/>
              </a:rPr>
              <a:t>: dobrze zaprojektowany interfejs nadal powinien działać przy znacznym powiększeniu tekstu. Jeśli layout się rozpada, oznacza to problem architektoniczny, nie jedynie „estetyczny”.</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r>
              <a:rPr lang="pl-PL" sz="2000" b="0" u="none" strike="noStrike">
                <a:solidFill>
                  <a:srgbClr val="000000"/>
                </a:solidFill>
                <a:effectLst/>
                <a:uFillTx/>
                <a:latin typeface="Arial"/>
              </a:rPr>
              <a:t>Dobrze zaprojektowana typografia mobilna powinna więc być nie tylko ładna, ale też odporna na skalowanie, wspierać czytniki ekranu i zachowywać czytelność w różnych warunkach.</a:t>
            </a: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a:p>
            <a:pPr indent="0" defTabSz="914400">
              <a:lnSpc>
                <a:spcPct val="100000"/>
              </a:lnSpc>
              <a:buNone/>
              <a:tabLst>
                <a:tab algn="l" pos="0"/>
              </a:tabLst>
            </a:pPr>
            <a:endParaRPr lang="pl-PL" sz="2000" b="0" u="none" strike="noStrike">
              <a:solidFill>
                <a:srgbClr val="000000"/>
              </a:solidFill>
              <a:effectLst/>
              <a:uFillTx/>
              <a:latin typeface="Arial"/>
            </a:endParaRPr>
          </a:p>
        </p:txBody>
      </p:sp>
      <p:sp>
        <p:nvSpPr>
          <p:cNvPr id="3756" name="PlaceHolder 3"/>
          <p:cNvSpPr>
            <a:spLocks noGrp="1"/>
          </p:cNvSpPr>
          <p:nvPr>
            <p:ph type="sldNum" idx="36"/>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008069A9-5497-4554-A897-19191BD39305}"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7" name="PlaceHolder 1"/>
          <p:cNvSpPr>
            <a:spLocks noGrp="1"/>
          </p:cNvSpPr>
          <p:nvPr>
            <p:ph type="sldImg"/>
          </p:nvPr>
        </p:nvSpPr>
        <p:spPr>
          <a:xfrm>
            <a:off x="0" y="0"/>
            <a:ext cx="0" cy="0"/>
          </a:xfrm>
          <a:prstGeom prst="rect">
            <a:avLst/>
          </a:prstGeom>
          <a:ln w="0">
            <a:noFill/>
          </a:ln>
        </p:spPr>
      </p:sp>
      <p:sp>
        <p:nvSpPr>
          <p:cNvPr id="3758"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W tej sekcji przechodzimy do obszaru, który bywa pomijany, a ma duży wpływ na odbiór produktu. Smartfon nie jest wyłącznie ekranem. To urządzenie multisensoryczne. Oznacza to, że projektowanie mobilne obejmuje również dźwięk i sprzężenie dotykowe.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Dobrze zaprojektowane dźwięki i haptyka wzmacniają poczucie responsywności, poprawiają orientację w stanie systemu i mogą budować pozytywny odbiór produktu na poziomie niemal intuicyjnym.</a:t>
            </a:r>
            <a:endParaRPr lang="pl-PL" sz="2000" b="0" u="none" strike="noStrike">
              <a:solidFill>
                <a:srgbClr val="000000"/>
              </a:solidFill>
              <a:effectLst/>
              <a:uFillTx/>
              <a:latin typeface="Arial"/>
            </a:endParaRPr>
          </a:p>
        </p:txBody>
      </p:sp>
      <p:sp>
        <p:nvSpPr>
          <p:cNvPr id="3759" name="PlaceHolder 3"/>
          <p:cNvSpPr>
            <a:spLocks noGrp="1"/>
          </p:cNvSpPr>
          <p:nvPr>
            <p:ph type="sldNum" idx="37"/>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C83EC2B1-528B-4E84-80A9-93AD8EFA09EB}"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0" name="PlaceHolder 1"/>
          <p:cNvSpPr>
            <a:spLocks noGrp="1"/>
          </p:cNvSpPr>
          <p:nvPr>
            <p:ph type="sldImg"/>
          </p:nvPr>
        </p:nvSpPr>
        <p:spPr>
          <a:xfrm>
            <a:off x="0" y="0"/>
            <a:ext cx="0" cy="0"/>
          </a:xfrm>
          <a:prstGeom prst="rect">
            <a:avLst/>
          </a:prstGeom>
          <a:ln w="0">
            <a:noFill/>
          </a:ln>
        </p:spPr>
      </p:sp>
      <p:sp>
        <p:nvSpPr>
          <p:cNvPr id="3761"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Dźwięk w aplikacjach mobilnych powinien być przede wszystkim funkcjonalny. Może potwierdzać wykonanie akcji, sygnalizować zdarzenie, wspierać orientację użytkownika lub budować atmosferę.</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Jednocześnie trzeba bardzo uważać, aby dźwięk nie stał się intruzem. Telefon jest używany w różnych sytuacjach społecznych, dlatego aplikacja powinna szanować tryb cichy i dawać użytkownikowi pełną kontrolę nad dźwiękami.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Dobre projektowanie dźwięku opiera się na kilku zasadach: dźwięk powinien być krótki, subtelny, spójny z charakterem produktu i wyłączalny. Jeśli sygnał dźwiękowy jest za długi lub zbyt agresywny, szybko zaczyna irytować.</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studentom powiedzieć, że dźwięk jest jednym z najszybszych kanałów informacji zwrotnej. Użytkownik może go odebrać nawet wtedy, gdy nie patrzy na ekran.</a:t>
            </a:r>
            <a:endParaRPr lang="pl-PL" sz="2000" b="0" u="none" strike="noStrike">
              <a:solidFill>
                <a:srgbClr val="000000"/>
              </a:solidFill>
              <a:effectLst/>
              <a:uFillTx/>
              <a:latin typeface="Arial"/>
            </a:endParaRPr>
          </a:p>
        </p:txBody>
      </p:sp>
      <p:sp>
        <p:nvSpPr>
          <p:cNvPr id="3762" name="PlaceHolder 3"/>
          <p:cNvSpPr>
            <a:spLocks noGrp="1"/>
          </p:cNvSpPr>
          <p:nvPr>
            <p:ph type="sldNum" idx="38"/>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1C938531-2343-41A8-95C9-54F8369FC7FA}"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3" name="PlaceHolder 1"/>
          <p:cNvSpPr>
            <a:spLocks noGrp="1"/>
          </p:cNvSpPr>
          <p:nvPr>
            <p:ph type="sldImg"/>
          </p:nvPr>
        </p:nvSpPr>
        <p:spPr>
          <a:xfrm>
            <a:off x="0" y="0"/>
            <a:ext cx="0" cy="0"/>
          </a:xfrm>
          <a:prstGeom prst="rect">
            <a:avLst/>
          </a:prstGeom>
          <a:ln w="0">
            <a:noFill/>
          </a:ln>
        </p:spPr>
      </p:sp>
      <p:sp>
        <p:nvSpPr>
          <p:cNvPr id="3764"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Haptyka to forma komunikacji przez dotyk. W nowoczesnych urządzeniach nie chodzi o przypadkową wibrację, lecz o precyzyjne sygnały informujące użytkownika o sukcesie, błędzie, zmianie stanu lub granicy interfejsu.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Dobrze zaprojektowana haptyka jest zwykle subtelna. Nie musi być silna, aby była skuteczna. Jej zadaniem jest wzmacnianie poczucia działania systemu i budowanie bardziej materialnego charakteru interakcji.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Bardzo ważne jest, by używać haptyki oszczędnie. Jeśli każdy element reaguje dotykowo, użytkownik szybko się przyzwyczaja i przestaje odczuwać różnice. Podobnie jak w przypadku koloru czy animacji, kluczowa jest hierarchia.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też pamiętać, że haptyka powinna respektować ustawienia systemowe użytkownika. Jeśli ktoś wyłączył tego typu sprzężenie, aplikacja nie powinna go ignorować.</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r>
              <a:rPr lang="pl-PL" sz="2000" b="1" u="none" strike="noStrike">
                <a:solidFill>
                  <a:srgbClr val="000000"/>
                </a:solidFill>
                <a:effectLst/>
                <a:uFillTx/>
                <a:latin typeface="Arial"/>
              </a:rPr>
              <a:t>Ciekawostka</a:t>
            </a:r>
            <a:r>
              <a:rPr lang="pl-PL" sz="2000" b="0" u="none" strike="noStrike">
                <a:solidFill>
                  <a:srgbClr val="000000"/>
                </a:solidFill>
                <a:effectLst/>
                <a:uFillTx/>
                <a:latin typeface="Arial"/>
              </a:rPr>
              <a:t>: dobrze zaprojektowana haptyka bywa odczuwana przez użytkownika niemal podświadomie. Nie musi być spektakularna, aby była skuteczna.</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765" name="PlaceHolder 3"/>
          <p:cNvSpPr>
            <a:spLocks noGrp="1"/>
          </p:cNvSpPr>
          <p:nvPr>
            <p:ph type="sldNum" idx="39"/>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A90A7402-6ED1-4CED-9024-12FBB0DAB04E}"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6" name="PlaceHolder 1"/>
          <p:cNvSpPr>
            <a:spLocks noGrp="1"/>
          </p:cNvSpPr>
          <p:nvPr>
            <p:ph type="sldImg"/>
          </p:nvPr>
        </p:nvSpPr>
        <p:spPr>
          <a:xfrm>
            <a:off x="0" y="0"/>
            <a:ext cx="0" cy="0"/>
          </a:xfrm>
          <a:prstGeom prst="rect">
            <a:avLst/>
          </a:prstGeom>
          <a:ln w="0">
            <a:noFill/>
          </a:ln>
        </p:spPr>
      </p:sp>
      <p:sp>
        <p:nvSpPr>
          <p:cNvPr id="3767"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Projektowanie emocjonalne pozwala zrozumieć, dlaczego niektóre produkty są nie tylko użyteczne, ale także lubiane. To przejście od pytania „czy działa?” do pytania „jakie uczucie wywołuje?”.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zaznaczyć, że emocje w UX nie są dodatkiem do funkcjonalności. Wpływają na pamięć, motywację, tolerancję błędów i chęć ponownego użycia produktu.</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Teraz przechodzimy do bardzo ciekawego obszaru, jakim jest </a:t>
            </a:r>
            <a:r>
              <a:rPr lang="pl-PL" sz="2000" b="1" u="none" strike="noStrike">
                <a:solidFill>
                  <a:srgbClr val="000000"/>
                </a:solidFill>
                <a:effectLst/>
                <a:uFillTx/>
                <a:latin typeface="Arial"/>
              </a:rPr>
              <a:t>projektowanie emocjonalne</a:t>
            </a:r>
            <a:r>
              <a:rPr lang="pl-PL" sz="2000" b="0" u="none" strike="noStrike">
                <a:solidFill>
                  <a:srgbClr val="000000"/>
                </a:solidFill>
                <a:effectLst/>
                <a:uFillTx/>
                <a:latin typeface="Arial"/>
              </a:rPr>
              <a:t>. To temat, który pokazuje, że produkt cyfrowy nie jest wyłącznie narzędziem do wykonania zadania. Jest również nośnikiem emocji, skojarzeń i poczucia jakości. Użytkownik nie tylko ocenia, czy aplikacja działa. Odczuwa też, czy jest przyjemna, czy wzbudza zaufanie, czy sprawia satysfakcję i czy chce do niej wracać. Emocje mają więc bardzo realny wpływ na lojalność wobec produktu.</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768" name="PlaceHolder 3"/>
          <p:cNvSpPr>
            <a:spLocks noGrp="1"/>
          </p:cNvSpPr>
          <p:nvPr>
            <p:ph type="sldNum" idx="40"/>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566EC582-484A-4425-84C3-2B9A883A4D36}"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9" name="PlaceHolder 1"/>
          <p:cNvSpPr>
            <a:spLocks noGrp="1"/>
          </p:cNvSpPr>
          <p:nvPr>
            <p:ph type="sldImg"/>
          </p:nvPr>
        </p:nvSpPr>
        <p:spPr>
          <a:xfrm>
            <a:off x="0" y="0"/>
            <a:ext cx="0" cy="0"/>
          </a:xfrm>
          <a:prstGeom prst="rect">
            <a:avLst/>
          </a:prstGeom>
          <a:ln w="0">
            <a:noFill/>
          </a:ln>
        </p:spPr>
      </p:sp>
      <p:sp>
        <p:nvSpPr>
          <p:cNvPr id="3770"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Donald Norman wyróżnił trzy poziomy projektowania emocjonalnego: </a:t>
            </a:r>
            <a:r>
              <a:rPr lang="pl-PL" sz="2000" b="1" u="none" strike="noStrike">
                <a:solidFill>
                  <a:srgbClr val="000000"/>
                </a:solidFill>
                <a:effectLst/>
                <a:uFillTx/>
                <a:latin typeface="Arial"/>
              </a:rPr>
              <a:t>visceral</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behavioral</a:t>
            </a:r>
            <a:r>
              <a:rPr lang="pl-PL" sz="2000" b="0" u="none" strike="noStrike">
                <a:solidFill>
                  <a:srgbClr val="000000"/>
                </a:solidFill>
                <a:effectLst/>
                <a:uFillTx/>
                <a:latin typeface="Arial"/>
              </a:rPr>
              <a:t> i </a:t>
            </a:r>
            <a:r>
              <a:rPr lang="pl-PL" sz="2000" b="1" u="none" strike="noStrike">
                <a:solidFill>
                  <a:srgbClr val="000000"/>
                </a:solidFill>
                <a:effectLst/>
                <a:uFillTx/>
                <a:latin typeface="Arial"/>
              </a:rPr>
              <a:t>reflective</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Poziom trzewny, czyli visceral, dotyczy pierwszego wrażenia. To reakcja niemal natychmiastowa: czy produkt wydaje się atrakcyjny, nowoczesny, uporządkowany.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Poziom behawioralny dotyczy tego, jak produkt działa. Czy jest wygodny, skuteczny, przewidywalny i czy pozwala osiągnąć cel bez frustracji.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Poziom refleksyjny to poziom znaczenia. Użytkownik zastanawia się, co ten produkt mówi o nim samym, czy pasuje do jego stylu życia, czy budzi dumę, przywiązanie albo poczucie identyfikacji.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Najlepsze produkty działają na wszystkich trzech poziomach jednocześnie. Wyglądają atrakcyjnie, działają bez zarzutu i zostają w pamięci jako coś wartościowego lub bliskiego użytkownikowi.</a:t>
            </a:r>
            <a:endParaRPr lang="pl-PL" sz="2000" b="0" u="none" strike="noStrike">
              <a:solidFill>
                <a:srgbClr val="000000"/>
              </a:solidFill>
              <a:effectLst/>
              <a:uFillTx/>
              <a:latin typeface="Arial"/>
            </a:endParaRPr>
          </a:p>
        </p:txBody>
      </p:sp>
      <p:sp>
        <p:nvSpPr>
          <p:cNvPr id="3771" name="PlaceHolder 3"/>
          <p:cNvSpPr>
            <a:spLocks noGrp="1"/>
          </p:cNvSpPr>
          <p:nvPr>
            <p:ph type="sldNum" idx="41"/>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53BD981E-18A1-4878-A87B-27CB9E0A96A0}"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2" name="PlaceHolder 1"/>
          <p:cNvSpPr>
            <a:spLocks noGrp="1"/>
          </p:cNvSpPr>
          <p:nvPr>
            <p:ph type="sldImg"/>
          </p:nvPr>
        </p:nvSpPr>
        <p:spPr>
          <a:xfrm>
            <a:off x="0" y="0"/>
            <a:ext cx="0" cy="0"/>
          </a:xfrm>
          <a:prstGeom prst="rect">
            <a:avLst/>
          </a:prstGeom>
          <a:ln w="0">
            <a:noFill/>
          </a:ln>
        </p:spPr>
      </p:sp>
      <p:sp>
        <p:nvSpPr>
          <p:cNvPr id="3773"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Mikrointerakcje to drobne reakcje interfejsu na działania użytkownika lub zmiany stanu systemu. Mogą to być animacje przycisku, efekt polubienia, odświeżanie listy, potwierdzenie sukcesu lub subtelny ruch elementu.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Ich podstawową funkcją nie jest ozdabianie interfejsu, ale komunikacja. Mikrointerakcja potwierdza, że system zareagował, wzmacnia poczucie kontroli i może wprowadzać element przyjemności, czyli tak zwany </a:t>
            </a:r>
            <a:r>
              <a:rPr lang="pl-PL" sz="2000" b="1" u="none" strike="noStrike">
                <a:solidFill>
                  <a:srgbClr val="000000"/>
                </a:solidFill>
                <a:effectLst/>
                <a:uFillTx/>
                <a:latin typeface="Arial"/>
              </a:rPr>
              <a:t>delight</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Trzeba jednak pamiętać o umiarze. Nadmiar mikrointerakcji prowadzi do zmęczenia i rozproszenia. Dobra animacja jest szybka, celowa i subtelna. Nie spowalnia zadania, lecz je wspiera.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To właśnie w takich drobnych detalach bardzo często ukrywa się różnica między aplikacją poprawną a aplikacją zapamiętywaną jako świetna.</a:t>
            </a:r>
            <a:endParaRPr lang="pl-PL" sz="2000" b="0" u="none" strike="noStrike">
              <a:solidFill>
                <a:srgbClr val="000000"/>
              </a:solidFill>
              <a:effectLst/>
              <a:uFillTx/>
              <a:latin typeface="Arial"/>
            </a:endParaRPr>
          </a:p>
        </p:txBody>
      </p:sp>
      <p:sp>
        <p:nvSpPr>
          <p:cNvPr id="3774" name="PlaceHolder 3"/>
          <p:cNvSpPr>
            <a:spLocks noGrp="1"/>
          </p:cNvSpPr>
          <p:nvPr>
            <p:ph type="sldNum" idx="42"/>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E54B4F34-E567-41F0-8BE9-198A669D0ED0}"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5" name="PlaceHolder 1"/>
          <p:cNvSpPr>
            <a:spLocks noGrp="1"/>
          </p:cNvSpPr>
          <p:nvPr>
            <p:ph type="sldImg"/>
          </p:nvPr>
        </p:nvSpPr>
        <p:spPr>
          <a:xfrm>
            <a:off x="0" y="0"/>
            <a:ext cx="0" cy="0"/>
          </a:xfrm>
          <a:prstGeom prst="rect">
            <a:avLst/>
          </a:prstGeom>
          <a:ln w="0">
            <a:noFill/>
          </a:ln>
        </p:spPr>
      </p:sp>
      <p:sp>
        <p:nvSpPr>
          <p:cNvPr id="3776"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Przechodzimy do hierarchii wizualnej. Jest to jeden z najważniejszych mechanizmów kierowania uwagą użytkownika. Ekran aplikacji nigdy nie jest odbierany jako równy zbiór elementów. Użytkownik zawsze coś zauważa najpierw, coś później, a coś pomija.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Zadaniem projektanta jest świadomie zarządzać tą kolejnością i sprawić, by uwaga użytkownika naturalnie trafiała tam, gdzie powinna.</a:t>
            </a:r>
            <a:endParaRPr lang="pl-PL" sz="2000" b="0" u="none" strike="noStrike">
              <a:solidFill>
                <a:srgbClr val="000000"/>
              </a:solidFill>
              <a:effectLst/>
              <a:uFillTx/>
              <a:latin typeface="Arial"/>
            </a:endParaRPr>
          </a:p>
        </p:txBody>
      </p:sp>
      <p:sp>
        <p:nvSpPr>
          <p:cNvPr id="3777" name="PlaceHolder 3"/>
          <p:cNvSpPr>
            <a:spLocks noGrp="1"/>
          </p:cNvSpPr>
          <p:nvPr>
            <p:ph type="sldNum" idx="43"/>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EC708249-EE69-4209-B41A-7B0480296576}"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8" name="PlaceHolder 1"/>
          <p:cNvSpPr>
            <a:spLocks noGrp="1"/>
          </p:cNvSpPr>
          <p:nvPr>
            <p:ph type="sldImg"/>
          </p:nvPr>
        </p:nvSpPr>
        <p:spPr>
          <a:xfrm>
            <a:off x="0" y="0"/>
            <a:ext cx="0" cy="0"/>
          </a:xfrm>
          <a:prstGeom prst="rect">
            <a:avLst/>
          </a:prstGeom>
          <a:ln w="0">
            <a:noFill/>
          </a:ln>
        </p:spPr>
      </p:sp>
      <p:sp>
        <p:nvSpPr>
          <p:cNvPr id="3779"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Hierarchię wizualną buduje się kilkoma podstawowymi narzędziami. Pierwszym jest </a:t>
            </a:r>
            <a:r>
              <a:rPr lang="pl-PL" sz="2000" b="1" u="none" strike="noStrike">
                <a:solidFill>
                  <a:srgbClr val="000000"/>
                </a:solidFill>
                <a:effectLst/>
                <a:uFillTx/>
                <a:latin typeface="Arial"/>
              </a:rPr>
              <a:t>rozmiar</a:t>
            </a:r>
            <a:r>
              <a:rPr lang="pl-PL" sz="2000" b="0" u="none" strike="noStrike">
                <a:solidFill>
                  <a:srgbClr val="000000"/>
                </a:solidFill>
                <a:effectLst/>
                <a:uFillTx/>
                <a:latin typeface="Arial"/>
              </a:rPr>
              <a:t> - większe elementy wydają się ważniejsze. Drugim jest </a:t>
            </a:r>
            <a:r>
              <a:rPr lang="pl-PL" sz="2000" b="1" u="none" strike="noStrike">
                <a:solidFill>
                  <a:srgbClr val="000000"/>
                </a:solidFill>
                <a:effectLst/>
                <a:uFillTx/>
                <a:latin typeface="Arial"/>
              </a:rPr>
              <a:t>kontrast</a:t>
            </a:r>
            <a:r>
              <a:rPr lang="pl-PL" sz="2000" b="0" u="none" strike="noStrike">
                <a:solidFill>
                  <a:srgbClr val="000000"/>
                </a:solidFill>
                <a:effectLst/>
                <a:uFillTx/>
                <a:latin typeface="Arial"/>
              </a:rPr>
              <a:t>, który przyciąga uwagę. Trzecim </a:t>
            </a:r>
            <a:r>
              <a:rPr lang="pl-PL" sz="2000" b="1" u="none" strike="noStrike">
                <a:solidFill>
                  <a:srgbClr val="000000"/>
                </a:solidFill>
                <a:effectLst/>
                <a:uFillTx/>
                <a:latin typeface="Arial"/>
              </a:rPr>
              <a:t>typografia</a:t>
            </a:r>
            <a:r>
              <a:rPr lang="pl-PL" sz="2000" b="0" u="none" strike="noStrike">
                <a:solidFill>
                  <a:srgbClr val="000000"/>
                </a:solidFill>
                <a:effectLst/>
                <a:uFillTx/>
                <a:latin typeface="Arial"/>
              </a:rPr>
              <a:t>, która porządkuje treść. Czwartym </a:t>
            </a:r>
            <a:r>
              <a:rPr lang="pl-PL" sz="2000" b="1" u="none" strike="noStrike">
                <a:solidFill>
                  <a:srgbClr val="000000"/>
                </a:solidFill>
                <a:effectLst/>
                <a:uFillTx/>
                <a:latin typeface="Arial"/>
              </a:rPr>
              <a:t>biała przestrzeń</a:t>
            </a:r>
            <a:r>
              <a:rPr lang="pl-PL" sz="2000" b="0" u="none" strike="noStrike">
                <a:solidFill>
                  <a:srgbClr val="000000"/>
                </a:solidFill>
                <a:effectLst/>
                <a:uFillTx/>
                <a:latin typeface="Arial"/>
              </a:rPr>
              <a:t>, która pozwala oddzielać i podkreślać. Piątym </a:t>
            </a:r>
            <a:r>
              <a:rPr lang="pl-PL" sz="2000" b="1" u="none" strike="noStrike">
                <a:solidFill>
                  <a:srgbClr val="000000"/>
                </a:solidFill>
                <a:effectLst/>
                <a:uFillTx/>
                <a:latin typeface="Arial"/>
              </a:rPr>
              <a:t>grupowanie i bliskość</a:t>
            </a:r>
            <a:r>
              <a:rPr lang="pl-PL" sz="2000" b="0" u="none" strike="noStrike">
                <a:solidFill>
                  <a:srgbClr val="000000"/>
                </a:solidFill>
                <a:effectLst/>
                <a:uFillTx/>
                <a:latin typeface="Arial"/>
              </a:rPr>
              <a:t>, a szóstym </a:t>
            </a:r>
            <a:r>
              <a:rPr lang="pl-PL" sz="2000" b="1" u="none" strike="noStrike">
                <a:solidFill>
                  <a:srgbClr val="000000"/>
                </a:solidFill>
                <a:effectLst/>
                <a:uFillTx/>
                <a:latin typeface="Arial"/>
              </a:rPr>
              <a:t>wyrównanie</a:t>
            </a:r>
            <a:r>
              <a:rPr lang="pl-PL" sz="2000" b="0" u="none" strike="noStrike">
                <a:solidFill>
                  <a:srgbClr val="000000"/>
                </a:solidFill>
                <a:effectLst/>
                <a:uFillTx/>
                <a:latin typeface="Arial"/>
              </a:rPr>
              <a:t>, które tworzy porządek.</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podkreślić, że te środki działają razem. Jeśli wszystko jest duże, kontrastowe i pogrubione, użytkownik nie wie, od czego zacząć. Jeśli natomiast projektant świadomie wyróżnia tylko to, co najważniejsze, ekran staje się samowyjaśniający.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To dobry moment, aby studentom uświadomić, że projektowanie hierarchii wizualnej to w pewnym sensie projektowanie ścieżki patrzenia.</a:t>
            </a:r>
            <a:endParaRPr lang="pl-PL" sz="2000" b="0" u="none" strike="noStrike">
              <a:solidFill>
                <a:srgbClr val="000000"/>
              </a:solidFill>
              <a:effectLst/>
              <a:uFillTx/>
              <a:latin typeface="Arial"/>
            </a:endParaRPr>
          </a:p>
        </p:txBody>
      </p:sp>
      <p:sp>
        <p:nvSpPr>
          <p:cNvPr id="3780" name="PlaceHolder 3"/>
          <p:cNvSpPr>
            <a:spLocks noGrp="1"/>
          </p:cNvSpPr>
          <p:nvPr>
            <p:ph type="sldNum" idx="44"/>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FC9F86D3-E9E4-4394-BCD2-C3D67530E8DC}"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1" name="PlaceHolder 1"/>
          <p:cNvSpPr>
            <a:spLocks noGrp="1"/>
          </p:cNvSpPr>
          <p:nvPr>
            <p:ph type="sldImg"/>
          </p:nvPr>
        </p:nvSpPr>
        <p:spPr>
          <a:xfrm>
            <a:off x="0" y="0"/>
            <a:ext cx="0" cy="0"/>
          </a:xfrm>
          <a:prstGeom prst="rect">
            <a:avLst/>
          </a:prstGeom>
          <a:ln w="0">
            <a:noFill/>
          </a:ln>
        </p:spPr>
      </p:sp>
      <p:sp>
        <p:nvSpPr>
          <p:cNvPr id="3782"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Psychologia Gestalt dostarcza bardzo ważnych narzędzi do rozumienia tego, jak człowiek porządkuje bodźce wzrokowe. Mózg ma naturalną skłonność do grupowania elementów według podobieństwa, bliskości, ciągłości, figury i tła czy symetrii.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interfejsie oznacza to, że użytkownik widzi relacje nawet wtedy, gdy nie zostały one explicite narysowane. Jeśli dwa elementy leżą blisko siebie, będą odczytane jako powiązane. Jeśli mają podobny kolor i kształt, również zostaną zgrupowane.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To ma ogromne znaczenie praktyczne. Na przykład w formularzu etykieta musi być wizualnie związana z odpowiednim polem. Jeśli odstępy są źle zaprojektowane, użytkownik może błędnie zinterpretować strukturę interfejsu.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zapamiętać, że </a:t>
            </a:r>
            <a:r>
              <a:rPr lang="pl-PL" sz="2000" b="1" u="none" strike="noStrike">
                <a:solidFill>
                  <a:srgbClr val="000000"/>
                </a:solidFill>
                <a:effectLst/>
                <a:uFillTx/>
                <a:latin typeface="Arial"/>
              </a:rPr>
              <a:t>w projektowaniu nie projektuje się tylko samych elementów</a:t>
            </a:r>
            <a:r>
              <a:rPr lang="pl-PL" sz="2000" b="0" u="none" strike="noStrike">
                <a:solidFill>
                  <a:srgbClr val="000000"/>
                </a:solidFill>
                <a:effectLst/>
                <a:uFillTx/>
                <a:latin typeface="Arial"/>
              </a:rPr>
              <a:t>. Projektuje się również </a:t>
            </a:r>
            <a:r>
              <a:rPr lang="pl-PL" sz="2000" b="1" u="none" strike="noStrike">
                <a:solidFill>
                  <a:srgbClr val="000000"/>
                </a:solidFill>
                <a:effectLst/>
                <a:uFillTx/>
                <a:latin typeface="Arial"/>
              </a:rPr>
              <a:t>relacje między nimi</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Dla studentów szczególnie cenne jest zrozumienie, że </a:t>
            </a:r>
            <a:r>
              <a:rPr lang="pl-PL" sz="2000" b="1" u="none" strike="noStrike">
                <a:solidFill>
                  <a:srgbClr val="000000"/>
                </a:solidFill>
                <a:effectLst/>
                <a:uFillTx/>
                <a:latin typeface="Arial"/>
              </a:rPr>
              <a:t>odstępy są semantyczne</a:t>
            </a:r>
            <a:r>
              <a:rPr lang="pl-PL" sz="2000" b="0" u="none" strike="noStrike">
                <a:solidFill>
                  <a:srgbClr val="000000"/>
                </a:solidFill>
                <a:effectLst/>
                <a:uFillTx/>
                <a:latin typeface="Arial"/>
              </a:rPr>
              <a:t>. To, które elementy leżą bliżej siebie, wpływa na interpretację ich związku. </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Wiele błędów formularzy lub dashboardów wynika właśnie z niewłaściwego użycia zasady bliskości.</a:t>
            </a:r>
            <a:endParaRPr lang="pl-PL" sz="2000" b="0" u="none" strike="noStrike">
              <a:solidFill>
                <a:srgbClr val="000000"/>
              </a:solidFill>
              <a:effectLst/>
              <a:uFillTx/>
              <a:latin typeface="Arial"/>
            </a:endParaRPr>
          </a:p>
          <a:p>
            <a:pPr indent="0">
              <a:lnSpc>
                <a:spcPct val="100000"/>
              </a:lnSpc>
              <a:buNone/>
              <a:tabLst>
                <a:tab algn="l" pos="0"/>
              </a:tabLst>
            </a:pPr>
            <a:r>
              <a:rPr lang="pl-PL" sz="2000" b="1" u="none" strike="noStrike">
                <a:solidFill>
                  <a:srgbClr val="000000"/>
                </a:solidFill>
                <a:effectLst/>
                <a:uFillTx/>
                <a:latin typeface="Arial"/>
              </a:rPr>
              <a:t>Ciekawostka</a:t>
            </a:r>
            <a:r>
              <a:rPr lang="pl-PL" sz="2000" b="0" u="none" strike="noStrike">
                <a:solidFill>
                  <a:srgbClr val="000000"/>
                </a:solidFill>
                <a:effectLst/>
                <a:uFillTx/>
                <a:latin typeface="Arial"/>
              </a:rPr>
              <a:t>: Gestalt bywa tak silny, że użytkownik może widzieć relacje, których projektant w ogóle nie planował. Dlatego projektowanie przestrzeni między elementami jest równie ważne jak projektowanie samych elementów.</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783" name="PlaceHolder 3"/>
          <p:cNvSpPr>
            <a:spLocks noGrp="1"/>
          </p:cNvSpPr>
          <p:nvPr>
            <p:ph type="sldNum" idx="45"/>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8719FDB8-90B0-4B74-953B-F3F288DFAD2C}"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4" name="PlaceHolder 1"/>
          <p:cNvSpPr>
            <a:spLocks noGrp="1"/>
          </p:cNvSpPr>
          <p:nvPr>
            <p:ph type="sldImg"/>
          </p:nvPr>
        </p:nvSpPr>
        <p:spPr>
          <a:xfrm>
            <a:off x="0" y="0"/>
            <a:ext cx="0" cy="0"/>
          </a:xfrm>
          <a:prstGeom prst="rect">
            <a:avLst/>
          </a:prstGeom>
          <a:ln w="0">
            <a:noFill/>
          </a:ln>
        </p:spPr>
      </p:sp>
      <p:sp>
        <p:nvSpPr>
          <p:cNvPr id="3785"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Przechodzimy do ostatniej sekcji, czyli do narzędzi pracy projektanta UI/UX. Warto jasno powiedzieć, że narzędzie samo w sobie nie tworzy dobrego projektu. Jednak odpowiednio dobrane środowisko pracy może znacząco usprawnić prototypowanie, współpracę, testowanie i komunikację z zespołem developerskim.</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 nowoczesnych zespołach projektowanie nie kończy się na makiecie. Narzędzia coraz częściej obsługują także handoff, dokumentację komponentów, systemy tokenów i prototypowanie interakcji.</a:t>
            </a:r>
            <a:endParaRPr lang="pl-PL" sz="2000" b="0" u="none" strike="noStrike">
              <a:solidFill>
                <a:srgbClr val="000000"/>
              </a:solidFill>
              <a:effectLst/>
              <a:uFillTx/>
              <a:latin typeface="Arial"/>
            </a:endParaRPr>
          </a:p>
        </p:txBody>
      </p:sp>
      <p:sp>
        <p:nvSpPr>
          <p:cNvPr id="3786" name="PlaceHolder 3"/>
          <p:cNvSpPr>
            <a:spLocks noGrp="1"/>
          </p:cNvSpPr>
          <p:nvPr>
            <p:ph type="sldNum" idx="46"/>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F22525C4-8545-4212-97AF-CDC21421377F}"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7" name="PlaceHolder 1"/>
          <p:cNvSpPr>
            <a:spLocks noGrp="1"/>
          </p:cNvSpPr>
          <p:nvPr>
            <p:ph type="sldImg"/>
          </p:nvPr>
        </p:nvSpPr>
        <p:spPr>
          <a:xfrm>
            <a:off x="0" y="0"/>
            <a:ext cx="0" cy="0"/>
          </a:xfrm>
          <a:prstGeom prst="rect">
            <a:avLst/>
          </a:prstGeom>
          <a:ln w="0">
            <a:noFill/>
          </a:ln>
        </p:spPr>
      </p:sp>
      <p:sp>
        <p:nvSpPr>
          <p:cNvPr id="3788"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Wśród najważniejszych narzędzi warto wymienić </a:t>
            </a:r>
            <a:r>
              <a:rPr lang="pl-PL" sz="2000" b="1" u="none" strike="noStrike">
                <a:solidFill>
                  <a:srgbClr val="000000"/>
                </a:solidFill>
                <a:effectLst/>
                <a:uFillTx/>
                <a:latin typeface="Arial"/>
              </a:rPr>
              <a:t>Figmę</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Sketcha</a:t>
            </a:r>
            <a:r>
              <a:rPr lang="pl-PL" sz="2000" b="0" u="none" strike="noStrike">
                <a:solidFill>
                  <a:srgbClr val="000000"/>
                </a:solidFill>
                <a:effectLst/>
                <a:uFillTx/>
                <a:latin typeface="Arial"/>
              </a:rPr>
              <a:t> i historycznie także </a:t>
            </a:r>
            <a:r>
              <a:rPr lang="pl-PL" sz="2000" b="1" u="none" strike="noStrike">
                <a:solidFill>
                  <a:srgbClr val="000000"/>
                </a:solidFill>
                <a:effectLst/>
                <a:uFillTx/>
                <a:latin typeface="Arial"/>
              </a:rPr>
              <a:t>Adobe XD</a:t>
            </a:r>
            <a:r>
              <a:rPr lang="pl-PL" sz="2000" b="0" u="none" strike="noStrike">
                <a:solidFill>
                  <a:srgbClr val="000000"/>
                </a:solidFill>
                <a:effectLst/>
                <a:uFillTx/>
                <a:latin typeface="Arial"/>
              </a:rPr>
              <a:t>. Dziś zdecydowanie dominuje Figma, głównie dzięki pracy w przeglądarce, współpracy w czasie rzeczywistym i bardzo rozbudowanemu ekosystemowi pluginów.</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Sketch przez wiele lat był standardem w środowisku Apple i nadal ma swoją wartość, szczególnie dla zespołów silnie osadzonych w macOS. Adobe XD odegrał istotną rolę w pewnym momencie rynku, ale obecnie jego pozycja jest zdecydowanie słabsza.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Dla studentów najważniejsza praktyczna informacja jest taka, że Figma jest dziś najbardziej uniwersalnym i dostępnym wyborem, szczególnie do nauki i pracy zespołowej.</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Figma, Sketch i Adobe XD reprezentują różne podejścia do projektowania. Obecnie Figma dominuje przede wszystkim dzięki łatwości współpracy, dostępności przez przeglądarkę i rozbudowanemu ekosystemowi. Sketch zachowuje znaczenie w środowiskach mocno osadzonych na macOS. Adobe XD ma dziś znaczenie historyczne i ograniczoną perspektywę rozwoju.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Studentom warto powiedzieć, że wybór narzędzia nie powinien być religią. Należy patrzeć na potrzeby zespołu, integrację z workflow i skalę projektu. Dla celów dydaktycznych i większości zespołów studenckich Figma jest jednak najbardziej praktycznym wyborem.</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789" name="PlaceHolder 3"/>
          <p:cNvSpPr>
            <a:spLocks noGrp="1"/>
          </p:cNvSpPr>
          <p:nvPr>
            <p:ph type="sldNum" idx="47"/>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011B6A47-1529-4779-94D8-AB1D4909BBC4}"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0" name="PlaceHolder 1"/>
          <p:cNvSpPr>
            <a:spLocks noGrp="1"/>
          </p:cNvSpPr>
          <p:nvPr>
            <p:ph type="sldImg"/>
          </p:nvPr>
        </p:nvSpPr>
        <p:spPr>
          <a:xfrm>
            <a:off x="0" y="0"/>
            <a:ext cx="0" cy="0"/>
          </a:xfrm>
          <a:prstGeom prst="rect">
            <a:avLst/>
          </a:prstGeom>
          <a:ln w="0">
            <a:noFill/>
          </a:ln>
        </p:spPr>
      </p:sp>
      <p:sp>
        <p:nvSpPr>
          <p:cNvPr id="3791"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Samo narzędzie do rysowania ekranów nie wystarcza. Potrzebne są także rozwiązania do prototypowania, testów użyteczności, dokumentacji, zarządzania zadaniami i współpracy zespołowej.</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Dlatego w praktyce projektowej korzysta się z całego zestawu narzędzi: od Figmy i FigJam, przez Maze i UserTesting, aż po Storybook, Zeroheight, Jirę, Miro czy Notion.</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To ważne, bo projektowanie profesjonalne nie polega wyłącznie na tworzeniu estetycznych widoków. Obejmuje również walidację, iterację, przekazanie projektu do developmentu i utrzymanie spójności w czasie.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Innymi słowy: narzędzia wspierają proces, a proces wspiera jakość produktu.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Warto podkreślić, że wysokiej jakości produkt powstaje zwykle nie dzięki jednemu genialnemu narzędziu, lecz dzięki dobrze zorganizowanemu ekosystemowi pracy. Makieta bez testów, dokumentacji i procesu iteracji to za mało.</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792" name="PlaceHolder 3"/>
          <p:cNvSpPr>
            <a:spLocks noGrp="1"/>
          </p:cNvSpPr>
          <p:nvPr>
            <p:ph type="sldNum" idx="48"/>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5B1275EB-EBE1-4C6F-A245-AA52E7F75427}"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3" name="PlaceHolder 1"/>
          <p:cNvSpPr>
            <a:spLocks noGrp="1"/>
          </p:cNvSpPr>
          <p:nvPr>
            <p:ph type="sldImg"/>
          </p:nvPr>
        </p:nvSpPr>
        <p:spPr>
          <a:xfrm>
            <a:off x="0" y="0"/>
            <a:ext cx="0" cy="0"/>
          </a:xfrm>
          <a:prstGeom prst="rect">
            <a:avLst/>
          </a:prstGeom>
          <a:ln w="0">
            <a:noFill/>
          </a:ln>
        </p:spPr>
      </p:sp>
      <p:sp>
        <p:nvSpPr>
          <p:cNvPr id="3794"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Na tym slajdzie widzimy pełny proces projektowy. Zaczyna się on od </a:t>
            </a:r>
            <a:r>
              <a:rPr lang="pl-PL" sz="2000" b="1" u="none" strike="noStrike">
                <a:solidFill>
                  <a:srgbClr val="000000"/>
                </a:solidFill>
                <a:effectLst/>
                <a:uFillTx/>
                <a:latin typeface="Arial"/>
              </a:rPr>
              <a:t>researchu i discovery</a:t>
            </a:r>
            <a:r>
              <a:rPr lang="pl-PL" sz="2000" b="0" u="none" strike="noStrike">
                <a:solidFill>
                  <a:srgbClr val="000000"/>
                </a:solidFill>
                <a:effectLst/>
                <a:uFillTx/>
                <a:latin typeface="Arial"/>
              </a:rPr>
              <a:t>, czyli od zrozumienia użytkownika, jego potrzeb i problemów. Potem przechodzimy do definiowania wymagań, budowania person, user stories i map podróży użytkownika.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Następnie pojawia się etap ideacji i wireframingu, czyli szybkie generowanie oraz testowanie pomysłów. Dopiero później przechodzi się do projektowania wizualnego o wysokiej wierności.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Kolejny etap to prototypowanie i testy użyteczności. To moment szczególnie ważny, bo właśnie wtedy można najtaniej wykryć błędy w logice, strukturze i interakcji.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 końcu następuje handoff do zespołu developerskiego, wdrożenie i dalsza iteracja. Trzeba bowiem pamiętać, że proces UX nie kończy się w momencie publikacji produktu. W rzeczywistości wtedy zaczyna się kolejna runda uczenia się na podstawie danych, obserwacji i zachowań użytkowników.</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Należy mocno zaakcentować studentom znaczenie badań i testowania. Najdroższe błędy to te, które wykrywamy dopiero po wdrożeniu. Najtańsze - te, które wykryjemy na etapie szkicu lub prostego prototypu.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Można tu dodać praktyczną radę: zakochanie się w pierwszym pomyśle jest jednym z głównych wrogów dobrego projektowania. Iteracja to nie oznaka słabości projektu, ale oznaka dojrzałości procesu.</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795" name="PlaceHolder 3"/>
          <p:cNvSpPr>
            <a:spLocks noGrp="1"/>
          </p:cNvSpPr>
          <p:nvPr>
            <p:ph type="sldNum" idx="49"/>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2254B4C7-E5D1-463B-A15D-6554B943ED83}"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6" name="PlaceHolder 1"/>
          <p:cNvSpPr>
            <a:spLocks noGrp="1"/>
          </p:cNvSpPr>
          <p:nvPr>
            <p:ph type="sldImg"/>
          </p:nvPr>
        </p:nvSpPr>
        <p:spPr>
          <a:xfrm>
            <a:off x="0" y="0"/>
            <a:ext cx="0" cy="0"/>
          </a:xfrm>
          <a:prstGeom prst="rect">
            <a:avLst/>
          </a:prstGeom>
          <a:ln w="0">
            <a:noFill/>
          </a:ln>
        </p:spPr>
      </p:sp>
      <p:sp>
        <p:nvSpPr>
          <p:cNvPr id="3797"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Podsumujmy najważniejsze wnioski z dzisiejszego spotkania.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pierwsze, </a:t>
            </a:r>
            <a:r>
              <a:rPr lang="pl-PL" sz="2000" b="1" u="none" strike="noStrike">
                <a:solidFill>
                  <a:srgbClr val="000000"/>
                </a:solidFill>
                <a:effectLst/>
                <a:uFillTx/>
                <a:latin typeface="Arial"/>
              </a:rPr>
              <a:t>UI i UX to nie to samo</a:t>
            </a:r>
            <a:r>
              <a:rPr lang="pl-PL" sz="2000" b="0" u="none" strike="noStrike">
                <a:solidFill>
                  <a:srgbClr val="000000"/>
                </a:solidFill>
                <a:effectLst/>
                <a:uFillTx/>
                <a:latin typeface="Arial"/>
              </a:rPr>
              <a:t>, ale są ze sobą nierozerwalnie związane. UI to warstwa interfejsu, a UX to całe doświadczenie korzystania z produktu.</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drugie, istnieje wiele </a:t>
            </a:r>
            <a:r>
              <a:rPr lang="pl-PL" sz="2000" b="1" u="none" strike="noStrike">
                <a:solidFill>
                  <a:srgbClr val="000000"/>
                </a:solidFill>
                <a:effectLst/>
                <a:uFillTx/>
                <a:latin typeface="Arial"/>
              </a:rPr>
              <a:t>rodzajów interfejsów</a:t>
            </a:r>
            <a:r>
              <a:rPr lang="pl-PL" sz="2000" b="0" u="none" strike="noStrike">
                <a:solidFill>
                  <a:srgbClr val="000000"/>
                </a:solidFill>
                <a:effectLst/>
                <a:uFillTx/>
                <a:latin typeface="Arial"/>
              </a:rPr>
              <a:t>, a nowoczesne produkty coraz częściej łączą je w sposób hybrydowy.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trzecie, projektowanie powinno opierać się na </a:t>
            </a:r>
            <a:r>
              <a:rPr lang="pl-PL" sz="2000" b="1" u="none" strike="noStrike">
                <a:solidFill>
                  <a:srgbClr val="000000"/>
                </a:solidFill>
                <a:effectLst/>
                <a:uFillTx/>
                <a:latin typeface="Arial"/>
              </a:rPr>
              <a:t>sprawdzonych zasadach</a:t>
            </a:r>
            <a:r>
              <a:rPr lang="pl-PL" sz="2000" b="0" u="none" strike="noStrike">
                <a:solidFill>
                  <a:srgbClr val="000000"/>
                </a:solidFill>
                <a:effectLst/>
                <a:uFillTx/>
                <a:latin typeface="Arial"/>
              </a:rPr>
              <a:t>, takich jak heurystyki Nielsena, prawo Hicka i prawo Fittsa.</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czwarte, należy znać i szanować </a:t>
            </a:r>
            <a:r>
              <a:rPr lang="pl-PL" sz="2000" b="1" u="none" strike="noStrike">
                <a:solidFill>
                  <a:srgbClr val="000000"/>
                </a:solidFill>
                <a:effectLst/>
                <a:uFillTx/>
                <a:latin typeface="Arial"/>
              </a:rPr>
              <a:t>standardy platformowe</a:t>
            </a:r>
            <a:r>
              <a:rPr lang="pl-PL" sz="2000" b="0" u="none" strike="noStrike">
                <a:solidFill>
                  <a:srgbClr val="000000"/>
                </a:solidFill>
                <a:effectLst/>
                <a:uFillTx/>
                <a:latin typeface="Arial"/>
              </a:rPr>
              <a:t> oraz zasady </a:t>
            </a:r>
            <a:r>
              <a:rPr lang="pl-PL" sz="2000" b="1" u="none" strike="noStrike">
                <a:solidFill>
                  <a:srgbClr val="000000"/>
                </a:solidFill>
                <a:effectLst/>
                <a:uFillTx/>
                <a:latin typeface="Arial"/>
              </a:rPr>
              <a:t>dostępności</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piąte, takie elementy jak </a:t>
            </a:r>
            <a:r>
              <a:rPr lang="pl-PL" sz="2000" b="1" u="none" strike="noStrike">
                <a:solidFill>
                  <a:srgbClr val="000000"/>
                </a:solidFill>
                <a:effectLst/>
                <a:uFillTx/>
                <a:latin typeface="Arial"/>
              </a:rPr>
              <a:t>kolor, typografia, dźwięk i haptyka</a:t>
            </a:r>
            <a:r>
              <a:rPr lang="pl-PL" sz="2000" b="0" u="none" strike="noStrike">
                <a:solidFill>
                  <a:srgbClr val="000000"/>
                </a:solidFill>
                <a:effectLst/>
                <a:uFillTx/>
                <a:latin typeface="Arial"/>
              </a:rPr>
              <a:t> są integralną częścią doświadczenia użytkownika, a nie dodatkami estetycznymi.</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Po szóste, </a:t>
            </a:r>
            <a:r>
              <a:rPr lang="pl-PL" sz="2000" b="1" u="none" strike="noStrike">
                <a:solidFill>
                  <a:srgbClr val="000000"/>
                </a:solidFill>
                <a:effectLst/>
                <a:uFillTx/>
                <a:latin typeface="Arial"/>
              </a:rPr>
              <a:t>projektowanie emocjonalne</a:t>
            </a:r>
            <a:r>
              <a:rPr lang="pl-PL" sz="2000" b="0" u="none" strike="noStrike">
                <a:solidFill>
                  <a:srgbClr val="000000"/>
                </a:solidFill>
                <a:effectLst/>
                <a:uFillTx/>
                <a:latin typeface="Arial"/>
              </a:rPr>
              <a:t>, </a:t>
            </a:r>
            <a:r>
              <a:rPr lang="pl-PL" sz="2000" b="1" u="none" strike="noStrike">
                <a:solidFill>
                  <a:srgbClr val="000000"/>
                </a:solidFill>
                <a:effectLst/>
                <a:uFillTx/>
                <a:latin typeface="Arial"/>
              </a:rPr>
              <a:t>mikrointerakcje</a:t>
            </a:r>
            <a:r>
              <a:rPr lang="pl-PL" sz="2000" b="0" u="none" strike="noStrike">
                <a:solidFill>
                  <a:srgbClr val="000000"/>
                </a:solidFill>
                <a:effectLst/>
                <a:uFillTx/>
                <a:latin typeface="Arial"/>
              </a:rPr>
              <a:t> i </a:t>
            </a:r>
            <a:r>
              <a:rPr lang="pl-PL" sz="2000" b="1" u="none" strike="noStrike">
                <a:solidFill>
                  <a:srgbClr val="000000"/>
                </a:solidFill>
                <a:effectLst/>
                <a:uFillTx/>
                <a:latin typeface="Arial"/>
              </a:rPr>
              <a:t>hierarchia wizualna</a:t>
            </a:r>
            <a:r>
              <a:rPr lang="pl-PL" sz="2000" b="0" u="none" strike="noStrike">
                <a:solidFill>
                  <a:srgbClr val="000000"/>
                </a:solidFill>
                <a:effectLst/>
                <a:uFillTx/>
                <a:latin typeface="Arial"/>
              </a:rPr>
              <a:t> decydują o tym, jak produkt jest odbierany i zapamiętywany.</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I wreszcie po siódme, dobry produkt nie powstaje przypadkiem. Jest wynikiem dobrze zorganizowanego procesu, świadomych decyzji i pracy zespołu korzystającego z odpowiednich narzędzi.</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798" name="PlaceHolder 3"/>
          <p:cNvSpPr>
            <a:spLocks noGrp="1"/>
          </p:cNvSpPr>
          <p:nvPr>
            <p:ph type="sldNum" idx="50"/>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7254BF89-F737-45D9-80F2-0E5EE7D76580}"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9" name="PlaceHolder 1"/>
          <p:cNvSpPr>
            <a:spLocks noGrp="1"/>
          </p:cNvSpPr>
          <p:nvPr>
            <p:ph type="sldImg"/>
          </p:nvPr>
        </p:nvSpPr>
        <p:spPr>
          <a:xfrm>
            <a:off x="0" y="0"/>
            <a:ext cx="0" cy="0"/>
          </a:xfrm>
          <a:prstGeom prst="rect">
            <a:avLst/>
          </a:prstGeom>
          <a:ln w="0">
            <a:noFill/>
          </a:ln>
        </p:spPr>
      </p:sp>
      <p:sp>
        <p:nvSpPr>
          <p:cNvPr id="3800" name="PlaceHolder 2"/>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tabLst>
                <a:tab algn="l" pos="0"/>
              </a:tabLst>
            </a:pPr>
            <a:r>
              <a:rPr lang="pl-PL" sz="2000" b="0" u="none" strike="noStrike">
                <a:solidFill>
                  <a:srgbClr val="000000"/>
                </a:solidFill>
                <a:effectLst/>
                <a:uFillTx/>
                <a:latin typeface="Arial"/>
              </a:rPr>
              <a:t>Na zakończenie chciałbym wrócić do myśli przewodniej dzisiejszego wykładu. Design to nie tylko to, jak coś wygląda. Design to przede wszystkim to, </a:t>
            </a:r>
            <a:r>
              <a:rPr lang="pl-PL" sz="2000" b="1" u="none" strike="noStrike">
                <a:solidFill>
                  <a:srgbClr val="000000"/>
                </a:solidFill>
                <a:effectLst/>
                <a:uFillTx/>
                <a:latin typeface="Arial"/>
              </a:rPr>
              <a:t>jak coś działa</a:t>
            </a:r>
            <a:r>
              <a:rPr lang="pl-PL" sz="2000" b="0" u="none" strike="noStrike">
                <a:solidFill>
                  <a:srgbClr val="000000"/>
                </a:solidFill>
                <a:effectLst/>
                <a:uFillTx/>
                <a:latin typeface="Arial"/>
              </a:rPr>
              <a:t>. To zdanie bywa często cytowane, ale naprawdę warto je traktować poważnie, szczególnie w kontekście tworzenia aplikacji mobilnych.</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Użytkownik bardzo rzadko chwali design wprost. Najczęściej po prostu czuje, że aplikacja jest wygodna, szybka, przewidywalna i przyjemna. I właśnie to jest najlepszy dowód na dobrze wykonaną pracę projektową.</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Zachęcam Państwa, aby po tym wykładzie zacząć patrzeć na aplikacje, z których korzystacie codziennie, bardziej analitycznie. Zastanówcie się, które decyzje wynikają z heurystyk, gdzie działa prawo Fittsa, jak zbudowano hierarchię wizualną i czy projekt respektuje standardy platformowe.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 następnym etapie warto będzie przełożyć tę wiedzę na praktykę implementacyjną, bo prawdziwa kompetencja inżynierska polega właśnie na tym, aby rozumieć zarówno technologię, jak i człowieka, który z niej korzysta.</a:t>
            </a:r>
            <a:endParaRPr lang="pl-PL" sz="2000" b="0" u="none" strike="noStrike">
              <a:solidFill>
                <a:srgbClr val="000000"/>
              </a:solidFill>
              <a:effectLst/>
              <a:uFillTx/>
              <a:latin typeface="Arial"/>
            </a:endParaRPr>
          </a:p>
        </p:txBody>
      </p:sp>
      <p:sp>
        <p:nvSpPr>
          <p:cNvPr id="3801" name="PlaceHolder 3"/>
          <p:cNvSpPr>
            <a:spLocks noGrp="1"/>
          </p:cNvSpPr>
          <p:nvPr>
            <p:ph type="sldNum" idx="51"/>
          </p:nvPr>
        </p:nvSpPr>
        <p:spPr>
          <a:xfrm>
            <a:off x="0" y="0"/>
            <a:ext cx="360" cy="360"/>
          </a:xfrm>
          <a:prstGeom prst="rect">
            <a:avLst/>
          </a:prstGeom>
          <a:noFill/>
          <a:ln w="0">
            <a:noFill/>
          </a:ln>
        </p:spPr>
        <p:txBody>
          <a:bodyPr lIns="90000" rIns="90000" tIns="-44640" bIns="-44640" anchor="t">
            <a:noAutofit/>
          </a:bodyPr>
          <a:lstStyle>
            <a:lvl1pPr indent="0" algn="r" defTabSz="914400">
              <a:lnSpc>
                <a:spcPct val="100000"/>
              </a:lnSpc>
              <a:buNone/>
              <a:tabLst>
                <a:tab algn="l" pos="0"/>
              </a:tabLst>
              <a:defRPr lang="pl-PL" sz="1800" b="0" u="none" strike="noStrike">
                <a:solidFill>
                  <a:schemeClr val="dk1"/>
                </a:solidFill>
                <a:effectLst/>
                <a:uFillTx/>
                <a:latin typeface="+mn-lt"/>
                <a:ea typeface="+mn-ea"/>
              </a:defRPr>
            </a:lvl1pPr>
          </a:lstStyle>
          <a:p>
            <a:pPr indent="0" algn="r" defTabSz="914400">
              <a:lnSpc>
                <a:spcPct val="100000"/>
              </a:lnSpc>
              <a:buNone/>
              <a:tabLst>
                <a:tab algn="l" pos="0"/>
              </a:tabLst>
            </a:pPr>
            <a:fld id="{3652003B-6718-4B16-97BC-59B7D5F40A0E}" type="slidenum">
              <a:rPr lang="pl-PL" sz="1800" b="0" u="none" strike="noStrike">
                <a:solidFill>
                  <a:schemeClr val="dk1"/>
                </a:solidFill>
                <a:effectLst/>
                <a:uFillTx/>
                <a:latin typeface="+mn-lt"/>
                <a:ea typeface="+mn-ea"/>
              </a:rPr>
              <a:t>&lt;numer&gt;</a:t>
            </a:fld>
            <a:endParaRPr lang="pl-PL" sz="18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2" name="Symbol zastępczy daty 2"/>
          <p:cNvSpPr/>
          <p:nvPr/>
        </p:nvSpPr>
        <p:spPr>
          <a:xfrm>
            <a:off x="2913120" y="0"/>
            <a:ext cx="2227680" cy="45756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tabLst>
                <a:tab algn="l" pos="0"/>
              </a:tabLst>
            </a:pPr>
            <a:fld id="{91220D26-A1F1-47A5-8371-79C8486F9955}" type="datetime1">
              <a:rPr lang="pl-PL" sz="1200" b="0" u="none" strike="noStrike">
                <a:solidFill>
                  <a:srgbClr val="000000"/>
                </a:solidFill>
                <a:effectLst/>
                <a:uFillTx/>
                <a:latin typeface="Calibri"/>
                <a:ea typeface="+mn-ea"/>
              </a:rPr>
              <a:t>18.03.2026</a:t>
            </a:fld>
            <a:endParaRPr lang="pl-PL" sz="1200" b="0" u="none" strike="noStrike">
              <a:solidFill>
                <a:srgbClr val="000000"/>
              </a:solidFill>
              <a:effectLst/>
              <a:uFillTx/>
              <a:latin typeface="Arial"/>
            </a:endParaRPr>
          </a:p>
        </p:txBody>
      </p:sp>
      <p:sp>
        <p:nvSpPr>
          <p:cNvPr id="3803" name="PlaceHolder 3"/>
          <p:cNvSpPr/>
          <p:nvPr/>
        </p:nvSpPr>
        <p:spPr>
          <a:xfrm>
            <a:off x="0" y="0"/>
            <a:ext cx="2227680" cy="45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000000"/>
                </a:solidFill>
                <a:effectLst/>
                <a:uFillTx/>
                <a:latin typeface="Calibri"/>
                <a:ea typeface="+mn-ea"/>
              </a:rPr>
              <a:t> </a:t>
            </a:r>
            <a:endParaRPr lang="pl-PL" sz="1200" b="0" u="none" strike="noStrike">
              <a:solidFill>
                <a:srgbClr val="000000"/>
              </a:solidFill>
              <a:effectLst/>
              <a:uFillTx/>
              <a:latin typeface="Arial"/>
            </a:endParaRPr>
          </a:p>
        </p:txBody>
      </p:sp>
      <p:sp>
        <p:nvSpPr>
          <p:cNvPr id="3804" name="PlaceHolder 4"/>
          <p:cNvSpPr/>
          <p:nvPr/>
        </p:nvSpPr>
        <p:spPr>
          <a:xfrm>
            <a:off x="2913120" y="0"/>
            <a:ext cx="2227680" cy="45756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lang="pl-PL" sz="1200" b="0" u="none" strike="noStrike">
                <a:solidFill>
                  <a:srgbClr val="000000"/>
                </a:solidFill>
                <a:effectLst/>
                <a:uFillTx/>
                <a:latin typeface="Calibri"/>
                <a:ea typeface="+mn-ea"/>
              </a:rPr>
              <a:t> </a:t>
            </a:r>
            <a:endParaRPr lang="pl-PL" sz="1200" b="0" u="none" strike="noStrike">
              <a:solidFill>
                <a:srgbClr val="000000"/>
              </a:solidFill>
              <a:effectLst/>
              <a:uFillTx/>
              <a:latin typeface="Arial"/>
            </a:endParaRPr>
          </a:p>
        </p:txBody>
      </p:sp>
      <p:sp>
        <p:nvSpPr>
          <p:cNvPr id="3805" name="PlaceHolder 5"/>
          <p:cNvSpPr/>
          <p:nvPr/>
        </p:nvSpPr>
        <p:spPr>
          <a:xfrm>
            <a:off x="0" y="10157400"/>
            <a:ext cx="3279600" cy="53316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lang="pl-PL" sz="1400" b="0" u="none" strike="noStrike">
                <a:solidFill>
                  <a:srgbClr val="000000"/>
                </a:solidFill>
                <a:effectLst/>
                <a:uFillTx/>
                <a:latin typeface="Times New Roman"/>
                <a:ea typeface="DejaVu Sans"/>
              </a:rPr>
              <a:t> </a:t>
            </a:r>
            <a:endParaRPr lang="pl-PL" sz="1400" b="0" u="none" strike="noStrike">
              <a:solidFill>
                <a:srgbClr val="000000"/>
              </a:solidFill>
              <a:effectLst/>
              <a:uFillTx/>
              <a:latin typeface="Arial"/>
            </a:endParaRPr>
          </a:p>
        </p:txBody>
      </p:sp>
      <p:sp>
        <p:nvSpPr>
          <p:cNvPr id="3806" name="PlaceHolder 6"/>
          <p:cNvSpPr/>
          <p:nvPr/>
        </p:nvSpPr>
        <p:spPr>
          <a:xfrm>
            <a:off x="4278960" y="10157400"/>
            <a:ext cx="3279600" cy="533160"/>
          </a:xfrm>
          <a:prstGeom prst="rect">
            <a:avLst/>
          </a:prstGeom>
          <a:noFill/>
          <a:ln w="0">
            <a:noFill/>
          </a:ln>
        </p:spPr>
        <p:style>
          <a:lnRef idx="0"/>
          <a:fillRef idx="0"/>
          <a:effectRef idx="0"/>
          <a:fontRef idx="minor"/>
        </p:style>
        <p:txBody>
          <a:bodyPr lIns="0" rIns="0" tIns="0" bIns="0" anchor="b">
            <a:noAutofit/>
          </a:bodyPr>
          <a:p>
            <a:pPr algn="r" defTabSz="914400">
              <a:lnSpc>
                <a:spcPct val="100000"/>
              </a:lnSpc>
              <a:tabLst>
                <a:tab algn="l" pos="0"/>
              </a:tabLst>
            </a:pPr>
            <a:fld id="{E0306F39-4DFA-4FFB-A43C-03011E787D51}" type="slidenum">
              <a:rPr lang="pl-PL" sz="1800" b="0" u="none" strike="noStrike">
                <a:solidFill>
                  <a:srgbClr val="000000"/>
                </a:solidFill>
                <a:effectLst/>
                <a:uFillTx/>
                <a:latin typeface="+mn-lt"/>
                <a:ea typeface="+mn-ea"/>
              </a:rPr>
              <a:t>&lt;numer&gt;</a:t>
            </a:fld>
            <a:endParaRPr lang="pl-PL" sz="1800" b="0" u="none" strike="noStrike">
              <a:solidFill>
                <a:srgbClr val="000000"/>
              </a:solidFill>
              <a:effectLst/>
              <a:uFillTx/>
              <a:latin typeface="Arial"/>
            </a:endParaRPr>
          </a:p>
        </p:txBody>
      </p:sp>
      <p:sp>
        <p:nvSpPr>
          <p:cNvPr id="3807" name="Symbol zastępczy numeru slajdu 6"/>
          <p:cNvSpPr/>
          <p:nvPr/>
        </p:nvSpPr>
        <p:spPr>
          <a:xfrm>
            <a:off x="4278960" y="10157400"/>
            <a:ext cx="3279600" cy="533160"/>
          </a:xfrm>
          <a:prstGeom prst="rect">
            <a:avLst/>
          </a:prstGeom>
          <a:noFill/>
          <a:ln w="0">
            <a:noFill/>
          </a:ln>
        </p:spPr>
        <p:style>
          <a:lnRef idx="0"/>
          <a:fillRef idx="0"/>
          <a:effectRef idx="0"/>
          <a:fontRef idx="minor"/>
        </p:style>
        <p:txBody>
          <a:bodyPr lIns="90000" rIns="90000" tIns="45000" bIns="45000" anchor="b">
            <a:noAutofit/>
          </a:bodyPr>
          <a:p>
            <a:pPr algn="r" defTabSz="914400">
              <a:lnSpc>
                <a:spcPct val="100000"/>
              </a:lnSpc>
              <a:tabLst>
                <a:tab algn="l" pos="0"/>
              </a:tabLst>
            </a:pPr>
            <a:fld id="{3B8EB6CE-1302-4301-8C18-AA1B7E700ABB}" type="slidenum">
              <a:rPr lang="pl-PL" sz="1800" b="0" u="none" strike="noStrike">
                <a:solidFill>
                  <a:srgbClr val="000000"/>
                </a:solidFill>
                <a:effectLst/>
                <a:uFillTx/>
                <a:latin typeface="+mn-lt"/>
                <a:ea typeface="+mn-ea"/>
              </a:rPr>
              <a:t>&lt;numer&gt;</a:t>
            </a:fld>
            <a:endParaRPr lang="pl-PL" sz="1800" b="0" u="none" strike="noStrike">
              <a:solidFill>
                <a:srgbClr val="000000"/>
              </a:solidFill>
              <a:effectLst/>
              <a:uFillTx/>
              <a:latin typeface="Arial"/>
            </a:endParaRPr>
          </a:p>
        </p:txBody>
      </p:sp>
      <p:sp>
        <p:nvSpPr>
          <p:cNvPr id="3808" name="PlaceHolder 1"/>
          <p:cNvSpPr>
            <a:spLocks noGrp="1"/>
          </p:cNvSpPr>
          <p:nvPr>
            <p:ph type="sldImg"/>
          </p:nvPr>
        </p:nvSpPr>
        <p:spPr>
          <a:xfrm>
            <a:off x="685800" y="1143000"/>
            <a:ext cx="5485320" cy="3085200"/>
          </a:xfrm>
          <a:prstGeom prst="rect">
            <a:avLst/>
          </a:prstGeom>
          <a:ln w="0">
            <a:noFill/>
          </a:ln>
        </p:spPr>
      </p:sp>
      <p:sp>
        <p:nvSpPr>
          <p:cNvPr id="3809" name="PlaceHolder 2"/>
          <p:cNvSpPr>
            <a:spLocks noGrp="1"/>
          </p:cNvSpPr>
          <p:nvPr>
            <p:ph type="body"/>
          </p:nvPr>
        </p:nvSpPr>
        <p:spPr>
          <a:xfrm>
            <a:off x="685800" y="4400640"/>
            <a:ext cx="5484600" cy="3598560"/>
          </a:xfrm>
          <a:prstGeom prst="rect">
            <a:avLst/>
          </a:prstGeom>
          <a:noFill/>
          <a:ln w="0">
            <a:noFill/>
          </a:ln>
        </p:spPr>
        <p:txBody>
          <a:bodyPr lIns="90000" rIns="90000" tIns="45000" bIns="45000" anchor="t">
            <a:noAutofit/>
          </a:bodyPr>
          <a:p>
            <a:pPr indent="0">
              <a:lnSpc>
                <a:spcPct val="100000"/>
              </a:lnSpc>
              <a:buNone/>
              <a:tabLst>
                <a:tab algn="l" pos="0"/>
              </a:tabLst>
            </a:pPr>
            <a:r>
              <a:rPr lang="pl-PL" sz="2000" b="0" u="none" strike="noStrike">
                <a:solidFill>
                  <a:srgbClr val="000000"/>
                </a:solidFill>
                <a:effectLst/>
                <a:uFillTx/>
                <a:latin typeface="Arial"/>
              </a:rPr>
              <a:t>Najważniejszym trendem w rozwoju urządzeń mobilnych jest obecnie </a:t>
            </a:r>
            <a:r>
              <a:rPr lang="pl-PL" sz="2000" b="1" u="none" strike="noStrike">
                <a:solidFill>
                  <a:srgbClr val="000000"/>
                </a:solidFill>
                <a:effectLst/>
                <a:uFillTx/>
                <a:latin typeface="Arial"/>
              </a:rPr>
              <a:t>sztuczna inteligencja działająca bezpośrednio na urządzeniu</a:t>
            </a:r>
            <a:r>
              <a:rPr lang="pl-PL" sz="2000" b="0" u="none" strike="noStrike">
                <a:solidFill>
                  <a:srgbClr val="000000"/>
                </a:solidFill>
                <a:effectLst/>
                <a:uFillTx/>
                <a:latin typeface="Arial"/>
              </a:rPr>
              <a:t>.</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Dzięki coraz bardziej wydajnym akceleratorom AI możliwe jest uruchamianie modeli językowych oraz modeli generatywnych bezpośrednio na smartfonie.</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Drugim ważnym trendem jest dalsza miniaturyzacja układów scalonych. Nowoczesne procesory mobilne są produkowane w procesach technologicznych rzędu kilku nanometrów.</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Rozwijają się również technologie komunikacyjne, w tym </a:t>
            </a:r>
            <a:r>
              <a:rPr lang="pl-PL" sz="2000" b="1" u="none" strike="noStrike">
                <a:solidFill>
                  <a:srgbClr val="000000"/>
                </a:solidFill>
                <a:effectLst/>
                <a:uFillTx/>
                <a:latin typeface="Arial"/>
              </a:rPr>
              <a:t>łączność satelitarna</a:t>
            </a:r>
            <a:r>
              <a:rPr lang="pl-PL" sz="2000" b="0" u="none" strike="noStrike">
                <a:solidFill>
                  <a:srgbClr val="000000"/>
                </a:solidFill>
                <a:effectLst/>
                <a:uFillTx/>
                <a:latin typeface="Arial"/>
              </a:rPr>
              <a:t>, która umożliwia wysyłanie wiadomości nawet poza zasięgiem sieci komórkowych.</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_______</a:t>
            </a:r>
            <a:endParaRPr lang="pl-PL" sz="2000" b="0" u="none" strike="noStrike">
              <a:solidFill>
                <a:srgbClr val="000000"/>
              </a:solidFill>
              <a:effectLst/>
              <a:uFillTx/>
              <a:latin typeface="Arial"/>
            </a:endParaRPr>
          </a:p>
          <a:p>
            <a:pPr indent="0">
              <a:lnSpc>
                <a:spcPct val="100000"/>
              </a:lnSpc>
              <a:buNone/>
              <a:tabLst>
                <a:tab algn="l" pos="0"/>
              </a:tabLst>
            </a:pPr>
            <a:r>
              <a:rPr lang="pl-PL" sz="2000" b="0" u="none" strike="noStrike">
                <a:solidFill>
                  <a:srgbClr val="000000"/>
                </a:solidFill>
                <a:effectLst/>
                <a:uFillTx/>
                <a:latin typeface="Arial"/>
              </a:rPr>
              <a:t>Najważniejsze trendy rozwoju technologii mobilnych to:</a:t>
            </a:r>
            <a:endParaRPr lang="pl-PL" sz="2000" b="0" u="none" strike="noStrike">
              <a:solidFill>
                <a:srgbClr val="000000"/>
              </a:solidFill>
              <a:effectLst/>
              <a:uFillTx/>
              <a:latin typeface="Arial"/>
            </a:endParaRPr>
          </a:p>
          <a:p>
            <a:pPr marL="343080" indent="-343080">
              <a:lnSpc>
                <a:spcPct val="100000"/>
              </a:lnSpc>
              <a:buClr>
                <a:srgbClr val="000000"/>
              </a:buClr>
              <a:buFont typeface="Arial"/>
              <a:buChar char="•"/>
              <a:tabLst>
                <a:tab algn="l" pos="0"/>
              </a:tabLst>
            </a:pPr>
            <a:r>
              <a:rPr lang="pl-PL" sz="2000" b="0" u="none" strike="noStrike">
                <a:solidFill>
                  <a:srgbClr val="000000"/>
                </a:solidFill>
                <a:effectLst/>
                <a:uFillTx/>
                <a:latin typeface="Arial"/>
              </a:rPr>
              <a:t>AI działające bezpośrednio na urządzeniu</a:t>
            </a:r>
            <a:endParaRPr lang="pl-PL" sz="2000" b="0" u="none" strike="noStrike">
              <a:solidFill>
                <a:srgbClr val="000000"/>
              </a:solidFill>
              <a:effectLst/>
              <a:uFillTx/>
              <a:latin typeface="Arial"/>
            </a:endParaRPr>
          </a:p>
          <a:p>
            <a:pPr marL="343080" indent="-343080">
              <a:lnSpc>
                <a:spcPct val="100000"/>
              </a:lnSpc>
              <a:buClr>
                <a:srgbClr val="000000"/>
              </a:buClr>
              <a:buFont typeface="Arial"/>
              <a:buChar char="•"/>
              <a:tabLst>
                <a:tab algn="l" pos="0"/>
              </a:tabLst>
            </a:pPr>
            <a:r>
              <a:rPr lang="pl-PL" sz="2000" b="0" u="none" strike="noStrike">
                <a:solidFill>
                  <a:srgbClr val="000000"/>
                </a:solidFill>
                <a:effectLst/>
                <a:uFillTx/>
                <a:latin typeface="Arial"/>
              </a:rPr>
              <a:t>szybsze ładowanie</a:t>
            </a:r>
            <a:endParaRPr lang="pl-PL" sz="2000" b="0" u="none" strike="noStrike">
              <a:solidFill>
                <a:srgbClr val="000000"/>
              </a:solidFill>
              <a:effectLst/>
              <a:uFillTx/>
              <a:latin typeface="Arial"/>
            </a:endParaRPr>
          </a:p>
          <a:p>
            <a:pPr marL="343080" indent="-343080">
              <a:lnSpc>
                <a:spcPct val="100000"/>
              </a:lnSpc>
              <a:buClr>
                <a:srgbClr val="000000"/>
              </a:buClr>
              <a:buFont typeface="Arial"/>
              <a:buChar char="•"/>
              <a:tabLst>
                <a:tab algn="l" pos="0"/>
              </a:tabLst>
            </a:pPr>
            <a:r>
              <a:rPr lang="pl-PL" sz="2000" b="0" u="none" strike="noStrike">
                <a:solidFill>
                  <a:srgbClr val="000000"/>
                </a:solidFill>
                <a:effectLst/>
                <a:uFillTx/>
                <a:latin typeface="Arial"/>
              </a:rPr>
              <a:t>nowe technologie półprzewodnikowe.</a:t>
            </a:r>
            <a:endParaRPr lang="pl-PL" sz="2000" b="0" u="none" strike="noStrike">
              <a:solidFill>
                <a:srgbClr val="000000"/>
              </a:solidFill>
              <a:effectLst/>
              <a:uFillTx/>
              <a:latin typeface="Arial"/>
            </a:endParaRPr>
          </a:p>
          <a:p>
            <a:pPr indent="0">
              <a:lnSpc>
                <a:spcPct val="100000"/>
              </a:lnSpc>
              <a:buNone/>
              <a:tabLst>
                <a:tab algn="l" pos="0"/>
              </a:tabLst>
            </a:pPr>
            <a:endParaRPr lang="pl-PL" sz="2000" b="0" u="none" strike="noStrike">
              <a:solidFill>
                <a:srgbClr val="000000"/>
              </a:solidFill>
              <a:effectLst/>
              <a:uFillTx/>
              <a:latin typeface="Arial"/>
            </a:endParaRPr>
          </a:p>
        </p:txBody>
      </p:sp>
      <p:sp>
        <p:nvSpPr>
          <p:cNvPr id="3810" name="PlaceHolder 3"/>
          <p:cNvSpPr/>
          <p:nvPr/>
        </p:nvSpPr>
        <p:spPr>
          <a:xfrm>
            <a:off x="3884760" y="8685360"/>
            <a:ext cx="2970000" cy="456840"/>
          </a:xfrm>
          <a:prstGeom prst="rect">
            <a:avLst/>
          </a:prstGeom>
          <a:noFill/>
          <a:ln w="0">
            <a:noFill/>
          </a:ln>
        </p:spPr>
        <p:style>
          <a:lnRef idx="0"/>
          <a:fillRef idx="0"/>
          <a:effectRef idx="0"/>
          <a:fontRef idx="minor"/>
        </p:style>
        <p:txBody>
          <a:bodyPr lIns="90000" rIns="90000" tIns="45000" bIns="45000" anchor="b">
            <a:noAutofit/>
          </a:bodyPr>
          <a:p>
            <a:pPr algn="r" defTabSz="914400">
              <a:lnSpc>
                <a:spcPct val="100000"/>
              </a:lnSpc>
              <a:tabLst>
                <a:tab algn="l" pos="0"/>
              </a:tabLst>
            </a:pPr>
            <a:fld id="{282A69C8-EB07-4DFB-BB9A-9B1272706D40}" type="slidenum">
              <a:rPr lang="pl-PL" sz="1800" b="0" u="none" strike="noStrike">
                <a:solidFill>
                  <a:srgbClr val="000000"/>
                </a:solidFill>
                <a:effectLst/>
                <a:uFillTx/>
                <a:latin typeface="+mn-lt"/>
                <a:ea typeface="+mn-ea"/>
              </a:rPr>
              <a:t>&lt;numer&gt;</a:t>
            </a:fld>
            <a:endParaRPr lang="pl-PL" sz="1800" b="0" u="none" strike="noStrike">
              <a:solidFill>
                <a:srgbClr val="000000"/>
              </a:solidFill>
              <a:effectLst/>
              <a:uFillTx/>
              <a:latin typeface="Arial"/>
            </a:endParaRPr>
          </a:p>
        </p:txBody>
      </p:sp>
      <p:sp>
        <p:nvSpPr>
          <p:cNvPr id="3811" name="Symbol zastępczy numeru slajdu 4"/>
          <p:cNvSpPr/>
          <p:nvPr/>
        </p:nvSpPr>
        <p:spPr>
          <a:xfrm>
            <a:off x="4278960" y="10157400"/>
            <a:ext cx="3279600" cy="533160"/>
          </a:xfrm>
          <a:prstGeom prst="rect">
            <a:avLst/>
          </a:prstGeom>
          <a:noFill/>
          <a:ln w="0">
            <a:noFill/>
          </a:ln>
        </p:spPr>
        <p:style>
          <a:lnRef idx="0"/>
          <a:fillRef idx="0"/>
          <a:effectRef idx="0"/>
          <a:fontRef idx="minor"/>
        </p:style>
        <p:txBody>
          <a:bodyPr lIns="0" rIns="0" tIns="0" bIns="0" anchor="b">
            <a:noAutofit/>
          </a:bodyPr>
          <a:p>
            <a:pPr algn="r" defTabSz="914400">
              <a:lnSpc>
                <a:spcPct val="100000"/>
              </a:lnSpc>
              <a:tabLst>
                <a:tab algn="l" pos="0"/>
              </a:tabLst>
            </a:pPr>
            <a:fld id="{B226A5BF-8A82-4FD0-B2E4-8478039D63DD}" type="slidenum">
              <a:rPr lang="pl-PL" sz="1800" b="0" u="none" strike="noStrike">
                <a:solidFill>
                  <a:srgbClr val="000000"/>
                </a:solidFill>
                <a:effectLst/>
                <a:uFillTx/>
                <a:latin typeface="+mn-lt"/>
                <a:ea typeface="+mn-ea"/>
              </a:rPr>
              <a:t>&lt;numer&gt;</a:t>
            </a:fld>
            <a:endParaRPr lang="pl-PL" sz="18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8880" cy="274680"/>
          </a:xfrm>
          <a:prstGeom prst="rect">
            <a:avLst/>
          </a:prstGeom>
          <a:noFill/>
          <a:ln w="0">
            <a:noFill/>
          </a:ln>
        </p:spPr>
        <p:txBody>
          <a:bodyPr lIns="0" rIns="0" tIns="0" bIns="0" anchor="ctr">
            <a:spAutoFit/>
          </a:bodyPr>
          <a:p>
            <a:pPr indent="0">
              <a:buNone/>
            </a:pPr>
            <a:r>
              <a:rPr lang="pl-PL" sz="1800" b="0" u="none" strike="noStrike">
                <a:solidFill>
                  <a:srgbClr val="000000"/>
                </a:solidFill>
                <a:effectLst/>
                <a:uFillTx/>
                <a:latin typeface="Arial"/>
              </a:rPr>
              <a:t>Kliknij, aby edytować format tekstu tytułu</a:t>
            </a:r>
            <a:endParaRPr lang="pl-PL" sz="18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omyślny">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lang="pl-PL" sz="4400" b="0" u="none" strike="noStrike">
                <a:solidFill>
                  <a:srgbClr val="000000"/>
                </a:solidFill>
                <a:effectLst/>
                <a:uFillTx/>
                <a:latin typeface="Arial"/>
              </a:rPr>
              <a:t>Kliknij, aby edytować format tekstu tytułu</a:t>
            </a:r>
            <a:endParaRPr lang="pl-PL" sz="4400" b="0" u="none" strike="noStrike">
              <a:solidFill>
                <a:srgbClr val="000000"/>
              </a:solidFill>
              <a:effectLst/>
              <a:uFillTx/>
              <a:latin typeface="Arial"/>
            </a:endParaRPr>
          </a:p>
        </p:txBody>
      </p:sp>
      <p:sp>
        <p:nvSpPr>
          <p:cNvPr id="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lang="pl-PL" sz="3200" b="0" u="none" strike="noStrike">
                <a:solidFill>
                  <a:srgbClr val="000000"/>
                </a:solidFill>
                <a:effectLst/>
                <a:uFillTx/>
                <a:latin typeface="Arial"/>
              </a:rPr>
              <a:t>Kliknij, aby edytować format tekstu konspektu</a:t>
            </a:r>
            <a:endParaRPr lang="pl-PL"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pl-PL" sz="2800" b="0" u="none" strike="noStrike">
                <a:solidFill>
                  <a:srgbClr val="000000"/>
                </a:solidFill>
                <a:effectLst/>
                <a:uFillTx/>
                <a:latin typeface="Arial"/>
              </a:rPr>
              <a:t>Drugi poziom konspektu</a:t>
            </a:r>
            <a:endParaRPr lang="pl-PL"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pl-PL" sz="2400" b="0" u="none" strike="noStrike">
                <a:solidFill>
                  <a:srgbClr val="000000"/>
                </a:solidFill>
                <a:effectLst/>
                <a:uFillTx/>
                <a:latin typeface="Arial"/>
              </a:rPr>
              <a:t>Trzeci poziom konspektu</a:t>
            </a:r>
            <a:endParaRPr lang="pl-PL"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pl-PL" sz="2000" b="0" u="none" strike="noStrike">
                <a:solidFill>
                  <a:srgbClr val="000000"/>
                </a:solidFill>
                <a:effectLst/>
                <a:uFillTx/>
                <a:latin typeface="Arial"/>
              </a:rPr>
              <a:t>Czwarty poziom konspektu</a:t>
            </a:r>
            <a:endParaRPr lang="pl-PL"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Piąty poziom konspektu</a:t>
            </a:r>
            <a:endParaRPr lang="pl-PL"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Szósty poziom konspektu</a:t>
            </a:r>
            <a:endParaRPr lang="pl-PL"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Siódmy poziom konspektu</a:t>
            </a:r>
            <a:endParaRPr lang="pl-PL"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omyślny 1">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8600"/>
          </a:xfrm>
          <a:prstGeom prst="rect">
            <a:avLst/>
          </a:prstGeom>
          <a:noFill/>
          <a:ln w="0">
            <a:noFill/>
          </a:ln>
        </p:spPr>
        <p:txBody>
          <a:bodyPr lIns="0" rIns="0" tIns="0" bIns="0" anchor="ctr">
            <a:spAutoFit/>
          </a:bodyPr>
          <a:p>
            <a:pPr indent="0" algn="ctr">
              <a:buNone/>
            </a:pPr>
            <a:endParaRPr lang="pl-PL" sz="4400" b="0" u="none" strike="noStrike">
              <a:solidFill>
                <a:srgbClr val="000000"/>
              </a:solidFill>
              <a:effectLst/>
              <a:uFillTx/>
              <a:latin typeface="Arial"/>
            </a:endParaRPr>
          </a:p>
        </p:txBody>
      </p:sp>
      <p:sp>
        <p:nvSpPr>
          <p:cNvPr id="8" name="PlaceHolder 2"/>
          <p:cNvSpPr>
            <a:spLocks noGrp="1"/>
          </p:cNvSpPr>
          <p:nvPr>
            <p:ph type="subTitle"/>
          </p:nvPr>
        </p:nvSpPr>
        <p:spPr>
          <a:xfrm>
            <a:off x="457200" y="1203480"/>
            <a:ext cx="8229240" cy="2982960"/>
          </a:xfrm>
          <a:prstGeom prst="rect">
            <a:avLst/>
          </a:prstGeom>
          <a:noFill/>
          <a:ln w="0">
            <a:noFill/>
          </a:ln>
        </p:spPr>
        <p:txBody>
          <a:bodyPr lIns="0" rIns="0" tIns="0" bIns="0" anchor="ctr">
            <a:spAutoFit/>
          </a:bodyPr>
          <a:p>
            <a:pPr indent="0" algn="ctr">
              <a:buNone/>
            </a:pPr>
            <a:endParaRPr lang="pl-PL" sz="32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usty">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05200"/>
            <a:ext cx="8229240" cy="858600"/>
          </a:xfrm>
          <a:prstGeom prst="rect">
            <a:avLst/>
          </a:prstGeom>
          <a:noFill/>
          <a:ln w="0">
            <a:noFill/>
          </a:ln>
        </p:spPr>
        <p:txBody>
          <a:bodyPr lIns="0" rIns="0" tIns="0" bIns="0" anchor="ctr">
            <a:spAutoFit/>
          </a:bodyPr>
          <a:p>
            <a:pPr indent="0" algn="ctr">
              <a:buNone/>
            </a:pPr>
            <a:endParaRPr lang="pl-PL" sz="4400" b="0" u="none" strike="noStrike">
              <a:solidFill>
                <a:srgbClr val="000000"/>
              </a:solidFill>
              <a:effectLst/>
              <a:uFillTx/>
              <a:latin typeface="Arial"/>
            </a:endParaRPr>
          </a:p>
        </p:txBody>
      </p:sp>
      <p:sp>
        <p:nvSpPr>
          <p:cNvPr id="15" name="PlaceHolder 2"/>
          <p:cNvSpPr>
            <a:spLocks noGrp="1"/>
          </p:cNvSpPr>
          <p:nvPr>
            <p:ph type="subTitle"/>
          </p:nvPr>
        </p:nvSpPr>
        <p:spPr>
          <a:xfrm>
            <a:off x="457200" y="1203480"/>
            <a:ext cx="8229240" cy="2982960"/>
          </a:xfrm>
          <a:prstGeom prst="rect">
            <a:avLst/>
          </a:prstGeom>
          <a:noFill/>
          <a:ln w="0">
            <a:noFill/>
          </a:ln>
        </p:spPr>
        <p:txBody>
          <a:bodyPr lIns="0" rIns="0" tIns="0" bIns="0" anchor="ctr">
            <a:spAutoFit/>
          </a:bodyPr>
          <a:p>
            <a:pPr indent="0" algn="ctr">
              <a:buNone/>
            </a:pPr>
            <a:endParaRPr lang="pl-PL"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8E39C03-F859-4447-99E6-77237D2336AC}" type="slidenum">
              <a:t>&lt;#&gt;</a:t>
            </a:fld>
          </a:p>
        </p:txBody>
      </p:sp>
      <p:sp>
        <p:nvSpPr>
          <p:cNvPr id="6" name="PlaceHolder 5"/>
          <p:cNvSpPr>
            <a:spLocks noGrp="1"/>
          </p:cNvSpPr>
          <p:nvPr>
            <p:ph type="dt" idx="3"/>
          </p:nvPr>
        </p:nvSpPr>
        <p:spPr/>
        <p:txBody>
          <a:bodyPr/>
          <a:p>
            <a:r>
              <a:rPr lang="pl-PL"/>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usty">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B5A2437-E662-48B2-A2DD-C92E415277CF}" type="slidenum">
              <a:t>&lt;#&gt;</a:t>
            </a:fld>
          </a:p>
        </p:txBody>
      </p:sp>
      <p:sp>
        <p:nvSpPr>
          <p:cNvPr id="4" name="PlaceHolder 3"/>
          <p:cNvSpPr>
            <a:spLocks noGrp="1"/>
          </p:cNvSpPr>
          <p:nvPr>
            <p:ph type="dt" idx="3"/>
          </p:nvPr>
        </p:nvSpPr>
        <p:spPr/>
        <p:txBody>
          <a:bodyPr/>
          <a:p>
            <a:r>
              <a:rPr lang="pl-PL"/>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496800"/>
            <a:ext cx="8228880" cy="274680"/>
          </a:xfrm>
          <a:prstGeom prst="rect">
            <a:avLst/>
          </a:prstGeom>
          <a:noFill/>
          <a:ln w="0">
            <a:noFill/>
          </a:ln>
        </p:spPr>
        <p:txBody>
          <a:bodyPr lIns="0" rIns="0" tIns="0" bIns="0" anchor="ctr">
            <a:spAutoFit/>
          </a:bodyPr>
          <a:p>
            <a:pPr indent="0">
              <a:buNone/>
            </a:pPr>
            <a:r>
              <a:rPr lang="pl-PL" sz="1800" b="0" u="none" strike="noStrike">
                <a:solidFill>
                  <a:srgbClr val="000000"/>
                </a:solidFill>
                <a:effectLst/>
                <a:uFillTx/>
                <a:latin typeface="Arial"/>
              </a:rPr>
              <a:t>Kliknij, aby edytować format tekstu tytułu</a:t>
            </a:r>
            <a:endParaRPr lang="pl-PL" sz="1800" b="0" u="none" strike="noStrike">
              <a:solidFill>
                <a:srgbClr val="000000"/>
              </a:solidFill>
              <a:effectLst/>
              <a:uFillTx/>
              <a:latin typeface="Arial"/>
            </a:endParaRP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lang="pl-PL" sz="3200" b="0" u="none" strike="noStrike">
                <a:solidFill>
                  <a:srgbClr val="000000"/>
                </a:solidFill>
                <a:effectLst/>
                <a:uFillTx/>
                <a:latin typeface="Arial"/>
              </a:rPr>
              <a:t>Kliknij, aby edytować format tekstu konspektu</a:t>
            </a:r>
            <a:endParaRPr lang="pl-PL"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pl-PL" sz="2800" b="0" u="none" strike="noStrike">
                <a:solidFill>
                  <a:srgbClr val="000000"/>
                </a:solidFill>
                <a:effectLst/>
                <a:uFillTx/>
                <a:latin typeface="Arial"/>
              </a:rPr>
              <a:t>Drugi poziom konspektu</a:t>
            </a:r>
            <a:endParaRPr lang="pl-PL"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pl-PL" sz="2400" b="0" u="none" strike="noStrike">
                <a:solidFill>
                  <a:srgbClr val="000000"/>
                </a:solidFill>
                <a:effectLst/>
                <a:uFillTx/>
                <a:latin typeface="Arial"/>
              </a:rPr>
              <a:t>Trzeci poziom konspektu</a:t>
            </a:r>
            <a:endParaRPr lang="pl-PL"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pl-PL" sz="2000" b="0" u="none" strike="noStrike">
                <a:solidFill>
                  <a:srgbClr val="000000"/>
                </a:solidFill>
                <a:effectLst/>
                <a:uFillTx/>
                <a:latin typeface="Arial"/>
              </a:rPr>
              <a:t>Czwarty poziom konspektu</a:t>
            </a:r>
            <a:endParaRPr lang="pl-PL"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Piąty poziom konspektu</a:t>
            </a:r>
            <a:endParaRPr lang="pl-PL"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Szósty poziom konspektu</a:t>
            </a:r>
            <a:endParaRPr lang="pl-PL"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Siódmy poziom konspektu</a:t>
            </a:r>
            <a:endParaRPr lang="pl-PL"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2"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1"/>
          </p:nvPr>
        </p:nvSpPr>
        <p:spPr>
          <a:xfrm>
            <a:off x="0" y="0"/>
            <a:ext cx="360" cy="360"/>
          </a:xfrm>
          <a:prstGeom prst="rect">
            <a:avLst/>
          </a:prstGeom>
          <a:noFill/>
          <a:ln w="0">
            <a:noFill/>
          </a:ln>
        </p:spPr>
        <p:txBody>
          <a:bodyPr lIns="90000" rIns="90000" tIns="-44640" bIns="-44640" anchor="t">
            <a:noAutofit/>
          </a:bodyPr>
          <a:lstStyle>
            <a:lvl1pPr indent="0" algn="ctr">
              <a:lnSpc>
                <a:spcPct val="100000"/>
              </a:lnSpc>
              <a:buNone/>
              <a:tabLst>
                <a:tab algn="l" pos="0"/>
              </a:tabLst>
              <a:defRPr lang="pl-PL" sz="1400" b="0" u="none" strike="noStrike">
                <a:solidFill>
                  <a:srgbClr val="000000"/>
                </a:solidFill>
                <a:effectLst/>
                <a:uFillTx/>
                <a:latin typeface="Times New Roman"/>
              </a:defRPr>
            </a:lvl1pPr>
          </a:lstStyle>
          <a:p>
            <a:pPr indent="0" algn="ctr">
              <a:lnSpc>
                <a:spcPct val="100000"/>
              </a:lnSpc>
              <a:buNone/>
              <a:tabLst>
                <a:tab algn="l" pos="0"/>
              </a:tabLst>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10" name="PlaceHolder 2"/>
          <p:cNvSpPr>
            <a:spLocks noGrp="1"/>
          </p:cNvSpPr>
          <p:nvPr>
            <p:ph type="sldNum" idx="2"/>
          </p:nvPr>
        </p:nvSpPr>
        <p:spPr>
          <a:xfrm>
            <a:off x="0" y="0"/>
            <a:ext cx="360" cy="360"/>
          </a:xfrm>
          <a:prstGeom prst="rect">
            <a:avLst/>
          </a:prstGeom>
          <a:noFill/>
          <a:ln w="0">
            <a:noFill/>
          </a:ln>
        </p:spPr>
        <p:txBody>
          <a:bodyPr lIns="90000" rIns="90000" tIns="-44640" bIns="-44640" anchor="t">
            <a:noAutofit/>
          </a:bodyPr>
          <a:lstStyle>
            <a:lvl1pPr indent="0" defTabSz="914400">
              <a:lnSpc>
                <a:spcPct val="100000"/>
              </a:lnSpc>
              <a:buNone/>
              <a:tabLst>
                <a:tab algn="l" pos="0"/>
              </a:tabLst>
              <a:defRPr lang="pl-PL" sz="1800" b="0" u="none" strike="noStrike">
                <a:solidFill>
                  <a:schemeClr val="dk1"/>
                </a:solidFill>
                <a:effectLst/>
                <a:uFillTx/>
                <a:latin typeface="Calibri"/>
              </a:defRPr>
            </a:lvl1pPr>
          </a:lstStyle>
          <a:p>
            <a:pPr indent="0" defTabSz="914400">
              <a:lnSpc>
                <a:spcPct val="100000"/>
              </a:lnSpc>
              <a:buNone/>
              <a:tabLst>
                <a:tab algn="l" pos="0"/>
              </a:tabLst>
            </a:pPr>
            <a:fld id="{06AD8650-00F5-4795-A36C-6BAE08E8C831}" type="slidenum">
              <a:rPr lang="pl-PL" sz="1800" b="0" u="none" strike="noStrike">
                <a:solidFill>
                  <a:schemeClr val="dk1"/>
                </a:solidFill>
                <a:effectLst/>
                <a:uFillTx/>
                <a:latin typeface="Calibri"/>
              </a:rPr>
              <a:t>1</a:t>
            </a:fld>
            <a:endParaRPr lang="pl-PL" sz="1800" b="0" u="none" strike="noStrike">
              <a:solidFill>
                <a:srgbClr val="000000"/>
              </a:solidFill>
              <a:effectLst/>
              <a:uFillTx/>
              <a:latin typeface="Times New Roman"/>
            </a:endParaRPr>
          </a:p>
        </p:txBody>
      </p:sp>
      <p:sp>
        <p:nvSpPr>
          <p:cNvPr id="11" name="PlaceHolder 3"/>
          <p:cNvSpPr>
            <a:spLocks noGrp="1"/>
          </p:cNvSpPr>
          <p:nvPr>
            <p:ph type="dt" idx="3"/>
          </p:nvPr>
        </p:nvSpPr>
        <p:spPr>
          <a:xfrm>
            <a:off x="0" y="0"/>
            <a:ext cx="360" cy="360"/>
          </a:xfrm>
          <a:prstGeom prst="rect">
            <a:avLst/>
          </a:prstGeom>
          <a:noFill/>
          <a:ln w="0">
            <a:noFill/>
          </a:ln>
        </p:spPr>
        <p:txBody>
          <a:bodyPr lIns="90000" rIns="90000" tIns="-44640" bIns="-44640" anchor="t">
            <a:noAutofit/>
          </a:bodyPr>
          <a:lstStyle>
            <a:lvl1pPr indent="0">
              <a:buNone/>
              <a:defRPr lang="pl-PL" sz="1400" b="0" u="none" strike="noStrike">
                <a:solidFill>
                  <a:srgbClr val="000000"/>
                </a:solidFill>
                <a:effectLst/>
                <a:uFillTx/>
                <a:latin typeface="Times New Roman"/>
              </a:defRPr>
            </a:lvl1pPr>
          </a:lstStyle>
          <a:p>
            <a:pPr indent="0">
              <a:buNone/>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12" name="PlaceHolder 4"/>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lang="pl-PL" sz="4400" b="0" u="none" strike="noStrike">
                <a:solidFill>
                  <a:srgbClr val="000000"/>
                </a:solidFill>
                <a:effectLst/>
                <a:uFillTx/>
                <a:latin typeface="Arial"/>
              </a:rPr>
              <a:t>Kliknij, aby edytować format tekstu tytułu</a:t>
            </a:r>
            <a:endParaRPr lang="pl-PL" sz="4400" b="0" u="none" strike="noStrike">
              <a:solidFill>
                <a:srgbClr val="000000"/>
              </a:solidFill>
              <a:effectLst/>
              <a:uFillTx/>
              <a:latin typeface="Arial"/>
            </a:endParaRPr>
          </a:p>
        </p:txBody>
      </p:sp>
      <p:sp>
        <p:nvSpPr>
          <p:cNvPr id="13"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lang="pl-PL" sz="3200" b="0" u="none" strike="noStrike">
                <a:solidFill>
                  <a:srgbClr val="000000"/>
                </a:solidFill>
                <a:effectLst/>
                <a:uFillTx/>
                <a:latin typeface="Arial"/>
              </a:rPr>
              <a:t>Kliknij, aby edytować format tekstu konspektu</a:t>
            </a:r>
            <a:endParaRPr lang="pl-PL"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pl-PL" sz="2800" b="0" u="none" strike="noStrike">
                <a:solidFill>
                  <a:srgbClr val="000000"/>
                </a:solidFill>
                <a:effectLst/>
                <a:uFillTx/>
                <a:latin typeface="Arial"/>
              </a:rPr>
              <a:t>Drugi poziom konspektu</a:t>
            </a:r>
            <a:endParaRPr lang="pl-PL"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pl-PL" sz="2400" b="0" u="none" strike="noStrike">
                <a:solidFill>
                  <a:srgbClr val="000000"/>
                </a:solidFill>
                <a:effectLst/>
                <a:uFillTx/>
                <a:latin typeface="Arial"/>
              </a:rPr>
              <a:t>Trzeci poziom konspektu</a:t>
            </a:r>
            <a:endParaRPr lang="pl-PL"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pl-PL" sz="2000" b="0" u="none" strike="noStrike">
                <a:solidFill>
                  <a:srgbClr val="000000"/>
                </a:solidFill>
                <a:effectLst/>
                <a:uFillTx/>
                <a:latin typeface="Arial"/>
              </a:rPr>
              <a:t>Czwarty poziom konspektu</a:t>
            </a:r>
            <a:endParaRPr lang="pl-PL"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Piąty poziom konspektu</a:t>
            </a:r>
            <a:endParaRPr lang="pl-PL"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Szósty poziom konspektu</a:t>
            </a:r>
            <a:endParaRPr lang="pl-PL"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Siódmy poziom konspektu</a:t>
            </a:r>
            <a:endParaRPr lang="pl-PL"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4" r:id="rId2"/>
    <p:sldLayoutId id="2147483655"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s://developer.android.com/develop/ui/compose/quick-guides?hl=pl" TargetMode="External"/><Relationship Id="rId2" Type="http://schemas.openxmlformats.org/officeDocument/2006/relationships/hyperlink" Target="https://developer.android.com/develop/ui/compose/quick-guides?hl=pl" TargetMode="External"/><Relationship Id="rId3" Type="http://schemas.openxmlformats.org/officeDocument/2006/relationships/hyperlink" Target="https://developer.android.com/develop/ui/compose/quick-guides?hl=pl" TargetMode="External"/><Relationship Id="rId4" Type="http://schemas.openxmlformats.org/officeDocument/2006/relationships/hyperlink" Target="https://developer.android.com/develop/ui/compose/mental-model?hl=pl" TargetMode="External"/><Relationship Id="rId5" Type="http://schemas.openxmlformats.org/officeDocument/2006/relationships/hyperlink" Target="https://developer.android.com/develop/ui/compose/quick-guides?hl=pl" TargetMode="External"/><Relationship Id="rId6" Type="http://schemas.openxmlformats.org/officeDocument/2006/relationships/hyperlink" Target="https://developer.android.com/develop/ui/compose/tutorial?hl=pl" TargetMode="External"/><Relationship Id="rId7" Type="http://schemas.openxmlformats.org/officeDocument/2006/relationships/hyperlink" Target="https://developer.android.com/develop/ui/compose/quick-guides?hl=pl" TargetMode="External"/><Relationship Id="rId8" Type="http://schemas.openxmlformats.org/officeDocument/2006/relationships/hyperlink" Target="https://developer.android.com/develop/ui/compose/documentation?hl=pl" TargetMode="External"/><Relationship Id="rId9" Type="http://schemas.openxmlformats.org/officeDocument/2006/relationships/hyperlink" Target="https://developer.android.com/develop/ui/compose/quick-guides?hl=pl" TargetMode="External"/><Relationship Id="rId10" Type="http://schemas.openxmlformats.org/officeDocument/2006/relationships/hyperlink" Target="https://developer.android.com/develop/ui/compose/lifecycle?hl=pl" TargetMode="External"/><Relationship Id="rId11" Type="http://schemas.openxmlformats.org/officeDocument/2006/relationships/hyperlink" Target="https://developer.android.com/develop/ui/compose/quick-guides?hl=pl" TargetMode="External"/><Relationship Id="rId12" Type="http://schemas.openxmlformats.org/officeDocument/2006/relationships/hyperlink" Target="https://developer.android.com/develop/ui/compose/components?hl=pl" TargetMode="External"/><Relationship Id="rId13" Type="http://schemas.openxmlformats.org/officeDocument/2006/relationships/slideLayout" Target="../slideLayouts/slideLayout2.xml"/><Relationship Id="rId1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hyperlink" Target="file:///home/matpom/Pobrane/developer.apple.com/design" TargetMode="External"/><Relationship Id="rId2" Type="http://schemas.openxmlformats.org/officeDocument/2006/relationships/hyperlink" Target="file:///home/matpom/Pobrane/m3.material.io" TargetMode="External"/><Relationship Id="rId3" Type="http://schemas.openxmlformats.org/officeDocument/2006/relationships/hyperlink" Target="http://www.w3.org/WAI/WCAG22" TargetMode="External"/><Relationship Id="rId4" Type="http://schemas.openxmlformats.org/officeDocument/2006/relationships/hyperlink" Target="file:///home/matpom/Pobrane/figma.com" TargetMode="External"/><Relationship Id="rId5" Type="http://schemas.openxmlformats.org/officeDocument/2006/relationships/hyperlink" Target="file:///home/matpom/Pobrane/coolors.co" TargetMode="External"/><Relationship Id="rId6" Type="http://schemas.openxmlformats.org/officeDocument/2006/relationships/hyperlink" Target="file:///home/matpom/Pobrane/webaim.org/resources/contrastchecker" TargetMode="External"/><Relationship Id="rId7" Type="http://schemas.openxmlformats.org/officeDocument/2006/relationships/slideLayout" Target="../slideLayouts/slideLayout2.xml"/><Relationship Id="rId8"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2" name="Shape 0"/>
          <p:cNvSpPr/>
          <p:nvPr/>
        </p:nvSpPr>
        <p:spPr>
          <a:xfrm>
            <a:off x="0" y="0"/>
            <a:ext cx="9142920" cy="514260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 name="Shape 1"/>
          <p:cNvSpPr/>
          <p:nvPr/>
        </p:nvSpPr>
        <p:spPr>
          <a:xfrm>
            <a:off x="0" y="0"/>
            <a:ext cx="3199320" cy="5142600"/>
          </a:xfrm>
          <a:prstGeom prst="rect">
            <a:avLst/>
          </a:prstGeom>
          <a:solidFill>
            <a:srgbClr val="0d1b2a"/>
          </a:solidFill>
          <a:ln w="12600">
            <a:solidFill>
              <a:srgbClr val="0d1b2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 name="Text 3"/>
          <p:cNvSpPr/>
          <p:nvPr/>
        </p:nvSpPr>
        <p:spPr>
          <a:xfrm>
            <a:off x="397440" y="34740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trike="noStrike">
                <a:solidFill>
                  <a:srgbClr val="ff2d78"/>
                </a:solidFill>
                <a:effectLst/>
                <a:uFillTx/>
                <a:latin typeface="Calibri"/>
                <a:ea typeface="DejaVu Sans"/>
              </a:rPr>
              <a:t>01 Wprowadzenie do UI/UX</a:t>
            </a:r>
            <a:endParaRPr lang="pl-PL" sz="1100" b="0" u="none" strike="noStrike">
              <a:solidFill>
                <a:srgbClr val="ffffff"/>
              </a:solidFill>
              <a:effectLst/>
              <a:uFillTx/>
              <a:latin typeface="Arial"/>
            </a:endParaRPr>
          </a:p>
        </p:txBody>
      </p:sp>
      <p:sp>
        <p:nvSpPr>
          <p:cNvPr id="25" name="Text 4"/>
          <p:cNvSpPr/>
          <p:nvPr/>
        </p:nvSpPr>
        <p:spPr>
          <a:xfrm>
            <a:off x="397440" y="79560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02 Rodzaje interfejsów</a:t>
            </a:r>
            <a:endParaRPr lang="pl-PL" sz="1100" b="0" u="none" strike="noStrike">
              <a:solidFill>
                <a:srgbClr val="ffffff"/>
              </a:solidFill>
              <a:effectLst/>
              <a:uFillTx/>
              <a:latin typeface="Arial"/>
            </a:endParaRPr>
          </a:p>
        </p:txBody>
      </p:sp>
      <p:sp>
        <p:nvSpPr>
          <p:cNvPr id="26" name="Text 5"/>
          <p:cNvSpPr/>
          <p:nvPr/>
        </p:nvSpPr>
        <p:spPr>
          <a:xfrm>
            <a:off x="397440" y="124344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03 Zasady projektowania</a:t>
            </a:r>
            <a:endParaRPr lang="pl-PL" sz="1100" b="0" u="none" strike="noStrike">
              <a:solidFill>
                <a:srgbClr val="ffffff"/>
              </a:solidFill>
              <a:effectLst/>
              <a:uFillTx/>
              <a:latin typeface="Arial"/>
            </a:endParaRPr>
          </a:p>
        </p:txBody>
      </p:sp>
      <p:sp>
        <p:nvSpPr>
          <p:cNvPr id="27" name="Text 6"/>
          <p:cNvSpPr/>
          <p:nvPr/>
        </p:nvSpPr>
        <p:spPr>
          <a:xfrm>
            <a:off x="397440" y="169164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04 Standardy branżowe</a:t>
            </a:r>
            <a:endParaRPr lang="pl-PL" sz="1100" b="0" u="none" strike="noStrike">
              <a:solidFill>
                <a:srgbClr val="ffffff"/>
              </a:solidFill>
              <a:effectLst/>
              <a:uFillTx/>
              <a:latin typeface="Arial"/>
            </a:endParaRPr>
          </a:p>
        </p:txBody>
      </p:sp>
      <p:sp>
        <p:nvSpPr>
          <p:cNvPr id="28" name="Text 7"/>
          <p:cNvSpPr/>
          <p:nvPr/>
        </p:nvSpPr>
        <p:spPr>
          <a:xfrm>
            <a:off x="397440" y="213984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05 Dobór kolorów</a:t>
            </a:r>
            <a:endParaRPr lang="pl-PL" sz="1100" b="0" u="none" strike="noStrike">
              <a:solidFill>
                <a:srgbClr val="ffffff"/>
              </a:solidFill>
              <a:effectLst/>
              <a:uFillTx/>
              <a:latin typeface="Arial"/>
            </a:endParaRPr>
          </a:p>
        </p:txBody>
      </p:sp>
      <p:sp>
        <p:nvSpPr>
          <p:cNvPr id="29" name="Text 8"/>
          <p:cNvSpPr/>
          <p:nvPr/>
        </p:nvSpPr>
        <p:spPr>
          <a:xfrm>
            <a:off x="397440" y="258768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06 Typografia mobilna</a:t>
            </a:r>
            <a:endParaRPr lang="pl-PL" sz="1100" b="0" u="none" strike="noStrike">
              <a:solidFill>
                <a:srgbClr val="ffffff"/>
              </a:solidFill>
              <a:effectLst/>
              <a:uFillTx/>
              <a:latin typeface="Arial"/>
            </a:endParaRPr>
          </a:p>
        </p:txBody>
      </p:sp>
      <p:sp>
        <p:nvSpPr>
          <p:cNvPr id="30" name="Text 9"/>
          <p:cNvSpPr/>
          <p:nvPr/>
        </p:nvSpPr>
        <p:spPr>
          <a:xfrm>
            <a:off x="397440" y="303588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07 Dźwięki i haptyka</a:t>
            </a:r>
            <a:endParaRPr lang="pl-PL" sz="1100" b="0" u="none" strike="noStrike">
              <a:solidFill>
                <a:srgbClr val="ffffff"/>
              </a:solidFill>
              <a:effectLst/>
              <a:uFillTx/>
              <a:latin typeface="Arial"/>
            </a:endParaRPr>
          </a:p>
        </p:txBody>
      </p:sp>
      <p:sp>
        <p:nvSpPr>
          <p:cNvPr id="31" name="Text 10"/>
          <p:cNvSpPr/>
          <p:nvPr/>
        </p:nvSpPr>
        <p:spPr>
          <a:xfrm>
            <a:off x="397440" y="348372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08 Projektowanie emocjonalne</a:t>
            </a:r>
            <a:endParaRPr lang="pl-PL" sz="1100" b="0" u="none" strike="noStrike">
              <a:solidFill>
                <a:srgbClr val="ffffff"/>
              </a:solidFill>
              <a:effectLst/>
              <a:uFillTx/>
              <a:latin typeface="Arial"/>
            </a:endParaRPr>
          </a:p>
        </p:txBody>
      </p:sp>
      <p:sp>
        <p:nvSpPr>
          <p:cNvPr id="32" name="Text 11"/>
          <p:cNvSpPr/>
          <p:nvPr/>
        </p:nvSpPr>
        <p:spPr>
          <a:xfrm>
            <a:off x="397440" y="393192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09 Hierarchia wizualna</a:t>
            </a:r>
            <a:endParaRPr lang="pl-PL" sz="1100" b="0" u="none" strike="noStrike">
              <a:solidFill>
                <a:srgbClr val="ffffff"/>
              </a:solidFill>
              <a:effectLst/>
              <a:uFillTx/>
              <a:latin typeface="Arial"/>
            </a:endParaRPr>
          </a:p>
        </p:txBody>
      </p:sp>
      <p:sp>
        <p:nvSpPr>
          <p:cNvPr id="33" name="Text 12"/>
          <p:cNvSpPr/>
          <p:nvPr/>
        </p:nvSpPr>
        <p:spPr>
          <a:xfrm>
            <a:off x="397440" y="4380120"/>
            <a:ext cx="20401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10 Narzędzia UI/UX</a:t>
            </a:r>
            <a:endParaRPr lang="pl-PL" sz="1100" b="0" u="none" strike="noStrike">
              <a:solidFill>
                <a:srgbClr val="ffffff"/>
              </a:solidFill>
              <a:effectLst/>
              <a:uFillTx/>
              <a:latin typeface="Arial"/>
            </a:endParaRPr>
          </a:p>
        </p:txBody>
      </p:sp>
      <p:sp>
        <p:nvSpPr>
          <p:cNvPr id="34" name="Text 13"/>
          <p:cNvSpPr/>
          <p:nvPr/>
        </p:nvSpPr>
        <p:spPr>
          <a:xfrm>
            <a:off x="3474720" y="169200"/>
            <a:ext cx="5302440" cy="10047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7200" b="1" u="none" strike="noStrike">
                <a:solidFill>
                  <a:srgbClr val="284f6a"/>
                </a:solidFill>
                <a:effectLst/>
                <a:uFillTx/>
                <a:latin typeface="Calibri"/>
                <a:ea typeface="DejaVu Sans"/>
              </a:rPr>
              <a:t>03</a:t>
            </a:r>
            <a:endParaRPr lang="pl-PL" sz="7200" b="0" u="none" strike="noStrike">
              <a:solidFill>
                <a:srgbClr val="ffffff"/>
              </a:solidFill>
              <a:effectLst/>
              <a:uFillTx/>
              <a:latin typeface="Arial"/>
            </a:endParaRPr>
          </a:p>
        </p:txBody>
      </p:sp>
      <p:sp>
        <p:nvSpPr>
          <p:cNvPr id="35" name="Text 14"/>
          <p:cNvSpPr/>
          <p:nvPr/>
        </p:nvSpPr>
        <p:spPr>
          <a:xfrm>
            <a:off x="3474720" y="1005840"/>
            <a:ext cx="5393880" cy="2193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4000" b="1" u="none" strike="noStrike">
                <a:solidFill>
                  <a:srgbClr val="ffffff"/>
                </a:solidFill>
                <a:effectLst/>
                <a:uFillTx/>
                <a:latin typeface="Calibri"/>
                <a:ea typeface="DejaVu Sans"/>
              </a:rPr>
              <a:t>Projektowanie</a:t>
            </a:r>
            <a:endParaRPr lang="pl-PL" sz="4000" b="0" u="none" strike="noStrike">
              <a:solidFill>
                <a:srgbClr val="ffffff"/>
              </a:solidFill>
              <a:effectLst/>
              <a:uFillTx/>
              <a:latin typeface="Arial"/>
            </a:endParaRPr>
          </a:p>
          <a:p>
            <a:pPr defTabSz="914400">
              <a:lnSpc>
                <a:spcPct val="100000"/>
              </a:lnSpc>
              <a:tabLst>
                <a:tab algn="l" pos="0"/>
              </a:tabLst>
            </a:pPr>
            <a:r>
              <a:rPr lang="pl-PL" sz="4000" b="1" u="none" strike="noStrike">
                <a:solidFill>
                  <a:srgbClr val="ffffff"/>
                </a:solidFill>
                <a:effectLst/>
                <a:uFillTx/>
                <a:latin typeface="Calibri"/>
                <a:ea typeface="DejaVu Sans"/>
              </a:rPr>
              <a:t>UI/UX dla urządzeń</a:t>
            </a:r>
            <a:endParaRPr lang="pl-PL" sz="4000" b="0" u="none" strike="noStrike">
              <a:solidFill>
                <a:srgbClr val="ffffff"/>
              </a:solidFill>
              <a:effectLst/>
              <a:uFillTx/>
              <a:latin typeface="Arial"/>
            </a:endParaRPr>
          </a:p>
          <a:p>
            <a:pPr defTabSz="914400">
              <a:lnSpc>
                <a:spcPct val="100000"/>
              </a:lnSpc>
              <a:tabLst>
                <a:tab algn="l" pos="0"/>
              </a:tabLst>
            </a:pPr>
            <a:r>
              <a:rPr lang="pl-PL" sz="4000" b="1" u="none" strike="noStrike">
                <a:solidFill>
                  <a:srgbClr val="ffffff"/>
                </a:solidFill>
                <a:effectLst/>
                <a:uFillTx/>
                <a:latin typeface="Calibri"/>
                <a:ea typeface="DejaVu Sans"/>
              </a:rPr>
              <a:t>mobilnych</a:t>
            </a:r>
            <a:endParaRPr lang="pl-PL" sz="4000" b="0" u="none" strike="noStrike">
              <a:solidFill>
                <a:srgbClr val="ffffff"/>
              </a:solidFill>
              <a:effectLst/>
              <a:uFillTx/>
              <a:latin typeface="Arial"/>
            </a:endParaRPr>
          </a:p>
        </p:txBody>
      </p:sp>
      <p:sp>
        <p:nvSpPr>
          <p:cNvPr id="36" name="Text 15"/>
          <p:cNvSpPr/>
          <p:nvPr/>
        </p:nvSpPr>
        <p:spPr>
          <a:xfrm>
            <a:off x="3474720" y="3291840"/>
            <a:ext cx="5393880" cy="639000"/>
          </a:xfrm>
          <a:prstGeom prst="rect">
            <a:avLst/>
          </a:prstGeom>
          <a:noFill/>
          <a:ln w="0">
            <a:noFill/>
          </a:ln>
        </p:spPr>
        <p:style>
          <a:lnRef idx="0"/>
          <a:fillRef idx="0"/>
          <a:effectRef idx="0"/>
          <a:fontRef idx="minor"/>
        </p:style>
        <p:txBody>
          <a:bodyPr lIns="0" rIns="0" tIns="0" bIns="0" anchor="t">
            <a:noAutofit/>
          </a:bodyPr>
          <a:p>
            <a:pPr defTabSz="914400">
              <a:lnSpc>
                <a:spcPts val="1701"/>
              </a:lnSpc>
              <a:tabLst>
                <a:tab algn="l" pos="0"/>
              </a:tabLst>
            </a:pPr>
            <a:r>
              <a:rPr lang="pl-PL" sz="1100" b="0" u="none" strike="noStrike">
                <a:solidFill>
                  <a:srgbClr val="8899aa"/>
                </a:solidFill>
                <a:effectLst/>
                <a:uFillTx/>
                <a:latin typeface="Calibri"/>
                <a:ea typeface="DejaVu Sans"/>
              </a:rPr>
              <a:t>Kompleksowe studium zagadnień projektowania interfejsów</a:t>
            </a:r>
            <a:endParaRPr lang="pl-PL" sz="1100" b="0" u="none" strike="noStrike">
              <a:solidFill>
                <a:srgbClr val="ffffff"/>
              </a:solidFill>
              <a:effectLst/>
              <a:uFillTx/>
              <a:latin typeface="Arial"/>
            </a:endParaRPr>
          </a:p>
          <a:p>
            <a:pPr defTabSz="914400">
              <a:lnSpc>
                <a:spcPts val="1701"/>
              </a:lnSpc>
              <a:tabLst>
                <a:tab algn="l" pos="0"/>
              </a:tabLst>
            </a:pPr>
            <a:r>
              <a:rPr lang="pl-PL" sz="1100" b="0" u="none" strike="noStrike">
                <a:solidFill>
                  <a:srgbClr val="8899aa"/>
                </a:solidFill>
                <a:effectLst/>
                <a:uFillTx/>
                <a:latin typeface="Calibri"/>
                <a:ea typeface="DejaVu Sans"/>
              </a:rPr>
              <a:t>i doświadczeń użytkownika w kontekście aplikacji mobilnych</a:t>
            </a:r>
            <a:endParaRPr lang="pl-PL" sz="1100" b="0" u="none" strike="noStrike">
              <a:solidFill>
                <a:srgbClr val="ffffff"/>
              </a:solidFill>
              <a:effectLst/>
              <a:uFillTx/>
              <a:latin typeface="Arial"/>
            </a:endParaRPr>
          </a:p>
        </p:txBody>
      </p:sp>
      <p:sp>
        <p:nvSpPr>
          <p:cNvPr id="37" name="Text 16"/>
          <p:cNvSpPr/>
          <p:nvPr/>
        </p:nvSpPr>
        <p:spPr>
          <a:xfrm>
            <a:off x="3474720" y="4114800"/>
            <a:ext cx="539388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ff2d78"/>
                </a:solidFill>
                <a:effectLst/>
                <a:uFillTx/>
                <a:latin typeface="Calibri"/>
                <a:ea typeface="DejaVu Sans"/>
              </a:rPr>
              <a:t>dr inż. Mateusz Pomianek  •  Katedra Informatyki i Automatyki  •  Politechnika Rzeszowska</a:t>
            </a:r>
            <a:endParaRPr lang="pl-PL" sz="1000" b="0" u="none" strike="noStrike">
              <a:solidFill>
                <a:srgbClr val="ffffff"/>
              </a:solidFill>
              <a:effectLst/>
              <a:uFillTx/>
              <a:latin typeface="Arial"/>
            </a:endParaRPr>
          </a:p>
        </p:txBody>
      </p:sp>
      <p:sp>
        <p:nvSpPr>
          <p:cNvPr id="38" name="Text 17"/>
          <p:cNvSpPr/>
          <p:nvPr/>
        </p:nvSpPr>
        <p:spPr>
          <a:xfrm>
            <a:off x="3474720" y="4526280"/>
            <a:ext cx="53938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850" b="0" u="none" strike="noStrike">
                <a:solidFill>
                  <a:srgbClr val="8899aa"/>
                </a:solidFill>
                <a:effectLst/>
                <a:uFillTx/>
                <a:latin typeface="Calibri"/>
                <a:ea typeface="DejaVu Sans"/>
              </a:rPr>
              <a:t>2026  •  Studia Inżynierskie  •  Informatyka</a:t>
            </a:r>
            <a:endParaRPr lang="pl-PL" sz="850" b="0" u="none" strike="noStrike">
              <a:solidFill>
                <a:srgbClr val="ffffff"/>
              </a:solidFill>
              <a:effectLst/>
              <a:uFillTx/>
              <a:latin typeface="Arial"/>
            </a:endParaRPr>
          </a:p>
        </p:txBody>
      </p:sp>
      <p:sp>
        <p:nvSpPr>
          <p:cNvPr id="39" name="Shape 2"/>
          <p:cNvSpPr/>
          <p:nvPr/>
        </p:nvSpPr>
        <p:spPr>
          <a:xfrm>
            <a:off x="0" y="0"/>
            <a:ext cx="163440" cy="514260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0" name="Shape 52"/>
          <p:cNvSpPr/>
          <p:nvPr/>
        </p:nvSpPr>
        <p:spPr>
          <a:xfrm>
            <a:off x="0" y="4892400"/>
            <a:ext cx="9142920" cy="21528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1" name="Text 38"/>
          <p:cNvSpPr/>
          <p:nvPr/>
        </p:nvSpPr>
        <p:spPr>
          <a:xfrm>
            <a:off x="33120" y="492480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pl-PL" sz="800" b="0" u="none" strike="noStrike">
                <a:solidFill>
                  <a:schemeClr val="dk1">
                    <a:lumMod val="65000"/>
                    <a:lumOff val="35000"/>
                  </a:schemeClr>
                </a:solidFill>
                <a:effectLst/>
                <a:uFillTx/>
                <a:latin typeface="Calibri"/>
                <a:ea typeface="DejaVu Sans"/>
              </a:rPr>
              <a:t>Programowanie Aplikacji Mobilnych  •  Projektowanie UI/UX • v1.55</a:t>
            </a:r>
            <a:endParaRPr lang="pl-PL" sz="800" b="0" u="none" strike="noStrike">
              <a:solidFill>
                <a:srgbClr val="ffffff"/>
              </a:solidFill>
              <a:effectLst/>
              <a:uFillTx/>
              <a:latin typeface="Arial"/>
            </a:endParaRPr>
          </a:p>
        </p:txBody>
      </p:sp>
      <p:grpSp>
        <p:nvGrpSpPr>
          <p:cNvPr id="42" name="Grupa 74"/>
          <p:cNvGrpSpPr/>
          <p:nvPr/>
        </p:nvGrpSpPr>
        <p:grpSpPr>
          <a:xfrm>
            <a:off x="198720" y="5106960"/>
            <a:ext cx="8944200" cy="44640"/>
            <a:chOff x="198720" y="5106960"/>
            <a:chExt cx="8944200" cy="44640"/>
          </a:xfrm>
        </p:grpSpPr>
        <p:sp>
          <p:nvSpPr>
            <p:cNvPr id="43" name="Shape 52"/>
            <p:cNvSpPr/>
            <p:nvPr/>
          </p:nvSpPr>
          <p:spPr>
            <a:xfrm>
              <a:off x="19872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 name="Shape 52"/>
            <p:cNvSpPr/>
            <p:nvPr/>
          </p:nvSpPr>
          <p:spPr>
            <a:xfrm>
              <a:off x="39744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 name="Shape 52"/>
            <p:cNvSpPr/>
            <p:nvPr/>
          </p:nvSpPr>
          <p:spPr>
            <a:xfrm>
              <a:off x="59616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6" name="Shape 52"/>
            <p:cNvSpPr/>
            <p:nvPr/>
          </p:nvSpPr>
          <p:spPr>
            <a:xfrm>
              <a:off x="79524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7" name="Shape 52"/>
            <p:cNvSpPr/>
            <p:nvPr/>
          </p:nvSpPr>
          <p:spPr>
            <a:xfrm>
              <a:off x="99396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8" name="Shape 52"/>
            <p:cNvSpPr/>
            <p:nvPr/>
          </p:nvSpPr>
          <p:spPr>
            <a:xfrm>
              <a:off x="119268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9" name="Shape 52"/>
            <p:cNvSpPr/>
            <p:nvPr/>
          </p:nvSpPr>
          <p:spPr>
            <a:xfrm>
              <a:off x="139140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 name="Shape 52"/>
            <p:cNvSpPr/>
            <p:nvPr/>
          </p:nvSpPr>
          <p:spPr>
            <a:xfrm>
              <a:off x="159012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 name="Shape 52"/>
            <p:cNvSpPr/>
            <p:nvPr/>
          </p:nvSpPr>
          <p:spPr>
            <a:xfrm>
              <a:off x="178884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 name="Shape 52"/>
            <p:cNvSpPr/>
            <p:nvPr/>
          </p:nvSpPr>
          <p:spPr>
            <a:xfrm>
              <a:off x="198756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 name="Shape 52"/>
            <p:cNvSpPr/>
            <p:nvPr/>
          </p:nvSpPr>
          <p:spPr>
            <a:xfrm>
              <a:off x="218628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4" name="Shape 52"/>
            <p:cNvSpPr/>
            <p:nvPr/>
          </p:nvSpPr>
          <p:spPr>
            <a:xfrm>
              <a:off x="238536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5" name="Shape 52"/>
            <p:cNvSpPr/>
            <p:nvPr/>
          </p:nvSpPr>
          <p:spPr>
            <a:xfrm>
              <a:off x="258408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 name="Shape 52"/>
            <p:cNvSpPr/>
            <p:nvPr/>
          </p:nvSpPr>
          <p:spPr>
            <a:xfrm>
              <a:off x="278352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 name="Shape 52"/>
            <p:cNvSpPr/>
            <p:nvPr/>
          </p:nvSpPr>
          <p:spPr>
            <a:xfrm>
              <a:off x="298224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 name="Shape 52"/>
            <p:cNvSpPr/>
            <p:nvPr/>
          </p:nvSpPr>
          <p:spPr>
            <a:xfrm>
              <a:off x="318096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9" name="Shape 52"/>
            <p:cNvSpPr/>
            <p:nvPr/>
          </p:nvSpPr>
          <p:spPr>
            <a:xfrm>
              <a:off x="337968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0" name="Shape 52"/>
            <p:cNvSpPr/>
            <p:nvPr/>
          </p:nvSpPr>
          <p:spPr>
            <a:xfrm>
              <a:off x="357840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1" name="Shape 52"/>
            <p:cNvSpPr/>
            <p:nvPr/>
          </p:nvSpPr>
          <p:spPr>
            <a:xfrm>
              <a:off x="377712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2" name="Shape 52"/>
            <p:cNvSpPr/>
            <p:nvPr/>
          </p:nvSpPr>
          <p:spPr>
            <a:xfrm>
              <a:off x="397620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3" name="Shape 52"/>
            <p:cNvSpPr/>
            <p:nvPr/>
          </p:nvSpPr>
          <p:spPr>
            <a:xfrm>
              <a:off x="417492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 name="Shape 52"/>
            <p:cNvSpPr/>
            <p:nvPr/>
          </p:nvSpPr>
          <p:spPr>
            <a:xfrm>
              <a:off x="437364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 name="Shape 52"/>
            <p:cNvSpPr/>
            <p:nvPr/>
          </p:nvSpPr>
          <p:spPr>
            <a:xfrm>
              <a:off x="457236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 name="Shape 52"/>
            <p:cNvSpPr/>
            <p:nvPr/>
          </p:nvSpPr>
          <p:spPr>
            <a:xfrm>
              <a:off x="477108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 name="Shape 52"/>
            <p:cNvSpPr/>
            <p:nvPr/>
          </p:nvSpPr>
          <p:spPr>
            <a:xfrm>
              <a:off x="496980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8" name="Shape 52"/>
            <p:cNvSpPr/>
            <p:nvPr/>
          </p:nvSpPr>
          <p:spPr>
            <a:xfrm>
              <a:off x="5168520" y="51069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9" name="Shape 52"/>
            <p:cNvSpPr/>
            <p:nvPr/>
          </p:nvSpPr>
          <p:spPr>
            <a:xfrm>
              <a:off x="536760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0" name="Shape 52"/>
            <p:cNvSpPr/>
            <p:nvPr/>
          </p:nvSpPr>
          <p:spPr>
            <a:xfrm>
              <a:off x="556632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1" name="Shape 52"/>
            <p:cNvSpPr/>
            <p:nvPr/>
          </p:nvSpPr>
          <p:spPr>
            <a:xfrm>
              <a:off x="576504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 name="Shape 52"/>
            <p:cNvSpPr/>
            <p:nvPr/>
          </p:nvSpPr>
          <p:spPr>
            <a:xfrm>
              <a:off x="596376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 name="Shape 52"/>
            <p:cNvSpPr/>
            <p:nvPr/>
          </p:nvSpPr>
          <p:spPr>
            <a:xfrm>
              <a:off x="616248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 name="Shape 52"/>
            <p:cNvSpPr/>
            <p:nvPr/>
          </p:nvSpPr>
          <p:spPr>
            <a:xfrm>
              <a:off x="636120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 name="Shape 52"/>
            <p:cNvSpPr/>
            <p:nvPr/>
          </p:nvSpPr>
          <p:spPr>
            <a:xfrm>
              <a:off x="655992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6" name="Shape 52"/>
            <p:cNvSpPr/>
            <p:nvPr/>
          </p:nvSpPr>
          <p:spPr>
            <a:xfrm>
              <a:off x="675864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7" name="Shape 52"/>
            <p:cNvSpPr/>
            <p:nvPr/>
          </p:nvSpPr>
          <p:spPr>
            <a:xfrm>
              <a:off x="695772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8" name="Shape 52"/>
            <p:cNvSpPr/>
            <p:nvPr/>
          </p:nvSpPr>
          <p:spPr>
            <a:xfrm>
              <a:off x="715644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9" name="Shape 52"/>
            <p:cNvSpPr/>
            <p:nvPr/>
          </p:nvSpPr>
          <p:spPr>
            <a:xfrm>
              <a:off x="735516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0" name="Shape 52"/>
            <p:cNvSpPr/>
            <p:nvPr/>
          </p:nvSpPr>
          <p:spPr>
            <a:xfrm>
              <a:off x="755388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 name="Shape 52"/>
            <p:cNvSpPr/>
            <p:nvPr/>
          </p:nvSpPr>
          <p:spPr>
            <a:xfrm>
              <a:off x="7752600" y="510804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 name="Shape 52"/>
            <p:cNvSpPr/>
            <p:nvPr/>
          </p:nvSpPr>
          <p:spPr>
            <a:xfrm>
              <a:off x="7951320" y="51087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 name="Shape 52"/>
            <p:cNvSpPr/>
            <p:nvPr/>
          </p:nvSpPr>
          <p:spPr>
            <a:xfrm>
              <a:off x="8150040" y="51087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 name="Shape 52"/>
            <p:cNvSpPr/>
            <p:nvPr/>
          </p:nvSpPr>
          <p:spPr>
            <a:xfrm>
              <a:off x="8348760" y="51087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5" name="Shape 52"/>
            <p:cNvSpPr/>
            <p:nvPr/>
          </p:nvSpPr>
          <p:spPr>
            <a:xfrm>
              <a:off x="8547840" y="51087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6" name="Shape 52"/>
            <p:cNvSpPr/>
            <p:nvPr/>
          </p:nvSpPr>
          <p:spPr>
            <a:xfrm>
              <a:off x="8746560" y="51087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7" name="Shape 52"/>
            <p:cNvSpPr/>
            <p:nvPr/>
          </p:nvSpPr>
          <p:spPr>
            <a:xfrm>
              <a:off x="8945280" y="510876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88" name="Grupa 58"/>
          <p:cNvGrpSpPr/>
          <p:nvPr/>
        </p:nvGrpSpPr>
        <p:grpSpPr>
          <a:xfrm>
            <a:off x="-2520" y="4884840"/>
            <a:ext cx="9145440" cy="259200"/>
            <a:chOff x="-2520" y="4884840"/>
            <a:chExt cx="9145440" cy="259200"/>
          </a:xfrm>
        </p:grpSpPr>
        <p:sp>
          <p:nvSpPr>
            <p:cNvPr id="89"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91" name="Grupa 61"/>
            <p:cNvGrpSpPr/>
            <p:nvPr/>
          </p:nvGrpSpPr>
          <p:grpSpPr>
            <a:xfrm>
              <a:off x="-2520" y="5099400"/>
              <a:ext cx="9145440" cy="44640"/>
              <a:chOff x="-2520" y="5099400"/>
              <a:chExt cx="9145440" cy="44640"/>
            </a:xfrm>
          </p:grpSpPr>
          <p:sp>
            <p:nvSpPr>
              <p:cNvPr id="92"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3"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4" name="Shape 52"/>
              <p:cNvSpPr/>
              <p:nvPr/>
            </p:nvSpPr>
            <p:spPr>
              <a:xfrm>
                <a:off x="397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5" name="Shape 52"/>
              <p:cNvSpPr/>
              <p:nvPr/>
            </p:nvSpPr>
            <p:spPr>
              <a:xfrm>
                <a:off x="596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6" name="Shape 52"/>
              <p:cNvSpPr/>
              <p:nvPr/>
            </p:nvSpPr>
            <p:spPr>
              <a:xfrm>
                <a:off x="795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7" name="Shape 52"/>
              <p:cNvSpPr/>
              <p:nvPr/>
            </p:nvSpPr>
            <p:spPr>
              <a:xfrm>
                <a:off x="993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 name="Shape 52"/>
              <p:cNvSpPr/>
              <p:nvPr/>
            </p:nvSpPr>
            <p:spPr>
              <a:xfrm>
                <a:off x="1192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 name="Shape 52"/>
              <p:cNvSpPr/>
              <p:nvPr/>
            </p:nvSpPr>
            <p:spPr>
              <a:xfrm>
                <a:off x="13914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 name="Shape 52"/>
              <p:cNvSpPr/>
              <p:nvPr/>
            </p:nvSpPr>
            <p:spPr>
              <a:xfrm>
                <a:off x="15901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1"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2"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6"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7"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8"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9"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0"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1"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2"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3"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4"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8"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9"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0"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1"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2"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3"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7"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8"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9"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0"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1"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2"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6"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7"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38" name="Shape 0"/>
          <p:cNvSpPr/>
          <p:nvPr/>
        </p:nvSpPr>
        <p:spPr>
          <a:xfrm>
            <a:off x="320040" y="255960"/>
            <a:ext cx="53640" cy="501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9"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Plan wykładu</a:t>
            </a:r>
            <a:endParaRPr lang="pl-PL" sz="2200" b="0" u="none" strike="noStrike">
              <a:solidFill>
                <a:srgbClr val="ffffff"/>
              </a:solidFill>
              <a:effectLst/>
              <a:uFillTx/>
              <a:latin typeface="Arial"/>
            </a:endParaRPr>
          </a:p>
        </p:txBody>
      </p:sp>
      <p:sp>
        <p:nvSpPr>
          <p:cNvPr id="140" name="Shape 2"/>
          <p:cNvSpPr/>
          <p:nvPr/>
        </p:nvSpPr>
        <p:spPr>
          <a:xfrm>
            <a:off x="320040" y="96012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1" name="Shape 3"/>
          <p:cNvSpPr/>
          <p:nvPr/>
        </p:nvSpPr>
        <p:spPr>
          <a:xfrm>
            <a:off x="320040" y="960120"/>
            <a:ext cx="44640" cy="6847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2" name="Text 4"/>
          <p:cNvSpPr/>
          <p:nvPr/>
        </p:nvSpPr>
        <p:spPr>
          <a:xfrm>
            <a:off x="389880" y="114084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00d4ff"/>
                </a:solidFill>
                <a:effectLst/>
                <a:uFillTx/>
                <a:latin typeface="Calibri"/>
                <a:ea typeface="DejaVu Sans"/>
              </a:rPr>
              <a:t>1</a:t>
            </a:r>
            <a:endParaRPr lang="pl-PL" sz="2400" b="0" u="none" strike="noStrike">
              <a:solidFill>
                <a:srgbClr val="ffffff"/>
              </a:solidFill>
              <a:effectLst/>
              <a:uFillTx/>
              <a:latin typeface="Arial"/>
            </a:endParaRPr>
          </a:p>
        </p:txBody>
      </p:sp>
      <p:sp>
        <p:nvSpPr>
          <p:cNvPr id="143" name="Text 5"/>
          <p:cNvSpPr/>
          <p:nvPr/>
        </p:nvSpPr>
        <p:spPr>
          <a:xfrm>
            <a:off x="866520" y="107280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Wprowadzenie do UI/UX</a:t>
            </a:r>
            <a:endParaRPr lang="pl-PL" sz="1400" b="0" u="none" strike="noStrike">
              <a:solidFill>
                <a:srgbClr val="ffffff"/>
              </a:solidFill>
              <a:effectLst/>
              <a:uFillTx/>
              <a:latin typeface="Arial"/>
            </a:endParaRPr>
          </a:p>
        </p:txBody>
      </p:sp>
      <p:sp>
        <p:nvSpPr>
          <p:cNvPr id="144" name="Text 6"/>
          <p:cNvSpPr/>
          <p:nvPr/>
        </p:nvSpPr>
        <p:spPr>
          <a:xfrm>
            <a:off x="866520" y="127260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Definicje, ewolucja, specyfika mobilna</a:t>
            </a:r>
            <a:endParaRPr lang="pl-PL" sz="1000" b="0" u="none" strike="noStrike">
              <a:solidFill>
                <a:srgbClr val="ffffff"/>
              </a:solidFill>
              <a:effectLst/>
              <a:uFillTx/>
              <a:latin typeface="Arial"/>
            </a:endParaRPr>
          </a:p>
        </p:txBody>
      </p:sp>
      <p:sp>
        <p:nvSpPr>
          <p:cNvPr id="145" name="Shape 7"/>
          <p:cNvSpPr/>
          <p:nvPr/>
        </p:nvSpPr>
        <p:spPr>
          <a:xfrm>
            <a:off x="320040" y="172836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6" name="Shape 8"/>
          <p:cNvSpPr/>
          <p:nvPr/>
        </p:nvSpPr>
        <p:spPr>
          <a:xfrm>
            <a:off x="320040" y="1728360"/>
            <a:ext cx="44640" cy="6847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7" name="Text 9"/>
          <p:cNvSpPr/>
          <p:nvPr/>
        </p:nvSpPr>
        <p:spPr>
          <a:xfrm>
            <a:off x="389880" y="190872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ff2d78"/>
                </a:solidFill>
                <a:effectLst/>
                <a:uFillTx/>
                <a:latin typeface="Calibri"/>
                <a:ea typeface="DejaVu Sans"/>
              </a:rPr>
              <a:t>2</a:t>
            </a:r>
            <a:endParaRPr lang="pl-PL" sz="2400" b="0" u="none" strike="noStrike">
              <a:solidFill>
                <a:srgbClr val="ffffff"/>
              </a:solidFill>
              <a:effectLst/>
              <a:uFillTx/>
              <a:latin typeface="Arial"/>
            </a:endParaRPr>
          </a:p>
        </p:txBody>
      </p:sp>
      <p:sp>
        <p:nvSpPr>
          <p:cNvPr id="148" name="Text 10"/>
          <p:cNvSpPr/>
          <p:nvPr/>
        </p:nvSpPr>
        <p:spPr>
          <a:xfrm>
            <a:off x="866520" y="184068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Rodzaje interfejsów</a:t>
            </a:r>
            <a:endParaRPr lang="pl-PL" sz="1400" b="0" u="none" strike="noStrike">
              <a:solidFill>
                <a:srgbClr val="ffffff"/>
              </a:solidFill>
              <a:effectLst/>
              <a:uFillTx/>
              <a:latin typeface="Arial"/>
            </a:endParaRPr>
          </a:p>
        </p:txBody>
      </p:sp>
      <p:sp>
        <p:nvSpPr>
          <p:cNvPr id="149" name="Text 11"/>
          <p:cNvSpPr/>
          <p:nvPr/>
        </p:nvSpPr>
        <p:spPr>
          <a:xfrm>
            <a:off x="866520" y="204084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GUI, VUI, NUI, TUI, CLI/CUI</a:t>
            </a:r>
            <a:endParaRPr lang="pl-PL" sz="1000" b="0" u="none" strike="noStrike">
              <a:solidFill>
                <a:srgbClr val="ffffff"/>
              </a:solidFill>
              <a:effectLst/>
              <a:uFillTx/>
              <a:latin typeface="Arial"/>
            </a:endParaRPr>
          </a:p>
        </p:txBody>
      </p:sp>
      <p:sp>
        <p:nvSpPr>
          <p:cNvPr id="150" name="Shape 12"/>
          <p:cNvSpPr/>
          <p:nvPr/>
        </p:nvSpPr>
        <p:spPr>
          <a:xfrm>
            <a:off x="320040" y="249624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1" name="Shape 13"/>
          <p:cNvSpPr/>
          <p:nvPr/>
        </p:nvSpPr>
        <p:spPr>
          <a:xfrm>
            <a:off x="320040" y="2496240"/>
            <a:ext cx="44640" cy="6847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2" name="Text 14"/>
          <p:cNvSpPr/>
          <p:nvPr/>
        </p:nvSpPr>
        <p:spPr>
          <a:xfrm>
            <a:off x="389880" y="267696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00e676"/>
                </a:solidFill>
                <a:effectLst/>
                <a:uFillTx/>
                <a:latin typeface="Calibri"/>
                <a:ea typeface="DejaVu Sans"/>
              </a:rPr>
              <a:t>3</a:t>
            </a:r>
            <a:endParaRPr lang="pl-PL" sz="2400" b="0" u="none" strike="noStrike">
              <a:solidFill>
                <a:srgbClr val="ffffff"/>
              </a:solidFill>
              <a:effectLst/>
              <a:uFillTx/>
              <a:latin typeface="Arial"/>
            </a:endParaRPr>
          </a:p>
        </p:txBody>
      </p:sp>
      <p:sp>
        <p:nvSpPr>
          <p:cNvPr id="153" name="Text 15"/>
          <p:cNvSpPr/>
          <p:nvPr/>
        </p:nvSpPr>
        <p:spPr>
          <a:xfrm>
            <a:off x="866520" y="260892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Zasady projektowania</a:t>
            </a:r>
            <a:endParaRPr lang="pl-PL" sz="1400" b="0" u="none" strike="noStrike">
              <a:solidFill>
                <a:srgbClr val="ffffff"/>
              </a:solidFill>
              <a:effectLst/>
              <a:uFillTx/>
              <a:latin typeface="Arial"/>
            </a:endParaRPr>
          </a:p>
        </p:txBody>
      </p:sp>
      <p:sp>
        <p:nvSpPr>
          <p:cNvPr id="154" name="Text 16"/>
          <p:cNvSpPr/>
          <p:nvPr/>
        </p:nvSpPr>
        <p:spPr>
          <a:xfrm>
            <a:off x="866520" y="280908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Heurystyki Nielsena, prawo Hicka, Fittsa</a:t>
            </a:r>
            <a:endParaRPr lang="pl-PL" sz="1000" b="0" u="none" strike="noStrike">
              <a:solidFill>
                <a:srgbClr val="ffffff"/>
              </a:solidFill>
              <a:effectLst/>
              <a:uFillTx/>
              <a:latin typeface="Arial"/>
            </a:endParaRPr>
          </a:p>
        </p:txBody>
      </p:sp>
      <p:sp>
        <p:nvSpPr>
          <p:cNvPr id="155" name="Shape 17"/>
          <p:cNvSpPr/>
          <p:nvPr/>
        </p:nvSpPr>
        <p:spPr>
          <a:xfrm>
            <a:off x="320040" y="326448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6" name="Shape 18"/>
          <p:cNvSpPr/>
          <p:nvPr/>
        </p:nvSpPr>
        <p:spPr>
          <a:xfrm>
            <a:off x="320040" y="3264480"/>
            <a:ext cx="44640" cy="68472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 name="Text 19"/>
          <p:cNvSpPr/>
          <p:nvPr/>
        </p:nvSpPr>
        <p:spPr>
          <a:xfrm>
            <a:off x="389880" y="344484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b388ff"/>
                </a:solidFill>
                <a:effectLst/>
                <a:uFillTx/>
                <a:latin typeface="Calibri"/>
                <a:ea typeface="DejaVu Sans"/>
              </a:rPr>
              <a:t>4</a:t>
            </a:r>
            <a:endParaRPr lang="pl-PL" sz="2400" b="0" u="none" strike="noStrike">
              <a:solidFill>
                <a:srgbClr val="ffffff"/>
              </a:solidFill>
              <a:effectLst/>
              <a:uFillTx/>
              <a:latin typeface="Arial"/>
            </a:endParaRPr>
          </a:p>
        </p:txBody>
      </p:sp>
      <p:sp>
        <p:nvSpPr>
          <p:cNvPr id="158" name="Text 20"/>
          <p:cNvSpPr/>
          <p:nvPr/>
        </p:nvSpPr>
        <p:spPr>
          <a:xfrm>
            <a:off x="866520" y="337716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Standardy branżowe</a:t>
            </a:r>
            <a:endParaRPr lang="pl-PL" sz="1400" b="0" u="none" strike="noStrike">
              <a:solidFill>
                <a:srgbClr val="ffffff"/>
              </a:solidFill>
              <a:effectLst/>
              <a:uFillTx/>
              <a:latin typeface="Arial"/>
            </a:endParaRPr>
          </a:p>
        </p:txBody>
      </p:sp>
      <p:sp>
        <p:nvSpPr>
          <p:cNvPr id="159" name="Text 21"/>
          <p:cNvSpPr/>
          <p:nvPr/>
        </p:nvSpPr>
        <p:spPr>
          <a:xfrm>
            <a:off x="866520" y="357696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iOS HIG, Material Design, WCAG</a:t>
            </a:r>
            <a:endParaRPr lang="pl-PL" sz="1000" b="0" u="none" strike="noStrike">
              <a:solidFill>
                <a:srgbClr val="ffffff"/>
              </a:solidFill>
              <a:effectLst/>
              <a:uFillTx/>
              <a:latin typeface="Arial"/>
            </a:endParaRPr>
          </a:p>
        </p:txBody>
      </p:sp>
      <p:sp>
        <p:nvSpPr>
          <p:cNvPr id="160" name="Shape 22"/>
          <p:cNvSpPr/>
          <p:nvPr/>
        </p:nvSpPr>
        <p:spPr>
          <a:xfrm>
            <a:off x="320040" y="403236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1" name="Shape 23"/>
          <p:cNvSpPr/>
          <p:nvPr/>
        </p:nvSpPr>
        <p:spPr>
          <a:xfrm>
            <a:off x="320040" y="4032360"/>
            <a:ext cx="44640" cy="68472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2" name="Text 24"/>
          <p:cNvSpPr/>
          <p:nvPr/>
        </p:nvSpPr>
        <p:spPr>
          <a:xfrm>
            <a:off x="389880" y="421308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ff9100"/>
                </a:solidFill>
                <a:effectLst/>
                <a:uFillTx/>
                <a:latin typeface="Calibri"/>
                <a:ea typeface="DejaVu Sans"/>
              </a:rPr>
              <a:t>5</a:t>
            </a:r>
            <a:endParaRPr lang="pl-PL" sz="2400" b="0" u="none" strike="noStrike">
              <a:solidFill>
                <a:srgbClr val="ffffff"/>
              </a:solidFill>
              <a:effectLst/>
              <a:uFillTx/>
              <a:latin typeface="Arial"/>
            </a:endParaRPr>
          </a:p>
        </p:txBody>
      </p:sp>
      <p:sp>
        <p:nvSpPr>
          <p:cNvPr id="163" name="Text 25"/>
          <p:cNvSpPr/>
          <p:nvPr/>
        </p:nvSpPr>
        <p:spPr>
          <a:xfrm>
            <a:off x="866520" y="414504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Dobór kolorów</a:t>
            </a:r>
            <a:endParaRPr lang="pl-PL" sz="1400" b="0" u="none" strike="noStrike">
              <a:solidFill>
                <a:srgbClr val="ffffff"/>
              </a:solidFill>
              <a:effectLst/>
              <a:uFillTx/>
              <a:latin typeface="Arial"/>
            </a:endParaRPr>
          </a:p>
        </p:txBody>
      </p:sp>
      <p:sp>
        <p:nvSpPr>
          <p:cNvPr id="164" name="Text 26"/>
          <p:cNvSpPr/>
          <p:nvPr/>
        </p:nvSpPr>
        <p:spPr>
          <a:xfrm>
            <a:off x="866520" y="434520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Teoria kolorów, psychologia, dark mode</a:t>
            </a:r>
            <a:endParaRPr lang="pl-PL" sz="1000" b="0" u="none" strike="noStrike">
              <a:solidFill>
                <a:srgbClr val="ffffff"/>
              </a:solidFill>
              <a:effectLst/>
              <a:uFillTx/>
              <a:latin typeface="Arial"/>
            </a:endParaRPr>
          </a:p>
        </p:txBody>
      </p:sp>
      <p:sp>
        <p:nvSpPr>
          <p:cNvPr id="165" name="Shape 27"/>
          <p:cNvSpPr/>
          <p:nvPr/>
        </p:nvSpPr>
        <p:spPr>
          <a:xfrm>
            <a:off x="4709160" y="96012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 name="Shape 28"/>
          <p:cNvSpPr/>
          <p:nvPr/>
        </p:nvSpPr>
        <p:spPr>
          <a:xfrm>
            <a:off x="4709160" y="960120"/>
            <a:ext cx="44640" cy="68472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7" name="Text 29"/>
          <p:cNvSpPr/>
          <p:nvPr/>
        </p:nvSpPr>
        <p:spPr>
          <a:xfrm>
            <a:off x="4779000" y="114084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ffd600"/>
                </a:solidFill>
                <a:effectLst/>
                <a:uFillTx/>
                <a:latin typeface="Calibri"/>
                <a:ea typeface="DejaVu Sans"/>
              </a:rPr>
              <a:t>6</a:t>
            </a:r>
            <a:endParaRPr lang="pl-PL" sz="2400" b="0" u="none" strike="noStrike">
              <a:solidFill>
                <a:srgbClr val="ffffff"/>
              </a:solidFill>
              <a:effectLst/>
              <a:uFillTx/>
              <a:latin typeface="Arial"/>
            </a:endParaRPr>
          </a:p>
        </p:txBody>
      </p:sp>
      <p:sp>
        <p:nvSpPr>
          <p:cNvPr id="168" name="Text 30"/>
          <p:cNvSpPr/>
          <p:nvPr/>
        </p:nvSpPr>
        <p:spPr>
          <a:xfrm>
            <a:off x="5255640" y="107280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Typografia mobilna</a:t>
            </a:r>
            <a:endParaRPr lang="pl-PL" sz="1400" b="0" u="none" strike="noStrike">
              <a:solidFill>
                <a:srgbClr val="ffffff"/>
              </a:solidFill>
              <a:effectLst/>
              <a:uFillTx/>
              <a:latin typeface="Arial"/>
            </a:endParaRPr>
          </a:p>
        </p:txBody>
      </p:sp>
      <p:sp>
        <p:nvSpPr>
          <p:cNvPr id="169" name="Text 31"/>
          <p:cNvSpPr/>
          <p:nvPr/>
        </p:nvSpPr>
        <p:spPr>
          <a:xfrm>
            <a:off x="5255640" y="127260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Wybór czcionek, hierarchia, dostępność</a:t>
            </a:r>
            <a:endParaRPr lang="pl-PL" sz="1000" b="0" u="none" strike="noStrike">
              <a:solidFill>
                <a:srgbClr val="ffffff"/>
              </a:solidFill>
              <a:effectLst/>
              <a:uFillTx/>
              <a:latin typeface="Arial"/>
            </a:endParaRPr>
          </a:p>
        </p:txBody>
      </p:sp>
      <p:sp>
        <p:nvSpPr>
          <p:cNvPr id="170" name="Shape 32"/>
          <p:cNvSpPr/>
          <p:nvPr/>
        </p:nvSpPr>
        <p:spPr>
          <a:xfrm>
            <a:off x="4709160" y="172836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1" name="Shape 33"/>
          <p:cNvSpPr/>
          <p:nvPr/>
        </p:nvSpPr>
        <p:spPr>
          <a:xfrm>
            <a:off x="4709160" y="1728360"/>
            <a:ext cx="44640" cy="68472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2" name="Text 34"/>
          <p:cNvSpPr/>
          <p:nvPr/>
        </p:nvSpPr>
        <p:spPr>
          <a:xfrm>
            <a:off x="4779000" y="190872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448aff"/>
                </a:solidFill>
                <a:effectLst/>
                <a:uFillTx/>
                <a:latin typeface="Calibri"/>
                <a:ea typeface="DejaVu Sans"/>
              </a:rPr>
              <a:t>7</a:t>
            </a:r>
            <a:endParaRPr lang="pl-PL" sz="2400" b="0" u="none" strike="noStrike">
              <a:solidFill>
                <a:srgbClr val="ffffff"/>
              </a:solidFill>
              <a:effectLst/>
              <a:uFillTx/>
              <a:latin typeface="Arial"/>
            </a:endParaRPr>
          </a:p>
        </p:txBody>
      </p:sp>
      <p:sp>
        <p:nvSpPr>
          <p:cNvPr id="173" name="Text 35"/>
          <p:cNvSpPr/>
          <p:nvPr/>
        </p:nvSpPr>
        <p:spPr>
          <a:xfrm>
            <a:off x="5255640" y="184068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Dźwięki i haptyka</a:t>
            </a:r>
            <a:endParaRPr lang="pl-PL" sz="1400" b="0" u="none" strike="noStrike">
              <a:solidFill>
                <a:srgbClr val="ffffff"/>
              </a:solidFill>
              <a:effectLst/>
              <a:uFillTx/>
              <a:latin typeface="Arial"/>
            </a:endParaRPr>
          </a:p>
        </p:txBody>
      </p:sp>
      <p:sp>
        <p:nvSpPr>
          <p:cNvPr id="174" name="Text 36"/>
          <p:cNvSpPr/>
          <p:nvPr/>
        </p:nvSpPr>
        <p:spPr>
          <a:xfrm>
            <a:off x="5255640" y="204084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Projektowanie dźwiękowe, feedback dotykowy</a:t>
            </a:r>
            <a:endParaRPr lang="pl-PL" sz="1000" b="0" u="none" strike="noStrike">
              <a:solidFill>
                <a:srgbClr val="ffffff"/>
              </a:solidFill>
              <a:effectLst/>
              <a:uFillTx/>
              <a:latin typeface="Arial"/>
            </a:endParaRPr>
          </a:p>
        </p:txBody>
      </p:sp>
      <p:sp>
        <p:nvSpPr>
          <p:cNvPr id="175" name="Shape 37"/>
          <p:cNvSpPr/>
          <p:nvPr/>
        </p:nvSpPr>
        <p:spPr>
          <a:xfrm>
            <a:off x="4709160" y="249624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 name="Shape 38"/>
          <p:cNvSpPr/>
          <p:nvPr/>
        </p:nvSpPr>
        <p:spPr>
          <a:xfrm>
            <a:off x="4709160" y="2496240"/>
            <a:ext cx="44640" cy="68472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7" name="Text 39"/>
          <p:cNvSpPr/>
          <p:nvPr/>
        </p:nvSpPr>
        <p:spPr>
          <a:xfrm>
            <a:off x="4779000" y="267696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1de9b6"/>
                </a:solidFill>
                <a:effectLst/>
                <a:uFillTx/>
                <a:latin typeface="Calibri"/>
                <a:ea typeface="DejaVu Sans"/>
              </a:rPr>
              <a:t>8</a:t>
            </a:r>
            <a:endParaRPr lang="pl-PL" sz="2400" b="0" u="none" strike="noStrike">
              <a:solidFill>
                <a:srgbClr val="ffffff"/>
              </a:solidFill>
              <a:effectLst/>
              <a:uFillTx/>
              <a:latin typeface="Arial"/>
            </a:endParaRPr>
          </a:p>
        </p:txBody>
      </p:sp>
      <p:sp>
        <p:nvSpPr>
          <p:cNvPr id="178" name="Text 40"/>
          <p:cNvSpPr/>
          <p:nvPr/>
        </p:nvSpPr>
        <p:spPr>
          <a:xfrm>
            <a:off x="5255640" y="260892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Projektowanie emocjonalne</a:t>
            </a:r>
            <a:endParaRPr lang="pl-PL" sz="1400" b="0" u="none" strike="noStrike">
              <a:solidFill>
                <a:srgbClr val="ffffff"/>
              </a:solidFill>
              <a:effectLst/>
              <a:uFillTx/>
              <a:latin typeface="Arial"/>
            </a:endParaRPr>
          </a:p>
        </p:txBody>
      </p:sp>
      <p:sp>
        <p:nvSpPr>
          <p:cNvPr id="179" name="Text 41"/>
          <p:cNvSpPr/>
          <p:nvPr/>
        </p:nvSpPr>
        <p:spPr>
          <a:xfrm>
            <a:off x="5255640" y="280908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Model Normana, mikrointerakcje</a:t>
            </a:r>
            <a:endParaRPr lang="pl-PL" sz="1000" b="0" u="none" strike="noStrike">
              <a:solidFill>
                <a:srgbClr val="ffffff"/>
              </a:solidFill>
              <a:effectLst/>
              <a:uFillTx/>
              <a:latin typeface="Arial"/>
            </a:endParaRPr>
          </a:p>
        </p:txBody>
      </p:sp>
      <p:sp>
        <p:nvSpPr>
          <p:cNvPr id="180" name="Shape 42"/>
          <p:cNvSpPr/>
          <p:nvPr/>
        </p:nvSpPr>
        <p:spPr>
          <a:xfrm>
            <a:off x="4709160" y="326448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 name="Shape 43"/>
          <p:cNvSpPr/>
          <p:nvPr/>
        </p:nvSpPr>
        <p:spPr>
          <a:xfrm>
            <a:off x="4709160" y="3264480"/>
            <a:ext cx="44640" cy="6847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2" name="Text 44"/>
          <p:cNvSpPr/>
          <p:nvPr/>
        </p:nvSpPr>
        <p:spPr>
          <a:xfrm>
            <a:off x="4779000" y="3444840"/>
            <a:ext cx="3646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00d4ff"/>
                </a:solidFill>
                <a:effectLst/>
                <a:uFillTx/>
                <a:latin typeface="Calibri"/>
                <a:ea typeface="DejaVu Sans"/>
              </a:rPr>
              <a:t>9</a:t>
            </a:r>
            <a:endParaRPr lang="pl-PL" sz="2400" b="0" u="none" strike="noStrike">
              <a:solidFill>
                <a:srgbClr val="ffffff"/>
              </a:solidFill>
              <a:effectLst/>
              <a:uFillTx/>
              <a:latin typeface="Arial"/>
            </a:endParaRPr>
          </a:p>
        </p:txBody>
      </p:sp>
      <p:sp>
        <p:nvSpPr>
          <p:cNvPr id="183" name="Text 45"/>
          <p:cNvSpPr/>
          <p:nvPr/>
        </p:nvSpPr>
        <p:spPr>
          <a:xfrm>
            <a:off x="5255640" y="337716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Hierarchia wizualna</a:t>
            </a:r>
            <a:endParaRPr lang="pl-PL" sz="1400" b="0" u="none" strike="noStrike">
              <a:solidFill>
                <a:srgbClr val="ffffff"/>
              </a:solidFill>
              <a:effectLst/>
              <a:uFillTx/>
              <a:latin typeface="Arial"/>
            </a:endParaRPr>
          </a:p>
        </p:txBody>
      </p:sp>
      <p:sp>
        <p:nvSpPr>
          <p:cNvPr id="184" name="Text 46"/>
          <p:cNvSpPr/>
          <p:nvPr/>
        </p:nvSpPr>
        <p:spPr>
          <a:xfrm>
            <a:off x="5255640" y="357696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Zasady, Gestalt, kierowanie uwagą</a:t>
            </a:r>
            <a:endParaRPr lang="pl-PL" sz="1000" b="0" u="none" strike="noStrike">
              <a:solidFill>
                <a:srgbClr val="ffffff"/>
              </a:solidFill>
              <a:effectLst/>
              <a:uFillTx/>
              <a:latin typeface="Arial"/>
            </a:endParaRPr>
          </a:p>
        </p:txBody>
      </p:sp>
      <p:sp>
        <p:nvSpPr>
          <p:cNvPr id="185" name="Shape 47"/>
          <p:cNvSpPr/>
          <p:nvPr/>
        </p:nvSpPr>
        <p:spPr>
          <a:xfrm>
            <a:off x="4709160" y="4032360"/>
            <a:ext cx="4205160" cy="684720"/>
          </a:xfrm>
          <a:prstGeom prst="rect">
            <a:avLst/>
          </a:prstGeom>
          <a:solidFill>
            <a:srgbClr val="112233"/>
          </a:solidFill>
          <a:ln w="12600">
            <a:solidFill>
              <a:srgbClr val="1a3050"/>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6" name="Shape 48"/>
          <p:cNvSpPr/>
          <p:nvPr/>
        </p:nvSpPr>
        <p:spPr>
          <a:xfrm>
            <a:off x="4709160" y="4032360"/>
            <a:ext cx="44640" cy="6847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7" name="Text 49"/>
          <p:cNvSpPr/>
          <p:nvPr/>
        </p:nvSpPr>
        <p:spPr>
          <a:xfrm>
            <a:off x="4815000" y="4213080"/>
            <a:ext cx="364680" cy="286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ff2d78"/>
                </a:solidFill>
                <a:effectLst/>
                <a:uFillTx/>
                <a:latin typeface="Calibri"/>
                <a:ea typeface="DejaVu Sans"/>
              </a:rPr>
              <a:t>10</a:t>
            </a:r>
            <a:endParaRPr lang="pl-PL" sz="2400" b="0" u="none" strike="noStrike">
              <a:solidFill>
                <a:srgbClr val="ffffff"/>
              </a:solidFill>
              <a:effectLst/>
              <a:uFillTx/>
              <a:latin typeface="Arial"/>
            </a:endParaRPr>
          </a:p>
        </p:txBody>
      </p:sp>
      <p:sp>
        <p:nvSpPr>
          <p:cNvPr id="188" name="Text 50"/>
          <p:cNvSpPr/>
          <p:nvPr/>
        </p:nvSpPr>
        <p:spPr>
          <a:xfrm>
            <a:off x="5255640" y="4145040"/>
            <a:ext cx="21585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Narzędzia UI/UX</a:t>
            </a:r>
            <a:endParaRPr lang="pl-PL" sz="1400" b="0" u="none" strike="noStrike">
              <a:solidFill>
                <a:srgbClr val="ffffff"/>
              </a:solidFill>
              <a:effectLst/>
              <a:uFillTx/>
              <a:latin typeface="Arial"/>
            </a:endParaRPr>
          </a:p>
        </p:txBody>
      </p:sp>
      <p:sp>
        <p:nvSpPr>
          <p:cNvPr id="189" name="Text 51"/>
          <p:cNvSpPr/>
          <p:nvPr/>
        </p:nvSpPr>
        <p:spPr>
          <a:xfrm>
            <a:off x="5255640" y="4345200"/>
            <a:ext cx="3307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8899aa"/>
                </a:solidFill>
                <a:effectLst/>
                <a:uFillTx/>
                <a:latin typeface="Calibri"/>
                <a:ea typeface="DejaVu Sans"/>
              </a:rPr>
              <a:t>Figma, Sketch, proces projektowy</a:t>
            </a:r>
            <a:endParaRPr lang="pl-PL" sz="1000" b="0" u="none" strike="noStrike">
              <a:solidFill>
                <a:srgbClr val="ffffff"/>
              </a:solidFill>
              <a:effectLst/>
              <a:uFillTx/>
              <a:latin typeface="Arial"/>
            </a:endParaRPr>
          </a:p>
        </p:txBody>
      </p:sp>
      <p:sp>
        <p:nvSpPr>
          <p:cNvPr id="190" name="Text 54"/>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91" name="Grupa 62"/>
          <p:cNvGrpSpPr/>
          <p:nvPr/>
        </p:nvGrpSpPr>
        <p:grpSpPr>
          <a:xfrm>
            <a:off x="-2520" y="4884840"/>
            <a:ext cx="9145440" cy="259200"/>
            <a:chOff x="-2520" y="4884840"/>
            <a:chExt cx="9145440" cy="259200"/>
          </a:xfrm>
        </p:grpSpPr>
        <p:sp>
          <p:nvSpPr>
            <p:cNvPr id="192"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3"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94" name="Grupa 13"/>
            <p:cNvGrpSpPr/>
            <p:nvPr/>
          </p:nvGrpSpPr>
          <p:grpSpPr>
            <a:xfrm>
              <a:off x="-2520" y="5099400"/>
              <a:ext cx="9145440" cy="44640"/>
              <a:chOff x="-2520" y="5099400"/>
              <a:chExt cx="9145440" cy="44640"/>
            </a:xfrm>
          </p:grpSpPr>
          <p:sp>
            <p:nvSpPr>
              <p:cNvPr id="195"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7"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8" name="Shape 52"/>
              <p:cNvSpPr/>
              <p:nvPr/>
            </p:nvSpPr>
            <p:spPr>
              <a:xfrm>
                <a:off x="596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9" name="Shape 52"/>
              <p:cNvSpPr/>
              <p:nvPr/>
            </p:nvSpPr>
            <p:spPr>
              <a:xfrm>
                <a:off x="795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0" name="Shape 52"/>
              <p:cNvSpPr/>
              <p:nvPr/>
            </p:nvSpPr>
            <p:spPr>
              <a:xfrm>
                <a:off x="993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1" name="Shape 52"/>
              <p:cNvSpPr/>
              <p:nvPr/>
            </p:nvSpPr>
            <p:spPr>
              <a:xfrm>
                <a:off x="1192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2" name="Shape 52"/>
              <p:cNvSpPr/>
              <p:nvPr/>
            </p:nvSpPr>
            <p:spPr>
              <a:xfrm>
                <a:off x="13914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3" name="Shape 52"/>
              <p:cNvSpPr/>
              <p:nvPr/>
            </p:nvSpPr>
            <p:spPr>
              <a:xfrm>
                <a:off x="15901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4"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5"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6"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9"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0"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1"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2"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3"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4"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5"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8"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9"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0"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1"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3"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4"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5"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6"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7"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8"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9"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2"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3"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4"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5"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6"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7"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8"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9"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41"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2" name="Shape 1"/>
          <p:cNvSpPr/>
          <p:nvPr/>
        </p:nvSpPr>
        <p:spPr>
          <a:xfrm>
            <a:off x="0" y="1645920"/>
            <a:ext cx="108720" cy="18277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3" name="Text 2"/>
          <p:cNvSpPr/>
          <p:nvPr/>
        </p:nvSpPr>
        <p:spPr>
          <a:xfrm>
            <a:off x="914400" y="548640"/>
            <a:ext cx="73141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00d4ff"/>
                </a:solidFill>
                <a:effectLst/>
                <a:uFillTx/>
                <a:latin typeface="Calibri"/>
                <a:ea typeface="DejaVu Sans"/>
              </a:rPr>
              <a:t>01</a:t>
            </a:r>
            <a:endParaRPr lang="pl-PL" sz="5200" b="0" u="none" strike="noStrike">
              <a:solidFill>
                <a:srgbClr val="ffffff"/>
              </a:solidFill>
              <a:effectLst/>
              <a:uFillTx/>
              <a:latin typeface="Arial"/>
            </a:endParaRPr>
          </a:p>
        </p:txBody>
      </p:sp>
      <p:sp>
        <p:nvSpPr>
          <p:cNvPr id="244"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Wprowadzenie do UI/UX</a:t>
            </a:r>
            <a:endParaRPr lang="pl-PL" sz="2800" b="0" u="none" strike="noStrike">
              <a:solidFill>
                <a:srgbClr val="ffffff"/>
              </a:solidFill>
              <a:effectLst/>
              <a:uFillTx/>
              <a:latin typeface="Arial"/>
            </a:endParaRPr>
          </a:p>
        </p:txBody>
      </p:sp>
      <p:sp>
        <p:nvSpPr>
          <p:cNvPr id="245"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Definicje, ewolucja i specyfika projektowania mobilnego</a:t>
            </a:r>
            <a:endParaRPr lang="pl-PL" sz="1400" b="0" u="none" strike="noStrike">
              <a:solidFill>
                <a:srgbClr val="ffffff"/>
              </a:solidFill>
              <a:effectLst/>
              <a:uFillTx/>
              <a:latin typeface="Arial"/>
            </a:endParaRPr>
          </a:p>
        </p:txBody>
      </p:sp>
      <p:sp>
        <p:nvSpPr>
          <p:cNvPr id="246" name="Shape 52"/>
          <p:cNvSpPr/>
          <p:nvPr/>
        </p:nvSpPr>
        <p:spPr>
          <a:xfrm>
            <a:off x="0" y="4250160"/>
            <a:ext cx="196920" cy="70920"/>
          </a:xfrm>
          <a:prstGeom prst="rect">
            <a:avLst/>
          </a:prstGeom>
          <a:solidFill>
            <a:srgbClr val="071523"/>
          </a:solidFill>
          <a:ln w="12600">
            <a:solidFill>
              <a:srgbClr val="071523"/>
            </a:solidFill>
            <a:round/>
          </a:ln>
        </p:spPr>
        <p:style>
          <a:lnRef idx="0"/>
          <a:fillRef idx="0"/>
          <a:effectRef idx="0"/>
          <a:fontRef idx="minor"/>
        </p:style>
        <p:txBody>
          <a:bodyPr lIns="90000" rIns="90000" tIns="27000" bIns="27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7"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48" name="Grupa 35"/>
          <p:cNvGrpSpPr/>
          <p:nvPr/>
        </p:nvGrpSpPr>
        <p:grpSpPr>
          <a:xfrm>
            <a:off x="-2520" y="4884840"/>
            <a:ext cx="9145440" cy="259200"/>
            <a:chOff x="-2520" y="4884840"/>
            <a:chExt cx="9145440" cy="259200"/>
          </a:xfrm>
        </p:grpSpPr>
        <p:sp>
          <p:nvSpPr>
            <p:cNvPr id="249"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0"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51" name="Grupa 39"/>
            <p:cNvGrpSpPr/>
            <p:nvPr/>
          </p:nvGrpSpPr>
          <p:grpSpPr>
            <a:xfrm>
              <a:off x="-2520" y="5099400"/>
              <a:ext cx="9145440" cy="44640"/>
              <a:chOff x="-2520" y="5099400"/>
              <a:chExt cx="9145440" cy="44640"/>
            </a:xfrm>
          </p:grpSpPr>
          <p:sp>
            <p:nvSpPr>
              <p:cNvPr id="252"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4"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5"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6" name="Shape 52"/>
              <p:cNvSpPr/>
              <p:nvPr/>
            </p:nvSpPr>
            <p:spPr>
              <a:xfrm>
                <a:off x="795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7" name="Shape 52"/>
              <p:cNvSpPr/>
              <p:nvPr/>
            </p:nvSpPr>
            <p:spPr>
              <a:xfrm>
                <a:off x="993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8" name="Shape 52"/>
              <p:cNvSpPr/>
              <p:nvPr/>
            </p:nvSpPr>
            <p:spPr>
              <a:xfrm>
                <a:off x="1192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9" name="Shape 52"/>
              <p:cNvSpPr/>
              <p:nvPr/>
            </p:nvSpPr>
            <p:spPr>
              <a:xfrm>
                <a:off x="13914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0" name="Shape 52"/>
              <p:cNvSpPr/>
              <p:nvPr/>
            </p:nvSpPr>
            <p:spPr>
              <a:xfrm>
                <a:off x="15901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1"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2"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4"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5"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6"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7"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8"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9"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0"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1"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3"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4"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5"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6"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7"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9"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0"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1"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2"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3"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4"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5"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6"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7"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8"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9"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0"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1"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2"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4"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5"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6"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7"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98" name="Shape 0"/>
          <p:cNvSpPr/>
          <p:nvPr/>
        </p:nvSpPr>
        <p:spPr>
          <a:xfrm>
            <a:off x="320040" y="255960"/>
            <a:ext cx="53640" cy="5018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9"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Definicja UI i UX: różnice i zależności</a:t>
            </a:r>
            <a:endParaRPr lang="pl-PL" sz="2200" b="0" u="none" strike="noStrike">
              <a:solidFill>
                <a:srgbClr val="ffffff"/>
              </a:solidFill>
              <a:effectLst/>
              <a:uFillTx/>
              <a:latin typeface="Arial"/>
            </a:endParaRPr>
          </a:p>
        </p:txBody>
      </p:sp>
      <p:sp>
        <p:nvSpPr>
          <p:cNvPr id="300" name="Shape 2"/>
          <p:cNvSpPr/>
          <p:nvPr/>
        </p:nvSpPr>
        <p:spPr>
          <a:xfrm>
            <a:off x="320040" y="914400"/>
            <a:ext cx="4068000" cy="2965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1" name="Shape 3"/>
          <p:cNvSpPr/>
          <p:nvPr/>
        </p:nvSpPr>
        <p:spPr>
          <a:xfrm>
            <a:off x="320040" y="914400"/>
            <a:ext cx="44640" cy="29653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2" name="Text 4"/>
          <p:cNvSpPr/>
          <p:nvPr/>
        </p:nvSpPr>
        <p:spPr>
          <a:xfrm>
            <a:off x="457200" y="957960"/>
            <a:ext cx="37936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00d4ff"/>
                </a:solidFill>
                <a:effectLst/>
                <a:uFillTx/>
                <a:latin typeface="Calibri"/>
                <a:ea typeface="DejaVu Sans"/>
              </a:rPr>
              <a:t>UI - User Interface</a:t>
            </a:r>
            <a:endParaRPr lang="pl-PL" sz="1600" b="0" u="none" strike="noStrike">
              <a:solidFill>
                <a:srgbClr val="ffffff"/>
              </a:solidFill>
              <a:effectLst/>
              <a:uFillTx/>
              <a:latin typeface="Arial"/>
            </a:endParaRPr>
          </a:p>
        </p:txBody>
      </p:sp>
      <p:sp>
        <p:nvSpPr>
          <p:cNvPr id="303" name="Text 5"/>
          <p:cNvSpPr/>
          <p:nvPr/>
        </p:nvSpPr>
        <p:spPr>
          <a:xfrm>
            <a:off x="457200" y="1298520"/>
            <a:ext cx="379368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e1e3e3"/>
                </a:solidFill>
                <a:effectLst/>
                <a:uFillTx/>
                <a:latin typeface="Calibri"/>
                <a:ea typeface="DejaVu Sans"/>
              </a:rPr>
              <a:t>warstwa wizualna i interaktywna aplikacji</a:t>
            </a:r>
            <a:endParaRPr lang="pl-PL" sz="1200" b="0" u="none" strike="noStrike">
              <a:solidFill>
                <a:srgbClr val="ffffff"/>
              </a:solidFill>
              <a:effectLst/>
              <a:uFillTx/>
              <a:latin typeface="Arial"/>
            </a:endParaRPr>
          </a:p>
        </p:txBody>
      </p:sp>
      <p:sp>
        <p:nvSpPr>
          <p:cNvPr id="304" name="Shape 6"/>
          <p:cNvSpPr/>
          <p:nvPr/>
        </p:nvSpPr>
        <p:spPr>
          <a:xfrm>
            <a:off x="475560" y="1757880"/>
            <a:ext cx="163440" cy="1634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 name="Text 7"/>
          <p:cNvSpPr/>
          <p:nvPr/>
        </p:nvSpPr>
        <p:spPr>
          <a:xfrm>
            <a:off x="713160" y="167508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Elementy wizualne: kolory, typografia, ikony, przyciski</a:t>
            </a:r>
            <a:endParaRPr lang="pl-PL" sz="1200" b="0" u="none" strike="noStrike">
              <a:solidFill>
                <a:srgbClr val="ffffff"/>
              </a:solidFill>
              <a:effectLst/>
              <a:uFillTx/>
              <a:latin typeface="Arial"/>
            </a:endParaRPr>
          </a:p>
        </p:txBody>
      </p:sp>
      <p:sp>
        <p:nvSpPr>
          <p:cNvPr id="306" name="Shape 8"/>
          <p:cNvSpPr/>
          <p:nvPr/>
        </p:nvSpPr>
        <p:spPr>
          <a:xfrm>
            <a:off x="475560" y="2181600"/>
            <a:ext cx="163440" cy="1634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7" name="Text 9"/>
          <p:cNvSpPr/>
          <p:nvPr/>
        </p:nvSpPr>
        <p:spPr>
          <a:xfrm>
            <a:off x="713160" y="209844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Układ i kompozycja elementów na ekranie</a:t>
            </a:r>
            <a:endParaRPr lang="pl-PL" sz="1200" b="0" u="none" strike="noStrike">
              <a:solidFill>
                <a:srgbClr val="ffffff"/>
              </a:solidFill>
              <a:effectLst/>
              <a:uFillTx/>
              <a:latin typeface="Arial"/>
            </a:endParaRPr>
          </a:p>
        </p:txBody>
      </p:sp>
      <p:sp>
        <p:nvSpPr>
          <p:cNvPr id="308" name="Shape 10"/>
          <p:cNvSpPr/>
          <p:nvPr/>
        </p:nvSpPr>
        <p:spPr>
          <a:xfrm>
            <a:off x="475560" y="2619720"/>
            <a:ext cx="163440" cy="1634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9" name="Text 11"/>
          <p:cNvSpPr/>
          <p:nvPr/>
        </p:nvSpPr>
        <p:spPr>
          <a:xfrm>
            <a:off x="713160" y="253692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Responsywność i adaptacja do różnych ekranów</a:t>
            </a:r>
            <a:endParaRPr lang="pl-PL" sz="1200" b="0" u="none" strike="noStrike">
              <a:solidFill>
                <a:srgbClr val="ffffff"/>
              </a:solidFill>
              <a:effectLst/>
              <a:uFillTx/>
              <a:latin typeface="Arial"/>
            </a:endParaRPr>
          </a:p>
        </p:txBody>
      </p:sp>
      <p:sp>
        <p:nvSpPr>
          <p:cNvPr id="310" name="Shape 12"/>
          <p:cNvSpPr/>
          <p:nvPr/>
        </p:nvSpPr>
        <p:spPr>
          <a:xfrm>
            <a:off x="475560" y="3072960"/>
            <a:ext cx="163440" cy="1634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1" name="Text 13"/>
          <p:cNvSpPr/>
          <p:nvPr/>
        </p:nvSpPr>
        <p:spPr>
          <a:xfrm>
            <a:off x="713160" y="299016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Mikrointerakcje i animacje interfejsu</a:t>
            </a:r>
            <a:endParaRPr lang="pl-PL" sz="1200" b="0" u="none" strike="noStrike">
              <a:solidFill>
                <a:srgbClr val="ffffff"/>
              </a:solidFill>
              <a:effectLst/>
              <a:uFillTx/>
              <a:latin typeface="Arial"/>
            </a:endParaRPr>
          </a:p>
        </p:txBody>
      </p:sp>
      <p:sp>
        <p:nvSpPr>
          <p:cNvPr id="312" name="Text 14"/>
          <p:cNvSpPr/>
          <p:nvPr/>
        </p:nvSpPr>
        <p:spPr>
          <a:xfrm>
            <a:off x="457200" y="3480120"/>
            <a:ext cx="3793680" cy="273240"/>
          </a:xfrm>
          <a:prstGeom prst="rect">
            <a:avLst/>
          </a:prstGeom>
          <a:noFill/>
          <a:ln w="0">
            <a:noFill/>
          </a:ln>
          <a:effectLst>
            <a:outerShdw blurRad="50760" dir="2700000" dist="37674" rotWithShape="0">
              <a:srgbClr val="000000">
                <a:alpha val="40000"/>
              </a:srgbClr>
            </a:outerShdw>
          </a:effectLst>
        </p:spPr>
        <p:style>
          <a:lnRef idx="0"/>
          <a:fillRef idx="0"/>
          <a:effectRef idx="0"/>
          <a:fontRef idx="minor"/>
        </p:style>
        <p:txBody>
          <a:bodyPr lIns="0" rIns="0" tIns="0" bIns="0" anchor="ctr">
            <a:noAutofit/>
          </a:bodyPr>
          <a:p>
            <a:pPr algn="ctr" defTabSz="914400">
              <a:lnSpc>
                <a:spcPct val="100000"/>
              </a:lnSpc>
              <a:tabLst>
                <a:tab algn="l" pos="0"/>
              </a:tabLst>
            </a:pPr>
            <a:r>
              <a:rPr lang="pl-PL" sz="1800" b="0" i="1" u="none" strike="noStrike">
                <a:solidFill>
                  <a:srgbClr val="e1e3e3"/>
                </a:solidFill>
                <a:effectLst/>
                <a:uFillTx/>
                <a:latin typeface="Calibri"/>
                <a:ea typeface="DejaVu Sans"/>
              </a:rPr>
              <a:t>Pytanie: Jak to wygląda?</a:t>
            </a:r>
            <a:endParaRPr lang="pl-PL" sz="1800" b="0" u="none" strike="noStrike">
              <a:solidFill>
                <a:srgbClr val="ffffff"/>
              </a:solidFill>
              <a:effectLst/>
              <a:uFillTx/>
              <a:latin typeface="Arial"/>
            </a:endParaRPr>
          </a:p>
        </p:txBody>
      </p:sp>
      <p:sp>
        <p:nvSpPr>
          <p:cNvPr id="313" name="Shape 15"/>
          <p:cNvSpPr/>
          <p:nvPr/>
        </p:nvSpPr>
        <p:spPr>
          <a:xfrm>
            <a:off x="4754880" y="914400"/>
            <a:ext cx="4068000" cy="2965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4" name="Shape 16"/>
          <p:cNvSpPr/>
          <p:nvPr/>
        </p:nvSpPr>
        <p:spPr>
          <a:xfrm>
            <a:off x="4754880" y="914400"/>
            <a:ext cx="44640" cy="29653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5" name="Text 17"/>
          <p:cNvSpPr/>
          <p:nvPr/>
        </p:nvSpPr>
        <p:spPr>
          <a:xfrm>
            <a:off x="4892040" y="957960"/>
            <a:ext cx="37936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2d78"/>
                </a:solidFill>
                <a:effectLst/>
                <a:uFillTx/>
                <a:latin typeface="Calibri"/>
                <a:ea typeface="DejaVu Sans"/>
              </a:rPr>
              <a:t>UX - User Experience</a:t>
            </a:r>
            <a:endParaRPr lang="pl-PL" sz="1600" b="0" u="none" strike="noStrike">
              <a:solidFill>
                <a:srgbClr val="ffffff"/>
              </a:solidFill>
              <a:effectLst/>
              <a:uFillTx/>
              <a:latin typeface="Arial"/>
            </a:endParaRPr>
          </a:p>
        </p:txBody>
      </p:sp>
      <p:sp>
        <p:nvSpPr>
          <p:cNvPr id="316" name="Text 18"/>
          <p:cNvSpPr/>
          <p:nvPr/>
        </p:nvSpPr>
        <p:spPr>
          <a:xfrm>
            <a:off x="4892040" y="1298520"/>
            <a:ext cx="379368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e1e3e3"/>
                </a:solidFill>
                <a:effectLst/>
                <a:uFillTx/>
                <a:latin typeface="Calibri"/>
                <a:ea typeface="DejaVu Sans"/>
              </a:rPr>
              <a:t>całościowe doświadczenie użytkownika z produktem</a:t>
            </a:r>
            <a:endParaRPr lang="pl-PL" sz="1200" b="0" u="none" strike="noStrike">
              <a:solidFill>
                <a:srgbClr val="ffffff"/>
              </a:solidFill>
              <a:effectLst/>
              <a:uFillTx/>
              <a:latin typeface="Arial"/>
            </a:endParaRPr>
          </a:p>
        </p:txBody>
      </p:sp>
      <p:sp>
        <p:nvSpPr>
          <p:cNvPr id="317" name="Shape 19"/>
          <p:cNvSpPr/>
          <p:nvPr/>
        </p:nvSpPr>
        <p:spPr>
          <a:xfrm>
            <a:off x="4910400" y="1817640"/>
            <a:ext cx="163440" cy="1634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8" name="Text 20"/>
          <p:cNvSpPr/>
          <p:nvPr/>
        </p:nvSpPr>
        <p:spPr>
          <a:xfrm>
            <a:off x="5148000" y="173448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Łatwość użycia i intuicyjność nawigacji</a:t>
            </a:r>
            <a:endParaRPr lang="pl-PL" sz="1200" b="0" u="none" strike="noStrike">
              <a:solidFill>
                <a:srgbClr val="ffffff"/>
              </a:solidFill>
              <a:effectLst/>
              <a:uFillTx/>
              <a:latin typeface="Arial"/>
            </a:endParaRPr>
          </a:p>
        </p:txBody>
      </p:sp>
      <p:sp>
        <p:nvSpPr>
          <p:cNvPr id="319" name="Shape 21"/>
          <p:cNvSpPr/>
          <p:nvPr/>
        </p:nvSpPr>
        <p:spPr>
          <a:xfrm>
            <a:off x="4910400" y="2233440"/>
            <a:ext cx="163440" cy="1634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0" name="Text 22"/>
          <p:cNvSpPr/>
          <p:nvPr/>
        </p:nvSpPr>
        <p:spPr>
          <a:xfrm>
            <a:off x="5148000" y="215064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Satysfakcja i emocje podczas użytkowania</a:t>
            </a:r>
            <a:endParaRPr lang="pl-PL" sz="1200" b="0" u="none" strike="noStrike">
              <a:solidFill>
                <a:srgbClr val="ffffff"/>
              </a:solidFill>
              <a:effectLst/>
              <a:uFillTx/>
              <a:latin typeface="Arial"/>
            </a:endParaRPr>
          </a:p>
        </p:txBody>
      </p:sp>
      <p:sp>
        <p:nvSpPr>
          <p:cNvPr id="321" name="Shape 23"/>
          <p:cNvSpPr/>
          <p:nvPr/>
        </p:nvSpPr>
        <p:spPr>
          <a:xfrm>
            <a:off x="4910400" y="2642040"/>
            <a:ext cx="163440" cy="1634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2" name="Text 24"/>
          <p:cNvSpPr/>
          <p:nvPr/>
        </p:nvSpPr>
        <p:spPr>
          <a:xfrm>
            <a:off x="5148000" y="255924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Efektywność w realizacji celów użytkownika</a:t>
            </a:r>
            <a:endParaRPr lang="pl-PL" sz="1200" b="0" u="none" strike="noStrike">
              <a:solidFill>
                <a:srgbClr val="ffffff"/>
              </a:solidFill>
              <a:effectLst/>
              <a:uFillTx/>
              <a:latin typeface="Arial"/>
            </a:endParaRPr>
          </a:p>
        </p:txBody>
      </p:sp>
      <p:sp>
        <p:nvSpPr>
          <p:cNvPr id="323" name="Shape 25"/>
          <p:cNvSpPr/>
          <p:nvPr/>
        </p:nvSpPr>
        <p:spPr>
          <a:xfrm>
            <a:off x="4910400" y="3072960"/>
            <a:ext cx="163440" cy="1634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4" name="Text 26"/>
          <p:cNvSpPr/>
          <p:nvPr/>
        </p:nvSpPr>
        <p:spPr>
          <a:xfrm>
            <a:off x="5148000" y="2990160"/>
            <a:ext cx="3565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Dostępność i inkluzywność projektowania</a:t>
            </a:r>
            <a:endParaRPr lang="pl-PL" sz="1200" b="0" u="none" strike="noStrike">
              <a:solidFill>
                <a:srgbClr val="ffffff"/>
              </a:solidFill>
              <a:effectLst/>
              <a:uFillTx/>
              <a:latin typeface="Arial"/>
            </a:endParaRPr>
          </a:p>
        </p:txBody>
      </p:sp>
      <p:sp>
        <p:nvSpPr>
          <p:cNvPr id="325" name="Text 27"/>
          <p:cNvSpPr/>
          <p:nvPr/>
        </p:nvSpPr>
        <p:spPr>
          <a:xfrm>
            <a:off x="4892040" y="3480120"/>
            <a:ext cx="3793680" cy="273240"/>
          </a:xfrm>
          <a:prstGeom prst="rect">
            <a:avLst/>
          </a:prstGeom>
          <a:noFill/>
          <a:ln w="0">
            <a:noFill/>
          </a:ln>
          <a:effectLst>
            <a:outerShdw blurRad="50760" dir="2700000" dist="37674" rotWithShape="0">
              <a:srgbClr val="000000">
                <a:alpha val="40000"/>
              </a:srgbClr>
            </a:outerShdw>
          </a:effectLst>
        </p:spPr>
        <p:style>
          <a:lnRef idx="0"/>
          <a:fillRef idx="0"/>
          <a:effectRef idx="0"/>
          <a:fontRef idx="minor"/>
        </p:style>
        <p:txBody>
          <a:bodyPr lIns="0" rIns="0" tIns="0" bIns="0" anchor="ctr">
            <a:noAutofit/>
          </a:bodyPr>
          <a:p>
            <a:pPr algn="ctr" defTabSz="914400">
              <a:lnSpc>
                <a:spcPct val="100000"/>
              </a:lnSpc>
              <a:tabLst>
                <a:tab algn="l" pos="0"/>
              </a:tabLst>
            </a:pPr>
            <a:r>
              <a:rPr lang="pl-PL" sz="1800" b="0" i="1" u="none" strike="noStrike">
                <a:solidFill>
                  <a:srgbClr val="e1e3e3"/>
                </a:solidFill>
                <a:effectLst/>
                <a:uFillTx/>
                <a:latin typeface="Calibri"/>
                <a:ea typeface="DejaVu Sans"/>
              </a:rPr>
              <a:t>Pytanie: Jakie to daje uczucie?</a:t>
            </a:r>
            <a:endParaRPr lang="pl-PL" sz="1800" b="0" u="none" strike="noStrike">
              <a:solidFill>
                <a:srgbClr val="ffffff"/>
              </a:solidFill>
              <a:effectLst/>
              <a:uFillTx/>
              <a:latin typeface="Arial"/>
            </a:endParaRPr>
          </a:p>
        </p:txBody>
      </p:sp>
      <p:sp>
        <p:nvSpPr>
          <p:cNvPr id="326" name="Shape 28"/>
          <p:cNvSpPr/>
          <p:nvPr/>
        </p:nvSpPr>
        <p:spPr>
          <a:xfrm>
            <a:off x="320040" y="4013640"/>
            <a:ext cx="8502840" cy="49464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7" name="Text 29"/>
          <p:cNvSpPr/>
          <p:nvPr/>
        </p:nvSpPr>
        <p:spPr>
          <a:xfrm>
            <a:off x="397440" y="4041000"/>
            <a:ext cx="8334000" cy="432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pc="-51" strike="noStrike">
                <a:solidFill>
                  <a:srgbClr val="ccddee"/>
                </a:solidFill>
                <a:effectLst/>
                <a:uFillTx/>
                <a:latin typeface="Calibri"/>
                <a:ea typeface="DejaVu Sans"/>
              </a:rPr>
              <a:t>Relacja UI–UX: UI jest częścią składową UX. Doskonały interfejs wizualny nie zastąpi słabego doświadczenia, ale świetny UX wymaga solidnego UI.</a:t>
            </a:r>
            <a:endParaRPr lang="pl-PL" sz="1200" b="0" u="none" strike="noStrike">
              <a:solidFill>
                <a:srgbClr val="ffffff"/>
              </a:solidFill>
              <a:effectLst/>
              <a:uFillTx/>
              <a:latin typeface="Arial"/>
            </a:endParaRPr>
          </a:p>
        </p:txBody>
      </p:sp>
      <p:sp>
        <p:nvSpPr>
          <p:cNvPr id="328" name="Text 32"/>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4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329" name="Grupa 33"/>
          <p:cNvGrpSpPr/>
          <p:nvPr/>
        </p:nvGrpSpPr>
        <p:grpSpPr>
          <a:xfrm>
            <a:off x="-2520" y="4884840"/>
            <a:ext cx="9145440" cy="259200"/>
            <a:chOff x="-2520" y="4884840"/>
            <a:chExt cx="9145440" cy="259200"/>
          </a:xfrm>
        </p:grpSpPr>
        <p:sp>
          <p:nvSpPr>
            <p:cNvPr id="330"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1"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32" name="Grupa 36"/>
            <p:cNvGrpSpPr/>
            <p:nvPr/>
          </p:nvGrpSpPr>
          <p:grpSpPr>
            <a:xfrm>
              <a:off x="-2520" y="5099400"/>
              <a:ext cx="9145440" cy="44640"/>
              <a:chOff x="-2520" y="5099400"/>
              <a:chExt cx="9145440" cy="44640"/>
            </a:xfrm>
          </p:grpSpPr>
          <p:sp>
            <p:nvSpPr>
              <p:cNvPr id="333"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8" name="Shape 52"/>
              <p:cNvSpPr/>
              <p:nvPr/>
            </p:nvSpPr>
            <p:spPr>
              <a:xfrm>
                <a:off x="993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9" name="Shape 52"/>
              <p:cNvSpPr/>
              <p:nvPr/>
            </p:nvSpPr>
            <p:spPr>
              <a:xfrm>
                <a:off x="1192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0" name="Shape 52"/>
              <p:cNvSpPr/>
              <p:nvPr/>
            </p:nvSpPr>
            <p:spPr>
              <a:xfrm>
                <a:off x="13914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1" name="Shape 52"/>
              <p:cNvSpPr/>
              <p:nvPr/>
            </p:nvSpPr>
            <p:spPr>
              <a:xfrm>
                <a:off x="15901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2"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3"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4"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5"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6"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7"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8"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9"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0"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1"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2"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3"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4"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5"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6"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7"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8"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9"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0"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1"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2"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3"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4"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5"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6"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7"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8"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9"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0"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1"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2"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3"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4"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5"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6"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7"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8"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79" name="Shape 0"/>
          <p:cNvSpPr/>
          <p:nvPr/>
        </p:nvSpPr>
        <p:spPr>
          <a:xfrm>
            <a:off x="320040" y="255960"/>
            <a:ext cx="53640" cy="5018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80"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Ewolucja projektowania mobilnego</a:t>
            </a:r>
            <a:endParaRPr lang="pl-PL" sz="2200" b="0" u="none" strike="noStrike">
              <a:solidFill>
                <a:srgbClr val="ffffff"/>
              </a:solidFill>
              <a:effectLst/>
              <a:uFillTx/>
              <a:latin typeface="Arial"/>
            </a:endParaRPr>
          </a:p>
        </p:txBody>
      </p:sp>
      <p:sp>
        <p:nvSpPr>
          <p:cNvPr id="381" name="Shape 2"/>
          <p:cNvSpPr/>
          <p:nvPr/>
        </p:nvSpPr>
        <p:spPr>
          <a:xfrm>
            <a:off x="198720" y="1523880"/>
            <a:ext cx="2131920" cy="206892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82" name="Shape 3"/>
          <p:cNvSpPr/>
          <p:nvPr/>
        </p:nvSpPr>
        <p:spPr>
          <a:xfrm>
            <a:off x="198720" y="1523880"/>
            <a:ext cx="2131920" cy="53640"/>
          </a:xfrm>
          <a:prstGeom prst="rect">
            <a:avLst/>
          </a:prstGeom>
          <a:solidFill>
            <a:srgbClr val="00d4ff"/>
          </a:solidFill>
          <a:ln w="12600">
            <a:solidFill>
              <a:srgbClr val="00d4ff"/>
            </a:solidFill>
            <a:round/>
          </a:ln>
        </p:spPr>
        <p:style>
          <a:lnRef idx="0"/>
          <a:fillRef idx="0"/>
          <a:effectRef idx="0"/>
          <a:fontRef idx="minor"/>
        </p:style>
        <p:txBody>
          <a:bodyPr lIns="90000" rIns="90000" tIns="9720" bIns="972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83" name="Text 4"/>
          <p:cNvSpPr/>
          <p:nvPr/>
        </p:nvSpPr>
        <p:spPr>
          <a:xfrm>
            <a:off x="267480" y="1616400"/>
            <a:ext cx="19717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d4ff"/>
                </a:solidFill>
                <a:effectLst/>
                <a:uFillTx/>
                <a:latin typeface="Calibri"/>
                <a:ea typeface="DejaVu Sans"/>
              </a:rPr>
              <a:t>1990s–2006</a:t>
            </a:r>
            <a:endParaRPr lang="pl-PL" sz="1400" b="0" u="none" strike="noStrike">
              <a:solidFill>
                <a:srgbClr val="ffffff"/>
              </a:solidFill>
              <a:effectLst/>
              <a:uFillTx/>
              <a:latin typeface="Arial"/>
            </a:endParaRPr>
          </a:p>
        </p:txBody>
      </p:sp>
      <p:sp>
        <p:nvSpPr>
          <p:cNvPr id="384" name="Text 5"/>
          <p:cNvSpPr/>
          <p:nvPr/>
        </p:nvSpPr>
        <p:spPr>
          <a:xfrm>
            <a:off x="267480" y="1962360"/>
            <a:ext cx="19717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pc="-99" strike="noStrike">
                <a:solidFill>
                  <a:srgbClr val="ffffff"/>
                </a:solidFill>
                <a:effectLst/>
                <a:uFillTx/>
                <a:latin typeface="Calibri"/>
                <a:ea typeface="DejaVu Sans"/>
              </a:rPr>
              <a:t>Era przedsmartfonowa</a:t>
            </a:r>
            <a:endParaRPr lang="pl-PL" sz="1800" b="0" u="none" strike="noStrike">
              <a:solidFill>
                <a:srgbClr val="ffffff"/>
              </a:solidFill>
              <a:effectLst/>
              <a:uFillTx/>
              <a:latin typeface="Arial"/>
            </a:endParaRPr>
          </a:p>
        </p:txBody>
      </p:sp>
      <p:sp>
        <p:nvSpPr>
          <p:cNvPr id="385" name="Text 6"/>
          <p:cNvSpPr/>
          <p:nvPr/>
        </p:nvSpPr>
        <p:spPr>
          <a:xfrm>
            <a:off x="267480" y="2484000"/>
            <a:ext cx="1971720" cy="99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8899aa"/>
                </a:solidFill>
                <a:effectLst/>
                <a:uFillTx/>
                <a:latin typeface="Calibri"/>
                <a:ea typeface="DejaVu Sans"/>
              </a:rPr>
              <a:t>Telefony z fizycznymi klawiaturami, małe ekrany. Nokia, Motorola - proste menu tekstowe i ikonowe.</a:t>
            </a:r>
            <a:endParaRPr lang="pl-PL" sz="1200" b="0" u="none" strike="noStrike">
              <a:solidFill>
                <a:srgbClr val="ffffff"/>
              </a:solidFill>
              <a:effectLst/>
              <a:uFillTx/>
              <a:latin typeface="Arial"/>
            </a:endParaRPr>
          </a:p>
        </p:txBody>
      </p:sp>
      <p:sp>
        <p:nvSpPr>
          <p:cNvPr id="386" name="Shape 8"/>
          <p:cNvSpPr/>
          <p:nvPr/>
        </p:nvSpPr>
        <p:spPr>
          <a:xfrm>
            <a:off x="2468880" y="1523880"/>
            <a:ext cx="2010600" cy="206892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87" name="Shape 9"/>
          <p:cNvSpPr/>
          <p:nvPr/>
        </p:nvSpPr>
        <p:spPr>
          <a:xfrm>
            <a:off x="2468880" y="1523880"/>
            <a:ext cx="2010600" cy="53640"/>
          </a:xfrm>
          <a:prstGeom prst="rect">
            <a:avLst/>
          </a:prstGeom>
          <a:solidFill>
            <a:srgbClr val="ff2d78"/>
          </a:solidFill>
          <a:ln w="12600">
            <a:solidFill>
              <a:srgbClr val="ff2d78"/>
            </a:solidFill>
            <a:round/>
          </a:ln>
        </p:spPr>
        <p:style>
          <a:lnRef idx="0"/>
          <a:fillRef idx="0"/>
          <a:effectRef idx="0"/>
          <a:fontRef idx="minor"/>
        </p:style>
        <p:txBody>
          <a:bodyPr lIns="90000" rIns="90000" tIns="9720" bIns="972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88" name="Text 10"/>
          <p:cNvSpPr/>
          <p:nvPr/>
        </p:nvSpPr>
        <p:spPr>
          <a:xfrm>
            <a:off x="2560320" y="1616400"/>
            <a:ext cx="18277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2d78"/>
                </a:solidFill>
                <a:effectLst/>
                <a:uFillTx/>
                <a:latin typeface="Calibri"/>
                <a:ea typeface="DejaVu Sans"/>
              </a:rPr>
              <a:t>2007</a:t>
            </a:r>
            <a:endParaRPr lang="pl-PL" sz="1400" b="0" u="none" strike="noStrike">
              <a:solidFill>
                <a:srgbClr val="ffffff"/>
              </a:solidFill>
              <a:effectLst/>
              <a:uFillTx/>
              <a:latin typeface="Arial"/>
            </a:endParaRPr>
          </a:p>
        </p:txBody>
      </p:sp>
      <p:sp>
        <p:nvSpPr>
          <p:cNvPr id="389" name="Text 11"/>
          <p:cNvSpPr/>
          <p:nvPr/>
        </p:nvSpPr>
        <p:spPr>
          <a:xfrm>
            <a:off x="2560320" y="1962360"/>
            <a:ext cx="18277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Rewolucja iPhone</a:t>
            </a:r>
            <a:endParaRPr lang="pl-PL" sz="1800" b="0" u="none" strike="noStrike">
              <a:solidFill>
                <a:srgbClr val="ffffff"/>
              </a:solidFill>
              <a:effectLst/>
              <a:uFillTx/>
              <a:latin typeface="Arial"/>
            </a:endParaRPr>
          </a:p>
        </p:txBody>
      </p:sp>
      <p:sp>
        <p:nvSpPr>
          <p:cNvPr id="390" name="Text 12"/>
          <p:cNvSpPr/>
          <p:nvPr/>
        </p:nvSpPr>
        <p:spPr>
          <a:xfrm>
            <a:off x="2560320" y="2484000"/>
            <a:ext cx="1827720" cy="99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8899aa"/>
                </a:solidFill>
                <a:effectLst/>
                <a:uFillTx/>
                <a:latin typeface="Calibri"/>
                <a:ea typeface="DejaVu Sans"/>
              </a:rPr>
              <a:t>Pojawienie się iPhone zmienia wszystko: wielodotykowy ekran, gesty, nowa era projektowania. Początek skeuomorfizmu.</a:t>
            </a:r>
            <a:endParaRPr lang="pl-PL" sz="1200" b="0" u="none" strike="noStrike">
              <a:solidFill>
                <a:srgbClr val="ffffff"/>
              </a:solidFill>
              <a:effectLst/>
              <a:uFillTx/>
              <a:latin typeface="Arial"/>
            </a:endParaRPr>
          </a:p>
        </p:txBody>
      </p:sp>
      <p:sp>
        <p:nvSpPr>
          <p:cNvPr id="391" name="Shape 14"/>
          <p:cNvSpPr/>
          <p:nvPr/>
        </p:nvSpPr>
        <p:spPr>
          <a:xfrm>
            <a:off x="4617720" y="1523880"/>
            <a:ext cx="2010600" cy="206892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92" name="Shape 15"/>
          <p:cNvSpPr/>
          <p:nvPr/>
        </p:nvSpPr>
        <p:spPr>
          <a:xfrm>
            <a:off x="4617720" y="1523880"/>
            <a:ext cx="2010600" cy="53640"/>
          </a:xfrm>
          <a:prstGeom prst="rect">
            <a:avLst/>
          </a:prstGeom>
          <a:solidFill>
            <a:srgbClr val="00e676"/>
          </a:solidFill>
          <a:ln w="12600">
            <a:solidFill>
              <a:srgbClr val="00e676"/>
            </a:solidFill>
            <a:round/>
          </a:ln>
        </p:spPr>
        <p:style>
          <a:lnRef idx="0"/>
          <a:fillRef idx="0"/>
          <a:effectRef idx="0"/>
          <a:fontRef idx="minor"/>
        </p:style>
        <p:txBody>
          <a:bodyPr lIns="90000" rIns="90000" tIns="9720" bIns="972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93" name="Text 16"/>
          <p:cNvSpPr/>
          <p:nvPr/>
        </p:nvSpPr>
        <p:spPr>
          <a:xfrm>
            <a:off x="4709160" y="1616400"/>
            <a:ext cx="18277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e676"/>
                </a:solidFill>
                <a:effectLst/>
                <a:uFillTx/>
                <a:latin typeface="Calibri"/>
                <a:ea typeface="DejaVu Sans"/>
              </a:rPr>
              <a:t>2014</a:t>
            </a:r>
            <a:endParaRPr lang="pl-PL" sz="1400" b="0" u="none" strike="noStrike">
              <a:solidFill>
                <a:srgbClr val="ffffff"/>
              </a:solidFill>
              <a:effectLst/>
              <a:uFillTx/>
              <a:latin typeface="Arial"/>
            </a:endParaRPr>
          </a:p>
        </p:txBody>
      </p:sp>
      <p:sp>
        <p:nvSpPr>
          <p:cNvPr id="394" name="Text 17"/>
          <p:cNvSpPr/>
          <p:nvPr/>
        </p:nvSpPr>
        <p:spPr>
          <a:xfrm>
            <a:off x="4709160" y="1962360"/>
            <a:ext cx="18277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Material Design</a:t>
            </a:r>
            <a:endParaRPr lang="pl-PL" sz="1800" b="0" u="none" strike="noStrike">
              <a:solidFill>
                <a:srgbClr val="ffffff"/>
              </a:solidFill>
              <a:effectLst/>
              <a:uFillTx/>
              <a:latin typeface="Arial"/>
            </a:endParaRPr>
          </a:p>
        </p:txBody>
      </p:sp>
      <p:sp>
        <p:nvSpPr>
          <p:cNvPr id="395" name="Text 18"/>
          <p:cNvSpPr/>
          <p:nvPr/>
        </p:nvSpPr>
        <p:spPr>
          <a:xfrm>
            <a:off x="4709160" y="2484000"/>
            <a:ext cx="1827720" cy="99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8899aa"/>
                </a:solidFill>
                <a:effectLst/>
                <a:uFillTx/>
                <a:latin typeface="Calibri"/>
                <a:ea typeface="DejaVu Sans"/>
              </a:rPr>
              <a:t>Google wprowadza Material Design - jednolity język wizualny dla Android. Flat design, cienie, animacje jako informacja.</a:t>
            </a:r>
            <a:endParaRPr lang="pl-PL" sz="1200" b="0" u="none" strike="noStrike">
              <a:solidFill>
                <a:srgbClr val="ffffff"/>
              </a:solidFill>
              <a:effectLst/>
              <a:uFillTx/>
              <a:latin typeface="Arial"/>
            </a:endParaRPr>
          </a:p>
        </p:txBody>
      </p:sp>
      <p:sp>
        <p:nvSpPr>
          <p:cNvPr id="396" name="Shape 20"/>
          <p:cNvSpPr/>
          <p:nvPr/>
        </p:nvSpPr>
        <p:spPr>
          <a:xfrm>
            <a:off x="6766560" y="1523880"/>
            <a:ext cx="2177640" cy="206892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97" name="Shape 21"/>
          <p:cNvSpPr/>
          <p:nvPr/>
        </p:nvSpPr>
        <p:spPr>
          <a:xfrm>
            <a:off x="6766560" y="1523880"/>
            <a:ext cx="2177640" cy="53640"/>
          </a:xfrm>
          <a:prstGeom prst="rect">
            <a:avLst/>
          </a:prstGeom>
          <a:solidFill>
            <a:srgbClr val="b388ff"/>
          </a:solidFill>
          <a:ln w="12600">
            <a:solidFill>
              <a:srgbClr val="b388ff"/>
            </a:solidFill>
            <a:round/>
          </a:ln>
        </p:spPr>
        <p:style>
          <a:lnRef idx="0"/>
          <a:fillRef idx="0"/>
          <a:effectRef idx="0"/>
          <a:fontRef idx="minor"/>
        </p:style>
        <p:txBody>
          <a:bodyPr lIns="90000" rIns="90000" tIns="9720" bIns="972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98" name="Text 22"/>
          <p:cNvSpPr/>
          <p:nvPr/>
        </p:nvSpPr>
        <p:spPr>
          <a:xfrm>
            <a:off x="6858000" y="1616400"/>
            <a:ext cx="18277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b388ff"/>
                </a:solidFill>
                <a:effectLst/>
                <a:uFillTx/>
                <a:latin typeface="Calibri"/>
                <a:ea typeface="DejaVu Sans"/>
              </a:rPr>
              <a:t>2020+</a:t>
            </a:r>
            <a:endParaRPr lang="pl-PL" sz="1400" b="0" u="none" strike="noStrike">
              <a:solidFill>
                <a:srgbClr val="ffffff"/>
              </a:solidFill>
              <a:effectLst/>
              <a:uFillTx/>
              <a:latin typeface="Arial"/>
            </a:endParaRPr>
          </a:p>
        </p:txBody>
      </p:sp>
      <p:sp>
        <p:nvSpPr>
          <p:cNvPr id="399" name="Text 23"/>
          <p:cNvSpPr/>
          <p:nvPr/>
        </p:nvSpPr>
        <p:spPr>
          <a:xfrm>
            <a:off x="6858000" y="1962360"/>
            <a:ext cx="1827720" cy="383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Współczesność</a:t>
            </a:r>
            <a:endParaRPr lang="pl-PL" sz="1800" b="0" u="none" strike="noStrike">
              <a:solidFill>
                <a:srgbClr val="ffffff"/>
              </a:solidFill>
              <a:effectLst/>
              <a:uFillTx/>
              <a:latin typeface="Arial"/>
            </a:endParaRPr>
          </a:p>
        </p:txBody>
      </p:sp>
      <p:sp>
        <p:nvSpPr>
          <p:cNvPr id="400" name="Text 24"/>
          <p:cNvSpPr/>
          <p:nvPr/>
        </p:nvSpPr>
        <p:spPr>
          <a:xfrm>
            <a:off x="6858000" y="2484000"/>
            <a:ext cx="2010600" cy="99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8899aa"/>
                </a:solidFill>
                <a:effectLst/>
                <a:uFillTx/>
                <a:latin typeface="Calibri"/>
                <a:ea typeface="DejaVu Sans"/>
              </a:rPr>
              <a:t>Neumorfizm, Dark Mode, AI-driven design, personalizacja. Design Systems i automatyzacja jako standard.</a:t>
            </a:r>
            <a:endParaRPr lang="pl-PL" sz="1200" b="0" u="none" strike="noStrike">
              <a:solidFill>
                <a:srgbClr val="ffffff"/>
              </a:solidFill>
              <a:effectLst/>
              <a:uFillTx/>
              <a:latin typeface="Arial"/>
            </a:endParaRPr>
          </a:p>
        </p:txBody>
      </p:sp>
      <p:sp>
        <p:nvSpPr>
          <p:cNvPr id="401" name="Shape 26"/>
          <p:cNvSpPr/>
          <p:nvPr/>
        </p:nvSpPr>
        <p:spPr>
          <a:xfrm>
            <a:off x="320040" y="3957480"/>
            <a:ext cx="8502840" cy="52920"/>
          </a:xfrm>
          <a:prstGeom prst="rect">
            <a:avLst/>
          </a:prstGeom>
          <a:solidFill>
            <a:srgbClr val="7198d1"/>
          </a:solidFill>
          <a:ln w="12600">
            <a:solidFill>
              <a:srgbClr val="1a3050"/>
            </a:solidFill>
            <a:round/>
          </a:ln>
        </p:spPr>
        <p:style>
          <a:lnRef idx="0"/>
          <a:fillRef idx="0"/>
          <a:effectRef idx="0"/>
          <a:fontRef idx="minor"/>
        </p:style>
        <p:txBody>
          <a:bodyPr lIns="90000" rIns="90000" tIns="9000" bIns="9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02" name="Text 29"/>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5 / 46</a:t>
            </a:r>
            <a:endParaRPr lang="pl-PL" sz="800" b="0" u="none" strike="noStrike">
              <a:solidFill>
                <a:srgbClr val="ffffff"/>
              </a:solidFill>
              <a:effectLst/>
              <a:uFillTx/>
              <a:latin typeface="Arial"/>
            </a:endParaRPr>
          </a:p>
        </p:txBody>
      </p:sp>
      <p:sp>
        <p:nvSpPr>
          <p:cNvPr id="403" name="Shape 7"/>
          <p:cNvSpPr/>
          <p:nvPr/>
        </p:nvSpPr>
        <p:spPr>
          <a:xfrm>
            <a:off x="1089720" y="3806640"/>
            <a:ext cx="358920" cy="358920"/>
          </a:xfrm>
          <a:prstGeom prst="ellipse">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04" name="Shape 13"/>
          <p:cNvSpPr/>
          <p:nvPr/>
        </p:nvSpPr>
        <p:spPr>
          <a:xfrm>
            <a:off x="3238560" y="3806640"/>
            <a:ext cx="358920" cy="358920"/>
          </a:xfrm>
          <a:prstGeom prst="ellipse">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05" name="Shape 19"/>
          <p:cNvSpPr/>
          <p:nvPr/>
        </p:nvSpPr>
        <p:spPr>
          <a:xfrm>
            <a:off x="5387400" y="3806640"/>
            <a:ext cx="358920" cy="358920"/>
          </a:xfrm>
          <a:prstGeom prst="ellipse">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06" name="Shape 25"/>
          <p:cNvSpPr/>
          <p:nvPr/>
        </p:nvSpPr>
        <p:spPr>
          <a:xfrm>
            <a:off x="7536240" y="3806640"/>
            <a:ext cx="358920" cy="358920"/>
          </a:xfrm>
          <a:prstGeom prst="ellipse">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cxnSp>
        <p:nvCxnSpPr>
          <p:cNvPr id="407" name="Łącznik prosty ze strzałką 84"/>
          <p:cNvCxnSpPr/>
          <p:nvPr/>
        </p:nvCxnSpPr>
        <p:spPr>
          <a:xfrm>
            <a:off x="8688960" y="3983400"/>
            <a:ext cx="199800" cy="1080"/>
          </a:xfrm>
          <a:prstGeom prst="straightConnector1">
            <a:avLst/>
          </a:prstGeom>
          <a:ln w="76320">
            <a:solidFill>
              <a:srgbClr val="7198d1"/>
            </a:solidFill>
            <a:miter/>
            <a:tailEnd len="med" type="triangle" w="med"/>
          </a:ln>
        </p:spPr>
      </p:cxn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408" name="Grupa 27"/>
          <p:cNvGrpSpPr/>
          <p:nvPr/>
        </p:nvGrpSpPr>
        <p:grpSpPr>
          <a:xfrm>
            <a:off x="-2520" y="4884840"/>
            <a:ext cx="9145440" cy="259200"/>
            <a:chOff x="-2520" y="4884840"/>
            <a:chExt cx="9145440" cy="259200"/>
          </a:xfrm>
        </p:grpSpPr>
        <p:sp>
          <p:nvSpPr>
            <p:cNvPr id="409"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10"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411" name="Grupa 30"/>
            <p:cNvGrpSpPr/>
            <p:nvPr/>
          </p:nvGrpSpPr>
          <p:grpSpPr>
            <a:xfrm>
              <a:off x="-2520" y="5099400"/>
              <a:ext cx="9145440" cy="44640"/>
              <a:chOff x="-2520" y="5099400"/>
              <a:chExt cx="9145440" cy="44640"/>
            </a:xfrm>
          </p:grpSpPr>
          <p:sp>
            <p:nvSpPr>
              <p:cNvPr id="412"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13"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14"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15"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16"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17"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18" name="Shape 52"/>
              <p:cNvSpPr/>
              <p:nvPr/>
            </p:nvSpPr>
            <p:spPr>
              <a:xfrm>
                <a:off x="1192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19" name="Shape 52"/>
              <p:cNvSpPr/>
              <p:nvPr/>
            </p:nvSpPr>
            <p:spPr>
              <a:xfrm>
                <a:off x="13914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0" name="Shape 52"/>
              <p:cNvSpPr/>
              <p:nvPr/>
            </p:nvSpPr>
            <p:spPr>
              <a:xfrm>
                <a:off x="15901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1"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2"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3"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4"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5"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6"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7"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8"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29"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0"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1"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2"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3"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4"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5"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6"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7"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8"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39"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0"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1"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2"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3"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4"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5"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6"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7"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8"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49"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0"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1"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2"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3"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4"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5"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6"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7"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458" name="Shape 0"/>
          <p:cNvSpPr/>
          <p:nvPr/>
        </p:nvSpPr>
        <p:spPr>
          <a:xfrm>
            <a:off x="320040" y="255960"/>
            <a:ext cx="53640" cy="5018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59"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Specyfika projektowania dla urządzeń mobilnych</a:t>
            </a:r>
            <a:endParaRPr lang="pl-PL" sz="2200" b="0" u="none" strike="noStrike">
              <a:solidFill>
                <a:srgbClr val="ffffff"/>
              </a:solidFill>
              <a:effectLst/>
              <a:uFillTx/>
              <a:latin typeface="Arial"/>
            </a:endParaRPr>
          </a:p>
        </p:txBody>
      </p:sp>
      <p:sp>
        <p:nvSpPr>
          <p:cNvPr id="460" name="Shape 2"/>
          <p:cNvSpPr/>
          <p:nvPr/>
        </p:nvSpPr>
        <p:spPr>
          <a:xfrm>
            <a:off x="320040" y="1161000"/>
            <a:ext cx="2742120" cy="18388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61" name="Shape 3"/>
          <p:cNvSpPr/>
          <p:nvPr/>
        </p:nvSpPr>
        <p:spPr>
          <a:xfrm>
            <a:off x="320040" y="1161000"/>
            <a:ext cx="44640" cy="183888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62" name="Text 4"/>
          <p:cNvSpPr/>
          <p:nvPr/>
        </p:nvSpPr>
        <p:spPr>
          <a:xfrm>
            <a:off x="475560" y="122472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Ograniczona przestrzeń</a:t>
            </a:r>
            <a:endParaRPr lang="pl-PL" sz="1600" b="0" u="none" strike="noStrike">
              <a:solidFill>
                <a:srgbClr val="ffffff"/>
              </a:solidFill>
              <a:effectLst/>
              <a:uFillTx/>
              <a:latin typeface="Arial"/>
            </a:endParaRPr>
          </a:p>
        </p:txBody>
      </p:sp>
      <p:sp>
        <p:nvSpPr>
          <p:cNvPr id="463" name="Text 5"/>
          <p:cNvSpPr/>
          <p:nvPr/>
        </p:nvSpPr>
        <p:spPr>
          <a:xfrm>
            <a:off x="475560" y="1627200"/>
            <a:ext cx="2540880" cy="137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Ekrany 4–7 cali wymagają radykalnej priorytetyzacji treści. Mniej miejsca = większa odpowiedzialność projektanta. Progresywne ujawnianie, hierarchia.</a:t>
            </a:r>
            <a:endParaRPr lang="pl-PL" sz="1400" b="0" u="none" strike="noStrike">
              <a:solidFill>
                <a:srgbClr val="ffffff"/>
              </a:solidFill>
              <a:effectLst/>
              <a:uFillTx/>
              <a:latin typeface="Arial"/>
            </a:endParaRPr>
          </a:p>
        </p:txBody>
      </p:sp>
      <p:sp>
        <p:nvSpPr>
          <p:cNvPr id="464" name="Shape 6"/>
          <p:cNvSpPr/>
          <p:nvPr/>
        </p:nvSpPr>
        <p:spPr>
          <a:xfrm>
            <a:off x="3200400" y="1161000"/>
            <a:ext cx="2742120" cy="18388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65" name="Shape 7"/>
          <p:cNvSpPr/>
          <p:nvPr/>
        </p:nvSpPr>
        <p:spPr>
          <a:xfrm>
            <a:off x="3200400" y="1161000"/>
            <a:ext cx="44640" cy="183888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66" name="Text 8"/>
          <p:cNvSpPr/>
          <p:nvPr/>
        </p:nvSpPr>
        <p:spPr>
          <a:xfrm>
            <a:off x="3355920" y="122472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alibri"/>
                <a:ea typeface="DejaVu Sans"/>
              </a:rPr>
              <a:t>Interakcje dotykowe</a:t>
            </a:r>
            <a:endParaRPr lang="pl-PL" sz="1600" b="0" u="none" strike="noStrike">
              <a:solidFill>
                <a:srgbClr val="ffffff"/>
              </a:solidFill>
              <a:effectLst/>
              <a:uFillTx/>
              <a:latin typeface="Arial"/>
            </a:endParaRPr>
          </a:p>
        </p:txBody>
      </p:sp>
      <p:sp>
        <p:nvSpPr>
          <p:cNvPr id="467" name="Text 9"/>
          <p:cNvSpPr/>
          <p:nvPr/>
        </p:nvSpPr>
        <p:spPr>
          <a:xfrm>
            <a:off x="3355920" y="1627200"/>
            <a:ext cx="2540880" cy="137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Projektowanie pod palce, nie kursor. Precyzja dotykowa jest niższa. Min. 44–48px cel dotykowy, odpowiednie odstępy, strefa kciuka.</a:t>
            </a:r>
            <a:endParaRPr lang="pl-PL" sz="1400" b="0" u="none" strike="noStrike">
              <a:solidFill>
                <a:srgbClr val="ffffff"/>
              </a:solidFill>
              <a:effectLst/>
              <a:uFillTx/>
              <a:latin typeface="Arial"/>
            </a:endParaRPr>
          </a:p>
        </p:txBody>
      </p:sp>
      <p:sp>
        <p:nvSpPr>
          <p:cNvPr id="468" name="Shape 10"/>
          <p:cNvSpPr/>
          <p:nvPr/>
        </p:nvSpPr>
        <p:spPr>
          <a:xfrm>
            <a:off x="6080760" y="1161000"/>
            <a:ext cx="2742120" cy="18388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69" name="Shape 11"/>
          <p:cNvSpPr/>
          <p:nvPr/>
        </p:nvSpPr>
        <p:spPr>
          <a:xfrm>
            <a:off x="6080760" y="1161000"/>
            <a:ext cx="44640" cy="183888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70" name="Text 12"/>
          <p:cNvSpPr/>
          <p:nvPr/>
        </p:nvSpPr>
        <p:spPr>
          <a:xfrm>
            <a:off x="6236280" y="122472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e676"/>
                </a:solidFill>
                <a:effectLst/>
                <a:uFillTx/>
                <a:latin typeface="Calibri"/>
                <a:ea typeface="DejaVu Sans"/>
              </a:rPr>
              <a:t>Zmienne warunki</a:t>
            </a:r>
            <a:endParaRPr lang="pl-PL" sz="1600" b="0" u="none" strike="noStrike">
              <a:solidFill>
                <a:srgbClr val="ffffff"/>
              </a:solidFill>
              <a:effectLst/>
              <a:uFillTx/>
              <a:latin typeface="Arial"/>
            </a:endParaRPr>
          </a:p>
        </p:txBody>
      </p:sp>
      <p:sp>
        <p:nvSpPr>
          <p:cNvPr id="471" name="Text 13"/>
          <p:cNvSpPr/>
          <p:nvPr/>
        </p:nvSpPr>
        <p:spPr>
          <a:xfrm>
            <a:off x="6236280" y="1627200"/>
            <a:ext cx="2540880" cy="137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Użytkownicy korzystają w ruchu, słońcu, deszczu. Wysoki kontrast, Dark Mode, duża typografia dla czytelności w każdych warunkach.</a:t>
            </a:r>
            <a:endParaRPr lang="pl-PL" sz="1400" b="0" u="none" strike="noStrike">
              <a:solidFill>
                <a:srgbClr val="ffffff"/>
              </a:solidFill>
              <a:effectLst/>
              <a:uFillTx/>
              <a:latin typeface="Arial"/>
            </a:endParaRPr>
          </a:p>
        </p:txBody>
      </p:sp>
      <p:sp>
        <p:nvSpPr>
          <p:cNvPr id="472" name="Shape 14"/>
          <p:cNvSpPr/>
          <p:nvPr/>
        </p:nvSpPr>
        <p:spPr>
          <a:xfrm>
            <a:off x="320040" y="3611880"/>
            <a:ext cx="4205160" cy="1004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73" name="Shape 15"/>
          <p:cNvSpPr/>
          <p:nvPr/>
        </p:nvSpPr>
        <p:spPr>
          <a:xfrm>
            <a:off x="320040" y="3611880"/>
            <a:ext cx="44640" cy="100476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74" name="Text 16"/>
          <p:cNvSpPr/>
          <p:nvPr/>
        </p:nvSpPr>
        <p:spPr>
          <a:xfrm>
            <a:off x="429840" y="3675960"/>
            <a:ext cx="40496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Kontekst użycia</a:t>
            </a:r>
            <a:endParaRPr lang="pl-PL" sz="1600" b="0" u="none" strike="noStrike">
              <a:solidFill>
                <a:srgbClr val="ffffff"/>
              </a:solidFill>
              <a:effectLst/>
              <a:uFillTx/>
              <a:latin typeface="Arial"/>
            </a:endParaRPr>
          </a:p>
        </p:txBody>
      </p:sp>
      <p:sp>
        <p:nvSpPr>
          <p:cNvPr id="475" name="Text 17"/>
          <p:cNvSpPr/>
          <p:nvPr/>
        </p:nvSpPr>
        <p:spPr>
          <a:xfrm>
            <a:off x="429840" y="3940920"/>
            <a:ext cx="4049640" cy="620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Użytkownicy mobilni są często rozproszeni, pośpieszni, multitaskują. Aplikacja musi dostarczać wartość w ciągu 3–5 sekund od otwarcia.</a:t>
            </a:r>
            <a:endParaRPr lang="pl-PL" sz="1400" b="0" u="none" strike="noStrike">
              <a:solidFill>
                <a:srgbClr val="ffffff"/>
              </a:solidFill>
              <a:effectLst/>
              <a:uFillTx/>
              <a:latin typeface="Arial"/>
            </a:endParaRPr>
          </a:p>
        </p:txBody>
      </p:sp>
      <p:sp>
        <p:nvSpPr>
          <p:cNvPr id="476" name="Shape 18"/>
          <p:cNvSpPr/>
          <p:nvPr/>
        </p:nvSpPr>
        <p:spPr>
          <a:xfrm>
            <a:off x="4663440" y="3611880"/>
            <a:ext cx="4159440" cy="1004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77" name="Shape 19"/>
          <p:cNvSpPr/>
          <p:nvPr/>
        </p:nvSpPr>
        <p:spPr>
          <a:xfrm>
            <a:off x="4663440" y="3611880"/>
            <a:ext cx="44640" cy="100476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78" name="Text 20"/>
          <p:cNvSpPr/>
          <p:nvPr/>
        </p:nvSpPr>
        <p:spPr>
          <a:xfrm>
            <a:off x="4773240" y="3675960"/>
            <a:ext cx="40496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9100"/>
                </a:solidFill>
                <a:effectLst/>
                <a:uFillTx/>
                <a:latin typeface="Calibri"/>
                <a:ea typeface="DejaVu Sans"/>
              </a:rPr>
              <a:t>Fragmentacja urządzeń</a:t>
            </a:r>
            <a:endParaRPr lang="pl-PL" sz="1600" b="0" u="none" strike="noStrike">
              <a:solidFill>
                <a:srgbClr val="ffffff"/>
              </a:solidFill>
              <a:effectLst/>
              <a:uFillTx/>
              <a:latin typeface="Arial"/>
            </a:endParaRPr>
          </a:p>
        </p:txBody>
      </p:sp>
      <p:sp>
        <p:nvSpPr>
          <p:cNvPr id="479" name="Text 21"/>
          <p:cNvSpPr/>
          <p:nvPr/>
        </p:nvSpPr>
        <p:spPr>
          <a:xfrm>
            <a:off x="4773240" y="3940920"/>
            <a:ext cx="4049640" cy="620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Setki rozmiarów ekranów, rozdzielczości, proporcji. </a:t>
            </a:r>
            <a:endParaRPr lang="pl-PL" sz="1400" b="0" u="none" strike="noStrike">
              <a:solidFill>
                <a:srgbClr val="ffffff"/>
              </a:solidFill>
              <a:effectLst/>
              <a:uFillTx/>
              <a:latin typeface="Arial"/>
            </a:endParaRPr>
          </a:p>
          <a:p>
            <a:pPr defTabSz="914400">
              <a:lnSpc>
                <a:spcPct val="100000"/>
              </a:lnSpc>
              <a:tabLst>
                <a:tab algn="l" pos="0"/>
              </a:tabLst>
            </a:pPr>
            <a:r>
              <a:rPr lang="pl-PL" sz="1400" b="0" u="none" strike="noStrike">
                <a:solidFill>
                  <a:srgbClr val="ccddee"/>
                </a:solidFill>
                <a:effectLst/>
                <a:uFillTx/>
                <a:latin typeface="Calibri"/>
                <a:ea typeface="DejaVu Sans"/>
              </a:rPr>
              <a:t>Responsywność i elastyczność layoutów są absolutnie kluczowe.</a:t>
            </a:r>
            <a:endParaRPr lang="pl-PL" sz="1400" b="0" u="none" strike="noStrike">
              <a:solidFill>
                <a:srgbClr val="ffffff"/>
              </a:solidFill>
              <a:effectLst/>
              <a:uFillTx/>
              <a:latin typeface="Arial"/>
            </a:endParaRPr>
          </a:p>
        </p:txBody>
      </p:sp>
      <p:sp>
        <p:nvSpPr>
          <p:cNvPr id="480" name="Text 24"/>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6 / 46</a:t>
            </a:r>
            <a:endParaRPr lang="pl-PL" sz="800" b="0" u="none" strike="noStrike">
              <a:solidFill>
                <a:srgbClr val="ffffff"/>
              </a:solidFill>
              <a:effectLst/>
              <a:uFillTx/>
              <a:latin typeface="Arial"/>
            </a:endParaRPr>
          </a:p>
        </p:txBody>
      </p:sp>
      <p:sp>
        <p:nvSpPr>
          <p:cNvPr id="481" name="Shape 49">
            <a:hlinkClick r:id="rId1"/>
          </p:cNvPr>
          <p:cNvSpPr/>
          <p:nvPr/>
        </p:nvSpPr>
        <p:spPr>
          <a:xfrm>
            <a:off x="7524000" y="3132000"/>
            <a:ext cx="1295280" cy="3592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chorCtr="1">
            <a:noAutofit/>
          </a:bodyPr>
          <a:p>
            <a:pPr algn="ctr">
              <a:lnSpc>
                <a:spcPct val="100000"/>
              </a:lnSpc>
            </a:pPr>
            <a:r>
              <a:rPr lang="pl-PL" sz="1400" b="0" u="none" strike="noStrike">
                <a:solidFill>
                  <a:srgbClr val="0563c1"/>
                </a:solidFill>
                <a:effectLst/>
                <a:uFillTx/>
                <a:latin typeface="Arial"/>
                <a:ea typeface="DejaVu Sans"/>
                <a:hlinkClick r:id="rId2"/>
              </a:rPr>
              <a:t>Przewodniki</a:t>
            </a:r>
            <a:endParaRPr lang="pl-PL" sz="1400" b="0" u="none" strike="noStrike">
              <a:solidFill>
                <a:srgbClr val="ffffff"/>
              </a:solidFill>
              <a:effectLst/>
              <a:uFillTx/>
              <a:latin typeface="Arial"/>
            </a:endParaRPr>
          </a:p>
        </p:txBody>
      </p:sp>
      <p:sp>
        <p:nvSpPr>
          <p:cNvPr id="482" name="Shape 53">
            <a:hlinkClick r:id="rId3"/>
          </p:cNvPr>
          <p:cNvSpPr/>
          <p:nvPr/>
        </p:nvSpPr>
        <p:spPr>
          <a:xfrm>
            <a:off x="1721160" y="3132000"/>
            <a:ext cx="1295280" cy="3592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chorCtr="1">
            <a:noAutofit/>
          </a:bodyPr>
          <a:p>
            <a:pPr algn="ctr">
              <a:lnSpc>
                <a:spcPct val="100000"/>
              </a:lnSpc>
            </a:pPr>
            <a:r>
              <a:rPr lang="pl-PL" sz="1400" b="0" u="none" strike="noStrike">
                <a:solidFill>
                  <a:srgbClr val="0563c1"/>
                </a:solidFill>
                <a:effectLst/>
                <a:uFillTx/>
                <a:latin typeface="Arial"/>
                <a:ea typeface="DejaVu Sans"/>
                <a:hlinkClick r:id="rId4"/>
              </a:rPr>
              <a:t>Tworzenie</a:t>
            </a:r>
            <a:endParaRPr lang="pl-PL" sz="1400" b="0" u="none" strike="noStrike">
              <a:solidFill>
                <a:srgbClr val="ffffff"/>
              </a:solidFill>
              <a:effectLst/>
              <a:uFillTx/>
              <a:latin typeface="Arial"/>
            </a:endParaRPr>
          </a:p>
        </p:txBody>
      </p:sp>
      <p:sp>
        <p:nvSpPr>
          <p:cNvPr id="483" name="Shape 54">
            <a:hlinkClick r:id="rId5"/>
          </p:cNvPr>
          <p:cNvSpPr/>
          <p:nvPr/>
        </p:nvSpPr>
        <p:spPr>
          <a:xfrm>
            <a:off x="6126120" y="3132000"/>
            <a:ext cx="1295280" cy="3592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chorCtr="1">
            <a:noAutofit/>
          </a:bodyPr>
          <a:p>
            <a:pPr algn="ctr">
              <a:lnSpc>
                <a:spcPct val="100000"/>
              </a:lnSpc>
            </a:pPr>
            <a:r>
              <a:rPr lang="pl-PL" sz="1400" b="0" u="none" strike="noStrike">
                <a:solidFill>
                  <a:srgbClr val="0563c1"/>
                </a:solidFill>
                <a:effectLst/>
                <a:uFillTx/>
                <a:latin typeface="Arial"/>
                <a:ea typeface="DejaVu Sans"/>
                <a:hlinkClick r:id="rId6"/>
              </a:rPr>
              <a:t>Samouczek</a:t>
            </a:r>
            <a:endParaRPr lang="pl-PL" sz="1400" b="0" u="none" strike="noStrike">
              <a:solidFill>
                <a:srgbClr val="ffffff"/>
              </a:solidFill>
              <a:effectLst/>
              <a:uFillTx/>
              <a:latin typeface="Arial"/>
            </a:endParaRPr>
          </a:p>
        </p:txBody>
      </p:sp>
      <p:sp>
        <p:nvSpPr>
          <p:cNvPr id="484" name="Shape 55">
            <a:hlinkClick r:id="rId7"/>
          </p:cNvPr>
          <p:cNvSpPr/>
          <p:nvPr/>
        </p:nvSpPr>
        <p:spPr>
          <a:xfrm>
            <a:off x="306000" y="3132000"/>
            <a:ext cx="1313280" cy="3592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chorCtr="1">
            <a:noAutofit/>
          </a:bodyPr>
          <a:p>
            <a:pPr algn="ctr">
              <a:lnSpc>
                <a:spcPct val="100000"/>
              </a:lnSpc>
            </a:pPr>
            <a:r>
              <a:rPr lang="pl-PL" sz="1400" b="0" u="none" strike="noStrike">
                <a:solidFill>
                  <a:srgbClr val="0563c1"/>
                </a:solidFill>
                <a:effectLst/>
                <a:uFillTx/>
                <a:latin typeface="Arial"/>
                <a:ea typeface="DejaVu Sans"/>
                <a:hlinkClick r:id="rId8"/>
              </a:rPr>
              <a:t>Pierwszy krok</a:t>
            </a:r>
            <a:endParaRPr lang="pl-PL" sz="1400" b="0" u="none" strike="noStrike">
              <a:solidFill>
                <a:srgbClr val="ffffff"/>
              </a:solidFill>
              <a:effectLst/>
              <a:uFillTx/>
              <a:latin typeface="Arial"/>
            </a:endParaRPr>
          </a:p>
        </p:txBody>
      </p:sp>
      <p:sp>
        <p:nvSpPr>
          <p:cNvPr id="485" name="Shape 59">
            <a:hlinkClick r:id="rId9"/>
          </p:cNvPr>
          <p:cNvSpPr/>
          <p:nvPr/>
        </p:nvSpPr>
        <p:spPr>
          <a:xfrm>
            <a:off x="3204000" y="3132000"/>
            <a:ext cx="1295280" cy="3592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chorCtr="1">
            <a:noAutofit/>
          </a:bodyPr>
          <a:p>
            <a:pPr algn="ctr">
              <a:lnSpc>
                <a:spcPct val="100000"/>
              </a:lnSpc>
            </a:pPr>
            <a:r>
              <a:rPr lang="pl-PL" sz="1400" b="0" u="none" strike="noStrike">
                <a:solidFill>
                  <a:srgbClr val="0563c1"/>
                </a:solidFill>
                <a:effectLst/>
                <a:uFillTx/>
                <a:latin typeface="Arial"/>
                <a:ea typeface="DejaVu Sans"/>
                <a:hlinkClick r:id="rId10"/>
              </a:rPr>
              <a:t>Cykl życia</a:t>
            </a:r>
            <a:endParaRPr lang="pl-PL" sz="1400" b="0" u="none" strike="noStrike">
              <a:solidFill>
                <a:srgbClr val="ffffff"/>
              </a:solidFill>
              <a:effectLst/>
              <a:uFillTx/>
              <a:latin typeface="Arial"/>
            </a:endParaRPr>
          </a:p>
        </p:txBody>
      </p:sp>
      <p:sp>
        <p:nvSpPr>
          <p:cNvPr id="486" name="Shape 60">
            <a:hlinkClick r:id="rId11"/>
          </p:cNvPr>
          <p:cNvSpPr/>
          <p:nvPr/>
        </p:nvSpPr>
        <p:spPr>
          <a:xfrm>
            <a:off x="4644000" y="3132000"/>
            <a:ext cx="1295280" cy="3592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chorCtr="1">
            <a:noAutofit/>
          </a:bodyPr>
          <a:p>
            <a:pPr algn="ctr">
              <a:lnSpc>
                <a:spcPct val="100000"/>
              </a:lnSpc>
            </a:pPr>
            <a:r>
              <a:rPr lang="pl-PL" sz="1400" b="0" u="none" strike="noStrike">
                <a:solidFill>
                  <a:srgbClr val="0563c1"/>
                </a:solidFill>
                <a:effectLst/>
                <a:uFillTx/>
                <a:latin typeface="Arial"/>
                <a:ea typeface="DejaVu Sans"/>
                <a:hlinkClick r:id="rId12"/>
              </a:rPr>
              <a:t>Komponenty</a:t>
            </a:r>
            <a:endParaRPr lang="pl-PL"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487" name="Grupa 10"/>
          <p:cNvGrpSpPr/>
          <p:nvPr/>
        </p:nvGrpSpPr>
        <p:grpSpPr>
          <a:xfrm>
            <a:off x="-2520" y="4884840"/>
            <a:ext cx="9145440" cy="259200"/>
            <a:chOff x="-2520" y="4884840"/>
            <a:chExt cx="9145440" cy="259200"/>
          </a:xfrm>
        </p:grpSpPr>
        <p:sp>
          <p:nvSpPr>
            <p:cNvPr id="488"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89"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490" name="Grupa 13"/>
            <p:cNvGrpSpPr/>
            <p:nvPr/>
          </p:nvGrpSpPr>
          <p:grpSpPr>
            <a:xfrm>
              <a:off x="-2520" y="5099400"/>
              <a:ext cx="9145440" cy="44640"/>
              <a:chOff x="-2520" y="5099400"/>
              <a:chExt cx="9145440" cy="44640"/>
            </a:xfrm>
          </p:grpSpPr>
          <p:sp>
            <p:nvSpPr>
              <p:cNvPr id="491"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92"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93"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94"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95"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96"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97"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98" name="Shape 52"/>
              <p:cNvSpPr/>
              <p:nvPr/>
            </p:nvSpPr>
            <p:spPr>
              <a:xfrm>
                <a:off x="13914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99" name="Shape 52"/>
              <p:cNvSpPr/>
              <p:nvPr/>
            </p:nvSpPr>
            <p:spPr>
              <a:xfrm>
                <a:off x="15901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0"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1"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2"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3"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4"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5"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6"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7"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8"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09"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0"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1"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2"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3"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4"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5"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6"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7"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8"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19"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0"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1"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2"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3"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4"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5"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6"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7"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8"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29"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0"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1"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2"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3"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4"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5"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6"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537"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8" name="Shape 1"/>
          <p:cNvSpPr/>
          <p:nvPr/>
        </p:nvSpPr>
        <p:spPr>
          <a:xfrm>
            <a:off x="0" y="1645920"/>
            <a:ext cx="108720" cy="18277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39" name="Text 2"/>
          <p:cNvSpPr/>
          <p:nvPr/>
        </p:nvSpPr>
        <p:spPr>
          <a:xfrm>
            <a:off x="914400" y="548640"/>
            <a:ext cx="7314120" cy="821880"/>
          </a:xfrm>
          <a:prstGeom prst="rect">
            <a:avLst/>
          </a:prstGeom>
          <a:noFill/>
          <a:ln w="0">
            <a:noFill/>
          </a:ln>
          <a:effectLst>
            <a:outerShdw dir="2700000" dist="35638"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ff2d78"/>
                </a:solidFill>
                <a:effectLst/>
                <a:uFillTx/>
                <a:latin typeface="Calibri"/>
                <a:ea typeface="DejaVu Sans"/>
              </a:rPr>
              <a:t>02</a:t>
            </a:r>
            <a:endParaRPr lang="pl-PL" sz="5200" b="0" u="none" strike="noStrike">
              <a:solidFill>
                <a:srgbClr val="ffffff"/>
              </a:solidFill>
              <a:effectLst/>
              <a:uFillTx/>
              <a:latin typeface="Arial"/>
            </a:endParaRPr>
          </a:p>
        </p:txBody>
      </p:sp>
      <p:sp>
        <p:nvSpPr>
          <p:cNvPr id="540"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Rodzaje Interfejsów Użytkownika</a:t>
            </a:r>
            <a:endParaRPr lang="pl-PL" sz="2800" b="0" u="none" strike="noStrike">
              <a:solidFill>
                <a:srgbClr val="ffffff"/>
              </a:solidFill>
              <a:effectLst/>
              <a:uFillTx/>
              <a:latin typeface="Arial"/>
            </a:endParaRPr>
          </a:p>
        </p:txBody>
      </p:sp>
      <p:sp>
        <p:nvSpPr>
          <p:cNvPr id="541"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Klasyfikacja i charakterystyka różnych typów interfejsów</a:t>
            </a:r>
            <a:endParaRPr lang="pl-PL" sz="1400" b="0" u="none" strike="noStrike">
              <a:solidFill>
                <a:srgbClr val="ffffff"/>
              </a:solidFill>
              <a:effectLst/>
              <a:uFillTx/>
              <a:latin typeface="Arial"/>
            </a:endParaRPr>
          </a:p>
        </p:txBody>
      </p:sp>
      <p:sp>
        <p:nvSpPr>
          <p:cNvPr id="542"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7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543" name="Grupa 40"/>
          <p:cNvGrpSpPr/>
          <p:nvPr/>
        </p:nvGrpSpPr>
        <p:grpSpPr>
          <a:xfrm>
            <a:off x="-2520" y="4884840"/>
            <a:ext cx="9145440" cy="259200"/>
            <a:chOff x="-2520" y="4884840"/>
            <a:chExt cx="9145440" cy="259200"/>
          </a:xfrm>
        </p:grpSpPr>
        <p:sp>
          <p:nvSpPr>
            <p:cNvPr id="544"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45"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546" name="Grupa 43"/>
            <p:cNvGrpSpPr/>
            <p:nvPr/>
          </p:nvGrpSpPr>
          <p:grpSpPr>
            <a:xfrm>
              <a:off x="-2520" y="5099400"/>
              <a:ext cx="9145440" cy="44640"/>
              <a:chOff x="-2520" y="5099400"/>
              <a:chExt cx="9145440" cy="44640"/>
            </a:xfrm>
          </p:grpSpPr>
          <p:sp>
            <p:nvSpPr>
              <p:cNvPr id="547"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48"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49"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50"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51"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52"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53"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54"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55" name="Shape 52"/>
              <p:cNvSpPr/>
              <p:nvPr/>
            </p:nvSpPr>
            <p:spPr>
              <a:xfrm>
                <a:off x="15901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56"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57"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58"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59"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0"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1"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2"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3"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4"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5"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6"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7"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8"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69"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0"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1"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2"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3"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4"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5"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6"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7"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8"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79"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0"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1"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2"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3"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4"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5"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6"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7"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8"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89"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90"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91"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92"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593" name="Shape 0"/>
          <p:cNvSpPr/>
          <p:nvPr/>
        </p:nvSpPr>
        <p:spPr>
          <a:xfrm>
            <a:off x="320040" y="255960"/>
            <a:ext cx="53640" cy="501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94"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GUI - Graphical User Interface</a:t>
            </a:r>
            <a:endParaRPr lang="pl-PL" sz="2200" b="0" u="none" strike="noStrike">
              <a:solidFill>
                <a:srgbClr val="ffffff"/>
              </a:solidFill>
              <a:effectLst/>
              <a:uFillTx/>
              <a:latin typeface="Arial"/>
            </a:endParaRPr>
          </a:p>
        </p:txBody>
      </p:sp>
      <p:sp>
        <p:nvSpPr>
          <p:cNvPr id="595" name="Shape 2"/>
          <p:cNvSpPr/>
          <p:nvPr/>
        </p:nvSpPr>
        <p:spPr>
          <a:xfrm>
            <a:off x="320040" y="914400"/>
            <a:ext cx="4251240" cy="31510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96" name="Shape 3"/>
          <p:cNvSpPr/>
          <p:nvPr/>
        </p:nvSpPr>
        <p:spPr>
          <a:xfrm>
            <a:off x="320040" y="914400"/>
            <a:ext cx="44640" cy="315108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597" name="Text 4"/>
          <p:cNvSpPr/>
          <p:nvPr/>
        </p:nvSpPr>
        <p:spPr>
          <a:xfrm>
            <a:off x="475560" y="987480"/>
            <a:ext cx="37753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Charakterystyka</a:t>
            </a:r>
            <a:endParaRPr lang="pl-PL" sz="1600" b="0" u="none" strike="noStrike">
              <a:solidFill>
                <a:srgbClr val="ffffff"/>
              </a:solidFill>
              <a:effectLst/>
              <a:uFillTx/>
              <a:latin typeface="Arial"/>
            </a:endParaRPr>
          </a:p>
        </p:txBody>
      </p:sp>
      <p:sp>
        <p:nvSpPr>
          <p:cNvPr id="598" name="Text 5"/>
          <p:cNvSpPr/>
          <p:nvPr/>
        </p:nvSpPr>
        <p:spPr>
          <a:xfrm>
            <a:off x="475560" y="1289160"/>
            <a:ext cx="3775320" cy="545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Graficzne interfejsy użytkownika to najpopularniejszy typ </a:t>
            </a:r>
            <a:br>
              <a:rPr sz="1200"/>
            </a:br>
            <a:r>
              <a:rPr lang="pl-PL" sz="1200" b="0" u="none" strike="noStrike">
                <a:solidFill>
                  <a:srgbClr val="8899aa"/>
                </a:solidFill>
                <a:effectLst/>
                <a:uFillTx/>
                <a:latin typeface="Calibri"/>
                <a:ea typeface="DejaVu Sans"/>
              </a:rPr>
              <a:t>w aplikacjach mobilnych. Wykorzystują elementy wizualne do reprezentacji funkcji i nawigacji.</a:t>
            </a:r>
            <a:endParaRPr lang="pl-PL" sz="1200" b="0" u="none" strike="noStrike">
              <a:solidFill>
                <a:srgbClr val="ffffff"/>
              </a:solidFill>
              <a:effectLst/>
              <a:uFillTx/>
              <a:latin typeface="Arial"/>
            </a:endParaRPr>
          </a:p>
        </p:txBody>
      </p:sp>
      <p:sp>
        <p:nvSpPr>
          <p:cNvPr id="599" name="Shape 6"/>
          <p:cNvSpPr/>
          <p:nvPr/>
        </p:nvSpPr>
        <p:spPr>
          <a:xfrm>
            <a:off x="457200" y="1993320"/>
            <a:ext cx="200160" cy="2001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00" name="Text 7"/>
          <p:cNvSpPr/>
          <p:nvPr/>
        </p:nvSpPr>
        <p:spPr>
          <a:xfrm>
            <a:off x="749880" y="1993320"/>
            <a:ext cx="1096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Okna</a:t>
            </a:r>
            <a:endParaRPr lang="pl-PL" sz="1600" b="0" u="none" strike="noStrike">
              <a:solidFill>
                <a:srgbClr val="ffffff"/>
              </a:solidFill>
              <a:effectLst/>
              <a:uFillTx/>
              <a:latin typeface="Arial"/>
            </a:endParaRPr>
          </a:p>
        </p:txBody>
      </p:sp>
      <p:sp>
        <p:nvSpPr>
          <p:cNvPr id="601" name="Text 8"/>
          <p:cNvSpPr/>
          <p:nvPr/>
        </p:nvSpPr>
        <p:spPr>
          <a:xfrm>
            <a:off x="1788840" y="1993320"/>
            <a:ext cx="258372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Kontenery treści, modale, bottom sheets</a:t>
            </a:r>
            <a:endParaRPr lang="pl-PL" sz="1200" b="0" u="none" strike="noStrike">
              <a:solidFill>
                <a:srgbClr val="ffffff"/>
              </a:solidFill>
              <a:effectLst/>
              <a:uFillTx/>
              <a:latin typeface="Arial"/>
            </a:endParaRPr>
          </a:p>
        </p:txBody>
      </p:sp>
      <p:sp>
        <p:nvSpPr>
          <p:cNvPr id="602" name="Shape 9"/>
          <p:cNvSpPr/>
          <p:nvPr/>
        </p:nvSpPr>
        <p:spPr>
          <a:xfrm>
            <a:off x="457200" y="2496240"/>
            <a:ext cx="200160" cy="2001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03" name="Text 10"/>
          <p:cNvSpPr/>
          <p:nvPr/>
        </p:nvSpPr>
        <p:spPr>
          <a:xfrm>
            <a:off x="749880" y="2496240"/>
            <a:ext cx="1096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Ikony</a:t>
            </a:r>
            <a:endParaRPr lang="pl-PL" sz="1600" b="0" u="none" strike="noStrike">
              <a:solidFill>
                <a:srgbClr val="ffffff"/>
              </a:solidFill>
              <a:effectLst/>
              <a:uFillTx/>
              <a:latin typeface="Arial"/>
            </a:endParaRPr>
          </a:p>
        </p:txBody>
      </p:sp>
      <p:sp>
        <p:nvSpPr>
          <p:cNvPr id="604" name="Text 11"/>
          <p:cNvSpPr/>
          <p:nvPr/>
        </p:nvSpPr>
        <p:spPr>
          <a:xfrm>
            <a:off x="1788840" y="2496240"/>
            <a:ext cx="258372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Wizualne reprezentacje funkcji i akcji</a:t>
            </a:r>
            <a:endParaRPr lang="pl-PL" sz="1200" b="0" u="none" strike="noStrike">
              <a:solidFill>
                <a:srgbClr val="ffffff"/>
              </a:solidFill>
              <a:effectLst/>
              <a:uFillTx/>
              <a:latin typeface="Arial"/>
            </a:endParaRPr>
          </a:p>
        </p:txBody>
      </p:sp>
      <p:sp>
        <p:nvSpPr>
          <p:cNvPr id="605" name="Shape 12"/>
          <p:cNvSpPr/>
          <p:nvPr/>
        </p:nvSpPr>
        <p:spPr>
          <a:xfrm>
            <a:off x="457200" y="2999160"/>
            <a:ext cx="200160" cy="2001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06" name="Text 13"/>
          <p:cNvSpPr/>
          <p:nvPr/>
        </p:nvSpPr>
        <p:spPr>
          <a:xfrm>
            <a:off x="749880" y="2999160"/>
            <a:ext cx="1096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Menu</a:t>
            </a:r>
            <a:endParaRPr lang="pl-PL" sz="1600" b="0" u="none" strike="noStrike">
              <a:solidFill>
                <a:srgbClr val="ffffff"/>
              </a:solidFill>
              <a:effectLst/>
              <a:uFillTx/>
              <a:latin typeface="Arial"/>
            </a:endParaRPr>
          </a:p>
        </p:txBody>
      </p:sp>
      <p:sp>
        <p:nvSpPr>
          <p:cNvPr id="607" name="Text 14"/>
          <p:cNvSpPr/>
          <p:nvPr/>
        </p:nvSpPr>
        <p:spPr>
          <a:xfrm>
            <a:off x="1788840" y="2999160"/>
            <a:ext cx="258372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Nawigacja, hamburger menu, tab bars</a:t>
            </a:r>
            <a:endParaRPr lang="pl-PL" sz="1200" b="0" u="none" strike="noStrike">
              <a:solidFill>
                <a:srgbClr val="ffffff"/>
              </a:solidFill>
              <a:effectLst/>
              <a:uFillTx/>
              <a:latin typeface="Arial"/>
            </a:endParaRPr>
          </a:p>
        </p:txBody>
      </p:sp>
      <p:sp>
        <p:nvSpPr>
          <p:cNvPr id="608" name="Shape 15"/>
          <p:cNvSpPr/>
          <p:nvPr/>
        </p:nvSpPr>
        <p:spPr>
          <a:xfrm>
            <a:off x="457200" y="3502080"/>
            <a:ext cx="200160" cy="2001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09" name="Text 16"/>
          <p:cNvSpPr/>
          <p:nvPr/>
        </p:nvSpPr>
        <p:spPr>
          <a:xfrm>
            <a:off x="749880" y="3502080"/>
            <a:ext cx="1096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Przyciski</a:t>
            </a:r>
            <a:endParaRPr lang="pl-PL" sz="1600" b="0" u="none" strike="noStrike">
              <a:solidFill>
                <a:srgbClr val="ffffff"/>
              </a:solidFill>
              <a:effectLst/>
              <a:uFillTx/>
              <a:latin typeface="Arial"/>
            </a:endParaRPr>
          </a:p>
        </p:txBody>
      </p:sp>
      <p:sp>
        <p:nvSpPr>
          <p:cNvPr id="610" name="Text 17"/>
          <p:cNvSpPr/>
          <p:nvPr/>
        </p:nvSpPr>
        <p:spPr>
          <a:xfrm>
            <a:off x="1788840" y="3502080"/>
            <a:ext cx="258372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CTA, akcje, interaktywne elementy</a:t>
            </a:r>
            <a:endParaRPr lang="pl-PL" sz="1200" b="0" u="none" strike="noStrike">
              <a:solidFill>
                <a:srgbClr val="ffffff"/>
              </a:solidFill>
              <a:effectLst/>
              <a:uFillTx/>
              <a:latin typeface="Arial"/>
            </a:endParaRPr>
          </a:p>
        </p:txBody>
      </p:sp>
      <p:sp>
        <p:nvSpPr>
          <p:cNvPr id="611" name="Shape 18"/>
          <p:cNvSpPr/>
          <p:nvPr/>
        </p:nvSpPr>
        <p:spPr>
          <a:xfrm>
            <a:off x="4754880" y="914400"/>
            <a:ext cx="4068000" cy="31510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12" name="Shape 19"/>
          <p:cNvSpPr/>
          <p:nvPr/>
        </p:nvSpPr>
        <p:spPr>
          <a:xfrm>
            <a:off x="4754880" y="914400"/>
            <a:ext cx="44640" cy="315108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13" name="Text 20"/>
          <p:cNvSpPr/>
          <p:nvPr/>
        </p:nvSpPr>
        <p:spPr>
          <a:xfrm>
            <a:off x="4892040" y="987480"/>
            <a:ext cx="379368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Zalety GUI</a:t>
            </a:r>
            <a:endParaRPr lang="pl-PL" sz="1600" b="0" u="none" strike="noStrike">
              <a:solidFill>
                <a:srgbClr val="ffffff"/>
              </a:solidFill>
              <a:effectLst/>
              <a:uFillTx/>
              <a:latin typeface="Arial"/>
            </a:endParaRPr>
          </a:p>
        </p:txBody>
      </p:sp>
      <p:sp>
        <p:nvSpPr>
          <p:cNvPr id="614" name="Text 21"/>
          <p:cNvSpPr/>
          <p:nvPr/>
        </p:nvSpPr>
        <p:spPr>
          <a:xfrm>
            <a:off x="4892040" y="1527840"/>
            <a:ext cx="254880" cy="254880"/>
          </a:xfrm>
          <a:prstGeom prst="rect">
            <a:avLst/>
          </a:prstGeom>
          <a:solidFill>
            <a:srgbClr val="00e676"/>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1</a:t>
            </a:r>
            <a:endParaRPr lang="pl-PL" sz="1100" b="0" u="none" strike="noStrike">
              <a:solidFill>
                <a:srgbClr val="000000"/>
              </a:solidFill>
              <a:effectLst/>
              <a:uFillTx/>
              <a:latin typeface="Arial"/>
            </a:endParaRPr>
          </a:p>
        </p:txBody>
      </p:sp>
      <p:sp>
        <p:nvSpPr>
          <p:cNvPr id="615" name="Text 22"/>
          <p:cNvSpPr/>
          <p:nvPr/>
        </p:nvSpPr>
        <p:spPr>
          <a:xfrm>
            <a:off x="5239440" y="134928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Intuicyjność</a:t>
            </a:r>
            <a:endParaRPr lang="pl-PL" sz="1600" b="0" u="none" strike="noStrike">
              <a:solidFill>
                <a:srgbClr val="ffffff"/>
              </a:solidFill>
              <a:effectLst/>
              <a:uFillTx/>
              <a:latin typeface="Arial"/>
            </a:endParaRPr>
          </a:p>
        </p:txBody>
      </p:sp>
      <p:sp>
        <p:nvSpPr>
          <p:cNvPr id="616" name="Text 23"/>
          <p:cNvSpPr/>
          <p:nvPr/>
        </p:nvSpPr>
        <p:spPr>
          <a:xfrm>
            <a:off x="5239440" y="163692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Użytkownicy rozumieją bez szkolenia metafory rzeczywistości (kosz na śmieci = usuwanie).</a:t>
            </a:r>
            <a:endParaRPr lang="pl-PL" sz="1200" b="0" u="none" strike="noStrike">
              <a:solidFill>
                <a:srgbClr val="ffffff"/>
              </a:solidFill>
              <a:effectLst/>
              <a:uFillTx/>
              <a:latin typeface="Arial"/>
            </a:endParaRPr>
          </a:p>
        </p:txBody>
      </p:sp>
      <p:sp>
        <p:nvSpPr>
          <p:cNvPr id="617" name="Text 24"/>
          <p:cNvSpPr/>
          <p:nvPr/>
        </p:nvSpPr>
        <p:spPr>
          <a:xfrm>
            <a:off x="4892040" y="2119320"/>
            <a:ext cx="254880" cy="254880"/>
          </a:xfrm>
          <a:prstGeom prst="rect">
            <a:avLst/>
          </a:prstGeom>
          <a:solidFill>
            <a:srgbClr val="00e676"/>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2</a:t>
            </a:r>
            <a:endParaRPr lang="pl-PL" sz="1100" b="0" u="none" strike="noStrike">
              <a:solidFill>
                <a:srgbClr val="000000"/>
              </a:solidFill>
              <a:effectLst/>
              <a:uFillTx/>
              <a:latin typeface="Arial"/>
            </a:endParaRPr>
          </a:p>
        </p:txBody>
      </p:sp>
      <p:sp>
        <p:nvSpPr>
          <p:cNvPr id="618" name="Text 25"/>
          <p:cNvSpPr/>
          <p:nvPr/>
        </p:nvSpPr>
        <p:spPr>
          <a:xfrm>
            <a:off x="5239440" y="208188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Niski próg wejścia</a:t>
            </a:r>
            <a:endParaRPr lang="pl-PL" sz="1600" b="0" u="none" strike="noStrike">
              <a:solidFill>
                <a:srgbClr val="ffffff"/>
              </a:solidFill>
              <a:effectLst/>
              <a:uFillTx/>
              <a:latin typeface="Arial"/>
            </a:endParaRPr>
          </a:p>
        </p:txBody>
      </p:sp>
      <p:sp>
        <p:nvSpPr>
          <p:cNvPr id="619" name="Text 26"/>
          <p:cNvSpPr/>
          <p:nvPr/>
        </p:nvSpPr>
        <p:spPr>
          <a:xfrm>
            <a:off x="5239440" y="2295000"/>
            <a:ext cx="3473640" cy="171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Odpowiedni dla wszystkich poziomów zaawansowania.</a:t>
            </a:r>
            <a:endParaRPr lang="pl-PL" sz="1200" b="0" u="none" strike="noStrike">
              <a:solidFill>
                <a:srgbClr val="ffffff"/>
              </a:solidFill>
              <a:effectLst/>
              <a:uFillTx/>
              <a:latin typeface="Arial"/>
            </a:endParaRPr>
          </a:p>
        </p:txBody>
      </p:sp>
      <p:sp>
        <p:nvSpPr>
          <p:cNvPr id="620" name="Text 27"/>
          <p:cNvSpPr/>
          <p:nvPr/>
        </p:nvSpPr>
        <p:spPr>
          <a:xfrm>
            <a:off x="4892040" y="2755080"/>
            <a:ext cx="254880" cy="254880"/>
          </a:xfrm>
          <a:prstGeom prst="rect">
            <a:avLst/>
          </a:prstGeom>
          <a:solidFill>
            <a:srgbClr val="00e676"/>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3</a:t>
            </a:r>
            <a:endParaRPr lang="pl-PL" sz="1100" b="0" u="none" strike="noStrike">
              <a:solidFill>
                <a:srgbClr val="000000"/>
              </a:solidFill>
              <a:effectLst/>
              <a:uFillTx/>
              <a:latin typeface="Arial"/>
            </a:endParaRPr>
          </a:p>
        </p:txBody>
      </p:sp>
      <p:sp>
        <p:nvSpPr>
          <p:cNvPr id="621" name="Text 28"/>
          <p:cNvSpPr/>
          <p:nvPr/>
        </p:nvSpPr>
        <p:spPr>
          <a:xfrm>
            <a:off x="5239440" y="26661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Wizualizacja danych</a:t>
            </a:r>
            <a:endParaRPr lang="pl-PL" sz="1600" b="0" u="none" strike="noStrike">
              <a:solidFill>
                <a:srgbClr val="ffffff"/>
              </a:solidFill>
              <a:effectLst/>
              <a:uFillTx/>
              <a:latin typeface="Arial"/>
            </a:endParaRPr>
          </a:p>
        </p:txBody>
      </p:sp>
      <p:sp>
        <p:nvSpPr>
          <p:cNvPr id="622" name="Text 29"/>
          <p:cNvSpPr/>
          <p:nvPr/>
        </p:nvSpPr>
        <p:spPr>
          <a:xfrm>
            <a:off x="5239440" y="2953440"/>
            <a:ext cx="3473640" cy="185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Złożone informacje w przystępny graficzny sposób.</a:t>
            </a:r>
            <a:endParaRPr lang="pl-PL" sz="1200" b="0" u="none" strike="noStrike">
              <a:solidFill>
                <a:srgbClr val="ffffff"/>
              </a:solidFill>
              <a:effectLst/>
              <a:uFillTx/>
              <a:latin typeface="Arial"/>
            </a:endParaRPr>
          </a:p>
        </p:txBody>
      </p:sp>
      <p:sp>
        <p:nvSpPr>
          <p:cNvPr id="623" name="Text 30"/>
          <p:cNvSpPr/>
          <p:nvPr/>
        </p:nvSpPr>
        <p:spPr>
          <a:xfrm>
            <a:off x="4892040" y="3488040"/>
            <a:ext cx="254880" cy="254880"/>
          </a:xfrm>
          <a:prstGeom prst="rect">
            <a:avLst/>
          </a:prstGeom>
          <a:solidFill>
            <a:srgbClr val="00e676"/>
          </a:solid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4</a:t>
            </a:r>
            <a:endParaRPr lang="pl-PL" sz="1100" b="0" u="none" strike="noStrike">
              <a:solidFill>
                <a:srgbClr val="000000"/>
              </a:solidFill>
              <a:effectLst/>
              <a:uFillTx/>
              <a:latin typeface="Arial"/>
            </a:endParaRPr>
          </a:p>
        </p:txBody>
      </p:sp>
      <p:sp>
        <p:nvSpPr>
          <p:cNvPr id="624" name="Text 31"/>
          <p:cNvSpPr/>
          <p:nvPr/>
        </p:nvSpPr>
        <p:spPr>
          <a:xfrm>
            <a:off x="5239440" y="33393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Spójność</a:t>
            </a:r>
            <a:endParaRPr lang="pl-PL" sz="1600" b="0" u="none" strike="noStrike">
              <a:solidFill>
                <a:srgbClr val="ffffff"/>
              </a:solidFill>
              <a:effectLst/>
              <a:uFillTx/>
              <a:latin typeface="Arial"/>
            </a:endParaRPr>
          </a:p>
        </p:txBody>
      </p:sp>
      <p:sp>
        <p:nvSpPr>
          <p:cNvPr id="625" name="Text 32"/>
          <p:cNvSpPr/>
          <p:nvPr/>
        </p:nvSpPr>
        <p:spPr>
          <a:xfrm>
            <a:off x="5239440" y="36118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Łatwość utrzymania spójnego doświadczenia na różnych platformach.</a:t>
            </a:r>
            <a:endParaRPr lang="pl-PL" sz="1200" b="0" u="none" strike="noStrike">
              <a:solidFill>
                <a:srgbClr val="ffffff"/>
              </a:solidFill>
              <a:effectLst/>
              <a:uFillTx/>
              <a:latin typeface="Arial"/>
            </a:endParaRPr>
          </a:p>
        </p:txBody>
      </p:sp>
      <p:sp>
        <p:nvSpPr>
          <p:cNvPr id="626" name="Shape 33"/>
          <p:cNvSpPr/>
          <p:nvPr/>
        </p:nvSpPr>
        <p:spPr>
          <a:xfrm>
            <a:off x="320040" y="4224600"/>
            <a:ext cx="8502840" cy="36468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27" name="Text 34"/>
          <p:cNvSpPr/>
          <p:nvPr/>
        </p:nvSpPr>
        <p:spPr>
          <a:xfrm>
            <a:off x="457200" y="4251960"/>
            <a:ext cx="82285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e1e3e3"/>
                </a:solidFill>
                <a:effectLst/>
                <a:uFillTx/>
                <a:latin typeface="Calibri"/>
                <a:ea typeface="DejaVu Sans"/>
              </a:rPr>
              <a:t>Przykłady:  Instagram, Facebook, Gmail, bankowość mobilna, e-commerce apps</a:t>
            </a:r>
            <a:endParaRPr lang="pl-PL" sz="1400" b="0" u="none" strike="noStrike">
              <a:solidFill>
                <a:srgbClr val="ffffff"/>
              </a:solidFill>
              <a:effectLst/>
              <a:uFillTx/>
              <a:latin typeface="Arial"/>
            </a:endParaRPr>
          </a:p>
        </p:txBody>
      </p:sp>
      <p:sp>
        <p:nvSpPr>
          <p:cNvPr id="628" name="Text 3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8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629" name="Grupa 32"/>
          <p:cNvGrpSpPr/>
          <p:nvPr/>
        </p:nvGrpSpPr>
        <p:grpSpPr>
          <a:xfrm>
            <a:off x="-2520" y="4884840"/>
            <a:ext cx="9145440" cy="259200"/>
            <a:chOff x="-2520" y="4884840"/>
            <a:chExt cx="9145440" cy="259200"/>
          </a:xfrm>
        </p:grpSpPr>
        <p:sp>
          <p:nvSpPr>
            <p:cNvPr id="630"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31"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632" name="Grupa 35"/>
            <p:cNvGrpSpPr/>
            <p:nvPr/>
          </p:nvGrpSpPr>
          <p:grpSpPr>
            <a:xfrm>
              <a:off x="-2520" y="5099400"/>
              <a:ext cx="9145440" cy="44640"/>
              <a:chOff x="-2520" y="5099400"/>
              <a:chExt cx="9145440" cy="44640"/>
            </a:xfrm>
          </p:grpSpPr>
          <p:sp>
            <p:nvSpPr>
              <p:cNvPr id="633"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34"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35"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36"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37"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38"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39"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40"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41"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42" name="Shape 52"/>
              <p:cNvSpPr/>
              <p:nvPr/>
            </p:nvSpPr>
            <p:spPr>
              <a:xfrm>
                <a:off x="17888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3"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4"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5"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6"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7"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8"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49"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0"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1"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2"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3"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4"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5"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6"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7"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8"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59"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0"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1"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2"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3"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4"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5"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6"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7"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8"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69"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0"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1"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2"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3"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4"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5"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6"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7"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78"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679" name="Shape 0"/>
          <p:cNvSpPr/>
          <p:nvPr/>
        </p:nvSpPr>
        <p:spPr>
          <a:xfrm>
            <a:off x="320040" y="255960"/>
            <a:ext cx="53640" cy="501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80"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VUI - Voice User Interface</a:t>
            </a:r>
            <a:endParaRPr lang="pl-PL" sz="2200" b="0" u="none" strike="noStrike">
              <a:solidFill>
                <a:srgbClr val="ffffff"/>
              </a:solidFill>
              <a:effectLst/>
              <a:uFillTx/>
              <a:latin typeface="Arial"/>
            </a:endParaRPr>
          </a:p>
        </p:txBody>
      </p:sp>
      <p:sp>
        <p:nvSpPr>
          <p:cNvPr id="681" name="Shape 2"/>
          <p:cNvSpPr/>
          <p:nvPr/>
        </p:nvSpPr>
        <p:spPr>
          <a:xfrm>
            <a:off x="320040" y="914400"/>
            <a:ext cx="3456000" cy="25408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82" name="Shape 3"/>
          <p:cNvSpPr/>
          <p:nvPr/>
        </p:nvSpPr>
        <p:spPr>
          <a:xfrm>
            <a:off x="320040" y="914400"/>
            <a:ext cx="44640" cy="254088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83" name="Text 4"/>
          <p:cNvSpPr/>
          <p:nvPr/>
        </p:nvSpPr>
        <p:spPr>
          <a:xfrm>
            <a:off x="429840" y="978480"/>
            <a:ext cx="20354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MU Sans Serif"/>
                <a:ea typeface="CMU Sans Serif"/>
              </a:rPr>
              <a:t>Interfejsy Głosowe</a:t>
            </a:r>
            <a:endParaRPr lang="pl-PL" sz="1600" b="0" u="none" strike="noStrike">
              <a:solidFill>
                <a:srgbClr val="ffffff"/>
              </a:solidFill>
              <a:effectLst/>
              <a:uFillTx/>
              <a:latin typeface="Arial"/>
            </a:endParaRPr>
          </a:p>
        </p:txBody>
      </p:sp>
      <p:sp>
        <p:nvSpPr>
          <p:cNvPr id="684" name="Text 5"/>
          <p:cNvSpPr/>
          <p:nvPr/>
        </p:nvSpPr>
        <p:spPr>
          <a:xfrm>
            <a:off x="429840" y="1325880"/>
            <a:ext cx="3147840" cy="199224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601"/>
              </a:spcBef>
              <a:spcAft>
                <a:spcPts val="601"/>
              </a:spcAft>
              <a:tabLst>
                <a:tab algn="l" pos="0"/>
              </a:tabLst>
            </a:pPr>
            <a:r>
              <a:rPr lang="pl-PL" sz="1200" b="0" u="none" strike="noStrike">
                <a:solidFill>
                  <a:srgbClr val="ccddee"/>
                </a:solidFill>
                <a:effectLst/>
                <a:uFillTx/>
                <a:latin typeface="CMU Sans Serif"/>
                <a:ea typeface="CMU Sans Serif"/>
              </a:rPr>
              <a:t>Interfejsy głosowe rewolucjonizują interakcję </a:t>
            </a:r>
            <a:br>
              <a:rPr sz="1200"/>
            </a:br>
            <a:r>
              <a:rPr lang="pl-PL" sz="1200" b="0" u="none" strike="noStrike">
                <a:solidFill>
                  <a:srgbClr val="ccddee"/>
                </a:solidFill>
                <a:effectLst/>
                <a:uFillTx/>
                <a:latin typeface="CMU Sans Serif"/>
                <a:ea typeface="CMU Sans Serif"/>
              </a:rPr>
              <a:t>z technologią. Wykorzystują rozpoznawanie mowy i przetwarzanie języka naturalnego (NLP).</a:t>
            </a:r>
            <a:endParaRPr lang="pl-PL" sz="1200" b="0" u="none" strike="noStrike">
              <a:solidFill>
                <a:srgbClr val="ffffff"/>
              </a:solidFill>
              <a:effectLst/>
              <a:uFillTx/>
              <a:latin typeface="Arial"/>
            </a:endParaRPr>
          </a:p>
          <a:p>
            <a:pPr defTabSz="914400">
              <a:lnSpc>
                <a:spcPct val="100000"/>
              </a:lnSpc>
              <a:spcBef>
                <a:spcPts val="601"/>
              </a:spcBef>
              <a:spcAft>
                <a:spcPts val="601"/>
              </a:spcAft>
              <a:tabLst>
                <a:tab algn="l" pos="0"/>
              </a:tabLst>
            </a:pPr>
            <a:r>
              <a:rPr lang="pl-PL" sz="1200" b="0" u="none" strike="noStrike">
                <a:solidFill>
                  <a:srgbClr val="ccddee"/>
                </a:solidFill>
                <a:effectLst/>
                <a:uFillTx/>
                <a:latin typeface="CMU Sans Serif"/>
                <a:ea typeface="CMU Sans Serif"/>
              </a:rPr>
              <a:t>Asystenci: Siri, Google Assistant, Alexa</a:t>
            </a:r>
            <a:endParaRPr lang="pl-PL" sz="1200" b="0" u="none" strike="noStrike">
              <a:solidFill>
                <a:srgbClr val="ffffff"/>
              </a:solidFill>
              <a:effectLst/>
              <a:uFillTx/>
              <a:latin typeface="Arial"/>
            </a:endParaRPr>
          </a:p>
          <a:p>
            <a:pPr defTabSz="914400">
              <a:lnSpc>
                <a:spcPct val="100000"/>
              </a:lnSpc>
              <a:spcBef>
                <a:spcPts val="601"/>
              </a:spcBef>
              <a:spcAft>
                <a:spcPts val="601"/>
              </a:spcAft>
              <a:tabLst>
                <a:tab algn="l" pos="0"/>
              </a:tabLst>
            </a:pPr>
            <a:r>
              <a:rPr lang="pl-PL" sz="1200" b="0" u="none" strike="noStrike">
                <a:solidFill>
                  <a:srgbClr val="ccddee"/>
                </a:solidFill>
                <a:effectLst/>
                <a:uFillTx/>
                <a:latin typeface="CMU Sans Serif"/>
                <a:ea typeface="CMU Sans Serif"/>
              </a:rPr>
              <a:t>Rozpoznawanie Mowy: konwersja głosu na tekst w czasie rzeczywistym</a:t>
            </a:r>
            <a:endParaRPr lang="pl-PL" sz="1200" b="0" u="none" strike="noStrike">
              <a:solidFill>
                <a:srgbClr val="ffffff"/>
              </a:solidFill>
              <a:effectLst/>
              <a:uFillTx/>
              <a:latin typeface="Arial"/>
            </a:endParaRPr>
          </a:p>
          <a:p>
            <a:pPr defTabSz="914400">
              <a:lnSpc>
                <a:spcPct val="100000"/>
              </a:lnSpc>
              <a:spcBef>
                <a:spcPts val="601"/>
              </a:spcBef>
              <a:spcAft>
                <a:spcPts val="601"/>
              </a:spcAft>
              <a:tabLst>
                <a:tab algn="l" pos="0"/>
              </a:tabLst>
            </a:pPr>
            <a:r>
              <a:rPr lang="pl-PL" sz="1200" b="0" u="none" strike="noStrike">
                <a:solidFill>
                  <a:srgbClr val="ccddee"/>
                </a:solidFill>
                <a:effectLst/>
                <a:uFillTx/>
                <a:latin typeface="CMU Sans Serif"/>
                <a:ea typeface="CMU Sans Serif"/>
              </a:rPr>
              <a:t>Przetwarzanie Języka: rozumienie kontekstu </a:t>
            </a:r>
            <a:br>
              <a:rPr sz="1200"/>
            </a:br>
            <a:r>
              <a:rPr lang="pl-PL" sz="1200" b="0" u="none" strike="noStrike">
                <a:solidFill>
                  <a:srgbClr val="ccddee"/>
                </a:solidFill>
                <a:effectLst/>
                <a:uFillTx/>
                <a:latin typeface="CMU Sans Serif"/>
                <a:ea typeface="CMU Sans Serif"/>
              </a:rPr>
              <a:t>i intencji użytkownika</a:t>
            </a:r>
            <a:endParaRPr lang="pl-PL" sz="1200" b="0" u="none" strike="noStrike">
              <a:solidFill>
                <a:srgbClr val="ffffff"/>
              </a:solidFill>
              <a:effectLst/>
              <a:uFillTx/>
              <a:latin typeface="Arial"/>
            </a:endParaRPr>
          </a:p>
        </p:txBody>
      </p:sp>
      <p:sp>
        <p:nvSpPr>
          <p:cNvPr id="685" name="Shape 6"/>
          <p:cNvSpPr/>
          <p:nvPr/>
        </p:nvSpPr>
        <p:spPr>
          <a:xfrm>
            <a:off x="320040" y="3611880"/>
            <a:ext cx="1964880" cy="785880"/>
          </a:xfrm>
          <a:prstGeom prst="rect">
            <a:avLst/>
          </a:prstGeom>
          <a:solidFill>
            <a:srgbClr val="112233"/>
          </a:solidFill>
          <a:ln w="12600">
            <a:solidFill>
              <a:srgbClr val="00d4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86" name="Text 7"/>
          <p:cNvSpPr/>
          <p:nvPr/>
        </p:nvSpPr>
        <p:spPr>
          <a:xfrm>
            <a:off x="608040" y="3643920"/>
            <a:ext cx="1436760" cy="325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00d4ff"/>
                </a:solidFill>
                <a:effectLst/>
                <a:uFillTx/>
                <a:latin typeface="Calibri"/>
                <a:ea typeface="DejaVu Sans"/>
              </a:rPr>
              <a:t>95%</a:t>
            </a:r>
            <a:endParaRPr lang="pl-PL" sz="2800" b="0" u="none" strike="noStrike">
              <a:solidFill>
                <a:srgbClr val="ffffff"/>
              </a:solidFill>
              <a:effectLst/>
              <a:uFillTx/>
              <a:latin typeface="Arial"/>
            </a:endParaRPr>
          </a:p>
        </p:txBody>
      </p:sp>
      <p:sp>
        <p:nvSpPr>
          <p:cNvPr id="687" name="Text 8"/>
          <p:cNvSpPr/>
          <p:nvPr/>
        </p:nvSpPr>
        <p:spPr>
          <a:xfrm>
            <a:off x="363240" y="4074480"/>
            <a:ext cx="1865160" cy="224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0" u="none" strike="noStrike">
                <a:solidFill>
                  <a:srgbClr val="8899aa"/>
                </a:solidFill>
                <a:effectLst/>
                <a:uFillTx/>
                <a:latin typeface="CMU Sans Serif"/>
                <a:ea typeface="CMU Sans Serif"/>
              </a:rPr>
              <a:t>dokładność rozpoznawania mowy (top systemy)</a:t>
            </a:r>
            <a:endParaRPr lang="pl-PL" sz="1100" b="0" u="none" strike="noStrike">
              <a:solidFill>
                <a:srgbClr val="ffffff"/>
              </a:solidFill>
              <a:effectLst/>
              <a:uFillTx/>
              <a:latin typeface="Arial"/>
            </a:endParaRPr>
          </a:p>
        </p:txBody>
      </p:sp>
      <p:sp>
        <p:nvSpPr>
          <p:cNvPr id="688" name="Shape 9"/>
          <p:cNvSpPr/>
          <p:nvPr/>
        </p:nvSpPr>
        <p:spPr>
          <a:xfrm>
            <a:off x="2423160" y="3611880"/>
            <a:ext cx="1964880" cy="785880"/>
          </a:xfrm>
          <a:prstGeom prst="rect">
            <a:avLst/>
          </a:prstGeom>
          <a:solidFill>
            <a:srgbClr val="112233"/>
          </a:solidFill>
          <a:ln w="12600">
            <a:solidFill>
              <a:srgbClr val="00e676"/>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89" name="Text 10"/>
          <p:cNvSpPr/>
          <p:nvPr/>
        </p:nvSpPr>
        <p:spPr>
          <a:xfrm>
            <a:off x="2711160" y="3643920"/>
            <a:ext cx="1436760" cy="325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00e676"/>
                </a:solidFill>
                <a:effectLst/>
                <a:uFillTx/>
                <a:latin typeface="Calibri"/>
                <a:ea typeface="DejaVu Sans"/>
              </a:rPr>
              <a:t>3×</a:t>
            </a:r>
            <a:endParaRPr lang="pl-PL" sz="2800" b="0" u="none" strike="noStrike">
              <a:solidFill>
                <a:srgbClr val="ffffff"/>
              </a:solidFill>
              <a:effectLst/>
              <a:uFillTx/>
              <a:latin typeface="Arial"/>
            </a:endParaRPr>
          </a:p>
        </p:txBody>
      </p:sp>
      <p:sp>
        <p:nvSpPr>
          <p:cNvPr id="690" name="Text 11"/>
          <p:cNvSpPr/>
          <p:nvPr/>
        </p:nvSpPr>
        <p:spPr>
          <a:xfrm>
            <a:off x="2466360" y="4074480"/>
            <a:ext cx="1865160" cy="224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0" u="none" strike="noStrike">
                <a:solidFill>
                  <a:srgbClr val="8899aa"/>
                </a:solidFill>
                <a:effectLst/>
                <a:uFillTx/>
                <a:latin typeface="CMU Sans Serif"/>
                <a:ea typeface="CMU Sans Serif"/>
              </a:rPr>
              <a:t>szybsze niż pisanie dla doświadczonych użytkowników</a:t>
            </a:r>
            <a:endParaRPr lang="pl-PL" sz="1100" b="0" u="none" strike="noStrike">
              <a:solidFill>
                <a:srgbClr val="ffffff"/>
              </a:solidFill>
              <a:effectLst/>
              <a:uFillTx/>
              <a:latin typeface="Arial"/>
            </a:endParaRPr>
          </a:p>
        </p:txBody>
      </p:sp>
      <p:sp>
        <p:nvSpPr>
          <p:cNvPr id="691" name="Shape 12"/>
          <p:cNvSpPr/>
          <p:nvPr/>
        </p:nvSpPr>
        <p:spPr>
          <a:xfrm>
            <a:off x="3962880" y="914400"/>
            <a:ext cx="4631400" cy="25408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92" name="Shape 13"/>
          <p:cNvSpPr/>
          <p:nvPr/>
        </p:nvSpPr>
        <p:spPr>
          <a:xfrm>
            <a:off x="3962880" y="914400"/>
            <a:ext cx="44640" cy="254088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693" name="Text 14"/>
          <p:cNvSpPr/>
          <p:nvPr/>
        </p:nvSpPr>
        <p:spPr>
          <a:xfrm>
            <a:off x="4241160" y="96660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MU Sans Serif"/>
                <a:ea typeface="CMU Sans Serif"/>
              </a:rPr>
              <a:t>Zalety i Wyzwania</a:t>
            </a:r>
            <a:endParaRPr lang="pl-PL" sz="1600" b="0" u="none" strike="noStrike">
              <a:solidFill>
                <a:srgbClr val="ffffff"/>
              </a:solidFill>
              <a:effectLst/>
              <a:uFillTx/>
              <a:latin typeface="Arial"/>
            </a:endParaRPr>
          </a:p>
        </p:txBody>
      </p:sp>
      <p:sp>
        <p:nvSpPr>
          <p:cNvPr id="694" name="Text 15"/>
          <p:cNvSpPr/>
          <p:nvPr/>
        </p:nvSpPr>
        <p:spPr>
          <a:xfrm>
            <a:off x="4280040" y="1325880"/>
            <a:ext cx="182772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e676"/>
                </a:solidFill>
                <a:effectLst/>
                <a:uFillTx/>
                <a:latin typeface="CMU Sans Serif"/>
                <a:ea typeface="CMU Sans Serif"/>
              </a:rPr>
              <a:t>✓ Zalety</a:t>
            </a:r>
            <a:endParaRPr lang="pl-PL" sz="1400" b="0" u="none" strike="noStrike">
              <a:solidFill>
                <a:srgbClr val="ffffff"/>
              </a:solidFill>
              <a:effectLst/>
              <a:uFillTx/>
              <a:latin typeface="Arial"/>
            </a:endParaRPr>
          </a:p>
        </p:txBody>
      </p:sp>
      <p:sp>
        <p:nvSpPr>
          <p:cNvPr id="695" name="Text 16"/>
          <p:cNvSpPr/>
          <p:nvPr/>
        </p:nvSpPr>
        <p:spPr>
          <a:xfrm>
            <a:off x="6109560" y="1325880"/>
            <a:ext cx="182772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9100"/>
                </a:solidFill>
                <a:effectLst/>
                <a:uFillTx/>
                <a:latin typeface="CMU Sans Serif"/>
                <a:ea typeface="CMU Sans Serif"/>
              </a:rPr>
              <a:t>✗ Wyzwania</a:t>
            </a:r>
            <a:endParaRPr lang="pl-PL" sz="1400" b="0" u="none" strike="noStrike">
              <a:solidFill>
                <a:srgbClr val="ffffff"/>
              </a:solidFill>
              <a:effectLst/>
              <a:uFillTx/>
              <a:latin typeface="Arial"/>
            </a:endParaRPr>
          </a:p>
        </p:txBody>
      </p:sp>
      <p:sp>
        <p:nvSpPr>
          <p:cNvPr id="696" name="Text 17"/>
          <p:cNvSpPr/>
          <p:nvPr/>
        </p:nvSpPr>
        <p:spPr>
          <a:xfrm>
            <a:off x="4280040" y="1664280"/>
            <a:ext cx="182772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00e676"/>
                </a:solidFill>
                <a:effectLst/>
                <a:uFillTx/>
                <a:latin typeface="CMU Sans Serif"/>
                <a:ea typeface="CMU Sans Serif"/>
              </a:rPr>
              <a:t>+ Obsługa bez użycia rąk </a:t>
            </a:r>
            <a:endParaRPr lang="pl-PL" sz="1050" b="0" u="none" strike="noStrike">
              <a:solidFill>
                <a:srgbClr val="ffffff"/>
              </a:solidFill>
              <a:effectLst/>
              <a:uFillTx/>
              <a:latin typeface="Arial"/>
            </a:endParaRPr>
          </a:p>
          <a:p>
            <a:pPr defTabSz="914400">
              <a:lnSpc>
                <a:spcPct val="100000"/>
              </a:lnSpc>
              <a:tabLst>
                <a:tab algn="l" pos="0"/>
              </a:tabLst>
            </a:pPr>
            <a:r>
              <a:rPr lang="pl-PL" sz="1050" b="0" u="none" strike="noStrike">
                <a:solidFill>
                  <a:srgbClr val="00e676"/>
                </a:solidFill>
                <a:effectLst/>
                <a:uFillTx/>
                <a:latin typeface="CMU Sans Serif"/>
                <a:ea typeface="CMU Sans Serif"/>
              </a:rPr>
              <a:t>(hands-free)</a:t>
            </a:r>
            <a:endParaRPr lang="pl-PL" sz="1050" b="0" u="none" strike="noStrike">
              <a:solidFill>
                <a:srgbClr val="ffffff"/>
              </a:solidFill>
              <a:effectLst/>
              <a:uFillTx/>
              <a:latin typeface="Arial"/>
            </a:endParaRPr>
          </a:p>
        </p:txBody>
      </p:sp>
      <p:sp>
        <p:nvSpPr>
          <p:cNvPr id="697" name="Text 18"/>
          <p:cNvSpPr/>
          <p:nvPr/>
        </p:nvSpPr>
        <p:spPr>
          <a:xfrm>
            <a:off x="4280040" y="2062800"/>
            <a:ext cx="182772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00e676"/>
                </a:solidFill>
                <a:effectLst/>
                <a:uFillTx/>
                <a:latin typeface="CMU Sans Serif"/>
                <a:ea typeface="CMU Sans Serif"/>
              </a:rPr>
              <a:t>+ Dostępność dla osób </a:t>
            </a:r>
            <a:br>
              <a:rPr sz="1050"/>
            </a:br>
            <a:r>
              <a:rPr lang="pl-PL" sz="1050" b="0" u="none" strike="noStrike">
                <a:solidFill>
                  <a:srgbClr val="00e676"/>
                </a:solidFill>
                <a:effectLst/>
                <a:uFillTx/>
                <a:latin typeface="CMU Sans Serif"/>
                <a:ea typeface="CMU Sans Serif"/>
              </a:rPr>
              <a:t>z niepełnosprawnościami</a:t>
            </a:r>
            <a:endParaRPr lang="pl-PL" sz="1050" b="0" u="none" strike="noStrike">
              <a:solidFill>
                <a:srgbClr val="ffffff"/>
              </a:solidFill>
              <a:effectLst/>
              <a:uFillTx/>
              <a:latin typeface="Arial"/>
            </a:endParaRPr>
          </a:p>
        </p:txBody>
      </p:sp>
      <p:sp>
        <p:nvSpPr>
          <p:cNvPr id="698" name="Text 19"/>
          <p:cNvSpPr/>
          <p:nvPr/>
        </p:nvSpPr>
        <p:spPr>
          <a:xfrm>
            <a:off x="4280040" y="2475360"/>
            <a:ext cx="182772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00e676"/>
                </a:solidFill>
                <a:effectLst/>
                <a:uFillTx/>
                <a:latin typeface="CMU Sans Serif"/>
                <a:ea typeface="CMU Sans Serif"/>
              </a:rPr>
              <a:t>+ Szybkość w odpowiednich kontekstach</a:t>
            </a:r>
            <a:endParaRPr lang="pl-PL" sz="1050" b="0" u="none" strike="noStrike">
              <a:solidFill>
                <a:srgbClr val="ffffff"/>
              </a:solidFill>
              <a:effectLst/>
              <a:uFillTx/>
              <a:latin typeface="Arial"/>
            </a:endParaRPr>
          </a:p>
        </p:txBody>
      </p:sp>
      <p:sp>
        <p:nvSpPr>
          <p:cNvPr id="699" name="Text 20"/>
          <p:cNvSpPr/>
          <p:nvPr/>
        </p:nvSpPr>
        <p:spPr>
          <a:xfrm>
            <a:off x="4280040" y="2816280"/>
            <a:ext cx="182772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00e676"/>
                </a:solidFill>
                <a:effectLst/>
                <a:uFillTx/>
                <a:latin typeface="CMU Sans Serif"/>
                <a:ea typeface="CMU Sans Serif"/>
              </a:rPr>
              <a:t>+ Naturalność interakcji</a:t>
            </a:r>
            <a:endParaRPr lang="pl-PL" sz="1050" b="0" u="none" strike="noStrike">
              <a:solidFill>
                <a:srgbClr val="ffffff"/>
              </a:solidFill>
              <a:effectLst/>
              <a:uFillTx/>
              <a:latin typeface="Arial"/>
            </a:endParaRPr>
          </a:p>
        </p:txBody>
      </p:sp>
      <p:sp>
        <p:nvSpPr>
          <p:cNvPr id="700" name="Text 21"/>
          <p:cNvSpPr/>
          <p:nvPr/>
        </p:nvSpPr>
        <p:spPr>
          <a:xfrm>
            <a:off x="6095160" y="1664280"/>
            <a:ext cx="207468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ff9100"/>
                </a:solidFill>
                <a:effectLst/>
                <a:uFillTx/>
                <a:latin typeface="CMU Sans Serif"/>
                <a:ea typeface="CMU Sans Serif"/>
              </a:rPr>
              <a:t>– Dokładność w hałaśliwym otoczeniu</a:t>
            </a:r>
            <a:endParaRPr lang="pl-PL" sz="1050" b="0" u="none" strike="noStrike">
              <a:solidFill>
                <a:srgbClr val="ffffff"/>
              </a:solidFill>
              <a:effectLst/>
              <a:uFillTx/>
              <a:latin typeface="Arial"/>
            </a:endParaRPr>
          </a:p>
        </p:txBody>
      </p:sp>
      <p:sp>
        <p:nvSpPr>
          <p:cNvPr id="701" name="Text 22"/>
          <p:cNvSpPr/>
          <p:nvPr/>
        </p:nvSpPr>
        <p:spPr>
          <a:xfrm>
            <a:off x="6102360" y="2048400"/>
            <a:ext cx="226872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ff9100"/>
                </a:solidFill>
                <a:effectLst/>
                <a:uFillTx/>
                <a:latin typeface="CMU Sans Serif"/>
                <a:ea typeface="CMU Sans Serif"/>
              </a:rPr>
              <a:t>– Kontekst językowy i akcenty regionalne</a:t>
            </a:r>
            <a:endParaRPr lang="pl-PL" sz="1050" b="0" u="none" strike="noStrike">
              <a:solidFill>
                <a:srgbClr val="ffffff"/>
              </a:solidFill>
              <a:effectLst/>
              <a:uFillTx/>
              <a:latin typeface="Arial"/>
            </a:endParaRPr>
          </a:p>
        </p:txBody>
      </p:sp>
      <p:sp>
        <p:nvSpPr>
          <p:cNvPr id="702" name="Text 23"/>
          <p:cNvSpPr/>
          <p:nvPr/>
        </p:nvSpPr>
        <p:spPr>
          <a:xfrm>
            <a:off x="6116760" y="2432160"/>
            <a:ext cx="221544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ff9100"/>
                </a:solidFill>
                <a:effectLst/>
                <a:uFillTx/>
                <a:latin typeface="CMU Sans Serif"/>
                <a:ea typeface="CMU Sans Serif"/>
              </a:rPr>
              <a:t>– Prywatność i bezpieczeństwo danych</a:t>
            </a:r>
            <a:endParaRPr lang="pl-PL" sz="1050" b="0" u="none" strike="noStrike">
              <a:solidFill>
                <a:srgbClr val="ffffff"/>
              </a:solidFill>
              <a:effectLst/>
              <a:uFillTx/>
              <a:latin typeface="Arial"/>
            </a:endParaRPr>
          </a:p>
        </p:txBody>
      </p:sp>
      <p:sp>
        <p:nvSpPr>
          <p:cNvPr id="703" name="Text 24"/>
          <p:cNvSpPr/>
          <p:nvPr/>
        </p:nvSpPr>
        <p:spPr>
          <a:xfrm>
            <a:off x="6123960" y="2816280"/>
            <a:ext cx="204876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ff9100"/>
                </a:solidFill>
                <a:effectLst/>
                <a:uFillTx/>
                <a:latin typeface="CMU Sans Serif"/>
                <a:ea typeface="CMU Sans Serif"/>
              </a:rPr>
              <a:t>– Brak wizualnej informacji zwrotnej</a:t>
            </a:r>
            <a:endParaRPr lang="pl-PL" sz="1050" b="0" u="none" strike="noStrike">
              <a:solidFill>
                <a:srgbClr val="ffffff"/>
              </a:solidFill>
              <a:effectLst/>
              <a:uFillTx/>
              <a:latin typeface="Arial"/>
            </a:endParaRPr>
          </a:p>
        </p:txBody>
      </p:sp>
      <p:sp>
        <p:nvSpPr>
          <p:cNvPr id="704" name="Shape 25"/>
          <p:cNvSpPr/>
          <p:nvPr/>
        </p:nvSpPr>
        <p:spPr>
          <a:xfrm>
            <a:off x="4526280" y="3616200"/>
            <a:ext cx="4068000" cy="78588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05" name="Text 26"/>
          <p:cNvSpPr/>
          <p:nvPr/>
        </p:nvSpPr>
        <p:spPr>
          <a:xfrm>
            <a:off x="4663440" y="3689640"/>
            <a:ext cx="3793680" cy="675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chemeClr val="lt1">
                    <a:lumMod val="85000"/>
                  </a:schemeClr>
                </a:solidFill>
                <a:effectLst/>
                <a:uFillTx/>
                <a:latin typeface="CMU Sans Serif"/>
                <a:ea typeface="CMU Sans Serif"/>
              </a:rPr>
              <a:t>Zastosowania</a:t>
            </a:r>
            <a:r>
              <a:rPr lang="pl-PL" sz="1200" b="0" u="none" strike="noStrike">
                <a:solidFill>
                  <a:schemeClr val="lt1">
                    <a:lumMod val="85000"/>
                  </a:schemeClr>
                </a:solidFill>
                <a:effectLst/>
                <a:uFillTx/>
                <a:latin typeface="CMU Sans Serif"/>
                <a:ea typeface="CMU Sans Serif"/>
              </a:rPr>
              <a:t>: nawigacja samochodowa, smart home, aplikacje bankowe (transakcje głosowe), wyszukiwanie, dyktowanie</a:t>
            </a:r>
            <a:endParaRPr lang="pl-PL" sz="1200" b="0" u="none" strike="noStrike">
              <a:solidFill>
                <a:srgbClr val="ffffff"/>
              </a:solidFill>
              <a:effectLst/>
              <a:uFillTx/>
              <a:latin typeface="Arial"/>
            </a:endParaRPr>
          </a:p>
        </p:txBody>
      </p:sp>
      <p:sp>
        <p:nvSpPr>
          <p:cNvPr id="706" name="Text 29"/>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9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707" name="Grupa 37"/>
          <p:cNvGrpSpPr/>
          <p:nvPr/>
        </p:nvGrpSpPr>
        <p:grpSpPr>
          <a:xfrm>
            <a:off x="-2520" y="4884840"/>
            <a:ext cx="9145440" cy="259200"/>
            <a:chOff x="-2520" y="4884840"/>
            <a:chExt cx="9145440" cy="259200"/>
          </a:xfrm>
        </p:grpSpPr>
        <p:sp>
          <p:nvSpPr>
            <p:cNvPr id="708"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09"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710" name="Grupa 40"/>
            <p:cNvGrpSpPr/>
            <p:nvPr/>
          </p:nvGrpSpPr>
          <p:grpSpPr>
            <a:xfrm>
              <a:off x="-2520" y="5099400"/>
              <a:ext cx="9145440" cy="44640"/>
              <a:chOff x="-2520" y="5099400"/>
              <a:chExt cx="9145440" cy="44640"/>
            </a:xfrm>
          </p:grpSpPr>
          <p:sp>
            <p:nvSpPr>
              <p:cNvPr id="711"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2"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3"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4"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5"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6"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7"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8"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19"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20"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21" name="Shape 52"/>
              <p:cNvSpPr/>
              <p:nvPr/>
            </p:nvSpPr>
            <p:spPr>
              <a:xfrm>
                <a:off x="19875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2"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3"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4"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5"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6"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7"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8"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29"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0"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1"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2"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3"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4"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5"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6"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7"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8"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39"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0"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1"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2"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3"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4"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5"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6"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7"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8"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9"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0"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1"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2"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3"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4"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5"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6"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757" name="Shape 0"/>
          <p:cNvSpPr/>
          <p:nvPr/>
        </p:nvSpPr>
        <p:spPr>
          <a:xfrm>
            <a:off x="320040" y="255960"/>
            <a:ext cx="53640" cy="501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58" name="Text 1"/>
          <p:cNvSpPr/>
          <p:nvPr/>
        </p:nvSpPr>
        <p:spPr>
          <a:xfrm>
            <a:off x="475560" y="219600"/>
            <a:ext cx="38970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NUI - Natural User Interface</a:t>
            </a:r>
            <a:endParaRPr lang="pl-PL" sz="2200" b="0" u="none" strike="noStrike">
              <a:solidFill>
                <a:srgbClr val="ffffff"/>
              </a:solidFill>
              <a:effectLst/>
              <a:uFillTx/>
              <a:latin typeface="Arial"/>
            </a:endParaRPr>
          </a:p>
        </p:txBody>
      </p:sp>
      <p:sp>
        <p:nvSpPr>
          <p:cNvPr id="759" name="Shape 2"/>
          <p:cNvSpPr/>
          <p:nvPr/>
        </p:nvSpPr>
        <p:spPr>
          <a:xfrm>
            <a:off x="320040" y="914400"/>
            <a:ext cx="4068000" cy="2284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60" name="Shape 3"/>
          <p:cNvSpPr/>
          <p:nvPr/>
        </p:nvSpPr>
        <p:spPr>
          <a:xfrm>
            <a:off x="320040" y="914400"/>
            <a:ext cx="44640" cy="22849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61" name="Text 4"/>
          <p:cNvSpPr/>
          <p:nvPr/>
        </p:nvSpPr>
        <p:spPr>
          <a:xfrm>
            <a:off x="502920" y="978480"/>
            <a:ext cx="38394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800" b="1" u="none" strike="noStrike">
                <a:solidFill>
                  <a:srgbClr val="00e676"/>
                </a:solidFill>
                <a:effectLst/>
                <a:uFillTx/>
                <a:latin typeface="Calibri"/>
                <a:ea typeface="DejaVu Sans"/>
              </a:rPr>
              <a:t>Naturalne</a:t>
            </a:r>
            <a:r>
              <a:rPr lang="pl-PL" sz="1600" b="1" u="none" strike="noStrike">
                <a:solidFill>
                  <a:srgbClr val="00e676"/>
                </a:solidFill>
                <a:effectLst/>
                <a:uFillTx/>
                <a:latin typeface="Calibri"/>
                <a:ea typeface="DejaVu Sans"/>
              </a:rPr>
              <a:t> </a:t>
            </a:r>
            <a:r>
              <a:rPr lang="pl-PL" sz="1800" b="1" u="none" strike="noStrike">
                <a:solidFill>
                  <a:srgbClr val="00e676"/>
                </a:solidFill>
                <a:effectLst/>
                <a:uFillTx/>
                <a:latin typeface="Calibri"/>
                <a:ea typeface="DejaVu Sans"/>
              </a:rPr>
              <a:t>Interakcje</a:t>
            </a:r>
            <a:endParaRPr lang="pl-PL" sz="1800" b="0" u="none" strike="noStrike">
              <a:solidFill>
                <a:srgbClr val="ffffff"/>
              </a:solidFill>
              <a:effectLst/>
              <a:uFillTx/>
              <a:latin typeface="Arial"/>
            </a:endParaRPr>
          </a:p>
        </p:txBody>
      </p:sp>
      <p:sp>
        <p:nvSpPr>
          <p:cNvPr id="762" name="Text 5"/>
          <p:cNvSpPr/>
          <p:nvPr/>
        </p:nvSpPr>
        <p:spPr>
          <a:xfrm>
            <a:off x="502920" y="1449000"/>
            <a:ext cx="3839400" cy="1695600"/>
          </a:xfrm>
          <a:prstGeom prst="rect">
            <a:avLst/>
          </a:prstGeom>
          <a:noFill/>
          <a:ln w="0">
            <a:noFill/>
          </a:ln>
        </p:spPr>
        <p:style>
          <a:lnRef idx="0"/>
          <a:fillRef idx="0"/>
          <a:effectRef idx="0"/>
          <a:fontRef idx="minor"/>
        </p:style>
        <p:txBody>
          <a:bodyPr lIns="0" rIns="0" tIns="0" bIns="0" anchor="t">
            <a:noAutofit/>
          </a:bodyPr>
          <a:p>
            <a:pPr defTabSz="914400">
              <a:lnSpc>
                <a:spcPts val="2200"/>
              </a:lnSpc>
              <a:tabLst>
                <a:tab algn="l" pos="0"/>
              </a:tabLst>
            </a:pPr>
            <a:r>
              <a:rPr lang="pl-PL" sz="1600" b="0" u="none" strike="noStrike">
                <a:solidFill>
                  <a:srgbClr val="ccddee"/>
                </a:solidFill>
                <a:effectLst/>
                <a:uFillTx/>
                <a:latin typeface="Calibri"/>
                <a:ea typeface="DejaVu Sans"/>
              </a:rPr>
              <a:t>NUI wykorzystują naturalne ludzkie zachowania (gesty, ruchy, dotyk, mimikę) do interakcji z technologią. Eliminują barierę pomiędzy człowiekiem a maszyną.</a:t>
            </a:r>
            <a:endParaRPr lang="pl-PL" sz="1600" b="0" u="none" strike="noStrike">
              <a:solidFill>
                <a:srgbClr val="ffffff"/>
              </a:solidFill>
              <a:effectLst/>
              <a:uFillTx/>
              <a:latin typeface="Arial"/>
            </a:endParaRPr>
          </a:p>
        </p:txBody>
      </p:sp>
      <p:sp>
        <p:nvSpPr>
          <p:cNvPr id="763" name="Shape 6"/>
          <p:cNvSpPr/>
          <p:nvPr/>
        </p:nvSpPr>
        <p:spPr>
          <a:xfrm>
            <a:off x="320040" y="3310200"/>
            <a:ext cx="748800" cy="291600"/>
          </a:xfrm>
          <a:prstGeom prst="rect">
            <a:avLst/>
          </a:prstGeom>
          <a:solidFill>
            <a:srgbClr val="1a3050"/>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64" name="Text 7"/>
          <p:cNvSpPr/>
          <p:nvPr/>
        </p:nvSpPr>
        <p:spPr>
          <a:xfrm>
            <a:off x="320040" y="3310200"/>
            <a:ext cx="74880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0" u="none" strike="noStrike">
                <a:solidFill>
                  <a:srgbClr val="00e676"/>
                </a:solidFill>
                <a:effectLst/>
                <a:uFillTx/>
                <a:latin typeface="Calibri"/>
                <a:ea typeface="DejaVu Sans"/>
              </a:rPr>
              <a:t>Swipe</a:t>
            </a:r>
            <a:endParaRPr lang="pl-PL" sz="1600" b="0" u="none" strike="noStrike">
              <a:solidFill>
                <a:srgbClr val="ffffff"/>
              </a:solidFill>
              <a:effectLst/>
              <a:uFillTx/>
              <a:latin typeface="Arial"/>
            </a:endParaRPr>
          </a:p>
        </p:txBody>
      </p:sp>
      <p:sp>
        <p:nvSpPr>
          <p:cNvPr id="765" name="Shape 8"/>
          <p:cNvSpPr/>
          <p:nvPr/>
        </p:nvSpPr>
        <p:spPr>
          <a:xfrm>
            <a:off x="1143000" y="3310200"/>
            <a:ext cx="748800" cy="291600"/>
          </a:xfrm>
          <a:prstGeom prst="rect">
            <a:avLst/>
          </a:prstGeom>
          <a:solidFill>
            <a:srgbClr val="1a3050"/>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66" name="Text 9"/>
          <p:cNvSpPr/>
          <p:nvPr/>
        </p:nvSpPr>
        <p:spPr>
          <a:xfrm>
            <a:off x="1143000" y="3310200"/>
            <a:ext cx="74880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0" u="none" strike="noStrike">
                <a:solidFill>
                  <a:srgbClr val="00e676"/>
                </a:solidFill>
                <a:effectLst/>
                <a:uFillTx/>
                <a:latin typeface="Calibri"/>
                <a:ea typeface="DejaVu Sans"/>
              </a:rPr>
              <a:t>Pinch</a:t>
            </a:r>
            <a:endParaRPr lang="pl-PL" sz="1600" b="0" u="none" strike="noStrike">
              <a:solidFill>
                <a:srgbClr val="ffffff"/>
              </a:solidFill>
              <a:effectLst/>
              <a:uFillTx/>
              <a:latin typeface="Arial"/>
            </a:endParaRPr>
          </a:p>
        </p:txBody>
      </p:sp>
      <p:sp>
        <p:nvSpPr>
          <p:cNvPr id="767" name="Shape 10"/>
          <p:cNvSpPr/>
          <p:nvPr/>
        </p:nvSpPr>
        <p:spPr>
          <a:xfrm>
            <a:off x="1965960" y="3310200"/>
            <a:ext cx="748800" cy="291600"/>
          </a:xfrm>
          <a:prstGeom prst="rect">
            <a:avLst/>
          </a:prstGeom>
          <a:solidFill>
            <a:srgbClr val="1a3050"/>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68" name="Text 11"/>
          <p:cNvSpPr/>
          <p:nvPr/>
        </p:nvSpPr>
        <p:spPr>
          <a:xfrm>
            <a:off x="1965960" y="3310200"/>
            <a:ext cx="74880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0" u="none" strike="noStrike">
                <a:solidFill>
                  <a:srgbClr val="00e676"/>
                </a:solidFill>
                <a:effectLst/>
                <a:uFillTx/>
                <a:latin typeface="Calibri"/>
                <a:ea typeface="DejaVu Sans"/>
              </a:rPr>
              <a:t>Rotate</a:t>
            </a:r>
            <a:endParaRPr lang="pl-PL" sz="1600" b="0" u="none" strike="noStrike">
              <a:solidFill>
                <a:srgbClr val="ffffff"/>
              </a:solidFill>
              <a:effectLst/>
              <a:uFillTx/>
              <a:latin typeface="Arial"/>
            </a:endParaRPr>
          </a:p>
        </p:txBody>
      </p:sp>
      <p:sp>
        <p:nvSpPr>
          <p:cNvPr id="769" name="Shape 12"/>
          <p:cNvSpPr/>
          <p:nvPr/>
        </p:nvSpPr>
        <p:spPr>
          <a:xfrm>
            <a:off x="2788920" y="3310200"/>
            <a:ext cx="748800" cy="291600"/>
          </a:xfrm>
          <a:prstGeom prst="rect">
            <a:avLst/>
          </a:prstGeom>
          <a:solidFill>
            <a:srgbClr val="1a3050"/>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70" name="Text 13"/>
          <p:cNvSpPr/>
          <p:nvPr/>
        </p:nvSpPr>
        <p:spPr>
          <a:xfrm>
            <a:off x="2788920" y="3310200"/>
            <a:ext cx="74880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0" u="none" strike="noStrike">
                <a:solidFill>
                  <a:srgbClr val="00e676"/>
                </a:solidFill>
                <a:effectLst/>
                <a:uFillTx/>
                <a:latin typeface="Calibri"/>
                <a:ea typeface="DejaVu Sans"/>
              </a:rPr>
              <a:t>Scroll</a:t>
            </a:r>
            <a:endParaRPr lang="pl-PL" sz="1600" b="0" u="none" strike="noStrike">
              <a:solidFill>
                <a:srgbClr val="ffffff"/>
              </a:solidFill>
              <a:effectLst/>
              <a:uFillTx/>
              <a:latin typeface="Arial"/>
            </a:endParaRPr>
          </a:p>
        </p:txBody>
      </p:sp>
      <p:sp>
        <p:nvSpPr>
          <p:cNvPr id="771" name="Shape 14"/>
          <p:cNvSpPr/>
          <p:nvPr/>
        </p:nvSpPr>
        <p:spPr>
          <a:xfrm>
            <a:off x="3611880" y="3310200"/>
            <a:ext cx="748800" cy="291600"/>
          </a:xfrm>
          <a:prstGeom prst="rect">
            <a:avLst/>
          </a:prstGeom>
          <a:solidFill>
            <a:srgbClr val="1a3050"/>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72" name="Text 15"/>
          <p:cNvSpPr/>
          <p:nvPr/>
        </p:nvSpPr>
        <p:spPr>
          <a:xfrm>
            <a:off x="3611880" y="3310200"/>
            <a:ext cx="74880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0" u="none" strike="noStrike">
                <a:solidFill>
                  <a:srgbClr val="00e676"/>
                </a:solidFill>
                <a:effectLst/>
                <a:uFillTx/>
                <a:latin typeface="Calibri"/>
                <a:ea typeface="DejaVu Sans"/>
              </a:rPr>
              <a:t>Shake</a:t>
            </a:r>
            <a:endParaRPr lang="pl-PL" sz="1600" b="0" u="none" strike="noStrike">
              <a:solidFill>
                <a:srgbClr val="ffffff"/>
              </a:solidFill>
              <a:effectLst/>
              <a:uFillTx/>
              <a:latin typeface="Arial"/>
            </a:endParaRPr>
          </a:p>
        </p:txBody>
      </p:sp>
      <p:grpSp>
        <p:nvGrpSpPr>
          <p:cNvPr id="773" name="Grupa 33"/>
          <p:cNvGrpSpPr/>
          <p:nvPr/>
        </p:nvGrpSpPr>
        <p:grpSpPr>
          <a:xfrm>
            <a:off x="4572360" y="914400"/>
            <a:ext cx="4458960" cy="3409560"/>
            <a:chOff x="4572360" y="914400"/>
            <a:chExt cx="4458960" cy="3409560"/>
          </a:xfrm>
        </p:grpSpPr>
        <p:sp>
          <p:nvSpPr>
            <p:cNvPr id="774" name="Shape 16"/>
            <p:cNvSpPr/>
            <p:nvPr/>
          </p:nvSpPr>
          <p:spPr>
            <a:xfrm>
              <a:off x="4572360" y="914400"/>
              <a:ext cx="2155320" cy="16264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75" name="Shape 17"/>
            <p:cNvSpPr/>
            <p:nvPr/>
          </p:nvSpPr>
          <p:spPr>
            <a:xfrm>
              <a:off x="4572360" y="914400"/>
              <a:ext cx="47880" cy="162648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76" name="Text 18"/>
            <p:cNvSpPr/>
            <p:nvPr/>
          </p:nvSpPr>
          <p:spPr>
            <a:xfrm>
              <a:off x="4768560" y="978480"/>
              <a:ext cx="1910520" cy="41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00e676"/>
                  </a:solidFill>
                  <a:effectLst/>
                  <a:uFillTx/>
                  <a:latin typeface="Calibri"/>
                  <a:ea typeface="DejaVu Sans"/>
                </a:rPr>
                <a:t>Rozpoznawanie </a:t>
              </a:r>
              <a:r>
                <a:rPr lang="pl-PL" sz="1600" b="1" u="none" strike="noStrike">
                  <a:solidFill>
                    <a:srgbClr val="00e676"/>
                  </a:solidFill>
                  <a:effectLst/>
                  <a:uFillTx/>
                  <a:latin typeface="Calibri"/>
                  <a:ea typeface="DejaVu Sans"/>
                </a:rPr>
                <a:t>g</a:t>
              </a:r>
              <a:r>
                <a:rPr lang="en-US" sz="1600" b="1" u="none" strike="noStrike">
                  <a:solidFill>
                    <a:srgbClr val="00e676"/>
                  </a:solidFill>
                  <a:effectLst/>
                  <a:uFillTx/>
                  <a:latin typeface="Calibri"/>
                  <a:ea typeface="DejaVu Sans"/>
                </a:rPr>
                <a:t>estów</a:t>
              </a:r>
              <a:endParaRPr lang="pl-PL" sz="1600" b="0" u="none" strike="noStrike">
                <a:solidFill>
                  <a:srgbClr val="ffffff"/>
                </a:solidFill>
                <a:effectLst/>
                <a:uFillTx/>
                <a:latin typeface="Arial"/>
              </a:endParaRPr>
            </a:p>
          </p:txBody>
        </p:sp>
        <p:sp>
          <p:nvSpPr>
            <p:cNvPr id="777" name="Text 19"/>
            <p:cNvSpPr/>
            <p:nvPr/>
          </p:nvSpPr>
          <p:spPr>
            <a:xfrm>
              <a:off x="4768560" y="1553760"/>
              <a:ext cx="1910520" cy="932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400" b="0" u="none" strike="noStrike">
                  <a:solidFill>
                    <a:srgbClr val="ccddee"/>
                  </a:solidFill>
                  <a:effectLst/>
                  <a:uFillTx/>
                  <a:latin typeface="Calibri"/>
                  <a:ea typeface="DejaVu Sans"/>
                </a:rPr>
                <a:t>Kamery i czujniki śledzące ruchy ciała i dłoni</a:t>
              </a:r>
              <a:endParaRPr lang="pl-PL" sz="1400" b="0" u="none" strike="noStrike">
                <a:solidFill>
                  <a:srgbClr val="ffffff"/>
                </a:solidFill>
                <a:effectLst/>
                <a:uFillTx/>
                <a:latin typeface="Arial"/>
              </a:endParaRPr>
            </a:p>
          </p:txBody>
        </p:sp>
        <p:sp>
          <p:nvSpPr>
            <p:cNvPr id="778" name="Shape 20"/>
            <p:cNvSpPr/>
            <p:nvPr/>
          </p:nvSpPr>
          <p:spPr>
            <a:xfrm>
              <a:off x="6876000" y="914400"/>
              <a:ext cx="2155320" cy="16264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79" name="Shape 21"/>
            <p:cNvSpPr/>
            <p:nvPr/>
          </p:nvSpPr>
          <p:spPr>
            <a:xfrm>
              <a:off x="6876000" y="914400"/>
              <a:ext cx="47880" cy="162648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80" name="Text 22"/>
            <p:cNvSpPr/>
            <p:nvPr/>
          </p:nvSpPr>
          <p:spPr>
            <a:xfrm>
              <a:off x="7071840" y="978480"/>
              <a:ext cx="191052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00d4ff"/>
                  </a:solidFill>
                  <a:effectLst/>
                  <a:uFillTx/>
                  <a:latin typeface="Calibri"/>
                  <a:ea typeface="DejaVu Sans"/>
                </a:rPr>
                <a:t>Eye Tracking</a:t>
              </a:r>
              <a:endParaRPr lang="pl-PL" sz="1600" b="0" u="none" strike="noStrike">
                <a:solidFill>
                  <a:srgbClr val="ffffff"/>
                </a:solidFill>
                <a:effectLst/>
                <a:uFillTx/>
                <a:latin typeface="Arial"/>
              </a:endParaRPr>
            </a:p>
          </p:txBody>
        </p:sp>
        <p:sp>
          <p:nvSpPr>
            <p:cNvPr id="781" name="Text 23"/>
            <p:cNvSpPr/>
            <p:nvPr/>
          </p:nvSpPr>
          <p:spPr>
            <a:xfrm>
              <a:off x="7071840" y="1553760"/>
              <a:ext cx="1910520" cy="932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400" b="0" u="none" strike="noStrike">
                  <a:solidFill>
                    <a:srgbClr val="ccddee"/>
                  </a:solidFill>
                  <a:effectLst/>
                  <a:uFillTx/>
                  <a:latin typeface="Calibri"/>
                  <a:ea typeface="DejaVu Sans"/>
                </a:rPr>
                <a:t>Śledzenie kierunku wzroku użytkownika</a:t>
              </a:r>
              <a:r>
                <a:rPr lang="pl-PL" sz="1400" b="0" u="none" strike="noStrike">
                  <a:solidFill>
                    <a:srgbClr val="ccddee"/>
                  </a:solidFill>
                  <a:effectLst/>
                  <a:uFillTx/>
                  <a:latin typeface="Calibri"/>
                  <a:ea typeface="DejaVu Sans"/>
                </a:rPr>
                <a:t>;</a:t>
              </a:r>
              <a:r>
                <a:rPr lang="en-US" sz="1400" b="0" u="none" strike="noStrike">
                  <a:solidFill>
                    <a:srgbClr val="ccddee"/>
                  </a:solidFill>
                  <a:effectLst/>
                  <a:uFillTx/>
                  <a:latin typeface="Calibri"/>
                  <a:ea typeface="DejaVu Sans"/>
                </a:rPr>
                <a:t> VR/AR, dostępność</a:t>
              </a:r>
              <a:endParaRPr lang="pl-PL" sz="1400" b="0" u="none" strike="noStrike">
                <a:solidFill>
                  <a:srgbClr val="ffffff"/>
                </a:solidFill>
                <a:effectLst/>
                <a:uFillTx/>
                <a:latin typeface="Arial"/>
              </a:endParaRPr>
            </a:p>
          </p:txBody>
        </p:sp>
        <p:sp>
          <p:nvSpPr>
            <p:cNvPr id="782" name="Shape 24"/>
            <p:cNvSpPr/>
            <p:nvPr/>
          </p:nvSpPr>
          <p:spPr>
            <a:xfrm>
              <a:off x="4572360" y="2697480"/>
              <a:ext cx="2155320" cy="16264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83" name="Shape 25"/>
            <p:cNvSpPr/>
            <p:nvPr/>
          </p:nvSpPr>
          <p:spPr>
            <a:xfrm>
              <a:off x="4572360" y="2697480"/>
              <a:ext cx="47880" cy="162648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84" name="Text 26"/>
            <p:cNvSpPr/>
            <p:nvPr/>
          </p:nvSpPr>
          <p:spPr>
            <a:xfrm>
              <a:off x="4768560" y="2761560"/>
              <a:ext cx="191052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b388ff"/>
                  </a:solidFill>
                  <a:effectLst/>
                  <a:uFillTx/>
                  <a:latin typeface="Calibri"/>
                  <a:ea typeface="DejaVu Sans"/>
                </a:rPr>
                <a:t>AR/VR Headsets</a:t>
              </a:r>
              <a:endParaRPr lang="pl-PL" sz="1600" b="0" u="none" strike="noStrike">
                <a:solidFill>
                  <a:srgbClr val="ffffff"/>
                </a:solidFill>
                <a:effectLst/>
                <a:uFillTx/>
                <a:latin typeface="Arial"/>
              </a:endParaRPr>
            </a:p>
          </p:txBody>
        </p:sp>
        <p:sp>
          <p:nvSpPr>
            <p:cNvPr id="785" name="Text 27"/>
            <p:cNvSpPr/>
            <p:nvPr/>
          </p:nvSpPr>
          <p:spPr>
            <a:xfrm>
              <a:off x="4713120" y="3232080"/>
              <a:ext cx="1965600" cy="1037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400" b="0" u="none" strike="noStrike">
                  <a:solidFill>
                    <a:srgbClr val="ccddee"/>
                  </a:solidFill>
                  <a:effectLst/>
                  <a:uFillTx/>
                  <a:latin typeface="Calibri"/>
                  <a:ea typeface="DejaVu Sans"/>
                </a:rPr>
                <a:t>Immersyjne </a:t>
              </a:r>
              <a:r>
                <a:rPr lang="pl-PL" sz="1400" b="0" u="none" strike="noStrike">
                  <a:solidFill>
                    <a:srgbClr val="ccddee"/>
                  </a:solidFill>
                  <a:effectLst/>
                  <a:uFillTx/>
                  <a:latin typeface="Calibri"/>
                  <a:ea typeface="DejaVu Sans"/>
                </a:rPr>
                <a:t>d</a:t>
              </a:r>
              <a:r>
                <a:rPr lang="en-US" sz="1400" b="0" u="none" strike="noStrike">
                  <a:solidFill>
                    <a:srgbClr val="ccddee"/>
                  </a:solidFill>
                  <a:effectLst/>
                  <a:uFillTx/>
                  <a:latin typeface="Calibri"/>
                  <a:ea typeface="DejaVu Sans"/>
                </a:rPr>
                <a:t>oświadczenia </a:t>
              </a:r>
              <a:endParaRPr lang="pl-PL" sz="1400" b="0" u="none" strike="noStrike">
                <a:solidFill>
                  <a:srgbClr val="ffffff"/>
                </a:solidFill>
                <a:effectLst/>
                <a:uFillTx/>
                <a:latin typeface="Arial"/>
              </a:endParaRPr>
            </a:p>
            <a:p>
              <a:pPr defTabSz="914400">
                <a:lnSpc>
                  <a:spcPct val="100000"/>
                </a:lnSpc>
                <a:tabLst>
                  <a:tab algn="l" pos="0"/>
                </a:tabLst>
              </a:pPr>
              <a:r>
                <a:rPr lang="en-US" sz="1400" b="0" u="none" strike="noStrike">
                  <a:solidFill>
                    <a:srgbClr val="ccddee"/>
                  </a:solidFill>
                  <a:effectLst/>
                  <a:uFillTx/>
                  <a:latin typeface="Calibri"/>
                  <a:ea typeface="DejaVu Sans"/>
                </a:rPr>
                <a:t>w rzeczywistości </a:t>
              </a:r>
              <a:r>
                <a:rPr lang="pl-PL" sz="1400" b="0" u="none" strike="noStrike">
                  <a:solidFill>
                    <a:srgbClr val="ccddee"/>
                  </a:solidFill>
                  <a:effectLst/>
                  <a:uFillTx/>
                  <a:latin typeface="Calibri"/>
                  <a:ea typeface="DejaVu Sans"/>
                </a:rPr>
                <a:t>r</a:t>
              </a:r>
              <a:r>
                <a:rPr lang="en-US" sz="1400" b="0" u="none" strike="noStrike">
                  <a:solidFill>
                    <a:srgbClr val="ccddee"/>
                  </a:solidFill>
                  <a:effectLst/>
                  <a:uFillTx/>
                  <a:latin typeface="Calibri"/>
                  <a:ea typeface="DejaVu Sans"/>
                </a:rPr>
                <a:t>ozszerzonej i wirtualnej</a:t>
              </a:r>
              <a:endParaRPr lang="pl-PL" sz="1400" b="0" u="none" strike="noStrike">
                <a:solidFill>
                  <a:srgbClr val="ffffff"/>
                </a:solidFill>
                <a:effectLst/>
                <a:uFillTx/>
                <a:latin typeface="Arial"/>
              </a:endParaRPr>
            </a:p>
          </p:txBody>
        </p:sp>
        <p:sp>
          <p:nvSpPr>
            <p:cNvPr id="786" name="Shape 28"/>
            <p:cNvSpPr/>
            <p:nvPr/>
          </p:nvSpPr>
          <p:spPr>
            <a:xfrm>
              <a:off x="6876000" y="2697480"/>
              <a:ext cx="2155320" cy="16264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87" name="Shape 29"/>
            <p:cNvSpPr/>
            <p:nvPr/>
          </p:nvSpPr>
          <p:spPr>
            <a:xfrm>
              <a:off x="6876000" y="2697480"/>
              <a:ext cx="47880" cy="162648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88" name="Text 30"/>
            <p:cNvSpPr/>
            <p:nvPr/>
          </p:nvSpPr>
          <p:spPr>
            <a:xfrm>
              <a:off x="7071840" y="2761560"/>
              <a:ext cx="191052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ff9100"/>
                  </a:solidFill>
                  <a:effectLst/>
                  <a:uFillTx/>
                  <a:latin typeface="Calibri"/>
                  <a:ea typeface="DejaVu Sans"/>
                </a:rPr>
                <a:t>Czujniki Mobilne</a:t>
              </a:r>
              <a:endParaRPr lang="pl-PL" sz="1600" b="0" u="none" strike="noStrike">
                <a:solidFill>
                  <a:srgbClr val="ffffff"/>
                </a:solidFill>
                <a:effectLst/>
                <a:uFillTx/>
                <a:latin typeface="Arial"/>
              </a:endParaRPr>
            </a:p>
          </p:txBody>
        </p:sp>
        <p:sp>
          <p:nvSpPr>
            <p:cNvPr id="789" name="Text 31"/>
            <p:cNvSpPr/>
            <p:nvPr/>
          </p:nvSpPr>
          <p:spPr>
            <a:xfrm>
              <a:off x="7071840" y="3232080"/>
              <a:ext cx="1910520" cy="1037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400" b="0" u="none" strike="noStrike">
                  <a:solidFill>
                    <a:srgbClr val="ccddee"/>
                  </a:solidFill>
                  <a:effectLst/>
                  <a:uFillTx/>
                  <a:latin typeface="Calibri"/>
                  <a:ea typeface="DejaVu Sans"/>
                </a:rPr>
                <a:t>Akcelerometr, żyroskop, czujnik zbliżeniowy </a:t>
              </a:r>
              <a:endParaRPr lang="pl-PL" sz="1400" b="0" u="none" strike="noStrike">
                <a:solidFill>
                  <a:srgbClr val="ffffff"/>
                </a:solidFill>
                <a:effectLst/>
                <a:uFillTx/>
                <a:latin typeface="Arial"/>
              </a:endParaRPr>
            </a:p>
            <a:p>
              <a:pPr defTabSz="914400">
                <a:lnSpc>
                  <a:spcPct val="100000"/>
                </a:lnSpc>
                <a:tabLst>
                  <a:tab algn="l" pos="0"/>
                </a:tabLst>
              </a:pPr>
              <a:r>
                <a:rPr lang="en-US" sz="1400" b="0" u="none" strike="noStrike">
                  <a:solidFill>
                    <a:srgbClr val="ccddee"/>
                  </a:solidFill>
                  <a:effectLst/>
                  <a:uFillTx/>
                  <a:latin typeface="Calibri"/>
                  <a:ea typeface="DejaVu Sans"/>
                </a:rPr>
                <a:t>w smartfonach</a:t>
              </a:r>
              <a:endParaRPr lang="pl-PL" sz="1400" b="0" u="none" strike="noStrike">
                <a:solidFill>
                  <a:srgbClr val="ffffff"/>
                </a:solidFill>
                <a:effectLst/>
                <a:uFillTx/>
                <a:latin typeface="Arial"/>
              </a:endParaRPr>
            </a:p>
          </p:txBody>
        </p:sp>
      </p:grpSp>
      <p:sp>
        <p:nvSpPr>
          <p:cNvPr id="790" name="Text 34"/>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10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791" name="Grupa 45"/>
          <p:cNvGrpSpPr/>
          <p:nvPr/>
        </p:nvGrpSpPr>
        <p:grpSpPr>
          <a:xfrm>
            <a:off x="-2520" y="4884840"/>
            <a:ext cx="9145440" cy="259200"/>
            <a:chOff x="-2520" y="4884840"/>
            <a:chExt cx="9145440" cy="259200"/>
          </a:xfrm>
        </p:grpSpPr>
        <p:sp>
          <p:nvSpPr>
            <p:cNvPr id="792"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93"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794" name="Grupa 48"/>
            <p:cNvGrpSpPr/>
            <p:nvPr/>
          </p:nvGrpSpPr>
          <p:grpSpPr>
            <a:xfrm>
              <a:off x="-2520" y="5099400"/>
              <a:ext cx="9145440" cy="44640"/>
              <a:chOff x="-2520" y="5099400"/>
              <a:chExt cx="9145440" cy="44640"/>
            </a:xfrm>
          </p:grpSpPr>
          <p:sp>
            <p:nvSpPr>
              <p:cNvPr id="795"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96"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97"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98"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99"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0"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1"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2"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3"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4"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5"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6" name="Shape 52"/>
              <p:cNvSpPr/>
              <p:nvPr/>
            </p:nvSpPr>
            <p:spPr>
              <a:xfrm>
                <a:off x="21862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07"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08"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09"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0"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1"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2"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3"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4"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5"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6"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7"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8"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19"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0"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1"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2"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3"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4"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5"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6"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7"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8"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29"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0"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1"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2"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3"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4"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5"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6"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7"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8"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39"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0"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841" name="Shape 0"/>
          <p:cNvSpPr/>
          <p:nvPr/>
        </p:nvSpPr>
        <p:spPr>
          <a:xfrm>
            <a:off x="320040" y="255960"/>
            <a:ext cx="53640" cy="501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2"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TUI - Touch User Interface</a:t>
            </a:r>
            <a:endParaRPr lang="pl-PL" sz="2200" b="0" u="none" strike="noStrike">
              <a:solidFill>
                <a:srgbClr val="ffffff"/>
              </a:solidFill>
              <a:effectLst/>
              <a:uFillTx/>
              <a:latin typeface="Arial"/>
            </a:endParaRPr>
          </a:p>
        </p:txBody>
      </p:sp>
      <p:sp>
        <p:nvSpPr>
          <p:cNvPr id="843" name="Shape 2"/>
          <p:cNvSpPr/>
          <p:nvPr/>
        </p:nvSpPr>
        <p:spPr>
          <a:xfrm>
            <a:off x="320040" y="1370520"/>
            <a:ext cx="1919160" cy="913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4" name="Shape 3"/>
          <p:cNvSpPr/>
          <p:nvPr/>
        </p:nvSpPr>
        <p:spPr>
          <a:xfrm>
            <a:off x="320040" y="1370520"/>
            <a:ext cx="1919160" cy="44640"/>
          </a:xfrm>
          <a:prstGeom prst="rect">
            <a:avLst/>
          </a:prstGeom>
          <a:solidFill>
            <a:srgbClr val="ff2d78"/>
          </a:solidFill>
          <a:ln w="12600">
            <a:solidFill>
              <a:srgbClr val="ff2d78"/>
            </a:solidFill>
            <a:round/>
          </a:ln>
        </p:spPr>
        <p:style>
          <a:lnRef idx="0"/>
          <a:fillRef idx="0"/>
          <a:effectRef idx="0"/>
          <a:fontRef idx="minor"/>
        </p:style>
        <p:txBody>
          <a:bodyPr lIns="90000" rIns="90000" tIns="720" bIns="72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5" name="Text 4"/>
          <p:cNvSpPr/>
          <p:nvPr/>
        </p:nvSpPr>
        <p:spPr>
          <a:xfrm>
            <a:off x="411480" y="1470600"/>
            <a:ext cx="17362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000" b="1" u="none" strike="noStrike">
                <a:solidFill>
                  <a:srgbClr val="ffffff"/>
                </a:solidFill>
                <a:effectLst/>
                <a:uFillTx/>
                <a:latin typeface="Calibri"/>
                <a:ea typeface="DejaVu Sans"/>
              </a:rPr>
              <a:t>Tap</a:t>
            </a:r>
            <a:endParaRPr lang="pl-PL" sz="2000" b="0" u="none" strike="noStrike">
              <a:solidFill>
                <a:srgbClr val="ffffff"/>
              </a:solidFill>
              <a:effectLst/>
              <a:uFillTx/>
              <a:latin typeface="Arial"/>
            </a:endParaRPr>
          </a:p>
        </p:txBody>
      </p:sp>
      <p:sp>
        <p:nvSpPr>
          <p:cNvPr id="846" name="Text 5"/>
          <p:cNvSpPr/>
          <p:nvPr/>
        </p:nvSpPr>
        <p:spPr>
          <a:xfrm>
            <a:off x="475560" y="1827720"/>
            <a:ext cx="161352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8091a2"/>
                </a:solidFill>
                <a:effectLst/>
                <a:uFillTx/>
                <a:latin typeface="Calibri"/>
                <a:ea typeface="DejaVu Sans"/>
              </a:rPr>
              <a:t>Pojedyncze dotknięcie</a:t>
            </a:r>
            <a:endParaRPr lang="pl-PL" sz="1400" b="0" u="none" strike="noStrike">
              <a:solidFill>
                <a:srgbClr val="ffffff"/>
              </a:solidFill>
              <a:effectLst/>
              <a:uFillTx/>
              <a:latin typeface="Arial"/>
            </a:endParaRPr>
          </a:p>
        </p:txBody>
      </p:sp>
      <p:sp>
        <p:nvSpPr>
          <p:cNvPr id="847" name="Shape 6"/>
          <p:cNvSpPr/>
          <p:nvPr/>
        </p:nvSpPr>
        <p:spPr>
          <a:xfrm>
            <a:off x="2404800" y="1370520"/>
            <a:ext cx="1919160" cy="913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8" name="Shape 7"/>
          <p:cNvSpPr/>
          <p:nvPr/>
        </p:nvSpPr>
        <p:spPr>
          <a:xfrm>
            <a:off x="2404800" y="1370520"/>
            <a:ext cx="1919160" cy="44640"/>
          </a:xfrm>
          <a:prstGeom prst="rect">
            <a:avLst/>
          </a:prstGeom>
          <a:solidFill>
            <a:srgbClr val="ff2d78"/>
          </a:solidFill>
          <a:ln w="12600">
            <a:solidFill>
              <a:srgbClr val="ff2d78"/>
            </a:solidFill>
            <a:round/>
          </a:ln>
        </p:spPr>
        <p:style>
          <a:lnRef idx="0"/>
          <a:fillRef idx="0"/>
          <a:effectRef idx="0"/>
          <a:fontRef idx="minor"/>
        </p:style>
        <p:txBody>
          <a:bodyPr lIns="90000" rIns="90000" tIns="720" bIns="72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9" name="Text 8"/>
          <p:cNvSpPr/>
          <p:nvPr/>
        </p:nvSpPr>
        <p:spPr>
          <a:xfrm>
            <a:off x="2496240" y="1470600"/>
            <a:ext cx="17362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000" b="1" u="none" strike="noStrike">
                <a:solidFill>
                  <a:srgbClr val="ffffff"/>
                </a:solidFill>
                <a:effectLst/>
                <a:uFillTx/>
                <a:latin typeface="Calibri"/>
                <a:ea typeface="DejaVu Sans"/>
              </a:rPr>
              <a:t>Swipe</a:t>
            </a:r>
            <a:endParaRPr lang="pl-PL" sz="2000" b="0" u="none" strike="noStrike">
              <a:solidFill>
                <a:srgbClr val="ffffff"/>
              </a:solidFill>
              <a:effectLst/>
              <a:uFillTx/>
              <a:latin typeface="Arial"/>
            </a:endParaRPr>
          </a:p>
        </p:txBody>
      </p:sp>
      <p:sp>
        <p:nvSpPr>
          <p:cNvPr id="850" name="Text 9"/>
          <p:cNvSpPr/>
          <p:nvPr/>
        </p:nvSpPr>
        <p:spPr>
          <a:xfrm>
            <a:off x="2560320" y="1827720"/>
            <a:ext cx="161352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8091a2"/>
                </a:solidFill>
                <a:effectLst/>
                <a:uFillTx/>
                <a:latin typeface="Calibri"/>
                <a:ea typeface="DejaVu Sans"/>
              </a:rPr>
              <a:t>Przesunięcie palcem</a:t>
            </a:r>
            <a:endParaRPr lang="pl-PL" sz="1400" b="0" u="none" strike="noStrike">
              <a:solidFill>
                <a:srgbClr val="ffffff"/>
              </a:solidFill>
              <a:effectLst/>
              <a:uFillTx/>
              <a:latin typeface="Arial"/>
            </a:endParaRPr>
          </a:p>
        </p:txBody>
      </p:sp>
      <p:sp>
        <p:nvSpPr>
          <p:cNvPr id="851" name="Shape 10"/>
          <p:cNvSpPr/>
          <p:nvPr/>
        </p:nvSpPr>
        <p:spPr>
          <a:xfrm>
            <a:off x="320040" y="2394720"/>
            <a:ext cx="1919160" cy="913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52" name="Shape 11"/>
          <p:cNvSpPr/>
          <p:nvPr/>
        </p:nvSpPr>
        <p:spPr>
          <a:xfrm>
            <a:off x="320040" y="2394720"/>
            <a:ext cx="1919160" cy="44640"/>
          </a:xfrm>
          <a:prstGeom prst="rect">
            <a:avLst/>
          </a:prstGeom>
          <a:solidFill>
            <a:srgbClr val="ff2d78"/>
          </a:solidFill>
          <a:ln w="12600">
            <a:solidFill>
              <a:srgbClr val="ff2d78"/>
            </a:solidFill>
            <a:round/>
          </a:ln>
        </p:spPr>
        <p:style>
          <a:lnRef idx="0"/>
          <a:fillRef idx="0"/>
          <a:effectRef idx="0"/>
          <a:fontRef idx="minor"/>
        </p:style>
        <p:txBody>
          <a:bodyPr lIns="90000" rIns="90000" tIns="720" bIns="72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53" name="Text 12"/>
          <p:cNvSpPr/>
          <p:nvPr/>
        </p:nvSpPr>
        <p:spPr>
          <a:xfrm>
            <a:off x="411480" y="2494800"/>
            <a:ext cx="17362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000" b="1" u="none" strike="noStrike">
                <a:solidFill>
                  <a:srgbClr val="ffffff"/>
                </a:solidFill>
                <a:effectLst/>
                <a:uFillTx/>
                <a:latin typeface="Calibri"/>
                <a:ea typeface="DejaVu Sans"/>
              </a:rPr>
              <a:t>Pinch</a:t>
            </a:r>
            <a:endParaRPr lang="pl-PL" sz="2000" b="0" u="none" strike="noStrike">
              <a:solidFill>
                <a:srgbClr val="ffffff"/>
              </a:solidFill>
              <a:effectLst/>
              <a:uFillTx/>
              <a:latin typeface="Arial"/>
            </a:endParaRPr>
          </a:p>
        </p:txBody>
      </p:sp>
      <p:sp>
        <p:nvSpPr>
          <p:cNvPr id="854" name="Text 13"/>
          <p:cNvSpPr/>
          <p:nvPr/>
        </p:nvSpPr>
        <p:spPr>
          <a:xfrm>
            <a:off x="411480" y="2851920"/>
            <a:ext cx="167760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8091a2"/>
                </a:solidFill>
                <a:effectLst/>
                <a:uFillTx/>
                <a:latin typeface="Calibri"/>
                <a:ea typeface="DejaVu Sans"/>
              </a:rPr>
              <a:t>Szczypty do skalowania</a:t>
            </a:r>
            <a:endParaRPr lang="pl-PL" sz="1400" b="0" u="none" strike="noStrike">
              <a:solidFill>
                <a:srgbClr val="ffffff"/>
              </a:solidFill>
              <a:effectLst/>
              <a:uFillTx/>
              <a:latin typeface="Arial"/>
            </a:endParaRPr>
          </a:p>
        </p:txBody>
      </p:sp>
      <p:sp>
        <p:nvSpPr>
          <p:cNvPr id="855" name="Shape 14"/>
          <p:cNvSpPr/>
          <p:nvPr/>
        </p:nvSpPr>
        <p:spPr>
          <a:xfrm>
            <a:off x="2404800" y="2394720"/>
            <a:ext cx="1919160" cy="913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56" name="Shape 15"/>
          <p:cNvSpPr/>
          <p:nvPr/>
        </p:nvSpPr>
        <p:spPr>
          <a:xfrm>
            <a:off x="2404800" y="2394720"/>
            <a:ext cx="1919160" cy="44640"/>
          </a:xfrm>
          <a:prstGeom prst="rect">
            <a:avLst/>
          </a:prstGeom>
          <a:solidFill>
            <a:srgbClr val="ff2d78"/>
          </a:solidFill>
          <a:ln w="12600">
            <a:solidFill>
              <a:srgbClr val="ff2d78"/>
            </a:solidFill>
            <a:round/>
          </a:ln>
        </p:spPr>
        <p:style>
          <a:lnRef idx="0"/>
          <a:fillRef idx="0"/>
          <a:effectRef idx="0"/>
          <a:fontRef idx="minor"/>
        </p:style>
        <p:txBody>
          <a:bodyPr lIns="90000" rIns="90000" tIns="720" bIns="72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57" name="Text 16"/>
          <p:cNvSpPr/>
          <p:nvPr/>
        </p:nvSpPr>
        <p:spPr>
          <a:xfrm>
            <a:off x="2496240" y="2494800"/>
            <a:ext cx="1736280" cy="273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000" b="1" u="none" strike="noStrike">
                <a:solidFill>
                  <a:srgbClr val="ffffff"/>
                </a:solidFill>
                <a:effectLst/>
                <a:uFillTx/>
                <a:latin typeface="Calibri"/>
                <a:ea typeface="DejaVu Sans"/>
              </a:rPr>
              <a:t>Long Press</a:t>
            </a:r>
            <a:endParaRPr lang="pl-PL" sz="2000" b="0" u="none" strike="noStrike">
              <a:solidFill>
                <a:srgbClr val="ffffff"/>
              </a:solidFill>
              <a:effectLst/>
              <a:uFillTx/>
              <a:latin typeface="Arial"/>
            </a:endParaRPr>
          </a:p>
        </p:txBody>
      </p:sp>
      <p:sp>
        <p:nvSpPr>
          <p:cNvPr id="858" name="Text 17"/>
          <p:cNvSpPr/>
          <p:nvPr/>
        </p:nvSpPr>
        <p:spPr>
          <a:xfrm>
            <a:off x="2560320" y="2851920"/>
            <a:ext cx="161352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8091a2"/>
                </a:solidFill>
                <a:effectLst/>
                <a:uFillTx/>
                <a:latin typeface="Calibri"/>
                <a:ea typeface="DejaVu Sans"/>
              </a:rPr>
              <a:t>Przytrzymanie</a:t>
            </a:r>
            <a:endParaRPr lang="pl-PL" sz="1400" b="0" u="none" strike="noStrike">
              <a:solidFill>
                <a:srgbClr val="ffffff"/>
              </a:solidFill>
              <a:effectLst/>
              <a:uFillTx/>
              <a:latin typeface="Arial"/>
            </a:endParaRPr>
          </a:p>
        </p:txBody>
      </p:sp>
      <p:sp>
        <p:nvSpPr>
          <p:cNvPr id="859" name="Shape 18"/>
          <p:cNvSpPr/>
          <p:nvPr/>
        </p:nvSpPr>
        <p:spPr>
          <a:xfrm>
            <a:off x="320040" y="3427920"/>
            <a:ext cx="1919160" cy="712080"/>
          </a:xfrm>
          <a:prstGeom prst="rect">
            <a:avLst/>
          </a:prstGeom>
          <a:solidFill>
            <a:srgbClr val="112233"/>
          </a:solidFill>
          <a:ln w="12600">
            <a:solidFill>
              <a:srgbClr val="00d4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60" name="Text 19"/>
          <p:cNvSpPr/>
          <p:nvPr/>
        </p:nvSpPr>
        <p:spPr>
          <a:xfrm>
            <a:off x="411480" y="3476160"/>
            <a:ext cx="173628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00d4ff"/>
                </a:solidFill>
                <a:effectLst/>
                <a:uFillTx/>
                <a:latin typeface="Calibri"/>
                <a:ea typeface="DejaVu Sans"/>
              </a:rPr>
              <a:t>44px</a:t>
            </a:r>
            <a:endParaRPr lang="pl-PL" sz="2800" b="0" u="none" strike="noStrike">
              <a:solidFill>
                <a:srgbClr val="ffffff"/>
              </a:solidFill>
              <a:effectLst/>
              <a:uFillTx/>
              <a:latin typeface="Arial"/>
            </a:endParaRPr>
          </a:p>
        </p:txBody>
      </p:sp>
      <p:sp>
        <p:nvSpPr>
          <p:cNvPr id="861" name="Text 20"/>
          <p:cNvSpPr/>
          <p:nvPr/>
        </p:nvSpPr>
        <p:spPr>
          <a:xfrm>
            <a:off x="411480" y="3833640"/>
            <a:ext cx="173628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8899aa"/>
                </a:solidFill>
                <a:effectLst/>
                <a:uFillTx/>
                <a:latin typeface="Calibri"/>
                <a:ea typeface="DejaVu Sans"/>
              </a:rPr>
              <a:t>min. cel dotykowy (iOS)</a:t>
            </a:r>
            <a:endParaRPr lang="pl-PL" sz="1200" b="0" u="none" strike="noStrike">
              <a:solidFill>
                <a:srgbClr val="ffffff"/>
              </a:solidFill>
              <a:effectLst/>
              <a:uFillTx/>
              <a:latin typeface="Arial"/>
            </a:endParaRPr>
          </a:p>
        </p:txBody>
      </p:sp>
      <p:sp>
        <p:nvSpPr>
          <p:cNvPr id="862" name="Shape 21"/>
          <p:cNvSpPr/>
          <p:nvPr/>
        </p:nvSpPr>
        <p:spPr>
          <a:xfrm>
            <a:off x="2404800" y="3427920"/>
            <a:ext cx="1919160" cy="712080"/>
          </a:xfrm>
          <a:prstGeom prst="rect">
            <a:avLst/>
          </a:prstGeom>
          <a:solidFill>
            <a:srgbClr val="112233"/>
          </a:solidFill>
          <a:ln w="12600">
            <a:solidFill>
              <a:srgbClr val="ff2d78"/>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63" name="Text 22"/>
          <p:cNvSpPr/>
          <p:nvPr/>
        </p:nvSpPr>
        <p:spPr>
          <a:xfrm>
            <a:off x="2496240" y="3476160"/>
            <a:ext cx="173628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ff2d78"/>
                </a:solidFill>
                <a:effectLst/>
                <a:uFillTx/>
                <a:latin typeface="Calibri"/>
                <a:ea typeface="DejaVu Sans"/>
              </a:rPr>
              <a:t>48dp</a:t>
            </a:r>
            <a:endParaRPr lang="pl-PL" sz="2800" b="0" u="none" strike="noStrike">
              <a:solidFill>
                <a:srgbClr val="ffffff"/>
              </a:solidFill>
              <a:effectLst/>
              <a:uFillTx/>
              <a:latin typeface="Arial"/>
            </a:endParaRPr>
          </a:p>
        </p:txBody>
      </p:sp>
      <p:sp>
        <p:nvSpPr>
          <p:cNvPr id="864" name="Text 23"/>
          <p:cNvSpPr/>
          <p:nvPr/>
        </p:nvSpPr>
        <p:spPr>
          <a:xfrm>
            <a:off x="2434680" y="3833640"/>
            <a:ext cx="182772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8899aa"/>
                </a:solidFill>
                <a:effectLst/>
                <a:uFillTx/>
                <a:latin typeface="Calibri"/>
                <a:ea typeface="DejaVu Sans"/>
              </a:rPr>
              <a:t>min. cel dotykowy (Android)</a:t>
            </a:r>
            <a:endParaRPr lang="pl-PL" sz="1200" b="0" u="none" strike="noStrike">
              <a:solidFill>
                <a:srgbClr val="ffffff"/>
              </a:solidFill>
              <a:effectLst/>
              <a:uFillTx/>
              <a:latin typeface="Arial"/>
            </a:endParaRPr>
          </a:p>
        </p:txBody>
      </p:sp>
      <p:sp>
        <p:nvSpPr>
          <p:cNvPr id="865" name="Shape 24"/>
          <p:cNvSpPr/>
          <p:nvPr/>
        </p:nvSpPr>
        <p:spPr>
          <a:xfrm>
            <a:off x="4677480" y="1375560"/>
            <a:ext cx="4068000" cy="2750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66" name="Shape 25"/>
          <p:cNvSpPr/>
          <p:nvPr/>
        </p:nvSpPr>
        <p:spPr>
          <a:xfrm>
            <a:off x="4677480" y="1375560"/>
            <a:ext cx="44640" cy="27500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67" name="Text 26"/>
          <p:cNvSpPr/>
          <p:nvPr/>
        </p:nvSpPr>
        <p:spPr>
          <a:xfrm>
            <a:off x="4814640" y="141912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ffffff"/>
                </a:solidFill>
                <a:effectLst/>
                <a:uFillTx/>
                <a:latin typeface="Calibri"/>
                <a:ea typeface="DejaVu Sans"/>
              </a:rPr>
              <a:t>Strefa Kciuka</a:t>
            </a:r>
            <a:endParaRPr lang="pl-PL" sz="2000" b="0" u="none" strike="noStrike">
              <a:solidFill>
                <a:srgbClr val="ffffff"/>
              </a:solidFill>
              <a:effectLst/>
              <a:uFillTx/>
              <a:latin typeface="Arial"/>
            </a:endParaRPr>
          </a:p>
        </p:txBody>
      </p:sp>
      <p:sp>
        <p:nvSpPr>
          <p:cNvPr id="868" name="Text 27"/>
          <p:cNvSpPr/>
          <p:nvPr/>
        </p:nvSpPr>
        <p:spPr>
          <a:xfrm>
            <a:off x="4814640" y="1724400"/>
            <a:ext cx="379368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Użytkownicy trzymają telefon jedną ręką i obsługują kciukiem. Ekran dzieli się na trzy strefy:</a:t>
            </a:r>
            <a:endParaRPr lang="pl-PL" sz="1200" b="0" u="none" strike="noStrike">
              <a:solidFill>
                <a:srgbClr val="ffffff"/>
              </a:solidFill>
              <a:effectLst/>
              <a:uFillTx/>
              <a:latin typeface="Arial"/>
            </a:endParaRPr>
          </a:p>
        </p:txBody>
      </p:sp>
      <p:sp>
        <p:nvSpPr>
          <p:cNvPr id="869" name="Shape 28"/>
          <p:cNvSpPr/>
          <p:nvPr/>
        </p:nvSpPr>
        <p:spPr>
          <a:xfrm>
            <a:off x="4814640" y="2328480"/>
            <a:ext cx="273240" cy="4471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70" name="Text 29"/>
          <p:cNvSpPr/>
          <p:nvPr/>
        </p:nvSpPr>
        <p:spPr>
          <a:xfrm>
            <a:off x="4814640" y="2274120"/>
            <a:ext cx="273240" cy="501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0d1b2a"/>
                </a:solidFill>
                <a:effectLst/>
                <a:uFillTx/>
                <a:latin typeface="Calibri"/>
                <a:ea typeface="DejaVu Sans"/>
              </a:rPr>
              <a:t>1</a:t>
            </a:r>
            <a:endParaRPr lang="pl-PL" sz="1400" b="0" u="none" strike="noStrike">
              <a:solidFill>
                <a:srgbClr val="ffffff"/>
              </a:solidFill>
              <a:effectLst/>
              <a:uFillTx/>
              <a:latin typeface="Arial"/>
            </a:endParaRPr>
          </a:p>
        </p:txBody>
      </p:sp>
      <p:sp>
        <p:nvSpPr>
          <p:cNvPr id="871" name="Text 30"/>
          <p:cNvSpPr/>
          <p:nvPr/>
        </p:nvSpPr>
        <p:spPr>
          <a:xfrm>
            <a:off x="5180400" y="233352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Łatwy zasięg</a:t>
            </a:r>
            <a:endParaRPr lang="pl-PL" sz="1400" b="0" u="none" strike="noStrike">
              <a:solidFill>
                <a:srgbClr val="ffffff"/>
              </a:solidFill>
              <a:effectLst/>
              <a:uFillTx/>
              <a:latin typeface="Arial"/>
            </a:endParaRPr>
          </a:p>
        </p:txBody>
      </p:sp>
      <p:sp>
        <p:nvSpPr>
          <p:cNvPr id="872" name="Text 31"/>
          <p:cNvSpPr/>
          <p:nvPr/>
        </p:nvSpPr>
        <p:spPr>
          <a:xfrm>
            <a:off x="5180400" y="2539080"/>
            <a:ext cx="347364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Dolna część ekranu - najczęściej używane elementy</a:t>
            </a:r>
            <a:endParaRPr lang="pl-PL" sz="1200" b="0" u="none" strike="noStrike">
              <a:solidFill>
                <a:srgbClr val="ffffff"/>
              </a:solidFill>
              <a:effectLst/>
              <a:uFillTx/>
              <a:latin typeface="Arial"/>
            </a:endParaRPr>
          </a:p>
        </p:txBody>
      </p:sp>
      <p:sp>
        <p:nvSpPr>
          <p:cNvPr id="873" name="Shape 32"/>
          <p:cNvSpPr/>
          <p:nvPr/>
        </p:nvSpPr>
        <p:spPr>
          <a:xfrm>
            <a:off x="4814640" y="2915280"/>
            <a:ext cx="273240" cy="44712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74" name="Text 33"/>
          <p:cNvSpPr/>
          <p:nvPr/>
        </p:nvSpPr>
        <p:spPr>
          <a:xfrm>
            <a:off x="4814640" y="2860920"/>
            <a:ext cx="273240" cy="501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0d1b2a"/>
                </a:solidFill>
                <a:effectLst/>
                <a:uFillTx/>
                <a:latin typeface="Calibri"/>
                <a:ea typeface="DejaVu Sans"/>
              </a:rPr>
              <a:t>2</a:t>
            </a:r>
            <a:endParaRPr lang="pl-PL" sz="1400" b="0" u="none" strike="noStrike">
              <a:solidFill>
                <a:srgbClr val="ffffff"/>
              </a:solidFill>
              <a:effectLst/>
              <a:uFillTx/>
              <a:latin typeface="Arial"/>
            </a:endParaRPr>
          </a:p>
        </p:txBody>
      </p:sp>
      <p:sp>
        <p:nvSpPr>
          <p:cNvPr id="875" name="Text 34"/>
          <p:cNvSpPr/>
          <p:nvPr/>
        </p:nvSpPr>
        <p:spPr>
          <a:xfrm>
            <a:off x="5180400" y="292032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Strefa rozciągania</a:t>
            </a:r>
            <a:endParaRPr lang="pl-PL" sz="1400" b="0" u="none" strike="noStrike">
              <a:solidFill>
                <a:srgbClr val="ffffff"/>
              </a:solidFill>
              <a:effectLst/>
              <a:uFillTx/>
              <a:latin typeface="Arial"/>
            </a:endParaRPr>
          </a:p>
        </p:txBody>
      </p:sp>
      <p:sp>
        <p:nvSpPr>
          <p:cNvPr id="876" name="Text 35"/>
          <p:cNvSpPr/>
          <p:nvPr/>
        </p:nvSpPr>
        <p:spPr>
          <a:xfrm>
            <a:off x="5180400" y="3125880"/>
            <a:ext cx="347364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Środkowa część - wymaga wysiłku, ale osiągalna</a:t>
            </a:r>
            <a:endParaRPr lang="pl-PL" sz="1200" b="0" u="none" strike="noStrike">
              <a:solidFill>
                <a:srgbClr val="ffffff"/>
              </a:solidFill>
              <a:effectLst/>
              <a:uFillTx/>
              <a:latin typeface="Arial"/>
            </a:endParaRPr>
          </a:p>
        </p:txBody>
      </p:sp>
      <p:sp>
        <p:nvSpPr>
          <p:cNvPr id="877" name="Shape 36"/>
          <p:cNvSpPr/>
          <p:nvPr/>
        </p:nvSpPr>
        <p:spPr>
          <a:xfrm>
            <a:off x="4814640" y="3480120"/>
            <a:ext cx="273240" cy="44712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78" name="Text 37"/>
          <p:cNvSpPr/>
          <p:nvPr/>
        </p:nvSpPr>
        <p:spPr>
          <a:xfrm>
            <a:off x="4814640" y="3425400"/>
            <a:ext cx="273240" cy="501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0d1b2a"/>
                </a:solidFill>
                <a:effectLst/>
                <a:uFillTx/>
                <a:latin typeface="Calibri"/>
                <a:ea typeface="DejaVu Sans"/>
              </a:rPr>
              <a:t>3</a:t>
            </a:r>
            <a:endParaRPr lang="pl-PL" sz="1400" b="0" u="none" strike="noStrike">
              <a:solidFill>
                <a:srgbClr val="ffffff"/>
              </a:solidFill>
              <a:effectLst/>
              <a:uFillTx/>
              <a:latin typeface="Arial"/>
            </a:endParaRPr>
          </a:p>
        </p:txBody>
      </p:sp>
      <p:sp>
        <p:nvSpPr>
          <p:cNvPr id="879" name="Text 38"/>
          <p:cNvSpPr/>
          <p:nvPr/>
        </p:nvSpPr>
        <p:spPr>
          <a:xfrm>
            <a:off x="5180400" y="34923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Trudny zasięg</a:t>
            </a:r>
            <a:endParaRPr lang="pl-PL" sz="1400" b="0" u="none" strike="noStrike">
              <a:solidFill>
                <a:srgbClr val="ffffff"/>
              </a:solidFill>
              <a:effectLst/>
              <a:uFillTx/>
              <a:latin typeface="Arial"/>
            </a:endParaRPr>
          </a:p>
        </p:txBody>
      </p:sp>
      <p:sp>
        <p:nvSpPr>
          <p:cNvPr id="880" name="Text 39"/>
          <p:cNvSpPr/>
          <p:nvPr/>
        </p:nvSpPr>
        <p:spPr>
          <a:xfrm>
            <a:off x="5180400" y="3697920"/>
            <a:ext cx="347364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Górna część ekranu - rzadko używane funkcje</a:t>
            </a:r>
            <a:endParaRPr lang="pl-PL" sz="1200" b="0" u="none" strike="noStrike">
              <a:solidFill>
                <a:srgbClr val="ffffff"/>
              </a:solidFill>
              <a:effectLst/>
              <a:uFillTx/>
              <a:latin typeface="Arial"/>
            </a:endParaRPr>
          </a:p>
        </p:txBody>
      </p:sp>
      <p:sp>
        <p:nvSpPr>
          <p:cNvPr id="881" name="Text 42"/>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11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882" name="Grupa 36"/>
          <p:cNvGrpSpPr/>
          <p:nvPr/>
        </p:nvGrpSpPr>
        <p:grpSpPr>
          <a:xfrm>
            <a:off x="-2520" y="4884840"/>
            <a:ext cx="9145440" cy="259200"/>
            <a:chOff x="-2520" y="4884840"/>
            <a:chExt cx="9145440" cy="259200"/>
          </a:xfrm>
        </p:grpSpPr>
        <p:sp>
          <p:nvSpPr>
            <p:cNvPr id="883"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84"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885" name="Grupa 39"/>
            <p:cNvGrpSpPr/>
            <p:nvPr/>
          </p:nvGrpSpPr>
          <p:grpSpPr>
            <a:xfrm>
              <a:off x="-2520" y="5099400"/>
              <a:ext cx="9145440" cy="44640"/>
              <a:chOff x="-2520" y="5099400"/>
              <a:chExt cx="9145440" cy="44640"/>
            </a:xfrm>
          </p:grpSpPr>
          <p:sp>
            <p:nvSpPr>
              <p:cNvPr id="886"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87"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88"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89"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0"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1"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2"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3"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4"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5"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6"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7"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98" name="Shape 52"/>
              <p:cNvSpPr/>
              <p:nvPr/>
            </p:nvSpPr>
            <p:spPr>
              <a:xfrm>
                <a:off x="2385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99"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0"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1"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2"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3"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4"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5"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6"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7"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8"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09"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0"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1"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2"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3"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4"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5"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6"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7"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8"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19"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0"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1"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2"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3"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4"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5"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6"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7"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8"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29"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30"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31"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932" name="Shape 0"/>
          <p:cNvSpPr/>
          <p:nvPr/>
        </p:nvSpPr>
        <p:spPr>
          <a:xfrm>
            <a:off x="320040" y="255960"/>
            <a:ext cx="53640" cy="501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33"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CLI i CUI w Kontekście Mobilnym</a:t>
            </a:r>
            <a:endParaRPr lang="pl-PL" sz="2200" b="0" u="none" strike="noStrike">
              <a:solidFill>
                <a:srgbClr val="ffffff"/>
              </a:solidFill>
              <a:effectLst/>
              <a:uFillTx/>
              <a:latin typeface="Arial"/>
            </a:endParaRPr>
          </a:p>
        </p:txBody>
      </p:sp>
      <p:sp>
        <p:nvSpPr>
          <p:cNvPr id="934" name="Shape 2"/>
          <p:cNvSpPr/>
          <p:nvPr/>
        </p:nvSpPr>
        <p:spPr>
          <a:xfrm>
            <a:off x="320040" y="914400"/>
            <a:ext cx="4068000" cy="2678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2000" b="0" u="none" strike="noStrike">
              <a:solidFill>
                <a:srgbClr val="ffffff"/>
              </a:solidFill>
              <a:effectLst/>
              <a:uFillTx/>
              <a:latin typeface="Arial"/>
              <a:ea typeface="DejaVu Sans"/>
            </a:endParaRPr>
          </a:p>
        </p:txBody>
      </p:sp>
      <p:sp>
        <p:nvSpPr>
          <p:cNvPr id="935" name="Shape 3"/>
          <p:cNvSpPr/>
          <p:nvPr/>
        </p:nvSpPr>
        <p:spPr>
          <a:xfrm>
            <a:off x="320040" y="914400"/>
            <a:ext cx="44640" cy="26780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36" name="Text 4"/>
          <p:cNvSpPr/>
          <p:nvPr/>
        </p:nvSpPr>
        <p:spPr>
          <a:xfrm>
            <a:off x="475920" y="987480"/>
            <a:ext cx="37749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ffffff"/>
                </a:solidFill>
                <a:effectLst/>
                <a:uFillTx/>
                <a:latin typeface="Calibri"/>
                <a:ea typeface="DejaVu Sans"/>
              </a:rPr>
              <a:t>CLI </a:t>
            </a:r>
            <a:r>
              <a:rPr lang="pl-PL" sz="2000" b="0" u="none" strike="noStrike">
                <a:solidFill>
                  <a:srgbClr val="ffffff"/>
                </a:solidFill>
                <a:effectLst/>
                <a:uFillTx/>
                <a:latin typeface="Calibri"/>
                <a:ea typeface="DejaVu Sans"/>
              </a:rPr>
              <a:t>- Command Line Interface</a:t>
            </a:r>
            <a:endParaRPr lang="pl-PL" sz="2000" b="0" u="none" strike="noStrike">
              <a:solidFill>
                <a:srgbClr val="ffffff"/>
              </a:solidFill>
              <a:effectLst/>
              <a:uFillTx/>
              <a:latin typeface="Arial"/>
            </a:endParaRPr>
          </a:p>
        </p:txBody>
      </p:sp>
      <p:sp>
        <p:nvSpPr>
          <p:cNvPr id="937" name="Text 5"/>
          <p:cNvSpPr/>
          <p:nvPr/>
        </p:nvSpPr>
        <p:spPr>
          <a:xfrm>
            <a:off x="475920" y="1307520"/>
            <a:ext cx="377496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u="none" strike="noStrike">
                <a:solidFill>
                  <a:srgbClr val="e1e3e3"/>
                </a:solidFill>
                <a:effectLst/>
                <a:uFillTx/>
                <a:latin typeface="Calibri"/>
                <a:ea typeface="DejaVu Sans"/>
              </a:rPr>
              <a:t>Interfejs tekstowy oparty na komendach. Rzadki </a:t>
            </a:r>
            <a:br>
              <a:rPr sz="1300"/>
            </a:br>
            <a:r>
              <a:rPr lang="pl-PL" sz="1300" b="0" u="none" strike="noStrike">
                <a:solidFill>
                  <a:srgbClr val="e1e3e3"/>
                </a:solidFill>
                <a:effectLst/>
                <a:uFillTx/>
                <a:latin typeface="Calibri"/>
                <a:ea typeface="DejaVu Sans"/>
              </a:rPr>
              <a:t>w mobilnym, ale istotny dla specjalistów i deweloperów.</a:t>
            </a:r>
            <a:endParaRPr lang="pl-PL" sz="1300" b="0" u="none" strike="noStrike">
              <a:solidFill>
                <a:srgbClr val="ffffff"/>
              </a:solidFill>
              <a:effectLst/>
              <a:uFillTx/>
              <a:latin typeface="Arial"/>
            </a:endParaRPr>
          </a:p>
        </p:txBody>
      </p:sp>
      <p:sp>
        <p:nvSpPr>
          <p:cNvPr id="938" name="Text 6"/>
          <p:cNvSpPr/>
          <p:nvPr/>
        </p:nvSpPr>
        <p:spPr>
          <a:xfrm>
            <a:off x="475920" y="1828800"/>
            <a:ext cx="377496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e676"/>
                </a:solidFill>
                <a:effectLst/>
                <a:uFillTx/>
                <a:latin typeface="Calibri"/>
                <a:ea typeface="DejaVu Sans"/>
              </a:rPr>
              <a:t>Zalety</a:t>
            </a:r>
            <a:endParaRPr lang="pl-PL" sz="1400" b="0" u="none" strike="noStrike">
              <a:solidFill>
                <a:srgbClr val="ffffff"/>
              </a:solidFill>
              <a:effectLst/>
              <a:uFillTx/>
              <a:latin typeface="Arial"/>
            </a:endParaRPr>
          </a:p>
        </p:txBody>
      </p:sp>
      <p:sp>
        <p:nvSpPr>
          <p:cNvPr id="939" name="Text 7"/>
          <p:cNvSpPr/>
          <p:nvPr/>
        </p:nvSpPr>
        <p:spPr>
          <a:xfrm>
            <a:off x="457200" y="2062440"/>
            <a:ext cx="3793680" cy="551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u="none" strike="noStrike">
                <a:solidFill>
                  <a:srgbClr val="e1e3e3"/>
                </a:solidFill>
                <a:effectLst/>
                <a:uFillTx/>
                <a:latin typeface="Calibri"/>
                <a:ea typeface="DejaVu Sans"/>
              </a:rPr>
              <a:t>• Szybkość dla zaawansowanych użytkowników</a:t>
            </a:r>
            <a:endParaRPr lang="pl-PL" sz="1300" b="0" u="none" strike="noStrike">
              <a:solidFill>
                <a:srgbClr val="ffffff"/>
              </a:solidFill>
              <a:effectLst/>
              <a:uFillTx/>
              <a:latin typeface="Arial"/>
            </a:endParaRPr>
          </a:p>
          <a:p>
            <a:pPr defTabSz="914400">
              <a:lnSpc>
                <a:spcPct val="100000"/>
              </a:lnSpc>
              <a:tabLst>
                <a:tab algn="l" pos="0"/>
              </a:tabLst>
            </a:pPr>
            <a:r>
              <a:rPr lang="pl-PL" sz="1300" b="0" u="none" strike="noStrike">
                <a:solidFill>
                  <a:srgbClr val="e1e3e3"/>
                </a:solidFill>
                <a:effectLst/>
                <a:uFillTx/>
                <a:latin typeface="Calibri"/>
                <a:ea typeface="DejaVu Sans"/>
              </a:rPr>
              <a:t>• Precyzyjna kontrola i automatyzacja</a:t>
            </a:r>
            <a:endParaRPr lang="pl-PL" sz="1300" b="0" u="none" strike="noStrike">
              <a:solidFill>
                <a:srgbClr val="ffffff"/>
              </a:solidFill>
              <a:effectLst/>
              <a:uFillTx/>
              <a:latin typeface="Arial"/>
            </a:endParaRPr>
          </a:p>
          <a:p>
            <a:pPr defTabSz="914400">
              <a:lnSpc>
                <a:spcPct val="100000"/>
              </a:lnSpc>
              <a:tabLst>
                <a:tab algn="l" pos="0"/>
              </a:tabLst>
            </a:pPr>
            <a:r>
              <a:rPr lang="pl-PL" sz="1300" b="0" u="none" strike="noStrike">
                <a:solidFill>
                  <a:srgbClr val="e1e3e3"/>
                </a:solidFill>
                <a:effectLst/>
                <a:uFillTx/>
                <a:latin typeface="Calibri"/>
                <a:ea typeface="DejaVu Sans"/>
              </a:rPr>
              <a:t>• Niskie zużycie zasobów systemowych</a:t>
            </a:r>
            <a:endParaRPr lang="pl-PL" sz="1300" b="0" u="none" strike="noStrike">
              <a:solidFill>
                <a:srgbClr val="ffffff"/>
              </a:solidFill>
              <a:effectLst/>
              <a:uFillTx/>
              <a:latin typeface="Arial"/>
            </a:endParaRPr>
          </a:p>
        </p:txBody>
      </p:sp>
      <p:sp>
        <p:nvSpPr>
          <p:cNvPr id="940" name="Text 8"/>
          <p:cNvSpPr/>
          <p:nvPr/>
        </p:nvSpPr>
        <p:spPr>
          <a:xfrm>
            <a:off x="457200" y="2336760"/>
            <a:ext cx="3793680" cy="236520"/>
          </a:xfrm>
          <a:prstGeom prst="rect">
            <a:avLst/>
          </a:prstGeom>
          <a:noFill/>
          <a:ln w="0">
            <a:noFill/>
          </a:ln>
        </p:spPr>
        <p:style>
          <a:lnRef idx="0"/>
          <a:fillRef idx="0"/>
          <a:effectRef idx="0"/>
          <a:fontRef idx="minor"/>
        </p:style>
        <p:txBody>
          <a:bodyPr lIns="0" rIns="0" tIns="0" bIns="0" anchor="ctr">
            <a:noAutofit/>
          </a:bodyPr>
          <a:p>
            <a:pPr>
              <a:lnSpc>
                <a:spcPct val="100000"/>
              </a:lnSpc>
            </a:pPr>
            <a:endParaRPr lang="pl-PL" sz="1300" b="0" u="none" strike="noStrike">
              <a:solidFill>
                <a:schemeClr val="dk1"/>
              </a:solidFill>
              <a:effectLst/>
              <a:uFillTx/>
              <a:latin typeface="Calibri"/>
              <a:ea typeface="DejaVu Sans"/>
            </a:endParaRPr>
          </a:p>
        </p:txBody>
      </p:sp>
      <p:sp>
        <p:nvSpPr>
          <p:cNvPr id="941" name="Text 10"/>
          <p:cNvSpPr/>
          <p:nvPr/>
        </p:nvSpPr>
        <p:spPr>
          <a:xfrm>
            <a:off x="475920" y="2706480"/>
            <a:ext cx="377496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e676"/>
                </a:solidFill>
                <a:effectLst/>
                <a:uFillTx/>
                <a:latin typeface="Calibri"/>
                <a:ea typeface="DejaVu Sans"/>
              </a:rPr>
              <a:t>Zastosowania mobilne</a:t>
            </a:r>
            <a:endParaRPr lang="pl-PL" sz="1400" b="0" u="none" strike="noStrike">
              <a:solidFill>
                <a:srgbClr val="ffffff"/>
              </a:solidFill>
              <a:effectLst/>
              <a:uFillTx/>
              <a:latin typeface="Arial"/>
            </a:endParaRPr>
          </a:p>
        </p:txBody>
      </p:sp>
      <p:sp>
        <p:nvSpPr>
          <p:cNvPr id="942" name="Text 11"/>
          <p:cNvSpPr/>
          <p:nvPr/>
        </p:nvSpPr>
        <p:spPr>
          <a:xfrm>
            <a:off x="457200" y="2947680"/>
            <a:ext cx="3793680" cy="553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u="none" strike="noStrike">
                <a:solidFill>
                  <a:srgbClr val="e1e3e3"/>
                </a:solidFill>
                <a:effectLst/>
                <a:uFillTx/>
                <a:latin typeface="Calibri"/>
                <a:ea typeface="DejaVu Sans"/>
              </a:rPr>
              <a:t>• Aplikacje terminalowe (Termius, iSH Shell)</a:t>
            </a:r>
            <a:endParaRPr lang="pl-PL" sz="1300" b="0" u="none" strike="noStrike">
              <a:solidFill>
                <a:srgbClr val="ffffff"/>
              </a:solidFill>
              <a:effectLst/>
              <a:uFillTx/>
              <a:latin typeface="Arial"/>
            </a:endParaRPr>
          </a:p>
          <a:p>
            <a:pPr defTabSz="914400">
              <a:lnSpc>
                <a:spcPct val="100000"/>
              </a:lnSpc>
              <a:tabLst>
                <a:tab algn="l" pos="0"/>
              </a:tabLst>
            </a:pPr>
            <a:r>
              <a:rPr lang="pl-PL" sz="1300" b="0" u="none" strike="noStrike">
                <a:solidFill>
                  <a:srgbClr val="e1e3e3"/>
                </a:solidFill>
                <a:effectLst/>
                <a:uFillTx/>
                <a:latin typeface="Calibri"/>
                <a:ea typeface="DejaVu Sans"/>
              </a:rPr>
              <a:t>• Narzędzia dla deweloperów mobilnych</a:t>
            </a:r>
            <a:endParaRPr lang="pl-PL" sz="1300" b="0" u="none" strike="noStrike">
              <a:solidFill>
                <a:srgbClr val="ffffff"/>
              </a:solidFill>
              <a:effectLst/>
              <a:uFillTx/>
              <a:latin typeface="Arial"/>
            </a:endParaRPr>
          </a:p>
          <a:p>
            <a:pPr defTabSz="914400">
              <a:lnSpc>
                <a:spcPct val="100000"/>
              </a:lnSpc>
              <a:tabLst>
                <a:tab algn="l" pos="0"/>
              </a:tabLst>
            </a:pPr>
            <a:r>
              <a:rPr lang="pl-PL" sz="1300" b="0" u="none" strike="noStrike">
                <a:solidFill>
                  <a:srgbClr val="e1e3e3"/>
                </a:solidFill>
                <a:effectLst/>
                <a:uFillTx/>
                <a:latin typeface="Calibri"/>
                <a:ea typeface="DejaVu Sans"/>
              </a:rPr>
              <a:t>• Zarządzanie serwerami zdalnymi z telefonu</a:t>
            </a:r>
            <a:endParaRPr lang="pl-PL" sz="1300" b="0" u="none" strike="noStrike">
              <a:solidFill>
                <a:srgbClr val="ffffff"/>
              </a:solidFill>
              <a:effectLst/>
              <a:uFillTx/>
              <a:latin typeface="Arial"/>
            </a:endParaRPr>
          </a:p>
        </p:txBody>
      </p:sp>
      <p:sp>
        <p:nvSpPr>
          <p:cNvPr id="943" name="Shape 14"/>
          <p:cNvSpPr/>
          <p:nvPr/>
        </p:nvSpPr>
        <p:spPr>
          <a:xfrm>
            <a:off x="320040" y="3716640"/>
            <a:ext cx="4068000" cy="864360"/>
          </a:xfrm>
          <a:prstGeom prst="rect">
            <a:avLst/>
          </a:prstGeom>
          <a:solidFill>
            <a:srgbClr val="0a1929"/>
          </a:solidFill>
          <a:ln w="12600">
            <a:solidFill>
              <a:srgbClr val="1a3a5c"/>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44" name="Text 15"/>
          <p:cNvSpPr/>
          <p:nvPr/>
        </p:nvSpPr>
        <p:spPr>
          <a:xfrm>
            <a:off x="429840" y="3805200"/>
            <a:ext cx="3866760" cy="7300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00e676"/>
                </a:solidFill>
                <a:effectLst/>
                <a:uFillTx/>
                <a:latin typeface="Consolas"/>
                <a:ea typeface="Consolas"/>
              </a:rPr>
              <a:t>$ ssh user@server.example.com</a:t>
            </a:r>
            <a:endParaRPr lang="pl-PL" sz="1400" b="0" u="none" strike="noStrike">
              <a:solidFill>
                <a:srgbClr val="ffffff"/>
              </a:solidFill>
              <a:effectLst/>
              <a:uFillTx/>
              <a:latin typeface="Arial"/>
            </a:endParaRPr>
          </a:p>
          <a:p>
            <a:pPr defTabSz="914400">
              <a:lnSpc>
                <a:spcPct val="100000"/>
              </a:lnSpc>
              <a:tabLst>
                <a:tab algn="l" pos="0"/>
              </a:tabLst>
            </a:pPr>
            <a:r>
              <a:rPr lang="pl-PL" sz="1400" b="0" u="none" strike="noStrike">
                <a:solidFill>
                  <a:srgbClr val="00e676"/>
                </a:solidFill>
                <a:effectLst/>
                <a:uFillTx/>
                <a:latin typeface="Consolas"/>
                <a:ea typeface="Consolas"/>
              </a:rPr>
              <a:t>$ git commit -m "update"</a:t>
            </a:r>
            <a:endParaRPr lang="pl-PL" sz="1400" b="0" u="none" strike="noStrike">
              <a:solidFill>
                <a:srgbClr val="ffffff"/>
              </a:solidFill>
              <a:effectLst/>
              <a:uFillTx/>
              <a:latin typeface="Arial"/>
            </a:endParaRPr>
          </a:p>
          <a:p>
            <a:pPr defTabSz="914400">
              <a:lnSpc>
                <a:spcPct val="100000"/>
              </a:lnSpc>
              <a:tabLst>
                <a:tab algn="l" pos="0"/>
              </a:tabLst>
            </a:pPr>
            <a:r>
              <a:rPr lang="pl-PL" sz="1400" b="0" u="none" strike="noStrike">
                <a:solidFill>
                  <a:srgbClr val="00e676"/>
                </a:solidFill>
                <a:effectLst/>
                <a:uFillTx/>
                <a:latin typeface="Consolas"/>
                <a:ea typeface="Consolas"/>
              </a:rPr>
              <a:t>$ npm run build</a:t>
            </a:r>
            <a:endParaRPr lang="pl-PL" sz="1400" b="0" u="none" strike="noStrike">
              <a:solidFill>
                <a:srgbClr val="ffffff"/>
              </a:solidFill>
              <a:effectLst/>
              <a:uFillTx/>
              <a:latin typeface="Arial"/>
            </a:endParaRPr>
          </a:p>
        </p:txBody>
      </p:sp>
      <p:sp>
        <p:nvSpPr>
          <p:cNvPr id="945" name="Shape 16"/>
          <p:cNvSpPr/>
          <p:nvPr/>
        </p:nvSpPr>
        <p:spPr>
          <a:xfrm>
            <a:off x="4636080" y="914400"/>
            <a:ext cx="4250880" cy="36640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2000" b="0" u="none" strike="noStrike">
              <a:solidFill>
                <a:srgbClr val="ffffff"/>
              </a:solidFill>
              <a:effectLst/>
              <a:uFillTx/>
              <a:latin typeface="Arial"/>
              <a:ea typeface="DejaVu Sans"/>
            </a:endParaRPr>
          </a:p>
        </p:txBody>
      </p:sp>
      <p:sp>
        <p:nvSpPr>
          <p:cNvPr id="946" name="Shape 17"/>
          <p:cNvSpPr/>
          <p:nvPr/>
        </p:nvSpPr>
        <p:spPr>
          <a:xfrm>
            <a:off x="4636080" y="914400"/>
            <a:ext cx="44640" cy="366408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47" name="Text 18"/>
          <p:cNvSpPr/>
          <p:nvPr/>
        </p:nvSpPr>
        <p:spPr>
          <a:xfrm>
            <a:off x="4892040" y="98748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ffffff"/>
                </a:solidFill>
                <a:effectLst/>
                <a:uFillTx/>
                <a:latin typeface="Calibri"/>
                <a:ea typeface="DejaVu Sans"/>
              </a:rPr>
              <a:t>CUI </a:t>
            </a:r>
            <a:r>
              <a:rPr lang="pl-PL" sz="2000" b="0" u="none" strike="noStrike">
                <a:solidFill>
                  <a:srgbClr val="ffffff"/>
                </a:solidFill>
                <a:effectLst/>
                <a:uFillTx/>
                <a:latin typeface="Calibri"/>
                <a:ea typeface="DejaVu Sans"/>
              </a:rPr>
              <a:t>- Conversational UI</a:t>
            </a:r>
            <a:endParaRPr lang="pl-PL" sz="2000" b="0" u="none" strike="noStrike">
              <a:solidFill>
                <a:srgbClr val="ffffff"/>
              </a:solidFill>
              <a:effectLst/>
              <a:uFillTx/>
              <a:latin typeface="Arial"/>
            </a:endParaRPr>
          </a:p>
        </p:txBody>
      </p:sp>
      <p:sp>
        <p:nvSpPr>
          <p:cNvPr id="948" name="Text 19"/>
          <p:cNvSpPr/>
          <p:nvPr/>
        </p:nvSpPr>
        <p:spPr>
          <a:xfrm>
            <a:off x="4892040" y="1307520"/>
            <a:ext cx="379368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u="none" strike="noStrike">
                <a:solidFill>
                  <a:srgbClr val="e1e3e3"/>
                </a:solidFill>
                <a:effectLst/>
                <a:uFillTx/>
                <a:latin typeface="Calibri"/>
                <a:ea typeface="DejaVu Sans"/>
              </a:rPr>
              <a:t>Interfejs konwersacyjny oparty na dialogu tekstowym. Chatboty i asystenci AI w aplikacjach mobilnych.</a:t>
            </a:r>
            <a:endParaRPr lang="pl-PL" sz="1300" b="0" u="none" strike="noStrike">
              <a:solidFill>
                <a:srgbClr val="ffffff"/>
              </a:solidFill>
              <a:effectLst/>
              <a:uFillTx/>
              <a:latin typeface="Arial"/>
            </a:endParaRPr>
          </a:p>
        </p:txBody>
      </p:sp>
      <p:sp>
        <p:nvSpPr>
          <p:cNvPr id="949" name="Text 20"/>
          <p:cNvSpPr/>
          <p:nvPr/>
        </p:nvSpPr>
        <p:spPr>
          <a:xfrm>
            <a:off x="4892040" y="1847160"/>
            <a:ext cx="379368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448aff"/>
                </a:solidFill>
                <a:effectLst/>
                <a:uFillTx/>
                <a:latin typeface="Calibri"/>
                <a:ea typeface="DejaVu Sans"/>
              </a:rPr>
              <a:t>Zastosowania mobilne</a:t>
            </a:r>
            <a:endParaRPr lang="pl-PL" sz="1400" b="0" u="none" strike="noStrike">
              <a:solidFill>
                <a:srgbClr val="ffffff"/>
              </a:solidFill>
              <a:effectLst/>
              <a:uFillTx/>
              <a:latin typeface="Arial"/>
            </a:endParaRPr>
          </a:p>
        </p:txBody>
      </p:sp>
      <p:sp>
        <p:nvSpPr>
          <p:cNvPr id="950" name="Text 21"/>
          <p:cNvSpPr/>
          <p:nvPr/>
        </p:nvSpPr>
        <p:spPr>
          <a:xfrm>
            <a:off x="4892040" y="2103120"/>
            <a:ext cx="3793680" cy="73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u="none" strike="noStrike">
                <a:solidFill>
                  <a:srgbClr val="e1e3e3"/>
                </a:solidFill>
                <a:effectLst/>
                <a:uFillTx/>
                <a:latin typeface="Calibri"/>
                <a:ea typeface="DejaVu Sans"/>
              </a:rPr>
              <a:t>• Chatboty w aplikacjach bankowych</a:t>
            </a:r>
            <a:endParaRPr lang="pl-PL" sz="1300" b="0" u="none" strike="noStrike">
              <a:solidFill>
                <a:srgbClr val="ffffff"/>
              </a:solidFill>
              <a:effectLst/>
              <a:uFillTx/>
              <a:latin typeface="Arial"/>
            </a:endParaRPr>
          </a:p>
          <a:p>
            <a:pPr defTabSz="914400">
              <a:lnSpc>
                <a:spcPct val="100000"/>
              </a:lnSpc>
              <a:tabLst>
                <a:tab algn="l" pos="0"/>
              </a:tabLst>
            </a:pPr>
            <a:r>
              <a:rPr lang="pl-PL" sz="1300" b="0" u="none" strike="noStrike">
                <a:solidFill>
                  <a:srgbClr val="e1e3e3"/>
                </a:solidFill>
                <a:effectLst/>
                <a:uFillTx/>
                <a:latin typeface="Calibri"/>
                <a:ea typeface="DejaVu Sans"/>
              </a:rPr>
              <a:t>• Wsparcie techniczne (Zendesk, Intercom)</a:t>
            </a:r>
            <a:endParaRPr lang="pl-PL" sz="1300" b="0" u="none" strike="noStrike">
              <a:solidFill>
                <a:srgbClr val="ffffff"/>
              </a:solidFill>
              <a:effectLst/>
              <a:uFillTx/>
              <a:latin typeface="Arial"/>
            </a:endParaRPr>
          </a:p>
          <a:p>
            <a:pPr defTabSz="914400">
              <a:lnSpc>
                <a:spcPct val="100000"/>
              </a:lnSpc>
              <a:tabLst>
                <a:tab algn="l" pos="0"/>
              </a:tabLst>
            </a:pPr>
            <a:r>
              <a:rPr lang="pl-PL" sz="1300" b="0" u="none" strike="noStrike">
                <a:solidFill>
                  <a:srgbClr val="e1e3e3"/>
                </a:solidFill>
                <a:effectLst/>
                <a:uFillTx/>
                <a:latin typeface="Calibri"/>
                <a:ea typeface="DejaVu Sans"/>
              </a:rPr>
              <a:t>• Asystenci zakupowi w e-commerce</a:t>
            </a:r>
            <a:endParaRPr lang="pl-PL" sz="1300" b="0" u="none" strike="noStrike">
              <a:solidFill>
                <a:srgbClr val="ffffff"/>
              </a:solidFill>
              <a:effectLst/>
              <a:uFillTx/>
              <a:latin typeface="Arial"/>
            </a:endParaRPr>
          </a:p>
          <a:p>
            <a:pPr defTabSz="914400">
              <a:lnSpc>
                <a:spcPct val="100000"/>
              </a:lnSpc>
              <a:tabLst>
                <a:tab algn="l" pos="0"/>
              </a:tabLst>
            </a:pPr>
            <a:r>
              <a:rPr lang="pl-PL" sz="1300" b="0" u="none" strike="noStrike">
                <a:solidFill>
                  <a:srgbClr val="e1e3e3"/>
                </a:solidFill>
                <a:effectLst/>
                <a:uFillTx/>
                <a:latin typeface="Calibri"/>
                <a:ea typeface="DejaVu Sans"/>
              </a:rPr>
              <a:t>• Rezerwacje i umawianie wizyt online</a:t>
            </a:r>
            <a:endParaRPr lang="pl-PL" sz="1300" b="0" u="none" strike="noStrike">
              <a:solidFill>
                <a:srgbClr val="ffffff"/>
              </a:solidFill>
              <a:effectLst/>
              <a:uFillTx/>
              <a:latin typeface="Arial"/>
            </a:endParaRPr>
          </a:p>
        </p:txBody>
      </p:sp>
      <p:sp>
        <p:nvSpPr>
          <p:cNvPr id="951" name="Shape 25"/>
          <p:cNvSpPr/>
          <p:nvPr/>
        </p:nvSpPr>
        <p:spPr>
          <a:xfrm>
            <a:off x="4754880" y="3002760"/>
            <a:ext cx="4068000" cy="959040"/>
          </a:xfrm>
          <a:prstGeom prst="rect">
            <a:avLst/>
          </a:prstGeom>
          <a:solidFill>
            <a:srgbClr val="0a1929"/>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52" name="Shape 26"/>
          <p:cNvSpPr/>
          <p:nvPr/>
        </p:nvSpPr>
        <p:spPr>
          <a:xfrm>
            <a:off x="4846320" y="3175200"/>
            <a:ext cx="2010600" cy="273240"/>
          </a:xfrm>
          <a:prstGeom prst="rect">
            <a:avLst/>
          </a:prstGeom>
          <a:solidFill>
            <a:srgbClr val="1a3050"/>
          </a:solidFill>
          <a:ln w="12600">
            <a:solidFill>
              <a:srgbClr val="448a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53" name="Text 27"/>
          <p:cNvSpPr/>
          <p:nvPr/>
        </p:nvSpPr>
        <p:spPr>
          <a:xfrm>
            <a:off x="4900680" y="3193560"/>
            <a:ext cx="1964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ffffff"/>
                </a:solidFill>
                <a:effectLst/>
                <a:uFillTx/>
                <a:latin typeface="Calibri"/>
                <a:ea typeface="DejaVu Sans"/>
              </a:rPr>
              <a:t>U|  Chcę zresetować hasło</a:t>
            </a:r>
            <a:endParaRPr lang="pl-PL" sz="1000" b="0" u="none" strike="noStrike">
              <a:solidFill>
                <a:srgbClr val="ffffff"/>
              </a:solidFill>
              <a:effectLst/>
              <a:uFillTx/>
              <a:latin typeface="Arial"/>
            </a:endParaRPr>
          </a:p>
        </p:txBody>
      </p:sp>
      <p:sp>
        <p:nvSpPr>
          <p:cNvPr id="954" name="Shape 28"/>
          <p:cNvSpPr/>
          <p:nvPr/>
        </p:nvSpPr>
        <p:spPr>
          <a:xfrm>
            <a:off x="6675120" y="3559320"/>
            <a:ext cx="2010600" cy="273240"/>
          </a:xfrm>
          <a:prstGeom prst="rect">
            <a:avLst/>
          </a:prstGeom>
          <a:solidFill>
            <a:srgbClr val="448aff"/>
          </a:solidFill>
          <a:ln w="12600">
            <a:solidFill>
              <a:srgbClr val="448a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55" name="Text 29"/>
          <p:cNvSpPr/>
          <p:nvPr/>
        </p:nvSpPr>
        <p:spPr>
          <a:xfrm>
            <a:off x="6729480" y="3577680"/>
            <a:ext cx="1964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ffffff"/>
                </a:solidFill>
                <a:effectLst/>
                <a:uFillTx/>
                <a:latin typeface="Calibri"/>
                <a:ea typeface="DejaVu Sans"/>
              </a:rPr>
              <a:t>B|  Wyślę link na Twój email!</a:t>
            </a:r>
            <a:endParaRPr lang="pl-PL" sz="1000" b="0" u="none" strike="noStrike">
              <a:solidFill>
                <a:srgbClr val="ffffff"/>
              </a:solidFill>
              <a:effectLst/>
              <a:uFillTx/>
              <a:latin typeface="Arial"/>
            </a:endParaRPr>
          </a:p>
        </p:txBody>
      </p:sp>
      <p:sp>
        <p:nvSpPr>
          <p:cNvPr id="956" name="Text 30"/>
          <p:cNvSpPr/>
          <p:nvPr/>
        </p:nvSpPr>
        <p:spPr>
          <a:xfrm>
            <a:off x="4754880" y="4062960"/>
            <a:ext cx="4068000" cy="37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8899aa"/>
                </a:solidFill>
                <a:effectLst/>
                <a:uFillTx/>
                <a:latin typeface="Calibri"/>
                <a:ea typeface="DejaVu Sans"/>
              </a:rPr>
              <a:t>Trend</a:t>
            </a:r>
            <a:r>
              <a:rPr lang="pl-PL" sz="1300" b="0" u="none" strike="noStrike">
                <a:solidFill>
                  <a:srgbClr val="8899aa"/>
                </a:solidFill>
                <a:effectLst/>
                <a:uFillTx/>
                <a:latin typeface="Calibri"/>
                <a:ea typeface="DejaVu Sans"/>
              </a:rPr>
              <a:t>: interfejsy hybrydowe łączące GUI z CUI, widgety czatu z przyciskami szybkich akcji.</a:t>
            </a:r>
            <a:endParaRPr lang="pl-PL" sz="1300" b="0" u="none" strike="noStrike">
              <a:solidFill>
                <a:srgbClr val="ffffff"/>
              </a:solidFill>
              <a:effectLst/>
              <a:uFillTx/>
              <a:latin typeface="Arial"/>
            </a:endParaRPr>
          </a:p>
        </p:txBody>
      </p:sp>
      <p:sp>
        <p:nvSpPr>
          <p:cNvPr id="957" name="Text 33"/>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12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958" name="Grupa 10"/>
          <p:cNvGrpSpPr/>
          <p:nvPr/>
        </p:nvGrpSpPr>
        <p:grpSpPr>
          <a:xfrm>
            <a:off x="-2520" y="4884840"/>
            <a:ext cx="9145440" cy="259200"/>
            <a:chOff x="-2520" y="4884840"/>
            <a:chExt cx="9145440" cy="259200"/>
          </a:xfrm>
        </p:grpSpPr>
        <p:sp>
          <p:nvSpPr>
            <p:cNvPr id="959"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60"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961" name="Grupa 13"/>
            <p:cNvGrpSpPr/>
            <p:nvPr/>
          </p:nvGrpSpPr>
          <p:grpSpPr>
            <a:xfrm>
              <a:off x="-2520" y="5099400"/>
              <a:ext cx="9145440" cy="44640"/>
              <a:chOff x="-2520" y="5099400"/>
              <a:chExt cx="9145440" cy="44640"/>
            </a:xfrm>
          </p:grpSpPr>
          <p:sp>
            <p:nvSpPr>
              <p:cNvPr id="962"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63"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64"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65"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66"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67"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68"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69"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70"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71"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72"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73"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74"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975" name="Shape 52"/>
              <p:cNvSpPr/>
              <p:nvPr/>
            </p:nvSpPr>
            <p:spPr>
              <a:xfrm>
                <a:off x="2584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76"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77"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78"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79"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0"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1"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2"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3"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4"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5"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6"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7"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8"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9"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0"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1"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2"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3"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4"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5"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6"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7"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8"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99"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0"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1"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2"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3"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4"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5"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6"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7"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008"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09" name="Shape 1"/>
          <p:cNvSpPr/>
          <p:nvPr/>
        </p:nvSpPr>
        <p:spPr>
          <a:xfrm>
            <a:off x="0" y="1645920"/>
            <a:ext cx="108720" cy="18277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10" name="Text 2"/>
          <p:cNvSpPr/>
          <p:nvPr/>
        </p:nvSpPr>
        <p:spPr>
          <a:xfrm>
            <a:off x="914400" y="548640"/>
            <a:ext cx="7314120" cy="821880"/>
          </a:xfrm>
          <a:prstGeom prst="rect">
            <a:avLst/>
          </a:prstGeom>
          <a:noFill/>
          <a:ln w="0">
            <a:noFill/>
          </a:ln>
          <a:effectLst>
            <a:outerShdw blurRad="12600" dir="2700000" dist="35638"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00e676"/>
                </a:solidFill>
                <a:effectLst/>
                <a:uFillTx/>
                <a:latin typeface="Calibri"/>
                <a:ea typeface="DejaVu Sans"/>
              </a:rPr>
              <a:t>03</a:t>
            </a:r>
            <a:endParaRPr lang="pl-PL" sz="5200" b="0" u="none" strike="noStrike">
              <a:solidFill>
                <a:srgbClr val="ffffff"/>
              </a:solidFill>
              <a:effectLst/>
              <a:uFillTx/>
              <a:latin typeface="Arial"/>
            </a:endParaRPr>
          </a:p>
        </p:txBody>
      </p:sp>
      <p:sp>
        <p:nvSpPr>
          <p:cNvPr id="1011"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Zasady Projektowania UI/UX</a:t>
            </a:r>
            <a:endParaRPr lang="pl-PL" sz="2800" b="0" u="none" strike="noStrike">
              <a:solidFill>
                <a:srgbClr val="ffffff"/>
              </a:solidFill>
              <a:effectLst/>
              <a:uFillTx/>
              <a:latin typeface="Arial"/>
            </a:endParaRPr>
          </a:p>
        </p:txBody>
      </p:sp>
      <p:sp>
        <p:nvSpPr>
          <p:cNvPr id="1012"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Fundamentalne reguły i heurystyki projektowania interfejsów</a:t>
            </a:r>
            <a:endParaRPr lang="pl-PL" sz="1400" b="0" u="none" strike="noStrike">
              <a:solidFill>
                <a:srgbClr val="ffffff"/>
              </a:solidFill>
              <a:effectLst/>
              <a:uFillTx/>
              <a:latin typeface="Arial"/>
            </a:endParaRPr>
          </a:p>
        </p:txBody>
      </p:sp>
      <p:sp>
        <p:nvSpPr>
          <p:cNvPr id="1013"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13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014" name="Grupa 67"/>
          <p:cNvGrpSpPr/>
          <p:nvPr/>
        </p:nvGrpSpPr>
        <p:grpSpPr>
          <a:xfrm>
            <a:off x="-2520" y="4884840"/>
            <a:ext cx="9145440" cy="259200"/>
            <a:chOff x="-2520" y="4884840"/>
            <a:chExt cx="9145440" cy="259200"/>
          </a:xfrm>
        </p:grpSpPr>
        <p:sp>
          <p:nvSpPr>
            <p:cNvPr id="1015"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16"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017" name="Grupa 70"/>
            <p:cNvGrpSpPr/>
            <p:nvPr/>
          </p:nvGrpSpPr>
          <p:grpSpPr>
            <a:xfrm>
              <a:off x="-2520" y="5099400"/>
              <a:ext cx="9145440" cy="44640"/>
              <a:chOff x="-2520" y="5099400"/>
              <a:chExt cx="9145440" cy="44640"/>
            </a:xfrm>
          </p:grpSpPr>
          <p:sp>
            <p:nvSpPr>
              <p:cNvPr id="1018"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19"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0"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1"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2"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3"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4"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5"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6"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7"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8"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29"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30"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31"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32" name="Shape 52"/>
              <p:cNvSpPr/>
              <p:nvPr/>
            </p:nvSpPr>
            <p:spPr>
              <a:xfrm>
                <a:off x="27835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3"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4"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5"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6"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7"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8"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39"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0"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1"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2"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3"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4"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5"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6"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7"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8"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49"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0"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1"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2"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3"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4"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5"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6"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7"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8"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59"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60"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61"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62"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63"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064" name="Shape 0"/>
          <p:cNvSpPr/>
          <p:nvPr/>
        </p:nvSpPr>
        <p:spPr>
          <a:xfrm>
            <a:off x="320040" y="255960"/>
            <a:ext cx="53640" cy="501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65"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10 Heurystyk Nielsena w projektowaniu mobilnym</a:t>
            </a:r>
            <a:endParaRPr lang="pl-PL" sz="2200" b="0" u="none" strike="noStrike">
              <a:solidFill>
                <a:srgbClr val="ffffff"/>
              </a:solidFill>
              <a:effectLst/>
              <a:uFillTx/>
              <a:latin typeface="Arial"/>
            </a:endParaRPr>
          </a:p>
        </p:txBody>
      </p:sp>
      <p:sp>
        <p:nvSpPr>
          <p:cNvPr id="1066" name="Shape 2"/>
          <p:cNvSpPr/>
          <p:nvPr/>
        </p:nvSpPr>
        <p:spPr>
          <a:xfrm>
            <a:off x="320040" y="96012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67" name="Shape 3"/>
          <p:cNvSpPr/>
          <p:nvPr/>
        </p:nvSpPr>
        <p:spPr>
          <a:xfrm>
            <a:off x="320040" y="960120"/>
            <a:ext cx="35640" cy="65736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68" name="Shape 4"/>
          <p:cNvSpPr/>
          <p:nvPr/>
        </p:nvSpPr>
        <p:spPr>
          <a:xfrm>
            <a:off x="411480" y="1069920"/>
            <a:ext cx="327960" cy="327960"/>
          </a:xfrm>
          <a:prstGeom prst="ellipse">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69" name="Text 5"/>
          <p:cNvSpPr/>
          <p:nvPr/>
        </p:nvSpPr>
        <p:spPr>
          <a:xfrm>
            <a:off x="411480" y="106992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1</a:t>
            </a:r>
            <a:endParaRPr lang="pl-PL" sz="1600" b="0" u="none" strike="noStrike">
              <a:solidFill>
                <a:srgbClr val="ffffff"/>
              </a:solidFill>
              <a:effectLst/>
              <a:uFillTx/>
              <a:latin typeface="Arial"/>
            </a:endParaRPr>
          </a:p>
        </p:txBody>
      </p:sp>
      <p:sp>
        <p:nvSpPr>
          <p:cNvPr id="1070" name="Text 6"/>
          <p:cNvSpPr/>
          <p:nvPr/>
        </p:nvSpPr>
        <p:spPr>
          <a:xfrm>
            <a:off x="822960" y="99612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Widoczność statusu</a:t>
            </a:r>
            <a:endParaRPr lang="pl-PL" sz="1400" b="0" u="none" strike="noStrike">
              <a:solidFill>
                <a:srgbClr val="ffffff"/>
              </a:solidFill>
              <a:effectLst/>
              <a:uFillTx/>
              <a:latin typeface="Arial"/>
            </a:endParaRPr>
          </a:p>
        </p:txBody>
      </p:sp>
      <p:sp>
        <p:nvSpPr>
          <p:cNvPr id="1071" name="Text 7"/>
          <p:cNvSpPr/>
          <p:nvPr/>
        </p:nvSpPr>
        <p:spPr>
          <a:xfrm>
            <a:off x="822960" y="128880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Loadery, toasty, paski postępu</a:t>
            </a:r>
            <a:endParaRPr lang="pl-PL" sz="1200" b="0" u="none" strike="noStrike">
              <a:solidFill>
                <a:srgbClr val="ffffff"/>
              </a:solidFill>
              <a:effectLst/>
              <a:uFillTx/>
              <a:latin typeface="Arial"/>
            </a:endParaRPr>
          </a:p>
        </p:txBody>
      </p:sp>
      <p:sp>
        <p:nvSpPr>
          <p:cNvPr id="1072" name="Shape 8"/>
          <p:cNvSpPr/>
          <p:nvPr/>
        </p:nvSpPr>
        <p:spPr>
          <a:xfrm>
            <a:off x="320040" y="171000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73" name="Shape 9"/>
          <p:cNvSpPr/>
          <p:nvPr/>
        </p:nvSpPr>
        <p:spPr>
          <a:xfrm>
            <a:off x="320040" y="1710000"/>
            <a:ext cx="35640" cy="6573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74" name="Shape 10"/>
          <p:cNvSpPr/>
          <p:nvPr/>
        </p:nvSpPr>
        <p:spPr>
          <a:xfrm>
            <a:off x="411480" y="1819800"/>
            <a:ext cx="327960" cy="327960"/>
          </a:xfrm>
          <a:prstGeom prst="ellipse">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75" name="Text 11"/>
          <p:cNvSpPr/>
          <p:nvPr/>
        </p:nvSpPr>
        <p:spPr>
          <a:xfrm>
            <a:off x="411480" y="181980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2</a:t>
            </a:r>
            <a:endParaRPr lang="pl-PL" sz="1600" b="0" u="none" strike="noStrike">
              <a:solidFill>
                <a:srgbClr val="ffffff"/>
              </a:solidFill>
              <a:effectLst/>
              <a:uFillTx/>
              <a:latin typeface="Arial"/>
            </a:endParaRPr>
          </a:p>
        </p:txBody>
      </p:sp>
      <p:sp>
        <p:nvSpPr>
          <p:cNvPr id="1076" name="Text 12"/>
          <p:cNvSpPr/>
          <p:nvPr/>
        </p:nvSpPr>
        <p:spPr>
          <a:xfrm>
            <a:off x="822960" y="174600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Dopasowanie do świata</a:t>
            </a:r>
            <a:endParaRPr lang="pl-PL" sz="1400" b="0" u="none" strike="noStrike">
              <a:solidFill>
                <a:srgbClr val="ffffff"/>
              </a:solidFill>
              <a:effectLst/>
              <a:uFillTx/>
              <a:latin typeface="Arial"/>
            </a:endParaRPr>
          </a:p>
        </p:txBody>
      </p:sp>
      <p:sp>
        <p:nvSpPr>
          <p:cNvPr id="1077" name="Text 13"/>
          <p:cNvSpPr/>
          <p:nvPr/>
        </p:nvSpPr>
        <p:spPr>
          <a:xfrm>
            <a:off x="822960" y="203868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Realne metafory (kosz = usuwanie)</a:t>
            </a:r>
            <a:endParaRPr lang="pl-PL" sz="1200" b="0" u="none" strike="noStrike">
              <a:solidFill>
                <a:srgbClr val="ffffff"/>
              </a:solidFill>
              <a:effectLst/>
              <a:uFillTx/>
              <a:latin typeface="Arial"/>
            </a:endParaRPr>
          </a:p>
        </p:txBody>
      </p:sp>
      <p:sp>
        <p:nvSpPr>
          <p:cNvPr id="1078" name="Shape 14"/>
          <p:cNvSpPr/>
          <p:nvPr/>
        </p:nvSpPr>
        <p:spPr>
          <a:xfrm>
            <a:off x="320040" y="245988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79" name="Shape 15"/>
          <p:cNvSpPr/>
          <p:nvPr/>
        </p:nvSpPr>
        <p:spPr>
          <a:xfrm>
            <a:off x="320040" y="2459880"/>
            <a:ext cx="35640" cy="65736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80" name="Shape 16"/>
          <p:cNvSpPr/>
          <p:nvPr/>
        </p:nvSpPr>
        <p:spPr>
          <a:xfrm>
            <a:off x="411480" y="2569320"/>
            <a:ext cx="327960" cy="327960"/>
          </a:xfrm>
          <a:prstGeom prst="ellipse">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81" name="Text 17"/>
          <p:cNvSpPr/>
          <p:nvPr/>
        </p:nvSpPr>
        <p:spPr>
          <a:xfrm>
            <a:off x="411480" y="256932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3</a:t>
            </a:r>
            <a:endParaRPr lang="pl-PL" sz="1600" b="0" u="none" strike="noStrike">
              <a:solidFill>
                <a:srgbClr val="ffffff"/>
              </a:solidFill>
              <a:effectLst/>
              <a:uFillTx/>
              <a:latin typeface="Arial"/>
            </a:endParaRPr>
          </a:p>
        </p:txBody>
      </p:sp>
      <p:sp>
        <p:nvSpPr>
          <p:cNvPr id="1082" name="Text 18"/>
          <p:cNvSpPr/>
          <p:nvPr/>
        </p:nvSpPr>
        <p:spPr>
          <a:xfrm>
            <a:off x="822960" y="249588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Kontrola i wolność</a:t>
            </a:r>
            <a:endParaRPr lang="pl-PL" sz="1400" b="0" u="none" strike="noStrike">
              <a:solidFill>
                <a:srgbClr val="ffffff"/>
              </a:solidFill>
              <a:effectLst/>
              <a:uFillTx/>
              <a:latin typeface="Arial"/>
            </a:endParaRPr>
          </a:p>
        </p:txBody>
      </p:sp>
      <p:sp>
        <p:nvSpPr>
          <p:cNvPr id="1083" name="Text 19"/>
          <p:cNvSpPr/>
          <p:nvPr/>
        </p:nvSpPr>
        <p:spPr>
          <a:xfrm>
            <a:off x="822960" y="278820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Undo, Cancel, Back button</a:t>
            </a:r>
            <a:endParaRPr lang="pl-PL" sz="1200" b="0" u="none" strike="noStrike">
              <a:solidFill>
                <a:srgbClr val="ffffff"/>
              </a:solidFill>
              <a:effectLst/>
              <a:uFillTx/>
              <a:latin typeface="Arial"/>
            </a:endParaRPr>
          </a:p>
        </p:txBody>
      </p:sp>
      <p:sp>
        <p:nvSpPr>
          <p:cNvPr id="1084" name="Shape 20"/>
          <p:cNvSpPr/>
          <p:nvPr/>
        </p:nvSpPr>
        <p:spPr>
          <a:xfrm>
            <a:off x="320040" y="320940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85" name="Shape 21"/>
          <p:cNvSpPr/>
          <p:nvPr/>
        </p:nvSpPr>
        <p:spPr>
          <a:xfrm>
            <a:off x="320040" y="3209400"/>
            <a:ext cx="35640" cy="65736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86" name="Shape 22"/>
          <p:cNvSpPr/>
          <p:nvPr/>
        </p:nvSpPr>
        <p:spPr>
          <a:xfrm>
            <a:off x="411480" y="3319200"/>
            <a:ext cx="327960" cy="327960"/>
          </a:xfrm>
          <a:prstGeom prst="ellipse">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87" name="Text 23"/>
          <p:cNvSpPr/>
          <p:nvPr/>
        </p:nvSpPr>
        <p:spPr>
          <a:xfrm>
            <a:off x="411480" y="331920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4</a:t>
            </a:r>
            <a:endParaRPr lang="pl-PL" sz="1600" b="0" u="none" strike="noStrike">
              <a:solidFill>
                <a:srgbClr val="ffffff"/>
              </a:solidFill>
              <a:effectLst/>
              <a:uFillTx/>
              <a:latin typeface="Arial"/>
            </a:endParaRPr>
          </a:p>
        </p:txBody>
      </p:sp>
      <p:sp>
        <p:nvSpPr>
          <p:cNvPr id="1088" name="Text 24"/>
          <p:cNvSpPr/>
          <p:nvPr/>
        </p:nvSpPr>
        <p:spPr>
          <a:xfrm>
            <a:off x="822960" y="324540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Spójność i standardy</a:t>
            </a:r>
            <a:endParaRPr lang="pl-PL" sz="1400" b="0" u="none" strike="noStrike">
              <a:solidFill>
                <a:srgbClr val="ffffff"/>
              </a:solidFill>
              <a:effectLst/>
              <a:uFillTx/>
              <a:latin typeface="Arial"/>
            </a:endParaRPr>
          </a:p>
        </p:txBody>
      </p:sp>
      <p:sp>
        <p:nvSpPr>
          <p:cNvPr id="1089" name="Text 25"/>
          <p:cNvSpPr/>
          <p:nvPr/>
        </p:nvSpPr>
        <p:spPr>
          <a:xfrm>
            <a:off x="822960" y="353808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Platformowe wzorce iOS/Android</a:t>
            </a:r>
            <a:endParaRPr lang="pl-PL" sz="1200" b="0" u="none" strike="noStrike">
              <a:solidFill>
                <a:srgbClr val="ffffff"/>
              </a:solidFill>
              <a:effectLst/>
              <a:uFillTx/>
              <a:latin typeface="Arial"/>
            </a:endParaRPr>
          </a:p>
        </p:txBody>
      </p:sp>
      <p:sp>
        <p:nvSpPr>
          <p:cNvPr id="1090" name="Shape 26"/>
          <p:cNvSpPr/>
          <p:nvPr/>
        </p:nvSpPr>
        <p:spPr>
          <a:xfrm>
            <a:off x="320040" y="395928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91" name="Shape 27"/>
          <p:cNvSpPr/>
          <p:nvPr/>
        </p:nvSpPr>
        <p:spPr>
          <a:xfrm>
            <a:off x="320040" y="3959280"/>
            <a:ext cx="35640" cy="65736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92" name="Shape 28"/>
          <p:cNvSpPr/>
          <p:nvPr/>
        </p:nvSpPr>
        <p:spPr>
          <a:xfrm>
            <a:off x="411480" y="4069080"/>
            <a:ext cx="327960" cy="32796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93" name="Text 29"/>
          <p:cNvSpPr/>
          <p:nvPr/>
        </p:nvSpPr>
        <p:spPr>
          <a:xfrm>
            <a:off x="411480" y="406908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5</a:t>
            </a:r>
            <a:endParaRPr lang="pl-PL" sz="1600" b="0" u="none" strike="noStrike">
              <a:solidFill>
                <a:srgbClr val="ffffff"/>
              </a:solidFill>
              <a:effectLst/>
              <a:uFillTx/>
              <a:latin typeface="Arial"/>
            </a:endParaRPr>
          </a:p>
        </p:txBody>
      </p:sp>
      <p:sp>
        <p:nvSpPr>
          <p:cNvPr id="1094" name="Text 30"/>
          <p:cNvSpPr/>
          <p:nvPr/>
        </p:nvSpPr>
        <p:spPr>
          <a:xfrm>
            <a:off x="822960" y="399528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Zapobieganie błędom</a:t>
            </a:r>
            <a:endParaRPr lang="pl-PL" sz="1400" b="0" u="none" strike="noStrike">
              <a:solidFill>
                <a:srgbClr val="ffffff"/>
              </a:solidFill>
              <a:effectLst/>
              <a:uFillTx/>
              <a:latin typeface="Arial"/>
            </a:endParaRPr>
          </a:p>
        </p:txBody>
      </p:sp>
      <p:sp>
        <p:nvSpPr>
          <p:cNvPr id="1095" name="Text 31"/>
          <p:cNvSpPr/>
          <p:nvPr/>
        </p:nvSpPr>
        <p:spPr>
          <a:xfrm>
            <a:off x="822960" y="428796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Potwierdzenia destrukcyjnych akcji</a:t>
            </a:r>
            <a:endParaRPr lang="pl-PL" sz="1200" b="0" u="none" strike="noStrike">
              <a:solidFill>
                <a:srgbClr val="ffffff"/>
              </a:solidFill>
              <a:effectLst/>
              <a:uFillTx/>
              <a:latin typeface="Arial"/>
            </a:endParaRPr>
          </a:p>
        </p:txBody>
      </p:sp>
      <p:sp>
        <p:nvSpPr>
          <p:cNvPr id="1096" name="Shape 32"/>
          <p:cNvSpPr/>
          <p:nvPr/>
        </p:nvSpPr>
        <p:spPr>
          <a:xfrm>
            <a:off x="4727520" y="96012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097" name="Shape 33"/>
          <p:cNvSpPr/>
          <p:nvPr/>
        </p:nvSpPr>
        <p:spPr>
          <a:xfrm>
            <a:off x="4727520" y="960120"/>
            <a:ext cx="35640" cy="65736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98" name="Shape 34"/>
          <p:cNvSpPr/>
          <p:nvPr/>
        </p:nvSpPr>
        <p:spPr>
          <a:xfrm>
            <a:off x="4818960" y="1069920"/>
            <a:ext cx="327960" cy="32796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99" name="Text 35"/>
          <p:cNvSpPr/>
          <p:nvPr/>
        </p:nvSpPr>
        <p:spPr>
          <a:xfrm>
            <a:off x="4818960" y="106992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6</a:t>
            </a:r>
            <a:endParaRPr lang="pl-PL" sz="1600" b="0" u="none" strike="noStrike">
              <a:solidFill>
                <a:srgbClr val="ffffff"/>
              </a:solidFill>
              <a:effectLst/>
              <a:uFillTx/>
              <a:latin typeface="Arial"/>
            </a:endParaRPr>
          </a:p>
        </p:txBody>
      </p:sp>
      <p:sp>
        <p:nvSpPr>
          <p:cNvPr id="1100" name="Text 36"/>
          <p:cNvSpPr/>
          <p:nvPr/>
        </p:nvSpPr>
        <p:spPr>
          <a:xfrm>
            <a:off x="5230440" y="99612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Rozpoznawanie</a:t>
            </a:r>
            <a:endParaRPr lang="pl-PL" sz="1400" b="0" u="none" strike="noStrike">
              <a:solidFill>
                <a:srgbClr val="ffffff"/>
              </a:solidFill>
              <a:effectLst/>
              <a:uFillTx/>
              <a:latin typeface="Arial"/>
            </a:endParaRPr>
          </a:p>
        </p:txBody>
      </p:sp>
      <p:sp>
        <p:nvSpPr>
          <p:cNvPr id="1101" name="Text 37"/>
          <p:cNvSpPr/>
          <p:nvPr/>
        </p:nvSpPr>
        <p:spPr>
          <a:xfrm>
            <a:off x="5230440" y="125892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Widoczne opcje zamiast komend</a:t>
            </a:r>
            <a:endParaRPr lang="pl-PL" sz="1200" b="0" u="none" strike="noStrike">
              <a:solidFill>
                <a:srgbClr val="ffffff"/>
              </a:solidFill>
              <a:effectLst/>
              <a:uFillTx/>
              <a:latin typeface="Arial"/>
            </a:endParaRPr>
          </a:p>
        </p:txBody>
      </p:sp>
      <p:sp>
        <p:nvSpPr>
          <p:cNvPr id="1102" name="Shape 38"/>
          <p:cNvSpPr/>
          <p:nvPr/>
        </p:nvSpPr>
        <p:spPr>
          <a:xfrm>
            <a:off x="4727520" y="171000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03" name="Shape 39"/>
          <p:cNvSpPr/>
          <p:nvPr/>
        </p:nvSpPr>
        <p:spPr>
          <a:xfrm>
            <a:off x="4727520" y="1710000"/>
            <a:ext cx="35640" cy="65736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04" name="Shape 40"/>
          <p:cNvSpPr/>
          <p:nvPr/>
        </p:nvSpPr>
        <p:spPr>
          <a:xfrm>
            <a:off x="4818960" y="1819800"/>
            <a:ext cx="327960" cy="327960"/>
          </a:xfrm>
          <a:prstGeom prst="ellipse">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05" name="Text 41"/>
          <p:cNvSpPr/>
          <p:nvPr/>
        </p:nvSpPr>
        <p:spPr>
          <a:xfrm>
            <a:off x="4818960" y="181980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7</a:t>
            </a:r>
            <a:endParaRPr lang="pl-PL" sz="1600" b="0" u="none" strike="noStrike">
              <a:solidFill>
                <a:srgbClr val="ffffff"/>
              </a:solidFill>
              <a:effectLst/>
              <a:uFillTx/>
              <a:latin typeface="Arial"/>
            </a:endParaRPr>
          </a:p>
        </p:txBody>
      </p:sp>
      <p:sp>
        <p:nvSpPr>
          <p:cNvPr id="1106" name="Text 42"/>
          <p:cNvSpPr/>
          <p:nvPr/>
        </p:nvSpPr>
        <p:spPr>
          <a:xfrm>
            <a:off x="5230440" y="174600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Elastyczność</a:t>
            </a:r>
            <a:endParaRPr lang="pl-PL" sz="1400" b="0" u="none" strike="noStrike">
              <a:solidFill>
                <a:srgbClr val="ffffff"/>
              </a:solidFill>
              <a:effectLst/>
              <a:uFillTx/>
              <a:latin typeface="Arial"/>
            </a:endParaRPr>
          </a:p>
        </p:txBody>
      </p:sp>
      <p:sp>
        <p:nvSpPr>
          <p:cNvPr id="1107" name="Text 43"/>
          <p:cNvSpPr/>
          <p:nvPr/>
        </p:nvSpPr>
        <p:spPr>
          <a:xfrm>
            <a:off x="5230440" y="200880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Skróty dla zaawansowanych, shake-to-undo</a:t>
            </a:r>
            <a:endParaRPr lang="pl-PL" sz="1200" b="0" u="none" strike="noStrike">
              <a:solidFill>
                <a:srgbClr val="ffffff"/>
              </a:solidFill>
              <a:effectLst/>
              <a:uFillTx/>
              <a:latin typeface="Arial"/>
            </a:endParaRPr>
          </a:p>
        </p:txBody>
      </p:sp>
      <p:sp>
        <p:nvSpPr>
          <p:cNvPr id="1108" name="Shape 44"/>
          <p:cNvSpPr/>
          <p:nvPr/>
        </p:nvSpPr>
        <p:spPr>
          <a:xfrm>
            <a:off x="4727520" y="245988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09" name="Shape 45"/>
          <p:cNvSpPr/>
          <p:nvPr/>
        </p:nvSpPr>
        <p:spPr>
          <a:xfrm>
            <a:off x="4727520" y="2459880"/>
            <a:ext cx="35640" cy="65736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10" name="Shape 46"/>
          <p:cNvSpPr/>
          <p:nvPr/>
        </p:nvSpPr>
        <p:spPr>
          <a:xfrm>
            <a:off x="4818960" y="2569320"/>
            <a:ext cx="327960" cy="32796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11" name="Text 47"/>
          <p:cNvSpPr/>
          <p:nvPr/>
        </p:nvSpPr>
        <p:spPr>
          <a:xfrm>
            <a:off x="4818960" y="256932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8</a:t>
            </a:r>
            <a:endParaRPr lang="pl-PL" sz="1600" b="0" u="none" strike="noStrike">
              <a:solidFill>
                <a:srgbClr val="ffffff"/>
              </a:solidFill>
              <a:effectLst/>
              <a:uFillTx/>
              <a:latin typeface="Arial"/>
            </a:endParaRPr>
          </a:p>
        </p:txBody>
      </p:sp>
      <p:sp>
        <p:nvSpPr>
          <p:cNvPr id="1112" name="Text 48"/>
          <p:cNvSpPr/>
          <p:nvPr/>
        </p:nvSpPr>
        <p:spPr>
          <a:xfrm>
            <a:off x="5230440" y="249588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Estetyka i minimalizm</a:t>
            </a:r>
            <a:endParaRPr lang="pl-PL" sz="1400" b="0" u="none" strike="noStrike">
              <a:solidFill>
                <a:srgbClr val="ffffff"/>
              </a:solidFill>
              <a:effectLst/>
              <a:uFillTx/>
              <a:latin typeface="Arial"/>
            </a:endParaRPr>
          </a:p>
        </p:txBody>
      </p:sp>
      <p:sp>
        <p:nvSpPr>
          <p:cNvPr id="1113" name="Text 49"/>
          <p:cNvSpPr/>
          <p:nvPr/>
        </p:nvSpPr>
        <p:spPr>
          <a:xfrm>
            <a:off x="5230440" y="275868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Tylko niezbędne elementy</a:t>
            </a:r>
            <a:endParaRPr lang="pl-PL" sz="1200" b="0" u="none" strike="noStrike">
              <a:solidFill>
                <a:srgbClr val="ffffff"/>
              </a:solidFill>
              <a:effectLst/>
              <a:uFillTx/>
              <a:latin typeface="Arial"/>
            </a:endParaRPr>
          </a:p>
        </p:txBody>
      </p:sp>
      <p:sp>
        <p:nvSpPr>
          <p:cNvPr id="1114" name="Shape 50"/>
          <p:cNvSpPr/>
          <p:nvPr/>
        </p:nvSpPr>
        <p:spPr>
          <a:xfrm>
            <a:off x="4727520" y="320940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15" name="Shape 51"/>
          <p:cNvSpPr/>
          <p:nvPr/>
        </p:nvSpPr>
        <p:spPr>
          <a:xfrm>
            <a:off x="4727520" y="3209400"/>
            <a:ext cx="35640" cy="657360"/>
          </a:xfrm>
          <a:prstGeom prst="rect">
            <a:avLst/>
          </a:prstGeom>
          <a:solidFill>
            <a:schemeClr val="accent2">
              <a:lumMod val="60000"/>
              <a:lumOff val="40000"/>
            </a:schemeClr>
          </a:solidFill>
          <a:ln w="12600">
            <a:solidFill>
              <a:srgbClr val="3333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16" name="Shape 52"/>
          <p:cNvSpPr/>
          <p:nvPr/>
        </p:nvSpPr>
        <p:spPr>
          <a:xfrm>
            <a:off x="4818960" y="3319200"/>
            <a:ext cx="327960" cy="327960"/>
          </a:xfrm>
          <a:prstGeom prst="ellipse">
            <a:avLst/>
          </a:prstGeom>
          <a:solidFill>
            <a:schemeClr val="accent2">
              <a:lumMod val="60000"/>
              <a:lumOff val="40000"/>
            </a:schemeClr>
          </a:solidFill>
          <a:ln w="12600">
            <a:solidFill>
              <a:srgbClr val="3333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17" name="Text 53"/>
          <p:cNvSpPr/>
          <p:nvPr/>
        </p:nvSpPr>
        <p:spPr>
          <a:xfrm>
            <a:off x="4818960" y="331920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9</a:t>
            </a:r>
            <a:endParaRPr lang="pl-PL" sz="1600" b="0" u="none" strike="noStrike">
              <a:solidFill>
                <a:srgbClr val="ffffff"/>
              </a:solidFill>
              <a:effectLst/>
              <a:uFillTx/>
              <a:latin typeface="Arial"/>
            </a:endParaRPr>
          </a:p>
        </p:txBody>
      </p:sp>
      <p:sp>
        <p:nvSpPr>
          <p:cNvPr id="1118" name="Text 54"/>
          <p:cNvSpPr/>
          <p:nvPr/>
        </p:nvSpPr>
        <p:spPr>
          <a:xfrm>
            <a:off x="5230440" y="324540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Pomoc w błędach</a:t>
            </a:r>
            <a:endParaRPr lang="pl-PL" sz="1400" b="0" u="none" strike="noStrike">
              <a:solidFill>
                <a:srgbClr val="ffffff"/>
              </a:solidFill>
              <a:effectLst/>
              <a:uFillTx/>
              <a:latin typeface="Arial"/>
            </a:endParaRPr>
          </a:p>
        </p:txBody>
      </p:sp>
      <p:sp>
        <p:nvSpPr>
          <p:cNvPr id="1119" name="Text 55"/>
          <p:cNvSpPr/>
          <p:nvPr/>
        </p:nvSpPr>
        <p:spPr>
          <a:xfrm>
            <a:off x="5230440" y="350856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Jasne komunikaty: nie 'Error 404'</a:t>
            </a:r>
            <a:endParaRPr lang="pl-PL" sz="1200" b="0" u="none" strike="noStrike">
              <a:solidFill>
                <a:srgbClr val="ffffff"/>
              </a:solidFill>
              <a:effectLst/>
              <a:uFillTx/>
              <a:latin typeface="Arial"/>
            </a:endParaRPr>
          </a:p>
        </p:txBody>
      </p:sp>
      <p:sp>
        <p:nvSpPr>
          <p:cNvPr id="1120" name="Shape 56"/>
          <p:cNvSpPr/>
          <p:nvPr/>
        </p:nvSpPr>
        <p:spPr>
          <a:xfrm>
            <a:off x="4727520" y="3959280"/>
            <a:ext cx="4250880" cy="6573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21" name="Shape 57"/>
          <p:cNvSpPr/>
          <p:nvPr/>
        </p:nvSpPr>
        <p:spPr>
          <a:xfrm>
            <a:off x="4727520" y="3959280"/>
            <a:ext cx="35640" cy="657360"/>
          </a:xfrm>
          <a:prstGeom prst="rect">
            <a:avLst/>
          </a:prstGeom>
          <a:solidFill>
            <a:schemeClr val="accent6">
              <a:lumMod val="75000"/>
            </a:schemeClr>
          </a:solidFill>
          <a:ln w="12600">
            <a:solidFill>
              <a:srgbClr val="3333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22" name="Shape 58"/>
          <p:cNvSpPr/>
          <p:nvPr/>
        </p:nvSpPr>
        <p:spPr>
          <a:xfrm>
            <a:off x="4818960" y="4069080"/>
            <a:ext cx="327960" cy="327960"/>
          </a:xfrm>
          <a:prstGeom prst="ellipse">
            <a:avLst/>
          </a:prstGeom>
          <a:solidFill>
            <a:schemeClr val="accent6">
              <a:lumMod val="60000"/>
              <a:lumOff val="40000"/>
            </a:schemeClr>
          </a:solidFill>
          <a:ln w="12600">
            <a:solidFill>
              <a:srgbClr val="3333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23" name="Text 59"/>
          <p:cNvSpPr/>
          <p:nvPr/>
        </p:nvSpPr>
        <p:spPr>
          <a:xfrm>
            <a:off x="4818960" y="4069080"/>
            <a:ext cx="327960" cy="32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d1b2a"/>
                </a:solidFill>
                <a:effectLst/>
                <a:uFillTx/>
                <a:latin typeface="Calibri"/>
                <a:ea typeface="DejaVu Sans"/>
              </a:rPr>
              <a:t>10</a:t>
            </a:r>
            <a:endParaRPr lang="pl-PL" sz="1600" b="0" u="none" strike="noStrike">
              <a:solidFill>
                <a:srgbClr val="ffffff"/>
              </a:solidFill>
              <a:effectLst/>
              <a:uFillTx/>
              <a:latin typeface="Arial"/>
            </a:endParaRPr>
          </a:p>
        </p:txBody>
      </p:sp>
      <p:sp>
        <p:nvSpPr>
          <p:cNvPr id="1124" name="Text 60"/>
          <p:cNvSpPr/>
          <p:nvPr/>
        </p:nvSpPr>
        <p:spPr>
          <a:xfrm>
            <a:off x="5230440" y="3995280"/>
            <a:ext cx="36565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Dokumentacja</a:t>
            </a:r>
            <a:endParaRPr lang="pl-PL" sz="1400" b="0" u="none" strike="noStrike">
              <a:solidFill>
                <a:srgbClr val="ffffff"/>
              </a:solidFill>
              <a:effectLst/>
              <a:uFillTx/>
              <a:latin typeface="Arial"/>
            </a:endParaRPr>
          </a:p>
        </p:txBody>
      </p:sp>
      <p:sp>
        <p:nvSpPr>
          <p:cNvPr id="1125" name="Text 61"/>
          <p:cNvSpPr/>
          <p:nvPr/>
        </p:nvSpPr>
        <p:spPr>
          <a:xfrm>
            <a:off x="5230440" y="4258080"/>
            <a:ext cx="3656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Onboarding, tooltips, FAQ w aplikacji</a:t>
            </a:r>
            <a:endParaRPr lang="pl-PL" sz="1200" b="0" u="none" strike="noStrike">
              <a:solidFill>
                <a:srgbClr val="ffffff"/>
              </a:solidFill>
              <a:effectLst/>
              <a:uFillTx/>
              <a:latin typeface="Arial"/>
            </a:endParaRPr>
          </a:p>
        </p:txBody>
      </p:sp>
      <p:sp>
        <p:nvSpPr>
          <p:cNvPr id="1126" name="Text 64"/>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14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127" name="Grupa 49"/>
          <p:cNvGrpSpPr/>
          <p:nvPr/>
        </p:nvGrpSpPr>
        <p:grpSpPr>
          <a:xfrm>
            <a:off x="-2520" y="4884840"/>
            <a:ext cx="9145440" cy="259200"/>
            <a:chOff x="-2520" y="4884840"/>
            <a:chExt cx="9145440" cy="259200"/>
          </a:xfrm>
        </p:grpSpPr>
        <p:sp>
          <p:nvSpPr>
            <p:cNvPr id="1128"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29"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130" name="Grupa 52"/>
            <p:cNvGrpSpPr/>
            <p:nvPr/>
          </p:nvGrpSpPr>
          <p:grpSpPr>
            <a:xfrm>
              <a:off x="-2520" y="5099400"/>
              <a:ext cx="9145440" cy="44640"/>
              <a:chOff x="-2520" y="5099400"/>
              <a:chExt cx="9145440" cy="44640"/>
            </a:xfrm>
          </p:grpSpPr>
          <p:sp>
            <p:nvSpPr>
              <p:cNvPr id="1131"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2"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3"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4"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5"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6"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7"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8"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39"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0"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1"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2"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3"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4"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5"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6" name="Shape 52"/>
              <p:cNvSpPr/>
              <p:nvPr/>
            </p:nvSpPr>
            <p:spPr>
              <a:xfrm>
                <a:off x="29822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47"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48"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49"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0"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1"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2"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3"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4"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5"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6"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7"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8"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59"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0"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1"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2"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3"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4"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5"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6"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7"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8"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69"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0"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1"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2"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3"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4"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5"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76"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177" name="Shape 0"/>
          <p:cNvSpPr/>
          <p:nvPr/>
        </p:nvSpPr>
        <p:spPr>
          <a:xfrm>
            <a:off x="320040" y="255960"/>
            <a:ext cx="53640" cy="501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78"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Prawo Hicka w projektowaniu mobilnym</a:t>
            </a:r>
            <a:endParaRPr lang="pl-PL" sz="2200" b="0" u="none" strike="noStrike">
              <a:solidFill>
                <a:srgbClr val="ffffff"/>
              </a:solidFill>
              <a:effectLst/>
              <a:uFillTx/>
              <a:latin typeface="Arial"/>
            </a:endParaRPr>
          </a:p>
        </p:txBody>
      </p:sp>
      <p:sp>
        <p:nvSpPr>
          <p:cNvPr id="1179" name="Shape 2"/>
          <p:cNvSpPr/>
          <p:nvPr/>
        </p:nvSpPr>
        <p:spPr>
          <a:xfrm>
            <a:off x="320040" y="914400"/>
            <a:ext cx="4068000" cy="35377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80" name="Shape 3"/>
          <p:cNvSpPr/>
          <p:nvPr/>
        </p:nvSpPr>
        <p:spPr>
          <a:xfrm>
            <a:off x="320040" y="914400"/>
            <a:ext cx="44640" cy="35377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81" name="Text 4"/>
          <p:cNvSpPr/>
          <p:nvPr/>
        </p:nvSpPr>
        <p:spPr>
          <a:xfrm>
            <a:off x="457200" y="987480"/>
            <a:ext cx="37936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Hick's Law</a:t>
            </a:r>
            <a:endParaRPr lang="pl-PL" sz="1600" b="0" u="none" strike="noStrike">
              <a:solidFill>
                <a:srgbClr val="ffffff"/>
              </a:solidFill>
              <a:effectLst/>
              <a:uFillTx/>
              <a:latin typeface="Arial"/>
            </a:endParaRPr>
          </a:p>
        </p:txBody>
      </p:sp>
      <p:sp>
        <p:nvSpPr>
          <p:cNvPr id="1182" name="Text 5"/>
          <p:cNvSpPr/>
          <p:nvPr/>
        </p:nvSpPr>
        <p:spPr>
          <a:xfrm>
            <a:off x="457200" y="1308600"/>
            <a:ext cx="3793680" cy="501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Czas decyzji rośnie wraz z liczbą opcji. Im więcej wyborów, tym dłużej użytkownik potrzebuje na podjęcie decyzji.</a:t>
            </a:r>
            <a:endParaRPr lang="pl-PL" sz="1200" b="0" u="none" strike="noStrike">
              <a:solidFill>
                <a:srgbClr val="ffffff"/>
              </a:solidFill>
              <a:effectLst/>
              <a:uFillTx/>
              <a:latin typeface="Arial"/>
            </a:endParaRPr>
          </a:p>
        </p:txBody>
      </p:sp>
      <p:sp>
        <p:nvSpPr>
          <p:cNvPr id="1183" name="Shape 6"/>
          <p:cNvSpPr/>
          <p:nvPr/>
        </p:nvSpPr>
        <p:spPr>
          <a:xfrm>
            <a:off x="429840" y="1920240"/>
            <a:ext cx="3885120" cy="873720"/>
          </a:xfrm>
          <a:prstGeom prst="rect">
            <a:avLst/>
          </a:prstGeom>
          <a:solidFill>
            <a:srgbClr val="0a1929"/>
          </a:solidFill>
          <a:ln w="12600">
            <a:solidFill>
              <a:srgbClr val="1a3a5c"/>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84" name="Text 7"/>
          <p:cNvSpPr/>
          <p:nvPr/>
        </p:nvSpPr>
        <p:spPr>
          <a:xfrm>
            <a:off x="534240" y="1958040"/>
            <a:ext cx="3692880" cy="804600"/>
          </a:xfrm>
          <a:prstGeom prst="rect">
            <a:avLst/>
          </a:prstGeom>
          <a:noFill/>
          <a:ln w="0">
            <a:noFill/>
          </a:ln>
        </p:spPr>
        <p:style>
          <a:lnRef idx="0"/>
          <a:fillRef idx="0"/>
          <a:effectRef idx="0"/>
          <a:fontRef idx="minor"/>
        </p:style>
        <p:txBody>
          <a:bodyPr lIns="0" rIns="0" tIns="0" bIns="0" anchor="t">
            <a:noAutofit/>
          </a:bodyPr>
          <a:p>
            <a:pPr defTabSz="914400">
              <a:lnSpc>
                <a:spcPts val="1199"/>
              </a:lnSpc>
              <a:tabLst>
                <a:tab algn="l" pos="0"/>
              </a:tabLst>
            </a:pPr>
            <a:r>
              <a:rPr lang="pl-PL" sz="1200" b="0" u="none" strike="noStrike">
                <a:solidFill>
                  <a:srgbClr val="00e676"/>
                </a:solidFill>
                <a:effectLst/>
                <a:uFillTx/>
                <a:latin typeface="Consolas"/>
                <a:ea typeface="Consolas"/>
              </a:rPr>
              <a:t>T = b × log₂(n + 1)</a:t>
            </a:r>
            <a:endParaRPr lang="pl-PL" sz="1200" b="0" u="none" strike="noStrike">
              <a:solidFill>
                <a:srgbClr val="ffffff"/>
              </a:solidFill>
              <a:effectLst/>
              <a:uFillTx/>
              <a:latin typeface="Arial"/>
            </a:endParaRPr>
          </a:p>
          <a:p>
            <a:pPr defTabSz="914400">
              <a:lnSpc>
                <a:spcPts val="1199"/>
              </a:lnSpc>
              <a:tabLst>
                <a:tab algn="l" pos="0"/>
              </a:tabLst>
            </a:pPr>
            <a:endParaRPr lang="pl-PL" sz="1200" b="0" u="none" strike="noStrike">
              <a:solidFill>
                <a:srgbClr val="ffffff"/>
              </a:solidFill>
              <a:effectLst/>
              <a:uFillTx/>
              <a:latin typeface="Arial"/>
            </a:endParaRPr>
          </a:p>
          <a:p>
            <a:pPr defTabSz="914400">
              <a:lnSpc>
                <a:spcPts val="1199"/>
              </a:lnSpc>
              <a:tabLst>
                <a:tab algn="l" pos="0"/>
              </a:tabLst>
            </a:pPr>
            <a:r>
              <a:rPr lang="pl-PL" sz="1200" b="0" u="none" strike="noStrike">
                <a:solidFill>
                  <a:srgbClr val="00e676"/>
                </a:solidFill>
                <a:effectLst/>
                <a:uFillTx/>
                <a:latin typeface="Consolas"/>
                <a:ea typeface="Consolas"/>
              </a:rPr>
              <a:t>T = czas decyzji</a:t>
            </a:r>
            <a:endParaRPr lang="pl-PL" sz="1200" b="0" u="none" strike="noStrike">
              <a:solidFill>
                <a:srgbClr val="ffffff"/>
              </a:solidFill>
              <a:effectLst/>
              <a:uFillTx/>
              <a:latin typeface="Arial"/>
            </a:endParaRPr>
          </a:p>
          <a:p>
            <a:pPr defTabSz="914400">
              <a:lnSpc>
                <a:spcPts val="1199"/>
              </a:lnSpc>
              <a:tabLst>
                <a:tab algn="l" pos="0"/>
              </a:tabLst>
            </a:pPr>
            <a:r>
              <a:rPr lang="pl-PL" sz="1200" b="0" u="none" strike="noStrike">
                <a:solidFill>
                  <a:srgbClr val="00e676"/>
                </a:solidFill>
                <a:effectLst/>
                <a:uFillTx/>
                <a:latin typeface="Consolas"/>
                <a:ea typeface="Consolas"/>
              </a:rPr>
              <a:t>n = liczba opcji</a:t>
            </a:r>
            <a:endParaRPr lang="pl-PL" sz="1200" b="0" u="none" strike="noStrike">
              <a:solidFill>
                <a:srgbClr val="ffffff"/>
              </a:solidFill>
              <a:effectLst/>
              <a:uFillTx/>
              <a:latin typeface="Arial"/>
            </a:endParaRPr>
          </a:p>
          <a:p>
            <a:pPr defTabSz="914400">
              <a:lnSpc>
                <a:spcPts val="1199"/>
              </a:lnSpc>
              <a:tabLst>
                <a:tab algn="l" pos="0"/>
              </a:tabLst>
            </a:pPr>
            <a:r>
              <a:rPr lang="pl-PL" sz="1200" b="0" u="none" strike="noStrike">
                <a:solidFill>
                  <a:srgbClr val="00e676"/>
                </a:solidFill>
                <a:effectLst/>
                <a:uFillTx/>
                <a:latin typeface="Consolas"/>
                <a:ea typeface="Consolas"/>
              </a:rPr>
              <a:t>b = stała (złożoność zadania)</a:t>
            </a:r>
            <a:endParaRPr lang="pl-PL" sz="1200" b="0" u="none" strike="noStrike">
              <a:solidFill>
                <a:srgbClr val="ffffff"/>
              </a:solidFill>
              <a:effectLst/>
              <a:uFillTx/>
              <a:latin typeface="Arial"/>
            </a:endParaRPr>
          </a:p>
        </p:txBody>
      </p:sp>
      <p:sp>
        <p:nvSpPr>
          <p:cNvPr id="1185" name="Shape 8"/>
          <p:cNvSpPr/>
          <p:nvPr/>
        </p:nvSpPr>
        <p:spPr>
          <a:xfrm>
            <a:off x="429840" y="2878200"/>
            <a:ext cx="3885120" cy="501840"/>
          </a:xfrm>
          <a:prstGeom prst="rect">
            <a:avLst/>
          </a:prstGeom>
          <a:solidFill>
            <a:srgbClr val="0a1929"/>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86" name="Text 9"/>
          <p:cNvSpPr/>
          <p:nvPr/>
        </p:nvSpPr>
        <p:spPr>
          <a:xfrm>
            <a:off x="559440" y="2905560"/>
            <a:ext cx="3623040" cy="437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ccddee"/>
                </a:solidFill>
                <a:effectLst/>
                <a:uFillTx/>
                <a:latin typeface="Calibri"/>
                <a:ea typeface="DejaVu Sans"/>
              </a:rPr>
              <a:t>Wniosek: Podwojenie opcji NIE podwaja czasu decyzji - wzrost jest logarytmiczny, ale w UX każda milisekunda ma znaczenie.</a:t>
            </a:r>
            <a:endParaRPr lang="pl-PL" sz="1100" b="0" u="none" strike="noStrike">
              <a:solidFill>
                <a:srgbClr val="ffffff"/>
              </a:solidFill>
              <a:effectLst/>
              <a:uFillTx/>
              <a:latin typeface="Arial"/>
            </a:endParaRPr>
          </a:p>
        </p:txBody>
      </p:sp>
      <p:sp>
        <p:nvSpPr>
          <p:cNvPr id="1187" name="Shape 10"/>
          <p:cNvSpPr/>
          <p:nvPr/>
        </p:nvSpPr>
        <p:spPr>
          <a:xfrm>
            <a:off x="429840" y="3483000"/>
            <a:ext cx="1150920" cy="858600"/>
          </a:xfrm>
          <a:prstGeom prst="rect">
            <a:avLst/>
          </a:prstGeom>
          <a:solidFill>
            <a:srgbClr val="112233"/>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88" name="Text 11"/>
          <p:cNvSpPr/>
          <p:nvPr/>
        </p:nvSpPr>
        <p:spPr>
          <a:xfrm>
            <a:off x="498240" y="3509640"/>
            <a:ext cx="92988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00e676"/>
                </a:solidFill>
                <a:effectLst/>
                <a:uFillTx/>
                <a:latin typeface="Calibri"/>
                <a:ea typeface="DejaVu Sans"/>
              </a:rPr>
              <a:t>3–5</a:t>
            </a:r>
            <a:endParaRPr lang="pl-PL" sz="2400" b="0" u="none" strike="noStrike">
              <a:solidFill>
                <a:srgbClr val="ffffff"/>
              </a:solidFill>
              <a:effectLst/>
              <a:uFillTx/>
              <a:latin typeface="Arial"/>
            </a:endParaRPr>
          </a:p>
        </p:txBody>
      </p:sp>
      <p:sp>
        <p:nvSpPr>
          <p:cNvPr id="1189" name="Text 12"/>
          <p:cNvSpPr/>
          <p:nvPr/>
        </p:nvSpPr>
        <p:spPr>
          <a:xfrm>
            <a:off x="534240" y="3947040"/>
            <a:ext cx="89388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00" b="0" u="none" strike="noStrike">
                <a:solidFill>
                  <a:srgbClr val="e1e3e3"/>
                </a:solidFill>
                <a:effectLst/>
                <a:uFillTx/>
                <a:latin typeface="Calibri"/>
                <a:ea typeface="DejaVu Sans"/>
              </a:rPr>
              <a:t>optymalna liczba opcji w menu</a:t>
            </a:r>
            <a:endParaRPr lang="pl-PL" sz="1000" b="0" u="none" strike="noStrike">
              <a:solidFill>
                <a:srgbClr val="ffffff"/>
              </a:solidFill>
              <a:effectLst/>
              <a:uFillTx/>
              <a:latin typeface="Arial"/>
            </a:endParaRPr>
          </a:p>
        </p:txBody>
      </p:sp>
      <p:sp>
        <p:nvSpPr>
          <p:cNvPr id="1190" name="Shape 13"/>
          <p:cNvSpPr/>
          <p:nvPr/>
        </p:nvSpPr>
        <p:spPr>
          <a:xfrm>
            <a:off x="1691640" y="3483000"/>
            <a:ext cx="1260720" cy="858600"/>
          </a:xfrm>
          <a:prstGeom prst="rect">
            <a:avLst/>
          </a:prstGeom>
          <a:solidFill>
            <a:srgbClr val="112233"/>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91" name="Text 14"/>
          <p:cNvSpPr/>
          <p:nvPr/>
        </p:nvSpPr>
        <p:spPr>
          <a:xfrm>
            <a:off x="1869840" y="3509640"/>
            <a:ext cx="92988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00d4ff"/>
                </a:solidFill>
                <a:effectLst/>
                <a:uFillTx/>
                <a:latin typeface="Calibri"/>
                <a:ea typeface="DejaVu Sans"/>
              </a:rPr>
              <a:t>7±2</a:t>
            </a:r>
            <a:endParaRPr lang="pl-PL" sz="2400" b="0" u="none" strike="noStrike">
              <a:solidFill>
                <a:srgbClr val="ffffff"/>
              </a:solidFill>
              <a:effectLst/>
              <a:uFillTx/>
              <a:latin typeface="Arial"/>
            </a:endParaRPr>
          </a:p>
        </p:txBody>
      </p:sp>
      <p:sp>
        <p:nvSpPr>
          <p:cNvPr id="1192" name="Text 15"/>
          <p:cNvSpPr/>
          <p:nvPr/>
        </p:nvSpPr>
        <p:spPr>
          <a:xfrm>
            <a:off x="1734840" y="3947040"/>
            <a:ext cx="107676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00" b="0" u="none" strike="noStrike">
                <a:solidFill>
                  <a:srgbClr val="e1e3e3"/>
                </a:solidFill>
                <a:effectLst/>
                <a:uFillTx/>
                <a:latin typeface="Calibri"/>
                <a:ea typeface="DejaVu Sans"/>
              </a:rPr>
              <a:t>maksymalna liczba elementów (Miller)</a:t>
            </a:r>
            <a:endParaRPr lang="pl-PL" sz="1000" b="0" u="none" strike="noStrike">
              <a:solidFill>
                <a:srgbClr val="ffffff"/>
              </a:solidFill>
              <a:effectLst/>
              <a:uFillTx/>
              <a:latin typeface="Arial"/>
            </a:endParaRPr>
          </a:p>
        </p:txBody>
      </p:sp>
      <p:sp>
        <p:nvSpPr>
          <p:cNvPr id="1193" name="Shape 16"/>
          <p:cNvSpPr/>
          <p:nvPr/>
        </p:nvSpPr>
        <p:spPr>
          <a:xfrm>
            <a:off x="3063240" y="3483000"/>
            <a:ext cx="1251720" cy="858600"/>
          </a:xfrm>
          <a:prstGeom prst="rect">
            <a:avLst/>
          </a:prstGeom>
          <a:solidFill>
            <a:srgbClr val="112233"/>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94" name="Text 17"/>
          <p:cNvSpPr/>
          <p:nvPr/>
        </p:nvSpPr>
        <p:spPr>
          <a:xfrm>
            <a:off x="3252240" y="3509640"/>
            <a:ext cx="97740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ff9100"/>
                </a:solidFill>
                <a:effectLst/>
                <a:uFillTx/>
                <a:latin typeface="Calibri"/>
                <a:ea typeface="DejaVu Sans"/>
              </a:rPr>
              <a:t>30%</a:t>
            </a:r>
            <a:endParaRPr lang="pl-PL" sz="2400" b="0" u="none" strike="noStrike">
              <a:solidFill>
                <a:srgbClr val="ffffff"/>
              </a:solidFill>
              <a:effectLst/>
              <a:uFillTx/>
              <a:latin typeface="Arial"/>
            </a:endParaRPr>
          </a:p>
        </p:txBody>
      </p:sp>
      <p:sp>
        <p:nvSpPr>
          <p:cNvPr id="1195" name="Text 18"/>
          <p:cNvSpPr/>
          <p:nvPr/>
        </p:nvSpPr>
        <p:spPr>
          <a:xfrm>
            <a:off x="3156480" y="3947040"/>
            <a:ext cx="96804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00" b="0" u="none" strike="noStrike">
                <a:solidFill>
                  <a:srgbClr val="e1e3e3"/>
                </a:solidFill>
                <a:effectLst/>
                <a:uFillTx/>
                <a:latin typeface="Calibri"/>
                <a:ea typeface="DejaVu Sans"/>
              </a:rPr>
              <a:t>redukcja błędów przy mniejszej liczbie opcji</a:t>
            </a:r>
            <a:endParaRPr lang="pl-PL" sz="1000" b="0" u="none" strike="noStrike">
              <a:solidFill>
                <a:srgbClr val="ffffff"/>
              </a:solidFill>
              <a:effectLst/>
              <a:uFillTx/>
              <a:latin typeface="Arial"/>
            </a:endParaRPr>
          </a:p>
        </p:txBody>
      </p:sp>
      <p:sp>
        <p:nvSpPr>
          <p:cNvPr id="1196" name="Shape 19"/>
          <p:cNvSpPr/>
          <p:nvPr/>
        </p:nvSpPr>
        <p:spPr>
          <a:xfrm>
            <a:off x="4754880" y="914400"/>
            <a:ext cx="4068000" cy="30988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197" name="Shape 20"/>
          <p:cNvSpPr/>
          <p:nvPr/>
        </p:nvSpPr>
        <p:spPr>
          <a:xfrm>
            <a:off x="4754880" y="914400"/>
            <a:ext cx="44640" cy="309888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98" name="Text 21"/>
          <p:cNvSpPr/>
          <p:nvPr/>
        </p:nvSpPr>
        <p:spPr>
          <a:xfrm>
            <a:off x="4892040" y="98748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Praktyczne Zastosowania</a:t>
            </a:r>
            <a:endParaRPr lang="pl-PL" sz="1600" b="0" u="none" strike="noStrike">
              <a:solidFill>
                <a:srgbClr val="ffffff"/>
              </a:solidFill>
              <a:effectLst/>
              <a:uFillTx/>
              <a:latin typeface="Arial"/>
            </a:endParaRPr>
          </a:p>
        </p:txBody>
      </p:sp>
      <p:sp>
        <p:nvSpPr>
          <p:cNvPr id="1199" name="Text 22"/>
          <p:cNvSpPr/>
          <p:nvPr/>
        </p:nvSpPr>
        <p:spPr>
          <a:xfrm>
            <a:off x="4892040" y="149040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1</a:t>
            </a:r>
            <a:endParaRPr lang="pl-PL" sz="1100" b="0" u="none" strike="noStrike">
              <a:solidFill>
                <a:srgbClr val="ffffff"/>
              </a:solidFill>
              <a:effectLst/>
              <a:uFillTx/>
              <a:latin typeface="Arial"/>
            </a:endParaRPr>
          </a:p>
        </p:txBody>
      </p:sp>
      <p:sp>
        <p:nvSpPr>
          <p:cNvPr id="1200" name="Shape 23"/>
          <p:cNvSpPr/>
          <p:nvPr/>
        </p:nvSpPr>
        <p:spPr>
          <a:xfrm>
            <a:off x="4892040" y="149040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01" name="Text 24"/>
          <p:cNvSpPr/>
          <p:nvPr/>
        </p:nvSpPr>
        <p:spPr>
          <a:xfrm>
            <a:off x="4892040" y="149040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1</a:t>
            </a:r>
            <a:endParaRPr lang="pl-PL" sz="1100" b="0" u="none" strike="noStrike">
              <a:solidFill>
                <a:srgbClr val="ffffff"/>
              </a:solidFill>
              <a:effectLst/>
              <a:uFillTx/>
              <a:latin typeface="Arial"/>
            </a:endParaRPr>
          </a:p>
        </p:txBody>
      </p:sp>
      <p:sp>
        <p:nvSpPr>
          <p:cNvPr id="1202" name="Text 25"/>
          <p:cNvSpPr/>
          <p:nvPr/>
        </p:nvSpPr>
        <p:spPr>
          <a:xfrm>
            <a:off x="5239440" y="137160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Ograniczaj opcje w menu</a:t>
            </a:r>
            <a:endParaRPr lang="pl-PL" sz="1200" b="0" u="none" strike="noStrike">
              <a:solidFill>
                <a:srgbClr val="ffffff"/>
              </a:solidFill>
              <a:effectLst/>
              <a:uFillTx/>
              <a:latin typeface="Arial"/>
            </a:endParaRPr>
          </a:p>
        </p:txBody>
      </p:sp>
      <p:sp>
        <p:nvSpPr>
          <p:cNvPr id="1203" name="Text 26"/>
          <p:cNvSpPr/>
          <p:nvPr/>
        </p:nvSpPr>
        <p:spPr>
          <a:xfrm>
            <a:off x="5239440" y="163692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Pokazuj tylko najważniejsze. Resztę ukryj w 'Więcej' lub podmenu.</a:t>
            </a:r>
            <a:endParaRPr lang="pl-PL" sz="1100" b="0" u="none" strike="noStrike">
              <a:solidFill>
                <a:srgbClr val="ffffff"/>
              </a:solidFill>
              <a:effectLst/>
              <a:uFillTx/>
              <a:latin typeface="Arial"/>
            </a:endParaRPr>
          </a:p>
        </p:txBody>
      </p:sp>
      <p:sp>
        <p:nvSpPr>
          <p:cNvPr id="1204" name="Text 27"/>
          <p:cNvSpPr/>
          <p:nvPr/>
        </p:nvSpPr>
        <p:spPr>
          <a:xfrm>
            <a:off x="4892040" y="21488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2</a:t>
            </a:r>
            <a:endParaRPr lang="pl-PL" sz="1100" b="0" u="none" strike="noStrike">
              <a:solidFill>
                <a:srgbClr val="ffffff"/>
              </a:solidFill>
              <a:effectLst/>
              <a:uFillTx/>
              <a:latin typeface="Arial"/>
            </a:endParaRPr>
          </a:p>
        </p:txBody>
      </p:sp>
      <p:sp>
        <p:nvSpPr>
          <p:cNvPr id="1205" name="Shape 28"/>
          <p:cNvSpPr/>
          <p:nvPr/>
        </p:nvSpPr>
        <p:spPr>
          <a:xfrm>
            <a:off x="4892040" y="214884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06" name="Text 29"/>
          <p:cNvSpPr/>
          <p:nvPr/>
        </p:nvSpPr>
        <p:spPr>
          <a:xfrm>
            <a:off x="4892040" y="21488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2</a:t>
            </a:r>
            <a:endParaRPr lang="pl-PL" sz="1100" b="0" u="none" strike="noStrike">
              <a:solidFill>
                <a:srgbClr val="ffffff"/>
              </a:solidFill>
              <a:effectLst/>
              <a:uFillTx/>
              <a:latin typeface="Arial"/>
            </a:endParaRPr>
          </a:p>
        </p:txBody>
      </p:sp>
      <p:sp>
        <p:nvSpPr>
          <p:cNvPr id="1207" name="Text 30"/>
          <p:cNvSpPr/>
          <p:nvPr/>
        </p:nvSpPr>
        <p:spPr>
          <a:xfrm>
            <a:off x="5239440" y="20300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Progresywne ujawnianie</a:t>
            </a:r>
            <a:endParaRPr lang="pl-PL" sz="1200" b="0" u="none" strike="noStrike">
              <a:solidFill>
                <a:srgbClr val="ffffff"/>
              </a:solidFill>
              <a:effectLst/>
              <a:uFillTx/>
              <a:latin typeface="Arial"/>
            </a:endParaRPr>
          </a:p>
        </p:txBody>
      </p:sp>
      <p:sp>
        <p:nvSpPr>
          <p:cNvPr id="1208" name="Text 31"/>
          <p:cNvSpPr/>
          <p:nvPr/>
        </p:nvSpPr>
        <p:spPr>
          <a:xfrm>
            <a:off x="5239440" y="229500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Pokaż zaawansowane opcje tylko gdy użytkownik ich potrzebuje.</a:t>
            </a:r>
            <a:endParaRPr lang="pl-PL" sz="1100" b="0" u="none" strike="noStrike">
              <a:solidFill>
                <a:srgbClr val="ffffff"/>
              </a:solidFill>
              <a:effectLst/>
              <a:uFillTx/>
              <a:latin typeface="Arial"/>
            </a:endParaRPr>
          </a:p>
        </p:txBody>
      </p:sp>
      <p:sp>
        <p:nvSpPr>
          <p:cNvPr id="1209" name="Text 32"/>
          <p:cNvSpPr/>
          <p:nvPr/>
        </p:nvSpPr>
        <p:spPr>
          <a:xfrm>
            <a:off x="4892040" y="28072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3</a:t>
            </a:r>
            <a:endParaRPr lang="pl-PL" sz="1100" b="0" u="none" strike="noStrike">
              <a:solidFill>
                <a:srgbClr val="ffffff"/>
              </a:solidFill>
              <a:effectLst/>
              <a:uFillTx/>
              <a:latin typeface="Arial"/>
            </a:endParaRPr>
          </a:p>
        </p:txBody>
      </p:sp>
      <p:sp>
        <p:nvSpPr>
          <p:cNvPr id="1210" name="Shape 33"/>
          <p:cNvSpPr/>
          <p:nvPr/>
        </p:nvSpPr>
        <p:spPr>
          <a:xfrm>
            <a:off x="4892040" y="280728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11" name="Text 34"/>
          <p:cNvSpPr/>
          <p:nvPr/>
        </p:nvSpPr>
        <p:spPr>
          <a:xfrm>
            <a:off x="4892040" y="28072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3</a:t>
            </a:r>
            <a:endParaRPr lang="pl-PL" sz="1100" b="0" u="none" strike="noStrike">
              <a:solidFill>
                <a:srgbClr val="ffffff"/>
              </a:solidFill>
              <a:effectLst/>
              <a:uFillTx/>
              <a:latin typeface="Arial"/>
            </a:endParaRPr>
          </a:p>
        </p:txBody>
      </p:sp>
      <p:sp>
        <p:nvSpPr>
          <p:cNvPr id="1212" name="Text 35"/>
          <p:cNvSpPr/>
          <p:nvPr/>
        </p:nvSpPr>
        <p:spPr>
          <a:xfrm>
            <a:off x="5239440" y="268848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Grupowanie opcji</a:t>
            </a:r>
            <a:endParaRPr lang="pl-PL" sz="1200" b="0" u="none" strike="noStrike">
              <a:solidFill>
                <a:srgbClr val="ffffff"/>
              </a:solidFill>
              <a:effectLst/>
              <a:uFillTx/>
              <a:latin typeface="Arial"/>
            </a:endParaRPr>
          </a:p>
        </p:txBody>
      </p:sp>
      <p:sp>
        <p:nvSpPr>
          <p:cNvPr id="1213" name="Text 36"/>
          <p:cNvSpPr/>
          <p:nvPr/>
        </p:nvSpPr>
        <p:spPr>
          <a:xfrm>
            <a:off x="5239440" y="295344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Organizuj w kategorie, by zmniejszyć pozorną liczbę wyborów.</a:t>
            </a:r>
            <a:endParaRPr lang="pl-PL" sz="1100" b="0" u="none" strike="noStrike">
              <a:solidFill>
                <a:srgbClr val="ffffff"/>
              </a:solidFill>
              <a:effectLst/>
              <a:uFillTx/>
              <a:latin typeface="Arial"/>
            </a:endParaRPr>
          </a:p>
        </p:txBody>
      </p:sp>
      <p:sp>
        <p:nvSpPr>
          <p:cNvPr id="1214" name="Text 37"/>
          <p:cNvSpPr/>
          <p:nvPr/>
        </p:nvSpPr>
        <p:spPr>
          <a:xfrm>
            <a:off x="4892040" y="346572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4</a:t>
            </a:r>
            <a:endParaRPr lang="pl-PL" sz="1100" b="0" u="none" strike="noStrike">
              <a:solidFill>
                <a:srgbClr val="ffffff"/>
              </a:solidFill>
              <a:effectLst/>
              <a:uFillTx/>
              <a:latin typeface="Arial"/>
            </a:endParaRPr>
          </a:p>
        </p:txBody>
      </p:sp>
      <p:sp>
        <p:nvSpPr>
          <p:cNvPr id="1215" name="Shape 38"/>
          <p:cNvSpPr/>
          <p:nvPr/>
        </p:nvSpPr>
        <p:spPr>
          <a:xfrm>
            <a:off x="4892040" y="346572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16" name="Text 39"/>
          <p:cNvSpPr/>
          <p:nvPr/>
        </p:nvSpPr>
        <p:spPr>
          <a:xfrm>
            <a:off x="4892040" y="346572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4</a:t>
            </a:r>
            <a:endParaRPr lang="pl-PL" sz="1100" b="0" u="none" strike="noStrike">
              <a:solidFill>
                <a:srgbClr val="ffffff"/>
              </a:solidFill>
              <a:effectLst/>
              <a:uFillTx/>
              <a:latin typeface="Arial"/>
            </a:endParaRPr>
          </a:p>
        </p:txBody>
      </p:sp>
      <p:sp>
        <p:nvSpPr>
          <p:cNvPr id="1217" name="Text 40"/>
          <p:cNvSpPr/>
          <p:nvPr/>
        </p:nvSpPr>
        <p:spPr>
          <a:xfrm>
            <a:off x="5239440" y="33465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Domyślne wartości</a:t>
            </a:r>
            <a:endParaRPr lang="pl-PL" sz="1200" b="0" u="none" strike="noStrike">
              <a:solidFill>
                <a:srgbClr val="ffffff"/>
              </a:solidFill>
              <a:effectLst/>
              <a:uFillTx/>
              <a:latin typeface="Arial"/>
            </a:endParaRPr>
          </a:p>
        </p:txBody>
      </p:sp>
      <p:sp>
        <p:nvSpPr>
          <p:cNvPr id="1218" name="Text 41"/>
          <p:cNvSpPr/>
          <p:nvPr/>
        </p:nvSpPr>
        <p:spPr>
          <a:xfrm>
            <a:off x="5239440" y="36118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Ustawiaj sensowne defaults - redukuj konieczność wyboru.</a:t>
            </a:r>
            <a:endParaRPr lang="pl-PL" sz="1100" b="0" u="none" strike="noStrike">
              <a:solidFill>
                <a:srgbClr val="ffffff"/>
              </a:solidFill>
              <a:effectLst/>
              <a:uFillTx/>
              <a:latin typeface="Arial"/>
            </a:endParaRPr>
          </a:p>
        </p:txBody>
      </p:sp>
      <p:sp>
        <p:nvSpPr>
          <p:cNvPr id="1219" name="Shape 42"/>
          <p:cNvSpPr/>
          <p:nvPr/>
        </p:nvSpPr>
        <p:spPr>
          <a:xfrm>
            <a:off x="4747320" y="4153320"/>
            <a:ext cx="4068000" cy="66456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20" name="Text 43"/>
          <p:cNvSpPr/>
          <p:nvPr/>
        </p:nvSpPr>
        <p:spPr>
          <a:xfrm>
            <a:off x="4862160" y="4188240"/>
            <a:ext cx="3907440" cy="592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e1e3e3"/>
                </a:solidFill>
                <a:effectLst/>
                <a:uFillTx/>
                <a:latin typeface="Calibri"/>
                <a:ea typeface="DejaVu Sans"/>
              </a:rPr>
              <a:t>Przykłady: Google Search (jedno pole), Netflix (max 6 kategorii), Amazon (stopniowe filtry)</a:t>
            </a:r>
            <a:endParaRPr lang="pl-PL" sz="1400" b="0" u="none" strike="noStrike">
              <a:solidFill>
                <a:srgbClr val="ffffff"/>
              </a:solidFill>
              <a:effectLst/>
              <a:uFillTx/>
              <a:latin typeface="Arial"/>
            </a:endParaRPr>
          </a:p>
        </p:txBody>
      </p:sp>
      <p:sp>
        <p:nvSpPr>
          <p:cNvPr id="1221" name="Text 46"/>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15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222" name="Grupa 42"/>
          <p:cNvGrpSpPr/>
          <p:nvPr/>
        </p:nvGrpSpPr>
        <p:grpSpPr>
          <a:xfrm>
            <a:off x="-2520" y="4884840"/>
            <a:ext cx="9145440" cy="259200"/>
            <a:chOff x="-2520" y="4884840"/>
            <a:chExt cx="9145440" cy="259200"/>
          </a:xfrm>
        </p:grpSpPr>
        <p:sp>
          <p:nvSpPr>
            <p:cNvPr id="1223"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24"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225" name="Grupa 45"/>
            <p:cNvGrpSpPr/>
            <p:nvPr/>
          </p:nvGrpSpPr>
          <p:grpSpPr>
            <a:xfrm>
              <a:off x="-2520" y="5099400"/>
              <a:ext cx="9145440" cy="44640"/>
              <a:chOff x="-2520" y="5099400"/>
              <a:chExt cx="9145440" cy="44640"/>
            </a:xfrm>
          </p:grpSpPr>
          <p:sp>
            <p:nvSpPr>
              <p:cNvPr id="1226"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27"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28"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29"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0"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1"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2"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3"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4"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5"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6"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7"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8"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39"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40"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41"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42" name="Shape 52"/>
              <p:cNvSpPr/>
              <p:nvPr/>
            </p:nvSpPr>
            <p:spPr>
              <a:xfrm>
                <a:off x="31809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3"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4"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5"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6"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7"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8"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49"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0"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1"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2"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3"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4"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5"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6"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7"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8"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59"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0"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1"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2"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3"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4"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5"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6"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7"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8"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69"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70"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71"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272" name="Shape 0"/>
          <p:cNvSpPr/>
          <p:nvPr/>
        </p:nvSpPr>
        <p:spPr>
          <a:xfrm>
            <a:off x="320040" y="255960"/>
            <a:ext cx="53640" cy="501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73"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Prawo Fittsa i projektowanie dotykowe</a:t>
            </a:r>
            <a:endParaRPr lang="pl-PL" sz="2200" b="0" u="none" strike="noStrike">
              <a:solidFill>
                <a:srgbClr val="ffffff"/>
              </a:solidFill>
              <a:effectLst/>
              <a:uFillTx/>
              <a:latin typeface="Arial"/>
            </a:endParaRPr>
          </a:p>
        </p:txBody>
      </p:sp>
      <p:sp>
        <p:nvSpPr>
          <p:cNvPr id="1274" name="Shape 2"/>
          <p:cNvSpPr/>
          <p:nvPr/>
        </p:nvSpPr>
        <p:spPr>
          <a:xfrm>
            <a:off x="320040" y="914400"/>
            <a:ext cx="4068000" cy="2234520"/>
          </a:xfrm>
          <a:prstGeom prst="rect">
            <a:avLst/>
          </a:prstGeom>
          <a:solidFill>
            <a:srgbClr val="112233"/>
          </a:solidFill>
          <a:ln w="12600">
            <a:solidFill>
              <a:srgbClr val="1a3050"/>
            </a:solidFill>
            <a:round/>
          </a:ln>
          <a:effectLst>
            <a:outerShdw blurRad="50760" dir="2700000" dist="37674" rotWithShape="0">
              <a:srgbClr val="1c1c1c">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75" name="Shape 3"/>
          <p:cNvSpPr/>
          <p:nvPr/>
        </p:nvSpPr>
        <p:spPr>
          <a:xfrm>
            <a:off x="320040" y="914400"/>
            <a:ext cx="44640" cy="22345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76" name="Text 4"/>
          <p:cNvSpPr/>
          <p:nvPr/>
        </p:nvSpPr>
        <p:spPr>
          <a:xfrm>
            <a:off x="457200" y="957960"/>
            <a:ext cx="37936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Fitts's Law</a:t>
            </a:r>
            <a:endParaRPr lang="pl-PL" sz="1600" b="0" u="none" strike="noStrike">
              <a:solidFill>
                <a:srgbClr val="ffffff"/>
              </a:solidFill>
              <a:effectLst/>
              <a:uFillTx/>
              <a:latin typeface="Arial"/>
            </a:endParaRPr>
          </a:p>
        </p:txBody>
      </p:sp>
      <p:sp>
        <p:nvSpPr>
          <p:cNvPr id="1277" name="Text 5"/>
          <p:cNvSpPr/>
          <p:nvPr/>
        </p:nvSpPr>
        <p:spPr>
          <a:xfrm>
            <a:off x="457200" y="1323720"/>
            <a:ext cx="3793680" cy="501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Czas dotarcia do celu zależy od jego wielkości i odległości. Im większy cel i bliżej rąk, tym szybciej użytkownik go dotknie.</a:t>
            </a:r>
            <a:endParaRPr lang="pl-PL" sz="1200" b="0" u="none" strike="noStrike">
              <a:solidFill>
                <a:srgbClr val="ffffff"/>
              </a:solidFill>
              <a:effectLst/>
              <a:uFillTx/>
              <a:latin typeface="Arial"/>
            </a:endParaRPr>
          </a:p>
        </p:txBody>
      </p:sp>
      <p:sp>
        <p:nvSpPr>
          <p:cNvPr id="1278" name="Shape 6"/>
          <p:cNvSpPr/>
          <p:nvPr/>
        </p:nvSpPr>
        <p:spPr>
          <a:xfrm>
            <a:off x="429840" y="1920240"/>
            <a:ext cx="3885120" cy="1149120"/>
          </a:xfrm>
          <a:prstGeom prst="rect">
            <a:avLst/>
          </a:prstGeom>
          <a:solidFill>
            <a:srgbClr val="0a1929"/>
          </a:solidFill>
          <a:ln w="12600">
            <a:solidFill>
              <a:srgbClr val="1a3a5c"/>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79" name="Text 7"/>
          <p:cNvSpPr/>
          <p:nvPr/>
        </p:nvSpPr>
        <p:spPr>
          <a:xfrm>
            <a:off x="534240" y="2011680"/>
            <a:ext cx="3692880" cy="972720"/>
          </a:xfrm>
          <a:prstGeom prst="rect">
            <a:avLst/>
          </a:prstGeom>
          <a:noFill/>
          <a:ln w="0">
            <a:noFill/>
          </a:ln>
        </p:spPr>
        <p:style>
          <a:lnRef idx="0"/>
          <a:fillRef idx="0"/>
          <a:effectRef idx="0"/>
          <a:fontRef idx="minor"/>
        </p:style>
        <p:txBody>
          <a:bodyPr lIns="0" rIns="0" tIns="0" bIns="0" anchor="t">
            <a:noAutofit/>
          </a:bodyPr>
          <a:p>
            <a:pPr defTabSz="914400">
              <a:lnSpc>
                <a:spcPts val="1400"/>
              </a:lnSpc>
              <a:tabLst>
                <a:tab algn="l" pos="0"/>
              </a:tabLst>
            </a:pPr>
            <a:r>
              <a:rPr lang="pl-PL" sz="1400" b="0" u="none" strike="noStrike">
                <a:solidFill>
                  <a:srgbClr val="00e676"/>
                </a:solidFill>
                <a:effectLst/>
                <a:uFillTx/>
                <a:latin typeface="Consolas"/>
                <a:ea typeface="Consolas"/>
              </a:rPr>
              <a:t>T = a + b × log₂(2D/W)</a:t>
            </a:r>
            <a:endParaRPr lang="pl-PL" sz="1400" b="0" u="none" strike="noStrike">
              <a:solidFill>
                <a:srgbClr val="ffffff"/>
              </a:solidFill>
              <a:effectLst/>
              <a:uFillTx/>
              <a:latin typeface="Arial"/>
            </a:endParaRPr>
          </a:p>
          <a:p>
            <a:pPr defTabSz="914400">
              <a:lnSpc>
                <a:spcPts val="1400"/>
              </a:lnSpc>
              <a:tabLst>
                <a:tab algn="l" pos="0"/>
              </a:tabLst>
            </a:pPr>
            <a:endParaRPr lang="pl-PL" sz="1400" b="0" u="none" strike="noStrike">
              <a:solidFill>
                <a:srgbClr val="ffffff"/>
              </a:solidFill>
              <a:effectLst/>
              <a:uFillTx/>
              <a:latin typeface="Arial"/>
            </a:endParaRPr>
          </a:p>
          <a:p>
            <a:pPr defTabSz="914400">
              <a:lnSpc>
                <a:spcPts val="1400"/>
              </a:lnSpc>
              <a:tabLst>
                <a:tab algn="l" pos="0"/>
              </a:tabLst>
            </a:pPr>
            <a:r>
              <a:rPr lang="pl-PL" sz="1400" b="0" u="none" strike="noStrike">
                <a:solidFill>
                  <a:srgbClr val="00e676"/>
                </a:solidFill>
                <a:effectLst/>
                <a:uFillTx/>
                <a:latin typeface="Consolas"/>
                <a:ea typeface="Consolas"/>
              </a:rPr>
              <a:t>T = czas ruchu</a:t>
            </a:r>
            <a:endParaRPr lang="pl-PL" sz="1400" b="0" u="none" strike="noStrike">
              <a:solidFill>
                <a:srgbClr val="ffffff"/>
              </a:solidFill>
              <a:effectLst/>
              <a:uFillTx/>
              <a:latin typeface="Arial"/>
            </a:endParaRPr>
          </a:p>
          <a:p>
            <a:pPr defTabSz="914400">
              <a:lnSpc>
                <a:spcPts val="1400"/>
              </a:lnSpc>
              <a:tabLst>
                <a:tab algn="l" pos="0"/>
              </a:tabLst>
            </a:pPr>
            <a:r>
              <a:rPr lang="pl-PL" sz="1400" b="0" u="none" strike="noStrike">
                <a:solidFill>
                  <a:srgbClr val="00e676"/>
                </a:solidFill>
                <a:effectLst/>
                <a:uFillTx/>
                <a:latin typeface="Consolas"/>
                <a:ea typeface="Consolas"/>
              </a:rPr>
              <a:t>D = odległość do celu</a:t>
            </a:r>
            <a:endParaRPr lang="pl-PL" sz="1400" b="0" u="none" strike="noStrike">
              <a:solidFill>
                <a:srgbClr val="ffffff"/>
              </a:solidFill>
              <a:effectLst/>
              <a:uFillTx/>
              <a:latin typeface="Arial"/>
            </a:endParaRPr>
          </a:p>
          <a:p>
            <a:pPr defTabSz="914400">
              <a:lnSpc>
                <a:spcPts val="1400"/>
              </a:lnSpc>
              <a:tabLst>
                <a:tab algn="l" pos="0"/>
              </a:tabLst>
            </a:pPr>
            <a:r>
              <a:rPr lang="pl-PL" sz="1400" b="0" u="none" strike="noStrike">
                <a:solidFill>
                  <a:srgbClr val="00e676"/>
                </a:solidFill>
                <a:effectLst/>
                <a:uFillTx/>
                <a:latin typeface="Consolas"/>
                <a:ea typeface="Consolas"/>
              </a:rPr>
              <a:t>W = szerokość (rozmiar) celu</a:t>
            </a:r>
            <a:endParaRPr lang="pl-PL" sz="1400" b="0" u="none" strike="noStrike">
              <a:solidFill>
                <a:srgbClr val="ffffff"/>
              </a:solidFill>
              <a:effectLst/>
              <a:uFillTx/>
              <a:latin typeface="Arial"/>
            </a:endParaRPr>
          </a:p>
        </p:txBody>
      </p:sp>
      <p:sp>
        <p:nvSpPr>
          <p:cNvPr id="1280" name="Shape 8"/>
          <p:cNvSpPr/>
          <p:nvPr/>
        </p:nvSpPr>
        <p:spPr>
          <a:xfrm>
            <a:off x="311040" y="3344760"/>
            <a:ext cx="4056480" cy="501840"/>
          </a:xfrm>
          <a:prstGeom prst="rect">
            <a:avLst/>
          </a:prstGeom>
          <a:solidFill>
            <a:srgbClr val="0a1929"/>
          </a:solidFill>
          <a:ln w="12600">
            <a:solidFill>
              <a:srgbClr val="00d4ff"/>
            </a:solidFill>
            <a:round/>
          </a:ln>
          <a:effectLst>
            <a:outerShdw blurRad="50760" dir="2700000" dist="37674" rotWithShape="0">
              <a:srgbClr val="1c1c1c">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81" name="Text 9"/>
          <p:cNvSpPr/>
          <p:nvPr/>
        </p:nvSpPr>
        <p:spPr>
          <a:xfrm>
            <a:off x="448200" y="3372120"/>
            <a:ext cx="3782880" cy="437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trike="noStrike">
                <a:solidFill>
                  <a:srgbClr val="ccddee"/>
                </a:solidFill>
                <a:effectLst/>
                <a:uFillTx/>
                <a:latin typeface="Calibri"/>
                <a:ea typeface="DejaVu Sans"/>
              </a:rPr>
              <a:t>Wniosek</a:t>
            </a:r>
            <a:r>
              <a:rPr lang="pl-PL" sz="1100" b="0" u="none" strike="noStrike">
                <a:solidFill>
                  <a:srgbClr val="ccddee"/>
                </a:solidFill>
                <a:effectLst/>
                <a:uFillTx/>
                <a:latin typeface="Calibri"/>
                <a:ea typeface="DejaVu Sans"/>
              </a:rPr>
              <a:t>: Większe cele są łatwiejsze do trafienia. Często używane elementy powinny być duże i blisko naturalnej pozycji palca.</a:t>
            </a:r>
            <a:endParaRPr lang="pl-PL" sz="1100" b="0" u="none" strike="noStrike">
              <a:solidFill>
                <a:srgbClr val="ffffff"/>
              </a:solidFill>
              <a:effectLst/>
              <a:uFillTx/>
              <a:latin typeface="Arial"/>
            </a:endParaRPr>
          </a:p>
        </p:txBody>
      </p:sp>
      <p:sp>
        <p:nvSpPr>
          <p:cNvPr id="1282" name="Shape 10"/>
          <p:cNvSpPr/>
          <p:nvPr/>
        </p:nvSpPr>
        <p:spPr>
          <a:xfrm>
            <a:off x="324360" y="3980160"/>
            <a:ext cx="1951920" cy="712080"/>
          </a:xfrm>
          <a:prstGeom prst="rect">
            <a:avLst/>
          </a:prstGeom>
          <a:solidFill>
            <a:srgbClr val="112233"/>
          </a:solidFill>
          <a:ln w="12600">
            <a:solidFill>
              <a:srgbClr val="00d4ff"/>
            </a:solidFill>
            <a:round/>
          </a:ln>
          <a:effectLst>
            <a:outerShdw blurRad="50760" dir="2700000" dist="37674" rotWithShape="0">
              <a:srgbClr val="1c1c1c">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83" name="Text 11"/>
          <p:cNvSpPr/>
          <p:nvPr/>
        </p:nvSpPr>
        <p:spPr>
          <a:xfrm>
            <a:off x="456840" y="4006800"/>
            <a:ext cx="163440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00d4ff"/>
                </a:solidFill>
                <a:effectLst/>
                <a:uFillTx/>
                <a:latin typeface="Calibri"/>
                <a:ea typeface="DejaVu Sans"/>
              </a:rPr>
              <a:t>44px</a:t>
            </a:r>
            <a:endParaRPr lang="pl-PL" sz="2400" b="0" u="none" strike="noStrike">
              <a:solidFill>
                <a:srgbClr val="ffffff"/>
              </a:solidFill>
              <a:effectLst/>
              <a:uFillTx/>
              <a:latin typeface="Arial"/>
            </a:endParaRPr>
          </a:p>
        </p:txBody>
      </p:sp>
      <p:sp>
        <p:nvSpPr>
          <p:cNvPr id="1284" name="Text 12"/>
          <p:cNvSpPr/>
          <p:nvPr/>
        </p:nvSpPr>
        <p:spPr>
          <a:xfrm>
            <a:off x="374760" y="4408200"/>
            <a:ext cx="183348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e1e3e3"/>
                </a:solidFill>
                <a:effectLst/>
                <a:uFillTx/>
                <a:latin typeface="Calibri"/>
                <a:ea typeface="DejaVu Sans"/>
              </a:rPr>
              <a:t>min. cel dotykowy (iOS)</a:t>
            </a:r>
            <a:endParaRPr lang="pl-PL" sz="1200" b="0" u="none" strike="noStrike">
              <a:solidFill>
                <a:srgbClr val="ffffff"/>
              </a:solidFill>
              <a:effectLst/>
              <a:uFillTx/>
              <a:latin typeface="Arial"/>
            </a:endParaRPr>
          </a:p>
        </p:txBody>
      </p:sp>
      <p:sp>
        <p:nvSpPr>
          <p:cNvPr id="1285" name="Shape 13"/>
          <p:cNvSpPr/>
          <p:nvPr/>
        </p:nvSpPr>
        <p:spPr>
          <a:xfrm>
            <a:off x="2414160" y="3980160"/>
            <a:ext cx="1958400" cy="733680"/>
          </a:xfrm>
          <a:prstGeom prst="rect">
            <a:avLst/>
          </a:prstGeom>
          <a:solidFill>
            <a:srgbClr val="112233"/>
          </a:solidFill>
          <a:ln w="12600">
            <a:solidFill>
              <a:srgbClr val="ff2d78"/>
            </a:solidFill>
            <a:round/>
          </a:ln>
          <a:effectLst>
            <a:outerShdw blurRad="50760" dir="2700000" dist="37674" rotWithShape="0">
              <a:srgbClr val="1c1c1c">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86" name="Text 14"/>
          <p:cNvSpPr/>
          <p:nvPr/>
        </p:nvSpPr>
        <p:spPr>
          <a:xfrm>
            <a:off x="2597040" y="4006800"/>
            <a:ext cx="160812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400" b="1" u="none" strike="noStrike">
                <a:solidFill>
                  <a:srgbClr val="ff2d78"/>
                </a:solidFill>
                <a:effectLst/>
                <a:uFillTx/>
                <a:latin typeface="Calibri"/>
                <a:ea typeface="DejaVu Sans"/>
              </a:rPr>
              <a:t>48dp</a:t>
            </a:r>
            <a:endParaRPr lang="pl-PL" sz="2400" b="0" u="none" strike="noStrike">
              <a:solidFill>
                <a:srgbClr val="ffffff"/>
              </a:solidFill>
              <a:effectLst/>
              <a:uFillTx/>
              <a:latin typeface="Arial"/>
            </a:endParaRPr>
          </a:p>
        </p:txBody>
      </p:sp>
      <p:sp>
        <p:nvSpPr>
          <p:cNvPr id="1287" name="Text 15"/>
          <p:cNvSpPr/>
          <p:nvPr/>
        </p:nvSpPr>
        <p:spPr>
          <a:xfrm>
            <a:off x="2475720" y="4408200"/>
            <a:ext cx="183924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e1e3e3"/>
                </a:solidFill>
                <a:effectLst/>
                <a:uFillTx/>
                <a:latin typeface="Calibri"/>
                <a:ea typeface="DejaVu Sans"/>
              </a:rPr>
              <a:t>min. cel dotykowy (Android)</a:t>
            </a:r>
            <a:endParaRPr lang="pl-PL" sz="1200" b="0" u="none" strike="noStrike">
              <a:solidFill>
                <a:srgbClr val="ffffff"/>
              </a:solidFill>
              <a:effectLst/>
              <a:uFillTx/>
              <a:latin typeface="Arial"/>
            </a:endParaRPr>
          </a:p>
        </p:txBody>
      </p:sp>
      <p:sp>
        <p:nvSpPr>
          <p:cNvPr id="1288" name="Shape 16"/>
          <p:cNvSpPr/>
          <p:nvPr/>
        </p:nvSpPr>
        <p:spPr>
          <a:xfrm>
            <a:off x="4754880" y="914400"/>
            <a:ext cx="4068000" cy="2987280"/>
          </a:xfrm>
          <a:prstGeom prst="rect">
            <a:avLst/>
          </a:prstGeom>
          <a:solidFill>
            <a:srgbClr val="112233"/>
          </a:solidFill>
          <a:ln w="12600">
            <a:solidFill>
              <a:srgbClr val="1a3050"/>
            </a:solidFill>
            <a:round/>
          </a:ln>
          <a:effectLst>
            <a:outerShdw blurRad="50760" dir="2700000" dist="37674" rotWithShape="0">
              <a:srgbClr val="1c1c1c">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289" name="Shape 17"/>
          <p:cNvSpPr/>
          <p:nvPr/>
        </p:nvSpPr>
        <p:spPr>
          <a:xfrm>
            <a:off x="4754880" y="914400"/>
            <a:ext cx="44640" cy="298728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90" name="Text 18"/>
          <p:cNvSpPr/>
          <p:nvPr/>
        </p:nvSpPr>
        <p:spPr>
          <a:xfrm>
            <a:off x="4892040" y="94284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Implikacje dla mobile</a:t>
            </a:r>
            <a:endParaRPr lang="pl-PL" sz="1600" b="0" u="none" strike="noStrike">
              <a:solidFill>
                <a:srgbClr val="ffffff"/>
              </a:solidFill>
              <a:effectLst/>
              <a:uFillTx/>
              <a:latin typeface="Arial"/>
            </a:endParaRPr>
          </a:p>
        </p:txBody>
      </p:sp>
      <p:sp>
        <p:nvSpPr>
          <p:cNvPr id="1291" name="Shape 19"/>
          <p:cNvSpPr/>
          <p:nvPr/>
        </p:nvSpPr>
        <p:spPr>
          <a:xfrm>
            <a:off x="4892040" y="1371600"/>
            <a:ext cx="254880" cy="254880"/>
          </a:xfrm>
          <a:prstGeom prst="ellipse">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92" name="Text 20"/>
          <p:cNvSpPr/>
          <p:nvPr/>
        </p:nvSpPr>
        <p:spPr>
          <a:xfrm>
            <a:off x="4892040" y="137160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1</a:t>
            </a:r>
            <a:endParaRPr lang="pl-PL" sz="1100" b="0" u="none" strike="noStrike">
              <a:solidFill>
                <a:srgbClr val="ffffff"/>
              </a:solidFill>
              <a:effectLst/>
              <a:uFillTx/>
              <a:latin typeface="Arial"/>
            </a:endParaRPr>
          </a:p>
        </p:txBody>
      </p:sp>
      <p:sp>
        <p:nvSpPr>
          <p:cNvPr id="1293" name="Text 21"/>
          <p:cNvSpPr/>
          <p:nvPr/>
        </p:nvSpPr>
        <p:spPr>
          <a:xfrm>
            <a:off x="5239440" y="12675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Rozmiar celów dotykowych</a:t>
            </a:r>
            <a:endParaRPr lang="pl-PL" sz="1400" b="0" u="none" strike="noStrike">
              <a:solidFill>
                <a:srgbClr val="ffffff"/>
              </a:solidFill>
              <a:effectLst/>
              <a:uFillTx/>
              <a:latin typeface="Arial"/>
            </a:endParaRPr>
          </a:p>
        </p:txBody>
      </p:sp>
      <p:sp>
        <p:nvSpPr>
          <p:cNvPr id="1294" name="Text 22"/>
          <p:cNvSpPr/>
          <p:nvPr/>
        </p:nvSpPr>
        <p:spPr>
          <a:xfrm>
            <a:off x="5239440" y="1504080"/>
            <a:ext cx="3197160" cy="327960"/>
          </a:xfrm>
          <a:prstGeom prst="rect">
            <a:avLst/>
          </a:prstGeom>
          <a:noFill/>
          <a:ln w="0">
            <a:noFill/>
          </a:ln>
        </p:spPr>
        <p:style>
          <a:lnRef idx="0"/>
          <a:fillRef idx="0"/>
          <a:effectRef idx="0"/>
          <a:fontRef idx="minor"/>
        </p:style>
        <p:txBody>
          <a:bodyPr lIns="0" rIns="0" tIns="0" bIns="0" anchor="ctr">
            <a:noAutofit/>
          </a:bodyPr>
          <a:p>
            <a:pPr defTabSz="914400">
              <a:lnSpc>
                <a:spcPts val="1199"/>
              </a:lnSpc>
              <a:tabLst>
                <a:tab algn="l" pos="0"/>
              </a:tabLst>
            </a:pPr>
            <a:r>
              <a:rPr lang="pl-PL" sz="1200" b="0" u="none" strike="noStrike">
                <a:solidFill>
                  <a:srgbClr val="8899aa"/>
                </a:solidFill>
                <a:effectLst/>
                <a:uFillTx/>
                <a:latin typeface="Calibri"/>
                <a:ea typeface="DejaVu Sans"/>
              </a:rPr>
              <a:t>Min. 44–48px. Ikony mogą być mniejsze, ale obszar dotykowy musi być wystarczający.</a:t>
            </a:r>
            <a:endParaRPr lang="pl-PL" sz="1200" b="0" u="none" strike="noStrike">
              <a:solidFill>
                <a:srgbClr val="ffffff"/>
              </a:solidFill>
              <a:effectLst/>
              <a:uFillTx/>
              <a:latin typeface="Arial"/>
            </a:endParaRPr>
          </a:p>
        </p:txBody>
      </p:sp>
      <p:sp>
        <p:nvSpPr>
          <p:cNvPr id="1295" name="Shape 23"/>
          <p:cNvSpPr/>
          <p:nvPr/>
        </p:nvSpPr>
        <p:spPr>
          <a:xfrm>
            <a:off x="4892040" y="2030040"/>
            <a:ext cx="254880" cy="254880"/>
          </a:xfrm>
          <a:prstGeom prst="ellipse">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96" name="Text 24"/>
          <p:cNvSpPr/>
          <p:nvPr/>
        </p:nvSpPr>
        <p:spPr>
          <a:xfrm>
            <a:off x="4892040" y="20300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2</a:t>
            </a:r>
            <a:endParaRPr lang="pl-PL" sz="1100" b="0" u="none" strike="noStrike">
              <a:solidFill>
                <a:srgbClr val="ffffff"/>
              </a:solidFill>
              <a:effectLst/>
              <a:uFillTx/>
              <a:latin typeface="Arial"/>
            </a:endParaRPr>
          </a:p>
        </p:txBody>
      </p:sp>
      <p:sp>
        <p:nvSpPr>
          <p:cNvPr id="1297" name="Text 25"/>
          <p:cNvSpPr/>
          <p:nvPr/>
        </p:nvSpPr>
        <p:spPr>
          <a:xfrm>
            <a:off x="5239440" y="192600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Strefa kciuka</a:t>
            </a:r>
            <a:endParaRPr lang="pl-PL" sz="1400" b="0" u="none" strike="noStrike">
              <a:solidFill>
                <a:srgbClr val="ffffff"/>
              </a:solidFill>
              <a:effectLst/>
              <a:uFillTx/>
              <a:latin typeface="Arial"/>
            </a:endParaRPr>
          </a:p>
        </p:txBody>
      </p:sp>
      <p:sp>
        <p:nvSpPr>
          <p:cNvPr id="1298" name="Text 26"/>
          <p:cNvSpPr/>
          <p:nvPr/>
        </p:nvSpPr>
        <p:spPr>
          <a:xfrm>
            <a:off x="5239440" y="2162160"/>
            <a:ext cx="3197160" cy="327960"/>
          </a:xfrm>
          <a:prstGeom prst="rect">
            <a:avLst/>
          </a:prstGeom>
          <a:noFill/>
          <a:ln w="0">
            <a:noFill/>
          </a:ln>
        </p:spPr>
        <p:style>
          <a:lnRef idx="0"/>
          <a:fillRef idx="0"/>
          <a:effectRef idx="0"/>
          <a:fontRef idx="minor"/>
        </p:style>
        <p:txBody>
          <a:bodyPr lIns="0" rIns="0" tIns="0" bIns="0" anchor="ctr">
            <a:noAutofit/>
          </a:bodyPr>
          <a:p>
            <a:pPr defTabSz="914400">
              <a:lnSpc>
                <a:spcPts val="1199"/>
              </a:lnSpc>
              <a:tabLst>
                <a:tab algn="l" pos="0"/>
              </a:tabLst>
            </a:pPr>
            <a:r>
              <a:rPr lang="pl-PL" sz="1200" b="0" u="none" strike="noStrike">
                <a:solidFill>
                  <a:srgbClr val="8899aa"/>
                </a:solidFill>
                <a:effectLst/>
                <a:uFillTx/>
                <a:latin typeface="Calibri"/>
                <a:ea typeface="DejaVu Sans"/>
              </a:rPr>
              <a:t>Umieszczaj kluczowe elementy w dolnej połowie ekranu - w zasięgu kciuka.</a:t>
            </a:r>
            <a:endParaRPr lang="pl-PL" sz="1200" b="0" u="none" strike="noStrike">
              <a:solidFill>
                <a:srgbClr val="ffffff"/>
              </a:solidFill>
              <a:effectLst/>
              <a:uFillTx/>
              <a:latin typeface="Arial"/>
            </a:endParaRPr>
          </a:p>
        </p:txBody>
      </p:sp>
      <p:sp>
        <p:nvSpPr>
          <p:cNvPr id="1299" name="Shape 27"/>
          <p:cNvSpPr/>
          <p:nvPr/>
        </p:nvSpPr>
        <p:spPr>
          <a:xfrm>
            <a:off x="4892040" y="2688480"/>
            <a:ext cx="254880" cy="254880"/>
          </a:xfrm>
          <a:prstGeom prst="ellipse">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00" name="Text 28"/>
          <p:cNvSpPr/>
          <p:nvPr/>
        </p:nvSpPr>
        <p:spPr>
          <a:xfrm>
            <a:off x="4892040" y="26884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3</a:t>
            </a:r>
            <a:endParaRPr lang="pl-PL" sz="1100" b="0" u="none" strike="noStrike">
              <a:solidFill>
                <a:srgbClr val="ffffff"/>
              </a:solidFill>
              <a:effectLst/>
              <a:uFillTx/>
              <a:latin typeface="Arial"/>
            </a:endParaRPr>
          </a:p>
        </p:txBody>
      </p:sp>
      <p:sp>
        <p:nvSpPr>
          <p:cNvPr id="1301" name="Text 29"/>
          <p:cNvSpPr/>
          <p:nvPr/>
        </p:nvSpPr>
        <p:spPr>
          <a:xfrm>
            <a:off x="5239440" y="25844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Odstępy między elementami</a:t>
            </a:r>
            <a:endParaRPr lang="pl-PL" sz="1400" b="0" u="none" strike="noStrike">
              <a:solidFill>
                <a:srgbClr val="ffffff"/>
              </a:solidFill>
              <a:effectLst/>
              <a:uFillTx/>
              <a:latin typeface="Arial"/>
            </a:endParaRPr>
          </a:p>
        </p:txBody>
      </p:sp>
      <p:sp>
        <p:nvSpPr>
          <p:cNvPr id="1302" name="Text 30"/>
          <p:cNvSpPr/>
          <p:nvPr/>
        </p:nvSpPr>
        <p:spPr>
          <a:xfrm>
            <a:off x="5239440" y="2820600"/>
            <a:ext cx="3197160" cy="327960"/>
          </a:xfrm>
          <a:prstGeom prst="rect">
            <a:avLst/>
          </a:prstGeom>
          <a:noFill/>
          <a:ln w="0">
            <a:noFill/>
          </a:ln>
        </p:spPr>
        <p:style>
          <a:lnRef idx="0"/>
          <a:fillRef idx="0"/>
          <a:effectRef idx="0"/>
          <a:fontRef idx="minor"/>
        </p:style>
        <p:txBody>
          <a:bodyPr lIns="0" rIns="0" tIns="0" bIns="0" anchor="ctr">
            <a:noAutofit/>
          </a:bodyPr>
          <a:p>
            <a:pPr defTabSz="914400">
              <a:lnSpc>
                <a:spcPts val="1199"/>
              </a:lnSpc>
              <a:tabLst>
                <a:tab algn="l" pos="0"/>
              </a:tabLst>
            </a:pPr>
            <a:r>
              <a:rPr lang="pl-PL" sz="1200" b="0" u="none" strike="noStrike">
                <a:solidFill>
                  <a:srgbClr val="8899aa"/>
                </a:solidFill>
                <a:effectLst/>
                <a:uFillTx/>
                <a:latin typeface="Calibri"/>
                <a:ea typeface="DejaVu Sans"/>
              </a:rPr>
              <a:t>Min. 8px między celami dotykowymi. Zapobiega przypadkowym dotknięciom.</a:t>
            </a:r>
            <a:endParaRPr lang="pl-PL" sz="1200" b="0" u="none" strike="noStrike">
              <a:solidFill>
                <a:srgbClr val="ffffff"/>
              </a:solidFill>
              <a:effectLst/>
              <a:uFillTx/>
              <a:latin typeface="Arial"/>
            </a:endParaRPr>
          </a:p>
        </p:txBody>
      </p:sp>
      <p:sp>
        <p:nvSpPr>
          <p:cNvPr id="1303" name="Shape 31"/>
          <p:cNvSpPr/>
          <p:nvPr/>
        </p:nvSpPr>
        <p:spPr>
          <a:xfrm>
            <a:off x="4892040" y="3346560"/>
            <a:ext cx="254880" cy="254880"/>
          </a:xfrm>
          <a:prstGeom prst="ellipse">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04" name="Text 32"/>
          <p:cNvSpPr/>
          <p:nvPr/>
        </p:nvSpPr>
        <p:spPr>
          <a:xfrm>
            <a:off x="4892040" y="334656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4</a:t>
            </a:r>
            <a:endParaRPr lang="pl-PL" sz="1100" b="0" u="none" strike="noStrike">
              <a:solidFill>
                <a:srgbClr val="ffffff"/>
              </a:solidFill>
              <a:effectLst/>
              <a:uFillTx/>
              <a:latin typeface="Arial"/>
            </a:endParaRPr>
          </a:p>
        </p:txBody>
      </p:sp>
      <p:sp>
        <p:nvSpPr>
          <p:cNvPr id="1305" name="Text 33"/>
          <p:cNvSpPr/>
          <p:nvPr/>
        </p:nvSpPr>
        <p:spPr>
          <a:xfrm>
            <a:off x="5239440" y="324252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Rozmieszczenie CTA</a:t>
            </a:r>
            <a:endParaRPr lang="pl-PL" sz="1400" b="0" u="none" strike="noStrike">
              <a:solidFill>
                <a:srgbClr val="ffffff"/>
              </a:solidFill>
              <a:effectLst/>
              <a:uFillTx/>
              <a:latin typeface="Arial"/>
            </a:endParaRPr>
          </a:p>
        </p:txBody>
      </p:sp>
      <p:sp>
        <p:nvSpPr>
          <p:cNvPr id="1306" name="Text 34"/>
          <p:cNvSpPr/>
          <p:nvPr/>
        </p:nvSpPr>
        <p:spPr>
          <a:xfrm>
            <a:off x="5239440" y="3479040"/>
            <a:ext cx="3197160" cy="327960"/>
          </a:xfrm>
          <a:prstGeom prst="rect">
            <a:avLst/>
          </a:prstGeom>
          <a:noFill/>
          <a:ln w="0">
            <a:noFill/>
          </a:ln>
        </p:spPr>
        <p:style>
          <a:lnRef idx="0"/>
          <a:fillRef idx="0"/>
          <a:effectRef idx="0"/>
          <a:fontRef idx="minor"/>
        </p:style>
        <p:txBody>
          <a:bodyPr lIns="0" rIns="0" tIns="0" bIns="0" anchor="ctr">
            <a:noAutofit/>
          </a:bodyPr>
          <a:p>
            <a:pPr defTabSz="914400">
              <a:lnSpc>
                <a:spcPts val="1199"/>
              </a:lnSpc>
              <a:tabLst>
                <a:tab algn="l" pos="0"/>
              </a:tabLst>
            </a:pPr>
            <a:r>
              <a:rPr lang="pl-PL" sz="1200" b="0" u="none" strike="noStrike">
                <a:solidFill>
                  <a:srgbClr val="8899aa"/>
                </a:solidFill>
                <a:effectLst/>
                <a:uFillTx/>
                <a:latin typeface="Calibri"/>
                <a:ea typeface="DejaVu Sans"/>
              </a:rPr>
              <a:t>Główne przyciski akcji (FAB, CTA) na dole ekranu, więc łatwo dostępne.</a:t>
            </a:r>
            <a:endParaRPr lang="pl-PL" sz="1200" b="0" u="none" strike="noStrike">
              <a:solidFill>
                <a:srgbClr val="ffffff"/>
              </a:solidFill>
              <a:effectLst/>
              <a:uFillTx/>
              <a:latin typeface="Arial"/>
            </a:endParaRPr>
          </a:p>
        </p:txBody>
      </p:sp>
      <p:sp>
        <p:nvSpPr>
          <p:cNvPr id="1307" name="Shape 35"/>
          <p:cNvSpPr/>
          <p:nvPr/>
        </p:nvSpPr>
        <p:spPr>
          <a:xfrm>
            <a:off x="4754880" y="4010760"/>
            <a:ext cx="4068000" cy="717840"/>
          </a:xfrm>
          <a:prstGeom prst="rect">
            <a:avLst/>
          </a:prstGeom>
          <a:solidFill>
            <a:srgbClr val="0a1929"/>
          </a:solidFill>
          <a:ln w="12600">
            <a:solidFill>
              <a:srgbClr val="ff9100"/>
            </a:solidFill>
            <a:round/>
          </a:ln>
          <a:effectLst>
            <a:outerShdw blurRad="50760" dir="2700000" dist="37674" rotWithShape="0">
              <a:srgbClr val="1c1c1c">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08" name="Text 36"/>
          <p:cNvSpPr/>
          <p:nvPr/>
        </p:nvSpPr>
        <p:spPr>
          <a:xfrm>
            <a:off x="4892040" y="4051440"/>
            <a:ext cx="3793680" cy="640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ff9100"/>
                </a:solidFill>
                <a:effectLst/>
                <a:uFillTx/>
                <a:latin typeface="Calibri"/>
                <a:ea typeface="DejaVu Sans"/>
              </a:rPr>
              <a:t>⚠ </a:t>
            </a:r>
            <a:r>
              <a:rPr lang="pl-PL" sz="1200" b="1" u="none" strike="noStrike">
                <a:solidFill>
                  <a:srgbClr val="ff9100"/>
                </a:solidFill>
                <a:effectLst/>
                <a:uFillTx/>
                <a:latin typeface="Calibri"/>
                <a:ea typeface="DejaVu Sans"/>
              </a:rPr>
              <a:t>Edge Swiping</a:t>
            </a:r>
            <a:r>
              <a:rPr lang="pl-PL" sz="1200" b="0" u="none" strike="noStrike">
                <a:solidFill>
                  <a:srgbClr val="ff9100"/>
                </a:solidFill>
                <a:effectLst/>
                <a:uFillTx/>
                <a:latin typeface="Calibri"/>
                <a:ea typeface="DejaVu Sans"/>
              </a:rPr>
              <a:t>: systemowe gesty z krawędzi ekranu mają priorytet. Unikaj kluczowych elementów przy krawędziach, zostaw marginesy bezpieczeństwa.</a:t>
            </a:r>
            <a:endParaRPr lang="pl-PL" sz="1200" b="0" u="none" strike="noStrike">
              <a:solidFill>
                <a:srgbClr val="ffffff"/>
              </a:solidFill>
              <a:effectLst/>
              <a:uFillTx/>
              <a:latin typeface="Arial"/>
            </a:endParaRPr>
          </a:p>
        </p:txBody>
      </p:sp>
      <p:sp>
        <p:nvSpPr>
          <p:cNvPr id="1309" name="Text 39"/>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16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310" name="Grupa 43"/>
          <p:cNvGrpSpPr/>
          <p:nvPr/>
        </p:nvGrpSpPr>
        <p:grpSpPr>
          <a:xfrm>
            <a:off x="-2520" y="4884840"/>
            <a:ext cx="9145440" cy="259200"/>
            <a:chOff x="-2520" y="4884840"/>
            <a:chExt cx="9145440" cy="259200"/>
          </a:xfrm>
        </p:grpSpPr>
        <p:sp>
          <p:nvSpPr>
            <p:cNvPr id="1311"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12"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313" name="Grupa 46"/>
            <p:cNvGrpSpPr/>
            <p:nvPr/>
          </p:nvGrpSpPr>
          <p:grpSpPr>
            <a:xfrm>
              <a:off x="-2520" y="5099400"/>
              <a:ext cx="9145440" cy="44640"/>
              <a:chOff x="-2520" y="5099400"/>
              <a:chExt cx="9145440" cy="44640"/>
            </a:xfrm>
          </p:grpSpPr>
          <p:sp>
            <p:nvSpPr>
              <p:cNvPr id="1314"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15"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16"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17"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18"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19"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0"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1"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2"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3"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4"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5"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6"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7"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8"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9"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30"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31" name="Shape 52"/>
              <p:cNvSpPr/>
              <p:nvPr/>
            </p:nvSpPr>
            <p:spPr>
              <a:xfrm>
                <a:off x="33796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2"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3"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4"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5"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6"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7"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8"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39"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0"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1"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2"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3"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4"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5"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6"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7"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8"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49"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0"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1"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2"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3"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4"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5"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6"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7"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8"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59"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360" name="Shape 0"/>
          <p:cNvSpPr/>
          <p:nvPr/>
        </p:nvSpPr>
        <p:spPr>
          <a:xfrm>
            <a:off x="320040" y="255960"/>
            <a:ext cx="53640" cy="501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61"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Mobile First Design Principles</a:t>
            </a:r>
            <a:endParaRPr lang="pl-PL" sz="2200" b="0" u="none" strike="noStrike">
              <a:solidFill>
                <a:srgbClr val="ffffff"/>
              </a:solidFill>
              <a:effectLst/>
              <a:uFillTx/>
              <a:latin typeface="Arial"/>
            </a:endParaRPr>
          </a:p>
        </p:txBody>
      </p:sp>
      <p:sp>
        <p:nvSpPr>
          <p:cNvPr id="1362" name="Shape 2"/>
          <p:cNvSpPr/>
          <p:nvPr/>
        </p:nvSpPr>
        <p:spPr>
          <a:xfrm>
            <a:off x="320040" y="914400"/>
            <a:ext cx="3938400" cy="114660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63" name="Shape 3"/>
          <p:cNvSpPr/>
          <p:nvPr/>
        </p:nvSpPr>
        <p:spPr>
          <a:xfrm>
            <a:off x="320040" y="914400"/>
            <a:ext cx="44640" cy="114660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64" name="Text 4"/>
          <p:cNvSpPr/>
          <p:nvPr/>
        </p:nvSpPr>
        <p:spPr>
          <a:xfrm>
            <a:off x="464760" y="96516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Podejście Mobile First</a:t>
            </a:r>
            <a:endParaRPr lang="pl-PL" sz="1600" b="0" u="none" strike="noStrike">
              <a:solidFill>
                <a:srgbClr val="ffffff"/>
              </a:solidFill>
              <a:effectLst/>
              <a:uFillTx/>
              <a:latin typeface="Arial"/>
            </a:endParaRPr>
          </a:p>
        </p:txBody>
      </p:sp>
      <p:sp>
        <p:nvSpPr>
          <p:cNvPr id="1365" name="Text 5"/>
          <p:cNvSpPr/>
          <p:nvPr/>
        </p:nvSpPr>
        <p:spPr>
          <a:xfrm>
            <a:off x="475560" y="1307520"/>
            <a:ext cx="3775320" cy="547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Projektowanie zaczynając od najmniejszych ekranów, stopniowo rozszerzając funkcjonalność. Content is king; priorytetyzacja treści nad dekoracją.</a:t>
            </a:r>
            <a:endParaRPr lang="pl-PL" sz="1200" b="0" u="none" strike="noStrike">
              <a:solidFill>
                <a:srgbClr val="ffffff"/>
              </a:solidFill>
              <a:effectLst/>
              <a:uFillTx/>
              <a:latin typeface="Arial"/>
            </a:endParaRPr>
          </a:p>
        </p:txBody>
      </p:sp>
      <p:sp>
        <p:nvSpPr>
          <p:cNvPr id="1366" name="Shape 6"/>
          <p:cNvSpPr/>
          <p:nvPr/>
        </p:nvSpPr>
        <p:spPr>
          <a:xfrm>
            <a:off x="320040" y="2139120"/>
            <a:ext cx="3938400" cy="798840"/>
          </a:xfrm>
          <a:prstGeom prst="rect">
            <a:avLst/>
          </a:prstGeom>
          <a:solidFill>
            <a:srgbClr val="0a1929"/>
          </a:solidFill>
          <a:ln w="12600">
            <a:solidFill>
              <a:srgbClr val="1de9b6"/>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67" name="Text 7"/>
          <p:cNvSpPr/>
          <p:nvPr/>
        </p:nvSpPr>
        <p:spPr>
          <a:xfrm>
            <a:off x="419760" y="2164320"/>
            <a:ext cx="3739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trike="noStrike">
                <a:solidFill>
                  <a:srgbClr val="1de9b6"/>
                </a:solidFill>
                <a:effectLst/>
                <a:uFillTx/>
                <a:latin typeface="Calibri"/>
                <a:ea typeface="DejaVu Sans"/>
              </a:rPr>
              <a:t>Progressive Enhancement ✓</a:t>
            </a:r>
            <a:endParaRPr lang="pl-PL" sz="1100" b="0" u="none" strike="noStrike">
              <a:solidFill>
                <a:srgbClr val="ffffff"/>
              </a:solidFill>
              <a:effectLst/>
              <a:uFillTx/>
              <a:latin typeface="Arial"/>
            </a:endParaRPr>
          </a:p>
        </p:txBody>
      </p:sp>
      <p:sp>
        <p:nvSpPr>
          <p:cNvPr id="1368" name="Text 8"/>
          <p:cNvSpPr/>
          <p:nvPr/>
        </p:nvSpPr>
        <p:spPr>
          <a:xfrm>
            <a:off x="419760" y="2406600"/>
            <a:ext cx="3739680" cy="501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e1e3e3"/>
                </a:solidFill>
                <a:effectLst/>
                <a:uFillTx/>
                <a:latin typeface="Calibri"/>
                <a:ea typeface="DejaVu Sans"/>
              </a:rPr>
              <a:t>Zacznij od podstaw, dodawaj funkcje dla większych ekranów. Solidna podstawa + rozszerzenia.</a:t>
            </a:r>
            <a:endParaRPr lang="pl-PL" sz="1100" b="0" u="none" strike="noStrike">
              <a:solidFill>
                <a:srgbClr val="ffffff"/>
              </a:solidFill>
              <a:effectLst/>
              <a:uFillTx/>
              <a:latin typeface="Arial"/>
            </a:endParaRPr>
          </a:p>
        </p:txBody>
      </p:sp>
      <p:sp>
        <p:nvSpPr>
          <p:cNvPr id="1369" name="Shape 9"/>
          <p:cNvSpPr/>
          <p:nvPr/>
        </p:nvSpPr>
        <p:spPr>
          <a:xfrm>
            <a:off x="320040" y="3074760"/>
            <a:ext cx="3938400" cy="781200"/>
          </a:xfrm>
          <a:prstGeom prst="rect">
            <a:avLst/>
          </a:prstGeom>
          <a:solidFill>
            <a:srgbClr val="0a1929"/>
          </a:solidFill>
          <a:ln w="12600">
            <a:solidFill>
              <a:srgbClr val="ff910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70" name="Text 10"/>
          <p:cNvSpPr/>
          <p:nvPr/>
        </p:nvSpPr>
        <p:spPr>
          <a:xfrm>
            <a:off x="419760" y="3081960"/>
            <a:ext cx="3739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trike="noStrike">
                <a:solidFill>
                  <a:srgbClr val="ff9100"/>
                </a:solidFill>
                <a:effectLst/>
                <a:uFillTx/>
                <a:latin typeface="Calibri"/>
                <a:ea typeface="DejaVu Sans"/>
              </a:rPr>
              <a:t>Graceful Degradation ✗</a:t>
            </a:r>
            <a:endParaRPr lang="pl-PL" sz="1100" b="0" u="none" strike="noStrike">
              <a:solidFill>
                <a:srgbClr val="ffffff"/>
              </a:solidFill>
              <a:effectLst/>
              <a:uFillTx/>
              <a:latin typeface="Arial"/>
            </a:endParaRPr>
          </a:p>
        </p:txBody>
      </p:sp>
      <p:sp>
        <p:nvSpPr>
          <p:cNvPr id="1371" name="Text 11"/>
          <p:cNvSpPr/>
          <p:nvPr/>
        </p:nvSpPr>
        <p:spPr>
          <a:xfrm>
            <a:off x="419760" y="3324240"/>
            <a:ext cx="3739680" cy="501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e1e3e3"/>
                </a:solidFill>
                <a:effectLst/>
                <a:uFillTx/>
                <a:latin typeface="Calibri"/>
                <a:ea typeface="DejaVu Sans"/>
              </a:rPr>
              <a:t>Zacznij od pełnej wersji, upraszczaj dla mniejszych. Starsze podejście - mniej efektywne.</a:t>
            </a:r>
            <a:endParaRPr lang="pl-PL" sz="1100" b="0" u="none" strike="noStrike">
              <a:solidFill>
                <a:srgbClr val="ffffff"/>
              </a:solidFill>
              <a:effectLst/>
              <a:uFillTx/>
              <a:latin typeface="Arial"/>
            </a:endParaRPr>
          </a:p>
        </p:txBody>
      </p:sp>
      <p:sp>
        <p:nvSpPr>
          <p:cNvPr id="1372" name="Shape 12"/>
          <p:cNvSpPr/>
          <p:nvPr/>
        </p:nvSpPr>
        <p:spPr>
          <a:xfrm>
            <a:off x="317880" y="3990240"/>
            <a:ext cx="3938400" cy="560160"/>
          </a:xfrm>
          <a:prstGeom prst="rect">
            <a:avLst/>
          </a:prstGeom>
          <a:solidFill>
            <a:srgbClr val="0a1929"/>
          </a:solidFill>
          <a:ln w="12600">
            <a:solidFill>
              <a:srgbClr val="1de9b6"/>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73" name="Text 13"/>
          <p:cNvSpPr/>
          <p:nvPr/>
        </p:nvSpPr>
        <p:spPr>
          <a:xfrm>
            <a:off x="447480" y="4007520"/>
            <a:ext cx="3708360" cy="510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1de9b6"/>
                </a:solidFill>
                <a:effectLst/>
                <a:uFillTx/>
                <a:latin typeface="Calibri"/>
                <a:ea typeface="DejaVu Sans"/>
              </a:rPr>
              <a:t>58% ruchu internetowego pochodzi z urządzeń mobilnych. Projektując od desktopa, pomijasz większość użytkowników.</a:t>
            </a:r>
            <a:endParaRPr lang="pl-PL" sz="1100" b="0" u="none" strike="noStrike">
              <a:solidFill>
                <a:srgbClr val="ffffff"/>
              </a:solidFill>
              <a:effectLst/>
              <a:uFillTx/>
              <a:latin typeface="Arial"/>
            </a:endParaRPr>
          </a:p>
        </p:txBody>
      </p:sp>
      <p:sp>
        <p:nvSpPr>
          <p:cNvPr id="1374" name="Shape 14"/>
          <p:cNvSpPr/>
          <p:nvPr/>
        </p:nvSpPr>
        <p:spPr>
          <a:xfrm>
            <a:off x="4695480" y="914400"/>
            <a:ext cx="4068000" cy="29116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75" name="Shape 15"/>
          <p:cNvSpPr/>
          <p:nvPr/>
        </p:nvSpPr>
        <p:spPr>
          <a:xfrm>
            <a:off x="4695480" y="914400"/>
            <a:ext cx="44640" cy="291168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76" name="Text 16"/>
          <p:cNvSpPr/>
          <p:nvPr/>
        </p:nvSpPr>
        <p:spPr>
          <a:xfrm>
            <a:off x="4892040" y="95796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Kluczowe zasady</a:t>
            </a:r>
            <a:endParaRPr lang="pl-PL" sz="1600" b="0" u="none" strike="noStrike">
              <a:solidFill>
                <a:srgbClr val="ffffff"/>
              </a:solidFill>
              <a:effectLst/>
              <a:uFillTx/>
              <a:latin typeface="Arial"/>
            </a:endParaRPr>
          </a:p>
        </p:txBody>
      </p:sp>
      <p:sp>
        <p:nvSpPr>
          <p:cNvPr id="1377" name="Shape 17"/>
          <p:cNvSpPr/>
          <p:nvPr/>
        </p:nvSpPr>
        <p:spPr>
          <a:xfrm>
            <a:off x="4892040" y="1460880"/>
            <a:ext cx="254880" cy="25488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78" name="Text 18"/>
          <p:cNvSpPr/>
          <p:nvPr/>
        </p:nvSpPr>
        <p:spPr>
          <a:xfrm>
            <a:off x="4892040" y="14608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1</a:t>
            </a:r>
            <a:endParaRPr lang="pl-PL" sz="1100" b="0" u="none" strike="noStrike">
              <a:solidFill>
                <a:srgbClr val="ffffff"/>
              </a:solidFill>
              <a:effectLst/>
              <a:uFillTx/>
              <a:latin typeface="Arial"/>
            </a:endParaRPr>
          </a:p>
        </p:txBody>
      </p:sp>
      <p:sp>
        <p:nvSpPr>
          <p:cNvPr id="1379" name="Text 19"/>
          <p:cNvSpPr/>
          <p:nvPr/>
        </p:nvSpPr>
        <p:spPr>
          <a:xfrm>
            <a:off x="5239440" y="13269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Priorytetyzacja treści</a:t>
            </a:r>
            <a:endParaRPr lang="pl-PL" sz="1400" b="0" u="none" strike="noStrike">
              <a:solidFill>
                <a:srgbClr val="ffffff"/>
              </a:solidFill>
              <a:effectLst/>
              <a:uFillTx/>
              <a:latin typeface="Arial"/>
            </a:endParaRPr>
          </a:p>
        </p:txBody>
      </p:sp>
      <p:sp>
        <p:nvSpPr>
          <p:cNvPr id="1380" name="Text 20"/>
          <p:cNvSpPr/>
          <p:nvPr/>
        </p:nvSpPr>
        <p:spPr>
          <a:xfrm>
            <a:off x="5239440" y="1542600"/>
            <a:ext cx="3473640" cy="32796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1200" b="0" u="none" strike="noStrike">
                <a:solidFill>
                  <a:srgbClr val="8899aa"/>
                </a:solidFill>
                <a:effectLst/>
                <a:uFillTx/>
                <a:latin typeface="Calibri"/>
                <a:ea typeface="DejaVu Sans"/>
              </a:rPr>
              <a:t>Pokaż tylko co niezbędne. Każdy element musi mieć jasny cel.</a:t>
            </a:r>
            <a:endParaRPr lang="pl-PL" sz="1200" b="0" u="none" strike="noStrike">
              <a:solidFill>
                <a:srgbClr val="ffffff"/>
              </a:solidFill>
              <a:effectLst/>
              <a:uFillTx/>
              <a:latin typeface="Arial"/>
            </a:endParaRPr>
          </a:p>
        </p:txBody>
      </p:sp>
      <p:sp>
        <p:nvSpPr>
          <p:cNvPr id="1381" name="Shape 21"/>
          <p:cNvSpPr/>
          <p:nvPr/>
        </p:nvSpPr>
        <p:spPr>
          <a:xfrm>
            <a:off x="4892040" y="2030040"/>
            <a:ext cx="254880" cy="25488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82" name="Text 22"/>
          <p:cNvSpPr/>
          <p:nvPr/>
        </p:nvSpPr>
        <p:spPr>
          <a:xfrm>
            <a:off x="4892040" y="20300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2</a:t>
            </a:r>
            <a:endParaRPr lang="pl-PL" sz="1100" b="0" u="none" strike="noStrike">
              <a:solidFill>
                <a:srgbClr val="ffffff"/>
              </a:solidFill>
              <a:effectLst/>
              <a:uFillTx/>
              <a:latin typeface="Arial"/>
            </a:endParaRPr>
          </a:p>
        </p:txBody>
      </p:sp>
      <p:sp>
        <p:nvSpPr>
          <p:cNvPr id="1383" name="Text 23"/>
          <p:cNvSpPr/>
          <p:nvPr/>
        </p:nvSpPr>
        <p:spPr>
          <a:xfrm>
            <a:off x="5239440" y="193320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Progressive Enhancement</a:t>
            </a:r>
            <a:endParaRPr lang="pl-PL" sz="1400" b="0" u="none" strike="noStrike">
              <a:solidFill>
                <a:srgbClr val="ffffff"/>
              </a:solidFill>
              <a:effectLst/>
              <a:uFillTx/>
              <a:latin typeface="Arial"/>
            </a:endParaRPr>
          </a:p>
        </p:txBody>
      </p:sp>
      <p:sp>
        <p:nvSpPr>
          <p:cNvPr id="1384" name="Text 24"/>
          <p:cNvSpPr/>
          <p:nvPr/>
        </p:nvSpPr>
        <p:spPr>
          <a:xfrm>
            <a:off x="5239440" y="2149200"/>
            <a:ext cx="3473640" cy="32796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1200" b="0" u="none" strike="noStrike">
                <a:solidFill>
                  <a:srgbClr val="8899aa"/>
                </a:solidFill>
                <a:effectLst/>
                <a:uFillTx/>
                <a:latin typeface="Calibri"/>
                <a:ea typeface="DejaVu Sans"/>
              </a:rPr>
              <a:t>Dodawaj funkcje w miarę wzrostu dostępnej przestrzeni.</a:t>
            </a:r>
            <a:endParaRPr lang="pl-PL" sz="1200" b="0" u="none" strike="noStrike">
              <a:solidFill>
                <a:srgbClr val="ffffff"/>
              </a:solidFill>
              <a:effectLst/>
              <a:uFillTx/>
              <a:latin typeface="Arial"/>
            </a:endParaRPr>
          </a:p>
        </p:txBody>
      </p:sp>
      <p:sp>
        <p:nvSpPr>
          <p:cNvPr id="1385" name="Shape 25"/>
          <p:cNvSpPr/>
          <p:nvPr/>
        </p:nvSpPr>
        <p:spPr>
          <a:xfrm>
            <a:off x="4892040" y="2703240"/>
            <a:ext cx="254880" cy="25488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86" name="Text 26"/>
          <p:cNvSpPr/>
          <p:nvPr/>
        </p:nvSpPr>
        <p:spPr>
          <a:xfrm>
            <a:off x="4892040" y="27032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3</a:t>
            </a:r>
            <a:endParaRPr lang="pl-PL" sz="1100" b="0" u="none" strike="noStrike">
              <a:solidFill>
                <a:srgbClr val="ffffff"/>
              </a:solidFill>
              <a:effectLst/>
              <a:uFillTx/>
              <a:latin typeface="Arial"/>
            </a:endParaRPr>
          </a:p>
        </p:txBody>
      </p:sp>
      <p:sp>
        <p:nvSpPr>
          <p:cNvPr id="1387" name="Text 27"/>
          <p:cNvSpPr/>
          <p:nvPr/>
        </p:nvSpPr>
        <p:spPr>
          <a:xfrm>
            <a:off x="5239440" y="25844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Responsive Layout</a:t>
            </a:r>
            <a:endParaRPr lang="pl-PL" sz="1400" b="0" u="none" strike="noStrike">
              <a:solidFill>
                <a:srgbClr val="ffffff"/>
              </a:solidFill>
              <a:effectLst/>
              <a:uFillTx/>
              <a:latin typeface="Arial"/>
            </a:endParaRPr>
          </a:p>
        </p:txBody>
      </p:sp>
      <p:sp>
        <p:nvSpPr>
          <p:cNvPr id="1388" name="Text 28"/>
          <p:cNvSpPr/>
          <p:nvPr/>
        </p:nvSpPr>
        <p:spPr>
          <a:xfrm>
            <a:off x="5239440" y="28072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1200" b="0" u="none" strike="noStrike">
                <a:solidFill>
                  <a:srgbClr val="8899aa"/>
                </a:solidFill>
                <a:effectLst/>
                <a:uFillTx/>
                <a:latin typeface="Calibri"/>
                <a:ea typeface="DejaVu Sans"/>
              </a:rPr>
              <a:t>Elastyczne siatki, obrazy i media queries dla breakpointów.</a:t>
            </a:r>
            <a:endParaRPr lang="pl-PL" sz="1200" b="0" u="none" strike="noStrike">
              <a:solidFill>
                <a:srgbClr val="ffffff"/>
              </a:solidFill>
              <a:effectLst/>
              <a:uFillTx/>
              <a:latin typeface="Arial"/>
            </a:endParaRPr>
          </a:p>
        </p:txBody>
      </p:sp>
      <p:sp>
        <p:nvSpPr>
          <p:cNvPr id="1389" name="Shape 29"/>
          <p:cNvSpPr/>
          <p:nvPr/>
        </p:nvSpPr>
        <p:spPr>
          <a:xfrm>
            <a:off x="4892040" y="3302280"/>
            <a:ext cx="254880" cy="25488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90" name="Text 30"/>
          <p:cNvSpPr/>
          <p:nvPr/>
        </p:nvSpPr>
        <p:spPr>
          <a:xfrm>
            <a:off x="4892040" y="33022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4</a:t>
            </a:r>
            <a:endParaRPr lang="pl-PL" sz="1100" b="0" u="none" strike="noStrike">
              <a:solidFill>
                <a:srgbClr val="ffffff"/>
              </a:solidFill>
              <a:effectLst/>
              <a:uFillTx/>
              <a:latin typeface="Arial"/>
            </a:endParaRPr>
          </a:p>
        </p:txBody>
      </p:sp>
      <p:sp>
        <p:nvSpPr>
          <p:cNvPr id="1391" name="Text 31"/>
          <p:cNvSpPr/>
          <p:nvPr/>
        </p:nvSpPr>
        <p:spPr>
          <a:xfrm>
            <a:off x="5239440" y="32054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Touch-Friendly UI</a:t>
            </a:r>
            <a:endParaRPr lang="pl-PL" sz="1400" b="0" u="none" strike="noStrike">
              <a:solidFill>
                <a:srgbClr val="ffffff"/>
              </a:solidFill>
              <a:effectLst/>
              <a:uFillTx/>
              <a:latin typeface="Arial"/>
            </a:endParaRPr>
          </a:p>
        </p:txBody>
      </p:sp>
      <p:sp>
        <p:nvSpPr>
          <p:cNvPr id="1392" name="Text 32"/>
          <p:cNvSpPr/>
          <p:nvPr/>
        </p:nvSpPr>
        <p:spPr>
          <a:xfrm>
            <a:off x="5239440" y="34138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1200" b="0" u="none" strike="noStrike">
                <a:solidFill>
                  <a:srgbClr val="8899aa"/>
                </a:solidFill>
                <a:effectLst/>
                <a:uFillTx/>
                <a:latin typeface="Calibri"/>
                <a:ea typeface="DejaVu Sans"/>
              </a:rPr>
              <a:t>Projektuj pod dotyk, nie myszkę. Odpowiednie rozmiary </a:t>
            </a:r>
            <a:endParaRPr lang="pl-PL" sz="1200" b="0" u="none" strike="noStrike">
              <a:solidFill>
                <a:srgbClr val="ffffff"/>
              </a:solidFill>
              <a:effectLst/>
              <a:uFillTx/>
              <a:latin typeface="Arial"/>
            </a:endParaRPr>
          </a:p>
          <a:p>
            <a:pPr defTabSz="914400">
              <a:lnSpc>
                <a:spcPts val="901"/>
              </a:lnSpc>
              <a:tabLst>
                <a:tab algn="l" pos="0"/>
              </a:tabLst>
            </a:pPr>
            <a:r>
              <a:rPr lang="pl-PL" sz="1200" b="0" u="none" strike="noStrike">
                <a:solidFill>
                  <a:srgbClr val="8899aa"/>
                </a:solidFill>
                <a:effectLst/>
                <a:uFillTx/>
                <a:latin typeface="Calibri"/>
                <a:ea typeface="DejaVu Sans"/>
              </a:rPr>
              <a:t>i odstępy.</a:t>
            </a:r>
            <a:endParaRPr lang="pl-PL" sz="1200" b="0" u="none" strike="noStrike">
              <a:solidFill>
                <a:srgbClr val="ffffff"/>
              </a:solidFill>
              <a:effectLst/>
              <a:uFillTx/>
              <a:latin typeface="Arial"/>
            </a:endParaRPr>
          </a:p>
        </p:txBody>
      </p:sp>
      <p:sp>
        <p:nvSpPr>
          <p:cNvPr id="1393" name="Shape 33"/>
          <p:cNvSpPr/>
          <p:nvPr/>
        </p:nvSpPr>
        <p:spPr>
          <a:xfrm>
            <a:off x="4695480" y="3975480"/>
            <a:ext cx="4068000" cy="80352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94" name="Text 34"/>
          <p:cNvSpPr/>
          <p:nvPr/>
        </p:nvSpPr>
        <p:spPr>
          <a:xfrm>
            <a:off x="4871160" y="3997080"/>
            <a:ext cx="9133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1de9b6"/>
                </a:solidFill>
                <a:effectLst/>
                <a:uFillTx/>
                <a:latin typeface="Calibri"/>
                <a:ea typeface="DejaVu Sans"/>
              </a:rPr>
              <a:t>Przykłady</a:t>
            </a:r>
            <a:endParaRPr lang="pl-PL" sz="1400" b="0" u="none" strike="noStrike">
              <a:solidFill>
                <a:srgbClr val="ffffff"/>
              </a:solidFill>
              <a:effectLst/>
              <a:uFillTx/>
              <a:latin typeface="Arial"/>
            </a:endParaRPr>
          </a:p>
        </p:txBody>
      </p:sp>
      <p:sp>
        <p:nvSpPr>
          <p:cNvPr id="1395" name="Text 35"/>
          <p:cNvSpPr/>
          <p:nvPr/>
        </p:nvSpPr>
        <p:spPr>
          <a:xfrm>
            <a:off x="4836600" y="4249800"/>
            <a:ext cx="3793680" cy="14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e1e3e3"/>
                </a:solidFill>
                <a:effectLst/>
                <a:uFillTx/>
                <a:latin typeface="Calibri"/>
                <a:ea typeface="DejaVu Sans"/>
              </a:rPr>
              <a:t>★ Airbnb - mobile booking jako priorytet</a:t>
            </a:r>
            <a:endParaRPr lang="pl-PL" sz="1100" b="0" u="none" strike="noStrike">
              <a:solidFill>
                <a:srgbClr val="ffffff"/>
              </a:solidFill>
              <a:effectLst/>
              <a:uFillTx/>
              <a:latin typeface="Arial"/>
            </a:endParaRPr>
          </a:p>
        </p:txBody>
      </p:sp>
      <p:sp>
        <p:nvSpPr>
          <p:cNvPr id="1396" name="Text 36"/>
          <p:cNvSpPr/>
          <p:nvPr/>
        </p:nvSpPr>
        <p:spPr>
          <a:xfrm>
            <a:off x="4836600" y="4414320"/>
            <a:ext cx="3793680" cy="14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e1e3e3"/>
                </a:solidFill>
                <a:effectLst/>
                <a:uFillTx/>
                <a:latin typeface="Calibri"/>
                <a:ea typeface="DejaVu Sans"/>
              </a:rPr>
              <a:t>★ Dropbox - responsywny od podstaw</a:t>
            </a:r>
            <a:endParaRPr lang="pl-PL" sz="1100" b="0" u="none" strike="noStrike">
              <a:solidFill>
                <a:srgbClr val="ffffff"/>
              </a:solidFill>
              <a:effectLst/>
              <a:uFillTx/>
              <a:latin typeface="Arial"/>
            </a:endParaRPr>
          </a:p>
        </p:txBody>
      </p:sp>
      <p:sp>
        <p:nvSpPr>
          <p:cNvPr id="1397" name="Text 37"/>
          <p:cNvSpPr/>
          <p:nvPr/>
        </p:nvSpPr>
        <p:spPr>
          <a:xfrm>
            <a:off x="4836600" y="4578840"/>
            <a:ext cx="3793680" cy="14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e1e3e3"/>
                </a:solidFill>
                <a:effectLst/>
                <a:uFillTx/>
                <a:latin typeface="Calibri"/>
                <a:ea typeface="DejaVu Sans"/>
              </a:rPr>
              <a:t>★ Slack - mobile-first komunikacja</a:t>
            </a:r>
            <a:endParaRPr lang="pl-PL" sz="1100" b="0" u="none" strike="noStrike">
              <a:solidFill>
                <a:srgbClr val="ffffff"/>
              </a:solidFill>
              <a:effectLst/>
              <a:uFillTx/>
              <a:latin typeface="Arial"/>
            </a:endParaRPr>
          </a:p>
        </p:txBody>
      </p:sp>
      <p:sp>
        <p:nvSpPr>
          <p:cNvPr id="1398" name="Text 40"/>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17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399" name="Grupa 10"/>
          <p:cNvGrpSpPr/>
          <p:nvPr/>
        </p:nvGrpSpPr>
        <p:grpSpPr>
          <a:xfrm>
            <a:off x="-2520" y="4884840"/>
            <a:ext cx="9145440" cy="259200"/>
            <a:chOff x="-2520" y="4884840"/>
            <a:chExt cx="9145440" cy="259200"/>
          </a:xfrm>
        </p:grpSpPr>
        <p:sp>
          <p:nvSpPr>
            <p:cNvPr id="1400"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01"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402" name="Grupa 13"/>
            <p:cNvGrpSpPr/>
            <p:nvPr/>
          </p:nvGrpSpPr>
          <p:grpSpPr>
            <a:xfrm>
              <a:off x="-2520" y="5099400"/>
              <a:ext cx="9145440" cy="44640"/>
              <a:chOff x="-2520" y="5099400"/>
              <a:chExt cx="9145440" cy="44640"/>
            </a:xfrm>
          </p:grpSpPr>
          <p:sp>
            <p:nvSpPr>
              <p:cNvPr id="1403"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04"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05"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06"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07"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08"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09"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0"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1"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2"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3"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4"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5"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6"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7"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8"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19"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20"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21" name="Shape 52"/>
              <p:cNvSpPr/>
              <p:nvPr/>
            </p:nvSpPr>
            <p:spPr>
              <a:xfrm>
                <a:off x="35784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2"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3"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4"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5"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6"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7"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8"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29"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0"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1"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2"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3"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4"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5"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6"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7"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8"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39"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0"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1"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2"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3"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4"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5"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6"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7"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48"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449"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50" name="Shape 1"/>
          <p:cNvSpPr/>
          <p:nvPr/>
        </p:nvSpPr>
        <p:spPr>
          <a:xfrm>
            <a:off x="0" y="1645920"/>
            <a:ext cx="108720" cy="182772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51" name="Text 2"/>
          <p:cNvSpPr/>
          <p:nvPr/>
        </p:nvSpPr>
        <p:spPr>
          <a:xfrm>
            <a:off x="914400" y="548640"/>
            <a:ext cx="73141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b388ff"/>
                </a:solidFill>
                <a:effectLst/>
                <a:uFillTx/>
                <a:latin typeface="Calibri"/>
                <a:ea typeface="DejaVu Sans"/>
              </a:rPr>
              <a:t>04</a:t>
            </a:r>
            <a:endParaRPr lang="pl-PL" sz="5200" b="0" u="none" strike="noStrike">
              <a:solidFill>
                <a:srgbClr val="ffffff"/>
              </a:solidFill>
              <a:effectLst/>
              <a:uFillTx/>
              <a:latin typeface="Arial"/>
            </a:endParaRPr>
          </a:p>
        </p:txBody>
      </p:sp>
      <p:sp>
        <p:nvSpPr>
          <p:cNvPr id="1452"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Standardy Branżowe</a:t>
            </a:r>
            <a:endParaRPr lang="pl-PL" sz="2800" b="0" u="none" strike="noStrike">
              <a:solidFill>
                <a:srgbClr val="ffffff"/>
              </a:solidFill>
              <a:effectLst/>
              <a:uFillTx/>
              <a:latin typeface="Arial"/>
            </a:endParaRPr>
          </a:p>
        </p:txBody>
      </p:sp>
      <p:sp>
        <p:nvSpPr>
          <p:cNvPr id="1453"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iOS HIG, Material Design i WCAG - oficjalne wytyczne platform</a:t>
            </a:r>
            <a:endParaRPr lang="pl-PL" sz="1400" b="0" u="none" strike="noStrike">
              <a:solidFill>
                <a:srgbClr val="ffffff"/>
              </a:solidFill>
              <a:effectLst/>
              <a:uFillTx/>
              <a:latin typeface="Arial"/>
            </a:endParaRPr>
          </a:p>
        </p:txBody>
      </p:sp>
      <p:sp>
        <p:nvSpPr>
          <p:cNvPr id="1454"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18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455" name="Grupa 39"/>
          <p:cNvGrpSpPr/>
          <p:nvPr/>
        </p:nvGrpSpPr>
        <p:grpSpPr>
          <a:xfrm>
            <a:off x="-2520" y="4884840"/>
            <a:ext cx="9145440" cy="259200"/>
            <a:chOff x="-2520" y="4884840"/>
            <a:chExt cx="9145440" cy="259200"/>
          </a:xfrm>
        </p:grpSpPr>
        <p:sp>
          <p:nvSpPr>
            <p:cNvPr id="1456"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57"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458" name="Grupa 42"/>
            <p:cNvGrpSpPr/>
            <p:nvPr/>
          </p:nvGrpSpPr>
          <p:grpSpPr>
            <a:xfrm>
              <a:off x="-2520" y="5099400"/>
              <a:ext cx="9145440" cy="44640"/>
              <a:chOff x="-2520" y="5099400"/>
              <a:chExt cx="9145440" cy="44640"/>
            </a:xfrm>
          </p:grpSpPr>
          <p:sp>
            <p:nvSpPr>
              <p:cNvPr id="1459"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0"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1"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2"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3"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4"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5"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6"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7"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8"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9"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0"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1"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2"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3"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4"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5"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6"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7"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78" name="Shape 52"/>
              <p:cNvSpPr/>
              <p:nvPr/>
            </p:nvSpPr>
            <p:spPr>
              <a:xfrm>
                <a:off x="37771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79"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0"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1"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2"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3"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4"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5"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6"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7"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8"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89"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0"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1"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2"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3"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4"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5"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6"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7"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8"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99"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0"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1"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2"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3"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4"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505" name="Shape 0"/>
          <p:cNvSpPr/>
          <p:nvPr/>
        </p:nvSpPr>
        <p:spPr>
          <a:xfrm>
            <a:off x="320040" y="255960"/>
            <a:ext cx="53640" cy="5018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6"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iOS Human Interface Guidelines</a:t>
            </a:r>
            <a:endParaRPr lang="pl-PL" sz="2200" b="0" u="none" strike="noStrike">
              <a:solidFill>
                <a:srgbClr val="ffffff"/>
              </a:solidFill>
              <a:effectLst/>
              <a:uFillTx/>
              <a:latin typeface="Arial"/>
            </a:endParaRPr>
          </a:p>
        </p:txBody>
      </p:sp>
      <p:sp>
        <p:nvSpPr>
          <p:cNvPr id="1507" name="Shape 2"/>
          <p:cNvSpPr/>
          <p:nvPr/>
        </p:nvSpPr>
        <p:spPr>
          <a:xfrm>
            <a:off x="320040" y="914400"/>
            <a:ext cx="2742120" cy="18277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8" name="Shape 3"/>
          <p:cNvSpPr/>
          <p:nvPr/>
        </p:nvSpPr>
        <p:spPr>
          <a:xfrm>
            <a:off x="320040" y="914400"/>
            <a:ext cx="44640" cy="182772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09" name="Text 4"/>
          <p:cNvSpPr/>
          <p:nvPr/>
        </p:nvSpPr>
        <p:spPr>
          <a:xfrm>
            <a:off x="45936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Clarity (klarowność)</a:t>
            </a:r>
            <a:endParaRPr lang="pl-PL" sz="1600" b="0" u="none" strike="noStrike">
              <a:solidFill>
                <a:srgbClr val="ffffff"/>
              </a:solidFill>
              <a:effectLst/>
              <a:uFillTx/>
              <a:latin typeface="Arial"/>
            </a:endParaRPr>
          </a:p>
        </p:txBody>
      </p:sp>
      <p:sp>
        <p:nvSpPr>
          <p:cNvPr id="1510" name="Text 5"/>
          <p:cNvSpPr/>
          <p:nvPr/>
        </p:nvSpPr>
        <p:spPr>
          <a:xfrm>
            <a:off x="459360" y="1293840"/>
            <a:ext cx="2586600" cy="1030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300" b="0" u="none" strike="noStrike">
                <a:solidFill>
                  <a:srgbClr val="ccddee"/>
                </a:solidFill>
                <a:effectLst/>
                <a:uFillTx/>
                <a:latin typeface="Calibri"/>
                <a:ea typeface="DejaVu Sans"/>
              </a:rPr>
              <a:t>Tekst czytelny, ikony precyzyjne, grafika ostra. Użytkownik rozumie interfejs na pierwszy rzut oka. Czytelna typografia i precyzyjne ikony.</a:t>
            </a:r>
            <a:endParaRPr lang="pl-PL" sz="1300" b="0" u="none" strike="noStrike">
              <a:solidFill>
                <a:srgbClr val="ffffff"/>
              </a:solidFill>
              <a:effectLst/>
              <a:uFillTx/>
              <a:latin typeface="Arial"/>
            </a:endParaRPr>
          </a:p>
        </p:txBody>
      </p:sp>
      <p:sp>
        <p:nvSpPr>
          <p:cNvPr id="1511" name="Shape 6"/>
          <p:cNvSpPr/>
          <p:nvPr/>
        </p:nvSpPr>
        <p:spPr>
          <a:xfrm>
            <a:off x="3200400" y="914400"/>
            <a:ext cx="2742120" cy="18277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12" name="Shape 7"/>
          <p:cNvSpPr/>
          <p:nvPr/>
        </p:nvSpPr>
        <p:spPr>
          <a:xfrm>
            <a:off x="3200400" y="914400"/>
            <a:ext cx="44640" cy="18277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13" name="Text 8"/>
          <p:cNvSpPr/>
          <p:nvPr/>
        </p:nvSpPr>
        <p:spPr>
          <a:xfrm>
            <a:off x="333972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Deference (ustępowanie)</a:t>
            </a:r>
            <a:endParaRPr lang="pl-PL" sz="1600" b="0" u="none" strike="noStrike">
              <a:solidFill>
                <a:srgbClr val="ffffff"/>
              </a:solidFill>
              <a:effectLst/>
              <a:uFillTx/>
              <a:latin typeface="Arial"/>
            </a:endParaRPr>
          </a:p>
        </p:txBody>
      </p:sp>
      <p:sp>
        <p:nvSpPr>
          <p:cNvPr id="1514" name="Text 9"/>
          <p:cNvSpPr/>
          <p:nvPr/>
        </p:nvSpPr>
        <p:spPr>
          <a:xfrm>
            <a:off x="3339720" y="1293840"/>
            <a:ext cx="2586600" cy="1030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300" b="0" u="none" strike="noStrike">
                <a:solidFill>
                  <a:srgbClr val="ccddee"/>
                </a:solidFill>
                <a:effectLst/>
                <a:uFillTx/>
                <a:latin typeface="Calibri"/>
                <a:ea typeface="DejaVu Sans"/>
              </a:rPr>
              <a:t>Interfejs nie dominuje nad treścią. Treść jest na pierwszym planie, UI wspiera, nie rozprasza. Minimalizm i transparentność.</a:t>
            </a:r>
            <a:endParaRPr lang="pl-PL" sz="1300" b="0" u="none" strike="noStrike">
              <a:solidFill>
                <a:srgbClr val="ffffff"/>
              </a:solidFill>
              <a:effectLst/>
              <a:uFillTx/>
              <a:latin typeface="Arial"/>
            </a:endParaRPr>
          </a:p>
        </p:txBody>
      </p:sp>
      <p:sp>
        <p:nvSpPr>
          <p:cNvPr id="1515" name="Shape 10"/>
          <p:cNvSpPr/>
          <p:nvPr/>
        </p:nvSpPr>
        <p:spPr>
          <a:xfrm>
            <a:off x="6080760" y="914400"/>
            <a:ext cx="2742120" cy="18277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16" name="Shape 11"/>
          <p:cNvSpPr/>
          <p:nvPr/>
        </p:nvSpPr>
        <p:spPr>
          <a:xfrm>
            <a:off x="6080760" y="914400"/>
            <a:ext cx="44640" cy="18277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17" name="Text 12"/>
          <p:cNvSpPr/>
          <p:nvPr/>
        </p:nvSpPr>
        <p:spPr>
          <a:xfrm>
            <a:off x="622008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alibri"/>
                <a:ea typeface="DejaVu Sans"/>
              </a:rPr>
              <a:t>Depth (głębia)</a:t>
            </a:r>
            <a:endParaRPr lang="pl-PL" sz="1600" b="0" u="none" strike="noStrike">
              <a:solidFill>
                <a:srgbClr val="ffffff"/>
              </a:solidFill>
              <a:effectLst/>
              <a:uFillTx/>
              <a:latin typeface="Arial"/>
            </a:endParaRPr>
          </a:p>
        </p:txBody>
      </p:sp>
      <p:sp>
        <p:nvSpPr>
          <p:cNvPr id="1518" name="Text 13"/>
          <p:cNvSpPr/>
          <p:nvPr/>
        </p:nvSpPr>
        <p:spPr>
          <a:xfrm>
            <a:off x="6220080" y="1293840"/>
            <a:ext cx="2586600" cy="1030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300" b="0" u="none" strike="noStrike">
                <a:solidFill>
                  <a:srgbClr val="ccddee"/>
                </a:solidFill>
                <a:effectLst/>
                <a:uFillTx/>
                <a:latin typeface="Calibri"/>
                <a:ea typeface="DejaVu Sans"/>
              </a:rPr>
              <a:t>Warstwy wizualne i realistyczne ruchy tworzą hierarchię. Użytkownik rozumie relacje między elementami przez animacje.</a:t>
            </a:r>
            <a:endParaRPr lang="pl-PL" sz="1300" b="0" u="none" strike="noStrike">
              <a:solidFill>
                <a:srgbClr val="ffffff"/>
              </a:solidFill>
              <a:effectLst/>
              <a:uFillTx/>
              <a:latin typeface="Arial"/>
            </a:endParaRPr>
          </a:p>
        </p:txBody>
      </p:sp>
      <p:sp>
        <p:nvSpPr>
          <p:cNvPr id="1519" name="Shape 14"/>
          <p:cNvSpPr/>
          <p:nvPr/>
        </p:nvSpPr>
        <p:spPr>
          <a:xfrm>
            <a:off x="320040" y="2834640"/>
            <a:ext cx="2742120" cy="8402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20" name="Shape 15"/>
          <p:cNvSpPr/>
          <p:nvPr/>
        </p:nvSpPr>
        <p:spPr>
          <a:xfrm>
            <a:off x="320040" y="2834640"/>
            <a:ext cx="44640" cy="8402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21" name="Text 16"/>
          <p:cNvSpPr/>
          <p:nvPr/>
        </p:nvSpPr>
        <p:spPr>
          <a:xfrm>
            <a:off x="466920" y="286884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Systemowe komponenty UI</a:t>
            </a:r>
            <a:endParaRPr lang="pl-PL" sz="1600" b="0" u="none" strike="noStrike">
              <a:solidFill>
                <a:srgbClr val="ffffff"/>
              </a:solidFill>
              <a:effectLst/>
              <a:uFillTx/>
              <a:latin typeface="Arial"/>
            </a:endParaRPr>
          </a:p>
        </p:txBody>
      </p:sp>
      <p:sp>
        <p:nvSpPr>
          <p:cNvPr id="1522" name="Text 17"/>
          <p:cNvSpPr/>
          <p:nvPr/>
        </p:nvSpPr>
        <p:spPr>
          <a:xfrm>
            <a:off x="459360" y="3214080"/>
            <a:ext cx="2586600" cy="456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100" b="0" u="none" strike="noStrike">
                <a:solidFill>
                  <a:srgbClr val="ccddee"/>
                </a:solidFill>
                <a:effectLst/>
                <a:uFillTx/>
                <a:latin typeface="Calibri"/>
                <a:ea typeface="DejaVu Sans"/>
              </a:rPr>
              <a:t>Używaj natywnych: UIButton, UITableView, UINavigationController</a:t>
            </a:r>
            <a:endParaRPr lang="pl-PL" sz="1100" b="0" u="none" strike="noStrike">
              <a:solidFill>
                <a:srgbClr val="ffffff"/>
              </a:solidFill>
              <a:effectLst/>
              <a:uFillTx/>
              <a:latin typeface="Arial"/>
            </a:endParaRPr>
          </a:p>
        </p:txBody>
      </p:sp>
      <p:sp>
        <p:nvSpPr>
          <p:cNvPr id="1523" name="Shape 18"/>
          <p:cNvSpPr/>
          <p:nvPr/>
        </p:nvSpPr>
        <p:spPr>
          <a:xfrm>
            <a:off x="3200400" y="2834640"/>
            <a:ext cx="2742120" cy="8402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24" name="Shape 19"/>
          <p:cNvSpPr/>
          <p:nvPr/>
        </p:nvSpPr>
        <p:spPr>
          <a:xfrm>
            <a:off x="3200400" y="2834640"/>
            <a:ext cx="44640" cy="8402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25" name="Text 20"/>
          <p:cNvSpPr/>
          <p:nvPr/>
        </p:nvSpPr>
        <p:spPr>
          <a:xfrm>
            <a:off x="3339720" y="286884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Gestury systemowe</a:t>
            </a:r>
            <a:endParaRPr lang="pl-PL" sz="1600" b="0" u="none" strike="noStrike">
              <a:solidFill>
                <a:srgbClr val="ffffff"/>
              </a:solidFill>
              <a:effectLst/>
              <a:uFillTx/>
              <a:latin typeface="Arial"/>
            </a:endParaRPr>
          </a:p>
        </p:txBody>
      </p:sp>
      <p:sp>
        <p:nvSpPr>
          <p:cNvPr id="1526" name="Text 21"/>
          <p:cNvSpPr/>
          <p:nvPr/>
        </p:nvSpPr>
        <p:spPr>
          <a:xfrm>
            <a:off x="3339720" y="3163680"/>
            <a:ext cx="2586600" cy="456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100" b="0" u="none" strike="noStrike">
                <a:solidFill>
                  <a:srgbClr val="ccddee"/>
                </a:solidFill>
                <a:effectLst/>
                <a:uFillTx/>
                <a:latin typeface="Calibri"/>
                <a:ea typeface="DejaVu Sans"/>
              </a:rPr>
              <a:t>Swipe back, pull-to-refresh, pinch-to-zoom - standardowe gesty iOS</a:t>
            </a:r>
            <a:endParaRPr lang="pl-PL" sz="1100" b="0" u="none" strike="noStrike">
              <a:solidFill>
                <a:srgbClr val="ffffff"/>
              </a:solidFill>
              <a:effectLst/>
              <a:uFillTx/>
              <a:latin typeface="Arial"/>
            </a:endParaRPr>
          </a:p>
        </p:txBody>
      </p:sp>
      <p:sp>
        <p:nvSpPr>
          <p:cNvPr id="1527" name="Shape 22"/>
          <p:cNvSpPr/>
          <p:nvPr/>
        </p:nvSpPr>
        <p:spPr>
          <a:xfrm>
            <a:off x="6080760" y="2834640"/>
            <a:ext cx="2742120" cy="8402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28" name="Shape 23"/>
          <p:cNvSpPr/>
          <p:nvPr/>
        </p:nvSpPr>
        <p:spPr>
          <a:xfrm>
            <a:off x="6080760" y="2834640"/>
            <a:ext cx="44640" cy="8402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29" name="Text 24"/>
          <p:cNvSpPr/>
          <p:nvPr/>
        </p:nvSpPr>
        <p:spPr>
          <a:xfrm>
            <a:off x="6220080" y="287640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alibri"/>
                <a:ea typeface="DejaVu Sans"/>
              </a:rPr>
              <a:t>Dark Mode (od iOS 13)</a:t>
            </a:r>
            <a:endParaRPr lang="pl-PL" sz="1600" b="0" u="none" strike="noStrike">
              <a:solidFill>
                <a:srgbClr val="ffffff"/>
              </a:solidFill>
              <a:effectLst/>
              <a:uFillTx/>
              <a:latin typeface="Arial"/>
            </a:endParaRPr>
          </a:p>
        </p:txBody>
      </p:sp>
      <p:sp>
        <p:nvSpPr>
          <p:cNvPr id="1530" name="Text 25"/>
          <p:cNvSpPr/>
          <p:nvPr/>
        </p:nvSpPr>
        <p:spPr>
          <a:xfrm>
            <a:off x="6220080" y="3163680"/>
            <a:ext cx="2586600" cy="456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100" b="0" u="none" strike="noStrike">
                <a:solidFill>
                  <a:srgbClr val="ccddee"/>
                </a:solidFill>
                <a:effectLst/>
                <a:uFillTx/>
                <a:latin typeface="Calibri"/>
                <a:ea typeface="DejaVu Sans"/>
              </a:rPr>
              <a:t>Wsparcie obowiązkowe. Dynamiczne kolory systemowe. UIColor.label.</a:t>
            </a:r>
            <a:endParaRPr lang="pl-PL" sz="1100" b="0" u="none" strike="noStrike">
              <a:solidFill>
                <a:srgbClr val="ffffff"/>
              </a:solidFill>
              <a:effectLst/>
              <a:uFillTx/>
              <a:latin typeface="Arial"/>
            </a:endParaRPr>
          </a:p>
        </p:txBody>
      </p:sp>
      <p:sp>
        <p:nvSpPr>
          <p:cNvPr id="1531" name="Shape 26"/>
          <p:cNvSpPr/>
          <p:nvPr/>
        </p:nvSpPr>
        <p:spPr>
          <a:xfrm>
            <a:off x="320040" y="3794760"/>
            <a:ext cx="2742120" cy="8402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32" name="Shape 27"/>
          <p:cNvSpPr/>
          <p:nvPr/>
        </p:nvSpPr>
        <p:spPr>
          <a:xfrm>
            <a:off x="320040" y="3794760"/>
            <a:ext cx="44640" cy="8402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33" name="Text 28"/>
          <p:cNvSpPr/>
          <p:nvPr/>
        </p:nvSpPr>
        <p:spPr>
          <a:xfrm>
            <a:off x="474480" y="382176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e676"/>
                </a:solidFill>
                <a:effectLst/>
                <a:uFillTx/>
                <a:latin typeface="Calibri"/>
                <a:ea typeface="DejaVu Sans"/>
              </a:rPr>
              <a:t>San Francisco Font</a:t>
            </a:r>
            <a:endParaRPr lang="pl-PL" sz="1600" b="0" u="none" strike="noStrike">
              <a:solidFill>
                <a:srgbClr val="ffffff"/>
              </a:solidFill>
              <a:effectLst/>
              <a:uFillTx/>
              <a:latin typeface="Arial"/>
            </a:endParaRPr>
          </a:p>
        </p:txBody>
      </p:sp>
      <p:sp>
        <p:nvSpPr>
          <p:cNvPr id="1534" name="Text 29"/>
          <p:cNvSpPr/>
          <p:nvPr/>
        </p:nvSpPr>
        <p:spPr>
          <a:xfrm>
            <a:off x="459360" y="4174200"/>
            <a:ext cx="2586600" cy="456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100" b="0" u="none" strike="noStrike">
                <a:solidFill>
                  <a:srgbClr val="ccddee"/>
                </a:solidFill>
                <a:effectLst/>
                <a:uFillTx/>
                <a:latin typeface="Calibri"/>
                <a:ea typeface="DejaVu Sans"/>
              </a:rPr>
              <a:t>Systemowa czcionka zoptymalizowana dla ekranów Retina Apple</a:t>
            </a:r>
            <a:endParaRPr lang="pl-PL" sz="1100" b="0" u="none" strike="noStrike">
              <a:solidFill>
                <a:srgbClr val="ffffff"/>
              </a:solidFill>
              <a:effectLst/>
              <a:uFillTx/>
              <a:latin typeface="Arial"/>
            </a:endParaRPr>
          </a:p>
        </p:txBody>
      </p:sp>
      <p:sp>
        <p:nvSpPr>
          <p:cNvPr id="1535" name="Shape 30"/>
          <p:cNvSpPr/>
          <p:nvPr/>
        </p:nvSpPr>
        <p:spPr>
          <a:xfrm>
            <a:off x="3200400" y="3794760"/>
            <a:ext cx="2742120" cy="8402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36" name="Shape 31"/>
          <p:cNvSpPr/>
          <p:nvPr/>
        </p:nvSpPr>
        <p:spPr>
          <a:xfrm>
            <a:off x="3200400" y="3794760"/>
            <a:ext cx="44640" cy="8402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37" name="Text 32"/>
          <p:cNvSpPr/>
          <p:nvPr/>
        </p:nvSpPr>
        <p:spPr>
          <a:xfrm>
            <a:off x="3339720" y="382176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9100"/>
                </a:solidFill>
                <a:effectLst/>
                <a:uFillTx/>
                <a:latin typeface="Calibri"/>
                <a:ea typeface="DejaVu Sans"/>
              </a:rPr>
              <a:t>Auto Layout / Size Classes</a:t>
            </a:r>
            <a:endParaRPr lang="pl-PL" sz="1600" b="0" u="none" strike="noStrike">
              <a:solidFill>
                <a:srgbClr val="ffffff"/>
              </a:solidFill>
              <a:effectLst/>
              <a:uFillTx/>
              <a:latin typeface="Arial"/>
            </a:endParaRPr>
          </a:p>
        </p:txBody>
      </p:sp>
      <p:sp>
        <p:nvSpPr>
          <p:cNvPr id="1538" name="Text 33"/>
          <p:cNvSpPr/>
          <p:nvPr/>
        </p:nvSpPr>
        <p:spPr>
          <a:xfrm>
            <a:off x="3339720" y="4123800"/>
            <a:ext cx="2586600" cy="456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100" b="0" u="none" strike="noStrike">
                <a:solidFill>
                  <a:srgbClr val="ccddee"/>
                </a:solidFill>
                <a:effectLst/>
                <a:uFillTx/>
                <a:latin typeface="Calibri"/>
                <a:ea typeface="DejaVu Sans"/>
              </a:rPr>
              <a:t>Responsywność na iPhone i iPad - jeden kod, wiele rozmiarów</a:t>
            </a:r>
            <a:endParaRPr lang="pl-PL" sz="1100" b="0" u="none" strike="noStrike">
              <a:solidFill>
                <a:srgbClr val="ffffff"/>
              </a:solidFill>
              <a:effectLst/>
              <a:uFillTx/>
              <a:latin typeface="Arial"/>
            </a:endParaRPr>
          </a:p>
        </p:txBody>
      </p:sp>
      <p:sp>
        <p:nvSpPr>
          <p:cNvPr id="1539" name="Text 36"/>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19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540" name="Grupa 38"/>
          <p:cNvGrpSpPr/>
          <p:nvPr/>
        </p:nvGrpSpPr>
        <p:grpSpPr>
          <a:xfrm>
            <a:off x="-2520" y="4884840"/>
            <a:ext cx="9145440" cy="259200"/>
            <a:chOff x="-2520" y="4884840"/>
            <a:chExt cx="9145440" cy="259200"/>
          </a:xfrm>
        </p:grpSpPr>
        <p:sp>
          <p:nvSpPr>
            <p:cNvPr id="1541"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42"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543" name="Grupa 41"/>
            <p:cNvGrpSpPr/>
            <p:nvPr/>
          </p:nvGrpSpPr>
          <p:grpSpPr>
            <a:xfrm>
              <a:off x="-2520" y="5099400"/>
              <a:ext cx="9145440" cy="44640"/>
              <a:chOff x="-2520" y="5099400"/>
              <a:chExt cx="9145440" cy="44640"/>
            </a:xfrm>
          </p:grpSpPr>
          <p:sp>
            <p:nvSpPr>
              <p:cNvPr id="1544"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45"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46"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47"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48"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49"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0"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1"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2"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3"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4"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5"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6"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7"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8"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59"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60"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61"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62"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63"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64" name="Shape 52"/>
              <p:cNvSpPr/>
              <p:nvPr/>
            </p:nvSpPr>
            <p:spPr>
              <a:xfrm>
                <a:off x="39762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65"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66"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67"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68"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69"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0"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1"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2"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3"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4"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5"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6"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7"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8"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79"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0"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1"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2"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3"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4"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5"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6"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7"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8"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89"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590" name="Shape 0"/>
          <p:cNvSpPr/>
          <p:nvPr/>
        </p:nvSpPr>
        <p:spPr>
          <a:xfrm>
            <a:off x="320040" y="255960"/>
            <a:ext cx="53640" cy="5018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91"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Material Design Guidelines</a:t>
            </a:r>
            <a:endParaRPr lang="pl-PL" sz="2200" b="0" u="none" strike="noStrike">
              <a:solidFill>
                <a:srgbClr val="ffffff"/>
              </a:solidFill>
              <a:effectLst/>
              <a:uFillTx/>
              <a:latin typeface="Arial"/>
            </a:endParaRPr>
          </a:p>
        </p:txBody>
      </p:sp>
      <p:sp>
        <p:nvSpPr>
          <p:cNvPr id="1592" name="Shape 2"/>
          <p:cNvSpPr/>
          <p:nvPr/>
        </p:nvSpPr>
        <p:spPr>
          <a:xfrm>
            <a:off x="320040" y="914400"/>
            <a:ext cx="4068000" cy="2047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93" name="Shape 3"/>
          <p:cNvSpPr/>
          <p:nvPr/>
        </p:nvSpPr>
        <p:spPr>
          <a:xfrm>
            <a:off x="320040" y="914400"/>
            <a:ext cx="44640" cy="204732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94" name="Text 4"/>
          <p:cNvSpPr/>
          <p:nvPr/>
        </p:nvSpPr>
        <p:spPr>
          <a:xfrm>
            <a:off x="487800" y="919080"/>
            <a:ext cx="33098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Filozofia Material Design</a:t>
            </a:r>
            <a:endParaRPr lang="pl-PL" sz="1600" b="0" u="none" strike="noStrike">
              <a:solidFill>
                <a:srgbClr val="ffffff"/>
              </a:solidFill>
              <a:effectLst/>
              <a:uFillTx/>
              <a:latin typeface="Arial"/>
            </a:endParaRPr>
          </a:p>
        </p:txBody>
      </p:sp>
      <p:sp>
        <p:nvSpPr>
          <p:cNvPr id="1595" name="Text 5"/>
          <p:cNvSpPr/>
          <p:nvPr/>
        </p:nvSpPr>
        <p:spPr>
          <a:xfrm>
            <a:off x="487800" y="1221840"/>
            <a:ext cx="3802320" cy="1699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1" u="none" strike="noStrike">
                <a:solidFill>
                  <a:srgbClr val="ccddee"/>
                </a:solidFill>
                <a:effectLst/>
                <a:uFillTx/>
                <a:latin typeface="Calibri"/>
                <a:ea typeface="DejaVu Sans"/>
              </a:rPr>
              <a:t>Material Design </a:t>
            </a:r>
            <a:r>
              <a:rPr lang="pl-PL" sz="1200" b="0" u="none" strike="noStrike">
                <a:solidFill>
                  <a:srgbClr val="ccddee"/>
                </a:solidFill>
                <a:effectLst/>
                <a:uFillTx/>
                <a:latin typeface="Calibri"/>
                <a:ea typeface="DejaVu Sans"/>
              </a:rPr>
              <a:t>to język wizualny Google inspirowany fizycznymi właściwościami materiałów, głębią, cieniami, oświetleniem.</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r>
              <a:rPr lang="pl-PL" sz="1200" b="1" u="none" strike="noStrike">
                <a:solidFill>
                  <a:srgbClr val="ccddee"/>
                </a:solidFill>
                <a:effectLst/>
                <a:uFillTx/>
                <a:latin typeface="Calibri"/>
                <a:ea typeface="DejaVu Sans"/>
              </a:rPr>
              <a:t>Material jako Metafory</a:t>
            </a:r>
            <a:r>
              <a:rPr lang="pl-PL" sz="1200" b="0" u="none" strike="noStrike">
                <a:solidFill>
                  <a:srgbClr val="ccddee"/>
                </a:solidFill>
                <a:effectLst/>
                <a:uFillTx/>
                <a:latin typeface="Calibri"/>
                <a:ea typeface="DejaVu Sans"/>
              </a:rPr>
              <a:t>: elementy mają grubość, rzucają cienie.</a:t>
            </a:r>
            <a:endParaRPr lang="pl-PL" sz="1200" b="0" u="none" strike="noStrike">
              <a:solidFill>
                <a:srgbClr val="ffffff"/>
              </a:solidFill>
              <a:effectLst/>
              <a:uFillTx/>
              <a:latin typeface="Arial"/>
            </a:endParaRPr>
          </a:p>
          <a:p>
            <a:pPr defTabSz="914400">
              <a:lnSpc>
                <a:spcPct val="100000"/>
              </a:lnSpc>
              <a:tabLst>
                <a:tab algn="l" pos="0"/>
              </a:tabLst>
            </a:pPr>
            <a:r>
              <a:rPr lang="pl-PL" sz="1200" b="1" u="none" strike="noStrike">
                <a:solidFill>
                  <a:srgbClr val="ccddee"/>
                </a:solidFill>
                <a:effectLst/>
                <a:uFillTx/>
                <a:latin typeface="Calibri"/>
                <a:ea typeface="DejaVu Sans"/>
              </a:rPr>
              <a:t>Pogrubione i celowe</a:t>
            </a:r>
            <a:r>
              <a:rPr lang="pl-PL" sz="1200" b="0" u="none" strike="noStrike">
                <a:solidFill>
                  <a:srgbClr val="ccddee"/>
                </a:solidFill>
                <a:effectLst/>
                <a:uFillTx/>
                <a:latin typeface="Calibri"/>
                <a:ea typeface="DejaVu Sans"/>
              </a:rPr>
              <a:t>: typografia, kolor i przestrzeń tworzą hierarchię.</a:t>
            </a:r>
            <a:endParaRPr lang="pl-PL" sz="1200" b="0" u="none" strike="noStrike">
              <a:solidFill>
                <a:srgbClr val="ffffff"/>
              </a:solidFill>
              <a:effectLst/>
              <a:uFillTx/>
              <a:latin typeface="Arial"/>
            </a:endParaRPr>
          </a:p>
          <a:p>
            <a:pPr defTabSz="914400">
              <a:lnSpc>
                <a:spcPct val="100000"/>
              </a:lnSpc>
              <a:tabLst>
                <a:tab algn="l" pos="0"/>
              </a:tabLst>
            </a:pPr>
            <a:r>
              <a:rPr lang="pl-PL" sz="1200" b="1" u="none" strike="noStrike">
                <a:solidFill>
                  <a:srgbClr val="ccddee"/>
                </a:solidFill>
                <a:effectLst/>
                <a:uFillTx/>
                <a:latin typeface="Calibri"/>
                <a:ea typeface="DejaVu Sans"/>
              </a:rPr>
              <a:t>Ruch daje znaczenie</a:t>
            </a:r>
            <a:r>
              <a:rPr lang="pl-PL" sz="1200" b="0" u="none" strike="noStrike">
                <a:solidFill>
                  <a:srgbClr val="ccddee"/>
                </a:solidFill>
                <a:effectLst/>
                <a:uFillTx/>
                <a:latin typeface="Calibri"/>
                <a:ea typeface="DejaVu Sans"/>
              </a:rPr>
              <a:t>: animacje informują, nie dekorują.</a:t>
            </a:r>
            <a:endParaRPr lang="pl-PL" sz="1200" b="0" u="none" strike="noStrike">
              <a:solidFill>
                <a:srgbClr val="ffffff"/>
              </a:solidFill>
              <a:effectLst/>
              <a:uFillTx/>
              <a:latin typeface="Arial"/>
            </a:endParaRPr>
          </a:p>
        </p:txBody>
      </p:sp>
      <p:sp>
        <p:nvSpPr>
          <p:cNvPr id="1596" name="Shape 6"/>
          <p:cNvSpPr/>
          <p:nvPr/>
        </p:nvSpPr>
        <p:spPr>
          <a:xfrm>
            <a:off x="320040" y="3090600"/>
            <a:ext cx="1050480" cy="655200"/>
          </a:xfrm>
          <a:prstGeom prst="rect">
            <a:avLst/>
          </a:prstGeom>
          <a:solidFill>
            <a:srgbClr val="112233"/>
          </a:solidFill>
          <a:ln w="12600">
            <a:solidFill>
              <a:srgbClr val="b388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597" name="Text 7"/>
          <p:cNvSpPr/>
          <p:nvPr/>
        </p:nvSpPr>
        <p:spPr>
          <a:xfrm>
            <a:off x="365760" y="3098160"/>
            <a:ext cx="91476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b388ff"/>
                </a:solidFill>
                <a:effectLst/>
                <a:uFillTx/>
                <a:latin typeface="Calibri"/>
                <a:ea typeface="DejaVu Sans"/>
              </a:rPr>
              <a:t>Elevation</a:t>
            </a:r>
            <a:endParaRPr lang="pl-PL" sz="1200" b="0" u="none" strike="noStrike">
              <a:solidFill>
                <a:srgbClr val="ffffff"/>
              </a:solidFill>
              <a:effectLst/>
              <a:uFillTx/>
              <a:latin typeface="Arial"/>
            </a:endParaRPr>
          </a:p>
        </p:txBody>
      </p:sp>
      <p:sp>
        <p:nvSpPr>
          <p:cNvPr id="1598" name="Text 8"/>
          <p:cNvSpPr/>
          <p:nvPr/>
        </p:nvSpPr>
        <p:spPr>
          <a:xfrm>
            <a:off x="365760" y="3371760"/>
            <a:ext cx="91476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0" u="none" strike="noStrike">
                <a:solidFill>
                  <a:srgbClr val="8899aa"/>
                </a:solidFill>
                <a:effectLst/>
                <a:uFillTx/>
                <a:latin typeface="Calibri"/>
                <a:ea typeface="DejaVu Sans"/>
              </a:rPr>
              <a:t>0–24dp</a:t>
            </a:r>
            <a:endParaRPr lang="pl-PL" sz="1050" b="0" u="none" strike="noStrike">
              <a:solidFill>
                <a:srgbClr val="ffffff"/>
              </a:solidFill>
              <a:effectLst/>
              <a:uFillTx/>
              <a:latin typeface="Arial"/>
            </a:endParaRPr>
          </a:p>
        </p:txBody>
      </p:sp>
      <p:sp>
        <p:nvSpPr>
          <p:cNvPr id="1599" name="Shape 9"/>
          <p:cNvSpPr/>
          <p:nvPr/>
        </p:nvSpPr>
        <p:spPr>
          <a:xfrm>
            <a:off x="1463040" y="3090600"/>
            <a:ext cx="1544400" cy="655200"/>
          </a:xfrm>
          <a:prstGeom prst="rect">
            <a:avLst/>
          </a:prstGeom>
          <a:solidFill>
            <a:srgbClr val="112233"/>
          </a:solidFill>
          <a:ln w="12600">
            <a:solidFill>
              <a:srgbClr val="b388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00" name="Text 10"/>
          <p:cNvSpPr/>
          <p:nvPr/>
        </p:nvSpPr>
        <p:spPr>
          <a:xfrm>
            <a:off x="1527840" y="3098160"/>
            <a:ext cx="142452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b388ff"/>
                </a:solidFill>
                <a:effectLst/>
                <a:uFillTx/>
                <a:latin typeface="Calibri"/>
                <a:ea typeface="DejaVu Sans"/>
              </a:rPr>
              <a:t>Color Roles</a:t>
            </a:r>
            <a:endParaRPr lang="pl-PL" sz="1200" b="0" u="none" strike="noStrike">
              <a:solidFill>
                <a:srgbClr val="ffffff"/>
              </a:solidFill>
              <a:effectLst/>
              <a:uFillTx/>
              <a:latin typeface="Arial"/>
            </a:endParaRPr>
          </a:p>
        </p:txBody>
      </p:sp>
      <p:sp>
        <p:nvSpPr>
          <p:cNvPr id="1601" name="Text 11"/>
          <p:cNvSpPr/>
          <p:nvPr/>
        </p:nvSpPr>
        <p:spPr>
          <a:xfrm>
            <a:off x="1504800" y="3371760"/>
            <a:ext cx="146196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0" u="none" strike="noStrike">
                <a:solidFill>
                  <a:srgbClr val="8899aa"/>
                </a:solidFill>
                <a:effectLst/>
                <a:uFillTx/>
                <a:latin typeface="Calibri"/>
                <a:ea typeface="DejaVu Sans"/>
              </a:rPr>
              <a:t>Primary, Secondary, Surface, Background, Error</a:t>
            </a:r>
            <a:endParaRPr lang="pl-PL" sz="1050" b="0" u="none" strike="noStrike">
              <a:solidFill>
                <a:srgbClr val="ffffff"/>
              </a:solidFill>
              <a:effectLst/>
              <a:uFillTx/>
              <a:latin typeface="Arial"/>
            </a:endParaRPr>
          </a:p>
        </p:txBody>
      </p:sp>
      <p:sp>
        <p:nvSpPr>
          <p:cNvPr id="1602" name="Shape 12"/>
          <p:cNvSpPr/>
          <p:nvPr/>
        </p:nvSpPr>
        <p:spPr>
          <a:xfrm>
            <a:off x="3099960" y="3090600"/>
            <a:ext cx="1297440" cy="655200"/>
          </a:xfrm>
          <a:prstGeom prst="rect">
            <a:avLst/>
          </a:prstGeom>
          <a:solidFill>
            <a:srgbClr val="112233"/>
          </a:solidFill>
          <a:ln w="12600">
            <a:solidFill>
              <a:srgbClr val="b388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03" name="Text 13"/>
          <p:cNvSpPr/>
          <p:nvPr/>
        </p:nvSpPr>
        <p:spPr>
          <a:xfrm>
            <a:off x="3145680" y="3098160"/>
            <a:ext cx="119664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b388ff"/>
                </a:solidFill>
                <a:effectLst/>
                <a:uFillTx/>
                <a:latin typeface="Calibri"/>
                <a:ea typeface="DejaVu Sans"/>
              </a:rPr>
              <a:t>Roboto</a:t>
            </a:r>
            <a:endParaRPr lang="pl-PL" sz="1200" b="0" u="none" strike="noStrike">
              <a:solidFill>
                <a:srgbClr val="ffffff"/>
              </a:solidFill>
              <a:effectLst/>
              <a:uFillTx/>
              <a:latin typeface="Arial"/>
            </a:endParaRPr>
          </a:p>
        </p:txBody>
      </p:sp>
      <p:sp>
        <p:nvSpPr>
          <p:cNvPr id="1604" name="Text 14"/>
          <p:cNvSpPr/>
          <p:nvPr/>
        </p:nvSpPr>
        <p:spPr>
          <a:xfrm>
            <a:off x="3145680" y="3371760"/>
            <a:ext cx="119664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0" u="none" strike="noStrike">
                <a:solidFill>
                  <a:srgbClr val="8899aa"/>
                </a:solidFill>
                <a:effectLst/>
                <a:uFillTx/>
                <a:latin typeface="Calibri"/>
                <a:ea typeface="DejaVu Sans"/>
              </a:rPr>
              <a:t>6 stylów typografii</a:t>
            </a:r>
            <a:endParaRPr lang="pl-PL" sz="1050" b="0" u="none" strike="noStrike">
              <a:solidFill>
                <a:srgbClr val="ffffff"/>
              </a:solidFill>
              <a:effectLst/>
              <a:uFillTx/>
              <a:latin typeface="Arial"/>
            </a:endParaRPr>
          </a:p>
        </p:txBody>
      </p:sp>
      <p:sp>
        <p:nvSpPr>
          <p:cNvPr id="1605" name="Shape 15"/>
          <p:cNvSpPr/>
          <p:nvPr/>
        </p:nvSpPr>
        <p:spPr>
          <a:xfrm>
            <a:off x="320040" y="3888360"/>
            <a:ext cx="4068000" cy="929520"/>
          </a:xfrm>
          <a:prstGeom prst="rect">
            <a:avLst/>
          </a:prstGeom>
          <a:solidFill>
            <a:srgbClr val="0a1929"/>
          </a:solidFill>
          <a:ln w="12600">
            <a:solidFill>
              <a:srgbClr val="1a3a5c"/>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06" name="Text 16"/>
          <p:cNvSpPr/>
          <p:nvPr/>
        </p:nvSpPr>
        <p:spPr>
          <a:xfrm>
            <a:off x="429840" y="3948840"/>
            <a:ext cx="3866760" cy="823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900" b="0" u="none" strike="noStrike">
                <a:solidFill>
                  <a:srgbClr val="00e676"/>
                </a:solidFill>
                <a:effectLst/>
                <a:uFillTx/>
                <a:latin typeface="Consolas"/>
                <a:ea typeface="Consolas"/>
              </a:rPr>
              <a:t>// Material 3 ColorScheme (Jetpack Compose)</a:t>
            </a:r>
            <a:endParaRPr lang="pl-PL" sz="900" b="0" u="none" strike="noStrike">
              <a:solidFill>
                <a:srgbClr val="ffffff"/>
              </a:solidFill>
              <a:effectLst/>
              <a:uFillTx/>
              <a:latin typeface="Arial"/>
            </a:endParaRPr>
          </a:p>
          <a:p>
            <a:pPr defTabSz="914400">
              <a:lnSpc>
                <a:spcPct val="100000"/>
              </a:lnSpc>
              <a:tabLst>
                <a:tab algn="l" pos="0"/>
              </a:tabLst>
            </a:pPr>
            <a:r>
              <a:rPr lang="pl-PL" sz="900" b="0" u="none" strike="noStrike">
                <a:solidFill>
                  <a:srgbClr val="00e676"/>
                </a:solidFill>
                <a:effectLst/>
                <a:uFillTx/>
                <a:latin typeface="Consolas"/>
                <a:ea typeface="Consolas"/>
              </a:rPr>
              <a:t>val colorScheme = lightColorScheme(</a:t>
            </a:r>
            <a:endParaRPr lang="pl-PL" sz="900" b="0" u="none" strike="noStrike">
              <a:solidFill>
                <a:srgbClr val="ffffff"/>
              </a:solidFill>
              <a:effectLst/>
              <a:uFillTx/>
              <a:latin typeface="Arial"/>
            </a:endParaRPr>
          </a:p>
          <a:p>
            <a:pPr defTabSz="914400">
              <a:lnSpc>
                <a:spcPct val="100000"/>
              </a:lnSpc>
              <a:tabLst>
                <a:tab algn="l" pos="0"/>
              </a:tabLst>
            </a:pPr>
            <a:r>
              <a:rPr lang="pl-PL" sz="900" b="0" u="none" strike="noStrike">
                <a:solidFill>
                  <a:srgbClr val="00e676"/>
                </a:solidFill>
                <a:effectLst/>
                <a:uFillTx/>
                <a:latin typeface="Consolas"/>
                <a:ea typeface="Consolas"/>
              </a:rPr>
              <a:t>  primary = Color(0xFF6750A4),</a:t>
            </a:r>
            <a:endParaRPr lang="pl-PL" sz="900" b="0" u="none" strike="noStrike">
              <a:solidFill>
                <a:srgbClr val="ffffff"/>
              </a:solidFill>
              <a:effectLst/>
              <a:uFillTx/>
              <a:latin typeface="Arial"/>
            </a:endParaRPr>
          </a:p>
          <a:p>
            <a:pPr defTabSz="914400">
              <a:lnSpc>
                <a:spcPct val="100000"/>
              </a:lnSpc>
              <a:tabLst>
                <a:tab algn="l" pos="0"/>
              </a:tabLst>
            </a:pPr>
            <a:r>
              <a:rPr lang="pl-PL" sz="900" b="0" u="none" strike="noStrike">
                <a:solidFill>
                  <a:srgbClr val="00e676"/>
                </a:solidFill>
                <a:effectLst/>
                <a:uFillTx/>
                <a:latin typeface="Consolas"/>
                <a:ea typeface="Consolas"/>
              </a:rPr>
              <a:t>  secondary = Color(0xFF625B71),</a:t>
            </a:r>
            <a:endParaRPr lang="pl-PL" sz="900" b="0" u="none" strike="noStrike">
              <a:solidFill>
                <a:srgbClr val="ffffff"/>
              </a:solidFill>
              <a:effectLst/>
              <a:uFillTx/>
              <a:latin typeface="Arial"/>
            </a:endParaRPr>
          </a:p>
          <a:p>
            <a:pPr defTabSz="914400">
              <a:lnSpc>
                <a:spcPct val="100000"/>
              </a:lnSpc>
              <a:tabLst>
                <a:tab algn="l" pos="0"/>
              </a:tabLst>
            </a:pPr>
            <a:r>
              <a:rPr lang="pl-PL" sz="900" b="0" u="none" strike="noStrike">
                <a:solidFill>
                  <a:srgbClr val="00e676"/>
                </a:solidFill>
                <a:effectLst/>
                <a:uFillTx/>
                <a:latin typeface="Consolas"/>
                <a:ea typeface="Consolas"/>
              </a:rPr>
              <a:t>  surface = Color(0xFFFFFBFE)</a:t>
            </a:r>
            <a:endParaRPr lang="pl-PL" sz="900" b="0" u="none" strike="noStrike">
              <a:solidFill>
                <a:srgbClr val="ffffff"/>
              </a:solidFill>
              <a:effectLst/>
              <a:uFillTx/>
              <a:latin typeface="Arial"/>
            </a:endParaRPr>
          </a:p>
          <a:p>
            <a:pPr defTabSz="914400">
              <a:lnSpc>
                <a:spcPct val="100000"/>
              </a:lnSpc>
              <a:tabLst>
                <a:tab algn="l" pos="0"/>
              </a:tabLst>
            </a:pPr>
            <a:r>
              <a:rPr lang="pl-PL" sz="900" b="0" u="none" strike="noStrike">
                <a:solidFill>
                  <a:srgbClr val="00e676"/>
                </a:solidFill>
                <a:effectLst/>
                <a:uFillTx/>
                <a:latin typeface="Consolas"/>
                <a:ea typeface="Consolas"/>
              </a:rPr>
              <a:t>)</a:t>
            </a:r>
            <a:endParaRPr lang="pl-PL" sz="900" b="0" u="none" strike="noStrike">
              <a:solidFill>
                <a:srgbClr val="ffffff"/>
              </a:solidFill>
              <a:effectLst/>
              <a:uFillTx/>
              <a:latin typeface="Arial"/>
            </a:endParaRPr>
          </a:p>
        </p:txBody>
      </p:sp>
      <p:grpSp>
        <p:nvGrpSpPr>
          <p:cNvPr id="1607" name="Grupa 34"/>
          <p:cNvGrpSpPr/>
          <p:nvPr/>
        </p:nvGrpSpPr>
        <p:grpSpPr>
          <a:xfrm>
            <a:off x="4754880" y="914400"/>
            <a:ext cx="4068000" cy="3912480"/>
            <a:chOff x="4754880" y="914400"/>
            <a:chExt cx="4068000" cy="3912480"/>
          </a:xfrm>
        </p:grpSpPr>
        <p:sp>
          <p:nvSpPr>
            <p:cNvPr id="1608" name="Shape 17"/>
            <p:cNvSpPr/>
            <p:nvPr/>
          </p:nvSpPr>
          <p:spPr>
            <a:xfrm>
              <a:off x="4754880" y="914400"/>
              <a:ext cx="4068000" cy="840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09" name="Shape 18"/>
            <p:cNvSpPr/>
            <p:nvPr/>
          </p:nvSpPr>
          <p:spPr>
            <a:xfrm>
              <a:off x="4754880" y="914400"/>
              <a:ext cx="44640" cy="8402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10" name="Text 19"/>
            <p:cNvSpPr/>
            <p:nvPr/>
          </p:nvSpPr>
          <p:spPr>
            <a:xfrm>
              <a:off x="4969800" y="948600"/>
              <a:ext cx="380736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b388ff"/>
                  </a:solidFill>
                  <a:effectLst/>
                  <a:uFillTx/>
                  <a:latin typeface="Calibri"/>
                  <a:ea typeface="DejaVu Sans"/>
                </a:rPr>
                <a:t>Elevation (</a:t>
              </a:r>
              <a:r>
                <a:rPr lang="pl-PL" sz="1600" b="1" u="none" strike="noStrike">
                  <a:solidFill>
                    <a:srgbClr val="b388ff"/>
                  </a:solidFill>
                  <a:effectLst/>
                  <a:uFillTx/>
                  <a:latin typeface="Calibri"/>
                  <a:ea typeface="DejaVu Sans"/>
                </a:rPr>
                <a:t>w</a:t>
              </a:r>
              <a:r>
                <a:rPr lang="en-US" sz="1600" b="1" u="none" strike="noStrike">
                  <a:solidFill>
                    <a:srgbClr val="b388ff"/>
                  </a:solidFill>
                  <a:effectLst/>
                  <a:uFillTx/>
                  <a:latin typeface="Calibri"/>
                  <a:ea typeface="DejaVu Sans"/>
                </a:rPr>
                <a:t>ysokość)</a:t>
              </a:r>
              <a:endParaRPr lang="pl-PL" sz="1600" b="0" u="none" strike="noStrike">
                <a:solidFill>
                  <a:srgbClr val="ffffff"/>
                </a:solidFill>
                <a:effectLst/>
                <a:uFillTx/>
                <a:latin typeface="Arial"/>
              </a:endParaRPr>
            </a:p>
          </p:txBody>
        </p:sp>
        <p:sp>
          <p:nvSpPr>
            <p:cNvPr id="1611" name="Text 20"/>
            <p:cNvSpPr/>
            <p:nvPr/>
          </p:nvSpPr>
          <p:spPr>
            <a:xfrm>
              <a:off x="4969800" y="1243440"/>
              <a:ext cx="3318120" cy="510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Cienie tworzą hierarchię. Im wyżej, tym większy cień </a:t>
              </a:r>
              <a:br>
                <a:rPr sz="1200"/>
              </a:br>
              <a:r>
                <a:rPr lang="en-US" sz="1200" b="0" u="none" strike="noStrike">
                  <a:solidFill>
                    <a:srgbClr val="ccddee"/>
                  </a:solidFill>
                  <a:effectLst/>
                  <a:uFillTx/>
                  <a:latin typeface="Calibri"/>
                  <a:ea typeface="DejaVu Sans"/>
                </a:rPr>
                <a:t>(0–24dp). Cards, FAB, AppBar.</a:t>
              </a:r>
              <a:endParaRPr lang="pl-PL" sz="1200" b="0" u="none" strike="noStrike">
                <a:solidFill>
                  <a:srgbClr val="ffffff"/>
                </a:solidFill>
                <a:effectLst/>
                <a:uFillTx/>
                <a:latin typeface="Arial"/>
              </a:endParaRPr>
            </a:p>
          </p:txBody>
        </p:sp>
        <p:sp>
          <p:nvSpPr>
            <p:cNvPr id="1612" name="Shape 21"/>
            <p:cNvSpPr/>
            <p:nvPr/>
          </p:nvSpPr>
          <p:spPr>
            <a:xfrm>
              <a:off x="4754880" y="1938600"/>
              <a:ext cx="4068000" cy="840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13" name="Shape 22"/>
            <p:cNvSpPr/>
            <p:nvPr/>
          </p:nvSpPr>
          <p:spPr>
            <a:xfrm>
              <a:off x="4754880" y="1938600"/>
              <a:ext cx="44640" cy="8402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14" name="Text 23"/>
            <p:cNvSpPr/>
            <p:nvPr/>
          </p:nvSpPr>
          <p:spPr>
            <a:xfrm>
              <a:off x="4969800" y="1972800"/>
              <a:ext cx="380736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00d4ff"/>
                  </a:solidFill>
                  <a:effectLst/>
                  <a:uFillTx/>
                  <a:latin typeface="Calibri"/>
                  <a:ea typeface="DejaVu Sans"/>
                </a:rPr>
                <a:t>Komponenty Material 3</a:t>
              </a:r>
              <a:endParaRPr lang="pl-PL" sz="1600" b="0" u="none" strike="noStrike">
                <a:solidFill>
                  <a:srgbClr val="ffffff"/>
                </a:solidFill>
                <a:effectLst/>
                <a:uFillTx/>
                <a:latin typeface="Arial"/>
              </a:endParaRPr>
            </a:p>
          </p:txBody>
        </p:sp>
        <p:sp>
          <p:nvSpPr>
            <p:cNvPr id="1615" name="Text 24"/>
            <p:cNvSpPr/>
            <p:nvPr/>
          </p:nvSpPr>
          <p:spPr>
            <a:xfrm>
              <a:off x="4969800" y="2267640"/>
              <a:ext cx="3179160" cy="510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Cards, Buttons, Text Fields, Chips, Bottom Nav, </a:t>
              </a:r>
              <a:br>
                <a:rPr sz="1200"/>
              </a:br>
              <a:r>
                <a:rPr lang="en-US" sz="1200" b="0" u="none" strike="noStrike">
                  <a:solidFill>
                    <a:srgbClr val="ccddee"/>
                  </a:solidFill>
                  <a:effectLst/>
                  <a:uFillTx/>
                  <a:latin typeface="Calibri"/>
                  <a:ea typeface="DejaVu Sans"/>
                </a:rPr>
                <a:t>Modal Sheets</a:t>
              </a:r>
              <a:r>
                <a:rPr lang="pl-PL" sz="1200" b="0" u="none" strike="noStrike">
                  <a:solidFill>
                    <a:srgbClr val="ccddee"/>
                  </a:solidFill>
                  <a:effectLst/>
                  <a:uFillTx/>
                  <a:latin typeface="Calibri"/>
                  <a:ea typeface="DejaVu Sans"/>
                </a:rPr>
                <a:t>;</a:t>
              </a:r>
              <a:r>
                <a:rPr lang="en-US" sz="1200" b="0" u="none" strike="noStrike">
                  <a:solidFill>
                    <a:srgbClr val="ccddee"/>
                  </a:solidFill>
                  <a:effectLst/>
                  <a:uFillTx/>
                  <a:latin typeface="Calibri"/>
                  <a:ea typeface="DejaVu Sans"/>
                </a:rPr>
                <a:t> gotowe.</a:t>
              </a:r>
              <a:endParaRPr lang="pl-PL" sz="1200" b="0" u="none" strike="noStrike">
                <a:solidFill>
                  <a:srgbClr val="ffffff"/>
                </a:solidFill>
                <a:effectLst/>
                <a:uFillTx/>
                <a:latin typeface="Arial"/>
              </a:endParaRPr>
            </a:p>
          </p:txBody>
        </p:sp>
        <p:sp>
          <p:nvSpPr>
            <p:cNvPr id="1616" name="Shape 25"/>
            <p:cNvSpPr/>
            <p:nvPr/>
          </p:nvSpPr>
          <p:spPr>
            <a:xfrm>
              <a:off x="4754880" y="2962800"/>
              <a:ext cx="4068000" cy="840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17" name="Shape 26"/>
            <p:cNvSpPr/>
            <p:nvPr/>
          </p:nvSpPr>
          <p:spPr>
            <a:xfrm>
              <a:off x="4754880" y="2962800"/>
              <a:ext cx="44640" cy="8402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18" name="Text 27"/>
            <p:cNvSpPr/>
            <p:nvPr/>
          </p:nvSpPr>
          <p:spPr>
            <a:xfrm>
              <a:off x="4969800" y="2997000"/>
              <a:ext cx="380736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ff2d78"/>
                  </a:solidFill>
                  <a:effectLst/>
                  <a:uFillTx/>
                  <a:latin typeface="Calibri"/>
                  <a:ea typeface="DejaVu Sans"/>
                </a:rPr>
                <a:t>Dark Theme</a:t>
              </a:r>
              <a:endParaRPr lang="pl-PL" sz="1600" b="0" u="none" strike="noStrike">
                <a:solidFill>
                  <a:srgbClr val="ffffff"/>
                </a:solidFill>
                <a:effectLst/>
                <a:uFillTx/>
                <a:latin typeface="Arial"/>
              </a:endParaRPr>
            </a:p>
          </p:txBody>
        </p:sp>
        <p:sp>
          <p:nvSpPr>
            <p:cNvPr id="1619" name="Text 28"/>
            <p:cNvSpPr/>
            <p:nvPr/>
          </p:nvSpPr>
          <p:spPr>
            <a:xfrm>
              <a:off x="4969800" y="3291840"/>
              <a:ext cx="3377880" cy="510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Wsparcie od Material Design 2.0. </a:t>
              </a:r>
              <a:br>
                <a:rPr sz="1200"/>
              </a:br>
              <a:r>
                <a:rPr lang="en-US" sz="1200" b="0" u="none" strike="noStrike">
                  <a:solidFill>
                    <a:srgbClr val="ccddee"/>
                  </a:solidFill>
                  <a:effectLst/>
                  <a:uFillTx/>
                  <a:latin typeface="Calibri"/>
                  <a:ea typeface="DejaVu Sans"/>
                </a:rPr>
                <a:t>Automatyczne tokeny kolorów.</a:t>
              </a:r>
              <a:endParaRPr lang="pl-PL" sz="1200" b="0" u="none" strike="noStrike">
                <a:solidFill>
                  <a:srgbClr val="ffffff"/>
                </a:solidFill>
                <a:effectLst/>
                <a:uFillTx/>
                <a:latin typeface="Arial"/>
              </a:endParaRPr>
            </a:p>
          </p:txBody>
        </p:sp>
        <p:sp>
          <p:nvSpPr>
            <p:cNvPr id="1620" name="Shape 29"/>
            <p:cNvSpPr/>
            <p:nvPr/>
          </p:nvSpPr>
          <p:spPr>
            <a:xfrm>
              <a:off x="4754880" y="3986640"/>
              <a:ext cx="4068000" cy="840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21" name="Shape 30"/>
            <p:cNvSpPr/>
            <p:nvPr/>
          </p:nvSpPr>
          <p:spPr>
            <a:xfrm>
              <a:off x="4754880" y="3986640"/>
              <a:ext cx="44640" cy="8402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22" name="Text 31"/>
            <p:cNvSpPr/>
            <p:nvPr/>
          </p:nvSpPr>
          <p:spPr>
            <a:xfrm>
              <a:off x="4969800" y="4021200"/>
              <a:ext cx="380736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ff9100"/>
                  </a:solidFill>
                  <a:effectLst/>
                  <a:uFillTx/>
                  <a:latin typeface="Calibri"/>
                  <a:ea typeface="DejaVu Sans"/>
                </a:rPr>
                <a:t>iOS vs Material</a:t>
              </a:r>
              <a:endParaRPr lang="pl-PL" sz="1600" b="0" u="none" strike="noStrike">
                <a:solidFill>
                  <a:srgbClr val="ffffff"/>
                </a:solidFill>
                <a:effectLst/>
                <a:uFillTx/>
                <a:latin typeface="Arial"/>
              </a:endParaRPr>
            </a:p>
          </p:txBody>
        </p:sp>
        <p:sp>
          <p:nvSpPr>
            <p:cNvPr id="1623" name="Text 32"/>
            <p:cNvSpPr/>
            <p:nvPr/>
          </p:nvSpPr>
          <p:spPr>
            <a:xfrm>
              <a:off x="4969800" y="4316040"/>
              <a:ext cx="3377880" cy="510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iOS: płaski, minimalistyczny. Material: głębia, ruch, nasycone kolory. Nie mieszaj!</a:t>
              </a:r>
              <a:endParaRPr lang="pl-PL" sz="1200" b="0" u="none" strike="noStrike">
                <a:solidFill>
                  <a:srgbClr val="ffffff"/>
                </a:solidFill>
                <a:effectLst/>
                <a:uFillTx/>
                <a:latin typeface="Arial"/>
              </a:endParaRPr>
            </a:p>
          </p:txBody>
        </p:sp>
      </p:grpSp>
      <p:sp>
        <p:nvSpPr>
          <p:cNvPr id="1624" name="Text 35"/>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20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625" name="Grupa 45"/>
          <p:cNvGrpSpPr/>
          <p:nvPr/>
        </p:nvGrpSpPr>
        <p:grpSpPr>
          <a:xfrm>
            <a:off x="-2520" y="4884840"/>
            <a:ext cx="9145440" cy="259200"/>
            <a:chOff x="-2520" y="4884840"/>
            <a:chExt cx="9145440" cy="259200"/>
          </a:xfrm>
        </p:grpSpPr>
        <p:sp>
          <p:nvSpPr>
            <p:cNvPr id="1626"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27"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628" name="Grupa 48"/>
            <p:cNvGrpSpPr/>
            <p:nvPr/>
          </p:nvGrpSpPr>
          <p:grpSpPr>
            <a:xfrm>
              <a:off x="-2520" y="5099400"/>
              <a:ext cx="9145440" cy="44640"/>
              <a:chOff x="-2520" y="5099400"/>
              <a:chExt cx="9145440" cy="44640"/>
            </a:xfrm>
          </p:grpSpPr>
          <p:sp>
            <p:nvSpPr>
              <p:cNvPr id="1629"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0"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1"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2"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3"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4"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5"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6"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7"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8"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39"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0"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1"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2"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3"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4"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5"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6"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7"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8"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49"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50" name="Shape 52"/>
              <p:cNvSpPr/>
              <p:nvPr/>
            </p:nvSpPr>
            <p:spPr>
              <a:xfrm>
                <a:off x="41749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1"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2"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3"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4"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5"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6"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7"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8"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59"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0"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1"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2"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3"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4"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5"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6"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7"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8"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69"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0"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1"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2"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3"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4"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675" name="Shape 0"/>
          <p:cNvSpPr/>
          <p:nvPr/>
        </p:nvSpPr>
        <p:spPr>
          <a:xfrm>
            <a:off x="320040" y="255960"/>
            <a:ext cx="53640" cy="5018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6"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WCAG i dostępność w Aplikacjach Mobilnych</a:t>
            </a:r>
            <a:endParaRPr lang="pl-PL" sz="2200" b="0" u="none" strike="noStrike">
              <a:solidFill>
                <a:srgbClr val="ffffff"/>
              </a:solidFill>
              <a:effectLst/>
              <a:uFillTx/>
              <a:latin typeface="Arial"/>
            </a:endParaRPr>
          </a:p>
        </p:txBody>
      </p:sp>
      <p:sp>
        <p:nvSpPr>
          <p:cNvPr id="1677" name="Shape 2"/>
          <p:cNvSpPr/>
          <p:nvPr/>
        </p:nvSpPr>
        <p:spPr>
          <a:xfrm>
            <a:off x="320040" y="914400"/>
            <a:ext cx="2028960" cy="1873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8" name="Shape 3"/>
          <p:cNvSpPr/>
          <p:nvPr/>
        </p:nvSpPr>
        <p:spPr>
          <a:xfrm>
            <a:off x="320040" y="914400"/>
            <a:ext cx="44640" cy="18734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79" name="Text 4"/>
          <p:cNvSpPr/>
          <p:nvPr/>
        </p:nvSpPr>
        <p:spPr>
          <a:xfrm>
            <a:off x="484560" y="978480"/>
            <a:ext cx="1818720" cy="5457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lang="pl-PL" sz="1600" b="1" u="none" strike="noStrike">
                <a:solidFill>
                  <a:srgbClr val="b388ff"/>
                </a:solidFill>
                <a:effectLst/>
                <a:uFillTx/>
                <a:latin typeface="Calibri"/>
                <a:ea typeface="DejaVu Sans"/>
              </a:rPr>
              <a:t>Perceivable</a:t>
            </a:r>
            <a:endParaRPr lang="pl-PL" sz="1600" b="0" u="none" strike="noStrike">
              <a:solidFill>
                <a:srgbClr val="ffffff"/>
              </a:solidFill>
              <a:effectLst/>
              <a:uFillTx/>
              <a:latin typeface="Arial"/>
            </a:endParaRPr>
          </a:p>
          <a:p>
            <a:pPr algn="ctr" defTabSz="914400">
              <a:lnSpc>
                <a:spcPct val="100000"/>
              </a:lnSpc>
              <a:tabLst>
                <a:tab algn="l" pos="0"/>
              </a:tabLst>
            </a:pPr>
            <a:r>
              <a:rPr lang="pl-PL" sz="1600" b="1" u="none" strike="noStrike">
                <a:solidFill>
                  <a:srgbClr val="b388ff"/>
                </a:solidFill>
                <a:effectLst/>
                <a:uFillTx/>
                <a:latin typeface="Calibri"/>
                <a:ea typeface="DejaVu Sans"/>
              </a:rPr>
              <a:t>(postrzegalny)</a:t>
            </a:r>
            <a:endParaRPr lang="pl-PL" sz="1600" b="0" u="none" strike="noStrike">
              <a:solidFill>
                <a:srgbClr val="ffffff"/>
              </a:solidFill>
              <a:effectLst/>
              <a:uFillTx/>
              <a:latin typeface="Arial"/>
            </a:endParaRPr>
          </a:p>
        </p:txBody>
      </p:sp>
      <p:sp>
        <p:nvSpPr>
          <p:cNvPr id="1680" name="Text 5"/>
          <p:cNvSpPr/>
          <p:nvPr/>
        </p:nvSpPr>
        <p:spPr>
          <a:xfrm>
            <a:off x="484560" y="1666080"/>
            <a:ext cx="1818720" cy="1066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Użytkownik może postrzegać informacje. Kontrast, alt text, podpisy video.</a:t>
            </a:r>
            <a:endParaRPr lang="pl-PL" sz="1200" b="0" u="none" strike="noStrike">
              <a:solidFill>
                <a:srgbClr val="ffffff"/>
              </a:solidFill>
              <a:effectLst/>
              <a:uFillTx/>
              <a:latin typeface="Arial"/>
            </a:endParaRPr>
          </a:p>
        </p:txBody>
      </p:sp>
      <p:sp>
        <p:nvSpPr>
          <p:cNvPr id="1681" name="Shape 6"/>
          <p:cNvSpPr/>
          <p:nvPr/>
        </p:nvSpPr>
        <p:spPr>
          <a:xfrm>
            <a:off x="2468880" y="914400"/>
            <a:ext cx="2028960" cy="1873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2100" b="0" u="none" strike="noStrike">
              <a:solidFill>
                <a:srgbClr val="ffffff"/>
              </a:solidFill>
              <a:effectLst/>
              <a:uFillTx/>
              <a:latin typeface="Arial"/>
              <a:ea typeface="DejaVu Sans"/>
            </a:endParaRPr>
          </a:p>
        </p:txBody>
      </p:sp>
      <p:sp>
        <p:nvSpPr>
          <p:cNvPr id="1682" name="Shape 7"/>
          <p:cNvSpPr/>
          <p:nvPr/>
        </p:nvSpPr>
        <p:spPr>
          <a:xfrm>
            <a:off x="2468880" y="914400"/>
            <a:ext cx="44640" cy="18734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83" name="Text 8"/>
          <p:cNvSpPr/>
          <p:nvPr/>
        </p:nvSpPr>
        <p:spPr>
          <a:xfrm>
            <a:off x="2633400" y="978480"/>
            <a:ext cx="1818720" cy="5457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lang="pl-PL" sz="1600" b="1" u="none" strike="noStrike">
                <a:solidFill>
                  <a:srgbClr val="00d4ff"/>
                </a:solidFill>
                <a:effectLst/>
                <a:uFillTx/>
                <a:latin typeface="Calibri"/>
                <a:ea typeface="DejaVu Sans"/>
              </a:rPr>
              <a:t>Operable</a:t>
            </a:r>
            <a:endParaRPr lang="pl-PL" sz="1600" b="0" u="none" strike="noStrike">
              <a:solidFill>
                <a:srgbClr val="ffffff"/>
              </a:solidFill>
              <a:effectLst/>
              <a:uFillTx/>
              <a:latin typeface="Arial"/>
            </a:endParaRPr>
          </a:p>
          <a:p>
            <a:pPr algn="ctr" defTabSz="914400">
              <a:lnSpc>
                <a:spcPct val="100000"/>
              </a:lnSpc>
              <a:tabLst>
                <a:tab algn="l" pos="0"/>
              </a:tabLst>
            </a:pPr>
            <a:r>
              <a:rPr lang="pl-PL" sz="1600" b="1" u="none" strike="noStrike">
                <a:solidFill>
                  <a:srgbClr val="00d4ff"/>
                </a:solidFill>
                <a:effectLst/>
                <a:uFillTx/>
                <a:latin typeface="Calibri"/>
                <a:ea typeface="DejaVu Sans"/>
              </a:rPr>
              <a:t>(operatywny)</a:t>
            </a:r>
            <a:endParaRPr lang="pl-PL" sz="1600" b="0" u="none" strike="noStrike">
              <a:solidFill>
                <a:srgbClr val="ffffff"/>
              </a:solidFill>
              <a:effectLst/>
              <a:uFillTx/>
              <a:latin typeface="Arial"/>
            </a:endParaRPr>
          </a:p>
        </p:txBody>
      </p:sp>
      <p:sp>
        <p:nvSpPr>
          <p:cNvPr id="1684" name="Text 9"/>
          <p:cNvSpPr/>
          <p:nvPr/>
        </p:nvSpPr>
        <p:spPr>
          <a:xfrm>
            <a:off x="2633400" y="1666080"/>
            <a:ext cx="1818720" cy="1066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050" b="0" u="none" strike="noStrike">
                <a:solidFill>
                  <a:srgbClr val="ccddee"/>
                </a:solidFill>
                <a:effectLst/>
                <a:uFillTx/>
                <a:latin typeface="Calibri"/>
                <a:ea typeface="DejaVu Sans"/>
              </a:rPr>
              <a:t>Interfejs można obsługiwać. Rozmiar celów, gesty, czas na akcje.</a:t>
            </a:r>
            <a:endParaRPr lang="pl-PL" sz="1050" b="0" u="none" strike="noStrike">
              <a:solidFill>
                <a:srgbClr val="ffffff"/>
              </a:solidFill>
              <a:effectLst/>
              <a:uFillTx/>
              <a:latin typeface="Arial"/>
            </a:endParaRPr>
          </a:p>
        </p:txBody>
      </p:sp>
      <p:sp>
        <p:nvSpPr>
          <p:cNvPr id="1685" name="Shape 10"/>
          <p:cNvSpPr/>
          <p:nvPr/>
        </p:nvSpPr>
        <p:spPr>
          <a:xfrm>
            <a:off x="4617720" y="914400"/>
            <a:ext cx="2028960" cy="1873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86" name="Shape 11"/>
          <p:cNvSpPr/>
          <p:nvPr/>
        </p:nvSpPr>
        <p:spPr>
          <a:xfrm>
            <a:off x="4617720" y="914400"/>
            <a:ext cx="44640" cy="18734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87" name="Text 12"/>
          <p:cNvSpPr/>
          <p:nvPr/>
        </p:nvSpPr>
        <p:spPr>
          <a:xfrm>
            <a:off x="4782240" y="978480"/>
            <a:ext cx="1818720" cy="5457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lang="pl-PL" sz="1600" b="1" u="none" strike="noStrike">
                <a:solidFill>
                  <a:srgbClr val="ff2d78"/>
                </a:solidFill>
                <a:effectLst/>
                <a:uFillTx/>
                <a:latin typeface="Calibri"/>
                <a:ea typeface="DejaVu Sans"/>
              </a:rPr>
              <a:t>Understandable</a:t>
            </a:r>
            <a:endParaRPr lang="pl-PL" sz="1600" b="0" u="none" strike="noStrike">
              <a:solidFill>
                <a:srgbClr val="ffffff"/>
              </a:solidFill>
              <a:effectLst/>
              <a:uFillTx/>
              <a:latin typeface="Arial"/>
            </a:endParaRPr>
          </a:p>
          <a:p>
            <a:pPr algn="ctr" defTabSz="914400">
              <a:lnSpc>
                <a:spcPct val="100000"/>
              </a:lnSpc>
              <a:tabLst>
                <a:tab algn="l" pos="0"/>
              </a:tabLst>
            </a:pPr>
            <a:r>
              <a:rPr lang="pl-PL" sz="1600" b="1" u="none" strike="noStrike">
                <a:solidFill>
                  <a:srgbClr val="ff2d78"/>
                </a:solidFill>
                <a:effectLst/>
                <a:uFillTx/>
                <a:latin typeface="Calibri"/>
                <a:ea typeface="DejaVu Sans"/>
              </a:rPr>
              <a:t>(zrozumiały)</a:t>
            </a:r>
            <a:endParaRPr lang="pl-PL" sz="1600" b="0" u="none" strike="noStrike">
              <a:solidFill>
                <a:srgbClr val="ffffff"/>
              </a:solidFill>
              <a:effectLst/>
              <a:uFillTx/>
              <a:latin typeface="Arial"/>
            </a:endParaRPr>
          </a:p>
        </p:txBody>
      </p:sp>
      <p:sp>
        <p:nvSpPr>
          <p:cNvPr id="1688" name="Text 13"/>
          <p:cNvSpPr/>
          <p:nvPr/>
        </p:nvSpPr>
        <p:spPr>
          <a:xfrm>
            <a:off x="4782240" y="1666080"/>
            <a:ext cx="1818720" cy="1066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Treść i nawigacja są zrozumiałe. Język, spójność, pomoc w błędach.</a:t>
            </a:r>
            <a:endParaRPr lang="pl-PL" sz="1200" b="0" u="none" strike="noStrike">
              <a:solidFill>
                <a:srgbClr val="ffffff"/>
              </a:solidFill>
              <a:effectLst/>
              <a:uFillTx/>
              <a:latin typeface="Arial"/>
            </a:endParaRPr>
          </a:p>
        </p:txBody>
      </p:sp>
      <p:sp>
        <p:nvSpPr>
          <p:cNvPr id="1689" name="Shape 14"/>
          <p:cNvSpPr/>
          <p:nvPr/>
        </p:nvSpPr>
        <p:spPr>
          <a:xfrm>
            <a:off x="6766560" y="914400"/>
            <a:ext cx="2177640" cy="1873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2100" b="0" u="none" strike="noStrike">
              <a:solidFill>
                <a:srgbClr val="ffffff"/>
              </a:solidFill>
              <a:effectLst/>
              <a:uFillTx/>
              <a:latin typeface="Arial"/>
              <a:ea typeface="DejaVu Sans"/>
            </a:endParaRPr>
          </a:p>
        </p:txBody>
      </p:sp>
      <p:sp>
        <p:nvSpPr>
          <p:cNvPr id="1690" name="Shape 15"/>
          <p:cNvSpPr/>
          <p:nvPr/>
        </p:nvSpPr>
        <p:spPr>
          <a:xfrm>
            <a:off x="6766560" y="914400"/>
            <a:ext cx="44640" cy="18734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91" name="Text 16"/>
          <p:cNvSpPr/>
          <p:nvPr/>
        </p:nvSpPr>
        <p:spPr>
          <a:xfrm>
            <a:off x="6931080" y="978480"/>
            <a:ext cx="1818720" cy="5457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lang="pl-PL" sz="1600" b="1" u="none" strike="noStrike">
                <a:solidFill>
                  <a:srgbClr val="00e676"/>
                </a:solidFill>
                <a:effectLst/>
                <a:uFillTx/>
                <a:latin typeface="Calibri"/>
                <a:ea typeface="DejaVu Sans"/>
              </a:rPr>
              <a:t>Robust</a:t>
            </a:r>
            <a:endParaRPr lang="pl-PL" sz="1600" b="0" u="none" strike="noStrike">
              <a:solidFill>
                <a:srgbClr val="ffffff"/>
              </a:solidFill>
              <a:effectLst/>
              <a:uFillTx/>
              <a:latin typeface="Arial"/>
            </a:endParaRPr>
          </a:p>
          <a:p>
            <a:pPr algn="ctr" defTabSz="914400">
              <a:lnSpc>
                <a:spcPct val="100000"/>
              </a:lnSpc>
              <a:tabLst>
                <a:tab algn="l" pos="0"/>
              </a:tabLst>
            </a:pPr>
            <a:r>
              <a:rPr lang="pl-PL" sz="1600" b="1" u="none" strike="noStrike">
                <a:solidFill>
                  <a:srgbClr val="00e676"/>
                </a:solidFill>
                <a:effectLst/>
                <a:uFillTx/>
                <a:latin typeface="Calibri"/>
                <a:ea typeface="DejaVu Sans"/>
              </a:rPr>
              <a:t>(solidny)</a:t>
            </a:r>
            <a:endParaRPr lang="pl-PL" sz="1600" b="0" u="none" strike="noStrike">
              <a:solidFill>
                <a:srgbClr val="ffffff"/>
              </a:solidFill>
              <a:effectLst/>
              <a:uFillTx/>
              <a:latin typeface="Arial"/>
            </a:endParaRPr>
          </a:p>
        </p:txBody>
      </p:sp>
      <p:sp>
        <p:nvSpPr>
          <p:cNvPr id="1692" name="Text 17"/>
          <p:cNvSpPr/>
          <p:nvPr/>
        </p:nvSpPr>
        <p:spPr>
          <a:xfrm>
            <a:off x="6933240" y="1666080"/>
            <a:ext cx="1953720" cy="1066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Działa z różnymi technologiami. Kompatybilność z czytnikami ekranu.</a:t>
            </a:r>
            <a:endParaRPr lang="pl-PL" sz="1200" b="0" u="none" strike="noStrike">
              <a:solidFill>
                <a:srgbClr val="ffffff"/>
              </a:solidFill>
              <a:effectLst/>
              <a:uFillTx/>
              <a:latin typeface="Arial"/>
            </a:endParaRPr>
          </a:p>
        </p:txBody>
      </p:sp>
      <p:sp>
        <p:nvSpPr>
          <p:cNvPr id="1693" name="Shape 18"/>
          <p:cNvSpPr/>
          <p:nvPr/>
        </p:nvSpPr>
        <p:spPr>
          <a:xfrm>
            <a:off x="320040" y="2880360"/>
            <a:ext cx="8624160" cy="273240"/>
          </a:xfrm>
          <a:prstGeom prst="rect">
            <a:avLst/>
          </a:prstGeom>
          <a:solidFill>
            <a:srgbClr val="1a3050"/>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94" name="Text 19"/>
          <p:cNvSpPr/>
          <p:nvPr/>
        </p:nvSpPr>
        <p:spPr>
          <a:xfrm>
            <a:off x="457200" y="2907720"/>
            <a:ext cx="82285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Konkretne wymagania kontrastu i rozmiarów</a:t>
            </a:r>
            <a:endParaRPr lang="pl-PL" sz="1200" b="0" u="none" strike="noStrike">
              <a:solidFill>
                <a:srgbClr val="ffffff"/>
              </a:solidFill>
              <a:effectLst/>
              <a:uFillTx/>
              <a:latin typeface="Arial"/>
            </a:endParaRPr>
          </a:p>
        </p:txBody>
      </p:sp>
      <p:sp>
        <p:nvSpPr>
          <p:cNvPr id="1695" name="Shape 20"/>
          <p:cNvSpPr/>
          <p:nvPr/>
        </p:nvSpPr>
        <p:spPr>
          <a:xfrm>
            <a:off x="320040" y="3227760"/>
            <a:ext cx="8624160" cy="254880"/>
          </a:xfrm>
          <a:prstGeom prst="rect">
            <a:avLst/>
          </a:prstGeom>
          <a:solidFill>
            <a:srgbClr val="112233"/>
          </a:solidFill>
          <a:ln w="12600">
            <a:solidFill>
              <a:srgbClr val="1122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96" name="Text 21"/>
          <p:cNvSpPr/>
          <p:nvPr/>
        </p:nvSpPr>
        <p:spPr>
          <a:xfrm>
            <a:off x="457200" y="3227760"/>
            <a:ext cx="594252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Tekst normalny (&lt;18px)</a:t>
            </a:r>
            <a:endParaRPr lang="pl-PL" sz="1200" b="0" u="none" strike="noStrike">
              <a:solidFill>
                <a:srgbClr val="ffffff"/>
              </a:solidFill>
              <a:effectLst/>
              <a:uFillTx/>
              <a:latin typeface="Arial"/>
            </a:endParaRPr>
          </a:p>
        </p:txBody>
      </p:sp>
      <p:sp>
        <p:nvSpPr>
          <p:cNvPr id="1697" name="Shape 22"/>
          <p:cNvSpPr/>
          <p:nvPr/>
        </p:nvSpPr>
        <p:spPr>
          <a:xfrm>
            <a:off x="6400800" y="3227760"/>
            <a:ext cx="2284920" cy="254880"/>
          </a:xfrm>
          <a:prstGeom prst="rect">
            <a:avLst/>
          </a:prstGeom>
          <a:solidFill>
            <a:srgbClr val="112233"/>
          </a:solidFill>
          <a:ln w="12600">
            <a:solidFill>
              <a:srgbClr val="1122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698" name="Text 23"/>
          <p:cNvSpPr/>
          <p:nvPr/>
        </p:nvSpPr>
        <p:spPr>
          <a:xfrm>
            <a:off x="6400800" y="3227760"/>
            <a:ext cx="228492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0d4ff"/>
                </a:solidFill>
                <a:effectLst/>
                <a:uFillTx/>
                <a:latin typeface="Calibri"/>
                <a:ea typeface="DejaVu Sans"/>
              </a:rPr>
              <a:t>4.5:1</a:t>
            </a:r>
            <a:endParaRPr lang="pl-PL" sz="1600" b="0" u="none" strike="noStrike">
              <a:solidFill>
                <a:srgbClr val="ffffff"/>
              </a:solidFill>
              <a:effectLst/>
              <a:uFillTx/>
              <a:latin typeface="Arial"/>
            </a:endParaRPr>
          </a:p>
        </p:txBody>
      </p:sp>
      <p:sp>
        <p:nvSpPr>
          <p:cNvPr id="1699" name="Shape 24"/>
          <p:cNvSpPr/>
          <p:nvPr/>
        </p:nvSpPr>
        <p:spPr>
          <a:xfrm>
            <a:off x="320040" y="3502080"/>
            <a:ext cx="8624160" cy="254880"/>
          </a:xfrm>
          <a:prstGeom prst="rect">
            <a:avLst/>
          </a:prstGeom>
          <a:solidFill>
            <a:srgbClr val="0a1929"/>
          </a:solidFill>
          <a:ln w="12600">
            <a:solidFill>
              <a:srgbClr val="0a1929"/>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00" name="Text 25"/>
          <p:cNvSpPr/>
          <p:nvPr/>
        </p:nvSpPr>
        <p:spPr>
          <a:xfrm>
            <a:off x="457200" y="3502080"/>
            <a:ext cx="594252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Duży tekst (≥18px bold / 24px)</a:t>
            </a:r>
            <a:endParaRPr lang="pl-PL" sz="1200" b="0" u="none" strike="noStrike">
              <a:solidFill>
                <a:srgbClr val="ffffff"/>
              </a:solidFill>
              <a:effectLst/>
              <a:uFillTx/>
              <a:latin typeface="Arial"/>
            </a:endParaRPr>
          </a:p>
        </p:txBody>
      </p:sp>
      <p:sp>
        <p:nvSpPr>
          <p:cNvPr id="1701" name="Shape 26"/>
          <p:cNvSpPr/>
          <p:nvPr/>
        </p:nvSpPr>
        <p:spPr>
          <a:xfrm>
            <a:off x="6400800" y="3502080"/>
            <a:ext cx="2284920" cy="254880"/>
          </a:xfrm>
          <a:prstGeom prst="rect">
            <a:avLst/>
          </a:prstGeom>
          <a:solidFill>
            <a:srgbClr val="0a1929"/>
          </a:solidFill>
          <a:ln w="12600">
            <a:solidFill>
              <a:srgbClr val="0a1929"/>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02" name="Text 27"/>
          <p:cNvSpPr/>
          <p:nvPr/>
        </p:nvSpPr>
        <p:spPr>
          <a:xfrm>
            <a:off x="6400800" y="3502080"/>
            <a:ext cx="228492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00e676"/>
                </a:solidFill>
                <a:effectLst/>
                <a:uFillTx/>
                <a:latin typeface="Calibri"/>
                <a:ea typeface="DejaVu Sans"/>
              </a:rPr>
              <a:t>3:1</a:t>
            </a:r>
            <a:endParaRPr lang="pl-PL" sz="1600" b="0" u="none" strike="noStrike">
              <a:solidFill>
                <a:srgbClr val="ffffff"/>
              </a:solidFill>
              <a:effectLst/>
              <a:uFillTx/>
              <a:latin typeface="Arial"/>
            </a:endParaRPr>
          </a:p>
        </p:txBody>
      </p:sp>
      <p:sp>
        <p:nvSpPr>
          <p:cNvPr id="1703" name="Shape 28"/>
          <p:cNvSpPr/>
          <p:nvPr/>
        </p:nvSpPr>
        <p:spPr>
          <a:xfrm>
            <a:off x="320040" y="3776400"/>
            <a:ext cx="8624160" cy="254880"/>
          </a:xfrm>
          <a:prstGeom prst="rect">
            <a:avLst/>
          </a:prstGeom>
          <a:solidFill>
            <a:srgbClr val="112233"/>
          </a:solidFill>
          <a:ln w="12600">
            <a:solidFill>
              <a:srgbClr val="1122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04" name="Text 29"/>
          <p:cNvSpPr/>
          <p:nvPr/>
        </p:nvSpPr>
        <p:spPr>
          <a:xfrm>
            <a:off x="457200" y="3776400"/>
            <a:ext cx="594252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Elementy interfejsu (ikony, granice)</a:t>
            </a:r>
            <a:endParaRPr lang="pl-PL" sz="1200" b="0" u="none" strike="noStrike">
              <a:solidFill>
                <a:srgbClr val="ffffff"/>
              </a:solidFill>
              <a:effectLst/>
              <a:uFillTx/>
              <a:latin typeface="Arial"/>
            </a:endParaRPr>
          </a:p>
        </p:txBody>
      </p:sp>
      <p:sp>
        <p:nvSpPr>
          <p:cNvPr id="1705" name="Shape 30"/>
          <p:cNvSpPr/>
          <p:nvPr/>
        </p:nvSpPr>
        <p:spPr>
          <a:xfrm>
            <a:off x="6400800" y="3776400"/>
            <a:ext cx="2284920" cy="254880"/>
          </a:xfrm>
          <a:prstGeom prst="rect">
            <a:avLst/>
          </a:prstGeom>
          <a:solidFill>
            <a:srgbClr val="112233"/>
          </a:solidFill>
          <a:ln w="12600">
            <a:solidFill>
              <a:srgbClr val="1122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06" name="Text 31"/>
          <p:cNvSpPr/>
          <p:nvPr/>
        </p:nvSpPr>
        <p:spPr>
          <a:xfrm>
            <a:off x="6400800" y="3776400"/>
            <a:ext cx="228492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ff2d78"/>
                </a:solidFill>
                <a:effectLst/>
                <a:uFillTx/>
                <a:latin typeface="Calibri"/>
                <a:ea typeface="DejaVu Sans"/>
              </a:rPr>
              <a:t>3:1</a:t>
            </a:r>
            <a:endParaRPr lang="pl-PL" sz="1600" b="0" u="none" strike="noStrike">
              <a:solidFill>
                <a:srgbClr val="ffffff"/>
              </a:solidFill>
              <a:effectLst/>
              <a:uFillTx/>
              <a:latin typeface="Arial"/>
            </a:endParaRPr>
          </a:p>
        </p:txBody>
      </p:sp>
      <p:sp>
        <p:nvSpPr>
          <p:cNvPr id="1707" name="Shape 32"/>
          <p:cNvSpPr/>
          <p:nvPr/>
        </p:nvSpPr>
        <p:spPr>
          <a:xfrm>
            <a:off x="320040" y="4050720"/>
            <a:ext cx="8624160" cy="254880"/>
          </a:xfrm>
          <a:prstGeom prst="rect">
            <a:avLst/>
          </a:prstGeom>
          <a:solidFill>
            <a:srgbClr val="0a1929"/>
          </a:solidFill>
          <a:ln w="12600">
            <a:solidFill>
              <a:srgbClr val="0a1929"/>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08" name="Text 33"/>
          <p:cNvSpPr/>
          <p:nvPr/>
        </p:nvSpPr>
        <p:spPr>
          <a:xfrm>
            <a:off x="457200" y="4050720"/>
            <a:ext cx="594252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Min. rozmiar celu (WCAG 2.2)</a:t>
            </a:r>
            <a:endParaRPr lang="pl-PL" sz="1200" b="0" u="none" strike="noStrike">
              <a:solidFill>
                <a:srgbClr val="ffffff"/>
              </a:solidFill>
              <a:effectLst/>
              <a:uFillTx/>
              <a:latin typeface="Arial"/>
            </a:endParaRPr>
          </a:p>
        </p:txBody>
      </p:sp>
      <p:sp>
        <p:nvSpPr>
          <p:cNvPr id="1709" name="Shape 34"/>
          <p:cNvSpPr/>
          <p:nvPr/>
        </p:nvSpPr>
        <p:spPr>
          <a:xfrm>
            <a:off x="6400800" y="4050720"/>
            <a:ext cx="2284920" cy="254880"/>
          </a:xfrm>
          <a:prstGeom prst="rect">
            <a:avLst/>
          </a:prstGeom>
          <a:solidFill>
            <a:srgbClr val="0a1929"/>
          </a:solidFill>
          <a:ln w="12600">
            <a:solidFill>
              <a:srgbClr val="0a1929"/>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10" name="Text 35"/>
          <p:cNvSpPr/>
          <p:nvPr/>
        </p:nvSpPr>
        <p:spPr>
          <a:xfrm>
            <a:off x="6400800" y="4050720"/>
            <a:ext cx="228492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ff9100"/>
                </a:solidFill>
                <a:effectLst/>
                <a:uFillTx/>
                <a:latin typeface="Calibri"/>
                <a:ea typeface="DejaVu Sans"/>
              </a:rPr>
              <a:t>24×24px</a:t>
            </a:r>
            <a:endParaRPr lang="pl-PL" sz="1600" b="0" u="none" strike="noStrike">
              <a:solidFill>
                <a:srgbClr val="ffffff"/>
              </a:solidFill>
              <a:effectLst/>
              <a:uFillTx/>
              <a:latin typeface="Arial"/>
            </a:endParaRPr>
          </a:p>
        </p:txBody>
      </p:sp>
      <p:sp>
        <p:nvSpPr>
          <p:cNvPr id="1711" name="Shape 36"/>
          <p:cNvSpPr/>
          <p:nvPr/>
        </p:nvSpPr>
        <p:spPr>
          <a:xfrm>
            <a:off x="320040" y="4325040"/>
            <a:ext cx="8624160" cy="254880"/>
          </a:xfrm>
          <a:prstGeom prst="rect">
            <a:avLst/>
          </a:prstGeom>
          <a:solidFill>
            <a:srgbClr val="112233"/>
          </a:solidFill>
          <a:ln w="12600">
            <a:solidFill>
              <a:srgbClr val="1122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12" name="Text 37"/>
          <p:cNvSpPr/>
          <p:nvPr/>
        </p:nvSpPr>
        <p:spPr>
          <a:xfrm>
            <a:off x="457200" y="4325040"/>
            <a:ext cx="594252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ccddee"/>
                </a:solidFill>
                <a:effectLst/>
                <a:uFillTx/>
                <a:latin typeface="Calibri"/>
                <a:ea typeface="DejaVu Sans"/>
              </a:rPr>
              <a:t>Zalecany rozmiar celu (iOS / Android)</a:t>
            </a:r>
            <a:endParaRPr lang="pl-PL" sz="1200" b="0" u="none" strike="noStrike">
              <a:solidFill>
                <a:srgbClr val="ffffff"/>
              </a:solidFill>
              <a:effectLst/>
              <a:uFillTx/>
              <a:latin typeface="Arial"/>
            </a:endParaRPr>
          </a:p>
        </p:txBody>
      </p:sp>
      <p:sp>
        <p:nvSpPr>
          <p:cNvPr id="1713" name="Shape 38"/>
          <p:cNvSpPr/>
          <p:nvPr/>
        </p:nvSpPr>
        <p:spPr>
          <a:xfrm>
            <a:off x="6400800" y="4325040"/>
            <a:ext cx="2284920" cy="254880"/>
          </a:xfrm>
          <a:prstGeom prst="rect">
            <a:avLst/>
          </a:prstGeom>
          <a:solidFill>
            <a:srgbClr val="112233"/>
          </a:solidFill>
          <a:ln w="12600">
            <a:solidFill>
              <a:srgbClr val="1122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14" name="Text 39"/>
          <p:cNvSpPr/>
          <p:nvPr/>
        </p:nvSpPr>
        <p:spPr>
          <a:xfrm>
            <a:off x="6400800" y="4325040"/>
            <a:ext cx="228492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b388ff"/>
                </a:solidFill>
                <a:effectLst/>
                <a:uFillTx/>
                <a:latin typeface="Calibri"/>
                <a:ea typeface="DejaVu Sans"/>
              </a:rPr>
              <a:t>44px / 48dp</a:t>
            </a:r>
            <a:endParaRPr lang="pl-PL" sz="1600" b="0" u="none" strike="noStrike">
              <a:solidFill>
                <a:srgbClr val="ffffff"/>
              </a:solidFill>
              <a:effectLst/>
              <a:uFillTx/>
              <a:latin typeface="Arial"/>
            </a:endParaRPr>
          </a:p>
        </p:txBody>
      </p:sp>
      <p:sp>
        <p:nvSpPr>
          <p:cNvPr id="1715" name="Text 42"/>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21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716" name="Grupa 9"/>
          <p:cNvGrpSpPr/>
          <p:nvPr/>
        </p:nvGrpSpPr>
        <p:grpSpPr>
          <a:xfrm>
            <a:off x="-2520" y="4884840"/>
            <a:ext cx="9145440" cy="259200"/>
            <a:chOff x="-2520" y="4884840"/>
            <a:chExt cx="9145440" cy="259200"/>
          </a:xfrm>
        </p:grpSpPr>
        <p:sp>
          <p:nvSpPr>
            <p:cNvPr id="1717"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18"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719" name="Grupa 12"/>
            <p:cNvGrpSpPr/>
            <p:nvPr/>
          </p:nvGrpSpPr>
          <p:grpSpPr>
            <a:xfrm>
              <a:off x="-2520" y="5099400"/>
              <a:ext cx="9145440" cy="44640"/>
              <a:chOff x="-2520" y="5099400"/>
              <a:chExt cx="9145440" cy="44640"/>
            </a:xfrm>
          </p:grpSpPr>
          <p:sp>
            <p:nvSpPr>
              <p:cNvPr id="1720"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1"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2"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3"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4"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5"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6"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7"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8"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29"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0"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1"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2"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3"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4"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5"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6"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7"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8"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9"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40"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41"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42" name="Shape 52"/>
              <p:cNvSpPr/>
              <p:nvPr/>
            </p:nvSpPr>
            <p:spPr>
              <a:xfrm>
                <a:off x="437364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43"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44"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45"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46"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47"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48"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49"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0"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1"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2"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3"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4"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5"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6"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7"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8"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59"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0"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1"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2"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3"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4"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5"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766"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333333"/>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67" name="Shape 1"/>
          <p:cNvSpPr/>
          <p:nvPr/>
        </p:nvSpPr>
        <p:spPr>
          <a:xfrm>
            <a:off x="0" y="1645920"/>
            <a:ext cx="108720" cy="182772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68" name="Text 2"/>
          <p:cNvSpPr/>
          <p:nvPr/>
        </p:nvSpPr>
        <p:spPr>
          <a:xfrm>
            <a:off x="914400" y="548640"/>
            <a:ext cx="7314120" cy="821880"/>
          </a:xfrm>
          <a:prstGeom prst="rect">
            <a:avLst/>
          </a:prstGeom>
          <a:noFill/>
          <a:ln w="0">
            <a:noFill/>
          </a:ln>
          <a:effectLst>
            <a:outerShdw dir="2700000" dist="16800"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ff9100"/>
                </a:solidFill>
                <a:effectLst/>
                <a:uFillTx/>
                <a:latin typeface="Calibri"/>
                <a:ea typeface="DejaVu Sans"/>
              </a:rPr>
              <a:t>05</a:t>
            </a:r>
            <a:endParaRPr lang="pl-PL" sz="5200" b="0" u="none" strike="noStrike">
              <a:solidFill>
                <a:srgbClr val="ffffff"/>
              </a:solidFill>
              <a:effectLst/>
              <a:uFillTx/>
              <a:latin typeface="Arial"/>
            </a:endParaRPr>
          </a:p>
        </p:txBody>
      </p:sp>
      <p:sp>
        <p:nvSpPr>
          <p:cNvPr id="1769"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Dobór Kolorów i Psychologia Barw</a:t>
            </a:r>
            <a:endParaRPr lang="pl-PL" sz="2800" b="0" u="none" strike="noStrike">
              <a:solidFill>
                <a:srgbClr val="ffffff"/>
              </a:solidFill>
              <a:effectLst/>
              <a:uFillTx/>
              <a:latin typeface="Arial"/>
            </a:endParaRPr>
          </a:p>
        </p:txBody>
      </p:sp>
      <p:sp>
        <p:nvSpPr>
          <p:cNvPr id="1770"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Teoria kolorów i jej zastosowanie w projektowaniu mobilnym</a:t>
            </a:r>
            <a:endParaRPr lang="pl-PL" sz="1400" b="0" u="none" strike="noStrike">
              <a:solidFill>
                <a:srgbClr val="ffffff"/>
              </a:solidFill>
              <a:effectLst/>
              <a:uFillTx/>
              <a:latin typeface="Arial"/>
            </a:endParaRPr>
          </a:p>
        </p:txBody>
      </p:sp>
      <p:sp>
        <p:nvSpPr>
          <p:cNvPr id="1771"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22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772" name="Grupa 43"/>
          <p:cNvGrpSpPr/>
          <p:nvPr/>
        </p:nvGrpSpPr>
        <p:grpSpPr>
          <a:xfrm>
            <a:off x="-2520" y="4884840"/>
            <a:ext cx="9145440" cy="259200"/>
            <a:chOff x="-2520" y="4884840"/>
            <a:chExt cx="9145440" cy="259200"/>
          </a:xfrm>
        </p:grpSpPr>
        <p:sp>
          <p:nvSpPr>
            <p:cNvPr id="1773"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774"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775" name="Grupa 46"/>
            <p:cNvGrpSpPr/>
            <p:nvPr/>
          </p:nvGrpSpPr>
          <p:grpSpPr>
            <a:xfrm>
              <a:off x="-2520" y="5099400"/>
              <a:ext cx="9145440" cy="44640"/>
              <a:chOff x="-2520" y="5099400"/>
              <a:chExt cx="9145440" cy="44640"/>
            </a:xfrm>
          </p:grpSpPr>
          <p:sp>
            <p:nvSpPr>
              <p:cNvPr id="1776"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77"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78"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79"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0"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1"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2"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3"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4"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5"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6"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7"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8"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89"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0"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1"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2"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3"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4"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5"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6"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7"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8"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99" name="Shape 52"/>
              <p:cNvSpPr/>
              <p:nvPr/>
            </p:nvSpPr>
            <p:spPr>
              <a:xfrm>
                <a:off x="457236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0"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1"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2"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3"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4"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5"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6"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7"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8"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09"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0"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1"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2"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3"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4"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5"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6"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7"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8"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19"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20"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21"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822" name="Shape 0"/>
          <p:cNvSpPr/>
          <p:nvPr/>
        </p:nvSpPr>
        <p:spPr>
          <a:xfrm>
            <a:off x="320040" y="255960"/>
            <a:ext cx="53640" cy="5018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23"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Teoria Kolorów w projektowaniu mobilnym</a:t>
            </a:r>
            <a:endParaRPr lang="pl-PL" sz="2200" b="0" u="none" strike="noStrike">
              <a:solidFill>
                <a:srgbClr val="ffffff"/>
              </a:solidFill>
              <a:effectLst/>
              <a:uFillTx/>
              <a:latin typeface="Arial"/>
            </a:endParaRPr>
          </a:p>
        </p:txBody>
      </p:sp>
      <p:sp>
        <p:nvSpPr>
          <p:cNvPr id="1824" name="Shape 2"/>
          <p:cNvSpPr/>
          <p:nvPr/>
        </p:nvSpPr>
        <p:spPr>
          <a:xfrm>
            <a:off x="320040" y="914400"/>
            <a:ext cx="4068000" cy="21934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25" name="Shape 3"/>
          <p:cNvSpPr/>
          <p:nvPr/>
        </p:nvSpPr>
        <p:spPr>
          <a:xfrm>
            <a:off x="320040" y="914400"/>
            <a:ext cx="44640" cy="219348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26" name="Text 4"/>
          <p:cNvSpPr/>
          <p:nvPr/>
        </p:nvSpPr>
        <p:spPr>
          <a:xfrm>
            <a:off x="429840" y="94968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9100"/>
                </a:solidFill>
                <a:effectLst/>
                <a:uFillTx/>
                <a:latin typeface="Calibri"/>
                <a:ea typeface="DejaVu Sans"/>
              </a:rPr>
              <a:t>Schematy kolorystyczne</a:t>
            </a:r>
            <a:endParaRPr lang="pl-PL" sz="1600" b="0" u="none" strike="noStrike">
              <a:solidFill>
                <a:srgbClr val="ffffff"/>
              </a:solidFill>
              <a:effectLst/>
              <a:uFillTx/>
              <a:latin typeface="Arial"/>
            </a:endParaRPr>
          </a:p>
        </p:txBody>
      </p:sp>
      <p:sp>
        <p:nvSpPr>
          <p:cNvPr id="1827" name="Text 5"/>
          <p:cNvSpPr/>
          <p:nvPr/>
        </p:nvSpPr>
        <p:spPr>
          <a:xfrm>
            <a:off x="429840" y="1243440"/>
            <a:ext cx="3912480" cy="1809360"/>
          </a:xfrm>
          <a:prstGeom prst="rect">
            <a:avLst/>
          </a:prstGeom>
          <a:noFill/>
          <a:ln w="0">
            <a:noFill/>
          </a:ln>
        </p:spPr>
        <p:style>
          <a:lnRef idx="0"/>
          <a:fillRef idx="0"/>
          <a:effectRef idx="0"/>
          <a:fontRef idx="minor"/>
        </p:style>
        <p:txBody>
          <a:bodyPr lIns="0" rIns="0" tIns="0" bIns="0" anchor="t">
            <a:noAutofit/>
          </a:bodyPr>
          <a:p>
            <a:pPr defTabSz="914400">
              <a:lnSpc>
                <a:spcPts val="1400"/>
              </a:lnSpc>
              <a:spcAft>
                <a:spcPts val="1199"/>
              </a:spcAft>
              <a:tabLst>
                <a:tab algn="l" pos="0"/>
              </a:tabLst>
            </a:pPr>
            <a:r>
              <a:rPr lang="pl-PL" sz="1400" b="1" u="none" strike="noStrike">
                <a:solidFill>
                  <a:srgbClr val="ccddee"/>
                </a:solidFill>
                <a:effectLst/>
                <a:uFillTx/>
                <a:latin typeface="Calibri"/>
                <a:ea typeface="DejaVu Sans"/>
              </a:rPr>
              <a:t>Monochromatyczny</a:t>
            </a:r>
            <a:r>
              <a:rPr lang="pl-PL" sz="1400" b="0" u="none" strike="noStrike">
                <a:solidFill>
                  <a:srgbClr val="ccddee"/>
                </a:solidFill>
                <a:effectLst/>
                <a:uFillTx/>
                <a:latin typeface="Calibri"/>
                <a:ea typeface="DejaVu Sans"/>
              </a:rPr>
              <a:t>: wariacje jednego koloru; spójność i elegancja</a:t>
            </a:r>
            <a:endParaRPr lang="pl-PL" sz="1400" b="0" u="none" strike="noStrike">
              <a:solidFill>
                <a:srgbClr val="ffffff"/>
              </a:solidFill>
              <a:effectLst/>
              <a:uFillTx/>
              <a:latin typeface="Arial"/>
            </a:endParaRPr>
          </a:p>
          <a:p>
            <a:pPr defTabSz="914400">
              <a:lnSpc>
                <a:spcPts val="1400"/>
              </a:lnSpc>
              <a:spcAft>
                <a:spcPts val="1199"/>
              </a:spcAft>
              <a:tabLst>
                <a:tab algn="l" pos="0"/>
              </a:tabLst>
            </a:pPr>
            <a:r>
              <a:rPr lang="pl-PL" sz="1400" b="1" u="none" strike="noStrike">
                <a:solidFill>
                  <a:srgbClr val="ccddee"/>
                </a:solidFill>
                <a:effectLst/>
                <a:uFillTx/>
                <a:latin typeface="Calibri"/>
                <a:ea typeface="DejaVu Sans"/>
              </a:rPr>
              <a:t>Analogiczny</a:t>
            </a:r>
            <a:r>
              <a:rPr lang="pl-PL" sz="1400" b="0" u="none" strike="noStrike">
                <a:solidFill>
                  <a:srgbClr val="ccddee"/>
                </a:solidFill>
                <a:effectLst/>
                <a:uFillTx/>
                <a:latin typeface="Calibri"/>
                <a:ea typeface="DejaVu Sans"/>
              </a:rPr>
              <a:t>: kolory sąsiadujące na kole; </a:t>
            </a:r>
            <a:br>
              <a:rPr sz="1400"/>
            </a:br>
            <a:r>
              <a:rPr lang="pl-PL" sz="1400" b="0" u="none" strike="noStrike">
                <a:solidFill>
                  <a:srgbClr val="ccddee"/>
                </a:solidFill>
                <a:effectLst/>
                <a:uFillTx/>
                <a:latin typeface="Calibri"/>
                <a:ea typeface="DejaVu Sans"/>
              </a:rPr>
              <a:t>harmonia</a:t>
            </a:r>
            <a:endParaRPr lang="pl-PL" sz="1400" b="0" u="none" strike="noStrike">
              <a:solidFill>
                <a:srgbClr val="ffffff"/>
              </a:solidFill>
              <a:effectLst/>
              <a:uFillTx/>
              <a:latin typeface="Arial"/>
            </a:endParaRPr>
          </a:p>
          <a:p>
            <a:pPr defTabSz="914400">
              <a:lnSpc>
                <a:spcPts val="1400"/>
              </a:lnSpc>
              <a:spcAft>
                <a:spcPts val="1199"/>
              </a:spcAft>
              <a:tabLst>
                <a:tab algn="l" pos="0"/>
              </a:tabLst>
            </a:pPr>
            <a:r>
              <a:rPr lang="pl-PL" sz="1400" b="1" u="none" strike="noStrike">
                <a:solidFill>
                  <a:srgbClr val="ccddee"/>
                </a:solidFill>
                <a:effectLst/>
                <a:uFillTx/>
                <a:latin typeface="Calibri"/>
                <a:ea typeface="DejaVu Sans"/>
              </a:rPr>
              <a:t>Komplementarny</a:t>
            </a:r>
            <a:r>
              <a:rPr lang="pl-PL" sz="1400" b="0" u="none" strike="noStrike">
                <a:solidFill>
                  <a:srgbClr val="ccddee"/>
                </a:solidFill>
                <a:effectLst/>
                <a:uFillTx/>
                <a:latin typeface="Calibri"/>
                <a:ea typeface="DejaVu Sans"/>
              </a:rPr>
              <a:t>: kolory przeciwne na kole; </a:t>
            </a:r>
            <a:br>
              <a:rPr sz="1400"/>
            </a:br>
            <a:r>
              <a:rPr lang="pl-PL" sz="1400" b="0" u="none" strike="noStrike">
                <a:solidFill>
                  <a:srgbClr val="ccddee"/>
                </a:solidFill>
                <a:effectLst/>
                <a:uFillTx/>
                <a:latin typeface="Calibri"/>
                <a:ea typeface="DejaVu Sans"/>
              </a:rPr>
              <a:t>kontrast i energia</a:t>
            </a:r>
            <a:endParaRPr lang="pl-PL" sz="1400" b="0" u="none" strike="noStrike">
              <a:solidFill>
                <a:srgbClr val="ffffff"/>
              </a:solidFill>
              <a:effectLst/>
              <a:uFillTx/>
              <a:latin typeface="Arial"/>
            </a:endParaRPr>
          </a:p>
          <a:p>
            <a:pPr defTabSz="914400">
              <a:lnSpc>
                <a:spcPts val="1400"/>
              </a:lnSpc>
              <a:spcAft>
                <a:spcPts val="1199"/>
              </a:spcAft>
              <a:tabLst>
                <a:tab algn="l" pos="0"/>
              </a:tabLst>
            </a:pPr>
            <a:r>
              <a:rPr lang="pl-PL" sz="1400" b="1" u="none" strike="noStrike">
                <a:solidFill>
                  <a:srgbClr val="ccddee"/>
                </a:solidFill>
                <a:effectLst/>
                <a:uFillTx/>
                <a:latin typeface="Calibri"/>
                <a:ea typeface="DejaVu Sans"/>
              </a:rPr>
              <a:t>Triadowy</a:t>
            </a:r>
            <a:r>
              <a:rPr lang="pl-PL" sz="1400" b="0" u="none" strike="noStrike">
                <a:solidFill>
                  <a:srgbClr val="ccddee"/>
                </a:solidFill>
                <a:effectLst/>
                <a:uFillTx/>
                <a:latin typeface="Calibri"/>
                <a:ea typeface="DejaVu Sans"/>
              </a:rPr>
              <a:t>: trzy kolory równomiernie; żywość i balans</a:t>
            </a:r>
            <a:endParaRPr lang="pl-PL" sz="1400" b="0" u="none" strike="noStrike">
              <a:solidFill>
                <a:srgbClr val="ffffff"/>
              </a:solidFill>
              <a:effectLst/>
              <a:uFillTx/>
              <a:latin typeface="Arial"/>
            </a:endParaRPr>
          </a:p>
        </p:txBody>
      </p:sp>
      <p:sp>
        <p:nvSpPr>
          <p:cNvPr id="1828" name="Shape 6"/>
          <p:cNvSpPr/>
          <p:nvPr/>
        </p:nvSpPr>
        <p:spPr>
          <a:xfrm>
            <a:off x="457200" y="3218760"/>
            <a:ext cx="456120" cy="456120"/>
          </a:xfrm>
          <a:prstGeom prst="ellipse">
            <a:avLst/>
          </a:prstGeom>
          <a:solidFill>
            <a:srgbClr val="e53935"/>
          </a:solidFill>
          <a:ln w="12600">
            <a:solidFill>
              <a:srgbClr val="e53935"/>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29" name="Shape 7"/>
          <p:cNvSpPr/>
          <p:nvPr/>
        </p:nvSpPr>
        <p:spPr>
          <a:xfrm>
            <a:off x="1097280" y="3218760"/>
            <a:ext cx="456120" cy="456120"/>
          </a:xfrm>
          <a:prstGeom prst="ellipse">
            <a:avLst/>
          </a:prstGeom>
          <a:solidFill>
            <a:srgbClr val="f57c00"/>
          </a:solidFill>
          <a:ln w="12600">
            <a:solidFill>
              <a:srgbClr val="f57c0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30" name="Shape 8"/>
          <p:cNvSpPr/>
          <p:nvPr/>
        </p:nvSpPr>
        <p:spPr>
          <a:xfrm>
            <a:off x="1737360" y="3218760"/>
            <a:ext cx="456120" cy="456120"/>
          </a:xfrm>
          <a:prstGeom prst="ellipse">
            <a:avLst/>
          </a:prstGeom>
          <a:solidFill>
            <a:srgbClr val="fdd835"/>
          </a:solidFill>
          <a:ln w="12600">
            <a:solidFill>
              <a:srgbClr val="fdd835"/>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31" name="Shape 9"/>
          <p:cNvSpPr/>
          <p:nvPr/>
        </p:nvSpPr>
        <p:spPr>
          <a:xfrm>
            <a:off x="2377440" y="3218760"/>
            <a:ext cx="456120" cy="456120"/>
          </a:xfrm>
          <a:prstGeom prst="ellipse">
            <a:avLst/>
          </a:prstGeom>
          <a:solidFill>
            <a:srgbClr val="43a047"/>
          </a:solidFill>
          <a:ln w="12600">
            <a:solidFill>
              <a:srgbClr val="43a047"/>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32" name="Shape 10"/>
          <p:cNvSpPr/>
          <p:nvPr/>
        </p:nvSpPr>
        <p:spPr>
          <a:xfrm>
            <a:off x="3017520" y="3218760"/>
            <a:ext cx="456120" cy="456120"/>
          </a:xfrm>
          <a:prstGeom prst="ellipse">
            <a:avLst/>
          </a:prstGeom>
          <a:solidFill>
            <a:srgbClr val="1e88e5"/>
          </a:solidFill>
          <a:ln w="12600">
            <a:solidFill>
              <a:srgbClr val="1e88e5"/>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33" name="Shape 11"/>
          <p:cNvSpPr/>
          <p:nvPr/>
        </p:nvSpPr>
        <p:spPr>
          <a:xfrm>
            <a:off x="3657600" y="3218760"/>
            <a:ext cx="456120" cy="456120"/>
          </a:xfrm>
          <a:prstGeom prst="ellipse">
            <a:avLst/>
          </a:prstGeom>
          <a:solidFill>
            <a:srgbClr val="8e24aa"/>
          </a:solidFill>
          <a:ln w="12600">
            <a:solidFill>
              <a:srgbClr val="8e24aa"/>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34" name="Shape 12"/>
          <p:cNvSpPr/>
          <p:nvPr/>
        </p:nvSpPr>
        <p:spPr>
          <a:xfrm>
            <a:off x="320040" y="3819240"/>
            <a:ext cx="1964880" cy="712080"/>
          </a:xfrm>
          <a:prstGeom prst="rect">
            <a:avLst/>
          </a:prstGeom>
          <a:solidFill>
            <a:srgbClr val="112233"/>
          </a:solidFill>
          <a:ln w="12600">
            <a:solidFill>
              <a:srgbClr val="ff910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35" name="Text 13"/>
          <p:cNvSpPr/>
          <p:nvPr/>
        </p:nvSpPr>
        <p:spPr>
          <a:xfrm>
            <a:off x="374760" y="3867480"/>
            <a:ext cx="181872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3200" b="1" u="none" strike="noStrike">
                <a:solidFill>
                  <a:srgbClr val="ff9100"/>
                </a:solidFill>
                <a:effectLst/>
                <a:uFillTx/>
                <a:latin typeface="Calibri"/>
                <a:ea typeface="DejaVu Sans"/>
              </a:rPr>
              <a:t>60-30-10</a:t>
            </a:r>
            <a:endParaRPr lang="pl-PL" sz="3200" b="0" u="none" strike="noStrike">
              <a:solidFill>
                <a:srgbClr val="ffffff"/>
              </a:solidFill>
              <a:effectLst/>
              <a:uFillTx/>
              <a:latin typeface="Arial"/>
            </a:endParaRPr>
          </a:p>
        </p:txBody>
      </p:sp>
      <p:sp>
        <p:nvSpPr>
          <p:cNvPr id="1836" name="Text 14"/>
          <p:cNvSpPr/>
          <p:nvPr/>
        </p:nvSpPr>
        <p:spPr>
          <a:xfrm>
            <a:off x="374760" y="4247280"/>
            <a:ext cx="181872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00" b="0" u="none" strike="noStrike">
                <a:solidFill>
                  <a:srgbClr val="8899aa"/>
                </a:solidFill>
                <a:effectLst/>
                <a:uFillTx/>
                <a:latin typeface="Calibri"/>
                <a:ea typeface="DejaVu Sans"/>
              </a:rPr>
              <a:t>zasada proporcji kolorów</a:t>
            </a:r>
            <a:endParaRPr lang="pl-PL" sz="1000" b="0" u="none" strike="noStrike">
              <a:solidFill>
                <a:srgbClr val="ffffff"/>
              </a:solidFill>
              <a:effectLst/>
              <a:uFillTx/>
              <a:latin typeface="Arial"/>
            </a:endParaRPr>
          </a:p>
        </p:txBody>
      </p:sp>
      <p:sp>
        <p:nvSpPr>
          <p:cNvPr id="1837" name="Shape 15"/>
          <p:cNvSpPr/>
          <p:nvPr/>
        </p:nvSpPr>
        <p:spPr>
          <a:xfrm>
            <a:off x="2423160" y="3819240"/>
            <a:ext cx="1964880" cy="712080"/>
          </a:xfrm>
          <a:prstGeom prst="rect">
            <a:avLst/>
          </a:prstGeom>
          <a:solidFill>
            <a:srgbClr val="112233"/>
          </a:solidFill>
          <a:ln w="12600">
            <a:solidFill>
              <a:srgbClr val="00d4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38" name="Text 16"/>
          <p:cNvSpPr/>
          <p:nvPr/>
        </p:nvSpPr>
        <p:spPr>
          <a:xfrm>
            <a:off x="2477880" y="3867480"/>
            <a:ext cx="181872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3200" b="1" u="none" strike="noStrike">
                <a:solidFill>
                  <a:srgbClr val="00d4ff"/>
                </a:solidFill>
                <a:effectLst/>
                <a:uFillTx/>
                <a:latin typeface="Calibri"/>
                <a:ea typeface="DejaVu Sans"/>
              </a:rPr>
              <a:t>3:1</a:t>
            </a:r>
            <a:endParaRPr lang="pl-PL" sz="3200" b="0" u="none" strike="noStrike">
              <a:solidFill>
                <a:srgbClr val="ffffff"/>
              </a:solidFill>
              <a:effectLst/>
              <a:uFillTx/>
              <a:latin typeface="Arial"/>
            </a:endParaRPr>
          </a:p>
        </p:txBody>
      </p:sp>
      <p:sp>
        <p:nvSpPr>
          <p:cNvPr id="1839" name="Text 17"/>
          <p:cNvSpPr/>
          <p:nvPr/>
        </p:nvSpPr>
        <p:spPr>
          <a:xfrm>
            <a:off x="2477880" y="4247280"/>
            <a:ext cx="181872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00" b="0" u="none" strike="noStrike">
                <a:solidFill>
                  <a:srgbClr val="8899aa"/>
                </a:solidFill>
                <a:effectLst/>
                <a:uFillTx/>
                <a:latin typeface="Calibri"/>
                <a:ea typeface="DejaVu Sans"/>
              </a:rPr>
              <a:t>min. kontrast dla elementów UI</a:t>
            </a:r>
            <a:endParaRPr lang="pl-PL" sz="1000" b="0" u="none" strike="noStrike">
              <a:solidFill>
                <a:srgbClr val="ffffff"/>
              </a:solidFill>
              <a:effectLst/>
              <a:uFillTx/>
              <a:latin typeface="Arial"/>
            </a:endParaRPr>
          </a:p>
        </p:txBody>
      </p:sp>
      <p:sp>
        <p:nvSpPr>
          <p:cNvPr id="1840" name="Shape 18"/>
          <p:cNvSpPr/>
          <p:nvPr/>
        </p:nvSpPr>
        <p:spPr>
          <a:xfrm>
            <a:off x="4754880" y="914400"/>
            <a:ext cx="4068000" cy="3245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41" name="Shape 19"/>
          <p:cNvSpPr/>
          <p:nvPr/>
        </p:nvSpPr>
        <p:spPr>
          <a:xfrm>
            <a:off x="4754880" y="914400"/>
            <a:ext cx="44640" cy="32450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42" name="Text 20"/>
          <p:cNvSpPr/>
          <p:nvPr/>
        </p:nvSpPr>
        <p:spPr>
          <a:xfrm>
            <a:off x="4892040" y="94428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Zastosowanie</a:t>
            </a:r>
            <a:r>
              <a:rPr lang="pl-PL" sz="1800" b="1" u="none" strike="noStrike">
                <a:solidFill>
                  <a:srgbClr val="ffffff"/>
                </a:solidFill>
                <a:effectLst/>
                <a:uFillTx/>
                <a:latin typeface="Calibri"/>
                <a:ea typeface="DejaVu Sans"/>
              </a:rPr>
              <a:t> w mobile</a:t>
            </a:r>
            <a:endParaRPr lang="pl-PL" sz="1800" b="0" u="none" strike="noStrike">
              <a:solidFill>
                <a:srgbClr val="ffffff"/>
              </a:solidFill>
              <a:effectLst/>
              <a:uFillTx/>
              <a:latin typeface="Arial"/>
            </a:endParaRPr>
          </a:p>
        </p:txBody>
      </p:sp>
      <p:sp>
        <p:nvSpPr>
          <p:cNvPr id="1843" name="Shape 21"/>
          <p:cNvSpPr/>
          <p:nvPr/>
        </p:nvSpPr>
        <p:spPr>
          <a:xfrm>
            <a:off x="4892040" y="139392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44" name="Text 22"/>
          <p:cNvSpPr/>
          <p:nvPr/>
        </p:nvSpPr>
        <p:spPr>
          <a:xfrm>
            <a:off x="4892040" y="139392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0d1b2a"/>
                </a:solidFill>
                <a:effectLst/>
                <a:uFillTx/>
                <a:latin typeface="Calibri"/>
                <a:ea typeface="DejaVu Sans"/>
              </a:rPr>
              <a:t>1</a:t>
            </a:r>
            <a:endParaRPr lang="pl-PL" sz="1400" b="0" u="none" strike="noStrike">
              <a:solidFill>
                <a:srgbClr val="ffffff"/>
              </a:solidFill>
              <a:effectLst/>
              <a:uFillTx/>
              <a:latin typeface="Arial"/>
            </a:endParaRPr>
          </a:p>
        </p:txBody>
      </p:sp>
      <p:sp>
        <p:nvSpPr>
          <p:cNvPr id="1845" name="Text 23"/>
          <p:cNvSpPr/>
          <p:nvPr/>
        </p:nvSpPr>
        <p:spPr>
          <a:xfrm>
            <a:off x="5239440" y="137160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Tożsamość marki</a:t>
            </a:r>
            <a:endParaRPr lang="pl-PL" sz="1400" b="0" u="none" strike="noStrike">
              <a:solidFill>
                <a:srgbClr val="ffffff"/>
              </a:solidFill>
              <a:effectLst/>
              <a:uFillTx/>
              <a:latin typeface="Arial"/>
            </a:endParaRPr>
          </a:p>
        </p:txBody>
      </p:sp>
      <p:sp>
        <p:nvSpPr>
          <p:cNvPr id="1846" name="Text 24"/>
          <p:cNvSpPr/>
          <p:nvPr/>
        </p:nvSpPr>
        <p:spPr>
          <a:xfrm>
            <a:off x="5239440" y="161532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Kolory budują rozpoznawalność. Spójność we wszystkich punktach styku.</a:t>
            </a:r>
            <a:endParaRPr lang="pl-PL" sz="1100" b="0" u="none" strike="noStrike">
              <a:solidFill>
                <a:srgbClr val="ffffff"/>
              </a:solidFill>
              <a:effectLst/>
              <a:uFillTx/>
              <a:latin typeface="Arial"/>
            </a:endParaRPr>
          </a:p>
        </p:txBody>
      </p:sp>
      <p:sp>
        <p:nvSpPr>
          <p:cNvPr id="1847" name="Shape 25"/>
          <p:cNvSpPr/>
          <p:nvPr/>
        </p:nvSpPr>
        <p:spPr>
          <a:xfrm>
            <a:off x="4892040" y="205236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48" name="Text 26"/>
          <p:cNvSpPr/>
          <p:nvPr/>
        </p:nvSpPr>
        <p:spPr>
          <a:xfrm>
            <a:off x="4892040" y="205236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0d1b2a"/>
                </a:solidFill>
                <a:effectLst/>
                <a:uFillTx/>
                <a:latin typeface="Calibri"/>
                <a:ea typeface="DejaVu Sans"/>
              </a:rPr>
              <a:t>2</a:t>
            </a:r>
            <a:endParaRPr lang="pl-PL" sz="1400" b="0" u="none" strike="noStrike">
              <a:solidFill>
                <a:srgbClr val="ffffff"/>
              </a:solidFill>
              <a:effectLst/>
              <a:uFillTx/>
              <a:latin typeface="Arial"/>
            </a:endParaRPr>
          </a:p>
        </p:txBody>
      </p:sp>
      <p:sp>
        <p:nvSpPr>
          <p:cNvPr id="1849" name="Text 27"/>
          <p:cNvSpPr/>
          <p:nvPr/>
        </p:nvSpPr>
        <p:spPr>
          <a:xfrm>
            <a:off x="5239440" y="20300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Kierowanie uwagą</a:t>
            </a:r>
            <a:endParaRPr lang="pl-PL" sz="1400" b="0" u="none" strike="noStrike">
              <a:solidFill>
                <a:srgbClr val="ffffff"/>
              </a:solidFill>
              <a:effectLst/>
              <a:uFillTx/>
              <a:latin typeface="Arial"/>
            </a:endParaRPr>
          </a:p>
        </p:txBody>
      </p:sp>
      <p:sp>
        <p:nvSpPr>
          <p:cNvPr id="1850" name="Text 28"/>
          <p:cNvSpPr/>
          <p:nvPr/>
        </p:nvSpPr>
        <p:spPr>
          <a:xfrm>
            <a:off x="5239440" y="227340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Kontrastowe kolory przyciągają do kluczowych elementów (CTA, błędy).</a:t>
            </a:r>
            <a:endParaRPr lang="pl-PL" sz="1100" b="0" u="none" strike="noStrike">
              <a:solidFill>
                <a:srgbClr val="ffffff"/>
              </a:solidFill>
              <a:effectLst/>
              <a:uFillTx/>
              <a:latin typeface="Arial"/>
            </a:endParaRPr>
          </a:p>
        </p:txBody>
      </p:sp>
      <p:sp>
        <p:nvSpPr>
          <p:cNvPr id="1851" name="Shape 29"/>
          <p:cNvSpPr/>
          <p:nvPr/>
        </p:nvSpPr>
        <p:spPr>
          <a:xfrm>
            <a:off x="4892040" y="271080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52" name="Text 30"/>
          <p:cNvSpPr/>
          <p:nvPr/>
        </p:nvSpPr>
        <p:spPr>
          <a:xfrm>
            <a:off x="4892040" y="271080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0d1b2a"/>
                </a:solidFill>
                <a:effectLst/>
                <a:uFillTx/>
                <a:latin typeface="Calibri"/>
                <a:ea typeface="DejaVu Sans"/>
              </a:rPr>
              <a:t>3</a:t>
            </a:r>
            <a:endParaRPr lang="pl-PL" sz="1400" b="0" u="none" strike="noStrike">
              <a:solidFill>
                <a:srgbClr val="ffffff"/>
              </a:solidFill>
              <a:effectLst/>
              <a:uFillTx/>
              <a:latin typeface="Arial"/>
            </a:endParaRPr>
          </a:p>
        </p:txBody>
      </p:sp>
      <p:sp>
        <p:nvSpPr>
          <p:cNvPr id="1853" name="Text 31"/>
          <p:cNvSpPr/>
          <p:nvPr/>
        </p:nvSpPr>
        <p:spPr>
          <a:xfrm>
            <a:off x="5239440" y="268848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Tworzenie nastroju</a:t>
            </a:r>
            <a:endParaRPr lang="pl-PL" sz="1400" b="0" u="none" strike="noStrike">
              <a:solidFill>
                <a:srgbClr val="ffffff"/>
              </a:solidFill>
              <a:effectLst/>
              <a:uFillTx/>
              <a:latin typeface="Arial"/>
            </a:endParaRPr>
          </a:p>
        </p:txBody>
      </p:sp>
      <p:sp>
        <p:nvSpPr>
          <p:cNvPr id="1854" name="Text 32"/>
          <p:cNvSpPr/>
          <p:nvPr/>
        </p:nvSpPr>
        <p:spPr>
          <a:xfrm>
            <a:off x="5239440" y="293184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Kolory wpływają na emocje. Niebieski = spokój, czerwony = pilność.</a:t>
            </a:r>
            <a:endParaRPr lang="pl-PL" sz="1100" b="0" u="none" strike="noStrike">
              <a:solidFill>
                <a:srgbClr val="ffffff"/>
              </a:solidFill>
              <a:effectLst/>
              <a:uFillTx/>
              <a:latin typeface="Arial"/>
            </a:endParaRPr>
          </a:p>
        </p:txBody>
      </p:sp>
      <p:sp>
        <p:nvSpPr>
          <p:cNvPr id="1855" name="Shape 33"/>
          <p:cNvSpPr/>
          <p:nvPr/>
        </p:nvSpPr>
        <p:spPr>
          <a:xfrm>
            <a:off x="4892040" y="3368880"/>
            <a:ext cx="254880" cy="25488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56" name="Text 34"/>
          <p:cNvSpPr/>
          <p:nvPr/>
        </p:nvSpPr>
        <p:spPr>
          <a:xfrm>
            <a:off x="4892040" y="33688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0d1b2a"/>
                </a:solidFill>
                <a:effectLst/>
                <a:uFillTx/>
                <a:latin typeface="Calibri"/>
                <a:ea typeface="DejaVu Sans"/>
              </a:rPr>
              <a:t>4</a:t>
            </a:r>
            <a:endParaRPr lang="pl-PL" sz="1400" b="0" u="none" strike="noStrike">
              <a:solidFill>
                <a:srgbClr val="ffffff"/>
              </a:solidFill>
              <a:effectLst/>
              <a:uFillTx/>
              <a:latin typeface="Arial"/>
            </a:endParaRPr>
          </a:p>
        </p:txBody>
      </p:sp>
      <p:sp>
        <p:nvSpPr>
          <p:cNvPr id="1857" name="Text 35"/>
          <p:cNvSpPr/>
          <p:nvPr/>
        </p:nvSpPr>
        <p:spPr>
          <a:xfrm>
            <a:off x="5239440" y="33465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Dostępność</a:t>
            </a:r>
            <a:endParaRPr lang="pl-PL" sz="1400" b="0" u="none" strike="noStrike">
              <a:solidFill>
                <a:srgbClr val="ffffff"/>
              </a:solidFill>
              <a:effectLst/>
              <a:uFillTx/>
              <a:latin typeface="Arial"/>
            </a:endParaRPr>
          </a:p>
        </p:txBody>
      </p:sp>
      <p:sp>
        <p:nvSpPr>
          <p:cNvPr id="1858" name="Text 36"/>
          <p:cNvSpPr/>
          <p:nvPr/>
        </p:nvSpPr>
        <p:spPr>
          <a:xfrm>
            <a:off x="5239440" y="35902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Odpowiedni kontrast dla osób z wadami wzroku. Nie polegaj tylko na kolorze.</a:t>
            </a:r>
            <a:endParaRPr lang="pl-PL" sz="1100" b="0" u="none" strike="noStrike">
              <a:solidFill>
                <a:srgbClr val="ffffff"/>
              </a:solidFill>
              <a:effectLst/>
              <a:uFillTx/>
              <a:latin typeface="Arial"/>
            </a:endParaRPr>
          </a:p>
        </p:txBody>
      </p:sp>
      <p:sp>
        <p:nvSpPr>
          <p:cNvPr id="1859" name="Shape 37"/>
          <p:cNvSpPr/>
          <p:nvPr/>
        </p:nvSpPr>
        <p:spPr>
          <a:xfrm>
            <a:off x="4754880" y="4224600"/>
            <a:ext cx="4068000" cy="59328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60" name="Text 38"/>
          <p:cNvSpPr/>
          <p:nvPr/>
        </p:nvSpPr>
        <p:spPr>
          <a:xfrm>
            <a:off x="4892040" y="4251960"/>
            <a:ext cx="3793680" cy="529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e1e3e3"/>
                </a:solidFill>
                <a:effectLst/>
                <a:uFillTx/>
                <a:latin typeface="Calibri"/>
                <a:ea typeface="DejaVu Sans"/>
              </a:rPr>
              <a:t>Narzędzia</a:t>
            </a:r>
            <a:r>
              <a:rPr lang="pl-PL" sz="1200" b="0" u="none" strike="noStrike">
                <a:solidFill>
                  <a:srgbClr val="e1e3e3"/>
                </a:solidFill>
                <a:effectLst/>
                <a:uFillTx/>
                <a:latin typeface="Calibri"/>
                <a:ea typeface="DejaVu Sans"/>
              </a:rPr>
              <a:t>: Coolors.co | Adobe Color | Material Color Tool | Stark (kontrast checker)</a:t>
            </a:r>
            <a:endParaRPr lang="pl-PL" sz="1200" b="0" u="none" strike="noStrike">
              <a:solidFill>
                <a:srgbClr val="ffffff"/>
              </a:solidFill>
              <a:effectLst/>
              <a:uFillTx/>
              <a:latin typeface="Arial"/>
            </a:endParaRPr>
          </a:p>
        </p:txBody>
      </p:sp>
      <p:sp>
        <p:nvSpPr>
          <p:cNvPr id="1861" name="Text 41"/>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23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862" name="Grupa 32"/>
          <p:cNvGrpSpPr/>
          <p:nvPr/>
        </p:nvGrpSpPr>
        <p:grpSpPr>
          <a:xfrm>
            <a:off x="-2520" y="4884840"/>
            <a:ext cx="9145440" cy="259200"/>
            <a:chOff x="-2520" y="4884840"/>
            <a:chExt cx="9145440" cy="259200"/>
          </a:xfrm>
        </p:grpSpPr>
        <p:sp>
          <p:nvSpPr>
            <p:cNvPr id="1863"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64"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865" name="Grupa 35"/>
            <p:cNvGrpSpPr/>
            <p:nvPr/>
          </p:nvGrpSpPr>
          <p:grpSpPr>
            <a:xfrm>
              <a:off x="-2520" y="5099400"/>
              <a:ext cx="9145440" cy="44640"/>
              <a:chOff x="-2520" y="5099400"/>
              <a:chExt cx="9145440" cy="44640"/>
            </a:xfrm>
          </p:grpSpPr>
          <p:sp>
            <p:nvSpPr>
              <p:cNvPr id="1866"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67"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68"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69"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0"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1"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2"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3"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4"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5"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6"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7"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8"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79"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0"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1"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2"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3"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4"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5"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6"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7"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8"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89"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90" name="Shape 52"/>
              <p:cNvSpPr/>
              <p:nvPr/>
            </p:nvSpPr>
            <p:spPr>
              <a:xfrm>
                <a:off x="477108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1"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2"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3"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4"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5"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6"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7"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8"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899"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0"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1"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2"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3"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4"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5"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6"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7"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8"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09"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10"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11"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912" name="Shape 0"/>
          <p:cNvSpPr/>
          <p:nvPr/>
        </p:nvSpPr>
        <p:spPr>
          <a:xfrm>
            <a:off x="320040" y="255960"/>
            <a:ext cx="53640" cy="5018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13"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Psychologia kolorów i emocje</a:t>
            </a:r>
            <a:endParaRPr lang="pl-PL" sz="2200" b="0" u="none" strike="noStrike">
              <a:solidFill>
                <a:srgbClr val="ffffff"/>
              </a:solidFill>
              <a:effectLst/>
              <a:uFillTx/>
              <a:latin typeface="Arial"/>
            </a:endParaRPr>
          </a:p>
        </p:txBody>
      </p:sp>
      <p:sp>
        <p:nvSpPr>
          <p:cNvPr id="1914" name="Shape 2"/>
          <p:cNvSpPr/>
          <p:nvPr/>
        </p:nvSpPr>
        <p:spPr>
          <a:xfrm>
            <a:off x="320040" y="960120"/>
            <a:ext cx="2742120" cy="1416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15" name="Shape 3"/>
          <p:cNvSpPr/>
          <p:nvPr/>
        </p:nvSpPr>
        <p:spPr>
          <a:xfrm>
            <a:off x="411480" y="1069920"/>
            <a:ext cx="383040" cy="383040"/>
          </a:xfrm>
          <a:prstGeom prst="ellipse">
            <a:avLst/>
          </a:prstGeom>
          <a:solidFill>
            <a:srgbClr val="e53935"/>
          </a:solidFill>
          <a:ln w="12600">
            <a:solidFill>
              <a:srgbClr val="e53935"/>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16" name="Text 4"/>
          <p:cNvSpPr/>
          <p:nvPr/>
        </p:nvSpPr>
        <p:spPr>
          <a:xfrm>
            <a:off x="887040" y="1069920"/>
            <a:ext cx="208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Czerwień</a:t>
            </a:r>
            <a:endParaRPr lang="pl-PL" sz="1800" b="0" u="none" strike="noStrike">
              <a:solidFill>
                <a:srgbClr val="ffffff"/>
              </a:solidFill>
              <a:effectLst/>
              <a:uFillTx/>
              <a:latin typeface="Arial"/>
            </a:endParaRPr>
          </a:p>
        </p:txBody>
      </p:sp>
      <p:sp>
        <p:nvSpPr>
          <p:cNvPr id="1917" name="Text 5"/>
          <p:cNvSpPr/>
          <p:nvPr/>
        </p:nvSpPr>
        <p:spPr>
          <a:xfrm>
            <a:off x="411480" y="1527120"/>
            <a:ext cx="2559240" cy="748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Podekscytowanie, pilność, pasja. YouTube, Netflix, Coca-Cola. Zwiększa tętno.</a:t>
            </a:r>
            <a:endParaRPr lang="pl-PL" sz="1400" b="0" u="none" strike="noStrike">
              <a:solidFill>
                <a:srgbClr val="ffffff"/>
              </a:solidFill>
              <a:effectLst/>
              <a:uFillTx/>
              <a:latin typeface="Arial"/>
            </a:endParaRPr>
          </a:p>
        </p:txBody>
      </p:sp>
      <p:sp>
        <p:nvSpPr>
          <p:cNvPr id="1918" name="Shape 6"/>
          <p:cNvSpPr/>
          <p:nvPr/>
        </p:nvSpPr>
        <p:spPr>
          <a:xfrm>
            <a:off x="3200400" y="960120"/>
            <a:ext cx="2742120" cy="1416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19" name="Shape 7"/>
          <p:cNvSpPr/>
          <p:nvPr/>
        </p:nvSpPr>
        <p:spPr>
          <a:xfrm>
            <a:off x="3291840" y="1069920"/>
            <a:ext cx="383040" cy="383040"/>
          </a:xfrm>
          <a:prstGeom prst="ellipse">
            <a:avLst/>
          </a:prstGeom>
          <a:solidFill>
            <a:srgbClr val="1e88e5"/>
          </a:solidFill>
          <a:ln w="12600">
            <a:solidFill>
              <a:srgbClr val="1e88e5"/>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20" name="Text 8"/>
          <p:cNvSpPr/>
          <p:nvPr/>
        </p:nvSpPr>
        <p:spPr>
          <a:xfrm>
            <a:off x="3767400" y="1069920"/>
            <a:ext cx="208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Niebieski</a:t>
            </a:r>
            <a:endParaRPr lang="pl-PL" sz="1800" b="0" u="none" strike="noStrike">
              <a:solidFill>
                <a:srgbClr val="ffffff"/>
              </a:solidFill>
              <a:effectLst/>
              <a:uFillTx/>
              <a:latin typeface="Arial"/>
            </a:endParaRPr>
          </a:p>
        </p:txBody>
      </p:sp>
      <p:sp>
        <p:nvSpPr>
          <p:cNvPr id="1921" name="Text 9"/>
          <p:cNvSpPr/>
          <p:nvPr/>
        </p:nvSpPr>
        <p:spPr>
          <a:xfrm>
            <a:off x="3291840" y="1527120"/>
            <a:ext cx="2559240" cy="748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Zaufanie, spokój, profesjonalizm. Facebook, LinkedIn, PayPal. Najbardziej lubiany globalnie.</a:t>
            </a:r>
            <a:endParaRPr lang="pl-PL" sz="1400" b="0" u="none" strike="noStrike">
              <a:solidFill>
                <a:srgbClr val="ffffff"/>
              </a:solidFill>
              <a:effectLst/>
              <a:uFillTx/>
              <a:latin typeface="Arial"/>
            </a:endParaRPr>
          </a:p>
        </p:txBody>
      </p:sp>
      <p:sp>
        <p:nvSpPr>
          <p:cNvPr id="1922" name="Shape 10"/>
          <p:cNvSpPr/>
          <p:nvPr/>
        </p:nvSpPr>
        <p:spPr>
          <a:xfrm>
            <a:off x="6080760" y="960120"/>
            <a:ext cx="2742120" cy="1416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23" name="Shape 11"/>
          <p:cNvSpPr/>
          <p:nvPr/>
        </p:nvSpPr>
        <p:spPr>
          <a:xfrm>
            <a:off x="6172200" y="1069920"/>
            <a:ext cx="383040" cy="383040"/>
          </a:xfrm>
          <a:prstGeom prst="ellipse">
            <a:avLst/>
          </a:prstGeom>
          <a:solidFill>
            <a:srgbClr val="43a047"/>
          </a:solidFill>
          <a:ln w="12600">
            <a:solidFill>
              <a:srgbClr val="43a047"/>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24" name="Text 12"/>
          <p:cNvSpPr/>
          <p:nvPr/>
        </p:nvSpPr>
        <p:spPr>
          <a:xfrm>
            <a:off x="6647760" y="1069920"/>
            <a:ext cx="208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Zieleń</a:t>
            </a:r>
            <a:endParaRPr lang="pl-PL" sz="1800" b="0" u="none" strike="noStrike">
              <a:solidFill>
                <a:srgbClr val="ffffff"/>
              </a:solidFill>
              <a:effectLst/>
              <a:uFillTx/>
              <a:latin typeface="Arial"/>
            </a:endParaRPr>
          </a:p>
        </p:txBody>
      </p:sp>
      <p:sp>
        <p:nvSpPr>
          <p:cNvPr id="1925" name="Text 13"/>
          <p:cNvSpPr/>
          <p:nvPr/>
        </p:nvSpPr>
        <p:spPr>
          <a:xfrm>
            <a:off x="6172200" y="1527120"/>
            <a:ext cx="2559240" cy="748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Natura, wzrost, sukces, harmonia. WhatsApp, Spotify, Starbucks. Relaksujący dla oczu.</a:t>
            </a:r>
            <a:endParaRPr lang="pl-PL" sz="1400" b="0" u="none" strike="noStrike">
              <a:solidFill>
                <a:srgbClr val="ffffff"/>
              </a:solidFill>
              <a:effectLst/>
              <a:uFillTx/>
              <a:latin typeface="Arial"/>
            </a:endParaRPr>
          </a:p>
        </p:txBody>
      </p:sp>
      <p:sp>
        <p:nvSpPr>
          <p:cNvPr id="1926" name="Shape 14"/>
          <p:cNvSpPr/>
          <p:nvPr/>
        </p:nvSpPr>
        <p:spPr>
          <a:xfrm>
            <a:off x="320040" y="2532960"/>
            <a:ext cx="2742120" cy="1416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27" name="Shape 15"/>
          <p:cNvSpPr/>
          <p:nvPr/>
        </p:nvSpPr>
        <p:spPr>
          <a:xfrm>
            <a:off x="411480" y="2642760"/>
            <a:ext cx="383040" cy="383040"/>
          </a:xfrm>
          <a:prstGeom prst="ellipse">
            <a:avLst/>
          </a:prstGeom>
          <a:solidFill>
            <a:srgbClr val="fdd835"/>
          </a:solidFill>
          <a:ln w="12600">
            <a:solidFill>
              <a:srgbClr val="fdd835"/>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28" name="Text 16"/>
          <p:cNvSpPr/>
          <p:nvPr/>
        </p:nvSpPr>
        <p:spPr>
          <a:xfrm>
            <a:off x="887040" y="2642760"/>
            <a:ext cx="208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Żółty</a:t>
            </a:r>
            <a:endParaRPr lang="pl-PL" sz="1800" b="0" u="none" strike="noStrike">
              <a:solidFill>
                <a:srgbClr val="ffffff"/>
              </a:solidFill>
              <a:effectLst/>
              <a:uFillTx/>
              <a:latin typeface="Arial"/>
            </a:endParaRPr>
          </a:p>
        </p:txBody>
      </p:sp>
      <p:sp>
        <p:nvSpPr>
          <p:cNvPr id="1929" name="Text 17"/>
          <p:cNvSpPr/>
          <p:nvPr/>
        </p:nvSpPr>
        <p:spPr>
          <a:xfrm>
            <a:off x="411480" y="3099960"/>
            <a:ext cx="2559240" cy="748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Optymizm, energia, kreatywność. Snapchat, IKEA, McDonald's. Przyciąga uwagę, ale może męczyć.</a:t>
            </a:r>
            <a:endParaRPr lang="pl-PL" sz="1400" b="0" u="none" strike="noStrike">
              <a:solidFill>
                <a:srgbClr val="ffffff"/>
              </a:solidFill>
              <a:effectLst/>
              <a:uFillTx/>
              <a:latin typeface="Arial"/>
            </a:endParaRPr>
          </a:p>
        </p:txBody>
      </p:sp>
      <p:sp>
        <p:nvSpPr>
          <p:cNvPr id="1930" name="Shape 18"/>
          <p:cNvSpPr/>
          <p:nvPr/>
        </p:nvSpPr>
        <p:spPr>
          <a:xfrm>
            <a:off x="3200400" y="2532960"/>
            <a:ext cx="2742120" cy="1416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31" name="Shape 19"/>
          <p:cNvSpPr/>
          <p:nvPr/>
        </p:nvSpPr>
        <p:spPr>
          <a:xfrm>
            <a:off x="3291840" y="2642760"/>
            <a:ext cx="383040" cy="383040"/>
          </a:xfrm>
          <a:prstGeom prst="ellipse">
            <a:avLst/>
          </a:prstGeom>
          <a:solidFill>
            <a:srgbClr val="f57c00"/>
          </a:solidFill>
          <a:ln w="12600">
            <a:solidFill>
              <a:srgbClr val="f57c0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32" name="Text 20"/>
          <p:cNvSpPr/>
          <p:nvPr/>
        </p:nvSpPr>
        <p:spPr>
          <a:xfrm>
            <a:off x="3767400" y="2642760"/>
            <a:ext cx="208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Pomarańczowy</a:t>
            </a:r>
            <a:endParaRPr lang="pl-PL" sz="1800" b="0" u="none" strike="noStrike">
              <a:solidFill>
                <a:srgbClr val="ffffff"/>
              </a:solidFill>
              <a:effectLst/>
              <a:uFillTx/>
              <a:latin typeface="Arial"/>
            </a:endParaRPr>
          </a:p>
        </p:txBody>
      </p:sp>
      <p:sp>
        <p:nvSpPr>
          <p:cNvPr id="1933" name="Text 21"/>
          <p:cNvSpPr/>
          <p:nvPr/>
        </p:nvSpPr>
        <p:spPr>
          <a:xfrm>
            <a:off x="3291840" y="3099960"/>
            <a:ext cx="2559240" cy="748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Entuzjazm, kreatywność, przyjaźń. Amazon, Firefox, Fanta. Mniej agresywny niż czerwień.</a:t>
            </a:r>
            <a:endParaRPr lang="pl-PL" sz="1400" b="0" u="none" strike="noStrike">
              <a:solidFill>
                <a:srgbClr val="ffffff"/>
              </a:solidFill>
              <a:effectLst/>
              <a:uFillTx/>
              <a:latin typeface="Arial"/>
            </a:endParaRPr>
          </a:p>
        </p:txBody>
      </p:sp>
      <p:sp>
        <p:nvSpPr>
          <p:cNvPr id="1934" name="Shape 22"/>
          <p:cNvSpPr/>
          <p:nvPr/>
        </p:nvSpPr>
        <p:spPr>
          <a:xfrm>
            <a:off x="6080760" y="2532960"/>
            <a:ext cx="2742120" cy="14162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35" name="Shape 23"/>
          <p:cNvSpPr/>
          <p:nvPr/>
        </p:nvSpPr>
        <p:spPr>
          <a:xfrm>
            <a:off x="6172200" y="2642760"/>
            <a:ext cx="383040" cy="383040"/>
          </a:xfrm>
          <a:prstGeom prst="ellipse">
            <a:avLst/>
          </a:prstGeom>
          <a:solidFill>
            <a:srgbClr val="8e24aa"/>
          </a:solidFill>
          <a:ln w="12600">
            <a:solidFill>
              <a:srgbClr val="8e24aa"/>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36" name="Text 24"/>
          <p:cNvSpPr/>
          <p:nvPr/>
        </p:nvSpPr>
        <p:spPr>
          <a:xfrm>
            <a:off x="6647760" y="2642760"/>
            <a:ext cx="208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Fiolet</a:t>
            </a:r>
            <a:endParaRPr lang="pl-PL" sz="1800" b="0" u="none" strike="noStrike">
              <a:solidFill>
                <a:srgbClr val="ffffff"/>
              </a:solidFill>
              <a:effectLst/>
              <a:uFillTx/>
              <a:latin typeface="Arial"/>
            </a:endParaRPr>
          </a:p>
        </p:txBody>
      </p:sp>
      <p:sp>
        <p:nvSpPr>
          <p:cNvPr id="1937" name="Text 25"/>
          <p:cNvSpPr/>
          <p:nvPr/>
        </p:nvSpPr>
        <p:spPr>
          <a:xfrm>
            <a:off x="6172200" y="3099960"/>
            <a:ext cx="2559240" cy="748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Luksus, kreatywność, duchowość. Twitch, Yahoo, Cadbury. Historycznie kolor królewski.</a:t>
            </a:r>
            <a:endParaRPr lang="pl-PL" sz="1400" b="0" u="none" strike="noStrike">
              <a:solidFill>
                <a:srgbClr val="ffffff"/>
              </a:solidFill>
              <a:effectLst/>
              <a:uFillTx/>
              <a:latin typeface="Arial"/>
            </a:endParaRPr>
          </a:p>
        </p:txBody>
      </p:sp>
      <p:sp>
        <p:nvSpPr>
          <p:cNvPr id="1938" name="Shape 26"/>
          <p:cNvSpPr/>
          <p:nvPr/>
        </p:nvSpPr>
        <p:spPr>
          <a:xfrm>
            <a:off x="320040" y="4160520"/>
            <a:ext cx="8502840" cy="657360"/>
          </a:xfrm>
          <a:prstGeom prst="rect">
            <a:avLst/>
          </a:prstGeom>
          <a:solidFill>
            <a:srgbClr val="0a1929"/>
          </a:solidFill>
          <a:ln w="12600">
            <a:solidFill>
              <a:srgbClr val="ff9100"/>
            </a:solidFill>
            <a:round/>
          </a:ln>
          <a:effectLst>
            <a:outerShdw blurRad="50760" dir="2700000" dist="37674" rotWithShape="0">
              <a:srgbClr val="1c1c1c">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39" name="Text 27"/>
          <p:cNvSpPr/>
          <p:nvPr/>
        </p:nvSpPr>
        <p:spPr>
          <a:xfrm>
            <a:off x="457200" y="4187880"/>
            <a:ext cx="822852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ff9100"/>
                </a:solidFill>
                <a:effectLst/>
                <a:uFillTx/>
                <a:latin typeface="Calibri"/>
                <a:ea typeface="DejaVu Sans"/>
              </a:rPr>
              <a:t>⚠ Uwaga kulturowa: Kolory mają różne znaczenia w różnych kulturach. Biały = żałoba w Azji Wschodniej, czerwień = szczęście w Chinach. Projektując globalnie, zawsze badaj kontekst kulturowy docelowego rynku!</a:t>
            </a:r>
            <a:endParaRPr lang="pl-PL" sz="1400" b="0" u="none" strike="noStrike">
              <a:solidFill>
                <a:srgbClr val="ffffff"/>
              </a:solidFill>
              <a:effectLst/>
              <a:uFillTx/>
              <a:latin typeface="Arial"/>
            </a:endParaRPr>
          </a:p>
        </p:txBody>
      </p:sp>
      <p:sp>
        <p:nvSpPr>
          <p:cNvPr id="1940" name="Text 30"/>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24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1941" name="Grupa 46"/>
          <p:cNvGrpSpPr/>
          <p:nvPr/>
        </p:nvGrpSpPr>
        <p:grpSpPr>
          <a:xfrm>
            <a:off x="-2520" y="4884840"/>
            <a:ext cx="9145440" cy="259200"/>
            <a:chOff x="-2520" y="4884840"/>
            <a:chExt cx="9145440" cy="259200"/>
          </a:xfrm>
        </p:grpSpPr>
        <p:sp>
          <p:nvSpPr>
            <p:cNvPr id="1942"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43"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1944" name="Grupa 49"/>
            <p:cNvGrpSpPr/>
            <p:nvPr/>
          </p:nvGrpSpPr>
          <p:grpSpPr>
            <a:xfrm>
              <a:off x="-2520" y="5099400"/>
              <a:ext cx="9145440" cy="44640"/>
              <a:chOff x="-2520" y="5099400"/>
              <a:chExt cx="9145440" cy="44640"/>
            </a:xfrm>
          </p:grpSpPr>
          <p:sp>
            <p:nvSpPr>
              <p:cNvPr id="1945"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46"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47"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48"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49"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0"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1"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2"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3"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4"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5"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6"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7"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8"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59"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0"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1"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2"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3"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4"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5"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6"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7"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8"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69"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70" name="Shape 52"/>
              <p:cNvSpPr/>
              <p:nvPr/>
            </p:nvSpPr>
            <p:spPr>
              <a:xfrm>
                <a:off x="496980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1"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2"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3"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4"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5"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6"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7"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8"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79"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0"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1"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2"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3"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4"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5"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6"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7"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8"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89"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90"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1991" name="Shape 0"/>
          <p:cNvSpPr/>
          <p:nvPr/>
        </p:nvSpPr>
        <p:spPr>
          <a:xfrm>
            <a:off x="320040" y="255960"/>
            <a:ext cx="53640" cy="5018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92" name="Text 1"/>
          <p:cNvSpPr/>
          <p:nvPr/>
        </p:nvSpPr>
        <p:spPr>
          <a:xfrm>
            <a:off x="475560" y="219600"/>
            <a:ext cx="349956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Tryb jasny i ciemny</a:t>
            </a:r>
            <a:endParaRPr lang="pl-PL" sz="2200" b="0" u="none" strike="noStrike">
              <a:solidFill>
                <a:srgbClr val="ffffff"/>
              </a:solidFill>
              <a:effectLst/>
              <a:uFillTx/>
              <a:latin typeface="Arial"/>
            </a:endParaRPr>
          </a:p>
        </p:txBody>
      </p:sp>
      <p:grpSp>
        <p:nvGrpSpPr>
          <p:cNvPr id="1993" name="Grupa 99"/>
          <p:cNvGrpSpPr/>
          <p:nvPr/>
        </p:nvGrpSpPr>
        <p:grpSpPr>
          <a:xfrm>
            <a:off x="304560" y="1025280"/>
            <a:ext cx="4068000" cy="766800"/>
            <a:chOff x="304560" y="1025280"/>
            <a:chExt cx="4068000" cy="766800"/>
          </a:xfrm>
        </p:grpSpPr>
        <p:sp>
          <p:nvSpPr>
            <p:cNvPr id="1994" name="Shape 2"/>
            <p:cNvSpPr/>
            <p:nvPr/>
          </p:nvSpPr>
          <p:spPr>
            <a:xfrm>
              <a:off x="304560" y="1025280"/>
              <a:ext cx="4068000" cy="718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95" name="Shape 3"/>
            <p:cNvSpPr/>
            <p:nvPr/>
          </p:nvSpPr>
          <p:spPr>
            <a:xfrm>
              <a:off x="304560" y="1025280"/>
              <a:ext cx="44640" cy="71892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96" name="Text 4"/>
            <p:cNvSpPr/>
            <p:nvPr/>
          </p:nvSpPr>
          <p:spPr>
            <a:xfrm>
              <a:off x="429120" y="105336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ff9100"/>
                  </a:solidFill>
                  <a:effectLst/>
                  <a:uFillTx/>
                  <a:latin typeface="Calibri"/>
                  <a:ea typeface="DejaVu Sans"/>
                </a:rPr>
                <a:t>Unikaj </a:t>
              </a:r>
              <a:r>
                <a:rPr lang="pl-PL" sz="1600" b="1" u="none" strike="noStrike">
                  <a:solidFill>
                    <a:srgbClr val="ff9100"/>
                  </a:solidFill>
                  <a:effectLst/>
                  <a:uFillTx/>
                  <a:latin typeface="Calibri"/>
                  <a:ea typeface="DejaVu Sans"/>
                </a:rPr>
                <a:t>c</a:t>
              </a:r>
              <a:r>
                <a:rPr lang="en-US" sz="1600" b="1" u="none" strike="noStrike">
                  <a:solidFill>
                    <a:srgbClr val="ff9100"/>
                  </a:solidFill>
                  <a:effectLst/>
                  <a:uFillTx/>
                  <a:latin typeface="Calibri"/>
                  <a:ea typeface="DejaVu Sans"/>
                </a:rPr>
                <a:t>zystej </a:t>
              </a:r>
              <a:r>
                <a:rPr lang="pl-PL" sz="1600" b="1" u="none" strike="noStrike">
                  <a:solidFill>
                    <a:srgbClr val="ff9100"/>
                  </a:solidFill>
                  <a:effectLst/>
                  <a:uFillTx/>
                  <a:latin typeface="Calibri"/>
                  <a:ea typeface="DejaVu Sans"/>
                </a:rPr>
                <a:t>c</a:t>
              </a:r>
              <a:r>
                <a:rPr lang="en-US" sz="1600" b="1" u="none" strike="noStrike">
                  <a:solidFill>
                    <a:srgbClr val="ff9100"/>
                  </a:solidFill>
                  <a:effectLst/>
                  <a:uFillTx/>
                  <a:latin typeface="Calibri"/>
                  <a:ea typeface="DejaVu Sans"/>
                </a:rPr>
                <a:t>zerni</a:t>
              </a:r>
              <a:endParaRPr lang="pl-PL" sz="1600" b="0" u="none" strike="noStrike">
                <a:solidFill>
                  <a:srgbClr val="ffffff"/>
                </a:solidFill>
                <a:effectLst/>
                <a:uFillTx/>
                <a:latin typeface="Arial"/>
              </a:endParaRPr>
            </a:p>
          </p:txBody>
        </p:sp>
        <p:sp>
          <p:nvSpPr>
            <p:cNvPr id="1997" name="Text 5"/>
            <p:cNvSpPr/>
            <p:nvPr/>
          </p:nvSpPr>
          <p:spPr>
            <a:xfrm>
              <a:off x="414360" y="1354320"/>
              <a:ext cx="3912480" cy="437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#000000 jest zbyt mocny. Używaj ciemnoszarych: #121212 (bg), #1E1E1E (surface), #2D2D2D (elevated)</a:t>
              </a:r>
              <a:endParaRPr lang="pl-PL" sz="1200" b="0" u="none" strike="noStrike">
                <a:solidFill>
                  <a:srgbClr val="ffffff"/>
                </a:solidFill>
                <a:effectLst/>
                <a:uFillTx/>
                <a:latin typeface="Arial"/>
              </a:endParaRPr>
            </a:p>
          </p:txBody>
        </p:sp>
      </p:grpSp>
      <p:grpSp>
        <p:nvGrpSpPr>
          <p:cNvPr id="1998" name="Grupa 98"/>
          <p:cNvGrpSpPr/>
          <p:nvPr/>
        </p:nvGrpSpPr>
        <p:grpSpPr>
          <a:xfrm>
            <a:off x="304560" y="2536920"/>
            <a:ext cx="4068000" cy="718920"/>
            <a:chOff x="304560" y="2536920"/>
            <a:chExt cx="4068000" cy="718920"/>
          </a:xfrm>
        </p:grpSpPr>
        <p:sp>
          <p:nvSpPr>
            <p:cNvPr id="1999" name="Shape 6"/>
            <p:cNvSpPr/>
            <p:nvPr/>
          </p:nvSpPr>
          <p:spPr>
            <a:xfrm>
              <a:off x="304560" y="2536920"/>
              <a:ext cx="4068000" cy="70776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00" name="Shape 7"/>
            <p:cNvSpPr/>
            <p:nvPr/>
          </p:nvSpPr>
          <p:spPr>
            <a:xfrm>
              <a:off x="304560" y="2536920"/>
              <a:ext cx="44640" cy="7189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01" name="Text 8"/>
            <p:cNvSpPr/>
            <p:nvPr/>
          </p:nvSpPr>
          <p:spPr>
            <a:xfrm>
              <a:off x="429120" y="2563200"/>
              <a:ext cx="3912480" cy="239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00d4ff"/>
                  </a:solidFill>
                  <a:effectLst/>
                  <a:uFillTx/>
                  <a:latin typeface="Calibri"/>
                  <a:ea typeface="DejaVu Sans"/>
                </a:rPr>
                <a:t>Kontrast i </a:t>
              </a:r>
              <a:r>
                <a:rPr lang="pl-PL" sz="1600" b="1" u="none" strike="noStrike">
                  <a:solidFill>
                    <a:srgbClr val="00d4ff"/>
                  </a:solidFill>
                  <a:effectLst/>
                  <a:uFillTx/>
                  <a:latin typeface="Calibri"/>
                  <a:ea typeface="DejaVu Sans"/>
                </a:rPr>
                <a:t>d</a:t>
              </a:r>
              <a:r>
                <a:rPr lang="en-US" sz="1600" b="1" u="none" strike="noStrike">
                  <a:solidFill>
                    <a:srgbClr val="00d4ff"/>
                  </a:solidFill>
                  <a:effectLst/>
                  <a:uFillTx/>
                  <a:latin typeface="Calibri"/>
                  <a:ea typeface="DejaVu Sans"/>
                </a:rPr>
                <a:t>ostępność</a:t>
              </a:r>
              <a:endParaRPr lang="pl-PL" sz="1600" b="0" u="none" strike="noStrike">
                <a:solidFill>
                  <a:srgbClr val="ffffff"/>
                </a:solidFill>
                <a:effectLst/>
                <a:uFillTx/>
                <a:latin typeface="Arial"/>
              </a:endParaRPr>
            </a:p>
          </p:txBody>
        </p:sp>
        <p:sp>
          <p:nvSpPr>
            <p:cNvPr id="2002" name="Text 9"/>
            <p:cNvSpPr/>
            <p:nvPr/>
          </p:nvSpPr>
          <p:spPr>
            <a:xfrm>
              <a:off x="414360" y="2845440"/>
              <a:ext cx="3912480" cy="410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Zachowaj te same wymagania kontrastu co w trybie jasnym (4.5:1 dla tekstu normalnego).</a:t>
              </a:r>
              <a:endParaRPr lang="pl-PL" sz="1200" b="0" u="none" strike="noStrike">
                <a:solidFill>
                  <a:srgbClr val="ffffff"/>
                </a:solidFill>
                <a:effectLst/>
                <a:uFillTx/>
                <a:latin typeface="Arial"/>
              </a:endParaRPr>
            </a:p>
          </p:txBody>
        </p:sp>
      </p:grpSp>
      <p:grpSp>
        <p:nvGrpSpPr>
          <p:cNvPr id="2003" name="Grupa 44"/>
          <p:cNvGrpSpPr/>
          <p:nvPr/>
        </p:nvGrpSpPr>
        <p:grpSpPr>
          <a:xfrm>
            <a:off x="304560" y="3328200"/>
            <a:ext cx="4068000" cy="718920"/>
            <a:chOff x="304560" y="3328200"/>
            <a:chExt cx="4068000" cy="718920"/>
          </a:xfrm>
        </p:grpSpPr>
        <p:sp>
          <p:nvSpPr>
            <p:cNvPr id="2004" name="Shape 10"/>
            <p:cNvSpPr/>
            <p:nvPr/>
          </p:nvSpPr>
          <p:spPr>
            <a:xfrm>
              <a:off x="304560" y="3328200"/>
              <a:ext cx="4068000" cy="70776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05" name="Shape 11"/>
            <p:cNvSpPr/>
            <p:nvPr/>
          </p:nvSpPr>
          <p:spPr>
            <a:xfrm>
              <a:off x="304560" y="3328200"/>
              <a:ext cx="44640" cy="7077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06" name="Text 12"/>
            <p:cNvSpPr/>
            <p:nvPr/>
          </p:nvSpPr>
          <p:spPr>
            <a:xfrm>
              <a:off x="429120" y="3354480"/>
              <a:ext cx="3912480" cy="239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ff2d78"/>
                  </a:solidFill>
                  <a:effectLst/>
                  <a:uFillTx/>
                  <a:latin typeface="Calibri"/>
                  <a:ea typeface="DejaVu Sans"/>
                </a:rPr>
                <a:t>Desaturacja </a:t>
              </a:r>
              <a:r>
                <a:rPr lang="pl-PL" sz="1600" b="1" u="none" strike="noStrike">
                  <a:solidFill>
                    <a:srgbClr val="ff2d78"/>
                  </a:solidFill>
                  <a:effectLst/>
                  <a:uFillTx/>
                  <a:latin typeface="Calibri"/>
                  <a:ea typeface="DejaVu Sans"/>
                </a:rPr>
                <a:t>k</a:t>
              </a:r>
              <a:r>
                <a:rPr lang="en-US" sz="1600" b="1" u="none" strike="noStrike">
                  <a:solidFill>
                    <a:srgbClr val="ff2d78"/>
                  </a:solidFill>
                  <a:effectLst/>
                  <a:uFillTx/>
                  <a:latin typeface="Calibri"/>
                  <a:ea typeface="DejaVu Sans"/>
                </a:rPr>
                <a:t>olorów</a:t>
              </a:r>
              <a:endParaRPr lang="pl-PL" sz="1600" b="0" u="none" strike="noStrike">
                <a:solidFill>
                  <a:srgbClr val="ffffff"/>
                </a:solidFill>
                <a:effectLst/>
                <a:uFillTx/>
                <a:latin typeface="Arial"/>
              </a:endParaRPr>
            </a:p>
          </p:txBody>
        </p:sp>
        <p:sp>
          <p:nvSpPr>
            <p:cNvPr id="2007" name="Text 13"/>
            <p:cNvSpPr/>
            <p:nvPr/>
          </p:nvSpPr>
          <p:spPr>
            <a:xfrm>
              <a:off x="414360" y="3636720"/>
              <a:ext cx="3912480" cy="410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Nasycone kolory wibrują na ciemnym tle. Używaj wersji z niższą saturacją i wyższą jasnością.</a:t>
              </a:r>
              <a:endParaRPr lang="pl-PL" sz="1200" b="0" u="none" strike="noStrike">
                <a:solidFill>
                  <a:srgbClr val="ffffff"/>
                </a:solidFill>
                <a:effectLst/>
                <a:uFillTx/>
                <a:latin typeface="Arial"/>
              </a:endParaRPr>
            </a:p>
          </p:txBody>
        </p:sp>
      </p:grpSp>
      <p:grpSp>
        <p:nvGrpSpPr>
          <p:cNvPr id="2008" name="Grupa 96"/>
          <p:cNvGrpSpPr/>
          <p:nvPr/>
        </p:nvGrpSpPr>
        <p:grpSpPr>
          <a:xfrm>
            <a:off x="304560" y="4119840"/>
            <a:ext cx="4068000" cy="718920"/>
            <a:chOff x="304560" y="4119840"/>
            <a:chExt cx="4068000" cy="718920"/>
          </a:xfrm>
        </p:grpSpPr>
        <p:sp>
          <p:nvSpPr>
            <p:cNvPr id="2009" name="Shape 14"/>
            <p:cNvSpPr/>
            <p:nvPr/>
          </p:nvSpPr>
          <p:spPr>
            <a:xfrm>
              <a:off x="304560" y="4119840"/>
              <a:ext cx="4068000" cy="70776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10" name="Shape 15"/>
            <p:cNvSpPr/>
            <p:nvPr/>
          </p:nvSpPr>
          <p:spPr>
            <a:xfrm>
              <a:off x="304560" y="4119840"/>
              <a:ext cx="44640" cy="70776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11" name="Text 16"/>
            <p:cNvSpPr/>
            <p:nvPr/>
          </p:nvSpPr>
          <p:spPr>
            <a:xfrm>
              <a:off x="429120" y="4145760"/>
              <a:ext cx="3912480" cy="239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00e676"/>
                  </a:solidFill>
                  <a:effectLst/>
                  <a:uFillTx/>
                  <a:latin typeface="Calibri"/>
                  <a:ea typeface="DejaVu Sans"/>
                </a:rPr>
                <a:t>Elevation przez </a:t>
              </a:r>
              <a:r>
                <a:rPr lang="pl-PL" sz="1600" b="1" u="none" strike="noStrike">
                  <a:solidFill>
                    <a:srgbClr val="00e676"/>
                  </a:solidFill>
                  <a:effectLst/>
                  <a:uFillTx/>
                  <a:latin typeface="Calibri"/>
                  <a:ea typeface="DejaVu Sans"/>
                </a:rPr>
                <a:t>j</a:t>
              </a:r>
              <a:r>
                <a:rPr lang="en-US" sz="1600" b="1" u="none" strike="noStrike">
                  <a:solidFill>
                    <a:srgbClr val="00e676"/>
                  </a:solidFill>
                  <a:effectLst/>
                  <a:uFillTx/>
                  <a:latin typeface="Calibri"/>
                  <a:ea typeface="DejaVu Sans"/>
                </a:rPr>
                <a:t>asność</a:t>
              </a:r>
              <a:endParaRPr lang="pl-PL" sz="1600" b="0" u="none" strike="noStrike">
                <a:solidFill>
                  <a:srgbClr val="ffffff"/>
                </a:solidFill>
                <a:effectLst/>
                <a:uFillTx/>
                <a:latin typeface="Arial"/>
              </a:endParaRPr>
            </a:p>
          </p:txBody>
        </p:sp>
        <p:sp>
          <p:nvSpPr>
            <p:cNvPr id="2012" name="Text 17"/>
            <p:cNvSpPr/>
            <p:nvPr/>
          </p:nvSpPr>
          <p:spPr>
            <a:xfrm>
              <a:off x="414360" y="4428360"/>
              <a:ext cx="3912480" cy="410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Zamiast cieni (niewidoczne na czerni), używaj jaśniejszych odcieni dla wyższych warstw.</a:t>
              </a:r>
              <a:endParaRPr lang="pl-PL" sz="1200" b="0" u="none" strike="noStrike">
                <a:solidFill>
                  <a:srgbClr val="ffffff"/>
                </a:solidFill>
                <a:effectLst/>
                <a:uFillTx/>
                <a:latin typeface="Arial"/>
              </a:endParaRPr>
            </a:p>
          </p:txBody>
        </p:sp>
      </p:grpSp>
      <p:grpSp>
        <p:nvGrpSpPr>
          <p:cNvPr id="2013" name="Grupa 101"/>
          <p:cNvGrpSpPr/>
          <p:nvPr/>
        </p:nvGrpSpPr>
        <p:grpSpPr>
          <a:xfrm>
            <a:off x="4754880" y="1025280"/>
            <a:ext cx="4068000" cy="1579680"/>
            <a:chOff x="4754880" y="1025280"/>
            <a:chExt cx="4068000" cy="1579680"/>
          </a:xfrm>
        </p:grpSpPr>
        <p:sp>
          <p:nvSpPr>
            <p:cNvPr id="2014" name="Shape 18"/>
            <p:cNvSpPr/>
            <p:nvPr/>
          </p:nvSpPr>
          <p:spPr>
            <a:xfrm>
              <a:off x="4754880" y="1025280"/>
              <a:ext cx="1919160" cy="1579680"/>
            </a:xfrm>
            <a:prstGeom prst="rect">
              <a:avLst/>
            </a:prstGeom>
            <a:solidFill>
              <a:srgbClr val="f5f5f5"/>
            </a:solidFill>
            <a:ln w="12600">
              <a:solidFill>
                <a:srgbClr val="cccccc"/>
              </a:solidFill>
              <a:round/>
            </a:ln>
            <a:effectLst>
              <a:outerShdw blurRad="50760" dir="2700000" dist="37674" rotWithShape="0">
                <a:srgbClr val="ffffff">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15" name="Text 19"/>
            <p:cNvSpPr/>
            <p:nvPr/>
          </p:nvSpPr>
          <p:spPr>
            <a:xfrm>
              <a:off x="4754880" y="1068120"/>
              <a:ext cx="191916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1" u="none" strike="noStrike">
                  <a:solidFill>
                    <a:srgbClr val="333333"/>
                  </a:solidFill>
                  <a:effectLst/>
                  <a:uFillTx/>
                  <a:latin typeface="Calibri"/>
                  <a:ea typeface="DejaVu Sans"/>
                </a:rPr>
                <a:t>Light Mode</a:t>
              </a:r>
              <a:endParaRPr lang="pl-PL" sz="900" b="0" u="none" strike="noStrike">
                <a:solidFill>
                  <a:srgbClr val="ffffff"/>
                </a:solidFill>
                <a:effectLst/>
                <a:uFillTx/>
                <a:latin typeface="Arial"/>
              </a:endParaRPr>
            </a:p>
          </p:txBody>
        </p:sp>
        <p:sp>
          <p:nvSpPr>
            <p:cNvPr id="2016" name="Shape 20"/>
            <p:cNvSpPr/>
            <p:nvPr/>
          </p:nvSpPr>
          <p:spPr>
            <a:xfrm>
              <a:off x="4846320" y="1409760"/>
              <a:ext cx="1736280" cy="186840"/>
            </a:xfrm>
            <a:prstGeom prst="rect">
              <a:avLst/>
            </a:prstGeom>
            <a:solidFill>
              <a:srgbClr val="ffffff"/>
            </a:solidFill>
            <a:ln w="12600">
              <a:solidFill>
                <a:srgbClr val="cccccc"/>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17" name="Shape 21"/>
            <p:cNvSpPr/>
            <p:nvPr/>
          </p:nvSpPr>
          <p:spPr>
            <a:xfrm>
              <a:off x="4846320" y="1666080"/>
              <a:ext cx="1736280" cy="186840"/>
            </a:xfrm>
            <a:prstGeom prst="rect">
              <a:avLst/>
            </a:prstGeom>
            <a:solidFill>
              <a:srgbClr val="f5f5f5"/>
            </a:solidFill>
            <a:ln w="12600">
              <a:solidFill>
                <a:srgbClr val="cccccc"/>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18" name="Shape 22"/>
            <p:cNvSpPr/>
            <p:nvPr/>
          </p:nvSpPr>
          <p:spPr>
            <a:xfrm>
              <a:off x="4846320" y="1922400"/>
              <a:ext cx="1736280" cy="186840"/>
            </a:xfrm>
            <a:prstGeom prst="rect">
              <a:avLst/>
            </a:prstGeom>
            <a:solidFill>
              <a:srgbClr val="eeeeee"/>
            </a:solidFill>
            <a:ln w="12600">
              <a:solidFill>
                <a:srgbClr val="cccccc"/>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19" name="Shape 23"/>
            <p:cNvSpPr/>
            <p:nvPr/>
          </p:nvSpPr>
          <p:spPr>
            <a:xfrm>
              <a:off x="6903720" y="1025280"/>
              <a:ext cx="1919160" cy="1579680"/>
            </a:xfrm>
            <a:prstGeom prst="rect">
              <a:avLst/>
            </a:prstGeom>
            <a:solidFill>
              <a:srgbClr val="121212"/>
            </a:solidFill>
            <a:ln w="12600">
              <a:solidFill>
                <a:srgbClr val="333333"/>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20" name="Text 24"/>
            <p:cNvSpPr/>
            <p:nvPr/>
          </p:nvSpPr>
          <p:spPr>
            <a:xfrm>
              <a:off x="6903720" y="1068120"/>
              <a:ext cx="191916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1" u="none" strike="noStrike">
                  <a:solidFill>
                    <a:srgbClr val="ffffff"/>
                  </a:solidFill>
                  <a:effectLst/>
                  <a:uFillTx/>
                  <a:latin typeface="Calibri"/>
                  <a:ea typeface="DejaVu Sans"/>
                </a:rPr>
                <a:t>Dark Mode</a:t>
              </a:r>
              <a:endParaRPr lang="pl-PL" sz="900" b="0" u="none" strike="noStrike">
                <a:solidFill>
                  <a:srgbClr val="ffffff"/>
                </a:solidFill>
                <a:effectLst/>
                <a:uFillTx/>
                <a:latin typeface="Arial"/>
              </a:endParaRPr>
            </a:p>
          </p:txBody>
        </p:sp>
        <p:sp>
          <p:nvSpPr>
            <p:cNvPr id="2021" name="Shape 25"/>
            <p:cNvSpPr/>
            <p:nvPr/>
          </p:nvSpPr>
          <p:spPr>
            <a:xfrm>
              <a:off x="6995160" y="1409760"/>
              <a:ext cx="1736280" cy="186840"/>
            </a:xfrm>
            <a:prstGeom prst="rect">
              <a:avLst/>
            </a:prstGeom>
            <a:solidFill>
              <a:srgbClr val="1e1e1e"/>
            </a:solidFill>
            <a:ln w="12600">
              <a:solidFill>
                <a:srgbClr val="3333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22" name="Shape 26"/>
            <p:cNvSpPr/>
            <p:nvPr/>
          </p:nvSpPr>
          <p:spPr>
            <a:xfrm>
              <a:off x="6995160" y="1666080"/>
              <a:ext cx="1736280" cy="186840"/>
            </a:xfrm>
            <a:prstGeom prst="rect">
              <a:avLst/>
            </a:prstGeom>
            <a:solidFill>
              <a:srgbClr val="2d2d2d"/>
            </a:solidFill>
            <a:ln w="12600">
              <a:solidFill>
                <a:srgbClr val="3333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23" name="Shape 27"/>
            <p:cNvSpPr/>
            <p:nvPr/>
          </p:nvSpPr>
          <p:spPr>
            <a:xfrm>
              <a:off x="6995160" y="1922400"/>
              <a:ext cx="1736280" cy="186840"/>
            </a:xfrm>
            <a:prstGeom prst="rect">
              <a:avLst/>
            </a:prstGeom>
            <a:solidFill>
              <a:srgbClr val="3d3d3d"/>
            </a:solidFill>
            <a:ln w="12600">
              <a:solidFill>
                <a:srgbClr val="33333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grpSp>
      <p:grpSp>
        <p:nvGrpSpPr>
          <p:cNvPr id="2024" name="Grupa 100"/>
          <p:cNvGrpSpPr/>
          <p:nvPr/>
        </p:nvGrpSpPr>
        <p:grpSpPr>
          <a:xfrm>
            <a:off x="304560" y="1810440"/>
            <a:ext cx="4068000" cy="646920"/>
            <a:chOff x="304560" y="1810440"/>
            <a:chExt cx="4068000" cy="646920"/>
          </a:xfrm>
        </p:grpSpPr>
        <p:sp>
          <p:nvSpPr>
            <p:cNvPr id="2025" name="Shape 28"/>
            <p:cNvSpPr/>
            <p:nvPr/>
          </p:nvSpPr>
          <p:spPr>
            <a:xfrm>
              <a:off x="304560" y="1810440"/>
              <a:ext cx="4068000" cy="646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26" name="Shape 29"/>
            <p:cNvSpPr/>
            <p:nvPr/>
          </p:nvSpPr>
          <p:spPr>
            <a:xfrm>
              <a:off x="304560" y="1810440"/>
              <a:ext cx="44640" cy="646920"/>
            </a:xfrm>
            <a:prstGeom prst="rect">
              <a:avLst/>
            </a:prstGeom>
            <a:solidFill>
              <a:srgbClr val="ae78d6"/>
            </a:solidFill>
            <a:ln w="12600">
              <a:solidFill>
                <a:srgbClr val="ae78d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27" name="Text 30"/>
            <p:cNvSpPr/>
            <p:nvPr/>
          </p:nvSpPr>
          <p:spPr>
            <a:xfrm>
              <a:off x="436680" y="183852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600" b="1" u="none" strike="noStrike">
                  <a:solidFill>
                    <a:srgbClr val="ae78d6"/>
                  </a:solidFill>
                  <a:effectLst/>
                  <a:uFillTx/>
                  <a:latin typeface="Calibri"/>
                  <a:ea typeface="DejaVu Sans"/>
                </a:rPr>
                <a:t>Unikaj </a:t>
              </a:r>
              <a:r>
                <a:rPr lang="pl-PL" sz="1600" b="1" u="none" strike="noStrike">
                  <a:solidFill>
                    <a:srgbClr val="ae78d6"/>
                  </a:solidFill>
                  <a:effectLst/>
                  <a:uFillTx/>
                  <a:latin typeface="Calibri"/>
                  <a:ea typeface="DejaVu Sans"/>
                </a:rPr>
                <a:t>c</a:t>
              </a:r>
              <a:r>
                <a:rPr lang="en-US" sz="1600" b="1" u="none" strike="noStrike">
                  <a:solidFill>
                    <a:srgbClr val="ae78d6"/>
                  </a:solidFill>
                  <a:effectLst/>
                  <a:uFillTx/>
                  <a:latin typeface="Calibri"/>
                  <a:ea typeface="DejaVu Sans"/>
                </a:rPr>
                <a:t>zystej </a:t>
              </a:r>
              <a:r>
                <a:rPr lang="pl-PL" sz="1600" b="1" u="none" strike="noStrike">
                  <a:solidFill>
                    <a:srgbClr val="ae78d6"/>
                  </a:solidFill>
                  <a:effectLst/>
                  <a:uFillTx/>
                  <a:latin typeface="Calibri"/>
                  <a:ea typeface="DejaVu Sans"/>
                </a:rPr>
                <a:t>b</a:t>
              </a:r>
              <a:r>
                <a:rPr lang="en-US" sz="1600" b="1" u="none" strike="noStrike">
                  <a:solidFill>
                    <a:srgbClr val="ae78d6"/>
                  </a:solidFill>
                  <a:effectLst/>
                  <a:uFillTx/>
                  <a:latin typeface="Calibri"/>
                  <a:ea typeface="DejaVu Sans"/>
                </a:rPr>
                <a:t>ieli</a:t>
              </a:r>
              <a:endParaRPr lang="pl-PL" sz="1600" b="0" u="none" strike="noStrike">
                <a:solidFill>
                  <a:srgbClr val="ffffff"/>
                </a:solidFill>
                <a:effectLst/>
                <a:uFillTx/>
                <a:latin typeface="Arial"/>
              </a:endParaRPr>
            </a:p>
          </p:txBody>
        </p:sp>
        <p:sp>
          <p:nvSpPr>
            <p:cNvPr id="2028" name="Text 31"/>
            <p:cNvSpPr/>
            <p:nvPr/>
          </p:nvSpPr>
          <p:spPr>
            <a:xfrm>
              <a:off x="414360" y="211068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0" u="none" strike="noStrike">
                  <a:solidFill>
                    <a:srgbClr val="ccddee"/>
                  </a:solidFill>
                  <a:effectLst/>
                  <a:uFillTx/>
                  <a:latin typeface="Calibri"/>
                  <a:ea typeface="DejaVu Sans"/>
                </a:rPr>
                <a:t>Używaj #FFFFFF tylko dla tekstu. Standard tła: #FAFAFA</a:t>
              </a:r>
              <a:endParaRPr lang="pl-PL" sz="1200" b="0" u="none" strike="noStrike">
                <a:solidFill>
                  <a:srgbClr val="ffffff"/>
                </a:solidFill>
                <a:effectLst/>
                <a:uFillTx/>
                <a:latin typeface="Arial"/>
              </a:endParaRPr>
            </a:p>
          </p:txBody>
        </p:sp>
      </p:grpSp>
      <p:sp>
        <p:nvSpPr>
          <p:cNvPr id="2029" name="Shape 32"/>
          <p:cNvSpPr/>
          <p:nvPr/>
        </p:nvSpPr>
        <p:spPr>
          <a:xfrm>
            <a:off x="4754880" y="2785320"/>
            <a:ext cx="4068000" cy="574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30" name="Shape 33"/>
          <p:cNvSpPr/>
          <p:nvPr/>
        </p:nvSpPr>
        <p:spPr>
          <a:xfrm>
            <a:off x="4754880" y="2800080"/>
            <a:ext cx="44640" cy="5749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31" name="Text 34"/>
          <p:cNvSpPr/>
          <p:nvPr/>
        </p:nvSpPr>
        <p:spPr>
          <a:xfrm>
            <a:off x="4864680" y="281340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e676"/>
                </a:solidFill>
                <a:effectLst/>
                <a:uFillTx/>
                <a:latin typeface="Calibri"/>
                <a:ea typeface="DejaVu Sans"/>
              </a:rPr>
              <a:t>Testuj na OLED</a:t>
            </a:r>
            <a:endParaRPr lang="pl-PL" sz="1600" b="0" u="none" strike="noStrike">
              <a:solidFill>
                <a:srgbClr val="ffffff"/>
              </a:solidFill>
              <a:effectLst/>
              <a:uFillTx/>
              <a:latin typeface="Arial"/>
            </a:endParaRPr>
          </a:p>
        </p:txBody>
      </p:sp>
      <p:sp>
        <p:nvSpPr>
          <p:cNvPr id="2032" name="Text 35"/>
          <p:cNvSpPr/>
          <p:nvPr/>
        </p:nvSpPr>
        <p:spPr>
          <a:xfrm>
            <a:off x="4864680" y="308556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Ekrany OLED renderują kolory inaczej niż LCD. Testuj na obu.</a:t>
            </a:r>
            <a:endParaRPr lang="pl-PL" sz="1200" b="0" u="none" strike="noStrike">
              <a:solidFill>
                <a:srgbClr val="ffffff"/>
              </a:solidFill>
              <a:effectLst/>
              <a:uFillTx/>
              <a:latin typeface="Arial"/>
            </a:endParaRPr>
          </a:p>
        </p:txBody>
      </p:sp>
      <p:sp>
        <p:nvSpPr>
          <p:cNvPr id="2033" name="Shape 36"/>
          <p:cNvSpPr/>
          <p:nvPr/>
        </p:nvSpPr>
        <p:spPr>
          <a:xfrm>
            <a:off x="4754880" y="3452400"/>
            <a:ext cx="4068000" cy="574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34" name="Shape 37"/>
          <p:cNvSpPr/>
          <p:nvPr/>
        </p:nvSpPr>
        <p:spPr>
          <a:xfrm>
            <a:off x="4754880" y="3467160"/>
            <a:ext cx="44640" cy="57492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35" name="Text 38"/>
          <p:cNvSpPr/>
          <p:nvPr/>
        </p:nvSpPr>
        <p:spPr>
          <a:xfrm>
            <a:off x="4864680" y="348624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Respektuj ustawienia</a:t>
            </a:r>
            <a:endParaRPr lang="pl-PL" sz="1600" b="0" u="none" strike="noStrike">
              <a:solidFill>
                <a:srgbClr val="ffffff"/>
              </a:solidFill>
              <a:effectLst/>
              <a:uFillTx/>
              <a:latin typeface="Arial"/>
            </a:endParaRPr>
          </a:p>
        </p:txBody>
      </p:sp>
      <p:sp>
        <p:nvSpPr>
          <p:cNvPr id="2036" name="Text 39"/>
          <p:cNvSpPr/>
          <p:nvPr/>
        </p:nvSpPr>
        <p:spPr>
          <a:xfrm>
            <a:off x="4864680" y="375876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Używaj UIUserInterfaceStyle / isSystemDarkModeEnabled.</a:t>
            </a:r>
            <a:endParaRPr lang="pl-PL" sz="1200" b="0" u="none" strike="noStrike">
              <a:solidFill>
                <a:srgbClr val="ffffff"/>
              </a:solidFill>
              <a:effectLst/>
              <a:uFillTx/>
              <a:latin typeface="Arial"/>
            </a:endParaRPr>
          </a:p>
        </p:txBody>
      </p:sp>
      <p:sp>
        <p:nvSpPr>
          <p:cNvPr id="2037" name="Shape 40"/>
          <p:cNvSpPr/>
          <p:nvPr/>
        </p:nvSpPr>
        <p:spPr>
          <a:xfrm>
            <a:off x="4754880" y="4114800"/>
            <a:ext cx="4068000" cy="69840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38" name="Text 41"/>
          <p:cNvSpPr/>
          <p:nvPr/>
        </p:nvSpPr>
        <p:spPr>
          <a:xfrm>
            <a:off x="4846320" y="4173840"/>
            <a:ext cx="3930840" cy="631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chemeClr val="lt1">
                    <a:lumMod val="85000"/>
                  </a:schemeClr>
                </a:solidFill>
                <a:effectLst/>
                <a:uFillTx/>
                <a:latin typeface="Calibri"/>
                <a:ea typeface="DejaVu Sans"/>
              </a:rPr>
              <a:t>Zalety Dark Mode</a:t>
            </a:r>
            <a:r>
              <a:rPr lang="pl-PL" sz="1200" b="0" u="none" strike="noStrike">
                <a:solidFill>
                  <a:schemeClr val="lt1">
                    <a:lumMod val="85000"/>
                  </a:schemeClr>
                </a:solidFill>
                <a:effectLst/>
                <a:uFillTx/>
                <a:latin typeface="Calibri"/>
                <a:ea typeface="DejaVu Sans"/>
              </a:rPr>
              <a:t>: oszczędność baterii (OLED do 30%), mniejsze zmęczenie wzroku, lepszy dla nocnego użytkowania, emocjonalny wpływ na percepcję produktu.</a:t>
            </a:r>
            <a:endParaRPr lang="pl-PL" sz="1200" b="0" u="none" strike="noStrike">
              <a:solidFill>
                <a:srgbClr val="ffffff"/>
              </a:solidFill>
              <a:effectLst/>
              <a:uFillTx/>
              <a:latin typeface="Arial"/>
            </a:endParaRPr>
          </a:p>
        </p:txBody>
      </p:sp>
      <p:sp>
        <p:nvSpPr>
          <p:cNvPr id="2039" name="Text 44"/>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25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040" name="Grupa 41"/>
          <p:cNvGrpSpPr/>
          <p:nvPr/>
        </p:nvGrpSpPr>
        <p:grpSpPr>
          <a:xfrm>
            <a:off x="-2520" y="4884840"/>
            <a:ext cx="9145440" cy="259200"/>
            <a:chOff x="-2520" y="4884840"/>
            <a:chExt cx="9145440" cy="259200"/>
          </a:xfrm>
        </p:grpSpPr>
        <p:sp>
          <p:nvSpPr>
            <p:cNvPr id="2041"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42"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043" name="Grupa 44"/>
            <p:cNvGrpSpPr/>
            <p:nvPr/>
          </p:nvGrpSpPr>
          <p:grpSpPr>
            <a:xfrm>
              <a:off x="-2520" y="5099400"/>
              <a:ext cx="9145440" cy="44640"/>
              <a:chOff x="-2520" y="5099400"/>
              <a:chExt cx="9145440" cy="44640"/>
            </a:xfrm>
          </p:grpSpPr>
          <p:sp>
            <p:nvSpPr>
              <p:cNvPr id="2044"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45"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46"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47"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48"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49"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0"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1"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2"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3"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4"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5"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6"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7"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8"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9"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0"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1"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2"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3"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4"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5"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6"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7"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8"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69"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70" name="Shape 52"/>
              <p:cNvSpPr/>
              <p:nvPr/>
            </p:nvSpPr>
            <p:spPr>
              <a:xfrm>
                <a:off x="5168520" y="50994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1"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2"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3"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4"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5"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6"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7"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8"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79"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0"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1"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2"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3"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4"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5"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6"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7"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8"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89"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090" name="Shape 0"/>
          <p:cNvSpPr/>
          <p:nvPr/>
        </p:nvSpPr>
        <p:spPr>
          <a:xfrm>
            <a:off x="320040" y="255960"/>
            <a:ext cx="53640" cy="5018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91"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Systemy kolorów i Design Tokens</a:t>
            </a:r>
            <a:endParaRPr lang="pl-PL" sz="2200" b="0" u="none" strike="noStrike">
              <a:solidFill>
                <a:srgbClr val="ffffff"/>
              </a:solidFill>
              <a:effectLst/>
              <a:uFillTx/>
              <a:latin typeface="Arial"/>
            </a:endParaRPr>
          </a:p>
        </p:txBody>
      </p:sp>
      <p:sp>
        <p:nvSpPr>
          <p:cNvPr id="2092" name="Shape 2"/>
          <p:cNvSpPr/>
          <p:nvPr/>
        </p:nvSpPr>
        <p:spPr>
          <a:xfrm>
            <a:off x="320040" y="914400"/>
            <a:ext cx="2028960" cy="16905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93" name="Shape 3"/>
          <p:cNvSpPr/>
          <p:nvPr/>
        </p:nvSpPr>
        <p:spPr>
          <a:xfrm>
            <a:off x="320040" y="914400"/>
            <a:ext cx="44640" cy="169056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94" name="Text 4"/>
          <p:cNvSpPr/>
          <p:nvPr/>
        </p:nvSpPr>
        <p:spPr>
          <a:xfrm>
            <a:off x="526320" y="978480"/>
            <a:ext cx="18734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9100"/>
                </a:solidFill>
                <a:effectLst/>
                <a:uFillTx/>
                <a:latin typeface="Calibri"/>
                <a:ea typeface="DejaVu Sans"/>
              </a:rPr>
              <a:t>Primary (główny)</a:t>
            </a:r>
            <a:endParaRPr lang="pl-PL" sz="1600" b="0" u="none" strike="noStrike">
              <a:solidFill>
                <a:srgbClr val="ffffff"/>
              </a:solidFill>
              <a:effectLst/>
              <a:uFillTx/>
              <a:latin typeface="Arial"/>
            </a:endParaRPr>
          </a:p>
        </p:txBody>
      </p:sp>
      <p:sp>
        <p:nvSpPr>
          <p:cNvPr id="2095" name="Text 5"/>
          <p:cNvSpPr/>
          <p:nvPr/>
        </p:nvSpPr>
        <p:spPr>
          <a:xfrm>
            <a:off x="484560" y="1650240"/>
            <a:ext cx="1818720" cy="899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Kolory marki. Dla CTA, aktywnych stanów, kluczowych elementów. Zazwyczaj 1–2 kolory.</a:t>
            </a:r>
            <a:endParaRPr lang="pl-PL" sz="1200" b="0" u="none" strike="noStrike">
              <a:solidFill>
                <a:srgbClr val="ffffff"/>
              </a:solidFill>
              <a:effectLst/>
              <a:uFillTx/>
              <a:latin typeface="Arial"/>
            </a:endParaRPr>
          </a:p>
        </p:txBody>
      </p:sp>
      <p:sp>
        <p:nvSpPr>
          <p:cNvPr id="2096" name="Shape 6"/>
          <p:cNvSpPr/>
          <p:nvPr/>
        </p:nvSpPr>
        <p:spPr>
          <a:xfrm>
            <a:off x="2468880" y="914400"/>
            <a:ext cx="2028960" cy="16905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097" name="Shape 7"/>
          <p:cNvSpPr/>
          <p:nvPr/>
        </p:nvSpPr>
        <p:spPr>
          <a:xfrm>
            <a:off x="2468880" y="914400"/>
            <a:ext cx="44640" cy="169056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98" name="Text 8"/>
          <p:cNvSpPr/>
          <p:nvPr/>
        </p:nvSpPr>
        <p:spPr>
          <a:xfrm>
            <a:off x="2675160" y="978480"/>
            <a:ext cx="18734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d600"/>
                </a:solidFill>
                <a:effectLst/>
                <a:uFillTx/>
                <a:latin typeface="Calibri"/>
                <a:ea typeface="DejaVu Sans"/>
              </a:rPr>
              <a:t>Secondary (drugorzędny)</a:t>
            </a:r>
            <a:endParaRPr lang="pl-PL" sz="1600" b="0" u="none" strike="noStrike">
              <a:solidFill>
                <a:srgbClr val="ffffff"/>
              </a:solidFill>
              <a:effectLst/>
              <a:uFillTx/>
              <a:latin typeface="Arial"/>
            </a:endParaRPr>
          </a:p>
        </p:txBody>
      </p:sp>
      <p:sp>
        <p:nvSpPr>
          <p:cNvPr id="2099" name="Text 9"/>
          <p:cNvSpPr/>
          <p:nvPr/>
        </p:nvSpPr>
        <p:spPr>
          <a:xfrm>
            <a:off x="2633400" y="1650240"/>
            <a:ext cx="1818720" cy="899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Uzupełniają Primary. Mniej dominujące, wspierają hierarchię wizualną.</a:t>
            </a:r>
            <a:endParaRPr lang="pl-PL" sz="1200" b="0" u="none" strike="noStrike">
              <a:solidFill>
                <a:srgbClr val="ffffff"/>
              </a:solidFill>
              <a:effectLst/>
              <a:uFillTx/>
              <a:latin typeface="Arial"/>
            </a:endParaRPr>
          </a:p>
        </p:txBody>
      </p:sp>
      <p:sp>
        <p:nvSpPr>
          <p:cNvPr id="2100" name="Shape 10"/>
          <p:cNvSpPr/>
          <p:nvPr/>
        </p:nvSpPr>
        <p:spPr>
          <a:xfrm>
            <a:off x="4617720" y="914400"/>
            <a:ext cx="2028960" cy="16905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01" name="Shape 11"/>
          <p:cNvSpPr/>
          <p:nvPr/>
        </p:nvSpPr>
        <p:spPr>
          <a:xfrm>
            <a:off x="4617720" y="914400"/>
            <a:ext cx="44640" cy="169056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02" name="Text 12"/>
          <p:cNvSpPr/>
          <p:nvPr/>
        </p:nvSpPr>
        <p:spPr>
          <a:xfrm>
            <a:off x="4824000" y="978480"/>
            <a:ext cx="18734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Functional (funkcjonalne)</a:t>
            </a:r>
            <a:endParaRPr lang="pl-PL" sz="1600" b="0" u="none" strike="noStrike">
              <a:solidFill>
                <a:srgbClr val="ffffff"/>
              </a:solidFill>
              <a:effectLst/>
              <a:uFillTx/>
              <a:latin typeface="Arial"/>
            </a:endParaRPr>
          </a:p>
        </p:txBody>
      </p:sp>
      <p:sp>
        <p:nvSpPr>
          <p:cNvPr id="2103" name="Text 13"/>
          <p:cNvSpPr/>
          <p:nvPr/>
        </p:nvSpPr>
        <p:spPr>
          <a:xfrm>
            <a:off x="4782240" y="1650240"/>
            <a:ext cx="1818720" cy="899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Sukces (✓), Błąd (✗), Ostrzeżenie (⚠), Informacja (ℹ). Stałe znaczenie semantyczne.</a:t>
            </a:r>
            <a:endParaRPr lang="pl-PL" sz="1200" b="0" u="none" strike="noStrike">
              <a:solidFill>
                <a:srgbClr val="ffffff"/>
              </a:solidFill>
              <a:effectLst/>
              <a:uFillTx/>
              <a:latin typeface="Arial"/>
            </a:endParaRPr>
          </a:p>
        </p:txBody>
      </p:sp>
      <p:sp>
        <p:nvSpPr>
          <p:cNvPr id="2104" name="Shape 14"/>
          <p:cNvSpPr/>
          <p:nvPr/>
        </p:nvSpPr>
        <p:spPr>
          <a:xfrm>
            <a:off x="6766560" y="914400"/>
            <a:ext cx="2028960" cy="16905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05" name="Shape 15"/>
          <p:cNvSpPr/>
          <p:nvPr/>
        </p:nvSpPr>
        <p:spPr>
          <a:xfrm>
            <a:off x="6766560" y="914400"/>
            <a:ext cx="44640" cy="1690560"/>
          </a:xfrm>
          <a:prstGeom prst="rect">
            <a:avLst/>
          </a:prstGeom>
          <a:solidFill>
            <a:srgbClr val="8899aa"/>
          </a:solidFill>
          <a:ln w="12600">
            <a:solidFill>
              <a:srgbClr val="8899a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06" name="Text 16"/>
          <p:cNvSpPr/>
          <p:nvPr/>
        </p:nvSpPr>
        <p:spPr>
          <a:xfrm>
            <a:off x="6972840" y="978480"/>
            <a:ext cx="187344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8899aa"/>
                </a:solidFill>
                <a:effectLst/>
                <a:uFillTx/>
                <a:latin typeface="Calibri"/>
                <a:ea typeface="DejaVu Sans"/>
              </a:rPr>
              <a:t>Neutral (neutralne)</a:t>
            </a:r>
            <a:endParaRPr lang="pl-PL" sz="1600" b="0" u="none" strike="noStrike">
              <a:solidFill>
                <a:srgbClr val="ffffff"/>
              </a:solidFill>
              <a:effectLst/>
              <a:uFillTx/>
              <a:latin typeface="Arial"/>
            </a:endParaRPr>
          </a:p>
        </p:txBody>
      </p:sp>
      <p:sp>
        <p:nvSpPr>
          <p:cNvPr id="2107" name="Text 17"/>
          <p:cNvSpPr/>
          <p:nvPr/>
        </p:nvSpPr>
        <p:spPr>
          <a:xfrm>
            <a:off x="6931080" y="1650240"/>
            <a:ext cx="1818720" cy="899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Szarości dla tekstu, tła, obramowań. 8–10 odcieni szarości jako fundament.</a:t>
            </a:r>
            <a:endParaRPr lang="pl-PL" sz="1200" b="0" u="none" strike="noStrike">
              <a:solidFill>
                <a:srgbClr val="ffffff"/>
              </a:solidFill>
              <a:effectLst/>
              <a:uFillTx/>
              <a:latin typeface="Arial"/>
            </a:endParaRPr>
          </a:p>
        </p:txBody>
      </p:sp>
      <p:sp>
        <p:nvSpPr>
          <p:cNvPr id="2108" name="Shape 18"/>
          <p:cNvSpPr/>
          <p:nvPr/>
        </p:nvSpPr>
        <p:spPr>
          <a:xfrm>
            <a:off x="320040" y="2697480"/>
            <a:ext cx="2028960" cy="291600"/>
          </a:xfrm>
          <a:prstGeom prst="rect">
            <a:avLst/>
          </a:prstGeom>
          <a:solidFill>
            <a:srgbClr val="22c55e"/>
          </a:solidFill>
          <a:ln w="12600">
            <a:solidFill>
              <a:srgbClr val="22c55e"/>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09" name="Text 19"/>
          <p:cNvSpPr/>
          <p:nvPr/>
        </p:nvSpPr>
        <p:spPr>
          <a:xfrm>
            <a:off x="320040" y="2697480"/>
            <a:ext cx="202896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DejaVu Sans"/>
              </a:rPr>
              <a:t>Sukces  #22C55E</a:t>
            </a:r>
            <a:endParaRPr lang="pl-PL" sz="1200" b="0" u="none" strike="noStrike">
              <a:solidFill>
                <a:srgbClr val="ffffff"/>
              </a:solidFill>
              <a:effectLst/>
              <a:uFillTx/>
              <a:latin typeface="Arial"/>
            </a:endParaRPr>
          </a:p>
        </p:txBody>
      </p:sp>
      <p:sp>
        <p:nvSpPr>
          <p:cNvPr id="2110" name="Shape 20"/>
          <p:cNvSpPr/>
          <p:nvPr/>
        </p:nvSpPr>
        <p:spPr>
          <a:xfrm>
            <a:off x="2468880" y="2697480"/>
            <a:ext cx="2028960" cy="291600"/>
          </a:xfrm>
          <a:prstGeom prst="rect">
            <a:avLst/>
          </a:prstGeom>
          <a:solidFill>
            <a:srgbClr val="ef4444"/>
          </a:solidFill>
          <a:ln w="12600">
            <a:solidFill>
              <a:srgbClr val="ef4444"/>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11" name="Text 21"/>
          <p:cNvSpPr/>
          <p:nvPr/>
        </p:nvSpPr>
        <p:spPr>
          <a:xfrm>
            <a:off x="2468880" y="2697480"/>
            <a:ext cx="202896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DejaVu Sans"/>
              </a:rPr>
              <a:t>Błąd  #EF4444</a:t>
            </a:r>
            <a:endParaRPr lang="pl-PL" sz="1200" b="0" u="none" strike="noStrike">
              <a:solidFill>
                <a:srgbClr val="ffffff"/>
              </a:solidFill>
              <a:effectLst/>
              <a:uFillTx/>
              <a:latin typeface="Arial"/>
            </a:endParaRPr>
          </a:p>
        </p:txBody>
      </p:sp>
      <p:sp>
        <p:nvSpPr>
          <p:cNvPr id="2112" name="Shape 22"/>
          <p:cNvSpPr/>
          <p:nvPr/>
        </p:nvSpPr>
        <p:spPr>
          <a:xfrm>
            <a:off x="4617720" y="2697480"/>
            <a:ext cx="2028960" cy="291600"/>
          </a:xfrm>
          <a:prstGeom prst="rect">
            <a:avLst/>
          </a:prstGeom>
          <a:solidFill>
            <a:srgbClr val="f59e0b"/>
          </a:solidFill>
          <a:ln w="12600">
            <a:solidFill>
              <a:srgbClr val="f59e0b"/>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13" name="Text 23"/>
          <p:cNvSpPr/>
          <p:nvPr/>
        </p:nvSpPr>
        <p:spPr>
          <a:xfrm>
            <a:off x="4617720" y="2697480"/>
            <a:ext cx="202896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DejaVu Sans"/>
              </a:rPr>
              <a:t>Ostrzeżenie  #F59E0B</a:t>
            </a:r>
            <a:endParaRPr lang="pl-PL" sz="1200" b="0" u="none" strike="noStrike">
              <a:solidFill>
                <a:srgbClr val="ffffff"/>
              </a:solidFill>
              <a:effectLst/>
              <a:uFillTx/>
              <a:latin typeface="Arial"/>
            </a:endParaRPr>
          </a:p>
        </p:txBody>
      </p:sp>
      <p:sp>
        <p:nvSpPr>
          <p:cNvPr id="2114" name="Shape 24"/>
          <p:cNvSpPr/>
          <p:nvPr/>
        </p:nvSpPr>
        <p:spPr>
          <a:xfrm>
            <a:off x="6766560" y="2697480"/>
            <a:ext cx="2028960" cy="291600"/>
          </a:xfrm>
          <a:prstGeom prst="rect">
            <a:avLst/>
          </a:prstGeom>
          <a:solidFill>
            <a:srgbClr val="3b82f6"/>
          </a:solidFill>
          <a:ln w="12600">
            <a:solidFill>
              <a:srgbClr val="3b82f6"/>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15" name="Text 25"/>
          <p:cNvSpPr/>
          <p:nvPr/>
        </p:nvSpPr>
        <p:spPr>
          <a:xfrm>
            <a:off x="6766560" y="2697480"/>
            <a:ext cx="2028960" cy="291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DejaVu Sans"/>
              </a:rPr>
              <a:t>Informacja  #3B82F6</a:t>
            </a:r>
            <a:endParaRPr lang="pl-PL" sz="1200" b="0" u="none" strike="noStrike">
              <a:solidFill>
                <a:srgbClr val="ffffff"/>
              </a:solidFill>
              <a:effectLst/>
              <a:uFillTx/>
              <a:latin typeface="Arial"/>
            </a:endParaRPr>
          </a:p>
        </p:txBody>
      </p:sp>
      <p:sp>
        <p:nvSpPr>
          <p:cNvPr id="2116" name="Shape 26"/>
          <p:cNvSpPr/>
          <p:nvPr/>
        </p:nvSpPr>
        <p:spPr>
          <a:xfrm>
            <a:off x="320040" y="3090600"/>
            <a:ext cx="4177800" cy="1233360"/>
          </a:xfrm>
          <a:prstGeom prst="rect">
            <a:avLst/>
          </a:prstGeom>
          <a:solidFill>
            <a:srgbClr val="0a1929"/>
          </a:solidFill>
          <a:ln w="12600">
            <a:solidFill>
              <a:srgbClr val="1a3a5c"/>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17" name="Text 27"/>
          <p:cNvSpPr/>
          <p:nvPr/>
        </p:nvSpPr>
        <p:spPr>
          <a:xfrm>
            <a:off x="429840" y="3160440"/>
            <a:ext cx="4826880" cy="1096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00e676"/>
                </a:solidFill>
                <a:effectLst/>
                <a:uFillTx/>
                <a:latin typeface="Consolas"/>
                <a:ea typeface="Consolas"/>
              </a:rPr>
              <a:t>// Design Tokens - Kotlin / Android (Compose)</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00e676"/>
                </a:solidFill>
                <a:effectLst/>
                <a:uFillTx/>
                <a:latin typeface="Consolas"/>
                <a:ea typeface="Consolas"/>
              </a:rPr>
              <a:t>val ColorPrimary = Color(0xFF0071E3)</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00e676"/>
                </a:solidFill>
                <a:effectLst/>
                <a:uFillTx/>
                <a:latin typeface="Consolas"/>
                <a:ea typeface="Consolas"/>
              </a:rPr>
              <a:t>val ColorTextPrimary = Color(0xFF1D1D1D)</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00e676"/>
                </a:solidFill>
                <a:effectLst/>
                <a:uFillTx/>
                <a:latin typeface="Consolas"/>
                <a:ea typeface="Consolas"/>
              </a:rPr>
              <a:t>val ColorBackground = Color(0xFFFAFAFA)</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00e676"/>
                </a:solidFill>
                <a:effectLst/>
                <a:uFillTx/>
                <a:latin typeface="Consolas"/>
                <a:ea typeface="Consolas"/>
              </a:rPr>
              <a:t>val SpacingMd = 16.dp</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00e676"/>
                </a:solidFill>
                <a:effectLst/>
                <a:uFillTx/>
                <a:latin typeface="Consolas"/>
                <a:ea typeface="Consolas"/>
              </a:rPr>
              <a:t>val BorderRadius = 8.dp</a:t>
            </a:r>
            <a:endParaRPr lang="pl-PL" sz="1200" b="0" u="none" strike="noStrike">
              <a:solidFill>
                <a:srgbClr val="ffffff"/>
              </a:solidFill>
              <a:effectLst/>
              <a:uFillTx/>
              <a:latin typeface="Arial"/>
            </a:endParaRPr>
          </a:p>
        </p:txBody>
      </p:sp>
      <p:sp>
        <p:nvSpPr>
          <p:cNvPr id="2118" name="Shape 28"/>
          <p:cNvSpPr/>
          <p:nvPr/>
        </p:nvSpPr>
        <p:spPr>
          <a:xfrm>
            <a:off x="4601880" y="3090600"/>
            <a:ext cx="4193640" cy="12333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19" name="Shape 29"/>
          <p:cNvSpPr/>
          <p:nvPr/>
        </p:nvSpPr>
        <p:spPr>
          <a:xfrm>
            <a:off x="4601880" y="3090600"/>
            <a:ext cx="44640" cy="123336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20" name="Text 30"/>
          <p:cNvSpPr/>
          <p:nvPr/>
        </p:nvSpPr>
        <p:spPr>
          <a:xfrm>
            <a:off x="4798440" y="3117600"/>
            <a:ext cx="306216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Design Tokens</a:t>
            </a:r>
            <a:endParaRPr lang="pl-PL" sz="1600" b="0" u="none" strike="noStrike">
              <a:solidFill>
                <a:srgbClr val="ffffff"/>
              </a:solidFill>
              <a:effectLst/>
              <a:uFillTx/>
              <a:latin typeface="Arial"/>
            </a:endParaRPr>
          </a:p>
        </p:txBody>
      </p:sp>
      <p:sp>
        <p:nvSpPr>
          <p:cNvPr id="2121" name="Text 31"/>
          <p:cNvSpPr/>
          <p:nvPr/>
        </p:nvSpPr>
        <p:spPr>
          <a:xfrm>
            <a:off x="4798440" y="3431520"/>
            <a:ext cx="3062160" cy="19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 Jedno źródło prawdy dla wszystkich platform</a:t>
            </a:r>
            <a:endParaRPr lang="pl-PL" sz="1200" b="0" u="none" strike="noStrike">
              <a:solidFill>
                <a:srgbClr val="ffffff"/>
              </a:solidFill>
              <a:effectLst/>
              <a:uFillTx/>
              <a:latin typeface="Arial"/>
            </a:endParaRPr>
          </a:p>
        </p:txBody>
      </p:sp>
      <p:sp>
        <p:nvSpPr>
          <p:cNvPr id="2122" name="Text 32"/>
          <p:cNvSpPr/>
          <p:nvPr/>
        </p:nvSpPr>
        <p:spPr>
          <a:xfrm>
            <a:off x="4798440" y="3641760"/>
            <a:ext cx="3062160" cy="19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 Łatwa aktualizacja - zmiana w jednym miejscu</a:t>
            </a:r>
            <a:endParaRPr lang="pl-PL" sz="1200" b="0" u="none" strike="noStrike">
              <a:solidFill>
                <a:srgbClr val="ffffff"/>
              </a:solidFill>
              <a:effectLst/>
              <a:uFillTx/>
              <a:latin typeface="Arial"/>
            </a:endParaRPr>
          </a:p>
        </p:txBody>
      </p:sp>
      <p:sp>
        <p:nvSpPr>
          <p:cNvPr id="2123" name="Text 33"/>
          <p:cNvSpPr/>
          <p:nvPr/>
        </p:nvSpPr>
        <p:spPr>
          <a:xfrm>
            <a:off x="4798440" y="3852000"/>
            <a:ext cx="3062160" cy="19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 Automatyczna synchronizacja z kodem</a:t>
            </a:r>
            <a:endParaRPr lang="pl-PL" sz="1200" b="0" u="none" strike="noStrike">
              <a:solidFill>
                <a:srgbClr val="ffffff"/>
              </a:solidFill>
              <a:effectLst/>
              <a:uFillTx/>
              <a:latin typeface="Arial"/>
            </a:endParaRPr>
          </a:p>
        </p:txBody>
      </p:sp>
      <p:sp>
        <p:nvSpPr>
          <p:cNvPr id="2124" name="Text 34"/>
          <p:cNvSpPr/>
          <p:nvPr/>
        </p:nvSpPr>
        <p:spPr>
          <a:xfrm>
            <a:off x="4798440" y="4062600"/>
            <a:ext cx="3062160" cy="19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rgbClr val="8899aa"/>
                </a:solidFill>
                <a:effectLst/>
                <a:uFillTx/>
                <a:latin typeface="Calibri"/>
                <a:ea typeface="DejaVu Sans"/>
              </a:rPr>
              <a:t>• Spójność Design ↔ Development</a:t>
            </a:r>
            <a:endParaRPr lang="pl-PL" sz="1200" b="0" u="none" strike="noStrike">
              <a:solidFill>
                <a:srgbClr val="ffffff"/>
              </a:solidFill>
              <a:effectLst/>
              <a:uFillTx/>
              <a:latin typeface="Arial"/>
            </a:endParaRPr>
          </a:p>
        </p:txBody>
      </p:sp>
      <p:sp>
        <p:nvSpPr>
          <p:cNvPr id="2125" name="Shape 35"/>
          <p:cNvSpPr/>
          <p:nvPr/>
        </p:nvSpPr>
        <p:spPr>
          <a:xfrm>
            <a:off x="320040" y="4407480"/>
            <a:ext cx="8502840" cy="41040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26" name="Text 36"/>
          <p:cNvSpPr/>
          <p:nvPr/>
        </p:nvSpPr>
        <p:spPr>
          <a:xfrm>
            <a:off x="457200" y="4434840"/>
            <a:ext cx="822852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chemeClr val="lt1">
                    <a:lumMod val="85000"/>
                  </a:schemeClr>
                </a:solidFill>
                <a:effectLst/>
                <a:uFillTx/>
                <a:latin typeface="Calibri"/>
                <a:ea typeface="DejaVu Sans"/>
              </a:rPr>
              <a:t>Narzędzia</a:t>
            </a:r>
            <a:r>
              <a:rPr lang="pl-PL" sz="1300" b="0" u="none" strike="noStrike">
                <a:solidFill>
                  <a:schemeClr val="lt1">
                    <a:lumMod val="85000"/>
                  </a:schemeClr>
                </a:solidFill>
                <a:effectLst/>
                <a:uFillTx/>
                <a:latin typeface="Calibri"/>
                <a:ea typeface="DejaVu Sans"/>
              </a:rPr>
              <a:t>: Figma Variables | Style Dictionary | Zeroheight | Storybook | automatyzacja procesu handoff do deweloperów</a:t>
            </a:r>
            <a:endParaRPr lang="pl-PL" sz="1300" b="0" u="none" strike="noStrike">
              <a:solidFill>
                <a:srgbClr val="ffffff"/>
              </a:solidFill>
              <a:effectLst/>
              <a:uFillTx/>
              <a:latin typeface="Arial"/>
            </a:endParaRPr>
          </a:p>
        </p:txBody>
      </p:sp>
      <p:sp>
        <p:nvSpPr>
          <p:cNvPr id="2127" name="Text 39"/>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26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128" name="Grupa 9"/>
          <p:cNvGrpSpPr/>
          <p:nvPr/>
        </p:nvGrpSpPr>
        <p:grpSpPr>
          <a:xfrm>
            <a:off x="-2520" y="4884840"/>
            <a:ext cx="9145440" cy="259200"/>
            <a:chOff x="-2520" y="4884840"/>
            <a:chExt cx="9145440" cy="259200"/>
          </a:xfrm>
        </p:grpSpPr>
        <p:sp>
          <p:nvSpPr>
            <p:cNvPr id="2129"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30"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131" name="Grupa 12"/>
            <p:cNvGrpSpPr/>
            <p:nvPr/>
          </p:nvGrpSpPr>
          <p:grpSpPr>
            <a:xfrm>
              <a:off x="-2520" y="5099400"/>
              <a:ext cx="9145440" cy="44640"/>
              <a:chOff x="-2520" y="5099400"/>
              <a:chExt cx="9145440" cy="44640"/>
            </a:xfrm>
          </p:grpSpPr>
          <p:sp>
            <p:nvSpPr>
              <p:cNvPr id="2132"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3"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4"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5"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6"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7"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8"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9"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0"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1"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2"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3"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4"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5"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6"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7"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8"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49"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0"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1"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2"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3"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4"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5"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6"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7"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8"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59" name="Shape 52"/>
              <p:cNvSpPr/>
              <p:nvPr/>
            </p:nvSpPr>
            <p:spPr>
              <a:xfrm>
                <a:off x="5367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0"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1"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2"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3"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4"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5"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6"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7"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8"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69"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0"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1"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2"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3"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4"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5"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6"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7"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178"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79" name="Shape 1"/>
          <p:cNvSpPr/>
          <p:nvPr/>
        </p:nvSpPr>
        <p:spPr>
          <a:xfrm>
            <a:off x="0" y="1645920"/>
            <a:ext cx="108720" cy="182772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80" name="Text 2"/>
          <p:cNvSpPr/>
          <p:nvPr/>
        </p:nvSpPr>
        <p:spPr>
          <a:xfrm>
            <a:off x="914400" y="548640"/>
            <a:ext cx="7314120" cy="821880"/>
          </a:xfrm>
          <a:prstGeom prst="rect">
            <a:avLst/>
          </a:prstGeom>
          <a:noFill/>
          <a:ln w="0">
            <a:noFill/>
          </a:ln>
          <a:effectLst>
            <a:outerShdw dir="2700000" dist="35638"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ffd600"/>
                </a:solidFill>
                <a:effectLst/>
                <a:uFillTx/>
                <a:latin typeface="Calibri"/>
                <a:ea typeface="DejaVu Sans"/>
              </a:rPr>
              <a:t>06</a:t>
            </a:r>
            <a:endParaRPr lang="pl-PL" sz="5200" b="0" u="none" strike="noStrike">
              <a:solidFill>
                <a:srgbClr val="ffffff"/>
              </a:solidFill>
              <a:effectLst/>
              <a:uFillTx/>
              <a:latin typeface="Arial"/>
            </a:endParaRPr>
          </a:p>
        </p:txBody>
      </p:sp>
      <p:sp>
        <p:nvSpPr>
          <p:cNvPr id="2181"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Typografia w Projektowaniu Mobilnym</a:t>
            </a:r>
            <a:endParaRPr lang="pl-PL" sz="2800" b="0" u="none" strike="noStrike">
              <a:solidFill>
                <a:srgbClr val="ffffff"/>
              </a:solidFill>
              <a:effectLst/>
              <a:uFillTx/>
              <a:latin typeface="Arial"/>
            </a:endParaRPr>
          </a:p>
        </p:txBody>
      </p:sp>
      <p:sp>
        <p:nvSpPr>
          <p:cNvPr id="2182"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Zasady doboru i stosowania czcionek w aplikacjach mobilnych</a:t>
            </a:r>
            <a:endParaRPr lang="pl-PL" sz="1400" b="0" u="none" strike="noStrike">
              <a:solidFill>
                <a:srgbClr val="ffffff"/>
              </a:solidFill>
              <a:effectLst/>
              <a:uFillTx/>
              <a:latin typeface="Arial"/>
            </a:endParaRPr>
          </a:p>
        </p:txBody>
      </p:sp>
      <p:sp>
        <p:nvSpPr>
          <p:cNvPr id="2183"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27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184" name="Grupa 38"/>
          <p:cNvGrpSpPr/>
          <p:nvPr/>
        </p:nvGrpSpPr>
        <p:grpSpPr>
          <a:xfrm>
            <a:off x="-2520" y="4884840"/>
            <a:ext cx="9145440" cy="259200"/>
            <a:chOff x="-2520" y="4884840"/>
            <a:chExt cx="9145440" cy="259200"/>
          </a:xfrm>
        </p:grpSpPr>
        <p:sp>
          <p:nvSpPr>
            <p:cNvPr id="2185"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86"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187" name="Grupa 41"/>
            <p:cNvGrpSpPr/>
            <p:nvPr/>
          </p:nvGrpSpPr>
          <p:grpSpPr>
            <a:xfrm>
              <a:off x="-2520" y="5099400"/>
              <a:ext cx="9145440" cy="44640"/>
              <a:chOff x="-2520" y="5099400"/>
              <a:chExt cx="9145440" cy="44640"/>
            </a:xfrm>
          </p:grpSpPr>
          <p:sp>
            <p:nvSpPr>
              <p:cNvPr id="2188"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89"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0"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1"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2"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3"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4"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5"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6"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7"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8"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99"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0"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1"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2"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3"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4"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5"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6"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7"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8"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09"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0"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1"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2"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3"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4"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5"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6" name="Shape 52"/>
              <p:cNvSpPr/>
              <p:nvPr/>
            </p:nvSpPr>
            <p:spPr>
              <a:xfrm>
                <a:off x="55663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17"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18"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19"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0"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1"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2"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3"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4"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5"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6"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7"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8"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29"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30"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31"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32"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33"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234" name="Shape 0"/>
          <p:cNvSpPr/>
          <p:nvPr/>
        </p:nvSpPr>
        <p:spPr>
          <a:xfrm>
            <a:off x="320040" y="255960"/>
            <a:ext cx="53640" cy="50184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35"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Fundamenty typografii mobilnej</a:t>
            </a:r>
            <a:endParaRPr lang="pl-PL" sz="2200" b="0" u="none" strike="noStrike">
              <a:solidFill>
                <a:srgbClr val="ffffff"/>
              </a:solidFill>
              <a:effectLst/>
              <a:uFillTx/>
              <a:latin typeface="Arial"/>
            </a:endParaRPr>
          </a:p>
        </p:txBody>
      </p:sp>
      <p:sp>
        <p:nvSpPr>
          <p:cNvPr id="2236" name="Shape 2"/>
          <p:cNvSpPr/>
          <p:nvPr/>
        </p:nvSpPr>
        <p:spPr>
          <a:xfrm>
            <a:off x="320040" y="914400"/>
            <a:ext cx="2742120" cy="17125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37" name="Shape 3"/>
          <p:cNvSpPr/>
          <p:nvPr/>
        </p:nvSpPr>
        <p:spPr>
          <a:xfrm>
            <a:off x="320040" y="914400"/>
            <a:ext cx="44640" cy="171252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38" name="Text 4"/>
          <p:cNvSpPr/>
          <p:nvPr/>
        </p:nvSpPr>
        <p:spPr>
          <a:xfrm>
            <a:off x="46584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d600"/>
                </a:solidFill>
                <a:effectLst/>
                <a:uFillTx/>
                <a:latin typeface="Calibri"/>
                <a:ea typeface="DejaVu Sans"/>
              </a:rPr>
              <a:t>Readability (czytelność)</a:t>
            </a:r>
            <a:endParaRPr lang="pl-PL" sz="1600" b="0" u="none" strike="noStrike">
              <a:solidFill>
                <a:srgbClr val="ffffff"/>
              </a:solidFill>
              <a:effectLst/>
              <a:uFillTx/>
              <a:latin typeface="Arial"/>
            </a:endParaRPr>
          </a:p>
        </p:txBody>
      </p:sp>
      <p:sp>
        <p:nvSpPr>
          <p:cNvPr id="2239" name="Text 5"/>
          <p:cNvSpPr/>
          <p:nvPr/>
        </p:nvSpPr>
        <p:spPr>
          <a:xfrm>
            <a:off x="502920" y="1434600"/>
            <a:ext cx="2513520" cy="1298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Użytkownicy muszą czytać szybko </a:t>
            </a:r>
            <a:br>
              <a:rPr sz="1400"/>
            </a:br>
            <a:r>
              <a:rPr lang="pl-PL" sz="1400" b="0" u="none" strike="noStrike">
                <a:solidFill>
                  <a:srgbClr val="ccddee"/>
                </a:solidFill>
                <a:effectLst/>
                <a:uFillTx/>
                <a:latin typeface="Calibri"/>
                <a:ea typeface="DejaVu Sans"/>
              </a:rPr>
              <a:t>i bez wysiłku. Odpowiedni rozmiar, kontrast i interlinia to podstawa, szczególnie w mobilnych warunkach.</a:t>
            </a:r>
            <a:endParaRPr lang="pl-PL" sz="1400" b="0" u="none" strike="noStrike">
              <a:solidFill>
                <a:srgbClr val="ffffff"/>
              </a:solidFill>
              <a:effectLst/>
              <a:uFillTx/>
              <a:latin typeface="Arial"/>
            </a:endParaRPr>
          </a:p>
        </p:txBody>
      </p:sp>
      <p:sp>
        <p:nvSpPr>
          <p:cNvPr id="2240" name="Shape 6"/>
          <p:cNvSpPr/>
          <p:nvPr/>
        </p:nvSpPr>
        <p:spPr>
          <a:xfrm>
            <a:off x="3200400" y="914400"/>
            <a:ext cx="2742120" cy="17125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41" name="Shape 7"/>
          <p:cNvSpPr/>
          <p:nvPr/>
        </p:nvSpPr>
        <p:spPr>
          <a:xfrm>
            <a:off x="3200400" y="914400"/>
            <a:ext cx="44640" cy="17125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42" name="Text 8"/>
          <p:cNvSpPr/>
          <p:nvPr/>
        </p:nvSpPr>
        <p:spPr>
          <a:xfrm>
            <a:off x="334620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Hierarchy (hierarchia)</a:t>
            </a:r>
            <a:endParaRPr lang="pl-PL" sz="1600" b="0" u="none" strike="noStrike">
              <a:solidFill>
                <a:srgbClr val="ffffff"/>
              </a:solidFill>
              <a:effectLst/>
              <a:uFillTx/>
              <a:latin typeface="Arial"/>
            </a:endParaRPr>
          </a:p>
        </p:txBody>
      </p:sp>
      <p:sp>
        <p:nvSpPr>
          <p:cNvPr id="2243" name="Text 9"/>
          <p:cNvSpPr/>
          <p:nvPr/>
        </p:nvSpPr>
        <p:spPr>
          <a:xfrm>
            <a:off x="3383280" y="1434600"/>
            <a:ext cx="2513520" cy="1298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Użytkownik musi rozumieć, co </a:t>
            </a:r>
            <a:br>
              <a:rPr sz="1400"/>
            </a:br>
            <a:r>
              <a:rPr lang="pl-PL" sz="1400" b="0" u="none" strike="noStrike">
                <a:solidFill>
                  <a:srgbClr val="ccddee"/>
                </a:solidFill>
                <a:effectLst/>
                <a:uFillTx/>
                <a:latin typeface="Calibri"/>
                <a:ea typeface="DejaVu Sans"/>
              </a:rPr>
              <a:t>jest ważne. Rozmiar, waga </a:t>
            </a:r>
            <a:br>
              <a:rPr sz="1400"/>
            </a:br>
            <a:r>
              <a:rPr lang="pl-PL" sz="1400" b="0" u="none" strike="noStrike">
                <a:solidFill>
                  <a:srgbClr val="ccddee"/>
                </a:solidFill>
                <a:effectLst/>
                <a:uFillTx/>
                <a:latin typeface="Calibri"/>
                <a:ea typeface="DejaVu Sans"/>
              </a:rPr>
              <a:t>czcionki i kolor tworzą mapę priorytetu treści.</a:t>
            </a:r>
            <a:endParaRPr lang="pl-PL" sz="1400" b="0" u="none" strike="noStrike">
              <a:solidFill>
                <a:srgbClr val="ffffff"/>
              </a:solidFill>
              <a:effectLst/>
              <a:uFillTx/>
              <a:latin typeface="Arial"/>
            </a:endParaRPr>
          </a:p>
        </p:txBody>
      </p:sp>
      <p:sp>
        <p:nvSpPr>
          <p:cNvPr id="2244" name="Shape 10"/>
          <p:cNvSpPr/>
          <p:nvPr/>
        </p:nvSpPr>
        <p:spPr>
          <a:xfrm>
            <a:off x="6080760" y="914400"/>
            <a:ext cx="2742120" cy="17125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45" name="Shape 11"/>
          <p:cNvSpPr/>
          <p:nvPr/>
        </p:nvSpPr>
        <p:spPr>
          <a:xfrm>
            <a:off x="6080760" y="914400"/>
            <a:ext cx="44640" cy="17125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46" name="Text 12"/>
          <p:cNvSpPr/>
          <p:nvPr/>
        </p:nvSpPr>
        <p:spPr>
          <a:xfrm>
            <a:off x="622656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alibri"/>
                <a:ea typeface="DejaVu Sans"/>
              </a:rPr>
              <a:t>Consistency (spójność)</a:t>
            </a:r>
            <a:endParaRPr lang="pl-PL" sz="1600" b="0" u="none" strike="noStrike">
              <a:solidFill>
                <a:srgbClr val="ffffff"/>
              </a:solidFill>
              <a:effectLst/>
              <a:uFillTx/>
              <a:latin typeface="Arial"/>
            </a:endParaRPr>
          </a:p>
        </p:txBody>
      </p:sp>
      <p:sp>
        <p:nvSpPr>
          <p:cNvPr id="2247" name="Text 13"/>
          <p:cNvSpPr/>
          <p:nvPr/>
        </p:nvSpPr>
        <p:spPr>
          <a:xfrm>
            <a:off x="6263640" y="1434600"/>
            <a:ext cx="2513520" cy="1298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Spójne użycie typografii buduje profesjonalny wizerunek. Style guide i Design System zapewniają jednolitość.</a:t>
            </a:r>
            <a:endParaRPr lang="pl-PL" sz="1400" b="0" u="none" strike="noStrike">
              <a:solidFill>
                <a:srgbClr val="ffffff"/>
              </a:solidFill>
              <a:effectLst/>
              <a:uFillTx/>
              <a:latin typeface="Arial"/>
            </a:endParaRPr>
          </a:p>
        </p:txBody>
      </p:sp>
      <p:sp>
        <p:nvSpPr>
          <p:cNvPr id="2248" name="Shape 14"/>
          <p:cNvSpPr/>
          <p:nvPr/>
        </p:nvSpPr>
        <p:spPr>
          <a:xfrm>
            <a:off x="320040" y="2806200"/>
            <a:ext cx="2742120" cy="898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49" name="Shape 15"/>
          <p:cNvSpPr/>
          <p:nvPr/>
        </p:nvSpPr>
        <p:spPr>
          <a:xfrm>
            <a:off x="320040" y="2806200"/>
            <a:ext cx="44640" cy="89892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50" name="Text 16"/>
          <p:cNvSpPr/>
          <p:nvPr/>
        </p:nvSpPr>
        <p:spPr>
          <a:xfrm>
            <a:off x="473040" y="294444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d600"/>
                </a:solidFill>
                <a:effectLst/>
                <a:uFillTx/>
                <a:latin typeface="Calibri"/>
                <a:ea typeface="DejaVu Sans"/>
              </a:rPr>
              <a:t>Wybór kroju pisma</a:t>
            </a:r>
            <a:endParaRPr lang="pl-PL" sz="1600" b="0" u="none" strike="noStrike">
              <a:solidFill>
                <a:srgbClr val="ffffff"/>
              </a:solidFill>
              <a:effectLst/>
              <a:uFillTx/>
              <a:latin typeface="Arial"/>
            </a:endParaRPr>
          </a:p>
        </p:txBody>
      </p:sp>
      <p:sp>
        <p:nvSpPr>
          <p:cNvPr id="2251" name="Text 17"/>
          <p:cNvSpPr/>
          <p:nvPr/>
        </p:nvSpPr>
        <p:spPr>
          <a:xfrm>
            <a:off x="502920" y="3209400"/>
            <a:ext cx="2513520" cy="373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Czcionki zaprojektowane dla ekranów. Unikaj dekoracyjnych dla treści.</a:t>
            </a:r>
            <a:endParaRPr lang="pl-PL" sz="1200" b="0" u="none" strike="noStrike">
              <a:solidFill>
                <a:srgbClr val="ffffff"/>
              </a:solidFill>
              <a:effectLst/>
              <a:uFillTx/>
              <a:latin typeface="Arial"/>
            </a:endParaRPr>
          </a:p>
        </p:txBody>
      </p:sp>
      <p:sp>
        <p:nvSpPr>
          <p:cNvPr id="2252" name="Shape 18"/>
          <p:cNvSpPr/>
          <p:nvPr/>
        </p:nvSpPr>
        <p:spPr>
          <a:xfrm>
            <a:off x="3200400" y="2806200"/>
            <a:ext cx="2742120" cy="898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53" name="Shape 19"/>
          <p:cNvSpPr/>
          <p:nvPr/>
        </p:nvSpPr>
        <p:spPr>
          <a:xfrm>
            <a:off x="3200400" y="2806200"/>
            <a:ext cx="44640" cy="8989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54" name="Text 20"/>
          <p:cNvSpPr/>
          <p:nvPr/>
        </p:nvSpPr>
        <p:spPr>
          <a:xfrm>
            <a:off x="3353400" y="294444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Waga i styl</a:t>
            </a:r>
            <a:endParaRPr lang="pl-PL" sz="1600" b="0" u="none" strike="noStrike">
              <a:solidFill>
                <a:srgbClr val="ffffff"/>
              </a:solidFill>
              <a:effectLst/>
              <a:uFillTx/>
              <a:latin typeface="Arial"/>
            </a:endParaRPr>
          </a:p>
        </p:txBody>
      </p:sp>
      <p:sp>
        <p:nvSpPr>
          <p:cNvPr id="2255" name="Text 21"/>
          <p:cNvSpPr/>
          <p:nvPr/>
        </p:nvSpPr>
        <p:spPr>
          <a:xfrm>
            <a:off x="3383280" y="3209400"/>
            <a:ext cx="2513520" cy="373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Regular, Medium, Semibold, Bold. Różne wagi do budowania hierarchii.</a:t>
            </a:r>
            <a:endParaRPr lang="pl-PL" sz="1200" b="0" u="none" strike="noStrike">
              <a:solidFill>
                <a:srgbClr val="ffffff"/>
              </a:solidFill>
              <a:effectLst/>
              <a:uFillTx/>
              <a:latin typeface="Arial"/>
            </a:endParaRPr>
          </a:p>
        </p:txBody>
      </p:sp>
      <p:sp>
        <p:nvSpPr>
          <p:cNvPr id="2256" name="Shape 22"/>
          <p:cNvSpPr/>
          <p:nvPr/>
        </p:nvSpPr>
        <p:spPr>
          <a:xfrm>
            <a:off x="6080760" y="2806200"/>
            <a:ext cx="2742120" cy="898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57" name="Shape 23"/>
          <p:cNvSpPr/>
          <p:nvPr/>
        </p:nvSpPr>
        <p:spPr>
          <a:xfrm>
            <a:off x="6080760" y="2806200"/>
            <a:ext cx="44640" cy="8989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58" name="Text 24"/>
          <p:cNvSpPr/>
          <p:nvPr/>
        </p:nvSpPr>
        <p:spPr>
          <a:xfrm>
            <a:off x="6233760" y="294444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alibri"/>
                <a:ea typeface="DejaVu Sans"/>
              </a:rPr>
              <a:t>Kolor i kontrast</a:t>
            </a:r>
            <a:endParaRPr lang="pl-PL" sz="1600" b="0" u="none" strike="noStrike">
              <a:solidFill>
                <a:srgbClr val="ffffff"/>
              </a:solidFill>
              <a:effectLst/>
              <a:uFillTx/>
              <a:latin typeface="Arial"/>
            </a:endParaRPr>
          </a:p>
        </p:txBody>
      </p:sp>
      <p:sp>
        <p:nvSpPr>
          <p:cNvPr id="2259" name="Text 25"/>
          <p:cNvSpPr/>
          <p:nvPr/>
        </p:nvSpPr>
        <p:spPr>
          <a:xfrm>
            <a:off x="6263640" y="3209400"/>
            <a:ext cx="2513520" cy="373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Min. 4.5:1 dla tekstu normalnego. </a:t>
            </a:r>
            <a:br>
              <a:rPr sz="1200"/>
            </a:br>
            <a:r>
              <a:rPr lang="pl-PL" sz="1200" b="0" u="none" strike="noStrike">
                <a:solidFill>
                  <a:srgbClr val="ccddee"/>
                </a:solidFill>
                <a:effectLst/>
                <a:uFillTx/>
                <a:latin typeface="Calibri"/>
                <a:ea typeface="DejaVu Sans"/>
              </a:rPr>
              <a:t>Testuj w różnych warunkach oświetlenia.</a:t>
            </a:r>
            <a:endParaRPr lang="pl-PL" sz="1200" b="0" u="none" strike="noStrike">
              <a:solidFill>
                <a:srgbClr val="ffffff"/>
              </a:solidFill>
              <a:effectLst/>
              <a:uFillTx/>
              <a:latin typeface="Arial"/>
            </a:endParaRPr>
          </a:p>
        </p:txBody>
      </p:sp>
      <p:sp>
        <p:nvSpPr>
          <p:cNvPr id="2260" name="Shape 26"/>
          <p:cNvSpPr/>
          <p:nvPr/>
        </p:nvSpPr>
        <p:spPr>
          <a:xfrm>
            <a:off x="320040" y="3830760"/>
            <a:ext cx="2742120" cy="898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61" name="Shape 27"/>
          <p:cNvSpPr/>
          <p:nvPr/>
        </p:nvSpPr>
        <p:spPr>
          <a:xfrm>
            <a:off x="320040" y="3830760"/>
            <a:ext cx="44640" cy="8989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62" name="Text 28"/>
          <p:cNvSpPr/>
          <p:nvPr/>
        </p:nvSpPr>
        <p:spPr>
          <a:xfrm>
            <a:off x="473040" y="390204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e676"/>
                </a:solidFill>
                <a:effectLst/>
                <a:uFillTx/>
                <a:latin typeface="Calibri"/>
                <a:ea typeface="DejaVu Sans"/>
              </a:rPr>
              <a:t>Interlinia</a:t>
            </a:r>
            <a:endParaRPr lang="pl-PL" sz="1600" b="0" u="none" strike="noStrike">
              <a:solidFill>
                <a:srgbClr val="ffffff"/>
              </a:solidFill>
              <a:effectLst/>
              <a:uFillTx/>
              <a:latin typeface="Arial"/>
            </a:endParaRPr>
          </a:p>
        </p:txBody>
      </p:sp>
      <p:sp>
        <p:nvSpPr>
          <p:cNvPr id="2263" name="Text 29"/>
          <p:cNvSpPr/>
          <p:nvPr/>
        </p:nvSpPr>
        <p:spPr>
          <a:xfrm>
            <a:off x="502920" y="4167360"/>
            <a:ext cx="2404800" cy="373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1.4–1.6× rozmiar czcionki dla tekstu. Więcej dla nagłówków.</a:t>
            </a:r>
            <a:endParaRPr lang="pl-PL" sz="1200" b="0" u="none" strike="noStrike">
              <a:solidFill>
                <a:srgbClr val="ffffff"/>
              </a:solidFill>
              <a:effectLst/>
              <a:uFillTx/>
              <a:latin typeface="Arial"/>
            </a:endParaRPr>
          </a:p>
        </p:txBody>
      </p:sp>
      <p:sp>
        <p:nvSpPr>
          <p:cNvPr id="2264" name="Shape 30"/>
          <p:cNvSpPr/>
          <p:nvPr/>
        </p:nvSpPr>
        <p:spPr>
          <a:xfrm>
            <a:off x="3200400" y="3808440"/>
            <a:ext cx="2742120" cy="898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65" name="Shape 31"/>
          <p:cNvSpPr/>
          <p:nvPr/>
        </p:nvSpPr>
        <p:spPr>
          <a:xfrm>
            <a:off x="3200400" y="3808440"/>
            <a:ext cx="44640" cy="89892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66" name="Text 32"/>
          <p:cNvSpPr/>
          <p:nvPr/>
        </p:nvSpPr>
        <p:spPr>
          <a:xfrm>
            <a:off x="3353400" y="3849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9100"/>
                </a:solidFill>
                <a:effectLst/>
                <a:uFillTx/>
                <a:latin typeface="Calibri"/>
                <a:ea typeface="DejaVu Sans"/>
              </a:rPr>
              <a:t>Tracking i kerning</a:t>
            </a:r>
            <a:endParaRPr lang="pl-PL" sz="1600" b="0" u="none" strike="noStrike">
              <a:solidFill>
                <a:srgbClr val="ffffff"/>
              </a:solidFill>
              <a:effectLst/>
              <a:uFillTx/>
              <a:latin typeface="Arial"/>
            </a:endParaRPr>
          </a:p>
        </p:txBody>
      </p:sp>
      <p:sp>
        <p:nvSpPr>
          <p:cNvPr id="2267" name="Text 33"/>
          <p:cNvSpPr/>
          <p:nvPr/>
        </p:nvSpPr>
        <p:spPr>
          <a:xfrm>
            <a:off x="3370680" y="4114800"/>
            <a:ext cx="2393280" cy="579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Odstępy między literami (tracking) </a:t>
            </a:r>
            <a:br>
              <a:rPr sz="1200"/>
            </a:br>
            <a:r>
              <a:rPr lang="pl-PL" sz="1200" b="0" u="none" strike="noStrike">
                <a:solidFill>
                  <a:srgbClr val="ccddee"/>
                </a:solidFill>
                <a:effectLst/>
                <a:uFillTx/>
                <a:latin typeface="Calibri"/>
                <a:ea typeface="DejaVu Sans"/>
              </a:rPr>
              <a:t>i parami (kerning) wpływają na czytelność.</a:t>
            </a:r>
            <a:endParaRPr lang="pl-PL" sz="1200" b="0" u="none" strike="noStrike">
              <a:solidFill>
                <a:srgbClr val="ffffff"/>
              </a:solidFill>
              <a:effectLst/>
              <a:uFillTx/>
              <a:latin typeface="Arial"/>
            </a:endParaRPr>
          </a:p>
        </p:txBody>
      </p:sp>
      <p:sp>
        <p:nvSpPr>
          <p:cNvPr id="2268" name="Text 36"/>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28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269" name="Grupa 43"/>
          <p:cNvGrpSpPr/>
          <p:nvPr/>
        </p:nvGrpSpPr>
        <p:grpSpPr>
          <a:xfrm>
            <a:off x="-2520" y="4884840"/>
            <a:ext cx="9145440" cy="259200"/>
            <a:chOff x="-2520" y="4884840"/>
            <a:chExt cx="9145440" cy="259200"/>
          </a:xfrm>
        </p:grpSpPr>
        <p:sp>
          <p:nvSpPr>
            <p:cNvPr id="2270"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71"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272" name="Grupa 46"/>
            <p:cNvGrpSpPr/>
            <p:nvPr/>
          </p:nvGrpSpPr>
          <p:grpSpPr>
            <a:xfrm>
              <a:off x="-2520" y="5099400"/>
              <a:ext cx="9145440" cy="44640"/>
              <a:chOff x="-2520" y="5099400"/>
              <a:chExt cx="9145440" cy="44640"/>
            </a:xfrm>
          </p:grpSpPr>
          <p:sp>
            <p:nvSpPr>
              <p:cNvPr id="2273"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74"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75"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76"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77"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78"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79"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0"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1"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2"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3"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4"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5"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6"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7"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8"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89"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0"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1"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2"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3"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4"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5"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6"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7"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8"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99"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00"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01"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02" name="Shape 52"/>
              <p:cNvSpPr/>
              <p:nvPr/>
            </p:nvSpPr>
            <p:spPr>
              <a:xfrm>
                <a:off x="57650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3"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4"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5"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6"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7"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8"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09"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0"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1"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2"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3"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4"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5"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6"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7"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18"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319" name="Shape 0"/>
          <p:cNvSpPr/>
          <p:nvPr/>
        </p:nvSpPr>
        <p:spPr>
          <a:xfrm>
            <a:off x="320040" y="255960"/>
            <a:ext cx="53640" cy="50184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20"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Wybór czcionek dla aplikacji mobilnych</a:t>
            </a:r>
            <a:endParaRPr lang="pl-PL" sz="2200" b="0" u="none" strike="noStrike">
              <a:solidFill>
                <a:srgbClr val="ffffff"/>
              </a:solidFill>
              <a:effectLst/>
              <a:uFillTx/>
              <a:latin typeface="Arial"/>
            </a:endParaRPr>
          </a:p>
        </p:txBody>
      </p:sp>
      <p:sp>
        <p:nvSpPr>
          <p:cNvPr id="2321" name="Shape 2"/>
          <p:cNvSpPr/>
          <p:nvPr/>
        </p:nvSpPr>
        <p:spPr>
          <a:xfrm>
            <a:off x="320040" y="914400"/>
            <a:ext cx="4068000" cy="275940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22" name="Shape 3"/>
          <p:cNvSpPr/>
          <p:nvPr/>
        </p:nvSpPr>
        <p:spPr>
          <a:xfrm>
            <a:off x="320040" y="914400"/>
            <a:ext cx="44640" cy="275940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23" name="Text 4"/>
          <p:cNvSpPr/>
          <p:nvPr/>
        </p:nvSpPr>
        <p:spPr>
          <a:xfrm>
            <a:off x="457200" y="95868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Złota zasada: System Fonts</a:t>
            </a:r>
            <a:endParaRPr lang="pl-PL" sz="1600" b="0" u="none" strike="noStrike">
              <a:solidFill>
                <a:srgbClr val="ffffff"/>
              </a:solidFill>
              <a:effectLst/>
              <a:uFillTx/>
              <a:latin typeface="Arial"/>
            </a:endParaRPr>
          </a:p>
        </p:txBody>
      </p:sp>
      <p:sp>
        <p:nvSpPr>
          <p:cNvPr id="2324" name="Text 5"/>
          <p:cNvSpPr/>
          <p:nvPr/>
        </p:nvSpPr>
        <p:spPr>
          <a:xfrm>
            <a:off x="457200" y="1307520"/>
            <a:ext cx="3793680" cy="456120"/>
          </a:xfrm>
          <a:prstGeom prst="rect">
            <a:avLst/>
          </a:prstGeom>
          <a:noFill/>
          <a:ln w="0">
            <a:noFill/>
          </a:ln>
        </p:spPr>
        <p:style>
          <a:lnRef idx="0"/>
          <a:fillRef idx="0"/>
          <a:effectRef idx="0"/>
          <a:fontRef idx="minor"/>
        </p:style>
        <p:txBody>
          <a:bodyPr lIns="0" rIns="0" tIns="0" bIns="0" anchor="ctr">
            <a:noAutofit/>
          </a:bodyPr>
          <a:p>
            <a:pPr algn="just" defTabSz="914400">
              <a:lnSpc>
                <a:spcPct val="100000"/>
              </a:lnSpc>
              <a:tabLst>
                <a:tab algn="l" pos="0"/>
              </a:tabLst>
            </a:pPr>
            <a:r>
              <a:rPr lang="pl-PL" sz="1200" b="0" u="none" strike="noStrike">
                <a:solidFill>
                  <a:srgbClr val="ccddee"/>
                </a:solidFill>
                <a:effectLst/>
                <a:uFillTx/>
                <a:latin typeface="Calibri"/>
                <a:ea typeface="DejaVu Sans"/>
              </a:rPr>
              <a:t>Używaj czcionek systemowych tam, gdzie to możliwe. </a:t>
            </a:r>
            <a:br>
              <a:rPr sz="1200"/>
            </a:br>
            <a:r>
              <a:rPr lang="pl-PL" sz="1200" b="0" u="none" strike="noStrike">
                <a:solidFill>
                  <a:srgbClr val="ccddee"/>
                </a:solidFill>
                <a:effectLst/>
                <a:uFillTx/>
                <a:latin typeface="Calibri"/>
                <a:ea typeface="DejaVu Sans"/>
              </a:rPr>
              <a:t>Są zoptymalizowane dla platformy, szybciej się ładują </a:t>
            </a:r>
            <a:br>
              <a:rPr sz="1200"/>
            </a:br>
            <a:r>
              <a:rPr lang="pl-PL" sz="1200" b="0" u="none" strike="noStrike">
                <a:solidFill>
                  <a:srgbClr val="ccddee"/>
                </a:solidFill>
                <a:effectLst/>
                <a:uFillTx/>
                <a:latin typeface="Calibri"/>
                <a:ea typeface="DejaVu Sans"/>
              </a:rPr>
              <a:t>i zapewniają natywne doświadczenie.</a:t>
            </a:r>
            <a:endParaRPr lang="pl-PL" sz="1200" b="0" u="none" strike="noStrike">
              <a:solidFill>
                <a:srgbClr val="ffffff"/>
              </a:solidFill>
              <a:effectLst/>
              <a:uFillTx/>
              <a:latin typeface="Arial"/>
            </a:endParaRPr>
          </a:p>
        </p:txBody>
      </p:sp>
      <p:sp>
        <p:nvSpPr>
          <p:cNvPr id="2325" name="Shape 6"/>
          <p:cNvSpPr/>
          <p:nvPr/>
        </p:nvSpPr>
        <p:spPr>
          <a:xfrm>
            <a:off x="457200" y="1965240"/>
            <a:ext cx="3839400" cy="757800"/>
          </a:xfrm>
          <a:prstGeom prst="rect">
            <a:avLst/>
          </a:prstGeom>
          <a:solidFill>
            <a:srgbClr val="0a1929"/>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26" name="Text 7"/>
          <p:cNvSpPr/>
          <p:nvPr/>
        </p:nvSpPr>
        <p:spPr>
          <a:xfrm>
            <a:off x="548640" y="2013840"/>
            <a:ext cx="3610800" cy="278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d600"/>
                </a:solidFill>
                <a:effectLst/>
                <a:uFillTx/>
                <a:latin typeface="Calibri"/>
                <a:ea typeface="DejaVu Sans"/>
              </a:rPr>
              <a:t>iOS: San Francisco</a:t>
            </a:r>
            <a:endParaRPr lang="pl-PL" sz="1400" b="0" u="none" strike="noStrike">
              <a:solidFill>
                <a:srgbClr val="ffffff"/>
              </a:solidFill>
              <a:effectLst/>
              <a:uFillTx/>
              <a:latin typeface="Arial"/>
            </a:endParaRPr>
          </a:p>
        </p:txBody>
      </p:sp>
      <p:sp>
        <p:nvSpPr>
          <p:cNvPr id="2327" name="Text 8"/>
          <p:cNvSpPr/>
          <p:nvPr/>
        </p:nvSpPr>
        <p:spPr>
          <a:xfrm>
            <a:off x="548640" y="2248920"/>
            <a:ext cx="3610800" cy="378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chemeClr val="lt1">
                    <a:lumMod val="85000"/>
                  </a:schemeClr>
                </a:solidFill>
                <a:effectLst/>
                <a:uFillTx/>
                <a:latin typeface="Calibri"/>
                <a:ea typeface="DejaVu Sans"/>
              </a:rPr>
              <a:t>SF Pro </a:t>
            </a:r>
            <a:r>
              <a:rPr lang="pl-PL" sz="1200" b="0" u="none" strike="noStrike">
                <a:solidFill>
                  <a:schemeClr val="lt1">
                    <a:lumMod val="85000"/>
                  </a:schemeClr>
                </a:solidFill>
                <a:effectLst/>
                <a:uFillTx/>
                <a:latin typeface="Calibri"/>
                <a:ea typeface="DejaVu Sans"/>
              </a:rPr>
              <a:t>(zmienna waga), </a:t>
            </a:r>
            <a:r>
              <a:rPr lang="pl-PL" sz="1200" b="1" u="none" strike="noStrike">
                <a:solidFill>
                  <a:schemeClr val="lt1">
                    <a:lumMod val="85000"/>
                  </a:schemeClr>
                </a:solidFill>
                <a:effectLst/>
                <a:uFillTx/>
                <a:latin typeface="Calibri"/>
                <a:ea typeface="DejaVu Sans"/>
              </a:rPr>
              <a:t>SF Compact </a:t>
            </a:r>
            <a:r>
              <a:rPr lang="pl-PL" sz="1200" b="0" u="none" strike="noStrike">
                <a:solidFill>
                  <a:schemeClr val="lt1">
                    <a:lumMod val="85000"/>
                  </a:schemeClr>
                </a:solidFill>
                <a:effectLst/>
                <a:uFillTx/>
                <a:latin typeface="Calibri"/>
                <a:ea typeface="DejaVu Sans"/>
              </a:rPr>
              <a:t>(zegarek). Zoptymalizowana dla Retina.</a:t>
            </a:r>
            <a:endParaRPr lang="pl-PL" sz="1200" b="0" u="none" strike="noStrike">
              <a:solidFill>
                <a:srgbClr val="ffffff"/>
              </a:solidFill>
              <a:effectLst/>
              <a:uFillTx/>
              <a:latin typeface="Arial"/>
            </a:endParaRPr>
          </a:p>
        </p:txBody>
      </p:sp>
      <p:sp>
        <p:nvSpPr>
          <p:cNvPr id="2328" name="Shape 9"/>
          <p:cNvSpPr/>
          <p:nvPr/>
        </p:nvSpPr>
        <p:spPr>
          <a:xfrm>
            <a:off x="457200" y="2826720"/>
            <a:ext cx="3839400" cy="791280"/>
          </a:xfrm>
          <a:prstGeom prst="rect">
            <a:avLst/>
          </a:prstGeom>
          <a:solidFill>
            <a:srgbClr val="0a1929"/>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29" name="Text 10"/>
          <p:cNvSpPr/>
          <p:nvPr/>
        </p:nvSpPr>
        <p:spPr>
          <a:xfrm>
            <a:off x="548640" y="2875320"/>
            <a:ext cx="3610800" cy="29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d4ff"/>
                </a:solidFill>
                <a:effectLst/>
                <a:uFillTx/>
                <a:latin typeface="Calibri"/>
                <a:ea typeface="DejaVu Sans"/>
              </a:rPr>
              <a:t>Android: Roboto / Noto</a:t>
            </a:r>
            <a:endParaRPr lang="pl-PL" sz="1400" b="0" u="none" strike="noStrike">
              <a:solidFill>
                <a:srgbClr val="ffffff"/>
              </a:solidFill>
              <a:effectLst/>
              <a:uFillTx/>
              <a:latin typeface="Arial"/>
            </a:endParaRPr>
          </a:p>
        </p:txBody>
      </p:sp>
      <p:sp>
        <p:nvSpPr>
          <p:cNvPr id="2330" name="Text 11"/>
          <p:cNvSpPr/>
          <p:nvPr/>
        </p:nvSpPr>
        <p:spPr>
          <a:xfrm>
            <a:off x="548640" y="3110400"/>
            <a:ext cx="3610800" cy="394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chemeClr val="lt1">
                    <a:lumMod val="85000"/>
                  </a:schemeClr>
                </a:solidFill>
                <a:effectLst/>
                <a:uFillTx/>
                <a:latin typeface="Calibri"/>
                <a:ea typeface="DejaVu Sans"/>
              </a:rPr>
              <a:t>Roboto</a:t>
            </a:r>
            <a:r>
              <a:rPr lang="pl-PL" sz="1200" b="0" u="none" strike="noStrike">
                <a:solidFill>
                  <a:schemeClr val="lt1">
                    <a:lumMod val="85000"/>
                  </a:schemeClr>
                </a:solidFill>
                <a:effectLst/>
                <a:uFillTx/>
                <a:latin typeface="Calibri"/>
                <a:ea typeface="DejaVu Sans"/>
              </a:rPr>
              <a:t> - główna czcionka Android/Chrome. </a:t>
            </a:r>
            <a:br>
              <a:rPr sz="1200"/>
            </a:br>
            <a:r>
              <a:rPr lang="pl-PL" sz="1200" b="1" u="none" strike="noStrike">
                <a:solidFill>
                  <a:schemeClr val="lt1">
                    <a:lumMod val="85000"/>
                  </a:schemeClr>
                </a:solidFill>
                <a:effectLst/>
                <a:uFillTx/>
                <a:latin typeface="Calibri"/>
                <a:ea typeface="DejaVu Sans"/>
              </a:rPr>
              <a:t>Noto</a:t>
            </a:r>
            <a:r>
              <a:rPr lang="pl-PL" sz="1200" b="0" u="none" strike="noStrike">
                <a:solidFill>
                  <a:schemeClr val="lt1">
                    <a:lumMod val="85000"/>
                  </a:schemeClr>
                </a:solidFill>
                <a:effectLst/>
                <a:uFillTx/>
                <a:latin typeface="Calibri"/>
                <a:ea typeface="DejaVu Sans"/>
              </a:rPr>
              <a:t> dla języków azjatyckich.</a:t>
            </a:r>
            <a:endParaRPr lang="pl-PL" sz="1200" b="0" u="none" strike="noStrike">
              <a:solidFill>
                <a:srgbClr val="ffffff"/>
              </a:solidFill>
              <a:effectLst/>
              <a:uFillTx/>
              <a:latin typeface="Arial"/>
            </a:endParaRPr>
          </a:p>
        </p:txBody>
      </p:sp>
      <p:sp>
        <p:nvSpPr>
          <p:cNvPr id="2331" name="Shape 12"/>
          <p:cNvSpPr/>
          <p:nvPr/>
        </p:nvSpPr>
        <p:spPr>
          <a:xfrm>
            <a:off x="320040" y="3792240"/>
            <a:ext cx="1964880" cy="712080"/>
          </a:xfrm>
          <a:prstGeom prst="rect">
            <a:avLst/>
          </a:prstGeom>
          <a:solidFill>
            <a:srgbClr val="112233"/>
          </a:solidFill>
          <a:ln w="12600">
            <a:solidFill>
              <a:srgbClr val="ffd60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32" name="Text 13"/>
          <p:cNvSpPr/>
          <p:nvPr/>
        </p:nvSpPr>
        <p:spPr>
          <a:xfrm>
            <a:off x="320040" y="3826080"/>
            <a:ext cx="196488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ffd600"/>
                </a:solidFill>
                <a:effectLst/>
                <a:uFillTx/>
                <a:latin typeface="Calibri"/>
                <a:ea typeface="DejaVu Sans"/>
              </a:rPr>
              <a:t>16px</a:t>
            </a:r>
            <a:endParaRPr lang="pl-PL" sz="2800" b="0" u="none" strike="noStrike">
              <a:solidFill>
                <a:srgbClr val="ffffff"/>
              </a:solidFill>
              <a:effectLst/>
              <a:uFillTx/>
              <a:latin typeface="Arial"/>
            </a:endParaRPr>
          </a:p>
        </p:txBody>
      </p:sp>
      <p:sp>
        <p:nvSpPr>
          <p:cNvPr id="2333" name="Text 14"/>
          <p:cNvSpPr/>
          <p:nvPr/>
        </p:nvSpPr>
        <p:spPr>
          <a:xfrm>
            <a:off x="320040" y="4198680"/>
            <a:ext cx="196488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0" u="none" strike="noStrike">
                <a:solidFill>
                  <a:srgbClr val="8899aa"/>
                </a:solidFill>
                <a:effectLst/>
                <a:uFillTx/>
                <a:latin typeface="Calibri"/>
                <a:ea typeface="DejaVu Sans"/>
              </a:rPr>
              <a:t>min. rozmiar tekstu</a:t>
            </a:r>
            <a:endParaRPr lang="pl-PL" sz="1050" b="0" u="none" strike="noStrike">
              <a:solidFill>
                <a:srgbClr val="ffffff"/>
              </a:solidFill>
              <a:effectLst/>
              <a:uFillTx/>
              <a:latin typeface="Arial"/>
            </a:endParaRPr>
          </a:p>
        </p:txBody>
      </p:sp>
      <p:sp>
        <p:nvSpPr>
          <p:cNvPr id="2334" name="Shape 15"/>
          <p:cNvSpPr/>
          <p:nvPr/>
        </p:nvSpPr>
        <p:spPr>
          <a:xfrm>
            <a:off x="2423160" y="3792240"/>
            <a:ext cx="1964880" cy="712080"/>
          </a:xfrm>
          <a:prstGeom prst="rect">
            <a:avLst/>
          </a:prstGeom>
          <a:solidFill>
            <a:srgbClr val="112233"/>
          </a:solidFill>
          <a:ln w="12600">
            <a:solidFill>
              <a:srgbClr val="00d4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35" name="Text 16"/>
          <p:cNvSpPr/>
          <p:nvPr/>
        </p:nvSpPr>
        <p:spPr>
          <a:xfrm>
            <a:off x="2423160" y="3826080"/>
            <a:ext cx="1964880" cy="39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00d4ff"/>
                </a:solidFill>
                <a:effectLst/>
                <a:uFillTx/>
                <a:latin typeface="Calibri"/>
                <a:ea typeface="DejaVu Sans"/>
              </a:rPr>
              <a:t>1.5</a:t>
            </a:r>
            <a:endParaRPr lang="pl-PL" sz="2800" b="0" u="none" strike="noStrike">
              <a:solidFill>
                <a:srgbClr val="ffffff"/>
              </a:solidFill>
              <a:effectLst/>
              <a:uFillTx/>
              <a:latin typeface="Arial"/>
            </a:endParaRPr>
          </a:p>
        </p:txBody>
      </p:sp>
      <p:sp>
        <p:nvSpPr>
          <p:cNvPr id="2336" name="Text 17"/>
          <p:cNvSpPr/>
          <p:nvPr/>
        </p:nvSpPr>
        <p:spPr>
          <a:xfrm>
            <a:off x="2423160" y="4198680"/>
            <a:ext cx="1964880" cy="27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0" u="none" strike="noStrike">
                <a:solidFill>
                  <a:srgbClr val="8899aa"/>
                </a:solidFill>
                <a:effectLst/>
                <a:uFillTx/>
                <a:latin typeface="Calibri"/>
                <a:ea typeface="DejaVu Sans"/>
              </a:rPr>
              <a:t>optymalna interlinia</a:t>
            </a:r>
            <a:endParaRPr lang="pl-PL" sz="1050" b="0" u="none" strike="noStrike">
              <a:solidFill>
                <a:srgbClr val="ffffff"/>
              </a:solidFill>
              <a:effectLst/>
              <a:uFillTx/>
              <a:latin typeface="Arial"/>
            </a:endParaRPr>
          </a:p>
        </p:txBody>
      </p:sp>
      <p:sp>
        <p:nvSpPr>
          <p:cNvPr id="2337" name="Shape 18"/>
          <p:cNvSpPr/>
          <p:nvPr/>
        </p:nvSpPr>
        <p:spPr>
          <a:xfrm>
            <a:off x="4718880" y="914400"/>
            <a:ext cx="4068000" cy="3102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38" name="Shape 19"/>
          <p:cNvSpPr/>
          <p:nvPr/>
        </p:nvSpPr>
        <p:spPr>
          <a:xfrm>
            <a:off x="4718880" y="914400"/>
            <a:ext cx="44640" cy="310212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39" name="Text 20"/>
          <p:cNvSpPr/>
          <p:nvPr/>
        </p:nvSpPr>
        <p:spPr>
          <a:xfrm>
            <a:off x="4892040" y="98748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Cechy dobrych czcionek mobilnych</a:t>
            </a:r>
            <a:endParaRPr lang="pl-PL" sz="1600" b="0" u="none" strike="noStrike">
              <a:solidFill>
                <a:srgbClr val="ffffff"/>
              </a:solidFill>
              <a:effectLst/>
              <a:uFillTx/>
              <a:latin typeface="Arial"/>
            </a:endParaRPr>
          </a:p>
        </p:txBody>
      </p:sp>
      <p:sp>
        <p:nvSpPr>
          <p:cNvPr id="2340" name="Shape 21"/>
          <p:cNvSpPr/>
          <p:nvPr/>
        </p:nvSpPr>
        <p:spPr>
          <a:xfrm>
            <a:off x="4892040" y="144360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41" name="Text 22"/>
          <p:cNvSpPr/>
          <p:nvPr/>
        </p:nvSpPr>
        <p:spPr>
          <a:xfrm>
            <a:off x="4892040" y="144360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1</a:t>
            </a:r>
            <a:endParaRPr lang="pl-PL" sz="1200" b="0" u="none" strike="noStrike">
              <a:solidFill>
                <a:srgbClr val="ffffff"/>
              </a:solidFill>
              <a:effectLst/>
              <a:uFillTx/>
              <a:latin typeface="Arial"/>
            </a:endParaRPr>
          </a:p>
        </p:txBody>
      </p:sp>
      <p:sp>
        <p:nvSpPr>
          <p:cNvPr id="2342" name="Text 23"/>
          <p:cNvSpPr/>
          <p:nvPr/>
        </p:nvSpPr>
        <p:spPr>
          <a:xfrm>
            <a:off x="5239440" y="137160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Niski kontrast wewnętrzny</a:t>
            </a:r>
            <a:endParaRPr lang="pl-PL" sz="1200" b="0" u="none" strike="noStrike">
              <a:solidFill>
                <a:srgbClr val="ffffff"/>
              </a:solidFill>
              <a:effectLst/>
              <a:uFillTx/>
              <a:latin typeface="Arial"/>
            </a:endParaRPr>
          </a:p>
        </p:txBody>
      </p:sp>
      <p:sp>
        <p:nvSpPr>
          <p:cNvPr id="2343" name="Text 24"/>
          <p:cNvSpPr/>
          <p:nvPr/>
        </p:nvSpPr>
        <p:spPr>
          <a:xfrm>
            <a:off x="5239440" y="161532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chemeClr val="lt1">
                    <a:lumMod val="85000"/>
                  </a:schemeClr>
                </a:solidFill>
                <a:effectLst/>
                <a:uFillTx/>
                <a:latin typeface="Calibri"/>
                <a:ea typeface="DejaVu Sans"/>
              </a:rPr>
              <a:t>Unikaj czcionek z dużym kontrastem grubość/cieńkość. Trudne w małych rozmiarach.</a:t>
            </a:r>
            <a:endParaRPr lang="pl-PL" sz="1050" b="0" u="none" strike="noStrike">
              <a:solidFill>
                <a:srgbClr val="ffffff"/>
              </a:solidFill>
              <a:effectLst/>
              <a:uFillTx/>
              <a:latin typeface="Arial"/>
            </a:endParaRPr>
          </a:p>
        </p:txBody>
      </p:sp>
      <p:sp>
        <p:nvSpPr>
          <p:cNvPr id="2344" name="Shape 25"/>
          <p:cNvSpPr/>
          <p:nvPr/>
        </p:nvSpPr>
        <p:spPr>
          <a:xfrm>
            <a:off x="4892040" y="210204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45" name="Text 26"/>
          <p:cNvSpPr/>
          <p:nvPr/>
        </p:nvSpPr>
        <p:spPr>
          <a:xfrm>
            <a:off x="4892040" y="21020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2</a:t>
            </a:r>
            <a:endParaRPr lang="pl-PL" sz="1200" b="0" u="none" strike="noStrike">
              <a:solidFill>
                <a:srgbClr val="ffffff"/>
              </a:solidFill>
              <a:effectLst/>
              <a:uFillTx/>
              <a:latin typeface="Arial"/>
            </a:endParaRPr>
          </a:p>
        </p:txBody>
      </p:sp>
      <p:sp>
        <p:nvSpPr>
          <p:cNvPr id="2346" name="Text 27"/>
          <p:cNvSpPr/>
          <p:nvPr/>
        </p:nvSpPr>
        <p:spPr>
          <a:xfrm>
            <a:off x="5239440" y="20300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Otwarta apertura</a:t>
            </a:r>
            <a:endParaRPr lang="pl-PL" sz="1200" b="0" u="none" strike="noStrike">
              <a:solidFill>
                <a:srgbClr val="ffffff"/>
              </a:solidFill>
              <a:effectLst/>
              <a:uFillTx/>
              <a:latin typeface="Arial"/>
            </a:endParaRPr>
          </a:p>
        </p:txBody>
      </p:sp>
      <p:sp>
        <p:nvSpPr>
          <p:cNvPr id="2347" name="Text 28"/>
          <p:cNvSpPr/>
          <p:nvPr/>
        </p:nvSpPr>
        <p:spPr>
          <a:xfrm>
            <a:off x="5239440" y="227340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chemeClr val="lt1">
                    <a:lumMod val="85000"/>
                  </a:schemeClr>
                </a:solidFill>
                <a:effectLst/>
                <a:uFillTx/>
                <a:latin typeface="Calibri"/>
                <a:ea typeface="DejaVu Sans"/>
              </a:rPr>
              <a:t>Otwarte przestrzenie w literach a, e, s poprawiają czytelność małego tekstu.</a:t>
            </a:r>
            <a:endParaRPr lang="pl-PL" sz="1050" b="0" u="none" strike="noStrike">
              <a:solidFill>
                <a:srgbClr val="ffffff"/>
              </a:solidFill>
              <a:effectLst/>
              <a:uFillTx/>
              <a:latin typeface="Arial"/>
            </a:endParaRPr>
          </a:p>
        </p:txBody>
      </p:sp>
      <p:sp>
        <p:nvSpPr>
          <p:cNvPr id="2348" name="Shape 29"/>
          <p:cNvSpPr/>
          <p:nvPr/>
        </p:nvSpPr>
        <p:spPr>
          <a:xfrm>
            <a:off x="4892040" y="276048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49" name="Text 30"/>
          <p:cNvSpPr/>
          <p:nvPr/>
        </p:nvSpPr>
        <p:spPr>
          <a:xfrm>
            <a:off x="4892040" y="27604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3</a:t>
            </a:r>
            <a:endParaRPr lang="pl-PL" sz="1200" b="0" u="none" strike="noStrike">
              <a:solidFill>
                <a:srgbClr val="ffffff"/>
              </a:solidFill>
              <a:effectLst/>
              <a:uFillTx/>
              <a:latin typeface="Arial"/>
            </a:endParaRPr>
          </a:p>
        </p:txBody>
      </p:sp>
      <p:sp>
        <p:nvSpPr>
          <p:cNvPr id="2350" name="Text 31"/>
          <p:cNvSpPr/>
          <p:nvPr/>
        </p:nvSpPr>
        <p:spPr>
          <a:xfrm>
            <a:off x="5239440" y="268848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Wyraźne różnice liter</a:t>
            </a:r>
            <a:endParaRPr lang="pl-PL" sz="1200" b="0" u="none" strike="noStrike">
              <a:solidFill>
                <a:srgbClr val="ffffff"/>
              </a:solidFill>
              <a:effectLst/>
              <a:uFillTx/>
              <a:latin typeface="Arial"/>
            </a:endParaRPr>
          </a:p>
        </p:txBody>
      </p:sp>
      <p:sp>
        <p:nvSpPr>
          <p:cNvPr id="2351" name="Text 32"/>
          <p:cNvSpPr/>
          <p:nvPr/>
        </p:nvSpPr>
        <p:spPr>
          <a:xfrm>
            <a:off x="5239440" y="2931840"/>
            <a:ext cx="3473640" cy="207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chemeClr val="lt1">
                    <a:lumMod val="85000"/>
                  </a:schemeClr>
                </a:solidFill>
                <a:effectLst/>
                <a:uFillTx/>
                <a:latin typeface="Calibri"/>
                <a:ea typeface="DejaVu Sans"/>
              </a:rPr>
              <a:t>Litery muszą być łatwo rozróżnialne: I vs l vs 1, O vs 0, m vs rn.</a:t>
            </a:r>
            <a:endParaRPr lang="pl-PL" sz="1050" b="0" u="none" strike="noStrike">
              <a:solidFill>
                <a:srgbClr val="ffffff"/>
              </a:solidFill>
              <a:effectLst/>
              <a:uFillTx/>
              <a:latin typeface="Arial"/>
            </a:endParaRPr>
          </a:p>
        </p:txBody>
      </p:sp>
      <p:sp>
        <p:nvSpPr>
          <p:cNvPr id="2352" name="Shape 33"/>
          <p:cNvSpPr/>
          <p:nvPr/>
        </p:nvSpPr>
        <p:spPr>
          <a:xfrm>
            <a:off x="4892040" y="341856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53" name="Text 34"/>
          <p:cNvSpPr/>
          <p:nvPr/>
        </p:nvSpPr>
        <p:spPr>
          <a:xfrm>
            <a:off x="4892040" y="341856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4</a:t>
            </a:r>
            <a:endParaRPr lang="pl-PL" sz="1200" b="0" u="none" strike="noStrike">
              <a:solidFill>
                <a:srgbClr val="ffffff"/>
              </a:solidFill>
              <a:effectLst/>
              <a:uFillTx/>
              <a:latin typeface="Arial"/>
            </a:endParaRPr>
          </a:p>
        </p:txBody>
      </p:sp>
      <p:sp>
        <p:nvSpPr>
          <p:cNvPr id="2354" name="Text 35"/>
          <p:cNvSpPr/>
          <p:nvPr/>
        </p:nvSpPr>
        <p:spPr>
          <a:xfrm>
            <a:off x="5239440" y="33465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Duże X-Height</a:t>
            </a:r>
            <a:endParaRPr lang="pl-PL" sz="1200" b="0" u="none" strike="noStrike">
              <a:solidFill>
                <a:srgbClr val="ffffff"/>
              </a:solidFill>
              <a:effectLst/>
              <a:uFillTx/>
              <a:latin typeface="Arial"/>
            </a:endParaRPr>
          </a:p>
        </p:txBody>
      </p:sp>
      <p:sp>
        <p:nvSpPr>
          <p:cNvPr id="2355" name="Text 36"/>
          <p:cNvSpPr/>
          <p:nvPr/>
        </p:nvSpPr>
        <p:spPr>
          <a:xfrm>
            <a:off x="5239440" y="35902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chemeClr val="lt1">
                    <a:lumMod val="85000"/>
                  </a:schemeClr>
                </a:solidFill>
                <a:effectLst/>
                <a:uFillTx/>
                <a:latin typeface="Calibri"/>
                <a:ea typeface="DejaVu Sans"/>
              </a:rPr>
              <a:t>Wysoka proporcja małych liter do wielkich = lepsza czytelność tekstu.</a:t>
            </a:r>
            <a:endParaRPr lang="pl-PL" sz="1050" b="0" u="none" strike="noStrike">
              <a:solidFill>
                <a:srgbClr val="ffffff"/>
              </a:solidFill>
              <a:effectLst/>
              <a:uFillTx/>
              <a:latin typeface="Arial"/>
            </a:endParaRPr>
          </a:p>
        </p:txBody>
      </p:sp>
      <p:sp>
        <p:nvSpPr>
          <p:cNvPr id="2356" name="Shape 37"/>
          <p:cNvSpPr/>
          <p:nvPr/>
        </p:nvSpPr>
        <p:spPr>
          <a:xfrm>
            <a:off x="4718880" y="4196880"/>
            <a:ext cx="4068000" cy="621000"/>
          </a:xfrm>
          <a:prstGeom prst="rect">
            <a:avLst/>
          </a:prstGeom>
          <a:solidFill>
            <a:srgbClr val="0a1929"/>
          </a:solidFill>
          <a:ln w="12600">
            <a:solidFill>
              <a:srgbClr val="ff910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57" name="Text 38"/>
          <p:cNvSpPr/>
          <p:nvPr/>
        </p:nvSpPr>
        <p:spPr>
          <a:xfrm>
            <a:off x="4800600" y="4217760"/>
            <a:ext cx="3944880" cy="563760"/>
          </a:xfrm>
          <a:prstGeom prst="rect">
            <a:avLst/>
          </a:prstGeom>
          <a:noFill/>
          <a:ln w="0">
            <a:noFill/>
          </a:ln>
        </p:spPr>
        <p:style>
          <a:lnRef idx="0"/>
          <a:fillRef idx="0"/>
          <a:effectRef idx="0"/>
          <a:fontRef idx="minor"/>
        </p:style>
        <p:txBody>
          <a:bodyPr lIns="0" rIns="0" tIns="0" bIns="0" anchor="ctr">
            <a:noAutofit/>
          </a:bodyPr>
          <a:p>
            <a:pPr algn="just" defTabSz="914400">
              <a:lnSpc>
                <a:spcPct val="100000"/>
              </a:lnSpc>
              <a:tabLst>
                <a:tab algn="l" pos="0"/>
              </a:tabLst>
            </a:pPr>
            <a:r>
              <a:rPr lang="pl-PL" sz="1050" b="0" u="none" strike="noStrike">
                <a:solidFill>
                  <a:srgbClr val="ff9100"/>
                </a:solidFill>
                <a:effectLst/>
                <a:uFillTx/>
                <a:latin typeface="Calibri"/>
                <a:ea typeface="DejaVu Sans"/>
              </a:rPr>
              <a:t>⚠ Czcionki niestandardowe: wpływają na wydajność, wymagają licencji, mogą nie renderować poprawnie. Zawsze testuj na rzeczywistych urządzeniach!</a:t>
            </a:r>
            <a:endParaRPr lang="pl-PL" sz="1050" b="0" u="none" strike="noStrike">
              <a:solidFill>
                <a:srgbClr val="ffffff"/>
              </a:solidFill>
              <a:effectLst/>
              <a:uFillTx/>
              <a:latin typeface="Arial"/>
            </a:endParaRPr>
          </a:p>
        </p:txBody>
      </p:sp>
      <p:sp>
        <p:nvSpPr>
          <p:cNvPr id="2358" name="Text 41"/>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29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359" name="Grupa 46"/>
          <p:cNvGrpSpPr/>
          <p:nvPr/>
        </p:nvGrpSpPr>
        <p:grpSpPr>
          <a:xfrm>
            <a:off x="-2520" y="4884840"/>
            <a:ext cx="9145440" cy="259200"/>
            <a:chOff x="-2520" y="4884840"/>
            <a:chExt cx="9145440" cy="259200"/>
          </a:xfrm>
        </p:grpSpPr>
        <p:sp>
          <p:nvSpPr>
            <p:cNvPr id="2360"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61"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362" name="Grupa 49"/>
            <p:cNvGrpSpPr/>
            <p:nvPr/>
          </p:nvGrpSpPr>
          <p:grpSpPr>
            <a:xfrm>
              <a:off x="-2520" y="5099400"/>
              <a:ext cx="9145440" cy="44640"/>
              <a:chOff x="-2520" y="5099400"/>
              <a:chExt cx="9145440" cy="44640"/>
            </a:xfrm>
          </p:grpSpPr>
          <p:sp>
            <p:nvSpPr>
              <p:cNvPr id="2363"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64"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65"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66"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67"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68"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69"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0"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1"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2"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3"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4"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5"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6"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7"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8"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79"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0"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1"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2"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3"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4"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5"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6"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7"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8"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9"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90"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91"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92"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93" name="Shape 52"/>
              <p:cNvSpPr/>
              <p:nvPr/>
            </p:nvSpPr>
            <p:spPr>
              <a:xfrm>
                <a:off x="59637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94"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95"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96"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97"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98"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99"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0"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1"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2"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3"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4"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5"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6"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7"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08"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409" name="Shape 0"/>
          <p:cNvSpPr/>
          <p:nvPr/>
        </p:nvSpPr>
        <p:spPr>
          <a:xfrm>
            <a:off x="320040" y="255960"/>
            <a:ext cx="53640" cy="50184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10" name="Text 1"/>
          <p:cNvSpPr/>
          <p:nvPr/>
        </p:nvSpPr>
        <p:spPr>
          <a:xfrm>
            <a:off x="475560" y="219600"/>
            <a:ext cx="467136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Hierarchia typograficzna i dostępność</a:t>
            </a:r>
            <a:endParaRPr lang="pl-PL" sz="2200" b="0" u="none" strike="noStrike">
              <a:solidFill>
                <a:srgbClr val="ffffff"/>
              </a:solidFill>
              <a:effectLst/>
              <a:uFillTx/>
              <a:latin typeface="Arial"/>
            </a:endParaRPr>
          </a:p>
        </p:txBody>
      </p:sp>
      <p:sp>
        <p:nvSpPr>
          <p:cNvPr id="2411" name="Shape 2"/>
          <p:cNvSpPr/>
          <p:nvPr/>
        </p:nvSpPr>
        <p:spPr>
          <a:xfrm>
            <a:off x="320040" y="986400"/>
            <a:ext cx="4068000" cy="24861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12" name="Shape 3"/>
          <p:cNvSpPr/>
          <p:nvPr/>
        </p:nvSpPr>
        <p:spPr>
          <a:xfrm>
            <a:off x="320040" y="986400"/>
            <a:ext cx="44640" cy="248616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13" name="Text 4"/>
          <p:cNvSpPr/>
          <p:nvPr/>
        </p:nvSpPr>
        <p:spPr>
          <a:xfrm>
            <a:off x="457200" y="1059480"/>
            <a:ext cx="379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Typowa skala mobilna</a:t>
            </a:r>
            <a:endParaRPr lang="pl-PL" sz="1400" b="0" u="none" strike="noStrike">
              <a:solidFill>
                <a:srgbClr val="ffffff"/>
              </a:solidFill>
              <a:effectLst/>
              <a:uFillTx/>
              <a:latin typeface="Arial"/>
            </a:endParaRPr>
          </a:p>
        </p:txBody>
      </p:sp>
      <p:sp>
        <p:nvSpPr>
          <p:cNvPr id="2414" name="Text 5"/>
          <p:cNvSpPr/>
          <p:nvPr/>
        </p:nvSpPr>
        <p:spPr>
          <a:xfrm>
            <a:off x="457200" y="1388880"/>
            <a:ext cx="292500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ffd600"/>
                </a:solidFill>
                <a:effectLst/>
                <a:uFillTx/>
                <a:latin typeface="Calibri"/>
                <a:ea typeface="DejaVu Sans"/>
              </a:rPr>
              <a:t>H1 - Tytuł ekranu</a:t>
            </a:r>
            <a:endParaRPr lang="pl-PL" sz="2000" b="0" u="none" strike="noStrike">
              <a:solidFill>
                <a:srgbClr val="ffffff"/>
              </a:solidFill>
              <a:effectLst/>
              <a:uFillTx/>
              <a:latin typeface="Arial"/>
            </a:endParaRPr>
          </a:p>
        </p:txBody>
      </p:sp>
      <p:sp>
        <p:nvSpPr>
          <p:cNvPr id="2415" name="Text 6"/>
          <p:cNvSpPr/>
          <p:nvPr/>
        </p:nvSpPr>
        <p:spPr>
          <a:xfrm>
            <a:off x="3474720" y="1388880"/>
            <a:ext cx="776160" cy="3463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1600" b="0" u="none" strike="noStrike">
                <a:solidFill>
                  <a:schemeClr val="lt1">
                    <a:lumMod val="85000"/>
                  </a:schemeClr>
                </a:solidFill>
                <a:effectLst/>
                <a:uFillTx/>
                <a:latin typeface="Calibri"/>
                <a:ea typeface="DejaVu Sans"/>
              </a:rPr>
              <a:t>32px</a:t>
            </a:r>
            <a:endParaRPr lang="pl-PL" sz="1600" b="0" u="none" strike="noStrike">
              <a:solidFill>
                <a:srgbClr val="ffffff"/>
              </a:solidFill>
              <a:effectLst/>
              <a:uFillTx/>
              <a:latin typeface="Arial"/>
            </a:endParaRPr>
          </a:p>
        </p:txBody>
      </p:sp>
      <p:sp>
        <p:nvSpPr>
          <p:cNvPr id="2416" name="Text 7"/>
          <p:cNvSpPr/>
          <p:nvPr/>
        </p:nvSpPr>
        <p:spPr>
          <a:xfrm>
            <a:off x="457200" y="1791000"/>
            <a:ext cx="292500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00d4ff"/>
                </a:solidFill>
                <a:effectLst/>
                <a:uFillTx/>
                <a:latin typeface="Calibri"/>
                <a:ea typeface="DejaVu Sans"/>
              </a:rPr>
              <a:t>H2 - Sekcja</a:t>
            </a:r>
            <a:endParaRPr lang="pl-PL" sz="1800" b="0" u="none" strike="noStrike">
              <a:solidFill>
                <a:srgbClr val="ffffff"/>
              </a:solidFill>
              <a:effectLst/>
              <a:uFillTx/>
              <a:latin typeface="Arial"/>
            </a:endParaRPr>
          </a:p>
        </p:txBody>
      </p:sp>
      <p:sp>
        <p:nvSpPr>
          <p:cNvPr id="2417" name="Text 8"/>
          <p:cNvSpPr/>
          <p:nvPr/>
        </p:nvSpPr>
        <p:spPr>
          <a:xfrm>
            <a:off x="3474720" y="1791000"/>
            <a:ext cx="776160" cy="3463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1600" b="0" u="none" strike="noStrike">
                <a:solidFill>
                  <a:schemeClr val="lt1">
                    <a:lumMod val="85000"/>
                  </a:schemeClr>
                </a:solidFill>
                <a:effectLst/>
                <a:uFillTx/>
                <a:latin typeface="Calibri"/>
                <a:ea typeface="DejaVu Sans"/>
              </a:rPr>
              <a:t>24px</a:t>
            </a:r>
            <a:endParaRPr lang="pl-PL" sz="1600" b="0" u="none" strike="noStrike">
              <a:solidFill>
                <a:srgbClr val="ffffff"/>
              </a:solidFill>
              <a:effectLst/>
              <a:uFillTx/>
              <a:latin typeface="Arial"/>
            </a:endParaRPr>
          </a:p>
        </p:txBody>
      </p:sp>
      <p:sp>
        <p:nvSpPr>
          <p:cNvPr id="2418" name="Text 9"/>
          <p:cNvSpPr/>
          <p:nvPr/>
        </p:nvSpPr>
        <p:spPr>
          <a:xfrm>
            <a:off x="457200" y="2193480"/>
            <a:ext cx="292500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2d78"/>
                </a:solidFill>
                <a:effectLst/>
                <a:uFillTx/>
                <a:latin typeface="Calibri"/>
                <a:ea typeface="DejaVu Sans"/>
              </a:rPr>
              <a:t>H3 - Podsekcja</a:t>
            </a:r>
            <a:endParaRPr lang="pl-PL" sz="1600" b="0" u="none" strike="noStrike">
              <a:solidFill>
                <a:srgbClr val="ffffff"/>
              </a:solidFill>
              <a:effectLst/>
              <a:uFillTx/>
              <a:latin typeface="Arial"/>
            </a:endParaRPr>
          </a:p>
        </p:txBody>
      </p:sp>
      <p:sp>
        <p:nvSpPr>
          <p:cNvPr id="2419" name="Text 10"/>
          <p:cNvSpPr/>
          <p:nvPr/>
        </p:nvSpPr>
        <p:spPr>
          <a:xfrm>
            <a:off x="3474720" y="2193480"/>
            <a:ext cx="776160" cy="3463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1600" b="0" u="none" strike="noStrike">
                <a:solidFill>
                  <a:schemeClr val="lt1">
                    <a:lumMod val="85000"/>
                  </a:schemeClr>
                </a:solidFill>
                <a:effectLst/>
                <a:uFillTx/>
                <a:latin typeface="Calibri"/>
                <a:ea typeface="DejaVu Sans"/>
              </a:rPr>
              <a:t>20px</a:t>
            </a:r>
            <a:endParaRPr lang="pl-PL" sz="1600" b="0" u="none" strike="noStrike">
              <a:solidFill>
                <a:srgbClr val="ffffff"/>
              </a:solidFill>
              <a:effectLst/>
              <a:uFillTx/>
              <a:latin typeface="Arial"/>
            </a:endParaRPr>
          </a:p>
        </p:txBody>
      </p:sp>
      <p:sp>
        <p:nvSpPr>
          <p:cNvPr id="2420" name="Text 11"/>
          <p:cNvSpPr/>
          <p:nvPr/>
        </p:nvSpPr>
        <p:spPr>
          <a:xfrm>
            <a:off x="457200" y="2595600"/>
            <a:ext cx="292500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ffffff"/>
                </a:solidFill>
                <a:effectLst/>
                <a:uFillTx/>
                <a:latin typeface="Calibri"/>
                <a:ea typeface="DejaVu Sans"/>
              </a:rPr>
              <a:t>Body - Treść</a:t>
            </a:r>
            <a:endParaRPr lang="pl-PL" sz="1100" b="0" u="none" strike="noStrike">
              <a:solidFill>
                <a:srgbClr val="ffffff"/>
              </a:solidFill>
              <a:effectLst/>
              <a:uFillTx/>
              <a:latin typeface="Arial"/>
            </a:endParaRPr>
          </a:p>
        </p:txBody>
      </p:sp>
      <p:sp>
        <p:nvSpPr>
          <p:cNvPr id="2421" name="Text 12"/>
          <p:cNvSpPr/>
          <p:nvPr/>
        </p:nvSpPr>
        <p:spPr>
          <a:xfrm>
            <a:off x="3474720" y="2595600"/>
            <a:ext cx="776160" cy="3463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1600" b="0" u="none" strike="noStrike">
                <a:solidFill>
                  <a:schemeClr val="lt1">
                    <a:lumMod val="85000"/>
                  </a:schemeClr>
                </a:solidFill>
                <a:effectLst/>
                <a:uFillTx/>
                <a:latin typeface="Calibri"/>
                <a:ea typeface="DejaVu Sans"/>
              </a:rPr>
              <a:t>16px</a:t>
            </a:r>
            <a:endParaRPr lang="pl-PL" sz="1600" b="0" u="none" strike="noStrike">
              <a:solidFill>
                <a:srgbClr val="ffffff"/>
              </a:solidFill>
              <a:effectLst/>
              <a:uFillTx/>
              <a:latin typeface="Arial"/>
            </a:endParaRPr>
          </a:p>
        </p:txBody>
      </p:sp>
      <p:sp>
        <p:nvSpPr>
          <p:cNvPr id="2422" name="Text 13"/>
          <p:cNvSpPr/>
          <p:nvPr/>
        </p:nvSpPr>
        <p:spPr>
          <a:xfrm>
            <a:off x="457200" y="2998080"/>
            <a:ext cx="2925000" cy="346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8899aa"/>
                </a:solidFill>
                <a:effectLst/>
                <a:uFillTx/>
                <a:latin typeface="Calibri"/>
                <a:ea typeface="DejaVu Sans"/>
              </a:rPr>
              <a:t>Caption / Label</a:t>
            </a:r>
            <a:endParaRPr lang="pl-PL" sz="1050" b="0" u="none" strike="noStrike">
              <a:solidFill>
                <a:srgbClr val="ffffff"/>
              </a:solidFill>
              <a:effectLst/>
              <a:uFillTx/>
              <a:latin typeface="Arial"/>
            </a:endParaRPr>
          </a:p>
        </p:txBody>
      </p:sp>
      <p:sp>
        <p:nvSpPr>
          <p:cNvPr id="2423" name="Text 14"/>
          <p:cNvSpPr/>
          <p:nvPr/>
        </p:nvSpPr>
        <p:spPr>
          <a:xfrm>
            <a:off x="3474720" y="2998080"/>
            <a:ext cx="776160" cy="3463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1600" b="0" u="none" strike="noStrike">
                <a:solidFill>
                  <a:schemeClr val="lt1">
                    <a:lumMod val="85000"/>
                  </a:schemeClr>
                </a:solidFill>
                <a:effectLst/>
                <a:uFillTx/>
                <a:latin typeface="Calibri"/>
                <a:ea typeface="DejaVu Sans"/>
              </a:rPr>
              <a:t>12–14px</a:t>
            </a:r>
            <a:endParaRPr lang="pl-PL" sz="1600" b="0" u="none" strike="noStrike">
              <a:solidFill>
                <a:srgbClr val="ffffff"/>
              </a:solidFill>
              <a:effectLst/>
              <a:uFillTx/>
              <a:latin typeface="Arial"/>
            </a:endParaRPr>
          </a:p>
        </p:txBody>
      </p:sp>
      <p:sp>
        <p:nvSpPr>
          <p:cNvPr id="2424" name="Shape 15"/>
          <p:cNvSpPr/>
          <p:nvPr/>
        </p:nvSpPr>
        <p:spPr>
          <a:xfrm>
            <a:off x="320040" y="3580560"/>
            <a:ext cx="4068000" cy="12373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25" name="Shape 16"/>
          <p:cNvSpPr/>
          <p:nvPr/>
        </p:nvSpPr>
        <p:spPr>
          <a:xfrm>
            <a:off x="320040" y="3580560"/>
            <a:ext cx="44640" cy="12373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26" name="Text 17"/>
          <p:cNvSpPr/>
          <p:nvPr/>
        </p:nvSpPr>
        <p:spPr>
          <a:xfrm>
            <a:off x="457200" y="3619800"/>
            <a:ext cx="3793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Dostępność typograficzna</a:t>
            </a:r>
            <a:endParaRPr lang="pl-PL" sz="1400" b="0" u="none" strike="noStrike">
              <a:solidFill>
                <a:srgbClr val="ffffff"/>
              </a:solidFill>
              <a:effectLst/>
              <a:uFillTx/>
              <a:latin typeface="Arial"/>
            </a:endParaRPr>
          </a:p>
        </p:txBody>
      </p:sp>
      <p:sp>
        <p:nvSpPr>
          <p:cNvPr id="2427" name="Text 18"/>
          <p:cNvSpPr/>
          <p:nvPr/>
        </p:nvSpPr>
        <p:spPr>
          <a:xfrm>
            <a:off x="457200" y="3934080"/>
            <a:ext cx="37936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chemeClr val="lt1">
                    <a:lumMod val="85000"/>
                  </a:schemeClr>
                </a:solidFill>
                <a:effectLst/>
                <a:uFillTx/>
                <a:latin typeface="Calibri"/>
                <a:ea typeface="DejaVu Sans"/>
              </a:rPr>
              <a:t>• iOS Dynamic Type / Android Scalable Text - skalowanie do 200%</a:t>
            </a:r>
            <a:endParaRPr lang="pl-PL" sz="1050" b="0" u="none" strike="noStrike">
              <a:solidFill>
                <a:srgbClr val="ffffff"/>
              </a:solidFill>
              <a:effectLst/>
              <a:uFillTx/>
              <a:latin typeface="Arial"/>
            </a:endParaRPr>
          </a:p>
        </p:txBody>
      </p:sp>
      <p:sp>
        <p:nvSpPr>
          <p:cNvPr id="2428" name="Text 19"/>
          <p:cNvSpPr/>
          <p:nvPr/>
        </p:nvSpPr>
        <p:spPr>
          <a:xfrm>
            <a:off x="457200" y="4208400"/>
            <a:ext cx="37936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chemeClr val="lt1">
                    <a:lumMod val="85000"/>
                  </a:schemeClr>
                </a:solidFill>
                <a:effectLst/>
                <a:uFillTx/>
                <a:latin typeface="Calibri"/>
                <a:ea typeface="DejaVu Sans"/>
              </a:rPr>
              <a:t>• Wsparcie dla Bold Text (ustawienie systemowe)</a:t>
            </a:r>
            <a:endParaRPr lang="pl-PL" sz="1050" b="0" u="none" strike="noStrike">
              <a:solidFill>
                <a:srgbClr val="ffffff"/>
              </a:solidFill>
              <a:effectLst/>
              <a:uFillTx/>
              <a:latin typeface="Arial"/>
            </a:endParaRPr>
          </a:p>
        </p:txBody>
      </p:sp>
      <p:sp>
        <p:nvSpPr>
          <p:cNvPr id="2429" name="Text 20"/>
          <p:cNvSpPr/>
          <p:nvPr/>
        </p:nvSpPr>
        <p:spPr>
          <a:xfrm>
            <a:off x="457200" y="4482720"/>
            <a:ext cx="37936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chemeClr val="lt1">
                    <a:lumMod val="85000"/>
                  </a:schemeClr>
                </a:solidFill>
                <a:effectLst/>
                <a:uFillTx/>
                <a:latin typeface="Calibri"/>
                <a:ea typeface="DejaVu Sans"/>
              </a:rPr>
              <a:t>• Unikanie justowania tekstu - left-align = najłatwiejszy odczyt</a:t>
            </a:r>
            <a:endParaRPr lang="pl-PL" sz="1050" b="0" u="none" strike="noStrike">
              <a:solidFill>
                <a:srgbClr val="ffffff"/>
              </a:solidFill>
              <a:effectLst/>
              <a:uFillTx/>
              <a:latin typeface="Arial"/>
            </a:endParaRPr>
          </a:p>
        </p:txBody>
      </p:sp>
      <p:sp>
        <p:nvSpPr>
          <p:cNvPr id="2430" name="Shape 21"/>
          <p:cNvSpPr/>
          <p:nvPr/>
        </p:nvSpPr>
        <p:spPr>
          <a:xfrm>
            <a:off x="4682880" y="986400"/>
            <a:ext cx="4140000" cy="311220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31" name="Shape 22"/>
          <p:cNvSpPr/>
          <p:nvPr/>
        </p:nvSpPr>
        <p:spPr>
          <a:xfrm>
            <a:off x="4682880" y="986400"/>
            <a:ext cx="44640" cy="311220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32" name="Text 23"/>
          <p:cNvSpPr/>
          <p:nvPr/>
        </p:nvSpPr>
        <p:spPr>
          <a:xfrm>
            <a:off x="4892040" y="98748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Kluczowe wytyczne</a:t>
            </a:r>
            <a:endParaRPr lang="pl-PL" sz="1400" b="0" u="none" strike="noStrike">
              <a:solidFill>
                <a:srgbClr val="ffffff"/>
              </a:solidFill>
              <a:effectLst/>
              <a:uFillTx/>
              <a:latin typeface="Arial"/>
            </a:endParaRPr>
          </a:p>
        </p:txBody>
      </p:sp>
      <p:sp>
        <p:nvSpPr>
          <p:cNvPr id="2433" name="Shape 24"/>
          <p:cNvSpPr/>
          <p:nvPr/>
        </p:nvSpPr>
        <p:spPr>
          <a:xfrm>
            <a:off x="4856040" y="153720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34" name="Text 25"/>
          <p:cNvSpPr/>
          <p:nvPr/>
        </p:nvSpPr>
        <p:spPr>
          <a:xfrm>
            <a:off x="4856040" y="153720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1</a:t>
            </a:r>
            <a:endParaRPr lang="pl-PL" sz="1100" b="0" u="none" strike="noStrike">
              <a:solidFill>
                <a:srgbClr val="ffffff"/>
              </a:solidFill>
              <a:effectLst/>
              <a:uFillTx/>
              <a:latin typeface="Arial"/>
            </a:endParaRPr>
          </a:p>
        </p:txBody>
      </p:sp>
      <p:sp>
        <p:nvSpPr>
          <p:cNvPr id="2435" name="Text 26"/>
          <p:cNvSpPr/>
          <p:nvPr/>
        </p:nvSpPr>
        <p:spPr>
          <a:xfrm>
            <a:off x="5239440" y="140760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Jednostki względne</a:t>
            </a:r>
            <a:endParaRPr lang="pl-PL" sz="1200" b="0" u="none" strike="noStrike">
              <a:solidFill>
                <a:srgbClr val="ffffff"/>
              </a:solidFill>
              <a:effectLst/>
              <a:uFillTx/>
              <a:latin typeface="Arial"/>
            </a:endParaRPr>
          </a:p>
        </p:txBody>
      </p:sp>
      <p:sp>
        <p:nvSpPr>
          <p:cNvPr id="2436" name="Text 27"/>
          <p:cNvSpPr/>
          <p:nvPr/>
        </p:nvSpPr>
        <p:spPr>
          <a:xfrm>
            <a:off x="5239440" y="163692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8899aa"/>
                </a:solidFill>
                <a:effectLst/>
                <a:uFillTx/>
                <a:latin typeface="Calibri"/>
                <a:ea typeface="DejaVu Sans"/>
              </a:rPr>
              <a:t>Używaj sp (Android) i Dynamic Type (iOS) zamiast stałych px. Pozwala na responsywność.</a:t>
            </a:r>
            <a:endParaRPr lang="pl-PL" sz="1050" b="0" u="none" strike="noStrike">
              <a:solidFill>
                <a:srgbClr val="ffffff"/>
              </a:solidFill>
              <a:effectLst/>
              <a:uFillTx/>
              <a:latin typeface="Arial"/>
            </a:endParaRPr>
          </a:p>
        </p:txBody>
      </p:sp>
      <p:sp>
        <p:nvSpPr>
          <p:cNvPr id="2437" name="Shape 28"/>
          <p:cNvSpPr/>
          <p:nvPr/>
        </p:nvSpPr>
        <p:spPr>
          <a:xfrm>
            <a:off x="4856040" y="219564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38" name="Text 29"/>
          <p:cNvSpPr/>
          <p:nvPr/>
        </p:nvSpPr>
        <p:spPr>
          <a:xfrm>
            <a:off x="4856040" y="21956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2</a:t>
            </a:r>
            <a:endParaRPr lang="pl-PL" sz="1100" b="0" u="none" strike="noStrike">
              <a:solidFill>
                <a:srgbClr val="ffffff"/>
              </a:solidFill>
              <a:effectLst/>
              <a:uFillTx/>
              <a:latin typeface="Arial"/>
            </a:endParaRPr>
          </a:p>
        </p:txBody>
      </p:sp>
      <p:sp>
        <p:nvSpPr>
          <p:cNvPr id="2439" name="Text 30"/>
          <p:cNvSpPr/>
          <p:nvPr/>
        </p:nvSpPr>
        <p:spPr>
          <a:xfrm>
            <a:off x="5239440" y="20660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Optymalna długość wiersza</a:t>
            </a:r>
            <a:endParaRPr lang="pl-PL" sz="1200" b="0" u="none" strike="noStrike">
              <a:solidFill>
                <a:srgbClr val="ffffff"/>
              </a:solidFill>
              <a:effectLst/>
              <a:uFillTx/>
              <a:latin typeface="Arial"/>
            </a:endParaRPr>
          </a:p>
        </p:txBody>
      </p:sp>
      <p:sp>
        <p:nvSpPr>
          <p:cNvPr id="2440" name="Text 31"/>
          <p:cNvSpPr/>
          <p:nvPr/>
        </p:nvSpPr>
        <p:spPr>
          <a:xfrm>
            <a:off x="5239440" y="229500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8899aa"/>
                </a:solidFill>
                <a:effectLst/>
                <a:uFillTx/>
                <a:latin typeface="Calibri"/>
                <a:ea typeface="DejaVu Sans"/>
              </a:rPr>
              <a:t>50–75 znaków na wiersz. Zbyt długi = trudny do śledzenia, </a:t>
            </a:r>
            <a:br>
              <a:rPr sz="1050"/>
            </a:br>
            <a:r>
              <a:rPr lang="pl-PL" sz="1050" b="0" u="none" strike="noStrike">
                <a:solidFill>
                  <a:srgbClr val="8899aa"/>
                </a:solidFill>
                <a:effectLst/>
                <a:uFillTx/>
                <a:latin typeface="Calibri"/>
                <a:ea typeface="DejaVu Sans"/>
              </a:rPr>
              <a:t>zbyt krótki = zbyt częsty powrót wzroku.</a:t>
            </a:r>
            <a:endParaRPr lang="pl-PL" sz="1050" b="0" u="none" strike="noStrike">
              <a:solidFill>
                <a:srgbClr val="ffffff"/>
              </a:solidFill>
              <a:effectLst/>
              <a:uFillTx/>
              <a:latin typeface="Arial"/>
            </a:endParaRPr>
          </a:p>
        </p:txBody>
      </p:sp>
      <p:sp>
        <p:nvSpPr>
          <p:cNvPr id="2441" name="Shape 32"/>
          <p:cNvSpPr/>
          <p:nvPr/>
        </p:nvSpPr>
        <p:spPr>
          <a:xfrm>
            <a:off x="4856040" y="285408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42" name="Text 33"/>
          <p:cNvSpPr/>
          <p:nvPr/>
        </p:nvSpPr>
        <p:spPr>
          <a:xfrm>
            <a:off x="4856040" y="28540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3</a:t>
            </a:r>
            <a:endParaRPr lang="pl-PL" sz="1100" b="0" u="none" strike="noStrike">
              <a:solidFill>
                <a:srgbClr val="ffffff"/>
              </a:solidFill>
              <a:effectLst/>
              <a:uFillTx/>
              <a:latin typeface="Arial"/>
            </a:endParaRPr>
          </a:p>
        </p:txBody>
      </p:sp>
      <p:sp>
        <p:nvSpPr>
          <p:cNvPr id="2443" name="Text 34"/>
          <p:cNvSpPr/>
          <p:nvPr/>
        </p:nvSpPr>
        <p:spPr>
          <a:xfrm>
            <a:off x="5239440" y="272448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Testowanie dostępności</a:t>
            </a:r>
            <a:endParaRPr lang="pl-PL" sz="1200" b="0" u="none" strike="noStrike">
              <a:solidFill>
                <a:srgbClr val="ffffff"/>
              </a:solidFill>
              <a:effectLst/>
              <a:uFillTx/>
              <a:latin typeface="Arial"/>
            </a:endParaRPr>
          </a:p>
        </p:txBody>
      </p:sp>
      <p:sp>
        <p:nvSpPr>
          <p:cNvPr id="2444" name="Text 35"/>
          <p:cNvSpPr/>
          <p:nvPr/>
        </p:nvSpPr>
        <p:spPr>
          <a:xfrm>
            <a:off x="5239440" y="295344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8899aa"/>
                </a:solidFill>
                <a:effectLst/>
                <a:uFillTx/>
                <a:latin typeface="Calibri"/>
                <a:ea typeface="DejaVu Sans"/>
              </a:rPr>
              <a:t>Testuj z VoiceOver (iOS) i TalkBack (Android). </a:t>
            </a:r>
            <a:br>
              <a:rPr sz="1050"/>
            </a:br>
            <a:r>
              <a:rPr lang="pl-PL" sz="1050" b="0" u="none" strike="noStrike">
                <a:solidFill>
                  <a:srgbClr val="8899aa"/>
                </a:solidFill>
                <a:effectLst/>
                <a:uFillTx/>
                <a:latin typeface="Calibri"/>
                <a:ea typeface="DejaVu Sans"/>
              </a:rPr>
              <a:t>Sprawdź z maksymalnym rozmiarem tekstu.</a:t>
            </a:r>
            <a:endParaRPr lang="pl-PL" sz="1050" b="0" u="none" strike="noStrike">
              <a:solidFill>
                <a:srgbClr val="ffffff"/>
              </a:solidFill>
              <a:effectLst/>
              <a:uFillTx/>
              <a:latin typeface="Arial"/>
            </a:endParaRPr>
          </a:p>
        </p:txBody>
      </p:sp>
      <p:sp>
        <p:nvSpPr>
          <p:cNvPr id="2445" name="Shape 36"/>
          <p:cNvSpPr/>
          <p:nvPr/>
        </p:nvSpPr>
        <p:spPr>
          <a:xfrm>
            <a:off x="4856040" y="3512160"/>
            <a:ext cx="254880" cy="25488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46" name="Text 37"/>
          <p:cNvSpPr/>
          <p:nvPr/>
        </p:nvSpPr>
        <p:spPr>
          <a:xfrm>
            <a:off x="4856040" y="351216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4</a:t>
            </a:r>
            <a:endParaRPr lang="pl-PL" sz="1100" b="0" u="none" strike="noStrike">
              <a:solidFill>
                <a:srgbClr val="ffffff"/>
              </a:solidFill>
              <a:effectLst/>
              <a:uFillTx/>
              <a:latin typeface="Arial"/>
            </a:endParaRPr>
          </a:p>
        </p:txBody>
      </p:sp>
      <p:sp>
        <p:nvSpPr>
          <p:cNvPr id="2447" name="Text 38"/>
          <p:cNvSpPr/>
          <p:nvPr/>
        </p:nvSpPr>
        <p:spPr>
          <a:xfrm>
            <a:off x="5239440" y="33825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Czytniki ekranu</a:t>
            </a:r>
            <a:endParaRPr lang="pl-PL" sz="1200" b="0" u="none" strike="noStrike">
              <a:solidFill>
                <a:srgbClr val="ffffff"/>
              </a:solidFill>
              <a:effectLst/>
              <a:uFillTx/>
              <a:latin typeface="Arial"/>
            </a:endParaRPr>
          </a:p>
        </p:txBody>
      </p:sp>
      <p:sp>
        <p:nvSpPr>
          <p:cNvPr id="2448" name="Text 39"/>
          <p:cNvSpPr/>
          <p:nvPr/>
        </p:nvSpPr>
        <p:spPr>
          <a:xfrm>
            <a:off x="5239440" y="36118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0" u="none" strike="noStrike">
                <a:solidFill>
                  <a:srgbClr val="8899aa"/>
                </a:solidFill>
                <a:effectLst/>
                <a:uFillTx/>
                <a:latin typeface="Calibri"/>
                <a:ea typeface="DejaVu Sans"/>
              </a:rPr>
              <a:t>Upewnij się, że kolejność odczytu przez screen reader odpowiada logice wizualnej.</a:t>
            </a:r>
            <a:endParaRPr lang="pl-PL" sz="1050" b="0" u="none" strike="noStrike">
              <a:solidFill>
                <a:srgbClr val="ffffff"/>
              </a:solidFill>
              <a:effectLst/>
              <a:uFillTx/>
              <a:latin typeface="Arial"/>
            </a:endParaRPr>
          </a:p>
        </p:txBody>
      </p:sp>
      <p:sp>
        <p:nvSpPr>
          <p:cNvPr id="2449" name="Shape 40"/>
          <p:cNvSpPr/>
          <p:nvPr/>
        </p:nvSpPr>
        <p:spPr>
          <a:xfrm>
            <a:off x="4682880" y="4224600"/>
            <a:ext cx="4140000" cy="59328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50" name="Text 41"/>
          <p:cNvSpPr/>
          <p:nvPr/>
        </p:nvSpPr>
        <p:spPr>
          <a:xfrm>
            <a:off x="4771080" y="4251960"/>
            <a:ext cx="3914640" cy="529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50" b="1" u="none" strike="noStrike">
                <a:solidFill>
                  <a:srgbClr val="ff9100"/>
                </a:solidFill>
                <a:effectLst/>
                <a:uFillTx/>
                <a:latin typeface="Calibri"/>
                <a:ea typeface="DejaVu Sans"/>
              </a:rPr>
              <a:t>Częste błędy</a:t>
            </a:r>
            <a:r>
              <a:rPr lang="pl-PL" sz="1050" b="0" u="none" strike="noStrike">
                <a:solidFill>
                  <a:srgbClr val="ff9100"/>
                </a:solidFill>
                <a:effectLst/>
                <a:uFillTx/>
                <a:latin typeface="Calibri"/>
                <a:ea typeface="DejaVu Sans"/>
              </a:rPr>
              <a:t>: tekst poniżej 16px, szary tekst na białym tle (zbyt niski kontrast), ignorowanie ustawień systemowych rozmiaru czcionki.</a:t>
            </a:r>
            <a:endParaRPr lang="pl-PL" sz="1050" b="0" u="none" strike="noStrike">
              <a:solidFill>
                <a:srgbClr val="ffffff"/>
              </a:solidFill>
              <a:effectLst/>
              <a:uFillTx/>
              <a:latin typeface="Arial"/>
            </a:endParaRPr>
          </a:p>
        </p:txBody>
      </p:sp>
      <p:sp>
        <p:nvSpPr>
          <p:cNvPr id="2451" name="Text 44"/>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30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452" name="Grupa 9"/>
          <p:cNvGrpSpPr/>
          <p:nvPr/>
        </p:nvGrpSpPr>
        <p:grpSpPr>
          <a:xfrm>
            <a:off x="-2520" y="4884840"/>
            <a:ext cx="9145440" cy="259200"/>
            <a:chOff x="-2520" y="4884840"/>
            <a:chExt cx="9145440" cy="259200"/>
          </a:xfrm>
        </p:grpSpPr>
        <p:sp>
          <p:nvSpPr>
            <p:cNvPr id="2453"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54"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455" name="Grupa 12"/>
            <p:cNvGrpSpPr/>
            <p:nvPr/>
          </p:nvGrpSpPr>
          <p:grpSpPr>
            <a:xfrm>
              <a:off x="-2520" y="5099400"/>
              <a:ext cx="9145440" cy="44640"/>
              <a:chOff x="-2520" y="5099400"/>
              <a:chExt cx="9145440" cy="44640"/>
            </a:xfrm>
          </p:grpSpPr>
          <p:sp>
            <p:nvSpPr>
              <p:cNvPr id="2456"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57"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58"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59"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0"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1"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2"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3"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4"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5"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6"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7"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8"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69"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0"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1"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2"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3"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4"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5"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6"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7"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8"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9"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0"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1"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2"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3"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4"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5"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6"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87" name="Shape 52"/>
              <p:cNvSpPr/>
              <p:nvPr/>
            </p:nvSpPr>
            <p:spPr>
              <a:xfrm>
                <a:off x="61624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88"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89"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0"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1"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2"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3"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4"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5"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6"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7"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8"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499"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00"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01"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502"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03" name="Shape 1"/>
          <p:cNvSpPr/>
          <p:nvPr/>
        </p:nvSpPr>
        <p:spPr>
          <a:xfrm>
            <a:off x="0" y="1645920"/>
            <a:ext cx="108720" cy="182772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04" name="Text 2"/>
          <p:cNvSpPr/>
          <p:nvPr/>
        </p:nvSpPr>
        <p:spPr>
          <a:xfrm>
            <a:off x="914400" y="548640"/>
            <a:ext cx="7314120" cy="821880"/>
          </a:xfrm>
          <a:prstGeom prst="rect">
            <a:avLst/>
          </a:prstGeom>
          <a:noFill/>
          <a:ln w="0">
            <a:noFill/>
          </a:ln>
          <a:effectLst>
            <a:outerShdw dir="2700000" dist="35638"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448aff"/>
                </a:solidFill>
                <a:effectLst/>
                <a:uFillTx/>
                <a:latin typeface="Calibri"/>
                <a:ea typeface="DejaVu Sans"/>
              </a:rPr>
              <a:t>07</a:t>
            </a:r>
            <a:endParaRPr lang="pl-PL" sz="5200" b="0" u="none" strike="noStrike">
              <a:solidFill>
                <a:srgbClr val="ffffff"/>
              </a:solidFill>
              <a:effectLst/>
              <a:uFillTx/>
              <a:latin typeface="Arial"/>
            </a:endParaRPr>
          </a:p>
        </p:txBody>
      </p:sp>
      <p:sp>
        <p:nvSpPr>
          <p:cNvPr id="2505"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Dźwięki i haptyka</a:t>
            </a:r>
            <a:endParaRPr lang="pl-PL" sz="2800" b="0" u="none" strike="noStrike">
              <a:solidFill>
                <a:srgbClr val="ffffff"/>
              </a:solidFill>
              <a:effectLst/>
              <a:uFillTx/>
              <a:latin typeface="Arial"/>
            </a:endParaRPr>
          </a:p>
        </p:txBody>
      </p:sp>
      <p:sp>
        <p:nvSpPr>
          <p:cNvPr id="2506"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Projektowanie dźwiękowe i sprzężenie zwrotne dotykowe w UX</a:t>
            </a:r>
            <a:endParaRPr lang="pl-PL" sz="1400" b="0" u="none" strike="noStrike">
              <a:solidFill>
                <a:srgbClr val="ffffff"/>
              </a:solidFill>
              <a:effectLst/>
              <a:uFillTx/>
              <a:latin typeface="Arial"/>
            </a:endParaRPr>
          </a:p>
        </p:txBody>
      </p:sp>
      <p:sp>
        <p:nvSpPr>
          <p:cNvPr id="2507"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31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508" name="Grupa 30"/>
          <p:cNvGrpSpPr/>
          <p:nvPr/>
        </p:nvGrpSpPr>
        <p:grpSpPr>
          <a:xfrm>
            <a:off x="-2520" y="4884840"/>
            <a:ext cx="9145440" cy="259200"/>
            <a:chOff x="-2520" y="4884840"/>
            <a:chExt cx="9145440" cy="259200"/>
          </a:xfrm>
        </p:grpSpPr>
        <p:sp>
          <p:nvSpPr>
            <p:cNvPr id="2509"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10"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511" name="Grupa 33"/>
            <p:cNvGrpSpPr/>
            <p:nvPr/>
          </p:nvGrpSpPr>
          <p:grpSpPr>
            <a:xfrm>
              <a:off x="-2520" y="5099400"/>
              <a:ext cx="9145440" cy="44640"/>
              <a:chOff x="-2520" y="5099400"/>
              <a:chExt cx="9145440" cy="44640"/>
            </a:xfrm>
          </p:grpSpPr>
          <p:sp>
            <p:nvSpPr>
              <p:cNvPr id="2512"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13"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14"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15"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16"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17"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18"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19"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0"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1"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2"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3"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4"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5"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6"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7"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8"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29"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0"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1"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2"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3"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4"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5"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6"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7"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8"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39"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40"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41"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42"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43"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44" name="Shape 52"/>
              <p:cNvSpPr/>
              <p:nvPr/>
            </p:nvSpPr>
            <p:spPr>
              <a:xfrm>
                <a:off x="63612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45"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46"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47"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48"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49"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0"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1"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2"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3"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4"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5"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6"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7"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558" name="Shape 0"/>
          <p:cNvSpPr/>
          <p:nvPr/>
        </p:nvSpPr>
        <p:spPr>
          <a:xfrm>
            <a:off x="320040" y="255960"/>
            <a:ext cx="53640" cy="50184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59"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Projektowanie dźwiękowe w aplikacjach mobilnych</a:t>
            </a:r>
            <a:endParaRPr lang="pl-PL" sz="2200" b="0" u="none" strike="noStrike">
              <a:solidFill>
                <a:srgbClr val="ffffff"/>
              </a:solidFill>
              <a:effectLst/>
              <a:uFillTx/>
              <a:latin typeface="Arial"/>
            </a:endParaRPr>
          </a:p>
        </p:txBody>
      </p:sp>
      <p:sp>
        <p:nvSpPr>
          <p:cNvPr id="2560" name="Shape 2"/>
          <p:cNvSpPr/>
          <p:nvPr/>
        </p:nvSpPr>
        <p:spPr>
          <a:xfrm>
            <a:off x="320040" y="914400"/>
            <a:ext cx="4095360" cy="959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61" name="Shape 3"/>
          <p:cNvSpPr/>
          <p:nvPr/>
        </p:nvSpPr>
        <p:spPr>
          <a:xfrm>
            <a:off x="320040" y="914400"/>
            <a:ext cx="44640" cy="95904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62" name="Text 4"/>
          <p:cNvSpPr/>
          <p:nvPr/>
        </p:nvSpPr>
        <p:spPr>
          <a:xfrm>
            <a:off x="480240" y="978480"/>
            <a:ext cx="37666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448aff"/>
                </a:solidFill>
                <a:effectLst/>
                <a:uFillTx/>
                <a:latin typeface="Calibri"/>
                <a:ea typeface="DejaVu Sans"/>
              </a:rPr>
              <a:t>Potwierdzenie akcji</a:t>
            </a:r>
            <a:endParaRPr lang="pl-PL" sz="1600" b="0" u="none" strike="noStrike">
              <a:solidFill>
                <a:srgbClr val="ffffff"/>
              </a:solidFill>
              <a:effectLst/>
              <a:uFillTx/>
              <a:latin typeface="Arial"/>
            </a:endParaRPr>
          </a:p>
        </p:txBody>
      </p:sp>
      <p:sp>
        <p:nvSpPr>
          <p:cNvPr id="2563" name="Text 5"/>
          <p:cNvSpPr/>
          <p:nvPr/>
        </p:nvSpPr>
        <p:spPr>
          <a:xfrm>
            <a:off x="480240" y="1265040"/>
            <a:ext cx="3908160" cy="876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Krótkie dźwięki potwierdzają wykonanie akcji (wysłanie wiadomości, zapisanie). Natychmiastowy feedback.</a:t>
            </a:r>
            <a:endParaRPr lang="pl-PL" sz="1200" b="0" u="none" strike="noStrike">
              <a:solidFill>
                <a:srgbClr val="ffffff"/>
              </a:solidFill>
              <a:effectLst/>
              <a:uFillTx/>
              <a:latin typeface="Arial"/>
            </a:endParaRPr>
          </a:p>
        </p:txBody>
      </p:sp>
      <p:sp>
        <p:nvSpPr>
          <p:cNvPr id="2564" name="Shape 6"/>
          <p:cNvSpPr/>
          <p:nvPr/>
        </p:nvSpPr>
        <p:spPr>
          <a:xfrm>
            <a:off x="4677120" y="914400"/>
            <a:ext cx="4095360" cy="959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65" name="Shape 7"/>
          <p:cNvSpPr/>
          <p:nvPr/>
        </p:nvSpPr>
        <p:spPr>
          <a:xfrm>
            <a:off x="4677120" y="914400"/>
            <a:ext cx="44640" cy="9590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66" name="Text 8"/>
          <p:cNvSpPr/>
          <p:nvPr/>
        </p:nvSpPr>
        <p:spPr>
          <a:xfrm>
            <a:off x="4837320" y="978480"/>
            <a:ext cx="409536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Informowanie o zdarzeniach</a:t>
            </a:r>
            <a:endParaRPr lang="pl-PL" sz="1600" b="0" u="none" strike="noStrike">
              <a:solidFill>
                <a:srgbClr val="ffffff"/>
              </a:solidFill>
              <a:effectLst/>
              <a:uFillTx/>
              <a:latin typeface="Arial"/>
            </a:endParaRPr>
          </a:p>
        </p:txBody>
      </p:sp>
      <p:sp>
        <p:nvSpPr>
          <p:cNvPr id="2567" name="Text 9"/>
          <p:cNvSpPr/>
          <p:nvPr/>
        </p:nvSpPr>
        <p:spPr>
          <a:xfrm>
            <a:off x="4837320" y="1265040"/>
            <a:ext cx="3908160" cy="876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Powiadomienia o nowych wiadomościach, alertach, błędach. Przyciąga uwagę gdy użytkownik nie patrzy.</a:t>
            </a:r>
            <a:endParaRPr lang="pl-PL" sz="1200" b="0" u="none" strike="noStrike">
              <a:solidFill>
                <a:srgbClr val="ffffff"/>
              </a:solidFill>
              <a:effectLst/>
              <a:uFillTx/>
              <a:latin typeface="Arial"/>
            </a:endParaRPr>
          </a:p>
        </p:txBody>
      </p:sp>
      <p:sp>
        <p:nvSpPr>
          <p:cNvPr id="2568" name="Shape 10"/>
          <p:cNvSpPr/>
          <p:nvPr/>
        </p:nvSpPr>
        <p:spPr>
          <a:xfrm>
            <a:off x="320040" y="1981080"/>
            <a:ext cx="4095360" cy="959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69" name="Shape 11"/>
          <p:cNvSpPr/>
          <p:nvPr/>
        </p:nvSpPr>
        <p:spPr>
          <a:xfrm>
            <a:off x="320040" y="1981080"/>
            <a:ext cx="44640" cy="9590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70" name="Text 12"/>
          <p:cNvSpPr/>
          <p:nvPr/>
        </p:nvSpPr>
        <p:spPr>
          <a:xfrm>
            <a:off x="480240" y="2045160"/>
            <a:ext cx="37666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Budowanie atmosfery</a:t>
            </a:r>
            <a:endParaRPr lang="pl-PL" sz="1600" b="0" u="none" strike="noStrike">
              <a:solidFill>
                <a:srgbClr val="ffffff"/>
              </a:solidFill>
              <a:effectLst/>
              <a:uFillTx/>
              <a:latin typeface="Arial"/>
            </a:endParaRPr>
          </a:p>
        </p:txBody>
      </p:sp>
      <p:sp>
        <p:nvSpPr>
          <p:cNvPr id="2571" name="Text 13"/>
          <p:cNvSpPr/>
          <p:nvPr/>
        </p:nvSpPr>
        <p:spPr>
          <a:xfrm>
            <a:off x="480240" y="2332080"/>
            <a:ext cx="3908160" cy="531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Dźwięki ambientowe w grach, medytacji, edukacji. </a:t>
            </a:r>
            <a:br>
              <a:rPr sz="1200"/>
            </a:br>
            <a:r>
              <a:rPr lang="pl-PL" sz="1200" b="0" u="none" strike="noStrike">
                <a:solidFill>
                  <a:srgbClr val="ccddee"/>
                </a:solidFill>
                <a:effectLst/>
                <a:uFillTx/>
                <a:latin typeface="Calibri"/>
                <a:ea typeface="DejaVu Sans"/>
              </a:rPr>
              <a:t>Wzmacniają immersję i zaangażowanie.</a:t>
            </a:r>
            <a:endParaRPr lang="pl-PL" sz="1200" b="0" u="none" strike="noStrike">
              <a:solidFill>
                <a:srgbClr val="ffffff"/>
              </a:solidFill>
              <a:effectLst/>
              <a:uFillTx/>
              <a:latin typeface="Arial"/>
            </a:endParaRPr>
          </a:p>
        </p:txBody>
      </p:sp>
      <p:sp>
        <p:nvSpPr>
          <p:cNvPr id="2572" name="Shape 14"/>
          <p:cNvSpPr/>
          <p:nvPr/>
        </p:nvSpPr>
        <p:spPr>
          <a:xfrm>
            <a:off x="4677120" y="1981080"/>
            <a:ext cx="4095360" cy="959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73" name="Shape 15"/>
          <p:cNvSpPr/>
          <p:nvPr/>
        </p:nvSpPr>
        <p:spPr>
          <a:xfrm>
            <a:off x="4677120" y="1981080"/>
            <a:ext cx="44640" cy="95904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74" name="Text 16"/>
          <p:cNvSpPr/>
          <p:nvPr/>
        </p:nvSpPr>
        <p:spPr>
          <a:xfrm>
            <a:off x="4837320" y="2045160"/>
            <a:ext cx="409536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1de9b6"/>
                </a:solidFill>
                <a:effectLst/>
                <a:uFillTx/>
                <a:latin typeface="Calibri"/>
                <a:ea typeface="DejaVu Sans"/>
              </a:rPr>
              <a:t>Wsparcie dostępności</a:t>
            </a:r>
            <a:endParaRPr lang="pl-PL" sz="1600" b="0" u="none" strike="noStrike">
              <a:solidFill>
                <a:srgbClr val="ffffff"/>
              </a:solidFill>
              <a:effectLst/>
              <a:uFillTx/>
              <a:latin typeface="Arial"/>
            </a:endParaRPr>
          </a:p>
        </p:txBody>
      </p:sp>
      <p:sp>
        <p:nvSpPr>
          <p:cNvPr id="2575" name="Text 17"/>
          <p:cNvSpPr/>
          <p:nvPr/>
        </p:nvSpPr>
        <p:spPr>
          <a:xfrm>
            <a:off x="4837320" y="2332080"/>
            <a:ext cx="3908160" cy="531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Dźwięki i opisy audio pomagają osobom niewidomym </a:t>
            </a:r>
            <a:br>
              <a:rPr sz="1200"/>
            </a:br>
            <a:r>
              <a:rPr lang="pl-PL" sz="1200" b="0" u="none" strike="noStrike">
                <a:solidFill>
                  <a:srgbClr val="ccddee"/>
                </a:solidFill>
                <a:effectLst/>
                <a:uFillTx/>
                <a:latin typeface="Calibri"/>
                <a:ea typeface="DejaVu Sans"/>
              </a:rPr>
              <a:t>w nawigacji przez interfejs aplikacji.</a:t>
            </a:r>
            <a:endParaRPr lang="pl-PL" sz="1200" b="0" u="none" strike="noStrike">
              <a:solidFill>
                <a:srgbClr val="ffffff"/>
              </a:solidFill>
              <a:effectLst/>
              <a:uFillTx/>
              <a:latin typeface="Arial"/>
            </a:endParaRPr>
          </a:p>
        </p:txBody>
      </p:sp>
      <p:sp>
        <p:nvSpPr>
          <p:cNvPr id="2576" name="Shape 18"/>
          <p:cNvSpPr/>
          <p:nvPr/>
        </p:nvSpPr>
        <p:spPr>
          <a:xfrm>
            <a:off x="320040" y="3223440"/>
            <a:ext cx="8502840" cy="291600"/>
          </a:xfrm>
          <a:prstGeom prst="rect">
            <a:avLst/>
          </a:prstGeom>
          <a:solidFill>
            <a:srgbClr val="1a3050"/>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77" name="Text 19"/>
          <p:cNvSpPr/>
          <p:nvPr/>
        </p:nvSpPr>
        <p:spPr>
          <a:xfrm>
            <a:off x="457200" y="3250800"/>
            <a:ext cx="822852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ffffff"/>
                </a:solidFill>
                <a:effectLst/>
                <a:uFillTx/>
                <a:latin typeface="Calibri"/>
                <a:ea typeface="DejaVu Sans"/>
              </a:rPr>
              <a:t>Zasady projektowania dźwiękowego</a:t>
            </a:r>
            <a:endParaRPr lang="pl-PL" sz="1200" b="0" u="none" strike="noStrike">
              <a:solidFill>
                <a:srgbClr val="ffffff"/>
              </a:solidFill>
              <a:effectLst/>
              <a:uFillTx/>
              <a:latin typeface="Arial"/>
            </a:endParaRPr>
          </a:p>
        </p:txBody>
      </p:sp>
      <p:sp>
        <p:nvSpPr>
          <p:cNvPr id="2578" name="Text 20"/>
          <p:cNvSpPr/>
          <p:nvPr/>
        </p:nvSpPr>
        <p:spPr>
          <a:xfrm>
            <a:off x="624960" y="3589200"/>
            <a:ext cx="1148040" cy="496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chemeClr val="lt1"/>
                </a:solidFill>
                <a:effectLst/>
                <a:uFillTx/>
                <a:latin typeface="Calibri"/>
                <a:ea typeface="DejaVu Sans"/>
              </a:rPr>
              <a:t>• </a:t>
            </a:r>
            <a:r>
              <a:rPr lang="pl-PL" sz="1400" b="1" u="none" strike="noStrike">
                <a:solidFill>
                  <a:schemeClr val="lt1"/>
                </a:solidFill>
                <a:effectLst/>
                <a:uFillTx/>
                <a:latin typeface="Calibri"/>
                <a:ea typeface="DejaVu Sans"/>
              </a:rPr>
              <a:t>Krótkość</a:t>
            </a:r>
            <a:r>
              <a:rPr lang="pl-PL" sz="1400" b="0" u="none" strike="noStrike">
                <a:solidFill>
                  <a:schemeClr val="lt1"/>
                </a:solidFill>
                <a:effectLst/>
                <a:uFillTx/>
                <a:latin typeface="Calibri"/>
                <a:ea typeface="DejaVu Sans"/>
              </a:rPr>
              <a:t>: max 0.5–1 sek.</a:t>
            </a:r>
            <a:endParaRPr lang="pl-PL" sz="1400" b="0" u="none" strike="noStrike">
              <a:solidFill>
                <a:srgbClr val="ffffff"/>
              </a:solidFill>
              <a:effectLst/>
              <a:uFillTx/>
              <a:latin typeface="Arial"/>
            </a:endParaRPr>
          </a:p>
        </p:txBody>
      </p:sp>
      <p:sp>
        <p:nvSpPr>
          <p:cNvPr id="2579" name="Text 21"/>
          <p:cNvSpPr/>
          <p:nvPr/>
        </p:nvSpPr>
        <p:spPr>
          <a:xfrm>
            <a:off x="2224800" y="3589200"/>
            <a:ext cx="1580040" cy="496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chemeClr val="lt1"/>
                </a:solidFill>
                <a:effectLst/>
                <a:uFillTx/>
                <a:latin typeface="Calibri"/>
                <a:ea typeface="DejaVu Sans"/>
              </a:rPr>
              <a:t>• </a:t>
            </a:r>
            <a:r>
              <a:rPr lang="pl-PL" sz="1400" b="1" u="none" strike="noStrike">
                <a:solidFill>
                  <a:schemeClr val="lt1"/>
                </a:solidFill>
                <a:effectLst/>
                <a:uFillTx/>
                <a:latin typeface="Calibri"/>
                <a:ea typeface="DejaVu Sans"/>
              </a:rPr>
              <a:t>Subtelność</a:t>
            </a:r>
            <a:r>
              <a:rPr lang="pl-PL" sz="1400" b="0" u="none" strike="noStrike">
                <a:solidFill>
                  <a:schemeClr val="lt1"/>
                </a:solidFill>
                <a:effectLst/>
                <a:uFillTx/>
                <a:latin typeface="Calibri"/>
                <a:ea typeface="DejaVu Sans"/>
              </a:rPr>
              <a:t>: nie </a:t>
            </a:r>
            <a:br>
              <a:rPr sz="1400"/>
            </a:br>
            <a:r>
              <a:rPr lang="pl-PL" sz="1400" b="0" u="none" strike="noStrike">
                <a:solidFill>
                  <a:schemeClr val="lt1"/>
                </a:solidFill>
                <a:effectLst/>
                <a:uFillTx/>
                <a:latin typeface="Calibri"/>
                <a:ea typeface="DejaVu Sans"/>
              </a:rPr>
              <a:t>dominuj nad treścią</a:t>
            </a:r>
            <a:endParaRPr lang="pl-PL" sz="1400" b="0" u="none" strike="noStrike">
              <a:solidFill>
                <a:srgbClr val="ffffff"/>
              </a:solidFill>
              <a:effectLst/>
              <a:uFillTx/>
              <a:latin typeface="Arial"/>
            </a:endParaRPr>
          </a:p>
        </p:txBody>
      </p:sp>
      <p:sp>
        <p:nvSpPr>
          <p:cNvPr id="2580" name="Text 22"/>
          <p:cNvSpPr/>
          <p:nvPr/>
        </p:nvSpPr>
        <p:spPr>
          <a:xfrm>
            <a:off x="4168800" y="3589200"/>
            <a:ext cx="1887480" cy="496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chemeClr val="lt1"/>
                </a:solidFill>
                <a:effectLst/>
                <a:uFillTx/>
                <a:latin typeface="Calibri"/>
                <a:ea typeface="DejaVu Sans"/>
              </a:rPr>
              <a:t>• </a:t>
            </a:r>
            <a:r>
              <a:rPr lang="pl-PL" sz="1400" b="1" u="none" strike="noStrike">
                <a:solidFill>
                  <a:schemeClr val="lt1"/>
                </a:solidFill>
                <a:effectLst/>
                <a:uFillTx/>
                <a:latin typeface="Calibri"/>
                <a:ea typeface="DejaVu Sans"/>
              </a:rPr>
              <a:t>Spójność</a:t>
            </a:r>
            <a:r>
              <a:rPr lang="pl-PL" sz="1400" b="0" u="none" strike="noStrike">
                <a:solidFill>
                  <a:schemeClr val="lt1"/>
                </a:solidFill>
                <a:effectLst/>
                <a:uFillTx/>
                <a:latin typeface="Calibri"/>
                <a:ea typeface="DejaVu Sans"/>
              </a:rPr>
              <a:t>: podobne akcje = podobne dźwięki</a:t>
            </a:r>
            <a:endParaRPr lang="pl-PL" sz="1400" b="0" u="none" strike="noStrike">
              <a:solidFill>
                <a:srgbClr val="ffffff"/>
              </a:solidFill>
              <a:effectLst/>
              <a:uFillTx/>
              <a:latin typeface="Arial"/>
            </a:endParaRPr>
          </a:p>
        </p:txBody>
      </p:sp>
      <p:sp>
        <p:nvSpPr>
          <p:cNvPr id="2581" name="Text 23"/>
          <p:cNvSpPr/>
          <p:nvPr/>
        </p:nvSpPr>
        <p:spPr>
          <a:xfrm>
            <a:off x="6385680" y="3589200"/>
            <a:ext cx="2490840" cy="496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chemeClr val="lt1"/>
                </a:solidFill>
                <a:effectLst/>
                <a:uFillTx/>
                <a:latin typeface="Calibri"/>
                <a:ea typeface="DejaVu Sans"/>
              </a:rPr>
              <a:t>• </a:t>
            </a:r>
            <a:r>
              <a:rPr lang="pl-PL" sz="1400" b="1" u="none" strike="noStrike">
                <a:solidFill>
                  <a:schemeClr val="lt1"/>
                </a:solidFill>
                <a:effectLst/>
                <a:uFillTx/>
                <a:latin typeface="Calibri"/>
                <a:ea typeface="DejaVu Sans"/>
              </a:rPr>
              <a:t>Wyłączalność</a:t>
            </a:r>
            <a:r>
              <a:rPr lang="pl-PL" sz="1400" b="0" u="none" strike="noStrike">
                <a:solidFill>
                  <a:schemeClr val="lt1"/>
                </a:solidFill>
                <a:effectLst/>
                <a:uFillTx/>
                <a:latin typeface="Calibri"/>
                <a:ea typeface="DejaVu Sans"/>
              </a:rPr>
              <a:t>: użytkownik </a:t>
            </a:r>
            <a:br>
              <a:rPr sz="1400"/>
            </a:br>
            <a:r>
              <a:rPr lang="pl-PL" sz="1400" b="0" u="none" strike="noStrike">
                <a:solidFill>
                  <a:schemeClr val="lt1"/>
                </a:solidFill>
                <a:effectLst/>
                <a:uFillTx/>
                <a:latin typeface="Calibri"/>
                <a:ea typeface="DejaVu Sans"/>
              </a:rPr>
              <a:t>musi mieć kontrolę</a:t>
            </a:r>
            <a:endParaRPr lang="pl-PL" sz="1400" b="0" u="none" strike="noStrike">
              <a:solidFill>
                <a:srgbClr val="ffffff"/>
              </a:solidFill>
              <a:effectLst/>
              <a:uFillTx/>
              <a:latin typeface="Arial"/>
            </a:endParaRPr>
          </a:p>
        </p:txBody>
      </p:sp>
      <p:grpSp>
        <p:nvGrpSpPr>
          <p:cNvPr id="2582" name="Grupa 27"/>
          <p:cNvGrpSpPr/>
          <p:nvPr/>
        </p:nvGrpSpPr>
        <p:grpSpPr>
          <a:xfrm>
            <a:off x="317520" y="4308840"/>
            <a:ext cx="8520480" cy="274320"/>
            <a:chOff x="317520" y="4308840"/>
            <a:chExt cx="8520480" cy="274320"/>
          </a:xfrm>
        </p:grpSpPr>
        <p:sp>
          <p:nvSpPr>
            <p:cNvPr id="2583" name="Shape 24"/>
            <p:cNvSpPr/>
            <p:nvPr/>
          </p:nvSpPr>
          <p:spPr>
            <a:xfrm>
              <a:off x="317520" y="4308840"/>
              <a:ext cx="8502840" cy="274320"/>
            </a:xfrm>
            <a:prstGeom prst="rect">
              <a:avLst/>
            </a:prstGeom>
            <a:solidFill>
              <a:srgbClr val="000000"/>
            </a:solidFill>
            <a:ln w="12600">
              <a:solidFill>
                <a:srgbClr val="448aff"/>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84" name="Text 25"/>
            <p:cNvSpPr/>
            <p:nvPr/>
          </p:nvSpPr>
          <p:spPr>
            <a:xfrm>
              <a:off x="365760" y="4338720"/>
              <a:ext cx="8472240" cy="214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chemeClr val="lt1"/>
                  </a:solidFill>
                  <a:effectLst/>
                  <a:uFillTx/>
                  <a:latin typeface="Calibri"/>
                  <a:ea typeface="DejaVu Sans"/>
                </a:rPr>
                <a:t>Kontekst</a:t>
              </a:r>
              <a:r>
                <a:rPr lang="en-US" sz="1100" b="0" u="none" strike="noStrike">
                  <a:solidFill>
                    <a:schemeClr val="lt1"/>
                  </a:solidFill>
                  <a:effectLst/>
                  <a:uFillTx/>
                  <a:latin typeface="Calibri"/>
                  <a:ea typeface="DejaVu Sans"/>
                </a:rPr>
                <a:t>: rozważ otoczenie użytkownika. W cichym miejscu dźwięki mogą być zakłócające, w hałaśliwym niezbędne. Zawsze dawaj opcję wyciszenia.</a:t>
              </a:r>
              <a:endParaRPr lang="pl-PL" sz="1100" b="0" u="none" strike="noStrike">
                <a:solidFill>
                  <a:srgbClr val="ffffff"/>
                </a:solidFill>
                <a:effectLst/>
                <a:uFillTx/>
                <a:latin typeface="Arial"/>
              </a:endParaRPr>
            </a:p>
          </p:txBody>
        </p:sp>
      </p:grpSp>
      <p:sp>
        <p:nvSpPr>
          <p:cNvPr id="2585" name="Text 28"/>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32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586" name="Grupa 47"/>
          <p:cNvGrpSpPr/>
          <p:nvPr/>
        </p:nvGrpSpPr>
        <p:grpSpPr>
          <a:xfrm>
            <a:off x="-2520" y="4884840"/>
            <a:ext cx="9145440" cy="259200"/>
            <a:chOff x="-2520" y="4884840"/>
            <a:chExt cx="9145440" cy="259200"/>
          </a:xfrm>
        </p:grpSpPr>
        <p:sp>
          <p:nvSpPr>
            <p:cNvPr id="2587"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88"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589" name="Grupa 50"/>
            <p:cNvGrpSpPr/>
            <p:nvPr/>
          </p:nvGrpSpPr>
          <p:grpSpPr>
            <a:xfrm>
              <a:off x="-2520" y="5099400"/>
              <a:ext cx="9145440" cy="44640"/>
              <a:chOff x="-2520" y="5099400"/>
              <a:chExt cx="9145440" cy="44640"/>
            </a:xfrm>
          </p:grpSpPr>
          <p:sp>
            <p:nvSpPr>
              <p:cNvPr id="2590"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1"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2"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3"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4"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5"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6"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7"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8"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9"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0"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1"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2"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3"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4"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5"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6"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7"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8"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09"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0"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1"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2"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3"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4"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5"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6"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7"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8"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19"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20"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21"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22"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23" name="Shape 52"/>
              <p:cNvSpPr/>
              <p:nvPr/>
            </p:nvSpPr>
            <p:spPr>
              <a:xfrm>
                <a:off x="65599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24"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25"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26"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27"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28"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29"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0"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1"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2"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3"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4"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5"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636" name="Shape 0"/>
          <p:cNvSpPr/>
          <p:nvPr/>
        </p:nvSpPr>
        <p:spPr>
          <a:xfrm>
            <a:off x="320040" y="255960"/>
            <a:ext cx="53640" cy="50184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7"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Haptyka i sprzężenie zwrotne dotykowe</a:t>
            </a:r>
            <a:endParaRPr lang="pl-PL" sz="2200" b="0" u="none" strike="noStrike">
              <a:solidFill>
                <a:srgbClr val="ffffff"/>
              </a:solidFill>
              <a:effectLst/>
              <a:uFillTx/>
              <a:latin typeface="Arial"/>
            </a:endParaRPr>
          </a:p>
        </p:txBody>
      </p:sp>
      <p:sp>
        <p:nvSpPr>
          <p:cNvPr id="2638" name="Shape 2"/>
          <p:cNvSpPr/>
          <p:nvPr/>
        </p:nvSpPr>
        <p:spPr>
          <a:xfrm>
            <a:off x="320040" y="914400"/>
            <a:ext cx="4068000" cy="170892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39" name="Shape 3"/>
          <p:cNvSpPr/>
          <p:nvPr/>
        </p:nvSpPr>
        <p:spPr>
          <a:xfrm>
            <a:off x="320040" y="914400"/>
            <a:ext cx="44640" cy="170892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40" name="Text 4"/>
          <p:cNvSpPr/>
          <p:nvPr/>
        </p:nvSpPr>
        <p:spPr>
          <a:xfrm>
            <a:off x="444240" y="94248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448aff"/>
                </a:solidFill>
                <a:effectLst/>
                <a:uFillTx/>
                <a:latin typeface="Calibri"/>
                <a:ea typeface="DejaVu Sans"/>
              </a:rPr>
              <a:t>Wibracje vs Haptyka</a:t>
            </a:r>
            <a:endParaRPr lang="pl-PL" sz="1600" b="0" u="none" strike="noStrike">
              <a:solidFill>
                <a:srgbClr val="ffffff"/>
              </a:solidFill>
              <a:effectLst/>
              <a:uFillTx/>
              <a:latin typeface="Arial"/>
            </a:endParaRPr>
          </a:p>
        </p:txBody>
      </p:sp>
      <p:sp>
        <p:nvSpPr>
          <p:cNvPr id="2641" name="Text 5"/>
          <p:cNvSpPr/>
          <p:nvPr/>
        </p:nvSpPr>
        <p:spPr>
          <a:xfrm>
            <a:off x="457200" y="1213200"/>
            <a:ext cx="3885120" cy="1305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Haptyka to </a:t>
            </a:r>
            <a:r>
              <a:rPr lang="pl-PL" sz="1200" b="0" u="sng" strike="noStrike">
                <a:solidFill>
                  <a:srgbClr val="ccddee"/>
                </a:solidFill>
                <a:effectLst/>
                <a:uFillTx/>
                <a:latin typeface="Calibri"/>
                <a:ea typeface="DejaVu Sans"/>
              </a:rPr>
              <a:t>precyzyjne</a:t>
            </a:r>
            <a:r>
              <a:rPr lang="pl-PL" sz="1200" b="0" u="none" strike="noStrike">
                <a:solidFill>
                  <a:srgbClr val="ccddee"/>
                </a:solidFill>
                <a:effectLst/>
                <a:uFillTx/>
                <a:latin typeface="Calibri"/>
                <a:ea typeface="DejaVu Sans"/>
              </a:rPr>
              <a:t>, </a:t>
            </a:r>
            <a:r>
              <a:rPr lang="pl-PL" sz="1200" b="0" u="sng" strike="noStrike">
                <a:solidFill>
                  <a:srgbClr val="ccddee"/>
                </a:solidFill>
                <a:effectLst/>
                <a:uFillTx/>
                <a:latin typeface="Calibri"/>
                <a:ea typeface="DejaVu Sans"/>
              </a:rPr>
              <a:t>kontrolowane</a:t>
            </a:r>
            <a:r>
              <a:rPr lang="pl-PL" sz="1200" b="0" u="none" strike="noStrike">
                <a:solidFill>
                  <a:srgbClr val="ccddee"/>
                </a:solidFill>
                <a:effectLst/>
                <a:uFillTx/>
                <a:latin typeface="Calibri"/>
                <a:ea typeface="DejaVu Sans"/>
              </a:rPr>
              <a:t> </a:t>
            </a:r>
            <a:r>
              <a:rPr lang="pl-PL" sz="1200" b="1" u="none" strike="noStrike">
                <a:solidFill>
                  <a:srgbClr val="ccddee"/>
                </a:solidFill>
                <a:effectLst/>
                <a:uFillTx/>
                <a:latin typeface="Calibri"/>
                <a:ea typeface="DejaVu Sans"/>
              </a:rPr>
              <a:t>sprzężenie zwrotne </a:t>
            </a:r>
            <a:r>
              <a:rPr lang="pl-PL" sz="1200" b="0" u="none" strike="noStrike">
                <a:solidFill>
                  <a:srgbClr val="ccddee"/>
                </a:solidFill>
                <a:effectLst/>
                <a:uFillTx/>
                <a:latin typeface="Calibri"/>
                <a:ea typeface="DejaVu Sans"/>
              </a:rPr>
              <a:t>dotykowe. Nie jest to 'wibracja' - to komunikacja przez dotyk.</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Rodzaje (iOS):</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a:t>
            </a:r>
            <a:r>
              <a:rPr lang="pl-PL" sz="1200" b="1" u="none" strike="noStrike">
                <a:solidFill>
                  <a:srgbClr val="ccddee"/>
                </a:solidFill>
                <a:effectLst/>
                <a:uFillTx/>
                <a:latin typeface="Calibri"/>
                <a:ea typeface="DejaVu Sans"/>
              </a:rPr>
              <a:t>Impact</a:t>
            </a:r>
            <a:r>
              <a:rPr lang="pl-PL" sz="1200" b="0" u="none" strike="noStrike">
                <a:solidFill>
                  <a:srgbClr val="ccddee"/>
                </a:solidFill>
                <a:effectLst/>
                <a:uFillTx/>
                <a:latin typeface="Calibri"/>
                <a:ea typeface="DejaVu Sans"/>
              </a:rPr>
              <a:t>: Light, Medium, Heavy - różna intensywność</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a:t>
            </a:r>
            <a:r>
              <a:rPr lang="pl-PL" sz="1200" b="1" u="none" strike="noStrike">
                <a:solidFill>
                  <a:srgbClr val="ccddee"/>
                </a:solidFill>
                <a:effectLst/>
                <a:uFillTx/>
                <a:latin typeface="Calibri"/>
                <a:ea typeface="DejaVu Sans"/>
              </a:rPr>
              <a:t>Selection</a:t>
            </a:r>
            <a:r>
              <a:rPr lang="pl-PL" sz="1200" b="0" u="none" strike="noStrike">
                <a:solidFill>
                  <a:srgbClr val="ccddee"/>
                </a:solidFill>
                <a:effectLst/>
                <a:uFillTx/>
                <a:latin typeface="Calibri"/>
                <a:ea typeface="DejaVu Sans"/>
              </a:rPr>
              <a:t>: delikatny feedback przy zmianie wyboru</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a:t>
            </a:r>
            <a:r>
              <a:rPr lang="pl-PL" sz="1200" b="1" u="none" strike="noStrike">
                <a:solidFill>
                  <a:srgbClr val="ccddee"/>
                </a:solidFill>
                <a:effectLst/>
                <a:uFillTx/>
                <a:latin typeface="Calibri"/>
                <a:ea typeface="DejaVu Sans"/>
              </a:rPr>
              <a:t>Notification</a:t>
            </a:r>
            <a:r>
              <a:rPr lang="pl-PL" sz="1200" b="0" u="none" strike="noStrike">
                <a:solidFill>
                  <a:srgbClr val="ccddee"/>
                </a:solidFill>
                <a:effectLst/>
                <a:uFillTx/>
                <a:latin typeface="Calibri"/>
                <a:ea typeface="DejaVu Sans"/>
              </a:rPr>
              <a:t>: Success, Warning, Error - stany aplikacji</a:t>
            </a:r>
            <a:endParaRPr lang="pl-PL" sz="1200" b="0" u="none" strike="noStrike">
              <a:solidFill>
                <a:srgbClr val="ffffff"/>
              </a:solidFill>
              <a:effectLst/>
              <a:uFillTx/>
              <a:latin typeface="Arial"/>
            </a:endParaRPr>
          </a:p>
        </p:txBody>
      </p:sp>
      <p:grpSp>
        <p:nvGrpSpPr>
          <p:cNvPr id="2642" name="Grupa 44"/>
          <p:cNvGrpSpPr/>
          <p:nvPr/>
        </p:nvGrpSpPr>
        <p:grpSpPr>
          <a:xfrm>
            <a:off x="320040" y="2724840"/>
            <a:ext cx="4068000" cy="2057040"/>
            <a:chOff x="320040" y="2724840"/>
            <a:chExt cx="4068000" cy="2057040"/>
          </a:xfrm>
        </p:grpSpPr>
        <p:sp>
          <p:nvSpPr>
            <p:cNvPr id="2643" name="Shape 6"/>
            <p:cNvSpPr/>
            <p:nvPr/>
          </p:nvSpPr>
          <p:spPr>
            <a:xfrm>
              <a:off x="320040" y="2724840"/>
              <a:ext cx="4068000" cy="4528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44" name="Shape 7"/>
            <p:cNvSpPr/>
            <p:nvPr/>
          </p:nvSpPr>
          <p:spPr>
            <a:xfrm>
              <a:off x="320040" y="2724840"/>
              <a:ext cx="44640" cy="45288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45" name="Text 8"/>
            <p:cNvSpPr/>
            <p:nvPr/>
          </p:nvSpPr>
          <p:spPr>
            <a:xfrm>
              <a:off x="429840" y="2757600"/>
              <a:ext cx="3912480" cy="261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1" u="none" strike="noStrike">
                  <a:solidFill>
                    <a:srgbClr val="00d4ff"/>
                  </a:solidFill>
                  <a:effectLst/>
                  <a:uFillTx/>
                  <a:latin typeface="Calibri"/>
                  <a:ea typeface="DejaVu Sans"/>
                </a:rPr>
                <a:t>Potwierdzenie akcji</a:t>
              </a:r>
              <a:endParaRPr lang="pl-PL" sz="1200" b="0" u="none" strike="noStrike">
                <a:solidFill>
                  <a:srgbClr val="ffffff"/>
                </a:solidFill>
                <a:effectLst/>
                <a:uFillTx/>
                <a:latin typeface="Arial"/>
              </a:endParaRPr>
            </a:p>
          </p:txBody>
        </p:sp>
        <p:sp>
          <p:nvSpPr>
            <p:cNvPr id="2646" name="Text 9"/>
            <p:cNvSpPr/>
            <p:nvPr/>
          </p:nvSpPr>
          <p:spPr>
            <a:xfrm>
              <a:off x="429840" y="2977560"/>
              <a:ext cx="3912480" cy="92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100" b="0" u="none" strike="noStrike">
                  <a:solidFill>
                    <a:srgbClr val="ccddee"/>
                  </a:solidFill>
                  <a:effectLst/>
                  <a:uFillTx/>
                  <a:latin typeface="Calibri"/>
                  <a:ea typeface="DejaVu Sans"/>
                </a:rPr>
                <a:t>Tapnięcie przycisku, sukces operacji</a:t>
              </a:r>
              <a:endParaRPr lang="pl-PL" sz="1100" b="0" u="none" strike="noStrike">
                <a:solidFill>
                  <a:srgbClr val="ffffff"/>
                </a:solidFill>
                <a:effectLst/>
                <a:uFillTx/>
                <a:latin typeface="Arial"/>
              </a:endParaRPr>
            </a:p>
          </p:txBody>
        </p:sp>
        <p:sp>
          <p:nvSpPr>
            <p:cNvPr id="2647" name="Shape 10"/>
            <p:cNvSpPr/>
            <p:nvPr/>
          </p:nvSpPr>
          <p:spPr>
            <a:xfrm>
              <a:off x="320040" y="3265200"/>
              <a:ext cx="4068000" cy="4528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48" name="Shape 11"/>
            <p:cNvSpPr/>
            <p:nvPr/>
          </p:nvSpPr>
          <p:spPr>
            <a:xfrm>
              <a:off x="320040" y="3265200"/>
              <a:ext cx="44640" cy="45288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49" name="Text 12"/>
            <p:cNvSpPr/>
            <p:nvPr/>
          </p:nvSpPr>
          <p:spPr>
            <a:xfrm>
              <a:off x="429840" y="3297960"/>
              <a:ext cx="3912480" cy="261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1" u="none" strike="noStrike">
                  <a:solidFill>
                    <a:srgbClr val="00e676"/>
                  </a:solidFill>
                  <a:effectLst/>
                  <a:uFillTx/>
                  <a:latin typeface="Calibri"/>
                  <a:ea typeface="DejaVu Sans"/>
                </a:rPr>
                <a:t>Granice interfejsu</a:t>
              </a:r>
              <a:endParaRPr lang="pl-PL" sz="1200" b="0" u="none" strike="noStrike">
                <a:solidFill>
                  <a:srgbClr val="ffffff"/>
                </a:solidFill>
                <a:effectLst/>
                <a:uFillTx/>
                <a:latin typeface="Arial"/>
              </a:endParaRPr>
            </a:p>
          </p:txBody>
        </p:sp>
        <p:sp>
          <p:nvSpPr>
            <p:cNvPr id="2650" name="Text 13"/>
            <p:cNvSpPr/>
            <p:nvPr/>
          </p:nvSpPr>
          <p:spPr>
            <a:xfrm>
              <a:off x="429840" y="3517560"/>
              <a:ext cx="3912480" cy="92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100" b="0" u="none" strike="noStrike">
                  <a:solidFill>
                    <a:srgbClr val="ccddee"/>
                  </a:solidFill>
                  <a:effectLst/>
                  <a:uFillTx/>
                  <a:latin typeface="Calibri"/>
                  <a:ea typeface="DejaVu Sans"/>
                </a:rPr>
                <a:t>Koniec listy, limit znaków w polu</a:t>
              </a:r>
              <a:endParaRPr lang="pl-PL" sz="1100" b="0" u="none" strike="noStrike">
                <a:solidFill>
                  <a:srgbClr val="ffffff"/>
                </a:solidFill>
                <a:effectLst/>
                <a:uFillTx/>
                <a:latin typeface="Arial"/>
              </a:endParaRPr>
            </a:p>
          </p:txBody>
        </p:sp>
        <p:sp>
          <p:nvSpPr>
            <p:cNvPr id="2651" name="Shape 14"/>
            <p:cNvSpPr/>
            <p:nvPr/>
          </p:nvSpPr>
          <p:spPr>
            <a:xfrm>
              <a:off x="320040" y="3797280"/>
              <a:ext cx="4068000" cy="4528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52" name="Shape 15"/>
            <p:cNvSpPr/>
            <p:nvPr/>
          </p:nvSpPr>
          <p:spPr>
            <a:xfrm>
              <a:off x="320040" y="3797280"/>
              <a:ext cx="44640" cy="45288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53" name="Text 16"/>
            <p:cNvSpPr/>
            <p:nvPr/>
          </p:nvSpPr>
          <p:spPr>
            <a:xfrm>
              <a:off x="429840" y="3830040"/>
              <a:ext cx="3912480" cy="261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1" u="none" strike="noStrike">
                  <a:solidFill>
                    <a:srgbClr val="ff9100"/>
                  </a:solidFill>
                  <a:effectLst/>
                  <a:uFillTx/>
                  <a:latin typeface="Calibri"/>
                  <a:ea typeface="DejaVu Sans"/>
                </a:rPr>
                <a:t>Błędy i walidacja</a:t>
              </a:r>
              <a:endParaRPr lang="pl-PL" sz="1200" b="0" u="none" strike="noStrike">
                <a:solidFill>
                  <a:srgbClr val="ffffff"/>
                </a:solidFill>
                <a:effectLst/>
                <a:uFillTx/>
                <a:latin typeface="Arial"/>
              </a:endParaRPr>
            </a:p>
          </p:txBody>
        </p:sp>
        <p:sp>
          <p:nvSpPr>
            <p:cNvPr id="2654" name="Text 17"/>
            <p:cNvSpPr/>
            <p:nvPr/>
          </p:nvSpPr>
          <p:spPr>
            <a:xfrm>
              <a:off x="429840" y="4049640"/>
              <a:ext cx="3912480" cy="92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100" b="0" u="none" strike="noStrike">
                  <a:solidFill>
                    <a:srgbClr val="ccddee"/>
                  </a:solidFill>
                  <a:effectLst/>
                  <a:uFillTx/>
                  <a:latin typeface="Calibri"/>
                  <a:ea typeface="DejaVu Sans"/>
                </a:rPr>
                <a:t>Nieprawidłowe hasło, błąd formularza</a:t>
              </a:r>
              <a:endParaRPr lang="pl-PL" sz="1100" b="0" u="none" strike="noStrike">
                <a:solidFill>
                  <a:srgbClr val="ffffff"/>
                </a:solidFill>
                <a:effectLst/>
                <a:uFillTx/>
                <a:latin typeface="Arial"/>
              </a:endParaRPr>
            </a:p>
          </p:txBody>
        </p:sp>
        <p:sp>
          <p:nvSpPr>
            <p:cNvPr id="2655" name="Shape 18"/>
            <p:cNvSpPr/>
            <p:nvPr/>
          </p:nvSpPr>
          <p:spPr>
            <a:xfrm>
              <a:off x="320040" y="4329000"/>
              <a:ext cx="4068000" cy="45288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56" name="Shape 19"/>
            <p:cNvSpPr/>
            <p:nvPr/>
          </p:nvSpPr>
          <p:spPr>
            <a:xfrm>
              <a:off x="320040" y="4329000"/>
              <a:ext cx="44640" cy="45288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57" name="Text 20"/>
            <p:cNvSpPr/>
            <p:nvPr/>
          </p:nvSpPr>
          <p:spPr>
            <a:xfrm>
              <a:off x="429840" y="4361760"/>
              <a:ext cx="3912480" cy="261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200" b="1" u="none" strike="noStrike">
                  <a:solidFill>
                    <a:srgbClr val="ff2d78"/>
                  </a:solidFill>
                  <a:effectLst/>
                  <a:uFillTx/>
                  <a:latin typeface="Calibri"/>
                  <a:ea typeface="DejaVu Sans"/>
                </a:rPr>
                <a:t>Zmiana stanu</a:t>
              </a:r>
              <a:endParaRPr lang="pl-PL" sz="1200" b="0" u="none" strike="noStrike">
                <a:solidFill>
                  <a:srgbClr val="ffffff"/>
                </a:solidFill>
                <a:effectLst/>
                <a:uFillTx/>
                <a:latin typeface="Arial"/>
              </a:endParaRPr>
            </a:p>
          </p:txBody>
        </p:sp>
        <p:sp>
          <p:nvSpPr>
            <p:cNvPr id="2658" name="Text 21"/>
            <p:cNvSpPr/>
            <p:nvPr/>
          </p:nvSpPr>
          <p:spPr>
            <a:xfrm>
              <a:off x="429840" y="4581720"/>
              <a:ext cx="3912480" cy="92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en-US" sz="1100" b="0" u="none" strike="noStrike">
                  <a:solidFill>
                    <a:srgbClr val="ccddee"/>
                  </a:solidFill>
                  <a:effectLst/>
                  <a:uFillTx/>
                  <a:latin typeface="Calibri"/>
                  <a:ea typeface="DejaVu Sans"/>
                </a:rPr>
                <a:t>Włączenie/wyłączenie przełącznika Toggle</a:t>
              </a:r>
              <a:endParaRPr lang="pl-PL" sz="1100" b="0" u="none" strike="noStrike">
                <a:solidFill>
                  <a:srgbClr val="ffffff"/>
                </a:solidFill>
                <a:effectLst/>
                <a:uFillTx/>
                <a:latin typeface="Arial"/>
              </a:endParaRPr>
            </a:p>
          </p:txBody>
        </p:sp>
      </p:grpSp>
      <p:sp>
        <p:nvSpPr>
          <p:cNvPr id="2659" name="Shape 22"/>
          <p:cNvSpPr/>
          <p:nvPr/>
        </p:nvSpPr>
        <p:spPr>
          <a:xfrm>
            <a:off x="4754880" y="914400"/>
            <a:ext cx="4068000" cy="3134160"/>
          </a:xfrm>
          <a:prstGeom prst="rect">
            <a:avLst/>
          </a:prstGeom>
          <a:solidFill>
            <a:srgbClr val="112233"/>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60" name="Shape 23"/>
          <p:cNvSpPr/>
          <p:nvPr/>
        </p:nvSpPr>
        <p:spPr>
          <a:xfrm>
            <a:off x="4754880" y="914400"/>
            <a:ext cx="44640" cy="3134160"/>
          </a:xfrm>
          <a:prstGeom prst="rect">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61" name="Text 24"/>
          <p:cNvSpPr/>
          <p:nvPr/>
        </p:nvSpPr>
        <p:spPr>
          <a:xfrm>
            <a:off x="4892040" y="97236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Implementacja haptyki</a:t>
            </a:r>
            <a:endParaRPr lang="pl-PL" sz="1600" b="0" u="none" strike="noStrike">
              <a:solidFill>
                <a:srgbClr val="ffffff"/>
              </a:solidFill>
              <a:effectLst/>
              <a:uFillTx/>
              <a:latin typeface="Arial"/>
            </a:endParaRPr>
          </a:p>
        </p:txBody>
      </p:sp>
      <p:sp>
        <p:nvSpPr>
          <p:cNvPr id="2662" name="Shape 25"/>
          <p:cNvSpPr/>
          <p:nvPr/>
        </p:nvSpPr>
        <p:spPr>
          <a:xfrm>
            <a:off x="4892040" y="1458000"/>
            <a:ext cx="254880" cy="254880"/>
          </a:xfrm>
          <a:prstGeom prst="ellipse">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63" name="Text 26"/>
          <p:cNvSpPr/>
          <p:nvPr/>
        </p:nvSpPr>
        <p:spPr>
          <a:xfrm>
            <a:off x="4892040" y="145800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1</a:t>
            </a:r>
            <a:endParaRPr lang="pl-PL" sz="1100" b="0" u="none" strike="noStrike">
              <a:solidFill>
                <a:srgbClr val="ffffff"/>
              </a:solidFill>
              <a:effectLst/>
              <a:uFillTx/>
              <a:latin typeface="Arial"/>
            </a:endParaRPr>
          </a:p>
        </p:txBody>
      </p:sp>
      <p:sp>
        <p:nvSpPr>
          <p:cNvPr id="2664" name="Text 27"/>
          <p:cNvSpPr/>
          <p:nvPr/>
        </p:nvSpPr>
        <p:spPr>
          <a:xfrm>
            <a:off x="5239440" y="137160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ffffff"/>
                </a:solidFill>
                <a:effectLst/>
                <a:uFillTx/>
                <a:latin typeface="Calibri"/>
                <a:ea typeface="DejaVu Sans"/>
              </a:rPr>
              <a:t>Szanuj ustawienia systemowe</a:t>
            </a:r>
            <a:endParaRPr lang="pl-PL" sz="1300" b="0" u="none" strike="noStrike">
              <a:solidFill>
                <a:srgbClr val="ffffff"/>
              </a:solidFill>
              <a:effectLst/>
              <a:uFillTx/>
              <a:latin typeface="Arial"/>
            </a:endParaRPr>
          </a:p>
        </p:txBody>
      </p:sp>
      <p:sp>
        <p:nvSpPr>
          <p:cNvPr id="2665" name="Text 28"/>
          <p:cNvSpPr/>
          <p:nvPr/>
        </p:nvSpPr>
        <p:spPr>
          <a:xfrm>
            <a:off x="5239440" y="1615320"/>
            <a:ext cx="31082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Jeśli użytkownik wyłączył haptykę w systemie, to nie używaj jej. Nigdy!</a:t>
            </a:r>
            <a:endParaRPr lang="pl-PL" sz="1100" b="0" u="none" strike="noStrike">
              <a:solidFill>
                <a:srgbClr val="ffffff"/>
              </a:solidFill>
              <a:effectLst/>
              <a:uFillTx/>
              <a:latin typeface="Arial"/>
            </a:endParaRPr>
          </a:p>
        </p:txBody>
      </p:sp>
      <p:sp>
        <p:nvSpPr>
          <p:cNvPr id="2666" name="Shape 29"/>
          <p:cNvSpPr/>
          <p:nvPr/>
        </p:nvSpPr>
        <p:spPr>
          <a:xfrm>
            <a:off x="4892040" y="2116440"/>
            <a:ext cx="254880" cy="254880"/>
          </a:xfrm>
          <a:prstGeom prst="ellipse">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67" name="Text 30"/>
          <p:cNvSpPr/>
          <p:nvPr/>
        </p:nvSpPr>
        <p:spPr>
          <a:xfrm>
            <a:off x="4892040" y="211644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2</a:t>
            </a:r>
            <a:endParaRPr lang="pl-PL" sz="1100" b="0" u="none" strike="noStrike">
              <a:solidFill>
                <a:srgbClr val="ffffff"/>
              </a:solidFill>
              <a:effectLst/>
              <a:uFillTx/>
              <a:latin typeface="Arial"/>
            </a:endParaRPr>
          </a:p>
        </p:txBody>
      </p:sp>
      <p:sp>
        <p:nvSpPr>
          <p:cNvPr id="2668" name="Text 31"/>
          <p:cNvSpPr/>
          <p:nvPr/>
        </p:nvSpPr>
        <p:spPr>
          <a:xfrm>
            <a:off x="5239440" y="203004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ffffff"/>
                </a:solidFill>
                <a:effectLst/>
                <a:uFillTx/>
                <a:latin typeface="Calibri"/>
                <a:ea typeface="DejaVu Sans"/>
              </a:rPr>
              <a:t>Integracja z dźwiękiem</a:t>
            </a:r>
            <a:endParaRPr lang="pl-PL" sz="1300" b="0" u="none" strike="noStrike">
              <a:solidFill>
                <a:srgbClr val="ffffff"/>
              </a:solidFill>
              <a:effectLst/>
              <a:uFillTx/>
              <a:latin typeface="Arial"/>
            </a:endParaRPr>
          </a:p>
        </p:txBody>
      </p:sp>
      <p:sp>
        <p:nvSpPr>
          <p:cNvPr id="2669" name="Text 32"/>
          <p:cNvSpPr/>
          <p:nvPr/>
        </p:nvSpPr>
        <p:spPr>
          <a:xfrm>
            <a:off x="5239440" y="227340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Haptyka + dźwięk = silniejszy feedback. </a:t>
            </a:r>
            <a:br>
              <a:rPr sz="1100"/>
            </a:br>
            <a:r>
              <a:rPr lang="pl-PL" sz="1100" b="0" u="none" strike="noStrike">
                <a:solidFill>
                  <a:srgbClr val="8899aa"/>
                </a:solidFill>
                <a:effectLst/>
                <a:uFillTx/>
                <a:latin typeface="Calibri"/>
                <a:ea typeface="DejaVu Sans"/>
              </a:rPr>
              <a:t>Używaj razem dla kluczowych akcji.</a:t>
            </a:r>
            <a:endParaRPr lang="pl-PL" sz="1100" b="0" u="none" strike="noStrike">
              <a:solidFill>
                <a:srgbClr val="ffffff"/>
              </a:solidFill>
              <a:effectLst/>
              <a:uFillTx/>
              <a:latin typeface="Arial"/>
            </a:endParaRPr>
          </a:p>
        </p:txBody>
      </p:sp>
      <p:sp>
        <p:nvSpPr>
          <p:cNvPr id="2670" name="Shape 33"/>
          <p:cNvSpPr/>
          <p:nvPr/>
        </p:nvSpPr>
        <p:spPr>
          <a:xfrm>
            <a:off x="4892040" y="2774880"/>
            <a:ext cx="254880" cy="254880"/>
          </a:xfrm>
          <a:prstGeom prst="ellipse">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71" name="Text 34"/>
          <p:cNvSpPr/>
          <p:nvPr/>
        </p:nvSpPr>
        <p:spPr>
          <a:xfrm>
            <a:off x="4892040" y="277488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3</a:t>
            </a:r>
            <a:endParaRPr lang="pl-PL" sz="1100" b="0" u="none" strike="noStrike">
              <a:solidFill>
                <a:srgbClr val="ffffff"/>
              </a:solidFill>
              <a:effectLst/>
              <a:uFillTx/>
              <a:latin typeface="Arial"/>
            </a:endParaRPr>
          </a:p>
        </p:txBody>
      </p:sp>
      <p:sp>
        <p:nvSpPr>
          <p:cNvPr id="2672" name="Text 35"/>
          <p:cNvSpPr/>
          <p:nvPr/>
        </p:nvSpPr>
        <p:spPr>
          <a:xfrm>
            <a:off x="5239440" y="268848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ffffff"/>
                </a:solidFill>
                <a:effectLst/>
                <a:uFillTx/>
                <a:latin typeface="Calibri"/>
                <a:ea typeface="DejaVu Sans"/>
              </a:rPr>
              <a:t>Testuj na różnych urządzeniach</a:t>
            </a:r>
            <a:endParaRPr lang="pl-PL" sz="1300" b="0" u="none" strike="noStrike">
              <a:solidFill>
                <a:srgbClr val="ffffff"/>
              </a:solidFill>
              <a:effectLst/>
              <a:uFillTx/>
              <a:latin typeface="Arial"/>
            </a:endParaRPr>
          </a:p>
        </p:txBody>
      </p:sp>
      <p:sp>
        <p:nvSpPr>
          <p:cNvPr id="2673" name="Text 36"/>
          <p:cNvSpPr/>
          <p:nvPr/>
        </p:nvSpPr>
        <p:spPr>
          <a:xfrm>
            <a:off x="5239440" y="293184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Silniki haptyczne różnią się między modelami. iPhone </a:t>
            </a:r>
            <a:br>
              <a:rPr sz="1100"/>
            </a:br>
            <a:r>
              <a:rPr lang="pl-PL" sz="1100" b="0" u="none" strike="noStrike">
                <a:solidFill>
                  <a:srgbClr val="8899aa"/>
                </a:solidFill>
                <a:effectLst/>
                <a:uFillTx/>
                <a:latin typeface="Calibri"/>
                <a:ea typeface="DejaVu Sans"/>
              </a:rPr>
              <a:t>13 ≠ iPhone 7.</a:t>
            </a:r>
            <a:endParaRPr lang="pl-PL" sz="1100" b="0" u="none" strike="noStrike">
              <a:solidFill>
                <a:srgbClr val="ffffff"/>
              </a:solidFill>
              <a:effectLst/>
              <a:uFillTx/>
              <a:latin typeface="Arial"/>
            </a:endParaRPr>
          </a:p>
        </p:txBody>
      </p:sp>
      <p:sp>
        <p:nvSpPr>
          <p:cNvPr id="2674" name="Shape 37"/>
          <p:cNvSpPr/>
          <p:nvPr/>
        </p:nvSpPr>
        <p:spPr>
          <a:xfrm>
            <a:off x="4892040" y="3432960"/>
            <a:ext cx="254880" cy="254880"/>
          </a:xfrm>
          <a:prstGeom prst="ellipse">
            <a:avLst/>
          </a:prstGeom>
          <a:solidFill>
            <a:srgbClr val="448aff"/>
          </a:solidFill>
          <a:ln w="12600">
            <a:solidFill>
              <a:srgbClr val="448a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75" name="Text 38"/>
          <p:cNvSpPr/>
          <p:nvPr/>
        </p:nvSpPr>
        <p:spPr>
          <a:xfrm>
            <a:off x="4892040" y="3432960"/>
            <a:ext cx="254880" cy="254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100" b="1" u="none" strike="noStrike">
                <a:solidFill>
                  <a:srgbClr val="0d1b2a"/>
                </a:solidFill>
                <a:effectLst/>
                <a:uFillTx/>
                <a:latin typeface="Calibri"/>
                <a:ea typeface="DejaVu Sans"/>
              </a:rPr>
              <a:t>4</a:t>
            </a:r>
            <a:endParaRPr lang="pl-PL" sz="1100" b="0" u="none" strike="noStrike">
              <a:solidFill>
                <a:srgbClr val="ffffff"/>
              </a:solidFill>
              <a:effectLst/>
              <a:uFillTx/>
              <a:latin typeface="Arial"/>
            </a:endParaRPr>
          </a:p>
        </p:txBody>
      </p:sp>
      <p:sp>
        <p:nvSpPr>
          <p:cNvPr id="2676" name="Text 39"/>
          <p:cNvSpPr/>
          <p:nvPr/>
        </p:nvSpPr>
        <p:spPr>
          <a:xfrm>
            <a:off x="5239440" y="3346560"/>
            <a:ext cx="347364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ffffff"/>
                </a:solidFill>
                <a:effectLst/>
                <a:uFillTx/>
                <a:latin typeface="Calibri"/>
                <a:ea typeface="DejaVu Sans"/>
              </a:rPr>
              <a:t>Unikaj nadmiernego użycia</a:t>
            </a:r>
            <a:endParaRPr lang="pl-PL" sz="1300" b="0" u="none" strike="noStrike">
              <a:solidFill>
                <a:srgbClr val="ffffff"/>
              </a:solidFill>
              <a:effectLst/>
              <a:uFillTx/>
              <a:latin typeface="Arial"/>
            </a:endParaRPr>
          </a:p>
        </p:txBody>
      </p:sp>
      <p:sp>
        <p:nvSpPr>
          <p:cNvPr id="2677" name="Text 40"/>
          <p:cNvSpPr/>
          <p:nvPr/>
        </p:nvSpPr>
        <p:spPr>
          <a:xfrm>
            <a:off x="5239440" y="3590280"/>
            <a:ext cx="347364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8899aa"/>
                </a:solidFill>
                <a:effectLst/>
                <a:uFillTx/>
                <a:latin typeface="Calibri"/>
                <a:ea typeface="DejaVu Sans"/>
              </a:rPr>
              <a:t>Haptyka przy każdym dotknięciu jest zmęczająca. </a:t>
            </a:r>
            <a:br>
              <a:rPr sz="1100"/>
            </a:br>
            <a:r>
              <a:rPr lang="pl-PL" sz="1100" b="0" u="none" strike="noStrike">
                <a:solidFill>
                  <a:srgbClr val="8899aa"/>
                </a:solidFill>
                <a:effectLst/>
                <a:uFillTx/>
                <a:latin typeface="Calibri"/>
                <a:ea typeface="DejaVu Sans"/>
              </a:rPr>
              <a:t>Używaj celowo i rzadko.</a:t>
            </a:r>
            <a:endParaRPr lang="pl-PL" sz="1100" b="0" u="none" strike="noStrike">
              <a:solidFill>
                <a:srgbClr val="ffffff"/>
              </a:solidFill>
              <a:effectLst/>
              <a:uFillTx/>
              <a:latin typeface="Arial"/>
            </a:endParaRPr>
          </a:p>
        </p:txBody>
      </p:sp>
      <p:sp>
        <p:nvSpPr>
          <p:cNvPr id="2678" name="Shape 41"/>
          <p:cNvSpPr/>
          <p:nvPr/>
        </p:nvSpPr>
        <p:spPr>
          <a:xfrm>
            <a:off x="4754880" y="4117680"/>
            <a:ext cx="4068000" cy="663480"/>
          </a:xfrm>
          <a:prstGeom prst="rect">
            <a:avLst/>
          </a:prstGeom>
          <a:solidFill>
            <a:srgbClr val="0a1929"/>
          </a:solidFill>
          <a:ln w="12600">
            <a:solidFill>
              <a:srgbClr val="1a305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79" name="Text 42"/>
          <p:cNvSpPr/>
          <p:nvPr/>
        </p:nvSpPr>
        <p:spPr>
          <a:xfrm>
            <a:off x="4892040" y="4145760"/>
            <a:ext cx="3793680" cy="606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chemeClr val="lt1"/>
                </a:solidFill>
                <a:effectLst/>
                <a:uFillTx/>
                <a:latin typeface="Calibri"/>
                <a:ea typeface="DejaVu Sans"/>
              </a:rPr>
              <a:t>Przykłady dobrej haptyki</a:t>
            </a:r>
            <a:r>
              <a:rPr lang="pl-PL" sz="1300" b="0" u="none" strike="noStrike">
                <a:solidFill>
                  <a:schemeClr val="lt1"/>
                </a:solidFill>
                <a:effectLst/>
                <a:uFillTx/>
                <a:latin typeface="Calibri"/>
                <a:ea typeface="DejaVu Sans"/>
              </a:rPr>
              <a:t>: iPhone Haptic Touch / 3D Touch, klawiatura iOS feedback, Instagram lajki, Apple Pay potwierdzenie płatności.</a:t>
            </a:r>
            <a:endParaRPr lang="pl-PL" sz="1300" b="0" u="none" strike="noStrike">
              <a:solidFill>
                <a:srgbClr val="ffffff"/>
              </a:solidFill>
              <a:effectLst/>
              <a:uFillTx/>
              <a:latin typeface="Arial"/>
            </a:endParaRPr>
          </a:p>
        </p:txBody>
      </p:sp>
      <p:sp>
        <p:nvSpPr>
          <p:cNvPr id="2680" name="Text 45"/>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33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681" name="Grupa 9"/>
          <p:cNvGrpSpPr/>
          <p:nvPr/>
        </p:nvGrpSpPr>
        <p:grpSpPr>
          <a:xfrm>
            <a:off x="-2520" y="4884840"/>
            <a:ext cx="9145440" cy="259200"/>
            <a:chOff x="-2520" y="4884840"/>
            <a:chExt cx="9145440" cy="259200"/>
          </a:xfrm>
        </p:grpSpPr>
        <p:sp>
          <p:nvSpPr>
            <p:cNvPr id="2682"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683"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684" name="Grupa 12"/>
            <p:cNvGrpSpPr/>
            <p:nvPr/>
          </p:nvGrpSpPr>
          <p:grpSpPr>
            <a:xfrm>
              <a:off x="-2520" y="5099400"/>
              <a:ext cx="9145440" cy="44640"/>
              <a:chOff x="-2520" y="5099400"/>
              <a:chExt cx="9145440" cy="44640"/>
            </a:xfrm>
          </p:grpSpPr>
          <p:sp>
            <p:nvSpPr>
              <p:cNvPr id="2685"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86"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87"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88"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89"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0"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1"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2"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3"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4"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5"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6"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7"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8"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99"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0"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1"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2"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3"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4"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5"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6"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7"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8"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9"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0"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1"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2"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3"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4"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5"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6"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7"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8"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19" name="Shape 52"/>
              <p:cNvSpPr/>
              <p:nvPr/>
            </p:nvSpPr>
            <p:spPr>
              <a:xfrm>
                <a:off x="67586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0"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1"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2"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3"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4"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5"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6"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7"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8"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29"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30"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731"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32" name="Shape 1"/>
          <p:cNvSpPr/>
          <p:nvPr/>
        </p:nvSpPr>
        <p:spPr>
          <a:xfrm>
            <a:off x="0" y="1645920"/>
            <a:ext cx="108720" cy="182772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33" name="Text 2"/>
          <p:cNvSpPr/>
          <p:nvPr/>
        </p:nvSpPr>
        <p:spPr>
          <a:xfrm>
            <a:off x="914400" y="548640"/>
            <a:ext cx="7314120" cy="821880"/>
          </a:xfrm>
          <a:prstGeom prst="rect">
            <a:avLst/>
          </a:prstGeom>
          <a:noFill/>
          <a:ln w="0">
            <a:noFill/>
          </a:ln>
          <a:effectLst>
            <a:outerShdw dir="2700000" dist="35638"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1de9b6"/>
                </a:solidFill>
                <a:effectLst/>
                <a:uFillTx/>
                <a:latin typeface="Calibri"/>
                <a:ea typeface="DejaVu Sans"/>
              </a:rPr>
              <a:t>08</a:t>
            </a:r>
            <a:endParaRPr lang="pl-PL" sz="5200" b="0" u="none" strike="noStrike">
              <a:solidFill>
                <a:srgbClr val="ffffff"/>
              </a:solidFill>
              <a:effectLst/>
              <a:uFillTx/>
              <a:latin typeface="Arial"/>
            </a:endParaRPr>
          </a:p>
        </p:txBody>
      </p:sp>
      <p:sp>
        <p:nvSpPr>
          <p:cNvPr id="2734"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Projektowanie emocjonalne</a:t>
            </a:r>
            <a:endParaRPr lang="pl-PL" sz="2800" b="0" u="none" strike="noStrike">
              <a:solidFill>
                <a:srgbClr val="ffffff"/>
              </a:solidFill>
              <a:effectLst/>
              <a:uFillTx/>
              <a:latin typeface="Arial"/>
            </a:endParaRPr>
          </a:p>
        </p:txBody>
      </p:sp>
      <p:sp>
        <p:nvSpPr>
          <p:cNvPr id="2735"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Tworzenie połączeń emocjonalnych poprzez design interfejsów</a:t>
            </a:r>
            <a:endParaRPr lang="pl-PL" sz="1400" b="0" u="none" strike="noStrike">
              <a:solidFill>
                <a:srgbClr val="ffffff"/>
              </a:solidFill>
              <a:effectLst/>
              <a:uFillTx/>
              <a:latin typeface="Arial"/>
            </a:endParaRPr>
          </a:p>
        </p:txBody>
      </p:sp>
      <p:sp>
        <p:nvSpPr>
          <p:cNvPr id="2736"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34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737" name="Grupa 20"/>
          <p:cNvGrpSpPr/>
          <p:nvPr/>
        </p:nvGrpSpPr>
        <p:grpSpPr>
          <a:xfrm>
            <a:off x="-2520" y="4884840"/>
            <a:ext cx="9145440" cy="259200"/>
            <a:chOff x="-2520" y="4884840"/>
            <a:chExt cx="9145440" cy="259200"/>
          </a:xfrm>
        </p:grpSpPr>
        <p:sp>
          <p:nvSpPr>
            <p:cNvPr id="2738"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39"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740" name="Grupa 23"/>
            <p:cNvGrpSpPr/>
            <p:nvPr/>
          </p:nvGrpSpPr>
          <p:grpSpPr>
            <a:xfrm>
              <a:off x="-2520" y="5099400"/>
              <a:ext cx="9145440" cy="44640"/>
              <a:chOff x="-2520" y="5099400"/>
              <a:chExt cx="9145440" cy="44640"/>
            </a:xfrm>
          </p:grpSpPr>
          <p:sp>
            <p:nvSpPr>
              <p:cNvPr id="2741"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2"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3"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4"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5"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6"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7"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8"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9"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0"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1"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2"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3"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4"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5"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6"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7"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8"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59"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0"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1"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2"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3"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4"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5"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6"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7"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8"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9"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70"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71"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72"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73"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74"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75"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76" name="Shape 52"/>
              <p:cNvSpPr/>
              <p:nvPr/>
            </p:nvSpPr>
            <p:spPr>
              <a:xfrm>
                <a:off x="695772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77"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78"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79"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0"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1"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2"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3"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4"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5"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86"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787" name="Shape 0"/>
          <p:cNvSpPr/>
          <p:nvPr/>
        </p:nvSpPr>
        <p:spPr>
          <a:xfrm>
            <a:off x="320040" y="255960"/>
            <a:ext cx="53640" cy="50184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88"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Trzy poziomy projektowania emocjonalnego</a:t>
            </a:r>
            <a:endParaRPr lang="pl-PL" sz="2200" b="0" u="none" strike="noStrike">
              <a:solidFill>
                <a:srgbClr val="ffffff"/>
              </a:solidFill>
              <a:effectLst/>
              <a:uFillTx/>
              <a:latin typeface="Arial"/>
            </a:endParaRPr>
          </a:p>
        </p:txBody>
      </p:sp>
      <p:sp>
        <p:nvSpPr>
          <p:cNvPr id="2789" name="Shape 2"/>
          <p:cNvSpPr/>
          <p:nvPr/>
        </p:nvSpPr>
        <p:spPr>
          <a:xfrm>
            <a:off x="320040" y="914400"/>
            <a:ext cx="2742120" cy="2922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90" name="Shape 3"/>
          <p:cNvSpPr/>
          <p:nvPr/>
        </p:nvSpPr>
        <p:spPr>
          <a:xfrm>
            <a:off x="320040" y="914400"/>
            <a:ext cx="44640" cy="292212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91" name="Text 4"/>
          <p:cNvSpPr/>
          <p:nvPr/>
        </p:nvSpPr>
        <p:spPr>
          <a:xfrm>
            <a:off x="45144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800" b="1" u="none" strike="noStrike">
                <a:solidFill>
                  <a:srgbClr val="1de9b6"/>
                </a:solidFill>
                <a:effectLst/>
                <a:uFillTx/>
                <a:latin typeface="Calibri"/>
                <a:ea typeface="DejaVu Sans"/>
              </a:rPr>
              <a:t>Visceral (trzewny)</a:t>
            </a:r>
            <a:endParaRPr lang="pl-PL" sz="1800" b="0" u="none" strike="noStrike">
              <a:solidFill>
                <a:srgbClr val="ffffff"/>
              </a:solidFill>
              <a:effectLst/>
              <a:uFillTx/>
              <a:latin typeface="Arial"/>
            </a:endParaRPr>
          </a:p>
        </p:txBody>
      </p:sp>
      <p:sp>
        <p:nvSpPr>
          <p:cNvPr id="2792" name="Text 5"/>
          <p:cNvSpPr/>
          <p:nvPr/>
        </p:nvSpPr>
        <p:spPr>
          <a:xfrm>
            <a:off x="502920" y="1533600"/>
            <a:ext cx="2513520" cy="1825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Pierwsze wrażenie. Natychmiastowy, instynktowny poziom reakcji na wygląd produktu.</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Estetyka: kolory, typografia, layout</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Prezentacja: jakość grafiki, animacje</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Tożsamość marki: rozpoznawalność</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algn="ctr" defTabSz="914400">
              <a:lnSpc>
                <a:spcPct val="100000"/>
              </a:lnSpc>
              <a:tabLst>
                <a:tab algn="l" pos="0"/>
              </a:tabLst>
            </a:pPr>
            <a:r>
              <a:rPr lang="pl-PL" sz="1300" b="1" i="1" u="sng" strike="noStrike">
                <a:solidFill>
                  <a:srgbClr val="ccddee"/>
                </a:solidFill>
                <a:effectLst/>
                <a:uFillTx/>
                <a:latin typeface="Calibri"/>
                <a:ea typeface="DejaVu Sans"/>
              </a:rPr>
              <a:t>Pytanie</a:t>
            </a:r>
            <a:r>
              <a:rPr lang="pl-PL" sz="1300" b="1" i="1" u="none" strike="noStrike">
                <a:solidFill>
                  <a:srgbClr val="ccddee"/>
                </a:solidFill>
                <a:effectLst/>
                <a:uFillTx/>
                <a:latin typeface="Calibri"/>
                <a:ea typeface="DejaVu Sans"/>
              </a:rPr>
              <a:t>: Czy to wygląda atrakcyjnie?</a:t>
            </a:r>
            <a:endParaRPr lang="pl-PL" sz="1300" b="0" u="none" strike="noStrike">
              <a:solidFill>
                <a:srgbClr val="ffffff"/>
              </a:solidFill>
              <a:effectLst/>
              <a:uFillTx/>
              <a:latin typeface="Arial"/>
            </a:endParaRPr>
          </a:p>
        </p:txBody>
      </p:sp>
      <p:sp>
        <p:nvSpPr>
          <p:cNvPr id="2793" name="Shape 6"/>
          <p:cNvSpPr/>
          <p:nvPr/>
        </p:nvSpPr>
        <p:spPr>
          <a:xfrm>
            <a:off x="3200400" y="914400"/>
            <a:ext cx="2742120" cy="2922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94" name="Shape 7"/>
          <p:cNvSpPr/>
          <p:nvPr/>
        </p:nvSpPr>
        <p:spPr>
          <a:xfrm>
            <a:off x="3200400" y="914400"/>
            <a:ext cx="44640" cy="29221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95" name="Text 8"/>
          <p:cNvSpPr/>
          <p:nvPr/>
        </p:nvSpPr>
        <p:spPr>
          <a:xfrm>
            <a:off x="333180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800" b="1" u="none" strike="noStrike">
                <a:solidFill>
                  <a:srgbClr val="00d4ff"/>
                </a:solidFill>
                <a:effectLst/>
                <a:uFillTx/>
                <a:latin typeface="Calibri"/>
                <a:ea typeface="DejaVu Sans"/>
              </a:rPr>
              <a:t>Behavioral (behawioralny)</a:t>
            </a:r>
            <a:endParaRPr lang="pl-PL" sz="1800" b="0" u="none" strike="noStrike">
              <a:solidFill>
                <a:srgbClr val="ffffff"/>
              </a:solidFill>
              <a:effectLst/>
              <a:uFillTx/>
              <a:latin typeface="Arial"/>
            </a:endParaRPr>
          </a:p>
        </p:txBody>
      </p:sp>
      <p:sp>
        <p:nvSpPr>
          <p:cNvPr id="2796" name="Text 9"/>
          <p:cNvSpPr/>
          <p:nvPr/>
        </p:nvSpPr>
        <p:spPr>
          <a:xfrm>
            <a:off x="3383280" y="1533600"/>
            <a:ext cx="2513520" cy="1825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Użyteczność. Poziom funkcjonalny, jak produkt działa, jak łatwo się go używa.</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Funkcjonalność: czy robi co obiecuje?</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Łatwość użycia: intuicyjność, efektywność</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Feedback: informacja o akcjach</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algn="ctr" defTabSz="914400">
              <a:lnSpc>
                <a:spcPct val="100000"/>
              </a:lnSpc>
              <a:tabLst>
                <a:tab algn="l" pos="0"/>
              </a:tabLst>
            </a:pPr>
            <a:r>
              <a:rPr lang="pl-PL" sz="1400" b="1" i="1" u="sng" strike="noStrike">
                <a:solidFill>
                  <a:srgbClr val="ccddee"/>
                </a:solidFill>
                <a:effectLst/>
                <a:uFillTx/>
                <a:latin typeface="Calibri"/>
                <a:ea typeface="DejaVu Sans"/>
              </a:rPr>
              <a:t>Pytanie</a:t>
            </a:r>
            <a:r>
              <a:rPr lang="pl-PL" sz="1400" b="1" i="1" u="none" strike="noStrike">
                <a:solidFill>
                  <a:srgbClr val="ccddee"/>
                </a:solidFill>
                <a:effectLst/>
                <a:uFillTx/>
                <a:latin typeface="Calibri"/>
                <a:ea typeface="DejaVu Sans"/>
              </a:rPr>
              <a:t>: Czy to działa dobrze?</a:t>
            </a:r>
            <a:endParaRPr lang="pl-PL" sz="1400" b="0" u="none" strike="noStrike">
              <a:solidFill>
                <a:srgbClr val="ffffff"/>
              </a:solidFill>
              <a:effectLst/>
              <a:uFillTx/>
              <a:latin typeface="Arial"/>
            </a:endParaRPr>
          </a:p>
        </p:txBody>
      </p:sp>
      <p:sp>
        <p:nvSpPr>
          <p:cNvPr id="2797" name="Shape 10"/>
          <p:cNvSpPr/>
          <p:nvPr/>
        </p:nvSpPr>
        <p:spPr>
          <a:xfrm>
            <a:off x="6080760" y="914400"/>
            <a:ext cx="2742120" cy="2922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98" name="Shape 11"/>
          <p:cNvSpPr/>
          <p:nvPr/>
        </p:nvSpPr>
        <p:spPr>
          <a:xfrm>
            <a:off x="6080760" y="914400"/>
            <a:ext cx="44640" cy="29221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799" name="Text 12"/>
          <p:cNvSpPr/>
          <p:nvPr/>
        </p:nvSpPr>
        <p:spPr>
          <a:xfrm>
            <a:off x="6212160" y="97848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800" b="1" u="none" strike="noStrike">
                <a:solidFill>
                  <a:srgbClr val="ff2d78"/>
                </a:solidFill>
                <a:effectLst/>
                <a:uFillTx/>
                <a:latin typeface="Calibri"/>
                <a:ea typeface="DejaVu Sans"/>
              </a:rPr>
              <a:t>Reflective (refleksyjny)</a:t>
            </a:r>
            <a:endParaRPr lang="pl-PL" sz="1800" b="0" u="none" strike="noStrike">
              <a:solidFill>
                <a:srgbClr val="ffffff"/>
              </a:solidFill>
              <a:effectLst/>
              <a:uFillTx/>
              <a:latin typeface="Arial"/>
            </a:endParaRPr>
          </a:p>
        </p:txBody>
      </p:sp>
      <p:sp>
        <p:nvSpPr>
          <p:cNvPr id="2800" name="Text 13"/>
          <p:cNvSpPr/>
          <p:nvPr/>
        </p:nvSpPr>
        <p:spPr>
          <a:xfrm>
            <a:off x="6263640" y="1533600"/>
            <a:ext cx="2513520" cy="213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rgbClr val="ccddee"/>
                </a:solidFill>
                <a:effectLst/>
                <a:uFillTx/>
                <a:latin typeface="Calibri"/>
                <a:ea typeface="DejaVu Sans"/>
              </a:rPr>
              <a:t>Znaczenie. Poziom refleksyjny, osobista wartość, wspomnienia, tożsamość.</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Tożsamość osobista: czy pasuje do mnie?</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Wspomnienia: emocjonalne powiązania</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rgbClr val="ccddee"/>
                </a:solidFill>
                <a:effectLst/>
                <a:uFillTx/>
                <a:latin typeface="Calibri"/>
                <a:ea typeface="DejaVu Sans"/>
              </a:rPr>
              <a:t>• Status: kulturowe i społeczne znaczenie</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algn="ctr" defTabSz="914400">
              <a:lnSpc>
                <a:spcPct val="100000"/>
              </a:lnSpc>
              <a:tabLst>
                <a:tab algn="l" pos="0"/>
              </a:tabLst>
            </a:pPr>
            <a:r>
              <a:rPr lang="pl-PL" sz="1400" b="1" i="1" u="sng" strike="noStrike">
                <a:solidFill>
                  <a:srgbClr val="ccddee"/>
                </a:solidFill>
                <a:effectLst/>
                <a:uFillTx/>
                <a:latin typeface="Calibri"/>
                <a:ea typeface="DejaVu Sans"/>
              </a:rPr>
              <a:t>Pytanie</a:t>
            </a:r>
            <a:r>
              <a:rPr lang="pl-PL" sz="1400" b="1" i="1" u="none" strike="noStrike">
                <a:solidFill>
                  <a:srgbClr val="ccddee"/>
                </a:solidFill>
                <a:effectLst/>
                <a:uFillTx/>
                <a:latin typeface="Calibri"/>
                <a:ea typeface="DejaVu Sans"/>
              </a:rPr>
              <a:t>: Czy to pasuje do mnie?</a:t>
            </a:r>
            <a:endParaRPr lang="pl-PL" sz="1400" b="0" u="none" strike="noStrike">
              <a:solidFill>
                <a:srgbClr val="ffffff"/>
              </a:solidFill>
              <a:effectLst/>
              <a:uFillTx/>
              <a:latin typeface="Arial"/>
            </a:endParaRPr>
          </a:p>
        </p:txBody>
      </p:sp>
      <p:sp>
        <p:nvSpPr>
          <p:cNvPr id="2801" name="Shape 14"/>
          <p:cNvSpPr/>
          <p:nvPr/>
        </p:nvSpPr>
        <p:spPr>
          <a:xfrm>
            <a:off x="320040" y="4094640"/>
            <a:ext cx="8502840" cy="568440"/>
          </a:xfrm>
          <a:prstGeom prst="rect">
            <a:avLst/>
          </a:prstGeom>
          <a:solidFill>
            <a:srgbClr val="0a1929"/>
          </a:solidFill>
          <a:ln w="12600">
            <a:solidFill>
              <a:srgbClr val="1de9b6"/>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02" name="Text 15"/>
          <p:cNvSpPr/>
          <p:nvPr/>
        </p:nvSpPr>
        <p:spPr>
          <a:xfrm>
            <a:off x="457200" y="4136760"/>
            <a:ext cx="8228520" cy="48996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lang="pl-PL" sz="1200" b="1" u="none" strike="noStrike">
                <a:solidFill>
                  <a:srgbClr val="ccddee"/>
                </a:solidFill>
                <a:effectLst/>
                <a:uFillTx/>
                <a:latin typeface="Calibri"/>
                <a:ea typeface="DejaVu Sans"/>
              </a:rPr>
              <a:t>Model Don Normana</a:t>
            </a:r>
            <a:r>
              <a:rPr lang="pl-PL" sz="1200" b="0" u="none" strike="noStrike">
                <a:solidFill>
                  <a:srgbClr val="ccddee"/>
                </a:solidFill>
                <a:effectLst/>
                <a:uFillTx/>
                <a:latin typeface="Calibri"/>
                <a:ea typeface="DejaVu Sans"/>
              </a:rPr>
              <a:t>: </a:t>
            </a:r>
            <a:r>
              <a:rPr lang="pl-PL" sz="1200" b="0" u="sng" strike="noStrike">
                <a:solidFill>
                  <a:srgbClr val="ccddee"/>
                </a:solidFill>
                <a:effectLst/>
                <a:uFillTx/>
                <a:latin typeface="Calibri"/>
                <a:ea typeface="DejaVu Sans"/>
              </a:rPr>
              <a:t>Visceral</a:t>
            </a:r>
            <a:r>
              <a:rPr lang="pl-PL" sz="1200" b="0" u="none" strike="noStrike">
                <a:solidFill>
                  <a:srgbClr val="ccddee"/>
                </a:solidFill>
                <a:effectLst/>
                <a:uFillTx/>
                <a:latin typeface="Calibri"/>
                <a:ea typeface="DejaVu Sans"/>
              </a:rPr>
              <a:t> przyciąga, </a:t>
            </a:r>
            <a:r>
              <a:rPr lang="pl-PL" sz="1200" b="0" u="sng" strike="noStrike">
                <a:solidFill>
                  <a:srgbClr val="ccddee"/>
                </a:solidFill>
                <a:effectLst/>
                <a:uFillTx/>
                <a:latin typeface="Calibri"/>
                <a:ea typeface="DejaVu Sans"/>
              </a:rPr>
              <a:t>Behavioral</a:t>
            </a:r>
            <a:r>
              <a:rPr lang="pl-PL" sz="1200" b="0" u="none" strike="noStrike">
                <a:solidFill>
                  <a:srgbClr val="ccddee"/>
                </a:solidFill>
                <a:effectLst/>
                <a:uFillTx/>
                <a:latin typeface="Calibri"/>
                <a:ea typeface="DejaVu Sans"/>
              </a:rPr>
              <a:t> utrzymuje, </a:t>
            </a:r>
            <a:r>
              <a:rPr lang="pl-PL" sz="1200" b="0" u="sng" strike="noStrike">
                <a:solidFill>
                  <a:srgbClr val="ccddee"/>
                </a:solidFill>
                <a:effectLst/>
                <a:uFillTx/>
                <a:latin typeface="Calibri"/>
                <a:ea typeface="DejaVu Sans"/>
              </a:rPr>
              <a:t>Reflective</a:t>
            </a:r>
            <a:r>
              <a:rPr lang="pl-PL" sz="1200" b="0" u="none" strike="noStrike">
                <a:solidFill>
                  <a:srgbClr val="ccddee"/>
                </a:solidFill>
                <a:effectLst/>
                <a:uFillTx/>
                <a:latin typeface="Calibri"/>
                <a:ea typeface="DejaVu Sans"/>
              </a:rPr>
              <a:t> tworzy lojalność. </a:t>
            </a:r>
            <a:endParaRPr lang="pl-PL" sz="1200" b="0" u="none" strike="noStrike">
              <a:solidFill>
                <a:srgbClr val="ffffff"/>
              </a:solidFill>
              <a:effectLst/>
              <a:uFillTx/>
              <a:latin typeface="Arial"/>
            </a:endParaRPr>
          </a:p>
          <a:p>
            <a:pPr defTabSz="914400">
              <a:lnSpc>
                <a:spcPts val="1599"/>
              </a:lnSpc>
              <a:tabLst>
                <a:tab algn="l" pos="0"/>
              </a:tabLst>
            </a:pPr>
            <a:r>
              <a:rPr lang="pl-PL" sz="1200" b="0" u="none" strike="noStrike">
                <a:solidFill>
                  <a:srgbClr val="ccddee"/>
                </a:solidFill>
                <a:effectLst/>
                <a:uFillTx/>
                <a:latin typeface="Calibri"/>
                <a:ea typeface="DejaVu Sans"/>
              </a:rPr>
              <a:t>Najlepsze produkty (jak iPhone, Instagram, Duolingo) doskonale działają na wszystkich trzech poziomach jednocześnie.</a:t>
            </a:r>
            <a:endParaRPr lang="pl-PL" sz="1200" b="0" u="none" strike="noStrike">
              <a:solidFill>
                <a:srgbClr val="ffffff"/>
              </a:solidFill>
              <a:effectLst/>
              <a:uFillTx/>
              <a:latin typeface="Arial"/>
            </a:endParaRPr>
          </a:p>
        </p:txBody>
      </p:sp>
      <p:sp>
        <p:nvSpPr>
          <p:cNvPr id="2803" name="Text 18"/>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35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804" name="Grupa 38"/>
          <p:cNvGrpSpPr/>
          <p:nvPr/>
        </p:nvGrpSpPr>
        <p:grpSpPr>
          <a:xfrm>
            <a:off x="-2520" y="4884840"/>
            <a:ext cx="9145440" cy="259200"/>
            <a:chOff x="-2520" y="4884840"/>
            <a:chExt cx="9145440" cy="259200"/>
          </a:xfrm>
        </p:grpSpPr>
        <p:sp>
          <p:nvSpPr>
            <p:cNvPr id="2805"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06"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807" name="Grupa 41"/>
            <p:cNvGrpSpPr/>
            <p:nvPr/>
          </p:nvGrpSpPr>
          <p:grpSpPr>
            <a:xfrm>
              <a:off x="-2520" y="5099400"/>
              <a:ext cx="9145440" cy="44640"/>
              <a:chOff x="-2520" y="5099400"/>
              <a:chExt cx="9145440" cy="44640"/>
            </a:xfrm>
          </p:grpSpPr>
          <p:sp>
            <p:nvSpPr>
              <p:cNvPr id="2808"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09"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0"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1"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2"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3"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4"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5"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6"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7"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8"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19"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0"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1"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2"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3"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4"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5"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6"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7"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8"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29"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0"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1"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2"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3"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4"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5"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6"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7"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8"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39"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40"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41"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42"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43"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44" name="Shape 52"/>
              <p:cNvSpPr/>
              <p:nvPr/>
            </p:nvSpPr>
            <p:spPr>
              <a:xfrm>
                <a:off x="715644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45"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46"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47"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48"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49"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50"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51"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52"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53"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854" name="Shape 0"/>
          <p:cNvSpPr/>
          <p:nvPr/>
        </p:nvSpPr>
        <p:spPr>
          <a:xfrm>
            <a:off x="320040" y="255960"/>
            <a:ext cx="53640" cy="50184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55"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Mikrointerakcje i Delight w UX</a:t>
            </a:r>
            <a:endParaRPr lang="pl-PL" sz="2200" b="0" u="none" strike="noStrike">
              <a:solidFill>
                <a:srgbClr val="ffffff"/>
              </a:solidFill>
              <a:effectLst/>
              <a:uFillTx/>
              <a:latin typeface="Arial"/>
            </a:endParaRPr>
          </a:p>
        </p:txBody>
      </p:sp>
      <p:sp>
        <p:nvSpPr>
          <p:cNvPr id="2856" name="Shape 2"/>
          <p:cNvSpPr/>
          <p:nvPr/>
        </p:nvSpPr>
        <p:spPr>
          <a:xfrm>
            <a:off x="320040" y="914400"/>
            <a:ext cx="4068000" cy="21020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57" name="Shape 3"/>
          <p:cNvSpPr/>
          <p:nvPr/>
        </p:nvSpPr>
        <p:spPr>
          <a:xfrm>
            <a:off x="320040" y="914400"/>
            <a:ext cx="44640" cy="210204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58" name="Text 4"/>
          <p:cNvSpPr/>
          <p:nvPr/>
        </p:nvSpPr>
        <p:spPr>
          <a:xfrm>
            <a:off x="429840" y="949680"/>
            <a:ext cx="39124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1" u="none" strike="noStrike">
                <a:solidFill>
                  <a:srgbClr val="1de9b6"/>
                </a:solidFill>
                <a:effectLst/>
                <a:uFillTx/>
                <a:latin typeface="Calibri"/>
                <a:ea typeface="DejaVu Sans"/>
              </a:rPr>
              <a:t>Znaczenie mikrointerakcji</a:t>
            </a:r>
            <a:endParaRPr lang="pl-PL" sz="1400" b="0" u="none" strike="noStrike">
              <a:solidFill>
                <a:srgbClr val="ffffff"/>
              </a:solidFill>
              <a:effectLst/>
              <a:uFillTx/>
              <a:latin typeface="Arial"/>
            </a:endParaRPr>
          </a:p>
        </p:txBody>
      </p:sp>
      <p:sp>
        <p:nvSpPr>
          <p:cNvPr id="2859" name="Text 5"/>
          <p:cNvSpPr/>
          <p:nvPr/>
        </p:nvSpPr>
        <p:spPr>
          <a:xfrm>
            <a:off x="457200" y="1243440"/>
            <a:ext cx="3885120" cy="1717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Mikrointerakcje to małe animacje i efekty, które wzbogacają doświadczenie. Tworzą momenty 'delight' - radości z użytkowania.</a:t>
            </a:r>
            <a:endParaRPr lang="pl-PL" sz="1200" b="0" u="none" strike="noStrike">
              <a:solidFill>
                <a:srgbClr val="ffffff"/>
              </a:solidFill>
              <a:effectLst/>
              <a:uFillTx/>
              <a:latin typeface="Arial"/>
            </a:endParaRPr>
          </a:p>
          <a:p>
            <a:pPr defTabSz="914400">
              <a:lnSpc>
                <a:spcPct val="100000"/>
              </a:lnSpc>
              <a:tabLst>
                <a:tab algn="l" pos="0"/>
              </a:tabLst>
            </a:pP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Przykłady:</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Pulsowanie serca po lajku (Instagram)</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Pull-to-refresh z animacją odświeżania</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Checkmark po zakończeniu zadania</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Kreatywne animacje stanów ładowania</a:t>
            </a:r>
            <a:endParaRPr lang="pl-PL" sz="1200" b="0" u="none" strike="noStrike">
              <a:solidFill>
                <a:srgbClr val="ffffff"/>
              </a:solidFill>
              <a:effectLst/>
              <a:uFillTx/>
              <a:latin typeface="Arial"/>
            </a:endParaRPr>
          </a:p>
        </p:txBody>
      </p:sp>
      <p:sp>
        <p:nvSpPr>
          <p:cNvPr id="2860" name="Shape 6"/>
          <p:cNvSpPr/>
          <p:nvPr/>
        </p:nvSpPr>
        <p:spPr>
          <a:xfrm>
            <a:off x="320040" y="3144960"/>
            <a:ext cx="4068000" cy="867600"/>
          </a:xfrm>
          <a:prstGeom prst="rect">
            <a:avLst/>
          </a:prstGeom>
          <a:solidFill>
            <a:srgbClr val="0a1929"/>
          </a:solidFill>
          <a:ln w="12600">
            <a:solidFill>
              <a:srgbClr val="1de9b6"/>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61" name="Text 7"/>
          <p:cNvSpPr/>
          <p:nvPr/>
        </p:nvSpPr>
        <p:spPr>
          <a:xfrm>
            <a:off x="457200" y="3190680"/>
            <a:ext cx="37936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1de9b6"/>
                </a:solidFill>
                <a:effectLst/>
                <a:uFillTx/>
                <a:latin typeface="Calibri"/>
                <a:ea typeface="DejaVu Sans"/>
              </a:rPr>
              <a:t>Dlaczego działają?</a:t>
            </a:r>
            <a:endParaRPr lang="pl-PL" sz="1400" b="0" u="none" strike="noStrike">
              <a:solidFill>
                <a:srgbClr val="ffffff"/>
              </a:solidFill>
              <a:effectLst/>
              <a:uFillTx/>
              <a:latin typeface="Arial"/>
            </a:endParaRPr>
          </a:p>
        </p:txBody>
      </p:sp>
      <p:sp>
        <p:nvSpPr>
          <p:cNvPr id="2862" name="Text 8"/>
          <p:cNvSpPr/>
          <p:nvPr/>
        </p:nvSpPr>
        <p:spPr>
          <a:xfrm>
            <a:off x="457200" y="3456000"/>
            <a:ext cx="3793680" cy="501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chemeClr val="lt1">
                    <a:lumMod val="85000"/>
                  </a:schemeClr>
                </a:solidFill>
                <a:effectLst/>
                <a:uFillTx/>
                <a:latin typeface="Calibri"/>
                <a:ea typeface="DejaVu Sans"/>
              </a:rPr>
              <a:t>Aktywują system nagrody w mózgu (dopamina), tworzą pozytywne skojarzenia z produktem, zwiększają zaangażowanie i budują lojalność użytkowników.</a:t>
            </a:r>
            <a:endParaRPr lang="pl-PL" sz="1100" b="0" u="none" strike="noStrike">
              <a:solidFill>
                <a:srgbClr val="ffffff"/>
              </a:solidFill>
              <a:effectLst/>
              <a:uFillTx/>
              <a:latin typeface="Arial"/>
            </a:endParaRPr>
          </a:p>
        </p:txBody>
      </p:sp>
      <p:sp>
        <p:nvSpPr>
          <p:cNvPr id="2863" name="Shape 9"/>
          <p:cNvSpPr/>
          <p:nvPr/>
        </p:nvSpPr>
        <p:spPr>
          <a:xfrm>
            <a:off x="4754880" y="914400"/>
            <a:ext cx="4189320" cy="3813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64" name="Shape 10"/>
          <p:cNvSpPr/>
          <p:nvPr/>
        </p:nvSpPr>
        <p:spPr>
          <a:xfrm>
            <a:off x="4754880" y="914400"/>
            <a:ext cx="44640" cy="3813120"/>
          </a:xfrm>
          <a:prstGeom prst="rect">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65" name="Text 11"/>
          <p:cNvSpPr/>
          <p:nvPr/>
        </p:nvSpPr>
        <p:spPr>
          <a:xfrm>
            <a:off x="4892040" y="965880"/>
            <a:ext cx="37936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Zasady projektowania mikrointerakcji</a:t>
            </a:r>
            <a:endParaRPr lang="pl-PL" sz="1400" b="0" u="none" strike="noStrike">
              <a:solidFill>
                <a:srgbClr val="ffffff"/>
              </a:solidFill>
              <a:effectLst/>
              <a:uFillTx/>
              <a:latin typeface="Arial"/>
            </a:endParaRPr>
          </a:p>
        </p:txBody>
      </p:sp>
      <p:sp>
        <p:nvSpPr>
          <p:cNvPr id="2866" name="Shape 12"/>
          <p:cNvSpPr/>
          <p:nvPr/>
        </p:nvSpPr>
        <p:spPr>
          <a:xfrm>
            <a:off x="4892040" y="1537200"/>
            <a:ext cx="218520" cy="21852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67" name="Text 13"/>
          <p:cNvSpPr/>
          <p:nvPr/>
        </p:nvSpPr>
        <p:spPr>
          <a:xfrm>
            <a:off x="4892040" y="1537200"/>
            <a:ext cx="218520" cy="218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1" u="none" strike="noStrike">
                <a:solidFill>
                  <a:srgbClr val="0d1b2a"/>
                </a:solidFill>
                <a:effectLst/>
                <a:uFillTx/>
                <a:latin typeface="Calibri"/>
                <a:ea typeface="DejaVu Sans"/>
              </a:rPr>
              <a:t>1</a:t>
            </a:r>
            <a:endParaRPr lang="pl-PL" sz="1050" b="0" u="none" strike="noStrike">
              <a:solidFill>
                <a:srgbClr val="ffffff"/>
              </a:solidFill>
              <a:effectLst/>
              <a:uFillTx/>
              <a:latin typeface="Arial"/>
            </a:endParaRPr>
          </a:p>
        </p:txBody>
      </p:sp>
      <p:sp>
        <p:nvSpPr>
          <p:cNvPr id="2868" name="Text 14"/>
          <p:cNvSpPr/>
          <p:nvPr/>
        </p:nvSpPr>
        <p:spPr>
          <a:xfrm>
            <a:off x="5193720" y="1407600"/>
            <a:ext cx="351936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Spójność</a:t>
            </a:r>
            <a:endParaRPr lang="pl-PL" sz="1400" b="0" u="none" strike="noStrike">
              <a:solidFill>
                <a:srgbClr val="ffffff"/>
              </a:solidFill>
              <a:effectLst/>
              <a:uFillTx/>
              <a:latin typeface="Arial"/>
            </a:endParaRPr>
          </a:p>
        </p:txBody>
      </p:sp>
      <p:sp>
        <p:nvSpPr>
          <p:cNvPr id="2869" name="Text 15"/>
          <p:cNvSpPr/>
          <p:nvPr/>
        </p:nvSpPr>
        <p:spPr>
          <a:xfrm>
            <a:off x="5193720" y="1591200"/>
            <a:ext cx="361800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chemeClr val="lt1">
                    <a:lumMod val="85000"/>
                  </a:schemeClr>
                </a:solidFill>
                <a:effectLst/>
                <a:uFillTx/>
                <a:latin typeface="Calibri"/>
                <a:ea typeface="DejaVu Sans"/>
              </a:rPr>
              <a:t>Mikrointerakcje muszą być spójne z językiem wizualnym marki.</a:t>
            </a:r>
            <a:endParaRPr lang="pl-PL" sz="1100" b="0" u="none" strike="noStrike">
              <a:solidFill>
                <a:srgbClr val="ffffff"/>
              </a:solidFill>
              <a:effectLst/>
              <a:uFillTx/>
              <a:latin typeface="Arial"/>
            </a:endParaRPr>
          </a:p>
        </p:txBody>
      </p:sp>
      <p:sp>
        <p:nvSpPr>
          <p:cNvPr id="2870" name="Shape 16"/>
          <p:cNvSpPr/>
          <p:nvPr/>
        </p:nvSpPr>
        <p:spPr>
          <a:xfrm>
            <a:off x="4892040" y="2067480"/>
            <a:ext cx="218520" cy="21852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71" name="Text 17"/>
          <p:cNvSpPr/>
          <p:nvPr/>
        </p:nvSpPr>
        <p:spPr>
          <a:xfrm>
            <a:off x="4892040" y="2067480"/>
            <a:ext cx="218520" cy="218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1" u="none" strike="noStrike">
                <a:solidFill>
                  <a:srgbClr val="0d1b2a"/>
                </a:solidFill>
                <a:effectLst/>
                <a:uFillTx/>
                <a:latin typeface="Calibri"/>
                <a:ea typeface="DejaVu Sans"/>
              </a:rPr>
              <a:t>2</a:t>
            </a:r>
            <a:endParaRPr lang="pl-PL" sz="1050" b="0" u="none" strike="noStrike">
              <a:solidFill>
                <a:srgbClr val="ffffff"/>
              </a:solidFill>
              <a:effectLst/>
              <a:uFillTx/>
              <a:latin typeface="Arial"/>
            </a:endParaRPr>
          </a:p>
        </p:txBody>
      </p:sp>
      <p:sp>
        <p:nvSpPr>
          <p:cNvPr id="2872" name="Text 18"/>
          <p:cNvSpPr/>
          <p:nvPr/>
        </p:nvSpPr>
        <p:spPr>
          <a:xfrm>
            <a:off x="5193720" y="1973880"/>
            <a:ext cx="351936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Subtelność</a:t>
            </a:r>
            <a:endParaRPr lang="pl-PL" sz="1400" b="0" u="none" strike="noStrike">
              <a:solidFill>
                <a:srgbClr val="ffffff"/>
              </a:solidFill>
              <a:effectLst/>
              <a:uFillTx/>
              <a:latin typeface="Arial"/>
            </a:endParaRPr>
          </a:p>
        </p:txBody>
      </p:sp>
      <p:sp>
        <p:nvSpPr>
          <p:cNvPr id="2873" name="Text 19"/>
          <p:cNvSpPr/>
          <p:nvPr/>
        </p:nvSpPr>
        <p:spPr>
          <a:xfrm>
            <a:off x="5193720" y="2150280"/>
            <a:ext cx="361800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chemeClr val="lt1">
                    <a:lumMod val="85000"/>
                  </a:schemeClr>
                </a:solidFill>
                <a:effectLst/>
                <a:uFillTx/>
                <a:latin typeface="Calibri"/>
                <a:ea typeface="DejaVu Sans"/>
              </a:rPr>
              <a:t>Wzbogacają, nie dominują. Animacje: 200–500ms, nie dłużej.</a:t>
            </a:r>
            <a:endParaRPr lang="pl-PL" sz="1100" b="0" u="none" strike="noStrike">
              <a:solidFill>
                <a:srgbClr val="ffffff"/>
              </a:solidFill>
              <a:effectLst/>
              <a:uFillTx/>
              <a:latin typeface="Arial"/>
            </a:endParaRPr>
          </a:p>
        </p:txBody>
      </p:sp>
      <p:sp>
        <p:nvSpPr>
          <p:cNvPr id="2874" name="Shape 20"/>
          <p:cNvSpPr/>
          <p:nvPr/>
        </p:nvSpPr>
        <p:spPr>
          <a:xfrm>
            <a:off x="4892040" y="2648160"/>
            <a:ext cx="218520" cy="21852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75" name="Text 21"/>
          <p:cNvSpPr/>
          <p:nvPr/>
        </p:nvSpPr>
        <p:spPr>
          <a:xfrm>
            <a:off x="4892040" y="2648160"/>
            <a:ext cx="218520" cy="218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1" u="none" strike="noStrike">
                <a:solidFill>
                  <a:srgbClr val="0d1b2a"/>
                </a:solidFill>
                <a:effectLst/>
                <a:uFillTx/>
                <a:latin typeface="Calibri"/>
                <a:ea typeface="DejaVu Sans"/>
              </a:rPr>
              <a:t>3</a:t>
            </a:r>
            <a:endParaRPr lang="pl-PL" sz="1050" b="0" u="none" strike="noStrike">
              <a:solidFill>
                <a:srgbClr val="ffffff"/>
              </a:solidFill>
              <a:effectLst/>
              <a:uFillTx/>
              <a:latin typeface="Arial"/>
            </a:endParaRPr>
          </a:p>
        </p:txBody>
      </p:sp>
      <p:sp>
        <p:nvSpPr>
          <p:cNvPr id="2876" name="Text 22"/>
          <p:cNvSpPr/>
          <p:nvPr/>
        </p:nvSpPr>
        <p:spPr>
          <a:xfrm>
            <a:off x="5193720" y="2532960"/>
            <a:ext cx="351936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Celowość</a:t>
            </a:r>
            <a:endParaRPr lang="pl-PL" sz="1400" b="0" u="none" strike="noStrike">
              <a:solidFill>
                <a:srgbClr val="ffffff"/>
              </a:solidFill>
              <a:effectLst/>
              <a:uFillTx/>
              <a:latin typeface="Arial"/>
            </a:endParaRPr>
          </a:p>
        </p:txBody>
      </p:sp>
      <p:sp>
        <p:nvSpPr>
          <p:cNvPr id="2877" name="Text 23"/>
          <p:cNvSpPr/>
          <p:nvPr/>
        </p:nvSpPr>
        <p:spPr>
          <a:xfrm>
            <a:off x="5193720" y="2766960"/>
            <a:ext cx="377784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chemeClr val="lt1">
                    <a:lumMod val="85000"/>
                  </a:schemeClr>
                </a:solidFill>
                <a:effectLst/>
                <a:uFillTx/>
                <a:latin typeface="Calibri"/>
                <a:ea typeface="DejaVu Sans"/>
              </a:rPr>
              <a:t>Każda ma cel: informować, potwierdzać lub bawić. </a:t>
            </a:r>
            <a:br>
              <a:rPr sz="1100"/>
            </a:br>
            <a:r>
              <a:rPr lang="pl-PL" sz="1100" b="0" u="none" strike="noStrike">
                <a:solidFill>
                  <a:schemeClr val="lt1">
                    <a:lumMod val="85000"/>
                  </a:schemeClr>
                </a:solidFill>
                <a:effectLst/>
                <a:uFillTx/>
                <a:latin typeface="Calibri"/>
                <a:ea typeface="DejaVu Sans"/>
              </a:rPr>
              <a:t>Bez sensu = spam.</a:t>
            </a:r>
            <a:endParaRPr lang="pl-PL" sz="1100" b="0" u="none" strike="noStrike">
              <a:solidFill>
                <a:srgbClr val="ffffff"/>
              </a:solidFill>
              <a:effectLst/>
              <a:uFillTx/>
              <a:latin typeface="Arial"/>
            </a:endParaRPr>
          </a:p>
        </p:txBody>
      </p:sp>
      <p:sp>
        <p:nvSpPr>
          <p:cNvPr id="2878" name="Shape 24"/>
          <p:cNvSpPr/>
          <p:nvPr/>
        </p:nvSpPr>
        <p:spPr>
          <a:xfrm>
            <a:off x="4892040" y="3308400"/>
            <a:ext cx="218520" cy="21852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79" name="Text 25"/>
          <p:cNvSpPr/>
          <p:nvPr/>
        </p:nvSpPr>
        <p:spPr>
          <a:xfrm>
            <a:off x="4892040" y="3308400"/>
            <a:ext cx="218520" cy="218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1" u="none" strike="noStrike">
                <a:solidFill>
                  <a:srgbClr val="0d1b2a"/>
                </a:solidFill>
                <a:effectLst/>
                <a:uFillTx/>
                <a:latin typeface="Calibri"/>
                <a:ea typeface="DejaVu Sans"/>
              </a:rPr>
              <a:t>4</a:t>
            </a:r>
            <a:endParaRPr lang="pl-PL" sz="1050" b="0" u="none" strike="noStrike">
              <a:solidFill>
                <a:srgbClr val="ffffff"/>
              </a:solidFill>
              <a:effectLst/>
              <a:uFillTx/>
              <a:latin typeface="Arial"/>
            </a:endParaRPr>
          </a:p>
        </p:txBody>
      </p:sp>
      <p:sp>
        <p:nvSpPr>
          <p:cNvPr id="2880" name="Text 26"/>
          <p:cNvSpPr/>
          <p:nvPr/>
        </p:nvSpPr>
        <p:spPr>
          <a:xfrm>
            <a:off x="5193720" y="3164400"/>
            <a:ext cx="351936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Natychmiastowość</a:t>
            </a:r>
            <a:endParaRPr lang="pl-PL" sz="1400" b="0" u="none" strike="noStrike">
              <a:solidFill>
                <a:srgbClr val="ffffff"/>
              </a:solidFill>
              <a:effectLst/>
              <a:uFillTx/>
              <a:latin typeface="Arial"/>
            </a:endParaRPr>
          </a:p>
        </p:txBody>
      </p:sp>
      <p:sp>
        <p:nvSpPr>
          <p:cNvPr id="2881" name="Text 27"/>
          <p:cNvSpPr/>
          <p:nvPr/>
        </p:nvSpPr>
        <p:spPr>
          <a:xfrm>
            <a:off x="5193720" y="3419640"/>
            <a:ext cx="323640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chemeClr val="lt1">
                    <a:lumMod val="85000"/>
                  </a:schemeClr>
                </a:solidFill>
                <a:effectLst/>
                <a:uFillTx/>
                <a:latin typeface="Calibri"/>
                <a:ea typeface="DejaVu Sans"/>
              </a:rPr>
              <a:t>Feedback musi być natychmiastowy. </a:t>
            </a:r>
            <a:br>
              <a:rPr sz="1100"/>
            </a:br>
            <a:r>
              <a:rPr lang="pl-PL" sz="1100" b="0" u="none" strike="noStrike">
                <a:solidFill>
                  <a:schemeClr val="lt1">
                    <a:lumMod val="85000"/>
                  </a:schemeClr>
                </a:solidFill>
                <a:effectLst/>
                <a:uFillTx/>
                <a:latin typeface="Calibri"/>
                <a:ea typeface="DejaVu Sans"/>
              </a:rPr>
              <a:t>Opóźnienia powyżej 100ms są frustrujące.</a:t>
            </a:r>
            <a:endParaRPr lang="pl-PL" sz="1100" b="0" u="none" strike="noStrike">
              <a:solidFill>
                <a:srgbClr val="ffffff"/>
              </a:solidFill>
              <a:effectLst/>
              <a:uFillTx/>
              <a:latin typeface="Arial"/>
            </a:endParaRPr>
          </a:p>
        </p:txBody>
      </p:sp>
      <p:sp>
        <p:nvSpPr>
          <p:cNvPr id="2882" name="Shape 28"/>
          <p:cNvSpPr/>
          <p:nvPr/>
        </p:nvSpPr>
        <p:spPr>
          <a:xfrm>
            <a:off x="4892040" y="3925080"/>
            <a:ext cx="218520" cy="218520"/>
          </a:xfrm>
          <a:prstGeom prst="ellipse">
            <a:avLst/>
          </a:prstGeom>
          <a:solidFill>
            <a:srgbClr val="1de9b6"/>
          </a:solidFill>
          <a:ln w="12600">
            <a:solidFill>
              <a:srgbClr val="1de9b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83" name="Text 29"/>
          <p:cNvSpPr/>
          <p:nvPr/>
        </p:nvSpPr>
        <p:spPr>
          <a:xfrm>
            <a:off x="4892040" y="3932280"/>
            <a:ext cx="218520" cy="218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1" u="none" strike="noStrike">
                <a:solidFill>
                  <a:srgbClr val="0d1b2a"/>
                </a:solidFill>
                <a:effectLst/>
                <a:uFillTx/>
                <a:latin typeface="Calibri"/>
                <a:ea typeface="DejaVu Sans"/>
              </a:rPr>
              <a:t>5</a:t>
            </a:r>
            <a:endParaRPr lang="pl-PL" sz="1050" b="0" u="none" strike="noStrike">
              <a:solidFill>
                <a:srgbClr val="ffffff"/>
              </a:solidFill>
              <a:effectLst/>
              <a:uFillTx/>
              <a:latin typeface="Arial"/>
            </a:endParaRPr>
          </a:p>
        </p:txBody>
      </p:sp>
      <p:sp>
        <p:nvSpPr>
          <p:cNvPr id="2884" name="Text 30"/>
          <p:cNvSpPr/>
          <p:nvPr/>
        </p:nvSpPr>
        <p:spPr>
          <a:xfrm>
            <a:off x="5193720" y="3831480"/>
            <a:ext cx="351936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ffff"/>
                </a:solidFill>
                <a:effectLst/>
                <a:uFillTx/>
                <a:latin typeface="Calibri"/>
                <a:ea typeface="DejaVu Sans"/>
              </a:rPr>
              <a:t>Szanuj prefers-reduced-motion</a:t>
            </a:r>
            <a:endParaRPr lang="pl-PL" sz="1400" b="0" u="none" strike="noStrike">
              <a:solidFill>
                <a:srgbClr val="ffffff"/>
              </a:solidFill>
              <a:effectLst/>
              <a:uFillTx/>
              <a:latin typeface="Arial"/>
            </a:endParaRPr>
          </a:p>
        </p:txBody>
      </p:sp>
      <p:sp>
        <p:nvSpPr>
          <p:cNvPr id="2885" name="Text 31"/>
          <p:cNvSpPr/>
          <p:nvPr/>
        </p:nvSpPr>
        <p:spPr>
          <a:xfrm>
            <a:off x="5193720" y="4086720"/>
            <a:ext cx="3352680" cy="254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chemeClr val="lt1">
                    <a:lumMod val="85000"/>
                  </a:schemeClr>
                </a:solidFill>
                <a:effectLst/>
                <a:uFillTx/>
                <a:latin typeface="Calibri"/>
                <a:ea typeface="DejaVu Sans"/>
              </a:rPr>
              <a:t>Niektórzy użytkownicy nie tolerują animacji. </a:t>
            </a:r>
            <a:br>
              <a:rPr sz="1100"/>
            </a:br>
            <a:r>
              <a:rPr lang="pl-PL" sz="1100" b="0" u="none" strike="noStrike">
                <a:solidFill>
                  <a:schemeClr val="lt1">
                    <a:lumMod val="85000"/>
                  </a:schemeClr>
                </a:solidFill>
                <a:effectLst/>
                <a:uFillTx/>
                <a:latin typeface="Calibri"/>
                <a:ea typeface="DejaVu Sans"/>
              </a:rPr>
              <a:t>Zawsze sprawdzaj ten system flag.</a:t>
            </a:r>
            <a:endParaRPr lang="pl-PL" sz="1100" b="0" u="none" strike="noStrike">
              <a:solidFill>
                <a:srgbClr val="ffffff"/>
              </a:solidFill>
              <a:effectLst/>
              <a:uFillTx/>
              <a:latin typeface="Arial"/>
            </a:endParaRPr>
          </a:p>
        </p:txBody>
      </p:sp>
      <p:sp>
        <p:nvSpPr>
          <p:cNvPr id="2886" name="Shape 32"/>
          <p:cNvSpPr/>
          <p:nvPr/>
        </p:nvSpPr>
        <p:spPr>
          <a:xfrm>
            <a:off x="322920" y="4141440"/>
            <a:ext cx="4068000" cy="59328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87" name="Text 33"/>
          <p:cNvSpPr/>
          <p:nvPr/>
        </p:nvSpPr>
        <p:spPr>
          <a:xfrm>
            <a:off x="374760" y="4168800"/>
            <a:ext cx="3879000" cy="529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chemeClr val="lt1">
                    <a:lumMod val="85000"/>
                  </a:schemeClr>
                </a:solidFill>
                <a:effectLst/>
                <a:uFillTx/>
                <a:latin typeface="Calibri"/>
                <a:ea typeface="DejaVu Sans"/>
              </a:rPr>
              <a:t>Mistrzowie mikrointerakcji</a:t>
            </a:r>
            <a:r>
              <a:rPr lang="pl-PL" sz="1200" b="0" u="none" strike="noStrike">
                <a:solidFill>
                  <a:schemeClr val="lt1">
                    <a:lumMod val="85000"/>
                  </a:schemeClr>
                </a:solidFill>
                <a:effectLst/>
                <a:uFillTx/>
                <a:latin typeface="Calibri"/>
                <a:ea typeface="DejaVu Sans"/>
              </a:rPr>
              <a:t>: Instagram (serce), Slack (konfetti), Duolingo (celebracja lekcji), Apple Pay (podwójne kliknięcie).</a:t>
            </a:r>
            <a:endParaRPr lang="pl-PL" sz="1200" b="0" u="none" strike="noStrike">
              <a:solidFill>
                <a:srgbClr val="ffffff"/>
              </a:solidFill>
              <a:effectLst/>
              <a:uFillTx/>
              <a:latin typeface="Arial"/>
            </a:endParaRPr>
          </a:p>
        </p:txBody>
      </p:sp>
      <p:sp>
        <p:nvSpPr>
          <p:cNvPr id="2888" name="Text 36"/>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36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889" name="Grupa 9"/>
          <p:cNvGrpSpPr/>
          <p:nvPr/>
        </p:nvGrpSpPr>
        <p:grpSpPr>
          <a:xfrm>
            <a:off x="-2520" y="4884840"/>
            <a:ext cx="9145440" cy="259200"/>
            <a:chOff x="-2520" y="4884840"/>
            <a:chExt cx="9145440" cy="259200"/>
          </a:xfrm>
        </p:grpSpPr>
        <p:sp>
          <p:nvSpPr>
            <p:cNvPr id="2890"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891"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892" name="Grupa 12"/>
            <p:cNvGrpSpPr/>
            <p:nvPr/>
          </p:nvGrpSpPr>
          <p:grpSpPr>
            <a:xfrm>
              <a:off x="-2520" y="5099400"/>
              <a:ext cx="9145440" cy="44640"/>
              <a:chOff x="-2520" y="5099400"/>
              <a:chExt cx="9145440" cy="44640"/>
            </a:xfrm>
          </p:grpSpPr>
          <p:sp>
            <p:nvSpPr>
              <p:cNvPr id="2893"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94"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95"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96"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97"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98"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99"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0"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1"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2"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3"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4"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5"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6"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7"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8"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09"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0"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1"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2"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3"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4"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5"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6"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7"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8"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19"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0"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1"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2"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3"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4"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5"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6"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7"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8"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9"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30" name="Shape 52"/>
              <p:cNvSpPr/>
              <p:nvPr/>
            </p:nvSpPr>
            <p:spPr>
              <a:xfrm>
                <a:off x="735516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1"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2"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3"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4"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5"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6"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7"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38"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939"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40" name="Shape 1"/>
          <p:cNvSpPr/>
          <p:nvPr/>
        </p:nvSpPr>
        <p:spPr>
          <a:xfrm>
            <a:off x="0" y="1645920"/>
            <a:ext cx="108720" cy="18277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41" name="Text 2"/>
          <p:cNvSpPr/>
          <p:nvPr/>
        </p:nvSpPr>
        <p:spPr>
          <a:xfrm>
            <a:off x="914400" y="548640"/>
            <a:ext cx="7314120" cy="821880"/>
          </a:xfrm>
          <a:prstGeom prst="rect">
            <a:avLst/>
          </a:prstGeom>
          <a:noFill/>
          <a:ln w="0">
            <a:noFill/>
          </a:ln>
          <a:effectLst>
            <a:outerShdw dir="2700000" dist="35638"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00d4ff"/>
                </a:solidFill>
                <a:effectLst/>
                <a:uFillTx/>
                <a:latin typeface="Calibri"/>
                <a:ea typeface="DejaVu Sans"/>
              </a:rPr>
              <a:t>09</a:t>
            </a:r>
            <a:endParaRPr lang="pl-PL" sz="5200" b="0" u="none" strike="noStrike">
              <a:solidFill>
                <a:srgbClr val="ffffff"/>
              </a:solidFill>
              <a:effectLst/>
              <a:uFillTx/>
              <a:latin typeface="Arial"/>
            </a:endParaRPr>
          </a:p>
        </p:txBody>
      </p:sp>
      <p:sp>
        <p:nvSpPr>
          <p:cNvPr id="2942"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Hierarchia wizualna</a:t>
            </a:r>
            <a:endParaRPr lang="pl-PL" sz="2800" b="0" u="none" strike="noStrike">
              <a:solidFill>
                <a:srgbClr val="ffffff"/>
              </a:solidFill>
              <a:effectLst/>
              <a:uFillTx/>
              <a:latin typeface="Arial"/>
            </a:endParaRPr>
          </a:p>
        </p:txBody>
      </p:sp>
      <p:sp>
        <p:nvSpPr>
          <p:cNvPr id="2943"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Kierowanie uwagą użytkownika poprzez design interfejsu</a:t>
            </a:r>
            <a:endParaRPr lang="pl-PL" sz="1400" b="0" u="none" strike="noStrike">
              <a:solidFill>
                <a:srgbClr val="ffffff"/>
              </a:solidFill>
              <a:effectLst/>
              <a:uFillTx/>
              <a:latin typeface="Arial"/>
            </a:endParaRPr>
          </a:p>
        </p:txBody>
      </p:sp>
      <p:sp>
        <p:nvSpPr>
          <p:cNvPr id="2944"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37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2945" name="Grupa 30"/>
          <p:cNvGrpSpPr/>
          <p:nvPr/>
        </p:nvGrpSpPr>
        <p:grpSpPr>
          <a:xfrm>
            <a:off x="-2520" y="4884840"/>
            <a:ext cx="9145440" cy="259200"/>
            <a:chOff x="-2520" y="4884840"/>
            <a:chExt cx="9145440" cy="259200"/>
          </a:xfrm>
        </p:grpSpPr>
        <p:sp>
          <p:nvSpPr>
            <p:cNvPr id="2946"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47"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2948" name="Grupa 33"/>
            <p:cNvGrpSpPr/>
            <p:nvPr/>
          </p:nvGrpSpPr>
          <p:grpSpPr>
            <a:xfrm>
              <a:off x="-2520" y="5099400"/>
              <a:ext cx="9145440" cy="44640"/>
              <a:chOff x="-2520" y="5099400"/>
              <a:chExt cx="9145440" cy="44640"/>
            </a:xfrm>
          </p:grpSpPr>
          <p:sp>
            <p:nvSpPr>
              <p:cNvPr id="2949"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0"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1"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2"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3"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4"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5"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6"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7"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8"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9"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0"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1"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2"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3"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4"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5"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6"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7"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8"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69"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0"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1"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2"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3"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4"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5"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6"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7"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8"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79"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0"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1"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2"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3"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4"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5"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6"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87" name="Shape 52"/>
              <p:cNvSpPr/>
              <p:nvPr/>
            </p:nvSpPr>
            <p:spPr>
              <a:xfrm>
                <a:off x="755388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88"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89"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90"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91"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92"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93"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94"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2995" name="Shape 0"/>
          <p:cNvSpPr/>
          <p:nvPr/>
        </p:nvSpPr>
        <p:spPr>
          <a:xfrm>
            <a:off x="320040" y="255960"/>
            <a:ext cx="53640" cy="5018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96"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Zasady hierarchii wizualnej</a:t>
            </a:r>
            <a:endParaRPr lang="pl-PL" sz="2200" b="0" u="none" strike="noStrike">
              <a:solidFill>
                <a:srgbClr val="ffffff"/>
              </a:solidFill>
              <a:effectLst/>
              <a:uFillTx/>
              <a:latin typeface="Arial"/>
            </a:endParaRPr>
          </a:p>
        </p:txBody>
      </p:sp>
      <p:sp>
        <p:nvSpPr>
          <p:cNvPr id="2997" name="Shape 2"/>
          <p:cNvSpPr/>
          <p:nvPr/>
        </p:nvSpPr>
        <p:spPr>
          <a:xfrm>
            <a:off x="320040" y="1209600"/>
            <a:ext cx="2742120" cy="15076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998" name="Shape 3"/>
          <p:cNvSpPr/>
          <p:nvPr/>
        </p:nvSpPr>
        <p:spPr>
          <a:xfrm>
            <a:off x="320040" y="1209600"/>
            <a:ext cx="44640" cy="150768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99" name="Text 4"/>
          <p:cNvSpPr/>
          <p:nvPr/>
        </p:nvSpPr>
        <p:spPr>
          <a:xfrm>
            <a:off x="475560" y="127368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Rozmiar i skala</a:t>
            </a:r>
            <a:endParaRPr lang="pl-PL" sz="1600" b="0" u="none" strike="noStrike">
              <a:solidFill>
                <a:srgbClr val="ffffff"/>
              </a:solidFill>
              <a:effectLst/>
              <a:uFillTx/>
              <a:latin typeface="Arial"/>
            </a:endParaRPr>
          </a:p>
        </p:txBody>
      </p:sp>
      <p:sp>
        <p:nvSpPr>
          <p:cNvPr id="3000" name="Text 5"/>
          <p:cNvSpPr/>
          <p:nvPr/>
        </p:nvSpPr>
        <p:spPr>
          <a:xfrm>
            <a:off x="475560" y="1630080"/>
            <a:ext cx="2540880" cy="103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Większe elementy przyciągają więcej uwagi. Rozmiar jest najsilniejszym wskaźnikiem hierarchii.</a:t>
            </a:r>
            <a:endParaRPr lang="pl-PL" sz="1400" b="0" u="none" strike="noStrike">
              <a:solidFill>
                <a:srgbClr val="ffffff"/>
              </a:solidFill>
              <a:effectLst/>
              <a:uFillTx/>
              <a:latin typeface="Arial"/>
            </a:endParaRPr>
          </a:p>
        </p:txBody>
      </p:sp>
      <p:sp>
        <p:nvSpPr>
          <p:cNvPr id="3001" name="Shape 6"/>
          <p:cNvSpPr/>
          <p:nvPr/>
        </p:nvSpPr>
        <p:spPr>
          <a:xfrm>
            <a:off x="3200400" y="1209600"/>
            <a:ext cx="2742120" cy="15076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02" name="Shape 7"/>
          <p:cNvSpPr/>
          <p:nvPr/>
        </p:nvSpPr>
        <p:spPr>
          <a:xfrm>
            <a:off x="3200400" y="1209600"/>
            <a:ext cx="44640" cy="150768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03" name="Text 8"/>
          <p:cNvSpPr/>
          <p:nvPr/>
        </p:nvSpPr>
        <p:spPr>
          <a:xfrm>
            <a:off x="3355920" y="127368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alibri"/>
                <a:ea typeface="DejaVu Sans"/>
              </a:rPr>
              <a:t>Kolor i kontrast</a:t>
            </a:r>
            <a:endParaRPr lang="pl-PL" sz="1600" b="0" u="none" strike="noStrike">
              <a:solidFill>
                <a:srgbClr val="ffffff"/>
              </a:solidFill>
              <a:effectLst/>
              <a:uFillTx/>
              <a:latin typeface="Arial"/>
            </a:endParaRPr>
          </a:p>
        </p:txBody>
      </p:sp>
      <p:sp>
        <p:nvSpPr>
          <p:cNvPr id="3004" name="Text 9"/>
          <p:cNvSpPr/>
          <p:nvPr/>
        </p:nvSpPr>
        <p:spPr>
          <a:xfrm>
            <a:off x="3355920" y="1630080"/>
            <a:ext cx="2540880" cy="103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Jasne, nasycone kolory dominują. Wysoki kontrast przyciąga, niski spycha w tło.</a:t>
            </a:r>
            <a:endParaRPr lang="pl-PL" sz="1400" b="0" u="none" strike="noStrike">
              <a:solidFill>
                <a:srgbClr val="ffffff"/>
              </a:solidFill>
              <a:effectLst/>
              <a:uFillTx/>
              <a:latin typeface="Arial"/>
            </a:endParaRPr>
          </a:p>
        </p:txBody>
      </p:sp>
      <p:sp>
        <p:nvSpPr>
          <p:cNvPr id="3005" name="Shape 10"/>
          <p:cNvSpPr/>
          <p:nvPr/>
        </p:nvSpPr>
        <p:spPr>
          <a:xfrm>
            <a:off x="6080760" y="1209600"/>
            <a:ext cx="2742120" cy="15076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06" name="Shape 11"/>
          <p:cNvSpPr/>
          <p:nvPr/>
        </p:nvSpPr>
        <p:spPr>
          <a:xfrm>
            <a:off x="6080760" y="1209600"/>
            <a:ext cx="44640" cy="150768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07" name="Text 12"/>
          <p:cNvSpPr/>
          <p:nvPr/>
        </p:nvSpPr>
        <p:spPr>
          <a:xfrm>
            <a:off x="6236280" y="127368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e676"/>
                </a:solidFill>
                <a:effectLst/>
                <a:uFillTx/>
                <a:latin typeface="Calibri"/>
                <a:ea typeface="DejaVu Sans"/>
              </a:rPr>
              <a:t>Typografia</a:t>
            </a:r>
            <a:endParaRPr lang="pl-PL" sz="1600" b="0" u="none" strike="noStrike">
              <a:solidFill>
                <a:srgbClr val="ffffff"/>
              </a:solidFill>
              <a:effectLst/>
              <a:uFillTx/>
              <a:latin typeface="Arial"/>
            </a:endParaRPr>
          </a:p>
        </p:txBody>
      </p:sp>
      <p:sp>
        <p:nvSpPr>
          <p:cNvPr id="3008" name="Text 13"/>
          <p:cNvSpPr/>
          <p:nvPr/>
        </p:nvSpPr>
        <p:spPr>
          <a:xfrm>
            <a:off x="6236280" y="1630080"/>
            <a:ext cx="2540880" cy="103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Waga, rozmiar i styl kroju tworzą hierarchię tekstową. Bold &gt; Semibold &gt; Regular &gt; Light.</a:t>
            </a:r>
            <a:endParaRPr lang="pl-PL" sz="1400" b="0" u="none" strike="noStrike">
              <a:solidFill>
                <a:srgbClr val="ffffff"/>
              </a:solidFill>
              <a:effectLst/>
              <a:uFillTx/>
              <a:latin typeface="Arial"/>
            </a:endParaRPr>
          </a:p>
        </p:txBody>
      </p:sp>
      <p:sp>
        <p:nvSpPr>
          <p:cNvPr id="3009" name="Shape 14"/>
          <p:cNvSpPr/>
          <p:nvPr/>
        </p:nvSpPr>
        <p:spPr>
          <a:xfrm>
            <a:off x="320040" y="2873880"/>
            <a:ext cx="2742120" cy="15076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10" name="Shape 15"/>
          <p:cNvSpPr/>
          <p:nvPr/>
        </p:nvSpPr>
        <p:spPr>
          <a:xfrm>
            <a:off x="320040" y="2873880"/>
            <a:ext cx="44640" cy="150768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11" name="Text 16"/>
          <p:cNvSpPr/>
          <p:nvPr/>
        </p:nvSpPr>
        <p:spPr>
          <a:xfrm>
            <a:off x="475560" y="293796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Biała przestrzeń</a:t>
            </a:r>
            <a:endParaRPr lang="pl-PL" sz="1600" b="0" u="none" strike="noStrike">
              <a:solidFill>
                <a:srgbClr val="ffffff"/>
              </a:solidFill>
              <a:effectLst/>
              <a:uFillTx/>
              <a:latin typeface="Arial"/>
            </a:endParaRPr>
          </a:p>
        </p:txBody>
      </p:sp>
      <p:sp>
        <p:nvSpPr>
          <p:cNvPr id="3012" name="Text 17"/>
          <p:cNvSpPr/>
          <p:nvPr/>
        </p:nvSpPr>
        <p:spPr>
          <a:xfrm>
            <a:off x="475560" y="3294360"/>
            <a:ext cx="2540880" cy="103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Puste miejsce oddziela i podkreśla. Element otoczony przestrzenią wydaje się ważniejszy.</a:t>
            </a:r>
            <a:endParaRPr lang="pl-PL" sz="1400" b="0" u="none" strike="noStrike">
              <a:solidFill>
                <a:srgbClr val="ffffff"/>
              </a:solidFill>
              <a:effectLst/>
              <a:uFillTx/>
              <a:latin typeface="Arial"/>
            </a:endParaRPr>
          </a:p>
        </p:txBody>
      </p:sp>
      <p:sp>
        <p:nvSpPr>
          <p:cNvPr id="3013" name="Shape 18"/>
          <p:cNvSpPr/>
          <p:nvPr/>
        </p:nvSpPr>
        <p:spPr>
          <a:xfrm>
            <a:off x="3200400" y="2873880"/>
            <a:ext cx="2742120" cy="15076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14" name="Shape 19"/>
          <p:cNvSpPr/>
          <p:nvPr/>
        </p:nvSpPr>
        <p:spPr>
          <a:xfrm>
            <a:off x="3200400" y="2873880"/>
            <a:ext cx="44640" cy="150768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15" name="Text 20"/>
          <p:cNvSpPr/>
          <p:nvPr/>
        </p:nvSpPr>
        <p:spPr>
          <a:xfrm>
            <a:off x="3355920" y="293796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9100"/>
                </a:solidFill>
                <a:effectLst/>
                <a:uFillTx/>
                <a:latin typeface="Calibri"/>
                <a:ea typeface="DejaVu Sans"/>
              </a:rPr>
              <a:t>Bliskość / grupowanie</a:t>
            </a:r>
            <a:endParaRPr lang="pl-PL" sz="1600" b="0" u="none" strike="noStrike">
              <a:solidFill>
                <a:srgbClr val="ffffff"/>
              </a:solidFill>
              <a:effectLst/>
              <a:uFillTx/>
              <a:latin typeface="Arial"/>
            </a:endParaRPr>
          </a:p>
        </p:txBody>
      </p:sp>
      <p:sp>
        <p:nvSpPr>
          <p:cNvPr id="3016" name="Text 21"/>
          <p:cNvSpPr/>
          <p:nvPr/>
        </p:nvSpPr>
        <p:spPr>
          <a:xfrm>
            <a:off x="3355920" y="3294360"/>
            <a:ext cx="2540880" cy="103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Elementy blisko siebie tworzą relacje. Grupowanie wizualne organizuje informacje.</a:t>
            </a:r>
            <a:endParaRPr lang="pl-PL" sz="1400" b="0" u="none" strike="noStrike">
              <a:solidFill>
                <a:srgbClr val="ffffff"/>
              </a:solidFill>
              <a:effectLst/>
              <a:uFillTx/>
              <a:latin typeface="Arial"/>
            </a:endParaRPr>
          </a:p>
        </p:txBody>
      </p:sp>
      <p:sp>
        <p:nvSpPr>
          <p:cNvPr id="3017" name="Shape 22"/>
          <p:cNvSpPr/>
          <p:nvPr/>
        </p:nvSpPr>
        <p:spPr>
          <a:xfrm>
            <a:off x="6080760" y="2873880"/>
            <a:ext cx="2742120" cy="150768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18" name="Shape 23"/>
          <p:cNvSpPr/>
          <p:nvPr/>
        </p:nvSpPr>
        <p:spPr>
          <a:xfrm>
            <a:off x="6080760" y="2873880"/>
            <a:ext cx="44640" cy="150768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19" name="Text 24"/>
          <p:cNvSpPr/>
          <p:nvPr/>
        </p:nvSpPr>
        <p:spPr>
          <a:xfrm>
            <a:off x="6236280" y="2937960"/>
            <a:ext cx="254088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d600"/>
                </a:solidFill>
                <a:effectLst/>
                <a:uFillTx/>
                <a:latin typeface="Calibri"/>
                <a:ea typeface="DejaVu Sans"/>
              </a:rPr>
              <a:t>Wyrównanie</a:t>
            </a:r>
            <a:endParaRPr lang="pl-PL" sz="1600" b="0" u="none" strike="noStrike">
              <a:solidFill>
                <a:srgbClr val="ffffff"/>
              </a:solidFill>
              <a:effectLst/>
              <a:uFillTx/>
              <a:latin typeface="Arial"/>
            </a:endParaRPr>
          </a:p>
        </p:txBody>
      </p:sp>
      <p:sp>
        <p:nvSpPr>
          <p:cNvPr id="3020" name="Text 25"/>
          <p:cNvSpPr/>
          <p:nvPr/>
        </p:nvSpPr>
        <p:spPr>
          <a:xfrm>
            <a:off x="6236280" y="3294360"/>
            <a:ext cx="2540880" cy="103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ccddee"/>
                </a:solidFill>
                <a:effectLst/>
                <a:uFillTx/>
                <a:latin typeface="Calibri"/>
                <a:ea typeface="DejaVu Sans"/>
              </a:rPr>
              <a:t>Wyrównanie tworzy porządek i strukturę. Left-align to najczytelniejsza opcja dla treści.</a:t>
            </a:r>
            <a:endParaRPr lang="pl-PL" sz="1400" b="0" u="none" strike="noStrike">
              <a:solidFill>
                <a:srgbClr val="ffffff"/>
              </a:solidFill>
              <a:effectLst/>
              <a:uFillTx/>
              <a:latin typeface="Arial"/>
            </a:endParaRPr>
          </a:p>
        </p:txBody>
      </p:sp>
      <p:sp>
        <p:nvSpPr>
          <p:cNvPr id="3021" name="Text 28"/>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38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3022" name="Grupa 42"/>
          <p:cNvGrpSpPr/>
          <p:nvPr/>
        </p:nvGrpSpPr>
        <p:grpSpPr>
          <a:xfrm>
            <a:off x="-2520" y="4884840"/>
            <a:ext cx="9145440" cy="259200"/>
            <a:chOff x="-2520" y="4884840"/>
            <a:chExt cx="9145440" cy="259200"/>
          </a:xfrm>
        </p:grpSpPr>
        <p:sp>
          <p:nvSpPr>
            <p:cNvPr id="3023"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24"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025" name="Grupa 45"/>
            <p:cNvGrpSpPr/>
            <p:nvPr/>
          </p:nvGrpSpPr>
          <p:grpSpPr>
            <a:xfrm>
              <a:off x="-2520" y="5099400"/>
              <a:ext cx="9145440" cy="44640"/>
              <a:chOff x="-2520" y="5099400"/>
              <a:chExt cx="9145440" cy="44640"/>
            </a:xfrm>
          </p:grpSpPr>
          <p:sp>
            <p:nvSpPr>
              <p:cNvPr id="3026"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27"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28"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29"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0"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1"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2"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3"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4"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5"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6"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7"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8"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9"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0"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1"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2"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3"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4"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5"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6"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7"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8"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49"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0"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1"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2"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3"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4"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5"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6"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7"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8"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59"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60"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61"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62"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63"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64" name="Shape 52"/>
              <p:cNvSpPr/>
              <p:nvPr/>
            </p:nvSpPr>
            <p:spPr>
              <a:xfrm>
                <a:off x="75538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65" name="Shape 52"/>
              <p:cNvSpPr/>
              <p:nvPr/>
            </p:nvSpPr>
            <p:spPr>
              <a:xfrm>
                <a:off x="7752600" y="510048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66"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67"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68"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69"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70"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71"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072" name="Shape 0"/>
          <p:cNvSpPr/>
          <p:nvPr/>
        </p:nvSpPr>
        <p:spPr>
          <a:xfrm>
            <a:off x="320040" y="255960"/>
            <a:ext cx="53640" cy="5018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73"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Zasady Gestalt w projektowaniu mobilnym</a:t>
            </a:r>
            <a:endParaRPr lang="pl-PL" sz="2200" b="0" u="none" strike="noStrike">
              <a:solidFill>
                <a:srgbClr val="ffffff"/>
              </a:solidFill>
              <a:effectLst/>
              <a:uFillTx/>
              <a:latin typeface="Arial"/>
            </a:endParaRPr>
          </a:p>
        </p:txBody>
      </p:sp>
      <p:sp>
        <p:nvSpPr>
          <p:cNvPr id="3074" name="Shape 2"/>
          <p:cNvSpPr/>
          <p:nvPr/>
        </p:nvSpPr>
        <p:spPr>
          <a:xfrm>
            <a:off x="320040" y="1101600"/>
            <a:ext cx="2742120" cy="1580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75" name="Shape 3"/>
          <p:cNvSpPr/>
          <p:nvPr/>
        </p:nvSpPr>
        <p:spPr>
          <a:xfrm>
            <a:off x="320040" y="1101600"/>
            <a:ext cx="44640" cy="158076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76" name="Shape 4"/>
          <p:cNvSpPr/>
          <p:nvPr/>
        </p:nvSpPr>
        <p:spPr>
          <a:xfrm>
            <a:off x="483480" y="1211400"/>
            <a:ext cx="309960" cy="309960"/>
          </a:xfrm>
          <a:prstGeom prst="ellipse">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77" name="Text 5"/>
          <p:cNvSpPr/>
          <p:nvPr/>
        </p:nvSpPr>
        <p:spPr>
          <a:xfrm>
            <a:off x="483480" y="1211400"/>
            <a:ext cx="309960" cy="309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1</a:t>
            </a:r>
            <a:endParaRPr lang="pl-PL" sz="1200" b="0" u="none" strike="noStrike">
              <a:solidFill>
                <a:srgbClr val="ffffff"/>
              </a:solidFill>
              <a:effectLst/>
              <a:uFillTx/>
              <a:latin typeface="Arial"/>
            </a:endParaRPr>
          </a:p>
        </p:txBody>
      </p:sp>
      <p:sp>
        <p:nvSpPr>
          <p:cNvPr id="3078" name="Text 6"/>
          <p:cNvSpPr/>
          <p:nvPr/>
        </p:nvSpPr>
        <p:spPr>
          <a:xfrm>
            <a:off x="903960" y="1211400"/>
            <a:ext cx="21477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Podobieństwo</a:t>
            </a:r>
            <a:endParaRPr lang="pl-PL" sz="1600" b="0" u="none" strike="noStrike">
              <a:solidFill>
                <a:srgbClr val="ffffff"/>
              </a:solidFill>
              <a:effectLst/>
              <a:uFillTx/>
              <a:latin typeface="Arial"/>
            </a:endParaRPr>
          </a:p>
        </p:txBody>
      </p:sp>
      <p:sp>
        <p:nvSpPr>
          <p:cNvPr id="3079" name="Text 7"/>
          <p:cNvSpPr/>
          <p:nvPr/>
        </p:nvSpPr>
        <p:spPr>
          <a:xfrm>
            <a:off x="501840" y="1667880"/>
            <a:ext cx="2540880" cy="968040"/>
          </a:xfrm>
          <a:prstGeom prst="rect">
            <a:avLst/>
          </a:prstGeom>
          <a:noFill/>
          <a:ln w="0">
            <a:noFill/>
          </a:ln>
        </p:spPr>
        <p:style>
          <a:lnRef idx="0"/>
          <a:fillRef idx="0"/>
          <a:effectRef idx="0"/>
          <a:fontRef idx="minor"/>
        </p:style>
        <p:txBody>
          <a:bodyPr lIns="0" rIns="0" tIns="0" bIns="0" anchor="t">
            <a:noAutofit/>
          </a:bodyPr>
          <a:p>
            <a:pPr defTabSz="914400">
              <a:lnSpc>
                <a:spcPts val="1417"/>
              </a:lnSpc>
              <a:tabLst>
                <a:tab algn="l" pos="0"/>
              </a:tabLst>
            </a:pPr>
            <a:r>
              <a:rPr lang="pl-PL" sz="1400" b="0" u="none" strike="noStrike">
                <a:solidFill>
                  <a:schemeClr val="lt1">
                    <a:lumMod val="85000"/>
                  </a:schemeClr>
                </a:solidFill>
                <a:effectLst/>
                <a:uFillTx/>
                <a:latin typeface="Calibri"/>
                <a:ea typeface="DejaVu Sans"/>
              </a:rPr>
              <a:t>Elementy podobne wizualnie są grupowane. Spójne style dla podobnych funkcji. Wszystkie przyciski CTA w tym samym kolorze.</a:t>
            </a:r>
            <a:endParaRPr lang="pl-PL" sz="1400" b="0" u="none" strike="noStrike">
              <a:solidFill>
                <a:srgbClr val="ffffff"/>
              </a:solidFill>
              <a:effectLst/>
              <a:uFillTx/>
              <a:latin typeface="Arial"/>
            </a:endParaRPr>
          </a:p>
        </p:txBody>
      </p:sp>
      <p:sp>
        <p:nvSpPr>
          <p:cNvPr id="3080" name="Shape 8"/>
          <p:cNvSpPr/>
          <p:nvPr/>
        </p:nvSpPr>
        <p:spPr>
          <a:xfrm>
            <a:off x="3200400" y="1101600"/>
            <a:ext cx="2742120" cy="1580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81" name="Shape 9"/>
          <p:cNvSpPr/>
          <p:nvPr/>
        </p:nvSpPr>
        <p:spPr>
          <a:xfrm>
            <a:off x="3200400" y="1101600"/>
            <a:ext cx="44640" cy="15807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82" name="Shape 10"/>
          <p:cNvSpPr/>
          <p:nvPr/>
        </p:nvSpPr>
        <p:spPr>
          <a:xfrm>
            <a:off x="3363840" y="1211400"/>
            <a:ext cx="309960" cy="309960"/>
          </a:xfrm>
          <a:prstGeom prst="ellipse">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83" name="Text 11"/>
          <p:cNvSpPr/>
          <p:nvPr/>
        </p:nvSpPr>
        <p:spPr>
          <a:xfrm>
            <a:off x="3363840" y="1211400"/>
            <a:ext cx="309960" cy="309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2</a:t>
            </a:r>
            <a:endParaRPr lang="pl-PL" sz="1200" b="0" u="none" strike="noStrike">
              <a:solidFill>
                <a:srgbClr val="ffffff"/>
              </a:solidFill>
              <a:effectLst/>
              <a:uFillTx/>
              <a:latin typeface="Arial"/>
            </a:endParaRPr>
          </a:p>
        </p:txBody>
      </p:sp>
      <p:sp>
        <p:nvSpPr>
          <p:cNvPr id="3084" name="Text 12"/>
          <p:cNvSpPr/>
          <p:nvPr/>
        </p:nvSpPr>
        <p:spPr>
          <a:xfrm>
            <a:off x="3784320" y="1211400"/>
            <a:ext cx="21477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Bliskość</a:t>
            </a:r>
            <a:endParaRPr lang="pl-PL" sz="1600" b="0" u="none" strike="noStrike">
              <a:solidFill>
                <a:srgbClr val="ffffff"/>
              </a:solidFill>
              <a:effectLst/>
              <a:uFillTx/>
              <a:latin typeface="Arial"/>
            </a:endParaRPr>
          </a:p>
        </p:txBody>
      </p:sp>
      <p:sp>
        <p:nvSpPr>
          <p:cNvPr id="3085" name="Text 13"/>
          <p:cNvSpPr/>
          <p:nvPr/>
        </p:nvSpPr>
        <p:spPr>
          <a:xfrm>
            <a:off x="3382200" y="1704600"/>
            <a:ext cx="2540880" cy="931680"/>
          </a:xfrm>
          <a:prstGeom prst="rect">
            <a:avLst/>
          </a:prstGeom>
          <a:noFill/>
          <a:ln w="0">
            <a:noFill/>
          </a:ln>
        </p:spPr>
        <p:style>
          <a:lnRef idx="0"/>
          <a:fillRef idx="0"/>
          <a:effectRef idx="0"/>
          <a:fontRef idx="minor"/>
        </p:style>
        <p:txBody>
          <a:bodyPr lIns="0" rIns="0" tIns="0" bIns="0" anchor="t">
            <a:noAutofit/>
          </a:bodyPr>
          <a:p>
            <a:pPr defTabSz="914400">
              <a:lnSpc>
                <a:spcPts val="1417"/>
              </a:lnSpc>
              <a:tabLst>
                <a:tab algn="l" pos="0"/>
              </a:tabLst>
            </a:pPr>
            <a:r>
              <a:rPr lang="pl-PL" sz="1400" b="0" u="none" strike="noStrike">
                <a:solidFill>
                  <a:schemeClr val="lt1">
                    <a:lumMod val="85000"/>
                  </a:schemeClr>
                </a:solidFill>
                <a:effectLst/>
                <a:uFillTx/>
                <a:latin typeface="Calibri"/>
                <a:ea typeface="DejaVu Sans"/>
              </a:rPr>
              <a:t>Elementy blisko siebie tworzą grupy. Odstępy definiują relacje. Powiązane elementy blisko, niepowiązane dalej.</a:t>
            </a:r>
            <a:endParaRPr lang="pl-PL" sz="1400" b="0" u="none" strike="noStrike">
              <a:solidFill>
                <a:srgbClr val="ffffff"/>
              </a:solidFill>
              <a:effectLst/>
              <a:uFillTx/>
              <a:latin typeface="Arial"/>
            </a:endParaRPr>
          </a:p>
        </p:txBody>
      </p:sp>
      <p:sp>
        <p:nvSpPr>
          <p:cNvPr id="3086" name="Shape 14"/>
          <p:cNvSpPr/>
          <p:nvPr/>
        </p:nvSpPr>
        <p:spPr>
          <a:xfrm>
            <a:off x="6080760" y="1101600"/>
            <a:ext cx="2742120" cy="1580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87" name="Shape 15"/>
          <p:cNvSpPr/>
          <p:nvPr/>
        </p:nvSpPr>
        <p:spPr>
          <a:xfrm>
            <a:off x="6080760" y="1101600"/>
            <a:ext cx="44640" cy="158076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88" name="Shape 16"/>
          <p:cNvSpPr/>
          <p:nvPr/>
        </p:nvSpPr>
        <p:spPr>
          <a:xfrm>
            <a:off x="6244200" y="1211400"/>
            <a:ext cx="309960" cy="309960"/>
          </a:xfrm>
          <a:prstGeom prst="ellipse">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89" name="Text 17"/>
          <p:cNvSpPr/>
          <p:nvPr/>
        </p:nvSpPr>
        <p:spPr>
          <a:xfrm>
            <a:off x="6244200" y="1211400"/>
            <a:ext cx="309960" cy="309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3</a:t>
            </a:r>
            <a:endParaRPr lang="pl-PL" sz="1200" b="0" u="none" strike="noStrike">
              <a:solidFill>
                <a:srgbClr val="ffffff"/>
              </a:solidFill>
              <a:effectLst/>
              <a:uFillTx/>
              <a:latin typeface="Arial"/>
            </a:endParaRPr>
          </a:p>
        </p:txBody>
      </p:sp>
      <p:sp>
        <p:nvSpPr>
          <p:cNvPr id="3090" name="Text 18"/>
          <p:cNvSpPr/>
          <p:nvPr/>
        </p:nvSpPr>
        <p:spPr>
          <a:xfrm>
            <a:off x="6664680" y="1211400"/>
            <a:ext cx="21477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Zamknięcie</a:t>
            </a:r>
            <a:endParaRPr lang="pl-PL" sz="1600" b="0" u="none" strike="noStrike">
              <a:solidFill>
                <a:srgbClr val="ffffff"/>
              </a:solidFill>
              <a:effectLst/>
              <a:uFillTx/>
              <a:latin typeface="Arial"/>
            </a:endParaRPr>
          </a:p>
        </p:txBody>
      </p:sp>
      <p:sp>
        <p:nvSpPr>
          <p:cNvPr id="3091" name="Text 19"/>
          <p:cNvSpPr/>
          <p:nvPr/>
        </p:nvSpPr>
        <p:spPr>
          <a:xfrm>
            <a:off x="6262560" y="1704600"/>
            <a:ext cx="2540880" cy="931680"/>
          </a:xfrm>
          <a:prstGeom prst="rect">
            <a:avLst/>
          </a:prstGeom>
          <a:noFill/>
          <a:ln w="0">
            <a:noFill/>
          </a:ln>
        </p:spPr>
        <p:style>
          <a:lnRef idx="0"/>
          <a:fillRef idx="0"/>
          <a:effectRef idx="0"/>
          <a:fontRef idx="minor"/>
        </p:style>
        <p:txBody>
          <a:bodyPr lIns="0" rIns="0" tIns="0" bIns="0" anchor="t">
            <a:noAutofit/>
          </a:bodyPr>
          <a:p>
            <a:pPr defTabSz="914400">
              <a:lnSpc>
                <a:spcPts val="1417"/>
              </a:lnSpc>
              <a:tabLst>
                <a:tab algn="l" pos="0"/>
              </a:tabLst>
            </a:pPr>
            <a:r>
              <a:rPr lang="pl-PL" sz="1400" b="0" u="none" strike="noStrike">
                <a:solidFill>
                  <a:schemeClr val="lt1">
                    <a:lumMod val="85000"/>
                  </a:schemeClr>
                </a:solidFill>
                <a:effectLst/>
                <a:uFillTx/>
                <a:latin typeface="Calibri"/>
                <a:ea typeface="DejaVu Sans"/>
              </a:rPr>
              <a:t>Mózg uzupełnia brakujące elementy. Ikony często wykorzystują zamknięcie; niepełny okrąg = pierścionek.</a:t>
            </a:r>
            <a:endParaRPr lang="pl-PL" sz="1400" b="0" u="none" strike="noStrike">
              <a:solidFill>
                <a:srgbClr val="ffffff"/>
              </a:solidFill>
              <a:effectLst/>
              <a:uFillTx/>
              <a:latin typeface="Arial"/>
            </a:endParaRPr>
          </a:p>
        </p:txBody>
      </p:sp>
      <p:sp>
        <p:nvSpPr>
          <p:cNvPr id="3092" name="Shape 20"/>
          <p:cNvSpPr/>
          <p:nvPr/>
        </p:nvSpPr>
        <p:spPr>
          <a:xfrm>
            <a:off x="320040" y="2838960"/>
            <a:ext cx="2742120" cy="1580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93" name="Shape 21"/>
          <p:cNvSpPr/>
          <p:nvPr/>
        </p:nvSpPr>
        <p:spPr>
          <a:xfrm>
            <a:off x="320040" y="2838960"/>
            <a:ext cx="44640" cy="158076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94" name="Shape 22"/>
          <p:cNvSpPr/>
          <p:nvPr/>
        </p:nvSpPr>
        <p:spPr>
          <a:xfrm>
            <a:off x="483480" y="2948760"/>
            <a:ext cx="309960" cy="309960"/>
          </a:xfrm>
          <a:prstGeom prst="ellipse">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95" name="Text 23"/>
          <p:cNvSpPr/>
          <p:nvPr/>
        </p:nvSpPr>
        <p:spPr>
          <a:xfrm>
            <a:off x="483480" y="2948760"/>
            <a:ext cx="309960" cy="309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4</a:t>
            </a:r>
            <a:endParaRPr lang="pl-PL" sz="1200" b="0" u="none" strike="noStrike">
              <a:solidFill>
                <a:srgbClr val="ffffff"/>
              </a:solidFill>
              <a:effectLst/>
              <a:uFillTx/>
              <a:latin typeface="Arial"/>
            </a:endParaRPr>
          </a:p>
        </p:txBody>
      </p:sp>
      <p:sp>
        <p:nvSpPr>
          <p:cNvPr id="3096" name="Text 24"/>
          <p:cNvSpPr/>
          <p:nvPr/>
        </p:nvSpPr>
        <p:spPr>
          <a:xfrm>
            <a:off x="903960" y="2948760"/>
            <a:ext cx="21477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Figura-Tło</a:t>
            </a:r>
            <a:endParaRPr lang="pl-PL" sz="1600" b="0" u="none" strike="noStrike">
              <a:solidFill>
                <a:srgbClr val="ffffff"/>
              </a:solidFill>
              <a:effectLst/>
              <a:uFillTx/>
              <a:latin typeface="Arial"/>
            </a:endParaRPr>
          </a:p>
        </p:txBody>
      </p:sp>
      <p:sp>
        <p:nvSpPr>
          <p:cNvPr id="3097" name="Text 25"/>
          <p:cNvSpPr/>
          <p:nvPr/>
        </p:nvSpPr>
        <p:spPr>
          <a:xfrm>
            <a:off x="480240" y="3441960"/>
            <a:ext cx="2540880" cy="931680"/>
          </a:xfrm>
          <a:prstGeom prst="rect">
            <a:avLst/>
          </a:prstGeom>
          <a:noFill/>
          <a:ln w="0">
            <a:noFill/>
          </a:ln>
        </p:spPr>
        <p:style>
          <a:lnRef idx="0"/>
          <a:fillRef idx="0"/>
          <a:effectRef idx="0"/>
          <a:fontRef idx="minor"/>
        </p:style>
        <p:txBody>
          <a:bodyPr lIns="0" rIns="0" tIns="0" bIns="0" anchor="t">
            <a:noAutofit/>
          </a:bodyPr>
          <a:p>
            <a:pPr defTabSz="914400">
              <a:lnSpc>
                <a:spcPts val="1417"/>
              </a:lnSpc>
              <a:tabLst>
                <a:tab algn="l" pos="0"/>
              </a:tabLst>
            </a:pPr>
            <a:r>
              <a:rPr lang="pl-PL" sz="1400" b="0" u="none" strike="noStrike">
                <a:solidFill>
                  <a:schemeClr val="lt1">
                    <a:lumMod val="85000"/>
                  </a:schemeClr>
                </a:solidFill>
                <a:effectLst/>
                <a:uFillTx/>
                <a:latin typeface="Calibri"/>
                <a:ea typeface="DejaVu Sans"/>
              </a:rPr>
              <a:t>Mózg rozdziela pierwszy plan i tło. Modalne okna ciemnym overlay są doskonałym przykładem tej zasady.</a:t>
            </a:r>
            <a:endParaRPr lang="pl-PL" sz="1400" b="0" u="none" strike="noStrike">
              <a:solidFill>
                <a:srgbClr val="ffffff"/>
              </a:solidFill>
              <a:effectLst/>
              <a:uFillTx/>
              <a:latin typeface="Arial"/>
            </a:endParaRPr>
          </a:p>
        </p:txBody>
      </p:sp>
      <p:sp>
        <p:nvSpPr>
          <p:cNvPr id="3098" name="Shape 26"/>
          <p:cNvSpPr/>
          <p:nvPr/>
        </p:nvSpPr>
        <p:spPr>
          <a:xfrm>
            <a:off x="3200400" y="2838960"/>
            <a:ext cx="2742120" cy="1580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99" name="Shape 27"/>
          <p:cNvSpPr/>
          <p:nvPr/>
        </p:nvSpPr>
        <p:spPr>
          <a:xfrm>
            <a:off x="3200400" y="2838960"/>
            <a:ext cx="44640" cy="158076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00" name="Shape 28"/>
          <p:cNvSpPr/>
          <p:nvPr/>
        </p:nvSpPr>
        <p:spPr>
          <a:xfrm>
            <a:off x="3363840" y="2948760"/>
            <a:ext cx="309960" cy="309960"/>
          </a:xfrm>
          <a:prstGeom prst="ellipse">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01" name="Text 29"/>
          <p:cNvSpPr/>
          <p:nvPr/>
        </p:nvSpPr>
        <p:spPr>
          <a:xfrm>
            <a:off x="3363840" y="2948760"/>
            <a:ext cx="309960" cy="309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5</a:t>
            </a:r>
            <a:endParaRPr lang="pl-PL" sz="1200" b="0" u="none" strike="noStrike">
              <a:solidFill>
                <a:srgbClr val="ffffff"/>
              </a:solidFill>
              <a:effectLst/>
              <a:uFillTx/>
              <a:latin typeface="Arial"/>
            </a:endParaRPr>
          </a:p>
        </p:txBody>
      </p:sp>
      <p:sp>
        <p:nvSpPr>
          <p:cNvPr id="3102" name="Text 30"/>
          <p:cNvSpPr/>
          <p:nvPr/>
        </p:nvSpPr>
        <p:spPr>
          <a:xfrm>
            <a:off x="3784320" y="2948760"/>
            <a:ext cx="21477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Kontynuacja</a:t>
            </a:r>
            <a:endParaRPr lang="pl-PL" sz="1600" b="0" u="none" strike="noStrike">
              <a:solidFill>
                <a:srgbClr val="ffffff"/>
              </a:solidFill>
              <a:effectLst/>
              <a:uFillTx/>
              <a:latin typeface="Arial"/>
            </a:endParaRPr>
          </a:p>
        </p:txBody>
      </p:sp>
      <p:sp>
        <p:nvSpPr>
          <p:cNvPr id="3103" name="Text 31"/>
          <p:cNvSpPr/>
          <p:nvPr/>
        </p:nvSpPr>
        <p:spPr>
          <a:xfrm>
            <a:off x="3382200" y="3386880"/>
            <a:ext cx="2540880" cy="986400"/>
          </a:xfrm>
          <a:prstGeom prst="rect">
            <a:avLst/>
          </a:prstGeom>
          <a:noFill/>
          <a:ln w="0">
            <a:noFill/>
          </a:ln>
        </p:spPr>
        <p:style>
          <a:lnRef idx="0"/>
          <a:fillRef idx="0"/>
          <a:effectRef idx="0"/>
          <a:fontRef idx="minor"/>
        </p:style>
        <p:txBody>
          <a:bodyPr lIns="0" rIns="0" tIns="0" bIns="0" anchor="t">
            <a:noAutofit/>
          </a:bodyPr>
          <a:p>
            <a:pPr defTabSz="914400">
              <a:lnSpc>
                <a:spcPts val="1417"/>
              </a:lnSpc>
              <a:tabLst>
                <a:tab algn="l" pos="0"/>
              </a:tabLst>
            </a:pPr>
            <a:r>
              <a:rPr lang="pl-PL" sz="1400" b="0" u="none" strike="noStrike">
                <a:solidFill>
                  <a:schemeClr val="lt1">
                    <a:lumMod val="85000"/>
                  </a:schemeClr>
                </a:solidFill>
                <a:effectLst/>
                <a:uFillTx/>
                <a:latin typeface="Calibri"/>
                <a:ea typeface="DejaVu Sans"/>
              </a:rPr>
              <a:t>Oko podąża za liniami i kształtami. Timeline, steppery nawigacyjne, progress bary, wszystkie to kontynuacja.</a:t>
            </a:r>
            <a:endParaRPr lang="pl-PL" sz="1400" b="0" u="none" strike="noStrike">
              <a:solidFill>
                <a:srgbClr val="ffffff"/>
              </a:solidFill>
              <a:effectLst/>
              <a:uFillTx/>
              <a:latin typeface="Arial"/>
            </a:endParaRPr>
          </a:p>
        </p:txBody>
      </p:sp>
      <p:sp>
        <p:nvSpPr>
          <p:cNvPr id="3104" name="Shape 32"/>
          <p:cNvSpPr/>
          <p:nvPr/>
        </p:nvSpPr>
        <p:spPr>
          <a:xfrm>
            <a:off x="6080760" y="2838960"/>
            <a:ext cx="2742120" cy="158076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05" name="Shape 33"/>
          <p:cNvSpPr/>
          <p:nvPr/>
        </p:nvSpPr>
        <p:spPr>
          <a:xfrm>
            <a:off x="6080760" y="2838960"/>
            <a:ext cx="44640" cy="158076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06" name="Shape 34"/>
          <p:cNvSpPr/>
          <p:nvPr/>
        </p:nvSpPr>
        <p:spPr>
          <a:xfrm>
            <a:off x="6244200" y="2948760"/>
            <a:ext cx="309960" cy="309960"/>
          </a:xfrm>
          <a:prstGeom prst="ellipse">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07" name="Text 35"/>
          <p:cNvSpPr/>
          <p:nvPr/>
        </p:nvSpPr>
        <p:spPr>
          <a:xfrm>
            <a:off x="6244200" y="2948760"/>
            <a:ext cx="309960" cy="309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0d1b2a"/>
                </a:solidFill>
                <a:effectLst/>
                <a:uFillTx/>
                <a:latin typeface="Calibri"/>
                <a:ea typeface="DejaVu Sans"/>
              </a:rPr>
              <a:t>6</a:t>
            </a:r>
            <a:endParaRPr lang="pl-PL" sz="1200" b="0" u="none" strike="noStrike">
              <a:solidFill>
                <a:srgbClr val="ffffff"/>
              </a:solidFill>
              <a:effectLst/>
              <a:uFillTx/>
              <a:latin typeface="Arial"/>
            </a:endParaRPr>
          </a:p>
        </p:txBody>
      </p:sp>
      <p:sp>
        <p:nvSpPr>
          <p:cNvPr id="3108" name="Text 36"/>
          <p:cNvSpPr/>
          <p:nvPr/>
        </p:nvSpPr>
        <p:spPr>
          <a:xfrm>
            <a:off x="6664680" y="2948760"/>
            <a:ext cx="21477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ffffff"/>
                </a:solidFill>
                <a:effectLst/>
                <a:uFillTx/>
                <a:latin typeface="Calibri"/>
                <a:ea typeface="DejaVu Sans"/>
              </a:rPr>
              <a:t>Symetria i Porządek</a:t>
            </a:r>
            <a:endParaRPr lang="pl-PL" sz="1600" b="0" u="none" strike="noStrike">
              <a:solidFill>
                <a:srgbClr val="ffffff"/>
              </a:solidFill>
              <a:effectLst/>
              <a:uFillTx/>
              <a:latin typeface="Arial"/>
            </a:endParaRPr>
          </a:p>
        </p:txBody>
      </p:sp>
      <p:sp>
        <p:nvSpPr>
          <p:cNvPr id="3109" name="Text 37"/>
          <p:cNvSpPr/>
          <p:nvPr/>
        </p:nvSpPr>
        <p:spPr>
          <a:xfrm>
            <a:off x="6262560" y="3441960"/>
            <a:ext cx="2540880" cy="931680"/>
          </a:xfrm>
          <a:prstGeom prst="rect">
            <a:avLst/>
          </a:prstGeom>
          <a:noFill/>
          <a:ln w="0">
            <a:noFill/>
          </a:ln>
        </p:spPr>
        <p:style>
          <a:lnRef idx="0"/>
          <a:fillRef idx="0"/>
          <a:effectRef idx="0"/>
          <a:fontRef idx="minor"/>
        </p:style>
        <p:txBody>
          <a:bodyPr lIns="0" rIns="0" tIns="0" bIns="0" anchor="t">
            <a:noAutofit/>
          </a:bodyPr>
          <a:p>
            <a:pPr defTabSz="914400">
              <a:lnSpc>
                <a:spcPts val="1417"/>
              </a:lnSpc>
              <a:tabLst>
                <a:tab algn="l" pos="0"/>
              </a:tabLst>
            </a:pPr>
            <a:r>
              <a:rPr lang="pl-PL" sz="1400" b="0" u="none" strike="noStrike">
                <a:solidFill>
                  <a:schemeClr val="lt1">
                    <a:lumMod val="85000"/>
                  </a:schemeClr>
                </a:solidFill>
                <a:effectLst/>
                <a:uFillTx/>
                <a:latin typeface="Calibri"/>
                <a:ea typeface="DejaVu Sans"/>
              </a:rPr>
              <a:t>Preferujemy symetryczne kompozycje. Symetryczne layouty są odbierane jako bardziej profesjonalne.</a:t>
            </a:r>
            <a:endParaRPr lang="pl-PL" sz="1400" b="0" u="none" strike="noStrike">
              <a:solidFill>
                <a:srgbClr val="ffffff"/>
              </a:solidFill>
              <a:effectLst/>
              <a:uFillTx/>
              <a:latin typeface="Arial"/>
            </a:endParaRPr>
          </a:p>
        </p:txBody>
      </p:sp>
      <p:sp>
        <p:nvSpPr>
          <p:cNvPr id="3110" name="Text 40"/>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39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3111" name="Grupa 9"/>
          <p:cNvGrpSpPr/>
          <p:nvPr/>
        </p:nvGrpSpPr>
        <p:grpSpPr>
          <a:xfrm>
            <a:off x="-2520" y="4884840"/>
            <a:ext cx="9145440" cy="259200"/>
            <a:chOff x="-2520" y="4884840"/>
            <a:chExt cx="9145440" cy="259200"/>
          </a:xfrm>
        </p:grpSpPr>
        <p:sp>
          <p:nvSpPr>
            <p:cNvPr id="3112"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13"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114" name="Grupa 12"/>
            <p:cNvGrpSpPr/>
            <p:nvPr/>
          </p:nvGrpSpPr>
          <p:grpSpPr>
            <a:xfrm>
              <a:off x="-2520" y="5099400"/>
              <a:ext cx="9145440" cy="44640"/>
              <a:chOff x="-2520" y="5099400"/>
              <a:chExt cx="9145440" cy="44640"/>
            </a:xfrm>
          </p:grpSpPr>
          <p:sp>
            <p:nvSpPr>
              <p:cNvPr id="3115"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16"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17"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18"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19"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0"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1"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2"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3"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4"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5"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6"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7"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8"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9"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0"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1"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2"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3"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4"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5"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6"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7"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8"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39"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0"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1"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2"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3"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4"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5"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6"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7"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8"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49"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50"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51"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52"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53" name="Shape 52"/>
              <p:cNvSpPr/>
              <p:nvPr/>
            </p:nvSpPr>
            <p:spPr>
              <a:xfrm>
                <a:off x="75538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54" name="Shape 52"/>
              <p:cNvSpPr/>
              <p:nvPr/>
            </p:nvSpPr>
            <p:spPr>
              <a:xfrm>
                <a:off x="7752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55" name="Shape 52"/>
              <p:cNvSpPr/>
              <p:nvPr/>
            </p:nvSpPr>
            <p:spPr>
              <a:xfrm>
                <a:off x="795132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56"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57"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58"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59"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60"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161" name="Shape 0"/>
          <p:cNvSpPr/>
          <p:nvPr/>
        </p:nvSpPr>
        <p:spPr>
          <a:xfrm>
            <a:off x="0" y="1645920"/>
            <a:ext cx="9142920" cy="1827720"/>
          </a:xfrm>
          <a:prstGeom prst="rect">
            <a:avLst/>
          </a:prstGeom>
          <a:solidFill>
            <a:srgbClr val="112233"/>
          </a:solidFill>
          <a:ln w="12600">
            <a:solidFill>
              <a:srgbClr val="112233"/>
            </a:solidFill>
            <a:round/>
          </a:ln>
          <a:effectLst>
            <a:outerShdw dir="2700000" dist="16800" rotWithShape="0">
              <a:srgbClr val="1c1c1c"/>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62" name="Shape 1"/>
          <p:cNvSpPr/>
          <p:nvPr/>
        </p:nvSpPr>
        <p:spPr>
          <a:xfrm>
            <a:off x="0" y="1645920"/>
            <a:ext cx="108720" cy="18277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63" name="Text 2"/>
          <p:cNvSpPr/>
          <p:nvPr/>
        </p:nvSpPr>
        <p:spPr>
          <a:xfrm>
            <a:off x="914400" y="548640"/>
            <a:ext cx="7314120" cy="821880"/>
          </a:xfrm>
          <a:prstGeom prst="rect">
            <a:avLst/>
          </a:prstGeom>
          <a:noFill/>
          <a:ln w="0">
            <a:noFill/>
          </a:ln>
          <a:effectLst>
            <a:outerShdw dir="2700000" dist="35638" rotWithShape="0">
              <a:srgbClr val="1c1c1c"/>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5200" b="1" u="none" strike="noStrike">
                <a:solidFill>
                  <a:srgbClr val="00e676"/>
                </a:solidFill>
                <a:effectLst/>
                <a:uFillTx/>
                <a:latin typeface="Calibri"/>
                <a:ea typeface="DejaVu Sans"/>
              </a:rPr>
              <a:t>10</a:t>
            </a:r>
            <a:endParaRPr lang="pl-PL" sz="5200" b="0" u="none" strike="noStrike">
              <a:solidFill>
                <a:srgbClr val="ffffff"/>
              </a:solidFill>
              <a:effectLst/>
              <a:uFillTx/>
              <a:latin typeface="Arial"/>
            </a:endParaRPr>
          </a:p>
        </p:txBody>
      </p:sp>
      <p:sp>
        <p:nvSpPr>
          <p:cNvPr id="3164" name="Text 3"/>
          <p:cNvSpPr/>
          <p:nvPr/>
        </p:nvSpPr>
        <p:spPr>
          <a:xfrm>
            <a:off x="457200" y="1737360"/>
            <a:ext cx="8228520" cy="821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Narzędzia projektowania UI/UX</a:t>
            </a:r>
            <a:endParaRPr lang="pl-PL" sz="2800" b="0" u="none" strike="noStrike">
              <a:solidFill>
                <a:srgbClr val="ffffff"/>
              </a:solidFill>
              <a:effectLst/>
              <a:uFillTx/>
              <a:latin typeface="Arial"/>
            </a:endParaRPr>
          </a:p>
        </p:txBody>
      </p:sp>
      <p:sp>
        <p:nvSpPr>
          <p:cNvPr id="3165" name="Text 4"/>
          <p:cNvSpPr/>
          <p:nvPr/>
        </p:nvSpPr>
        <p:spPr>
          <a:xfrm>
            <a:off x="457200" y="2606040"/>
            <a:ext cx="8228520" cy="547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Przegląd profesjonalnych narzędzi do projektowania interfejsów</a:t>
            </a:r>
            <a:endParaRPr lang="pl-PL" sz="1400" b="0" u="none" strike="noStrike">
              <a:solidFill>
                <a:srgbClr val="ffffff"/>
              </a:solidFill>
              <a:effectLst/>
              <a:uFillTx/>
              <a:latin typeface="Arial"/>
            </a:endParaRPr>
          </a:p>
        </p:txBody>
      </p:sp>
      <p:sp>
        <p:nvSpPr>
          <p:cNvPr id="3166" name="Text 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40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3167" name="Grupa 29"/>
          <p:cNvGrpSpPr/>
          <p:nvPr/>
        </p:nvGrpSpPr>
        <p:grpSpPr>
          <a:xfrm>
            <a:off x="-2520" y="4884840"/>
            <a:ext cx="9145440" cy="259200"/>
            <a:chOff x="-2520" y="4884840"/>
            <a:chExt cx="9145440" cy="259200"/>
          </a:xfrm>
        </p:grpSpPr>
        <p:sp>
          <p:nvSpPr>
            <p:cNvPr id="3168"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169"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170" name="Grupa 32"/>
            <p:cNvGrpSpPr/>
            <p:nvPr/>
          </p:nvGrpSpPr>
          <p:grpSpPr>
            <a:xfrm>
              <a:off x="-2520" y="5099400"/>
              <a:ext cx="9145440" cy="44640"/>
              <a:chOff x="-2520" y="5099400"/>
              <a:chExt cx="9145440" cy="44640"/>
            </a:xfrm>
          </p:grpSpPr>
          <p:sp>
            <p:nvSpPr>
              <p:cNvPr id="3171"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2"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3"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4"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5"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6"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7"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8"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79"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0"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1"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2"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3"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4"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5"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6"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7"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8"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89"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0"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1"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2"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3"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4"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5"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6"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7"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8"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99"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0"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1"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2"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3"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4"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5"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6"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7"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8"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09" name="Shape 52"/>
              <p:cNvSpPr/>
              <p:nvPr/>
            </p:nvSpPr>
            <p:spPr>
              <a:xfrm>
                <a:off x="75538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10" name="Shape 52"/>
              <p:cNvSpPr/>
              <p:nvPr/>
            </p:nvSpPr>
            <p:spPr>
              <a:xfrm>
                <a:off x="7752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11" name="Shape 52"/>
              <p:cNvSpPr/>
              <p:nvPr/>
            </p:nvSpPr>
            <p:spPr>
              <a:xfrm>
                <a:off x="795132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12" name="Shape 52"/>
              <p:cNvSpPr/>
              <p:nvPr/>
            </p:nvSpPr>
            <p:spPr>
              <a:xfrm>
                <a:off x="81500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13"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14"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15"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16"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217" name="Shape 0"/>
          <p:cNvSpPr/>
          <p:nvPr/>
        </p:nvSpPr>
        <p:spPr>
          <a:xfrm>
            <a:off x="320040" y="255960"/>
            <a:ext cx="53640" cy="501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18"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Narzędzia do projektowania interfejsów</a:t>
            </a:r>
            <a:endParaRPr lang="pl-PL" sz="2200" b="0" u="none" strike="noStrike">
              <a:solidFill>
                <a:srgbClr val="ffffff"/>
              </a:solidFill>
              <a:effectLst/>
              <a:uFillTx/>
              <a:latin typeface="Arial"/>
            </a:endParaRPr>
          </a:p>
        </p:txBody>
      </p:sp>
      <p:sp>
        <p:nvSpPr>
          <p:cNvPr id="3219" name="Shape 2"/>
          <p:cNvSpPr/>
          <p:nvPr/>
        </p:nvSpPr>
        <p:spPr>
          <a:xfrm>
            <a:off x="320040" y="914400"/>
            <a:ext cx="2742120" cy="292500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20" name="Shape 3"/>
          <p:cNvSpPr/>
          <p:nvPr/>
        </p:nvSpPr>
        <p:spPr>
          <a:xfrm>
            <a:off x="320040" y="914400"/>
            <a:ext cx="2742120" cy="53640"/>
          </a:xfrm>
          <a:prstGeom prst="rect">
            <a:avLst/>
          </a:prstGeom>
          <a:solidFill>
            <a:srgbClr val="00e676"/>
          </a:solidFill>
          <a:ln w="12600">
            <a:solidFill>
              <a:srgbClr val="00e676"/>
            </a:solidFill>
            <a:round/>
          </a:ln>
        </p:spPr>
        <p:style>
          <a:lnRef idx="0"/>
          <a:fillRef idx="0"/>
          <a:effectRef idx="0"/>
          <a:fontRef idx="minor"/>
        </p:style>
        <p:txBody>
          <a:bodyPr lIns="90000" rIns="90000" tIns="9720" bIns="972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21" name="Text 4"/>
          <p:cNvSpPr/>
          <p:nvPr/>
        </p:nvSpPr>
        <p:spPr>
          <a:xfrm>
            <a:off x="509040" y="1051560"/>
            <a:ext cx="1612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Figma</a:t>
            </a:r>
            <a:endParaRPr lang="pl-PL" sz="2800" b="0" u="none" strike="noStrike">
              <a:solidFill>
                <a:srgbClr val="ffffff"/>
              </a:solidFill>
              <a:effectLst/>
              <a:uFillTx/>
              <a:latin typeface="Arial"/>
            </a:endParaRPr>
          </a:p>
        </p:txBody>
      </p:sp>
      <p:sp>
        <p:nvSpPr>
          <p:cNvPr id="3222" name="Shape 5"/>
          <p:cNvSpPr/>
          <p:nvPr/>
        </p:nvSpPr>
        <p:spPr>
          <a:xfrm>
            <a:off x="2331720" y="1078920"/>
            <a:ext cx="657360" cy="2365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23" name="Text 6"/>
          <p:cNvSpPr/>
          <p:nvPr/>
        </p:nvSpPr>
        <p:spPr>
          <a:xfrm>
            <a:off x="2331720" y="1078920"/>
            <a:ext cx="657360" cy="236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900" b="1" u="none" strike="noStrike">
                <a:solidFill>
                  <a:srgbClr val="0d1b2a"/>
                </a:solidFill>
                <a:effectLst/>
                <a:uFillTx/>
                <a:latin typeface="Calibri"/>
                <a:ea typeface="DejaVu Sans"/>
              </a:rPr>
              <a:t>Lider branży</a:t>
            </a:r>
            <a:endParaRPr lang="pl-PL" sz="900" b="0" u="none" strike="noStrike">
              <a:solidFill>
                <a:srgbClr val="ffffff"/>
              </a:solidFill>
              <a:effectLst/>
              <a:uFillTx/>
              <a:latin typeface="Arial"/>
            </a:endParaRPr>
          </a:p>
        </p:txBody>
      </p:sp>
      <p:sp>
        <p:nvSpPr>
          <p:cNvPr id="3224" name="Text 7"/>
          <p:cNvSpPr/>
          <p:nvPr/>
        </p:nvSpPr>
        <p:spPr>
          <a:xfrm>
            <a:off x="624240" y="1461960"/>
            <a:ext cx="222516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00e676"/>
                </a:solidFill>
                <a:effectLst/>
                <a:uFillTx/>
                <a:latin typeface="Calibri"/>
                <a:ea typeface="DejaVu Sans"/>
              </a:rPr>
              <a:t>77% rynku</a:t>
            </a:r>
            <a:endParaRPr lang="pl-PL" sz="1400" b="0" u="none" strike="noStrike">
              <a:solidFill>
                <a:srgbClr val="ffffff"/>
              </a:solidFill>
              <a:effectLst/>
              <a:uFillTx/>
              <a:latin typeface="Arial"/>
            </a:endParaRPr>
          </a:p>
        </p:txBody>
      </p:sp>
      <p:sp>
        <p:nvSpPr>
          <p:cNvPr id="3225" name="Text 8"/>
          <p:cNvSpPr/>
          <p:nvPr/>
        </p:nvSpPr>
        <p:spPr>
          <a:xfrm>
            <a:off x="429840" y="2013840"/>
            <a:ext cx="2419560" cy="1806120"/>
          </a:xfrm>
          <a:prstGeom prst="rect">
            <a:avLst/>
          </a:prstGeom>
          <a:noFill/>
          <a:ln w="0">
            <a:noFill/>
          </a:ln>
        </p:spPr>
        <p:style>
          <a:lnRef idx="0"/>
          <a:fillRef idx="0"/>
          <a:effectRef idx="0"/>
          <a:fontRef idx="minor"/>
        </p:style>
        <p:txBody>
          <a:bodyPr lIns="0" rIns="0" tIns="0" bIns="0" anchor="t">
            <a:noAutofit/>
          </a:bodyPr>
          <a:p>
            <a:pPr algn="just" defTabSz="914400">
              <a:lnSpc>
                <a:spcPct val="100000"/>
              </a:lnSpc>
              <a:tabLst>
                <a:tab algn="l" pos="0"/>
              </a:tabLst>
            </a:pPr>
            <a:r>
              <a:rPr lang="pl-PL" sz="1400" b="0" u="none" strike="noStrike">
                <a:solidFill>
                  <a:schemeClr val="lt1">
                    <a:lumMod val="85000"/>
                  </a:schemeClr>
                </a:solidFill>
                <a:effectLst/>
                <a:uFillTx/>
                <a:latin typeface="Calibri"/>
                <a:ea typeface="DejaVu Sans"/>
              </a:rPr>
              <a:t>Przeglądarkowy, więc zadziała na każdym systemie. Real-time collaboration. Dev Mode + design tokens. 1000+ pluginów (Stark, Unsplash, Content Reel).</a:t>
            </a:r>
            <a:endParaRPr lang="pl-PL" sz="1400" b="0" u="none" strike="noStrike">
              <a:solidFill>
                <a:srgbClr val="ffffff"/>
              </a:solidFill>
              <a:effectLst/>
              <a:uFillTx/>
              <a:latin typeface="Arial"/>
            </a:endParaRPr>
          </a:p>
        </p:txBody>
      </p:sp>
      <p:sp>
        <p:nvSpPr>
          <p:cNvPr id="3226" name="Shape 9"/>
          <p:cNvSpPr/>
          <p:nvPr/>
        </p:nvSpPr>
        <p:spPr>
          <a:xfrm>
            <a:off x="3200400" y="914400"/>
            <a:ext cx="2742120" cy="292500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27" name="Shape 10"/>
          <p:cNvSpPr/>
          <p:nvPr/>
        </p:nvSpPr>
        <p:spPr>
          <a:xfrm>
            <a:off x="3200400" y="914400"/>
            <a:ext cx="2742120" cy="53640"/>
          </a:xfrm>
          <a:prstGeom prst="rect">
            <a:avLst/>
          </a:prstGeom>
          <a:solidFill>
            <a:srgbClr val="00d4ff"/>
          </a:solidFill>
          <a:ln w="12600">
            <a:solidFill>
              <a:srgbClr val="00d4ff"/>
            </a:solidFill>
            <a:round/>
          </a:ln>
        </p:spPr>
        <p:style>
          <a:lnRef idx="0"/>
          <a:fillRef idx="0"/>
          <a:effectRef idx="0"/>
          <a:fontRef idx="minor"/>
        </p:style>
        <p:txBody>
          <a:bodyPr lIns="90000" rIns="90000" tIns="9720" bIns="972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28" name="Text 11"/>
          <p:cNvSpPr/>
          <p:nvPr/>
        </p:nvSpPr>
        <p:spPr>
          <a:xfrm>
            <a:off x="3389400" y="1051560"/>
            <a:ext cx="1612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Sketch</a:t>
            </a:r>
            <a:endParaRPr lang="pl-PL" sz="2800" b="0" u="none" strike="noStrike">
              <a:solidFill>
                <a:srgbClr val="ffffff"/>
              </a:solidFill>
              <a:effectLst/>
              <a:uFillTx/>
              <a:latin typeface="Arial"/>
            </a:endParaRPr>
          </a:p>
        </p:txBody>
      </p:sp>
      <p:sp>
        <p:nvSpPr>
          <p:cNvPr id="3229" name="Shape 12"/>
          <p:cNvSpPr/>
          <p:nvPr/>
        </p:nvSpPr>
        <p:spPr>
          <a:xfrm>
            <a:off x="5212080" y="1078920"/>
            <a:ext cx="657360" cy="2365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30" name="Text 13"/>
          <p:cNvSpPr/>
          <p:nvPr/>
        </p:nvSpPr>
        <p:spPr>
          <a:xfrm>
            <a:off x="5212080" y="1078920"/>
            <a:ext cx="657360" cy="236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900" b="1" u="none" strike="noStrike">
                <a:solidFill>
                  <a:srgbClr val="0d1b2a"/>
                </a:solidFill>
                <a:effectLst/>
                <a:uFillTx/>
                <a:latin typeface="Calibri"/>
                <a:ea typeface="DejaVu Sans"/>
              </a:rPr>
              <a:t>Mac Teams</a:t>
            </a:r>
            <a:endParaRPr lang="pl-PL" sz="900" b="0" u="none" strike="noStrike">
              <a:solidFill>
                <a:srgbClr val="ffffff"/>
              </a:solidFill>
              <a:effectLst/>
              <a:uFillTx/>
              <a:latin typeface="Arial"/>
            </a:endParaRPr>
          </a:p>
        </p:txBody>
      </p:sp>
      <p:sp>
        <p:nvSpPr>
          <p:cNvPr id="3231" name="Text 14"/>
          <p:cNvSpPr/>
          <p:nvPr/>
        </p:nvSpPr>
        <p:spPr>
          <a:xfrm>
            <a:off x="3504600" y="1461960"/>
            <a:ext cx="222516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00d4ff"/>
                </a:solidFill>
                <a:effectLst/>
                <a:uFillTx/>
                <a:latin typeface="Calibri"/>
                <a:ea typeface="DejaVu Sans"/>
              </a:rPr>
              <a:t>macOS Only</a:t>
            </a:r>
            <a:endParaRPr lang="pl-PL" sz="1400" b="0" u="none" strike="noStrike">
              <a:solidFill>
                <a:srgbClr val="ffffff"/>
              </a:solidFill>
              <a:effectLst/>
              <a:uFillTx/>
              <a:latin typeface="Arial"/>
            </a:endParaRPr>
          </a:p>
        </p:txBody>
      </p:sp>
      <p:sp>
        <p:nvSpPr>
          <p:cNvPr id="3232" name="Text 15"/>
          <p:cNvSpPr/>
          <p:nvPr/>
        </p:nvSpPr>
        <p:spPr>
          <a:xfrm>
            <a:off x="3310200" y="2013840"/>
            <a:ext cx="2419560" cy="1806120"/>
          </a:xfrm>
          <a:prstGeom prst="rect">
            <a:avLst/>
          </a:prstGeom>
          <a:noFill/>
          <a:ln w="0">
            <a:noFill/>
          </a:ln>
        </p:spPr>
        <p:style>
          <a:lnRef idx="0"/>
          <a:fillRef idx="0"/>
          <a:effectRef idx="0"/>
          <a:fontRef idx="minor"/>
        </p:style>
        <p:txBody>
          <a:bodyPr lIns="0" rIns="0" tIns="0" bIns="0" anchor="t">
            <a:noAutofit/>
          </a:bodyPr>
          <a:p>
            <a:pPr algn="just" defTabSz="914400">
              <a:lnSpc>
                <a:spcPct val="100000"/>
              </a:lnSpc>
              <a:tabLst>
                <a:tab algn="l" pos="0"/>
              </a:tabLst>
            </a:pPr>
            <a:r>
              <a:rPr lang="pl-PL" sz="1400" b="0" u="none" strike="noStrike">
                <a:solidFill>
                  <a:schemeClr val="lt1">
                    <a:lumMod val="85000"/>
                  </a:schemeClr>
                </a:solidFill>
                <a:effectLst/>
                <a:uFillTx/>
                <a:latin typeface="Calibri"/>
                <a:ea typeface="DejaVu Sans"/>
              </a:rPr>
              <a:t>Natywna aplikacja Mac. Lepsza wydajność przy dużych plikach. Dojrzały ekosystem pluginów. $99 jednorazowo lub $9/mies.</a:t>
            </a:r>
            <a:endParaRPr lang="pl-PL" sz="1400" b="0" u="none" strike="noStrike">
              <a:solidFill>
                <a:srgbClr val="ffffff"/>
              </a:solidFill>
              <a:effectLst/>
              <a:uFillTx/>
              <a:latin typeface="Arial"/>
            </a:endParaRPr>
          </a:p>
        </p:txBody>
      </p:sp>
      <p:sp>
        <p:nvSpPr>
          <p:cNvPr id="3233" name="Shape 16"/>
          <p:cNvSpPr/>
          <p:nvPr/>
        </p:nvSpPr>
        <p:spPr>
          <a:xfrm>
            <a:off x="6080760" y="914400"/>
            <a:ext cx="2742120" cy="292500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34" name="Shape 17"/>
          <p:cNvSpPr/>
          <p:nvPr/>
        </p:nvSpPr>
        <p:spPr>
          <a:xfrm>
            <a:off x="6080760" y="914400"/>
            <a:ext cx="2742120" cy="53640"/>
          </a:xfrm>
          <a:prstGeom prst="rect">
            <a:avLst/>
          </a:prstGeom>
          <a:solidFill>
            <a:srgbClr val="ff9100"/>
          </a:solidFill>
          <a:ln w="12600">
            <a:solidFill>
              <a:srgbClr val="ff9100"/>
            </a:solidFill>
            <a:round/>
          </a:ln>
        </p:spPr>
        <p:style>
          <a:lnRef idx="0"/>
          <a:fillRef idx="0"/>
          <a:effectRef idx="0"/>
          <a:fontRef idx="minor"/>
        </p:style>
        <p:txBody>
          <a:bodyPr lIns="90000" rIns="90000" tIns="9720" bIns="972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35" name="Text 18"/>
          <p:cNvSpPr/>
          <p:nvPr/>
        </p:nvSpPr>
        <p:spPr>
          <a:xfrm>
            <a:off x="6269760" y="1051560"/>
            <a:ext cx="161208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800" b="1" u="none" strike="noStrike">
                <a:solidFill>
                  <a:srgbClr val="ffffff"/>
                </a:solidFill>
                <a:effectLst/>
                <a:uFillTx/>
                <a:latin typeface="Calibri"/>
                <a:ea typeface="DejaVu Sans"/>
              </a:rPr>
              <a:t>Adobe XD</a:t>
            </a:r>
            <a:endParaRPr lang="pl-PL" sz="2800" b="0" u="none" strike="noStrike">
              <a:solidFill>
                <a:srgbClr val="ffffff"/>
              </a:solidFill>
              <a:effectLst/>
              <a:uFillTx/>
              <a:latin typeface="Arial"/>
            </a:endParaRPr>
          </a:p>
        </p:txBody>
      </p:sp>
      <p:sp>
        <p:nvSpPr>
          <p:cNvPr id="3236" name="Shape 19"/>
          <p:cNvSpPr/>
          <p:nvPr/>
        </p:nvSpPr>
        <p:spPr>
          <a:xfrm>
            <a:off x="8092440" y="1078920"/>
            <a:ext cx="657360" cy="23652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37" name="Text 20"/>
          <p:cNvSpPr/>
          <p:nvPr/>
        </p:nvSpPr>
        <p:spPr>
          <a:xfrm>
            <a:off x="8092440" y="1078920"/>
            <a:ext cx="657360" cy="236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900" b="1" u="none" strike="noStrike">
                <a:solidFill>
                  <a:srgbClr val="0d1b2a"/>
                </a:solidFill>
                <a:effectLst/>
                <a:uFillTx/>
                <a:latin typeface="Calibri"/>
                <a:ea typeface="DejaVu Sans"/>
              </a:rPr>
              <a:t>Legacy</a:t>
            </a:r>
            <a:endParaRPr lang="pl-PL" sz="900" b="0" u="none" strike="noStrike">
              <a:solidFill>
                <a:srgbClr val="ffffff"/>
              </a:solidFill>
              <a:effectLst/>
              <a:uFillTx/>
              <a:latin typeface="Arial"/>
            </a:endParaRPr>
          </a:p>
        </p:txBody>
      </p:sp>
      <p:sp>
        <p:nvSpPr>
          <p:cNvPr id="3238" name="Text 21"/>
          <p:cNvSpPr/>
          <p:nvPr/>
        </p:nvSpPr>
        <p:spPr>
          <a:xfrm>
            <a:off x="6384960" y="1461960"/>
            <a:ext cx="222516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ff9100"/>
                </a:solidFill>
                <a:effectLst/>
                <a:uFillTx/>
                <a:latin typeface="Calibri"/>
                <a:ea typeface="DejaVu Sans"/>
              </a:rPr>
              <a:t>Status niepewny</a:t>
            </a:r>
            <a:endParaRPr lang="pl-PL" sz="1400" b="0" u="none" strike="noStrike">
              <a:solidFill>
                <a:srgbClr val="ffffff"/>
              </a:solidFill>
              <a:effectLst/>
              <a:uFillTx/>
              <a:latin typeface="Arial"/>
            </a:endParaRPr>
          </a:p>
        </p:txBody>
      </p:sp>
      <p:sp>
        <p:nvSpPr>
          <p:cNvPr id="3239" name="Text 22"/>
          <p:cNvSpPr/>
          <p:nvPr/>
        </p:nvSpPr>
        <p:spPr>
          <a:xfrm>
            <a:off x="6190560" y="2013840"/>
            <a:ext cx="2419560" cy="1806120"/>
          </a:xfrm>
          <a:prstGeom prst="rect">
            <a:avLst/>
          </a:prstGeom>
          <a:noFill/>
          <a:ln w="0">
            <a:noFill/>
          </a:ln>
        </p:spPr>
        <p:style>
          <a:lnRef idx="0"/>
          <a:fillRef idx="0"/>
          <a:effectRef idx="0"/>
          <a:fontRef idx="minor"/>
        </p:style>
        <p:txBody>
          <a:bodyPr lIns="0" rIns="0" tIns="0" bIns="0" anchor="t">
            <a:noAutofit/>
          </a:bodyPr>
          <a:p>
            <a:pPr algn="just" defTabSz="914400">
              <a:lnSpc>
                <a:spcPct val="100000"/>
              </a:lnSpc>
              <a:tabLst>
                <a:tab algn="l" pos="0"/>
              </a:tabLst>
            </a:pPr>
            <a:r>
              <a:rPr lang="pl-PL" sz="1400" b="0" u="none" strike="noStrike">
                <a:solidFill>
                  <a:schemeClr val="lt1">
                    <a:lumMod val="85000"/>
                  </a:schemeClr>
                </a:solidFill>
                <a:effectLst/>
                <a:uFillTx/>
                <a:latin typeface="Calibri"/>
                <a:ea typeface="DejaVu Sans"/>
              </a:rPr>
              <a:t>Creative Cloud + integracja z Ps/Ai. Auto-Animate, voice prototyping. Windows + macOS. Przyszłość niepewna po próbie przejęcia przez Figma.</a:t>
            </a:r>
            <a:endParaRPr lang="pl-PL" sz="1400" b="0" u="none" strike="noStrike">
              <a:solidFill>
                <a:srgbClr val="ffffff"/>
              </a:solidFill>
              <a:effectLst/>
              <a:uFillTx/>
              <a:latin typeface="Arial"/>
            </a:endParaRPr>
          </a:p>
        </p:txBody>
      </p:sp>
      <p:sp>
        <p:nvSpPr>
          <p:cNvPr id="3240" name="Shape 23"/>
          <p:cNvSpPr/>
          <p:nvPr/>
        </p:nvSpPr>
        <p:spPr>
          <a:xfrm>
            <a:off x="320040" y="4095720"/>
            <a:ext cx="8502840" cy="632520"/>
          </a:xfrm>
          <a:prstGeom prst="rect">
            <a:avLst/>
          </a:prstGeom>
          <a:solidFill>
            <a:srgbClr val="0a1929"/>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41" name="Text 24"/>
          <p:cNvSpPr/>
          <p:nvPr/>
        </p:nvSpPr>
        <p:spPr>
          <a:xfrm>
            <a:off x="457200" y="4172760"/>
            <a:ext cx="8228520" cy="455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chemeClr val="lt1">
                    <a:lumMod val="85000"/>
                  </a:schemeClr>
                </a:solidFill>
                <a:effectLst/>
                <a:uFillTx/>
                <a:latin typeface="Calibri"/>
                <a:ea typeface="DejaVu Sans"/>
              </a:rPr>
              <a:t>Kryteria Wyboru</a:t>
            </a:r>
            <a:r>
              <a:rPr lang="pl-PL" sz="1200" b="0" u="none" strike="noStrike">
                <a:solidFill>
                  <a:schemeClr val="lt1">
                    <a:lumMod val="85000"/>
                  </a:schemeClr>
                </a:solidFill>
                <a:effectLst/>
                <a:uFillTx/>
                <a:latin typeface="Calibri"/>
                <a:ea typeface="DejaVu Sans"/>
              </a:rPr>
              <a:t>: Wielkość zespołu, wymagania współpracy, integracja z workflow deweloperskim, budżet, platforma systemowa.</a:t>
            </a:r>
            <a:endParaRPr lang="pl-PL" sz="1200" b="0" u="none" strike="noStrike">
              <a:solidFill>
                <a:srgbClr val="ffffff"/>
              </a:solidFill>
              <a:effectLst/>
              <a:uFillTx/>
              <a:latin typeface="Arial"/>
            </a:endParaRPr>
          </a:p>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Dla większości nowych projektów i studentów: Figma jest aktualnie optymalnym wyborem. Darmowy plan jest bardzo rozbudowany.</a:t>
            </a:r>
            <a:endParaRPr lang="pl-PL" sz="1200" b="0" u="none" strike="noStrike">
              <a:solidFill>
                <a:srgbClr val="ffffff"/>
              </a:solidFill>
              <a:effectLst/>
              <a:uFillTx/>
              <a:latin typeface="Arial"/>
            </a:endParaRPr>
          </a:p>
        </p:txBody>
      </p:sp>
      <p:sp>
        <p:nvSpPr>
          <p:cNvPr id="3242" name="Text 27"/>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41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3243" name="Grupa 42"/>
          <p:cNvGrpSpPr/>
          <p:nvPr/>
        </p:nvGrpSpPr>
        <p:grpSpPr>
          <a:xfrm>
            <a:off x="-2520" y="4884840"/>
            <a:ext cx="9145440" cy="259200"/>
            <a:chOff x="-2520" y="4884840"/>
            <a:chExt cx="9145440" cy="259200"/>
          </a:xfrm>
        </p:grpSpPr>
        <p:sp>
          <p:nvSpPr>
            <p:cNvPr id="3244"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45"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246" name="Grupa 45"/>
            <p:cNvGrpSpPr/>
            <p:nvPr/>
          </p:nvGrpSpPr>
          <p:grpSpPr>
            <a:xfrm>
              <a:off x="-2520" y="5099400"/>
              <a:ext cx="9145440" cy="44640"/>
              <a:chOff x="-2520" y="5099400"/>
              <a:chExt cx="9145440" cy="44640"/>
            </a:xfrm>
          </p:grpSpPr>
          <p:sp>
            <p:nvSpPr>
              <p:cNvPr id="3247"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48"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49"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0"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1"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2"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3"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4"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5"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6"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7"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8"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59"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0"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1"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2"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3"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4"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5"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6"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7"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8"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69"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0"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1"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2"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3"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4"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5"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6"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7"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8"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79"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0"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1"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2"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3"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4"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5" name="Shape 52"/>
              <p:cNvSpPr/>
              <p:nvPr/>
            </p:nvSpPr>
            <p:spPr>
              <a:xfrm>
                <a:off x="75538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6" name="Shape 52"/>
              <p:cNvSpPr/>
              <p:nvPr/>
            </p:nvSpPr>
            <p:spPr>
              <a:xfrm>
                <a:off x="7752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7" name="Shape 52"/>
              <p:cNvSpPr/>
              <p:nvPr/>
            </p:nvSpPr>
            <p:spPr>
              <a:xfrm>
                <a:off x="795132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8" name="Shape 52"/>
              <p:cNvSpPr/>
              <p:nvPr/>
            </p:nvSpPr>
            <p:spPr>
              <a:xfrm>
                <a:off x="815004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89" name="Shape 52"/>
              <p:cNvSpPr/>
              <p:nvPr/>
            </p:nvSpPr>
            <p:spPr>
              <a:xfrm>
                <a:off x="83487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90"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91"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92"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293" name="Shape 0"/>
          <p:cNvSpPr/>
          <p:nvPr/>
        </p:nvSpPr>
        <p:spPr>
          <a:xfrm>
            <a:off x="320040" y="255960"/>
            <a:ext cx="53640" cy="501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94"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Narzędzia wspierające proces projektowy</a:t>
            </a:r>
            <a:endParaRPr lang="pl-PL" sz="2200" b="0" u="none" strike="noStrike">
              <a:solidFill>
                <a:srgbClr val="ffffff"/>
              </a:solidFill>
              <a:effectLst/>
              <a:uFillTx/>
              <a:latin typeface="Arial"/>
            </a:endParaRPr>
          </a:p>
        </p:txBody>
      </p:sp>
      <p:sp>
        <p:nvSpPr>
          <p:cNvPr id="3295" name="Shape 2"/>
          <p:cNvSpPr/>
          <p:nvPr/>
        </p:nvSpPr>
        <p:spPr>
          <a:xfrm>
            <a:off x="320040" y="1108800"/>
            <a:ext cx="2742120" cy="16448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96" name="Shape 3"/>
          <p:cNvSpPr/>
          <p:nvPr/>
        </p:nvSpPr>
        <p:spPr>
          <a:xfrm>
            <a:off x="320040" y="1108800"/>
            <a:ext cx="44640" cy="1644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297" name="Text 4"/>
          <p:cNvSpPr/>
          <p:nvPr/>
        </p:nvSpPr>
        <p:spPr>
          <a:xfrm>
            <a:off x="465840" y="1164240"/>
            <a:ext cx="25408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00e676"/>
                </a:solidFill>
                <a:effectLst/>
                <a:uFillTx/>
                <a:latin typeface="Calibri"/>
                <a:ea typeface="DejaVu Sans"/>
              </a:rPr>
              <a:t>Prototypowanie</a:t>
            </a:r>
            <a:endParaRPr lang="pl-PL" sz="1800" b="0" u="none" strike="noStrike">
              <a:solidFill>
                <a:srgbClr val="ffffff"/>
              </a:solidFill>
              <a:effectLst/>
              <a:uFillTx/>
              <a:latin typeface="Arial"/>
            </a:endParaRPr>
          </a:p>
        </p:txBody>
      </p:sp>
      <p:sp>
        <p:nvSpPr>
          <p:cNvPr id="3298" name="Text 5"/>
          <p:cNvSpPr/>
          <p:nvPr/>
        </p:nvSpPr>
        <p:spPr>
          <a:xfrm>
            <a:off x="466920" y="15476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Principle</a:t>
            </a:r>
            <a:r>
              <a:rPr lang="pl-PL" sz="1200" b="0" u="none" strike="noStrike">
                <a:solidFill>
                  <a:schemeClr val="lt1">
                    <a:lumMod val="85000"/>
                  </a:schemeClr>
                </a:solidFill>
                <a:effectLst/>
                <a:uFillTx/>
                <a:latin typeface="Calibri"/>
                <a:ea typeface="DejaVu Sans"/>
              </a:rPr>
              <a:t> - zaawansowane animacje</a:t>
            </a:r>
            <a:endParaRPr lang="pl-PL" sz="1200" b="0" u="none" strike="noStrike">
              <a:solidFill>
                <a:srgbClr val="ffffff"/>
              </a:solidFill>
              <a:effectLst/>
              <a:uFillTx/>
              <a:latin typeface="Arial"/>
            </a:endParaRPr>
          </a:p>
        </p:txBody>
      </p:sp>
      <p:sp>
        <p:nvSpPr>
          <p:cNvPr id="3299" name="Text 6"/>
          <p:cNvSpPr/>
          <p:nvPr/>
        </p:nvSpPr>
        <p:spPr>
          <a:xfrm>
            <a:off x="466920" y="18950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ProtoPie</a:t>
            </a:r>
            <a:r>
              <a:rPr lang="pl-PL" sz="1200" b="0" u="none" strike="noStrike">
                <a:solidFill>
                  <a:schemeClr val="lt1">
                    <a:lumMod val="85000"/>
                  </a:schemeClr>
                </a:solidFill>
                <a:effectLst/>
                <a:uFillTx/>
                <a:latin typeface="Calibri"/>
                <a:ea typeface="DejaVu Sans"/>
              </a:rPr>
              <a:t> - high-fidelity z sensorami</a:t>
            </a:r>
            <a:endParaRPr lang="pl-PL" sz="1200" b="0" u="none" strike="noStrike">
              <a:solidFill>
                <a:srgbClr val="ffffff"/>
              </a:solidFill>
              <a:effectLst/>
              <a:uFillTx/>
              <a:latin typeface="Arial"/>
            </a:endParaRPr>
          </a:p>
        </p:txBody>
      </p:sp>
      <p:sp>
        <p:nvSpPr>
          <p:cNvPr id="3300" name="Text 7"/>
          <p:cNvSpPr/>
          <p:nvPr/>
        </p:nvSpPr>
        <p:spPr>
          <a:xfrm>
            <a:off x="466920" y="224280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Framer</a:t>
            </a:r>
            <a:r>
              <a:rPr lang="pl-PL" sz="1200" b="0" u="none" strike="noStrike">
                <a:solidFill>
                  <a:schemeClr val="lt1">
                    <a:lumMod val="85000"/>
                  </a:schemeClr>
                </a:solidFill>
                <a:effectLst/>
                <a:uFillTx/>
                <a:latin typeface="Calibri"/>
                <a:ea typeface="DejaVu Sans"/>
              </a:rPr>
              <a:t> - prototypy z kodem React</a:t>
            </a:r>
            <a:endParaRPr lang="pl-PL" sz="1200" b="0" u="none" strike="noStrike">
              <a:solidFill>
                <a:srgbClr val="ffffff"/>
              </a:solidFill>
              <a:effectLst/>
              <a:uFillTx/>
              <a:latin typeface="Arial"/>
            </a:endParaRPr>
          </a:p>
        </p:txBody>
      </p:sp>
      <p:sp>
        <p:nvSpPr>
          <p:cNvPr id="3301" name="Shape 8"/>
          <p:cNvSpPr/>
          <p:nvPr/>
        </p:nvSpPr>
        <p:spPr>
          <a:xfrm>
            <a:off x="3200400" y="1108800"/>
            <a:ext cx="2742120" cy="16448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02" name="Shape 9"/>
          <p:cNvSpPr/>
          <p:nvPr/>
        </p:nvSpPr>
        <p:spPr>
          <a:xfrm>
            <a:off x="3200400" y="1108800"/>
            <a:ext cx="44640" cy="16448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03" name="Text 10"/>
          <p:cNvSpPr/>
          <p:nvPr/>
        </p:nvSpPr>
        <p:spPr>
          <a:xfrm>
            <a:off x="3346200" y="1164240"/>
            <a:ext cx="25408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00d4ff"/>
                </a:solidFill>
                <a:effectLst/>
                <a:uFillTx/>
                <a:latin typeface="Calibri"/>
                <a:ea typeface="DejaVu Sans"/>
              </a:rPr>
              <a:t>Testowanie</a:t>
            </a:r>
            <a:endParaRPr lang="pl-PL" sz="1800" b="0" u="none" strike="noStrike">
              <a:solidFill>
                <a:srgbClr val="ffffff"/>
              </a:solidFill>
              <a:effectLst/>
              <a:uFillTx/>
              <a:latin typeface="Arial"/>
            </a:endParaRPr>
          </a:p>
        </p:txBody>
      </p:sp>
      <p:sp>
        <p:nvSpPr>
          <p:cNvPr id="3304" name="Text 11"/>
          <p:cNvSpPr/>
          <p:nvPr/>
        </p:nvSpPr>
        <p:spPr>
          <a:xfrm>
            <a:off x="3347280" y="15476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Maze</a:t>
            </a:r>
            <a:r>
              <a:rPr lang="pl-PL" sz="1200" b="0" u="none" strike="noStrike">
                <a:solidFill>
                  <a:schemeClr val="lt1">
                    <a:lumMod val="85000"/>
                  </a:schemeClr>
                </a:solidFill>
                <a:effectLst/>
                <a:uFillTx/>
                <a:latin typeface="Calibri"/>
                <a:ea typeface="DejaVu Sans"/>
              </a:rPr>
              <a:t> - testy użyteczności, heatmapy</a:t>
            </a:r>
            <a:endParaRPr lang="pl-PL" sz="1200" b="0" u="none" strike="noStrike">
              <a:solidFill>
                <a:srgbClr val="ffffff"/>
              </a:solidFill>
              <a:effectLst/>
              <a:uFillTx/>
              <a:latin typeface="Arial"/>
            </a:endParaRPr>
          </a:p>
        </p:txBody>
      </p:sp>
      <p:sp>
        <p:nvSpPr>
          <p:cNvPr id="3305" name="Text 12"/>
          <p:cNvSpPr/>
          <p:nvPr/>
        </p:nvSpPr>
        <p:spPr>
          <a:xfrm>
            <a:off x="3346200" y="1895040"/>
            <a:ext cx="241776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UserTesting</a:t>
            </a:r>
            <a:r>
              <a:rPr lang="pl-PL" sz="1200" b="0" u="none" strike="noStrike">
                <a:solidFill>
                  <a:schemeClr val="lt1">
                    <a:lumMod val="85000"/>
                  </a:schemeClr>
                </a:solidFill>
                <a:effectLst/>
                <a:uFillTx/>
                <a:latin typeface="Calibri"/>
                <a:ea typeface="DejaVu Sans"/>
              </a:rPr>
              <a:t> - zdalne testy z userami</a:t>
            </a:r>
            <a:endParaRPr lang="pl-PL" sz="1200" b="0" u="none" strike="noStrike">
              <a:solidFill>
                <a:srgbClr val="ffffff"/>
              </a:solidFill>
              <a:effectLst/>
              <a:uFillTx/>
              <a:latin typeface="Arial"/>
            </a:endParaRPr>
          </a:p>
        </p:txBody>
      </p:sp>
      <p:sp>
        <p:nvSpPr>
          <p:cNvPr id="3306" name="Text 13"/>
          <p:cNvSpPr/>
          <p:nvPr/>
        </p:nvSpPr>
        <p:spPr>
          <a:xfrm>
            <a:off x="3347280" y="224280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Lookback</a:t>
            </a:r>
            <a:r>
              <a:rPr lang="pl-PL" sz="1200" b="0" u="none" strike="noStrike">
                <a:solidFill>
                  <a:schemeClr val="lt1">
                    <a:lumMod val="85000"/>
                  </a:schemeClr>
                </a:solidFill>
                <a:effectLst/>
                <a:uFillTx/>
                <a:latin typeface="Calibri"/>
                <a:ea typeface="DejaVu Sans"/>
              </a:rPr>
              <a:t> - sesje testowe + nagrania</a:t>
            </a:r>
            <a:endParaRPr lang="pl-PL" sz="1200" b="0" u="none" strike="noStrike">
              <a:solidFill>
                <a:srgbClr val="ffffff"/>
              </a:solidFill>
              <a:effectLst/>
              <a:uFillTx/>
              <a:latin typeface="Arial"/>
            </a:endParaRPr>
          </a:p>
        </p:txBody>
      </p:sp>
      <p:sp>
        <p:nvSpPr>
          <p:cNvPr id="3307" name="Shape 14"/>
          <p:cNvSpPr/>
          <p:nvPr/>
        </p:nvSpPr>
        <p:spPr>
          <a:xfrm>
            <a:off x="6080760" y="1108800"/>
            <a:ext cx="2742120" cy="16448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08" name="Shape 15"/>
          <p:cNvSpPr/>
          <p:nvPr/>
        </p:nvSpPr>
        <p:spPr>
          <a:xfrm>
            <a:off x="6080760" y="1108800"/>
            <a:ext cx="44640" cy="1644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09" name="Text 16"/>
          <p:cNvSpPr/>
          <p:nvPr/>
        </p:nvSpPr>
        <p:spPr>
          <a:xfrm>
            <a:off x="6226560" y="1164240"/>
            <a:ext cx="25408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2d78"/>
                </a:solidFill>
                <a:effectLst/>
                <a:uFillTx/>
                <a:latin typeface="Calibri"/>
                <a:ea typeface="DejaVu Sans"/>
              </a:rPr>
              <a:t>Zarządzanie</a:t>
            </a:r>
            <a:endParaRPr lang="pl-PL" sz="1800" b="0" u="none" strike="noStrike">
              <a:solidFill>
                <a:srgbClr val="ffffff"/>
              </a:solidFill>
              <a:effectLst/>
              <a:uFillTx/>
              <a:latin typeface="Arial"/>
            </a:endParaRPr>
          </a:p>
        </p:txBody>
      </p:sp>
      <p:sp>
        <p:nvSpPr>
          <p:cNvPr id="3310" name="Text 17"/>
          <p:cNvSpPr/>
          <p:nvPr/>
        </p:nvSpPr>
        <p:spPr>
          <a:xfrm>
            <a:off x="6227640" y="15476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Jira</a:t>
            </a:r>
            <a:r>
              <a:rPr lang="pl-PL" sz="1200" b="0" u="none" strike="noStrike">
                <a:solidFill>
                  <a:schemeClr val="lt1">
                    <a:lumMod val="85000"/>
                  </a:schemeClr>
                </a:solidFill>
                <a:effectLst/>
                <a:uFillTx/>
                <a:latin typeface="Calibri"/>
                <a:ea typeface="DejaVu Sans"/>
              </a:rPr>
              <a:t> - Agile, backlog, sprinty</a:t>
            </a:r>
            <a:endParaRPr lang="pl-PL" sz="1200" b="0" u="none" strike="noStrike">
              <a:solidFill>
                <a:srgbClr val="ffffff"/>
              </a:solidFill>
              <a:effectLst/>
              <a:uFillTx/>
              <a:latin typeface="Arial"/>
            </a:endParaRPr>
          </a:p>
        </p:txBody>
      </p:sp>
      <p:sp>
        <p:nvSpPr>
          <p:cNvPr id="3311" name="Text 18"/>
          <p:cNvSpPr/>
          <p:nvPr/>
        </p:nvSpPr>
        <p:spPr>
          <a:xfrm>
            <a:off x="6227640" y="18950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Trello</a:t>
            </a:r>
            <a:r>
              <a:rPr lang="pl-PL" sz="1200" b="0" u="none" strike="noStrike">
                <a:solidFill>
                  <a:schemeClr val="lt1">
                    <a:lumMod val="85000"/>
                  </a:schemeClr>
                </a:solidFill>
                <a:effectLst/>
                <a:uFillTx/>
                <a:latin typeface="Calibri"/>
                <a:ea typeface="DejaVu Sans"/>
              </a:rPr>
              <a:t> - Kanban, prostsze projekty</a:t>
            </a:r>
            <a:endParaRPr lang="pl-PL" sz="1200" b="0" u="none" strike="noStrike">
              <a:solidFill>
                <a:srgbClr val="ffffff"/>
              </a:solidFill>
              <a:effectLst/>
              <a:uFillTx/>
              <a:latin typeface="Arial"/>
            </a:endParaRPr>
          </a:p>
        </p:txBody>
      </p:sp>
      <p:sp>
        <p:nvSpPr>
          <p:cNvPr id="3312" name="Text 19"/>
          <p:cNvSpPr/>
          <p:nvPr/>
        </p:nvSpPr>
        <p:spPr>
          <a:xfrm>
            <a:off x="6227640" y="224280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Linear</a:t>
            </a:r>
            <a:r>
              <a:rPr lang="pl-PL" sz="1200" b="0" u="none" strike="noStrike">
                <a:solidFill>
                  <a:schemeClr val="lt1">
                    <a:lumMod val="85000"/>
                  </a:schemeClr>
                </a:solidFill>
                <a:effectLst/>
                <a:uFillTx/>
                <a:latin typeface="Calibri"/>
                <a:ea typeface="DejaVu Sans"/>
              </a:rPr>
              <a:t> - nowoczesne zarządzanie</a:t>
            </a:r>
            <a:endParaRPr lang="pl-PL" sz="1200" b="0" u="none" strike="noStrike">
              <a:solidFill>
                <a:srgbClr val="ffffff"/>
              </a:solidFill>
              <a:effectLst/>
              <a:uFillTx/>
              <a:latin typeface="Arial"/>
            </a:endParaRPr>
          </a:p>
        </p:txBody>
      </p:sp>
      <p:sp>
        <p:nvSpPr>
          <p:cNvPr id="3313" name="Shape 20"/>
          <p:cNvSpPr/>
          <p:nvPr/>
        </p:nvSpPr>
        <p:spPr>
          <a:xfrm>
            <a:off x="320040" y="2919240"/>
            <a:ext cx="2742120" cy="16448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14" name="Shape 21"/>
          <p:cNvSpPr/>
          <p:nvPr/>
        </p:nvSpPr>
        <p:spPr>
          <a:xfrm>
            <a:off x="320040" y="2919240"/>
            <a:ext cx="44640" cy="16448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15" name="Text 22"/>
          <p:cNvSpPr/>
          <p:nvPr/>
        </p:nvSpPr>
        <p:spPr>
          <a:xfrm>
            <a:off x="465840" y="2974680"/>
            <a:ext cx="25408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b388ff"/>
                </a:solidFill>
                <a:effectLst/>
                <a:uFillTx/>
                <a:latin typeface="Calibri"/>
                <a:ea typeface="DejaVu Sans"/>
              </a:rPr>
              <a:t>Design Systems</a:t>
            </a:r>
            <a:endParaRPr lang="pl-PL" sz="1800" b="0" u="none" strike="noStrike">
              <a:solidFill>
                <a:srgbClr val="ffffff"/>
              </a:solidFill>
              <a:effectLst/>
              <a:uFillTx/>
              <a:latin typeface="Arial"/>
            </a:endParaRPr>
          </a:p>
        </p:txBody>
      </p:sp>
      <p:sp>
        <p:nvSpPr>
          <p:cNvPr id="3316" name="Text 23"/>
          <p:cNvSpPr/>
          <p:nvPr/>
        </p:nvSpPr>
        <p:spPr>
          <a:xfrm>
            <a:off x="470160" y="3358080"/>
            <a:ext cx="270972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Storybook</a:t>
            </a:r>
            <a:r>
              <a:rPr lang="pl-PL" sz="1200" b="0" u="none" strike="noStrike">
                <a:solidFill>
                  <a:schemeClr val="lt1">
                    <a:lumMod val="85000"/>
                  </a:schemeClr>
                </a:solidFill>
                <a:effectLst/>
                <a:uFillTx/>
                <a:latin typeface="Calibri"/>
                <a:ea typeface="DejaVu Sans"/>
              </a:rPr>
              <a:t> - </a:t>
            </a:r>
            <a:r>
              <a:rPr lang="pl-PL" sz="1100" b="0" u="none" strike="noStrike">
                <a:solidFill>
                  <a:schemeClr val="lt1">
                    <a:lumMod val="85000"/>
                  </a:schemeClr>
                </a:solidFill>
                <a:effectLst/>
                <a:uFillTx/>
                <a:latin typeface="Calibri"/>
                <a:ea typeface="DejaVu Sans"/>
              </a:rPr>
              <a:t>dokumentacja komponentów</a:t>
            </a:r>
            <a:endParaRPr lang="pl-PL" sz="1100" b="0" u="none" strike="noStrike">
              <a:solidFill>
                <a:srgbClr val="ffffff"/>
              </a:solidFill>
              <a:effectLst/>
              <a:uFillTx/>
              <a:latin typeface="Arial"/>
            </a:endParaRPr>
          </a:p>
        </p:txBody>
      </p:sp>
      <p:sp>
        <p:nvSpPr>
          <p:cNvPr id="3317" name="Text 24"/>
          <p:cNvSpPr/>
          <p:nvPr/>
        </p:nvSpPr>
        <p:spPr>
          <a:xfrm>
            <a:off x="466920" y="37058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Zeroheight</a:t>
            </a:r>
            <a:r>
              <a:rPr lang="pl-PL" sz="1200" b="0" u="none" strike="noStrike">
                <a:solidFill>
                  <a:schemeClr val="lt1">
                    <a:lumMod val="85000"/>
                  </a:schemeClr>
                </a:solidFill>
                <a:effectLst/>
                <a:uFillTx/>
                <a:latin typeface="Calibri"/>
                <a:ea typeface="DejaVu Sans"/>
              </a:rPr>
              <a:t> - dokumentacja DS</a:t>
            </a:r>
            <a:endParaRPr lang="pl-PL" sz="1200" b="0" u="none" strike="noStrike">
              <a:solidFill>
                <a:srgbClr val="ffffff"/>
              </a:solidFill>
              <a:effectLst/>
              <a:uFillTx/>
              <a:latin typeface="Arial"/>
            </a:endParaRPr>
          </a:p>
        </p:txBody>
      </p:sp>
      <p:sp>
        <p:nvSpPr>
          <p:cNvPr id="3318" name="Text 25"/>
          <p:cNvSpPr/>
          <p:nvPr/>
        </p:nvSpPr>
        <p:spPr>
          <a:xfrm>
            <a:off x="466920" y="40532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Figma Variables </a:t>
            </a:r>
            <a:r>
              <a:rPr lang="pl-PL" sz="1200" b="0" u="none" strike="noStrike">
                <a:solidFill>
                  <a:schemeClr val="lt1">
                    <a:lumMod val="85000"/>
                  </a:schemeClr>
                </a:solidFill>
                <a:effectLst/>
                <a:uFillTx/>
                <a:latin typeface="Calibri"/>
                <a:ea typeface="DejaVu Sans"/>
              </a:rPr>
              <a:t>- design tokens</a:t>
            </a:r>
            <a:endParaRPr lang="pl-PL" sz="1200" b="0" u="none" strike="noStrike">
              <a:solidFill>
                <a:srgbClr val="ffffff"/>
              </a:solidFill>
              <a:effectLst/>
              <a:uFillTx/>
              <a:latin typeface="Arial"/>
            </a:endParaRPr>
          </a:p>
        </p:txBody>
      </p:sp>
      <p:sp>
        <p:nvSpPr>
          <p:cNvPr id="3319" name="Shape 26"/>
          <p:cNvSpPr/>
          <p:nvPr/>
        </p:nvSpPr>
        <p:spPr>
          <a:xfrm>
            <a:off x="3200400" y="2919240"/>
            <a:ext cx="2742120" cy="16448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20" name="Shape 27"/>
          <p:cNvSpPr/>
          <p:nvPr/>
        </p:nvSpPr>
        <p:spPr>
          <a:xfrm>
            <a:off x="3200400" y="2919240"/>
            <a:ext cx="44640" cy="16448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21" name="Text 28"/>
          <p:cNvSpPr/>
          <p:nvPr/>
        </p:nvSpPr>
        <p:spPr>
          <a:xfrm>
            <a:off x="3346200" y="2974680"/>
            <a:ext cx="25408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9100"/>
                </a:solidFill>
                <a:effectLst/>
                <a:uFillTx/>
                <a:latin typeface="Calibri"/>
                <a:ea typeface="DejaVu Sans"/>
              </a:rPr>
              <a:t>Kolaboracja</a:t>
            </a:r>
            <a:endParaRPr lang="pl-PL" sz="1800" b="0" u="none" strike="noStrike">
              <a:solidFill>
                <a:srgbClr val="ffffff"/>
              </a:solidFill>
              <a:effectLst/>
              <a:uFillTx/>
              <a:latin typeface="Arial"/>
            </a:endParaRPr>
          </a:p>
        </p:txBody>
      </p:sp>
      <p:sp>
        <p:nvSpPr>
          <p:cNvPr id="3322" name="Text 29"/>
          <p:cNvSpPr/>
          <p:nvPr/>
        </p:nvSpPr>
        <p:spPr>
          <a:xfrm>
            <a:off x="3347280" y="335808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Miro</a:t>
            </a:r>
            <a:r>
              <a:rPr lang="pl-PL" sz="1200" b="0" u="none" strike="noStrike">
                <a:solidFill>
                  <a:schemeClr val="lt1">
                    <a:lumMod val="85000"/>
                  </a:schemeClr>
                </a:solidFill>
                <a:effectLst/>
                <a:uFillTx/>
                <a:latin typeface="Calibri"/>
                <a:ea typeface="DejaVu Sans"/>
              </a:rPr>
              <a:t> - wirtualna tablica, warsztaty</a:t>
            </a:r>
            <a:endParaRPr lang="pl-PL" sz="1200" b="0" u="none" strike="noStrike">
              <a:solidFill>
                <a:srgbClr val="ffffff"/>
              </a:solidFill>
              <a:effectLst/>
              <a:uFillTx/>
              <a:latin typeface="Arial"/>
            </a:endParaRPr>
          </a:p>
        </p:txBody>
      </p:sp>
      <p:sp>
        <p:nvSpPr>
          <p:cNvPr id="3323" name="Text 30"/>
          <p:cNvSpPr/>
          <p:nvPr/>
        </p:nvSpPr>
        <p:spPr>
          <a:xfrm>
            <a:off x="3347280" y="37058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FigJam</a:t>
            </a:r>
            <a:r>
              <a:rPr lang="pl-PL" sz="1200" b="0" u="none" strike="noStrike">
                <a:solidFill>
                  <a:schemeClr val="lt1">
                    <a:lumMod val="85000"/>
                  </a:schemeClr>
                </a:solidFill>
                <a:effectLst/>
                <a:uFillTx/>
                <a:latin typeface="Calibri"/>
                <a:ea typeface="DejaVu Sans"/>
              </a:rPr>
              <a:t> - whiteboard od Figma</a:t>
            </a:r>
            <a:endParaRPr lang="pl-PL" sz="1200" b="0" u="none" strike="noStrike">
              <a:solidFill>
                <a:srgbClr val="ffffff"/>
              </a:solidFill>
              <a:effectLst/>
              <a:uFillTx/>
              <a:latin typeface="Arial"/>
            </a:endParaRPr>
          </a:p>
        </p:txBody>
      </p:sp>
      <p:sp>
        <p:nvSpPr>
          <p:cNvPr id="3324" name="Text 31"/>
          <p:cNvSpPr/>
          <p:nvPr/>
        </p:nvSpPr>
        <p:spPr>
          <a:xfrm>
            <a:off x="3347280" y="40532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Notion</a:t>
            </a:r>
            <a:r>
              <a:rPr lang="pl-PL" sz="1200" b="0" u="none" strike="noStrike">
                <a:solidFill>
                  <a:schemeClr val="lt1">
                    <a:lumMod val="85000"/>
                  </a:schemeClr>
                </a:solidFill>
                <a:effectLst/>
                <a:uFillTx/>
                <a:latin typeface="Calibri"/>
                <a:ea typeface="DejaVu Sans"/>
              </a:rPr>
              <a:t> - dokumentacja, wiki</a:t>
            </a:r>
            <a:endParaRPr lang="pl-PL" sz="1200" b="0" u="none" strike="noStrike">
              <a:solidFill>
                <a:srgbClr val="ffffff"/>
              </a:solidFill>
              <a:effectLst/>
              <a:uFillTx/>
              <a:latin typeface="Arial"/>
            </a:endParaRPr>
          </a:p>
        </p:txBody>
      </p:sp>
      <p:sp>
        <p:nvSpPr>
          <p:cNvPr id="3325" name="Shape 32"/>
          <p:cNvSpPr/>
          <p:nvPr/>
        </p:nvSpPr>
        <p:spPr>
          <a:xfrm>
            <a:off x="6080760" y="2919240"/>
            <a:ext cx="2742120" cy="164484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26" name="Shape 33"/>
          <p:cNvSpPr/>
          <p:nvPr/>
        </p:nvSpPr>
        <p:spPr>
          <a:xfrm>
            <a:off x="6080760" y="2919240"/>
            <a:ext cx="44640" cy="164484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27" name="Text 34"/>
          <p:cNvSpPr/>
          <p:nvPr/>
        </p:nvSpPr>
        <p:spPr>
          <a:xfrm>
            <a:off x="6226560" y="2974680"/>
            <a:ext cx="254088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d600"/>
                </a:solidFill>
                <a:effectLst/>
                <a:uFillTx/>
                <a:latin typeface="Calibri"/>
                <a:ea typeface="DejaVu Sans"/>
              </a:rPr>
              <a:t>Dostępność</a:t>
            </a:r>
            <a:endParaRPr lang="pl-PL" sz="1800" b="0" u="none" strike="noStrike">
              <a:solidFill>
                <a:srgbClr val="ffffff"/>
              </a:solidFill>
              <a:effectLst/>
              <a:uFillTx/>
              <a:latin typeface="Arial"/>
            </a:endParaRPr>
          </a:p>
        </p:txBody>
      </p:sp>
      <p:sp>
        <p:nvSpPr>
          <p:cNvPr id="3328" name="Text 35"/>
          <p:cNvSpPr/>
          <p:nvPr/>
        </p:nvSpPr>
        <p:spPr>
          <a:xfrm>
            <a:off x="6227640" y="335808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Stark</a:t>
            </a:r>
            <a:r>
              <a:rPr lang="pl-PL" sz="1200" b="0" u="none" strike="noStrike">
                <a:solidFill>
                  <a:schemeClr val="lt1">
                    <a:lumMod val="85000"/>
                  </a:schemeClr>
                </a:solidFill>
                <a:effectLst/>
                <a:uFillTx/>
                <a:latin typeface="Calibri"/>
                <a:ea typeface="DejaVu Sans"/>
              </a:rPr>
              <a:t> - plugin Figma/Sketch (kontrast)</a:t>
            </a:r>
            <a:endParaRPr lang="pl-PL" sz="1200" b="0" u="none" strike="noStrike">
              <a:solidFill>
                <a:srgbClr val="ffffff"/>
              </a:solidFill>
              <a:effectLst/>
              <a:uFillTx/>
              <a:latin typeface="Arial"/>
            </a:endParaRPr>
          </a:p>
        </p:txBody>
      </p:sp>
      <p:sp>
        <p:nvSpPr>
          <p:cNvPr id="3329" name="Text 36"/>
          <p:cNvSpPr/>
          <p:nvPr/>
        </p:nvSpPr>
        <p:spPr>
          <a:xfrm>
            <a:off x="6227640" y="37058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axe DevTools </a:t>
            </a:r>
            <a:r>
              <a:rPr lang="pl-PL" sz="1200" b="0" u="none" strike="noStrike">
                <a:solidFill>
                  <a:schemeClr val="lt1">
                    <a:lumMod val="85000"/>
                  </a:schemeClr>
                </a:solidFill>
                <a:effectLst/>
                <a:uFillTx/>
                <a:latin typeface="Calibri"/>
                <a:ea typeface="DejaVu Sans"/>
              </a:rPr>
              <a:t>- </a:t>
            </a:r>
            <a:r>
              <a:rPr lang="pl-PL" sz="1100" b="0" u="none" strike="noStrike">
                <a:solidFill>
                  <a:schemeClr val="lt1">
                    <a:lumMod val="85000"/>
                  </a:schemeClr>
                </a:solidFill>
                <a:effectLst/>
                <a:uFillTx/>
                <a:latin typeface="Calibri"/>
                <a:ea typeface="DejaVu Sans"/>
              </a:rPr>
              <a:t>automatyczne testy a11y</a:t>
            </a:r>
            <a:endParaRPr lang="pl-PL" sz="1100" b="0" u="none" strike="noStrike">
              <a:solidFill>
                <a:srgbClr val="ffffff"/>
              </a:solidFill>
              <a:effectLst/>
              <a:uFillTx/>
              <a:latin typeface="Arial"/>
            </a:endParaRPr>
          </a:p>
        </p:txBody>
      </p:sp>
      <p:sp>
        <p:nvSpPr>
          <p:cNvPr id="3330" name="Text 37"/>
          <p:cNvSpPr/>
          <p:nvPr/>
        </p:nvSpPr>
        <p:spPr>
          <a:xfrm>
            <a:off x="6227640" y="4053240"/>
            <a:ext cx="2503800" cy="309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u="none" strike="noStrike">
                <a:solidFill>
                  <a:schemeClr val="lt1">
                    <a:lumMod val="85000"/>
                  </a:schemeClr>
                </a:solidFill>
                <a:effectLst/>
                <a:uFillTx/>
                <a:latin typeface="Calibri"/>
                <a:ea typeface="DejaVu Sans"/>
              </a:rPr>
              <a:t>• </a:t>
            </a:r>
            <a:r>
              <a:rPr lang="pl-PL" sz="1200" b="1" u="none" strike="noStrike">
                <a:solidFill>
                  <a:schemeClr val="lt1">
                    <a:lumMod val="85000"/>
                  </a:schemeClr>
                </a:solidFill>
                <a:effectLst/>
                <a:uFillTx/>
                <a:latin typeface="Calibri"/>
                <a:ea typeface="DejaVu Sans"/>
              </a:rPr>
              <a:t>WebAIM</a:t>
            </a:r>
            <a:r>
              <a:rPr lang="pl-PL" sz="1200" b="0" u="none" strike="noStrike">
                <a:solidFill>
                  <a:schemeClr val="lt1">
                    <a:lumMod val="85000"/>
                  </a:schemeClr>
                </a:solidFill>
                <a:effectLst/>
                <a:uFillTx/>
                <a:latin typeface="Calibri"/>
                <a:ea typeface="DejaVu Sans"/>
              </a:rPr>
              <a:t> - kontrast checker online</a:t>
            </a:r>
            <a:endParaRPr lang="pl-PL" sz="1200" b="0" u="none" strike="noStrike">
              <a:solidFill>
                <a:srgbClr val="ffffff"/>
              </a:solidFill>
              <a:effectLst/>
              <a:uFillTx/>
              <a:latin typeface="Arial"/>
            </a:endParaRPr>
          </a:p>
        </p:txBody>
      </p:sp>
      <p:sp>
        <p:nvSpPr>
          <p:cNvPr id="3331" name="Text 40"/>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42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3332" name="Grupa 40"/>
          <p:cNvGrpSpPr/>
          <p:nvPr/>
        </p:nvGrpSpPr>
        <p:grpSpPr>
          <a:xfrm>
            <a:off x="-2520" y="4884840"/>
            <a:ext cx="9145440" cy="259200"/>
            <a:chOff x="-2520" y="4884840"/>
            <a:chExt cx="9145440" cy="259200"/>
          </a:xfrm>
        </p:grpSpPr>
        <p:sp>
          <p:nvSpPr>
            <p:cNvPr id="3333"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34"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335" name="Grupa 43"/>
            <p:cNvGrpSpPr/>
            <p:nvPr/>
          </p:nvGrpSpPr>
          <p:grpSpPr>
            <a:xfrm>
              <a:off x="-2520" y="5099400"/>
              <a:ext cx="9145440" cy="44640"/>
              <a:chOff x="-2520" y="5099400"/>
              <a:chExt cx="9145440" cy="44640"/>
            </a:xfrm>
          </p:grpSpPr>
          <p:sp>
            <p:nvSpPr>
              <p:cNvPr id="3336"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37"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38"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39"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0"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1"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2"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3"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4"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5"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6"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7"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8"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49"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0"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1"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2"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3"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4"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5"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6"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7"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8"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59"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0"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1"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2"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3"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4"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5"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6"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7"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8"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69"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0"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1"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2"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3"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4" name="Shape 52"/>
              <p:cNvSpPr/>
              <p:nvPr/>
            </p:nvSpPr>
            <p:spPr>
              <a:xfrm>
                <a:off x="75538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5" name="Shape 52"/>
              <p:cNvSpPr/>
              <p:nvPr/>
            </p:nvSpPr>
            <p:spPr>
              <a:xfrm>
                <a:off x="7752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6" name="Shape 52"/>
              <p:cNvSpPr/>
              <p:nvPr/>
            </p:nvSpPr>
            <p:spPr>
              <a:xfrm>
                <a:off x="795132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7" name="Shape 52"/>
              <p:cNvSpPr/>
              <p:nvPr/>
            </p:nvSpPr>
            <p:spPr>
              <a:xfrm>
                <a:off x="815004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8" name="Shape 52"/>
              <p:cNvSpPr/>
              <p:nvPr/>
            </p:nvSpPr>
            <p:spPr>
              <a:xfrm>
                <a:off x="834876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79" name="Shape 52"/>
              <p:cNvSpPr/>
              <p:nvPr/>
            </p:nvSpPr>
            <p:spPr>
              <a:xfrm>
                <a:off x="854784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80"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81"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382" name="Shape 0"/>
          <p:cNvSpPr/>
          <p:nvPr/>
        </p:nvSpPr>
        <p:spPr>
          <a:xfrm>
            <a:off x="320040" y="255960"/>
            <a:ext cx="53640" cy="501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83"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Proces projektowania UI/UX od pomysłu do produktu</a:t>
            </a:r>
            <a:endParaRPr lang="pl-PL" sz="2200" b="0" u="none" strike="noStrike">
              <a:solidFill>
                <a:srgbClr val="ffffff"/>
              </a:solidFill>
              <a:effectLst/>
              <a:uFillTx/>
              <a:latin typeface="Arial"/>
            </a:endParaRPr>
          </a:p>
        </p:txBody>
      </p:sp>
      <p:sp>
        <p:nvSpPr>
          <p:cNvPr id="3384" name="Shape 2"/>
          <p:cNvSpPr/>
          <p:nvPr/>
        </p:nvSpPr>
        <p:spPr>
          <a:xfrm>
            <a:off x="320040" y="914400"/>
            <a:ext cx="2742120" cy="1599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85" name="Shape 3"/>
          <p:cNvSpPr/>
          <p:nvPr/>
        </p:nvSpPr>
        <p:spPr>
          <a:xfrm>
            <a:off x="320040" y="914400"/>
            <a:ext cx="44640" cy="159912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86" name="Text 4"/>
          <p:cNvSpPr/>
          <p:nvPr/>
        </p:nvSpPr>
        <p:spPr>
          <a:xfrm>
            <a:off x="429840" y="1005840"/>
            <a:ext cx="2540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d4ff"/>
                </a:solidFill>
                <a:effectLst/>
                <a:uFillTx/>
                <a:latin typeface="Calibri"/>
                <a:ea typeface="DejaVu Sans"/>
              </a:rPr>
              <a:t>Faza 1</a:t>
            </a:r>
            <a:endParaRPr lang="pl-PL" sz="1400" b="0" u="none" strike="noStrike">
              <a:solidFill>
                <a:srgbClr val="ffffff"/>
              </a:solidFill>
              <a:effectLst/>
              <a:uFillTx/>
              <a:latin typeface="Arial"/>
            </a:endParaRPr>
          </a:p>
        </p:txBody>
      </p:sp>
      <p:sp>
        <p:nvSpPr>
          <p:cNvPr id="3387" name="Text 5"/>
          <p:cNvSpPr/>
          <p:nvPr/>
        </p:nvSpPr>
        <p:spPr>
          <a:xfrm>
            <a:off x="429840" y="1298520"/>
            <a:ext cx="25408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Research i discovery</a:t>
            </a:r>
            <a:endParaRPr lang="pl-PL" sz="1800" b="0" u="none" strike="noStrike">
              <a:solidFill>
                <a:srgbClr val="ffffff"/>
              </a:solidFill>
              <a:effectLst/>
              <a:uFillTx/>
              <a:latin typeface="Arial"/>
            </a:endParaRPr>
          </a:p>
        </p:txBody>
      </p:sp>
      <p:sp>
        <p:nvSpPr>
          <p:cNvPr id="3388" name="Text 6"/>
          <p:cNvSpPr/>
          <p:nvPr/>
        </p:nvSpPr>
        <p:spPr>
          <a:xfrm>
            <a:off x="429840" y="1645920"/>
            <a:ext cx="2540880" cy="776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Analiza użytkowników, konkurencji, rynku. User interviews, surveys, competitive analysis.</a:t>
            </a:r>
            <a:endParaRPr lang="pl-PL" sz="1400" b="0" u="none" strike="noStrike">
              <a:solidFill>
                <a:srgbClr val="ffffff"/>
              </a:solidFill>
              <a:effectLst/>
              <a:uFillTx/>
              <a:latin typeface="Arial"/>
            </a:endParaRPr>
          </a:p>
        </p:txBody>
      </p:sp>
      <p:sp>
        <p:nvSpPr>
          <p:cNvPr id="3389" name="Shape 7"/>
          <p:cNvSpPr/>
          <p:nvPr/>
        </p:nvSpPr>
        <p:spPr>
          <a:xfrm>
            <a:off x="3099960" y="1627560"/>
            <a:ext cx="44640" cy="20016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90" name="Shape 8"/>
          <p:cNvSpPr/>
          <p:nvPr/>
        </p:nvSpPr>
        <p:spPr>
          <a:xfrm>
            <a:off x="3200400" y="914400"/>
            <a:ext cx="2742120" cy="1599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91" name="Shape 9"/>
          <p:cNvSpPr/>
          <p:nvPr/>
        </p:nvSpPr>
        <p:spPr>
          <a:xfrm>
            <a:off x="3200400" y="914400"/>
            <a:ext cx="44640" cy="159912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92" name="Text 10"/>
          <p:cNvSpPr/>
          <p:nvPr/>
        </p:nvSpPr>
        <p:spPr>
          <a:xfrm>
            <a:off x="3310200" y="1005840"/>
            <a:ext cx="2540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00e676"/>
                </a:solidFill>
                <a:effectLst/>
                <a:uFillTx/>
                <a:latin typeface="Calibri"/>
                <a:ea typeface="DejaVu Sans"/>
              </a:rPr>
              <a:t>Faza 2</a:t>
            </a:r>
            <a:endParaRPr lang="pl-PL" sz="1400" b="0" u="none" strike="noStrike">
              <a:solidFill>
                <a:srgbClr val="ffffff"/>
              </a:solidFill>
              <a:effectLst/>
              <a:uFillTx/>
              <a:latin typeface="Arial"/>
            </a:endParaRPr>
          </a:p>
        </p:txBody>
      </p:sp>
      <p:sp>
        <p:nvSpPr>
          <p:cNvPr id="3393" name="Text 11"/>
          <p:cNvSpPr/>
          <p:nvPr/>
        </p:nvSpPr>
        <p:spPr>
          <a:xfrm>
            <a:off x="3310200" y="1298520"/>
            <a:ext cx="25408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Definicja i wymagania</a:t>
            </a:r>
            <a:endParaRPr lang="pl-PL" sz="1800" b="0" u="none" strike="noStrike">
              <a:solidFill>
                <a:srgbClr val="ffffff"/>
              </a:solidFill>
              <a:effectLst/>
              <a:uFillTx/>
              <a:latin typeface="Arial"/>
            </a:endParaRPr>
          </a:p>
        </p:txBody>
      </p:sp>
      <p:sp>
        <p:nvSpPr>
          <p:cNvPr id="3394" name="Text 12"/>
          <p:cNvSpPr/>
          <p:nvPr/>
        </p:nvSpPr>
        <p:spPr>
          <a:xfrm>
            <a:off x="3310200" y="1645920"/>
            <a:ext cx="2540880" cy="776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Personas, user stories, journey maps. Definiowanie problemu i celów biznesowych.</a:t>
            </a:r>
            <a:endParaRPr lang="pl-PL" sz="1400" b="0" u="none" strike="noStrike">
              <a:solidFill>
                <a:srgbClr val="ffffff"/>
              </a:solidFill>
              <a:effectLst/>
              <a:uFillTx/>
              <a:latin typeface="Arial"/>
            </a:endParaRPr>
          </a:p>
        </p:txBody>
      </p:sp>
      <p:sp>
        <p:nvSpPr>
          <p:cNvPr id="3395" name="Shape 13"/>
          <p:cNvSpPr/>
          <p:nvPr/>
        </p:nvSpPr>
        <p:spPr>
          <a:xfrm>
            <a:off x="5980320" y="1627560"/>
            <a:ext cx="44640" cy="20016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96" name="Shape 14"/>
          <p:cNvSpPr/>
          <p:nvPr/>
        </p:nvSpPr>
        <p:spPr>
          <a:xfrm>
            <a:off x="6080760" y="914400"/>
            <a:ext cx="2742120" cy="1599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397" name="Shape 15"/>
          <p:cNvSpPr/>
          <p:nvPr/>
        </p:nvSpPr>
        <p:spPr>
          <a:xfrm>
            <a:off x="6080760" y="914400"/>
            <a:ext cx="44640" cy="159912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398" name="Text 16"/>
          <p:cNvSpPr/>
          <p:nvPr/>
        </p:nvSpPr>
        <p:spPr>
          <a:xfrm>
            <a:off x="6190560" y="1005840"/>
            <a:ext cx="2540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d600"/>
                </a:solidFill>
                <a:effectLst/>
                <a:uFillTx/>
                <a:latin typeface="Calibri"/>
                <a:ea typeface="DejaVu Sans"/>
              </a:rPr>
              <a:t>Faza 3</a:t>
            </a:r>
            <a:endParaRPr lang="pl-PL" sz="1400" b="0" u="none" strike="noStrike">
              <a:solidFill>
                <a:srgbClr val="ffffff"/>
              </a:solidFill>
              <a:effectLst/>
              <a:uFillTx/>
              <a:latin typeface="Arial"/>
            </a:endParaRPr>
          </a:p>
        </p:txBody>
      </p:sp>
      <p:sp>
        <p:nvSpPr>
          <p:cNvPr id="3399" name="Text 17"/>
          <p:cNvSpPr/>
          <p:nvPr/>
        </p:nvSpPr>
        <p:spPr>
          <a:xfrm>
            <a:off x="6190560" y="1298520"/>
            <a:ext cx="25408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Ideacja i wireframing</a:t>
            </a:r>
            <a:endParaRPr lang="pl-PL" sz="1800" b="0" u="none" strike="noStrike">
              <a:solidFill>
                <a:srgbClr val="ffffff"/>
              </a:solidFill>
              <a:effectLst/>
              <a:uFillTx/>
              <a:latin typeface="Arial"/>
            </a:endParaRPr>
          </a:p>
        </p:txBody>
      </p:sp>
      <p:sp>
        <p:nvSpPr>
          <p:cNvPr id="3400" name="Text 18"/>
          <p:cNvSpPr/>
          <p:nvPr/>
        </p:nvSpPr>
        <p:spPr>
          <a:xfrm>
            <a:off x="6190560" y="1645920"/>
            <a:ext cx="2540880" cy="776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Brainstorming, sketching, low-fidelity wireframes. Szybkie iteracje pomysłów.</a:t>
            </a:r>
            <a:endParaRPr lang="pl-PL" sz="1400" b="0" u="none" strike="noStrike">
              <a:solidFill>
                <a:srgbClr val="ffffff"/>
              </a:solidFill>
              <a:effectLst/>
              <a:uFillTx/>
              <a:latin typeface="Arial"/>
            </a:endParaRPr>
          </a:p>
        </p:txBody>
      </p:sp>
      <p:sp>
        <p:nvSpPr>
          <p:cNvPr id="3401" name="Shape 19"/>
          <p:cNvSpPr/>
          <p:nvPr/>
        </p:nvSpPr>
        <p:spPr>
          <a:xfrm>
            <a:off x="320040" y="2670120"/>
            <a:ext cx="2742120" cy="1599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02" name="Shape 20"/>
          <p:cNvSpPr/>
          <p:nvPr/>
        </p:nvSpPr>
        <p:spPr>
          <a:xfrm>
            <a:off x="320040" y="2670120"/>
            <a:ext cx="44640" cy="159912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03" name="Text 21"/>
          <p:cNvSpPr/>
          <p:nvPr/>
        </p:nvSpPr>
        <p:spPr>
          <a:xfrm>
            <a:off x="429840" y="2761560"/>
            <a:ext cx="2540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9100"/>
                </a:solidFill>
                <a:effectLst/>
                <a:uFillTx/>
                <a:latin typeface="Calibri"/>
                <a:ea typeface="DejaVu Sans"/>
              </a:rPr>
              <a:t>Faza 4</a:t>
            </a:r>
            <a:endParaRPr lang="pl-PL" sz="1400" b="0" u="none" strike="noStrike">
              <a:solidFill>
                <a:srgbClr val="ffffff"/>
              </a:solidFill>
              <a:effectLst/>
              <a:uFillTx/>
              <a:latin typeface="Arial"/>
            </a:endParaRPr>
          </a:p>
        </p:txBody>
      </p:sp>
      <p:sp>
        <p:nvSpPr>
          <p:cNvPr id="3404" name="Text 22"/>
          <p:cNvSpPr/>
          <p:nvPr/>
        </p:nvSpPr>
        <p:spPr>
          <a:xfrm>
            <a:off x="429840" y="3054240"/>
            <a:ext cx="25408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Projektowanie wizualne</a:t>
            </a:r>
            <a:endParaRPr lang="pl-PL" sz="1800" b="0" u="none" strike="noStrike">
              <a:solidFill>
                <a:srgbClr val="ffffff"/>
              </a:solidFill>
              <a:effectLst/>
              <a:uFillTx/>
              <a:latin typeface="Arial"/>
            </a:endParaRPr>
          </a:p>
        </p:txBody>
      </p:sp>
      <p:sp>
        <p:nvSpPr>
          <p:cNvPr id="3405" name="Text 23"/>
          <p:cNvSpPr/>
          <p:nvPr/>
        </p:nvSpPr>
        <p:spPr>
          <a:xfrm>
            <a:off x="429840" y="3401640"/>
            <a:ext cx="2540880" cy="776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High-fidelity mockups, design system, komponenty. Kolory, typografia, ikony.</a:t>
            </a:r>
            <a:endParaRPr lang="pl-PL" sz="1400" b="0" u="none" strike="noStrike">
              <a:solidFill>
                <a:srgbClr val="ffffff"/>
              </a:solidFill>
              <a:effectLst/>
              <a:uFillTx/>
              <a:latin typeface="Arial"/>
            </a:endParaRPr>
          </a:p>
        </p:txBody>
      </p:sp>
      <p:sp>
        <p:nvSpPr>
          <p:cNvPr id="3406" name="Shape 24"/>
          <p:cNvSpPr/>
          <p:nvPr/>
        </p:nvSpPr>
        <p:spPr>
          <a:xfrm>
            <a:off x="3099960" y="3383280"/>
            <a:ext cx="44640" cy="20016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07" name="Shape 25"/>
          <p:cNvSpPr/>
          <p:nvPr/>
        </p:nvSpPr>
        <p:spPr>
          <a:xfrm>
            <a:off x="3200400" y="2670120"/>
            <a:ext cx="2742120" cy="1599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08" name="Shape 26"/>
          <p:cNvSpPr/>
          <p:nvPr/>
        </p:nvSpPr>
        <p:spPr>
          <a:xfrm>
            <a:off x="3200400" y="2670120"/>
            <a:ext cx="44640" cy="159912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09" name="Text 27"/>
          <p:cNvSpPr/>
          <p:nvPr/>
        </p:nvSpPr>
        <p:spPr>
          <a:xfrm>
            <a:off x="3310200" y="2761560"/>
            <a:ext cx="2540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ff2d78"/>
                </a:solidFill>
                <a:effectLst/>
                <a:uFillTx/>
                <a:latin typeface="Calibri"/>
                <a:ea typeface="DejaVu Sans"/>
              </a:rPr>
              <a:t>Faza 5</a:t>
            </a:r>
            <a:endParaRPr lang="pl-PL" sz="1400" b="0" u="none" strike="noStrike">
              <a:solidFill>
                <a:srgbClr val="ffffff"/>
              </a:solidFill>
              <a:effectLst/>
              <a:uFillTx/>
              <a:latin typeface="Arial"/>
            </a:endParaRPr>
          </a:p>
        </p:txBody>
      </p:sp>
      <p:sp>
        <p:nvSpPr>
          <p:cNvPr id="3410" name="Text 28"/>
          <p:cNvSpPr/>
          <p:nvPr/>
        </p:nvSpPr>
        <p:spPr>
          <a:xfrm>
            <a:off x="3310200" y="3054240"/>
            <a:ext cx="26323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700" b="1" u="none" strike="noStrike">
                <a:solidFill>
                  <a:srgbClr val="ffffff"/>
                </a:solidFill>
                <a:effectLst/>
                <a:uFillTx/>
                <a:latin typeface="Calibri"/>
                <a:ea typeface="DejaVu Sans"/>
              </a:rPr>
              <a:t>Prototypowanie i testowanie</a:t>
            </a:r>
            <a:endParaRPr lang="pl-PL" sz="1700" b="0" u="none" strike="noStrike">
              <a:solidFill>
                <a:srgbClr val="ffffff"/>
              </a:solidFill>
              <a:effectLst/>
              <a:uFillTx/>
              <a:latin typeface="Arial"/>
            </a:endParaRPr>
          </a:p>
        </p:txBody>
      </p:sp>
      <p:sp>
        <p:nvSpPr>
          <p:cNvPr id="3411" name="Text 29"/>
          <p:cNvSpPr/>
          <p:nvPr/>
        </p:nvSpPr>
        <p:spPr>
          <a:xfrm>
            <a:off x="3310200" y="3401640"/>
            <a:ext cx="2540880" cy="776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Interaktywne prototypy, usability testing z użytkownikami, iteracje wyników.</a:t>
            </a:r>
            <a:endParaRPr lang="pl-PL" sz="1400" b="0" u="none" strike="noStrike">
              <a:solidFill>
                <a:srgbClr val="ffffff"/>
              </a:solidFill>
              <a:effectLst/>
              <a:uFillTx/>
              <a:latin typeface="Arial"/>
            </a:endParaRPr>
          </a:p>
        </p:txBody>
      </p:sp>
      <p:sp>
        <p:nvSpPr>
          <p:cNvPr id="3412" name="Shape 30"/>
          <p:cNvSpPr/>
          <p:nvPr/>
        </p:nvSpPr>
        <p:spPr>
          <a:xfrm>
            <a:off x="5980320" y="3383280"/>
            <a:ext cx="44640" cy="20016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13" name="Shape 31"/>
          <p:cNvSpPr/>
          <p:nvPr/>
        </p:nvSpPr>
        <p:spPr>
          <a:xfrm>
            <a:off x="6080760" y="2670120"/>
            <a:ext cx="2742120" cy="1599120"/>
          </a:xfrm>
          <a:prstGeom prst="rect">
            <a:avLst/>
          </a:prstGeom>
          <a:solidFill>
            <a:srgbClr val="112233"/>
          </a:solidFill>
          <a:ln w="12600">
            <a:solidFill>
              <a:srgbClr val="1a3050"/>
            </a:solidFill>
            <a:round/>
          </a:ln>
          <a:effectLst>
            <a:outerShdw blurRad="50760" dir="2700000" dist="37674" rotWithShape="0">
              <a:srgbClr val="000000">
                <a:alpha val="4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14" name="Shape 32"/>
          <p:cNvSpPr/>
          <p:nvPr/>
        </p:nvSpPr>
        <p:spPr>
          <a:xfrm>
            <a:off x="6080760" y="2670120"/>
            <a:ext cx="44640" cy="159912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15" name="Text 33"/>
          <p:cNvSpPr/>
          <p:nvPr/>
        </p:nvSpPr>
        <p:spPr>
          <a:xfrm>
            <a:off x="6190560" y="2761560"/>
            <a:ext cx="2540880" cy="23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b388ff"/>
                </a:solidFill>
                <a:effectLst/>
                <a:uFillTx/>
                <a:latin typeface="Calibri"/>
                <a:ea typeface="DejaVu Sans"/>
              </a:rPr>
              <a:t>Faza 6</a:t>
            </a:r>
            <a:endParaRPr lang="pl-PL" sz="1400" b="0" u="none" strike="noStrike">
              <a:solidFill>
                <a:srgbClr val="ffffff"/>
              </a:solidFill>
              <a:effectLst/>
              <a:uFillTx/>
              <a:latin typeface="Arial"/>
            </a:endParaRPr>
          </a:p>
        </p:txBody>
      </p:sp>
      <p:sp>
        <p:nvSpPr>
          <p:cNvPr id="3416" name="Text 34"/>
          <p:cNvSpPr/>
          <p:nvPr/>
        </p:nvSpPr>
        <p:spPr>
          <a:xfrm>
            <a:off x="6190560" y="3054240"/>
            <a:ext cx="25408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ffffff"/>
                </a:solidFill>
                <a:effectLst/>
                <a:uFillTx/>
                <a:latin typeface="Calibri"/>
                <a:ea typeface="DejaVu Sans"/>
              </a:rPr>
              <a:t>Handoff i wdrożenie</a:t>
            </a:r>
            <a:endParaRPr lang="pl-PL" sz="1800" b="0" u="none" strike="noStrike">
              <a:solidFill>
                <a:srgbClr val="ffffff"/>
              </a:solidFill>
              <a:effectLst/>
              <a:uFillTx/>
              <a:latin typeface="Arial"/>
            </a:endParaRPr>
          </a:p>
        </p:txBody>
      </p:sp>
      <p:sp>
        <p:nvSpPr>
          <p:cNvPr id="3417" name="Text 35"/>
          <p:cNvSpPr/>
          <p:nvPr/>
        </p:nvSpPr>
        <p:spPr>
          <a:xfrm>
            <a:off x="6190560" y="3401640"/>
            <a:ext cx="2540880" cy="776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rgbClr val="8899aa"/>
                </a:solidFill>
                <a:effectLst/>
                <a:uFillTx/>
                <a:latin typeface="Calibri"/>
                <a:ea typeface="DejaVu Sans"/>
              </a:rPr>
              <a:t>Dev handoff w Figma Dev Mode, design tokens, QA i testy akceptacyjne.</a:t>
            </a:r>
            <a:endParaRPr lang="pl-PL" sz="1400" b="0" u="none" strike="noStrike">
              <a:solidFill>
                <a:srgbClr val="ffffff"/>
              </a:solidFill>
              <a:effectLst/>
              <a:uFillTx/>
              <a:latin typeface="Arial"/>
            </a:endParaRPr>
          </a:p>
        </p:txBody>
      </p:sp>
      <p:sp>
        <p:nvSpPr>
          <p:cNvPr id="3418" name="Text 38"/>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43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grpSp>
        <p:nvGrpSpPr>
          <p:cNvPr id="3419" name="Grupa 30"/>
          <p:cNvGrpSpPr/>
          <p:nvPr/>
        </p:nvGrpSpPr>
        <p:grpSpPr>
          <a:xfrm>
            <a:off x="-2520" y="4884840"/>
            <a:ext cx="9145440" cy="259200"/>
            <a:chOff x="-2520" y="4884840"/>
            <a:chExt cx="9145440" cy="259200"/>
          </a:xfrm>
        </p:grpSpPr>
        <p:sp>
          <p:nvSpPr>
            <p:cNvPr id="3420"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21"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422" name="Grupa 33"/>
            <p:cNvGrpSpPr/>
            <p:nvPr/>
          </p:nvGrpSpPr>
          <p:grpSpPr>
            <a:xfrm>
              <a:off x="-2520" y="5099400"/>
              <a:ext cx="9145440" cy="44640"/>
              <a:chOff x="-2520" y="5099400"/>
              <a:chExt cx="9145440" cy="44640"/>
            </a:xfrm>
          </p:grpSpPr>
          <p:sp>
            <p:nvSpPr>
              <p:cNvPr id="3423"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24"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25"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26"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27"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28"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29"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0"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1"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2"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3"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4"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5"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6"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7"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8"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39"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0"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1"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2"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3"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4"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5"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6"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7"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8"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49"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0"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1"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2"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3"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4"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5"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6"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7"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8"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9"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0"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1" name="Shape 52"/>
              <p:cNvSpPr/>
              <p:nvPr/>
            </p:nvSpPr>
            <p:spPr>
              <a:xfrm>
                <a:off x="75538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2" name="Shape 52"/>
              <p:cNvSpPr/>
              <p:nvPr/>
            </p:nvSpPr>
            <p:spPr>
              <a:xfrm>
                <a:off x="7752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3" name="Shape 52"/>
              <p:cNvSpPr/>
              <p:nvPr/>
            </p:nvSpPr>
            <p:spPr>
              <a:xfrm>
                <a:off x="795132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4" name="Shape 52"/>
              <p:cNvSpPr/>
              <p:nvPr/>
            </p:nvSpPr>
            <p:spPr>
              <a:xfrm>
                <a:off x="815004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5" name="Shape 52"/>
              <p:cNvSpPr/>
              <p:nvPr/>
            </p:nvSpPr>
            <p:spPr>
              <a:xfrm>
                <a:off x="834876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6" name="Shape 52"/>
              <p:cNvSpPr/>
              <p:nvPr/>
            </p:nvSpPr>
            <p:spPr>
              <a:xfrm>
                <a:off x="854784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67" name="Shape 52"/>
              <p:cNvSpPr/>
              <p:nvPr/>
            </p:nvSpPr>
            <p:spPr>
              <a:xfrm>
                <a:off x="874656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68"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469" name="Shape 0"/>
          <p:cNvSpPr/>
          <p:nvPr/>
        </p:nvSpPr>
        <p:spPr>
          <a:xfrm>
            <a:off x="320040" y="255960"/>
            <a:ext cx="53640" cy="5018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70" name="Text 1"/>
          <p:cNvSpPr/>
          <p:nvPr/>
        </p:nvSpPr>
        <p:spPr>
          <a:xfrm>
            <a:off x="475560" y="219600"/>
            <a:ext cx="841140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200" b="1" u="none" strike="noStrike">
                <a:solidFill>
                  <a:srgbClr val="ffffff"/>
                </a:solidFill>
                <a:effectLst/>
                <a:uFillTx/>
                <a:latin typeface="Calibri"/>
                <a:ea typeface="DejaVu Sans"/>
              </a:rPr>
              <a:t>Podsumowanie wykładu</a:t>
            </a:r>
            <a:endParaRPr lang="pl-PL" sz="2200" b="0" u="none" strike="noStrike">
              <a:solidFill>
                <a:srgbClr val="ffffff"/>
              </a:solidFill>
              <a:effectLst/>
              <a:uFillTx/>
              <a:latin typeface="Arial"/>
            </a:endParaRPr>
          </a:p>
        </p:txBody>
      </p:sp>
      <p:sp>
        <p:nvSpPr>
          <p:cNvPr id="3471" name="Shape 2"/>
          <p:cNvSpPr/>
          <p:nvPr/>
        </p:nvSpPr>
        <p:spPr>
          <a:xfrm>
            <a:off x="320040" y="1040760"/>
            <a:ext cx="4250880" cy="1090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72" name="Shape 3"/>
          <p:cNvSpPr/>
          <p:nvPr/>
        </p:nvSpPr>
        <p:spPr>
          <a:xfrm>
            <a:off x="320040" y="1040760"/>
            <a:ext cx="44640" cy="10904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73" name="Text 4"/>
          <p:cNvSpPr/>
          <p:nvPr/>
        </p:nvSpPr>
        <p:spPr>
          <a:xfrm>
            <a:off x="521280" y="1108800"/>
            <a:ext cx="4003920" cy="271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d4ff"/>
                </a:solidFill>
                <a:effectLst/>
                <a:uFillTx/>
                <a:latin typeface="Calibri"/>
                <a:ea typeface="DejaVu Sans"/>
              </a:rPr>
              <a:t>UI vs UX &amp; rodzaje iinterfejsów</a:t>
            </a:r>
            <a:endParaRPr lang="pl-PL" sz="1600" b="0" u="none" strike="noStrike">
              <a:solidFill>
                <a:srgbClr val="ffffff"/>
              </a:solidFill>
              <a:effectLst/>
              <a:uFillTx/>
              <a:latin typeface="Arial"/>
            </a:endParaRPr>
          </a:p>
        </p:txBody>
      </p:sp>
      <p:sp>
        <p:nvSpPr>
          <p:cNvPr id="3474" name="Text 5"/>
          <p:cNvSpPr/>
          <p:nvPr/>
        </p:nvSpPr>
        <p:spPr>
          <a:xfrm>
            <a:off x="521280" y="1414440"/>
            <a:ext cx="4003920" cy="681120"/>
          </a:xfrm>
          <a:prstGeom prst="rect">
            <a:avLst/>
          </a:prstGeom>
          <a:noFill/>
          <a:ln w="0">
            <a:noFill/>
          </a:ln>
        </p:spPr>
        <p:style>
          <a:lnRef idx="0"/>
          <a:fillRef idx="0"/>
          <a:effectRef idx="0"/>
          <a:fontRef idx="minor"/>
        </p:style>
        <p:txBody>
          <a:bodyPr lIns="0" rIns="0" tIns="0" bIns="0" anchor="t">
            <a:noAutofit/>
          </a:bodyPr>
          <a:p>
            <a:pPr defTabSz="914400">
              <a:lnSpc>
                <a:spcPts val="1599"/>
              </a:lnSpc>
              <a:tabLst>
                <a:tab algn="l" pos="0"/>
              </a:tabLst>
            </a:pPr>
            <a:r>
              <a:rPr lang="pl-PL" sz="1400" b="1" u="none" strike="noStrike">
                <a:solidFill>
                  <a:schemeClr val="lt1">
                    <a:lumMod val="85000"/>
                  </a:schemeClr>
                </a:solidFill>
                <a:effectLst/>
                <a:uFillTx/>
                <a:latin typeface="Calibri"/>
                <a:ea typeface="DejaVu Sans"/>
              </a:rPr>
              <a:t>UI</a:t>
            </a:r>
            <a:r>
              <a:rPr lang="pl-PL" sz="1400" b="0" u="none" strike="noStrike">
                <a:solidFill>
                  <a:schemeClr val="lt1">
                    <a:lumMod val="85000"/>
                  </a:schemeClr>
                </a:solidFill>
                <a:effectLst/>
                <a:uFillTx/>
                <a:latin typeface="Calibri"/>
                <a:ea typeface="DejaVu Sans"/>
              </a:rPr>
              <a:t> = warstwa wizualna; </a:t>
            </a:r>
            <a:r>
              <a:rPr lang="pl-PL" sz="1400" b="1" u="none" strike="noStrike">
                <a:solidFill>
                  <a:schemeClr val="lt1">
                    <a:lumMod val="85000"/>
                  </a:schemeClr>
                </a:solidFill>
                <a:effectLst/>
                <a:uFillTx/>
                <a:latin typeface="Calibri"/>
                <a:ea typeface="DejaVu Sans"/>
              </a:rPr>
              <a:t>UX</a:t>
            </a:r>
            <a:r>
              <a:rPr lang="pl-PL" sz="1400" b="0" u="none" strike="noStrike">
                <a:solidFill>
                  <a:schemeClr val="lt1">
                    <a:lumMod val="85000"/>
                  </a:schemeClr>
                </a:solidFill>
                <a:effectLst/>
                <a:uFillTx/>
                <a:latin typeface="Calibri"/>
                <a:ea typeface="DejaVu Sans"/>
              </a:rPr>
              <a:t> = całościowe doświadczenie. </a:t>
            </a:r>
            <a:r>
              <a:rPr lang="pl-PL" sz="1400" b="1" u="none" strike="noStrike">
                <a:solidFill>
                  <a:schemeClr val="lt1">
                    <a:lumMod val="85000"/>
                  </a:schemeClr>
                </a:solidFill>
                <a:effectLst/>
                <a:uFillTx/>
                <a:latin typeface="Calibri"/>
                <a:ea typeface="DejaVu Sans"/>
              </a:rPr>
              <a:t>GUI</a:t>
            </a:r>
            <a:r>
              <a:rPr lang="pl-PL" sz="1400" b="0" u="none" strike="noStrike">
                <a:solidFill>
                  <a:schemeClr val="lt1">
                    <a:lumMod val="85000"/>
                  </a:schemeClr>
                </a:solidFill>
                <a:effectLst/>
                <a:uFillTx/>
                <a:latin typeface="Calibri"/>
                <a:ea typeface="DejaVu Sans"/>
              </a:rPr>
              <a:t> dominuje, ale </a:t>
            </a:r>
            <a:r>
              <a:rPr lang="pl-PL" sz="1400" b="1" u="none" strike="noStrike">
                <a:solidFill>
                  <a:schemeClr val="lt1">
                    <a:lumMod val="85000"/>
                  </a:schemeClr>
                </a:solidFill>
                <a:effectLst/>
                <a:uFillTx/>
                <a:latin typeface="Calibri"/>
                <a:ea typeface="DejaVu Sans"/>
              </a:rPr>
              <a:t>VUI</a:t>
            </a:r>
            <a:r>
              <a:rPr lang="pl-PL" sz="1400" b="0" u="none" strike="noStrike">
                <a:solidFill>
                  <a:schemeClr val="lt1">
                    <a:lumMod val="85000"/>
                  </a:schemeClr>
                </a:solidFill>
                <a:effectLst/>
                <a:uFillTx/>
                <a:latin typeface="Calibri"/>
                <a:ea typeface="DejaVu Sans"/>
              </a:rPr>
              <a:t>, </a:t>
            </a:r>
            <a:r>
              <a:rPr lang="pl-PL" sz="1400" b="1" u="none" strike="noStrike">
                <a:solidFill>
                  <a:schemeClr val="lt1">
                    <a:lumMod val="85000"/>
                  </a:schemeClr>
                </a:solidFill>
                <a:effectLst/>
                <a:uFillTx/>
                <a:latin typeface="Calibri"/>
                <a:ea typeface="DejaVu Sans"/>
              </a:rPr>
              <a:t>NUI</a:t>
            </a:r>
            <a:r>
              <a:rPr lang="pl-PL" sz="1400" b="0" u="none" strike="noStrike">
                <a:solidFill>
                  <a:schemeClr val="lt1">
                    <a:lumMod val="85000"/>
                  </a:schemeClr>
                </a:solidFill>
                <a:effectLst/>
                <a:uFillTx/>
                <a:latin typeface="Calibri"/>
                <a:ea typeface="DejaVu Sans"/>
              </a:rPr>
              <a:t>, </a:t>
            </a:r>
            <a:r>
              <a:rPr lang="pl-PL" sz="1400" b="1" u="none" strike="noStrike">
                <a:solidFill>
                  <a:schemeClr val="lt1">
                    <a:lumMod val="85000"/>
                  </a:schemeClr>
                </a:solidFill>
                <a:effectLst/>
                <a:uFillTx/>
                <a:latin typeface="Calibri"/>
                <a:ea typeface="DejaVu Sans"/>
              </a:rPr>
              <a:t>TUI</a:t>
            </a:r>
            <a:r>
              <a:rPr lang="pl-PL" sz="1400" b="0" u="none" strike="noStrike">
                <a:solidFill>
                  <a:schemeClr val="lt1">
                    <a:lumMod val="85000"/>
                  </a:schemeClr>
                </a:solidFill>
                <a:effectLst/>
                <a:uFillTx/>
                <a:latin typeface="Calibri"/>
                <a:ea typeface="DejaVu Sans"/>
              </a:rPr>
              <a:t> i </a:t>
            </a:r>
            <a:r>
              <a:rPr lang="pl-PL" sz="1400" b="1" u="none" strike="noStrike">
                <a:solidFill>
                  <a:schemeClr val="lt1">
                    <a:lumMod val="85000"/>
                  </a:schemeClr>
                </a:solidFill>
                <a:effectLst/>
                <a:uFillTx/>
                <a:latin typeface="Calibri"/>
                <a:ea typeface="DejaVu Sans"/>
              </a:rPr>
              <a:t>CUI</a:t>
            </a:r>
            <a:r>
              <a:rPr lang="pl-PL" sz="1400" b="0" u="none" strike="noStrike">
                <a:solidFill>
                  <a:schemeClr val="lt1">
                    <a:lumMod val="85000"/>
                  </a:schemeClr>
                </a:solidFill>
                <a:effectLst/>
                <a:uFillTx/>
                <a:latin typeface="Calibri"/>
                <a:ea typeface="DejaVu Sans"/>
              </a:rPr>
              <a:t> mają rosnące znaczenie.</a:t>
            </a:r>
            <a:endParaRPr lang="pl-PL" sz="1400" b="0" u="none" strike="noStrike">
              <a:solidFill>
                <a:srgbClr val="ffffff"/>
              </a:solidFill>
              <a:effectLst/>
              <a:uFillTx/>
              <a:latin typeface="Arial"/>
            </a:endParaRPr>
          </a:p>
        </p:txBody>
      </p:sp>
      <p:sp>
        <p:nvSpPr>
          <p:cNvPr id="3475" name="Shape 6"/>
          <p:cNvSpPr/>
          <p:nvPr/>
        </p:nvSpPr>
        <p:spPr>
          <a:xfrm>
            <a:off x="4727520" y="1040760"/>
            <a:ext cx="4250880" cy="1090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76" name="Shape 7"/>
          <p:cNvSpPr/>
          <p:nvPr/>
        </p:nvSpPr>
        <p:spPr>
          <a:xfrm>
            <a:off x="4727520" y="1040760"/>
            <a:ext cx="44640" cy="109044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77" name="Text 8"/>
          <p:cNvSpPr/>
          <p:nvPr/>
        </p:nvSpPr>
        <p:spPr>
          <a:xfrm>
            <a:off x="4928760" y="1108800"/>
            <a:ext cx="4003920" cy="271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2d78"/>
                </a:solidFill>
                <a:effectLst/>
                <a:uFillTx/>
                <a:latin typeface="Calibri"/>
                <a:ea typeface="DejaVu Sans"/>
              </a:rPr>
              <a:t>Zasady projektowania</a:t>
            </a:r>
            <a:endParaRPr lang="pl-PL" sz="1600" b="0" u="none" strike="noStrike">
              <a:solidFill>
                <a:srgbClr val="ffffff"/>
              </a:solidFill>
              <a:effectLst/>
              <a:uFillTx/>
              <a:latin typeface="Arial"/>
            </a:endParaRPr>
          </a:p>
        </p:txBody>
      </p:sp>
      <p:sp>
        <p:nvSpPr>
          <p:cNvPr id="3478" name="Text 9"/>
          <p:cNvSpPr/>
          <p:nvPr/>
        </p:nvSpPr>
        <p:spPr>
          <a:xfrm>
            <a:off x="4928760" y="1414440"/>
            <a:ext cx="4003920" cy="681120"/>
          </a:xfrm>
          <a:prstGeom prst="rect">
            <a:avLst/>
          </a:prstGeom>
          <a:noFill/>
          <a:ln w="0">
            <a:noFill/>
          </a:ln>
        </p:spPr>
        <p:style>
          <a:lnRef idx="0"/>
          <a:fillRef idx="0"/>
          <a:effectRef idx="0"/>
          <a:fontRef idx="minor"/>
        </p:style>
        <p:txBody>
          <a:bodyPr lIns="0" rIns="0" tIns="0" bIns="0" anchor="t">
            <a:noAutofit/>
          </a:bodyPr>
          <a:p>
            <a:pPr defTabSz="914400">
              <a:lnSpc>
                <a:spcPts val="1599"/>
              </a:lnSpc>
              <a:tabLst>
                <a:tab algn="l" pos="0"/>
              </a:tabLst>
            </a:pPr>
            <a:r>
              <a:rPr lang="pl-PL" sz="1400" b="1" u="none" strike="noStrike">
                <a:solidFill>
                  <a:schemeClr val="lt1">
                    <a:lumMod val="85000"/>
                  </a:schemeClr>
                </a:solidFill>
                <a:effectLst/>
                <a:uFillTx/>
                <a:latin typeface="Calibri"/>
                <a:ea typeface="DejaVu Sans"/>
              </a:rPr>
              <a:t>Heurystyki Nielsena</a:t>
            </a:r>
            <a:r>
              <a:rPr lang="pl-PL" sz="1400" b="0" u="none" strike="noStrike">
                <a:solidFill>
                  <a:schemeClr val="lt1">
                    <a:lumMod val="85000"/>
                  </a:schemeClr>
                </a:solidFill>
                <a:effectLst/>
                <a:uFillTx/>
                <a:latin typeface="Calibri"/>
                <a:ea typeface="DejaVu Sans"/>
              </a:rPr>
              <a:t>, prawo </a:t>
            </a:r>
            <a:r>
              <a:rPr lang="pl-PL" sz="1400" b="1" u="none" strike="noStrike">
                <a:solidFill>
                  <a:schemeClr val="lt1">
                    <a:lumMod val="85000"/>
                  </a:schemeClr>
                </a:solidFill>
                <a:effectLst/>
                <a:uFillTx/>
                <a:latin typeface="Calibri"/>
                <a:ea typeface="DejaVu Sans"/>
              </a:rPr>
              <a:t>Hicka</a:t>
            </a:r>
            <a:r>
              <a:rPr lang="pl-PL" sz="1400" b="0" u="none" strike="noStrike">
                <a:solidFill>
                  <a:schemeClr val="lt1">
                    <a:lumMod val="85000"/>
                  </a:schemeClr>
                </a:solidFill>
                <a:effectLst/>
                <a:uFillTx/>
                <a:latin typeface="Calibri"/>
                <a:ea typeface="DejaVu Sans"/>
              </a:rPr>
              <a:t> (przebodźcowanie) i prawo </a:t>
            </a:r>
            <a:r>
              <a:rPr lang="pl-PL" sz="1400" b="1" u="none" strike="noStrike">
                <a:solidFill>
                  <a:schemeClr val="lt1">
                    <a:lumMod val="85000"/>
                  </a:schemeClr>
                </a:solidFill>
                <a:effectLst/>
                <a:uFillTx/>
                <a:latin typeface="Calibri"/>
                <a:ea typeface="DejaVu Sans"/>
              </a:rPr>
              <a:t>Fittsa</a:t>
            </a:r>
            <a:r>
              <a:rPr lang="pl-PL" sz="1400" b="0" u="none" strike="noStrike">
                <a:solidFill>
                  <a:schemeClr val="lt1">
                    <a:lumMod val="85000"/>
                  </a:schemeClr>
                </a:solidFill>
                <a:effectLst/>
                <a:uFillTx/>
                <a:latin typeface="Calibri"/>
                <a:ea typeface="DejaVu Sans"/>
              </a:rPr>
              <a:t> (większy cel = lepszy) to fundamenty decyzji projektowych.</a:t>
            </a:r>
            <a:endParaRPr lang="pl-PL" sz="1400" b="0" u="none" strike="noStrike">
              <a:solidFill>
                <a:srgbClr val="ffffff"/>
              </a:solidFill>
              <a:effectLst/>
              <a:uFillTx/>
              <a:latin typeface="Arial"/>
            </a:endParaRPr>
          </a:p>
        </p:txBody>
      </p:sp>
      <p:sp>
        <p:nvSpPr>
          <p:cNvPr id="3479" name="Shape 10"/>
          <p:cNvSpPr/>
          <p:nvPr/>
        </p:nvSpPr>
        <p:spPr>
          <a:xfrm>
            <a:off x="320040" y="2307600"/>
            <a:ext cx="4250880" cy="1090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80" name="Shape 11"/>
          <p:cNvSpPr/>
          <p:nvPr/>
        </p:nvSpPr>
        <p:spPr>
          <a:xfrm>
            <a:off x="320040" y="2307600"/>
            <a:ext cx="44640" cy="10904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81" name="Text 12"/>
          <p:cNvSpPr/>
          <p:nvPr/>
        </p:nvSpPr>
        <p:spPr>
          <a:xfrm>
            <a:off x="521280" y="2375640"/>
            <a:ext cx="4003920" cy="271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00e676"/>
                </a:solidFill>
                <a:effectLst/>
                <a:uFillTx/>
                <a:latin typeface="Calibri"/>
                <a:ea typeface="DejaVu Sans"/>
              </a:rPr>
              <a:t>Standardy iOS HIG / Material Design / WCAG</a:t>
            </a:r>
            <a:endParaRPr lang="pl-PL" sz="1600" b="0" u="none" strike="noStrike">
              <a:solidFill>
                <a:srgbClr val="ffffff"/>
              </a:solidFill>
              <a:effectLst/>
              <a:uFillTx/>
              <a:latin typeface="Arial"/>
            </a:endParaRPr>
          </a:p>
        </p:txBody>
      </p:sp>
      <p:sp>
        <p:nvSpPr>
          <p:cNvPr id="3482" name="Text 13"/>
          <p:cNvSpPr/>
          <p:nvPr/>
        </p:nvSpPr>
        <p:spPr>
          <a:xfrm>
            <a:off x="521280" y="2681280"/>
            <a:ext cx="4003920" cy="68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0" u="none" strike="noStrike">
                <a:solidFill>
                  <a:schemeClr val="lt1">
                    <a:lumMod val="85000"/>
                  </a:schemeClr>
                </a:solidFill>
                <a:effectLst/>
                <a:uFillTx/>
                <a:latin typeface="Calibri"/>
                <a:ea typeface="DejaVu Sans"/>
              </a:rPr>
              <a:t>Znaj platformowe </a:t>
            </a:r>
            <a:r>
              <a:rPr lang="pl-PL" sz="1400" b="1" u="none" strike="noStrike">
                <a:solidFill>
                  <a:schemeClr val="lt1">
                    <a:lumMod val="85000"/>
                  </a:schemeClr>
                </a:solidFill>
                <a:effectLst/>
                <a:uFillTx/>
                <a:latin typeface="Calibri"/>
                <a:ea typeface="DejaVu Sans"/>
              </a:rPr>
              <a:t>standardy</a:t>
            </a:r>
            <a:r>
              <a:rPr lang="pl-PL" sz="1400" b="0" u="none" strike="noStrike">
                <a:solidFill>
                  <a:schemeClr val="lt1">
                    <a:lumMod val="85000"/>
                  </a:schemeClr>
                </a:solidFill>
                <a:effectLst/>
                <a:uFillTx/>
                <a:latin typeface="Calibri"/>
                <a:ea typeface="DejaVu Sans"/>
              </a:rPr>
              <a:t> Apple, Google i W3C publikują wytyczne, które są obowiązującymi standardami branżowymi.</a:t>
            </a:r>
            <a:endParaRPr lang="pl-PL" sz="1400" b="0" u="none" strike="noStrike">
              <a:solidFill>
                <a:srgbClr val="ffffff"/>
              </a:solidFill>
              <a:effectLst/>
              <a:uFillTx/>
              <a:latin typeface="Arial"/>
            </a:endParaRPr>
          </a:p>
        </p:txBody>
      </p:sp>
      <p:sp>
        <p:nvSpPr>
          <p:cNvPr id="3483" name="Shape 14"/>
          <p:cNvSpPr/>
          <p:nvPr/>
        </p:nvSpPr>
        <p:spPr>
          <a:xfrm>
            <a:off x="4727520" y="2307600"/>
            <a:ext cx="4250880" cy="1090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84" name="Shape 15"/>
          <p:cNvSpPr/>
          <p:nvPr/>
        </p:nvSpPr>
        <p:spPr>
          <a:xfrm>
            <a:off x="4727520" y="2307600"/>
            <a:ext cx="44640" cy="10904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85" name="Text 16"/>
          <p:cNvSpPr/>
          <p:nvPr/>
        </p:nvSpPr>
        <p:spPr>
          <a:xfrm>
            <a:off x="4928760" y="2375640"/>
            <a:ext cx="4003920" cy="271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b388ff"/>
                </a:solidFill>
                <a:effectLst/>
                <a:uFillTx/>
                <a:latin typeface="Calibri"/>
                <a:ea typeface="DejaVu Sans"/>
              </a:rPr>
              <a:t>Kolor, typografia, dźwięk, haptyka</a:t>
            </a:r>
            <a:endParaRPr lang="pl-PL" sz="1600" b="0" u="none" strike="noStrike">
              <a:solidFill>
                <a:srgbClr val="ffffff"/>
              </a:solidFill>
              <a:effectLst/>
              <a:uFillTx/>
              <a:latin typeface="Arial"/>
            </a:endParaRPr>
          </a:p>
        </p:txBody>
      </p:sp>
      <p:sp>
        <p:nvSpPr>
          <p:cNvPr id="3486" name="Text 17"/>
          <p:cNvSpPr/>
          <p:nvPr/>
        </p:nvSpPr>
        <p:spPr>
          <a:xfrm>
            <a:off x="4928760" y="2681280"/>
            <a:ext cx="4049640" cy="681120"/>
          </a:xfrm>
          <a:prstGeom prst="rect">
            <a:avLst/>
          </a:prstGeom>
          <a:noFill/>
          <a:ln w="0">
            <a:noFill/>
          </a:ln>
        </p:spPr>
        <p:style>
          <a:lnRef idx="0"/>
          <a:fillRef idx="0"/>
          <a:effectRef idx="0"/>
          <a:fontRef idx="minor"/>
        </p:style>
        <p:txBody>
          <a:bodyPr lIns="0" rIns="0" tIns="0" bIns="0" anchor="t">
            <a:noAutofit/>
          </a:bodyPr>
          <a:p>
            <a:pPr defTabSz="914400">
              <a:lnSpc>
                <a:spcPts val="1599"/>
              </a:lnSpc>
              <a:tabLst>
                <a:tab algn="l" pos="0"/>
              </a:tabLst>
            </a:pPr>
            <a:r>
              <a:rPr lang="pl-PL" sz="1400" b="0" u="none" strike="noStrike">
                <a:solidFill>
                  <a:schemeClr val="lt1">
                    <a:lumMod val="85000"/>
                  </a:schemeClr>
                </a:solidFill>
                <a:effectLst/>
                <a:uFillTx/>
                <a:latin typeface="Calibri"/>
                <a:ea typeface="DejaVu Sans"/>
              </a:rPr>
              <a:t>Systemy kolorów z </a:t>
            </a:r>
            <a:r>
              <a:rPr lang="pl-PL" sz="1400" b="1" u="none" strike="noStrike">
                <a:solidFill>
                  <a:schemeClr val="lt1">
                    <a:lumMod val="85000"/>
                  </a:schemeClr>
                </a:solidFill>
                <a:effectLst/>
                <a:uFillTx/>
                <a:latin typeface="Calibri"/>
                <a:ea typeface="DejaVu Sans"/>
              </a:rPr>
              <a:t>tokenami</a:t>
            </a:r>
            <a:r>
              <a:rPr lang="pl-PL" sz="1400" b="0" u="none" strike="noStrike">
                <a:solidFill>
                  <a:schemeClr val="lt1">
                    <a:lumMod val="85000"/>
                  </a:schemeClr>
                </a:solidFill>
                <a:effectLst/>
                <a:uFillTx/>
                <a:latin typeface="Calibri"/>
                <a:ea typeface="DejaVu Sans"/>
              </a:rPr>
              <a:t>, </a:t>
            </a:r>
            <a:r>
              <a:rPr lang="pl-PL" sz="1400" b="1" u="none" strike="noStrike">
                <a:solidFill>
                  <a:schemeClr val="lt1">
                    <a:lumMod val="85000"/>
                  </a:schemeClr>
                </a:solidFill>
                <a:effectLst/>
                <a:uFillTx/>
                <a:latin typeface="Calibri"/>
                <a:ea typeface="DejaVu Sans"/>
              </a:rPr>
              <a:t>hierarchia</a:t>
            </a:r>
            <a:r>
              <a:rPr lang="pl-PL" sz="1400" b="0" u="none" strike="noStrike">
                <a:solidFill>
                  <a:schemeClr val="lt1">
                    <a:lumMod val="85000"/>
                  </a:schemeClr>
                </a:solidFill>
                <a:effectLst/>
                <a:uFillTx/>
                <a:latin typeface="Calibri"/>
                <a:ea typeface="DejaVu Sans"/>
              </a:rPr>
              <a:t> typograficzna, </a:t>
            </a:r>
            <a:r>
              <a:rPr lang="pl-PL" sz="1400" b="1" u="none" strike="noStrike">
                <a:solidFill>
                  <a:schemeClr val="lt1">
                    <a:lumMod val="85000"/>
                  </a:schemeClr>
                </a:solidFill>
                <a:effectLst/>
                <a:uFillTx/>
                <a:latin typeface="Calibri"/>
                <a:ea typeface="DejaVu Sans"/>
              </a:rPr>
              <a:t>dźwięk </a:t>
            </a:r>
            <a:r>
              <a:rPr lang="pl-PL" sz="1400" b="0" u="none" strike="noStrike">
                <a:solidFill>
                  <a:schemeClr val="lt1">
                    <a:lumMod val="85000"/>
                  </a:schemeClr>
                </a:solidFill>
                <a:effectLst/>
                <a:uFillTx/>
                <a:latin typeface="Calibri"/>
                <a:ea typeface="DejaVu Sans"/>
              </a:rPr>
              <a:t>i </a:t>
            </a:r>
            <a:r>
              <a:rPr lang="pl-PL" sz="1400" b="1" u="none" strike="noStrike">
                <a:solidFill>
                  <a:schemeClr val="lt1">
                    <a:lumMod val="85000"/>
                  </a:schemeClr>
                </a:solidFill>
                <a:effectLst/>
                <a:uFillTx/>
                <a:latin typeface="Calibri"/>
                <a:ea typeface="DejaVu Sans"/>
              </a:rPr>
              <a:t>haptyka</a:t>
            </a:r>
            <a:r>
              <a:rPr lang="pl-PL" sz="1400" b="0" u="none" strike="noStrike">
                <a:solidFill>
                  <a:schemeClr val="lt1">
                    <a:lumMod val="85000"/>
                  </a:schemeClr>
                </a:solidFill>
                <a:effectLst/>
                <a:uFillTx/>
                <a:latin typeface="Calibri"/>
                <a:ea typeface="DejaVu Sans"/>
              </a:rPr>
              <a:t> współtworzą pełne, zmysłowe </a:t>
            </a:r>
            <a:r>
              <a:rPr lang="pl-PL" sz="1400" b="1" u="none" strike="noStrike">
                <a:solidFill>
                  <a:schemeClr val="lt1">
                    <a:lumMod val="85000"/>
                  </a:schemeClr>
                </a:solidFill>
                <a:effectLst/>
                <a:uFillTx/>
                <a:latin typeface="Calibri"/>
                <a:ea typeface="DejaVu Sans"/>
              </a:rPr>
              <a:t>doświadczenie</a:t>
            </a:r>
            <a:r>
              <a:rPr lang="pl-PL" sz="1400" b="0" u="none" strike="noStrike">
                <a:solidFill>
                  <a:schemeClr val="lt1">
                    <a:lumMod val="85000"/>
                  </a:schemeClr>
                </a:solidFill>
                <a:effectLst/>
                <a:uFillTx/>
                <a:latin typeface="Calibri"/>
                <a:ea typeface="DejaVu Sans"/>
              </a:rPr>
              <a:t> mobilne.</a:t>
            </a:r>
            <a:endParaRPr lang="pl-PL" sz="1400" b="0" u="none" strike="noStrike">
              <a:solidFill>
                <a:srgbClr val="ffffff"/>
              </a:solidFill>
              <a:effectLst/>
              <a:uFillTx/>
              <a:latin typeface="Arial"/>
            </a:endParaRPr>
          </a:p>
        </p:txBody>
      </p:sp>
      <p:sp>
        <p:nvSpPr>
          <p:cNvPr id="3487" name="Shape 18"/>
          <p:cNvSpPr/>
          <p:nvPr/>
        </p:nvSpPr>
        <p:spPr>
          <a:xfrm>
            <a:off x="320040" y="3574080"/>
            <a:ext cx="4250880" cy="1090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88" name="Shape 19"/>
          <p:cNvSpPr/>
          <p:nvPr/>
        </p:nvSpPr>
        <p:spPr>
          <a:xfrm>
            <a:off x="320040" y="3574080"/>
            <a:ext cx="44640" cy="1090440"/>
          </a:xfrm>
          <a:prstGeom prst="rect">
            <a:avLst/>
          </a:prstGeom>
          <a:solidFill>
            <a:srgbClr val="ff9100"/>
          </a:solidFill>
          <a:ln w="12600">
            <a:solidFill>
              <a:srgbClr val="ff91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89" name="Text 20"/>
          <p:cNvSpPr/>
          <p:nvPr/>
        </p:nvSpPr>
        <p:spPr>
          <a:xfrm>
            <a:off x="521280" y="3642480"/>
            <a:ext cx="4003920" cy="271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9100"/>
                </a:solidFill>
                <a:effectLst/>
                <a:uFillTx/>
                <a:latin typeface="Calibri"/>
                <a:ea typeface="DejaVu Sans"/>
              </a:rPr>
              <a:t>Projektowanie emocjonalne i hierarchia</a:t>
            </a:r>
            <a:endParaRPr lang="pl-PL" sz="1600" b="0" u="none" strike="noStrike">
              <a:solidFill>
                <a:srgbClr val="ffffff"/>
              </a:solidFill>
              <a:effectLst/>
              <a:uFillTx/>
              <a:latin typeface="Arial"/>
            </a:endParaRPr>
          </a:p>
        </p:txBody>
      </p:sp>
      <p:sp>
        <p:nvSpPr>
          <p:cNvPr id="3490" name="Text 21"/>
          <p:cNvSpPr/>
          <p:nvPr/>
        </p:nvSpPr>
        <p:spPr>
          <a:xfrm>
            <a:off x="521280" y="3948120"/>
            <a:ext cx="4003920" cy="68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1" u="none" strike="noStrike">
                <a:solidFill>
                  <a:schemeClr val="lt1">
                    <a:lumMod val="85000"/>
                  </a:schemeClr>
                </a:solidFill>
                <a:effectLst/>
                <a:uFillTx/>
                <a:latin typeface="Calibri"/>
                <a:ea typeface="DejaVu Sans"/>
              </a:rPr>
              <a:t>Model Normana </a:t>
            </a:r>
            <a:r>
              <a:rPr lang="pl-PL" sz="1400" b="0" u="none" strike="noStrike">
                <a:solidFill>
                  <a:schemeClr val="lt1">
                    <a:lumMod val="85000"/>
                  </a:schemeClr>
                </a:solidFill>
                <a:effectLst/>
                <a:uFillTx/>
                <a:latin typeface="Calibri"/>
                <a:ea typeface="DejaVu Sans"/>
              </a:rPr>
              <a:t>(Visceral → Behavioral → Reflective), mikrointerakcje i </a:t>
            </a:r>
            <a:r>
              <a:rPr lang="pl-PL" sz="1400" b="1" u="none" strike="noStrike">
                <a:solidFill>
                  <a:schemeClr val="lt1">
                    <a:lumMod val="85000"/>
                  </a:schemeClr>
                </a:solidFill>
                <a:effectLst/>
                <a:uFillTx/>
                <a:latin typeface="Calibri"/>
                <a:ea typeface="DejaVu Sans"/>
              </a:rPr>
              <a:t>zasady Gestalt </a:t>
            </a:r>
            <a:r>
              <a:rPr lang="pl-PL" sz="1400" b="0" u="none" strike="noStrike">
                <a:solidFill>
                  <a:schemeClr val="lt1">
                    <a:lumMod val="85000"/>
                  </a:schemeClr>
                </a:solidFill>
                <a:effectLst/>
                <a:uFillTx/>
                <a:latin typeface="Calibri"/>
                <a:ea typeface="DejaVu Sans"/>
              </a:rPr>
              <a:t>tworzą </a:t>
            </a:r>
            <a:br>
              <a:rPr sz="1400"/>
            </a:br>
            <a:r>
              <a:rPr lang="pl-PL" sz="1400" b="0" u="none" strike="noStrike">
                <a:solidFill>
                  <a:schemeClr val="lt1">
                    <a:lumMod val="85000"/>
                  </a:schemeClr>
                </a:solidFill>
                <a:effectLst/>
                <a:uFillTx/>
                <a:latin typeface="Calibri"/>
                <a:ea typeface="DejaVu Sans"/>
              </a:rPr>
              <a:t>zaangażowanie emocjonalne.</a:t>
            </a:r>
            <a:endParaRPr lang="pl-PL" sz="1400" b="0" u="none" strike="noStrike">
              <a:solidFill>
                <a:srgbClr val="ffffff"/>
              </a:solidFill>
              <a:effectLst/>
              <a:uFillTx/>
              <a:latin typeface="Arial"/>
            </a:endParaRPr>
          </a:p>
        </p:txBody>
      </p:sp>
      <p:sp>
        <p:nvSpPr>
          <p:cNvPr id="3491" name="Shape 22"/>
          <p:cNvSpPr/>
          <p:nvPr/>
        </p:nvSpPr>
        <p:spPr>
          <a:xfrm>
            <a:off x="4727520" y="3574080"/>
            <a:ext cx="4250880" cy="1090440"/>
          </a:xfrm>
          <a:prstGeom prst="rect">
            <a:avLst/>
          </a:prstGeom>
          <a:solidFill>
            <a:srgbClr val="112233"/>
          </a:solidFill>
          <a:ln w="12600">
            <a:solidFill>
              <a:srgbClr val="1a3050"/>
            </a:solidFill>
            <a:round/>
          </a:ln>
          <a:effectLst>
            <a:outerShdw blurRad="76320" dir="8100000" dist="25455" rotWithShape="0">
              <a:srgbClr val="000000">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92" name="Shape 23"/>
          <p:cNvSpPr/>
          <p:nvPr/>
        </p:nvSpPr>
        <p:spPr>
          <a:xfrm>
            <a:off x="4727520" y="3574080"/>
            <a:ext cx="44640" cy="1090440"/>
          </a:xfrm>
          <a:prstGeom prst="rect">
            <a:avLst/>
          </a:prstGeom>
          <a:solidFill>
            <a:srgbClr val="ffd600"/>
          </a:solidFill>
          <a:ln w="12600">
            <a:solidFill>
              <a:srgbClr val="ffd60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93" name="Text 24"/>
          <p:cNvSpPr/>
          <p:nvPr/>
        </p:nvSpPr>
        <p:spPr>
          <a:xfrm>
            <a:off x="4928760" y="3642480"/>
            <a:ext cx="4003920" cy="271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600" b="1" u="none" strike="noStrike">
                <a:solidFill>
                  <a:srgbClr val="ffd600"/>
                </a:solidFill>
                <a:effectLst/>
                <a:uFillTx/>
                <a:latin typeface="Calibri"/>
                <a:ea typeface="DejaVu Sans"/>
              </a:rPr>
              <a:t>Proces i narzędzia</a:t>
            </a:r>
            <a:endParaRPr lang="pl-PL" sz="1600" b="0" u="none" strike="noStrike">
              <a:solidFill>
                <a:srgbClr val="ffffff"/>
              </a:solidFill>
              <a:effectLst/>
              <a:uFillTx/>
              <a:latin typeface="Arial"/>
            </a:endParaRPr>
          </a:p>
        </p:txBody>
      </p:sp>
      <p:sp>
        <p:nvSpPr>
          <p:cNvPr id="3494" name="Text 25"/>
          <p:cNvSpPr/>
          <p:nvPr/>
        </p:nvSpPr>
        <p:spPr>
          <a:xfrm>
            <a:off x="4928760" y="3948120"/>
            <a:ext cx="4003920" cy="68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1" u="none" strike="noStrike">
                <a:solidFill>
                  <a:schemeClr val="lt1">
                    <a:lumMod val="85000"/>
                  </a:schemeClr>
                </a:solidFill>
                <a:effectLst/>
                <a:uFillTx/>
                <a:latin typeface="Calibri"/>
                <a:ea typeface="DejaVu Sans"/>
              </a:rPr>
              <a:t>Design Thinking</a:t>
            </a:r>
            <a:r>
              <a:rPr lang="pl-PL" sz="1400" b="0" u="none" strike="noStrike">
                <a:solidFill>
                  <a:schemeClr val="lt1">
                    <a:lumMod val="85000"/>
                  </a:schemeClr>
                </a:solidFill>
                <a:effectLst/>
                <a:uFillTx/>
                <a:latin typeface="Calibri"/>
                <a:ea typeface="DejaVu Sans"/>
              </a:rPr>
              <a:t>: Research → Definicja → </a:t>
            </a:r>
            <a:br>
              <a:rPr sz="1400"/>
            </a:br>
            <a:r>
              <a:rPr lang="pl-PL" sz="1400" b="0" u="none" strike="noStrike">
                <a:solidFill>
                  <a:schemeClr val="lt1">
                    <a:lumMod val="85000"/>
                  </a:schemeClr>
                </a:solidFill>
                <a:effectLst/>
                <a:uFillTx/>
                <a:latin typeface="Calibri"/>
                <a:ea typeface="DejaVu Sans"/>
              </a:rPr>
              <a:t>Ideacja → Projektowanie → Testowanie → Handoff. </a:t>
            </a:r>
            <a:br>
              <a:rPr sz="1400"/>
            </a:br>
            <a:r>
              <a:rPr lang="pl-PL" sz="1400" b="0" u="none" strike="noStrike">
                <a:solidFill>
                  <a:schemeClr val="lt1">
                    <a:lumMod val="85000"/>
                  </a:schemeClr>
                </a:solidFill>
                <a:effectLst/>
                <a:uFillTx/>
                <a:latin typeface="Calibri"/>
                <a:ea typeface="DejaVu Sans"/>
              </a:rPr>
              <a:t>Figma to de facto standard.</a:t>
            </a:r>
            <a:endParaRPr lang="pl-PL" sz="1400" b="0" u="none" strike="noStrike">
              <a:solidFill>
                <a:srgbClr val="ffffff"/>
              </a:solidFill>
              <a:effectLst/>
              <a:uFillTx/>
              <a:latin typeface="Arial"/>
            </a:endParaRPr>
          </a:p>
        </p:txBody>
      </p:sp>
      <p:sp>
        <p:nvSpPr>
          <p:cNvPr id="3495" name="Text 28"/>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44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496" name="Shape 0"/>
          <p:cNvSpPr/>
          <p:nvPr/>
        </p:nvSpPr>
        <p:spPr>
          <a:xfrm>
            <a:off x="0" y="0"/>
            <a:ext cx="9142920" cy="514260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97" name="Shape 2"/>
          <p:cNvSpPr/>
          <p:nvPr/>
        </p:nvSpPr>
        <p:spPr>
          <a:xfrm>
            <a:off x="172800" y="2468880"/>
            <a:ext cx="8970120" cy="72000"/>
          </a:xfrm>
          <a:prstGeom prst="rect">
            <a:avLst/>
          </a:prstGeom>
          <a:solidFill>
            <a:srgbClr val="1a3050"/>
          </a:solidFill>
          <a:ln w="12600">
            <a:solidFill>
              <a:srgbClr val="1a3050"/>
            </a:solidFill>
            <a:round/>
          </a:ln>
          <a:effectLst>
            <a:outerShdw dir="2700000" dist="35638" rotWithShape="0">
              <a:srgbClr val="1c1c1c"/>
            </a:outerShdw>
          </a:effectLst>
        </p:spPr>
        <p:style>
          <a:lnRef idx="0"/>
          <a:fillRef idx="0"/>
          <a:effectRef idx="0"/>
          <a:fontRef idx="minor"/>
        </p:style>
        <p:txBody>
          <a:bodyPr lIns="90000" rIns="90000" tIns="28080" bIns="2808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498" name="Text 3"/>
          <p:cNvSpPr/>
          <p:nvPr/>
        </p:nvSpPr>
        <p:spPr>
          <a:xfrm>
            <a:off x="457200" y="457200"/>
            <a:ext cx="8228520" cy="1407600"/>
          </a:xfrm>
          <a:prstGeom prst="rect">
            <a:avLst/>
          </a:prstGeom>
          <a:noFill/>
          <a:ln w="0">
            <a:noFill/>
          </a:ln>
          <a:effectLst>
            <a:outerShdw blurRad="50760" dir="2700000" dist="37674" rotWithShape="0">
              <a:srgbClr val="000000">
                <a:alpha val="40000"/>
              </a:srgbClr>
            </a:outerShdw>
          </a:effectLst>
        </p:spPr>
        <p:style>
          <a:lnRef idx="0"/>
          <a:fillRef idx="0"/>
          <a:effectRef idx="0"/>
          <a:fontRef idx="minor"/>
        </p:style>
        <p:txBody>
          <a:bodyPr lIns="0" rIns="0" tIns="0" bIns="0" anchor="ctr">
            <a:noAutofit/>
          </a:bodyPr>
          <a:p>
            <a:pPr defTabSz="914400">
              <a:lnSpc>
                <a:spcPct val="100000"/>
              </a:lnSpc>
              <a:tabLst>
                <a:tab algn="l" pos="0"/>
              </a:tabLst>
            </a:pPr>
            <a:r>
              <a:rPr lang="pl-PL" sz="3400" b="1" u="none" strike="noStrike">
                <a:solidFill>
                  <a:srgbClr val="ffffff"/>
                </a:solidFill>
                <a:effectLst/>
                <a:uFillTx/>
                <a:latin typeface="Calibri"/>
                <a:ea typeface="DejaVu Sans"/>
              </a:rPr>
              <a:t>Projektowanie UI/UX</a:t>
            </a:r>
            <a:endParaRPr lang="pl-PL" sz="3400" b="0" u="none" strike="noStrike">
              <a:solidFill>
                <a:srgbClr val="ffffff"/>
              </a:solidFill>
              <a:effectLst/>
              <a:uFillTx/>
              <a:latin typeface="Arial"/>
            </a:endParaRPr>
          </a:p>
          <a:p>
            <a:pPr defTabSz="914400">
              <a:lnSpc>
                <a:spcPct val="100000"/>
              </a:lnSpc>
              <a:tabLst>
                <a:tab algn="l" pos="0"/>
              </a:tabLst>
            </a:pPr>
            <a:r>
              <a:rPr lang="pl-PL" sz="3400" b="1" u="none" strike="noStrike">
                <a:solidFill>
                  <a:srgbClr val="ffffff"/>
                </a:solidFill>
                <a:effectLst/>
                <a:uFillTx/>
                <a:latin typeface="Calibri"/>
                <a:ea typeface="DejaVu Sans"/>
              </a:rPr>
              <a:t>dla urządzeń mobilnych</a:t>
            </a:r>
            <a:endParaRPr lang="pl-PL" sz="3400" b="0" u="none" strike="noStrike">
              <a:solidFill>
                <a:srgbClr val="ffffff"/>
              </a:solidFill>
              <a:effectLst/>
              <a:uFillTx/>
              <a:latin typeface="Arial"/>
            </a:endParaRPr>
          </a:p>
        </p:txBody>
      </p:sp>
      <p:sp>
        <p:nvSpPr>
          <p:cNvPr id="3499" name="Text 4"/>
          <p:cNvSpPr/>
          <p:nvPr/>
        </p:nvSpPr>
        <p:spPr>
          <a:xfrm>
            <a:off x="457200" y="2095200"/>
            <a:ext cx="822852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0" i="1" u="none" strike="noStrike">
                <a:solidFill>
                  <a:srgbClr val="ff2d78"/>
                </a:solidFill>
                <a:effectLst/>
                <a:uFillTx/>
                <a:latin typeface="Century Gothic"/>
                <a:ea typeface="DejaVu Sans"/>
              </a:rPr>
              <a:t>"Design is not just what it looks like and feels like. Design is how it works."</a:t>
            </a:r>
            <a:endParaRPr lang="pl-PL" sz="1800" b="0" u="none" strike="noStrike">
              <a:solidFill>
                <a:srgbClr val="ffffff"/>
              </a:solidFill>
              <a:effectLst/>
              <a:uFillTx/>
              <a:latin typeface="Arial"/>
            </a:endParaRPr>
          </a:p>
        </p:txBody>
      </p:sp>
      <p:sp>
        <p:nvSpPr>
          <p:cNvPr id="3500" name="Text 5"/>
          <p:cNvSpPr/>
          <p:nvPr/>
        </p:nvSpPr>
        <p:spPr>
          <a:xfrm>
            <a:off x="4838400" y="2606040"/>
            <a:ext cx="384732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0" i="1" u="none" strike="noStrike">
                <a:solidFill>
                  <a:schemeClr val="lt1">
                    <a:lumMod val="85000"/>
                  </a:schemeClr>
                </a:solidFill>
                <a:effectLst/>
                <a:uFillTx/>
                <a:latin typeface="Calibri"/>
                <a:ea typeface="DejaVu Sans"/>
              </a:rPr>
              <a:t>- Steve Jobs</a:t>
            </a:r>
            <a:endParaRPr lang="pl-PL" sz="2000" b="0" u="none" strike="noStrike">
              <a:solidFill>
                <a:srgbClr val="ffffff"/>
              </a:solidFill>
              <a:effectLst/>
              <a:uFillTx/>
              <a:latin typeface="Arial"/>
            </a:endParaRPr>
          </a:p>
        </p:txBody>
      </p:sp>
      <p:sp>
        <p:nvSpPr>
          <p:cNvPr id="3501" name="Shape 6"/>
          <p:cNvSpPr/>
          <p:nvPr/>
        </p:nvSpPr>
        <p:spPr>
          <a:xfrm>
            <a:off x="320040" y="3125520"/>
            <a:ext cx="2742120" cy="1644840"/>
          </a:xfrm>
          <a:prstGeom prst="rect">
            <a:avLst/>
          </a:prstGeom>
          <a:solidFill>
            <a:srgbClr val="112233"/>
          </a:solidFill>
          <a:ln w="12600">
            <a:solidFill>
              <a:srgbClr val="1a3050"/>
            </a:solidFill>
            <a:round/>
          </a:ln>
          <a:effectLst>
            <a:outerShdw blurRad="76320" dir="8100000" dist="25455" rotWithShape="0">
              <a:srgbClr val="1c1c1c">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02" name="Shape 7"/>
          <p:cNvSpPr/>
          <p:nvPr/>
        </p:nvSpPr>
        <p:spPr>
          <a:xfrm>
            <a:off x="320040" y="3125520"/>
            <a:ext cx="44640" cy="1644840"/>
          </a:xfrm>
          <a:prstGeom prst="rect">
            <a:avLst/>
          </a:prstGeom>
          <a:solidFill>
            <a:srgbClr val="00d4ff"/>
          </a:solidFill>
          <a:ln w="12600">
            <a:solidFill>
              <a:srgbClr val="00d4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03" name="Text 8"/>
          <p:cNvSpPr/>
          <p:nvPr/>
        </p:nvSpPr>
        <p:spPr>
          <a:xfrm>
            <a:off x="429840" y="318960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1" u="none" strike="noStrike">
                <a:solidFill>
                  <a:srgbClr val="00d4ff"/>
                </a:solidFill>
                <a:effectLst/>
                <a:uFillTx/>
                <a:latin typeface="Calibri"/>
                <a:ea typeface="DejaVu Sans"/>
              </a:rPr>
              <a:t>Dokumentacja</a:t>
            </a:r>
            <a:endParaRPr lang="pl-PL" sz="1400" b="0" u="none" strike="noStrike">
              <a:solidFill>
                <a:srgbClr val="ffffff"/>
              </a:solidFill>
              <a:effectLst/>
              <a:uFillTx/>
              <a:latin typeface="Arial"/>
            </a:endParaRPr>
          </a:p>
        </p:txBody>
      </p:sp>
      <p:sp>
        <p:nvSpPr>
          <p:cNvPr id="3504" name="Text 9"/>
          <p:cNvSpPr/>
          <p:nvPr/>
        </p:nvSpPr>
        <p:spPr>
          <a:xfrm>
            <a:off x="429840" y="3509640"/>
            <a:ext cx="2586600" cy="1206000"/>
          </a:xfrm>
          <a:prstGeom prst="rect">
            <a:avLst/>
          </a:prstGeom>
          <a:noFill/>
          <a:ln w="0">
            <a:noFill/>
          </a:ln>
        </p:spPr>
        <p:style>
          <a:lnRef idx="0"/>
          <a:fillRef idx="0"/>
          <a:effectRef idx="0"/>
          <a:fontRef idx="minor"/>
        </p:style>
        <p:txBody>
          <a:bodyPr lIns="0" rIns="0" tIns="0" bIns="0" anchor="t">
            <a:noAutofit/>
          </a:bodyPr>
          <a:p>
            <a:pPr defTabSz="914400">
              <a:lnSpc>
                <a:spcPct val="150000"/>
              </a:lnSpc>
              <a:tabLst>
                <a:tab algn="l" pos="0"/>
              </a:tabLst>
            </a:pPr>
            <a:r>
              <a:rPr lang="pl-PL" sz="1300" b="0" u="none" strike="noStrike">
                <a:solidFill>
                  <a:srgbClr val="ccddee"/>
                </a:solidFill>
                <a:effectLst/>
                <a:uFillTx/>
                <a:latin typeface="Calibri"/>
                <a:ea typeface="DejaVu Sans"/>
              </a:rPr>
              <a:t>iOS HIG: </a:t>
            </a:r>
            <a:r>
              <a:rPr lang="pl-PL" sz="1300" b="0" u="sng" strike="noStrike">
                <a:solidFill>
                  <a:srgbClr val="0563c1"/>
                </a:solidFill>
                <a:effectLst/>
                <a:uFillTx/>
                <a:latin typeface="Calibri"/>
                <a:ea typeface="DejaVu Sans"/>
                <a:hlinkClick r:id="rId1"/>
              </a:rPr>
              <a:t>developer.apple.com/design</a:t>
            </a:r>
            <a:endParaRPr lang="pl-PL" sz="1300" b="0" u="none" strike="noStrike">
              <a:solidFill>
                <a:srgbClr val="ffffff"/>
              </a:solidFill>
              <a:effectLst/>
              <a:uFillTx/>
              <a:latin typeface="Arial"/>
            </a:endParaRPr>
          </a:p>
          <a:p>
            <a:pPr defTabSz="914400">
              <a:lnSpc>
                <a:spcPct val="150000"/>
              </a:lnSpc>
              <a:tabLst>
                <a:tab algn="l" pos="0"/>
              </a:tabLst>
            </a:pPr>
            <a:r>
              <a:rPr lang="pl-PL" sz="1300" b="0" u="none" strike="noStrike">
                <a:solidFill>
                  <a:srgbClr val="ccddee"/>
                </a:solidFill>
                <a:effectLst/>
                <a:uFillTx/>
                <a:latin typeface="Calibri"/>
                <a:ea typeface="DejaVu Sans"/>
              </a:rPr>
              <a:t>Material Design: </a:t>
            </a:r>
            <a:r>
              <a:rPr lang="pl-PL" sz="1300" b="0" u="sng" strike="noStrike">
                <a:solidFill>
                  <a:srgbClr val="0563c1"/>
                </a:solidFill>
                <a:effectLst/>
                <a:uFillTx/>
                <a:latin typeface="Calibri"/>
                <a:ea typeface="DejaVu Sans"/>
                <a:hlinkClick r:id="rId2"/>
              </a:rPr>
              <a:t>m3.material.io</a:t>
            </a:r>
            <a:endParaRPr lang="pl-PL" sz="1300" b="0" u="none" strike="noStrike">
              <a:solidFill>
                <a:srgbClr val="ffffff"/>
              </a:solidFill>
              <a:effectLst/>
              <a:uFillTx/>
              <a:latin typeface="Arial"/>
            </a:endParaRPr>
          </a:p>
          <a:p>
            <a:pPr defTabSz="914400">
              <a:lnSpc>
                <a:spcPct val="150000"/>
              </a:lnSpc>
              <a:tabLst>
                <a:tab algn="l" pos="0"/>
              </a:tabLst>
            </a:pPr>
            <a:r>
              <a:rPr lang="pl-PL" sz="1300" b="0" u="none" strike="noStrike">
                <a:solidFill>
                  <a:srgbClr val="ccddee"/>
                </a:solidFill>
                <a:effectLst/>
                <a:uFillTx/>
                <a:latin typeface="Calibri"/>
                <a:ea typeface="DejaVu Sans"/>
              </a:rPr>
              <a:t>WCAG: </a:t>
            </a:r>
            <a:r>
              <a:rPr lang="pl-PL" sz="1300" b="0" u="sng" strike="noStrike">
                <a:solidFill>
                  <a:srgbClr val="0563c1"/>
                </a:solidFill>
                <a:effectLst/>
                <a:uFillTx/>
                <a:latin typeface="Calibri"/>
                <a:ea typeface="DejaVu Sans"/>
                <a:hlinkClick r:id="rId3"/>
              </a:rPr>
              <a:t>www.w3.org/WAI/WCAG22</a:t>
            </a:r>
            <a:endParaRPr lang="pl-PL" sz="1300" b="0" u="none" strike="noStrike">
              <a:solidFill>
                <a:srgbClr val="ffffff"/>
              </a:solidFill>
              <a:effectLst/>
              <a:uFillTx/>
              <a:latin typeface="Arial"/>
            </a:endParaRPr>
          </a:p>
        </p:txBody>
      </p:sp>
      <p:sp>
        <p:nvSpPr>
          <p:cNvPr id="3505" name="Shape 10"/>
          <p:cNvSpPr/>
          <p:nvPr/>
        </p:nvSpPr>
        <p:spPr>
          <a:xfrm>
            <a:off x="3200400" y="3125520"/>
            <a:ext cx="2742120" cy="1644840"/>
          </a:xfrm>
          <a:prstGeom prst="rect">
            <a:avLst/>
          </a:prstGeom>
          <a:solidFill>
            <a:srgbClr val="112233"/>
          </a:solidFill>
          <a:ln w="12600">
            <a:solidFill>
              <a:srgbClr val="1a3050"/>
            </a:solidFill>
            <a:round/>
          </a:ln>
          <a:effectLst>
            <a:outerShdw blurRad="76320" dir="8100000" dist="25455" rotWithShape="0">
              <a:srgbClr val="1c1c1c">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06" name="Shape 11"/>
          <p:cNvSpPr/>
          <p:nvPr/>
        </p:nvSpPr>
        <p:spPr>
          <a:xfrm>
            <a:off x="3200400" y="3125520"/>
            <a:ext cx="44640" cy="1644840"/>
          </a:xfrm>
          <a:prstGeom prst="rect">
            <a:avLst/>
          </a:prstGeom>
          <a:solidFill>
            <a:srgbClr val="00e676"/>
          </a:solidFill>
          <a:ln w="12600">
            <a:solidFill>
              <a:srgbClr val="00e676"/>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07" name="Text 12"/>
          <p:cNvSpPr/>
          <p:nvPr/>
        </p:nvSpPr>
        <p:spPr>
          <a:xfrm>
            <a:off x="3310200" y="318960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1" u="none" strike="noStrike">
                <a:solidFill>
                  <a:srgbClr val="00e676"/>
                </a:solidFill>
                <a:effectLst/>
                <a:uFillTx/>
                <a:latin typeface="Calibri"/>
                <a:ea typeface="DejaVu Sans"/>
              </a:rPr>
              <a:t>Narzędzia online</a:t>
            </a:r>
            <a:endParaRPr lang="pl-PL" sz="1400" b="0" u="none" strike="noStrike">
              <a:solidFill>
                <a:srgbClr val="ffffff"/>
              </a:solidFill>
              <a:effectLst/>
              <a:uFillTx/>
              <a:latin typeface="Arial"/>
            </a:endParaRPr>
          </a:p>
        </p:txBody>
      </p:sp>
      <p:sp>
        <p:nvSpPr>
          <p:cNvPr id="3508" name="Text 13"/>
          <p:cNvSpPr/>
          <p:nvPr/>
        </p:nvSpPr>
        <p:spPr>
          <a:xfrm>
            <a:off x="3310200" y="3509640"/>
            <a:ext cx="2586600" cy="1206000"/>
          </a:xfrm>
          <a:prstGeom prst="rect">
            <a:avLst/>
          </a:prstGeom>
          <a:noFill/>
          <a:ln w="0">
            <a:noFill/>
          </a:ln>
        </p:spPr>
        <p:style>
          <a:lnRef idx="0"/>
          <a:fillRef idx="0"/>
          <a:effectRef idx="0"/>
          <a:fontRef idx="minor"/>
        </p:style>
        <p:txBody>
          <a:bodyPr lIns="0" rIns="0" tIns="0" bIns="0" anchor="t">
            <a:noAutofit/>
          </a:bodyPr>
          <a:p>
            <a:pPr defTabSz="914400">
              <a:lnSpc>
                <a:spcPct val="150000"/>
              </a:lnSpc>
              <a:tabLst>
                <a:tab algn="l" pos="0"/>
              </a:tabLst>
            </a:pPr>
            <a:r>
              <a:rPr lang="pl-PL" sz="1300" b="0" u="none" strike="noStrike">
                <a:solidFill>
                  <a:srgbClr val="ccddee"/>
                </a:solidFill>
                <a:effectLst/>
                <a:uFillTx/>
                <a:latin typeface="Calibri"/>
                <a:ea typeface="DejaVu Sans"/>
              </a:rPr>
              <a:t>Figma: </a:t>
            </a:r>
            <a:r>
              <a:rPr lang="pl-PL" sz="1300" b="0" u="sng" strike="noStrike">
                <a:solidFill>
                  <a:srgbClr val="0563c1"/>
                </a:solidFill>
                <a:effectLst/>
                <a:uFillTx/>
                <a:latin typeface="Calibri"/>
                <a:ea typeface="DejaVu Sans"/>
                <a:hlinkClick r:id="rId4"/>
              </a:rPr>
              <a:t>figma.com</a:t>
            </a:r>
            <a:r>
              <a:rPr lang="pl-PL" sz="1300" b="0" u="none" strike="noStrike">
                <a:solidFill>
                  <a:srgbClr val="ccddee"/>
                </a:solidFill>
                <a:effectLst/>
                <a:uFillTx/>
                <a:latin typeface="Calibri"/>
                <a:ea typeface="DejaVu Sans"/>
              </a:rPr>
              <a:t> (darmowe konto)</a:t>
            </a:r>
            <a:endParaRPr lang="pl-PL" sz="1300" b="0" u="none" strike="noStrike">
              <a:solidFill>
                <a:srgbClr val="ffffff"/>
              </a:solidFill>
              <a:effectLst/>
              <a:uFillTx/>
              <a:latin typeface="Arial"/>
            </a:endParaRPr>
          </a:p>
          <a:p>
            <a:pPr defTabSz="914400">
              <a:lnSpc>
                <a:spcPct val="150000"/>
              </a:lnSpc>
              <a:tabLst>
                <a:tab algn="l" pos="0"/>
              </a:tabLst>
            </a:pPr>
            <a:r>
              <a:rPr lang="pl-PL" sz="1300" b="0" u="none" strike="noStrike">
                <a:solidFill>
                  <a:srgbClr val="ccddee"/>
                </a:solidFill>
                <a:effectLst/>
                <a:uFillTx/>
                <a:latin typeface="Calibri"/>
                <a:ea typeface="DejaVu Sans"/>
              </a:rPr>
              <a:t>Coolors: </a:t>
            </a:r>
            <a:r>
              <a:rPr lang="pl-PL" sz="1300" b="0" u="sng" strike="noStrike">
                <a:solidFill>
                  <a:srgbClr val="0563c1"/>
                </a:solidFill>
                <a:effectLst/>
                <a:uFillTx/>
                <a:latin typeface="Calibri"/>
                <a:ea typeface="DejaVu Sans"/>
                <a:hlinkClick r:id="rId5"/>
              </a:rPr>
              <a:t>coolors.co</a:t>
            </a:r>
            <a:endParaRPr lang="pl-PL" sz="1300" b="0" u="none" strike="noStrike">
              <a:solidFill>
                <a:srgbClr val="ffffff"/>
              </a:solidFill>
              <a:effectLst/>
              <a:uFillTx/>
              <a:latin typeface="Arial"/>
            </a:endParaRPr>
          </a:p>
          <a:p>
            <a:pPr defTabSz="914400">
              <a:lnSpc>
                <a:spcPct val="150000"/>
              </a:lnSpc>
              <a:tabLst>
                <a:tab algn="l" pos="0"/>
              </a:tabLst>
            </a:pPr>
            <a:r>
              <a:rPr lang="pl-PL" sz="1300" b="0" u="none" strike="noStrike">
                <a:solidFill>
                  <a:srgbClr val="ccddee"/>
                </a:solidFill>
                <a:effectLst/>
                <a:uFillTx/>
                <a:latin typeface="Calibri"/>
                <a:ea typeface="DejaVu Sans"/>
              </a:rPr>
              <a:t>WebAIM Contrast: </a:t>
            </a:r>
            <a:r>
              <a:rPr lang="pl-PL" sz="1300" b="0" u="sng" strike="noStrike">
                <a:solidFill>
                  <a:srgbClr val="0563c1"/>
                </a:solidFill>
                <a:effectLst/>
                <a:uFillTx/>
                <a:latin typeface="Calibri"/>
                <a:ea typeface="DejaVu Sans"/>
                <a:hlinkClick r:id="rId6"/>
              </a:rPr>
              <a:t>webaim.org/resources/contrastchecker</a:t>
            </a:r>
            <a:endParaRPr lang="pl-PL" sz="1300" b="0" u="none" strike="noStrike">
              <a:solidFill>
                <a:srgbClr val="ffffff"/>
              </a:solidFill>
              <a:effectLst/>
              <a:uFillTx/>
              <a:latin typeface="Arial"/>
            </a:endParaRPr>
          </a:p>
        </p:txBody>
      </p:sp>
      <p:sp>
        <p:nvSpPr>
          <p:cNvPr id="3509" name="Shape 14"/>
          <p:cNvSpPr/>
          <p:nvPr/>
        </p:nvSpPr>
        <p:spPr>
          <a:xfrm>
            <a:off x="6080760" y="3125520"/>
            <a:ext cx="2742120" cy="1644840"/>
          </a:xfrm>
          <a:prstGeom prst="rect">
            <a:avLst/>
          </a:prstGeom>
          <a:solidFill>
            <a:srgbClr val="112233"/>
          </a:solidFill>
          <a:ln w="12600">
            <a:solidFill>
              <a:srgbClr val="1a3050"/>
            </a:solidFill>
            <a:round/>
          </a:ln>
          <a:effectLst>
            <a:outerShdw blurRad="76320" dir="8100000" dist="25455" rotWithShape="0">
              <a:srgbClr val="1c1c1c">
                <a:alpha val="20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10" name="Shape 15"/>
          <p:cNvSpPr/>
          <p:nvPr/>
        </p:nvSpPr>
        <p:spPr>
          <a:xfrm>
            <a:off x="6080760" y="3125520"/>
            <a:ext cx="44640" cy="1644840"/>
          </a:xfrm>
          <a:prstGeom prst="rect">
            <a:avLst/>
          </a:prstGeom>
          <a:solidFill>
            <a:srgbClr val="b388ff"/>
          </a:solidFill>
          <a:ln w="12600">
            <a:solidFill>
              <a:srgbClr val="b388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11" name="Text 16"/>
          <p:cNvSpPr/>
          <p:nvPr/>
        </p:nvSpPr>
        <p:spPr>
          <a:xfrm>
            <a:off x="6190560" y="3189600"/>
            <a:ext cx="2586600" cy="254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400" b="1" u="none" strike="noStrike">
                <a:solidFill>
                  <a:srgbClr val="b388ff"/>
                </a:solidFill>
                <a:effectLst/>
                <a:uFillTx/>
                <a:latin typeface="Calibri"/>
                <a:ea typeface="DejaVu Sans"/>
              </a:rPr>
              <a:t>Polecane lektury</a:t>
            </a:r>
            <a:endParaRPr lang="pl-PL" sz="1400" b="0" u="none" strike="noStrike">
              <a:solidFill>
                <a:srgbClr val="ffffff"/>
              </a:solidFill>
              <a:effectLst/>
              <a:uFillTx/>
              <a:latin typeface="Arial"/>
            </a:endParaRPr>
          </a:p>
        </p:txBody>
      </p:sp>
      <p:sp>
        <p:nvSpPr>
          <p:cNvPr id="3512" name="Text 17"/>
          <p:cNvSpPr/>
          <p:nvPr/>
        </p:nvSpPr>
        <p:spPr>
          <a:xfrm>
            <a:off x="6190560" y="3509640"/>
            <a:ext cx="2586600" cy="1206000"/>
          </a:xfrm>
          <a:prstGeom prst="rect">
            <a:avLst/>
          </a:prstGeom>
          <a:noFill/>
          <a:ln w="0">
            <a:noFill/>
          </a:ln>
        </p:spPr>
        <p:style>
          <a:lnRef idx="0"/>
          <a:fillRef idx="0"/>
          <a:effectRef idx="0"/>
          <a:fontRef idx="minor"/>
        </p:style>
        <p:txBody>
          <a:bodyPr lIns="0" rIns="0" tIns="0" bIns="0" anchor="t">
            <a:noAutofit/>
          </a:bodyPr>
          <a:p>
            <a:pPr marL="171360" indent="-171360" defTabSz="914400">
              <a:lnSpc>
                <a:spcPct val="150000"/>
              </a:lnSpc>
              <a:buClr>
                <a:srgbClr val="ccddee"/>
              </a:buClr>
              <a:buFont typeface="Arial"/>
              <a:buChar char="•"/>
            </a:pPr>
            <a:r>
              <a:rPr lang="pl-PL" sz="1100" b="0" u="none" strike="noStrike">
                <a:solidFill>
                  <a:srgbClr val="ccddee"/>
                </a:solidFill>
                <a:effectLst/>
                <a:uFillTx/>
                <a:latin typeface="Calibri"/>
                <a:ea typeface="DejaVu Sans"/>
              </a:rPr>
              <a:t>Don Norman 'Emotional Design'</a:t>
            </a:r>
            <a:endParaRPr lang="pl-PL" sz="1100" b="0" u="none" strike="noStrike">
              <a:solidFill>
                <a:srgbClr val="ffffff"/>
              </a:solidFill>
              <a:effectLst/>
              <a:uFillTx/>
              <a:latin typeface="Arial"/>
            </a:endParaRPr>
          </a:p>
          <a:p>
            <a:pPr marL="171360" indent="-171360" defTabSz="914400">
              <a:lnSpc>
                <a:spcPct val="150000"/>
              </a:lnSpc>
              <a:buClr>
                <a:srgbClr val="ccddee"/>
              </a:buClr>
              <a:buFont typeface="Arial"/>
              <a:buChar char="•"/>
            </a:pPr>
            <a:r>
              <a:rPr lang="pl-PL" sz="1100" b="0" u="none" strike="noStrike">
                <a:solidFill>
                  <a:srgbClr val="ccddee"/>
                </a:solidFill>
                <a:effectLst/>
                <a:uFillTx/>
                <a:latin typeface="Calibri"/>
                <a:ea typeface="DejaVu Sans"/>
              </a:rPr>
              <a:t>Luke Wroblewski 'Mobile First'</a:t>
            </a:r>
            <a:endParaRPr lang="pl-PL" sz="1100" b="0" u="none" strike="noStrike">
              <a:solidFill>
                <a:srgbClr val="ffffff"/>
              </a:solidFill>
              <a:effectLst/>
              <a:uFillTx/>
              <a:latin typeface="Arial"/>
            </a:endParaRPr>
          </a:p>
          <a:p>
            <a:pPr marL="171360" indent="-171360" defTabSz="914400">
              <a:lnSpc>
                <a:spcPct val="150000"/>
              </a:lnSpc>
              <a:buClr>
                <a:srgbClr val="ccddee"/>
              </a:buClr>
              <a:buFont typeface="Arial"/>
              <a:buChar char="•"/>
            </a:pPr>
            <a:r>
              <a:rPr lang="pl-PL" sz="1100" b="0" u="none" strike="noStrike">
                <a:solidFill>
                  <a:srgbClr val="ccddee"/>
                </a:solidFill>
                <a:effectLst/>
                <a:uFillTx/>
                <a:latin typeface="Calibri"/>
                <a:ea typeface="DejaVu Sans"/>
              </a:rPr>
              <a:t>Viktor Papanek 'Wzornictwo dla realnego świata‚ („Dizajn dla realnego świat”)</a:t>
            </a:r>
            <a:endParaRPr lang="pl-PL" sz="1100" b="0" u="none" strike="noStrike">
              <a:solidFill>
                <a:srgbClr val="ffffff"/>
              </a:solidFill>
              <a:effectLst/>
              <a:uFillTx/>
              <a:latin typeface="Arial"/>
            </a:endParaRPr>
          </a:p>
        </p:txBody>
      </p:sp>
      <p:grpSp>
        <p:nvGrpSpPr>
          <p:cNvPr id="3513" name="Grupa 20"/>
          <p:cNvGrpSpPr/>
          <p:nvPr/>
        </p:nvGrpSpPr>
        <p:grpSpPr>
          <a:xfrm>
            <a:off x="-2520" y="4892400"/>
            <a:ext cx="9145440" cy="259200"/>
            <a:chOff x="-2520" y="4892400"/>
            <a:chExt cx="9145440" cy="259200"/>
          </a:xfrm>
        </p:grpSpPr>
        <p:sp>
          <p:nvSpPr>
            <p:cNvPr id="3514" name="Shape 52"/>
            <p:cNvSpPr/>
            <p:nvPr/>
          </p:nvSpPr>
          <p:spPr>
            <a:xfrm>
              <a:off x="0" y="489240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grpSp>
          <p:nvGrpSpPr>
            <p:cNvPr id="3515" name="Grupa 23"/>
            <p:cNvGrpSpPr/>
            <p:nvPr/>
          </p:nvGrpSpPr>
          <p:grpSpPr>
            <a:xfrm>
              <a:off x="-2520" y="5106960"/>
              <a:ext cx="9145440" cy="44640"/>
              <a:chOff x="-2520" y="5106960"/>
              <a:chExt cx="9145440" cy="44640"/>
            </a:xfrm>
          </p:grpSpPr>
          <p:sp>
            <p:nvSpPr>
              <p:cNvPr id="3516" name="Shape 52"/>
              <p:cNvSpPr/>
              <p:nvPr/>
            </p:nvSpPr>
            <p:spPr>
              <a:xfrm>
                <a:off x="-252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17" name="Shape 52"/>
              <p:cNvSpPr/>
              <p:nvPr/>
            </p:nvSpPr>
            <p:spPr>
              <a:xfrm>
                <a:off x="19872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18" name="Shape 52"/>
              <p:cNvSpPr/>
              <p:nvPr/>
            </p:nvSpPr>
            <p:spPr>
              <a:xfrm>
                <a:off x="39744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19" name="Shape 52"/>
              <p:cNvSpPr/>
              <p:nvPr/>
            </p:nvSpPr>
            <p:spPr>
              <a:xfrm>
                <a:off x="59616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0" name="Shape 52"/>
              <p:cNvSpPr/>
              <p:nvPr/>
            </p:nvSpPr>
            <p:spPr>
              <a:xfrm>
                <a:off x="79524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1" name="Shape 52"/>
              <p:cNvSpPr/>
              <p:nvPr/>
            </p:nvSpPr>
            <p:spPr>
              <a:xfrm>
                <a:off x="99396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2" name="Shape 52"/>
              <p:cNvSpPr/>
              <p:nvPr/>
            </p:nvSpPr>
            <p:spPr>
              <a:xfrm>
                <a:off x="119268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3" name="Shape 52"/>
              <p:cNvSpPr/>
              <p:nvPr/>
            </p:nvSpPr>
            <p:spPr>
              <a:xfrm>
                <a:off x="139140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4" name="Shape 52"/>
              <p:cNvSpPr/>
              <p:nvPr/>
            </p:nvSpPr>
            <p:spPr>
              <a:xfrm>
                <a:off x="159012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5" name="Shape 52"/>
              <p:cNvSpPr/>
              <p:nvPr/>
            </p:nvSpPr>
            <p:spPr>
              <a:xfrm>
                <a:off x="178884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6" name="Shape 52"/>
              <p:cNvSpPr/>
              <p:nvPr/>
            </p:nvSpPr>
            <p:spPr>
              <a:xfrm>
                <a:off x="198756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7" name="Shape 52"/>
              <p:cNvSpPr/>
              <p:nvPr/>
            </p:nvSpPr>
            <p:spPr>
              <a:xfrm>
                <a:off x="218628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8" name="Shape 52"/>
              <p:cNvSpPr/>
              <p:nvPr/>
            </p:nvSpPr>
            <p:spPr>
              <a:xfrm>
                <a:off x="238536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29" name="Shape 52"/>
              <p:cNvSpPr/>
              <p:nvPr/>
            </p:nvSpPr>
            <p:spPr>
              <a:xfrm>
                <a:off x="258408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0" name="Shape 52"/>
              <p:cNvSpPr/>
              <p:nvPr/>
            </p:nvSpPr>
            <p:spPr>
              <a:xfrm>
                <a:off x="278352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1" name="Shape 52"/>
              <p:cNvSpPr/>
              <p:nvPr/>
            </p:nvSpPr>
            <p:spPr>
              <a:xfrm>
                <a:off x="298224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2" name="Shape 52"/>
              <p:cNvSpPr/>
              <p:nvPr/>
            </p:nvSpPr>
            <p:spPr>
              <a:xfrm>
                <a:off x="318096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3" name="Shape 52"/>
              <p:cNvSpPr/>
              <p:nvPr/>
            </p:nvSpPr>
            <p:spPr>
              <a:xfrm>
                <a:off x="337968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4" name="Shape 52"/>
              <p:cNvSpPr/>
              <p:nvPr/>
            </p:nvSpPr>
            <p:spPr>
              <a:xfrm>
                <a:off x="357840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5" name="Shape 52"/>
              <p:cNvSpPr/>
              <p:nvPr/>
            </p:nvSpPr>
            <p:spPr>
              <a:xfrm>
                <a:off x="377712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6" name="Shape 52"/>
              <p:cNvSpPr/>
              <p:nvPr/>
            </p:nvSpPr>
            <p:spPr>
              <a:xfrm>
                <a:off x="397620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7" name="Shape 52"/>
              <p:cNvSpPr/>
              <p:nvPr/>
            </p:nvSpPr>
            <p:spPr>
              <a:xfrm>
                <a:off x="417492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8" name="Shape 52"/>
              <p:cNvSpPr/>
              <p:nvPr/>
            </p:nvSpPr>
            <p:spPr>
              <a:xfrm>
                <a:off x="437364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9" name="Shape 52"/>
              <p:cNvSpPr/>
              <p:nvPr/>
            </p:nvSpPr>
            <p:spPr>
              <a:xfrm>
                <a:off x="457236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0" name="Shape 52"/>
              <p:cNvSpPr/>
              <p:nvPr/>
            </p:nvSpPr>
            <p:spPr>
              <a:xfrm>
                <a:off x="477108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1" name="Shape 52"/>
              <p:cNvSpPr/>
              <p:nvPr/>
            </p:nvSpPr>
            <p:spPr>
              <a:xfrm>
                <a:off x="496980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2" name="Shape 52"/>
              <p:cNvSpPr/>
              <p:nvPr/>
            </p:nvSpPr>
            <p:spPr>
              <a:xfrm>
                <a:off x="5168520" y="51069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3" name="Shape 52"/>
              <p:cNvSpPr/>
              <p:nvPr/>
            </p:nvSpPr>
            <p:spPr>
              <a:xfrm>
                <a:off x="536760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4" name="Shape 52"/>
              <p:cNvSpPr/>
              <p:nvPr/>
            </p:nvSpPr>
            <p:spPr>
              <a:xfrm>
                <a:off x="556632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5" name="Shape 52"/>
              <p:cNvSpPr/>
              <p:nvPr/>
            </p:nvSpPr>
            <p:spPr>
              <a:xfrm>
                <a:off x="576504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6" name="Shape 52"/>
              <p:cNvSpPr/>
              <p:nvPr/>
            </p:nvSpPr>
            <p:spPr>
              <a:xfrm>
                <a:off x="596376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7" name="Shape 52"/>
              <p:cNvSpPr/>
              <p:nvPr/>
            </p:nvSpPr>
            <p:spPr>
              <a:xfrm>
                <a:off x="616248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8" name="Shape 52"/>
              <p:cNvSpPr/>
              <p:nvPr/>
            </p:nvSpPr>
            <p:spPr>
              <a:xfrm>
                <a:off x="636120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49" name="Shape 52"/>
              <p:cNvSpPr/>
              <p:nvPr/>
            </p:nvSpPr>
            <p:spPr>
              <a:xfrm>
                <a:off x="655992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0" name="Shape 52"/>
              <p:cNvSpPr/>
              <p:nvPr/>
            </p:nvSpPr>
            <p:spPr>
              <a:xfrm>
                <a:off x="675864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1" name="Shape 52"/>
              <p:cNvSpPr/>
              <p:nvPr/>
            </p:nvSpPr>
            <p:spPr>
              <a:xfrm>
                <a:off x="695772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2" name="Shape 52"/>
              <p:cNvSpPr/>
              <p:nvPr/>
            </p:nvSpPr>
            <p:spPr>
              <a:xfrm>
                <a:off x="715644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3" name="Shape 52"/>
              <p:cNvSpPr/>
              <p:nvPr/>
            </p:nvSpPr>
            <p:spPr>
              <a:xfrm>
                <a:off x="735516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4" name="Shape 52"/>
              <p:cNvSpPr/>
              <p:nvPr/>
            </p:nvSpPr>
            <p:spPr>
              <a:xfrm>
                <a:off x="755388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5" name="Shape 52"/>
              <p:cNvSpPr/>
              <p:nvPr/>
            </p:nvSpPr>
            <p:spPr>
              <a:xfrm>
                <a:off x="7752600" y="510804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6" name="Shape 52"/>
              <p:cNvSpPr/>
              <p:nvPr/>
            </p:nvSpPr>
            <p:spPr>
              <a:xfrm>
                <a:off x="7951320" y="51087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7" name="Shape 52"/>
              <p:cNvSpPr/>
              <p:nvPr/>
            </p:nvSpPr>
            <p:spPr>
              <a:xfrm>
                <a:off x="8150040" y="51087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8" name="Shape 52"/>
              <p:cNvSpPr/>
              <p:nvPr/>
            </p:nvSpPr>
            <p:spPr>
              <a:xfrm>
                <a:off x="8348760" y="51087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59" name="Shape 52"/>
              <p:cNvSpPr/>
              <p:nvPr/>
            </p:nvSpPr>
            <p:spPr>
              <a:xfrm>
                <a:off x="8547840" y="51087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60" name="Shape 52"/>
              <p:cNvSpPr/>
              <p:nvPr/>
            </p:nvSpPr>
            <p:spPr>
              <a:xfrm>
                <a:off x="8746560" y="51087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61" name="Shape 52"/>
              <p:cNvSpPr/>
              <p:nvPr/>
            </p:nvSpPr>
            <p:spPr>
              <a:xfrm>
                <a:off x="8945280" y="510876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grpSp>
      </p:grpSp>
      <p:sp>
        <p:nvSpPr>
          <p:cNvPr id="3562" name="Text 18"/>
          <p:cNvSpPr/>
          <p:nvPr/>
        </p:nvSpPr>
        <p:spPr>
          <a:xfrm>
            <a:off x="274320" y="4901040"/>
            <a:ext cx="8228520" cy="218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800" b="0" u="none" strike="noStrike">
                <a:solidFill>
                  <a:srgbClr val="8899aa"/>
                </a:solidFill>
                <a:effectLst/>
                <a:uFillTx/>
                <a:latin typeface="Calibri"/>
                <a:ea typeface="DejaVu Sans"/>
              </a:rPr>
              <a:t>dr inż. Mateusz Pomianek  •  Katedra Informatyki i Automatyki  •  Politechnika Rzeszowska  •  2026</a:t>
            </a:r>
            <a:endParaRPr lang="pl-PL" sz="800" b="0" u="none" strike="noStrike">
              <a:solidFill>
                <a:srgbClr val="ffffff"/>
              </a:solidFill>
              <a:effectLst/>
              <a:uFillTx/>
              <a:latin typeface="Arial"/>
            </a:endParaRPr>
          </a:p>
        </p:txBody>
      </p:sp>
      <p:sp>
        <p:nvSpPr>
          <p:cNvPr id="3563" name="Shape 1"/>
          <p:cNvSpPr/>
          <p:nvPr/>
        </p:nvSpPr>
        <p:spPr>
          <a:xfrm>
            <a:off x="0" y="0"/>
            <a:ext cx="163440" cy="5142600"/>
          </a:xfrm>
          <a:prstGeom prst="rect">
            <a:avLst/>
          </a:prstGeom>
          <a:solidFill>
            <a:srgbClr val="ff2d78"/>
          </a:solidFill>
          <a:ln w="12600">
            <a:solidFill>
              <a:srgbClr val="ff2d78"/>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314c"/>
        </a:solidFill>
      </p:bgPr>
    </p:bg>
    <p:spTree>
      <p:nvGrpSpPr>
        <p:cNvPr id="1" name=""/>
        <p:cNvGrpSpPr/>
        <p:nvPr/>
      </p:nvGrpSpPr>
      <p:grpSpPr>
        <a:xfrm>
          <a:off x="0" y="0"/>
          <a:ext cx="0" cy="0"/>
          <a:chOff x="0" y="0"/>
          <a:chExt cx="0" cy="0"/>
        </a:xfrm>
      </p:grpSpPr>
      <p:grpSp>
        <p:nvGrpSpPr>
          <p:cNvPr id="3564" name="Grupa 55"/>
          <p:cNvGrpSpPr/>
          <p:nvPr/>
        </p:nvGrpSpPr>
        <p:grpSpPr>
          <a:xfrm>
            <a:off x="-2520" y="4884840"/>
            <a:ext cx="9145440" cy="259200"/>
            <a:chOff x="-2520" y="4884840"/>
            <a:chExt cx="9145440" cy="259200"/>
          </a:xfrm>
        </p:grpSpPr>
        <p:sp>
          <p:nvSpPr>
            <p:cNvPr id="3565" name="Shape 52"/>
            <p:cNvSpPr/>
            <p:nvPr/>
          </p:nvSpPr>
          <p:spPr>
            <a:xfrm>
              <a:off x="0" y="4884840"/>
              <a:ext cx="9142920" cy="250920"/>
            </a:xfrm>
            <a:prstGeom prst="rect">
              <a:avLst/>
            </a:prstGeom>
            <a:solidFill>
              <a:srgbClr val="071523"/>
            </a:solidFill>
            <a:ln w="12600">
              <a:solidFill>
                <a:srgbClr val="071523"/>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66" name="Text 38"/>
            <p:cNvSpPr/>
            <p:nvPr/>
          </p:nvSpPr>
          <p:spPr>
            <a:xfrm>
              <a:off x="33120" y="4917240"/>
              <a:ext cx="3612600" cy="1789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none" strike="noStrike">
                  <a:solidFill>
                    <a:schemeClr val="dk1">
                      <a:lumMod val="65000"/>
                      <a:lumOff val="35000"/>
                    </a:schemeClr>
                  </a:solidFill>
                  <a:effectLst/>
                  <a:uFillTx/>
                  <a:latin typeface="Calibri"/>
                  <a:ea typeface="DejaVu Sans"/>
                </a:rPr>
                <a:t>Programowanie Aplikacji Mobilnych  •  </a:t>
              </a:r>
              <a:r>
                <a:rPr lang="pl-PL" sz="800" b="0" u="none" strike="noStrike">
                  <a:solidFill>
                    <a:schemeClr val="dk1">
                      <a:lumMod val="65000"/>
                      <a:lumOff val="35000"/>
                    </a:schemeClr>
                  </a:solidFill>
                  <a:effectLst/>
                  <a:uFillTx/>
                  <a:latin typeface="Calibri"/>
                  <a:ea typeface="DejaVu Sans"/>
                </a:rPr>
                <a:t>Projektowanie</a:t>
              </a:r>
              <a:r>
                <a:rPr lang="en-US" sz="800" b="0" u="none" strike="noStrike">
                  <a:solidFill>
                    <a:schemeClr val="dk1">
                      <a:lumMod val="65000"/>
                      <a:lumOff val="35000"/>
                    </a:schemeClr>
                  </a:solidFill>
                  <a:effectLst/>
                  <a:uFillTx/>
                  <a:latin typeface="Calibri"/>
                  <a:ea typeface="DejaVu Sans"/>
                </a:rPr>
                <a:t> UI/UX</a:t>
              </a:r>
              <a:endParaRPr lang="pl-PL" sz="800" b="0" u="none" strike="noStrike">
                <a:solidFill>
                  <a:srgbClr val="ffffff"/>
                </a:solidFill>
                <a:effectLst/>
                <a:uFillTx/>
                <a:latin typeface="Arial"/>
              </a:endParaRPr>
            </a:p>
          </p:txBody>
        </p:sp>
        <p:grpSp>
          <p:nvGrpSpPr>
            <p:cNvPr id="3567" name="Grupa 58"/>
            <p:cNvGrpSpPr/>
            <p:nvPr/>
          </p:nvGrpSpPr>
          <p:grpSpPr>
            <a:xfrm>
              <a:off x="-2520" y="5099400"/>
              <a:ext cx="9145440" cy="44640"/>
              <a:chOff x="-2520" y="5099400"/>
              <a:chExt cx="9145440" cy="44640"/>
            </a:xfrm>
          </p:grpSpPr>
          <p:sp>
            <p:nvSpPr>
              <p:cNvPr id="3568" name="Shape 52"/>
              <p:cNvSpPr/>
              <p:nvPr/>
            </p:nvSpPr>
            <p:spPr>
              <a:xfrm>
                <a:off x="-2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69" name="Shape 52"/>
              <p:cNvSpPr/>
              <p:nvPr/>
            </p:nvSpPr>
            <p:spPr>
              <a:xfrm>
                <a:off x="198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0" name="Shape 52"/>
              <p:cNvSpPr/>
              <p:nvPr/>
            </p:nvSpPr>
            <p:spPr>
              <a:xfrm>
                <a:off x="397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1" name="Shape 52"/>
              <p:cNvSpPr/>
              <p:nvPr/>
            </p:nvSpPr>
            <p:spPr>
              <a:xfrm>
                <a:off x="596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2" name="Shape 52"/>
              <p:cNvSpPr/>
              <p:nvPr/>
            </p:nvSpPr>
            <p:spPr>
              <a:xfrm>
                <a:off x="795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3" name="Shape 52"/>
              <p:cNvSpPr/>
              <p:nvPr/>
            </p:nvSpPr>
            <p:spPr>
              <a:xfrm>
                <a:off x="993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4" name="Shape 52"/>
              <p:cNvSpPr/>
              <p:nvPr/>
            </p:nvSpPr>
            <p:spPr>
              <a:xfrm>
                <a:off x="1192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5" name="Shape 52"/>
              <p:cNvSpPr/>
              <p:nvPr/>
            </p:nvSpPr>
            <p:spPr>
              <a:xfrm>
                <a:off x="13914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6" name="Shape 52"/>
              <p:cNvSpPr/>
              <p:nvPr/>
            </p:nvSpPr>
            <p:spPr>
              <a:xfrm>
                <a:off x="15901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7" name="Shape 52"/>
              <p:cNvSpPr/>
              <p:nvPr/>
            </p:nvSpPr>
            <p:spPr>
              <a:xfrm>
                <a:off x="17888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8" name="Shape 52"/>
              <p:cNvSpPr/>
              <p:nvPr/>
            </p:nvSpPr>
            <p:spPr>
              <a:xfrm>
                <a:off x="19875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79" name="Shape 52"/>
              <p:cNvSpPr/>
              <p:nvPr/>
            </p:nvSpPr>
            <p:spPr>
              <a:xfrm>
                <a:off x="21862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0" name="Shape 52"/>
              <p:cNvSpPr/>
              <p:nvPr/>
            </p:nvSpPr>
            <p:spPr>
              <a:xfrm>
                <a:off x="2385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1" name="Shape 52"/>
              <p:cNvSpPr/>
              <p:nvPr/>
            </p:nvSpPr>
            <p:spPr>
              <a:xfrm>
                <a:off x="2584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2" name="Shape 52"/>
              <p:cNvSpPr/>
              <p:nvPr/>
            </p:nvSpPr>
            <p:spPr>
              <a:xfrm>
                <a:off x="27835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3" name="Shape 52"/>
              <p:cNvSpPr/>
              <p:nvPr/>
            </p:nvSpPr>
            <p:spPr>
              <a:xfrm>
                <a:off x="29822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4" name="Shape 52"/>
              <p:cNvSpPr/>
              <p:nvPr/>
            </p:nvSpPr>
            <p:spPr>
              <a:xfrm>
                <a:off x="31809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5" name="Shape 52"/>
              <p:cNvSpPr/>
              <p:nvPr/>
            </p:nvSpPr>
            <p:spPr>
              <a:xfrm>
                <a:off x="33796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6" name="Shape 52"/>
              <p:cNvSpPr/>
              <p:nvPr/>
            </p:nvSpPr>
            <p:spPr>
              <a:xfrm>
                <a:off x="35784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7" name="Shape 52"/>
              <p:cNvSpPr/>
              <p:nvPr/>
            </p:nvSpPr>
            <p:spPr>
              <a:xfrm>
                <a:off x="37771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8" name="Shape 52"/>
              <p:cNvSpPr/>
              <p:nvPr/>
            </p:nvSpPr>
            <p:spPr>
              <a:xfrm>
                <a:off x="39762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89" name="Shape 52"/>
              <p:cNvSpPr/>
              <p:nvPr/>
            </p:nvSpPr>
            <p:spPr>
              <a:xfrm>
                <a:off x="41749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0" name="Shape 52"/>
              <p:cNvSpPr/>
              <p:nvPr/>
            </p:nvSpPr>
            <p:spPr>
              <a:xfrm>
                <a:off x="437364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1" name="Shape 52"/>
              <p:cNvSpPr/>
              <p:nvPr/>
            </p:nvSpPr>
            <p:spPr>
              <a:xfrm>
                <a:off x="457236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2" name="Shape 52"/>
              <p:cNvSpPr/>
              <p:nvPr/>
            </p:nvSpPr>
            <p:spPr>
              <a:xfrm>
                <a:off x="477108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3" name="Shape 52"/>
              <p:cNvSpPr/>
              <p:nvPr/>
            </p:nvSpPr>
            <p:spPr>
              <a:xfrm>
                <a:off x="496980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4" name="Shape 52"/>
              <p:cNvSpPr/>
              <p:nvPr/>
            </p:nvSpPr>
            <p:spPr>
              <a:xfrm>
                <a:off x="5168520" y="50994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5" name="Shape 52"/>
              <p:cNvSpPr/>
              <p:nvPr/>
            </p:nvSpPr>
            <p:spPr>
              <a:xfrm>
                <a:off x="5367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6" name="Shape 52"/>
              <p:cNvSpPr/>
              <p:nvPr/>
            </p:nvSpPr>
            <p:spPr>
              <a:xfrm>
                <a:off x="55663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7" name="Shape 52"/>
              <p:cNvSpPr/>
              <p:nvPr/>
            </p:nvSpPr>
            <p:spPr>
              <a:xfrm>
                <a:off x="57650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8" name="Shape 52"/>
              <p:cNvSpPr/>
              <p:nvPr/>
            </p:nvSpPr>
            <p:spPr>
              <a:xfrm>
                <a:off x="59637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99" name="Shape 52"/>
              <p:cNvSpPr/>
              <p:nvPr/>
            </p:nvSpPr>
            <p:spPr>
              <a:xfrm>
                <a:off x="61624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0" name="Shape 52"/>
              <p:cNvSpPr/>
              <p:nvPr/>
            </p:nvSpPr>
            <p:spPr>
              <a:xfrm>
                <a:off x="63612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1" name="Shape 52"/>
              <p:cNvSpPr/>
              <p:nvPr/>
            </p:nvSpPr>
            <p:spPr>
              <a:xfrm>
                <a:off x="65599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2" name="Shape 52"/>
              <p:cNvSpPr/>
              <p:nvPr/>
            </p:nvSpPr>
            <p:spPr>
              <a:xfrm>
                <a:off x="67586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3" name="Shape 52"/>
              <p:cNvSpPr/>
              <p:nvPr/>
            </p:nvSpPr>
            <p:spPr>
              <a:xfrm>
                <a:off x="695772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4" name="Shape 52"/>
              <p:cNvSpPr/>
              <p:nvPr/>
            </p:nvSpPr>
            <p:spPr>
              <a:xfrm>
                <a:off x="715644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5" name="Shape 52"/>
              <p:cNvSpPr/>
              <p:nvPr/>
            </p:nvSpPr>
            <p:spPr>
              <a:xfrm>
                <a:off x="735516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6" name="Shape 52"/>
              <p:cNvSpPr/>
              <p:nvPr/>
            </p:nvSpPr>
            <p:spPr>
              <a:xfrm>
                <a:off x="755388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7" name="Shape 52"/>
              <p:cNvSpPr/>
              <p:nvPr/>
            </p:nvSpPr>
            <p:spPr>
              <a:xfrm>
                <a:off x="7752600" y="510048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8" name="Shape 52"/>
              <p:cNvSpPr/>
              <p:nvPr/>
            </p:nvSpPr>
            <p:spPr>
              <a:xfrm>
                <a:off x="795132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09" name="Shape 52"/>
              <p:cNvSpPr/>
              <p:nvPr/>
            </p:nvSpPr>
            <p:spPr>
              <a:xfrm>
                <a:off x="815004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10" name="Shape 52"/>
              <p:cNvSpPr/>
              <p:nvPr/>
            </p:nvSpPr>
            <p:spPr>
              <a:xfrm>
                <a:off x="834876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11" name="Shape 52"/>
              <p:cNvSpPr/>
              <p:nvPr/>
            </p:nvSpPr>
            <p:spPr>
              <a:xfrm>
                <a:off x="854784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12" name="Shape 52"/>
              <p:cNvSpPr/>
              <p:nvPr/>
            </p:nvSpPr>
            <p:spPr>
              <a:xfrm>
                <a:off x="8746560" y="5101200"/>
                <a:ext cx="197640" cy="42840"/>
              </a:xfrm>
              <a:prstGeom prst="rect">
                <a:avLst/>
              </a:prstGeom>
              <a:solidFill>
                <a:schemeClr val="accent5">
                  <a:lumMod val="20000"/>
                  <a:lumOff val="80000"/>
                </a:schemeClr>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613" name="Shape 52"/>
              <p:cNvSpPr/>
              <p:nvPr/>
            </p:nvSpPr>
            <p:spPr>
              <a:xfrm>
                <a:off x="8945280" y="5101200"/>
                <a:ext cx="197640" cy="42840"/>
              </a:xfrm>
              <a:prstGeom prst="rect">
                <a:avLst/>
              </a:prstGeom>
              <a:solidFill>
                <a:srgbClr val="000000"/>
              </a:solidFill>
              <a:ln w="12600">
                <a:noFill/>
              </a:ln>
            </p:spPr>
            <p:style>
              <a:lnRef idx="0"/>
              <a:fillRef idx="0"/>
              <a:effectRef idx="0"/>
              <a:fontRef idx="minor"/>
            </p:style>
            <p:txBody>
              <a:bodyPr lIns="90000" rIns="90000" tIns="-1080" bIns="-1080" anchor="t">
                <a:noAutofit/>
              </a:bodyPr>
              <a:p>
                <a:pPr>
                  <a:lnSpc>
                    <a:spcPct val="100000"/>
                  </a:lnSpc>
                </a:pPr>
                <a:endParaRPr lang="pl-PL" sz="1800" b="0" u="none" strike="noStrike">
                  <a:solidFill>
                    <a:srgbClr val="ffffff"/>
                  </a:solidFill>
                  <a:effectLst/>
                  <a:uFillTx/>
                  <a:latin typeface="Arial"/>
                  <a:ea typeface="DejaVu Sans"/>
                </a:endParaRPr>
              </a:p>
            </p:txBody>
          </p:sp>
        </p:grpSp>
      </p:grpSp>
      <p:sp>
        <p:nvSpPr>
          <p:cNvPr id="3614" name="Shape 0"/>
          <p:cNvSpPr/>
          <p:nvPr/>
        </p:nvSpPr>
        <p:spPr>
          <a:xfrm>
            <a:off x="0" y="0"/>
            <a:ext cx="9142200" cy="656640"/>
          </a:xfrm>
          <a:prstGeom prst="rect">
            <a:avLst/>
          </a:prstGeom>
          <a:solidFill>
            <a:srgbClr val="0a1628"/>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15" name="Shape 1"/>
          <p:cNvSpPr/>
          <p:nvPr/>
        </p:nvSpPr>
        <p:spPr>
          <a:xfrm>
            <a:off x="0" y="658440"/>
            <a:ext cx="9142200" cy="16920"/>
          </a:xfrm>
          <a:prstGeom prst="rect">
            <a:avLst/>
          </a:prstGeom>
          <a:solidFill>
            <a:srgbClr val="00b4c5"/>
          </a:solidFill>
          <a:ln w="0">
            <a:noFill/>
          </a:ln>
        </p:spPr>
        <p:style>
          <a:lnRef idx="0"/>
          <a:fillRef idx="0"/>
          <a:effectRef idx="0"/>
          <a:fontRef idx="minor"/>
        </p:style>
        <p:txBody>
          <a:bodyPr lIns="90000" rIns="90000" tIns="720" bIns="72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16" name="Text 2"/>
          <p:cNvSpPr/>
          <p:nvPr/>
        </p:nvSpPr>
        <p:spPr>
          <a:xfrm>
            <a:off x="320040" y="54720"/>
            <a:ext cx="8502120" cy="56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ffffff"/>
                </a:solidFill>
                <a:effectLst/>
                <a:uFillTx/>
                <a:latin typeface="Cambria"/>
                <a:ea typeface="Cambria"/>
              </a:rPr>
              <a:t>Pytania do wyładu 3</a:t>
            </a:r>
            <a:endParaRPr lang="pl-PL" sz="2000" b="0" u="none" strike="noStrike">
              <a:solidFill>
                <a:srgbClr val="ffffff"/>
              </a:solidFill>
              <a:effectLst/>
              <a:uFillTx/>
              <a:latin typeface="Arial"/>
            </a:endParaRPr>
          </a:p>
        </p:txBody>
      </p:sp>
      <p:grpSp>
        <p:nvGrpSpPr>
          <p:cNvPr id="3617" name="Grupa 4"/>
          <p:cNvGrpSpPr/>
          <p:nvPr/>
        </p:nvGrpSpPr>
        <p:grpSpPr>
          <a:xfrm>
            <a:off x="122400" y="741600"/>
            <a:ext cx="8875800" cy="4067640"/>
            <a:chOff x="122400" y="741600"/>
            <a:chExt cx="8875800" cy="4067640"/>
          </a:xfrm>
        </p:grpSpPr>
        <p:sp>
          <p:nvSpPr>
            <p:cNvPr id="3618" name="Shape 19"/>
            <p:cNvSpPr/>
            <p:nvPr/>
          </p:nvSpPr>
          <p:spPr>
            <a:xfrm>
              <a:off x="122400" y="74340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19" name="Shape 20"/>
            <p:cNvSpPr/>
            <p:nvPr/>
          </p:nvSpPr>
          <p:spPr>
            <a:xfrm>
              <a:off x="122400" y="743400"/>
              <a:ext cx="36000" cy="970920"/>
            </a:xfrm>
            <a:prstGeom prst="rect">
              <a:avLst/>
            </a:prstGeom>
            <a:solidFill>
              <a:srgbClr val="00b4c5"/>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20" name="Text 21"/>
            <p:cNvSpPr/>
            <p:nvPr/>
          </p:nvSpPr>
          <p:spPr>
            <a:xfrm>
              <a:off x="210240" y="77040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nova"/>
                  <a:ea typeface="DejaVu Sans"/>
                </a:rPr>
                <a:t>Które elementy najlepiej opisują różnicę </a:t>
              </a:r>
              <a:br>
                <a:rPr sz="850"/>
              </a:br>
              <a:r>
                <a:rPr lang="pl-PL" sz="850" b="1" u="none" strike="noStrike">
                  <a:solidFill>
                    <a:srgbClr val="000000"/>
                  </a:solidFill>
                  <a:effectLst/>
                  <a:uFillTx/>
                  <a:latin typeface="Arial nova"/>
                  <a:ea typeface="DejaVu Sans"/>
                </a:rPr>
                <a:t>pomiędzy UI, a UX?</a:t>
              </a:r>
              <a:endParaRPr lang="pl-PL" sz="850" b="0" u="none" strike="noStrike">
                <a:solidFill>
                  <a:srgbClr val="ffffff"/>
                </a:solidFill>
                <a:effectLst/>
                <a:uFillTx/>
                <a:latin typeface="Arial"/>
              </a:endParaRPr>
            </a:p>
          </p:txBody>
        </p:sp>
        <p:sp>
          <p:nvSpPr>
            <p:cNvPr id="3621" name="Text 22"/>
            <p:cNvSpPr/>
            <p:nvPr/>
          </p:nvSpPr>
          <p:spPr>
            <a:xfrm>
              <a:off x="277560" y="110520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UI obejmuje wyłącznie logikę biznesową aplikacji</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UX dotyczy tylko warstwy wizualnej interfejsu</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UI to warstwa wizualna i interaktywna</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UX to całościowe doświadczenie użytkownika</a:t>
              </a:r>
              <a:endParaRPr lang="pl-PL" sz="800" b="0" u="none" strike="noStrike">
                <a:solidFill>
                  <a:srgbClr val="ffffff"/>
                </a:solidFill>
                <a:effectLst/>
                <a:uFillTx/>
                <a:latin typeface="Arial"/>
              </a:endParaRPr>
            </a:p>
          </p:txBody>
        </p:sp>
        <p:sp>
          <p:nvSpPr>
            <p:cNvPr id="3622" name="Shape 19"/>
            <p:cNvSpPr/>
            <p:nvPr/>
          </p:nvSpPr>
          <p:spPr>
            <a:xfrm>
              <a:off x="122400" y="176040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23" name="Shape 20"/>
            <p:cNvSpPr/>
            <p:nvPr/>
          </p:nvSpPr>
          <p:spPr>
            <a:xfrm>
              <a:off x="122400" y="1767960"/>
              <a:ext cx="36000" cy="970920"/>
            </a:xfrm>
            <a:prstGeom prst="rect">
              <a:avLst/>
            </a:prstGeom>
            <a:solidFill>
              <a:srgbClr val="ed7d31"/>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24" name="Text 21"/>
            <p:cNvSpPr/>
            <p:nvPr/>
          </p:nvSpPr>
          <p:spPr>
            <a:xfrm>
              <a:off x="210240" y="181116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nova"/>
                  <a:ea typeface="DejaVu Sans"/>
                </a:rPr>
                <a:t>Które cechy są kluczowe </a:t>
              </a:r>
              <a:br>
                <a:rPr sz="850"/>
              </a:br>
              <a:r>
                <a:rPr lang="pl-PL" sz="850" b="1" u="none" strike="noStrike">
                  <a:solidFill>
                    <a:srgbClr val="000000"/>
                  </a:solidFill>
                  <a:effectLst/>
                  <a:uFillTx/>
                  <a:latin typeface="Arial nova"/>
                  <a:ea typeface="DejaVu Sans"/>
                </a:rPr>
                <a:t>dla projektowania mobilnego?</a:t>
              </a:r>
              <a:endParaRPr lang="pl-PL" sz="850" b="0" u="none" strike="noStrike">
                <a:solidFill>
                  <a:srgbClr val="ffffff"/>
                </a:solidFill>
                <a:effectLst/>
                <a:uFillTx/>
                <a:latin typeface="Arial"/>
              </a:endParaRPr>
            </a:p>
          </p:txBody>
        </p:sp>
        <p:sp>
          <p:nvSpPr>
            <p:cNvPr id="3625" name="Text 22"/>
            <p:cNvSpPr/>
            <p:nvPr/>
          </p:nvSpPr>
          <p:spPr>
            <a:xfrm>
              <a:off x="277560" y="211644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duża przestrzeń robocza ekranu</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precyzja kursora myszy</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pl-PL" sz="800" b="0" u="none" spc="-31" strike="noStrike">
                  <a:solidFill>
                    <a:srgbClr val="000000"/>
                  </a:solidFill>
                  <a:effectLst/>
                  <a:uFillTx/>
                  <a:latin typeface="Calibri"/>
                  <a:ea typeface="Calibri"/>
                </a:rPr>
                <a:t>ograniczona przestrzeń i konieczność priorytetyzacji treści</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pl-PL" sz="800" b="0" u="none" spc="-31" strike="noStrike">
                  <a:solidFill>
                    <a:srgbClr val="000000"/>
                  </a:solidFill>
                  <a:effectLst/>
                  <a:uFillTx/>
                  <a:latin typeface="Calibri"/>
                  <a:ea typeface="Calibri"/>
                </a:rPr>
                <a:t>interakcje dotykowe i strefa kciuka</a:t>
              </a:r>
              <a:endParaRPr lang="pl-PL" sz="800" b="0" u="none" strike="noStrike">
                <a:solidFill>
                  <a:srgbClr val="ffffff"/>
                </a:solidFill>
                <a:effectLst/>
                <a:uFillTx/>
                <a:latin typeface="Arial"/>
              </a:endParaRPr>
            </a:p>
          </p:txBody>
        </p:sp>
        <p:sp>
          <p:nvSpPr>
            <p:cNvPr id="3626" name="Shape 19"/>
            <p:cNvSpPr/>
            <p:nvPr/>
          </p:nvSpPr>
          <p:spPr>
            <a:xfrm>
              <a:off x="122400" y="279540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27" name="Shape 20"/>
            <p:cNvSpPr/>
            <p:nvPr/>
          </p:nvSpPr>
          <p:spPr>
            <a:xfrm>
              <a:off x="122400" y="2795400"/>
              <a:ext cx="36000" cy="970920"/>
            </a:xfrm>
            <a:prstGeom prst="rect">
              <a:avLst/>
            </a:prstGeom>
            <a:solidFill>
              <a:srgbClr val="548235"/>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28" name="Text 21"/>
            <p:cNvSpPr/>
            <p:nvPr/>
          </p:nvSpPr>
          <p:spPr>
            <a:xfrm>
              <a:off x="210240" y="283608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Nova"/>
                  <a:ea typeface="DejaVu Sans"/>
                </a:rPr>
                <a:t>Które interfejsy zaliczamy </a:t>
              </a:r>
              <a:br>
                <a:rPr sz="850"/>
              </a:br>
              <a:r>
                <a:rPr lang="pl-PL" sz="850" b="1" u="none" strike="noStrike">
                  <a:solidFill>
                    <a:srgbClr val="000000"/>
                  </a:solidFill>
                  <a:effectLst/>
                  <a:uFillTx/>
                  <a:latin typeface="Arial Nova"/>
                  <a:ea typeface="DejaVu Sans"/>
                </a:rPr>
                <a:t>do naturalnych form interakcji?</a:t>
              </a:r>
              <a:endParaRPr lang="pl-PL" sz="850" b="0" u="none" strike="noStrike">
                <a:solidFill>
                  <a:srgbClr val="ffffff"/>
                </a:solidFill>
                <a:effectLst/>
                <a:uFillTx/>
                <a:latin typeface="Arial"/>
              </a:endParaRPr>
            </a:p>
          </p:txBody>
        </p:sp>
        <p:sp>
          <p:nvSpPr>
            <p:cNvPr id="3629" name="Text 22"/>
            <p:cNvSpPr/>
            <p:nvPr/>
          </p:nvSpPr>
          <p:spPr>
            <a:xfrm>
              <a:off x="277560" y="312120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CLI</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CUI</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NUI</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TUI</a:t>
              </a:r>
              <a:endParaRPr lang="pl-PL" sz="800" b="0" u="none" strike="noStrike">
                <a:solidFill>
                  <a:srgbClr val="ffffff"/>
                </a:solidFill>
                <a:effectLst/>
                <a:uFillTx/>
                <a:latin typeface="Arial"/>
              </a:endParaRPr>
            </a:p>
          </p:txBody>
        </p:sp>
        <p:sp>
          <p:nvSpPr>
            <p:cNvPr id="3630" name="Shape 19"/>
            <p:cNvSpPr/>
            <p:nvPr/>
          </p:nvSpPr>
          <p:spPr>
            <a:xfrm>
              <a:off x="122400" y="382716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31" name="Shape 20"/>
            <p:cNvSpPr/>
            <p:nvPr/>
          </p:nvSpPr>
          <p:spPr>
            <a:xfrm>
              <a:off x="122400" y="3827160"/>
              <a:ext cx="36000" cy="970920"/>
            </a:xfrm>
            <a:prstGeom prst="rect">
              <a:avLst/>
            </a:prstGeom>
            <a:solidFill>
              <a:srgbClr val="7030a0"/>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32" name="Text 21"/>
            <p:cNvSpPr/>
            <p:nvPr/>
          </p:nvSpPr>
          <p:spPr>
            <a:xfrm>
              <a:off x="210240" y="386784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182030"/>
                  </a:solidFill>
                  <a:effectLst/>
                  <a:uFillTx/>
                  <a:latin typeface="Arial Nova"/>
                  <a:ea typeface="Calibri"/>
                </a:rPr>
                <a:t>Które zasady wynikają z prawa Hicka?</a:t>
              </a:r>
              <a:endParaRPr lang="pl-PL" sz="850" b="0" u="none" strike="noStrike">
                <a:solidFill>
                  <a:srgbClr val="ffffff"/>
                </a:solidFill>
                <a:effectLst/>
                <a:uFillTx/>
                <a:latin typeface="Arial"/>
              </a:endParaRPr>
            </a:p>
          </p:txBody>
        </p:sp>
        <p:sp>
          <p:nvSpPr>
            <p:cNvPr id="3633" name="Text 22"/>
            <p:cNvSpPr/>
            <p:nvPr/>
          </p:nvSpPr>
          <p:spPr>
            <a:xfrm>
              <a:off x="277560" y="415296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zwiększanie liczby opcji przyspiesza decyzję</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użytkownik preferuje maksymalną liczbę wyborów</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czas decyzji rośnie wraz z liczbą opcji</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ograniczanie wyborów poprawia UX</a:t>
              </a:r>
              <a:endParaRPr lang="pl-PL" sz="800" b="0" u="none" strike="noStrike">
                <a:solidFill>
                  <a:srgbClr val="ffffff"/>
                </a:solidFill>
                <a:effectLst/>
                <a:uFillTx/>
                <a:latin typeface="Arial"/>
              </a:endParaRPr>
            </a:p>
          </p:txBody>
        </p:sp>
        <p:sp>
          <p:nvSpPr>
            <p:cNvPr id="3634" name="Shape 19"/>
            <p:cNvSpPr/>
            <p:nvPr/>
          </p:nvSpPr>
          <p:spPr>
            <a:xfrm>
              <a:off x="3098160" y="74160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35" name="Shape 20"/>
            <p:cNvSpPr/>
            <p:nvPr/>
          </p:nvSpPr>
          <p:spPr>
            <a:xfrm>
              <a:off x="3102120" y="741600"/>
              <a:ext cx="36000" cy="970920"/>
            </a:xfrm>
            <a:prstGeom prst="rect">
              <a:avLst/>
            </a:prstGeom>
            <a:solidFill>
              <a:srgbClr val="f4b183"/>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36" name="Text 21"/>
            <p:cNvSpPr/>
            <p:nvPr/>
          </p:nvSpPr>
          <p:spPr>
            <a:xfrm>
              <a:off x="3189960" y="76896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a:ea typeface="DejaVu Sans"/>
                </a:rPr>
                <a:t>Które implikacje wynikają z prawa Fittsa?</a:t>
              </a:r>
              <a:endParaRPr lang="pl-PL" sz="850" b="0" u="none" strike="noStrike">
                <a:solidFill>
                  <a:srgbClr val="ffffff"/>
                </a:solidFill>
                <a:effectLst/>
                <a:uFillTx/>
                <a:latin typeface="Arial"/>
              </a:endParaRPr>
            </a:p>
          </p:txBody>
        </p:sp>
        <p:sp>
          <p:nvSpPr>
            <p:cNvPr id="3637" name="Text 22"/>
            <p:cNvSpPr/>
            <p:nvPr/>
          </p:nvSpPr>
          <p:spPr>
            <a:xfrm>
              <a:off x="3257280" y="106740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dokładność interakcji jest niezależna od wielkości celu</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powinno się minimalizować różnice w rozmiarach elementów</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większe elementy są łatwiejsze do trafienia</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elementy powinny być blisko naturalnej pozycji palca</a:t>
              </a:r>
              <a:endParaRPr lang="pl-PL" sz="800" b="0" u="none" strike="noStrike">
                <a:solidFill>
                  <a:srgbClr val="ffffff"/>
                </a:solidFill>
                <a:effectLst/>
                <a:uFillTx/>
                <a:latin typeface="Arial"/>
              </a:endParaRPr>
            </a:p>
          </p:txBody>
        </p:sp>
        <p:sp>
          <p:nvSpPr>
            <p:cNvPr id="3638" name="Shape 19"/>
            <p:cNvSpPr/>
            <p:nvPr/>
          </p:nvSpPr>
          <p:spPr>
            <a:xfrm>
              <a:off x="3102120" y="175860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39" name="Shape 20"/>
            <p:cNvSpPr/>
            <p:nvPr/>
          </p:nvSpPr>
          <p:spPr>
            <a:xfrm>
              <a:off x="3102120" y="1758600"/>
              <a:ext cx="36000" cy="970920"/>
            </a:xfrm>
            <a:prstGeom prst="rect">
              <a:avLst/>
            </a:prstGeom>
            <a:solidFill>
              <a:srgbClr val="2e75b6"/>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40" name="Text 21"/>
            <p:cNvSpPr/>
            <p:nvPr/>
          </p:nvSpPr>
          <p:spPr>
            <a:xfrm>
              <a:off x="3189960" y="180972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a:ea typeface="DejaVu Sans"/>
                </a:rPr>
                <a:t>Które zasady są zgodne z podejściem Mobile First?</a:t>
              </a:r>
              <a:endParaRPr lang="pl-PL" sz="850" b="0" u="none" strike="noStrike">
                <a:solidFill>
                  <a:srgbClr val="ffffff"/>
                </a:solidFill>
                <a:effectLst/>
                <a:uFillTx/>
                <a:latin typeface="Arial"/>
              </a:endParaRPr>
            </a:p>
          </p:txBody>
        </p:sp>
        <p:sp>
          <p:nvSpPr>
            <p:cNvPr id="3641" name="Text 22"/>
            <p:cNvSpPr/>
            <p:nvPr/>
          </p:nvSpPr>
          <p:spPr>
            <a:xfrm>
              <a:off x="3257280" y="207864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projektowanie pełnej funkcjonalności przed optymalizacją</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traktowanie mobilnej jako uproszczonej wersji desktopowej</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priorytetyzacja treści i funkcji kluczowych</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progressive enhancement</a:t>
              </a:r>
              <a:endParaRPr lang="pl-PL" sz="800" b="0" u="none" strike="noStrike">
                <a:solidFill>
                  <a:srgbClr val="ffffff"/>
                </a:solidFill>
                <a:effectLst/>
                <a:uFillTx/>
                <a:latin typeface="Arial"/>
              </a:endParaRPr>
            </a:p>
          </p:txBody>
        </p:sp>
        <p:sp>
          <p:nvSpPr>
            <p:cNvPr id="3642" name="Shape 19"/>
            <p:cNvSpPr/>
            <p:nvPr/>
          </p:nvSpPr>
          <p:spPr>
            <a:xfrm>
              <a:off x="3102120" y="279396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43" name="Shape 20"/>
            <p:cNvSpPr/>
            <p:nvPr/>
          </p:nvSpPr>
          <p:spPr>
            <a:xfrm>
              <a:off x="3102120" y="2793960"/>
              <a:ext cx="36000" cy="970920"/>
            </a:xfrm>
            <a:prstGeom prst="rect">
              <a:avLst/>
            </a:prstGeom>
            <a:solidFill>
              <a:srgbClr val="ffd966"/>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44" name="Text 21"/>
            <p:cNvSpPr/>
            <p:nvPr/>
          </p:nvSpPr>
          <p:spPr>
            <a:xfrm>
              <a:off x="3189960" y="283428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a:ea typeface="DejaVu Sans"/>
                </a:rPr>
                <a:t>Które elementy należą do projektowania emocjonalnego?</a:t>
              </a:r>
              <a:endParaRPr lang="pl-PL" sz="850" b="0" u="none" strike="noStrike">
                <a:solidFill>
                  <a:srgbClr val="ffffff"/>
                </a:solidFill>
                <a:effectLst/>
                <a:uFillTx/>
                <a:latin typeface="Arial"/>
              </a:endParaRPr>
            </a:p>
          </p:txBody>
        </p:sp>
        <p:sp>
          <p:nvSpPr>
            <p:cNvPr id="3645" name="Text 22"/>
            <p:cNvSpPr/>
            <p:nvPr/>
          </p:nvSpPr>
          <p:spPr>
            <a:xfrm>
              <a:off x="3257280" y="311940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optymalizacja algorytmów przetwarzania danych</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minimalizacja liczby animacji do zera</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poziom visceral związany z pierwszym wrażeniem</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poziom behavioral związany z użytecznością</a:t>
              </a:r>
              <a:endParaRPr lang="pl-PL" sz="800" b="0" u="none" strike="noStrike">
                <a:solidFill>
                  <a:srgbClr val="ffffff"/>
                </a:solidFill>
                <a:effectLst/>
                <a:uFillTx/>
                <a:latin typeface="Arial"/>
              </a:endParaRPr>
            </a:p>
          </p:txBody>
        </p:sp>
        <p:sp>
          <p:nvSpPr>
            <p:cNvPr id="3646" name="Shape 19"/>
            <p:cNvSpPr/>
            <p:nvPr/>
          </p:nvSpPr>
          <p:spPr>
            <a:xfrm>
              <a:off x="3102120" y="383328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47" name="Shape 20"/>
            <p:cNvSpPr/>
            <p:nvPr/>
          </p:nvSpPr>
          <p:spPr>
            <a:xfrm>
              <a:off x="3102120" y="3833280"/>
              <a:ext cx="36000" cy="970920"/>
            </a:xfrm>
            <a:prstGeom prst="rect">
              <a:avLst/>
            </a:prstGeom>
            <a:solidFill>
              <a:srgbClr val="333f50"/>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48" name="Text 21"/>
            <p:cNvSpPr/>
            <p:nvPr/>
          </p:nvSpPr>
          <p:spPr>
            <a:xfrm>
              <a:off x="3189960" y="385272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a:ea typeface="DejaVu Sans"/>
                </a:rPr>
                <a:t>Które elementy są istotne w standardach WCAG?</a:t>
              </a:r>
              <a:endParaRPr lang="pl-PL" sz="850" b="0" u="none" strike="noStrike">
                <a:solidFill>
                  <a:srgbClr val="ffffff"/>
                </a:solidFill>
                <a:effectLst/>
                <a:uFillTx/>
                <a:latin typeface="Arial"/>
              </a:endParaRPr>
            </a:p>
          </p:txBody>
        </p:sp>
        <p:sp>
          <p:nvSpPr>
            <p:cNvPr id="3649" name="Text 22"/>
            <p:cNvSpPr/>
            <p:nvPr/>
          </p:nvSpPr>
          <p:spPr>
            <a:xfrm>
              <a:off x="3257280" y="415116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estetyka interfejsu</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pl-PL" sz="800" b="0" u="none" spc="-31" strike="noStrike">
                  <a:solidFill>
                    <a:srgbClr val="3b5168"/>
                  </a:solidFill>
                  <a:effectLst/>
                  <a:uFillTx/>
                  <a:latin typeface="Calibri"/>
                  <a:ea typeface="Calibri"/>
                </a:rPr>
                <a:t>dowolny kontrast kolorów</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pl-PL" sz="800" b="0" u="none" spc="-31" strike="noStrike">
                  <a:solidFill>
                    <a:srgbClr val="000000"/>
                  </a:solidFill>
                  <a:effectLst/>
                  <a:uFillTx/>
                  <a:latin typeface="Calibri"/>
                  <a:ea typeface="Calibri"/>
                </a:rPr>
                <a:t>odpowiedni kontrast tekstu</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pl-PL" sz="800" b="0" u="none" spc="-31" strike="noStrike">
                  <a:solidFill>
                    <a:srgbClr val="000000"/>
                  </a:solidFill>
                  <a:effectLst/>
                  <a:uFillTx/>
                  <a:latin typeface="Calibri"/>
                  <a:ea typeface="Calibri"/>
                </a:rPr>
                <a:t>dostępność dla technologii wspomagających</a:t>
              </a:r>
              <a:endParaRPr lang="pl-PL" sz="800" b="0" u="none" strike="noStrike">
                <a:solidFill>
                  <a:srgbClr val="ffffff"/>
                </a:solidFill>
                <a:effectLst/>
                <a:uFillTx/>
                <a:latin typeface="Arial"/>
              </a:endParaRPr>
            </a:p>
          </p:txBody>
        </p:sp>
        <p:sp>
          <p:nvSpPr>
            <p:cNvPr id="3650" name="Shape 19"/>
            <p:cNvSpPr/>
            <p:nvPr/>
          </p:nvSpPr>
          <p:spPr>
            <a:xfrm>
              <a:off x="6089040" y="75456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51" name="Shape 20"/>
            <p:cNvSpPr/>
            <p:nvPr/>
          </p:nvSpPr>
          <p:spPr>
            <a:xfrm>
              <a:off x="6089040" y="754560"/>
              <a:ext cx="36000" cy="970920"/>
            </a:xfrm>
            <a:prstGeom prst="rect">
              <a:avLst/>
            </a:prstGeom>
            <a:solidFill>
              <a:srgbClr val="c5e0b4"/>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52" name="Text 21"/>
            <p:cNvSpPr/>
            <p:nvPr/>
          </p:nvSpPr>
          <p:spPr>
            <a:xfrm>
              <a:off x="6176880" y="78156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182030"/>
                  </a:solidFill>
                  <a:effectLst/>
                  <a:uFillTx/>
                  <a:latin typeface="Georgia Pro Cond"/>
                  <a:ea typeface="Calibri"/>
                </a:rPr>
                <a:t>Które zasady dotyczą poprawnego </a:t>
              </a:r>
              <a:br>
                <a:rPr sz="850"/>
              </a:br>
              <a:r>
                <a:rPr lang="pl-PL" sz="850" b="1" u="none" strike="noStrike">
                  <a:solidFill>
                    <a:srgbClr val="182030"/>
                  </a:solidFill>
                  <a:effectLst/>
                  <a:uFillTx/>
                  <a:latin typeface="Georgia Pro Cond"/>
                  <a:ea typeface="Calibri"/>
                </a:rPr>
                <a:t>użycia kolorów w UI?</a:t>
              </a:r>
              <a:endParaRPr lang="pl-PL" sz="850" b="0" u="none" strike="noStrike">
                <a:solidFill>
                  <a:srgbClr val="ffffff"/>
                </a:solidFill>
                <a:effectLst/>
                <a:uFillTx/>
                <a:latin typeface="Arial"/>
              </a:endParaRPr>
            </a:p>
          </p:txBody>
        </p:sp>
        <p:sp>
          <p:nvSpPr>
            <p:cNvPr id="3653" name="Text 22"/>
            <p:cNvSpPr/>
            <p:nvPr/>
          </p:nvSpPr>
          <p:spPr>
            <a:xfrm>
              <a:off x="6244200" y="108036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stosowanie dużej ilości kolorów</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brak potrzeby testowania w różnych warunkach oświetlenia</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użycie kontrastu do kierowania uwagą użytkownika</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uwzględnienie dostępności (np. daltonizm)</a:t>
              </a:r>
              <a:endParaRPr lang="pl-PL" sz="800" b="0" u="none" strike="noStrike">
                <a:solidFill>
                  <a:srgbClr val="ffffff"/>
                </a:solidFill>
                <a:effectLst/>
                <a:uFillTx/>
                <a:latin typeface="Arial"/>
              </a:endParaRPr>
            </a:p>
          </p:txBody>
        </p:sp>
        <p:sp>
          <p:nvSpPr>
            <p:cNvPr id="3654" name="Shape 19"/>
            <p:cNvSpPr/>
            <p:nvPr/>
          </p:nvSpPr>
          <p:spPr>
            <a:xfrm>
              <a:off x="6089040" y="177156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55" name="Shape 20"/>
            <p:cNvSpPr/>
            <p:nvPr/>
          </p:nvSpPr>
          <p:spPr>
            <a:xfrm>
              <a:off x="6081120" y="1771560"/>
              <a:ext cx="36000" cy="970920"/>
            </a:xfrm>
            <a:prstGeom prst="rect">
              <a:avLst/>
            </a:prstGeom>
            <a:solidFill>
              <a:srgbClr val="7c7c7c"/>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56" name="Text 21"/>
            <p:cNvSpPr/>
            <p:nvPr/>
          </p:nvSpPr>
          <p:spPr>
            <a:xfrm>
              <a:off x="6176880" y="182268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182030"/>
                  </a:solidFill>
                  <a:effectLst/>
                  <a:uFillTx/>
                  <a:latin typeface="Arial Nova"/>
                  <a:ea typeface="Calibri"/>
                </a:rPr>
                <a:t>Które cechy są charakterystyczne </a:t>
              </a:r>
              <a:br>
                <a:rPr sz="850"/>
              </a:br>
              <a:r>
                <a:rPr lang="pl-PL" sz="850" b="1" u="none" strike="noStrike">
                  <a:solidFill>
                    <a:srgbClr val="182030"/>
                  </a:solidFill>
                  <a:effectLst/>
                  <a:uFillTx/>
                  <a:latin typeface="Arial Nova"/>
                  <a:ea typeface="Calibri"/>
                </a:rPr>
                <a:t>dla dobrej typografii mobilnej?</a:t>
              </a:r>
              <a:endParaRPr lang="pl-PL" sz="850" b="0" u="none" strike="noStrike">
                <a:solidFill>
                  <a:srgbClr val="ffffff"/>
                </a:solidFill>
                <a:effectLst/>
                <a:uFillTx/>
                <a:latin typeface="Arial"/>
              </a:endParaRPr>
            </a:p>
          </p:txBody>
        </p:sp>
        <p:sp>
          <p:nvSpPr>
            <p:cNvPr id="3657" name="Text 22"/>
            <p:cNvSpPr/>
            <p:nvPr/>
          </p:nvSpPr>
          <p:spPr>
            <a:xfrm>
              <a:off x="6244200" y="209160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maksymalne zagęszczenie tekstu na ekranie</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stosowanie wielu krojów pisma dla różnorodności</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czytelność wsparta odpowiednią interlinią</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hierarchia typograficzna wspierająca skanowanie treści</a:t>
              </a:r>
              <a:endParaRPr lang="pl-PL" sz="800" b="0" u="none" strike="noStrike">
                <a:solidFill>
                  <a:srgbClr val="ffffff"/>
                </a:solidFill>
                <a:effectLst/>
                <a:uFillTx/>
                <a:latin typeface="Arial"/>
              </a:endParaRPr>
            </a:p>
          </p:txBody>
        </p:sp>
        <p:sp>
          <p:nvSpPr>
            <p:cNvPr id="3658" name="Shape 19"/>
            <p:cNvSpPr/>
            <p:nvPr/>
          </p:nvSpPr>
          <p:spPr>
            <a:xfrm>
              <a:off x="6089040" y="280692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59" name="Shape 20"/>
            <p:cNvSpPr/>
            <p:nvPr/>
          </p:nvSpPr>
          <p:spPr>
            <a:xfrm>
              <a:off x="6089040" y="2806920"/>
              <a:ext cx="36000" cy="970920"/>
            </a:xfrm>
            <a:prstGeom prst="rect">
              <a:avLst/>
            </a:prstGeom>
            <a:solidFill>
              <a:srgbClr val="92d050"/>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60" name="Text 21"/>
            <p:cNvSpPr/>
            <p:nvPr/>
          </p:nvSpPr>
          <p:spPr>
            <a:xfrm>
              <a:off x="6176880" y="284724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000000"/>
                  </a:solidFill>
                  <a:effectLst/>
                  <a:uFillTx/>
                  <a:latin typeface="Arial"/>
                  <a:ea typeface="DejaVu Sans"/>
                </a:rPr>
                <a:t>Które zasady dotyczą projektowania haptyki?</a:t>
              </a:r>
              <a:endParaRPr lang="pl-PL" sz="850" b="0" u="none" strike="noStrike">
                <a:solidFill>
                  <a:srgbClr val="ffffff"/>
                </a:solidFill>
                <a:effectLst/>
                <a:uFillTx/>
                <a:latin typeface="Arial"/>
              </a:endParaRPr>
            </a:p>
          </p:txBody>
        </p:sp>
        <p:sp>
          <p:nvSpPr>
            <p:cNvPr id="3661" name="Text 22"/>
            <p:cNvSpPr/>
            <p:nvPr/>
          </p:nvSpPr>
          <p:spPr>
            <a:xfrm>
              <a:off x="6244200" y="313236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stosowanie haptyki jako podstawowego kanału komunikacji</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kontekstu użycia aplikacji nie ma znaczenia</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dostarczanie subtelnego feedbacku o stanie interfejsu</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ograniczenie użycia do kluczowych interakcji</a:t>
              </a:r>
              <a:endParaRPr lang="pl-PL" sz="800" b="0" u="none" strike="noStrike">
                <a:solidFill>
                  <a:srgbClr val="ffffff"/>
                </a:solidFill>
                <a:effectLst/>
                <a:uFillTx/>
                <a:latin typeface="Arial"/>
              </a:endParaRPr>
            </a:p>
          </p:txBody>
        </p:sp>
        <p:sp>
          <p:nvSpPr>
            <p:cNvPr id="3662" name="Shape 19"/>
            <p:cNvSpPr/>
            <p:nvPr/>
          </p:nvSpPr>
          <p:spPr>
            <a:xfrm>
              <a:off x="6089040" y="3838320"/>
              <a:ext cx="2909160" cy="970920"/>
            </a:xfrm>
            <a:prstGeom prst="rect">
              <a:avLst/>
            </a:prstGeom>
            <a:solidFill>
              <a:schemeClr val="lt1"/>
            </a:solidFill>
            <a:ln w="12600">
              <a:solidFill>
                <a:srgbClr val="cbd5e5"/>
              </a:solidFill>
              <a:round/>
            </a:ln>
            <a:effectLst>
              <a:outerShdw dir="8100000" dist="25455" rotWithShape="0">
                <a:srgbClr val="000000">
                  <a:alpha val="6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63" name="Shape 20"/>
            <p:cNvSpPr/>
            <p:nvPr/>
          </p:nvSpPr>
          <p:spPr>
            <a:xfrm>
              <a:off x="6089040" y="3838320"/>
              <a:ext cx="36000" cy="970920"/>
            </a:xfrm>
            <a:prstGeom prst="rect">
              <a:avLst/>
            </a:prstGeom>
            <a:solidFill>
              <a:srgbClr val="0070c0"/>
            </a:solidFill>
            <a:ln w="0">
              <a:noFill/>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Noto Sans CJK SC"/>
              </a:endParaRPr>
            </a:p>
          </p:txBody>
        </p:sp>
        <p:sp>
          <p:nvSpPr>
            <p:cNvPr id="3664" name="Text 21"/>
            <p:cNvSpPr/>
            <p:nvPr/>
          </p:nvSpPr>
          <p:spPr>
            <a:xfrm>
              <a:off x="6176880" y="3865680"/>
              <a:ext cx="2799720" cy="358920"/>
            </a:xfrm>
            <a:prstGeom prst="rect">
              <a:avLst/>
            </a:prstGeom>
            <a:noFill/>
            <a:ln w="0">
              <a:noFill/>
            </a:ln>
          </p:spPr>
          <p:style>
            <a:lnRef idx="0"/>
            <a:fillRef idx="0"/>
            <a:effectRef idx="0"/>
            <a:fontRef idx="minor"/>
          </p:style>
          <p:txBody>
            <a:bodyPr lIns="0" rIns="0" tIns="0" bIns="0" anchor="ctr">
              <a:noAutofit/>
            </a:bodyPr>
            <a:p>
              <a:pPr defTabSz="914400">
                <a:lnSpc>
                  <a:spcPts val="901"/>
                </a:lnSpc>
                <a:tabLst>
                  <a:tab algn="l" pos="0"/>
                </a:tabLst>
              </a:pPr>
              <a:r>
                <a:rPr lang="pl-PL" sz="850" b="1" u="none" strike="noStrike">
                  <a:solidFill>
                    <a:srgbClr val="182030"/>
                  </a:solidFill>
                  <a:effectLst/>
                  <a:uFillTx/>
                  <a:latin typeface="Arial Nova"/>
                  <a:ea typeface="Calibri"/>
                </a:rPr>
                <a:t>Które zasady w UI wynikają z Gestalt ?</a:t>
              </a:r>
              <a:endParaRPr lang="pl-PL" sz="850" b="0" u="none" strike="noStrike">
                <a:solidFill>
                  <a:srgbClr val="ffffff"/>
                </a:solidFill>
                <a:effectLst/>
                <a:uFillTx/>
                <a:latin typeface="Arial"/>
              </a:endParaRPr>
            </a:p>
          </p:txBody>
        </p:sp>
        <p:sp>
          <p:nvSpPr>
            <p:cNvPr id="3665" name="Text 22"/>
            <p:cNvSpPr/>
            <p:nvPr/>
          </p:nvSpPr>
          <p:spPr>
            <a:xfrm>
              <a:off x="6244200" y="4164120"/>
              <a:ext cx="2622240" cy="610920"/>
            </a:xfrm>
            <a:prstGeom prst="rect">
              <a:avLst/>
            </a:prstGeom>
            <a:noFill/>
            <a:ln w="0">
              <a:noFill/>
            </a:ln>
          </p:spPr>
          <p:style>
            <a:lnRef idx="0"/>
            <a:fillRef idx="0"/>
            <a:effectRef idx="0"/>
            <a:fontRef idx="minor"/>
          </p:style>
          <p:txBody>
            <a:bodyPr lIns="0" rIns="0" tIns="0" bIns="0" anchor="ctr">
              <a:noAutofit/>
            </a:bodyPr>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zwiększanie liczby elementów dla lepszej percepcji</a:t>
              </a:r>
              <a:endParaRPr lang="pl-PL" sz="800" b="0" u="none" strike="noStrike">
                <a:solidFill>
                  <a:srgbClr val="ffffff"/>
                </a:solidFill>
                <a:effectLst/>
                <a:uFillTx/>
                <a:latin typeface="Arial"/>
              </a:endParaRPr>
            </a:p>
            <a:p>
              <a:pPr marL="228600" indent="-228600" defTabSz="914400">
                <a:lnSpc>
                  <a:spcPct val="100000"/>
                </a:lnSpc>
                <a:buClr>
                  <a:srgbClr val="3b5168"/>
                </a:buClr>
                <a:buFont typeface="OpenSymbol"/>
                <a:buAutoNum type="alphaUcPeriod"/>
                <a:tabLst>
                  <a:tab algn="l" pos="0"/>
                </a:tabLst>
              </a:pPr>
              <a:r>
                <a:rPr lang="en-US" sz="800" b="0" u="none" spc="-31" strike="noStrike">
                  <a:solidFill>
                    <a:srgbClr val="3b5168"/>
                  </a:solidFill>
                  <a:effectLst/>
                  <a:uFillTx/>
                  <a:latin typeface="Calibri"/>
                  <a:ea typeface="Calibri"/>
                </a:rPr>
                <a:t>brak zależności między układem a interpretacją treści</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grupowanie elementów poprzez bliskość</a:t>
              </a:r>
              <a:endParaRPr lang="pl-PL" sz="800" b="0" u="none" strike="noStrike">
                <a:solidFill>
                  <a:srgbClr val="ffffff"/>
                </a:solidFill>
                <a:effectLst/>
                <a:uFillTx/>
                <a:latin typeface="Arial"/>
              </a:endParaRPr>
            </a:p>
            <a:p>
              <a:pPr marL="228600" indent="-228600" defTabSz="914400">
                <a:lnSpc>
                  <a:spcPct val="100000"/>
                </a:lnSpc>
                <a:buClr>
                  <a:srgbClr val="000000"/>
                </a:buClr>
                <a:buFont typeface="OpenSymbol"/>
                <a:buAutoNum type="alphaUcPeriod"/>
                <a:tabLst>
                  <a:tab algn="l" pos="0"/>
                </a:tabLst>
              </a:pPr>
              <a:r>
                <a:rPr lang="en-US" sz="800" b="0" u="none" spc="-31" strike="noStrike">
                  <a:solidFill>
                    <a:srgbClr val="000000"/>
                  </a:solidFill>
                  <a:effectLst/>
                  <a:uFillTx/>
                  <a:latin typeface="Calibri"/>
                  <a:ea typeface="Calibri"/>
                </a:rPr>
                <a:t>podobieństwo wizualne jako wskazówka relacji</a:t>
              </a:r>
              <a:endParaRPr lang="pl-PL" sz="800" b="0" u="none" strike="noStrike">
                <a:solidFill>
                  <a:srgbClr val="ffffff"/>
                </a:solidFill>
                <a:effectLst/>
                <a:uFillTx/>
                <a:latin typeface="Arial"/>
              </a:endParaRPr>
            </a:p>
          </p:txBody>
        </p:sp>
      </p:grpSp>
      <p:sp>
        <p:nvSpPr>
          <p:cNvPr id="3666" name="Text 28"/>
          <p:cNvSpPr/>
          <p:nvPr/>
        </p:nvSpPr>
        <p:spPr>
          <a:xfrm>
            <a:off x="8046720" y="4901040"/>
            <a:ext cx="821880" cy="218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8899aa"/>
                </a:solidFill>
                <a:effectLst/>
                <a:uFillTx/>
                <a:latin typeface="Calibri"/>
                <a:ea typeface="DejaVu Sans"/>
              </a:rPr>
              <a:t>45 / 46</a:t>
            </a:r>
            <a:endParaRPr lang="pl-PL"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134</TotalTime>
  <Application>LibreOffice/25.8.5.2$Linux_X86_64 LibreOffice_project/580$Build-2</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2026-03-14T14:42:52Z</dcterms:created>
  <dc:creator>Mateusz Pomianek</dc:creator>
  <dc:description/>
  <cp:keywords>mobile ux ui smartphone</cp:keywords>
  <dc:language>pl-PL</dc:language>
  <cp:lastModifiedBy>Mateusz Pomianek</cp:lastModifiedBy>
  <dcterms:modified xsi:type="dcterms:W3CDTF">2026-03-18T13:19:12Z</dcterms:modified>
  <cp:revision>201</cp:revision>
  <dc:subject>PptxGenJS Presentation</dc:subject>
  <dc:title>Projektowanie UI/UX dla Urządzeń Mobilnych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46</vt:r8>
  </property>
  <property fmtid="{D5CDD505-2E9C-101B-9397-08002B2CF9AE}" pid="3" name="PresentationFormat">
    <vt:lpwstr>Pokaz na ekranie (16:9)</vt:lpwstr>
  </property>
  <property fmtid="{D5CDD505-2E9C-101B-9397-08002B2CF9AE}" pid="4" name="Slides">
    <vt:r8>46</vt:r8>
  </property>
</Properties>
</file>