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8" autoAdjust="0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28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1109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4028" cy="5143500"/>
          </a:xfrm>
          <a:prstGeom prst="rect">
            <a:avLst/>
          </a:prstGeom>
          <a:solidFill>
            <a:srgbClr val="06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33934"/>
          </a:xfrm>
          <a:prstGeom prst="rect">
            <a:avLst/>
          </a:prstGeom>
          <a:solidFill>
            <a:srgbClr val="060F1A"/>
          </a:solidFill>
          <a:ln/>
        </p:spPr>
      </p:sp>
      <p:sp>
        <p:nvSpPr>
          <p:cNvPr id="4" name="Text 2"/>
          <p:cNvSpPr/>
          <p:nvPr/>
        </p:nvSpPr>
        <p:spPr>
          <a:xfrm>
            <a:off x="406908" y="553974"/>
            <a:ext cx="21902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 smtClean="0">
                <a:solidFill>
                  <a:srgbClr val="00BCD4"/>
                </a:solidFill>
              </a:rPr>
              <a:t>WYKŁAD </a:t>
            </a:r>
            <a:r>
              <a:rPr lang="pl-PL" sz="1200" b="1" kern="0" spc="500" dirty="0" smtClean="0">
                <a:solidFill>
                  <a:srgbClr val="00BCD4"/>
                </a:solidFill>
              </a:rPr>
              <a:t>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512521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 err="1" smtClean="0">
                <a:solidFill>
                  <a:srgbClr val="FFFFFF"/>
                </a:solidFill>
              </a:rPr>
              <a:t>Programowanie</a:t>
            </a:r>
            <a:endParaRPr lang="pl-PL" sz="4400" b="1" dirty="0" smtClean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pl-PL" sz="4400" b="1" dirty="0" smtClean="0">
                <a:solidFill>
                  <a:srgbClr val="FFFFFF"/>
                </a:solidFill>
              </a:rPr>
              <a:t>a</a:t>
            </a:r>
            <a:r>
              <a:rPr lang="en-US" sz="4400" b="1" dirty="0" err="1" smtClean="0">
                <a:solidFill>
                  <a:srgbClr val="FFFFFF"/>
                </a:solidFill>
              </a:rPr>
              <a:t>plikacji</a:t>
            </a:r>
            <a:r>
              <a:rPr lang="en-US" sz="4400" b="1" dirty="0" smtClean="0">
                <a:solidFill>
                  <a:srgbClr val="FFFFFF"/>
                </a:solidFill>
              </a:rPr>
              <a:t> </a:t>
            </a:r>
            <a:r>
              <a:rPr lang="en-US" sz="4400" b="1" dirty="0" err="1" smtClean="0">
                <a:solidFill>
                  <a:srgbClr val="FFFFFF"/>
                </a:solidFill>
              </a:rPr>
              <a:t>mobilnych</a:t>
            </a:r>
            <a:r>
              <a:rPr lang="pl-PL" sz="4400" b="1" dirty="0" smtClean="0">
                <a:solidFill>
                  <a:srgbClr val="FFFFFF"/>
                </a:solidFill>
              </a:rPr>
              <a:t> </a:t>
            </a:r>
            <a:r>
              <a:rPr lang="en-US" sz="4400" b="1" dirty="0" smtClean="0">
                <a:solidFill>
                  <a:srgbClr val="FFFFFF"/>
                </a:solidFill>
              </a:rPr>
              <a:t>XR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</a:rPr>
              <a:t>Przedmiot: Programowanie aplikacji mobilnych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2519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</a:rPr>
              <a:t>Studia: Informatyka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34228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</a:rPr>
              <a:t>XR · ARCore · ARKit · OpenXR · WebXR · Spatial Computing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0" y="777240"/>
            <a:ext cx="50292" cy="6400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0" name="Text 8"/>
          <p:cNvSpPr/>
          <p:nvPr/>
        </p:nvSpPr>
        <p:spPr>
          <a:xfrm>
            <a:off x="5806440" y="8046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Wprowadzenie do XR </a:t>
            </a:r>
            <a:r>
              <a:rPr lang="pl-PL" sz="1400" dirty="0" smtClean="0">
                <a:solidFill>
                  <a:srgbClr val="FFFFFF"/>
                </a:solidFill>
              </a:rPr>
              <a:t>-</a:t>
            </a:r>
            <a:r>
              <a:rPr lang="en-US" sz="1400" dirty="0" smtClean="0">
                <a:solidFill>
                  <a:srgbClr val="FFFFFF"/>
                </a:solidFill>
              </a:rPr>
              <a:t> </a:t>
            </a:r>
            <a:r>
              <a:rPr lang="en-US" sz="1400" dirty="0">
                <a:solidFill>
                  <a:srgbClr val="FFFFFF"/>
                </a:solidFill>
              </a:rPr>
              <a:t>AR, VR, MR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1581912"/>
            <a:ext cx="50292" cy="64008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2" name="Text 10"/>
          <p:cNvSpPr/>
          <p:nvPr/>
        </p:nvSpPr>
        <p:spPr>
          <a:xfrm>
            <a:off x="5806440" y="160934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Sprzęt XR </a:t>
            </a:r>
            <a:r>
              <a:rPr lang="pl-PL" sz="1400" dirty="0" smtClean="0">
                <a:solidFill>
                  <a:srgbClr val="FFFFFF"/>
                </a:solidFill>
              </a:rPr>
              <a:t>-</a:t>
            </a:r>
            <a:r>
              <a:rPr lang="en-US" sz="1400" dirty="0" smtClean="0">
                <a:solidFill>
                  <a:srgbClr val="FFFFFF"/>
                </a:solidFill>
              </a:rPr>
              <a:t> </a:t>
            </a:r>
            <a:r>
              <a:rPr lang="en-US" sz="1400" dirty="0">
                <a:solidFill>
                  <a:srgbClr val="FFFFFF"/>
                </a:solidFill>
              </a:rPr>
              <a:t>HMD, sensory, tracking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0" y="2386584"/>
            <a:ext cx="50292" cy="6400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5806440" y="241401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ARCore i </a:t>
            </a:r>
            <a:r>
              <a:rPr lang="en-US" sz="1400" dirty="0" err="1">
                <a:solidFill>
                  <a:srgbClr val="FFFFFF"/>
                </a:solidFill>
              </a:rPr>
              <a:t>ARKit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pl-PL" sz="1400" dirty="0" smtClean="0">
                <a:solidFill>
                  <a:srgbClr val="FFFFFF"/>
                </a:solidFill>
              </a:rPr>
              <a:t>-</a:t>
            </a:r>
            <a:r>
              <a:rPr lang="en-US" sz="1400" dirty="0" smtClean="0">
                <a:solidFill>
                  <a:srgbClr val="FFFFFF"/>
                </a:solidFill>
              </a:rPr>
              <a:t> </a:t>
            </a:r>
            <a:r>
              <a:rPr lang="en-US" sz="1400" dirty="0">
                <a:solidFill>
                  <a:srgbClr val="FFFFFF"/>
                </a:solidFill>
              </a:rPr>
              <a:t>platforma mobilna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0" y="3191256"/>
            <a:ext cx="50292" cy="64008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16" name="Text 14"/>
          <p:cNvSpPr/>
          <p:nvPr/>
        </p:nvSpPr>
        <p:spPr>
          <a:xfrm>
            <a:off x="5806440" y="32186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FFFFFF"/>
                </a:solidFill>
              </a:rPr>
              <a:t>OpenXR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pl-PL" sz="1400" dirty="0" smtClean="0">
                <a:solidFill>
                  <a:srgbClr val="FFFFFF"/>
                </a:solidFill>
              </a:rPr>
              <a:t>-</a:t>
            </a:r>
            <a:r>
              <a:rPr lang="en-US" sz="1400" dirty="0" smtClean="0">
                <a:solidFill>
                  <a:srgbClr val="FFFFFF"/>
                </a:solidFill>
              </a:rPr>
              <a:t> </a:t>
            </a:r>
            <a:r>
              <a:rPr lang="en-US" sz="1400" dirty="0">
                <a:solidFill>
                  <a:srgbClr val="FFFFFF"/>
                </a:solidFill>
              </a:rPr>
              <a:t>standard API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0" y="3995928"/>
            <a:ext cx="50292" cy="64008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8" name="Text 16"/>
          <p:cNvSpPr/>
          <p:nvPr/>
        </p:nvSpPr>
        <p:spPr>
          <a:xfrm>
            <a:off x="5806440" y="4023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WebXR i przyszłość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60F1A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© Katedra Informatyki i Automatyki - Programowanie Aplikacji Mobilnych XR - </a:t>
            </a:r>
            <a:r>
              <a:rPr lang="en-US" sz="750" dirty="0" smtClean="0">
                <a:solidFill>
                  <a:srgbClr val="7A9BBF"/>
                </a:solidFill>
              </a:rPr>
              <a:t>v1.</a:t>
            </a:r>
            <a:r>
              <a:rPr lang="pl-PL" sz="750" dirty="0" smtClean="0">
                <a:solidFill>
                  <a:srgbClr val="7A9BBF"/>
                </a:solidFill>
              </a:rPr>
              <a:t>32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432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Plan wykładu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4353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CD4"/>
                </a:solidFill>
              </a:rPr>
              <a:t>Programowanie Aplikacji Mobilnych XR  |  Informatyka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140" y="977900"/>
            <a:ext cx="64626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</a:rPr>
              <a:t>Sl. </a:t>
            </a:r>
            <a:r>
              <a:rPr lang="en-US" sz="1050" b="1" dirty="0" smtClean="0">
                <a:solidFill>
                  <a:srgbClr val="00BCD4"/>
                </a:solidFill>
              </a:rPr>
              <a:t>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29850" y="977900"/>
            <a:ext cx="4507399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Wprowadzenie do XR, historia i klasyfikacja: AR, VR, MR, 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2140" y="1211072"/>
            <a:ext cx="64626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</a:rPr>
              <a:t>Sl. </a:t>
            </a:r>
            <a:r>
              <a:rPr lang="en-US" sz="1050" b="1" dirty="0" smtClean="0">
                <a:solidFill>
                  <a:srgbClr val="00BCD4"/>
                </a:solidFill>
              </a:rPr>
              <a:t>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29850" y="1211072"/>
            <a:ext cx="4507399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Sprzęt XR — HMD, sensory, tracking, eye-tracking, hand tracking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2140" y="1444244"/>
            <a:ext cx="64626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</a:rPr>
              <a:t>Sl. </a:t>
            </a:r>
            <a:r>
              <a:rPr lang="en-US" sz="1050" b="1" dirty="0" smtClean="0">
                <a:solidFill>
                  <a:srgbClr val="00BCD4"/>
                </a:solidFill>
              </a:rPr>
              <a:t>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429850" y="1444244"/>
            <a:ext cx="4507399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ARCore (Android) — Plane detection, Anchors, Cloud Anchors, Depth API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2140" y="1677416"/>
            <a:ext cx="64626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</a:rPr>
              <a:t>Sl. </a:t>
            </a:r>
            <a:r>
              <a:rPr lang="en-US" sz="1050" b="1" dirty="0" smtClean="0">
                <a:solidFill>
                  <a:srgbClr val="00BCD4"/>
                </a:solidFill>
              </a:rPr>
              <a:t>8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429850" y="1677416"/>
            <a:ext cx="4507399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ARKit (iOS) — RealityKit, Reality Composer, LiDAR, People Occlusion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2140" y="1910588"/>
            <a:ext cx="64626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</a:rPr>
              <a:t>Sl. </a:t>
            </a:r>
            <a:r>
              <a:rPr lang="en-US" sz="1050" b="1" dirty="0" smtClean="0">
                <a:solidFill>
                  <a:srgbClr val="00BCD4"/>
                </a:solidFill>
              </a:rPr>
              <a:t>10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429850" y="1910588"/>
            <a:ext cx="4507399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OpenXR — standard API, warstwy, rozszerzenia, runtime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2140" y="2143760"/>
            <a:ext cx="64626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</a:rPr>
              <a:t>Sl. </a:t>
            </a:r>
            <a:r>
              <a:rPr lang="en-US" sz="1050" b="1" dirty="0" smtClean="0">
                <a:solidFill>
                  <a:srgbClr val="00BCD4"/>
                </a:solidFill>
              </a:rPr>
              <a:t>12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429850" y="2143760"/>
            <a:ext cx="4507399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Rendering XR — reprojection, foveated rendering, latencja, VSync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2140" y="2376932"/>
            <a:ext cx="64626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</a:rPr>
              <a:t>Sl. </a:t>
            </a:r>
            <a:r>
              <a:rPr lang="en-US" sz="1050" b="1" dirty="0" smtClean="0">
                <a:solidFill>
                  <a:srgbClr val="00BCD4"/>
                </a:solidFill>
              </a:rPr>
              <a:t>14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429850" y="2376932"/>
            <a:ext cx="4507399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Tracking i SLAM — Visual-Inertial Odometry, feature detection, ORB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2140" y="2610104"/>
            <a:ext cx="64626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</a:rPr>
              <a:t>Sl. </a:t>
            </a:r>
            <a:r>
              <a:rPr lang="en-US" sz="1050" b="1" dirty="0" smtClean="0">
                <a:solidFill>
                  <a:srgbClr val="00BCD4"/>
                </a:solidFill>
              </a:rPr>
              <a:t>16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429850" y="2610104"/>
            <a:ext cx="4507399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Wejście XR — kontrolery, hand tracking, eye gaze, voice input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2140" y="2838450"/>
            <a:ext cx="64626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</a:rPr>
              <a:t>Sl. </a:t>
            </a:r>
            <a:r>
              <a:rPr lang="en-US" sz="1050" b="1" dirty="0" smtClean="0">
                <a:solidFill>
                  <a:srgbClr val="00BCD4"/>
                </a:solidFill>
              </a:rPr>
              <a:t>18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415880" y="2838450"/>
            <a:ext cx="4521369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WebXR — przeglądarki, tryby inline/immersive, device API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2140" y="3071622"/>
            <a:ext cx="64626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</a:rPr>
              <a:t>Sl. </a:t>
            </a:r>
            <a:r>
              <a:rPr lang="en-US" sz="1050" b="1" dirty="0" smtClean="0">
                <a:solidFill>
                  <a:srgbClr val="00BCD4"/>
                </a:solidFill>
              </a:rPr>
              <a:t>20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415880" y="3071622"/>
            <a:ext cx="4521369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Zastosowania — medycyna, edukacja, przemysł, rozrywka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2140" y="3304794"/>
            <a:ext cx="64626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</a:rPr>
              <a:t>Sl. </a:t>
            </a:r>
            <a:r>
              <a:rPr lang="en-US" sz="1050" b="1" dirty="0" smtClean="0">
                <a:solidFill>
                  <a:srgbClr val="00BCD4"/>
                </a:solidFill>
              </a:rPr>
              <a:t>22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415880" y="3304794"/>
            <a:ext cx="4521369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Tworzenie aplikacji AR na Android z ARCore i Kotlin/Compose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2140" y="3537966"/>
            <a:ext cx="64626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</a:rPr>
              <a:t>Sl. </a:t>
            </a:r>
            <a:r>
              <a:rPr lang="en-US" sz="1050" b="1" dirty="0" smtClean="0">
                <a:solidFill>
                  <a:srgbClr val="00BCD4"/>
                </a:solidFill>
              </a:rPr>
              <a:t>24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415880" y="3537966"/>
            <a:ext cx="4521369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Tworzenie aplikacji AR na iOS z ARKit i SwiftUI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2140" y="3771138"/>
            <a:ext cx="64626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</a:rPr>
              <a:t>Sl. </a:t>
            </a:r>
            <a:r>
              <a:rPr lang="en-US" sz="1050" b="1" dirty="0" smtClean="0">
                <a:solidFill>
                  <a:srgbClr val="00BCD4"/>
                </a:solidFill>
              </a:rPr>
              <a:t>26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415880" y="3771138"/>
            <a:ext cx="4521369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Optymalizacja i wydajność XR — bateria, termika, frame pacing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2140" y="4004310"/>
            <a:ext cx="64626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</a:rPr>
              <a:t>Sl. </a:t>
            </a:r>
            <a:r>
              <a:rPr lang="en-US" sz="1050" b="1" dirty="0" smtClean="0">
                <a:solidFill>
                  <a:srgbClr val="00BCD4"/>
                </a:solidFill>
              </a:rPr>
              <a:t>28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415880" y="4004310"/>
            <a:ext cx="4521369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Bezpieczeństwo i prywatność w XR — dane przestrzenne, GDPR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2140" y="4237482"/>
            <a:ext cx="64626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</a:rPr>
              <a:t>Sl. 30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415880" y="4237482"/>
            <a:ext cx="4521369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Trendy 2025 — Apple Vision Pro, Meta Quest 4, AI w XR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2/30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38328" y="481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Historia i klasyfikacja XR: od Sensorama do Apple Vision Pro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335024"/>
            <a:ext cx="594360" cy="25603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33502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1962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32688" y="13441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Sensorama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32688" y="15819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0C4D8"/>
                </a:solidFill>
              </a:rPr>
              <a:t>Pierwsze urządzenie immersyjne. Multisensoryczne: obraz 3D, dźwięk, wibr., zapach. Morton Heilig.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594360" cy="25603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1945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1968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32688" y="22037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Sword of Damocles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32688" y="24414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0C4D8"/>
                </a:solidFill>
              </a:rPr>
              <a:t>Ivan Sutherland. Pierwsze HMD z śledzeniem głowy. Wireframe. CRT na głowie.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74320" y="3054096"/>
            <a:ext cx="59436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05409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1994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32688" y="30632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CAVE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32688" y="330098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0C4D8"/>
                </a:solidFill>
              </a:rPr>
              <a:t>Cave Automatic Virtual Environment. Projekcja na ściany. Marka Skali CAD/MED.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274320" y="3913632"/>
            <a:ext cx="594360" cy="256032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9136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2013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32688" y="392277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Google Glass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32688" y="4160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0C4D8"/>
                </a:solidFill>
              </a:rPr>
              <a:t>AR na żądanie dla konsumentów. IMU + mikrokamera + display pryzmatyczny. Porażka rynkowa → przemysł.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709160" y="1335024"/>
            <a:ext cx="594360" cy="256032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133502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2016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67528" y="13441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Hololens 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67528" y="15819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0C4D8"/>
                </a:solidFill>
              </a:rPr>
              <a:t>Microsoft. Standalone MR HMD. HPU (Holographic Proc. Unit). 4 kamery + IMU + ToF. See-through hologram.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4709160" y="2194560"/>
            <a:ext cx="594360" cy="25603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21945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2019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67528" y="22037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Quest 1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367528" y="24414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0C4D8"/>
                </a:solidFill>
              </a:rPr>
              <a:t>Meta. 6DoF standalone VR. Snapdragon 835. Inside-out tracking. $399 — masowy rynek.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4709160" y="3054096"/>
            <a:ext cx="594360" cy="25603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305409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2023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367528" y="30632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Vision Pro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67528" y="330098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0C4D8"/>
                </a:solidFill>
              </a:rPr>
              <a:t>Apple. M2+R1 chip. 23M pikselowych mikrodisplayów per oko. EyeSight. $3499 developer kit.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4709160" y="3913632"/>
            <a:ext cx="59436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7" name="Text 35"/>
          <p:cNvSpPr/>
          <p:nvPr/>
        </p:nvSpPr>
        <p:spPr>
          <a:xfrm>
            <a:off x="4709160" y="39136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2025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67528" y="392277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AI-Powered XR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67528" y="4160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0C4D8"/>
                </a:solidFill>
              </a:rPr>
              <a:t>On-device AI 80 TOPS. Semantic scene understanding. Foundation models + spatial computing.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3/30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74320" y="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Sprzęt XR: HMD, Sensory i Tracking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4114800" cy="77724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98448"/>
            <a:ext cx="50292" cy="7772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3533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Tethered HMD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572768"/>
            <a:ext cx="3977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Podłączony do PC/konsoli. Nvidia 4090 → full RT. Valve Index, PlayStation VR2. Kabel DisplayPort/USB-C.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139696"/>
            <a:ext cx="4114800" cy="77724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39696"/>
            <a:ext cx="50292" cy="77724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1945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Standalone HMD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414016"/>
            <a:ext cx="3977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Własny SoC (Snapdragon XR2+). Meta Quest 3, Vision Pro M2. 6DoF inside-out tracking. Autonomia 2–4h.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980944"/>
            <a:ext cx="4114800" cy="77724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80944"/>
            <a:ext cx="50292" cy="7772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03580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Smartfon + holder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255264"/>
            <a:ext cx="3977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Google Cardboard / Gear VR. DOF: 3DoF (obrot). Brak tracking pozycji. Low cost. Edukacja.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822192"/>
            <a:ext cx="4114800" cy="77724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822192"/>
            <a:ext cx="50292" cy="77724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87705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 Glasses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096512"/>
            <a:ext cx="3977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See-through waveguide. Ostry kąt widzenia ~50°. HoloLens 2, Magic Leap 2. B2B focus.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63440" y="12984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Kluczowe sensory i tracking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1645920"/>
            <a:ext cx="4206240" cy="457200"/>
          </a:xfrm>
          <a:prstGeom prst="rect">
            <a:avLst/>
          </a:prstGeom>
          <a:solidFill>
            <a:srgbClr val="132840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1645920"/>
            <a:ext cx="50292" cy="4572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7" name="Text 25"/>
          <p:cNvSpPr/>
          <p:nvPr/>
        </p:nvSpPr>
        <p:spPr>
          <a:xfrm>
            <a:off x="4773168" y="168249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IMU (6-axis)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73168" y="188366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Akcelerometr + żyroskop. 1000Hz+ sampling. Rotacja głowy &lt; 1ms latencja.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2157984"/>
            <a:ext cx="4206240" cy="457200"/>
          </a:xfrm>
          <a:prstGeom prst="rect">
            <a:avLst/>
          </a:prstGeom>
          <a:solidFill>
            <a:srgbClr val="132840"/>
          </a:solidFill>
          <a:ln/>
        </p:spPr>
      </p:sp>
      <p:sp>
        <p:nvSpPr>
          <p:cNvPr id="30" name="Shape 28"/>
          <p:cNvSpPr/>
          <p:nvPr/>
        </p:nvSpPr>
        <p:spPr>
          <a:xfrm>
            <a:off x="4663440" y="2157984"/>
            <a:ext cx="50292" cy="4572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1" name="Text 29"/>
          <p:cNvSpPr/>
          <p:nvPr/>
        </p:nvSpPr>
        <p:spPr>
          <a:xfrm>
            <a:off x="4773168" y="219456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Camera-based tracking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73168" y="239572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SLAM + feature points. ORB-SLAM3. 60fps stereo.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2670048"/>
            <a:ext cx="4206240" cy="457200"/>
          </a:xfrm>
          <a:prstGeom prst="rect">
            <a:avLst/>
          </a:prstGeom>
          <a:solidFill>
            <a:srgbClr val="132840"/>
          </a:solidFill>
          <a:ln/>
        </p:spPr>
      </p:sp>
      <p:sp>
        <p:nvSpPr>
          <p:cNvPr id="34" name="Shape 32"/>
          <p:cNvSpPr/>
          <p:nvPr/>
        </p:nvSpPr>
        <p:spPr>
          <a:xfrm>
            <a:off x="4663440" y="2670048"/>
            <a:ext cx="5029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5" name="Text 33"/>
          <p:cNvSpPr/>
          <p:nvPr/>
        </p:nvSpPr>
        <p:spPr>
          <a:xfrm>
            <a:off x="4773168" y="270662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ToF / Structured light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73168" y="290779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Głębokość 3D: Apple LiDAR, Azure Kinect. &lt; 1% błąd na 3m.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663440" y="3182112"/>
            <a:ext cx="4206240" cy="457200"/>
          </a:xfrm>
          <a:prstGeom prst="rect">
            <a:avLst/>
          </a:prstGeom>
          <a:solidFill>
            <a:srgbClr val="132840"/>
          </a:solidFill>
          <a:ln/>
        </p:spPr>
      </p:sp>
      <p:sp>
        <p:nvSpPr>
          <p:cNvPr id="38" name="Shape 36"/>
          <p:cNvSpPr/>
          <p:nvPr/>
        </p:nvSpPr>
        <p:spPr>
          <a:xfrm>
            <a:off x="4663440" y="3182112"/>
            <a:ext cx="50292" cy="45720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39" name="Text 37"/>
          <p:cNvSpPr/>
          <p:nvPr/>
        </p:nvSpPr>
        <p:spPr>
          <a:xfrm>
            <a:off x="4773168" y="321868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Eye-tracking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73168" y="341985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PSVR2: IR LED + sensor 120Hz. Apple VP Iris. Foveated rendering.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63440" y="3694176"/>
            <a:ext cx="4206240" cy="457200"/>
          </a:xfrm>
          <a:prstGeom prst="rect">
            <a:avLst/>
          </a:prstGeom>
          <a:solidFill>
            <a:srgbClr val="132840"/>
          </a:solidFill>
          <a:ln/>
        </p:spPr>
      </p:sp>
      <p:sp>
        <p:nvSpPr>
          <p:cNvPr id="42" name="Shape 40"/>
          <p:cNvSpPr/>
          <p:nvPr/>
        </p:nvSpPr>
        <p:spPr>
          <a:xfrm>
            <a:off x="4663440" y="3694176"/>
            <a:ext cx="50292" cy="4572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43" name="Text 41"/>
          <p:cNvSpPr/>
          <p:nvPr/>
        </p:nvSpPr>
        <p:spPr>
          <a:xfrm>
            <a:off x="4773168" y="373075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Hand Tracking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73168" y="393192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MediaPipe Hands 21 punktów. HoloLens 2: artykuł. Quest 3 no-controller.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63440" y="4206240"/>
            <a:ext cx="4206240" cy="457200"/>
          </a:xfrm>
          <a:prstGeom prst="rect">
            <a:avLst/>
          </a:prstGeom>
          <a:solidFill>
            <a:srgbClr val="132840"/>
          </a:solidFill>
          <a:ln/>
        </p:spPr>
      </p:sp>
      <p:sp>
        <p:nvSpPr>
          <p:cNvPr id="46" name="Shape 44"/>
          <p:cNvSpPr/>
          <p:nvPr/>
        </p:nvSpPr>
        <p:spPr>
          <a:xfrm>
            <a:off x="4663440" y="4206240"/>
            <a:ext cx="50292" cy="4572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7" name="Text 45"/>
          <p:cNvSpPr/>
          <p:nvPr/>
        </p:nvSpPr>
        <p:spPr>
          <a:xfrm>
            <a:off x="4773168" y="424281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GPS + Compass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773168" y="444398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Outdoor AR (Niantic). Dokładność 3m. RTK: ±10cm. UWB: &lt; 10cm.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4/30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4612" y="-12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Degrees of Freedom (DoF) i Tracking Przestrzenny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4114800" cy="3566160"/>
          </a:xfrm>
          <a:prstGeom prst="rect">
            <a:avLst/>
          </a:prstGeom>
          <a:solidFill>
            <a:srgbClr val="132840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097280"/>
            <a:ext cx="50292" cy="35661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15214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 DoF — Obrotowe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1572768"/>
            <a:ext cx="109728" cy="109728"/>
          </a:xfrm>
          <a:prstGeom prst="line">
            <a:avLst/>
          </a:prstGeom>
          <a:solidFill>
            <a:srgbClr val="00BCD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55448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Pitch (pochylenie), Yaw (obrót), Roll (przechylenie)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2103120"/>
            <a:ext cx="109728" cy="109728"/>
          </a:xfrm>
          <a:prstGeom prst="line">
            <a:avLst/>
          </a:prstGeom>
          <a:solidFill>
            <a:srgbClr val="00BCD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08483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TYLKO rotacja głowy — brak translacji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2633472"/>
            <a:ext cx="109728" cy="109728"/>
          </a:xfrm>
          <a:prstGeom prst="line">
            <a:avLst/>
          </a:prstGeom>
          <a:solidFill>
            <a:srgbClr val="00BCD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1518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Urządzenia: Google Cardboard, Oculus Go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3163824"/>
            <a:ext cx="109728" cy="109728"/>
          </a:xfrm>
          <a:prstGeom prst="line">
            <a:avLst/>
          </a:prstGeom>
          <a:solidFill>
            <a:srgbClr val="00BCD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455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IMU tylko: tanie, niska latencja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3694176"/>
            <a:ext cx="109728" cy="109728"/>
          </a:xfrm>
          <a:prstGeom prst="line">
            <a:avLst/>
          </a:prstGeom>
          <a:solidFill>
            <a:srgbClr val="00BCD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67588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Problem: teleportacja zamiast chodzenia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1097280"/>
            <a:ext cx="4114800" cy="3566160"/>
          </a:xfrm>
          <a:prstGeom prst="rect">
            <a:avLst/>
          </a:prstGeom>
          <a:solidFill>
            <a:srgbClr val="132840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1097280"/>
            <a:ext cx="50292" cy="356616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22" name="Text 20"/>
          <p:cNvSpPr/>
          <p:nvPr/>
        </p:nvSpPr>
        <p:spPr>
          <a:xfrm>
            <a:off x="4818888" y="115214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 DoF — Pełne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18888" y="1572768"/>
            <a:ext cx="109728" cy="109728"/>
          </a:xfrm>
          <a:prstGeom prst="line">
            <a:avLst/>
          </a:prstGeom>
          <a:solidFill>
            <a:srgbClr val="E91E8C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155448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3DoF rotacja + X/Y/Z translacja (ruch w przestrzeni)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18888" y="2103120"/>
            <a:ext cx="109728" cy="109728"/>
          </a:xfrm>
          <a:prstGeom prst="line">
            <a:avLst/>
          </a:prstGeom>
          <a:solidFill>
            <a:srgbClr val="E91E8C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208483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Inside-out: kamery na HMD śledzą otoczenie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18888" y="2633472"/>
            <a:ext cx="109728" cy="109728"/>
          </a:xfrm>
          <a:prstGeom prst="line">
            <a:avLst/>
          </a:prstGeom>
          <a:solidFill>
            <a:srgbClr val="E91E8C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261518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Outside-in: bazy (Base Stations) śledzą HMD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18888" y="3163824"/>
            <a:ext cx="109728" cy="109728"/>
          </a:xfrm>
          <a:prstGeom prst="line">
            <a:avLst/>
          </a:prstGeom>
          <a:solidFill>
            <a:srgbClr val="E91E8C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31455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Urządzenia: Quest 3, Valve Index, HoloLens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18888" y="3694176"/>
            <a:ext cx="109728" cy="109728"/>
          </a:xfrm>
          <a:prstGeom prst="line">
            <a:avLst/>
          </a:prstGeom>
          <a:solidFill>
            <a:srgbClr val="E91E8C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367588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Wymaga SLAM lub lighthouse tracking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617720"/>
            <a:ext cx="8595360" cy="246888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46360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💡  Inside-out tracking = kamera na HMD kalkuluje pozycję względem środowiska (SLAM). Outside-in = stacje bazowe emitują sygnał, HMD odbiera. Room-scale wymagany dla 6DoF.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5/30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-137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ARCore (Android): Fundamenty platformy AR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261872"/>
            <a:ext cx="4937760" cy="361188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9" name="Text 7"/>
          <p:cNvSpPr/>
          <p:nvPr/>
        </p:nvSpPr>
        <p:spPr>
          <a:xfrm>
            <a:off x="4773168" y="12801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CD4"/>
                </a:solidFill>
              </a:rPr>
              <a:t>Kotlin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11480" y="137160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Konfiguracja sesji ARCore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154533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config = Config(session).apply {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11480" y="171907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planeFindingMode = Config.PlaneFindingMode.HORIZONTAL_AND_VERTICAL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11480" y="189280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depthMode = Config.DepthMode.AUTOMATIC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11480" y="2066544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lightEstimationMode = Config.LightEstimationMode.ENVIRONMENTAL_HDR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11480" y="224028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cloudAnchorMode = Config.CloudAnchorMode.ENABLED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11480" y="241401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258775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11480" y="276148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Tworzenie Anchor z HitResult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11480" y="2935224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frame.hitTest(motionEvent).firstOrNull()?.let { hit -&gt;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11480" y="3108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anchor = hit.createAnchor()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11480" y="32826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anchorNode = AnchorNode(engine, anchor)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11480" y="345643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modelNode = ModelNode(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11480" y="363016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modelInstance = modelLoader.createModelInstance(glbFile),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11480" y="3803904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scaleToUnits = 0.5f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11480" y="397764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11480" y="415137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anchorNode.addChildNode(modelNode)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11480" y="432511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arSceneView.scene.addChild(anchorNode)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11480" y="449884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349240" y="1261872"/>
            <a:ext cx="3520440" cy="6400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49240" y="1261872"/>
            <a:ext cx="50292" cy="6400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1" name="Text 29"/>
          <p:cNvSpPr/>
          <p:nvPr/>
        </p:nvSpPr>
        <p:spPr>
          <a:xfrm>
            <a:off x="5440680" y="131673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Motion Tracking (VIO)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40680" y="153619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Visual-Inertial Odometry: kamera + IMU. 60Hz pose estimation. Feature points ORB.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349240" y="1965960"/>
            <a:ext cx="3520440" cy="6400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49240" y="1965960"/>
            <a:ext cx="50292" cy="64008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5" name="Text 33"/>
          <p:cNvSpPr/>
          <p:nvPr/>
        </p:nvSpPr>
        <p:spPr>
          <a:xfrm>
            <a:off x="5440680" y="20208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Plane Detection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40680" y="224028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Horizontal i Vertical planes. Mesh triangulation. Environmental HDR lighting.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349240" y="2670048"/>
            <a:ext cx="3520440" cy="6400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349240" y="2670048"/>
            <a:ext cx="50292" cy="6400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9" name="Text 37"/>
          <p:cNvSpPr/>
          <p:nvPr/>
        </p:nvSpPr>
        <p:spPr>
          <a:xfrm>
            <a:off x="5440680" y="27249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Depth API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40680" y="294436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ARCore + ToF/stereo: depth map 180°. Okkluzja cyfrowych obiektów przez realne.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349240" y="3374136"/>
            <a:ext cx="3520440" cy="6400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349240" y="3374136"/>
            <a:ext cx="50292" cy="64008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43" name="Text 41"/>
          <p:cNvSpPr/>
          <p:nvPr/>
        </p:nvSpPr>
        <p:spPr>
          <a:xfrm>
            <a:off x="5440680" y="34290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Cloud Anchors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40680" y="364845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Kotwice zapisane w chmurze Google. Multiplayer AR. Persistent AR od nowa.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349240" y="4078224"/>
            <a:ext cx="3520440" cy="6400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349240" y="4078224"/>
            <a:ext cx="50292" cy="64008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47" name="Text 45"/>
          <p:cNvSpPr/>
          <p:nvPr/>
        </p:nvSpPr>
        <p:spPr>
          <a:xfrm>
            <a:off x="5440680" y="41330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Geospatial API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40680" y="435254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Google Street View + ARCore = AR outdoor z decymetrową dokładnością GPS+VPS.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6/30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4612" y="-12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ARCore: </a:t>
            </a:r>
            <a:r>
              <a:rPr lang="pl-PL" sz="2000" b="1" dirty="0" smtClean="0">
                <a:solidFill>
                  <a:srgbClr val="FFFFFF"/>
                </a:solidFill>
              </a:rPr>
              <a:t>s</a:t>
            </a:r>
            <a:r>
              <a:rPr lang="en-US" sz="2000" b="1" dirty="0" err="1" smtClean="0">
                <a:solidFill>
                  <a:srgbClr val="FFFFFF"/>
                </a:solidFill>
              </a:rPr>
              <a:t>emantyka</a:t>
            </a:r>
            <a:r>
              <a:rPr lang="en-US" sz="2000" b="1" dirty="0" smtClean="0">
                <a:solidFill>
                  <a:srgbClr val="FFFFFF"/>
                </a:solidFill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</a:rPr>
              <a:t>s</a:t>
            </a:r>
            <a:r>
              <a:rPr lang="en-US" sz="2000" b="1" dirty="0" err="1" smtClean="0">
                <a:solidFill>
                  <a:srgbClr val="FFFFFF"/>
                </a:solidFill>
              </a:rPr>
              <a:t>ceny</a:t>
            </a:r>
            <a:r>
              <a:rPr lang="en-US" sz="2000" b="1" dirty="0">
                <a:solidFill>
                  <a:srgbClr val="FFFFFF"/>
                </a:solidFill>
              </a:rPr>
              <a:t>, Lighting i RecordingDataset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114800" cy="10972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50292" cy="10972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435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Scene Semantics API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463040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ARCore 1.34+: segmentacja semantyczna przez ML. Klasy: niebo, podłoga, ściana, roślina, okno, stół, krzesło. 256×192 @ 30fps. Pozwala przykleić efekty do klasy sceny.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2377440"/>
            <a:ext cx="4114800" cy="10972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77440"/>
            <a:ext cx="50292" cy="109728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4323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Environmental HDR Lighting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51760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Kamera skierowana w tył → sferyczna mapa środowiska. Spherical Harmonics (SH) 9 współczynników + directional light. PBR shading realistyczny dzięki prawdziwemu HDR otoczenia.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3566160"/>
            <a:ext cx="4114800" cy="10972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566160"/>
            <a:ext cx="50292" cy="10972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62102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Recording i Playback (Dataset)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840480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ARCoreRecorder: zapis sesji AR do MP4+metadata. Odtwarzanie w emulatorze lub innym urządzeniu. CI/CD dla AR: reprodukowalne testy automatyczne scen AR bez fizycznego urządzenia.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4114800" cy="10972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188720"/>
            <a:ext cx="50292" cy="109728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2435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Raw Camera Access + Image API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1463040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AugmentedImageDatabase: baza obrazów do śledzenia (QR-like). Każdy obraz ma pose 6DoF. Raw CPU image: dostęp do YUV/JPEG dla własnego ML pipeline (object detection etc.).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0" y="2377440"/>
            <a:ext cx="4114800" cy="10972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377440"/>
            <a:ext cx="50292" cy="109728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4323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 Foundation (Unity/Unreal)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651760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Abstrakcja nad ARCore (Android) i ARKit (iOS). Jeden kod, dwie platformy. SubSystem: XR Planes, XR Anchors, XR Environment Probes. Zalecane dla multi-platform XR.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7/30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45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ARKit (iOS): RealityKit, LiDAR i People Occlusion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91E8C"/>
                </a:solidFill>
              </a:rPr>
              <a:t>Programowanie Aplikacji Mobilnych XR  |  Informatyka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61872"/>
            <a:ext cx="4937760" cy="361188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9" name="Text 7"/>
          <p:cNvSpPr/>
          <p:nvPr/>
        </p:nvSpPr>
        <p:spPr>
          <a:xfrm>
            <a:off x="4773168" y="12801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91E8C"/>
                </a:solidFill>
              </a:rPr>
              <a:t>Swift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11480" y="1371600"/>
            <a:ext cx="46634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ARKit + RealityKit (SwiftUI)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1540764"/>
            <a:ext cx="46634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ARContentView: View {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11480" y="1709928"/>
            <a:ext cx="46634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body: some View {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11480" y="1879092"/>
            <a:ext cx="46634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91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RealityView { content in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11480" y="2048256"/>
            <a:ext cx="46634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let anchor = AnchorEntity(.plane(.horizontal,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11480" y="2217420"/>
            <a:ext cx="46634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classification: .floor, minimumBounds: [0.2, 0.2]))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11480" y="2386584"/>
            <a:ext cx="46634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Załaduj model 3D z USDZ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2555748"/>
            <a:ext cx="46634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let model = try? await Entity.load(named: "robot.usdz") {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11480" y="2724912"/>
            <a:ext cx="46634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model.scale = [0.01, 0.01, 0.01]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11480" y="2894076"/>
            <a:ext cx="46634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anchor.addChild(model)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11480" y="3063240"/>
            <a:ext cx="46634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content.add(anchor)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11480" y="3232404"/>
            <a:ext cx="46634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11480" y="3401568"/>
            <a:ext cx="46634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91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update: { content, entity in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11480" y="3570732"/>
            <a:ext cx="46634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Reaktywna aktualizacja stanu AR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11480" y="3739896"/>
            <a:ext cx="46634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11480" y="3909060"/>
            <a:ext cx="46634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91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.arKitSession(ARKitSession())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11480" y="4078224"/>
            <a:ext cx="46634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.onTapGesture { _ in placeObject() }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11480" y="4247388"/>
            <a:ext cx="46634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11480" y="4416552"/>
            <a:ext cx="46634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349240" y="1261872"/>
            <a:ext cx="3520440" cy="6400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49240" y="1261872"/>
            <a:ext cx="50292" cy="64008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1" name="Text 29"/>
          <p:cNvSpPr/>
          <p:nvPr/>
        </p:nvSpPr>
        <p:spPr>
          <a:xfrm>
            <a:off x="5440680" y="131673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LiDAR Scene Reconstruction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40680" y="153619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iPhone 12 Pro+: mesh 3D sceny. Plane detection 10× szybciej. People Occlusion: ludzie zakrywają AR.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349240" y="1965960"/>
            <a:ext cx="3520440" cy="6400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49240" y="1965960"/>
            <a:ext cx="50292" cy="6400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5" name="Text 33"/>
          <p:cNvSpPr/>
          <p:nvPr/>
        </p:nvSpPr>
        <p:spPr>
          <a:xfrm>
            <a:off x="5440680" y="20208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RealityKit 2.0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40680" y="224028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Silnik AR Apple. Physically Based Rendering, Custom Shaders (Metal). Entity-Component.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349240" y="2670048"/>
            <a:ext cx="3520440" cy="6400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349240" y="2670048"/>
            <a:ext cx="50292" cy="6400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9" name="Text 37"/>
          <p:cNvSpPr/>
          <p:nvPr/>
        </p:nvSpPr>
        <p:spPr>
          <a:xfrm>
            <a:off x="5440680" y="27249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Object Scanning API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40680" y="294436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Skanowanie przedmiotów 3D. ARObjectAnchor: śledzenie znanych obiektów w scenie.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349240" y="3374136"/>
            <a:ext cx="3520440" cy="6400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349240" y="3374136"/>
            <a:ext cx="50292" cy="64008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43" name="Text 41"/>
          <p:cNvSpPr/>
          <p:nvPr/>
        </p:nvSpPr>
        <p:spPr>
          <a:xfrm>
            <a:off x="5440680" y="34290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Body Tracking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40680" y="364845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ARBodyTrackingConfiguration: 91 jointów ciała. Skeleton pose. Armature AR characters.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349240" y="4078224"/>
            <a:ext cx="3520440" cy="6400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349240" y="4078224"/>
            <a:ext cx="50292" cy="64008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47" name="Text 45"/>
          <p:cNvSpPr/>
          <p:nvPr/>
        </p:nvSpPr>
        <p:spPr>
          <a:xfrm>
            <a:off x="5440680" y="41330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Collaborative Session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40680" y="435254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MultipeerConnectivity + ARKit. Każde urządzenie dodaje anchory. Synchronizacja peer-to-peer.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8/30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99466" y="-12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Reality Composer Pro, USDZ i visionOS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114800" cy="10972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50292" cy="109728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435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Reality Composer Pro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463040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Narzędzie Xcode do tworzenia scen AR. Drag &amp; drop obiektów USDZ. Behaviors: animacja, physics, audio, custom Swift Actions. Particle systems. Import FBX/OBJ/USDZ.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2377440"/>
            <a:ext cx="4114800" cy="10972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77440"/>
            <a:ext cx="50292" cy="10972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4323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USDZ — Universal Scene Description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51760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Apple + Pixar format 3D. Jedno-plikowe archiwum: geometria + materiały + animacje. AR Quick Look: podgląd AR z Safari/Mail/Messages bez instalacji aplikacji.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3566160"/>
            <a:ext cx="4114800" cy="10972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566160"/>
            <a:ext cx="50292" cy="10972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62102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visionOS i Spatial Computing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840480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Apple Vision Pro OS. WindowGroup, ImmersiveSpace, Volume. SwiftUI + RealityKit native. Passthrough HDR. EyeSight avatar. Hand gestures bez kontrolerów.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4114800" cy="10972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188720"/>
            <a:ext cx="50292" cy="109728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2435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ShaderGraph (Metal Shaders)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1463040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Reality Composer Pro: node-based shader editor. Custom PBR materials: emission, metallic, roughness, normal maps. Dostęp do ARKit depth w shader (okkluzja custom).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0" y="2377440"/>
            <a:ext cx="4114800" cy="10972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377440"/>
            <a:ext cx="50292" cy="109728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4323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ARKit 6 — Image Tracking 4K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651760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ARImageTrackingConfiguration: śledzenie obrazów 4K. Mapy miast (ARGeoTrackingConfig). Coaching overlay guidance. Automatic environmental meshing iPhone 15 Pro.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9/30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4612" y="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OpenXR: Standardowy API dla XR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33566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</a:rPr>
              <a:t>Programowanie Aplikacji Mobilnych XR  |  Informatyka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2618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Architektura OpenXR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4114800" cy="347472"/>
          </a:xfrm>
          <a:prstGeom prst="rect">
            <a:avLst/>
          </a:prstGeom>
          <a:solidFill>
            <a:srgbClr val="132840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572768"/>
            <a:ext cx="50292" cy="34747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6276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Aplikacja (XR App / Game Engine)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975104"/>
            <a:ext cx="4114800" cy="347472"/>
          </a:xfrm>
          <a:prstGeom prst="rect">
            <a:avLst/>
          </a:prstGeom>
          <a:solidFill>
            <a:srgbClr val="0A1E3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299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BBF"/>
                </a:solidFill>
              </a:rPr>
              <a:t>↓  xrCreateInstance()  /  xrCreateSession()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4114800" cy="347472"/>
          </a:xfrm>
          <a:prstGeom prst="rect">
            <a:avLst/>
          </a:prstGeom>
          <a:solidFill>
            <a:srgbClr val="132840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377440"/>
            <a:ext cx="50292" cy="34747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4323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OpenXR API (Loader / Runtime)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779776"/>
            <a:ext cx="4114800" cy="347472"/>
          </a:xfrm>
          <a:prstGeom prst="rect">
            <a:avLst/>
          </a:prstGeom>
          <a:solidFill>
            <a:srgbClr val="0A1E3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8346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BBF"/>
                </a:solidFill>
              </a:rPr>
              <a:t>↓  Extensions: XR_KHR_vulkan_enable2, XR_EXT_eye_gaze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182112"/>
            <a:ext cx="4114800" cy="347472"/>
          </a:xfrm>
          <a:prstGeom prst="rect">
            <a:avLst/>
          </a:prstGeom>
          <a:solidFill>
            <a:srgbClr val="132840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3182112"/>
            <a:ext cx="50292" cy="34747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2369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Vendor Runtime (Meta/Valve/PICO/Pico)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584448"/>
            <a:ext cx="4114800" cy="347472"/>
          </a:xfrm>
          <a:prstGeom prst="rect">
            <a:avLst/>
          </a:prstGeom>
          <a:solidFill>
            <a:srgbClr val="0A1E3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6393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BBF"/>
                </a:solidFill>
              </a:rPr>
              <a:t>↓  HAL / Driver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986784"/>
            <a:ext cx="4114800" cy="347472"/>
          </a:xfrm>
          <a:prstGeom prst="rect">
            <a:avLst/>
          </a:prstGeom>
          <a:solidFill>
            <a:srgbClr val="132840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3986784"/>
            <a:ext cx="50292" cy="347472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40416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Sprzęt HMD / GPU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17720" y="12618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Kluczowe rozszerzenia OpenXR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17720" y="1572768"/>
            <a:ext cx="4206240" cy="43891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1572768"/>
            <a:ext cx="50292" cy="43891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162763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XR_KHR_vulkan_enable2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1847088"/>
            <a:ext cx="4069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4D8"/>
                </a:solidFill>
              </a:rPr>
              <a:t>Vulkan rendering. Zero-copy swapchain. Direct timewarp.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617720" y="2066544"/>
            <a:ext cx="4206240" cy="43891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17720" y="2066544"/>
            <a:ext cx="50292" cy="43891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21214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XR_EXT_eye_gaze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09160" y="2340864"/>
            <a:ext cx="4069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4D8"/>
                </a:solidFill>
              </a:rPr>
              <a:t>Eye tracking: gaze direction + pose. Foveated rendering.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17720" y="2560320"/>
            <a:ext cx="4206240" cy="43891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17720" y="2560320"/>
            <a:ext cx="50292" cy="43891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8" name="Text 36"/>
          <p:cNvSpPr/>
          <p:nvPr/>
        </p:nvSpPr>
        <p:spPr>
          <a:xfrm>
            <a:off x="4709160" y="261518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XR_FB_hand_tracking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09160" y="2834640"/>
            <a:ext cx="4069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4D8"/>
                </a:solidFill>
              </a:rPr>
              <a:t>Meta rozszerzenie: 26 jointów per ręka. Hand mesh.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617720" y="3054096"/>
            <a:ext cx="4206240" cy="43891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17720" y="3054096"/>
            <a:ext cx="50292" cy="438912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42" name="Text 40"/>
          <p:cNvSpPr/>
          <p:nvPr/>
        </p:nvSpPr>
        <p:spPr>
          <a:xfrm>
            <a:off x="4709160" y="310896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XR_KHR_composition_layer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09160" y="3328416"/>
            <a:ext cx="4069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4D8"/>
                </a:solidFill>
              </a:rPr>
              <a:t>Multiple layers: quad, cylinder, cube, equirect.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617720" y="3547872"/>
            <a:ext cx="4206240" cy="43891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17720" y="3547872"/>
            <a:ext cx="50292" cy="438912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46" name="Text 44"/>
          <p:cNvSpPr/>
          <p:nvPr/>
        </p:nvSpPr>
        <p:spPr>
          <a:xfrm>
            <a:off x="4709160" y="360273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XR_EXT_performance_settings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09160" y="3822192"/>
            <a:ext cx="4069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4D8"/>
                </a:solidFill>
              </a:rPr>
              <a:t>CPU/GPU level hint dla runtime. Thermal throttle prevention.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617720" y="4041648"/>
            <a:ext cx="4206240" cy="43891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17720" y="4041648"/>
            <a:ext cx="50292" cy="43891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0" name="Text 48"/>
          <p:cNvSpPr/>
          <p:nvPr/>
        </p:nvSpPr>
        <p:spPr>
          <a:xfrm>
            <a:off x="4709160" y="409651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XR_MSFT_scene_understanding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09160" y="4315968"/>
            <a:ext cx="4069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4D8"/>
                </a:solidFill>
              </a:rPr>
              <a:t>Microsoft: planes, meshes, objects z depth sensor.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10/30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7229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OpenXR: Inicjalizacja, Session Loop i Rendering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60520" cy="365760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0" y="12527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</a:rPr>
              <a:t>C++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4048" y="1353312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Instance creation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84048" y="1504188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XrInstanceCreateInfo info{};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84048" y="1655064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info.type = XR_TYPE_INSTANCE_CREATE_INFO;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84048" y="1805940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info.applicationInfo.apiVersion = XR_CURRENT_API_VERSION;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84048" y="1956816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strcpy(info.applicationInfo.applicationName, "MyXRApp");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84048" y="2107692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xrCreateInstance(&amp;info, &amp;instance);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84048" y="2258568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84048" y="2409444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System (HMD form factor)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84048" y="2560320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XrSystemGetInfo sysInfo{};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84048" y="2711196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sysInfo.formFactor = XR_FORM_FACTOR_HEAD_MOUNTED_DISPLAY;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84048" y="2862072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xrGetSystem(instance, &amp;sysInfo, &amp;systemId);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84048" y="3012948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84048" y="3163824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Session z Vulkan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84048" y="3314700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XrGraphicsBindingVulkan2KHR vkBinding{};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84048" y="3465576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vkBinding.instance = vkInstance;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84048" y="3616452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vkBinding.device = vkDevice;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84048" y="3767328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XrSessionCreateInfo sessionInfo{};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84048" y="3918204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sessionInfo.next = &amp;vkBinding;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84048" y="4069080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xrCreateSession(instance, &amp;sessionInfo, &amp;session);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84048" y="4219956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84048" y="4370832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Reference space (STAGE = room scale)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84048" y="4521708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XrReferenceSpaceCreateInfo spaceInfo{};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84048" y="4672584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spaceInfo.referenceSpaceType = XR_REFERENCE_SPACE_TYPE_STAGE;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84048" y="4823460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xrCreateReferenceSpace(session, &amp;spaceInfo, &amp;space);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663440" y="1234440"/>
            <a:ext cx="4160520" cy="365760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34" name="Text 32"/>
          <p:cNvSpPr/>
          <p:nvPr/>
        </p:nvSpPr>
        <p:spPr>
          <a:xfrm>
            <a:off x="4773168" y="1353312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5. Frame loop (simplified)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73168" y="1504188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(running) {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773168" y="1655064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XrEventDataBuffer event{};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773168" y="1805940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(xrPollEvent(instance, &amp;event) == XR_SUCCESS) {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773168" y="1956816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handleEvent(event);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773168" y="2107692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773168" y="2258568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XrFrameWaitInfo waitInfo{};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773168" y="2409444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XrFrameState frameState{};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773168" y="2560320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xrWaitFrame(session, &amp;waitInfo, &amp;frameState);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773168" y="2711196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773168" y="2862072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xrBeginFrame(session, nullptr);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773168" y="3012948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773168" y="3163824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Pobierz pose obu oczu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773168" y="3314700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XrViewLocateInfo locateInfo{};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773168" y="3465576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locateInfo.viewConfigurationType =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773168" y="3616452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XR_VIEW_CONFIGURATION_TYPE_PRIMARY_STEREO;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773168" y="3767328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locateInfo.displayTime = frameState.predictedDisplayTime;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773168" y="3918204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locateInfo.space = space;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773168" y="4069080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std::vector&lt;XrView&gt; views(2);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773168" y="4219956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xrLocateViews(session, &amp;locateInfo, ..., views.data());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773168" y="4370832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773168" y="4521708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Render do swapchain per oko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773168" y="4672584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renderEyes(views, frameState.predictedDisplayTime);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773168" y="4823460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xrEndFrame(session, &amp;frameEndInfo);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4773168" y="4974336"/>
            <a:ext cx="3977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11/30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4612" y="-989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Rendering XR: Reprojection, Foveated Rendering i Latencja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4612" y="458751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9800"/>
                </a:solidFill>
              </a:rPr>
              <a:t>Programowanie Aplikacji Mobilnych XR  |  Informatyka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4114800" cy="10972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34440"/>
            <a:ext cx="50292" cy="10972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2893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Asynchronous Timewarp (ATW)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508760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Reprojection ostatniej klatki gdy GPU nie nadąża. Obraca obraz proporcjonalnie do ruchu głowy. Eliminuje 'judder'. Wymagane: &lt; 20ms MTP (Motion-to-Photon) dla brak choroby lokomocyjnej.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423160"/>
            <a:ext cx="4114800" cy="10972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423160"/>
            <a:ext cx="50292" cy="109728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47802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Foveated Rendering (FR)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697480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Eye-tracking → centralny obszar full res, peryferyjny 1/4 res. Fixed FR: stały obszar. Variable FR (VFR): dynamiczny wg gaze. Oszczędność GPU 40–50%. Quest 3 + PSVR2 hardware VFR.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4114800" cy="10972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11880"/>
            <a:ext cx="50292" cy="10972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66674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Multiview Rendering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886200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GPU renderuje oba oczy w jednym draw call. Geometry Shader lub Vertex Amplification replikuje wierzchołki dla View L/R. 1.5–1.8× szybciej vs dwa osobne draw calle.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54880" y="1234440"/>
            <a:ext cx="4114800" cy="10972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234440"/>
            <a:ext cx="50292" cy="109728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2893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Supersampling (MSAA / DLSS)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1508760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VR wymaga anti-aliasing — piksele są duże przez soczewki. MSAA 4× standard. DLSS/FSR: upscaling z niższej rozdzielczości + temporal accumulation = lepsza jakość / niższy koszt.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2423160"/>
            <a:ext cx="4114800" cy="10972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423160"/>
            <a:ext cx="50292" cy="109728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47802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MTP Latency i Motion Sickness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2697480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Motion-to-Photon &lt; 20ms: ruch głowy → obraz. &gt; 20ms = choroba lokomocyjna. Breakdown: Sensor 1ms + Tracking 2ms + App CPU 3ms + GPU 8ms + Compositor 2ms + Display 4ms.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12/30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4612" y="4943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Tracking i SLAM: Visual-Inertial Odometry w </a:t>
            </a:r>
            <a:r>
              <a:rPr lang="pl-PL" sz="2000" b="1" dirty="0" smtClean="0">
                <a:solidFill>
                  <a:srgbClr val="FFFFFF"/>
                </a:solidFill>
              </a:rPr>
              <a:t>p</a:t>
            </a:r>
            <a:r>
              <a:rPr lang="en-US" sz="2000" b="1" dirty="0" err="1" smtClean="0">
                <a:solidFill>
                  <a:srgbClr val="FFFFFF"/>
                </a:solidFill>
              </a:rPr>
              <a:t>raktyce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1280160" cy="822960"/>
          </a:xfrm>
          <a:prstGeom prst="rect">
            <a:avLst/>
          </a:prstGeom>
          <a:solidFill>
            <a:srgbClr val="1328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34440"/>
            <a:ext cx="1280160" cy="6400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371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Camera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(60fps)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81912" y="1600200"/>
            <a:ext cx="146304" cy="22860"/>
          </a:xfrm>
          <a:prstGeom prst="rect">
            <a:avLst/>
          </a:prstGeom>
          <a:solidFill>
            <a:srgbClr val="7A9BBF"/>
          </a:solidFill>
          <a:ln/>
        </p:spPr>
      </p:sp>
      <p:sp>
        <p:nvSpPr>
          <p:cNvPr id="11" name="Shape 9"/>
          <p:cNvSpPr/>
          <p:nvPr/>
        </p:nvSpPr>
        <p:spPr>
          <a:xfrm>
            <a:off x="1709928" y="1572768"/>
            <a:ext cx="22860" cy="77724"/>
          </a:xfrm>
          <a:prstGeom prst="rect">
            <a:avLst/>
          </a:prstGeom>
          <a:solidFill>
            <a:srgbClr val="7A9BBF"/>
          </a:solidFill>
          <a:ln/>
        </p:spPr>
      </p:sp>
      <p:sp>
        <p:nvSpPr>
          <p:cNvPr id="12" name="Shape 10"/>
          <p:cNvSpPr/>
          <p:nvPr/>
        </p:nvSpPr>
        <p:spPr>
          <a:xfrm>
            <a:off x="1728216" y="1234440"/>
            <a:ext cx="1280160" cy="822960"/>
          </a:xfrm>
          <a:prstGeom prst="rect">
            <a:avLst/>
          </a:prstGeom>
          <a:solidFill>
            <a:srgbClr val="1328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728216" y="1234440"/>
            <a:ext cx="1280160" cy="64008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4" name="Text 12"/>
          <p:cNvSpPr/>
          <p:nvPr/>
        </p:nvSpPr>
        <p:spPr>
          <a:xfrm>
            <a:off x="1728216" y="1371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ORB Feature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Detection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35808" y="1600200"/>
            <a:ext cx="146304" cy="22860"/>
          </a:xfrm>
          <a:prstGeom prst="rect">
            <a:avLst/>
          </a:prstGeom>
          <a:solidFill>
            <a:srgbClr val="7A9BBF"/>
          </a:solidFill>
          <a:ln/>
        </p:spPr>
      </p:sp>
      <p:sp>
        <p:nvSpPr>
          <p:cNvPr id="16" name="Shape 14"/>
          <p:cNvSpPr/>
          <p:nvPr/>
        </p:nvSpPr>
        <p:spPr>
          <a:xfrm>
            <a:off x="3163824" y="1572768"/>
            <a:ext cx="22860" cy="77724"/>
          </a:xfrm>
          <a:prstGeom prst="rect">
            <a:avLst/>
          </a:prstGeom>
          <a:solidFill>
            <a:srgbClr val="7A9BBF"/>
          </a:solidFill>
          <a:ln/>
        </p:spPr>
      </p:sp>
      <p:sp>
        <p:nvSpPr>
          <p:cNvPr id="17" name="Shape 15"/>
          <p:cNvSpPr/>
          <p:nvPr/>
        </p:nvSpPr>
        <p:spPr>
          <a:xfrm>
            <a:off x="3182112" y="1234440"/>
            <a:ext cx="1280160" cy="822960"/>
          </a:xfrm>
          <a:prstGeom prst="rect">
            <a:avLst/>
          </a:prstGeom>
          <a:solidFill>
            <a:srgbClr val="1328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82112" y="1234440"/>
            <a:ext cx="1280160" cy="6400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3182112" y="1371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IMU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(1000Hz)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89704" y="1600200"/>
            <a:ext cx="146304" cy="22860"/>
          </a:xfrm>
          <a:prstGeom prst="rect">
            <a:avLst/>
          </a:prstGeom>
          <a:solidFill>
            <a:srgbClr val="7A9BBF"/>
          </a:solidFill>
          <a:ln/>
        </p:spPr>
      </p:sp>
      <p:sp>
        <p:nvSpPr>
          <p:cNvPr id="21" name="Shape 19"/>
          <p:cNvSpPr/>
          <p:nvPr/>
        </p:nvSpPr>
        <p:spPr>
          <a:xfrm>
            <a:off x="4617720" y="1572768"/>
            <a:ext cx="22860" cy="77724"/>
          </a:xfrm>
          <a:prstGeom prst="rect">
            <a:avLst/>
          </a:prstGeom>
          <a:solidFill>
            <a:srgbClr val="7A9BBF"/>
          </a:solidFill>
          <a:ln/>
        </p:spPr>
      </p:sp>
      <p:sp>
        <p:nvSpPr>
          <p:cNvPr id="22" name="Shape 20"/>
          <p:cNvSpPr/>
          <p:nvPr/>
        </p:nvSpPr>
        <p:spPr>
          <a:xfrm>
            <a:off x="4636008" y="1234440"/>
            <a:ext cx="1280160" cy="822960"/>
          </a:xfrm>
          <a:prstGeom prst="rect">
            <a:avLst/>
          </a:prstGeom>
          <a:solidFill>
            <a:srgbClr val="1328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36008" y="1234440"/>
            <a:ext cx="1280160" cy="64008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4" name="Text 22"/>
          <p:cNvSpPr/>
          <p:nvPr/>
        </p:nvSpPr>
        <p:spPr>
          <a:xfrm>
            <a:off x="4636008" y="1371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VIO Fusion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(EKF)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0" y="1600200"/>
            <a:ext cx="146304" cy="22860"/>
          </a:xfrm>
          <a:prstGeom prst="rect">
            <a:avLst/>
          </a:prstGeom>
          <a:solidFill>
            <a:srgbClr val="7A9BBF"/>
          </a:solidFill>
          <a:ln/>
        </p:spPr>
      </p:sp>
      <p:sp>
        <p:nvSpPr>
          <p:cNvPr id="26" name="Shape 24"/>
          <p:cNvSpPr/>
          <p:nvPr/>
        </p:nvSpPr>
        <p:spPr>
          <a:xfrm>
            <a:off x="6071616" y="1572768"/>
            <a:ext cx="22860" cy="77724"/>
          </a:xfrm>
          <a:prstGeom prst="rect">
            <a:avLst/>
          </a:prstGeom>
          <a:solidFill>
            <a:srgbClr val="7A9BBF"/>
          </a:solidFill>
          <a:ln/>
        </p:spPr>
      </p:sp>
      <p:sp>
        <p:nvSpPr>
          <p:cNvPr id="27" name="Shape 25"/>
          <p:cNvSpPr/>
          <p:nvPr/>
        </p:nvSpPr>
        <p:spPr>
          <a:xfrm>
            <a:off x="6089904" y="1234440"/>
            <a:ext cx="1280160" cy="822960"/>
          </a:xfrm>
          <a:prstGeom prst="rect">
            <a:avLst/>
          </a:prstGeom>
          <a:solidFill>
            <a:srgbClr val="1328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9904" y="1234440"/>
            <a:ext cx="1280160" cy="64008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9" name="Text 27"/>
          <p:cNvSpPr/>
          <p:nvPr/>
        </p:nvSpPr>
        <p:spPr>
          <a:xfrm>
            <a:off x="6089904" y="1371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Map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Management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97496" y="1600200"/>
            <a:ext cx="146304" cy="22860"/>
          </a:xfrm>
          <a:prstGeom prst="rect">
            <a:avLst/>
          </a:prstGeom>
          <a:solidFill>
            <a:srgbClr val="7A9BBF"/>
          </a:solidFill>
          <a:ln/>
        </p:spPr>
      </p:sp>
      <p:sp>
        <p:nvSpPr>
          <p:cNvPr id="31" name="Shape 29"/>
          <p:cNvSpPr/>
          <p:nvPr/>
        </p:nvSpPr>
        <p:spPr>
          <a:xfrm>
            <a:off x="7525512" y="1572768"/>
            <a:ext cx="22860" cy="77724"/>
          </a:xfrm>
          <a:prstGeom prst="rect">
            <a:avLst/>
          </a:prstGeom>
          <a:solidFill>
            <a:srgbClr val="7A9BBF"/>
          </a:solidFill>
          <a:ln/>
        </p:spPr>
      </p:sp>
      <p:sp>
        <p:nvSpPr>
          <p:cNvPr id="32" name="Shape 30"/>
          <p:cNvSpPr/>
          <p:nvPr/>
        </p:nvSpPr>
        <p:spPr>
          <a:xfrm>
            <a:off x="7543800" y="1234440"/>
            <a:ext cx="1280160" cy="822960"/>
          </a:xfrm>
          <a:prstGeom prst="rect">
            <a:avLst/>
          </a:prstGeom>
          <a:solidFill>
            <a:srgbClr val="1328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43800" y="1234440"/>
            <a:ext cx="1280160" cy="6400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4" name="Text 32"/>
          <p:cNvSpPr/>
          <p:nvPr/>
        </p:nvSpPr>
        <p:spPr>
          <a:xfrm>
            <a:off x="7543800" y="1371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Output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2212848"/>
            <a:ext cx="4114800" cy="128016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2212848"/>
            <a:ext cx="50292" cy="12801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22677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ORB Feature Detection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2487168"/>
            <a:ext cx="3977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Oriented FAST + Rotated BRIEF. 500-2000 punktów/klatkę. Niezmiennicze na rotację i skalę. 10× szybsze od SIFT. Używane w ORB-SLAM3, ARCore, ARKit.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54880" y="2212848"/>
            <a:ext cx="4114800" cy="128016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2212848"/>
            <a:ext cx="50292" cy="128016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22677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Extended Kalman Filter (EKF)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46320" y="2487168"/>
            <a:ext cx="3977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Połączenie IMU (predykcja 1000Hz) + kamera (korekta 30–60Hz). State vector: [pos, vel, orient, IMU bias]. Noise covariance tuning kluczowe dla stabilności.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584448"/>
            <a:ext cx="4114800" cy="128016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74320" y="3584448"/>
            <a:ext cx="50292" cy="12801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36393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Loop Closure Detection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" y="3858768"/>
            <a:ext cx="3977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DBoW2: bag-of-words podobieństwo klatek. Rozpoznanie poprzedniej lokalizacji = korekta dryfu. Global map optimization: g2o graph-based bundle adjustment.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54880" y="3584448"/>
            <a:ext cx="4114800" cy="128016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54880" y="3584448"/>
            <a:ext cx="50292" cy="128016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49" name="Text 47"/>
          <p:cNvSpPr/>
          <p:nvPr/>
        </p:nvSpPr>
        <p:spPr>
          <a:xfrm>
            <a:off x="4846320" y="36393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Plane Extraction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46320" y="3858768"/>
            <a:ext cx="3977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RANSAC na depth/pointcloud → płaskie obszary. Normal estimation: PCA na sąsiedztwie punktów. Merge: kąt &lt;15° + odległość &lt;5cm = ten sam plane.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13/30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4612" y="4943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Wejście XR: Kontrolery, Hand Tracking i Eye Gaze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114800" cy="112471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50292" cy="112471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435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6DoF Kontrolery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463040"/>
            <a:ext cx="3977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Trigger, grip, joystick, A/B/X/Y. Haptic feedback (LRA vibration 100–3000Hz). Touch capacitive: palm presence. Tracking przez IR LED constellation lub inside-out CV. OpenXR: XrAction binding.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2414016"/>
            <a:ext cx="4114800" cy="112471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414016"/>
            <a:ext cx="50292" cy="112471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46888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Hand Tracking (bez kontrolerów)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3977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MediaPipe Hands: 21 punktów per ręka, 30fps. Meta Quest: model ML na kamerach monochromatycznych. Pinch, grab, point gestures. Latencja ~20ms. Problem: occlusion (ręce zasłaniają się).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3639312"/>
            <a:ext cx="4114800" cy="112471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39312"/>
            <a:ext cx="50292" cy="112471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69417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Eye Gaze Tracking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913632"/>
            <a:ext cx="3977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IR diody + sensor 120Hz. Gaze ray: origin + direction w world space. Zastosowanie: foveated rendering, attention analytics, eye-based UI control (dwell click). PSVR2, Vision Pro (Iris scan).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4114800" cy="112471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188720"/>
            <a:ext cx="50292" cy="1124712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2435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Voice Input + NLP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1463040"/>
            <a:ext cx="3977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On-device STT: Whisper 1B lub Google STT. Intenty głosowe: 'Hey Siri', komedy. visionOS: głos + gaze + pinch = naturalne UI. Offline intent classification dla prywatności.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0" y="2414016"/>
            <a:ext cx="4114800" cy="112471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414016"/>
            <a:ext cx="50292" cy="1124712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46888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Haptyka zaawansowana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688336"/>
            <a:ext cx="3977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ThermoReal: ciepło/zimno na dłoniach. OWO: elektryczna stymulacja mięśni (EMS) pełne ciało. bHaptics TactSuit: 40 ERM silniczków na kamizelce. Force Feedback Gloves: HaptX.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14/30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-14259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OpenXR Input System: Action Bindings i Interaction Profiles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95360" cy="361188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0" y="12527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CAF50"/>
                </a:solidFill>
              </a:rPr>
              <a:t>C++ / OpenXR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4048" y="1335024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OpenXR Action System — abstrakcja niezależna od kontrolera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84048" y="1477670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Stwórz ActionSet i Actions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84048" y="1620317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XrActionSetCreateInfo setInfo{};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84048" y="1762963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strcpy(setInfo.actionSetName, "gameplay");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84048" y="1905610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xrCreateActionSet(instance, &amp;setInfo, &amp;actionSet);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84048" y="2048256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84048" y="2190902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XrActionCreateInfo triggerInfo{};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84048" y="2333549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triggerInfo.actionType = XR_ACTION_TYPE_FLOAT_INPUT;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84048" y="2476195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strcpy(triggerInfo.actionName, "trigger_pull");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84048" y="2618842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xrCreateAction(actionSet, &amp;triggerInfo, &amp;triggerAction);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84048" y="2761488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84048" y="2904134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XrActionCreateInfo poseInfo{};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84048" y="3046781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poseInfo.actionType = XR_ACTION_TYPE_POSE_INPUT;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84048" y="3189427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strcpy(poseInfo.actionName, "hand_pose");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84048" y="3332074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xrCreateAction(actionSet, &amp;poseInfo, &amp;handPoseAction);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84048" y="3474720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84048" y="3617366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Binding do konkretnych profili kontrolerów (Meta Touch Pro / Valve Index / HTC Vive etc.)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84048" y="3760013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XrPath triggerPath, indexPath;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84048" y="3902659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xrStringToPath(instance, "/user/hand/right/input/trigger/value", &amp;triggerPath);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84048" y="4045306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xrStringToPath(instance, "/interaction_profiles/oculus/touch_controller", &amp;indexPath);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84048" y="4187952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XrActionSuggestedBinding bindings[] = {{ triggerAction, triggerPath }};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84048" y="4330598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XrInteractionProfileSuggestedBinding suggested{};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84048" y="4473245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suggested.interactionProfile = indexPath;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84048" y="4615891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suggested.countSuggestedBindings = 1;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84048" y="4758538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suggested.suggestedBindings = bindings;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84048" y="4901184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xrSuggestInteractionProfileBindings(instance, &amp;suggested);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84048" y="5043830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84048" y="5186477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W frame loop — odczyt stanu akcji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84048" y="5329123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XrActionStateFloat trigState{};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84048" y="5471770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XrActionStateGetInfo getInfo{ .action = triggerAction };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84048" y="5614416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xrGetActionStateFloat(session, &amp;getInfo, &amp;trigState);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84048" y="5757062"/>
            <a:ext cx="83210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(trigState.isActive &amp;&amp; trigState.currentState &gt; 0.5f) { fireWeapon(); }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15/30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84048" y="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WebXR: Immersive Web i Przeglądarkowy AR/VR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937760" cy="361188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8" name="Text 6"/>
          <p:cNvSpPr/>
          <p:nvPr/>
        </p:nvSpPr>
        <p:spPr>
          <a:xfrm>
            <a:off x="4773168" y="12527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9800"/>
                </a:solidFill>
              </a:rPr>
              <a:t>JavaScript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4048" y="1353312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WebXR Device API — immersive-ar mode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84048" y="1505102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startAR() {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84048" y="1656893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(!navigator.xr) return; // sprawdź wsparcie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84048" y="1808683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supported = await navigator.xr.isSessionSupported('immersive-ar');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84048" y="1960474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(!supported) { showFallback(); return; }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84048" y="2112264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84048" y="2264054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session = await navigator.xr.requestSession('immersive-ar', {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84048" y="2415845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requiredFeatures: ['hit-test', 'local-floor'],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84048" y="2567635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optionalFeatures: ['dom-overlay', 'depth-sensing'],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84048" y="2719426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domOverlay: { root: document.getElementById('overlay') }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84048" y="2871216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84048" y="3023006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84048" y="3174797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gl = canvas.getContext('webgl2', { xrCompatible: true });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84048" y="3326587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gl.makeXRCompatible();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84048" y="3478378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session.updateRenderState({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84048" y="3630168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baseLayer: new XRWebGLLayer(session, gl)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84048" y="3781958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84048" y="3933749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84048" y="4085539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Hit-test source dla plane detection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84048" y="4237330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hitTestSource = await session.requestHitTestSource({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84048" y="4389120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space: viewerSpace  // promień z centrum widoku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84048" y="4540910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84048" y="4692701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84048" y="4844491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session.requestAnimationFrame(function onXRFrame(t, frame) {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84048" y="4996282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hits = frame.getHitTestResults(hitTestSource);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84048" y="5148072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(hits.length &gt; 0) {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84048" y="5299862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pose = hits[0].getPose(refSpace);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84048" y="5451653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placeReticle(pose.transform.matrix); // wskaźnik AR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84048" y="5603443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84048" y="5755234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session.requestAnimationFrame(onXRFrame);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84048" y="5907024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84048" y="6058814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349240" y="1234440"/>
            <a:ext cx="3520440" cy="6400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349240" y="1234440"/>
            <a:ext cx="50292" cy="64008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43" name="Text 41"/>
          <p:cNvSpPr/>
          <p:nvPr/>
        </p:nvSpPr>
        <p:spPr>
          <a:xfrm>
            <a:off x="5440680" y="12893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Tryby Sesji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40680" y="150876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inline (w stronie), immersive-vr (pełny VR), immersive-ar (passthrough AR). Chrome Android: immersive-ar przez ARCore.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349240" y="1938528"/>
            <a:ext cx="3520440" cy="6400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349240" y="1938528"/>
            <a:ext cx="50292" cy="6400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7" name="Text 45"/>
          <p:cNvSpPr/>
          <p:nvPr/>
        </p:nvSpPr>
        <p:spPr>
          <a:xfrm>
            <a:off x="5440680" y="19933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Three.js / Babylon.js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40680" y="221284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Three.js WebXRManager: session.requestAnimationFrame, XRReferenceSpace. A-Frame: deklaratywny HTML. Model Viewer: &lt;model-viewer ar&gt;.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349240" y="2642616"/>
            <a:ext cx="3520440" cy="6400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349240" y="2642616"/>
            <a:ext cx="50292" cy="64008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51" name="Text 49"/>
          <p:cNvSpPr/>
          <p:nvPr/>
        </p:nvSpPr>
        <p:spPr>
          <a:xfrm>
            <a:off x="5440680" y="26974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WebXR Layers API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440680" y="291693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XRWebGLLayer (std), XRCubeLayer, XRCylinderLayer, XRQuadLayer. Warstwy renderowane przez runtime = niższa latencja niż w WebGL.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349240" y="3346704"/>
            <a:ext cx="3520440" cy="6400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349240" y="3346704"/>
            <a:ext cx="50292" cy="6400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5" name="Text 53"/>
          <p:cNvSpPr/>
          <p:nvPr/>
        </p:nvSpPr>
        <p:spPr>
          <a:xfrm>
            <a:off x="5440680" y="34015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Depth Sensing API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440680" y="36210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XRDepthInformation: bufor głębokości. Dostępna w Chrome 120+ Android. Okkluzja AR bez ARCore native. Privacy: permission required.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349240" y="4050792"/>
            <a:ext cx="3520440" cy="6400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349240" y="4050792"/>
            <a:ext cx="50292" cy="64008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59" name="Text 57"/>
          <p:cNvSpPr/>
          <p:nvPr/>
        </p:nvSpPr>
        <p:spPr>
          <a:xfrm>
            <a:off x="5440680" y="41056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Anchors i Hit-Testing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440680" y="432511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XRAnchor: trwałe zakotwiczenie. Hit-test: rzutowanie promienia na wykryte płaszczyzny. Persistent Anchors: IndexedDB storage.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16/30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9184" y="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Zastosowania XR: Medycyna, Edukacja, Przemysł i Rozrywka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" y="1234440"/>
            <a:ext cx="2057400" cy="1719072"/>
          </a:xfrm>
          <a:prstGeom prst="rect">
            <a:avLst/>
          </a:prstGeom>
          <a:solidFill>
            <a:srgbClr val="1328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234440"/>
            <a:ext cx="2057400" cy="54864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325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🏥 Medycyna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618488"/>
            <a:ext cx="19202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Chirurgia wspomagana AR (Proximie). Symulacje 3D anatomii (Complete Anatomy). Rehabilitacja VR bólu (SnowWorld). MRI AR overlay.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04872" y="1234440"/>
            <a:ext cx="2057400" cy="1719072"/>
          </a:xfrm>
          <a:prstGeom prst="rect">
            <a:avLst/>
          </a:prstGeom>
          <a:solidFill>
            <a:srgbClr val="1328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04872" y="1234440"/>
            <a:ext cx="20574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3" name="Text 11"/>
          <p:cNvSpPr/>
          <p:nvPr/>
        </p:nvSpPr>
        <p:spPr>
          <a:xfrm>
            <a:off x="2496312" y="1325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🎓 Edukacja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96312" y="1618488"/>
            <a:ext cx="19202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Wirtualne laboratoria (Labster). AR podręczniki (Mondly). Google Expeditions: 900+ wirtualnych wycieczek. Mixed Reality Lab.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81144" y="1234440"/>
            <a:ext cx="2057400" cy="1719072"/>
          </a:xfrm>
          <a:prstGeom prst="rect">
            <a:avLst/>
          </a:prstGeom>
          <a:solidFill>
            <a:srgbClr val="1328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81144" y="1234440"/>
            <a:ext cx="20574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4672584" y="1325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🏭 Przemysł 4.0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72584" y="1618488"/>
            <a:ext cx="19202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Boeing: montaż kabli drut wg AR overlay — 25% szybciej. Microsoft HoloLens Dynamics 365 Guides. Remote Assist z ekspertem.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757416" y="1234440"/>
            <a:ext cx="2057400" cy="1719072"/>
          </a:xfrm>
          <a:prstGeom prst="rect">
            <a:avLst/>
          </a:prstGeom>
          <a:solidFill>
            <a:srgbClr val="1328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57416" y="1234440"/>
            <a:ext cx="2057400" cy="5486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1" name="Text 19"/>
          <p:cNvSpPr/>
          <p:nvPr/>
        </p:nvSpPr>
        <p:spPr>
          <a:xfrm>
            <a:off x="6848856" y="1325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🎮 Rozrywka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48856" y="1618488"/>
            <a:ext cx="19202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Beat Saber 4M+ egz. Pokémon GO $6B revenue. Half-Life: Alyx — AAA VR. PSVR2 biblioteka tytułów Sony exclusive.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28600" y="3063240"/>
            <a:ext cx="2057400" cy="1719072"/>
          </a:xfrm>
          <a:prstGeom prst="rect">
            <a:avLst/>
          </a:prstGeom>
          <a:solidFill>
            <a:srgbClr val="1328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063240"/>
            <a:ext cx="2057400" cy="54864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154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🛒 e-Commerce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" y="3447288"/>
            <a:ext cx="19202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IKEA Place: meble AR w domu. Amazon AR View. Sephora Virtual Artist: make-up AR. Ocado: magazyn VR szkolenia.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404872" y="3063240"/>
            <a:ext cx="2057400" cy="1719072"/>
          </a:xfrm>
          <a:prstGeom prst="rect">
            <a:avLst/>
          </a:prstGeom>
          <a:solidFill>
            <a:srgbClr val="1328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404872" y="3063240"/>
            <a:ext cx="20574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9" name="Text 27"/>
          <p:cNvSpPr/>
          <p:nvPr/>
        </p:nvSpPr>
        <p:spPr>
          <a:xfrm>
            <a:off x="2496312" y="3154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🏙️ Urbanistyka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96312" y="3447288"/>
            <a:ext cx="19202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Niantic Lightship ARDK: city-scale AR maps. Digital twins miast (NVIDIA Omniverse). AR Navigation (Google Maps Live View).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81144" y="3063240"/>
            <a:ext cx="2057400" cy="1719072"/>
          </a:xfrm>
          <a:prstGeom prst="rect">
            <a:avLst/>
          </a:prstGeom>
          <a:solidFill>
            <a:srgbClr val="1328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81144" y="3063240"/>
            <a:ext cx="2057400" cy="54864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3" name="Text 31"/>
          <p:cNvSpPr/>
          <p:nvPr/>
        </p:nvSpPr>
        <p:spPr>
          <a:xfrm>
            <a:off x="4672584" y="3154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🛡️ Wojskowość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72584" y="3447288"/>
            <a:ext cx="19202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Microsoft IVAS (HoloLens) US Army $22B. Symulatory pilotów VR F-35. AR HUD w hełmach. Tactical battlefield overlay.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757416" y="3063240"/>
            <a:ext cx="2057400" cy="1719072"/>
          </a:xfrm>
          <a:prstGeom prst="rect">
            <a:avLst/>
          </a:prstGeom>
          <a:solidFill>
            <a:srgbClr val="1328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757416" y="3063240"/>
            <a:ext cx="20574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7" name="Text 35"/>
          <p:cNvSpPr/>
          <p:nvPr/>
        </p:nvSpPr>
        <p:spPr>
          <a:xfrm>
            <a:off x="6848856" y="3154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🔧 Maintenance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48856" y="3447288"/>
            <a:ext cx="19202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PTC Vuforia: AR instrukcje serwisu maszyn. Scope AR Remote: zdalne wsparcie z AR overlay. GE Aviation: AR turbine repair.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17/30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4943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Tworzenie Aplikacji AR na Android: ARCore + SceneView + Kotlin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937760" cy="361188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8" name="Text 6"/>
          <p:cNvSpPr/>
          <p:nvPr/>
        </p:nvSpPr>
        <p:spPr>
          <a:xfrm>
            <a:off x="4773168" y="12527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CD4"/>
                </a:solidFill>
              </a:rPr>
              <a:t>Kotlin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4048" y="1353312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build.gradle.kts — zależności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84048" y="1504188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implementation("io.github.sceneview:arsceneview:2.2.1")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84048" y="1655064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84048" y="1805940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ARSceneView w Compose — najprostsza forma AR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84048" y="1956816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@Composable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84048" y="2107692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 ARScreen() {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84048" y="2258568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engine = rememberEngine()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84048" y="2409444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modelLoader = rememberModelLoader(engine)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84048" y="2560320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nodes = rememberNodes()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84048" y="2711196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84048" y="2862072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ARScene(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84048" y="3012948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modifier = Modifier.fillMaxSize(),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84048" y="3163824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engine = engine,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84048" y="3314700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modelLoader = modelLoader,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84048" y="3465576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nodes = nodes,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84048" y="3616452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planeRenderer = true,  // rysuj wykryte płaszczyzny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84048" y="3767328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onSessionUpdated = { session, frame -&gt;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84048" y="3918204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Sprawdź trackingState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84048" y="4069080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(frame.camera.trackingState == TrackingState.TRACKING) {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84048" y="4219956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handleTracking(frame)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84048" y="4370832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84048" y="4521708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},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84048" y="4672584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onGestureListener = rememberOnGestureListener(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84048" y="4823460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onSingleTapConfirmed = { motionEvent, node -&gt;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84048" y="4974336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(node == null) {  // trafiono w pusty teren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84048" y="5125212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placeObjectOnPlane(motionEvent, session, nodes)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84048" y="5276088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84048" y="5426964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84048" y="5577840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84048" y="5728716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84048" y="5879592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349240" y="12344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Setup i wymagania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349240" y="1554480"/>
            <a:ext cx="3520440" cy="475488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349240" y="1554480"/>
            <a:ext cx="50292" cy="47548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3" name="Text 41"/>
          <p:cNvSpPr/>
          <p:nvPr/>
        </p:nvSpPr>
        <p:spPr>
          <a:xfrm>
            <a:off x="5440680" y="16093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1. AndroidManifest.xml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40680" y="1828800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4D8"/>
                </a:solidFill>
              </a:rPr>
              <a:t>CAMERA permission + meta-data ar.google.arcore.minApkVersion: 190700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349240" y="2084832"/>
            <a:ext cx="3520440" cy="475488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349240" y="2084832"/>
            <a:ext cx="50292" cy="475488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47" name="Text 45"/>
          <p:cNvSpPr/>
          <p:nvPr/>
        </p:nvSpPr>
        <p:spPr>
          <a:xfrm>
            <a:off x="5440680" y="21396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2. Sprawdź kompatybilność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40680" y="235915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4D8"/>
                </a:solidFill>
              </a:rPr>
              <a:t>ArCoreApk.getInstance().checkAvailability() → SUPPORTED_INSTALLED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349240" y="2615184"/>
            <a:ext cx="3520440" cy="475488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349240" y="2615184"/>
            <a:ext cx="50292" cy="47548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1" name="Text 49"/>
          <p:cNvSpPr/>
          <p:nvPr/>
        </p:nvSpPr>
        <p:spPr>
          <a:xfrm>
            <a:off x="5440680" y="26700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3. Prośba o pozwolenia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440680" y="288950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4D8"/>
                </a:solidFill>
              </a:rPr>
              <a:t>ActivityResultContracts.RequestPermission dla CAMERA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349240" y="3145536"/>
            <a:ext cx="3520440" cy="475488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349240" y="3145536"/>
            <a:ext cx="50292" cy="475488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55" name="Text 53"/>
          <p:cNvSpPr/>
          <p:nvPr/>
        </p:nvSpPr>
        <p:spPr>
          <a:xfrm>
            <a:off x="5440680" y="32004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4. Konfiguruj sesję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440680" y="341985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4D8"/>
                </a:solidFill>
              </a:rPr>
              <a:t>Config z planeFindingMode, depthMode, lightEstimation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349240" y="3675888"/>
            <a:ext cx="3520440" cy="475488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349240" y="3675888"/>
            <a:ext cx="50292" cy="475488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59" name="Text 57"/>
          <p:cNvSpPr/>
          <p:nvPr/>
        </p:nvSpPr>
        <p:spPr>
          <a:xfrm>
            <a:off x="5440680" y="37307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5. Dodaj model GLTF/GLB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440680" y="3950208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4D8"/>
                </a:solidFill>
              </a:rPr>
              <a:t>assets/models/robot.glb — Binary GLTF z PBR materiałami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349240" y="4206240"/>
            <a:ext cx="3520440" cy="475488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349240" y="4206240"/>
            <a:ext cx="50292" cy="47548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3" name="Text 61"/>
          <p:cNvSpPr/>
          <p:nvPr/>
        </p:nvSpPr>
        <p:spPr>
          <a:xfrm>
            <a:off x="5440680" y="42611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6. Testuj na urządzeniu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440680" y="4480560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C4D8"/>
                </a:solidFill>
              </a:rPr>
              <a:t>adb install + logcat filter: ARCore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18/30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2641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Tworzenie Aplikacji AR na iOS: ARKit + RealityKit + SwiftUI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937760" cy="361188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8" name="Text 6"/>
          <p:cNvSpPr/>
          <p:nvPr/>
        </p:nvSpPr>
        <p:spPr>
          <a:xfrm>
            <a:off x="4773168" y="12527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91E8C"/>
                </a:solidFill>
              </a:rPr>
              <a:t>Swift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4048" y="1353312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ARKit 6 + RealityKit 3 + SwiftUI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84048" y="1505102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SwiftUI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84048" y="1656893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RealityKit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84048" y="1808683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ARKit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84048" y="1960474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84048" y="2112264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ContentView: View {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84048" y="2264054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@State private var arView = ARView(frame: .zero)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84048" y="2415845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body: some View {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84048" y="2567635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ARViewContainer(arView: $arView)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84048" y="2719426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.ignoresSafeArea()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84048" y="2871216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.overlay(alignment: .bottom) { ControlPanel() }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84048" y="3023006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84048" y="3174797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84048" y="3326587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84048" y="3478378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ARViewContainer: UIViewRepresentable {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84048" y="3630168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@Binding var arView: ARView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84048" y="3781958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 makeUIView(context: Context) -&gt; ARView {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84048" y="3933749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let config = ARWorldTrackingConfiguration()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84048" y="4085539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config.planeDetection = [.horizontal, .vertical]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84048" y="4237330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config.sceneReconstruction = .meshWithClassification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84048" y="4389120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config.frameSemantics = .personSegmentationWithDepth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84048" y="4540910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arView.session.run(config)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84048" y="4692701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arView.debugOptions = [.showSceneUnderstanding]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84048" y="4844491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Gest – tap to place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84048" y="4996282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let tap = UITapGestureRecognizer(target: context.coordinator,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84048" y="5148072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action: #selector(Coordinator.handleTap))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84048" y="5299862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arView.addGestureRecognizer(tap)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84048" y="5451653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arView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84048" y="5603443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84048" y="5755234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349240" y="1234440"/>
            <a:ext cx="3520440" cy="6400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349240" y="1234440"/>
            <a:ext cx="50292" cy="64008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41" name="Text 39"/>
          <p:cNvSpPr/>
          <p:nvPr/>
        </p:nvSpPr>
        <p:spPr>
          <a:xfrm>
            <a:off x="5440680" y="12893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People </a:t>
            </a:r>
            <a:r>
              <a:rPr lang="pl-PL" sz="1000" b="1" dirty="0" smtClean="0">
                <a:solidFill>
                  <a:srgbClr val="FFFFFF"/>
                </a:solidFill>
              </a:rPr>
              <a:t>o</a:t>
            </a:r>
            <a:r>
              <a:rPr lang="en-US" sz="1000" b="1" dirty="0" err="1" smtClean="0">
                <a:solidFill>
                  <a:srgbClr val="FFFFFF"/>
                </a:solidFill>
              </a:rPr>
              <a:t>cclusion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40680" y="150876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LiDAR + AI: ludzie zasłaniają obiekty AR. ARConfiguration.frameSemantics.personSegmentation.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349240" y="1938528"/>
            <a:ext cx="3520440" cy="6400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349240" y="1938528"/>
            <a:ext cx="50292" cy="6400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5" name="Text 43"/>
          <p:cNvSpPr/>
          <p:nvPr/>
        </p:nvSpPr>
        <p:spPr>
          <a:xfrm>
            <a:off x="5440680" y="19933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Scene </a:t>
            </a:r>
            <a:r>
              <a:rPr lang="pl-PL" sz="1000" b="1" dirty="0" smtClean="0">
                <a:solidFill>
                  <a:srgbClr val="FFFFFF"/>
                </a:solidFill>
              </a:rPr>
              <a:t>g</a:t>
            </a:r>
            <a:r>
              <a:rPr lang="en-US" sz="1000" b="1" dirty="0" err="1" smtClean="0">
                <a:solidFill>
                  <a:srgbClr val="FFFFFF"/>
                </a:solidFill>
              </a:rPr>
              <a:t>eometry</a:t>
            </a:r>
            <a:r>
              <a:rPr lang="en-US" sz="1000" b="1" dirty="0" smtClean="0">
                <a:solidFill>
                  <a:srgbClr val="FFFFFF"/>
                </a:solidFill>
              </a:rPr>
              <a:t> </a:t>
            </a:r>
            <a:r>
              <a:rPr lang="en-US" sz="1000" b="1" dirty="0">
                <a:solidFill>
                  <a:srgbClr val="FFFFFF"/>
                </a:solidFill>
              </a:rPr>
              <a:t>(Mesh)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40680" y="221284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sceneReconstruction.meshWithClassification: mesh 3D sceny + etykiety (ściana, sufit, podłoga).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349240" y="2642616"/>
            <a:ext cx="3520440" cy="6400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349240" y="2642616"/>
            <a:ext cx="50292" cy="6400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9" name="Text 47"/>
          <p:cNvSpPr/>
          <p:nvPr/>
        </p:nvSpPr>
        <p:spPr>
          <a:xfrm>
            <a:off x="5440680" y="26974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Object &amp; </a:t>
            </a:r>
            <a:r>
              <a:rPr lang="pl-PL" sz="1000" b="1" dirty="0" smtClean="0">
                <a:solidFill>
                  <a:srgbClr val="FFFFFF"/>
                </a:solidFill>
              </a:rPr>
              <a:t>i</a:t>
            </a:r>
            <a:r>
              <a:rPr lang="en-US" sz="1000" b="1" dirty="0" smtClean="0">
                <a:solidFill>
                  <a:srgbClr val="FFFFFF"/>
                </a:solidFill>
              </a:rPr>
              <a:t>mage </a:t>
            </a:r>
            <a:r>
              <a:rPr lang="pl-PL" sz="1000" b="1" dirty="0" smtClean="0">
                <a:solidFill>
                  <a:srgbClr val="FFFFFF"/>
                </a:solidFill>
              </a:rPr>
              <a:t>a</a:t>
            </a:r>
            <a:r>
              <a:rPr lang="en-US" sz="1000" b="1" dirty="0" err="1" smtClean="0">
                <a:solidFill>
                  <a:srgbClr val="FFFFFF"/>
                </a:solidFill>
              </a:rPr>
              <a:t>nchors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40680" y="291693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ARObjectAnchor dla zeskanowanych obiektów. ARImageAnchor dla QR-like image targets.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349240" y="3346704"/>
            <a:ext cx="3520440" cy="6400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349240" y="3346704"/>
            <a:ext cx="50292" cy="64008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53" name="Text 51"/>
          <p:cNvSpPr/>
          <p:nvPr/>
        </p:nvSpPr>
        <p:spPr>
          <a:xfrm>
            <a:off x="5440680" y="34015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Spatial </a:t>
            </a:r>
            <a:r>
              <a:rPr lang="pl-PL" sz="1000" b="1" dirty="0" smtClean="0">
                <a:solidFill>
                  <a:srgbClr val="FFFFFF"/>
                </a:solidFill>
              </a:rPr>
              <a:t>a</a:t>
            </a:r>
            <a:r>
              <a:rPr lang="en-US" sz="1000" b="1" dirty="0" err="1" smtClean="0">
                <a:solidFill>
                  <a:srgbClr val="FFFFFF"/>
                </a:solidFill>
              </a:rPr>
              <a:t>udio</a:t>
            </a:r>
            <a:r>
              <a:rPr lang="en-US" sz="1000" b="1" dirty="0" smtClean="0">
                <a:solidFill>
                  <a:srgbClr val="FFFFFF"/>
                </a:solidFill>
              </a:rPr>
              <a:t> </a:t>
            </a:r>
            <a:r>
              <a:rPr lang="en-US" sz="1000" b="1" dirty="0">
                <a:solidFill>
                  <a:srgbClr val="FFFFFF"/>
                </a:solidFill>
              </a:rPr>
              <a:t>(RealityKit)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40680" y="36210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AudioFileResource + Reverb preset. 3D dźwięk pozycjonowany do Entity w scenie AR.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349240" y="4050792"/>
            <a:ext cx="3520440" cy="64008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349240" y="4050792"/>
            <a:ext cx="50292" cy="64008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57" name="Text 55"/>
          <p:cNvSpPr/>
          <p:nvPr/>
        </p:nvSpPr>
        <p:spPr>
          <a:xfrm>
            <a:off x="5440680" y="41056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Reality </a:t>
            </a:r>
            <a:r>
              <a:rPr lang="pl-PL" sz="1000" b="1" dirty="0" smtClean="0">
                <a:solidFill>
                  <a:srgbClr val="FFFFFF"/>
                </a:solidFill>
              </a:rPr>
              <a:t>c</a:t>
            </a:r>
            <a:r>
              <a:rPr lang="en-US" sz="1000" b="1" dirty="0" err="1" smtClean="0">
                <a:solidFill>
                  <a:srgbClr val="FFFFFF"/>
                </a:solidFill>
              </a:rPr>
              <a:t>omposer</a:t>
            </a:r>
            <a:r>
              <a:rPr lang="en-US" sz="1000" b="1" dirty="0" smtClean="0">
                <a:solidFill>
                  <a:srgbClr val="FFFFFF"/>
                </a:solidFill>
              </a:rPr>
              <a:t> </a:t>
            </a:r>
            <a:r>
              <a:rPr lang="en-US" sz="1000" b="1" dirty="0">
                <a:solidFill>
                  <a:srgbClr val="FFFFFF"/>
                </a:solidFill>
              </a:rPr>
              <a:t>Pro Flow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440680" y="432511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1. Stwórz scenę .usda → 2. Dodaj behaviors → 3. Export .usdz → 4. Załaduj w ARView.loadAsync.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19/30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4612" y="-123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Optymalizacja i Wydajność XR: Frame Pacing, Bateria i Termika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1993392" cy="804672"/>
          </a:xfrm>
          <a:prstGeom prst="rect">
            <a:avLst/>
          </a:prstGeom>
          <a:solidFill>
            <a:srgbClr val="132840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143000"/>
            <a:ext cx="1993392" cy="5029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3444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CD4"/>
                </a:solidFill>
              </a:rPr>
              <a:t>72–120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4320" y="16276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Target FPS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1143000"/>
            <a:ext cx="1993392" cy="804672"/>
          </a:xfrm>
          <a:prstGeom prst="rect">
            <a:avLst/>
          </a:prstGeom>
          <a:solidFill>
            <a:srgbClr val="132840"/>
          </a:solidFill>
          <a:ln/>
        </p:spPr>
      </p:sp>
      <p:sp>
        <p:nvSpPr>
          <p:cNvPr id="12" name="Shape 10"/>
          <p:cNvSpPr/>
          <p:nvPr/>
        </p:nvSpPr>
        <p:spPr>
          <a:xfrm>
            <a:off x="2450592" y="1143000"/>
            <a:ext cx="1993392" cy="5029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3" name="Text 11"/>
          <p:cNvSpPr/>
          <p:nvPr/>
        </p:nvSpPr>
        <p:spPr>
          <a:xfrm>
            <a:off x="2450592" y="123444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1E8C"/>
                </a:solidFill>
              </a:rPr>
              <a:t>&lt;20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450592" y="16276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MTP Latencja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1143000"/>
            <a:ext cx="1993392" cy="804672"/>
          </a:xfrm>
          <a:prstGeom prst="rect">
            <a:avLst/>
          </a:prstGeom>
          <a:solidFill>
            <a:srgbClr val="132840"/>
          </a:solidFill>
          <a:ln/>
        </p:spPr>
      </p:sp>
      <p:sp>
        <p:nvSpPr>
          <p:cNvPr id="16" name="Shape 14"/>
          <p:cNvSpPr/>
          <p:nvPr/>
        </p:nvSpPr>
        <p:spPr>
          <a:xfrm>
            <a:off x="4626864" y="1143000"/>
            <a:ext cx="1993392" cy="5029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4626864" y="123444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CAF50"/>
                </a:solidFill>
              </a:rPr>
              <a:t>&lt;8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26864" y="16276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GPU Frame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03136" y="1143000"/>
            <a:ext cx="1993392" cy="804672"/>
          </a:xfrm>
          <a:prstGeom prst="rect">
            <a:avLst/>
          </a:prstGeom>
          <a:solidFill>
            <a:srgbClr val="132840"/>
          </a:solidFill>
          <a:ln/>
        </p:spPr>
      </p:sp>
      <p:sp>
        <p:nvSpPr>
          <p:cNvPr id="20" name="Shape 18"/>
          <p:cNvSpPr/>
          <p:nvPr/>
        </p:nvSpPr>
        <p:spPr>
          <a:xfrm>
            <a:off x="6803136" y="1143000"/>
            <a:ext cx="1993392" cy="50292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1" name="Text 19"/>
          <p:cNvSpPr/>
          <p:nvPr/>
        </p:nvSpPr>
        <p:spPr>
          <a:xfrm>
            <a:off x="6803136" y="123444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9800"/>
                </a:solidFill>
              </a:rPr>
              <a:t>45°C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803136" y="16276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Termika max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011680"/>
            <a:ext cx="4114800" cy="91440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011680"/>
            <a:ext cx="50292" cy="9144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06654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Frame Pacing i VSync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2286000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Android GameActivity + Swappy: synchronizacja do 72/90/120Hz. Bez Swappy: tearing/judder. Frame pacing variance &lt;2ms dla VR comfort.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017520"/>
            <a:ext cx="4114800" cy="91440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017520"/>
            <a:ext cx="50292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0723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LOD i Mesh Optimization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3291840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Draco compression: mesh 90% mniejszy. LOD0/1/2: zmniejsz poly gdy dalej. Billboards: 2D dla odległych obiektów. Texture atlasy: minimalizacja draw calls.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4114800" cy="91440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4023360"/>
            <a:ext cx="50292" cy="9144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07822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Batching i Instancing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297680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GPU Instancing: tysiące identycznych obiektów w 1 draw call (drzewa, kamienie). Dynamic batching: małe meshe. SRP Batcher (Unity): UBO per material.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2011680"/>
            <a:ext cx="4114800" cy="91440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2011680"/>
            <a:ext cx="50292" cy="91440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06654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Zarządzanie baterią AR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46320" y="2286000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ARCore: setFocusMode(FIXED) = wyłącz AF ciągły. Ogranicz planeFindingMode gdy planes już znalezione. Zmniejsz camera FPS z 60 do 30 gdy statyczna scena.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54880" y="3017520"/>
            <a:ext cx="4114800" cy="91440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017520"/>
            <a:ext cx="50292" cy="9144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30723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Thermal Throttling Prevention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46320" y="3291840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Android Thermal API: PowerManager.getThermalHeadroom(). Gdy &lt; 1.0: zredukuj FPS, wyłącz efekty. CpuHeadroom &gt; 0.5: pełna jakość. DTPM callback.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20/30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4612" y="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Bezpieczeństwo i Prywatność w XR: Dane Przestrzenne i GDPR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114800" cy="114300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50292" cy="11430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435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Dane Przestrzenne (Spatial Data)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463040"/>
            <a:ext cx="39776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Mapy 3D pomieszczeń = wrażliwe dane osobowe (RODO art.4). ARCore Cloud Anchors: szyfrowanie AES-256 w tranzycie. Apple Vision Pro: Room maps lokalnie na urządzeniu, niesynchronizowane z iCloud.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2423160"/>
            <a:ext cx="4114800" cy="114300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423160"/>
            <a:ext cx="50292" cy="11430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47802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Eye-Tracking Privacy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97480"/>
            <a:ext cx="39776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Dane ruchów oczu ujawniają: stan emocjonalny, zainteresowania, choroby (Alzheimer, ALS). Meta: dane gaze przechowywane on-device. Illinois BIPA: biometria wymaga zgody. GDPR = sensitive data.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3657600"/>
            <a:ext cx="4114800" cy="114300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57600"/>
            <a:ext cx="50292" cy="11430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71246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Deepfake i Prezencja Cyfrowa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931920"/>
            <a:ext cx="39776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Photorealistic avatars + voice cloning = tożsamość cyfrowa. EEA: Digital Identity Regulation. Watermarking C2PA dla treści AI. visionOS EyeSight: twarz nie jest w pełni cloneable w SDK.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4114800" cy="114300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188720"/>
            <a:ext cx="50292" cy="114300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2435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XR Phishing i Social Engineering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1463040"/>
            <a:ext cx="39776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Overlay AR na screen: bankowe UI fałszywe w AR. Typosquatting w Metaverse domenach. FIDO2/WebAuthn dla auth w XR. Biometric spoofing prevention: liveness detection.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0" y="2423160"/>
            <a:ext cx="4114800" cy="114300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423160"/>
            <a:ext cx="50292" cy="11430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47802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Regulacje i Certyfikacja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697480"/>
            <a:ext cx="39776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FCC SAR dla nadawania RF w HMD. CE Red Directive. HIPAA dla medical XR (FDA SaMD). CE/MDR dla XR terapeutycznego. ISO/IEC 30160: standardy bezp. XR (draft 2024).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21/30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4612" y="160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</a:rPr>
              <a:t>Studium</a:t>
            </a:r>
            <a:r>
              <a:rPr lang="en-US" sz="2000" b="1" dirty="0">
                <a:solidFill>
                  <a:srgbClr val="FFFFFF"/>
                </a:solidFill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</a:rPr>
              <a:t>p</a:t>
            </a:r>
            <a:r>
              <a:rPr lang="en-US" sz="2000" b="1" dirty="0" err="1" smtClean="0">
                <a:solidFill>
                  <a:srgbClr val="FFFFFF"/>
                </a:solidFill>
              </a:rPr>
              <a:t>rzypadku</a:t>
            </a:r>
            <a:r>
              <a:rPr lang="en-US" sz="2000" b="1" dirty="0">
                <a:solidFill>
                  <a:srgbClr val="FFFFFF"/>
                </a:solidFill>
              </a:rPr>
              <a:t>: Meta Quest 3 — architektura MR headset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749300"/>
            <a:ext cx="1993392" cy="804672"/>
          </a:xfrm>
          <a:prstGeom prst="rect">
            <a:avLst/>
          </a:prstGeom>
          <a:solidFill>
            <a:srgbClr val="132840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749300"/>
            <a:ext cx="1993392" cy="5029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81330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CD4"/>
                </a:solidFill>
              </a:rPr>
              <a:t>Snapdragon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BCD4"/>
                </a:solidFill>
              </a:rPr>
              <a:t>XR2 Gen2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127050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SoC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749300"/>
            <a:ext cx="1993392" cy="804672"/>
          </a:xfrm>
          <a:prstGeom prst="rect">
            <a:avLst/>
          </a:prstGeom>
          <a:solidFill>
            <a:srgbClr val="132840"/>
          </a:solidFill>
          <a:ln/>
        </p:spPr>
      </p:sp>
      <p:sp>
        <p:nvSpPr>
          <p:cNvPr id="12" name="Shape 10"/>
          <p:cNvSpPr/>
          <p:nvPr/>
        </p:nvSpPr>
        <p:spPr>
          <a:xfrm>
            <a:off x="2450592" y="749300"/>
            <a:ext cx="1993392" cy="5029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3" name="Text 11"/>
          <p:cNvSpPr/>
          <p:nvPr/>
        </p:nvSpPr>
        <p:spPr>
          <a:xfrm>
            <a:off x="2450592" y="81330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1E8C"/>
                </a:solidFill>
              </a:rPr>
              <a:t>8 GB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91E8C"/>
                </a:solidFill>
              </a:rPr>
              <a:t>LPDDR5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50592" y="127050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RAM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749300"/>
            <a:ext cx="1993392" cy="804672"/>
          </a:xfrm>
          <a:prstGeom prst="rect">
            <a:avLst/>
          </a:prstGeom>
          <a:solidFill>
            <a:srgbClr val="132840"/>
          </a:solidFill>
          <a:ln/>
        </p:spPr>
      </p:sp>
      <p:sp>
        <p:nvSpPr>
          <p:cNvPr id="16" name="Shape 14"/>
          <p:cNvSpPr/>
          <p:nvPr/>
        </p:nvSpPr>
        <p:spPr>
          <a:xfrm>
            <a:off x="4626864" y="749300"/>
            <a:ext cx="1993392" cy="5029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4626864" y="81330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AF50"/>
                </a:solidFill>
              </a:rPr>
              <a:t>2064×2208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4CAF50"/>
                </a:solidFill>
              </a:rPr>
              <a:t>per oko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26864" y="127050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Display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03136" y="749300"/>
            <a:ext cx="1993392" cy="804672"/>
          </a:xfrm>
          <a:prstGeom prst="rect">
            <a:avLst/>
          </a:prstGeom>
          <a:solidFill>
            <a:srgbClr val="132840"/>
          </a:solidFill>
          <a:ln/>
        </p:spPr>
      </p:sp>
      <p:sp>
        <p:nvSpPr>
          <p:cNvPr id="20" name="Shape 18"/>
          <p:cNvSpPr/>
          <p:nvPr/>
        </p:nvSpPr>
        <p:spPr>
          <a:xfrm>
            <a:off x="6803136" y="749300"/>
            <a:ext cx="1993392" cy="50292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1" name="Text 19"/>
          <p:cNvSpPr/>
          <p:nvPr/>
        </p:nvSpPr>
        <p:spPr>
          <a:xfrm>
            <a:off x="6803136" y="81330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800"/>
                </a:solidFill>
              </a:rPr>
              <a:t>90/120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9800"/>
                </a:solidFill>
              </a:rPr>
              <a:t>Hz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03136" y="127050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Refresh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1636268"/>
            <a:ext cx="4114800" cy="91440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1636268"/>
            <a:ext cx="50292" cy="9144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169113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Mixed Reality Passthrough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1910588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4 monochrome + 2 RGB kamery. 18ppd passthrough (pixel per degree). Depth estimation dla okkluzji. Color passthrough 1st w Quest.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2623820"/>
            <a:ext cx="4114800" cy="91440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623820"/>
            <a:ext cx="50292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26786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Inside-Out 6DoF Tracking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2898140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Bez stacji bazowych. 6DoF głowa + 6DoF kontrolery. Hand Tracking 2.0: 26 jointów. Camera-to-IMU kalibr. na urządzeniu.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3611372"/>
            <a:ext cx="4114800" cy="91440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611372"/>
            <a:ext cx="50292" cy="9144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66623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Pancake Optics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3885692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Fresnel → Pancake: 40% cieńszy headset. 3× odbicia via BS + polarizer. Ciemniejszy obraz (-30% transmisja). Eye-relief 0–7mm.</a:t>
            </a:r>
            <a:endParaRPr lang="en-US" sz="850" dirty="0"/>
          </a:p>
        </p:txBody>
      </p:sp>
      <p:grpSp>
        <p:nvGrpSpPr>
          <p:cNvPr id="44" name="Grupa 43"/>
          <p:cNvGrpSpPr/>
          <p:nvPr/>
        </p:nvGrpSpPr>
        <p:grpSpPr>
          <a:xfrm>
            <a:off x="4635500" y="1636268"/>
            <a:ext cx="4157980" cy="1901952"/>
            <a:chOff x="4754880" y="1636268"/>
            <a:chExt cx="4114800" cy="1901952"/>
          </a:xfrm>
        </p:grpSpPr>
        <p:sp>
          <p:nvSpPr>
            <p:cNvPr id="35" name="Shape 33"/>
            <p:cNvSpPr/>
            <p:nvPr/>
          </p:nvSpPr>
          <p:spPr>
            <a:xfrm>
              <a:off x="4754880" y="1636268"/>
              <a:ext cx="4114800" cy="914400"/>
            </a:xfrm>
            <a:prstGeom prst="rect">
              <a:avLst/>
            </a:prstGeom>
            <a:solidFill>
              <a:srgbClr val="132840"/>
            </a:solidFill>
            <a:ln/>
            <a:effectLst>
              <a:outerShdw blurRad="101600" dist="254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36" name="Shape 34"/>
            <p:cNvSpPr/>
            <p:nvPr/>
          </p:nvSpPr>
          <p:spPr>
            <a:xfrm>
              <a:off x="4754880" y="1636268"/>
              <a:ext cx="50292" cy="914400"/>
            </a:xfrm>
            <a:prstGeom prst="rect">
              <a:avLst/>
            </a:prstGeom>
            <a:solidFill>
              <a:srgbClr val="9C27B0"/>
            </a:solidFill>
            <a:ln/>
          </p:spPr>
        </p:sp>
        <p:sp>
          <p:nvSpPr>
            <p:cNvPr id="37" name="Text 35"/>
            <p:cNvSpPr/>
            <p:nvPr/>
          </p:nvSpPr>
          <p:spPr>
            <a:xfrm>
              <a:off x="4846320" y="1691132"/>
              <a:ext cx="3977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Snapdragon XR2 Gen2 specifics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4846320" y="1910588"/>
              <a:ext cx="3977640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B0C4D8"/>
                  </a:solidFill>
                </a:rPr>
                <a:t>4nm TSMC. CPU Kryo 780. Adreno 740. Hexagon DSP NPU ~15 TOPS. WiFi 6E (6GHz) Air Link 2.1 Gbps streaming z PC.</a:t>
              </a:r>
              <a:endParaRPr lang="en-US" sz="85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4754880" y="2623820"/>
              <a:ext cx="4114800" cy="914400"/>
            </a:xfrm>
            <a:prstGeom prst="rect">
              <a:avLst/>
            </a:prstGeom>
            <a:solidFill>
              <a:srgbClr val="132840"/>
            </a:solidFill>
            <a:ln/>
            <a:effectLst>
              <a:outerShdw blurRad="101600" dist="254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40" name="Shape 38"/>
            <p:cNvSpPr/>
            <p:nvPr/>
          </p:nvSpPr>
          <p:spPr>
            <a:xfrm>
              <a:off x="4754880" y="2623820"/>
              <a:ext cx="50292" cy="914400"/>
            </a:xfrm>
            <a:prstGeom prst="rect">
              <a:avLst/>
            </a:prstGeom>
            <a:solidFill>
              <a:srgbClr val="FF9800"/>
            </a:solidFill>
            <a:ln/>
          </p:spPr>
        </p:sp>
        <p:sp>
          <p:nvSpPr>
            <p:cNvPr id="41" name="Text 39"/>
            <p:cNvSpPr/>
            <p:nvPr/>
          </p:nvSpPr>
          <p:spPr>
            <a:xfrm>
              <a:off x="4846320" y="2678684"/>
              <a:ext cx="3977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Meta Horizon OS (Android base)</a:t>
              </a:r>
              <a:endParaRPr lang="en-US" sz="10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4846320" y="2898140"/>
              <a:ext cx="3977640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B0C4D8"/>
                  </a:solidFill>
                </a:rPr>
                <a:t>Android 12 AOSP fork. Meta XR SDK. OpenXR 1.0 conform. Spatial Anchors API. Presence Platform: Scene Understanding, Voice SDK.</a:t>
              </a:r>
              <a:endParaRPr lang="en-US" sz="850" dirty="0"/>
            </a:p>
          </p:txBody>
        </p:sp>
      </p:grpSp>
      <p:sp>
        <p:nvSpPr>
          <p:cNvPr id="43" name="Text 41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22/30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4612" y="160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</a:rPr>
              <a:t>Studium</a:t>
            </a:r>
            <a:r>
              <a:rPr lang="en-US" sz="2000" b="1" dirty="0">
                <a:solidFill>
                  <a:srgbClr val="FFFFFF"/>
                </a:solidFill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</a:rPr>
              <a:t>p</a:t>
            </a:r>
            <a:r>
              <a:rPr lang="en-US" sz="2000" b="1" dirty="0" err="1" smtClean="0">
                <a:solidFill>
                  <a:srgbClr val="FFFFFF"/>
                </a:solidFill>
              </a:rPr>
              <a:t>rzypadku</a:t>
            </a:r>
            <a:r>
              <a:rPr lang="en-US" sz="2000" b="1" dirty="0">
                <a:solidFill>
                  <a:srgbClr val="FFFFFF"/>
                </a:solidFill>
              </a:rPr>
              <a:t>: Apple Vision Pro </a:t>
            </a:r>
            <a:r>
              <a:rPr lang="pl-PL" sz="2000" b="1" dirty="0" smtClean="0">
                <a:solidFill>
                  <a:srgbClr val="FFFFFF"/>
                </a:solidFill>
              </a:rPr>
              <a:t>-</a:t>
            </a:r>
            <a:r>
              <a:rPr lang="en-US" sz="2000" b="1" dirty="0" smtClean="0">
                <a:solidFill>
                  <a:srgbClr val="FFFFFF"/>
                </a:solidFill>
              </a:rPr>
              <a:t> </a:t>
            </a:r>
            <a:r>
              <a:rPr lang="en-US" sz="2000" b="1" dirty="0">
                <a:solidFill>
                  <a:srgbClr val="FFFFFF"/>
                </a:solidFill>
              </a:rPr>
              <a:t>Spatial Computer</a:t>
            </a:r>
            <a:endParaRPr lang="en-US" sz="2000" dirty="0"/>
          </a:p>
        </p:txBody>
      </p:sp>
      <p:grpSp>
        <p:nvGrpSpPr>
          <p:cNvPr id="45" name="Grupa 44"/>
          <p:cNvGrpSpPr/>
          <p:nvPr/>
        </p:nvGrpSpPr>
        <p:grpSpPr>
          <a:xfrm>
            <a:off x="274320" y="736600"/>
            <a:ext cx="8525510" cy="3776472"/>
            <a:chOff x="274320" y="1143000"/>
            <a:chExt cx="8525510" cy="3776472"/>
          </a:xfrm>
        </p:grpSpPr>
        <p:sp>
          <p:nvSpPr>
            <p:cNvPr id="7" name="Shape 5"/>
            <p:cNvSpPr/>
            <p:nvPr/>
          </p:nvSpPr>
          <p:spPr>
            <a:xfrm>
              <a:off x="274320" y="1143000"/>
              <a:ext cx="1993392" cy="804672"/>
            </a:xfrm>
            <a:prstGeom prst="rect">
              <a:avLst/>
            </a:prstGeom>
            <a:solidFill>
              <a:srgbClr val="132840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274320" y="1143000"/>
              <a:ext cx="1993392" cy="50292"/>
            </a:xfrm>
            <a:prstGeom prst="rect">
              <a:avLst/>
            </a:prstGeom>
            <a:solidFill>
              <a:srgbClr val="E91E8C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274320" y="1207008"/>
              <a:ext cx="199339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E91E8C"/>
                  </a:solidFill>
                </a:rPr>
                <a:t>M2 + R1</a:t>
              </a:r>
              <a:endParaRPr lang="en-US" sz="14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274320" y="1664208"/>
              <a:ext cx="199339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B0C4D8"/>
                  </a:solidFill>
                </a:rPr>
                <a:t>Chip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2450592" y="1143000"/>
              <a:ext cx="1993392" cy="804672"/>
            </a:xfrm>
            <a:prstGeom prst="rect">
              <a:avLst/>
            </a:prstGeom>
            <a:solidFill>
              <a:srgbClr val="132840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2450592" y="1143000"/>
              <a:ext cx="1993392" cy="50292"/>
            </a:xfrm>
            <a:prstGeom prst="rect">
              <a:avLst/>
            </a:prstGeom>
            <a:solidFill>
              <a:srgbClr val="00BCD4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2450592" y="1207008"/>
              <a:ext cx="199339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0BCD4"/>
                  </a:solidFill>
                </a:rPr>
                <a:t>23M pix</a:t>
              </a:r>
              <a:endParaRPr lang="en-US" sz="1400" dirty="0"/>
            </a:p>
            <a:p>
              <a:pPr marL="0" indent="0" algn="ctr">
                <a:buNone/>
              </a:pPr>
              <a:r>
                <a:rPr lang="en-US" sz="1400" b="1" dirty="0">
                  <a:solidFill>
                    <a:srgbClr val="00BCD4"/>
                  </a:solidFill>
                </a:rPr>
                <a:t>per oko</a:t>
              </a:r>
              <a:endParaRPr lang="en-US" sz="1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2450592" y="1664208"/>
              <a:ext cx="199339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B0C4D8"/>
                  </a:solidFill>
                </a:rPr>
                <a:t>Display</a:t>
              </a:r>
              <a:endParaRPr lang="en-US" sz="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626864" y="1143000"/>
              <a:ext cx="1993392" cy="804672"/>
            </a:xfrm>
            <a:prstGeom prst="rect">
              <a:avLst/>
            </a:prstGeom>
            <a:solidFill>
              <a:srgbClr val="132840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4626864" y="1143000"/>
              <a:ext cx="1993392" cy="50292"/>
            </a:xfrm>
            <a:prstGeom prst="rect">
              <a:avLst/>
            </a:prstGeom>
            <a:solidFill>
              <a:srgbClr val="4CAF50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4626864" y="1207008"/>
              <a:ext cx="199339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4CAF50"/>
                  </a:solidFill>
                </a:rPr>
                <a:t>12 ms</a:t>
              </a:r>
              <a:endParaRPr lang="en-US" sz="1400" dirty="0"/>
            </a:p>
            <a:p>
              <a:pPr marL="0" indent="0" algn="ctr">
                <a:buNone/>
              </a:pPr>
              <a:r>
                <a:rPr lang="en-US" sz="1400" b="1" dirty="0">
                  <a:solidFill>
                    <a:srgbClr val="4CAF50"/>
                  </a:solidFill>
                </a:rPr>
                <a:t>R1→display</a:t>
              </a:r>
              <a:endParaRPr lang="en-US" sz="14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4626864" y="1664208"/>
              <a:ext cx="199339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B0C4D8"/>
                  </a:solidFill>
                </a:rPr>
                <a:t>Latencja</a:t>
              </a:r>
              <a:endParaRPr lang="en-US" sz="9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6803136" y="1143000"/>
              <a:ext cx="1993392" cy="804672"/>
            </a:xfrm>
            <a:prstGeom prst="rect">
              <a:avLst/>
            </a:prstGeom>
            <a:solidFill>
              <a:srgbClr val="132840"/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6803136" y="1143000"/>
              <a:ext cx="1993392" cy="50292"/>
            </a:xfrm>
            <a:prstGeom prst="rect">
              <a:avLst/>
            </a:prstGeom>
            <a:solidFill>
              <a:srgbClr val="FF9800"/>
            </a:solidFill>
            <a:ln/>
          </p:spPr>
        </p:sp>
        <p:sp>
          <p:nvSpPr>
            <p:cNvPr id="21" name="Text 19"/>
            <p:cNvSpPr/>
            <p:nvPr/>
          </p:nvSpPr>
          <p:spPr>
            <a:xfrm>
              <a:off x="6803136" y="1207008"/>
              <a:ext cx="199339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9800"/>
                  </a:solidFill>
                </a:rPr>
                <a:t>12 szt.</a:t>
              </a:r>
              <a:endParaRPr lang="en-US" sz="1400" dirty="0"/>
            </a:p>
            <a:p>
              <a:pPr marL="0" indent="0" algn="ctr">
                <a:buNone/>
              </a:pPr>
              <a:r>
                <a:rPr lang="en-US" sz="1400" b="1" dirty="0">
                  <a:solidFill>
                    <a:srgbClr val="FF9800"/>
                  </a:solidFill>
                </a:rPr>
                <a:t>+ 5 sensor.</a:t>
              </a:r>
              <a:endParaRPr lang="en-US" sz="1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803136" y="1664208"/>
              <a:ext cx="199339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B0C4D8"/>
                  </a:solidFill>
                </a:rPr>
                <a:t>Kamery</a:t>
              </a:r>
              <a:endParaRPr lang="en-US" sz="900" dirty="0"/>
            </a:p>
          </p:txBody>
        </p:sp>
        <p:grpSp>
          <p:nvGrpSpPr>
            <p:cNvPr id="44" name="Grupa 43"/>
            <p:cNvGrpSpPr/>
            <p:nvPr/>
          </p:nvGrpSpPr>
          <p:grpSpPr>
            <a:xfrm>
              <a:off x="287020" y="2029968"/>
              <a:ext cx="4156964" cy="2889504"/>
              <a:chOff x="274320" y="2029968"/>
              <a:chExt cx="4114800" cy="2889504"/>
            </a:xfrm>
          </p:grpSpPr>
          <p:sp>
            <p:nvSpPr>
              <p:cNvPr id="23" name="Shape 21"/>
              <p:cNvSpPr/>
              <p:nvPr/>
            </p:nvSpPr>
            <p:spPr>
              <a:xfrm>
                <a:off x="274320" y="2029968"/>
                <a:ext cx="4114800" cy="914400"/>
              </a:xfrm>
              <a:prstGeom prst="rect">
                <a:avLst/>
              </a:prstGeom>
              <a:solidFill>
                <a:srgbClr val="132840"/>
              </a:solidFill>
              <a:ln/>
              <a:effectLst>
                <a:outerShdw blurRad="101600" dist="25400" dir="8100000" algn="bl" rotWithShape="0">
                  <a:srgbClr val="000000">
                    <a:alpha val="25000"/>
                  </a:srgbClr>
                </a:outerShdw>
              </a:effectLst>
            </p:spPr>
          </p:sp>
          <p:sp>
            <p:nvSpPr>
              <p:cNvPr id="24" name="Shape 22"/>
              <p:cNvSpPr/>
              <p:nvPr/>
            </p:nvSpPr>
            <p:spPr>
              <a:xfrm>
                <a:off x="274320" y="2029968"/>
                <a:ext cx="50292" cy="914400"/>
              </a:xfrm>
              <a:prstGeom prst="rect">
                <a:avLst/>
              </a:prstGeom>
              <a:solidFill>
                <a:srgbClr val="E91E8C"/>
              </a:solidFill>
              <a:ln/>
            </p:spPr>
          </p:sp>
          <p:sp>
            <p:nvSpPr>
              <p:cNvPr id="25" name="Text 23"/>
              <p:cNvSpPr/>
              <p:nvPr/>
            </p:nvSpPr>
            <p:spPr>
              <a:xfrm>
                <a:off x="365760" y="2084832"/>
                <a:ext cx="3977640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</a:rPr>
                  <a:t>R1 Chip — Real-Time Processor</a:t>
                </a:r>
                <a:endParaRPr lang="en-US" sz="1000" dirty="0"/>
              </a:p>
            </p:txBody>
          </p:sp>
          <p:sp>
            <p:nvSpPr>
              <p:cNvPr id="26" name="Text 24"/>
              <p:cNvSpPr/>
              <p:nvPr/>
            </p:nvSpPr>
            <p:spPr>
              <a:xfrm>
                <a:off x="365760" y="2304288"/>
                <a:ext cx="3977640" cy="5852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50" dirty="0">
                    <a:solidFill>
                      <a:srgbClr val="B0C4D8"/>
                    </a:solidFill>
                  </a:rPr>
                  <a:t>Dedykowany koprocesor. Przetwarza: 12 kamer + 5 sensorów → display w 12ms. Streaming 4K per oko 90fps. Niższy od reaction time człowieka (250ms).</a:t>
                </a:r>
                <a:endParaRPr lang="en-US" sz="850" dirty="0"/>
              </a:p>
            </p:txBody>
          </p:sp>
          <p:sp>
            <p:nvSpPr>
              <p:cNvPr id="27" name="Shape 25"/>
              <p:cNvSpPr/>
              <p:nvPr/>
            </p:nvSpPr>
            <p:spPr>
              <a:xfrm>
                <a:off x="274320" y="3017520"/>
                <a:ext cx="4114800" cy="914400"/>
              </a:xfrm>
              <a:prstGeom prst="rect">
                <a:avLst/>
              </a:prstGeom>
              <a:solidFill>
                <a:srgbClr val="132840"/>
              </a:solidFill>
              <a:ln/>
              <a:effectLst>
                <a:outerShdw blurRad="101600" dist="25400" dir="8100000" algn="bl" rotWithShape="0">
                  <a:srgbClr val="000000">
                    <a:alpha val="25000"/>
                  </a:srgbClr>
                </a:outerShdw>
              </a:effectLst>
            </p:spPr>
          </p:sp>
          <p:sp>
            <p:nvSpPr>
              <p:cNvPr id="28" name="Shape 26"/>
              <p:cNvSpPr/>
              <p:nvPr/>
            </p:nvSpPr>
            <p:spPr>
              <a:xfrm>
                <a:off x="274320" y="3017520"/>
                <a:ext cx="50292" cy="914400"/>
              </a:xfrm>
              <a:prstGeom prst="rect">
                <a:avLst/>
              </a:prstGeom>
              <a:solidFill>
                <a:srgbClr val="00BCD4"/>
              </a:solidFill>
              <a:ln/>
            </p:spPr>
          </p:sp>
          <p:sp>
            <p:nvSpPr>
              <p:cNvPr id="29" name="Text 27"/>
              <p:cNvSpPr/>
              <p:nvPr/>
            </p:nvSpPr>
            <p:spPr>
              <a:xfrm>
                <a:off x="365760" y="3072384"/>
                <a:ext cx="3977640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</a:rPr>
                  <a:t>Micro-OLED Display</a:t>
                </a:r>
                <a:endParaRPr lang="en-US" sz="1000" dirty="0"/>
              </a:p>
            </p:txBody>
          </p:sp>
          <p:sp>
            <p:nvSpPr>
              <p:cNvPr id="30" name="Text 28"/>
              <p:cNvSpPr/>
              <p:nvPr/>
            </p:nvSpPr>
            <p:spPr>
              <a:xfrm>
                <a:off x="365760" y="3291840"/>
                <a:ext cx="3977640" cy="5852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50" dirty="0">
                    <a:solidFill>
                      <a:srgbClr val="B0C4D8"/>
                    </a:solidFill>
                  </a:rPr>
                  <a:t>Sony custom. 3391ppi. Tandem OLED stacked. 1600 nit HDR. Pancake lenses. Optical persona: renderuje awatar twarzy na EyeSight display.</a:t>
                </a:r>
                <a:endParaRPr lang="en-US" sz="850" dirty="0"/>
              </a:p>
            </p:txBody>
          </p:sp>
          <p:sp>
            <p:nvSpPr>
              <p:cNvPr id="31" name="Shape 29"/>
              <p:cNvSpPr/>
              <p:nvPr/>
            </p:nvSpPr>
            <p:spPr>
              <a:xfrm>
                <a:off x="274320" y="4005072"/>
                <a:ext cx="4114800" cy="914400"/>
              </a:xfrm>
              <a:prstGeom prst="rect">
                <a:avLst/>
              </a:prstGeom>
              <a:solidFill>
                <a:srgbClr val="132840"/>
              </a:solidFill>
              <a:ln/>
              <a:effectLst>
                <a:outerShdw blurRad="101600" dist="25400" dir="8100000" algn="bl" rotWithShape="0">
                  <a:srgbClr val="000000">
                    <a:alpha val="25000"/>
                  </a:srgbClr>
                </a:outerShdw>
              </a:effectLst>
            </p:spPr>
          </p:sp>
          <p:sp>
            <p:nvSpPr>
              <p:cNvPr id="32" name="Shape 30"/>
              <p:cNvSpPr/>
              <p:nvPr/>
            </p:nvSpPr>
            <p:spPr>
              <a:xfrm>
                <a:off x="274320" y="4005072"/>
                <a:ext cx="50292" cy="914400"/>
              </a:xfrm>
              <a:prstGeom prst="rect">
                <a:avLst/>
              </a:prstGeom>
              <a:solidFill>
                <a:srgbClr val="4CAF50"/>
              </a:solidFill>
              <a:ln/>
            </p:spPr>
          </p:sp>
          <p:sp>
            <p:nvSpPr>
              <p:cNvPr id="33" name="Text 31"/>
              <p:cNvSpPr/>
              <p:nvPr/>
            </p:nvSpPr>
            <p:spPr>
              <a:xfrm>
                <a:off x="365760" y="4059936"/>
                <a:ext cx="3977640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</a:rPr>
                  <a:t>EyeSight i Social Cues</a:t>
                </a:r>
                <a:endParaRPr lang="en-US" sz="1000" dirty="0"/>
              </a:p>
            </p:txBody>
          </p:sp>
          <p:sp>
            <p:nvSpPr>
              <p:cNvPr id="34" name="Text 32"/>
              <p:cNvSpPr/>
              <p:nvPr/>
            </p:nvSpPr>
            <p:spPr>
              <a:xfrm>
                <a:off x="365760" y="4279392"/>
                <a:ext cx="3977640" cy="5852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50" dirty="0">
                    <a:solidFill>
                      <a:srgbClr val="B0C4D8"/>
                    </a:solidFill>
                  </a:rPr>
                  <a:t>Widoczna twarz użytkownika innym. LEDs za szkłem: Immersed = ciemny, Present = twarz widoczna. Spatial Personas w FaceTime: hologram rozmówcy.</a:t>
                </a:r>
                <a:endParaRPr lang="en-US" sz="850" dirty="0"/>
              </a:p>
            </p:txBody>
          </p:sp>
        </p:grpSp>
        <p:grpSp>
          <p:nvGrpSpPr>
            <p:cNvPr id="3" name="Grupa 2"/>
            <p:cNvGrpSpPr/>
            <p:nvPr/>
          </p:nvGrpSpPr>
          <p:grpSpPr>
            <a:xfrm>
              <a:off x="4626864" y="2029968"/>
              <a:ext cx="4172966" cy="1901952"/>
              <a:chOff x="4685030" y="2029968"/>
              <a:chExt cx="4114800" cy="1901952"/>
            </a:xfrm>
          </p:grpSpPr>
          <p:sp>
            <p:nvSpPr>
              <p:cNvPr id="35" name="Shape 33"/>
              <p:cNvSpPr/>
              <p:nvPr/>
            </p:nvSpPr>
            <p:spPr>
              <a:xfrm>
                <a:off x="4685030" y="2029968"/>
                <a:ext cx="4114800" cy="914400"/>
              </a:xfrm>
              <a:prstGeom prst="rect">
                <a:avLst/>
              </a:prstGeom>
              <a:solidFill>
                <a:srgbClr val="132840"/>
              </a:solidFill>
              <a:ln/>
              <a:effectLst>
                <a:outerShdw blurRad="101600" dist="25400" dir="8100000" algn="bl" rotWithShape="0">
                  <a:srgbClr val="000000">
                    <a:alpha val="25000"/>
                  </a:srgbClr>
                </a:outerShdw>
              </a:effectLst>
            </p:spPr>
          </p:sp>
          <p:sp>
            <p:nvSpPr>
              <p:cNvPr id="36" name="Shape 34"/>
              <p:cNvSpPr/>
              <p:nvPr/>
            </p:nvSpPr>
            <p:spPr>
              <a:xfrm>
                <a:off x="4685030" y="2029968"/>
                <a:ext cx="50292" cy="914400"/>
              </a:xfrm>
              <a:prstGeom prst="rect">
                <a:avLst/>
              </a:prstGeom>
              <a:solidFill>
                <a:srgbClr val="9C27B0"/>
              </a:solidFill>
              <a:ln/>
            </p:spPr>
          </p:sp>
          <p:sp>
            <p:nvSpPr>
              <p:cNvPr id="37" name="Text 35"/>
              <p:cNvSpPr/>
              <p:nvPr/>
            </p:nvSpPr>
            <p:spPr>
              <a:xfrm>
                <a:off x="4776470" y="2084832"/>
                <a:ext cx="3977640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</a:rPr>
                  <a:t>visionOS Programming Model</a:t>
                </a:r>
                <a:endParaRPr lang="en-US" sz="1000" dirty="0"/>
              </a:p>
            </p:txBody>
          </p:sp>
          <p:sp>
            <p:nvSpPr>
              <p:cNvPr id="38" name="Text 36"/>
              <p:cNvSpPr/>
              <p:nvPr/>
            </p:nvSpPr>
            <p:spPr>
              <a:xfrm>
                <a:off x="4776470" y="2304288"/>
                <a:ext cx="3977640" cy="5852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50" dirty="0">
                    <a:solidFill>
                      <a:srgbClr val="B0C4D8"/>
                    </a:solidFill>
                  </a:rPr>
                  <a:t>WindowGroup (2D app), ImmersiveSpace (AR overlay), Full Immersive Space (VR). SwiftUI native. RealityView 3D. ARKit visionOS: Plane/Image/Object tracking.</a:t>
                </a:r>
                <a:endParaRPr lang="en-US" sz="850" dirty="0"/>
              </a:p>
            </p:txBody>
          </p:sp>
          <p:sp>
            <p:nvSpPr>
              <p:cNvPr id="39" name="Shape 37"/>
              <p:cNvSpPr/>
              <p:nvPr/>
            </p:nvSpPr>
            <p:spPr>
              <a:xfrm>
                <a:off x="4685030" y="3017520"/>
                <a:ext cx="4114800" cy="914400"/>
              </a:xfrm>
              <a:prstGeom prst="rect">
                <a:avLst/>
              </a:prstGeom>
              <a:solidFill>
                <a:srgbClr val="132840"/>
              </a:solidFill>
              <a:ln/>
              <a:effectLst>
                <a:outerShdw blurRad="101600" dist="25400" dir="8100000" algn="bl" rotWithShape="0">
                  <a:srgbClr val="000000">
                    <a:alpha val="25000"/>
                  </a:srgbClr>
                </a:outerShdw>
              </a:effectLst>
            </p:spPr>
          </p:sp>
          <p:sp>
            <p:nvSpPr>
              <p:cNvPr id="40" name="Shape 38"/>
              <p:cNvSpPr/>
              <p:nvPr/>
            </p:nvSpPr>
            <p:spPr>
              <a:xfrm>
                <a:off x="4685030" y="3017520"/>
                <a:ext cx="50292" cy="914400"/>
              </a:xfrm>
              <a:prstGeom prst="rect">
                <a:avLst/>
              </a:prstGeom>
              <a:solidFill>
                <a:srgbClr val="FF9800"/>
              </a:solidFill>
              <a:ln/>
            </p:spPr>
          </p:sp>
          <p:sp>
            <p:nvSpPr>
              <p:cNvPr id="41" name="Text 39"/>
              <p:cNvSpPr/>
              <p:nvPr/>
            </p:nvSpPr>
            <p:spPr>
              <a:xfrm>
                <a:off x="4776470" y="3072384"/>
                <a:ext cx="3977640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</a:rPr>
                  <a:t>Enterprise i Przyszłość</a:t>
                </a:r>
                <a:endParaRPr lang="en-US" sz="1000" dirty="0"/>
              </a:p>
            </p:txBody>
          </p:sp>
          <p:sp>
            <p:nvSpPr>
              <p:cNvPr id="42" name="Text 40"/>
              <p:cNvSpPr/>
              <p:nvPr/>
            </p:nvSpPr>
            <p:spPr>
              <a:xfrm>
                <a:off x="4776470" y="3291840"/>
                <a:ext cx="3977640" cy="5852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50" dirty="0">
                    <a:solidFill>
                      <a:srgbClr val="B0C4D8"/>
                    </a:solidFill>
                  </a:rPr>
                  <a:t>$3499 developer. DiagonalXR Enterprise: surgical guidance. Stryker HoloSuite. iPad Pro 11 jako companion. Rumorowany Vision Pro 2 @ $2000 w 2026.</a:t>
                </a:r>
                <a:endParaRPr lang="en-US" sz="850" dirty="0"/>
              </a:p>
            </p:txBody>
          </p:sp>
        </p:grpSp>
      </p:grpSp>
      <p:sp>
        <p:nvSpPr>
          <p:cNvPr id="43" name="Text 41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23/30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87020" y="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Ekosystem Narzędzi XR: Unity, Unreal, Godot i SDK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114800" cy="117043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50292" cy="117043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435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Unity XR Toolkit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463040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XR Interaction Toolkit 3.0. AR Foundation (ARCore+ARKit). XR Plugin Management. OpenXR native. Universal RP + URP: mobile-optimized rendering. Asset Store: 1000+ XR assets.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114800" cy="117043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50292" cy="117043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435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Unreal Engine 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463040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Lumen GI + Nanite dla high-end VR/PC. MetaXR SDK plugin. Niagara particles. Pixel Streaming XR. C++/Blueprint. Wymagania GPU znacznie wyższe niż Unity.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450592"/>
            <a:ext cx="4114800" cy="117043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450592"/>
            <a:ext cx="50292" cy="11704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50545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Godot 4 + GDExtension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724912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Open-source. XR Tools addon (official). OpenXR support built-in. GDNative dla ARCore. Lżejszy niż Unity/UE. Rosnące wsparcie community. WebXR out-of-box.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2450592"/>
            <a:ext cx="4114800" cy="117043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450592"/>
            <a:ext cx="50292" cy="1170432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50545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Snap Lens Studio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724912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AR lenses na Snapchat 300M+ DAU. Body tracking, face effects, world lenses. JavaScript + TypeScript. Connected Lens: multiplayer AR. Distribution: Camera Kit SDK.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712464"/>
            <a:ext cx="4114800" cy="117043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712464"/>
            <a:ext cx="50292" cy="1170432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76732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Meta Presence Platform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986784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Scene Understanding, Voice SDK, Interaction SDK, Body Tracking SDK, Avatar SDK. Horizon Worlds: social VR creator tool. OpenXR konformalny. Android Studio workflow.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3712464"/>
            <a:ext cx="4114800" cy="117043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712464"/>
            <a:ext cx="50292" cy="117043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376732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8th Wall / Niantic Lightship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986784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WebAR (WebXR): dowolna przeglądarka, AR bez instalacji aplikacji. Lightship ARDK: city-scale AR maps, shared AR, VPS. Pokémon GO infrastructure. Unity plugin.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24/30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3089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Spatial Audio w XR: HRTF, Ambisonics </a:t>
            </a:r>
            <a:r>
              <a:rPr lang="en-US" sz="2000" b="1" dirty="0" err="1">
                <a:solidFill>
                  <a:srgbClr val="FFFFFF"/>
                </a:solidFill>
              </a:rPr>
              <a:t>i</a:t>
            </a:r>
            <a:r>
              <a:rPr lang="en-US" sz="2000" b="1" dirty="0">
                <a:solidFill>
                  <a:srgbClr val="FFFFFF"/>
                </a:solidFill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</a:rPr>
              <a:t>i</a:t>
            </a:r>
            <a:r>
              <a:rPr lang="en-US" sz="2000" b="1" dirty="0" err="1" smtClean="0">
                <a:solidFill>
                  <a:srgbClr val="FFFFFF"/>
                </a:solidFill>
              </a:rPr>
              <a:t>mplementacja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937760" cy="361188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0" y="12527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CD4"/>
                </a:solidFill>
              </a:rPr>
              <a:t>Kotlin / ARCore Audio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4048" y="1353312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Google Resonance Audio SDK — spatial 3D audio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384048" y="1495044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build.gradle: implementation 'com.google.resonance.audio:sdk:1.0.0'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384048" y="1636776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384048" y="1778508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com.google.vr.sdk.audio.GvrAudioEngine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384048" y="1920240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384048" y="2061972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ARSoundManager(context: Context) {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384048" y="2203704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val audioEngine = GvrAudioEngine(context,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384048" y="2345436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GvrAudioEngine.RenderingMode.BINAURAL_HIGH_QUALITY)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384048" y="2487168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384048" y="2628900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 placeSound(glbAnchorPose: Pose): Int {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384048" y="2770632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 soundId = audioEngine.createSoundObject("footsteps.ogg")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384048" y="2912364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Pozycja dźwięku = pozycja obiektu AR w przestrzeni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384048" y="3054096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audioEngine.setSoundObjectPosition(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384048" y="3195828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soundId,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384048" y="3337560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glbAnchorPose.tx(),   // X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384048" y="3479292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glbAnchorPose.ty(),   // Y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384048" y="3621024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glbAnchorPose.tz()    // Z w układzie sceny AR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384048" y="3762756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384048" y="3904488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audioEngine.setSoundObjectDistanceRolloffModel(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384048" y="4046220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soundId,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384048" y="4187952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GvrAudioEngine.MaterialName.TRANSPARENT, 0f, 10f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384048" y="4329684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384048" y="4471416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audioEngine.playSound(soundId, /* looping = */ true)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384048" y="4613148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soundId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84048" y="4754880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384048" y="4896612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384048" y="5038344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 updateListenerPose(cameraPose: Pose) {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384048" y="5180076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audioEngine.setHeadPosition(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384048" y="5321808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cameraPose.tx(), cameraPose.ty(), cameraPose.tz())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384048" y="5463540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audioEngine.setHeadRotation(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384048" y="5605272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cameraPose.qx(), cameraPose.qy(), cameraPose.qz(), cameraPose.qw())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384048" y="5747004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audioEngine.update() // wywołaj co klatkę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384048" y="5888736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384048" y="6030468"/>
            <a:ext cx="46634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5349240" y="1234440"/>
            <a:ext cx="3520440" cy="80467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349240" y="1234440"/>
            <a:ext cx="50292" cy="80467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5" name="Text 43"/>
          <p:cNvSpPr/>
          <p:nvPr/>
        </p:nvSpPr>
        <p:spPr>
          <a:xfrm>
            <a:off x="5440680" y="12893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HRTF — Head Related Transfer Function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40680" y="150876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Filtr binauralny symulujący małżowiny uszne. Spersonalizowany HRTF = najlepszy przestrzenny. Apple AirPods Pro: pomiar ucha iPhone kamerą.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349240" y="2103120"/>
            <a:ext cx="3520440" cy="80467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349240" y="2103120"/>
            <a:ext cx="50292" cy="80467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49" name="Text 47"/>
          <p:cNvSpPr/>
          <p:nvPr/>
        </p:nvSpPr>
        <p:spPr>
          <a:xfrm>
            <a:off x="5440680" y="21579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Ambisonics (HOA)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40680" y="23774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Format dźwięku przestrzennego 360°. B-format 1st order: 4 kanały W/X/Y/Z. HOA 3rd order: 16 kanałów. YouTube 360 audio.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349240" y="2971800"/>
            <a:ext cx="3520440" cy="80467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349240" y="2971800"/>
            <a:ext cx="50292" cy="80467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3" name="Text 51"/>
          <p:cNvSpPr/>
          <p:nvPr/>
        </p:nvSpPr>
        <p:spPr>
          <a:xfrm>
            <a:off x="5440680" y="30266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Occlusion i Reverb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40680" y="324612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Resonance Audio: Room model (shoe-box model). Ray casting audio: ściana blokuje dźwięk. Materiał (beton = odbicie, tkanina = pochłanianie).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349240" y="3840480"/>
            <a:ext cx="3520440" cy="80467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349240" y="3840480"/>
            <a:ext cx="50292" cy="804672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57" name="Text 55"/>
          <p:cNvSpPr/>
          <p:nvPr/>
        </p:nvSpPr>
        <p:spPr>
          <a:xfrm>
            <a:off x="5440680" y="38953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Steam Audio (Valve)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440680" y="411480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Open-source. Convolution reverb z IR. GPU compute propagation. Unity + Unreal plugin. Geometry-aware reverb na podstawie mesh sceny.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25/30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93370" y="6885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 i Machine Learning w XR: Scene Understanding i Generative AI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114800" cy="112471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50292" cy="112471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435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Semantic Scene Segmentation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463040"/>
            <a:ext cx="3977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ARCore Scene Semantics API: 8 klas per piksel @30fps. DepthLab: depth + semantics → obiektowa okkluzja. Zastosowanie: 'umieść roślinę tylko na podłodze', 'nie zakrywaj okna'.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2414016"/>
            <a:ext cx="4114800" cy="112471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414016"/>
            <a:ext cx="50292" cy="112471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46888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Object Detection 3D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3977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YOLO3D + ARCore depth: bounding box 3D per obiektu. MediaPipe ObjectDetector na klatce z ARKit. Zastosowanie: AR etykietki na meblach, automatyczne anchory.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3639312"/>
            <a:ext cx="4114800" cy="112471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39312"/>
            <a:ext cx="50292" cy="112471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69417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Generative AI w Scenie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913632"/>
            <a:ext cx="3977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Stable Diffusion XL → texture inpainting AR surface. Spójne oświetlenie z LEA (Lighting Estimation). 3D object generation: text→GLTF (Shap-E, Point-E, Meshy AI).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4114800" cy="112471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188720"/>
            <a:ext cx="50292" cy="1124712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2435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NeRF i Gaussian Splatting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1463040"/>
            <a:ext cx="3977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Neural Radiance Fields: fotografuj pomieszczenie → 3D reprezentacja neural. 3D Gaussian Splatting 2023: 100× szybszy render vs NeRF. Polycam, KIRI Engine apps.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0" y="2414016"/>
            <a:ext cx="4114800" cy="112471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414016"/>
            <a:ext cx="50292" cy="1124712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46888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On-Device LLM w XR Asystencie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688336"/>
            <a:ext cx="3977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Llama 3.2 3B (INT4, ~800MB) na Snapdragon XR2 Gen2 (~60 tok/s). Spatial assistant: 'co to jest?' (obraz → vision LLM → odpowiedź). visionOS Siri AI integration.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26/30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84686" y="76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Wieloosobowe XR: Cloud Anchors, Networking i Metaverse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937760" cy="361188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8" name="Text 6"/>
          <p:cNvSpPr/>
          <p:nvPr/>
        </p:nvSpPr>
        <p:spPr>
          <a:xfrm>
            <a:off x="4773168" y="12527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CD4"/>
                </a:solidFill>
              </a:rPr>
              <a:t>Kotlin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4048" y="1353312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ARCore Cloud Anchors — multiplayer AR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84048" y="1506931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Krok 1: hostuj anchor w chmurze Google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84048" y="1660550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hostFuture = session.hostCloudAnchorAsync(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84048" y="1814170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localAnchor,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84048" y="1967789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ttlDays = 365,  // czas życia anchor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84048" y="2121408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cloudAnchorId, cloudState -&gt;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84048" y="2275027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(cloudState == Anchor.CloudAnchorState.SUCCESS) {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84048" y="2428646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Wyślij cloudAnchorId innym przez Firestore/RTDB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84048" y="2582266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firestore.collection("shared_anchors")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84048" y="2735885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.add(mapOf("anchorId" to cloudAnchorId,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84048" y="2889504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"roomId" to currentRoomId))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84048" y="3043123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84048" y="3196742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84048" y="3350362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84048" y="3503981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84048" y="3657600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Krok 2: resolwuj anchor u innych uczestników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84048" y="3811219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 resolveSharedAnchor(cloudAnchorId: String) {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84048" y="3964838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session.resolveCloudAnchorAsync(cloudAnchorId)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84048" y="4118458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anchor, cloudState -&gt;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84048" y="4272077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(cloudState == Anchor.CloudAnchorState.SUCCESS) {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84048" y="4425696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Anchor zresolvowany w tej samej lokalizacji fizycznej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84048" y="4579315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val sharedAnchorNode = AnchorNode(engine, anchor)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84048" y="4732934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Obaj użytkownicy widzą ten sam obiekt w tym samym miejscu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84048" y="4886554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arSceneView.scene.addChild(sharedAnchorNode)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84048" y="5040173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84048" y="5193792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84048" y="5347411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84048" y="5501030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84048" y="5654650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Krok 3: synchronizacja stanu obiektów — Photon/Mirror/Normcore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84048" y="5808269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Photon Fusion: RPCs + State Synchronization per NetworkObject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349240" y="1234440"/>
            <a:ext cx="3520440" cy="80467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349240" y="1234440"/>
            <a:ext cx="50292" cy="80467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1" name="Text 39"/>
          <p:cNvSpPr/>
          <p:nvPr/>
        </p:nvSpPr>
        <p:spPr>
          <a:xfrm>
            <a:off x="5440680" y="12893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Photon Fusion 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40680" y="150876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Dedicated servers, relay servers. Client-State Prediction + Server Reconciliation. Up to 100 graczy per session. WebGL + Android/iOS.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349240" y="2103120"/>
            <a:ext cx="3520440" cy="80467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349240" y="2103120"/>
            <a:ext cx="50292" cy="80467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45" name="Text 43"/>
          <p:cNvSpPr/>
          <p:nvPr/>
        </p:nvSpPr>
        <p:spPr>
          <a:xfrm>
            <a:off x="5440680" y="21579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Normcore (Normal Studio)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40680" y="23774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Abstracted networking: automatyczny state sync per GameObject. Rooms: join/leave. Voice: Normcore Voice. Prosty API dla XR.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349240" y="2971800"/>
            <a:ext cx="3520440" cy="80467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349240" y="2971800"/>
            <a:ext cx="50292" cy="80467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9" name="Text 47"/>
          <p:cNvSpPr/>
          <p:nvPr/>
        </p:nvSpPr>
        <p:spPr>
          <a:xfrm>
            <a:off x="5440680" y="30266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Geospatial Multiplayer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40680" y="324612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ARCore Geospatial API: GPS + VPS (Visual Positioning System z Street View). Outdoor city-scale shared AR. Pokémon GO backend.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349240" y="3840480"/>
            <a:ext cx="3520440" cy="804672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349240" y="3840480"/>
            <a:ext cx="50292" cy="804672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53" name="Text 51"/>
          <p:cNvSpPr/>
          <p:nvPr/>
        </p:nvSpPr>
        <p:spPr>
          <a:xfrm>
            <a:off x="5440680" y="38953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Metaverse i Standardy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40680" y="411480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Open Metaverse Standard (Khronos): OpenXR + OpenUSD + glTF + OpenVDB. Interoperability: przenoś awatary między światami.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27/30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87020" y="7414"/>
            <a:ext cx="84507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Testowanie i CI/CD dla Aplikacji XR: ARCore Playback, XCTest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114800" cy="114300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50292" cy="11430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435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ARCore Dataset Recording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463040"/>
            <a:ext cx="39776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ARCoreApk.createRecordingConfig(outputPath). Nagrywaj sesje AR do pliku .mp4 + metadata. Odtwarzaj na emulatorze lub innym telefonie. Reprodukowalne testy bez fizycznego środowiska.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2423160"/>
            <a:ext cx="4114800" cy="114300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423160"/>
            <a:ext cx="50292" cy="11430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47802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ARKit RecordReplayKit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97480"/>
            <a:ext cx="39776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ARWorldTrackingConfiguration + ARCapture. Eksportuj .arexperience. Testowanie w Xcode Simulator (ograniczone). Apple ARKit Testing: XCTest + ARSCNView mockowanie.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3657600"/>
            <a:ext cx="4114800" cy="114300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57600"/>
            <a:ext cx="50292" cy="11430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71246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Unity Test Framework XR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931920"/>
            <a:ext cx="39776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Unity Test Runner: Edit Mode + Play Mode tests. XR Simulation (Unity 2023): wirtualne środowisko AR. XR Interaction Toolkit Test Helpers. GitHub Actions: Ubuntu + GPU worker.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4114800" cy="114300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188720"/>
            <a:ext cx="50292" cy="114300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2435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Firebase Test Lab XR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1463040"/>
            <a:ext cx="39776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Google: fizyczne urządzenia w chmurze. Espresso testy na urządzeniach z ARCore. Remote testing Quest: Sideload + monkey test. Robo test: automatyczna eksploracja UI.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0" y="2423160"/>
            <a:ext cx="4114800" cy="114300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423160"/>
            <a:ext cx="50292" cy="11430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47802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XR Accessibility Testing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697480"/>
            <a:ext cx="39776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W3C XAUR (XR Accessibility User Requirements). Kontrast, wielkość elementów interaktywnych, alternatywy dla hand tracking. VR Motion Comfort Rating (komfort ruchu).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28/30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Architektura i Budowa Urządzeń Mobilnych  |  Informatyka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2614" y="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Przyszłość XR 2025–2030: AI Phone XR, Neural Interface i Spatial Web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4114800" cy="1207008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43000"/>
            <a:ext cx="50292" cy="120700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19786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Snapdragon XR2 Gen3 (2025)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417320"/>
            <a:ext cx="3977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100+ TOPS NPU, WiFi 7, 5G mmWave. Standalone 8K per eye VR. AI-powered scene understanding on-device. Meta Quest 4 / PICO 5.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114800" cy="1207008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43000"/>
            <a:ext cx="50292" cy="1207008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19786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Neural Interface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977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Neuralink N1 chip: 1024 elektrody, BCI. Meta: EMG opaska rąk (sygnały mięśniowe) → gesture input. Myoelectric gloves mainstream 2027.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441448"/>
            <a:ext cx="4114800" cy="1207008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441448"/>
            <a:ext cx="50292" cy="120700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4963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Light Field Display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715768"/>
            <a:ext cx="3977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Koniec z vergence-accommodation conflict. Focal Planes variable: 2 warstwy OLED + ML wypełnienie. Google CTRL Labs lensless display 2026.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2441448"/>
            <a:ext cx="4114800" cy="1207008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441448"/>
            <a:ext cx="50292" cy="1207008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4963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Spatial Web (3D Internet)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715768"/>
            <a:ext cx="3977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Open Metaverse Foundation: WebXR + OpenUSD + glTF. Każda strona www = przestrzeń 3D. Spatial commerce: try before buy. Apple Vision Pro Safari.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739896"/>
            <a:ext cx="4114800" cy="1207008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739896"/>
            <a:ext cx="50292" cy="1207008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7947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Avatar + Holograms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014216"/>
            <a:ext cx="3977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Photorealistic 3D hologram rozmówcy w AR glasses. Codec Avatars (Meta): neural rendering z 170 kamer. Real-time deepfake detector w HMD.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3739896"/>
            <a:ext cx="4114800" cy="1207008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739896"/>
            <a:ext cx="50292" cy="120700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37947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Smart Contact Lens (2028+)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4014216"/>
            <a:ext cx="3977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Mojo Vision: AR w soczewce kontaktowej. 14,000ppi micro-LED. Zasilanie bezprzewodowe. Sanity check: regulatory FDA Class III. Samsung patent.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29/30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0F1A"/>
          </a:solidFill>
          <a:ln/>
        </p:spPr>
      </p:sp>
      <p:sp>
        <p:nvSpPr>
          <p:cNvPr id="5" name="Text 3"/>
          <p:cNvSpPr/>
          <p:nvPr/>
        </p:nvSpPr>
        <p:spPr>
          <a:xfrm>
            <a:off x="337820" y="4826"/>
            <a:ext cx="8366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Podsumowanie i kluczowe wnioski wykładu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49630"/>
            <a:ext cx="4114800" cy="105156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9630"/>
            <a:ext cx="50292" cy="10515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0449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ARCore + ARKit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123950"/>
            <a:ext cx="3977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Natywne platformy AR: plane detection, anchors, depth, lighting. Google i Apple — dwie ścieżki, AR Foundation jako unifikacja.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849630"/>
            <a:ext cx="4114800" cy="105156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49630"/>
            <a:ext cx="50292" cy="105156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90449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OpenXR Standard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123950"/>
            <a:ext cx="3977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Jeden API dla wszystkich platform XR. Action system, extensions, runtime. Przyszłość przemysłu: fragmentacja kończy się.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992630"/>
            <a:ext cx="4114800" cy="105156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992630"/>
            <a:ext cx="50292" cy="10515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04749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Rendering XR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266950"/>
            <a:ext cx="3977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ATW, foveated rendering, multiview = kluczowe dla płynności. MTP &lt; 20ms obowiązkowe. Frame pacing ważniejszy niż peak FPS.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992630"/>
            <a:ext cx="4114800" cy="105156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992630"/>
            <a:ext cx="50292" cy="105156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04749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+ XR synnergia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266950"/>
            <a:ext cx="3977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Scene semantics, on-device LLM, Gaussian Splatting. AI przestaje być dodatkiem — staje się fundamentem spatial computing.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456432"/>
            <a:ext cx="8595360" cy="1389888"/>
          </a:xfrm>
          <a:prstGeom prst="rect">
            <a:avLst/>
          </a:prstGeom>
          <a:solidFill>
            <a:srgbClr val="091525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3456432"/>
            <a:ext cx="50292" cy="138988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4930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Kluczowe wnioski wykładu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3785616"/>
            <a:ext cx="91440" cy="91440"/>
          </a:xfrm>
          <a:prstGeom prst="line">
            <a:avLst/>
          </a:prstGeom>
          <a:solidFill>
            <a:srgbClr val="00BCD4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767328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XR = heterogeneous stack: sensor fusion + SLAM + rendering + networking + AI — każda warstwa ma znaczenie dla programisty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1480" y="4032504"/>
            <a:ext cx="91440" cy="91440"/>
          </a:xfrm>
          <a:prstGeom prst="line">
            <a:avLst/>
          </a:prstGeom>
          <a:solidFill>
            <a:srgbClr val="00BCD4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014216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ARCore (Android) i ARKit (iOS) to dojrzałe, produkcyjne platformy — pierwsze kroki AR wymagają &lt; 50 linii kodu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4279392"/>
            <a:ext cx="91440" cy="91440"/>
          </a:xfrm>
          <a:prstGeom prst="line">
            <a:avLst/>
          </a:prstGeom>
          <a:solidFill>
            <a:srgbClr val="00BCD4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261104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OpenXR unifikuje przemysł — nauka jednego API = wsparcie Quest, Valve, PSVR, HoloLens i kolejnych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11480" y="4526280"/>
            <a:ext cx="91440" cy="91440"/>
          </a:xfrm>
          <a:prstGeom prst="line">
            <a:avLst/>
          </a:prstGeom>
          <a:solidFill>
            <a:srgbClr val="00BCD4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507992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On-device AI (NPU 80+ TOPS) zmienia XR: scene understanding, AI avatary i LLM-powered asystenci spatial w 2025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60F1A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© Katedra Informatyki i Automatyki - Programowanie Aplikacji Mobilnych XR - v1.0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200400" y="4919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CD4"/>
                </a:solidFill>
              </a:rPr>
              <a:t>Koniec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46720" y="4937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9BBF"/>
                </a:solidFill>
              </a:rPr>
              <a:t>30/30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6202</Words>
  <Application>Microsoft Office PowerPoint</Application>
  <PresentationFormat>Pokaz na ekranie (16:9)</PresentationFormat>
  <Paragraphs>776</Paragraphs>
  <Slides>30</Slides>
  <Notes>30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30</vt:i4>
      </vt:variant>
    </vt:vector>
  </HeadingPairs>
  <TitlesOfParts>
    <vt:vector size="34" baseType="lpstr">
      <vt:lpstr>Arial</vt:lpstr>
      <vt:lpstr>Calibri</vt:lpstr>
      <vt:lpstr>Consolas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Programowanie Aplikacji Mobilnych XR</dc:title>
  <dc:subject>PptxGenJS Presentation</dc:subject>
  <dc:creator>Katedra Informatyki i Automatyki</dc:creator>
  <cp:lastModifiedBy>Mateusz Pomianek</cp:lastModifiedBy>
  <cp:revision>9</cp:revision>
  <dcterms:created xsi:type="dcterms:W3CDTF">2026-03-11T12:07:41Z</dcterms:created>
  <dcterms:modified xsi:type="dcterms:W3CDTF">2026-03-14T17:53:01Z</dcterms:modified>
</cp:coreProperties>
</file>