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B5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176" autoAdjust="0"/>
  </p:normalViewPr>
  <p:slideViewPr>
    <p:cSldViewPr snapToGrid="0" snapToObjects="1">
      <p:cViewPr varScale="1">
        <p:scale>
          <a:sx n="79" d="100"/>
          <a:sy n="79" d="100"/>
        </p:scale>
        <p:origin x="108" y="4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365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drugiego wykładu. Tym razem skupimy się na lokalizacji, </a:t>
            </a:r>
            <a:r>
              <a:rPr lang="pl-PL" dirty="0" err="1" smtClean="0"/>
              <a:t>odometrii</a:t>
            </a:r>
            <a:r>
              <a:rPr lang="pl-PL" dirty="0" smtClean="0"/>
              <a:t> i fuzji sensorycznej, czyli na tym, w jaki sposób robot estymuje własny stan i jak łączy różne źródła informacji, żeby nie zgubić się podczas ruchu.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Plan tego wykładu obejmuje trzy główne bloki. Najpierw omówimy estymację stanu, </a:t>
            </a:r>
            <a:r>
              <a:rPr lang="pl-PL" dirty="0" err="1" smtClean="0"/>
              <a:t>odometrię</a:t>
            </a:r>
            <a:r>
              <a:rPr lang="pl-PL" dirty="0" smtClean="0"/>
              <a:t> </a:t>
            </a:r>
            <a:r>
              <a:rPr lang="pl-PL" dirty="0" err="1" smtClean="0"/>
              <a:t>humanoida</a:t>
            </a:r>
            <a:r>
              <a:rPr lang="pl-PL" dirty="0" smtClean="0"/>
              <a:t>, dryft, </a:t>
            </a:r>
            <a:r>
              <a:rPr lang="pl-PL" dirty="0" err="1" smtClean="0"/>
              <a:t>dead</a:t>
            </a:r>
            <a:r>
              <a:rPr lang="pl-PL" dirty="0" smtClean="0"/>
              <a:t> </a:t>
            </a:r>
            <a:r>
              <a:rPr lang="pl-PL" dirty="0" err="1" smtClean="0"/>
              <a:t>reckoning</a:t>
            </a:r>
            <a:r>
              <a:rPr lang="pl-PL" dirty="0" smtClean="0"/>
              <a:t> i układy transformacji. Następnie przejdziemy do filtrów estymacyjnych, takich jak filtr komplementarny, EKF, UKF i filtr cząsteczkowy, oraz do fuzji IMU, </a:t>
            </a:r>
            <a:r>
              <a:rPr lang="pl-PL" dirty="0" err="1" smtClean="0"/>
              <a:t>enkoderów</a:t>
            </a:r>
            <a:r>
              <a:rPr lang="pl-PL" dirty="0" smtClean="0"/>
              <a:t> i wzroku. Na końcu zajmiemy się lokalizacją globalną i SLAM-em, w tym </a:t>
            </a:r>
            <a:r>
              <a:rPr lang="pl-PL" dirty="0" err="1" smtClean="0"/>
              <a:t>pose</a:t>
            </a:r>
            <a:r>
              <a:rPr lang="pl-PL" dirty="0" smtClean="0"/>
              <a:t> </a:t>
            </a:r>
            <a:r>
              <a:rPr lang="pl-PL" dirty="0" err="1" smtClean="0"/>
              <a:t>graphem</a:t>
            </a:r>
            <a:r>
              <a:rPr lang="pl-PL" dirty="0" smtClean="0"/>
              <a:t>, domykaniem pętli i doborem metody do zadania.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Zaczynamy od estymacji stanu robota. To jest fundament całej lokalizacji, bo zanim robot zacznie cokolwiek planować, musi w sensowny sposób odpowiedzieć sobie na pytanie: gdzie jestem i w jakim stanie dynamicznym się znajduję.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Stan robota humanoidalnego jest wielowymiarowy. Obejmuje pozycję i orientację w przestrzeni 3D, prędkości liniowe i kątowe, konfigurację stawów, stan kontaktu obu stóp, położenie środka masy oraz niepewność estymacji opisaną macierzą kowariancji. To bardzo ważne: w praktyce nie estymujemy tylko samej pozycji, ale cały pakiet zmiennych potrzebnych do stabilnego sterowania i wiarygodnego planowania.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Odometria</a:t>
            </a:r>
            <a:r>
              <a:rPr lang="pl-PL" dirty="0" smtClean="0"/>
              <a:t> </a:t>
            </a:r>
            <a:r>
              <a:rPr lang="pl-PL" dirty="0" err="1" smtClean="0"/>
              <a:t>humanoida</a:t>
            </a:r>
            <a:r>
              <a:rPr lang="pl-PL" dirty="0" smtClean="0"/>
              <a:t> jest trudniejsza niż </a:t>
            </a:r>
            <a:r>
              <a:rPr lang="pl-PL" dirty="0" err="1" smtClean="0"/>
              <a:t>odometria</a:t>
            </a:r>
            <a:r>
              <a:rPr lang="pl-PL" dirty="0" smtClean="0"/>
              <a:t> platformy kołowej. W robocie kołowym liczymy impulsy </a:t>
            </a:r>
            <a:r>
              <a:rPr lang="pl-PL" dirty="0" err="1" smtClean="0"/>
              <a:t>enkoderów</a:t>
            </a:r>
            <a:r>
              <a:rPr lang="pl-PL" dirty="0" smtClean="0"/>
              <a:t> i stosujemy proste równania kinematyczne. W </a:t>
            </a:r>
            <a:r>
              <a:rPr lang="pl-PL" dirty="0" err="1" smtClean="0"/>
              <a:t>humanoidzie</a:t>
            </a:r>
            <a:r>
              <a:rPr lang="pl-PL" dirty="0" smtClean="0"/>
              <a:t> musimy integrować kroki, IMU i kontakty stóp. Dryft wynika nie tylko z poślizgu, ale też z asymetrii kroków, wibracji tułowia i ugięć struktury. Dlatego </a:t>
            </a:r>
            <a:r>
              <a:rPr lang="pl-PL" dirty="0" err="1" smtClean="0"/>
              <a:t>odometria</a:t>
            </a:r>
            <a:r>
              <a:rPr lang="pl-PL" dirty="0" smtClean="0"/>
              <a:t> </a:t>
            </a:r>
            <a:r>
              <a:rPr lang="pl-PL" dirty="0" err="1" smtClean="0"/>
              <a:t>humanoida</a:t>
            </a:r>
            <a:r>
              <a:rPr lang="pl-PL" dirty="0" smtClean="0"/>
              <a:t> niemal zawsze wymaga korekcji zewnętrznej, na przykład przez wizję albo </a:t>
            </a:r>
            <a:r>
              <a:rPr lang="pl-PL" dirty="0" err="1" smtClean="0"/>
              <a:t>LiDAR</a:t>
            </a:r>
            <a:r>
              <a:rPr lang="pl-PL" dirty="0" smtClean="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Główne źródła błędów estymacji to kumulacja szumu przy całkowaniu, poślizg stopy, błędy kalibracji, szum żyroskopu, opóźnienia transmisji i uproszczenia modelu kinematycznego. Dochodzi też wpływ środowiska, na przykład miękkiej nawierzchni albo rampy, których model nie uwzględnia. Wszystkie te zjawiska powodują, że błąd lokalizacji narasta z czasem i bez korekty zewnętrznej nie da się go zatrzymać.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Dead</a:t>
            </a:r>
            <a:r>
              <a:rPr lang="pl-PL" dirty="0" smtClean="0"/>
              <a:t> </a:t>
            </a:r>
            <a:r>
              <a:rPr lang="pl-PL" dirty="0" err="1" smtClean="0"/>
              <a:t>reckoning</a:t>
            </a:r>
            <a:r>
              <a:rPr lang="pl-PL" dirty="0" smtClean="0"/>
              <a:t> to estymacja pozycji wyłącznie na podstawie modelu ruchu i pomiarów wewnętrznych, takich jak IMU i </a:t>
            </a:r>
            <a:r>
              <a:rPr lang="pl-PL" dirty="0" err="1" smtClean="0"/>
              <a:t>enkodery</a:t>
            </a:r>
            <a:r>
              <a:rPr lang="pl-PL" dirty="0" smtClean="0"/>
              <a:t>. W krótkim horyzoncie działa zaskakująco dobrze i bywa użyteczne jako rozwiązanie awaryjne. Problem polega na tym, że błąd rośnie wraz z czasem, szczególnie przez dryft orientacji. Po kilkudziesięciu sekundach marszu odchylenie pozycji może być już bardzo duże. Dlatego </a:t>
            </a:r>
            <a:r>
              <a:rPr lang="pl-PL" dirty="0" err="1" smtClean="0"/>
              <a:t>dead</a:t>
            </a:r>
            <a:r>
              <a:rPr lang="pl-PL" dirty="0" smtClean="0"/>
              <a:t> </a:t>
            </a:r>
            <a:r>
              <a:rPr lang="pl-PL" dirty="0" err="1" smtClean="0"/>
              <a:t>reckoning</a:t>
            </a:r>
            <a:r>
              <a:rPr lang="pl-PL" dirty="0" smtClean="0"/>
              <a:t> samo w sobie nie wystarcza i musi być wspierane przez zewnętrzne punkty odniesienia, SLAM albo znaczniki.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systemie lokalizacji kluczowe są trzy ramki: map, odom i </a:t>
            </a:r>
            <a:r>
              <a:rPr lang="pl-PL" dirty="0" err="1" smtClean="0"/>
              <a:t>base</a:t>
            </a:r>
            <a:r>
              <a:rPr lang="pl-PL" dirty="0" smtClean="0"/>
              <a:t>. Ramka map jest związana z mapą SLAM i może być korygowana skokowo przy domknięciu pętli. Ramka odom jest ciągła, ale dryfuje. Ramka </a:t>
            </a:r>
            <a:r>
              <a:rPr lang="pl-PL" dirty="0" err="1" smtClean="0"/>
              <a:t>base</a:t>
            </a:r>
            <a:r>
              <a:rPr lang="pl-PL" dirty="0" smtClean="0"/>
              <a:t> opisuje aktualne położenie bazy robota. Relacja odom do map to korekta globalna, a relacja </a:t>
            </a:r>
            <a:r>
              <a:rPr lang="pl-PL" dirty="0" err="1" smtClean="0"/>
              <a:t>base</a:t>
            </a:r>
            <a:r>
              <a:rPr lang="pl-PL" dirty="0" smtClean="0"/>
              <a:t> do odom to bieżąca </a:t>
            </a:r>
            <a:r>
              <a:rPr lang="pl-PL" dirty="0" err="1" smtClean="0"/>
              <a:t>odometria</a:t>
            </a:r>
            <a:r>
              <a:rPr lang="pl-PL" dirty="0" smtClean="0"/>
              <a:t>. W ROS-</a:t>
            </a:r>
            <a:r>
              <a:rPr lang="pl-PL" dirty="0" err="1" smtClean="0"/>
              <a:t>ie</a:t>
            </a:r>
            <a:r>
              <a:rPr lang="pl-PL" dirty="0" smtClean="0"/>
              <a:t> każda transformacja ma znacznik czasu i jest buforowana. Niespójne drzewo TF to jeden z najczęstszych praktycznych powodów awarii lokalizacji.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Kontakt stopy jest bardzo cennym źródłem informacji. Gdy stopa jest w fazie podparcia, może pełnić funkcję punktu odniesienia dla </a:t>
            </a:r>
            <a:r>
              <a:rPr lang="pl-PL" dirty="0" err="1" smtClean="0"/>
              <a:t>odometrii</a:t>
            </a:r>
            <a:r>
              <a:rPr lang="pl-PL" dirty="0" smtClean="0"/>
              <a:t>. Gdy jest w fazie przenoszenia, tej informacji nie mamy. Czujniki sił i momentów w stopach pozwalają wykryć kontakt przez próg siły pionowej. Na tej podstawie możemy budować kinematyczną </a:t>
            </a:r>
            <a:r>
              <a:rPr lang="pl-PL" dirty="0" err="1" smtClean="0"/>
              <a:t>odometrię</a:t>
            </a:r>
            <a:r>
              <a:rPr lang="pl-PL" dirty="0" smtClean="0"/>
              <a:t> kroków i korygować estymację bazy. W połączeniu z IMU daje to istotne ograniczenie dryftu translacji i orientacji.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Jakość lokalizacji oceniamy przez RMSE pozycji, błąd orientacji, dryft na minutę oraz spójność estymatora. Ta ostatnia cecha jest bardzo ważna, bo nie wystarczy mieć mały błąd. Estymator musi też poprawnie oceniać własną niepewność, a to sprawdzamy testami takimi jak NIS czy NEES.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przykład pokazuje najprostsze całkowanie prędkości kątowej z IMU. W każdej iteracji aktualizujemy </a:t>
            </a:r>
            <a:r>
              <a:rPr lang="pl-PL" dirty="0" err="1" smtClean="0"/>
              <a:t>roll</a:t>
            </a:r>
            <a:r>
              <a:rPr lang="pl-PL" dirty="0" smtClean="0"/>
              <a:t>, </a:t>
            </a:r>
            <a:r>
              <a:rPr lang="pl-PL" dirty="0" err="1" smtClean="0"/>
              <a:t>pitch</a:t>
            </a:r>
            <a:r>
              <a:rPr lang="pl-PL" dirty="0" smtClean="0"/>
              <a:t> i </a:t>
            </a:r>
            <a:r>
              <a:rPr lang="pl-PL" dirty="0" err="1" smtClean="0"/>
              <a:t>yaw</a:t>
            </a:r>
            <a:r>
              <a:rPr lang="pl-PL" dirty="0" smtClean="0"/>
              <a:t>, dodając iloczyn prędkości kątowej i kroku czasowego. To rozwiązanie jest bardzo szybkie i bardzo proste, ale ma jedną fundamentalną wadę: bez zewnętrznej korekty orientacja będzie dryfować. Ten kod dobrze ilustruje, dlaczego sam żyroskop nie wystarcza w dłuższym horyzoncie.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Prosty model </a:t>
            </a:r>
            <a:r>
              <a:rPr lang="pl-PL" dirty="0" err="1" smtClean="0"/>
              <a:t>odometrii</a:t>
            </a:r>
            <a:r>
              <a:rPr lang="pl-PL" dirty="0" smtClean="0"/>
              <a:t> kroku. Każdy krok aktualizuje orientację o delta </a:t>
            </a:r>
            <a:r>
              <a:rPr lang="pl-PL" dirty="0" err="1" smtClean="0"/>
              <a:t>yaw</a:t>
            </a:r>
            <a:r>
              <a:rPr lang="pl-PL" dirty="0" smtClean="0"/>
              <a:t>, a następnie pozycję x i y o długość kroku przemnożoną przez cosinus i sinus aktualnego kąta. To planarne uproszczenie, ale dobrze pokazuje zasadę, że trajektoria </a:t>
            </a:r>
            <a:r>
              <a:rPr lang="pl-PL" dirty="0" err="1" smtClean="0"/>
              <a:t>humanoida</a:t>
            </a:r>
            <a:r>
              <a:rPr lang="pl-PL" dirty="0" smtClean="0"/>
              <a:t> może być składana z kolejnych kroków. Jednocześnie łatwo zauważyć, jak nawet mały błąd </a:t>
            </a:r>
            <a:r>
              <a:rPr lang="pl-PL" dirty="0" err="1" smtClean="0"/>
              <a:t>yaw</a:t>
            </a:r>
            <a:r>
              <a:rPr lang="pl-PL" dirty="0" smtClean="0"/>
              <a:t> będzie z każdym krokiem wypychał pozycję coraz dalej od prawdy.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filtrów estymacyjnych i fuzji sensorycznej. To właśnie tutaj surowe źródła informacji są zamieniane w jedną spójną </a:t>
            </a:r>
            <a:r>
              <a:rPr lang="pl-PL" dirty="0" err="1" smtClean="0"/>
              <a:t>estymatę</a:t>
            </a:r>
            <a:r>
              <a:rPr lang="pl-PL" dirty="0" smtClean="0"/>
              <a:t> stanu robota.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Sensory łączymy z czterech głównych powodów. Po pierwsze komplementarność, bo jeden sensor jest szybki, a drugi stabilny. Po drugie redundancja, bo awaria pojedynczego źródła nie powinna zatrzymać całej lokalizacji. Po trzecie wzajemna korekta, na przykład kamera koryguje dryft IMU, a IMU stabilizuje estymację obrazu. Po czwarte pewność statystyczna, bo połączona </a:t>
            </a:r>
            <a:r>
              <a:rPr lang="pl-PL" dirty="0" err="1" smtClean="0"/>
              <a:t>estymata</a:t>
            </a:r>
            <a:r>
              <a:rPr lang="pl-PL" dirty="0" smtClean="0"/>
              <a:t> może mieć mniejszą niepewność niż każdy sensor osobno.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Filtr komplementarny jest intuicyjny i bardzo użyteczny. Łączy szybki, ale dryfujący żyroskop z wolniejszym, lecz stabilnym akcelerometrem. Parametr alfa ustala proporcję zaufania do obu źródeł. Dzięki temu żyroskop śledzi szybkie zmiany, a akcelerometr powoli koryguje dryft. Zaletą jest prostota i mały koszt obliczeniowy. Wadą — brak jawnej obsługi kowariancji i ograniczona możliwość modelowania pełnej dynamiki układu.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kodzie filtr komplementarny działa bardzo prosto. Najpierw wyznaczamy predykcję </a:t>
            </a:r>
            <a:r>
              <a:rPr lang="pl-PL" dirty="0" err="1" smtClean="0"/>
              <a:t>pitch</a:t>
            </a:r>
            <a:r>
              <a:rPr lang="pl-PL" dirty="0" smtClean="0"/>
              <a:t> z żyroskopu, potem niezależny pomiar kąta z akcelerometru i na końcu bierzemy ich ważoną średnią. Przy alfa około zero dziewięćdziesiąt osiem większość krótkoterminowej dynamiki bierze się z żyroskopu, a tylko niewielka domieszka pochodzi z akcelerometru, który stabilizuje wynik w dłuższym czasie.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Jeżeli porównamy EKF, UKF i filtr cząsteczkowy, to każdy z nich ma inny profil zastosowań. EKF jest szybki i od lat stanowi standard w robotyce mobilnej, ale opiera się na linearyzacji. UKF lepiej radzi sobie z nieliniowością, bo używa punktów sigma zamiast </a:t>
            </a:r>
            <a:r>
              <a:rPr lang="pl-PL" dirty="0" err="1" smtClean="0"/>
              <a:t>Jacobianów</a:t>
            </a:r>
            <a:r>
              <a:rPr lang="pl-PL" dirty="0" smtClean="0"/>
              <a:t>, lecz jest droższy obliczeniowo. Filtr cząsteczkowy reprezentuje rozkład przez wiele hipotez stanu i świetnie nadaje się do lokalizacji globalnej, jednak wymaga znacznie większych zasobów. Wybór filtru zawsze jest kompromisem między kosztem a jakością modelowania.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Filtr Kalmana pracuje w cyklu predykcja–korekcja. Najpierw model ruchu propaguje stan i kowariancję w przyszłość. Następnie przychodzi nowy pomiar obarczony szumem. Z różnicy między pomiarem a przewidywaniem powstaje innowacja. Potem liczymy wzmocnienie Kalmana, które określa, jak bardzo zaufać modelowi, a jak bardzo sensorowi. Na końcu aktualizujemy stan i kowariancję. To jest centralny mechanizm nowoczesnej fuzji sensorycznej.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Ten kod pokazuje uproszczony EKF dla pozycji 2D. W kroku </a:t>
            </a:r>
            <a:r>
              <a:rPr lang="pl-PL" dirty="0" err="1" smtClean="0"/>
              <a:t>predict</a:t>
            </a:r>
            <a:r>
              <a:rPr lang="pl-PL" dirty="0" smtClean="0"/>
              <a:t> model jednośladowy aktualizuje stan x, y i </a:t>
            </a:r>
            <a:r>
              <a:rPr lang="pl-PL" dirty="0" err="1" smtClean="0"/>
              <a:t>yaw</a:t>
            </a:r>
            <a:r>
              <a:rPr lang="pl-PL" dirty="0" smtClean="0"/>
              <a:t> na podstawie prędkości liniowej oraz kątowej, a macierz F linearyzuje wpływ </a:t>
            </a:r>
            <a:r>
              <a:rPr lang="pl-PL" dirty="0" err="1" smtClean="0"/>
              <a:t>yaw</a:t>
            </a:r>
            <a:r>
              <a:rPr lang="pl-PL" dirty="0" smtClean="0"/>
              <a:t> na ruch. W kroku </a:t>
            </a:r>
            <a:r>
              <a:rPr lang="pl-PL" dirty="0" err="1" smtClean="0"/>
              <a:t>correct</a:t>
            </a:r>
            <a:r>
              <a:rPr lang="pl-PL" dirty="0" smtClean="0"/>
              <a:t> używamy pomiaru pozycji, na przykład z GPS albo znacznika, aby skorygować przewidywanie. Właśnie tak w praktyce łączy się model ruchu z informacją pomiarową.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W pełnym systemie </a:t>
            </a:r>
            <a:r>
              <a:rPr lang="pl-PL" dirty="0" err="1" smtClean="0"/>
              <a:t>humanoida</a:t>
            </a:r>
            <a:r>
              <a:rPr lang="pl-PL" dirty="0" smtClean="0"/>
              <a:t> typowa architektura wygląda tak: IMU pracuje bardzo szybko i służy do predykcji stanu, </a:t>
            </a:r>
            <a:r>
              <a:rPr lang="pl-PL" dirty="0" err="1" smtClean="0"/>
              <a:t>enkodery</a:t>
            </a:r>
            <a:r>
              <a:rPr lang="pl-PL" dirty="0" smtClean="0"/>
              <a:t> wraz z kontaktami stóp korygują translację przez </a:t>
            </a:r>
            <a:r>
              <a:rPr lang="pl-PL" dirty="0" err="1" smtClean="0"/>
              <a:t>odometrię</a:t>
            </a:r>
            <a:r>
              <a:rPr lang="pl-PL" dirty="0" smtClean="0"/>
              <a:t> kroków, a kamera albo </a:t>
            </a:r>
            <a:r>
              <a:rPr lang="pl-PL" dirty="0" err="1" smtClean="0"/>
              <a:t>LiDAR</a:t>
            </a:r>
            <a:r>
              <a:rPr lang="pl-PL" dirty="0" smtClean="0"/>
              <a:t> dostarczają rzadszych, ale absolutnie kluczowych obserwacji pozycyjnych, które kasują skumulowany dryft. Można to spiąć architekturą </a:t>
            </a:r>
            <a:r>
              <a:rPr lang="pl-PL" dirty="0" err="1" smtClean="0"/>
              <a:t>loosely</a:t>
            </a:r>
            <a:r>
              <a:rPr lang="pl-PL" dirty="0" smtClean="0"/>
              <a:t> </a:t>
            </a:r>
            <a:r>
              <a:rPr lang="pl-PL" dirty="0" err="1" smtClean="0"/>
              <a:t>coupled</a:t>
            </a:r>
            <a:r>
              <a:rPr lang="pl-PL" dirty="0" smtClean="0"/>
              <a:t>, gdzie źródła dają osobne </a:t>
            </a:r>
            <a:r>
              <a:rPr lang="pl-PL" dirty="0" err="1" smtClean="0"/>
              <a:t>estymaty</a:t>
            </a:r>
            <a:r>
              <a:rPr lang="pl-PL" dirty="0" smtClean="0"/>
              <a:t>, albo </a:t>
            </a:r>
            <a:r>
              <a:rPr lang="pl-PL" dirty="0" err="1" smtClean="0"/>
              <a:t>tightly</a:t>
            </a:r>
            <a:r>
              <a:rPr lang="pl-PL" dirty="0" smtClean="0"/>
              <a:t> </a:t>
            </a:r>
            <a:r>
              <a:rPr lang="pl-PL" dirty="0" err="1" smtClean="0"/>
              <a:t>coupled</a:t>
            </a:r>
            <a:r>
              <a:rPr lang="pl-PL" dirty="0" smtClean="0"/>
              <a:t>, gdzie do jednego filtru trafiają surowe pomiary. Przy tym trzeba jeszcze uwzględnić opóźnienia i </a:t>
            </a:r>
            <a:r>
              <a:rPr lang="pl-PL" dirty="0" err="1" smtClean="0"/>
              <a:t>biasy</a:t>
            </a:r>
            <a:r>
              <a:rPr lang="pl-PL" dirty="0" smtClean="0"/>
              <a:t> IMU.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Dobry system lokalizacji musi również wykrywać awarie sensorów. Robi się to między innymi przez analizę innowacji. Jeśli różnica między pomiarem a przewidywaniem staje się statystycznie zbyt duża, uznajemy sensor za niewiarygodny. Wtedy system przechodzi w tryb degradacji, na przykład jedzie bez kamery albo wyłącza </a:t>
            </a:r>
            <a:r>
              <a:rPr lang="pl-PL" dirty="0" err="1" smtClean="0"/>
              <a:t>odometrię</a:t>
            </a:r>
            <a:r>
              <a:rPr lang="pl-PL" dirty="0" smtClean="0"/>
              <a:t> jednej stopy. Jednocześnie rośnie niepewność estymacji, co powinno znaleźć odbicie w macierzach Q i 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Przechodzimy do lokalizacji globalnej i SLAM-u. Teraz interesuje nas już nie tylko śledzenie ruchu lokalnie, ale również odnajdywanie się w znanym lub jednocześnie budowanym środowisku.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Lokalizacja względem znanej mapy polega na znalezieniu pozycji robota w już istniejącym modelu środowiska. Można to robić filtrem cząsteczkowym AMCL z obserwacjami </a:t>
            </a:r>
            <a:r>
              <a:rPr lang="pl-PL" dirty="0" err="1" smtClean="0"/>
              <a:t>LiDAR</a:t>
            </a:r>
            <a:r>
              <a:rPr lang="pl-PL" dirty="0" smtClean="0"/>
              <a:t>, dopasowaniem skanu 2D do mapy zajętości, ICP dla chmur 3D albo filtrem histogramowym. Warunkiem sukcesu jest aktualna mapa i środowisko z wystarczająco charakterystycznymi elementami. Jeśli robot zostanie przeniesiony w nieznane miejsce, pojawia się problem </a:t>
            </a:r>
            <a:r>
              <a:rPr lang="pl-PL" dirty="0" err="1" smtClean="0"/>
              <a:t>kidnapped</a:t>
            </a:r>
            <a:r>
              <a:rPr lang="pl-PL" dirty="0" smtClean="0"/>
              <a:t> robot i wtedy potrzebna jest inicjalizacja globalna.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ICP, czyli </a:t>
            </a:r>
            <a:r>
              <a:rPr lang="pl-PL" dirty="0" err="1" smtClean="0"/>
              <a:t>Iterative</a:t>
            </a:r>
            <a:r>
              <a:rPr lang="pl-PL" dirty="0" smtClean="0"/>
              <a:t> </a:t>
            </a:r>
            <a:r>
              <a:rPr lang="pl-PL" dirty="0" err="1" smtClean="0"/>
              <a:t>Closest</a:t>
            </a:r>
            <a:r>
              <a:rPr lang="pl-PL" dirty="0" smtClean="0"/>
              <a:t> Point, służy do znajdowania transformacji między dwiema chmurami punktów. Najpierw wyznaczamy korespondencje, potem obliczamy transformację minimalizującą błąd, aktualizujemy położenie i iterujemy do zbieżności. Metoda jest bardzo ważna, ale ma też swoje ograniczenia: bywa wolna i jest czuła na punkt startowy. Dlatego w praktyce stosuje się też warianty takie jak point-to-</a:t>
            </a:r>
            <a:r>
              <a:rPr lang="pl-PL" dirty="0" err="1" smtClean="0"/>
              <a:t>plane</a:t>
            </a:r>
            <a:r>
              <a:rPr lang="pl-PL" dirty="0" smtClean="0"/>
              <a:t> ICP albo GICP.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Odometria</a:t>
            </a:r>
            <a:r>
              <a:rPr lang="pl-PL" dirty="0" smtClean="0"/>
              <a:t> wizyjna może być </a:t>
            </a:r>
            <a:r>
              <a:rPr lang="pl-PL" dirty="0" err="1" smtClean="0"/>
              <a:t>monokularna</a:t>
            </a:r>
            <a:r>
              <a:rPr lang="pl-PL" dirty="0" smtClean="0"/>
              <a:t> albo stereofoniczna, ewentualnie RGB-D. W wersji </a:t>
            </a:r>
            <a:r>
              <a:rPr lang="pl-PL" dirty="0" err="1" smtClean="0"/>
              <a:t>monokularnej</a:t>
            </a:r>
            <a:r>
              <a:rPr lang="pl-PL" dirty="0" smtClean="0"/>
              <a:t> śledzimy cechy między klatkami i odzyskujemy ruch kamery, ale tracimy metryczną skalę. W stereo albo RGB-D skala jest bezpośrednio dostępna, więc dryft jest zwykle mniejszy. To właśnie dlatego systemy </a:t>
            </a:r>
            <a:r>
              <a:rPr lang="pl-PL" dirty="0" err="1" smtClean="0"/>
              <a:t>visual-inertial</a:t>
            </a:r>
            <a:r>
              <a:rPr lang="pl-PL" dirty="0" smtClean="0"/>
              <a:t> </a:t>
            </a:r>
            <a:r>
              <a:rPr lang="pl-PL" dirty="0" err="1" smtClean="0"/>
              <a:t>odometry</a:t>
            </a:r>
            <a:r>
              <a:rPr lang="pl-PL" dirty="0" smtClean="0"/>
              <a:t> tak często opierają się na stereo lub głębi, szczególnie wtedy, gdy zależy nam na stabilnej estymacji metrycznej.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SLAM to jednoczesna lokalizacja i mapowanie. Jest to problem sprzężony, bo dobra mapa wymaga dobrej lokalizacji, a dobra lokalizacja wymaga dobrej mapy. W wersji online system estymuje bieżącą pozycję i buduje mapę w czasie rzeczywistym. W wersji </a:t>
            </a:r>
            <a:r>
              <a:rPr lang="pl-PL" dirty="0" err="1" smtClean="0"/>
              <a:t>full</a:t>
            </a:r>
            <a:r>
              <a:rPr lang="pl-PL" dirty="0" smtClean="0"/>
              <a:t> SLAM optymalizujemy całą trajektorię i mapę również po zakończeniu przejazdu. Możemy robić to na danych z </a:t>
            </a:r>
            <a:r>
              <a:rPr lang="pl-PL" dirty="0" err="1" smtClean="0"/>
              <a:t>LiDAR</a:t>
            </a:r>
            <a:r>
              <a:rPr lang="pl-PL" dirty="0" smtClean="0"/>
              <a:t>-u albo kamery, a wynik trafia potem do planisty globalnego. Bez domknięcia pętli błąd rośnie wraz z odległością i może stać się bardzo duży.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err="1" smtClean="0"/>
              <a:t>Pose</a:t>
            </a:r>
            <a:r>
              <a:rPr lang="pl-PL" dirty="0" smtClean="0"/>
              <a:t> </a:t>
            </a:r>
            <a:r>
              <a:rPr lang="pl-PL" dirty="0" err="1" smtClean="0"/>
              <a:t>Graph</a:t>
            </a:r>
            <a:r>
              <a:rPr lang="pl-PL" dirty="0" smtClean="0"/>
              <a:t> SLAM ujmuje problem w formie grafu. Węzły reprezentują kolejne pozy robota, a krawędzie relacje między nimi: </a:t>
            </a:r>
            <a:r>
              <a:rPr lang="pl-PL" dirty="0" err="1" smtClean="0"/>
              <a:t>odometrię</a:t>
            </a:r>
            <a:r>
              <a:rPr lang="pl-PL" dirty="0" smtClean="0"/>
              <a:t>, dopasowanie ICP albo ograniczenia z wizji. Każda krawędź niesie też informację o niepewności. Optymalizacja grafu polega na minimalizacji sumy błędów wszystkich ograniczeń. Gdy wykryjemy powrót do wcześniej odwiedzonego miejsca, dodajemy nową krawędź i globalnie korygujemy cały przebieg trajektorii.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Domykanie pętli składa się z dwóch etapów. Najpierw trzeba wykryć, że wróciliśmy do znanego miejsca, na przykład przez </a:t>
            </a:r>
            <a:r>
              <a:rPr lang="pl-PL" dirty="0" err="1" smtClean="0"/>
              <a:t>bag</a:t>
            </a:r>
            <a:r>
              <a:rPr lang="pl-PL" dirty="0" smtClean="0"/>
              <a:t> of </a:t>
            </a:r>
            <a:r>
              <a:rPr lang="pl-PL" dirty="0" err="1" smtClean="0"/>
              <a:t>words</a:t>
            </a:r>
            <a:r>
              <a:rPr lang="pl-PL" dirty="0" smtClean="0"/>
              <a:t>, </a:t>
            </a:r>
            <a:r>
              <a:rPr lang="pl-PL" dirty="0" err="1" smtClean="0"/>
              <a:t>scan</a:t>
            </a:r>
            <a:r>
              <a:rPr lang="pl-PL" dirty="0" smtClean="0"/>
              <a:t> </a:t>
            </a:r>
            <a:r>
              <a:rPr lang="pl-PL" dirty="0" err="1" smtClean="0"/>
              <a:t>matching</a:t>
            </a:r>
            <a:r>
              <a:rPr lang="pl-PL" dirty="0" smtClean="0"/>
              <a:t> albo dopasowanie deskryptorów cech. Potem trzeba to jeszcze zweryfikować geometrycznie, często przez RANSAC. Jeśli wynik jest wiarygodny, dodajemy mocne ograniczenie do grafu i uruchamiamy optymalizację. Efekt jest taki, że skumulowany dryft rozkłada się po całej pętli, a mapa staje się globalnie spójna.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Tutaj widzą Państwo prostą korektę pozycji po detekcji znacznika. Zakładamy, że pozycja znacznika jest znana, porównujemy pomiar z przewidywaniem, obliczamy innowację, wzmocnienie Kalmana i aktualizujemy stan oraz kowariancję. To klasyczny przykład tego, jak pojedyncza, ale wiarygodna obserwacja zewnętrzna może wyzerować sporą część dryftu narosłego w </a:t>
            </a:r>
            <a:r>
              <a:rPr lang="pl-PL" dirty="0" err="1" smtClean="0"/>
              <a:t>odometrii</a:t>
            </a:r>
            <a:r>
              <a:rPr lang="pl-PL" dirty="0" smtClean="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Dobór metody lokalizacji zależy od zadania. W laboratorium zwykle wystarcza AMCL z </a:t>
            </a:r>
            <a:r>
              <a:rPr lang="pl-PL" dirty="0" err="1" smtClean="0"/>
              <a:t>LiDAR</a:t>
            </a:r>
            <a:r>
              <a:rPr lang="pl-PL" dirty="0" smtClean="0"/>
              <a:t>-em 2D. W biurze, gdzie środowisko się zmienia, lepiej sprawdza się SLAM online z dodatkowym wsparciem. W magazynie przydaje się </a:t>
            </a:r>
            <a:r>
              <a:rPr lang="pl-PL" dirty="0" err="1" smtClean="0"/>
              <a:t>visual</a:t>
            </a:r>
            <a:r>
              <a:rPr lang="pl-PL" dirty="0" smtClean="0"/>
              <a:t> SLAM i znaczniki na regałach. Na schodach potrzebujemy już 3D </a:t>
            </a:r>
            <a:r>
              <a:rPr lang="pl-PL" dirty="0" err="1" smtClean="0"/>
              <a:t>LiDAR</a:t>
            </a:r>
            <a:r>
              <a:rPr lang="pl-PL" dirty="0" smtClean="0"/>
              <a:t> SLAM albo RGB-D SLAM wraz z aktywną </a:t>
            </a:r>
            <a:r>
              <a:rPr lang="pl-PL" dirty="0" err="1" smtClean="0"/>
              <a:t>height</a:t>
            </a:r>
            <a:r>
              <a:rPr lang="pl-PL" dirty="0" smtClean="0"/>
              <a:t> mapą. W dynamicznym otoczeniu trzeba odrzucać ruchome obiekty, a na zewnątrz połączyć GPS z IMU i </a:t>
            </a:r>
            <a:r>
              <a:rPr lang="pl-PL" dirty="0" err="1" smtClean="0"/>
              <a:t>LiDAR</a:t>
            </a:r>
            <a:r>
              <a:rPr lang="pl-PL" dirty="0" smtClean="0"/>
              <a:t>-em. Nie istnieje jedna uniwersalna metoda dobra do wszystkiego.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l-PL" dirty="0" smtClean="0"/>
              <a:t>Podsumowując, dryft </a:t>
            </a:r>
            <a:r>
              <a:rPr lang="pl-PL" dirty="0" err="1" smtClean="0"/>
              <a:t>odometrii</a:t>
            </a:r>
            <a:r>
              <a:rPr lang="pl-PL" dirty="0" smtClean="0"/>
              <a:t> jest nieunikniony, więc potrzebujemy korekty z zewnętrznych sensorów albo ze SLAM-u. EKF i UKF pozostają podstawowymi narzędziami fuzji sensorycznej. Filtr cząsteczkowy jest bardzo silny przy wielomodalności i lokalizacji globalnej, choć droższy obliczeniowo. SLAM pozwala jednocześnie budować i korygować mapę, a domykanie pętli jest kluczowe dla eliminacji skumulowanego dryftu. Awarie sensorów wykrywamy przez analizę innowacji.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dirty="0" smtClean="0"/>
              <a:t>Na zakończenie proszę przemyśleć, dlaczego filtr komplementarny nie zastąpi EKF w pełnym systemie lokalizacji, jak zachowuje się wzmocnienie Kalmana przy bardzo dużym szumie pomiaru, czym jest NIS i jak wykrywa awarie sensora. Zadanie polega na implementacji </a:t>
            </a:r>
            <a:r>
              <a:rPr lang="pl-PL" dirty="0" err="1" smtClean="0"/>
              <a:t>odometrii</a:t>
            </a:r>
            <a:r>
              <a:rPr lang="pl-PL" dirty="0" smtClean="0"/>
              <a:t> kroku z pierwszej sekcji i porównaniu dryftu z oraz bez korekty EKF przy zaszumionym </a:t>
            </a:r>
            <a:r>
              <a:rPr lang="pl-PL" dirty="0" err="1" smtClean="0"/>
              <a:t>yaw</a:t>
            </a:r>
            <a:r>
              <a:rPr lang="pl-PL" dirty="0" smtClean="0"/>
              <a:t>. </a:t>
            </a:r>
            <a:r>
              <a:rPr lang="pl-PL" smtClean="0"/>
              <a:t>To bardzo dobre ćwiczenie, bo pokazuje różnicę między samą integracją a rzeczywistą fuzją sensoryczną.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0B4D8"/>
          </a:solidFill>
          <a:ln w="12700">
            <a:solidFill>
              <a:srgbClr val="00B4D8"/>
            </a:solidFill>
            <a:prstDash val="solid"/>
          </a:ln>
        </p:spPr>
      </p:sp>
      <p:sp>
        <p:nvSpPr>
          <p:cNvPr id="3" name="Shape 1"/>
          <p:cNvSpPr/>
          <p:nvPr/>
        </p:nvSpPr>
        <p:spPr>
          <a:xfrm>
            <a:off x="73152" y="0"/>
            <a:ext cx="9070848" cy="54864"/>
          </a:xfrm>
          <a:prstGeom prst="rect">
            <a:avLst/>
          </a:prstGeom>
          <a:solidFill>
            <a:srgbClr val="0077A8"/>
          </a:solidFill>
          <a:ln w="12700">
            <a:solidFill>
              <a:srgbClr val="0077A8"/>
            </a:solidFill>
            <a:prstDash val="solid"/>
          </a:ln>
        </p:spPr>
      </p:sp>
      <p:sp>
        <p:nvSpPr>
          <p:cNvPr id="4" name="Shape 2"/>
          <p:cNvSpPr/>
          <p:nvPr/>
        </p:nvSpPr>
        <p:spPr>
          <a:xfrm>
            <a:off x="6400800" y="914400"/>
            <a:ext cx="2194560" cy="2194560"/>
          </a:xfrm>
          <a:prstGeom prst="ellipse">
            <a:avLst/>
          </a:prstGeom>
          <a:solidFill>
            <a:srgbClr val="1A3550"/>
          </a:solidFill>
          <a:ln w="38100">
            <a:solidFill>
              <a:srgbClr val="00B4D8"/>
            </a:solidFill>
            <a:prstDash val="solid"/>
          </a:ln>
        </p:spPr>
      </p:sp>
      <p:pic>
        <p:nvPicPr>
          <p:cNvPr id="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6735708" y="1234440"/>
            <a:ext cx="1554480" cy="1554480"/>
          </a:xfrm>
          <a:prstGeom prst="rect">
            <a:avLst/>
          </a:prstGeom>
        </p:spPr>
      </p:pic>
      <p:sp>
        <p:nvSpPr>
          <p:cNvPr id="6" name="Text 3"/>
          <p:cNvSpPr/>
          <p:nvPr/>
        </p:nvSpPr>
        <p:spPr>
          <a:xfrm>
            <a:off x="320040" y="822960"/>
            <a:ext cx="5760720" cy="365760"/>
          </a:xfrm>
          <a:prstGeom prst="rect">
            <a:avLst/>
          </a:prstGeom>
          <a:noFill/>
          <a:ln/>
        </p:spPr>
        <p:txBody>
          <a:bodyPr wrap="square" lIns="0" tIns="0" rIns="0" bIns="0" rtlCol="0" anchor="ctr"/>
          <a:lstStyle/>
          <a:p>
            <a:pPr marL="0" indent="0">
              <a:buNone/>
            </a:pPr>
            <a:r>
              <a:rPr lang="en-US" sz="1100" b="1" kern="0" spc="300" dirty="0">
                <a:solidFill>
                  <a:srgbClr val="00B4D8"/>
                </a:solidFill>
                <a:latin typeface="Trebuchet MS" pitchFamily="34" charset="0"/>
                <a:ea typeface="Trebuchet MS" pitchFamily="34" charset="-122"/>
                <a:cs typeface="Trebuchet MS" pitchFamily="34" charset="-120"/>
              </a:rPr>
              <a:t>NAWIGACJA ROBOTÓW HUMANOIDALNYCH</a:t>
            </a:r>
            <a:endParaRPr lang="en-US" sz="1100" dirty="0"/>
          </a:p>
        </p:txBody>
      </p:sp>
      <p:sp>
        <p:nvSpPr>
          <p:cNvPr id="7" name="Text 4"/>
          <p:cNvSpPr/>
          <p:nvPr/>
        </p:nvSpPr>
        <p:spPr>
          <a:xfrm>
            <a:off x="320040" y="1280160"/>
            <a:ext cx="5760720" cy="64008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WYKŁAD 2</a:t>
            </a:r>
            <a:endParaRPr lang="en-US" sz="3200" dirty="0"/>
          </a:p>
        </p:txBody>
      </p:sp>
      <p:sp>
        <p:nvSpPr>
          <p:cNvPr id="8" name="Text 5"/>
          <p:cNvSpPr/>
          <p:nvPr/>
        </p:nvSpPr>
        <p:spPr>
          <a:xfrm>
            <a:off x="320040" y="1965960"/>
            <a:ext cx="5760720" cy="914400"/>
          </a:xfrm>
          <a:prstGeom prst="rect">
            <a:avLst/>
          </a:prstGeom>
          <a:noFill/>
          <a:ln/>
        </p:spPr>
        <p:txBody>
          <a:bodyPr wrap="square" lIns="0" tIns="0" rIns="0" bIns="0" rtlCol="0" anchor="ctr"/>
          <a:lstStyle/>
          <a:p>
            <a:pPr marL="0" indent="0">
              <a:buNone/>
            </a:pPr>
            <a:r>
              <a:rPr lang="en-US" sz="3200" b="1" dirty="0">
                <a:solidFill>
                  <a:srgbClr val="90E0EF"/>
                </a:solidFill>
                <a:latin typeface="Trebuchet MS" pitchFamily="34" charset="0"/>
                <a:ea typeface="Trebuchet MS" pitchFamily="34" charset="-122"/>
                <a:cs typeface="Trebuchet MS" pitchFamily="34" charset="-120"/>
              </a:rPr>
              <a:t>Lokalizacja, odometria
i fuzja sensoryczna</a:t>
            </a:r>
            <a:endParaRPr lang="en-US" sz="3200" dirty="0"/>
          </a:p>
        </p:txBody>
      </p:sp>
      <p:sp>
        <p:nvSpPr>
          <p:cNvPr id="9" name="Shape 6"/>
          <p:cNvSpPr/>
          <p:nvPr/>
        </p:nvSpPr>
        <p:spPr>
          <a:xfrm>
            <a:off x="320040" y="3017520"/>
            <a:ext cx="5760720" cy="27432"/>
          </a:xfrm>
          <a:prstGeom prst="rect">
            <a:avLst/>
          </a:prstGeom>
          <a:solidFill>
            <a:srgbClr val="00B4D8"/>
          </a:solidFill>
          <a:ln w="12700">
            <a:solidFill>
              <a:srgbClr val="00B4D8"/>
            </a:solidFill>
            <a:prstDash val="solid"/>
          </a:ln>
        </p:spPr>
      </p:sp>
      <p:sp>
        <p:nvSpPr>
          <p:cNvPr id="10" name="Text 7"/>
          <p:cNvSpPr/>
          <p:nvPr/>
        </p:nvSpPr>
        <p:spPr>
          <a:xfrm>
            <a:off x="320040" y="3118849"/>
            <a:ext cx="5760720" cy="184666"/>
          </a:xfrm>
          <a:prstGeom prst="rect">
            <a:avLst/>
          </a:prstGeom>
          <a:noFill/>
          <a:ln/>
        </p:spPr>
        <p:txBody>
          <a:bodyPr wrap="square" lIns="0" tIns="0" rIns="0" bIns="0" rtlCol="0" anchor="ctr">
            <a:spAutoFit/>
          </a:bodyPr>
          <a:lstStyle/>
          <a:p>
            <a:pPr marL="0" indent="0">
              <a:buNone/>
            </a:pPr>
            <a:r>
              <a:rPr lang="pl-PL" sz="1200" b="1" dirty="0" smtClean="0">
                <a:solidFill>
                  <a:srgbClr val="00B4D8"/>
                </a:solidFill>
                <a:latin typeface="Calibri" pitchFamily="34" charset="0"/>
                <a:ea typeface="Calibri" pitchFamily="34" charset="-122"/>
                <a:cs typeface="Calibri" pitchFamily="34" charset="-120"/>
              </a:rPr>
              <a:t>dr inż. Mateusz Pomianek</a:t>
            </a:r>
            <a:endParaRPr lang="en-US" sz="1200" dirty="0"/>
          </a:p>
        </p:txBody>
      </p:sp>
      <p:sp>
        <p:nvSpPr>
          <p:cNvPr id="11" name="Shape 8"/>
          <p:cNvSpPr/>
          <p:nvPr/>
        </p:nvSpPr>
        <p:spPr>
          <a:xfrm>
            <a:off x="320040" y="4114800"/>
            <a:ext cx="1325880" cy="548640"/>
          </a:xfrm>
          <a:prstGeom prst="rect">
            <a:avLst/>
          </a:prstGeom>
          <a:solidFill>
            <a:srgbClr val="1A3550"/>
          </a:solidFill>
          <a:ln w="12700">
            <a:solidFill>
              <a:srgbClr val="00B4D8"/>
            </a:solidFill>
            <a:prstDash val="solid"/>
          </a:ln>
        </p:spPr>
      </p:sp>
      <p:sp>
        <p:nvSpPr>
          <p:cNvPr id="12" name="Text 9"/>
          <p:cNvSpPr/>
          <p:nvPr/>
        </p:nvSpPr>
        <p:spPr>
          <a:xfrm>
            <a:off x="320040" y="4114800"/>
            <a:ext cx="1325880" cy="548640"/>
          </a:xfrm>
          <a:prstGeom prst="rect">
            <a:avLst/>
          </a:prstGeom>
          <a:noFill/>
          <a:ln/>
        </p:spPr>
        <p:txBody>
          <a:bodyPr wrap="square" lIns="0" tIns="0" rIns="0" bIns="0" rtlCol="0" anchor="ctr"/>
          <a:lstStyle/>
          <a:p>
            <a:pPr marL="0" indent="0" algn="ctr">
              <a:buNone/>
            </a:pPr>
            <a:r>
              <a:rPr lang="en-US" sz="1200" b="1" dirty="0">
                <a:solidFill>
                  <a:srgbClr val="90E0EF"/>
                </a:solidFill>
                <a:latin typeface="Trebuchet MS" pitchFamily="34" charset="0"/>
                <a:ea typeface="Trebuchet MS" pitchFamily="34" charset="-122"/>
                <a:cs typeface="Trebuchet MS" pitchFamily="34" charset="-120"/>
              </a:rPr>
              <a:t>Estymacja stanu</a:t>
            </a:r>
            <a:endParaRPr lang="en-US" sz="1200" dirty="0"/>
          </a:p>
        </p:txBody>
      </p:sp>
      <p:sp>
        <p:nvSpPr>
          <p:cNvPr id="13" name="Shape 10"/>
          <p:cNvSpPr/>
          <p:nvPr/>
        </p:nvSpPr>
        <p:spPr>
          <a:xfrm>
            <a:off x="1783080" y="4114800"/>
            <a:ext cx="1325880" cy="548640"/>
          </a:xfrm>
          <a:prstGeom prst="rect">
            <a:avLst/>
          </a:prstGeom>
          <a:solidFill>
            <a:srgbClr val="1A3550"/>
          </a:solidFill>
          <a:ln w="12700">
            <a:solidFill>
              <a:srgbClr val="00B4D8"/>
            </a:solidFill>
            <a:prstDash val="solid"/>
          </a:ln>
        </p:spPr>
      </p:sp>
      <p:sp>
        <p:nvSpPr>
          <p:cNvPr id="14" name="Text 11"/>
          <p:cNvSpPr/>
          <p:nvPr/>
        </p:nvSpPr>
        <p:spPr>
          <a:xfrm>
            <a:off x="1783080" y="4114800"/>
            <a:ext cx="1325880" cy="548640"/>
          </a:xfrm>
          <a:prstGeom prst="rect">
            <a:avLst/>
          </a:prstGeom>
          <a:noFill/>
          <a:ln/>
        </p:spPr>
        <p:txBody>
          <a:bodyPr wrap="square" lIns="0" tIns="0" rIns="0" bIns="0" rtlCol="0" anchor="ctr"/>
          <a:lstStyle/>
          <a:p>
            <a:pPr marL="0" indent="0" algn="ctr">
              <a:buNone/>
            </a:pPr>
            <a:r>
              <a:rPr lang="en-US" sz="1200" b="1" dirty="0">
                <a:solidFill>
                  <a:srgbClr val="90E0EF"/>
                </a:solidFill>
                <a:latin typeface="Trebuchet MS" pitchFamily="34" charset="0"/>
                <a:ea typeface="Trebuchet MS" pitchFamily="34" charset="-122"/>
                <a:cs typeface="Trebuchet MS" pitchFamily="34" charset="-120"/>
              </a:rPr>
              <a:t>Filtry EKF/UKF</a:t>
            </a:r>
            <a:endParaRPr lang="en-US" sz="1200" dirty="0"/>
          </a:p>
        </p:txBody>
      </p:sp>
      <p:sp>
        <p:nvSpPr>
          <p:cNvPr id="15" name="Shape 12"/>
          <p:cNvSpPr/>
          <p:nvPr/>
        </p:nvSpPr>
        <p:spPr>
          <a:xfrm>
            <a:off x="3246120" y="4114800"/>
            <a:ext cx="1325880" cy="548640"/>
          </a:xfrm>
          <a:prstGeom prst="rect">
            <a:avLst/>
          </a:prstGeom>
          <a:solidFill>
            <a:srgbClr val="1A3550"/>
          </a:solidFill>
          <a:ln w="12700">
            <a:solidFill>
              <a:srgbClr val="00B4D8"/>
            </a:solidFill>
            <a:prstDash val="solid"/>
          </a:ln>
        </p:spPr>
      </p:sp>
      <p:sp>
        <p:nvSpPr>
          <p:cNvPr id="16" name="Text 13"/>
          <p:cNvSpPr/>
          <p:nvPr/>
        </p:nvSpPr>
        <p:spPr>
          <a:xfrm>
            <a:off x="3246120" y="4114800"/>
            <a:ext cx="1325880" cy="548640"/>
          </a:xfrm>
          <a:prstGeom prst="rect">
            <a:avLst/>
          </a:prstGeom>
          <a:noFill/>
          <a:ln/>
        </p:spPr>
        <p:txBody>
          <a:bodyPr wrap="square" lIns="0" tIns="0" rIns="0" bIns="0" rtlCol="0" anchor="ctr"/>
          <a:lstStyle/>
          <a:p>
            <a:pPr marL="0" indent="0" algn="ctr">
              <a:buNone/>
            </a:pPr>
            <a:r>
              <a:rPr lang="en-US" sz="1400" b="1" dirty="0">
                <a:solidFill>
                  <a:srgbClr val="90E0EF"/>
                </a:solidFill>
                <a:latin typeface="Trebuchet MS" pitchFamily="34" charset="0"/>
                <a:ea typeface="Trebuchet MS" pitchFamily="34" charset="-122"/>
                <a:cs typeface="Trebuchet MS" pitchFamily="34" charset="-120"/>
              </a:rPr>
              <a:t>Fuzja sensoryczna</a:t>
            </a:r>
            <a:endParaRPr lang="en-US" sz="1400" dirty="0"/>
          </a:p>
        </p:txBody>
      </p:sp>
      <p:sp>
        <p:nvSpPr>
          <p:cNvPr id="17" name="Shape 14"/>
          <p:cNvSpPr/>
          <p:nvPr/>
        </p:nvSpPr>
        <p:spPr>
          <a:xfrm>
            <a:off x="4709160" y="4114800"/>
            <a:ext cx="1325880" cy="548640"/>
          </a:xfrm>
          <a:prstGeom prst="rect">
            <a:avLst/>
          </a:prstGeom>
          <a:solidFill>
            <a:srgbClr val="1A3550"/>
          </a:solidFill>
          <a:ln w="12700">
            <a:solidFill>
              <a:srgbClr val="00B4D8"/>
            </a:solidFill>
            <a:prstDash val="solid"/>
          </a:ln>
        </p:spPr>
      </p:sp>
      <p:sp>
        <p:nvSpPr>
          <p:cNvPr id="18" name="Text 15"/>
          <p:cNvSpPr/>
          <p:nvPr/>
        </p:nvSpPr>
        <p:spPr>
          <a:xfrm>
            <a:off x="4709160" y="4114800"/>
            <a:ext cx="1325880" cy="548640"/>
          </a:xfrm>
          <a:prstGeom prst="rect">
            <a:avLst/>
          </a:prstGeom>
          <a:noFill/>
          <a:ln/>
        </p:spPr>
        <p:txBody>
          <a:bodyPr wrap="square" lIns="0" tIns="0" rIns="0" bIns="0" rtlCol="0" anchor="ctr"/>
          <a:lstStyle/>
          <a:p>
            <a:pPr marL="0" indent="0" algn="ctr">
              <a:buNone/>
            </a:pPr>
            <a:r>
              <a:rPr lang="en-US" sz="1600" b="1" dirty="0">
                <a:solidFill>
                  <a:srgbClr val="90E0EF"/>
                </a:solidFill>
                <a:latin typeface="Trebuchet MS" pitchFamily="34" charset="0"/>
                <a:ea typeface="Trebuchet MS" pitchFamily="34" charset="-122"/>
                <a:cs typeface="Trebuchet MS" pitchFamily="34" charset="-120"/>
              </a:rPr>
              <a:t>SLAM</a:t>
            </a:r>
            <a:endParaRPr lang="en-US" sz="1600" dirty="0"/>
          </a:p>
        </p:txBody>
      </p:sp>
      <p:sp>
        <p:nvSpPr>
          <p:cNvPr id="19" name="Text 7"/>
          <p:cNvSpPr/>
          <p:nvPr/>
        </p:nvSpPr>
        <p:spPr>
          <a:xfrm>
            <a:off x="130624" y="4951731"/>
            <a:ext cx="1988263" cy="153888"/>
          </a:xfrm>
          <a:prstGeom prst="rect">
            <a:avLst/>
          </a:prstGeom>
          <a:noFill/>
          <a:ln/>
        </p:spPr>
        <p:txBody>
          <a:bodyPr wrap="square" lIns="0" tIns="0" rIns="0" bIns="0" rtlCol="0" anchor="ctr">
            <a:spAutoFit/>
          </a:bodyPr>
          <a:lstStyle/>
          <a:p>
            <a:pPr marL="0" indent="0">
              <a:buNone/>
            </a:pPr>
            <a:r>
              <a:rPr lang="pl-PL" sz="1000" dirty="0" smtClean="0">
                <a:solidFill>
                  <a:schemeClr val="accent1">
                    <a:lumMod val="50000"/>
                  </a:schemeClr>
                </a:solidFill>
                <a:latin typeface="Calibri" pitchFamily="34" charset="0"/>
                <a:ea typeface="Calibri" pitchFamily="34" charset="-122"/>
                <a:cs typeface="Calibri" pitchFamily="34" charset="-120"/>
              </a:rPr>
              <a:t>v1.0.1</a:t>
            </a:r>
            <a:endParaRPr lang="en-US" sz="1000" dirty="0">
              <a:solidFill>
                <a:schemeClr val="accent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WPROWADZENIE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Plan wykładu</a:t>
            </a:r>
            <a:endParaRPr lang="en-US" sz="2800" dirty="0"/>
          </a:p>
        </p:txBody>
      </p:sp>
      <p:sp>
        <p:nvSpPr>
          <p:cNvPr id="6" name="Shape 4"/>
          <p:cNvSpPr/>
          <p:nvPr/>
        </p:nvSpPr>
        <p:spPr>
          <a:xfrm>
            <a:off x="27432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1</a:t>
            </a:r>
            <a:endParaRPr lang="en-US" sz="2400" dirty="0"/>
          </a:p>
        </p:txBody>
      </p:sp>
      <p:sp>
        <p:nvSpPr>
          <p:cNvPr id="9" name="Text 7"/>
          <p:cNvSpPr/>
          <p:nvPr/>
        </p:nvSpPr>
        <p:spPr>
          <a:xfrm>
            <a:off x="605511" y="1808885"/>
            <a:ext cx="3641990"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Estymacja stanu: odometria humanoida, dryft, dead reckoning, układy transformacji</a:t>
            </a:r>
            <a:endParaRPr lang="en-US" sz="1600" spc="-40" dirty="0"/>
          </a:p>
        </p:txBody>
      </p:sp>
      <p:sp>
        <p:nvSpPr>
          <p:cNvPr id="10" name="Shape 8"/>
          <p:cNvSpPr/>
          <p:nvPr/>
        </p:nvSpPr>
        <p:spPr>
          <a:xfrm>
            <a:off x="470916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2</a:t>
            </a:r>
            <a:endParaRPr lang="en-US" sz="2400" dirty="0"/>
          </a:p>
        </p:txBody>
      </p:sp>
      <p:sp>
        <p:nvSpPr>
          <p:cNvPr id="13" name="Text 11"/>
          <p:cNvSpPr/>
          <p:nvPr/>
        </p:nvSpPr>
        <p:spPr>
          <a:xfrm>
            <a:off x="4809895" y="1808885"/>
            <a:ext cx="3875049"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Filtry estymacyjne: komplementarny, EKF, UKF, cząsteczkowy, fuzja IMU+enkodery+wzrok</a:t>
            </a:r>
            <a:endParaRPr lang="en-US" sz="1600" spc="-40" dirty="0"/>
          </a:p>
        </p:txBody>
      </p:sp>
      <p:sp>
        <p:nvSpPr>
          <p:cNvPr id="14" name="Shape 12"/>
          <p:cNvSpPr/>
          <p:nvPr/>
        </p:nvSpPr>
        <p:spPr>
          <a:xfrm>
            <a:off x="27432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Sekcja 3</a:t>
            </a:r>
            <a:endParaRPr lang="en-US" sz="2400" dirty="0"/>
          </a:p>
        </p:txBody>
      </p:sp>
      <p:sp>
        <p:nvSpPr>
          <p:cNvPr id="17" name="Text 15"/>
          <p:cNvSpPr/>
          <p:nvPr/>
        </p:nvSpPr>
        <p:spPr>
          <a:xfrm>
            <a:off x="605511" y="3637685"/>
            <a:ext cx="3367670"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Lokalizacja globalna, SLAM, pose graph, domykanie pętli, dobór metody</a:t>
            </a:r>
            <a:endParaRPr lang="en-US" sz="1600" spc="-40" dirty="0"/>
          </a:p>
        </p:txBody>
      </p:sp>
      <p:sp>
        <p:nvSpPr>
          <p:cNvPr id="18" name="Shape 16"/>
          <p:cNvSpPr/>
          <p:nvPr/>
        </p:nvSpPr>
        <p:spPr>
          <a:xfrm>
            <a:off x="470916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sz="2400" b="1" dirty="0">
                <a:solidFill>
                  <a:srgbClr val="0D1B2A"/>
                </a:solidFill>
                <a:latin typeface="Trebuchet MS" pitchFamily="34" charset="0"/>
                <a:ea typeface="Trebuchet MS" pitchFamily="34" charset="-122"/>
                <a:cs typeface="Trebuchet MS" pitchFamily="34" charset="-120"/>
              </a:rPr>
              <a:t>Kody Python</a:t>
            </a:r>
            <a:endParaRPr lang="en-US" sz="2400" dirty="0"/>
          </a:p>
        </p:txBody>
      </p:sp>
      <p:sp>
        <p:nvSpPr>
          <p:cNvPr id="21" name="Text 19"/>
          <p:cNvSpPr/>
          <p:nvPr/>
        </p:nvSpPr>
        <p:spPr>
          <a:xfrm>
            <a:off x="4854500" y="3637685"/>
            <a:ext cx="3905452" cy="930402"/>
          </a:xfrm>
          <a:prstGeom prst="rect">
            <a:avLst/>
          </a:prstGeom>
          <a:noFill/>
          <a:ln/>
        </p:spPr>
        <p:txBody>
          <a:bodyPr wrap="square" lIns="0" tIns="0" rIns="0" bIns="0" rtlCol="0" anchor="ctr"/>
          <a:lstStyle/>
          <a:p>
            <a:pPr marL="0" indent="0">
              <a:lnSpc>
                <a:spcPct val="150000"/>
              </a:lnSpc>
              <a:buNone/>
            </a:pPr>
            <a:r>
              <a:rPr lang="en-US" sz="1600" spc="-40" dirty="0">
                <a:solidFill>
                  <a:srgbClr val="475569"/>
                </a:solidFill>
                <a:latin typeface="Calibri" pitchFamily="34" charset="0"/>
                <a:ea typeface="Calibri" pitchFamily="34" charset="-122"/>
                <a:cs typeface="Calibri" pitchFamily="34" charset="-120"/>
              </a:rPr>
              <a:t>Całkowanie IMU, odometria kroku, filtr komplementarny, EKF 2D, korekta z landmarkiem</a:t>
            </a:r>
            <a:endParaRPr lang="en-US" sz="1600" spc="-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01</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600" b="1" dirty="0">
                <a:solidFill>
                  <a:srgbClr val="FFFFFF"/>
                </a:solidFill>
                <a:latin typeface="Trebuchet MS" pitchFamily="34" charset="0"/>
                <a:ea typeface="Trebuchet MS" pitchFamily="34" charset="-122"/>
                <a:cs typeface="Trebuchet MS" pitchFamily="34" charset="-120"/>
              </a:rPr>
              <a:t>Estymacja stanu</a:t>
            </a:r>
            <a:endParaRPr lang="en-US" sz="3600" dirty="0"/>
          </a:p>
          <a:p>
            <a:pPr marL="0" indent="0">
              <a:buNone/>
            </a:pPr>
            <a:r>
              <a:rPr lang="en-US" sz="3600" b="1" dirty="0">
                <a:solidFill>
                  <a:srgbClr val="FFFFFF"/>
                </a:solidFill>
                <a:latin typeface="Trebuchet MS" pitchFamily="34" charset="0"/>
                <a:ea typeface="Trebuchet MS" pitchFamily="34" charset="-122"/>
                <a:cs typeface="Trebuchet MS" pitchFamily="34" charset="-120"/>
              </a:rPr>
              <a:t>robota</a:t>
            </a:r>
            <a:endParaRPr lang="en-US" sz="36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Odometria, dryft, dead reckoning i układy transformacji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STAN ROBOTA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Czym jest stan robota humanoidalnego?</a:t>
            </a:r>
            <a:endParaRPr lang="en-US" sz="2800" dirty="0"/>
          </a:p>
        </p:txBody>
      </p:sp>
      <p:sp>
        <p:nvSpPr>
          <p:cNvPr id="6" name="Shape 4"/>
          <p:cNvSpPr/>
          <p:nvPr/>
        </p:nvSpPr>
        <p:spPr>
          <a:xfrm>
            <a:off x="27432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Pozycja i orientacja</a:t>
            </a:r>
            <a:endParaRPr lang="en-US" sz="2000" dirty="0"/>
          </a:p>
        </p:txBody>
      </p:sp>
      <p:sp>
        <p:nvSpPr>
          <p:cNvPr id="9" name="Text 7"/>
          <p:cNvSpPr/>
          <p:nvPr/>
        </p:nvSpPr>
        <p:spPr>
          <a:xfrm>
            <a:off x="38404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x, y, z [m] oraz kąty roll, pitch, yaw [rad] w przestrzeni 3D</a:t>
            </a:r>
            <a:endParaRPr lang="en-US" sz="1400" spc="-20" dirty="0"/>
          </a:p>
        </p:txBody>
      </p:sp>
      <p:sp>
        <p:nvSpPr>
          <p:cNvPr id="10" name="Shape 8"/>
          <p:cNvSpPr/>
          <p:nvPr/>
        </p:nvSpPr>
        <p:spPr>
          <a:xfrm>
            <a:off x="315468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Prędkości</a:t>
            </a:r>
            <a:endParaRPr lang="en-US" sz="2000" dirty="0"/>
          </a:p>
        </p:txBody>
      </p:sp>
      <p:sp>
        <p:nvSpPr>
          <p:cNvPr id="13" name="Text 11"/>
          <p:cNvSpPr/>
          <p:nvPr/>
        </p:nvSpPr>
        <p:spPr>
          <a:xfrm>
            <a:off x="326440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liniowa v [m/s] i kątowa ω [rad/s</a:t>
            </a:r>
            <a:r>
              <a:rPr lang="en-US" sz="1400" spc="-20" dirty="0" smtClean="0">
                <a:solidFill>
                  <a:srgbClr val="475569"/>
                </a:solidFill>
                <a:latin typeface="Calibri" pitchFamily="34" charset="0"/>
                <a:ea typeface="Calibri" pitchFamily="34" charset="-122"/>
                <a:cs typeface="Calibri" pitchFamily="34" charset="-120"/>
              </a:rPr>
              <a:t>]</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wejście do modelu predykcji</a:t>
            </a:r>
            <a:endParaRPr lang="en-US" sz="1400" spc="-20" dirty="0"/>
          </a:p>
        </p:txBody>
      </p:sp>
      <p:sp>
        <p:nvSpPr>
          <p:cNvPr id="14" name="Shape 12"/>
          <p:cNvSpPr/>
          <p:nvPr/>
        </p:nvSpPr>
        <p:spPr>
          <a:xfrm>
            <a:off x="603504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Konfiguracja stawów</a:t>
            </a:r>
            <a:endParaRPr lang="en-US" sz="2000" dirty="0"/>
          </a:p>
        </p:txBody>
      </p:sp>
      <p:sp>
        <p:nvSpPr>
          <p:cNvPr id="17" name="Text 15"/>
          <p:cNvSpPr/>
          <p:nvPr/>
        </p:nvSpPr>
        <p:spPr>
          <a:xfrm>
            <a:off x="6144768" y="18534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Kąty q(t) [rad</a:t>
            </a:r>
            <a:r>
              <a:rPr lang="en-US" sz="1400" spc="-20" dirty="0" smtClean="0">
                <a:solidFill>
                  <a:srgbClr val="475569"/>
                </a:solidFill>
                <a:latin typeface="Calibri" pitchFamily="34" charset="0"/>
                <a:ea typeface="Calibri" pitchFamily="34" charset="-122"/>
                <a:cs typeface="Calibri" pitchFamily="34" charset="-120"/>
              </a:rPr>
              <a:t>]</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kinematyka prosta, Jacobian, zakres ruchu nóg</a:t>
            </a:r>
            <a:endParaRPr lang="en-US" sz="1400" spc="-20" dirty="0"/>
          </a:p>
        </p:txBody>
      </p:sp>
      <p:sp>
        <p:nvSpPr>
          <p:cNvPr id="18" name="Shape 16"/>
          <p:cNvSpPr/>
          <p:nvPr/>
        </p:nvSpPr>
        <p:spPr>
          <a:xfrm>
            <a:off x="27432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971800"/>
            <a:ext cx="2651760" cy="54864"/>
          </a:xfrm>
          <a:prstGeom prst="rect">
            <a:avLst/>
          </a:prstGeom>
          <a:solidFill>
            <a:srgbClr val="006490"/>
          </a:solidFill>
          <a:ln w="12700">
            <a:solidFill>
              <a:srgbClr val="006490"/>
            </a:solidFill>
            <a:prstDash val="solid"/>
          </a:ln>
        </p:spPr>
      </p:sp>
      <p:sp>
        <p:nvSpPr>
          <p:cNvPr id="20" name="Text 18"/>
          <p:cNvSpPr/>
          <p:nvPr/>
        </p:nvSpPr>
        <p:spPr>
          <a:xfrm>
            <a:off x="38404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Stan kontaktu stóp</a:t>
            </a:r>
            <a:endParaRPr lang="en-US" sz="2000" dirty="0"/>
          </a:p>
        </p:txBody>
      </p:sp>
      <p:sp>
        <p:nvSpPr>
          <p:cNvPr id="21" name="Text 19"/>
          <p:cNvSpPr/>
          <p:nvPr/>
        </p:nvSpPr>
        <p:spPr>
          <a:xfrm>
            <a:off x="384048" y="36822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Lewa/prawa stopa: podparta </a:t>
            </a:r>
            <a:r>
              <a:rPr lang="en-US" sz="1400" spc="-20" dirty="0" err="1">
                <a:solidFill>
                  <a:srgbClr val="475569"/>
                </a:solidFill>
                <a:latin typeface="Calibri" pitchFamily="34" charset="0"/>
                <a:ea typeface="Calibri" pitchFamily="34" charset="-122"/>
                <a:cs typeface="Calibri" pitchFamily="34" charset="-120"/>
              </a:rPr>
              <a:t>czy</a:t>
            </a:r>
            <a:r>
              <a:rPr lang="en-US" sz="1400" spc="-20" dirty="0">
                <a:solidFill>
                  <a:srgbClr val="475569"/>
                </a:solidFill>
                <a:latin typeface="Calibri" pitchFamily="34" charset="0"/>
                <a:ea typeface="Calibri" pitchFamily="34" charset="-122"/>
                <a:cs typeface="Calibri" pitchFamily="34" charset="-120"/>
              </a:rPr>
              <a:t> </a:t>
            </a:r>
            <a:r>
              <a:rPr lang="pl-PL" sz="1400" spc="-20" dirty="0" smtClean="0">
                <a:solidFill>
                  <a:srgbClr val="475569"/>
                </a:solidFill>
                <a:latin typeface="Calibri" pitchFamily="34" charset="0"/>
                <a:ea typeface="Calibri" pitchFamily="34" charset="-122"/>
                <a:cs typeface="Calibri" pitchFamily="34" charset="-120"/>
              </a:rPr>
              <a:t/>
            </a:r>
            <a:br>
              <a:rPr lang="pl-PL" sz="1400" spc="-20" dirty="0" smtClean="0">
                <a:solidFill>
                  <a:srgbClr val="475569"/>
                </a:solidFill>
                <a:latin typeface="Calibri" pitchFamily="34" charset="0"/>
                <a:ea typeface="Calibri" pitchFamily="34" charset="-122"/>
                <a:cs typeface="Calibri" pitchFamily="34" charset="-120"/>
              </a:rPr>
            </a:br>
            <a:r>
              <a:rPr lang="en-US" sz="1400" spc="-20" dirty="0" smtClean="0">
                <a:solidFill>
                  <a:srgbClr val="475569"/>
                </a:solidFill>
                <a:latin typeface="Calibri" pitchFamily="34" charset="0"/>
                <a:ea typeface="Calibri" pitchFamily="34" charset="-122"/>
                <a:cs typeface="Calibri" pitchFamily="34" charset="-120"/>
              </a:rPr>
              <a:t>w </a:t>
            </a:r>
            <a:r>
              <a:rPr lang="en-US" sz="1400" spc="-20" dirty="0">
                <a:solidFill>
                  <a:srgbClr val="475569"/>
                </a:solidFill>
                <a:latin typeface="Calibri" pitchFamily="34" charset="0"/>
                <a:ea typeface="Calibri" pitchFamily="34" charset="-122"/>
                <a:cs typeface="Calibri" pitchFamily="34" charset="-120"/>
              </a:rPr>
              <a:t>locie? Kluczowe dla odometrii</a:t>
            </a:r>
            <a:endParaRPr lang="en-US" sz="1400" spc="-20" dirty="0"/>
          </a:p>
        </p:txBody>
      </p:sp>
      <p:sp>
        <p:nvSpPr>
          <p:cNvPr id="22" name="Shape 20"/>
          <p:cNvSpPr/>
          <p:nvPr/>
        </p:nvSpPr>
        <p:spPr>
          <a:xfrm>
            <a:off x="315468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971800"/>
            <a:ext cx="2651760" cy="54864"/>
          </a:xfrm>
          <a:prstGeom prst="rect">
            <a:avLst/>
          </a:prstGeom>
          <a:solidFill>
            <a:srgbClr val="1A3550"/>
          </a:solidFill>
          <a:ln w="12700">
            <a:solidFill>
              <a:srgbClr val="1A3550"/>
            </a:solidFill>
            <a:prstDash val="solid"/>
          </a:ln>
        </p:spPr>
      </p:sp>
      <p:sp>
        <p:nvSpPr>
          <p:cNvPr id="24" name="Text 22"/>
          <p:cNvSpPr/>
          <p:nvPr/>
        </p:nvSpPr>
        <p:spPr>
          <a:xfrm>
            <a:off x="326440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Środek masy </a:t>
            </a:r>
            <a:r>
              <a:rPr lang="en-US" sz="2000" b="1" i="1" dirty="0">
                <a:solidFill>
                  <a:srgbClr val="0D1B2A"/>
                </a:solidFill>
                <a:latin typeface="Trebuchet MS" pitchFamily="34" charset="0"/>
                <a:ea typeface="Trebuchet MS" pitchFamily="34" charset="-122"/>
                <a:cs typeface="Trebuchet MS" pitchFamily="34" charset="-120"/>
              </a:rPr>
              <a:t>(CoM)</a:t>
            </a:r>
            <a:endParaRPr lang="en-US" sz="2000" i="1" dirty="0"/>
          </a:p>
        </p:txBody>
      </p:sp>
      <p:sp>
        <p:nvSpPr>
          <p:cNvPr id="25" name="Text 23"/>
          <p:cNvSpPr/>
          <p:nvPr/>
        </p:nvSpPr>
        <p:spPr>
          <a:xfrm>
            <a:off x="3227238" y="3682289"/>
            <a:ext cx="2542032" cy="930402"/>
          </a:xfrm>
          <a:prstGeom prst="rect">
            <a:avLst/>
          </a:prstGeom>
          <a:noFill/>
          <a:ln/>
        </p:spPr>
        <p:txBody>
          <a:bodyPr wrap="square" lIns="0" tIns="0" rIns="0" bIns="0" rtlCol="0" anchor="ctr"/>
          <a:lstStyle/>
          <a:p>
            <a:pPr marL="0" indent="0">
              <a:buNone/>
            </a:pPr>
            <a:r>
              <a:rPr lang="en-US" sz="1400" spc="-40" dirty="0">
                <a:solidFill>
                  <a:srgbClr val="475569"/>
                </a:solidFill>
                <a:latin typeface="Calibri" pitchFamily="34" charset="0"/>
                <a:ea typeface="Calibri" pitchFamily="34" charset="-122"/>
                <a:cs typeface="Calibri" pitchFamily="34" charset="-120"/>
              </a:rPr>
              <a:t>Pozycja CoM w przestrzeni; związana z warunkiem stabilności ZMP</a:t>
            </a:r>
            <a:endParaRPr lang="en-US" sz="1400" spc="-40" dirty="0"/>
          </a:p>
        </p:txBody>
      </p:sp>
      <p:sp>
        <p:nvSpPr>
          <p:cNvPr id="26" name="Shape 24"/>
          <p:cNvSpPr/>
          <p:nvPr/>
        </p:nvSpPr>
        <p:spPr>
          <a:xfrm>
            <a:off x="603504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9718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3063240"/>
            <a:ext cx="2432304" cy="642823"/>
          </a:xfrm>
          <a:prstGeom prst="rect">
            <a:avLst/>
          </a:prstGeom>
          <a:noFill/>
          <a:ln/>
        </p:spPr>
        <p:txBody>
          <a:bodyPr wrap="square" lIns="0" tIns="0" rIns="0" bIns="0" rtlCol="0" anchor="ctr"/>
          <a:lstStyle/>
          <a:p>
            <a:pPr marL="0" indent="0" algn="ctr">
              <a:buNone/>
            </a:pPr>
            <a:r>
              <a:rPr lang="en-US" sz="2000" b="1" dirty="0">
                <a:solidFill>
                  <a:srgbClr val="0D1B2A"/>
                </a:solidFill>
                <a:latin typeface="Trebuchet MS" pitchFamily="34" charset="0"/>
                <a:ea typeface="Trebuchet MS" pitchFamily="34" charset="-122"/>
                <a:cs typeface="Trebuchet MS" pitchFamily="34" charset="-120"/>
              </a:rPr>
              <a:t>Niepewność estymacji</a:t>
            </a:r>
            <a:endParaRPr lang="en-US" sz="2000" dirty="0"/>
          </a:p>
        </p:txBody>
      </p:sp>
      <p:sp>
        <p:nvSpPr>
          <p:cNvPr id="29" name="Text 27"/>
          <p:cNvSpPr/>
          <p:nvPr/>
        </p:nvSpPr>
        <p:spPr>
          <a:xfrm>
            <a:off x="6144768" y="3682289"/>
            <a:ext cx="2432304" cy="930402"/>
          </a:xfrm>
          <a:prstGeom prst="rect">
            <a:avLst/>
          </a:prstGeom>
          <a:noFill/>
          <a:ln/>
        </p:spPr>
        <p:txBody>
          <a:bodyPr wrap="square" lIns="0" tIns="0" rIns="0" bIns="0" rtlCol="0" anchor="ctr"/>
          <a:lstStyle/>
          <a:p>
            <a:pPr marL="0" indent="0">
              <a:buNone/>
            </a:pPr>
            <a:r>
              <a:rPr lang="en-US" sz="1400" spc="-20" dirty="0">
                <a:solidFill>
                  <a:srgbClr val="475569"/>
                </a:solidFill>
                <a:latin typeface="Calibri" pitchFamily="34" charset="0"/>
                <a:ea typeface="Calibri" pitchFamily="34" charset="-122"/>
                <a:cs typeface="Calibri" pitchFamily="34" charset="-120"/>
              </a:rPr>
              <a:t>Macierz </a:t>
            </a:r>
            <a:r>
              <a:rPr lang="en-US" sz="1400" spc="-20" dirty="0" err="1">
                <a:solidFill>
                  <a:srgbClr val="475569"/>
                </a:solidFill>
                <a:latin typeface="Calibri" pitchFamily="34" charset="0"/>
                <a:ea typeface="Calibri" pitchFamily="34" charset="-122"/>
                <a:cs typeface="Calibri" pitchFamily="34" charset="-120"/>
              </a:rPr>
              <a:t>kowariancji</a:t>
            </a:r>
            <a:r>
              <a:rPr lang="en-US" sz="1400" spc="-20" dirty="0">
                <a:solidFill>
                  <a:srgbClr val="475569"/>
                </a:solidFill>
                <a:latin typeface="Calibri" pitchFamily="34" charset="0"/>
                <a:ea typeface="Calibri" pitchFamily="34" charset="-122"/>
                <a:cs typeface="Calibri" pitchFamily="34" charset="-120"/>
              </a:rPr>
              <a:t> </a:t>
            </a:r>
            <a:r>
              <a:rPr lang="en-US" sz="1400" spc="-20" dirty="0" smtClean="0">
                <a:solidFill>
                  <a:srgbClr val="475569"/>
                </a:solidFill>
                <a:latin typeface="Calibri" pitchFamily="34" charset="0"/>
                <a:ea typeface="Calibri" pitchFamily="34" charset="-122"/>
                <a:cs typeface="Calibri" pitchFamily="34" charset="-120"/>
              </a:rPr>
              <a:t>P</a:t>
            </a:r>
            <a:r>
              <a:rPr lang="pl-PL" sz="1400" spc="-20" dirty="0" smtClean="0">
                <a:solidFill>
                  <a:srgbClr val="475569"/>
                </a:solidFill>
                <a:latin typeface="Calibri" pitchFamily="34" charset="0"/>
                <a:ea typeface="Calibri" pitchFamily="34" charset="-122"/>
                <a:cs typeface="Calibri" pitchFamily="34" charset="-120"/>
              </a:rPr>
              <a:t>:</a:t>
            </a:r>
            <a:r>
              <a:rPr lang="en-US" sz="1400" spc="-20" dirty="0" smtClean="0">
                <a:solidFill>
                  <a:srgbClr val="475569"/>
                </a:solidFill>
                <a:latin typeface="Calibri" pitchFamily="34" charset="0"/>
                <a:ea typeface="Calibri" pitchFamily="34" charset="-122"/>
                <a:cs typeface="Calibri" pitchFamily="34" charset="-120"/>
              </a:rPr>
              <a:t> </a:t>
            </a:r>
            <a:r>
              <a:rPr lang="en-US" sz="1400" spc="-20" dirty="0">
                <a:solidFill>
                  <a:srgbClr val="475569"/>
                </a:solidFill>
                <a:latin typeface="Calibri" pitchFamily="34" charset="0"/>
                <a:ea typeface="Calibri" pitchFamily="34" charset="-122"/>
                <a:cs typeface="Calibri" pitchFamily="34" charset="-120"/>
              </a:rPr>
              <a:t>miara zaufania do szacowanego stanu</a:t>
            </a:r>
            <a:endParaRPr lang="en-US" sz="1400" spc="-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ODOMETRIA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humanoida vs. odometria kołowa</a:t>
            </a:r>
            <a:endParaRPr lang="en-US" sz="2800" dirty="0"/>
          </a:p>
        </p:txBody>
      </p:sp>
      <p:sp>
        <p:nvSpPr>
          <p:cNvPr id="6" name="Shape 4"/>
          <p:cNvSpPr/>
          <p:nvPr/>
        </p:nvSpPr>
        <p:spPr>
          <a:xfrm>
            <a:off x="274320" y="1097280"/>
            <a:ext cx="416052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77A8"/>
          </a:solidFill>
          <a:ln w="12700">
            <a:solidFill>
              <a:srgbClr val="0077A8"/>
            </a:solidFill>
            <a:prstDash val="solid"/>
          </a:ln>
        </p:spPr>
      </p:sp>
      <p:sp>
        <p:nvSpPr>
          <p:cNvPr id="9" name="Text 7"/>
          <p:cNvSpPr/>
          <p:nvPr/>
        </p:nvSpPr>
        <p:spPr>
          <a:xfrm>
            <a:off x="45720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Odometria kołowa (AGV)</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Odometria humanoida</a:t>
            </a:r>
            <a:endParaRPr lang="en-US" dirty="0"/>
          </a:p>
        </p:txBody>
      </p:sp>
      <p:sp>
        <p:nvSpPr>
          <p:cNvPr id="12" name="Text 10"/>
          <p:cNvSpPr/>
          <p:nvPr/>
        </p:nvSpPr>
        <p:spPr>
          <a:xfrm>
            <a:off x="457200" y="1600200"/>
            <a:ext cx="3794760" cy="3108960"/>
          </a:xfrm>
          <a:prstGeom prst="rect">
            <a:avLst/>
          </a:prstGeom>
          <a:noFill/>
          <a:ln/>
        </p:spPr>
        <p:txBody>
          <a:bodyPr wrap="square" lIns="63500" tIns="101600" rIns="63500" bIns="63500" rtlCol="0" anchor="t"/>
          <a:lstStyle/>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Zliczanie impulsów enkoderów napędowych</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Proste równania kinematyczne (v, ω)</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Dryf głównie z poślizgu i nierówności kół</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Przewidywalny, mały błąd na krótkich dystansach</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Dojrzałe algorytmy korekcji (AMCL, EKF)</a:t>
            </a:r>
            <a:endParaRPr lang="en-US" sz="1600" dirty="0"/>
          </a:p>
        </p:txBody>
      </p:sp>
      <p:sp>
        <p:nvSpPr>
          <p:cNvPr id="13" name="Text 11"/>
          <p:cNvSpPr/>
          <p:nvPr/>
        </p:nvSpPr>
        <p:spPr>
          <a:xfrm>
            <a:off x="4892040" y="1600200"/>
            <a:ext cx="3794760" cy="3108960"/>
          </a:xfrm>
          <a:prstGeom prst="rect">
            <a:avLst/>
          </a:prstGeom>
          <a:noFill/>
          <a:ln/>
        </p:spPr>
        <p:txBody>
          <a:bodyPr wrap="square" lIns="63500" tIns="101600" rIns="63500" bIns="63500" rtlCol="0" anchor="t"/>
          <a:lstStyle/>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Integracja kroków + IMU + kontakty stóp</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Stan kontaktu: stopa oparta = referencyjna</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Dryf ze śliskich podłóg, wibracji tułowia</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Niesymetria kroków i ugięcie struktury</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Wymagana fuzja z wizją lub LiDAR-em</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BŁĘDY ESTYMACJI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Dryft i błędy estymacji</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81000" y="1188720"/>
            <a:ext cx="8382000" cy="352044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Kumulacja błędów</a:t>
            </a:r>
            <a:r>
              <a:rPr lang="en-US" sz="1600" spc="-40" dirty="0">
                <a:solidFill>
                  <a:srgbClr val="0D1B2A"/>
                </a:solidFill>
                <a:latin typeface="Calibri" pitchFamily="34" charset="0"/>
                <a:ea typeface="Calibri" pitchFamily="34" charset="-122"/>
                <a:cs typeface="Calibri" pitchFamily="34" charset="-120"/>
              </a:rPr>
              <a:t>: każde całkowanie dodaje szum; po 100 krokach błąd pozycji może wynosić &gt;</a:t>
            </a:r>
            <a:r>
              <a:rPr lang="en-US" sz="1600" spc="-40" dirty="0" smtClean="0">
                <a:solidFill>
                  <a:srgbClr val="0D1B2A"/>
                </a:solidFill>
                <a:latin typeface="Calibri" pitchFamily="34" charset="0"/>
                <a:ea typeface="Calibri" pitchFamily="34" charset="-122"/>
                <a:cs typeface="Calibri" pitchFamily="34" charset="-120"/>
              </a:rPr>
              <a:t>0,5m</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Poślizg stopy</a:t>
            </a:r>
            <a:r>
              <a:rPr lang="en-US" sz="1600" spc="-40" dirty="0">
                <a:solidFill>
                  <a:srgbClr val="0D1B2A"/>
                </a:solidFill>
                <a:latin typeface="Calibri" pitchFamily="34" charset="0"/>
                <a:ea typeface="Calibri" pitchFamily="34" charset="-122"/>
                <a:cs typeface="Calibri" pitchFamily="34" charset="-120"/>
              </a:rPr>
              <a:t>: nagła zmiana kontaktu stopy powoduje skok w estymowanej pozycji bazowej</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Błędy kalibracji</a:t>
            </a:r>
            <a:r>
              <a:rPr lang="en-US" sz="1600" spc="-40" dirty="0">
                <a:solidFill>
                  <a:srgbClr val="0D1B2A"/>
                </a:solidFill>
                <a:latin typeface="Calibri" pitchFamily="34" charset="0"/>
                <a:ea typeface="Calibri" pitchFamily="34" charset="-122"/>
                <a:cs typeface="Calibri" pitchFamily="34" charset="-120"/>
              </a:rPr>
              <a:t>: nieprecyzyjne IMU (niezrównoważenie osi) lub enkodery (luz w przekładni)</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Szum żyroskopu</a:t>
            </a:r>
            <a:r>
              <a:rPr lang="en-US" sz="1600" spc="-40" dirty="0">
                <a:solidFill>
                  <a:srgbClr val="0D1B2A"/>
                </a:solidFill>
                <a:latin typeface="Calibri" pitchFamily="34" charset="0"/>
                <a:ea typeface="Calibri" pitchFamily="34" charset="-122"/>
                <a:cs typeface="Calibri" pitchFamily="34" charset="-120"/>
              </a:rPr>
              <a:t>: dryft yaw przy całkowaniu prędkości kątowej – typowo 0,1–1°/s</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Opóźnienia transmisji</a:t>
            </a:r>
            <a:r>
              <a:rPr lang="en-US" sz="1600" spc="-40" dirty="0">
                <a:solidFill>
                  <a:srgbClr val="0D1B2A"/>
                </a:solidFill>
                <a:latin typeface="Calibri" pitchFamily="34" charset="0"/>
                <a:ea typeface="Calibri" pitchFamily="34" charset="-122"/>
                <a:cs typeface="Calibri" pitchFamily="34" charset="-120"/>
              </a:rPr>
              <a:t>: przesunięcie fazowe między sensorami zakłóca fuzję</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Model kinematyczny</a:t>
            </a:r>
            <a:r>
              <a:rPr lang="en-US" sz="1600" spc="-40" dirty="0">
                <a:solidFill>
                  <a:srgbClr val="0D1B2A"/>
                </a:solidFill>
                <a:latin typeface="Calibri" pitchFamily="34" charset="0"/>
                <a:ea typeface="Calibri" pitchFamily="34" charset="-122"/>
                <a:cs typeface="Calibri" pitchFamily="34" charset="-120"/>
              </a:rPr>
              <a:t>: uproszczenia (sztywne ogniwa, brak ugięcia) powodują systematyczny błąd</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Zmiana środowiska</a:t>
            </a:r>
            <a:r>
              <a:rPr lang="en-US" sz="1600" spc="-40" dirty="0">
                <a:solidFill>
                  <a:srgbClr val="0D1B2A"/>
                </a:solidFill>
                <a:latin typeface="Calibri" pitchFamily="34" charset="0"/>
                <a:ea typeface="Calibri" pitchFamily="34" charset="-122"/>
                <a:cs typeface="Calibri" pitchFamily="34" charset="-120"/>
              </a:rPr>
              <a:t>: ruchome podłoże (dywan, rampa) nie jest uwzględnione w modelu</a:t>
            </a:r>
            <a:endParaRPr lang="en-US" sz="1600" spc="-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1 | DEAD RECKONING</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r>
              <a:rPr lang="pl-PL" sz="2800" b="1" dirty="0" smtClean="0">
                <a:solidFill>
                  <a:srgbClr val="FFFFFF"/>
                </a:solidFill>
                <a:latin typeface="Trebuchet MS" pitchFamily="34" charset="0"/>
                <a:ea typeface="Trebuchet MS" pitchFamily="34" charset="-122"/>
                <a:cs typeface="Trebuchet MS" pitchFamily="34" charset="-120"/>
              </a:rPr>
              <a:t>I</a:t>
            </a:r>
            <a:r>
              <a:rPr lang="en-US" sz="2800" b="1" dirty="0" err="1" smtClean="0">
                <a:solidFill>
                  <a:srgbClr val="FFFFFF"/>
                </a:solidFill>
                <a:latin typeface="Trebuchet MS" pitchFamily="34" charset="0"/>
                <a:ea typeface="Trebuchet MS" pitchFamily="34" charset="-122"/>
                <a:cs typeface="Trebuchet MS" pitchFamily="34" charset="-120"/>
              </a:rPr>
              <a:t>dea</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err="1">
                <a:solidFill>
                  <a:srgbClr val="FFFFFF"/>
                </a:solidFill>
                <a:latin typeface="Trebuchet MS" pitchFamily="34" charset="0"/>
                <a:ea typeface="Trebuchet MS" pitchFamily="34" charset="-122"/>
                <a:cs typeface="Trebuchet MS" pitchFamily="34" charset="-120"/>
              </a:rPr>
              <a:t>i</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ograniczenia</a:t>
            </a:r>
            <a:r>
              <a:rPr lang="pl-PL"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Dead reckoning </a:t>
            </a:r>
            <a:endParaRPr lang="en-US" sz="2800" dirty="0"/>
          </a:p>
        </p:txBody>
      </p:sp>
      <p:sp>
        <p:nvSpPr>
          <p:cNvPr id="6" name="Shape 4"/>
          <p:cNvSpPr/>
          <p:nvPr/>
        </p:nvSpPr>
        <p:spPr>
          <a:xfrm>
            <a:off x="274320" y="1097280"/>
            <a:ext cx="4160520" cy="3749040"/>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3749040"/>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411480"/>
          </a:xfrm>
          <a:prstGeom prst="rect">
            <a:avLst/>
          </a:prstGeom>
          <a:solidFill>
            <a:srgbClr val="0077A8"/>
          </a:solidFill>
          <a:ln w="12700">
            <a:solidFill>
              <a:srgbClr val="0077A8"/>
            </a:solidFill>
            <a:prstDash val="solid"/>
          </a:ln>
        </p:spPr>
      </p:sp>
      <p:sp>
        <p:nvSpPr>
          <p:cNvPr id="9" name="Text 7"/>
          <p:cNvSpPr/>
          <p:nvPr/>
        </p:nvSpPr>
        <p:spPr>
          <a:xfrm>
            <a:off x="457200" y="1115568"/>
            <a:ext cx="3794760" cy="36576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Na czym polega</a:t>
            </a:r>
            <a:endParaRPr lang="en-US" sz="2000" dirty="0"/>
          </a:p>
        </p:txBody>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sz="2000" b="1" dirty="0">
                <a:solidFill>
                  <a:srgbClr val="FFFFFF"/>
                </a:solidFill>
                <a:latin typeface="Trebuchet MS" pitchFamily="34" charset="0"/>
                <a:ea typeface="Trebuchet MS" pitchFamily="34" charset="-122"/>
                <a:cs typeface="Trebuchet MS" pitchFamily="34" charset="-120"/>
              </a:rPr>
              <a:t>Dlaczego nie wystarczy</a:t>
            </a:r>
            <a:endParaRPr lang="en-US" sz="2000" dirty="0"/>
          </a:p>
        </p:txBody>
      </p:sp>
      <p:sp>
        <p:nvSpPr>
          <p:cNvPr id="12" name="Text 10"/>
          <p:cNvSpPr/>
          <p:nvPr/>
        </p:nvSpPr>
        <p:spPr>
          <a:xfrm>
            <a:off x="327878" y="1600200"/>
            <a:ext cx="4092094" cy="3108960"/>
          </a:xfrm>
          <a:prstGeom prst="rect">
            <a:avLst/>
          </a:prstGeom>
          <a:noFill/>
          <a:ln/>
        </p:spPr>
        <p:txBody>
          <a:bodyPr wrap="square" lIns="63500" tIns="101600" rIns="101600" bIns="63500" rtlCol="0" anchor="t"/>
          <a:lstStyle/>
          <a:p>
            <a:pPr marL="180000" indent="-180000">
              <a:spcAft>
                <a:spcPts val="1800"/>
              </a:spcAft>
              <a:buSzPct val="100000"/>
              <a:buChar char="•"/>
            </a:pPr>
            <a:r>
              <a:rPr lang="en-US" sz="1600" spc="-60" dirty="0">
                <a:solidFill>
                  <a:srgbClr val="0D1B2A"/>
                </a:solidFill>
                <a:latin typeface="Calibri" pitchFamily="34" charset="0"/>
                <a:ea typeface="Calibri" pitchFamily="34" charset="-122"/>
                <a:cs typeface="Calibri" pitchFamily="34" charset="-120"/>
              </a:rPr>
              <a:t>Estymacja pozycji wyłącznie z </a:t>
            </a:r>
            <a:r>
              <a:rPr lang="en-US" sz="1600" spc="-60" dirty="0" err="1">
                <a:solidFill>
                  <a:srgbClr val="0D1B2A"/>
                </a:solidFill>
                <a:latin typeface="Calibri" pitchFamily="34" charset="0"/>
                <a:ea typeface="Calibri" pitchFamily="34" charset="-122"/>
                <a:cs typeface="Calibri" pitchFamily="34" charset="-120"/>
              </a:rPr>
              <a:t>modelu</a:t>
            </a:r>
            <a:r>
              <a:rPr lang="en-US" sz="1600" spc="-60" dirty="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
            </a:r>
            <a:br>
              <a:rPr lang="pl-PL" sz="1600" spc="-60" dirty="0" smtClean="0">
                <a:solidFill>
                  <a:srgbClr val="0D1B2A"/>
                </a:solidFill>
                <a:latin typeface="Calibri" pitchFamily="34" charset="0"/>
                <a:ea typeface="Calibri" pitchFamily="34" charset="-122"/>
                <a:cs typeface="Calibri" pitchFamily="34" charset="-120"/>
              </a:rPr>
            </a:br>
            <a:r>
              <a:rPr lang="en-US" sz="1600" spc="-60" dirty="0" err="1" smtClean="0">
                <a:solidFill>
                  <a:srgbClr val="0D1B2A"/>
                </a:solidFill>
                <a:latin typeface="Calibri" pitchFamily="34" charset="0"/>
                <a:ea typeface="Calibri" pitchFamily="34" charset="-122"/>
                <a:cs typeface="Calibri" pitchFamily="34" charset="-120"/>
              </a:rPr>
              <a:t>i</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pomiarów wewnętrznych </a:t>
            </a:r>
            <a:r>
              <a:rPr lang="en-US" sz="1600" i="1" spc="-60" dirty="0">
                <a:solidFill>
                  <a:srgbClr val="0D1B2A"/>
                </a:solidFill>
                <a:latin typeface="Calibri" pitchFamily="34" charset="0"/>
                <a:ea typeface="Calibri" pitchFamily="34" charset="-122"/>
                <a:cs typeface="Calibri" pitchFamily="34" charset="-120"/>
              </a:rPr>
              <a:t>(IMU, enkodery)</a:t>
            </a:r>
            <a:endParaRPr lang="en-US" sz="1600" i="1" spc="-60" dirty="0"/>
          </a:p>
          <a:p>
            <a:pPr marL="180000" indent="-180000">
              <a:spcAft>
                <a:spcPts val="1800"/>
              </a:spcAft>
              <a:buSzPct val="100000"/>
              <a:buChar char="•"/>
            </a:pPr>
            <a:r>
              <a:rPr lang="en-US" sz="1600" spc="-60" dirty="0">
                <a:solidFill>
                  <a:srgbClr val="0D1B2A"/>
                </a:solidFill>
                <a:latin typeface="Calibri" pitchFamily="34" charset="0"/>
                <a:ea typeface="Calibri" pitchFamily="34" charset="-122"/>
                <a:cs typeface="Calibri" pitchFamily="34" charset="-120"/>
              </a:rPr>
              <a:t>Brak korekty z zewnętrznych </a:t>
            </a:r>
            <a:r>
              <a:rPr lang="en-US" sz="1600" spc="-60" dirty="0" err="1">
                <a:solidFill>
                  <a:srgbClr val="0D1B2A"/>
                </a:solidFill>
                <a:latin typeface="Calibri" pitchFamily="34" charset="0"/>
                <a:ea typeface="Calibri" pitchFamily="34" charset="-122"/>
                <a:cs typeface="Calibri" pitchFamily="34" charset="-120"/>
              </a:rPr>
              <a:t>punktów</a:t>
            </a:r>
            <a:r>
              <a:rPr lang="en-US" sz="1600" spc="-60" dirty="0">
                <a:solidFill>
                  <a:srgbClr val="0D1B2A"/>
                </a:solidFill>
                <a:latin typeface="Calibri" pitchFamily="34" charset="0"/>
                <a:ea typeface="Calibri" pitchFamily="34" charset="-122"/>
                <a:cs typeface="Calibri" pitchFamily="34" charset="-120"/>
              </a:rPr>
              <a:t> </a:t>
            </a:r>
            <a:r>
              <a:rPr lang="pl-PL" sz="1600" spc="-60" dirty="0" smtClean="0">
                <a:solidFill>
                  <a:srgbClr val="0D1B2A"/>
                </a:solidFill>
                <a:latin typeface="Calibri" pitchFamily="34" charset="0"/>
                <a:ea typeface="Calibri" pitchFamily="34" charset="-122"/>
                <a:cs typeface="Calibri" pitchFamily="34" charset="-120"/>
              </a:rPr>
              <a:t>o</a:t>
            </a:r>
            <a:r>
              <a:rPr lang="en-US" sz="1600" spc="-60" dirty="0" err="1" smtClean="0">
                <a:solidFill>
                  <a:srgbClr val="0D1B2A"/>
                </a:solidFill>
                <a:latin typeface="Calibri" pitchFamily="34" charset="0"/>
                <a:ea typeface="Calibri" pitchFamily="34" charset="-122"/>
                <a:cs typeface="Calibri" pitchFamily="34" charset="-120"/>
              </a:rPr>
              <a:t>dniesienia</a:t>
            </a:r>
            <a:endParaRPr lang="en-US" sz="1600" spc="-60" dirty="0"/>
          </a:p>
          <a:p>
            <a:pPr marL="180000" indent="-180000">
              <a:spcAft>
                <a:spcPts val="1800"/>
              </a:spcAft>
              <a:buSzPct val="100000"/>
              <a:buChar char="•"/>
            </a:pPr>
            <a:r>
              <a:rPr lang="en-US" sz="1600" spc="-60" dirty="0">
                <a:solidFill>
                  <a:srgbClr val="0D1B2A"/>
                </a:solidFill>
                <a:latin typeface="Calibri" pitchFamily="34" charset="0"/>
                <a:ea typeface="Calibri" pitchFamily="34" charset="-122"/>
                <a:cs typeface="Calibri" pitchFamily="34" charset="-120"/>
              </a:rPr>
              <a:t>Całkowanie prędkości: x(t) = x₀ + ∫v(τ)dτ</a:t>
            </a:r>
            <a:endParaRPr lang="en-US" sz="1600" spc="-60" dirty="0"/>
          </a:p>
          <a:p>
            <a:pPr marL="180000" indent="-180000">
              <a:spcAft>
                <a:spcPts val="1800"/>
              </a:spcAft>
              <a:buSzPct val="100000"/>
              <a:buChar char="•"/>
            </a:pPr>
            <a:r>
              <a:rPr lang="en-US" sz="1600" spc="-60" dirty="0">
                <a:solidFill>
                  <a:srgbClr val="0D1B2A"/>
                </a:solidFill>
                <a:latin typeface="Calibri" pitchFamily="34" charset="0"/>
                <a:ea typeface="Calibri" pitchFamily="34" charset="-122"/>
                <a:cs typeface="Calibri" pitchFamily="34" charset="-120"/>
              </a:rPr>
              <a:t>W krótkim horyzoncie czasowym: </a:t>
            </a:r>
            <a:r>
              <a:rPr lang="pl-PL" sz="1600" spc="-60" dirty="0" smtClean="0">
                <a:solidFill>
                  <a:srgbClr val="0D1B2A"/>
                </a:solidFill>
                <a:latin typeface="Calibri" pitchFamily="34" charset="0"/>
                <a:ea typeface="Calibri" pitchFamily="34" charset="-122"/>
                <a:cs typeface="Calibri" pitchFamily="34" charset="-120"/>
              </a:rPr>
              <a:t>w</a:t>
            </a:r>
            <a:r>
              <a:rPr lang="en-US" sz="1600" spc="-60" dirty="0" err="1" smtClean="0">
                <a:solidFill>
                  <a:srgbClr val="0D1B2A"/>
                </a:solidFill>
                <a:latin typeface="Calibri" pitchFamily="34" charset="0"/>
                <a:ea typeface="Calibri" pitchFamily="34" charset="-122"/>
                <a:cs typeface="Calibri" pitchFamily="34" charset="-120"/>
              </a:rPr>
              <a:t>ystarczające</a:t>
            </a:r>
            <a:endParaRPr lang="en-US" sz="1600" spc="-60" dirty="0"/>
          </a:p>
          <a:p>
            <a:pPr marL="180000" indent="-180000">
              <a:spcAft>
                <a:spcPts val="1800"/>
              </a:spcAft>
              <a:buSzPct val="100000"/>
              <a:buChar char="•"/>
            </a:pPr>
            <a:r>
              <a:rPr lang="en-US" sz="1600" spc="-60" dirty="0">
                <a:solidFill>
                  <a:srgbClr val="0D1B2A"/>
                </a:solidFill>
                <a:latin typeface="Calibri" pitchFamily="34" charset="0"/>
                <a:ea typeface="Calibri" pitchFamily="34" charset="-122"/>
                <a:cs typeface="Calibri" pitchFamily="34" charset="-120"/>
              </a:rPr>
              <a:t>Zastosowanie: awaryjne przejście przez strefę bez GPS/LiDAR</a:t>
            </a:r>
            <a:endParaRPr lang="en-US" sz="1600" spc="-60" dirty="0"/>
          </a:p>
        </p:txBody>
      </p:sp>
      <p:sp>
        <p:nvSpPr>
          <p:cNvPr id="13" name="Text 11"/>
          <p:cNvSpPr/>
          <p:nvPr/>
        </p:nvSpPr>
        <p:spPr>
          <a:xfrm>
            <a:off x="4773249" y="1600200"/>
            <a:ext cx="4036213" cy="3108960"/>
          </a:xfrm>
          <a:prstGeom prst="rect">
            <a:avLst/>
          </a:prstGeom>
          <a:noFill/>
          <a:ln/>
        </p:spPr>
        <p:txBody>
          <a:bodyPr wrap="square" lIns="63500" tIns="101600" rIns="101600" bIns="63500" rtlCol="0" anchor="t"/>
          <a:lstStyle/>
          <a:p>
            <a:pPr marL="180000" indent="-180000">
              <a:spcAft>
                <a:spcPts val="1800"/>
              </a:spcAft>
              <a:buSzPct val="100000"/>
              <a:buChar char="•"/>
            </a:pPr>
            <a:r>
              <a:rPr lang="en-US" sz="1600" spc="-100" dirty="0">
                <a:solidFill>
                  <a:srgbClr val="0D1B2A"/>
                </a:solidFill>
                <a:latin typeface="Calibri" pitchFamily="34" charset="0"/>
                <a:ea typeface="Calibri" pitchFamily="34" charset="-122"/>
                <a:cs typeface="Calibri" pitchFamily="34" charset="-120"/>
              </a:rPr>
              <a:t>Błąd rośnie z kwadratem </a:t>
            </a:r>
            <a:r>
              <a:rPr lang="en-US" sz="1600" spc="-100" dirty="0" err="1">
                <a:solidFill>
                  <a:srgbClr val="0D1B2A"/>
                </a:solidFill>
                <a:latin typeface="Calibri" pitchFamily="34" charset="0"/>
                <a:ea typeface="Calibri" pitchFamily="34" charset="-122"/>
                <a:cs typeface="Calibri" pitchFamily="34" charset="-120"/>
              </a:rPr>
              <a:t>czasu</a:t>
            </a:r>
            <a:r>
              <a:rPr lang="en-US" sz="1600" spc="-100" dirty="0">
                <a:solidFill>
                  <a:srgbClr val="0D1B2A"/>
                </a:solidFill>
                <a:latin typeface="Calibri" pitchFamily="34" charset="0"/>
                <a:ea typeface="Calibri" pitchFamily="34" charset="-122"/>
                <a:cs typeface="Calibri" pitchFamily="34" charset="-120"/>
              </a:rPr>
              <a:t> </a:t>
            </a:r>
            <a:r>
              <a:rPr lang="en-US" sz="1600" i="1" spc="-100" dirty="0" smtClean="0">
                <a:solidFill>
                  <a:srgbClr val="0D1B2A"/>
                </a:solidFill>
                <a:latin typeface="Calibri" pitchFamily="34" charset="0"/>
                <a:ea typeface="Calibri" pitchFamily="34" charset="-122"/>
                <a:cs typeface="Calibri" pitchFamily="34" charset="-120"/>
              </a:rPr>
              <a:t>(</a:t>
            </a:r>
            <a:r>
              <a:rPr lang="en-US" sz="1600" i="1" spc="-100" dirty="0">
                <a:solidFill>
                  <a:srgbClr val="0D1B2A"/>
                </a:solidFill>
                <a:latin typeface="Calibri" pitchFamily="34" charset="0"/>
                <a:ea typeface="Calibri" pitchFamily="34" charset="-122"/>
                <a:cs typeface="Calibri" pitchFamily="34" charset="-120"/>
              </a:rPr>
              <a:t>całkowanie szumu)</a:t>
            </a:r>
            <a:endParaRPr lang="en-US" sz="1600" i="1" spc="-100" dirty="0"/>
          </a:p>
          <a:p>
            <a:pPr marL="180000" indent="-180000">
              <a:spcAft>
                <a:spcPts val="1800"/>
              </a:spcAft>
              <a:buSzPct val="100000"/>
              <a:buChar char="•"/>
            </a:pPr>
            <a:r>
              <a:rPr lang="en-US" sz="1600" spc="-100" dirty="0">
                <a:solidFill>
                  <a:srgbClr val="0D1B2A"/>
                </a:solidFill>
                <a:latin typeface="Calibri" pitchFamily="34" charset="0"/>
                <a:ea typeface="Calibri" pitchFamily="34" charset="-122"/>
                <a:cs typeface="Calibri" pitchFamily="34" charset="-120"/>
              </a:rPr>
              <a:t>Bez korekty dryft yaw na </a:t>
            </a:r>
            <a:r>
              <a:rPr lang="en-US" sz="1600" spc="-100" dirty="0" err="1">
                <a:solidFill>
                  <a:srgbClr val="0D1B2A"/>
                </a:solidFill>
                <a:latin typeface="Calibri" pitchFamily="34" charset="0"/>
                <a:ea typeface="Calibri" pitchFamily="34" charset="-122"/>
                <a:cs typeface="Calibri" pitchFamily="34" charset="-120"/>
              </a:rPr>
              <a:t>poziomie</a:t>
            </a:r>
            <a:r>
              <a:rPr lang="en-US" sz="1600" spc="-100" dirty="0">
                <a:solidFill>
                  <a:srgbClr val="0D1B2A"/>
                </a:solidFill>
                <a:latin typeface="Calibri" pitchFamily="34" charset="0"/>
                <a:ea typeface="Calibri" pitchFamily="34" charset="-122"/>
                <a:cs typeface="Calibri" pitchFamily="34" charset="-120"/>
              </a:rPr>
              <a:t> </a:t>
            </a:r>
            <a:r>
              <a:rPr lang="en-US" sz="1600" spc="-100" dirty="0" err="1" smtClean="0">
                <a:solidFill>
                  <a:srgbClr val="0D1B2A"/>
                </a:solidFill>
                <a:latin typeface="Calibri" pitchFamily="34" charset="0"/>
                <a:ea typeface="Calibri" pitchFamily="34" charset="-122"/>
                <a:cs typeface="Calibri" pitchFamily="34" charset="-120"/>
              </a:rPr>
              <a:t>kilku</a:t>
            </a:r>
            <a:r>
              <a:rPr lang="en-US" sz="1600" spc="-100" dirty="0" smtClean="0">
                <a:solidFill>
                  <a:srgbClr val="0D1B2A"/>
                </a:solidFill>
                <a:latin typeface="Calibri" pitchFamily="34" charset="0"/>
                <a:ea typeface="Calibri" pitchFamily="34" charset="-122"/>
                <a:cs typeface="Calibri" pitchFamily="34" charset="-120"/>
              </a:rPr>
              <a:t> </a:t>
            </a:r>
            <a:r>
              <a:rPr lang="en-US" sz="1600" spc="-100" dirty="0">
                <a:solidFill>
                  <a:srgbClr val="0D1B2A"/>
                </a:solidFill>
                <a:latin typeface="Calibri" pitchFamily="34" charset="0"/>
                <a:ea typeface="Calibri" pitchFamily="34" charset="-122"/>
                <a:cs typeface="Calibri" pitchFamily="34" charset="-120"/>
              </a:rPr>
              <a:t>stopni/min</a:t>
            </a:r>
            <a:endParaRPr lang="en-US" sz="1600" spc="-100" dirty="0"/>
          </a:p>
          <a:p>
            <a:pPr marL="180000" indent="-180000">
              <a:spcAft>
                <a:spcPts val="1800"/>
              </a:spcAft>
              <a:buSzPct val="100000"/>
              <a:buChar char="•"/>
            </a:pPr>
            <a:r>
              <a:rPr lang="en-US" sz="1600" spc="-80" dirty="0">
                <a:solidFill>
                  <a:srgbClr val="0D1B2A"/>
                </a:solidFill>
                <a:latin typeface="Calibri" pitchFamily="34" charset="0"/>
                <a:ea typeface="Calibri" pitchFamily="34" charset="-122"/>
                <a:cs typeface="Calibri" pitchFamily="34" charset="-120"/>
              </a:rPr>
              <a:t>Po 30 s marszu błąd pozycji </a:t>
            </a:r>
            <a:r>
              <a:rPr lang="en-US" sz="1600" spc="-80" dirty="0" err="1">
                <a:solidFill>
                  <a:srgbClr val="0D1B2A"/>
                </a:solidFill>
                <a:latin typeface="Calibri" pitchFamily="34" charset="0"/>
                <a:ea typeface="Calibri" pitchFamily="34" charset="-122"/>
                <a:cs typeface="Calibri" pitchFamily="34" charset="-120"/>
              </a:rPr>
              <a:t>może</a:t>
            </a:r>
            <a:r>
              <a:rPr lang="en-US" sz="1600" spc="-80" dirty="0">
                <a:solidFill>
                  <a:srgbClr val="0D1B2A"/>
                </a:solidFill>
                <a:latin typeface="Calibri" pitchFamily="34" charset="0"/>
                <a:ea typeface="Calibri" pitchFamily="34" charset="-122"/>
                <a:cs typeface="Calibri" pitchFamily="34" charset="-120"/>
              </a:rPr>
              <a:t> </a:t>
            </a:r>
            <a:r>
              <a:rPr lang="en-US" sz="1600" spc="-80" dirty="0" smtClean="0">
                <a:solidFill>
                  <a:srgbClr val="0D1B2A"/>
                </a:solidFill>
                <a:latin typeface="Calibri" pitchFamily="34" charset="0"/>
                <a:ea typeface="Calibri" pitchFamily="34" charset="-122"/>
                <a:cs typeface="Calibri" pitchFamily="34" charset="-120"/>
              </a:rPr>
              <a:t>przekroczyć 1m</a:t>
            </a:r>
            <a:endParaRPr lang="en-US" sz="1600" spc="-80" dirty="0"/>
          </a:p>
          <a:p>
            <a:pPr marL="180000" indent="-180000">
              <a:spcAft>
                <a:spcPts val="1800"/>
              </a:spcAft>
              <a:buSzPct val="100000"/>
              <a:buChar char="•"/>
            </a:pPr>
            <a:r>
              <a:rPr lang="en-US" sz="1600" spc="-80" dirty="0">
                <a:solidFill>
                  <a:srgbClr val="0D1B2A"/>
                </a:solidFill>
                <a:latin typeface="Calibri" pitchFamily="34" charset="0"/>
                <a:ea typeface="Calibri" pitchFamily="34" charset="-122"/>
                <a:cs typeface="Calibri" pitchFamily="34" charset="-120"/>
              </a:rPr>
              <a:t>Nie wykrywa zakłóceń środowiskowych </a:t>
            </a:r>
            <a:r>
              <a:rPr lang="en-US" sz="1600" i="1" spc="-80" dirty="0">
                <a:solidFill>
                  <a:srgbClr val="0D1B2A"/>
                </a:solidFill>
                <a:latin typeface="Calibri" pitchFamily="34" charset="0"/>
                <a:ea typeface="Calibri" pitchFamily="34" charset="-122"/>
                <a:cs typeface="Calibri" pitchFamily="34" charset="-120"/>
              </a:rPr>
              <a:t>(poślizg)</a:t>
            </a:r>
            <a:endParaRPr lang="en-US" sz="1600" i="1" spc="-80" dirty="0"/>
          </a:p>
          <a:p>
            <a:pPr marL="180000" indent="-180000">
              <a:spcAft>
                <a:spcPts val="1800"/>
              </a:spcAft>
              <a:buSzPct val="100000"/>
              <a:buChar char="•"/>
            </a:pPr>
            <a:r>
              <a:rPr lang="en-US" sz="1600" spc="-80" dirty="0">
                <a:solidFill>
                  <a:srgbClr val="0D1B2A"/>
                </a:solidFill>
                <a:latin typeface="Calibri" pitchFamily="34" charset="0"/>
                <a:ea typeface="Calibri" pitchFamily="34" charset="-122"/>
                <a:cs typeface="Calibri" pitchFamily="34" charset="-120"/>
              </a:rPr>
              <a:t>Konieczna fuzja z SLAM, GPS lub znacznikami</a:t>
            </a:r>
            <a:endParaRPr lang="en-US" sz="1600" spc="-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TRANSFORMACJE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Referencyjne układy: map, odom, base</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30200" y="1188720"/>
            <a:ext cx="8502650" cy="3520440"/>
          </a:xfrm>
          <a:prstGeom prst="rect">
            <a:avLst/>
          </a:prstGeom>
          <a:noFill/>
          <a:ln/>
        </p:spPr>
        <p:txBody>
          <a:bodyPr wrap="square" lIns="127000" tIns="127000" rIns="127000" bIns="127000" rtlCol="0" anchor="t"/>
          <a:lstStyle/>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world</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absolutna ramka inercjalna; stała; punkt odniesienia misji</a:t>
            </a:r>
            <a:endParaRPr lang="en-US" sz="1600" spc="-40" dirty="0"/>
          </a:p>
          <a:p>
            <a:pPr marL="216000" indent="-216000">
              <a:spcAft>
                <a:spcPts val="1200"/>
              </a:spcAft>
              <a:buSzPct val="100000"/>
              <a:buChar char="•"/>
            </a:pPr>
            <a:r>
              <a:rPr lang="en-US" sz="1600" b="1" spc="-40" dirty="0" smtClean="0">
                <a:solidFill>
                  <a:srgbClr val="0D1B2A"/>
                </a:solidFill>
                <a:latin typeface="Calibri" pitchFamily="34" charset="0"/>
                <a:ea typeface="Calibri" pitchFamily="34" charset="-122"/>
                <a:cs typeface="Calibri" pitchFamily="34" charset="-120"/>
              </a:rPr>
              <a:t>map</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 ramka mapy SLAM; skokowe korekty przy domknięciu pętli; world ≈ map w małych środowiskach</a:t>
            </a:r>
            <a:endParaRPr lang="en-US" sz="1600" spc="-40" dirty="0"/>
          </a:p>
          <a:p>
            <a:pPr marL="216000" indent="-216000">
              <a:spcAft>
                <a:spcPts val="1200"/>
              </a:spcAft>
              <a:buSzPct val="100000"/>
              <a:buChar char="•"/>
            </a:pPr>
            <a:r>
              <a:rPr lang="en-US" sz="1600" b="1" spc="-40" dirty="0" err="1">
                <a:solidFill>
                  <a:srgbClr val="0D1B2A"/>
                </a:solidFill>
                <a:latin typeface="Calibri" pitchFamily="34" charset="0"/>
                <a:ea typeface="Calibri" pitchFamily="34" charset="-122"/>
                <a:cs typeface="Calibri" pitchFamily="34" charset="-120"/>
              </a:rPr>
              <a:t>odom</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ramka odometrii; ciągła, ale dryfuje; baza dla planisty lokalnego</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base</a:t>
            </a:r>
            <a:r>
              <a:rPr lang="en-US" sz="1600" spc="-40" dirty="0">
                <a:solidFill>
                  <a:srgbClr val="0D1B2A"/>
                </a:solidFill>
                <a:latin typeface="Calibri" pitchFamily="34" charset="0"/>
                <a:ea typeface="Calibri" pitchFamily="34" charset="-122"/>
                <a:cs typeface="Calibri" pitchFamily="34" charset="-120"/>
              </a:rPr>
              <a:t> </a:t>
            </a:r>
            <a:r>
              <a:rPr lang="en-US" sz="1600" spc="-40" dirty="0" smtClean="0">
                <a:solidFill>
                  <a:srgbClr val="0D1B2A"/>
                </a:solidFill>
                <a:latin typeface="Calibri" pitchFamily="34" charset="0"/>
                <a:ea typeface="Calibri" pitchFamily="34" charset="-122"/>
                <a:cs typeface="Calibri" pitchFamily="34" charset="-120"/>
              </a:rPr>
              <a:t>– </a:t>
            </a:r>
            <a:r>
              <a:rPr lang="en-US" sz="1600" spc="-40" dirty="0">
                <a:solidFill>
                  <a:srgbClr val="0D1B2A"/>
                </a:solidFill>
                <a:latin typeface="Calibri" pitchFamily="34" charset="0"/>
                <a:ea typeface="Calibri" pitchFamily="34" charset="-122"/>
                <a:cs typeface="Calibri" pitchFamily="34" charset="-120"/>
              </a:rPr>
              <a:t>miednica / CoM robota; centrum drzewa kinematyki</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Relacja kluczowa</a:t>
            </a:r>
            <a:r>
              <a:rPr lang="en-US" sz="1600" spc="-40" dirty="0">
                <a:solidFill>
                  <a:srgbClr val="0D1B2A"/>
                </a:solidFill>
                <a:latin typeface="Calibri" pitchFamily="34" charset="0"/>
                <a:ea typeface="Calibri" pitchFamily="34" charset="-122"/>
                <a:cs typeface="Calibri" pitchFamily="34" charset="-120"/>
              </a:rPr>
              <a:t>: </a:t>
            </a:r>
            <a:r>
              <a:rPr lang="en-US" sz="1600" spc="-40" dirty="0">
                <a:solidFill>
                  <a:srgbClr val="FF0000"/>
                </a:solidFill>
                <a:latin typeface="Calibri" pitchFamily="34" charset="0"/>
                <a:ea typeface="Calibri" pitchFamily="34" charset="-122"/>
                <a:cs typeface="Calibri" pitchFamily="34" charset="-120"/>
              </a:rPr>
              <a:t>odom→map </a:t>
            </a:r>
            <a:r>
              <a:rPr lang="en-US" sz="1600" spc="-40" dirty="0">
                <a:solidFill>
                  <a:srgbClr val="0D1B2A"/>
                </a:solidFill>
                <a:latin typeface="Calibri" pitchFamily="34" charset="0"/>
                <a:ea typeface="Calibri" pitchFamily="34" charset="-122"/>
                <a:cs typeface="Calibri" pitchFamily="34" charset="-120"/>
              </a:rPr>
              <a:t>to korekta SLAM; </a:t>
            </a:r>
            <a:r>
              <a:rPr lang="en-US" sz="1600" spc="-40" dirty="0">
                <a:solidFill>
                  <a:srgbClr val="FF0000"/>
                </a:solidFill>
                <a:latin typeface="Calibri" pitchFamily="34" charset="0"/>
                <a:ea typeface="Calibri" pitchFamily="34" charset="-122"/>
                <a:cs typeface="Calibri" pitchFamily="34" charset="-120"/>
              </a:rPr>
              <a:t>base→odom </a:t>
            </a:r>
            <a:r>
              <a:rPr lang="en-US" sz="1600" spc="-40" dirty="0">
                <a:solidFill>
                  <a:srgbClr val="0D1B2A"/>
                </a:solidFill>
                <a:latin typeface="Calibri" pitchFamily="34" charset="0"/>
                <a:ea typeface="Calibri" pitchFamily="34" charset="-122"/>
                <a:cs typeface="Calibri" pitchFamily="34" charset="-120"/>
              </a:rPr>
              <a:t>to bieżąca odometria</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ROS 2 tf2</a:t>
            </a:r>
            <a:r>
              <a:rPr lang="en-US" sz="1600" spc="-40" dirty="0">
                <a:solidFill>
                  <a:srgbClr val="0D1B2A"/>
                </a:solidFill>
                <a:latin typeface="Calibri" pitchFamily="34" charset="0"/>
                <a:ea typeface="Calibri" pitchFamily="34" charset="-122"/>
                <a:cs typeface="Calibri" pitchFamily="34" charset="-120"/>
              </a:rPr>
              <a:t>: każda transformacja niesie timestamp; stare transformacje są buforowane</a:t>
            </a:r>
            <a:endParaRPr lang="en-US" sz="1600" spc="-40" dirty="0"/>
          </a:p>
          <a:p>
            <a:pPr marL="216000" indent="-216000">
              <a:spcAft>
                <a:spcPts val="1200"/>
              </a:spcAft>
              <a:buSzPct val="100000"/>
              <a:buChar char="•"/>
            </a:pPr>
            <a:r>
              <a:rPr lang="en-US" sz="1600" b="1" spc="-40" dirty="0">
                <a:solidFill>
                  <a:srgbClr val="0D1B2A"/>
                </a:solidFill>
                <a:latin typeface="Calibri" pitchFamily="34" charset="0"/>
                <a:ea typeface="Calibri" pitchFamily="34" charset="-122"/>
                <a:cs typeface="Calibri" pitchFamily="34" charset="-120"/>
              </a:rPr>
              <a:t>Niespójne drzewo TF </a:t>
            </a:r>
            <a:r>
              <a:rPr lang="en-US" sz="1600" spc="-40" dirty="0">
                <a:solidFill>
                  <a:srgbClr val="0D1B2A"/>
                </a:solidFill>
                <a:latin typeface="Calibri" pitchFamily="34" charset="0"/>
                <a:ea typeface="Calibri" pitchFamily="34" charset="-122"/>
                <a:cs typeface="Calibri" pitchFamily="34" charset="-120"/>
              </a:rPr>
              <a:t>jest najczęstszą </a:t>
            </a:r>
            <a:r>
              <a:rPr lang="en-US" sz="1600" b="1" spc="-40" dirty="0">
                <a:solidFill>
                  <a:srgbClr val="0D1B2A"/>
                </a:solidFill>
                <a:latin typeface="Calibri" pitchFamily="34" charset="0"/>
                <a:ea typeface="Calibri" pitchFamily="34" charset="-122"/>
                <a:cs typeface="Calibri" pitchFamily="34" charset="-120"/>
              </a:rPr>
              <a:t>przyczyną błędów nawigacji w ROS-ie</a:t>
            </a:r>
            <a:endParaRPr lang="en-US" sz="1600" b="1" spc="-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KONTAKT STOPY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Kontakt stopy jako źródło informacji</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82860" y="1188720"/>
            <a:ext cx="8367130" cy="3520440"/>
          </a:xfrm>
          <a:prstGeom prst="rect">
            <a:avLst/>
          </a:prstGeom>
          <a:noFill/>
          <a:ln/>
        </p:spPr>
        <p:txBody>
          <a:bodyPr wrap="square" lIns="127000" tIns="127000" rIns="127000" bIns="127000" rtlCol="0" anchor="t"/>
          <a:lstStyle/>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Faza podparcia</a:t>
            </a:r>
            <a:r>
              <a:rPr lang="en-US" sz="1600" spc="-40" dirty="0">
                <a:solidFill>
                  <a:srgbClr val="0D1B2A"/>
                </a:solidFill>
                <a:latin typeface="Calibri" pitchFamily="34" charset="0"/>
                <a:ea typeface="Calibri" pitchFamily="34" charset="-122"/>
                <a:cs typeface="Calibri" pitchFamily="34" charset="-120"/>
              </a:rPr>
              <a:t>: stopa oparta na podłożu – może służyć jako punkt odniesienia odometrii</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Faza przenoszenia</a:t>
            </a:r>
            <a:r>
              <a:rPr lang="en-US" sz="1600" spc="-40" dirty="0">
                <a:solidFill>
                  <a:srgbClr val="0D1B2A"/>
                </a:solidFill>
                <a:latin typeface="Calibri" pitchFamily="34" charset="0"/>
                <a:ea typeface="Calibri" pitchFamily="34" charset="-122"/>
                <a:cs typeface="Calibri" pitchFamily="34" charset="-120"/>
              </a:rPr>
              <a:t>: stopa w locie – brak danych pozycyjnych z tej nogi</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Czujniki F/T w stopie mierzą 6-DoF</a:t>
            </a:r>
            <a:r>
              <a:rPr lang="en-US" sz="1600" spc="-40" dirty="0">
                <a:solidFill>
                  <a:srgbClr val="0D1B2A"/>
                </a:solidFill>
                <a:latin typeface="Calibri" pitchFamily="34" charset="0"/>
                <a:ea typeface="Calibri" pitchFamily="34" charset="-122"/>
                <a:cs typeface="Calibri" pitchFamily="34" charset="-120"/>
              </a:rPr>
              <a:t>: Fx, Fy, Fz, Mx, My, Mz</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Detekcja kontaktu</a:t>
            </a:r>
            <a:r>
              <a:rPr lang="en-US" sz="1600" spc="-40" dirty="0">
                <a:solidFill>
                  <a:srgbClr val="0D1B2A"/>
                </a:solidFill>
                <a:latin typeface="Calibri" pitchFamily="34" charset="0"/>
                <a:ea typeface="Calibri" pitchFamily="34" charset="-122"/>
                <a:cs typeface="Calibri" pitchFamily="34" charset="-120"/>
              </a:rPr>
              <a:t>: Fz &gt; próg (np. 30 N) → stopa oparta; przydatne przy miękkich nawierzchniach</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Kinematyczna odometria kroków</a:t>
            </a:r>
            <a:r>
              <a:rPr lang="en-US" sz="1600" spc="-40" dirty="0">
                <a:solidFill>
                  <a:srgbClr val="0D1B2A"/>
                </a:solidFill>
                <a:latin typeface="Calibri" pitchFamily="34" charset="0"/>
                <a:ea typeface="Calibri" pitchFamily="34" charset="-122"/>
                <a:cs typeface="Calibri" pitchFamily="34" charset="-120"/>
              </a:rPr>
              <a:t>: pozycja bazy = pozycja stopy + FK⁻¹</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Brak kontaktu obu stóp jednocześnie</a:t>
            </a:r>
            <a:r>
              <a:rPr lang="en-US" sz="1600" spc="-40" dirty="0">
                <a:solidFill>
                  <a:srgbClr val="0D1B2A"/>
                </a:solidFill>
                <a:latin typeface="Calibri" pitchFamily="34" charset="0"/>
                <a:ea typeface="Calibri" pitchFamily="34" charset="-122"/>
                <a:cs typeface="Calibri" pitchFamily="34" charset="-120"/>
              </a:rPr>
              <a:t>: skok lub upadek – należy zresetować estymator</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Fuzja z IMU</a:t>
            </a:r>
            <a:r>
              <a:rPr lang="en-US" sz="1600" spc="-40" dirty="0">
                <a:solidFill>
                  <a:srgbClr val="0D1B2A"/>
                </a:solidFill>
                <a:latin typeface="Calibri" pitchFamily="34" charset="0"/>
                <a:ea typeface="Calibri" pitchFamily="34" charset="-122"/>
                <a:cs typeface="Calibri" pitchFamily="34" charset="-120"/>
              </a:rPr>
              <a:t>: stopa jako warunek brzegowy do korekcji dryftu yaw i translacji</a:t>
            </a:r>
            <a:endParaRPr lang="en-US" sz="1600" spc="-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1 | METRYKI</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Metryki jakości lokalizacji</a:t>
            </a:r>
            <a:endParaRPr lang="en-US" sz="2800" dirty="0"/>
          </a:p>
        </p:txBody>
      </p:sp>
      <p:sp>
        <p:nvSpPr>
          <p:cNvPr id="6" name="Shape 4"/>
          <p:cNvSpPr/>
          <p:nvPr/>
        </p:nvSpPr>
        <p:spPr>
          <a:xfrm>
            <a:off x="27432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b="1" dirty="0">
                <a:solidFill>
                  <a:srgbClr val="0D1B2A"/>
                </a:solidFill>
                <a:latin typeface="Trebuchet MS" pitchFamily="34" charset="0"/>
                <a:ea typeface="Trebuchet MS" pitchFamily="34" charset="-122"/>
                <a:cs typeface="Trebuchet MS" pitchFamily="34" charset="-120"/>
              </a:rPr>
              <a:t>RMSE pozycji</a:t>
            </a:r>
            <a:endParaRPr lang="en-US" dirty="0"/>
          </a:p>
        </p:txBody>
      </p:sp>
      <p:sp>
        <p:nvSpPr>
          <p:cNvPr id="9" name="Text 7"/>
          <p:cNvSpPr/>
          <p:nvPr/>
        </p:nvSpPr>
        <p:spPr>
          <a:xfrm>
            <a:off x="384048" y="18534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Pierwiastek </a:t>
            </a:r>
            <a:r>
              <a:rPr lang="en-US" sz="1600" dirty="0" err="1">
                <a:solidFill>
                  <a:srgbClr val="475569"/>
                </a:solidFill>
                <a:latin typeface="Calibri" pitchFamily="34" charset="0"/>
                <a:ea typeface="Calibri" pitchFamily="34" charset="-122"/>
                <a:cs typeface="Calibri" pitchFamily="34" charset="-120"/>
              </a:rPr>
              <a:t>średniokwadratowego</a:t>
            </a:r>
            <a:r>
              <a:rPr lang="en-US" sz="1600" dirty="0">
                <a:solidFill>
                  <a:srgbClr val="475569"/>
                </a:solidFill>
                <a:latin typeface="Calibri" pitchFamily="34" charset="0"/>
                <a:ea typeface="Calibri" pitchFamily="34" charset="-122"/>
                <a:cs typeface="Calibri" pitchFamily="34" charset="-120"/>
              </a:rPr>
              <a:t>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błędu</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xy [m] względem ścieżki referencyjnej</a:t>
            </a:r>
            <a:endParaRPr lang="en-US" sz="1600" dirty="0"/>
          </a:p>
        </p:txBody>
      </p:sp>
      <p:sp>
        <p:nvSpPr>
          <p:cNvPr id="10" name="Shape 8"/>
          <p:cNvSpPr/>
          <p:nvPr/>
        </p:nvSpPr>
        <p:spPr>
          <a:xfrm>
            <a:off x="470916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b="1" dirty="0">
                <a:solidFill>
                  <a:srgbClr val="0D1B2A"/>
                </a:solidFill>
                <a:latin typeface="Trebuchet MS" pitchFamily="34" charset="0"/>
                <a:ea typeface="Trebuchet MS" pitchFamily="34" charset="-122"/>
                <a:cs typeface="Trebuchet MS" pitchFamily="34" charset="-120"/>
              </a:rPr>
              <a:t>Błąd orientacji</a:t>
            </a:r>
            <a:endParaRPr lang="en-US" dirty="0"/>
          </a:p>
        </p:txBody>
      </p:sp>
      <p:sp>
        <p:nvSpPr>
          <p:cNvPr id="13" name="Text 11"/>
          <p:cNvSpPr/>
          <p:nvPr/>
        </p:nvSpPr>
        <p:spPr>
          <a:xfrm>
            <a:off x="4818888" y="18534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Średni błąd kąta yaw [°];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err="1" smtClean="0">
                <a:solidFill>
                  <a:srgbClr val="475569"/>
                </a:solidFill>
                <a:latin typeface="Calibri" pitchFamily="34" charset="0"/>
                <a:ea typeface="Calibri" pitchFamily="34" charset="-122"/>
                <a:cs typeface="Calibri" pitchFamily="34" charset="-120"/>
              </a:rPr>
              <a:t>krytyczny</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dla planowania kroków</a:t>
            </a:r>
            <a:endParaRPr lang="en-US" sz="1600" dirty="0"/>
          </a:p>
        </p:txBody>
      </p:sp>
      <p:sp>
        <p:nvSpPr>
          <p:cNvPr id="14" name="Shape 12"/>
          <p:cNvSpPr/>
          <p:nvPr/>
        </p:nvSpPr>
        <p:spPr>
          <a:xfrm>
            <a:off x="27432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b="1" dirty="0">
                <a:solidFill>
                  <a:srgbClr val="0D1B2A"/>
                </a:solidFill>
                <a:latin typeface="Trebuchet MS" pitchFamily="34" charset="0"/>
                <a:ea typeface="Trebuchet MS" pitchFamily="34" charset="-122"/>
                <a:cs typeface="Trebuchet MS" pitchFamily="34" charset="-120"/>
              </a:rPr>
              <a:t>Dryft na minutę</a:t>
            </a:r>
            <a:endParaRPr lang="en-US" dirty="0"/>
          </a:p>
        </p:txBody>
      </p:sp>
      <p:sp>
        <p:nvSpPr>
          <p:cNvPr id="17" name="Text 15"/>
          <p:cNvSpPr/>
          <p:nvPr/>
        </p:nvSpPr>
        <p:spPr>
          <a:xfrm>
            <a:off x="38404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Narastanie błędu pozycji bez korekty zewnętrznej [m/min]</a:t>
            </a:r>
            <a:endParaRPr lang="en-US" sz="1600" dirty="0"/>
          </a:p>
        </p:txBody>
      </p:sp>
      <p:sp>
        <p:nvSpPr>
          <p:cNvPr id="18" name="Shape 16"/>
          <p:cNvSpPr/>
          <p:nvPr/>
        </p:nvSpPr>
        <p:spPr>
          <a:xfrm>
            <a:off x="470916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b="1" dirty="0">
                <a:solidFill>
                  <a:srgbClr val="0D1B2A"/>
                </a:solidFill>
                <a:latin typeface="Trebuchet MS" pitchFamily="34" charset="0"/>
                <a:ea typeface="Trebuchet MS" pitchFamily="34" charset="-122"/>
                <a:cs typeface="Trebuchet MS" pitchFamily="34" charset="-120"/>
              </a:rPr>
              <a:t>Spójność estymatora</a:t>
            </a:r>
            <a:endParaRPr lang="en-US" dirty="0"/>
          </a:p>
        </p:txBody>
      </p:sp>
      <p:sp>
        <p:nvSpPr>
          <p:cNvPr id="21" name="Text 19"/>
          <p:cNvSpPr/>
          <p:nvPr/>
        </p:nvSpPr>
        <p:spPr>
          <a:xfrm>
            <a:off x="481888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Czy kowariancja P odpowiada rzeczywistemu błędowi? (test NIS/NEES)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Całkowanie prędkości kątowej z IMU</a:t>
            </a:r>
            <a:endParaRPr lang="en-US" sz="2800" dirty="0"/>
          </a:p>
        </p:txBody>
      </p:sp>
      <p:sp>
        <p:nvSpPr>
          <p:cNvPr id="6" name="Shape 4"/>
          <p:cNvSpPr/>
          <p:nvPr/>
        </p:nvSpPr>
        <p:spPr>
          <a:xfrm>
            <a:off x="274320" y="1005840"/>
            <a:ext cx="8595360" cy="3365438"/>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369180" y="1035872"/>
            <a:ext cx="8321040" cy="3231654"/>
          </a:xfrm>
          <a:prstGeom prst="rect">
            <a:avLst/>
          </a:prstGeom>
          <a:noFill/>
          <a:ln/>
        </p:spPr>
        <p:txBody>
          <a:bodyPr wrap="square" lIns="108000" tIns="0" rIns="127000" bIns="63500" rtlCol="0" anchor="t">
            <a:spAutoFit/>
          </a:bodyPr>
          <a:lstStyle/>
          <a:p>
            <a:pPr>
              <a:lnSpc>
                <a:spcPts val="1300"/>
              </a:lnSpc>
            </a:pPr>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ImuIntegrator</a:t>
            </a:r>
            <a:r>
              <a:rPr lang="pl-PL" sz="1200" dirty="0">
                <a:solidFill>
                  <a:srgbClr val="BBBEBF"/>
                </a:solidFill>
                <a:latin typeface="Consolas" panose="020B0609020204030204" pitchFamily="49" charset="0"/>
              </a:rPr>
              <a:t>:</a:t>
            </a:r>
          </a:p>
          <a:p>
            <a:pPr>
              <a:lnSpc>
                <a:spcPts val="1300"/>
              </a:lnSpc>
            </a:pPr>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a:t>
            </a: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[rad]</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[rad]</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roll</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[rad]</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2A8FF"/>
                </a:solidFill>
                <a:latin typeface="Consolas" panose="020B0609020204030204" pitchFamily="49" charset="0"/>
              </a:rPr>
              <a:t>update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gyro_xyz</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tuple</a:t>
            </a:r>
            <a:r>
              <a:rPr lang="pl-PL" sz="1200" dirty="0">
                <a:solidFill>
                  <a:srgbClr val="BBBEBF"/>
                </a:solidFill>
                <a:latin typeface="Consolas" panose="020B0609020204030204" pitchFamily="49" charset="0"/>
              </a:rPr>
              <a:t>:</a:t>
            </a:r>
          </a:p>
          <a:p>
            <a:pPr>
              <a:lnSpc>
                <a:spcPts val="1300"/>
              </a:lnSpc>
            </a:pPr>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"""Aktualizacja orientacji przez </a:t>
            </a:r>
            <a:r>
              <a:rPr lang="pl-PL" sz="1200" dirty="0" err="1">
                <a:solidFill>
                  <a:srgbClr val="A5D6FF"/>
                </a:solidFill>
                <a:latin typeface="Consolas" panose="020B0609020204030204" pitchFamily="49" charset="0"/>
              </a:rPr>
              <a:t>calkowanie</a:t>
            </a:r>
            <a:r>
              <a:rPr lang="pl-PL" sz="1200" dirty="0">
                <a:solidFill>
                  <a:srgbClr val="A5D6FF"/>
                </a:solidFill>
                <a:latin typeface="Consolas" panose="020B0609020204030204" pitchFamily="49" charset="0"/>
              </a:rPr>
              <a:t> </a:t>
            </a:r>
            <a:r>
              <a:rPr lang="pl-PL" sz="1200" dirty="0" err="1">
                <a:solidFill>
                  <a:srgbClr val="A5D6FF"/>
                </a:solidFill>
                <a:latin typeface="Consolas" panose="020B0609020204030204" pitchFamily="49" charset="0"/>
              </a:rPr>
              <a:t>zyroskopu</a:t>
            </a:r>
            <a:r>
              <a:rPr lang="pl-PL" sz="1200" dirty="0">
                <a:solidFill>
                  <a:srgbClr val="A5D6FF"/>
                </a:solidFill>
                <a:latin typeface="Consolas" panose="020B0609020204030204" pitchFamily="49" charset="0"/>
              </a:rPr>
              <a:t>."""</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gyro_xyz</a:t>
            </a:r>
            <a:r>
              <a:rPr lang="pl-PL" sz="1200" dirty="0">
                <a:solidFill>
                  <a:srgbClr val="8B949E"/>
                </a:solidFill>
                <a:latin typeface="Consolas" panose="020B0609020204030204" pitchFamily="49" charset="0"/>
              </a:rPr>
              <a:t> = [</a:t>
            </a:r>
            <a:r>
              <a:rPr lang="pl-PL" sz="1200" dirty="0" err="1">
                <a:solidFill>
                  <a:srgbClr val="8B949E"/>
                </a:solidFill>
                <a:latin typeface="Consolas" panose="020B0609020204030204" pitchFamily="49" charset="0"/>
              </a:rPr>
              <a:t>omega_x</a:t>
            </a: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omega_y</a:t>
            </a: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omega_z</a:t>
            </a:r>
            <a:r>
              <a:rPr lang="pl-PL" sz="1200" dirty="0">
                <a:solidFill>
                  <a:srgbClr val="8B949E"/>
                </a:solidFill>
                <a:latin typeface="Consolas" panose="020B0609020204030204" pitchFamily="49" charset="0"/>
              </a:rPr>
              <a:t>] w rad/s</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roll</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gyro_xyz</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gyro_xyz</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1</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gyro_xyz</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roll</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endParaRPr lang="pl-PL" sz="1200" dirty="0">
              <a:solidFill>
                <a:srgbClr val="BBBEBF"/>
              </a:solidFill>
              <a:latin typeface="Consolas" panose="020B0609020204030204" pitchFamily="49" charset="0"/>
            </a:endParaRPr>
          </a:p>
          <a:p>
            <a:pPr>
              <a:lnSpc>
                <a:spcPts val="13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Przyklad</a:t>
            </a:r>
            <a:r>
              <a:rPr lang="pl-PL" sz="1200" dirty="0">
                <a:solidFill>
                  <a:srgbClr val="8B949E"/>
                </a:solidFill>
                <a:latin typeface="Consolas" panose="020B0609020204030204" pitchFamily="49" charset="0"/>
              </a:rPr>
              <a:t> </a:t>
            </a:r>
            <a:r>
              <a:rPr lang="pl-PL" sz="1200" dirty="0" err="1">
                <a:solidFill>
                  <a:srgbClr val="8B949E"/>
                </a:solidFill>
                <a:latin typeface="Consolas" panose="020B0609020204030204" pitchFamily="49" charset="0"/>
              </a:rPr>
              <a:t>uzycia</a:t>
            </a:r>
            <a:r>
              <a:rPr lang="pl-PL" sz="1200" dirty="0">
                <a:solidFill>
                  <a:srgbClr val="8B949E"/>
                </a:solidFill>
                <a:latin typeface="Consolas" panose="020B0609020204030204" pitchFamily="49" charset="0"/>
              </a:rPr>
              <a:t>:</a:t>
            </a:r>
            <a:endParaRPr lang="pl-PL" sz="1200" dirty="0">
              <a:solidFill>
                <a:srgbClr val="BBBEBF"/>
              </a:solidFill>
              <a:latin typeface="Consolas" panose="020B0609020204030204" pitchFamily="49" charset="0"/>
            </a:endParaRPr>
          </a:p>
          <a:p>
            <a:pPr>
              <a:lnSpc>
                <a:spcPts val="1300"/>
              </a:lnSpc>
            </a:pPr>
            <a:r>
              <a:rPr lang="pl-PL" sz="1200" dirty="0">
                <a:solidFill>
                  <a:srgbClr val="C9D1D9"/>
                </a:solidFill>
                <a:latin typeface="Consolas" panose="020B0609020204030204" pitchFamily="49" charset="0"/>
              </a:rPr>
              <a:t>integrator</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ImuIntegrator</a:t>
            </a:r>
            <a:r>
              <a:rPr lang="pl-PL" sz="1200" dirty="0">
                <a:solidFill>
                  <a:srgbClr val="BBBEBF"/>
                </a:solidFill>
                <a:latin typeface="Consolas" panose="020B0609020204030204" pitchFamily="49" charset="0"/>
              </a:rPr>
              <a:t>()</a:t>
            </a:r>
          </a:p>
          <a:p>
            <a:pPr>
              <a:lnSpc>
                <a:spcPts val="1300"/>
              </a:lnSpc>
            </a:pPr>
            <a:r>
              <a:rPr lang="pl-PL" sz="1200" dirty="0" err="1">
                <a:solidFill>
                  <a:srgbClr val="C9D1D9"/>
                </a:solidFill>
                <a:latin typeface="Consolas" panose="020B0609020204030204" pitchFamily="49" charset="0"/>
              </a:rPr>
              <a:t>roll</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integrator</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update</a:t>
            </a:r>
            <a:r>
              <a:rPr lang="pl-PL" sz="1200" dirty="0">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array</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0.01</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0.02</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0.15</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0.005</a:t>
            </a:r>
            <a:r>
              <a:rPr lang="pl-PL" sz="1200" dirty="0" smtClean="0">
                <a:solidFill>
                  <a:srgbClr val="BBBEBF"/>
                </a:solidFill>
                <a:latin typeface="Consolas" panose="020B0609020204030204" pitchFamily="49" charset="0"/>
              </a:rPr>
              <a:t>)</a:t>
            </a:r>
            <a:endParaRPr lang="pl-PL" sz="1200" dirty="0">
              <a:solidFill>
                <a:srgbClr val="BBBEBF"/>
              </a:solidFill>
              <a:latin typeface="Consolas" panose="020B0609020204030204" pitchFamily="49" charset="0"/>
            </a:endParaRPr>
          </a:p>
        </p:txBody>
      </p:sp>
      <p:sp>
        <p:nvSpPr>
          <p:cNvPr id="11" name="Shape 9"/>
          <p:cNvSpPr/>
          <p:nvPr/>
        </p:nvSpPr>
        <p:spPr>
          <a:xfrm>
            <a:off x="274320" y="4505092"/>
            <a:ext cx="8595360" cy="432668"/>
          </a:xfrm>
          <a:prstGeom prst="rect">
            <a:avLst/>
          </a:prstGeom>
          <a:solidFill>
            <a:srgbClr val="1A3550"/>
          </a:solidFill>
          <a:ln w="12700">
            <a:solidFill>
              <a:srgbClr val="0077A8"/>
            </a:solidFill>
            <a:prstDash val="solid"/>
          </a:ln>
        </p:spPr>
      </p:sp>
      <p:sp>
        <p:nvSpPr>
          <p:cNvPr id="12" name="Text 10"/>
          <p:cNvSpPr/>
          <p:nvPr/>
        </p:nvSpPr>
        <p:spPr>
          <a:xfrm>
            <a:off x="457200" y="4505092"/>
            <a:ext cx="8321040" cy="432667"/>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Proste całkowanie </a:t>
            </a:r>
            <a:r>
              <a:rPr lang="en-US" sz="1600" dirty="0" err="1">
                <a:solidFill>
                  <a:srgbClr val="E2EBF3"/>
                </a:solidFill>
                <a:latin typeface="Calibri" pitchFamily="34" charset="0"/>
                <a:ea typeface="Calibri" pitchFamily="34" charset="-122"/>
                <a:cs typeface="Calibri" pitchFamily="34" charset="-120"/>
              </a:rPr>
              <a:t>żyroskopu</a:t>
            </a:r>
            <a:r>
              <a:rPr lang="en-US" sz="1600" dirty="0">
                <a:solidFill>
                  <a:srgbClr val="E2EBF3"/>
                </a:solidFill>
                <a:latin typeface="Calibri" pitchFamily="34" charset="0"/>
                <a:ea typeface="Calibri" pitchFamily="34" charset="-122"/>
                <a:cs typeface="Calibri" pitchFamily="34" charset="-120"/>
              </a:rPr>
              <a:t> </a:t>
            </a:r>
            <a:r>
              <a:rPr lang="en-US" sz="1600" dirty="0" smtClean="0">
                <a:solidFill>
                  <a:srgbClr val="E2EBF3"/>
                </a:solidFill>
                <a:latin typeface="Calibri" pitchFamily="34" charset="0"/>
                <a:ea typeface="Calibri" pitchFamily="34" charset="-122"/>
                <a:cs typeface="Calibri" pitchFamily="34" charset="-120"/>
              </a:rPr>
              <a:t>–</a:t>
            </a:r>
            <a:r>
              <a:rPr lang="pl-PL" sz="1600" dirty="0" smtClean="0">
                <a:solidFill>
                  <a:srgbClr val="E2EBF3"/>
                </a:solidFill>
                <a:latin typeface="Calibri" pitchFamily="34" charset="0"/>
                <a:ea typeface="Calibri" pitchFamily="34" charset="-122"/>
                <a:cs typeface="Calibri" pitchFamily="34" charset="-120"/>
              </a:rPr>
              <a:t>&gt;</a:t>
            </a:r>
            <a:r>
              <a:rPr lang="en-US" sz="1600" dirty="0" smtClean="0">
                <a:solidFill>
                  <a:srgbClr val="E2EBF3"/>
                </a:solidFill>
                <a:latin typeface="Calibri" pitchFamily="34" charset="0"/>
                <a:ea typeface="Calibri" pitchFamily="34" charset="-122"/>
                <a:cs typeface="Calibri" pitchFamily="34" charset="-120"/>
              </a:rPr>
              <a:t> </a:t>
            </a:r>
            <a:r>
              <a:rPr lang="en-US" sz="1600" dirty="0">
                <a:solidFill>
                  <a:srgbClr val="E2EBF3"/>
                </a:solidFill>
                <a:latin typeface="Calibri" pitchFamily="34" charset="0"/>
                <a:ea typeface="Calibri" pitchFamily="34" charset="-122"/>
                <a:cs typeface="Calibri" pitchFamily="34" charset="-120"/>
              </a:rPr>
              <a:t>szybkie, lecz podatne na dryft bez </a:t>
            </a:r>
            <a:r>
              <a:rPr lang="en-US" sz="1600" dirty="0" err="1">
                <a:solidFill>
                  <a:srgbClr val="E2EBF3"/>
                </a:solidFill>
                <a:latin typeface="Calibri" pitchFamily="34" charset="0"/>
                <a:ea typeface="Calibri" pitchFamily="34" charset="-122"/>
                <a:cs typeface="Calibri" pitchFamily="34" charset="-120"/>
              </a:rPr>
              <a:t>korekty</a:t>
            </a:r>
            <a:r>
              <a:rPr lang="en-US" sz="1600" dirty="0">
                <a:solidFill>
                  <a:srgbClr val="E2EBF3"/>
                </a:solidFill>
                <a:latin typeface="Calibri" pitchFamily="34" charset="0"/>
                <a:ea typeface="Calibri" pitchFamily="34" charset="-122"/>
                <a:cs typeface="Calibri" pitchFamily="34" charset="-120"/>
              </a:rPr>
              <a:t> </a:t>
            </a:r>
            <a:r>
              <a:rPr lang="en-US" sz="1600" dirty="0" err="1" smtClean="0">
                <a:solidFill>
                  <a:srgbClr val="E2EBF3"/>
                </a:solidFill>
                <a:latin typeface="Calibri" pitchFamily="34" charset="0"/>
                <a:ea typeface="Calibri" pitchFamily="34" charset="-122"/>
                <a:cs typeface="Calibri" pitchFamily="34" charset="-120"/>
              </a:rPr>
              <a:t>zewnętrznej</a:t>
            </a:r>
            <a:endParaRPr lang="en-US" sz="1600" dirty="0"/>
          </a:p>
        </p:txBody>
      </p:sp>
      <p:sp>
        <p:nvSpPr>
          <p:cNvPr id="13"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17068"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kroku – aktualizacja pozycji robota</a:t>
            </a:r>
            <a:endParaRPr lang="en-US" sz="2800" dirty="0"/>
          </a:p>
        </p:txBody>
      </p:sp>
      <p:sp>
        <p:nvSpPr>
          <p:cNvPr id="6" name="Shape 4"/>
          <p:cNvSpPr/>
          <p:nvPr/>
        </p:nvSpPr>
        <p:spPr>
          <a:xfrm>
            <a:off x="274320" y="1005839"/>
            <a:ext cx="8595360" cy="3416809"/>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10" name="Text 8"/>
          <p:cNvSpPr/>
          <p:nvPr/>
        </p:nvSpPr>
        <p:spPr>
          <a:xfrm>
            <a:off x="457200" y="1051559"/>
            <a:ext cx="8321040" cy="3066957"/>
          </a:xfrm>
          <a:prstGeom prst="rect">
            <a:avLst/>
          </a:prstGeom>
          <a:noFill/>
          <a:ln/>
        </p:spPr>
        <p:txBody>
          <a:bodyPr wrap="square" lIns="108000" tIns="0" rIns="127000" bIns="63500" rtlCol="0" anchor="t"/>
          <a:lstStyle/>
          <a:p>
            <a:pPr>
              <a:lnSpc>
                <a:spcPts val="1400"/>
              </a:lnSpc>
            </a:pPr>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StepOdometry</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x</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[m]</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[m]</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[rad]</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2A8FF"/>
                </a:solidFill>
                <a:latin typeface="Consolas" panose="020B0609020204030204" pitchFamily="49" charset="0"/>
              </a:rPr>
              <a:t>step</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stride_len</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delta_yaw</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tuple</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"""Aktualizacja pozycji po jednym kroku (</a:t>
            </a:r>
            <a:r>
              <a:rPr lang="pl-PL" sz="1200" dirty="0" err="1">
                <a:solidFill>
                  <a:srgbClr val="A5D6FF"/>
                </a:solidFill>
                <a:latin typeface="Consolas" panose="020B0609020204030204" pitchFamily="49" charset="0"/>
              </a:rPr>
              <a:t>stride</a:t>
            </a:r>
            <a:r>
              <a:rPr lang="pl-PL" sz="1200" dirty="0">
                <a:solidFill>
                  <a:srgbClr val="A5D6FF"/>
                </a:solidFill>
                <a:latin typeface="Consolas" panose="020B0609020204030204" pitchFamily="49" charset="0"/>
              </a:rPr>
              <a:t>)."""</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delta_yaw</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x</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stride_len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cos</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stride_len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sin</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x</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yaw</a:t>
            </a:r>
            <a:endParaRPr lang="pl-PL" sz="1200" dirty="0">
              <a:solidFill>
                <a:srgbClr val="BBBEBF"/>
              </a:solidFill>
              <a:latin typeface="Consolas" panose="020B0609020204030204" pitchFamily="49" charset="0"/>
            </a:endParaRPr>
          </a:p>
          <a:p>
            <a:pPr>
              <a:lnSpc>
                <a:spcPts val="1400"/>
              </a:lnSpc>
            </a:pPr>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C9D1D9"/>
                </a:solidFill>
                <a:latin typeface="Consolas" panose="020B0609020204030204" pitchFamily="49" charset="0"/>
              </a:rPr>
              <a:t>odo</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StepOdometry</a:t>
            </a:r>
            <a:r>
              <a:rPr lang="pl-PL" sz="1200" dirty="0">
                <a:solidFill>
                  <a:srgbClr val="BBBEBF"/>
                </a:solidFill>
                <a:latin typeface="Consolas" panose="020B0609020204030204" pitchFamily="49" charset="0"/>
              </a:rPr>
              <a:t>()</a:t>
            </a:r>
          </a:p>
          <a:p>
            <a:pPr>
              <a:lnSpc>
                <a:spcPts val="1400"/>
              </a:lnSpc>
            </a:pPr>
            <a:r>
              <a:rPr lang="pl-PL" sz="1200" dirty="0">
                <a:solidFill>
                  <a:srgbClr val="C586C0"/>
                </a:solidFill>
                <a:latin typeface="Consolas" panose="020B0609020204030204" pitchFamily="49" charset="0"/>
              </a:rPr>
              <a:t>for</a:t>
            </a:r>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_</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in</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range</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10</a:t>
            </a:r>
            <a:r>
              <a:rPr lang="pl-PL" sz="1200" dirty="0">
                <a:solidFill>
                  <a:srgbClr val="BBBEBF"/>
                </a:solidFill>
                <a:latin typeface="Consolas" panose="020B0609020204030204" pitchFamily="49" charset="0"/>
              </a:rPr>
              <a:t>):</a:t>
            </a:r>
          </a:p>
          <a:p>
            <a:pPr>
              <a:lnSpc>
                <a:spcPts val="1400"/>
              </a:lnSpc>
            </a:pPr>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x</a:t>
            </a:r>
            <a:r>
              <a:rPr lang="pl-PL" sz="1200" dirty="0">
                <a:solidFill>
                  <a:srgbClr val="BBBEBF"/>
                </a:solidFill>
                <a:latin typeface="Consolas" panose="020B0609020204030204" pitchFamily="49" charset="0"/>
              </a:rPr>
              <a:t>, </a:t>
            </a:r>
            <a:r>
              <a:rPr lang="pl-PL" sz="1200" dirty="0">
                <a:solidFill>
                  <a:srgbClr val="C9D1D9"/>
                </a:solidFill>
                <a:latin typeface="Consolas" panose="020B0609020204030204" pitchFamily="49" charset="0"/>
              </a:rPr>
              <a:t>y</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yaw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odo</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step</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stride_len</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0.35</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delta_yaw</a:t>
            </a:r>
            <a:r>
              <a:rPr lang="pl-PL" sz="1200" dirty="0">
                <a:solidFill>
                  <a:srgbClr val="D4D4D4"/>
                </a:solidFill>
                <a:latin typeface="Consolas" panose="020B0609020204030204" pitchFamily="49" charset="0"/>
              </a:rPr>
              <a:t>=</a:t>
            </a:r>
            <a:r>
              <a:rPr lang="pl-PL" sz="1200" dirty="0">
                <a:solidFill>
                  <a:srgbClr val="B5CEA8"/>
                </a:solidFill>
                <a:latin typeface="Consolas" panose="020B0609020204030204" pitchFamily="49" charset="0"/>
              </a:rPr>
              <a:t>0.02</a:t>
            </a:r>
            <a:r>
              <a:rPr lang="pl-PL" sz="1200" dirty="0" smtClean="0">
                <a:solidFill>
                  <a:srgbClr val="BBBEBF"/>
                </a:solidFill>
                <a:latin typeface="Consolas" panose="020B0609020204030204" pitchFamily="49" charset="0"/>
              </a:rPr>
              <a:t>)</a:t>
            </a:r>
            <a:endParaRPr lang="pl-PL" sz="1200" dirty="0">
              <a:solidFill>
                <a:srgbClr val="BBBEBF"/>
              </a:solidFill>
              <a:latin typeface="Consolas" panose="020B0609020204030204" pitchFamily="49" charset="0"/>
            </a:endParaRPr>
          </a:p>
        </p:txBody>
      </p:sp>
      <p:sp>
        <p:nvSpPr>
          <p:cNvPr id="11" name="Shape 9"/>
          <p:cNvSpPr/>
          <p:nvPr/>
        </p:nvSpPr>
        <p:spPr>
          <a:xfrm>
            <a:off x="274320" y="4495800"/>
            <a:ext cx="8595360" cy="441960"/>
          </a:xfrm>
          <a:prstGeom prst="rect">
            <a:avLst/>
          </a:prstGeom>
          <a:solidFill>
            <a:srgbClr val="1A3550"/>
          </a:solidFill>
          <a:ln w="12700">
            <a:solidFill>
              <a:srgbClr val="0077A8"/>
            </a:solidFill>
            <a:prstDash val="solid"/>
          </a:ln>
        </p:spPr>
      </p:sp>
      <p:sp>
        <p:nvSpPr>
          <p:cNvPr id="12" name="Text 10"/>
          <p:cNvSpPr/>
          <p:nvPr/>
        </p:nvSpPr>
        <p:spPr>
          <a:xfrm>
            <a:off x="457200" y="4495800"/>
            <a:ext cx="8321040" cy="44196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Każdy krok aktualizuje pozycję bazy przez kinematykę planarną; </a:t>
            </a:r>
            <a:r>
              <a:rPr lang="en-US" sz="1600" b="1" dirty="0">
                <a:solidFill>
                  <a:schemeClr val="accent2"/>
                </a:solidFill>
                <a:latin typeface="Calibri" pitchFamily="34" charset="0"/>
                <a:ea typeface="Calibri" pitchFamily="34" charset="-122"/>
                <a:cs typeface="Calibri" pitchFamily="34" charset="-120"/>
              </a:rPr>
              <a:t>delta_yaw</a:t>
            </a:r>
            <a:r>
              <a:rPr lang="en-US" sz="1600" dirty="0">
                <a:solidFill>
                  <a:srgbClr val="E2EBF3"/>
                </a:solidFill>
                <a:latin typeface="Calibri" pitchFamily="34" charset="0"/>
                <a:ea typeface="Calibri" pitchFamily="34" charset="-122"/>
                <a:cs typeface="Calibri" pitchFamily="34" charset="-120"/>
              </a:rPr>
              <a:t> pochodzi z </a:t>
            </a:r>
            <a:r>
              <a:rPr lang="en-US" sz="1600" dirty="0" smtClean="0">
                <a:solidFill>
                  <a:srgbClr val="E2EBF3"/>
                </a:solidFill>
                <a:latin typeface="Calibri" pitchFamily="34" charset="0"/>
                <a:ea typeface="Calibri" pitchFamily="34" charset="-122"/>
                <a:cs typeface="Calibri" pitchFamily="34" charset="-120"/>
              </a:rPr>
              <a:t>IMU</a:t>
            </a:r>
            <a:endParaRPr lang="en-US" sz="1600" dirty="0"/>
          </a:p>
        </p:txBody>
      </p:sp>
      <p:sp>
        <p:nvSpPr>
          <p:cNvPr id="13"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14"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15" name="Shape 7"/>
          <p:cNvSpPr/>
          <p:nvPr/>
        </p:nvSpPr>
        <p:spPr>
          <a:xfrm>
            <a:off x="8617068" y="1115568"/>
            <a:ext cx="146304" cy="146304"/>
          </a:xfrm>
          <a:prstGeom prst="ellipse">
            <a:avLst/>
          </a:prstGeom>
          <a:solidFill>
            <a:srgbClr val="C3F584"/>
          </a:solidFill>
          <a:ln w="12700">
            <a:solidFill>
              <a:srgbClr val="C3F584"/>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02</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Filtry estymacyjne</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i fuzja sensoryczna</a:t>
            </a:r>
            <a:endParaRPr lang="en-US" sz="32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EKF, UKF, filtr cząsteczkowy, fuzja IMU+enkodery+wzrok</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FUZJA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 co łączyć sensory?</a:t>
            </a:r>
            <a:endParaRPr lang="en-US" sz="2800" dirty="0"/>
          </a:p>
        </p:txBody>
      </p:sp>
      <p:sp>
        <p:nvSpPr>
          <p:cNvPr id="6" name="Shape 4"/>
          <p:cNvSpPr/>
          <p:nvPr/>
        </p:nvSpPr>
        <p:spPr>
          <a:xfrm>
            <a:off x="27432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4160520" cy="54864"/>
          </a:xfrm>
          <a:prstGeom prst="rect">
            <a:avLst/>
          </a:prstGeom>
          <a:solidFill>
            <a:srgbClr val="00B4D8"/>
          </a:solidFill>
          <a:ln w="12700">
            <a:solidFill>
              <a:srgbClr val="00B4D8"/>
            </a:solidFill>
            <a:prstDash val="solid"/>
          </a:ln>
        </p:spPr>
      </p:sp>
      <p:sp>
        <p:nvSpPr>
          <p:cNvPr id="8" name="Text 6"/>
          <p:cNvSpPr/>
          <p:nvPr/>
        </p:nvSpPr>
        <p:spPr>
          <a:xfrm>
            <a:off x="38404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Komplementarność</a:t>
            </a:r>
            <a:endParaRPr lang="en-US" sz="2000" dirty="0"/>
          </a:p>
        </p:txBody>
      </p:sp>
      <p:sp>
        <p:nvSpPr>
          <p:cNvPr id="9" name="Text 7"/>
          <p:cNvSpPr/>
          <p:nvPr/>
        </p:nvSpPr>
        <p:spPr>
          <a:xfrm>
            <a:off x="384048" y="1853489"/>
            <a:ext cx="3941064" cy="930402"/>
          </a:xfrm>
          <a:prstGeom prst="rect">
            <a:avLst/>
          </a:prstGeom>
          <a:noFill/>
          <a:ln/>
        </p:spPr>
        <p:txBody>
          <a:bodyPr wrap="square" lIns="0" tIns="0" rIns="0" bIns="0" rtlCol="0" anchor="ctr"/>
          <a:lstStyle/>
          <a:p>
            <a:pPr marL="0" indent="0">
              <a:buNone/>
            </a:pPr>
            <a:r>
              <a:rPr lang="en-US" sz="1600" dirty="0" err="1" smtClean="0">
                <a:solidFill>
                  <a:srgbClr val="475569"/>
                </a:solidFill>
                <a:latin typeface="Calibri" pitchFamily="34" charset="0"/>
                <a:ea typeface="Calibri" pitchFamily="34" charset="-122"/>
                <a:cs typeface="Calibri" pitchFamily="34" charset="-120"/>
              </a:rPr>
              <a:t>Żyroskop</a:t>
            </a:r>
            <a:r>
              <a:rPr lang="pl-PL" sz="1600" dirty="0">
                <a:solidFill>
                  <a:srgbClr val="475569"/>
                </a:solidFill>
                <a:latin typeface="Calibri" pitchFamily="34" charset="0"/>
                <a:ea typeface="Calibri" pitchFamily="34" charset="-122"/>
                <a:cs typeface="Calibri" pitchFamily="34" charset="-120"/>
              </a:rPr>
              <a:t>:</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szybki, dryfuje. </a:t>
            </a:r>
            <a:r>
              <a:rPr lang="en-US" sz="1600" dirty="0" err="1" smtClean="0">
                <a:solidFill>
                  <a:srgbClr val="475569"/>
                </a:solidFill>
                <a:latin typeface="Calibri" pitchFamily="34" charset="0"/>
                <a:ea typeface="Calibri" pitchFamily="34" charset="-122"/>
                <a:cs typeface="Calibri" pitchFamily="34" charset="-120"/>
              </a:rPr>
              <a:t>Akcelerometr</a:t>
            </a:r>
            <a:r>
              <a:rPr lang="pl-PL" sz="1600" dirty="0">
                <a:solidFill>
                  <a:srgbClr val="475569"/>
                </a:solidFill>
                <a:latin typeface="Calibri" pitchFamily="34" charset="0"/>
                <a:ea typeface="Calibri" pitchFamily="34" charset="-122"/>
                <a:cs typeface="Calibri" pitchFamily="34" charset="-120"/>
              </a:rPr>
              <a:t>:</a:t>
            </a:r>
            <a:r>
              <a:rPr lang="en-US" sz="1600" dirty="0" smtClean="0">
                <a:solidFill>
                  <a:srgbClr val="475569"/>
                </a:solidFill>
                <a:latin typeface="Calibri" pitchFamily="34" charset="0"/>
                <a:ea typeface="Calibri" pitchFamily="34" charset="-122"/>
                <a:cs typeface="Calibri" pitchFamily="34" charset="-120"/>
              </a:rPr>
              <a:t> </a:t>
            </a:r>
            <a:r>
              <a:rPr lang="en-US" sz="1600" dirty="0">
                <a:solidFill>
                  <a:srgbClr val="475569"/>
                </a:solidFill>
                <a:latin typeface="Calibri" pitchFamily="34" charset="0"/>
                <a:ea typeface="Calibri" pitchFamily="34" charset="-122"/>
                <a:cs typeface="Calibri" pitchFamily="34" charset="-120"/>
              </a:rPr>
              <a:t>wolny, stabilny kąt. </a:t>
            </a:r>
            <a:r>
              <a:rPr lang="en-US" sz="1600" dirty="0" err="1" smtClean="0">
                <a:solidFill>
                  <a:srgbClr val="475569"/>
                </a:solidFill>
                <a:latin typeface="Calibri" pitchFamily="34" charset="0"/>
                <a:ea typeface="Calibri" pitchFamily="34" charset="-122"/>
                <a:cs typeface="Calibri" pitchFamily="34" charset="-120"/>
              </a:rPr>
              <a:t>Razem</a:t>
            </a:r>
            <a:r>
              <a:rPr lang="en-US" sz="1600" dirty="0">
                <a:solidFill>
                  <a:srgbClr val="475569"/>
                </a:solidFill>
                <a:latin typeface="Calibri" pitchFamily="34" charset="0"/>
                <a:ea typeface="Calibri" pitchFamily="34" charset="-122"/>
                <a:cs typeface="Calibri" pitchFamily="34" charset="-120"/>
              </a:rPr>
              <a:t>: lepiej.</a:t>
            </a:r>
            <a:endParaRPr lang="en-US" sz="1600" dirty="0"/>
          </a:p>
        </p:txBody>
      </p:sp>
      <p:sp>
        <p:nvSpPr>
          <p:cNvPr id="10" name="Shape 8"/>
          <p:cNvSpPr/>
          <p:nvPr/>
        </p:nvSpPr>
        <p:spPr>
          <a:xfrm>
            <a:off x="4709160" y="11430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4709160" y="1143000"/>
            <a:ext cx="4160520" cy="54864"/>
          </a:xfrm>
          <a:prstGeom prst="rect">
            <a:avLst/>
          </a:prstGeom>
          <a:solidFill>
            <a:srgbClr val="0077A8"/>
          </a:solidFill>
          <a:ln w="12700">
            <a:solidFill>
              <a:srgbClr val="0077A8"/>
            </a:solidFill>
            <a:prstDash val="solid"/>
          </a:ln>
        </p:spPr>
      </p:sp>
      <p:sp>
        <p:nvSpPr>
          <p:cNvPr id="12" name="Text 10"/>
          <p:cNvSpPr/>
          <p:nvPr/>
        </p:nvSpPr>
        <p:spPr>
          <a:xfrm>
            <a:off x="4818888" y="12344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Redundancja</a:t>
            </a:r>
            <a:endParaRPr lang="en-US" sz="2000" dirty="0"/>
          </a:p>
        </p:txBody>
      </p:sp>
      <p:sp>
        <p:nvSpPr>
          <p:cNvPr id="13" name="Text 11"/>
          <p:cNvSpPr/>
          <p:nvPr/>
        </p:nvSpPr>
        <p:spPr>
          <a:xfrm>
            <a:off x="4818888" y="18534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Awaria jednego sensora nie blokuje estymacji, jeśli mamy zapas informacji.</a:t>
            </a:r>
            <a:endParaRPr lang="en-US" sz="1600" dirty="0"/>
          </a:p>
        </p:txBody>
      </p:sp>
      <p:sp>
        <p:nvSpPr>
          <p:cNvPr id="14" name="Shape 12"/>
          <p:cNvSpPr/>
          <p:nvPr/>
        </p:nvSpPr>
        <p:spPr>
          <a:xfrm>
            <a:off x="27432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274320" y="2971800"/>
            <a:ext cx="4160520" cy="54864"/>
          </a:xfrm>
          <a:prstGeom prst="rect">
            <a:avLst/>
          </a:prstGeom>
          <a:solidFill>
            <a:srgbClr val="0077A8"/>
          </a:solidFill>
          <a:ln w="12700">
            <a:solidFill>
              <a:srgbClr val="0077A8"/>
            </a:solidFill>
            <a:prstDash val="solid"/>
          </a:ln>
        </p:spPr>
      </p:sp>
      <p:sp>
        <p:nvSpPr>
          <p:cNvPr id="16" name="Text 14"/>
          <p:cNvSpPr/>
          <p:nvPr/>
        </p:nvSpPr>
        <p:spPr>
          <a:xfrm>
            <a:off x="38404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Wzajemna korekta</a:t>
            </a:r>
            <a:endParaRPr lang="en-US" sz="2000" dirty="0"/>
          </a:p>
        </p:txBody>
      </p:sp>
      <p:sp>
        <p:nvSpPr>
          <p:cNvPr id="17" name="Text 15"/>
          <p:cNvSpPr/>
          <p:nvPr/>
        </p:nvSpPr>
        <p:spPr>
          <a:xfrm>
            <a:off x="38404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Kamera koryguje skumulowany dryft IMU; </a:t>
            </a:r>
            <a:r>
              <a:rPr lang="pl-PL" sz="1600" dirty="0" smtClean="0">
                <a:solidFill>
                  <a:srgbClr val="475569"/>
                </a:solidFill>
                <a:latin typeface="Calibri" pitchFamily="34" charset="0"/>
                <a:ea typeface="Calibri" pitchFamily="34" charset="-122"/>
                <a:cs typeface="Calibri" pitchFamily="34" charset="-120"/>
              </a:rPr>
              <a:t/>
            </a:r>
            <a:br>
              <a:rPr lang="pl-PL" sz="1600" dirty="0" smtClean="0">
                <a:solidFill>
                  <a:srgbClr val="475569"/>
                </a:solidFill>
                <a:latin typeface="Calibri" pitchFamily="34" charset="0"/>
                <a:ea typeface="Calibri" pitchFamily="34" charset="-122"/>
                <a:cs typeface="Calibri" pitchFamily="34" charset="-120"/>
              </a:rPr>
            </a:br>
            <a:r>
              <a:rPr lang="en-US" sz="1600" dirty="0" smtClean="0">
                <a:solidFill>
                  <a:srgbClr val="475569"/>
                </a:solidFill>
                <a:latin typeface="Calibri" pitchFamily="34" charset="0"/>
                <a:ea typeface="Calibri" pitchFamily="34" charset="-122"/>
                <a:cs typeface="Calibri" pitchFamily="34" charset="-120"/>
              </a:rPr>
              <a:t>IMU </a:t>
            </a:r>
            <a:r>
              <a:rPr lang="en-US" sz="1600" dirty="0">
                <a:solidFill>
                  <a:srgbClr val="475569"/>
                </a:solidFill>
                <a:latin typeface="Calibri" pitchFamily="34" charset="0"/>
                <a:ea typeface="Calibri" pitchFamily="34" charset="-122"/>
                <a:cs typeface="Calibri" pitchFamily="34" charset="-120"/>
              </a:rPr>
              <a:t>stabilizuje estymację przy rozmazaniu</a:t>
            </a:r>
            <a:endParaRPr lang="en-US" sz="1600" dirty="0"/>
          </a:p>
        </p:txBody>
      </p:sp>
      <p:sp>
        <p:nvSpPr>
          <p:cNvPr id="18" name="Shape 16"/>
          <p:cNvSpPr/>
          <p:nvPr/>
        </p:nvSpPr>
        <p:spPr>
          <a:xfrm>
            <a:off x="4709160" y="2971800"/>
            <a:ext cx="416052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4709160" y="2971800"/>
            <a:ext cx="4160520" cy="54864"/>
          </a:xfrm>
          <a:prstGeom prst="rect">
            <a:avLst/>
          </a:prstGeom>
          <a:solidFill>
            <a:srgbClr val="1A3550"/>
          </a:solidFill>
          <a:ln w="12700">
            <a:solidFill>
              <a:srgbClr val="1A3550"/>
            </a:solidFill>
            <a:prstDash val="solid"/>
          </a:ln>
        </p:spPr>
      </p:sp>
      <p:sp>
        <p:nvSpPr>
          <p:cNvPr id="20" name="Text 18"/>
          <p:cNvSpPr/>
          <p:nvPr/>
        </p:nvSpPr>
        <p:spPr>
          <a:xfrm>
            <a:off x="4818888" y="3063240"/>
            <a:ext cx="3941064" cy="642823"/>
          </a:xfrm>
          <a:prstGeom prst="rect">
            <a:avLst/>
          </a:prstGeom>
          <a:noFill/>
          <a:ln/>
        </p:spPr>
        <p:txBody>
          <a:bodyPr wrap="square" lIns="0" tIns="0" rIns="0" bIns="0" rtlCol="0" anchor="ctr"/>
          <a:lstStyle/>
          <a:p>
            <a:pPr marL="0" indent="0">
              <a:buNone/>
            </a:pPr>
            <a:r>
              <a:rPr lang="en-US" sz="2000" b="1" dirty="0">
                <a:solidFill>
                  <a:srgbClr val="0D1B2A"/>
                </a:solidFill>
                <a:latin typeface="Trebuchet MS" pitchFamily="34" charset="0"/>
                <a:ea typeface="Trebuchet MS" pitchFamily="34" charset="-122"/>
                <a:cs typeface="Trebuchet MS" pitchFamily="34" charset="-120"/>
              </a:rPr>
              <a:t>Pewność statystyczna</a:t>
            </a:r>
            <a:endParaRPr lang="en-US" sz="2000" dirty="0"/>
          </a:p>
        </p:txBody>
      </p:sp>
      <p:sp>
        <p:nvSpPr>
          <p:cNvPr id="21" name="Text 19"/>
          <p:cNvSpPr/>
          <p:nvPr/>
        </p:nvSpPr>
        <p:spPr>
          <a:xfrm>
            <a:off x="4818888" y="3682289"/>
            <a:ext cx="3941064" cy="930402"/>
          </a:xfrm>
          <a:prstGeom prst="rect">
            <a:avLst/>
          </a:prstGeom>
          <a:noFill/>
          <a:ln/>
        </p:spPr>
        <p:txBody>
          <a:bodyPr wrap="square" lIns="0" tIns="0" rIns="0" bIns="0" rtlCol="0" anchor="ctr"/>
          <a:lstStyle/>
          <a:p>
            <a:pPr marL="0" indent="0">
              <a:buNone/>
            </a:pPr>
            <a:r>
              <a:rPr lang="en-US" sz="1600" dirty="0">
                <a:solidFill>
                  <a:srgbClr val="475569"/>
                </a:solidFill>
                <a:latin typeface="Calibri" pitchFamily="34" charset="0"/>
                <a:ea typeface="Calibri" pitchFamily="34" charset="-122"/>
                <a:cs typeface="Calibri" pitchFamily="34" charset="-120"/>
              </a:rPr>
              <a:t>Kowariancja złożona &lt; kowariancja pojedynczego sensora </a:t>
            </a:r>
            <a:r>
              <a:rPr lang="en-US" sz="1600" i="1" dirty="0">
                <a:solidFill>
                  <a:srgbClr val="475569"/>
                </a:solidFill>
                <a:latin typeface="Calibri" pitchFamily="34" charset="0"/>
                <a:ea typeface="Calibri" pitchFamily="34" charset="-122"/>
                <a:cs typeface="Calibri" pitchFamily="34" charset="-120"/>
              </a:rPr>
              <a:t>(reguła filtracji)</a:t>
            </a:r>
            <a:endParaRPr lang="en-US" sz="1600" i="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FILTR KOMPLEMENTARNY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 komplementarny – intuicja</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52044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Idea</a:t>
            </a:r>
            <a:r>
              <a:rPr lang="en-US" sz="1600" dirty="0">
                <a:solidFill>
                  <a:srgbClr val="0D1B2A"/>
                </a:solidFill>
                <a:latin typeface="Calibri" pitchFamily="34" charset="0"/>
                <a:ea typeface="Calibri" pitchFamily="34" charset="-122"/>
                <a:cs typeface="Calibri" pitchFamily="34" charset="-120"/>
              </a:rPr>
              <a:t>: połącz żyroskop (szybki, dryfuje) z akcelerometrem (wolny, stabilny w długim czasie)</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Wzór</a:t>
            </a:r>
            <a:r>
              <a:rPr lang="en-US" sz="1600" dirty="0">
                <a:solidFill>
                  <a:srgbClr val="0D1B2A"/>
                </a:solidFill>
                <a:latin typeface="Calibri" pitchFamily="34" charset="0"/>
                <a:ea typeface="Calibri" pitchFamily="34" charset="-122"/>
                <a:cs typeface="Calibri" pitchFamily="34" charset="-120"/>
              </a:rPr>
              <a:t>: θ(t) = α · (θ_prev + ω_gyro · dt) + (1–α) · θ_accel</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Parametr α</a:t>
            </a:r>
            <a:r>
              <a:rPr lang="en-US" sz="1600" dirty="0">
                <a:solidFill>
                  <a:srgbClr val="0D1B2A"/>
                </a:solidFill>
                <a:latin typeface="Calibri" pitchFamily="34" charset="0"/>
                <a:ea typeface="Calibri" pitchFamily="34" charset="-122"/>
                <a:cs typeface="Calibri" pitchFamily="34" charset="-120"/>
              </a:rPr>
              <a:t>: blisko 1 (np. 0,98) – większe zaufanie do żyroskopu na krótkich interwałach</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Działanie</a:t>
            </a:r>
            <a:r>
              <a:rPr lang="en-US" sz="1600" dirty="0">
                <a:solidFill>
                  <a:srgbClr val="0D1B2A"/>
                </a:solidFill>
                <a:latin typeface="Calibri" pitchFamily="34" charset="0"/>
                <a:ea typeface="Calibri" pitchFamily="34" charset="-122"/>
                <a:cs typeface="Calibri" pitchFamily="34" charset="-120"/>
              </a:rPr>
              <a:t>: żyroskop śledzi szybkie zmiany; akcelerometr koryguje powolny dryft</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Zalety</a:t>
            </a:r>
            <a:r>
              <a:rPr lang="en-US" sz="1600" dirty="0">
                <a:solidFill>
                  <a:srgbClr val="0D1B2A"/>
                </a:solidFill>
                <a:latin typeface="Calibri" pitchFamily="34" charset="0"/>
                <a:ea typeface="Calibri" pitchFamily="34" charset="-122"/>
                <a:cs typeface="Calibri" pitchFamily="34" charset="-120"/>
              </a:rPr>
              <a:t>: niska złożoność obliczeniowa, brak macierzy – działa na mikrokontrolerze IMU</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Wada</a:t>
            </a:r>
            <a:r>
              <a:rPr lang="en-US" sz="1600" dirty="0">
                <a:solidFill>
                  <a:srgbClr val="0D1B2A"/>
                </a:solidFill>
                <a:latin typeface="Calibri" pitchFamily="34" charset="0"/>
                <a:ea typeface="Calibri" pitchFamily="34" charset="-122"/>
                <a:cs typeface="Calibri" pitchFamily="34" charset="-120"/>
              </a:rPr>
              <a:t>: nie uwzględnia niepewności pomiarowych (brak kowariancji) ani dynamiki zewnętrznej</a:t>
            </a:r>
            <a:endParaRPr lang="en-US" sz="1600" dirty="0"/>
          </a:p>
          <a:p>
            <a:pPr marL="216000" indent="-216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Zastosowanie</a:t>
            </a:r>
            <a:r>
              <a:rPr lang="en-US" sz="1600" dirty="0">
                <a:solidFill>
                  <a:srgbClr val="0D1B2A"/>
                </a:solidFill>
                <a:latin typeface="Calibri" pitchFamily="34" charset="0"/>
                <a:ea typeface="Calibri" pitchFamily="34" charset="-122"/>
                <a:cs typeface="Calibri" pitchFamily="34" charset="-120"/>
              </a:rPr>
              <a:t>: pochylenie tułowia robota w czasie rzeczywistym (roll i pitch)</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Filtr komplementarny dla kąta pochylenia</a:t>
            </a:r>
            <a:endParaRPr lang="en-US" sz="2800" dirty="0"/>
          </a:p>
        </p:txBody>
      </p:sp>
      <p:sp>
        <p:nvSpPr>
          <p:cNvPr id="6" name="Shape 4"/>
          <p:cNvSpPr/>
          <p:nvPr/>
        </p:nvSpPr>
        <p:spPr>
          <a:xfrm>
            <a:off x="274320" y="1005840"/>
            <a:ext cx="8595360" cy="3122044"/>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05004" y="1115568"/>
            <a:ext cx="146304" cy="146304"/>
          </a:xfrm>
          <a:prstGeom prst="ellipse">
            <a:avLst/>
          </a:prstGeom>
          <a:solidFill>
            <a:srgbClr val="F72585"/>
          </a:solidFill>
          <a:ln w="12700">
            <a:solidFill>
              <a:srgbClr val="F72585"/>
            </a:solidFill>
            <a:prstDash val="solid"/>
          </a:ln>
        </p:spPr>
      </p:sp>
      <p:sp>
        <p:nvSpPr>
          <p:cNvPr id="8" name="Shape 6"/>
          <p:cNvSpPr/>
          <p:nvPr/>
        </p:nvSpPr>
        <p:spPr>
          <a:xfrm>
            <a:off x="8361036" y="1115568"/>
            <a:ext cx="146304" cy="146304"/>
          </a:xfrm>
          <a:prstGeom prst="ellipse">
            <a:avLst/>
          </a:prstGeom>
          <a:solidFill>
            <a:srgbClr val="FFD60A"/>
          </a:solidFill>
          <a:ln w="12700">
            <a:solidFill>
              <a:srgbClr val="FFD60A"/>
            </a:solidFill>
            <a:prstDash val="solid"/>
          </a:ln>
        </p:spPr>
      </p:sp>
      <p:sp>
        <p:nvSpPr>
          <p:cNvPr id="9" name="Shape 7"/>
          <p:cNvSpPr/>
          <p:nvPr/>
        </p:nvSpPr>
        <p:spPr>
          <a:xfrm>
            <a:off x="8617068" y="1115568"/>
            <a:ext cx="146304" cy="146304"/>
          </a:xfrm>
          <a:prstGeom prst="ellipse">
            <a:avLst/>
          </a:prstGeom>
          <a:solidFill>
            <a:srgbClr val="C3F584"/>
          </a:solidFill>
          <a:ln w="12700">
            <a:solidFill>
              <a:srgbClr val="C3F584"/>
            </a:solidFill>
            <a:prstDash val="solid"/>
          </a:ln>
        </p:spPr>
      </p:sp>
      <p:sp>
        <p:nvSpPr>
          <p:cNvPr id="10" name="Text 8"/>
          <p:cNvSpPr/>
          <p:nvPr/>
        </p:nvSpPr>
        <p:spPr>
          <a:xfrm>
            <a:off x="310896" y="1005840"/>
            <a:ext cx="8321040" cy="295656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err="1">
                <a:solidFill>
                  <a:srgbClr val="FF7B72"/>
                </a:solidFill>
                <a:latin typeface="Consolas" panose="020B0609020204030204" pitchFamily="49" charset="0"/>
              </a:rPr>
              <a:t>class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ComplementaryFilter</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__</a:t>
            </a:r>
            <a:r>
              <a:rPr lang="pl-PL" sz="1200" dirty="0" err="1">
                <a:solidFill>
                  <a:srgbClr val="DCDCAA"/>
                </a:solidFill>
                <a:latin typeface="Consolas" panose="020B0609020204030204" pitchFamily="49" charset="0"/>
              </a:rPr>
              <a:t>init</a:t>
            </a:r>
            <a:r>
              <a:rPr lang="pl-PL" sz="1200" dirty="0">
                <a:solidFill>
                  <a:srgbClr val="DCDCAA"/>
                </a:solidFill>
                <a:latin typeface="Consolas" panose="020B0609020204030204" pitchFamily="49" charset="0"/>
              </a:rPr>
              <a:t>__</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alpha</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0.98</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alpha</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alpha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0.0</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estymowany kat pochylenia [rad]</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BBBEBF"/>
                </a:solidFill>
                <a:latin typeface="Consolas" panose="020B0609020204030204" pitchFamily="49" charset="0"/>
              </a:rPr>
              <a:t>    </a:t>
            </a: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a:solidFill>
                  <a:srgbClr val="D2A8FF"/>
                </a:solidFill>
                <a:latin typeface="Consolas" panose="020B0609020204030204" pitchFamily="49" charset="0"/>
              </a:rPr>
              <a:t>update</a:t>
            </a:r>
            <a:r>
              <a:rPr lang="pl-PL" sz="1200" dirty="0">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self</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gyro_y</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accel_xz</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float</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"""Estymacja </a:t>
            </a:r>
            <a:r>
              <a:rPr lang="pl-PL" sz="1200" dirty="0" err="1">
                <a:solidFill>
                  <a:srgbClr val="A5D6FF"/>
                </a:solidFill>
                <a:latin typeface="Consolas" panose="020B0609020204030204" pitchFamily="49" charset="0"/>
              </a:rPr>
              <a:t>pitch</a:t>
            </a:r>
            <a:r>
              <a:rPr lang="pl-PL" sz="1200" dirty="0">
                <a:solidFill>
                  <a:srgbClr val="A5D6FF"/>
                </a:solidFill>
                <a:latin typeface="Consolas" panose="020B0609020204030204" pitchFamily="49" charset="0"/>
              </a:rPr>
              <a:t> z </a:t>
            </a:r>
            <a:r>
              <a:rPr lang="pl-PL" sz="1200" dirty="0" err="1">
                <a:solidFill>
                  <a:srgbClr val="A5D6FF"/>
                </a:solidFill>
                <a:latin typeface="Consolas" panose="020B0609020204030204" pitchFamily="49" charset="0"/>
              </a:rPr>
              <a:t>gyro</a:t>
            </a:r>
            <a:r>
              <a:rPr lang="pl-PL" sz="1200" dirty="0">
                <a:solidFill>
                  <a:srgbClr val="A5D6FF"/>
                </a:solidFill>
                <a:latin typeface="Consolas" panose="020B0609020204030204" pitchFamily="49" charset="0"/>
              </a:rPr>
              <a:t> i akcelerometru."""</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Predykcja z </a:t>
            </a:r>
            <a:r>
              <a:rPr lang="pl-PL" sz="1200" dirty="0" err="1">
                <a:solidFill>
                  <a:srgbClr val="8B949E"/>
                </a:solidFill>
                <a:latin typeface="Consolas" panose="020B0609020204030204" pitchFamily="49" charset="0"/>
              </a:rPr>
              <a:t>zyroskopu</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pitch_gyro</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gyro_y</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dt</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Pomiar kata z akcelerometru (</a:t>
            </a:r>
            <a:r>
              <a:rPr lang="pl-PL" sz="1200" dirty="0" err="1">
                <a:solidFill>
                  <a:srgbClr val="8B949E"/>
                </a:solidFill>
                <a:latin typeface="Consolas" panose="020B0609020204030204" pitchFamily="49" charset="0"/>
              </a:rPr>
              <a:t>g_x</a:t>
            </a:r>
            <a:r>
              <a:rPr lang="pl-PL" sz="1200" dirty="0">
                <a:solidFill>
                  <a:srgbClr val="8B949E"/>
                </a:solidFill>
                <a:latin typeface="Consolas" panose="020B0609020204030204" pitchFamily="49" charset="0"/>
              </a:rPr>
              <a:t> i </a:t>
            </a:r>
            <a:r>
              <a:rPr lang="pl-PL" sz="1200" dirty="0" err="1">
                <a:solidFill>
                  <a:srgbClr val="8B949E"/>
                </a:solidFill>
                <a:latin typeface="Consolas" panose="020B0609020204030204" pitchFamily="49" charset="0"/>
              </a:rPr>
              <a:t>g_z</a:t>
            </a:r>
            <a:r>
              <a:rPr lang="pl-PL" sz="1200" dirty="0">
                <a:solidFill>
                  <a:srgbClr val="8B949E"/>
                </a:solidFill>
                <a:latin typeface="Consolas" panose="020B0609020204030204" pitchFamily="49" charset="0"/>
              </a:rPr>
              <a:t>)</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pitch_accel</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4EC9B0"/>
                </a:solidFill>
                <a:latin typeface="Consolas" panose="020B0609020204030204" pitchFamily="49" charset="0"/>
              </a:rPr>
              <a:t>np</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arctan2</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accel_xz</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0</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accel_xz</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1</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Fuzja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pitch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alpha</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pitch_gyro</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1</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self</a:t>
            </a:r>
            <a:r>
              <a:rPr lang="pl-PL" sz="1200" dirty="0" err="1">
                <a:solidFill>
                  <a:srgbClr val="BBBEBF"/>
                </a:solidFill>
                <a:latin typeface="Consolas" panose="020B0609020204030204" pitchFamily="49" charset="0"/>
              </a:rPr>
              <a:t>.</a:t>
            </a:r>
            <a:r>
              <a:rPr lang="pl-PL" sz="1200" dirty="0" err="1">
                <a:solidFill>
                  <a:srgbClr val="C9D1D9"/>
                </a:solidFill>
                <a:latin typeface="Consolas" panose="020B0609020204030204" pitchFamily="49" charset="0"/>
              </a:rPr>
              <a:t>alpha</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pitch_accel</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self</a:t>
            </a:r>
            <a:r>
              <a:rPr lang="pl-PL" sz="1200" dirty="0" err="1" smtClean="0">
                <a:solidFill>
                  <a:srgbClr val="BBBEBF"/>
                </a:solidFill>
                <a:latin typeface="Consolas" panose="020B0609020204030204" pitchFamily="49" charset="0"/>
              </a:rPr>
              <a:t>.</a:t>
            </a:r>
            <a:r>
              <a:rPr lang="pl-PL" sz="1200" dirty="0" err="1" smtClean="0">
                <a:solidFill>
                  <a:srgbClr val="C9D1D9"/>
                </a:solidFill>
                <a:latin typeface="Consolas" panose="020B0609020204030204" pitchFamily="49" charset="0"/>
              </a:rPr>
              <a:t>pitch</a:t>
            </a:r>
            <a:endParaRPr lang="pl-PL" sz="1200" dirty="0">
              <a:solidFill>
                <a:srgbClr val="BBBEBF"/>
              </a:solidFill>
              <a:latin typeface="Consolas" panose="020B0609020204030204" pitchFamily="49" charset="0"/>
            </a:endParaRPr>
          </a:p>
        </p:txBody>
      </p:sp>
      <p:sp>
        <p:nvSpPr>
          <p:cNvPr id="11" name="Shape 9"/>
          <p:cNvSpPr/>
          <p:nvPr/>
        </p:nvSpPr>
        <p:spPr>
          <a:xfrm>
            <a:off x="274320" y="4475356"/>
            <a:ext cx="8595360" cy="462404"/>
          </a:xfrm>
          <a:prstGeom prst="rect">
            <a:avLst/>
          </a:prstGeom>
          <a:solidFill>
            <a:srgbClr val="1A3550"/>
          </a:solidFill>
          <a:ln w="12700">
            <a:solidFill>
              <a:srgbClr val="0077A8"/>
            </a:solidFill>
            <a:prstDash val="solid"/>
          </a:ln>
        </p:spPr>
      </p:sp>
      <p:sp>
        <p:nvSpPr>
          <p:cNvPr id="12" name="Text 10"/>
          <p:cNvSpPr/>
          <p:nvPr/>
        </p:nvSpPr>
        <p:spPr>
          <a:xfrm>
            <a:off x="457200" y="4475356"/>
            <a:ext cx="8321040" cy="462404"/>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alpha ≈ 0,98: 98% z żyroskopu </a:t>
            </a:r>
            <a:r>
              <a:rPr lang="en-US" sz="1600" i="1" dirty="0">
                <a:solidFill>
                  <a:srgbClr val="E2EBF3"/>
                </a:solidFill>
                <a:latin typeface="Calibri" pitchFamily="34" charset="0"/>
                <a:ea typeface="Calibri" pitchFamily="34" charset="-122"/>
                <a:cs typeface="Calibri" pitchFamily="34" charset="-120"/>
              </a:rPr>
              <a:t>(szybkość) </a:t>
            </a:r>
            <a:r>
              <a:rPr lang="en-US" sz="1600" dirty="0">
                <a:solidFill>
                  <a:srgbClr val="E2EBF3"/>
                </a:solidFill>
                <a:latin typeface="Calibri" pitchFamily="34" charset="0"/>
                <a:ea typeface="Calibri" pitchFamily="34" charset="-122"/>
                <a:cs typeface="Calibri" pitchFamily="34" charset="-120"/>
              </a:rPr>
              <a:t>i 2% z akcelerometru </a:t>
            </a:r>
            <a:r>
              <a:rPr lang="en-US" sz="1600" i="1" dirty="0">
                <a:solidFill>
                  <a:srgbClr val="E2EBF3"/>
                </a:solidFill>
                <a:latin typeface="Calibri" pitchFamily="34" charset="0"/>
                <a:ea typeface="Calibri" pitchFamily="34" charset="-122"/>
                <a:cs typeface="Calibri" pitchFamily="34" charset="-120"/>
              </a:rPr>
              <a:t>(długoterminowa </a:t>
            </a:r>
            <a:r>
              <a:rPr lang="en-US" sz="1600" i="1" dirty="0" err="1">
                <a:solidFill>
                  <a:srgbClr val="E2EBF3"/>
                </a:solidFill>
                <a:latin typeface="Calibri" pitchFamily="34" charset="0"/>
                <a:ea typeface="Calibri" pitchFamily="34" charset="-122"/>
                <a:cs typeface="Calibri" pitchFamily="34" charset="-120"/>
              </a:rPr>
              <a:t>stabilność</a:t>
            </a:r>
            <a:r>
              <a:rPr lang="en-US" sz="1600" i="1" dirty="0" smtClean="0">
                <a:solidFill>
                  <a:srgbClr val="E2EBF3"/>
                </a:solidFill>
                <a:latin typeface="Calibri" pitchFamily="34" charset="0"/>
                <a:ea typeface="Calibri" pitchFamily="34" charset="-122"/>
                <a:cs typeface="Calibri" pitchFamily="34" charset="-120"/>
              </a:rPr>
              <a:t>)</a:t>
            </a:r>
            <a:endParaRPr lang="en-US" sz="1600" i="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PORÓWNANIE FILTRÓW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Porównanie filtrów: EKF, UKF, cząsteczkowy</a:t>
            </a:r>
            <a:endParaRPr lang="en-US" sz="2800" dirty="0"/>
          </a:p>
        </p:txBody>
      </p:sp>
      <p:sp>
        <p:nvSpPr>
          <p:cNvPr id="6" name="Shape 4"/>
          <p:cNvSpPr/>
          <p:nvPr/>
        </p:nvSpPr>
        <p:spPr>
          <a:xfrm>
            <a:off x="229870" y="1143000"/>
            <a:ext cx="276499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29870" y="1143000"/>
            <a:ext cx="2764990" cy="411480"/>
          </a:xfrm>
          <a:prstGeom prst="rect">
            <a:avLst/>
          </a:prstGeom>
          <a:solidFill>
            <a:srgbClr val="00B4D8"/>
          </a:solidFill>
          <a:ln w="12700">
            <a:solidFill>
              <a:srgbClr val="00B4D8"/>
            </a:solidFill>
            <a:prstDash val="solid"/>
          </a:ln>
        </p:spPr>
      </p:sp>
      <p:sp>
        <p:nvSpPr>
          <p:cNvPr id="8" name="Text 6"/>
          <p:cNvSpPr/>
          <p:nvPr/>
        </p:nvSpPr>
        <p:spPr>
          <a:xfrm>
            <a:off x="294840" y="1161288"/>
            <a:ext cx="2616372" cy="365760"/>
          </a:xfrm>
          <a:prstGeom prst="rect">
            <a:avLst/>
          </a:prstGeom>
          <a:noFill/>
          <a:ln/>
        </p:spPr>
        <p:txBody>
          <a:bodyPr wrap="square" lIns="0" tIns="0" rIns="0" bIns="0" rtlCol="0" anchor="ctr"/>
          <a:lstStyle/>
          <a:p>
            <a:pPr marL="0" indent="0" algn="ctr">
              <a:buNone/>
            </a:pPr>
            <a:r>
              <a:rPr lang="en-US" sz="1600" b="1" spc="-110" dirty="0">
                <a:solidFill>
                  <a:srgbClr val="FFFFFF"/>
                </a:solidFill>
                <a:latin typeface="Trebuchet MS" pitchFamily="34" charset="0"/>
                <a:ea typeface="Trebuchet MS" pitchFamily="34" charset="-122"/>
                <a:cs typeface="Trebuchet MS" pitchFamily="34" charset="-120"/>
              </a:rPr>
              <a:t>EKF – Extended Kalman Filter</a:t>
            </a:r>
            <a:endParaRPr lang="en-US" sz="1600" spc="-110" dirty="0"/>
          </a:p>
        </p:txBody>
      </p:sp>
      <p:sp>
        <p:nvSpPr>
          <p:cNvPr id="9" name="Text 7"/>
          <p:cNvSpPr/>
          <p:nvPr/>
        </p:nvSpPr>
        <p:spPr>
          <a:xfrm>
            <a:off x="259992" y="1627632"/>
            <a:ext cx="2670270" cy="3154680"/>
          </a:xfrm>
          <a:prstGeom prst="rect">
            <a:avLst/>
          </a:prstGeom>
          <a:noFill/>
          <a:ln/>
          <a:effectLst>
            <a:glow rad="63500">
              <a:schemeClr val="accent2">
                <a:satMod val="175000"/>
                <a:alpha val="40000"/>
              </a:schemeClr>
            </a:glow>
          </a:effectLst>
        </p:spPr>
        <p:txBody>
          <a:bodyPr wrap="square" lIns="50800" tIns="76200" rIns="50800" bIns="50800" rtlCol="0" anchor="t"/>
          <a:lstStyle/>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Linearyzacja Jacobianem </a:t>
            </a:r>
            <a:r>
              <a:rPr lang="en-US" sz="1400" spc="-80" dirty="0">
                <a:solidFill>
                  <a:srgbClr val="0D1B2A"/>
                </a:solidFill>
                <a:latin typeface="Calibri" pitchFamily="34" charset="0"/>
                <a:ea typeface="Calibri" pitchFamily="34" charset="-122"/>
                <a:cs typeface="Calibri" pitchFamily="34" charset="-120"/>
              </a:rPr>
              <a:t>wokół aktualnego stanu</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Niski koszt O(n²</a:t>
            </a:r>
            <a:r>
              <a:rPr lang="en-US" sz="1400" b="1" spc="-80" dirty="0" smtClean="0">
                <a:solidFill>
                  <a:srgbClr val="0D1B2A"/>
                </a:solidFill>
                <a:latin typeface="Calibri" pitchFamily="34" charset="0"/>
                <a:ea typeface="Calibri" pitchFamily="34" charset="-122"/>
                <a:cs typeface="Calibri" pitchFamily="34" charset="-120"/>
              </a:rPr>
              <a:t>)</a:t>
            </a:r>
            <a:r>
              <a:rPr lang="pl-PL" sz="1400" spc="-80" dirty="0" smtClean="0">
                <a:solidFill>
                  <a:srgbClr val="0D1B2A"/>
                </a:solidFill>
                <a:latin typeface="Calibri" pitchFamily="34" charset="0"/>
                <a:ea typeface="Calibri" pitchFamily="34" charset="-122"/>
                <a:cs typeface="Calibri" pitchFamily="34" charset="-120"/>
              </a:rPr>
              <a:t>:</a:t>
            </a:r>
            <a:r>
              <a:rPr lang="en-US" sz="1400" spc="-80" dirty="0" smtClean="0">
                <a:solidFill>
                  <a:srgbClr val="0D1B2A"/>
                </a:solidFill>
                <a:latin typeface="Calibri" pitchFamily="34" charset="0"/>
                <a:ea typeface="Calibri" pitchFamily="34" charset="-122"/>
                <a:cs typeface="Calibri" pitchFamily="34" charset="-120"/>
              </a:rPr>
              <a:t> </a:t>
            </a:r>
            <a:r>
              <a:rPr lang="en-US" sz="1400" spc="-80" dirty="0" err="1">
                <a:solidFill>
                  <a:srgbClr val="0D1B2A"/>
                </a:solidFill>
                <a:latin typeface="Calibri" pitchFamily="34" charset="0"/>
                <a:ea typeface="Calibri" pitchFamily="34" charset="-122"/>
                <a:cs typeface="Calibri" pitchFamily="34" charset="-120"/>
              </a:rPr>
              <a:t>działa</a:t>
            </a:r>
            <a:r>
              <a:rPr lang="en-US" sz="1400" spc="-80" dirty="0">
                <a:solidFill>
                  <a:srgbClr val="0D1B2A"/>
                </a:solidFill>
                <a:latin typeface="Calibri" pitchFamily="34" charset="0"/>
                <a:ea typeface="Calibri" pitchFamily="34" charset="-122"/>
                <a:cs typeface="Calibri" pitchFamily="34" charset="-120"/>
              </a:rPr>
              <a:t> </a:t>
            </a:r>
            <a:r>
              <a:rPr lang="en-US" sz="1400" spc="-80" dirty="0" smtClean="0">
                <a:solidFill>
                  <a:srgbClr val="0D1B2A"/>
                </a:solidFill>
                <a:latin typeface="Calibri" pitchFamily="34" charset="0"/>
                <a:ea typeface="Calibri" pitchFamily="34" charset="-122"/>
                <a:cs typeface="Calibri" pitchFamily="34" charset="-120"/>
              </a:rPr>
              <a:t>w </a:t>
            </a:r>
            <a:r>
              <a:rPr lang="en-US" sz="1400" spc="-80" dirty="0">
                <a:solidFill>
                  <a:srgbClr val="0D1B2A"/>
                </a:solidFill>
                <a:latin typeface="Calibri" pitchFamily="34" charset="0"/>
                <a:ea typeface="Calibri" pitchFamily="34" charset="-122"/>
                <a:cs typeface="Calibri" pitchFamily="34" charset="-120"/>
              </a:rPr>
              <a:t>czasie rzeczywistym</a:t>
            </a:r>
            <a:endParaRPr lang="en-US" sz="1400" spc="-80" dirty="0"/>
          </a:p>
          <a:p>
            <a:pPr marL="144000" indent="-144000">
              <a:spcAft>
                <a:spcPts val="1200"/>
              </a:spcAft>
              <a:buSzPct val="100000"/>
              <a:buChar char="•"/>
            </a:pPr>
            <a:r>
              <a:rPr lang="en-US" sz="1400" spc="-80" dirty="0" err="1">
                <a:solidFill>
                  <a:srgbClr val="0D1B2A"/>
                </a:solidFill>
                <a:latin typeface="Calibri" pitchFamily="34" charset="0"/>
                <a:ea typeface="Calibri" pitchFamily="34" charset="-122"/>
                <a:cs typeface="Calibri" pitchFamily="34" charset="-120"/>
              </a:rPr>
              <a:t>Zakłada</a:t>
            </a:r>
            <a:r>
              <a:rPr lang="en-US" sz="1400" spc="-80" dirty="0">
                <a:solidFill>
                  <a:srgbClr val="0D1B2A"/>
                </a:solidFill>
                <a:latin typeface="Calibri" pitchFamily="34" charset="0"/>
                <a:ea typeface="Calibri" pitchFamily="34" charset="-122"/>
                <a:cs typeface="Calibri" pitchFamily="34" charset="-120"/>
              </a:rPr>
              <a:t> </a:t>
            </a:r>
            <a:r>
              <a:rPr lang="en-US" sz="1400" b="1" spc="-80" dirty="0" err="1" smtClean="0">
                <a:solidFill>
                  <a:srgbClr val="0D1B2A"/>
                </a:solidFill>
                <a:latin typeface="Calibri" pitchFamily="34" charset="0"/>
                <a:ea typeface="Calibri" pitchFamily="34" charset="-122"/>
                <a:cs typeface="Calibri" pitchFamily="34" charset="-120"/>
              </a:rPr>
              <a:t>Gaussowski</a:t>
            </a:r>
            <a:r>
              <a:rPr lang="en-US" sz="1400" b="1" spc="-80" dirty="0">
                <a:solidFill>
                  <a:srgbClr val="0D1B2A"/>
                </a:solidFill>
                <a:latin typeface="Calibri" pitchFamily="34" charset="0"/>
                <a:ea typeface="Calibri" pitchFamily="34" charset="-122"/>
                <a:cs typeface="Calibri" pitchFamily="34" charset="-120"/>
              </a:rPr>
              <a:t> </a:t>
            </a:r>
            <a:r>
              <a:rPr lang="en-US" sz="1400" b="1" spc="-80" dirty="0" err="1">
                <a:solidFill>
                  <a:srgbClr val="0D1B2A"/>
                </a:solidFill>
                <a:latin typeface="Calibri" pitchFamily="34" charset="0"/>
                <a:ea typeface="Calibri" pitchFamily="34" charset="-122"/>
                <a:cs typeface="Calibri" pitchFamily="34" charset="-120"/>
              </a:rPr>
              <a:t>rozkład</a:t>
            </a:r>
            <a:r>
              <a:rPr lang="en-US" sz="1400" b="1" spc="-80" dirty="0">
                <a:solidFill>
                  <a:srgbClr val="0D1B2A"/>
                </a:solidFill>
                <a:latin typeface="Calibri" pitchFamily="34" charset="0"/>
                <a:ea typeface="Calibri" pitchFamily="34" charset="-122"/>
                <a:cs typeface="Calibri" pitchFamily="34" charset="-120"/>
              </a:rPr>
              <a:t> </a:t>
            </a:r>
            <a:r>
              <a:rPr lang="en-US" sz="1400" b="1" spc="-80" dirty="0" err="1">
                <a:solidFill>
                  <a:srgbClr val="0D1B2A"/>
                </a:solidFill>
                <a:latin typeface="Calibri" pitchFamily="34" charset="0"/>
                <a:ea typeface="Calibri" pitchFamily="34" charset="-122"/>
                <a:cs typeface="Calibri" pitchFamily="34" charset="-120"/>
              </a:rPr>
              <a:t>szumu</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Zawodzi</a:t>
            </a:r>
            <a:r>
              <a:rPr lang="en-US" sz="1400" spc="-80" dirty="0">
                <a:solidFill>
                  <a:srgbClr val="0D1B2A"/>
                </a:solidFill>
                <a:latin typeface="Calibri" pitchFamily="34" charset="0"/>
                <a:ea typeface="Calibri" pitchFamily="34" charset="-122"/>
                <a:cs typeface="Calibri" pitchFamily="34" charset="-120"/>
              </a:rPr>
              <a:t> przy silnej </a:t>
            </a:r>
            <a:r>
              <a:rPr lang="en-US" sz="1400" b="1" spc="-80" dirty="0">
                <a:solidFill>
                  <a:srgbClr val="0D1B2A"/>
                </a:solidFill>
                <a:latin typeface="Calibri" pitchFamily="34" charset="0"/>
                <a:ea typeface="Calibri" pitchFamily="34" charset="-122"/>
                <a:cs typeface="Calibri" pitchFamily="34" charset="-120"/>
              </a:rPr>
              <a:t>nieliniowości modelu</a:t>
            </a:r>
            <a:endParaRPr lang="en-US" sz="1400" b="1" spc="-80" dirty="0"/>
          </a:p>
          <a:p>
            <a:pPr marL="144000" indent="-144000">
              <a:spcAft>
                <a:spcPts val="1200"/>
              </a:spcAft>
              <a:buSzPct val="100000"/>
              <a:buChar char="•"/>
            </a:pPr>
            <a:r>
              <a:rPr lang="en-US" sz="1400" b="1" spc="-80" dirty="0">
                <a:solidFill>
                  <a:srgbClr val="EEB500"/>
                </a:solidFill>
                <a:latin typeface="Calibri" pitchFamily="34" charset="0"/>
                <a:ea typeface="Calibri" pitchFamily="34" charset="-122"/>
                <a:cs typeface="Calibri" pitchFamily="34" charset="-120"/>
              </a:rPr>
              <a:t>Złoty standard w robotyce mobilnej</a:t>
            </a:r>
            <a:endParaRPr lang="en-US" sz="1400" b="1" spc="-80" dirty="0">
              <a:solidFill>
                <a:srgbClr val="EEB500"/>
              </a:solidFill>
            </a:endParaRPr>
          </a:p>
        </p:txBody>
      </p:sp>
      <p:sp>
        <p:nvSpPr>
          <p:cNvPr id="10" name="Shape 8"/>
          <p:cNvSpPr/>
          <p:nvPr/>
        </p:nvSpPr>
        <p:spPr>
          <a:xfrm>
            <a:off x="3180452" y="1143000"/>
            <a:ext cx="2813948"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80452" y="1143000"/>
            <a:ext cx="2813948" cy="411480"/>
          </a:xfrm>
          <a:prstGeom prst="rect">
            <a:avLst/>
          </a:prstGeom>
          <a:solidFill>
            <a:srgbClr val="0077A8"/>
          </a:solidFill>
          <a:ln w="12700">
            <a:solidFill>
              <a:srgbClr val="0077A8"/>
            </a:solidFill>
            <a:prstDash val="solid"/>
          </a:ln>
        </p:spPr>
      </p:sp>
      <p:sp>
        <p:nvSpPr>
          <p:cNvPr id="12" name="Text 10"/>
          <p:cNvSpPr/>
          <p:nvPr/>
        </p:nvSpPr>
        <p:spPr>
          <a:xfrm>
            <a:off x="3270450" y="1161288"/>
            <a:ext cx="2616372" cy="365760"/>
          </a:xfrm>
          <a:prstGeom prst="rect">
            <a:avLst/>
          </a:prstGeom>
          <a:noFill/>
          <a:ln/>
        </p:spPr>
        <p:txBody>
          <a:bodyPr wrap="square" lIns="0" tIns="0" rIns="0" bIns="0" rtlCol="0" anchor="ctr"/>
          <a:lstStyle/>
          <a:p>
            <a:pPr marL="0" indent="0" algn="ctr">
              <a:buNone/>
            </a:pPr>
            <a:r>
              <a:rPr lang="en-US" sz="1600" b="1" spc="-110" dirty="0">
                <a:solidFill>
                  <a:srgbClr val="FFFFFF"/>
                </a:solidFill>
                <a:latin typeface="Trebuchet MS" pitchFamily="34" charset="0"/>
                <a:ea typeface="Trebuchet MS" pitchFamily="34" charset="-122"/>
                <a:cs typeface="Trebuchet MS" pitchFamily="34" charset="-120"/>
              </a:rPr>
              <a:t>UKF – Unscented Kalman Filter</a:t>
            </a:r>
            <a:endParaRPr lang="en-US" sz="1600" spc="-110" dirty="0"/>
          </a:p>
        </p:txBody>
      </p:sp>
      <p:sp>
        <p:nvSpPr>
          <p:cNvPr id="13" name="Text 11"/>
          <p:cNvSpPr/>
          <p:nvPr/>
        </p:nvSpPr>
        <p:spPr>
          <a:xfrm>
            <a:off x="3276600" y="1627632"/>
            <a:ext cx="2628900" cy="3154680"/>
          </a:xfrm>
          <a:prstGeom prst="rect">
            <a:avLst/>
          </a:prstGeom>
          <a:noFill/>
          <a:ln/>
        </p:spPr>
        <p:txBody>
          <a:bodyPr wrap="square" lIns="50800" tIns="76200" rIns="50800" bIns="50800" rtlCol="0" anchor="t"/>
          <a:lstStyle/>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Sigma-points</a:t>
            </a:r>
            <a:r>
              <a:rPr lang="en-US" sz="1400" spc="-80" dirty="0">
                <a:solidFill>
                  <a:srgbClr val="0D1B2A"/>
                </a:solidFill>
                <a:latin typeface="Calibri" pitchFamily="34" charset="0"/>
                <a:ea typeface="Calibri" pitchFamily="34" charset="-122"/>
                <a:cs typeface="Calibri" pitchFamily="34" charset="-120"/>
              </a:rPr>
              <a:t> zamiast </a:t>
            </a:r>
            <a:r>
              <a:rPr lang="en-US" sz="1400" b="1" spc="-80" dirty="0">
                <a:solidFill>
                  <a:srgbClr val="0D1B2A"/>
                </a:solidFill>
                <a:latin typeface="Calibri" pitchFamily="34" charset="0"/>
                <a:ea typeface="Calibri" pitchFamily="34" charset="-122"/>
                <a:cs typeface="Calibri" pitchFamily="34" charset="-120"/>
              </a:rPr>
              <a:t>linearyzacji</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Lepsza</a:t>
            </a:r>
            <a:r>
              <a:rPr lang="en-US" sz="1400" spc="-80" dirty="0">
                <a:solidFill>
                  <a:srgbClr val="0D1B2A"/>
                </a:solidFill>
                <a:latin typeface="Calibri" pitchFamily="34" charset="0"/>
                <a:ea typeface="Calibri" pitchFamily="34" charset="-122"/>
                <a:cs typeface="Calibri" pitchFamily="34" charset="-120"/>
              </a:rPr>
              <a:t> aproksymacja </a:t>
            </a:r>
            <a:r>
              <a:rPr lang="en-US" sz="1400" b="1" spc="-80" dirty="0">
                <a:solidFill>
                  <a:srgbClr val="0D1B2A"/>
                </a:solidFill>
                <a:latin typeface="Calibri" pitchFamily="34" charset="0"/>
                <a:ea typeface="Calibri" pitchFamily="34" charset="-122"/>
                <a:cs typeface="Calibri" pitchFamily="34" charset="-120"/>
              </a:rPr>
              <a:t>nieliniowości</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Bez</a:t>
            </a:r>
            <a:r>
              <a:rPr lang="en-US" sz="1400" spc="-80" dirty="0">
                <a:solidFill>
                  <a:srgbClr val="0D1B2A"/>
                </a:solidFill>
                <a:latin typeface="Calibri" pitchFamily="34" charset="0"/>
                <a:ea typeface="Calibri" pitchFamily="34" charset="-122"/>
                <a:cs typeface="Calibri" pitchFamily="34" charset="-120"/>
              </a:rPr>
              <a:t> konieczności wyliczania </a:t>
            </a:r>
            <a:r>
              <a:rPr lang="en-US" sz="1400" b="1" spc="-80" dirty="0">
                <a:solidFill>
                  <a:srgbClr val="0D1B2A"/>
                </a:solidFill>
                <a:latin typeface="Calibri" pitchFamily="34" charset="0"/>
                <a:ea typeface="Calibri" pitchFamily="34" charset="-122"/>
                <a:cs typeface="Calibri" pitchFamily="34" charset="-120"/>
              </a:rPr>
              <a:t>Jacobiana</a:t>
            </a:r>
            <a:endParaRPr lang="en-US" sz="1400" b="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Większy koszt </a:t>
            </a:r>
            <a:r>
              <a:rPr lang="en-US" sz="1400" spc="-80" dirty="0">
                <a:solidFill>
                  <a:srgbClr val="0D1B2A"/>
                </a:solidFill>
                <a:latin typeface="Calibri" pitchFamily="34" charset="0"/>
                <a:ea typeface="Calibri" pitchFamily="34" charset="-122"/>
                <a:cs typeface="Calibri" pitchFamily="34" charset="-120"/>
              </a:rPr>
              <a:t>niż EKF </a:t>
            </a:r>
            <a:r>
              <a:rPr lang="en-US" sz="1400" i="1" spc="-80" dirty="0">
                <a:solidFill>
                  <a:srgbClr val="0D1B2A"/>
                </a:solidFill>
                <a:latin typeface="Calibri" pitchFamily="34" charset="0"/>
                <a:ea typeface="Calibri" pitchFamily="34" charset="-122"/>
                <a:cs typeface="Calibri" pitchFamily="34" charset="-120"/>
              </a:rPr>
              <a:t>(2n+1 punktów)</a:t>
            </a:r>
            <a:endParaRPr lang="en-US" sz="1400" i="1"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Zalecany</a:t>
            </a:r>
            <a:r>
              <a:rPr lang="en-US" sz="1400" spc="-80" dirty="0">
                <a:solidFill>
                  <a:srgbClr val="0D1B2A"/>
                </a:solidFill>
                <a:latin typeface="Calibri" pitchFamily="34" charset="0"/>
                <a:ea typeface="Calibri" pitchFamily="34" charset="-122"/>
                <a:cs typeface="Calibri" pitchFamily="34" charset="-120"/>
              </a:rPr>
              <a:t> przy mocno </a:t>
            </a:r>
            <a:r>
              <a:rPr lang="en-US" sz="1400" b="1" spc="-80" dirty="0">
                <a:solidFill>
                  <a:srgbClr val="0D1B2A"/>
                </a:solidFill>
                <a:latin typeface="Calibri" pitchFamily="34" charset="0"/>
                <a:ea typeface="Calibri" pitchFamily="34" charset="-122"/>
                <a:cs typeface="Calibri" pitchFamily="34" charset="-120"/>
              </a:rPr>
              <a:t>nieliniowych dynamikach</a:t>
            </a:r>
            <a:endParaRPr lang="en-US" sz="1400" b="1" spc="-80" dirty="0"/>
          </a:p>
        </p:txBody>
      </p:sp>
      <p:sp>
        <p:nvSpPr>
          <p:cNvPr id="14" name="Shape 12"/>
          <p:cNvSpPr/>
          <p:nvPr/>
        </p:nvSpPr>
        <p:spPr>
          <a:xfrm>
            <a:off x="6174740" y="1143000"/>
            <a:ext cx="277241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174740" y="1143000"/>
            <a:ext cx="2772410" cy="411480"/>
          </a:xfrm>
          <a:prstGeom prst="rect">
            <a:avLst/>
          </a:prstGeom>
          <a:solidFill>
            <a:srgbClr val="1A3550"/>
          </a:solidFill>
          <a:ln w="12700">
            <a:solidFill>
              <a:srgbClr val="1A3550"/>
            </a:solidFill>
            <a:prstDash val="solid"/>
          </a:ln>
        </p:spPr>
      </p:sp>
      <p:sp>
        <p:nvSpPr>
          <p:cNvPr id="16" name="Text 14"/>
          <p:cNvSpPr/>
          <p:nvPr/>
        </p:nvSpPr>
        <p:spPr>
          <a:xfrm>
            <a:off x="6278118" y="1161288"/>
            <a:ext cx="2432304" cy="365760"/>
          </a:xfrm>
          <a:prstGeom prst="rect">
            <a:avLst/>
          </a:prstGeom>
          <a:noFill/>
          <a:ln/>
        </p:spPr>
        <p:txBody>
          <a:bodyPr wrap="square" lIns="0" tIns="0" rIns="0" bIns="0" rtlCol="0" anchor="ctr"/>
          <a:lstStyle/>
          <a:p>
            <a:pPr marL="0" indent="0">
              <a:buNone/>
            </a:pPr>
            <a:r>
              <a:rPr lang="en-US" sz="1600" b="1" spc="-70" dirty="0">
                <a:solidFill>
                  <a:srgbClr val="FFFFFF"/>
                </a:solidFill>
                <a:latin typeface="Trebuchet MS" pitchFamily="34" charset="0"/>
                <a:ea typeface="Trebuchet MS" pitchFamily="34" charset="-122"/>
                <a:cs typeface="Trebuchet MS" pitchFamily="34" charset="-120"/>
              </a:rPr>
              <a:t>Filtr cząsteczkowy (PF)</a:t>
            </a:r>
            <a:endParaRPr lang="en-US" sz="1600" spc="-70" dirty="0"/>
          </a:p>
        </p:txBody>
      </p:sp>
      <p:sp>
        <p:nvSpPr>
          <p:cNvPr id="17" name="Text 15"/>
          <p:cNvSpPr/>
          <p:nvPr/>
        </p:nvSpPr>
        <p:spPr>
          <a:xfrm>
            <a:off x="6199596" y="1627632"/>
            <a:ext cx="2722154" cy="3154680"/>
          </a:xfrm>
          <a:prstGeom prst="rect">
            <a:avLst/>
          </a:prstGeom>
          <a:noFill/>
          <a:ln/>
        </p:spPr>
        <p:txBody>
          <a:bodyPr wrap="square" lIns="50800" tIns="76200" rIns="50800" bIns="50800" rtlCol="0" anchor="t"/>
          <a:lstStyle/>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Wielomodalny</a:t>
            </a:r>
            <a:r>
              <a:rPr lang="en-US" sz="1400" spc="-80" dirty="0">
                <a:solidFill>
                  <a:srgbClr val="0D1B2A"/>
                </a:solidFill>
                <a:latin typeface="Calibri" pitchFamily="34" charset="0"/>
                <a:ea typeface="Calibri" pitchFamily="34" charset="-122"/>
                <a:cs typeface="Calibri" pitchFamily="34" charset="-120"/>
              </a:rPr>
              <a:t> rozkład prawdopodobieństwa</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N cząsteczek </a:t>
            </a:r>
            <a:r>
              <a:rPr lang="en-US" sz="1400" spc="-80" dirty="0">
                <a:solidFill>
                  <a:srgbClr val="0D1B2A"/>
                </a:solidFill>
                <a:latin typeface="Calibri" pitchFamily="34" charset="0"/>
                <a:ea typeface="Calibri" pitchFamily="34" charset="-122"/>
                <a:cs typeface="Calibri" pitchFamily="34" charset="-120"/>
              </a:rPr>
              <a:t>jako hipotezy stanu</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Resampling</a:t>
            </a:r>
            <a:r>
              <a:rPr lang="en-US" sz="1400" spc="-80" dirty="0">
                <a:solidFill>
                  <a:srgbClr val="0D1B2A"/>
                </a:solidFill>
                <a:latin typeface="Calibri" pitchFamily="34" charset="0"/>
                <a:ea typeface="Calibri" pitchFamily="34" charset="-122"/>
                <a:cs typeface="Calibri" pitchFamily="34" charset="-120"/>
              </a:rPr>
              <a:t>: eliminacja słabych hipotez</a:t>
            </a:r>
            <a:endParaRPr lang="en-US" sz="1400" spc="-80" dirty="0"/>
          </a:p>
          <a:p>
            <a:pPr marL="144000" indent="-144000">
              <a:spcAft>
                <a:spcPts val="1200"/>
              </a:spcAft>
              <a:buSzPct val="100000"/>
              <a:buChar char="•"/>
            </a:pPr>
            <a:r>
              <a:rPr lang="en-US" sz="1400" b="1" spc="-80" dirty="0">
                <a:solidFill>
                  <a:srgbClr val="0D1B2A"/>
                </a:solidFill>
                <a:latin typeface="Calibri" pitchFamily="34" charset="0"/>
                <a:ea typeface="Calibri" pitchFamily="34" charset="-122"/>
                <a:cs typeface="Calibri" pitchFamily="34" charset="-120"/>
              </a:rPr>
              <a:t>Koszt O(N</a:t>
            </a:r>
            <a:r>
              <a:rPr lang="en-US" sz="1400" b="1" spc="-80" dirty="0" smtClean="0">
                <a:solidFill>
                  <a:srgbClr val="0D1B2A"/>
                </a:solidFill>
                <a:latin typeface="Calibri" pitchFamily="34" charset="0"/>
                <a:ea typeface="Calibri" pitchFamily="34" charset="-122"/>
                <a:cs typeface="Calibri" pitchFamily="34" charset="-120"/>
              </a:rPr>
              <a:t>)</a:t>
            </a:r>
            <a:r>
              <a:rPr lang="pl-PL" sz="1400" spc="-80" dirty="0" smtClean="0">
                <a:solidFill>
                  <a:srgbClr val="0D1B2A"/>
                </a:solidFill>
                <a:latin typeface="Calibri" pitchFamily="34" charset="0"/>
                <a:ea typeface="Calibri" pitchFamily="34" charset="-122"/>
                <a:cs typeface="Calibri" pitchFamily="34" charset="-120"/>
              </a:rPr>
              <a:t>:</a:t>
            </a:r>
            <a:r>
              <a:rPr lang="en-US" sz="1400" spc="-80" dirty="0" smtClean="0">
                <a:solidFill>
                  <a:srgbClr val="0D1B2A"/>
                </a:solidFill>
                <a:latin typeface="Calibri" pitchFamily="34" charset="0"/>
                <a:ea typeface="Calibri" pitchFamily="34" charset="-122"/>
                <a:cs typeface="Calibri" pitchFamily="34" charset="-120"/>
              </a:rPr>
              <a:t> </a:t>
            </a:r>
            <a:r>
              <a:rPr lang="en-US" sz="1400" spc="-80" dirty="0">
                <a:solidFill>
                  <a:srgbClr val="0D1B2A"/>
                </a:solidFill>
                <a:latin typeface="Calibri" pitchFamily="34" charset="0"/>
                <a:ea typeface="Calibri" pitchFamily="34" charset="-122"/>
                <a:cs typeface="Calibri" pitchFamily="34" charset="-120"/>
              </a:rPr>
              <a:t>wymaga wielu cząsteczek</a:t>
            </a:r>
            <a:endParaRPr lang="en-US" sz="1400" spc="-80" dirty="0"/>
          </a:p>
          <a:p>
            <a:pPr marL="144000" indent="-144000">
              <a:spcAft>
                <a:spcPts val="1200"/>
              </a:spcAft>
              <a:buSzPct val="100000"/>
              <a:buChar char="•"/>
            </a:pPr>
            <a:r>
              <a:rPr lang="en-US" sz="1400" spc="-80" dirty="0">
                <a:solidFill>
                  <a:srgbClr val="0D1B2A"/>
                </a:solidFill>
                <a:latin typeface="Calibri" pitchFamily="34" charset="0"/>
                <a:ea typeface="Calibri" pitchFamily="34" charset="-122"/>
                <a:cs typeface="Calibri" pitchFamily="34" charset="-120"/>
              </a:rPr>
              <a:t>Idealny do lokalizacji globalnej (AMCL)</a:t>
            </a:r>
            <a:endParaRPr lang="en-US" sz="1400" spc="-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w="12700">
            <a:solidFill>
              <a:srgbClr val="FB923C"/>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B923C"/>
                </a:solidFill>
                <a:latin typeface="Trebuchet MS" pitchFamily="34" charset="0"/>
                <a:ea typeface="Trebuchet MS" pitchFamily="34" charset="-122"/>
                <a:cs typeface="Trebuchet MS" pitchFamily="34" charset="-120"/>
              </a:rPr>
              <a:t>SEKCJA 2 | FILTR KALMANA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err="1">
                <a:solidFill>
                  <a:srgbClr val="FFFFFF"/>
                </a:solidFill>
                <a:latin typeface="Trebuchet MS" pitchFamily="34" charset="0"/>
                <a:ea typeface="Trebuchet MS" pitchFamily="34" charset="-122"/>
                <a:cs typeface="Trebuchet MS" pitchFamily="34" charset="-120"/>
              </a:rPr>
              <a:t>Filtr</a:t>
            </a:r>
            <a:r>
              <a:rPr lang="en-US" sz="2800" b="1" dirty="0">
                <a:solidFill>
                  <a:srgbClr val="FFFFFF"/>
                </a:solidFill>
                <a:latin typeface="Trebuchet MS" pitchFamily="34" charset="0"/>
                <a:ea typeface="Trebuchet MS" pitchFamily="34" charset="-122"/>
                <a:cs typeface="Trebuchet MS" pitchFamily="34" charset="-120"/>
              </a:rPr>
              <a:t> </a:t>
            </a:r>
            <a:r>
              <a:rPr lang="en-US" sz="2800" b="1" dirty="0" err="1" smtClean="0">
                <a:solidFill>
                  <a:srgbClr val="FFFFFF"/>
                </a:solidFill>
                <a:latin typeface="Trebuchet MS" pitchFamily="34" charset="0"/>
                <a:ea typeface="Trebuchet MS" pitchFamily="34" charset="-122"/>
                <a:cs typeface="Trebuchet MS" pitchFamily="34" charset="-120"/>
              </a:rPr>
              <a:t>Kalmana</a:t>
            </a:r>
            <a:r>
              <a:rPr lang="pl-PL" sz="2800" b="1" dirty="0" smtClean="0">
                <a:solidFill>
                  <a:srgbClr val="FFFFFF"/>
                </a:solidFill>
                <a:latin typeface="Trebuchet MS" pitchFamily="34" charset="0"/>
                <a:ea typeface="Trebuchet MS" pitchFamily="34" charset="-122"/>
                <a:cs typeface="Trebuchet MS" pitchFamily="34" charset="-120"/>
              </a:rPr>
              <a:t>:</a:t>
            </a:r>
            <a:r>
              <a:rPr lang="en-US" sz="2800" b="1" dirty="0" smtClean="0">
                <a:solidFill>
                  <a:srgbClr val="FFFFFF"/>
                </a:solidFill>
                <a:latin typeface="Trebuchet MS" pitchFamily="34" charset="0"/>
                <a:ea typeface="Trebuchet MS" pitchFamily="34" charset="-122"/>
                <a:cs typeface="Trebuchet MS" pitchFamily="34" charset="-120"/>
              </a:rPr>
              <a:t> </a:t>
            </a:r>
            <a:r>
              <a:rPr lang="en-US" sz="2800" b="1" dirty="0">
                <a:solidFill>
                  <a:srgbClr val="FFFFFF"/>
                </a:solidFill>
                <a:latin typeface="Trebuchet MS" pitchFamily="34" charset="0"/>
                <a:ea typeface="Trebuchet MS" pitchFamily="34" charset="-122"/>
                <a:cs typeface="Trebuchet MS" pitchFamily="34" charset="-120"/>
              </a:rPr>
              <a:t>cykl predykcja–korekcja</a:t>
            </a:r>
            <a:endParaRPr lang="en-US" sz="2800" dirty="0"/>
          </a:p>
        </p:txBody>
      </p:sp>
      <p:sp>
        <p:nvSpPr>
          <p:cNvPr id="6" name="Shape 4"/>
          <p:cNvSpPr/>
          <p:nvPr/>
        </p:nvSpPr>
        <p:spPr>
          <a:xfrm>
            <a:off x="27432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987552" y="1233324"/>
            <a:ext cx="585216" cy="585216"/>
          </a:xfrm>
          <a:prstGeom prst="ellipse">
            <a:avLst/>
          </a:prstGeom>
          <a:solidFill>
            <a:srgbClr val="FB923C"/>
          </a:solidFill>
          <a:ln w="12700">
            <a:solidFill>
              <a:srgbClr val="FB923C"/>
            </a:solidFill>
            <a:prstDash val="solid"/>
          </a:ln>
        </p:spPr>
      </p:sp>
      <p:sp>
        <p:nvSpPr>
          <p:cNvPr id="8" name="Text 6"/>
          <p:cNvSpPr/>
          <p:nvPr/>
        </p:nvSpPr>
        <p:spPr>
          <a:xfrm>
            <a:off x="98755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1</a:t>
            </a:r>
            <a:endParaRPr lang="en-US" sz="3200" dirty="0"/>
          </a:p>
        </p:txBody>
      </p:sp>
      <p:sp>
        <p:nvSpPr>
          <p:cNvPr id="9" name="Text 7"/>
          <p:cNvSpPr/>
          <p:nvPr/>
        </p:nvSpPr>
        <p:spPr>
          <a:xfrm>
            <a:off x="36576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Predykcja</a:t>
            </a:r>
            <a:endParaRPr lang="en-US" dirty="0"/>
          </a:p>
        </p:txBody>
      </p:sp>
      <p:sp>
        <p:nvSpPr>
          <p:cNvPr id="10" name="Text 8"/>
          <p:cNvSpPr/>
          <p:nvPr/>
        </p:nvSpPr>
        <p:spPr>
          <a:xfrm>
            <a:off x="365760" y="2423160"/>
            <a:ext cx="1828800" cy="196596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Model ruchu propaguje stan x̂ i kowariancję P do przodu w czasie.</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x̂⁻ = F·x̂ + B·u</a:t>
            </a:r>
            <a:endParaRPr lang="en-US" sz="1400" b="1" dirty="0"/>
          </a:p>
        </p:txBody>
      </p:sp>
      <p:sp>
        <p:nvSpPr>
          <p:cNvPr id="11" name="Shape 9"/>
          <p:cNvSpPr/>
          <p:nvPr/>
        </p:nvSpPr>
        <p:spPr>
          <a:xfrm>
            <a:off x="242316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2" name="Shape 10"/>
          <p:cNvSpPr/>
          <p:nvPr/>
        </p:nvSpPr>
        <p:spPr>
          <a:xfrm>
            <a:off x="3136392" y="1233324"/>
            <a:ext cx="585216" cy="585216"/>
          </a:xfrm>
          <a:prstGeom prst="ellipse">
            <a:avLst/>
          </a:prstGeom>
          <a:solidFill>
            <a:srgbClr val="FB923C"/>
          </a:solidFill>
          <a:ln w="12700">
            <a:solidFill>
              <a:srgbClr val="FB923C"/>
            </a:solidFill>
            <a:prstDash val="solid"/>
          </a:ln>
        </p:spPr>
      </p:sp>
      <p:sp>
        <p:nvSpPr>
          <p:cNvPr id="13" name="Text 11"/>
          <p:cNvSpPr/>
          <p:nvPr/>
        </p:nvSpPr>
        <p:spPr>
          <a:xfrm>
            <a:off x="313639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2</a:t>
            </a:r>
            <a:endParaRPr lang="en-US" sz="3200" dirty="0"/>
          </a:p>
        </p:txBody>
      </p:sp>
      <p:sp>
        <p:nvSpPr>
          <p:cNvPr id="14" name="Text 12"/>
          <p:cNvSpPr/>
          <p:nvPr/>
        </p:nvSpPr>
        <p:spPr>
          <a:xfrm>
            <a:off x="251460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Pomiar</a:t>
            </a:r>
            <a:endParaRPr lang="en-US" dirty="0"/>
          </a:p>
        </p:txBody>
      </p:sp>
      <p:sp>
        <p:nvSpPr>
          <p:cNvPr id="15" name="Text 13"/>
          <p:cNvSpPr/>
          <p:nvPr/>
        </p:nvSpPr>
        <p:spPr>
          <a:xfrm>
            <a:off x="2514600" y="2423160"/>
            <a:ext cx="1828800" cy="196596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Sensor dostarcza nową obserwację z – zawierającą szum R.</a:t>
            </a:r>
            <a:endParaRPr lang="en-US" sz="1400" dirty="0"/>
          </a:p>
          <a:p>
            <a:pPr marL="0" indent="0" algn="ctr">
              <a:buNone/>
            </a:pPr>
            <a:r>
              <a:rPr lang="en-US" sz="1400" dirty="0">
                <a:solidFill>
                  <a:srgbClr val="475569"/>
                </a:solidFill>
                <a:latin typeface="Calibri" pitchFamily="34" charset="0"/>
                <a:ea typeface="Calibri" pitchFamily="34" charset="-122"/>
                <a:cs typeface="Calibri" pitchFamily="34" charset="-120"/>
              </a:rPr>
              <a:t>Innowacja: </a:t>
            </a:r>
            <a:r>
              <a:rPr lang="en-US" sz="1400" b="1" dirty="0">
                <a:solidFill>
                  <a:srgbClr val="475569"/>
                </a:solidFill>
                <a:latin typeface="Calibri" pitchFamily="34" charset="0"/>
                <a:ea typeface="Calibri" pitchFamily="34" charset="-122"/>
                <a:cs typeface="Calibri" pitchFamily="34" charset="-120"/>
              </a:rPr>
              <a:t>ν = z – H·x̂⁻</a:t>
            </a:r>
            <a:endParaRPr lang="en-US" sz="1400" b="1" dirty="0"/>
          </a:p>
        </p:txBody>
      </p:sp>
      <p:sp>
        <p:nvSpPr>
          <p:cNvPr id="16" name="Shape 14"/>
          <p:cNvSpPr/>
          <p:nvPr/>
        </p:nvSpPr>
        <p:spPr>
          <a:xfrm>
            <a:off x="457200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7" name="Shape 15"/>
          <p:cNvSpPr/>
          <p:nvPr/>
        </p:nvSpPr>
        <p:spPr>
          <a:xfrm>
            <a:off x="5285232" y="1233324"/>
            <a:ext cx="585216" cy="585216"/>
          </a:xfrm>
          <a:prstGeom prst="ellipse">
            <a:avLst/>
          </a:prstGeom>
          <a:solidFill>
            <a:srgbClr val="FB923C"/>
          </a:solidFill>
          <a:ln w="12700">
            <a:solidFill>
              <a:srgbClr val="FB923C"/>
            </a:solidFill>
            <a:prstDash val="solid"/>
          </a:ln>
        </p:spPr>
      </p:sp>
      <p:sp>
        <p:nvSpPr>
          <p:cNvPr id="18" name="Text 16"/>
          <p:cNvSpPr/>
          <p:nvPr/>
        </p:nvSpPr>
        <p:spPr>
          <a:xfrm>
            <a:off x="528523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3</a:t>
            </a:r>
            <a:endParaRPr lang="en-US" sz="3200" dirty="0"/>
          </a:p>
        </p:txBody>
      </p:sp>
      <p:sp>
        <p:nvSpPr>
          <p:cNvPr id="19" name="Text 17"/>
          <p:cNvSpPr/>
          <p:nvPr/>
        </p:nvSpPr>
        <p:spPr>
          <a:xfrm>
            <a:off x="466344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Wzmocnienie K</a:t>
            </a:r>
            <a:endParaRPr lang="en-US" dirty="0"/>
          </a:p>
        </p:txBody>
      </p:sp>
      <p:sp>
        <p:nvSpPr>
          <p:cNvPr id="20" name="Text 18"/>
          <p:cNvSpPr/>
          <p:nvPr/>
        </p:nvSpPr>
        <p:spPr>
          <a:xfrm>
            <a:off x="4663440" y="2423160"/>
            <a:ext cx="1828800" cy="196596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Wagi Kalmana wyznaczają optymalny kompromis </a:t>
            </a:r>
            <a:r>
              <a:rPr lang="en-US" sz="1400" dirty="0" err="1">
                <a:solidFill>
                  <a:srgbClr val="475569"/>
                </a:solidFill>
                <a:latin typeface="Calibri" pitchFamily="34" charset="0"/>
                <a:ea typeface="Calibri" pitchFamily="34" charset="-122"/>
                <a:cs typeface="Calibri" pitchFamily="34" charset="-120"/>
              </a:rPr>
              <a:t>między</a:t>
            </a:r>
            <a:r>
              <a:rPr lang="en-US" sz="1400" dirty="0">
                <a:solidFill>
                  <a:srgbClr val="475569"/>
                </a:solidFill>
                <a:latin typeface="Calibri" pitchFamily="34" charset="0"/>
                <a:ea typeface="Calibri" pitchFamily="34" charset="-122"/>
                <a:cs typeface="Calibri" pitchFamily="34" charset="-120"/>
              </a:rPr>
              <a:t> </a:t>
            </a:r>
            <a:r>
              <a:rPr lang="en-US" sz="1400" dirty="0" err="1" smtClean="0">
                <a:solidFill>
                  <a:srgbClr val="475569"/>
                </a:solidFill>
                <a:latin typeface="Calibri" pitchFamily="34" charset="0"/>
                <a:ea typeface="Calibri" pitchFamily="34" charset="-122"/>
                <a:cs typeface="Calibri" pitchFamily="34" charset="-120"/>
              </a:rPr>
              <a:t>modelem</a:t>
            </a:r>
            <a:r>
              <a:rPr lang="pl-PL" sz="1400" dirty="0" smtClean="0">
                <a:solidFill>
                  <a:srgbClr val="475569"/>
                </a:solidFill>
                <a:latin typeface="Calibri" pitchFamily="34" charset="0"/>
                <a:ea typeface="Calibri" pitchFamily="34" charset="-122"/>
                <a:cs typeface="Calibri" pitchFamily="34" charset="-120"/>
              </a:rPr>
              <a:t>,</a:t>
            </a:r>
            <a:r>
              <a:rPr lang="en-US" sz="1400" dirty="0" smtClean="0">
                <a:solidFill>
                  <a:srgbClr val="475569"/>
                </a:solidFill>
                <a:latin typeface="Calibri" pitchFamily="34" charset="0"/>
                <a:ea typeface="Calibri" pitchFamily="34" charset="-122"/>
                <a:cs typeface="Calibri" pitchFamily="34" charset="-120"/>
              </a:rPr>
              <a:t> </a:t>
            </a:r>
            <a:r>
              <a:rPr lang="en-US" sz="1400" dirty="0">
                <a:solidFill>
                  <a:srgbClr val="475569"/>
                </a:solidFill>
                <a:latin typeface="Calibri" pitchFamily="34" charset="0"/>
                <a:ea typeface="Calibri" pitchFamily="34" charset="-122"/>
                <a:cs typeface="Calibri" pitchFamily="34" charset="-120"/>
              </a:rPr>
              <a:t>a pomiarem.</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K = P⁻·Hᵀ·(H·P⁻·Hᵀ+R)⁻¹</a:t>
            </a:r>
            <a:endParaRPr lang="en-US" sz="1400" b="1" dirty="0"/>
          </a:p>
        </p:txBody>
      </p:sp>
      <p:sp>
        <p:nvSpPr>
          <p:cNvPr id="21" name="Shape 19"/>
          <p:cNvSpPr/>
          <p:nvPr/>
        </p:nvSpPr>
        <p:spPr>
          <a:xfrm>
            <a:off x="672084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2" name="Shape 20"/>
          <p:cNvSpPr/>
          <p:nvPr/>
        </p:nvSpPr>
        <p:spPr>
          <a:xfrm>
            <a:off x="7434072" y="1233324"/>
            <a:ext cx="585216" cy="585216"/>
          </a:xfrm>
          <a:prstGeom prst="ellipse">
            <a:avLst/>
          </a:prstGeom>
          <a:solidFill>
            <a:srgbClr val="FB923C"/>
          </a:solidFill>
          <a:ln w="12700">
            <a:solidFill>
              <a:srgbClr val="FB923C"/>
            </a:solidFill>
            <a:prstDash val="solid"/>
          </a:ln>
        </p:spPr>
      </p:sp>
      <p:sp>
        <p:nvSpPr>
          <p:cNvPr id="23" name="Text 21"/>
          <p:cNvSpPr/>
          <p:nvPr/>
        </p:nvSpPr>
        <p:spPr>
          <a:xfrm>
            <a:off x="7434072" y="1233324"/>
            <a:ext cx="585216" cy="585216"/>
          </a:xfrm>
          <a:prstGeom prst="rect">
            <a:avLst/>
          </a:prstGeom>
          <a:noFill/>
          <a:ln/>
        </p:spPr>
        <p:txBody>
          <a:bodyPr wrap="square" lIns="0" tIns="0" rIns="0" bIns="0" rtlCol="0" anchor="ctr"/>
          <a:lstStyle/>
          <a:p>
            <a:pPr marL="0" indent="0" algn="ctr">
              <a:buNone/>
            </a:pPr>
            <a:r>
              <a:rPr lang="en-US" sz="3200" b="1" dirty="0">
                <a:solidFill>
                  <a:srgbClr val="FFFFFF"/>
                </a:solidFill>
                <a:latin typeface="Trebuchet MS" pitchFamily="34" charset="0"/>
                <a:ea typeface="Trebuchet MS" pitchFamily="34" charset="-122"/>
                <a:cs typeface="Trebuchet MS" pitchFamily="34" charset="-120"/>
              </a:rPr>
              <a:t>4</a:t>
            </a:r>
            <a:endParaRPr lang="en-US" sz="3200" dirty="0"/>
          </a:p>
        </p:txBody>
      </p:sp>
      <p:sp>
        <p:nvSpPr>
          <p:cNvPr id="24" name="Text 22"/>
          <p:cNvSpPr/>
          <p:nvPr/>
        </p:nvSpPr>
        <p:spPr>
          <a:xfrm>
            <a:off x="681228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Korekcja</a:t>
            </a:r>
            <a:endParaRPr lang="en-US" dirty="0"/>
          </a:p>
        </p:txBody>
      </p:sp>
      <p:sp>
        <p:nvSpPr>
          <p:cNvPr id="25" name="Text 23"/>
          <p:cNvSpPr/>
          <p:nvPr/>
        </p:nvSpPr>
        <p:spPr>
          <a:xfrm>
            <a:off x="6812280" y="2423160"/>
            <a:ext cx="1828800" cy="1965960"/>
          </a:xfrm>
          <a:prstGeom prst="rect">
            <a:avLst/>
          </a:prstGeom>
          <a:noFill/>
          <a:ln/>
        </p:spPr>
        <p:txBody>
          <a:bodyPr wrap="square" lIns="0" tIns="0" rIns="0" bIns="0" rtlCol="0" anchor="ctr"/>
          <a:lstStyle/>
          <a:p>
            <a:pPr marL="0" indent="0" algn="ctr">
              <a:buNone/>
            </a:pPr>
            <a:r>
              <a:rPr lang="en-US" sz="1400" dirty="0">
                <a:solidFill>
                  <a:srgbClr val="475569"/>
                </a:solidFill>
                <a:latin typeface="Calibri" pitchFamily="34" charset="0"/>
                <a:ea typeface="Calibri" pitchFamily="34" charset="-122"/>
                <a:cs typeface="Calibri" pitchFamily="34" charset="-120"/>
              </a:rPr>
              <a:t>Stan i kowariancja </a:t>
            </a:r>
            <a:r>
              <a:rPr lang="en-US" sz="1400" dirty="0" err="1">
                <a:solidFill>
                  <a:srgbClr val="475569"/>
                </a:solidFill>
                <a:latin typeface="Calibri" pitchFamily="34" charset="0"/>
                <a:ea typeface="Calibri" pitchFamily="34" charset="-122"/>
                <a:cs typeface="Calibri" pitchFamily="34" charset="-120"/>
              </a:rPr>
              <a:t>zaktualizowane</a:t>
            </a:r>
            <a:r>
              <a:rPr lang="en-US" sz="1400" dirty="0">
                <a:solidFill>
                  <a:srgbClr val="475569"/>
                </a:solidFill>
                <a:latin typeface="Calibri" pitchFamily="34" charset="0"/>
                <a:ea typeface="Calibri" pitchFamily="34" charset="-122"/>
                <a:cs typeface="Calibri" pitchFamily="34" charset="-120"/>
              </a:rPr>
              <a:t> </a:t>
            </a:r>
            <a:r>
              <a:rPr lang="pl-PL" sz="1400" dirty="0" smtClean="0">
                <a:solidFill>
                  <a:srgbClr val="475569"/>
                </a:solidFill>
                <a:latin typeface="Calibri" pitchFamily="34" charset="0"/>
                <a:ea typeface="Calibri" pitchFamily="34" charset="-122"/>
                <a:cs typeface="Calibri" pitchFamily="34" charset="-120"/>
              </a:rPr>
              <a:t/>
            </a:r>
            <a:br>
              <a:rPr lang="pl-PL" sz="1400" dirty="0" smtClean="0">
                <a:solidFill>
                  <a:srgbClr val="475569"/>
                </a:solidFill>
                <a:latin typeface="Calibri" pitchFamily="34" charset="0"/>
                <a:ea typeface="Calibri" pitchFamily="34" charset="-122"/>
                <a:cs typeface="Calibri" pitchFamily="34" charset="-120"/>
              </a:rPr>
            </a:br>
            <a:r>
              <a:rPr lang="en-US" sz="1400" dirty="0" smtClean="0">
                <a:solidFill>
                  <a:srgbClr val="475569"/>
                </a:solidFill>
                <a:latin typeface="Calibri" pitchFamily="34" charset="0"/>
                <a:ea typeface="Calibri" pitchFamily="34" charset="-122"/>
                <a:cs typeface="Calibri" pitchFamily="34" charset="-120"/>
              </a:rPr>
              <a:t>o </a:t>
            </a:r>
            <a:r>
              <a:rPr lang="en-US" sz="1400" dirty="0">
                <a:solidFill>
                  <a:srgbClr val="475569"/>
                </a:solidFill>
                <a:latin typeface="Calibri" pitchFamily="34" charset="0"/>
                <a:ea typeface="Calibri" pitchFamily="34" charset="-122"/>
                <a:cs typeface="Calibri" pitchFamily="34" charset="-120"/>
              </a:rPr>
              <a:t>innowację.</a:t>
            </a:r>
            <a:endParaRPr lang="en-US" sz="1400" dirty="0"/>
          </a:p>
          <a:p>
            <a:pPr marL="0" indent="0" algn="ctr">
              <a:buNone/>
            </a:pPr>
            <a:r>
              <a:rPr lang="en-US" sz="1400" b="1" dirty="0">
                <a:solidFill>
                  <a:srgbClr val="475569"/>
                </a:solidFill>
                <a:latin typeface="Calibri" pitchFamily="34" charset="0"/>
                <a:ea typeface="Calibri" pitchFamily="34" charset="-122"/>
                <a:cs typeface="Calibri" pitchFamily="34" charset="-120"/>
              </a:rPr>
              <a:t>x̂ = x̂⁻ + K·ν</a:t>
            </a:r>
            <a:endParaRPr lang="en-US" sz="1400" b="1" dirty="0"/>
          </a:p>
          <a:p>
            <a:pPr marL="0" indent="0" algn="ctr">
              <a:buNone/>
            </a:pPr>
            <a:r>
              <a:rPr lang="en-US" sz="1400" b="1" dirty="0">
                <a:solidFill>
                  <a:srgbClr val="475569"/>
                </a:solidFill>
                <a:latin typeface="Calibri" pitchFamily="34" charset="0"/>
                <a:ea typeface="Calibri" pitchFamily="34" charset="-122"/>
                <a:cs typeface="Calibri" pitchFamily="34" charset="-120"/>
              </a:rPr>
              <a:t>P = (I–K·H)·P⁻</a:t>
            </a:r>
            <a:endParaRPr lang="en-US" sz="1400" b="1"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Uproszczony EKF dla pozycji 2D</a:t>
            </a:r>
            <a:endParaRPr lang="en-US" sz="2800" dirty="0"/>
          </a:p>
        </p:txBody>
      </p:sp>
      <p:sp>
        <p:nvSpPr>
          <p:cNvPr id="6" name="Shape 4"/>
          <p:cNvSpPr/>
          <p:nvPr/>
        </p:nvSpPr>
        <p:spPr>
          <a:xfrm>
            <a:off x="274320" y="1005840"/>
            <a:ext cx="8595360" cy="3350570"/>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33856"/>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33856"/>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33856"/>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26728"/>
            <a:ext cx="8321040" cy="3255339"/>
          </a:xfrm>
          <a:prstGeom prst="rect">
            <a:avLst/>
          </a:prstGeom>
          <a:noFill/>
          <a:ln/>
        </p:spPr>
        <p:txBody>
          <a:bodyPr wrap="square" lIns="108000" tIns="0" rIns="127000" bIns="63500" rtlCol="0" anchor="t"/>
          <a:lstStyle/>
          <a:p>
            <a:pPr>
              <a:lnSpc>
                <a:spcPts val="1200"/>
              </a:lnSpc>
            </a:pPr>
            <a:r>
              <a:rPr lang="pl-PL" sz="1100" dirty="0">
                <a:solidFill>
                  <a:srgbClr val="C586C0"/>
                </a:solidFill>
                <a:latin typeface="Consolas" panose="020B0609020204030204" pitchFamily="49" charset="0"/>
              </a:rPr>
              <a:t>import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numpy</a:t>
            </a:r>
            <a:r>
              <a:rPr lang="pl-PL" sz="1100" dirty="0">
                <a:solidFill>
                  <a:srgbClr val="BBBEBF"/>
                </a:solidFill>
                <a:latin typeface="Consolas" panose="020B0609020204030204" pitchFamily="49" charset="0"/>
              </a:rPr>
              <a:t> </a:t>
            </a:r>
            <a:r>
              <a:rPr lang="pl-PL" sz="1100" dirty="0">
                <a:solidFill>
                  <a:srgbClr val="C586C0"/>
                </a:solidFill>
                <a:latin typeface="Consolas" panose="020B0609020204030204" pitchFamily="49" charset="0"/>
              </a:rPr>
              <a:t>as</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err="1">
                <a:solidFill>
                  <a:srgbClr val="FF7B72"/>
                </a:solidFill>
                <a:latin typeface="Consolas" panose="020B0609020204030204" pitchFamily="49" charset="0"/>
              </a:rPr>
              <a:t>class</a:t>
            </a:r>
            <a:r>
              <a:rPr lang="pl-PL" sz="1100" dirty="0">
                <a:solidFill>
                  <a:srgbClr val="BBBEBF"/>
                </a:solidFill>
                <a:latin typeface="Consolas" panose="020B0609020204030204" pitchFamily="49" charset="0"/>
              </a:rPr>
              <a:t> </a:t>
            </a:r>
            <a:r>
              <a:rPr lang="pl-PL" sz="1100" dirty="0">
                <a:solidFill>
                  <a:srgbClr val="4EC9B0"/>
                </a:solidFill>
                <a:latin typeface="Consolas" panose="020B0609020204030204" pitchFamily="49" charset="0"/>
              </a:rPr>
              <a:t>EKF2D</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__</a:t>
            </a:r>
            <a:r>
              <a:rPr lang="pl-PL" sz="1100" dirty="0" err="1">
                <a:solidFill>
                  <a:srgbClr val="DCDCAA"/>
                </a:solidFill>
                <a:latin typeface="Consolas" panose="020B0609020204030204" pitchFamily="49" charset="0"/>
              </a:rPr>
              <a:t>init</a:t>
            </a:r>
            <a:r>
              <a:rPr lang="pl-PL" sz="1100" dirty="0">
                <a:solidFill>
                  <a:srgbClr val="DCDCAA"/>
                </a:solidFill>
                <a:latin typeface="Consolas" panose="020B0609020204030204" pitchFamily="49" charset="0"/>
              </a:rPr>
              <a:t>__</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zeros</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[x, y, </a:t>
            </a:r>
            <a:r>
              <a:rPr lang="pl-PL" sz="1100" dirty="0" err="1">
                <a:solidFill>
                  <a:srgbClr val="8B949E"/>
                </a:solidFill>
                <a:latin typeface="Consolas" panose="020B0609020204030204" pitchFamily="49" charset="0"/>
              </a:rPr>
              <a:t>yaw</a:t>
            </a:r>
            <a:r>
              <a:rPr lang="pl-PL" sz="1100" dirty="0">
                <a:solidFill>
                  <a:srgbClr val="8B949E"/>
                </a:solidFill>
                <a:latin typeface="Consolas" panose="020B0609020204030204" pitchFamily="49" charset="0"/>
              </a:rPr>
              <a:t>]</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0.5</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kowariancja </a:t>
            </a:r>
            <a:r>
              <a:rPr lang="pl-PL" sz="1100" dirty="0" err="1">
                <a:solidFill>
                  <a:srgbClr val="8B949E"/>
                </a:solidFill>
                <a:latin typeface="Consolas" panose="020B0609020204030204" pitchFamily="49" charset="0"/>
              </a:rPr>
              <a:t>poczatkowa</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Q</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diag</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0.005</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szum procesu</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R</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diag</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0.1</a:t>
            </a:r>
            <a:r>
              <a:rPr lang="pl-PL" sz="1100" dirty="0">
                <a:solidFill>
                  <a:srgbClr val="BBBEBF"/>
                </a:solidFill>
                <a:latin typeface="Consolas" panose="020B0609020204030204" pitchFamily="49" charset="0"/>
              </a:rPr>
              <a:t>, </a:t>
            </a:r>
            <a:r>
              <a:rPr lang="pl-PL" sz="1100" dirty="0">
                <a:solidFill>
                  <a:srgbClr val="B5CEA8"/>
                </a:solidFill>
                <a:latin typeface="Consolas" panose="020B0609020204030204" pitchFamily="49" charset="0"/>
              </a:rPr>
              <a:t>0.1</a:t>
            </a:r>
            <a:r>
              <a:rPr lang="pl-PL" sz="1100" dirty="0">
                <a:solidFill>
                  <a:srgbClr val="BBBEBF"/>
                </a:solidFill>
                <a:latin typeface="Consolas" panose="020B0609020204030204" pitchFamily="49" charset="0"/>
              </a:rPr>
              <a:t>])  </a:t>
            </a:r>
            <a:r>
              <a:rPr lang="pl-PL" sz="1100" dirty="0">
                <a:solidFill>
                  <a:srgbClr val="8B949E"/>
                </a:solidFill>
                <a:latin typeface="Consolas" panose="020B0609020204030204" pitchFamily="49" charset="0"/>
              </a:rPr>
              <a:t># szum pomiaru (x, y)</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err="1">
                <a:solidFill>
                  <a:srgbClr val="D2A8FF"/>
                </a:solidFill>
                <a:latin typeface="Consolas" panose="020B0609020204030204" pitchFamily="49" charset="0"/>
              </a:rPr>
              <a:t>predict</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v</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omega</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float</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array</a:t>
            </a:r>
            <a:r>
              <a:rPr lang="pl-PL" sz="1100" dirty="0">
                <a:solidFill>
                  <a:srgbClr val="BBBEBF"/>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cos</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sin</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FFA657"/>
                </a:solidFill>
                <a:latin typeface="Consolas" panose="020B0609020204030204" pitchFamily="49" charset="0"/>
              </a:rPr>
              <a:t>omega</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sin</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a:solidFill>
                  <a:srgbClr val="FFA657"/>
                </a:solidFill>
                <a:latin typeface="Consolas" panose="020B0609020204030204" pitchFamily="49" charset="0"/>
              </a:rPr>
              <a:t>v</a:t>
            </a:r>
            <a:r>
              <a:rPr lang="pl-PL" sz="1100" dirty="0">
                <a:solidFill>
                  <a:srgbClr val="D4D4D4"/>
                </a:solidFill>
                <a:latin typeface="Consolas" panose="020B0609020204030204" pitchFamily="49" charset="0"/>
              </a:rPr>
              <a:t>*</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cos</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yaw</a:t>
            </a:r>
            <a:r>
              <a:rPr lang="pl-PL" sz="1100" dirty="0">
                <a:solidFill>
                  <a:srgbClr val="BBBEBF"/>
                </a:solidFill>
                <a:latin typeface="Consolas" panose="020B0609020204030204" pitchFamily="49" charset="0"/>
              </a:rPr>
              <a:t>)</a:t>
            </a:r>
            <a:r>
              <a:rPr lang="pl-PL" sz="1100" dirty="0">
                <a:solidFill>
                  <a:srgbClr val="D4D4D4"/>
                </a:solidFill>
                <a:latin typeface="Consolas" panose="020B0609020204030204" pitchFamily="49" charset="0"/>
              </a:rPr>
              <a:t>*</a:t>
            </a:r>
            <a:r>
              <a:rPr lang="pl-PL" sz="1100" dirty="0" err="1">
                <a:solidFill>
                  <a:srgbClr val="FFA657"/>
                </a:solidFill>
                <a:latin typeface="Consolas" panose="020B0609020204030204" pitchFamily="49" charset="0"/>
              </a:rPr>
              <a:t>dt</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F</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Q</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r>
            <a:br>
              <a:rPr lang="pl-PL" sz="1100" dirty="0">
                <a:solidFill>
                  <a:srgbClr val="BBBEBF"/>
                </a:solidFill>
                <a:latin typeface="Consolas" panose="020B0609020204030204" pitchFamily="49" charset="0"/>
              </a:rPr>
            </a:br>
            <a:r>
              <a:rPr lang="pl-PL" sz="1100" dirty="0">
                <a:solidFill>
                  <a:srgbClr val="BBBEBF"/>
                </a:solidFill>
                <a:latin typeface="Consolas" panose="020B0609020204030204" pitchFamily="49" charset="0"/>
              </a:rPr>
              <a:t>    </a:t>
            </a:r>
            <a:r>
              <a:rPr lang="pl-PL" sz="1100" dirty="0">
                <a:solidFill>
                  <a:srgbClr val="FF7B72"/>
                </a:solidFill>
                <a:latin typeface="Consolas" panose="020B0609020204030204" pitchFamily="49" charset="0"/>
              </a:rPr>
              <a:t>def</a:t>
            </a:r>
            <a:r>
              <a:rPr lang="pl-PL" sz="1100" dirty="0">
                <a:solidFill>
                  <a:srgbClr val="BBBEBF"/>
                </a:solidFill>
                <a:latin typeface="Consolas" panose="020B0609020204030204" pitchFamily="49" charset="0"/>
              </a:rPr>
              <a:t> </a:t>
            </a:r>
            <a:r>
              <a:rPr lang="pl-PL" sz="1100" dirty="0" err="1">
                <a:solidFill>
                  <a:srgbClr val="D2A8FF"/>
                </a:solidFill>
                <a:latin typeface="Consolas" panose="020B0609020204030204" pitchFamily="49" charset="0"/>
              </a:rPr>
              <a:t>correct</a:t>
            </a:r>
            <a:r>
              <a:rPr lang="pl-PL" sz="1100" dirty="0">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self</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z_xy</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4EC9B0"/>
                </a:solidFill>
                <a:latin typeface="Consolas" panose="020B0609020204030204" pitchFamily="49" charset="0"/>
              </a:rPr>
              <a:t>ndarray</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array</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1</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0</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S</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R</a:t>
            </a:r>
            <a:endParaRPr lang="pl-PL" sz="1100" dirty="0">
              <a:solidFill>
                <a:srgbClr val="BBBEBF"/>
              </a:solidFill>
              <a:latin typeface="Consolas" panose="020B0609020204030204" pitchFamily="49" charset="0"/>
            </a:endParaRPr>
          </a:p>
          <a:p>
            <a:pPr>
              <a:lnSpc>
                <a:spcPts val="1200"/>
              </a:lnSpc>
            </a:pP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a:t>
            </a:r>
            <a:r>
              <a:rPr lang="pl-PL" sz="1100" dirty="0">
                <a:solidFill>
                  <a:srgbClr val="C9D1D9"/>
                </a:solidFill>
                <a:latin typeface="Consolas" panose="020B0609020204030204" pitchFamily="49" charset="0"/>
              </a:rPr>
              <a:t>T</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4EC9B0"/>
                </a:solidFill>
                <a:latin typeface="Consolas" panose="020B0609020204030204" pitchFamily="49" charset="0"/>
              </a:rPr>
              <a:t>linalg</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inv</a:t>
            </a:r>
            <a:r>
              <a:rPr lang="pl-PL" sz="1100" dirty="0">
                <a:solidFill>
                  <a:srgbClr val="BBBEBF"/>
                </a:solidFill>
                <a:latin typeface="Consolas" panose="020B0609020204030204" pitchFamily="49" charset="0"/>
              </a:rPr>
              <a:t>(</a:t>
            </a:r>
            <a:r>
              <a:rPr lang="pl-PL" sz="1100" dirty="0">
                <a:solidFill>
                  <a:srgbClr val="79C0FF"/>
                </a:solidFill>
                <a:latin typeface="Consolas" panose="020B0609020204030204" pitchFamily="49" charset="0"/>
              </a:rPr>
              <a:t>S</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FFA657"/>
                </a:solidFill>
                <a:latin typeface="Consolas" panose="020B0609020204030204" pitchFamily="49" charset="0"/>
              </a:rPr>
              <a:t>z_xy</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x</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2</a:t>
            </a:r>
            <a:r>
              <a:rPr lang="pl-PL" sz="1100" dirty="0">
                <a:solidFill>
                  <a:srgbClr val="BBBEBF"/>
                </a:solidFill>
                <a:latin typeface="Consolas" panose="020B0609020204030204" pitchFamily="49" charset="0"/>
              </a:rPr>
              <a:t>])</a:t>
            </a:r>
          </a:p>
          <a:p>
            <a:pPr>
              <a:lnSpc>
                <a:spcPts val="1200"/>
              </a:lnSpc>
            </a:pPr>
            <a:r>
              <a:rPr lang="pl-PL" sz="1100" dirty="0">
                <a:solidFill>
                  <a:srgbClr val="BBBEBF"/>
                </a:solidFill>
                <a:latin typeface="Consolas" panose="020B0609020204030204" pitchFamily="49" charset="0"/>
              </a:rPr>
              <a:t>        </a:t>
            </a:r>
            <a:r>
              <a:rPr lang="pl-PL" sz="1100" dirty="0" err="1">
                <a:solidFill>
                  <a:srgbClr val="C9D1D9"/>
                </a:solidFill>
                <a:latin typeface="Consolas" panose="020B0609020204030204" pitchFamily="49" charset="0"/>
              </a:rPr>
              <a:t>self</a:t>
            </a:r>
            <a:r>
              <a:rPr lang="pl-PL" sz="1100" dirty="0" err="1">
                <a:solidFill>
                  <a:srgbClr val="BBBEBF"/>
                </a:solidFill>
                <a:latin typeface="Consolas" panose="020B0609020204030204" pitchFamily="49" charset="0"/>
              </a:rPr>
              <a:t>.</a:t>
            </a:r>
            <a:r>
              <a:rPr lang="pl-PL" sz="1100" dirty="0" err="1">
                <a:solidFill>
                  <a:srgbClr val="C9D1D9"/>
                </a:solidFill>
                <a:latin typeface="Consolas" panose="020B0609020204030204" pitchFamily="49" charset="0"/>
              </a:rPr>
              <a:t>P</a:t>
            </a:r>
            <a:r>
              <a:rPr lang="pl-PL" sz="1100" dirty="0">
                <a:solidFill>
                  <a:srgbClr val="BBBEBF"/>
                </a:solidFill>
                <a:latin typeface="Consolas" panose="020B0609020204030204" pitchFamily="49" charset="0"/>
              </a:rPr>
              <a:t> </a:t>
            </a:r>
            <a:r>
              <a:rPr lang="pl-PL" sz="1100" dirty="0">
                <a:solidFill>
                  <a:srgbClr val="D4D4D4"/>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a:solidFill>
                  <a:srgbClr val="4EC9B0"/>
                </a:solidFill>
                <a:latin typeface="Consolas" panose="020B0609020204030204" pitchFamily="49" charset="0"/>
              </a:rPr>
              <a:t>np</a:t>
            </a:r>
            <a:r>
              <a:rPr lang="pl-PL" sz="1100" dirty="0" err="1">
                <a:solidFill>
                  <a:srgbClr val="BBBEBF"/>
                </a:solidFill>
                <a:latin typeface="Consolas" panose="020B0609020204030204" pitchFamily="49" charset="0"/>
              </a:rPr>
              <a:t>.</a:t>
            </a:r>
            <a:r>
              <a:rPr lang="pl-PL" sz="1100" dirty="0" err="1">
                <a:solidFill>
                  <a:srgbClr val="D2A8FF"/>
                </a:solidFill>
                <a:latin typeface="Consolas" panose="020B0609020204030204" pitchFamily="49" charset="0"/>
              </a:rPr>
              <a:t>eye</a:t>
            </a:r>
            <a:r>
              <a:rPr lang="pl-PL" sz="1100" dirty="0">
                <a:solidFill>
                  <a:srgbClr val="BBBEBF"/>
                </a:solidFill>
                <a:latin typeface="Consolas" panose="020B0609020204030204" pitchFamily="49" charset="0"/>
              </a:rPr>
              <a:t>(</a:t>
            </a:r>
            <a:r>
              <a:rPr lang="pl-PL" sz="1100" dirty="0">
                <a:solidFill>
                  <a:srgbClr val="B5CEA8"/>
                </a:solidFill>
                <a:latin typeface="Consolas" panose="020B0609020204030204" pitchFamily="49" charset="0"/>
              </a:rPr>
              <a:t>3</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K</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a:solidFill>
                  <a:srgbClr val="79C0FF"/>
                </a:solidFill>
                <a:latin typeface="Consolas" panose="020B0609020204030204" pitchFamily="49" charset="0"/>
              </a:rPr>
              <a:t>H</a:t>
            </a:r>
            <a:r>
              <a:rPr lang="pl-PL" sz="1100" dirty="0">
                <a:solidFill>
                  <a:srgbClr val="BBBEBF"/>
                </a:solidFill>
                <a:latin typeface="Consolas" panose="020B0609020204030204" pitchFamily="49" charset="0"/>
              </a:rPr>
              <a:t>) </a:t>
            </a:r>
            <a:r>
              <a:rPr lang="pl-PL" sz="1100" dirty="0">
                <a:solidFill>
                  <a:srgbClr val="DCDCAA"/>
                </a:solidFill>
                <a:latin typeface="Consolas" panose="020B0609020204030204" pitchFamily="49" charset="0"/>
              </a:rPr>
              <a:t>@</a:t>
            </a:r>
            <a:r>
              <a:rPr lang="pl-PL" sz="1100" dirty="0">
                <a:solidFill>
                  <a:srgbClr val="BBBEBF"/>
                </a:solidFill>
                <a:latin typeface="Consolas" panose="020B0609020204030204" pitchFamily="49" charset="0"/>
              </a:rPr>
              <a:t> </a:t>
            </a:r>
            <a:r>
              <a:rPr lang="pl-PL" sz="1100" dirty="0" err="1" smtClean="0">
                <a:solidFill>
                  <a:srgbClr val="C9D1D9"/>
                </a:solidFill>
                <a:latin typeface="Consolas" panose="020B0609020204030204" pitchFamily="49" charset="0"/>
              </a:rPr>
              <a:t>self</a:t>
            </a:r>
            <a:r>
              <a:rPr lang="pl-PL" sz="1100" dirty="0" err="1" smtClean="0">
                <a:solidFill>
                  <a:srgbClr val="BBBEBF"/>
                </a:solidFill>
                <a:latin typeface="Consolas" panose="020B0609020204030204" pitchFamily="49" charset="0"/>
              </a:rPr>
              <a:t>.</a:t>
            </a:r>
            <a:r>
              <a:rPr lang="pl-PL" sz="1100" dirty="0" err="1" smtClean="0">
                <a:solidFill>
                  <a:srgbClr val="C9D1D9"/>
                </a:solidFill>
                <a:latin typeface="Consolas" panose="020B0609020204030204" pitchFamily="49" charset="0"/>
              </a:rPr>
              <a:t>P</a:t>
            </a:r>
            <a:endParaRPr lang="pl-PL" sz="1100" dirty="0">
              <a:solidFill>
                <a:srgbClr val="BBBEBF"/>
              </a:solidFill>
              <a:latin typeface="Consolas" panose="020B0609020204030204" pitchFamily="49" charset="0"/>
            </a:endParaRPr>
          </a:p>
        </p:txBody>
      </p:sp>
      <p:sp>
        <p:nvSpPr>
          <p:cNvPr id="11" name="Shape 9"/>
          <p:cNvSpPr/>
          <p:nvPr/>
        </p:nvSpPr>
        <p:spPr>
          <a:xfrm>
            <a:off x="274320" y="4512526"/>
            <a:ext cx="8595360" cy="425233"/>
          </a:xfrm>
          <a:prstGeom prst="rect">
            <a:avLst/>
          </a:prstGeom>
          <a:solidFill>
            <a:srgbClr val="1A3550"/>
          </a:solidFill>
          <a:ln w="12700">
            <a:solidFill>
              <a:srgbClr val="0077A8"/>
            </a:solidFill>
            <a:prstDash val="solid"/>
          </a:ln>
        </p:spPr>
      </p:sp>
      <p:sp>
        <p:nvSpPr>
          <p:cNvPr id="12" name="Text 10"/>
          <p:cNvSpPr/>
          <p:nvPr/>
        </p:nvSpPr>
        <p:spPr>
          <a:xfrm>
            <a:off x="327102" y="4512526"/>
            <a:ext cx="8451138" cy="425234"/>
          </a:xfrm>
          <a:prstGeom prst="rect">
            <a:avLst/>
          </a:prstGeom>
          <a:noFill/>
          <a:ln/>
        </p:spPr>
        <p:txBody>
          <a:bodyPr wrap="square" lIns="0" tIns="0" rIns="127000" bIns="0" rtlCol="0" anchor="ctr"/>
          <a:lstStyle/>
          <a:p>
            <a:pPr marL="0" indent="0" algn="ctr">
              <a:buNone/>
            </a:pPr>
            <a:r>
              <a:rPr lang="en-US" sz="1600" b="1" spc="-40" dirty="0">
                <a:solidFill>
                  <a:srgbClr val="00B4D8"/>
                </a:solidFill>
                <a:latin typeface="Calibri" pitchFamily="34" charset="0"/>
                <a:ea typeface="Calibri" pitchFamily="34" charset="-122"/>
                <a:cs typeface="Calibri" pitchFamily="34" charset="-120"/>
              </a:rPr>
              <a:t>Opis: </a:t>
            </a:r>
            <a:r>
              <a:rPr lang="en-US" sz="1600" spc="-40" dirty="0">
                <a:solidFill>
                  <a:srgbClr val="E2EBF3"/>
                </a:solidFill>
                <a:latin typeface="Calibri" pitchFamily="34" charset="0"/>
                <a:ea typeface="Calibri" pitchFamily="34" charset="-122"/>
                <a:cs typeface="Calibri" pitchFamily="34" charset="-120"/>
              </a:rPr>
              <a:t>predict() używa modelu jednośladowego (unicycle); correct() koryguje pomiar GPS </a:t>
            </a:r>
            <a:r>
              <a:rPr lang="en-US" sz="1600" spc="-40" dirty="0" err="1">
                <a:solidFill>
                  <a:srgbClr val="E2EBF3"/>
                </a:solidFill>
                <a:latin typeface="Calibri" pitchFamily="34" charset="0"/>
                <a:ea typeface="Calibri" pitchFamily="34" charset="-122"/>
                <a:cs typeface="Calibri" pitchFamily="34" charset="-120"/>
              </a:rPr>
              <a:t>lub</a:t>
            </a:r>
            <a:r>
              <a:rPr lang="en-US" sz="1600" spc="-40" dirty="0">
                <a:solidFill>
                  <a:srgbClr val="E2EBF3"/>
                </a:solidFill>
                <a:latin typeface="Calibri" pitchFamily="34" charset="0"/>
                <a:ea typeface="Calibri" pitchFamily="34" charset="-122"/>
                <a:cs typeface="Calibri" pitchFamily="34" charset="-120"/>
              </a:rPr>
              <a:t> </a:t>
            </a:r>
            <a:r>
              <a:rPr lang="en-US" sz="1600" spc="-40" dirty="0" err="1" smtClean="0">
                <a:solidFill>
                  <a:srgbClr val="E2EBF3"/>
                </a:solidFill>
                <a:latin typeface="Calibri" pitchFamily="34" charset="0"/>
                <a:ea typeface="Calibri" pitchFamily="34" charset="-122"/>
                <a:cs typeface="Calibri" pitchFamily="34" charset="-120"/>
              </a:rPr>
              <a:t>znacznika</a:t>
            </a:r>
            <a:endParaRPr lang="en-US" sz="1600" spc="-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2 | FUZJA IMU+ENKODERY+WIZJA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Fuzja IMU, enkoderów i wizji</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520440"/>
          </a:xfrm>
          <a:prstGeom prst="rect">
            <a:avLst/>
          </a:prstGeom>
          <a:noFill/>
          <a:ln/>
        </p:spPr>
        <p:txBody>
          <a:bodyPr wrap="square" lIns="127000" tIns="127000" rIns="127000" bIns="127000" rtlCol="0" anchor="t"/>
          <a:lstStyle/>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IMU </a:t>
            </a:r>
            <a:r>
              <a:rPr lang="en-US" sz="1600" b="1" i="1" spc="-40" dirty="0">
                <a:solidFill>
                  <a:srgbClr val="0D1B2A"/>
                </a:solidFill>
                <a:latin typeface="Calibri" pitchFamily="34" charset="0"/>
                <a:ea typeface="Calibri" pitchFamily="34" charset="-122"/>
                <a:cs typeface="Calibri" pitchFamily="34" charset="-120"/>
              </a:rPr>
              <a:t>(200 Hz): </a:t>
            </a:r>
            <a:r>
              <a:rPr lang="en-US" sz="1600" spc="-40" dirty="0">
                <a:solidFill>
                  <a:srgbClr val="0D1B2A"/>
                </a:solidFill>
                <a:latin typeface="Calibri" pitchFamily="34" charset="0"/>
                <a:ea typeface="Calibri" pitchFamily="34" charset="-122"/>
                <a:cs typeface="Calibri" pitchFamily="34" charset="-120"/>
              </a:rPr>
              <a:t>predykcja stanu – szybka propagacja orientacji i przyspieszenia</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Enkodery + kontakty stóp </a:t>
            </a:r>
            <a:r>
              <a:rPr lang="en-US" sz="1600" b="1" i="1" spc="-40" dirty="0">
                <a:solidFill>
                  <a:srgbClr val="0D1B2A"/>
                </a:solidFill>
                <a:latin typeface="Calibri" pitchFamily="34" charset="0"/>
                <a:ea typeface="Calibri" pitchFamily="34" charset="-122"/>
                <a:cs typeface="Calibri" pitchFamily="34" charset="-120"/>
              </a:rPr>
              <a:t>(100–500 Hz): </a:t>
            </a:r>
            <a:r>
              <a:rPr lang="en-US" sz="1600" spc="-40" dirty="0">
                <a:solidFill>
                  <a:srgbClr val="0D1B2A"/>
                </a:solidFill>
                <a:latin typeface="Calibri" pitchFamily="34" charset="0"/>
                <a:ea typeface="Calibri" pitchFamily="34" charset="-122"/>
                <a:cs typeface="Calibri" pitchFamily="34" charset="-120"/>
              </a:rPr>
              <a:t>kinematyczna odometria kroków – korekta translacji</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Kamera </a:t>
            </a:r>
            <a:r>
              <a:rPr lang="en-US" sz="1600" b="1" i="1" spc="-40" dirty="0">
                <a:solidFill>
                  <a:srgbClr val="0D1B2A"/>
                </a:solidFill>
                <a:latin typeface="Calibri" pitchFamily="34" charset="0"/>
                <a:ea typeface="Calibri" pitchFamily="34" charset="-122"/>
                <a:cs typeface="Calibri" pitchFamily="34" charset="-120"/>
              </a:rPr>
              <a:t>(30 Hz) </a:t>
            </a:r>
            <a:r>
              <a:rPr lang="en-US" sz="1600" b="1" spc="-40" dirty="0">
                <a:solidFill>
                  <a:srgbClr val="0D1B2A"/>
                </a:solidFill>
                <a:latin typeface="Calibri" pitchFamily="34" charset="0"/>
                <a:ea typeface="Calibri" pitchFamily="34" charset="-122"/>
                <a:cs typeface="Calibri" pitchFamily="34" charset="-120"/>
              </a:rPr>
              <a:t>/ LiDAR </a:t>
            </a:r>
            <a:r>
              <a:rPr lang="en-US" sz="1600" b="1" i="1" spc="-40" dirty="0">
                <a:solidFill>
                  <a:srgbClr val="0D1B2A"/>
                </a:solidFill>
                <a:latin typeface="Calibri" pitchFamily="34" charset="0"/>
                <a:ea typeface="Calibri" pitchFamily="34" charset="-122"/>
                <a:cs typeface="Calibri" pitchFamily="34" charset="-120"/>
              </a:rPr>
              <a:t>(10 Hz): </a:t>
            </a:r>
            <a:r>
              <a:rPr lang="en-US" sz="1600" spc="-40" dirty="0">
                <a:solidFill>
                  <a:srgbClr val="0D1B2A"/>
                </a:solidFill>
                <a:latin typeface="Calibri" pitchFamily="34" charset="0"/>
                <a:ea typeface="Calibri" pitchFamily="34" charset="-122"/>
                <a:cs typeface="Calibri" pitchFamily="34" charset="-120"/>
              </a:rPr>
              <a:t>obserwacje pozycyjne – usuwanie skumulowanego dryfu</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Architektura looselycoupled</a:t>
            </a:r>
            <a:r>
              <a:rPr lang="en-US" sz="1600" spc="-40" dirty="0">
                <a:solidFill>
                  <a:srgbClr val="0D1B2A"/>
                </a:solidFill>
                <a:latin typeface="Calibri" pitchFamily="34" charset="0"/>
                <a:ea typeface="Calibri" pitchFamily="34" charset="-122"/>
                <a:cs typeface="Calibri" pitchFamily="34" charset="-120"/>
              </a:rPr>
              <a:t>: każde źródło dostarcza niezależnej estymatę pozycji do EKF</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Architektura tightly coupled</a:t>
            </a:r>
            <a:r>
              <a:rPr lang="en-US" sz="1600" spc="-40" dirty="0">
                <a:solidFill>
                  <a:srgbClr val="0D1B2A"/>
                </a:solidFill>
                <a:latin typeface="Calibri" pitchFamily="34" charset="0"/>
                <a:ea typeface="Calibri" pitchFamily="34" charset="-122"/>
                <a:cs typeface="Calibri" pitchFamily="34" charset="-120"/>
              </a:rPr>
              <a:t>: surowe pomiary sensorów trafiają bezpośrednio do jednego filtru</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Opóźnienia</a:t>
            </a:r>
            <a:r>
              <a:rPr lang="en-US" sz="1600" spc="-40" dirty="0">
                <a:solidFill>
                  <a:srgbClr val="0D1B2A"/>
                </a:solidFill>
                <a:latin typeface="Calibri" pitchFamily="34" charset="0"/>
                <a:ea typeface="Calibri" pitchFamily="34" charset="-122"/>
                <a:cs typeface="Calibri" pitchFamily="34" charset="-120"/>
              </a:rPr>
              <a:t>: pomiar z kamery z 33 ms opóźnieniem wymaga cofnięcia stanu (state rewinding)</a:t>
            </a:r>
            <a:endParaRPr lang="en-US" sz="1600" spc="-40" dirty="0"/>
          </a:p>
          <a:p>
            <a:pPr marL="216000" indent="-216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Stan złożony</a:t>
            </a:r>
            <a:r>
              <a:rPr lang="en-US" sz="1600" spc="-40" dirty="0">
                <a:solidFill>
                  <a:srgbClr val="0D1B2A"/>
                </a:solidFill>
                <a:latin typeface="Calibri" pitchFamily="34" charset="0"/>
                <a:ea typeface="Calibri" pitchFamily="34" charset="-122"/>
                <a:cs typeface="Calibri" pitchFamily="34" charset="-120"/>
              </a:rPr>
              <a:t>: x = [pos, vel, orient, biasy IMU] – typowo 15–21 zmiennych stanu</a:t>
            </a:r>
            <a:endParaRPr lang="en-US" sz="1600" spc="-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2 | AWARIE SENSORÓW</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Wykrywanie awarii sensora</a:t>
            </a:r>
            <a:endParaRPr lang="en-US" sz="2800" dirty="0"/>
          </a:p>
        </p:txBody>
      </p:sp>
      <p:sp>
        <p:nvSpPr>
          <p:cNvPr id="6" name="Shape 4"/>
          <p:cNvSpPr/>
          <p:nvPr/>
        </p:nvSpPr>
        <p:spPr>
          <a:xfrm>
            <a:off x="274320" y="1097280"/>
            <a:ext cx="4160520" cy="3749040"/>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3749040"/>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411480"/>
          </a:xfrm>
          <a:prstGeom prst="rect">
            <a:avLst/>
          </a:prstGeom>
          <a:solidFill>
            <a:srgbClr val="0077A8"/>
          </a:solidFill>
          <a:ln w="12700">
            <a:solidFill>
              <a:srgbClr val="0077A8"/>
            </a:solidFill>
            <a:prstDash val="solid"/>
          </a:ln>
        </p:spPr>
      </p:sp>
      <p:sp>
        <p:nvSpPr>
          <p:cNvPr id="9" name="Text 7"/>
          <p:cNvSpPr/>
          <p:nvPr/>
        </p:nvSpPr>
        <p:spPr>
          <a:xfrm>
            <a:off x="45720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Test innowacji (chi-squared)</a:t>
            </a:r>
            <a:endParaRPr lang="en-US" sz="1600" dirty="0"/>
          </a:p>
        </p:txBody>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Tryb degradacji (graceful degradation)</a:t>
            </a:r>
            <a:endParaRPr lang="en-US" sz="1600" dirty="0"/>
          </a:p>
        </p:txBody>
      </p:sp>
      <p:sp>
        <p:nvSpPr>
          <p:cNvPr id="12" name="Text 10"/>
          <p:cNvSpPr/>
          <p:nvPr/>
        </p:nvSpPr>
        <p:spPr>
          <a:xfrm>
            <a:off x="457200" y="1600200"/>
            <a:ext cx="3794760" cy="3108960"/>
          </a:xfrm>
          <a:prstGeom prst="rect">
            <a:avLst/>
          </a:prstGeom>
          <a:noFill/>
          <a:ln/>
        </p:spPr>
        <p:txBody>
          <a:bodyPr wrap="square" lIns="63500" tIns="101600" rIns="1016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Innowacja ν = z – H·x̂⁻ powinna być zbliżona do zera</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Statystyka χ²: ν⁻¹·S⁻¹·ν &gt; próg → sensor awaryjny</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Zaimplementowane w bibliotekach iSAM2, GTSAM</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Działa online, bez zatrzymywania robota</a:t>
            </a:r>
            <a:endParaRPr lang="en-US" sz="1600" dirty="0"/>
          </a:p>
        </p:txBody>
      </p:sp>
      <p:sp>
        <p:nvSpPr>
          <p:cNvPr id="13" name="Text 11"/>
          <p:cNvSpPr/>
          <p:nvPr/>
        </p:nvSpPr>
        <p:spPr>
          <a:xfrm>
            <a:off x="4892040" y="1600200"/>
            <a:ext cx="3794760" cy="3108960"/>
          </a:xfrm>
          <a:prstGeom prst="rect">
            <a:avLst/>
          </a:prstGeom>
          <a:noFill/>
          <a:ln/>
        </p:spPr>
        <p:txBody>
          <a:bodyPr wrap="square" lIns="63500" tIns="101600" rIns="101600" bIns="63500" rtlCol="0" anchor="t"/>
          <a:lstStyle/>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Awaria kamery → nawigacja tylko na IMU + enkodery</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Awaria LiDAR → zmniejszony zasięg planowania</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Awaria jednej stopy F/T → wyłącz kinematyczną odo dla tej nogi</a:t>
            </a:r>
            <a:endParaRPr lang="en-US" sz="1600" dirty="0"/>
          </a:p>
          <a:p>
            <a:pPr marL="216000" indent="-216000">
              <a:spcAft>
                <a:spcPts val="1200"/>
              </a:spcAft>
              <a:buSzPct val="100000"/>
              <a:buChar char="•"/>
            </a:pPr>
            <a:r>
              <a:rPr lang="en-US" sz="1600" dirty="0">
                <a:solidFill>
                  <a:srgbClr val="0D1B2A"/>
                </a:solidFill>
                <a:latin typeface="Calibri" pitchFamily="34" charset="0"/>
                <a:ea typeface="Calibri" pitchFamily="34" charset="-122"/>
                <a:cs typeface="Calibri" pitchFamily="34" charset="-120"/>
              </a:rPr>
              <a:t>Zwiększenie macierzy Q i P → większy obszar niepewności</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355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0B4D8"/>
          </a:solidFill>
          <a:ln w="12700">
            <a:solidFill>
              <a:srgbClr val="00B4D8"/>
            </a:solidFill>
            <a:prstDash val="solid"/>
          </a:ln>
        </p:spPr>
      </p:sp>
      <p:sp>
        <p:nvSpPr>
          <p:cNvPr id="3" name="Shape 1"/>
          <p:cNvSpPr/>
          <p:nvPr/>
        </p:nvSpPr>
        <p:spPr>
          <a:xfrm>
            <a:off x="0" y="5052060"/>
            <a:ext cx="9144000" cy="91440"/>
          </a:xfrm>
          <a:prstGeom prst="rect">
            <a:avLst/>
          </a:prstGeom>
          <a:solidFill>
            <a:srgbClr val="0077A8"/>
          </a:solidFill>
          <a:ln w="12700">
            <a:solidFill>
              <a:srgbClr val="0077A8"/>
            </a:solidFill>
            <a:prstDash val="solid"/>
          </a:ln>
        </p:spPr>
      </p:sp>
      <p:sp>
        <p:nvSpPr>
          <p:cNvPr id="4" name="Text 2"/>
          <p:cNvSpPr/>
          <p:nvPr/>
        </p:nvSpPr>
        <p:spPr>
          <a:xfrm>
            <a:off x="457200" y="640080"/>
            <a:ext cx="2286000" cy="2286000"/>
          </a:xfrm>
          <a:prstGeom prst="rect">
            <a:avLst/>
          </a:prstGeom>
          <a:noFill/>
          <a:ln/>
        </p:spPr>
        <p:txBody>
          <a:bodyPr wrap="square" lIns="0" tIns="0" rIns="0" bIns="0" rtlCol="0" anchor="ctr"/>
          <a:lstStyle/>
          <a:p>
            <a:pPr marL="0" indent="0" algn="ctr">
              <a:buNone/>
            </a:pPr>
            <a:r>
              <a:rPr lang="en-US" sz="12000" b="1" dirty="0">
                <a:solidFill>
                  <a:srgbClr val="00B4D8">
                    <a:alpha val="80000"/>
                  </a:srgbClr>
                </a:solidFill>
                <a:latin typeface="Trebuchet MS" pitchFamily="34" charset="0"/>
                <a:ea typeface="Trebuchet MS" pitchFamily="34" charset="-122"/>
                <a:cs typeface="Trebuchet MS" pitchFamily="34" charset="-120"/>
              </a:rPr>
              <a:t>03</a:t>
            </a:r>
            <a:endParaRPr lang="en-US" sz="12000" dirty="0"/>
          </a:p>
        </p:txBody>
      </p:sp>
      <p:sp>
        <p:nvSpPr>
          <p:cNvPr id="5" name="Shape 3"/>
          <p:cNvSpPr/>
          <p:nvPr/>
        </p:nvSpPr>
        <p:spPr>
          <a:xfrm>
            <a:off x="7132320" y="1371600"/>
            <a:ext cx="1645920" cy="1645920"/>
          </a:xfrm>
          <a:prstGeom prst="ellipse">
            <a:avLst/>
          </a:prstGeom>
          <a:solidFill>
            <a:srgbClr val="0D1B2A"/>
          </a:solidFill>
          <a:ln w="25400">
            <a:solidFill>
              <a:srgbClr val="00B4D8"/>
            </a:solidFill>
            <a:prstDash val="solid"/>
          </a:ln>
        </p:spPr>
      </p:sp>
      <p:pic>
        <p:nvPicPr>
          <p:cNvPr id="6" name="Image 0" descr="preencoded.png"/>
          <p:cNvPicPr>
            <a:picLocks noChangeAspect="1"/>
          </p:cNvPicPr>
          <p:nvPr/>
        </p:nvPicPr>
        <p:blipFill>
          <a:blip r:embed="rId3"/>
          <a:stretch>
            <a:fillRect/>
          </a:stretch>
        </p:blipFill>
        <p:spPr>
          <a:xfrm>
            <a:off x="7406640" y="1645920"/>
            <a:ext cx="1097280" cy="1097280"/>
          </a:xfrm>
          <a:prstGeom prst="rect">
            <a:avLst/>
          </a:prstGeom>
        </p:spPr>
      </p:pic>
      <p:sp>
        <p:nvSpPr>
          <p:cNvPr id="7" name="Text 4"/>
          <p:cNvSpPr/>
          <p:nvPr/>
        </p:nvSpPr>
        <p:spPr>
          <a:xfrm>
            <a:off x="2926080" y="1188720"/>
            <a:ext cx="3931920" cy="365760"/>
          </a:xfrm>
          <a:prstGeom prst="rect">
            <a:avLst/>
          </a:prstGeom>
          <a:noFill/>
          <a:ln/>
        </p:spPr>
        <p:txBody>
          <a:bodyPr wrap="square" lIns="0" tIns="0" rIns="0" bIns="0" rtlCol="0" anchor="ctr"/>
          <a:lstStyle/>
          <a:p>
            <a:pPr marL="0" indent="0">
              <a:buNone/>
            </a:pPr>
            <a:r>
              <a:rPr lang="en-US" sz="1200" b="1" kern="0" spc="400" dirty="0">
                <a:solidFill>
                  <a:srgbClr val="00B4D8"/>
                </a:solidFill>
                <a:latin typeface="Trebuchet MS" pitchFamily="34" charset="0"/>
                <a:ea typeface="Trebuchet MS" pitchFamily="34" charset="-122"/>
                <a:cs typeface="Trebuchet MS" pitchFamily="34" charset="-120"/>
              </a:rPr>
              <a:t>SEKCJA</a:t>
            </a:r>
            <a:endParaRPr lang="en-US" sz="1200" dirty="0"/>
          </a:p>
        </p:txBody>
      </p:sp>
      <p:sp>
        <p:nvSpPr>
          <p:cNvPr id="8" name="Text 5"/>
          <p:cNvSpPr/>
          <p:nvPr/>
        </p:nvSpPr>
        <p:spPr>
          <a:xfrm>
            <a:off x="2926080" y="1600200"/>
            <a:ext cx="3931920" cy="10058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Lokalizacja globalna</a:t>
            </a:r>
            <a:endParaRPr lang="en-US" sz="3200" dirty="0"/>
          </a:p>
          <a:p>
            <a:pPr marL="0" indent="0">
              <a:buNone/>
            </a:pPr>
            <a:r>
              <a:rPr lang="en-US" sz="3200" b="1" dirty="0">
                <a:solidFill>
                  <a:srgbClr val="FFFFFF"/>
                </a:solidFill>
                <a:latin typeface="Trebuchet MS" pitchFamily="34" charset="0"/>
                <a:ea typeface="Trebuchet MS" pitchFamily="34" charset="-122"/>
                <a:cs typeface="Trebuchet MS" pitchFamily="34" charset="-120"/>
              </a:rPr>
              <a:t>i SLAM</a:t>
            </a:r>
            <a:endParaRPr lang="en-US" sz="3200" dirty="0"/>
          </a:p>
        </p:txBody>
      </p:sp>
      <p:sp>
        <p:nvSpPr>
          <p:cNvPr id="9" name="Shape 6"/>
          <p:cNvSpPr/>
          <p:nvPr/>
        </p:nvSpPr>
        <p:spPr>
          <a:xfrm>
            <a:off x="2926080" y="2697480"/>
            <a:ext cx="3931920" cy="27432"/>
          </a:xfrm>
          <a:prstGeom prst="rect">
            <a:avLst/>
          </a:prstGeom>
          <a:solidFill>
            <a:srgbClr val="00B4D8"/>
          </a:solidFill>
          <a:ln w="12700">
            <a:solidFill>
              <a:srgbClr val="00B4D8"/>
            </a:solidFill>
            <a:prstDash val="solid"/>
          </a:ln>
        </p:spPr>
      </p:sp>
      <p:sp>
        <p:nvSpPr>
          <p:cNvPr id="10" name="Text 7"/>
          <p:cNvSpPr/>
          <p:nvPr/>
        </p:nvSpPr>
        <p:spPr>
          <a:xfrm>
            <a:off x="2926080" y="2834640"/>
            <a:ext cx="3931920" cy="822960"/>
          </a:xfrm>
          <a:prstGeom prst="rect">
            <a:avLst/>
          </a:prstGeom>
          <a:noFill/>
          <a:ln/>
        </p:spPr>
        <p:txBody>
          <a:bodyPr wrap="square" lIns="0" tIns="0" rIns="0" bIns="0" rtlCol="0" anchor="ctr"/>
          <a:lstStyle/>
          <a:p>
            <a:pPr marL="0" indent="0">
              <a:buNone/>
            </a:pPr>
            <a:r>
              <a:rPr lang="en-US" sz="1400" i="1" dirty="0">
                <a:solidFill>
                  <a:srgbClr val="E2EBF3"/>
                </a:solidFill>
                <a:latin typeface="Calibri" pitchFamily="34" charset="0"/>
                <a:ea typeface="Calibri" pitchFamily="34" charset="-122"/>
                <a:cs typeface="Calibri" pitchFamily="34" charset="-120"/>
              </a:rPr>
              <a:t>ICP, visual odometry, pose graph, domykanie pętli</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LOKALIZACJA</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Lokalizacja względem znanych map</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520440"/>
          </a:xfrm>
          <a:prstGeom prst="rect">
            <a:avLst/>
          </a:prstGeom>
          <a:noFill/>
          <a:ln/>
        </p:spPr>
        <p:txBody>
          <a:bodyPr wrap="square" lIns="127000" tIns="127000" rIns="127000" bIns="127000" rtlCol="0" anchor="t"/>
          <a:lstStyle/>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Cel</a:t>
            </a:r>
            <a:r>
              <a:rPr lang="en-US" sz="1600" spc="-20" dirty="0">
                <a:solidFill>
                  <a:srgbClr val="0D1B2A"/>
                </a:solidFill>
                <a:latin typeface="Calibri" pitchFamily="34" charset="0"/>
                <a:ea typeface="Calibri" pitchFamily="34" charset="-122"/>
                <a:cs typeface="Calibri" pitchFamily="34" charset="-120"/>
              </a:rPr>
              <a:t>: wyznaczenie pozycji robota w już zbudowanej mapie środowiska</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Monte Carlo Localization </a:t>
            </a:r>
            <a:r>
              <a:rPr lang="en-US" sz="1600" b="1" i="1" spc="-20" dirty="0">
                <a:solidFill>
                  <a:srgbClr val="0D1B2A"/>
                </a:solidFill>
                <a:latin typeface="Calibri" pitchFamily="34" charset="0"/>
                <a:ea typeface="Calibri" pitchFamily="34" charset="-122"/>
                <a:cs typeface="Calibri" pitchFamily="34" charset="-120"/>
              </a:rPr>
              <a:t>(MCL / AMCL): </a:t>
            </a:r>
            <a:r>
              <a:rPr lang="en-US" sz="1600" spc="-20" dirty="0">
                <a:solidFill>
                  <a:srgbClr val="0D1B2A"/>
                </a:solidFill>
                <a:latin typeface="Calibri" pitchFamily="34" charset="0"/>
                <a:ea typeface="Calibri" pitchFamily="34" charset="-122"/>
                <a:cs typeface="Calibri" pitchFamily="34" charset="-120"/>
              </a:rPr>
              <a:t>filtr cząsteczkowy z obserwacjami LiDAR</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Matching 2D</a:t>
            </a:r>
            <a:r>
              <a:rPr lang="en-US" sz="1600" spc="-20" dirty="0">
                <a:solidFill>
                  <a:srgbClr val="0D1B2A"/>
                </a:solidFill>
                <a:latin typeface="Calibri" pitchFamily="34" charset="0"/>
                <a:ea typeface="Calibri" pitchFamily="34" charset="-122"/>
                <a:cs typeface="Calibri" pitchFamily="34" charset="-120"/>
              </a:rPr>
              <a:t>: porównanie aktualnego skanu z mapą zajętości – scoring hipotez</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Matching 3D </a:t>
            </a:r>
            <a:r>
              <a:rPr lang="en-US" sz="1600" b="1" i="1" spc="-20" dirty="0">
                <a:solidFill>
                  <a:srgbClr val="0D1B2A"/>
                </a:solidFill>
                <a:latin typeface="Calibri" pitchFamily="34" charset="0"/>
                <a:ea typeface="Calibri" pitchFamily="34" charset="-122"/>
                <a:cs typeface="Calibri" pitchFamily="34" charset="-120"/>
              </a:rPr>
              <a:t>(ICP): </a:t>
            </a:r>
            <a:r>
              <a:rPr lang="en-US" sz="1600" spc="-20" dirty="0">
                <a:solidFill>
                  <a:srgbClr val="0D1B2A"/>
                </a:solidFill>
                <a:latin typeface="Calibri" pitchFamily="34" charset="0"/>
                <a:ea typeface="Calibri" pitchFamily="34" charset="-122"/>
                <a:cs typeface="Calibri" pitchFamily="34" charset="-120"/>
              </a:rPr>
              <a:t>dopasowanie chmury punktów do globalnej mapy PCL</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Histogram Filter </a:t>
            </a:r>
            <a:r>
              <a:rPr lang="en-US" sz="1600" b="1" i="1" spc="-20" dirty="0">
                <a:solidFill>
                  <a:srgbClr val="0D1B2A"/>
                </a:solidFill>
                <a:latin typeface="Calibri" pitchFamily="34" charset="0"/>
                <a:ea typeface="Calibri" pitchFamily="34" charset="-122"/>
                <a:cs typeface="Calibri" pitchFamily="34" charset="-120"/>
              </a:rPr>
              <a:t>(HMM): </a:t>
            </a:r>
            <a:r>
              <a:rPr lang="en-US" sz="1600" spc="-20" dirty="0">
                <a:solidFill>
                  <a:srgbClr val="0D1B2A"/>
                </a:solidFill>
                <a:latin typeface="Calibri" pitchFamily="34" charset="0"/>
                <a:ea typeface="Calibri" pitchFamily="34" charset="-122"/>
                <a:cs typeface="Calibri" pitchFamily="34" charset="-120"/>
              </a:rPr>
              <a:t>dyskretne komórki mapy jako hipotezy lokalizacji</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Warunek dobrej lokalizacji</a:t>
            </a:r>
            <a:r>
              <a:rPr lang="en-US" sz="1600" spc="-20" dirty="0">
                <a:solidFill>
                  <a:srgbClr val="0D1B2A"/>
                </a:solidFill>
                <a:latin typeface="Calibri" pitchFamily="34" charset="0"/>
                <a:ea typeface="Calibri" pitchFamily="34" charset="-122"/>
                <a:cs typeface="Calibri" pitchFamily="34" charset="-120"/>
              </a:rPr>
              <a:t>: mapa aktualna i środowisko o charakterystycznych elementach</a:t>
            </a:r>
            <a:endParaRPr lang="en-US" sz="1600" spc="-20" dirty="0"/>
          </a:p>
          <a:p>
            <a:pPr marL="216000" indent="-216000">
              <a:spcAft>
                <a:spcPts val="1800"/>
              </a:spcAft>
              <a:buSzPct val="100000"/>
              <a:buFont typeface="+mj-lt"/>
              <a:buAutoNum type="arabicPeriod"/>
            </a:pPr>
            <a:r>
              <a:rPr lang="en-US" sz="1600" b="1" spc="-20" dirty="0">
                <a:solidFill>
                  <a:srgbClr val="0D1B2A"/>
                </a:solidFill>
                <a:latin typeface="Calibri" pitchFamily="34" charset="0"/>
                <a:ea typeface="Calibri" pitchFamily="34" charset="-122"/>
                <a:cs typeface="Calibri" pitchFamily="34" charset="-120"/>
              </a:rPr>
              <a:t>Kidnapped robot problem</a:t>
            </a:r>
            <a:r>
              <a:rPr lang="en-US" sz="1600" spc="-20" dirty="0">
                <a:solidFill>
                  <a:srgbClr val="0D1B2A"/>
                </a:solidFill>
                <a:latin typeface="Calibri" pitchFamily="34" charset="0"/>
                <a:ea typeface="Calibri" pitchFamily="34" charset="-122"/>
                <a:cs typeface="Calibri" pitchFamily="34" charset="-120"/>
              </a:rPr>
              <a:t>: wymagana inicjalizacja globalna, gdy pozycja startowa jest nieznana</a:t>
            </a:r>
            <a:endParaRPr lang="en-US" sz="1600" spc="-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ICP</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ICP – Iterative Closest Point</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397727" y="1144116"/>
            <a:ext cx="8382000" cy="3520440"/>
          </a:xfrm>
          <a:prstGeom prst="rect">
            <a:avLst/>
          </a:prstGeom>
          <a:noFill/>
          <a:ln/>
        </p:spPr>
        <p:txBody>
          <a:bodyPr wrap="square" lIns="127000" tIns="127000" rIns="127000" bIns="127000" rtlCol="0" anchor="t"/>
          <a:lstStyle/>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Cel</a:t>
            </a:r>
            <a:r>
              <a:rPr lang="en-US" sz="1600" spc="-40" dirty="0">
                <a:solidFill>
                  <a:srgbClr val="0D1B2A"/>
                </a:solidFill>
                <a:latin typeface="Calibri" pitchFamily="34" charset="0"/>
                <a:ea typeface="Calibri" pitchFamily="34" charset="-122"/>
                <a:cs typeface="Calibri" pitchFamily="34" charset="-120"/>
              </a:rPr>
              <a:t>: znalezienie transformacji (R, t) minimalizującej odległości między dwoma chmurami punktów</a:t>
            </a:r>
            <a:endParaRPr lang="en-US" sz="1600" spc="-40" dirty="0"/>
          </a:p>
          <a:p>
            <a:pPr marL="144000" indent="-144000">
              <a:spcAft>
                <a:spcPts val="1800"/>
              </a:spcAft>
              <a:buSzPct val="100000"/>
              <a:buChar char="•"/>
            </a:pPr>
            <a:r>
              <a:rPr lang="en-US" sz="1600" b="1" spc="-60" dirty="0">
                <a:solidFill>
                  <a:srgbClr val="0D1B2A"/>
                </a:solidFill>
                <a:latin typeface="Calibri" pitchFamily="34" charset="0"/>
                <a:ea typeface="Calibri" pitchFamily="34" charset="-122"/>
                <a:cs typeface="Calibri" pitchFamily="34" charset="-120"/>
              </a:rPr>
              <a:t>Krok 1 </a:t>
            </a:r>
            <a:r>
              <a:rPr lang="en-US" sz="1600" spc="-60" dirty="0">
                <a:solidFill>
                  <a:srgbClr val="0D1B2A"/>
                </a:solidFill>
                <a:latin typeface="Calibri" pitchFamily="34" charset="0"/>
                <a:ea typeface="Calibri" pitchFamily="34" charset="-122"/>
                <a:cs typeface="Calibri" pitchFamily="34" charset="-120"/>
              </a:rPr>
              <a:t>– </a:t>
            </a:r>
            <a:r>
              <a:rPr lang="en-US" sz="1600" b="1" spc="-60" dirty="0">
                <a:solidFill>
                  <a:srgbClr val="0D1B2A"/>
                </a:solidFill>
                <a:latin typeface="Calibri" pitchFamily="34" charset="0"/>
                <a:ea typeface="Calibri" pitchFamily="34" charset="-122"/>
                <a:cs typeface="Calibri" pitchFamily="34" charset="-120"/>
              </a:rPr>
              <a:t>Korespondencja</a:t>
            </a:r>
            <a:r>
              <a:rPr lang="en-US" sz="1600" spc="-60" dirty="0">
                <a:solidFill>
                  <a:srgbClr val="0D1B2A"/>
                </a:solidFill>
                <a:latin typeface="Calibri" pitchFamily="34" charset="0"/>
                <a:ea typeface="Calibri" pitchFamily="34" charset="-122"/>
                <a:cs typeface="Calibri" pitchFamily="34" charset="-120"/>
              </a:rPr>
              <a:t>: dla każdego punktu źródłowego znajdź najbliższy punkt w chmurze docelowej</a:t>
            </a:r>
            <a:endParaRPr lang="en-US" sz="1600" spc="-6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Krok 2 – Estymacja</a:t>
            </a:r>
            <a:r>
              <a:rPr lang="en-US" sz="1600" spc="-40" dirty="0">
                <a:solidFill>
                  <a:srgbClr val="0D1B2A"/>
                </a:solidFill>
                <a:latin typeface="Calibri" pitchFamily="34" charset="0"/>
                <a:ea typeface="Calibri" pitchFamily="34" charset="-122"/>
                <a:cs typeface="Calibri" pitchFamily="34" charset="-120"/>
              </a:rPr>
              <a:t>: oblicz optymalną transformację (metoda SVD lub minimalizacja MLS)</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Krok 3 – Aktualizacja</a:t>
            </a:r>
            <a:r>
              <a:rPr lang="en-US" sz="1600" spc="-40" dirty="0">
                <a:solidFill>
                  <a:srgbClr val="0D1B2A"/>
                </a:solidFill>
                <a:latin typeface="Calibri" pitchFamily="34" charset="0"/>
                <a:ea typeface="Calibri" pitchFamily="34" charset="-122"/>
                <a:cs typeface="Calibri" pitchFamily="34" charset="-120"/>
              </a:rPr>
              <a:t>: zastosuj transformację i oblicz błąd residualny</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Iteruj do zbieżności </a:t>
            </a:r>
            <a:r>
              <a:rPr lang="en-US" sz="1600" spc="-40" dirty="0">
                <a:solidFill>
                  <a:srgbClr val="0D1B2A"/>
                </a:solidFill>
                <a:latin typeface="Calibri" pitchFamily="34" charset="0"/>
                <a:ea typeface="Calibri" pitchFamily="34" charset="-122"/>
                <a:cs typeface="Calibri" pitchFamily="34" charset="-120"/>
              </a:rPr>
              <a:t>(błąd &lt; próg) lub </a:t>
            </a:r>
            <a:r>
              <a:rPr lang="en-US" sz="1600" b="1" spc="-40" dirty="0">
                <a:solidFill>
                  <a:srgbClr val="0D1B2A"/>
                </a:solidFill>
                <a:latin typeface="Calibri" pitchFamily="34" charset="0"/>
                <a:ea typeface="Calibri" pitchFamily="34" charset="-122"/>
                <a:cs typeface="Calibri" pitchFamily="34" charset="-120"/>
              </a:rPr>
              <a:t>osiągnięcia max. iteracji</a:t>
            </a:r>
            <a:endParaRPr lang="en-US" sz="1600" b="1"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Wady</a:t>
            </a:r>
            <a:r>
              <a:rPr lang="en-US" sz="1600" spc="-40" dirty="0">
                <a:solidFill>
                  <a:srgbClr val="0D1B2A"/>
                </a:solidFill>
                <a:latin typeface="Calibri" pitchFamily="34" charset="0"/>
                <a:ea typeface="Calibri" pitchFamily="34" charset="-122"/>
                <a:cs typeface="Calibri" pitchFamily="34" charset="-120"/>
              </a:rPr>
              <a:t>: wolna zbieżność, wrażliwość na punkt startowy (koniecznie dobre wstępne wyrównanie)</a:t>
            </a:r>
            <a:endParaRPr lang="en-US" sz="1600" spc="-40" dirty="0"/>
          </a:p>
          <a:p>
            <a:pPr marL="144000" indent="-144000">
              <a:spcAft>
                <a:spcPts val="1800"/>
              </a:spcAft>
              <a:buSzPct val="100000"/>
              <a:buChar char="•"/>
            </a:pPr>
            <a:r>
              <a:rPr lang="en-US" sz="1600" b="1" spc="-40" dirty="0">
                <a:solidFill>
                  <a:srgbClr val="0D1B2A"/>
                </a:solidFill>
                <a:latin typeface="Calibri" pitchFamily="34" charset="0"/>
                <a:ea typeface="Calibri" pitchFamily="34" charset="-122"/>
                <a:cs typeface="Calibri" pitchFamily="34" charset="-120"/>
              </a:rPr>
              <a:t>Warianty</a:t>
            </a:r>
            <a:r>
              <a:rPr lang="en-US" sz="1600" spc="-40" dirty="0">
                <a:solidFill>
                  <a:srgbClr val="0D1B2A"/>
                </a:solidFill>
                <a:latin typeface="Calibri" pitchFamily="34" charset="0"/>
                <a:ea typeface="Calibri" pitchFamily="34" charset="-122"/>
                <a:cs typeface="Calibri" pitchFamily="34" charset="-120"/>
              </a:rPr>
              <a:t>: Point-to-Plane ICP, GICP – znacznie szybsze i bardziej niezawodne</a:t>
            </a:r>
            <a:endParaRPr lang="en-US" sz="1600" spc="-4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VISUAL ODOMETRY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Odometria wizyjna (Visual Odometry)</a:t>
            </a:r>
            <a:endParaRPr lang="en-US" sz="2800" dirty="0"/>
          </a:p>
        </p:txBody>
      </p:sp>
      <p:sp>
        <p:nvSpPr>
          <p:cNvPr id="6" name="Shape 4"/>
          <p:cNvSpPr/>
          <p:nvPr/>
        </p:nvSpPr>
        <p:spPr>
          <a:xfrm>
            <a:off x="274320" y="1097280"/>
            <a:ext cx="416052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384048"/>
          </a:xfrm>
          <a:prstGeom prst="rect">
            <a:avLst/>
          </a:prstGeom>
          <a:solidFill>
            <a:srgbClr val="0077A8"/>
          </a:solidFill>
          <a:ln w="12700">
            <a:solidFill>
              <a:srgbClr val="0077A8"/>
            </a:solidFill>
            <a:prstDash val="solid"/>
          </a:ln>
        </p:spPr>
      </p:sp>
      <p:sp>
        <p:nvSpPr>
          <p:cNvPr id="9" name="Text 7"/>
          <p:cNvSpPr/>
          <p:nvPr/>
        </p:nvSpPr>
        <p:spPr>
          <a:xfrm>
            <a:off x="45720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Monokularna VO</a:t>
            </a:r>
            <a:endParaRPr lang="en-US" dirty="0"/>
          </a:p>
        </p:txBody>
      </p:sp>
      <p:sp>
        <p:nvSpPr>
          <p:cNvPr id="10" name="Shape 8"/>
          <p:cNvSpPr/>
          <p:nvPr/>
        </p:nvSpPr>
        <p:spPr>
          <a:xfrm>
            <a:off x="4709160" y="1097280"/>
            <a:ext cx="4160520" cy="384048"/>
          </a:xfrm>
          <a:prstGeom prst="rect">
            <a:avLst/>
          </a:prstGeom>
          <a:solidFill>
            <a:srgbClr val="1A3550"/>
          </a:solidFill>
          <a:ln w="12700">
            <a:solidFill>
              <a:srgbClr val="1A3550"/>
            </a:solidFill>
            <a:prstDash val="solid"/>
          </a:ln>
        </p:spPr>
      </p:sp>
      <p:sp>
        <p:nvSpPr>
          <p:cNvPr id="11" name="Text 9"/>
          <p:cNvSpPr/>
          <p:nvPr/>
        </p:nvSpPr>
        <p:spPr>
          <a:xfrm>
            <a:off x="4892040" y="1115568"/>
            <a:ext cx="3886200" cy="347472"/>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Stereofoniczna / RGB-D VO</a:t>
            </a:r>
            <a:endParaRPr lang="en-US" dirty="0"/>
          </a:p>
        </p:txBody>
      </p:sp>
      <p:sp>
        <p:nvSpPr>
          <p:cNvPr id="12" name="Text 10"/>
          <p:cNvSpPr/>
          <p:nvPr/>
        </p:nvSpPr>
        <p:spPr>
          <a:xfrm>
            <a:off x="457200" y="1600200"/>
            <a:ext cx="3794760" cy="3108960"/>
          </a:xfrm>
          <a:prstGeom prst="rect">
            <a:avLst/>
          </a:prstGeom>
          <a:noFill/>
          <a:ln/>
        </p:spPr>
        <p:txBody>
          <a:bodyPr wrap="square" lIns="63500" tIns="101600" rIns="63500" bIns="63500" rtlCol="0" anchor="t"/>
          <a:lstStyle/>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Śledzenie cech ORB/SIFT między klatkami</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Essential Matrix → ruch kamery R, t</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Skala ruchu nieznana (do 5-punktowego)</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Skumulowany dryft bez domknięcia pętli</a:t>
            </a:r>
            <a:endParaRPr lang="en-US" sz="1600" dirty="0"/>
          </a:p>
          <a:p>
            <a:pPr marL="180000" indent="-180000">
              <a:spcAft>
                <a:spcPts val="1800"/>
              </a:spcAft>
              <a:buSzPct val="100000"/>
              <a:buChar char="•"/>
            </a:pPr>
            <a:r>
              <a:rPr lang="en-US" sz="1600" dirty="0">
                <a:solidFill>
                  <a:srgbClr val="0D1B2A"/>
                </a:solidFill>
                <a:latin typeface="Calibri" pitchFamily="34" charset="0"/>
                <a:ea typeface="Calibri" pitchFamily="34" charset="-122"/>
                <a:cs typeface="Calibri" pitchFamily="34" charset="-120"/>
              </a:rPr>
              <a:t>Niska cena – jedna kamera wystarczy</a:t>
            </a:r>
            <a:endParaRPr lang="en-US" sz="1600" dirty="0"/>
          </a:p>
        </p:txBody>
      </p:sp>
      <p:sp>
        <p:nvSpPr>
          <p:cNvPr id="13" name="Text 11"/>
          <p:cNvSpPr/>
          <p:nvPr/>
        </p:nvSpPr>
        <p:spPr>
          <a:xfrm>
            <a:off x="4862304" y="1600200"/>
            <a:ext cx="3886200" cy="3108960"/>
          </a:xfrm>
          <a:prstGeom prst="rect">
            <a:avLst/>
          </a:prstGeom>
          <a:noFill/>
          <a:ln/>
        </p:spPr>
        <p:txBody>
          <a:bodyPr wrap="square" lIns="63500" tIns="101600" rIns="63500" bIns="63500" rtlCol="0" anchor="t"/>
          <a:lstStyle/>
          <a:p>
            <a:pPr marL="180000" indent="-180000">
              <a:spcAft>
                <a:spcPts val="1800"/>
              </a:spcAft>
              <a:buSzPct val="100000"/>
              <a:buChar char="•"/>
            </a:pPr>
            <a:r>
              <a:rPr lang="en-US" sz="1600" spc="-50" dirty="0">
                <a:solidFill>
                  <a:srgbClr val="0D1B2A"/>
                </a:solidFill>
                <a:latin typeface="Calibri" pitchFamily="34" charset="0"/>
                <a:ea typeface="Calibri" pitchFamily="34" charset="-122"/>
                <a:cs typeface="Calibri" pitchFamily="34" charset="-120"/>
              </a:rPr>
              <a:t>Bezpośrednia metryczna skala ruchu</a:t>
            </a:r>
            <a:endParaRPr lang="en-US" sz="1600" spc="-50" dirty="0"/>
          </a:p>
          <a:p>
            <a:pPr marL="180000" indent="-180000">
              <a:spcAft>
                <a:spcPts val="1800"/>
              </a:spcAft>
              <a:buSzPct val="100000"/>
              <a:buChar char="•"/>
            </a:pPr>
            <a:r>
              <a:rPr lang="en-US" sz="1600" spc="-50" dirty="0">
                <a:solidFill>
                  <a:srgbClr val="0D1B2A"/>
                </a:solidFill>
                <a:latin typeface="Calibri" pitchFamily="34" charset="0"/>
                <a:ea typeface="Calibri" pitchFamily="34" charset="-122"/>
                <a:cs typeface="Calibri" pitchFamily="34" charset="-120"/>
              </a:rPr>
              <a:t>Głębia z paralaksy lub strukturowanego światła</a:t>
            </a:r>
            <a:endParaRPr lang="en-US" sz="1600" spc="-50" dirty="0"/>
          </a:p>
          <a:p>
            <a:pPr marL="180000" indent="-180000">
              <a:spcAft>
                <a:spcPts val="1800"/>
              </a:spcAft>
              <a:buSzPct val="100000"/>
              <a:buChar char="•"/>
            </a:pPr>
            <a:r>
              <a:rPr lang="en-US" sz="1600" spc="-50" dirty="0">
                <a:solidFill>
                  <a:srgbClr val="0D1B2A"/>
                </a:solidFill>
                <a:latin typeface="Calibri" pitchFamily="34" charset="0"/>
                <a:ea typeface="Calibri" pitchFamily="34" charset="-122"/>
                <a:cs typeface="Calibri" pitchFamily="34" charset="-120"/>
              </a:rPr>
              <a:t>Mniejszy dryft niż mono VO</a:t>
            </a:r>
            <a:endParaRPr lang="en-US" sz="1600" spc="-50" dirty="0"/>
          </a:p>
          <a:p>
            <a:pPr marL="180000" indent="-180000">
              <a:spcAft>
                <a:spcPts val="1800"/>
              </a:spcAft>
              <a:buSzPct val="100000"/>
              <a:buChar char="•"/>
            </a:pPr>
            <a:r>
              <a:rPr lang="en-US" sz="1600" spc="-50" dirty="0">
                <a:solidFill>
                  <a:srgbClr val="0D1B2A"/>
                </a:solidFill>
                <a:latin typeface="Calibri" pitchFamily="34" charset="0"/>
                <a:ea typeface="Calibri" pitchFamily="34" charset="-122"/>
                <a:cs typeface="Calibri" pitchFamily="34" charset="-120"/>
              </a:rPr>
              <a:t>Wymagana synchronizacja i kalibracja stereo</a:t>
            </a:r>
            <a:endParaRPr lang="en-US" sz="1600" spc="-50" dirty="0"/>
          </a:p>
          <a:p>
            <a:pPr marL="180000" indent="-180000">
              <a:spcAft>
                <a:spcPts val="1800"/>
              </a:spcAft>
              <a:buSzPct val="100000"/>
              <a:buChar char="•"/>
            </a:pPr>
            <a:r>
              <a:rPr lang="en-US" sz="1600" spc="-50" dirty="0">
                <a:solidFill>
                  <a:srgbClr val="0D1B2A"/>
                </a:solidFill>
                <a:latin typeface="Calibri" pitchFamily="34" charset="0"/>
                <a:ea typeface="Calibri" pitchFamily="34" charset="-122"/>
                <a:cs typeface="Calibri" pitchFamily="34" charset="-120"/>
              </a:rPr>
              <a:t>Podstawa Visual-Inertial Odometry (VIO)</a:t>
            </a:r>
            <a:endParaRPr lang="en-US" sz="1600" spc="-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SLAM</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SLAM – Simultaneous Localization and Mapping</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520440"/>
          </a:xfrm>
          <a:prstGeom prst="rect">
            <a:avLst/>
          </a:prstGeom>
          <a:noFill/>
          <a:ln/>
        </p:spPr>
        <p:txBody>
          <a:bodyPr wrap="square" lIns="127000" tIns="127000" rIns="127000" bIns="127000" rtlCol="0" anchor="t"/>
          <a:lstStyle/>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Problem sprzężony</a:t>
            </a:r>
            <a:r>
              <a:rPr lang="en-US" sz="1600" dirty="0">
                <a:solidFill>
                  <a:srgbClr val="0D1B2A"/>
                </a:solidFill>
                <a:latin typeface="Calibri" pitchFamily="34" charset="0"/>
                <a:ea typeface="Calibri" pitchFamily="34" charset="-122"/>
                <a:cs typeface="Calibri" pitchFamily="34" charset="-120"/>
              </a:rPr>
              <a:t>: mapa zależy od dobrej lokalizacji; lokalizacja zależy od dobrej mapy</a:t>
            </a:r>
            <a:endParaRPr lang="en-US" sz="1600" dirty="0"/>
          </a:p>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Online SLAM</a:t>
            </a:r>
            <a:r>
              <a:rPr lang="en-US" sz="1600" dirty="0">
                <a:solidFill>
                  <a:srgbClr val="0D1B2A"/>
                </a:solidFill>
                <a:latin typeface="Calibri" pitchFamily="34" charset="0"/>
                <a:ea typeface="Calibri" pitchFamily="34" charset="-122"/>
                <a:cs typeface="Calibri" pitchFamily="34" charset="-120"/>
              </a:rPr>
              <a:t>: estymacja bieżącej pozycji i mapy w czasie rzeczywistym</a:t>
            </a:r>
            <a:endParaRPr lang="en-US" sz="1600" dirty="0"/>
          </a:p>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Full SLAM</a:t>
            </a:r>
            <a:r>
              <a:rPr lang="en-US" sz="1600" dirty="0">
                <a:solidFill>
                  <a:srgbClr val="0D1B2A"/>
                </a:solidFill>
                <a:latin typeface="Calibri" pitchFamily="34" charset="0"/>
                <a:ea typeface="Calibri" pitchFamily="34" charset="-122"/>
                <a:cs typeface="Calibri" pitchFamily="34" charset="-120"/>
              </a:rPr>
              <a:t>: pełna trajektoria i mapa (post-processing </a:t>
            </a:r>
            <a:r>
              <a:rPr lang="pl-PL" sz="1600" dirty="0" smtClean="0">
                <a:solidFill>
                  <a:srgbClr val="0D1B2A"/>
                </a:solidFill>
                <a:latin typeface="Calibri" pitchFamily="34" charset="0"/>
                <a:ea typeface="Calibri" pitchFamily="34" charset="-122"/>
                <a:cs typeface="Calibri" pitchFamily="34" charset="-120"/>
              </a:rPr>
              <a:t>w</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np. Google Cartographer)</a:t>
            </a:r>
            <a:endParaRPr lang="en-US" sz="1600" dirty="0"/>
          </a:p>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Dane obserwacyjne</a:t>
            </a:r>
            <a:r>
              <a:rPr lang="en-US" sz="1600" dirty="0">
                <a:solidFill>
                  <a:srgbClr val="0D1B2A"/>
                </a:solidFill>
                <a:latin typeface="Calibri" pitchFamily="34" charset="0"/>
                <a:ea typeface="Calibri" pitchFamily="34" charset="-122"/>
                <a:cs typeface="Calibri" pitchFamily="34" charset="-120"/>
              </a:rPr>
              <a:t>: LiDAR (2D/3D SLAM), kamera (Visual SLAM – ORB-SLAM3, RTAB-Map)</a:t>
            </a:r>
            <a:endParaRPr lang="en-US" sz="1600" dirty="0"/>
          </a:p>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Reprezentacja mapy</a:t>
            </a:r>
            <a:r>
              <a:rPr lang="en-US" sz="1600" dirty="0">
                <a:solidFill>
                  <a:srgbClr val="0D1B2A"/>
                </a:solidFill>
                <a:latin typeface="Calibri" pitchFamily="34" charset="0"/>
                <a:ea typeface="Calibri" pitchFamily="34" charset="-122"/>
                <a:cs typeface="Calibri" pitchFamily="34" charset="-120"/>
              </a:rPr>
              <a:t>: chmura punktów, mapa cech (deskryptory), submapa siatek</a:t>
            </a:r>
            <a:endParaRPr lang="en-US" sz="1600" dirty="0"/>
          </a:p>
          <a:p>
            <a:pPr marL="180000" indent="-180000">
              <a:spcAft>
                <a:spcPts val="1800"/>
              </a:spcAft>
              <a:buSzPct val="100000"/>
              <a:buChar char="•"/>
            </a:pPr>
            <a:r>
              <a:rPr lang="en-US" sz="1600" b="1" dirty="0">
                <a:solidFill>
                  <a:srgbClr val="0D1B2A"/>
                </a:solidFill>
                <a:latin typeface="Calibri" pitchFamily="34" charset="0"/>
                <a:ea typeface="Calibri" pitchFamily="34" charset="-122"/>
                <a:cs typeface="Calibri" pitchFamily="34" charset="-120"/>
              </a:rPr>
              <a:t>Współdziałanie z planistą</a:t>
            </a:r>
            <a:r>
              <a:rPr lang="en-US" sz="1600" dirty="0">
                <a:solidFill>
                  <a:srgbClr val="0D1B2A"/>
                </a:solidFill>
                <a:latin typeface="Calibri" pitchFamily="34" charset="0"/>
                <a:ea typeface="Calibri" pitchFamily="34" charset="-122"/>
                <a:cs typeface="Calibri" pitchFamily="34" charset="-120"/>
              </a:rPr>
              <a:t>: gotowa mapa przekazywana do globalnego planisty ścieżki</a:t>
            </a:r>
            <a:endParaRPr lang="en-US" sz="1600" dirty="0"/>
          </a:p>
          <a:p>
            <a:pPr marL="180000" indent="-180000">
              <a:spcAft>
                <a:spcPts val="1800"/>
              </a:spcAft>
              <a:buSzPct val="100000"/>
              <a:buChar char="•"/>
            </a:pPr>
            <a:r>
              <a:rPr lang="en-US" sz="1600" b="1" dirty="0" err="1">
                <a:solidFill>
                  <a:srgbClr val="0D1B2A"/>
                </a:solidFill>
                <a:latin typeface="Calibri" pitchFamily="34" charset="0"/>
                <a:ea typeface="Calibri" pitchFamily="34" charset="-122"/>
                <a:cs typeface="Calibri" pitchFamily="34" charset="-120"/>
              </a:rPr>
              <a:t>Błąd</a:t>
            </a:r>
            <a:r>
              <a:rPr lang="en-US" sz="1600" b="1" dirty="0">
                <a:solidFill>
                  <a:srgbClr val="0D1B2A"/>
                </a:solidFill>
                <a:latin typeface="Calibri" pitchFamily="34" charset="0"/>
                <a:ea typeface="Calibri" pitchFamily="34" charset="-122"/>
                <a:cs typeface="Calibri" pitchFamily="34" charset="-120"/>
              </a:rPr>
              <a:t> </a:t>
            </a:r>
            <a:r>
              <a:rPr lang="en-US" sz="1600" b="1" dirty="0" err="1">
                <a:solidFill>
                  <a:srgbClr val="0D1B2A"/>
                </a:solidFill>
                <a:latin typeface="Calibri" pitchFamily="34" charset="0"/>
                <a:ea typeface="Calibri" pitchFamily="34" charset="-122"/>
                <a:cs typeface="Calibri" pitchFamily="34" charset="-120"/>
              </a:rPr>
              <a:t>rośnie</a:t>
            </a:r>
            <a:r>
              <a:rPr lang="en-US" sz="1600" b="1" dirty="0">
                <a:solidFill>
                  <a:srgbClr val="0D1B2A"/>
                </a:solidFill>
                <a:latin typeface="Calibri" pitchFamily="34" charset="0"/>
                <a:ea typeface="Calibri" pitchFamily="34" charset="-122"/>
                <a:cs typeface="Calibri" pitchFamily="34" charset="-120"/>
              </a:rPr>
              <a:t> </a:t>
            </a:r>
            <a:r>
              <a:rPr lang="en-US" sz="1600" b="1" dirty="0" err="1">
                <a:solidFill>
                  <a:srgbClr val="0D1B2A"/>
                </a:solidFill>
                <a:latin typeface="Calibri" pitchFamily="34" charset="0"/>
                <a:ea typeface="Calibri" pitchFamily="34" charset="-122"/>
                <a:cs typeface="Calibri" pitchFamily="34" charset="-120"/>
              </a:rPr>
              <a:t>liniowo</a:t>
            </a:r>
            <a:r>
              <a:rPr lang="en-US" sz="1600" b="1" dirty="0">
                <a:solidFill>
                  <a:srgbClr val="0D1B2A"/>
                </a:solidFill>
                <a:latin typeface="Calibri" pitchFamily="34" charset="0"/>
                <a:ea typeface="Calibri" pitchFamily="34" charset="-122"/>
                <a:cs typeface="Calibri" pitchFamily="34" charset="-120"/>
              </a:rPr>
              <a:t> </a:t>
            </a:r>
            <a:r>
              <a:rPr lang="en-US" sz="1600" b="1" dirty="0" smtClean="0">
                <a:solidFill>
                  <a:srgbClr val="0D1B2A"/>
                </a:solidFill>
                <a:latin typeface="Calibri" pitchFamily="34" charset="0"/>
                <a:ea typeface="Calibri" pitchFamily="34" charset="-122"/>
                <a:cs typeface="Calibri" pitchFamily="34" charset="-120"/>
              </a:rPr>
              <a:t>z </a:t>
            </a:r>
            <a:r>
              <a:rPr lang="en-US" sz="1600" b="1" dirty="0">
                <a:solidFill>
                  <a:srgbClr val="0D1B2A"/>
                </a:solidFill>
                <a:latin typeface="Calibri" pitchFamily="34" charset="0"/>
                <a:ea typeface="Calibri" pitchFamily="34" charset="-122"/>
                <a:cs typeface="Calibri" pitchFamily="34" charset="-120"/>
              </a:rPr>
              <a:t>odległością </a:t>
            </a:r>
            <a:r>
              <a:rPr lang="en-US" sz="1600" dirty="0">
                <a:solidFill>
                  <a:srgbClr val="0D1B2A"/>
                </a:solidFill>
                <a:latin typeface="Calibri" pitchFamily="34" charset="0"/>
                <a:ea typeface="Calibri" pitchFamily="34" charset="-122"/>
                <a:cs typeface="Calibri" pitchFamily="34" charset="-120"/>
              </a:rPr>
              <a:t>bez </a:t>
            </a:r>
            <a:r>
              <a:rPr lang="en-US" sz="1600" dirty="0" err="1">
                <a:solidFill>
                  <a:srgbClr val="0D1B2A"/>
                </a:solidFill>
                <a:latin typeface="Calibri" pitchFamily="34" charset="0"/>
                <a:ea typeface="Calibri" pitchFamily="34" charset="-122"/>
                <a:cs typeface="Calibri" pitchFamily="34" charset="-120"/>
              </a:rPr>
              <a:t>domknięcia</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pętli</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po 100 m może sięgnąć kilku metrów</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B923C"/>
          </a:solidFill>
          <a:ln w="12700">
            <a:solidFill>
              <a:srgbClr val="FB923C"/>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B923C"/>
                </a:solidFill>
                <a:latin typeface="Trebuchet MS" pitchFamily="34" charset="0"/>
                <a:ea typeface="Trebuchet MS" pitchFamily="34" charset="-122"/>
                <a:cs typeface="Trebuchet MS" pitchFamily="34" charset="-120"/>
              </a:rPr>
              <a:t>SEKCJA 3 | POSE GRAPH</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Pose Graph SLAM – idea grafowa</a:t>
            </a:r>
            <a:endParaRPr lang="en-US" sz="2800" dirty="0"/>
          </a:p>
        </p:txBody>
      </p:sp>
      <p:sp>
        <p:nvSpPr>
          <p:cNvPr id="6" name="Shape 4"/>
          <p:cNvSpPr/>
          <p:nvPr/>
        </p:nvSpPr>
        <p:spPr>
          <a:xfrm>
            <a:off x="27432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987552" y="1270494"/>
            <a:ext cx="585216" cy="585216"/>
          </a:xfrm>
          <a:prstGeom prst="ellipse">
            <a:avLst/>
          </a:prstGeom>
          <a:solidFill>
            <a:srgbClr val="FB923C"/>
          </a:solidFill>
          <a:ln w="12700">
            <a:solidFill>
              <a:srgbClr val="FB923C"/>
            </a:solidFill>
            <a:prstDash val="solid"/>
          </a:ln>
        </p:spPr>
      </p:sp>
      <p:sp>
        <p:nvSpPr>
          <p:cNvPr id="8" name="Text 6"/>
          <p:cNvSpPr/>
          <p:nvPr/>
        </p:nvSpPr>
        <p:spPr>
          <a:xfrm>
            <a:off x="98755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1</a:t>
            </a:r>
            <a:endParaRPr lang="en-US" sz="2800" dirty="0"/>
          </a:p>
        </p:txBody>
      </p:sp>
      <p:sp>
        <p:nvSpPr>
          <p:cNvPr id="9" name="Text 7"/>
          <p:cNvSpPr/>
          <p:nvPr/>
        </p:nvSpPr>
        <p:spPr>
          <a:xfrm>
            <a:off x="36576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Węzły </a:t>
            </a:r>
            <a:r>
              <a:rPr lang="en-US" b="1" i="1" dirty="0">
                <a:solidFill>
                  <a:srgbClr val="0D1B2A"/>
                </a:solidFill>
                <a:latin typeface="Trebuchet MS" pitchFamily="34" charset="0"/>
                <a:ea typeface="Trebuchet MS" pitchFamily="34" charset="-122"/>
                <a:cs typeface="Trebuchet MS" pitchFamily="34" charset="-120"/>
              </a:rPr>
              <a:t>(poses)</a:t>
            </a:r>
            <a:endParaRPr lang="en-US" i="1" dirty="0"/>
          </a:p>
        </p:txBody>
      </p:sp>
      <p:sp>
        <p:nvSpPr>
          <p:cNvPr id="10" name="Text 8"/>
          <p:cNvSpPr/>
          <p:nvPr/>
        </p:nvSpPr>
        <p:spPr>
          <a:xfrm>
            <a:off x="365760" y="2423160"/>
            <a:ext cx="1828800" cy="1965960"/>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Każda pozycja robota x₁, x₂, …, xₙ to wierzchołek w grafie; zazwyczaj SE(2) lub SE(3)</a:t>
            </a:r>
            <a:endParaRPr lang="en-US" sz="1400" dirty="0"/>
          </a:p>
        </p:txBody>
      </p:sp>
      <p:sp>
        <p:nvSpPr>
          <p:cNvPr id="11" name="Shape 9"/>
          <p:cNvSpPr/>
          <p:nvPr/>
        </p:nvSpPr>
        <p:spPr>
          <a:xfrm>
            <a:off x="242316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2" name="Shape 10"/>
          <p:cNvSpPr/>
          <p:nvPr/>
        </p:nvSpPr>
        <p:spPr>
          <a:xfrm>
            <a:off x="3136392" y="1270494"/>
            <a:ext cx="585216" cy="585216"/>
          </a:xfrm>
          <a:prstGeom prst="ellipse">
            <a:avLst/>
          </a:prstGeom>
          <a:solidFill>
            <a:srgbClr val="FB923C"/>
          </a:solidFill>
          <a:ln w="12700">
            <a:solidFill>
              <a:srgbClr val="FB923C"/>
            </a:solidFill>
            <a:prstDash val="solid"/>
          </a:ln>
        </p:spPr>
      </p:sp>
      <p:sp>
        <p:nvSpPr>
          <p:cNvPr id="13" name="Text 11"/>
          <p:cNvSpPr/>
          <p:nvPr/>
        </p:nvSpPr>
        <p:spPr>
          <a:xfrm>
            <a:off x="313639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2</a:t>
            </a:r>
            <a:endParaRPr lang="en-US" sz="2800" dirty="0"/>
          </a:p>
        </p:txBody>
      </p:sp>
      <p:sp>
        <p:nvSpPr>
          <p:cNvPr id="14" name="Text 12"/>
          <p:cNvSpPr/>
          <p:nvPr/>
        </p:nvSpPr>
        <p:spPr>
          <a:xfrm>
            <a:off x="251460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Krawędzie </a:t>
            </a:r>
            <a:r>
              <a:rPr lang="en-US" b="1" i="1" dirty="0">
                <a:solidFill>
                  <a:srgbClr val="0D1B2A"/>
                </a:solidFill>
                <a:latin typeface="Trebuchet MS" pitchFamily="34" charset="0"/>
                <a:ea typeface="Trebuchet MS" pitchFamily="34" charset="-122"/>
                <a:cs typeface="Trebuchet MS" pitchFamily="34" charset="-120"/>
              </a:rPr>
              <a:t>(constraints)</a:t>
            </a:r>
            <a:endParaRPr lang="en-US" i="1" dirty="0"/>
          </a:p>
        </p:txBody>
      </p:sp>
      <p:sp>
        <p:nvSpPr>
          <p:cNvPr id="15" name="Text 13"/>
          <p:cNvSpPr/>
          <p:nvPr/>
        </p:nvSpPr>
        <p:spPr>
          <a:xfrm>
            <a:off x="2514600" y="2423160"/>
            <a:ext cx="1828800" cy="1965960"/>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Relacja między dwoma pozycjami: odometria, ICP, wizja. Niesie kowariancję błędu.</a:t>
            </a:r>
            <a:endParaRPr lang="en-US" sz="1400" dirty="0"/>
          </a:p>
        </p:txBody>
      </p:sp>
      <p:sp>
        <p:nvSpPr>
          <p:cNvPr id="16" name="Shape 14"/>
          <p:cNvSpPr/>
          <p:nvPr/>
        </p:nvSpPr>
        <p:spPr>
          <a:xfrm>
            <a:off x="457200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7" name="Shape 15"/>
          <p:cNvSpPr/>
          <p:nvPr/>
        </p:nvSpPr>
        <p:spPr>
          <a:xfrm>
            <a:off x="5285232" y="1270494"/>
            <a:ext cx="585216" cy="585216"/>
          </a:xfrm>
          <a:prstGeom prst="ellipse">
            <a:avLst/>
          </a:prstGeom>
          <a:solidFill>
            <a:srgbClr val="FB923C"/>
          </a:solidFill>
          <a:ln w="12700">
            <a:solidFill>
              <a:srgbClr val="FB923C"/>
            </a:solidFill>
            <a:prstDash val="solid"/>
          </a:ln>
        </p:spPr>
      </p:sp>
      <p:sp>
        <p:nvSpPr>
          <p:cNvPr id="18" name="Text 16"/>
          <p:cNvSpPr/>
          <p:nvPr/>
        </p:nvSpPr>
        <p:spPr>
          <a:xfrm>
            <a:off x="528523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3</a:t>
            </a:r>
            <a:endParaRPr lang="en-US" sz="2800" dirty="0"/>
          </a:p>
        </p:txBody>
      </p:sp>
      <p:sp>
        <p:nvSpPr>
          <p:cNvPr id="19" name="Text 17"/>
          <p:cNvSpPr/>
          <p:nvPr/>
        </p:nvSpPr>
        <p:spPr>
          <a:xfrm>
            <a:off x="466344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Optymalizacja</a:t>
            </a:r>
            <a:endParaRPr lang="en-US" dirty="0"/>
          </a:p>
        </p:txBody>
      </p:sp>
      <p:sp>
        <p:nvSpPr>
          <p:cNvPr id="20" name="Text 18"/>
          <p:cNvSpPr/>
          <p:nvPr/>
        </p:nvSpPr>
        <p:spPr>
          <a:xfrm>
            <a:off x="4663440" y="2423160"/>
            <a:ext cx="1828800" cy="1965960"/>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Minimalizacja sumy błędów kwadratowych (least squares): g2o, GTSAM, iSAM2</a:t>
            </a:r>
            <a:endParaRPr lang="en-US" sz="1400" dirty="0"/>
          </a:p>
        </p:txBody>
      </p:sp>
      <p:sp>
        <p:nvSpPr>
          <p:cNvPr id="21" name="Shape 19"/>
          <p:cNvSpPr/>
          <p:nvPr/>
        </p:nvSpPr>
        <p:spPr>
          <a:xfrm>
            <a:off x="6720840" y="1097280"/>
            <a:ext cx="2011680" cy="338328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2" name="Shape 20"/>
          <p:cNvSpPr/>
          <p:nvPr/>
        </p:nvSpPr>
        <p:spPr>
          <a:xfrm>
            <a:off x="7434072" y="1270494"/>
            <a:ext cx="585216" cy="585216"/>
          </a:xfrm>
          <a:prstGeom prst="ellipse">
            <a:avLst/>
          </a:prstGeom>
          <a:solidFill>
            <a:srgbClr val="FB923C"/>
          </a:solidFill>
          <a:ln w="12700">
            <a:solidFill>
              <a:srgbClr val="FB923C"/>
            </a:solidFill>
            <a:prstDash val="solid"/>
          </a:ln>
        </p:spPr>
      </p:sp>
      <p:sp>
        <p:nvSpPr>
          <p:cNvPr id="23" name="Text 21"/>
          <p:cNvSpPr/>
          <p:nvPr/>
        </p:nvSpPr>
        <p:spPr>
          <a:xfrm>
            <a:off x="7434072" y="1270494"/>
            <a:ext cx="585216" cy="585216"/>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4</a:t>
            </a:r>
            <a:endParaRPr lang="en-US" sz="2800" dirty="0"/>
          </a:p>
        </p:txBody>
      </p:sp>
      <p:sp>
        <p:nvSpPr>
          <p:cNvPr id="24" name="Text 22"/>
          <p:cNvSpPr/>
          <p:nvPr/>
        </p:nvSpPr>
        <p:spPr>
          <a:xfrm>
            <a:off x="6812280" y="1874520"/>
            <a:ext cx="182880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Domknięcie pętli</a:t>
            </a:r>
            <a:endParaRPr lang="en-US" dirty="0"/>
          </a:p>
        </p:txBody>
      </p:sp>
      <p:sp>
        <p:nvSpPr>
          <p:cNvPr id="25" name="Text 23"/>
          <p:cNvSpPr/>
          <p:nvPr/>
        </p:nvSpPr>
        <p:spPr>
          <a:xfrm>
            <a:off x="6812280" y="2423160"/>
            <a:ext cx="1828800" cy="1965960"/>
          </a:xfrm>
          <a:prstGeom prst="rect">
            <a:avLst/>
          </a:prstGeom>
          <a:noFill/>
          <a:ln/>
        </p:spPr>
        <p:txBody>
          <a:bodyPr wrap="square" lIns="0" tIns="0" rIns="0" bIns="0" rtlCol="0" anchor="ctr"/>
          <a:lstStyle/>
          <a:p>
            <a:pPr marL="0" indent="0" algn="ctr">
              <a:spcAft>
                <a:spcPts val="600"/>
              </a:spcAft>
              <a:buNone/>
            </a:pPr>
            <a:r>
              <a:rPr lang="en-US" sz="1400" dirty="0">
                <a:solidFill>
                  <a:srgbClr val="475569"/>
                </a:solidFill>
                <a:latin typeface="Calibri" pitchFamily="34" charset="0"/>
                <a:ea typeface="Calibri" pitchFamily="34" charset="-122"/>
                <a:cs typeface="Calibri" pitchFamily="34" charset="-120"/>
              </a:rPr>
              <a:t>Detekcja </a:t>
            </a:r>
            <a:r>
              <a:rPr lang="en-US" sz="1400" dirty="0" err="1">
                <a:solidFill>
                  <a:srgbClr val="475569"/>
                </a:solidFill>
                <a:latin typeface="Calibri" pitchFamily="34" charset="0"/>
                <a:ea typeface="Calibri" pitchFamily="34" charset="-122"/>
                <a:cs typeface="Calibri" pitchFamily="34" charset="-120"/>
              </a:rPr>
              <a:t>powrotu</a:t>
            </a:r>
            <a:r>
              <a:rPr lang="en-US" sz="1400" dirty="0">
                <a:solidFill>
                  <a:srgbClr val="475569"/>
                </a:solidFill>
                <a:latin typeface="Calibri" pitchFamily="34" charset="0"/>
                <a:ea typeface="Calibri" pitchFamily="34" charset="-122"/>
                <a:cs typeface="Calibri" pitchFamily="34" charset="-120"/>
              </a:rPr>
              <a:t> </a:t>
            </a:r>
            <a:r>
              <a:rPr lang="pl-PL" sz="1400" dirty="0" smtClean="0">
                <a:solidFill>
                  <a:srgbClr val="475569"/>
                </a:solidFill>
                <a:latin typeface="Calibri" pitchFamily="34" charset="0"/>
                <a:ea typeface="Calibri" pitchFamily="34" charset="-122"/>
                <a:cs typeface="Calibri" pitchFamily="34" charset="-120"/>
              </a:rPr>
              <a:t/>
            </a:r>
            <a:br>
              <a:rPr lang="pl-PL" sz="1400" dirty="0" smtClean="0">
                <a:solidFill>
                  <a:srgbClr val="475569"/>
                </a:solidFill>
                <a:latin typeface="Calibri" pitchFamily="34" charset="0"/>
                <a:ea typeface="Calibri" pitchFamily="34" charset="-122"/>
                <a:cs typeface="Calibri" pitchFamily="34" charset="-120"/>
              </a:rPr>
            </a:br>
            <a:r>
              <a:rPr lang="en-US" sz="1400" dirty="0" smtClean="0">
                <a:solidFill>
                  <a:srgbClr val="475569"/>
                </a:solidFill>
                <a:latin typeface="Calibri" pitchFamily="34" charset="0"/>
                <a:ea typeface="Calibri" pitchFamily="34" charset="-122"/>
                <a:cs typeface="Calibri" pitchFamily="34" charset="-120"/>
              </a:rPr>
              <a:t>do </a:t>
            </a:r>
            <a:r>
              <a:rPr lang="en-US" sz="1400" dirty="0">
                <a:solidFill>
                  <a:srgbClr val="475569"/>
                </a:solidFill>
                <a:latin typeface="Calibri" pitchFamily="34" charset="0"/>
                <a:ea typeface="Calibri" pitchFamily="34" charset="-122"/>
                <a:cs typeface="Calibri" pitchFamily="34" charset="-120"/>
              </a:rPr>
              <a:t>miejsca; dodanie krawędzi pogrubionej; jednorazowa korekta dryfu</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SEKCJA 3 | LOOP CLOSURE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Domykanie pętli </a:t>
            </a:r>
            <a:r>
              <a:rPr lang="en-US" sz="2800" b="1" i="1" dirty="0">
                <a:solidFill>
                  <a:srgbClr val="FFFFFF"/>
                </a:solidFill>
                <a:latin typeface="Trebuchet MS" pitchFamily="34" charset="0"/>
                <a:ea typeface="Trebuchet MS" pitchFamily="34" charset="-122"/>
                <a:cs typeface="Trebuchet MS" pitchFamily="34" charset="-120"/>
              </a:rPr>
              <a:t>(loop closure)</a:t>
            </a:r>
            <a:endParaRPr lang="en-US" sz="2800" i="1" dirty="0"/>
          </a:p>
        </p:txBody>
      </p:sp>
      <p:sp>
        <p:nvSpPr>
          <p:cNvPr id="6" name="Shape 4"/>
          <p:cNvSpPr/>
          <p:nvPr/>
        </p:nvSpPr>
        <p:spPr>
          <a:xfrm>
            <a:off x="274320" y="1097280"/>
            <a:ext cx="4160520" cy="3749040"/>
          </a:xfrm>
          <a:prstGeom prst="rect">
            <a:avLst/>
          </a:prstGeom>
          <a:solidFill>
            <a:srgbClr val="EFF6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4709160" y="1097280"/>
            <a:ext cx="4160520" cy="3749040"/>
          </a:xfrm>
          <a:prstGeom prst="rect">
            <a:avLst/>
          </a:prstGeom>
          <a:solidFill>
            <a:srgbClr val="FFF1F5"/>
          </a:solidFill>
          <a:ln w="12700">
            <a:solidFill>
              <a:srgbClr val="E2EBF3"/>
            </a:solidFill>
            <a:prstDash val="solid"/>
          </a:ln>
          <a:effectLst>
            <a:outerShdw blurRad="76200" dist="25400" dir="8100000" algn="bl" rotWithShape="0">
              <a:srgbClr val="000000">
                <a:alpha val="12000"/>
              </a:srgbClr>
            </a:outerShdw>
          </a:effectLst>
        </p:spPr>
      </p:sp>
      <p:sp>
        <p:nvSpPr>
          <p:cNvPr id="8" name="Shape 6"/>
          <p:cNvSpPr/>
          <p:nvPr/>
        </p:nvSpPr>
        <p:spPr>
          <a:xfrm>
            <a:off x="274320" y="1097280"/>
            <a:ext cx="4160520" cy="411480"/>
          </a:xfrm>
          <a:prstGeom prst="rect">
            <a:avLst/>
          </a:prstGeom>
          <a:solidFill>
            <a:srgbClr val="0077A8"/>
          </a:solidFill>
          <a:ln w="12700">
            <a:solidFill>
              <a:srgbClr val="0077A8"/>
            </a:solidFill>
            <a:prstDash val="solid"/>
          </a:ln>
        </p:spPr>
      </p:sp>
      <p:sp>
        <p:nvSpPr>
          <p:cNvPr id="9" name="Text 7"/>
          <p:cNvSpPr/>
          <p:nvPr/>
        </p:nvSpPr>
        <p:spPr>
          <a:xfrm>
            <a:off x="457200" y="1115568"/>
            <a:ext cx="3794760" cy="3657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Detekcja powrotu do miejsca</a:t>
            </a:r>
            <a:endParaRPr lang="en-US" dirty="0"/>
          </a:p>
        </p:txBody>
      </p:sp>
      <p:sp>
        <p:nvSpPr>
          <p:cNvPr id="10" name="Shape 8"/>
          <p:cNvSpPr/>
          <p:nvPr/>
        </p:nvSpPr>
        <p:spPr>
          <a:xfrm>
            <a:off x="4709160" y="1097280"/>
            <a:ext cx="4160520" cy="411480"/>
          </a:xfrm>
          <a:prstGeom prst="rect">
            <a:avLst/>
          </a:prstGeom>
          <a:solidFill>
            <a:srgbClr val="F72585"/>
          </a:solidFill>
          <a:ln w="12700">
            <a:solidFill>
              <a:srgbClr val="F72585"/>
            </a:solidFill>
            <a:prstDash val="solid"/>
          </a:ln>
        </p:spPr>
      </p:sp>
      <p:sp>
        <p:nvSpPr>
          <p:cNvPr id="11" name="Text 9"/>
          <p:cNvSpPr/>
          <p:nvPr/>
        </p:nvSpPr>
        <p:spPr>
          <a:xfrm>
            <a:off x="4892040" y="1115568"/>
            <a:ext cx="3794760" cy="3657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Korekta dryfu po domknięciu</a:t>
            </a:r>
            <a:endParaRPr lang="en-US" dirty="0"/>
          </a:p>
        </p:txBody>
      </p:sp>
      <p:sp>
        <p:nvSpPr>
          <p:cNvPr id="12" name="Text 10"/>
          <p:cNvSpPr/>
          <p:nvPr/>
        </p:nvSpPr>
        <p:spPr>
          <a:xfrm>
            <a:off x="457200" y="1600200"/>
            <a:ext cx="3794760" cy="3108960"/>
          </a:xfrm>
          <a:prstGeom prst="rect">
            <a:avLst/>
          </a:prstGeom>
          <a:noFill/>
          <a:ln/>
        </p:spPr>
        <p:txBody>
          <a:bodyPr wrap="square" lIns="63500" tIns="101600" rIns="101600" bIns="635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Bag-of-Words</a:t>
            </a:r>
            <a:r>
              <a:rPr lang="en-US" sz="1600" dirty="0">
                <a:solidFill>
                  <a:srgbClr val="0D1B2A"/>
                </a:solidFill>
                <a:latin typeface="Calibri" pitchFamily="34" charset="0"/>
                <a:ea typeface="Calibri" pitchFamily="34" charset="-122"/>
                <a:cs typeface="Calibri" pitchFamily="34" charset="-120"/>
              </a:rPr>
              <a:t> (DBoW2): histogram deskryptorów wizualnych</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Scan matching</a:t>
            </a:r>
            <a:r>
              <a:rPr lang="en-US" sz="1600" dirty="0">
                <a:solidFill>
                  <a:srgbClr val="0D1B2A"/>
                </a:solidFill>
                <a:latin typeface="Calibri" pitchFamily="34" charset="0"/>
                <a:ea typeface="Calibri" pitchFamily="34" charset="-122"/>
                <a:cs typeface="Calibri" pitchFamily="34" charset="-120"/>
              </a:rPr>
              <a:t>: ICP </a:t>
            </a:r>
            <a:r>
              <a:rPr lang="en-US" sz="1600" dirty="0" err="1">
                <a:solidFill>
                  <a:srgbClr val="0D1B2A"/>
                </a:solidFill>
                <a:latin typeface="Calibri" pitchFamily="34" charset="0"/>
                <a:ea typeface="Calibri" pitchFamily="34" charset="-122"/>
                <a:cs typeface="Calibri" pitchFamily="34" charset="-120"/>
              </a:rPr>
              <a:t>między</a:t>
            </a:r>
            <a:r>
              <a:rPr lang="en-US" sz="1600" dirty="0">
                <a:solidFill>
                  <a:srgbClr val="0D1B2A"/>
                </a:solidFill>
                <a:latin typeface="Calibri" pitchFamily="34" charset="0"/>
                <a:ea typeface="Calibri" pitchFamily="34" charset="-122"/>
                <a:cs typeface="Calibri" pitchFamily="34" charset="-120"/>
              </a:rPr>
              <a:t> </a:t>
            </a:r>
            <a:r>
              <a:rPr lang="en-US" sz="1600" dirty="0" err="1" smtClean="0">
                <a:solidFill>
                  <a:srgbClr val="0D1B2A"/>
                </a:solidFill>
                <a:latin typeface="Calibri" pitchFamily="34" charset="0"/>
                <a:ea typeface="Calibri" pitchFamily="34" charset="-122"/>
                <a:cs typeface="Calibri" pitchFamily="34" charset="-120"/>
              </a:rPr>
              <a:t>bieżącym</a:t>
            </a:r>
            <a:r>
              <a:rPr lang="pl-PL" sz="1600" dirty="0" smtClean="0">
                <a:solidFill>
                  <a:srgbClr val="0D1B2A"/>
                </a:solidFill>
                <a:latin typeface="Calibri" pitchFamily="34" charset="0"/>
                <a:ea typeface="Calibri" pitchFamily="34" charset="-122"/>
                <a:cs typeface="Calibri" pitchFamily="34" charset="-120"/>
              </a:rPr>
              <a:t>,</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a historycznym skanem</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Mapa cech</a:t>
            </a:r>
            <a:r>
              <a:rPr lang="en-US" sz="1600" dirty="0">
                <a:solidFill>
                  <a:srgbClr val="0D1B2A"/>
                </a:solidFill>
                <a:latin typeface="Calibri" pitchFamily="34" charset="0"/>
                <a:ea typeface="Calibri" pitchFamily="34" charset="-122"/>
                <a:cs typeface="Calibri" pitchFamily="34" charset="-120"/>
              </a:rPr>
              <a:t>: dopasowanie deskryptorów ORB/SIFT</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Próg podobieństwa</a:t>
            </a:r>
            <a:r>
              <a:rPr lang="en-US" sz="1600" dirty="0">
                <a:solidFill>
                  <a:srgbClr val="0D1B2A"/>
                </a:solidFill>
                <a:latin typeface="Calibri" pitchFamily="34" charset="0"/>
                <a:ea typeface="Calibri" pitchFamily="34" charset="-122"/>
                <a:cs typeface="Calibri" pitchFamily="34" charset="-120"/>
              </a:rPr>
              <a:t>: zapobiega fałszywym detekcjom</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Weryfikacja geometryczna</a:t>
            </a:r>
            <a:r>
              <a:rPr lang="en-US" sz="1600" dirty="0">
                <a:solidFill>
                  <a:srgbClr val="0D1B2A"/>
                </a:solidFill>
                <a:latin typeface="Calibri" pitchFamily="34" charset="0"/>
                <a:ea typeface="Calibri" pitchFamily="34" charset="-122"/>
                <a:cs typeface="Calibri" pitchFamily="34" charset="-120"/>
              </a:rPr>
              <a:t>: RANSAC na korespondencjach</a:t>
            </a:r>
            <a:endParaRPr lang="en-US" sz="1600" dirty="0"/>
          </a:p>
        </p:txBody>
      </p:sp>
      <p:sp>
        <p:nvSpPr>
          <p:cNvPr id="13" name="Text 11"/>
          <p:cNvSpPr/>
          <p:nvPr/>
        </p:nvSpPr>
        <p:spPr>
          <a:xfrm>
            <a:off x="4892040" y="1600200"/>
            <a:ext cx="3794760" cy="3108960"/>
          </a:xfrm>
          <a:prstGeom prst="rect">
            <a:avLst/>
          </a:prstGeom>
          <a:noFill/>
          <a:ln/>
        </p:spPr>
        <p:txBody>
          <a:bodyPr wrap="square" lIns="63500" tIns="101600" rIns="101600" bIns="63500" rtlCol="0" anchor="t"/>
          <a:lstStyle/>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Nowa krawędź </a:t>
            </a:r>
            <a:r>
              <a:rPr lang="en-US" sz="1600" dirty="0">
                <a:solidFill>
                  <a:srgbClr val="0D1B2A"/>
                </a:solidFill>
                <a:latin typeface="Calibri" pitchFamily="34" charset="0"/>
                <a:ea typeface="Calibri" pitchFamily="34" charset="-122"/>
                <a:cs typeface="Calibri" pitchFamily="34" charset="-120"/>
              </a:rPr>
              <a:t>w pose graph z małą kowariancją</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Optymalizator</a:t>
            </a:r>
            <a:r>
              <a:rPr lang="en-US" sz="1600" dirty="0">
                <a:solidFill>
                  <a:srgbClr val="0D1B2A"/>
                </a:solidFill>
                <a:latin typeface="Calibri" pitchFamily="34" charset="0"/>
                <a:ea typeface="Calibri" pitchFamily="34" charset="-122"/>
                <a:cs typeface="Calibri" pitchFamily="34" charset="-120"/>
              </a:rPr>
              <a:t> (g2o) przelicza cały graf</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Błąd dryfu </a:t>
            </a:r>
            <a:r>
              <a:rPr lang="en-US" sz="1600" dirty="0">
                <a:solidFill>
                  <a:srgbClr val="0D1B2A"/>
                </a:solidFill>
                <a:latin typeface="Calibri" pitchFamily="34" charset="0"/>
                <a:ea typeface="Calibri" pitchFamily="34" charset="-122"/>
                <a:cs typeface="Calibri" pitchFamily="34" charset="-120"/>
              </a:rPr>
              <a:t>rozłożony wzdłuż zamkniętej pętli</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Efekt</a:t>
            </a:r>
            <a:r>
              <a:rPr lang="en-US" sz="1600" dirty="0">
                <a:solidFill>
                  <a:srgbClr val="0D1B2A"/>
                </a:solidFill>
                <a:latin typeface="Calibri" pitchFamily="34" charset="0"/>
                <a:ea typeface="Calibri" pitchFamily="34" charset="-122"/>
                <a:cs typeface="Calibri" pitchFamily="34" charset="-120"/>
              </a:rPr>
              <a:t>: mapa globalna spójana bez artefaktów</a:t>
            </a:r>
            <a:endParaRPr lang="en-US" sz="1600" dirty="0"/>
          </a:p>
          <a:p>
            <a:pPr marL="180000" indent="-180000">
              <a:spcAft>
                <a:spcPts val="1200"/>
              </a:spcAft>
              <a:buSzPct val="100000"/>
              <a:buChar char="•"/>
            </a:pPr>
            <a:r>
              <a:rPr lang="en-US" sz="1600" b="1" dirty="0">
                <a:solidFill>
                  <a:srgbClr val="0D1B2A"/>
                </a:solidFill>
                <a:latin typeface="Calibri" pitchFamily="34" charset="0"/>
                <a:ea typeface="Calibri" pitchFamily="34" charset="-122"/>
                <a:cs typeface="Calibri" pitchFamily="34" charset="-120"/>
              </a:rPr>
              <a:t>Częstość</a:t>
            </a:r>
            <a:r>
              <a:rPr lang="en-US" sz="1600" dirty="0">
                <a:solidFill>
                  <a:srgbClr val="0D1B2A"/>
                </a:solidFill>
                <a:latin typeface="Calibri" pitchFamily="34" charset="0"/>
                <a:ea typeface="Calibri" pitchFamily="34" charset="-122"/>
                <a:cs typeface="Calibri" pitchFamily="34" charset="-120"/>
              </a:rPr>
              <a:t>: co kilka sekund dla środowisk cyklicznych</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2335"/>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F72585"/>
          </a:solidFill>
          <a:ln w="12700">
            <a:solidFill>
              <a:srgbClr val="F72585"/>
            </a:solidFill>
            <a:prstDash val="solid"/>
          </a:ln>
        </p:spPr>
      </p:sp>
      <p:sp>
        <p:nvSpPr>
          <p:cNvPr id="3" name="Shape 1"/>
          <p:cNvSpPr/>
          <p:nvPr/>
        </p:nvSpPr>
        <p:spPr>
          <a:xfrm>
            <a:off x="64008" y="0"/>
            <a:ext cx="9079992" cy="914400"/>
          </a:xfrm>
          <a:prstGeom prst="rect">
            <a:avLst/>
          </a:prstGeom>
          <a:solidFill>
            <a:srgbClr val="0D1B2A"/>
          </a:solidFill>
          <a:ln w="12700">
            <a:solidFill>
              <a:srgbClr val="0D1B2A"/>
            </a:solidFill>
            <a:prstDash val="solid"/>
          </a:ln>
        </p:spPr>
      </p:sp>
      <p:sp>
        <p:nvSpPr>
          <p:cNvPr id="4" name="Text 2"/>
          <p:cNvSpPr/>
          <p:nvPr/>
        </p:nvSpPr>
        <p:spPr>
          <a:xfrm>
            <a:off x="228600" y="73152"/>
            <a:ext cx="3657600" cy="256032"/>
          </a:xfrm>
          <a:prstGeom prst="rect">
            <a:avLst/>
          </a:prstGeom>
          <a:noFill/>
          <a:ln/>
        </p:spPr>
        <p:txBody>
          <a:bodyPr wrap="square" lIns="0" tIns="0" rIns="0" bIns="0" rtlCol="0" anchor="ctr"/>
          <a:lstStyle/>
          <a:p>
            <a:pPr marL="0" indent="0">
              <a:buNone/>
            </a:pPr>
            <a:r>
              <a:rPr lang="en-US" sz="900" b="1" kern="0" spc="200" dirty="0">
                <a:solidFill>
                  <a:srgbClr val="F72585"/>
                </a:solidFill>
                <a:latin typeface="Trebuchet MS" pitchFamily="34" charset="0"/>
                <a:ea typeface="Trebuchet MS" pitchFamily="34" charset="-122"/>
                <a:cs typeface="Trebuchet MS" pitchFamily="34" charset="-120"/>
              </a:rPr>
              <a:t>KOD PYTHON</a:t>
            </a:r>
            <a:endParaRPr lang="en-US" sz="900" dirty="0"/>
          </a:p>
        </p:txBody>
      </p:sp>
      <p:sp>
        <p:nvSpPr>
          <p:cNvPr id="5" name="Text 3"/>
          <p:cNvSpPr/>
          <p:nvPr/>
        </p:nvSpPr>
        <p:spPr>
          <a:xfrm>
            <a:off x="228600" y="292608"/>
            <a:ext cx="8686800" cy="54864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Prosta korekta pozycji po detekcji znacznika</a:t>
            </a:r>
            <a:endParaRPr lang="en-US" sz="2800" dirty="0"/>
          </a:p>
        </p:txBody>
      </p:sp>
      <p:sp>
        <p:nvSpPr>
          <p:cNvPr id="6" name="Shape 4"/>
          <p:cNvSpPr/>
          <p:nvPr/>
        </p:nvSpPr>
        <p:spPr>
          <a:xfrm>
            <a:off x="274320" y="1005839"/>
            <a:ext cx="8595360" cy="3127545"/>
          </a:xfrm>
          <a:prstGeom prst="rect">
            <a:avLst/>
          </a:prstGeom>
          <a:solidFill>
            <a:srgbClr val="071520"/>
          </a:solidFill>
          <a:ln w="12700">
            <a:solidFill>
              <a:srgbClr val="0077A8"/>
            </a:solidFill>
            <a:prstDash val="solid"/>
          </a:ln>
          <a:effectLst>
            <a:outerShdw blurRad="101600" dist="38100" dir="8100000" algn="bl" rotWithShape="0">
              <a:srgbClr val="000000">
                <a:alpha val="18000"/>
              </a:srgbClr>
            </a:outerShdw>
          </a:effectLst>
        </p:spPr>
      </p:sp>
      <p:sp>
        <p:nvSpPr>
          <p:cNvPr id="7" name="Shape 5"/>
          <p:cNvSpPr/>
          <p:nvPr/>
        </p:nvSpPr>
        <p:spPr>
          <a:xfrm>
            <a:off x="8119872" y="1106424"/>
            <a:ext cx="146304" cy="146304"/>
          </a:xfrm>
          <a:prstGeom prst="ellipse">
            <a:avLst/>
          </a:prstGeom>
          <a:solidFill>
            <a:srgbClr val="F72585"/>
          </a:solidFill>
          <a:ln w="12700">
            <a:solidFill>
              <a:srgbClr val="F72585"/>
            </a:solidFill>
            <a:prstDash val="solid"/>
          </a:ln>
        </p:spPr>
      </p:sp>
      <p:sp>
        <p:nvSpPr>
          <p:cNvPr id="8" name="Shape 6"/>
          <p:cNvSpPr/>
          <p:nvPr/>
        </p:nvSpPr>
        <p:spPr>
          <a:xfrm>
            <a:off x="8375904" y="1106424"/>
            <a:ext cx="146304" cy="146304"/>
          </a:xfrm>
          <a:prstGeom prst="ellipse">
            <a:avLst/>
          </a:prstGeom>
          <a:solidFill>
            <a:srgbClr val="FFD60A"/>
          </a:solidFill>
          <a:ln w="12700">
            <a:solidFill>
              <a:srgbClr val="FFD60A"/>
            </a:solidFill>
            <a:prstDash val="solid"/>
          </a:ln>
        </p:spPr>
      </p:sp>
      <p:sp>
        <p:nvSpPr>
          <p:cNvPr id="9" name="Shape 7"/>
          <p:cNvSpPr/>
          <p:nvPr/>
        </p:nvSpPr>
        <p:spPr>
          <a:xfrm>
            <a:off x="8631936" y="1106424"/>
            <a:ext cx="146304" cy="146304"/>
          </a:xfrm>
          <a:prstGeom prst="ellipse">
            <a:avLst/>
          </a:prstGeom>
          <a:solidFill>
            <a:srgbClr val="C3F584"/>
          </a:solidFill>
          <a:ln w="12700">
            <a:solidFill>
              <a:srgbClr val="C3F584"/>
            </a:solidFill>
            <a:prstDash val="solid"/>
          </a:ln>
        </p:spPr>
      </p:sp>
      <p:sp>
        <p:nvSpPr>
          <p:cNvPr id="10" name="Text 8"/>
          <p:cNvSpPr/>
          <p:nvPr/>
        </p:nvSpPr>
        <p:spPr>
          <a:xfrm>
            <a:off x="384048" y="1060704"/>
            <a:ext cx="8321040" cy="3072680"/>
          </a:xfrm>
          <a:prstGeom prst="rect">
            <a:avLst/>
          </a:prstGeom>
          <a:noFill/>
          <a:ln/>
        </p:spPr>
        <p:txBody>
          <a:bodyPr wrap="square" lIns="108000" tIns="0" rIns="127000" bIns="63500" rtlCol="0" anchor="t"/>
          <a:lstStyle/>
          <a:p>
            <a:r>
              <a:rPr lang="pl-PL" sz="1200" dirty="0">
                <a:solidFill>
                  <a:srgbClr val="C586C0"/>
                </a:solidFill>
                <a:latin typeface="Consolas" panose="020B0609020204030204" pitchFamily="49" charset="0"/>
              </a:rPr>
              <a:t>import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numpy</a:t>
            </a:r>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r>
            <a:br>
              <a:rPr lang="pl-PL" sz="1200" dirty="0">
                <a:solidFill>
                  <a:srgbClr val="BBBEBF"/>
                </a:solidFill>
                <a:latin typeface="Consolas" panose="020B0609020204030204" pitchFamily="49" charset="0"/>
              </a:rPr>
            </a:br>
            <a:r>
              <a:rPr lang="pl-PL" sz="1200" dirty="0">
                <a:solidFill>
                  <a:srgbClr val="FF7B72"/>
                </a:solidFill>
                <a:latin typeface="Consolas" panose="020B0609020204030204" pitchFamily="49" charset="0"/>
              </a:rPr>
              <a:t>def</a:t>
            </a:r>
            <a:r>
              <a:rPr lang="pl-PL" sz="1200" dirty="0">
                <a:solidFill>
                  <a:srgbClr val="BBBEBF"/>
                </a:solidFill>
                <a:latin typeface="Consolas" panose="020B0609020204030204" pitchFamily="49" charset="0"/>
              </a:rPr>
              <a:t> </a:t>
            </a:r>
            <a:r>
              <a:rPr lang="pl-PL" sz="1200" dirty="0" err="1">
                <a:solidFill>
                  <a:srgbClr val="D2A8FF"/>
                </a:solidFill>
                <a:latin typeface="Consolas" panose="020B0609020204030204" pitchFamily="49" charset="0"/>
              </a:rPr>
              <a:t>correct_with_landmark</a:t>
            </a:r>
            <a:r>
              <a:rPr lang="pl-PL" sz="1200" dirty="0">
                <a:solidFill>
                  <a:srgbClr val="BBBEBF"/>
                </a:solidFill>
                <a:latin typeface="Consolas" panose="020B0609020204030204" pitchFamily="49" charset="0"/>
              </a:rPr>
              <a:t>(</a:t>
            </a:r>
            <a:r>
              <a:rPr lang="pl-PL" sz="1200" dirty="0" err="1">
                <a:solidFill>
                  <a:srgbClr val="FFA657"/>
                </a:solidFill>
                <a:latin typeface="Consolas" panose="020B0609020204030204" pitchFamily="49" charset="0"/>
              </a:rPr>
              <a:t>state</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landmark_pos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measured_pos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R_meas</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ndarray</a:t>
            </a:r>
            <a:r>
              <a:rPr lang="pl-PL" sz="1200" dirty="0">
                <a:solidFill>
                  <a:srgbClr val="BBBEBF"/>
                </a:solidFill>
                <a:latin typeface="Consolas" panose="020B0609020204030204" pitchFamily="49" charset="0"/>
              </a:rPr>
              <a:t>) -&gt; </a:t>
            </a:r>
            <a:r>
              <a:rPr lang="pl-PL" sz="1200" dirty="0" err="1">
                <a:solidFill>
                  <a:srgbClr val="4EC9B0"/>
                </a:solidFill>
                <a:latin typeface="Consolas" panose="020B0609020204030204" pitchFamily="49" charset="0"/>
              </a:rPr>
              <a:t>tuple</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a:solidFill>
                  <a:srgbClr val="A5D6FF"/>
                </a:solidFill>
                <a:latin typeface="Consolas" panose="020B0609020204030204" pitchFamily="49" charset="0"/>
              </a:rPr>
              <a:t>"""Korekta EKF po pomiarze pozycji znajomego znacznika."""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eye</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 </a:t>
            </a:r>
            <a:r>
              <a:rPr lang="pl-PL" sz="1200" dirty="0">
                <a:solidFill>
                  <a:srgbClr val="B5CEA8"/>
                </a:solidFill>
                <a:latin typeface="Consolas" panose="020B0609020204030204" pitchFamily="49" charset="0"/>
              </a:rPr>
              <a:t>3</a:t>
            </a:r>
            <a:r>
              <a:rPr lang="pl-PL" sz="1200" dirty="0">
                <a:solidFill>
                  <a:srgbClr val="BBBEBF"/>
                </a:solidFill>
                <a:latin typeface="Consolas" panose="020B0609020204030204" pitchFamily="49" charset="0"/>
              </a:rPr>
              <a:t>)              </a:t>
            </a:r>
            <a:r>
              <a:rPr lang="pl-PL" sz="1200" dirty="0" smtClean="0">
                <a:solidFill>
                  <a:srgbClr val="BBBEBF"/>
                </a:solidFill>
                <a:latin typeface="Consolas" panose="020B0609020204030204" pitchFamily="49" charset="0"/>
              </a:rPr>
              <a:t>                       </a:t>
            </a:r>
            <a:r>
              <a:rPr lang="pl-PL" sz="1200" dirty="0" smtClean="0">
                <a:solidFill>
                  <a:srgbClr val="8B949E"/>
                </a:solidFill>
                <a:latin typeface="Consolas" panose="020B0609020204030204" pitchFamily="49" charset="0"/>
              </a:rPr>
              <a:t># </a:t>
            </a:r>
            <a:r>
              <a:rPr lang="pl-PL" sz="1200" dirty="0">
                <a:solidFill>
                  <a:srgbClr val="8B949E"/>
                </a:solidFill>
                <a:latin typeface="Consolas" panose="020B0609020204030204" pitchFamily="49" charset="0"/>
              </a:rPr>
              <a:t>obserwujemy tylko x, y</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predicted_z</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landmark_pos</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2</a:t>
            </a:r>
            <a:r>
              <a:rPr lang="pl-PL" sz="1200" dirty="0">
                <a:solidFill>
                  <a:srgbClr val="BBBEBF"/>
                </a:solidFill>
                <a:latin typeface="Consolas" panose="020B0609020204030204" pitchFamily="49" charset="0"/>
              </a:rPr>
              <a:t>]</a:t>
            </a: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innovation</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measured_pos</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predicted_z</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S</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R_meas</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a:t>
            </a:r>
            <a:r>
              <a:rPr lang="pl-PL" sz="1200" dirty="0">
                <a:solidFill>
                  <a:srgbClr val="C9D1D9"/>
                </a:solidFill>
                <a:latin typeface="Consolas" panose="020B0609020204030204" pitchFamily="49" charset="0"/>
              </a:rPr>
              <a:t>T</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4EC9B0"/>
                </a:solidFill>
                <a:latin typeface="Consolas" panose="020B0609020204030204" pitchFamily="49" charset="0"/>
              </a:rPr>
              <a:t>linalg</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inv</a:t>
            </a:r>
            <a:r>
              <a:rPr lang="pl-PL" sz="1200" dirty="0">
                <a:solidFill>
                  <a:srgbClr val="BBBEBF"/>
                </a:solidFill>
                <a:latin typeface="Consolas" panose="020B0609020204030204" pitchFamily="49" charset="0"/>
              </a:rPr>
              <a:t>(</a:t>
            </a:r>
            <a:r>
              <a:rPr lang="pl-PL" sz="1200" dirty="0">
                <a:solidFill>
                  <a:srgbClr val="79C0FF"/>
                </a:solidFill>
                <a:latin typeface="Consolas" panose="020B0609020204030204" pitchFamily="49" charset="0"/>
              </a:rPr>
              <a:t>S</a:t>
            </a:r>
            <a:r>
              <a:rPr lang="pl-PL" sz="1200" dirty="0">
                <a:solidFill>
                  <a:srgbClr val="BBBEBF"/>
                </a:solidFill>
                <a:latin typeface="Consolas" panose="020B0609020204030204" pitchFamily="49" charset="0"/>
              </a:rPr>
              <a:t>) </a:t>
            </a:r>
            <a:r>
              <a:rPr lang="pl-PL" sz="1200" dirty="0" smtClean="0">
                <a:solidFill>
                  <a:srgbClr val="BBBEBF"/>
                </a:solidFill>
                <a:latin typeface="Consolas" panose="020B0609020204030204" pitchFamily="49" charset="0"/>
              </a:rPr>
              <a:t>                     </a:t>
            </a:r>
            <a:r>
              <a:rPr lang="pl-PL" sz="1200" dirty="0">
                <a:solidFill>
                  <a:srgbClr val="BBBEBF"/>
                </a:solidFill>
                <a:latin typeface="Consolas" panose="020B0609020204030204" pitchFamily="49" charset="0"/>
              </a:rPr>
              <a:t> </a:t>
            </a:r>
            <a:r>
              <a:rPr lang="pl-PL" sz="1200" dirty="0">
                <a:solidFill>
                  <a:srgbClr val="8B949E"/>
                </a:solidFill>
                <a:latin typeface="Consolas" panose="020B0609020204030204" pitchFamily="49" charset="0"/>
              </a:rPr>
              <a:t># wzmocnienie Kalmana</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state_new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FFA657"/>
                </a:solidFill>
                <a:latin typeface="Consolas" panose="020B0609020204030204" pitchFamily="49" charset="0"/>
              </a:rPr>
              <a:t>state</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innovation</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P_new</a:t>
            </a:r>
            <a:r>
              <a:rPr lang="pl-PL" sz="1200" dirty="0">
                <a:solidFill>
                  <a:srgbClr val="BBBEBF"/>
                </a:solidFill>
                <a:latin typeface="Consolas" panose="020B0609020204030204" pitchFamily="49" charset="0"/>
              </a:rPr>
              <a:t>     </a:t>
            </a:r>
            <a:r>
              <a:rPr lang="pl-PL" sz="1200" dirty="0">
                <a:solidFill>
                  <a:srgbClr val="D4D4D4"/>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err="1">
                <a:solidFill>
                  <a:srgbClr val="4EC9B0"/>
                </a:solidFill>
                <a:latin typeface="Consolas" panose="020B0609020204030204" pitchFamily="49" charset="0"/>
              </a:rPr>
              <a:t>np</a:t>
            </a:r>
            <a:r>
              <a:rPr lang="pl-PL" sz="1200" dirty="0" err="1">
                <a:solidFill>
                  <a:srgbClr val="BBBEBF"/>
                </a:solidFill>
                <a:latin typeface="Consolas" panose="020B0609020204030204" pitchFamily="49" charset="0"/>
              </a:rPr>
              <a:t>.</a:t>
            </a:r>
            <a:r>
              <a:rPr lang="pl-PL" sz="1200" dirty="0" err="1">
                <a:solidFill>
                  <a:srgbClr val="D2A8FF"/>
                </a:solidFill>
                <a:latin typeface="Consolas" panose="020B0609020204030204" pitchFamily="49" charset="0"/>
              </a:rPr>
              <a:t>eye</a:t>
            </a:r>
            <a:r>
              <a:rPr lang="pl-PL" sz="1200" dirty="0">
                <a:solidFill>
                  <a:srgbClr val="BBBEBF"/>
                </a:solidFill>
                <a:latin typeface="Consolas" panose="020B0609020204030204" pitchFamily="49" charset="0"/>
              </a:rPr>
              <a:t>(</a:t>
            </a:r>
            <a:r>
              <a:rPr lang="pl-PL" sz="1200" dirty="0">
                <a:solidFill>
                  <a:srgbClr val="B5CEA8"/>
                </a:solidFill>
                <a:latin typeface="Consolas" panose="020B0609020204030204" pitchFamily="49" charset="0"/>
              </a:rPr>
              <a:t>3</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K</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79C0FF"/>
                </a:solidFill>
                <a:latin typeface="Consolas" panose="020B0609020204030204" pitchFamily="49" charset="0"/>
              </a:rPr>
              <a:t>H</a:t>
            </a:r>
            <a:r>
              <a:rPr lang="pl-PL" sz="1200" dirty="0">
                <a:solidFill>
                  <a:srgbClr val="BBBEBF"/>
                </a:solidFill>
                <a:latin typeface="Consolas" panose="020B0609020204030204" pitchFamily="49" charset="0"/>
              </a:rPr>
              <a:t>) </a:t>
            </a:r>
            <a:r>
              <a:rPr lang="pl-PL" sz="1200" dirty="0">
                <a:solidFill>
                  <a:srgbClr val="DCDCAA"/>
                </a:solidFill>
                <a:latin typeface="Consolas" panose="020B0609020204030204" pitchFamily="49" charset="0"/>
              </a:rPr>
              <a:t>@</a:t>
            </a:r>
            <a:r>
              <a:rPr lang="pl-PL" sz="1200" dirty="0">
                <a:solidFill>
                  <a:srgbClr val="BBBEBF"/>
                </a:solidFill>
                <a:latin typeface="Consolas" panose="020B0609020204030204" pitchFamily="49" charset="0"/>
              </a:rPr>
              <a:t> </a:t>
            </a:r>
            <a:r>
              <a:rPr lang="pl-PL" sz="1200" dirty="0">
                <a:solidFill>
                  <a:srgbClr val="FFA657"/>
                </a:solidFill>
                <a:latin typeface="Consolas" panose="020B0609020204030204" pitchFamily="49" charset="0"/>
              </a:rPr>
              <a:t>P</a:t>
            </a:r>
            <a:endParaRPr lang="pl-PL" sz="1200" dirty="0">
              <a:solidFill>
                <a:srgbClr val="BBBEBF"/>
              </a:solidFill>
              <a:latin typeface="Consolas" panose="020B0609020204030204" pitchFamily="49" charset="0"/>
            </a:endParaRPr>
          </a:p>
          <a:p>
            <a:r>
              <a:rPr lang="pl-PL" sz="1200" dirty="0">
                <a:solidFill>
                  <a:srgbClr val="BBBEBF"/>
                </a:solidFill>
                <a:latin typeface="Consolas" panose="020B0609020204030204" pitchFamily="49" charset="0"/>
              </a:rPr>
              <a:t>    </a:t>
            </a:r>
            <a:r>
              <a:rPr lang="pl-PL" sz="1200" dirty="0">
                <a:solidFill>
                  <a:srgbClr val="C586C0"/>
                </a:solidFill>
                <a:latin typeface="Consolas" panose="020B0609020204030204" pitchFamily="49" charset="0"/>
              </a:rPr>
              <a:t>return</a:t>
            </a:r>
            <a:r>
              <a:rPr lang="pl-PL" sz="1200" dirty="0">
                <a:solidFill>
                  <a:srgbClr val="BBBEBF"/>
                </a:solidFill>
                <a:latin typeface="Consolas" panose="020B0609020204030204" pitchFamily="49" charset="0"/>
              </a:rPr>
              <a:t> </a:t>
            </a:r>
            <a:r>
              <a:rPr lang="pl-PL" sz="1200" dirty="0" err="1">
                <a:solidFill>
                  <a:srgbClr val="C9D1D9"/>
                </a:solidFill>
                <a:latin typeface="Consolas" panose="020B0609020204030204" pitchFamily="49" charset="0"/>
              </a:rPr>
              <a:t>state_new</a:t>
            </a:r>
            <a:r>
              <a:rPr lang="pl-PL" sz="1200" dirty="0">
                <a:solidFill>
                  <a:srgbClr val="BBBEBF"/>
                </a:solidFill>
                <a:latin typeface="Consolas" panose="020B0609020204030204" pitchFamily="49" charset="0"/>
              </a:rPr>
              <a:t>, </a:t>
            </a:r>
            <a:r>
              <a:rPr lang="pl-PL" sz="1200" dirty="0" err="1" smtClean="0">
                <a:solidFill>
                  <a:srgbClr val="C9D1D9"/>
                </a:solidFill>
                <a:latin typeface="Consolas" panose="020B0609020204030204" pitchFamily="49" charset="0"/>
              </a:rPr>
              <a:t>P_new</a:t>
            </a:r>
            <a:endParaRPr lang="pl-PL" sz="1200" dirty="0">
              <a:solidFill>
                <a:srgbClr val="BBBEBF"/>
              </a:solidFill>
              <a:latin typeface="Consolas" panose="020B0609020204030204" pitchFamily="49" charset="0"/>
            </a:endParaRPr>
          </a:p>
        </p:txBody>
      </p:sp>
      <p:sp>
        <p:nvSpPr>
          <p:cNvPr id="11" name="Shape 9"/>
          <p:cNvSpPr/>
          <p:nvPr/>
        </p:nvSpPr>
        <p:spPr>
          <a:xfrm>
            <a:off x="274320" y="4397760"/>
            <a:ext cx="8595360" cy="540000"/>
          </a:xfrm>
          <a:prstGeom prst="rect">
            <a:avLst/>
          </a:prstGeom>
          <a:solidFill>
            <a:srgbClr val="1A3550"/>
          </a:solidFill>
          <a:ln w="12700">
            <a:solidFill>
              <a:srgbClr val="0077A8"/>
            </a:solidFill>
            <a:prstDash val="solid"/>
          </a:ln>
        </p:spPr>
      </p:sp>
      <p:sp>
        <p:nvSpPr>
          <p:cNvPr id="12" name="Text 10"/>
          <p:cNvSpPr/>
          <p:nvPr/>
        </p:nvSpPr>
        <p:spPr>
          <a:xfrm>
            <a:off x="457200" y="4397760"/>
            <a:ext cx="8321040" cy="540000"/>
          </a:xfrm>
          <a:prstGeom prst="rect">
            <a:avLst/>
          </a:prstGeom>
          <a:noFill/>
          <a:ln/>
        </p:spPr>
        <p:txBody>
          <a:bodyPr wrap="square" lIns="0" tIns="0" rIns="127000" bIns="0" rtlCol="0" anchor="ctr"/>
          <a:lstStyle/>
          <a:p>
            <a:pPr marL="0" indent="0" algn="ctr">
              <a:buNone/>
            </a:pPr>
            <a:r>
              <a:rPr lang="en-US" sz="1600" b="1" dirty="0">
                <a:solidFill>
                  <a:srgbClr val="00B4D8"/>
                </a:solidFill>
                <a:latin typeface="Calibri" pitchFamily="34" charset="0"/>
                <a:ea typeface="Calibri" pitchFamily="34" charset="-122"/>
                <a:cs typeface="Calibri" pitchFamily="34" charset="-120"/>
              </a:rPr>
              <a:t>Opis: </a:t>
            </a:r>
            <a:r>
              <a:rPr lang="en-US" sz="1600" dirty="0">
                <a:solidFill>
                  <a:srgbClr val="E2EBF3"/>
                </a:solidFill>
                <a:latin typeface="Calibri" pitchFamily="34" charset="0"/>
                <a:ea typeface="Calibri" pitchFamily="34" charset="-122"/>
                <a:cs typeface="Calibri" pitchFamily="34" charset="-120"/>
              </a:rPr>
              <a:t>Korekta EKF: innowacja z detekcji ArUco/AprilTag eliminuje skumulowany </a:t>
            </a:r>
            <a:r>
              <a:rPr lang="en-US" sz="1600" dirty="0" err="1">
                <a:solidFill>
                  <a:srgbClr val="E2EBF3"/>
                </a:solidFill>
                <a:latin typeface="Calibri" pitchFamily="34" charset="0"/>
                <a:ea typeface="Calibri" pitchFamily="34" charset="-122"/>
                <a:cs typeface="Calibri" pitchFamily="34" charset="-120"/>
              </a:rPr>
              <a:t>dryft</a:t>
            </a:r>
            <a:r>
              <a:rPr lang="en-US" sz="1600" dirty="0">
                <a:solidFill>
                  <a:srgbClr val="E2EBF3"/>
                </a:solidFill>
                <a:latin typeface="Calibri" pitchFamily="34" charset="0"/>
                <a:ea typeface="Calibri" pitchFamily="34" charset="-122"/>
                <a:cs typeface="Calibri" pitchFamily="34" charset="-120"/>
              </a:rPr>
              <a:t> </a:t>
            </a:r>
            <a:r>
              <a:rPr lang="en-US" sz="1600" dirty="0" err="1" smtClean="0">
                <a:solidFill>
                  <a:srgbClr val="E2EBF3"/>
                </a:solidFill>
                <a:latin typeface="Calibri" pitchFamily="34" charset="0"/>
                <a:ea typeface="Calibri" pitchFamily="34" charset="-122"/>
                <a:cs typeface="Calibri" pitchFamily="34" charset="-120"/>
              </a:rPr>
              <a:t>odometrii</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SEKCJA 3 | DOBÓR METODY</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Dobór metody lokalizacji do zadania</a:t>
            </a:r>
            <a:endParaRPr lang="en-US" sz="2800" dirty="0"/>
          </a:p>
        </p:txBody>
      </p:sp>
      <p:sp>
        <p:nvSpPr>
          <p:cNvPr id="6" name="Shape 4"/>
          <p:cNvSpPr/>
          <p:nvPr/>
        </p:nvSpPr>
        <p:spPr>
          <a:xfrm>
            <a:off x="27432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Shape 5"/>
          <p:cNvSpPr/>
          <p:nvPr/>
        </p:nvSpPr>
        <p:spPr>
          <a:xfrm>
            <a:off x="274320" y="1143000"/>
            <a:ext cx="2651760" cy="54864"/>
          </a:xfrm>
          <a:prstGeom prst="rect">
            <a:avLst/>
          </a:prstGeom>
          <a:solidFill>
            <a:srgbClr val="00B4D8"/>
          </a:solidFill>
          <a:ln w="12700">
            <a:solidFill>
              <a:srgbClr val="00B4D8"/>
            </a:solidFill>
            <a:prstDash val="solid"/>
          </a:ln>
        </p:spPr>
      </p:sp>
      <p:sp>
        <p:nvSpPr>
          <p:cNvPr id="8" name="Text 6"/>
          <p:cNvSpPr/>
          <p:nvPr/>
        </p:nvSpPr>
        <p:spPr>
          <a:xfrm>
            <a:off x="38404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Laboratorium</a:t>
            </a:r>
            <a:endParaRPr lang="en-US" sz="2000" spc="-40" dirty="0"/>
          </a:p>
        </p:txBody>
      </p:sp>
      <p:sp>
        <p:nvSpPr>
          <p:cNvPr id="9" name="Text 7"/>
          <p:cNvSpPr/>
          <p:nvPr/>
        </p:nvSpPr>
        <p:spPr>
          <a:xfrm>
            <a:off x="384048" y="1853489"/>
            <a:ext cx="2432304"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Znana, statyczna mapa; AMCL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smtClean="0">
                <a:solidFill>
                  <a:srgbClr val="475569"/>
                </a:solidFill>
                <a:latin typeface="Calibri" pitchFamily="34" charset="0"/>
                <a:ea typeface="Calibri" pitchFamily="34" charset="-122"/>
                <a:cs typeface="Calibri" pitchFamily="34" charset="-120"/>
              </a:rPr>
              <a:t>z </a:t>
            </a:r>
            <a:r>
              <a:rPr lang="en-US" sz="1600" spc="-80" dirty="0">
                <a:solidFill>
                  <a:srgbClr val="475569"/>
                </a:solidFill>
                <a:latin typeface="Calibri" pitchFamily="34" charset="0"/>
                <a:ea typeface="Calibri" pitchFamily="34" charset="-122"/>
                <a:cs typeface="Calibri" pitchFamily="34" charset="-120"/>
              </a:rPr>
              <a:t>LiDAR-em 2D wystarczy; opcjonalnie znaczniki ArUco</a:t>
            </a:r>
            <a:endParaRPr lang="en-US" sz="1600" spc="-80" dirty="0"/>
          </a:p>
        </p:txBody>
      </p:sp>
      <p:sp>
        <p:nvSpPr>
          <p:cNvPr id="10" name="Shape 8"/>
          <p:cNvSpPr/>
          <p:nvPr/>
        </p:nvSpPr>
        <p:spPr>
          <a:xfrm>
            <a:off x="315468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1" name="Shape 9"/>
          <p:cNvSpPr/>
          <p:nvPr/>
        </p:nvSpPr>
        <p:spPr>
          <a:xfrm>
            <a:off x="3154680" y="1143000"/>
            <a:ext cx="2651760" cy="54864"/>
          </a:xfrm>
          <a:prstGeom prst="rect">
            <a:avLst/>
          </a:prstGeom>
          <a:solidFill>
            <a:srgbClr val="0077A8"/>
          </a:solidFill>
          <a:ln w="12700">
            <a:solidFill>
              <a:srgbClr val="0077A8"/>
            </a:solidFill>
            <a:prstDash val="solid"/>
          </a:ln>
        </p:spPr>
      </p:sp>
      <p:sp>
        <p:nvSpPr>
          <p:cNvPr id="12" name="Text 10"/>
          <p:cNvSpPr/>
          <p:nvPr/>
        </p:nvSpPr>
        <p:spPr>
          <a:xfrm>
            <a:off x="326440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Biuro</a:t>
            </a:r>
            <a:endParaRPr lang="en-US" sz="2000" spc="-40" dirty="0"/>
          </a:p>
        </p:txBody>
      </p:sp>
      <p:sp>
        <p:nvSpPr>
          <p:cNvPr id="13" name="Text 11"/>
          <p:cNvSpPr/>
          <p:nvPr/>
        </p:nvSpPr>
        <p:spPr>
          <a:xfrm>
            <a:off x="3264408" y="1853489"/>
            <a:ext cx="2432304"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Zmienna mapa (meble);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smtClean="0">
                <a:solidFill>
                  <a:srgbClr val="475569"/>
                </a:solidFill>
                <a:latin typeface="Calibri" pitchFamily="34" charset="0"/>
                <a:ea typeface="Calibri" pitchFamily="34" charset="-122"/>
                <a:cs typeface="Calibri" pitchFamily="34" charset="-120"/>
              </a:rPr>
              <a:t>SLAM </a:t>
            </a:r>
            <a:r>
              <a:rPr lang="en-US" sz="1600" spc="-80" dirty="0">
                <a:solidFill>
                  <a:srgbClr val="475569"/>
                </a:solidFill>
                <a:latin typeface="Calibri" pitchFamily="34" charset="0"/>
                <a:ea typeface="Calibri" pitchFamily="34" charset="-122"/>
                <a:cs typeface="Calibri" pitchFamily="34" charset="-120"/>
              </a:rPr>
              <a:t>online (Cartographer)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smtClean="0">
                <a:solidFill>
                  <a:srgbClr val="475569"/>
                </a:solidFill>
                <a:latin typeface="Calibri" pitchFamily="34" charset="0"/>
                <a:ea typeface="Calibri" pitchFamily="34" charset="-122"/>
                <a:cs typeface="Calibri" pitchFamily="34" charset="-120"/>
              </a:rPr>
              <a:t>+ </a:t>
            </a:r>
            <a:r>
              <a:rPr lang="en-US" sz="1600" spc="-80" dirty="0">
                <a:solidFill>
                  <a:srgbClr val="475569"/>
                </a:solidFill>
                <a:latin typeface="Calibri" pitchFamily="34" charset="0"/>
                <a:ea typeface="Calibri" pitchFamily="34" charset="-122"/>
                <a:cs typeface="Calibri" pitchFamily="34" charset="-120"/>
              </a:rPr>
              <a:t>MCL; UWB jako wsparcie</a:t>
            </a:r>
            <a:endParaRPr lang="en-US" sz="1600" spc="-80" dirty="0"/>
          </a:p>
        </p:txBody>
      </p:sp>
      <p:sp>
        <p:nvSpPr>
          <p:cNvPr id="14" name="Shape 12"/>
          <p:cNvSpPr/>
          <p:nvPr/>
        </p:nvSpPr>
        <p:spPr>
          <a:xfrm>
            <a:off x="6035040" y="11430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5" name="Shape 13"/>
          <p:cNvSpPr/>
          <p:nvPr/>
        </p:nvSpPr>
        <p:spPr>
          <a:xfrm>
            <a:off x="6035040" y="1143000"/>
            <a:ext cx="2651760" cy="54864"/>
          </a:xfrm>
          <a:prstGeom prst="rect">
            <a:avLst/>
          </a:prstGeom>
          <a:solidFill>
            <a:srgbClr val="0077A8"/>
          </a:solidFill>
          <a:ln w="12700">
            <a:solidFill>
              <a:srgbClr val="0077A8"/>
            </a:solidFill>
            <a:prstDash val="solid"/>
          </a:ln>
        </p:spPr>
      </p:sp>
      <p:sp>
        <p:nvSpPr>
          <p:cNvPr id="16" name="Text 14"/>
          <p:cNvSpPr/>
          <p:nvPr/>
        </p:nvSpPr>
        <p:spPr>
          <a:xfrm>
            <a:off x="6144768" y="12344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Magazyn</a:t>
            </a:r>
            <a:endParaRPr lang="en-US" sz="2000" spc="-40" dirty="0"/>
          </a:p>
        </p:txBody>
      </p:sp>
      <p:sp>
        <p:nvSpPr>
          <p:cNvPr id="17" name="Text 15"/>
          <p:cNvSpPr/>
          <p:nvPr/>
        </p:nvSpPr>
        <p:spPr>
          <a:xfrm>
            <a:off x="6144768" y="1853489"/>
            <a:ext cx="2432304"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Pojazdy AGV i regały;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smtClean="0">
                <a:solidFill>
                  <a:srgbClr val="475569"/>
                </a:solidFill>
                <a:latin typeface="Calibri" pitchFamily="34" charset="0"/>
                <a:ea typeface="Calibri" pitchFamily="34" charset="-122"/>
                <a:cs typeface="Calibri" pitchFamily="34" charset="-120"/>
              </a:rPr>
              <a:t>Visual </a:t>
            </a:r>
            <a:r>
              <a:rPr lang="en-US" sz="1600" spc="-80" dirty="0">
                <a:solidFill>
                  <a:srgbClr val="475569"/>
                </a:solidFill>
                <a:latin typeface="Calibri" pitchFamily="34" charset="0"/>
                <a:ea typeface="Calibri" pitchFamily="34" charset="-122"/>
                <a:cs typeface="Calibri" pitchFamily="34" charset="-120"/>
              </a:rPr>
              <a:t>SLAM z kamerami panoramicznymi; QR na półkach</a:t>
            </a:r>
            <a:endParaRPr lang="en-US" sz="1600" spc="-80" dirty="0"/>
          </a:p>
        </p:txBody>
      </p:sp>
      <p:sp>
        <p:nvSpPr>
          <p:cNvPr id="18" name="Shape 16"/>
          <p:cNvSpPr/>
          <p:nvPr/>
        </p:nvSpPr>
        <p:spPr>
          <a:xfrm>
            <a:off x="27432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19" name="Shape 17"/>
          <p:cNvSpPr/>
          <p:nvPr/>
        </p:nvSpPr>
        <p:spPr>
          <a:xfrm>
            <a:off x="274320" y="2971800"/>
            <a:ext cx="2651760" cy="54864"/>
          </a:xfrm>
          <a:prstGeom prst="rect">
            <a:avLst/>
          </a:prstGeom>
          <a:solidFill>
            <a:srgbClr val="006490"/>
          </a:solidFill>
          <a:ln w="12700">
            <a:solidFill>
              <a:srgbClr val="006490"/>
            </a:solidFill>
            <a:prstDash val="solid"/>
          </a:ln>
        </p:spPr>
      </p:sp>
      <p:sp>
        <p:nvSpPr>
          <p:cNvPr id="20" name="Text 18"/>
          <p:cNvSpPr/>
          <p:nvPr/>
        </p:nvSpPr>
        <p:spPr>
          <a:xfrm>
            <a:off x="384048" y="3063241"/>
            <a:ext cx="2432304" cy="376275"/>
          </a:xfrm>
          <a:prstGeom prst="rect">
            <a:avLst/>
          </a:prstGeom>
          <a:noFill/>
          <a:ln/>
        </p:spPr>
        <p:txBody>
          <a:bodyPr wrap="square" lIns="0" tIns="0" rIns="0" bIns="0" rtlCol="0" anchor="ctr"/>
          <a:lstStyle/>
          <a:p>
            <a:pPr marL="0" indent="0" algn="ctr">
              <a:buNone/>
            </a:pPr>
            <a:r>
              <a:rPr lang="en-US" sz="2000" b="1" spc="-40" dirty="0">
                <a:solidFill>
                  <a:srgbClr val="0D1B2A"/>
                </a:solidFill>
                <a:latin typeface="Trebuchet MS" pitchFamily="34" charset="0"/>
                <a:ea typeface="Trebuchet MS" pitchFamily="34" charset="-122"/>
                <a:cs typeface="Trebuchet MS" pitchFamily="34" charset="-120"/>
              </a:rPr>
              <a:t>Schody</a:t>
            </a:r>
            <a:endParaRPr lang="en-US" sz="2000" spc="-40" dirty="0"/>
          </a:p>
        </p:txBody>
      </p:sp>
      <p:sp>
        <p:nvSpPr>
          <p:cNvPr id="21" name="Text 19"/>
          <p:cNvSpPr/>
          <p:nvPr/>
        </p:nvSpPr>
        <p:spPr>
          <a:xfrm>
            <a:off x="384048" y="3682289"/>
            <a:ext cx="2432304"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3D LiDAR SLAM (LeGO-LOAM) lub RGB-D SLAM (RTAB-Map); height map aktywna</a:t>
            </a:r>
            <a:endParaRPr lang="en-US" sz="1600" spc="-80" dirty="0"/>
          </a:p>
        </p:txBody>
      </p:sp>
      <p:sp>
        <p:nvSpPr>
          <p:cNvPr id="22" name="Shape 20"/>
          <p:cNvSpPr/>
          <p:nvPr/>
        </p:nvSpPr>
        <p:spPr>
          <a:xfrm>
            <a:off x="315468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3" name="Shape 21"/>
          <p:cNvSpPr/>
          <p:nvPr/>
        </p:nvSpPr>
        <p:spPr>
          <a:xfrm>
            <a:off x="3154680" y="2971800"/>
            <a:ext cx="2651760" cy="54864"/>
          </a:xfrm>
          <a:prstGeom prst="rect">
            <a:avLst/>
          </a:prstGeom>
          <a:solidFill>
            <a:srgbClr val="1A3550"/>
          </a:solidFill>
          <a:ln w="12700">
            <a:solidFill>
              <a:srgbClr val="1A3550"/>
            </a:solidFill>
            <a:prstDash val="solid"/>
          </a:ln>
        </p:spPr>
      </p:sp>
      <p:sp>
        <p:nvSpPr>
          <p:cNvPr id="24" name="Text 22"/>
          <p:cNvSpPr/>
          <p:nvPr/>
        </p:nvSpPr>
        <p:spPr>
          <a:xfrm>
            <a:off x="3213608" y="3075941"/>
            <a:ext cx="2539492" cy="376275"/>
          </a:xfrm>
          <a:prstGeom prst="rect">
            <a:avLst/>
          </a:prstGeom>
          <a:noFill/>
          <a:ln/>
        </p:spPr>
        <p:txBody>
          <a:bodyPr wrap="square" lIns="0" tIns="0" rIns="0" bIns="0" rtlCol="0" anchor="ctr"/>
          <a:lstStyle/>
          <a:p>
            <a:pPr algn="ctr"/>
            <a:r>
              <a:rPr lang="pl-PL" b="1" spc="-60" dirty="0" err="1" smtClean="0">
                <a:solidFill>
                  <a:srgbClr val="0D1B2A"/>
                </a:solidFill>
                <a:latin typeface="Trebuchet MS" pitchFamily="34" charset="0"/>
                <a:ea typeface="Trebuchet MS" pitchFamily="34" charset="-122"/>
                <a:cs typeface="Trebuchet MS" pitchFamily="34" charset="-120"/>
              </a:rPr>
              <a:t>D</a:t>
            </a:r>
            <a:r>
              <a:rPr lang="en-US" b="1" spc="-60" dirty="0" err="1" smtClean="0">
                <a:solidFill>
                  <a:srgbClr val="0D1B2A"/>
                </a:solidFill>
                <a:latin typeface="Trebuchet MS" pitchFamily="34" charset="0"/>
                <a:ea typeface="Trebuchet MS" pitchFamily="34" charset="-122"/>
                <a:cs typeface="Trebuchet MS" pitchFamily="34" charset="-120"/>
              </a:rPr>
              <a:t>ynamiczne</a:t>
            </a:r>
            <a:r>
              <a:rPr lang="en-US" b="1" spc="-60" dirty="0" smtClean="0">
                <a:solidFill>
                  <a:srgbClr val="0D1B2A"/>
                </a:solidFill>
                <a:latin typeface="Trebuchet MS" pitchFamily="34" charset="0"/>
                <a:ea typeface="Trebuchet MS" pitchFamily="34" charset="-122"/>
                <a:cs typeface="Trebuchet MS" pitchFamily="34" charset="-120"/>
              </a:rPr>
              <a:t> </a:t>
            </a:r>
            <a:r>
              <a:rPr lang="pl-PL" b="1" spc="-60" dirty="0" smtClean="0">
                <a:solidFill>
                  <a:srgbClr val="0D1B2A"/>
                </a:solidFill>
                <a:latin typeface="Trebuchet MS" pitchFamily="34" charset="0"/>
                <a:ea typeface="Trebuchet MS" pitchFamily="34" charset="-122"/>
                <a:cs typeface="Trebuchet MS" pitchFamily="34" charset="-120"/>
              </a:rPr>
              <a:t>o</a:t>
            </a:r>
            <a:r>
              <a:rPr lang="en-US" b="1" spc="-60" dirty="0" err="1" smtClean="0">
                <a:solidFill>
                  <a:srgbClr val="0D1B2A"/>
                </a:solidFill>
                <a:latin typeface="Trebuchet MS" pitchFamily="34" charset="0"/>
                <a:ea typeface="Trebuchet MS" pitchFamily="34" charset="-122"/>
                <a:cs typeface="Trebuchet MS" pitchFamily="34" charset="-120"/>
              </a:rPr>
              <a:t>toczenie</a:t>
            </a:r>
            <a:endParaRPr lang="en-US" spc="-60" dirty="0"/>
          </a:p>
        </p:txBody>
      </p:sp>
      <p:sp>
        <p:nvSpPr>
          <p:cNvPr id="25" name="Text 23"/>
          <p:cNvSpPr/>
          <p:nvPr/>
        </p:nvSpPr>
        <p:spPr>
          <a:xfrm>
            <a:off x="3264408" y="3682289"/>
            <a:ext cx="2432304"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EKF + filtr cząsteczkowy; odrzucanie ruchomych obiektów ze skanów mapowania</a:t>
            </a:r>
            <a:endParaRPr lang="en-US" sz="1600" spc="-80" dirty="0"/>
          </a:p>
        </p:txBody>
      </p:sp>
      <p:sp>
        <p:nvSpPr>
          <p:cNvPr id="26" name="Shape 24"/>
          <p:cNvSpPr/>
          <p:nvPr/>
        </p:nvSpPr>
        <p:spPr>
          <a:xfrm>
            <a:off x="6035040" y="2971800"/>
            <a:ext cx="2651760" cy="16916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27" name="Shape 25"/>
          <p:cNvSpPr/>
          <p:nvPr/>
        </p:nvSpPr>
        <p:spPr>
          <a:xfrm>
            <a:off x="6035040" y="2971800"/>
            <a:ext cx="2651760" cy="54864"/>
          </a:xfrm>
          <a:prstGeom prst="rect">
            <a:avLst/>
          </a:prstGeom>
          <a:solidFill>
            <a:srgbClr val="F72585"/>
          </a:solidFill>
          <a:ln w="12700">
            <a:solidFill>
              <a:srgbClr val="F72585"/>
            </a:solidFill>
            <a:prstDash val="solid"/>
          </a:ln>
        </p:spPr>
      </p:sp>
      <p:sp>
        <p:nvSpPr>
          <p:cNvPr id="28" name="Text 26"/>
          <p:cNvSpPr/>
          <p:nvPr/>
        </p:nvSpPr>
        <p:spPr>
          <a:xfrm>
            <a:off x="6144768" y="3075941"/>
            <a:ext cx="2432304" cy="376275"/>
          </a:xfrm>
          <a:prstGeom prst="rect">
            <a:avLst/>
          </a:prstGeom>
          <a:noFill/>
          <a:ln/>
        </p:spPr>
        <p:txBody>
          <a:bodyPr wrap="square" lIns="0" tIns="0" rIns="0" bIns="0" rtlCol="0" anchor="ctr"/>
          <a:lstStyle/>
          <a:p>
            <a:pPr marL="0" indent="0" algn="ctr">
              <a:buNone/>
            </a:pPr>
            <a:r>
              <a:rPr lang="en-US" b="1" spc="-40" dirty="0" err="1" smtClean="0">
                <a:solidFill>
                  <a:srgbClr val="0D1B2A"/>
                </a:solidFill>
                <a:latin typeface="Trebuchet MS" pitchFamily="34" charset="0"/>
                <a:ea typeface="Trebuchet MS" pitchFamily="34" charset="-122"/>
                <a:cs typeface="Trebuchet MS" pitchFamily="34" charset="-120"/>
              </a:rPr>
              <a:t>Zewnętrzne</a:t>
            </a:r>
            <a:r>
              <a:rPr lang="pl-PL" b="1" spc="-40" dirty="0" smtClean="0">
                <a:solidFill>
                  <a:srgbClr val="0D1B2A"/>
                </a:solidFill>
                <a:latin typeface="Trebuchet MS" pitchFamily="34" charset="0"/>
                <a:ea typeface="Trebuchet MS" pitchFamily="34" charset="-122"/>
                <a:cs typeface="Trebuchet MS" pitchFamily="34" charset="-120"/>
              </a:rPr>
              <a:t> warunki</a:t>
            </a:r>
            <a:endParaRPr lang="en-US" spc="-40" dirty="0"/>
          </a:p>
        </p:txBody>
      </p:sp>
      <p:sp>
        <p:nvSpPr>
          <p:cNvPr id="29" name="Text 27"/>
          <p:cNvSpPr/>
          <p:nvPr/>
        </p:nvSpPr>
        <p:spPr>
          <a:xfrm>
            <a:off x="6062218" y="3682289"/>
            <a:ext cx="2599182" cy="930402"/>
          </a:xfrm>
          <a:prstGeom prst="rect">
            <a:avLst/>
          </a:prstGeom>
          <a:noFill/>
          <a:ln/>
        </p:spPr>
        <p:txBody>
          <a:bodyPr wrap="square" lIns="0" tIns="0" rIns="0" bIns="0" rtlCol="0" anchor="ctr"/>
          <a:lstStyle/>
          <a:p>
            <a:pPr marL="0" indent="0" algn="ctr">
              <a:buNone/>
            </a:pPr>
            <a:r>
              <a:rPr lang="en-US" sz="1600" spc="-80" dirty="0">
                <a:solidFill>
                  <a:srgbClr val="475569"/>
                </a:solidFill>
                <a:latin typeface="Calibri" pitchFamily="34" charset="0"/>
                <a:ea typeface="Calibri" pitchFamily="34" charset="-122"/>
                <a:cs typeface="Calibri" pitchFamily="34" charset="-120"/>
              </a:rPr>
              <a:t>GPS + IMU (EKF) jako baza;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smtClean="0">
                <a:solidFill>
                  <a:srgbClr val="475569"/>
                </a:solidFill>
                <a:latin typeface="Calibri" pitchFamily="34" charset="0"/>
                <a:ea typeface="Calibri" pitchFamily="34" charset="-122"/>
                <a:cs typeface="Calibri" pitchFamily="34" charset="-120"/>
              </a:rPr>
              <a:t>LiDAR </a:t>
            </a:r>
            <a:r>
              <a:rPr lang="en-US" sz="1600" spc="-80" dirty="0">
                <a:solidFill>
                  <a:srgbClr val="475569"/>
                </a:solidFill>
                <a:latin typeface="Calibri" pitchFamily="34" charset="0"/>
                <a:ea typeface="Calibri" pitchFamily="34" charset="-122"/>
                <a:cs typeface="Calibri" pitchFamily="34" charset="-120"/>
              </a:rPr>
              <a:t>do refinement; </a:t>
            </a:r>
            <a:r>
              <a:rPr lang="pl-PL" sz="1600" spc="-80" dirty="0" smtClean="0">
                <a:solidFill>
                  <a:srgbClr val="475569"/>
                </a:solidFill>
                <a:latin typeface="Calibri" pitchFamily="34" charset="0"/>
                <a:ea typeface="Calibri" pitchFamily="34" charset="-122"/>
                <a:cs typeface="Calibri" pitchFamily="34" charset="-120"/>
              </a:rPr>
              <a:t/>
            </a:r>
            <a:br>
              <a:rPr lang="pl-PL" sz="1600" spc="-80" dirty="0" smtClean="0">
                <a:solidFill>
                  <a:srgbClr val="475569"/>
                </a:solidFill>
                <a:latin typeface="Calibri" pitchFamily="34" charset="0"/>
                <a:ea typeface="Calibri" pitchFamily="34" charset="-122"/>
                <a:cs typeface="Calibri" pitchFamily="34" charset="-120"/>
              </a:rPr>
            </a:br>
            <a:r>
              <a:rPr lang="en-US" sz="1600" spc="-80" dirty="0" err="1" smtClean="0">
                <a:solidFill>
                  <a:srgbClr val="475569"/>
                </a:solidFill>
                <a:latin typeface="Calibri" pitchFamily="34" charset="0"/>
                <a:ea typeface="Calibri" pitchFamily="34" charset="-122"/>
                <a:cs typeface="Calibri" pitchFamily="34" charset="-120"/>
              </a:rPr>
              <a:t>odporność</a:t>
            </a:r>
            <a:r>
              <a:rPr lang="en-US" sz="1600" spc="-80" dirty="0" smtClean="0">
                <a:solidFill>
                  <a:srgbClr val="475569"/>
                </a:solidFill>
                <a:latin typeface="Calibri" pitchFamily="34" charset="0"/>
                <a:ea typeface="Calibri" pitchFamily="34" charset="-122"/>
                <a:cs typeface="Calibri" pitchFamily="34" charset="-120"/>
              </a:rPr>
              <a:t> </a:t>
            </a:r>
            <a:r>
              <a:rPr lang="en-US" sz="1600" spc="-80" dirty="0">
                <a:solidFill>
                  <a:srgbClr val="475569"/>
                </a:solidFill>
                <a:latin typeface="Calibri" pitchFamily="34" charset="0"/>
                <a:ea typeface="Calibri" pitchFamily="34" charset="-122"/>
                <a:cs typeface="Calibri" pitchFamily="34" charset="-120"/>
              </a:rPr>
              <a:t>na warunki pogodowe</a:t>
            </a:r>
            <a:endParaRPr lang="en-US" sz="1600" spc="-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54864"/>
          </a:xfrm>
          <a:prstGeom prst="rect">
            <a:avLst/>
          </a:prstGeom>
          <a:solidFill>
            <a:srgbClr val="00B4D8"/>
          </a:solidFill>
          <a:ln w="12700">
            <a:solidFill>
              <a:srgbClr val="00B4D8"/>
            </a:solidFill>
            <a:prstDash val="solid"/>
          </a:ln>
        </p:spPr>
      </p:sp>
      <p:sp>
        <p:nvSpPr>
          <p:cNvPr id="4" name="Text 2"/>
          <p:cNvSpPr/>
          <p:nvPr/>
        </p:nvSpPr>
        <p:spPr>
          <a:xfrm>
            <a:off x="320040" y="457200"/>
            <a:ext cx="8503920" cy="502920"/>
          </a:xfrm>
          <a:prstGeom prst="rect">
            <a:avLst/>
          </a:prstGeom>
          <a:noFill/>
          <a:ln/>
        </p:spPr>
        <p:txBody>
          <a:bodyPr wrap="square" lIns="0" tIns="0" rIns="0" bIns="0" rtlCol="0" anchor="ctr"/>
          <a:lstStyle/>
          <a:p>
            <a:pPr marL="0" indent="0" algn="ctr">
              <a:buNone/>
            </a:pPr>
            <a:r>
              <a:rPr lang="en-US" sz="2800" b="1" dirty="0" smtClean="0">
                <a:solidFill>
                  <a:srgbClr val="FFFFFF"/>
                </a:solidFill>
                <a:latin typeface="Trebuchet MS" pitchFamily="34" charset="0"/>
                <a:ea typeface="Trebuchet MS" pitchFamily="34" charset="-122"/>
                <a:cs typeface="Trebuchet MS" pitchFamily="34" charset="-120"/>
              </a:rPr>
              <a:t>PODSUMOWANIE</a:t>
            </a:r>
            <a:endParaRPr lang="en-US" sz="2800" dirty="0"/>
          </a:p>
        </p:txBody>
      </p:sp>
      <p:sp>
        <p:nvSpPr>
          <p:cNvPr id="5" name="Shape 3"/>
          <p:cNvSpPr/>
          <p:nvPr/>
        </p:nvSpPr>
        <p:spPr>
          <a:xfrm>
            <a:off x="2743200" y="1005840"/>
            <a:ext cx="3657600" cy="36576"/>
          </a:xfrm>
          <a:prstGeom prst="rect">
            <a:avLst/>
          </a:prstGeom>
          <a:solidFill>
            <a:srgbClr val="00B4D8"/>
          </a:solidFill>
          <a:ln w="12700">
            <a:solidFill>
              <a:srgbClr val="00B4D8"/>
            </a:solidFill>
            <a:prstDash val="solid"/>
          </a:ln>
        </p:spPr>
      </p:sp>
      <p:sp>
        <p:nvSpPr>
          <p:cNvPr id="6" name="Shape 4"/>
          <p:cNvSpPr/>
          <p:nvPr/>
        </p:nvSpPr>
        <p:spPr>
          <a:xfrm>
            <a:off x="365760" y="1188720"/>
            <a:ext cx="502920" cy="502920"/>
          </a:xfrm>
          <a:prstGeom prst="ellipse">
            <a:avLst/>
          </a:prstGeom>
          <a:solidFill>
            <a:srgbClr val="00B4D8"/>
          </a:solidFill>
          <a:ln w="12700">
            <a:solidFill>
              <a:srgbClr val="00B4D8"/>
            </a:solidFill>
            <a:prstDash val="solid"/>
          </a:ln>
        </p:spPr>
      </p:sp>
      <p:sp>
        <p:nvSpPr>
          <p:cNvPr id="7" name="Text 5"/>
          <p:cNvSpPr/>
          <p:nvPr/>
        </p:nvSpPr>
        <p:spPr>
          <a:xfrm>
            <a:off x="365760" y="1188720"/>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01</a:t>
            </a:r>
            <a:endParaRPr lang="en-US" dirty="0"/>
          </a:p>
        </p:txBody>
      </p:sp>
      <p:sp>
        <p:nvSpPr>
          <p:cNvPr id="8" name="Text 6"/>
          <p:cNvSpPr/>
          <p:nvPr/>
        </p:nvSpPr>
        <p:spPr>
          <a:xfrm>
            <a:off x="1005840" y="1164590"/>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Dryft odometrii jest nieunikniony – konieczna jest korekta z zewnętrznych sensorów </a:t>
            </a:r>
            <a:r>
              <a:rPr lang="en-US" sz="1600" spc="-50" dirty="0" err="1">
                <a:solidFill>
                  <a:srgbClr val="E2EBF3"/>
                </a:solidFill>
                <a:latin typeface="Calibri" pitchFamily="34" charset="0"/>
                <a:ea typeface="Calibri" pitchFamily="34" charset="-122"/>
                <a:cs typeface="Calibri" pitchFamily="34" charset="-120"/>
              </a:rPr>
              <a:t>lub</a:t>
            </a:r>
            <a:r>
              <a:rPr lang="en-US" sz="1600" spc="-50" dirty="0">
                <a:solidFill>
                  <a:srgbClr val="E2EBF3"/>
                </a:solidFill>
                <a:latin typeface="Calibri" pitchFamily="34" charset="0"/>
                <a:ea typeface="Calibri" pitchFamily="34" charset="-122"/>
                <a:cs typeface="Calibri" pitchFamily="34" charset="-120"/>
              </a:rPr>
              <a:t> </a:t>
            </a:r>
            <a:r>
              <a:rPr lang="en-US" sz="1600" spc="-50" dirty="0" smtClean="0">
                <a:solidFill>
                  <a:srgbClr val="E2EBF3"/>
                </a:solidFill>
                <a:latin typeface="Calibri" pitchFamily="34" charset="0"/>
                <a:ea typeface="Calibri" pitchFamily="34" charset="-122"/>
                <a:cs typeface="Calibri" pitchFamily="34" charset="-120"/>
              </a:rPr>
              <a:t>SLAM</a:t>
            </a:r>
            <a:endParaRPr lang="en-US" sz="1600" spc="-50" dirty="0"/>
          </a:p>
        </p:txBody>
      </p:sp>
      <p:sp>
        <p:nvSpPr>
          <p:cNvPr id="9" name="Shape 7"/>
          <p:cNvSpPr/>
          <p:nvPr/>
        </p:nvSpPr>
        <p:spPr>
          <a:xfrm>
            <a:off x="365760" y="1947672"/>
            <a:ext cx="502920" cy="502920"/>
          </a:xfrm>
          <a:prstGeom prst="ellipse">
            <a:avLst/>
          </a:prstGeom>
          <a:solidFill>
            <a:srgbClr val="00B4D8"/>
          </a:solidFill>
          <a:ln w="12700">
            <a:solidFill>
              <a:srgbClr val="00B4D8"/>
            </a:solidFill>
            <a:prstDash val="solid"/>
          </a:ln>
        </p:spPr>
      </p:sp>
      <p:sp>
        <p:nvSpPr>
          <p:cNvPr id="10" name="Text 8"/>
          <p:cNvSpPr/>
          <p:nvPr/>
        </p:nvSpPr>
        <p:spPr>
          <a:xfrm>
            <a:off x="365760" y="1947672"/>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02</a:t>
            </a:r>
            <a:endParaRPr lang="en-US" dirty="0"/>
          </a:p>
        </p:txBody>
      </p:sp>
      <p:sp>
        <p:nvSpPr>
          <p:cNvPr id="11" name="Text 9"/>
          <p:cNvSpPr/>
          <p:nvPr/>
        </p:nvSpPr>
        <p:spPr>
          <a:xfrm>
            <a:off x="1005840" y="1923542"/>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Filtr Kalmana (EKF/UKF) to złoty standard fuzji IMU, enkoderów i </a:t>
            </a:r>
            <a:r>
              <a:rPr lang="en-US" sz="1600" spc="-50" dirty="0" err="1">
                <a:solidFill>
                  <a:srgbClr val="E2EBF3"/>
                </a:solidFill>
                <a:latin typeface="Calibri" pitchFamily="34" charset="0"/>
                <a:ea typeface="Calibri" pitchFamily="34" charset="-122"/>
                <a:cs typeface="Calibri" pitchFamily="34" charset="-120"/>
              </a:rPr>
              <a:t>danych</a:t>
            </a:r>
            <a:r>
              <a:rPr lang="en-US" sz="1600" spc="-50" dirty="0">
                <a:solidFill>
                  <a:srgbClr val="E2EBF3"/>
                </a:solidFill>
                <a:latin typeface="Calibri" pitchFamily="34" charset="0"/>
                <a:ea typeface="Calibri" pitchFamily="34" charset="-122"/>
                <a:cs typeface="Calibri" pitchFamily="34" charset="-120"/>
              </a:rPr>
              <a:t> </a:t>
            </a:r>
            <a:r>
              <a:rPr lang="en-US" sz="1600" spc="-50" dirty="0" err="1" smtClean="0">
                <a:solidFill>
                  <a:srgbClr val="E2EBF3"/>
                </a:solidFill>
                <a:latin typeface="Calibri" pitchFamily="34" charset="0"/>
                <a:ea typeface="Calibri" pitchFamily="34" charset="-122"/>
                <a:cs typeface="Calibri" pitchFamily="34" charset="-120"/>
              </a:rPr>
              <a:t>wizyjnych</a:t>
            </a:r>
            <a:endParaRPr lang="en-US" sz="1600" spc="-50" dirty="0"/>
          </a:p>
        </p:txBody>
      </p:sp>
      <p:sp>
        <p:nvSpPr>
          <p:cNvPr id="12" name="Shape 10"/>
          <p:cNvSpPr/>
          <p:nvPr/>
        </p:nvSpPr>
        <p:spPr>
          <a:xfrm>
            <a:off x="365760" y="2706624"/>
            <a:ext cx="502920" cy="502920"/>
          </a:xfrm>
          <a:prstGeom prst="ellipse">
            <a:avLst/>
          </a:prstGeom>
          <a:solidFill>
            <a:srgbClr val="00B4D8"/>
          </a:solidFill>
          <a:ln w="12700">
            <a:solidFill>
              <a:srgbClr val="00B4D8"/>
            </a:solidFill>
            <a:prstDash val="solid"/>
          </a:ln>
        </p:spPr>
      </p:sp>
      <p:sp>
        <p:nvSpPr>
          <p:cNvPr id="13" name="Text 11"/>
          <p:cNvSpPr/>
          <p:nvPr/>
        </p:nvSpPr>
        <p:spPr>
          <a:xfrm>
            <a:off x="365760" y="2706624"/>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03</a:t>
            </a:r>
            <a:endParaRPr lang="en-US" dirty="0"/>
          </a:p>
        </p:txBody>
      </p:sp>
      <p:sp>
        <p:nvSpPr>
          <p:cNvPr id="14" name="Text 12"/>
          <p:cNvSpPr/>
          <p:nvPr/>
        </p:nvSpPr>
        <p:spPr>
          <a:xfrm>
            <a:off x="1005840" y="2682494"/>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Filtr cząsteczkowy radzi sobie z wielomodalnością, lecz wymaga większych </a:t>
            </a:r>
            <a:r>
              <a:rPr lang="en-US" sz="1600" spc="-50" dirty="0" err="1">
                <a:solidFill>
                  <a:srgbClr val="E2EBF3"/>
                </a:solidFill>
                <a:latin typeface="Calibri" pitchFamily="34" charset="0"/>
                <a:ea typeface="Calibri" pitchFamily="34" charset="-122"/>
                <a:cs typeface="Calibri" pitchFamily="34" charset="-120"/>
              </a:rPr>
              <a:t>zasobów</a:t>
            </a:r>
            <a:r>
              <a:rPr lang="en-US" sz="1600" spc="-50" dirty="0">
                <a:solidFill>
                  <a:srgbClr val="E2EBF3"/>
                </a:solidFill>
                <a:latin typeface="Calibri" pitchFamily="34" charset="0"/>
                <a:ea typeface="Calibri" pitchFamily="34" charset="-122"/>
                <a:cs typeface="Calibri" pitchFamily="34" charset="-120"/>
              </a:rPr>
              <a:t> </a:t>
            </a:r>
            <a:r>
              <a:rPr lang="en-US" sz="1600" spc="-50" dirty="0" err="1" smtClean="0">
                <a:solidFill>
                  <a:srgbClr val="E2EBF3"/>
                </a:solidFill>
                <a:latin typeface="Calibri" pitchFamily="34" charset="0"/>
                <a:ea typeface="Calibri" pitchFamily="34" charset="-122"/>
                <a:cs typeface="Calibri" pitchFamily="34" charset="-120"/>
              </a:rPr>
              <a:t>obliczeniowych</a:t>
            </a:r>
            <a:endParaRPr lang="en-US" sz="1600" spc="-50" dirty="0"/>
          </a:p>
        </p:txBody>
      </p:sp>
      <p:sp>
        <p:nvSpPr>
          <p:cNvPr id="15" name="Shape 13"/>
          <p:cNvSpPr/>
          <p:nvPr/>
        </p:nvSpPr>
        <p:spPr>
          <a:xfrm>
            <a:off x="365760" y="3465576"/>
            <a:ext cx="502920" cy="502920"/>
          </a:xfrm>
          <a:prstGeom prst="ellipse">
            <a:avLst/>
          </a:prstGeom>
          <a:solidFill>
            <a:srgbClr val="00B4D8"/>
          </a:solidFill>
          <a:ln w="12700">
            <a:solidFill>
              <a:srgbClr val="00B4D8"/>
            </a:solidFill>
            <a:prstDash val="solid"/>
          </a:ln>
        </p:spPr>
      </p:sp>
      <p:sp>
        <p:nvSpPr>
          <p:cNvPr id="16" name="Text 14"/>
          <p:cNvSpPr/>
          <p:nvPr/>
        </p:nvSpPr>
        <p:spPr>
          <a:xfrm>
            <a:off x="365760" y="3465576"/>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04</a:t>
            </a:r>
            <a:endParaRPr lang="en-US" dirty="0"/>
          </a:p>
        </p:txBody>
      </p:sp>
      <p:sp>
        <p:nvSpPr>
          <p:cNvPr id="17" name="Text 15"/>
          <p:cNvSpPr/>
          <p:nvPr/>
        </p:nvSpPr>
        <p:spPr>
          <a:xfrm>
            <a:off x="1005840" y="3441446"/>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SLAM </a:t>
            </a:r>
            <a:r>
              <a:rPr lang="pl-PL" sz="1600" spc="-50" dirty="0" smtClean="0">
                <a:solidFill>
                  <a:srgbClr val="E2EBF3"/>
                </a:solidFill>
                <a:latin typeface="Calibri" pitchFamily="34" charset="0"/>
                <a:ea typeface="Calibri" pitchFamily="34" charset="-122"/>
                <a:cs typeface="Calibri" pitchFamily="34" charset="-120"/>
              </a:rPr>
              <a:t>(</a:t>
            </a:r>
            <a:r>
              <a:rPr lang="en-US" sz="1600" spc="-50" dirty="0" err="1" smtClean="0">
                <a:solidFill>
                  <a:srgbClr val="E2EBF3"/>
                </a:solidFill>
                <a:latin typeface="Calibri" pitchFamily="34" charset="0"/>
                <a:ea typeface="Calibri" pitchFamily="34" charset="-122"/>
                <a:cs typeface="Calibri" pitchFamily="34" charset="-120"/>
              </a:rPr>
              <a:t>jednoczesne</a:t>
            </a:r>
            <a:r>
              <a:rPr lang="en-US" sz="1600" spc="-50" dirty="0" smtClean="0">
                <a:solidFill>
                  <a:srgbClr val="E2EBF3"/>
                </a:solidFill>
                <a:latin typeface="Calibri" pitchFamily="34" charset="0"/>
                <a:ea typeface="Calibri" pitchFamily="34" charset="-122"/>
                <a:cs typeface="Calibri" pitchFamily="34" charset="-120"/>
              </a:rPr>
              <a:t> </a:t>
            </a:r>
            <a:r>
              <a:rPr lang="en-US" sz="1600" spc="-50" dirty="0">
                <a:solidFill>
                  <a:srgbClr val="E2EBF3"/>
                </a:solidFill>
                <a:latin typeface="Calibri" pitchFamily="34" charset="0"/>
                <a:ea typeface="Calibri" pitchFamily="34" charset="-122"/>
                <a:cs typeface="Calibri" pitchFamily="34" charset="-120"/>
              </a:rPr>
              <a:t>mapowanie </a:t>
            </a:r>
            <a:r>
              <a:rPr lang="en-US" sz="1600" spc="-50" dirty="0" err="1">
                <a:solidFill>
                  <a:srgbClr val="E2EBF3"/>
                </a:solidFill>
                <a:latin typeface="Calibri" pitchFamily="34" charset="0"/>
                <a:ea typeface="Calibri" pitchFamily="34" charset="-122"/>
                <a:cs typeface="Calibri" pitchFamily="34" charset="-120"/>
              </a:rPr>
              <a:t>i</a:t>
            </a:r>
            <a:r>
              <a:rPr lang="en-US" sz="1600" spc="-50" dirty="0">
                <a:solidFill>
                  <a:srgbClr val="E2EBF3"/>
                </a:solidFill>
                <a:latin typeface="Calibri" pitchFamily="34" charset="0"/>
                <a:ea typeface="Calibri" pitchFamily="34" charset="-122"/>
                <a:cs typeface="Calibri" pitchFamily="34" charset="-120"/>
              </a:rPr>
              <a:t> </a:t>
            </a:r>
            <a:r>
              <a:rPr lang="en-US" sz="1600" spc="-50" dirty="0" err="1" smtClean="0">
                <a:solidFill>
                  <a:srgbClr val="E2EBF3"/>
                </a:solidFill>
                <a:latin typeface="Calibri" pitchFamily="34" charset="0"/>
                <a:ea typeface="Calibri" pitchFamily="34" charset="-122"/>
                <a:cs typeface="Calibri" pitchFamily="34" charset="-120"/>
              </a:rPr>
              <a:t>lokalizacja</a:t>
            </a:r>
            <a:r>
              <a:rPr lang="pl-PL" sz="1600" spc="-50" dirty="0" smtClean="0">
                <a:solidFill>
                  <a:srgbClr val="E2EBF3"/>
                </a:solidFill>
                <a:latin typeface="Calibri" pitchFamily="34" charset="0"/>
                <a:ea typeface="Calibri" pitchFamily="34" charset="-122"/>
                <a:cs typeface="Calibri" pitchFamily="34" charset="-120"/>
              </a:rPr>
              <a:t>)</a:t>
            </a:r>
            <a:r>
              <a:rPr lang="en-US" sz="1600" spc="-50" dirty="0" smtClean="0">
                <a:solidFill>
                  <a:srgbClr val="E2EBF3"/>
                </a:solidFill>
                <a:latin typeface="Calibri" pitchFamily="34" charset="0"/>
                <a:ea typeface="Calibri" pitchFamily="34" charset="-122"/>
                <a:cs typeface="Calibri" pitchFamily="34" charset="-120"/>
              </a:rPr>
              <a:t> </a:t>
            </a:r>
            <a:r>
              <a:rPr lang="en-US" sz="1600" spc="-50" dirty="0">
                <a:solidFill>
                  <a:srgbClr val="E2EBF3"/>
                </a:solidFill>
                <a:latin typeface="Calibri" pitchFamily="34" charset="0"/>
                <a:ea typeface="Calibri" pitchFamily="34" charset="-122"/>
                <a:cs typeface="Calibri" pitchFamily="34" charset="-120"/>
              </a:rPr>
              <a:t>– pozwala robotowi budować i korygować mapę w </a:t>
            </a:r>
            <a:r>
              <a:rPr lang="en-US" sz="1600" spc="-50" dirty="0" err="1" smtClean="0">
                <a:solidFill>
                  <a:srgbClr val="E2EBF3"/>
                </a:solidFill>
                <a:latin typeface="Calibri" pitchFamily="34" charset="0"/>
                <a:ea typeface="Calibri" pitchFamily="34" charset="-122"/>
                <a:cs typeface="Calibri" pitchFamily="34" charset="-120"/>
              </a:rPr>
              <a:t>locie</a:t>
            </a:r>
            <a:endParaRPr lang="en-US" sz="1600" spc="-50" dirty="0"/>
          </a:p>
        </p:txBody>
      </p:sp>
      <p:sp>
        <p:nvSpPr>
          <p:cNvPr id="18" name="Shape 16"/>
          <p:cNvSpPr/>
          <p:nvPr/>
        </p:nvSpPr>
        <p:spPr>
          <a:xfrm>
            <a:off x="365760" y="4224528"/>
            <a:ext cx="502920" cy="502920"/>
          </a:xfrm>
          <a:prstGeom prst="ellipse">
            <a:avLst/>
          </a:prstGeom>
          <a:solidFill>
            <a:srgbClr val="00B4D8"/>
          </a:solidFill>
          <a:ln w="12700">
            <a:solidFill>
              <a:srgbClr val="00B4D8"/>
            </a:solidFill>
            <a:prstDash val="solid"/>
          </a:ln>
        </p:spPr>
      </p:sp>
      <p:sp>
        <p:nvSpPr>
          <p:cNvPr id="19" name="Text 17"/>
          <p:cNvSpPr/>
          <p:nvPr/>
        </p:nvSpPr>
        <p:spPr>
          <a:xfrm>
            <a:off x="365760" y="4224528"/>
            <a:ext cx="502920" cy="502920"/>
          </a:xfrm>
          <a:prstGeom prst="rect">
            <a:avLst/>
          </a:prstGeom>
          <a:noFill/>
          <a:ln/>
        </p:spPr>
        <p:txBody>
          <a:bodyPr wrap="square" lIns="0" tIns="0" rIns="0" bIns="0" rtlCol="0" anchor="ctr"/>
          <a:lstStyle/>
          <a:p>
            <a:pPr marL="0" indent="0" algn="ctr">
              <a:buNone/>
            </a:pPr>
            <a:r>
              <a:rPr lang="en-US" b="1" dirty="0">
                <a:solidFill>
                  <a:srgbClr val="0D1B2A"/>
                </a:solidFill>
                <a:latin typeface="Trebuchet MS" pitchFamily="34" charset="0"/>
                <a:ea typeface="Trebuchet MS" pitchFamily="34" charset="-122"/>
                <a:cs typeface="Trebuchet MS" pitchFamily="34" charset="-120"/>
              </a:rPr>
              <a:t>05</a:t>
            </a:r>
            <a:endParaRPr lang="en-US" dirty="0"/>
          </a:p>
        </p:txBody>
      </p:sp>
      <p:sp>
        <p:nvSpPr>
          <p:cNvPr id="20" name="Text 18"/>
          <p:cNvSpPr/>
          <p:nvPr/>
        </p:nvSpPr>
        <p:spPr>
          <a:xfrm>
            <a:off x="1005840" y="4200398"/>
            <a:ext cx="7863840" cy="502920"/>
          </a:xfrm>
          <a:prstGeom prst="rect">
            <a:avLst/>
          </a:prstGeom>
          <a:noFill/>
          <a:ln/>
        </p:spPr>
        <p:txBody>
          <a:bodyPr wrap="square" lIns="0" tIns="0" rIns="0" bIns="0" rtlCol="0" anchor="ctr"/>
          <a:lstStyle/>
          <a:p>
            <a:pPr marL="0" indent="0">
              <a:buNone/>
            </a:pPr>
            <a:r>
              <a:rPr lang="en-US" sz="1600" spc="-50" dirty="0">
                <a:solidFill>
                  <a:srgbClr val="E2EBF3"/>
                </a:solidFill>
                <a:latin typeface="Calibri" pitchFamily="34" charset="0"/>
                <a:ea typeface="Calibri" pitchFamily="34" charset="-122"/>
                <a:cs typeface="Calibri" pitchFamily="34" charset="-120"/>
              </a:rPr>
              <a:t>Domykanie pętli eliminuje skumulowany dryft; awarię sensora wykrywa się przez test </a:t>
            </a:r>
            <a:r>
              <a:rPr lang="en-US" sz="1600" spc="-50" dirty="0" err="1" smtClean="0">
                <a:solidFill>
                  <a:srgbClr val="E2EBF3"/>
                </a:solidFill>
                <a:latin typeface="Calibri" pitchFamily="34" charset="0"/>
                <a:ea typeface="Calibri" pitchFamily="34" charset="-122"/>
                <a:cs typeface="Calibri" pitchFamily="34" charset="-120"/>
              </a:rPr>
              <a:t>innowacji</a:t>
            </a:r>
            <a:endParaRPr lang="en-US" sz="1600" spc="-5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0B4D8"/>
          </a:solidFill>
          <a:ln w="12700">
            <a:solidFill>
              <a:srgbClr val="00B4D8"/>
            </a:solidFill>
            <a:prstDash val="solid"/>
          </a:ln>
        </p:spPr>
      </p:sp>
      <p:sp>
        <p:nvSpPr>
          <p:cNvPr id="3" name="Shape 1"/>
          <p:cNvSpPr/>
          <p:nvPr/>
        </p:nvSpPr>
        <p:spPr>
          <a:xfrm>
            <a:off x="64008" y="0"/>
            <a:ext cx="9079992" cy="960120"/>
          </a:xfrm>
          <a:prstGeom prst="rect">
            <a:avLst/>
          </a:prstGeom>
          <a:solidFill>
            <a:srgbClr val="0D1B2A"/>
          </a:solidFill>
          <a:ln w="12700">
            <a:solidFill>
              <a:srgbClr val="0D1B2A"/>
            </a:solidFill>
            <a:prstDash val="solid"/>
          </a:ln>
        </p:spPr>
      </p:sp>
      <p:sp>
        <p:nvSpPr>
          <p:cNvPr id="4" name="Text 2"/>
          <p:cNvSpPr/>
          <p:nvPr/>
        </p:nvSpPr>
        <p:spPr>
          <a:xfrm>
            <a:off x="228600" y="73152"/>
            <a:ext cx="4572000" cy="274320"/>
          </a:xfrm>
          <a:prstGeom prst="rect">
            <a:avLst/>
          </a:prstGeom>
          <a:noFill/>
          <a:ln/>
        </p:spPr>
        <p:txBody>
          <a:bodyPr wrap="square" lIns="0" tIns="0" rIns="0" bIns="0" rtlCol="0" anchor="ctr"/>
          <a:lstStyle/>
          <a:p>
            <a:pPr marL="0" indent="0">
              <a:buNone/>
            </a:pPr>
            <a:r>
              <a:rPr lang="en-US" sz="900" b="1" kern="0" spc="200" dirty="0">
                <a:solidFill>
                  <a:srgbClr val="00B4D8"/>
                </a:solidFill>
                <a:latin typeface="Trebuchet MS" pitchFamily="34" charset="0"/>
                <a:ea typeface="Trebuchet MS" pitchFamily="34" charset="-122"/>
                <a:cs typeface="Trebuchet MS" pitchFamily="34" charset="-120"/>
              </a:rPr>
              <a:t>PYTANIA I ZADANIE</a:t>
            </a:r>
            <a:endParaRPr lang="en-US" sz="900" dirty="0"/>
          </a:p>
        </p:txBody>
      </p:sp>
      <p:sp>
        <p:nvSpPr>
          <p:cNvPr id="5" name="Text 3"/>
          <p:cNvSpPr/>
          <p:nvPr/>
        </p:nvSpPr>
        <p:spPr>
          <a:xfrm>
            <a:off x="228600" y="274320"/>
            <a:ext cx="86868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Pytania i mini-studium przypadku</a:t>
            </a:r>
            <a:endParaRPr lang="en-US" sz="2800" dirty="0"/>
          </a:p>
        </p:txBody>
      </p:sp>
      <p:sp>
        <p:nvSpPr>
          <p:cNvPr id="6" name="Shape 4"/>
          <p:cNvSpPr/>
          <p:nvPr/>
        </p:nvSpPr>
        <p:spPr>
          <a:xfrm>
            <a:off x="274320" y="1097280"/>
            <a:ext cx="8595360" cy="3749040"/>
          </a:xfrm>
          <a:prstGeom prst="rect">
            <a:avLst/>
          </a:prstGeom>
          <a:solidFill>
            <a:srgbClr val="FFFFFF"/>
          </a:solidFill>
          <a:ln w="12700">
            <a:solidFill>
              <a:srgbClr val="E2EBF3"/>
            </a:solidFill>
            <a:prstDash val="solid"/>
          </a:ln>
          <a:effectLst>
            <a:outerShdw blurRad="76200" dist="25400" dir="8100000" algn="bl" rotWithShape="0">
              <a:srgbClr val="000000">
                <a:alpha val="12000"/>
              </a:srgbClr>
            </a:outerShdw>
          </a:effectLst>
        </p:spPr>
      </p:sp>
      <p:sp>
        <p:nvSpPr>
          <p:cNvPr id="7" name="Text 5"/>
          <p:cNvSpPr/>
          <p:nvPr/>
        </p:nvSpPr>
        <p:spPr>
          <a:xfrm>
            <a:off x="457200" y="1188720"/>
            <a:ext cx="8229600" cy="3520440"/>
          </a:xfrm>
          <a:prstGeom prst="rect">
            <a:avLst/>
          </a:prstGeom>
          <a:noFill/>
          <a:ln/>
        </p:spPr>
        <p:txBody>
          <a:bodyPr wrap="square" lIns="127000" tIns="127000" rIns="127000" bIns="127000" rtlCol="0" anchor="t"/>
          <a:lstStyle/>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Dlaczego filtr komplementarny nie może zastąpić EKF w pełnym systemie lokalizacji?</a:t>
            </a:r>
            <a:endParaRPr lang="en-US" sz="1600" spc="-40" dirty="0"/>
          </a:p>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Jak wzmocnienie Kalmana K zmienia się, gdy macierz szumu pomiaru R jest bardzo duża?</a:t>
            </a:r>
            <a:endParaRPr lang="en-US" sz="1600" spc="-40" dirty="0"/>
          </a:p>
          <a:p>
            <a:pPr marL="216000" indent="-216000">
              <a:spcAft>
                <a:spcPts val="900"/>
              </a:spcAft>
              <a:buSzPct val="100000"/>
              <a:buChar char="•"/>
            </a:pPr>
            <a:r>
              <a:rPr lang="en-US" sz="1600" spc="-40" dirty="0">
                <a:solidFill>
                  <a:srgbClr val="0D1B2A"/>
                </a:solidFill>
                <a:latin typeface="Calibri" pitchFamily="34" charset="0"/>
                <a:ea typeface="Calibri" pitchFamily="34" charset="-122"/>
                <a:cs typeface="Calibri" pitchFamily="34" charset="-120"/>
              </a:rPr>
              <a:t>Co to jest NIS (Normalized Innovation Squared) i jak wykrywa awarię sensora?</a:t>
            </a:r>
            <a:endParaRPr lang="en-US" sz="1600" spc="-40" dirty="0"/>
          </a:p>
          <a:p>
            <a:pPr marL="216000" indent="-216000">
              <a:spcAft>
                <a:spcPts val="900"/>
              </a:spcAft>
              <a:buSzPct val="100000"/>
              <a:buChar char="•"/>
            </a:pPr>
            <a:r>
              <a:rPr lang="en-US" sz="1600" spc="-60" dirty="0" err="1" smtClean="0">
                <a:solidFill>
                  <a:srgbClr val="0D1B2A"/>
                </a:solidFill>
                <a:latin typeface="Calibri" pitchFamily="34" charset="0"/>
                <a:ea typeface="Calibri" pitchFamily="34" charset="-122"/>
                <a:cs typeface="Calibri" pitchFamily="34" charset="-120"/>
              </a:rPr>
              <a:t>Opisz</a:t>
            </a:r>
            <a:r>
              <a:rPr lang="en-US" sz="1600" spc="-60" dirty="0">
                <a:solidFill>
                  <a:srgbClr val="0D1B2A"/>
                </a:solidFill>
                <a:latin typeface="Calibri" pitchFamily="34" charset="0"/>
                <a:ea typeface="Calibri" pitchFamily="34" charset="-122"/>
                <a:cs typeface="Calibri" pitchFamily="34" charset="-120"/>
              </a:rPr>
              <a:t>, jakie sensory i jakie filtry </a:t>
            </a:r>
            <a:r>
              <a:rPr lang="en-US" sz="1600" spc="-60" dirty="0" err="1">
                <a:solidFill>
                  <a:srgbClr val="0D1B2A"/>
                </a:solidFill>
                <a:latin typeface="Calibri" pitchFamily="34" charset="0"/>
                <a:ea typeface="Calibri" pitchFamily="34" charset="-122"/>
                <a:cs typeface="Calibri" pitchFamily="34" charset="-120"/>
              </a:rPr>
              <a:t>wybrać</a:t>
            </a:r>
            <a:r>
              <a:rPr lang="en-US" sz="1600" spc="-60" dirty="0" smtClean="0">
                <a:solidFill>
                  <a:srgbClr val="0D1B2A"/>
                </a:solidFill>
                <a:latin typeface="Calibri" pitchFamily="34" charset="0"/>
                <a:ea typeface="Calibri" pitchFamily="34" charset="-122"/>
                <a:cs typeface="Calibri" pitchFamily="34" charset="-120"/>
              </a:rPr>
              <a:t>,</a:t>
            </a:r>
            <a:r>
              <a:rPr lang="pl-PL" sz="1600" spc="-60" dirty="0" smtClean="0">
                <a:solidFill>
                  <a:srgbClr val="0D1B2A"/>
                </a:solidFill>
                <a:latin typeface="Calibri" pitchFamily="34" charset="0"/>
                <a:ea typeface="Calibri" pitchFamily="34" charset="-122"/>
                <a:cs typeface="Calibri" pitchFamily="34" charset="-120"/>
              </a:rPr>
              <a:t> dla </a:t>
            </a:r>
            <a:r>
              <a:rPr lang="en-US" sz="1600" spc="-60" dirty="0" smtClean="0">
                <a:solidFill>
                  <a:srgbClr val="0D1B2A"/>
                </a:solidFill>
                <a:latin typeface="Calibri" pitchFamily="34" charset="0"/>
                <a:ea typeface="Calibri" pitchFamily="34" charset="-122"/>
                <a:cs typeface="Calibri" pitchFamily="34" charset="-120"/>
              </a:rPr>
              <a:t>humanoid</a:t>
            </a:r>
            <a:r>
              <a:rPr lang="pl-PL" sz="1600" spc="-60" dirty="0" smtClean="0">
                <a:solidFill>
                  <a:srgbClr val="0D1B2A"/>
                </a:solidFill>
                <a:latin typeface="Calibri" pitchFamily="34" charset="0"/>
                <a:ea typeface="Calibri" pitchFamily="34" charset="-122"/>
                <a:cs typeface="Calibri" pitchFamily="34" charset="-120"/>
              </a:rPr>
              <a:t>a</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err="1" smtClean="0">
                <a:solidFill>
                  <a:srgbClr val="0D1B2A"/>
                </a:solidFill>
                <a:latin typeface="Calibri" pitchFamily="34" charset="0"/>
                <a:ea typeface="Calibri" pitchFamily="34" charset="-122"/>
                <a:cs typeface="Calibri" pitchFamily="34" charset="-120"/>
              </a:rPr>
              <a:t>patroluj</a:t>
            </a:r>
            <a:r>
              <a:rPr lang="pl-PL" sz="1600" spc="-60" dirty="0" err="1" smtClean="0">
                <a:solidFill>
                  <a:srgbClr val="0D1B2A"/>
                </a:solidFill>
                <a:latin typeface="Calibri" pitchFamily="34" charset="0"/>
                <a:ea typeface="Calibri" pitchFamily="34" charset="-122"/>
                <a:cs typeface="Calibri" pitchFamily="34" charset="-120"/>
              </a:rPr>
              <a:t>acego</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err="1">
                <a:solidFill>
                  <a:srgbClr val="0D1B2A"/>
                </a:solidFill>
                <a:latin typeface="Calibri" pitchFamily="34" charset="0"/>
                <a:ea typeface="Calibri" pitchFamily="34" charset="-122"/>
                <a:cs typeface="Calibri" pitchFamily="34" charset="-120"/>
              </a:rPr>
              <a:t>budynek</a:t>
            </a:r>
            <a:r>
              <a:rPr lang="en-US" sz="1600" spc="-60" dirty="0">
                <a:solidFill>
                  <a:srgbClr val="0D1B2A"/>
                </a:solidFill>
                <a:latin typeface="Calibri" pitchFamily="34" charset="0"/>
                <a:ea typeface="Calibri" pitchFamily="34" charset="-122"/>
                <a:cs typeface="Calibri" pitchFamily="34" charset="-120"/>
              </a:rPr>
              <a:t> </a:t>
            </a:r>
            <a:r>
              <a:rPr lang="en-US" sz="1600" spc="-60" dirty="0" err="1">
                <a:solidFill>
                  <a:srgbClr val="0D1B2A"/>
                </a:solidFill>
                <a:latin typeface="Calibri" pitchFamily="34" charset="0"/>
                <a:ea typeface="Calibri" pitchFamily="34" charset="-122"/>
                <a:cs typeface="Calibri" pitchFamily="34" charset="-120"/>
              </a:rPr>
              <a:t>przez</a:t>
            </a:r>
            <a:r>
              <a:rPr lang="en-US" sz="1600" spc="-60" dirty="0">
                <a:solidFill>
                  <a:srgbClr val="0D1B2A"/>
                </a:solidFill>
                <a:latin typeface="Calibri" pitchFamily="34" charset="0"/>
                <a:ea typeface="Calibri" pitchFamily="34" charset="-122"/>
                <a:cs typeface="Calibri" pitchFamily="34" charset="-120"/>
              </a:rPr>
              <a:t> 30 </a:t>
            </a:r>
            <a:r>
              <a:rPr lang="en-US" sz="1600" spc="-60" dirty="0" smtClean="0">
                <a:solidFill>
                  <a:srgbClr val="0D1B2A"/>
                </a:solidFill>
                <a:latin typeface="Calibri" pitchFamily="34" charset="0"/>
                <a:ea typeface="Calibri" pitchFamily="34" charset="-122"/>
                <a:cs typeface="Calibri" pitchFamily="34" charset="-120"/>
              </a:rPr>
              <a:t>min</a:t>
            </a:r>
            <a:r>
              <a:rPr lang="pl-PL" sz="1600" spc="-60" dirty="0" smtClean="0">
                <a:solidFill>
                  <a:srgbClr val="0D1B2A"/>
                </a:solidFill>
                <a:latin typeface="Calibri" pitchFamily="34" charset="0"/>
                <a:ea typeface="Calibri" pitchFamily="34" charset="-122"/>
                <a:cs typeface="Calibri" pitchFamily="34" charset="-120"/>
              </a:rPr>
              <a:t>,</a:t>
            </a:r>
            <a:r>
              <a:rPr lang="en-US" sz="1600" spc="-60" dirty="0" smtClean="0">
                <a:solidFill>
                  <a:srgbClr val="0D1B2A"/>
                </a:solidFill>
                <a:latin typeface="Calibri" pitchFamily="34" charset="0"/>
                <a:ea typeface="Calibri" pitchFamily="34" charset="-122"/>
                <a:cs typeface="Calibri" pitchFamily="34" charset="-120"/>
              </a:rPr>
              <a:t> </a:t>
            </a:r>
            <a:r>
              <a:rPr lang="en-US" sz="1600" spc="-60" dirty="0">
                <a:solidFill>
                  <a:srgbClr val="0D1B2A"/>
                </a:solidFill>
                <a:latin typeface="Calibri" pitchFamily="34" charset="0"/>
                <a:ea typeface="Calibri" pitchFamily="34" charset="-122"/>
                <a:cs typeface="Calibri" pitchFamily="34" charset="-120"/>
              </a:rPr>
              <a:t>aby błąd pozycji nie </a:t>
            </a:r>
            <a:r>
              <a:rPr lang="en-US" sz="1600" spc="-60" dirty="0" err="1">
                <a:solidFill>
                  <a:srgbClr val="0D1B2A"/>
                </a:solidFill>
                <a:latin typeface="Calibri" pitchFamily="34" charset="0"/>
                <a:ea typeface="Calibri" pitchFamily="34" charset="-122"/>
                <a:cs typeface="Calibri" pitchFamily="34" charset="-120"/>
              </a:rPr>
              <a:t>przekroczył</a:t>
            </a:r>
            <a:r>
              <a:rPr lang="en-US" sz="1600" spc="-60" dirty="0">
                <a:solidFill>
                  <a:srgbClr val="0D1B2A"/>
                </a:solidFill>
                <a:latin typeface="Calibri" pitchFamily="34" charset="0"/>
                <a:ea typeface="Calibri" pitchFamily="34" charset="-122"/>
                <a:cs typeface="Calibri" pitchFamily="34" charset="-120"/>
              </a:rPr>
              <a:t> </a:t>
            </a:r>
            <a:r>
              <a:rPr lang="en-US" sz="1600" spc="-60" dirty="0" smtClean="0">
                <a:solidFill>
                  <a:srgbClr val="0D1B2A"/>
                </a:solidFill>
                <a:latin typeface="Calibri" pitchFamily="34" charset="0"/>
                <a:ea typeface="Calibri" pitchFamily="34" charset="-122"/>
                <a:cs typeface="Calibri" pitchFamily="34" charset="-120"/>
              </a:rPr>
              <a:t>0,3m</a:t>
            </a:r>
            <a:r>
              <a:rPr lang="en-US" sz="1600" spc="-60" dirty="0">
                <a:solidFill>
                  <a:srgbClr val="0D1B2A"/>
                </a:solidFill>
                <a:latin typeface="Calibri" pitchFamily="34" charset="0"/>
                <a:ea typeface="Calibri" pitchFamily="34" charset="-122"/>
                <a:cs typeface="Calibri" pitchFamily="34" charset="-120"/>
              </a:rPr>
              <a:t>. Jakie jest minimalne wymaganie na częstotliwość domknięcia pętli?</a:t>
            </a:r>
            <a:endParaRPr lang="en-US" sz="1600" spc="-60" dirty="0"/>
          </a:p>
          <a:p>
            <a:pPr>
              <a:spcAft>
                <a:spcPts val="900"/>
              </a:spcAft>
              <a:buSzPct val="100000"/>
            </a:pPr>
            <a:endParaRPr lang="pl-PL" sz="1050" b="1" dirty="0" smtClean="0">
              <a:solidFill>
                <a:srgbClr val="0D1B2A"/>
              </a:solidFill>
              <a:latin typeface="Calibri" pitchFamily="34" charset="0"/>
              <a:ea typeface="Calibri" pitchFamily="34" charset="-122"/>
              <a:cs typeface="Calibri" pitchFamily="34" charset="-120"/>
            </a:endParaRPr>
          </a:p>
          <a:p>
            <a:pPr>
              <a:spcAft>
                <a:spcPts val="600"/>
              </a:spcAft>
              <a:buSzPct val="100000"/>
            </a:pPr>
            <a:r>
              <a:rPr lang="en-US" sz="1600" b="1" dirty="0" err="1" smtClean="0">
                <a:solidFill>
                  <a:srgbClr val="0D1B2A"/>
                </a:solidFill>
                <a:latin typeface="Calibri" pitchFamily="34" charset="0"/>
                <a:ea typeface="Calibri" pitchFamily="34" charset="-122"/>
                <a:cs typeface="Calibri" pitchFamily="34" charset="-120"/>
              </a:rPr>
              <a:t>Zadanie</a:t>
            </a:r>
            <a:r>
              <a:rPr lang="en-US" sz="1600" dirty="0" smtClean="0">
                <a:solidFill>
                  <a:srgbClr val="0D1B2A"/>
                </a:solidFill>
                <a:latin typeface="Calibri" pitchFamily="34" charset="0"/>
                <a:ea typeface="Calibri" pitchFamily="34" charset="-122"/>
                <a:cs typeface="Calibri" pitchFamily="34" charset="-120"/>
              </a:rPr>
              <a:t> </a:t>
            </a:r>
            <a:endParaRPr lang="pl-PL" sz="1600" dirty="0" smtClean="0">
              <a:solidFill>
                <a:srgbClr val="0D1B2A"/>
              </a:solidFill>
              <a:latin typeface="Calibri" pitchFamily="34" charset="0"/>
              <a:ea typeface="Calibri" pitchFamily="34" charset="-122"/>
              <a:cs typeface="Calibri" pitchFamily="34" charset="-120"/>
            </a:endParaRPr>
          </a:p>
          <a:p>
            <a:pPr>
              <a:spcAft>
                <a:spcPts val="900"/>
              </a:spcAft>
              <a:buSzPct val="100000"/>
            </a:pPr>
            <a:r>
              <a:rPr lang="pl-PL" sz="1600" dirty="0" smtClean="0">
                <a:solidFill>
                  <a:srgbClr val="0D1B2A"/>
                </a:solidFill>
                <a:latin typeface="Calibri" pitchFamily="34" charset="0"/>
                <a:ea typeface="Calibri" pitchFamily="34" charset="-122"/>
                <a:cs typeface="Calibri" pitchFamily="34" charset="-120"/>
              </a:rPr>
              <a:t>Z</a:t>
            </a:r>
            <a:r>
              <a:rPr lang="en-US" sz="1600" dirty="0" err="1" smtClean="0">
                <a:solidFill>
                  <a:srgbClr val="0D1B2A"/>
                </a:solidFill>
                <a:latin typeface="Calibri" pitchFamily="34" charset="0"/>
                <a:ea typeface="Calibri" pitchFamily="34" charset="-122"/>
                <a:cs typeface="Calibri" pitchFamily="34" charset="-120"/>
              </a:rPr>
              <a:t>aimplementuj</a:t>
            </a:r>
            <a:r>
              <a:rPr lang="en-US" sz="1600" dirty="0" smtClean="0">
                <a:solidFill>
                  <a:srgbClr val="0D1B2A"/>
                </a:solidFill>
                <a:latin typeface="Calibri" pitchFamily="34" charset="0"/>
                <a:ea typeface="Calibri" pitchFamily="34" charset="-122"/>
                <a:cs typeface="Calibri" pitchFamily="34" charset="-120"/>
              </a:rPr>
              <a:t> </a:t>
            </a:r>
            <a:r>
              <a:rPr lang="en-US" sz="1600" dirty="0">
                <a:solidFill>
                  <a:srgbClr val="0D1B2A"/>
                </a:solidFill>
                <a:latin typeface="Calibri" pitchFamily="34" charset="0"/>
                <a:ea typeface="Calibri" pitchFamily="34" charset="-122"/>
                <a:cs typeface="Calibri" pitchFamily="34" charset="-120"/>
              </a:rPr>
              <a:t>StepOdometry z Sekcji 1 i porównaj dryft z i bez korekty z EKF przy symulowanym szumie yaw = 0,02 rad/krok.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5685</Words>
  <Application>Microsoft Office PowerPoint</Application>
  <PresentationFormat>Pokaz na ekranie (16:9)</PresentationFormat>
  <Paragraphs>452</Paragraphs>
  <Slides>32</Slides>
  <Notes>32</Notes>
  <HiddenSlides>0</HiddenSlides>
  <MMClips>0</MMClips>
  <ScaleCrop>false</ScaleCrop>
  <HeadingPairs>
    <vt:vector size="6" baseType="variant">
      <vt:variant>
        <vt:lpstr>Używane czcionki</vt:lpstr>
      </vt:variant>
      <vt:variant>
        <vt:i4>4</vt:i4>
      </vt:variant>
      <vt:variant>
        <vt:lpstr>Motyw</vt:lpstr>
      </vt:variant>
      <vt:variant>
        <vt:i4>1</vt:i4>
      </vt:variant>
      <vt:variant>
        <vt:lpstr>Tytuły slajdów</vt:lpstr>
      </vt:variant>
      <vt:variant>
        <vt:i4>32</vt:i4>
      </vt:variant>
    </vt:vector>
  </HeadingPairs>
  <TitlesOfParts>
    <vt:vector size="37" baseType="lpstr">
      <vt:lpstr>Arial</vt:lpstr>
      <vt:lpstr>Calibri</vt:lpstr>
      <vt:lpstr>Consolas</vt:lpstr>
      <vt:lpstr>Trebuchet MS</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Wykład 2 – Lokalizacja, odometria i fuzja sensoryczna</dc:title>
  <dc:subject>Nawigacja robotyczna</dc:subject>
  <dc:creator>Politechnika – Katedra Robotyki</dc:creator>
  <cp:lastModifiedBy>Mateusz Pomianek</cp:lastModifiedBy>
  <cp:revision>90</cp:revision>
  <dcterms:created xsi:type="dcterms:W3CDTF">2026-04-13T11:35:45Z</dcterms:created>
  <dcterms:modified xsi:type="dcterms:W3CDTF">2026-04-13T13:07:49Z</dcterms:modified>
</cp:coreProperties>
</file>