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175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822960"/>
            <a:ext cx="2286000" cy="2286000"/>
          </a:xfrm>
          <a:prstGeom prst="ellipse">
            <a:avLst/>
          </a:prstGeom>
          <a:solidFill>
            <a:srgbClr val="1A3550"/>
          </a:solidFill>
          <a:ln w="38100">
            <a:solidFill>
              <a:srgbClr val="A855F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1430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ROBOTÓW HUMANOIDALNYCH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234440"/>
            <a:ext cx="576072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WYKŁAD 5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0040" y="1920240"/>
            <a:ext cx="5760720" cy="8229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 i VLA w nawigacji
robota humanoidalnego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20040" y="2834640"/>
            <a:ext cx="576072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971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46888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1772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77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Sem. nav.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6656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ROS 2 + AI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wykładu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architektura, modele CLIP/LLaVA/GPT-4V, grounding, zero-shot reasoning w robotyce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RT-2, OpenVLA, π0, Octo; architektura i generowanie akcji z języka i wizji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Praktyczne zastosowania: nawigacja semantyczna, instruction following, integracja z ROS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Zapytanie VLM o scenę, grounding w mapie, router VLM→planner, pętla VLA w symulacji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A855F7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 </a:t>
            </a:r>
            <a:r>
              <a:rPr lang="en-US" sz="2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wizyjno-językowe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Architektura, kluczowe modele, grounding </a:t>
            </a:r>
            <a:r>
              <a:rPr lang="pl-PL" sz="14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i="1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zastosowania w robotyce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DEFINICJA VLM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Vision-Language Model (VLM)?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model uczenia głębokiego łączący kodowanie obrazu i tekstu we wspólnej przestrzeni reprezentacji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opis obrazu (captioning), VQA (visual question answering), wykrywanie obiektów z opisu, rozumowanie przestrzenne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typowa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enkoder wizji (ViT lub CNN) + projektor + duży model językowy (LLM)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pretraining na miliardach par </a:t>
            </a:r>
            <a:r>
              <a:rPr lang="en-US" sz="14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obraz-tekst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internetu (LAION, CC12M, WebLI…)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dostrojenie na zadaniach robotycznych z parami (obs, opis, akcja)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CLIP (OpenAI), LLaVA-1.6, InstructBLIP, GPT-4o Vision, Gemini 1.5 Pro, Qwen-VL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własność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zero-shot generalization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rozumienie scen niewidzianych podczas treningu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ARCHITEKTURA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VLM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pikseli do tokenów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66202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Obraz wejściowy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143000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(224×224 lub 336×336 px); opcjonalnie wielokrotne rozdzielczości (AnyRes)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14170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4754"/>
            <a:ext cx="5394960" cy="66202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1475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Enkoder wizji (ViT)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91475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dzieli obraz na patche; wyjście: sekwencja N osadzeń wizualnych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585923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6507"/>
            <a:ext cx="5394960" cy="66202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86507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Projektor / MLP adapter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686507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Liniowy lub dwuwarstwowy MLP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mapuje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embeddingi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wizji do przestrzeni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357677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58261"/>
            <a:ext cx="5394960" cy="66202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458261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(dekoder)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458261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Autoregresyjny transformer (Vicuna, LLaMA 3, Mistral); łączy tokeny wizji i tekstu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4129430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30014"/>
            <a:ext cx="5394960" cy="66202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3001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Wyjście tekstowe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423001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Swobodny tekst, JSON ze strukturą, tokeny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akcji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VLA) lub etykiety klas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61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60020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ViT → trenuj tylko projektor + LLM (LLaVA)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forward pass przez cały stos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Kontekst: typowo 4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096-128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 tokenów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Parametry: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7B-72B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(edge: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3B-7B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 GPU: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100-800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/ zapytanie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Kwantyzacja 4-bit na embedded GPU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CLIP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CLIP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 grounded perception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CLIP (OpenAI, 2021)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CLIP w nawigacji humanoida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9100" y="1600200"/>
            <a:ext cx="38328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kontrastowy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400M par (obraz, opis) </a:t>
            </a:r>
            <a:r>
              <a:rPr lang="pl-PL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internetu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enkodery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Image Encoder (ViT-L) + Text Encoder (transformer)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maksymalizacja podobieństwa cos. dla pasujących par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wspólna przestrzeń </a:t>
            </a:r>
            <a:r>
              <a:rPr lang="en-US" sz="140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embeddingów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40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wymiarze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512-1024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Możliwość zero-shot klasyfikacji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obraz vs. opisy klas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dla LLaVA, DALL-E, Flamingo, CogVLM</a:t>
            </a:r>
            <a:endParaRPr lang="en-US" sz="1400" spc="-2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 semantyczna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podobieństwo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klatka) vs.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 celu)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 "znajdź niebieskie drzwi" →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szukaj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mapie klatek z max similarity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grounding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ranking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regionów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zapytanie językowe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Działanie w czasie rzeczywistym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~10 ms na GPU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brak rozumowania wieloetapowego; tylko matching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LLaVA I VQA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LLaVA i Visual Question Answering w robotyce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(Large Language and Vision Assistant):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 + 2-layer MLP projektor + LLaMA/Vicuna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dwuetapowy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(1) freeze ViT, ucz projektor; (2) fine-tune projektor + LLM na danych instrukcji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dla robota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zadaje pytanie o obraz z kamery; VLM odpowiada w języku naturalnym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 pytań VQA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"Czy drzwi są otwarte?", "Ile osób stoi przy windzie?", "Który korytarz jest wolny?"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Odpowiedź strukturalna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prompt wymuszający JSON: {"door_open": true, "people_count": 2, "clear_path": "left"}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LLaVA-1.6 (34B):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rozumowanie przestrzenne, zliczanie, rozróżnianie lewej/prawej strony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Wersje on-device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LLaVA-Phi-3-mini (3,8B)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możliwa na Jetson Orin AGX (~200 ms / klatka)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GROUNDING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semantyczny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słów do lokalizacji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Opis celu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 lub system misji podaje opis: "idź do stolika z kawą przy oknie"</a:t>
            </a:r>
            <a:endParaRPr lang="en-US" sz="1400" spc="-4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188720"/>
            <a:ext cx="585216" cy="5852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1460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(LLaVA lub CLIP) koduje klatki z kamery; VLM opisuje każdy kandydujący region mapy</a:t>
            </a:r>
            <a:endParaRPr lang="en-US" sz="1400" spc="-4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1188720"/>
            <a:ext cx="585216" cy="5852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Cosinus similarity lub LLM scoring między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embeddingiem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opisu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embeddingami regionów</a:t>
            </a:r>
            <a:endParaRPr lang="en-US" sz="1400" spc="-40" dirty="0"/>
          </a:p>
        </p:txBody>
      </p:sp>
      <p:sp>
        <p:nvSpPr>
          <p:cNvPr id="21" name="Shape 19"/>
          <p:cNvSpPr/>
          <p:nvPr/>
        </p:nvSpPr>
        <p:spPr>
          <a:xfrm>
            <a:off x="672084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34072" y="1188720"/>
            <a:ext cx="585216" cy="5852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12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Lokalizacja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b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r>
              <a:rPr lang="en-US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mapie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z najwyższym score → jego współrzędne (x,y) 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mapie → cel dla A*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ZERO-SHOT VS. FEW-SHOT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vs. few-shot reasoning w nawigacji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(in-context learning)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nigdy nie widział danej sceny ani zadania podczas treningu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Polecenie: "idź do drukarki"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rozumie bez przykładów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gdy obiekt jest w słowniku treningu VLM (&gt;1B tokenów tekstu)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Słabszy dla specyficznego sprzętu laboratoryjnego lub lokalnych obiektów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Praktyka: GPT-4o opisuje scenę i wskazuje cel nawigacyjny</a:t>
            </a:r>
            <a:endParaRPr lang="en-US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przykładów par (obraz, opis, akcja) w prompcie kontekstowym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wymaga fine-</a:t>
            </a:r>
            <a:r>
              <a:rPr lang="en-US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tuningu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 dostosowanie do nowego środowiska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 3 zdjęcia korytarza ze strzałkami + pytanie → kierunek ruchu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dla robotów przemysłowych z niestandardowymi obiektami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Ograniczenie: długi kontekst = wyższy koszt inferowania i latencja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Zapytanie VLM o stan sceny </a:t>
            </a:r>
            <a:r>
              <a:rPr lang="en-US" sz="24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(Anthropic / OpenAI API)</a:t>
            </a:r>
            <a:endParaRPr lang="en-US" sz="2400" i="1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164716"/>
          </a:xfrm>
          <a:prstGeom prst="rect">
            <a:avLst/>
          </a:prstGeom>
          <a:solidFill>
            <a:srgbClr val="071520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3098" y="1024890"/>
            <a:ext cx="7200000" cy="3134191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base64,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httpx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json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query_vlm_scene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image_bgr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question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'claude-sonnet-4-6'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dict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"""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Wysyla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klatke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kamery do VLM i zwraca odpowiedz JSON."""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cv2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_, buf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cv2.imencode(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'.jpg'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image_bgr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[cv2.IMWRITE_JPEG_QUALITY,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85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b64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base64.b64encode(buf).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decode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payload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"model"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model,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max_tokens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256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messages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[{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"role"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"user"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content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"image"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source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"base64"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media_type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"image/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jpeg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"data"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b64}},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"Odpowiedz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TYLKO JSON.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question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]}]}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r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httpx.post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'https://api.anthropic.com/v1/messages'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json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payload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headers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'x-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api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-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key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API_KEY,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anthropic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-version'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'2023-06-01'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},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timeout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5.0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json.loads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r.json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()[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content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386146"/>
            <a:ext cx="8595360" cy="551614"/>
          </a:xfrm>
          <a:prstGeom prst="rect">
            <a:avLst/>
          </a:prstGeom>
          <a:solidFill>
            <a:srgbClr val="1A355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71" y="4386146"/>
            <a:ext cx="8527709" cy="551614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spc="-40" dirty="0" err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</a:t>
            </a:r>
            <a:r>
              <a:rPr lang="en-US" sz="1600" spc="-4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np.: "Czy droga do przodu jest wolna? </a:t>
            </a:r>
            <a:r>
              <a:rPr lang="en-US" sz="1600" b="1" spc="-4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{\"clear\": true/false, \"obstacle\": string}".</a:t>
            </a:r>
            <a:endParaRPr lang="en-US" sz="1600" spc="-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7C3AED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 </a:t>
            </a:r>
            <a:r>
              <a:rPr lang="en-US" sz="2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wizyjno-językowe-akcyjne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RT-2, OpenVLA, π0, </a:t>
            </a:r>
            <a:r>
              <a:rPr lang="en-US" sz="16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</a:t>
            </a:r>
            <a:r>
              <a:rPr lang="pl-PL" sz="16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6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i generowanie akcji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DEFINICJA VLA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Vision-Language-Action Model (VLA)?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rozszerza VLM o głowicę akcji (action head): model generuje nie tylko tekst, lecz tokeny ruchu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obraz (lub sekwencja klatek) + polecenie językowe; wyjście: wektor akcji lub tokeny dyskretne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 (Google DeepMind, 2023): fine-tuning PaLI-X (55B) i PaLM-E na danych robotycznych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 (Stanford, 2024): open-source; Prismatic VLM + 7B LLaMA; tokeny akcji jako tekst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π0 (Physical Intelligence, 2024): diffusion policy head dla ciągłych akcji; duże słownictwo gestów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 (Berkeley, 2024): transformer-based; multi-task; przyjmuje różne modalności wejściowe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różnica od klasycznej polityki RL: VLA używa wiedzy językowej do generalizacji zero-shot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ARCHITEKTURA VLA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obserwacji do akcji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66202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Obserwacja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143000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Klatki RGB z kamer (wrist cam + head cam) + propriocepcja (q, dq, τ) robota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14170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4754"/>
            <a:ext cx="5394960" cy="66202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1475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Enkoder wizji + LLM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91475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Identyczny stos VLM (ViT + projektor + transformer); tokenizacja wizji i języka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585923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6507"/>
            <a:ext cx="5394960" cy="66202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86507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tokenizer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686507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Dyskretny: zakres akcji podzielony na 256 binów per oś; lub ciągły z diffusion head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357677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58261"/>
            <a:ext cx="5394960" cy="66202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458261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head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458261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Ostatnie warstwy dekodera przewidują tokeny akcji; demapping → docelowy wektor akcji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4129430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30014"/>
            <a:ext cx="5394960" cy="66202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3001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Wykonanie akcji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423001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Wektor Δq lub (v, ω, τ) przekazywany do WBC lub niskiego poziomu sterowania (1 kHz)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61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60020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Częstość wyjść: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3-10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 (ograniczona przez LLM)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Buforowanie akcji: temporal ensemble lub action chunking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~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100-10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 demonstracji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Imitation learning + RL fine-tuning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Jetson AGX Orin (7B q4) ≈ 3 Hz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Bezpieczeństwo: clip akcji + velocity guard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MODELE VLA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Przegląd kluczowych modeli VLA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RT-2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(Google, 2023)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PaLI-X 55B lub PaLM-E 562B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Tokeny akcji: dyskretne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 bin/oś)</a:t>
            </a:r>
            <a:endParaRPr lang="en-US" sz="1400" i="1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Co-fine-tuning na Web + Robot data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Generalizacja zero-shot do nowych obiektów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Proprietary; działa na TPU v4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Wykazuje chain-of-thought reasoning</a:t>
            </a:r>
            <a:endParaRPr lang="en-US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OpenVLA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(Stanford, 2024)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Prismatic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(SigLIP + DINOv2)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LLaMA 7B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source: wagi na HuggingFace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na Open-X-Embodiment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(~970 k ep.)</a:t>
            </a:r>
            <a:endParaRPr lang="en-US" sz="1400" i="1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Akcje jako tekst: "move_left 0.3"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 w &lt;24 h na 1× A100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Dobrze udokumentowane API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π0 / Octo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(2024)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π0: diffusion action head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(ciągłe akcje)</a:t>
            </a:r>
            <a:endParaRPr lang="en-US" sz="1400" i="1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Wspiera dexterious manipulation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Octo: multi-task transformer policy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różne enkodery wizji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Open-X-Embodiment benchmark SoTA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ROS 2 przez action server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TOKENIZACJA AKCJI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Tokenizacja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akcji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jak VLA generuje ruch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Dyskretna tokenizacja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zakres każdej osi ruchu (np. ±0,05 m/krok) dzielony na 256 równych binów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oś akcji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jeden token z alfabetu [0…255]; cały wektor akcji = K tokenów po sobie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Dekodowanie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token_id → wartość ciągła przez de-binning + ewentualne odszumowanie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chunking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VLA generuje N kolejnych kroków akcji naraz (np. N=10); redukuje latencję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ensemble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ważona suma K ostatnich prognoz dla bieżącego </a:t>
            </a:r>
            <a:r>
              <a:rPr lang="en-US" sz="16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kroku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wygładzenie ruchu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policy (π0):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akcja jako wynik odwróconego procesu dyfuzji; ciągła, wielomodalna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tokeny dyskretne dla navigacji (v, ω) + ciągłe diffusion dla manipulacji dłoni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FINE-TUNING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VLA na danych robotycznych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Zbieranie danych demonstracji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Strategie fine-tuningu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Teleoperation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operator steruje robotem; zapis (obs, action) w ~10 Hz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generowanie danych w MuJoCo / Isaac Sim (szybko, bez ryzyka)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data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swobodne zbieranie bez konkretnego zadania; labels posta hoc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demonstracji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100-10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 epizodów zależy od złożoności zadania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HDF5 lub RLDS; zgodność z Open-X-Embodiment dataset</a:t>
            </a:r>
            <a:endParaRPr lang="en-US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wszystkie wagi; potrzebny duży GPU (≥80 GB VRAM)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(Low-Rank Adaptation):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rank-r matrices;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16-32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GPU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modules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dodatkowe warstwy między blokami transformera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Co-training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data + Web data → zapobiega catastrophic forgetting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success rate na held-out </a:t>
            </a:r>
            <a:r>
              <a:rPr lang="en-US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zadaniach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symulacji i na robocie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 OpenVLA w pętli sterowania (HuggingFace)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017520"/>
          </a:xfrm>
          <a:prstGeom prst="rect">
            <a:avLst/>
          </a:prstGeom>
          <a:solidFill>
            <a:srgbClr val="071520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946" y="1012190"/>
            <a:ext cx="8321040" cy="2939266"/>
          </a:xfrm>
          <a:prstGeom prst="rect">
            <a:avLst/>
          </a:prstGeom>
          <a:noFill/>
          <a:ln/>
        </p:spPr>
        <p:txBody>
          <a:bodyPr wrap="square" lIns="108000" tIns="127000" rIns="127000" bIns="63500" rtlCol="0" anchor="t">
            <a:spAutoFit/>
          </a:bodyPr>
          <a:lstStyle/>
          <a:p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transformers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AutoModelForVision2Seq,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AutoProcessor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np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processor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AutoProcessor.from_pretrained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openvla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/openvla-7b'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                  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trust_remote_code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model 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AutoModelForVision2Seq.from_pretrained(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openvla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/openvla-7b'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torch_dtype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torch.bfloat16,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low_cpu_mem_usage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trust_remote_code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).cuda()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get_action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np.ndarray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instruction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np.ndarray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"""Zwraca wektor akcji [dx,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dy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dz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drx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dry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drz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gripper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]."""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'In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What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should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the robot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take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to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instruction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?</a:t>
            </a:r>
            <a:r>
              <a:rPr lang="pl-PL" sz="1050" dirty="0">
                <a:solidFill>
                  <a:srgbClr val="D7BA7D"/>
                </a:solidFill>
                <a:latin typeface="Consolas" panose="020B0609020204030204" pitchFamily="49" charset="0"/>
              </a:rPr>
              <a:t>\</a:t>
            </a:r>
            <a:r>
              <a:rPr lang="pl-PL" sz="1050" dirty="0" err="1">
                <a:solidFill>
                  <a:srgbClr val="D7BA7D"/>
                </a:solidFill>
                <a:latin typeface="Consolas" panose="020B0609020204030204" pitchFamily="49" charset="0"/>
              </a:rPr>
              <a:t>n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Out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:'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inputs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processor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).to(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'cuda:0'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torch.bfloat16)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torch.inference_mode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model.predict_action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inputs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unnorm_key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bridge_orig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 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do_sample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 (7,)  [m, m, m, rad, rad, rad,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bool</a:t>
            </a:r>
            <a:r>
              <a:rPr lang="pl-PL" sz="105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]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23316"/>
            <a:ext cx="8595360" cy="514444"/>
          </a:xfrm>
          <a:prstGeom prst="rect">
            <a:avLst/>
          </a:prstGeom>
          <a:solidFill>
            <a:srgbClr val="1A355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946" y="4423316"/>
            <a:ext cx="8539734" cy="514443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spc="-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 zwraca 7-DoF akcję w jednostkach metrycznych; unnorm_key określa skalowanie do danego robota.</a:t>
            </a:r>
            <a:endParaRPr lang="en-US" sz="1600" spc="-80" dirty="0"/>
          </a:p>
        </p:txBody>
      </p:sp>
      <p:sp>
        <p:nvSpPr>
          <p:cNvPr id="13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Latencja i deployment VLA na robocie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GPU (A100/H100)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 ~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80-150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ms; konieczna łączność sieciowa; nieakceptowalne dla dynamicznych zadań</a:t>
            </a:r>
            <a:endParaRPr lang="en-US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GPU (Jetson Orin)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300-600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dla 7B q4; wystarczające dla nawigacji; niezależność od chmury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chunking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Generuj N=10 kroków naraz; wykonuj lokalnie; VLA odpytywana co N×dt ms →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efektywnie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10-30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1400" spc="-4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Distillacja / pruning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Nauczyciel 34B → student 3B;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zachowanie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85-90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skuteczności przy 5× szybszej inferencji</a:t>
            </a:r>
            <a:endParaRPr lang="en-US" sz="1400" spc="-4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Kwantyzacja 4-bit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 lub GPTQ: 7B model zajmuje ~4 GB VRAM; minimalna utrata jakości akcji (&lt; 3% success rate)</a:t>
            </a:r>
            <a:endParaRPr lang="en-US" sz="1400" spc="-4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Speculative decoding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model (0,5B) proponuje tokeny; duży model weryfikuje; 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przyspieszenie bez utraty jakości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77A8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  <a:noFill/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Praktyczne zastosowania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nawigacji humanoida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semantyczna, instruction following, integracja z ROS 2, ograniczenia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NAWIGACJA SEMANTYCZNA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semantyczna z VLM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Klasyczna nawigacja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cel = współrzędne (x, y); robot nie rozumie sensu celu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semantyczna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cel = opis językowy "znajdź salę z projekcją slajdów" lub "idź do kuchni"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r>
              <a:rPr lang="pl-PL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 mapy semantycznej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objeżdża budynek; VLM opisuje każdą pozycję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r>
              <a:rPr lang="pl-PL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 celu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embedding(opis celu) vs. embeddingi pozycji w mapie →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CLIP-Fields (2022):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field z embeddingami CLIP w każdym wokselu mapy 3D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SQA3D / EQA (Embodied QA):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odpowiada na pytania o przestrzeń, poruszając się po środowisku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ConceptFusion (2023):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z deskryptorami CLIP + SAM na chmurze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punktów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 grounding 3D</a:t>
            </a:r>
            <a:endParaRPr lang="en-US" sz="1600" spc="-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INSTRUCTION FOLLOWING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instruction following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polecenia do akcji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Polecenie użytkownika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"Przynieś mi kawę z kuchni na 2. piętrze"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lub mowa (ASR → tekst)</a:t>
            </a:r>
            <a:endParaRPr lang="en-US" sz="1400" spc="-6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task planner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1460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Duży LLM (GPT-4o) rozkłada polecenie na podrzędne cele: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400" spc="-6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 scene grounding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lub LLaVA lokalizuje obiekty ("kawa", "kuchnia") w mapie semantycznej</a:t>
            </a:r>
            <a:endParaRPr lang="en-US" sz="1400" spc="-60" dirty="0"/>
          </a:p>
        </p:txBody>
      </p:sp>
      <p:sp>
        <p:nvSpPr>
          <p:cNvPr id="21" name="Shape 19"/>
          <p:cNvSpPr/>
          <p:nvPr/>
        </p:nvSpPr>
        <p:spPr>
          <a:xfrm>
            <a:off x="672084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3407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12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Nav2 + footstep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Klasyczna nawigacja z A* do każdego podzadania; footstep planner dla precyzyjnych ruchów</a:t>
            </a:r>
            <a:endParaRPr lang="en-US" sz="1400" spc="-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semantyczny w mapie topologicznej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365438"/>
          </a:xfrm>
          <a:prstGeom prst="rect">
            <a:avLst/>
          </a:prstGeom>
          <a:solidFill>
            <a:srgbClr val="071520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946" y="1052747"/>
            <a:ext cx="8321040" cy="3398366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transformers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CLIPModel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CLIPProcessor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SemanticMap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model_name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openai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/clip-vit-base-patch16'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CLIPModel.from_pretrained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model_name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eval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().cuda()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proc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CLIPProcessor.from_pretrained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model_name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[]   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lista (x, y,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)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wezlow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 topologicznych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add_node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proc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return_tensors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pt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).to(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'cuda'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no_grad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.get_image_features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.norm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dim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=-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keepdim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4FC1FF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normalizacja L2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.cpu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()))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find_goal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query_text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tuple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proc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query_text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return_tensors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pt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).to(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'cuda'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no_grad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.get_text_features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.norm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cpu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scores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@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].T)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best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int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argmax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scores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best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best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(x, y</a:t>
            </a:r>
            <a:r>
              <a:rPr lang="pl-PL" sz="105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)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05092"/>
            <a:ext cx="8595360" cy="432668"/>
          </a:xfrm>
          <a:prstGeom prst="rect">
            <a:avLst/>
          </a:prstGeom>
          <a:solidFill>
            <a:srgbClr val="1A355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05092"/>
            <a:ext cx="8321040" cy="432667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add_node() buduje mapę podczas eksploracji; find_goal() lokalizuje cel z opisu w ~2 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Router: VLM ocenia scenę i wywołuje właściwy planistę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239058"/>
          </a:xfrm>
          <a:prstGeom prst="rect">
            <a:avLst/>
          </a:prstGeom>
          <a:solidFill>
            <a:srgbClr val="071520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3098" y="965708"/>
            <a:ext cx="8321040" cy="3167534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json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4FC1FF"/>
                </a:solidFill>
                <a:latin typeface="Consolas" panose="020B0609020204030204" pitchFamily="49" charset="0"/>
              </a:rPr>
              <a:t>ROUTING_PROMPT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'''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Analizujesz obraz z kamery robota humanoidalnego.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Zwroc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TYLKO JSON z polami: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 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situation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":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normal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"|"obstacle_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close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stairs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person_blocking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",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 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": 0.0-1.0,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 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recommended_action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":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continue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replan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"|"slow_down"|"stop"|"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ask_human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'''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vlm_route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nav_node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query_vlm_scene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4FC1FF"/>
                </a:solidFill>
                <a:latin typeface="Consolas" panose="020B0609020204030204" pitchFamily="49" charset="0"/>
              </a:rPr>
              <a:t>ROUTING_PROMPT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z Kodu 1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situation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situation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normal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recommended_action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continue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0.6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continue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 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niepewny wynik - jedz dalej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replan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nav_node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.trigger_replan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   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sygnał do Nav2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586C0"/>
                </a:solidFill>
                <a:latin typeface="Consolas" panose="020B0609020204030204" pitchFamily="49" charset="0"/>
              </a:rPr>
              <a:t>elif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'stop'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nav_node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.emergency_stop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53054"/>
            <a:ext cx="8595360" cy="484706"/>
          </a:xfrm>
          <a:prstGeom prst="rect">
            <a:avLst/>
          </a:prstGeom>
          <a:solidFill>
            <a:srgbClr val="1A355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453054"/>
            <a:ext cx="8595359" cy="484706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spc="-4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wywołuje VLM co ~500 ms (asynchronicznie); próg confidence=0,6 filtruje </a:t>
            </a:r>
            <a:r>
              <a:rPr lang="en-US" sz="1600" spc="-4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halucynacje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</a:t>
            </a:r>
            <a:endParaRPr lang="en-US" sz="1600" spc="-40" dirty="0"/>
          </a:p>
        </p:txBody>
      </p:sp>
      <p:sp>
        <p:nvSpPr>
          <p:cNvPr id="13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INTEGRACJA ROS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 VLM/VLA z ROS 2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wzorzec asynchroniczny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działa zbyt wolno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(&gt;100 ms) dla synchronicznej pętli Nav2 (50 Hz)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konieczna asynchroniczność</a:t>
            </a:r>
            <a:endParaRPr lang="en-US" sz="1600" spc="-6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Wzorzec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dedykowany node /vlm_node subskrybuje /camera/image_raw, publikuje /vlm_observations</a:t>
            </a:r>
            <a:endParaRPr lang="en-US" sz="1600" spc="-6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/vlm_observations to topic z QoS BEST_EFFORT, depth=1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najnowsza interpretacja</a:t>
            </a:r>
            <a:endParaRPr lang="en-US" sz="1600" spc="-6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BehaviorTree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jako zewnętrzny condition node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 buffor i blokuje w razie "stop"</a:t>
            </a:r>
            <a:endParaRPr lang="en-US" sz="1600" spc="-6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server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/vlm_ground_goal [text_goal → PoseStamped]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 semantyczna na żądanie</a:t>
            </a:r>
            <a:endParaRPr lang="en-US" sz="1600" spc="-6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node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node uruchamiany/zatrzymywany przez Nav2 state machine (oszczędność GPU)</a:t>
            </a:r>
            <a:endParaRPr lang="en-US" sz="1600" spc="-6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/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vlm_diagnostics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latencja, liczba halucynacji wykrytych przez sanity check</a:t>
            </a:r>
            <a:endParaRPr lang="en-US" sz="1600" spc="-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OGRANICZENIA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i wyzwania VLM/VLA w robotyce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Problemy techniczne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6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Problemy bezpieczeństwa i niezawodności</a:t>
            </a:r>
            <a:endParaRPr lang="en-US" sz="1600" spc="-60" dirty="0"/>
          </a:p>
        </p:txBody>
      </p:sp>
      <p:sp>
        <p:nvSpPr>
          <p:cNvPr id="12" name="Text 10"/>
          <p:cNvSpPr/>
          <p:nvPr/>
        </p:nvSpPr>
        <p:spPr>
          <a:xfrm>
            <a:off x="338327" y="1600200"/>
            <a:ext cx="3973477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Halucynacje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"widzi" obiekty których nie ma lub fałszywie ocenia odległości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100-800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ms; nieakceptowalne przy szybkim ruchu (&gt;0,5 m/s)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Dryft kontekstu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długie konwersacje tracą koherencję opisu środowiska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 trenowany na </a:t>
            </a:r>
            <a:r>
              <a:rPr lang="en-US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zdjęciach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internetu słabo generalizuje na obraz fisheye robota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zasobów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7B model wymaga 16 GB VRAM; 34B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GB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Niespójność czasowa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opis sceny w klatce t nie zawsze pasuje do pozycji w klatce t+5</a:t>
            </a:r>
            <a:endParaRPr lang="en-US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złośliwy tekst w scenie może manipulować planistą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gwarancji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nie daje formalnych gwarancji bezpieczeństwa (bez dowodów poprawności)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 vs fail-safe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przy błędzie VLM robot musi zatrzymać się, nie kontynuować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krzyżowa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wyniki VLM powinny być sanity-checked przez klasyczne sensory (LiDAR)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Biasy modeli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może inaczej reagować na różnych ludzi ze względu na biasy danych treningowych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WDROŻENIA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Przykłady wdrożeń VLM/VLA w humanoidach (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2023-2025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01 + OpenAI GPT-4o</a:t>
            </a:r>
            <a:endParaRPr lang="en-US" sz="1600" spc="-6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 Figure prowadzi rozmowę o środowisku i wykonuje zadania na podstawie poleceń języka naturalnego</a:t>
            </a:r>
            <a:endParaRPr lang="en-US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Unitree H1 + VLM planner</a:t>
            </a:r>
            <a:endParaRPr lang="en-US" sz="1600" spc="-6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z LLaVA jako scene understander: autonomiczne nawigowanie w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biurze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opisanych celów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34440"/>
            <a:ext cx="2404872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Boston Dynamics Spot </a:t>
            </a:r>
            <a:r>
              <a:rPr lang="pl-PL" sz="1600" b="1" spc="-60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br>
              <a:rPr lang="pl-PL" sz="1600" b="1" spc="-60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1600" b="1" spc="-60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</a:t>
            </a: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GPT-4</a:t>
            </a:r>
            <a:endParaRPr lang="en-US" sz="1600" spc="-6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opisuje to co "</a:t>
            </a:r>
            <a:r>
              <a:rPr lang="en-US" sz="1400" spc="-4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widzi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odpowiada na pytania; 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do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inspekcji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środowiska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przemysłowego</a:t>
            </a:r>
            <a:endParaRPr lang="en-US" sz="1400" spc="-4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RT-2 </a:t>
            </a:r>
            <a:r>
              <a:rPr lang="en-US" sz="1600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(Everyday Robots)</a:t>
            </a:r>
            <a:endParaRPr lang="en-US" sz="1600" spc="-6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Google wykonuje zadania pick-place z poleceń języka naturalnego; SoTA zero-shot na RT-Benchmark</a:t>
            </a:r>
            <a:endParaRPr lang="en-US" sz="1400" spc="-4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π0 </a:t>
            </a:r>
            <a:r>
              <a:rPr lang="en-US" sz="1600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(Physical Intelligence)</a:t>
            </a:r>
            <a:endParaRPr lang="en-US" sz="1600" spc="-6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Humanoidalny robot kuchenny wykonuje złożone zadania (owijanie naleśników) sterowany VLA π0</a:t>
            </a:r>
            <a:endParaRPr lang="en-US" sz="1400" spc="-4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8566" y="3063240"/>
            <a:ext cx="2542478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LEROBOT </a:t>
            </a:r>
            <a:r>
              <a:rPr lang="en-US" sz="1600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(HuggingFace 2024)</a:t>
            </a:r>
            <a:endParaRPr lang="en-US" sz="1600" spc="-6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platforma RL+IL+VLA; demonstracje na SO-100/LeKiwi; wspólnota ~50k gwiazdek GitHub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NAJLEPSZE PRAKTYKI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Najlepsze praktyki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inżynierskie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VLM/VLA w produkcji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1707" y="1188720"/>
            <a:ext cx="8422888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Separacja pętli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7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bezpieczeństwa (1 kHz, deterministyczna) zawsze nadrzędna wobec VLM (</a:t>
            </a:r>
            <a:r>
              <a:rPr lang="en-US" sz="1600" spc="-7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</a:t>
            </a:r>
            <a:r>
              <a:rPr lang="en-US" sz="1600" spc="-7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Hz)</a:t>
            </a:r>
            <a:endParaRPr lang="en-US" sz="1600" spc="-7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akcji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akcja VLA clampowana do fizycznie osiągalnego zakresu; ZMP sprawdzany przed wykonaniem</a:t>
            </a:r>
            <a:endParaRPr lang="en-US" sz="1600" spc="-8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odrzucaj wyniki VLM z confidence &lt; 0,7; fallback do klasycznego planisty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jasny, deterministyczny prompt z wymuszeniem formatu JSON + przykładem (few-shot)</a:t>
            </a:r>
            <a:endParaRPr lang="en-US" sz="1600" spc="-8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 replay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 każdego zapytania VLM + odpowiedzi do MCAP/rosbag2 </a:t>
            </a:r>
            <a:r>
              <a:rPr lang="en-US" sz="160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 po incydencie</a:t>
            </a:r>
            <a:endParaRPr lang="en-US" sz="1600" spc="-8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gdy VLM niedostępny → robot przechodzi w tryb klasycznej nawigacji metrycznej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regresji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automatyczny benchmark 50 zapytań VQA na obrazach referencyjnych przy każdej zmianie modelu</a:t>
            </a:r>
            <a:endParaRPr lang="en-US" sz="1600" spc="-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PRZYSZŁOŚĆ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Kierunki badań i przyszłość VLM/VLA w nawigacji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z modelem świata (RSSM, </a:t>
            </a:r>
            <a:endParaRPr lang="pl-PL" sz="1400" spc="-60" dirty="0" smtClean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robot "wyobraża" sobie konsekwencje akcji przed ich wykonaniem</a:t>
            </a:r>
            <a:endParaRPr lang="en-US" sz="1400" spc="-6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foundation models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model dla percepcji, planowania i sterowania; Gato, UniSim, </a:t>
            </a:r>
            <a:r>
              <a:rPr lang="en-US" sz="1400" spc="-6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UniPi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spc="-6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unifikacja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6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wszystkich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</a:t>
            </a:r>
            <a:endParaRPr lang="en-US" sz="1400" spc="-6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Continual learning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aktualizuje się online z nowych demonstracji bez catastrophic forgetting; kluczowe dla wdrożeń</a:t>
            </a:r>
            <a:endParaRPr lang="en-US" sz="1400" spc="-6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Multiagent VLM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Kilka robotów współdzielących mapę semantyczną; VLM jako wspólny language interface dla roju</a:t>
            </a:r>
            <a:endParaRPr lang="en-US" sz="1400" spc="-6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Certifiable safety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Formalna weryfikacja wyjść VLA (conformal prediction, runtime monitors) dla środowisk krytycznych</a:t>
            </a:r>
            <a:endParaRPr lang="en-US" sz="1400" spc="-6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acceleration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Dedykowane NPU dla transformerów (Qualcomm AI 100 Ultra, NVIDIA Thor); latencja &lt;50 ms dla 7B on-device</a:t>
            </a:r>
            <a:endParaRPr lang="en-US" sz="1400" spc="-6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8645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1005840"/>
            <a:ext cx="36576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11022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10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41874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(CLIP, LLaVA, GPT-4V) wnoszą </a:t>
            </a:r>
            <a:r>
              <a:rPr lang="en-US" sz="1600" b="1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rozumienie języka naturalnego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600" b="1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semantyki sceny 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systemu nawigacji.</a:t>
            </a:r>
            <a:endParaRPr lang="en-US" sz="1600" spc="-80" dirty="0"/>
          </a:p>
        </p:txBody>
      </p:sp>
      <p:sp>
        <p:nvSpPr>
          <p:cNvPr id="9" name="Shape 7"/>
          <p:cNvSpPr/>
          <p:nvPr/>
        </p:nvSpPr>
        <p:spPr>
          <a:xfrm>
            <a:off x="365760" y="1969974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99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000826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(RT-2, OpenVLA, π0) </a:t>
            </a:r>
            <a:r>
              <a:rPr lang="en-US" sz="1600" b="1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zamykają pętlę</a:t>
            </a: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obserwacja wizualna + polecenie językowe → akcja robota.</a:t>
            </a:r>
            <a:endParaRPr lang="en-US" sz="1600" spc="-60" dirty="0"/>
          </a:p>
        </p:txBody>
      </p:sp>
      <p:sp>
        <p:nvSpPr>
          <p:cNvPr id="12" name="Shape 10"/>
          <p:cNvSpPr/>
          <p:nvPr/>
        </p:nvSpPr>
        <p:spPr>
          <a:xfrm>
            <a:off x="365760" y="2728926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2892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759778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11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semantyczny </a:t>
            </a:r>
            <a:r>
              <a:rPr lang="en-US" sz="1600" spc="-11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pozwala nawigować do celu opisanego słowami bez uprzedniego uczenia mapy etykiet.</a:t>
            </a:r>
            <a:endParaRPr lang="en-US" sz="1600" spc="-110" dirty="0"/>
          </a:p>
        </p:txBody>
      </p:sp>
      <p:sp>
        <p:nvSpPr>
          <p:cNvPr id="15" name="Shape 13"/>
          <p:cNvSpPr/>
          <p:nvPr/>
        </p:nvSpPr>
        <p:spPr>
          <a:xfrm>
            <a:off x="365760" y="3487878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8787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518730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 VLM </a:t>
            </a:r>
            <a:r>
              <a:rPr lang="en-US" sz="1600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(&gt;100 ms) wymaga buforowania i asynchronicznego wywoływania względem pętli sterowania.</a:t>
            </a:r>
            <a:endParaRPr lang="en-US" sz="1600" spc="-100" dirty="0"/>
          </a:p>
        </p:txBody>
      </p:sp>
      <p:sp>
        <p:nvSpPr>
          <p:cNvPr id="18" name="Shape 16"/>
          <p:cNvSpPr/>
          <p:nvPr/>
        </p:nvSpPr>
        <p:spPr>
          <a:xfrm>
            <a:off x="365760" y="4246830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4683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4277682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bezpieczeństwa </a:t>
            </a:r>
            <a:r>
              <a:rPr lang="en-US" sz="1600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sanityzacja wyjść VLA są obowiązkowe przed przekazaniem do WBC i aktuatorów.</a:t>
            </a:r>
            <a:endParaRPr lang="en-US" sz="1600" spc="-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 i pytania problemowe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80000" indent="-1800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pętla sterowania (1 kHz) i pętla VLM (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Hz) muszą być rozdzielone? Narysuj schemat asynchronicznej architektury.</a:t>
            </a:r>
            <a:endParaRPr lang="en-US" sz="1600" spc="-60" dirty="0"/>
          </a:p>
          <a:p>
            <a:pPr marL="180000" indent="-1800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 zagrożenia niesie prompt injection dla robota sterowanego VLM w środowisku z ludźmi? </a:t>
            </a:r>
            <a: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aproponuj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 obrony.</a:t>
            </a:r>
            <a:endParaRPr lang="en-US" sz="1600" spc="-60" dirty="0"/>
          </a:p>
          <a:p>
            <a:pPr>
              <a:spcAft>
                <a:spcPts val="900"/>
              </a:spcAft>
              <a:buSzPct val="100000"/>
            </a:pPr>
            <a:r>
              <a:rPr lang="en-US" sz="1600" b="1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zaimplementuj klasę SemanticMap (patrz Kod 3), zbierz embeddingi dla 10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pozycji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symulowanym środowisku (dowolny zbiór zdjęć) i sprawdź, które zapytania języka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naturalnego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poprawnie rozwiązywane, a które nie.</a:t>
            </a:r>
            <a:endParaRPr lang="en-US" sz="1600" spc="-60" dirty="0"/>
          </a:p>
          <a:p>
            <a:pPr lvl="1">
              <a:spcAft>
                <a:spcPts val="900"/>
              </a:spcAft>
              <a:buSzPct val="100000"/>
            </a:pP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Porównaj OpenVLA i klasyczny sterownik PID dla zadania "idź 2 m do przodu": </a:t>
            </a:r>
            <a: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różnice w latencji, niezawodności i możliwości generalizacji?</a:t>
            </a:r>
            <a:endParaRPr lang="en-US" sz="1600" spc="-60" dirty="0"/>
          </a:p>
          <a:p>
            <a:pPr lvl="1">
              <a:spcAft>
                <a:spcPts val="900"/>
              </a:spcAft>
              <a:buSzPct val="100000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skonfiguruj pipeline LLaVA-1.6 (3B) + Nav2 w symulatorze Gazebo </a:t>
            </a:r>
            <a: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zademonstruj nawigację do celu podanego opisem słownym.</a:t>
            </a:r>
            <a:endParaRPr lang="en-US" sz="1600" spc="-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4106</Words>
  <Application>Microsoft Office PowerPoint</Application>
  <PresentationFormat>Pokaz na ekranie (16:9)</PresentationFormat>
  <Paragraphs>421</Paragraphs>
  <Slides>30</Slides>
  <Notes>30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Wykład 5 – VLM i VLA w nawigacji robota humanoidalnego</dc:title>
  <dc:subject>PptxGenJS Presentation</dc:subject>
  <dc:creator>Politechnika – Katedra Robotyki</dc:creator>
  <cp:lastModifiedBy>Mateusz Pomianek</cp:lastModifiedBy>
  <cp:revision>32</cp:revision>
  <dcterms:created xsi:type="dcterms:W3CDTF">2026-04-16T21:13:18Z</dcterms:created>
  <dcterms:modified xsi:type="dcterms:W3CDTF">2026-04-16T21:43:00Z</dcterms:modified>
</cp:coreProperties>
</file>