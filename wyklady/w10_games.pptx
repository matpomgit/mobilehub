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7BB"/>
    <a:srgbClr val="7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00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0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81830"/>
          </a:solidFill>
          <a:ln/>
        </p:spPr>
      </p:sp>
      <p:sp>
        <p:nvSpPr>
          <p:cNvPr id="4" name="Shape 2"/>
          <p:cNvSpPr/>
          <p:nvPr/>
        </p:nvSpPr>
        <p:spPr>
          <a:xfrm>
            <a:off x="5102352" y="0"/>
            <a:ext cx="45720" cy="51435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5" name="Text 3"/>
          <p:cNvSpPr/>
          <p:nvPr/>
        </p:nvSpPr>
        <p:spPr>
          <a:xfrm>
            <a:off x="632460" y="685800"/>
            <a:ext cx="42138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</a:t>
            </a:r>
            <a:r>
              <a:rPr lang="pl-PL" sz="1200" b="1" kern="0" spc="500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Programowanie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Gier Mobilnych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11887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638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Programowanie Aplikacji Mobilnych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381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1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Silniki, Fizyka, Grafika, AI, Optymalizacja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21808" y="841248"/>
            <a:ext cx="45720" cy="38404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2" name="Text 10"/>
          <p:cNvSpPr/>
          <p:nvPr/>
        </p:nvSpPr>
        <p:spPr>
          <a:xfrm>
            <a:off x="5504688" y="8412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&amp; Unreal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21808" y="1554480"/>
            <a:ext cx="457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504688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2D i 3D / Shadery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21808" y="2267712"/>
            <a:ext cx="457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2267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 i Kolizje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21808" y="2980944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88" y="29809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Grach Mobilnych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21808" y="3694176"/>
            <a:ext cx="45720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36941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i Monetyzacja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7071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Katedra </a:t>
            </a:r>
            <a:r>
              <a:rPr lang="en-US" sz="900" dirty="0" err="1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Informatyki</a:t>
            </a: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900" dirty="0" smtClean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Automatyki</a:t>
            </a:r>
            <a:r>
              <a:rPr lang="en-US" sz="900" dirty="0" smtClean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</a:t>
            </a:r>
            <a:r>
              <a:rPr lang="en-US" sz="900" dirty="0" err="1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Gier</a:t>
            </a: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Mobilnych</a:t>
            </a:r>
            <a:r>
              <a:rPr lang="pl-PL" sz="900" dirty="0" smtClean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Wykładu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54864" cy="71323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50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 gier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mobilnych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rynek, trendy, historia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04672"/>
            <a:ext cx="54864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850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4–6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10515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 gier: Unity, Unreal, Godot, Cocos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1600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60020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6459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7–9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18470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2D i 3D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rendering, shadery, animacje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27448" y="1600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60020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16459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10–12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18470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gier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silniki, kolizje, symulacje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3957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95728"/>
            <a:ext cx="54864" cy="713232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41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13–15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6426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 proceduralne generowanie świata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27448" y="23957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2395728"/>
            <a:ext cx="54864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2441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16–18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26426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 użytkownika, UI/UX i dźwięk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319125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191256"/>
            <a:ext cx="54864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369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19–22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4381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i profilowanie na mobile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27448" y="319125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3191256"/>
            <a:ext cx="54864" cy="71323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32369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23–25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64608" y="34381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Sieciowość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i backend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0040" y="398678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86784"/>
            <a:ext cx="54864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32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26–28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233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Monetyzacja, dystrybucja, live ops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27448" y="398678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3986784"/>
            <a:ext cx="54864" cy="713232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864608" y="4032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29–30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64608" y="423367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i podsumowanie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Rynek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ier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obilnych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 mobilne to największy segment branży </a:t>
            </a: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gamingowej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przekraczający łącznie konsole i PC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23772"/>
            <a:ext cx="181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$98.7 mld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5300" y="1828800"/>
            <a:ext cx="16840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Przychody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gier mobilnych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223772"/>
            <a:ext cx="181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mld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44140" y="1828800"/>
            <a:ext cx="16840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mobilnych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świecie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23772"/>
            <a:ext cx="181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92980" y="1828800"/>
            <a:ext cx="16840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mobile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całym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rynku gier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2011680" cy="146304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143000"/>
            <a:ext cx="201168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223772"/>
            <a:ext cx="181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min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1820" y="1828800"/>
            <a:ext cx="16840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czas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 dziennie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użytkownika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2761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Podział przychodów według gatunku (2024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/ Hyper-casual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97480" y="3145536"/>
            <a:ext cx="1228954" cy="18288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7" name="Text 25"/>
          <p:cNvSpPr/>
          <p:nvPr/>
        </p:nvSpPr>
        <p:spPr>
          <a:xfrm>
            <a:off x="2362200" y="31181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92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4X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97480" y="3429000"/>
            <a:ext cx="806501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2362200" y="3401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/ Action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97480" y="3712464"/>
            <a:ext cx="691286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2362200" y="3685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959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/ Racing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97480" y="3995928"/>
            <a:ext cx="460858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362200" y="39684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242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97480" y="4279392"/>
            <a:ext cx="384048" cy="18288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9" name="Text 37"/>
          <p:cNvSpPr/>
          <p:nvPr/>
        </p:nvSpPr>
        <p:spPr>
          <a:xfrm>
            <a:off x="2362200" y="4251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97480" y="4562856"/>
            <a:ext cx="268834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2362200" y="45354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grpSp>
        <p:nvGrpSpPr>
          <p:cNvPr id="54" name="Grupa 53"/>
          <p:cNvGrpSpPr/>
          <p:nvPr/>
        </p:nvGrpSpPr>
        <p:grpSpPr>
          <a:xfrm>
            <a:off x="4663440" y="2772156"/>
            <a:ext cx="3566160" cy="2029968"/>
            <a:chOff x="5303520" y="2761488"/>
            <a:chExt cx="3566160" cy="2029968"/>
          </a:xfrm>
        </p:grpSpPr>
        <p:sp>
          <p:nvSpPr>
            <p:cNvPr id="43" name="Text 41"/>
            <p:cNvSpPr/>
            <p:nvPr/>
          </p:nvSpPr>
          <p:spPr>
            <a:xfrm>
              <a:off x="5303520" y="2761488"/>
              <a:ext cx="35661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Kluczowe trendy </a:t>
              </a:r>
              <a:r>
                <a:rPr lang="en-US" sz="1300" b="1" dirty="0" smtClean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2024–2026</a:t>
              </a:r>
              <a:endParaRPr lang="en-US" sz="13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5303520" y="3127248"/>
              <a:ext cx="146304" cy="146304"/>
            </a:xfrm>
            <a:prstGeom prst="ellipse">
              <a:avLst/>
            </a:prstGeom>
            <a:solidFill>
              <a:srgbClr val="6C3FC5"/>
            </a:solidFill>
            <a:ln/>
          </p:spPr>
        </p:sp>
        <p:sp>
          <p:nvSpPr>
            <p:cNvPr id="45" name="Text 43"/>
            <p:cNvSpPr/>
            <p:nvPr/>
          </p:nvSpPr>
          <p:spPr>
            <a:xfrm>
              <a:off x="5522976" y="3108960"/>
              <a:ext cx="3337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Generatywna AI w content creation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5303520" y="3474720"/>
              <a:ext cx="146304" cy="146304"/>
            </a:xfrm>
            <a:prstGeom prst="ellipse">
              <a:avLst/>
            </a:prstGeom>
            <a:solidFill>
              <a:srgbClr val="6C3FC5"/>
            </a:solidFill>
            <a:ln/>
          </p:spPr>
        </p:sp>
        <p:sp>
          <p:nvSpPr>
            <p:cNvPr id="47" name="Text 45"/>
            <p:cNvSpPr/>
            <p:nvPr/>
          </p:nvSpPr>
          <p:spPr>
            <a:xfrm>
              <a:off x="5522976" y="3456432"/>
              <a:ext cx="3337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gaming (GeForce Now Mobile)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303520" y="3822192"/>
              <a:ext cx="146304" cy="146304"/>
            </a:xfrm>
            <a:prstGeom prst="ellipse">
              <a:avLst/>
            </a:prstGeom>
            <a:solidFill>
              <a:srgbClr val="6C3FC5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5522976" y="3803904"/>
              <a:ext cx="3337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Cross-platform play (PC ↔ Mobile)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303520" y="4169664"/>
              <a:ext cx="146304" cy="146304"/>
            </a:xfrm>
            <a:prstGeom prst="ellipse">
              <a:avLst/>
            </a:prstGeom>
            <a:solidFill>
              <a:srgbClr val="6C3FC5"/>
            </a:solidFill>
            <a:ln/>
          </p:spPr>
        </p:sp>
        <p:sp>
          <p:nvSpPr>
            <p:cNvPr id="51" name="Text 49"/>
            <p:cNvSpPr/>
            <p:nvPr/>
          </p:nvSpPr>
          <p:spPr>
            <a:xfrm>
              <a:off x="5522976" y="4151376"/>
              <a:ext cx="3337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Subscription models (Apple Arcade, GP Pass)</a:t>
              </a:r>
              <a:endParaRPr lang="en-US" sz="11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303520" y="4517136"/>
              <a:ext cx="146304" cy="146304"/>
            </a:xfrm>
            <a:prstGeom prst="ellipse">
              <a:avLst/>
            </a:prstGeom>
            <a:solidFill>
              <a:srgbClr val="6C3FC5"/>
            </a:solidFill>
            <a:ln/>
          </p:spPr>
        </p:sp>
        <p:sp>
          <p:nvSpPr>
            <p:cNvPr id="53" name="Text 51"/>
            <p:cNvSpPr/>
            <p:nvPr/>
          </p:nvSpPr>
          <p:spPr>
            <a:xfrm>
              <a:off x="5522976" y="4498848"/>
              <a:ext cx="3337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AR/MR gaming (Vision Pro, AR glasses)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Silniki Gier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Mobilnych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Przegląd i Porównanie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170432"/>
            <a:ext cx="164592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97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72%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859536"/>
            <a:ext cx="2918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Największy ekosystem, Asset Store, szeroka dokumentacja, DOTS/ECS, ML-Agents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9740" y="859536"/>
            <a:ext cx="3147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Runtime overhead, licencjonowanie (runtime fee 2024)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9740" y="14523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PC, Console, WebGL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6400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Unreal Engine </a:t>
            </a:r>
            <a:r>
              <a:rPr lang="en-US" sz="16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2194560"/>
            <a:ext cx="1645920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221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/ Blueprint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13%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1883664"/>
            <a:ext cx="2918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Nanite, Lumen, fotorealizm, MetaHuman, Chaos Physics </a:t>
            </a:r>
            <a:r>
              <a:rPr lang="en-US" sz="14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9740" y="1883664"/>
            <a:ext cx="3147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Wysoki koszt sprzętowy, trudna optymalizacja mobile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9740" y="24765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 (ograniczenia), PC, Console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852928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3218688"/>
            <a:ext cx="1645920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246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GDScript / C# / C++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493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8%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2907792"/>
            <a:ext cx="2918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Open source (MIT), lekki, szybki start, Vulkan renderer, 2D pierwszej klasy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9740" y="2907792"/>
            <a:ext cx="3147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Mniejszy ekosystem, brak AAA mobile case studies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9740" y="35006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PC, Web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77056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Cocos Creator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4242816"/>
            <a:ext cx="164592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270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/ JS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4517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Udział rynku: 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331720" y="3931920"/>
            <a:ext cx="2918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Zalety: Dominacja rynku chińskiego, optymalizacja dla casual mobile, mini-games (WeChat)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39740" y="3931920"/>
            <a:ext cx="3147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Wady: Mniejsza społeczność poza Azją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39740" y="45247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Platformy: iOS, Android, H5, Mini-games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ilnika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ykl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ż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ycia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grpSp>
        <p:nvGrpSpPr>
          <p:cNvPr id="46" name="Grupa 45"/>
          <p:cNvGrpSpPr/>
          <p:nvPr/>
        </p:nvGrpSpPr>
        <p:grpSpPr>
          <a:xfrm>
            <a:off x="320040" y="822960"/>
            <a:ext cx="4160520" cy="3814572"/>
            <a:chOff x="320040" y="1411224"/>
            <a:chExt cx="4160520" cy="3226308"/>
          </a:xfrm>
        </p:grpSpPr>
        <p:sp>
          <p:nvSpPr>
            <p:cNvPr id="7" name="Text 5"/>
            <p:cNvSpPr/>
            <p:nvPr/>
          </p:nvSpPr>
          <p:spPr>
            <a:xfrm>
              <a:off x="320040" y="1411224"/>
              <a:ext cx="4160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Model </a:t>
              </a:r>
              <a:r>
                <a:rPr lang="en-US" sz="1400" b="1" dirty="0" err="1" smtClean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GameObject</a:t>
              </a:r>
              <a:r>
                <a:rPr lang="en-US" sz="1400" b="1" dirty="0" smtClean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–Component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" y="1745771"/>
              <a:ext cx="4160520" cy="61634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758661"/>
              <a:ext cx="64008" cy="616342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57200" y="1736278"/>
              <a:ext cx="3959352" cy="2131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GameObject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1969767"/>
              <a:ext cx="3959352" cy="3734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Kontener bez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zachowania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jedynie transformacja (pozycja, rotacja, skala) w hierarchii sceny. Wszystko w Unity jest GameObject.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" y="2424684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0040" y="2424684"/>
              <a:ext cx="64008" cy="713232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57200" y="2421636"/>
              <a:ext cx="3959352" cy="2100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Component (MonoBehaviour)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" y="2616443"/>
              <a:ext cx="3959352" cy="4864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Zachowanie przypisane do obiektu. Klasy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dziedziczące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br>
                <a:rPr lang="pl-PL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MonoBehaviour implementują Start(), Update(), </a:t>
              </a:r>
              <a:r>
                <a:rPr lang="pl-PL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</a:t>
              </a:r>
              <a:r>
                <a:rPr lang="en-US" sz="12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ixedUpdate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() </a:t>
              </a:r>
              <a:r>
                <a:rPr lang="en-US" sz="12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obsługują zdarzenia.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3174492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3174492"/>
              <a:ext cx="64008" cy="71323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7200" y="3171444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ScriptableObject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3482340"/>
              <a:ext cx="39593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Dane niezwiązane z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sceną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konfiguracja, balans gry, definicje przedmiotów. Redukuje coupling między komponentami.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20040" y="3924300"/>
              <a:ext cx="416052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320040" y="3924300"/>
              <a:ext cx="64008" cy="71323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57200" y="3921252"/>
              <a:ext cx="3959352" cy="2131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DOTS / ECS (Data-Oriented Tech)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57200" y="4232148"/>
              <a:ext cx="39593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 Component System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dane liniowo w pamięci, burst compilation, job system. 10–100× szybszy niż klasyczne MonoBehaviour dla dużych liczb obiektów.</a:t>
              </a:r>
              <a:endParaRPr lang="en-US" sz="12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4663440" y="822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Cykl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życia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MonoBehaviour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33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3350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 referencji, niezależnie od stanu aktywności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609344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OnEnable()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8470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włączeniu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obiektu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resetowanie stanu, subskrypcje zdarzeń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121408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57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23591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przed pierwszą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klatką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zależny od innych komponentów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633472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70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8712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stały timestep (domyślnie 50Hz)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fizyka, ruchy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145536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182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3832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gry, wejście użytkownika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657600"/>
            <a:ext cx="4206240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LateUpdate()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895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wszystkich Update()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finalizacja pozycji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416966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OnDisable() / OnDestroy()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407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unsubscribe, zwalnianie zasobów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kryptowanie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zorce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rojektowe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rach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mobilnych na Unity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Stosowanie wzorców projektowych w grach poprawia testowalność, redukuje coupling i ułatwia skalowanie projektu</a:t>
            </a:r>
            <a:endParaRPr lang="en-US" dirty="0"/>
          </a:p>
        </p:txBody>
      </p:sp>
      <p:grpSp>
        <p:nvGrpSpPr>
          <p:cNvPr id="33" name="Grupa 32"/>
          <p:cNvGrpSpPr/>
          <p:nvPr/>
        </p:nvGrpSpPr>
        <p:grpSpPr>
          <a:xfrm>
            <a:off x="320040" y="1444546"/>
            <a:ext cx="8659368" cy="2880565"/>
            <a:chOff x="320040" y="1143000"/>
            <a:chExt cx="8659368" cy="3666744"/>
          </a:xfrm>
        </p:grpSpPr>
        <p:sp>
          <p:nvSpPr>
            <p:cNvPr id="8" name="Shape 6"/>
            <p:cNvSpPr/>
            <p:nvPr/>
          </p:nvSpPr>
          <p:spPr>
            <a:xfrm>
              <a:off x="320040" y="1143000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143000"/>
              <a:ext cx="64008" cy="114300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57200" y="1216152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Singleton (GameManager)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1527048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Globalny dostęp do menedżerów (Audio, Scene, Save). Używaj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ostrożnie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utrudnia testy. Prefer Dependency Injection.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143000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143000"/>
              <a:ext cx="64008" cy="1143000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64608" y="1216152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Observer / Event System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64608" y="1527048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UnityEvent, C# events, ScriptableObject events. Decoupling między UI a logiką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gry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UI nasłuchuje na zmianę stanu.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2404872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2404872"/>
              <a:ext cx="64008" cy="114300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7200" y="2478024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State Machine (Enum / Class)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2788920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Animator State Machine dla animacji, własny FSM dla AI przeciwnika i ekranów menu. Czytelna nawigacja stanów.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2404872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2404872"/>
              <a:ext cx="64008" cy="114300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64608" y="2478024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Object Pooling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64608" y="2788920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Kluczowe dla mobile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unikanie GC Alloc przez recykling obiektów. Unity 2021+ ma wbudowany ObjectPool&lt;T&gt;.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666744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3666744"/>
              <a:ext cx="64008" cy="1143000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57200" y="3739896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Command Pattern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4050792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Historia akcji, undo/redo (puzzle games), replay systems, command queue dla AI.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27448" y="3666744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727448" y="3666744"/>
              <a:ext cx="64008" cy="1143000"/>
            </a:xfrm>
            <a:prstGeom prst="rect">
              <a:avLst/>
            </a:prstGeom>
            <a:solidFill>
              <a:srgbClr val="C026D3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64608" y="3739896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Service Locator / DI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64608" y="4050792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Zenject /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VContainer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IoC container dla Unity. Wstrzykiwanie zależności zamiast Find(), zwiększa testowalność.</a:t>
              </a:r>
              <a:endParaRPr lang="en-US" sz="12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preferuj kompozycję </a:t>
            </a:r>
            <a:r>
              <a:rPr lang="en-US" sz="1400" b="1" dirty="0" err="1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</a:t>
            </a: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dziedziczenie</a:t>
            </a:r>
            <a:r>
              <a:rPr lang="pl-PL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b="1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favors component-based design, nie class hierarchies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Sprite, Tilemap i Animacje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030" y="749808"/>
            <a:ext cx="7901940" cy="506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pozostaje dominującym wyborem dla gier mobilnych ze względu na niższe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sprzętowe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niższy koszt produkcji contentu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2969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grafiki 2D w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60782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7820"/>
            <a:ext cx="64008" cy="58521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1239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Atlas (Sprite Packer)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923288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Scalanie tekstur w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atlasy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draw calls z N do 1 dla elementów tego samego atlasu. Krytyczne dla mobile.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5704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57044"/>
            <a:ext cx="64008" cy="5852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616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Renderer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72512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renderujący sprite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sortowania (Sorting Layer, Order in Layer), kolor i materiał.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0626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06268"/>
            <a:ext cx="64008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108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Tilemap + Rule Tiles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21736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kafelkowanie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tiles generują odpowiedni sprite na podstawie sąsiadów. Grid 2D, Isometric, Hexagonal.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5549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55492"/>
            <a:ext cx="64008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006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Animator / Spine / DragonBones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70960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 Controller (stany + blend trees). Spine 2D /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DragonBones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animacja szkieletowa ze zredukowaną liczbą spritów.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04716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04716"/>
            <a:ext cx="64008" cy="5852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92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Lighting (URP)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20184"/>
            <a:ext cx="3959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maps dla 2D, Point Light, Global Light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 głębi bez 3D. Universal Render Pipeline.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1496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Draw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775460"/>
            <a:ext cx="420624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8211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1798320"/>
            <a:ext cx="4005072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Sprite Atlas </a:t>
            </a:r>
            <a:r>
              <a:rPr lang="en-US" sz="850" dirty="0" smtClean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programowe ładowanie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spriteAtlas = Resources.Load&lt;SpriteAtlas&gt;(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"UI/MainAtlas");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sprite = spriteAtlas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.GetSprite("btn_play");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GetComponent&lt;Image&gt;().sprite = sprite;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GPU Instancing </a:t>
            </a:r>
            <a:r>
              <a:rPr lang="en-US" sz="850" dirty="0" smtClean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wiele identycznych obj.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mat = GetComponent&lt;Renderer&gt;().material;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mat.enableInstancing = true;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SpriteRenderer.drawCallCount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(Frame Debugger → sprawdź batching)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Debug.Log(Camera.main.commandBufferCount);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726942"/>
            <a:ext cx="2583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optymalizacji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4012692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965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Maksymalnie 1024×1024 px atlas per scena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4207764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160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 Read/Write Enable na teksturach (–50% RAM)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402836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355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Mip-maps WYŁĄCZONE dla UI 2D (zbędne)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62076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5735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compression: ASTC dla iOS/Android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 3D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Rendering, PBR i Shadery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mobilny to sztuka kompromisu między jakością wizualną a wydajnością na ograniczonym GPU/SoC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536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Ścieżki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renderowania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64564"/>
            <a:ext cx="2743200" cy="765306"/>
          </a:xfrm>
          <a:prstGeom prst="rect">
            <a:avLst/>
          </a:prstGeom>
          <a:solidFill>
            <a:srgbClr val="F8F8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64564"/>
            <a:ext cx="27432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859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7754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kompatybilność, ale brak optymalizacji mobilnych. Nie polecany dla nowych projektów.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4564"/>
            <a:ext cx="2743200" cy="76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4564"/>
            <a:ext cx="2743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859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RP (URP)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7754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Rekomendowany dla mobile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rendering, GPU Instancing, optimized batching, 2D Renderer. Znacząco lepszy performance.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64564"/>
            <a:ext cx="2743200" cy="76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64564"/>
            <a:ext cx="27432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4859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Definition RP (HDRP)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7754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PC/Console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tracing, volumetric lighting, fotorealizm. NIE nadaje się dla mobile (zbyt wymagający).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34300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(Physically Based Rendering)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300" dirty="0"/>
          </a:p>
        </p:txBody>
      </p:sp>
      <p:grpSp>
        <p:nvGrpSpPr>
          <p:cNvPr id="42" name="Grupa 41"/>
          <p:cNvGrpSpPr/>
          <p:nvPr/>
        </p:nvGrpSpPr>
        <p:grpSpPr>
          <a:xfrm>
            <a:off x="320040" y="2596896"/>
            <a:ext cx="4160520" cy="2211324"/>
            <a:chOff x="320040" y="2596896"/>
            <a:chExt cx="4160520" cy="1981200"/>
          </a:xfrm>
        </p:grpSpPr>
        <p:sp>
          <p:nvSpPr>
            <p:cNvPr id="22" name="Shape 20"/>
            <p:cNvSpPr/>
            <p:nvPr/>
          </p:nvSpPr>
          <p:spPr>
            <a:xfrm>
              <a:off x="320040" y="2645664"/>
              <a:ext cx="416052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320040" y="2645664"/>
              <a:ext cx="64008" cy="438912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24" name="Text 22"/>
            <p:cNvSpPr/>
            <p:nvPr/>
          </p:nvSpPr>
          <p:spPr>
            <a:xfrm>
              <a:off x="457200" y="2596896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Albedo / Base Color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57200" y="2907792"/>
              <a:ext cx="3959352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Kolor bazowy powierzchni bez oświetlenia. Format: sRGB, maks. 512×512 px na mobile.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20040" y="3148584"/>
              <a:ext cx="416052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320040" y="3148584"/>
              <a:ext cx="64008" cy="438912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457200" y="3099816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Metallic + Smoothness</a:t>
              </a:r>
              <a:endParaRPr lang="en-US" sz="12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57200" y="3361944"/>
              <a:ext cx="3959352" cy="167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Upakowane w jedną </a:t>
              </a:r>
              <a:r>
                <a:rPr lang="en-US" sz="11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teksturę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metallic w kanale R, smoothness w A. Redukcja samplerów.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20040" y="3651504"/>
              <a:ext cx="416052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320040" y="3651504"/>
              <a:ext cx="64008" cy="438912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457200" y="3602736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Normal Map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3913632"/>
              <a:ext cx="3959352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Iluzja </a:t>
              </a:r>
              <a:r>
                <a:rPr lang="en-US" sz="11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geometrii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tangens space, DirectX vs OpenGL konwencja (Unity używa OpenGL Y+). Max 256×256 mobile.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20040" y="4139184"/>
              <a:ext cx="416052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320040" y="4139184"/>
              <a:ext cx="64008" cy="43891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57200" y="4105656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Occlusion Map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57200" y="4416552"/>
              <a:ext cx="3959352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Ambient occlusion baked 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cienie w szczelinach bez kosztownych obliczeń RT.</a:t>
              </a:r>
              <a:endParaRPr lang="en-US" sz="110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4663440" y="2386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 Graph / HLSL 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prosty Toon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2651328"/>
            <a:ext cx="4206240" cy="225899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2569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91456" y="2779776"/>
            <a:ext cx="4005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Shader "Mobile/ToonLit"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Properties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_MainTex ("Texture", 2D) = "white" {}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_RampTex ("Toon Ramp", 2D) = "white" {}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_OutlineWidth ("Outline", Range(0,0.1)) = 0.02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CGPROGRAM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#pragma surface surf ToonRamp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fixed4 LightingToonRamp(SurfaceOutput o,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fixed3 lightDir, fixed atten)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diff = dot(o.Normal, lightDir);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diff * 0.5 + 0.5;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float2 rh = float2(h, 0.5);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fixed4 c;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c.rgb = o.Albedo * tex2D(_RampTex, rh).rgb;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ENDCG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Animacje, VFX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ystemy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ząsteczkowe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Animacje i efekty wizualne są kluczowe dla game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uszą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być efektowne przy minimalnym koszcie obliczeniowym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2816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animacji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81912"/>
            <a:ext cx="64008" cy="6583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90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Mechanim / Animator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39468"/>
            <a:ext cx="395935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stanów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animacji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(Idle, Run, Jump), przejścia z warunkami (parametry: float, bool, trigger). Blend Tree dla smooth blending kierunków ruchu.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02764"/>
            <a:ext cx="4160520" cy="5692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02764"/>
            <a:ext cx="64008" cy="56921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 Rigging (IK)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" y="254584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Kinematics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naturalny ruch kończyn, ograniczenia joints. Proceduralne dostosowanie animacji do geometrii terenu.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38272"/>
            <a:ext cx="4160520" cy="577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38272"/>
            <a:ext cx="64008" cy="5775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306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+ Cinemachine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168396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Kinematyki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wyreżyserowane sekwencje (cutscenes), kamera Cinemachine z Virtual Cameras, damping, noise dla organic feel.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84448"/>
            <a:ext cx="4160520" cy="5593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84448"/>
            <a:ext cx="64008" cy="5593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15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DOTween (Tweening Library)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7647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Najpopularniejsza biblioteka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tweenów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płynne animacje pozycji, skali, koloru bez Animatora. Sekwencje, callback, ease functions.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496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VFX Graph i Particle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74193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741932"/>
            <a:ext cx="64008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7708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Shuriken (Legacy PS)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99796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system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cząsteczkowy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CPU-bound, max ~1000 cząstek na mobile. Over lifetime modules: color, size, velocity.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500884"/>
            <a:ext cx="420624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00884"/>
            <a:ext cx="64008" cy="6309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5146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VFX Graph (GPU)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734056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miliony cząsteczek na PC/high-end mobile. Wymaga URP/HDRP i Compute Shader support (OpenGL ES 3.1+).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18363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183636"/>
            <a:ext cx="64008" cy="621792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2141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Shader-based Effects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4030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Wiele efektów jako shadery zamiast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cząsteczek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dissolve, hologram, force field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 CPU.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407408"/>
            <a:ext cx="8503920" cy="499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 tips: bake animacje gdy możliwe · GPU Skinning w Player Settings · ogranicz Particle System do max 300 cząstek na mobile · użyj LOD dla animowanych postaci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Fizyka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ier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ilniki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ymulacje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Realistyczna fizyka to fundament immersji w grach akcji, platformówkach 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symulatorach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starannej konfiguracji na mobile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PhysX (Unity 3D)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1554480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55448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 z mass, drag, angular drag</a:t>
            </a:r>
            <a:endParaRPr lang="en-US" sz="1100" spc="-20" dirty="0"/>
          </a:p>
        </p:txBody>
      </p:sp>
      <p:sp>
        <p:nvSpPr>
          <p:cNvPr id="13" name="Shape 11"/>
          <p:cNvSpPr/>
          <p:nvPr/>
        </p:nvSpPr>
        <p:spPr>
          <a:xfrm>
            <a:off x="429768" y="1901952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1901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pc="-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 types: Box, Sphere, Capsule, Mesh, Convex</a:t>
            </a:r>
            <a:endParaRPr lang="en-US" sz="1050" spc="-60" dirty="0"/>
          </a:p>
        </p:txBody>
      </p:sp>
      <p:sp>
        <p:nvSpPr>
          <p:cNvPr id="15" name="Shape 13"/>
          <p:cNvSpPr/>
          <p:nvPr/>
        </p:nvSpPr>
        <p:spPr>
          <a:xfrm>
            <a:off x="429768" y="2249424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2249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Joints: Fixed, Hinge, Spring, ConfigurableJoint</a:t>
            </a:r>
            <a:endParaRPr lang="en-US" sz="1100" spc="-20" dirty="0"/>
          </a:p>
        </p:txBody>
      </p:sp>
      <p:sp>
        <p:nvSpPr>
          <p:cNvPr id="17" name="Shape 15"/>
          <p:cNvSpPr/>
          <p:nvPr/>
        </p:nvSpPr>
        <p:spPr>
          <a:xfrm>
            <a:off x="429768" y="2596896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25968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Materials: friction, bounciness</a:t>
            </a:r>
            <a:endParaRPr lang="en-US" sz="1100" spc="-20" dirty="0"/>
          </a:p>
        </p:txBody>
      </p:sp>
      <p:sp>
        <p:nvSpPr>
          <p:cNvPr id="19" name="Shape 17"/>
          <p:cNvSpPr/>
          <p:nvPr/>
        </p:nvSpPr>
        <p:spPr>
          <a:xfrm>
            <a:off x="429768" y="2944368"/>
            <a:ext cx="36576" cy="2011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Collision Matrix </a:t>
            </a:r>
            <a:r>
              <a:rPr lang="en-US" sz="1100" spc="-2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selektywne kolizje</a:t>
            </a:r>
            <a:endParaRPr lang="en-US" sz="1100" spc="-20" dirty="0"/>
          </a:p>
        </p:txBody>
      </p:sp>
      <p:sp>
        <p:nvSpPr>
          <p:cNvPr id="21" name="Shape 19"/>
          <p:cNvSpPr/>
          <p:nvPr/>
        </p:nvSpPr>
        <p:spPr>
          <a:xfrm>
            <a:off x="3200400" y="1115568"/>
            <a:ext cx="27432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Box2D (Unity 2D)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554480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1554480"/>
            <a:ext cx="24688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Rigidbody2D </a:t>
            </a:r>
            <a:r>
              <a:rPr lang="en-US" sz="1100" spc="-2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kinematic, dynamic, static</a:t>
            </a:r>
            <a:endParaRPr lang="en-US" sz="1100" spc="-20" dirty="0"/>
          </a:p>
        </p:txBody>
      </p:sp>
      <p:sp>
        <p:nvSpPr>
          <p:cNvPr id="26" name="Shape 24"/>
          <p:cNvSpPr/>
          <p:nvPr/>
        </p:nvSpPr>
        <p:spPr>
          <a:xfrm>
            <a:off x="3310128" y="1901952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1874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Collider, Edge Collider, Polygon</a:t>
            </a:r>
            <a:endParaRPr lang="en-US" sz="1100" spc="-20" dirty="0"/>
          </a:p>
        </p:txBody>
      </p:sp>
      <p:sp>
        <p:nvSpPr>
          <p:cNvPr id="28" name="Shape 26"/>
          <p:cNvSpPr/>
          <p:nvPr/>
        </p:nvSpPr>
        <p:spPr>
          <a:xfrm>
            <a:off x="3310128" y="2249424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DistanceJoint2D, WheelJoint2D, SliderJoint2D</a:t>
            </a:r>
            <a:endParaRPr lang="en-US" sz="1100" spc="-50" dirty="0"/>
          </a:p>
        </p:txBody>
      </p:sp>
      <p:sp>
        <p:nvSpPr>
          <p:cNvPr id="30" name="Shape 28"/>
          <p:cNvSpPr/>
          <p:nvPr/>
        </p:nvSpPr>
        <p:spPr>
          <a:xfrm>
            <a:off x="3310128" y="2596896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2596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spc="-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Effectors: AreaEffector, SurfaceEffector (conveyor)</a:t>
            </a:r>
            <a:endParaRPr lang="en-US" sz="1050" spc="-60" dirty="0"/>
          </a:p>
        </p:txBody>
      </p:sp>
      <p:sp>
        <p:nvSpPr>
          <p:cNvPr id="32" name="Shape 30"/>
          <p:cNvSpPr/>
          <p:nvPr/>
        </p:nvSpPr>
        <p:spPr>
          <a:xfrm>
            <a:off x="3310128" y="2944368"/>
            <a:ext cx="36576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401568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PhysicsMaterial2D </a:t>
            </a:r>
            <a:r>
              <a:rPr lang="en-US" sz="1100" spc="-2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tarcie i odbicie 2D</a:t>
            </a:r>
            <a:endParaRPr lang="en-US" sz="1100" spc="-20" dirty="0"/>
          </a:p>
        </p:txBody>
      </p:sp>
      <p:sp>
        <p:nvSpPr>
          <p:cNvPr id="34" name="Shape 32"/>
          <p:cNvSpPr/>
          <p:nvPr/>
        </p:nvSpPr>
        <p:spPr>
          <a:xfrm>
            <a:off x="6080760" y="1115568"/>
            <a:ext cx="274320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Havok Physics (ECS)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80760" y="14630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1554480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81928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Deterministyczna fizyka dla multi-player</a:t>
            </a:r>
            <a:endParaRPr lang="en-US" sz="1100" spc="-20" dirty="0"/>
          </a:p>
        </p:txBody>
      </p:sp>
      <p:sp>
        <p:nvSpPr>
          <p:cNvPr id="39" name="Shape 37"/>
          <p:cNvSpPr/>
          <p:nvPr/>
        </p:nvSpPr>
        <p:spPr>
          <a:xfrm>
            <a:off x="6190488" y="1901952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281928" y="190195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DOTS/ECS </a:t>
            </a:r>
            <a:r>
              <a:rPr lang="en-US" sz="1100" spc="-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liniowo w pamięci</a:t>
            </a:r>
            <a:endParaRPr lang="en-US" sz="1100" spc="-50" dirty="0"/>
          </a:p>
        </p:txBody>
      </p:sp>
      <p:sp>
        <p:nvSpPr>
          <p:cNvPr id="41" name="Shape 39"/>
          <p:cNvSpPr/>
          <p:nvPr/>
        </p:nvSpPr>
        <p:spPr>
          <a:xfrm>
            <a:off x="6190488" y="2249424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281928" y="22494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Znacząco wydajniejsza niż PhysX dla dużych scen</a:t>
            </a:r>
            <a:endParaRPr lang="en-US" sz="1100" spc="-50" dirty="0"/>
          </a:p>
        </p:txBody>
      </p:sp>
      <p:sp>
        <p:nvSpPr>
          <p:cNvPr id="43" name="Shape 41"/>
          <p:cNvSpPr/>
          <p:nvPr/>
        </p:nvSpPr>
        <p:spPr>
          <a:xfrm>
            <a:off x="6190488" y="2596896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6281928" y="25968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Compiler </a:t>
            </a:r>
            <a:r>
              <a:rPr lang="en-US" sz="1100" spc="-2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optymalizacje</a:t>
            </a:r>
            <a:endParaRPr lang="en-US" sz="1100" spc="-20" dirty="0"/>
          </a:p>
        </p:txBody>
      </p:sp>
      <p:sp>
        <p:nvSpPr>
          <p:cNvPr id="45" name="Shape 43"/>
          <p:cNvSpPr/>
          <p:nvPr/>
        </p:nvSpPr>
        <p:spPr>
          <a:xfrm>
            <a:off x="6190488" y="2944368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sleep </a:t>
            </a:r>
            <a:r>
              <a:rPr lang="en-US" sz="1100" spc="-2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spc="-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uśpienie nieaktywnych ciał</a:t>
            </a:r>
            <a:endParaRPr lang="en-US" sz="1100" spc="-20" dirty="0"/>
          </a:p>
        </p:txBody>
      </p:sp>
      <p:sp>
        <p:nvSpPr>
          <p:cNvPr id="47" name="Text 45"/>
          <p:cNvSpPr/>
          <p:nvPr/>
        </p:nvSpPr>
        <p:spPr>
          <a:xfrm>
            <a:off x="320040" y="34930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 postacią z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Rigidbody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" y="3794760"/>
            <a:ext cx="41605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840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0624" y="3813048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Ruch na podstawie wejścia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h = Input.GetAxis("Horizontal");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v = Input.GetAxis("Vertical");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move = new Vector3(h, 0, v) * speed;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rb.MovePosition(rb.position + move * Time.fixedDeltaTime);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Skok z detekcją podłoża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(isGrounded &amp;&amp; Input.GetButtonDown("Jump"))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rb.AddForce(Vector3.up * jumpForce, ForceMode.Impulse);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63440" y="3493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Najlepsze praktyki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fizyki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663440" y="3822192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8130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FixedUpdate dla fizyki (NIE Update)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032504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4023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Fixed Timestep na 0.02 lub 0.033 (mobile)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4242816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Używaj Layer Matrix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pomija zbędne kolizje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4453128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44439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Mesh Collider zamiast Concave (10× szybszy)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663440"/>
            <a:ext cx="118872" cy="118872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46542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Tryb Continuous Collision Detect tylko dla szybkich obiektów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Detekcja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olizji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lgorytmy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mplementacja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Algorytmy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detekcji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kolizji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52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AABB (Axis-Aligned Bounding Box)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020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Najprostszy i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najszybszy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prostokąt wyrównany do osi. O(1) test. Używany jako broad phase. Wadą jest brak obrotu.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93392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055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GJK + EPA (Convex Hulls)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Gilbert-Johnson-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Keerthi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dokładna detekcja wypukłych brył. Expanding Polytope Algorithm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głębokość penetracji. Używany przez PhysX.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07792"/>
            <a:ext cx="64008" cy="8229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809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Phase (BVH / SAP)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613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Volume Hierarchy i Sweep and Prune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O(n²) do O(n log n). Eliminacja par niekolizyjnych przed dokładną fazą.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45052"/>
            <a:ext cx="4160520" cy="7528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45052"/>
            <a:ext cx="64008" cy="7528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6486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 / Overlap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757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Physics.Raycast, OverlapSphere,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SphereCast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dyskretne zapytania do silnika fizyki. Efektywne dla hitscan, pola widzenia, line of sight.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777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Callbacki kolizji w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025652"/>
            <a:ext cx="4206240" cy="23698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124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1124712"/>
            <a:ext cx="40050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PlayerCollision : MonoBehaviour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Fizyczne kolizje (Collider + Rigidbody) ---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OnCollisionEnter(Collision col)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(col.gameObject.CompareTag("Enemy"))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TakeDamage(col.impulse.magnitude);</a:t>
            </a:r>
            <a:endParaRPr lang="en-US" sz="850" dirty="0"/>
          </a:p>
          <a:p>
            <a:pPr marL="0" indent="0">
              <a:lnSpc>
                <a:spcPts val="6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Punkty styku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foreach (ContactPoint p in col.contacts)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Debug.DrawRay(p.point, p.normal, Color.red);</a:t>
            </a:r>
            <a:endParaRPr lang="en-US" sz="850" dirty="0"/>
          </a:p>
          <a:p>
            <a:pPr marL="0" indent="0">
              <a:lnSpc>
                <a:spcPts val="6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OnCollisionStay(Collision col) { /* tarcie */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OnCollisionExit(Collision col) { /* cleanup */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Triggery (Is Trigger = true) ---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OnTriggerEnter(Collider other)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(other.TryGetComponent&lt;Coin&gt;(out var coin))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coin.Collect();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50" dirty="0" smtClean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--- 2D wersje (Physics2D) ---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OnCollisionEnter2D(Collision2D col) {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OnTriggerEnter2D(Collider2D other) { 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341223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</a:t>
            </a:r>
            <a:r>
              <a:rPr lang="en-US" sz="12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sight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206240" cy="11338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3730752"/>
            <a:ext cx="4005072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Sprawdź czy gracz widzi cel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RaycastHit hit;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mask = LayerMask.GetMask("Obstacle");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hasLOS = !Physics.Raycast(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(target.position - transform.position).normalized,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hit, viewDistance, mask);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(hasLOS) AttackPlayer();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Proceduralne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enerowanie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7"/>
            <a:ext cx="8412480" cy="40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Proceduralne generowanie pozwala tworzyć nieograniczoną ilość unikalnego contentu przy minimalnym zasobach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artystycznych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 roguelite i sandbox games</a:t>
            </a:r>
            <a:endParaRPr lang="en-US" sz="1400" dirty="0"/>
          </a:p>
        </p:txBody>
      </p:sp>
      <p:grpSp>
        <p:nvGrpSpPr>
          <p:cNvPr id="33" name="Grupa 32"/>
          <p:cNvGrpSpPr/>
          <p:nvPr/>
        </p:nvGrpSpPr>
        <p:grpSpPr>
          <a:xfrm>
            <a:off x="320040" y="1289304"/>
            <a:ext cx="8659368" cy="2916936"/>
            <a:chOff x="320040" y="1115568"/>
            <a:chExt cx="8659368" cy="3666744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64008" cy="114300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57200" y="1188720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Szum Perlin / Simplex Noise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1499616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Generowanie terenu, map wysokości, tekstur chmur. Octaves + persistence +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lacunarity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fraktalne detale. Unity: Mathf.PerlinNoise().</a:t>
              </a:r>
              <a:endParaRPr lang="en-US" sz="12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27448" y="1115568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727448" y="1115568"/>
              <a:ext cx="64008" cy="114300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4864608" y="1188720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BSP (Binary Space Partitioning)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64608" y="1499616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Rekurencyjny podział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przestrzeni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dungeons, mapy pomieszczeń. Każdy liść drzewa BSP to pomieszczenie lub korytarz.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2377440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320040" y="2377440"/>
              <a:ext cx="64008" cy="1143000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57200" y="2450592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Wave Function Collapse (WFC)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2761488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Algorytm generowania map z zachowaniem lokalnej spójności wzorców. Tile-based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analizuje przykład i generuje nieskończone warianty.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27448" y="2377440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27448" y="2377440"/>
              <a:ext cx="64008" cy="114300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864608" y="2450592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L-Systems (Rośliny)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64608" y="2761488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Gramatyki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Lindenmayera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formalne systemy przepisywania dla roślin, miast, jaskiń. Rekurencyjne rozwijanie symboli w geometrię 3D.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639312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" y="3639312"/>
              <a:ext cx="64008" cy="1143000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457200" y="3712464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Delaunay Triangulation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4023360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Triangulacja </a:t>
              </a:r>
              <a:r>
                <a:rPr lang="en-US" sz="12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Delaunay'a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generowanie dróg, rzek, rozkład punktów zainteresowania na mapie świata. Optymalne pokrycie.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27448" y="3639312"/>
              <a:ext cx="4251960" cy="1143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727448" y="3639312"/>
              <a:ext cx="64008" cy="1143000"/>
            </a:xfrm>
            <a:prstGeom prst="rect">
              <a:avLst/>
            </a:prstGeom>
            <a:solidFill>
              <a:srgbClr val="22D3EE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4864608" y="3712464"/>
              <a:ext cx="40507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Marching Cubes / Squares</a:t>
              </a:r>
              <a:endParaRPr lang="en-US" sz="14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864608" y="4023360"/>
              <a:ext cx="4050792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Ekstrakcja izopowierzchni ze scalar field </a:t>
              </a:r>
              <a:r>
                <a:rPr lang="en-US" sz="12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2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generowanie grot, terenu wokseli (jak Minecraft). Voxel terrain z smooth mesh.</a:t>
              </a:r>
              <a:endParaRPr lang="en-US" sz="12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320040" y="439826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Seed-based generation: ten sam seed zawsze generuje identyczny </a:t>
            </a:r>
            <a:r>
              <a:rPr lang="en-US" sz="1400" b="1" dirty="0" err="1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świat</a:t>
            </a: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dla sharowalnych map i debugowania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Sztuczna Inteligencja w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Mobilnych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866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grach nie wymaga </a:t>
            </a:r>
            <a:r>
              <a:rPr lang="en-US" sz="1400" i="1" dirty="0" err="1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realizmu</a:t>
            </a: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iluzji inteligentnego zachowania przy minimalnym koszcie obliczeniowym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93468"/>
            <a:ext cx="4160520" cy="23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Techniki AI w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grach</a:t>
            </a:r>
            <a:endParaRPr lang="en-US" sz="1400" dirty="0"/>
          </a:p>
        </p:txBody>
      </p:sp>
      <p:grpSp>
        <p:nvGrpSpPr>
          <p:cNvPr id="43" name="Grupa 42"/>
          <p:cNvGrpSpPr/>
          <p:nvPr/>
        </p:nvGrpSpPr>
        <p:grpSpPr>
          <a:xfrm>
            <a:off x="320040" y="1426972"/>
            <a:ext cx="4160520" cy="555748"/>
            <a:chOff x="320040" y="1426972"/>
            <a:chExt cx="4160520" cy="555748"/>
          </a:xfrm>
        </p:grpSpPr>
        <p:sp>
          <p:nvSpPr>
            <p:cNvPr id="9" name="Shape 7"/>
            <p:cNvSpPr/>
            <p:nvPr/>
          </p:nvSpPr>
          <p:spPr>
            <a:xfrm>
              <a:off x="320040" y="1442720"/>
              <a:ext cx="4160520" cy="54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320040" y="1442720"/>
              <a:ext cx="64008" cy="540000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457200" y="1426972"/>
              <a:ext cx="3959352" cy="2171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Finite State Machine (FSM)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" y="1655318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Stany (Idle, Patrol, Chase, Attack) z przejściami warunkowanymi. Prosta implementacja, trudna w skalowaniu powyżej ~10 stanów.</a:t>
              </a:r>
              <a:endParaRPr lang="en-US" sz="1100" dirty="0"/>
            </a:p>
          </p:txBody>
        </p:sp>
      </p:grpSp>
      <p:grpSp>
        <p:nvGrpSpPr>
          <p:cNvPr id="42" name="Grupa 41"/>
          <p:cNvGrpSpPr/>
          <p:nvPr/>
        </p:nvGrpSpPr>
        <p:grpSpPr>
          <a:xfrm>
            <a:off x="320040" y="2022770"/>
            <a:ext cx="4160520" cy="562098"/>
            <a:chOff x="320040" y="2231644"/>
            <a:chExt cx="4160520" cy="562098"/>
          </a:xfrm>
        </p:grpSpPr>
        <p:sp>
          <p:nvSpPr>
            <p:cNvPr id="13" name="Shape 11"/>
            <p:cNvSpPr/>
            <p:nvPr/>
          </p:nvSpPr>
          <p:spPr>
            <a:xfrm>
              <a:off x="320040" y="2253742"/>
              <a:ext cx="4160520" cy="54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320040" y="2253742"/>
              <a:ext cx="64008" cy="54000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457200" y="2231644"/>
              <a:ext cx="3959352" cy="2270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Behavior Trees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2628" y="2462530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Hierarchiczna </a:t>
              </a:r>
              <a:r>
                <a:rPr lang="en-US" sz="11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struktura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Selector, Sequence, Decorator, Leaf (Task). Modularność i reużywalność. NodeCanvas, Behavior Designer (Unity).</a:t>
              </a:r>
              <a:endParaRPr lang="en-US" sz="1100" dirty="0"/>
            </a:p>
          </p:txBody>
        </p:sp>
      </p:grpSp>
      <p:grpSp>
        <p:nvGrpSpPr>
          <p:cNvPr id="41" name="Grupa 40"/>
          <p:cNvGrpSpPr/>
          <p:nvPr/>
        </p:nvGrpSpPr>
        <p:grpSpPr>
          <a:xfrm>
            <a:off x="314706" y="2624918"/>
            <a:ext cx="4160520" cy="540000"/>
            <a:chOff x="320040" y="3026664"/>
            <a:chExt cx="4160520" cy="540000"/>
          </a:xfrm>
        </p:grpSpPr>
        <p:sp>
          <p:nvSpPr>
            <p:cNvPr id="17" name="Shape 15"/>
            <p:cNvSpPr/>
            <p:nvPr/>
          </p:nvSpPr>
          <p:spPr>
            <a:xfrm>
              <a:off x="320040" y="3026664"/>
              <a:ext cx="4160520" cy="54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320040" y="3026664"/>
              <a:ext cx="64008" cy="54000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57200" y="3055366"/>
              <a:ext cx="3959352" cy="1742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GOAP (Goal Oriented Action Planning)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" y="3241802"/>
              <a:ext cx="3959352" cy="282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 planuje sekwencję akcji do osiągnięcia celu. Dynamiczne planowanie ścieżki przez problem space. Używany w F.E.A.R., Tomb Raider.</a:t>
              </a:r>
              <a:endParaRPr lang="en-US" sz="1100" spc="-40" dirty="0"/>
            </a:p>
          </p:txBody>
        </p:sp>
      </p:grpSp>
      <p:grpSp>
        <p:nvGrpSpPr>
          <p:cNvPr id="40" name="Grupa 39"/>
          <p:cNvGrpSpPr/>
          <p:nvPr/>
        </p:nvGrpSpPr>
        <p:grpSpPr>
          <a:xfrm>
            <a:off x="320040" y="3195574"/>
            <a:ext cx="4160520" cy="555748"/>
            <a:chOff x="320040" y="3840988"/>
            <a:chExt cx="4160520" cy="555748"/>
          </a:xfrm>
        </p:grpSpPr>
        <p:sp>
          <p:nvSpPr>
            <p:cNvPr id="21" name="Shape 19"/>
            <p:cNvSpPr/>
            <p:nvPr/>
          </p:nvSpPr>
          <p:spPr>
            <a:xfrm>
              <a:off x="320040" y="3856736"/>
              <a:ext cx="4160520" cy="54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320040" y="3856736"/>
              <a:ext cx="64008" cy="54000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457200" y="3840988"/>
              <a:ext cx="3959352" cy="2199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Utility AI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" y="4087114"/>
              <a:ext cx="3959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Ocenianie każdej akcji liczbową </a:t>
              </a:r>
              <a:r>
                <a:rPr lang="en-US" sz="11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wartością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użyteczności</a:t>
              </a:r>
              <a:r>
                <a:rPr lang="pl-PL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</a:t>
              </a:r>
              <a:r>
                <a:rPr lang="en-US" sz="1100" dirty="0" err="1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ybór</a:t>
              </a: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akcji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/>
              </a:r>
              <a:br>
                <a:rPr lang="pl-PL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1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 </a:t>
              </a: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najwyższym score. Naturalne zachowania, jak NPC w The Sims.</a:t>
              </a:r>
              <a:endParaRPr lang="en-US" sz="11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Pathfinding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NavMesh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435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471422"/>
            <a:ext cx="40050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using UnityEngine.AI;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 class EnemyAI : MonoBehaviour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NavMeshAgent agent;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Transform player;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float attackRange = 2f;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void Update()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float dist = Vector3.Distance(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transform.position, player.position);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if (dist &gt; attackRange)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// Pathfinding do gracza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agent.SetDestination(player.position);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ChangeState(State.Chase);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agent.isStopped = true;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ChangeState(State.Attack);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// Dynamiczne przeszkody: NavMeshObstacle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// NavMesh.SamplePosition() dla cover points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>
              <a:latin typeface="Consolas" panose="020B06090202040302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2994" y="383260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vs </a:t>
            </a:r>
            <a:r>
              <a:rPr lang="en-US" sz="12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NavMesh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kiedy co </a:t>
            </a:r>
            <a:r>
              <a:rPr lang="en-US" sz="12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używać</a:t>
            </a:r>
            <a:endParaRPr lang="en-US" sz="1200" dirty="0"/>
          </a:p>
        </p:txBody>
      </p:sp>
      <p:grpSp>
        <p:nvGrpSpPr>
          <p:cNvPr id="39" name="Grupa 38"/>
          <p:cNvGrpSpPr/>
          <p:nvPr/>
        </p:nvGrpSpPr>
        <p:grpSpPr>
          <a:xfrm>
            <a:off x="332994" y="4078728"/>
            <a:ext cx="4206240" cy="352044"/>
            <a:chOff x="4663440" y="3721100"/>
            <a:chExt cx="4206240" cy="352044"/>
          </a:xfrm>
        </p:grpSpPr>
        <p:sp>
          <p:nvSpPr>
            <p:cNvPr id="30" name="Shape 28"/>
            <p:cNvSpPr/>
            <p:nvPr/>
          </p:nvSpPr>
          <p:spPr>
            <a:xfrm>
              <a:off x="4663440" y="3721100"/>
              <a:ext cx="4206240" cy="3520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663440" y="3721100"/>
              <a:ext cx="64008" cy="352044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4800600" y="3730752"/>
              <a:ext cx="4005072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NavMesh (Unity wbudowany)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800600" y="3875532"/>
              <a:ext cx="4005072" cy="1912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3D, złożona geometria, dynamiczne agenty, płynny ruch</a:t>
              </a:r>
              <a:endParaRPr lang="en-US" sz="1100" dirty="0"/>
            </a:p>
          </p:txBody>
        </p:sp>
      </p:grpSp>
      <p:grpSp>
        <p:nvGrpSpPr>
          <p:cNvPr id="38" name="Grupa 37"/>
          <p:cNvGrpSpPr/>
          <p:nvPr/>
        </p:nvGrpSpPr>
        <p:grpSpPr>
          <a:xfrm>
            <a:off x="332994" y="4491732"/>
            <a:ext cx="4206240" cy="371348"/>
            <a:chOff x="4663440" y="4215384"/>
            <a:chExt cx="4206240" cy="371348"/>
          </a:xfrm>
        </p:grpSpPr>
        <p:sp>
          <p:nvSpPr>
            <p:cNvPr id="34" name="Shape 32"/>
            <p:cNvSpPr/>
            <p:nvPr/>
          </p:nvSpPr>
          <p:spPr>
            <a:xfrm>
              <a:off x="4663440" y="4218940"/>
              <a:ext cx="4206240" cy="360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4663440" y="4218940"/>
              <a:ext cx="64008" cy="36000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800600" y="4215384"/>
              <a:ext cx="4005072" cy="1912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A* Pathfinding Project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00600" y="4376420"/>
              <a:ext cx="4005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spc="-4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Grid-based 2D/3D, wiele typów agentów, dynamiczne mapy, mobile-friendly</a:t>
              </a:r>
              <a:endParaRPr lang="en-US" sz="1100" spc="-4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rach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ML-Agents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czenie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przez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zmocnienie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 Toolkit umożliwia trenowanie agentów z użyciem reinforcement learning i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imitacji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nieprzewidywalnych, adaptacyjnych przeciwników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43000"/>
            <a:ext cx="64008" cy="109728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270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 podejmujący decyzje na podstawie obserwacji środowiska. Implementuje metodę OnActionReceived() i CollectObservations().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4300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4300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161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Środowisko (Environment)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270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gry dostarczająca stany (observations) i nagrody (rewards). Może działać jako wiele równoległych instancji (multi-environment training).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50008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23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(Polityka)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3405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neuronowa mapująca obserwacje na akcje. Proximal Policy Optimization (PPO)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domyślny algorytm ML-Agents.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3500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50008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23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3405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element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projektowania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shaping, dense vs sparse rewards. Złe nagrody prowadzą do reward hacking (agent exploituje system).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57016"/>
            <a:ext cx="64008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301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Imitation Learning (BC/GAIL)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4106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przez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demonstrację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nagrywanie ludzkich rozgrywek jako dane treningowe. GAIL (Generative Adversarial Imitation Learning).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557016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557016"/>
            <a:ext cx="64008" cy="10972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63016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na Urządzeniu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94106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Wytrenowany model (.onnx) eksportowany do Unity → Barracuda runtime. CPU/GPU inference na mobile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 60 FPS.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 ML w grach mobilnych: adaptacja trudności (DDA), zachowania NPC, generowanie muzyki, anti-cheat detection, matchmaking skill-based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Projektowanie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ameplayowe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alansowanie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Difficulty Adjustment (DDA) dostosowuje wyzwanie do umiejętności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utrzymuje flow state i redukuje frustrację/nudę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Flow (Csikszentmihalyi) w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projektowaniu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160520" cy="2606040"/>
          </a:xfrm>
          <a:prstGeom prst="rect">
            <a:avLst/>
          </a:prstGeom>
          <a:solidFill>
            <a:srgbClr val="F8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44752"/>
            <a:ext cx="4160520" cy="12801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743200"/>
            <a:ext cx="2103120" cy="130759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691640"/>
            <a:ext cx="4160520" cy="7772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5361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 trudne)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828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ZONE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(idealne wyzwanie)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(za łatwe)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444752"/>
            <a:ext cx="457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Trudność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91363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Umiejętności gracza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Rubber Band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8013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Przeciwnicy dostosowują prędkość/agresję do wyniku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Kart, racing games. Kontrowersyjna mechanika.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2199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21992"/>
            <a:ext cx="64008" cy="7315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2951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Spawn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6060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i typ wrogów zależny od win/loss ratio gracza w ostatnich N runach. Spawn budgets.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2666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026664"/>
            <a:ext cx="6400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0998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DDA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4107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Monitorowanie metryk: śmierci, czasu levelów,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zasobów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korekta parametrów.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831336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831336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9044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Stealth Assistance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2153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Ukryta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prevention, ostatnie sekundy gracza są łatwiejsze (np. auto-aim buff).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metryki: śmierci/minutę · retry rate · level completion rate · sessjon length · rage quit events</a:t>
            </a:r>
            <a:endParaRPr lang="en-US" sz="1150" dirty="0"/>
          </a:p>
        </p:txBody>
      </p:sp>
      <p:pic>
        <p:nvPicPr>
          <p:cNvPr id="1026" name="Picture 2" descr="Csikszentmihalyi's 3-channel flow model | Download Scientific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4" y="1444665"/>
            <a:ext cx="2701925" cy="236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bsługa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otyku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estów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input to dotyk, gesty, akcelerometr i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żyroskop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zupełnie inny paradygmat niż klawiatura i mysz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4731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Input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217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0792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Input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18818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Input.GetAxis(), Input.GetButtonDown()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prosty, ale nieelastyczny. Brak remappingu i multi-platform abstrakcji.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75688"/>
            <a:ext cx="64008" cy="62179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6629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Input System (2019+)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77185"/>
            <a:ext cx="3959352" cy="234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Maps, Input Actions, Binding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abstrakcja platformy. PlayerInput component, Callbacks i UnityEvent. Rekomendowane.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3405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34056"/>
            <a:ext cx="6400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2465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Input.touches (Legacy Touch)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35554"/>
            <a:ext cx="3959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Touch[]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fazy: Began, Moved, Stationary, Ended, Canceled. Multi-touch, deltaPosition, pressure.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Rozpoznawanie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gestów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4160520" cy="130733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6611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3667506"/>
            <a:ext cx="39593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// Pinch to zoom (multi-touch)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if (Input.touchCount == 2)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Touch t0 = Input.GetTouch(0);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Touch t1 = Input.GetTouch(1);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float prevDist = Vector2.Distance(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t0.position - t0.deltaPosition,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t1.position - t1.deltaPosition);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float currDist = Vector2.Distance(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t0.position, t1.position);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float delta = currDist - prevDist;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Camera.main.orthographicSize -= delta * zoomSpeed;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>
              <a:latin typeface="Consolas" panose="020B0609020204030204" pitchFamily="49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63440" y="114731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Żyroskop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Akcelerometr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453896"/>
            <a:ext cx="4005072" cy="1339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850" dirty="0" err="1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Żyroskop</a:t>
            </a: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smtClean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VR, AR, tilt controls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Input.gyro.enabled = true;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Quaternion gyroRot = Input.gyro.attitude;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// Konwersja z Right-handed do Left-handed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Quaternion unity = new Quaternion(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gyroRot.x, gyroRot.y,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-gyroRot.z, -gyroRot.w);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transform.localRotation = unity;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850" dirty="0" err="1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Akcelerometr</a:t>
            </a: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smtClean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tilt steering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Vector3 accel = Input.acceleration;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float tilt = Mathf.Clamp(accel.x, -1f, 1f);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rb.AddForce(Vector3.right * tilt * steerForce);</a:t>
            </a:r>
            <a:endParaRPr lang="en-US" sz="850" dirty="0">
              <a:latin typeface="Consolas" panose="020B06090202040302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63440" y="2846832"/>
            <a:ext cx="4206240" cy="166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Wirtualny joystick i HUD </a:t>
            </a:r>
            <a:r>
              <a:rPr lang="en-US" sz="13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300" dirty="0"/>
          </a:p>
        </p:txBody>
      </p:sp>
      <p:grpSp>
        <p:nvGrpSpPr>
          <p:cNvPr id="46" name="Grupa 45"/>
          <p:cNvGrpSpPr/>
          <p:nvPr/>
        </p:nvGrpSpPr>
        <p:grpSpPr>
          <a:xfrm>
            <a:off x="4663440" y="3031519"/>
            <a:ext cx="4206240" cy="382446"/>
            <a:chOff x="4663440" y="3284512"/>
            <a:chExt cx="4206240" cy="283599"/>
          </a:xfrm>
        </p:grpSpPr>
        <p:sp>
          <p:nvSpPr>
            <p:cNvPr id="30" name="Shape 28"/>
            <p:cNvSpPr/>
            <p:nvPr/>
          </p:nvSpPr>
          <p:spPr>
            <a:xfrm>
              <a:off x="4663440" y="3291840"/>
              <a:ext cx="4206240" cy="27627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4663440" y="3291840"/>
              <a:ext cx="64008" cy="276271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4800600" y="3284512"/>
              <a:ext cx="40050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Float Joystick </a:t>
              </a:r>
              <a:r>
                <a:rPr lang="en-US" sz="1200" b="1" dirty="0" smtClean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(</a:t>
              </a:r>
              <a:r>
                <a:rPr lang="pl-PL" sz="1200" b="1" dirty="0" smtClean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d</a:t>
              </a:r>
              <a:r>
                <a:rPr lang="en-US" sz="1200" b="1" dirty="0" err="1" smtClean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ynamic</a:t>
              </a:r>
              <a:r>
                <a:rPr lang="en-US" sz="1200" b="1" dirty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800600" y="3432615"/>
              <a:ext cx="4005072" cy="913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100" spc="-3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Joystick pojawia się w miejscu </a:t>
              </a:r>
              <a:r>
                <a:rPr lang="en-US" sz="1100" spc="-3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dotyku</a:t>
              </a:r>
              <a:r>
                <a:rPr lang="en-US" sz="1100" spc="-3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spc="-3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spc="-3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bardziej ergonomiczny niż statyczny</a:t>
              </a:r>
              <a:endParaRPr lang="en-US" sz="1100" spc="-30" dirty="0"/>
            </a:p>
          </p:txBody>
        </p:sp>
      </p:grpSp>
      <p:grpSp>
        <p:nvGrpSpPr>
          <p:cNvPr id="47" name="Grupa 46"/>
          <p:cNvGrpSpPr/>
          <p:nvPr/>
        </p:nvGrpSpPr>
        <p:grpSpPr>
          <a:xfrm>
            <a:off x="4663440" y="3520878"/>
            <a:ext cx="4206240" cy="354145"/>
            <a:chOff x="4663440" y="3670259"/>
            <a:chExt cx="4206240" cy="262613"/>
          </a:xfrm>
        </p:grpSpPr>
        <p:sp>
          <p:nvSpPr>
            <p:cNvPr id="34" name="Shape 32"/>
            <p:cNvSpPr/>
            <p:nvPr/>
          </p:nvSpPr>
          <p:spPr>
            <a:xfrm>
              <a:off x="4663440" y="3676162"/>
              <a:ext cx="4206240" cy="2567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4663440" y="3676162"/>
              <a:ext cx="64008" cy="25671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6" name="Text 34"/>
            <p:cNvSpPr/>
            <p:nvPr/>
          </p:nvSpPr>
          <p:spPr>
            <a:xfrm>
              <a:off x="4800600" y="3670259"/>
              <a:ext cx="1174750" cy="1330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Dead Zone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4800600" y="3813183"/>
              <a:ext cx="4005072" cy="110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100" spc="-3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Ignoruj ruch joysticka &lt; threshold (0.1) </a:t>
              </a:r>
              <a:r>
                <a:rPr lang="en-US" sz="1100" spc="-3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spc="-3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eliminacja szumu i drgań palca</a:t>
              </a:r>
              <a:endParaRPr lang="en-US" sz="1100" spc="-30" dirty="0"/>
            </a:p>
          </p:txBody>
        </p:sp>
      </p:grpSp>
      <p:grpSp>
        <p:nvGrpSpPr>
          <p:cNvPr id="48" name="Grupa 47"/>
          <p:cNvGrpSpPr/>
          <p:nvPr/>
        </p:nvGrpSpPr>
        <p:grpSpPr>
          <a:xfrm>
            <a:off x="4663440" y="3987524"/>
            <a:ext cx="4206240" cy="443920"/>
            <a:chOff x="4663440" y="4041648"/>
            <a:chExt cx="4206240" cy="329184"/>
          </a:xfrm>
        </p:grpSpPr>
        <p:sp>
          <p:nvSpPr>
            <p:cNvPr id="38" name="Shape 36"/>
            <p:cNvSpPr/>
            <p:nvPr/>
          </p:nvSpPr>
          <p:spPr>
            <a:xfrm>
              <a:off x="4663440" y="4041648"/>
              <a:ext cx="420624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9" name="Shape 37"/>
            <p:cNvSpPr/>
            <p:nvPr/>
          </p:nvSpPr>
          <p:spPr>
            <a:xfrm>
              <a:off x="4663440" y="4041648"/>
              <a:ext cx="64008" cy="329184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4800600" y="4046631"/>
              <a:ext cx="4005072" cy="135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Haptic Feedback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800600" y="4192223"/>
              <a:ext cx="4005072" cy="166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100" spc="-2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Handheld.Vibrate() / iOS </a:t>
              </a:r>
              <a:r>
                <a:rPr lang="en-US" sz="1100" spc="-2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CoreHaptics</a:t>
              </a:r>
              <a:r>
                <a:rPr lang="en-US" sz="1100" spc="-2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pl-PL" sz="1100" spc="-2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</a:t>
              </a:r>
              <a:r>
                <a:rPr lang="en-US" sz="1100" spc="-2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spc="-2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feedback przy strzelaniu, kolizji, zbieraniu</a:t>
              </a:r>
              <a:endParaRPr lang="en-US" sz="1100" spc="-20" dirty="0"/>
            </a:p>
          </p:txBody>
        </p:sp>
      </p:grpSp>
      <p:grpSp>
        <p:nvGrpSpPr>
          <p:cNvPr id="49" name="Grupa 48"/>
          <p:cNvGrpSpPr/>
          <p:nvPr/>
        </p:nvGrpSpPr>
        <p:grpSpPr>
          <a:xfrm>
            <a:off x="4663440" y="4462272"/>
            <a:ext cx="4206240" cy="443919"/>
            <a:chOff x="4663440" y="4416552"/>
            <a:chExt cx="4206240" cy="329184"/>
          </a:xfrm>
        </p:grpSpPr>
        <p:sp>
          <p:nvSpPr>
            <p:cNvPr id="42" name="Shape 40"/>
            <p:cNvSpPr/>
            <p:nvPr/>
          </p:nvSpPr>
          <p:spPr>
            <a:xfrm>
              <a:off x="4663440" y="4416552"/>
              <a:ext cx="420624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4663440" y="4416552"/>
              <a:ext cx="64008" cy="329184"/>
            </a:xfrm>
            <a:prstGeom prst="rect">
              <a:avLst/>
            </a:prstGeom>
            <a:solidFill>
              <a:srgbClr val="22D3EE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4800600" y="4434840"/>
              <a:ext cx="400507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+mj-lt"/>
                  <a:ea typeface="Cambria" pitchFamily="34" charset="-122"/>
                  <a:cs typeface="Cambria" pitchFamily="34" charset="-120"/>
                </a:rPr>
                <a:t>Safe Area Layout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4800600" y="4553985"/>
              <a:ext cx="40050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100" spc="-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RectTransform safe area dla notch (iPhone X+) </a:t>
              </a:r>
              <a:r>
                <a:rPr lang="en-US" sz="1100" spc="-5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100" spc="-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UI nie przykrywa elementów systemu</a:t>
              </a:r>
              <a:endParaRPr lang="en-US" sz="1100" spc="-5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w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rach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obilnych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rojektowanie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nterfejsu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gry mobilnej musi być czytelne na ekranie 5–7 cali, obsługiwane jednym kciukiem i nie rozpraszać od rozgrywki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147318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 UI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33322"/>
            <a:ext cx="3959352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(UGUI) </a:t>
            </a:r>
            <a:r>
              <a:rPr lang="en-US" sz="1200" b="1" i="1" u="sng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</a:t>
            </a:r>
            <a:endParaRPr lang="en-US" sz="1200" i="1" u="sng" dirty="0"/>
          </a:p>
        </p:txBody>
      </p:sp>
      <p:sp>
        <p:nvSpPr>
          <p:cNvPr id="12" name="Text 10"/>
          <p:cNvSpPr/>
          <p:nvPr/>
        </p:nvSpPr>
        <p:spPr>
          <a:xfrm>
            <a:off x="457200" y="1744218"/>
            <a:ext cx="3959352" cy="244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1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RenderMode: Screen Space Overlay / Camera / World Space. Layout Groups (Vertical, Horizontal, Grid). Rector Transform. Powszechnie używany, ale kosztowny przy wielu elementach.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122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12264"/>
            <a:ext cx="64008" cy="65836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47316"/>
            <a:ext cx="3959352" cy="19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Toolkit (UIElements) </a:t>
            </a:r>
            <a:r>
              <a:rPr lang="en-US" sz="1200" b="1" i="1" u="sng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Nowe</a:t>
            </a:r>
            <a:endParaRPr lang="en-US" sz="1200" i="1" u="sng" dirty="0"/>
          </a:p>
        </p:txBody>
      </p:sp>
      <p:sp>
        <p:nvSpPr>
          <p:cNvPr id="16" name="Text 14"/>
          <p:cNvSpPr/>
          <p:nvPr/>
        </p:nvSpPr>
        <p:spPr>
          <a:xfrm>
            <a:off x="457200" y="2458212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UXML + USS (jak HTML+CSS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esponsive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data binding, UI Builder. Rekomendowane dla złożonych UI i cross-platform.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26258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26258"/>
            <a:ext cx="6400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816860"/>
            <a:ext cx="3959352" cy="2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Space UI </a:t>
            </a:r>
            <a:r>
              <a:rPr lang="en-US" sz="1200" b="1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(Diegetic)</a:t>
            </a:r>
            <a:endParaRPr lang="en-US" sz="1200" i="1" dirty="0"/>
          </a:p>
        </p:txBody>
      </p:sp>
      <p:sp>
        <p:nvSpPr>
          <p:cNvPr id="20" name="Text 18"/>
          <p:cNvSpPr/>
          <p:nvPr/>
        </p:nvSpPr>
        <p:spPr>
          <a:xfrm>
            <a:off x="457200" y="3052572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osadzony w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świecie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</a:t>
            </a:r>
            <a:r>
              <a:rPr lang="pl-PL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 pasek ż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yci</a:t>
            </a:r>
            <a:r>
              <a:rPr lang="pl-PL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głową, interaktywne ekrany w świecie. Immersja bez HUD nakładki.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5387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UX dla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gier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mobilnych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821430"/>
            <a:ext cx="4160520" cy="836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21430"/>
            <a:ext cx="64008" cy="836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62832"/>
            <a:ext cx="3959352" cy="163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Thumb-friendly zones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72128"/>
            <a:ext cx="3959352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Dolna część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ekranu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przyciski akcji. </a:t>
            </a:r>
            <a:endParaRPr lang="pl-PL" sz="110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Górny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pasywna informacja. </a:t>
            </a:r>
            <a:endParaRPr lang="pl-PL" sz="110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Unikaj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zasłania akcję.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18668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Hierarchia ekranów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nawigacja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417320"/>
            <a:ext cx="64008" cy="5212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439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Splash Screen → Main Menu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1750568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sekundy, auto-skip po załadowaniu, logo animacja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002536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002536"/>
            <a:ext cx="64008" cy="5212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0248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Menu → Level Select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335784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wyraźny CTA, progress widoczny na mapie poziomów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587752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587752"/>
            <a:ext cx="64008" cy="521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6101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Gameplay HUD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2921000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minimalistyczny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score, special. Ukryj zbędne informacje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172968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172968"/>
            <a:ext cx="64008" cy="5212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1953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Menu (ESC/Back)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3506216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wyłącza muzyki, wyraźny Resume, Settings dostępne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758184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758184"/>
            <a:ext cx="64008" cy="5212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7805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Over / Victory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00600" y="4091432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wynik, nowe rekordy podkreślone, retry jako domyślna akcja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434340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4343400"/>
            <a:ext cx="64008" cy="5212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36575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Store UI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4676648"/>
            <a:ext cx="40050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triggers, bundles, limited time offers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etyka monetyzacji!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w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rach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obilnych</a:t>
            </a:r>
            <a:r>
              <a:rPr lang="pl-PL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źwięk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uzyka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to 50% </a:t>
            </a:r>
            <a:r>
              <a:rPr lang="en-US" sz="1400" i="1" dirty="0" err="1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doświadczenia</a:t>
            </a: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</a:t>
            </a:r>
            <a:r>
              <a:rPr lang="pl-PL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i="1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00" i="1" dirty="0" err="1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zęsto</a:t>
            </a:r>
            <a:r>
              <a:rPr lang="en-US" sz="1400" i="1" dirty="0" smtClean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niedoceniane, ale kluczowe dla game feel, immersji i informacji zwrotnej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6001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audio w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42720"/>
            <a:ext cx="4455160" cy="5440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39" y="1442720"/>
            <a:ext cx="68541" cy="5440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01572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AudioSource + AudioClip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61668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PlayOneShot() dla SFX, Loop dla muzyki. AudioSource.Play() bez allokacji GC.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063242"/>
            <a:ext cx="4455160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39" y="2063242"/>
            <a:ext cx="68541" cy="52806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0636"/>
            <a:ext cx="423974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Mixer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0850" y="2269490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Grupy Master/Music/SFX z efektami (Reverb, Echo, Compressor).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Ducking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ściszanie muzyki podczas dialogów.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32964"/>
            <a:ext cx="4455160" cy="5453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39" y="2632964"/>
            <a:ext cx="68541" cy="54533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10866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FMOD Studio (Middleware)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" y="2855722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Profesjonalne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adaptacyjna muzyka, interactive music z transitions, parametry wywołujące efekty. Wwise jako alternatywa.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28086"/>
            <a:ext cx="4455160" cy="5346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39" y="3228086"/>
            <a:ext cx="68541" cy="53467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18688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Audio (3D Sound)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66846"/>
            <a:ext cx="4239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100" spc="-3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AudioSource.spatialBlend = 1 dla dźwięków 3D. </a:t>
            </a:r>
            <a:r>
              <a:rPr lang="en-US" sz="1100" spc="-30" dirty="0" err="1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Rolloff</a:t>
            </a:r>
            <a:r>
              <a:rPr lang="en-US" sz="1100" spc="-3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pc="-30" dirty="0" smtClean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curves</a:t>
            </a:r>
            <a:r>
              <a:rPr lang="pl-PL" sz="1100" spc="-30" dirty="0" smtClean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spc="-30" dirty="0" smtClean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pc="-3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logarytmiczne dla realistycznych spadków głośności. Audio Listener na kamerze.</a:t>
            </a:r>
            <a:endParaRPr lang="en-US" sz="1100" spc="-30" dirty="0"/>
          </a:p>
        </p:txBody>
      </p:sp>
      <p:sp>
        <p:nvSpPr>
          <p:cNvPr id="25" name="Text 23"/>
          <p:cNvSpPr/>
          <p:nvPr/>
        </p:nvSpPr>
        <p:spPr>
          <a:xfrm>
            <a:off x="4940300" y="1213342"/>
            <a:ext cx="3929380" cy="221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AudioManager</a:t>
            </a:r>
            <a:r>
              <a:rPr lang="pl-PL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Pool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SFX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5850" y="1463040"/>
            <a:ext cx="397383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757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2750" y="1502167"/>
            <a:ext cx="3783777" cy="331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public class AudioManager : MonoBehaviour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[SerializeField] AudioSource[] sfxSources;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int _idx = 0;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public void PlaySFX(AudioClip clip,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float volume = 1f, float pitch = 1f)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var src = sfxSources[_idx % sfxSources.Length];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src.clip = clip;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src.volume = volume;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src.pitch = pitch + Random.Range(-0.05f, 0.05f);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src.Play();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_idx++;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// Muzyka z cross-fade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public IEnumerator CrossfadeMusic(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AudioClip newTrack, float duration = 1f)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float t = 0;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while (t &lt; duration) {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musicSource.volume = Mathf.Lerp(1, 0, t/duration);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t += Time.deltaTime;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    yield return null;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musicSource.clip = newTrack;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95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musicSource.Play();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    // ... fade in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>
              <a:latin typeface="Consolas" panose="020B0609020204030204" pitchFamily="49" charset="0"/>
            </a:endParaRPr>
          </a:p>
          <a:p>
            <a:pPr marL="0" indent="0">
              <a:lnSpc>
                <a:spcPts val="7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>
              <a:latin typeface="Consolas" panose="020B0609020204030204" pitchFamily="49" charset="0"/>
            </a:endParaRPr>
          </a:p>
        </p:txBody>
      </p:sp>
      <p:grpSp>
        <p:nvGrpSpPr>
          <p:cNvPr id="40" name="Grupa 39"/>
          <p:cNvGrpSpPr/>
          <p:nvPr/>
        </p:nvGrpSpPr>
        <p:grpSpPr>
          <a:xfrm>
            <a:off x="450850" y="3824058"/>
            <a:ext cx="3568700" cy="1078992"/>
            <a:chOff x="4663440" y="3547872"/>
            <a:chExt cx="4206240" cy="1344168"/>
          </a:xfrm>
        </p:grpSpPr>
        <p:sp>
          <p:nvSpPr>
            <p:cNvPr id="29" name="Text 27"/>
            <p:cNvSpPr/>
            <p:nvPr/>
          </p:nvSpPr>
          <p:spPr>
            <a:xfrm>
              <a:off x="4663440" y="3547872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Optymalizacja audio </a:t>
              </a:r>
              <a:r>
                <a:rPr lang="en-US" sz="1200" b="1" dirty="0" smtClean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mobile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663440" y="3822192"/>
              <a:ext cx="118872" cy="118872"/>
            </a:xfrm>
            <a:prstGeom prst="ellipse">
              <a:avLst/>
            </a:prstGeom>
            <a:solidFill>
              <a:srgbClr val="0891B2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4846320" y="3813048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Format: Vorbis/OGG dla muzyki, ADPCM dla krótkich SFX</a:t>
              </a:r>
              <a:endParaRPr lang="en-US" sz="10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663440" y="4041648"/>
              <a:ext cx="118872" cy="118872"/>
            </a:xfrm>
            <a:prstGeom prst="ellipse">
              <a:avLst/>
            </a:prstGeom>
            <a:solidFill>
              <a:srgbClr val="0891B2"/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4846320" y="4032504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Load Type: Compressed In Memory dla muzyki BGM</a:t>
              </a:r>
              <a:endParaRPr lang="en-US" sz="10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663440" y="4261104"/>
              <a:ext cx="118872" cy="118872"/>
            </a:xfrm>
            <a:prstGeom prst="ellipse">
              <a:avLst/>
            </a:prstGeom>
            <a:solidFill>
              <a:srgbClr val="0891B2"/>
            </a:solidFill>
            <a:ln/>
          </p:spPr>
        </p:sp>
        <p:sp>
          <p:nvSpPr>
            <p:cNvPr id="35" name="Text 33"/>
            <p:cNvSpPr/>
            <p:nvPr/>
          </p:nvSpPr>
          <p:spPr>
            <a:xfrm>
              <a:off x="4846320" y="4251960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Mono audio dla dźwięków 3D </a:t>
              </a:r>
              <a:r>
                <a:rPr lang="en-US" sz="1050" dirty="0" smtClean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 </a:t>
              </a: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stereo tylko dla muzyki</a:t>
              </a:r>
              <a:endParaRPr lang="en-US" sz="10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663440" y="4480560"/>
              <a:ext cx="118872" cy="118872"/>
            </a:xfrm>
            <a:prstGeom prst="ellipse">
              <a:avLst/>
            </a:prstGeom>
            <a:solidFill>
              <a:srgbClr val="0891B2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4846320" y="4471416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 Voices: 32 jednoczesnych kanałów na mobile</a:t>
              </a:r>
              <a:endParaRPr lang="en-US" sz="10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663440" y="4700016"/>
              <a:ext cx="118872" cy="118872"/>
            </a:xfrm>
            <a:prstGeom prst="ellipse">
              <a:avLst/>
            </a:prstGeom>
            <a:solidFill>
              <a:srgbClr val="0891B2"/>
            </a:solidFill>
            <a:ln/>
          </p:spPr>
        </p:sp>
        <p:sp>
          <p:nvSpPr>
            <p:cNvPr id="39" name="Text 37"/>
            <p:cNvSpPr/>
            <p:nvPr/>
          </p:nvSpPr>
          <p:spPr>
            <a:xfrm>
              <a:off x="4846320" y="4690872"/>
              <a:ext cx="3977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AudioSettings.outputSampleRate: 44100 Hz standard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rofilowanie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ydajność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dla gier mobilnych: 60 FPS przy max 16.6 ms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klatkę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ażda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milisekunda ma znaczenie na słabszym SoC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2105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Narzędzia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profilowania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0792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Profiler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505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GPU, Memory, Audio, Physics frame-by-frame. Deep Profiling (wolniej, ale pełne callstacks). Profile Build na urządzeniu.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0792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Debugger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7505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Podgląd każdego draw call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batching, SetPass calls, materiały. Kluczowy do identyfikacji zbędnych renderów.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1376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Profiler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564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snapshot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które obiekty zajmują pamięć, referencje do GC roots. Managed vs Native memory.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7448" y="242316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2316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41376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GPU Profiler / Xcode Instruments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75640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Natywne narzędzia platform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counters, shader stalls, bandwidth. Snapdragon Profiler (Qualcomm), Mali Graphics Debugger.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493008"/>
            <a:ext cx="3147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wąskie gardła CPU </a:t>
            </a:r>
            <a:r>
              <a:rPr lang="en-US" sz="12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rozwiązania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22192"/>
            <a:ext cx="54864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" y="3849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GetComponent&lt;T&gt;() </a:t>
            </a:r>
            <a:r>
              <a:rPr lang="pl-PL" sz="950" b="1" dirty="0" smtClean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br>
              <a:rPr lang="pl-PL" sz="950" b="1" dirty="0" smtClean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950" b="1" dirty="0" smtClean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</a:t>
            </a: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48840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 Start() → prywatne pole. GetComponent() to kosztowny reflection-based lookup.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27448" y="3822192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3822192"/>
            <a:ext cx="54864" cy="3108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855464" y="3849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 / Destroy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56248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Pooling </a:t>
            </a:r>
            <a:r>
              <a:rPr lang="en-US" sz="9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recykl zamiast tworzenia nowych. Unity 2021: ObjectPool&lt;T&gt; wbudowany.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169664"/>
            <a:ext cx="4251960" cy="310896"/>
          </a:xfrm>
          <a:prstGeom prst="rect">
            <a:avLst/>
          </a:prstGeom>
          <a:solidFill>
            <a:srgbClr val="F8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169664"/>
            <a:ext cx="54864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48056" y="4197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Allocation </a:t>
            </a:r>
            <a:r>
              <a:rPr lang="en-US" sz="950" b="1" dirty="0" smtClean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garbage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48840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Unikaj new w Update(), string concatenation, LINQ. Użyj struct zamiast class dla małych danych.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27448" y="4169664"/>
            <a:ext cx="4251960" cy="310896"/>
          </a:xfrm>
          <a:prstGeom prst="rect">
            <a:avLst/>
          </a:prstGeom>
          <a:solidFill>
            <a:srgbClr val="F8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7448" y="4169664"/>
            <a:ext cx="54864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4197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 / FindObjectOfType()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56248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referencji w Awake/Start lub ScriptableObject Event. Nigdy w Update().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517136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517136"/>
            <a:ext cx="54864" cy="31089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" y="4544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Coroutines vs async-await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48840" y="4544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 ma overhead GC. UniTask (Cysharp) jako zero-alloc async/await dla Unity.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27448" y="4517136"/>
            <a:ext cx="42519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27448" y="4517136"/>
            <a:ext cx="54864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4855464" y="4544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Physics.OverlapSphere() per frame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56248" y="4544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8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Zmniejsz częstotliwość lub użyj NonAlloc variants: OverlapSphereNonAlloc(buffer).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Optymalizacja GPU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arządzanie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amięcią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64489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mobile GPU i CPU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współdzielą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ażdy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megabajt pamięci tekstur bezpośrednio ogranicza możliwe zasoby gry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Redukcja Draw Calls (SetPass Calls):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6333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Batching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21051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Nieporuszające się obiekty z tym samym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materiałem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scalane w jeden mesh przed grą. Zero overhead runtime. Mark as Static.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0280"/>
            <a:ext cx="64008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39293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Batching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44011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Małe meshe (&lt;300 werteksów) z tym samym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materiałem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łączenie w runtime. Ograniczone przez werteksy.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64008" cy="7498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62253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Instancing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36573"/>
            <a:ext cx="3959352" cy="40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Setki identycznych obiektów (drzewa, trawy, wrogowie)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draw call. Wymaga instancing shader. enable: material.enableInstancing = 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86200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85213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SRP Batcher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68677"/>
            <a:ext cx="3959352" cy="39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URP Batcher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grupuje materiały o tym samym shaderze, nie obiekty. Znacząca redukcja CPU overhead.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Zarządzanie pamięcią RAM: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64008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16333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Texture Compression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699797"/>
            <a:ext cx="4005072" cy="394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ASTC (iOS i Android Vulkan)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compression ratio, 4×4 block. ETC2 dla Android OpenGL ES. PVRTC dla starsze iOS. Redukcja 75–87% rozmiaru.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240280"/>
            <a:ext cx="64008" cy="749808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239293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Bundle / Addressables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542032"/>
            <a:ext cx="4005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Dynamiczne ładowanie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zasobów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potrzebne assety w pamięci. Addressables System: asynchroniczne ładowanie, reference counting, hot reload.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0632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063240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062253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Texture Atlasing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364992"/>
            <a:ext cx="4005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Łączenie wielu tekstur → jeden atlas. Redukcja draw calls i VRAM fragmentation. TexturePacker, Unity Sprite Atlas.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8862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886200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885213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LOD (Level of Detail)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159533"/>
            <a:ext cx="4005072" cy="40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Group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zamiana na prostszy mesh z odległości. LOD0 (blisko) → LOD1 → LOD2 → Culled. Ogromna redukcja polygon count.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Budżety pamięci: iOS 500 MB max recommended · Android 350 MB (low-end), 750 MB (high-end) · Tekstury: max 50% RAM budget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320040" y="3644506"/>
            <a:ext cx="4160520" cy="115609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Zarządzanie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cenami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tanem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ssetami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33709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zasobów i scen determinuje czas ładowania, zużycie pamięci i możliwości skalowania gry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536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zarządzania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scenami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6858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22514"/>
            <a:ext cx="3959352" cy="18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Single-scene z Additive Loading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18488"/>
            <a:ext cx="3959352" cy="4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trwała scena (GameManager, AudioManager) + dynamiczne ładowanie/odładowywanie sub-scen przez LoadSceneAsync(scene, Additive). Brak freezeframe.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4160520" cy="589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9696"/>
            <a:ext cx="64008" cy="589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39696"/>
            <a:ext cx="3959352" cy="2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 Scenes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86584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Sceny jako Addressable Assets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ładowanie po kluczu/label, grupowanie, dependency tracking. Ideal dla dużych open-world.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63221"/>
            <a:ext cx="4160520" cy="5355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63221"/>
            <a:ext cx="64008" cy="5355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80771"/>
            <a:ext cx="3959352" cy="1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Screen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57470"/>
            <a:ext cx="3959352" cy="27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ładowanie z paskiem postępu. AsyncOperation.progress (0–0.9, 0.9–1.0 to activation). allowSceneActivation = false dla ładowania w tle.</a:t>
            </a:r>
            <a:endParaRPr lang="en-US" sz="1100" spc="-30" dirty="0"/>
          </a:p>
        </p:txBody>
      </p:sp>
      <p:sp>
        <p:nvSpPr>
          <p:cNvPr id="21" name="Text 19"/>
          <p:cNvSpPr/>
          <p:nvPr/>
        </p:nvSpPr>
        <p:spPr>
          <a:xfrm>
            <a:off x="347472" y="3431228"/>
            <a:ext cx="1894078" cy="16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zapisu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3701598"/>
            <a:ext cx="3959352" cy="1034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[Serializable] class SaveData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level, score, coins;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float[] playerPos;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Zapis: JSON + AES encryption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JsonUtility.ToJson(data);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File.WriteAllText(savePath, EncryptAES(json));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Wczytanie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raw = DecryptAES(File.ReadAllText(savePath));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JsonUtility.FromJson&lt;SaveData&gt;(raw);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14731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Addressables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workflow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85278" y="1488002"/>
            <a:ext cx="40050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Ładowanie assetu po kluczu (adres/label)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handle = Addressables.LoadAssetAsync&lt;Sprite&gt;(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"UI/hero_portrait");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handle.Completed += (op) =&gt; {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(op.Status == AsyncOperationStatus.Succeeded)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portraitImage.sprite = op.Result;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Ładowanie sceny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sceneHandle = Addressables.LoadSceneAsync(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"Level_01", LoadSceneMode.Additive);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sceneHandle.Task;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WAŻNE: zwalniaj po użyciu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Addressables.Release(handle);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Addressables.UnloadSceneAsync(sceneHandle);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Preload w tle (warm-up)</a:t>
            </a:r>
            <a:endParaRPr lang="en-US" sz="850" dirty="0"/>
          </a:p>
          <a:p>
            <a:pPr marL="0" indent="0">
              <a:lnSpc>
                <a:spcPts val="8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Addressables.DownloadDependenciesAsync("level_pack_1");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53764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</a:t>
            </a:r>
            <a:r>
              <a:rPr lang="en-US" sz="12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zasobów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76609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66094"/>
            <a:ext cx="64008" cy="32918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789822"/>
            <a:ext cx="4005072" cy="134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→ Use → Unload (Resources.UnloadUnusedAssets)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242816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122709"/>
            <a:ext cx="4206240" cy="36560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122709"/>
            <a:ext cx="64008" cy="36560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134322"/>
            <a:ext cx="4005072" cy="176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GC.Collect()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85278" y="3937483"/>
            <a:ext cx="4005072" cy="147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wywołuj po scenie loading, NIE w Update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524716"/>
            <a:ext cx="4206240" cy="3008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524716"/>
            <a:ext cx="64008" cy="3008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785278" y="4563617"/>
            <a:ext cx="4005072" cy="20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Application.lowMemory 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297208"/>
            <a:ext cx="4005072" cy="147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callback dla iOS/Android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Profilowanie na Urządzeniu i Debugowanie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Profilowanie w edytorze jest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niewystarczające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profiluj na docelowym urządzeniu, szczególnie low-end Androidach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profilowania na urządzeniu: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8229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Build Development Build + Profiler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Settings → Development Build + Autoconnect Profiler. IL2CPP release build dla finalnych benchmarków.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Uruchom na urządzeniu przez USB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013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ADB over USB lub Wi-Fi. iOS: Xcode. Unity Remote nie jest wystarczające dla pomiarów wydajności.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3172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048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Zidentyfikuj hotspoty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157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Profiler: hierarchia wywołań. Sortuj po Self Time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pochłaniające czas bez dzieci.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33172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3317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4048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Wdróż fix i zmierz ponownie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71576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optymalizuj bez mierzenia przed i po. Zmiana może nie mieć efektu lub go pogorszyć.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101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Profiler Markers: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16052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" y="3867912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Unity.Profiling;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Niealokujące markery do własnego kodu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readonly ProfilerMarker k_GenChunk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ProfilerMarker("WorldGen.GenerateChunk");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GenerateChunk(Vector2Int coords)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(k_GenChunk.Auto())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ten kod będzie widoczny w Profilerze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GenerateTerrain(coords);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PlaceObjects(coords);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problemy na mobile: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11880"/>
            <a:ext cx="64008" cy="3017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68503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Throttling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995928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Przegrzanie → CPU/GPU obniżają taktowanie. Rozwiązanie: Application.targetFrameRate = 30 dla long sessions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59352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959352"/>
            <a:ext cx="64008" cy="3017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032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Warning → Crash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343400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didReceiveMemoryWarning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zwalniaj cache, tekstury. Brak obsługi = crash całej gry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306824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306824"/>
            <a:ext cx="64008" cy="3017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3799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Shader Compilation Stutter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690872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użycie shadera → hitches. ShaderVariantCollection.Warmup() w loading screen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654296"/>
            <a:ext cx="42062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654296"/>
            <a:ext cx="64008" cy="3017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727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GFX Jobs Single-threaded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5038344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Domyślnie Unity renderuje single-thread. Włącz Graphics Jobs w Player Settings (eksperymentalne, ale +20% mobile)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Multiplayer w Grach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Mobilnych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Sieciowa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Sieciowość gier to jeden z najtrudniejszych problemów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inżynieryjnych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latencja, desync, cheating i skalowalność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Topologie sieciowe: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Client-Server (Authoritative)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 jako jedyna prawdziwa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wysyła wejście, serwer odsyła stan. Odporność na cheating. Latencja widoczna. Standard AAA.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417320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4173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149047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Peer-to-Peer (P2P)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01368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Gracze komunikują się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bezpośrednio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kosztów serwera, ale podatność na cheat, problemy NAT traversal (STUN/TURN). Używane w racing, fighting.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4144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41448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146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2549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 klientów pełni rolę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prostsze wdrożenie, but host advantage. Popularne w indie games.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44144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441448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5146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Server (Steam/Epic)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2549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Pośredni serwer relay eliminuje problemy NAT bez kosztów dedykowanego. Epic Online Services, Steam Networking, Unity Relay.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Protokoły i SDKi multiplayer: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22192"/>
            <a:ext cx="201168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Netcode for GameObjects (Unity)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SDK Unity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synchronisation, RPCs, NetworkVariable. Dobry start dla projektów Unity.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822192"/>
            <a:ext cx="20116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 (Open-Source)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UNET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stabilny, duże community, battle-tested. High-Level API z wieloma transportami (TCP, KCP, WebTransport).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822192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Photon Fusion / PUN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dla mobile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servers, global regions. Fusion: deterministic rollback netcode. PUN2: event-based, prosty start.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3822192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822192"/>
            <a:ext cx="2011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38953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Fish-Net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16966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alternatywa Mirror 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performance-first design, Prediction, LOD, wsparcie dla ECS.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Kompensacja Latencji i Synchronizacja Stanu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Gracze mobilni mają typowo 50–150 ms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latencji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musi być grywalna pomimo opóźnień transmisji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114300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Reckoning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Przewidywanie przyszłej pozycji na podstawie ostatniego stanu i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prędkości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interpolacja i ekstrapolacja. Smooth movement mimo pakiet drops.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64008" cy="1143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1887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499616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natychmiast aplikuje własne wejście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 potwierdza lub koryguje (reconciliation). Eliminuje odczucie lagowania sterowania.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Reconciliation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potwierdzeniu od serwera: klient porównuje stan, cofa symulację do potwierdzonego stanu, reaplikuje niepotwierdzony input. Roll-forward.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37744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7744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5059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Compensation (Hitscan)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761488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 "cofa czas"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strzale sprawdza pozycje przeciwników w chwili T-latency, nie T-now. Valobrант, Counter-Strike.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 Buffer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 stanu z opóźnieniem ~100 ms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płynne wyświetlanie stanu innych graczy przez interpolację między punktami. Masło smooth.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27448" y="363931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639312"/>
            <a:ext cx="64008" cy="1143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71246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Lockstep / Deterministic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0233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Wszyscy gracze wykonują identyczne obliczenia → identyczny stan. Zero transferu stanu, tylko wejście. Wymagana pełna determinizm (Fixed timestep, seed).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metryki: RTT (Round Trip Time) &lt; 150 ms dla real-time gier · Packet loss &lt; 5% · Jitter &lt; 30 ms · Tick rate: 20–128 Hz (zależy od gatunku)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ier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2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obilnych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Usługi i Infrastruktura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Backend (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 a Service) dostarcza infrastrukturę serwerową bez konieczności budowania jej od zera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 BaaS dla gier: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0116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Gaming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(anon, Steam, Apple)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21408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CloudSave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progression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231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Economy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2491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Matchmaking, Relay, Lobby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02666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Code (serverless JS)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417320"/>
            <a:ext cx="20116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(Google)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8196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72491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 / Firestore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21214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272491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(Email, Google, Apple)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2423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272491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7249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2491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Crashlytics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30266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72491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(Node.js)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1417320"/>
            <a:ext cx="2011680" cy="32004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PlayFab (Microsoft Azure)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819656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player data model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121408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economy (currencies)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423160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hosting &amp; matchmaking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2724912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5" name="Text 43"/>
          <p:cNvSpPr/>
          <p:nvPr/>
        </p:nvSpPr>
        <p:spPr>
          <a:xfrm>
            <a:off x="487375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LiveOps: tournaments, events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026664"/>
            <a:ext cx="109728" cy="109728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47" name="Text 45"/>
          <p:cNvSpPr/>
          <p:nvPr/>
        </p:nvSpPr>
        <p:spPr>
          <a:xfrm>
            <a:off x="487375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v2, Leaderboards v2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1417320"/>
            <a:ext cx="20116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Nakama (Open-Source)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173736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18196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7022592" y="1810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Heroic Cloud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21214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7022592" y="21122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friends, groups, chat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24231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7022592" y="241401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(authoritative)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27249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7022592" y="2715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Lua/JS/Go server runtime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30266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702259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real-time multiplayer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funkcjonalności backend gier: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2004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3858768"/>
            <a:ext cx="457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4" name="Text 62"/>
          <p:cNvSpPr/>
          <p:nvPr/>
        </p:nvSpPr>
        <p:spPr>
          <a:xfrm>
            <a:off x="43891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Authentication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3891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Anonimowa → linked (Apple/Google) → pełne konto. Device ID jako seed.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00400" y="3858768"/>
            <a:ext cx="45720" cy="36576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68" name="Text 66"/>
          <p:cNvSpPr/>
          <p:nvPr/>
        </p:nvSpPr>
        <p:spPr>
          <a:xfrm>
            <a:off x="331927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Progression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31927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poziomy, odblokowania. Weryfikacja serwer-side (anti-cheat).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80760" y="3858768"/>
            <a:ext cx="2788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0760" y="3858768"/>
            <a:ext cx="457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2" name="Text 70"/>
          <p:cNvSpPr/>
          <p:nvPr/>
        </p:nvSpPr>
        <p:spPr>
          <a:xfrm>
            <a:off x="6199632" y="3895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Anti-cheat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199632" y="408736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validation, hash checksum save file, server authority.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4270248"/>
            <a:ext cx="457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6" name="Text 74"/>
          <p:cNvSpPr/>
          <p:nvPr/>
        </p:nvSpPr>
        <p:spPr>
          <a:xfrm>
            <a:off x="43891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Events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3891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analysis, monetization metrics, LTV calculation.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0" y="4270248"/>
            <a:ext cx="45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Text 78"/>
          <p:cNvSpPr/>
          <p:nvPr/>
        </p:nvSpPr>
        <p:spPr>
          <a:xfrm>
            <a:off x="331927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LiveOps Events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331927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Rotujące eventy, sezonowe treści, time-limited offers.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080760" y="4270248"/>
            <a:ext cx="2788920" cy="365760"/>
          </a:xfrm>
          <a:prstGeom prst="rect">
            <a:avLst/>
          </a:prstGeom>
          <a:solidFill>
            <a:srgbClr val="F5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080760" y="4270248"/>
            <a:ext cx="457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6199632" y="4306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 Delivery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199632" y="4498848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patching, hot content delivery, A/B testing.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Monetyzacja Gier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Mobilnych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Biznesowe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modelu monetyzacji to jedna z najważniejszych decyzji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projektowych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wpływa na design, retention i etykę gry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42519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(Paid App)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207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$0.99–$9.99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1545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Brak reklam, uczciwe, prosty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783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Mała baza graczy (płatna bariera)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2048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$2–5 jednorazowo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286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Minecraft, Monument Valley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7448" y="111556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7448" y="1115568"/>
            <a:ext cx="42519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179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Free-to-Play + IAP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12070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Darmowa + mikrotransakcje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7176" y="1545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Ogromna baza użytkowników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37176" y="1783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Ryzyko pay-to-win, koszty UA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37176" y="2048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$0.01–3 avg, wieloryby 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7176" y="2286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Clash of Clans, Pokémon GO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52928"/>
            <a:ext cx="425196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Subscrypcja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2944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$2.99–9.99/mies.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" y="3282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Przewidywalny przychód, stabilność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520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Wysokie oczekiwania aktualizacji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$36–120 LTV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4023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Apple Arcade, Royal Match+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27448" y="2852928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2852928"/>
            <a:ext cx="425196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Reklamy (Ad-based)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53528" y="29443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Darmowa + CPM/CPC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37176" y="3282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bariery wejścia, masowy reach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37176" y="3520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Złe UX, niskie CPM w Polsce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37176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ARPU: $0.5–2 ARPDAU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4023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Candy Crush (hybryd), Wordle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Hybrydowy model (F2P + Premium Battle Pass + Cosmetics) = dominujący trend 2022–2025. Kluczowe: brak pay-to-win dla retencji społeczności.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Purchases</a:t>
            </a:r>
            <a:r>
              <a:rPr lang="pl-PL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 i Projektowanie Sklepu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muszą być zaprojektowane z myślą o wartości dla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gracza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tylko maksymalizacji przychodu, ale i pozytywnym doświadczeniu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IAP: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Consumable (Zużywalne)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Waluta gry, boosters,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życia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mogą być kupowane wielokrotnie.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systemu ekonomii gry.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64008" cy="7955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591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Non-Consumable (Trwałe)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Odblokowanie poziomów, usunięcie reklam,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postacie</a:t>
            </a:r>
            <a:r>
              <a:rPr lang="pl-PL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jednorazowy zakup per konto.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41605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54680"/>
            <a:ext cx="64008" cy="7955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27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(Subskrypcja)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38728"/>
            <a:ext cx="3959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membership, battle pass, premium currency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tygodniowo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automatyczne odnowienie, wymaga specjalnej obsługi anulowania.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133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 IAP (Unity IAP):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416052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480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4471416"/>
            <a:ext cx="3959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Unity IAP: IStoreListener.ProcessPurchase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 receipt server-side! (nie client-side)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Walidacja </a:t>
            </a: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receiptu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kluczowe!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Java/Kotlin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1444752"/>
            <a:ext cx="4005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NIE ufaj </a:t>
            </a:r>
            <a:r>
              <a:rPr lang="en-US" sz="850" dirty="0" err="1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klientowi</a:t>
            </a: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smtClean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waliduj server-side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Klient: kup → receipt (base64)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Klient → własny serwer: POST /validate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Serwer → Apple/Google API: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POST https://buy.itunes.apple.com/verifyReceipt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Serwer waliduje i dopiero WTEDY przyznaje item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 Play Billing (Android IAP)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BillingClient billing = BillingClient.newBuilder(ctx)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.setListener((result, purchases) -&gt; {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(result.getResponseCode() == OK &amp;&amp; purchases != null)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(var p : purchases)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verifyWithServer(p.getPurchaseToken());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.enablePendingPurchases()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850" dirty="0"/>
          </a:p>
          <a:p>
            <a:pPr marL="0" indent="0">
              <a:lnSpc>
                <a:spcPts val="900"/>
              </a:lnSpc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Zawsze consumuj DOPIERO po potwierdzeniu z serwera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3657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Zasady </a:t>
            </a:r>
            <a:r>
              <a:rPr lang="en-US" sz="13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projektowania</a:t>
            </a: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sklepu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3959352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959352"/>
            <a:ext cx="6400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989258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Anchoring cen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343400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Wyeksponuj droższą opcję → tańsze wydają się atrakcyjne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215384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4215384"/>
            <a:ext cx="64008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4245290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Limited-time offers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599432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odliczanie czasu zwiększa konwersję o 30–60%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471416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4471416"/>
            <a:ext cx="64008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501322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value framing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4855464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"Wartość $19.99 za $4.99"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value jest kluczowa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727448"/>
            <a:ext cx="42062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727448"/>
            <a:ext cx="64008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757354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purchase discount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5111496"/>
            <a:ext cx="40050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zniżka na pierwszy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zakup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płatności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Dystrybucja, App Stores i Live Operations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Sukces gry mobilnej to nie tylko launch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 i ciągłe aktualizacje decydują o długoterminowej retencji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 App Store / Google Play: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64008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90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Manifest (iOS 17+)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wymaga deklaracji używanych API (tracking domains, NSPrivacyAccessedAPITypes). Brak manifest → odrzucenie aplikacji.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64008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951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Safety (Android 2022+)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Play: deklaracja zbieranych danych, cel, udostępnianie third-party. RODO compliance obowiązkowe w EU.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26664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26664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IDFA Consent (ATT Framework)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14.5+: App Tracking Transparency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o zgodę przed śledzeniem. Opt-in rate ~25–40%. Wpływ na mobile advertising.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31336"/>
            <a:ext cx="4160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31336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044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Rating (PEGI/ESRB)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1538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przy submission. Wynik wpływa na widoczność w sklepie i dostępność dla młodszych użytkowników.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Operations </a:t>
            </a:r>
            <a:r>
              <a:rPr lang="en-US" sz="1400" b="1" dirty="0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utrzymanie zaangażowania: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417320"/>
            <a:ext cx="64008" cy="58521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904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Sezonowe eventy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Halloween, Boże Narodzenie,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rocznice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limitowane skórki, questy, waluta sezonowa. +40% DAU w evencie.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075688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075688"/>
            <a:ext cx="64008" cy="5852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148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Battle Pass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245973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Sezonowe drzewko nagród płatne +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bezpłatne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Fortnite model. Zwiększa sessja length i LTV.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734056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734056"/>
            <a:ext cx="64008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8072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Turnieje i Rankingi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11810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leaderboards, endgame PvP. Poczucie progressu dla hardcorowych graczy, prestige.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392424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392424"/>
            <a:ext cx="64008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4655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77647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/ APNs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przypomnienia o energii, eventy, powrót gracza. Personalizacja zwiększa CTR.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50792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050792"/>
            <a:ext cx="64008" cy="5852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1239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Config / A/B Testing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443484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Remote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parametrów bez update. A/B test cen IAP, trudności, UI layoutu.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D1/D7/D30 Retention: Day-1 &gt;40%, Day-7 &gt;20%, Day-30 &gt;10% </a:t>
            </a:r>
            <a:r>
              <a:rPr lang="en-US" sz="11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top quartile mobile games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1 </a:t>
            </a: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Indie Puzzle Game: od prototypu do 1M pobrań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5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8785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procesu tworzenia niezależnej gry puzzle na iOS/Android 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developer, 8 miesięcy, budget $0 → 1M+ pobrań</a:t>
            </a:r>
            <a:endParaRPr lang="en-US" sz="1400" dirty="0"/>
          </a:p>
        </p:txBody>
      </p:sp>
      <p:grpSp>
        <p:nvGrpSpPr>
          <p:cNvPr id="65" name="Grupa 64"/>
          <p:cNvGrpSpPr/>
          <p:nvPr/>
        </p:nvGrpSpPr>
        <p:grpSpPr>
          <a:xfrm>
            <a:off x="320040" y="1115568"/>
            <a:ext cx="8458200" cy="914400"/>
            <a:chOff x="320040" y="1115568"/>
            <a:chExt cx="8458200" cy="1051560"/>
          </a:xfrm>
        </p:grpSpPr>
        <p:sp>
          <p:nvSpPr>
            <p:cNvPr id="8" name="Shape 6"/>
            <p:cNvSpPr/>
            <p:nvPr/>
          </p:nvSpPr>
          <p:spPr>
            <a:xfrm>
              <a:off x="320040" y="1115568"/>
              <a:ext cx="2011680" cy="1051560"/>
            </a:xfrm>
            <a:prstGeom prst="rect">
              <a:avLst/>
            </a:prstGeom>
            <a:solidFill>
              <a:srgbClr val="0F0F1A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320040" y="1115568"/>
              <a:ext cx="2011680" cy="4572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20040" y="1234440"/>
              <a:ext cx="20116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2D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1.2 mln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1741932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Pobrania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pierwsze 3 miesiące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468880" y="1115568"/>
              <a:ext cx="2011680" cy="1051560"/>
            </a:xfrm>
            <a:prstGeom prst="rect">
              <a:avLst/>
            </a:prstGeom>
            <a:solidFill>
              <a:srgbClr val="0F0F1A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2468880" y="1115568"/>
              <a:ext cx="2011680" cy="4572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2468880" y="1234440"/>
              <a:ext cx="20116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2D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4.7★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468880" y="1741932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Rating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 Store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617720" y="1115568"/>
              <a:ext cx="2011680" cy="1051560"/>
            </a:xfrm>
            <a:prstGeom prst="rect">
              <a:avLst/>
            </a:prstGeom>
            <a:solidFill>
              <a:srgbClr val="0F0F1A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4617720" y="1115568"/>
              <a:ext cx="2011680" cy="4572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4617720" y="1234440"/>
              <a:ext cx="20116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2D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D30: 12%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17720" y="1741932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Day-30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Retention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766560" y="1115568"/>
              <a:ext cx="2011680" cy="1051560"/>
            </a:xfrm>
            <a:prstGeom prst="rect">
              <a:avLst/>
            </a:prstGeom>
            <a:solidFill>
              <a:srgbClr val="0F0F1A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6766560" y="1115568"/>
              <a:ext cx="2011680" cy="45720"/>
            </a:xfrm>
            <a:prstGeom prst="rect">
              <a:avLst/>
            </a:prstGeom>
            <a:solidFill>
              <a:srgbClr val="6C3FC5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6766560" y="1234440"/>
              <a:ext cx="201168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2D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$4,200</a:t>
              </a:r>
              <a:endParaRPr lang="en-US" sz="2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766560" y="1741932"/>
              <a:ext cx="20116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Przychód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pierwszy miesiąc</a:t>
              </a:r>
              <a:endParaRPr lang="en-US" sz="11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320040" y="23317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Stos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technologiczny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6" name="Text 24"/>
          <p:cNvSpPr/>
          <p:nvPr/>
        </p:nvSpPr>
        <p:spPr>
          <a:xfrm>
            <a:off x="426720" y="26365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2022 LTS + URP</a:t>
            </a:r>
            <a:endParaRPr lang="en-US" sz="1100" spc="-20" dirty="0"/>
          </a:p>
        </p:txBody>
      </p:sp>
      <p:sp>
        <p:nvSpPr>
          <p:cNvPr id="27" name="Text 25"/>
          <p:cNvSpPr/>
          <p:nvPr/>
        </p:nvSpPr>
        <p:spPr>
          <a:xfrm>
            <a:off x="2446020" y="265176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Stabilna wersja LTS dla komercyjnych projektów</a:t>
            </a:r>
            <a:endParaRPr lang="en-US" sz="1000" spc="-30" dirty="0"/>
          </a:p>
        </p:txBody>
      </p:sp>
      <p:sp>
        <p:nvSpPr>
          <p:cNvPr id="28" name="Shape 26"/>
          <p:cNvSpPr/>
          <p:nvPr/>
        </p:nvSpPr>
        <p:spPr>
          <a:xfrm>
            <a:off x="320040" y="295351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426720" y="2956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+ Zenject (DI)</a:t>
            </a:r>
            <a:endParaRPr lang="en-US" sz="1100" spc="-20" dirty="0"/>
          </a:p>
        </p:txBody>
      </p:sp>
      <p:sp>
        <p:nvSpPr>
          <p:cNvPr id="30" name="Text 28"/>
          <p:cNvSpPr/>
          <p:nvPr/>
        </p:nvSpPr>
        <p:spPr>
          <a:xfrm>
            <a:off x="2446020" y="297180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od </a:t>
            </a:r>
            <a:r>
              <a:rPr lang="en-US" sz="1000" spc="-3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dnia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pl-PL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czysta architektura, testowalna</a:t>
            </a:r>
            <a:endParaRPr lang="en-US" sz="1000" spc="-30" dirty="0"/>
          </a:p>
        </p:txBody>
      </p:sp>
      <p:sp>
        <p:nvSpPr>
          <p:cNvPr id="31" name="Shape 29"/>
          <p:cNvSpPr/>
          <p:nvPr/>
        </p:nvSpPr>
        <p:spPr>
          <a:xfrm>
            <a:off x="320040" y="327355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2" name="Text 30"/>
          <p:cNvSpPr/>
          <p:nvPr/>
        </p:nvSpPr>
        <p:spPr>
          <a:xfrm>
            <a:off x="426720" y="3276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DOTween Pro</a:t>
            </a:r>
            <a:endParaRPr lang="en-US" sz="1100" spc="-20" dirty="0"/>
          </a:p>
        </p:txBody>
      </p:sp>
      <p:sp>
        <p:nvSpPr>
          <p:cNvPr id="33" name="Text 31"/>
          <p:cNvSpPr/>
          <p:nvPr/>
        </p:nvSpPr>
        <p:spPr>
          <a:xfrm>
            <a:off x="2446020" y="329184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animacje UI </a:t>
            </a:r>
            <a:r>
              <a:rPr lang="en-US" sz="1000" spc="-3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</a:t>
            </a:r>
            <a:r>
              <a:rPr lang="pl-PL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Animatora dla UI</a:t>
            </a:r>
            <a:endParaRPr lang="en-US" sz="1000" spc="-30" dirty="0"/>
          </a:p>
        </p:txBody>
      </p:sp>
      <p:sp>
        <p:nvSpPr>
          <p:cNvPr id="34" name="Shape 32"/>
          <p:cNvSpPr/>
          <p:nvPr/>
        </p:nvSpPr>
        <p:spPr>
          <a:xfrm>
            <a:off x="320040" y="359359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426720" y="3596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Addressables</a:t>
            </a:r>
            <a:endParaRPr lang="en-US" sz="1100" spc="-20" dirty="0"/>
          </a:p>
        </p:txBody>
      </p:sp>
      <p:sp>
        <p:nvSpPr>
          <p:cNvPr id="36" name="Text 34"/>
          <p:cNvSpPr/>
          <p:nvPr/>
        </p:nvSpPr>
        <p:spPr>
          <a:xfrm>
            <a:off x="2446020" y="361188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Rozdzielenie contentu od </a:t>
            </a:r>
            <a:r>
              <a:rPr lang="en-US" sz="1000" spc="-3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</a:t>
            </a:r>
            <a:r>
              <a:rPr lang="pl-PL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patche bez pełnego update</a:t>
            </a:r>
            <a:endParaRPr lang="en-US" sz="1000" spc="-30" dirty="0"/>
          </a:p>
        </p:txBody>
      </p:sp>
      <p:sp>
        <p:nvSpPr>
          <p:cNvPr id="37" name="Shape 35"/>
          <p:cNvSpPr/>
          <p:nvPr/>
        </p:nvSpPr>
        <p:spPr>
          <a:xfrm>
            <a:off x="320040" y="391363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8" name="Text 36"/>
          <p:cNvSpPr/>
          <p:nvPr/>
        </p:nvSpPr>
        <p:spPr>
          <a:xfrm>
            <a:off x="426720" y="3916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Analytics + Crashlytics</a:t>
            </a:r>
            <a:endParaRPr lang="en-US" sz="1100" spc="-20" dirty="0"/>
          </a:p>
        </p:txBody>
      </p:sp>
      <p:sp>
        <p:nvSpPr>
          <p:cNvPr id="39" name="Text 37"/>
          <p:cNvSpPr/>
          <p:nvPr/>
        </p:nvSpPr>
        <p:spPr>
          <a:xfrm>
            <a:off x="2446020" y="393192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 </a:t>
            </a:r>
            <a:r>
              <a:rPr lang="en-US" sz="1000" spc="-3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crashy</a:t>
            </a:r>
            <a:r>
              <a:rPr lang="pl-PL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problemów na device</a:t>
            </a:r>
            <a:endParaRPr lang="en-US" sz="1000" spc="-30" dirty="0"/>
          </a:p>
        </p:txBody>
      </p:sp>
      <p:sp>
        <p:nvSpPr>
          <p:cNvPr id="40" name="Shape 38"/>
          <p:cNvSpPr/>
          <p:nvPr/>
        </p:nvSpPr>
        <p:spPr>
          <a:xfrm>
            <a:off x="320040" y="4233672"/>
            <a:ext cx="54864" cy="21945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41" name="Text 39"/>
          <p:cNvSpPr/>
          <p:nvPr/>
        </p:nvSpPr>
        <p:spPr>
          <a:xfrm>
            <a:off x="426720" y="4236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-20" dirty="0">
                <a:solidFill>
                  <a:srgbClr val="6C3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IAP + Admob (hybryd)</a:t>
            </a:r>
            <a:endParaRPr lang="en-US" sz="1100" spc="-20" dirty="0"/>
          </a:p>
        </p:txBody>
      </p:sp>
      <p:sp>
        <p:nvSpPr>
          <p:cNvPr id="42" name="Text 40"/>
          <p:cNvSpPr/>
          <p:nvPr/>
        </p:nvSpPr>
        <p:spPr>
          <a:xfrm>
            <a:off x="2446020" y="4251960"/>
            <a:ext cx="2034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Rewarded ads + optional 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</a:t>
            </a:r>
            <a:r>
              <a:rPr lang="pl-PL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spc="-3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spc="-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nie-inwazyjny model monetyzacji</a:t>
            </a:r>
            <a:endParaRPr lang="en-US" sz="1000" spc="-30" dirty="0"/>
          </a:p>
        </p:txBody>
      </p:sp>
      <p:sp>
        <p:nvSpPr>
          <p:cNvPr id="43" name="Text 41"/>
          <p:cNvSpPr/>
          <p:nvPr/>
        </p:nvSpPr>
        <p:spPr>
          <a:xfrm>
            <a:off x="4663440" y="211203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</a:t>
            </a: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 smtClean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</a:t>
            </a:r>
            <a:endParaRPr lang="en-US" sz="1400" dirty="0"/>
          </a:p>
        </p:txBody>
      </p:sp>
      <p:grpSp>
        <p:nvGrpSpPr>
          <p:cNvPr id="66" name="Grupa 65"/>
          <p:cNvGrpSpPr/>
          <p:nvPr/>
        </p:nvGrpSpPr>
        <p:grpSpPr>
          <a:xfrm>
            <a:off x="4663440" y="2331720"/>
            <a:ext cx="4206240" cy="2560320"/>
            <a:chOff x="4663440" y="2542032"/>
            <a:chExt cx="4206240" cy="2350008"/>
          </a:xfrm>
        </p:grpSpPr>
        <p:sp>
          <p:nvSpPr>
            <p:cNvPr id="44" name="Shape 42"/>
            <p:cNvSpPr/>
            <p:nvPr/>
          </p:nvSpPr>
          <p:spPr>
            <a:xfrm>
              <a:off x="4663440" y="2542032"/>
              <a:ext cx="4206240" cy="4207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5" name="Shape 43"/>
            <p:cNvSpPr/>
            <p:nvPr/>
          </p:nvSpPr>
          <p:spPr>
            <a:xfrm>
              <a:off x="4663440" y="2542032"/>
              <a:ext cx="64008" cy="420744"/>
            </a:xfrm>
            <a:prstGeom prst="rect">
              <a:avLst/>
            </a:prstGeom>
            <a:solidFill>
              <a:srgbClr val="0891B2"/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4800600" y="2570788"/>
              <a:ext cx="4005072" cy="1231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Soft launch w Kanadzie/Australii</a:t>
              </a:r>
              <a:endParaRPr lang="en-US" sz="11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800600" y="2738402"/>
              <a:ext cx="4005072" cy="160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 metrics (CPI, Retention) przed globalnym launche'm. Iteracja bez utraty App Store rating.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4663440" y="3024348"/>
              <a:ext cx="4206240" cy="4207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4663440" y="3024348"/>
              <a:ext cx="64008" cy="420744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4800600" y="3031342"/>
              <a:ext cx="4005072" cy="1573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ASO (App Store Optimization)</a:t>
              </a:r>
              <a:endParaRPr lang="en-US" sz="11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4800600" y="3214196"/>
              <a:ext cx="4005072" cy="220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Ikona i screenshots to 60% konwersji. Iteruj ikonę A/B testem. Keyword research przed launch.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663440" y="3506664"/>
              <a:ext cx="4206240" cy="4207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3" name="Shape 51"/>
            <p:cNvSpPr/>
            <p:nvPr/>
          </p:nvSpPr>
          <p:spPr>
            <a:xfrm>
              <a:off x="4663440" y="3506664"/>
              <a:ext cx="64008" cy="420744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54" name="Text 52"/>
            <p:cNvSpPr/>
            <p:nvPr/>
          </p:nvSpPr>
          <p:spPr>
            <a:xfrm>
              <a:off x="4800600" y="3487225"/>
              <a:ext cx="4005072" cy="2018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Core loop w 3 zdania</a:t>
              </a:r>
              <a:endParaRPr lang="en-US" sz="11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4800600" y="3704591"/>
              <a:ext cx="4005072" cy="194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Jeśli nie możesz opisać core loop w 3 zdaniach, mechanika jest zbyt złożona dla casual mobile.</a:t>
              </a:r>
              <a:endParaRPr lang="en-US" sz="10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663440" y="3988980"/>
              <a:ext cx="4206240" cy="4207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7" name="Shape 55"/>
            <p:cNvSpPr/>
            <p:nvPr/>
          </p:nvSpPr>
          <p:spPr>
            <a:xfrm>
              <a:off x="4663440" y="3988980"/>
              <a:ext cx="64008" cy="420744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58" name="Text 56"/>
            <p:cNvSpPr/>
            <p:nvPr/>
          </p:nvSpPr>
          <p:spPr>
            <a:xfrm>
              <a:off x="4800600" y="4005458"/>
              <a:ext cx="4005072" cy="1334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Onboarding bez tekstu</a:t>
              </a:r>
              <a:endParaRPr lang="en-US" sz="11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796028" y="4173240"/>
              <a:ext cx="4005072" cy="189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Pierwsze 60 sekund bez ekranów z tekstem. Nauka </a:t>
              </a:r>
              <a:r>
                <a:rPr lang="en-US" sz="10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przez</a:t>
              </a: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doing</a:t>
              </a:r>
              <a:r>
                <a:rPr lang="pl-PL" sz="10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</a:t>
              </a:r>
              <a:r>
                <a:rPr lang="en-US" sz="1000" dirty="0" smtClean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UI overlay na żywym gameplayu.</a:t>
              </a:r>
              <a:endParaRPr lang="en-US" sz="10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663440" y="4471296"/>
              <a:ext cx="4206240" cy="4207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1" name="Shape 59"/>
            <p:cNvSpPr/>
            <p:nvPr/>
          </p:nvSpPr>
          <p:spPr>
            <a:xfrm>
              <a:off x="4663440" y="4471296"/>
              <a:ext cx="64008" cy="420744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62" name="Text 60"/>
            <p:cNvSpPr/>
            <p:nvPr/>
          </p:nvSpPr>
          <p:spPr>
            <a:xfrm>
              <a:off x="4800600" y="4488079"/>
              <a:ext cx="4005072" cy="148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Performance budgety od dnia 1</a:t>
              </a:r>
              <a:endParaRPr lang="en-US" sz="11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4800600" y="4663953"/>
              <a:ext cx="4005072" cy="179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000"/>
                </a:lnSpc>
                <a:buNone/>
              </a:pPr>
              <a:r>
                <a:rPr lang="en-US" sz="10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iPhone 8 jako minimum target. Codzienne profiling buildy na low-end device zapobiegły performance debt.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Trendy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l-PL" sz="2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6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odsumowanie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887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Generatywna AI w grach</a:t>
            </a:r>
            <a:endParaRPr lang="en-US" sz="1150" dirty="0">
              <a:solidFill>
                <a:srgbClr val="9887B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dla dynamicznych dialogów NPC, AI Game Masters, infinite quest generation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Inworld AI, Convai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7432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Vision Pro / MR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Reality gaming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gier na rzeczywistości, nowe paradygmaty interakcji przestrzennej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804672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88" y="8961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Gaming Mobile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0488" y="11887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GeForce Now, Xbox Cloud Gaming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 AAA na słabym sprzęcie, 5G jako enabler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82880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Unity Muse, </a:t>
            </a:r>
            <a:r>
              <a:rPr lang="en-US" sz="10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przyspiesza prototypowanie 3–10×, obniża barierę wejścia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/ NFT Games (Web3)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Play-to-Earn </a:t>
            </a:r>
            <a:r>
              <a:rPr lang="en-US" sz="10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kontrowersyjny trend. Regulacje i krach 2022 spowolniły. Concept własności cyfrowej pozostaje interesujący.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1828800"/>
            <a:ext cx="2743200" cy="914400"/>
          </a:xfrm>
          <a:prstGeom prst="rect">
            <a:avLst/>
          </a:prstGeom>
          <a:solidFill>
            <a:srgbClr val="1818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8288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488" y="19202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Play &amp; Progression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90488" y="221284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↔ Mobile ↔ Console. Jeden account, jeden progress. Wymagane na rynku premium 2025+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52928"/>
            <a:ext cx="8503920" cy="36576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44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</a:t>
            </a:r>
            <a:r>
              <a:rPr lang="en-US" sz="1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wykładu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" y="323850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silnika (Unity/Unreal/Godot) determinuje architekturę, narzędzia i czas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produkcji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 nieodwracalna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58444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351282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mobile to nie etap końcowy, lecz ciągła praktyka od dnia 1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budgety na low-end device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5876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" y="378714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Feel &gt; Feature Count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z dobrą mechaniką core loop i polskim feel pokona grę z setkami ficzerów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128016" cy="128016"/>
          </a:xfrm>
          <a:prstGeom prst="ellipse">
            <a:avLst/>
          </a:prstGeom>
          <a:solidFill>
            <a:srgbClr val="6C3FC5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406146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development: metryki (D1/D30 retention, ARPU, session length) zastępują intuicję na etapie skalowania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0" y="4594860"/>
            <a:ext cx="2743200" cy="324612"/>
          </a:xfrm>
          <a:prstGeom prst="rect">
            <a:avLst/>
          </a:prstGeom>
          <a:solidFill>
            <a:srgbClr val="6C3FC5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46542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Pytania</a:t>
            </a:r>
            <a:r>
              <a:rPr lang="pl-PL" sz="1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pl-PL" sz="1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6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yskusja</a:t>
            </a:r>
            <a:r>
              <a:rPr lang="pl-PL" sz="1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 koniec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7071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Gier Mobilnych  |  Studia Magisterskie Informatyki  |  © Katedra Informatyki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7027</Words>
  <Application>Microsoft Office PowerPoint</Application>
  <PresentationFormat>Pokaz na ekranie (16:9)</PresentationFormat>
  <Paragraphs>931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Gier Mobilnych</dc:title>
  <dc:subject>PptxGenJS Presentation</dc:subject>
  <dc:creator>Mateusz Pomianek</dc:creator>
  <cp:keywords>games;mobile</cp:keywords>
  <cp:lastModifiedBy>Mateusz Pomianek</cp:lastModifiedBy>
  <cp:revision>61</cp:revision>
  <dcterms:created xsi:type="dcterms:W3CDTF">2026-02-21T21:31:35Z</dcterms:created>
  <dcterms:modified xsi:type="dcterms:W3CDTF">2026-03-15T23:32:54Z</dcterms:modified>
</cp:coreProperties>
</file>