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81830"/>
          </a:solidFill>
          <a:ln/>
        </p:spPr>
      </p:sp>
      <p:sp>
        <p:nvSpPr>
          <p:cNvPr id="4" name="Shape 2"/>
          <p:cNvSpPr/>
          <p:nvPr/>
        </p:nvSpPr>
        <p:spPr>
          <a:xfrm>
            <a:off x="5102352" y="0"/>
            <a:ext cx="45720" cy="51435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Programowanie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Gier Mobilnych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118872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638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Przedmiot: Programowanie Aplikacji Mobilnych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381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Studia Magisterskie Informatyki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Silniki, Fizyka, Grafika, AI, Optymalizacja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21808" y="841248"/>
            <a:ext cx="45720" cy="38404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2" name="Text 10"/>
          <p:cNvSpPr/>
          <p:nvPr/>
        </p:nvSpPr>
        <p:spPr>
          <a:xfrm>
            <a:off x="5504688" y="8412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&amp; Unreal Engine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21808" y="1554480"/>
            <a:ext cx="4572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504688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 2D i 3D / Shadery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21808" y="2267712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504688" y="2267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Fizyka i Kolizje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21808" y="2980944"/>
            <a:ext cx="4572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504688" y="29809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 Grach Mobilnych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21808" y="3694176"/>
            <a:ext cx="4572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5504688" y="36941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i Monetyzacja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7071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Katedra Informatyki — Programowanie Gier Mobilnych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Wykładu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04672"/>
            <a:ext cx="54864" cy="71323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503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1–3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 gier mobilnych — rynek, trendy, historia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804672"/>
            <a:ext cx="54864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8503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4–6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64608" y="10515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Silniki gier: Unity, Unreal, Godot, Cocos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1600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60020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6459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7–9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184708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 2D i 3D — rendering, shadery, animacje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1600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160020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16459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10–12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184708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Fizyka gier — silniki, kolizje, symulacje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239572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395728"/>
            <a:ext cx="54864" cy="713232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4414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13–15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64261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 proceduralne generowanie świata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27448" y="239572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7448" y="2395728"/>
            <a:ext cx="54864" cy="7132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24414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16–18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264261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 użytkownika, UI/UX i dźwięk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" y="319125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191256"/>
            <a:ext cx="54864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2369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19–22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43814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i profilowanie na mobile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27448" y="319125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3191256"/>
            <a:ext cx="54864" cy="71323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32369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23–25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64608" y="343814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Sieciowość — multiplayer i backend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0040" y="398678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986784"/>
            <a:ext cx="54864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0325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26–28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23367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Monetyzacja, dystrybucja, live ops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727448" y="398678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7448" y="3986784"/>
            <a:ext cx="54864" cy="713232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45" name="Text 43"/>
          <p:cNvSpPr/>
          <p:nvPr/>
        </p:nvSpPr>
        <p:spPr>
          <a:xfrm>
            <a:off x="4864608" y="40325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29–30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64608" y="423367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i podsumowanie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Rynek Gier Mobilnych — Skala i Trendy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 mobilne to największy segment branży gamingowej — przekraczający łącznie konsole i PC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2011680" cy="146304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143000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618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$98.7 mld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18288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Przychody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gier mobilnych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143000"/>
            <a:ext cx="2011680" cy="146304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143000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618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mld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18288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mobilnych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świecie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143000"/>
            <a:ext cx="2011680" cy="146304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1143000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2618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18288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mobile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całym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rynku gier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143000"/>
            <a:ext cx="2011680" cy="146304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1143000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2618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 min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18288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 czas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 dziennie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użytkownika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2761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Podział przychodów według gatunku (2024):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/ Hyper-casual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97480" y="3145536"/>
            <a:ext cx="1228954" cy="18288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392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4X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97480" y="3429000"/>
            <a:ext cx="806501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3924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675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/ Action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97480" y="3712464"/>
            <a:ext cx="691286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3675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/ Racing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697480" y="3995928"/>
            <a:ext cx="460858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9593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2428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97480" y="4279392"/>
            <a:ext cx="384048" cy="18288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42428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4526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697480" y="4562856"/>
            <a:ext cx="26883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526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trendy 2024–2026: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303520" y="3127248"/>
            <a:ext cx="146304" cy="146304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5" name="Text 43"/>
          <p:cNvSpPr/>
          <p:nvPr/>
        </p:nvSpPr>
        <p:spPr>
          <a:xfrm>
            <a:off x="5522976" y="31089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Generatywna AI w content creation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03520" y="3474720"/>
            <a:ext cx="146304" cy="146304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7" name="Text 45"/>
          <p:cNvSpPr/>
          <p:nvPr/>
        </p:nvSpPr>
        <p:spPr>
          <a:xfrm>
            <a:off x="5522976" y="3456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gaming (GeForce Now Mobile)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03520" y="3822192"/>
            <a:ext cx="146304" cy="146304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9" name="Text 47"/>
          <p:cNvSpPr/>
          <p:nvPr/>
        </p:nvSpPr>
        <p:spPr>
          <a:xfrm>
            <a:off x="5522976" y="38039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play (PC ↔ Mobile)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03520" y="4169664"/>
            <a:ext cx="146304" cy="146304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1" name="Text 49"/>
          <p:cNvSpPr/>
          <p:nvPr/>
        </p:nvSpPr>
        <p:spPr>
          <a:xfrm>
            <a:off x="5522976" y="41513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models (Apple Arcade, GP Pass)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303520" y="4517136"/>
            <a:ext cx="146304" cy="146304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3" name="Text 51"/>
          <p:cNvSpPr/>
          <p:nvPr/>
        </p:nvSpPr>
        <p:spPr>
          <a:xfrm>
            <a:off x="5522976" y="44988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AR/MR gaming (Vision Pro, AR glasses)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Silniki Gier Mobilnych — Przegląd i Porównanie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04672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859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170432"/>
            <a:ext cx="164592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197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rynku: 72%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85953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 Największy ekosystem, Asset Store, szeroka dokumentacja, DOTS/ECS, ML-Agents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85953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Wady: Runtime overhead, licencjonowanie (runtime fee 2024)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1399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Platformy: iOS, Android, PC, Console, WebGL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8288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828800"/>
            <a:ext cx="6400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Unreal Engine 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2194560"/>
            <a:ext cx="1645920" cy="2194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221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/ Blueprint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rynku: 13%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188366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 Nanite, Lumen, fotorealizm, MetaHuman, Chaos Physics — AAA quality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188366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Wady: Wysoki koszt sprzętowy, trudna optymalizacja mobile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24231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Platformy: iOS, Android (ograniczenia), PC, Console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852928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852928"/>
            <a:ext cx="64008" cy="9144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Godot 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3218688"/>
            <a:ext cx="1645920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246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GDScript / C# / C++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493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rynku: 8%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31720" y="290779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 Open source (MIT), lekki, szybki start, Vulkan renderer, 2D pierwszej klasy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89320" y="290779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Wady: Mniejszy ekosystem, brak AAA mobile case studies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34472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Platformy: iOS, Android, PC, Web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877056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877056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Cocos Creator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02920" y="4242816"/>
            <a:ext cx="164592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270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/ JS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45171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rynku: 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31720" y="39319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 Dominacja rynku chińskiego, optymalizacja dla casual mobile, mini-games (WeChat)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89320" y="393192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Wady: Mniejsza społeczność poza Azją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89320" y="44714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Platformy: iOS, Android, H5, Mini-games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— Architektura Silnika i Cykl Życia Sceny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GameObject–Component: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64008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52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GameObject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Kontener bez zachowania — jedynie transformacja (pozycja, rotacja, skala) w hierarchii sceny. Wszystko w Unity jest GameObject.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28800"/>
            <a:ext cx="64008" cy="71323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0195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(MonoBehaviour)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21284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Zachowanie przypisane do obiektu. Klasy dziedziczące z MonoBehaviour implementują Start(), Update(), FixedUpdate() i obsługują zdarzenia.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78608"/>
            <a:ext cx="64008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517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ScriptableObject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96265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niezwiązane z sceną — konfiguracja, balans gry, definicje przedmiotów. Redukuje coupling między komponentami.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32841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28416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015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DOTS / ECS (Data-Oriented Tech)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71246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Component System — dane liniowo w pamięci, burst compilation, job system. 10–100× szybszy niż klasyczne MonoBehaviour dla dużych liczb obiektów.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777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Cykl życia MonoBehaviour: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33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Awake()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3350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— inicjalizacja referencji, niezależnie od stanu aktywności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609344"/>
            <a:ext cx="420624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645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OnEnable()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18470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włączeniu obiektu — resetowanie stanu, subskrypcje zdarzeń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121408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57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23591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przed pierwszą klatką — setup zależny od innych komponentów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633472"/>
            <a:ext cx="420624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670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FixedUpdate()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28712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stały timestep (domyślnie 50Hz) — fizyka, ruchy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145536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182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3832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klatka — logika gry, wejście użytkownika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657600"/>
            <a:ext cx="420624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94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LateUpdate()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38953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wszystkich Update() — kamera, finalizacja pozycji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169664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OnDisable() / OnDestroy()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44074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— unsubscribe, zwalnianie zasobów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— Skryptowanie C# i Wzorce Projektowe w Grach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Stosowanie wzorców projektowych w grach poprawia testowalność, redukuje coupling i ułatwia skalowanie projektu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43000"/>
            <a:ext cx="64008" cy="11430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1615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Singleton (GameManager)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27048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Globalny dostęp do menedżerów (Audio, Scene, Save). Używaj ostrożnie — utrudnia testy. Prefer Dependency Injection.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4300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43000"/>
            <a:ext cx="64008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21615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 / Event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527048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UnityEvent, C# events, ScriptableObject events. Decoupling między UI a logiką gry — UI nasłuchuje na zmianę stanu.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40487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04872"/>
            <a:ext cx="64008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7802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Machine (Enum / Class)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Animator State Machine dla animacji, własny FSM dla AI przeciwnika i ekranów menu. Czytelna nawigacja stanów.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40487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404872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47802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Pooling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78892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dla mobile — unikanie GC Alloc przez recykling obiektów. Unity 2021+ ma wbudowany ObjectPool&lt;T&gt;.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66744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66744"/>
            <a:ext cx="64008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3989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Pattern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050792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akcji, undo/redo (puzzle games), replay systems, command queue dla AI.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27448" y="3666744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666744"/>
            <a:ext cx="64008" cy="114300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73989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Locator / DI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050792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Zenject / VContainer — IoC container dla Unity. Wstrzykiwanie zależności zamiast Find(), zwiększa testowalność.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preferuj kompozycję nad dziedziczenie — Unity favors component-based design, nie class hierarchies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Grafika 2D — Sprite, Tilemap i Animacje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pozostaje dominującym wyborem dla gier mobilnych ze względu na niższe wymagania sprzętowe i niższy koszt produkcji contentu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grafiki 2D w Unity: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58521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 Atlas (Sprite Packer)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Scalanie tekstur w atlasy — redukcja draw calls z N do 1 dla elementów tego samego atlasu. Krytyczne dla mobile.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066544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66544"/>
            <a:ext cx="64008" cy="5852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3969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 Renderer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renderujący sprite — warstwy sortowania (Sorting Layer, Order in Layer), kolor i materiał.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1576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15768"/>
            <a:ext cx="64008" cy="5852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8892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Tilemap + Rule Tiles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99816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kafelkowanie — rule tiles generują odpowiedni sprite na podstawie sąsiadów. Grid 2D, Isometric, Hexagonal.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36499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64992"/>
            <a:ext cx="64008" cy="5852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38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Animator / Spine / DragonBones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Animator Controller (stany + blend trees). Spine 2D / DragonBones — animacja szkieletowa ze zredukowaną liczbą spritów.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014216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14216"/>
            <a:ext cx="64008" cy="5852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873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Lighting (URP)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398264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maps dla 2D, Point Light, Global Light — efekt głębi bez 3D. Universal Render Pipeline.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Optymalizacja Draw Calls — kod: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1417320"/>
            <a:ext cx="420624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91456" y="1673352"/>
            <a:ext cx="40050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Sprite Atlas — programowe ładowanie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spriteAtlas = Resources.Load&lt;SpriteAtlas&gt;(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"UI/MainAtlas");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sprite = spriteAtlas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.GetSprite("btn_play");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GetComponent&lt;Image&gt;().sprite = sprite;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GPU Instancing — wiele identycznych obj.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mat = GetComponent&lt;Renderer&gt;().material;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mat.enableInstancing = true;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SpriteRenderer.drawCallCount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(Frame Debugger → sprawdź batching)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Debug.Log(Camera.main.commandBufferCount);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3401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Zasady optymalizacji 2D: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730752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7216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Maksymalnie 1024×1024 px atlas per scena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986784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9776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Wyłącz Read/Write Enable na teksturach (–50% RAM)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242816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2336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Mip-maps WYŁĄCZONE dla UI 2D (zbędne)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449884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4489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compression: ASTC dla iOS/Android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Grafika 3D — Rendering, PBR i Shadery na Mobile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mobilny to sztuka kompromisu między jakością wizualną a wydajnością na ograniczonym GPU/SoC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Ścieżki renderowania Unity: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26464"/>
            <a:ext cx="2743200" cy="658368"/>
          </a:xfrm>
          <a:prstGeom prst="rect">
            <a:avLst/>
          </a:prstGeom>
          <a:solidFill>
            <a:srgbClr val="F8F8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26464"/>
            <a:ext cx="27432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08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RP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737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— pełna kompatybilność, ale brak optymalizacji mobilnych. Nie polecany dla nowych projektów.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2646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26464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508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RP (URP)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737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Rekomendowany dla mobile — single-pass rendering, GPU Instancing, optimized batching, 2D Renderer. Znacząco lepszy performance.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42646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426464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508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Definition RP (HDRP)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7373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PC/Console — ray tracing, volumetric lighting, fotorealizm. NIE nadaje się dla mobile (zbyt wymagający).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2128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 (Physically Based Rendering) na Mobile: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523744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523744"/>
            <a:ext cx="64008" cy="4389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9689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Albedo / Base Color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907792"/>
            <a:ext cx="3959352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 bazowy powierzchni bez oświetlenia. Format: sRGB, maks. 512×512 px na mobile.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026664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26664"/>
            <a:ext cx="64008" cy="43891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9981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Metallic + Smoothness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410712"/>
            <a:ext cx="3959352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Upakowane w jedną teksturę — metallic w kanale R, smoothness w A. Redukcja samplerów.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529584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529584"/>
            <a:ext cx="64008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0273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Map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913632"/>
            <a:ext cx="3959352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Iluzja geometrii — tangens space, DirectX vs OpenGL konwencja (Unity używa OpenGL Y+). Max 256×256 mobile.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032504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032504"/>
            <a:ext cx="64008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10565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Occlusion Map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416552"/>
            <a:ext cx="3959352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occlusion baked — cienie w szczelinach bez kosztownych obliczeń RT.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2212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Shader Graph / HLSL — prosty Toon Shader: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63440" y="2523744"/>
            <a:ext cx="420624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2569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91456" y="2779776"/>
            <a:ext cx="4005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Shader "Mobile/ToonLit"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Properties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_MainTex ("Texture", 2D) = "white"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_RampTex ("Toon Ramp", 2D) = "white"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_OutlineWidth ("Outline", Range(0,0.1)) = 0.02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CGPROGRAM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#pragma surface surf ToonRamp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fixed4 LightingToonRamp(SurfaceOutput o,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fixed3 lightDir, fixed atten)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diff = dot(o.Normal, lightDir);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diff * 0.5 + 0.5;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float2 rh = float2(h, 0.5);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fixed4 c;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c.rgb = o.Albedo * tex2D(_RampTex, rh).rgb;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ENDCG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Animacje, VFX i Systemy Cząsteczkowe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Animacje i efekty wizualne są kluczowe dla game feel — muszą być efektowne przy minimalnym koszcie obliczeniowym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Systemy animacji: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7315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Mechanim / Animator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stanów animacji — stany (Idle, Run, Jump), przejścia z warunkami (parametry: float, bool, trigger). Blend Tree dla smooth blending kierunków ruchu.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2199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21992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95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Animation Rigging (IK)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 — naturalny ruch kończyn, ograniczenia joints. Proceduralne dostosowanie animacji do geometrii terenu.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26664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26664"/>
            <a:ext cx="64008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9981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+ Cinemachine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1071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Kinematyki — wyreżyserowane sekwencje (cutscenes), kamera Cinemachine z Virtual Cameras, damping, noise dla organic feel.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31336"/>
            <a:ext cx="6400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0448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DOTween (Tweening Library)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1538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Najpopularniejsza biblioteka tweenów — płynne animacje pozycji, skali, koloru bez Animatora. Sekwencje, callback, ease functions.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VFX Graph i Particle System: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417320"/>
            <a:ext cx="64008" cy="8595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490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Shuriken (Legacy PS)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80136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Klasyczny system cząsteczkowy — CPU-bound, max ~1000 cząstek na mobile. Over lifetime modules: color, size, velocity.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350008"/>
            <a:ext cx="42062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350008"/>
            <a:ext cx="64008" cy="85953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4231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VFX Graph (GPU)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2734056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compute — miliony cząsteczek na PC/high-end mobile. Wymaga URP/HDRP i Compute Shader support (OpenGL ES 3.1+).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282696"/>
            <a:ext cx="42062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282696"/>
            <a:ext cx="64008" cy="859536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35584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Shader-based Effects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66674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Wiele efektów jako shadery zamiast cząsteczek — dissolve, hologram, force field — zero overhead CPU.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Performance tips: bake animacje gdy możliwe · GPU Skinning w Player Settings · ogranicz Particle System do max 300 cząstek na mobile · użyj LOD dla animowanych postaci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Fizyka Gier — Silniki i Symulacje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Realistyczna fizyka to fundament immersji w grach akcji, platformówkach i symulatorach — wymaga starannej konfiguracji na mobile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743200" cy="34747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PhysX (Unity 3D)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1554480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Rigidbody z mass, drag, angular drag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1901952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1901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 types: Box, Sphere, Capsule, Mesh, Convex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" y="2249424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2249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Joints: Fixed, Hinge, Spring, ConfigurableJoint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" y="2596896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2596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Materials: friction, bounciness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" y="2944368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Collision Matrix — selektywne kolizje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115568"/>
            <a:ext cx="274320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Box2D (Unity 2D)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14630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554480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401568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Rigidbody2D — kinematic, dynamic, static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0128" y="1901952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401568" y="1901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Collider, Edge Collider, Polygon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10128" y="2249424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401568" y="2249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DistanceJoint2D, WheelJoint2D, SliderJoint2D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0128" y="2596896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3401568" y="2596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Effectors: AreaEffector, SurfaceEffector (conveyor)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2944368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3401568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PhysicsMaterial2D — tarcie i odbicie 2D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1115568"/>
            <a:ext cx="27432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Havok Physics (ECS)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80760" y="14630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0488" y="1554480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281928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Deterministyczna fizyka dla multi-player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90488" y="1901952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281928" y="1901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DOTS/ECS — dane liniowo w pamięci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0488" y="2249424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281928" y="2249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Znacząco wydajniejsza niż PhysX dla dużych scen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90488" y="2596896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6281928" y="2596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Compiler — SIMD optymalizacje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90488" y="2944368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281928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sleep — uśpienie nieaktywnych ciał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20040" y="34930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Sterowanie postacią z Rigidbody: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0040" y="3794760"/>
            <a:ext cx="41605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3840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8056" y="4050792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Ruch na podstawie wejścia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h = Input.GetAxis("Horizontal");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v = Input.GetAxis("Vertical");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move = new Vector3(h, 0, v) * speed;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rb.MovePosition(rb.position + move * Time.fixedDeltaTime);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Skok z detekcją podłoża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(isGrounded &amp;&amp; Input.GetButtonDown("Jump"))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rb.AddForce(Vector3.up * jumpForce, ForceMode.Impulse);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63440" y="3493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Najlepsze praktyki fizyki mobile: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663440" y="3822192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38130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FixedUpdate dla fizyki (NIE Update)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4032504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40233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 Fixed Timestep na 0.02 lub 0.033 (mobile)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63440" y="4242816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0" y="4233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Używaj Layer Matrix — pomija zbędne kolizje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4453128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9" name="Text 57"/>
          <p:cNvSpPr/>
          <p:nvPr/>
        </p:nvSpPr>
        <p:spPr>
          <a:xfrm>
            <a:off x="4846320" y="44439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Mesh Collider zamiast Concave (10× szybszy)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4663440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46542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Continuous Collision Detect tylko dla szybkich obiektów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Detekcja Kolizji — Algorytmy i Implementacja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Algorytmy detekcji kolizji: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6400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52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AABB (Axis-Aligned Bounding Box)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Najprostszy i najszybszy — prostokąt wyrównany do osi. O(1) test. Używany jako broad phase. Wadą jest brak obrotu.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93392"/>
            <a:ext cx="64008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665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GJK + EPA (Convex Hulls)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Gilbert-Johnson-Keerthi — dokładna detekcja wypukłych brył. Expanding Polytope Algorithm — głębokość penetracji. Używany przez PhysX.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07792"/>
            <a:ext cx="64008" cy="82296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809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Phase (BVH / SAP)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Volume Hierarchy i Sweep and Prune — redukcja O(n²) do O(n log n). Eliminacja par niekolizyjnych przed dokładną fazą.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22192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953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Raycast / Overlap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Physics.Raycast, OverlapSphere, SphereCast — dyskretne zapytania do silnika fizyki. Efektywne dla hitscan, pola widzenia, line of sight.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777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Callbacki kolizji w Unity: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1078992"/>
            <a:ext cx="4206240" cy="2240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124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1335024"/>
            <a:ext cx="4005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PlayerCollision : MonoBehaviour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Fizyczne kolizje (Collider + Rigidbody)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OnCollisionEnter(Collision col)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(col.gameObject.CompareTag("Enemy"))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TakeDamage(col.impulse.magnitude);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Punkty styku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(ContactPoint p in col.contacts)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Debug.DrawRay(p.point, p.normal, Color.red);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OnCollisionStay(Collision col) { /* tarcie */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OnCollisionExit(Collision col) { /* cleanup */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Triggery (Is Trigger = true)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OnTriggerEnter(Collider other)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(other.TryGetComponent&lt;Coin&gt;(out var coin))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coin.Collect();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--- 2D wersje (Physics2D) ---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OnCollisionEnter2D(Collision2D col) {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OnTriggerEnter2D(Collider2D other) {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34015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Raycast — line of sight: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4206240" cy="11338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703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91456" y="3913632"/>
            <a:ext cx="4005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Sprawdź czy gracz widzi cel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RaycastHit hit;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mask = LayerMask.GetMask("Obstacle");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hasLOS = !Physics.Raycast(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(target.position - transform.position).normalized,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hit, viewDistance, mask);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(hasLOS) AttackPlayer();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Proceduralne Generowanie Świata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Proceduralne generowanie pozwala tworzyć nieograniczoną ilość unikalnego contentu przy minimalnym zasobach artystycznych — fundament roguelite i sandbox games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64008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Szum Perlin / Simplex Noise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99616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terenu, map wysokości, tekstur chmur. Octaves + persistence + lacunarity — fraktalne detale. Unity: Mathf.PerlinNoise().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15568"/>
            <a:ext cx="64008" cy="11430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18872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BSP (Binary Space Partitioning)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499616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Rekurencyjny podział przestrzeni — dungeons, mapy pomieszczeń. Każdy liść drzewa BSP to pomieszczenie lub korytarz.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77440"/>
            <a:ext cx="64008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505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Function Collapse (WFC)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61488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generowania map z zachowaniem lokalnej spójności wzorców. Tile-based — analizuje przykład i generuje nieskończone warianty.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37744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377440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4505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L-Systems (Rośliny)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761488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Gramatyki Lindenmayera — formalne systemy przepisywania dla roślin, miast, jaskiń. Rekurencyjne rozwijanie symboli w geometrię 3D.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39312"/>
            <a:ext cx="64008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124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Delaunay Triangulation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Triangulacja Delaunay'a — generowanie dróg, rzek, rozkład punktów zainteresowania na mapie świata. Optymalne pokrycie.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27448" y="363931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639312"/>
            <a:ext cx="64008" cy="1143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7124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Marching Cubes / Squares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0233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Ekstrakcja izopowierzchni ze scalar field — generowanie grot, terenu wokseli (jak Minecraft). Voxel terrain z smooth mesh.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Seed-based generation: ten sam seed zawsze generuje identyczny świat — kluczowe dla sharowalnych map i debugowania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Sztuczna Inteligencja w Grach Mobilnych — Podstawy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 grach nie wymaga realizmu — wymaga iluzji inteligentnego zachowania przy minimalnym koszcie obliczeniowym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Techniki AI w grach: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State Machine (FSM)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Stany (Idle, Patrol, Chase, Attack) z przejściami warunkowanymi. Prosta implementacja, trudna w skalowaniu powyżej ~10 stanów.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2199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21992"/>
            <a:ext cx="64008" cy="7315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95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Trees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Hierarchiczna struktura — Selector, Sequence, Decorator, Leaf (Task). Modularność i reużywalność. NodeCanvas, Behavior Designer (Unity).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26664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26664"/>
            <a:ext cx="64008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9981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GOAP (Goal Oriented Action Planning)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1071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planuje sekwencję akcji do osiągnięcia celu. Dynamiczne planowanie ścieżki przez problem space. Używany w F.E.A.R., Tomb Raider.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31336"/>
            <a:ext cx="6400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0448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1538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Ocenianie każdej akcji liczbową wartością użyteczności — wybór akcji z najwyższym score. Naturalne zachowania, jak NPC w The Sims.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Pathfinding — NavMesh: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1673352"/>
            <a:ext cx="40050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UnityEngine.AI;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EnemyAI : MonoBehaviour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NavMeshAgent agent;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 player;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attackRange = 2f;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dist = Vector3.Distance(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transform.position, player.position);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(dist &gt; attackRange)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Pathfinding do gracza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agent.SetDestination(player.position);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ChangeState(State.Chase);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agent.isStopped = true;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ChangeState(State.Attack);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Dynamiczne przeszkody: NavMeshObstacle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NavMesh.SamplePosition() dla cover points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34015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vs NavMesh — kiedy co używać: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57600"/>
            <a:ext cx="64008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7307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NavMesh (Unity wbudowany)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041648"/>
            <a:ext cx="400507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3D, złożona geometria, dynamiczne agenty, płynny ruch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2062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4206240"/>
            <a:ext cx="64008" cy="47548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2793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Pathfinding Project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590288"/>
            <a:ext cx="400507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2D/3D, wiele typów agentów, dynamiczne mapy, mobile-friendly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w Grach — ML-Agents i Uczenie przez Wzmocnienie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ML-Agents Toolkit umożliwia trenowanie agentów z użyciem reinforcement learning i imitacji — tworzenie nieprzewidywalnych, adaptacyjnych przeciwników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43000"/>
            <a:ext cx="64008" cy="109728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1615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27048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 podejmujący decyzje na podstawie obserwacji środowiska. Implementuje metodę OnActionReceived() i CollectObservations().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4300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43000"/>
            <a:ext cx="64008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21615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Środowisko (Environment)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527048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 gry dostarczająca stany (observations) i nagrody (rewards). Może działać jako wiele równoległych instancji (multi-environment training).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50008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50008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231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(Polityka)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34056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Sieć neuronowa mapująca obserwacje na akcje. Proximal Policy Optimization (PPO) — domyślny algorytm ML-Agents.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350008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350008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4231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Function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734056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Kluczowy element projektowania — reward shaping, dense vs sparse rewards. Złe nagrody prowadzą do reward hacking (agent exploituje system).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57016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57016"/>
            <a:ext cx="64008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301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Imitation Learning (BC/GAIL)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941064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Trenowanie przez demonstrację — nagrywanie ludzkich rozgrywek jako dane treningowe. GAIL (Generative Adversarial Imitation Learning).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27448" y="3557016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557016"/>
            <a:ext cx="64008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6301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na Urządzeniu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3941064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Wytrenowany model (.onnx) eksportowany do Unity → Barracuda runtime. CPU/GPU inference na mobile — realtime w 60 FPS.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Zastosowania ML w grach mobilnych: adaptacja trudności (DDA), zachowania NPC, generowanie muzyki, anti-cheat detection, matchmaking skill-based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Projektowanie Gameplayowe — Balansowanie i DDA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Difficulty Adjustment (DDA) dostosowuje wyzwanie do umiejętności gracza — utrzymuje flow state i redukuje frustrację/nudę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Flow (Csikszentmihalyi) w projektowaniu gier: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4160520" cy="2606040"/>
          </a:xfrm>
          <a:prstGeom prst="rect">
            <a:avLst/>
          </a:prstGeom>
          <a:solidFill>
            <a:srgbClr val="F8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44752"/>
            <a:ext cx="4160520" cy="12801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743200"/>
            <a:ext cx="2103120" cy="130759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691640"/>
            <a:ext cx="4160520" cy="7772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361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(za trudne)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828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ZONE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(idealne wyzwanie)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(za łatwe)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1444752"/>
            <a:ext cx="4572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Trudność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91363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Umiejętności gracza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 DDA: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1732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490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Rubber Band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8013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Przeciwnicy dostosowują prędkość/agresję do wyniku gracza — Mario Kart, racing games. Kontrowersyjna mechanika.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221992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221992"/>
            <a:ext cx="64008" cy="7315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2951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Spawn 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6060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i typ wrogów zależny od win/loss ratio gracza w ostatnich N runach. Spawn budgets.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026664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026664"/>
            <a:ext cx="64008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0998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DDA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4107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Monitorowanie metryk: śmierci, czasu levelów, zasobów — automatyczna korekta parametrów.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831336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831336"/>
            <a:ext cx="6400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9044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Stealth Assistance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421538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Ukryta pomoc — crash prevention, ostatnie sekundy gracza są łatwiejsze (np. auto-aim buff).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metryki: śmierci/minutę · retry rate · level completion rate · sessjon length · rage quit events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System — Obsługa Dotyku i Gestów na Mobile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input to dotyk, gesty, akcelerometr i żyroskop — zupełnie inny paradygmat niż klawiatura i mysz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Input Systems: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6217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Input Manager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Input.GetAxis(), Input.GetButtonDown() — prosty, ale nieelastyczny. Brak remappingu i multi-platform abstrakcji.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75688"/>
            <a:ext cx="64008" cy="62179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4884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Input System (2019+)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5973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Maps, Input Actions, Binding — pełna abstrakcja platformy. PlayerInput component, Callbacks i UnityEvent. Rekomendowane.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34056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34056"/>
            <a:ext cx="6400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0720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Input.touches (Legacy Touch)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118104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Touch[] — fazy: Began, Moved, Stationary, Ended, Canceled. Multi-touch, deltaPosition, pressure.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4290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Rozpoznawanie gestów: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730752"/>
            <a:ext cx="4160520" cy="10698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776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3986784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Pinch to zoom (multi-touch)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(Input.touchCount == 2)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Touch t0 = Input.GetTouch(0);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Touch t1 = Input.GetTouch(1);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prevDist = Vector2.Distance(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t0.position - t0.deltaPosition,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t1.position - t1.deltaPosition);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currDist = Vector2.Distance(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t0.position, t1.position);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delta = currDist - prevDist;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Camera.main.orthographicSize -= delta * zoomSpeed;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Żyroskop i Akcelerometr: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1673352"/>
            <a:ext cx="4005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Żyroskop — VR, AR, tilt controls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Input.gyro.enabled = true;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Quaternion gyroRot = Input.gyro.attitude;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Konwersja z Right-handed do Left-handed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Quaternion unity = new Quaternion(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gyroRot.x, gyroRot.y,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-gyroRot.z, -gyroRot.w);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transform.localRotation = unity;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Akcelerometr — tilt steering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accel = Input.acceleration;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tilt = Mathf.Clamp(accel.x, -1f, 1f);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rb.AddForce(Vector3.right * tilt * steerForce);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2999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Wirtualny joystick i HUD mobile: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3291840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291840"/>
            <a:ext cx="64008" cy="3291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364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 Joystick (Dynamic)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675888"/>
            <a:ext cx="4005072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pojawia się w miejscu dotyku — bardziej ergonomiczny niż statyczny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666744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666744"/>
            <a:ext cx="64008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7398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 Zone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050792"/>
            <a:ext cx="4005072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Ignoruj ruch joysticka &lt; threshold (0.1) — eliminacja szumu i drgań palca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041648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4041648"/>
            <a:ext cx="64008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1148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Haptic Feedback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425696"/>
            <a:ext cx="4005072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Handheld.Vibrate() / iOS CoreHaptics — feedback przy strzelaniu, kolizji, zbieraniu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41655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416552"/>
            <a:ext cx="64008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4897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Area Layout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4800600"/>
            <a:ext cx="4005072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RectTransform safe area dla notch (iPhone X+) — UI nie przykrywa elementów systemu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w Grach Mobilnych — Projektowanie Interfejsu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gry mobilnej musi być czytelne na ekranie 5–7 cali, obsługiwane jednym kciukiem i nie rozpraszać od rozgrywki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Systemy UI Unity: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(UGUI) — Legacy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RenderMode: Screen Space Overlay / Camera / World Space. Layout Groups (Vertical, Horizontal, Grid). Rector Transform. Powszechnie używany, ale kosztowny przy wielu elementach.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122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12264"/>
            <a:ext cx="64008" cy="6583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8541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Toolkit (UIElements) — Nowe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96312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UXML + USS (jak HTML+CSS) — responsive design, data binding, UI Builder. Rekomendowane dla złożonych UI i cross-platform.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0720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07208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803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Space UI (Diegetic)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19125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osadzony w świecie gry — życia na pasku nad głową, interaktywne ekrany w świecie. Immersja bez HUD nakładki.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5387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Zasady UX dla gier mobilnych: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840480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40480"/>
            <a:ext cx="64008" cy="5120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136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Thumb-friendly zones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395935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Dolna część ekranu — kluczowe przyciski akcji. Górny HUD — pasywna informacja. Unikaj centrum — zasłania akcję.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Hierarchia ekranów i nawigacja: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417320"/>
            <a:ext cx="64008" cy="52120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490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Splash Screen → Main Menu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1801368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sekundy, auto-skip po załadowaniu, logo animacja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002536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002536"/>
            <a:ext cx="64008" cy="5212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0756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Menu → Level Select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2386584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wyraźny CTA, progress widoczny na mapie poziomów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587752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587752"/>
            <a:ext cx="64008" cy="5212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6609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Gameplay HUD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2971800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minimalistyczny — HP, score, special. Ukryj zbędne informacje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172968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172968"/>
            <a:ext cx="64008" cy="5212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2461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Menu (ESC/Back)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3557016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wyłącza muzyki, wyraźny Resume, Settings dostępne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758184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758184"/>
            <a:ext cx="64008" cy="5212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8313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Over / Victory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00600" y="4142232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wynik, nowe rekordy podkreślone, retry jako domyślna akcja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4343400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4343400"/>
            <a:ext cx="64008" cy="5212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44165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Store UI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00600" y="4727448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 triggers, bundles, limited time offers — etyka monetyzacji!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w Grach Mobilnych — Dźwięk i Muzyka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to 50% doświadczenia gry — często niedoceniane, ale kluczowe dla game feel, immersji i informacji zwrotnej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 audio w Unity: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AudioSource + AudioClip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Podstawowe API — PlayOneShot() dla SFX, Loop dla muzyki. AudioSource.Play() bez allokacji GC.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2199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21992"/>
            <a:ext cx="64008" cy="7315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95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Mixer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Grupy Master/Music/SFX z efektami (Reverb, Echo, Compressor). Ducking — ściszanie muzyki podczas dialogów.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26664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26664"/>
            <a:ext cx="64008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9981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FMOD Studio (Middleware)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1071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Profesjonalne narzędzie audio — adaptacyjna muzyka, interactive music z transitions, parametry wywołujące efekty. Wwise jako alternatywa.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31336"/>
            <a:ext cx="6400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0448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Audio (3D Sound)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1538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AudioSource.spatialBlend = 1 dla dźwięków 3D. Rolloff curves — logarytmiczne dla realistycznych spadków głośności. Audio Listener na kamerze.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AudioManager — Object Pool dla SFX: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2057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1673352"/>
            <a:ext cx="4005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AudioManager : MonoBehaviour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[SerializeField] AudioSource[] sfxSources;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_idx = 0;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PlaySFX(AudioClip clip,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volume = 1f, float pitch = 1f)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src = sfxSources[_idx % sfxSources.Length];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src.clip = clip;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src.volume = volume;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src.pitch = pitch + Random.Range(-0.05f, 0.05f);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src.Play();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_idx++;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Muzyka z cross-fade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IEnumerator CrossfadeMusic(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AudioClip newTrack, float duration = 1f)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t = 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(t &lt; duration)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musicSource.volume = Mathf.Lerp(1, 0, t/duration);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 += Time.deltaTime;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return null;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musicSource.clip = newTrack;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musicSource.Play();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... fade 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35478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Optymalizacja audio mobile: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3822192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8130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Vorbis/OGG dla muzyki, ADPCM dla krótkich SFX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4041648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325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Type: Compressed In Memory dla muzyki BGM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4261104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4251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audio dla dźwięków 3D — stereo tylko dla muzyki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448056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44714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Voices: 32 jednoczesnych kanałów na mobile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4700016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6908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AudioSettings.outputSampleRate: 44100 Hz standard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Optymalizacja CPU — Profilowanie i Wydajność Kodu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dla gier mobilnych: 60 FPS przy max 16.6 ms na klatkę — każda milisekunda ma znaczenie na słabszym SoC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Narzędzia profilowania: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9144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Profiler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Wbudowany — CPU, GPU, Memory, Audio, Physics frame-by-frame. Deep Profiling (wolniej, ale pełne callstacks). Profile Build na urządzeniu.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41732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4173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Debugger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80136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Podgląd każdego draw call — batching, SetPass calls, materiały. Kluczowy do identyfikacji zbędnych renderów.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2316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23160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49631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Profiler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0720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snapshot — które obiekty zajmują pamięć, referencje do GC roots. Managed vs Native memory.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42316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42316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249631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GPU Profiler / Xcode Instruments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80720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Natywne narzędzia platform — GPU counters, shader stalls, bandwidth. Snapdragon Profiler (Qualcomm), Mali Graphics Debugger.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4930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Typowe wąskie gardła CPU i rozwiązania: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4251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22192"/>
            <a:ext cx="54864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" y="3849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GetComponent&lt;T&gt;() w Update()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48840" y="3849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 Start() → prywatne pole. GetComponent() to kosztowny reflection-based lookup.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27448" y="3822192"/>
            <a:ext cx="4251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7448" y="3822192"/>
            <a:ext cx="54864" cy="3108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855464" y="3849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 / Destroy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56248" y="3849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Pooling — recykl zamiast tworzenia nowych. Unity 2021: ObjectPool&lt;T&gt; wbudowany.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169664"/>
            <a:ext cx="4251960" cy="310896"/>
          </a:xfrm>
          <a:prstGeom prst="rect">
            <a:avLst/>
          </a:prstGeom>
          <a:solidFill>
            <a:srgbClr val="F8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169664"/>
            <a:ext cx="54864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48056" y="4197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 Allocation — garbage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48840" y="4197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Unikaj new w Update(), string concatenation, LINQ. Użyj struct zamiast class dla małych danych.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27448" y="4169664"/>
            <a:ext cx="4251960" cy="310896"/>
          </a:xfrm>
          <a:prstGeom prst="rect">
            <a:avLst/>
          </a:prstGeom>
          <a:solidFill>
            <a:srgbClr val="F8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27448" y="4169664"/>
            <a:ext cx="54864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855464" y="4197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 / FindObjectOfType()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56248" y="4197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referencji w Awake/Start lub ScriptableObject Event. Nigdy w Update().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517136"/>
            <a:ext cx="4251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517136"/>
            <a:ext cx="54864" cy="31089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4" name="Text 42"/>
          <p:cNvSpPr/>
          <p:nvPr/>
        </p:nvSpPr>
        <p:spPr>
          <a:xfrm>
            <a:off x="448056" y="45445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Coroutines vs async-await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48840" y="4544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 ma overhead GC. UniTask (Cysharp) jako zero-alloc async/await dla Unity.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27448" y="4517136"/>
            <a:ext cx="4251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27448" y="4517136"/>
            <a:ext cx="54864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4855464" y="45445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Physics.OverlapSphere() per frame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56248" y="4544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Zmniejsz częstotliwość lub użyj NonAlloc variants: OverlapSphereNonAlloc(buffer).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Optymalizacja GPU i Zarządzanie Pamięcią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mobile GPU i CPU współdzielą RAM — każdy megabajt pamięci tekstur bezpośrednio ogranicza możliwe zasoby gry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Redukcja Draw Calls (SetPass Calls):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Batching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Nieporuszające się obiekty z tym samym materiałem — scalane w jeden mesh przed grą. Zero overhead runtime. Mark as Static.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40280"/>
            <a:ext cx="64008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134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Batching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2432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Małe meshe (&lt;300 werteksów) z tym samym materiałem — automatyczne łączenie w runtime. Ograniczone przez werteksy.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63240"/>
            <a:ext cx="64008" cy="74980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3639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Instancing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4728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Setki identycznych obiektów (drzewa, trawy, wrogowie) — jeden draw call. Wymaga instancing shader. enable: material.enableInstancing = true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86200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5935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SRP Batcher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7024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URP Batcher — grupuje materiały o tym samym shaderze, nie obiekty. Znacząca redukcja CPU overhead.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Zarządzanie pamięcią RAM: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417320"/>
            <a:ext cx="64008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490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Texture Compression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80136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ASTC (iOS i Android Vulkan) — najlepszy compression ratio, 4×4 block. ETC2 dla Android OpenGL ES. PVRTC dla starsze iOS. Redukcja 75–87% rozmiaru.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2402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240280"/>
            <a:ext cx="64008" cy="74980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3134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Bundle / Addressables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262432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Dynamiczne ładowanie zasobów — tylko potrzebne assety w pamięci. Addressables System: asynchroniczne ładowanie, reference counting, hot reload.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06324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063240"/>
            <a:ext cx="64008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1363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Texture Atlasing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44728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Łączenie wielu tekstur → jeden atlas. Redukcja draw calls i VRAM fragmentation. TexturePacker, Unity Sprite Atlas.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88620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886200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9593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LOD (Level of Detail)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27024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Group — automatyczna zamiana na prostszy mesh z odległości. LOD0 (blisko) → LOD1 → LOD2 → Culled. Ogromna redukcja polygon count.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Budżety pamięci: iOS 500 MB max recommended · Android 350 MB (low-end), 750 MB (high-end) · Tekstury: max 50% RAM budget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Zarządzanie Scenami, Stanem Gry i Assetami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zasobów i scen determinuje czas ładowania, zużycie pamięci i możliwości skalowania gry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 zarządzania scenami: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6858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Single-scene z Additive Loading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trwała scena (GameManager, AudioManager) + dynamiczne ładowanie/odładowywanie sub-scen przez LoadSceneAsync(scene, Additive). Brak freezeframe.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39696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39696"/>
            <a:ext cx="64008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128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Addressable Scenes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523744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Sceny jako Addressable Assets — ładowanie po kluczu/label, grupowanie, dependency tracking. Ideal dla dużych open-world.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62072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62072"/>
            <a:ext cx="64008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3522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Screen Pattern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ładowanie z paskiem postępu. AsyncOperation.progress (0–0.9, 0.9–1.0 to activation). allowSceneActivation = false dla ładowania w tle.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6576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zapisu gry: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959352"/>
            <a:ext cx="4160520" cy="8412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005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421538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[Serializable] class SaveData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level, score, coins;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float[] playerPos;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Zapis: JSON + AES encryption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JsonUtility.ToJson(data);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File.WriteAllText(savePath, EncryptAES(json));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Wczytanie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raw = DecryptAES(File.ReadAllText(savePath));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 = JsonUtility.FromJson&lt;SaveData&gt;(raw);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Addressables — workflow: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1673352"/>
            <a:ext cx="40050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Ładowanie assetu po kluczu (adres/label)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handle = Addressables.LoadAssetAsync&lt;Sprite&gt;(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"UI/hero_portrait");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handle.Completed += (op)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(op.Status == AsyncOperationStatus.Succeeded)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portraitImage.sprite = op.Result;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Ładowanie sceny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sceneHandle = Addressables.LoadSceneAsync(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"Level_01", LoadSceneMode.Additive);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sceneHandle.Task;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WAŻNE: zwalniaj po użyciu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Addressables.Release(handle);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Addressables.UnloadSceneAsync(sceneHandle);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Preload w tle (warm-up)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Addressables.DownloadDependenciesAsync("level_pack_1");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3593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zasobów: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858768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858768"/>
            <a:ext cx="64008" cy="329184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9319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→ Use → Unload (Resources.UnloadUnusedAssets)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242816"/>
            <a:ext cx="4005072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242816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4242816"/>
            <a:ext cx="64008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3159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GC.Collect() 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626864"/>
            <a:ext cx="4005072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wywołuj po scenie loading, NIE w Update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626864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4626864"/>
            <a:ext cx="64008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7000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Application.lowMemory 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5010912"/>
            <a:ext cx="4005072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callback dla iOS/Android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Profilowanie na Urządzeniu i Debugowanie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Profilowanie w edytorze jest niewystarczające — zawsze profiluj na docelowym urządzeniu, szczególnie low-end Androidach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profilowania na urządzeniu: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82296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Build Development Build + Profiler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Settings → Development Build + Autoconnect Profiler. IL2CPP release build dla finalnych benchmarków.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4173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417320"/>
            <a:ext cx="64008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Uruchom na urządzeniu przez USB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80136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ADB over USB lub Wi-Fi. iOS: Xcode. Unity Remote nie jest wystarczające dla pomiarów wydajności.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31720"/>
            <a:ext cx="6400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4048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Zidentyfikuj hotspoty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71576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Profiler: hierarchia wywołań. Sortuj po Self Time — metody pochłaniające czas bez dzieci.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3317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33172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24048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Wdróż fix i zmierz ponownie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71576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Nigdy nie optymalizuj bez mierzenia przed i po. Zmiana może nie mieć efektu lub go pogorszyć.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3101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Profiler Markers: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416052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657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" y="3867912"/>
            <a:ext cx="3959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Unity.Profiling;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Niealokujące markery do własnego kodu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readonly ProfilerMarker k_GenChunk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ProfilerMarker("WorldGen.GenerateChunk");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GenerateChunk(Vector2Int coords)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(k_GenChunk.Auto())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ten kod będzie widoczny w Profilerze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GenerateTerrain(coords);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PlaceObjects(coords);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3310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Typowe problemy na mobile: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11880"/>
            <a:ext cx="64008" cy="3017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685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Throttling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995928"/>
            <a:ext cx="4005072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Przegrzanie → CPU/GPU obniżają taktowanie. Rozwiązanie: Application.targetFrameRate = 30 dla long sessions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959352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959352"/>
            <a:ext cx="64008" cy="3017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0325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Warning → Crash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343400"/>
            <a:ext cx="4005072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didReceiveMemoryWarning — zwalniaj cache, tekstury. Brak obsługi = crash całej gry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306824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4306824"/>
            <a:ext cx="64008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3799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Shader Compilation Stutter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690872"/>
            <a:ext cx="4005072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 użycie shadera → hitches. ShaderVariantCollection.Warmup() w loading screen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654296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654296"/>
            <a:ext cx="64008" cy="3017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72744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GFX Jobs Single-threaded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5038344"/>
            <a:ext cx="4005072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Domyślnie Unity renderuje single-thread. Włącz Graphics Jobs w Player Settings (eksperymentalne, ale +20% mobile)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Multiplayer w Grach Mobilnych — Architektura Sieciowa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Sieciowość gier to jeden z najtrudniejszych problemów inżynieryjnych — latencja, desync, cheating i skalowalność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Topologie sieciowe: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9144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 (Authoritative)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Serwer jako jedyna prawdziwa symulacja — klient wysyła wejście, serwer odsyła stan. Odporność na cheating. Latencja widoczna. Standard AAA.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41732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4173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 (P2P)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80136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Gracze komunikują się bezpośrednio — brak kosztów serwera, ale podatność na cheat, problemy NAT traversal (STUN/TURN). Używane w racing, fighting.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4144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41448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146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 Server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25496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z klientów pełni rolę serwera — prostsze wdrożenie, but host advantage. Popularne w indie games.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44144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441448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25146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Server (Steam/Epic)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825496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Pośredni serwer relay eliminuje problemy NAT bez kosztów dedykowanego. Epic Online Services, Steam Networking, Unity Relay.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520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Protokoły i SDKi multiplayer: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22192"/>
            <a:ext cx="2011680" cy="3657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895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Netcode for GameObjects (Unity)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1696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Oficjalny SDK Unity — snapshot synchronisation, RPCs, NetworkVariable. Dobry start dla projektów Unity.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82219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3822192"/>
            <a:ext cx="20116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3895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 (Open-Source)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41696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UNET — stabilny, duże community, battle-tested. High-Level API z wieloma transportami (TCP, KCP, WebTransport).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382219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822192"/>
            <a:ext cx="20116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895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Photon Fusion / PUN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41696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BaaS dla mobile — managed servers, global regions. Fusion: deterministic rollback netcode. PUN2: event-based, prosty start.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382219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3822192"/>
            <a:ext cx="20116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3895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Fish-Net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1696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alternatywa Mirror — performance-first design, Prediction, LOD, wsparcie dla ECS.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Kompensacja Latencji i Synchronizacja Stanu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Gracze mobilni mają typowo 50–150 ms latencji — gra musi być grywalna pomimo opóźnień transmisji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64008" cy="11430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 Reckoning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99616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Przewidywanie przyszłej pozycji na podstawie ostatniego stanu i prędkości — interpolacja i ekstrapolacja. Smooth movement mimo pakiet drops.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15568"/>
            <a:ext cx="64008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18872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Prediction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499616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natychmiast aplikuje własne wejście lokalnie — serwer potwierdza lub koryguje (reconciliation). Eliminuje odczucie lagowania sterowania.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77440"/>
            <a:ext cx="64008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505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Reconciliation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61488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potwierdzeniu od serwera: klient porównuje stan, cofa symulację do potwierdzonego stanu, reaplikuje niepotwierdzony input. Roll-forward.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37744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377440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4505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Compensation (Hitscan)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761488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Serwer "cofa czas" — przy strzale sprawdza pozycje przeciwników w chwili T-latency, nie T-now. Valobrант, Counter-Strike.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39312"/>
            <a:ext cx="64008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124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Interpolation Buffer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Bufor stanu z opóźnieniem ~100 ms — płynne wyświetlanie stanu innych graczy przez interpolację między punktami. Masło smooth.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27448" y="363931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639312"/>
            <a:ext cx="64008" cy="1143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7124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Lockstep / Deterministic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0233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Wszyscy gracze wykonują identyczne obliczenia → identyczny stan. Zero transferu stanu, tylko wejście. Wymagana pełna determinizm (Fixed timestep, seed).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metryki: RTT (Round Trip Time) &lt; 150 ms dla real-time gier · Packet loss &lt; 5% · Jitter &lt; 30 ms · Tick rate: 20–128 Hz (zależy od gatunku)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dla Gier Mobilnych — Usługi i Infrastruktura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Backend (BaaS — Backend as a Service) dostarcza infrastrukturę serwerową bez konieczności budowania jej od zera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Platformy BaaS dla gier: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20116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Gaming Services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81965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(anon, Steam, Apple)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214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21122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CloudSave — cross-device progression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4231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" y="24140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Leaderboards, Economy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72491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" y="2715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Matchmaking, Relay, Lobby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02666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Code (serverless JS)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1417320"/>
            <a:ext cx="20116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246888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(Google)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173736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181965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2724912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Database / Firestore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21214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2724912" y="21122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(Email, Google, Apple)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2724912" y="24140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Config — feature flags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27249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2724912" y="2715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Crashlytics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30266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2724912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(Node.js)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1417320"/>
            <a:ext cx="2011680" cy="32004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PlayFab (Microsoft Azure)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173736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1819656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9" name="Text 37"/>
          <p:cNvSpPr/>
          <p:nvPr/>
        </p:nvSpPr>
        <p:spPr>
          <a:xfrm>
            <a:off x="4873752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player data model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2121408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1" name="Text 39"/>
          <p:cNvSpPr/>
          <p:nvPr/>
        </p:nvSpPr>
        <p:spPr>
          <a:xfrm>
            <a:off x="4873752" y="21122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economy (currencies)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2423160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3" name="Text 41"/>
          <p:cNvSpPr/>
          <p:nvPr/>
        </p:nvSpPr>
        <p:spPr>
          <a:xfrm>
            <a:off x="4873752" y="24140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hosting &amp; matchmaking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2724912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5" name="Text 43"/>
          <p:cNvSpPr/>
          <p:nvPr/>
        </p:nvSpPr>
        <p:spPr>
          <a:xfrm>
            <a:off x="4873752" y="2715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LiveOps: tournaments, events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026664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7" name="Text 45"/>
          <p:cNvSpPr/>
          <p:nvPr/>
        </p:nvSpPr>
        <p:spPr>
          <a:xfrm>
            <a:off x="4873752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v2, Leaderboards v2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1417320"/>
            <a:ext cx="20116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Nakama (Open-Source)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66560" y="173736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181965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7022592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/ Heroic Cloud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58000" y="21214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7022592" y="21122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friends, groups, chat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58000" y="24231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7022592" y="24140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(authoritative)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27249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7022592" y="2715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Lua/JS/Go server runtime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58000" y="30266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7022592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real-time multiplayer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20040" y="3547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funkcjonalności backend gier: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20040" y="3858768"/>
            <a:ext cx="2788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3858768"/>
            <a:ext cx="457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4" name="Text 62"/>
          <p:cNvSpPr/>
          <p:nvPr/>
        </p:nvSpPr>
        <p:spPr>
          <a:xfrm>
            <a:off x="438912" y="3895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Authentication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38912" y="408736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Anonimowa → linked (Apple/Google) → pełne konto. Device ID jako seed.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0" y="3858768"/>
            <a:ext cx="2788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0" y="3858768"/>
            <a:ext cx="45720" cy="36576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68" name="Text 66"/>
          <p:cNvSpPr/>
          <p:nvPr/>
        </p:nvSpPr>
        <p:spPr>
          <a:xfrm>
            <a:off x="3319272" y="3895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Progression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319272" y="408736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poziomy, odblokowania. Weryfikacja serwer-side (anti-cheat).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080760" y="3858768"/>
            <a:ext cx="2788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80760" y="3858768"/>
            <a:ext cx="457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2" name="Text 70"/>
          <p:cNvSpPr/>
          <p:nvPr/>
        </p:nvSpPr>
        <p:spPr>
          <a:xfrm>
            <a:off x="6199632" y="3895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Anti-cheat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199632" y="408736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validation, hash checksum save file, server authority.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20040" y="4270248"/>
            <a:ext cx="2788920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0040" y="4270248"/>
            <a:ext cx="4572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6" name="Text 74"/>
          <p:cNvSpPr/>
          <p:nvPr/>
        </p:nvSpPr>
        <p:spPr>
          <a:xfrm>
            <a:off x="438912" y="4306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Events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38912" y="449884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analysis, monetization metrics, LTV calculation.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00400" y="4270248"/>
            <a:ext cx="2788920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0" y="4270248"/>
            <a:ext cx="45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0" name="Text 78"/>
          <p:cNvSpPr/>
          <p:nvPr/>
        </p:nvSpPr>
        <p:spPr>
          <a:xfrm>
            <a:off x="3319272" y="4306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LiveOps Events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319272" y="449884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Rotujące eventy, sezonowe treści, time-limited offers.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080760" y="4270248"/>
            <a:ext cx="2788920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080760" y="4270248"/>
            <a:ext cx="457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4" name="Text 82"/>
          <p:cNvSpPr/>
          <p:nvPr/>
        </p:nvSpPr>
        <p:spPr>
          <a:xfrm>
            <a:off x="6199632" y="4306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 Delivery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199632" y="449884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patching, hot content delivery, A/B testing.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Monetyzacja Gier Mobilnych — Modele Biznesowe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modelu monetyzacji to jedna z najważniejszych decyzji projektowych — wpływa na design, retention i etykę gry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15568"/>
            <a:ext cx="42519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179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(Paid App)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2070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$0.99–$9.99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1545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Brak reklam, uczciwe, prosty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17830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Mała baza graczy (płatna bariera)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20482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$2–5 jednorazowo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2286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Minecraft, Monument Valley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27448" y="111556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7448" y="1115568"/>
            <a:ext cx="42519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37176" y="1179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Free-to-Play + IAP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53528" y="12070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Darmowa + mikrotransakcje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37176" y="1545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Ogromna baza użytkowników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37176" y="17830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Ryzyko pay-to-win, koszty UA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37176" y="20482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$0.01–3 avg, wieloryby 20%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7176" y="2286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Clash of Clans, Pokémon GO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85292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52928"/>
            <a:ext cx="42519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2916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Subscrypcja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29443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$2.99–9.99/mies.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" y="3282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Przewidywalny przychód, stabilność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3520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Wysokie oczekiwania aktualizacji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" y="37856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$36–120 LTV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" y="4023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Apple Arcade, Royal Match+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27448" y="285292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27448" y="2852928"/>
            <a:ext cx="425196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4837176" y="2916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Reklamy (Ad-based)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53528" y="29443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Darmowa + CPM/CPC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37176" y="3282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bariery wejścia, masowy reach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37176" y="3520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Złe UX, niskie CPM w Polsce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37176" y="37856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$0.5–2 ARPDAU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37176" y="4023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Candy Crush (hybryd), Wordle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Hybrydowy model (F2P + Premium Battle Pass + Cosmetics) = dominujący trend 2022–2025. Kluczowe: brak pay-to-win dla retencji społeczności.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Purchases — Implementacja i Projektowanie Sklepu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 muszą być zaprojektowane z myślą o wartości dla gracza — nie tylko maksymalizacji przychodu, ale i pozytywnym doświadczeniu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IAP: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7955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Consumable (Zużywalne)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Waluta gry, boosters, życia — mogą być kupowane wielokrotnie. Baza systemu ekonomii gry.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1605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86000"/>
            <a:ext cx="6400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5915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Non-Consumable (Trwałe)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Odblokowanie poziomów, usunięcie reklam, dodatkowe postacie — jednorazowy zakup per konto.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41605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54680"/>
            <a:ext cx="64008" cy="7955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27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(Subskrypcja)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38728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membership, battle pass, premium currency tygodniowo — automatyczne odnowienie, wymaga specjalnej obsługi anulowania.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1330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Implementacja IAP (Unity IAP):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416052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480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4690872"/>
            <a:ext cx="395935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Unity IAP: IStoreListener.ProcessPurchase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 receipt server-side! (nie client-side)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Walidacja receiptu — kluczowe!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2148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Java/Kotlin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1673352"/>
            <a:ext cx="4005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NIE ufaj klientowi — waliduj server-side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Klient: kup → receipt (base64)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Klient → własny serwer: POST /validate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Serwer → Apple/Google API: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POST https://buy.itunes.apple.com/verifyReceipt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Serwer waliduje i dopiero WTEDY przyznaje item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Google Play Billing (Android IAP)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BillingClient billing = BillingClient.newBuilder(ctx)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.setListener((result, purchases) -&gt;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(result.getResponseCode() == OK &amp;&amp; purchases != null)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(var p : purchases)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verifyWithServer(p.getPurchaseToken());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.enablePendingPurchases()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Zawsze consumuj DOPIERO po potwierdzeniu z serwera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3657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Zasady projektowania sklepu: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3959352"/>
            <a:ext cx="4206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959352"/>
            <a:ext cx="6400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40325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Anchoring cen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343400"/>
            <a:ext cx="4005072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Wyeksponuj droższą opcję → tańsze wydają się atrakcyjne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215384"/>
            <a:ext cx="4206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4215384"/>
            <a:ext cx="64008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2885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Limited-time offers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599432"/>
            <a:ext cx="4005072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 — odliczanie czasu zwiększa konwersję o 30–60%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471416"/>
            <a:ext cx="4206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4471416"/>
            <a:ext cx="64008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5445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value framing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855464"/>
            <a:ext cx="4005072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"Wartość $19.99 za $4.99" — perceived value jest kluczowa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727448"/>
            <a:ext cx="4206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727448"/>
            <a:ext cx="64008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8006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purchase discount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5111496"/>
            <a:ext cx="4005072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zniżka na pierwszy zakup — onboarding do płatności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Dystrybucja, App Stores i Live Operations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Sukces gry mobilnej to nie tylko launch — LiveOps i ciągłe aktualizacje decydują o długoterminowej retencji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Wymagania App Store / Google Play: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Manifest (iOS 17+)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wymaga deklaracji używanych API (tracking domains, NSPrivacyAccessedAPITypes). Brak manifest → odrzucenie aplikacji.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2199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21992"/>
            <a:ext cx="64008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95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Safety (Android 2022+)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Play: deklaracja zbieranych danych, cel, udostępnianie third-party. RODO compliance obowiązkowe w EU.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26664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26664"/>
            <a:ext cx="6400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9981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IDFA Consent (ATT Framework)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1071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14.5+: App Tracking Transparency — pytanie o zgodę przed śledzeniem. Opt-in rate ~25–40%. Wpływ na mobile advertising.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31336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0448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Rating (PEGI/ESRB)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1538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przy submission. Wynik wpływa na widoczność w sklepie i dostępność dla młodszych użytkowników.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Operations — utrzymanie zaangażowania: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417320"/>
            <a:ext cx="64008" cy="58521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490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Sezonowe eventy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801368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Halloween, Boże Narodzenie, rocznice — limitowane skórki, questy, waluta sezonowa. +40% DAU w evencie.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075688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075688"/>
            <a:ext cx="64008" cy="5852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148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Battle Pass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2459736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Sezonowe drzewko nagród płatne + bezpłatne — Fortnite model. Zwiększa sessja length i LTV.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734056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734056"/>
            <a:ext cx="64008" cy="5852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80720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Turnieje i Rankingi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118104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leaderboards, endgame PvP. Poczucie progressu dla hardcorowych graczy, prestige.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392424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392424"/>
            <a:ext cx="64008" cy="5852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4655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Notifications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3776472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/ APNs — przypomnienia o energii, eventy, powrót gracza. Personalizacja zwiększa CTR.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050792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050792"/>
            <a:ext cx="64008" cy="5852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1239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Config / A/B Testing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4434840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Remote Config — zmiana parametrów bez update. A/B test cen IAP, trudności, UI layoutu.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D1/D7/D30 Retention: Day-1 &gt;40%, Day-7 &gt;20%, Day-30 &gt;10% — benchmark top quartile mobile games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1 — Indie Puzzle Game: od prototypu do 1M pobrań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procesu tworzenia niezależnej gry puzzle na iOS/Android — 1 developer, 8 miesięcy, budget $0 → 1M+ pobrań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011680" cy="10515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115568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344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mln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1764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Pobrania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 3 miesiące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115568"/>
            <a:ext cx="2011680" cy="10515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115568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2344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1764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115568"/>
            <a:ext cx="2011680" cy="10515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1115568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2344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D30: 12%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1764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Day-30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115568"/>
            <a:ext cx="2011680" cy="105156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1115568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2344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$4,200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1764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miesiąc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23317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Stos technologiczny: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263347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6517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2022 LTS + URP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26517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Stabilna wersja LTS dla komercyjnych projektów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295351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971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+ Zenject (DI)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29718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od dnia 1 — czysta architektura, testowalna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27355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2918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DOTween Pro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3291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animacje UI i efekty — zero Animatora dla UI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59359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118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Addressables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36118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Rozdzielenie contentu od kodu — szybkie patche bez pełnego update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91363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9319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Analytics + Crashlytics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51760" y="39319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i raporty crashy — identyfikacja problemów na device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23367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51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IAP + Admob (hybryd)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51760" y="42519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Rewarded ads + optional IAP — nie-inwazyjny model monetyzacji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63440" y="2331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wnioski: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663440" y="2633472"/>
            <a:ext cx="42062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633472"/>
            <a:ext cx="64008" cy="3749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270662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launch w Kanadzie/Australii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00600" y="3017520"/>
            <a:ext cx="4005072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metrics (CPI, Retention) przed globalnym launche'm. Iteracja bez utraty App Store rating.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3063240"/>
            <a:ext cx="42062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3063240"/>
            <a:ext cx="64008" cy="3749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4800600" y="31363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 (App Store Optimization)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00600" y="3447288"/>
            <a:ext cx="4005072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Ikona i screenshots to 60% konwersji. Iteruj ikonę A/B testem. Keyword research przed launch.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3493008"/>
            <a:ext cx="42062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3493008"/>
            <a:ext cx="64008" cy="3749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35661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loop w 3 zdania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800600" y="3877056"/>
            <a:ext cx="4005072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nie możesz opisać core loop w 3 zdaniach, mechanika jest zbyt złożona dla casual mobile.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63440" y="3922776"/>
            <a:ext cx="42062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63440" y="3922776"/>
            <a:ext cx="64008" cy="3749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8" name="Text 56"/>
          <p:cNvSpPr/>
          <p:nvPr/>
        </p:nvSpPr>
        <p:spPr>
          <a:xfrm>
            <a:off x="4800600" y="39959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bez tekstu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800600" y="4306824"/>
            <a:ext cx="4005072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 60 sekund bez ekranów z tekstem. Nauka przez doing — UI overlay na żywym gameplayu.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4352544"/>
            <a:ext cx="42062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663440" y="4352544"/>
            <a:ext cx="64008" cy="3749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2" name="Text 60"/>
          <p:cNvSpPr/>
          <p:nvPr/>
        </p:nvSpPr>
        <p:spPr>
          <a:xfrm>
            <a:off x="4800600" y="44256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budgety od dnia 1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800600" y="4736592"/>
            <a:ext cx="4005072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8 jako minimum target. Codzienne profiling buildy na low-end device zapobiegły performance debt.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Trendy i Podsumowanie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3657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961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Generatywna AI w grach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dla dynamicznych dialogów NPC, AI Game Masters, infinite quest generation — Inworld AI, Convai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04672"/>
            <a:ext cx="27432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8961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Vision Pro / MR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10128" y="11887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Reality gaming — overlay gier na rzeczywistości, nowe paradygmaty interakcji przestrzennej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804672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804672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488" y="8961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Gaming Mobile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90488" y="11887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GeForce Now, Xbox Cloud Gaming — gry AAA na słabym sprzęcie, 5G jako enabler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828800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82880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19202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Development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9768" y="221284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Unity Muse, Bolt.new — AI przyspiesza prototypowanie 3–10×, obniża barierę wejścia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19202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/ NFT Games (Web3)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0128" y="221284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Play-to-Earn — kontrowersyjny trend. Regulacje i krach 2022 spowolniły. Concept własności cyfrowej pozostaje interesujący.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828800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828800"/>
            <a:ext cx="2743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190488" y="19202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 Play &amp; Progression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90488" y="221284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↔ Mobile ↔ Console. Jeden account, jeden progress. Wymagane na rynku premium 2025+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52928"/>
            <a:ext cx="8503920" cy="3657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944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wnioski wykładu: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0040" y="331012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" y="329184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silnika (Unity/Unreal/Godot) determinuje architekturę, narzędzia i czas produkcji — decyzja nieodwracalna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58444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356616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mobile to nie etap końcowy, lecz ciągła praktyka od dnia 1 — performance budgety na low-end device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85876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" y="384048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Feel &gt; Feature Count — gra z dobrą mechaniką core loop i polskim feel pokona grę z setkami ficzerów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413308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411480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development: metryki (D1/D30 retention, ARPU, session length) zastępują intuicję na etapie skalowania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0" y="4480560"/>
            <a:ext cx="2743200" cy="43891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4526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Pytania i Dyskusja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70710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  |  © Katedra Informatyki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Programowanie Gier Mobilnych</dc:title>
  <dc:subject>PptxGenJS Presentation</dc:subject>
  <dc:creator>Katedra Informatyki</dc:creator>
  <cp:lastModifiedBy>Katedra Informatyki</cp:lastModifiedBy>
  <cp:revision>1</cp:revision>
  <dcterms:created xsi:type="dcterms:W3CDTF">2026-02-21T21:31:35Z</dcterms:created>
  <dcterms:modified xsi:type="dcterms:W3CDTF">2026-02-21T21:31:35Z</dcterms:modified>
</cp:coreProperties>
</file>