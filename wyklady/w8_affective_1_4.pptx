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6" r:id="rId31"/>
    <p:sldId id="285" r:id="rId32"/>
  </p:sldIdLst>
  <p:sldSz cx="9144000" cy="5143500"/>
  <p:notesSz cx="5143500" cy="9144000"/>
  <p:defaultTex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C85C1"/>
    <a:srgbClr val="7254A4"/>
    <a:srgbClr val="AF218A"/>
    <a:srgbClr val="F1A069"/>
    <a:srgbClr val="152543"/>
    <a:srgbClr val="111931"/>
    <a:srgbClr val="2053C6"/>
    <a:srgbClr val="3976EF"/>
    <a:srgbClr val="135BEB"/>
    <a:srgbClr val="D1E3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681" autoAdjust="0"/>
  </p:normalViewPr>
  <p:slideViewPr>
    <p:cSldViewPr snapToGrid="0">
      <p:cViewPr>
        <p:scale>
          <a:sx n="125" d="100"/>
          <a:sy n="125" d="100"/>
        </p:scale>
        <p:origin x="119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ymbol zastępczy nagłówka 1"/>
          <p:cNvSpPr txBox="1">
            <a:spLocks noGrp="1"/>
          </p:cNvSpPr>
          <p:nvPr>
            <p:ph type="hdr" sz="quarter"/>
          </p:nvPr>
        </p:nvSpPr>
        <p:spPr>
          <a:xfrm>
            <a:off x="0" y="0"/>
            <a:ext cx="222885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endParaRPr lang="pl-PL"/>
          </a:p>
        </p:txBody>
      </p:sp>
      <p:sp>
        <p:nvSpPr>
          <p:cNvPr id="3" name="Symbol zastępczy daty 2"/>
          <p:cNvSpPr txBox="1">
            <a:spLocks noGrp="1"/>
          </p:cNvSpPr>
          <p:nvPr>
            <p:ph type="dt" idx="1"/>
          </p:nvPr>
        </p:nvSpPr>
        <p:spPr>
          <a:xfrm>
            <a:off x="2913058" y="0"/>
            <a:ext cx="222885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fld id="{42463370-E16A-4C2C-8DDB-07EEBECED7F2}" type="datetime1">
              <a:rPr lang="pl-PL"/>
              <a:pPr lvl="0"/>
              <a:t>13.03.2026</a:t>
            </a:fld>
            <a:endParaRPr lang="pl-PL"/>
          </a:p>
        </p:txBody>
      </p:sp>
      <p:sp>
        <p:nvSpPr>
          <p:cNvPr id="4" name="Symbol zastępczy obrazu slajdu 3"/>
          <p:cNvSpPr>
            <a:spLocks noGrp="1" noRot="1" noChangeAspect="1"/>
          </p:cNvSpPr>
          <p:nvPr>
            <p:ph type="sldImg" idx="2"/>
          </p:nvPr>
        </p:nvSpPr>
        <p:spPr>
          <a:xfrm>
            <a:off x="-171450" y="1143000"/>
            <a:ext cx="5486400" cy="3086099"/>
          </a:xfrm>
          <a:prstGeom prst="rect">
            <a:avLst/>
          </a:prstGeom>
          <a:noFill/>
          <a:ln w="12701">
            <a:solidFill>
              <a:srgbClr val="000000"/>
            </a:solidFill>
            <a:prstDash val="solid"/>
          </a:ln>
        </p:spPr>
      </p:sp>
      <p:sp>
        <p:nvSpPr>
          <p:cNvPr id="5" name="Symbol zastępczy notatek 4"/>
          <p:cNvSpPr txBox="1">
            <a:spLocks noGrp="1"/>
          </p:cNvSpPr>
          <p:nvPr>
            <p:ph type="body" sz="quarter" idx="3"/>
          </p:nvPr>
        </p:nvSpPr>
        <p:spPr>
          <a:xfrm>
            <a:off x="514350" y="4400549"/>
            <a:ext cx="4114800" cy="3600450"/>
          </a:xfrm>
          <a:prstGeom prst="rect">
            <a:avLst/>
          </a:prstGeom>
          <a:noFill/>
          <a:ln>
            <a:noFill/>
          </a:ln>
        </p:spPr>
        <p:txBody>
          <a:bodyPr vert="horz" wrap="square" lIns="91440" tIns="45720" rIns="91440" bIns="45720" anchor="t" anchorCtr="0" compatLnSpc="1">
            <a:no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6" name="Symbol zastępczy stopki 5"/>
          <p:cNvSpPr txBox="1">
            <a:spLocks noGrp="1"/>
          </p:cNvSpPr>
          <p:nvPr>
            <p:ph type="ftr" sz="quarter" idx="4"/>
          </p:nvPr>
        </p:nvSpPr>
        <p:spPr>
          <a:xfrm>
            <a:off x="0" y="8685208"/>
            <a:ext cx="222885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endParaRPr lang="pl-PL"/>
          </a:p>
        </p:txBody>
      </p:sp>
      <p:sp>
        <p:nvSpPr>
          <p:cNvPr id="7" name="Symbol zastępczy numeru slajdu 6"/>
          <p:cNvSpPr txBox="1">
            <a:spLocks noGrp="1"/>
          </p:cNvSpPr>
          <p:nvPr>
            <p:ph type="sldNum" sz="quarter" idx="5"/>
          </p:nvPr>
        </p:nvSpPr>
        <p:spPr>
          <a:xfrm>
            <a:off x="2913058" y="8685208"/>
            <a:ext cx="222885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fld id="{62916F01-1356-435F-8052-82564658BFBD}" type="slidenum">
              <a:t>‹#›</a:t>
            </a:fld>
            <a:endParaRPr lang="pl-PL"/>
          </a:p>
        </p:txBody>
      </p:sp>
      <p:sp>
        <p:nvSpPr>
          <p:cNvPr id="8" name="Symbol zastępczy nagłówka 1"/>
          <p:cNvSpPr txBox="1">
            <a:spLocks noGrp="1"/>
          </p:cNvSpPr>
          <p:nvPr>
            <p:ph type="hdr" sz="quarter" idx="10"/>
          </p:nvPr>
        </p:nvSpPr>
        <p:spPr>
          <a:xfrm>
            <a:off x="0" y="0"/>
            <a:ext cx="2228850" cy="458791"/>
          </a:xfrm>
          <a:prstGeom prst="rect">
            <a:avLst/>
          </a:prstGeom>
          <a:noFill/>
          <a:ln>
            <a:noFill/>
          </a:ln>
        </p:spPr>
        <p:txBody>
          <a:bodyPr vert="horz" wrap="square" lIns="91440" tIns="45720" rIns="91440" bIns="45720" anchor="t" anchorCtr="0" compatLnSpc="1">
            <a:noAutofit/>
          </a:bodyPr>
          <a:lstStyle>
            <a:lvl1pPr marL="0" marR="0" lvl="0"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endParaRPr lang="pl-PL"/>
          </a:p>
        </p:txBody>
      </p:sp>
      <p:sp>
        <p:nvSpPr>
          <p:cNvPr id="9" name="Symbol zastępczy daty 2"/>
          <p:cNvSpPr txBox="1">
            <a:spLocks noGrp="1"/>
          </p:cNvSpPr>
          <p:nvPr>
            <p:ph type="dt" sz="quarter" idx="7"/>
          </p:nvPr>
        </p:nvSpPr>
        <p:spPr>
          <a:xfrm>
            <a:off x="2913058" y="0"/>
            <a:ext cx="2228850" cy="458791"/>
          </a:xfrm>
          <a:prstGeom prst="rect">
            <a:avLst/>
          </a:prstGeom>
          <a:noFill/>
          <a:ln>
            <a:noFill/>
          </a:ln>
        </p:spPr>
        <p:txBody>
          <a:bodyPr vert="horz" wrap="square" lIns="91440" tIns="45720" rIns="91440" bIns="45720" anchor="t" anchorCtr="0" compatLnSpc="1">
            <a:noAutofit/>
          </a:bodyPr>
          <a:lstStyle>
            <a:lvl1pPr marL="0" marR="0" lvl="0" indent="0" algn="r"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fld id="{53421588-DC1D-4709-8DFE-8352FA18F76E}" type="datetime1">
              <a:rPr lang="pl-PL"/>
              <a:pPr lvl="0"/>
              <a:t>13.03.2026</a:t>
            </a:fld>
            <a:endParaRPr lang="pl-PL"/>
          </a:p>
        </p:txBody>
      </p:sp>
      <p:sp>
        <p:nvSpPr>
          <p:cNvPr id="10" name="Symbol zastępczy obrazu slajdu 3"/>
          <p:cNvSpPr>
            <a:spLocks noGrp="1" noRot="1" noChangeAspect="1"/>
          </p:cNvSpPr>
          <p:nvPr>
            <p:ph type="sldImg" sz="quarter" idx="4294967295"/>
          </p:nvPr>
        </p:nvSpPr>
        <p:spPr>
          <a:xfrm>
            <a:off x="-171450" y="1143000"/>
            <a:ext cx="5486400" cy="3086099"/>
          </a:xfrm>
          <a:prstGeom prst="rect">
            <a:avLst/>
          </a:prstGeom>
          <a:noFill/>
          <a:ln w="12701">
            <a:solidFill>
              <a:srgbClr val="000000"/>
            </a:solidFill>
            <a:prstDash val="solid"/>
          </a:ln>
        </p:spPr>
      </p:sp>
      <p:sp>
        <p:nvSpPr>
          <p:cNvPr id="11" name="Symbol zastępczy notatek 4"/>
          <p:cNvSpPr txBox="1">
            <a:spLocks noGrp="1"/>
          </p:cNvSpPr>
          <p:nvPr>
            <p:ph type="body" sz="quarter" idx="4294967295"/>
          </p:nvPr>
        </p:nvSpPr>
        <p:spPr>
          <a:xfrm>
            <a:off x="514350" y="4400549"/>
            <a:ext cx="4114800" cy="3600450"/>
          </a:xfrm>
          <a:prstGeom prst="rect">
            <a:avLst/>
          </a:prstGeom>
          <a:noFill/>
          <a:ln>
            <a:noFill/>
          </a:ln>
        </p:spPr>
        <p:txBody>
          <a:bodyPr vert="horz" wrap="square" lIns="91440" tIns="45720" rIns="91440" bIns="45720" anchor="t" anchorCtr="0" compatLnSpc="1">
            <a:noAutofit/>
          </a:bodyPr>
          <a:lstStyle/>
          <a:p>
            <a:pPr lvl="0"/>
            <a:r>
              <a:rPr lang="pl-PL"/>
              <a:t>Kliknij, aby edytować style wzorca tekstu</a:t>
            </a:r>
          </a:p>
          <a:p>
            <a:pPr lvl="1"/>
            <a:r>
              <a:rPr lang="pl-PL"/>
              <a:t>Drugi poziom</a:t>
            </a:r>
          </a:p>
          <a:p>
            <a:pPr lvl="2"/>
            <a:r>
              <a:rPr lang="pl-PL"/>
              <a:t>Trzeci poziom</a:t>
            </a:r>
          </a:p>
          <a:p>
            <a:pPr lvl="3"/>
            <a:r>
              <a:rPr lang="pl-PL"/>
              <a:t>Czwarty poziom</a:t>
            </a:r>
          </a:p>
          <a:p>
            <a:pPr lvl="4"/>
            <a:r>
              <a:rPr lang="pl-PL"/>
              <a:t>Piąty poziom</a:t>
            </a:r>
          </a:p>
        </p:txBody>
      </p:sp>
      <p:sp>
        <p:nvSpPr>
          <p:cNvPr id="12" name="Symbol zastępczy stopki 5"/>
          <p:cNvSpPr txBox="1">
            <a:spLocks noGrp="1"/>
          </p:cNvSpPr>
          <p:nvPr>
            <p:ph type="ftr" sz="quarter" idx="9"/>
          </p:nvPr>
        </p:nvSpPr>
        <p:spPr>
          <a:xfrm>
            <a:off x="0" y="8685208"/>
            <a:ext cx="2228850" cy="458791"/>
          </a:xfrm>
          <a:prstGeom prst="rect">
            <a:avLst/>
          </a:prstGeom>
          <a:noFill/>
          <a:ln>
            <a:noFill/>
          </a:ln>
        </p:spPr>
        <p:txBody>
          <a:bodyPr vert="horz" wrap="square" lIns="91440" tIns="45720" rIns="91440" bIns="45720" anchor="b" anchorCtr="0" compatLnSpc="1">
            <a:noAutofit/>
          </a:bodyPr>
          <a:lstStyle>
            <a:lvl1pPr marL="0" marR="0" lvl="0"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endParaRPr lang="pl-PL"/>
          </a:p>
        </p:txBody>
      </p:sp>
      <p:sp>
        <p:nvSpPr>
          <p:cNvPr id="13" name="Symbol zastępczy numeru slajdu 6"/>
          <p:cNvSpPr txBox="1">
            <a:spLocks noGrp="1"/>
          </p:cNvSpPr>
          <p:nvPr>
            <p:ph type="sldNum" sz="quarter" idx="8"/>
          </p:nvPr>
        </p:nvSpPr>
        <p:spPr>
          <a:xfrm>
            <a:off x="2913058" y="8685208"/>
            <a:ext cx="2228850" cy="458791"/>
          </a:xfrm>
          <a:prstGeom prst="rect">
            <a:avLst/>
          </a:prstGeom>
          <a:noFill/>
          <a:ln>
            <a:noFill/>
          </a:ln>
        </p:spPr>
        <p:txBody>
          <a:bodyPr vert="horz" wrap="square" lIns="91440" tIns="45720" rIns="91440" bIns="45720" anchor="b" anchorCtr="0" compatLnSpc="1">
            <a:noAutofit/>
          </a:bodyPr>
          <a:lstStyle>
            <a:lvl1pPr marL="0" marR="0" lvl="0" indent="0" algn="r"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stStyle>
          <a:p>
            <a:pPr lvl="0"/>
            <a:fld id="{A2A4DD2E-8C25-4F1B-BDCA-03D9F11AB3A8}" type="slidenum">
              <a:t>‹#›</a:t>
            </a:fld>
            <a:endParaRPr lang="pl-PL"/>
          </a:p>
        </p:txBody>
      </p:sp>
    </p:spTree>
    <p:extLst>
      <p:ext uri="{BB962C8B-B14F-4D97-AF65-F5344CB8AC3E}">
        <p14:creationId xmlns:p14="http://schemas.microsoft.com/office/powerpoint/2010/main" val="1843734820"/>
      </p:ext>
    </p:extLst>
  </p:cSld>
  <p:clrMap bg1="lt1" tx1="dk1" bg2="lt2" tx2="dk2" accent1="accent1" accent2="accent2" accent3="accent3" accent4="accent4" accent5="accent5" accent6="accent6" hlink="hlink" folHlink="folHlink"/>
  <p:notesStyle>
    <a:lvl1pPr marL="0" marR="0" lvl="0"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1pPr>
    <a:lvl2pPr marL="457200" marR="0" lvl="1"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2pPr>
    <a:lvl3pPr marL="914400" marR="0" lvl="2"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3pPr>
    <a:lvl4pPr marL="1371600" marR="0" lvl="3"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4pPr>
    <a:lvl5pPr marL="1828800" marR="0" lvl="4" indent="0" algn="l" defTabSz="914400" rtl="0" fontAlgn="auto" hangingPunct="1">
      <a:lnSpc>
        <a:spcPct val="100000"/>
      </a:lnSpc>
      <a:spcBef>
        <a:spcPts val="0"/>
      </a:spcBef>
      <a:spcAft>
        <a:spcPts val="0"/>
      </a:spcAft>
      <a:buNone/>
      <a:tabLst/>
      <a:defRPr lang="pl-PL" sz="1200" b="0" i="0" u="none" strike="noStrike" kern="1200" cap="none" spc="0" baseline="0">
        <a:solidFill>
          <a:srgbClr val="000000"/>
        </a:solidFill>
        <a:uFillTx/>
        <a:latin typeface="Calibri"/>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Na tym wykładzie zajmujemy się informatyką afektywną w kontekście aplikacji mobilnych, czyli obszarem na styku informatyki, uczenia maszynowego, psychologii emocji oraz projektowania interakcji człowiek–komputer. Interesuje nas nie tylko to, jak system rozpoznaje emocje użytkownika, ale również jak może je modelować, przewidywać, a czasem także wpływać na sposób interakcji. W środowisku mobilnym problem ten jest szczególnie interesujący, ponieważ smartfon jest urządzeniem stale obecnym przy użytkowniku i dysponuje wieloma kanałami pomiarowymi: kamerą, mikrofonem, czujnikami ruchu, </a:t>
            </a:r>
            <a:r>
              <a:rPr lang="pl-PL" dirty="0" err="1" smtClean="0"/>
              <a:t>geolokalizacją</a:t>
            </a:r>
            <a:r>
              <a:rPr lang="pl-PL" dirty="0" smtClean="0"/>
              <a:t>, a pośrednio także danymi z </a:t>
            </a:r>
            <a:r>
              <a:rPr lang="pl-PL" dirty="0" err="1" smtClean="0"/>
              <a:t>wearables</a:t>
            </a:r>
            <a:r>
              <a:rPr lang="pl-PL" dirty="0" smtClean="0"/>
              <a:t>. W praktyce oznacza to możliwość budowy systemów reagujących na stres, zmęczenie, frustrację, zaangażowanie czy obniżony nastrój. Warto jednak od razu zaznaczyć, że emocje nie są prostym sygnałem fizycznym, lecz konstruktem psychologicznym, wielowymiarowym i obarczonym niepewnością interpretacyjną.</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97F6CDB-9E72-484E-9EDC-33995CC01374}" type="slidenum">
              <a:t>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Plan wykładu pokazuje, że będziemy przechodzić od fundamentów teoretycznych do zagadnień implementacyjnych i regulacyjnych. Najpierw zdefiniujemy informatykę afektywną i omówimy najważniejsze modele emocji, takie jak </a:t>
            </a:r>
            <a:r>
              <a:rPr lang="pl-PL" dirty="0" err="1" smtClean="0"/>
              <a:t>Ekman</a:t>
            </a:r>
            <a:r>
              <a:rPr lang="pl-PL" dirty="0" smtClean="0"/>
              <a:t>, VAD czy koło emocji </a:t>
            </a:r>
            <a:r>
              <a:rPr lang="pl-PL" dirty="0" err="1" smtClean="0"/>
              <a:t>Plutchika</a:t>
            </a:r>
            <a:r>
              <a:rPr lang="pl-PL" dirty="0" smtClean="0"/>
              <a:t>. Następnie przejdziemy do kanałów afektywnych: mimiki, mowy, tekstu, fizjologii, ruchu i kontekstu behawioralnego. Kolejny blok dotyczy fuzji multimodalnej i wdrażania modeli on-</a:t>
            </a:r>
            <a:r>
              <a:rPr lang="pl-PL" dirty="0" err="1" smtClean="0"/>
              <a:t>device</a:t>
            </a:r>
            <a:r>
              <a:rPr lang="pl-PL" dirty="0" smtClean="0"/>
              <a:t>, czyli bezpośrednio na urządzeniu użytkownika. Ostatnie części poświęcone są </a:t>
            </a:r>
            <a:r>
              <a:rPr lang="pl-PL" dirty="0" err="1" smtClean="0"/>
              <a:t>affective</a:t>
            </a:r>
            <a:r>
              <a:rPr lang="pl-PL" dirty="0" smtClean="0"/>
              <a:t> UX, zastosowaniom w zdrowiu psychicznym, edukacji i </a:t>
            </a:r>
            <a:r>
              <a:rPr lang="pl-PL" dirty="0" err="1" smtClean="0"/>
              <a:t>automotive</a:t>
            </a:r>
            <a:r>
              <a:rPr lang="pl-PL" dirty="0" smtClean="0"/>
              <a:t>, a także etyce, prywatności, RODO i AI </a:t>
            </a:r>
            <a:r>
              <a:rPr lang="pl-PL" dirty="0" err="1" smtClean="0"/>
              <a:t>Act</a:t>
            </a:r>
            <a:r>
              <a:rPr lang="pl-PL" dirty="0" smtClean="0"/>
              <a:t>. To ważny układ, ponieważ w tej dziedzinie sama dokładność modelu nie wystarcza; równie istotne są architektura systemu, bezpieczeństwo i odpowiedzialność projektowa.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2A92BE6-C7F3-4022-8BA3-4A541AE7BBE5}" type="slidenum">
              <a:t>2</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Klasyczna definicja </a:t>
            </a:r>
            <a:r>
              <a:rPr lang="pl-PL" dirty="0" err="1" smtClean="0"/>
              <a:t>Rosalind</a:t>
            </a:r>
            <a:r>
              <a:rPr lang="pl-PL" dirty="0" smtClean="0"/>
              <a:t> Picard mówi, że </a:t>
            </a:r>
            <a:r>
              <a:rPr lang="pl-PL" dirty="0" err="1" smtClean="0"/>
              <a:t>affective</a:t>
            </a:r>
            <a:r>
              <a:rPr lang="pl-PL" dirty="0" smtClean="0"/>
              <a:t> </a:t>
            </a:r>
            <a:r>
              <a:rPr lang="pl-PL" dirty="0" err="1" smtClean="0"/>
              <a:t>computing</a:t>
            </a:r>
            <a:r>
              <a:rPr lang="pl-PL" dirty="0" smtClean="0"/>
              <a:t> to </a:t>
            </a:r>
            <a:r>
              <a:rPr lang="pl-PL" dirty="0" err="1" smtClean="0"/>
              <a:t>computing</a:t>
            </a:r>
            <a:r>
              <a:rPr lang="pl-PL" dirty="0" smtClean="0"/>
              <a:t> </a:t>
            </a:r>
            <a:r>
              <a:rPr lang="pl-PL" dirty="0" err="1" smtClean="0"/>
              <a:t>that</a:t>
            </a:r>
            <a:r>
              <a:rPr lang="pl-PL" dirty="0" smtClean="0"/>
              <a:t> </a:t>
            </a:r>
            <a:r>
              <a:rPr lang="pl-PL" dirty="0" err="1" smtClean="0"/>
              <a:t>relates</a:t>
            </a:r>
            <a:r>
              <a:rPr lang="pl-PL" dirty="0" smtClean="0"/>
              <a:t> to, </a:t>
            </a:r>
            <a:r>
              <a:rPr lang="pl-PL" dirty="0" err="1" smtClean="0"/>
              <a:t>arises</a:t>
            </a:r>
            <a:r>
              <a:rPr lang="pl-PL" dirty="0" smtClean="0"/>
              <a:t> from, </a:t>
            </a:r>
            <a:r>
              <a:rPr lang="pl-PL" dirty="0" err="1" smtClean="0"/>
              <a:t>or</a:t>
            </a:r>
            <a:r>
              <a:rPr lang="pl-PL" dirty="0" smtClean="0"/>
              <a:t> </a:t>
            </a:r>
            <a:r>
              <a:rPr lang="pl-PL" dirty="0" err="1" smtClean="0"/>
              <a:t>deliberately</a:t>
            </a:r>
            <a:r>
              <a:rPr lang="pl-PL" dirty="0" smtClean="0"/>
              <a:t> </a:t>
            </a:r>
            <a:r>
              <a:rPr lang="pl-PL" dirty="0" err="1" smtClean="0"/>
              <a:t>influences</a:t>
            </a:r>
            <a:r>
              <a:rPr lang="pl-PL" dirty="0" smtClean="0"/>
              <a:t> </a:t>
            </a:r>
            <a:r>
              <a:rPr lang="pl-PL" dirty="0" err="1" smtClean="0"/>
              <a:t>emotions</a:t>
            </a:r>
            <a:r>
              <a:rPr lang="pl-PL" dirty="0" smtClean="0"/>
              <a:t>. Ta definicja jest bardzo szeroka i celowo obejmuje zarówno rozpoznawanie emocji, jak i systemy, które reagują emocjonalnie lub celowo modulują doświadczenie użytkownika. W kontekście mobile ma to szczególne znaczenie, ponieważ smartfon jest w praktyce urządzeniem 24/7, stale towarzyszącym użytkownikowi, dzięki czemu może gromadzić dane w sposób ciągły i kontekstowy. Jednocześnie od razu pojawia się fundamentalny problem: emocje są subiektywne, a ten sam bodziec może wywołać zupełnie różne reakcje u różnych osób. Dlatego w danych treningowych obserwujemy często niski poziom zgodności </a:t>
            </a:r>
            <a:r>
              <a:rPr lang="pl-PL" dirty="0" err="1" smtClean="0"/>
              <a:t>anotatorów</a:t>
            </a:r>
            <a:r>
              <a:rPr lang="pl-PL" dirty="0" smtClean="0"/>
              <a:t>, a tak zwany </a:t>
            </a:r>
            <a:r>
              <a:rPr lang="pl-PL" dirty="0" err="1" smtClean="0"/>
              <a:t>ground</a:t>
            </a:r>
            <a:r>
              <a:rPr lang="pl-PL" dirty="0" smtClean="0"/>
              <a:t> </a:t>
            </a:r>
            <a:r>
              <a:rPr lang="pl-PL" dirty="0" err="1" smtClean="0"/>
              <a:t>truth</a:t>
            </a:r>
            <a:r>
              <a:rPr lang="pl-PL" dirty="0" smtClean="0"/>
              <a:t> bywa bardziej negocjacją interpretacji niż twardym pomiarem. Ciekawostką historyczną jest to, że droga od książki Picard z 1997 roku do współczesnych modeli multimodalnych prowadziła przez rozwój FACS, asystentów głosowych, detekcji mimiki w chmurze, a następnie przez przejście do modeli działających lokalnie na urządzeniu.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DFCEE44-115C-4006-8909-B9367F98394E}" type="slidenum">
              <a:t>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Ten slajd wprowadza fundamentalny wybór modelowy: czy emocje traktujemy jako klasy dyskretne, czy jako przestrzeń ciągłą. Model </a:t>
            </a:r>
            <a:r>
              <a:rPr lang="pl-PL" dirty="0" err="1" smtClean="0"/>
              <a:t>Ekmana</a:t>
            </a:r>
            <a:r>
              <a:rPr lang="pl-PL" dirty="0" smtClean="0"/>
              <a:t> jest intuicyjny, bo zakłada kilka podstawowych emocji, takich jak radość, smutek, gniew, strach, wstręt i zaskoczenie. Jest on bardzo przydatny w systemach klasyfikacyjnych, szczególnie tam, gdzie potrzebujemy prostych etykiet wyjściowych. Z kolei model VAD, czyli </a:t>
            </a:r>
            <a:r>
              <a:rPr lang="pl-PL" dirty="0" err="1" smtClean="0"/>
              <a:t>valence</a:t>
            </a:r>
            <a:r>
              <a:rPr lang="pl-PL" dirty="0" smtClean="0"/>
              <a:t>–</a:t>
            </a:r>
            <a:r>
              <a:rPr lang="pl-PL" dirty="0" err="1" smtClean="0"/>
              <a:t>arousal</a:t>
            </a:r>
            <a:r>
              <a:rPr lang="pl-PL" dirty="0" smtClean="0"/>
              <a:t>–</a:t>
            </a:r>
            <a:r>
              <a:rPr lang="pl-PL" dirty="0" err="1" smtClean="0"/>
              <a:t>dominance</a:t>
            </a:r>
            <a:r>
              <a:rPr lang="pl-PL" dirty="0" smtClean="0"/>
              <a:t>, pozwala opisać emocję bardziej finezyjnie i lepiej radzi sobie ze stanami pośrednimi, mieszanymi czy niejednoznacznymi. W zastosowaniach mobilnych to ogromna zaleta, bo wiele sygnałów, na przykład EDA czy HRV, lepiej koreluje z pobudzeniem niż z konkretną nazwą emocji. Russell </a:t>
            </a:r>
            <a:r>
              <a:rPr lang="pl-PL" dirty="0" err="1" smtClean="0"/>
              <a:t>Circumplex</a:t>
            </a:r>
            <a:r>
              <a:rPr lang="pl-PL" dirty="0" smtClean="0"/>
              <a:t> dodatkowo pokazuje, że wysoka aktywacja może współwystępować zarówno z pozytywną, jak i negatywną </a:t>
            </a:r>
            <a:r>
              <a:rPr lang="pl-PL" dirty="0" err="1" smtClean="0"/>
              <a:t>walencją</a:t>
            </a:r>
            <a:r>
              <a:rPr lang="pl-PL" dirty="0" smtClean="0"/>
              <a:t>, co jest bardzo istotne w praktyce projektowania systemów reagujących na emocje.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7A720A8-5B0F-4EB6-8FF3-A2BCF3CB8BBD}" type="slidenum">
              <a:t>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Koło emocji </a:t>
            </a:r>
            <a:r>
              <a:rPr lang="pl-PL" dirty="0" err="1" smtClean="0"/>
              <a:t>Plutchika</a:t>
            </a:r>
            <a:r>
              <a:rPr lang="pl-PL" dirty="0" smtClean="0"/>
              <a:t> rozwija podejście klasyfikacyjne, dodając pojęcie intensywności emocji oraz emocji złożonych. To ważne, ponieważ realne stany afektywne bardzo rzadko są czystymi kategoriami. Człowiek może być jednocześnie napięty i zaciekawiony, może odczuwać jednocześnie smutek i wstręt albo radość połączoną z oczekiwaniem. Model </a:t>
            </a:r>
            <a:r>
              <a:rPr lang="pl-PL" dirty="0" err="1" smtClean="0"/>
              <a:t>Plutchika</a:t>
            </a:r>
            <a:r>
              <a:rPr lang="pl-PL" dirty="0" smtClean="0"/>
              <a:t> pomaga myśleć o emocjach jako o strukturze bardziej bogatej i hierarchicznej niż prosty katalog etykiet. W praktyce komercyjnej i tak zwykle dokonuje się pewnego uproszczenia, na przykład do 7 lub 8 klas albo do projekcji na przestrzeń VAD, ale z punktu widzenia badawczego ten model pokazuje, dlaczego pełna automatyzacja rozpoznawania emocji jest tak trudna. Ciekawostką jest to, że wiele systemów przemysłowych w rzeczywistości działa na hybrydzie: semantyce </a:t>
            </a:r>
            <a:r>
              <a:rPr lang="pl-PL" dirty="0" err="1" smtClean="0"/>
              <a:t>Ekmana</a:t>
            </a:r>
            <a:r>
              <a:rPr lang="pl-PL" dirty="0" smtClean="0"/>
              <a:t>, ale z intuicją </a:t>
            </a:r>
            <a:r>
              <a:rPr lang="pl-PL" dirty="0" err="1" smtClean="0"/>
              <a:t>Plutchika</a:t>
            </a:r>
            <a:r>
              <a:rPr lang="pl-PL" dirty="0" smtClean="0"/>
              <a:t> dotyczącą intensywności i kombinacji.</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90F8D8C-5C2A-415D-A945-EA66D22CA359}" type="slidenum">
              <a:t>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Tutaj przechodzimy do najważniejszego zagadnienia praktycznego: z jakich sygnałów można w ogóle próbować odczytywać emocje. Każdy kanał afektywny wnosi inny rodzaj informacji. Mimika twarzy dobrze oddaje ekspresję zewnętrzną, głos wnosi prozodię i rytm, tekst dostarcza semantyki i kontekstu, EDA i PPG opisują pobudzenie fizjologiczne, a IMU może mówić o aktywności, agitacji lub spowolnieniu psychoruchowym. Warto zauważyć, że dokładności podawane dla poszczególnych kanałów są zawsze zależne od </a:t>
            </a:r>
            <a:r>
              <a:rPr lang="pl-PL" dirty="0" err="1" smtClean="0"/>
              <a:t>datasetu</a:t>
            </a:r>
            <a:r>
              <a:rPr lang="pl-PL" dirty="0" smtClean="0"/>
              <a:t>, populacji i warunków pomiaru; nie należy ich traktować jako uniwersalnych stałych. Najważniejszy wniosek z tego slajdu jest taki, że żaden pojedynczy kanał nie daje pełnego obrazu emocji. Im bardziej zależy nam na wiarygodności systemu, tym bardziej rośnie znaczenie fuzji multimodalnej.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13A4E6E-7361-4CED-A5B7-EB359B0B088D}" type="slidenum">
              <a:t>6</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FACS, czyli </a:t>
            </a:r>
            <a:r>
              <a:rPr lang="pl-PL" dirty="0" err="1" smtClean="0"/>
              <a:t>Facial</a:t>
            </a:r>
            <a:r>
              <a:rPr lang="pl-PL" dirty="0" smtClean="0"/>
              <a:t> Action </a:t>
            </a:r>
            <a:r>
              <a:rPr lang="pl-PL" dirty="0" err="1" smtClean="0"/>
              <a:t>Coding</a:t>
            </a:r>
            <a:r>
              <a:rPr lang="pl-PL" dirty="0" smtClean="0"/>
              <a:t> System, jest jednym z najważniejszych historycznych fundamentów rozpoznawania emocji z twarzy. System ten nie opisuje emocji bezpośrednio, lecz koduje aktywacje mięśni twarzy w postaci tak zwanych Action </a:t>
            </a:r>
            <a:r>
              <a:rPr lang="pl-PL" dirty="0" err="1" smtClean="0"/>
              <a:t>Units</a:t>
            </a:r>
            <a:r>
              <a:rPr lang="pl-PL" dirty="0" smtClean="0"/>
              <a:t>. To podejście jest metodologicznie cenne, bo oddziela obserwowalny ruch twarzy od interpretacji psychologicznej. W systemach mobilnych </a:t>
            </a:r>
            <a:r>
              <a:rPr lang="pl-PL" dirty="0" err="1" smtClean="0"/>
              <a:t>pipeline</a:t>
            </a:r>
            <a:r>
              <a:rPr lang="pl-PL" dirty="0" smtClean="0"/>
              <a:t> zwykle obejmuje detekcję twarzy, wyrównanie geometrii, ekstrakcję cech AU, a następnie klasyfikację emocji lub regresję do przestrzeni VAD. Warto studentom podkreślić, że współczesne narzędzia, takie jak ML Kit czy </a:t>
            </a:r>
            <a:r>
              <a:rPr lang="pl-PL" dirty="0" err="1" smtClean="0"/>
              <a:t>ARKit</a:t>
            </a:r>
            <a:r>
              <a:rPr lang="pl-PL" dirty="0" smtClean="0"/>
              <a:t>, nie implementują pełnego FACS w sensie naukowym, ale dostarczają wystarczająco bogate reprezentacje twarzy, aby budować skuteczne systemy aplikacyjne. Ciekawostką jest to, że tzw. uśmiech </a:t>
            </a:r>
            <a:r>
              <a:rPr lang="pl-PL" dirty="0" err="1" smtClean="0"/>
              <a:t>Duchenne’a</a:t>
            </a:r>
            <a:r>
              <a:rPr lang="pl-PL" dirty="0" smtClean="0"/>
              <a:t>, czyli uśmiech z aktywacją AU06 i AU12, był historycznie traktowany jako wskaźnik „autentycznej” radości, choć dziś wiemy, że sprawa jest bardziej złożona.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F40B708-5F7E-4F7C-9C5F-DF7A8B165E06}" type="slidenum">
              <a:t>7</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Na tym slajdzie widzimy przejście od teorii do praktyki implementacyjnej na Androidzie i iOS. Typowa architektura wykorzystuje lekką detekcję twarzy, na przykład przez ML Kit, a następnie własny klasyfikator emocji w </a:t>
            </a:r>
            <a:r>
              <a:rPr lang="pl-PL" dirty="0" err="1" smtClean="0"/>
              <a:t>TFLite</a:t>
            </a:r>
            <a:r>
              <a:rPr lang="pl-PL" dirty="0" smtClean="0"/>
              <a:t>. Na iOS analogiczną funkcję pełni </a:t>
            </a:r>
            <a:r>
              <a:rPr lang="pl-PL" dirty="0" err="1" smtClean="0"/>
              <a:t>ARKit</a:t>
            </a:r>
            <a:r>
              <a:rPr lang="pl-PL" dirty="0" smtClean="0"/>
              <a:t> z </a:t>
            </a:r>
            <a:r>
              <a:rPr lang="pl-PL" dirty="0" err="1" smtClean="0"/>
              <a:t>blendshape’ami</a:t>
            </a:r>
            <a:r>
              <a:rPr lang="pl-PL" dirty="0" smtClean="0"/>
              <a:t> twarzy. Kluczowe jest to, że nowoczesne urządzenia potrafią wykonywać taką analizę w czasie rzeczywistym, bez wysyłania obrazu do chmury. To bardzo ważne z punktu widzenia prywatności, ponieważ surowy obraz twarzy należy do najbardziej wrażliwych typów danych. Warto też zauważyć, że tego rodzaju systemy były wykorzystywane w reklamie, badaniach UX, aplikacjach rozrywkowych i eksperymentalnych interfejsach reagujących na uśmiech, mrugnięcie czy zmarszczenie brwi. Równocześnie jest to obszar, w którym granica między „interakcją” a „nadzorem” może być bardzo cienka.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61C3848-E103-4ED9-B068-D3AAB8A372AB}" type="slidenum">
              <a:t>8</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Rozpoznawanie emocji z mowy, czyli Speech </a:t>
            </a:r>
            <a:r>
              <a:rPr lang="pl-PL" dirty="0" err="1" smtClean="0"/>
              <a:t>Emotion</a:t>
            </a:r>
            <a:r>
              <a:rPr lang="pl-PL" dirty="0" smtClean="0"/>
              <a:t> </a:t>
            </a:r>
            <a:r>
              <a:rPr lang="pl-PL" dirty="0" err="1" smtClean="0"/>
              <a:t>Recognition</a:t>
            </a:r>
            <a:r>
              <a:rPr lang="pl-PL" dirty="0" smtClean="0"/>
              <a:t>, to obszar, w którym emocja jest kodowana nie tyle przez samą treść, ile przez sposób mówienia. Kluczowe cechy akustyczne to MFCC, częstotliwość podstawowa, energia sygnału, a także reprezentacje bardziej złożone, takie jak </a:t>
            </a:r>
            <a:r>
              <a:rPr lang="pl-PL" dirty="0" err="1" smtClean="0"/>
              <a:t>mel</a:t>
            </a:r>
            <a:r>
              <a:rPr lang="pl-PL" dirty="0" smtClean="0"/>
              <a:t>-spektrogram. Z perspektywy modelowania interesujące jest to, że bardzo małe modele mobilne potrafią osiągać użyteczne wyniki, choć oczywiście kosztem pewnej utraty dokładności względem większych </a:t>
            </a:r>
            <a:r>
              <a:rPr lang="pl-PL" dirty="0" err="1" smtClean="0"/>
              <a:t>architektur</a:t>
            </a:r>
            <a:r>
              <a:rPr lang="pl-PL" dirty="0" smtClean="0"/>
              <a:t>. W praktyce produkcyjnej trzeba bardzo uważać na kompromis między jakością rozpoznania, opóźnieniem, rozmiarem modelu i zużyciem energii. Dodatkowo analiza emocji z mowy jest silnie wrażliwa na język, akcent, hałas i jakość mikrofonu, więc łatwo o błędy wynikające nie z emocji, lecz z akustyki otoczenia. Ciekawostką jest, że historycznie MFCC powstały jako cechy inspirowane ludzką percepcją słuchową, a dziś nadal pozostają zaskakująco konkurencyjne wobec głębokich modeli end-to-end.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755760A-F5A4-4A37-B320-99EF89104F59}" type="slidenum">
              <a:t>9</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Tekst jest najłatwiej dostępnym kanałem afektywnym na smartfonie, ponieważ użytkownik stale pisze: wiadomości, notatki, komentarze, wpisy w dzienniku czy zapytania do asystenta. Dlatego analiza afektywna tekstu jest często pierwszym i najtańszym krokiem w systemach emocjonalnych. W prostszym wariancie stosujemy leksykony, takie jak VADER, które są bardzo szybkie i praktyczne jako </a:t>
            </a:r>
            <a:r>
              <a:rPr lang="pl-PL" dirty="0" err="1" smtClean="0"/>
              <a:t>baseline</a:t>
            </a:r>
            <a:r>
              <a:rPr lang="pl-PL" dirty="0" smtClean="0"/>
              <a:t>. W bardziej zaawansowanych wdrożeniach używa się lekkich modeli </a:t>
            </a:r>
            <a:r>
              <a:rPr lang="pl-PL" dirty="0" err="1" smtClean="0"/>
              <a:t>transformerowych</a:t>
            </a:r>
            <a:r>
              <a:rPr lang="pl-PL" dirty="0" smtClean="0"/>
              <a:t>, takich jak </a:t>
            </a:r>
            <a:r>
              <a:rPr lang="pl-PL" dirty="0" err="1" smtClean="0"/>
              <a:t>DistilBERT</a:t>
            </a:r>
            <a:r>
              <a:rPr lang="pl-PL" dirty="0" smtClean="0"/>
              <a:t> czy </a:t>
            </a:r>
            <a:r>
              <a:rPr lang="pl-PL" dirty="0" err="1" smtClean="0"/>
              <a:t>MobileBERT</a:t>
            </a:r>
            <a:r>
              <a:rPr lang="pl-PL" dirty="0" smtClean="0"/>
              <a:t>, dostrojonych do korpusów emocjonalnych. Warto zwrócić uwagę, że modele tekstowe mają przewagę semantyczną: potrafią uchwycić nie tylko sentyment, ale także ironię, niepokój, język kryzysowy czy wzorce </a:t>
            </a:r>
            <a:r>
              <a:rPr lang="pl-PL" dirty="0" err="1" smtClean="0"/>
              <a:t>ruminacji</a:t>
            </a:r>
            <a:r>
              <a:rPr lang="pl-PL" dirty="0" smtClean="0"/>
              <a:t>. Jednocześnie tekst jest tylko jedną warstwą stanu psychicznego, więc nie wolno utożsamiać pojedynczej negatywnej wypowiedzi z diagnozą kliniczną.</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DDABEB0-90CB-45CE-B917-DFABD8669585}" type="slidenum">
              <a:t>10</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LLM radykalnie zmieniają obszar analizy afektywnej, ponieważ znacznie lepiej od wcześniejszych modeli rozumieją kontekst, metaforę, ironię i niuanse pragmatyczne. Dzięki temu są szczególnie użyteczne tam, gdzie klasyczne klasyfikatory gubią się na złożonych wypowiedziach. Jednocześnie duże modele językowe nie są panaceum. Po pierwsze, mają zbyt wysoką latencję do części zastosowań czasu rzeczywistego. Po drugie, są podatne na halucynacje i mogą „nadinterpretować” stan użytkownika. Po trzecie, same z siebie nie mają dostępu do sygnałów fizjologicznych ani kontekstu behawioralnego, więc muszą być osadzane w szerszej architekturze. Dlatego w praktyce najbardziej sensowne jest podejście hybrydowe: szybki model on-</a:t>
            </a:r>
            <a:r>
              <a:rPr lang="pl-PL" dirty="0" err="1" smtClean="0"/>
              <a:t>device</a:t>
            </a:r>
            <a:r>
              <a:rPr lang="pl-PL" dirty="0" smtClean="0"/>
              <a:t> działa jako pierwszy filtr, a LLM uruchamiamy tylko wtedy, gdy potrzebna jest bardziej subtelna interpretacja lub detekcja sygnałów kryzysowych. Ciekawostką jest to, że nawet kilka przykładów </a:t>
            </a:r>
            <a:r>
              <a:rPr lang="pl-PL" dirty="0" err="1" smtClean="0"/>
              <a:t>few-shot</a:t>
            </a:r>
            <a:r>
              <a:rPr lang="pl-PL" dirty="0" smtClean="0"/>
              <a:t> potrafi wyraźnie poprawić jakość klasyfikacji emocjonalnej w zadaniu </a:t>
            </a:r>
            <a:r>
              <a:rPr lang="pl-PL" dirty="0" err="1" smtClean="0"/>
              <a:t>promptowanym</a:t>
            </a:r>
            <a:r>
              <a:rPr lang="pl-PL" dirty="0" smtClean="0"/>
              <a:t>.</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985F138-D4A9-4795-B90C-0648765EB7A3}" type="slidenum">
              <a:t>11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EDA, czyli </a:t>
            </a:r>
            <a:r>
              <a:rPr lang="pl-PL" dirty="0" err="1" smtClean="0"/>
              <a:t>elektrodermalna</a:t>
            </a:r>
            <a:r>
              <a:rPr lang="pl-PL" dirty="0" smtClean="0"/>
              <a:t> aktywność, jest jednym z najważniejszych biomarkerów pobudzenia emocjonalnego. Mówiąc precyzyjniej, mierzymy zmiany przewodności skóry wynikające z aktywacji układu współczulnego i pracy gruczołów potowych. To bardzo użyteczny sygnał, ponieważ dobrze koreluje z pobudzeniem, stresem i reakcją na bodźce. W analizie EDA niezwykle ważne jest rozróżnienie między komponentem tonic, czyli powolnym poziomem bazowym, a komponentem </a:t>
            </a:r>
            <a:r>
              <a:rPr lang="pl-PL" dirty="0" err="1" smtClean="0"/>
              <a:t>phasic</a:t>
            </a:r>
            <a:r>
              <a:rPr lang="pl-PL" dirty="0" smtClean="0"/>
              <a:t>, czyli szybkimi reakcjami skórnymi na zdarzenia. Dodatkowo na tym slajdzie pojawia się </a:t>
            </a:r>
            <a:r>
              <a:rPr lang="pl-PL" dirty="0" err="1" smtClean="0"/>
              <a:t>rPPG</a:t>
            </a:r>
            <a:r>
              <a:rPr lang="pl-PL" dirty="0" smtClean="0"/>
              <a:t> z kamery selfie, co jest ciekawym przykładem nieinwazyjnego pozyskiwania tętna bez </a:t>
            </a:r>
            <a:r>
              <a:rPr lang="pl-PL" dirty="0" err="1" smtClean="0"/>
              <a:t>wearable</a:t>
            </a:r>
            <a:r>
              <a:rPr lang="pl-PL" dirty="0" smtClean="0"/>
              <a:t>. Warto podkreślić studentom, że choć </a:t>
            </a:r>
            <a:r>
              <a:rPr lang="pl-PL" dirty="0" err="1" smtClean="0"/>
              <a:t>rPPG</a:t>
            </a:r>
            <a:r>
              <a:rPr lang="pl-PL" dirty="0" smtClean="0"/>
              <a:t> brzmi futurystycznie, to w praktyce jest bardzo wrażliwe na ruch głowy, światło i jakość kamery, więc nie zastępuje w pełni klasycznego PPG z zegarka czy opaski.</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B09CD2C0-9D40-40B6-9F21-A189928092D1}" type="slidenum">
              <a:t>12</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Akcelerometr i żyroskop są w pewnym sensie „cichymi bohaterami” informatyki afektywnej, bo działają praktycznie zawsze i zwykle nie wymagają specjalnych zgód </a:t>
            </a:r>
            <a:r>
              <a:rPr lang="pl-PL" dirty="0" err="1" smtClean="0"/>
              <a:t>runtime</a:t>
            </a:r>
            <a:r>
              <a:rPr lang="pl-PL" dirty="0" smtClean="0"/>
              <a:t>. IMU nie mierzy emocji bezpośrednio, ale pozwala obserwować ich konsekwencje behawioralne: agitację, drżenie dłoni, zmiany wzorca chodu, spowolnienie czy nieregularność interakcji. To bardzo cenne szczególnie w </a:t>
            </a:r>
            <a:r>
              <a:rPr lang="pl-PL" dirty="0" err="1" smtClean="0"/>
              <a:t>psychoinformatyce</a:t>
            </a:r>
            <a:r>
              <a:rPr lang="pl-PL" dirty="0" smtClean="0"/>
              <a:t>, gdzie interesuje nas nie chwilowa ekspresja, lecz długoterminowe wzorce funkcjonowania. Przykładowo spowolnienie psychoruchowe może być sygnałem depresji lub zmęczenia, a nocna agitacja i wzrost aktywności mogą wskazywać na niepokój lub epizod maniakalny. Warto też wspomnieć o dynamice pisania jako sygnale pośrednim: wzrost interwałów między klawiszami, większa liczba </a:t>
            </a:r>
            <a:r>
              <a:rPr lang="pl-PL" dirty="0" err="1" smtClean="0"/>
              <a:t>kasowań</a:t>
            </a:r>
            <a:r>
              <a:rPr lang="pl-PL" dirty="0" smtClean="0"/>
              <a:t> czy zmienność rytmu wpisywania bywają łączone z napięciem emocjonalnym i </a:t>
            </a:r>
            <a:r>
              <a:rPr lang="pl-PL" dirty="0" err="1" smtClean="0"/>
              <a:t>ruminacją</a:t>
            </a:r>
            <a:r>
              <a:rPr lang="pl-PL" dirty="0" smtClean="0"/>
              <a:t>. To dobry przykład tego, że dane „niewinne” na pierwszy rzut oka mogą mieć wysoką wartość psychologiczną.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85504F5-1082-4BBB-87B3-266BA4450D75}" type="slidenum">
              <a:t>13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EEG jest najbardziej bezpośrednim kanałem neurofizjologicznym w całym wykładzie, ale jednocześnie najmniej praktycznym w klasycznym scenariuszu mobile. Jego przewaga polega na tym, że mierzymy aktywność mózgu, a nie wtórne wskaźniki pobudzenia czy ekspresji. W zastosowaniach emocjonalnych szczególnie istotne są pasma alfa, beta i gamma oraz zjawiska takie jak </a:t>
            </a:r>
            <a:r>
              <a:rPr lang="pl-PL" dirty="0" err="1" smtClean="0"/>
              <a:t>frontal</a:t>
            </a:r>
            <a:r>
              <a:rPr lang="pl-PL" dirty="0" smtClean="0"/>
              <a:t> </a:t>
            </a:r>
            <a:r>
              <a:rPr lang="pl-PL" dirty="0" err="1" smtClean="0"/>
              <a:t>alpha</a:t>
            </a:r>
            <a:r>
              <a:rPr lang="pl-PL" dirty="0" smtClean="0"/>
              <a:t> </a:t>
            </a:r>
            <a:r>
              <a:rPr lang="pl-PL" dirty="0" err="1" smtClean="0"/>
              <a:t>asymmetry</a:t>
            </a:r>
            <a:r>
              <a:rPr lang="pl-PL" dirty="0" smtClean="0"/>
              <a:t>. To jednak narzędzie kosztowne, mniej wygodne i zwykle wymagające zewnętrznego </a:t>
            </a:r>
            <a:r>
              <a:rPr lang="pl-PL" dirty="0" err="1" smtClean="0"/>
              <a:t>headsetu</a:t>
            </a:r>
            <a:r>
              <a:rPr lang="pl-PL" dirty="0" smtClean="0"/>
              <a:t>, więc trudno je wdrażać masowo w typowych aplikacjach mobilnych. W praktyce EEG jest dziś najbardziej interesujące w medycynie, </a:t>
            </a:r>
            <a:r>
              <a:rPr lang="pl-PL" dirty="0" err="1" smtClean="0"/>
              <a:t>biofeedbacku</a:t>
            </a:r>
            <a:r>
              <a:rPr lang="pl-PL" dirty="0" smtClean="0"/>
              <a:t>, edukacji i badaniach laboratoryjnych. Ciekawostką jest to, że wiele konsumenckich </a:t>
            </a:r>
            <a:r>
              <a:rPr lang="pl-PL" dirty="0" err="1" smtClean="0"/>
              <a:t>headsetów</a:t>
            </a:r>
            <a:r>
              <a:rPr lang="pl-PL" dirty="0" smtClean="0"/>
              <a:t> reklamuje „czytanie emocji”, ale z metodologicznego punktu widzenia znacznie bezpieczniej mówić o pobudzeniu, relaksacji, skupieniu i zmęczeniu niż o konkretnych emocjach nazwanych etykietą.</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4C617ACB-C348-4386-9272-7179430CEA66}" type="slidenum">
              <a:t>14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Tutaj dochodzimy do jednego z najważniejszych wniosków całego wykładu: pojedynczy kanał jest za słaby, a przyszłość należy do systemów multimodalnych. Fuzja multimodalna pozwala zwiększyć odporność na zakłócenia, ograniczyć wpływ błędów pojedynczego sensora i uzyskać bardziej stabilną inferencję. </a:t>
            </a:r>
            <a:r>
              <a:rPr lang="pl-PL" dirty="0" err="1" smtClean="0"/>
              <a:t>Early</a:t>
            </a:r>
            <a:r>
              <a:rPr lang="pl-PL" dirty="0" smtClean="0"/>
              <a:t> </a:t>
            </a:r>
            <a:r>
              <a:rPr lang="pl-PL" dirty="0" err="1" smtClean="0"/>
              <a:t>fusion</a:t>
            </a:r>
            <a:r>
              <a:rPr lang="pl-PL" dirty="0" smtClean="0"/>
              <a:t> polega na łączeniu cech na wejściu modelu, </a:t>
            </a:r>
            <a:r>
              <a:rPr lang="pl-PL" dirty="0" err="1" smtClean="0"/>
              <a:t>late</a:t>
            </a:r>
            <a:r>
              <a:rPr lang="pl-PL" dirty="0" smtClean="0"/>
              <a:t> </a:t>
            </a:r>
            <a:r>
              <a:rPr lang="pl-PL" dirty="0" err="1" smtClean="0"/>
              <a:t>fusion</a:t>
            </a:r>
            <a:r>
              <a:rPr lang="pl-PL" dirty="0" smtClean="0"/>
              <a:t> na łączeniu decyzji osobnych modeli, a warianty hybrydowe i </a:t>
            </a:r>
            <a:r>
              <a:rPr lang="pl-PL" dirty="0" err="1" smtClean="0"/>
              <a:t>attention-based</a:t>
            </a:r>
            <a:r>
              <a:rPr lang="pl-PL" dirty="0" smtClean="0"/>
              <a:t> próbują wykorzystać zalety obu podejść. Z inżynierskiego punktu widzenia bardzo ważnym problemem jest synchronizacja czasowa i radzenie sobie z brakującą modalnością. W realnym systemie użytkownik może nie udostępnić kamery, </a:t>
            </a:r>
            <a:r>
              <a:rPr lang="pl-PL" dirty="0" err="1" smtClean="0"/>
              <a:t>wearable</a:t>
            </a:r>
            <a:r>
              <a:rPr lang="pl-PL" dirty="0" smtClean="0"/>
              <a:t> może się rozłączyć, a mikrofon może działać w hałaśliwym otoczeniu. Dlatego model powinien być projektowany tak, by degradował się łagodnie, a nie przestawał działać przy braku jednego kanału.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C54BB4E-267E-40EC-99AA-3ED6EAD16E07}" type="slidenum">
              <a:t>15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On-</a:t>
            </a:r>
            <a:r>
              <a:rPr lang="pl-PL" dirty="0" err="1" smtClean="0"/>
              <a:t>device</a:t>
            </a:r>
            <a:r>
              <a:rPr lang="pl-PL" dirty="0" smtClean="0"/>
              <a:t> </a:t>
            </a:r>
            <a:r>
              <a:rPr lang="pl-PL" dirty="0" err="1" smtClean="0"/>
              <a:t>inference</a:t>
            </a:r>
            <a:r>
              <a:rPr lang="pl-PL" dirty="0" smtClean="0"/>
              <a:t> jest w informatyce afektywnej nie tyle opcją, ile bardzo często wymogiem projektowym. Dane afektywne należą do najbardziej wrażliwych kategorii danych, więc ich przetwarzanie lokalne daje wyraźną przewagę pod względem prywatności, zgodności regulacyjnej i zaufania użytkownika. W praktyce wybór </a:t>
            </a:r>
            <a:r>
              <a:rPr lang="pl-PL" dirty="0" err="1" smtClean="0"/>
              <a:t>frameworka</a:t>
            </a:r>
            <a:r>
              <a:rPr lang="pl-PL" dirty="0" smtClean="0"/>
              <a:t> zależy od platformy oraz ekosystemu modelu: </a:t>
            </a:r>
            <a:r>
              <a:rPr lang="pl-PL" dirty="0" err="1" smtClean="0"/>
              <a:t>TFLite</a:t>
            </a:r>
            <a:r>
              <a:rPr lang="pl-PL" dirty="0" smtClean="0"/>
              <a:t>, </a:t>
            </a:r>
            <a:r>
              <a:rPr lang="pl-PL" dirty="0" err="1" smtClean="0"/>
              <a:t>CoreML</a:t>
            </a:r>
            <a:r>
              <a:rPr lang="pl-PL" dirty="0" smtClean="0"/>
              <a:t>, ONNX Runtime, </a:t>
            </a:r>
            <a:r>
              <a:rPr lang="pl-PL" dirty="0" err="1" smtClean="0"/>
              <a:t>MediaPipe</a:t>
            </a:r>
            <a:r>
              <a:rPr lang="pl-PL" dirty="0" smtClean="0"/>
              <a:t> czy </a:t>
            </a:r>
            <a:r>
              <a:rPr lang="pl-PL" dirty="0" err="1" smtClean="0"/>
              <a:t>ExecuTorch</a:t>
            </a:r>
            <a:r>
              <a:rPr lang="pl-PL" dirty="0" smtClean="0"/>
              <a:t> mają nieco inne mocne strony. Z perspektywy systemowej kluczowa jest akceleracja sprzętowa przez NPU, GPU, NNAPI czy </a:t>
            </a:r>
            <a:r>
              <a:rPr lang="pl-PL" dirty="0" err="1" smtClean="0"/>
              <a:t>Neural</a:t>
            </a:r>
            <a:r>
              <a:rPr lang="pl-PL" dirty="0" smtClean="0"/>
              <a:t> Engine. Warto też dodać, że przejście z modelu chmurowego do modelu lokalnego nie jest tylko kwestią eksportu pliku. Trzeba zadbać o kwantyzację, kalibrację, </a:t>
            </a:r>
            <a:r>
              <a:rPr lang="pl-PL" dirty="0" err="1" smtClean="0"/>
              <a:t>pipeline</a:t>
            </a:r>
            <a:r>
              <a:rPr lang="pl-PL" dirty="0" smtClean="0"/>
              <a:t> wejścia, harmonogram wykonania i wpływ na baterię. To bardzo dobry przykład, jak uczenie maszynowe spotyka się z klasyczną inżynierią systemów mobilnych.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912EC682-6AB3-4227-95AB-11145D360E58}" type="slidenum">
              <a:t>16</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Ten slajd pokazuje, że metryka </a:t>
            </a:r>
            <a:r>
              <a:rPr lang="pl-PL" dirty="0" err="1" smtClean="0"/>
              <a:t>accuracy</a:t>
            </a:r>
            <a:r>
              <a:rPr lang="pl-PL" dirty="0" smtClean="0"/>
              <a:t> nie wystarcza do oceny modelu afektywnego na mobile. Model może być bardzo dokładny, ale jeśli zajmuje 100 MB, zużywa dużo baterii i potrzebuje setek milisekund na inferencję, to z perspektywy produktu może być bezużyteczny. Dlatego tak ważne są techniki kompresji, takie jak </a:t>
            </a:r>
            <a:r>
              <a:rPr lang="pl-PL" dirty="0" err="1" smtClean="0"/>
              <a:t>knowledge</a:t>
            </a:r>
            <a:r>
              <a:rPr lang="pl-PL" dirty="0" smtClean="0"/>
              <a:t> </a:t>
            </a:r>
            <a:r>
              <a:rPr lang="pl-PL" dirty="0" err="1" smtClean="0"/>
              <a:t>distillation</a:t>
            </a:r>
            <a:r>
              <a:rPr lang="pl-PL" dirty="0" smtClean="0"/>
              <a:t>, </a:t>
            </a:r>
            <a:r>
              <a:rPr lang="pl-PL" dirty="0" err="1" smtClean="0"/>
              <a:t>pruning</a:t>
            </a:r>
            <a:r>
              <a:rPr lang="pl-PL" dirty="0" smtClean="0"/>
              <a:t> i </a:t>
            </a:r>
            <a:r>
              <a:rPr lang="pl-PL" dirty="0" err="1" smtClean="0"/>
              <a:t>neural</a:t>
            </a:r>
            <a:r>
              <a:rPr lang="pl-PL" dirty="0" smtClean="0"/>
              <a:t> </a:t>
            </a:r>
            <a:r>
              <a:rPr lang="pl-PL" dirty="0" err="1" smtClean="0"/>
              <a:t>architecture</a:t>
            </a:r>
            <a:r>
              <a:rPr lang="pl-PL" dirty="0" smtClean="0"/>
              <a:t> </a:t>
            </a:r>
            <a:r>
              <a:rPr lang="pl-PL" dirty="0" err="1" smtClean="0"/>
              <a:t>search</a:t>
            </a:r>
            <a:r>
              <a:rPr lang="pl-PL" dirty="0" smtClean="0"/>
              <a:t>. W praktyce często lepiej wybrać model nieco słabszy statystycznie, ale znacznie lżejszy i szybszy, zwłaszcza jeśli użytkownik oczekuje reakcji w czasie quasi-rzeczywistym. Warto też zaznaczyć, że różnica kilku punktów procentowych w </a:t>
            </a:r>
            <a:r>
              <a:rPr lang="pl-PL" dirty="0" err="1" smtClean="0"/>
              <a:t>accuracy</a:t>
            </a:r>
            <a:r>
              <a:rPr lang="pl-PL" dirty="0" smtClean="0"/>
              <a:t> bywa mniej ważna niż różnica rzędu 5–10 razy w zużyciu energii. Ciekawostką jest to, że wiele współczesnych modeli mobilnych nie jest projektowanych „po prostu jako małe wersje dużych”, lecz od początku tworzonych z myślą o określonym budżecie opóźnienia i pamięci.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7089C66-549C-47FE-8B36-0EB1D04A2922}" type="slidenum">
              <a:t>17</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err="1" smtClean="0"/>
              <a:t>Affective</a:t>
            </a:r>
            <a:r>
              <a:rPr lang="pl-PL" dirty="0" smtClean="0"/>
              <a:t> UX to etap, w którym analiza emocjonalna przestaje być tylko analityką, a zaczyna realnie wpływać na zachowanie interfejsu. To bardzo delikatny obszar, bo łatwo przekroczyć granicę między adaptacją wspierającą użytkownika a manipulacją. W dobrze zaprojektowanym systemie stres nie prowadzi do „agresywnej interwencji”, lecz raczej do uspokojenia interfejsu, ograniczenia bodźców i zaproponowania wsparcia. Z kolei stan </a:t>
            </a:r>
            <a:r>
              <a:rPr lang="pl-PL" dirty="0" err="1" smtClean="0"/>
              <a:t>flow</a:t>
            </a:r>
            <a:r>
              <a:rPr lang="pl-PL" dirty="0" smtClean="0"/>
              <a:t> oznacza często, że najlepszą interwencją jest brak interwencji, czyli nieprzerywanie użytkownikowi. Smutek czy obniżony nastrój mogą prowadzić do zaoferowania zasobów wsparcia, ale nigdy nie powinny oznaczać automatycznego wnioskowania diagnostycznego. To dobry moment, by powiedzieć studentom, że </a:t>
            </a:r>
            <a:r>
              <a:rPr lang="pl-PL" dirty="0" err="1" smtClean="0"/>
              <a:t>affective</a:t>
            </a:r>
            <a:r>
              <a:rPr lang="pl-PL" dirty="0" smtClean="0"/>
              <a:t> UX powinien służyć dobrostanowi, bezpieczeństwu i skuteczności działania użytkownika, a nie wyłącznie retencji czy </a:t>
            </a:r>
            <a:r>
              <a:rPr lang="pl-PL" dirty="0" err="1" smtClean="0"/>
              <a:t>time</a:t>
            </a:r>
            <a:r>
              <a:rPr lang="pl-PL" dirty="0" smtClean="0"/>
              <a:t>-in-</a:t>
            </a:r>
            <a:r>
              <a:rPr lang="pl-PL" dirty="0" err="1" smtClean="0"/>
              <a:t>app</a:t>
            </a:r>
            <a:r>
              <a:rPr lang="pl-PL" dirty="0" smtClean="0"/>
              <a:t>.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38E8BED0-F7FF-4F59-8691-867F5A0B9F2F}" type="slidenum">
              <a:t>18</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Na tym slajdzie mamy kompletną logikę systemu adaptacyjnego: rozpoznanie sygnału, estymacja stanu, wygładzanie w czasie, reguły adaptacji i dopiero potem modyfikacja interfejsu. To bardzo ważna architektura, ponieważ emocje są z natury zmienne i zaszumione. Gdybyśmy reagowali na każdą klatkę z kamery albo każdy pojedynczy pik SCR w EDA, interfejs stałby się chaotyczny i irytujący. Dlatego w praktyce stosuje się </a:t>
            </a:r>
            <a:r>
              <a:rPr lang="pl-PL" dirty="0" err="1" smtClean="0"/>
              <a:t>smoothing</a:t>
            </a:r>
            <a:r>
              <a:rPr lang="pl-PL" dirty="0" smtClean="0"/>
              <a:t>, </a:t>
            </a:r>
            <a:r>
              <a:rPr lang="pl-PL" dirty="0" err="1" smtClean="0"/>
              <a:t>deadband</a:t>
            </a:r>
            <a:r>
              <a:rPr lang="pl-PL" dirty="0" smtClean="0"/>
              <a:t> i decyzje podejmowane w oknach czasowych. Kluczowe zasady, które należy tutaj mocno podkreślić, to </a:t>
            </a:r>
            <a:r>
              <a:rPr lang="pl-PL" dirty="0" err="1" smtClean="0"/>
              <a:t>explicability</a:t>
            </a:r>
            <a:r>
              <a:rPr lang="pl-PL" dirty="0" smtClean="0"/>
              <a:t>, możliwość nadpisania decyzji przez użytkownika, wrażliwość kulturowa i absolutny zakaz projektowania adaptacji wyłącznie pod maksymalizację zaangażowania. Ciekawostką jest to, że w systemach </a:t>
            </a:r>
            <a:r>
              <a:rPr lang="pl-PL" dirty="0" err="1" smtClean="0"/>
              <a:t>affective</a:t>
            </a:r>
            <a:r>
              <a:rPr lang="pl-PL" dirty="0" smtClean="0"/>
              <a:t> UX bardzo często większym problemem niż sam model klasyfikacyjny okazuje się warstwa polityki decyzji, czyli kiedy i jak wolno zareagować.</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DE9A7CC-19A3-422D-8132-6BD252EE8588}" type="slidenum">
              <a:t>19</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Zdrowie psychiczne jest obecnie jednym z najczęściej dyskutowanych obszarów zastosowań informatyki afektywnej. Wynika to zarówno ze skali problemu społecznego, jak i z ograniczonej dostępności specjalistycznej opieki. W aplikacjach </a:t>
            </a:r>
            <a:r>
              <a:rPr lang="pl-PL" dirty="0" err="1" smtClean="0"/>
              <a:t>wellness</a:t>
            </a:r>
            <a:r>
              <a:rPr lang="pl-PL" dirty="0" smtClean="0"/>
              <a:t> i </a:t>
            </a:r>
            <a:r>
              <a:rPr lang="pl-PL" dirty="0" err="1" smtClean="0"/>
              <a:t>chatbotach</a:t>
            </a:r>
            <a:r>
              <a:rPr lang="pl-PL" dirty="0" smtClean="0"/>
              <a:t> terapeutycznych analiza emocji z tekstu, głosu, HRV czy wzorców aktywności może wspierać personalizację interwencji, wykrywanie stanów kryzysowych i decyzję o eskalacji do człowieka. Trzeba jednak zachować ostrożność: system może wspomagać, ale nie powinien udawać diagnozy klinicznej bez odpowiedniej walidacji i nadzoru medycznego. To bardzo ważne rozróżnienie między narzędziem </a:t>
            </a:r>
            <a:r>
              <a:rPr lang="pl-PL" dirty="0" err="1" smtClean="0"/>
              <a:t>wellness</a:t>
            </a:r>
            <a:r>
              <a:rPr lang="pl-PL" dirty="0" smtClean="0"/>
              <a:t> a wyrobem medycznym. Ciekawostką badawczą jest to, że część systemów </a:t>
            </a:r>
            <a:r>
              <a:rPr lang="pl-PL" dirty="0" err="1" smtClean="0"/>
              <a:t>digital</a:t>
            </a:r>
            <a:r>
              <a:rPr lang="pl-PL" dirty="0" smtClean="0"/>
              <a:t> </a:t>
            </a:r>
            <a:r>
              <a:rPr lang="pl-PL" dirty="0" err="1" smtClean="0"/>
              <a:t>phenotyping</a:t>
            </a:r>
            <a:r>
              <a:rPr lang="pl-PL" dirty="0" smtClean="0"/>
              <a:t> potrafi wykrywać ryzyko nawrotu zaburzeń psychicznych nawet z pewnym wyprzedzeniem, ale okupione jest to znaczną ingerencją w prywatność i koniecznością bardzo rygorystycznego zarządzania zgodą.</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C0FC8B4-6EF8-475A-8804-0C79030CF999}" type="slidenum">
              <a:t>20</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W e-learningu emocje nie są dodatkiem, lecz jednym z mechanizmów warunkujących skuteczność uczenia się. Zaangażowanie, konfuzja, frustracja, znudzenie i </a:t>
            </a:r>
            <a:r>
              <a:rPr lang="pl-PL" dirty="0" err="1" smtClean="0"/>
              <a:t>flow</a:t>
            </a:r>
            <a:r>
              <a:rPr lang="pl-PL" dirty="0" smtClean="0"/>
              <a:t> to stany, które bezpośrednio wpływają na tempo nauki, liczbę błędów i retencję wiedzy. System afektywny może reagować na te stany, na przykład przez podanie podpowiedzi, zmianę formatu materiału, dostosowanie trudności albo celowe nieprzerywanie użytkownikowi, jeśli jest w stanie skupienia. Z metodologicznego punktu widzenia to szczególnie interesujące, bo łączy psychologię uczenia się z analizą multimodalną. Jednocześnie właśnie edukacja jest obszarem bardzo wrażliwym regulacyjnie, ponieważ emocjonalna analiza uczniów może prowadzić do etykietowania, nadmiernego nadzoru albo decyzji opartych na niepewnej inferencji. Ciekawostką jest to, że niektóre badania wykorzystywały ekspresję twarzy nie po to, by oceniać studenta, ale aby wykrywać fragmenty kursu, które były dla większości grupy najbardziej niezrozumiałe.</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E43ABDD-1A4F-4678-B333-D85C0341E790}" type="slidenum">
              <a:t>21</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Automotive jest przykładem domeny, w której analiza afektywna ma bezpośredni wymiar bezpieczeństwa. Driver Monitoring Systems monitorują senność, rozproszenie, ziewanie, kierunek spojrzenia i pozycję głowy, a niekiedy także bardziej złożone stany, takie jak stres czy </a:t>
            </a:r>
            <a:r>
              <a:rPr lang="pl-PL" dirty="0" err="1" smtClean="0"/>
              <a:t>road</a:t>
            </a:r>
            <a:r>
              <a:rPr lang="pl-PL" dirty="0" smtClean="0"/>
              <a:t> </a:t>
            </a:r>
            <a:r>
              <a:rPr lang="pl-PL" dirty="0" err="1" smtClean="0"/>
              <a:t>rage</a:t>
            </a:r>
            <a:r>
              <a:rPr lang="pl-PL" dirty="0" smtClean="0"/>
              <a:t>. To bardzo ważne rozróżnienie: w samochodzie emocja nie jest ciekawostką marketingową, lecz może wpływać na ryzyko wypadku. Dlatego właśnie systemy DMS są coraz mocniej regulowane i stają się obowiązkowym elementem nowoczesnych pojazdów. Z perspektywy inżynierskiej jest to bardzo wymagający obszar, bo system musi działać w ciemności, przy ruchu pojazdu, w czasie rzeczywistym i z niskim poziomem błędów. Ciekawostką jest wskaźnik PERCLOS, który od lat pozostaje jednym z najstabilniejszych biomarkerów senności kierowcy i jest szeroko stosowany w systemach monitoringu uwagi.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93A09C5-13D5-4936-8541-53A0FA9225EF}" type="slidenum">
              <a:t>22</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Gry mobilne są wręcz naturalnym środowiskiem do badania i wdrażania informatyki afektywnej, ponieważ emocje gracza są integralną częścią rozgrywki. W </a:t>
            </a:r>
            <a:r>
              <a:rPr lang="pl-PL" dirty="0" err="1" smtClean="0"/>
              <a:t>emotional</a:t>
            </a:r>
            <a:r>
              <a:rPr lang="pl-PL" dirty="0" smtClean="0"/>
              <a:t> DDA, czyli </a:t>
            </a:r>
            <a:r>
              <a:rPr lang="pl-PL" dirty="0" err="1" smtClean="0"/>
              <a:t>emotional</a:t>
            </a:r>
            <a:r>
              <a:rPr lang="pl-PL" dirty="0" smtClean="0"/>
              <a:t> </a:t>
            </a:r>
            <a:r>
              <a:rPr lang="pl-PL" dirty="0" err="1" smtClean="0"/>
              <a:t>dynamic</a:t>
            </a:r>
            <a:r>
              <a:rPr lang="pl-PL" dirty="0" smtClean="0"/>
              <a:t> </a:t>
            </a:r>
            <a:r>
              <a:rPr lang="pl-PL" dirty="0" err="1" smtClean="0"/>
              <a:t>difficulty</a:t>
            </a:r>
            <a:r>
              <a:rPr lang="pl-PL" dirty="0" smtClean="0"/>
              <a:t> </a:t>
            </a:r>
            <a:r>
              <a:rPr lang="pl-PL" dirty="0" err="1" smtClean="0"/>
              <a:t>adjustment</a:t>
            </a:r>
            <a:r>
              <a:rPr lang="pl-PL" dirty="0" smtClean="0"/>
              <a:t>, system nie tylko śledzi wynik gracza, ale też jego stan afektywny. Jeśli wykryje nudę, może zwiększyć tempo i poziom wyzwania; jeśli wykryje frustrację, może chwilowo obniżyć trudność lub wprowadzić podpowiedź. To fascynujący przykład systemu, który nie tyle „czyta emocje dla wiedzy”, ile wykorzystuje je jako zmienną sterującą projektowaniem doświadczenia. Trzeba jednak uważać, bo w grach bardzo łatwo wejść w obszar manipulacji emocjonalnej, na przykład przez projektowanie mechanik wzmacniających kompulsywne zaangażowanie. Ciekawostką jest to, że w niektórych projektach eksperymentalnych wykorzystywano EDA i HRV do tego, aby gra reagowała na strach gracza i czyniła scenariusz jeszcze bardziej intensywnym.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A2A7C334-3FF2-4E2C-B574-5F490A267312}" type="slidenum">
              <a:t>23</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Zastosowania w HR i rekrutacji są dziś jednym z najbardziej krytykowanych pól użycia systemów rozpoznawania emocji. Zwolennicy takich rozwiązań argumentują, że mogą one dostarczać dodatkowych sygnałów o zachowaniu kandydata, ale z perspektywy metodologicznej i etycznej ten argument jest bardzo słaby. Po pierwsze, emocje są </a:t>
            </a:r>
            <a:r>
              <a:rPr lang="pl-PL" dirty="0" err="1" smtClean="0"/>
              <a:t>inferowane</a:t>
            </a:r>
            <a:r>
              <a:rPr lang="pl-PL" dirty="0" smtClean="0"/>
              <a:t> z dużą niepewnością. Po drugie, modele bywają obciążone </a:t>
            </a:r>
            <a:r>
              <a:rPr lang="pl-PL" dirty="0" err="1" smtClean="0"/>
              <a:t>biasem</a:t>
            </a:r>
            <a:r>
              <a:rPr lang="pl-PL" dirty="0" smtClean="0"/>
              <a:t> rasowym, kulturowym i wiekowym. Po trzecie, osoby </a:t>
            </a:r>
            <a:r>
              <a:rPr lang="pl-PL" dirty="0" err="1" smtClean="0"/>
              <a:t>neuroatypowe</a:t>
            </a:r>
            <a:r>
              <a:rPr lang="pl-PL" dirty="0" smtClean="0"/>
              <a:t> mogą być oceniane przez taki system w sposób strukturalnie niesprawiedliwy. Wreszcie dochodzimy do problemu zasadniczego: czy w ogóle istnieją wystarczające podstawy naukowe, by z wyrazu twarzy lub tonu głosu wnioskować o cechach przydatnych zawodowo. Właśnie dlatego ten obszar został objęty silnymi ograniczeniami regulacyjnymi i jest świetnym przykładem, że „techniczna możliwość” nie oznacza „społecznej dopuszczalności”.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6A4B2418-83AD-427A-94B9-EC2518D99CC1}" type="slidenum">
              <a:t>24</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Asystenci głosowi, empatyczne AI i </a:t>
            </a:r>
            <a:r>
              <a:rPr lang="pl-PL" dirty="0" err="1" smtClean="0"/>
              <a:t>metaverse</a:t>
            </a:r>
            <a:r>
              <a:rPr lang="pl-PL" dirty="0" smtClean="0"/>
              <a:t> pokazują drugi biegun tej dziedziny: nie tylko rozpoznawanie emocji, ale także ich generowanie i odtwarzanie w dialogu. W takim systemie analizowany jest ton głosu, tempo mówienia, historia interakcji, a odpowiedź może być generowana w sposób bardziej łagodny, współczujący albo energetyczny. W </a:t>
            </a:r>
            <a:r>
              <a:rPr lang="pl-PL" dirty="0" err="1" smtClean="0"/>
              <a:t>metaverse</a:t>
            </a:r>
            <a:r>
              <a:rPr lang="pl-PL" dirty="0" smtClean="0"/>
              <a:t> i systemach awatarów dochodzi do tego jeszcze warstwa wizualna, czyli </a:t>
            </a:r>
            <a:r>
              <a:rPr lang="pl-PL" dirty="0" err="1" smtClean="0"/>
              <a:t>blendshape’y</a:t>
            </a:r>
            <a:r>
              <a:rPr lang="pl-PL" dirty="0" smtClean="0"/>
              <a:t> twarzy, śledzenie spojrzenia i odwzorowanie ekspresji użytkownika w awatarze. To technologicznie imponujące, ale stawia też bardzo ważne pytanie: czy system ma jedynie symulować empatię, czy użytkownik jest informowany, że ma do czynienia z algorytmem, który nie posiada świadomości ani własnych przeżyć. Ciekawostką jest to, że badania nad ekspresyjnymi awatarami wskazują na wyższe poczucie obecności społecznej i połączenia z innymi, ale jednocześnie mogą one zwiększać podatność na przywiązanie do systemu.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E44C5A36-4193-42C8-ABCA-A298E57D2D38}" type="slidenum">
              <a:t>25</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Ten slajd jest kluczowy z perspektywy odpowiedzialności naukowej. Główne problemy etyczne to </a:t>
            </a:r>
            <a:r>
              <a:rPr lang="pl-PL" dirty="0" err="1" smtClean="0"/>
              <a:t>bias</a:t>
            </a:r>
            <a:r>
              <a:rPr lang="pl-PL" dirty="0" smtClean="0"/>
              <a:t> algorytmiczny, brak świadomej zgody, manipulacja emocjonalna i asymetria władzy między platformą a użytkownikiem. Bardzo ważny jest też wątek </a:t>
            </a:r>
            <a:r>
              <a:rPr lang="pl-PL" dirty="0" err="1" smtClean="0"/>
              <a:t>epistemiczny</a:t>
            </a:r>
            <a:r>
              <a:rPr lang="pl-PL" dirty="0" smtClean="0"/>
              <a:t>: część współczesnej psychologii emocji, w tym prace Lisy Feldman </a:t>
            </a:r>
            <a:r>
              <a:rPr lang="pl-PL" dirty="0" err="1" smtClean="0"/>
              <a:t>Barrett</a:t>
            </a:r>
            <a:r>
              <a:rPr lang="pl-PL" dirty="0" smtClean="0"/>
              <a:t>, podważa założenie, że można niezawodnie czytać emocje bezpośrednio z twarzy. Jeśli więc na niepewnym modelu budujemy decyzje wysokiej stawki, to wchodzimy w obszar potencjalnie pseudonaukowych konsekwencji technologicznych. Warto to powiedzieć jasno studentom: nawet bardzo elegancki </a:t>
            </a:r>
            <a:r>
              <a:rPr lang="pl-PL" dirty="0" err="1" smtClean="0"/>
              <a:t>pipeline</a:t>
            </a:r>
            <a:r>
              <a:rPr lang="pl-PL" dirty="0" smtClean="0"/>
              <a:t> ML może być metodologicznie błędny, jeśli opiera się na fałszywym uproszczeniu relacji między ekspresją a stanem psychicznym. Ciekawostką społeczną jest to, że wiele największych kontrowersji wokół </a:t>
            </a:r>
            <a:r>
              <a:rPr lang="pl-PL" dirty="0" err="1" smtClean="0"/>
              <a:t>emotion</a:t>
            </a:r>
            <a:r>
              <a:rPr lang="pl-PL" dirty="0" smtClean="0"/>
              <a:t> AI nie wynika z samego algorytmu, lecz z tego, kto używa systemu i wobec kogo.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869E07FF-170C-4640-9BDF-B3902D043AFC}" type="slidenum">
              <a:t>26</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Tu wchodzimy w ramy prawne, które dla systemów afektywnych są absolutnie centralne. Dane afektywne bardzo często zachodzą na dane biometryczne lub zdrowotne, a więc należą do kategorii szczególnie chronionych. Z punktu widzenia RODO niezwykle ważne są artykuły dotyczące danych szczególnych, zautomatyzowanych decyzji oraz oceny skutków dla ochrony danych. AI </a:t>
            </a:r>
            <a:r>
              <a:rPr lang="pl-PL" dirty="0" err="1" smtClean="0"/>
              <a:t>Act</a:t>
            </a:r>
            <a:r>
              <a:rPr lang="pl-PL" dirty="0" smtClean="0"/>
              <a:t> dodatkowo zaostrza sytuację, zwłaszcza tam, gdzie </a:t>
            </a:r>
            <a:r>
              <a:rPr lang="pl-PL" dirty="0" err="1" smtClean="0"/>
              <a:t>emotion</a:t>
            </a:r>
            <a:r>
              <a:rPr lang="pl-PL" dirty="0" smtClean="0"/>
              <a:t> </a:t>
            </a:r>
            <a:r>
              <a:rPr lang="pl-PL" dirty="0" err="1" smtClean="0"/>
              <a:t>recognition</a:t>
            </a:r>
            <a:r>
              <a:rPr lang="pl-PL" dirty="0" smtClean="0"/>
              <a:t> pojawia się w miejscu pracy, edukacji czy ewaluacji ludzi. Z perspektywy inżynierskiej odpowiedzią na to nie jest tylko „napisanie polityki prywatności”, ale konkretne rozwiązania techniczne: przetwarzanie lokalne, minimalizacja danych, zgoda </a:t>
            </a:r>
            <a:r>
              <a:rPr lang="pl-PL" dirty="0" err="1" smtClean="0"/>
              <a:t>granularna</a:t>
            </a:r>
            <a:r>
              <a:rPr lang="pl-PL" dirty="0" smtClean="0"/>
              <a:t>, </a:t>
            </a:r>
            <a:r>
              <a:rPr lang="pl-PL" dirty="0" err="1" smtClean="0"/>
              <a:t>explainability</a:t>
            </a:r>
            <a:r>
              <a:rPr lang="pl-PL" dirty="0" smtClean="0"/>
              <a:t>, ograniczenie retencji i obowiązkowe DPIA. To świetny przykład, że </a:t>
            </a:r>
            <a:r>
              <a:rPr lang="pl-PL" dirty="0" err="1" smtClean="0"/>
              <a:t>compliance</a:t>
            </a:r>
            <a:r>
              <a:rPr lang="pl-PL" dirty="0" smtClean="0"/>
              <a:t> w tej dziedzinie jest częścią architektury systemu, a nie dodatkiem na końcu projektu.</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1BC7275F-EC11-408B-9619-09E37F26A9B1}" type="slidenum">
              <a:t>27</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Digital </a:t>
            </a:r>
            <a:r>
              <a:rPr lang="pl-PL" dirty="0" err="1" smtClean="0"/>
              <a:t>phenotyping</a:t>
            </a:r>
            <a:r>
              <a:rPr lang="pl-PL" dirty="0" smtClean="0"/>
              <a:t>, czyli fenotypowanie cyfrowe, to jedno z najbardziej obiecujących, ale też najbardziej kontrowersyjnych rozszerzeń informatyki afektywnej i </a:t>
            </a:r>
            <a:r>
              <a:rPr lang="pl-PL" dirty="0" err="1" smtClean="0"/>
              <a:t>psychoinformatyki</a:t>
            </a:r>
            <a:r>
              <a:rPr lang="pl-PL" dirty="0" smtClean="0"/>
              <a:t>. Chodzi o pasywne monitorowanie obserwowalnych cech zachowania człowieka za pomocą technologii cyfrowych. Takimi markerami mogą być liczba kroków, rytm snu, wzorce komunikacji, </a:t>
            </a:r>
            <a:r>
              <a:rPr lang="pl-PL" dirty="0" err="1" smtClean="0"/>
              <a:t>geolokalizacja</a:t>
            </a:r>
            <a:r>
              <a:rPr lang="pl-PL" dirty="0" smtClean="0"/>
              <a:t>, dynamika korzystania z telefonu czy charakterystyka pisania na klawiaturze. Warto zauważyć, że pojedynczy marker prawie nigdy nie jest wystarczający; znaczenie ma raczej wzorzec zmian w czasie i ich korelacja z samooceną lub danymi klinicznymi. To podejście może wspierać wczesne wykrywanie pogorszenia stanu psychicznego, ale jednocześnie rodzi ogromne pytania o nadzór, zgodę i możliwość wtórnego wykorzystania takich danych przez uczelnie, pracodawców czy ubezpieczycieli. Ciekawostką jest to, że niektóre badania </a:t>
            </a:r>
            <a:r>
              <a:rPr lang="pl-PL" dirty="0" err="1" smtClean="0"/>
              <a:t>longitudinalne</a:t>
            </a:r>
            <a:r>
              <a:rPr lang="pl-PL" dirty="0" smtClean="0"/>
              <a:t> wykorzystujące telefony i </a:t>
            </a:r>
            <a:r>
              <a:rPr lang="pl-PL" dirty="0" err="1" smtClean="0"/>
              <a:t>wearables</a:t>
            </a:r>
            <a:r>
              <a:rPr lang="pl-PL" dirty="0" smtClean="0"/>
              <a:t> trwają latami i próbują modelować dobrostan nie epizodycznie, lecz jako proces dynamiczny.</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0F901B5A-9512-4E07-9D4A-641C259C400B}" type="slidenum">
              <a:t>28</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Case </a:t>
            </a:r>
            <a:r>
              <a:rPr lang="pl-PL" dirty="0" err="1" smtClean="0"/>
              <a:t>study</a:t>
            </a:r>
            <a:r>
              <a:rPr lang="pl-PL" dirty="0" smtClean="0"/>
              <a:t> porządkuje cały wykład w postaci pełnego systemu: od akwizycji danych, przez modele on-</a:t>
            </a:r>
            <a:r>
              <a:rPr lang="pl-PL" dirty="0" err="1" smtClean="0"/>
              <a:t>device</a:t>
            </a:r>
            <a:r>
              <a:rPr lang="pl-PL" dirty="0" smtClean="0"/>
              <a:t>, po logikę interwencji i ewaluację. Widzimy tu bardzo realistyczną architekturę aplikacji </a:t>
            </a:r>
            <a:r>
              <a:rPr lang="pl-PL" dirty="0" err="1" smtClean="0"/>
              <a:t>wellness</a:t>
            </a:r>
            <a:r>
              <a:rPr lang="pl-PL" dirty="0" smtClean="0"/>
              <a:t>: tekst z dziennika, HRV ze smartwatcha, IMU pasywne, lokalna inferencja i ważona </a:t>
            </a:r>
            <a:r>
              <a:rPr lang="pl-PL" dirty="0" err="1" smtClean="0"/>
              <a:t>late</a:t>
            </a:r>
            <a:r>
              <a:rPr lang="pl-PL" dirty="0" smtClean="0"/>
              <a:t> </a:t>
            </a:r>
            <a:r>
              <a:rPr lang="pl-PL" dirty="0" err="1" smtClean="0"/>
              <a:t>fusion</a:t>
            </a:r>
            <a:r>
              <a:rPr lang="pl-PL" dirty="0" smtClean="0"/>
              <a:t>. Następnie z tych sygnałów budowany jest wygładzony stan afektywny, a dopiero później uruchamiana jest logika interwencji, na przykład ćwiczenie oddechowe, </a:t>
            </a:r>
            <a:r>
              <a:rPr lang="pl-PL" dirty="0" err="1" smtClean="0"/>
              <a:t>mikrointerwencja</a:t>
            </a:r>
            <a:r>
              <a:rPr lang="pl-PL" dirty="0" smtClean="0"/>
              <a:t> CBT albo eskalacja do człowieka. To bardzo ważny wzorzec projektowy: modele same w sobie nie rozwiązują problemu, potrzebny jest jeszcze silnik reguł, logika czasowa, architektura zgody i odpowiedzialny interfejs. Szczególnie cenna jest końcowa obserwacja, że transparentność zwiększa zaangażowanie. To dobry argument dydaktyczny: zaufanie użytkownika nie jest kosztem ubocznym, lecz elementem skuteczności całego systemu.</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B7F6664-E2D2-48A3-A9BB-7FD4765185FD}" type="slidenum">
              <a:t>29</a:t>
            </a:fld>
            <a:endParaRPr lang="en-US" sz="1200" b="0" i="0" u="none" strike="noStrike" kern="1200" cap="none" spc="0" baseline="0">
              <a:solidFill>
                <a:srgbClr val="000000"/>
              </a:solidFill>
              <a:uFillTx/>
              <a:latin typeface="Calibri"/>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ymbol zastępczy daty 2"/>
          <p:cNvSpPr txBox="1"/>
          <p:nvPr/>
        </p:nvSpPr>
        <p:spPr>
          <a:xfrm>
            <a:off x="2913058" y="0"/>
            <a:ext cx="2228850" cy="458791"/>
          </a:xfrm>
          <a:prstGeom prst="rect">
            <a:avLst/>
          </a:prstGeom>
          <a:noFill/>
          <a:ln cap="flat">
            <a:noFill/>
          </a:ln>
        </p:spPr>
        <p:txBody>
          <a:bodyPr vert="horz" wrap="square" lIns="91440" tIns="45720" rIns="91440" bIns="4572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CE365EFB-C8B7-4281-A7AB-915D240C5E00}" type="datetime1">
              <a:rPr lang="pl-PL" sz="1200" b="0" i="0" u="none" strike="noStrike" kern="1200" cap="none" spc="0" baseline="0">
                <a:solidFill>
                  <a:srgbClr val="000000"/>
                </a:solidFill>
                <a:uFillTx/>
                <a:latin typeface="Calibri"/>
              </a:rPr>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t>13.03.2026</a:t>
            </a:fld>
            <a:endParaRPr lang="pl-PL" sz="1200" b="0" i="0" u="none" strike="noStrike" kern="1200" cap="none" spc="0" baseline="0">
              <a:solidFill>
                <a:srgbClr val="000000"/>
              </a:solidFill>
              <a:uFillTx/>
              <a:latin typeface="Calibri"/>
            </a:endParaRPr>
          </a:p>
        </p:txBody>
      </p:sp>
      <p:sp>
        <p:nvSpPr>
          <p:cNvPr id="3" name="PlaceHolder 3"/>
          <p:cNvSpPr txBox="1"/>
          <p:nvPr/>
        </p:nvSpPr>
        <p:spPr>
          <a:xfrm>
            <a:off x="0" y="0"/>
            <a:ext cx="2228850" cy="458791"/>
          </a:xfrm>
          <a:prstGeom prst="rect">
            <a:avLst/>
          </a:prstGeom>
          <a:noFill/>
          <a:ln cap="flat">
            <a:noFill/>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200" b="0" i="0" u="none" strike="noStrike" kern="1200" cap="none" spc="0" baseline="0">
                <a:solidFill>
                  <a:srgbClr val="000000"/>
                </a:solidFill>
                <a:uFillTx/>
                <a:latin typeface="Calibri"/>
              </a:rPr>
              <a:t> </a:t>
            </a:r>
          </a:p>
        </p:txBody>
      </p:sp>
      <p:sp>
        <p:nvSpPr>
          <p:cNvPr id="4" name="PlaceHolder 4"/>
          <p:cNvSpPr txBox="1"/>
          <p:nvPr/>
        </p:nvSpPr>
        <p:spPr>
          <a:xfrm>
            <a:off x="2913058" y="0"/>
            <a:ext cx="2228850" cy="458791"/>
          </a:xfrm>
          <a:prstGeom prst="rect">
            <a:avLst/>
          </a:prstGeom>
          <a:noFill/>
          <a:ln cap="flat">
            <a:noFill/>
          </a:ln>
        </p:spPr>
        <p:txBody>
          <a:bodyPr vert="horz" wrap="square" lIns="0" tIns="0" rIns="0" bIns="0" anchor="t"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200" b="0" i="0" u="none" strike="noStrike" kern="1200" cap="none" spc="0" baseline="0">
                <a:solidFill>
                  <a:srgbClr val="000000"/>
                </a:solidFill>
                <a:uFillTx/>
                <a:latin typeface="Calibri"/>
              </a:rPr>
              <a:t> </a:t>
            </a:r>
          </a:p>
        </p:txBody>
      </p:sp>
      <p:sp>
        <p:nvSpPr>
          <p:cNvPr id="5" name="PlaceHolder 5"/>
          <p:cNvSpPr txBox="1"/>
          <p:nvPr/>
        </p:nvSpPr>
        <p:spPr>
          <a:xfrm>
            <a:off x="0" y="10157402"/>
            <a:ext cx="3280684" cy="534238"/>
          </a:xfrm>
          <a:prstGeom prst="rect">
            <a:avLst/>
          </a:prstGeom>
          <a:noFill/>
          <a:ln cap="flat">
            <a:noFill/>
          </a:ln>
        </p:spPr>
        <p:txBody>
          <a:bodyPr vert="horz" wrap="square" lIns="0" tIns="0" rIns="0" bIns="0" anchor="b"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400" b="0" i="0" u="none" strike="noStrike" kern="1200" cap="none" spc="0" baseline="0">
                <a:solidFill>
                  <a:srgbClr val="000000"/>
                </a:solidFill>
                <a:uFillTx/>
                <a:latin typeface="Times New Roman"/>
                <a:ea typeface="DejaVu Sans"/>
                <a:cs typeface="DejaVu Sans"/>
              </a:rPr>
              <a:t> </a:t>
            </a:r>
          </a:p>
        </p:txBody>
      </p:sp>
      <p:sp>
        <p:nvSpPr>
          <p:cNvPr id="6" name="PlaceHolder 6"/>
          <p:cNvSpPr txBox="1"/>
          <p:nvPr/>
        </p:nvSpPr>
        <p:spPr>
          <a:xfrm>
            <a:off x="4278962" y="10157402"/>
            <a:ext cx="3280684" cy="534238"/>
          </a:xfrm>
          <a:prstGeom prst="rect">
            <a:avLst/>
          </a:prstGeom>
          <a:noFill/>
          <a:ln cap="flat">
            <a:noFill/>
          </a:ln>
        </p:spPr>
        <p:txBody>
          <a:bodyPr vert="horz" wrap="square" lIns="0" tIns="0" rIns="0" bIns="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DE987344-87D2-4378-B515-02D8BB7DEC3A}" type="slidenum">
              <a:t>30</a:t>
            </a:fld>
            <a:endParaRPr lang="pl-PL" sz="1400" b="0" i="0" u="none" strike="noStrike" kern="1200" cap="none" spc="0" baseline="0">
              <a:solidFill>
                <a:srgbClr val="000000"/>
              </a:solidFill>
              <a:uFillTx/>
              <a:latin typeface="Times New Roman"/>
              <a:ea typeface="DejaVu Sans"/>
              <a:cs typeface="DejaVu Sans"/>
            </a:endParaRPr>
          </a:p>
        </p:txBody>
      </p:sp>
      <p:sp>
        <p:nvSpPr>
          <p:cNvPr id="7" name="Symbol zastępczy numeru slajdu 6"/>
          <p:cNvSpPr txBox="1"/>
          <p:nvPr/>
        </p:nvSpPr>
        <p:spPr>
          <a:xfrm>
            <a:off x="4278962" y="10157402"/>
            <a:ext cx="3280684" cy="534238"/>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F377090B-6499-4ADA-AC6B-8E467E152C6D}" type="slidenum">
              <a:t>30</a:t>
            </a:fld>
            <a:endParaRPr lang="pl-PL" sz="1400" b="0" i="0" u="none" strike="noStrike" kern="1200" cap="none" spc="0" baseline="0">
              <a:solidFill>
                <a:srgbClr val="000000"/>
              </a:solidFill>
              <a:uFillTx/>
              <a:latin typeface="Times New Roman"/>
              <a:ea typeface="DejaVu Sans"/>
              <a:cs typeface="DejaVu Sans"/>
            </a:endParaRPr>
          </a:p>
        </p:txBody>
      </p:sp>
      <p:sp>
        <p:nvSpPr>
          <p:cNvPr id="8" name="PlaceHolder 1"/>
          <p:cNvSpPr>
            <a:spLocks noGrp="1" noRot="1" noChangeAspect="1"/>
          </p:cNvSpPr>
          <p:nvPr>
            <p:ph type="sldImg"/>
          </p:nvPr>
        </p:nvSpPr>
        <p:spPr>
          <a:xfrm>
            <a:off x="685800" y="1143000"/>
            <a:ext cx="5486400" cy="3086100"/>
          </a:xfrm>
          <a:solidFill>
            <a:srgbClr val="5B9BD5"/>
          </a:solidFill>
          <a:ln w="12600" cap="flat">
            <a:solidFill>
              <a:srgbClr val="41719C"/>
            </a:solidFill>
            <a:prstDash val="solid"/>
            <a:miter/>
          </a:ln>
        </p:spPr>
      </p:sp>
      <p:sp>
        <p:nvSpPr>
          <p:cNvPr id="9" name="PlaceHolder 2"/>
          <p:cNvSpPr txBox="1">
            <a:spLocks noGrp="1"/>
          </p:cNvSpPr>
          <p:nvPr>
            <p:ph type="body" sz="quarter" idx="1"/>
          </p:nvPr>
        </p:nvSpPr>
        <p:spPr>
          <a:xfrm>
            <a:off x="685800" y="4400641"/>
            <a:ext cx="5485677" cy="3599636"/>
          </a:xfrm>
        </p:spPr>
        <p:txBody>
          <a:bodyPr/>
          <a:lstStyle/>
          <a:p>
            <a:pPr lvl="0"/>
            <a:endParaRPr lang="pl-PL" dirty="0"/>
          </a:p>
        </p:txBody>
      </p:sp>
      <p:sp>
        <p:nvSpPr>
          <p:cNvPr id="10" name="PlaceHolder 3"/>
          <p:cNvSpPr txBox="1"/>
          <p:nvPr/>
        </p:nvSpPr>
        <p:spPr>
          <a:xfrm>
            <a:off x="3884755" y="8685364"/>
            <a:ext cx="2971077" cy="457922"/>
          </a:xfrm>
          <a:prstGeom prst="rect">
            <a:avLst/>
          </a:prstGeom>
          <a:noFill/>
          <a:ln cap="flat">
            <a:noFill/>
          </a:ln>
        </p:spPr>
        <p:txBody>
          <a:bodyPr vert="horz" wrap="square" lIns="91440" tIns="45720" rIns="91440" bIns="45720" anchor="b" anchorCtr="0" compatLnSpc="0">
            <a:noAutofit/>
          </a:bodyPr>
          <a:lstStyle/>
          <a:p>
            <a:pPr marL="0" marR="0" lvl="0" indent="0" algn="r" defTabSz="914400" rtl="0" fontAlgn="auto" hangingPunct="1">
              <a:lnSpc>
                <a:spcPct val="100000"/>
              </a:lnSpc>
              <a:spcBef>
                <a:spcPts val="0"/>
              </a:spcBef>
              <a:spcAft>
                <a:spcPts val="0"/>
              </a:spcAft>
              <a:buNone/>
              <a:tabLst>
                <a:tab pos="0" algn="l"/>
              </a:tabLst>
              <a:defRPr sz="1800" b="0" i="0" u="none" strike="noStrike" kern="0" cap="none" spc="0" baseline="0">
                <a:solidFill>
                  <a:srgbClr val="000000"/>
                </a:solidFill>
                <a:uFillTx/>
              </a:defRPr>
            </a:pPr>
            <a:fld id="{23CAB361-95AC-4FCF-B96B-9605CAA6018D}" type="slidenum">
              <a:t>30</a:t>
            </a:fld>
            <a:endParaRPr lang="pl-PL" sz="1200" b="0" i="0" u="none" strike="noStrike" kern="1200" cap="none" spc="0" baseline="0">
              <a:solidFill>
                <a:srgbClr val="000000"/>
              </a:solidFill>
              <a:uFillTx/>
              <a:latin typeface="Arial" pitchFamily="18"/>
              <a:ea typeface="DejaVu Sans" pitchFamily="2"/>
              <a:cs typeface="DejaVu Sans" pitchFamily="2"/>
            </a:endParaRPr>
          </a:p>
        </p:txBody>
      </p:sp>
      <p:sp>
        <p:nvSpPr>
          <p:cNvPr id="11" name="Symbol zastępczy numeru slajdu 4"/>
          <p:cNvSpPr txBox="1"/>
          <p:nvPr/>
        </p:nvSpPr>
        <p:spPr>
          <a:xfrm>
            <a:off x="4278962" y="10157402"/>
            <a:ext cx="3280684" cy="534238"/>
          </a:xfrm>
          <a:prstGeom prst="rect">
            <a:avLst/>
          </a:prstGeom>
          <a:noFill/>
          <a:ln cap="flat">
            <a:noFill/>
          </a:ln>
        </p:spPr>
        <p:txBody>
          <a:bodyPr vert="horz" wrap="square" lIns="0" tIns="0" rIns="0" bIns="0" anchor="b" anchorCtr="0" compatLnSpc="0">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7735B480-BD10-4031-BC77-D159A55BF4D1}" type="slidenum">
              <a:t>30</a:t>
            </a:fld>
            <a:endParaRPr lang="pl-PL" sz="1400" b="0" i="0" u="none" strike="noStrike" kern="1200" cap="none" spc="0" baseline="0">
              <a:solidFill>
                <a:srgbClr val="000000"/>
              </a:solidFill>
              <a:uFillTx/>
              <a:latin typeface="Times New Roman" pitchFamily="18"/>
              <a:ea typeface="DejaVu Sans" pitchFamily="2"/>
              <a:cs typeface="DejaVu Sans" pitchFamily="2"/>
            </a:endParaRPr>
          </a:p>
        </p:txBody>
      </p:sp>
    </p:spTree>
    <p:extLst>
      <p:ext uri="{BB962C8B-B14F-4D97-AF65-F5344CB8AC3E}">
        <p14:creationId xmlns:p14="http://schemas.microsoft.com/office/powerpoint/2010/main" val="38809338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1450" y="1143000"/>
            <a:ext cx="5486400" cy="3086100"/>
          </a:xfrm>
        </p:spPr>
      </p:sp>
      <p:sp>
        <p:nvSpPr>
          <p:cNvPr id="3" name="Notes Placeholder 2"/>
          <p:cNvSpPr txBox="1">
            <a:spLocks noGrp="1"/>
          </p:cNvSpPr>
          <p:nvPr>
            <p:ph type="body" sz="quarter" idx="1"/>
          </p:nvPr>
        </p:nvSpPr>
        <p:spPr/>
        <p:txBody>
          <a:bodyPr/>
          <a:lstStyle/>
          <a:p>
            <a:r>
              <a:rPr lang="pl-PL" dirty="0" smtClean="0"/>
              <a:t>Na końcu wykładu patrzymy w przyszłość. Widzimy wyraźnie, że rośnie znaczenie multimodalnych LLM, generatywnej empatii, ciągłego </a:t>
            </a:r>
            <a:r>
              <a:rPr lang="pl-PL" dirty="0" err="1" smtClean="0"/>
              <a:t>passive</a:t>
            </a:r>
            <a:r>
              <a:rPr lang="pl-PL" dirty="0" smtClean="0"/>
              <a:t> </a:t>
            </a:r>
            <a:r>
              <a:rPr lang="pl-PL" dirty="0" err="1" smtClean="0"/>
              <a:t>sensingu</a:t>
            </a:r>
            <a:r>
              <a:rPr lang="pl-PL" dirty="0" smtClean="0"/>
              <a:t> oraz połączenia modeli neuronowych z regułami psychologicznymi i symbolicznym rozumowaniem. Jednocześnie przyszłość tej dziedziny nie zależy wyłącznie od postępu modeli. Równie istotne będą regulacje, </a:t>
            </a:r>
            <a:r>
              <a:rPr lang="pl-PL" dirty="0" err="1" smtClean="0"/>
              <a:t>explainability</a:t>
            </a:r>
            <a:r>
              <a:rPr lang="pl-PL" dirty="0" smtClean="0"/>
              <a:t>, architektury </a:t>
            </a:r>
            <a:r>
              <a:rPr lang="pl-PL" dirty="0" err="1" smtClean="0"/>
              <a:t>privacy-first</a:t>
            </a:r>
            <a:r>
              <a:rPr lang="pl-PL" dirty="0" smtClean="0"/>
              <a:t> i społeczna akceptowalność systemów afektywnych. Warto zakończyć wykład bardzo wyraźnym komunikatem: emocje są danymi wielowymiarowymi, wrażliwymi i trudnymi interpretacyjnie, dlatego system afektywny musi być nie tylko skuteczny, ale też </a:t>
            </a:r>
            <a:r>
              <a:rPr lang="pl-PL" dirty="0" err="1" smtClean="0"/>
              <a:t>epistemicznie</a:t>
            </a:r>
            <a:r>
              <a:rPr lang="pl-PL" dirty="0" smtClean="0"/>
              <a:t> ostrożny, etyczny i zgodny z prawem. Ciekawostką końcową może być obserwacja, że telefon coraz bardziej staje się platformą AI on-</a:t>
            </a:r>
            <a:r>
              <a:rPr lang="pl-PL" dirty="0" err="1" smtClean="0"/>
              <a:t>device</a:t>
            </a:r>
            <a:r>
              <a:rPr lang="pl-PL" dirty="0" smtClean="0"/>
              <a:t>, a to oznacza, że emocjonalna warstwa interakcji będzie prawdopodobnie coraz mniej widoczna, ale coraz bardziej obecna w tle codziennego korzystania z technologii. </a:t>
            </a:r>
            <a:endParaRPr lang="pl-PL" dirty="0"/>
          </a:p>
        </p:txBody>
      </p:sp>
      <p:sp>
        <p:nvSpPr>
          <p:cNvPr id="4" name="Slide Number Placeholder 3"/>
          <p:cNvSpPr txBox="1"/>
          <p:nvPr/>
        </p:nvSpPr>
        <p:spPr>
          <a:xfrm>
            <a:off x="2913058" y="8685208"/>
            <a:ext cx="2228850" cy="458791"/>
          </a:xfrm>
          <a:prstGeom prst="rect">
            <a:avLst/>
          </a:prstGeom>
          <a:noFill/>
          <a:ln cap="flat">
            <a:noFill/>
          </a:ln>
        </p:spPr>
        <p:txBody>
          <a:bodyPr vert="horz" wrap="square" lIns="91440" tIns="45720" rIns="91440" bIns="45720" anchor="b"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fld id="{2DBFA8D8-90B3-4287-AC2D-6CAF301EAAF9}" type="slidenum">
              <a:t>31</a:t>
            </a:fld>
            <a:endParaRPr lang="en-US" sz="1200" b="0" i="0" u="none" strike="noStrike" kern="1200" cap="none" spc="0" baseline="0">
              <a:solidFill>
                <a:srgbClr val="000000"/>
              </a:solidFill>
              <a:uFillTx/>
              <a:latin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354306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Pusty">
    <p:spTree>
      <p:nvGrpSpPr>
        <p:cNvPr id="1" name=""/>
        <p:cNvGrpSpPr/>
        <p:nvPr/>
      </p:nvGrpSpPr>
      <p:grpSpPr>
        <a:xfrm>
          <a:off x="0" y="0"/>
          <a:ext cx="0" cy="0"/>
          <a:chOff x="0" y="0"/>
          <a:chExt cx="0" cy="0"/>
        </a:xfrm>
      </p:grpSpPr>
      <p:sp>
        <p:nvSpPr>
          <p:cNvPr id="2" name="Date Placeholder 1"/>
          <p:cNvSpPr txBox="1">
            <a:spLocks noGrp="1"/>
          </p:cNvSpPr>
          <p:nvPr>
            <p:ph type="dt" sz="half" idx="7"/>
          </p:nvPr>
        </p:nvSpPr>
        <p:spPr/>
        <p:txBody>
          <a:bodyPr/>
          <a:lstStyle>
            <a:lvl1pPr>
              <a:defRPr/>
            </a:lvl1pPr>
          </a:lstStyle>
          <a:p>
            <a:pPr lvl="0"/>
            <a:fld id="{62B79A43-A7D5-4E89-BD94-1400EA4C8D80}" type="datetime1">
              <a:rPr lang="en-US"/>
              <a:pPr lvl="0"/>
              <a:t>3/13/2026</a:t>
            </a:fld>
            <a:endParaRPr lang="en-US"/>
          </a:p>
        </p:txBody>
      </p:sp>
      <p:sp>
        <p:nvSpPr>
          <p:cNvPr id="3" name="Footer Placeholder 2"/>
          <p:cNvSpPr txBox="1">
            <a:spLocks noGrp="1"/>
          </p:cNvSpPr>
          <p:nvPr>
            <p:ph type="ftr" sz="quarter" idx="9"/>
          </p:nvPr>
        </p:nvSpPr>
        <p:spPr/>
        <p:txBody>
          <a:bodyPr/>
          <a:lstStyle>
            <a:lvl1pPr>
              <a:defRPr/>
            </a:lvl1pPr>
          </a:lstStyle>
          <a:p>
            <a:pPr lvl="0"/>
            <a:endParaRPr lang="pl-PL"/>
          </a:p>
        </p:txBody>
      </p:sp>
      <p:sp>
        <p:nvSpPr>
          <p:cNvPr id="4" name="Slide Number Placeholder 3"/>
          <p:cNvSpPr txBox="1">
            <a:spLocks noGrp="1"/>
          </p:cNvSpPr>
          <p:nvPr>
            <p:ph type="sldNum" sz="quarter" idx="8"/>
          </p:nvPr>
        </p:nvSpPr>
        <p:spPr/>
        <p:txBody>
          <a:bodyPr/>
          <a:lstStyle>
            <a:lvl1pPr>
              <a:defRPr/>
            </a:lvl1pPr>
          </a:lstStyle>
          <a:p>
            <a:pPr lvl="0"/>
            <a:fld id="{13A62DEA-6991-4228-8A97-08829B731F0B}" type="slidenum">
              <a:t>‹#›</a:t>
            </a:fld>
            <a:endParaRPr lang="en-US"/>
          </a:p>
        </p:txBody>
      </p:sp>
      <p:sp>
        <p:nvSpPr>
          <p:cNvPr id="5" name="Tytuł 4"/>
          <p:cNvSpPr txBox="1">
            <a:spLocks noGrp="1"/>
          </p:cNvSpPr>
          <p:nvPr>
            <p:ph type="title" idx="4294967295"/>
          </p:nvPr>
        </p:nvSpPr>
        <p:spPr>
          <a:xfrm>
            <a:off x="457200" y="205200"/>
            <a:ext cx="8229243" cy="858237"/>
          </a:xfrm>
        </p:spPr>
        <p:txBody>
          <a:bodyPr lIns="0" tIns="0" rIns="0" bIns="0" anchorCtr="1"/>
          <a:lstStyle>
            <a:lvl1pPr algn="ctr" hangingPunct="0">
              <a:defRPr sz="4400">
                <a:latin typeface="Liberation Sans" pitchFamily="18"/>
              </a:defRPr>
            </a:lvl1pPr>
          </a:lstStyle>
          <a:p>
            <a:pPr lvl="0"/>
            <a:endParaRPr lang="pl-PL"/>
          </a:p>
        </p:txBody>
      </p:sp>
      <p:sp>
        <p:nvSpPr>
          <p:cNvPr id="6" name="Symbol zastępczy tekstu 5"/>
          <p:cNvSpPr txBox="1">
            <a:spLocks noGrp="1"/>
          </p:cNvSpPr>
          <p:nvPr>
            <p:ph type="body" idx="4294967295"/>
          </p:nvPr>
        </p:nvSpPr>
        <p:spPr>
          <a:xfrm>
            <a:off x="457200" y="1203478"/>
            <a:ext cx="8229243" cy="2982599"/>
          </a:xfrm>
        </p:spPr>
        <p:txBody>
          <a:bodyPr lIns="0" tIns="0" rIns="0" bIns="0"/>
          <a:lstStyle>
            <a:lvl1pPr hangingPunct="0">
              <a:spcBef>
                <a:spcPts val="1415"/>
              </a:spcBef>
              <a:defRPr sz="3200">
                <a:latin typeface="Liberation Sans" pitchFamily="18"/>
              </a:defRPr>
            </a:lvl1pPr>
          </a:lstStyle>
          <a:p>
            <a:pPr lvl="0"/>
            <a:endParaRPr lang="pl-PL"/>
          </a:p>
        </p:txBody>
      </p:sp>
    </p:spTree>
    <p:extLst>
      <p:ext uri="{BB962C8B-B14F-4D97-AF65-F5344CB8AC3E}">
        <p14:creationId xmlns:p14="http://schemas.microsoft.com/office/powerpoint/2010/main" val="217681343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mc:Choice xmlns:p14="http://schemas.microsoft.com/office/powerpoint/2010/main" Requires="p14">
      <p:transition spd="slow" p14:dur="2000"/>
    </mc:Choice>
    <mc:Fallback>
      <p:transition spd="slow"/>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matpomgit.github.io/MobileHub/#affective-computing" TargetMode="Externa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4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053C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 name="Shape 1"/>
          <p:cNvSpPr/>
          <p:nvPr/>
        </p:nvSpPr>
        <p:spPr>
          <a:xfrm>
            <a:off x="5166359" y="0"/>
            <a:ext cx="3977639" cy="5143499"/>
          </a:xfrm>
          <a:prstGeom prst="rect">
            <a:avLst/>
          </a:prstGeom>
          <a:solidFill>
            <a:srgbClr val="111931"/>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 name="Shape 2"/>
          <p:cNvSpPr/>
          <p:nvPr/>
        </p:nvSpPr>
        <p:spPr>
          <a:xfrm>
            <a:off x="5148072" y="0"/>
            <a:ext cx="45720" cy="5143499"/>
          </a:xfrm>
          <a:prstGeom prst="rect">
            <a:avLst/>
          </a:prstGeom>
          <a:solidFill>
            <a:srgbClr val="2053C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 name="Text 3"/>
          <p:cNvSpPr/>
          <p:nvPr/>
        </p:nvSpPr>
        <p:spPr>
          <a:xfrm>
            <a:off x="548640" y="658368"/>
            <a:ext cx="4389120" cy="3291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1" i="0" u="none" strike="noStrike" kern="0" cap="none" spc="500" baseline="0" dirty="0">
                <a:solidFill>
                  <a:srgbClr val="ADC1E5"/>
                </a:solidFill>
                <a:uFillTx/>
                <a:latin typeface="Calibri"/>
                <a:ea typeface="Calibri"/>
                <a:cs typeface="Calibri"/>
              </a:rPr>
              <a:t>WYKŁAD 8</a:t>
            </a:r>
            <a:endParaRPr lang="en-US" sz="1600" b="0" i="0" u="none" strike="noStrike" kern="1200" cap="none" spc="0" baseline="0" dirty="0">
              <a:solidFill>
                <a:srgbClr val="ADC1E5"/>
              </a:solidFill>
              <a:uFillTx/>
              <a:latin typeface="Calibri"/>
            </a:endParaRPr>
          </a:p>
        </p:txBody>
      </p:sp>
      <p:sp>
        <p:nvSpPr>
          <p:cNvPr id="6" name="Text 4"/>
          <p:cNvSpPr/>
          <p:nvPr/>
        </p:nvSpPr>
        <p:spPr>
          <a:xfrm>
            <a:off x="378973" y="961619"/>
            <a:ext cx="4558786" cy="1732714"/>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000" b="1" i="0" u="none" strike="noStrike" kern="1200" cap="none" spc="0" baseline="0" dirty="0" err="1">
                <a:solidFill>
                  <a:srgbClr val="FFFFFF"/>
                </a:solidFill>
                <a:uFillTx/>
                <a:latin typeface="Cambria"/>
                <a:ea typeface="Cambria"/>
                <a:cs typeface="Cambria" pitchFamily="34"/>
              </a:rPr>
              <a:t>Informatyka</a:t>
            </a:r>
            <a:r>
              <a:rPr lang="en-US" sz="3000" b="1" i="0" u="none" strike="noStrike" kern="1200" cap="none" spc="0" baseline="0" dirty="0">
                <a:solidFill>
                  <a:srgbClr val="FFFFFF"/>
                </a:solidFill>
                <a:uFillTx/>
                <a:latin typeface="Cambria"/>
                <a:ea typeface="Cambria"/>
                <a:cs typeface="Cambria" pitchFamily="34"/>
              </a:rPr>
              <a:t> </a:t>
            </a:r>
            <a:r>
              <a:rPr lang="en-US" sz="3000" b="1" i="0" u="none" strike="noStrike" kern="1200" cap="none" spc="0" baseline="0" dirty="0" err="1">
                <a:solidFill>
                  <a:srgbClr val="FFFFFF"/>
                </a:solidFill>
                <a:uFillTx/>
                <a:latin typeface="Cambria"/>
                <a:ea typeface="Cambria"/>
                <a:cs typeface="Cambria" pitchFamily="34"/>
              </a:rPr>
              <a:t>afektywna</a:t>
            </a:r>
            <a:endParaRPr lang="en-US" sz="3000" b="0" i="0" u="none" strike="noStrike" kern="1200" cap="none" spc="0" baseline="0" dirty="0">
              <a:solidFill>
                <a:srgbClr val="000000"/>
              </a:solidFill>
              <a:uFillTx/>
              <a:latin typeface="Calibri"/>
              <a:ea typeface="Calibri"/>
              <a:cs typeface="Calibri"/>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000" b="1" i="0" u="none" strike="noStrike" kern="1200" cap="none" spc="0" baseline="0" dirty="0">
                <a:solidFill>
                  <a:srgbClr val="FFFFFF"/>
                </a:solidFill>
                <a:uFillTx/>
                <a:latin typeface="Cambria"/>
                <a:ea typeface="Cambria"/>
                <a:cs typeface="Cambria" pitchFamily="34"/>
              </a:rPr>
              <a:t>w </a:t>
            </a:r>
            <a:r>
              <a:rPr lang="en-US" sz="3000" b="1" i="0" u="none" strike="noStrike" kern="1200" cap="none" spc="0" baseline="0" dirty="0" err="1">
                <a:solidFill>
                  <a:srgbClr val="FFFFFF"/>
                </a:solidFill>
                <a:uFillTx/>
                <a:latin typeface="Cambria"/>
                <a:ea typeface="Cambria"/>
                <a:cs typeface="Cambria" pitchFamily="34"/>
              </a:rPr>
              <a:t>aplikacjach</a:t>
            </a:r>
            <a:r>
              <a:rPr lang="en-US" sz="3000" b="1" i="0" u="none" strike="noStrike" kern="1200" cap="none" spc="0" baseline="0" dirty="0">
                <a:solidFill>
                  <a:srgbClr val="FFFFFF"/>
                </a:solidFill>
                <a:uFillTx/>
                <a:latin typeface="Cambria"/>
                <a:ea typeface="Cambria"/>
                <a:cs typeface="Cambria" pitchFamily="34"/>
              </a:rPr>
              <a:t> </a:t>
            </a:r>
            <a:r>
              <a:rPr lang="en-US" sz="3000" b="1" i="0" u="none" strike="noStrike" kern="1200" cap="none" spc="0" baseline="0" dirty="0" err="1">
                <a:solidFill>
                  <a:srgbClr val="FFFFFF"/>
                </a:solidFill>
                <a:uFillTx/>
                <a:latin typeface="Cambria"/>
                <a:ea typeface="Cambria"/>
                <a:cs typeface="Cambria" pitchFamily="34"/>
              </a:rPr>
              <a:t>mobilnych</a:t>
            </a:r>
            <a:endParaRPr lang="en-US" sz="3000" b="0" i="0" u="none" strike="noStrike" kern="1200" cap="none" spc="0" baseline="0" dirty="0">
              <a:solidFill>
                <a:srgbClr val="000000"/>
              </a:solidFill>
              <a:uFillTx/>
              <a:latin typeface="Cambria"/>
              <a:ea typeface="Cambria"/>
            </a:endParaRPr>
          </a:p>
        </p:txBody>
      </p:sp>
      <p:sp>
        <p:nvSpPr>
          <p:cNvPr id="7" name="Shape 5"/>
          <p:cNvSpPr/>
          <p:nvPr/>
        </p:nvSpPr>
        <p:spPr>
          <a:xfrm>
            <a:off x="548640" y="2980944"/>
            <a:ext cx="1280160" cy="36576"/>
          </a:xfrm>
          <a:prstGeom prst="rect">
            <a:avLst/>
          </a:prstGeom>
          <a:solidFill>
            <a:srgbClr val="0070C0"/>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8" name="Text 6"/>
          <p:cNvSpPr/>
          <p:nvPr/>
        </p:nvSpPr>
        <p:spPr>
          <a:xfrm>
            <a:off x="548640" y="3072384"/>
            <a:ext cx="43891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150" b="0" i="0" u="none" strike="noStrike" kern="1200" cap="none" spc="0" baseline="0" dirty="0" smtClean="0">
                <a:solidFill>
                  <a:srgbClr val="CADCFC"/>
                </a:solidFill>
                <a:uFillTx/>
                <a:latin typeface="Calibri" pitchFamily="34"/>
                <a:ea typeface="Calibri" pitchFamily="34"/>
                <a:cs typeface="Calibri" pitchFamily="34"/>
              </a:rPr>
              <a:t>Programowanie</a:t>
            </a:r>
            <a:r>
              <a:rPr lang="en-US" sz="1150" b="0" i="0" u="none" strike="noStrike" kern="1200" cap="none" spc="0" baseline="0" dirty="0" smtClean="0">
                <a:solidFill>
                  <a:srgbClr val="CADCFC"/>
                </a:solidFill>
                <a:uFillTx/>
                <a:latin typeface="Calibri" pitchFamily="34"/>
                <a:ea typeface="Calibri" pitchFamily="34"/>
                <a:cs typeface="Calibri" pitchFamily="34"/>
              </a:rPr>
              <a:t> </a:t>
            </a:r>
            <a:r>
              <a:rPr lang="en-US" sz="1150" b="0" i="0" u="none" strike="noStrike" kern="1200" cap="none" spc="0" baseline="0" dirty="0" err="1" smtClean="0">
                <a:solidFill>
                  <a:srgbClr val="CADCFC"/>
                </a:solidFill>
                <a:uFillTx/>
                <a:latin typeface="Calibri" pitchFamily="34"/>
                <a:ea typeface="Calibri" pitchFamily="34"/>
                <a:cs typeface="Calibri" pitchFamily="34"/>
              </a:rPr>
              <a:t>Aplikacj</a:t>
            </a:r>
            <a:r>
              <a:rPr lang="pl-PL" sz="1150" b="0" i="0" u="none" strike="noStrike" kern="1200" cap="none" spc="0" baseline="0" dirty="0" smtClean="0">
                <a:solidFill>
                  <a:srgbClr val="CADCFC"/>
                </a:solidFill>
                <a:uFillTx/>
                <a:latin typeface="Calibri" pitchFamily="34"/>
                <a:ea typeface="Calibri" pitchFamily="34"/>
                <a:cs typeface="Calibri" pitchFamily="34"/>
              </a:rPr>
              <a:t>i</a:t>
            </a:r>
            <a:r>
              <a:rPr lang="en-US" sz="1150" b="0" i="0" u="none" strike="noStrike" kern="1200" cap="none" spc="0" baseline="0" dirty="0" smtClean="0">
                <a:solidFill>
                  <a:srgbClr val="CADCFC"/>
                </a:solidFill>
                <a:uFillTx/>
                <a:latin typeface="Calibri" pitchFamily="34"/>
                <a:ea typeface="Calibri" pitchFamily="34"/>
                <a:cs typeface="Calibri" pitchFamily="34"/>
              </a:rPr>
              <a:t> </a:t>
            </a:r>
            <a:r>
              <a:rPr lang="en-US" sz="1150" b="0" i="0" u="none" strike="noStrike" kern="1200" cap="none" spc="0" baseline="0" dirty="0" err="1" smtClean="0">
                <a:solidFill>
                  <a:srgbClr val="CADCFC"/>
                </a:solidFill>
                <a:uFillTx/>
                <a:latin typeface="Calibri" pitchFamily="34"/>
                <a:ea typeface="Calibri" pitchFamily="34"/>
                <a:cs typeface="Calibri" pitchFamily="34"/>
              </a:rPr>
              <a:t>Mobiln</a:t>
            </a:r>
            <a:r>
              <a:rPr lang="pl-PL" sz="1150" b="0" i="0" u="none" strike="noStrike" kern="1200" cap="none" spc="0" baseline="0" dirty="0" err="1" smtClean="0">
                <a:solidFill>
                  <a:srgbClr val="CADCFC"/>
                </a:solidFill>
                <a:uFillTx/>
                <a:latin typeface="Calibri" pitchFamily="34"/>
                <a:ea typeface="Calibri" pitchFamily="34"/>
                <a:cs typeface="Calibri" pitchFamily="34"/>
              </a:rPr>
              <a:t>ych</a:t>
            </a:r>
            <a:endParaRPr lang="en-US" sz="1150" b="0" i="0" u="none" strike="noStrike" kern="1200" cap="none" spc="0" baseline="0" dirty="0">
              <a:solidFill>
                <a:srgbClr val="000000"/>
              </a:solidFill>
              <a:uFillTx/>
              <a:latin typeface="Calibri"/>
            </a:endParaRPr>
          </a:p>
        </p:txBody>
      </p:sp>
      <p:sp>
        <p:nvSpPr>
          <p:cNvPr id="9" name="Text 7"/>
          <p:cNvSpPr/>
          <p:nvPr/>
        </p:nvSpPr>
        <p:spPr>
          <a:xfrm>
            <a:off x="548640" y="3319272"/>
            <a:ext cx="43891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150" b="0" i="0" u="none" strike="noStrike" kern="1200" cap="none" spc="0" baseline="0" dirty="0" smtClean="0">
                <a:solidFill>
                  <a:schemeClr val="accent5">
                    <a:lumMod val="75000"/>
                  </a:schemeClr>
                </a:solidFill>
                <a:uFillTx/>
                <a:latin typeface="Calibri"/>
              </a:rPr>
              <a:t>dr inż. Mateusz Pomianek</a:t>
            </a:r>
            <a:endParaRPr lang="en-US" sz="1150" b="0" i="0" u="none" strike="noStrike" kern="1200" cap="none" spc="0" baseline="0" dirty="0">
              <a:solidFill>
                <a:schemeClr val="accent5">
                  <a:lumMod val="75000"/>
                </a:schemeClr>
              </a:solidFill>
              <a:uFillTx/>
              <a:latin typeface="Calibri"/>
            </a:endParaRPr>
          </a:p>
        </p:txBody>
      </p:sp>
      <p:sp>
        <p:nvSpPr>
          <p:cNvPr id="10" name="Text 8"/>
          <p:cNvSpPr/>
          <p:nvPr/>
        </p:nvSpPr>
        <p:spPr>
          <a:xfrm>
            <a:off x="548640" y="3611879"/>
            <a:ext cx="43891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6B7280"/>
                </a:solidFill>
                <a:uFillTx/>
                <a:latin typeface="Calibri" pitchFamily="34"/>
                <a:ea typeface="Calibri" pitchFamily="34"/>
                <a:cs typeface="Calibri" pitchFamily="34"/>
              </a:rPr>
              <a:t>Emocje · ML On-Device · Prywatność · UX Adaptacja</a:t>
            </a:r>
            <a:endParaRPr lang="en-US" sz="1050" b="0" i="0" u="none" strike="noStrike" kern="1200" cap="none" spc="0" baseline="0">
              <a:solidFill>
                <a:srgbClr val="000000"/>
              </a:solidFill>
              <a:uFillTx/>
              <a:latin typeface="Calibri"/>
            </a:endParaRPr>
          </a:p>
        </p:txBody>
      </p:sp>
      <p:sp>
        <p:nvSpPr>
          <p:cNvPr id="11" name="Shape 9"/>
          <p:cNvSpPr/>
          <p:nvPr/>
        </p:nvSpPr>
        <p:spPr>
          <a:xfrm>
            <a:off x="5376672" y="749808"/>
            <a:ext cx="45720" cy="402336"/>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2" name="Text 10"/>
          <p:cNvSpPr/>
          <p:nvPr/>
        </p:nvSpPr>
        <p:spPr>
          <a:xfrm>
            <a:off x="5541264" y="749808"/>
            <a:ext cx="3401568" cy="4023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pitchFamily="34"/>
                <a:ea typeface="Calibri" pitchFamily="34"/>
                <a:cs typeface="Calibri" pitchFamily="34"/>
              </a:rPr>
              <a:t>Modele emocji i sygnały afektywne</a:t>
            </a:r>
            <a:endParaRPr lang="en-US" sz="1600" b="0" i="0" u="none" strike="noStrike" kern="1200" cap="none" spc="0" baseline="0">
              <a:solidFill>
                <a:srgbClr val="000000"/>
              </a:solidFill>
              <a:uFillTx/>
              <a:latin typeface="Calibri"/>
            </a:endParaRPr>
          </a:p>
        </p:txBody>
      </p:sp>
      <p:sp>
        <p:nvSpPr>
          <p:cNvPr id="13" name="Shape 11"/>
          <p:cNvSpPr/>
          <p:nvPr/>
        </p:nvSpPr>
        <p:spPr>
          <a:xfrm>
            <a:off x="5376672" y="1517904"/>
            <a:ext cx="45720" cy="402336"/>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5541264" y="1517904"/>
            <a:ext cx="3401568" cy="4023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pitchFamily="34"/>
                <a:ea typeface="Calibri" pitchFamily="34"/>
                <a:cs typeface="Calibri" pitchFamily="34"/>
              </a:rPr>
              <a:t>Rozpoznawanie mimiki i mowy</a:t>
            </a:r>
            <a:endParaRPr lang="en-US" sz="1600" b="0" i="0" u="none" strike="noStrike" kern="1200" cap="none" spc="0" baseline="0">
              <a:solidFill>
                <a:srgbClr val="000000"/>
              </a:solidFill>
              <a:uFillTx/>
              <a:latin typeface="Calibri"/>
            </a:endParaRPr>
          </a:p>
        </p:txBody>
      </p:sp>
      <p:sp>
        <p:nvSpPr>
          <p:cNvPr id="15" name="Shape 13"/>
          <p:cNvSpPr/>
          <p:nvPr/>
        </p:nvSpPr>
        <p:spPr>
          <a:xfrm>
            <a:off x="5376672" y="2286000"/>
            <a:ext cx="45720" cy="402336"/>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5541264" y="2286000"/>
            <a:ext cx="3401568" cy="4023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FFFFFF"/>
                </a:solidFill>
                <a:uFillTx/>
                <a:latin typeface="Calibri" pitchFamily="34"/>
                <a:ea typeface="Calibri" pitchFamily="34"/>
                <a:cs typeface="Calibri" pitchFamily="34"/>
              </a:rPr>
              <a:t>Fizjologia</a:t>
            </a:r>
            <a:r>
              <a:rPr lang="en-US" sz="1600" b="0" i="0" u="none" strike="noStrike" kern="1200" cap="none" spc="0" baseline="0" dirty="0">
                <a:solidFill>
                  <a:srgbClr val="FFFFFF"/>
                </a:solidFill>
                <a:uFillTx/>
                <a:latin typeface="Calibri" pitchFamily="34"/>
                <a:ea typeface="Calibri" pitchFamily="34"/>
                <a:cs typeface="Calibri" pitchFamily="34"/>
              </a:rPr>
              <a:t> </a:t>
            </a:r>
            <a:r>
              <a:rPr lang="en-US" sz="1600" b="0" i="0" u="none" strike="noStrike" kern="1200" cap="none" spc="0" baseline="0" dirty="0" err="1">
                <a:solidFill>
                  <a:srgbClr val="FFFFFF"/>
                </a:solidFill>
                <a:uFillTx/>
                <a:latin typeface="Calibri" pitchFamily="34"/>
                <a:ea typeface="Calibri" pitchFamily="34"/>
                <a:cs typeface="Calibri" pitchFamily="34"/>
              </a:rPr>
              <a:t>mobilna</a:t>
            </a:r>
            <a:r>
              <a:rPr lang="en-US" sz="1600" b="0" i="0" u="none" strike="noStrike" kern="1200" cap="none" spc="0" baseline="0" dirty="0">
                <a:solidFill>
                  <a:srgbClr val="FFFFFF"/>
                </a:solidFill>
                <a:uFillTx/>
                <a:latin typeface="Calibri" pitchFamily="34"/>
                <a:ea typeface="Calibri" pitchFamily="34"/>
                <a:cs typeface="Calibri" pitchFamily="34"/>
              </a:rPr>
              <a:t> </a:t>
            </a:r>
            <a:r>
              <a:rPr lang="pl-PL" sz="1600" b="0" i="0" u="none" strike="noStrike" kern="1200" cap="none" spc="0" baseline="0" dirty="0" smtClean="0">
                <a:solidFill>
                  <a:srgbClr val="FFFFFF"/>
                </a:solidFill>
                <a:uFillTx/>
                <a:latin typeface="Calibri" pitchFamily="34"/>
                <a:ea typeface="Calibri" pitchFamily="34"/>
                <a:cs typeface="Calibri" pitchFamily="34"/>
              </a:rPr>
              <a:t>i</a:t>
            </a:r>
            <a:r>
              <a:rPr lang="en-US" sz="1600" b="0" i="0" u="none" strike="noStrike" kern="1200" cap="none" spc="0" baseline="0" dirty="0" smtClean="0">
                <a:solidFill>
                  <a:srgbClr val="FFFFFF"/>
                </a:solidFill>
                <a:uFillTx/>
                <a:latin typeface="Calibri" pitchFamily="34"/>
                <a:ea typeface="Calibri" pitchFamily="34"/>
                <a:cs typeface="Calibri" pitchFamily="34"/>
              </a:rPr>
              <a:t> </a:t>
            </a:r>
            <a:r>
              <a:rPr lang="en-US" sz="1600" b="0" i="0" u="none" strike="noStrike" kern="1200" cap="none" spc="0" baseline="0" dirty="0">
                <a:solidFill>
                  <a:srgbClr val="FFFFFF"/>
                </a:solidFill>
                <a:uFillTx/>
                <a:latin typeface="Calibri" pitchFamily="34"/>
                <a:ea typeface="Calibri" pitchFamily="34"/>
                <a:cs typeface="Calibri" pitchFamily="34"/>
              </a:rPr>
              <a:t>EDA, PPG, IMU</a:t>
            </a:r>
            <a:endParaRPr lang="en-US" sz="1600" b="0" i="0" u="none" strike="noStrike" kern="1200" cap="none" spc="0" baseline="0" dirty="0">
              <a:solidFill>
                <a:srgbClr val="000000"/>
              </a:solidFill>
              <a:uFillTx/>
              <a:latin typeface="Calibri"/>
            </a:endParaRPr>
          </a:p>
        </p:txBody>
      </p:sp>
      <p:sp>
        <p:nvSpPr>
          <p:cNvPr id="17" name="Shape 15"/>
          <p:cNvSpPr/>
          <p:nvPr/>
        </p:nvSpPr>
        <p:spPr>
          <a:xfrm>
            <a:off x="5376672" y="3054096"/>
            <a:ext cx="45720" cy="402336"/>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5541264" y="3054096"/>
            <a:ext cx="3401568" cy="4023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pitchFamily="34"/>
                <a:ea typeface="Calibri" pitchFamily="34"/>
                <a:cs typeface="Calibri" pitchFamily="34"/>
              </a:rPr>
              <a:t>ML on-device: TFLite i CoreML</a:t>
            </a:r>
            <a:endParaRPr lang="en-US" sz="1600" b="0" i="0" u="none" strike="noStrike" kern="1200" cap="none" spc="0" baseline="0">
              <a:solidFill>
                <a:srgbClr val="000000"/>
              </a:solidFill>
              <a:uFillTx/>
              <a:latin typeface="Calibri"/>
            </a:endParaRPr>
          </a:p>
        </p:txBody>
      </p:sp>
      <p:sp>
        <p:nvSpPr>
          <p:cNvPr id="19" name="Shape 17"/>
          <p:cNvSpPr/>
          <p:nvPr/>
        </p:nvSpPr>
        <p:spPr>
          <a:xfrm>
            <a:off x="5376672" y="3822191"/>
            <a:ext cx="45720" cy="402336"/>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Text 18"/>
          <p:cNvSpPr/>
          <p:nvPr/>
        </p:nvSpPr>
        <p:spPr>
          <a:xfrm>
            <a:off x="5541264" y="3822191"/>
            <a:ext cx="3401568" cy="4023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a:solidFill>
                  <a:srgbClr val="FFFFFF"/>
                </a:solidFill>
                <a:uFillTx/>
                <a:latin typeface="Calibri" pitchFamily="34"/>
                <a:ea typeface="Calibri" pitchFamily="34"/>
                <a:cs typeface="Calibri" pitchFamily="34"/>
              </a:rPr>
              <a:t>Etyka, prywatność i zastosowania</a:t>
            </a:r>
            <a:endParaRPr lang="en-US" sz="1600" b="0" i="0" u="none" strike="noStrike" kern="1200" cap="none" spc="0" baseline="0">
              <a:solidFill>
                <a:srgbClr val="000000"/>
              </a:solidFill>
              <a:uFillTx/>
              <a:latin typeface="Calibri"/>
            </a:endParaRPr>
          </a:p>
        </p:txBody>
      </p:sp>
      <p:sp>
        <p:nvSpPr>
          <p:cNvPr id="21" name="Shape 19"/>
          <p:cNvSpPr/>
          <p:nvPr/>
        </p:nvSpPr>
        <p:spPr>
          <a:xfrm>
            <a:off x="0" y="4983480"/>
            <a:ext cx="9144000" cy="160020"/>
          </a:xfrm>
          <a:prstGeom prst="rect">
            <a:avLst/>
          </a:prstGeom>
          <a:solidFill>
            <a:srgbClr val="060310"/>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274320" y="4992624"/>
            <a:ext cx="8595360" cy="1463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Katedra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Informatyki</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 i Automatyki |</a:t>
            </a:r>
            <a:r>
              <a:rPr lang="en-US" sz="900" b="0" i="0" u="none" strike="noStrike" kern="1200" cap="none" spc="0" baseline="0" dirty="0" smtClean="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Informatyka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Afektywna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w </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a</a:t>
            </a:r>
            <a:r>
              <a:rPr lang="en-US" sz="900" b="0" i="0" u="none" strike="noStrike" kern="1200" cap="none" spc="0" baseline="0" dirty="0" err="1" smtClean="0">
                <a:solidFill>
                  <a:schemeClr val="accent5">
                    <a:lumMod val="75000"/>
                  </a:schemeClr>
                </a:solidFill>
                <a:uFillTx/>
                <a:latin typeface="Calibri" pitchFamily="34"/>
                <a:ea typeface="Calibri" pitchFamily="34"/>
                <a:cs typeface="Calibri" pitchFamily="34"/>
              </a:rPr>
              <a:t>plikacjach</a:t>
            </a:r>
            <a:r>
              <a:rPr lang="en-US" sz="900" b="0" i="0" u="none" strike="noStrike" kern="1200" cap="none" spc="0" baseline="0" dirty="0" smtClean="0">
                <a:solidFill>
                  <a:schemeClr val="accent5">
                    <a:lumMod val="75000"/>
                  </a:schemeClr>
                </a:solidFill>
                <a:uFillTx/>
                <a:latin typeface="Calibri" pitchFamily="34"/>
                <a:ea typeface="Calibri" pitchFamily="34"/>
                <a:cs typeface="Calibri" pitchFamily="34"/>
              </a:rPr>
              <a:t> </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m</a:t>
            </a:r>
            <a:r>
              <a:rPr lang="en-US" sz="900" b="0" i="0" u="none" strike="noStrike" kern="1200" cap="none" spc="0" baseline="0" dirty="0" err="1" smtClean="0">
                <a:solidFill>
                  <a:schemeClr val="accent5">
                    <a:lumMod val="75000"/>
                  </a:schemeClr>
                </a:solidFill>
                <a:uFillTx/>
                <a:latin typeface="Calibri" pitchFamily="34"/>
                <a:ea typeface="Calibri" pitchFamily="34"/>
                <a:cs typeface="Calibri" pitchFamily="34"/>
              </a:rPr>
              <a:t>obilnych</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 | v1.4</a:t>
            </a:r>
            <a:endParaRPr lang="en-US" sz="900" b="0" i="0" u="none" strike="noStrike" kern="1200" cap="none" spc="0" baseline="0" dirty="0">
              <a:solidFill>
                <a:schemeClr val="accent5">
                  <a:lumMod val="75000"/>
                </a:schemeClr>
              </a:solidFill>
              <a:uFillTx/>
              <a:latin typeface="Calibri"/>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Plan </a:t>
            </a:r>
            <a:r>
              <a:rPr lang="pl-PL" sz="2000" b="1" i="0" u="none" strike="noStrike" kern="1200" cap="none" spc="0" baseline="0" dirty="0" smtClean="0">
                <a:solidFill>
                  <a:srgbClr val="FFFFFF"/>
                </a:solidFill>
                <a:uFillTx/>
                <a:latin typeface="Cambria" pitchFamily="34"/>
                <a:ea typeface="Cambria" pitchFamily="34"/>
                <a:cs typeface="Cambria" pitchFamily="34"/>
              </a:rPr>
              <a:t>w</a:t>
            </a:r>
            <a:r>
              <a:rPr lang="en-US" sz="2000" b="1" i="0" u="none" strike="noStrike" kern="1200" cap="none" spc="0" baseline="0" dirty="0" err="1" smtClean="0">
                <a:solidFill>
                  <a:srgbClr val="FFFFFF"/>
                </a:solidFill>
                <a:uFillTx/>
                <a:latin typeface="Cambria" pitchFamily="34"/>
                <a:ea typeface="Cambria" pitchFamily="34"/>
                <a:cs typeface="Cambria" pitchFamily="34"/>
              </a:rPr>
              <a:t>ykładu</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nvGrpSpPr>
          <p:cNvPr id="72" name="Grupa 71"/>
          <p:cNvGrpSpPr/>
          <p:nvPr/>
        </p:nvGrpSpPr>
        <p:grpSpPr>
          <a:xfrm>
            <a:off x="1252727" y="653780"/>
            <a:ext cx="5774217" cy="4176640"/>
            <a:chOff x="1252727" y="752840"/>
            <a:chExt cx="5774217" cy="3893210"/>
          </a:xfrm>
        </p:grpSpPr>
        <p:sp>
          <p:nvSpPr>
            <p:cNvPr id="7" name="Shape 5"/>
            <p:cNvSpPr/>
            <p:nvPr/>
          </p:nvSpPr>
          <p:spPr>
            <a:xfrm>
              <a:off x="1341120" y="761676"/>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8" name="Shape 6"/>
            <p:cNvSpPr/>
            <p:nvPr/>
          </p:nvSpPr>
          <p:spPr>
            <a:xfrm>
              <a:off x="1341119" y="761676"/>
              <a:ext cx="73365" cy="21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1469135" y="768081"/>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200" b="1" i="0" u="none" strike="noStrike" kern="1200" cap="none" spc="0" baseline="0" dirty="0" smtClean="0">
                  <a:solidFill>
                    <a:srgbClr val="7C3AED"/>
                  </a:solidFill>
                  <a:uFillTx/>
                  <a:latin typeface="Calibri" pitchFamily="34"/>
                  <a:ea typeface="Calibri" pitchFamily="34"/>
                  <a:cs typeface="Calibri" pitchFamily="34"/>
                </a:rPr>
                <a:t>1</a:t>
              </a:r>
              <a:endParaRPr lang="en-US" sz="1200" b="0" i="0" u="none" strike="noStrike" kern="1200" cap="none" spc="0" baseline="0" dirty="0">
                <a:solidFill>
                  <a:srgbClr val="000000"/>
                </a:solidFill>
                <a:uFillTx/>
                <a:latin typeface="Calibri"/>
              </a:endParaRPr>
            </a:p>
          </p:txBody>
        </p:sp>
        <p:sp>
          <p:nvSpPr>
            <p:cNvPr id="10" name="Text 8"/>
            <p:cNvSpPr/>
            <p:nvPr/>
          </p:nvSpPr>
          <p:spPr>
            <a:xfrm>
              <a:off x="1812036" y="752840"/>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Czym</a:t>
              </a:r>
              <a:r>
                <a:rPr lang="en-US" sz="1200" b="0" i="0" u="none" strike="noStrike" kern="1200" cap="none" spc="0" baseline="0" dirty="0">
                  <a:solidFill>
                    <a:srgbClr val="1F1535"/>
                  </a:solidFill>
                  <a:uFillTx/>
                  <a:latin typeface="Calibri" pitchFamily="34"/>
                  <a:ea typeface="Calibri" pitchFamily="34"/>
                  <a:cs typeface="Calibri" pitchFamily="34"/>
                </a:rPr>
                <a:t> jest </a:t>
              </a:r>
              <a:r>
                <a:rPr lang="en-US" sz="1200" b="0" i="0" u="none" strike="noStrike" kern="1200" cap="none" spc="0" baseline="0" dirty="0" err="1">
                  <a:solidFill>
                    <a:srgbClr val="1F1535"/>
                  </a:solidFill>
                  <a:uFillTx/>
                  <a:latin typeface="Calibri" pitchFamily="34"/>
                  <a:ea typeface="Calibri" pitchFamily="34"/>
                  <a:cs typeface="Calibri" pitchFamily="34"/>
                </a:rPr>
                <a:t>informatyka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afektywna</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definicja</a:t>
              </a:r>
              <a:r>
                <a:rPr lang="pl-PL" sz="1200" dirty="0" smtClean="0">
                  <a:solidFill>
                    <a:srgbClr val="1F1535"/>
                  </a:solidFill>
                  <a:latin typeface="Calibri" pitchFamily="34"/>
                  <a:ea typeface="Calibri" pitchFamily="34"/>
                  <a:cs typeface="Calibri" pitchFamily="34"/>
                </a:rPr>
                <a:t> i</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historia</a:t>
              </a:r>
              <a:endParaRPr lang="en-US" sz="1200" b="0" i="0" u="none" strike="noStrike" kern="1200" cap="none" spc="0" baseline="0" dirty="0">
                <a:solidFill>
                  <a:srgbClr val="000000"/>
                </a:solidFill>
                <a:uFillTx/>
                <a:latin typeface="Calibri"/>
              </a:endParaRPr>
            </a:p>
          </p:txBody>
        </p:sp>
        <p:sp>
          <p:nvSpPr>
            <p:cNvPr id="11" name="Shape 9"/>
            <p:cNvSpPr/>
            <p:nvPr/>
          </p:nvSpPr>
          <p:spPr>
            <a:xfrm>
              <a:off x="1252728" y="1028376"/>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2" name="Shape 10"/>
            <p:cNvSpPr/>
            <p:nvPr/>
          </p:nvSpPr>
          <p:spPr>
            <a:xfrm>
              <a:off x="1252727" y="1028376"/>
              <a:ext cx="73365" cy="21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Text 11"/>
            <p:cNvSpPr/>
            <p:nvPr/>
          </p:nvSpPr>
          <p:spPr>
            <a:xfrm>
              <a:off x="1380743" y="1034781"/>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E11D48"/>
                  </a:solidFill>
                  <a:uFillTx/>
                  <a:latin typeface="Calibri" pitchFamily="34"/>
                  <a:ea typeface="Calibri" pitchFamily="34"/>
                  <a:cs typeface="Calibri" pitchFamily="34"/>
                </a:rPr>
                <a:t>4</a:t>
              </a:r>
              <a:endParaRPr lang="en-US" sz="1200" b="0" i="0" u="none" strike="noStrike" kern="1200" cap="none" spc="0" baseline="0" dirty="0">
                <a:solidFill>
                  <a:srgbClr val="000000"/>
                </a:solidFill>
                <a:uFillTx/>
                <a:latin typeface="Calibri"/>
              </a:endParaRPr>
            </a:p>
          </p:txBody>
        </p:sp>
        <p:sp>
          <p:nvSpPr>
            <p:cNvPr id="14" name="Text 12"/>
            <p:cNvSpPr/>
            <p:nvPr/>
          </p:nvSpPr>
          <p:spPr>
            <a:xfrm>
              <a:off x="1723644" y="1019540"/>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Modele</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emocji</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Ekman, VAD, </a:t>
              </a:r>
              <a:r>
                <a:rPr lang="en-US" sz="1200" b="0" i="0" u="none" strike="noStrike" kern="1200" cap="none" spc="0" baseline="0" dirty="0" err="1">
                  <a:solidFill>
                    <a:srgbClr val="1F1535"/>
                  </a:solidFill>
                  <a:uFillTx/>
                  <a:latin typeface="Calibri" pitchFamily="34"/>
                  <a:ea typeface="Calibri" pitchFamily="34"/>
                  <a:cs typeface="Calibri" pitchFamily="34"/>
                </a:rPr>
                <a:t>Plutchik</a:t>
              </a:r>
              <a:r>
                <a:rPr lang="en-US" sz="1200" b="0" i="0" u="none" strike="noStrike" kern="1200" cap="none" spc="0" baseline="0" dirty="0">
                  <a:solidFill>
                    <a:srgbClr val="1F1535"/>
                  </a:solidFill>
                  <a:uFillTx/>
                  <a:latin typeface="Calibri" pitchFamily="34"/>
                  <a:ea typeface="Calibri" pitchFamily="34"/>
                  <a:cs typeface="Calibri" pitchFamily="34"/>
                </a:rPr>
                <a:t>, Russell </a:t>
              </a:r>
              <a:r>
                <a:rPr lang="en-US" sz="1200" b="0" i="0" u="none" strike="noStrike" kern="1200" cap="none" spc="0" baseline="0" dirty="0" err="1">
                  <a:solidFill>
                    <a:srgbClr val="1F1535"/>
                  </a:solidFill>
                  <a:uFillTx/>
                  <a:latin typeface="Calibri" pitchFamily="34"/>
                  <a:ea typeface="Calibri" pitchFamily="34"/>
                  <a:cs typeface="Calibri" pitchFamily="34"/>
                </a:rPr>
                <a:t>Circumplex</a:t>
              </a:r>
              <a:endParaRPr lang="en-US" sz="1200" b="0" i="0" u="none" strike="noStrike" kern="1200" cap="none" spc="0" baseline="0" dirty="0">
                <a:solidFill>
                  <a:srgbClr val="000000"/>
                </a:solidFill>
                <a:uFillTx/>
                <a:latin typeface="Calibri"/>
              </a:endParaRPr>
            </a:p>
          </p:txBody>
        </p:sp>
        <p:sp>
          <p:nvSpPr>
            <p:cNvPr id="15" name="Shape 13"/>
            <p:cNvSpPr/>
            <p:nvPr/>
          </p:nvSpPr>
          <p:spPr>
            <a:xfrm>
              <a:off x="1341120" y="1285729"/>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Shape 14"/>
            <p:cNvSpPr/>
            <p:nvPr/>
          </p:nvSpPr>
          <p:spPr>
            <a:xfrm>
              <a:off x="1341119" y="1285729"/>
              <a:ext cx="73365" cy="21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Text 15"/>
            <p:cNvSpPr/>
            <p:nvPr/>
          </p:nvSpPr>
          <p:spPr>
            <a:xfrm>
              <a:off x="1469135" y="1292134"/>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0891B2"/>
                  </a:solidFill>
                  <a:uFillTx/>
                  <a:latin typeface="Calibri" pitchFamily="34"/>
                  <a:ea typeface="Calibri" pitchFamily="34"/>
                  <a:cs typeface="Calibri" pitchFamily="34"/>
                </a:rPr>
                <a:t>6</a:t>
              </a:r>
              <a:endParaRPr lang="en-US" sz="1200" b="0" i="0" u="none" strike="noStrike" kern="1200" cap="none" spc="0" baseline="0" dirty="0">
                <a:solidFill>
                  <a:srgbClr val="000000"/>
                </a:solidFill>
                <a:uFillTx/>
                <a:latin typeface="Calibri"/>
              </a:endParaRPr>
            </a:p>
          </p:txBody>
        </p:sp>
        <p:sp>
          <p:nvSpPr>
            <p:cNvPr id="18" name="Text 16"/>
            <p:cNvSpPr/>
            <p:nvPr/>
          </p:nvSpPr>
          <p:spPr>
            <a:xfrm>
              <a:off x="1812036" y="1276894"/>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Sygnały</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afektywne</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taksonomia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kanałów</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pomiarowych</a:t>
              </a:r>
              <a:endParaRPr lang="en-US" sz="1200" b="0" i="0" u="none" strike="noStrike" kern="1200" cap="none" spc="0" baseline="0" dirty="0">
                <a:solidFill>
                  <a:srgbClr val="000000"/>
                </a:solidFill>
                <a:uFillTx/>
                <a:latin typeface="Calibri"/>
              </a:endParaRPr>
            </a:p>
          </p:txBody>
        </p:sp>
        <p:sp>
          <p:nvSpPr>
            <p:cNvPr id="19" name="Shape 17"/>
            <p:cNvSpPr/>
            <p:nvPr/>
          </p:nvSpPr>
          <p:spPr>
            <a:xfrm>
              <a:off x="1252728" y="1552429"/>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Shape 18"/>
            <p:cNvSpPr/>
            <p:nvPr/>
          </p:nvSpPr>
          <p:spPr>
            <a:xfrm>
              <a:off x="1252727" y="1552429"/>
              <a:ext cx="73365" cy="21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Text 19"/>
            <p:cNvSpPr/>
            <p:nvPr/>
          </p:nvSpPr>
          <p:spPr>
            <a:xfrm>
              <a:off x="1380743" y="1558834"/>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D97706"/>
                  </a:solidFill>
                  <a:uFillTx/>
                  <a:latin typeface="Calibri" pitchFamily="34"/>
                  <a:ea typeface="Calibri" pitchFamily="34"/>
                  <a:cs typeface="Calibri" pitchFamily="34"/>
                </a:rPr>
                <a:t>8</a:t>
              </a:r>
              <a:endParaRPr lang="en-US" sz="1200" b="0" i="0" u="none" strike="noStrike" kern="1200" cap="none" spc="0" baseline="0" dirty="0">
                <a:solidFill>
                  <a:srgbClr val="000000"/>
                </a:solidFill>
                <a:uFillTx/>
                <a:latin typeface="Calibri"/>
              </a:endParaRPr>
            </a:p>
          </p:txBody>
        </p:sp>
        <p:sp>
          <p:nvSpPr>
            <p:cNvPr id="22" name="Text 20"/>
            <p:cNvSpPr/>
            <p:nvPr/>
          </p:nvSpPr>
          <p:spPr>
            <a:xfrm>
              <a:off x="1723644" y="1543594"/>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Rozpoznawanie</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wyrazu</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twarzy</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FACS, CNNs, ML Kit / </a:t>
              </a:r>
              <a:r>
                <a:rPr lang="en-US" sz="1200" b="0" i="0" u="none" strike="noStrike" kern="1200" cap="none" spc="0" baseline="0" dirty="0" err="1">
                  <a:solidFill>
                    <a:srgbClr val="1F1535"/>
                  </a:solidFill>
                  <a:uFillTx/>
                  <a:latin typeface="Calibri" pitchFamily="34"/>
                  <a:ea typeface="Calibri" pitchFamily="34"/>
                  <a:cs typeface="Calibri" pitchFamily="34"/>
                </a:rPr>
                <a:t>ARKit</a:t>
              </a:r>
              <a:endParaRPr lang="en-US" sz="1200" b="0" i="0" u="none" strike="noStrike" kern="1200" cap="none" spc="0" baseline="0" dirty="0">
                <a:solidFill>
                  <a:srgbClr val="000000"/>
                </a:solidFill>
                <a:uFillTx/>
                <a:latin typeface="Calibri"/>
              </a:endParaRPr>
            </a:p>
          </p:txBody>
        </p:sp>
        <p:sp>
          <p:nvSpPr>
            <p:cNvPr id="23" name="Shape 21"/>
            <p:cNvSpPr/>
            <p:nvPr/>
          </p:nvSpPr>
          <p:spPr>
            <a:xfrm>
              <a:off x="1341120" y="1809783"/>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Shape 22"/>
            <p:cNvSpPr/>
            <p:nvPr/>
          </p:nvSpPr>
          <p:spPr>
            <a:xfrm>
              <a:off x="1341119" y="1809783"/>
              <a:ext cx="73365" cy="21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1469135" y="1816188"/>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059669"/>
                  </a:solidFill>
                  <a:uFillTx/>
                  <a:latin typeface="Calibri" pitchFamily="34"/>
                  <a:ea typeface="Calibri" pitchFamily="34"/>
                  <a:cs typeface="Calibri" pitchFamily="34"/>
                </a:rPr>
                <a:t>10</a:t>
              </a:r>
              <a:endParaRPr lang="en-US" sz="1200" b="0" i="0" u="none" strike="noStrike" kern="1200" cap="none" spc="0" baseline="0" dirty="0">
                <a:solidFill>
                  <a:srgbClr val="000000"/>
                </a:solidFill>
                <a:uFillTx/>
                <a:latin typeface="Calibri"/>
              </a:endParaRPr>
            </a:p>
          </p:txBody>
        </p:sp>
        <p:sp>
          <p:nvSpPr>
            <p:cNvPr id="26" name="Text 24"/>
            <p:cNvSpPr/>
            <p:nvPr/>
          </p:nvSpPr>
          <p:spPr>
            <a:xfrm>
              <a:off x="1812036" y="1800947"/>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Analiza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mowy</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i</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prozodii</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MFCC, Wav2Vec, </a:t>
              </a:r>
              <a:r>
                <a:rPr lang="en-US" sz="1200" b="0" i="0" u="none" strike="noStrike" kern="1200" cap="none" spc="0" baseline="0" dirty="0" err="1">
                  <a:solidFill>
                    <a:srgbClr val="1F1535"/>
                  </a:solidFill>
                  <a:uFillTx/>
                  <a:latin typeface="Calibri" pitchFamily="34"/>
                  <a:ea typeface="Calibri" pitchFamily="34"/>
                  <a:cs typeface="Calibri" pitchFamily="34"/>
                </a:rPr>
                <a:t>ekstrakcja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cech</a:t>
              </a:r>
              <a:endParaRPr lang="en-US" sz="1200" b="0" i="0" u="none" strike="noStrike" kern="1200" cap="none" spc="0" baseline="0" dirty="0">
                <a:solidFill>
                  <a:srgbClr val="000000"/>
                </a:solidFill>
                <a:uFillTx/>
                <a:latin typeface="Calibri"/>
              </a:endParaRPr>
            </a:p>
          </p:txBody>
        </p:sp>
        <p:sp>
          <p:nvSpPr>
            <p:cNvPr id="27" name="Shape 25"/>
            <p:cNvSpPr/>
            <p:nvPr/>
          </p:nvSpPr>
          <p:spPr>
            <a:xfrm>
              <a:off x="1252728" y="2076483"/>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8" name="Shape 26"/>
            <p:cNvSpPr/>
            <p:nvPr/>
          </p:nvSpPr>
          <p:spPr>
            <a:xfrm>
              <a:off x="1252727" y="2076483"/>
              <a:ext cx="73365" cy="216000"/>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Text 27"/>
            <p:cNvSpPr/>
            <p:nvPr/>
          </p:nvSpPr>
          <p:spPr>
            <a:xfrm>
              <a:off x="1380743" y="2082888"/>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DB2777"/>
                  </a:solidFill>
                  <a:uFillTx/>
                  <a:latin typeface="Calibri" pitchFamily="34"/>
                  <a:ea typeface="Calibri" pitchFamily="34"/>
                  <a:cs typeface="Calibri" pitchFamily="34"/>
                </a:rPr>
                <a:t>12</a:t>
              </a:r>
              <a:endParaRPr lang="en-US" sz="1200" b="0" i="0" u="none" strike="noStrike" kern="1200" cap="none" spc="0" baseline="0" dirty="0">
                <a:solidFill>
                  <a:srgbClr val="000000"/>
                </a:solidFill>
                <a:uFillTx/>
                <a:latin typeface="Calibri"/>
              </a:endParaRPr>
            </a:p>
          </p:txBody>
        </p:sp>
        <p:sp>
          <p:nvSpPr>
            <p:cNvPr id="30" name="Text 28"/>
            <p:cNvSpPr/>
            <p:nvPr/>
          </p:nvSpPr>
          <p:spPr>
            <a:xfrm>
              <a:off x="1723644" y="2067647"/>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Analiza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sentymentu</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tekstu</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NLP, BERT lite, on-device NLU</a:t>
              </a:r>
              <a:endParaRPr lang="en-US" sz="1200" b="0" i="0" u="none" strike="noStrike" kern="1200" cap="none" spc="0" baseline="0" dirty="0">
                <a:solidFill>
                  <a:srgbClr val="000000"/>
                </a:solidFill>
                <a:uFillTx/>
                <a:latin typeface="Calibri"/>
              </a:endParaRPr>
            </a:p>
          </p:txBody>
        </p:sp>
        <p:sp>
          <p:nvSpPr>
            <p:cNvPr id="31" name="Shape 29"/>
            <p:cNvSpPr/>
            <p:nvPr/>
          </p:nvSpPr>
          <p:spPr>
            <a:xfrm>
              <a:off x="1341120" y="2333836"/>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Shape 30"/>
            <p:cNvSpPr/>
            <p:nvPr/>
          </p:nvSpPr>
          <p:spPr>
            <a:xfrm>
              <a:off x="1341119" y="2333836"/>
              <a:ext cx="73365" cy="21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1469135" y="2340241"/>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7C3AED"/>
                  </a:solidFill>
                  <a:uFillTx/>
                  <a:latin typeface="Calibri" pitchFamily="34"/>
                  <a:ea typeface="Calibri" pitchFamily="34"/>
                  <a:cs typeface="Calibri" pitchFamily="34"/>
                </a:rPr>
                <a:t>14</a:t>
              </a:r>
              <a:endParaRPr lang="en-US" sz="1200" b="0" i="0" u="none" strike="noStrike" kern="1200" cap="none" spc="0" baseline="0" dirty="0">
                <a:solidFill>
                  <a:srgbClr val="000000"/>
                </a:solidFill>
                <a:uFillTx/>
                <a:latin typeface="Calibri"/>
              </a:endParaRPr>
            </a:p>
          </p:txBody>
        </p:sp>
        <p:sp>
          <p:nvSpPr>
            <p:cNvPr id="34" name="Text 32"/>
            <p:cNvSpPr/>
            <p:nvPr/>
          </p:nvSpPr>
          <p:spPr>
            <a:xfrm>
              <a:off x="1812036" y="2325001"/>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Fizjologia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mobilna</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EDA/GSR, PPG </a:t>
              </a:r>
              <a:r>
                <a:rPr lang="en-US" sz="1200" b="0" i="0" u="none" strike="noStrike" kern="1200" cap="none" spc="0" baseline="0" dirty="0" err="1">
                  <a:solidFill>
                    <a:srgbClr val="1F1535"/>
                  </a:solidFill>
                  <a:uFillTx/>
                  <a:latin typeface="Calibri" pitchFamily="34"/>
                  <a:ea typeface="Calibri" pitchFamily="34"/>
                  <a:cs typeface="Calibri" pitchFamily="34"/>
                </a:rPr>
                <a:t>tętno</a:t>
              </a:r>
              <a:r>
                <a:rPr lang="en-US" sz="1200" b="0" i="0" u="none" strike="noStrike" kern="1200" cap="none" spc="0" baseline="0" dirty="0">
                  <a:solidFill>
                    <a:srgbClr val="1F1535"/>
                  </a:solidFill>
                  <a:uFillTx/>
                  <a:latin typeface="Calibri" pitchFamily="34"/>
                  <a:ea typeface="Calibri" pitchFamily="34"/>
                  <a:cs typeface="Calibri" pitchFamily="34"/>
                </a:rPr>
                <a:t>, EEG wearables</a:t>
              </a:r>
              <a:endParaRPr lang="en-US" sz="1200" b="0" i="0" u="none" strike="noStrike" kern="1200" cap="none" spc="0" baseline="0" dirty="0">
                <a:solidFill>
                  <a:srgbClr val="000000"/>
                </a:solidFill>
                <a:uFillTx/>
                <a:latin typeface="Calibri"/>
              </a:endParaRPr>
            </a:p>
          </p:txBody>
        </p:sp>
        <p:sp>
          <p:nvSpPr>
            <p:cNvPr id="35" name="Shape 33"/>
            <p:cNvSpPr/>
            <p:nvPr/>
          </p:nvSpPr>
          <p:spPr>
            <a:xfrm>
              <a:off x="1252728" y="2600536"/>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Shape 34"/>
            <p:cNvSpPr/>
            <p:nvPr/>
          </p:nvSpPr>
          <p:spPr>
            <a:xfrm>
              <a:off x="1252727" y="2600536"/>
              <a:ext cx="73365" cy="21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1380743" y="2606941"/>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E11D48"/>
                  </a:solidFill>
                  <a:uFillTx/>
                  <a:latin typeface="Calibri" pitchFamily="34"/>
                  <a:ea typeface="Calibri" pitchFamily="34"/>
                  <a:cs typeface="Calibri" pitchFamily="34"/>
                </a:rPr>
                <a:t>16</a:t>
              </a:r>
              <a:endParaRPr lang="en-US" sz="1200" b="0" i="0" u="none" strike="noStrike" kern="1200" cap="none" spc="0" baseline="0" dirty="0">
                <a:solidFill>
                  <a:srgbClr val="000000"/>
                </a:solidFill>
                <a:uFillTx/>
                <a:latin typeface="Calibri"/>
              </a:endParaRPr>
            </a:p>
          </p:txBody>
        </p:sp>
        <p:sp>
          <p:nvSpPr>
            <p:cNvPr id="38" name="Text 36"/>
            <p:cNvSpPr/>
            <p:nvPr/>
          </p:nvSpPr>
          <p:spPr>
            <a:xfrm>
              <a:off x="1723644" y="2591701"/>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Ruch</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i</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kontekst</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a:solidFill>
                    <a:srgbClr val="1F1535"/>
                  </a:solidFill>
                  <a:uFillTx/>
                  <a:latin typeface="Calibri" pitchFamily="34"/>
                  <a:ea typeface="Calibri" pitchFamily="34"/>
                  <a:cs typeface="Calibri" pitchFamily="34"/>
                </a:rPr>
                <a:t>IMU </a:t>
              </a:r>
              <a:r>
                <a:rPr lang="en-US" sz="1200" b="0" i="0" u="none" strike="noStrike" kern="1200" cap="none" spc="0" baseline="0" dirty="0" err="1">
                  <a:solidFill>
                    <a:srgbClr val="1F1535"/>
                  </a:solidFill>
                  <a:uFillTx/>
                  <a:latin typeface="Calibri" pitchFamily="34"/>
                  <a:ea typeface="Calibri" pitchFamily="34"/>
                  <a:cs typeface="Calibri" pitchFamily="34"/>
                </a:rPr>
                <a:t>jako</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kanał</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afektywny</a:t>
              </a:r>
              <a:r>
                <a:rPr lang="en-US" sz="1200" b="0" i="0" u="none" strike="noStrike" kern="1200" cap="none" spc="0" baseline="0" dirty="0">
                  <a:solidFill>
                    <a:srgbClr val="1F1535"/>
                  </a:solidFill>
                  <a:uFillTx/>
                  <a:latin typeface="Calibri" pitchFamily="34"/>
                  <a:ea typeface="Calibri" pitchFamily="34"/>
                  <a:cs typeface="Calibri" pitchFamily="34"/>
                </a:rPr>
                <a:t>, gait, stress</a:t>
              </a:r>
              <a:endParaRPr lang="en-US" sz="1200" b="0" i="0" u="none" strike="noStrike" kern="1200" cap="none" spc="0" baseline="0" dirty="0">
                <a:solidFill>
                  <a:srgbClr val="000000"/>
                </a:solidFill>
                <a:uFillTx/>
                <a:latin typeface="Calibri"/>
              </a:endParaRPr>
            </a:p>
          </p:txBody>
        </p:sp>
        <p:sp>
          <p:nvSpPr>
            <p:cNvPr id="39" name="Shape 37"/>
            <p:cNvSpPr/>
            <p:nvPr/>
          </p:nvSpPr>
          <p:spPr>
            <a:xfrm>
              <a:off x="1341120" y="2857890"/>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Shape 38"/>
            <p:cNvSpPr/>
            <p:nvPr/>
          </p:nvSpPr>
          <p:spPr>
            <a:xfrm>
              <a:off x="1341119" y="2857890"/>
              <a:ext cx="73365" cy="21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Text 39"/>
            <p:cNvSpPr/>
            <p:nvPr/>
          </p:nvSpPr>
          <p:spPr>
            <a:xfrm>
              <a:off x="1469135" y="2864295"/>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0891B2"/>
                  </a:solidFill>
                  <a:uFillTx/>
                  <a:latin typeface="Calibri" pitchFamily="34"/>
                  <a:ea typeface="Calibri" pitchFamily="34"/>
                  <a:cs typeface="Calibri" pitchFamily="34"/>
                </a:rPr>
                <a:t>18</a:t>
              </a:r>
              <a:endParaRPr lang="en-US" sz="1200" b="0" i="0" u="none" strike="noStrike" kern="1200" cap="none" spc="0" baseline="0" dirty="0">
                <a:solidFill>
                  <a:srgbClr val="000000"/>
                </a:solidFill>
                <a:uFillTx/>
                <a:latin typeface="Calibri"/>
              </a:endParaRPr>
            </a:p>
          </p:txBody>
        </p:sp>
        <p:sp>
          <p:nvSpPr>
            <p:cNvPr id="42" name="Text 40"/>
            <p:cNvSpPr/>
            <p:nvPr/>
          </p:nvSpPr>
          <p:spPr>
            <a:xfrm>
              <a:off x="1812036" y="2849054"/>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1F1535"/>
                  </a:solidFill>
                  <a:uFillTx/>
                  <a:latin typeface="Calibri" pitchFamily="34"/>
                  <a:ea typeface="Calibri" pitchFamily="34"/>
                  <a:cs typeface="Calibri" pitchFamily="34"/>
                </a:rPr>
                <a:t>Fuzja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smtClean="0">
                  <a:solidFill>
                    <a:srgbClr val="1F1535"/>
                  </a:solidFill>
                  <a:uFillTx/>
                  <a:latin typeface="Calibri" pitchFamily="34"/>
                  <a:ea typeface="Calibri" pitchFamily="34"/>
                  <a:cs typeface="Calibri" pitchFamily="34"/>
                </a:rPr>
                <a:t>multimodalna</a:t>
              </a:r>
              <a:r>
                <a:rPr lang="pl-PL" sz="1200" dirty="0" smtClean="0">
                  <a:solidFill>
                    <a:srgbClr val="1F1535"/>
                  </a:solidFill>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strategie</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i</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architektury</a:t>
              </a:r>
              <a:r>
                <a:rPr lang="en-US" sz="1200" b="0" i="0" u="none" strike="noStrike" kern="1200" cap="none" spc="0" baseline="0" dirty="0">
                  <a:solidFill>
                    <a:srgbClr val="1F1535"/>
                  </a:solidFill>
                  <a:uFillTx/>
                  <a:latin typeface="Calibri" pitchFamily="34"/>
                  <a:ea typeface="Calibri" pitchFamily="34"/>
                  <a:cs typeface="Calibri" pitchFamily="34"/>
                </a:rPr>
                <a:t> ML</a:t>
              </a:r>
              <a:endParaRPr lang="en-US" sz="1200" b="0" i="0" u="none" strike="noStrike" kern="1200" cap="none" spc="0" baseline="0" dirty="0">
                <a:solidFill>
                  <a:srgbClr val="000000"/>
                </a:solidFill>
                <a:uFillTx/>
                <a:latin typeface="Calibri"/>
              </a:endParaRPr>
            </a:p>
          </p:txBody>
        </p:sp>
        <p:sp>
          <p:nvSpPr>
            <p:cNvPr id="43" name="Shape 41"/>
            <p:cNvSpPr/>
            <p:nvPr/>
          </p:nvSpPr>
          <p:spPr>
            <a:xfrm>
              <a:off x="1252728" y="3124590"/>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Shape 42"/>
            <p:cNvSpPr/>
            <p:nvPr/>
          </p:nvSpPr>
          <p:spPr>
            <a:xfrm>
              <a:off x="1252727" y="3124590"/>
              <a:ext cx="73365" cy="21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5" name="Text 43"/>
            <p:cNvSpPr/>
            <p:nvPr/>
          </p:nvSpPr>
          <p:spPr>
            <a:xfrm>
              <a:off x="1380743" y="3130995"/>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D97706"/>
                  </a:solidFill>
                  <a:uFillTx/>
                  <a:latin typeface="Calibri" pitchFamily="34"/>
                  <a:ea typeface="Calibri" pitchFamily="34"/>
                  <a:cs typeface="Calibri" pitchFamily="34"/>
                </a:rPr>
                <a:t>20</a:t>
              </a:r>
              <a:endParaRPr lang="en-US" sz="1200" b="0" i="0" u="none" strike="noStrike" kern="1200" cap="none" spc="0" baseline="0" dirty="0">
                <a:solidFill>
                  <a:srgbClr val="000000"/>
                </a:solidFill>
                <a:uFillTx/>
                <a:latin typeface="Calibri"/>
              </a:endParaRPr>
            </a:p>
          </p:txBody>
        </p:sp>
        <p:sp>
          <p:nvSpPr>
            <p:cNvPr id="46" name="Text 44"/>
            <p:cNvSpPr/>
            <p:nvPr/>
          </p:nvSpPr>
          <p:spPr>
            <a:xfrm>
              <a:off x="1723644" y="3115754"/>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a:solidFill>
                    <a:srgbClr val="1F1535"/>
                  </a:solidFill>
                  <a:uFillTx/>
                  <a:latin typeface="Calibri" pitchFamily="34"/>
                  <a:ea typeface="Calibri" pitchFamily="34"/>
                  <a:cs typeface="Calibri" pitchFamily="34"/>
                </a:rPr>
                <a:t>ML </a:t>
              </a:r>
              <a:r>
                <a:rPr lang="en-US" sz="1200" b="0" i="0" u="none" strike="noStrike" kern="1200" cap="none" spc="0" baseline="0" dirty="0" smtClean="0">
                  <a:solidFill>
                    <a:srgbClr val="1F1535"/>
                  </a:solidFill>
                  <a:uFillTx/>
                  <a:latin typeface="Calibri" pitchFamily="34"/>
                  <a:ea typeface="Calibri" pitchFamily="34"/>
                  <a:cs typeface="Calibri" pitchFamily="34"/>
                </a:rPr>
                <a:t>on-device</a:t>
              </a:r>
              <a:r>
                <a:rPr lang="pl-PL" sz="1200" b="0" i="0" u="none" strike="noStrike" kern="1200" cap="none" spc="0" baseline="0" dirty="0" smtClean="0">
                  <a:solidFill>
                    <a:srgbClr val="1F1535"/>
                  </a:solidFill>
                  <a:uFillTx/>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TFLite</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CoreML</a:t>
              </a:r>
              <a:r>
                <a:rPr lang="en-US" sz="1200" b="0" i="0" u="none" strike="noStrike" kern="1200" cap="none" spc="0" baseline="0" dirty="0">
                  <a:solidFill>
                    <a:srgbClr val="1F1535"/>
                  </a:solidFill>
                  <a:uFillTx/>
                  <a:latin typeface="Calibri" pitchFamily="34"/>
                  <a:ea typeface="Calibri" pitchFamily="34"/>
                  <a:cs typeface="Calibri" pitchFamily="34"/>
                </a:rPr>
                <a:t>, ONNX Runtime, </a:t>
              </a:r>
              <a:r>
                <a:rPr lang="en-US" sz="1200" b="0" i="0" u="none" strike="noStrike" kern="1200" cap="none" spc="0" baseline="0" dirty="0" err="1">
                  <a:solidFill>
                    <a:srgbClr val="1F1535"/>
                  </a:solidFill>
                  <a:uFillTx/>
                  <a:latin typeface="Calibri" pitchFamily="34"/>
                  <a:ea typeface="Calibri" pitchFamily="34"/>
                  <a:cs typeface="Calibri" pitchFamily="34"/>
                </a:rPr>
                <a:t>optymalizacja</a:t>
              </a:r>
              <a:endParaRPr lang="en-US" sz="1200" b="0" i="0" u="none" strike="noStrike" kern="1200" cap="none" spc="0" baseline="0" dirty="0">
                <a:solidFill>
                  <a:srgbClr val="000000"/>
                </a:solidFill>
                <a:uFillTx/>
                <a:latin typeface="Calibri"/>
              </a:endParaRPr>
            </a:p>
          </p:txBody>
        </p:sp>
        <p:sp>
          <p:nvSpPr>
            <p:cNvPr id="47" name="Shape 45"/>
            <p:cNvSpPr/>
            <p:nvPr/>
          </p:nvSpPr>
          <p:spPr>
            <a:xfrm>
              <a:off x="1341120" y="3381943"/>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Shape 46"/>
            <p:cNvSpPr/>
            <p:nvPr/>
          </p:nvSpPr>
          <p:spPr>
            <a:xfrm>
              <a:off x="1341119" y="3381943"/>
              <a:ext cx="73365" cy="21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Text 47"/>
            <p:cNvSpPr/>
            <p:nvPr/>
          </p:nvSpPr>
          <p:spPr>
            <a:xfrm>
              <a:off x="1469135" y="3388347"/>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059669"/>
                  </a:solidFill>
                  <a:uFillTx/>
                  <a:latin typeface="Calibri" pitchFamily="34"/>
                  <a:ea typeface="Calibri" pitchFamily="34"/>
                  <a:cs typeface="Calibri" pitchFamily="34"/>
                </a:rPr>
                <a:t>22</a:t>
              </a:r>
              <a:endParaRPr lang="en-US" sz="1200" b="0" i="0" u="none" strike="noStrike" kern="1200" cap="none" spc="0" baseline="0" dirty="0">
                <a:solidFill>
                  <a:srgbClr val="000000"/>
                </a:solidFill>
                <a:uFillTx/>
                <a:latin typeface="Calibri"/>
              </a:endParaRPr>
            </a:p>
          </p:txBody>
        </p:sp>
        <p:sp>
          <p:nvSpPr>
            <p:cNvPr id="50" name="Text 48"/>
            <p:cNvSpPr/>
            <p:nvPr/>
          </p:nvSpPr>
          <p:spPr>
            <a:xfrm>
              <a:off x="1812036" y="3373108"/>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a:solidFill>
                    <a:srgbClr val="1F1535"/>
                  </a:solidFill>
                  <a:uFillTx/>
                  <a:latin typeface="Calibri" pitchFamily="34"/>
                  <a:ea typeface="Calibri" pitchFamily="34"/>
                  <a:cs typeface="Calibri" pitchFamily="34"/>
                </a:rPr>
                <a:t>Affective </a:t>
              </a:r>
              <a:r>
                <a:rPr lang="en-US" sz="1200" b="0" i="0" u="none" strike="noStrike" kern="1200" cap="none" spc="0" baseline="0" dirty="0" smtClean="0">
                  <a:solidFill>
                    <a:srgbClr val="1F1535"/>
                  </a:solidFill>
                  <a:uFillTx/>
                  <a:latin typeface="Calibri" pitchFamily="34"/>
                  <a:ea typeface="Calibri" pitchFamily="34"/>
                  <a:cs typeface="Calibri" pitchFamily="34"/>
                </a:rPr>
                <a:t>UX</a:t>
              </a:r>
              <a:r>
                <a:rPr lang="pl-PL" sz="1200" b="0" i="0" u="none" strike="noStrike" kern="1200" cap="none" spc="0" baseline="0" dirty="0" smtClean="0">
                  <a:solidFill>
                    <a:srgbClr val="1F1535"/>
                  </a:solidFill>
                  <a:uFillTx/>
                  <a:latin typeface="Calibri" pitchFamily="34"/>
                  <a:ea typeface="Calibri" pitchFamily="34"/>
                  <a:cs typeface="Calibri" pitchFamily="34"/>
                </a:rPr>
                <a:t>,</a:t>
              </a:r>
              <a:r>
                <a:rPr lang="en-US" sz="1200" b="0" i="0" u="none" strike="noStrike" kern="1200" cap="none" spc="0" baseline="0" dirty="0" smtClean="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adaptacja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interfejsu</a:t>
              </a:r>
              <a:r>
                <a:rPr lang="en-US" sz="1200" b="0" i="0" u="none" strike="noStrike" kern="1200" cap="none" spc="0" baseline="0" dirty="0">
                  <a:solidFill>
                    <a:srgbClr val="1F1535"/>
                  </a:solidFill>
                  <a:uFillTx/>
                  <a:latin typeface="Calibri" pitchFamily="34"/>
                  <a:ea typeface="Calibri" pitchFamily="34"/>
                  <a:cs typeface="Calibri" pitchFamily="34"/>
                </a:rPr>
                <a:t> do </a:t>
              </a:r>
              <a:r>
                <a:rPr lang="en-US" sz="1200" b="0" i="0" u="none" strike="noStrike" kern="1200" cap="none" spc="0" baseline="0" dirty="0" err="1">
                  <a:solidFill>
                    <a:srgbClr val="1F1535"/>
                  </a:solidFill>
                  <a:uFillTx/>
                  <a:latin typeface="Calibri" pitchFamily="34"/>
                  <a:ea typeface="Calibri" pitchFamily="34"/>
                  <a:cs typeface="Calibri" pitchFamily="34"/>
                </a:rPr>
                <a:t>stanu</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emocjonalnego</a:t>
              </a:r>
              <a:endParaRPr lang="en-US" sz="1200" b="0" i="0" u="none" strike="noStrike" kern="1200" cap="none" spc="0" baseline="0" dirty="0">
                <a:solidFill>
                  <a:srgbClr val="000000"/>
                </a:solidFill>
                <a:uFillTx/>
                <a:latin typeface="Calibri"/>
              </a:endParaRPr>
            </a:p>
          </p:txBody>
        </p:sp>
        <p:sp>
          <p:nvSpPr>
            <p:cNvPr id="51" name="Shape 49"/>
            <p:cNvSpPr/>
            <p:nvPr/>
          </p:nvSpPr>
          <p:spPr>
            <a:xfrm>
              <a:off x="1252728" y="3648643"/>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2" name="Shape 50"/>
            <p:cNvSpPr/>
            <p:nvPr/>
          </p:nvSpPr>
          <p:spPr>
            <a:xfrm>
              <a:off x="1252727" y="3648643"/>
              <a:ext cx="73365" cy="216000"/>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3" name="Text 51"/>
            <p:cNvSpPr/>
            <p:nvPr/>
          </p:nvSpPr>
          <p:spPr>
            <a:xfrm>
              <a:off x="1380743" y="3655047"/>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DB2777"/>
                  </a:solidFill>
                  <a:uFillTx/>
                  <a:latin typeface="Calibri" pitchFamily="34"/>
                  <a:ea typeface="Calibri" pitchFamily="34"/>
                  <a:cs typeface="Calibri" pitchFamily="34"/>
                </a:rPr>
                <a:t>24</a:t>
              </a:r>
              <a:endParaRPr lang="en-US" sz="1200" b="0" i="0" u="none" strike="noStrike" kern="1200" cap="none" spc="0" baseline="0" dirty="0">
                <a:solidFill>
                  <a:srgbClr val="000000"/>
                </a:solidFill>
                <a:uFillTx/>
                <a:latin typeface="Calibri"/>
              </a:endParaRPr>
            </a:p>
          </p:txBody>
        </p:sp>
        <p:sp>
          <p:nvSpPr>
            <p:cNvPr id="54" name="Text 52"/>
            <p:cNvSpPr/>
            <p:nvPr/>
          </p:nvSpPr>
          <p:spPr>
            <a:xfrm>
              <a:off x="1723644" y="3639808"/>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1F1535"/>
                  </a:solidFill>
                  <a:uFillTx/>
                  <a:latin typeface="Calibri" pitchFamily="34"/>
                  <a:ea typeface="Calibri" pitchFamily="34"/>
                  <a:cs typeface="Calibri" pitchFamily="34"/>
                </a:rPr>
                <a:t>Zastosowania: zdrowie psychiczne, e-learning, automotive</a:t>
              </a:r>
              <a:endParaRPr lang="en-US" sz="1200" b="0" i="0" u="none" strike="noStrike" kern="1200" cap="none" spc="0" baseline="0">
                <a:solidFill>
                  <a:srgbClr val="000000"/>
                </a:solidFill>
                <a:uFillTx/>
                <a:latin typeface="Calibri"/>
              </a:endParaRPr>
            </a:p>
          </p:txBody>
        </p:sp>
        <p:sp>
          <p:nvSpPr>
            <p:cNvPr id="55" name="Shape 53"/>
            <p:cNvSpPr/>
            <p:nvPr/>
          </p:nvSpPr>
          <p:spPr>
            <a:xfrm>
              <a:off x="1341120" y="3905997"/>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6" name="Shape 54"/>
            <p:cNvSpPr/>
            <p:nvPr/>
          </p:nvSpPr>
          <p:spPr>
            <a:xfrm>
              <a:off x="1341119" y="3905997"/>
              <a:ext cx="73365" cy="21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7" name="Text 55"/>
            <p:cNvSpPr/>
            <p:nvPr/>
          </p:nvSpPr>
          <p:spPr>
            <a:xfrm>
              <a:off x="1469135" y="3912402"/>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7C3AED"/>
                  </a:solidFill>
                  <a:uFillTx/>
                  <a:latin typeface="Calibri" pitchFamily="34"/>
                  <a:ea typeface="Calibri" pitchFamily="34"/>
                  <a:cs typeface="Calibri" pitchFamily="34"/>
                </a:rPr>
                <a:t>26</a:t>
              </a:r>
              <a:endParaRPr lang="en-US" sz="1200" b="0" i="0" u="none" strike="noStrike" kern="1200" cap="none" spc="0" baseline="0" dirty="0">
                <a:solidFill>
                  <a:srgbClr val="000000"/>
                </a:solidFill>
                <a:uFillTx/>
                <a:latin typeface="Calibri"/>
              </a:endParaRPr>
            </a:p>
          </p:txBody>
        </p:sp>
        <p:sp>
          <p:nvSpPr>
            <p:cNvPr id="58" name="Text 56"/>
            <p:cNvSpPr/>
            <p:nvPr/>
          </p:nvSpPr>
          <p:spPr>
            <a:xfrm>
              <a:off x="1812036" y="3897160"/>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1F1535"/>
                  </a:solidFill>
                  <a:uFillTx/>
                  <a:latin typeface="Calibri" pitchFamily="34"/>
                  <a:ea typeface="Calibri" pitchFamily="34"/>
                  <a:cs typeface="Calibri" pitchFamily="34"/>
                </a:rPr>
                <a:t>Zastosowania: gry, HR, asystenci głosowi, metaverse</a:t>
              </a:r>
              <a:endParaRPr lang="en-US" sz="1200" b="0" i="0" u="none" strike="noStrike" kern="1200" cap="none" spc="0" baseline="0">
                <a:solidFill>
                  <a:srgbClr val="000000"/>
                </a:solidFill>
                <a:uFillTx/>
                <a:latin typeface="Calibri"/>
              </a:endParaRPr>
            </a:p>
          </p:txBody>
        </p:sp>
        <p:sp>
          <p:nvSpPr>
            <p:cNvPr id="59" name="Shape 57"/>
            <p:cNvSpPr/>
            <p:nvPr/>
          </p:nvSpPr>
          <p:spPr>
            <a:xfrm>
              <a:off x="1252728" y="4172697"/>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0" name="Shape 58"/>
            <p:cNvSpPr/>
            <p:nvPr/>
          </p:nvSpPr>
          <p:spPr>
            <a:xfrm>
              <a:off x="1252727" y="4172697"/>
              <a:ext cx="73365" cy="21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1" name="Text 59"/>
            <p:cNvSpPr/>
            <p:nvPr/>
          </p:nvSpPr>
          <p:spPr>
            <a:xfrm>
              <a:off x="1380743" y="4179102"/>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E11D48"/>
                  </a:solidFill>
                  <a:uFillTx/>
                  <a:latin typeface="Calibri" pitchFamily="34"/>
                  <a:ea typeface="Calibri" pitchFamily="34"/>
                  <a:cs typeface="Calibri" pitchFamily="34"/>
                </a:rPr>
                <a:t>2</a:t>
              </a:r>
              <a:r>
                <a:rPr lang="pl-PL" sz="1200" b="1" i="0" u="none" strike="noStrike" kern="1200" cap="none" spc="0" baseline="0" dirty="0" smtClean="0">
                  <a:solidFill>
                    <a:srgbClr val="E11D48"/>
                  </a:solidFill>
                  <a:uFillTx/>
                  <a:latin typeface="Calibri" pitchFamily="34"/>
                  <a:ea typeface="Calibri" pitchFamily="34"/>
                  <a:cs typeface="Calibri" pitchFamily="34"/>
                </a:rPr>
                <a:t>8</a:t>
              </a:r>
              <a:endParaRPr lang="en-US" sz="1200" b="0" i="0" u="none" strike="noStrike" kern="1200" cap="none" spc="0" baseline="0" dirty="0">
                <a:solidFill>
                  <a:srgbClr val="000000"/>
                </a:solidFill>
                <a:uFillTx/>
                <a:latin typeface="Calibri"/>
              </a:endParaRPr>
            </a:p>
          </p:txBody>
        </p:sp>
        <p:sp>
          <p:nvSpPr>
            <p:cNvPr id="62" name="Text 60"/>
            <p:cNvSpPr/>
            <p:nvPr/>
          </p:nvSpPr>
          <p:spPr>
            <a:xfrm>
              <a:off x="1723644" y="4163860"/>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1F1535"/>
                  </a:solidFill>
                  <a:uFillTx/>
                  <a:latin typeface="Calibri" pitchFamily="34"/>
                  <a:ea typeface="Calibri" pitchFamily="34"/>
                  <a:cs typeface="Calibri" pitchFamily="34"/>
                </a:rPr>
                <a:t>Etyka, prywatność i RODO w informatyce afektywnej</a:t>
              </a:r>
              <a:endParaRPr lang="en-US" sz="1200" b="0" i="0" u="none" strike="noStrike" kern="1200" cap="none" spc="0" baseline="0">
                <a:solidFill>
                  <a:srgbClr val="000000"/>
                </a:solidFill>
                <a:uFillTx/>
                <a:latin typeface="Calibri"/>
              </a:endParaRPr>
            </a:p>
          </p:txBody>
        </p:sp>
        <p:sp>
          <p:nvSpPr>
            <p:cNvPr id="63" name="Shape 61"/>
            <p:cNvSpPr/>
            <p:nvPr/>
          </p:nvSpPr>
          <p:spPr>
            <a:xfrm>
              <a:off x="1341120" y="4430050"/>
              <a:ext cx="5685824" cy="21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4" name="Shape 62"/>
            <p:cNvSpPr/>
            <p:nvPr/>
          </p:nvSpPr>
          <p:spPr>
            <a:xfrm>
              <a:off x="1341119" y="4430050"/>
              <a:ext cx="73365" cy="21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5" name="Text 63"/>
            <p:cNvSpPr/>
            <p:nvPr/>
          </p:nvSpPr>
          <p:spPr>
            <a:xfrm>
              <a:off x="1469135" y="4436455"/>
              <a:ext cx="366827" cy="18121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smtClean="0">
                  <a:solidFill>
                    <a:srgbClr val="0891B2"/>
                  </a:solidFill>
                  <a:uFillTx/>
                  <a:latin typeface="Calibri" pitchFamily="34"/>
                  <a:ea typeface="Calibri" pitchFamily="34"/>
                  <a:cs typeface="Calibri" pitchFamily="34"/>
                </a:rPr>
                <a:t>30</a:t>
              </a:r>
              <a:endParaRPr lang="en-US" sz="1200" b="0" i="0" u="none" strike="noStrike" kern="1200" cap="none" spc="0" baseline="0" dirty="0">
                <a:solidFill>
                  <a:srgbClr val="000000"/>
                </a:solidFill>
                <a:uFillTx/>
                <a:latin typeface="Calibri"/>
              </a:endParaRPr>
            </a:p>
          </p:txBody>
        </p:sp>
        <p:sp>
          <p:nvSpPr>
            <p:cNvPr id="66" name="Text 64"/>
            <p:cNvSpPr/>
            <p:nvPr/>
          </p:nvSpPr>
          <p:spPr>
            <a:xfrm>
              <a:off x="1812036" y="4421215"/>
              <a:ext cx="5145024" cy="202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a:solidFill>
                    <a:srgbClr val="1F1535"/>
                  </a:solidFill>
                  <a:uFillTx/>
                  <a:latin typeface="Calibri" pitchFamily="34"/>
                  <a:ea typeface="Calibri" pitchFamily="34"/>
                  <a:cs typeface="Calibri" pitchFamily="34"/>
                </a:rPr>
                <a:t>Trendy: LLM + </a:t>
              </a:r>
              <a:r>
                <a:rPr lang="en-US" sz="1200" b="0" i="0" u="none" strike="noStrike" kern="1200" cap="none" spc="0" baseline="0" dirty="0" err="1">
                  <a:solidFill>
                    <a:srgbClr val="1F1535"/>
                  </a:solidFill>
                  <a:uFillTx/>
                  <a:latin typeface="Calibri" pitchFamily="34"/>
                  <a:ea typeface="Calibri" pitchFamily="34"/>
                  <a:cs typeface="Calibri" pitchFamily="34"/>
                </a:rPr>
                <a:t>emocje</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generatywna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empatia</a:t>
              </a:r>
              <a:r>
                <a:rPr lang="en-US" sz="1200" b="0" i="0" u="none" strike="noStrike" kern="1200" cap="none" spc="0" baseline="0" dirty="0">
                  <a:solidFill>
                    <a:srgbClr val="1F1535"/>
                  </a:solidFill>
                  <a:uFillTx/>
                  <a:latin typeface="Calibri" pitchFamily="34"/>
                  <a:ea typeface="Calibri" pitchFamily="34"/>
                  <a:cs typeface="Calibri" pitchFamily="34"/>
                </a:rPr>
                <a:t>, </a:t>
              </a:r>
              <a:r>
                <a:rPr lang="en-US" sz="1200" b="0" i="0" u="none" strike="noStrike" kern="1200" cap="none" spc="0" baseline="0" dirty="0" err="1">
                  <a:solidFill>
                    <a:srgbClr val="1F1535"/>
                  </a:solidFill>
                  <a:uFillTx/>
                  <a:latin typeface="Calibri" pitchFamily="34"/>
                  <a:ea typeface="Calibri" pitchFamily="34"/>
                  <a:cs typeface="Calibri" pitchFamily="34"/>
                </a:rPr>
                <a:t>podsumowanie</a:t>
              </a:r>
              <a:endParaRPr lang="en-US" sz="1200" b="0" i="0" u="none" strike="noStrike" kern="1200" cap="none" spc="0" baseline="0" dirty="0">
                <a:solidFill>
                  <a:srgbClr val="000000"/>
                </a:solidFill>
                <a:uFillTx/>
                <a:latin typeface="Calibri"/>
              </a:endParaRPr>
            </a:p>
          </p:txBody>
        </p:sp>
      </p:grpSp>
      <p:sp>
        <p:nvSpPr>
          <p:cNvPr id="70" name="Text 4"/>
          <p:cNvSpPr/>
          <p:nvPr/>
        </p:nvSpPr>
        <p:spPr>
          <a:xfrm>
            <a:off x="274320" y="4992624"/>
            <a:ext cx="8595360" cy="1463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Informatyka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Afektywna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w </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a</a:t>
            </a:r>
            <a:r>
              <a:rPr lang="en-US" sz="900" b="0" i="0" u="none" strike="noStrike" kern="1200" cap="none" spc="0" baseline="0" dirty="0" err="1" smtClean="0">
                <a:solidFill>
                  <a:schemeClr val="accent5">
                    <a:lumMod val="75000"/>
                  </a:schemeClr>
                </a:solidFill>
                <a:uFillTx/>
                <a:latin typeface="Calibri" pitchFamily="34"/>
                <a:ea typeface="Calibri" pitchFamily="34"/>
                <a:cs typeface="Calibri" pitchFamily="34"/>
              </a:rPr>
              <a:t>plikacjach</a:t>
            </a:r>
            <a:r>
              <a:rPr lang="en-US" sz="900" b="0" i="0" u="none" strike="noStrike" kern="1200" cap="none" spc="0" baseline="0" dirty="0" smtClean="0">
                <a:solidFill>
                  <a:schemeClr val="accent5">
                    <a:lumMod val="75000"/>
                  </a:schemeClr>
                </a:solidFill>
                <a:uFillTx/>
                <a:latin typeface="Calibri" pitchFamily="34"/>
                <a:ea typeface="Calibri" pitchFamily="34"/>
                <a:cs typeface="Calibri" pitchFamily="34"/>
              </a:rPr>
              <a:t> </a:t>
            </a:r>
            <a:r>
              <a:rPr lang="pl-PL" sz="900" b="0" i="0" u="none" strike="noStrike" kern="1200" cap="none" spc="0" baseline="0" dirty="0" smtClean="0">
                <a:solidFill>
                  <a:schemeClr val="accent5">
                    <a:lumMod val="75000"/>
                  </a:schemeClr>
                </a:solidFill>
                <a:uFillTx/>
                <a:latin typeface="Calibri" pitchFamily="34"/>
                <a:ea typeface="Calibri" pitchFamily="34"/>
                <a:cs typeface="Calibri" pitchFamily="34"/>
              </a:rPr>
              <a:t>m</a:t>
            </a:r>
            <a:r>
              <a:rPr lang="en-US" sz="900" b="0" i="0" u="none" strike="noStrike" kern="1200" cap="none" spc="0" baseline="0" dirty="0" err="1" smtClean="0">
                <a:solidFill>
                  <a:schemeClr val="accent5">
                    <a:lumMod val="75000"/>
                  </a:schemeClr>
                </a:solidFill>
                <a:uFillTx/>
                <a:latin typeface="Calibri" pitchFamily="34"/>
                <a:ea typeface="Calibri" pitchFamily="34"/>
                <a:cs typeface="Calibri" pitchFamily="34"/>
              </a:rPr>
              <a:t>obilnych</a:t>
            </a:r>
            <a:endParaRPr lang="en-US" sz="900" b="0" i="0" u="none" strike="noStrike" kern="1200" cap="none" spc="0" baseline="0" dirty="0">
              <a:solidFill>
                <a:schemeClr val="accent5">
                  <a:lumMod val="75000"/>
                </a:schemeClr>
              </a:solidFill>
              <a:uFillTx/>
              <a:latin typeface="Calibri"/>
            </a:endParaRPr>
          </a:p>
        </p:txBody>
      </p:sp>
      <p:sp>
        <p:nvSpPr>
          <p:cNvPr id="71"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9FF"/>
        </a:solidFill>
        <a:effectLst/>
      </p:bgPr>
    </p:bg>
    <p:spTree>
      <p:nvGrpSpPr>
        <p:cNvPr id="1" name=""/>
        <p:cNvGrpSpPr/>
        <p:nvPr/>
      </p:nvGrpSpPr>
      <p:grpSpPr>
        <a:xfrm>
          <a:off x="0" y="0"/>
          <a:ext cx="0" cy="0"/>
          <a:chOff x="0" y="0"/>
          <a:chExt cx="0" cy="0"/>
        </a:xfrm>
      </p:grpSpPr>
      <p:grpSp>
        <p:nvGrpSpPr>
          <p:cNvPr id="50" name="Grupa 49"/>
          <p:cNvGrpSpPr/>
          <p:nvPr/>
        </p:nvGrpSpPr>
        <p:grpSpPr>
          <a:xfrm>
            <a:off x="0" y="0"/>
            <a:ext cx="9144000" cy="558000"/>
            <a:chOff x="0" y="0"/>
            <a:chExt cx="9144000" cy="558000"/>
          </a:xfrm>
        </p:grpSpPr>
        <p:sp>
          <p:nvSpPr>
            <p:cNvPr id="48"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Czym</a:t>
            </a:r>
            <a:r>
              <a:rPr lang="en-US" sz="2000" b="1" i="0" u="none" strike="noStrike" kern="1200" cap="none" spc="0" baseline="0" dirty="0">
                <a:solidFill>
                  <a:srgbClr val="FFFFFF"/>
                </a:solidFill>
                <a:uFillTx/>
                <a:latin typeface="Cambria" pitchFamily="34"/>
                <a:ea typeface="Cambria" pitchFamily="34"/>
                <a:cs typeface="Cambria" pitchFamily="34"/>
              </a:rPr>
              <a:t> jest </a:t>
            </a:r>
            <a:r>
              <a:rPr lang="en-US" sz="2000" b="1" i="0" u="none" strike="noStrike" kern="1200" cap="none" spc="0" baseline="0" dirty="0" err="1">
                <a:solidFill>
                  <a:srgbClr val="FFFFFF"/>
                </a:solidFill>
                <a:uFillTx/>
                <a:latin typeface="Cambria" pitchFamily="34"/>
                <a:ea typeface="Cambria" pitchFamily="34"/>
                <a:cs typeface="Cambria" pitchFamily="34"/>
              </a:rPr>
              <a:t>Informatyka</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Afektywna</a:t>
            </a:r>
            <a:r>
              <a:rPr lang="en-US" sz="2000" b="1" i="0" u="none" strike="noStrike" kern="1200" cap="none" spc="0" baseline="0" dirty="0" smtClean="0">
                <a:solidFill>
                  <a:srgbClr val="FFFFFF"/>
                </a:solidFill>
                <a:uFillTx/>
                <a:latin typeface="Cambria" pitchFamily="34"/>
                <a:ea typeface="Cambria" pitchFamily="34"/>
                <a:cs typeface="Cambria" pitchFamily="34"/>
              </a:rPr>
              <a:t>?</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685800" y="733621"/>
            <a:ext cx="7772400" cy="68982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en-US" sz="1600" b="0" i="1" u="none" strike="noStrike" kern="1200" cap="none" spc="0" baseline="0" dirty="0">
                <a:solidFill>
                  <a:srgbClr val="002060"/>
                </a:solidFill>
                <a:uFillTx/>
                <a:latin typeface="Cambria" pitchFamily="34"/>
                <a:ea typeface="Cambria" pitchFamily="34"/>
                <a:cs typeface="Cambria" pitchFamily="34"/>
              </a:rPr>
              <a:t>"</a:t>
            </a:r>
            <a:r>
              <a:rPr lang="en-US" sz="1600" b="1" i="1" u="none" strike="noStrike" kern="1200" cap="none" spc="0" baseline="0" dirty="0">
                <a:solidFill>
                  <a:srgbClr val="002060"/>
                </a:solidFill>
                <a:uFillTx/>
                <a:latin typeface="Cambria" pitchFamily="34"/>
                <a:ea typeface="Cambria" pitchFamily="34"/>
                <a:cs typeface="Cambria" pitchFamily="34"/>
              </a:rPr>
              <a:t>Affective computing is computing that relates to, arises from, or deliberately influences emotions</a:t>
            </a:r>
            <a:r>
              <a:rPr lang="en-US" sz="1600" b="0" i="1" u="none" strike="noStrike" kern="1200" cap="none" spc="0" baseline="0" dirty="0">
                <a:solidFill>
                  <a:srgbClr val="002060"/>
                </a:solidFill>
                <a:uFillTx/>
                <a:latin typeface="Cambria" pitchFamily="34"/>
                <a:ea typeface="Cambria" pitchFamily="34"/>
                <a:cs typeface="Cambria" pitchFamily="34"/>
              </a:rPr>
              <a:t>" — Rosalind W. Picard, MIT Media Lab, 1997</a:t>
            </a:r>
            <a:endParaRPr lang="en-US" sz="1600" b="0" i="0" u="none" strike="noStrike" kern="1200" cap="none" spc="0" baseline="0" dirty="0">
              <a:solidFill>
                <a:srgbClr val="002060"/>
              </a:solidFill>
              <a:uFillTx/>
              <a:latin typeface="Calibri"/>
            </a:endParaRPr>
          </a:p>
        </p:txBody>
      </p:sp>
      <p:grpSp>
        <p:nvGrpSpPr>
          <p:cNvPr id="53" name="Grupa 52"/>
          <p:cNvGrpSpPr/>
          <p:nvPr/>
        </p:nvGrpSpPr>
        <p:grpSpPr>
          <a:xfrm>
            <a:off x="320040" y="1825750"/>
            <a:ext cx="4160520" cy="900000"/>
            <a:chOff x="320040" y="1216152"/>
            <a:chExt cx="4160520" cy="713232"/>
          </a:xfrm>
        </p:grpSpPr>
        <p:sp>
          <p:nvSpPr>
            <p:cNvPr id="8" name="Shape 6"/>
            <p:cNvSpPr/>
            <p:nvPr/>
          </p:nvSpPr>
          <p:spPr>
            <a:xfrm>
              <a:off x="320040" y="1216152"/>
              <a:ext cx="4160520" cy="713232"/>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 y="1216152"/>
              <a:ext cx="54864" cy="713232"/>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0" name="Text 8"/>
          <p:cNvSpPr/>
          <p:nvPr/>
        </p:nvSpPr>
        <p:spPr>
          <a:xfrm>
            <a:off x="448056" y="185259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Definicja</a:t>
            </a:r>
            <a:r>
              <a:rPr lang="en-US" sz="1150" b="1" i="0" u="none" strike="noStrike" kern="1200" cap="none" spc="0" baseline="0" dirty="0">
                <a:solidFill>
                  <a:srgbClr val="1F1535"/>
                </a:solidFill>
                <a:uFillTx/>
                <a:latin typeface="Cambria" pitchFamily="34"/>
                <a:ea typeface="Cambria" pitchFamily="34"/>
                <a:cs typeface="Cambria" pitchFamily="34"/>
              </a:rPr>
              <a:t> (Picard, 1997)</a:t>
            </a:r>
            <a:endParaRPr lang="en-US" sz="1150" b="0" i="0" u="none" strike="noStrike" kern="1200" cap="none" spc="0" baseline="0" dirty="0">
              <a:solidFill>
                <a:srgbClr val="000000"/>
              </a:solidFill>
              <a:uFillTx/>
              <a:latin typeface="Calibri"/>
            </a:endParaRPr>
          </a:p>
        </p:txBody>
      </p:sp>
      <p:sp>
        <p:nvSpPr>
          <p:cNvPr id="11" name="Text 9"/>
          <p:cNvSpPr/>
          <p:nvPr/>
        </p:nvSpPr>
        <p:spPr>
          <a:xfrm>
            <a:off x="448056" y="2154935"/>
            <a:ext cx="3977639" cy="49924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err="1">
                <a:solidFill>
                  <a:srgbClr val="111931"/>
                </a:solidFill>
                <a:uFillTx/>
                <a:latin typeface="Calibri" pitchFamily="34"/>
                <a:ea typeface="Calibri" pitchFamily="34"/>
                <a:cs typeface="Calibri" pitchFamily="34"/>
              </a:rPr>
              <a:t>Systemy</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komputerowe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zdolne</a:t>
            </a:r>
            <a:r>
              <a:rPr lang="en-US" sz="1100" b="0" i="0" u="none" strike="noStrike" kern="1200" cap="none" spc="0" baseline="0" dirty="0">
                <a:solidFill>
                  <a:srgbClr val="111931"/>
                </a:solidFill>
                <a:uFillTx/>
                <a:latin typeface="Calibri" pitchFamily="34"/>
                <a:ea typeface="Calibri" pitchFamily="34"/>
                <a:cs typeface="Calibri" pitchFamily="34"/>
              </a:rPr>
              <a:t> do </a:t>
            </a:r>
            <a:r>
              <a:rPr lang="en-US" sz="1100" b="0" i="0" u="none" strike="noStrike" kern="1200" cap="none" spc="0" baseline="0" dirty="0" err="1">
                <a:solidFill>
                  <a:srgbClr val="111931"/>
                </a:solidFill>
                <a:uFillTx/>
                <a:latin typeface="Calibri" pitchFamily="34"/>
                <a:ea typeface="Calibri" pitchFamily="34"/>
                <a:cs typeface="Calibri" pitchFamily="34"/>
              </a:rPr>
              <a:t>rozpoznawania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interpretowania</a:t>
            </a:r>
            <a:r>
              <a:rPr lang="en-US" sz="1100" b="0" i="0" u="none" strike="noStrike" kern="1200" cap="none" spc="0" baseline="0" dirty="0">
                <a:solidFill>
                  <a:srgbClr val="111931"/>
                </a:solidFill>
                <a:uFillTx/>
                <a:latin typeface="Calibri" pitchFamily="34"/>
                <a:ea typeface="Calibri" pitchFamily="34"/>
                <a:cs typeface="Calibri" pitchFamily="34"/>
              </a:rPr>
              <a:t> </a:t>
            </a:r>
            <a:r>
              <a:rPr lang="pl-PL" sz="1100" b="0" i="0" u="none" strike="noStrike" kern="1200" cap="none" spc="0" baseline="0" dirty="0" smtClean="0">
                <a:solidFill>
                  <a:srgbClr val="111931"/>
                </a:solidFill>
                <a:uFillTx/>
                <a:latin typeface="Calibri" pitchFamily="34"/>
                <a:ea typeface="Calibri" pitchFamily="34"/>
                <a:cs typeface="Calibri" pitchFamily="34"/>
              </a:rPr>
              <a:t/>
            </a:r>
            <a:br>
              <a:rPr lang="pl-PL" sz="1100" b="0" i="0" u="none" strike="noStrike" kern="1200" cap="none" spc="0" baseline="0" dirty="0" smtClean="0">
                <a:solidFill>
                  <a:srgbClr val="111931"/>
                </a:solidFill>
                <a:uFillTx/>
                <a:latin typeface="Calibri" pitchFamily="34"/>
                <a:ea typeface="Calibri" pitchFamily="34"/>
                <a:cs typeface="Calibri" pitchFamily="34"/>
              </a:rPr>
            </a:br>
            <a:r>
              <a:rPr lang="en-US" sz="1100" b="0" i="0" u="none" strike="noStrike" kern="1200" cap="none" spc="0" baseline="0" dirty="0" err="1" smtClean="0">
                <a:solidFill>
                  <a:srgbClr val="111931"/>
                </a:solidFill>
                <a:uFillTx/>
                <a:latin typeface="Calibri" pitchFamily="34"/>
                <a:ea typeface="Calibri" pitchFamily="34"/>
                <a:cs typeface="Calibri" pitchFamily="34"/>
              </a:rPr>
              <a:t>i</a:t>
            </a:r>
            <a:r>
              <a:rPr lang="en-US" sz="1100" b="0" i="0" u="none" strike="noStrike" kern="1200" cap="none" spc="0" baseline="0" dirty="0" smtClean="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symulowania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ludzkich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emocji</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Cel</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naturalna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empatyczna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interakcja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człowiek-maszyna</a:t>
            </a:r>
            <a:r>
              <a:rPr lang="en-US" sz="1100" b="0" i="0" u="none" strike="noStrike" kern="1200" cap="none" spc="0" baseline="0" dirty="0">
                <a:solidFill>
                  <a:srgbClr val="111931"/>
                </a:solidFill>
                <a:uFillTx/>
                <a:latin typeface="Calibri" pitchFamily="34"/>
                <a:ea typeface="Calibri" pitchFamily="34"/>
                <a:cs typeface="Calibri" pitchFamily="34"/>
              </a:rPr>
              <a:t> (HCI).</a:t>
            </a:r>
            <a:endParaRPr lang="en-US" sz="1100" b="0" i="0" u="none" strike="noStrike" kern="1200" cap="none" spc="0" baseline="0" dirty="0">
              <a:solidFill>
                <a:srgbClr val="111931"/>
              </a:solidFill>
              <a:uFillTx/>
              <a:latin typeface="Calibri"/>
            </a:endParaRPr>
          </a:p>
        </p:txBody>
      </p:sp>
      <p:grpSp>
        <p:nvGrpSpPr>
          <p:cNvPr id="52" name="Grupa 51"/>
          <p:cNvGrpSpPr/>
          <p:nvPr/>
        </p:nvGrpSpPr>
        <p:grpSpPr>
          <a:xfrm>
            <a:off x="320040" y="2791345"/>
            <a:ext cx="4160520" cy="900000"/>
            <a:chOff x="320040" y="1965960"/>
            <a:chExt cx="4160520" cy="713232"/>
          </a:xfrm>
        </p:grpSpPr>
        <p:sp>
          <p:nvSpPr>
            <p:cNvPr id="12" name="Shape 10"/>
            <p:cNvSpPr/>
            <p:nvPr/>
          </p:nvSpPr>
          <p:spPr>
            <a:xfrm>
              <a:off x="320040" y="1965960"/>
              <a:ext cx="4160520" cy="713232"/>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320040" y="1965960"/>
              <a:ext cx="54864" cy="713232"/>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4" name="Text 12"/>
          <p:cNvSpPr/>
          <p:nvPr/>
        </p:nvSpPr>
        <p:spPr>
          <a:xfrm>
            <a:off x="438912" y="2804601"/>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Dlaczego</a:t>
            </a:r>
            <a:r>
              <a:rPr lang="en-US" sz="1150" b="1" i="0" u="none" strike="noStrike" kern="1200" cap="none" spc="0" baseline="0" dirty="0">
                <a:solidFill>
                  <a:srgbClr val="1F1535"/>
                </a:solidFill>
                <a:uFillTx/>
                <a:latin typeface="Cambria" pitchFamily="34"/>
                <a:ea typeface="Cambria" pitchFamily="34"/>
                <a:cs typeface="Cambria" pitchFamily="34"/>
              </a:rPr>
              <a:t> mobile?</a:t>
            </a:r>
            <a:endParaRPr lang="en-US" sz="1150" b="0" i="0" u="none" strike="noStrike" kern="1200" cap="none" spc="0" baseline="0" dirty="0">
              <a:solidFill>
                <a:srgbClr val="000000"/>
              </a:solidFill>
              <a:uFillTx/>
              <a:latin typeface="Calibri"/>
            </a:endParaRPr>
          </a:p>
        </p:txBody>
      </p:sp>
      <p:sp>
        <p:nvSpPr>
          <p:cNvPr id="15" name="Text 13"/>
          <p:cNvSpPr/>
          <p:nvPr/>
        </p:nvSpPr>
        <p:spPr>
          <a:xfrm>
            <a:off x="448056" y="3096949"/>
            <a:ext cx="3977639" cy="4572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err="1">
                <a:solidFill>
                  <a:srgbClr val="111931"/>
                </a:solidFill>
                <a:uFillTx/>
                <a:latin typeface="Calibri" pitchFamily="34"/>
                <a:ea typeface="Calibri" pitchFamily="34"/>
                <a:cs typeface="Calibri" pitchFamily="34"/>
              </a:rPr>
              <a:t>Smartfon</a:t>
            </a:r>
            <a:r>
              <a:rPr lang="en-US" sz="1100" b="0" i="0" u="none" strike="noStrike" kern="1200" cap="none" spc="0" baseline="0" dirty="0">
                <a:solidFill>
                  <a:srgbClr val="111931"/>
                </a:solidFill>
                <a:uFillTx/>
                <a:latin typeface="Calibri" pitchFamily="34"/>
                <a:ea typeface="Calibri" pitchFamily="34"/>
                <a:cs typeface="Calibri" pitchFamily="34"/>
              </a:rPr>
              <a:t> jest </a:t>
            </a:r>
            <a:r>
              <a:rPr lang="en-US" sz="1100" b="0" i="0" u="none" strike="noStrike" kern="1200" cap="none" spc="0" baseline="0" dirty="0" err="1">
                <a:solidFill>
                  <a:srgbClr val="111931"/>
                </a:solidFill>
                <a:uFillTx/>
                <a:latin typeface="Calibri" pitchFamily="34"/>
                <a:ea typeface="Calibri" pitchFamily="34"/>
                <a:cs typeface="Calibri" pitchFamily="34"/>
              </a:rPr>
              <a:t>zawsze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przy</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użytkowniku</a:t>
            </a:r>
            <a:r>
              <a:rPr lang="en-US" sz="1100" b="0" i="0" u="none" strike="noStrike" kern="1200" cap="none" spc="0" baseline="0" dirty="0">
                <a:solidFill>
                  <a:srgbClr val="111931"/>
                </a:solidFill>
                <a:uFillTx/>
                <a:latin typeface="Calibri" pitchFamily="34"/>
                <a:ea typeface="Calibri" pitchFamily="34"/>
                <a:cs typeface="Calibri" pitchFamily="34"/>
              </a:rPr>
              <a:t> — </a:t>
            </a:r>
            <a:r>
              <a:rPr lang="en-US" sz="1100" b="0" i="0" u="none" strike="noStrike" kern="1200" cap="none" spc="0" baseline="0" dirty="0" err="1">
                <a:solidFill>
                  <a:srgbClr val="111931"/>
                </a:solidFill>
                <a:uFillTx/>
                <a:latin typeface="Calibri" pitchFamily="34"/>
                <a:ea typeface="Calibri" pitchFamily="34"/>
                <a:cs typeface="Calibri" pitchFamily="34"/>
              </a:rPr>
              <a:t>dostęp</a:t>
            </a:r>
            <a:r>
              <a:rPr lang="en-US" sz="1100" b="0" i="0" u="none" strike="noStrike" kern="1200" cap="none" spc="0" baseline="0" dirty="0">
                <a:solidFill>
                  <a:srgbClr val="111931"/>
                </a:solidFill>
                <a:uFillTx/>
                <a:latin typeface="Calibri" pitchFamily="34"/>
                <a:ea typeface="Calibri" pitchFamily="34"/>
                <a:cs typeface="Calibri" pitchFamily="34"/>
              </a:rPr>
              <a:t> do </a:t>
            </a:r>
            <a:r>
              <a:rPr lang="en-US" sz="1100" b="0" i="0" u="none" strike="noStrike" kern="1200" cap="none" spc="0" baseline="0" dirty="0" err="1">
                <a:solidFill>
                  <a:srgbClr val="111931"/>
                </a:solidFill>
                <a:uFillTx/>
                <a:latin typeface="Calibri" pitchFamily="34"/>
                <a:ea typeface="Calibri" pitchFamily="34"/>
                <a:cs typeface="Calibri" pitchFamily="34"/>
              </a:rPr>
              <a:t>kamery</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mikrofonu</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sensorów</a:t>
            </a:r>
            <a:r>
              <a:rPr lang="en-US" sz="1100" b="0" i="0" u="none" strike="noStrike" kern="1200" cap="none" spc="0" baseline="0" dirty="0">
                <a:solidFill>
                  <a:srgbClr val="111931"/>
                </a:solidFill>
                <a:uFillTx/>
                <a:latin typeface="Calibri" pitchFamily="34"/>
                <a:ea typeface="Calibri" pitchFamily="34"/>
                <a:cs typeface="Calibri" pitchFamily="34"/>
              </a:rPr>
              <a:t> IMU, GPS, </a:t>
            </a:r>
            <a:r>
              <a:rPr lang="en-US" sz="1100" b="0" i="0" u="none" strike="noStrike" kern="1200" cap="none" spc="0" baseline="0" dirty="0" err="1">
                <a:solidFill>
                  <a:srgbClr val="111931"/>
                </a:solidFill>
                <a:uFillTx/>
                <a:latin typeface="Calibri" pitchFamily="34"/>
                <a:ea typeface="Calibri" pitchFamily="34"/>
                <a:cs typeface="Calibri" pitchFamily="34"/>
              </a:rPr>
              <a:t>danych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biometrycznych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Kontekst</a:t>
            </a:r>
            <a:r>
              <a:rPr lang="en-US" sz="1100" b="0" i="0" u="none" strike="noStrike" kern="1200" cap="none" spc="0" baseline="0" dirty="0">
                <a:solidFill>
                  <a:srgbClr val="111931"/>
                </a:solidFill>
                <a:uFillTx/>
                <a:latin typeface="Calibri" pitchFamily="34"/>
                <a:ea typeface="Calibri" pitchFamily="34"/>
                <a:cs typeface="Calibri" pitchFamily="34"/>
              </a:rPr>
              <a:t> 24/7 </a:t>
            </a:r>
            <a:r>
              <a:rPr lang="en-US" sz="1100" b="0" i="0" u="none" strike="noStrike" kern="1200" cap="none" spc="0" baseline="0" dirty="0" err="1">
                <a:solidFill>
                  <a:srgbClr val="111931"/>
                </a:solidFill>
                <a:uFillTx/>
                <a:latin typeface="Calibri" pitchFamily="34"/>
                <a:ea typeface="Calibri" pitchFamily="34"/>
                <a:cs typeface="Calibri" pitchFamily="34"/>
              </a:rPr>
              <a:t>nieosiągalny</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dla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tradycyjnych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systemów</a:t>
            </a:r>
            <a:r>
              <a:rPr lang="en-US" sz="1100" b="0" i="0" u="none" strike="noStrike" kern="1200" cap="none" spc="0" baseline="0" dirty="0">
                <a:solidFill>
                  <a:srgbClr val="111931"/>
                </a:solidFill>
                <a:uFillTx/>
                <a:latin typeface="Calibri" pitchFamily="34"/>
                <a:ea typeface="Calibri" pitchFamily="34"/>
                <a:cs typeface="Calibri" pitchFamily="34"/>
              </a:rPr>
              <a:t>.</a:t>
            </a:r>
            <a:endParaRPr lang="en-US" sz="1100" b="0" i="0" u="none" strike="noStrike" kern="1200" cap="none" spc="0" baseline="0" dirty="0">
              <a:solidFill>
                <a:srgbClr val="111931"/>
              </a:solidFill>
              <a:uFillTx/>
              <a:latin typeface="Calibri"/>
            </a:endParaRPr>
          </a:p>
        </p:txBody>
      </p:sp>
      <p:grpSp>
        <p:nvGrpSpPr>
          <p:cNvPr id="51" name="Grupa 50"/>
          <p:cNvGrpSpPr/>
          <p:nvPr/>
        </p:nvGrpSpPr>
        <p:grpSpPr>
          <a:xfrm>
            <a:off x="320040" y="3769112"/>
            <a:ext cx="4160520" cy="947668"/>
            <a:chOff x="320040" y="2715768"/>
            <a:chExt cx="4160520" cy="713232"/>
          </a:xfrm>
        </p:grpSpPr>
        <p:sp>
          <p:nvSpPr>
            <p:cNvPr id="16" name="Shape 14"/>
            <p:cNvSpPr/>
            <p:nvPr/>
          </p:nvSpPr>
          <p:spPr>
            <a:xfrm>
              <a:off x="320040" y="2715768"/>
              <a:ext cx="4160520" cy="713232"/>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320040" y="2715768"/>
              <a:ext cx="54864" cy="713232"/>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8" name="Text 16"/>
          <p:cNvSpPr/>
          <p:nvPr/>
        </p:nvSpPr>
        <p:spPr>
          <a:xfrm>
            <a:off x="448056" y="3828505"/>
            <a:ext cx="3977639" cy="2437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Wyzwanie</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subiektywność</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emocji</a:t>
            </a:r>
            <a:endParaRPr lang="en-US" sz="1150" b="0" i="0" u="none" strike="noStrike" kern="1200" cap="none" spc="0" baseline="0" dirty="0">
              <a:solidFill>
                <a:srgbClr val="000000"/>
              </a:solidFill>
              <a:uFillTx/>
              <a:latin typeface="Calibri"/>
            </a:endParaRPr>
          </a:p>
        </p:txBody>
      </p:sp>
      <p:sp>
        <p:nvSpPr>
          <p:cNvPr id="19" name="Text 17"/>
          <p:cNvSpPr/>
          <p:nvPr/>
        </p:nvSpPr>
        <p:spPr>
          <a:xfrm>
            <a:off x="438912" y="4126877"/>
            <a:ext cx="3977639" cy="45030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111931"/>
                </a:solidFill>
                <a:uFillTx/>
                <a:latin typeface="Calibri" pitchFamily="34"/>
                <a:ea typeface="Calibri" pitchFamily="34"/>
                <a:cs typeface="Calibri" pitchFamily="34"/>
              </a:rPr>
              <a:t>Ten </a:t>
            </a:r>
            <a:r>
              <a:rPr lang="en-US" sz="1100" b="0" i="0" u="none" strike="noStrike" kern="1200" cap="none" spc="0" baseline="0" dirty="0" err="1">
                <a:solidFill>
                  <a:srgbClr val="111931"/>
                </a:solidFill>
                <a:uFillTx/>
                <a:latin typeface="Calibri" pitchFamily="34"/>
                <a:ea typeface="Calibri" pitchFamily="34"/>
                <a:cs typeface="Calibri" pitchFamily="34"/>
              </a:rPr>
              <a:t>sam</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bodziec</a:t>
            </a:r>
            <a:r>
              <a:rPr lang="en-US" sz="1100" b="0" i="0" u="none" strike="noStrike" kern="1200" cap="none" spc="0" baseline="0" dirty="0">
                <a:solidFill>
                  <a:srgbClr val="111931"/>
                </a:solidFill>
                <a:uFillTx/>
                <a:latin typeface="Calibri" pitchFamily="34"/>
                <a:ea typeface="Calibri" pitchFamily="34"/>
                <a:cs typeface="Calibri" pitchFamily="34"/>
              </a:rPr>
              <a:t> → </a:t>
            </a:r>
            <a:r>
              <a:rPr lang="en-US" sz="1100" b="0" i="0" u="none" strike="noStrike" kern="1200" cap="none" spc="0" baseline="0" dirty="0" err="1">
                <a:solidFill>
                  <a:srgbClr val="111931"/>
                </a:solidFill>
                <a:uFillTx/>
                <a:latin typeface="Calibri" pitchFamily="34"/>
                <a:ea typeface="Calibri" pitchFamily="34"/>
                <a:cs typeface="Calibri" pitchFamily="34"/>
              </a:rPr>
              <a:t>różne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reakcje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emocjonalne</a:t>
            </a:r>
            <a:r>
              <a:rPr lang="en-US" sz="1100" b="0" i="0" u="none" strike="noStrike" kern="1200" cap="none" spc="0" baseline="0" dirty="0">
                <a:solidFill>
                  <a:srgbClr val="111931"/>
                </a:solidFill>
                <a:uFillTx/>
                <a:latin typeface="Calibri" pitchFamily="34"/>
                <a:ea typeface="Calibri" pitchFamily="34"/>
                <a:cs typeface="Calibri" pitchFamily="34"/>
              </a:rPr>
              <a:t> u </a:t>
            </a:r>
            <a:r>
              <a:rPr lang="en-US" sz="1100" b="0" i="0" u="none" strike="noStrike" kern="1200" cap="none" spc="0" baseline="0" dirty="0" err="1">
                <a:solidFill>
                  <a:srgbClr val="111931"/>
                </a:solidFill>
                <a:uFillTx/>
                <a:latin typeface="Calibri" pitchFamily="34"/>
                <a:ea typeface="Calibri" pitchFamily="34"/>
                <a:cs typeface="Calibri" pitchFamily="34"/>
              </a:rPr>
              <a:t>różnych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osób</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Brak</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złotego</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standardu</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etykietowania</a:t>
            </a:r>
            <a:r>
              <a:rPr lang="en-US" sz="1100" b="0" i="0" u="none" strike="noStrike" kern="1200" cap="none" spc="0" baseline="0" dirty="0">
                <a:solidFill>
                  <a:srgbClr val="111931"/>
                </a:solidFill>
                <a:uFillTx/>
                <a:latin typeface="Calibri" pitchFamily="34"/>
                <a:ea typeface="Calibri" pitchFamily="34"/>
                <a:cs typeface="Calibri" pitchFamily="34"/>
              </a:rPr>
              <a:t>. Inter-rater agreement </a:t>
            </a:r>
            <a:r>
              <a:rPr lang="en-US" sz="1100" b="0" i="0" u="none" strike="noStrike" kern="1200" cap="none" spc="0" baseline="0" dirty="0" err="1">
                <a:solidFill>
                  <a:srgbClr val="111931"/>
                </a:solidFill>
                <a:uFillTx/>
                <a:latin typeface="Calibri" pitchFamily="34"/>
                <a:ea typeface="Calibri" pitchFamily="34"/>
                <a:cs typeface="Calibri" pitchFamily="34"/>
              </a:rPr>
              <a:t>często</a:t>
            </a:r>
            <a:r>
              <a:rPr lang="en-US" sz="1100" b="0" i="0" u="none" strike="noStrike" kern="1200" cap="none" spc="0" baseline="0" dirty="0">
                <a:solidFill>
                  <a:srgbClr val="111931"/>
                </a:solidFill>
                <a:uFillTx/>
                <a:latin typeface="Calibri" pitchFamily="34"/>
                <a:ea typeface="Calibri" pitchFamily="34"/>
                <a:cs typeface="Calibri" pitchFamily="34"/>
              </a:rPr>
              <a:t> &lt; 70% w </a:t>
            </a:r>
            <a:r>
              <a:rPr lang="en-US" sz="1100" b="0" i="0" u="none" strike="noStrike" kern="1200" cap="none" spc="0" baseline="0" dirty="0" err="1">
                <a:solidFill>
                  <a:srgbClr val="111931"/>
                </a:solidFill>
                <a:uFillTx/>
                <a:latin typeface="Calibri" pitchFamily="34"/>
                <a:ea typeface="Calibri" pitchFamily="34"/>
                <a:cs typeface="Calibri" pitchFamily="34"/>
              </a:rPr>
              <a:t>datasetach</a:t>
            </a:r>
            <a:r>
              <a:rPr lang="en-US" sz="1100" b="0" i="0" u="none" strike="noStrike" kern="1200" cap="none" spc="0" baseline="0" dirty="0">
                <a:solidFill>
                  <a:srgbClr val="111931"/>
                </a:solidFill>
                <a:uFillTx/>
                <a:latin typeface="Calibri" pitchFamily="34"/>
                <a:ea typeface="Calibri" pitchFamily="34"/>
                <a:cs typeface="Calibri" pitchFamily="34"/>
              </a:rPr>
              <a:t>.</a:t>
            </a:r>
            <a:endParaRPr lang="en-US" sz="1100" b="0" i="0" u="none" strike="noStrike" kern="1200" cap="none" spc="0" baseline="0" dirty="0">
              <a:solidFill>
                <a:srgbClr val="111931"/>
              </a:solidFill>
              <a:uFillTx/>
              <a:latin typeface="Calibri"/>
            </a:endParaRPr>
          </a:p>
        </p:txBody>
      </p:sp>
      <p:grpSp>
        <p:nvGrpSpPr>
          <p:cNvPr id="54" name="Grupa 53"/>
          <p:cNvGrpSpPr/>
          <p:nvPr/>
        </p:nvGrpSpPr>
        <p:grpSpPr>
          <a:xfrm>
            <a:off x="4663440" y="1788514"/>
            <a:ext cx="4206240" cy="2920645"/>
            <a:chOff x="4663440" y="1207015"/>
            <a:chExt cx="4206240" cy="3502145"/>
          </a:xfrm>
        </p:grpSpPr>
        <p:sp>
          <p:nvSpPr>
            <p:cNvPr id="20" name="Text 18"/>
            <p:cNvSpPr/>
            <p:nvPr/>
          </p:nvSpPr>
          <p:spPr>
            <a:xfrm>
              <a:off x="4663440" y="1207015"/>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Kamienie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milowe</a:t>
              </a:r>
              <a:endParaRPr lang="en-US" sz="1200" b="0" i="0" u="none" strike="noStrike" kern="1200" cap="none" spc="0" baseline="0" dirty="0">
                <a:solidFill>
                  <a:srgbClr val="000000"/>
                </a:solidFill>
                <a:uFillTx/>
                <a:latin typeface="Calibri"/>
              </a:endParaRPr>
            </a:p>
          </p:txBody>
        </p:sp>
        <p:sp>
          <p:nvSpPr>
            <p:cNvPr id="21" name="Shape 19"/>
            <p:cNvSpPr/>
            <p:nvPr/>
          </p:nvSpPr>
          <p:spPr>
            <a:xfrm>
              <a:off x="4663440" y="1490472"/>
              <a:ext cx="658368" cy="292608"/>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4663440" y="1490472"/>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1997</a:t>
              </a:r>
              <a:endParaRPr lang="en-US" sz="1000" b="0" i="0" u="none" strike="noStrike" kern="1200" cap="none" spc="0" baseline="0">
                <a:solidFill>
                  <a:srgbClr val="000000"/>
                </a:solidFill>
                <a:uFillTx/>
                <a:latin typeface="Calibri"/>
              </a:endParaRPr>
            </a:p>
          </p:txBody>
        </p:sp>
        <p:sp>
          <p:nvSpPr>
            <p:cNvPr id="23" name="Text 21"/>
            <p:cNvSpPr/>
            <p:nvPr/>
          </p:nvSpPr>
          <p:spPr>
            <a:xfrm>
              <a:off x="5376672" y="152704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002060"/>
                  </a:solidFill>
                  <a:uFillTx/>
                  <a:latin typeface="Calibri" pitchFamily="34"/>
                  <a:ea typeface="Calibri" pitchFamily="34"/>
                  <a:cs typeface="Calibri" pitchFamily="34"/>
                </a:rPr>
                <a:t>Picard — </a:t>
              </a:r>
              <a:r>
                <a:rPr lang="en-US" sz="1050" b="0" i="0" u="none" strike="noStrike" kern="1200" cap="none" spc="0" baseline="0" dirty="0" err="1">
                  <a:solidFill>
                    <a:srgbClr val="002060"/>
                  </a:solidFill>
                  <a:uFillTx/>
                  <a:latin typeface="Calibri" pitchFamily="34"/>
                  <a:ea typeface="Calibri" pitchFamily="34"/>
                  <a:cs typeface="Calibri" pitchFamily="34"/>
                </a:rPr>
                <a:t>książka</a:t>
              </a:r>
              <a:r>
                <a:rPr lang="en-US" sz="1050" b="0" i="0" u="none" strike="noStrike" kern="1200" cap="none" spc="0" baseline="0" dirty="0">
                  <a:solidFill>
                    <a:srgbClr val="002060"/>
                  </a:solidFill>
                  <a:uFillTx/>
                  <a:latin typeface="Calibri" pitchFamily="34"/>
                  <a:ea typeface="Calibri" pitchFamily="34"/>
                  <a:cs typeface="Calibri" pitchFamily="34"/>
                </a:rPr>
                <a:t> Affective Computing, MIT Media Lab</a:t>
              </a:r>
              <a:endParaRPr lang="en-US" sz="1050" b="0" i="0" u="none" strike="noStrike" kern="1200" cap="none" spc="0" baseline="0" dirty="0">
                <a:solidFill>
                  <a:srgbClr val="002060"/>
                </a:solidFill>
                <a:uFillTx/>
                <a:latin typeface="Calibri"/>
              </a:endParaRPr>
            </a:p>
          </p:txBody>
        </p:sp>
        <p:sp>
          <p:nvSpPr>
            <p:cNvPr id="24" name="Shape 22"/>
            <p:cNvSpPr/>
            <p:nvPr/>
          </p:nvSpPr>
          <p:spPr>
            <a:xfrm>
              <a:off x="4663440" y="1856231"/>
              <a:ext cx="658368" cy="29260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4663440" y="1856231"/>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2001</a:t>
              </a:r>
              <a:endParaRPr lang="en-US" sz="1000" b="0" i="0" u="none" strike="noStrike" kern="1200" cap="none" spc="0" baseline="0">
                <a:solidFill>
                  <a:srgbClr val="000000"/>
                </a:solidFill>
                <a:uFillTx/>
                <a:latin typeface="Calibri"/>
              </a:endParaRPr>
            </a:p>
          </p:txBody>
        </p:sp>
        <p:sp>
          <p:nvSpPr>
            <p:cNvPr id="26" name="Text 24"/>
            <p:cNvSpPr/>
            <p:nvPr/>
          </p:nvSpPr>
          <p:spPr>
            <a:xfrm>
              <a:off x="5376672" y="1892807"/>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002060"/>
                  </a:solidFill>
                  <a:uFillTx/>
                  <a:latin typeface="Calibri" pitchFamily="34"/>
                  <a:ea typeface="Calibri" pitchFamily="34"/>
                  <a:cs typeface="Calibri" pitchFamily="34"/>
                </a:rPr>
                <a:t>Cohn et al. — </a:t>
              </a:r>
              <a:r>
                <a:rPr lang="en-US" sz="1050" b="0" i="0" u="none" strike="noStrike" kern="1200" cap="none" spc="0" baseline="0" dirty="0" err="1">
                  <a:solidFill>
                    <a:srgbClr val="002060"/>
                  </a:solidFill>
                  <a:uFillTx/>
                  <a:latin typeface="Calibri" pitchFamily="34"/>
                  <a:ea typeface="Calibri" pitchFamily="34"/>
                  <a:cs typeface="Calibri" pitchFamily="34"/>
                </a:rPr>
                <a:t>automatyczna</a:t>
              </a:r>
              <a:r>
                <a:rPr lang="en-US" sz="1050" b="0" i="0" u="none" strike="noStrike" kern="1200" cap="none" spc="0" baseline="0" dirty="0">
                  <a:solidFill>
                    <a:srgbClr val="002060"/>
                  </a:solidFill>
                  <a:uFillTx/>
                  <a:latin typeface="Calibri" pitchFamily="34"/>
                  <a:ea typeface="Calibri" pitchFamily="34"/>
                  <a:cs typeface="Calibri" pitchFamily="34"/>
                </a:rPr>
                <a:t> </a:t>
              </a:r>
              <a:r>
                <a:rPr lang="en-US" sz="1050" b="0" i="0" u="none" strike="noStrike" kern="1200" cap="none" spc="0" baseline="0" dirty="0" err="1">
                  <a:solidFill>
                    <a:srgbClr val="002060"/>
                  </a:solidFill>
                  <a:uFillTx/>
                  <a:latin typeface="Calibri" pitchFamily="34"/>
                  <a:ea typeface="Calibri" pitchFamily="34"/>
                  <a:cs typeface="Calibri" pitchFamily="34"/>
                </a:rPr>
                <a:t>detekcja</a:t>
              </a:r>
              <a:r>
                <a:rPr lang="en-US" sz="1050" b="0" i="0" u="none" strike="noStrike" kern="1200" cap="none" spc="0" baseline="0" dirty="0">
                  <a:solidFill>
                    <a:srgbClr val="002060"/>
                  </a:solidFill>
                  <a:uFillTx/>
                  <a:latin typeface="Calibri" pitchFamily="34"/>
                  <a:ea typeface="Calibri" pitchFamily="34"/>
                  <a:cs typeface="Calibri" pitchFamily="34"/>
                </a:rPr>
                <a:t> AU (Action Units) z </a:t>
              </a:r>
              <a:r>
                <a:rPr lang="en-US" sz="1050" b="0" i="0" u="none" strike="noStrike" kern="1200" cap="none" spc="0" baseline="0" dirty="0" err="1">
                  <a:solidFill>
                    <a:srgbClr val="002060"/>
                  </a:solidFill>
                  <a:uFillTx/>
                  <a:latin typeface="Calibri" pitchFamily="34"/>
                  <a:ea typeface="Calibri" pitchFamily="34"/>
                  <a:cs typeface="Calibri" pitchFamily="34"/>
                </a:rPr>
                <a:t>wideo</a:t>
              </a:r>
              <a:endParaRPr lang="en-US" sz="1050" b="0" i="0" u="none" strike="noStrike" kern="1200" cap="none" spc="0" baseline="0" dirty="0">
                <a:solidFill>
                  <a:srgbClr val="002060"/>
                </a:solidFill>
                <a:uFillTx/>
                <a:latin typeface="Calibri"/>
              </a:endParaRPr>
            </a:p>
          </p:txBody>
        </p:sp>
        <p:sp>
          <p:nvSpPr>
            <p:cNvPr id="27" name="Shape 25"/>
            <p:cNvSpPr/>
            <p:nvPr/>
          </p:nvSpPr>
          <p:spPr>
            <a:xfrm>
              <a:off x="4663440" y="2221991"/>
              <a:ext cx="658368" cy="292608"/>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8" name="Text 26"/>
            <p:cNvSpPr/>
            <p:nvPr/>
          </p:nvSpPr>
          <p:spPr>
            <a:xfrm>
              <a:off x="4663440" y="2221991"/>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2010</a:t>
              </a:r>
              <a:endParaRPr lang="en-US" sz="1000" b="0" i="0" u="none" strike="noStrike" kern="1200" cap="none" spc="0" baseline="0">
                <a:solidFill>
                  <a:srgbClr val="000000"/>
                </a:solidFill>
                <a:uFillTx/>
                <a:latin typeface="Calibri"/>
              </a:endParaRPr>
            </a:p>
          </p:txBody>
        </p:sp>
        <p:sp>
          <p:nvSpPr>
            <p:cNvPr id="29" name="Text 27"/>
            <p:cNvSpPr/>
            <p:nvPr/>
          </p:nvSpPr>
          <p:spPr>
            <a:xfrm>
              <a:off x="5376672" y="225856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002060"/>
                  </a:solidFill>
                  <a:uFillTx/>
                  <a:latin typeface="Calibri" pitchFamily="34"/>
                  <a:ea typeface="Calibri" pitchFamily="34"/>
                  <a:cs typeface="Calibri" pitchFamily="34"/>
                </a:rPr>
                <a:t>Siri (Apple) — </a:t>
              </a:r>
              <a:r>
                <a:rPr lang="en-US" sz="1050" b="0" i="0" u="none" strike="noStrike" kern="1200" cap="none" spc="0" baseline="0" dirty="0" err="1">
                  <a:solidFill>
                    <a:srgbClr val="002060"/>
                  </a:solidFill>
                  <a:uFillTx/>
                  <a:latin typeface="Calibri" pitchFamily="34"/>
                  <a:ea typeface="Calibri" pitchFamily="34"/>
                  <a:cs typeface="Calibri" pitchFamily="34"/>
                </a:rPr>
                <a:t>pierwszy</a:t>
              </a:r>
              <a:r>
                <a:rPr lang="en-US" sz="1050" b="0" i="0" u="none" strike="noStrike" kern="1200" cap="none" spc="0" baseline="0" dirty="0">
                  <a:solidFill>
                    <a:srgbClr val="002060"/>
                  </a:solidFill>
                  <a:uFillTx/>
                  <a:latin typeface="Calibri" pitchFamily="34"/>
                  <a:ea typeface="Calibri" pitchFamily="34"/>
                  <a:cs typeface="Calibri" pitchFamily="34"/>
                </a:rPr>
                <a:t> </a:t>
              </a:r>
              <a:r>
                <a:rPr lang="en-US" sz="1050" b="0" i="0" u="none" strike="noStrike" kern="1200" cap="none" spc="0" baseline="0" dirty="0" err="1">
                  <a:solidFill>
                    <a:srgbClr val="002060"/>
                  </a:solidFill>
                  <a:uFillTx/>
                  <a:latin typeface="Calibri" pitchFamily="34"/>
                  <a:ea typeface="Calibri" pitchFamily="34"/>
                  <a:cs typeface="Calibri" pitchFamily="34"/>
                </a:rPr>
                <a:t>masowy</a:t>
              </a:r>
              <a:r>
                <a:rPr lang="en-US" sz="1050" b="0" i="0" u="none" strike="noStrike" kern="1200" cap="none" spc="0" baseline="0" dirty="0">
                  <a:solidFill>
                    <a:srgbClr val="002060"/>
                  </a:solidFill>
                  <a:uFillTx/>
                  <a:latin typeface="Calibri" pitchFamily="34"/>
                  <a:ea typeface="Calibri" pitchFamily="34"/>
                  <a:cs typeface="Calibri" pitchFamily="34"/>
                </a:rPr>
                <a:t> </a:t>
              </a:r>
              <a:r>
                <a:rPr lang="en-US" sz="1050" b="0" i="0" u="none" strike="noStrike" kern="1200" cap="none" spc="0" baseline="0" dirty="0" err="1">
                  <a:solidFill>
                    <a:srgbClr val="002060"/>
                  </a:solidFill>
                  <a:uFillTx/>
                  <a:latin typeface="Calibri" pitchFamily="34"/>
                  <a:ea typeface="Calibri" pitchFamily="34"/>
                  <a:cs typeface="Calibri" pitchFamily="34"/>
                </a:rPr>
                <a:t>asystent</a:t>
              </a:r>
              <a:r>
                <a:rPr lang="en-US" sz="1050" b="0" i="0" u="none" strike="noStrike" kern="1200" cap="none" spc="0" baseline="0" dirty="0">
                  <a:solidFill>
                    <a:srgbClr val="002060"/>
                  </a:solidFill>
                  <a:uFillTx/>
                  <a:latin typeface="Calibri" pitchFamily="34"/>
                  <a:ea typeface="Calibri" pitchFamily="34"/>
                  <a:cs typeface="Calibri" pitchFamily="34"/>
                </a:rPr>
                <a:t> z intent recognition</a:t>
              </a:r>
              <a:endParaRPr lang="en-US" sz="1050" b="0" i="0" u="none" strike="noStrike" kern="1200" cap="none" spc="0" baseline="0" dirty="0">
                <a:solidFill>
                  <a:srgbClr val="002060"/>
                </a:solidFill>
                <a:uFillTx/>
                <a:latin typeface="Calibri"/>
              </a:endParaRPr>
            </a:p>
          </p:txBody>
        </p:sp>
        <p:sp>
          <p:nvSpPr>
            <p:cNvPr id="30" name="Shape 28"/>
            <p:cNvSpPr/>
            <p:nvPr/>
          </p:nvSpPr>
          <p:spPr>
            <a:xfrm>
              <a:off x="4663440" y="2587751"/>
              <a:ext cx="658368" cy="29260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4663440" y="2587751"/>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2015</a:t>
              </a:r>
              <a:endParaRPr lang="en-US" sz="1000" b="0" i="0" u="none" strike="noStrike" kern="1200" cap="none" spc="0" baseline="0">
                <a:solidFill>
                  <a:srgbClr val="000000"/>
                </a:solidFill>
                <a:uFillTx/>
                <a:latin typeface="Calibri"/>
              </a:endParaRPr>
            </a:p>
          </p:txBody>
        </p:sp>
        <p:sp>
          <p:nvSpPr>
            <p:cNvPr id="32" name="Text 30"/>
            <p:cNvSpPr/>
            <p:nvPr/>
          </p:nvSpPr>
          <p:spPr>
            <a:xfrm>
              <a:off x="5376672" y="2624327"/>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Microsoft Azure Emotion API — publiczne cloud API do mimiki</a:t>
              </a:r>
              <a:endParaRPr lang="en-US" sz="1050" b="0" i="0" u="none" strike="noStrike" kern="1200" cap="none" spc="0" baseline="0">
                <a:solidFill>
                  <a:srgbClr val="002060"/>
                </a:solidFill>
                <a:uFillTx/>
                <a:latin typeface="Calibri"/>
              </a:endParaRPr>
            </a:p>
          </p:txBody>
        </p:sp>
        <p:sp>
          <p:nvSpPr>
            <p:cNvPr id="33" name="Shape 31"/>
            <p:cNvSpPr/>
            <p:nvPr/>
          </p:nvSpPr>
          <p:spPr>
            <a:xfrm>
              <a:off x="4663440" y="2953512"/>
              <a:ext cx="658368" cy="292608"/>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663440" y="2953512"/>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2017</a:t>
              </a:r>
              <a:endParaRPr lang="en-US" sz="1000" b="0" i="0" u="none" strike="noStrike" kern="1200" cap="none" spc="0" baseline="0">
                <a:solidFill>
                  <a:srgbClr val="000000"/>
                </a:solidFill>
                <a:uFillTx/>
                <a:latin typeface="Calibri"/>
              </a:endParaRPr>
            </a:p>
          </p:txBody>
        </p:sp>
        <p:sp>
          <p:nvSpPr>
            <p:cNvPr id="35" name="Text 33"/>
            <p:cNvSpPr/>
            <p:nvPr/>
          </p:nvSpPr>
          <p:spPr>
            <a:xfrm>
              <a:off x="5376672" y="299008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Apple ARKit + TrueDepth — dense face mesh na urządzeniu</a:t>
              </a:r>
              <a:endParaRPr lang="en-US" sz="1050" b="0" i="0" u="none" strike="noStrike" kern="1200" cap="none" spc="0" baseline="0">
                <a:solidFill>
                  <a:srgbClr val="002060"/>
                </a:solidFill>
                <a:uFillTx/>
                <a:latin typeface="Calibri"/>
              </a:endParaRPr>
            </a:p>
          </p:txBody>
        </p:sp>
        <p:sp>
          <p:nvSpPr>
            <p:cNvPr id="36" name="Shape 34"/>
            <p:cNvSpPr/>
            <p:nvPr/>
          </p:nvSpPr>
          <p:spPr>
            <a:xfrm>
              <a:off x="4663440" y="3319272"/>
              <a:ext cx="658368" cy="29260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4663440" y="3319272"/>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2019</a:t>
              </a:r>
              <a:endParaRPr lang="en-US" sz="1000" b="0" i="0" u="none" strike="noStrike" kern="1200" cap="none" spc="0" baseline="0">
                <a:solidFill>
                  <a:srgbClr val="000000"/>
                </a:solidFill>
                <a:uFillTx/>
                <a:latin typeface="Calibri"/>
              </a:endParaRPr>
            </a:p>
          </p:txBody>
        </p:sp>
        <p:sp>
          <p:nvSpPr>
            <p:cNvPr id="38" name="Text 36"/>
            <p:cNvSpPr/>
            <p:nvPr/>
          </p:nvSpPr>
          <p:spPr>
            <a:xfrm>
              <a:off x="5376672" y="335584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Affectiva AFFDEX SDK — real-time 7 emocji w przeglądarce/mobile</a:t>
              </a:r>
              <a:endParaRPr lang="en-US" sz="1050" b="0" i="0" u="none" strike="noStrike" kern="1200" cap="none" spc="0" baseline="0">
                <a:solidFill>
                  <a:srgbClr val="002060"/>
                </a:solidFill>
                <a:uFillTx/>
                <a:latin typeface="Calibri"/>
              </a:endParaRPr>
            </a:p>
          </p:txBody>
        </p:sp>
        <p:sp>
          <p:nvSpPr>
            <p:cNvPr id="39" name="Shape 37"/>
            <p:cNvSpPr/>
            <p:nvPr/>
          </p:nvSpPr>
          <p:spPr>
            <a:xfrm>
              <a:off x="4663440" y="3685032"/>
              <a:ext cx="658368" cy="29260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663440" y="3685032"/>
              <a:ext cx="658368" cy="292608"/>
            </a:xfrm>
            <a:prstGeom prst="rect">
              <a:avLst/>
            </a:prstGeom>
            <a:solidFill>
              <a:srgbClr val="3976EF"/>
            </a:solid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2021</a:t>
              </a:r>
              <a:endParaRPr lang="en-US" sz="1000" b="0" i="0" u="none" strike="noStrike" kern="1200" cap="none" spc="0" baseline="0">
                <a:solidFill>
                  <a:srgbClr val="000000"/>
                </a:solidFill>
                <a:uFillTx/>
                <a:latin typeface="Calibri"/>
              </a:endParaRPr>
            </a:p>
          </p:txBody>
        </p:sp>
        <p:sp>
          <p:nvSpPr>
            <p:cNvPr id="41" name="Text 39"/>
            <p:cNvSpPr/>
            <p:nvPr/>
          </p:nvSpPr>
          <p:spPr>
            <a:xfrm>
              <a:off x="5376672" y="372160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Apple AirPods Pro + headphone IMU — head emotion tracking</a:t>
              </a:r>
              <a:endParaRPr lang="en-US" sz="1050" b="0" i="0" u="none" strike="noStrike" kern="1200" cap="none" spc="0" baseline="0">
                <a:solidFill>
                  <a:srgbClr val="002060"/>
                </a:solidFill>
                <a:uFillTx/>
                <a:latin typeface="Calibri"/>
              </a:endParaRPr>
            </a:p>
          </p:txBody>
        </p:sp>
        <p:sp>
          <p:nvSpPr>
            <p:cNvPr id="42" name="Shape 40"/>
            <p:cNvSpPr/>
            <p:nvPr/>
          </p:nvSpPr>
          <p:spPr>
            <a:xfrm>
              <a:off x="4663440" y="4050792"/>
              <a:ext cx="658368" cy="29260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Text 41"/>
            <p:cNvSpPr/>
            <p:nvPr/>
          </p:nvSpPr>
          <p:spPr>
            <a:xfrm>
              <a:off x="4663440" y="4050792"/>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2023</a:t>
              </a:r>
              <a:endParaRPr lang="en-US" sz="1000" b="0" i="0" u="none" strike="noStrike" kern="1200" cap="none" spc="0" baseline="0">
                <a:solidFill>
                  <a:srgbClr val="000000"/>
                </a:solidFill>
                <a:uFillTx/>
                <a:latin typeface="Calibri"/>
              </a:endParaRPr>
            </a:p>
          </p:txBody>
        </p:sp>
        <p:sp>
          <p:nvSpPr>
            <p:cNvPr id="44" name="Text 42"/>
            <p:cNvSpPr/>
            <p:nvPr/>
          </p:nvSpPr>
          <p:spPr>
            <a:xfrm>
              <a:off x="5376672" y="408736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GPT-4V + Claude — LLM zdolne do opisu emocji z obrazu/tekstu</a:t>
              </a:r>
              <a:endParaRPr lang="en-US" sz="1050" b="0" i="0" u="none" strike="noStrike" kern="1200" cap="none" spc="0" baseline="0">
                <a:solidFill>
                  <a:srgbClr val="002060"/>
                </a:solidFill>
                <a:uFillTx/>
                <a:latin typeface="Calibri"/>
              </a:endParaRPr>
            </a:p>
          </p:txBody>
        </p:sp>
        <p:sp>
          <p:nvSpPr>
            <p:cNvPr id="45" name="Shape 43"/>
            <p:cNvSpPr/>
            <p:nvPr/>
          </p:nvSpPr>
          <p:spPr>
            <a:xfrm>
              <a:off x="4663440" y="4416552"/>
              <a:ext cx="658368" cy="292608"/>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Text 44"/>
            <p:cNvSpPr/>
            <p:nvPr/>
          </p:nvSpPr>
          <p:spPr>
            <a:xfrm>
              <a:off x="4663440" y="4416552"/>
              <a:ext cx="658368" cy="29260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2024</a:t>
              </a:r>
              <a:endParaRPr lang="en-US" sz="1000" b="0" i="0" u="none" strike="noStrike" kern="1200" cap="none" spc="0" baseline="0">
                <a:solidFill>
                  <a:srgbClr val="000000"/>
                </a:solidFill>
                <a:uFillTx/>
                <a:latin typeface="Calibri"/>
              </a:endParaRPr>
            </a:p>
          </p:txBody>
        </p:sp>
        <p:sp>
          <p:nvSpPr>
            <p:cNvPr id="47" name="Text 45"/>
            <p:cNvSpPr/>
            <p:nvPr/>
          </p:nvSpPr>
          <p:spPr>
            <a:xfrm>
              <a:off x="5376672" y="4453128"/>
              <a:ext cx="3493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02060"/>
                  </a:solidFill>
                  <a:uFillTx/>
                  <a:latin typeface="Calibri" pitchFamily="34"/>
                  <a:ea typeface="Calibri" pitchFamily="34"/>
                  <a:cs typeface="Calibri" pitchFamily="34"/>
                </a:rPr>
                <a:t>Meta Llama-3 on-device — LLM afektywny lokalnie na telefonie</a:t>
              </a:r>
              <a:endParaRPr lang="en-US" sz="1050" b="0" i="0" u="none" strike="noStrike" kern="1200" cap="none" spc="0" baseline="0">
                <a:solidFill>
                  <a:srgbClr val="002060"/>
                </a:solidFill>
                <a:uFillTx/>
                <a:latin typeface="Calibri"/>
              </a:endParaRPr>
            </a:p>
          </p:txBody>
        </p:sp>
      </p:grpSp>
      <p:sp>
        <p:nvSpPr>
          <p:cNvPr id="55"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3</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9FF"/>
        </a:solidFill>
        <a:effectLst/>
      </p:bgPr>
    </p:bg>
    <p:spTree>
      <p:nvGrpSpPr>
        <p:cNvPr id="1" name=""/>
        <p:cNvGrpSpPr/>
        <p:nvPr/>
      </p:nvGrpSpPr>
      <p:grpSpPr>
        <a:xfrm>
          <a:off x="0" y="0"/>
          <a:ext cx="0" cy="0"/>
          <a:chOff x="0" y="0"/>
          <a:chExt cx="0" cy="0"/>
        </a:xfrm>
      </p:grpSpPr>
      <p:grpSp>
        <p:nvGrpSpPr>
          <p:cNvPr id="54" name="Grupa 53"/>
          <p:cNvGrpSpPr/>
          <p:nvPr/>
        </p:nvGrpSpPr>
        <p:grpSpPr>
          <a:xfrm>
            <a:off x="0" y="0"/>
            <a:ext cx="9144000" cy="558000"/>
            <a:chOff x="0" y="0"/>
            <a:chExt cx="9144000" cy="558000"/>
          </a:xfrm>
        </p:grpSpPr>
        <p:sp>
          <p:nvSpPr>
            <p:cNvPr id="55"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6"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Modele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mocji</a:t>
            </a:r>
            <a:r>
              <a:rPr lang="pl-PL" sz="2000" b="1" dirty="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Ekman, VAD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Russell </a:t>
            </a:r>
            <a:r>
              <a:rPr lang="en-US" sz="2000" b="1" i="0" u="none" strike="noStrike" kern="1200" cap="none" spc="0" baseline="0" dirty="0" err="1">
                <a:solidFill>
                  <a:srgbClr val="FFFFFF"/>
                </a:solidFill>
                <a:uFillTx/>
                <a:latin typeface="Cambria" pitchFamily="34"/>
                <a:ea typeface="Cambria" pitchFamily="34"/>
                <a:cs typeface="Cambria" pitchFamily="34"/>
              </a:rPr>
              <a:t>Circumplex</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16268"/>
            <a:ext cx="8503920" cy="58711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Wybór</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modelu</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determinuje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architekturę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klasyfikatora</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endParaRPr lang="pl-PL" sz="16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600" b="0" i="0" u="none" strike="noStrike" kern="1200" cap="none" spc="0" baseline="0" dirty="0" smtClean="0">
                <a:solidFill>
                  <a:srgbClr val="111931"/>
                </a:solidFill>
                <a:uFillTx/>
                <a:latin typeface="Calibri" pitchFamily="34"/>
                <a:ea typeface="Calibri" pitchFamily="34"/>
                <a:cs typeface="Calibri" pitchFamily="34"/>
              </a:rPr>
              <a:t>D</a:t>
            </a:r>
            <a:r>
              <a:rPr lang="en-US" sz="1600" b="0" i="0" u="none" strike="noStrike" kern="1200" cap="none" spc="0" baseline="0" dirty="0" err="1" smtClean="0">
                <a:solidFill>
                  <a:srgbClr val="111931"/>
                </a:solidFill>
                <a:uFillTx/>
                <a:latin typeface="Calibri" pitchFamily="34"/>
                <a:ea typeface="Calibri" pitchFamily="34"/>
                <a:cs typeface="Calibri" pitchFamily="34"/>
              </a:rPr>
              <a:t>yskretny</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a:solidFill>
                  <a:srgbClr val="111931"/>
                </a:solidFill>
                <a:uFillTx/>
                <a:latin typeface="Calibri" pitchFamily="34"/>
                <a:ea typeface="Calibri" pitchFamily="34"/>
                <a:cs typeface="Calibri" pitchFamily="34"/>
              </a:rPr>
              <a:t>(</a:t>
            </a:r>
            <a:r>
              <a:rPr lang="en-US" sz="1600" b="0" i="0" u="none" strike="noStrike" kern="1200" cap="none" spc="0" baseline="0" dirty="0" err="1">
                <a:solidFill>
                  <a:srgbClr val="111931"/>
                </a:solidFill>
                <a:uFillTx/>
                <a:latin typeface="Calibri" pitchFamily="34"/>
                <a:ea typeface="Calibri" pitchFamily="34"/>
                <a:cs typeface="Calibri" pitchFamily="34"/>
              </a:rPr>
              <a:t>klasy</a:t>
            </a:r>
            <a:r>
              <a:rPr lang="en-US" sz="1600" b="0" i="0" u="none" strike="noStrike" kern="1200" cap="none" spc="0" baseline="0" dirty="0">
                <a:solidFill>
                  <a:srgbClr val="111931"/>
                </a:solidFill>
                <a:uFillTx/>
                <a:latin typeface="Calibri" pitchFamily="34"/>
                <a:ea typeface="Calibri" pitchFamily="34"/>
                <a:cs typeface="Calibri" pitchFamily="34"/>
              </a:rPr>
              <a:t>) vs </a:t>
            </a:r>
            <a:r>
              <a:rPr lang="en-US" sz="1600" b="0" i="0" u="none" strike="noStrike" kern="1200" cap="none" spc="0" baseline="0" dirty="0" err="1">
                <a:solidFill>
                  <a:srgbClr val="111931"/>
                </a:solidFill>
                <a:uFillTx/>
                <a:latin typeface="Calibri" pitchFamily="34"/>
                <a:ea typeface="Calibri" pitchFamily="34"/>
                <a:cs typeface="Calibri" pitchFamily="34"/>
              </a:rPr>
              <a:t>ciągły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wymiary</a:t>
            </a:r>
            <a:r>
              <a:rPr lang="en-US" sz="1600" b="0" i="0" u="none" strike="noStrike" kern="1200" cap="none" spc="0" baseline="0" dirty="0">
                <a:solidFill>
                  <a:srgbClr val="111931"/>
                </a:solidFill>
                <a:uFillTx/>
                <a:latin typeface="Calibri" pitchFamily="34"/>
                <a:ea typeface="Calibri" pitchFamily="34"/>
                <a:cs typeface="Calibri" pitchFamily="34"/>
              </a:rPr>
              <a:t>) to </a:t>
            </a:r>
            <a:r>
              <a:rPr lang="en-US" sz="1600" b="0" i="0" u="none" strike="noStrike" kern="1200" cap="none" spc="0" baseline="0" dirty="0" err="1">
                <a:solidFill>
                  <a:srgbClr val="111931"/>
                </a:solidFill>
                <a:uFillTx/>
                <a:latin typeface="Calibri" pitchFamily="34"/>
                <a:ea typeface="Calibri" pitchFamily="34"/>
                <a:cs typeface="Calibri" pitchFamily="34"/>
              </a:rPr>
              <a:t>fundamentalna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decyzja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projektowa</a:t>
            </a:r>
            <a:endParaRPr lang="en-US" sz="1600" b="0" i="0" u="none" strike="noStrike" kern="1200" cap="none" spc="0" baseline="0" dirty="0">
              <a:solidFill>
                <a:srgbClr val="111931"/>
              </a:solidFill>
              <a:uFillTx/>
              <a:latin typeface="Calibri"/>
            </a:endParaRPr>
          </a:p>
        </p:txBody>
      </p:sp>
      <p:sp>
        <p:nvSpPr>
          <p:cNvPr id="8" name="Text 6"/>
          <p:cNvSpPr/>
          <p:nvPr/>
        </p:nvSpPr>
        <p:spPr>
          <a:xfrm>
            <a:off x="205518" y="1435814"/>
            <a:ext cx="3474942"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F1535"/>
                </a:solidFill>
                <a:uFillTx/>
                <a:latin typeface="Cambria" pitchFamily="34"/>
                <a:ea typeface="Cambria" pitchFamily="34"/>
                <a:cs typeface="Cambria" pitchFamily="34"/>
              </a:rPr>
              <a:t>Model </a:t>
            </a:r>
            <a:r>
              <a:rPr lang="en-US" sz="1200" b="1" i="0" u="none" strike="noStrike" kern="1200" cap="none" spc="0" baseline="0" dirty="0" err="1" smtClean="0">
                <a:solidFill>
                  <a:srgbClr val="1F1535"/>
                </a:solidFill>
                <a:uFillTx/>
                <a:latin typeface="Cambria" pitchFamily="34"/>
                <a:ea typeface="Cambria" pitchFamily="34"/>
                <a:cs typeface="Cambria" pitchFamily="34"/>
              </a:rPr>
              <a:t>Ekmana</a:t>
            </a:r>
            <a:r>
              <a:rPr lang="pl-PL" sz="1200" b="1" dirty="0" smtClean="0">
                <a:solidFill>
                  <a:srgbClr val="1F1535"/>
                </a:solidFill>
                <a:latin typeface="Cambria" pitchFamily="34"/>
                <a:ea typeface="Cambria" pitchFamily="34"/>
                <a:cs typeface="Cambria" pitchFamily="34"/>
              </a:rPr>
              <a:t>:</a:t>
            </a:r>
            <a:r>
              <a:rPr lang="en-US" sz="1200" b="1" i="0" u="none" strike="noStrike" kern="1200" cap="none" spc="0" baseline="0" dirty="0" smtClean="0">
                <a:solidFill>
                  <a:srgbClr val="1F1535"/>
                </a:solidFill>
                <a:uFillTx/>
                <a:latin typeface="Cambria" pitchFamily="34"/>
                <a:ea typeface="Cambria" pitchFamily="34"/>
                <a:cs typeface="Cambria" pitchFamily="34"/>
              </a:rPr>
              <a:t> </a:t>
            </a:r>
            <a:r>
              <a:rPr lang="en-US" sz="1200" b="1" i="0" u="none" strike="noStrike" kern="1200" cap="none" spc="0" baseline="0" dirty="0">
                <a:solidFill>
                  <a:srgbClr val="1F1535"/>
                </a:solidFill>
                <a:uFillTx/>
                <a:latin typeface="Cambria" pitchFamily="34"/>
                <a:ea typeface="Cambria" pitchFamily="34"/>
                <a:cs typeface="Cambria" pitchFamily="34"/>
              </a:rPr>
              <a:t>6 </a:t>
            </a:r>
            <a:r>
              <a:rPr lang="pl-PL" sz="1200" b="1" i="0" u="none" strike="noStrike" kern="1200" cap="none" spc="0" baseline="0" dirty="0" smtClean="0">
                <a:solidFill>
                  <a:srgbClr val="1F1535"/>
                </a:solidFill>
                <a:uFillTx/>
                <a:latin typeface="Cambria" pitchFamily="34"/>
                <a:ea typeface="Cambria" pitchFamily="34"/>
                <a:cs typeface="Cambria" pitchFamily="34"/>
              </a:rPr>
              <a:t>e</a:t>
            </a:r>
            <a:r>
              <a:rPr lang="en-US" sz="1200" b="1" i="0" u="none" strike="noStrike" kern="1200" cap="none" spc="0" baseline="0" dirty="0" err="1" smtClean="0">
                <a:solidFill>
                  <a:srgbClr val="1F1535"/>
                </a:solidFill>
                <a:uFillTx/>
                <a:latin typeface="Cambria" pitchFamily="34"/>
                <a:ea typeface="Cambria" pitchFamily="34"/>
                <a:cs typeface="Cambria" pitchFamily="34"/>
              </a:rPr>
              <a:t>mocji</a:t>
            </a:r>
            <a:r>
              <a:rPr lang="en-US" sz="1200" b="1" i="0" u="none" strike="noStrike" kern="1200" cap="none" spc="0" baseline="0" dirty="0" smtClean="0">
                <a:solidFill>
                  <a:srgbClr val="1F1535"/>
                </a:solidFill>
                <a:uFillTx/>
                <a:latin typeface="Cambria" pitchFamily="34"/>
                <a:ea typeface="Cambria" pitchFamily="34"/>
                <a:cs typeface="Cambria" pitchFamily="34"/>
              </a:rPr>
              <a:t> </a:t>
            </a:r>
            <a:r>
              <a:rPr lang="pl-PL" sz="1200" b="1" i="0" u="none" strike="noStrike" kern="1200" cap="none" spc="0" baseline="0" dirty="0" smtClean="0">
                <a:solidFill>
                  <a:srgbClr val="1F1535"/>
                </a:solidFill>
                <a:uFillTx/>
                <a:latin typeface="Cambria" pitchFamily="34"/>
                <a:ea typeface="Cambria" pitchFamily="34"/>
                <a:cs typeface="Cambria" pitchFamily="34"/>
              </a:rPr>
              <a:t>p</a:t>
            </a:r>
            <a:r>
              <a:rPr lang="en-US" sz="1200" b="1" i="0" u="none" strike="noStrike" kern="1200" cap="none" spc="0" baseline="0" dirty="0" err="1" smtClean="0">
                <a:solidFill>
                  <a:srgbClr val="1F1535"/>
                </a:solidFill>
                <a:uFillTx/>
                <a:latin typeface="Cambria" pitchFamily="34"/>
                <a:ea typeface="Cambria" pitchFamily="34"/>
                <a:cs typeface="Cambria" pitchFamily="34"/>
              </a:rPr>
              <a:t>odstawowych</a:t>
            </a:r>
            <a:endParaRPr lang="en-US" sz="1200" b="0" i="0" u="none" strike="noStrike" kern="1200" cap="none" spc="0" baseline="0" dirty="0">
              <a:solidFill>
                <a:srgbClr val="000000"/>
              </a:solidFill>
              <a:uFillTx/>
              <a:latin typeface="Calibri"/>
            </a:endParaRPr>
          </a:p>
        </p:txBody>
      </p:sp>
      <p:grpSp>
        <p:nvGrpSpPr>
          <p:cNvPr id="69" name="Grupa 68"/>
          <p:cNvGrpSpPr/>
          <p:nvPr/>
        </p:nvGrpSpPr>
        <p:grpSpPr>
          <a:xfrm>
            <a:off x="205741" y="1713425"/>
            <a:ext cx="3474720" cy="270985"/>
            <a:chOff x="320040" y="1725168"/>
            <a:chExt cx="4197096" cy="270985"/>
          </a:xfrm>
        </p:grpSpPr>
        <p:sp>
          <p:nvSpPr>
            <p:cNvPr id="9" name="Shape 7"/>
            <p:cNvSpPr/>
            <p:nvPr/>
          </p:nvSpPr>
          <p:spPr>
            <a:xfrm>
              <a:off x="320040" y="1725168"/>
              <a:ext cx="1325880" cy="270985"/>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320040"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Radość</a:t>
              </a:r>
              <a:r>
                <a:rPr lang="en-US" sz="1200" b="1" i="0" u="none" strike="noStrike" kern="1200" cap="none" spc="0" baseline="0" dirty="0">
                  <a:solidFill>
                    <a:srgbClr val="FFFFFF"/>
                  </a:solidFill>
                  <a:uFillTx/>
                  <a:latin typeface="Cambria" pitchFamily="34"/>
                  <a:ea typeface="Cambria" pitchFamily="34"/>
                  <a:cs typeface="Cambria" pitchFamily="34"/>
                </a:rPr>
                <a:t> 😊</a:t>
              </a:r>
              <a:endParaRPr lang="en-US" sz="1200" b="0" i="0" u="none" strike="noStrike" kern="1200" cap="none" spc="0" baseline="0" dirty="0">
                <a:solidFill>
                  <a:srgbClr val="000000"/>
                </a:solidFill>
                <a:uFillTx/>
                <a:latin typeface="Calibri"/>
              </a:endParaRPr>
            </a:p>
          </p:txBody>
        </p:sp>
        <p:sp>
          <p:nvSpPr>
            <p:cNvPr id="11" name="Shape 9"/>
            <p:cNvSpPr/>
            <p:nvPr/>
          </p:nvSpPr>
          <p:spPr>
            <a:xfrm>
              <a:off x="1755648" y="1725168"/>
              <a:ext cx="1325880" cy="270985"/>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2" name="Text 10"/>
            <p:cNvSpPr/>
            <p:nvPr/>
          </p:nvSpPr>
          <p:spPr>
            <a:xfrm>
              <a:off x="1755648"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Smutek</a:t>
              </a:r>
              <a:r>
                <a:rPr lang="en-US" sz="1200" b="1" i="0" u="none" strike="noStrike" kern="1200" cap="none" spc="0" baseline="0" dirty="0">
                  <a:solidFill>
                    <a:srgbClr val="FFFFFF"/>
                  </a:solidFill>
                  <a:uFillTx/>
                  <a:latin typeface="Cambria" pitchFamily="34"/>
                  <a:ea typeface="Cambria" pitchFamily="34"/>
                  <a:cs typeface="Cambria" pitchFamily="34"/>
                </a:rPr>
                <a:t> 😢</a:t>
              </a:r>
              <a:endParaRPr lang="en-US" sz="1200" b="0" i="0" u="none" strike="noStrike" kern="1200" cap="none" spc="0" baseline="0" dirty="0">
                <a:solidFill>
                  <a:srgbClr val="000000"/>
                </a:solidFill>
                <a:uFillTx/>
                <a:latin typeface="Calibri"/>
              </a:endParaRPr>
            </a:p>
          </p:txBody>
        </p:sp>
        <p:sp>
          <p:nvSpPr>
            <p:cNvPr id="13" name="Shape 11"/>
            <p:cNvSpPr/>
            <p:nvPr/>
          </p:nvSpPr>
          <p:spPr>
            <a:xfrm>
              <a:off x="3191256" y="1725168"/>
              <a:ext cx="1325880" cy="270985"/>
            </a:xfrm>
            <a:prstGeom prst="rect">
              <a:avLst/>
            </a:prstGeom>
            <a:solidFill>
              <a:srgbClr val="DC262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3191256"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Gniew 😡</a:t>
              </a:r>
              <a:endParaRPr lang="en-US" sz="1200" b="0" i="0" u="none" strike="noStrike" kern="1200" cap="none" spc="0" baseline="0">
                <a:solidFill>
                  <a:srgbClr val="000000"/>
                </a:solidFill>
                <a:uFillTx/>
                <a:latin typeface="Calibri"/>
              </a:endParaRPr>
            </a:p>
          </p:txBody>
        </p:sp>
      </p:grpSp>
      <p:grpSp>
        <p:nvGrpSpPr>
          <p:cNvPr id="70" name="Grupa 69"/>
          <p:cNvGrpSpPr/>
          <p:nvPr/>
        </p:nvGrpSpPr>
        <p:grpSpPr>
          <a:xfrm>
            <a:off x="205741" y="2017149"/>
            <a:ext cx="3474719" cy="270985"/>
            <a:chOff x="4626864" y="1725168"/>
            <a:chExt cx="4197095" cy="270985"/>
          </a:xfrm>
        </p:grpSpPr>
        <p:sp>
          <p:nvSpPr>
            <p:cNvPr id="15" name="Shape 13"/>
            <p:cNvSpPr/>
            <p:nvPr/>
          </p:nvSpPr>
          <p:spPr>
            <a:xfrm>
              <a:off x="4626864" y="1725168"/>
              <a:ext cx="1325880" cy="270985"/>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4626864"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Strach 😨</a:t>
              </a:r>
              <a:endParaRPr lang="en-US" sz="1200" b="0" i="0" u="none" strike="noStrike" kern="1200" cap="none" spc="0" baseline="0">
                <a:solidFill>
                  <a:srgbClr val="000000"/>
                </a:solidFill>
                <a:uFillTx/>
                <a:latin typeface="Calibri"/>
              </a:endParaRPr>
            </a:p>
          </p:txBody>
        </p:sp>
        <p:sp>
          <p:nvSpPr>
            <p:cNvPr id="17" name="Shape 15"/>
            <p:cNvSpPr/>
            <p:nvPr/>
          </p:nvSpPr>
          <p:spPr>
            <a:xfrm>
              <a:off x="6062472" y="1725168"/>
              <a:ext cx="1325880" cy="270985"/>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6062472"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Wstręt</a:t>
              </a:r>
              <a:r>
                <a:rPr lang="en-US" sz="1200" b="1" i="0" u="none" strike="noStrike" kern="1200" cap="none" spc="0" baseline="0" dirty="0">
                  <a:solidFill>
                    <a:srgbClr val="FFFFFF"/>
                  </a:solidFill>
                  <a:uFillTx/>
                  <a:latin typeface="Cambria" pitchFamily="34"/>
                  <a:ea typeface="Cambria" pitchFamily="34"/>
                  <a:cs typeface="Cambria" pitchFamily="34"/>
                </a:rPr>
                <a:t> </a:t>
              </a:r>
              <a:r>
                <a:rPr lang="en-AU" sz="1200" b="1" i="0" u="none" strike="noStrike" kern="1200" cap="none" spc="0" dirty="0" smtClean="0">
                  <a:solidFill>
                    <a:srgbClr val="FFFFFF"/>
                  </a:solidFill>
                  <a:uFillTx/>
                  <a:latin typeface="Calibri" panose="020F0502020204030204" pitchFamily="34" charset="0"/>
                  <a:ea typeface="Cambria" pitchFamily="34"/>
                  <a:cs typeface="Cambria" pitchFamily="34"/>
                </a:rPr>
                <a:t>🤢</a:t>
              </a:r>
              <a:r>
                <a:rPr lang="pl-PL" sz="1200" b="1" i="0" u="none" strike="noStrike" kern="1200" cap="none" spc="0" baseline="0" dirty="0" smtClean="0">
                  <a:solidFill>
                    <a:srgbClr val="FFFFFF"/>
                  </a:solidFill>
                  <a:uFillTx/>
                  <a:latin typeface="Cambria" pitchFamily="34"/>
                  <a:ea typeface="Cambria" pitchFamily="34"/>
                  <a:cs typeface="Cambria" pitchFamily="34"/>
                </a:rPr>
                <a:t> </a:t>
              </a:r>
              <a:endParaRPr lang="pl-PL" sz="1200" b="0" i="0" u="none" strike="noStrike" kern="1200" cap="none" spc="0" baseline="0" dirty="0">
                <a:solidFill>
                  <a:srgbClr val="000000"/>
                </a:solidFill>
                <a:uFillTx/>
                <a:latin typeface="Calibri"/>
              </a:endParaRPr>
            </a:p>
          </p:txBody>
        </p:sp>
        <p:sp>
          <p:nvSpPr>
            <p:cNvPr id="19" name="Shape 17"/>
            <p:cNvSpPr/>
            <p:nvPr/>
          </p:nvSpPr>
          <p:spPr>
            <a:xfrm>
              <a:off x="7498079" y="1725168"/>
              <a:ext cx="1325880" cy="270985"/>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Text 18"/>
            <p:cNvSpPr/>
            <p:nvPr/>
          </p:nvSpPr>
          <p:spPr>
            <a:xfrm>
              <a:off x="7498079" y="1725168"/>
              <a:ext cx="1325880" cy="270985"/>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Zaskoczenie</a:t>
              </a:r>
              <a:r>
                <a:rPr lang="en-US" sz="1200" b="1" i="0" u="none" strike="noStrike" kern="1200" cap="none" spc="0" baseline="0" dirty="0">
                  <a:solidFill>
                    <a:srgbClr val="FFFFFF"/>
                  </a:solidFill>
                  <a:uFillTx/>
                  <a:latin typeface="Cambria" pitchFamily="34"/>
                  <a:ea typeface="Cambria" pitchFamily="34"/>
                  <a:cs typeface="Cambria" pitchFamily="34"/>
                </a:rPr>
                <a:t> 😲</a:t>
              </a:r>
              <a:endParaRPr lang="en-US" sz="1200" b="0" i="0" u="none" strike="noStrike" kern="1200" cap="none" spc="0" baseline="0" dirty="0">
                <a:solidFill>
                  <a:srgbClr val="000000"/>
                </a:solidFill>
                <a:uFillTx/>
                <a:latin typeface="Calibri"/>
              </a:endParaRPr>
            </a:p>
          </p:txBody>
        </p:sp>
      </p:grpSp>
      <p:sp>
        <p:nvSpPr>
          <p:cNvPr id="21" name="Text 19"/>
          <p:cNvSpPr/>
          <p:nvPr/>
        </p:nvSpPr>
        <p:spPr>
          <a:xfrm>
            <a:off x="205740" y="2355114"/>
            <a:ext cx="3474720" cy="323549"/>
          </a:xfrm>
          <a:prstGeom prst="rect">
            <a:avLst/>
          </a:prstGeom>
          <a:noFill/>
          <a:ln cap="flat">
            <a:noFill/>
            <a:prstDash val="solid"/>
          </a:ln>
        </p:spPr>
        <p:txBody>
          <a:bodyPr vert="horz" wrap="square" lIns="91440" tIns="45720" rIns="91440" bIns="45720" anchor="ctr" anchorCtr="0" compatLnSpc="1">
            <a:noAutofit/>
          </a:bodyPr>
          <a:lstStyle/>
          <a:p>
            <a:pPr marL="0" marR="0" lvl="0" indent="0" algn="ctr"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111931"/>
                </a:solidFill>
                <a:uFillTx/>
                <a:latin typeface="Calibri" pitchFamily="34"/>
                <a:ea typeface="Calibri" pitchFamily="34"/>
                <a:cs typeface="Calibri" pitchFamily="34"/>
              </a:rPr>
              <a:t>Ekman + </a:t>
            </a:r>
            <a:r>
              <a:rPr lang="en-US" sz="1100" b="0" i="0" u="none" strike="noStrike" kern="1200" cap="none" spc="0" baseline="0" dirty="0" err="1">
                <a:solidFill>
                  <a:srgbClr val="111931"/>
                </a:solidFill>
                <a:uFillTx/>
                <a:latin typeface="Calibri" pitchFamily="34"/>
                <a:ea typeface="Calibri" pitchFamily="34"/>
                <a:cs typeface="Calibri" pitchFamily="34"/>
              </a:rPr>
              <a:t>pogarda</a:t>
            </a:r>
            <a:r>
              <a:rPr lang="en-US" sz="1100" b="0" i="0" u="none" strike="noStrike" kern="1200" cap="none" spc="0" baseline="0" dirty="0">
                <a:solidFill>
                  <a:srgbClr val="111931"/>
                </a:solidFill>
                <a:uFillTx/>
                <a:latin typeface="Calibri" pitchFamily="34"/>
                <a:ea typeface="Calibri" pitchFamily="34"/>
                <a:cs typeface="Calibri" pitchFamily="34"/>
              </a:rPr>
              <a:t> = 7 (FACS basic set) | Mikael Kobayashi: +26 </a:t>
            </a:r>
            <a:r>
              <a:rPr lang="en-US" sz="1100" b="0" i="0" u="none" strike="noStrike" kern="1200" cap="none" spc="0" baseline="0" dirty="0" err="1">
                <a:solidFill>
                  <a:srgbClr val="111931"/>
                </a:solidFill>
                <a:uFillTx/>
                <a:latin typeface="Calibri" pitchFamily="34"/>
                <a:ea typeface="Calibri" pitchFamily="34"/>
                <a:cs typeface="Calibri" pitchFamily="34"/>
              </a:rPr>
              <a:t>złożonych</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emocji</a:t>
            </a:r>
            <a:r>
              <a:rPr lang="en-US" sz="1100" b="0" i="0" u="none" strike="noStrike" kern="1200" cap="none" spc="0" baseline="0" dirty="0">
                <a:solidFill>
                  <a:srgbClr val="111931"/>
                </a:solidFill>
                <a:uFillTx/>
                <a:latin typeface="Calibri" pitchFamily="34"/>
                <a:ea typeface="Calibri" pitchFamily="34"/>
                <a:cs typeface="Calibri" pitchFamily="34"/>
              </a:rPr>
              <a:t> z </a:t>
            </a:r>
            <a:r>
              <a:rPr lang="en-US" sz="1100" b="0" i="0" u="none" strike="noStrike" kern="1200" cap="none" spc="0" baseline="0" dirty="0" err="1">
                <a:solidFill>
                  <a:srgbClr val="111931"/>
                </a:solidFill>
                <a:uFillTx/>
                <a:latin typeface="Calibri" pitchFamily="34"/>
                <a:ea typeface="Calibri" pitchFamily="34"/>
                <a:cs typeface="Calibri" pitchFamily="34"/>
              </a:rPr>
              <a:t>kombinacji</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podstawowych</a:t>
            </a:r>
            <a:endParaRPr lang="en-US" sz="1100" b="0" i="0" u="none" strike="noStrike" kern="1200" cap="none" spc="0" baseline="0" dirty="0">
              <a:solidFill>
                <a:srgbClr val="111931"/>
              </a:solidFill>
              <a:uFillTx/>
              <a:latin typeface="Calibri"/>
            </a:endParaRPr>
          </a:p>
        </p:txBody>
      </p:sp>
      <p:sp>
        <p:nvSpPr>
          <p:cNvPr id="22" name="Text 20"/>
          <p:cNvSpPr/>
          <p:nvPr/>
        </p:nvSpPr>
        <p:spPr>
          <a:xfrm>
            <a:off x="139148" y="3140888"/>
            <a:ext cx="33604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F1535"/>
                </a:solidFill>
                <a:uFillTx/>
                <a:latin typeface="Cambria" pitchFamily="34"/>
                <a:ea typeface="Cambria" pitchFamily="34"/>
                <a:cs typeface="Cambria" pitchFamily="34"/>
              </a:rPr>
              <a:t>Model VAD (Valence–Arousal–Dominance</a:t>
            </a:r>
            <a:r>
              <a:rPr lang="en-US" sz="1200" b="1" i="0" u="none" strike="noStrike" kern="1200" cap="none" spc="0" baseline="0" dirty="0" smtClean="0">
                <a:solidFill>
                  <a:srgbClr val="1F1535"/>
                </a:solidFill>
                <a:uFillTx/>
                <a:latin typeface="Cambria" pitchFamily="34"/>
                <a:ea typeface="Cambria" pitchFamily="34"/>
                <a:cs typeface="Cambria" pitchFamily="34"/>
              </a:rPr>
              <a:t>)</a:t>
            </a:r>
            <a:endParaRPr lang="en-US" sz="1200" b="0" i="0" u="none" strike="noStrike" kern="1200" cap="none" spc="0" baseline="0" dirty="0">
              <a:solidFill>
                <a:srgbClr val="000000"/>
              </a:solidFill>
              <a:uFillTx/>
              <a:latin typeface="Calibri"/>
            </a:endParaRPr>
          </a:p>
        </p:txBody>
      </p:sp>
      <p:grpSp>
        <p:nvGrpSpPr>
          <p:cNvPr id="71" name="Grupa 70"/>
          <p:cNvGrpSpPr/>
          <p:nvPr/>
        </p:nvGrpSpPr>
        <p:grpSpPr>
          <a:xfrm>
            <a:off x="160903" y="3410769"/>
            <a:ext cx="3383280" cy="1491827"/>
            <a:chOff x="205740" y="3050222"/>
            <a:chExt cx="3642360" cy="1853112"/>
          </a:xfrm>
        </p:grpSpPr>
        <p:grpSp>
          <p:nvGrpSpPr>
            <p:cNvPr id="60" name="Grupa 59"/>
            <p:cNvGrpSpPr/>
            <p:nvPr/>
          </p:nvGrpSpPr>
          <p:grpSpPr>
            <a:xfrm>
              <a:off x="205740" y="3050222"/>
              <a:ext cx="3642360" cy="576000"/>
              <a:chOff x="320040" y="2775902"/>
              <a:chExt cx="4160520" cy="576000"/>
            </a:xfrm>
          </p:grpSpPr>
          <p:sp>
            <p:nvSpPr>
              <p:cNvPr id="23" name="Shape 21"/>
              <p:cNvSpPr/>
              <p:nvPr/>
            </p:nvSpPr>
            <p:spPr>
              <a:xfrm>
                <a:off x="320040" y="277590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Shape 22"/>
              <p:cNvSpPr/>
              <p:nvPr/>
            </p:nvSpPr>
            <p:spPr>
              <a:xfrm>
                <a:off x="320040" y="2775902"/>
                <a:ext cx="54864" cy="57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448056" y="279419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Valence (V)</a:t>
                </a:r>
                <a:endParaRPr lang="en-US" sz="1100" b="0" i="0" u="none" strike="noStrike" kern="1200" cap="none" spc="0" baseline="0" dirty="0">
                  <a:solidFill>
                    <a:srgbClr val="000000"/>
                  </a:solidFill>
                  <a:uFillTx/>
                  <a:latin typeface="Calibri"/>
                </a:endParaRPr>
              </a:p>
            </p:txBody>
          </p:sp>
          <p:sp>
            <p:nvSpPr>
              <p:cNvPr id="26" name="Text 24"/>
              <p:cNvSpPr/>
              <p:nvPr/>
            </p:nvSpPr>
            <p:spPr>
              <a:xfrm>
                <a:off x="448056" y="3059366"/>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Przyjemność</a:t>
                </a:r>
                <a:r>
                  <a:rPr lang="en-US" sz="1000" b="0" i="0" u="none" strike="noStrike" kern="1200" cap="none" spc="0" baseline="0" dirty="0">
                    <a:uFillTx/>
                    <a:latin typeface="Calibri" pitchFamily="34"/>
                    <a:ea typeface="Calibri" pitchFamily="34"/>
                    <a:cs typeface="Calibri" pitchFamily="34"/>
                  </a:rPr>
                  <a:t>–</a:t>
                </a:r>
                <a:r>
                  <a:rPr lang="en-US" sz="1000" b="0" i="0" u="none" strike="noStrike" kern="1200" cap="none" spc="0" baseline="0" dirty="0" err="1">
                    <a:uFillTx/>
                    <a:latin typeface="Calibri" pitchFamily="34"/>
                    <a:ea typeface="Calibri" pitchFamily="34"/>
                    <a:cs typeface="Calibri" pitchFamily="34"/>
                  </a:rPr>
                  <a:t>nieprzyjemność</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Skala</a:t>
                </a:r>
                <a:r>
                  <a:rPr lang="en-US" sz="1000" b="0" i="0" u="none" strike="noStrike" kern="1200" cap="none" spc="0" baseline="0" dirty="0">
                    <a:uFillTx/>
                    <a:latin typeface="Calibri" pitchFamily="34"/>
                    <a:ea typeface="Calibri" pitchFamily="34"/>
                    <a:cs typeface="Calibri" pitchFamily="34"/>
                  </a:rPr>
                  <a:t> −1..+1. </a:t>
                </a:r>
                <a:r>
                  <a:rPr lang="en-US" sz="1000" b="0" i="0" u="none" strike="noStrike" kern="1200" cap="none" spc="0" baseline="0" dirty="0" err="1">
                    <a:uFillTx/>
                    <a:latin typeface="Calibri" pitchFamily="34"/>
                    <a:ea typeface="Calibri" pitchFamily="34"/>
                    <a:cs typeface="Calibri" pitchFamily="34"/>
                  </a:rPr>
                  <a:t>Radość</a:t>
                </a:r>
                <a:r>
                  <a:rPr lang="en-US" sz="1000" b="0" i="0" u="none" strike="noStrike" kern="1200" cap="none" spc="0" baseline="0" dirty="0">
                    <a:uFillTx/>
                    <a:latin typeface="Calibri" pitchFamily="34"/>
                    <a:ea typeface="Calibri" pitchFamily="34"/>
                    <a:cs typeface="Calibri" pitchFamily="34"/>
                  </a:rPr>
                  <a:t>: +0.9 | </a:t>
                </a:r>
                <a:r>
                  <a:rPr lang="en-US" sz="1000" b="0" i="0" u="none" strike="noStrike" kern="1200" cap="none" spc="0" baseline="0" dirty="0" err="1">
                    <a:uFillTx/>
                    <a:latin typeface="Calibri" pitchFamily="34"/>
                    <a:ea typeface="Calibri" pitchFamily="34"/>
                    <a:cs typeface="Calibri" pitchFamily="34"/>
                  </a:rPr>
                  <a:t>Smutek</a:t>
                </a:r>
                <a:r>
                  <a:rPr lang="en-US" sz="1000" b="0" i="0" u="none" strike="noStrike" kern="1200" cap="none" spc="0" baseline="0" dirty="0">
                    <a:uFillTx/>
                    <a:latin typeface="Calibri" pitchFamily="34"/>
                    <a:ea typeface="Calibri" pitchFamily="34"/>
                    <a:cs typeface="Calibri" pitchFamily="34"/>
                  </a:rPr>
                  <a:t>: −0.8. </a:t>
                </a:r>
                <a:r>
                  <a:rPr lang="en-US" sz="1000" b="0" i="0" u="none" strike="noStrike" kern="1200" cap="none" spc="0" baseline="0" dirty="0" err="1">
                    <a:uFillTx/>
                    <a:latin typeface="Calibri" pitchFamily="34"/>
                    <a:ea typeface="Calibri" pitchFamily="34"/>
                    <a:cs typeface="Calibri" pitchFamily="34"/>
                  </a:rPr>
                  <a:t>Koreluje</a:t>
                </a:r>
                <a:r>
                  <a:rPr lang="en-US" sz="1000" b="0" i="0" u="none" strike="noStrike" kern="1200" cap="none" spc="0" baseline="0" dirty="0">
                    <a:uFillTx/>
                    <a:latin typeface="Calibri" pitchFamily="34"/>
                    <a:ea typeface="Calibri" pitchFamily="34"/>
                    <a:cs typeface="Calibri" pitchFamily="34"/>
                  </a:rPr>
                  <a:t> z </a:t>
                </a:r>
                <a:r>
                  <a:rPr lang="en-US" sz="1000" b="0" i="0" u="none" strike="noStrike" kern="1200" cap="none" spc="0" baseline="0" dirty="0" err="1">
                    <a:uFillTx/>
                    <a:latin typeface="Calibri" pitchFamily="34"/>
                    <a:ea typeface="Calibri" pitchFamily="34"/>
                    <a:cs typeface="Calibri" pitchFamily="34"/>
                  </a:rPr>
                  <a:t>uśmiechem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kontrastem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głosu</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grpSp>
          <p:nvGrpSpPr>
            <p:cNvPr id="58" name="Grupa 57"/>
            <p:cNvGrpSpPr/>
            <p:nvPr/>
          </p:nvGrpSpPr>
          <p:grpSpPr>
            <a:xfrm>
              <a:off x="205740" y="3681157"/>
              <a:ext cx="3642360" cy="576000"/>
              <a:chOff x="320040" y="3460177"/>
              <a:chExt cx="4160520" cy="576000"/>
            </a:xfrm>
          </p:grpSpPr>
          <p:sp>
            <p:nvSpPr>
              <p:cNvPr id="27" name="Shape 25"/>
              <p:cNvSpPr/>
              <p:nvPr/>
            </p:nvSpPr>
            <p:spPr>
              <a:xfrm>
                <a:off x="320040" y="3460177"/>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8" name="Shape 26"/>
              <p:cNvSpPr/>
              <p:nvPr/>
            </p:nvSpPr>
            <p:spPr>
              <a:xfrm>
                <a:off x="320040" y="3460177"/>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Text 27"/>
              <p:cNvSpPr/>
              <p:nvPr/>
            </p:nvSpPr>
            <p:spPr>
              <a:xfrm>
                <a:off x="448056" y="347084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Arousal (A)</a:t>
                </a:r>
                <a:endParaRPr lang="en-US" sz="1100" b="0" i="0" u="none" strike="noStrike" kern="1200" cap="none" spc="0" baseline="0" dirty="0">
                  <a:solidFill>
                    <a:srgbClr val="000000"/>
                  </a:solidFill>
                  <a:uFillTx/>
                  <a:latin typeface="Calibri"/>
                </a:endParaRPr>
              </a:p>
            </p:txBody>
          </p:sp>
          <p:sp>
            <p:nvSpPr>
              <p:cNvPr id="30" name="Text 28"/>
              <p:cNvSpPr/>
              <p:nvPr/>
            </p:nvSpPr>
            <p:spPr>
              <a:xfrm>
                <a:off x="448056" y="3736022"/>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Poziom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pobudzenia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Spokój</a:t>
                </a:r>
                <a:r>
                  <a:rPr lang="en-US" sz="1000" b="0" i="0" u="none" strike="noStrike" kern="1200" cap="none" spc="0" baseline="0" dirty="0">
                    <a:uFillTx/>
                    <a:latin typeface="Calibri" pitchFamily="34"/>
                    <a:ea typeface="Calibri" pitchFamily="34"/>
                    <a:cs typeface="Calibri" pitchFamily="34"/>
                  </a:rPr>
                  <a:t> (0) – </a:t>
                </a:r>
                <a:r>
                  <a:rPr lang="en-US" sz="1000" b="0" i="0" u="none" strike="noStrike" kern="1200" cap="none" spc="0" baseline="0" dirty="0" err="1">
                    <a:uFillTx/>
                    <a:latin typeface="Calibri" pitchFamily="34"/>
                    <a:ea typeface="Calibri" pitchFamily="34"/>
                    <a:cs typeface="Calibri" pitchFamily="34"/>
                  </a:rPr>
                  <a:t>ekscytacja</a:t>
                </a:r>
                <a:r>
                  <a:rPr lang="en-US" sz="1000" b="0" i="0" u="none" strike="noStrike" kern="1200" cap="none" spc="0" baseline="0" dirty="0">
                    <a:uFillTx/>
                    <a:latin typeface="Calibri" pitchFamily="34"/>
                    <a:ea typeface="Calibri" pitchFamily="34"/>
                    <a:cs typeface="Calibri" pitchFamily="34"/>
                  </a:rPr>
                  <a:t> (1). </a:t>
                </a:r>
                <a:r>
                  <a:rPr lang="en-US" sz="1000" b="0" i="0" u="none" strike="noStrike" kern="1200" cap="none" spc="0" baseline="0" dirty="0" err="1">
                    <a:uFillTx/>
                    <a:latin typeface="Calibri" pitchFamily="34"/>
                    <a:ea typeface="Calibri" pitchFamily="34"/>
                    <a:cs typeface="Calibri" pitchFamily="34"/>
                  </a:rPr>
                  <a:t>Gniew</a:t>
                </a:r>
                <a:r>
                  <a:rPr lang="en-US" sz="1000" b="0" i="0" u="none" strike="noStrike" kern="1200" cap="none" spc="0" baseline="0" dirty="0">
                    <a:uFillTx/>
                    <a:latin typeface="Calibri" pitchFamily="34"/>
                    <a:ea typeface="Calibri" pitchFamily="34"/>
                    <a:cs typeface="Calibri" pitchFamily="34"/>
                  </a:rPr>
                  <a:t>: 0.7 | </a:t>
                </a:r>
                <a:r>
                  <a:rPr lang="en-US" sz="1000" b="0" i="0" u="none" strike="noStrike" kern="1200" cap="none" spc="0" baseline="0" dirty="0" err="1">
                    <a:uFillTx/>
                    <a:latin typeface="Calibri" pitchFamily="34"/>
                    <a:ea typeface="Calibri" pitchFamily="34"/>
                    <a:cs typeface="Calibri" pitchFamily="34"/>
                  </a:rPr>
                  <a:t>Zadowolenie</a:t>
                </a:r>
                <a:r>
                  <a:rPr lang="en-US" sz="1000" b="0" i="0" u="none" strike="noStrike" kern="1200" cap="none" spc="0" baseline="0" dirty="0">
                    <a:uFillTx/>
                    <a:latin typeface="Calibri" pitchFamily="34"/>
                    <a:ea typeface="Calibri" pitchFamily="34"/>
                    <a:cs typeface="Calibri" pitchFamily="34"/>
                  </a:rPr>
                  <a:t>: 0.4. IMU: </a:t>
                </a:r>
                <a:r>
                  <a:rPr lang="en-US" sz="1000" b="0" i="0" u="none" strike="noStrike" kern="1200" cap="none" spc="0" baseline="0" dirty="0" err="1">
                    <a:uFillTx/>
                    <a:latin typeface="Calibri" pitchFamily="34"/>
                    <a:ea typeface="Calibri" pitchFamily="34"/>
                    <a:cs typeface="Calibri" pitchFamily="34"/>
                  </a:rPr>
                  <a:t>korelacja</a:t>
                </a:r>
                <a:r>
                  <a:rPr lang="en-US" sz="1000" b="0" i="0" u="none" strike="noStrike" kern="1200" cap="none" spc="0" baseline="0" dirty="0">
                    <a:uFillTx/>
                    <a:latin typeface="Calibri" pitchFamily="34"/>
                    <a:ea typeface="Calibri" pitchFamily="34"/>
                    <a:cs typeface="Calibri" pitchFamily="34"/>
                  </a:rPr>
                  <a:t> z </a:t>
                </a:r>
                <a:r>
                  <a:rPr lang="en-US" sz="1000" b="0" i="0" u="none" strike="noStrike" kern="1200" cap="none" spc="0" baseline="0" dirty="0" err="1">
                    <a:uFillTx/>
                    <a:latin typeface="Calibri" pitchFamily="34"/>
                    <a:ea typeface="Calibri" pitchFamily="34"/>
                    <a:cs typeface="Calibri" pitchFamily="34"/>
                  </a:rPr>
                  <a:t>ruchem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ciała</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grpSp>
          <p:nvGrpSpPr>
            <p:cNvPr id="61" name="Grupa 60"/>
            <p:cNvGrpSpPr/>
            <p:nvPr/>
          </p:nvGrpSpPr>
          <p:grpSpPr>
            <a:xfrm>
              <a:off x="205740" y="4319714"/>
              <a:ext cx="3642360" cy="583620"/>
              <a:chOff x="320040" y="4144454"/>
              <a:chExt cx="4160520" cy="583620"/>
            </a:xfrm>
          </p:grpSpPr>
          <p:grpSp>
            <p:nvGrpSpPr>
              <p:cNvPr id="59" name="Grupa 58"/>
              <p:cNvGrpSpPr/>
              <p:nvPr/>
            </p:nvGrpSpPr>
            <p:grpSpPr>
              <a:xfrm>
                <a:off x="320040" y="4144454"/>
                <a:ext cx="4160520" cy="576000"/>
                <a:chOff x="320040" y="4144454"/>
                <a:chExt cx="4160520" cy="576000"/>
              </a:xfrm>
            </p:grpSpPr>
            <p:sp>
              <p:nvSpPr>
                <p:cNvPr id="31" name="Shape 29"/>
                <p:cNvSpPr/>
                <p:nvPr/>
              </p:nvSpPr>
              <p:spPr>
                <a:xfrm>
                  <a:off x="320040" y="4144454"/>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448056" y="414750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Dominance (D)</a:t>
                  </a:r>
                  <a:endParaRPr lang="en-US" sz="1100" b="0" i="0" u="none" strike="noStrike" kern="1200" cap="none" spc="0" baseline="0" dirty="0">
                    <a:solidFill>
                      <a:srgbClr val="000000"/>
                    </a:solidFill>
                    <a:uFillTx/>
                    <a:latin typeface="Calibri"/>
                  </a:endParaRPr>
                </a:p>
              </p:txBody>
            </p:sp>
            <p:sp>
              <p:nvSpPr>
                <p:cNvPr id="34" name="Text 32"/>
                <p:cNvSpPr/>
                <p:nvPr/>
              </p:nvSpPr>
              <p:spPr>
                <a:xfrm>
                  <a:off x="448056" y="4412678"/>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Poczucie</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kontroli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Strach</a:t>
                  </a:r>
                  <a:r>
                    <a:rPr lang="en-US" sz="1000" b="0" i="0" u="none" strike="noStrike" kern="1200" cap="none" spc="0" baseline="0" dirty="0">
                      <a:uFillTx/>
                      <a:latin typeface="Calibri" pitchFamily="34"/>
                      <a:ea typeface="Calibri" pitchFamily="34"/>
                      <a:cs typeface="Calibri" pitchFamily="34"/>
                    </a:rPr>
                    <a:t>: 0.1 (</a:t>
                  </a:r>
                  <a:r>
                    <a:rPr lang="en-US" sz="1000" b="0" i="0" u="none" strike="noStrike" kern="1200" cap="none" spc="0" baseline="0" dirty="0" err="1">
                      <a:uFillTx/>
                      <a:latin typeface="Calibri" pitchFamily="34"/>
                      <a:ea typeface="Calibri" pitchFamily="34"/>
                      <a:cs typeface="Calibri" pitchFamily="34"/>
                    </a:rPr>
                    <a:t>brak</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kontroli</a:t>
                  </a:r>
                  <a:r>
                    <a:rPr lang="en-US" sz="1000" b="0" i="0" u="none" strike="noStrike" kern="1200" cap="none" spc="0" baseline="0" dirty="0">
                      <a:uFillTx/>
                      <a:latin typeface="Calibri" pitchFamily="34"/>
                      <a:ea typeface="Calibri" pitchFamily="34"/>
                      <a:cs typeface="Calibri" pitchFamily="34"/>
                    </a:rPr>
                    <a:t>) | </a:t>
                  </a:r>
                  <a:r>
                    <a:rPr lang="en-US" sz="1000" b="0" i="0" u="none" strike="noStrike" kern="1200" cap="none" spc="0" baseline="0" dirty="0" err="1">
                      <a:uFillTx/>
                      <a:latin typeface="Calibri" pitchFamily="34"/>
                      <a:ea typeface="Calibri" pitchFamily="34"/>
                      <a:cs typeface="Calibri" pitchFamily="34"/>
                    </a:rPr>
                    <a:t>Gniew</a:t>
                  </a:r>
                  <a:r>
                    <a:rPr lang="en-US" sz="1000" b="0" i="0" u="none" strike="noStrike" kern="1200" cap="none" spc="0" baseline="0" dirty="0">
                      <a:uFillTx/>
                      <a:latin typeface="Calibri" pitchFamily="34"/>
                      <a:ea typeface="Calibri" pitchFamily="34"/>
                      <a:cs typeface="Calibri" pitchFamily="34"/>
                    </a:rPr>
                    <a:t>: 0.8 (</a:t>
                  </a:r>
                  <a:r>
                    <a:rPr lang="en-US" sz="1000" b="0" i="0" u="none" strike="noStrike" kern="1200" cap="none" spc="0" baseline="0" dirty="0" err="1">
                      <a:uFillTx/>
                      <a:latin typeface="Calibri" pitchFamily="34"/>
                      <a:ea typeface="Calibri" pitchFamily="34"/>
                      <a:cs typeface="Calibri" pitchFamily="34"/>
                    </a:rPr>
                    <a:t>dużo</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kontroli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Rzadziej</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modelowana</a:t>
                  </a:r>
                  <a:r>
                    <a:rPr lang="en-US" sz="1000" b="0" i="0" u="none" strike="noStrike" kern="1200" cap="none" spc="0" baseline="0" dirty="0">
                      <a:uFillTx/>
                      <a:latin typeface="Calibri" pitchFamily="34"/>
                      <a:ea typeface="Calibri" pitchFamily="34"/>
                      <a:cs typeface="Calibri" pitchFamily="34"/>
                    </a:rPr>
                    <a:t> w </a:t>
                  </a:r>
                  <a:r>
                    <a:rPr lang="en-US" sz="1000" b="0" i="0" u="none" strike="noStrike" kern="1200" cap="none" spc="0" baseline="0" dirty="0" err="1">
                      <a:uFillTx/>
                      <a:latin typeface="Calibri" pitchFamily="34"/>
                      <a:ea typeface="Calibri" pitchFamily="34"/>
                      <a:cs typeface="Calibri" pitchFamily="34"/>
                    </a:rPr>
                    <a:t>mobilnych</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systemach</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sp>
            <p:nvSpPr>
              <p:cNvPr id="32" name="Shape 30"/>
              <p:cNvSpPr/>
              <p:nvPr/>
            </p:nvSpPr>
            <p:spPr>
              <a:xfrm>
                <a:off x="320040" y="4152074"/>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grpSp>
      <p:sp>
        <p:nvSpPr>
          <p:cNvPr id="35" name="Text 33"/>
          <p:cNvSpPr/>
          <p:nvPr/>
        </p:nvSpPr>
        <p:spPr>
          <a:xfrm>
            <a:off x="4736203" y="1376548"/>
            <a:ext cx="3379998"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F1535"/>
                </a:solidFill>
                <a:uFillTx/>
                <a:latin typeface="Cambria" pitchFamily="34"/>
                <a:ea typeface="Cambria" pitchFamily="34"/>
                <a:cs typeface="Cambria" pitchFamily="34"/>
              </a:rPr>
              <a:t>Russell </a:t>
            </a:r>
            <a:r>
              <a:rPr lang="en-US" sz="1200" b="1" i="0" u="none" strike="noStrike" kern="1200" cap="none" spc="0" baseline="0" dirty="0" err="1">
                <a:solidFill>
                  <a:srgbClr val="1F1535"/>
                </a:solidFill>
                <a:uFillTx/>
                <a:latin typeface="Cambria" pitchFamily="34"/>
                <a:ea typeface="Cambria" pitchFamily="34"/>
                <a:cs typeface="Cambria" pitchFamily="34"/>
              </a:rPr>
              <a:t>Circumplex</a:t>
            </a:r>
            <a:r>
              <a:rPr lang="en-US" sz="1200" b="1" i="0" u="none" strike="noStrike" kern="1200" cap="none" spc="0" baseline="0" dirty="0">
                <a:solidFill>
                  <a:srgbClr val="1F1535"/>
                </a:solidFill>
                <a:uFillTx/>
                <a:latin typeface="Cambria" pitchFamily="34"/>
                <a:ea typeface="Cambria" pitchFamily="34"/>
                <a:cs typeface="Cambria" pitchFamily="34"/>
              </a:rPr>
              <a:t> Model of </a:t>
            </a:r>
            <a:r>
              <a:rPr lang="en-US" sz="1200" b="1" i="0" u="none" strike="noStrike" kern="1200" cap="none" spc="0" baseline="0" dirty="0" smtClean="0">
                <a:solidFill>
                  <a:srgbClr val="1F1535"/>
                </a:solidFill>
                <a:uFillTx/>
                <a:latin typeface="Cambria" pitchFamily="34"/>
                <a:ea typeface="Cambria" pitchFamily="34"/>
                <a:cs typeface="Cambria" pitchFamily="34"/>
              </a:rPr>
              <a:t>Affect</a:t>
            </a:r>
            <a:endParaRPr lang="en-US" sz="1200" b="0" i="0" u="none" strike="noStrike" kern="1200" cap="none" spc="0" baseline="0" dirty="0">
              <a:solidFill>
                <a:srgbClr val="000000"/>
              </a:solidFill>
              <a:uFillTx/>
              <a:latin typeface="Calibri"/>
            </a:endParaRPr>
          </a:p>
        </p:txBody>
      </p:sp>
      <p:sp>
        <p:nvSpPr>
          <p:cNvPr id="53" name="Text 51"/>
          <p:cNvSpPr/>
          <p:nvPr/>
        </p:nvSpPr>
        <p:spPr>
          <a:xfrm>
            <a:off x="6416040" y="3859300"/>
            <a:ext cx="2603437" cy="890639"/>
          </a:xfrm>
          <a:prstGeom prst="rect">
            <a:avLst/>
          </a:prstGeom>
          <a:noFill/>
          <a:ln cap="flat">
            <a:noFill/>
            <a:prstDash val="solid"/>
          </a:ln>
        </p:spPr>
        <p:txBody>
          <a:bodyPr vert="horz" wrap="square" lIns="91440" tIns="45720" rIns="91440" bIns="45720" anchor="ctr" anchorCtr="0" compatLnSpc="1">
            <a:noAutofit/>
          </a:bodyPr>
          <a:lstStyle/>
          <a:p>
            <a:pPr lvl="0" algn="just">
              <a:defRPr sz="1800" b="0" i="0" u="none" strike="noStrike" kern="0" cap="none" spc="0" baseline="0">
                <a:solidFill>
                  <a:srgbClr val="000000"/>
                </a:solidFill>
                <a:uFillTx/>
              </a:defRPr>
            </a:pPr>
            <a:r>
              <a:rPr lang="pl-PL" sz="1100" dirty="0">
                <a:solidFill>
                  <a:srgbClr val="111931"/>
                </a:solidFill>
                <a:latin typeface="Calibri" pitchFamily="34"/>
                <a:ea typeface="Calibri" pitchFamily="34"/>
                <a:cs typeface="Calibri" pitchFamily="34"/>
              </a:rPr>
              <a:t>Wykorzystanie VAD w urządzeniach mobilnych: ciągła regresja zamiast klasyfikacji. Model CNN lub LSTM przewiduje wartości (v, a, d) na podstawie sygnału twarzy/głosu, a następnie przyporządkowuje je do etykiety emocji.</a:t>
            </a:r>
            <a:endParaRPr lang="en-US" sz="1100" b="0" i="0" u="none" strike="noStrike" kern="1200" cap="none" spc="0" baseline="0" dirty="0">
              <a:solidFill>
                <a:srgbClr val="111931"/>
              </a:solidFill>
              <a:uFillTx/>
              <a:latin typeface="Calibri"/>
            </a:endParaRPr>
          </a:p>
        </p:txBody>
      </p:sp>
      <p:grpSp>
        <p:nvGrpSpPr>
          <p:cNvPr id="66" name="Grupa 65"/>
          <p:cNvGrpSpPr/>
          <p:nvPr/>
        </p:nvGrpSpPr>
        <p:grpSpPr>
          <a:xfrm>
            <a:off x="3680460" y="3789435"/>
            <a:ext cx="2620539" cy="1125114"/>
            <a:chOff x="4790021" y="2059372"/>
            <a:chExt cx="4033938" cy="2113686"/>
          </a:xfrm>
        </p:grpSpPr>
        <p:grpSp>
          <p:nvGrpSpPr>
            <p:cNvPr id="62" name="Grupa 61"/>
            <p:cNvGrpSpPr/>
            <p:nvPr/>
          </p:nvGrpSpPr>
          <p:grpSpPr>
            <a:xfrm>
              <a:off x="5100320" y="2059372"/>
              <a:ext cx="1800000" cy="921793"/>
              <a:chOff x="5100320" y="2059372"/>
              <a:chExt cx="1800000" cy="921793"/>
            </a:xfrm>
          </p:grpSpPr>
          <p:sp>
            <p:nvSpPr>
              <p:cNvPr id="36" name="Shape 34"/>
              <p:cNvSpPr/>
              <p:nvPr/>
            </p:nvSpPr>
            <p:spPr>
              <a:xfrm>
                <a:off x="5100320" y="2059372"/>
                <a:ext cx="1800000" cy="900000"/>
              </a:xfrm>
              <a:prstGeom prst="rect">
                <a:avLst/>
              </a:prstGeom>
              <a:solidFill>
                <a:srgbClr val="FEF3C7"/>
              </a:solidFill>
              <a:ln w="12701" cap="flat">
                <a:solidFill>
                  <a:srgbClr val="D9770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5197016" y="2116647"/>
                <a:ext cx="1649830"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1200" cap="none" spc="0" baseline="0" dirty="0">
                    <a:solidFill>
                      <a:srgbClr val="1F1535"/>
                    </a:solidFill>
                    <a:uFillTx/>
                    <a:latin typeface="Cambria" pitchFamily="34"/>
                    <a:ea typeface="Cambria" pitchFamily="34"/>
                    <a:cs typeface="Cambria" pitchFamily="34"/>
                  </a:rPr>
                  <a:t>High Arousal</a:t>
                </a:r>
                <a:endParaRPr lang="en-US" sz="900" b="0" i="0" u="none" strike="noStrike" kern="1200" cap="none" spc="0" baseline="0" dirty="0">
                  <a:solidFill>
                    <a:srgbClr val="000000"/>
                  </a:solidFill>
                  <a:uFillTx/>
                  <a:latin typeface="Calibri"/>
                </a:endParaRPr>
              </a:p>
            </p:txBody>
          </p:sp>
          <p:sp>
            <p:nvSpPr>
              <p:cNvPr id="38" name="Text 36"/>
              <p:cNvSpPr/>
              <p:nvPr/>
            </p:nvSpPr>
            <p:spPr>
              <a:xfrm>
                <a:off x="5197016" y="2317815"/>
                <a:ext cx="1649830"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D97706"/>
                    </a:solidFill>
                    <a:uFillTx/>
                    <a:latin typeface="Cambria" pitchFamily="34"/>
                    <a:ea typeface="Cambria" pitchFamily="34"/>
                    <a:cs typeface="Cambria" pitchFamily="34"/>
                  </a:rPr>
                  <a:t>Unpleasant</a:t>
                </a:r>
                <a:endParaRPr lang="en-US" sz="1000" b="0" i="0" u="none" strike="noStrike" kern="1200" cap="none" spc="0" baseline="0" dirty="0">
                  <a:solidFill>
                    <a:srgbClr val="000000"/>
                  </a:solidFill>
                  <a:uFillTx/>
                  <a:latin typeface="Calibri"/>
                </a:endParaRPr>
              </a:p>
            </p:txBody>
          </p:sp>
          <p:sp>
            <p:nvSpPr>
              <p:cNvPr id="39" name="Text 37"/>
              <p:cNvSpPr/>
              <p:nvPr/>
            </p:nvSpPr>
            <p:spPr>
              <a:xfrm>
                <a:off x="5197016" y="2601184"/>
                <a:ext cx="1649830" cy="37998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dirty="0" err="1" smtClean="0">
                    <a:solidFill>
                      <a:srgbClr val="1F1535"/>
                    </a:solidFill>
                    <a:uFillTx/>
                    <a:latin typeface="Calibri" pitchFamily="34"/>
                    <a:ea typeface="Calibri" pitchFamily="34"/>
                    <a:cs typeface="Calibri" pitchFamily="34"/>
                  </a:rPr>
                  <a:t>Stressed,Angry,Tense</a:t>
                </a:r>
                <a:endParaRPr lang="en-US" sz="800" b="0" i="0" u="none" strike="noStrike" kern="1200" cap="none" spc="0" baseline="0" dirty="0">
                  <a:solidFill>
                    <a:srgbClr val="000000"/>
                  </a:solidFill>
                  <a:uFillTx/>
                  <a:latin typeface="Calibri"/>
                </a:endParaRPr>
              </a:p>
            </p:txBody>
          </p:sp>
        </p:grpSp>
        <p:grpSp>
          <p:nvGrpSpPr>
            <p:cNvPr id="63" name="Grupa 62"/>
            <p:cNvGrpSpPr/>
            <p:nvPr/>
          </p:nvGrpSpPr>
          <p:grpSpPr>
            <a:xfrm>
              <a:off x="6992316" y="2059372"/>
              <a:ext cx="1800000" cy="900000"/>
              <a:chOff x="6992316" y="2059372"/>
              <a:chExt cx="1800000" cy="900000"/>
            </a:xfrm>
          </p:grpSpPr>
          <p:sp>
            <p:nvSpPr>
              <p:cNvPr id="40" name="Shape 38"/>
              <p:cNvSpPr/>
              <p:nvPr/>
            </p:nvSpPr>
            <p:spPr>
              <a:xfrm>
                <a:off x="6992316" y="2059372"/>
                <a:ext cx="1800000" cy="900000"/>
              </a:xfrm>
              <a:prstGeom prst="rect">
                <a:avLst/>
              </a:prstGeom>
              <a:solidFill>
                <a:srgbClr val="FEE2E2"/>
              </a:solidFill>
              <a:ln w="12701" cap="flat">
                <a:solidFill>
                  <a:srgbClr val="E11D48"/>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Text 39"/>
              <p:cNvSpPr/>
              <p:nvPr/>
            </p:nvSpPr>
            <p:spPr>
              <a:xfrm>
                <a:off x="7047574" y="2116647"/>
                <a:ext cx="1658558"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1200" cap="none" spc="0" baseline="0" dirty="0">
                    <a:solidFill>
                      <a:srgbClr val="1F1535"/>
                    </a:solidFill>
                    <a:uFillTx/>
                    <a:latin typeface="Cambria" pitchFamily="34"/>
                    <a:ea typeface="Cambria" pitchFamily="34"/>
                    <a:cs typeface="Cambria" pitchFamily="34"/>
                  </a:rPr>
                  <a:t>High Arousal</a:t>
                </a:r>
                <a:endParaRPr lang="en-US" sz="900" b="0" i="0" u="none" strike="noStrike" kern="1200" cap="none" spc="0" baseline="0" dirty="0">
                  <a:solidFill>
                    <a:srgbClr val="000000"/>
                  </a:solidFill>
                  <a:uFillTx/>
                  <a:latin typeface="Calibri"/>
                </a:endParaRPr>
              </a:p>
            </p:txBody>
          </p:sp>
          <p:sp>
            <p:nvSpPr>
              <p:cNvPr id="42" name="Text 40"/>
              <p:cNvSpPr/>
              <p:nvPr/>
            </p:nvSpPr>
            <p:spPr>
              <a:xfrm>
                <a:off x="7047574" y="2317815"/>
                <a:ext cx="1658558"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11D48"/>
                    </a:solidFill>
                    <a:uFillTx/>
                    <a:latin typeface="Cambria" pitchFamily="34"/>
                    <a:ea typeface="Cambria" pitchFamily="34"/>
                    <a:cs typeface="Cambria" pitchFamily="34"/>
                  </a:rPr>
                  <a:t>Pleasant</a:t>
                </a:r>
                <a:endParaRPr lang="en-US" sz="1000" b="0" i="0" u="none" strike="noStrike" kern="1200" cap="none" spc="0" baseline="0">
                  <a:solidFill>
                    <a:srgbClr val="000000"/>
                  </a:solidFill>
                  <a:uFillTx/>
                  <a:latin typeface="Calibri"/>
                </a:endParaRPr>
              </a:p>
            </p:txBody>
          </p:sp>
          <p:sp>
            <p:nvSpPr>
              <p:cNvPr id="43" name="Text 41"/>
              <p:cNvSpPr/>
              <p:nvPr/>
            </p:nvSpPr>
            <p:spPr>
              <a:xfrm>
                <a:off x="7047574" y="2554231"/>
                <a:ext cx="1658558" cy="379981"/>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dirty="0" err="1" smtClean="0">
                    <a:solidFill>
                      <a:srgbClr val="1F1535"/>
                    </a:solidFill>
                    <a:uFillTx/>
                    <a:latin typeface="Calibri" pitchFamily="34"/>
                    <a:ea typeface="Calibri" pitchFamily="34"/>
                    <a:cs typeface="Calibri" pitchFamily="34"/>
                  </a:rPr>
                  <a:t>Excited,Elated,Happy</a:t>
                </a:r>
                <a:endParaRPr lang="en-US" sz="800" b="0" i="0" u="none" strike="noStrike" kern="1200" cap="none" spc="0" baseline="0" dirty="0">
                  <a:solidFill>
                    <a:srgbClr val="000000"/>
                  </a:solidFill>
                  <a:uFillTx/>
                  <a:latin typeface="Calibri"/>
                </a:endParaRPr>
              </a:p>
            </p:txBody>
          </p:sp>
        </p:grpSp>
        <p:grpSp>
          <p:nvGrpSpPr>
            <p:cNvPr id="65" name="Grupa 64"/>
            <p:cNvGrpSpPr/>
            <p:nvPr/>
          </p:nvGrpSpPr>
          <p:grpSpPr>
            <a:xfrm>
              <a:off x="5100320" y="3029380"/>
              <a:ext cx="1800000" cy="900000"/>
              <a:chOff x="5100320" y="3029380"/>
              <a:chExt cx="1800000" cy="900000"/>
            </a:xfrm>
          </p:grpSpPr>
          <p:sp>
            <p:nvSpPr>
              <p:cNvPr id="44" name="Shape 42"/>
              <p:cNvSpPr/>
              <p:nvPr/>
            </p:nvSpPr>
            <p:spPr>
              <a:xfrm>
                <a:off x="5100320" y="3029380"/>
                <a:ext cx="1800000" cy="900000"/>
              </a:xfrm>
              <a:prstGeom prst="rect">
                <a:avLst/>
              </a:prstGeom>
              <a:solidFill>
                <a:srgbClr val="EDE9FE"/>
              </a:solidFill>
              <a:ln w="12701" cap="flat">
                <a:solidFill>
                  <a:srgbClr val="1D4ED8"/>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5" name="Text 43"/>
              <p:cNvSpPr/>
              <p:nvPr/>
            </p:nvSpPr>
            <p:spPr>
              <a:xfrm>
                <a:off x="5197016" y="3098849"/>
                <a:ext cx="1649830"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1200" cap="none" spc="0" baseline="0" dirty="0">
                    <a:solidFill>
                      <a:srgbClr val="1F1535"/>
                    </a:solidFill>
                    <a:uFillTx/>
                    <a:latin typeface="Cambria" pitchFamily="34"/>
                    <a:ea typeface="Cambria" pitchFamily="34"/>
                    <a:cs typeface="Cambria" pitchFamily="34"/>
                  </a:rPr>
                  <a:t>Low Arousal</a:t>
                </a:r>
                <a:endParaRPr lang="en-US" sz="900" b="0" i="0" u="none" strike="noStrike" kern="1200" cap="none" spc="0" baseline="0" dirty="0">
                  <a:solidFill>
                    <a:srgbClr val="000000"/>
                  </a:solidFill>
                  <a:uFillTx/>
                  <a:latin typeface="Calibri"/>
                </a:endParaRPr>
              </a:p>
            </p:txBody>
          </p:sp>
          <p:sp>
            <p:nvSpPr>
              <p:cNvPr id="46" name="Text 44"/>
              <p:cNvSpPr/>
              <p:nvPr/>
            </p:nvSpPr>
            <p:spPr>
              <a:xfrm>
                <a:off x="5197016" y="3300017"/>
                <a:ext cx="1649830"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1D4ED8"/>
                    </a:solidFill>
                    <a:uFillTx/>
                    <a:latin typeface="Cambria" pitchFamily="34"/>
                    <a:ea typeface="Cambria" pitchFamily="34"/>
                    <a:cs typeface="Cambria" pitchFamily="34"/>
                  </a:rPr>
                  <a:t>Unpleasant</a:t>
                </a:r>
                <a:endParaRPr lang="en-US" sz="1000" b="0" i="0" u="none" strike="noStrike" kern="1200" cap="none" spc="0" baseline="0" dirty="0">
                  <a:solidFill>
                    <a:srgbClr val="000000"/>
                  </a:solidFill>
                  <a:uFillTx/>
                  <a:latin typeface="Calibri"/>
                </a:endParaRPr>
              </a:p>
            </p:txBody>
          </p:sp>
          <p:sp>
            <p:nvSpPr>
              <p:cNvPr id="47" name="Text 45"/>
              <p:cNvSpPr/>
              <p:nvPr/>
            </p:nvSpPr>
            <p:spPr>
              <a:xfrm>
                <a:off x="5197015" y="3543146"/>
                <a:ext cx="1649829" cy="31575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dirty="0" err="1" smtClean="0">
                    <a:solidFill>
                      <a:srgbClr val="1F1535"/>
                    </a:solidFill>
                    <a:uFillTx/>
                    <a:latin typeface="Calibri" pitchFamily="34"/>
                    <a:ea typeface="Calibri" pitchFamily="34"/>
                    <a:cs typeface="Calibri" pitchFamily="34"/>
                  </a:rPr>
                  <a:t>Sad,Depressed,Bored</a:t>
                </a:r>
                <a:endParaRPr lang="en-US" sz="800" b="0" i="0" u="none" strike="noStrike" kern="1200" cap="none" spc="0" baseline="0" dirty="0">
                  <a:solidFill>
                    <a:srgbClr val="000000"/>
                  </a:solidFill>
                  <a:uFillTx/>
                  <a:latin typeface="Calibri"/>
                </a:endParaRPr>
              </a:p>
            </p:txBody>
          </p:sp>
        </p:grpSp>
        <p:grpSp>
          <p:nvGrpSpPr>
            <p:cNvPr id="64" name="Grupa 63"/>
            <p:cNvGrpSpPr/>
            <p:nvPr/>
          </p:nvGrpSpPr>
          <p:grpSpPr>
            <a:xfrm>
              <a:off x="6992316" y="3029380"/>
              <a:ext cx="1800000" cy="900000"/>
              <a:chOff x="6992316" y="3029380"/>
              <a:chExt cx="1800000" cy="900000"/>
            </a:xfrm>
          </p:grpSpPr>
          <p:sp>
            <p:nvSpPr>
              <p:cNvPr id="48" name="Shape 46"/>
              <p:cNvSpPr/>
              <p:nvPr/>
            </p:nvSpPr>
            <p:spPr>
              <a:xfrm>
                <a:off x="6992316" y="3029380"/>
                <a:ext cx="1800000" cy="900000"/>
              </a:xfrm>
              <a:prstGeom prst="rect">
                <a:avLst/>
              </a:prstGeom>
              <a:solidFill>
                <a:srgbClr val="DBEAFE"/>
              </a:solidFill>
              <a:ln w="12701" cap="flat">
                <a:solidFill>
                  <a:srgbClr val="059669"/>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Text 47"/>
              <p:cNvSpPr/>
              <p:nvPr/>
            </p:nvSpPr>
            <p:spPr>
              <a:xfrm>
                <a:off x="7047574" y="3098849"/>
                <a:ext cx="1709533"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1" i="0" u="none" strike="noStrike" kern="1200" cap="none" spc="0" baseline="0" dirty="0">
                    <a:solidFill>
                      <a:srgbClr val="1F1535"/>
                    </a:solidFill>
                    <a:uFillTx/>
                    <a:latin typeface="Cambria" pitchFamily="34"/>
                    <a:ea typeface="Cambria" pitchFamily="34"/>
                    <a:cs typeface="Cambria" pitchFamily="34"/>
                  </a:rPr>
                  <a:t>Low Arousal</a:t>
                </a:r>
                <a:endParaRPr lang="en-US" sz="900" b="0" i="0" u="none" strike="noStrike" kern="1200" cap="none" spc="0" baseline="0" dirty="0">
                  <a:solidFill>
                    <a:srgbClr val="000000"/>
                  </a:solidFill>
                  <a:uFillTx/>
                  <a:latin typeface="Calibri"/>
                </a:endParaRPr>
              </a:p>
            </p:txBody>
          </p:sp>
          <p:sp>
            <p:nvSpPr>
              <p:cNvPr id="50" name="Text 48"/>
              <p:cNvSpPr/>
              <p:nvPr/>
            </p:nvSpPr>
            <p:spPr>
              <a:xfrm>
                <a:off x="7047574" y="3300017"/>
                <a:ext cx="1709533"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059669"/>
                    </a:solidFill>
                    <a:uFillTx/>
                    <a:latin typeface="Cambria" pitchFamily="34"/>
                    <a:ea typeface="Cambria" pitchFamily="34"/>
                    <a:cs typeface="Cambria" pitchFamily="34"/>
                  </a:rPr>
                  <a:t>Pleasant</a:t>
                </a:r>
                <a:endParaRPr lang="en-US" sz="1000" b="0" i="0" u="none" strike="noStrike" kern="1200" cap="none" spc="0" baseline="0" dirty="0">
                  <a:solidFill>
                    <a:srgbClr val="000000"/>
                  </a:solidFill>
                  <a:uFillTx/>
                  <a:latin typeface="Calibri"/>
                </a:endParaRPr>
              </a:p>
            </p:txBody>
          </p:sp>
          <p:sp>
            <p:nvSpPr>
              <p:cNvPr id="51" name="Text 49"/>
              <p:cNvSpPr/>
              <p:nvPr/>
            </p:nvSpPr>
            <p:spPr>
              <a:xfrm>
                <a:off x="7047574" y="3531408"/>
                <a:ext cx="1709532" cy="31575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00" b="0" i="0" u="none" strike="noStrike" kern="1200" cap="none" spc="0" baseline="0" dirty="0" err="1" smtClean="0">
                    <a:solidFill>
                      <a:srgbClr val="1F1535"/>
                    </a:solidFill>
                    <a:uFillTx/>
                    <a:latin typeface="Calibri" pitchFamily="34"/>
                    <a:ea typeface="Calibri" pitchFamily="34"/>
                    <a:cs typeface="Calibri" pitchFamily="34"/>
                  </a:rPr>
                  <a:t>Calm,Relaxed,Serene</a:t>
                </a:r>
                <a:endParaRPr lang="en-US" sz="800" b="0" i="0" u="none" strike="noStrike" kern="1200" cap="none" spc="0" baseline="0" dirty="0">
                  <a:solidFill>
                    <a:srgbClr val="000000"/>
                  </a:solidFill>
                  <a:uFillTx/>
                  <a:latin typeface="Calibri"/>
                </a:endParaRPr>
              </a:p>
            </p:txBody>
          </p:sp>
        </p:grpSp>
        <p:sp>
          <p:nvSpPr>
            <p:cNvPr id="52" name="Text 50"/>
            <p:cNvSpPr/>
            <p:nvPr/>
          </p:nvSpPr>
          <p:spPr>
            <a:xfrm>
              <a:off x="5100320" y="3971890"/>
              <a:ext cx="3723639" cy="201168"/>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6B7280"/>
                  </a:solidFill>
                  <a:uFillTx/>
                  <a:latin typeface="Calibri" pitchFamily="34"/>
                  <a:ea typeface="Calibri" pitchFamily="34"/>
                  <a:cs typeface="Calibri" pitchFamily="34"/>
                </a:rPr>
                <a:t>← Valence →</a:t>
              </a:r>
              <a:endParaRPr lang="en-US" sz="1000" b="0" i="0" u="none" strike="noStrike" kern="1200" cap="none" spc="0" baseline="0" dirty="0">
                <a:solidFill>
                  <a:srgbClr val="000000"/>
                </a:solidFill>
                <a:uFillTx/>
                <a:latin typeface="Calibri"/>
              </a:endParaRPr>
            </a:p>
          </p:txBody>
        </p:sp>
        <p:sp>
          <p:nvSpPr>
            <p:cNvPr id="57" name="Text 50"/>
            <p:cNvSpPr/>
            <p:nvPr/>
          </p:nvSpPr>
          <p:spPr>
            <a:xfrm>
              <a:off x="4790021" y="2066047"/>
              <a:ext cx="218304" cy="1853691"/>
            </a:xfrm>
            <a:prstGeom prst="rect">
              <a:avLst/>
            </a:prstGeom>
            <a:noFill/>
            <a:ln cap="flat">
              <a:noFill/>
              <a:prstDash val="solid"/>
            </a:ln>
          </p:spPr>
          <p:txBody>
            <a:bodyPr vert="vert270"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6B7280"/>
                  </a:solidFill>
                  <a:uFillTx/>
                  <a:latin typeface="Calibri" pitchFamily="34"/>
                  <a:ea typeface="Calibri" pitchFamily="34"/>
                  <a:cs typeface="Calibri" pitchFamily="34"/>
                </a:rPr>
                <a:t>← </a:t>
              </a:r>
              <a:r>
                <a:rPr lang="pl-PL" sz="1000" b="0" i="0" u="none" strike="noStrike" kern="1200" cap="none" spc="0" baseline="0" dirty="0" err="1" smtClean="0">
                  <a:solidFill>
                    <a:srgbClr val="6B7280"/>
                  </a:solidFill>
                  <a:uFillTx/>
                  <a:latin typeface="Calibri" pitchFamily="34"/>
                  <a:ea typeface="Calibri" pitchFamily="34"/>
                  <a:cs typeface="Calibri" pitchFamily="34"/>
                </a:rPr>
                <a:t>Arousal</a:t>
              </a:r>
              <a:r>
                <a:rPr lang="en-US" sz="1000" b="0" i="0" u="none" strike="noStrike" kern="1200" cap="none" spc="0" baseline="0" dirty="0" smtClean="0">
                  <a:solidFill>
                    <a:srgbClr val="6B7280"/>
                  </a:solidFill>
                  <a:uFillTx/>
                  <a:latin typeface="Calibri" pitchFamily="34"/>
                  <a:ea typeface="Calibri" pitchFamily="34"/>
                  <a:cs typeface="Calibri" pitchFamily="34"/>
                </a:rPr>
                <a:t> </a:t>
              </a:r>
              <a:r>
                <a:rPr lang="en-US" sz="1000" b="0" i="0" u="none" strike="noStrike" kern="1200" cap="none" spc="0" baseline="0" dirty="0">
                  <a:solidFill>
                    <a:srgbClr val="6B7280"/>
                  </a:solidFill>
                  <a:uFillTx/>
                  <a:latin typeface="Calibri" pitchFamily="34"/>
                  <a:ea typeface="Calibri" pitchFamily="34"/>
                  <a:cs typeface="Calibri" pitchFamily="34"/>
                </a:rPr>
                <a:t>→</a:t>
              </a:r>
              <a:endParaRPr lang="en-US" sz="1000" b="0" i="0" u="none" strike="noStrike" kern="1200" cap="none" spc="0" baseline="0" dirty="0">
                <a:solidFill>
                  <a:srgbClr val="000000"/>
                </a:solidFill>
                <a:uFillTx/>
                <a:latin typeface="Calibri"/>
              </a:endParaRPr>
            </a:p>
          </p:txBody>
        </p:sp>
      </p:grpSp>
      <p:sp>
        <p:nvSpPr>
          <p:cNvPr id="67"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4</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pic>
        <p:nvPicPr>
          <p:cNvPr id="72" name="Obraz 71"/>
          <p:cNvPicPr>
            <a:picLocks noChangeAspect="1"/>
          </p:cNvPicPr>
          <p:nvPr/>
        </p:nvPicPr>
        <p:blipFill rotWithShape="1">
          <a:blip r:embed="rId3" cstate="print">
            <a:extLst>
              <a:ext uri="{28A0092B-C50C-407E-A947-70E740481C1C}">
                <a14:useLocalDpi xmlns:a14="http://schemas.microsoft.com/office/drawing/2010/main" val="0"/>
              </a:ext>
            </a:extLst>
          </a:blip>
          <a:srcRect l="53116" b="6619"/>
          <a:stretch/>
        </p:blipFill>
        <p:spPr>
          <a:xfrm>
            <a:off x="6289925" y="1391206"/>
            <a:ext cx="2801698" cy="2339665"/>
          </a:xfrm>
          <a:prstGeom prst="rect">
            <a:avLst/>
          </a:prstGeom>
        </p:spPr>
      </p:pic>
      <p:pic>
        <p:nvPicPr>
          <p:cNvPr id="76" name="Obraz 75"/>
          <p:cNvPicPr>
            <a:picLocks noChangeAspect="1"/>
          </p:cNvPicPr>
          <p:nvPr/>
        </p:nvPicPr>
        <p:blipFill rotWithShape="1">
          <a:blip r:embed="rId4" cstate="print">
            <a:extLst>
              <a:ext uri="{28A0092B-C50C-407E-A947-70E740481C1C}">
                <a14:useLocalDpi xmlns:a14="http://schemas.microsoft.com/office/drawing/2010/main" val="0"/>
              </a:ext>
            </a:extLst>
          </a:blip>
          <a:srcRect r="53058" b="6619"/>
          <a:stretch/>
        </p:blipFill>
        <p:spPr>
          <a:xfrm>
            <a:off x="3752284" y="1581852"/>
            <a:ext cx="2549213" cy="2126166"/>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9FF"/>
        </a:solidFill>
        <a:effectLst/>
      </p:bgPr>
    </p:bg>
    <p:spTree>
      <p:nvGrpSpPr>
        <p:cNvPr id="1" name=""/>
        <p:cNvGrpSpPr/>
        <p:nvPr/>
      </p:nvGrpSpPr>
      <p:grpSpPr>
        <a:xfrm>
          <a:off x="0" y="0"/>
          <a:ext cx="0" cy="0"/>
          <a:chOff x="0" y="0"/>
          <a:chExt cx="0" cy="0"/>
        </a:xfrm>
      </p:grpSpPr>
      <p:grpSp>
        <p:nvGrpSpPr>
          <p:cNvPr id="71" name="Grupa 70"/>
          <p:cNvGrpSpPr/>
          <p:nvPr/>
        </p:nvGrpSpPr>
        <p:grpSpPr>
          <a:xfrm>
            <a:off x="0" y="0"/>
            <a:ext cx="9144000" cy="558000"/>
            <a:chOff x="0" y="0"/>
            <a:chExt cx="9144000" cy="558000"/>
          </a:xfrm>
        </p:grpSpPr>
        <p:sp>
          <p:nvSpPr>
            <p:cNvPr id="72"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3"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Koło</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Plutchika</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z</a:t>
            </a:r>
            <a:r>
              <a:rPr lang="en-US" sz="2000" b="1" i="0" u="none" strike="noStrike" kern="1200" cap="none" spc="0" baseline="0" dirty="0" err="1" smtClean="0">
                <a:solidFill>
                  <a:srgbClr val="FFFFFF"/>
                </a:solidFill>
                <a:uFillTx/>
                <a:latin typeface="Cambria" pitchFamily="34"/>
                <a:ea typeface="Cambria" pitchFamily="34"/>
                <a:cs typeface="Cambria" pitchFamily="34"/>
              </a:rPr>
              <a:t>łożone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8"/>
            <a:ext cx="8503920" cy="46939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Plutchik</a:t>
            </a:r>
            <a:r>
              <a:rPr lang="en-US" sz="1600" b="0" i="0" u="none" strike="noStrike" kern="1200" cap="none" spc="0" baseline="0" dirty="0">
                <a:solidFill>
                  <a:srgbClr val="111931"/>
                </a:solidFill>
                <a:uFillTx/>
                <a:latin typeface="Calibri" pitchFamily="34"/>
                <a:ea typeface="Calibri" pitchFamily="34"/>
                <a:cs typeface="Calibri" pitchFamily="34"/>
              </a:rPr>
              <a:t> (1980): 8 </a:t>
            </a:r>
            <a:r>
              <a:rPr lang="en-US" sz="1600" b="0" i="0" u="none" strike="noStrike" kern="1200" cap="none" spc="0" baseline="0" dirty="0" err="1">
                <a:solidFill>
                  <a:srgbClr val="111931"/>
                </a:solidFill>
                <a:uFillTx/>
                <a:latin typeface="Calibri" pitchFamily="34"/>
                <a:ea typeface="Calibri" pitchFamily="34"/>
                <a:cs typeface="Calibri" pitchFamily="34"/>
              </a:rPr>
              <a:t>podstawowych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bipolarnych</a:t>
            </a:r>
            <a:r>
              <a:rPr lang="en-US" sz="1600" b="0" i="0" u="none" strike="noStrike" kern="1200" cap="none" spc="0" baseline="0" dirty="0">
                <a:solidFill>
                  <a:srgbClr val="111931"/>
                </a:solidFill>
                <a:uFillTx/>
                <a:latin typeface="Calibri" pitchFamily="34"/>
                <a:ea typeface="Calibri" pitchFamily="34"/>
                <a:cs typeface="Calibri" pitchFamily="34"/>
              </a:rPr>
              <a:t> + 8 </a:t>
            </a:r>
            <a:r>
              <a:rPr lang="en-US" sz="1600" b="0" i="0" u="none" strike="noStrike" kern="1200" cap="none" spc="0" baseline="0" dirty="0" err="1">
                <a:solidFill>
                  <a:srgbClr val="111931"/>
                </a:solidFill>
                <a:uFillTx/>
                <a:latin typeface="Calibri" pitchFamily="34"/>
                <a:ea typeface="Calibri" pitchFamily="34"/>
                <a:cs typeface="Calibri" pitchFamily="34"/>
              </a:rPr>
              <a:t>wyższego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rzędu</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endParaRPr lang="pl-PL" sz="16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600" dirty="0" smtClean="0">
                <a:solidFill>
                  <a:srgbClr val="111931"/>
                </a:solidFill>
                <a:latin typeface="Calibri" pitchFamily="34"/>
                <a:ea typeface="Calibri" pitchFamily="34"/>
                <a:cs typeface="Calibri" pitchFamily="34"/>
              </a:rPr>
              <a:t>M</a:t>
            </a:r>
            <a:r>
              <a:rPr lang="en-US" sz="1600" b="0" i="0" u="none" strike="noStrike" kern="1200" cap="none" spc="0" baseline="0" dirty="0" err="1" smtClean="0">
                <a:solidFill>
                  <a:srgbClr val="111931"/>
                </a:solidFill>
                <a:uFillTx/>
                <a:latin typeface="Calibri" pitchFamily="34"/>
                <a:ea typeface="Calibri" pitchFamily="34"/>
                <a:cs typeface="Calibri" pitchFamily="34"/>
              </a:rPr>
              <a:t>odel</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hierarchiczny</a:t>
            </a:r>
            <a:r>
              <a:rPr lang="en-US" sz="1600" b="0" i="0" u="none" strike="noStrike" kern="1200" cap="none" spc="0" baseline="0" dirty="0">
                <a:solidFill>
                  <a:srgbClr val="111931"/>
                </a:solidFill>
                <a:uFillTx/>
                <a:latin typeface="Calibri" pitchFamily="34"/>
                <a:ea typeface="Calibri" pitchFamily="34"/>
                <a:cs typeface="Calibri" pitchFamily="34"/>
              </a:rPr>
              <a:t> z </a:t>
            </a:r>
            <a:r>
              <a:rPr lang="en-US" sz="1600" b="0" i="0" u="none" strike="noStrike" kern="1200" cap="none" spc="0" baseline="0" dirty="0" err="1">
                <a:solidFill>
                  <a:srgbClr val="111931"/>
                </a:solidFill>
                <a:uFillTx/>
                <a:latin typeface="Calibri" pitchFamily="34"/>
                <a:ea typeface="Calibri" pitchFamily="34"/>
                <a:cs typeface="Calibri" pitchFamily="34"/>
              </a:rPr>
              <a:t>intensywnością</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kombinacjami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diagonalnymi</a:t>
            </a:r>
            <a:endParaRPr lang="en-US" sz="1600" b="0" i="0" u="none" strike="noStrike" kern="1200" cap="none" spc="0" baseline="0" dirty="0">
              <a:solidFill>
                <a:srgbClr val="111931"/>
              </a:solidFill>
              <a:uFillTx/>
              <a:latin typeface="Calibri"/>
            </a:endParaRPr>
          </a:p>
        </p:txBody>
      </p:sp>
      <p:grpSp>
        <p:nvGrpSpPr>
          <p:cNvPr id="74" name="Grupa 73"/>
          <p:cNvGrpSpPr/>
          <p:nvPr/>
        </p:nvGrpSpPr>
        <p:grpSpPr>
          <a:xfrm>
            <a:off x="134874" y="1493520"/>
            <a:ext cx="5920740" cy="2880360"/>
            <a:chOff x="320040" y="1097280"/>
            <a:chExt cx="8503920" cy="3675888"/>
          </a:xfrm>
        </p:grpSpPr>
        <p:sp>
          <p:nvSpPr>
            <p:cNvPr id="8" name="Shape 6"/>
            <p:cNvSpPr/>
            <p:nvPr/>
          </p:nvSpPr>
          <p:spPr>
            <a:xfrm>
              <a:off x="320040" y="1097280"/>
              <a:ext cx="8503920" cy="310896"/>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384048" y="1124712"/>
              <a:ext cx="16276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Emocja</a:t>
              </a:r>
              <a:r>
                <a:rPr lang="en-US" sz="1000" b="1" i="0" u="none" strike="noStrike" kern="1200" cap="none" spc="0" baseline="0" dirty="0">
                  <a:solidFill>
                    <a:srgbClr val="FFFFFF"/>
                  </a:solidFill>
                  <a:uFillTx/>
                  <a:latin typeface="Cambria" pitchFamily="34"/>
                  <a:ea typeface="Cambria" pitchFamily="34"/>
                  <a:cs typeface="Cambria" pitchFamily="34"/>
                </a:rPr>
                <a:t> </a:t>
              </a:r>
              <a:r>
                <a:rPr lang="pl-PL" sz="1000" b="1" i="0" u="none" strike="noStrike" kern="1200" cap="none" spc="0" baseline="0" dirty="0" smtClean="0">
                  <a:solidFill>
                    <a:srgbClr val="FFFFFF"/>
                  </a:solidFill>
                  <a:uFillTx/>
                  <a:latin typeface="Cambria" pitchFamily="34"/>
                  <a:ea typeface="Cambria" pitchFamily="34"/>
                  <a:cs typeface="Cambria" pitchFamily="34"/>
                </a:rPr>
                <a:t>podst.</a:t>
              </a:r>
              <a:endParaRPr lang="en-US" sz="1000" b="0" i="0" u="none" strike="noStrike" kern="1200" cap="none" spc="0" baseline="0" dirty="0">
                <a:solidFill>
                  <a:srgbClr val="000000"/>
                </a:solidFill>
                <a:uFillTx/>
                <a:latin typeface="Calibri"/>
              </a:endParaRPr>
            </a:p>
          </p:txBody>
        </p:sp>
        <p:sp>
          <p:nvSpPr>
            <p:cNvPr id="10" name="Text 8"/>
            <p:cNvSpPr/>
            <p:nvPr/>
          </p:nvSpPr>
          <p:spPr>
            <a:xfrm>
              <a:off x="1882288" y="1124712"/>
              <a:ext cx="12801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Bipolarny</a:t>
              </a:r>
              <a:r>
                <a:rPr lang="en-US" sz="1000" b="1" i="0" u="none" strike="noStrike" kern="1200" cap="none" spc="0" baseline="0" dirty="0">
                  <a:solidFill>
                    <a:srgbClr val="FFFFFF"/>
                  </a:solidFill>
                  <a:uFillTx/>
                  <a:latin typeface="Cambria" pitchFamily="34"/>
                  <a:ea typeface="Cambria" pitchFamily="34"/>
                  <a:cs typeface="Cambria" pitchFamily="34"/>
                </a:rPr>
                <a:t> opp.</a:t>
              </a:r>
              <a:endParaRPr lang="en-US" sz="1000" b="0" i="0" u="none" strike="noStrike" kern="1200" cap="none" spc="0" baseline="0" dirty="0">
                <a:solidFill>
                  <a:srgbClr val="000000"/>
                </a:solidFill>
                <a:uFillTx/>
                <a:latin typeface="Calibri"/>
              </a:endParaRPr>
            </a:p>
          </p:txBody>
        </p:sp>
        <p:sp>
          <p:nvSpPr>
            <p:cNvPr id="11" name="Text 9"/>
            <p:cNvSpPr/>
            <p:nvPr/>
          </p:nvSpPr>
          <p:spPr>
            <a:xfrm>
              <a:off x="3292122" y="1124712"/>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Intensywna</a:t>
              </a:r>
              <a:endParaRPr lang="en-US" sz="1000" b="0" i="0" u="none" strike="noStrike" kern="1200" cap="none" spc="0" baseline="0" dirty="0">
                <a:solidFill>
                  <a:srgbClr val="000000"/>
                </a:solidFill>
                <a:uFillTx/>
                <a:latin typeface="Calibri"/>
              </a:endParaRPr>
            </a:p>
          </p:txBody>
        </p:sp>
        <p:sp>
          <p:nvSpPr>
            <p:cNvPr id="12" name="Text 10"/>
            <p:cNvSpPr/>
            <p:nvPr/>
          </p:nvSpPr>
          <p:spPr>
            <a:xfrm>
              <a:off x="4594171" y="1124712"/>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Słaba</a:t>
              </a:r>
              <a:endParaRPr lang="en-US" sz="1000" b="0" i="0" u="none" strike="noStrike" kern="1200" cap="none" spc="0" baseline="0" dirty="0">
                <a:solidFill>
                  <a:srgbClr val="000000"/>
                </a:solidFill>
                <a:uFillTx/>
                <a:latin typeface="Calibri"/>
              </a:endParaRPr>
            </a:p>
          </p:txBody>
        </p:sp>
        <p:sp>
          <p:nvSpPr>
            <p:cNvPr id="13" name="Text 11"/>
            <p:cNvSpPr/>
            <p:nvPr/>
          </p:nvSpPr>
          <p:spPr>
            <a:xfrm>
              <a:off x="5989320" y="1124712"/>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Kombinacja diagonalna</a:t>
              </a:r>
              <a:endParaRPr lang="en-US" sz="1000" b="0" i="0" u="none" strike="noStrike" kern="1200" cap="none" spc="0" baseline="0">
                <a:solidFill>
                  <a:srgbClr val="000000"/>
                </a:solidFill>
                <a:uFillTx/>
                <a:latin typeface="Calibri"/>
              </a:endParaRPr>
            </a:p>
          </p:txBody>
        </p:sp>
        <p:sp>
          <p:nvSpPr>
            <p:cNvPr id="14" name="Shape 12"/>
            <p:cNvSpPr/>
            <p:nvPr/>
          </p:nvSpPr>
          <p:spPr>
            <a:xfrm>
              <a:off x="320040" y="1444752"/>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Shape 13"/>
            <p:cNvSpPr/>
            <p:nvPr/>
          </p:nvSpPr>
          <p:spPr>
            <a:xfrm>
              <a:off x="320040" y="1444752"/>
              <a:ext cx="54864" cy="384048"/>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438913" y="1517903"/>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059669"/>
                  </a:solidFill>
                  <a:uFillTx/>
                  <a:latin typeface="Cambria" pitchFamily="34"/>
                  <a:ea typeface="Cambria" pitchFamily="34"/>
                  <a:cs typeface="Cambria" pitchFamily="34"/>
                </a:rPr>
                <a:t>Radość</a:t>
              </a:r>
              <a:endParaRPr lang="en-US" sz="1100" b="0" i="0" u="none" strike="noStrike" kern="1200" cap="none" spc="0" baseline="0" dirty="0">
                <a:solidFill>
                  <a:srgbClr val="000000"/>
                </a:solidFill>
                <a:uFillTx/>
                <a:latin typeface="Calibri"/>
              </a:endParaRPr>
            </a:p>
          </p:txBody>
        </p:sp>
        <p:sp>
          <p:nvSpPr>
            <p:cNvPr id="17" name="Text 15"/>
            <p:cNvSpPr/>
            <p:nvPr/>
          </p:nvSpPr>
          <p:spPr>
            <a:xfrm>
              <a:off x="1882288" y="1517903"/>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Smutek</a:t>
              </a:r>
              <a:endParaRPr lang="en-US" sz="1000" b="0" i="0" u="none" strike="noStrike" kern="1200" cap="none" spc="0" baseline="0" dirty="0">
                <a:solidFill>
                  <a:srgbClr val="002060"/>
                </a:solidFill>
                <a:uFillTx/>
                <a:latin typeface="Calibri"/>
              </a:endParaRPr>
            </a:p>
          </p:txBody>
        </p:sp>
        <p:sp>
          <p:nvSpPr>
            <p:cNvPr id="18" name="Text 16"/>
            <p:cNvSpPr/>
            <p:nvPr/>
          </p:nvSpPr>
          <p:spPr>
            <a:xfrm>
              <a:off x="3292122" y="1517903"/>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Ekstaza</a:t>
              </a:r>
              <a:endParaRPr lang="en-US" sz="1000" b="0" i="0" u="none" strike="noStrike" kern="1200" cap="none" spc="0" baseline="0">
                <a:solidFill>
                  <a:srgbClr val="002060"/>
                </a:solidFill>
                <a:uFillTx/>
                <a:latin typeface="Calibri"/>
              </a:endParaRPr>
            </a:p>
          </p:txBody>
        </p:sp>
        <p:sp>
          <p:nvSpPr>
            <p:cNvPr id="19" name="Text 17"/>
            <p:cNvSpPr/>
            <p:nvPr/>
          </p:nvSpPr>
          <p:spPr>
            <a:xfrm>
              <a:off x="4561337" y="1517903"/>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Pogoda ducha</a:t>
              </a:r>
              <a:endParaRPr lang="en-US" sz="1000" b="0" i="0" u="none" strike="noStrike" kern="1200" cap="none" spc="0" baseline="0">
                <a:solidFill>
                  <a:srgbClr val="002060"/>
                </a:solidFill>
                <a:uFillTx/>
                <a:latin typeface="Calibri"/>
              </a:endParaRPr>
            </a:p>
          </p:txBody>
        </p:sp>
        <p:sp>
          <p:nvSpPr>
            <p:cNvPr id="20" name="Text 18"/>
            <p:cNvSpPr/>
            <p:nvPr/>
          </p:nvSpPr>
          <p:spPr>
            <a:xfrm>
              <a:off x="5989320" y="1517904"/>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Miłość (Joy+Trust)</a:t>
              </a:r>
              <a:endParaRPr lang="en-US" sz="1000" b="0" i="0" u="none" strike="noStrike" kern="1200" cap="none" spc="0" baseline="0">
                <a:solidFill>
                  <a:srgbClr val="002060"/>
                </a:solidFill>
                <a:uFillTx/>
                <a:latin typeface="Calibri"/>
              </a:endParaRPr>
            </a:p>
          </p:txBody>
        </p:sp>
        <p:sp>
          <p:nvSpPr>
            <p:cNvPr id="21" name="Shape 19"/>
            <p:cNvSpPr/>
            <p:nvPr/>
          </p:nvSpPr>
          <p:spPr>
            <a:xfrm>
              <a:off x="320040" y="1865376"/>
              <a:ext cx="8503920" cy="384048"/>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1865376"/>
              <a:ext cx="54864" cy="384048"/>
            </a:xfrm>
            <a:prstGeom prst="rect">
              <a:avLst/>
            </a:prstGeom>
            <a:solidFill>
              <a:srgbClr val="0D948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38913" y="1938528"/>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D9488"/>
                  </a:solidFill>
                  <a:uFillTx/>
                  <a:latin typeface="Cambria" pitchFamily="34"/>
                  <a:ea typeface="Cambria" pitchFamily="34"/>
                  <a:cs typeface="Cambria" pitchFamily="34"/>
                </a:rPr>
                <a:t>Zaufanie</a:t>
              </a:r>
              <a:endParaRPr lang="en-US" sz="1100" b="0" i="0" u="none" strike="noStrike" kern="1200" cap="none" spc="0" baseline="0">
                <a:solidFill>
                  <a:srgbClr val="000000"/>
                </a:solidFill>
                <a:uFillTx/>
                <a:latin typeface="Calibri"/>
              </a:endParaRPr>
            </a:p>
          </p:txBody>
        </p:sp>
        <p:sp>
          <p:nvSpPr>
            <p:cNvPr id="24" name="Text 22"/>
            <p:cNvSpPr/>
            <p:nvPr/>
          </p:nvSpPr>
          <p:spPr>
            <a:xfrm>
              <a:off x="1882288" y="1938528"/>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Wstręt</a:t>
              </a:r>
              <a:endParaRPr lang="en-US" sz="1000" b="0" i="0" u="none" strike="noStrike" kern="1200" cap="none" spc="0" baseline="0">
                <a:solidFill>
                  <a:srgbClr val="002060"/>
                </a:solidFill>
                <a:uFillTx/>
                <a:latin typeface="Calibri"/>
              </a:endParaRPr>
            </a:p>
          </p:txBody>
        </p:sp>
        <p:sp>
          <p:nvSpPr>
            <p:cNvPr id="25" name="Text 23"/>
            <p:cNvSpPr/>
            <p:nvPr/>
          </p:nvSpPr>
          <p:spPr>
            <a:xfrm>
              <a:off x="3292122" y="1938528"/>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Podziw</a:t>
              </a:r>
              <a:endParaRPr lang="en-US" sz="1000" b="0" i="0" u="none" strike="noStrike" kern="1200" cap="none" spc="0" baseline="0">
                <a:solidFill>
                  <a:srgbClr val="002060"/>
                </a:solidFill>
                <a:uFillTx/>
                <a:latin typeface="Calibri"/>
              </a:endParaRPr>
            </a:p>
          </p:txBody>
        </p:sp>
        <p:sp>
          <p:nvSpPr>
            <p:cNvPr id="26" name="Text 24"/>
            <p:cNvSpPr/>
            <p:nvPr/>
          </p:nvSpPr>
          <p:spPr>
            <a:xfrm>
              <a:off x="4561337" y="1938528"/>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Akceptacja</a:t>
              </a:r>
              <a:endParaRPr lang="en-US" sz="1000" b="0" i="0" u="none" strike="noStrike" kern="1200" cap="none" spc="0" baseline="0">
                <a:solidFill>
                  <a:srgbClr val="002060"/>
                </a:solidFill>
                <a:uFillTx/>
                <a:latin typeface="Calibri"/>
              </a:endParaRPr>
            </a:p>
          </p:txBody>
        </p:sp>
        <p:sp>
          <p:nvSpPr>
            <p:cNvPr id="27" name="Text 25"/>
            <p:cNvSpPr/>
            <p:nvPr/>
          </p:nvSpPr>
          <p:spPr>
            <a:xfrm>
              <a:off x="5989320" y="1938528"/>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Nadzieja (Trust+Anticipation)</a:t>
              </a:r>
              <a:endParaRPr lang="en-US" sz="1000" b="0" i="0" u="none" strike="noStrike" kern="1200" cap="none" spc="0" baseline="0">
                <a:solidFill>
                  <a:srgbClr val="002060"/>
                </a:solidFill>
                <a:uFillTx/>
                <a:latin typeface="Calibri"/>
              </a:endParaRPr>
            </a:p>
          </p:txBody>
        </p:sp>
        <p:sp>
          <p:nvSpPr>
            <p:cNvPr id="28" name="Shape 26"/>
            <p:cNvSpPr/>
            <p:nvPr/>
          </p:nvSpPr>
          <p:spPr>
            <a:xfrm>
              <a:off x="320040" y="2286000"/>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Shape 27"/>
            <p:cNvSpPr/>
            <p:nvPr/>
          </p:nvSpPr>
          <p:spPr>
            <a:xfrm>
              <a:off x="320040" y="2286000"/>
              <a:ext cx="54864" cy="38404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Text 28"/>
            <p:cNvSpPr/>
            <p:nvPr/>
          </p:nvSpPr>
          <p:spPr>
            <a:xfrm>
              <a:off x="438913" y="2359152"/>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7C3AED"/>
                  </a:solidFill>
                  <a:uFillTx/>
                  <a:latin typeface="Cambria" pitchFamily="34"/>
                  <a:ea typeface="Cambria" pitchFamily="34"/>
                  <a:cs typeface="Cambria" pitchFamily="34"/>
                </a:rPr>
                <a:t>Strach</a:t>
              </a:r>
              <a:endParaRPr lang="en-US" sz="1100" b="0" i="0" u="none" strike="noStrike" kern="1200" cap="none" spc="0" baseline="0">
                <a:solidFill>
                  <a:srgbClr val="000000"/>
                </a:solidFill>
                <a:uFillTx/>
                <a:latin typeface="Calibri"/>
              </a:endParaRPr>
            </a:p>
          </p:txBody>
        </p:sp>
        <p:sp>
          <p:nvSpPr>
            <p:cNvPr id="31" name="Text 29"/>
            <p:cNvSpPr/>
            <p:nvPr/>
          </p:nvSpPr>
          <p:spPr>
            <a:xfrm>
              <a:off x="1882288" y="2359152"/>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Gniew</a:t>
              </a:r>
              <a:endParaRPr lang="en-US" sz="1000" b="0" i="0" u="none" strike="noStrike" kern="1200" cap="none" spc="0" baseline="0">
                <a:solidFill>
                  <a:srgbClr val="002060"/>
                </a:solidFill>
                <a:uFillTx/>
                <a:latin typeface="Calibri"/>
              </a:endParaRPr>
            </a:p>
          </p:txBody>
        </p:sp>
        <p:sp>
          <p:nvSpPr>
            <p:cNvPr id="32" name="Text 30"/>
            <p:cNvSpPr/>
            <p:nvPr/>
          </p:nvSpPr>
          <p:spPr>
            <a:xfrm>
              <a:off x="3292122" y="2359152"/>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Terror</a:t>
              </a:r>
              <a:endParaRPr lang="en-US" sz="1000" b="0" i="0" u="none" strike="noStrike" kern="1200" cap="none" spc="0" baseline="0">
                <a:solidFill>
                  <a:srgbClr val="002060"/>
                </a:solidFill>
                <a:uFillTx/>
                <a:latin typeface="Calibri"/>
              </a:endParaRPr>
            </a:p>
          </p:txBody>
        </p:sp>
        <p:sp>
          <p:nvSpPr>
            <p:cNvPr id="33" name="Text 31"/>
            <p:cNvSpPr/>
            <p:nvPr/>
          </p:nvSpPr>
          <p:spPr>
            <a:xfrm>
              <a:off x="4561337" y="2359152"/>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Trwoga</a:t>
              </a:r>
              <a:endParaRPr lang="en-US" sz="1000" b="0" i="0" u="none" strike="noStrike" kern="1200" cap="none" spc="0" baseline="0">
                <a:solidFill>
                  <a:srgbClr val="002060"/>
                </a:solidFill>
                <a:uFillTx/>
                <a:latin typeface="Calibri"/>
              </a:endParaRPr>
            </a:p>
          </p:txBody>
        </p:sp>
        <p:sp>
          <p:nvSpPr>
            <p:cNvPr id="34" name="Text 32"/>
            <p:cNvSpPr/>
            <p:nvPr/>
          </p:nvSpPr>
          <p:spPr>
            <a:xfrm>
              <a:off x="5989320" y="2359152"/>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Poddanie (Trust+Fear)</a:t>
              </a:r>
              <a:endParaRPr lang="en-US" sz="1000" b="0" i="0" u="none" strike="noStrike" kern="1200" cap="none" spc="0" baseline="0">
                <a:solidFill>
                  <a:srgbClr val="002060"/>
                </a:solidFill>
                <a:uFillTx/>
                <a:latin typeface="Calibri"/>
              </a:endParaRPr>
            </a:p>
          </p:txBody>
        </p:sp>
        <p:sp>
          <p:nvSpPr>
            <p:cNvPr id="35" name="Shape 33"/>
            <p:cNvSpPr/>
            <p:nvPr/>
          </p:nvSpPr>
          <p:spPr>
            <a:xfrm>
              <a:off x="320040" y="2706624"/>
              <a:ext cx="8503920" cy="384048"/>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Shape 34"/>
            <p:cNvSpPr/>
            <p:nvPr/>
          </p:nvSpPr>
          <p:spPr>
            <a:xfrm>
              <a:off x="320040" y="2706624"/>
              <a:ext cx="54864" cy="38404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438913" y="2779776"/>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891B2"/>
                  </a:solidFill>
                  <a:uFillTx/>
                  <a:latin typeface="Cambria" pitchFamily="34"/>
                  <a:ea typeface="Cambria" pitchFamily="34"/>
                  <a:cs typeface="Cambria" pitchFamily="34"/>
                </a:rPr>
                <a:t>Zaskoczenie</a:t>
              </a:r>
              <a:endParaRPr lang="en-US" sz="1100" b="0" i="0" u="none" strike="noStrike" kern="1200" cap="none" spc="0" baseline="0">
                <a:solidFill>
                  <a:srgbClr val="000000"/>
                </a:solidFill>
                <a:uFillTx/>
                <a:latin typeface="Calibri"/>
              </a:endParaRPr>
            </a:p>
          </p:txBody>
        </p:sp>
        <p:sp>
          <p:nvSpPr>
            <p:cNvPr id="38" name="Text 36"/>
            <p:cNvSpPr/>
            <p:nvPr/>
          </p:nvSpPr>
          <p:spPr>
            <a:xfrm>
              <a:off x="1882288" y="2779776"/>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Oczekiwanie</a:t>
              </a:r>
              <a:endParaRPr lang="en-US" sz="1000" b="0" i="0" u="none" strike="noStrike" kern="1200" cap="none" spc="0" baseline="0">
                <a:solidFill>
                  <a:srgbClr val="002060"/>
                </a:solidFill>
                <a:uFillTx/>
                <a:latin typeface="Calibri"/>
              </a:endParaRPr>
            </a:p>
          </p:txBody>
        </p:sp>
        <p:sp>
          <p:nvSpPr>
            <p:cNvPr id="39" name="Text 37"/>
            <p:cNvSpPr/>
            <p:nvPr/>
          </p:nvSpPr>
          <p:spPr>
            <a:xfrm>
              <a:off x="3292122" y="2779776"/>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Zdumienie</a:t>
              </a:r>
              <a:endParaRPr lang="en-US" sz="1000" b="0" i="0" u="none" strike="noStrike" kern="1200" cap="none" spc="0" baseline="0">
                <a:solidFill>
                  <a:srgbClr val="002060"/>
                </a:solidFill>
                <a:uFillTx/>
                <a:latin typeface="Calibri"/>
              </a:endParaRPr>
            </a:p>
          </p:txBody>
        </p:sp>
        <p:sp>
          <p:nvSpPr>
            <p:cNvPr id="40" name="Text 38"/>
            <p:cNvSpPr/>
            <p:nvPr/>
          </p:nvSpPr>
          <p:spPr>
            <a:xfrm>
              <a:off x="4561337" y="2779776"/>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Rozproszenie</a:t>
              </a:r>
              <a:endParaRPr lang="en-US" sz="1000" b="0" i="0" u="none" strike="noStrike" kern="1200" cap="none" spc="0" baseline="0">
                <a:solidFill>
                  <a:srgbClr val="002060"/>
                </a:solidFill>
                <a:uFillTx/>
                <a:latin typeface="Calibri"/>
              </a:endParaRPr>
            </a:p>
          </p:txBody>
        </p:sp>
        <p:sp>
          <p:nvSpPr>
            <p:cNvPr id="41" name="Text 39"/>
            <p:cNvSpPr/>
            <p:nvPr/>
          </p:nvSpPr>
          <p:spPr>
            <a:xfrm>
              <a:off x="5989320" y="2779776"/>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Lęk (Fear+Surprise)</a:t>
              </a:r>
              <a:endParaRPr lang="en-US" sz="1000" b="0" i="0" u="none" strike="noStrike" kern="1200" cap="none" spc="0" baseline="0">
                <a:solidFill>
                  <a:srgbClr val="002060"/>
                </a:solidFill>
                <a:uFillTx/>
                <a:latin typeface="Calibri"/>
              </a:endParaRPr>
            </a:p>
          </p:txBody>
        </p:sp>
        <p:sp>
          <p:nvSpPr>
            <p:cNvPr id="42" name="Shape 40"/>
            <p:cNvSpPr/>
            <p:nvPr/>
          </p:nvSpPr>
          <p:spPr>
            <a:xfrm>
              <a:off x="320040" y="3127248"/>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41"/>
            <p:cNvSpPr/>
            <p:nvPr/>
          </p:nvSpPr>
          <p:spPr>
            <a:xfrm>
              <a:off x="320040" y="3127248"/>
              <a:ext cx="54864" cy="384048"/>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Text 42"/>
            <p:cNvSpPr/>
            <p:nvPr/>
          </p:nvSpPr>
          <p:spPr>
            <a:xfrm>
              <a:off x="438913" y="3200400"/>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D4ED8"/>
                  </a:solidFill>
                  <a:uFillTx/>
                  <a:latin typeface="Cambria" pitchFamily="34"/>
                  <a:ea typeface="Cambria" pitchFamily="34"/>
                  <a:cs typeface="Cambria" pitchFamily="34"/>
                </a:rPr>
                <a:t>Smutek</a:t>
              </a:r>
              <a:endParaRPr lang="en-US" sz="1100" b="0" i="0" u="none" strike="noStrike" kern="1200" cap="none" spc="0" baseline="0">
                <a:solidFill>
                  <a:srgbClr val="000000"/>
                </a:solidFill>
                <a:uFillTx/>
                <a:latin typeface="Calibri"/>
              </a:endParaRPr>
            </a:p>
          </p:txBody>
        </p:sp>
        <p:sp>
          <p:nvSpPr>
            <p:cNvPr id="45" name="Text 43"/>
            <p:cNvSpPr/>
            <p:nvPr/>
          </p:nvSpPr>
          <p:spPr>
            <a:xfrm>
              <a:off x="1882288" y="3200400"/>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Radość</a:t>
              </a:r>
              <a:endParaRPr lang="en-US" sz="1000" b="0" i="0" u="none" strike="noStrike" kern="1200" cap="none" spc="0" baseline="0">
                <a:solidFill>
                  <a:srgbClr val="002060"/>
                </a:solidFill>
                <a:uFillTx/>
                <a:latin typeface="Calibri"/>
              </a:endParaRPr>
            </a:p>
          </p:txBody>
        </p:sp>
        <p:sp>
          <p:nvSpPr>
            <p:cNvPr id="46" name="Text 44"/>
            <p:cNvSpPr/>
            <p:nvPr/>
          </p:nvSpPr>
          <p:spPr>
            <a:xfrm>
              <a:off x="3292122" y="3200400"/>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Żal</a:t>
              </a:r>
              <a:endParaRPr lang="en-US" sz="1000" b="0" i="0" u="none" strike="noStrike" kern="1200" cap="none" spc="0" baseline="0">
                <a:solidFill>
                  <a:srgbClr val="002060"/>
                </a:solidFill>
                <a:uFillTx/>
                <a:latin typeface="Calibri"/>
              </a:endParaRPr>
            </a:p>
          </p:txBody>
        </p:sp>
        <p:sp>
          <p:nvSpPr>
            <p:cNvPr id="47" name="Text 45"/>
            <p:cNvSpPr/>
            <p:nvPr/>
          </p:nvSpPr>
          <p:spPr>
            <a:xfrm>
              <a:off x="4561337" y="3200400"/>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Zaduma</a:t>
              </a:r>
              <a:endParaRPr lang="en-US" sz="1000" b="0" i="0" u="none" strike="noStrike" kern="1200" cap="none" spc="0" baseline="0">
                <a:solidFill>
                  <a:srgbClr val="002060"/>
                </a:solidFill>
                <a:uFillTx/>
                <a:latin typeface="Calibri"/>
              </a:endParaRPr>
            </a:p>
          </p:txBody>
        </p:sp>
        <p:sp>
          <p:nvSpPr>
            <p:cNvPr id="48" name="Text 46"/>
            <p:cNvSpPr/>
            <p:nvPr/>
          </p:nvSpPr>
          <p:spPr>
            <a:xfrm>
              <a:off x="5989320" y="3200400"/>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Wyrzuty sumienia (Sadness+Disgust)</a:t>
              </a:r>
              <a:endParaRPr lang="en-US" sz="1000" b="0" i="0" u="none" strike="noStrike" kern="1200" cap="none" spc="0" baseline="0">
                <a:solidFill>
                  <a:srgbClr val="002060"/>
                </a:solidFill>
                <a:uFillTx/>
                <a:latin typeface="Calibri"/>
              </a:endParaRPr>
            </a:p>
          </p:txBody>
        </p:sp>
        <p:sp>
          <p:nvSpPr>
            <p:cNvPr id="49" name="Shape 47"/>
            <p:cNvSpPr/>
            <p:nvPr/>
          </p:nvSpPr>
          <p:spPr>
            <a:xfrm>
              <a:off x="320040" y="3547872"/>
              <a:ext cx="8503920" cy="384048"/>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0" name="Shape 48"/>
            <p:cNvSpPr/>
            <p:nvPr/>
          </p:nvSpPr>
          <p:spPr>
            <a:xfrm>
              <a:off x="320040" y="3547872"/>
              <a:ext cx="54864" cy="384048"/>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1" name="Text 49"/>
            <p:cNvSpPr/>
            <p:nvPr/>
          </p:nvSpPr>
          <p:spPr>
            <a:xfrm>
              <a:off x="438913" y="3621025"/>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Wstręt</a:t>
              </a:r>
              <a:endParaRPr lang="en-US" sz="1100" b="0" i="0" u="none" strike="noStrike" kern="1200" cap="none" spc="0" baseline="0">
                <a:solidFill>
                  <a:srgbClr val="000000"/>
                </a:solidFill>
                <a:uFillTx/>
                <a:latin typeface="Calibri"/>
              </a:endParaRPr>
            </a:p>
          </p:txBody>
        </p:sp>
        <p:sp>
          <p:nvSpPr>
            <p:cNvPr id="52" name="Text 50"/>
            <p:cNvSpPr/>
            <p:nvPr/>
          </p:nvSpPr>
          <p:spPr>
            <a:xfrm>
              <a:off x="1882288" y="3621025"/>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Zaufanie</a:t>
              </a:r>
              <a:endParaRPr lang="en-US" sz="1000" b="0" i="0" u="none" strike="noStrike" kern="1200" cap="none" spc="0" baseline="0">
                <a:solidFill>
                  <a:srgbClr val="002060"/>
                </a:solidFill>
                <a:uFillTx/>
                <a:latin typeface="Calibri"/>
              </a:endParaRPr>
            </a:p>
          </p:txBody>
        </p:sp>
        <p:sp>
          <p:nvSpPr>
            <p:cNvPr id="53" name="Text 51"/>
            <p:cNvSpPr/>
            <p:nvPr/>
          </p:nvSpPr>
          <p:spPr>
            <a:xfrm>
              <a:off x="3292122" y="3621025"/>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Nienawiść</a:t>
              </a:r>
              <a:endParaRPr lang="en-US" sz="1000" b="0" i="0" u="none" strike="noStrike" kern="1200" cap="none" spc="0" baseline="0">
                <a:solidFill>
                  <a:srgbClr val="002060"/>
                </a:solidFill>
                <a:uFillTx/>
                <a:latin typeface="Calibri"/>
              </a:endParaRPr>
            </a:p>
          </p:txBody>
        </p:sp>
        <p:sp>
          <p:nvSpPr>
            <p:cNvPr id="54" name="Text 52"/>
            <p:cNvSpPr/>
            <p:nvPr/>
          </p:nvSpPr>
          <p:spPr>
            <a:xfrm>
              <a:off x="4561337" y="3621025"/>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Nuda</a:t>
              </a:r>
              <a:endParaRPr lang="en-US" sz="1000" b="0" i="0" u="none" strike="noStrike" kern="1200" cap="none" spc="0" baseline="0">
                <a:solidFill>
                  <a:srgbClr val="002060"/>
                </a:solidFill>
                <a:uFillTx/>
                <a:latin typeface="Calibri"/>
              </a:endParaRPr>
            </a:p>
          </p:txBody>
        </p:sp>
        <p:sp>
          <p:nvSpPr>
            <p:cNvPr id="55" name="Text 53"/>
            <p:cNvSpPr/>
            <p:nvPr/>
          </p:nvSpPr>
          <p:spPr>
            <a:xfrm>
              <a:off x="5989320" y="3621024"/>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Pogarda (Disgust+Anger)</a:t>
              </a:r>
              <a:endParaRPr lang="en-US" sz="1000" b="0" i="0" u="none" strike="noStrike" kern="1200" cap="none" spc="0" baseline="0">
                <a:solidFill>
                  <a:srgbClr val="002060"/>
                </a:solidFill>
                <a:uFillTx/>
                <a:latin typeface="Calibri"/>
              </a:endParaRPr>
            </a:p>
          </p:txBody>
        </p:sp>
        <p:sp>
          <p:nvSpPr>
            <p:cNvPr id="56" name="Shape 54"/>
            <p:cNvSpPr/>
            <p:nvPr/>
          </p:nvSpPr>
          <p:spPr>
            <a:xfrm>
              <a:off x="320040" y="3968496"/>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7" name="Shape 55"/>
            <p:cNvSpPr/>
            <p:nvPr/>
          </p:nvSpPr>
          <p:spPr>
            <a:xfrm>
              <a:off x="320040" y="3968496"/>
              <a:ext cx="54864" cy="38404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8" name="Text 56"/>
            <p:cNvSpPr/>
            <p:nvPr/>
          </p:nvSpPr>
          <p:spPr>
            <a:xfrm>
              <a:off x="438913" y="4041648"/>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11D48"/>
                  </a:solidFill>
                  <a:uFillTx/>
                  <a:latin typeface="Cambria" pitchFamily="34"/>
                  <a:ea typeface="Cambria" pitchFamily="34"/>
                  <a:cs typeface="Cambria" pitchFamily="34"/>
                </a:rPr>
                <a:t>Gniew</a:t>
              </a:r>
              <a:endParaRPr lang="en-US" sz="1100" b="0" i="0" u="none" strike="noStrike" kern="1200" cap="none" spc="0" baseline="0">
                <a:solidFill>
                  <a:srgbClr val="000000"/>
                </a:solidFill>
                <a:uFillTx/>
                <a:latin typeface="Calibri"/>
              </a:endParaRPr>
            </a:p>
          </p:txBody>
        </p:sp>
        <p:sp>
          <p:nvSpPr>
            <p:cNvPr id="59" name="Text 57"/>
            <p:cNvSpPr/>
            <p:nvPr/>
          </p:nvSpPr>
          <p:spPr>
            <a:xfrm>
              <a:off x="1882288" y="4041648"/>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Strach</a:t>
              </a:r>
              <a:endParaRPr lang="en-US" sz="1000" b="0" i="0" u="none" strike="noStrike" kern="1200" cap="none" spc="0" baseline="0">
                <a:solidFill>
                  <a:srgbClr val="002060"/>
                </a:solidFill>
                <a:uFillTx/>
                <a:latin typeface="Calibri"/>
              </a:endParaRPr>
            </a:p>
          </p:txBody>
        </p:sp>
        <p:sp>
          <p:nvSpPr>
            <p:cNvPr id="60" name="Text 58"/>
            <p:cNvSpPr/>
            <p:nvPr/>
          </p:nvSpPr>
          <p:spPr>
            <a:xfrm>
              <a:off x="3292122" y="4041648"/>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Wściekłość</a:t>
              </a:r>
              <a:endParaRPr lang="en-US" sz="1000" b="0" i="0" u="none" strike="noStrike" kern="1200" cap="none" spc="0" baseline="0">
                <a:solidFill>
                  <a:srgbClr val="002060"/>
                </a:solidFill>
                <a:uFillTx/>
                <a:latin typeface="Calibri"/>
              </a:endParaRPr>
            </a:p>
          </p:txBody>
        </p:sp>
        <p:sp>
          <p:nvSpPr>
            <p:cNvPr id="61" name="Text 59"/>
            <p:cNvSpPr/>
            <p:nvPr/>
          </p:nvSpPr>
          <p:spPr>
            <a:xfrm>
              <a:off x="4561337" y="4041648"/>
              <a:ext cx="12344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Irytacja</a:t>
              </a:r>
              <a:endParaRPr lang="en-US" sz="1000" b="0" i="0" u="none" strike="noStrike" kern="1200" cap="none" spc="0" baseline="0">
                <a:solidFill>
                  <a:srgbClr val="002060"/>
                </a:solidFill>
                <a:uFillTx/>
                <a:latin typeface="Calibri"/>
              </a:endParaRPr>
            </a:p>
          </p:txBody>
        </p:sp>
        <p:sp>
          <p:nvSpPr>
            <p:cNvPr id="62" name="Text 60"/>
            <p:cNvSpPr/>
            <p:nvPr/>
          </p:nvSpPr>
          <p:spPr>
            <a:xfrm>
              <a:off x="5989320" y="4041648"/>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Agresja (Anger+Anticipation)</a:t>
              </a:r>
              <a:endParaRPr lang="en-US" sz="1000" b="0" i="0" u="none" strike="noStrike" kern="1200" cap="none" spc="0" baseline="0">
                <a:solidFill>
                  <a:srgbClr val="002060"/>
                </a:solidFill>
                <a:uFillTx/>
                <a:latin typeface="Calibri"/>
              </a:endParaRPr>
            </a:p>
          </p:txBody>
        </p:sp>
        <p:sp>
          <p:nvSpPr>
            <p:cNvPr id="63" name="Shape 61"/>
            <p:cNvSpPr/>
            <p:nvPr/>
          </p:nvSpPr>
          <p:spPr>
            <a:xfrm>
              <a:off x="320040" y="4389120"/>
              <a:ext cx="8503920" cy="384048"/>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4" name="Shape 62"/>
            <p:cNvSpPr/>
            <p:nvPr/>
          </p:nvSpPr>
          <p:spPr>
            <a:xfrm>
              <a:off x="320040" y="4389120"/>
              <a:ext cx="54864" cy="384048"/>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5" name="Text 63"/>
            <p:cNvSpPr/>
            <p:nvPr/>
          </p:nvSpPr>
          <p:spPr>
            <a:xfrm>
              <a:off x="438913" y="4462271"/>
              <a:ext cx="139400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B2777"/>
                  </a:solidFill>
                  <a:uFillTx/>
                  <a:latin typeface="Cambria" pitchFamily="34"/>
                  <a:ea typeface="Cambria" pitchFamily="34"/>
                  <a:cs typeface="Cambria" pitchFamily="34"/>
                </a:rPr>
                <a:t>Oczekiwanie</a:t>
              </a:r>
              <a:endParaRPr lang="en-US" sz="1100" b="0" i="0" u="none" strike="noStrike" kern="1200" cap="none" spc="0" baseline="0">
                <a:solidFill>
                  <a:srgbClr val="000000"/>
                </a:solidFill>
                <a:uFillTx/>
                <a:latin typeface="Calibri"/>
              </a:endParaRPr>
            </a:p>
          </p:txBody>
        </p:sp>
        <p:sp>
          <p:nvSpPr>
            <p:cNvPr id="66" name="Text 64"/>
            <p:cNvSpPr/>
            <p:nvPr/>
          </p:nvSpPr>
          <p:spPr>
            <a:xfrm>
              <a:off x="1882288" y="4462271"/>
              <a:ext cx="126187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Zaskoczenie</a:t>
              </a:r>
              <a:endParaRPr lang="en-US" sz="1000" b="0" i="0" u="none" strike="noStrike" kern="1200" cap="none" spc="0" baseline="0" dirty="0">
                <a:solidFill>
                  <a:srgbClr val="002060"/>
                </a:solidFill>
                <a:uFillTx/>
                <a:latin typeface="Calibri"/>
              </a:endParaRPr>
            </a:p>
          </p:txBody>
        </p:sp>
        <p:sp>
          <p:nvSpPr>
            <p:cNvPr id="67" name="Text 65"/>
            <p:cNvSpPr/>
            <p:nvPr/>
          </p:nvSpPr>
          <p:spPr>
            <a:xfrm>
              <a:off x="3292122" y="4462271"/>
              <a:ext cx="12070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Czujność</a:t>
              </a:r>
              <a:endParaRPr lang="en-US" sz="1000" b="0" i="0" u="none" strike="noStrike" kern="1200" cap="none" spc="0" baseline="0" dirty="0">
                <a:solidFill>
                  <a:srgbClr val="002060"/>
                </a:solidFill>
                <a:uFillTx/>
                <a:latin typeface="Calibri"/>
              </a:endParaRPr>
            </a:p>
          </p:txBody>
        </p:sp>
        <p:sp>
          <p:nvSpPr>
            <p:cNvPr id="68" name="Text 66"/>
            <p:cNvSpPr/>
            <p:nvPr/>
          </p:nvSpPr>
          <p:spPr>
            <a:xfrm>
              <a:off x="4493199" y="4462271"/>
              <a:ext cx="1335411"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Zainteresowanie</a:t>
              </a:r>
              <a:endParaRPr lang="en-US" sz="1000" b="0" i="0" u="none" strike="noStrike" kern="1200" cap="none" spc="0" baseline="0" dirty="0">
                <a:solidFill>
                  <a:srgbClr val="002060"/>
                </a:solidFill>
                <a:uFillTx/>
                <a:latin typeface="Calibri"/>
              </a:endParaRPr>
            </a:p>
          </p:txBody>
        </p:sp>
        <p:sp>
          <p:nvSpPr>
            <p:cNvPr id="69" name="Text 67"/>
            <p:cNvSpPr/>
            <p:nvPr/>
          </p:nvSpPr>
          <p:spPr>
            <a:xfrm>
              <a:off x="5989320" y="4462272"/>
              <a:ext cx="27614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Optymizm</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Anticipation+Joy</a:t>
              </a:r>
              <a:r>
                <a:rPr lang="en-US" sz="1000" b="0" i="0" u="none" strike="noStrike" kern="1200" cap="none" spc="0" baseline="0" dirty="0">
                  <a:solidFill>
                    <a:srgbClr val="002060"/>
                  </a:solidFill>
                  <a:uFillTx/>
                  <a:latin typeface="Calibri" pitchFamily="34"/>
                  <a:ea typeface="Calibri" pitchFamily="34"/>
                  <a:cs typeface="Calibri" pitchFamily="34"/>
                </a:rPr>
                <a:t>)</a:t>
              </a:r>
              <a:endParaRPr lang="en-US" sz="1000" b="0" i="0" u="none" strike="noStrike" kern="1200" cap="none" spc="0" baseline="0" dirty="0">
                <a:solidFill>
                  <a:srgbClr val="002060"/>
                </a:solidFill>
                <a:uFillTx/>
                <a:latin typeface="Calibri"/>
              </a:endParaRPr>
            </a:p>
          </p:txBody>
        </p:sp>
      </p:grpSp>
      <p:sp>
        <p:nvSpPr>
          <p:cNvPr id="70" name="Text 68"/>
          <p:cNvSpPr/>
          <p:nvPr/>
        </p:nvSpPr>
        <p:spPr>
          <a:xfrm>
            <a:off x="134874" y="4599887"/>
            <a:ext cx="7129272" cy="329593"/>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err="1">
                <a:solidFill>
                  <a:srgbClr val="002060"/>
                </a:solidFill>
                <a:uFillTx/>
                <a:latin typeface="Calibri" pitchFamily="34"/>
                <a:ea typeface="Calibri" pitchFamily="34"/>
                <a:cs typeface="Calibri" pitchFamily="34"/>
              </a:rPr>
              <a:t>Praktyczne</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zastosowanie</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Affectiva</a:t>
            </a:r>
            <a:r>
              <a:rPr lang="en-US" sz="1100" b="0" i="0" u="none" strike="noStrike" kern="1200" cap="none" spc="0" baseline="0" dirty="0">
                <a:solidFill>
                  <a:srgbClr val="002060"/>
                </a:solidFill>
                <a:uFillTx/>
                <a:latin typeface="Calibri" pitchFamily="34"/>
                <a:ea typeface="Calibri" pitchFamily="34"/>
                <a:cs typeface="Calibri" pitchFamily="34"/>
              </a:rPr>
              <a:t> AFFDEX, </a:t>
            </a:r>
            <a:r>
              <a:rPr lang="en-US" sz="1100" b="0" i="0" u="none" strike="noStrike" kern="1200" cap="none" spc="0" baseline="0" dirty="0" err="1">
                <a:solidFill>
                  <a:srgbClr val="002060"/>
                </a:solidFill>
                <a:uFillTx/>
                <a:latin typeface="Calibri" pitchFamily="34"/>
                <a:ea typeface="Calibri" pitchFamily="34"/>
                <a:cs typeface="Calibri" pitchFamily="34"/>
              </a:rPr>
              <a:t>DeepFace</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i</a:t>
            </a:r>
            <a:r>
              <a:rPr lang="en-US" sz="1100" b="0" i="0" u="none" strike="noStrike" kern="1200" cap="none" spc="0" baseline="0" dirty="0">
                <a:solidFill>
                  <a:srgbClr val="002060"/>
                </a:solidFill>
                <a:uFillTx/>
                <a:latin typeface="Calibri" pitchFamily="34"/>
                <a:ea typeface="Calibri" pitchFamily="34"/>
                <a:cs typeface="Calibri" pitchFamily="34"/>
              </a:rPr>
              <a:t> Microsoft FER+ </a:t>
            </a:r>
            <a:r>
              <a:rPr lang="en-US" sz="1100" b="0" i="0" u="none" strike="noStrike" kern="1200" cap="none" spc="0" baseline="0" dirty="0" err="1">
                <a:solidFill>
                  <a:srgbClr val="002060"/>
                </a:solidFill>
                <a:uFillTx/>
                <a:latin typeface="Calibri" pitchFamily="34"/>
                <a:ea typeface="Calibri" pitchFamily="34"/>
                <a:cs typeface="Calibri" pitchFamily="34"/>
              </a:rPr>
              <a:t>używają</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kombinacji</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Ekmana+Plutchika</a:t>
            </a:r>
            <a:r>
              <a:rPr lang="en-US" sz="1100" b="0" i="0" u="none" strike="noStrike" kern="1200" cap="none" spc="0" baseline="0" dirty="0">
                <a:solidFill>
                  <a:srgbClr val="002060"/>
                </a:solidFill>
                <a:uFillTx/>
                <a:latin typeface="Calibri" pitchFamily="34"/>
                <a:ea typeface="Calibri" pitchFamily="34"/>
                <a:cs typeface="Calibri" pitchFamily="34"/>
              </a:rPr>
              <a:t> (7–8 </a:t>
            </a:r>
            <a:r>
              <a:rPr lang="en-US" sz="1100" b="0" i="0" u="none" strike="noStrike" kern="1200" cap="none" spc="0" baseline="0" dirty="0" err="1">
                <a:solidFill>
                  <a:srgbClr val="002060"/>
                </a:solidFill>
                <a:uFillTx/>
                <a:latin typeface="Calibri" pitchFamily="34"/>
                <a:ea typeface="Calibri" pitchFamily="34"/>
                <a:cs typeface="Calibri" pitchFamily="34"/>
              </a:rPr>
              <a:t>klas</a:t>
            </a:r>
            <a:r>
              <a:rPr lang="en-US" sz="1100" b="0" i="0" u="none" strike="noStrike" kern="1200" cap="none" spc="0" baseline="0" dirty="0">
                <a:solidFill>
                  <a:srgbClr val="002060"/>
                </a:solidFill>
                <a:uFillTx/>
                <a:latin typeface="Calibri" pitchFamily="34"/>
                <a:ea typeface="Calibri" pitchFamily="34"/>
                <a:cs typeface="Calibri" pitchFamily="34"/>
              </a:rPr>
              <a:t>). </a:t>
            </a:r>
            <a:endParaRPr lang="pl-PL" sz="1100" b="0" i="0" u="none" strike="noStrike" kern="1200" cap="none" spc="0" baseline="0" dirty="0" smtClean="0">
              <a:solidFill>
                <a:srgbClr val="002060"/>
              </a:solidFill>
              <a:uFillTx/>
              <a:latin typeface="Calibri" pitchFamily="34"/>
              <a:ea typeface="Calibri" pitchFamily="34"/>
              <a:cs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smtClean="0">
                <a:solidFill>
                  <a:srgbClr val="002060"/>
                </a:solidFill>
                <a:uFillTx/>
                <a:latin typeface="Calibri" pitchFamily="34"/>
                <a:ea typeface="Calibri" pitchFamily="34"/>
                <a:cs typeface="Calibri" pitchFamily="34"/>
              </a:rPr>
              <a:t>NLP </a:t>
            </a:r>
            <a:r>
              <a:rPr lang="en-US" sz="1100" b="0" i="0" u="none" strike="noStrike" kern="1200" cap="none" spc="0" baseline="0" dirty="0">
                <a:solidFill>
                  <a:srgbClr val="002060"/>
                </a:solidFill>
                <a:uFillTx/>
                <a:latin typeface="Calibri" pitchFamily="34"/>
                <a:ea typeface="Calibri" pitchFamily="34"/>
                <a:cs typeface="Calibri" pitchFamily="34"/>
              </a:rPr>
              <a:t>sentiment: </a:t>
            </a:r>
            <a:r>
              <a:rPr lang="en-US" sz="1100" b="0" i="0" u="none" strike="noStrike" kern="1200" cap="none" spc="0" baseline="0" dirty="0" err="1">
                <a:solidFill>
                  <a:srgbClr val="002060"/>
                </a:solidFill>
                <a:uFillTx/>
                <a:latin typeface="Calibri" pitchFamily="34"/>
                <a:ea typeface="Calibri" pitchFamily="34"/>
                <a:cs typeface="Calibri" pitchFamily="34"/>
              </a:rPr>
              <a:t>często</a:t>
            </a:r>
            <a:r>
              <a:rPr lang="en-US" sz="1100" b="0" i="0" u="none" strike="noStrike" kern="1200" cap="none" spc="0" baseline="0" dirty="0">
                <a:solidFill>
                  <a:srgbClr val="002060"/>
                </a:solidFill>
                <a:uFillTx/>
                <a:latin typeface="Calibri" pitchFamily="34"/>
                <a:ea typeface="Calibri" pitchFamily="34"/>
                <a:cs typeface="Calibri" pitchFamily="34"/>
              </a:rPr>
              <a:t> 3 </a:t>
            </a:r>
            <a:r>
              <a:rPr lang="en-US" sz="1100" b="0" i="0" u="none" strike="noStrike" kern="1200" cap="none" spc="0" baseline="0" dirty="0" err="1">
                <a:solidFill>
                  <a:srgbClr val="002060"/>
                </a:solidFill>
                <a:uFillTx/>
                <a:latin typeface="Calibri" pitchFamily="34"/>
                <a:ea typeface="Calibri" pitchFamily="34"/>
                <a:cs typeface="Calibri" pitchFamily="34"/>
              </a:rPr>
              <a:t>klasy</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pos</a:t>
            </a:r>
            <a:r>
              <a:rPr lang="en-US" sz="1100" b="0" i="0" u="none" strike="noStrike" kern="1200" cap="none" spc="0" baseline="0" dirty="0">
                <a:solidFill>
                  <a:srgbClr val="002060"/>
                </a:solidFill>
                <a:uFillTx/>
                <a:latin typeface="Calibri" pitchFamily="34"/>
                <a:ea typeface="Calibri" pitchFamily="34"/>
                <a:cs typeface="Calibri" pitchFamily="34"/>
              </a:rPr>
              <a:t>/</a:t>
            </a:r>
            <a:r>
              <a:rPr lang="en-US" sz="1100" b="0" i="0" u="none" strike="noStrike" kern="1200" cap="none" spc="0" baseline="0" dirty="0" err="1">
                <a:solidFill>
                  <a:srgbClr val="002060"/>
                </a:solidFill>
                <a:uFillTx/>
                <a:latin typeface="Calibri" pitchFamily="34"/>
                <a:ea typeface="Calibri" pitchFamily="34"/>
                <a:cs typeface="Calibri" pitchFamily="34"/>
              </a:rPr>
              <a:t>neg</a:t>
            </a:r>
            <a:r>
              <a:rPr lang="en-US" sz="1100" b="0" i="0" u="none" strike="noStrike" kern="1200" cap="none" spc="0" baseline="0" dirty="0">
                <a:solidFill>
                  <a:srgbClr val="002060"/>
                </a:solidFill>
                <a:uFillTx/>
                <a:latin typeface="Calibri" pitchFamily="34"/>
                <a:ea typeface="Calibri" pitchFamily="34"/>
                <a:cs typeface="Calibri" pitchFamily="34"/>
              </a:rPr>
              <a:t>/neutral) </a:t>
            </a:r>
            <a:r>
              <a:rPr lang="en-US" sz="1100" b="0" i="0" u="none" strike="noStrike" kern="1200" cap="none" spc="0" baseline="0" dirty="0" err="1">
                <a:solidFill>
                  <a:srgbClr val="002060"/>
                </a:solidFill>
                <a:uFillTx/>
                <a:latin typeface="Calibri" pitchFamily="34"/>
                <a:ea typeface="Calibri" pitchFamily="34"/>
                <a:cs typeface="Calibri" pitchFamily="34"/>
              </a:rPr>
              <a:t>lub</a:t>
            </a:r>
            <a:r>
              <a:rPr lang="en-US" sz="1100" b="0" i="0" u="none" strike="noStrike" kern="1200" cap="none" spc="0" baseline="0" dirty="0">
                <a:solidFill>
                  <a:srgbClr val="002060"/>
                </a:solidFill>
                <a:uFillTx/>
                <a:latin typeface="Calibri" pitchFamily="34"/>
                <a:ea typeface="Calibri" pitchFamily="34"/>
                <a:cs typeface="Calibri" pitchFamily="34"/>
              </a:rPr>
              <a:t> VAD </a:t>
            </a:r>
            <a:r>
              <a:rPr lang="en-US" sz="1100" b="0" i="0" u="none" strike="noStrike" kern="1200" cap="none" spc="0" baseline="0" dirty="0" err="1">
                <a:solidFill>
                  <a:srgbClr val="002060"/>
                </a:solidFill>
                <a:uFillTx/>
                <a:latin typeface="Calibri" pitchFamily="34"/>
                <a:ea typeface="Calibri" pitchFamily="34"/>
                <a:cs typeface="Calibri" pitchFamily="34"/>
              </a:rPr>
              <a:t>ciągły</a:t>
            </a:r>
            <a:r>
              <a:rPr lang="en-US" sz="1100" b="0" i="0" u="none" strike="noStrike" kern="1200" cap="none" spc="0" baseline="0" dirty="0">
                <a:solidFill>
                  <a:srgbClr val="002060"/>
                </a:solidFill>
                <a:uFillTx/>
                <a:latin typeface="Calibri" pitchFamily="34"/>
                <a:ea typeface="Calibri" pitchFamily="34"/>
                <a:cs typeface="Calibri" pitchFamily="34"/>
              </a:rPr>
              <a:t> z </a:t>
            </a:r>
            <a:r>
              <a:rPr lang="en-US" sz="1100" b="0" i="0" u="none" strike="noStrike" kern="1200" cap="none" spc="0" baseline="0" dirty="0" err="1">
                <a:solidFill>
                  <a:srgbClr val="002060"/>
                </a:solidFill>
                <a:uFillTx/>
                <a:latin typeface="Calibri" pitchFamily="34"/>
                <a:ea typeface="Calibri" pitchFamily="34"/>
                <a:cs typeface="Calibri" pitchFamily="34"/>
              </a:rPr>
              <a:t>wielowymiarowym</a:t>
            </a:r>
            <a:r>
              <a:rPr lang="en-US" sz="1100" b="0" i="0" u="none" strike="noStrike" kern="1200" cap="none" spc="0" baseline="0" dirty="0">
                <a:solidFill>
                  <a:srgbClr val="002060"/>
                </a:solidFill>
                <a:uFillTx/>
                <a:latin typeface="Calibri" pitchFamily="34"/>
                <a:ea typeface="Calibri" pitchFamily="34"/>
                <a:cs typeface="Calibri" pitchFamily="34"/>
              </a:rPr>
              <a:t> BERT fine-tune.</a:t>
            </a:r>
            <a:endParaRPr lang="en-US" sz="1100" b="0" i="0" u="none" strike="noStrike" kern="1200" cap="none" spc="0" baseline="0" dirty="0">
              <a:solidFill>
                <a:srgbClr val="002060"/>
              </a:solidFill>
              <a:uFillTx/>
              <a:latin typeface="Calibri"/>
            </a:endParaRPr>
          </a:p>
        </p:txBody>
      </p:sp>
      <p:sp>
        <p:nvSpPr>
          <p:cNvPr id="75"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5</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pic>
        <p:nvPicPr>
          <p:cNvPr id="76" name="Obraz 7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55614" y="1255444"/>
            <a:ext cx="3087672" cy="3087672"/>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9FF"/>
        </a:solidFill>
        <a:effectLst/>
      </p:bgPr>
    </p:bg>
    <p:spTree>
      <p:nvGrpSpPr>
        <p:cNvPr id="1" name=""/>
        <p:cNvGrpSpPr/>
        <p:nvPr/>
      </p:nvGrpSpPr>
      <p:grpSpPr>
        <a:xfrm>
          <a:off x="0" y="0"/>
          <a:ext cx="0" cy="0"/>
          <a:chOff x="0" y="0"/>
          <a:chExt cx="0" cy="0"/>
        </a:xfrm>
      </p:grpSpPr>
      <p:grpSp>
        <p:nvGrpSpPr>
          <p:cNvPr id="64" name="Grupa 63"/>
          <p:cNvGrpSpPr/>
          <p:nvPr/>
        </p:nvGrpSpPr>
        <p:grpSpPr>
          <a:xfrm>
            <a:off x="0" y="0"/>
            <a:ext cx="9144000" cy="558000"/>
            <a:chOff x="0" y="0"/>
            <a:chExt cx="9144000" cy="558000"/>
          </a:xfrm>
        </p:grpSpPr>
        <p:sp>
          <p:nvSpPr>
            <p:cNvPr id="65"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6"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Taksonomia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k</a:t>
            </a:r>
            <a:r>
              <a:rPr lang="en-US" sz="2000" b="1" i="0" u="none" strike="noStrike" kern="1200" cap="none" spc="0" baseline="0" dirty="0" err="1" smtClean="0">
                <a:solidFill>
                  <a:srgbClr val="FFFFFF"/>
                </a:solidFill>
                <a:uFillTx/>
                <a:latin typeface="Cambria" pitchFamily="34"/>
                <a:ea typeface="Cambria" pitchFamily="34"/>
                <a:cs typeface="Cambria" pitchFamily="34"/>
              </a:rPr>
              <a:t>anałów</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omiarowych</a:t>
            </a:r>
            <a:r>
              <a:rPr lang="pl-PL" sz="2000" b="1" dirty="0" smtClean="0">
                <a:solidFill>
                  <a:srgbClr val="FFFFFF"/>
                </a:solidFill>
                <a:latin typeface="Cambria" pitchFamily="34"/>
                <a:ea typeface="Cambria" pitchFamily="34"/>
                <a:cs typeface="Cambria" pitchFamily="34"/>
              </a:rPr>
              <a:t>, czyli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kąd</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o</a:t>
            </a:r>
            <a:r>
              <a:rPr lang="en-US" sz="2000" b="1" i="0" u="none" strike="noStrike" kern="1200" cap="none" spc="0" baseline="0" dirty="0" err="1" smtClean="0">
                <a:solidFill>
                  <a:srgbClr val="FFFFFF"/>
                </a:solidFill>
                <a:uFillTx/>
                <a:latin typeface="Cambria" pitchFamily="34"/>
                <a:ea typeface="Cambria" pitchFamily="34"/>
                <a:cs typeface="Cambria" pitchFamily="34"/>
              </a:rPr>
              <a:t>dczytujemy</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mocje</a:t>
            </a:r>
            <a:r>
              <a:rPr lang="en-US" sz="2000" b="1" i="0" u="none" strike="noStrike" kern="1200" cap="none" spc="0" baseline="0" dirty="0">
                <a:solidFill>
                  <a:srgbClr val="FFFFFF"/>
                </a:solidFill>
                <a:uFillTx/>
                <a:latin typeface="Cambria" pitchFamily="34"/>
                <a:ea typeface="Cambria" pitchFamily="34"/>
                <a:cs typeface="Cambria" pitchFamily="34"/>
              </a:rPr>
              <a:t>?</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8"/>
            <a:ext cx="8503920" cy="50749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Bogactwo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sygnałów</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afektywnych</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smtClean="0">
                <a:solidFill>
                  <a:srgbClr val="111931"/>
                </a:solidFill>
                <a:uFillTx/>
                <a:latin typeface="Calibri" pitchFamily="34"/>
                <a:ea typeface="Calibri" pitchFamily="34"/>
                <a:cs typeface="Calibri" pitchFamily="34"/>
              </a:rPr>
              <a:t>smartfonie</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dirty="0" err="1" smtClean="0">
                <a:solidFill>
                  <a:srgbClr val="111931"/>
                </a:solidFill>
                <a:latin typeface="Calibri" pitchFamily="34"/>
                <a:ea typeface="Calibri" pitchFamily="34"/>
                <a:cs typeface="Calibri" pitchFamily="34"/>
              </a:rPr>
              <a:t>K</a:t>
            </a:r>
            <a:r>
              <a:rPr lang="en-US" sz="1600" b="0" i="0" u="none" strike="noStrike" kern="1200" cap="none" spc="0" baseline="0" dirty="0" err="1" smtClean="0">
                <a:solidFill>
                  <a:srgbClr val="111931"/>
                </a:solidFill>
                <a:uFillTx/>
                <a:latin typeface="Calibri" pitchFamily="34"/>
                <a:ea typeface="Calibri" pitchFamily="34"/>
                <a:cs typeface="Calibri" pitchFamily="34"/>
              </a:rPr>
              <a:t>ażdy</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kanał</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niesie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inne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aspekty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stanu</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emocjonalnego</a:t>
            </a:r>
            <a:r>
              <a:rPr lang="en-US" sz="1600" b="0" i="0" u="none" strike="noStrike" kern="1200" cap="none" spc="0" baseline="0" dirty="0">
                <a:solidFill>
                  <a:srgbClr val="111931"/>
                </a:solidFill>
                <a:uFillTx/>
                <a:latin typeface="Calibri" pitchFamily="34"/>
                <a:ea typeface="Calibri" pitchFamily="34"/>
                <a:cs typeface="Calibri" pitchFamily="34"/>
              </a:rPr>
              <a:t>, a </a:t>
            </a:r>
            <a:r>
              <a:rPr lang="en-US" sz="1600" b="0" i="0" u="none" strike="noStrike" kern="1200" cap="none" spc="0" baseline="0" dirty="0" err="1">
                <a:solidFill>
                  <a:srgbClr val="111931"/>
                </a:solidFill>
                <a:uFillTx/>
                <a:latin typeface="Calibri" pitchFamily="34"/>
                <a:ea typeface="Calibri" pitchFamily="34"/>
                <a:cs typeface="Calibri" pitchFamily="34"/>
              </a:rPr>
              <a:t>ich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fuzja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zwiększa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precyzję</a:t>
            </a:r>
            <a:endParaRPr lang="en-US" sz="1600" b="0" i="0" u="none" strike="noStrike" kern="1200" cap="none" spc="0" baseline="0" dirty="0">
              <a:solidFill>
                <a:srgbClr val="111931"/>
              </a:solidFill>
              <a:uFillTx/>
              <a:latin typeface="Calibri"/>
            </a:endParaRPr>
          </a:p>
        </p:txBody>
      </p:sp>
      <p:grpSp>
        <p:nvGrpSpPr>
          <p:cNvPr id="67" name="Grupa 66"/>
          <p:cNvGrpSpPr/>
          <p:nvPr/>
        </p:nvGrpSpPr>
        <p:grpSpPr>
          <a:xfrm>
            <a:off x="320040" y="1885188"/>
            <a:ext cx="8503920" cy="2330916"/>
            <a:chOff x="320040" y="1115568"/>
            <a:chExt cx="8503920" cy="3346704"/>
          </a:xfrm>
        </p:grpSpPr>
        <p:sp>
          <p:nvSpPr>
            <p:cNvPr id="8" name="Shape 6"/>
            <p:cNvSpPr/>
            <p:nvPr/>
          </p:nvSpPr>
          <p:spPr>
            <a:xfrm>
              <a:off x="320040" y="1115568"/>
              <a:ext cx="8503920" cy="29260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320040" y="1143000"/>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Kanał</a:t>
              </a:r>
              <a:endParaRPr lang="en-US" sz="1000" b="0" i="0" u="none" strike="noStrike" kern="1200" cap="none" spc="0" baseline="0" dirty="0">
                <a:solidFill>
                  <a:srgbClr val="000000"/>
                </a:solidFill>
                <a:uFillTx/>
                <a:latin typeface="Calibri"/>
              </a:endParaRPr>
            </a:p>
          </p:txBody>
        </p:sp>
        <p:sp>
          <p:nvSpPr>
            <p:cNvPr id="10" name="Text 8"/>
            <p:cNvSpPr/>
            <p:nvPr/>
          </p:nvSpPr>
          <p:spPr>
            <a:xfrm>
              <a:off x="1709928" y="1143000"/>
              <a:ext cx="1554480"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HW</a:t>
              </a:r>
              <a:endParaRPr lang="en-US" sz="1000" b="0" i="0" u="none" strike="noStrike" kern="1200" cap="none" spc="0" baseline="0">
                <a:solidFill>
                  <a:srgbClr val="000000"/>
                </a:solidFill>
                <a:uFillTx/>
                <a:latin typeface="Calibri"/>
              </a:endParaRPr>
            </a:p>
          </p:txBody>
        </p:sp>
        <p:sp>
          <p:nvSpPr>
            <p:cNvPr id="11" name="Text 9"/>
            <p:cNvSpPr/>
            <p:nvPr/>
          </p:nvSpPr>
          <p:spPr>
            <a:xfrm>
              <a:off x="3264408" y="1143000"/>
              <a:ext cx="1828800"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Sygnał</a:t>
              </a:r>
              <a:endParaRPr lang="en-US" sz="1000" b="0" i="0" u="none" strike="noStrike" kern="1200" cap="none" spc="0" baseline="0" dirty="0">
                <a:solidFill>
                  <a:srgbClr val="000000"/>
                </a:solidFill>
                <a:uFillTx/>
                <a:latin typeface="Calibri"/>
              </a:endParaRPr>
            </a:p>
          </p:txBody>
        </p:sp>
        <p:sp>
          <p:nvSpPr>
            <p:cNvPr id="12" name="Text 10"/>
            <p:cNvSpPr/>
            <p:nvPr/>
          </p:nvSpPr>
          <p:spPr>
            <a:xfrm>
              <a:off x="5093208" y="1143000"/>
              <a:ext cx="749808"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000" b="1" i="0" u="none" strike="noStrike" kern="1200" cap="none" spc="0" baseline="0" dirty="0" smtClean="0">
                  <a:solidFill>
                    <a:srgbClr val="FFFFFF"/>
                  </a:solidFill>
                  <a:uFillTx/>
                  <a:latin typeface="Cambria" pitchFamily="34"/>
                  <a:ea typeface="Cambria" pitchFamily="34"/>
                  <a:cs typeface="Cambria" pitchFamily="34"/>
                </a:rPr>
                <a:t>Dokładność</a:t>
              </a:r>
              <a:endParaRPr lang="en-US" sz="1000" b="0" i="0" u="none" strike="noStrike" kern="1200" cap="none" spc="0" baseline="0" dirty="0">
                <a:solidFill>
                  <a:srgbClr val="000000"/>
                </a:solidFill>
                <a:uFillTx/>
                <a:latin typeface="Calibri"/>
              </a:endParaRPr>
            </a:p>
          </p:txBody>
        </p:sp>
        <p:sp>
          <p:nvSpPr>
            <p:cNvPr id="13" name="Text 11"/>
            <p:cNvSpPr/>
            <p:nvPr/>
          </p:nvSpPr>
          <p:spPr>
            <a:xfrm>
              <a:off x="5852160" y="1143000"/>
              <a:ext cx="749808"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Latencja</a:t>
              </a:r>
              <a:endParaRPr lang="en-US" sz="1000" b="0" i="0" u="none" strike="noStrike" kern="1200" cap="none" spc="0" baseline="0">
                <a:solidFill>
                  <a:srgbClr val="000000"/>
                </a:solidFill>
                <a:uFillTx/>
                <a:latin typeface="Calibri"/>
              </a:endParaRPr>
            </a:p>
          </p:txBody>
        </p:sp>
        <p:sp>
          <p:nvSpPr>
            <p:cNvPr id="14" name="Text 12"/>
            <p:cNvSpPr/>
            <p:nvPr/>
          </p:nvSpPr>
          <p:spPr>
            <a:xfrm>
              <a:off x="6601968" y="1143000"/>
              <a:ext cx="1920240" cy="219456"/>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Zastosowanie</a:t>
              </a:r>
              <a:endParaRPr lang="en-US" sz="1000" b="0" i="0" u="none" strike="noStrike" kern="1200" cap="none" spc="0" baseline="0">
                <a:solidFill>
                  <a:srgbClr val="000000"/>
                </a:solidFill>
                <a:uFillTx/>
                <a:latin typeface="Calibri"/>
              </a:endParaRPr>
            </a:p>
          </p:txBody>
        </p:sp>
        <p:sp>
          <p:nvSpPr>
            <p:cNvPr id="15" name="Shape 13"/>
            <p:cNvSpPr/>
            <p:nvPr/>
          </p:nvSpPr>
          <p:spPr>
            <a:xfrm>
              <a:off x="320040" y="1444752"/>
              <a:ext cx="8503920" cy="4572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Shape 14"/>
            <p:cNvSpPr/>
            <p:nvPr/>
          </p:nvSpPr>
          <p:spPr>
            <a:xfrm>
              <a:off x="320040" y="1444752"/>
              <a:ext cx="54864" cy="4572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Text 15"/>
            <p:cNvSpPr/>
            <p:nvPr/>
          </p:nvSpPr>
          <p:spPr>
            <a:xfrm>
              <a:off x="381000" y="1545336"/>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smtClean="0">
                  <a:solidFill>
                    <a:srgbClr val="7C3AED"/>
                  </a:solidFill>
                  <a:uFillTx/>
                  <a:latin typeface="Cambria" pitchFamily="34"/>
                  <a:ea typeface="Cambria" pitchFamily="34"/>
                  <a:cs typeface="Cambria" pitchFamily="34"/>
                </a:rPr>
                <a:t>Wyraz</a:t>
              </a:r>
              <a:r>
                <a:rPr lang="en-US" sz="1100" b="1" i="0" u="none" strike="noStrike" kern="1200" cap="none" spc="0" baseline="0" dirty="0" smtClean="0">
                  <a:solidFill>
                    <a:srgbClr val="7C3AED"/>
                  </a:solidFill>
                  <a:uFillTx/>
                  <a:latin typeface="Cambria" pitchFamily="34"/>
                  <a:ea typeface="Cambria" pitchFamily="34"/>
                  <a:cs typeface="Cambria" pitchFamily="34"/>
                </a:rPr>
                <a:t> </a:t>
              </a:r>
              <a:r>
                <a:rPr lang="en-US" sz="1100" b="1" i="0" u="none" strike="noStrike" kern="1200" cap="none" spc="0" baseline="0" dirty="0" err="1">
                  <a:solidFill>
                    <a:srgbClr val="7C3AED"/>
                  </a:solidFill>
                  <a:uFillTx/>
                  <a:latin typeface="Cambria" pitchFamily="34"/>
                  <a:ea typeface="Cambria" pitchFamily="34"/>
                  <a:cs typeface="Cambria" pitchFamily="34"/>
                </a:rPr>
                <a:t>twarzy</a:t>
              </a:r>
              <a:endParaRPr lang="en-US" sz="1100" b="0" i="0" u="none" strike="noStrike" kern="1200" cap="none" spc="0" baseline="0" dirty="0">
                <a:solidFill>
                  <a:srgbClr val="000000"/>
                </a:solidFill>
                <a:uFillTx/>
                <a:latin typeface="Calibri"/>
              </a:endParaRPr>
            </a:p>
          </p:txBody>
        </p:sp>
        <p:sp>
          <p:nvSpPr>
            <p:cNvPr id="18" name="Text 16"/>
            <p:cNvSpPr/>
            <p:nvPr/>
          </p:nvSpPr>
          <p:spPr>
            <a:xfrm>
              <a:off x="1709928" y="1545336"/>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Kamera FFC (selfie)</a:t>
              </a:r>
              <a:endParaRPr lang="en-US" sz="1000" b="0" i="0" u="none" strike="noStrike" kern="1200" cap="none" spc="0" baseline="0">
                <a:solidFill>
                  <a:srgbClr val="002060"/>
                </a:solidFill>
                <a:uFillTx/>
                <a:latin typeface="Calibri"/>
              </a:endParaRPr>
            </a:p>
          </p:txBody>
        </p:sp>
        <p:sp>
          <p:nvSpPr>
            <p:cNvPr id="19" name="Text 17"/>
            <p:cNvSpPr/>
            <p:nvPr/>
          </p:nvSpPr>
          <p:spPr>
            <a:xfrm>
              <a:off x="3264408" y="1545336"/>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Ruch mięśni twarzy, AU</a:t>
              </a:r>
              <a:endParaRPr lang="en-US" sz="1000" b="0" i="0" u="none" strike="noStrike" kern="1200" cap="none" spc="0" baseline="0">
                <a:solidFill>
                  <a:srgbClr val="002060"/>
                </a:solidFill>
                <a:uFillTx/>
                <a:latin typeface="Calibri"/>
              </a:endParaRPr>
            </a:p>
          </p:txBody>
        </p:sp>
        <p:sp>
          <p:nvSpPr>
            <p:cNvPr id="20" name="Text 18"/>
            <p:cNvSpPr/>
            <p:nvPr/>
          </p:nvSpPr>
          <p:spPr>
            <a:xfrm>
              <a:off x="5093208" y="1545336"/>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7C3AED"/>
                  </a:solidFill>
                  <a:uFillTx/>
                  <a:latin typeface="Calibri" pitchFamily="34"/>
                  <a:ea typeface="Calibri" pitchFamily="34"/>
                  <a:cs typeface="Calibri" pitchFamily="34"/>
                </a:rPr>
                <a:t>60–85%</a:t>
              </a:r>
              <a:endParaRPr lang="en-US" sz="1050" b="0" i="0" u="none" strike="noStrike" kern="1200" cap="none" spc="0" baseline="0">
                <a:solidFill>
                  <a:srgbClr val="000000"/>
                </a:solidFill>
                <a:uFillTx/>
                <a:latin typeface="Calibri"/>
              </a:endParaRPr>
            </a:p>
          </p:txBody>
        </p:sp>
        <p:sp>
          <p:nvSpPr>
            <p:cNvPr id="21" name="Text 19"/>
            <p:cNvSpPr/>
            <p:nvPr/>
          </p:nvSpPr>
          <p:spPr>
            <a:xfrm>
              <a:off x="5852160" y="1545336"/>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02060"/>
                  </a:solidFill>
                  <a:uFillTx/>
                  <a:latin typeface="Calibri" pitchFamily="34"/>
                  <a:ea typeface="Calibri" pitchFamily="34"/>
                  <a:cs typeface="Calibri" pitchFamily="34"/>
                </a:rPr>
                <a:t>&lt; 50ms</a:t>
              </a:r>
              <a:endParaRPr lang="en-US" sz="1000" b="0" i="0" u="none" strike="noStrike" kern="1200" cap="none" spc="0" baseline="0" dirty="0">
                <a:solidFill>
                  <a:srgbClr val="002060"/>
                </a:solidFill>
                <a:uFillTx/>
                <a:latin typeface="Calibri"/>
              </a:endParaRPr>
            </a:p>
          </p:txBody>
        </p:sp>
        <p:sp>
          <p:nvSpPr>
            <p:cNvPr id="22" name="Text 20"/>
            <p:cNvSpPr/>
            <p:nvPr/>
          </p:nvSpPr>
          <p:spPr>
            <a:xfrm>
              <a:off x="6601968" y="1545336"/>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002060"/>
                  </a:solidFill>
                  <a:uFillTx/>
                  <a:latin typeface="Calibri" pitchFamily="34"/>
                  <a:ea typeface="Calibri" pitchFamily="34"/>
                  <a:cs typeface="Calibri" pitchFamily="34"/>
                </a:rPr>
                <a:t>Reklama</a:t>
              </a:r>
              <a:r>
                <a:rPr lang="en-US" sz="1000" b="0" i="0" u="none" strike="noStrike" kern="1200" cap="none" spc="0" baseline="0" dirty="0">
                  <a:solidFill>
                    <a:srgbClr val="002060"/>
                  </a:solidFill>
                  <a:uFillTx/>
                  <a:latin typeface="Calibri" pitchFamily="34"/>
                  <a:ea typeface="Calibri" pitchFamily="34"/>
                  <a:cs typeface="Calibri" pitchFamily="34"/>
                </a:rPr>
                <a:t>, e-learning, </a:t>
              </a:r>
              <a:r>
                <a:rPr lang="en-US" sz="1000" b="0" i="0" u="none" strike="noStrike" kern="1200" cap="none" spc="0" baseline="0" dirty="0" err="1">
                  <a:solidFill>
                    <a:srgbClr val="002060"/>
                  </a:solidFill>
                  <a:uFillTx/>
                  <a:latin typeface="Calibri" pitchFamily="34"/>
                  <a:ea typeface="Calibri" pitchFamily="34"/>
                  <a:cs typeface="Calibri" pitchFamily="34"/>
                </a:rPr>
                <a:t>gry</a:t>
              </a:r>
              <a:endParaRPr lang="en-US" sz="1000" b="0" i="0" u="none" strike="noStrike" kern="1200" cap="none" spc="0" baseline="0" dirty="0">
                <a:solidFill>
                  <a:srgbClr val="002060"/>
                </a:solidFill>
                <a:uFillTx/>
                <a:latin typeface="Calibri"/>
              </a:endParaRPr>
            </a:p>
          </p:txBody>
        </p:sp>
        <p:sp>
          <p:nvSpPr>
            <p:cNvPr id="23" name="Shape 21"/>
            <p:cNvSpPr/>
            <p:nvPr/>
          </p:nvSpPr>
          <p:spPr>
            <a:xfrm>
              <a:off x="320040" y="1956816"/>
              <a:ext cx="8503920" cy="457200"/>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Shape 22"/>
            <p:cNvSpPr/>
            <p:nvPr/>
          </p:nvSpPr>
          <p:spPr>
            <a:xfrm>
              <a:off x="320040" y="1956816"/>
              <a:ext cx="54864" cy="4572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381000" y="2057400"/>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100" b="1" i="0" u="none" strike="noStrike" kern="1200" cap="none" spc="0" baseline="0" dirty="0" smtClean="0">
                  <a:solidFill>
                    <a:srgbClr val="E11D48"/>
                  </a:solidFill>
                  <a:uFillTx/>
                  <a:latin typeface="Cambria" pitchFamily="34"/>
                  <a:ea typeface="Cambria" pitchFamily="34"/>
                  <a:cs typeface="Cambria" pitchFamily="34"/>
                </a:rPr>
                <a:t>G</a:t>
              </a:r>
              <a:r>
                <a:rPr lang="en-US" sz="1100" b="1" i="0" u="none" strike="noStrike" kern="1200" cap="none" spc="0" baseline="0" dirty="0" err="1" smtClean="0">
                  <a:solidFill>
                    <a:srgbClr val="E11D48"/>
                  </a:solidFill>
                  <a:uFillTx/>
                  <a:latin typeface="Cambria" pitchFamily="34"/>
                  <a:ea typeface="Cambria" pitchFamily="34"/>
                  <a:cs typeface="Cambria" pitchFamily="34"/>
                </a:rPr>
                <a:t>łos</a:t>
              </a:r>
              <a:r>
                <a:rPr lang="en-US" sz="1100" b="1" i="0" u="none" strike="noStrike" kern="1200" cap="none" spc="0" baseline="0" dirty="0" smtClean="0">
                  <a:solidFill>
                    <a:srgbClr val="E11D48"/>
                  </a:solidFill>
                  <a:uFillTx/>
                  <a:latin typeface="Cambria" pitchFamily="34"/>
                  <a:ea typeface="Cambria" pitchFamily="34"/>
                  <a:cs typeface="Cambria" pitchFamily="34"/>
                </a:rPr>
                <a:t> </a:t>
              </a:r>
              <a:r>
                <a:rPr lang="en-US" sz="1100" b="1" i="0" u="none" strike="noStrike" kern="1200" cap="none" spc="0" baseline="0" dirty="0" err="1">
                  <a:solidFill>
                    <a:srgbClr val="E11D48"/>
                  </a:solidFill>
                  <a:uFillTx/>
                  <a:latin typeface="Cambria" pitchFamily="34"/>
                  <a:ea typeface="Cambria" pitchFamily="34"/>
                  <a:cs typeface="Cambria" pitchFamily="34"/>
                </a:rPr>
                <a:t>i</a:t>
              </a:r>
              <a:r>
                <a:rPr lang="en-US" sz="1100" b="1" i="0" u="none" strike="noStrike" kern="1200" cap="none" spc="0" baseline="0" dirty="0">
                  <a:solidFill>
                    <a:srgbClr val="E11D48"/>
                  </a:solidFill>
                  <a:uFillTx/>
                  <a:latin typeface="Cambria" pitchFamily="34"/>
                  <a:ea typeface="Cambria" pitchFamily="34"/>
                  <a:cs typeface="Cambria" pitchFamily="34"/>
                </a:rPr>
                <a:t> </a:t>
              </a:r>
              <a:r>
                <a:rPr lang="en-US" sz="1100" b="1" i="0" u="none" strike="noStrike" kern="1200" cap="none" spc="0" baseline="0" dirty="0" err="1">
                  <a:solidFill>
                    <a:srgbClr val="E11D48"/>
                  </a:solidFill>
                  <a:uFillTx/>
                  <a:latin typeface="Cambria" pitchFamily="34"/>
                  <a:ea typeface="Cambria" pitchFamily="34"/>
                  <a:cs typeface="Cambria" pitchFamily="34"/>
                </a:rPr>
                <a:t>mowa</a:t>
              </a:r>
              <a:endParaRPr lang="en-US" sz="1100" b="0" i="0" u="none" strike="noStrike" kern="1200" cap="none" spc="0" baseline="0" dirty="0">
                <a:solidFill>
                  <a:srgbClr val="000000"/>
                </a:solidFill>
                <a:uFillTx/>
                <a:latin typeface="Calibri"/>
              </a:endParaRPr>
            </a:p>
          </p:txBody>
        </p:sp>
        <p:sp>
          <p:nvSpPr>
            <p:cNvPr id="26" name="Text 24"/>
            <p:cNvSpPr/>
            <p:nvPr/>
          </p:nvSpPr>
          <p:spPr>
            <a:xfrm>
              <a:off x="1709928" y="2057400"/>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Mikrofon</a:t>
              </a:r>
              <a:endParaRPr lang="en-US" sz="1000" b="0" i="0" u="none" strike="noStrike" kern="1200" cap="none" spc="0" baseline="0">
                <a:solidFill>
                  <a:srgbClr val="002060"/>
                </a:solidFill>
                <a:uFillTx/>
                <a:latin typeface="Calibri"/>
              </a:endParaRPr>
            </a:p>
          </p:txBody>
        </p:sp>
        <p:sp>
          <p:nvSpPr>
            <p:cNvPr id="27" name="Text 25"/>
            <p:cNvSpPr/>
            <p:nvPr/>
          </p:nvSpPr>
          <p:spPr>
            <a:xfrm>
              <a:off x="3264408" y="2057400"/>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Pitch, tempo, barwa, mel-spektrogram</a:t>
              </a:r>
              <a:endParaRPr lang="en-US" sz="1000" b="0" i="0" u="none" strike="noStrike" kern="1200" cap="none" spc="0" baseline="0">
                <a:solidFill>
                  <a:srgbClr val="002060"/>
                </a:solidFill>
                <a:uFillTx/>
                <a:latin typeface="Calibri"/>
              </a:endParaRPr>
            </a:p>
          </p:txBody>
        </p:sp>
        <p:sp>
          <p:nvSpPr>
            <p:cNvPr id="28" name="Text 26"/>
            <p:cNvSpPr/>
            <p:nvPr/>
          </p:nvSpPr>
          <p:spPr>
            <a:xfrm>
              <a:off x="5093208" y="2057400"/>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E11D48"/>
                  </a:solidFill>
                  <a:uFillTx/>
                  <a:latin typeface="Calibri" pitchFamily="34"/>
                  <a:ea typeface="Calibri" pitchFamily="34"/>
                  <a:cs typeface="Calibri" pitchFamily="34"/>
                </a:rPr>
                <a:t>55–80%</a:t>
              </a:r>
              <a:endParaRPr lang="en-US" sz="1050" b="0" i="0" u="none" strike="noStrike" kern="1200" cap="none" spc="0" baseline="0">
                <a:solidFill>
                  <a:srgbClr val="000000"/>
                </a:solidFill>
                <a:uFillTx/>
                <a:latin typeface="Calibri"/>
              </a:endParaRPr>
            </a:p>
          </p:txBody>
        </p:sp>
        <p:sp>
          <p:nvSpPr>
            <p:cNvPr id="29" name="Text 27"/>
            <p:cNvSpPr/>
            <p:nvPr/>
          </p:nvSpPr>
          <p:spPr>
            <a:xfrm>
              <a:off x="5852160" y="2057400"/>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100–500ms</a:t>
              </a:r>
              <a:endParaRPr lang="en-US" sz="1000" b="0" i="0" u="none" strike="noStrike" kern="1200" cap="none" spc="0" baseline="0">
                <a:solidFill>
                  <a:srgbClr val="002060"/>
                </a:solidFill>
                <a:uFillTx/>
                <a:latin typeface="Calibri"/>
              </a:endParaRPr>
            </a:p>
          </p:txBody>
        </p:sp>
        <p:sp>
          <p:nvSpPr>
            <p:cNvPr id="30" name="Text 28"/>
            <p:cNvSpPr/>
            <p:nvPr/>
          </p:nvSpPr>
          <p:spPr>
            <a:xfrm>
              <a:off x="6601968" y="2057400"/>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Callcenter, terapia, nawigacja</a:t>
              </a:r>
              <a:endParaRPr lang="en-US" sz="1000" b="0" i="0" u="none" strike="noStrike" kern="1200" cap="none" spc="0" baseline="0">
                <a:solidFill>
                  <a:srgbClr val="002060"/>
                </a:solidFill>
                <a:uFillTx/>
                <a:latin typeface="Calibri"/>
              </a:endParaRPr>
            </a:p>
          </p:txBody>
        </p:sp>
        <p:sp>
          <p:nvSpPr>
            <p:cNvPr id="31" name="Shape 29"/>
            <p:cNvSpPr/>
            <p:nvPr/>
          </p:nvSpPr>
          <p:spPr>
            <a:xfrm>
              <a:off x="320040" y="2468880"/>
              <a:ext cx="8503920" cy="4572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Shape 30"/>
            <p:cNvSpPr/>
            <p:nvPr/>
          </p:nvSpPr>
          <p:spPr>
            <a:xfrm>
              <a:off x="320040" y="2468880"/>
              <a:ext cx="54864" cy="4572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381000" y="2569463"/>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smtClean="0">
                  <a:solidFill>
                    <a:srgbClr val="D97706"/>
                  </a:solidFill>
                  <a:uFillTx/>
                  <a:latin typeface="Cambria" pitchFamily="34"/>
                  <a:ea typeface="Cambria" pitchFamily="34"/>
                  <a:cs typeface="Cambria" pitchFamily="34"/>
                </a:rPr>
                <a:t>Tekst</a:t>
              </a:r>
              <a:r>
                <a:rPr lang="en-US" sz="1100" b="1" i="0" u="none" strike="noStrike" kern="1200" cap="none" spc="0" baseline="0" dirty="0" smtClean="0">
                  <a:solidFill>
                    <a:srgbClr val="D97706"/>
                  </a:solidFill>
                  <a:uFillTx/>
                  <a:latin typeface="Cambria" pitchFamily="34"/>
                  <a:ea typeface="Cambria" pitchFamily="34"/>
                  <a:cs typeface="Cambria" pitchFamily="34"/>
                </a:rPr>
                <a:t> </a:t>
              </a:r>
              <a:r>
                <a:rPr lang="en-US" sz="1100" b="1" i="0" u="none" strike="noStrike" kern="1200" cap="none" spc="0" baseline="0" dirty="0">
                  <a:solidFill>
                    <a:srgbClr val="D97706"/>
                  </a:solidFill>
                  <a:uFillTx/>
                  <a:latin typeface="Cambria" pitchFamily="34"/>
                  <a:ea typeface="Cambria" pitchFamily="34"/>
                  <a:cs typeface="Cambria" pitchFamily="34"/>
                </a:rPr>
                <a:t>/ NLP</a:t>
              </a:r>
              <a:endParaRPr lang="en-US" sz="1100" b="0" i="0" u="none" strike="noStrike" kern="1200" cap="none" spc="0" baseline="0" dirty="0">
                <a:solidFill>
                  <a:srgbClr val="000000"/>
                </a:solidFill>
                <a:uFillTx/>
                <a:latin typeface="Calibri"/>
              </a:endParaRPr>
            </a:p>
          </p:txBody>
        </p:sp>
        <p:sp>
          <p:nvSpPr>
            <p:cNvPr id="34" name="Text 32"/>
            <p:cNvSpPr/>
            <p:nvPr/>
          </p:nvSpPr>
          <p:spPr>
            <a:xfrm>
              <a:off x="1709928" y="2569463"/>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Klawiatura, chat</a:t>
              </a:r>
              <a:endParaRPr lang="en-US" sz="1000" b="0" i="0" u="none" strike="noStrike" kern="1200" cap="none" spc="0" baseline="0">
                <a:solidFill>
                  <a:srgbClr val="002060"/>
                </a:solidFill>
                <a:uFillTx/>
                <a:latin typeface="Calibri"/>
              </a:endParaRPr>
            </a:p>
          </p:txBody>
        </p:sp>
        <p:sp>
          <p:nvSpPr>
            <p:cNvPr id="35" name="Text 33"/>
            <p:cNvSpPr/>
            <p:nvPr/>
          </p:nvSpPr>
          <p:spPr>
            <a:xfrm>
              <a:off x="3264408" y="2569463"/>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Sentyment, emocja z leksyki i składni</a:t>
              </a:r>
              <a:endParaRPr lang="en-US" sz="1000" b="0" i="0" u="none" strike="noStrike" kern="1200" cap="none" spc="0" baseline="0">
                <a:solidFill>
                  <a:srgbClr val="002060"/>
                </a:solidFill>
                <a:uFillTx/>
                <a:latin typeface="Calibri"/>
              </a:endParaRPr>
            </a:p>
          </p:txBody>
        </p:sp>
        <p:sp>
          <p:nvSpPr>
            <p:cNvPr id="36" name="Text 34"/>
            <p:cNvSpPr/>
            <p:nvPr/>
          </p:nvSpPr>
          <p:spPr>
            <a:xfrm>
              <a:off x="5093208" y="2569463"/>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D97706"/>
                  </a:solidFill>
                  <a:uFillTx/>
                  <a:latin typeface="Calibri" pitchFamily="34"/>
                  <a:ea typeface="Calibri" pitchFamily="34"/>
                  <a:cs typeface="Calibri" pitchFamily="34"/>
                </a:rPr>
                <a:t>70–90%</a:t>
              </a:r>
              <a:endParaRPr lang="en-US" sz="1050" b="0" i="0" u="none" strike="noStrike" kern="1200" cap="none" spc="0" baseline="0">
                <a:solidFill>
                  <a:srgbClr val="000000"/>
                </a:solidFill>
                <a:uFillTx/>
                <a:latin typeface="Calibri"/>
              </a:endParaRPr>
            </a:p>
          </p:txBody>
        </p:sp>
        <p:sp>
          <p:nvSpPr>
            <p:cNvPr id="37" name="Text 35"/>
            <p:cNvSpPr/>
            <p:nvPr/>
          </p:nvSpPr>
          <p:spPr>
            <a:xfrm>
              <a:off x="5852160" y="2569463"/>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&lt; 200ms</a:t>
              </a:r>
              <a:endParaRPr lang="en-US" sz="1000" b="0" i="0" u="none" strike="noStrike" kern="1200" cap="none" spc="0" baseline="0">
                <a:solidFill>
                  <a:srgbClr val="002060"/>
                </a:solidFill>
                <a:uFillTx/>
                <a:latin typeface="Calibri"/>
              </a:endParaRPr>
            </a:p>
          </p:txBody>
        </p:sp>
        <p:sp>
          <p:nvSpPr>
            <p:cNvPr id="38" name="Text 36"/>
            <p:cNvSpPr/>
            <p:nvPr/>
          </p:nvSpPr>
          <p:spPr>
            <a:xfrm>
              <a:off x="6601968" y="2569463"/>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Social media, chatbot, HR</a:t>
              </a:r>
              <a:endParaRPr lang="en-US" sz="1000" b="0" i="0" u="none" strike="noStrike" kern="1200" cap="none" spc="0" baseline="0">
                <a:solidFill>
                  <a:srgbClr val="002060"/>
                </a:solidFill>
                <a:uFillTx/>
                <a:latin typeface="Calibri"/>
              </a:endParaRPr>
            </a:p>
          </p:txBody>
        </p:sp>
        <p:sp>
          <p:nvSpPr>
            <p:cNvPr id="39" name="Shape 37"/>
            <p:cNvSpPr/>
            <p:nvPr/>
          </p:nvSpPr>
          <p:spPr>
            <a:xfrm>
              <a:off x="320040" y="2980944"/>
              <a:ext cx="8503920" cy="457200"/>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Shape 38"/>
            <p:cNvSpPr/>
            <p:nvPr/>
          </p:nvSpPr>
          <p:spPr>
            <a:xfrm>
              <a:off x="320040" y="2980944"/>
              <a:ext cx="54864" cy="4572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Text 39"/>
            <p:cNvSpPr/>
            <p:nvPr/>
          </p:nvSpPr>
          <p:spPr>
            <a:xfrm>
              <a:off x="381000" y="3081527"/>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smtClean="0">
                  <a:solidFill>
                    <a:srgbClr val="0891B2"/>
                  </a:solidFill>
                  <a:uFillTx/>
                  <a:latin typeface="Cambria" pitchFamily="34"/>
                  <a:ea typeface="Cambria" pitchFamily="34"/>
                  <a:cs typeface="Cambria" pitchFamily="34"/>
                </a:rPr>
                <a:t>EDA </a:t>
              </a:r>
              <a:r>
                <a:rPr lang="en-US" sz="1100" b="1" i="0" u="none" strike="noStrike" kern="1200" cap="none" spc="0" baseline="0" dirty="0">
                  <a:solidFill>
                    <a:srgbClr val="0891B2"/>
                  </a:solidFill>
                  <a:uFillTx/>
                  <a:latin typeface="Cambria" pitchFamily="34"/>
                  <a:ea typeface="Cambria" pitchFamily="34"/>
                  <a:cs typeface="Cambria" pitchFamily="34"/>
                </a:rPr>
                <a:t>/ GSR</a:t>
              </a:r>
              <a:endParaRPr lang="en-US" sz="1100" b="0" i="0" u="none" strike="noStrike" kern="1200" cap="none" spc="0" baseline="0" dirty="0">
                <a:solidFill>
                  <a:srgbClr val="000000"/>
                </a:solidFill>
                <a:uFillTx/>
                <a:latin typeface="Calibri"/>
              </a:endParaRPr>
            </a:p>
          </p:txBody>
        </p:sp>
        <p:sp>
          <p:nvSpPr>
            <p:cNvPr id="42" name="Text 40"/>
            <p:cNvSpPr/>
            <p:nvPr/>
          </p:nvSpPr>
          <p:spPr>
            <a:xfrm>
              <a:off x="1709928" y="3081527"/>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02060"/>
                  </a:solidFill>
                  <a:uFillTx/>
                  <a:latin typeface="Calibri" pitchFamily="34"/>
                  <a:ea typeface="Calibri" pitchFamily="34"/>
                  <a:cs typeface="Calibri" pitchFamily="34"/>
                </a:rPr>
                <a:t>Wearable </a:t>
              </a:r>
              <a:r>
                <a:rPr lang="en-US" sz="1000" b="0" i="0" u="none" strike="noStrike" kern="1200" cap="none" spc="0" baseline="0" dirty="0" err="1">
                  <a:solidFill>
                    <a:srgbClr val="002060"/>
                  </a:solidFill>
                  <a:uFillTx/>
                  <a:latin typeface="Calibri" pitchFamily="34"/>
                  <a:ea typeface="Calibri" pitchFamily="34"/>
                  <a:cs typeface="Calibri" pitchFamily="34"/>
                </a:rPr>
                <a:t>elektrody</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skóra</a:t>
              </a:r>
              <a:r>
                <a:rPr lang="en-US" sz="1000" b="0" i="0" u="none" strike="noStrike" kern="1200" cap="none" spc="0" baseline="0" dirty="0">
                  <a:solidFill>
                    <a:srgbClr val="002060"/>
                  </a:solidFill>
                  <a:uFillTx/>
                  <a:latin typeface="Calibri" pitchFamily="34"/>
                  <a:ea typeface="Calibri" pitchFamily="34"/>
                  <a:cs typeface="Calibri" pitchFamily="34"/>
                </a:rPr>
                <a:t>)</a:t>
              </a:r>
              <a:endParaRPr lang="en-US" sz="1000" b="0" i="0" u="none" strike="noStrike" kern="1200" cap="none" spc="0" baseline="0" dirty="0">
                <a:solidFill>
                  <a:srgbClr val="002060"/>
                </a:solidFill>
                <a:uFillTx/>
                <a:latin typeface="Calibri"/>
              </a:endParaRPr>
            </a:p>
          </p:txBody>
        </p:sp>
        <p:sp>
          <p:nvSpPr>
            <p:cNvPr id="43" name="Text 41"/>
            <p:cNvSpPr/>
            <p:nvPr/>
          </p:nvSpPr>
          <p:spPr>
            <a:xfrm>
              <a:off x="3264408" y="3081527"/>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Przewodność skóry [µS], SCR</a:t>
              </a:r>
              <a:endParaRPr lang="en-US" sz="1000" b="0" i="0" u="none" strike="noStrike" kern="1200" cap="none" spc="0" baseline="0">
                <a:solidFill>
                  <a:srgbClr val="002060"/>
                </a:solidFill>
                <a:uFillTx/>
                <a:latin typeface="Calibri"/>
              </a:endParaRPr>
            </a:p>
          </p:txBody>
        </p:sp>
        <p:sp>
          <p:nvSpPr>
            <p:cNvPr id="44" name="Text 42"/>
            <p:cNvSpPr/>
            <p:nvPr/>
          </p:nvSpPr>
          <p:spPr>
            <a:xfrm>
              <a:off x="5093208" y="3081527"/>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891B2"/>
                  </a:solidFill>
                  <a:uFillTx/>
                  <a:latin typeface="Calibri" pitchFamily="34"/>
                  <a:ea typeface="Calibri" pitchFamily="34"/>
                  <a:cs typeface="Calibri" pitchFamily="34"/>
                </a:rPr>
                <a:t>70–82%</a:t>
              </a:r>
              <a:endParaRPr lang="en-US" sz="1050" b="0" i="0" u="none" strike="noStrike" kern="1200" cap="none" spc="0" baseline="0">
                <a:solidFill>
                  <a:srgbClr val="000000"/>
                </a:solidFill>
                <a:uFillTx/>
                <a:latin typeface="Calibri"/>
              </a:endParaRPr>
            </a:p>
          </p:txBody>
        </p:sp>
        <p:sp>
          <p:nvSpPr>
            <p:cNvPr id="45" name="Text 43"/>
            <p:cNvSpPr/>
            <p:nvPr/>
          </p:nvSpPr>
          <p:spPr>
            <a:xfrm>
              <a:off x="5852160" y="3081527"/>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1–5s</a:t>
              </a:r>
              <a:endParaRPr lang="en-US" sz="1000" b="0" i="0" u="none" strike="noStrike" kern="1200" cap="none" spc="0" baseline="0">
                <a:solidFill>
                  <a:srgbClr val="002060"/>
                </a:solidFill>
                <a:uFillTx/>
                <a:latin typeface="Calibri"/>
              </a:endParaRPr>
            </a:p>
          </p:txBody>
        </p:sp>
        <p:sp>
          <p:nvSpPr>
            <p:cNvPr id="46" name="Text 44"/>
            <p:cNvSpPr/>
            <p:nvPr/>
          </p:nvSpPr>
          <p:spPr>
            <a:xfrm>
              <a:off x="6601968" y="3081527"/>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Stres, lie detection, gry VR</a:t>
              </a:r>
              <a:endParaRPr lang="en-US" sz="1000" b="0" i="0" u="none" strike="noStrike" kern="1200" cap="none" spc="0" baseline="0">
                <a:solidFill>
                  <a:srgbClr val="002060"/>
                </a:solidFill>
                <a:uFillTx/>
                <a:latin typeface="Calibri"/>
              </a:endParaRPr>
            </a:p>
          </p:txBody>
        </p:sp>
        <p:sp>
          <p:nvSpPr>
            <p:cNvPr id="47" name="Shape 45"/>
            <p:cNvSpPr/>
            <p:nvPr/>
          </p:nvSpPr>
          <p:spPr>
            <a:xfrm>
              <a:off x="320040" y="3493008"/>
              <a:ext cx="8503920" cy="4572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Shape 46"/>
            <p:cNvSpPr/>
            <p:nvPr/>
          </p:nvSpPr>
          <p:spPr>
            <a:xfrm>
              <a:off x="320040" y="3493008"/>
              <a:ext cx="54864" cy="4572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Text 47"/>
            <p:cNvSpPr/>
            <p:nvPr/>
          </p:nvSpPr>
          <p:spPr>
            <a:xfrm>
              <a:off x="381000" y="3593591"/>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smtClean="0">
                  <a:solidFill>
                    <a:srgbClr val="059669"/>
                  </a:solidFill>
                  <a:uFillTx/>
                  <a:latin typeface="Cambria" pitchFamily="34"/>
                  <a:ea typeface="Cambria" pitchFamily="34"/>
                  <a:cs typeface="Cambria" pitchFamily="34"/>
                </a:rPr>
                <a:t>Tętno</a:t>
              </a:r>
              <a:r>
                <a:rPr lang="en-US" sz="1100" b="1" i="0" u="none" strike="noStrike" kern="1200" cap="none" spc="0" baseline="0" dirty="0" smtClean="0">
                  <a:solidFill>
                    <a:srgbClr val="059669"/>
                  </a:solidFill>
                  <a:uFillTx/>
                  <a:latin typeface="Cambria" pitchFamily="34"/>
                  <a:ea typeface="Cambria" pitchFamily="34"/>
                  <a:cs typeface="Cambria" pitchFamily="34"/>
                </a:rPr>
                <a:t> </a:t>
              </a:r>
              <a:r>
                <a:rPr lang="en-US" sz="1100" b="1" i="0" u="none" strike="noStrike" kern="1200" cap="none" spc="0" baseline="0" dirty="0">
                  <a:solidFill>
                    <a:srgbClr val="059669"/>
                  </a:solidFill>
                  <a:uFillTx/>
                  <a:latin typeface="Cambria" pitchFamily="34"/>
                  <a:ea typeface="Cambria" pitchFamily="34"/>
                  <a:cs typeface="Cambria" pitchFamily="34"/>
                </a:rPr>
                <a:t>PPG</a:t>
              </a:r>
              <a:endParaRPr lang="en-US" sz="1100" b="0" i="0" u="none" strike="noStrike" kern="1200" cap="none" spc="0" baseline="0" dirty="0">
                <a:solidFill>
                  <a:srgbClr val="000000"/>
                </a:solidFill>
                <a:uFillTx/>
                <a:latin typeface="Calibri"/>
              </a:endParaRPr>
            </a:p>
          </p:txBody>
        </p:sp>
        <p:sp>
          <p:nvSpPr>
            <p:cNvPr id="50" name="Text 48"/>
            <p:cNvSpPr/>
            <p:nvPr/>
          </p:nvSpPr>
          <p:spPr>
            <a:xfrm>
              <a:off x="1709928" y="3593591"/>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Smartwatch, aparat</a:t>
              </a:r>
              <a:endParaRPr lang="en-US" sz="1000" b="0" i="0" u="none" strike="noStrike" kern="1200" cap="none" spc="0" baseline="0">
                <a:solidFill>
                  <a:srgbClr val="002060"/>
                </a:solidFill>
                <a:uFillTx/>
                <a:latin typeface="Calibri"/>
              </a:endParaRPr>
            </a:p>
          </p:txBody>
        </p:sp>
        <p:sp>
          <p:nvSpPr>
            <p:cNvPr id="51" name="Text 49"/>
            <p:cNvSpPr/>
            <p:nvPr/>
          </p:nvSpPr>
          <p:spPr>
            <a:xfrm>
              <a:off x="3264408" y="3593591"/>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HR, HRV, fotopletyzmograf</a:t>
              </a:r>
              <a:endParaRPr lang="en-US" sz="1000" b="0" i="0" u="none" strike="noStrike" kern="1200" cap="none" spc="0" baseline="0">
                <a:solidFill>
                  <a:srgbClr val="002060"/>
                </a:solidFill>
                <a:uFillTx/>
                <a:latin typeface="Calibri"/>
              </a:endParaRPr>
            </a:p>
          </p:txBody>
        </p:sp>
        <p:sp>
          <p:nvSpPr>
            <p:cNvPr id="52" name="Text 50"/>
            <p:cNvSpPr/>
            <p:nvPr/>
          </p:nvSpPr>
          <p:spPr>
            <a:xfrm>
              <a:off x="5093208" y="3593591"/>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59669"/>
                  </a:solidFill>
                  <a:uFillTx/>
                  <a:latin typeface="Calibri" pitchFamily="34"/>
                  <a:ea typeface="Calibri" pitchFamily="34"/>
                  <a:cs typeface="Calibri" pitchFamily="34"/>
                </a:rPr>
                <a:t>65–78%</a:t>
              </a:r>
              <a:endParaRPr lang="en-US" sz="1050" b="0" i="0" u="none" strike="noStrike" kern="1200" cap="none" spc="0" baseline="0">
                <a:solidFill>
                  <a:srgbClr val="000000"/>
                </a:solidFill>
                <a:uFillTx/>
                <a:latin typeface="Calibri"/>
              </a:endParaRPr>
            </a:p>
          </p:txBody>
        </p:sp>
        <p:sp>
          <p:nvSpPr>
            <p:cNvPr id="53" name="Text 51"/>
            <p:cNvSpPr/>
            <p:nvPr/>
          </p:nvSpPr>
          <p:spPr>
            <a:xfrm>
              <a:off x="5852160" y="3593591"/>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2–10s</a:t>
              </a:r>
              <a:endParaRPr lang="en-US" sz="1000" b="0" i="0" u="none" strike="noStrike" kern="1200" cap="none" spc="0" baseline="0">
                <a:solidFill>
                  <a:srgbClr val="002060"/>
                </a:solidFill>
                <a:uFillTx/>
                <a:latin typeface="Calibri"/>
              </a:endParaRPr>
            </a:p>
          </p:txBody>
        </p:sp>
        <p:sp>
          <p:nvSpPr>
            <p:cNvPr id="54" name="Text 52"/>
            <p:cNvSpPr/>
            <p:nvPr/>
          </p:nvSpPr>
          <p:spPr>
            <a:xfrm>
              <a:off x="6601968" y="3593591"/>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Fitness, wellbeing, automotive</a:t>
              </a:r>
              <a:endParaRPr lang="en-US" sz="1000" b="0" i="0" u="none" strike="noStrike" kern="1200" cap="none" spc="0" baseline="0">
                <a:solidFill>
                  <a:srgbClr val="002060"/>
                </a:solidFill>
                <a:uFillTx/>
                <a:latin typeface="Calibri"/>
              </a:endParaRPr>
            </a:p>
          </p:txBody>
        </p:sp>
        <p:sp>
          <p:nvSpPr>
            <p:cNvPr id="55" name="Shape 53"/>
            <p:cNvSpPr/>
            <p:nvPr/>
          </p:nvSpPr>
          <p:spPr>
            <a:xfrm>
              <a:off x="320040" y="4005072"/>
              <a:ext cx="8503920" cy="457200"/>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6" name="Shape 54"/>
            <p:cNvSpPr/>
            <p:nvPr/>
          </p:nvSpPr>
          <p:spPr>
            <a:xfrm>
              <a:off x="320040" y="4005072"/>
              <a:ext cx="54864" cy="457200"/>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7" name="Text 55"/>
            <p:cNvSpPr/>
            <p:nvPr/>
          </p:nvSpPr>
          <p:spPr>
            <a:xfrm>
              <a:off x="381000" y="4105656"/>
              <a:ext cx="111252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smtClean="0">
                  <a:solidFill>
                    <a:srgbClr val="DB2777"/>
                  </a:solidFill>
                  <a:uFillTx/>
                  <a:latin typeface="Cambria" pitchFamily="34"/>
                  <a:ea typeface="Cambria" pitchFamily="34"/>
                  <a:cs typeface="Cambria" pitchFamily="34"/>
                </a:rPr>
                <a:t>IMU </a:t>
              </a:r>
              <a:r>
                <a:rPr lang="en-US" sz="1100" b="1" i="0" u="none" strike="noStrike" kern="1200" cap="none" spc="0" baseline="0" dirty="0">
                  <a:solidFill>
                    <a:srgbClr val="DB2777"/>
                  </a:solidFill>
                  <a:uFillTx/>
                  <a:latin typeface="Cambria" pitchFamily="34"/>
                  <a:ea typeface="Cambria" pitchFamily="34"/>
                  <a:cs typeface="Cambria" pitchFamily="34"/>
                </a:rPr>
                <a:t>/ </a:t>
              </a:r>
              <a:r>
                <a:rPr lang="en-US" sz="1100" b="1" i="0" u="none" strike="noStrike" kern="1200" cap="none" spc="0" baseline="0" dirty="0" err="1">
                  <a:solidFill>
                    <a:srgbClr val="DB2777"/>
                  </a:solidFill>
                  <a:uFillTx/>
                  <a:latin typeface="Cambria" pitchFamily="34"/>
                  <a:ea typeface="Cambria" pitchFamily="34"/>
                  <a:cs typeface="Cambria" pitchFamily="34"/>
                </a:rPr>
                <a:t>Ruch</a:t>
              </a:r>
              <a:endParaRPr lang="en-US" sz="1100" b="0" i="0" u="none" strike="noStrike" kern="1200" cap="none" spc="0" baseline="0" dirty="0">
                <a:solidFill>
                  <a:srgbClr val="000000"/>
                </a:solidFill>
                <a:uFillTx/>
                <a:latin typeface="Calibri"/>
              </a:endParaRPr>
            </a:p>
          </p:txBody>
        </p:sp>
        <p:sp>
          <p:nvSpPr>
            <p:cNvPr id="58" name="Text 56"/>
            <p:cNvSpPr/>
            <p:nvPr/>
          </p:nvSpPr>
          <p:spPr>
            <a:xfrm>
              <a:off x="1709928" y="4105656"/>
              <a:ext cx="155448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Akcelerometr + żyroskop</a:t>
              </a:r>
              <a:endParaRPr lang="en-US" sz="1000" b="0" i="0" u="none" strike="noStrike" kern="1200" cap="none" spc="0" baseline="0">
                <a:solidFill>
                  <a:srgbClr val="002060"/>
                </a:solidFill>
                <a:uFillTx/>
                <a:latin typeface="Calibri"/>
              </a:endParaRPr>
            </a:p>
          </p:txBody>
        </p:sp>
        <p:sp>
          <p:nvSpPr>
            <p:cNvPr id="59" name="Text 57"/>
            <p:cNvSpPr/>
            <p:nvPr/>
          </p:nvSpPr>
          <p:spPr>
            <a:xfrm>
              <a:off x="3264408" y="4105656"/>
              <a:ext cx="18288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Tempo chodzenia, gesty, agitacja</a:t>
              </a:r>
              <a:endParaRPr lang="en-US" sz="1000" b="0" i="0" u="none" strike="noStrike" kern="1200" cap="none" spc="0" baseline="0">
                <a:solidFill>
                  <a:srgbClr val="002060"/>
                </a:solidFill>
                <a:uFillTx/>
                <a:latin typeface="Calibri"/>
              </a:endParaRPr>
            </a:p>
          </p:txBody>
        </p:sp>
        <p:sp>
          <p:nvSpPr>
            <p:cNvPr id="60" name="Text 58"/>
            <p:cNvSpPr/>
            <p:nvPr/>
          </p:nvSpPr>
          <p:spPr>
            <a:xfrm>
              <a:off x="5093208" y="4105656"/>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DB2777"/>
                  </a:solidFill>
                  <a:uFillTx/>
                  <a:latin typeface="Calibri" pitchFamily="34"/>
                  <a:ea typeface="Calibri" pitchFamily="34"/>
                  <a:cs typeface="Calibri" pitchFamily="34"/>
                </a:rPr>
                <a:t>50–72%</a:t>
              </a:r>
              <a:endParaRPr lang="en-US" sz="1050" b="0" i="0" u="none" strike="noStrike" kern="1200" cap="none" spc="0" baseline="0">
                <a:solidFill>
                  <a:srgbClr val="000000"/>
                </a:solidFill>
                <a:uFillTx/>
                <a:latin typeface="Calibri"/>
              </a:endParaRPr>
            </a:p>
          </p:txBody>
        </p:sp>
        <p:sp>
          <p:nvSpPr>
            <p:cNvPr id="61" name="Text 59"/>
            <p:cNvSpPr/>
            <p:nvPr/>
          </p:nvSpPr>
          <p:spPr>
            <a:xfrm>
              <a:off x="5852160" y="4105656"/>
              <a:ext cx="749808" cy="256032"/>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1–3s</a:t>
              </a:r>
              <a:endParaRPr lang="en-US" sz="1000" b="0" i="0" u="none" strike="noStrike" kern="1200" cap="none" spc="0" baseline="0">
                <a:solidFill>
                  <a:srgbClr val="002060"/>
                </a:solidFill>
                <a:uFillTx/>
                <a:latin typeface="Calibri"/>
              </a:endParaRPr>
            </a:p>
          </p:txBody>
        </p:sp>
        <p:sp>
          <p:nvSpPr>
            <p:cNvPr id="62" name="Text 60"/>
            <p:cNvSpPr/>
            <p:nvPr/>
          </p:nvSpPr>
          <p:spPr>
            <a:xfrm>
              <a:off x="6601968" y="4105656"/>
              <a:ext cx="1920240" cy="256032"/>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Depresja, agitacja, aktywność</a:t>
              </a:r>
              <a:endParaRPr lang="en-US" sz="1000" b="0" i="0" u="none" strike="noStrike" kern="1200" cap="none" spc="0" baseline="0">
                <a:solidFill>
                  <a:srgbClr val="002060"/>
                </a:solidFill>
                <a:uFillTx/>
                <a:latin typeface="Calibri"/>
              </a:endParaRPr>
            </a:p>
          </p:txBody>
        </p:sp>
      </p:grpSp>
      <p:sp>
        <p:nvSpPr>
          <p:cNvPr id="63" name="Text 61"/>
          <p:cNvSpPr/>
          <p:nvPr/>
        </p:nvSpPr>
        <p:spPr>
          <a:xfrm>
            <a:off x="320040" y="4230180"/>
            <a:ext cx="8503920" cy="661860"/>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002060"/>
                </a:solidFill>
                <a:uFillTx/>
                <a:latin typeface="Calibri" pitchFamily="34"/>
                <a:ea typeface="Calibri" pitchFamily="34"/>
                <a:cs typeface="Calibri" pitchFamily="34"/>
              </a:rPr>
              <a:t>EEG (Muse, </a:t>
            </a:r>
            <a:r>
              <a:rPr lang="en-US" sz="1100" b="0" i="0" u="none" strike="noStrike" kern="1200" cap="none" spc="0" baseline="0" dirty="0" err="1">
                <a:solidFill>
                  <a:srgbClr val="002060"/>
                </a:solidFill>
                <a:uFillTx/>
                <a:latin typeface="Calibri" pitchFamily="34"/>
                <a:ea typeface="Calibri" pitchFamily="34"/>
                <a:cs typeface="Calibri" pitchFamily="34"/>
              </a:rPr>
              <a:t>Emotiv</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OpenBCI</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daje</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najwyższą</a:t>
            </a:r>
            <a:r>
              <a:rPr lang="en-US" sz="1100" b="0" i="0" u="none" strike="noStrike" kern="1200" cap="none" spc="0" baseline="0" dirty="0">
                <a:solidFill>
                  <a:srgbClr val="002060"/>
                </a:solidFill>
                <a:uFillTx/>
                <a:latin typeface="Calibri" pitchFamily="34"/>
                <a:ea typeface="Calibri" pitchFamily="34"/>
                <a:cs typeface="Calibri" pitchFamily="34"/>
              </a:rPr>
              <a:t> </a:t>
            </a:r>
            <a:r>
              <a:rPr lang="pl-PL" sz="1100" b="0" i="0" u="none" strike="noStrike" kern="1200" cap="none" spc="0" baseline="0" dirty="0" smtClean="0">
                <a:solidFill>
                  <a:srgbClr val="002060"/>
                </a:solidFill>
                <a:uFillTx/>
                <a:latin typeface="Calibri" pitchFamily="34"/>
                <a:ea typeface="Calibri" pitchFamily="34"/>
                <a:cs typeface="Calibri" pitchFamily="34"/>
              </a:rPr>
              <a:t>precyzję</a:t>
            </a:r>
            <a:r>
              <a:rPr lang="en-US" sz="1100" b="0" i="0" u="none" strike="noStrike" kern="1200" cap="none" spc="0" baseline="0" dirty="0" smtClean="0">
                <a:solidFill>
                  <a:srgbClr val="002060"/>
                </a:solidFill>
                <a:uFillTx/>
                <a:latin typeface="Calibri" pitchFamily="34"/>
                <a:ea typeface="Calibri" pitchFamily="34"/>
                <a:cs typeface="Calibri" pitchFamily="34"/>
              </a:rPr>
              <a:t> </a:t>
            </a:r>
            <a:r>
              <a:rPr lang="en-US" sz="1100" b="0" i="0" u="none" strike="noStrike" kern="1200" cap="none" spc="0" baseline="0" dirty="0">
                <a:solidFill>
                  <a:srgbClr val="002060"/>
                </a:solidFill>
                <a:uFillTx/>
                <a:latin typeface="Calibri" pitchFamily="34"/>
                <a:ea typeface="Calibri" pitchFamily="34"/>
                <a:cs typeface="Calibri" pitchFamily="34"/>
              </a:rPr>
              <a:t>(&gt; 85%) ale </a:t>
            </a:r>
            <a:r>
              <a:rPr lang="en-US" sz="1100" b="0" i="0" u="none" strike="noStrike" kern="1200" cap="none" spc="0" baseline="0" dirty="0" err="1">
                <a:solidFill>
                  <a:srgbClr val="002060"/>
                </a:solidFill>
                <a:uFillTx/>
                <a:latin typeface="Calibri" pitchFamily="34"/>
                <a:ea typeface="Calibri" pitchFamily="34"/>
                <a:cs typeface="Calibri" pitchFamily="34"/>
              </a:rPr>
              <a:t>wymaga</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zewnętrznego</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smtClean="0">
                <a:solidFill>
                  <a:srgbClr val="002060"/>
                </a:solidFill>
                <a:uFillTx/>
                <a:latin typeface="Calibri" pitchFamily="34"/>
                <a:ea typeface="Calibri" pitchFamily="34"/>
                <a:cs typeface="Calibri" pitchFamily="34"/>
              </a:rPr>
              <a:t>headsetu</a:t>
            </a:r>
            <a:r>
              <a:rPr lang="pl-PL" sz="1100" dirty="0" smtClean="0">
                <a:solidFill>
                  <a:srgbClr val="002060"/>
                </a:solidFill>
                <a:latin typeface="Calibri" pitchFamily="34"/>
                <a:ea typeface="Calibri" pitchFamily="34"/>
                <a:cs typeface="Calibri" pitchFamily="34"/>
              </a:rPr>
              <a:t>,</a:t>
            </a:r>
            <a:r>
              <a:rPr lang="en-US" sz="1100" b="0" i="0" u="none" strike="noStrike" kern="1200" cap="none" spc="0" baseline="0" dirty="0" smtClean="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poza</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ekosystemem</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standardowego</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smartfona</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Potencjał</a:t>
            </a:r>
            <a:r>
              <a:rPr lang="en-US" sz="1100" b="0" i="0" u="none" strike="noStrike" kern="1200" cap="none" spc="0" baseline="0" dirty="0">
                <a:solidFill>
                  <a:srgbClr val="002060"/>
                </a:solidFill>
                <a:uFillTx/>
                <a:latin typeface="Calibri" pitchFamily="34"/>
                <a:ea typeface="Calibri" pitchFamily="34"/>
                <a:cs typeface="Calibri" pitchFamily="34"/>
              </a:rPr>
              <a:t> w </a:t>
            </a:r>
            <a:r>
              <a:rPr lang="en-US" sz="1100" b="0" i="0" u="none" strike="noStrike" kern="1200" cap="none" spc="0" baseline="0" dirty="0" err="1">
                <a:solidFill>
                  <a:srgbClr val="002060"/>
                </a:solidFill>
                <a:uFillTx/>
                <a:latin typeface="Calibri" pitchFamily="34"/>
                <a:ea typeface="Calibri" pitchFamily="34"/>
                <a:cs typeface="Calibri" pitchFamily="34"/>
              </a:rPr>
              <a:t>edukacji</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i</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medycynie</a:t>
            </a:r>
            <a:r>
              <a:rPr lang="en-US" sz="1100" b="0" i="0" u="none" strike="noStrike" kern="1200" cap="none" spc="0" baseline="0" dirty="0">
                <a:solidFill>
                  <a:srgbClr val="002060"/>
                </a:solidFill>
                <a:uFillTx/>
                <a:latin typeface="Calibri" pitchFamily="34"/>
                <a:ea typeface="Calibri" pitchFamily="34"/>
                <a:cs typeface="Calibri" pitchFamily="34"/>
              </a:rPr>
              <a:t>.</a:t>
            </a:r>
            <a:endParaRPr lang="en-US" sz="1100" b="0" i="0" u="none" strike="noStrike" kern="1200" cap="none" spc="0" baseline="0" dirty="0">
              <a:solidFill>
                <a:srgbClr val="002060"/>
              </a:solidFill>
              <a:uFillTx/>
              <a:latin typeface="Calibri"/>
            </a:endParaRPr>
          </a:p>
        </p:txBody>
      </p:sp>
      <p:sp>
        <p:nvSpPr>
          <p:cNvPr id="68"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6</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9FF"/>
        </a:solidFill>
        <a:effectLst/>
      </p:bgPr>
    </p:bg>
    <p:spTree>
      <p:nvGrpSpPr>
        <p:cNvPr id="1" name=""/>
        <p:cNvGrpSpPr/>
        <p:nvPr/>
      </p:nvGrpSpPr>
      <p:grpSpPr>
        <a:xfrm>
          <a:off x="0" y="0"/>
          <a:ext cx="0" cy="0"/>
          <a:chOff x="0" y="0"/>
          <a:chExt cx="0" cy="0"/>
        </a:xfrm>
      </p:grpSpPr>
      <p:grpSp>
        <p:nvGrpSpPr>
          <p:cNvPr id="75" name="Grupa 74"/>
          <p:cNvGrpSpPr/>
          <p:nvPr/>
        </p:nvGrpSpPr>
        <p:grpSpPr>
          <a:xfrm>
            <a:off x="0" y="0"/>
            <a:ext cx="9144000" cy="558000"/>
            <a:chOff x="0" y="0"/>
            <a:chExt cx="9144000" cy="558000"/>
          </a:xfrm>
        </p:grpSpPr>
        <p:sp>
          <p:nvSpPr>
            <p:cNvPr id="76"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7"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FACS — Facial Action Coding System (Ekman &amp; Friesen, 1978)</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 name="Text 4"/>
          <p:cNvSpPr/>
          <p:nvPr/>
        </p:nvSpPr>
        <p:spPr>
          <a:xfrm>
            <a:off x="274320" y="4992624"/>
            <a:ext cx="8595360" cy="1463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Informatyka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Afektywna</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w </a:t>
            </a:r>
            <a:r>
              <a:rPr lang="en-US" sz="900" b="0" i="0" u="none" strike="noStrike" kern="1200" cap="none" spc="0" baseline="0" dirty="0" err="1">
                <a:solidFill>
                  <a:schemeClr val="accent5">
                    <a:lumMod val="75000"/>
                  </a:schemeClr>
                </a:solidFill>
                <a:uFillTx/>
                <a:latin typeface="Calibri" pitchFamily="34"/>
                <a:ea typeface="Calibri" pitchFamily="34"/>
                <a:cs typeface="Calibri" pitchFamily="34"/>
              </a:rPr>
              <a:t>Aplikacjach</a:t>
            </a:r>
            <a:r>
              <a:rPr lang="en-US" sz="900" b="0" i="0" u="none" strike="noStrike" kern="1200" cap="none" spc="0" baseline="0" dirty="0">
                <a:solidFill>
                  <a:schemeClr val="accent5">
                    <a:lumMod val="75000"/>
                  </a:schemeClr>
                </a:solidFill>
                <a:uFillTx/>
                <a:latin typeface="Calibri" pitchFamily="34"/>
                <a:ea typeface="Calibri" pitchFamily="34"/>
                <a:cs typeface="Calibri" pitchFamily="34"/>
              </a:rPr>
              <a:t> </a:t>
            </a:r>
            <a:r>
              <a:rPr lang="en-US" sz="900" b="0" i="0" u="none" strike="noStrike" kern="1200" cap="none" spc="0" baseline="0" dirty="0" err="1" smtClean="0">
                <a:solidFill>
                  <a:schemeClr val="accent5">
                    <a:lumMod val="75000"/>
                  </a:schemeClr>
                </a:solidFill>
                <a:uFillTx/>
                <a:latin typeface="Calibri" pitchFamily="34"/>
                <a:ea typeface="Calibri" pitchFamily="34"/>
                <a:cs typeface="Calibri" pitchFamily="34"/>
              </a:rPr>
              <a:t>Mobilnych</a:t>
            </a:r>
            <a:endParaRPr lang="en-US" sz="900" b="0" i="0" u="none" strike="noStrike" kern="1200" cap="none" spc="0" baseline="0" dirty="0">
              <a:solidFill>
                <a:schemeClr val="accent5">
                  <a:lumMod val="75000"/>
                </a:schemeClr>
              </a:solidFill>
              <a:uFillTx/>
              <a:latin typeface="Calibri"/>
            </a:endParaRPr>
          </a:p>
        </p:txBody>
      </p:sp>
      <p:sp>
        <p:nvSpPr>
          <p:cNvPr id="7" name="Text 5"/>
          <p:cNvSpPr/>
          <p:nvPr/>
        </p:nvSpPr>
        <p:spPr>
          <a:xfrm>
            <a:off x="738144" y="654012"/>
            <a:ext cx="7566660" cy="65802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002060"/>
                </a:solidFill>
                <a:uFillTx/>
                <a:latin typeface="Calibri" pitchFamily="34"/>
                <a:ea typeface="Calibri" pitchFamily="34"/>
                <a:cs typeface="Calibri" pitchFamily="34"/>
              </a:rPr>
              <a:t>FACS </a:t>
            </a:r>
            <a:r>
              <a:rPr lang="en-US" sz="1600" b="0" i="0" u="none" strike="noStrike" kern="1200" cap="none" spc="0" baseline="0" dirty="0" err="1">
                <a:solidFill>
                  <a:srgbClr val="002060"/>
                </a:solidFill>
                <a:uFillTx/>
                <a:latin typeface="Calibri" pitchFamily="34"/>
                <a:ea typeface="Calibri" pitchFamily="34"/>
                <a:cs typeface="Calibri" pitchFamily="34"/>
              </a:rPr>
              <a:t>koduje</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ruch</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twarzy</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przez</a:t>
            </a:r>
            <a:r>
              <a:rPr lang="en-US" sz="1600" b="0" i="0" u="none" strike="noStrike" kern="1200" cap="none" spc="0" baseline="0" dirty="0">
                <a:solidFill>
                  <a:srgbClr val="002060"/>
                </a:solidFill>
                <a:uFillTx/>
                <a:latin typeface="Calibri" pitchFamily="34"/>
                <a:ea typeface="Calibri" pitchFamily="34"/>
                <a:cs typeface="Calibri" pitchFamily="34"/>
              </a:rPr>
              <a:t> 44 Action </a:t>
            </a:r>
            <a:r>
              <a:rPr lang="en-US" sz="1600" b="0" i="0" u="none" strike="noStrike" kern="1200" cap="none" spc="0" baseline="0" dirty="0" smtClean="0">
                <a:solidFill>
                  <a:srgbClr val="002060"/>
                </a:solidFill>
                <a:uFillTx/>
                <a:latin typeface="Calibri" pitchFamily="34"/>
                <a:ea typeface="Calibri" pitchFamily="34"/>
                <a:cs typeface="Calibri" pitchFamily="34"/>
              </a:rPr>
              <a:t>Units</a:t>
            </a:r>
            <a:r>
              <a:rPr lang="pl-PL" sz="1600" b="0" i="0" u="none" strike="noStrike" kern="1200" cap="none" spc="0" baseline="0" dirty="0" smtClean="0">
                <a:solidFill>
                  <a:srgbClr val="002060"/>
                </a:solidFill>
                <a:uFillTx/>
                <a:latin typeface="Calibri" pitchFamily="34"/>
                <a:ea typeface="Calibri" pitchFamily="34"/>
                <a:cs typeface="Calibri" pitchFamily="34"/>
              </a:rPr>
              <a:t>,</a:t>
            </a:r>
            <a:r>
              <a:rPr lang="en-US" sz="1600" b="0" i="0" u="none" strike="noStrike" kern="1200" cap="none" spc="0" baseline="0" dirty="0" smtClean="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niezależne</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aktywacje</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mięśni</a:t>
            </a:r>
            <a:r>
              <a:rPr lang="en-US" sz="1600" b="0" i="0" u="none" strike="noStrike" kern="1200" cap="none" spc="0" baseline="0" dirty="0">
                <a:solidFill>
                  <a:srgbClr val="002060"/>
                </a:solidFill>
                <a:uFillTx/>
                <a:latin typeface="Calibri" pitchFamily="34"/>
                <a:ea typeface="Calibri" pitchFamily="34"/>
                <a:cs typeface="Calibri" pitchFamily="34"/>
              </a:rPr>
              <a:t>. </a:t>
            </a:r>
            <a:endParaRPr lang="pl-PL" sz="1600" b="0" i="0" u="none" strike="noStrike" kern="1200" cap="none" spc="0" baseline="0" dirty="0" smtClean="0">
              <a:solidFill>
                <a:srgbClr val="002060"/>
              </a:solidFill>
              <a:uFillTx/>
              <a:latin typeface="Calibri" pitchFamily="34"/>
              <a:ea typeface="Calibri" pitchFamily="34"/>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smtClean="0">
                <a:solidFill>
                  <a:srgbClr val="002060"/>
                </a:solidFill>
                <a:uFillTx/>
                <a:latin typeface="Calibri" pitchFamily="34"/>
                <a:ea typeface="Calibri" pitchFamily="34"/>
                <a:cs typeface="Calibri" pitchFamily="34"/>
              </a:rPr>
              <a:t>To </a:t>
            </a:r>
            <a:r>
              <a:rPr lang="en-US" sz="1600" b="0" i="0" u="none" strike="noStrike" kern="1200" cap="none" spc="0" baseline="0" dirty="0" err="1">
                <a:solidFill>
                  <a:srgbClr val="002060"/>
                </a:solidFill>
                <a:uFillTx/>
                <a:latin typeface="Calibri" pitchFamily="34"/>
                <a:ea typeface="Calibri" pitchFamily="34"/>
                <a:cs typeface="Calibri" pitchFamily="34"/>
              </a:rPr>
              <a:t>złoty</a:t>
            </a:r>
            <a:r>
              <a:rPr lang="en-US" sz="1600" b="0" i="0" u="none" strike="noStrike" kern="1200" cap="none" spc="0" baseline="0" dirty="0">
                <a:solidFill>
                  <a:srgbClr val="002060"/>
                </a:solidFill>
                <a:uFillTx/>
                <a:latin typeface="Calibri" pitchFamily="34"/>
                <a:ea typeface="Calibri" pitchFamily="34"/>
                <a:cs typeface="Calibri" pitchFamily="34"/>
              </a:rPr>
              <a:t> standard </a:t>
            </a:r>
            <a:r>
              <a:rPr lang="en-US" sz="1600" b="0" i="0" u="none" strike="noStrike" kern="1200" cap="none" spc="0" baseline="0" dirty="0" err="1">
                <a:solidFill>
                  <a:srgbClr val="002060"/>
                </a:solidFill>
                <a:uFillTx/>
                <a:latin typeface="Calibri" pitchFamily="34"/>
                <a:ea typeface="Calibri" pitchFamily="34"/>
                <a:cs typeface="Calibri" pitchFamily="34"/>
              </a:rPr>
              <a:t>etykietowania</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danych</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treningowych</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dla</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algorytmów</a:t>
            </a:r>
            <a:r>
              <a:rPr lang="en-US" sz="1600" b="0" i="0" u="none" strike="noStrike" kern="1200" cap="none" spc="0" baseline="0" dirty="0">
                <a:solidFill>
                  <a:srgbClr val="002060"/>
                </a:solidFill>
                <a:uFillTx/>
                <a:latin typeface="Calibri" pitchFamily="34"/>
                <a:ea typeface="Calibri" pitchFamily="34"/>
                <a:cs typeface="Calibri" pitchFamily="34"/>
              </a:rPr>
              <a:t> </a:t>
            </a:r>
            <a:r>
              <a:rPr lang="en-US" sz="1600" b="0" i="0" u="none" strike="noStrike" kern="1200" cap="none" spc="0" baseline="0" dirty="0" err="1">
                <a:solidFill>
                  <a:srgbClr val="002060"/>
                </a:solidFill>
                <a:uFillTx/>
                <a:latin typeface="Calibri" pitchFamily="34"/>
                <a:ea typeface="Calibri" pitchFamily="34"/>
                <a:cs typeface="Calibri" pitchFamily="34"/>
              </a:rPr>
              <a:t>mimiki</a:t>
            </a:r>
            <a:r>
              <a:rPr lang="en-US" sz="1600" b="0" i="0" u="none" strike="noStrike" kern="1200" cap="none" spc="0" baseline="0" dirty="0">
                <a:solidFill>
                  <a:srgbClr val="002060"/>
                </a:solidFill>
                <a:uFillTx/>
                <a:latin typeface="Calibri" pitchFamily="34"/>
                <a:ea typeface="Calibri" pitchFamily="34"/>
                <a:cs typeface="Calibri" pitchFamily="34"/>
              </a:rPr>
              <a:t>.</a:t>
            </a:r>
            <a:endParaRPr lang="en-US" sz="1600" b="0" i="0" u="none" strike="noStrike" kern="1200" cap="none" spc="0" baseline="0" dirty="0">
              <a:solidFill>
                <a:srgbClr val="002060"/>
              </a:solidFill>
              <a:uFillTx/>
              <a:latin typeface="Calibri"/>
            </a:endParaRPr>
          </a:p>
        </p:txBody>
      </p:sp>
      <p:grpSp>
        <p:nvGrpSpPr>
          <p:cNvPr id="78" name="Grupa 77"/>
          <p:cNvGrpSpPr/>
          <p:nvPr/>
        </p:nvGrpSpPr>
        <p:grpSpPr>
          <a:xfrm>
            <a:off x="250698" y="1691640"/>
            <a:ext cx="3520440" cy="2394966"/>
            <a:chOff x="320040" y="1115568"/>
            <a:chExt cx="4160520" cy="3474719"/>
          </a:xfrm>
        </p:grpSpPr>
        <p:sp>
          <p:nvSpPr>
            <p:cNvPr id="8" name="Text 6"/>
            <p:cNvSpPr/>
            <p:nvPr/>
          </p:nvSpPr>
          <p:spPr>
            <a:xfrm>
              <a:off x="320040" y="111556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Kluczowe</a:t>
              </a:r>
              <a:r>
                <a:rPr lang="en-US" sz="1200" b="1" i="0" u="none" strike="noStrike" kern="1200" cap="none" spc="0" baseline="0" dirty="0">
                  <a:solidFill>
                    <a:srgbClr val="1F1535"/>
                  </a:solidFill>
                  <a:uFillTx/>
                  <a:latin typeface="Cambria" pitchFamily="34"/>
                  <a:ea typeface="Cambria" pitchFamily="34"/>
                  <a:cs typeface="Cambria" pitchFamily="34"/>
                </a:rPr>
                <a:t> Action </a:t>
              </a:r>
              <a:r>
                <a:rPr lang="en-US" sz="1200" b="1" i="0" u="none" strike="noStrike" kern="1200" cap="none" spc="0" baseline="0" dirty="0" smtClean="0">
                  <a:solidFill>
                    <a:srgbClr val="1F1535"/>
                  </a:solidFill>
                  <a:uFillTx/>
                  <a:latin typeface="Cambria" pitchFamily="34"/>
                  <a:ea typeface="Cambria" pitchFamily="34"/>
                  <a:cs typeface="Cambria" pitchFamily="34"/>
                </a:rPr>
                <a:t>Units</a:t>
              </a:r>
              <a:endParaRPr lang="en-US" sz="1200" b="0" i="0" u="none" strike="noStrike" kern="1200" cap="none" spc="0" baseline="0" dirty="0">
                <a:solidFill>
                  <a:srgbClr val="000000"/>
                </a:solidFill>
                <a:uFillTx/>
                <a:latin typeface="Calibri"/>
              </a:endParaRPr>
            </a:p>
          </p:txBody>
        </p:sp>
        <p:sp>
          <p:nvSpPr>
            <p:cNvPr id="9" name="Shape 7"/>
            <p:cNvSpPr/>
            <p:nvPr/>
          </p:nvSpPr>
          <p:spPr>
            <a:xfrm>
              <a:off x="320040" y="1389888"/>
              <a:ext cx="4160520" cy="27432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347472" y="1426464"/>
              <a:ext cx="548640"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dirty="0">
                  <a:solidFill>
                    <a:srgbClr val="FFFFFF"/>
                  </a:solidFill>
                  <a:uFillTx/>
                  <a:latin typeface="Cambria" pitchFamily="34"/>
                  <a:ea typeface="Cambria" pitchFamily="34"/>
                  <a:cs typeface="Cambria" pitchFamily="34"/>
                </a:rPr>
                <a:t>AU</a:t>
              </a:r>
              <a:endParaRPr lang="en-US" sz="950" b="0" i="0" u="none" strike="noStrike" kern="1200" cap="none" spc="0" baseline="0" dirty="0">
                <a:solidFill>
                  <a:srgbClr val="000000"/>
                </a:solidFill>
                <a:uFillTx/>
                <a:latin typeface="Calibri"/>
              </a:endParaRPr>
            </a:p>
          </p:txBody>
        </p:sp>
        <p:sp>
          <p:nvSpPr>
            <p:cNvPr id="11" name="Text 9"/>
            <p:cNvSpPr/>
            <p:nvPr/>
          </p:nvSpPr>
          <p:spPr>
            <a:xfrm>
              <a:off x="914400" y="1426464"/>
              <a:ext cx="1280160"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dirty="0" err="1">
                  <a:solidFill>
                    <a:srgbClr val="FFFFFF"/>
                  </a:solidFill>
                  <a:uFillTx/>
                  <a:latin typeface="Cambria" pitchFamily="34"/>
                  <a:ea typeface="Cambria" pitchFamily="34"/>
                  <a:cs typeface="Cambria" pitchFamily="34"/>
                </a:rPr>
                <a:t>Nazwa</a:t>
              </a:r>
              <a:endParaRPr lang="en-US" sz="950" b="0" i="0" u="none" strike="noStrike" kern="1200" cap="none" spc="0" baseline="0" dirty="0">
                <a:solidFill>
                  <a:srgbClr val="000000"/>
                </a:solidFill>
                <a:uFillTx/>
                <a:latin typeface="Calibri"/>
              </a:endParaRPr>
            </a:p>
          </p:txBody>
        </p:sp>
        <p:sp>
          <p:nvSpPr>
            <p:cNvPr id="12" name="Text 10"/>
            <p:cNvSpPr/>
            <p:nvPr/>
          </p:nvSpPr>
          <p:spPr>
            <a:xfrm>
              <a:off x="2240279" y="1426464"/>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dirty="0" err="1">
                  <a:solidFill>
                    <a:srgbClr val="FFFFFF"/>
                  </a:solidFill>
                  <a:uFillTx/>
                  <a:latin typeface="Cambria" pitchFamily="34"/>
                  <a:ea typeface="Cambria" pitchFamily="34"/>
                  <a:cs typeface="Cambria" pitchFamily="34"/>
                </a:rPr>
                <a:t>Emocje</a:t>
              </a:r>
              <a:endParaRPr lang="en-US" sz="950" b="0" i="0" u="none" strike="noStrike" kern="1200" cap="none" spc="0" baseline="0" dirty="0">
                <a:solidFill>
                  <a:srgbClr val="000000"/>
                </a:solidFill>
                <a:uFillTx/>
                <a:latin typeface="Calibri"/>
              </a:endParaRPr>
            </a:p>
          </p:txBody>
        </p:sp>
        <p:sp>
          <p:nvSpPr>
            <p:cNvPr id="13" name="Shape 11"/>
            <p:cNvSpPr/>
            <p:nvPr/>
          </p:nvSpPr>
          <p:spPr>
            <a:xfrm>
              <a:off x="320040" y="1700784"/>
              <a:ext cx="4160520" cy="329184"/>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1700784"/>
              <a:ext cx="54864" cy="329184"/>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02336" y="176479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1D4ED8"/>
                  </a:solidFill>
                  <a:uFillTx/>
                  <a:latin typeface="Consolas" pitchFamily="34"/>
                  <a:ea typeface="Consolas" pitchFamily="34"/>
                  <a:cs typeface="Consolas" pitchFamily="34"/>
                </a:rPr>
                <a:t>AU01</a:t>
              </a:r>
              <a:endParaRPr lang="en-US" sz="950" b="0" i="0" u="none" strike="noStrike" kern="1200" cap="none" spc="0" baseline="0">
                <a:solidFill>
                  <a:srgbClr val="000000"/>
                </a:solidFill>
                <a:uFillTx/>
                <a:latin typeface="Calibri"/>
              </a:endParaRPr>
            </a:p>
          </p:txBody>
        </p:sp>
        <p:sp>
          <p:nvSpPr>
            <p:cNvPr id="16" name="Text 14"/>
            <p:cNvSpPr/>
            <p:nvPr/>
          </p:nvSpPr>
          <p:spPr>
            <a:xfrm>
              <a:off x="914400" y="176479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Inner Brow Raise</a:t>
              </a:r>
              <a:endParaRPr lang="en-US" sz="1000" b="0" i="0" u="none" strike="noStrike" kern="1200" cap="none" spc="0" baseline="0">
                <a:solidFill>
                  <a:srgbClr val="000000"/>
                </a:solidFill>
                <a:uFillTx/>
                <a:latin typeface="Calibri"/>
              </a:endParaRPr>
            </a:p>
          </p:txBody>
        </p:sp>
        <p:sp>
          <p:nvSpPr>
            <p:cNvPr id="17" name="Text 15"/>
            <p:cNvSpPr/>
            <p:nvPr/>
          </p:nvSpPr>
          <p:spPr>
            <a:xfrm>
              <a:off x="2240279" y="176479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Smutek, Strach</a:t>
              </a:r>
              <a:endParaRPr lang="en-US" sz="1000" b="0" i="0" u="none" strike="noStrike" kern="1200" cap="none" spc="0" baseline="0">
                <a:solidFill>
                  <a:srgbClr val="000000"/>
                </a:solidFill>
                <a:uFillTx/>
                <a:latin typeface="Calibri"/>
              </a:endParaRPr>
            </a:p>
          </p:txBody>
        </p:sp>
        <p:sp>
          <p:nvSpPr>
            <p:cNvPr id="18" name="Shape 16"/>
            <p:cNvSpPr/>
            <p:nvPr/>
          </p:nvSpPr>
          <p:spPr>
            <a:xfrm>
              <a:off x="320040" y="2066544"/>
              <a:ext cx="4160520" cy="329184"/>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Shape 17"/>
            <p:cNvSpPr/>
            <p:nvPr/>
          </p:nvSpPr>
          <p:spPr>
            <a:xfrm>
              <a:off x="320040" y="2066544"/>
              <a:ext cx="54864" cy="329184"/>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Text 18"/>
            <p:cNvSpPr/>
            <p:nvPr/>
          </p:nvSpPr>
          <p:spPr>
            <a:xfrm>
              <a:off x="402336" y="2130551"/>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0891B2"/>
                  </a:solidFill>
                  <a:uFillTx/>
                  <a:latin typeface="Consolas" pitchFamily="34"/>
                  <a:ea typeface="Consolas" pitchFamily="34"/>
                  <a:cs typeface="Consolas" pitchFamily="34"/>
                </a:rPr>
                <a:t>AU02</a:t>
              </a:r>
              <a:endParaRPr lang="en-US" sz="950" b="0" i="0" u="none" strike="noStrike" kern="1200" cap="none" spc="0" baseline="0">
                <a:solidFill>
                  <a:srgbClr val="000000"/>
                </a:solidFill>
                <a:uFillTx/>
                <a:latin typeface="Calibri"/>
              </a:endParaRPr>
            </a:p>
          </p:txBody>
        </p:sp>
        <p:sp>
          <p:nvSpPr>
            <p:cNvPr id="21" name="Text 19"/>
            <p:cNvSpPr/>
            <p:nvPr/>
          </p:nvSpPr>
          <p:spPr>
            <a:xfrm>
              <a:off x="914400" y="2130551"/>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Outer Brow Raise</a:t>
              </a:r>
              <a:endParaRPr lang="en-US" sz="1000" b="0" i="0" u="none" strike="noStrike" kern="1200" cap="none" spc="0" baseline="0">
                <a:solidFill>
                  <a:srgbClr val="000000"/>
                </a:solidFill>
                <a:uFillTx/>
                <a:latin typeface="Calibri"/>
              </a:endParaRPr>
            </a:p>
          </p:txBody>
        </p:sp>
        <p:sp>
          <p:nvSpPr>
            <p:cNvPr id="22" name="Text 20"/>
            <p:cNvSpPr/>
            <p:nvPr/>
          </p:nvSpPr>
          <p:spPr>
            <a:xfrm>
              <a:off x="2240279" y="2130551"/>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Zaskoczenie</a:t>
              </a:r>
              <a:endParaRPr lang="en-US" sz="1000" b="0" i="0" u="none" strike="noStrike" kern="1200" cap="none" spc="0" baseline="0">
                <a:solidFill>
                  <a:srgbClr val="000000"/>
                </a:solidFill>
                <a:uFillTx/>
                <a:latin typeface="Calibri"/>
              </a:endParaRPr>
            </a:p>
          </p:txBody>
        </p:sp>
        <p:sp>
          <p:nvSpPr>
            <p:cNvPr id="23" name="Shape 21"/>
            <p:cNvSpPr/>
            <p:nvPr/>
          </p:nvSpPr>
          <p:spPr>
            <a:xfrm>
              <a:off x="320040" y="2432304"/>
              <a:ext cx="4160520" cy="329184"/>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Shape 22"/>
            <p:cNvSpPr/>
            <p:nvPr/>
          </p:nvSpPr>
          <p:spPr>
            <a:xfrm>
              <a:off x="320040" y="2432304"/>
              <a:ext cx="54864" cy="329184"/>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402336" y="249631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E11D48"/>
                  </a:solidFill>
                  <a:uFillTx/>
                  <a:latin typeface="Consolas" pitchFamily="34"/>
                  <a:ea typeface="Consolas" pitchFamily="34"/>
                  <a:cs typeface="Consolas" pitchFamily="34"/>
                </a:rPr>
                <a:t>AU04</a:t>
              </a:r>
              <a:endParaRPr lang="en-US" sz="950" b="0" i="0" u="none" strike="noStrike" kern="1200" cap="none" spc="0" baseline="0">
                <a:solidFill>
                  <a:srgbClr val="000000"/>
                </a:solidFill>
                <a:uFillTx/>
                <a:latin typeface="Calibri"/>
              </a:endParaRPr>
            </a:p>
          </p:txBody>
        </p:sp>
        <p:sp>
          <p:nvSpPr>
            <p:cNvPr id="26" name="Text 24"/>
            <p:cNvSpPr/>
            <p:nvPr/>
          </p:nvSpPr>
          <p:spPr>
            <a:xfrm>
              <a:off x="914400" y="249631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Brow Lowerer</a:t>
              </a:r>
              <a:endParaRPr lang="en-US" sz="1000" b="0" i="0" u="none" strike="noStrike" kern="1200" cap="none" spc="0" baseline="0">
                <a:solidFill>
                  <a:srgbClr val="000000"/>
                </a:solidFill>
                <a:uFillTx/>
                <a:latin typeface="Calibri"/>
              </a:endParaRPr>
            </a:p>
          </p:txBody>
        </p:sp>
        <p:sp>
          <p:nvSpPr>
            <p:cNvPr id="27" name="Text 25"/>
            <p:cNvSpPr/>
            <p:nvPr/>
          </p:nvSpPr>
          <p:spPr>
            <a:xfrm>
              <a:off x="2240279" y="249631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Gniew, Smutek</a:t>
              </a:r>
              <a:endParaRPr lang="en-US" sz="1000" b="0" i="0" u="none" strike="noStrike" kern="1200" cap="none" spc="0" baseline="0">
                <a:solidFill>
                  <a:srgbClr val="000000"/>
                </a:solidFill>
                <a:uFillTx/>
                <a:latin typeface="Calibri"/>
              </a:endParaRPr>
            </a:p>
          </p:txBody>
        </p:sp>
        <p:sp>
          <p:nvSpPr>
            <p:cNvPr id="28" name="Shape 26"/>
            <p:cNvSpPr/>
            <p:nvPr/>
          </p:nvSpPr>
          <p:spPr>
            <a:xfrm>
              <a:off x="320040" y="2798064"/>
              <a:ext cx="4160520" cy="329184"/>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Shape 27"/>
            <p:cNvSpPr/>
            <p:nvPr/>
          </p:nvSpPr>
          <p:spPr>
            <a:xfrm>
              <a:off x="320040" y="2798064"/>
              <a:ext cx="54864" cy="329184"/>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Text 28"/>
            <p:cNvSpPr/>
            <p:nvPr/>
          </p:nvSpPr>
          <p:spPr>
            <a:xfrm>
              <a:off x="402336" y="286207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059669"/>
                  </a:solidFill>
                  <a:uFillTx/>
                  <a:latin typeface="Consolas" pitchFamily="34"/>
                  <a:ea typeface="Consolas" pitchFamily="34"/>
                  <a:cs typeface="Consolas" pitchFamily="34"/>
                </a:rPr>
                <a:t>AU06</a:t>
              </a:r>
              <a:endParaRPr lang="en-US" sz="950" b="0" i="0" u="none" strike="noStrike" kern="1200" cap="none" spc="0" baseline="0">
                <a:solidFill>
                  <a:srgbClr val="000000"/>
                </a:solidFill>
                <a:uFillTx/>
                <a:latin typeface="Calibri"/>
              </a:endParaRPr>
            </a:p>
          </p:txBody>
        </p:sp>
        <p:sp>
          <p:nvSpPr>
            <p:cNvPr id="31" name="Text 29"/>
            <p:cNvSpPr/>
            <p:nvPr/>
          </p:nvSpPr>
          <p:spPr>
            <a:xfrm>
              <a:off x="914400" y="286207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Cheek Raiser</a:t>
              </a:r>
              <a:endParaRPr lang="en-US" sz="1000" b="0" i="0" u="none" strike="noStrike" kern="1200" cap="none" spc="0" baseline="0">
                <a:solidFill>
                  <a:srgbClr val="000000"/>
                </a:solidFill>
                <a:uFillTx/>
                <a:latin typeface="Calibri"/>
              </a:endParaRPr>
            </a:p>
          </p:txBody>
        </p:sp>
        <p:sp>
          <p:nvSpPr>
            <p:cNvPr id="32" name="Text 30"/>
            <p:cNvSpPr/>
            <p:nvPr/>
          </p:nvSpPr>
          <p:spPr>
            <a:xfrm>
              <a:off x="2240279" y="286207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Radość prawdziwa (Duchenne)</a:t>
              </a:r>
              <a:endParaRPr lang="en-US" sz="1000" b="0" i="0" u="none" strike="noStrike" kern="1200" cap="none" spc="0" baseline="0">
                <a:solidFill>
                  <a:srgbClr val="000000"/>
                </a:solidFill>
                <a:uFillTx/>
                <a:latin typeface="Calibri"/>
              </a:endParaRPr>
            </a:p>
          </p:txBody>
        </p:sp>
        <p:sp>
          <p:nvSpPr>
            <p:cNvPr id="33" name="Shape 31"/>
            <p:cNvSpPr/>
            <p:nvPr/>
          </p:nvSpPr>
          <p:spPr>
            <a:xfrm>
              <a:off x="320040" y="3163824"/>
              <a:ext cx="4160520" cy="329184"/>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320040" y="3163824"/>
              <a:ext cx="54864" cy="329184"/>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02336" y="322783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D97706"/>
                  </a:solidFill>
                  <a:uFillTx/>
                  <a:latin typeface="Consolas" pitchFamily="34"/>
                  <a:ea typeface="Consolas" pitchFamily="34"/>
                  <a:cs typeface="Consolas" pitchFamily="34"/>
                </a:rPr>
                <a:t>AU12</a:t>
              </a:r>
              <a:endParaRPr lang="en-US" sz="950" b="0" i="0" u="none" strike="noStrike" kern="1200" cap="none" spc="0" baseline="0">
                <a:solidFill>
                  <a:srgbClr val="000000"/>
                </a:solidFill>
                <a:uFillTx/>
                <a:latin typeface="Calibri"/>
              </a:endParaRPr>
            </a:p>
          </p:txBody>
        </p:sp>
        <p:sp>
          <p:nvSpPr>
            <p:cNvPr id="36" name="Text 34"/>
            <p:cNvSpPr/>
            <p:nvPr/>
          </p:nvSpPr>
          <p:spPr>
            <a:xfrm>
              <a:off x="914400" y="322783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Lip Corner Puller</a:t>
              </a:r>
              <a:endParaRPr lang="en-US" sz="1000" b="0" i="0" u="none" strike="noStrike" kern="1200" cap="none" spc="0" baseline="0">
                <a:solidFill>
                  <a:srgbClr val="000000"/>
                </a:solidFill>
                <a:uFillTx/>
                <a:latin typeface="Calibri"/>
              </a:endParaRPr>
            </a:p>
          </p:txBody>
        </p:sp>
        <p:sp>
          <p:nvSpPr>
            <p:cNvPr id="37" name="Text 35"/>
            <p:cNvSpPr/>
            <p:nvPr/>
          </p:nvSpPr>
          <p:spPr>
            <a:xfrm>
              <a:off x="2240279" y="322783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Uśmiech (fałszywy gdy brak AU06)</a:t>
              </a:r>
              <a:endParaRPr lang="en-US" sz="1000" b="0" i="0" u="none" strike="noStrike" kern="1200" cap="none" spc="0" baseline="0">
                <a:solidFill>
                  <a:srgbClr val="000000"/>
                </a:solidFill>
                <a:uFillTx/>
                <a:latin typeface="Calibri"/>
              </a:endParaRPr>
            </a:p>
          </p:txBody>
        </p:sp>
        <p:sp>
          <p:nvSpPr>
            <p:cNvPr id="38" name="Shape 36"/>
            <p:cNvSpPr/>
            <p:nvPr/>
          </p:nvSpPr>
          <p:spPr>
            <a:xfrm>
              <a:off x="320040" y="3529584"/>
              <a:ext cx="4160520" cy="329184"/>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37"/>
            <p:cNvSpPr/>
            <p:nvPr/>
          </p:nvSpPr>
          <p:spPr>
            <a:xfrm>
              <a:off x="320040" y="3529584"/>
              <a:ext cx="54864" cy="329184"/>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02336" y="3593591"/>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7C3AED"/>
                  </a:solidFill>
                  <a:uFillTx/>
                  <a:latin typeface="Consolas" pitchFamily="34"/>
                  <a:ea typeface="Consolas" pitchFamily="34"/>
                  <a:cs typeface="Consolas" pitchFamily="34"/>
                </a:rPr>
                <a:t>AU17</a:t>
              </a:r>
              <a:endParaRPr lang="en-US" sz="950" b="0" i="0" u="none" strike="noStrike" kern="1200" cap="none" spc="0" baseline="0">
                <a:solidFill>
                  <a:srgbClr val="000000"/>
                </a:solidFill>
                <a:uFillTx/>
                <a:latin typeface="Calibri"/>
              </a:endParaRPr>
            </a:p>
          </p:txBody>
        </p:sp>
        <p:sp>
          <p:nvSpPr>
            <p:cNvPr id="41" name="Text 39"/>
            <p:cNvSpPr/>
            <p:nvPr/>
          </p:nvSpPr>
          <p:spPr>
            <a:xfrm>
              <a:off x="914400" y="3593591"/>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Chin Raiser</a:t>
              </a:r>
              <a:endParaRPr lang="en-US" sz="1000" b="0" i="0" u="none" strike="noStrike" kern="1200" cap="none" spc="0" baseline="0">
                <a:solidFill>
                  <a:srgbClr val="000000"/>
                </a:solidFill>
                <a:uFillTx/>
                <a:latin typeface="Calibri"/>
              </a:endParaRPr>
            </a:p>
          </p:txBody>
        </p:sp>
        <p:sp>
          <p:nvSpPr>
            <p:cNvPr id="42" name="Text 40"/>
            <p:cNvSpPr/>
            <p:nvPr/>
          </p:nvSpPr>
          <p:spPr>
            <a:xfrm>
              <a:off x="2240279" y="3593591"/>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Wstręt, Smutek</a:t>
              </a:r>
              <a:endParaRPr lang="en-US" sz="1000" b="0" i="0" u="none" strike="noStrike" kern="1200" cap="none" spc="0" baseline="0">
                <a:solidFill>
                  <a:srgbClr val="000000"/>
                </a:solidFill>
                <a:uFillTx/>
                <a:latin typeface="Calibri"/>
              </a:endParaRPr>
            </a:p>
          </p:txBody>
        </p:sp>
        <p:sp>
          <p:nvSpPr>
            <p:cNvPr id="43" name="Shape 41"/>
            <p:cNvSpPr/>
            <p:nvPr/>
          </p:nvSpPr>
          <p:spPr>
            <a:xfrm>
              <a:off x="320040" y="3895344"/>
              <a:ext cx="4160520" cy="329184"/>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Shape 42"/>
            <p:cNvSpPr/>
            <p:nvPr/>
          </p:nvSpPr>
          <p:spPr>
            <a:xfrm>
              <a:off x="320040" y="3895344"/>
              <a:ext cx="54864" cy="329184"/>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5" name="Text 43"/>
            <p:cNvSpPr/>
            <p:nvPr/>
          </p:nvSpPr>
          <p:spPr>
            <a:xfrm>
              <a:off x="402336" y="395935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DB2777"/>
                  </a:solidFill>
                  <a:uFillTx/>
                  <a:latin typeface="Consolas" pitchFamily="34"/>
                  <a:ea typeface="Consolas" pitchFamily="34"/>
                  <a:cs typeface="Consolas" pitchFamily="34"/>
                </a:rPr>
                <a:t>AU23</a:t>
              </a:r>
              <a:endParaRPr lang="en-US" sz="950" b="0" i="0" u="none" strike="noStrike" kern="1200" cap="none" spc="0" baseline="0">
                <a:solidFill>
                  <a:srgbClr val="000000"/>
                </a:solidFill>
                <a:uFillTx/>
                <a:latin typeface="Calibri"/>
              </a:endParaRPr>
            </a:p>
          </p:txBody>
        </p:sp>
        <p:sp>
          <p:nvSpPr>
            <p:cNvPr id="46" name="Text 44"/>
            <p:cNvSpPr/>
            <p:nvPr/>
          </p:nvSpPr>
          <p:spPr>
            <a:xfrm>
              <a:off x="914400" y="395935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Lip Tightener</a:t>
              </a:r>
              <a:endParaRPr lang="en-US" sz="1000" b="0" i="0" u="none" strike="noStrike" kern="1200" cap="none" spc="0" baseline="0">
                <a:solidFill>
                  <a:srgbClr val="000000"/>
                </a:solidFill>
                <a:uFillTx/>
                <a:latin typeface="Calibri"/>
              </a:endParaRPr>
            </a:p>
          </p:txBody>
        </p:sp>
        <p:sp>
          <p:nvSpPr>
            <p:cNvPr id="47" name="Text 45"/>
            <p:cNvSpPr/>
            <p:nvPr/>
          </p:nvSpPr>
          <p:spPr>
            <a:xfrm>
              <a:off x="2240279" y="395935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Gniew, dezaprobata</a:t>
              </a:r>
              <a:endParaRPr lang="en-US" sz="1000" b="0" i="0" u="none" strike="noStrike" kern="1200" cap="none" spc="0" baseline="0">
                <a:solidFill>
                  <a:srgbClr val="000000"/>
                </a:solidFill>
                <a:uFillTx/>
                <a:latin typeface="Calibri"/>
              </a:endParaRPr>
            </a:p>
          </p:txBody>
        </p:sp>
        <p:sp>
          <p:nvSpPr>
            <p:cNvPr id="48" name="Shape 46"/>
            <p:cNvSpPr/>
            <p:nvPr/>
          </p:nvSpPr>
          <p:spPr>
            <a:xfrm>
              <a:off x="320040" y="4261103"/>
              <a:ext cx="4160520" cy="329184"/>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Shape 47"/>
            <p:cNvSpPr/>
            <p:nvPr/>
          </p:nvSpPr>
          <p:spPr>
            <a:xfrm>
              <a:off x="320040" y="4261103"/>
              <a:ext cx="54864" cy="329184"/>
            </a:xfrm>
            <a:prstGeom prst="rect">
              <a:avLst/>
            </a:prstGeom>
            <a:solidFill>
              <a:srgbClr val="6B7280"/>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0" name="Text 48"/>
            <p:cNvSpPr/>
            <p:nvPr/>
          </p:nvSpPr>
          <p:spPr>
            <a:xfrm>
              <a:off x="402336" y="4325112"/>
              <a:ext cx="512064"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1" i="0" u="none" strike="noStrike" kern="1200" cap="none" spc="0" baseline="0">
                  <a:solidFill>
                    <a:srgbClr val="6B7280"/>
                  </a:solidFill>
                  <a:uFillTx/>
                  <a:latin typeface="Consolas" pitchFamily="34"/>
                  <a:ea typeface="Consolas" pitchFamily="34"/>
                  <a:cs typeface="Consolas" pitchFamily="34"/>
                </a:rPr>
                <a:t>AU43</a:t>
              </a:r>
              <a:endParaRPr lang="en-US" sz="950" b="0" i="0" u="none" strike="noStrike" kern="1200" cap="none" spc="0" baseline="0">
                <a:solidFill>
                  <a:srgbClr val="000000"/>
                </a:solidFill>
                <a:uFillTx/>
                <a:latin typeface="Calibri"/>
              </a:endParaRPr>
            </a:p>
          </p:txBody>
        </p:sp>
        <p:sp>
          <p:nvSpPr>
            <p:cNvPr id="51" name="Text 49"/>
            <p:cNvSpPr/>
            <p:nvPr/>
          </p:nvSpPr>
          <p:spPr>
            <a:xfrm>
              <a:off x="914400" y="4325112"/>
              <a:ext cx="1298448"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F1535"/>
                  </a:solidFill>
                  <a:uFillTx/>
                  <a:latin typeface="Calibri" pitchFamily="34"/>
                  <a:ea typeface="Calibri" pitchFamily="34"/>
                  <a:cs typeface="Calibri" pitchFamily="34"/>
                </a:rPr>
                <a:t>Eyes Closed</a:t>
              </a:r>
              <a:endParaRPr lang="en-US" sz="1000" b="0" i="0" u="none" strike="noStrike" kern="1200" cap="none" spc="0" baseline="0">
                <a:solidFill>
                  <a:srgbClr val="000000"/>
                </a:solidFill>
                <a:uFillTx/>
                <a:latin typeface="Calibri"/>
              </a:endParaRPr>
            </a:p>
          </p:txBody>
        </p:sp>
        <p:sp>
          <p:nvSpPr>
            <p:cNvPr id="52" name="Text 50"/>
            <p:cNvSpPr/>
            <p:nvPr/>
          </p:nvSpPr>
          <p:spPr>
            <a:xfrm>
              <a:off x="2240279" y="4325112"/>
              <a:ext cx="2176272"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4C3D6B"/>
                  </a:solidFill>
                  <a:uFillTx/>
                  <a:latin typeface="Calibri" pitchFamily="34"/>
                  <a:ea typeface="Calibri" pitchFamily="34"/>
                  <a:cs typeface="Calibri" pitchFamily="34"/>
                </a:rPr>
                <a:t>Zmęczenie, intencja nie-uwagi</a:t>
              </a:r>
              <a:endParaRPr lang="en-US" sz="1000" b="0" i="0" u="none" strike="noStrike" kern="1200" cap="none" spc="0" baseline="0">
                <a:solidFill>
                  <a:srgbClr val="000000"/>
                </a:solidFill>
                <a:uFillTx/>
                <a:latin typeface="Calibri"/>
              </a:endParaRPr>
            </a:p>
          </p:txBody>
        </p:sp>
      </p:grpSp>
      <p:sp>
        <p:nvSpPr>
          <p:cNvPr id="53" name="Text 51"/>
          <p:cNvSpPr/>
          <p:nvPr/>
        </p:nvSpPr>
        <p:spPr>
          <a:xfrm>
            <a:off x="3978402" y="1664208"/>
            <a:ext cx="4891278"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F1535"/>
                </a:solidFill>
                <a:uFillTx/>
                <a:latin typeface="Cambria" pitchFamily="34"/>
                <a:ea typeface="Cambria" pitchFamily="34"/>
                <a:cs typeface="Cambria" pitchFamily="34"/>
              </a:rPr>
              <a:t>Pipeline </a:t>
            </a:r>
            <a:r>
              <a:rPr lang="en-US" sz="1200" b="1" i="0" u="none" strike="noStrike" kern="1200" cap="none" spc="0" baseline="0" dirty="0" err="1">
                <a:solidFill>
                  <a:srgbClr val="1F1535"/>
                </a:solidFill>
                <a:uFillTx/>
                <a:latin typeface="Cambria" pitchFamily="34"/>
                <a:ea typeface="Cambria" pitchFamily="34"/>
                <a:cs typeface="Cambria" pitchFamily="34"/>
              </a:rPr>
              <a:t>rozpoznawania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mimiki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na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smtClean="0">
                <a:solidFill>
                  <a:srgbClr val="1F1535"/>
                </a:solidFill>
                <a:uFillTx/>
                <a:latin typeface="Cambria" pitchFamily="34"/>
                <a:ea typeface="Cambria" pitchFamily="34"/>
                <a:cs typeface="Cambria" pitchFamily="34"/>
              </a:rPr>
              <a:t>mobile</a:t>
            </a:r>
            <a:endParaRPr lang="en-US" sz="1200" b="0" i="0" u="none" strike="noStrike" kern="1200" cap="none" spc="0" baseline="0" dirty="0">
              <a:solidFill>
                <a:srgbClr val="000000"/>
              </a:solidFill>
              <a:uFillTx/>
              <a:latin typeface="Calibri"/>
            </a:endParaRPr>
          </a:p>
        </p:txBody>
      </p:sp>
      <p:grpSp>
        <p:nvGrpSpPr>
          <p:cNvPr id="87" name="Grupa 86"/>
          <p:cNvGrpSpPr/>
          <p:nvPr/>
        </p:nvGrpSpPr>
        <p:grpSpPr>
          <a:xfrm>
            <a:off x="3978402" y="1946148"/>
            <a:ext cx="4997958" cy="518160"/>
            <a:chOff x="3978402" y="1511808"/>
            <a:chExt cx="4997958" cy="518160"/>
          </a:xfrm>
        </p:grpSpPr>
        <p:grpSp>
          <p:nvGrpSpPr>
            <p:cNvPr id="79" name="Grupa 78"/>
            <p:cNvGrpSpPr/>
            <p:nvPr/>
          </p:nvGrpSpPr>
          <p:grpSpPr>
            <a:xfrm>
              <a:off x="3978402" y="1511808"/>
              <a:ext cx="4997958" cy="518160"/>
              <a:chOff x="4663440" y="1389888"/>
              <a:chExt cx="4206240" cy="640080"/>
            </a:xfrm>
          </p:grpSpPr>
          <p:sp>
            <p:nvSpPr>
              <p:cNvPr id="54" name="Shape 52"/>
              <p:cNvSpPr/>
              <p:nvPr/>
            </p:nvSpPr>
            <p:spPr>
              <a:xfrm>
                <a:off x="4663440" y="1389888"/>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5" name="Shape 53"/>
              <p:cNvSpPr/>
              <p:nvPr/>
            </p:nvSpPr>
            <p:spPr>
              <a:xfrm>
                <a:off x="4663440" y="1389888"/>
                <a:ext cx="54864" cy="64008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56" name="Text 54"/>
            <p:cNvSpPr/>
            <p:nvPr/>
          </p:nvSpPr>
          <p:spPr>
            <a:xfrm>
              <a:off x="4134403" y="1514856"/>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1. Face Detection</a:t>
              </a:r>
              <a:endParaRPr lang="en-US" sz="1150" b="0" i="0" u="none" strike="noStrike" kern="1200" cap="none" spc="0" baseline="0" dirty="0">
                <a:solidFill>
                  <a:srgbClr val="000000"/>
                </a:solidFill>
                <a:uFillTx/>
                <a:latin typeface="Calibri"/>
              </a:endParaRPr>
            </a:p>
          </p:txBody>
        </p:sp>
        <p:sp>
          <p:nvSpPr>
            <p:cNvPr id="57" name="Text 55"/>
            <p:cNvSpPr/>
            <p:nvPr/>
          </p:nvSpPr>
          <p:spPr>
            <a:xfrm>
              <a:off x="4134403" y="1741932"/>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02060"/>
                  </a:solidFill>
                  <a:uFillTx/>
                  <a:latin typeface="Calibri" pitchFamily="34"/>
                  <a:ea typeface="Calibri" pitchFamily="34"/>
                  <a:cs typeface="Calibri" pitchFamily="34"/>
                </a:rPr>
                <a:t>MTCNN / </a:t>
              </a:r>
              <a:r>
                <a:rPr lang="en-US" sz="1000" b="0" i="0" u="none" strike="noStrike" kern="1200" cap="none" spc="0" baseline="0" dirty="0" err="1">
                  <a:solidFill>
                    <a:srgbClr val="002060"/>
                  </a:solidFill>
                  <a:uFillTx/>
                  <a:latin typeface="Calibri" pitchFamily="34"/>
                  <a:ea typeface="Calibri" pitchFamily="34"/>
                  <a:cs typeface="Calibri" pitchFamily="34"/>
                </a:rPr>
                <a:t>BlazeFace</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TFLite</a:t>
              </a:r>
              <a:r>
                <a:rPr lang="en-US" sz="1000" b="0" i="0" u="none" strike="noStrike" kern="1200" cap="none" spc="0" baseline="0" dirty="0">
                  <a:solidFill>
                    <a:srgbClr val="002060"/>
                  </a:solidFill>
                  <a:uFillTx/>
                  <a:latin typeface="Calibri" pitchFamily="34"/>
                  <a:ea typeface="Calibri" pitchFamily="34"/>
                  <a:cs typeface="Calibri" pitchFamily="34"/>
                </a:rPr>
                <a:t>) — &lt;5ms. Bounding box + 5 landmarks (</a:t>
              </a:r>
              <a:r>
                <a:rPr lang="en-US" sz="1000" b="0" i="0" u="none" strike="noStrike" kern="1200" cap="none" spc="0" baseline="0" dirty="0" err="1">
                  <a:solidFill>
                    <a:srgbClr val="002060"/>
                  </a:solidFill>
                  <a:uFillTx/>
                  <a:latin typeface="Calibri" pitchFamily="34"/>
                  <a:ea typeface="Calibri" pitchFamily="34"/>
                  <a:cs typeface="Calibri" pitchFamily="34"/>
                </a:rPr>
                <a:t>oczy</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nos</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kąciki</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ust</a:t>
              </a:r>
              <a:r>
                <a:rPr lang="en-US" sz="1000" b="0" i="0" u="none" strike="noStrike" kern="1200" cap="none" spc="0" baseline="0" dirty="0">
                  <a:solidFill>
                    <a:srgbClr val="002060"/>
                  </a:solidFill>
                  <a:uFillTx/>
                  <a:latin typeface="Calibri" pitchFamily="34"/>
                  <a:ea typeface="Calibri" pitchFamily="34"/>
                  <a:cs typeface="Calibri" pitchFamily="34"/>
                </a:rPr>
                <a:t>).</a:t>
              </a:r>
              <a:endParaRPr lang="en-US" sz="1000" b="0" i="0" u="none" strike="noStrike" kern="1200" cap="none" spc="0" baseline="0" dirty="0">
                <a:solidFill>
                  <a:srgbClr val="002060"/>
                </a:solidFill>
                <a:uFillTx/>
                <a:latin typeface="Calibri"/>
              </a:endParaRPr>
            </a:p>
          </p:txBody>
        </p:sp>
      </p:grpSp>
      <p:grpSp>
        <p:nvGrpSpPr>
          <p:cNvPr id="86" name="Grupa 85"/>
          <p:cNvGrpSpPr/>
          <p:nvPr/>
        </p:nvGrpSpPr>
        <p:grpSpPr>
          <a:xfrm>
            <a:off x="3978402" y="2560320"/>
            <a:ext cx="4997958" cy="518160"/>
            <a:chOff x="3978402" y="2225040"/>
            <a:chExt cx="4997958" cy="518160"/>
          </a:xfrm>
        </p:grpSpPr>
        <p:grpSp>
          <p:nvGrpSpPr>
            <p:cNvPr id="80" name="Grupa 79"/>
            <p:cNvGrpSpPr/>
            <p:nvPr/>
          </p:nvGrpSpPr>
          <p:grpSpPr>
            <a:xfrm>
              <a:off x="3978402" y="2225040"/>
              <a:ext cx="4997958" cy="518160"/>
              <a:chOff x="4663440" y="2103120"/>
              <a:chExt cx="4206240" cy="640080"/>
            </a:xfrm>
          </p:grpSpPr>
          <p:sp>
            <p:nvSpPr>
              <p:cNvPr id="58" name="Shape 56"/>
              <p:cNvSpPr/>
              <p:nvPr/>
            </p:nvSpPr>
            <p:spPr>
              <a:xfrm>
                <a:off x="4663440" y="2103120"/>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9" name="Shape 57"/>
              <p:cNvSpPr/>
              <p:nvPr/>
            </p:nvSpPr>
            <p:spPr>
              <a:xfrm>
                <a:off x="4663440" y="2103120"/>
                <a:ext cx="54864" cy="64008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60" name="Text 58"/>
            <p:cNvSpPr/>
            <p:nvPr/>
          </p:nvSpPr>
          <p:spPr>
            <a:xfrm>
              <a:off x="4134403" y="2235707"/>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2. Face Alignment</a:t>
              </a:r>
              <a:endParaRPr lang="en-US" sz="1150" b="0" i="0" u="none" strike="noStrike" kern="1200" cap="none" spc="0" baseline="0" dirty="0">
                <a:solidFill>
                  <a:srgbClr val="000000"/>
                </a:solidFill>
                <a:uFillTx/>
                <a:latin typeface="Calibri"/>
              </a:endParaRPr>
            </a:p>
          </p:txBody>
        </p:sp>
        <p:sp>
          <p:nvSpPr>
            <p:cNvPr id="61" name="Text 59"/>
            <p:cNvSpPr/>
            <p:nvPr/>
          </p:nvSpPr>
          <p:spPr>
            <a:xfrm>
              <a:off x="4134403" y="2462784"/>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02060"/>
                  </a:solidFill>
                  <a:uFillTx/>
                  <a:latin typeface="Calibri" pitchFamily="34"/>
                  <a:ea typeface="Calibri" pitchFamily="34"/>
                  <a:cs typeface="Calibri" pitchFamily="34"/>
                </a:rPr>
                <a:t>Affine warp do 112×112 </a:t>
              </a:r>
              <a:r>
                <a:rPr lang="en-US" sz="1000" b="0" i="0" u="none" strike="noStrike" kern="1200" cap="none" spc="0" baseline="0" dirty="0" err="1">
                  <a:solidFill>
                    <a:srgbClr val="002060"/>
                  </a:solidFill>
                  <a:uFillTx/>
                  <a:latin typeface="Calibri" pitchFamily="34"/>
                  <a:ea typeface="Calibri" pitchFamily="34"/>
                  <a:cs typeface="Calibri" pitchFamily="34"/>
                </a:rPr>
                <a:t>px</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na</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podstawie</a:t>
              </a:r>
              <a:r>
                <a:rPr lang="en-US" sz="1000" b="0" i="0" u="none" strike="noStrike" kern="1200" cap="none" spc="0" baseline="0" dirty="0">
                  <a:solidFill>
                    <a:srgbClr val="002060"/>
                  </a:solidFill>
                  <a:uFillTx/>
                  <a:latin typeface="Calibri" pitchFamily="34"/>
                  <a:ea typeface="Calibri" pitchFamily="34"/>
                  <a:cs typeface="Calibri" pitchFamily="34"/>
                </a:rPr>
                <a:t> landmarks. </a:t>
              </a:r>
              <a:r>
                <a:rPr lang="en-US" sz="1000" b="0" i="0" u="none" strike="noStrike" kern="1200" cap="none" spc="0" baseline="0" dirty="0" err="1">
                  <a:solidFill>
                    <a:srgbClr val="002060"/>
                  </a:solidFill>
                  <a:uFillTx/>
                  <a:latin typeface="Calibri" pitchFamily="34"/>
                  <a:ea typeface="Calibri" pitchFamily="34"/>
                  <a:cs typeface="Calibri" pitchFamily="34"/>
                </a:rPr>
                <a:t>Normalizacja</a:t>
              </a:r>
              <a:r>
                <a:rPr lang="en-US" sz="1000" b="0" i="0" u="none" strike="noStrike" kern="1200" cap="none" spc="0" baseline="0" dirty="0">
                  <a:solidFill>
                    <a:srgbClr val="002060"/>
                  </a:solidFill>
                  <a:uFillTx/>
                  <a:latin typeface="Calibri" pitchFamily="34"/>
                  <a:ea typeface="Calibri" pitchFamily="34"/>
                  <a:cs typeface="Calibri" pitchFamily="34"/>
                </a:rPr>
                <a:t> </a:t>
              </a:r>
              <a:r>
                <a:rPr lang="en-US" sz="1000" b="0" i="0" u="none" strike="noStrike" kern="1200" cap="none" spc="0" baseline="0" dirty="0" err="1">
                  <a:solidFill>
                    <a:srgbClr val="002060"/>
                  </a:solidFill>
                  <a:uFillTx/>
                  <a:latin typeface="Calibri" pitchFamily="34"/>
                  <a:ea typeface="Calibri" pitchFamily="34"/>
                  <a:cs typeface="Calibri" pitchFamily="34"/>
                </a:rPr>
                <a:t>oświetlenia</a:t>
              </a:r>
              <a:r>
                <a:rPr lang="en-US" sz="1000" b="0" i="0" u="none" strike="noStrike" kern="1200" cap="none" spc="0" baseline="0" dirty="0">
                  <a:solidFill>
                    <a:srgbClr val="002060"/>
                  </a:solidFill>
                  <a:uFillTx/>
                  <a:latin typeface="Calibri" pitchFamily="34"/>
                  <a:ea typeface="Calibri" pitchFamily="34"/>
                  <a:cs typeface="Calibri" pitchFamily="34"/>
                </a:rPr>
                <a:t> CLAHE.</a:t>
              </a:r>
              <a:endParaRPr lang="en-US" sz="1000" b="0" i="0" u="none" strike="noStrike" kern="1200" cap="none" spc="0" baseline="0" dirty="0">
                <a:solidFill>
                  <a:srgbClr val="002060"/>
                </a:solidFill>
                <a:uFillTx/>
                <a:latin typeface="Calibri"/>
              </a:endParaRPr>
            </a:p>
          </p:txBody>
        </p:sp>
      </p:grpSp>
      <p:grpSp>
        <p:nvGrpSpPr>
          <p:cNvPr id="85" name="Grupa 84"/>
          <p:cNvGrpSpPr/>
          <p:nvPr/>
        </p:nvGrpSpPr>
        <p:grpSpPr>
          <a:xfrm>
            <a:off x="3978402" y="3174492"/>
            <a:ext cx="4997958" cy="518160"/>
            <a:chOff x="3978402" y="2938272"/>
            <a:chExt cx="4997958" cy="518160"/>
          </a:xfrm>
        </p:grpSpPr>
        <p:grpSp>
          <p:nvGrpSpPr>
            <p:cNvPr id="81" name="Grupa 80"/>
            <p:cNvGrpSpPr/>
            <p:nvPr/>
          </p:nvGrpSpPr>
          <p:grpSpPr>
            <a:xfrm>
              <a:off x="3978402" y="2938272"/>
              <a:ext cx="4997958" cy="518160"/>
              <a:chOff x="4663440" y="2816352"/>
              <a:chExt cx="4206240" cy="640080"/>
            </a:xfrm>
          </p:grpSpPr>
          <p:sp>
            <p:nvSpPr>
              <p:cNvPr id="62" name="Shape 60"/>
              <p:cNvSpPr/>
              <p:nvPr/>
            </p:nvSpPr>
            <p:spPr>
              <a:xfrm>
                <a:off x="4663440" y="2816352"/>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3" name="Shape 61"/>
              <p:cNvSpPr/>
              <p:nvPr/>
            </p:nvSpPr>
            <p:spPr>
              <a:xfrm>
                <a:off x="4663440" y="2816352"/>
                <a:ext cx="54864" cy="64008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64" name="Text 62"/>
            <p:cNvSpPr/>
            <p:nvPr/>
          </p:nvSpPr>
          <p:spPr>
            <a:xfrm>
              <a:off x="4134403" y="2956560"/>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3. AU Detection</a:t>
              </a:r>
              <a:endParaRPr lang="en-US" sz="1150" b="0" i="0" u="none" strike="noStrike" kern="1200" cap="none" spc="0" baseline="0" dirty="0">
                <a:solidFill>
                  <a:srgbClr val="000000"/>
                </a:solidFill>
                <a:uFillTx/>
                <a:latin typeface="Calibri"/>
              </a:endParaRPr>
            </a:p>
          </p:txBody>
        </p:sp>
        <p:sp>
          <p:nvSpPr>
            <p:cNvPr id="65" name="Text 63"/>
            <p:cNvSpPr/>
            <p:nvPr/>
          </p:nvSpPr>
          <p:spPr>
            <a:xfrm>
              <a:off x="4134403" y="3176016"/>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CNN (ResNet-50/MobileNetV3) → AU intensities (0–5 skala lub binarnie). 44 AU wyjście.</a:t>
              </a:r>
              <a:endParaRPr lang="en-US" sz="1000" b="0" i="0" u="none" strike="noStrike" kern="1200" cap="none" spc="0" baseline="0">
                <a:solidFill>
                  <a:srgbClr val="002060"/>
                </a:solidFill>
                <a:uFillTx/>
                <a:latin typeface="Calibri"/>
              </a:endParaRPr>
            </a:p>
          </p:txBody>
        </p:sp>
      </p:grpSp>
      <p:grpSp>
        <p:nvGrpSpPr>
          <p:cNvPr id="84" name="Grupa 83"/>
          <p:cNvGrpSpPr/>
          <p:nvPr/>
        </p:nvGrpSpPr>
        <p:grpSpPr>
          <a:xfrm>
            <a:off x="3978402" y="3788664"/>
            <a:ext cx="4997958" cy="518160"/>
            <a:chOff x="3978402" y="3651504"/>
            <a:chExt cx="4997958" cy="518160"/>
          </a:xfrm>
        </p:grpSpPr>
        <p:grpSp>
          <p:nvGrpSpPr>
            <p:cNvPr id="82" name="Grupa 81"/>
            <p:cNvGrpSpPr/>
            <p:nvPr/>
          </p:nvGrpSpPr>
          <p:grpSpPr>
            <a:xfrm>
              <a:off x="3978402" y="3651504"/>
              <a:ext cx="4997958" cy="518160"/>
              <a:chOff x="4663440" y="3529584"/>
              <a:chExt cx="4206240" cy="640080"/>
            </a:xfrm>
          </p:grpSpPr>
          <p:sp>
            <p:nvSpPr>
              <p:cNvPr id="66" name="Shape 64"/>
              <p:cNvSpPr/>
              <p:nvPr/>
            </p:nvSpPr>
            <p:spPr>
              <a:xfrm>
                <a:off x="4663440" y="3529584"/>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7" name="Shape 65"/>
              <p:cNvSpPr/>
              <p:nvPr/>
            </p:nvSpPr>
            <p:spPr>
              <a:xfrm>
                <a:off x="4663440" y="3529584"/>
                <a:ext cx="54864" cy="64008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68" name="Text 66"/>
            <p:cNvSpPr/>
            <p:nvPr/>
          </p:nvSpPr>
          <p:spPr>
            <a:xfrm>
              <a:off x="4134403" y="3662171"/>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4. Expression Class.</a:t>
              </a:r>
              <a:endParaRPr lang="en-US" sz="1150" b="0" i="0" u="none" strike="noStrike" kern="1200" cap="none" spc="0" baseline="0" dirty="0">
                <a:solidFill>
                  <a:srgbClr val="000000"/>
                </a:solidFill>
                <a:uFillTx/>
                <a:latin typeface="Calibri"/>
              </a:endParaRPr>
            </a:p>
          </p:txBody>
        </p:sp>
        <p:sp>
          <p:nvSpPr>
            <p:cNvPr id="69" name="Text 67"/>
            <p:cNvSpPr/>
            <p:nvPr/>
          </p:nvSpPr>
          <p:spPr>
            <a:xfrm>
              <a:off x="4134403" y="3889248"/>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002060"/>
                  </a:solidFill>
                  <a:uFillTx/>
                  <a:latin typeface="Calibri" pitchFamily="34"/>
                  <a:ea typeface="Calibri" pitchFamily="34"/>
                  <a:cs typeface="Calibri" pitchFamily="34"/>
                </a:rPr>
                <a:t>Reguły FACS → etykieta emocji LUB regresja VAD. Opcjonalnie mapa uwagi (Grad-CAM).</a:t>
              </a:r>
              <a:endParaRPr lang="en-US" sz="1000" b="0" i="0" u="none" strike="noStrike" kern="1200" cap="none" spc="0" baseline="0">
                <a:solidFill>
                  <a:srgbClr val="002060"/>
                </a:solidFill>
                <a:uFillTx/>
                <a:latin typeface="Calibri"/>
              </a:endParaRPr>
            </a:p>
          </p:txBody>
        </p:sp>
      </p:grpSp>
      <p:grpSp>
        <p:nvGrpSpPr>
          <p:cNvPr id="83" name="Grupa 82"/>
          <p:cNvGrpSpPr/>
          <p:nvPr/>
        </p:nvGrpSpPr>
        <p:grpSpPr>
          <a:xfrm>
            <a:off x="3978402" y="4364736"/>
            <a:ext cx="4997958" cy="518160"/>
            <a:chOff x="4663440" y="4242816"/>
            <a:chExt cx="4206240" cy="640080"/>
          </a:xfrm>
        </p:grpSpPr>
        <p:sp>
          <p:nvSpPr>
            <p:cNvPr id="70" name="Shape 68"/>
            <p:cNvSpPr/>
            <p:nvPr/>
          </p:nvSpPr>
          <p:spPr>
            <a:xfrm>
              <a:off x="4663440" y="4242816"/>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1" name="Shape 69"/>
            <p:cNvSpPr/>
            <p:nvPr/>
          </p:nvSpPr>
          <p:spPr>
            <a:xfrm>
              <a:off x="4663440" y="4242816"/>
              <a:ext cx="54864" cy="64008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72" name="Text 70"/>
          <p:cNvSpPr/>
          <p:nvPr/>
        </p:nvSpPr>
        <p:spPr>
          <a:xfrm>
            <a:off x="4134403" y="4383024"/>
            <a:ext cx="463469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5. Temporal smooth</a:t>
            </a:r>
            <a:endParaRPr lang="en-US" sz="1150" b="0" i="0" u="none" strike="noStrike" kern="1200" cap="none" spc="0" baseline="0" dirty="0">
              <a:solidFill>
                <a:srgbClr val="000000"/>
              </a:solidFill>
              <a:uFillTx/>
              <a:latin typeface="Calibri"/>
            </a:endParaRPr>
          </a:p>
        </p:txBody>
      </p:sp>
      <p:sp>
        <p:nvSpPr>
          <p:cNvPr id="73" name="Text 71"/>
          <p:cNvSpPr/>
          <p:nvPr/>
        </p:nvSpPr>
        <p:spPr>
          <a:xfrm>
            <a:off x="4088683" y="4617720"/>
            <a:ext cx="488767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02060"/>
                </a:solidFill>
                <a:uFillTx/>
                <a:latin typeface="Calibri" pitchFamily="34"/>
                <a:ea typeface="Calibri" pitchFamily="34"/>
                <a:cs typeface="Calibri" pitchFamily="34"/>
              </a:rPr>
              <a:t>Exponential smoothing / </a:t>
            </a:r>
            <a:r>
              <a:rPr lang="en-US" sz="1000" b="0" i="0" u="none" strike="noStrike" kern="1200" cap="none" spc="0" baseline="0" dirty="0" err="1">
                <a:solidFill>
                  <a:srgbClr val="002060"/>
                </a:solidFill>
                <a:uFillTx/>
                <a:latin typeface="Calibri" pitchFamily="34"/>
                <a:ea typeface="Calibri" pitchFamily="34"/>
                <a:cs typeface="Calibri" pitchFamily="34"/>
              </a:rPr>
              <a:t>Kalman</a:t>
            </a:r>
            <a:r>
              <a:rPr lang="en-US" sz="1000" b="0" i="0" u="none" strike="noStrike" kern="1200" cap="none" spc="0" baseline="0" dirty="0">
                <a:solidFill>
                  <a:srgbClr val="002060"/>
                </a:solidFill>
                <a:uFillTx/>
                <a:latin typeface="Calibri" pitchFamily="34"/>
                <a:ea typeface="Calibri" pitchFamily="34"/>
                <a:cs typeface="Calibri" pitchFamily="34"/>
              </a:rPr>
              <a:t> filter — </a:t>
            </a:r>
            <a:r>
              <a:rPr lang="en-US" sz="1000" b="0" i="0" u="none" strike="noStrike" kern="1200" cap="none" spc="0" baseline="0" dirty="0" err="1">
                <a:solidFill>
                  <a:srgbClr val="002060"/>
                </a:solidFill>
                <a:uFillTx/>
                <a:latin typeface="Calibri" pitchFamily="34"/>
                <a:ea typeface="Calibri" pitchFamily="34"/>
                <a:cs typeface="Calibri" pitchFamily="34"/>
              </a:rPr>
              <a:t>usuwa</a:t>
            </a:r>
            <a:r>
              <a:rPr lang="en-US" sz="1000" b="0" i="0" u="none" strike="noStrike" kern="1200" cap="none" spc="0" baseline="0" dirty="0">
                <a:solidFill>
                  <a:srgbClr val="002060"/>
                </a:solidFill>
                <a:uFillTx/>
                <a:latin typeface="Calibri" pitchFamily="34"/>
                <a:ea typeface="Calibri" pitchFamily="34"/>
                <a:cs typeface="Calibri" pitchFamily="34"/>
              </a:rPr>
              <a:t> jitter </a:t>
            </a:r>
            <a:r>
              <a:rPr lang="en-US" sz="1000" b="0" i="0" u="none" strike="noStrike" kern="1200" cap="none" spc="0" baseline="0" dirty="0" err="1">
                <a:solidFill>
                  <a:srgbClr val="002060"/>
                </a:solidFill>
                <a:uFillTx/>
                <a:latin typeface="Calibri" pitchFamily="34"/>
                <a:ea typeface="Calibri" pitchFamily="34"/>
                <a:cs typeface="Calibri" pitchFamily="34"/>
              </a:rPr>
              <a:t>klatka-po-klatce</a:t>
            </a:r>
            <a:r>
              <a:rPr lang="en-US" sz="1000" b="0" i="0" u="none" strike="noStrike" kern="1200" cap="none" spc="0" baseline="0" dirty="0">
                <a:solidFill>
                  <a:srgbClr val="002060"/>
                </a:solidFill>
                <a:uFillTx/>
                <a:latin typeface="Calibri" pitchFamily="34"/>
                <a:ea typeface="Calibri" pitchFamily="34"/>
                <a:cs typeface="Calibri" pitchFamily="34"/>
              </a:rPr>
              <a:t>. 30fps → stable output.</a:t>
            </a:r>
            <a:endParaRPr lang="en-US" sz="1000" b="0" i="0" u="none" strike="noStrike" kern="1200" cap="none" spc="0" baseline="0" dirty="0">
              <a:solidFill>
                <a:srgbClr val="002060"/>
              </a:solidFill>
              <a:uFillTx/>
              <a:latin typeface="Calibri"/>
            </a:endParaRPr>
          </a:p>
        </p:txBody>
      </p:sp>
      <p:sp>
        <p:nvSpPr>
          <p:cNvPr id="74" name="Text 72"/>
          <p:cNvSpPr/>
          <p:nvPr/>
        </p:nvSpPr>
        <p:spPr>
          <a:xfrm>
            <a:off x="182118" y="4199301"/>
            <a:ext cx="3796284" cy="713232"/>
          </a:xfrm>
          <a:prstGeom prst="rect">
            <a:avLst/>
          </a:prstGeom>
          <a:noFill/>
          <a:ln cap="flat">
            <a:noFill/>
            <a:prstDash val="solid"/>
          </a:ln>
        </p:spPr>
        <p:txBody>
          <a:bodyPr vert="horz" wrap="square" lIns="91440" tIns="45720" rIns="91440" bIns="4572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002060"/>
                </a:solidFill>
                <a:uFillTx/>
                <a:latin typeface="Calibri" pitchFamily="34"/>
                <a:ea typeface="Calibri" pitchFamily="34"/>
                <a:cs typeface="Calibri" pitchFamily="34"/>
              </a:rPr>
              <a:t>Google ML Kit Face Mesh: 478 </a:t>
            </a:r>
            <a:r>
              <a:rPr lang="en-US" sz="1100" b="0" i="0" u="none" strike="noStrike" kern="1200" cap="none" spc="0" baseline="0" dirty="0" err="1">
                <a:solidFill>
                  <a:srgbClr val="002060"/>
                </a:solidFill>
                <a:uFillTx/>
                <a:latin typeface="Calibri" pitchFamily="34"/>
                <a:ea typeface="Calibri" pitchFamily="34"/>
                <a:cs typeface="Calibri" pitchFamily="34"/>
              </a:rPr>
              <a:t>punktów</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siatki</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twarzy</a:t>
            </a:r>
            <a:r>
              <a:rPr lang="en-US" sz="1100" b="0" i="0" u="none" strike="noStrike" kern="1200" cap="none" spc="0" baseline="0" dirty="0">
                <a:solidFill>
                  <a:srgbClr val="002060"/>
                </a:solidFill>
                <a:uFillTx/>
                <a:latin typeface="Calibri" pitchFamily="34"/>
                <a:ea typeface="Calibri" pitchFamily="34"/>
                <a:cs typeface="Calibri" pitchFamily="34"/>
              </a:rPr>
              <a:t> w </a:t>
            </a:r>
            <a:r>
              <a:rPr lang="en-US" sz="1100" b="0" i="0" u="none" strike="noStrike" kern="1200" cap="none" spc="0" baseline="0" dirty="0" err="1">
                <a:solidFill>
                  <a:srgbClr val="002060"/>
                </a:solidFill>
                <a:uFillTx/>
                <a:latin typeface="Calibri" pitchFamily="34"/>
                <a:ea typeface="Calibri" pitchFamily="34"/>
                <a:cs typeface="Calibri" pitchFamily="34"/>
              </a:rPr>
              <a:t>czasie</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smtClean="0">
                <a:solidFill>
                  <a:srgbClr val="002060"/>
                </a:solidFill>
                <a:uFillTx/>
                <a:latin typeface="Calibri" pitchFamily="34"/>
                <a:ea typeface="Calibri" pitchFamily="34"/>
                <a:cs typeface="Calibri" pitchFamily="34"/>
              </a:rPr>
              <a:t>rzeczywistym</a:t>
            </a:r>
            <a:r>
              <a:rPr lang="pl-PL" sz="1100" dirty="0" smtClean="0">
                <a:solidFill>
                  <a:srgbClr val="002060"/>
                </a:solidFill>
                <a:latin typeface="Calibri" pitchFamily="34"/>
                <a:ea typeface="Calibri" pitchFamily="34"/>
                <a:cs typeface="Calibri" pitchFamily="34"/>
              </a:rPr>
              <a:t>,</a:t>
            </a:r>
            <a:r>
              <a:rPr lang="en-US" sz="1100" b="0" i="0" u="none" strike="noStrike" kern="1200" cap="none" spc="0" baseline="0" dirty="0" smtClean="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wykrywa</a:t>
            </a:r>
            <a:r>
              <a:rPr lang="en-US" sz="1100" b="0" i="0" u="none" strike="noStrike" kern="1200" cap="none" spc="0" baseline="0" dirty="0">
                <a:solidFill>
                  <a:srgbClr val="002060"/>
                </a:solidFill>
                <a:uFillTx/>
                <a:latin typeface="Calibri" pitchFamily="34"/>
                <a:ea typeface="Calibri" pitchFamily="34"/>
                <a:cs typeface="Calibri" pitchFamily="34"/>
              </a:rPr>
              <a:t> </a:t>
            </a:r>
            <a:r>
              <a:rPr lang="pl-PL" sz="1100" b="0" i="0" u="none" strike="noStrike" kern="1200" cap="none" spc="0" baseline="0" dirty="0" smtClean="0">
                <a:solidFill>
                  <a:srgbClr val="002060"/>
                </a:solidFill>
                <a:uFillTx/>
                <a:latin typeface="Calibri" pitchFamily="34"/>
                <a:ea typeface="Calibri" pitchFamily="34"/>
                <a:cs typeface="Calibri" pitchFamily="34"/>
              </a:rPr>
              <a:t>mruganie</a:t>
            </a:r>
            <a:r>
              <a:rPr lang="en-US" sz="1100" b="0" i="0" u="none" strike="noStrike" kern="1200" cap="none" spc="0" baseline="0" dirty="0" smtClean="0">
                <a:solidFill>
                  <a:srgbClr val="002060"/>
                </a:solidFill>
                <a:uFillTx/>
                <a:latin typeface="Calibri" pitchFamily="34"/>
                <a:ea typeface="Calibri" pitchFamily="34"/>
                <a:cs typeface="Calibri" pitchFamily="34"/>
              </a:rPr>
              <a:t>, </a:t>
            </a:r>
            <a:r>
              <a:rPr lang="en-US" sz="1100" b="0" i="0" u="none" strike="noStrike" kern="1200" cap="none" spc="0" baseline="0" dirty="0">
                <a:solidFill>
                  <a:srgbClr val="002060"/>
                </a:solidFill>
                <a:uFillTx/>
                <a:latin typeface="Calibri" pitchFamily="34"/>
                <a:ea typeface="Calibri" pitchFamily="34"/>
                <a:cs typeface="Calibri" pitchFamily="34"/>
              </a:rPr>
              <a:t>Smiling, Left/</a:t>
            </a:r>
            <a:r>
              <a:rPr lang="en-US" sz="1100" b="0" i="0" u="none" strike="noStrike" kern="1200" cap="none" spc="0" baseline="0" dirty="0" err="1">
                <a:solidFill>
                  <a:srgbClr val="002060"/>
                </a:solidFill>
                <a:uFillTx/>
                <a:latin typeface="Calibri" pitchFamily="34"/>
                <a:ea typeface="Calibri" pitchFamily="34"/>
                <a:cs typeface="Calibri" pitchFamily="34"/>
              </a:rPr>
              <a:t>RightEyeOpen</a:t>
            </a:r>
            <a:r>
              <a:rPr lang="en-US" sz="1100" b="0" i="0" u="none" strike="noStrike" kern="1200" cap="none" spc="0" baseline="0" dirty="0">
                <a:solidFill>
                  <a:srgbClr val="002060"/>
                </a:solidFill>
                <a:uFillTx/>
                <a:latin typeface="Calibri" pitchFamily="34"/>
                <a:ea typeface="Calibri" pitchFamily="34"/>
                <a:cs typeface="Calibri" pitchFamily="34"/>
              </a:rPr>
              <a:t> probability bez AU. </a:t>
            </a:r>
            <a:r>
              <a:rPr lang="en-US" sz="1100" b="0" i="0" u="none" strike="noStrike" kern="1200" cap="none" spc="0" baseline="0" dirty="0" err="1">
                <a:solidFill>
                  <a:srgbClr val="002060"/>
                </a:solidFill>
                <a:uFillTx/>
                <a:latin typeface="Calibri" pitchFamily="34"/>
                <a:ea typeface="Calibri" pitchFamily="34"/>
                <a:cs typeface="Calibri" pitchFamily="34"/>
              </a:rPr>
              <a:t>ARKit</a:t>
            </a:r>
            <a:r>
              <a:rPr lang="en-US" sz="1100" b="0" i="0" u="none" strike="noStrike" kern="1200" cap="none" spc="0" baseline="0" dirty="0">
                <a:solidFill>
                  <a:srgbClr val="002060"/>
                </a:solidFill>
                <a:uFillTx/>
                <a:latin typeface="Calibri" pitchFamily="34"/>
                <a:ea typeface="Calibri" pitchFamily="34"/>
                <a:cs typeface="Calibri" pitchFamily="34"/>
              </a:rPr>
              <a:t> </a:t>
            </a:r>
            <a:r>
              <a:rPr lang="en-US" sz="1100" b="0" i="0" u="none" strike="noStrike" kern="1200" cap="none" spc="0" baseline="0" dirty="0" err="1">
                <a:solidFill>
                  <a:srgbClr val="002060"/>
                </a:solidFill>
                <a:uFillTx/>
                <a:latin typeface="Calibri" pitchFamily="34"/>
                <a:ea typeface="Calibri" pitchFamily="34"/>
                <a:cs typeface="Calibri" pitchFamily="34"/>
              </a:rPr>
              <a:t>ARFaceAnchor</a:t>
            </a:r>
            <a:r>
              <a:rPr lang="en-US" sz="1100" b="0" i="0" u="none" strike="noStrike" kern="1200" cap="none" spc="0" baseline="0" dirty="0">
                <a:solidFill>
                  <a:srgbClr val="002060"/>
                </a:solidFill>
                <a:uFillTx/>
                <a:latin typeface="Calibri" pitchFamily="34"/>
                <a:ea typeface="Calibri" pitchFamily="34"/>
                <a:cs typeface="Calibri" pitchFamily="34"/>
              </a:rPr>
              <a:t>: 52 </a:t>
            </a:r>
            <a:r>
              <a:rPr lang="en-US" sz="1100" b="0" i="0" u="none" strike="noStrike" kern="1200" cap="none" spc="0" baseline="0" dirty="0" err="1">
                <a:solidFill>
                  <a:srgbClr val="002060"/>
                </a:solidFill>
                <a:uFillTx/>
                <a:latin typeface="Calibri" pitchFamily="34"/>
                <a:ea typeface="Calibri" pitchFamily="34"/>
                <a:cs typeface="Calibri" pitchFamily="34"/>
              </a:rPr>
              <a:t>blendshapes</a:t>
            </a:r>
            <a:r>
              <a:rPr lang="en-US" sz="1100" b="0" i="0" u="none" strike="noStrike" kern="1200" cap="none" spc="0" baseline="0" dirty="0">
                <a:solidFill>
                  <a:srgbClr val="002060"/>
                </a:solidFill>
                <a:uFillTx/>
                <a:latin typeface="Calibri" pitchFamily="34"/>
                <a:ea typeface="Calibri" pitchFamily="34"/>
                <a:cs typeface="Calibri" pitchFamily="34"/>
              </a:rPr>
              <a:t> ≈ 52 AU-like coefficients.</a:t>
            </a:r>
            <a:endParaRPr lang="en-US" sz="1100" b="0" i="0" u="none" strike="noStrike" kern="1200" cap="none" spc="0" baseline="0" dirty="0">
              <a:solidFill>
                <a:srgbClr val="002060"/>
              </a:solidFill>
              <a:uFillTx/>
              <a:latin typeface="Calibri"/>
            </a:endParaRPr>
          </a:p>
        </p:txBody>
      </p:sp>
      <p:sp>
        <p:nvSpPr>
          <p:cNvPr id="88"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7</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9FF"/>
        </a:solidFill>
        <a:effectLst/>
      </p:bgPr>
    </p:bg>
    <p:spTree>
      <p:nvGrpSpPr>
        <p:cNvPr id="1" name=""/>
        <p:cNvGrpSpPr/>
        <p:nvPr/>
      </p:nvGrpSpPr>
      <p:grpSpPr>
        <a:xfrm>
          <a:off x="0" y="0"/>
          <a:ext cx="0" cy="0"/>
          <a:chOff x="0" y="0"/>
          <a:chExt cx="0" cy="0"/>
        </a:xfrm>
      </p:grpSpPr>
      <p:grpSp>
        <p:nvGrpSpPr>
          <p:cNvPr id="37" name="Grupa 36"/>
          <p:cNvGrpSpPr/>
          <p:nvPr/>
        </p:nvGrpSpPr>
        <p:grpSpPr>
          <a:xfrm>
            <a:off x="0" y="0"/>
            <a:ext cx="9144000" cy="558000"/>
            <a:chOff x="0" y="0"/>
            <a:chExt cx="9144000" cy="558000"/>
          </a:xfrm>
        </p:grpSpPr>
        <p:sp>
          <p:nvSpPr>
            <p:cNvPr id="38"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a:ea typeface="Cambria"/>
                <a:cs typeface="Cambria" pitchFamily="34"/>
              </a:rPr>
              <a:t>Rozpoznawanie</a:t>
            </a:r>
            <a:r>
              <a:rPr lang="en-US" sz="2000" b="1" i="0" u="none" strike="noStrike" kern="1200" cap="none" spc="0" baseline="0" dirty="0">
                <a:solidFill>
                  <a:srgbClr val="FFFFFF"/>
                </a:solidFill>
                <a:uFillTx/>
                <a:latin typeface="Cambria"/>
                <a:ea typeface="Cambria"/>
                <a:cs typeface="Cambria" pitchFamily="34"/>
              </a:rPr>
              <a:t> </a:t>
            </a:r>
            <a:r>
              <a:rPr lang="en-US" sz="2000" b="1" i="0" u="none" strike="noStrike" kern="0" cap="none" spc="0" baseline="0" dirty="0" err="1" smtClean="0">
                <a:solidFill>
                  <a:srgbClr val="FFFFFF"/>
                </a:solidFill>
                <a:uFillTx/>
                <a:latin typeface="Cambria"/>
                <a:ea typeface="Cambria"/>
                <a:cs typeface="Cambria" pitchFamily="34"/>
              </a:rPr>
              <a:t>mimiki</a:t>
            </a:r>
            <a:r>
              <a:rPr lang="pl-PL" sz="2000" b="1" dirty="0" smtClean="0">
                <a:solidFill>
                  <a:srgbClr val="FFFFFF"/>
                </a:solidFill>
                <a:latin typeface="Cambria"/>
                <a:ea typeface="Cambria"/>
                <a:cs typeface="Cambria" pitchFamily="34"/>
              </a:rPr>
              <a:t>,</a:t>
            </a:r>
            <a:r>
              <a:rPr lang="en-US" sz="2000" b="1" i="0" u="none" strike="noStrike" kern="1200" cap="none" spc="0" baseline="0" dirty="0" smtClean="0">
                <a:solidFill>
                  <a:srgbClr val="FFFFFF"/>
                </a:solidFill>
                <a:uFillTx/>
                <a:latin typeface="Cambria"/>
                <a:ea typeface="Cambria"/>
                <a:cs typeface="Cambria" pitchFamily="34"/>
              </a:rPr>
              <a:t> </a:t>
            </a:r>
            <a:r>
              <a:rPr lang="pl-PL" sz="2000" b="1" kern="0" dirty="0" err="1" smtClean="0">
                <a:solidFill>
                  <a:srgbClr val="FFFFFF"/>
                </a:solidFill>
                <a:latin typeface="Cambria"/>
                <a:ea typeface="Cambria"/>
                <a:cs typeface="Cambria" pitchFamily="34"/>
              </a:rPr>
              <a:t>p</a:t>
            </a:r>
            <a:r>
              <a:rPr lang="en-US" sz="2000" b="1" i="0" u="none" strike="noStrike" kern="0" cap="none" spc="0" baseline="0" dirty="0" err="1" smtClean="0">
                <a:solidFill>
                  <a:srgbClr val="FFFFFF"/>
                </a:solidFill>
                <a:uFillTx/>
                <a:latin typeface="Cambria"/>
                <a:ea typeface="Cambria"/>
                <a:cs typeface="Cambria" pitchFamily="34"/>
              </a:rPr>
              <a:t>raktyczna</a:t>
            </a:r>
            <a:r>
              <a:rPr lang="en-US" sz="2000" b="1" i="0" u="none" strike="noStrike" kern="1200" cap="none" spc="0" baseline="0" dirty="0" smtClean="0">
                <a:solidFill>
                  <a:srgbClr val="FFFFFF"/>
                </a:solidFill>
                <a:uFillTx/>
                <a:latin typeface="Cambria"/>
                <a:ea typeface="Cambria"/>
                <a:cs typeface="Cambria" pitchFamily="34"/>
              </a:rPr>
              <a:t> </a:t>
            </a:r>
            <a:r>
              <a:rPr lang="en-US" sz="2000" b="1" i="0" u="none" strike="noStrike" kern="0" cap="none" spc="0" baseline="0" dirty="0" err="1">
                <a:solidFill>
                  <a:srgbClr val="FFFFFF"/>
                </a:solidFill>
                <a:uFillTx/>
                <a:latin typeface="Cambria"/>
                <a:ea typeface="Cambria"/>
                <a:cs typeface="Cambria" pitchFamily="34"/>
              </a:rPr>
              <a:t>implementacja</a:t>
            </a:r>
            <a:r>
              <a:rPr lang="en-US" sz="2000" b="1" i="0" u="none" strike="noStrike" kern="1200" cap="none" spc="0" baseline="0" dirty="0">
                <a:solidFill>
                  <a:srgbClr val="FFFFFF"/>
                </a:solidFill>
                <a:uFillTx/>
                <a:latin typeface="Cambria"/>
                <a:ea typeface="Cambria"/>
                <a:cs typeface="Cambria" pitchFamily="34"/>
              </a:rPr>
              <a:t> </a:t>
            </a:r>
            <a:r>
              <a:rPr lang="en-US" sz="2000" b="1" i="0" u="none" strike="noStrike" kern="1200" cap="none" spc="0" baseline="0" dirty="0" err="1">
                <a:solidFill>
                  <a:srgbClr val="FFFFFF"/>
                </a:solidFill>
                <a:uFillTx/>
                <a:latin typeface="Cambria"/>
                <a:ea typeface="Cambria"/>
                <a:cs typeface="Cambria" pitchFamily="34"/>
              </a:rPr>
              <a:t>na</a:t>
            </a:r>
            <a:r>
              <a:rPr lang="en-US" sz="2000" b="1" i="0" u="none" strike="noStrike" kern="1200" cap="none" spc="0" baseline="0" dirty="0">
                <a:solidFill>
                  <a:srgbClr val="FFFFFF"/>
                </a:solidFill>
                <a:uFillTx/>
                <a:latin typeface="Cambria"/>
                <a:ea typeface="Cambria"/>
                <a:cs typeface="Cambria" pitchFamily="34"/>
              </a:rPr>
              <a:t> </a:t>
            </a:r>
            <a:r>
              <a:rPr lang="en-US" sz="2000" b="1" i="0" u="none" strike="noStrike" kern="0" cap="none" spc="0" baseline="0" dirty="0">
                <a:solidFill>
                  <a:srgbClr val="FFFFFF"/>
                </a:solidFill>
                <a:uFillTx/>
                <a:latin typeface="Cambria"/>
                <a:ea typeface="Cambria"/>
                <a:cs typeface="Cambria" pitchFamily="34"/>
              </a:rPr>
              <a:t>mobile</a:t>
            </a:r>
            <a:endParaRPr lang="en-US" sz="2000" b="0" i="0" u="none" strike="noStrike" kern="1200" cap="none" spc="0" baseline="0" dirty="0">
              <a:solidFill>
                <a:srgbClr val="000000"/>
              </a:solidFill>
              <a:uFillTx/>
              <a:latin typeface="Cambria"/>
              <a:ea typeface="Cambria"/>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4168140" y="658584"/>
            <a:ext cx="4655820" cy="797196"/>
          </a:xfrm>
          <a:prstGeom prst="rect">
            <a:avLst/>
          </a:prstGeom>
          <a:noFill/>
          <a:ln cap="flat">
            <a:noFill/>
            <a:prstDash val="solid"/>
          </a:ln>
        </p:spPr>
        <p:txBody>
          <a:bodyPr vert="horz" wrap="square" lIns="91440" tIns="45720" rIns="91440" bIns="45720" anchor="ctr" anchorCtr="1" compatLnSpc="1">
            <a:noAutofit/>
          </a:bodyPr>
          <a:lstStyle/>
          <a:p>
            <a:pPr lvl="0" algn="ctr">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Przykład</a:t>
            </a:r>
            <a:r>
              <a:rPr lang="en-US" sz="1600" b="0" i="0" u="none" strike="noStrike" kern="1200" cap="none" spc="0" baseline="0" dirty="0">
                <a:solidFill>
                  <a:srgbClr val="111931"/>
                </a:solidFill>
                <a:uFillTx/>
                <a:latin typeface="Calibri" pitchFamily="34"/>
                <a:ea typeface="Calibri" pitchFamily="34"/>
                <a:cs typeface="Calibri" pitchFamily="34"/>
              </a:rPr>
              <a:t>: ML Kit Face Detection + Custom </a:t>
            </a:r>
            <a:r>
              <a:rPr lang="en-US" sz="1600" b="0" i="0" u="none" strike="noStrike" kern="1200" cap="none" spc="0" baseline="0" dirty="0" err="1">
                <a:solidFill>
                  <a:srgbClr val="111931"/>
                </a:solidFill>
                <a:uFillTx/>
                <a:latin typeface="Calibri" pitchFamily="34"/>
                <a:ea typeface="Calibri" pitchFamily="34"/>
                <a:cs typeface="Calibri" pitchFamily="34"/>
              </a:rPr>
              <a:t>TFLite</a:t>
            </a:r>
            <a:r>
              <a:rPr lang="en-US" sz="1600" b="0" i="0" u="none" strike="noStrike" kern="1200" cap="none" spc="0" baseline="0" dirty="0">
                <a:solidFill>
                  <a:srgbClr val="111931"/>
                </a:solidFill>
                <a:uFillTx/>
                <a:latin typeface="Calibri" pitchFamily="34"/>
                <a:ea typeface="Calibri" pitchFamily="34"/>
                <a:cs typeface="Calibri" pitchFamily="34"/>
              </a:rPr>
              <a:t> expression </a:t>
            </a:r>
            <a:r>
              <a:rPr lang="en-US" sz="1600" b="0" i="0" u="none" strike="noStrike" kern="1200" cap="none" spc="0" baseline="0" dirty="0" smtClean="0">
                <a:solidFill>
                  <a:srgbClr val="111931"/>
                </a:solidFill>
                <a:uFillTx/>
                <a:latin typeface="Calibri" pitchFamily="34"/>
                <a:ea typeface="Calibri" pitchFamily="34"/>
                <a:cs typeface="Calibri" pitchFamily="34"/>
              </a:rPr>
              <a:t>classifier</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analiza</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dirty="0">
                <a:solidFill>
                  <a:srgbClr val="111931"/>
                </a:solidFill>
                <a:latin typeface="Calibri" pitchFamily="34"/>
                <a:ea typeface="Calibri" pitchFamily="34"/>
                <a:cs typeface="Calibri" pitchFamily="34"/>
              </a:rPr>
              <a:t>real-time </a:t>
            </a:r>
            <a:r>
              <a:rPr lang="pl-PL" sz="1600" dirty="0" smtClean="0">
                <a:solidFill>
                  <a:srgbClr val="111931"/>
                </a:solidFill>
                <a:latin typeface="Calibri" pitchFamily="34"/>
                <a:ea typeface="Calibri" pitchFamily="34"/>
                <a:cs typeface="Calibri" pitchFamily="34"/>
              </a:rPr>
              <a:t/>
            </a:r>
            <a:br>
              <a:rPr lang="pl-PL" sz="1600" dirty="0" smtClean="0">
                <a:solidFill>
                  <a:srgbClr val="111931"/>
                </a:solidFill>
                <a:latin typeface="Calibri" pitchFamily="34"/>
                <a:ea typeface="Calibri" pitchFamily="34"/>
                <a:cs typeface="Calibri" pitchFamily="34"/>
              </a:rPr>
            </a:br>
            <a:r>
              <a:rPr lang="en-US" sz="1600" b="0" i="0" u="none" strike="noStrike" kern="1200" cap="none" spc="0" baseline="0" dirty="0" smtClean="0">
                <a:solidFill>
                  <a:srgbClr val="111931"/>
                </a:solidFill>
                <a:uFillTx/>
                <a:latin typeface="Calibri" pitchFamily="34"/>
                <a:ea typeface="Calibri" pitchFamily="34"/>
                <a:cs typeface="Calibri" pitchFamily="34"/>
              </a:rPr>
              <a:t>z </a:t>
            </a:r>
            <a:r>
              <a:rPr lang="en-US" sz="1600" b="0" i="0" u="none" strike="noStrike" kern="1200" cap="none" spc="0" baseline="0" dirty="0" err="1">
                <a:solidFill>
                  <a:srgbClr val="111931"/>
                </a:solidFill>
                <a:uFillTx/>
                <a:latin typeface="Calibri" pitchFamily="34"/>
                <a:ea typeface="Calibri" pitchFamily="34"/>
                <a:cs typeface="Calibri" pitchFamily="34"/>
              </a:rPr>
              <a:t>kamery</a:t>
            </a:r>
            <a:r>
              <a:rPr lang="en-US" sz="1600" b="0" i="0" u="none" strike="noStrike" kern="1200" cap="none" spc="0" baseline="0" dirty="0">
                <a:solidFill>
                  <a:srgbClr val="111931"/>
                </a:solidFill>
                <a:uFillTx/>
                <a:latin typeface="Calibri" pitchFamily="34"/>
                <a:ea typeface="Calibri" pitchFamily="34"/>
                <a:cs typeface="Calibri" pitchFamily="34"/>
              </a:rPr>
              <a:t> selfie </a:t>
            </a:r>
            <a:r>
              <a:rPr lang="en-US" sz="1600" b="0" i="0" u="none" strike="noStrike" kern="1200" cap="none" spc="0" baseline="0" dirty="0" err="1">
                <a:solidFill>
                  <a:srgbClr val="111931"/>
                </a:solidFill>
                <a:uFillTx/>
                <a:latin typeface="Calibri" pitchFamily="34"/>
                <a:ea typeface="Calibri" pitchFamily="34"/>
                <a:cs typeface="Calibri" pitchFamily="34"/>
              </a:rPr>
              <a:t>na</a:t>
            </a:r>
            <a:r>
              <a:rPr lang="en-US" sz="1600" b="0" i="0" u="none" strike="noStrike" kern="1200" cap="none" spc="0" baseline="0" dirty="0">
                <a:solidFill>
                  <a:srgbClr val="111931"/>
                </a:solidFill>
                <a:uFillTx/>
                <a:latin typeface="Calibri" pitchFamily="34"/>
                <a:ea typeface="Calibri" pitchFamily="34"/>
                <a:cs typeface="Calibri" pitchFamily="34"/>
              </a:rPr>
              <a:t> Android/iOS</a:t>
            </a:r>
            <a:endParaRPr lang="en-US" sz="1600" b="0" i="0" u="none" strike="noStrike" kern="1200" cap="none" spc="0" baseline="0" dirty="0">
              <a:solidFill>
                <a:srgbClr val="111931"/>
              </a:solidFill>
              <a:uFillTx/>
              <a:latin typeface="Calibri"/>
            </a:endParaRPr>
          </a:p>
        </p:txBody>
      </p:sp>
      <p:sp>
        <p:nvSpPr>
          <p:cNvPr id="8" name="Text 6"/>
          <p:cNvSpPr/>
          <p:nvPr/>
        </p:nvSpPr>
        <p:spPr>
          <a:xfrm>
            <a:off x="320040" y="602951"/>
            <a:ext cx="345948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smtClean="0">
                <a:solidFill>
                  <a:srgbClr val="1F1535"/>
                </a:solidFill>
                <a:uFillTx/>
                <a:latin typeface="Cambria" pitchFamily="34"/>
                <a:ea typeface="Cambria" pitchFamily="34"/>
                <a:cs typeface="Cambria" pitchFamily="34"/>
              </a:rPr>
              <a:t>Android</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ML Kit + </a:t>
            </a:r>
            <a:r>
              <a:rPr lang="en-US" sz="1100" b="1" i="0" u="none" strike="noStrike" kern="1200" cap="none" spc="0" baseline="0" dirty="0" err="1">
                <a:solidFill>
                  <a:srgbClr val="1F1535"/>
                </a:solidFill>
                <a:uFillTx/>
                <a:latin typeface="Cambria" pitchFamily="34"/>
                <a:ea typeface="Cambria" pitchFamily="34"/>
                <a:cs typeface="Cambria" pitchFamily="34"/>
              </a:rPr>
              <a:t>TFLite</a:t>
            </a:r>
            <a:r>
              <a:rPr lang="en-US" sz="1100" b="1" i="0" u="none" strike="noStrike" kern="1200" cap="none" spc="0" baseline="0" dirty="0">
                <a:solidFill>
                  <a:srgbClr val="1F1535"/>
                </a:solidFill>
                <a:uFillTx/>
                <a:latin typeface="Cambria" pitchFamily="34"/>
                <a:ea typeface="Cambria" pitchFamily="34"/>
                <a:cs typeface="Cambria" pitchFamily="34"/>
              </a:rPr>
              <a:t> Expression </a:t>
            </a:r>
            <a:r>
              <a:rPr lang="en-US" sz="1100" b="1" i="0" u="none" strike="noStrike" kern="1200" cap="none" spc="0" baseline="0" dirty="0" smtClean="0">
                <a:solidFill>
                  <a:srgbClr val="1F1535"/>
                </a:solidFill>
                <a:uFillTx/>
                <a:latin typeface="Cambria" pitchFamily="34"/>
                <a:ea typeface="Cambria" pitchFamily="34"/>
                <a:cs typeface="Cambria" pitchFamily="34"/>
              </a:rPr>
              <a:t>Classifier</a:t>
            </a:r>
            <a:endParaRPr lang="en-US" sz="1100" b="0" i="0" u="none" strike="noStrike" kern="1200" cap="none" spc="0" baseline="0" dirty="0">
              <a:solidFill>
                <a:srgbClr val="000000"/>
              </a:solidFill>
              <a:uFillTx/>
              <a:latin typeface="Calibri"/>
            </a:endParaRPr>
          </a:p>
        </p:txBody>
      </p:sp>
      <p:sp>
        <p:nvSpPr>
          <p:cNvPr id="9" name="Shape 7"/>
          <p:cNvSpPr/>
          <p:nvPr/>
        </p:nvSpPr>
        <p:spPr>
          <a:xfrm>
            <a:off x="320040" y="827881"/>
            <a:ext cx="3459480" cy="2215546"/>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2762250" y="838909"/>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11" name="Text 9"/>
          <p:cNvSpPr/>
          <p:nvPr/>
        </p:nvSpPr>
        <p:spPr>
          <a:xfrm>
            <a:off x="411480" y="899626"/>
            <a:ext cx="3147060" cy="208370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ML Kit face detection + emotion classifier</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faceDetector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FaceDetection.getClient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FaceDetectorOptions.Builder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setPerformanceMode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(PERFORMANCE_MODE_FAST)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setClassificationMode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(CLASSIFICATION_MODE_ALL)</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.build())</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faceDetector.process</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inputImage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addOnSuccessListener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faces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faces.firstOrNull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()?.let { face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smiling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face.smilingProbability</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0f</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leftEye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face.leftEyeOpenProbability</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0f</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ROI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twarzy</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 classifier</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emotionClassifier.classify</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cropFaceROI</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(bitmap,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face.boundingBox</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updateUI</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 smiling,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leftEye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p:txBody>
      </p:sp>
      <p:sp>
        <p:nvSpPr>
          <p:cNvPr id="12" name="Text 10"/>
          <p:cNvSpPr/>
          <p:nvPr/>
        </p:nvSpPr>
        <p:spPr>
          <a:xfrm>
            <a:off x="320040" y="3052572"/>
            <a:ext cx="335661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smtClean="0">
                <a:solidFill>
                  <a:srgbClr val="1F1535"/>
                </a:solidFill>
                <a:uFillTx/>
                <a:latin typeface="Cambria" pitchFamily="34"/>
                <a:ea typeface="Cambria" pitchFamily="34"/>
                <a:cs typeface="Cambria" pitchFamily="34"/>
              </a:rPr>
              <a:t>iOS</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ARKit</a:t>
            </a:r>
            <a:r>
              <a:rPr lang="en-US" sz="1100" b="1" i="0" u="none" strike="noStrike" kern="1200" cap="none" spc="0" baseline="0" dirty="0">
                <a:solidFill>
                  <a:srgbClr val="1F1535"/>
                </a:solidFill>
                <a:uFillTx/>
                <a:latin typeface="Cambria" pitchFamily="34"/>
                <a:ea typeface="Cambria" pitchFamily="34"/>
                <a:cs typeface="Cambria" pitchFamily="34"/>
              </a:rPr>
              <a:t> Face </a:t>
            </a:r>
            <a:r>
              <a:rPr lang="en-US" sz="1100" b="1" i="0" u="none" strike="noStrike" kern="1200" cap="none" spc="0" baseline="0" dirty="0" smtClean="0">
                <a:solidFill>
                  <a:srgbClr val="1F1535"/>
                </a:solidFill>
                <a:uFillTx/>
                <a:latin typeface="Cambria" pitchFamily="34"/>
                <a:ea typeface="Cambria" pitchFamily="34"/>
                <a:cs typeface="Cambria" pitchFamily="34"/>
              </a:rPr>
              <a:t>Tracking</a:t>
            </a:r>
            <a:endParaRPr lang="en-US" sz="1100" b="0" i="0" u="none" strike="noStrike" kern="1200" cap="none" spc="0" baseline="0" dirty="0">
              <a:solidFill>
                <a:srgbClr val="000000"/>
              </a:solidFill>
              <a:uFillTx/>
              <a:latin typeface="Calibri"/>
            </a:endParaRPr>
          </a:p>
        </p:txBody>
      </p:sp>
      <p:sp>
        <p:nvSpPr>
          <p:cNvPr id="13" name="Shape 11"/>
          <p:cNvSpPr/>
          <p:nvPr/>
        </p:nvSpPr>
        <p:spPr>
          <a:xfrm>
            <a:off x="320040" y="3280151"/>
            <a:ext cx="3459480" cy="1576765"/>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2762250" y="3318767"/>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Swift</a:t>
            </a:r>
          </a:p>
        </p:txBody>
      </p:sp>
      <p:sp>
        <p:nvSpPr>
          <p:cNvPr id="15" name="Text 13"/>
          <p:cNvSpPr/>
          <p:nvPr/>
        </p:nvSpPr>
        <p:spPr>
          <a:xfrm>
            <a:off x="393192" y="3339083"/>
            <a:ext cx="3165348" cy="1331977"/>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ARKit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ARFaceAnchor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52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blendshapes</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func</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renderer(_ renderer: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SCNSceneRenderer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didUpdate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node: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SCNNode</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for anchor: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ARAnchor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guard let face = anchor as?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ARFaceAnchor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else { return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smileL</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face.blendShapes</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mouthSmileLeft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floatValue</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smileR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face.blendShapes</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mouthSmileRight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floatValue</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browD</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face.blendShapes</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browDownLeft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floatValue</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let blink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face.blendShapes</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eyeBlinkLeft</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floatValue</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Brak</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dostępu</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do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personalnych</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danych</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poza</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urządzeniem</a:t>
            </a:r>
            <a:endPar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let emotion =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classifyEmotion</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(smile: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smileL+smileR</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)/2,</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browDown</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browD</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blink: blink)</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updateAffectiveUI</a:t>
            </a: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1">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16" name="Text 14"/>
          <p:cNvSpPr/>
          <p:nvPr/>
        </p:nvSpPr>
        <p:spPr>
          <a:xfrm>
            <a:off x="4213860" y="1664496"/>
            <a:ext cx="461010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Praktyczne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przykłady</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aplikacji</a:t>
            </a:r>
            <a:endParaRPr lang="en-US" sz="1200" b="0" i="0" u="none" strike="noStrike" kern="1200" cap="none" spc="0" baseline="0" dirty="0">
              <a:solidFill>
                <a:srgbClr val="000000"/>
              </a:solidFill>
              <a:uFillTx/>
              <a:latin typeface="Calibri"/>
            </a:endParaRPr>
          </a:p>
        </p:txBody>
      </p:sp>
      <p:grpSp>
        <p:nvGrpSpPr>
          <p:cNvPr id="46" name="Grupa 45"/>
          <p:cNvGrpSpPr/>
          <p:nvPr/>
        </p:nvGrpSpPr>
        <p:grpSpPr>
          <a:xfrm>
            <a:off x="4236720" y="1920240"/>
            <a:ext cx="4632960" cy="2936676"/>
            <a:chOff x="4236720" y="1726002"/>
            <a:chExt cx="4632960" cy="3130914"/>
          </a:xfrm>
        </p:grpSpPr>
        <p:grpSp>
          <p:nvGrpSpPr>
            <p:cNvPr id="45" name="Grupa 44"/>
            <p:cNvGrpSpPr/>
            <p:nvPr/>
          </p:nvGrpSpPr>
          <p:grpSpPr>
            <a:xfrm>
              <a:off x="4236720" y="1726002"/>
              <a:ext cx="4632960" cy="576000"/>
              <a:chOff x="4663440" y="1443228"/>
              <a:chExt cx="4206240" cy="576000"/>
            </a:xfrm>
          </p:grpSpPr>
          <p:sp>
            <p:nvSpPr>
              <p:cNvPr id="17" name="Shape 15"/>
              <p:cNvSpPr/>
              <p:nvPr/>
            </p:nvSpPr>
            <p:spPr>
              <a:xfrm>
                <a:off x="4663440" y="144322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4663440" y="144322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791456" y="145389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Affectiva AFFDEX SDK</a:t>
                </a:r>
                <a:endParaRPr lang="en-US" sz="1150" b="0" i="0" u="none" strike="noStrike" kern="1200" cap="none" spc="0" baseline="0">
                  <a:solidFill>
                    <a:srgbClr val="000000"/>
                  </a:solidFill>
                  <a:uFillTx/>
                  <a:latin typeface="Calibri"/>
                </a:endParaRPr>
              </a:p>
            </p:txBody>
          </p:sp>
          <p:sp>
            <p:nvSpPr>
              <p:cNvPr id="20" name="Text 18"/>
              <p:cNvSpPr/>
              <p:nvPr/>
            </p:nvSpPr>
            <p:spPr>
              <a:xfrm>
                <a:off x="4791456" y="1719072"/>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111931"/>
                    </a:solidFill>
                    <a:uFillTx/>
                    <a:latin typeface="Calibri" pitchFamily="34"/>
                    <a:ea typeface="Calibri" pitchFamily="34"/>
                    <a:cs typeface="Calibri" pitchFamily="34"/>
                  </a:rPr>
                  <a:t>B2B SDK — </a:t>
                </a:r>
                <a:r>
                  <a:rPr lang="en-US" sz="1050" b="0" i="0" u="none" strike="noStrike" kern="1200" cap="none" spc="0" baseline="0" dirty="0" err="1">
                    <a:solidFill>
                      <a:srgbClr val="111931"/>
                    </a:solidFill>
                    <a:uFillTx/>
                    <a:latin typeface="Calibri" pitchFamily="34"/>
                    <a:ea typeface="Calibri" pitchFamily="34"/>
                    <a:cs typeface="Calibri" pitchFamily="34"/>
                  </a:rPr>
                  <a:t>analiza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emocji</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widzów</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reklam</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wideo</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Używany</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przez</a:t>
                </a:r>
                <a:r>
                  <a:rPr lang="en-US" sz="1050" b="0" i="0" u="none" strike="noStrike" kern="1200" cap="none" spc="0" baseline="0" dirty="0">
                    <a:solidFill>
                      <a:srgbClr val="111931"/>
                    </a:solidFill>
                    <a:uFillTx/>
                    <a:latin typeface="Calibri" pitchFamily="34"/>
                    <a:ea typeface="Calibri" pitchFamily="34"/>
                    <a:cs typeface="Calibri" pitchFamily="34"/>
                  </a:rPr>
                  <a:t> P&amp;G, Unilever. </a:t>
                </a:r>
                <a:r>
                  <a:rPr lang="pl-PL" sz="1050" b="0" i="0" u="none" strike="noStrike" kern="1200" cap="none" spc="0" baseline="0" dirty="0" smtClean="0">
                    <a:solidFill>
                      <a:srgbClr val="111931"/>
                    </a:solidFill>
                    <a:uFillTx/>
                    <a:latin typeface="Calibri" pitchFamily="34"/>
                    <a:ea typeface="Calibri" pitchFamily="34"/>
                    <a:cs typeface="Calibri" pitchFamily="34"/>
                  </a:rPr>
                  <a:t/>
                </a:r>
                <a:br>
                  <a:rPr lang="pl-PL" sz="1050" b="0" i="0" u="none" strike="noStrike" kern="1200" cap="none" spc="0" baseline="0" dirty="0" smtClean="0">
                    <a:solidFill>
                      <a:srgbClr val="111931"/>
                    </a:solidFill>
                    <a:uFillTx/>
                    <a:latin typeface="Calibri" pitchFamily="34"/>
                    <a:ea typeface="Calibri" pitchFamily="34"/>
                    <a:cs typeface="Calibri" pitchFamily="34"/>
                  </a:rPr>
                </a:br>
                <a:r>
                  <a:rPr lang="en-US" sz="1050" b="0" i="0" u="none" strike="noStrike" kern="1200" cap="none" spc="0" baseline="0" dirty="0" smtClean="0">
                    <a:solidFill>
                      <a:srgbClr val="111931"/>
                    </a:solidFill>
                    <a:uFillTx/>
                    <a:latin typeface="Calibri" pitchFamily="34"/>
                    <a:ea typeface="Calibri" pitchFamily="34"/>
                    <a:cs typeface="Calibri" pitchFamily="34"/>
                  </a:rPr>
                  <a:t>7 </a:t>
                </a:r>
                <a:r>
                  <a:rPr lang="en-US" sz="1050" b="0" i="0" u="none" strike="noStrike" kern="1200" cap="none" spc="0" baseline="0" dirty="0" err="1">
                    <a:solidFill>
                      <a:srgbClr val="111931"/>
                    </a:solidFill>
                    <a:uFillTx/>
                    <a:latin typeface="Calibri" pitchFamily="34"/>
                    <a:ea typeface="Calibri" pitchFamily="34"/>
                    <a:cs typeface="Calibri" pitchFamily="34"/>
                  </a:rPr>
                  <a:t>emocji</a:t>
                </a:r>
                <a:r>
                  <a:rPr lang="en-US" sz="1050" b="0" i="0" u="none" strike="noStrike" kern="1200" cap="none" spc="0" baseline="0" dirty="0">
                    <a:solidFill>
                      <a:srgbClr val="111931"/>
                    </a:solidFill>
                    <a:uFillTx/>
                    <a:latin typeface="Calibri" pitchFamily="34"/>
                    <a:ea typeface="Calibri" pitchFamily="34"/>
                    <a:cs typeface="Calibri" pitchFamily="34"/>
                  </a:rPr>
                  <a:t> + 20 AU + valence/attention.</a:t>
                </a:r>
                <a:endParaRPr lang="en-US" sz="1050" b="0" i="0" u="none" strike="noStrike" kern="1200" cap="none" spc="0" baseline="0" dirty="0">
                  <a:solidFill>
                    <a:srgbClr val="111931"/>
                  </a:solidFill>
                  <a:uFillTx/>
                  <a:latin typeface="Calibri"/>
                </a:endParaRPr>
              </a:p>
            </p:txBody>
          </p:sp>
        </p:grpSp>
        <p:grpSp>
          <p:nvGrpSpPr>
            <p:cNvPr id="44" name="Grupa 43"/>
            <p:cNvGrpSpPr/>
            <p:nvPr/>
          </p:nvGrpSpPr>
          <p:grpSpPr>
            <a:xfrm>
              <a:off x="4236720" y="2334767"/>
              <a:ext cx="4632960" cy="595813"/>
              <a:chOff x="4663440" y="2167127"/>
              <a:chExt cx="4206240" cy="595813"/>
            </a:xfrm>
          </p:grpSpPr>
          <p:grpSp>
            <p:nvGrpSpPr>
              <p:cNvPr id="43" name="Grupa 42"/>
              <p:cNvGrpSpPr/>
              <p:nvPr/>
            </p:nvGrpSpPr>
            <p:grpSpPr>
              <a:xfrm>
                <a:off x="4663440" y="2186940"/>
                <a:ext cx="4206240" cy="576000"/>
                <a:chOff x="4663440" y="2186940"/>
                <a:chExt cx="4206240" cy="576000"/>
              </a:xfrm>
            </p:grpSpPr>
            <p:sp>
              <p:nvSpPr>
                <p:cNvPr id="21" name="Shape 19"/>
                <p:cNvSpPr/>
                <p:nvPr/>
              </p:nvSpPr>
              <p:spPr>
                <a:xfrm>
                  <a:off x="4663440" y="2186940"/>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4663440" y="2186940"/>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3" name="Text 21"/>
              <p:cNvSpPr/>
              <p:nvPr/>
            </p:nvSpPr>
            <p:spPr>
              <a:xfrm>
                <a:off x="4791456" y="2167127"/>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Realeyes</a:t>
                </a:r>
                <a:endParaRPr lang="en-US" sz="1150" b="0" i="0" u="none" strike="noStrike" kern="1200" cap="none" spc="0" baseline="0">
                  <a:solidFill>
                    <a:srgbClr val="000000"/>
                  </a:solidFill>
                  <a:uFillTx/>
                  <a:latin typeface="Calibri"/>
                </a:endParaRPr>
              </a:p>
            </p:txBody>
          </p:sp>
          <p:sp>
            <p:nvSpPr>
              <p:cNvPr id="24" name="Text 22"/>
              <p:cNvSpPr/>
              <p:nvPr/>
            </p:nvSpPr>
            <p:spPr>
              <a:xfrm>
                <a:off x="4791456" y="2432304"/>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111931"/>
                    </a:solidFill>
                    <a:uFillTx/>
                    <a:latin typeface="Calibri" pitchFamily="34"/>
                    <a:ea typeface="Calibri" pitchFamily="34"/>
                    <a:cs typeface="Calibri" pitchFamily="34"/>
                  </a:rPr>
                  <a:t>Player </a:t>
                </a:r>
                <a:r>
                  <a:rPr lang="en-US" sz="1050" b="0" i="0" u="none" strike="noStrike" kern="1200" cap="none" spc="0" baseline="0" dirty="0" err="1">
                    <a:solidFill>
                      <a:srgbClr val="111931"/>
                    </a:solidFill>
                    <a:uFillTx/>
                    <a:latin typeface="Calibri" pitchFamily="34"/>
                    <a:ea typeface="Calibri" pitchFamily="34"/>
                    <a:cs typeface="Calibri" pitchFamily="34"/>
                  </a:rPr>
                  <a:t>ogląda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wideo</a:t>
                </a:r>
                <a:r>
                  <a:rPr lang="en-US" sz="1050" b="0" i="0" u="none" strike="noStrike" kern="1200" cap="none" spc="0" baseline="0" dirty="0">
                    <a:solidFill>
                      <a:srgbClr val="111931"/>
                    </a:solidFill>
                    <a:uFillTx/>
                    <a:latin typeface="Calibri" pitchFamily="34"/>
                    <a:ea typeface="Calibri" pitchFamily="34"/>
                    <a:cs typeface="Calibri" pitchFamily="34"/>
                  </a:rPr>
                  <a:t> → </a:t>
                </a:r>
                <a:r>
                  <a:rPr lang="en-US" sz="1050" b="0" i="0" u="none" strike="noStrike" kern="1200" cap="none" spc="0" baseline="0" dirty="0" err="1">
                    <a:solidFill>
                      <a:srgbClr val="111931"/>
                    </a:solidFill>
                    <a:uFillTx/>
                    <a:latin typeface="Calibri" pitchFamily="34"/>
                    <a:ea typeface="Calibri" pitchFamily="34"/>
                    <a:cs typeface="Calibri" pitchFamily="34"/>
                  </a:rPr>
                  <a:t>kamera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rejestruje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reakcje</a:t>
                </a:r>
                <a:r>
                  <a:rPr lang="en-US" sz="1050" b="0" i="0" u="none" strike="noStrike" kern="1200" cap="none" spc="0" baseline="0" dirty="0">
                    <a:solidFill>
                      <a:srgbClr val="111931"/>
                    </a:solidFill>
                    <a:uFillTx/>
                    <a:latin typeface="Calibri" pitchFamily="34"/>
                    <a:ea typeface="Calibri" pitchFamily="34"/>
                    <a:cs typeface="Calibri" pitchFamily="34"/>
                  </a:rPr>
                  <a:t> → </a:t>
                </a:r>
                <a:r>
                  <a:rPr lang="en-US" sz="1050" b="0" i="0" u="none" strike="noStrike" kern="1200" cap="none" spc="0" baseline="0" dirty="0" err="1">
                    <a:solidFill>
                      <a:srgbClr val="111931"/>
                    </a:solidFill>
                    <a:uFillTx/>
                    <a:latin typeface="Calibri" pitchFamily="34"/>
                    <a:ea typeface="Calibri" pitchFamily="34"/>
                    <a:cs typeface="Calibri" pitchFamily="34"/>
                  </a:rPr>
                  <a:t>emocje</a:t>
                </a:r>
                <a:r>
                  <a:rPr lang="en-US" sz="1050" b="0" i="0" u="none" strike="noStrike" kern="1200" cap="none" spc="0" baseline="0" dirty="0">
                    <a:solidFill>
                      <a:srgbClr val="111931"/>
                    </a:solidFill>
                    <a:uFillTx/>
                    <a:latin typeface="Calibri" pitchFamily="34"/>
                    <a:ea typeface="Calibri" pitchFamily="34"/>
                    <a:cs typeface="Calibri" pitchFamily="34"/>
                  </a:rPr>
                  <a:t> w </a:t>
                </a:r>
                <a:r>
                  <a:rPr lang="en-US" sz="1050" b="0" i="0" u="none" strike="noStrike" kern="1200" cap="none" spc="0" baseline="0" dirty="0" err="1">
                    <a:solidFill>
                      <a:srgbClr val="111931"/>
                    </a:solidFill>
                    <a:uFillTx/>
                    <a:latin typeface="Calibri" pitchFamily="34"/>
                    <a:ea typeface="Calibri" pitchFamily="34"/>
                    <a:cs typeface="Calibri" pitchFamily="34"/>
                  </a:rPr>
                  <a:t>czasie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rzeczywistym</a:t>
                </a:r>
                <a:r>
                  <a:rPr lang="en-US" sz="1050" b="0" i="0" u="none" strike="noStrike" kern="1200" cap="none" spc="0" baseline="0" dirty="0">
                    <a:solidFill>
                      <a:srgbClr val="111931"/>
                    </a:solidFill>
                    <a:uFillTx/>
                    <a:latin typeface="Calibri" pitchFamily="34"/>
                    <a:ea typeface="Calibri" pitchFamily="34"/>
                    <a:cs typeface="Calibri" pitchFamily="34"/>
                  </a:rPr>
                  <a:t> → </a:t>
                </a:r>
                <a:r>
                  <a:rPr lang="en-US" sz="1050" b="0" i="0" u="none" strike="noStrike" kern="1200" cap="none" spc="0" baseline="0" dirty="0" err="1">
                    <a:solidFill>
                      <a:srgbClr val="111931"/>
                    </a:solidFill>
                    <a:uFillTx/>
                    <a:latin typeface="Calibri" pitchFamily="34"/>
                    <a:ea typeface="Calibri" pitchFamily="34"/>
                    <a:cs typeface="Calibri" pitchFamily="34"/>
                  </a:rPr>
                  <a:t>raport</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dla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marketerów</a:t>
                </a:r>
                <a:r>
                  <a:rPr lang="en-US" sz="1050" b="0" i="0" u="none" strike="noStrike" kern="1200" cap="none" spc="0" baseline="0" dirty="0">
                    <a:solidFill>
                      <a:srgbClr val="111931"/>
                    </a:solidFill>
                    <a:uFillTx/>
                    <a:latin typeface="Calibri" pitchFamily="34"/>
                    <a:ea typeface="Calibri" pitchFamily="34"/>
                    <a:cs typeface="Calibri" pitchFamily="34"/>
                  </a:rPr>
                  <a:t>. GDPR compliant: blur </a:t>
                </a:r>
                <a:r>
                  <a:rPr lang="en-US" sz="1050" b="0" i="0" u="none" strike="noStrike" kern="1200" cap="none" spc="0" baseline="0" dirty="0" err="1">
                    <a:solidFill>
                      <a:srgbClr val="111931"/>
                    </a:solidFill>
                    <a:uFillTx/>
                    <a:latin typeface="Calibri" pitchFamily="34"/>
                    <a:ea typeface="Calibri" pitchFamily="34"/>
                    <a:cs typeface="Calibri" pitchFamily="34"/>
                  </a:rPr>
                  <a:t>twarzy</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po</a:t>
                </a:r>
                <a:r>
                  <a:rPr lang="en-US" sz="1050" b="0" i="0" u="none" strike="noStrike" kern="1200" cap="none" spc="0" baseline="0" dirty="0">
                    <a:solidFill>
                      <a:srgbClr val="111931"/>
                    </a:solidFill>
                    <a:uFillTx/>
                    <a:latin typeface="Calibri" pitchFamily="34"/>
                    <a:ea typeface="Calibri" pitchFamily="34"/>
                    <a:cs typeface="Calibri" pitchFamily="34"/>
                  </a:rPr>
                  <a:t> AU.</a:t>
                </a:r>
                <a:endParaRPr lang="en-US" sz="1050" b="0" i="0" u="none" strike="noStrike" kern="1200" cap="none" spc="0" baseline="0" dirty="0">
                  <a:solidFill>
                    <a:srgbClr val="111931"/>
                  </a:solidFill>
                  <a:uFillTx/>
                  <a:latin typeface="Calibri"/>
                </a:endParaRPr>
              </a:p>
            </p:txBody>
          </p:sp>
        </p:grpSp>
        <p:grpSp>
          <p:nvGrpSpPr>
            <p:cNvPr id="42" name="Grupa 41"/>
            <p:cNvGrpSpPr/>
            <p:nvPr/>
          </p:nvGrpSpPr>
          <p:grpSpPr>
            <a:xfrm>
              <a:off x="4236720" y="2991612"/>
              <a:ext cx="4632960" cy="576000"/>
              <a:chOff x="4663440" y="2862072"/>
              <a:chExt cx="4206240" cy="576000"/>
            </a:xfrm>
          </p:grpSpPr>
          <p:sp>
            <p:nvSpPr>
              <p:cNvPr id="25" name="Shape 23"/>
              <p:cNvSpPr/>
              <p:nvPr/>
            </p:nvSpPr>
            <p:spPr>
              <a:xfrm>
                <a:off x="4663440" y="2862072"/>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4663440" y="2862072"/>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791456" y="287274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iMotions</a:t>
                </a:r>
                <a:r>
                  <a:rPr lang="en-US" sz="1150" b="1" i="0" u="none" strike="noStrike" kern="1200" cap="none" spc="0" baseline="0" dirty="0">
                    <a:solidFill>
                      <a:srgbClr val="1F1535"/>
                    </a:solidFill>
                    <a:uFillTx/>
                    <a:latin typeface="Cambria" pitchFamily="34"/>
                    <a:ea typeface="Cambria" pitchFamily="34"/>
                    <a:cs typeface="Cambria" pitchFamily="34"/>
                  </a:rPr>
                  <a:t> Mobile</a:t>
                </a:r>
                <a:endParaRPr lang="en-US" sz="1150" b="0" i="0" u="none" strike="noStrike" kern="1200" cap="none" spc="0" baseline="0" dirty="0">
                  <a:solidFill>
                    <a:srgbClr val="000000"/>
                  </a:solidFill>
                  <a:uFillTx/>
                  <a:latin typeface="Calibri"/>
                </a:endParaRPr>
              </a:p>
            </p:txBody>
          </p:sp>
          <p:sp>
            <p:nvSpPr>
              <p:cNvPr id="28" name="Text 26"/>
              <p:cNvSpPr/>
              <p:nvPr/>
            </p:nvSpPr>
            <p:spPr>
              <a:xfrm>
                <a:off x="4791456" y="314553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Platforma naukowa: face + EDA + eye tracking na iPadzie. Badania UX, consumer research. Akademickie użycie.</a:t>
                </a:r>
                <a:endParaRPr lang="en-US" sz="1050" b="0" i="0" u="none" strike="noStrike" kern="1200" cap="none" spc="0" baseline="0">
                  <a:solidFill>
                    <a:srgbClr val="111931"/>
                  </a:solidFill>
                  <a:uFillTx/>
                  <a:latin typeface="Calibri"/>
                </a:endParaRPr>
              </a:p>
            </p:txBody>
          </p:sp>
        </p:grpSp>
        <p:grpSp>
          <p:nvGrpSpPr>
            <p:cNvPr id="41" name="Grupa 40"/>
            <p:cNvGrpSpPr/>
            <p:nvPr/>
          </p:nvGrpSpPr>
          <p:grpSpPr>
            <a:xfrm>
              <a:off x="4236720" y="3628644"/>
              <a:ext cx="4632960" cy="576000"/>
              <a:chOff x="4663440" y="3575304"/>
              <a:chExt cx="4206240" cy="576000"/>
            </a:xfrm>
          </p:grpSpPr>
          <p:sp>
            <p:nvSpPr>
              <p:cNvPr id="29" name="Shape 27"/>
              <p:cNvSpPr/>
              <p:nvPr/>
            </p:nvSpPr>
            <p:spPr>
              <a:xfrm>
                <a:off x="4663440" y="3575304"/>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Shape 28"/>
              <p:cNvSpPr/>
              <p:nvPr/>
            </p:nvSpPr>
            <p:spPr>
              <a:xfrm>
                <a:off x="4663440" y="3575304"/>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4791456" y="3578351"/>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Snap Lenses (</a:t>
                </a:r>
                <a:r>
                  <a:rPr lang="en-US" sz="1150" b="1" i="0" u="none" strike="noStrike" kern="1200" cap="none" spc="0" baseline="0" dirty="0" err="1">
                    <a:solidFill>
                      <a:srgbClr val="1F1535"/>
                    </a:solidFill>
                    <a:uFillTx/>
                    <a:latin typeface="Cambria" pitchFamily="34"/>
                    <a:ea typeface="Cambria" pitchFamily="34"/>
                    <a:cs typeface="Cambria" pitchFamily="34"/>
                  </a:rPr>
                  <a:t>dynamiczne</a:t>
                </a:r>
                <a:r>
                  <a:rPr lang="en-US" sz="1150" b="1" i="0" u="none" strike="noStrike" kern="1200" cap="none" spc="0" baseline="0" dirty="0">
                    <a:solidFill>
                      <a:srgbClr val="1F1535"/>
                    </a:solidFill>
                    <a:uFillTx/>
                    <a:latin typeface="Cambria" pitchFamily="34"/>
                    <a:ea typeface="Cambria" pitchFamily="34"/>
                    <a:cs typeface="Cambria" pitchFamily="34"/>
                  </a:rPr>
                  <a:t>)</a:t>
                </a:r>
                <a:endParaRPr lang="en-US" sz="1150" b="0" i="0" u="none" strike="noStrike" kern="1200" cap="none" spc="0" baseline="0" dirty="0">
                  <a:solidFill>
                    <a:srgbClr val="000000"/>
                  </a:solidFill>
                  <a:uFillTx/>
                  <a:latin typeface="Calibri"/>
                </a:endParaRPr>
              </a:p>
            </p:txBody>
          </p:sp>
          <p:sp>
            <p:nvSpPr>
              <p:cNvPr id="32" name="Text 30"/>
              <p:cNvSpPr/>
              <p:nvPr/>
            </p:nvSpPr>
            <p:spPr>
              <a:xfrm>
                <a:off x="4791456" y="385876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Snap Camera Kit — filtr reaguje na mrugnięcie, uśmiech. Miliony użytkowników, ML Kit BlazeFace &lt; 3ms.</a:t>
                </a:r>
                <a:endParaRPr lang="en-US" sz="1050" b="0" i="0" u="none" strike="noStrike" kern="1200" cap="none" spc="0" baseline="0">
                  <a:solidFill>
                    <a:srgbClr val="111931"/>
                  </a:solidFill>
                  <a:uFillTx/>
                  <a:latin typeface="Calibri"/>
                </a:endParaRPr>
              </a:p>
            </p:txBody>
          </p:sp>
        </p:grpSp>
        <p:grpSp>
          <p:nvGrpSpPr>
            <p:cNvPr id="40" name="Grupa 39"/>
            <p:cNvGrpSpPr/>
            <p:nvPr/>
          </p:nvGrpSpPr>
          <p:grpSpPr>
            <a:xfrm>
              <a:off x="4236720" y="4261104"/>
              <a:ext cx="4632960" cy="595812"/>
              <a:chOff x="4663440" y="4261104"/>
              <a:chExt cx="4206240" cy="595812"/>
            </a:xfrm>
          </p:grpSpPr>
          <p:sp>
            <p:nvSpPr>
              <p:cNvPr id="33" name="Shape 31"/>
              <p:cNvSpPr/>
              <p:nvPr/>
            </p:nvSpPr>
            <p:spPr>
              <a:xfrm>
                <a:off x="4663440" y="4280916"/>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4663440" y="4280916"/>
                <a:ext cx="54864" cy="57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791456" y="4261104"/>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Nura</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spersonalizowane</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słuchawki</a:t>
                </a:r>
                <a:r>
                  <a:rPr lang="en-US" sz="1150" b="1" i="0" u="none" strike="noStrike" kern="1200" cap="none" spc="0" baseline="0" dirty="0">
                    <a:solidFill>
                      <a:srgbClr val="1F1535"/>
                    </a:solidFill>
                    <a:uFillTx/>
                    <a:latin typeface="Cambria" pitchFamily="34"/>
                    <a:ea typeface="Cambria" pitchFamily="34"/>
                    <a:cs typeface="Cambria" pitchFamily="34"/>
                  </a:rPr>
                  <a:t>)</a:t>
                </a:r>
                <a:endParaRPr lang="en-US" sz="1150" b="0" i="0" u="none" strike="noStrike" kern="1200" cap="none" spc="0" baseline="0" dirty="0">
                  <a:solidFill>
                    <a:srgbClr val="000000"/>
                  </a:solidFill>
                  <a:uFillTx/>
                  <a:latin typeface="Calibri"/>
                </a:endParaRPr>
              </a:p>
            </p:txBody>
          </p:sp>
          <p:sp>
            <p:nvSpPr>
              <p:cNvPr id="36" name="Text 34"/>
              <p:cNvSpPr/>
              <p:nvPr/>
            </p:nvSpPr>
            <p:spPr>
              <a:xfrm>
                <a:off x="4791456" y="455676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Mierzy</a:t>
                </a:r>
                <a:r>
                  <a:rPr lang="en-US" sz="1050" b="0" i="0" u="none" strike="noStrike" kern="1200" cap="none" spc="0" baseline="0" dirty="0">
                    <a:solidFill>
                      <a:srgbClr val="111931"/>
                    </a:solidFill>
                    <a:uFillTx/>
                    <a:latin typeface="Calibri" pitchFamily="34"/>
                    <a:ea typeface="Calibri" pitchFamily="34"/>
                    <a:cs typeface="Calibri" pitchFamily="34"/>
                  </a:rPr>
                  <a:t> ASSR (auditory steady-state response) </a:t>
                </a:r>
                <a:r>
                  <a:rPr lang="en-US" sz="1050" b="0" i="0" u="none" strike="noStrike" kern="1200" cap="none" spc="0" baseline="0" dirty="0" err="1">
                    <a:solidFill>
                      <a:srgbClr val="111931"/>
                    </a:solidFill>
                    <a:uFillTx/>
                    <a:latin typeface="Calibri" pitchFamily="34"/>
                    <a:ea typeface="Calibri" pitchFamily="34"/>
                    <a:cs typeface="Calibri" pitchFamily="34"/>
                  </a:rPr>
                  <a:t>przez</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smtClean="0">
                    <a:solidFill>
                      <a:srgbClr val="111931"/>
                    </a:solidFill>
                    <a:uFillTx/>
                    <a:latin typeface="Calibri" pitchFamily="34"/>
                    <a:ea typeface="Calibri" pitchFamily="34"/>
                    <a:cs typeface="Calibri" pitchFamily="34"/>
                  </a:rPr>
                  <a:t>aparat</a:t>
                </a:r>
                <a:r>
                  <a:rPr lang="pl-PL" sz="1050" dirty="0" smtClean="0">
                    <a:solidFill>
                      <a:srgbClr val="111931"/>
                    </a:solidFill>
                    <a:latin typeface="Calibri" pitchFamily="34"/>
                    <a:ea typeface="Calibri" pitchFamily="34"/>
                    <a:cs typeface="Calibri" pitchFamily="34"/>
                  </a:rPr>
                  <a:t>:</a:t>
                </a:r>
                <a:r>
                  <a:rPr lang="en-US" sz="1050" b="0" i="0" u="none" strike="noStrike" kern="1200" cap="none" spc="0" baseline="0" dirty="0" smtClean="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analiza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odpowiedzi</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emocjonalnej</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na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dźwięk</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Personalizacja</a:t>
                </a:r>
                <a:r>
                  <a:rPr lang="en-US" sz="1050" b="0" i="0" u="none" strike="noStrike" kern="1200" cap="none" spc="0" baseline="0" dirty="0">
                    <a:solidFill>
                      <a:srgbClr val="111931"/>
                    </a:solidFill>
                    <a:uFillTx/>
                    <a:latin typeface="Calibri" pitchFamily="34"/>
                    <a:ea typeface="Calibri" pitchFamily="34"/>
                    <a:cs typeface="Calibri" pitchFamily="34"/>
                  </a:rPr>
                  <a:t> EQ.</a:t>
                </a:r>
                <a:endParaRPr lang="en-US" sz="1050" b="0" i="0" u="none" strike="noStrike" kern="1200" cap="none" spc="0" baseline="0" dirty="0">
                  <a:solidFill>
                    <a:srgbClr val="111931"/>
                  </a:solidFill>
                  <a:uFillTx/>
                  <a:latin typeface="Calibri"/>
                </a:endParaRPr>
              </a:p>
            </p:txBody>
          </p:sp>
        </p:grpSp>
      </p:grpSp>
      <p:sp>
        <p:nvSpPr>
          <p:cNvPr id="47"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8</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9FF"/>
        </a:solidFill>
        <a:effectLst/>
      </p:bgPr>
    </p:bg>
    <p:spTree>
      <p:nvGrpSpPr>
        <p:cNvPr id="1" name=""/>
        <p:cNvGrpSpPr/>
        <p:nvPr/>
      </p:nvGrpSpPr>
      <p:grpSpPr>
        <a:xfrm>
          <a:off x="0" y="0"/>
          <a:ext cx="0" cy="0"/>
          <a:chOff x="0" y="0"/>
          <a:chExt cx="0" cy="0"/>
        </a:xfrm>
      </p:grpSpPr>
      <p:grpSp>
        <p:nvGrpSpPr>
          <p:cNvPr id="53" name="Grupa 52"/>
          <p:cNvGrpSpPr/>
          <p:nvPr/>
        </p:nvGrpSpPr>
        <p:grpSpPr>
          <a:xfrm>
            <a:off x="0" y="0"/>
            <a:ext cx="9144000" cy="558000"/>
            <a:chOff x="0" y="0"/>
            <a:chExt cx="9144000" cy="558000"/>
          </a:xfrm>
        </p:grpSpPr>
        <p:sp>
          <p:nvSpPr>
            <p:cNvPr id="54"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5"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a:ea typeface="Cambria"/>
                <a:cs typeface="Cambria" pitchFamily="34"/>
              </a:rPr>
              <a:t>Rozpoznawanie</a:t>
            </a:r>
            <a:r>
              <a:rPr lang="en-US" sz="2000" b="1" i="0" u="none" strike="noStrike" kern="1200" cap="none" spc="0" baseline="0" dirty="0">
                <a:solidFill>
                  <a:srgbClr val="FFFFFF"/>
                </a:solidFill>
                <a:uFillTx/>
                <a:latin typeface="Cambria"/>
                <a:ea typeface="Cambria"/>
                <a:cs typeface="Cambria" pitchFamily="34"/>
              </a:rPr>
              <a:t> </a:t>
            </a:r>
            <a:r>
              <a:rPr lang="en-US" sz="2000" b="1" i="0" u="none" strike="noStrike" kern="0" cap="none" spc="0" baseline="0" dirty="0" err="1">
                <a:solidFill>
                  <a:srgbClr val="FFFFFF"/>
                </a:solidFill>
                <a:uFillTx/>
                <a:latin typeface="Cambria"/>
                <a:ea typeface="Cambria"/>
                <a:cs typeface="Cambria" pitchFamily="34"/>
              </a:rPr>
              <a:t>emocji</a:t>
            </a:r>
            <a:r>
              <a:rPr lang="en-US" sz="2000" b="1" i="0" u="none" strike="noStrike" kern="1200" cap="none" spc="0" baseline="0" dirty="0">
                <a:solidFill>
                  <a:srgbClr val="FFFFFF"/>
                </a:solidFill>
                <a:uFillTx/>
                <a:latin typeface="Cambria"/>
                <a:ea typeface="Cambria"/>
                <a:cs typeface="Cambria" pitchFamily="34"/>
              </a:rPr>
              <a:t> z </a:t>
            </a:r>
            <a:r>
              <a:rPr lang="en-US" sz="2000" b="1" i="0" u="none" strike="noStrike" kern="0" cap="none" spc="0" baseline="0" dirty="0" err="1" smtClean="0">
                <a:solidFill>
                  <a:srgbClr val="FFFFFF"/>
                </a:solidFill>
                <a:uFillTx/>
                <a:latin typeface="Cambria"/>
                <a:ea typeface="Cambria"/>
                <a:cs typeface="Cambria" pitchFamily="34"/>
              </a:rPr>
              <a:t>mowy</a:t>
            </a:r>
            <a:r>
              <a:rPr lang="pl-PL" sz="2000" b="1" dirty="0" smtClean="0">
                <a:solidFill>
                  <a:srgbClr val="FFFFFF"/>
                </a:solidFill>
                <a:latin typeface="Cambria"/>
                <a:ea typeface="Cambria"/>
                <a:cs typeface="Cambria" pitchFamily="34"/>
              </a:rPr>
              <a:t>:</a:t>
            </a:r>
            <a:r>
              <a:rPr lang="en-US" sz="2000" b="1" i="0" u="none" strike="noStrike" kern="1200" cap="none" spc="0" baseline="0" dirty="0" smtClean="0">
                <a:solidFill>
                  <a:srgbClr val="FFFFFF"/>
                </a:solidFill>
                <a:uFillTx/>
                <a:latin typeface="Cambria"/>
                <a:ea typeface="Cambria"/>
                <a:cs typeface="Cambria" pitchFamily="34"/>
              </a:rPr>
              <a:t> </a:t>
            </a:r>
            <a:r>
              <a:rPr lang="en-US" sz="2000" b="1" i="0" u="none" strike="noStrike" kern="1200" cap="none" spc="0" baseline="0" dirty="0">
                <a:solidFill>
                  <a:srgbClr val="FFFFFF"/>
                </a:solidFill>
                <a:uFillTx/>
                <a:latin typeface="Cambria"/>
                <a:ea typeface="Cambria"/>
                <a:cs typeface="Cambria" pitchFamily="34"/>
              </a:rPr>
              <a:t>Speech Emotion Recognition (SER)</a:t>
            </a:r>
            <a:endParaRPr lang="en-US" sz="2000" b="0" i="0" u="none" strike="noStrike" kern="1200" cap="none" spc="0" baseline="0" dirty="0">
              <a:solidFill>
                <a:srgbClr val="000000"/>
              </a:solidFill>
              <a:uFillTx/>
              <a:latin typeface="Cambria"/>
              <a:ea typeface="Cambria"/>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14970"/>
            <a:ext cx="4343400" cy="73297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Głos</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niesie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przez</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treść</a:t>
            </a:r>
            <a:r>
              <a:rPr lang="en-US" sz="1600" b="0" i="0" u="none" strike="noStrike" kern="1200" cap="none" spc="0" baseline="0" dirty="0">
                <a:solidFill>
                  <a:srgbClr val="111931"/>
                </a:solidFill>
                <a:uFillTx/>
                <a:latin typeface="Calibri" pitchFamily="34"/>
                <a:ea typeface="Calibri" pitchFamily="34"/>
                <a:cs typeface="Calibri" pitchFamily="34"/>
              </a:rPr>
              <a:t> (co </a:t>
            </a:r>
            <a:r>
              <a:rPr lang="en-US" sz="1600" b="0" i="0" u="none" strike="noStrike" kern="1200" cap="none" spc="0" baseline="0" dirty="0" err="1">
                <a:solidFill>
                  <a:srgbClr val="111931"/>
                </a:solidFill>
                <a:uFillTx/>
                <a:latin typeface="Calibri" pitchFamily="34"/>
                <a:ea typeface="Calibri" pitchFamily="34"/>
                <a:cs typeface="Calibri" pitchFamily="34"/>
              </a:rPr>
              <a:t>mówimy</a:t>
            </a:r>
            <a:r>
              <a:rPr lang="en-US" sz="1600" b="0" i="0" u="none" strike="noStrike" kern="1200" cap="none" spc="0" baseline="0" dirty="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a:solidFill>
                  <a:srgbClr val="111931"/>
                </a:solidFill>
                <a:uFillTx/>
                <a:latin typeface="Calibri" pitchFamily="34"/>
                <a:ea typeface="Calibri" pitchFamily="34"/>
                <a:cs typeface="Calibri" pitchFamily="34"/>
              </a:rPr>
              <a:t>NLP), </a:t>
            </a:r>
            <a:r>
              <a:rPr lang="en-US" sz="1600" b="0" i="0" u="none" strike="noStrike" kern="1200" cap="none" spc="0" baseline="0" dirty="0" err="1">
                <a:solidFill>
                  <a:srgbClr val="111931"/>
                </a:solidFill>
                <a:uFillTx/>
                <a:latin typeface="Calibri" pitchFamily="34"/>
                <a:ea typeface="Calibri" pitchFamily="34"/>
                <a:cs typeface="Calibri" pitchFamily="34"/>
              </a:rPr>
              <a:t>prozodię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jak</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mówimy</a:t>
            </a:r>
            <a:r>
              <a:rPr lang="en-US" sz="1600" b="0" i="0" u="none" strike="noStrike" kern="1200" cap="none" spc="0" baseline="0" dirty="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a:solidFill>
                  <a:srgbClr val="111931"/>
                </a:solidFill>
                <a:uFillTx/>
                <a:latin typeface="Calibri" pitchFamily="34"/>
                <a:ea typeface="Calibri" pitchFamily="34"/>
                <a:cs typeface="Calibri" pitchFamily="34"/>
              </a:rPr>
              <a:t>F0, tempo), </a:t>
            </a:r>
            <a:r>
              <a:rPr lang="en-US" sz="1600" b="0" i="0" u="none" strike="noStrike" kern="1200" cap="none" spc="0" baseline="0" dirty="0" err="1">
                <a:solidFill>
                  <a:srgbClr val="111931"/>
                </a:solidFill>
                <a:uFillTx/>
                <a:latin typeface="Calibri" pitchFamily="34"/>
                <a:ea typeface="Calibri" pitchFamily="34"/>
                <a:cs typeface="Calibri" pitchFamily="34"/>
              </a:rPr>
              <a:t>barwę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rytm</a:t>
            </a:r>
            <a:r>
              <a:rPr lang="en-US" sz="1600" b="0" i="0" u="none" strike="noStrike" kern="1200" cap="none" spc="0" baseline="0" dirty="0">
                <a:solidFill>
                  <a:srgbClr val="111931"/>
                </a:solidFill>
                <a:uFillTx/>
                <a:latin typeface="Calibri" pitchFamily="34"/>
                <a:ea typeface="Calibri" pitchFamily="34"/>
                <a:cs typeface="Calibri" pitchFamily="34"/>
              </a:rPr>
              <a:t>. SER </a:t>
            </a:r>
            <a:r>
              <a:rPr lang="en-US" sz="1600" b="0" i="0" u="none" strike="noStrike" kern="1200" cap="none" spc="0" baseline="0" dirty="0" err="1">
                <a:solidFill>
                  <a:srgbClr val="111931"/>
                </a:solidFill>
                <a:uFillTx/>
                <a:latin typeface="Calibri" pitchFamily="34"/>
                <a:ea typeface="Calibri" pitchFamily="34"/>
                <a:cs typeface="Calibri" pitchFamily="34"/>
              </a:rPr>
              <a:t>operuje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głównie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cechach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akustycznych</a:t>
            </a:r>
            <a:r>
              <a:rPr lang="en-US" sz="1600" b="0" i="0" u="none" strike="noStrike" kern="1200" cap="none" spc="0" baseline="0" dirty="0">
                <a:solidFill>
                  <a:srgbClr val="111931"/>
                </a:solidFill>
                <a:uFillTx/>
                <a:latin typeface="Calibri" pitchFamily="34"/>
                <a:ea typeface="Calibri" pitchFamily="34"/>
                <a:cs typeface="Calibri" pitchFamily="34"/>
              </a:rPr>
              <a:t>.</a:t>
            </a:r>
            <a:endParaRPr lang="en-US" sz="1600" b="0" i="0" u="none" strike="noStrike" kern="1200" cap="none" spc="0" baseline="0" dirty="0">
              <a:solidFill>
                <a:srgbClr val="111931"/>
              </a:solidFill>
              <a:uFillTx/>
              <a:latin typeface="Calibri"/>
            </a:endParaRPr>
          </a:p>
        </p:txBody>
      </p:sp>
      <p:sp>
        <p:nvSpPr>
          <p:cNvPr id="8" name="Text 6"/>
          <p:cNvSpPr/>
          <p:nvPr/>
        </p:nvSpPr>
        <p:spPr>
          <a:xfrm>
            <a:off x="320040" y="154228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Ekstrakcja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cech</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akustycznych</a:t>
            </a:r>
            <a:endParaRPr lang="en-US" sz="1200" b="0" i="0" u="none" strike="noStrike" kern="1200" cap="none" spc="0" baseline="0" dirty="0">
              <a:solidFill>
                <a:srgbClr val="000000"/>
              </a:solidFill>
              <a:uFillTx/>
              <a:latin typeface="Calibri"/>
            </a:endParaRPr>
          </a:p>
        </p:txBody>
      </p:sp>
      <p:grpSp>
        <p:nvGrpSpPr>
          <p:cNvPr id="60" name="Grupa 59"/>
          <p:cNvGrpSpPr/>
          <p:nvPr/>
        </p:nvGrpSpPr>
        <p:grpSpPr>
          <a:xfrm>
            <a:off x="320040" y="1778508"/>
            <a:ext cx="4160520" cy="576000"/>
            <a:chOff x="320040" y="1435608"/>
            <a:chExt cx="4160520" cy="576000"/>
          </a:xfrm>
        </p:grpSpPr>
        <p:sp>
          <p:nvSpPr>
            <p:cNvPr id="9" name="Shape 7"/>
            <p:cNvSpPr/>
            <p:nvPr/>
          </p:nvSpPr>
          <p:spPr>
            <a:xfrm>
              <a:off x="320040" y="143560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43560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48056" y="145389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MFCC (Mel-Frequency </a:t>
              </a:r>
              <a:r>
                <a:rPr lang="en-US" sz="1100" b="1" i="0" u="none" strike="noStrike" kern="1200" cap="none" spc="0" baseline="0" dirty="0" err="1">
                  <a:solidFill>
                    <a:srgbClr val="1F1535"/>
                  </a:solidFill>
                  <a:uFillTx/>
                  <a:latin typeface="Cambria" pitchFamily="34"/>
                  <a:ea typeface="Cambria" pitchFamily="34"/>
                  <a:cs typeface="Cambria" pitchFamily="34"/>
                </a:rPr>
                <a:t>Cepstral</a:t>
              </a:r>
              <a:r>
                <a:rPr lang="en-US" sz="1100" b="1" i="0" u="none" strike="noStrike" kern="1200" cap="none" spc="0" baseline="0" dirty="0">
                  <a:solidFill>
                    <a:srgbClr val="1F1535"/>
                  </a:solidFill>
                  <a:uFillTx/>
                  <a:latin typeface="Cambria" pitchFamily="34"/>
                  <a:ea typeface="Cambria" pitchFamily="34"/>
                  <a:cs typeface="Cambria" pitchFamily="34"/>
                </a:rPr>
                <a:t> Coefficients)</a:t>
              </a:r>
              <a:endParaRPr lang="en-US" sz="1100" b="0" i="0" u="none" strike="noStrike" kern="1200" cap="none" spc="0" baseline="0" dirty="0">
                <a:solidFill>
                  <a:srgbClr val="000000"/>
                </a:solidFill>
                <a:uFillTx/>
                <a:latin typeface="Calibri"/>
              </a:endParaRPr>
            </a:p>
          </p:txBody>
        </p:sp>
        <p:sp>
          <p:nvSpPr>
            <p:cNvPr id="12" name="Text 10"/>
            <p:cNvSpPr/>
            <p:nvPr/>
          </p:nvSpPr>
          <p:spPr>
            <a:xfrm>
              <a:off x="448056" y="1719072"/>
              <a:ext cx="3977639" cy="1920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13–40 </a:t>
              </a:r>
              <a:r>
                <a:rPr lang="en-US" sz="1000" b="0" i="0" u="none" strike="noStrike" kern="1200" cap="none" spc="0" baseline="0" dirty="0" err="1">
                  <a:solidFill>
                    <a:srgbClr val="111931"/>
                  </a:solidFill>
                  <a:uFillTx/>
                  <a:latin typeface="Calibri" pitchFamily="34"/>
                  <a:ea typeface="Calibri" pitchFamily="34"/>
                  <a:cs typeface="Calibri" pitchFamily="34"/>
                </a:rPr>
                <a:t>współczynników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każdą</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ramkę</a:t>
              </a:r>
              <a:r>
                <a:rPr lang="en-US" sz="1000" b="0" i="0" u="none" strike="noStrike" kern="1200" cap="none" spc="0" baseline="0" dirty="0">
                  <a:solidFill>
                    <a:srgbClr val="111931"/>
                  </a:solidFill>
                  <a:uFillTx/>
                  <a:latin typeface="Calibri" pitchFamily="34"/>
                  <a:ea typeface="Calibri" pitchFamily="34"/>
                  <a:cs typeface="Calibri" pitchFamily="34"/>
                </a:rPr>
                <a:t> 25ms. </a:t>
              </a:r>
              <a:r>
                <a:rPr lang="en-US" sz="1000" b="0" i="0" u="none" strike="noStrike" kern="1200" cap="none" spc="0" baseline="0" dirty="0" err="1">
                  <a:solidFill>
                    <a:srgbClr val="111931"/>
                  </a:solidFill>
                  <a:uFillTx/>
                  <a:latin typeface="Calibri" pitchFamily="34"/>
                  <a:ea typeface="Calibri" pitchFamily="34"/>
                  <a:cs typeface="Calibri" pitchFamily="34"/>
                </a:rPr>
                <a:t>Mimik</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spektrum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percepcji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słuchowej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Złoty</a:t>
              </a:r>
              <a:r>
                <a:rPr lang="en-US" sz="1000" b="0" i="0" u="none" strike="noStrike" kern="1200" cap="none" spc="0" baseline="0" dirty="0">
                  <a:solidFill>
                    <a:srgbClr val="111931"/>
                  </a:solidFill>
                  <a:uFillTx/>
                  <a:latin typeface="Calibri" pitchFamily="34"/>
                  <a:ea typeface="Calibri" pitchFamily="34"/>
                  <a:cs typeface="Calibri" pitchFamily="34"/>
                </a:rPr>
                <a:t> standard SER — </a:t>
              </a:r>
              <a:r>
                <a:rPr lang="en-US" sz="1000" b="0" i="0" u="none" strike="noStrike" kern="1200" cap="none" spc="0" baseline="0" dirty="0" err="1">
                  <a:solidFill>
                    <a:srgbClr val="111931"/>
                  </a:solidFill>
                  <a:uFillTx/>
                  <a:latin typeface="Calibri" pitchFamily="34"/>
                  <a:ea typeface="Calibri" pitchFamily="34"/>
                  <a:cs typeface="Calibri" pitchFamily="34"/>
                </a:rPr>
                <a:t>cechy</a:t>
              </a:r>
              <a:r>
                <a:rPr lang="en-US" sz="1000" b="0" i="0" u="none" strike="noStrike" kern="1200" cap="none" spc="0" baseline="0" dirty="0">
                  <a:solidFill>
                    <a:srgbClr val="111931"/>
                  </a:solidFill>
                  <a:uFillTx/>
                  <a:latin typeface="Calibri" pitchFamily="34"/>
                  <a:ea typeface="Calibri" pitchFamily="34"/>
                  <a:cs typeface="Calibri" pitchFamily="34"/>
                </a:rPr>
                <a:t> + delta + delta-delta = 39-dim.</a:t>
              </a:r>
              <a:endParaRPr lang="en-US" sz="1000" b="0" i="0" u="none" strike="noStrike" kern="1200" cap="none" spc="0" baseline="0" dirty="0">
                <a:solidFill>
                  <a:srgbClr val="111931"/>
                </a:solidFill>
                <a:uFillTx/>
                <a:latin typeface="Calibri"/>
              </a:endParaRPr>
            </a:p>
          </p:txBody>
        </p:sp>
      </p:grpSp>
      <p:grpSp>
        <p:nvGrpSpPr>
          <p:cNvPr id="59" name="Grupa 58"/>
          <p:cNvGrpSpPr/>
          <p:nvPr/>
        </p:nvGrpSpPr>
        <p:grpSpPr>
          <a:xfrm>
            <a:off x="320040" y="2398776"/>
            <a:ext cx="4160520" cy="576000"/>
            <a:chOff x="320040" y="2086356"/>
            <a:chExt cx="4160520" cy="576000"/>
          </a:xfrm>
        </p:grpSpPr>
        <p:sp>
          <p:nvSpPr>
            <p:cNvPr id="13" name="Shape 11"/>
            <p:cNvSpPr/>
            <p:nvPr/>
          </p:nvSpPr>
          <p:spPr>
            <a:xfrm>
              <a:off x="320040" y="2086356"/>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2086356"/>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48056" y="211226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F0 / Pitch (Fundamental Frequency)</a:t>
              </a:r>
              <a:endParaRPr lang="en-US" sz="1100" b="0" i="0" u="none" strike="noStrike" kern="1200" cap="none" spc="0" baseline="0">
                <a:solidFill>
                  <a:srgbClr val="000000"/>
                </a:solidFill>
                <a:uFillTx/>
                <a:latin typeface="Calibri"/>
              </a:endParaRPr>
            </a:p>
          </p:txBody>
        </p:sp>
        <p:sp>
          <p:nvSpPr>
            <p:cNvPr id="16" name="Text 14"/>
            <p:cNvSpPr/>
            <p:nvPr/>
          </p:nvSpPr>
          <p:spPr>
            <a:xfrm>
              <a:off x="448056" y="2377440"/>
              <a:ext cx="3977639" cy="1920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Częstotliwość podstawowa tonu głosu [Hz]. Gniew: wysoki wzrost. Smutek: niski, opadający. Algorytm CREPE (CNN) lub YIN do estymacji.</a:t>
              </a:r>
              <a:endParaRPr lang="en-US" sz="1000" b="0" i="0" u="none" strike="noStrike" kern="1200" cap="none" spc="0" baseline="0">
                <a:solidFill>
                  <a:srgbClr val="111931"/>
                </a:solidFill>
                <a:uFillTx/>
                <a:latin typeface="Calibri"/>
              </a:endParaRPr>
            </a:p>
          </p:txBody>
        </p:sp>
      </p:grpSp>
      <p:grpSp>
        <p:nvGrpSpPr>
          <p:cNvPr id="58" name="Grupa 57"/>
          <p:cNvGrpSpPr/>
          <p:nvPr/>
        </p:nvGrpSpPr>
        <p:grpSpPr>
          <a:xfrm>
            <a:off x="320040" y="3034284"/>
            <a:ext cx="4160520" cy="576000"/>
            <a:chOff x="320040" y="2714244"/>
            <a:chExt cx="4160520" cy="576000"/>
          </a:xfrm>
        </p:grpSpPr>
        <p:sp>
          <p:nvSpPr>
            <p:cNvPr id="17" name="Shape 15"/>
            <p:cNvSpPr/>
            <p:nvPr/>
          </p:nvSpPr>
          <p:spPr>
            <a:xfrm>
              <a:off x="320040" y="2714244"/>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714244"/>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48056" y="274015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Energy &amp; Loudness (RMS)</a:t>
              </a:r>
              <a:endParaRPr lang="en-US" sz="1100" b="0" i="0" u="none" strike="noStrike" kern="1200" cap="none" spc="0" baseline="0" dirty="0">
                <a:solidFill>
                  <a:srgbClr val="000000"/>
                </a:solidFill>
                <a:uFillTx/>
                <a:latin typeface="Calibri"/>
              </a:endParaRPr>
            </a:p>
          </p:txBody>
        </p:sp>
        <p:sp>
          <p:nvSpPr>
            <p:cNvPr id="20" name="Text 18"/>
            <p:cNvSpPr/>
            <p:nvPr/>
          </p:nvSpPr>
          <p:spPr>
            <a:xfrm>
              <a:off x="448056" y="3005328"/>
              <a:ext cx="3977639" cy="1920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Energia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sygnału</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głośność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Gniew</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Ekscytacja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wysokie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Smutek</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Spokój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niskie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Prostota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wydobycia</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używane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jako</a:t>
              </a:r>
              <a:r>
                <a:rPr lang="en-US" sz="1000" b="0" i="0" u="none" strike="noStrike" kern="1200" cap="none" spc="0" baseline="0" dirty="0">
                  <a:solidFill>
                    <a:srgbClr val="111931"/>
                  </a:solidFill>
                  <a:uFillTx/>
                  <a:latin typeface="Calibri" pitchFamily="34"/>
                  <a:ea typeface="Calibri" pitchFamily="34"/>
                  <a:cs typeface="Calibri" pitchFamily="34"/>
                </a:rPr>
                <a:t> baseline.</a:t>
              </a:r>
              <a:endParaRPr lang="en-US" sz="1000" b="0" i="0" u="none" strike="noStrike" kern="1200" cap="none" spc="0" baseline="0" dirty="0">
                <a:solidFill>
                  <a:srgbClr val="111931"/>
                </a:solidFill>
                <a:uFillTx/>
                <a:latin typeface="Calibri"/>
              </a:endParaRPr>
            </a:p>
          </p:txBody>
        </p:sp>
      </p:grpSp>
      <p:grpSp>
        <p:nvGrpSpPr>
          <p:cNvPr id="56" name="Grupa 55"/>
          <p:cNvGrpSpPr/>
          <p:nvPr/>
        </p:nvGrpSpPr>
        <p:grpSpPr>
          <a:xfrm>
            <a:off x="320040" y="3662172"/>
            <a:ext cx="4160520" cy="576000"/>
            <a:chOff x="320040" y="3410712"/>
            <a:chExt cx="4160520" cy="576000"/>
          </a:xfrm>
        </p:grpSpPr>
        <p:sp>
          <p:nvSpPr>
            <p:cNvPr id="21" name="Shape 19"/>
            <p:cNvSpPr/>
            <p:nvPr/>
          </p:nvSpPr>
          <p:spPr>
            <a:xfrm>
              <a:off x="320040" y="341071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410712"/>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48056" y="342900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Mel Spectrogram (2D image)</a:t>
              </a:r>
              <a:endParaRPr lang="en-US" sz="1100" b="0" i="0" u="none" strike="noStrike" kern="1200" cap="none" spc="0" baseline="0">
                <a:solidFill>
                  <a:srgbClr val="000000"/>
                </a:solidFill>
                <a:uFillTx/>
                <a:latin typeface="Calibri"/>
              </a:endParaRPr>
            </a:p>
          </p:txBody>
        </p:sp>
        <p:sp>
          <p:nvSpPr>
            <p:cNvPr id="24" name="Text 22"/>
            <p:cNvSpPr/>
            <p:nvPr/>
          </p:nvSpPr>
          <p:spPr>
            <a:xfrm>
              <a:off x="448056" y="3694176"/>
              <a:ext cx="3977639" cy="1920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STFT → mel-scale → log-scale → obraz 2D. Wejście do CNN (ImageNet pretrain). Najlepsza reprezentacja dla głębokich sieci end-to-end.</a:t>
              </a:r>
              <a:endParaRPr lang="en-US" sz="1000" b="0" i="0" u="none" strike="noStrike" kern="1200" cap="none" spc="0" baseline="0">
                <a:solidFill>
                  <a:srgbClr val="111931"/>
                </a:solidFill>
                <a:uFillTx/>
                <a:latin typeface="Calibri"/>
              </a:endParaRPr>
            </a:p>
          </p:txBody>
        </p:sp>
      </p:grpSp>
      <p:grpSp>
        <p:nvGrpSpPr>
          <p:cNvPr id="57" name="Grupa 56"/>
          <p:cNvGrpSpPr/>
          <p:nvPr/>
        </p:nvGrpSpPr>
        <p:grpSpPr>
          <a:xfrm>
            <a:off x="320040" y="4290060"/>
            <a:ext cx="4160520" cy="576000"/>
            <a:chOff x="320040" y="4076700"/>
            <a:chExt cx="4160520" cy="576000"/>
          </a:xfrm>
        </p:grpSpPr>
        <p:sp>
          <p:nvSpPr>
            <p:cNvPr id="25" name="Shape 23"/>
            <p:cNvSpPr/>
            <p:nvPr/>
          </p:nvSpPr>
          <p:spPr>
            <a:xfrm>
              <a:off x="320040" y="4076700"/>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4076700"/>
              <a:ext cx="54864" cy="57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48056" y="408736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OpenSMILE (eGeMAPS feature set)</a:t>
              </a:r>
              <a:endParaRPr lang="en-US" sz="1100" b="0" i="0" u="none" strike="noStrike" kern="1200" cap="none" spc="0" baseline="0">
                <a:solidFill>
                  <a:srgbClr val="000000"/>
                </a:solidFill>
                <a:uFillTx/>
                <a:latin typeface="Calibri"/>
              </a:endParaRPr>
            </a:p>
          </p:txBody>
        </p:sp>
        <p:sp>
          <p:nvSpPr>
            <p:cNvPr id="28" name="Text 26"/>
            <p:cNvSpPr/>
            <p:nvPr/>
          </p:nvSpPr>
          <p:spPr>
            <a:xfrm>
              <a:off x="448056" y="4352544"/>
              <a:ext cx="3977639" cy="1920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88 cech (GeMAPS) lub 6373 (IS13). Standard w INTERSPEECH challenges. Dostępne w mobile przez JNI/wrapper.</a:t>
              </a:r>
              <a:endParaRPr lang="en-US" sz="1000" b="0" i="0" u="none" strike="noStrike" kern="1200" cap="none" spc="0" baseline="0">
                <a:solidFill>
                  <a:srgbClr val="111931"/>
                </a:solidFill>
                <a:uFillTx/>
                <a:latin typeface="Calibri"/>
              </a:endParaRPr>
            </a:p>
          </p:txBody>
        </p:sp>
      </p:grpSp>
      <p:sp>
        <p:nvSpPr>
          <p:cNvPr id="29" name="Text 27"/>
          <p:cNvSpPr/>
          <p:nvPr/>
        </p:nvSpPr>
        <p:spPr>
          <a:xfrm>
            <a:off x="4724400" y="871728"/>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Architektura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modelu</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smtClean="0">
                <a:solidFill>
                  <a:srgbClr val="1F1535"/>
                </a:solidFill>
                <a:uFillTx/>
                <a:latin typeface="Cambria" pitchFamily="34"/>
                <a:ea typeface="Cambria" pitchFamily="34"/>
                <a:cs typeface="Cambria" pitchFamily="34"/>
              </a:rPr>
              <a:t>SER</a:t>
            </a:r>
            <a:endParaRPr lang="en-US" sz="1200" b="0" i="0" u="none" strike="noStrike" kern="1200" cap="none" spc="0" baseline="0" dirty="0">
              <a:solidFill>
                <a:srgbClr val="000000"/>
              </a:solidFill>
              <a:uFillTx/>
              <a:latin typeface="Calibri"/>
            </a:endParaRPr>
          </a:p>
        </p:txBody>
      </p:sp>
      <p:sp>
        <p:nvSpPr>
          <p:cNvPr id="30" name="Shape 28"/>
          <p:cNvSpPr/>
          <p:nvPr/>
        </p:nvSpPr>
        <p:spPr>
          <a:xfrm>
            <a:off x="4724400" y="1123188"/>
            <a:ext cx="4206240" cy="530352"/>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4724400" y="1123188"/>
            <a:ext cx="54864" cy="530352"/>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834128" y="1123188"/>
            <a:ext cx="283464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CNN na Mel Spectrogram</a:t>
            </a:r>
            <a:endParaRPr lang="en-US" sz="1100" b="0" i="0" u="none" strike="noStrike" kern="1200" cap="none" spc="0" baseline="0">
              <a:solidFill>
                <a:srgbClr val="000000"/>
              </a:solidFill>
              <a:uFillTx/>
              <a:latin typeface="Calibri"/>
            </a:endParaRPr>
          </a:p>
        </p:txBody>
      </p:sp>
      <p:sp>
        <p:nvSpPr>
          <p:cNvPr id="33" name="Text 31"/>
          <p:cNvSpPr/>
          <p:nvPr/>
        </p:nvSpPr>
        <p:spPr>
          <a:xfrm>
            <a:off x="7741920" y="1100328"/>
            <a:ext cx="1115568"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7C3AED"/>
                </a:solidFill>
                <a:uFillTx/>
                <a:latin typeface="Cambria" pitchFamily="34"/>
                <a:ea typeface="Cambria" pitchFamily="34"/>
                <a:cs typeface="Cambria" pitchFamily="34"/>
              </a:rPr>
              <a:t>Acc</a:t>
            </a:r>
            <a:r>
              <a:rPr lang="en-US" sz="1100" b="1" i="0" u="none" strike="noStrike" kern="1200" cap="none" spc="0" baseline="0" dirty="0">
                <a:solidFill>
                  <a:srgbClr val="7C3AED"/>
                </a:solidFill>
                <a:uFillTx/>
                <a:latin typeface="Cambria" pitchFamily="34"/>
                <a:ea typeface="Cambria" pitchFamily="34"/>
                <a:cs typeface="Cambria" pitchFamily="34"/>
              </a:rPr>
              <a:t>: 78%</a:t>
            </a:r>
            <a:endParaRPr lang="en-US" sz="1100" b="0" i="0" u="none" strike="noStrike" kern="1200" cap="none" spc="0" baseline="0" dirty="0">
              <a:solidFill>
                <a:srgbClr val="000000"/>
              </a:solidFill>
              <a:uFillTx/>
              <a:latin typeface="Calibri"/>
            </a:endParaRPr>
          </a:p>
        </p:txBody>
      </p:sp>
      <p:sp>
        <p:nvSpPr>
          <p:cNvPr id="34" name="Text 32"/>
          <p:cNvSpPr/>
          <p:nvPr/>
        </p:nvSpPr>
        <p:spPr>
          <a:xfrm>
            <a:off x="4834128" y="1351788"/>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ResNet-34 na 128×128 px mel. Pretrain ImageNet → fine-tune IEMOCAP. 15MB TFLite.</a:t>
            </a:r>
            <a:endParaRPr lang="en-US" sz="1000" b="0" i="0" u="none" strike="noStrike" kern="1200" cap="none" spc="0" baseline="0">
              <a:solidFill>
                <a:srgbClr val="111931"/>
              </a:solidFill>
              <a:uFillTx/>
              <a:latin typeface="Calibri"/>
            </a:endParaRPr>
          </a:p>
        </p:txBody>
      </p:sp>
      <p:sp>
        <p:nvSpPr>
          <p:cNvPr id="35" name="Shape 33"/>
          <p:cNvSpPr/>
          <p:nvPr/>
        </p:nvSpPr>
        <p:spPr>
          <a:xfrm>
            <a:off x="4724400" y="1700784"/>
            <a:ext cx="4206240" cy="530352"/>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Shape 34"/>
          <p:cNvSpPr/>
          <p:nvPr/>
        </p:nvSpPr>
        <p:spPr>
          <a:xfrm>
            <a:off x="4724400" y="1700784"/>
            <a:ext cx="54864" cy="530352"/>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4834128" y="1708404"/>
            <a:ext cx="283464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LSTM na MFCC sequences</a:t>
            </a:r>
            <a:endParaRPr lang="en-US" sz="1100" b="0" i="0" u="none" strike="noStrike" kern="1200" cap="none" spc="0" baseline="0">
              <a:solidFill>
                <a:srgbClr val="000000"/>
              </a:solidFill>
              <a:uFillTx/>
              <a:latin typeface="Calibri"/>
            </a:endParaRPr>
          </a:p>
        </p:txBody>
      </p:sp>
      <p:sp>
        <p:nvSpPr>
          <p:cNvPr id="38" name="Text 36"/>
          <p:cNvSpPr/>
          <p:nvPr/>
        </p:nvSpPr>
        <p:spPr>
          <a:xfrm>
            <a:off x="7741920" y="1693164"/>
            <a:ext cx="1115568"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E11D48"/>
                </a:solidFill>
                <a:uFillTx/>
                <a:latin typeface="Cambria" pitchFamily="34"/>
                <a:ea typeface="Cambria" pitchFamily="34"/>
                <a:cs typeface="Cambria" pitchFamily="34"/>
              </a:rPr>
              <a:t>Acc</a:t>
            </a:r>
            <a:r>
              <a:rPr lang="en-US" sz="1100" b="1" i="0" u="none" strike="noStrike" kern="1200" cap="none" spc="0" baseline="0" dirty="0">
                <a:solidFill>
                  <a:srgbClr val="E11D48"/>
                </a:solidFill>
                <a:uFillTx/>
                <a:latin typeface="Cambria" pitchFamily="34"/>
                <a:ea typeface="Cambria" pitchFamily="34"/>
                <a:cs typeface="Cambria" pitchFamily="34"/>
              </a:rPr>
              <a:t>: 74%</a:t>
            </a:r>
            <a:endParaRPr lang="en-US" sz="1100" b="0" i="0" u="none" strike="noStrike" kern="1200" cap="none" spc="0" baseline="0" dirty="0">
              <a:solidFill>
                <a:srgbClr val="000000"/>
              </a:solidFill>
              <a:uFillTx/>
              <a:latin typeface="Calibri"/>
            </a:endParaRPr>
          </a:p>
        </p:txBody>
      </p:sp>
      <p:sp>
        <p:nvSpPr>
          <p:cNvPr id="39" name="Text 37"/>
          <p:cNvSpPr/>
          <p:nvPr/>
        </p:nvSpPr>
        <p:spPr>
          <a:xfrm>
            <a:off x="4834128" y="1937004"/>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2×LSTM 256 units → CRF output. Modeluje temporal dynamics. Trochę słabszy od CNN.</a:t>
            </a:r>
            <a:endParaRPr lang="en-US" sz="1000" b="0" i="0" u="none" strike="noStrike" kern="1200" cap="none" spc="0" baseline="0">
              <a:solidFill>
                <a:srgbClr val="111931"/>
              </a:solidFill>
              <a:uFillTx/>
              <a:latin typeface="Calibri"/>
            </a:endParaRPr>
          </a:p>
        </p:txBody>
      </p:sp>
      <p:sp>
        <p:nvSpPr>
          <p:cNvPr id="40" name="Shape 38"/>
          <p:cNvSpPr/>
          <p:nvPr/>
        </p:nvSpPr>
        <p:spPr>
          <a:xfrm>
            <a:off x="4724400" y="2286000"/>
            <a:ext cx="4206240" cy="530352"/>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4724400" y="2286000"/>
            <a:ext cx="54864" cy="530352"/>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834128" y="2293619"/>
            <a:ext cx="283464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Transformer (wav2vec2)</a:t>
            </a:r>
            <a:endParaRPr lang="en-US" sz="1100" b="0" i="0" u="none" strike="noStrike" kern="1200" cap="none" spc="0" baseline="0">
              <a:solidFill>
                <a:srgbClr val="000000"/>
              </a:solidFill>
              <a:uFillTx/>
              <a:latin typeface="Calibri"/>
            </a:endParaRPr>
          </a:p>
        </p:txBody>
      </p:sp>
      <p:sp>
        <p:nvSpPr>
          <p:cNvPr id="43" name="Text 41"/>
          <p:cNvSpPr/>
          <p:nvPr/>
        </p:nvSpPr>
        <p:spPr>
          <a:xfrm>
            <a:off x="7741920" y="2278379"/>
            <a:ext cx="1115568"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D97706"/>
                </a:solidFill>
                <a:uFillTx/>
                <a:latin typeface="Cambria" pitchFamily="34"/>
                <a:ea typeface="Cambria" pitchFamily="34"/>
                <a:cs typeface="Cambria" pitchFamily="34"/>
              </a:rPr>
              <a:t>Acc</a:t>
            </a:r>
            <a:r>
              <a:rPr lang="en-US" sz="1100" b="1" i="0" u="none" strike="noStrike" kern="1200" cap="none" spc="0" baseline="0" dirty="0">
                <a:solidFill>
                  <a:srgbClr val="D97706"/>
                </a:solidFill>
                <a:uFillTx/>
                <a:latin typeface="Cambria" pitchFamily="34"/>
                <a:ea typeface="Cambria" pitchFamily="34"/>
                <a:cs typeface="Cambria" pitchFamily="34"/>
              </a:rPr>
              <a:t>: 87%</a:t>
            </a:r>
            <a:endParaRPr lang="en-US" sz="1100" b="0" i="0" u="none" strike="noStrike" kern="1200" cap="none" spc="0" baseline="0" dirty="0">
              <a:solidFill>
                <a:srgbClr val="000000"/>
              </a:solidFill>
              <a:uFillTx/>
              <a:latin typeface="Calibri"/>
            </a:endParaRPr>
          </a:p>
        </p:txBody>
      </p:sp>
      <p:sp>
        <p:nvSpPr>
          <p:cNvPr id="44" name="Text 42"/>
          <p:cNvSpPr/>
          <p:nvPr/>
        </p:nvSpPr>
        <p:spPr>
          <a:xfrm>
            <a:off x="4834128" y="2522220"/>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facebook/wav2vec2-base fine-tuned → SOTA. 400MB — wymaga kompresji (quantization int8) do ~50MB na mobile.</a:t>
            </a:r>
            <a:endParaRPr lang="en-US" sz="1000" b="0" i="0" u="none" strike="noStrike" kern="1200" cap="none" spc="0" baseline="0">
              <a:solidFill>
                <a:srgbClr val="111931"/>
              </a:solidFill>
              <a:uFillTx/>
              <a:latin typeface="Calibri"/>
            </a:endParaRPr>
          </a:p>
        </p:txBody>
      </p:sp>
      <p:sp>
        <p:nvSpPr>
          <p:cNvPr id="45" name="Shape 43"/>
          <p:cNvSpPr/>
          <p:nvPr/>
        </p:nvSpPr>
        <p:spPr>
          <a:xfrm>
            <a:off x="4724400" y="2863596"/>
            <a:ext cx="4206240" cy="530352"/>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Shape 44"/>
          <p:cNvSpPr/>
          <p:nvPr/>
        </p:nvSpPr>
        <p:spPr>
          <a:xfrm>
            <a:off x="4724400" y="2863596"/>
            <a:ext cx="54864" cy="530352"/>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Text 45"/>
          <p:cNvSpPr/>
          <p:nvPr/>
        </p:nvSpPr>
        <p:spPr>
          <a:xfrm>
            <a:off x="4834128" y="2878836"/>
            <a:ext cx="283464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TinySER (MobileNet v3)</a:t>
            </a:r>
            <a:endParaRPr lang="en-US" sz="1100" b="0" i="0" u="none" strike="noStrike" kern="1200" cap="none" spc="0" baseline="0">
              <a:solidFill>
                <a:srgbClr val="000000"/>
              </a:solidFill>
              <a:uFillTx/>
              <a:latin typeface="Calibri"/>
            </a:endParaRPr>
          </a:p>
        </p:txBody>
      </p:sp>
      <p:sp>
        <p:nvSpPr>
          <p:cNvPr id="48" name="Text 46"/>
          <p:cNvSpPr/>
          <p:nvPr/>
        </p:nvSpPr>
        <p:spPr>
          <a:xfrm>
            <a:off x="7741920" y="2863596"/>
            <a:ext cx="1115568"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0891B2"/>
                </a:solidFill>
                <a:uFillTx/>
                <a:latin typeface="Cambria" pitchFamily="34"/>
                <a:ea typeface="Cambria" pitchFamily="34"/>
                <a:cs typeface="Cambria" pitchFamily="34"/>
              </a:rPr>
              <a:t>Acc</a:t>
            </a:r>
            <a:r>
              <a:rPr lang="en-US" sz="1100" b="1" i="0" u="none" strike="noStrike" kern="1200" cap="none" spc="0" baseline="0" dirty="0">
                <a:solidFill>
                  <a:srgbClr val="0891B2"/>
                </a:solidFill>
                <a:uFillTx/>
                <a:latin typeface="Cambria" pitchFamily="34"/>
                <a:ea typeface="Cambria" pitchFamily="34"/>
                <a:cs typeface="Cambria" pitchFamily="34"/>
              </a:rPr>
              <a:t>: 71%</a:t>
            </a:r>
            <a:endParaRPr lang="en-US" sz="1100" b="0" i="0" u="none" strike="noStrike" kern="1200" cap="none" spc="0" baseline="0" dirty="0">
              <a:solidFill>
                <a:srgbClr val="000000"/>
              </a:solidFill>
              <a:uFillTx/>
              <a:latin typeface="Calibri"/>
            </a:endParaRPr>
          </a:p>
        </p:txBody>
      </p:sp>
      <p:sp>
        <p:nvSpPr>
          <p:cNvPr id="49" name="Text 47"/>
          <p:cNvSpPr/>
          <p:nvPr/>
        </p:nvSpPr>
        <p:spPr>
          <a:xfrm>
            <a:off x="4834128" y="3107436"/>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Kompaktowy</a:t>
            </a:r>
            <a:r>
              <a:rPr lang="en-US" sz="1000" b="0" i="0" u="none" strike="noStrike" kern="1200" cap="none" spc="0" baseline="0" dirty="0">
                <a:solidFill>
                  <a:srgbClr val="111931"/>
                </a:solidFill>
                <a:uFillTx/>
                <a:latin typeface="Calibri" pitchFamily="34"/>
                <a:ea typeface="Calibri" pitchFamily="34"/>
                <a:cs typeface="Calibri" pitchFamily="34"/>
              </a:rPr>
              <a:t> model </a:t>
            </a:r>
            <a:r>
              <a:rPr lang="en-US" sz="1000" b="0" i="0" u="none" strike="noStrike" kern="1200" cap="none" spc="0" baseline="0" dirty="0" err="1">
                <a:solidFill>
                  <a:srgbClr val="111931"/>
                </a:solidFill>
                <a:uFillTx/>
                <a:latin typeface="Calibri" pitchFamily="34"/>
                <a:ea typeface="Calibri" pitchFamily="34"/>
                <a:cs typeface="Calibri" pitchFamily="34"/>
              </a:rPr>
              <a:t>dedykowany</a:t>
            </a:r>
            <a:r>
              <a:rPr lang="en-US" sz="1000" b="0" i="0" u="none" strike="noStrike" kern="1200" cap="none" spc="0" baseline="0" dirty="0">
                <a:solidFill>
                  <a:srgbClr val="111931"/>
                </a:solidFill>
                <a:uFillTx/>
                <a:latin typeface="Calibri" pitchFamily="34"/>
                <a:ea typeface="Calibri" pitchFamily="34"/>
                <a:cs typeface="Calibri" pitchFamily="34"/>
              </a:rPr>
              <a:t> mobile. &lt; 2MB, &lt; 5ms </a:t>
            </a:r>
            <a:r>
              <a:rPr lang="en-US" sz="1000" b="0" i="0" u="none" strike="noStrike" kern="1200" cap="none" spc="0" baseline="0" dirty="0" err="1">
                <a:solidFill>
                  <a:srgbClr val="111931"/>
                </a:solidFill>
                <a:uFillTx/>
                <a:latin typeface="Calibri" pitchFamily="34"/>
                <a:ea typeface="Calibri" pitchFamily="34"/>
                <a:cs typeface="Calibri" pitchFamily="34"/>
              </a:rPr>
              <a:t>latencja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Dobry</a:t>
            </a:r>
            <a:r>
              <a:rPr lang="en-US" sz="1000" b="0" i="0" u="none" strike="noStrike" kern="1200" cap="none" spc="0" baseline="0" dirty="0">
                <a:solidFill>
                  <a:srgbClr val="111931"/>
                </a:solidFill>
                <a:uFillTx/>
                <a:latin typeface="Calibri" pitchFamily="34"/>
                <a:ea typeface="Calibri" pitchFamily="34"/>
                <a:cs typeface="Calibri" pitchFamily="34"/>
              </a:rPr>
              <a:t> baseline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produkcji.</a:t>
            </a:r>
            <a:endParaRPr lang="en-US" sz="1000" b="0" i="0" u="none" strike="noStrike" kern="1200" cap="none" spc="0" baseline="0" dirty="0">
              <a:solidFill>
                <a:srgbClr val="111931"/>
              </a:solidFill>
              <a:uFillTx/>
              <a:latin typeface="Calibri"/>
            </a:endParaRPr>
          </a:p>
        </p:txBody>
      </p:sp>
      <p:sp>
        <p:nvSpPr>
          <p:cNvPr id="50" name="Shape 48"/>
          <p:cNvSpPr/>
          <p:nvPr/>
        </p:nvSpPr>
        <p:spPr>
          <a:xfrm>
            <a:off x="4724400" y="3441192"/>
            <a:ext cx="4206240" cy="1386839"/>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1" name="Text 49"/>
          <p:cNvSpPr/>
          <p:nvPr/>
        </p:nvSpPr>
        <p:spPr>
          <a:xfrm>
            <a:off x="7915656" y="3489888"/>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52" name="Text 50"/>
          <p:cNvSpPr/>
          <p:nvPr/>
        </p:nvSpPr>
        <p:spPr>
          <a:xfrm>
            <a:off x="4799838" y="3529657"/>
            <a:ext cx="3589020" cy="1178051"/>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Android — SER z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AudioRecord</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audioData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ShortArray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(BUFFER_SIZE)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audioRecord.read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audioData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0, BUFFER_SIZE)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Konwertuj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do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mel-spektrogramu</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Librosa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-compatible)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melSpec</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MelSpectrogram.compute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audioData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sampleRate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=16000)</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input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TensorBuffer.createFixedSize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intArrayOf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(1, 128, 128, 1), DataType.FLOAT32)</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input.loadArray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melSpec.normalized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emotionInterpreter.run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input.buffer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outputBuffer.buffer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output: [anger, disgust, fear, happy, neutral, sad, surprise]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emotionIndex</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outputBuffer.floatArray.indexOfMax</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61"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9</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9FF"/>
        </a:solidFill>
        <a:effectLst/>
      </p:bgPr>
    </p:bg>
    <p:spTree>
      <p:nvGrpSpPr>
        <p:cNvPr id="1" name=""/>
        <p:cNvGrpSpPr/>
        <p:nvPr/>
      </p:nvGrpSpPr>
      <p:grpSpPr>
        <a:xfrm>
          <a:off x="0" y="0"/>
          <a:ext cx="0" cy="0"/>
          <a:chOff x="0" y="0"/>
          <a:chExt cx="0" cy="0"/>
        </a:xfrm>
      </p:grpSpPr>
      <p:grpSp>
        <p:nvGrpSpPr>
          <p:cNvPr id="49" name="Grupa 48"/>
          <p:cNvGrpSpPr/>
          <p:nvPr/>
        </p:nvGrpSpPr>
        <p:grpSpPr>
          <a:xfrm>
            <a:off x="0" y="0"/>
            <a:ext cx="9144000" cy="558000"/>
            <a:chOff x="0" y="0"/>
            <a:chExt cx="9144000" cy="558000"/>
          </a:xfrm>
        </p:grpSpPr>
        <p:sp>
          <p:nvSpPr>
            <p:cNvPr id="50"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1"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Analiza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entymentu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w </a:t>
            </a:r>
            <a:r>
              <a:rPr lang="pl-PL" sz="2000" b="1" i="0" u="none" strike="noStrike" kern="1200" cap="none" spc="0" baseline="0" dirty="0" smtClean="0">
                <a:solidFill>
                  <a:srgbClr val="FFFFFF"/>
                </a:solidFill>
                <a:uFillTx/>
                <a:latin typeface="Cambria" pitchFamily="34"/>
                <a:ea typeface="Cambria" pitchFamily="34"/>
                <a:cs typeface="Cambria" pitchFamily="34"/>
              </a:rPr>
              <a:t>t</a:t>
            </a:r>
            <a:r>
              <a:rPr lang="en-US" sz="2000" b="1" i="0" u="none" strike="noStrike" kern="1200" cap="none" spc="0" baseline="0" dirty="0" err="1" smtClean="0">
                <a:solidFill>
                  <a:srgbClr val="FFFFFF"/>
                </a:solidFill>
                <a:uFillTx/>
                <a:latin typeface="Cambria" pitchFamily="34"/>
                <a:ea typeface="Cambria" pitchFamily="34"/>
                <a:cs typeface="Cambria" pitchFamily="34"/>
              </a:rPr>
              <a:t>ekście</a:t>
            </a:r>
            <a:r>
              <a:rPr lang="pl-PL" sz="2000" b="1" dirty="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NLP on Mobile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1312926" y="739428"/>
            <a:ext cx="6957060" cy="38383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Tekst</a:t>
            </a:r>
            <a:r>
              <a:rPr lang="en-US" sz="1600" b="0" i="0" u="none" strike="noStrike" kern="1200" cap="none" spc="0" baseline="0" dirty="0">
                <a:solidFill>
                  <a:srgbClr val="111931"/>
                </a:solidFill>
                <a:uFillTx/>
                <a:latin typeface="Calibri" pitchFamily="34"/>
                <a:ea typeface="Calibri" pitchFamily="34"/>
                <a:cs typeface="Calibri" pitchFamily="34"/>
              </a:rPr>
              <a:t> jest </a:t>
            </a:r>
            <a:r>
              <a:rPr lang="en-US" sz="1600" b="0" i="0" u="none" strike="noStrike" kern="1200" cap="none" spc="0" baseline="0" dirty="0" err="1">
                <a:solidFill>
                  <a:srgbClr val="111931"/>
                </a:solidFill>
                <a:uFillTx/>
                <a:latin typeface="Calibri" pitchFamily="34"/>
                <a:ea typeface="Calibri" pitchFamily="34"/>
                <a:cs typeface="Calibri" pitchFamily="34"/>
              </a:rPr>
              <a:t>najłatwiej</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dostępnym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kanałem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afektywnym</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aplikacjach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mobilnych</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a:solidFill>
                  <a:srgbClr val="111931"/>
                </a:solidFill>
                <a:uFillTx/>
                <a:latin typeface="Calibri" pitchFamily="34"/>
                <a:ea typeface="Calibri" pitchFamily="34"/>
                <a:cs typeface="Calibri" pitchFamily="34"/>
              </a:rPr>
              <a:t>chat, </a:t>
            </a:r>
            <a:r>
              <a:rPr lang="en-US" sz="1600" b="0" i="0" u="none" strike="noStrike" kern="1200" cap="none" spc="0" baseline="0" dirty="0" err="1">
                <a:solidFill>
                  <a:srgbClr val="111931"/>
                </a:solidFill>
                <a:uFillTx/>
                <a:latin typeface="Calibri" pitchFamily="34"/>
                <a:ea typeface="Calibri" pitchFamily="34"/>
                <a:cs typeface="Calibri" pitchFamily="34"/>
              </a:rPr>
              <a:t>dziennik</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komentarze</a:t>
            </a:r>
            <a:r>
              <a:rPr lang="en-US" sz="1600" b="0" i="0" u="none" strike="noStrike" kern="1200" cap="none" spc="0" baseline="0" dirty="0">
                <a:solidFill>
                  <a:srgbClr val="111931"/>
                </a:solidFill>
                <a:uFillTx/>
                <a:latin typeface="Calibri" pitchFamily="34"/>
                <a:ea typeface="Calibri" pitchFamily="34"/>
                <a:cs typeface="Calibri" pitchFamily="34"/>
              </a:rPr>
              <a:t>, e-mail. </a:t>
            </a:r>
            <a:r>
              <a:rPr lang="en-US" sz="1600" b="0" i="0" u="none" strike="noStrike" kern="1200" cap="none" spc="0" baseline="0" dirty="0" err="1">
                <a:solidFill>
                  <a:srgbClr val="111931"/>
                </a:solidFill>
                <a:uFillTx/>
                <a:latin typeface="Calibri" pitchFamily="34"/>
                <a:ea typeface="Calibri" pitchFamily="34"/>
                <a:cs typeface="Calibri" pitchFamily="34"/>
              </a:rPr>
              <a:t>Klucz</a:t>
            </a:r>
            <a:r>
              <a:rPr lang="en-US" sz="1600" b="0" i="0" u="none" strike="noStrike" kern="1200" cap="none" spc="0" baseline="0" dirty="0">
                <a:solidFill>
                  <a:srgbClr val="111931"/>
                </a:solidFill>
                <a:uFillTx/>
                <a:latin typeface="Calibri" pitchFamily="34"/>
                <a:ea typeface="Calibri" pitchFamily="34"/>
                <a:cs typeface="Calibri" pitchFamily="34"/>
              </a:rPr>
              <a:t>: on-device NLP </a:t>
            </a:r>
            <a:r>
              <a:rPr lang="en-US" sz="1600" b="0" i="0" u="none" strike="noStrike" kern="1200" cap="none" spc="0" baseline="0" dirty="0" err="1">
                <a:solidFill>
                  <a:srgbClr val="111931"/>
                </a:solidFill>
                <a:uFillTx/>
                <a:latin typeface="Calibri" pitchFamily="34"/>
                <a:ea typeface="Calibri" pitchFamily="34"/>
                <a:cs typeface="Calibri" pitchFamily="34"/>
              </a:rPr>
              <a:t>dla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prywatności</a:t>
            </a:r>
            <a:r>
              <a:rPr lang="en-US" sz="1600" b="0" i="0" u="none" strike="noStrike" kern="1200" cap="none" spc="0" baseline="0" dirty="0">
                <a:solidFill>
                  <a:srgbClr val="111931"/>
                </a:solidFill>
                <a:uFillTx/>
                <a:latin typeface="Calibri" pitchFamily="34"/>
                <a:ea typeface="Calibri" pitchFamily="34"/>
                <a:cs typeface="Calibri" pitchFamily="34"/>
              </a:rPr>
              <a:t>.</a:t>
            </a:r>
            <a:endParaRPr lang="en-US" sz="1600" b="0" i="0" u="none" strike="noStrike" kern="1200" cap="none" spc="0" baseline="0" dirty="0">
              <a:solidFill>
                <a:srgbClr val="111931"/>
              </a:solidFill>
              <a:uFillTx/>
              <a:latin typeface="Calibri"/>
            </a:endParaRPr>
          </a:p>
        </p:txBody>
      </p:sp>
      <p:grpSp>
        <p:nvGrpSpPr>
          <p:cNvPr id="57" name="Grupa 56"/>
          <p:cNvGrpSpPr/>
          <p:nvPr/>
        </p:nvGrpSpPr>
        <p:grpSpPr>
          <a:xfrm>
            <a:off x="320040" y="1534668"/>
            <a:ext cx="4160520" cy="2756844"/>
            <a:chOff x="320040" y="1389888"/>
            <a:chExt cx="4160520" cy="2817804"/>
          </a:xfrm>
        </p:grpSpPr>
        <p:sp>
          <p:nvSpPr>
            <p:cNvPr id="8" name="Text 6"/>
            <p:cNvSpPr/>
            <p:nvPr/>
          </p:nvSpPr>
          <p:spPr>
            <a:xfrm>
              <a:off x="320040" y="138988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11931"/>
                  </a:solidFill>
                  <a:uFillTx/>
                  <a:latin typeface="Cambria" pitchFamily="34"/>
                  <a:ea typeface="Cambria" pitchFamily="34"/>
                  <a:cs typeface="Cambria" pitchFamily="34"/>
                </a:rPr>
                <a:t>Pipeline NLP </a:t>
              </a:r>
              <a:r>
                <a:rPr lang="en-US" sz="1200" b="1" i="0" u="none" strike="noStrike" kern="1200" cap="none" spc="0" baseline="0" dirty="0" err="1" smtClean="0">
                  <a:solidFill>
                    <a:srgbClr val="111931"/>
                  </a:solidFill>
                  <a:uFillTx/>
                  <a:latin typeface="Cambria" pitchFamily="34"/>
                  <a:ea typeface="Cambria" pitchFamily="34"/>
                  <a:cs typeface="Cambria" pitchFamily="34"/>
                </a:rPr>
                <a:t>afektywnego</a:t>
              </a:r>
              <a:endParaRPr lang="en-US" sz="1200" b="0" i="0" u="none" strike="noStrike" kern="1200" cap="none" spc="0" baseline="0" dirty="0">
                <a:solidFill>
                  <a:srgbClr val="111931"/>
                </a:solidFill>
                <a:uFillTx/>
                <a:latin typeface="Calibri"/>
              </a:endParaRPr>
            </a:p>
          </p:txBody>
        </p:sp>
        <p:sp>
          <p:nvSpPr>
            <p:cNvPr id="9" name="Shape 7"/>
            <p:cNvSpPr/>
            <p:nvPr/>
          </p:nvSpPr>
          <p:spPr>
            <a:xfrm>
              <a:off x="320040" y="165658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65658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48056" y="166725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Tokenizacja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preprocessing</a:t>
              </a:r>
              <a:endParaRPr lang="en-US" sz="1100" b="0" i="0" u="none" strike="noStrike" kern="1200" cap="none" spc="0" baseline="0" dirty="0">
                <a:solidFill>
                  <a:srgbClr val="000000"/>
                </a:solidFill>
                <a:uFillTx/>
                <a:latin typeface="Calibri"/>
              </a:endParaRPr>
            </a:p>
          </p:txBody>
        </p:sp>
        <p:sp>
          <p:nvSpPr>
            <p:cNvPr id="12" name="Text 10"/>
            <p:cNvSpPr/>
            <p:nvPr/>
          </p:nvSpPr>
          <p:spPr>
            <a:xfrm>
              <a:off x="448056" y="1932432"/>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WordPiece</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SentencePiece</a:t>
              </a:r>
              <a:r>
                <a:rPr lang="en-US" sz="1000" b="0" i="0" u="none" strike="noStrike" kern="1200" cap="none" spc="0" baseline="0" dirty="0">
                  <a:solidFill>
                    <a:srgbClr val="111931"/>
                  </a:solidFill>
                  <a:uFillTx/>
                  <a:latin typeface="Calibri" pitchFamily="34"/>
                  <a:ea typeface="Calibri" pitchFamily="34"/>
                  <a:cs typeface="Calibri" pitchFamily="34"/>
                </a:rPr>
                <a:t> tokenizer (BERT-like) </a:t>
              </a:r>
              <a:r>
                <a:rPr lang="en-US" sz="1000" b="0" i="0" u="none" strike="noStrike" kern="1200" cap="none" spc="0" baseline="0" dirty="0" err="1">
                  <a:solidFill>
                    <a:srgbClr val="111931"/>
                  </a:solidFill>
                  <a:uFillTx/>
                  <a:latin typeface="Calibri" pitchFamily="34"/>
                  <a:ea typeface="Calibri" pitchFamily="34"/>
                  <a:cs typeface="Calibri" pitchFamily="34"/>
                </a:rPr>
                <a:t>lub</a:t>
              </a:r>
              <a:r>
                <a:rPr lang="en-US" sz="1000" b="0" i="0" u="none" strike="noStrike" kern="1200" cap="none" spc="0" baseline="0" dirty="0">
                  <a:solidFill>
                    <a:srgbClr val="111931"/>
                  </a:solidFill>
                  <a:uFillTx/>
                  <a:latin typeface="Calibri" pitchFamily="34"/>
                  <a:ea typeface="Calibri" pitchFamily="34"/>
                  <a:cs typeface="Calibri" pitchFamily="34"/>
                </a:rPr>
                <a:t> Word2Vec. </a:t>
              </a:r>
              <a:r>
                <a:rPr lang="en-US" sz="1000" b="0" i="0" u="none" strike="noStrike" kern="1200" cap="none" spc="0" baseline="0" dirty="0" err="1">
                  <a:solidFill>
                    <a:srgbClr val="111931"/>
                  </a:solidFill>
                  <a:uFillTx/>
                  <a:latin typeface="Calibri" pitchFamily="34"/>
                  <a:ea typeface="Calibri" pitchFamily="34"/>
                  <a:cs typeface="Calibri" pitchFamily="34"/>
                </a:rPr>
                <a:t>Usuwanie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stopwords</a:t>
              </a:r>
              <a:r>
                <a:rPr lang="en-US" sz="1000" b="0" i="0" u="none" strike="noStrike" kern="1200" cap="none" spc="0" baseline="0" dirty="0">
                  <a:solidFill>
                    <a:srgbClr val="111931"/>
                  </a:solidFill>
                  <a:uFillTx/>
                  <a:latin typeface="Calibri" pitchFamily="34"/>
                  <a:ea typeface="Calibri" pitchFamily="34"/>
                  <a:cs typeface="Calibri" pitchFamily="34"/>
                </a:rPr>
                <a:t>, lowercase, stemming. Emoji → sentiment token (😊 → [HAPPY]).</a:t>
              </a:r>
              <a:endParaRPr lang="en-US" sz="1000" b="0" i="0" u="none" strike="noStrike" kern="1200" cap="none" spc="0" baseline="0" dirty="0">
                <a:solidFill>
                  <a:srgbClr val="111931"/>
                </a:solidFill>
                <a:uFillTx/>
                <a:latin typeface="Calibri"/>
              </a:endParaRPr>
            </a:p>
          </p:txBody>
        </p:sp>
        <p:sp>
          <p:nvSpPr>
            <p:cNvPr id="13" name="Shape 11"/>
            <p:cNvSpPr/>
            <p:nvPr/>
          </p:nvSpPr>
          <p:spPr>
            <a:xfrm>
              <a:off x="320040" y="2307336"/>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2314956"/>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48056" y="233324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Leksykalne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podejście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szybkie</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16" name="Text 14"/>
            <p:cNvSpPr/>
            <p:nvPr/>
          </p:nvSpPr>
          <p:spPr>
            <a:xfrm>
              <a:off x="448056" y="2590800"/>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VADER: lexicon 7500 słów z ocenami sentymentu. Reguły dla negacji (not happy). SentiWordNet. Doskonały baseline, 0.05ms na zdanie, offline.</a:t>
              </a:r>
              <a:endParaRPr lang="en-US" sz="1000" b="0" i="0" u="none" strike="noStrike" kern="1200" cap="none" spc="0" baseline="0">
                <a:solidFill>
                  <a:srgbClr val="111931"/>
                </a:solidFill>
                <a:uFillTx/>
                <a:latin typeface="Calibri"/>
              </a:endParaRPr>
            </a:p>
          </p:txBody>
        </p:sp>
        <p:sp>
          <p:nvSpPr>
            <p:cNvPr id="17" name="Shape 15"/>
            <p:cNvSpPr/>
            <p:nvPr/>
          </p:nvSpPr>
          <p:spPr>
            <a:xfrm>
              <a:off x="320040" y="2973324"/>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973324"/>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48056" y="297637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BERT-based (</a:t>
              </a:r>
              <a:r>
                <a:rPr lang="en-US" sz="1100" b="1" i="0" u="none" strike="noStrike" kern="1200" cap="none" spc="0" baseline="0" dirty="0" err="1">
                  <a:solidFill>
                    <a:srgbClr val="1F1535"/>
                  </a:solidFill>
                  <a:uFillTx/>
                  <a:latin typeface="Cambria" pitchFamily="34"/>
                  <a:ea typeface="Cambria" pitchFamily="34"/>
                  <a:cs typeface="Cambria" pitchFamily="34"/>
                </a:rPr>
                <a:t>dokładne</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20" name="Text 18"/>
            <p:cNvSpPr/>
            <p:nvPr/>
          </p:nvSpPr>
          <p:spPr>
            <a:xfrm>
              <a:off x="448056" y="3249168"/>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DistilBERT</a:t>
              </a:r>
              <a:r>
                <a:rPr lang="en-US" sz="1000" b="0" i="0" u="none" strike="noStrike" kern="1200" cap="none" spc="0" baseline="0" dirty="0">
                  <a:solidFill>
                    <a:srgbClr val="111931"/>
                  </a:solidFill>
                  <a:uFillTx/>
                  <a:latin typeface="Calibri" pitchFamily="34"/>
                  <a:ea typeface="Calibri" pitchFamily="34"/>
                  <a:cs typeface="Calibri" pitchFamily="34"/>
                </a:rPr>
                <a:t> (66M→40MB) </a:t>
              </a:r>
              <a:r>
                <a:rPr lang="en-US" sz="1000" b="0" i="0" u="none" strike="noStrike" kern="1200" cap="none" spc="0" baseline="0" dirty="0" err="1">
                  <a:solidFill>
                    <a:srgbClr val="111931"/>
                  </a:solidFill>
                  <a:uFillTx/>
                  <a:latin typeface="Calibri" pitchFamily="34"/>
                  <a:ea typeface="Calibri" pitchFamily="34"/>
                  <a:cs typeface="Calibri" pitchFamily="34"/>
                </a:rPr>
                <a:t>lub</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MobileBERT</a:t>
              </a:r>
              <a:r>
                <a:rPr lang="en-US" sz="1000" b="0" i="0" u="none" strike="noStrike" kern="1200" cap="none" spc="0" baseline="0" dirty="0">
                  <a:solidFill>
                    <a:srgbClr val="111931"/>
                  </a:solidFill>
                  <a:uFillTx/>
                  <a:latin typeface="Calibri" pitchFamily="34"/>
                  <a:ea typeface="Calibri" pitchFamily="34"/>
                  <a:cs typeface="Calibri" pitchFamily="34"/>
                </a:rPr>
                <a:t> (25MB </a:t>
              </a:r>
              <a:r>
                <a:rPr lang="en-US" sz="1000" b="0" i="0" u="none" strike="noStrike" kern="1200" cap="none" spc="0" baseline="0" dirty="0" err="1">
                  <a:solidFill>
                    <a:srgbClr val="111931"/>
                  </a:solidFill>
                  <a:uFillTx/>
                  <a:latin typeface="Calibri" pitchFamily="34"/>
                  <a:ea typeface="Calibri" pitchFamily="34"/>
                  <a:cs typeface="Calibri" pitchFamily="34"/>
                </a:rPr>
                <a:t>TFLite</a:t>
              </a:r>
              <a:r>
                <a:rPr lang="en-US" sz="1000" b="0" i="0" u="none" strike="noStrike" kern="1200" cap="none" spc="0" baseline="0" dirty="0">
                  <a:solidFill>
                    <a:srgbClr val="111931"/>
                  </a:solidFill>
                  <a:uFillTx/>
                  <a:latin typeface="Calibri" pitchFamily="34"/>
                  <a:ea typeface="Calibri" pitchFamily="34"/>
                  <a:cs typeface="Calibri" pitchFamily="34"/>
                </a:rPr>
                <a:t>) fine-tuned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GoEmotions</a:t>
              </a:r>
              <a:r>
                <a:rPr lang="en-US" sz="1000" b="0" i="0" u="none" strike="noStrike" kern="1200" cap="none" spc="0" baseline="0" dirty="0">
                  <a:solidFill>
                    <a:srgbClr val="111931"/>
                  </a:solidFill>
                  <a:uFillTx/>
                  <a:latin typeface="Calibri" pitchFamily="34"/>
                  <a:ea typeface="Calibri" pitchFamily="34"/>
                  <a:cs typeface="Calibri" pitchFamily="34"/>
                </a:rPr>
                <a:t> dataset (27 </a:t>
              </a:r>
              <a:r>
                <a:rPr lang="en-US" sz="1000" b="0" i="0" u="none" strike="noStrike" kern="1200" cap="none" spc="0" baseline="0" dirty="0" err="1">
                  <a:solidFill>
                    <a:srgbClr val="111931"/>
                  </a:solidFill>
                  <a:uFillTx/>
                  <a:latin typeface="Calibri" pitchFamily="34"/>
                  <a:ea typeface="Calibri" pitchFamily="34"/>
                  <a:cs typeface="Calibri" pitchFamily="34"/>
                </a:rPr>
                <a:t>emocji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Reddit</a:t>
              </a:r>
              <a:r>
                <a:rPr lang="en-US" sz="1000" b="0" i="0" u="none" strike="noStrike" kern="1200" cap="none" spc="0" baseline="0" dirty="0">
                  <a:solidFill>
                    <a:srgbClr val="111931"/>
                  </a:solidFill>
                  <a:uFillTx/>
                  <a:latin typeface="Calibri" pitchFamily="34"/>
                  <a:ea typeface="Calibri" pitchFamily="34"/>
                  <a:cs typeface="Calibri" pitchFamily="34"/>
                </a:rPr>
                <a:t>). State of the art 0.7+ F1.</a:t>
              </a:r>
              <a:endParaRPr lang="en-US" sz="1000" b="0" i="0" u="none" strike="noStrike" kern="1200" cap="none" spc="0" baseline="0" dirty="0">
                <a:solidFill>
                  <a:srgbClr val="111931"/>
                </a:solidFill>
                <a:uFillTx/>
                <a:latin typeface="Calibri"/>
              </a:endParaRPr>
            </a:p>
          </p:txBody>
        </p:sp>
        <p:sp>
          <p:nvSpPr>
            <p:cNvPr id="21" name="Shape 19"/>
            <p:cNvSpPr/>
            <p:nvPr/>
          </p:nvSpPr>
          <p:spPr>
            <a:xfrm>
              <a:off x="320040" y="363169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631692"/>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48056" y="362712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GoEmotions</a:t>
              </a:r>
              <a:r>
                <a:rPr lang="en-US" sz="1100" b="1" i="0" u="none" strike="noStrike" kern="1200" cap="none" spc="0" baseline="0" dirty="0">
                  <a:solidFill>
                    <a:srgbClr val="1F1535"/>
                  </a:solidFill>
                  <a:uFillTx/>
                  <a:latin typeface="Cambria" pitchFamily="34"/>
                  <a:ea typeface="Cambria" pitchFamily="34"/>
                  <a:cs typeface="Cambria" pitchFamily="34"/>
                </a:rPr>
                <a:t> Dataset (Google)</a:t>
              </a:r>
              <a:endParaRPr lang="en-US" sz="1100" b="0" i="0" u="none" strike="noStrike" kern="1200" cap="none" spc="0" baseline="0" dirty="0">
                <a:solidFill>
                  <a:srgbClr val="000000"/>
                </a:solidFill>
                <a:uFillTx/>
                <a:latin typeface="Calibri"/>
              </a:endParaRPr>
            </a:p>
          </p:txBody>
        </p:sp>
        <p:sp>
          <p:nvSpPr>
            <p:cNvPr id="24" name="Text 22"/>
            <p:cNvSpPr/>
            <p:nvPr/>
          </p:nvSpPr>
          <p:spPr>
            <a:xfrm>
              <a:off x="448056" y="3907536"/>
              <a:ext cx="3977639"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58k komentarzy Reddit, 27 klas emocji + neutral. Hierarchia: 27 → 7 (Ekman) → 3 (pos/neg/ambig). Publiczny dataset do fine-tuningu.</a:t>
              </a:r>
              <a:endParaRPr lang="en-US" sz="1000" b="0" i="0" u="none" strike="noStrike" kern="1200" cap="none" spc="0" baseline="0">
                <a:solidFill>
                  <a:srgbClr val="111931"/>
                </a:solidFill>
                <a:uFillTx/>
                <a:latin typeface="Calibri"/>
              </a:endParaRPr>
            </a:p>
          </p:txBody>
        </p:sp>
      </p:grpSp>
      <p:sp>
        <p:nvSpPr>
          <p:cNvPr id="25" name="Shape 23"/>
          <p:cNvSpPr/>
          <p:nvPr/>
        </p:nvSpPr>
        <p:spPr>
          <a:xfrm>
            <a:off x="320040" y="4364220"/>
            <a:ext cx="4160520" cy="501912"/>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3483864" y="4387596"/>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7" name="Text 25"/>
          <p:cNvSpPr/>
          <p:nvPr/>
        </p:nvSpPr>
        <p:spPr>
          <a:xfrm>
            <a:off x="402336" y="4415027"/>
            <a:ext cx="3995928" cy="478537"/>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Android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Text Classifier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MediaPipe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TextClassifier.createFromFile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ctx</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sentiment.tflite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label:"joy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score:0.82},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label:"sadness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score:0.12}]</a:t>
            </a:r>
          </a:p>
        </p:txBody>
      </p:sp>
      <p:sp>
        <p:nvSpPr>
          <p:cNvPr id="28" name="Text 26"/>
          <p:cNvSpPr/>
          <p:nvPr/>
        </p:nvSpPr>
        <p:spPr>
          <a:xfrm>
            <a:off x="4663440" y="1534668"/>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11931"/>
                </a:solidFill>
                <a:uFillTx/>
                <a:latin typeface="Cambria" pitchFamily="34"/>
                <a:ea typeface="Cambria" pitchFamily="34"/>
                <a:cs typeface="Cambria" pitchFamily="34"/>
              </a:rPr>
              <a:t>Praktyczne</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a:solidFill>
                  <a:srgbClr val="111931"/>
                </a:solidFill>
                <a:uFillTx/>
                <a:latin typeface="Cambria" pitchFamily="34"/>
                <a:ea typeface="Cambria" pitchFamily="34"/>
                <a:cs typeface="Cambria" pitchFamily="34"/>
              </a:rPr>
              <a:t>przykłady</a:t>
            </a:r>
            <a:r>
              <a:rPr lang="en-US" sz="1200" b="1" i="0" u="none" strike="noStrike" kern="1200" cap="none" spc="0" baseline="0" dirty="0">
                <a:solidFill>
                  <a:srgbClr val="111931"/>
                </a:solidFill>
                <a:uFillTx/>
                <a:latin typeface="Cambria" pitchFamily="34"/>
                <a:ea typeface="Cambria" pitchFamily="34"/>
                <a:cs typeface="Cambria" pitchFamily="34"/>
              </a:rPr>
              <a:t> NLP </a:t>
            </a:r>
            <a:r>
              <a:rPr lang="en-US" sz="1200" b="1" i="0" u="none" strike="noStrike" kern="1200" cap="none" spc="0" baseline="0" dirty="0" err="1" smtClean="0">
                <a:solidFill>
                  <a:srgbClr val="111931"/>
                </a:solidFill>
                <a:uFillTx/>
                <a:latin typeface="Cambria" pitchFamily="34"/>
                <a:ea typeface="Cambria" pitchFamily="34"/>
                <a:cs typeface="Cambria" pitchFamily="34"/>
              </a:rPr>
              <a:t>afektywnego</a:t>
            </a:r>
            <a:endParaRPr lang="en-US" sz="1200" b="0" i="0" u="none" strike="noStrike" kern="1200" cap="none" spc="0" baseline="0" dirty="0">
              <a:solidFill>
                <a:srgbClr val="111931"/>
              </a:solidFill>
              <a:uFillTx/>
              <a:latin typeface="Calibri"/>
            </a:endParaRPr>
          </a:p>
        </p:txBody>
      </p:sp>
      <p:grpSp>
        <p:nvGrpSpPr>
          <p:cNvPr id="56" name="Grupa 55"/>
          <p:cNvGrpSpPr/>
          <p:nvPr/>
        </p:nvGrpSpPr>
        <p:grpSpPr>
          <a:xfrm>
            <a:off x="4663440" y="1786128"/>
            <a:ext cx="4206240" cy="576000"/>
            <a:chOff x="4663440" y="1458468"/>
            <a:chExt cx="4206240" cy="576000"/>
          </a:xfrm>
        </p:grpSpPr>
        <p:sp>
          <p:nvSpPr>
            <p:cNvPr id="29" name="Shape 27"/>
            <p:cNvSpPr/>
            <p:nvPr/>
          </p:nvSpPr>
          <p:spPr>
            <a:xfrm>
              <a:off x="4663440" y="145846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Shape 28"/>
            <p:cNvSpPr/>
            <p:nvPr/>
          </p:nvSpPr>
          <p:spPr>
            <a:xfrm>
              <a:off x="4663440" y="145846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4791456" y="146913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Woebot</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chatbot</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terapeutyczny</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32" name="Text 30"/>
            <p:cNvSpPr/>
            <p:nvPr/>
          </p:nvSpPr>
          <p:spPr>
            <a:xfrm>
              <a:off x="4791456" y="1719072"/>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Analiza sentymentu wiadomości CBT chatbota — personalizacja kolejnych promptów. 1.5M+ użytkowników. NLP on-device dla prywatności.</a:t>
              </a:r>
              <a:endParaRPr lang="en-US" sz="1000" b="0" i="0" u="none" strike="noStrike" kern="1200" cap="none" spc="0" baseline="0">
                <a:solidFill>
                  <a:srgbClr val="111931"/>
                </a:solidFill>
                <a:uFillTx/>
                <a:latin typeface="Calibri"/>
              </a:endParaRPr>
            </a:p>
          </p:txBody>
        </p:sp>
      </p:grpSp>
      <p:grpSp>
        <p:nvGrpSpPr>
          <p:cNvPr id="55" name="Grupa 54"/>
          <p:cNvGrpSpPr/>
          <p:nvPr/>
        </p:nvGrpSpPr>
        <p:grpSpPr>
          <a:xfrm>
            <a:off x="4663440" y="2423160"/>
            <a:ext cx="4206240" cy="576000"/>
            <a:chOff x="4663440" y="2171700"/>
            <a:chExt cx="4206240" cy="576000"/>
          </a:xfrm>
        </p:grpSpPr>
        <p:sp>
          <p:nvSpPr>
            <p:cNvPr id="33" name="Shape 31"/>
            <p:cNvSpPr/>
            <p:nvPr/>
          </p:nvSpPr>
          <p:spPr>
            <a:xfrm>
              <a:off x="4663440" y="2171700"/>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4663440" y="2171700"/>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791456" y="2182367"/>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Wysa</a:t>
              </a:r>
              <a:r>
                <a:rPr lang="en-US" sz="1100" b="1" i="0" u="none" strike="noStrike" kern="1200" cap="none" spc="0" baseline="0" dirty="0">
                  <a:solidFill>
                    <a:srgbClr val="1F1535"/>
                  </a:solidFill>
                  <a:uFillTx/>
                  <a:latin typeface="Cambria" pitchFamily="34"/>
                  <a:ea typeface="Cambria" pitchFamily="34"/>
                  <a:cs typeface="Cambria" pitchFamily="34"/>
                </a:rPr>
                <a:t> (mental health app)</a:t>
              </a:r>
              <a:endParaRPr lang="en-US" sz="1100" b="0" i="0" u="none" strike="noStrike" kern="1200" cap="none" spc="0" baseline="0" dirty="0">
                <a:solidFill>
                  <a:srgbClr val="000000"/>
                </a:solidFill>
                <a:uFillTx/>
                <a:latin typeface="Calibri"/>
              </a:endParaRPr>
            </a:p>
          </p:txBody>
        </p:sp>
        <p:sp>
          <p:nvSpPr>
            <p:cNvPr id="36" name="Text 34"/>
            <p:cNvSpPr/>
            <p:nvPr/>
          </p:nvSpPr>
          <p:spPr>
            <a:xfrm>
              <a:off x="4791456" y="2432304"/>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Konwersacyjny AI z emotion tracking z tekstu i samooceny PHQ-9. Trigger dla human escalation gdy sentyment bardzo negatywny &gt; 3 dni.</a:t>
              </a:r>
              <a:endParaRPr lang="en-US" sz="1000" b="0" i="0" u="none" strike="noStrike" kern="1200" cap="none" spc="0" baseline="0">
                <a:solidFill>
                  <a:srgbClr val="111931"/>
                </a:solidFill>
                <a:uFillTx/>
                <a:latin typeface="Calibri"/>
              </a:endParaRPr>
            </a:p>
          </p:txBody>
        </p:sp>
      </p:grpSp>
      <p:grpSp>
        <p:nvGrpSpPr>
          <p:cNvPr id="54" name="Grupa 53"/>
          <p:cNvGrpSpPr/>
          <p:nvPr/>
        </p:nvGrpSpPr>
        <p:grpSpPr>
          <a:xfrm>
            <a:off x="4663440" y="3040380"/>
            <a:ext cx="4206240" cy="580572"/>
            <a:chOff x="4663440" y="2880360"/>
            <a:chExt cx="4206240" cy="580572"/>
          </a:xfrm>
        </p:grpSpPr>
        <p:sp>
          <p:nvSpPr>
            <p:cNvPr id="37" name="Shape 35"/>
            <p:cNvSpPr/>
            <p:nvPr/>
          </p:nvSpPr>
          <p:spPr>
            <a:xfrm>
              <a:off x="4663440" y="2884932"/>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Shape 36"/>
            <p:cNvSpPr/>
            <p:nvPr/>
          </p:nvSpPr>
          <p:spPr>
            <a:xfrm>
              <a:off x="4663440" y="2884932"/>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Text 37"/>
            <p:cNvSpPr/>
            <p:nvPr/>
          </p:nvSpPr>
          <p:spPr>
            <a:xfrm>
              <a:off x="4791456" y="288036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Day One / </a:t>
              </a:r>
              <a:r>
                <a:rPr lang="en-US" sz="1100" b="1" i="0" u="none" strike="noStrike" kern="1200" cap="none" spc="0" baseline="0" dirty="0" err="1">
                  <a:solidFill>
                    <a:srgbClr val="1F1535"/>
                  </a:solidFill>
                  <a:uFillTx/>
                  <a:latin typeface="Cambria" pitchFamily="34"/>
                  <a:ea typeface="Cambria" pitchFamily="34"/>
                  <a:cs typeface="Cambria" pitchFamily="34"/>
                </a:rPr>
                <a:t>Reflectly</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dzienniki</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40" name="Text 38"/>
            <p:cNvSpPr/>
            <p:nvPr/>
          </p:nvSpPr>
          <p:spPr>
            <a:xfrm>
              <a:off x="4791456" y="314553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Analiza emocji wpisów dziennika → moodtracking wykres. Reflectly używa BERT lite do tygodniowych raportów nastroju.</a:t>
              </a:r>
              <a:endParaRPr lang="en-US" sz="1000" b="0" i="0" u="none" strike="noStrike" kern="1200" cap="none" spc="0" baseline="0">
                <a:solidFill>
                  <a:srgbClr val="111931"/>
                </a:solidFill>
                <a:uFillTx/>
                <a:latin typeface="Calibri"/>
              </a:endParaRPr>
            </a:p>
          </p:txBody>
        </p:sp>
      </p:grpSp>
      <p:grpSp>
        <p:nvGrpSpPr>
          <p:cNvPr id="53" name="Grupa 52"/>
          <p:cNvGrpSpPr/>
          <p:nvPr/>
        </p:nvGrpSpPr>
        <p:grpSpPr>
          <a:xfrm>
            <a:off x="4663440" y="3666744"/>
            <a:ext cx="4206240" cy="576000"/>
            <a:chOff x="4663440" y="3613404"/>
            <a:chExt cx="4206240" cy="576000"/>
          </a:xfrm>
        </p:grpSpPr>
        <p:sp>
          <p:nvSpPr>
            <p:cNvPr id="41" name="Shape 39"/>
            <p:cNvSpPr/>
            <p:nvPr/>
          </p:nvSpPr>
          <p:spPr>
            <a:xfrm>
              <a:off x="4663440" y="3613404"/>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Shape 40"/>
            <p:cNvSpPr/>
            <p:nvPr/>
          </p:nvSpPr>
          <p:spPr>
            <a:xfrm>
              <a:off x="4663440" y="3613404"/>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Text 41"/>
            <p:cNvSpPr/>
            <p:nvPr/>
          </p:nvSpPr>
          <p:spPr>
            <a:xfrm>
              <a:off x="4791456" y="3624071"/>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Gmail Smart Reply / Keyboard</a:t>
              </a:r>
              <a:endParaRPr lang="en-US" sz="1100" b="0" i="0" u="none" strike="noStrike" kern="1200" cap="none" spc="0" baseline="0" dirty="0">
                <a:solidFill>
                  <a:srgbClr val="000000"/>
                </a:solidFill>
                <a:uFillTx/>
                <a:latin typeface="Calibri"/>
              </a:endParaRPr>
            </a:p>
          </p:txBody>
        </p:sp>
        <p:sp>
          <p:nvSpPr>
            <p:cNvPr id="44" name="Text 42"/>
            <p:cNvSpPr/>
            <p:nvPr/>
          </p:nvSpPr>
          <p:spPr>
            <a:xfrm>
              <a:off x="4791456" y="385876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Gboard</a:t>
              </a:r>
              <a:r>
                <a:rPr lang="en-US" sz="1000" b="0" i="0" u="none" strike="noStrike" kern="1200" cap="none" spc="0" baseline="0" dirty="0">
                  <a:solidFill>
                    <a:srgbClr val="111931"/>
                  </a:solidFill>
                  <a:uFillTx/>
                  <a:latin typeface="Calibri" pitchFamily="34"/>
                  <a:ea typeface="Calibri" pitchFamily="34"/>
                  <a:cs typeface="Calibri" pitchFamily="34"/>
                </a:rPr>
                <a:t> Emoji Prediction — BERT </a:t>
              </a:r>
              <a:r>
                <a:rPr lang="en-US" sz="1000" b="0" i="0" u="none" strike="noStrike" kern="1200" cap="none" spc="0" baseline="0" dirty="0" err="1">
                  <a:solidFill>
                    <a:srgbClr val="111931"/>
                  </a:solidFill>
                  <a:uFillTx/>
                  <a:latin typeface="Calibri" pitchFamily="34"/>
                  <a:ea typeface="Calibri" pitchFamily="34"/>
                  <a:cs typeface="Calibri" pitchFamily="34"/>
                </a:rPr>
                <a:t>analizuje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napisany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tekst</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sugestia</a:t>
              </a:r>
              <a:r>
                <a:rPr lang="en-US" sz="1000" b="0" i="0" u="none" strike="noStrike" kern="1200" cap="none" spc="0" baseline="0" dirty="0">
                  <a:solidFill>
                    <a:srgbClr val="111931"/>
                  </a:solidFill>
                  <a:uFillTx/>
                  <a:latin typeface="Calibri" pitchFamily="34"/>
                  <a:ea typeface="Calibri" pitchFamily="34"/>
                  <a:cs typeface="Calibri" pitchFamily="34"/>
                </a:rPr>
                <a:t> emoji </a:t>
              </a:r>
              <a:r>
                <a:rPr lang="en-US" sz="1000" b="0" i="0" u="none" strike="noStrike" kern="1200" cap="none" spc="0" baseline="0" dirty="0" err="1">
                  <a:solidFill>
                    <a:srgbClr val="111931"/>
                  </a:solidFill>
                  <a:uFillTx/>
                  <a:latin typeface="Calibri" pitchFamily="34"/>
                  <a:ea typeface="Calibri" pitchFamily="34"/>
                  <a:cs typeface="Calibri" pitchFamily="34"/>
                </a:rPr>
                <a:t>odpowiadającego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emocji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Działanie</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pełni</a:t>
              </a:r>
              <a:r>
                <a:rPr lang="en-US" sz="1000" b="0" i="0" u="none" strike="noStrike" kern="1200" cap="none" spc="0" baseline="0" dirty="0">
                  <a:solidFill>
                    <a:srgbClr val="111931"/>
                  </a:solidFill>
                  <a:uFillTx/>
                  <a:latin typeface="Calibri" pitchFamily="34"/>
                  <a:ea typeface="Calibri" pitchFamily="34"/>
                  <a:cs typeface="Calibri" pitchFamily="34"/>
                </a:rPr>
                <a:t> on-device.</a:t>
              </a:r>
              <a:endParaRPr lang="en-US" sz="1000" b="0" i="0" u="none" strike="noStrike" kern="1200" cap="none" spc="0" baseline="0" dirty="0">
                <a:solidFill>
                  <a:srgbClr val="111931"/>
                </a:solidFill>
                <a:uFillTx/>
                <a:latin typeface="Calibri"/>
              </a:endParaRPr>
            </a:p>
          </p:txBody>
        </p:sp>
      </p:grpSp>
      <p:grpSp>
        <p:nvGrpSpPr>
          <p:cNvPr id="52" name="Grupa 51"/>
          <p:cNvGrpSpPr/>
          <p:nvPr/>
        </p:nvGrpSpPr>
        <p:grpSpPr>
          <a:xfrm>
            <a:off x="4663440" y="4306824"/>
            <a:ext cx="4206240" cy="576072"/>
            <a:chOff x="4663440" y="4306824"/>
            <a:chExt cx="4206240" cy="576072"/>
          </a:xfrm>
        </p:grpSpPr>
        <p:sp>
          <p:nvSpPr>
            <p:cNvPr id="45" name="Shape 43"/>
            <p:cNvSpPr/>
            <p:nvPr/>
          </p:nvSpPr>
          <p:spPr>
            <a:xfrm>
              <a:off x="4663440" y="4306824"/>
              <a:ext cx="4206240" cy="576072"/>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Shape 44"/>
            <p:cNvSpPr/>
            <p:nvPr/>
          </p:nvSpPr>
          <p:spPr>
            <a:xfrm>
              <a:off x="4663440" y="4306824"/>
              <a:ext cx="54864" cy="576072"/>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Text 45"/>
            <p:cNvSpPr/>
            <p:nvPr/>
          </p:nvSpPr>
          <p:spPr>
            <a:xfrm>
              <a:off x="4791456" y="4322064"/>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Apple Intelligence (iOS 18)</a:t>
              </a:r>
              <a:endParaRPr lang="en-US" sz="1100" b="0" i="0" u="none" strike="noStrike" kern="1200" cap="none" spc="0" baseline="0" dirty="0">
                <a:solidFill>
                  <a:srgbClr val="000000"/>
                </a:solidFill>
                <a:uFillTx/>
                <a:latin typeface="Calibri"/>
              </a:endParaRPr>
            </a:p>
          </p:txBody>
        </p:sp>
        <p:sp>
          <p:nvSpPr>
            <p:cNvPr id="48" name="Text 46"/>
            <p:cNvSpPr/>
            <p:nvPr/>
          </p:nvSpPr>
          <p:spPr>
            <a:xfrm>
              <a:off x="4791456" y="456438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Podsumowanie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powiadomień</a:t>
              </a:r>
              <a:r>
                <a:rPr lang="en-US" sz="1000" b="0" i="0" u="none" strike="noStrike" kern="1200" cap="none" spc="0" baseline="0" dirty="0">
                  <a:solidFill>
                    <a:srgbClr val="111931"/>
                  </a:solidFill>
                  <a:uFillTx/>
                  <a:latin typeface="Calibri" pitchFamily="34"/>
                  <a:ea typeface="Calibri" pitchFamily="34"/>
                  <a:cs typeface="Calibri" pitchFamily="34"/>
                </a:rPr>
                <a:t> z emotion-aware tone. </a:t>
              </a:r>
              <a:r>
                <a:rPr lang="en-US" sz="1000" b="0" i="0" u="none" strike="noStrike" kern="1200" cap="none" spc="0" baseline="0" dirty="0" err="1">
                  <a:solidFill>
                    <a:srgbClr val="111931"/>
                  </a:solidFill>
                  <a:uFillTx/>
                  <a:latin typeface="Calibri" pitchFamily="34"/>
                  <a:ea typeface="Calibri" pitchFamily="34"/>
                  <a:cs typeface="Calibri" pitchFamily="34"/>
                </a:rPr>
                <a:t>Priorytet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wiadomości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
              </a:r>
              <a:br>
                <a:rPr lang="pl-PL" sz="1000" b="0" i="0" u="none" strike="noStrike" kern="1200" cap="none" spc="0" baseline="0" dirty="0" smtClean="0">
                  <a:solidFill>
                    <a:srgbClr val="111931"/>
                  </a:solidFill>
                  <a:uFillTx/>
                  <a:latin typeface="Calibri" pitchFamily="34"/>
                  <a:ea typeface="Calibri" pitchFamily="34"/>
                  <a:cs typeface="Calibri" pitchFamily="34"/>
                </a:rPr>
              </a:br>
              <a:r>
                <a:rPr lang="en-US" sz="1000" b="0" i="0" u="none" strike="noStrike" kern="1200" cap="none" spc="0" baseline="0" dirty="0" smtClean="0">
                  <a:solidFill>
                    <a:srgbClr val="111931"/>
                  </a:solidFill>
                  <a:uFillTx/>
                  <a:latin typeface="Calibri" pitchFamily="34"/>
                  <a:ea typeface="Calibri" pitchFamily="34"/>
                  <a:cs typeface="Calibri" pitchFamily="34"/>
                </a:rPr>
                <a:t>z </a:t>
              </a:r>
              <a:r>
                <a:rPr lang="en-US" sz="1000" b="0" i="0" u="none" strike="noStrike" kern="1200" cap="none" spc="0" baseline="0" dirty="0" err="1">
                  <a:solidFill>
                    <a:srgbClr val="111931"/>
                  </a:solidFill>
                  <a:uFillTx/>
                  <a:latin typeface="Calibri" pitchFamily="34"/>
                  <a:ea typeface="Calibri" pitchFamily="34"/>
                  <a:cs typeface="Calibri" pitchFamily="34"/>
                </a:rPr>
                <a:t>pilnymi</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stresującymi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emocjami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wyżej</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liście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58"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10</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9FF"/>
        </a:solidFill>
        <a:effectLst/>
      </p:bgPr>
    </p:bg>
    <p:spTree>
      <p:nvGrpSpPr>
        <p:cNvPr id="1" name=""/>
        <p:cNvGrpSpPr/>
        <p:nvPr/>
      </p:nvGrpSpPr>
      <p:grpSpPr>
        <a:xfrm>
          <a:off x="0" y="0"/>
          <a:ext cx="0" cy="0"/>
          <a:chOff x="0" y="0"/>
          <a:chExt cx="0" cy="0"/>
        </a:xfrm>
      </p:grpSpPr>
      <p:grpSp>
        <p:nvGrpSpPr>
          <p:cNvPr id="40" name="Grupa 39"/>
          <p:cNvGrpSpPr/>
          <p:nvPr/>
        </p:nvGrpSpPr>
        <p:grpSpPr>
          <a:xfrm>
            <a:off x="0" y="0"/>
            <a:ext cx="9144000" cy="558000"/>
            <a:chOff x="0" y="0"/>
            <a:chExt cx="9144000" cy="558000"/>
          </a:xfrm>
        </p:grpSpPr>
        <p:sp>
          <p:nvSpPr>
            <p:cNvPr id="41"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LLM </a:t>
            </a:r>
            <a:r>
              <a:rPr lang="en-US" sz="2000" b="1" i="0" u="none" strike="noStrike" kern="1200" cap="none" spc="0" baseline="0" dirty="0" err="1">
                <a:solidFill>
                  <a:srgbClr val="FFFFFF"/>
                </a:solidFill>
                <a:uFillTx/>
                <a:latin typeface="Cambria" pitchFamily="34"/>
                <a:ea typeface="Cambria" pitchFamily="34"/>
                <a:cs typeface="Cambria" pitchFamily="34"/>
              </a:rPr>
              <a:t>jako</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ilnik</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fektywny</a:t>
            </a:r>
            <a:r>
              <a:rPr lang="pl-PL" sz="2000" b="1" dirty="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GPT, Gemini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odele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On-Device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129540" y="707136"/>
            <a:ext cx="5073396" cy="82905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Duże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modele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językowe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rewolucjonizują</a:t>
            </a:r>
            <a:r>
              <a:rPr lang="en-US" sz="1600" b="0" i="0" u="none" strike="noStrike" kern="1200" cap="none" spc="0" baseline="0" dirty="0">
                <a:solidFill>
                  <a:srgbClr val="111931"/>
                </a:solidFill>
                <a:uFillTx/>
                <a:latin typeface="Calibri" pitchFamily="34"/>
                <a:ea typeface="Calibri" pitchFamily="34"/>
                <a:cs typeface="Calibri" pitchFamily="34"/>
              </a:rPr>
              <a:t> NLP </a:t>
            </a:r>
            <a:r>
              <a:rPr lang="en-US" sz="1600" b="0" i="0" u="none" strike="noStrike" kern="1200" cap="none" spc="0" baseline="0" dirty="0" err="1" smtClean="0">
                <a:solidFill>
                  <a:srgbClr val="111931"/>
                </a:solidFill>
                <a:uFillTx/>
                <a:latin typeface="Calibri" pitchFamily="34"/>
                <a:ea typeface="Calibri" pitchFamily="34"/>
                <a:cs typeface="Calibri" pitchFamily="34"/>
              </a:rPr>
              <a:t>afektywne</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R</a:t>
            </a:r>
            <a:r>
              <a:rPr lang="en-US" sz="1600" b="0" i="0" u="none" strike="noStrike" kern="1200" cap="none" spc="0" baseline="0" dirty="0" err="1" smtClean="0">
                <a:solidFill>
                  <a:srgbClr val="111931"/>
                </a:solidFill>
                <a:uFillTx/>
                <a:latin typeface="Calibri" pitchFamily="34"/>
                <a:ea typeface="Calibri" pitchFamily="34"/>
                <a:cs typeface="Calibri" pitchFamily="34"/>
              </a:rPr>
              <a:t>ozumieją</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kontekst</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ironię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sarkasm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i</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metafory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emocjonalne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poziomie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wcześniej</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nieosiągalnym</a:t>
            </a:r>
            <a:endParaRPr lang="en-US" sz="1600" b="0" i="0" u="none" strike="noStrike" kern="1200" cap="none" spc="0" baseline="0" dirty="0">
              <a:solidFill>
                <a:srgbClr val="111931"/>
              </a:solidFill>
              <a:uFillTx/>
              <a:latin typeface="Calibri"/>
            </a:endParaRPr>
          </a:p>
        </p:txBody>
      </p:sp>
      <p:grpSp>
        <p:nvGrpSpPr>
          <p:cNvPr id="49" name="Grupa 48"/>
          <p:cNvGrpSpPr/>
          <p:nvPr/>
        </p:nvGrpSpPr>
        <p:grpSpPr>
          <a:xfrm>
            <a:off x="320040" y="1664208"/>
            <a:ext cx="4160520" cy="540000"/>
            <a:chOff x="320040" y="1229868"/>
            <a:chExt cx="4160520" cy="540000"/>
          </a:xfrm>
        </p:grpSpPr>
        <p:sp>
          <p:nvSpPr>
            <p:cNvPr id="8" name="Shape 6"/>
            <p:cNvSpPr/>
            <p:nvPr/>
          </p:nvSpPr>
          <p:spPr>
            <a:xfrm>
              <a:off x="320040" y="1229868"/>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 y="1229868"/>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448056" y="124053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GPT-4 / Claude </a:t>
              </a:r>
              <a:r>
                <a:rPr lang="en-US" sz="1100" b="1" i="0" u="none" strike="noStrike" kern="1200" cap="none" spc="0" baseline="0" dirty="0" err="1">
                  <a:solidFill>
                    <a:srgbClr val="1F1535"/>
                  </a:solidFill>
                  <a:uFillTx/>
                  <a:latin typeface="Cambria" pitchFamily="34"/>
                  <a:ea typeface="Cambria" pitchFamily="34"/>
                  <a:cs typeface="Cambria" pitchFamily="34"/>
                </a:rPr>
                <a:t>jako</a:t>
              </a:r>
              <a:r>
                <a:rPr lang="en-US" sz="1100" b="1" i="0" u="none" strike="noStrike" kern="1200" cap="none" spc="0" baseline="0" dirty="0">
                  <a:solidFill>
                    <a:srgbClr val="1F1535"/>
                  </a:solidFill>
                  <a:uFillTx/>
                  <a:latin typeface="Cambria" pitchFamily="34"/>
                  <a:ea typeface="Cambria" pitchFamily="34"/>
                  <a:cs typeface="Cambria" pitchFamily="34"/>
                </a:rPr>
                <a:t> emotion </a:t>
              </a:r>
              <a:r>
                <a:rPr lang="en-US" sz="1100" b="1" i="0" u="none" strike="noStrike" kern="1200" cap="none" spc="0" baseline="0" dirty="0" err="1">
                  <a:solidFill>
                    <a:srgbClr val="1F1535"/>
                  </a:solidFill>
                  <a:uFillTx/>
                  <a:latin typeface="Cambria" pitchFamily="34"/>
                  <a:ea typeface="Cambria" pitchFamily="34"/>
                  <a:cs typeface="Cambria" pitchFamily="34"/>
                </a:rPr>
                <a:t>analyser</a:t>
              </a:r>
              <a:endParaRPr lang="en-US" sz="1100" b="0" i="0" u="none" strike="noStrike" kern="1200" cap="none" spc="0" baseline="0" dirty="0">
                <a:solidFill>
                  <a:srgbClr val="000000"/>
                </a:solidFill>
                <a:uFillTx/>
                <a:latin typeface="Calibri"/>
              </a:endParaRPr>
            </a:p>
          </p:txBody>
        </p:sp>
        <p:sp>
          <p:nvSpPr>
            <p:cNvPr id="11" name="Text 9"/>
            <p:cNvSpPr/>
            <p:nvPr/>
          </p:nvSpPr>
          <p:spPr>
            <a:xfrm>
              <a:off x="448056" y="1452372"/>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a:solidFill>
                    <a:srgbClr val="111931"/>
                  </a:solidFill>
                  <a:uFillTx/>
                  <a:latin typeface="Calibri" pitchFamily="34"/>
                  <a:ea typeface="Calibri" pitchFamily="34"/>
                  <a:cs typeface="Calibri" pitchFamily="34"/>
                </a:rPr>
                <a:t>Zero-shot: prompt </a:t>
              </a:r>
              <a:r>
                <a:rPr lang="en-US" sz="950" b="0" i="0" u="none" strike="noStrike" kern="1200" cap="none" spc="0" baseline="0" dirty="0" err="1">
                  <a:solidFill>
                    <a:srgbClr val="111931"/>
                  </a:solidFill>
                  <a:uFillTx/>
                  <a:latin typeface="Calibri" pitchFamily="34"/>
                  <a:ea typeface="Calibri" pitchFamily="34"/>
                  <a:cs typeface="Calibri" pitchFamily="34"/>
                </a:rPr>
                <a:t>zawiera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zapis</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rozmowy</a:t>
              </a:r>
              <a:r>
                <a:rPr lang="en-US" sz="950" b="0" i="0" u="none" strike="noStrike" kern="1200" cap="none" spc="0" baseline="0" dirty="0">
                  <a:solidFill>
                    <a:srgbClr val="111931"/>
                  </a:solidFill>
                  <a:uFillTx/>
                  <a:latin typeface="Calibri" pitchFamily="34"/>
                  <a:ea typeface="Calibri" pitchFamily="34"/>
                  <a:cs typeface="Calibri" pitchFamily="34"/>
                </a:rPr>
                <a:t> → LLM </a:t>
              </a:r>
              <a:r>
                <a:rPr lang="en-US" sz="950" b="0" i="0" u="none" strike="noStrike" kern="1200" cap="none" spc="0" baseline="0" dirty="0" err="1">
                  <a:solidFill>
                    <a:srgbClr val="111931"/>
                  </a:solidFill>
                  <a:uFillTx/>
                  <a:latin typeface="Calibri" pitchFamily="34"/>
                  <a:ea typeface="Calibri" pitchFamily="34"/>
                  <a:cs typeface="Calibri" pitchFamily="34"/>
                </a:rPr>
                <a:t>zwraca</a:t>
              </a:r>
              <a:r>
                <a:rPr lang="en-US" sz="950" b="0" i="0" u="none" strike="noStrike" kern="1200" cap="none" spc="0" baseline="0" dirty="0">
                  <a:solidFill>
                    <a:srgbClr val="111931"/>
                  </a:solidFill>
                  <a:uFillTx/>
                  <a:latin typeface="Calibri" pitchFamily="34"/>
                  <a:ea typeface="Calibri" pitchFamily="34"/>
                  <a:cs typeface="Calibri" pitchFamily="34"/>
                </a:rPr>
                <a:t> JSON z </a:t>
              </a:r>
              <a:r>
                <a:rPr lang="en-US" sz="950" b="0" i="0" u="none" strike="noStrike" kern="1200" cap="none" spc="0" baseline="0" dirty="0" err="1">
                  <a:solidFill>
                    <a:srgbClr val="111931"/>
                  </a:solidFill>
                  <a:uFillTx/>
                  <a:latin typeface="Calibri" pitchFamily="34"/>
                  <a:ea typeface="Calibri" pitchFamily="34"/>
                  <a:cs typeface="Calibri" pitchFamily="34"/>
                </a:rPr>
                <a:t>emocjami</a:t>
              </a:r>
              <a:r>
                <a:rPr lang="en-US" sz="950" b="0" i="0" u="none" strike="noStrike" kern="1200" cap="none" spc="0" baseline="0" dirty="0">
                  <a:solidFill>
                    <a:srgbClr val="111931"/>
                  </a:solidFill>
                  <a:uFillTx/>
                  <a:latin typeface="Calibri" pitchFamily="34"/>
                  <a:ea typeface="Calibri" pitchFamily="34"/>
                  <a:cs typeface="Calibri" pitchFamily="34"/>
                </a:rPr>
                <a:t> </a:t>
              </a:r>
              <a:r>
                <a:rPr lang="pl-PL" sz="950" b="0" i="0" u="none" strike="noStrike" kern="1200" cap="none" spc="0" baseline="0" dirty="0" smtClean="0">
                  <a:solidFill>
                    <a:srgbClr val="111931"/>
                  </a:solidFill>
                  <a:uFillTx/>
                  <a:latin typeface="Calibri" pitchFamily="34"/>
                  <a:ea typeface="Calibri" pitchFamily="34"/>
                  <a:cs typeface="Calibri" pitchFamily="34"/>
                </a:rPr>
                <a:t/>
              </a:r>
              <a:br>
                <a:rPr lang="pl-PL" sz="950" b="0" i="0" u="none" strike="noStrike" kern="1200" cap="none" spc="0" baseline="0" dirty="0" smtClean="0">
                  <a:solidFill>
                    <a:srgbClr val="111931"/>
                  </a:solidFill>
                  <a:uFillTx/>
                  <a:latin typeface="Calibri" pitchFamily="34"/>
                  <a:ea typeface="Calibri" pitchFamily="34"/>
                  <a:cs typeface="Calibri" pitchFamily="34"/>
                </a:rPr>
              </a:br>
              <a:r>
                <a:rPr lang="en-US" sz="950" b="0" i="0" u="none" strike="noStrike" kern="1200" cap="none" spc="0" baseline="0" dirty="0" err="1" smtClean="0">
                  <a:solidFill>
                    <a:srgbClr val="111931"/>
                  </a:solidFill>
                  <a:uFillTx/>
                  <a:latin typeface="Calibri" pitchFamily="34"/>
                  <a:ea typeface="Calibri" pitchFamily="34"/>
                  <a:cs typeface="Calibri" pitchFamily="34"/>
                </a:rPr>
                <a:t>i</a:t>
              </a:r>
              <a:r>
                <a:rPr lang="en-US" sz="950" b="0" i="0" u="none" strike="noStrike" kern="1200" cap="none" spc="0" baseline="0" dirty="0" smtClean="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intensywnościami</a:t>
              </a:r>
              <a:r>
                <a:rPr lang="en-US" sz="950" b="0" i="0" u="none" strike="noStrike" kern="1200" cap="none" spc="0" baseline="0" dirty="0">
                  <a:solidFill>
                    <a:srgbClr val="111931"/>
                  </a:solidFill>
                  <a:uFillTx/>
                  <a:latin typeface="Calibri" pitchFamily="34"/>
                  <a:ea typeface="Calibri" pitchFamily="34"/>
                  <a:cs typeface="Calibri" pitchFamily="34"/>
                </a:rPr>
                <a:t>. Few-shot: 3–5 </a:t>
              </a:r>
              <a:r>
                <a:rPr lang="en-US" sz="950" b="0" i="0" u="none" strike="noStrike" kern="1200" cap="none" spc="0" baseline="0" dirty="0" err="1">
                  <a:solidFill>
                    <a:srgbClr val="111931"/>
                  </a:solidFill>
                  <a:uFillTx/>
                  <a:latin typeface="Calibri" pitchFamily="34"/>
                  <a:ea typeface="Calibri" pitchFamily="34"/>
                  <a:cs typeface="Calibri" pitchFamily="34"/>
                </a:rPr>
                <a:t>przykładów</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poprawia</a:t>
              </a:r>
              <a:r>
                <a:rPr lang="en-US" sz="950" b="0" i="0" u="none" strike="noStrike" kern="1200" cap="none" spc="0" baseline="0" dirty="0">
                  <a:solidFill>
                    <a:srgbClr val="111931"/>
                  </a:solidFill>
                  <a:uFillTx/>
                  <a:latin typeface="Calibri" pitchFamily="34"/>
                  <a:ea typeface="Calibri" pitchFamily="34"/>
                  <a:cs typeface="Calibri" pitchFamily="34"/>
                </a:rPr>
                <a:t> F1 o 8–12%. </a:t>
              </a:r>
              <a:endParaRPr lang="en-US" sz="950" b="0" i="0" u="none" strike="noStrike" kern="1200" cap="none" spc="0" baseline="0" dirty="0">
                <a:solidFill>
                  <a:srgbClr val="111931"/>
                </a:solidFill>
                <a:uFillTx/>
                <a:latin typeface="Calibri"/>
              </a:endParaRPr>
            </a:p>
          </p:txBody>
        </p:sp>
      </p:grpSp>
      <p:grpSp>
        <p:nvGrpSpPr>
          <p:cNvPr id="47" name="Grupa 46"/>
          <p:cNvGrpSpPr/>
          <p:nvPr/>
        </p:nvGrpSpPr>
        <p:grpSpPr>
          <a:xfrm>
            <a:off x="320040" y="2252472"/>
            <a:ext cx="4160520" cy="540000"/>
            <a:chOff x="320040" y="1894332"/>
            <a:chExt cx="4160520" cy="540000"/>
          </a:xfrm>
        </p:grpSpPr>
        <p:sp>
          <p:nvSpPr>
            <p:cNvPr id="12" name="Shape 10"/>
            <p:cNvSpPr/>
            <p:nvPr/>
          </p:nvSpPr>
          <p:spPr>
            <a:xfrm>
              <a:off x="320040" y="1894332"/>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320040" y="1894332"/>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448056" y="1897379"/>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Gemini Nano (on-device, Pixel/Samsung)</a:t>
              </a:r>
              <a:endParaRPr lang="en-US" sz="1100" b="0" i="0" u="none" strike="noStrike" kern="1200" cap="none" spc="0" baseline="0" dirty="0">
                <a:solidFill>
                  <a:srgbClr val="000000"/>
                </a:solidFill>
                <a:uFillTx/>
                <a:latin typeface="Calibri"/>
              </a:endParaRPr>
            </a:p>
          </p:txBody>
        </p:sp>
        <p:sp>
          <p:nvSpPr>
            <p:cNvPr id="15" name="Text 13"/>
            <p:cNvSpPr/>
            <p:nvPr/>
          </p:nvSpPr>
          <p:spPr>
            <a:xfrm>
              <a:off x="448056" y="2124456"/>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a:solidFill>
                    <a:srgbClr val="111931"/>
                  </a:solidFill>
                  <a:uFillTx/>
                  <a:latin typeface="Calibri" pitchFamily="34"/>
                  <a:ea typeface="Calibri" pitchFamily="34"/>
                  <a:cs typeface="Calibri" pitchFamily="34"/>
                </a:rPr>
                <a:t>Quantized 1.8B model </a:t>
              </a:r>
              <a:r>
                <a:rPr lang="en-US" sz="950" b="0" i="0" u="none" strike="noStrike" kern="1200" cap="none" spc="0" baseline="0" dirty="0" err="1">
                  <a:solidFill>
                    <a:srgbClr val="111931"/>
                  </a:solidFill>
                  <a:uFillTx/>
                  <a:latin typeface="Calibri" pitchFamily="34"/>
                  <a:ea typeface="Calibri" pitchFamily="34"/>
                  <a:cs typeface="Calibri" pitchFamily="34"/>
                </a:rPr>
                <a:t>uruchamiany</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lokalnie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przez</a:t>
              </a:r>
              <a:r>
                <a:rPr lang="en-US" sz="950" b="0" i="0" u="none" strike="noStrike" kern="1200" cap="none" spc="0" baseline="0" dirty="0">
                  <a:solidFill>
                    <a:srgbClr val="111931"/>
                  </a:solidFill>
                  <a:uFillTx/>
                  <a:latin typeface="Calibri" pitchFamily="34"/>
                  <a:ea typeface="Calibri" pitchFamily="34"/>
                  <a:cs typeface="Calibri" pitchFamily="34"/>
                </a:rPr>
                <a:t> Android ML API. </a:t>
              </a:r>
              <a:r>
                <a:rPr lang="en-US" sz="950" b="0" i="0" u="none" strike="noStrike" kern="1200" cap="none" spc="0" baseline="0" dirty="0" err="1">
                  <a:solidFill>
                    <a:srgbClr val="111931"/>
                  </a:solidFill>
                  <a:uFillTx/>
                  <a:latin typeface="Calibri" pitchFamily="34"/>
                  <a:ea typeface="Calibri" pitchFamily="34"/>
                  <a:cs typeface="Calibri" pitchFamily="34"/>
                </a:rPr>
                <a:t>Wnioskowanie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emocji</a:t>
              </a:r>
              <a:r>
                <a:rPr lang="en-US" sz="950" b="0" i="0" u="none" strike="noStrike" kern="1200" cap="none" spc="0" baseline="0" dirty="0">
                  <a:solidFill>
                    <a:srgbClr val="111931"/>
                  </a:solidFill>
                  <a:uFillTx/>
                  <a:latin typeface="Calibri" pitchFamily="34"/>
                  <a:ea typeface="Calibri" pitchFamily="34"/>
                  <a:cs typeface="Calibri" pitchFamily="34"/>
                </a:rPr>
                <a:t> z </a:t>
              </a:r>
              <a:r>
                <a:rPr lang="en-US" sz="950" b="0" i="0" u="none" strike="noStrike" kern="1200" cap="none" spc="0" baseline="0" dirty="0" err="1">
                  <a:solidFill>
                    <a:srgbClr val="111931"/>
                  </a:solidFill>
                  <a:uFillTx/>
                  <a:latin typeface="Calibri" pitchFamily="34"/>
                  <a:ea typeface="Calibri" pitchFamily="34"/>
                  <a:cs typeface="Calibri" pitchFamily="34"/>
                </a:rPr>
                <a:t>kontekstu</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rozmowy</a:t>
              </a:r>
              <a:r>
                <a:rPr lang="en-US" sz="950" b="0" i="0" u="none" strike="noStrike" kern="1200" cap="none" spc="0" baseline="0" dirty="0">
                  <a:solidFill>
                    <a:srgbClr val="111931"/>
                  </a:solidFill>
                  <a:uFillTx/>
                  <a:latin typeface="Calibri" pitchFamily="34"/>
                  <a:ea typeface="Calibri" pitchFamily="34"/>
                  <a:cs typeface="Calibri" pitchFamily="34"/>
                </a:rPr>
                <a:t> bez </a:t>
              </a:r>
              <a:r>
                <a:rPr lang="en-US" sz="950" b="0" i="0" u="none" strike="noStrike" kern="1200" cap="none" spc="0" baseline="0" dirty="0" err="1">
                  <a:solidFill>
                    <a:srgbClr val="111931"/>
                  </a:solidFill>
                  <a:uFillTx/>
                  <a:latin typeface="Calibri" pitchFamily="34"/>
                  <a:ea typeface="Calibri" pitchFamily="34"/>
                  <a:cs typeface="Calibri" pitchFamily="34"/>
                </a:rPr>
                <a:t>sieci</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Prywatny</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szybki</a:t>
              </a:r>
              <a:r>
                <a:rPr lang="en-US" sz="950" b="0" i="0" u="none" strike="noStrike" kern="1200" cap="none" spc="0" baseline="0" dirty="0">
                  <a:solidFill>
                    <a:srgbClr val="111931"/>
                  </a:solidFill>
                  <a:uFillTx/>
                  <a:latin typeface="Calibri" pitchFamily="34"/>
                  <a:ea typeface="Calibri" pitchFamily="34"/>
                  <a:cs typeface="Calibri" pitchFamily="34"/>
                </a:rPr>
                <a:t> (200ms).</a:t>
              </a:r>
              <a:endParaRPr lang="en-US" sz="950" b="0" i="0" u="none" strike="noStrike" kern="1200" cap="none" spc="0" baseline="0" dirty="0">
                <a:solidFill>
                  <a:srgbClr val="111931"/>
                </a:solidFill>
                <a:uFillTx/>
                <a:latin typeface="Calibri"/>
              </a:endParaRPr>
            </a:p>
          </p:txBody>
        </p:sp>
      </p:grpSp>
      <p:grpSp>
        <p:nvGrpSpPr>
          <p:cNvPr id="46" name="Grupa 45"/>
          <p:cNvGrpSpPr/>
          <p:nvPr/>
        </p:nvGrpSpPr>
        <p:grpSpPr>
          <a:xfrm>
            <a:off x="320040" y="2820923"/>
            <a:ext cx="4160520" cy="544573"/>
            <a:chOff x="320040" y="2569463"/>
            <a:chExt cx="4160520" cy="544573"/>
          </a:xfrm>
        </p:grpSpPr>
        <p:sp>
          <p:nvSpPr>
            <p:cNvPr id="16" name="Shape 14"/>
            <p:cNvSpPr/>
            <p:nvPr/>
          </p:nvSpPr>
          <p:spPr>
            <a:xfrm>
              <a:off x="320040" y="2574036"/>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320040" y="2574036"/>
              <a:ext cx="54864" cy="540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448056" y="256946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Llama 3.2 1B/3B (iOS/Android)</a:t>
              </a:r>
              <a:endParaRPr lang="en-US" sz="1100" b="0" i="0" u="none" strike="noStrike" kern="1200" cap="none" spc="0" baseline="0">
                <a:solidFill>
                  <a:srgbClr val="000000"/>
                </a:solidFill>
                <a:uFillTx/>
                <a:latin typeface="Calibri"/>
              </a:endParaRPr>
            </a:p>
          </p:txBody>
        </p:sp>
        <p:sp>
          <p:nvSpPr>
            <p:cNvPr id="19" name="Text 17"/>
            <p:cNvSpPr/>
            <p:nvPr/>
          </p:nvSpPr>
          <p:spPr>
            <a:xfrm>
              <a:off x="448056" y="2834640"/>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111931"/>
                  </a:solidFill>
                  <a:uFillTx/>
                  <a:latin typeface="Calibri" pitchFamily="34"/>
                  <a:ea typeface="Calibri" pitchFamily="34"/>
                  <a:cs typeface="Calibri" pitchFamily="34"/>
                </a:rPr>
                <a:t>Meta open-source — fine-tune na EmoBank/GoEmotions → affective conversational model. ollama mobile lub llama.cpp binding przez JNI.</a:t>
              </a:r>
              <a:endParaRPr lang="en-US" sz="950" b="0" i="0" u="none" strike="noStrike" kern="1200" cap="none" spc="0" baseline="0">
                <a:solidFill>
                  <a:srgbClr val="111931"/>
                </a:solidFill>
                <a:uFillTx/>
                <a:latin typeface="Calibri"/>
              </a:endParaRPr>
            </a:p>
          </p:txBody>
        </p:sp>
      </p:grpSp>
      <p:grpSp>
        <p:nvGrpSpPr>
          <p:cNvPr id="45" name="Grupa 44"/>
          <p:cNvGrpSpPr/>
          <p:nvPr/>
        </p:nvGrpSpPr>
        <p:grpSpPr>
          <a:xfrm>
            <a:off x="320040" y="3401568"/>
            <a:ext cx="4160520" cy="540000"/>
            <a:chOff x="320040" y="3272028"/>
            <a:chExt cx="4160520" cy="552192"/>
          </a:xfrm>
        </p:grpSpPr>
        <p:sp>
          <p:nvSpPr>
            <p:cNvPr id="20" name="Shape 18"/>
            <p:cNvSpPr/>
            <p:nvPr/>
          </p:nvSpPr>
          <p:spPr>
            <a:xfrm>
              <a:off x="320040" y="3284220"/>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320040" y="3284220"/>
              <a:ext cx="54864" cy="540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448056" y="327202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Ograniczenia LLM </a:t>
              </a:r>
              <a:r>
                <a:rPr lang="en-US" sz="1100" b="1" i="0" u="none" strike="noStrike" kern="1200" cap="none" spc="0" baseline="0" dirty="0" err="1">
                  <a:solidFill>
                    <a:srgbClr val="1F1535"/>
                  </a:solidFill>
                  <a:uFillTx/>
                  <a:latin typeface="Cambria" pitchFamily="34"/>
                  <a:ea typeface="Cambria" pitchFamily="34"/>
                  <a:cs typeface="Cambria" pitchFamily="34"/>
                </a:rPr>
                <a:t>dla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emocji</a:t>
              </a:r>
              <a:endParaRPr lang="en-US" sz="1100" b="0" i="0" u="none" strike="noStrike" kern="1200" cap="none" spc="0" baseline="0" dirty="0">
                <a:solidFill>
                  <a:srgbClr val="000000"/>
                </a:solidFill>
                <a:uFillTx/>
                <a:latin typeface="Calibri"/>
              </a:endParaRPr>
            </a:p>
          </p:txBody>
        </p:sp>
        <p:sp>
          <p:nvSpPr>
            <p:cNvPr id="23" name="Text 21"/>
            <p:cNvSpPr/>
            <p:nvPr/>
          </p:nvSpPr>
          <p:spPr>
            <a:xfrm>
              <a:off x="448056" y="3529928"/>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err="1">
                  <a:solidFill>
                    <a:srgbClr val="111931"/>
                  </a:solidFill>
                  <a:uFillTx/>
                  <a:latin typeface="Calibri" pitchFamily="34"/>
                  <a:ea typeface="Calibri" pitchFamily="34"/>
                  <a:cs typeface="Calibri" pitchFamily="34"/>
                </a:rPr>
                <a:t>Brak</a:t>
              </a:r>
              <a:r>
                <a:rPr lang="en-US" sz="950" b="0" i="0" u="none" strike="noStrike" kern="1200" cap="none" spc="0" baseline="0" dirty="0">
                  <a:solidFill>
                    <a:srgbClr val="111931"/>
                  </a:solidFill>
                  <a:uFillTx/>
                  <a:latin typeface="Calibri" pitchFamily="34"/>
                  <a:ea typeface="Calibri" pitchFamily="34"/>
                  <a:cs typeface="Calibri" pitchFamily="34"/>
                </a:rPr>
                <a:t> real-time 30fps (</a:t>
              </a:r>
              <a:r>
                <a:rPr lang="en-US" sz="950" b="0" i="0" u="none" strike="noStrike" kern="1200" cap="none" spc="0" baseline="0" dirty="0" err="1">
                  <a:solidFill>
                    <a:srgbClr val="111931"/>
                  </a:solidFill>
                  <a:uFillTx/>
                  <a:latin typeface="Calibri" pitchFamily="34"/>
                  <a:ea typeface="Calibri" pitchFamily="34"/>
                  <a:cs typeface="Calibri" pitchFamily="34"/>
                </a:rPr>
                <a:t>latencja</a:t>
              </a:r>
              <a:r>
                <a:rPr lang="en-US" sz="950" b="0" i="0" u="none" strike="noStrike" kern="1200" cap="none" spc="0" baseline="0" dirty="0">
                  <a:solidFill>
                    <a:srgbClr val="111931"/>
                  </a:solidFill>
                  <a:uFillTx/>
                  <a:latin typeface="Calibri" pitchFamily="34"/>
                  <a:ea typeface="Calibri" pitchFamily="34"/>
                  <a:cs typeface="Calibri" pitchFamily="34"/>
                </a:rPr>
                <a:t> 200ms–2s). </a:t>
              </a:r>
              <a:r>
                <a:rPr lang="en-US" sz="950" b="0" i="0" u="none" strike="noStrike" kern="1200" cap="none" spc="0" baseline="0" dirty="0" err="1">
                  <a:solidFill>
                    <a:srgbClr val="111931"/>
                  </a:solidFill>
                  <a:uFillTx/>
                  <a:latin typeface="Calibri" pitchFamily="34"/>
                  <a:ea typeface="Calibri" pitchFamily="34"/>
                  <a:cs typeface="Calibri" pitchFamily="34"/>
                </a:rPr>
                <a:t>Halucynacje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smtClean="0">
                  <a:solidFill>
                    <a:srgbClr val="111931"/>
                  </a:solidFill>
                  <a:uFillTx/>
                  <a:latin typeface="Calibri" pitchFamily="34"/>
                  <a:ea typeface="Calibri" pitchFamily="34"/>
                  <a:cs typeface="Calibri" pitchFamily="34"/>
                </a:rPr>
                <a:t>emocjonalne</a:t>
              </a:r>
              <a:r>
                <a:rPr lang="en-US" sz="950" b="0" i="0" u="none" strike="noStrike" kern="1200" cap="none" spc="0" baseline="0" dirty="0" smtClean="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Brak</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dostępu</a:t>
              </a:r>
              <a:r>
                <a:rPr lang="en-US" sz="950" b="0" i="0" u="none" strike="noStrike" kern="1200" cap="none" spc="0" baseline="0" dirty="0">
                  <a:solidFill>
                    <a:srgbClr val="111931"/>
                  </a:solidFill>
                  <a:uFillTx/>
                  <a:latin typeface="Calibri" pitchFamily="34"/>
                  <a:ea typeface="Calibri" pitchFamily="34"/>
                  <a:cs typeface="Calibri" pitchFamily="34"/>
                </a:rPr>
                <a:t> do </a:t>
              </a:r>
              <a:r>
                <a:rPr lang="en-US" sz="950" b="0" i="0" u="none" strike="noStrike" kern="1200" cap="none" spc="0" baseline="0" dirty="0" err="1">
                  <a:solidFill>
                    <a:srgbClr val="111931"/>
                  </a:solidFill>
                  <a:uFillTx/>
                  <a:latin typeface="Calibri" pitchFamily="34"/>
                  <a:ea typeface="Calibri" pitchFamily="34"/>
                  <a:cs typeface="Calibri" pitchFamily="34"/>
                </a:rPr>
                <a:t>sygnałów</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fizjologicznych</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Wymaga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orchestracji</a:t>
              </a:r>
              <a:r>
                <a:rPr lang="en-US" sz="950" b="0" i="0" u="none" strike="noStrike" kern="1200" cap="none" spc="0" baseline="0" dirty="0">
                  <a:solidFill>
                    <a:srgbClr val="111931"/>
                  </a:solidFill>
                  <a:uFillTx/>
                  <a:latin typeface="Calibri" pitchFamily="34"/>
                  <a:ea typeface="Calibri" pitchFamily="34"/>
                  <a:cs typeface="Calibri" pitchFamily="34"/>
                </a:rPr>
                <a:t>.</a:t>
              </a:r>
              <a:endParaRPr lang="en-US" sz="950" b="0" i="0" u="none" strike="noStrike" kern="1200" cap="none" spc="0" baseline="0" dirty="0">
                <a:solidFill>
                  <a:srgbClr val="111931"/>
                </a:solidFill>
                <a:uFillTx/>
                <a:latin typeface="Calibri"/>
              </a:endParaRPr>
            </a:p>
          </p:txBody>
        </p:sp>
      </p:grpSp>
      <p:sp>
        <p:nvSpPr>
          <p:cNvPr id="24" name="Text 22"/>
          <p:cNvSpPr/>
          <p:nvPr/>
        </p:nvSpPr>
        <p:spPr>
          <a:xfrm>
            <a:off x="320040" y="3997452"/>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dirty="0">
                <a:solidFill>
                  <a:srgbClr val="1F1535"/>
                </a:solidFill>
                <a:uFillTx/>
                <a:latin typeface="Cambria" pitchFamily="34"/>
                <a:ea typeface="Cambria" pitchFamily="34"/>
                <a:cs typeface="Cambria" pitchFamily="34"/>
              </a:rPr>
              <a:t>Prompt engineering </a:t>
            </a:r>
            <a:r>
              <a:rPr lang="en-US" sz="1050" b="1" i="0" u="none" strike="noStrike" kern="1200" cap="none" spc="0" baseline="0" dirty="0" err="1">
                <a:solidFill>
                  <a:srgbClr val="1F1535"/>
                </a:solidFill>
                <a:uFillTx/>
                <a:latin typeface="Cambria" pitchFamily="34"/>
                <a:ea typeface="Cambria" pitchFamily="34"/>
                <a:cs typeface="Cambria" pitchFamily="34"/>
              </a:rPr>
              <a:t>dla</a:t>
            </a:r>
            <a:r>
              <a:rPr lang="en-US" sz="1050" b="1" i="0" u="none" strike="noStrike" kern="1200" cap="none" spc="0" baseline="0" dirty="0">
                <a:solidFill>
                  <a:srgbClr val="1F1535"/>
                </a:solidFill>
                <a:uFillTx/>
                <a:latin typeface="Cambria" pitchFamily="34"/>
                <a:ea typeface="Cambria" pitchFamily="34"/>
                <a:cs typeface="Cambria" pitchFamily="34"/>
              </a:rPr>
              <a:t> </a:t>
            </a:r>
            <a:r>
              <a:rPr lang="en-US" sz="1050" b="1" i="0" u="none" strike="noStrike" kern="1200" cap="none" spc="0" baseline="0" dirty="0" err="1">
                <a:solidFill>
                  <a:srgbClr val="1F1535"/>
                </a:solidFill>
                <a:uFillTx/>
                <a:latin typeface="Cambria" pitchFamily="34"/>
                <a:ea typeface="Cambria" pitchFamily="34"/>
                <a:cs typeface="Cambria" pitchFamily="34"/>
              </a:rPr>
              <a:t>analizy</a:t>
            </a:r>
            <a:r>
              <a:rPr lang="en-US" sz="1050" b="1" i="0" u="none" strike="noStrike" kern="1200" cap="none" spc="0" baseline="0" dirty="0">
                <a:solidFill>
                  <a:srgbClr val="1F1535"/>
                </a:solidFill>
                <a:uFillTx/>
                <a:latin typeface="Cambria" pitchFamily="34"/>
                <a:ea typeface="Cambria" pitchFamily="34"/>
                <a:cs typeface="Cambria" pitchFamily="34"/>
              </a:rPr>
              <a:t> </a:t>
            </a:r>
            <a:r>
              <a:rPr lang="en-US" sz="1050" b="1" i="0" u="none" strike="noStrike" kern="1200" cap="none" spc="0" baseline="0" dirty="0" err="1" smtClean="0">
                <a:solidFill>
                  <a:srgbClr val="1F1535"/>
                </a:solidFill>
                <a:uFillTx/>
                <a:latin typeface="Cambria" pitchFamily="34"/>
                <a:ea typeface="Cambria" pitchFamily="34"/>
                <a:cs typeface="Cambria" pitchFamily="34"/>
              </a:rPr>
              <a:t>emocji</a:t>
            </a:r>
            <a:endParaRPr lang="en-US" sz="1050" b="0" i="0" u="none" strike="noStrike" kern="1200" cap="none" spc="0" baseline="0" dirty="0">
              <a:solidFill>
                <a:srgbClr val="000000"/>
              </a:solidFill>
              <a:uFillTx/>
              <a:latin typeface="Calibri"/>
            </a:endParaRPr>
          </a:p>
        </p:txBody>
      </p:sp>
      <p:sp>
        <p:nvSpPr>
          <p:cNvPr id="25" name="Shape 23"/>
          <p:cNvSpPr/>
          <p:nvPr/>
        </p:nvSpPr>
        <p:spPr>
          <a:xfrm>
            <a:off x="329184" y="4230120"/>
            <a:ext cx="4160520" cy="699360"/>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3474720" y="4233672"/>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7" name="Text 25"/>
          <p:cNvSpPr/>
          <p:nvPr/>
        </p:nvSpPr>
        <p:spPr>
          <a:xfrm>
            <a:off x="393192" y="4270246"/>
            <a:ext cx="3995928" cy="577597"/>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System prompt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dla</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affective analysis</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systemPrompt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Analyze the emotional state of the user's message.</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Return JSON: {"primary":"</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joy|sadness|anger|fear|disgust|surprise|neutral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"valence":-1.0..1.0, "arousal":0.0..1.0,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crisis":false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Be concise. If crisis indicators present, set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crisis:true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28" name="Text 26"/>
          <p:cNvSpPr/>
          <p:nvPr/>
        </p:nvSpPr>
        <p:spPr>
          <a:xfrm>
            <a:off x="5303520" y="566280"/>
            <a:ext cx="3557016"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dirty="0" err="1">
                <a:solidFill>
                  <a:srgbClr val="1F1535"/>
                </a:solidFill>
                <a:uFillTx/>
                <a:latin typeface="Cambria" pitchFamily="34"/>
                <a:ea typeface="Cambria" pitchFamily="34"/>
                <a:cs typeface="Cambria" pitchFamily="34"/>
              </a:rPr>
              <a:t>Architektura</a:t>
            </a:r>
            <a:r>
              <a:rPr lang="en-US" sz="1050" b="1" i="0" u="none" strike="noStrike" kern="1200" cap="none" spc="0" baseline="0" dirty="0">
                <a:solidFill>
                  <a:srgbClr val="1F1535"/>
                </a:solidFill>
                <a:uFillTx/>
                <a:latin typeface="Cambria" pitchFamily="34"/>
                <a:ea typeface="Cambria" pitchFamily="34"/>
                <a:cs typeface="Cambria" pitchFamily="34"/>
              </a:rPr>
              <a:t> </a:t>
            </a:r>
            <a:r>
              <a:rPr lang="en-US" sz="1050" b="1" i="0" u="none" strike="noStrike" kern="1200" cap="none" spc="0" baseline="0" dirty="0" err="1">
                <a:solidFill>
                  <a:srgbClr val="1F1535"/>
                </a:solidFill>
                <a:uFillTx/>
                <a:latin typeface="Cambria" pitchFamily="34"/>
                <a:ea typeface="Cambria" pitchFamily="34"/>
                <a:cs typeface="Cambria" pitchFamily="34"/>
              </a:rPr>
              <a:t>hybrydowa</a:t>
            </a:r>
            <a:r>
              <a:rPr lang="en-US" sz="1050" b="1" i="0" u="none" strike="noStrike" kern="1200" cap="none" spc="0" baseline="0" dirty="0">
                <a:solidFill>
                  <a:srgbClr val="1F1535"/>
                </a:solidFill>
                <a:uFillTx/>
                <a:latin typeface="Cambria" pitchFamily="34"/>
                <a:ea typeface="Cambria" pitchFamily="34"/>
                <a:cs typeface="Cambria" pitchFamily="34"/>
              </a:rPr>
              <a:t> LLM + </a:t>
            </a:r>
            <a:r>
              <a:rPr lang="en-US" sz="1050" b="1" i="0" u="none" strike="noStrike" kern="1200" cap="none" spc="0" baseline="0" dirty="0" err="1">
                <a:solidFill>
                  <a:srgbClr val="1F1535"/>
                </a:solidFill>
                <a:uFillTx/>
                <a:latin typeface="Cambria" pitchFamily="34"/>
                <a:ea typeface="Cambria" pitchFamily="34"/>
                <a:cs typeface="Cambria" pitchFamily="34"/>
              </a:rPr>
              <a:t>klasyczny</a:t>
            </a:r>
            <a:r>
              <a:rPr lang="en-US" sz="1050" b="1" i="0" u="none" strike="noStrike" kern="1200" cap="none" spc="0" baseline="0" dirty="0">
                <a:solidFill>
                  <a:srgbClr val="1F1535"/>
                </a:solidFill>
                <a:uFillTx/>
                <a:latin typeface="Cambria" pitchFamily="34"/>
                <a:ea typeface="Cambria" pitchFamily="34"/>
                <a:cs typeface="Cambria" pitchFamily="34"/>
              </a:rPr>
              <a:t> </a:t>
            </a:r>
            <a:r>
              <a:rPr lang="en-US" sz="1050" b="1" i="0" u="none" strike="noStrike" kern="1200" cap="none" spc="0" baseline="0" dirty="0" smtClean="0">
                <a:solidFill>
                  <a:srgbClr val="1F1535"/>
                </a:solidFill>
                <a:uFillTx/>
                <a:latin typeface="Cambria" pitchFamily="34"/>
                <a:ea typeface="Cambria" pitchFamily="34"/>
                <a:cs typeface="Cambria" pitchFamily="34"/>
              </a:rPr>
              <a:t>ML</a:t>
            </a:r>
            <a:endParaRPr lang="en-US" sz="1050" b="0" i="0" u="none" strike="noStrike" kern="1200" cap="none" spc="0" baseline="0" dirty="0">
              <a:solidFill>
                <a:srgbClr val="000000"/>
              </a:solidFill>
              <a:uFillTx/>
              <a:latin typeface="Calibri"/>
            </a:endParaRPr>
          </a:p>
        </p:txBody>
      </p:sp>
      <p:sp>
        <p:nvSpPr>
          <p:cNvPr id="29" name="Shape 27"/>
          <p:cNvSpPr/>
          <p:nvPr/>
        </p:nvSpPr>
        <p:spPr>
          <a:xfrm>
            <a:off x="5303520" y="785075"/>
            <a:ext cx="3566160" cy="2940445"/>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Text 28"/>
          <p:cNvSpPr/>
          <p:nvPr/>
        </p:nvSpPr>
        <p:spPr>
          <a:xfrm>
            <a:off x="7854696" y="915408"/>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31" name="Text 29"/>
          <p:cNvSpPr/>
          <p:nvPr/>
        </p:nvSpPr>
        <p:spPr>
          <a:xfrm>
            <a:off x="5420868" y="815196"/>
            <a:ext cx="3348228" cy="2841727"/>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Orchestration: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szybki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model + LLM fallback</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suspend 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analyzeEmotion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 String):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1.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Szybki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on-device BERT (~20ms)</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quickResult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bertClassifier.classify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Jeśli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pewność</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wysoka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zwróć</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natychmiast</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if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quickResult.confidence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 0.85f) return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quickResult</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2. Fallback do LLM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gdy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niepewność</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lub</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kryzys</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llmResponse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if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quickResult.crisisKeywords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geminiNano.generate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systemPrompt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text)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on-device</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else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geminiApi.generate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systemPrompt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text)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cloud</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return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parseEmotionJson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llmResponse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data 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primary: String,</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valence: Float,        // -1..1</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arousal: Float,        // 0..1</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confidence: Float,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crisis: Boolean,</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crisisKeywords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Boolean</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grpSp>
        <p:nvGrpSpPr>
          <p:cNvPr id="44" name="Grupa 43"/>
          <p:cNvGrpSpPr/>
          <p:nvPr/>
        </p:nvGrpSpPr>
        <p:grpSpPr>
          <a:xfrm>
            <a:off x="4663440" y="3810000"/>
            <a:ext cx="4320540" cy="540000"/>
            <a:chOff x="4663440" y="3550920"/>
            <a:chExt cx="4390101" cy="540000"/>
          </a:xfrm>
        </p:grpSpPr>
        <p:sp>
          <p:nvSpPr>
            <p:cNvPr id="32" name="Shape 30"/>
            <p:cNvSpPr/>
            <p:nvPr/>
          </p:nvSpPr>
          <p:spPr>
            <a:xfrm>
              <a:off x="4663440" y="3550920"/>
              <a:ext cx="4390101"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Shape 31"/>
            <p:cNvSpPr/>
            <p:nvPr/>
          </p:nvSpPr>
          <p:spPr>
            <a:xfrm>
              <a:off x="4663440" y="3550920"/>
              <a:ext cx="5645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791456" y="3576827"/>
              <a:ext cx="4023360" cy="19767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Przypadek</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Replika</a:t>
              </a:r>
              <a:r>
                <a:rPr lang="en-US" sz="1100" b="1" i="0" u="none" strike="noStrike" kern="1200" cap="none" spc="0" baseline="0" dirty="0">
                  <a:solidFill>
                    <a:srgbClr val="1F1535"/>
                  </a:solidFill>
                  <a:uFillTx/>
                  <a:latin typeface="Cambria" pitchFamily="34"/>
                  <a:ea typeface="Cambria" pitchFamily="34"/>
                  <a:cs typeface="Cambria" pitchFamily="34"/>
                </a:rPr>
                <a:t> AI</a:t>
              </a:r>
              <a:endParaRPr lang="en-US" sz="1100" b="0" i="0" u="none" strike="noStrike" kern="1200" cap="none" spc="0" baseline="0" dirty="0">
                <a:solidFill>
                  <a:srgbClr val="000000"/>
                </a:solidFill>
                <a:uFillTx/>
                <a:latin typeface="Calibri"/>
              </a:endParaRPr>
            </a:p>
          </p:txBody>
        </p:sp>
        <p:sp>
          <p:nvSpPr>
            <p:cNvPr id="35" name="Text 33"/>
            <p:cNvSpPr/>
            <p:nvPr/>
          </p:nvSpPr>
          <p:spPr>
            <a:xfrm>
              <a:off x="4791456" y="3785615"/>
              <a:ext cx="4078224" cy="27127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err="1">
                  <a:solidFill>
                    <a:srgbClr val="111931"/>
                  </a:solidFill>
                  <a:uFillTx/>
                  <a:latin typeface="Calibri" pitchFamily="34"/>
                  <a:ea typeface="Calibri" pitchFamily="34"/>
                  <a:cs typeface="Calibri" pitchFamily="34"/>
                </a:rPr>
                <a:t>Chatbot</a:t>
              </a:r>
              <a:r>
                <a:rPr lang="en-US" sz="950" b="0" i="0" u="none" strike="noStrike" kern="1200" cap="none" spc="0" baseline="0" dirty="0">
                  <a:solidFill>
                    <a:srgbClr val="111931"/>
                  </a:solidFill>
                  <a:uFillTx/>
                  <a:latin typeface="Calibri" pitchFamily="34"/>
                  <a:ea typeface="Calibri" pitchFamily="34"/>
                  <a:cs typeface="Calibri" pitchFamily="34"/>
                </a:rPr>
                <a:t> companion — LLM </a:t>
              </a:r>
              <a:r>
                <a:rPr lang="en-US" sz="950" b="0" i="0" u="none" strike="noStrike" kern="1200" cap="none" spc="0" baseline="0" dirty="0" err="1">
                  <a:solidFill>
                    <a:srgbClr val="111931"/>
                  </a:solidFill>
                  <a:uFillTx/>
                  <a:latin typeface="Calibri" pitchFamily="34"/>
                  <a:ea typeface="Calibri" pitchFamily="34"/>
                  <a:cs typeface="Calibri" pitchFamily="34"/>
                </a:rPr>
                <a:t>odpowiada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empatycznie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uwzględniając</a:t>
              </a:r>
              <a:r>
                <a:rPr lang="en-US" sz="950" b="0" i="0" u="none" strike="noStrike" kern="1200" cap="none" spc="0" baseline="0" dirty="0">
                  <a:solidFill>
                    <a:srgbClr val="111931"/>
                  </a:solidFill>
                  <a:uFillTx/>
                  <a:latin typeface="Calibri" pitchFamily="34"/>
                  <a:ea typeface="Calibri" pitchFamily="34"/>
                  <a:cs typeface="Calibri" pitchFamily="34"/>
                </a:rPr>
                <a:t> emotion state </a:t>
              </a:r>
              <a:r>
                <a:rPr lang="pl-PL" sz="950" b="0" i="0" u="none" strike="noStrike" kern="1200" cap="none" spc="0" baseline="0" dirty="0" smtClean="0">
                  <a:solidFill>
                    <a:srgbClr val="111931"/>
                  </a:solidFill>
                  <a:uFillTx/>
                  <a:latin typeface="Calibri" pitchFamily="34"/>
                  <a:ea typeface="Calibri" pitchFamily="34"/>
                  <a:cs typeface="Calibri" pitchFamily="34"/>
                </a:rPr>
                <a:t/>
              </a:r>
              <a:br>
                <a:rPr lang="pl-PL" sz="950" b="0" i="0" u="none" strike="noStrike" kern="1200" cap="none" spc="0" baseline="0" dirty="0" smtClean="0">
                  <a:solidFill>
                    <a:srgbClr val="111931"/>
                  </a:solidFill>
                  <a:uFillTx/>
                  <a:latin typeface="Calibri" pitchFamily="34"/>
                  <a:ea typeface="Calibri" pitchFamily="34"/>
                  <a:cs typeface="Calibri" pitchFamily="34"/>
                </a:rPr>
              </a:br>
              <a:r>
                <a:rPr lang="en-US" sz="950" b="0" i="0" u="none" strike="noStrike" kern="1200" cap="none" spc="0" baseline="0" dirty="0" smtClean="0">
                  <a:solidFill>
                    <a:srgbClr val="111931"/>
                  </a:solidFill>
                  <a:uFillTx/>
                  <a:latin typeface="Calibri" pitchFamily="34"/>
                  <a:ea typeface="Calibri" pitchFamily="34"/>
                  <a:cs typeface="Calibri" pitchFamily="34"/>
                </a:rPr>
                <a:t>z </a:t>
              </a:r>
              <a:r>
                <a:rPr lang="en-US" sz="950" b="0" i="0" u="none" strike="noStrike" kern="1200" cap="none" spc="0" baseline="0" dirty="0" err="1">
                  <a:solidFill>
                    <a:srgbClr val="111931"/>
                  </a:solidFill>
                  <a:uFillTx/>
                  <a:latin typeface="Calibri" pitchFamily="34"/>
                  <a:ea typeface="Calibri" pitchFamily="34"/>
                  <a:cs typeface="Calibri" pitchFamily="34"/>
                </a:rPr>
                <a:t>historii</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rozmów</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Użytkownicy</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reportują</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redukcję</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samotności</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smtClean="0">
                  <a:solidFill>
                    <a:srgbClr val="111931"/>
                  </a:solidFill>
                  <a:uFillTx/>
                  <a:latin typeface="Calibri" pitchFamily="34"/>
                  <a:ea typeface="Calibri" pitchFamily="34"/>
                  <a:cs typeface="Calibri" pitchFamily="34"/>
                </a:rPr>
                <a:t>(</a:t>
              </a:r>
              <a:r>
                <a:rPr lang="en-US" sz="950" b="0" i="0" u="none" strike="noStrike" kern="1200" cap="none" spc="0" baseline="0" dirty="0" err="1" smtClean="0">
                  <a:solidFill>
                    <a:srgbClr val="111931"/>
                  </a:solidFill>
                  <a:uFillTx/>
                  <a:latin typeface="Calibri" pitchFamily="34"/>
                  <a:ea typeface="Calibri" pitchFamily="34"/>
                  <a:cs typeface="Calibri" pitchFamily="34"/>
                </a:rPr>
                <a:t>Shimokawa</a:t>
              </a:r>
              <a:r>
                <a:rPr lang="en-US" sz="950" b="0" i="0" u="none" strike="noStrike" kern="1200" cap="none" spc="0" baseline="0" dirty="0" smtClean="0">
                  <a:solidFill>
                    <a:srgbClr val="111931"/>
                  </a:solidFill>
                  <a:uFillTx/>
                  <a:latin typeface="Calibri" pitchFamily="34"/>
                  <a:ea typeface="Calibri" pitchFamily="34"/>
                  <a:cs typeface="Calibri" pitchFamily="34"/>
                </a:rPr>
                <a:t> </a:t>
              </a:r>
              <a:r>
                <a:rPr lang="en-US" sz="950" b="0" i="0" u="none" strike="noStrike" kern="1200" cap="none" spc="0" baseline="0" dirty="0">
                  <a:solidFill>
                    <a:srgbClr val="111931"/>
                  </a:solidFill>
                  <a:uFillTx/>
                  <a:latin typeface="Calibri" pitchFamily="34"/>
                  <a:ea typeface="Calibri" pitchFamily="34"/>
                  <a:cs typeface="Calibri" pitchFamily="34"/>
                </a:rPr>
                <a:t>2022</a:t>
              </a:r>
              <a:r>
                <a:rPr lang="en-US" sz="950" b="0" i="0" u="none" strike="noStrike" kern="1200" cap="none" spc="0" baseline="0" dirty="0" smtClean="0">
                  <a:solidFill>
                    <a:srgbClr val="111931"/>
                  </a:solidFill>
                  <a:uFillTx/>
                  <a:latin typeface="Calibri" pitchFamily="34"/>
                  <a:ea typeface="Calibri" pitchFamily="34"/>
                  <a:cs typeface="Calibri" pitchFamily="34"/>
                </a:rPr>
                <a:t>)</a:t>
              </a:r>
              <a:endParaRPr lang="en-US" sz="950" b="0" i="0" u="none" strike="noStrike" kern="1200" cap="none" spc="0" baseline="0" dirty="0">
                <a:solidFill>
                  <a:srgbClr val="111931"/>
                </a:solidFill>
                <a:uFillTx/>
                <a:latin typeface="Calibri"/>
              </a:endParaRPr>
            </a:p>
          </p:txBody>
        </p:sp>
      </p:grpSp>
      <p:grpSp>
        <p:nvGrpSpPr>
          <p:cNvPr id="43" name="Grupa 42"/>
          <p:cNvGrpSpPr/>
          <p:nvPr/>
        </p:nvGrpSpPr>
        <p:grpSpPr>
          <a:xfrm>
            <a:off x="4663440" y="4387596"/>
            <a:ext cx="4320540" cy="540000"/>
            <a:chOff x="4663440" y="4250436"/>
            <a:chExt cx="4206240" cy="540000"/>
          </a:xfrm>
        </p:grpSpPr>
        <p:sp>
          <p:nvSpPr>
            <p:cNvPr id="36" name="Shape 34"/>
            <p:cNvSpPr/>
            <p:nvPr/>
          </p:nvSpPr>
          <p:spPr>
            <a:xfrm>
              <a:off x="4663440" y="4250436"/>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Shape 35"/>
            <p:cNvSpPr/>
            <p:nvPr/>
          </p:nvSpPr>
          <p:spPr>
            <a:xfrm>
              <a:off x="4663440" y="4250436"/>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Text 36"/>
            <p:cNvSpPr/>
            <p:nvPr/>
          </p:nvSpPr>
          <p:spPr>
            <a:xfrm>
              <a:off x="4791456" y="4283963"/>
              <a:ext cx="4023360" cy="21336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Etyczny</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dylemat</a:t>
              </a:r>
              <a:r>
                <a:rPr lang="en-US" sz="1100" b="1" i="0" u="none" strike="noStrike" kern="1200" cap="none" spc="0" baseline="0" dirty="0">
                  <a:solidFill>
                    <a:srgbClr val="1F1535"/>
                  </a:solidFill>
                  <a:uFillTx/>
                  <a:latin typeface="Cambria" pitchFamily="34"/>
                  <a:ea typeface="Cambria" pitchFamily="34"/>
                  <a:cs typeface="Cambria" pitchFamily="34"/>
                </a:rPr>
                <a:t> LLM</a:t>
              </a:r>
              <a:endParaRPr lang="en-US" sz="1100" b="0" i="0" u="none" strike="noStrike" kern="1200" cap="none" spc="0" baseline="0" dirty="0">
                <a:solidFill>
                  <a:srgbClr val="000000"/>
                </a:solidFill>
                <a:uFillTx/>
                <a:latin typeface="Calibri"/>
              </a:endParaRPr>
            </a:p>
          </p:txBody>
        </p:sp>
        <p:sp>
          <p:nvSpPr>
            <p:cNvPr id="39" name="Text 37"/>
            <p:cNvSpPr/>
            <p:nvPr/>
          </p:nvSpPr>
          <p:spPr>
            <a:xfrm>
              <a:off x="4791456" y="4453129"/>
              <a:ext cx="4023360"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a:solidFill>
                    <a:srgbClr val="111931"/>
                  </a:solidFill>
                  <a:uFillTx/>
                  <a:latin typeface="Calibri" pitchFamily="34"/>
                  <a:ea typeface="Calibri" pitchFamily="34"/>
                  <a:cs typeface="Calibri" pitchFamily="34"/>
                </a:rPr>
                <a:t>LLM </a:t>
              </a:r>
              <a:r>
                <a:rPr lang="en-US" sz="950" b="0" i="0" u="none" strike="noStrike" kern="1200" cap="none" spc="0" baseline="0" dirty="0" err="1">
                  <a:solidFill>
                    <a:srgbClr val="111931"/>
                  </a:solidFill>
                  <a:uFillTx/>
                  <a:latin typeface="Calibri" pitchFamily="34"/>
                  <a:ea typeface="Calibri" pitchFamily="34"/>
                  <a:cs typeface="Calibri" pitchFamily="34"/>
                </a:rPr>
                <a:t>może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symulować</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empatię</a:t>
              </a:r>
              <a:r>
                <a:rPr lang="en-US" sz="950" b="0" i="0" u="none" strike="noStrike" kern="1200" cap="none" spc="0" baseline="0" dirty="0">
                  <a:solidFill>
                    <a:srgbClr val="111931"/>
                  </a:solidFill>
                  <a:uFillTx/>
                  <a:latin typeface="Calibri" pitchFamily="34"/>
                  <a:ea typeface="Calibri" pitchFamily="34"/>
                  <a:cs typeface="Calibri" pitchFamily="34"/>
                </a:rPr>
                <a:t> bez </a:t>
              </a:r>
              <a:r>
                <a:rPr lang="en-US" sz="950" b="0" i="0" u="none" strike="noStrike" kern="1200" cap="none" spc="0" baseline="0" dirty="0" err="1">
                  <a:solidFill>
                    <a:srgbClr val="111931"/>
                  </a:solidFill>
                  <a:uFillTx/>
                  <a:latin typeface="Calibri" pitchFamily="34"/>
                  <a:ea typeface="Calibri" pitchFamily="34"/>
                  <a:cs typeface="Calibri" pitchFamily="34"/>
                </a:rPr>
                <a:t>jej</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rozumienia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Ryzyko</a:t>
              </a:r>
              <a:r>
                <a:rPr lang="en-US" sz="950" b="0" i="0" u="none" strike="noStrike" kern="1200" cap="none" spc="0" baseline="0" dirty="0">
                  <a:solidFill>
                    <a:srgbClr val="111931"/>
                  </a:solidFill>
                  <a:uFillTx/>
                  <a:latin typeface="Calibri" pitchFamily="34"/>
                  <a:ea typeface="Calibri" pitchFamily="34"/>
                  <a:cs typeface="Calibri" pitchFamily="34"/>
                </a:rPr>
                <a:t>: user attachment do </a:t>
              </a:r>
              <a:r>
                <a:rPr lang="en-US" sz="950" b="0" i="0" u="none" strike="noStrike" kern="1200" cap="none" spc="0" baseline="0" dirty="0" err="1">
                  <a:solidFill>
                    <a:srgbClr val="111931"/>
                  </a:solidFill>
                  <a:uFillTx/>
                  <a:latin typeface="Calibri" pitchFamily="34"/>
                  <a:ea typeface="Calibri" pitchFamily="34"/>
                  <a:cs typeface="Calibri" pitchFamily="34"/>
                </a:rPr>
                <a:t>nieświadomego</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systemu</a:t>
              </a:r>
              <a:r>
                <a:rPr lang="en-US" sz="950" b="0" i="0" u="none" strike="noStrike" kern="1200" cap="none" spc="0" baseline="0" dirty="0">
                  <a:solidFill>
                    <a:srgbClr val="111931"/>
                  </a:solidFill>
                  <a:uFillTx/>
                  <a:latin typeface="Calibri" pitchFamily="34"/>
                  <a:ea typeface="Calibri" pitchFamily="34"/>
                  <a:cs typeface="Calibri" pitchFamily="34"/>
                </a:rPr>
                <a:t>. IEEE Ethically Aligned Design </a:t>
              </a:r>
              <a:r>
                <a:rPr lang="en-US" sz="950" b="0" i="0" u="none" strike="noStrike" kern="1200" cap="none" spc="0" baseline="0" dirty="0" err="1">
                  <a:solidFill>
                    <a:srgbClr val="111931"/>
                  </a:solidFill>
                  <a:uFillTx/>
                  <a:latin typeface="Calibri" pitchFamily="34"/>
                  <a:ea typeface="Calibri" pitchFamily="34"/>
                  <a:cs typeface="Calibri" pitchFamily="34"/>
                </a:rPr>
                <a:t>wymaga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transparentności</a:t>
              </a:r>
              <a:r>
                <a:rPr lang="en-US" sz="950" b="0" i="0" u="none" strike="noStrike" kern="1200" cap="none" spc="0" baseline="0" dirty="0">
                  <a:solidFill>
                    <a:srgbClr val="111931"/>
                  </a:solidFill>
                  <a:uFillTx/>
                  <a:latin typeface="Calibri" pitchFamily="34"/>
                  <a:ea typeface="Calibri" pitchFamily="34"/>
                  <a:cs typeface="Calibri" pitchFamily="34"/>
                </a:rPr>
                <a:t>.</a:t>
              </a:r>
              <a:endParaRPr lang="en-US" sz="950" b="0" i="0" u="none" strike="noStrike" kern="1200" cap="none" spc="0" baseline="0" dirty="0">
                <a:solidFill>
                  <a:srgbClr val="111931"/>
                </a:solidFill>
                <a:uFillTx/>
                <a:latin typeface="Calibri"/>
              </a:endParaRPr>
            </a:p>
          </p:txBody>
        </p:sp>
      </p:grpSp>
      <p:sp>
        <p:nvSpPr>
          <p:cNvPr id="50"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11</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9FF"/>
        </a:solidFill>
        <a:effectLst/>
      </p:bgPr>
    </p:bg>
    <p:spTree>
      <p:nvGrpSpPr>
        <p:cNvPr id="1" name=""/>
        <p:cNvGrpSpPr/>
        <p:nvPr/>
      </p:nvGrpSpPr>
      <p:grpSpPr>
        <a:xfrm>
          <a:off x="0" y="0"/>
          <a:ext cx="0" cy="0"/>
          <a:chOff x="0" y="0"/>
          <a:chExt cx="0" cy="0"/>
        </a:xfrm>
      </p:grpSpPr>
      <p:grpSp>
        <p:nvGrpSpPr>
          <p:cNvPr id="44" name="Grupa 43"/>
          <p:cNvGrpSpPr/>
          <p:nvPr/>
        </p:nvGrpSpPr>
        <p:grpSpPr>
          <a:xfrm>
            <a:off x="0" y="0"/>
            <a:ext cx="9144000" cy="558000"/>
            <a:chOff x="0" y="0"/>
            <a:chExt cx="9144000" cy="558000"/>
          </a:xfrm>
        </p:grpSpPr>
        <p:sp>
          <p:nvSpPr>
            <p:cNvPr id="45"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EDA / </a:t>
            </a:r>
            <a:r>
              <a:rPr lang="en-US" sz="2000" b="1" i="0" u="none" strike="noStrike" kern="1200" cap="none" spc="0" baseline="0" dirty="0" smtClean="0">
                <a:solidFill>
                  <a:srgbClr val="FFFFFF"/>
                </a:solidFill>
                <a:uFillTx/>
                <a:latin typeface="Cambria" pitchFamily="34"/>
                <a:ea typeface="Cambria" pitchFamily="34"/>
                <a:cs typeface="Cambria" pitchFamily="34"/>
              </a:rPr>
              <a:t>GSR</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Elektrodermalna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ktywność</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jako</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w</a:t>
            </a:r>
            <a:r>
              <a:rPr lang="en-US" sz="2000" b="1" i="0" u="none" strike="noStrike" kern="1200" cap="none" spc="0" baseline="0" dirty="0" err="1" smtClean="0">
                <a:solidFill>
                  <a:srgbClr val="FFFFFF"/>
                </a:solidFill>
                <a:uFillTx/>
                <a:latin typeface="Cambria" pitchFamily="34"/>
                <a:ea typeface="Cambria" pitchFamily="34"/>
                <a:cs typeface="Cambria" pitchFamily="34"/>
              </a:rPr>
              <a:t>skaźnik</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obudzenia</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914400" y="654084"/>
            <a:ext cx="7132320" cy="43353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Calibri" pitchFamily="34"/>
                <a:ea typeface="Calibri" pitchFamily="34"/>
                <a:cs typeface="Calibri" pitchFamily="34"/>
              </a:rPr>
              <a:t>EDA (</a:t>
            </a:r>
            <a:r>
              <a:rPr lang="en-US" sz="1600" b="0" i="0" u="none" strike="noStrike" kern="1200" cap="none" spc="0" baseline="0" dirty="0" err="1">
                <a:solidFill>
                  <a:srgbClr val="111931"/>
                </a:solidFill>
                <a:uFillTx/>
                <a:latin typeface="Calibri" pitchFamily="34"/>
                <a:ea typeface="Calibri" pitchFamily="34"/>
                <a:cs typeface="Calibri" pitchFamily="34"/>
              </a:rPr>
              <a:t>Electrodermal</a:t>
            </a:r>
            <a:r>
              <a:rPr lang="en-US" sz="1600" b="0" i="0" u="none" strike="noStrike" kern="1200" cap="none" spc="0" baseline="0" dirty="0">
                <a:solidFill>
                  <a:srgbClr val="111931"/>
                </a:solidFill>
                <a:uFillTx/>
                <a:latin typeface="Calibri" pitchFamily="34"/>
                <a:ea typeface="Calibri" pitchFamily="34"/>
                <a:cs typeface="Calibri" pitchFamily="34"/>
              </a:rPr>
              <a:t> Activity) = GSR (Galvanic Skin Response</a:t>
            </a:r>
            <a:r>
              <a:rPr lang="en-US" sz="1600" b="0" i="0" u="none" strike="noStrike" kern="1200" cap="none" spc="0" baseline="0" dirty="0" smtClean="0">
                <a:solidFill>
                  <a:srgbClr val="111931"/>
                </a:solidFill>
                <a:uFillTx/>
                <a:latin typeface="Calibri" pitchFamily="34"/>
                <a:ea typeface="Calibri" pitchFamily="34"/>
                <a:cs typeface="Calibri" pitchFamily="34"/>
              </a:rPr>
              <a:t>)</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Z</a:t>
            </a:r>
            <a:r>
              <a:rPr lang="en-US" sz="1600" b="0" i="0" u="none" strike="noStrike" kern="1200" cap="none" spc="0" baseline="0" dirty="0" err="1" smtClean="0">
                <a:solidFill>
                  <a:srgbClr val="111931"/>
                </a:solidFill>
                <a:uFillTx/>
                <a:latin typeface="Calibri" pitchFamily="34"/>
                <a:ea typeface="Calibri" pitchFamily="34"/>
                <a:cs typeface="Calibri" pitchFamily="34"/>
              </a:rPr>
              <a:t>miana</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przewodności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skóry</a:t>
            </a:r>
            <a:r>
              <a:rPr lang="en-US" sz="1600" b="0" i="0" u="none" strike="noStrike" kern="1200" cap="none" spc="0" baseline="0" dirty="0">
                <a:solidFill>
                  <a:srgbClr val="111931"/>
                </a:solidFill>
                <a:uFillTx/>
                <a:latin typeface="Calibri" pitchFamily="34"/>
                <a:ea typeface="Calibri" pitchFamily="34"/>
                <a:cs typeface="Calibri" pitchFamily="34"/>
              </a:rPr>
              <a:t> pod </a:t>
            </a:r>
            <a:r>
              <a:rPr lang="en-US" sz="1600" b="0" i="0" u="none" strike="noStrike" kern="1200" cap="none" spc="0" baseline="0" dirty="0" err="1">
                <a:solidFill>
                  <a:srgbClr val="111931"/>
                </a:solidFill>
                <a:uFillTx/>
                <a:latin typeface="Calibri" pitchFamily="34"/>
                <a:ea typeface="Calibri" pitchFamily="34"/>
                <a:cs typeface="Calibri" pitchFamily="34"/>
              </a:rPr>
              <a:t>wpływem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aktywacji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układu</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współczulnego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Najlepszy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wskaźnik</a:t>
            </a:r>
            <a:r>
              <a:rPr lang="en-US" sz="1600" b="0" i="0" u="none" strike="noStrike" kern="1200" cap="none" spc="0" baseline="0" dirty="0">
                <a:solidFill>
                  <a:srgbClr val="111931"/>
                </a:solidFill>
                <a:uFillTx/>
                <a:latin typeface="Calibri" pitchFamily="34"/>
                <a:ea typeface="Calibri" pitchFamily="34"/>
                <a:cs typeface="Calibri" pitchFamily="34"/>
              </a:rPr>
              <a:t> Arousal.</a:t>
            </a:r>
            <a:endParaRPr lang="en-US" sz="1600" b="0" i="0" u="none" strike="noStrike" kern="1200" cap="none" spc="0" baseline="0" dirty="0">
              <a:solidFill>
                <a:srgbClr val="111931"/>
              </a:solidFill>
              <a:uFillTx/>
              <a:latin typeface="Calibri"/>
            </a:endParaRPr>
          </a:p>
        </p:txBody>
      </p:sp>
      <p:sp>
        <p:nvSpPr>
          <p:cNvPr id="8" name="Text 6"/>
          <p:cNvSpPr/>
          <p:nvPr/>
        </p:nvSpPr>
        <p:spPr>
          <a:xfrm>
            <a:off x="120378" y="1413195"/>
            <a:ext cx="4360181"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Fizjologia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sygnał</a:t>
            </a:r>
            <a:endParaRPr lang="en-US" sz="1200" b="0" i="0" u="none" strike="noStrike" kern="1200" cap="none" spc="0" baseline="0" dirty="0">
              <a:solidFill>
                <a:srgbClr val="000000"/>
              </a:solidFill>
              <a:uFillTx/>
              <a:latin typeface="Calibri"/>
            </a:endParaRPr>
          </a:p>
        </p:txBody>
      </p:sp>
      <p:grpSp>
        <p:nvGrpSpPr>
          <p:cNvPr id="54" name="Grupa 53"/>
          <p:cNvGrpSpPr/>
          <p:nvPr/>
        </p:nvGrpSpPr>
        <p:grpSpPr>
          <a:xfrm>
            <a:off x="91440" y="1659636"/>
            <a:ext cx="4389120" cy="545146"/>
            <a:chOff x="91440" y="1461516"/>
            <a:chExt cx="4389120" cy="545146"/>
          </a:xfrm>
        </p:grpSpPr>
        <p:grpSp>
          <p:nvGrpSpPr>
            <p:cNvPr id="47" name="Grupa 46"/>
            <p:cNvGrpSpPr/>
            <p:nvPr/>
          </p:nvGrpSpPr>
          <p:grpSpPr>
            <a:xfrm>
              <a:off x="91440" y="1488948"/>
              <a:ext cx="4389120" cy="504000"/>
              <a:chOff x="320040" y="1504188"/>
              <a:chExt cx="4160520" cy="576000"/>
            </a:xfrm>
          </p:grpSpPr>
          <p:sp>
            <p:nvSpPr>
              <p:cNvPr id="9" name="Shape 7"/>
              <p:cNvSpPr/>
              <p:nvPr/>
            </p:nvSpPr>
            <p:spPr>
              <a:xfrm>
                <a:off x="320040" y="150418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50418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1" name="Text 9"/>
            <p:cNvSpPr/>
            <p:nvPr/>
          </p:nvSpPr>
          <p:spPr>
            <a:xfrm>
              <a:off x="246888" y="1461516"/>
              <a:ext cx="417880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11931"/>
                  </a:solidFill>
                  <a:uFillTx/>
                  <a:latin typeface="Cambria" pitchFamily="34"/>
                  <a:ea typeface="Cambria" pitchFamily="34"/>
                  <a:cs typeface="Cambria" pitchFamily="34"/>
                </a:rPr>
                <a:t>Mechanizm</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biologiczny</a:t>
              </a:r>
              <a:endParaRPr lang="en-US" sz="1100" b="0" i="0" u="none" strike="noStrike" kern="1200" cap="none" spc="0" baseline="0" dirty="0">
                <a:solidFill>
                  <a:srgbClr val="111931"/>
                </a:solidFill>
                <a:uFillTx/>
                <a:latin typeface="Calibri"/>
              </a:endParaRPr>
            </a:p>
          </p:txBody>
        </p:sp>
        <p:sp>
          <p:nvSpPr>
            <p:cNvPr id="12" name="Text 10"/>
            <p:cNvSpPr/>
            <p:nvPr/>
          </p:nvSpPr>
          <p:spPr>
            <a:xfrm>
              <a:off x="222471" y="1642007"/>
              <a:ext cx="4203225" cy="36465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rgbClr val="111931"/>
                  </a:solidFill>
                  <a:uFillTx/>
                  <a:latin typeface="Calibri" pitchFamily="34"/>
                  <a:ea typeface="Calibri" pitchFamily="34"/>
                  <a:cs typeface="Calibri" pitchFamily="34"/>
                </a:rPr>
                <a:t>Gruczoły</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potowe</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ekrynowe</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na</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dłoniach</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i</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palcach</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aktywowane</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przez</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układ</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współczulny</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nie</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temperaturą</a:t>
              </a:r>
              <a:r>
                <a:rPr lang="en-US" sz="900" b="0" i="0" u="none" strike="noStrike" kern="1200" cap="none" spc="0" baseline="0" dirty="0">
                  <a:solidFill>
                    <a:srgbClr val="111931"/>
                  </a:solidFill>
                  <a:uFillTx/>
                  <a:latin typeface="Calibri" pitchFamily="34"/>
                  <a:ea typeface="Calibri" pitchFamily="34"/>
                  <a:cs typeface="Calibri" pitchFamily="34"/>
                </a:rPr>
                <a:t>). Pot → </a:t>
              </a:r>
              <a:r>
                <a:rPr lang="en-US" sz="900" b="0" i="0" u="none" strike="noStrike" kern="1200" cap="none" spc="0" baseline="0" dirty="0" err="1">
                  <a:solidFill>
                    <a:srgbClr val="111931"/>
                  </a:solidFill>
                  <a:uFillTx/>
                  <a:latin typeface="Calibri" pitchFamily="34"/>
                  <a:ea typeface="Calibri" pitchFamily="34"/>
                  <a:cs typeface="Calibri" pitchFamily="34"/>
                </a:rPr>
                <a:t>zwiększona</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przewodność</a:t>
              </a:r>
              <a:r>
                <a:rPr lang="en-US" sz="900" b="0" i="0" u="none" strike="noStrike" kern="1200" cap="none" spc="0" baseline="0" dirty="0">
                  <a:solidFill>
                    <a:srgbClr val="111931"/>
                  </a:solidFill>
                  <a:uFillTx/>
                  <a:latin typeface="Calibri" pitchFamily="34"/>
                  <a:ea typeface="Calibri" pitchFamily="34"/>
                  <a:cs typeface="Calibri" pitchFamily="34"/>
                </a:rPr>
                <a:t> [µS]. </a:t>
              </a:r>
              <a:r>
                <a:rPr lang="en-US" sz="900" b="0" i="0" u="none" strike="noStrike" kern="1200" cap="none" spc="0" baseline="0" dirty="0" err="1">
                  <a:solidFill>
                    <a:srgbClr val="111931"/>
                  </a:solidFill>
                  <a:uFillTx/>
                  <a:latin typeface="Calibri" pitchFamily="34"/>
                  <a:ea typeface="Calibri" pitchFamily="34"/>
                  <a:cs typeface="Calibri" pitchFamily="34"/>
                </a:rPr>
                <a:t>Reakcja</a:t>
              </a:r>
              <a:r>
                <a:rPr lang="en-US" sz="900" b="0" i="0" u="none" strike="noStrike" kern="1200" cap="none" spc="0" baseline="0" dirty="0">
                  <a:solidFill>
                    <a:srgbClr val="111931"/>
                  </a:solidFill>
                  <a:uFillTx/>
                  <a:latin typeface="Calibri" pitchFamily="34"/>
                  <a:ea typeface="Calibri" pitchFamily="34"/>
                  <a:cs typeface="Calibri" pitchFamily="34"/>
                </a:rPr>
                <a:t>: 1–5 s </a:t>
              </a:r>
              <a:r>
                <a:rPr lang="en-US" sz="900" b="0" i="0" u="none" strike="noStrike" kern="1200" cap="none" spc="0" baseline="0" dirty="0" err="1">
                  <a:solidFill>
                    <a:srgbClr val="111931"/>
                  </a:solidFill>
                  <a:uFillTx/>
                  <a:latin typeface="Calibri" pitchFamily="34"/>
                  <a:ea typeface="Calibri" pitchFamily="34"/>
                  <a:cs typeface="Calibri" pitchFamily="34"/>
                </a:rPr>
                <a:t>po</a:t>
              </a:r>
              <a:r>
                <a:rPr lang="en-US" sz="900" b="0" i="0" u="none" strike="noStrike" kern="1200" cap="none" spc="0" baseline="0" dirty="0">
                  <a:solidFill>
                    <a:srgbClr val="111931"/>
                  </a:solidFill>
                  <a:uFillTx/>
                  <a:latin typeface="Calibri" pitchFamily="34"/>
                  <a:ea typeface="Calibri" pitchFamily="34"/>
                  <a:cs typeface="Calibri" pitchFamily="34"/>
                </a:rPr>
                <a:t> </a:t>
              </a:r>
              <a:r>
                <a:rPr lang="en-US" sz="900" b="0" i="0" u="none" strike="noStrike" kern="1200" cap="none" spc="0" baseline="0" dirty="0" err="1">
                  <a:solidFill>
                    <a:srgbClr val="111931"/>
                  </a:solidFill>
                  <a:uFillTx/>
                  <a:latin typeface="Calibri" pitchFamily="34"/>
                  <a:ea typeface="Calibri" pitchFamily="34"/>
                  <a:cs typeface="Calibri" pitchFamily="34"/>
                </a:rPr>
                <a:t>bodźcu</a:t>
              </a:r>
              <a:r>
                <a:rPr lang="en-US" sz="900" b="0" i="0" u="none" strike="noStrike" kern="1200" cap="none" spc="0" baseline="0" dirty="0">
                  <a:solidFill>
                    <a:srgbClr val="111931"/>
                  </a:solidFill>
                  <a:uFillTx/>
                  <a:latin typeface="Calibri" pitchFamily="34"/>
                  <a:ea typeface="Calibri" pitchFamily="34"/>
                  <a:cs typeface="Calibri" pitchFamily="34"/>
                </a:rPr>
                <a:t>.</a:t>
              </a:r>
              <a:endParaRPr lang="en-US" sz="900" b="0" i="0" u="none" strike="noStrike" kern="1200" cap="none" spc="0" baseline="0" dirty="0">
                <a:solidFill>
                  <a:srgbClr val="111931"/>
                </a:solidFill>
                <a:uFillTx/>
                <a:latin typeface="Calibri"/>
              </a:endParaRPr>
            </a:p>
          </p:txBody>
        </p:sp>
      </p:grpSp>
      <p:grpSp>
        <p:nvGrpSpPr>
          <p:cNvPr id="48" name="Grupa 47"/>
          <p:cNvGrpSpPr/>
          <p:nvPr/>
        </p:nvGrpSpPr>
        <p:grpSpPr>
          <a:xfrm>
            <a:off x="91440" y="2252472"/>
            <a:ext cx="4389120" cy="504000"/>
            <a:chOff x="320040" y="2107692"/>
            <a:chExt cx="4160520" cy="576000"/>
          </a:xfrm>
        </p:grpSpPr>
        <p:sp>
          <p:nvSpPr>
            <p:cNvPr id="13" name="Shape 11"/>
            <p:cNvSpPr/>
            <p:nvPr/>
          </p:nvSpPr>
          <p:spPr>
            <a:xfrm>
              <a:off x="320040" y="210769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2107692"/>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5" name="Text 13"/>
          <p:cNvSpPr/>
          <p:nvPr/>
        </p:nvSpPr>
        <p:spPr>
          <a:xfrm>
            <a:off x="246888" y="2263139"/>
            <a:ext cx="4178807" cy="18396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11931"/>
                </a:solidFill>
                <a:uFillTx/>
                <a:latin typeface="Cambria" pitchFamily="34"/>
                <a:ea typeface="Cambria" pitchFamily="34"/>
                <a:cs typeface="Cambria" pitchFamily="34"/>
              </a:rPr>
              <a:t>Dekompozycja</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sygnału</a:t>
            </a:r>
            <a:r>
              <a:rPr lang="en-US" sz="1100" b="1" i="0" u="none" strike="noStrike" kern="1200" cap="none" spc="0" baseline="0" dirty="0">
                <a:solidFill>
                  <a:srgbClr val="111931"/>
                </a:solidFill>
                <a:uFillTx/>
                <a:latin typeface="Cambria" pitchFamily="34"/>
                <a:ea typeface="Cambria" pitchFamily="34"/>
                <a:cs typeface="Cambria" pitchFamily="34"/>
              </a:rPr>
              <a:t> EDA</a:t>
            </a:r>
            <a:endParaRPr lang="en-US" sz="1100" b="0" i="0" u="none" strike="noStrike" kern="1200" cap="none" spc="0" baseline="0" dirty="0">
              <a:solidFill>
                <a:srgbClr val="111931"/>
              </a:solidFill>
              <a:uFillTx/>
              <a:latin typeface="Calibri"/>
            </a:endParaRPr>
          </a:p>
        </p:txBody>
      </p:sp>
      <p:sp>
        <p:nvSpPr>
          <p:cNvPr id="16" name="Text 14"/>
          <p:cNvSpPr/>
          <p:nvPr/>
        </p:nvSpPr>
        <p:spPr>
          <a:xfrm>
            <a:off x="222471" y="2435279"/>
            <a:ext cx="4203225" cy="3246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dirty="0">
                <a:solidFill>
                  <a:srgbClr val="111931"/>
                </a:solidFill>
                <a:uFillTx/>
                <a:latin typeface="Calibri" pitchFamily="34"/>
                <a:ea typeface="Calibri" pitchFamily="34"/>
                <a:cs typeface="Calibri" pitchFamily="34"/>
              </a:rPr>
              <a:t>Tonic (</a:t>
            </a:r>
            <a:r>
              <a:rPr lang="en-US" sz="950" b="0" i="0" u="none" strike="noStrike" kern="1200" cap="none" spc="0" baseline="0" dirty="0" smtClean="0">
                <a:solidFill>
                  <a:srgbClr val="111931"/>
                </a:solidFill>
                <a:uFillTx/>
                <a:latin typeface="Calibri" pitchFamily="34"/>
                <a:ea typeface="Calibri" pitchFamily="34"/>
                <a:cs typeface="Calibri" pitchFamily="34"/>
              </a:rPr>
              <a:t>SCL</a:t>
            </a:r>
            <a:r>
              <a:rPr lang="pl-PL" sz="950" b="0" i="0" u="none" strike="noStrike" kern="1200" cap="none" spc="0" baseline="0" dirty="0" smtClean="0">
                <a:solidFill>
                  <a:srgbClr val="111931"/>
                </a:solidFill>
                <a:uFillTx/>
                <a:latin typeface="Calibri" pitchFamily="34"/>
                <a:ea typeface="Calibri" pitchFamily="34"/>
                <a:cs typeface="Calibri" pitchFamily="34"/>
              </a:rPr>
              <a:t>,</a:t>
            </a:r>
            <a:r>
              <a:rPr lang="en-US" sz="950" b="0" i="0" u="none" strike="noStrike" kern="1200" cap="none" spc="0" baseline="0" dirty="0" smtClean="0">
                <a:solidFill>
                  <a:srgbClr val="111931"/>
                </a:solidFill>
                <a:uFillTx/>
                <a:latin typeface="Calibri" pitchFamily="34"/>
                <a:ea typeface="Calibri" pitchFamily="34"/>
                <a:cs typeface="Calibri" pitchFamily="34"/>
              </a:rPr>
              <a:t> </a:t>
            </a:r>
            <a:r>
              <a:rPr lang="en-US" sz="950" b="0" i="0" u="none" strike="noStrike" kern="1200" cap="none" spc="0" baseline="0" dirty="0">
                <a:solidFill>
                  <a:srgbClr val="111931"/>
                </a:solidFill>
                <a:uFillTx/>
                <a:latin typeface="Calibri" pitchFamily="34"/>
                <a:ea typeface="Calibri" pitchFamily="34"/>
                <a:cs typeface="Calibri" pitchFamily="34"/>
              </a:rPr>
              <a:t>Skin Conductance Level): </a:t>
            </a:r>
            <a:r>
              <a:rPr lang="en-US" sz="950" b="0" i="0" u="none" strike="noStrike" kern="1200" cap="none" spc="0" baseline="0" dirty="0" err="1">
                <a:solidFill>
                  <a:srgbClr val="111931"/>
                </a:solidFill>
                <a:uFillTx/>
                <a:latin typeface="Calibri" pitchFamily="34"/>
                <a:ea typeface="Calibri" pitchFamily="34"/>
                <a:cs typeface="Calibri" pitchFamily="34"/>
              </a:rPr>
              <a:t>powolny</a:t>
            </a:r>
            <a:r>
              <a:rPr lang="en-US" sz="950" b="0" i="0" u="none" strike="noStrike" kern="1200" cap="none" spc="0" baseline="0" dirty="0">
                <a:solidFill>
                  <a:srgbClr val="111931"/>
                </a:solidFill>
                <a:uFillTx/>
                <a:latin typeface="Calibri" pitchFamily="34"/>
                <a:ea typeface="Calibri" pitchFamily="34"/>
                <a:cs typeface="Calibri" pitchFamily="34"/>
              </a:rPr>
              <a:t> baseline. Phasic (</a:t>
            </a:r>
            <a:r>
              <a:rPr lang="en-US" sz="950" b="0" i="0" u="none" strike="noStrike" kern="1200" cap="none" spc="0" baseline="0" dirty="0" smtClean="0">
                <a:solidFill>
                  <a:srgbClr val="111931"/>
                </a:solidFill>
                <a:uFillTx/>
                <a:latin typeface="Calibri" pitchFamily="34"/>
                <a:ea typeface="Calibri" pitchFamily="34"/>
                <a:cs typeface="Calibri" pitchFamily="34"/>
              </a:rPr>
              <a:t>SCR</a:t>
            </a:r>
            <a:r>
              <a:rPr lang="pl-PL" sz="950" b="0" i="0" u="none" strike="noStrike" kern="1200" cap="none" spc="0" baseline="0" dirty="0" smtClean="0">
                <a:solidFill>
                  <a:srgbClr val="111931"/>
                </a:solidFill>
                <a:uFillTx/>
                <a:latin typeface="Calibri" pitchFamily="34"/>
                <a:ea typeface="Calibri" pitchFamily="34"/>
                <a:cs typeface="Calibri" pitchFamily="34"/>
              </a:rPr>
              <a:t>,</a:t>
            </a:r>
            <a:r>
              <a:rPr lang="en-US" sz="950" b="0" i="0" u="none" strike="noStrike" kern="1200" cap="none" spc="0" baseline="0" dirty="0" smtClean="0">
                <a:solidFill>
                  <a:srgbClr val="111931"/>
                </a:solidFill>
                <a:uFillTx/>
                <a:latin typeface="Calibri" pitchFamily="34"/>
                <a:ea typeface="Calibri" pitchFamily="34"/>
                <a:cs typeface="Calibri" pitchFamily="34"/>
              </a:rPr>
              <a:t> </a:t>
            </a:r>
            <a:r>
              <a:rPr lang="en-US" sz="950" b="0" i="0" u="none" strike="noStrike" kern="1200" cap="none" spc="0" baseline="0" dirty="0">
                <a:solidFill>
                  <a:srgbClr val="111931"/>
                </a:solidFill>
                <a:uFillTx/>
                <a:latin typeface="Calibri" pitchFamily="34"/>
                <a:ea typeface="Calibri" pitchFamily="34"/>
                <a:cs typeface="Calibri" pitchFamily="34"/>
              </a:rPr>
              <a:t>Skin Conductance Response): </a:t>
            </a:r>
            <a:r>
              <a:rPr lang="en-US" sz="950" b="0" i="0" u="none" strike="noStrike" kern="1200" cap="none" spc="0" baseline="0" dirty="0" err="1">
                <a:solidFill>
                  <a:srgbClr val="111931"/>
                </a:solidFill>
                <a:uFillTx/>
                <a:latin typeface="Calibri" pitchFamily="34"/>
                <a:ea typeface="Calibri" pitchFamily="34"/>
                <a:cs typeface="Calibri" pitchFamily="34"/>
              </a:rPr>
              <a:t>szybkie</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szczyty</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po</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bodźcu</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Filtr</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cvxEDA</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lub</a:t>
            </a:r>
            <a:r>
              <a:rPr lang="en-US" sz="950" b="0" i="0" u="none" strike="noStrike" kern="1200" cap="none" spc="0" baseline="0" dirty="0">
                <a:solidFill>
                  <a:srgbClr val="111931"/>
                </a:solidFill>
                <a:uFillTx/>
                <a:latin typeface="Calibri" pitchFamily="34"/>
                <a:ea typeface="Calibri" pitchFamily="34"/>
                <a:cs typeface="Calibri" pitchFamily="34"/>
              </a:rPr>
              <a:t> </a:t>
            </a:r>
            <a:r>
              <a:rPr lang="en-US" sz="950" b="0" i="0" u="none" strike="noStrike" kern="1200" cap="none" spc="0" baseline="0" dirty="0" err="1">
                <a:solidFill>
                  <a:srgbClr val="111931"/>
                </a:solidFill>
                <a:uFillTx/>
                <a:latin typeface="Calibri" pitchFamily="34"/>
                <a:ea typeface="Calibri" pitchFamily="34"/>
                <a:cs typeface="Calibri" pitchFamily="34"/>
              </a:rPr>
              <a:t>Ledalab</a:t>
            </a:r>
            <a:r>
              <a:rPr lang="en-US" sz="950" b="0" i="0" u="none" strike="noStrike" kern="1200" cap="none" spc="0" baseline="0" dirty="0">
                <a:solidFill>
                  <a:srgbClr val="111931"/>
                </a:solidFill>
                <a:uFillTx/>
                <a:latin typeface="Calibri" pitchFamily="34"/>
                <a:ea typeface="Calibri" pitchFamily="34"/>
                <a:cs typeface="Calibri" pitchFamily="34"/>
              </a:rPr>
              <a:t> do </a:t>
            </a:r>
            <a:r>
              <a:rPr lang="en-US" sz="950" b="0" i="0" u="none" strike="noStrike" kern="1200" cap="none" spc="0" baseline="0" dirty="0" err="1">
                <a:solidFill>
                  <a:srgbClr val="111931"/>
                </a:solidFill>
                <a:uFillTx/>
                <a:latin typeface="Calibri" pitchFamily="34"/>
                <a:ea typeface="Calibri" pitchFamily="34"/>
                <a:cs typeface="Calibri" pitchFamily="34"/>
              </a:rPr>
              <a:t>separacji</a:t>
            </a:r>
            <a:r>
              <a:rPr lang="en-US" sz="950" b="0" i="0" u="none" strike="noStrike" kern="1200" cap="none" spc="0" baseline="0" dirty="0">
                <a:solidFill>
                  <a:srgbClr val="111931"/>
                </a:solidFill>
                <a:uFillTx/>
                <a:latin typeface="Calibri" pitchFamily="34"/>
                <a:ea typeface="Calibri" pitchFamily="34"/>
                <a:cs typeface="Calibri" pitchFamily="34"/>
              </a:rPr>
              <a:t>.</a:t>
            </a:r>
            <a:endParaRPr lang="en-US" sz="950" b="0" i="0" u="none" strike="noStrike" kern="1200" cap="none" spc="0" baseline="0" dirty="0">
              <a:solidFill>
                <a:srgbClr val="111931"/>
              </a:solidFill>
              <a:uFillTx/>
              <a:latin typeface="Calibri"/>
            </a:endParaRPr>
          </a:p>
        </p:txBody>
      </p:sp>
      <p:grpSp>
        <p:nvGrpSpPr>
          <p:cNvPr id="49" name="Grupa 48"/>
          <p:cNvGrpSpPr/>
          <p:nvPr/>
        </p:nvGrpSpPr>
        <p:grpSpPr>
          <a:xfrm>
            <a:off x="91440" y="2810256"/>
            <a:ext cx="4389120" cy="504000"/>
            <a:chOff x="320040" y="2726436"/>
            <a:chExt cx="4160520" cy="576000"/>
          </a:xfrm>
        </p:grpSpPr>
        <p:sp>
          <p:nvSpPr>
            <p:cNvPr id="17" name="Shape 15"/>
            <p:cNvSpPr/>
            <p:nvPr/>
          </p:nvSpPr>
          <p:spPr>
            <a:xfrm>
              <a:off x="320040" y="2726436"/>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726436"/>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9" name="Text 17"/>
          <p:cNvSpPr/>
          <p:nvPr/>
        </p:nvSpPr>
        <p:spPr>
          <a:xfrm>
            <a:off x="246888" y="2813304"/>
            <a:ext cx="4178807" cy="19957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11931"/>
                </a:solidFill>
                <a:uFillTx/>
                <a:latin typeface="Cambria" pitchFamily="34"/>
                <a:ea typeface="Cambria" pitchFamily="34"/>
                <a:cs typeface="Cambria" pitchFamily="34"/>
              </a:rPr>
              <a:t>Sprzęt</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mobilny</a:t>
            </a:r>
            <a:endParaRPr lang="en-US" sz="1100" b="0" i="0" u="none" strike="noStrike" kern="1200" cap="none" spc="0" baseline="0" dirty="0">
              <a:solidFill>
                <a:srgbClr val="111931"/>
              </a:solidFill>
              <a:uFillTx/>
              <a:latin typeface="Calibri"/>
            </a:endParaRPr>
          </a:p>
        </p:txBody>
      </p:sp>
      <p:sp>
        <p:nvSpPr>
          <p:cNvPr id="20" name="Text 18"/>
          <p:cNvSpPr/>
          <p:nvPr/>
        </p:nvSpPr>
        <p:spPr>
          <a:xfrm>
            <a:off x="222471" y="3048000"/>
            <a:ext cx="4203225"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Empatica</a:t>
            </a:r>
            <a:r>
              <a:rPr lang="en-US" sz="1000" b="0" i="0" u="none" strike="noStrike" kern="1200" cap="none" spc="0" baseline="0" dirty="0">
                <a:solidFill>
                  <a:srgbClr val="111931"/>
                </a:solidFill>
                <a:uFillTx/>
                <a:latin typeface="Calibri" pitchFamily="34"/>
                <a:ea typeface="Calibri" pitchFamily="34"/>
                <a:cs typeface="Calibri" pitchFamily="34"/>
              </a:rPr>
              <a:t> E4 wristband: EDA + PPG + temp + ACC, BLE → Android/iOS API. Shimmer3: </a:t>
            </a:r>
            <a:r>
              <a:rPr lang="en-US" sz="1000" b="0" i="0" u="none" strike="noStrike" kern="1200" cap="none" spc="0" baseline="0" dirty="0" err="1">
                <a:solidFill>
                  <a:srgbClr val="111931"/>
                </a:solidFill>
                <a:uFillTx/>
                <a:latin typeface="Calibri" pitchFamily="34"/>
                <a:ea typeface="Calibri" pitchFamily="34"/>
                <a:cs typeface="Calibri" pitchFamily="34"/>
              </a:rPr>
              <a:t>badawczy</a:t>
            </a:r>
            <a:r>
              <a:rPr lang="en-US" sz="1000" b="0" i="0" u="none" strike="noStrike" kern="1200" cap="none" spc="0" baseline="0" dirty="0">
                <a:solidFill>
                  <a:srgbClr val="111931"/>
                </a:solidFill>
                <a:uFillTx/>
                <a:latin typeface="Calibri" pitchFamily="34"/>
                <a:ea typeface="Calibri" pitchFamily="34"/>
                <a:cs typeface="Calibri" pitchFamily="34"/>
              </a:rPr>
              <a:t>. Polar: </a:t>
            </a:r>
            <a:r>
              <a:rPr lang="en-US" sz="1000" b="0" i="0" u="none" strike="noStrike" kern="1200" cap="none" spc="0" baseline="0" dirty="0" err="1">
                <a:solidFill>
                  <a:srgbClr val="111931"/>
                </a:solidFill>
                <a:uFillTx/>
                <a:latin typeface="Calibri" pitchFamily="34"/>
                <a:ea typeface="Calibri" pitchFamily="34"/>
                <a:cs typeface="Calibri" pitchFamily="34"/>
              </a:rPr>
              <a:t>tylko</a:t>
            </a:r>
            <a:r>
              <a:rPr lang="en-US" sz="1000" b="0" i="0" u="none" strike="noStrike" kern="1200" cap="none" spc="0" baseline="0" dirty="0">
                <a:solidFill>
                  <a:srgbClr val="111931"/>
                </a:solidFill>
                <a:uFillTx/>
                <a:latin typeface="Calibri" pitchFamily="34"/>
                <a:ea typeface="Calibri" pitchFamily="34"/>
                <a:cs typeface="Calibri" pitchFamily="34"/>
              </a:rPr>
              <a:t> PPG. </a:t>
            </a:r>
            <a:r>
              <a:rPr lang="en-US" sz="1000" b="0" i="0" u="none" strike="noStrike" kern="1200" cap="none" spc="0" baseline="0" dirty="0" err="1">
                <a:solidFill>
                  <a:srgbClr val="111931"/>
                </a:solidFill>
                <a:uFillTx/>
                <a:latin typeface="Calibri" pitchFamily="34"/>
                <a:ea typeface="Calibri" pitchFamily="34"/>
                <a:cs typeface="Calibri" pitchFamily="34"/>
              </a:rPr>
              <a:t>FitBit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udostępnia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surowego</a:t>
            </a:r>
            <a:r>
              <a:rPr lang="en-US" sz="1000" b="0" i="0" u="none" strike="noStrike" kern="1200" cap="none" spc="0" baseline="0" dirty="0">
                <a:solidFill>
                  <a:srgbClr val="111931"/>
                </a:solidFill>
                <a:uFillTx/>
                <a:latin typeface="Calibri" pitchFamily="34"/>
                <a:ea typeface="Calibri" pitchFamily="34"/>
                <a:cs typeface="Calibri" pitchFamily="34"/>
              </a:rPr>
              <a:t> EDA.</a:t>
            </a:r>
            <a:endParaRPr lang="en-US" sz="1000" b="0" i="0" u="none" strike="noStrike" kern="1200" cap="none" spc="0" baseline="0" dirty="0">
              <a:solidFill>
                <a:srgbClr val="111931"/>
              </a:solidFill>
              <a:uFillTx/>
              <a:latin typeface="Calibri"/>
            </a:endParaRPr>
          </a:p>
        </p:txBody>
      </p:sp>
      <p:grpSp>
        <p:nvGrpSpPr>
          <p:cNvPr id="50" name="Grupa 49"/>
          <p:cNvGrpSpPr/>
          <p:nvPr/>
        </p:nvGrpSpPr>
        <p:grpSpPr>
          <a:xfrm>
            <a:off x="91440" y="3364992"/>
            <a:ext cx="4389120" cy="504000"/>
            <a:chOff x="320040" y="3364992"/>
            <a:chExt cx="4160520" cy="504000"/>
          </a:xfrm>
        </p:grpSpPr>
        <p:sp>
          <p:nvSpPr>
            <p:cNvPr id="21" name="Shape 19"/>
            <p:cNvSpPr/>
            <p:nvPr/>
          </p:nvSpPr>
          <p:spPr>
            <a:xfrm>
              <a:off x="320040" y="3364992"/>
              <a:ext cx="4160520" cy="504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364992"/>
              <a:ext cx="54864" cy="504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3" name="Text 21"/>
          <p:cNvSpPr/>
          <p:nvPr/>
        </p:nvSpPr>
        <p:spPr>
          <a:xfrm>
            <a:off x="246888" y="3348227"/>
            <a:ext cx="417880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11931"/>
                </a:solidFill>
                <a:uFillTx/>
                <a:latin typeface="Cambria" pitchFamily="34"/>
                <a:ea typeface="Cambria" pitchFamily="34"/>
                <a:cs typeface="Cambria" pitchFamily="34"/>
              </a:rPr>
              <a:t>Zastosowanie</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kliniczne</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stres</a:t>
            </a:r>
            <a:endParaRPr lang="en-US" sz="1100" b="0" i="0" u="none" strike="noStrike" kern="1200" cap="none" spc="0" baseline="0" dirty="0">
              <a:solidFill>
                <a:srgbClr val="111931"/>
              </a:solidFill>
              <a:uFillTx/>
              <a:latin typeface="Calibri"/>
            </a:endParaRPr>
          </a:p>
        </p:txBody>
      </p:sp>
      <p:sp>
        <p:nvSpPr>
          <p:cNvPr id="24" name="Text 22"/>
          <p:cNvSpPr/>
          <p:nvPr/>
        </p:nvSpPr>
        <p:spPr>
          <a:xfrm>
            <a:off x="222471" y="3590543"/>
            <a:ext cx="4203225"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SCR frequency &gt; 6/min → </a:t>
            </a:r>
            <a:r>
              <a:rPr lang="en-US" sz="1000" b="0" i="0" u="none" strike="noStrike" kern="1200" cap="none" spc="0" baseline="0" dirty="0" err="1">
                <a:solidFill>
                  <a:srgbClr val="111931"/>
                </a:solidFill>
                <a:uFillTx/>
                <a:latin typeface="Calibri" pitchFamily="34"/>
                <a:ea typeface="Calibri" pitchFamily="34"/>
                <a:cs typeface="Calibri" pitchFamily="34"/>
              </a:rPr>
              <a:t>stres</a:t>
            </a:r>
            <a:r>
              <a:rPr lang="en-US" sz="1000" b="0" i="0" u="none" strike="noStrike" kern="1200" cap="none" spc="0" baseline="0" dirty="0">
                <a:solidFill>
                  <a:srgbClr val="111931"/>
                </a:solidFill>
                <a:uFillTx/>
                <a:latin typeface="Calibri" pitchFamily="34"/>
                <a:ea typeface="Calibri" pitchFamily="34"/>
                <a:cs typeface="Calibri" pitchFamily="34"/>
              </a:rPr>
              <a:t>. Mean SCL &gt; 10 µS → </a:t>
            </a:r>
            <a:r>
              <a:rPr lang="en-US" sz="1000" b="0" i="0" u="none" strike="noStrike" kern="1200" cap="none" spc="0" baseline="0" dirty="0" err="1">
                <a:solidFill>
                  <a:srgbClr val="111931"/>
                </a:solidFill>
                <a:uFillTx/>
                <a:latin typeface="Calibri" pitchFamily="34"/>
                <a:ea typeface="Calibri" pitchFamily="34"/>
                <a:cs typeface="Calibri" pitchFamily="34"/>
              </a:rPr>
              <a:t>wysoka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aktywacja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Kalibracja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indywidualna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niezbędna</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duże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różnice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bazowe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między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osobami</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sp>
        <p:nvSpPr>
          <p:cNvPr id="25" name="Shape 23"/>
          <p:cNvSpPr/>
          <p:nvPr/>
        </p:nvSpPr>
        <p:spPr>
          <a:xfrm>
            <a:off x="76199" y="3991428"/>
            <a:ext cx="4411981" cy="925068"/>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3507182" y="4041868"/>
            <a:ext cx="865833"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7" name="Text 25"/>
          <p:cNvSpPr/>
          <p:nvPr/>
        </p:nvSpPr>
        <p:spPr>
          <a:xfrm>
            <a:off x="167640" y="4038600"/>
            <a:ext cx="3451860" cy="78181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Empatica</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E4 BLE → Android</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e4Client.subscribe(</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EmpaStatus.CONNECTED</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status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e4Client.subscribeToSignal(</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EmpaDataDelegate.GSR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gsr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conductance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gsr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[µS]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edaBuffer.add</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(Pair(</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conductance))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if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edaBuffer.hasSCR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triggerArousalEvent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28" name="Text 26"/>
          <p:cNvSpPr/>
          <p:nvPr/>
        </p:nvSpPr>
        <p:spPr>
          <a:xfrm>
            <a:off x="4640580" y="1290623"/>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1F1535"/>
                </a:solidFill>
                <a:uFillTx/>
                <a:latin typeface="Cambria" pitchFamily="34"/>
                <a:ea typeface="Cambria" pitchFamily="34"/>
                <a:cs typeface="Cambria" pitchFamily="34"/>
              </a:rPr>
              <a:t>PPG </a:t>
            </a:r>
            <a:r>
              <a:rPr lang="en-US" sz="1200" b="1" i="0" u="none" strike="noStrike" kern="1200" cap="none" spc="0" baseline="0" dirty="0" err="1">
                <a:solidFill>
                  <a:srgbClr val="1F1535"/>
                </a:solidFill>
                <a:uFillTx/>
                <a:latin typeface="Cambria" pitchFamily="34"/>
                <a:ea typeface="Cambria" pitchFamily="34"/>
                <a:cs typeface="Cambria" pitchFamily="34"/>
              </a:rPr>
              <a:t>przez</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kamerę</a:t>
            </a:r>
            <a:r>
              <a:rPr lang="pl-PL" sz="1200" b="1" dirty="0" smtClean="0">
                <a:solidFill>
                  <a:srgbClr val="1F1535"/>
                </a:solidFill>
                <a:latin typeface="Cambria" pitchFamily="34"/>
                <a:ea typeface="Cambria" pitchFamily="34"/>
                <a:cs typeface="Cambria" pitchFamily="34"/>
              </a:rPr>
              <a:t>:</a:t>
            </a:r>
            <a:r>
              <a:rPr lang="en-US" sz="1200" b="1" i="0" u="none" strike="noStrike" kern="1200" cap="none" spc="0" baseline="0" dirty="0" smtClean="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rPPG</a:t>
            </a:r>
            <a:r>
              <a:rPr lang="en-US" sz="1200" b="1" i="0" u="none" strike="noStrike" kern="1200" cap="none" spc="0" baseline="0" dirty="0">
                <a:solidFill>
                  <a:srgbClr val="1F1535"/>
                </a:solidFill>
                <a:uFillTx/>
                <a:latin typeface="Cambria" pitchFamily="34"/>
                <a:ea typeface="Cambria" pitchFamily="34"/>
                <a:cs typeface="Cambria" pitchFamily="34"/>
              </a:rPr>
              <a:t> bez </a:t>
            </a:r>
            <a:r>
              <a:rPr lang="en-US" sz="1200" b="1" i="0" u="none" strike="noStrike" kern="1200" cap="none" spc="0" baseline="0" dirty="0" smtClean="0">
                <a:solidFill>
                  <a:srgbClr val="1F1535"/>
                </a:solidFill>
                <a:uFillTx/>
                <a:latin typeface="Cambria" pitchFamily="34"/>
                <a:ea typeface="Cambria" pitchFamily="34"/>
                <a:cs typeface="Cambria" pitchFamily="34"/>
              </a:rPr>
              <a:t>wearable</a:t>
            </a:r>
            <a:endParaRPr lang="en-US" sz="1200" b="0" i="0" u="none" strike="noStrike" kern="1200" cap="none" spc="0" baseline="0" dirty="0">
              <a:solidFill>
                <a:srgbClr val="000000"/>
              </a:solidFill>
              <a:uFillTx/>
              <a:latin typeface="Calibri"/>
            </a:endParaRPr>
          </a:p>
        </p:txBody>
      </p:sp>
      <p:grpSp>
        <p:nvGrpSpPr>
          <p:cNvPr id="53" name="Grupa 52"/>
          <p:cNvGrpSpPr/>
          <p:nvPr/>
        </p:nvGrpSpPr>
        <p:grpSpPr>
          <a:xfrm>
            <a:off x="4625340" y="1541856"/>
            <a:ext cx="4366260" cy="504000"/>
            <a:chOff x="4663440" y="1549908"/>
            <a:chExt cx="4366260" cy="504000"/>
          </a:xfrm>
        </p:grpSpPr>
        <p:sp>
          <p:nvSpPr>
            <p:cNvPr id="29" name="Shape 27"/>
            <p:cNvSpPr/>
            <p:nvPr/>
          </p:nvSpPr>
          <p:spPr>
            <a:xfrm>
              <a:off x="4663440" y="1549908"/>
              <a:ext cx="4366260" cy="504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Shape 28"/>
            <p:cNvSpPr/>
            <p:nvPr/>
          </p:nvSpPr>
          <p:spPr>
            <a:xfrm>
              <a:off x="4663440" y="1549908"/>
              <a:ext cx="54864" cy="504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4791456" y="1566672"/>
              <a:ext cx="4023360" cy="1706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11931"/>
                  </a:solidFill>
                  <a:uFillTx/>
                  <a:latin typeface="Cambria" pitchFamily="34"/>
                  <a:ea typeface="Cambria" pitchFamily="34"/>
                  <a:cs typeface="Cambria" pitchFamily="34"/>
                </a:rPr>
                <a:t>Remote PPG (</a:t>
              </a:r>
              <a:r>
                <a:rPr lang="en-US" sz="1100" b="1" i="0" u="none" strike="noStrike" kern="1200" cap="none" spc="0" baseline="0" dirty="0" err="1">
                  <a:solidFill>
                    <a:srgbClr val="111931"/>
                  </a:solidFill>
                  <a:uFillTx/>
                  <a:latin typeface="Cambria" pitchFamily="34"/>
                  <a:ea typeface="Cambria" pitchFamily="34"/>
                  <a:cs typeface="Cambria" pitchFamily="34"/>
                </a:rPr>
                <a:t>rPPG</a:t>
              </a:r>
              <a:r>
                <a:rPr lang="en-US" sz="1100" b="1" i="0" u="none" strike="noStrike" kern="1200" cap="none" spc="0" baseline="0" dirty="0">
                  <a:solidFill>
                    <a:srgbClr val="111931"/>
                  </a:solidFill>
                  <a:uFillTx/>
                  <a:latin typeface="Cambria" pitchFamily="34"/>
                  <a:ea typeface="Cambria" pitchFamily="34"/>
                  <a:cs typeface="Cambria" pitchFamily="34"/>
                </a:rPr>
                <a:t>)</a:t>
              </a:r>
              <a:endParaRPr lang="en-US" sz="1100" b="0" i="0" u="none" strike="noStrike" kern="1200" cap="none" spc="0" baseline="0" dirty="0">
                <a:solidFill>
                  <a:srgbClr val="111931"/>
                </a:solidFill>
                <a:uFillTx/>
                <a:latin typeface="Calibri"/>
              </a:endParaRPr>
            </a:p>
          </p:txBody>
        </p:sp>
        <p:sp>
          <p:nvSpPr>
            <p:cNvPr id="32" name="Text 30"/>
            <p:cNvSpPr/>
            <p:nvPr/>
          </p:nvSpPr>
          <p:spPr>
            <a:xfrm>
              <a:off x="4753356" y="1753044"/>
              <a:ext cx="4238244" cy="26168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Kamera</a:t>
              </a:r>
              <a:r>
                <a:rPr lang="en-US" sz="1000" b="0" i="0" u="none" strike="noStrike" kern="1200" cap="none" spc="0" baseline="0" dirty="0">
                  <a:solidFill>
                    <a:srgbClr val="111931"/>
                  </a:solidFill>
                  <a:uFillTx/>
                  <a:latin typeface="Calibri" pitchFamily="34"/>
                  <a:ea typeface="Calibri" pitchFamily="34"/>
                  <a:cs typeface="Calibri" pitchFamily="34"/>
                </a:rPr>
                <a:t> selfie </a:t>
              </a:r>
              <a:r>
                <a:rPr lang="en-US" sz="1000" b="0" i="0" u="none" strike="noStrike" kern="1200" cap="none" spc="0" baseline="0" dirty="0" err="1">
                  <a:solidFill>
                    <a:srgbClr val="111931"/>
                  </a:solidFill>
                  <a:uFillTx/>
                  <a:latin typeface="Calibri" pitchFamily="34"/>
                  <a:ea typeface="Calibri" pitchFamily="34"/>
                  <a:cs typeface="Calibri" pitchFamily="34"/>
                </a:rPr>
                <a:t>rejestruje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mikrozmiany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koloru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skóry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ekstrakcja</a:t>
              </a:r>
              <a:r>
                <a:rPr lang="en-US" sz="1000" b="0" i="0" u="none" strike="noStrike" kern="1200" cap="none" spc="0" baseline="0" dirty="0">
                  <a:solidFill>
                    <a:srgbClr val="111931"/>
                  </a:solidFill>
                  <a:uFillTx/>
                  <a:latin typeface="Calibri" pitchFamily="34"/>
                  <a:ea typeface="Calibri" pitchFamily="34"/>
                  <a:cs typeface="Calibri" pitchFamily="34"/>
                </a:rPr>
                <a:t> PPG bez </a:t>
              </a:r>
              <a:r>
                <a:rPr lang="en-US" sz="1000" b="0" i="0" u="none" strike="noStrike" kern="1200" cap="none" spc="0" baseline="0" dirty="0" err="1">
                  <a:solidFill>
                    <a:srgbClr val="111931"/>
                  </a:solidFill>
                  <a:uFillTx/>
                  <a:latin typeface="Calibri" pitchFamily="34"/>
                  <a:ea typeface="Calibri" pitchFamily="34"/>
                  <a:cs typeface="Calibri" pitchFamily="34"/>
                </a:rPr>
                <a:t>kontaktu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Dokładność</a:t>
              </a:r>
              <a:r>
                <a:rPr lang="en-US" sz="1000" b="0" i="0" u="none" strike="noStrike" kern="1200" cap="none" spc="0" baseline="0" dirty="0">
                  <a:solidFill>
                    <a:srgbClr val="111931"/>
                  </a:solidFill>
                  <a:uFillTx/>
                  <a:latin typeface="Calibri" pitchFamily="34"/>
                  <a:ea typeface="Calibri" pitchFamily="34"/>
                  <a:cs typeface="Calibri" pitchFamily="34"/>
                </a:rPr>
                <a:t>: HR ±5 bpm, HRV </a:t>
              </a:r>
              <a:r>
                <a:rPr lang="en-US" sz="1000" b="0" i="0" u="none" strike="noStrike" kern="1200" cap="none" spc="0" baseline="0" dirty="0" err="1">
                  <a:solidFill>
                    <a:srgbClr val="111931"/>
                  </a:solidFill>
                  <a:uFillTx/>
                  <a:latin typeface="Calibri" pitchFamily="34"/>
                  <a:ea typeface="Calibri" pitchFamily="34"/>
                  <a:cs typeface="Calibri" pitchFamily="34"/>
                </a:rPr>
                <a:t>gorsza</a:t>
              </a:r>
              <a:r>
                <a:rPr lang="en-US" sz="1000" b="0" i="0" u="none" strike="noStrike" kern="1200" cap="none" spc="0" baseline="0" dirty="0">
                  <a:solidFill>
                    <a:srgbClr val="111931"/>
                  </a:solidFill>
                  <a:uFillTx/>
                  <a:latin typeface="Calibri" pitchFamily="34"/>
                  <a:ea typeface="Calibri" pitchFamily="34"/>
                  <a:cs typeface="Calibri" pitchFamily="34"/>
                </a:rPr>
                <a:t>. Google: Pixel Heart Rate z </a:t>
              </a:r>
              <a:r>
                <a:rPr lang="en-US" sz="1000" b="0" i="0" u="none" strike="noStrike" kern="1200" cap="none" spc="0" baseline="0" dirty="0" err="1">
                  <a:solidFill>
                    <a:srgbClr val="111931"/>
                  </a:solidFill>
                  <a:uFillTx/>
                  <a:latin typeface="Calibri" pitchFamily="34"/>
                  <a:ea typeface="Calibri" pitchFamily="34"/>
                  <a:cs typeface="Calibri" pitchFamily="34"/>
                </a:rPr>
                <a:t>kamerą</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2" name="Grupa 51"/>
          <p:cNvGrpSpPr/>
          <p:nvPr/>
        </p:nvGrpSpPr>
        <p:grpSpPr>
          <a:xfrm>
            <a:off x="4625340" y="2095723"/>
            <a:ext cx="4366260" cy="528829"/>
            <a:chOff x="4663440" y="2110739"/>
            <a:chExt cx="4366260" cy="528829"/>
          </a:xfrm>
        </p:grpSpPr>
        <p:sp>
          <p:nvSpPr>
            <p:cNvPr id="33" name="Shape 31"/>
            <p:cNvSpPr/>
            <p:nvPr/>
          </p:nvSpPr>
          <p:spPr>
            <a:xfrm>
              <a:off x="4663440" y="2115312"/>
              <a:ext cx="4366260" cy="504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4663440" y="2115312"/>
              <a:ext cx="54864" cy="504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791456" y="2110739"/>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11931"/>
                  </a:solidFill>
                  <a:uFillTx/>
                  <a:latin typeface="Cambria" pitchFamily="34"/>
                  <a:ea typeface="Cambria" pitchFamily="34"/>
                  <a:cs typeface="Cambria" pitchFamily="34"/>
                </a:rPr>
                <a:t>Algorytm</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rPPG</a:t>
              </a:r>
              <a:r>
                <a:rPr lang="en-US" sz="1100" b="1" i="0" u="none" strike="noStrike" kern="1200" cap="none" spc="0" baseline="0" dirty="0">
                  <a:solidFill>
                    <a:srgbClr val="111931"/>
                  </a:solidFill>
                  <a:uFillTx/>
                  <a:latin typeface="Cambria" pitchFamily="34"/>
                  <a:ea typeface="Cambria" pitchFamily="34"/>
                  <a:cs typeface="Cambria" pitchFamily="34"/>
                </a:rPr>
                <a:t> (ICA / POS)</a:t>
              </a:r>
              <a:endParaRPr lang="en-US" sz="1100" b="0" i="0" u="none" strike="noStrike" kern="1200" cap="none" spc="0" baseline="0" dirty="0">
                <a:solidFill>
                  <a:srgbClr val="111931"/>
                </a:solidFill>
                <a:uFillTx/>
                <a:latin typeface="Calibri"/>
              </a:endParaRPr>
            </a:p>
          </p:txBody>
        </p:sp>
        <p:sp>
          <p:nvSpPr>
            <p:cNvPr id="36" name="Text 34"/>
            <p:cNvSpPr/>
            <p:nvPr/>
          </p:nvSpPr>
          <p:spPr>
            <a:xfrm>
              <a:off x="4753356" y="2316480"/>
              <a:ext cx="4238244" cy="3230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Plane of Skin (POS</a:t>
              </a:r>
              <a:r>
                <a:rPr lang="en-US" sz="1000" b="0" i="0" u="none" strike="noStrike" kern="1200" cap="none" spc="0" baseline="0" dirty="0" smtClean="0">
                  <a:solidFill>
                    <a:srgbClr val="111931"/>
                  </a:solidFill>
                  <a:uFillTx/>
                  <a:latin typeface="Calibri" pitchFamily="34"/>
                  <a:ea typeface="Calibri" pitchFamily="34"/>
                  <a:cs typeface="Calibri" pitchFamily="34"/>
                </a:rPr>
                <a:t>)</a:t>
              </a:r>
              <a:r>
                <a:rPr lang="pl-PL" sz="1000" b="0" i="0" u="none" strike="noStrike" kern="1200" cap="none" spc="0" baseline="0" dirty="0" smtClean="0">
                  <a:solidFill>
                    <a:srgbClr val="111931"/>
                  </a:solidFill>
                  <a:uFillTx/>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3 </a:t>
              </a:r>
              <a:r>
                <a:rPr lang="en-US" sz="1000" b="0" i="0" u="none" strike="noStrike" kern="1200" cap="none" spc="0" baseline="0" dirty="0" err="1">
                  <a:solidFill>
                    <a:srgbClr val="111931"/>
                  </a:solidFill>
                  <a:uFillTx/>
                  <a:latin typeface="Calibri" pitchFamily="34"/>
                  <a:ea typeface="Calibri" pitchFamily="34"/>
                  <a:cs typeface="Calibri" pitchFamily="34"/>
                </a:rPr>
                <a:t>kanały</a:t>
              </a:r>
              <a:r>
                <a:rPr lang="en-US" sz="1000" b="0" i="0" u="none" strike="noStrike" kern="1200" cap="none" spc="0" baseline="0" dirty="0">
                  <a:solidFill>
                    <a:srgbClr val="111931"/>
                  </a:solidFill>
                  <a:uFillTx/>
                  <a:latin typeface="Calibri" pitchFamily="34"/>
                  <a:ea typeface="Calibri" pitchFamily="34"/>
                  <a:cs typeface="Calibri" pitchFamily="34"/>
                </a:rPr>
                <a:t> RGB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ROI → </a:t>
              </a:r>
              <a:r>
                <a:rPr lang="en-US" sz="1000" b="0" i="0" u="none" strike="noStrike" kern="1200" cap="none" spc="0" baseline="0" dirty="0" err="1">
                  <a:solidFill>
                    <a:srgbClr val="111931"/>
                  </a:solidFill>
                  <a:uFillTx/>
                  <a:latin typeface="Calibri" pitchFamily="34"/>
                  <a:ea typeface="Calibri" pitchFamily="34"/>
                  <a:cs typeface="Calibri" pitchFamily="34"/>
                </a:rPr>
                <a:t>normalizacja</a:t>
              </a:r>
              <a:r>
                <a:rPr lang="en-US" sz="1000" b="0" i="0" u="none" strike="noStrike" kern="1200" cap="none" spc="0" baseline="0" dirty="0">
                  <a:solidFill>
                    <a:srgbClr val="111931"/>
                  </a:solidFill>
                  <a:uFillTx/>
                  <a:latin typeface="Calibri" pitchFamily="34"/>
                  <a:ea typeface="Calibri" pitchFamily="34"/>
                  <a:cs typeface="Calibri" pitchFamily="34"/>
                </a:rPr>
                <a:t> → PCA/ICA → </a:t>
              </a:r>
              <a:r>
                <a:rPr lang="en-US" sz="1000" b="0" i="0" u="none" strike="noStrike" kern="1200" cap="none" spc="0" baseline="0" dirty="0" err="1">
                  <a:solidFill>
                    <a:srgbClr val="111931"/>
                  </a:solidFill>
                  <a:uFillTx/>
                  <a:latin typeface="Calibri" pitchFamily="34"/>
                  <a:ea typeface="Calibri" pitchFamily="34"/>
                  <a:cs typeface="Calibri" pitchFamily="34"/>
                </a:rPr>
                <a:t>dominantna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częstotliwość</a:t>
              </a:r>
              <a:r>
                <a:rPr lang="en-US" sz="1000" b="0" i="0" u="none" strike="noStrike" kern="1200" cap="none" spc="0" baseline="0" dirty="0">
                  <a:solidFill>
                    <a:srgbClr val="111931"/>
                  </a:solidFill>
                  <a:uFillTx/>
                  <a:latin typeface="Calibri" pitchFamily="34"/>
                  <a:ea typeface="Calibri" pitchFamily="34"/>
                  <a:cs typeface="Calibri" pitchFamily="34"/>
                </a:rPr>
                <a:t> HR. </a:t>
              </a:r>
              <a:r>
                <a:rPr lang="en-US" sz="1000" b="0" i="0" u="none" strike="noStrike" kern="1200" cap="none" spc="0" baseline="0" dirty="0" err="1">
                  <a:solidFill>
                    <a:srgbClr val="111931"/>
                  </a:solidFill>
                  <a:uFillTx/>
                  <a:latin typeface="Calibri" pitchFamily="34"/>
                  <a:ea typeface="Calibri" pitchFamily="34"/>
                  <a:cs typeface="Calibri" pitchFamily="34"/>
                </a:rPr>
                <a:t>Wymagana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stabilna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głowa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oświetlenie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37" name="Shape 35"/>
          <p:cNvSpPr/>
          <p:nvPr/>
        </p:nvSpPr>
        <p:spPr>
          <a:xfrm>
            <a:off x="4632960" y="3249950"/>
            <a:ext cx="4320540" cy="1666546"/>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Text 36"/>
          <p:cNvSpPr/>
          <p:nvPr/>
        </p:nvSpPr>
        <p:spPr>
          <a:xfrm>
            <a:off x="7981188" y="3261150"/>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39" name="Text 37"/>
          <p:cNvSpPr/>
          <p:nvPr/>
        </p:nvSpPr>
        <p:spPr>
          <a:xfrm>
            <a:off x="4709160" y="3330281"/>
            <a:ext cx="4041648" cy="1526595"/>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rPPG</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przez</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kamerę</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szacowanie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HR</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Używa</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biblioteki</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rPPGlib</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lub</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OpenCV</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fun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extractRPPG</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(frames: List&lt;Bitmap&gt;): Float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1.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Wykryj</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ROI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twarzy</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czoło</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policzki</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rois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frames.map</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detectFaceROI</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2.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Uśrednij</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kolor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R,G,B w ROI</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traces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rois.map</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computeRGBTrace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3. POS algorithm decomposition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ppgSignal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POSAlgorithm.compute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(traces)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4. FFT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dominantna</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częstotliwość</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fftResult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FastFourierTransform</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ppgSignal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hrHz</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fftResult.peakFrequency</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(0.7f, 3.5f)  // 42–210 bpm</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return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hrHz</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60f  // [bpm]</a:t>
            </a:r>
          </a:p>
          <a:p>
            <a:pPr marL="0" marR="0" lvl="0" indent="0" algn="l"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grpSp>
        <p:nvGrpSpPr>
          <p:cNvPr id="51" name="Grupa 50"/>
          <p:cNvGrpSpPr/>
          <p:nvPr/>
        </p:nvGrpSpPr>
        <p:grpSpPr>
          <a:xfrm>
            <a:off x="4619244" y="2688114"/>
            <a:ext cx="4480560" cy="504000"/>
            <a:chOff x="4663440" y="4279392"/>
            <a:chExt cx="4480560" cy="580571"/>
          </a:xfrm>
        </p:grpSpPr>
        <p:sp>
          <p:nvSpPr>
            <p:cNvPr id="40" name="Shape 38"/>
            <p:cNvSpPr/>
            <p:nvPr/>
          </p:nvSpPr>
          <p:spPr>
            <a:xfrm>
              <a:off x="4663440" y="4283963"/>
              <a:ext cx="4372356"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4663440" y="4283963"/>
              <a:ext cx="5645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791456" y="4279392"/>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11931"/>
                  </a:solidFill>
                  <a:uFillTx/>
                  <a:latin typeface="Cambria" pitchFamily="34"/>
                  <a:ea typeface="Cambria" pitchFamily="34"/>
                  <a:cs typeface="Cambria" pitchFamily="34"/>
                </a:rPr>
                <a:t>HRV </a:t>
              </a:r>
              <a:r>
                <a:rPr lang="en-US" sz="1100" b="1" i="0" u="none" strike="noStrike" kern="1200" cap="none" spc="0" baseline="0" dirty="0" err="1">
                  <a:solidFill>
                    <a:srgbClr val="111931"/>
                  </a:solidFill>
                  <a:uFillTx/>
                  <a:latin typeface="Cambria" pitchFamily="34"/>
                  <a:ea typeface="Cambria" pitchFamily="34"/>
                  <a:cs typeface="Cambria" pitchFamily="34"/>
                </a:rPr>
                <a:t>jako</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wskaźnik</a:t>
              </a:r>
              <a:r>
                <a:rPr lang="en-US" sz="1100" b="1" i="0" u="none" strike="noStrike" kern="1200" cap="none" spc="0" baseline="0" dirty="0">
                  <a:solidFill>
                    <a:srgbClr val="111931"/>
                  </a:solidFill>
                  <a:uFillTx/>
                  <a:latin typeface="Cambria" pitchFamily="34"/>
                  <a:ea typeface="Cambria" pitchFamily="34"/>
                  <a:cs typeface="Cambria" pitchFamily="34"/>
                </a:rPr>
                <a:t> </a:t>
              </a:r>
              <a:r>
                <a:rPr lang="en-US" sz="1100" b="1" i="0" u="none" strike="noStrike" kern="1200" cap="none" spc="0" baseline="0" dirty="0" err="1">
                  <a:solidFill>
                    <a:srgbClr val="111931"/>
                  </a:solidFill>
                  <a:uFillTx/>
                  <a:latin typeface="Cambria" pitchFamily="34"/>
                  <a:ea typeface="Cambria" pitchFamily="34"/>
                  <a:cs typeface="Cambria" pitchFamily="34"/>
                </a:rPr>
                <a:t>stresu</a:t>
              </a:r>
              <a:endParaRPr lang="en-US" sz="1100" b="0" i="0" u="none" strike="noStrike" kern="1200" cap="none" spc="0" baseline="0" dirty="0">
                <a:solidFill>
                  <a:srgbClr val="111931"/>
                </a:solidFill>
                <a:uFillTx/>
                <a:latin typeface="Calibri"/>
              </a:endParaRPr>
            </a:p>
          </p:txBody>
        </p:sp>
        <p:sp>
          <p:nvSpPr>
            <p:cNvPr id="43" name="Text 41"/>
            <p:cNvSpPr/>
            <p:nvPr/>
          </p:nvSpPr>
          <p:spPr>
            <a:xfrm>
              <a:off x="4753356" y="4517135"/>
              <a:ext cx="4390644" cy="31089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Heart Rate Variability (HRV</a:t>
              </a:r>
              <a:r>
                <a:rPr lang="en-US" sz="1000" b="0" i="0" u="none" strike="noStrike" kern="1200" cap="none" spc="0" baseline="0" dirty="0" smtClean="0">
                  <a:solidFill>
                    <a:srgbClr val="111931"/>
                  </a:solidFill>
                  <a:uFillTx/>
                  <a:latin typeface="Calibri" pitchFamily="34"/>
                  <a:ea typeface="Calibri" pitchFamily="34"/>
                  <a:cs typeface="Calibri" pitchFamily="34"/>
                </a:rPr>
                <a:t>)</a:t>
              </a:r>
              <a:r>
                <a:rPr lang="pl-PL" sz="1000" b="0" i="0" u="none" strike="noStrike" kern="1200" cap="none" spc="0" baseline="0" dirty="0" smtClean="0">
                  <a:solidFill>
                    <a:srgbClr val="111931"/>
                  </a:solidFill>
                  <a:uFillTx/>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zmienność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odstępów</a:t>
              </a:r>
              <a:r>
                <a:rPr lang="en-US" sz="1000" b="0" i="0" u="none" strike="noStrike" kern="1200" cap="none" spc="0" baseline="0" dirty="0">
                  <a:solidFill>
                    <a:srgbClr val="111931"/>
                  </a:solidFill>
                  <a:uFillTx/>
                  <a:latin typeface="Calibri" pitchFamily="34"/>
                  <a:ea typeface="Calibri" pitchFamily="34"/>
                  <a:cs typeface="Calibri" pitchFamily="34"/>
                </a:rPr>
                <a:t> RR. </a:t>
              </a:r>
              <a:r>
                <a:rPr lang="en-US" sz="1000" b="0" i="0" u="none" strike="noStrike" kern="1200" cap="none" spc="0" baseline="0" dirty="0" err="1">
                  <a:solidFill>
                    <a:srgbClr val="111931"/>
                  </a:solidFill>
                  <a:uFillTx/>
                  <a:latin typeface="Calibri" pitchFamily="34"/>
                  <a:ea typeface="Calibri" pitchFamily="34"/>
                  <a:cs typeface="Calibri" pitchFamily="34"/>
                </a:rPr>
                <a:t>Niskie</a:t>
              </a:r>
              <a:r>
                <a:rPr lang="en-US" sz="1000" b="0" i="0" u="none" strike="noStrike" kern="1200" cap="none" spc="0" baseline="0" dirty="0">
                  <a:solidFill>
                    <a:srgbClr val="111931"/>
                  </a:solidFill>
                  <a:uFillTx/>
                  <a:latin typeface="Calibri" pitchFamily="34"/>
                  <a:ea typeface="Calibri" pitchFamily="34"/>
                  <a:cs typeface="Calibri" pitchFamily="34"/>
                </a:rPr>
                <a:t> HRV </a:t>
              </a:r>
              <a:r>
                <a:rPr lang="pl-PL" sz="1000" b="0" i="0" u="none" strike="noStrike" kern="1200" cap="none" spc="0" baseline="0" dirty="0" smtClean="0">
                  <a:solidFill>
                    <a:srgbClr val="111931"/>
                  </a:solidFill>
                  <a:uFillTx/>
                  <a:latin typeface="Calibri" pitchFamily="34"/>
                  <a:ea typeface="Calibri" pitchFamily="34"/>
                  <a:cs typeface="Calibri" pitchFamily="34"/>
                </a:rPr>
                <a:t>to </a:t>
              </a:r>
              <a:r>
                <a:rPr lang="en-US" sz="1000" b="0" i="0" u="none" strike="noStrike" kern="1200" cap="none" spc="0" baseline="0" dirty="0" err="1" smtClean="0">
                  <a:solidFill>
                    <a:srgbClr val="111931"/>
                  </a:solidFill>
                  <a:uFillTx/>
                  <a:latin typeface="Calibri" pitchFamily="34"/>
                  <a:ea typeface="Calibri" pitchFamily="34"/>
                  <a:cs typeface="Calibri" pitchFamily="34"/>
                </a:rPr>
                <a:t>stres</a:t>
              </a:r>
              <a:r>
                <a:rPr lang="pl-PL" sz="1000" b="0" i="0" u="none" strike="noStrike" kern="1200" cap="none" spc="0" baseline="0" dirty="0" smtClean="0">
                  <a:solidFill>
                    <a:srgbClr val="111931"/>
                  </a:solidFill>
                  <a:uFillTx/>
                  <a:latin typeface="Calibri" pitchFamily="34"/>
                  <a:ea typeface="Calibri" pitchFamily="34"/>
                  <a:cs typeface="Calibri" pitchFamily="34"/>
                </a:rPr>
                <a:t> i </a:t>
              </a:r>
              <a:r>
                <a:rPr lang="en-US" sz="1000" b="0" i="0" u="none" strike="noStrike" kern="1200" cap="none" spc="0" baseline="0" dirty="0" err="1" smtClean="0">
                  <a:solidFill>
                    <a:srgbClr val="111931"/>
                  </a:solidFill>
                  <a:uFillTx/>
                  <a:latin typeface="Calibri" pitchFamily="34"/>
                  <a:ea typeface="Calibri" pitchFamily="34"/>
                  <a:cs typeface="Calibri" pitchFamily="34"/>
                </a:rPr>
                <a:t>przemęczenie</a:t>
              </a:r>
              <a:r>
                <a:rPr lang="en-US" sz="1000" b="0" i="0" u="none" strike="noStrike" kern="1200" cap="none" spc="0" baseline="0" dirty="0">
                  <a:solidFill>
                    <a:srgbClr val="111931"/>
                  </a:solidFill>
                  <a:uFillTx/>
                  <a:latin typeface="Calibri" pitchFamily="34"/>
                  <a:ea typeface="Calibri" pitchFamily="34"/>
                  <a:cs typeface="Calibri" pitchFamily="34"/>
                </a:rPr>
                <a:t>. RMSSD &lt; 20ms → </a:t>
              </a:r>
              <a:r>
                <a:rPr lang="en-US" sz="1000" b="0" i="0" u="none" strike="noStrike" kern="1200" cap="none" spc="0" baseline="0" dirty="0" err="1">
                  <a:solidFill>
                    <a:srgbClr val="111931"/>
                  </a:solidFill>
                  <a:uFillTx/>
                  <a:latin typeface="Calibri" pitchFamily="34"/>
                  <a:ea typeface="Calibri" pitchFamily="34"/>
                  <a:cs typeface="Calibri" pitchFamily="34"/>
                </a:rPr>
                <a:t>wysoki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stres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Najlepszy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nieinwazyjny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smtClean="0">
                  <a:solidFill>
                    <a:srgbClr val="111931"/>
                  </a:solidFill>
                  <a:uFillTx/>
                  <a:latin typeface="Calibri" pitchFamily="34"/>
                  <a:ea typeface="Calibri" pitchFamily="34"/>
                  <a:cs typeface="Calibri" pitchFamily="34"/>
                </a:rPr>
                <a:t>biomarker</a:t>
              </a:r>
              <a:endParaRPr lang="en-US" sz="1000" b="0" i="0" u="none" strike="noStrike" kern="1200" cap="none" spc="0" baseline="0" dirty="0">
                <a:solidFill>
                  <a:srgbClr val="111931"/>
                </a:solidFill>
                <a:uFillTx/>
                <a:latin typeface="Calibri"/>
              </a:endParaRPr>
            </a:p>
          </p:txBody>
        </p:sp>
      </p:grpSp>
      <p:sp>
        <p:nvSpPr>
          <p:cNvPr id="55"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12</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9FF"/>
        </a:solidFill>
        <a:effectLst/>
      </p:bgPr>
    </p:bg>
    <p:spTree>
      <p:nvGrpSpPr>
        <p:cNvPr id="1" name=""/>
        <p:cNvGrpSpPr/>
        <p:nvPr/>
      </p:nvGrpSpPr>
      <p:grpSpPr>
        <a:xfrm>
          <a:off x="0" y="0"/>
          <a:ext cx="0" cy="0"/>
          <a:chOff x="0" y="0"/>
          <a:chExt cx="0" cy="0"/>
        </a:xfrm>
      </p:grpSpPr>
      <p:grpSp>
        <p:nvGrpSpPr>
          <p:cNvPr id="48" name="Grupa 47"/>
          <p:cNvGrpSpPr/>
          <p:nvPr/>
        </p:nvGrpSpPr>
        <p:grpSpPr>
          <a:xfrm>
            <a:off x="0" y="0"/>
            <a:ext cx="9144000" cy="558000"/>
            <a:chOff x="0" y="0"/>
            <a:chExt cx="9144000" cy="558000"/>
          </a:xfrm>
        </p:grpSpPr>
        <p:sp>
          <p:nvSpPr>
            <p:cNvPr id="49"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0"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IMU </a:t>
            </a:r>
            <a:r>
              <a:rPr lang="en-US" sz="2000" b="1" i="0" u="none" strike="noStrike" kern="1200" cap="none" spc="0" baseline="0" dirty="0" err="1">
                <a:solidFill>
                  <a:srgbClr val="FFFFFF"/>
                </a:solidFill>
                <a:uFillTx/>
                <a:latin typeface="Cambria" pitchFamily="34"/>
                <a:ea typeface="Cambria" pitchFamily="34"/>
                <a:cs typeface="Cambria" pitchFamily="34"/>
              </a:rPr>
              <a:t>jako</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Kanał</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smtClean="0">
                <a:solidFill>
                  <a:srgbClr val="FFFFFF"/>
                </a:solidFill>
                <a:uFillTx/>
                <a:latin typeface="Cambria" pitchFamily="34"/>
                <a:ea typeface="Cambria" pitchFamily="34"/>
                <a:cs typeface="Cambria" pitchFamily="34"/>
              </a:rPr>
              <a:t>Afektywny</a:t>
            </a:r>
            <a:r>
              <a:rPr lang="pl-PL" sz="2000" b="1" dirty="0" smtClean="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r</a:t>
            </a:r>
            <a:r>
              <a:rPr lang="en-US" sz="2000" b="1" i="0" u="none" strike="noStrike" kern="1200" cap="none" spc="0" baseline="0" dirty="0" err="1" smtClean="0">
                <a:solidFill>
                  <a:srgbClr val="FFFFFF"/>
                </a:solidFill>
                <a:uFillTx/>
                <a:latin typeface="Cambria" pitchFamily="34"/>
                <a:ea typeface="Cambria" pitchFamily="34"/>
                <a:cs typeface="Cambria" pitchFamily="34"/>
              </a:rPr>
              <a:t>uch</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c</a:t>
            </a:r>
            <a:r>
              <a:rPr lang="en-US" sz="2000" b="1" i="0" u="none" strike="noStrike" kern="1200" cap="none" spc="0" baseline="0" dirty="0" err="1" smtClean="0">
                <a:solidFill>
                  <a:srgbClr val="FFFFFF"/>
                </a:solidFill>
                <a:uFillTx/>
                <a:latin typeface="Cambria" pitchFamily="34"/>
                <a:ea typeface="Cambria" pitchFamily="34"/>
                <a:cs typeface="Cambria" pitchFamily="34"/>
              </a:rPr>
              <a:t>iała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tres</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7"/>
            <a:ext cx="8503920" cy="679917"/>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Ruch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ciała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odzwierciedla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stan</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emocjonalny</a:t>
            </a:r>
            <a:r>
              <a:rPr lang="pl-PL" sz="1600" kern="0" dirty="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agitacja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spowolnienie</a:t>
            </a:r>
            <a:r>
              <a:rPr lang="en-US" sz="1600" b="0" i="0" u="none" strike="noStrike" kern="1200" cap="none" spc="0" baseline="0" dirty="0">
                <a:solidFill>
                  <a:srgbClr val="111931"/>
                </a:solidFill>
                <a:uFillTx/>
                <a:latin typeface="Calibri" pitchFamily="34"/>
                <a:ea typeface="Calibri" pitchFamily="34"/>
                <a:cs typeface="Calibri" pitchFamily="34"/>
              </a:rPr>
              <a:t>, tremor, </a:t>
            </a:r>
            <a:r>
              <a:rPr lang="en-US" sz="1600" b="0" i="0" u="none" strike="noStrike" kern="1200" cap="none" spc="0" baseline="0" dirty="0" err="1">
                <a:solidFill>
                  <a:srgbClr val="111931"/>
                </a:solidFill>
                <a:uFillTx/>
                <a:latin typeface="Calibri" pitchFamily="34"/>
                <a:ea typeface="Calibri" pitchFamily="34"/>
                <a:cs typeface="Calibri" pitchFamily="34"/>
              </a:rPr>
              <a:t>wzorzec</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chodzenia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Akcelerometr</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żyroskop</a:t>
            </a:r>
            <a:r>
              <a:rPr lang="en-US" sz="1600" b="0" i="0" u="none" strike="noStrike" kern="1200" cap="none" spc="0" baseline="0" dirty="0">
                <a:solidFill>
                  <a:srgbClr val="111931"/>
                </a:solidFill>
                <a:uFillTx/>
                <a:latin typeface="Calibri" pitchFamily="34"/>
                <a:ea typeface="Calibri" pitchFamily="34"/>
                <a:cs typeface="Calibri" pitchFamily="34"/>
              </a:rPr>
              <a:t> bez </a:t>
            </a:r>
            <a:r>
              <a:rPr lang="en-US" sz="1600" b="0" i="0" u="none" strike="noStrike" kern="1200" cap="none" spc="0" baseline="0" dirty="0" err="1">
                <a:solidFill>
                  <a:srgbClr val="111931"/>
                </a:solidFill>
                <a:uFillTx/>
                <a:latin typeface="Calibri" pitchFamily="34"/>
                <a:ea typeface="Calibri" pitchFamily="34"/>
                <a:cs typeface="Calibri" pitchFamily="34"/>
              </a:rPr>
              <a:t>uprawnień</a:t>
            </a:r>
            <a:r>
              <a:rPr lang="en-US" sz="1600" b="0" i="0" u="none" strike="noStrike" kern="1200" cap="none" spc="0" baseline="0" dirty="0">
                <a:solidFill>
                  <a:srgbClr val="111931"/>
                </a:solidFill>
                <a:uFillTx/>
                <a:latin typeface="Calibri" pitchFamily="34"/>
                <a:ea typeface="Calibri" pitchFamily="34"/>
                <a:cs typeface="Calibri" pitchFamily="34"/>
              </a:rPr>
              <a:t> runtime — </a:t>
            </a:r>
            <a:r>
              <a:rPr lang="en-US" sz="1600" b="0" i="0" u="none" strike="noStrike" kern="1200" cap="none" spc="0" baseline="0" dirty="0" err="1">
                <a:solidFill>
                  <a:srgbClr val="111931"/>
                </a:solidFill>
                <a:uFillTx/>
                <a:latin typeface="Calibri" pitchFamily="34"/>
                <a:ea typeface="Calibri" pitchFamily="34"/>
                <a:cs typeface="Calibri" pitchFamily="34"/>
              </a:rPr>
              <a:t>zawsze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dostępne</a:t>
            </a:r>
            <a:r>
              <a:rPr lang="en-US" sz="1600" b="0" i="0" u="none" strike="noStrike" kern="1200" cap="none" spc="0" baseline="0" dirty="0">
                <a:solidFill>
                  <a:srgbClr val="111931"/>
                </a:solidFill>
                <a:uFillTx/>
                <a:latin typeface="Calibri" pitchFamily="34"/>
                <a:ea typeface="Calibri" pitchFamily="34"/>
                <a:cs typeface="Calibri" pitchFamily="34"/>
              </a:rPr>
              <a:t>.</a:t>
            </a:r>
            <a:endParaRPr lang="en-US" sz="1600" b="0" i="0" u="none" strike="noStrike" kern="1200" cap="none" spc="0" baseline="0" dirty="0">
              <a:solidFill>
                <a:srgbClr val="111931"/>
              </a:solidFill>
              <a:uFillTx/>
              <a:latin typeface="Calibri"/>
            </a:endParaRPr>
          </a:p>
        </p:txBody>
      </p:sp>
      <p:grpSp>
        <p:nvGrpSpPr>
          <p:cNvPr id="51" name="Grupa 50"/>
          <p:cNvGrpSpPr/>
          <p:nvPr/>
        </p:nvGrpSpPr>
        <p:grpSpPr>
          <a:xfrm>
            <a:off x="365760" y="1713481"/>
            <a:ext cx="8503920" cy="2039111"/>
            <a:chOff x="320040" y="1115568"/>
            <a:chExt cx="8503920" cy="3118103"/>
          </a:xfrm>
        </p:grpSpPr>
        <p:sp>
          <p:nvSpPr>
            <p:cNvPr id="8" name="Shape 6"/>
            <p:cNvSpPr/>
            <p:nvPr/>
          </p:nvSpPr>
          <p:spPr>
            <a:xfrm>
              <a:off x="320040" y="1115568"/>
              <a:ext cx="8503920" cy="27432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384048" y="1152144"/>
              <a:ext cx="228600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dirty="0" err="1">
                  <a:solidFill>
                    <a:srgbClr val="FFFFFF"/>
                  </a:solidFill>
                  <a:uFillTx/>
                  <a:latin typeface="Cambria" pitchFamily="34"/>
                  <a:ea typeface="Cambria" pitchFamily="34"/>
                  <a:cs typeface="Cambria" pitchFamily="34"/>
                </a:rPr>
                <a:t>Sygnał</a:t>
              </a:r>
              <a:r>
                <a:rPr lang="en-US" sz="1050" b="1" i="0" u="none" strike="noStrike" kern="1200" cap="none" spc="0" baseline="0" dirty="0">
                  <a:solidFill>
                    <a:srgbClr val="FFFFFF"/>
                  </a:solidFill>
                  <a:uFillTx/>
                  <a:latin typeface="Cambria" pitchFamily="34"/>
                  <a:ea typeface="Cambria" pitchFamily="34"/>
                  <a:cs typeface="Cambria" pitchFamily="34"/>
                </a:rPr>
                <a:t> IMU</a:t>
              </a:r>
              <a:endParaRPr lang="en-US" sz="1050" b="0" i="0" u="none" strike="noStrike" kern="1200" cap="none" spc="0" baseline="0" dirty="0">
                <a:solidFill>
                  <a:srgbClr val="000000"/>
                </a:solidFill>
                <a:uFillTx/>
                <a:latin typeface="Calibri"/>
              </a:endParaRPr>
            </a:p>
          </p:txBody>
        </p:sp>
        <p:sp>
          <p:nvSpPr>
            <p:cNvPr id="10" name="Text 8"/>
            <p:cNvSpPr/>
            <p:nvPr/>
          </p:nvSpPr>
          <p:spPr>
            <a:xfrm>
              <a:off x="2979420" y="1152144"/>
              <a:ext cx="3393947" cy="21546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dirty="0" err="1">
                  <a:solidFill>
                    <a:srgbClr val="FFFFFF"/>
                  </a:solidFill>
                  <a:uFillTx/>
                  <a:latin typeface="Cambria" pitchFamily="34"/>
                  <a:ea typeface="Cambria" pitchFamily="34"/>
                  <a:cs typeface="Cambria" pitchFamily="34"/>
                </a:rPr>
                <a:t>Opis</a:t>
              </a:r>
              <a:r>
                <a:rPr lang="en-US" sz="1050" b="1" i="0" u="none" strike="noStrike" kern="1200" cap="none" spc="0" baseline="0" dirty="0">
                  <a:solidFill>
                    <a:srgbClr val="FFFFFF"/>
                  </a:solidFill>
                  <a:uFillTx/>
                  <a:latin typeface="Cambria" pitchFamily="34"/>
                  <a:ea typeface="Cambria" pitchFamily="34"/>
                  <a:cs typeface="Cambria" pitchFamily="34"/>
                </a:rPr>
                <a:t> </a:t>
              </a:r>
              <a:r>
                <a:rPr lang="en-US" sz="1050" b="1" i="0" u="none" strike="noStrike" kern="1200" cap="none" spc="0" baseline="0" dirty="0" err="1">
                  <a:solidFill>
                    <a:srgbClr val="FFFFFF"/>
                  </a:solidFill>
                  <a:uFillTx/>
                  <a:latin typeface="Cambria" pitchFamily="34"/>
                  <a:ea typeface="Cambria" pitchFamily="34"/>
                  <a:cs typeface="Cambria" pitchFamily="34"/>
                </a:rPr>
                <a:t>sygnału</a:t>
              </a:r>
              <a:endParaRPr lang="en-US" sz="1050" b="0" i="0" u="none" strike="noStrike" kern="1200" cap="none" spc="0" baseline="0" dirty="0">
                <a:solidFill>
                  <a:srgbClr val="000000"/>
                </a:solidFill>
                <a:uFillTx/>
                <a:latin typeface="Calibri"/>
              </a:endParaRPr>
            </a:p>
          </p:txBody>
        </p:sp>
        <p:sp>
          <p:nvSpPr>
            <p:cNvPr id="11" name="Text 9"/>
            <p:cNvSpPr/>
            <p:nvPr/>
          </p:nvSpPr>
          <p:spPr>
            <a:xfrm>
              <a:off x="6446520" y="1152144"/>
              <a:ext cx="228600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FFFFFF"/>
                  </a:solidFill>
                  <a:uFillTx/>
                  <a:latin typeface="Cambria" pitchFamily="34"/>
                  <a:ea typeface="Cambria" pitchFamily="34"/>
                  <a:cs typeface="Cambria" pitchFamily="34"/>
                </a:rPr>
                <a:t>Emocja/Stan</a:t>
              </a:r>
              <a:endParaRPr lang="en-US" sz="1050" b="0" i="0" u="none" strike="noStrike" kern="1200" cap="none" spc="0" baseline="0">
                <a:solidFill>
                  <a:srgbClr val="000000"/>
                </a:solidFill>
                <a:uFillTx/>
                <a:latin typeface="Calibri"/>
              </a:endParaRPr>
            </a:p>
          </p:txBody>
        </p:sp>
        <p:sp>
          <p:nvSpPr>
            <p:cNvPr id="12" name="Shape 10"/>
            <p:cNvSpPr/>
            <p:nvPr/>
          </p:nvSpPr>
          <p:spPr>
            <a:xfrm>
              <a:off x="320040" y="1426464"/>
              <a:ext cx="8503920" cy="42976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320040" y="1426464"/>
              <a:ext cx="54864" cy="42976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420624" y="1517904"/>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E11D48"/>
                  </a:solidFill>
                  <a:uFillTx/>
                  <a:latin typeface="Cambria" pitchFamily="34"/>
                  <a:ea typeface="Cambria" pitchFamily="34"/>
                  <a:cs typeface="Cambria" pitchFamily="34"/>
                </a:rPr>
                <a:t>Agitacja</a:t>
              </a:r>
              <a:r>
                <a:rPr lang="en-US" sz="1100" b="1" i="0" u="none" strike="noStrike" kern="1200" cap="none" spc="0" baseline="0" dirty="0">
                  <a:solidFill>
                    <a:srgbClr val="E11D48"/>
                  </a:solidFill>
                  <a:uFillTx/>
                  <a:latin typeface="Cambria" pitchFamily="34"/>
                  <a:ea typeface="Cambria" pitchFamily="34"/>
                  <a:cs typeface="Cambria" pitchFamily="34"/>
                </a:rPr>
                <a:t> </a:t>
              </a:r>
              <a:r>
                <a:rPr lang="en-US" sz="1100" b="1" i="0" u="none" strike="noStrike" kern="1200" cap="none" spc="0" baseline="0" dirty="0" err="1">
                  <a:solidFill>
                    <a:srgbClr val="E11D48"/>
                  </a:solidFill>
                  <a:uFillTx/>
                  <a:latin typeface="Cambria" pitchFamily="34"/>
                  <a:ea typeface="Cambria" pitchFamily="34"/>
                  <a:cs typeface="Cambria" pitchFamily="34"/>
                </a:rPr>
                <a:t>psychomotoryczna</a:t>
              </a:r>
              <a:endParaRPr lang="en-US" sz="1100" b="0" i="0" u="none" strike="noStrike" kern="1200" cap="none" spc="0" baseline="0" dirty="0">
                <a:solidFill>
                  <a:srgbClr val="000000"/>
                </a:solidFill>
                <a:uFillTx/>
                <a:latin typeface="Calibri"/>
              </a:endParaRPr>
            </a:p>
          </p:txBody>
        </p:sp>
        <p:sp>
          <p:nvSpPr>
            <p:cNvPr id="15" name="Text 13"/>
            <p:cNvSpPr/>
            <p:nvPr/>
          </p:nvSpPr>
          <p:spPr>
            <a:xfrm>
              <a:off x="2979420" y="1517904"/>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err="1">
                  <a:solidFill>
                    <a:srgbClr val="111931"/>
                  </a:solidFill>
                  <a:uFillTx/>
                  <a:latin typeface="Calibri" pitchFamily="34"/>
                  <a:ea typeface="Calibri" pitchFamily="34"/>
                  <a:cs typeface="Calibri" pitchFamily="34"/>
                </a:rPr>
                <a:t>Wysoka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wariancja</a:t>
              </a:r>
              <a:r>
                <a:rPr lang="en-US" sz="1100" b="0" i="0" u="none" strike="noStrike" kern="1200" cap="none" spc="0" baseline="0" dirty="0">
                  <a:solidFill>
                    <a:srgbClr val="111931"/>
                  </a:solidFill>
                  <a:uFillTx/>
                  <a:latin typeface="Calibri" pitchFamily="34"/>
                  <a:ea typeface="Calibri" pitchFamily="34"/>
                  <a:cs typeface="Calibri" pitchFamily="34"/>
                </a:rPr>
                <a:t> ACC, </a:t>
              </a:r>
              <a:r>
                <a:rPr lang="en-US" sz="1100" b="0" i="0" u="none" strike="noStrike" kern="1200" cap="none" spc="0" baseline="0" dirty="0" err="1">
                  <a:solidFill>
                    <a:srgbClr val="111931"/>
                  </a:solidFill>
                  <a:uFillTx/>
                  <a:latin typeface="Calibri" pitchFamily="34"/>
                  <a:ea typeface="Calibri" pitchFamily="34"/>
                  <a:cs typeface="Calibri" pitchFamily="34"/>
                </a:rPr>
                <a:t>nieregularne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szarpnięcia</a:t>
              </a:r>
              <a:r>
                <a:rPr lang="en-US" sz="1100" b="0" i="0" u="none" strike="noStrike" kern="1200" cap="none" spc="0" baseline="0" dirty="0">
                  <a:solidFill>
                    <a:srgbClr val="111931"/>
                  </a:solidFill>
                  <a:uFillTx/>
                  <a:latin typeface="Calibri" pitchFamily="34"/>
                  <a:ea typeface="Calibri" pitchFamily="34"/>
                  <a:cs typeface="Calibri" pitchFamily="34"/>
                </a:rPr>
                <a:t> &gt; 0.8g</a:t>
              </a:r>
              <a:endParaRPr lang="en-US" sz="1100" b="0" i="0" u="none" strike="noStrike" kern="1200" cap="none" spc="0" baseline="0" dirty="0">
                <a:solidFill>
                  <a:srgbClr val="111931"/>
                </a:solidFill>
                <a:uFillTx/>
                <a:latin typeface="Calibri"/>
              </a:endParaRPr>
            </a:p>
          </p:txBody>
        </p:sp>
        <p:sp>
          <p:nvSpPr>
            <p:cNvPr id="16" name="Text 14"/>
            <p:cNvSpPr/>
            <p:nvPr/>
          </p:nvSpPr>
          <p:spPr>
            <a:xfrm>
              <a:off x="6446520" y="1517904"/>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Gniew, lęk, mania</a:t>
              </a:r>
              <a:endParaRPr lang="en-US" sz="1100" b="0" i="0" u="none" strike="noStrike" kern="1200" cap="none" spc="0" baseline="0">
                <a:solidFill>
                  <a:srgbClr val="111931"/>
                </a:solidFill>
                <a:uFillTx/>
                <a:latin typeface="Calibri"/>
              </a:endParaRPr>
            </a:p>
          </p:txBody>
        </p:sp>
        <p:sp>
          <p:nvSpPr>
            <p:cNvPr id="17" name="Shape 15"/>
            <p:cNvSpPr/>
            <p:nvPr/>
          </p:nvSpPr>
          <p:spPr>
            <a:xfrm>
              <a:off x="320040" y="1901952"/>
              <a:ext cx="8503920" cy="42976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1901952"/>
              <a:ext cx="54864" cy="429768"/>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20624" y="1993392"/>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D4ED8"/>
                  </a:solidFill>
                  <a:uFillTx/>
                  <a:latin typeface="Cambria" pitchFamily="34"/>
                  <a:ea typeface="Cambria" pitchFamily="34"/>
                  <a:cs typeface="Cambria" pitchFamily="34"/>
                </a:rPr>
                <a:t>Spowolnienie psychomotoryczne</a:t>
              </a:r>
              <a:endParaRPr lang="en-US" sz="1100" b="0" i="0" u="none" strike="noStrike" kern="1200" cap="none" spc="0" baseline="0">
                <a:solidFill>
                  <a:srgbClr val="000000"/>
                </a:solidFill>
                <a:uFillTx/>
                <a:latin typeface="Calibri"/>
              </a:endParaRPr>
            </a:p>
          </p:txBody>
        </p:sp>
        <p:sp>
          <p:nvSpPr>
            <p:cNvPr id="20" name="Text 18"/>
            <p:cNvSpPr/>
            <p:nvPr/>
          </p:nvSpPr>
          <p:spPr>
            <a:xfrm>
              <a:off x="2979420" y="1993392"/>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Niska aktywność ACC &lt; 0.1g std, wolne tempo kroków</a:t>
              </a:r>
              <a:endParaRPr lang="en-US" sz="1100" b="0" i="0" u="none" strike="noStrike" kern="1200" cap="none" spc="0" baseline="0">
                <a:solidFill>
                  <a:srgbClr val="111931"/>
                </a:solidFill>
                <a:uFillTx/>
                <a:latin typeface="Calibri"/>
              </a:endParaRPr>
            </a:p>
          </p:txBody>
        </p:sp>
        <p:sp>
          <p:nvSpPr>
            <p:cNvPr id="21" name="Text 19"/>
            <p:cNvSpPr/>
            <p:nvPr/>
          </p:nvSpPr>
          <p:spPr>
            <a:xfrm>
              <a:off x="6446520" y="1993392"/>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Depresja, zmęczenie, smutek</a:t>
              </a:r>
              <a:endParaRPr lang="en-US" sz="1100" b="0" i="0" u="none" strike="noStrike" kern="1200" cap="none" spc="0" baseline="0">
                <a:solidFill>
                  <a:srgbClr val="111931"/>
                </a:solidFill>
                <a:uFillTx/>
                <a:latin typeface="Calibri"/>
              </a:endParaRPr>
            </a:p>
          </p:txBody>
        </p:sp>
        <p:sp>
          <p:nvSpPr>
            <p:cNvPr id="22" name="Shape 20"/>
            <p:cNvSpPr/>
            <p:nvPr/>
          </p:nvSpPr>
          <p:spPr>
            <a:xfrm>
              <a:off x="320040" y="2377440"/>
              <a:ext cx="8503920" cy="42976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Shape 21"/>
            <p:cNvSpPr/>
            <p:nvPr/>
          </p:nvSpPr>
          <p:spPr>
            <a:xfrm>
              <a:off x="320040" y="2377440"/>
              <a:ext cx="54864" cy="429768"/>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Text 22"/>
            <p:cNvSpPr/>
            <p:nvPr/>
          </p:nvSpPr>
          <p:spPr>
            <a:xfrm>
              <a:off x="420624" y="2468879"/>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Tremor dłoni (drżenie)</a:t>
              </a:r>
              <a:endParaRPr lang="en-US" sz="1100" b="0" i="0" u="none" strike="noStrike" kern="1200" cap="none" spc="0" baseline="0">
                <a:solidFill>
                  <a:srgbClr val="000000"/>
                </a:solidFill>
                <a:uFillTx/>
                <a:latin typeface="Calibri"/>
              </a:endParaRPr>
            </a:p>
          </p:txBody>
        </p:sp>
        <p:sp>
          <p:nvSpPr>
            <p:cNvPr id="25" name="Text 23"/>
            <p:cNvSpPr/>
            <p:nvPr/>
          </p:nvSpPr>
          <p:spPr>
            <a:xfrm>
              <a:off x="2979420" y="2468879"/>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Oscylacje 4–12 Hz w ACC i żyroskopu</a:t>
              </a:r>
              <a:endParaRPr lang="en-US" sz="1100" b="0" i="0" u="none" strike="noStrike" kern="1200" cap="none" spc="0" baseline="0">
                <a:solidFill>
                  <a:srgbClr val="111931"/>
                </a:solidFill>
                <a:uFillTx/>
                <a:latin typeface="Calibri"/>
              </a:endParaRPr>
            </a:p>
          </p:txBody>
        </p:sp>
        <p:sp>
          <p:nvSpPr>
            <p:cNvPr id="26" name="Text 24"/>
            <p:cNvSpPr/>
            <p:nvPr/>
          </p:nvSpPr>
          <p:spPr>
            <a:xfrm>
              <a:off x="6446520" y="2468880"/>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Stres, lęk, niedobór snu</a:t>
              </a:r>
              <a:endParaRPr lang="en-US" sz="1100" b="0" i="0" u="none" strike="noStrike" kern="1200" cap="none" spc="0" baseline="0">
                <a:solidFill>
                  <a:srgbClr val="111931"/>
                </a:solidFill>
                <a:uFillTx/>
                <a:latin typeface="Calibri"/>
              </a:endParaRPr>
            </a:p>
          </p:txBody>
        </p:sp>
        <p:sp>
          <p:nvSpPr>
            <p:cNvPr id="27" name="Shape 25"/>
            <p:cNvSpPr/>
            <p:nvPr/>
          </p:nvSpPr>
          <p:spPr>
            <a:xfrm>
              <a:off x="320040" y="2852928"/>
              <a:ext cx="8503920" cy="42976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8" name="Shape 26"/>
            <p:cNvSpPr/>
            <p:nvPr/>
          </p:nvSpPr>
          <p:spPr>
            <a:xfrm>
              <a:off x="320040" y="2852928"/>
              <a:ext cx="54864" cy="42976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Text 27"/>
            <p:cNvSpPr/>
            <p:nvPr/>
          </p:nvSpPr>
          <p:spPr>
            <a:xfrm>
              <a:off x="420624" y="2944368"/>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891B2"/>
                  </a:solidFill>
                  <a:uFillTx/>
                  <a:latin typeface="Cambria" pitchFamily="34"/>
                  <a:ea typeface="Cambria" pitchFamily="34"/>
                  <a:cs typeface="Cambria" pitchFamily="34"/>
                </a:rPr>
                <a:t>Wzorzec chodzenia (gait)</a:t>
              </a:r>
              <a:endParaRPr lang="en-US" sz="1100" b="0" i="0" u="none" strike="noStrike" kern="1200" cap="none" spc="0" baseline="0">
                <a:solidFill>
                  <a:srgbClr val="000000"/>
                </a:solidFill>
                <a:uFillTx/>
                <a:latin typeface="Calibri"/>
              </a:endParaRPr>
            </a:p>
          </p:txBody>
        </p:sp>
        <p:sp>
          <p:nvSpPr>
            <p:cNvPr id="30" name="Text 28"/>
            <p:cNvSpPr/>
            <p:nvPr/>
          </p:nvSpPr>
          <p:spPr>
            <a:xfrm>
              <a:off x="2979420" y="2944368"/>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Symetria kroków, kadencja, długość kroku</a:t>
              </a:r>
              <a:endParaRPr lang="en-US" sz="1100" b="0" i="0" u="none" strike="noStrike" kern="1200" cap="none" spc="0" baseline="0">
                <a:solidFill>
                  <a:srgbClr val="111931"/>
                </a:solidFill>
                <a:uFillTx/>
                <a:latin typeface="Calibri"/>
              </a:endParaRPr>
            </a:p>
          </p:txBody>
        </p:sp>
        <p:sp>
          <p:nvSpPr>
            <p:cNvPr id="31" name="Text 29"/>
            <p:cNvSpPr/>
            <p:nvPr/>
          </p:nvSpPr>
          <p:spPr>
            <a:xfrm>
              <a:off x="6446520" y="2944368"/>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Nastrój depresyjny (zmieniony gait)</a:t>
              </a:r>
              <a:endParaRPr lang="en-US" sz="1100" b="0" i="0" u="none" strike="noStrike" kern="1200" cap="none" spc="0" baseline="0">
                <a:solidFill>
                  <a:srgbClr val="111931"/>
                </a:solidFill>
                <a:uFillTx/>
                <a:latin typeface="Calibri"/>
              </a:endParaRPr>
            </a:p>
          </p:txBody>
        </p:sp>
        <p:sp>
          <p:nvSpPr>
            <p:cNvPr id="32" name="Shape 30"/>
            <p:cNvSpPr/>
            <p:nvPr/>
          </p:nvSpPr>
          <p:spPr>
            <a:xfrm>
              <a:off x="320040" y="3328416"/>
              <a:ext cx="8503920" cy="42976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Shape 31"/>
            <p:cNvSpPr/>
            <p:nvPr/>
          </p:nvSpPr>
          <p:spPr>
            <a:xfrm>
              <a:off x="320040" y="3328416"/>
              <a:ext cx="54864" cy="42976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20624" y="3419855"/>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7C3AED"/>
                  </a:solidFill>
                  <a:uFillTx/>
                  <a:latin typeface="Cambria" pitchFamily="34"/>
                  <a:ea typeface="Cambria" pitchFamily="34"/>
                  <a:cs typeface="Cambria" pitchFamily="34"/>
                </a:rPr>
                <a:t>Interakcja z telefonem</a:t>
              </a:r>
              <a:endParaRPr lang="en-US" sz="1100" b="0" i="0" u="none" strike="noStrike" kern="1200" cap="none" spc="0" baseline="0">
                <a:solidFill>
                  <a:srgbClr val="000000"/>
                </a:solidFill>
                <a:uFillTx/>
                <a:latin typeface="Calibri"/>
              </a:endParaRPr>
            </a:p>
          </p:txBody>
        </p:sp>
        <p:sp>
          <p:nvSpPr>
            <p:cNvPr id="35" name="Text 33"/>
            <p:cNvSpPr/>
            <p:nvPr/>
          </p:nvSpPr>
          <p:spPr>
            <a:xfrm>
              <a:off x="2979420" y="3419855"/>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Szybkość typowania, pressure, obroty ekranu</a:t>
              </a:r>
              <a:endParaRPr lang="en-US" sz="1100" b="0" i="0" u="none" strike="noStrike" kern="1200" cap="none" spc="0" baseline="0">
                <a:solidFill>
                  <a:srgbClr val="111931"/>
                </a:solidFill>
                <a:uFillTx/>
                <a:latin typeface="Calibri"/>
              </a:endParaRPr>
            </a:p>
          </p:txBody>
        </p:sp>
        <p:sp>
          <p:nvSpPr>
            <p:cNvPr id="36" name="Text 34"/>
            <p:cNvSpPr/>
            <p:nvPr/>
          </p:nvSpPr>
          <p:spPr>
            <a:xfrm>
              <a:off x="6446520" y="3419856"/>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Frustracja, pośpiech, odprężenie</a:t>
              </a:r>
              <a:endParaRPr lang="en-US" sz="1100" b="0" i="0" u="none" strike="noStrike" kern="1200" cap="none" spc="0" baseline="0">
                <a:solidFill>
                  <a:srgbClr val="111931"/>
                </a:solidFill>
                <a:uFillTx/>
                <a:latin typeface="Calibri"/>
              </a:endParaRPr>
            </a:p>
          </p:txBody>
        </p:sp>
        <p:sp>
          <p:nvSpPr>
            <p:cNvPr id="37" name="Shape 35"/>
            <p:cNvSpPr/>
            <p:nvPr/>
          </p:nvSpPr>
          <p:spPr>
            <a:xfrm>
              <a:off x="320040" y="3803903"/>
              <a:ext cx="8503920" cy="42976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Shape 36"/>
            <p:cNvSpPr/>
            <p:nvPr/>
          </p:nvSpPr>
          <p:spPr>
            <a:xfrm>
              <a:off x="320040" y="3803903"/>
              <a:ext cx="54864" cy="429768"/>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Text 37"/>
            <p:cNvSpPr/>
            <p:nvPr/>
          </p:nvSpPr>
          <p:spPr>
            <a:xfrm>
              <a:off x="420624" y="3895344"/>
              <a:ext cx="2249424" cy="22537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59669"/>
                  </a:solidFill>
                  <a:uFillTx/>
                  <a:latin typeface="Cambria" pitchFamily="34"/>
                  <a:ea typeface="Cambria" pitchFamily="34"/>
                  <a:cs typeface="Cambria" pitchFamily="34"/>
                </a:rPr>
                <a:t>Pozycja ciała (posture)</a:t>
              </a:r>
              <a:endParaRPr lang="en-US" sz="1100" b="0" i="0" u="none" strike="noStrike" kern="1200" cap="none" spc="0" baseline="0">
                <a:solidFill>
                  <a:srgbClr val="000000"/>
                </a:solidFill>
                <a:uFillTx/>
                <a:latin typeface="Calibri"/>
              </a:endParaRPr>
            </a:p>
          </p:txBody>
        </p:sp>
        <p:sp>
          <p:nvSpPr>
            <p:cNvPr id="40" name="Text 38"/>
            <p:cNvSpPr/>
            <p:nvPr/>
          </p:nvSpPr>
          <p:spPr>
            <a:xfrm>
              <a:off x="2979420" y="3895344"/>
              <a:ext cx="3393947"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Żyroskop: przedłużone pochylenie do przodu</a:t>
              </a:r>
              <a:endParaRPr lang="en-US" sz="1100" b="0" i="0" u="none" strike="noStrike" kern="1200" cap="none" spc="0" baseline="0">
                <a:solidFill>
                  <a:srgbClr val="111931"/>
                </a:solidFill>
                <a:uFillTx/>
                <a:latin typeface="Calibri"/>
              </a:endParaRPr>
            </a:p>
          </p:txBody>
        </p:sp>
        <p:sp>
          <p:nvSpPr>
            <p:cNvPr id="41" name="Text 39"/>
            <p:cNvSpPr/>
            <p:nvPr/>
          </p:nvSpPr>
          <p:spPr>
            <a:xfrm>
              <a:off x="6446520" y="3895344"/>
              <a:ext cx="230428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Skupienie, smutek, zmęczenie</a:t>
              </a:r>
              <a:endParaRPr lang="en-US" sz="1100" b="0" i="0" u="none" strike="noStrike" kern="1200" cap="none" spc="0" baseline="0">
                <a:solidFill>
                  <a:srgbClr val="111931"/>
                </a:solidFill>
                <a:uFillTx/>
                <a:latin typeface="Calibri"/>
              </a:endParaRPr>
            </a:p>
          </p:txBody>
        </p:sp>
      </p:grpSp>
      <p:sp>
        <p:nvSpPr>
          <p:cNvPr id="42" name="Shape 40"/>
          <p:cNvSpPr/>
          <p:nvPr/>
        </p:nvSpPr>
        <p:spPr>
          <a:xfrm>
            <a:off x="320040" y="3984853"/>
            <a:ext cx="3832860" cy="843179"/>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Text 41"/>
          <p:cNvSpPr/>
          <p:nvPr/>
        </p:nvSpPr>
        <p:spPr>
          <a:xfrm>
            <a:off x="3159253" y="4005271"/>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44" name="Text 42"/>
          <p:cNvSpPr/>
          <p:nvPr/>
        </p:nvSpPr>
        <p:spPr>
          <a:xfrm>
            <a:off x="411480" y="4034028"/>
            <a:ext cx="3425953" cy="71412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Detekcja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agitacji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wariancja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ACC w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oknie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5s</a:t>
            </a: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variance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accWindow.map</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it.magnitude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()}.variance()</a:t>
            </a: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agitated = variance &gt; AGITATION_THRESHOLD  // 0.15 m/s²²</a:t>
            </a:r>
          </a:p>
        </p:txBody>
      </p:sp>
      <p:sp>
        <p:nvSpPr>
          <p:cNvPr id="45" name="Shape 43"/>
          <p:cNvSpPr/>
          <p:nvPr/>
        </p:nvSpPr>
        <p:spPr>
          <a:xfrm>
            <a:off x="4831080" y="3996220"/>
            <a:ext cx="4038600" cy="843179"/>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Text 44"/>
          <p:cNvSpPr/>
          <p:nvPr/>
        </p:nvSpPr>
        <p:spPr>
          <a:xfrm>
            <a:off x="7882128" y="4016502"/>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47" name="Text 45"/>
          <p:cNvSpPr/>
          <p:nvPr/>
        </p:nvSpPr>
        <p:spPr>
          <a:xfrm>
            <a:off x="4953001" y="4034028"/>
            <a:ext cx="3489960" cy="705612"/>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Wzorzec</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typowania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jako</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 proxy (Android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InputMethod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onKeyPress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keyCode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pressTime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Long) {</a:t>
            </a: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pressTime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lastKeyTime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inter-tap interval [ms]</a:t>
            </a: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typingSpeedBuffer.add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niska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ITI → stress/</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pośpiech</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2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52"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13</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9FF"/>
        </a:solidFill>
        <a:effectLst/>
      </p:bgPr>
    </p:bg>
    <p:spTree>
      <p:nvGrpSpPr>
        <p:cNvPr id="1" name=""/>
        <p:cNvGrpSpPr/>
        <p:nvPr/>
      </p:nvGrpSpPr>
      <p:grpSpPr>
        <a:xfrm>
          <a:off x="0" y="0"/>
          <a:ext cx="0" cy="0"/>
          <a:chOff x="0" y="0"/>
          <a:chExt cx="0" cy="0"/>
        </a:xfrm>
      </p:grpSpPr>
      <p:grpSp>
        <p:nvGrpSpPr>
          <p:cNvPr id="50" name="Grupa 49"/>
          <p:cNvGrpSpPr/>
          <p:nvPr/>
        </p:nvGrpSpPr>
        <p:grpSpPr>
          <a:xfrm>
            <a:off x="0" y="0"/>
            <a:ext cx="9144000" cy="558000"/>
            <a:chOff x="0" y="0"/>
            <a:chExt cx="9144000" cy="558000"/>
          </a:xfrm>
        </p:grpSpPr>
        <p:sp>
          <p:nvSpPr>
            <p:cNvPr id="51"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2"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EEG </a:t>
            </a:r>
            <a:r>
              <a:rPr lang="en-US" sz="2000" b="1" i="0" u="none" strike="noStrike" kern="1200" cap="none" spc="0" baseline="0" dirty="0" smtClean="0">
                <a:solidFill>
                  <a:srgbClr val="FFFFFF"/>
                </a:solidFill>
                <a:uFillTx/>
                <a:latin typeface="Cambria" pitchFamily="34"/>
                <a:ea typeface="Cambria" pitchFamily="34"/>
                <a:cs typeface="Cambria" pitchFamily="34"/>
              </a:rPr>
              <a:t>Wearables</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Mose</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Emotiv</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f</a:t>
            </a:r>
            <a:r>
              <a:rPr lang="en-US" sz="2000" b="1" i="0" u="none" strike="noStrike" kern="1200" cap="none" spc="0" baseline="0" dirty="0" smtClean="0">
                <a:solidFill>
                  <a:srgbClr val="FFFFFF"/>
                </a:solidFill>
                <a:uFillTx/>
                <a:latin typeface="Cambria" pitchFamily="34"/>
                <a:ea typeface="Cambria" pitchFamily="34"/>
                <a:cs typeface="Cambria" pitchFamily="34"/>
              </a:rPr>
              <a:t>ale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ózgowe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8"/>
            <a:ext cx="8503920" cy="49266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Calibri" pitchFamily="34"/>
                <a:ea typeface="Calibri" pitchFamily="34"/>
                <a:cs typeface="Calibri" pitchFamily="34"/>
              </a:rPr>
              <a:t>EEG (</a:t>
            </a:r>
            <a:r>
              <a:rPr lang="en-US" sz="1600" b="0" i="0" u="none" strike="noStrike" kern="1200" cap="none" spc="0" baseline="0" dirty="0" err="1">
                <a:solidFill>
                  <a:srgbClr val="111931"/>
                </a:solidFill>
                <a:uFillTx/>
                <a:latin typeface="Calibri" pitchFamily="34"/>
                <a:ea typeface="Calibri" pitchFamily="34"/>
                <a:cs typeface="Calibri" pitchFamily="34"/>
              </a:rPr>
              <a:t>elektroencefalografia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daje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bezpośredni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dostęp</a:t>
            </a:r>
            <a:r>
              <a:rPr lang="en-US" sz="1600" b="0" i="0" u="none" strike="noStrike" kern="1200" cap="none" spc="0" baseline="0" dirty="0">
                <a:solidFill>
                  <a:srgbClr val="111931"/>
                </a:solidFill>
                <a:uFillTx/>
                <a:latin typeface="Calibri" pitchFamily="34"/>
                <a:ea typeface="Calibri" pitchFamily="34"/>
                <a:cs typeface="Calibri" pitchFamily="34"/>
              </a:rPr>
              <a:t> do </a:t>
            </a:r>
            <a:r>
              <a:rPr lang="en-US" sz="1600" b="0" i="0" u="none" strike="noStrike" kern="1200" cap="none" spc="0" baseline="0" dirty="0" err="1">
                <a:solidFill>
                  <a:srgbClr val="111931"/>
                </a:solidFill>
                <a:uFillTx/>
                <a:latin typeface="Calibri" pitchFamily="34"/>
                <a:ea typeface="Calibri" pitchFamily="34"/>
                <a:cs typeface="Calibri" pitchFamily="34"/>
              </a:rPr>
              <a:t>aktywności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mózgu</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najwyższa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celność</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rozpoznawania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kosztem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niskiej</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dostępności</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masowym</a:t>
            </a:r>
            <a:r>
              <a:rPr lang="en-US" sz="1600" b="0" i="0" u="none" strike="noStrike" kern="1200" cap="none" spc="0" baseline="0" dirty="0">
                <a:solidFill>
                  <a:srgbClr val="111931"/>
                </a:solidFill>
                <a:uFillTx/>
                <a:latin typeface="Calibri" pitchFamily="34"/>
                <a:ea typeface="Calibri" pitchFamily="34"/>
                <a:cs typeface="Calibri" pitchFamily="34"/>
              </a:rPr>
              <a:t> mobile</a:t>
            </a:r>
            <a:endParaRPr lang="en-US" sz="1600" b="0" i="0" u="none" strike="noStrike" kern="1200" cap="none" spc="0" baseline="0" dirty="0">
              <a:solidFill>
                <a:srgbClr val="111931"/>
              </a:solidFill>
              <a:uFillTx/>
              <a:latin typeface="Calibri"/>
            </a:endParaRPr>
          </a:p>
        </p:txBody>
      </p:sp>
      <p:sp>
        <p:nvSpPr>
          <p:cNvPr id="8" name="Text 6"/>
          <p:cNvSpPr/>
          <p:nvPr/>
        </p:nvSpPr>
        <p:spPr>
          <a:xfrm>
            <a:off x="320039" y="1593927"/>
            <a:ext cx="85039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Pasma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częstotliwościowe</a:t>
            </a:r>
            <a:r>
              <a:rPr lang="en-US" sz="1200" b="1" i="0" u="none" strike="noStrike" kern="1200" cap="none" spc="0" baseline="0" dirty="0">
                <a:solidFill>
                  <a:srgbClr val="1F1535"/>
                </a:solidFill>
                <a:uFillTx/>
                <a:latin typeface="Cambria" pitchFamily="34"/>
                <a:ea typeface="Cambria" pitchFamily="34"/>
                <a:cs typeface="Cambria" pitchFamily="34"/>
              </a:rPr>
              <a:t> EEG </a:t>
            </a:r>
            <a:r>
              <a:rPr lang="en-US" sz="1200" b="1" i="0" u="none" strike="noStrike" kern="1200" cap="none" spc="0" baseline="0" dirty="0" err="1">
                <a:solidFill>
                  <a:srgbClr val="1F1535"/>
                </a:solidFill>
                <a:uFillTx/>
                <a:latin typeface="Cambria" pitchFamily="34"/>
                <a:ea typeface="Cambria" pitchFamily="34"/>
                <a:cs typeface="Cambria" pitchFamily="34"/>
              </a:rPr>
              <a:t>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emocje</a:t>
            </a:r>
            <a:endParaRPr lang="en-US" sz="1200" b="0" i="0" u="none" strike="noStrike" kern="1200" cap="none" spc="0" baseline="0" dirty="0">
              <a:solidFill>
                <a:srgbClr val="000000"/>
              </a:solidFill>
              <a:uFillTx/>
              <a:latin typeface="Calibri"/>
            </a:endParaRPr>
          </a:p>
        </p:txBody>
      </p:sp>
      <p:grpSp>
        <p:nvGrpSpPr>
          <p:cNvPr id="53" name="Grupa 52"/>
          <p:cNvGrpSpPr/>
          <p:nvPr/>
        </p:nvGrpSpPr>
        <p:grpSpPr>
          <a:xfrm>
            <a:off x="320040" y="1874520"/>
            <a:ext cx="8503920" cy="1609343"/>
            <a:chOff x="320040" y="1417320"/>
            <a:chExt cx="8503920" cy="2066543"/>
          </a:xfrm>
        </p:grpSpPr>
        <p:sp>
          <p:nvSpPr>
            <p:cNvPr id="9" name="Shape 7"/>
            <p:cNvSpPr/>
            <p:nvPr/>
          </p:nvSpPr>
          <p:spPr>
            <a:xfrm>
              <a:off x="320040" y="1417320"/>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417320"/>
              <a:ext cx="54864" cy="384048"/>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38912" y="1481328"/>
              <a:ext cx="157276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D4ED8"/>
                  </a:solidFill>
                  <a:uFillTx/>
                  <a:latin typeface="Cambria" pitchFamily="34"/>
                  <a:ea typeface="Cambria" pitchFamily="34"/>
                  <a:cs typeface="Cambria" pitchFamily="34"/>
                </a:rPr>
                <a:t>Delta (0.5–4 Hz)</a:t>
              </a:r>
              <a:endParaRPr lang="en-US" sz="1100" b="0" i="0" u="none" strike="noStrike" kern="1200" cap="none" spc="0" baseline="0">
                <a:solidFill>
                  <a:srgbClr val="000000"/>
                </a:solidFill>
                <a:uFillTx/>
                <a:latin typeface="Calibri"/>
              </a:endParaRPr>
            </a:p>
          </p:txBody>
        </p:sp>
        <p:sp>
          <p:nvSpPr>
            <p:cNvPr id="12" name="Text 10"/>
            <p:cNvSpPr/>
            <p:nvPr/>
          </p:nvSpPr>
          <p:spPr>
            <a:xfrm>
              <a:off x="2084832" y="1481328"/>
              <a:ext cx="66568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Głęboki sen, brak świadomości — nie używane w emotion recognition</a:t>
              </a:r>
              <a:endParaRPr lang="en-US" sz="1050" b="0" i="0" u="none" strike="noStrike" kern="1200" cap="none" spc="0" baseline="0">
                <a:solidFill>
                  <a:srgbClr val="111931"/>
                </a:solidFill>
                <a:uFillTx/>
                <a:latin typeface="Calibri"/>
              </a:endParaRPr>
            </a:p>
          </p:txBody>
        </p:sp>
        <p:sp>
          <p:nvSpPr>
            <p:cNvPr id="13" name="Shape 11"/>
            <p:cNvSpPr/>
            <p:nvPr/>
          </p:nvSpPr>
          <p:spPr>
            <a:xfrm>
              <a:off x="320040" y="1837943"/>
              <a:ext cx="8503920" cy="38404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1837943"/>
              <a:ext cx="54864" cy="38404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38912" y="1901952"/>
              <a:ext cx="157276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891B2"/>
                  </a:solidFill>
                  <a:uFillTx/>
                  <a:latin typeface="Cambria" pitchFamily="34"/>
                  <a:ea typeface="Cambria" pitchFamily="34"/>
                  <a:cs typeface="Cambria" pitchFamily="34"/>
                </a:rPr>
                <a:t>Theta (4–8 Hz)</a:t>
              </a:r>
              <a:endParaRPr lang="en-US" sz="1100" b="0" i="0" u="none" strike="noStrike" kern="1200" cap="none" spc="0" baseline="0">
                <a:solidFill>
                  <a:srgbClr val="000000"/>
                </a:solidFill>
                <a:uFillTx/>
                <a:latin typeface="Calibri"/>
              </a:endParaRPr>
            </a:p>
          </p:txBody>
        </p:sp>
        <p:sp>
          <p:nvSpPr>
            <p:cNvPr id="16" name="Text 14"/>
            <p:cNvSpPr/>
            <p:nvPr/>
          </p:nvSpPr>
          <p:spPr>
            <a:xfrm>
              <a:off x="2084832" y="1901952"/>
              <a:ext cx="66568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Senność, medytacja, kreatywność. FRONTAL theta → meditation apps (Muse).</a:t>
              </a:r>
              <a:endParaRPr lang="en-US" sz="1050" b="0" i="0" u="none" strike="noStrike" kern="1200" cap="none" spc="0" baseline="0">
                <a:solidFill>
                  <a:srgbClr val="111931"/>
                </a:solidFill>
                <a:uFillTx/>
                <a:latin typeface="Calibri"/>
              </a:endParaRPr>
            </a:p>
          </p:txBody>
        </p:sp>
        <p:sp>
          <p:nvSpPr>
            <p:cNvPr id="17" name="Shape 15"/>
            <p:cNvSpPr/>
            <p:nvPr/>
          </p:nvSpPr>
          <p:spPr>
            <a:xfrm>
              <a:off x="320040" y="2258568"/>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258568"/>
              <a:ext cx="54864" cy="384048"/>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38912" y="2322576"/>
              <a:ext cx="157276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59669"/>
                  </a:solidFill>
                  <a:uFillTx/>
                  <a:latin typeface="Cambria" pitchFamily="34"/>
                  <a:ea typeface="Cambria" pitchFamily="34"/>
                  <a:cs typeface="Cambria" pitchFamily="34"/>
                </a:rPr>
                <a:t>Alpha (8–13 Hz)</a:t>
              </a:r>
              <a:endParaRPr lang="en-US" sz="1100" b="0" i="0" u="none" strike="noStrike" kern="1200" cap="none" spc="0" baseline="0">
                <a:solidFill>
                  <a:srgbClr val="000000"/>
                </a:solidFill>
                <a:uFillTx/>
                <a:latin typeface="Calibri"/>
              </a:endParaRPr>
            </a:p>
          </p:txBody>
        </p:sp>
        <p:sp>
          <p:nvSpPr>
            <p:cNvPr id="20" name="Text 18"/>
            <p:cNvSpPr/>
            <p:nvPr/>
          </p:nvSpPr>
          <p:spPr>
            <a:xfrm>
              <a:off x="2084832" y="2322576"/>
              <a:ext cx="66568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Relaks przy zamkniętych oczach. FAA (Frontal Alpha Asymmetry): L&gt;R → approach/pozytywne, R&gt;L → withdrawal/negatywne.</a:t>
              </a:r>
              <a:endParaRPr lang="en-US" sz="1050" b="0" i="0" u="none" strike="noStrike" kern="1200" cap="none" spc="0" baseline="0">
                <a:solidFill>
                  <a:srgbClr val="111931"/>
                </a:solidFill>
                <a:uFillTx/>
                <a:latin typeface="Calibri"/>
              </a:endParaRPr>
            </a:p>
          </p:txBody>
        </p:sp>
        <p:sp>
          <p:nvSpPr>
            <p:cNvPr id="21" name="Shape 19"/>
            <p:cNvSpPr/>
            <p:nvPr/>
          </p:nvSpPr>
          <p:spPr>
            <a:xfrm>
              <a:off x="320040" y="2679191"/>
              <a:ext cx="8503920" cy="38404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2679191"/>
              <a:ext cx="54864" cy="384048"/>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38912" y="2743200"/>
              <a:ext cx="157276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Beta (13–30 Hz)</a:t>
              </a:r>
              <a:endParaRPr lang="en-US" sz="1100" b="0" i="0" u="none" strike="noStrike" kern="1200" cap="none" spc="0" baseline="0">
                <a:solidFill>
                  <a:srgbClr val="000000"/>
                </a:solidFill>
                <a:uFillTx/>
                <a:latin typeface="Calibri"/>
              </a:endParaRPr>
            </a:p>
          </p:txBody>
        </p:sp>
        <p:sp>
          <p:nvSpPr>
            <p:cNvPr id="24" name="Text 22"/>
            <p:cNvSpPr/>
            <p:nvPr/>
          </p:nvSpPr>
          <p:spPr>
            <a:xfrm>
              <a:off x="2084832" y="2743200"/>
              <a:ext cx="66568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Aktywne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myślenie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koncentracja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stres</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Wysoki</a:t>
              </a:r>
              <a:r>
                <a:rPr lang="en-US" sz="1050" b="0" i="0" u="none" strike="noStrike" kern="1200" cap="none" spc="0" baseline="0" dirty="0">
                  <a:solidFill>
                    <a:srgbClr val="111931"/>
                  </a:solidFill>
                  <a:uFillTx/>
                  <a:latin typeface="Calibri" pitchFamily="34"/>
                  <a:ea typeface="Calibri" pitchFamily="34"/>
                  <a:cs typeface="Calibri" pitchFamily="34"/>
                </a:rPr>
                <a:t> beta → </a:t>
              </a:r>
              <a:r>
                <a:rPr lang="en-US" sz="1050" b="0" i="0" u="none" strike="noStrike" kern="1200" cap="none" spc="0" baseline="0" dirty="0" err="1">
                  <a:solidFill>
                    <a:srgbClr val="111931"/>
                  </a:solidFill>
                  <a:uFillTx/>
                  <a:latin typeface="Calibri" pitchFamily="34"/>
                  <a:ea typeface="Calibri" pitchFamily="34"/>
                  <a:cs typeface="Calibri" pitchFamily="34"/>
                </a:rPr>
                <a:t>lęk</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i</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stres</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Podstawowe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pasmo</a:t>
              </a:r>
              <a:r>
                <a:rPr lang="en-US" sz="1050" b="0" i="0" u="none" strike="noStrike" kern="1200" cap="none" spc="0" baseline="0" dirty="0">
                  <a:solidFill>
                    <a:srgbClr val="111931"/>
                  </a:solidFill>
                  <a:uFillTx/>
                  <a:latin typeface="Calibri" pitchFamily="34"/>
                  <a:ea typeface="Calibri" pitchFamily="34"/>
                  <a:cs typeface="Calibri" pitchFamily="34"/>
                </a:rPr>
                <a:t> emotion recognition.</a:t>
              </a:r>
              <a:endParaRPr lang="en-US" sz="1050" b="0" i="0" u="none" strike="noStrike" kern="1200" cap="none" spc="0" baseline="0" dirty="0">
                <a:solidFill>
                  <a:srgbClr val="111931"/>
                </a:solidFill>
                <a:uFillTx/>
                <a:latin typeface="Calibri"/>
              </a:endParaRPr>
            </a:p>
          </p:txBody>
        </p:sp>
        <p:sp>
          <p:nvSpPr>
            <p:cNvPr id="25" name="Shape 23"/>
            <p:cNvSpPr/>
            <p:nvPr/>
          </p:nvSpPr>
          <p:spPr>
            <a:xfrm>
              <a:off x="320040" y="3099815"/>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3099815"/>
              <a:ext cx="54864" cy="38404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38912" y="3163824"/>
              <a:ext cx="157276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7C3AED"/>
                  </a:solidFill>
                  <a:uFillTx/>
                  <a:latin typeface="Cambria" pitchFamily="34"/>
                  <a:ea typeface="Cambria" pitchFamily="34"/>
                  <a:cs typeface="Cambria" pitchFamily="34"/>
                </a:rPr>
                <a:t>Gamma (30–100 Hz)</a:t>
              </a:r>
              <a:endParaRPr lang="en-US" sz="1100" b="0" i="0" u="none" strike="noStrike" kern="1200" cap="none" spc="0" baseline="0">
                <a:solidFill>
                  <a:srgbClr val="000000"/>
                </a:solidFill>
                <a:uFillTx/>
                <a:latin typeface="Calibri"/>
              </a:endParaRPr>
            </a:p>
          </p:txBody>
        </p:sp>
        <p:sp>
          <p:nvSpPr>
            <p:cNvPr id="28" name="Text 26"/>
            <p:cNvSpPr/>
            <p:nvPr/>
          </p:nvSpPr>
          <p:spPr>
            <a:xfrm>
              <a:off x="2084832" y="3163824"/>
              <a:ext cx="6656832"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Skupienie, aktywne przetwarzanie. Wysoki gamma → flow state, efektywna nauka.</a:t>
              </a:r>
              <a:endParaRPr lang="en-US" sz="1050" b="0" i="0" u="none" strike="noStrike" kern="1200" cap="none" spc="0" baseline="0">
                <a:solidFill>
                  <a:srgbClr val="111931"/>
                </a:solidFill>
                <a:uFillTx/>
                <a:latin typeface="Calibri"/>
              </a:endParaRPr>
            </a:p>
          </p:txBody>
        </p:sp>
      </p:grpSp>
      <p:sp>
        <p:nvSpPr>
          <p:cNvPr id="29" name="Text 27"/>
          <p:cNvSpPr/>
          <p:nvPr/>
        </p:nvSpPr>
        <p:spPr>
          <a:xfrm>
            <a:off x="320040" y="359968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Konsumenckie</a:t>
            </a:r>
            <a:r>
              <a:rPr lang="en-US" sz="1200" b="1" i="0" u="none" strike="noStrike" kern="1200" cap="none" spc="0" baseline="0" dirty="0">
                <a:solidFill>
                  <a:srgbClr val="1F1535"/>
                </a:solidFill>
                <a:uFillTx/>
                <a:latin typeface="Cambria" pitchFamily="34"/>
                <a:ea typeface="Cambria" pitchFamily="34"/>
                <a:cs typeface="Cambria" pitchFamily="34"/>
              </a:rPr>
              <a:t> EEG </a:t>
            </a:r>
            <a:r>
              <a:rPr lang="en-US" sz="1200" b="1" i="0" u="none" strike="noStrike" kern="1200" cap="none" spc="0" baseline="0" dirty="0" smtClean="0">
                <a:solidFill>
                  <a:srgbClr val="1F1535"/>
                </a:solidFill>
                <a:uFillTx/>
                <a:latin typeface="Cambria" pitchFamily="34"/>
                <a:ea typeface="Cambria" pitchFamily="34"/>
                <a:cs typeface="Cambria" pitchFamily="34"/>
              </a:rPr>
              <a:t>headsets</a:t>
            </a:r>
            <a:endParaRPr lang="en-US" sz="1200" b="0" i="0" u="none" strike="noStrike" kern="1200" cap="none" spc="0" baseline="0" dirty="0">
              <a:solidFill>
                <a:srgbClr val="000000"/>
              </a:solidFill>
              <a:uFillTx/>
              <a:latin typeface="Calibri"/>
            </a:endParaRPr>
          </a:p>
        </p:txBody>
      </p:sp>
      <p:sp>
        <p:nvSpPr>
          <p:cNvPr id="30" name="Shape 28"/>
          <p:cNvSpPr/>
          <p:nvPr/>
        </p:nvSpPr>
        <p:spPr>
          <a:xfrm>
            <a:off x="320040" y="3858768"/>
            <a:ext cx="4251959" cy="475488"/>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320040" y="3858768"/>
            <a:ext cx="54864" cy="47548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48056" y="3913632"/>
            <a:ext cx="128016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891B2"/>
                </a:solidFill>
                <a:uFillTx/>
                <a:latin typeface="Cambria" pitchFamily="34"/>
                <a:ea typeface="Cambria" pitchFamily="34"/>
                <a:cs typeface="Cambria" pitchFamily="34"/>
              </a:rPr>
              <a:t>Muse 2</a:t>
            </a:r>
            <a:endParaRPr lang="en-US" sz="1100" b="0" i="0" u="none" strike="noStrike" kern="1200" cap="none" spc="0" baseline="0">
              <a:solidFill>
                <a:srgbClr val="000000"/>
              </a:solidFill>
              <a:uFillTx/>
              <a:latin typeface="Calibri"/>
            </a:endParaRPr>
          </a:p>
        </p:txBody>
      </p:sp>
      <p:sp>
        <p:nvSpPr>
          <p:cNvPr id="33" name="Text 31"/>
          <p:cNvSpPr/>
          <p:nvPr/>
        </p:nvSpPr>
        <p:spPr>
          <a:xfrm>
            <a:off x="3666744" y="3913632"/>
            <a:ext cx="822960"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4 kanały</a:t>
            </a:r>
            <a:endParaRPr lang="en-US" sz="1100" b="0" i="0" u="none" strike="noStrike" kern="1200" cap="none" spc="0" baseline="0">
              <a:solidFill>
                <a:srgbClr val="111931"/>
              </a:solidFill>
              <a:uFillTx/>
              <a:latin typeface="Calibri"/>
            </a:endParaRPr>
          </a:p>
        </p:txBody>
      </p:sp>
      <p:sp>
        <p:nvSpPr>
          <p:cNvPr id="34" name="Text 32"/>
          <p:cNvSpPr/>
          <p:nvPr/>
        </p:nvSpPr>
        <p:spPr>
          <a:xfrm>
            <a:off x="448056" y="4133087"/>
            <a:ext cx="4059936" cy="16459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Meditation, Alpha/Theta feedback. iOS/Android SDK. 200 Hz. $299.</a:t>
            </a:r>
            <a:endParaRPr lang="en-US" sz="1000" b="0" i="0" u="none" strike="noStrike" kern="1200" cap="none" spc="0" baseline="0" dirty="0">
              <a:solidFill>
                <a:srgbClr val="111931"/>
              </a:solidFill>
              <a:uFillTx/>
              <a:latin typeface="Calibri"/>
            </a:endParaRPr>
          </a:p>
        </p:txBody>
      </p:sp>
      <p:sp>
        <p:nvSpPr>
          <p:cNvPr id="35" name="Shape 33"/>
          <p:cNvSpPr/>
          <p:nvPr/>
        </p:nvSpPr>
        <p:spPr>
          <a:xfrm>
            <a:off x="4727448" y="3858768"/>
            <a:ext cx="4251959" cy="475488"/>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Shape 34"/>
          <p:cNvSpPr/>
          <p:nvPr/>
        </p:nvSpPr>
        <p:spPr>
          <a:xfrm>
            <a:off x="4727448" y="3858768"/>
            <a:ext cx="54864" cy="47548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4855464" y="3913632"/>
            <a:ext cx="128016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7C3AED"/>
                </a:solidFill>
                <a:uFillTx/>
                <a:latin typeface="Cambria" pitchFamily="34"/>
                <a:ea typeface="Cambria" pitchFamily="34"/>
                <a:cs typeface="Cambria" pitchFamily="34"/>
              </a:rPr>
              <a:t>Emotiv Insight</a:t>
            </a:r>
            <a:endParaRPr lang="en-US" sz="1100" b="0" i="0" u="none" strike="noStrike" kern="1200" cap="none" spc="0" baseline="0">
              <a:solidFill>
                <a:srgbClr val="000000"/>
              </a:solidFill>
              <a:uFillTx/>
              <a:latin typeface="Calibri"/>
            </a:endParaRPr>
          </a:p>
        </p:txBody>
      </p:sp>
      <p:sp>
        <p:nvSpPr>
          <p:cNvPr id="38" name="Text 36"/>
          <p:cNvSpPr/>
          <p:nvPr/>
        </p:nvSpPr>
        <p:spPr>
          <a:xfrm>
            <a:off x="8081772" y="3913632"/>
            <a:ext cx="822960"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5 kanałów</a:t>
            </a:r>
            <a:endParaRPr lang="en-US" sz="1100" b="0" i="0" u="none" strike="noStrike" kern="1200" cap="none" spc="0" baseline="0">
              <a:solidFill>
                <a:srgbClr val="111931"/>
              </a:solidFill>
              <a:uFillTx/>
              <a:latin typeface="Calibri"/>
            </a:endParaRPr>
          </a:p>
        </p:txBody>
      </p:sp>
      <p:sp>
        <p:nvSpPr>
          <p:cNvPr id="39" name="Text 37"/>
          <p:cNvSpPr/>
          <p:nvPr/>
        </p:nvSpPr>
        <p:spPr>
          <a:xfrm>
            <a:off x="4855464" y="4133087"/>
            <a:ext cx="4059936" cy="16459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Performance tracking, emotion SDK (Affectiv Suite: stress, engagement). $499.</a:t>
            </a:r>
            <a:endParaRPr lang="en-US" sz="1000" b="0" i="0" u="none" strike="noStrike" kern="1200" cap="none" spc="0" baseline="0">
              <a:solidFill>
                <a:srgbClr val="111931"/>
              </a:solidFill>
              <a:uFillTx/>
              <a:latin typeface="Calibri"/>
            </a:endParaRPr>
          </a:p>
        </p:txBody>
      </p:sp>
      <p:sp>
        <p:nvSpPr>
          <p:cNvPr id="40" name="Shape 38"/>
          <p:cNvSpPr/>
          <p:nvPr/>
        </p:nvSpPr>
        <p:spPr>
          <a:xfrm>
            <a:off x="320040" y="4407407"/>
            <a:ext cx="4251959" cy="475488"/>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320040" y="4407407"/>
            <a:ext cx="54864" cy="47548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48056" y="4462272"/>
            <a:ext cx="128016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11D48"/>
                </a:solidFill>
                <a:uFillTx/>
                <a:latin typeface="Cambria" pitchFamily="34"/>
                <a:ea typeface="Cambria" pitchFamily="34"/>
                <a:cs typeface="Cambria" pitchFamily="34"/>
              </a:rPr>
              <a:t>OpenBCI Cyton</a:t>
            </a:r>
            <a:endParaRPr lang="en-US" sz="1100" b="0" i="0" u="none" strike="noStrike" kern="1200" cap="none" spc="0" baseline="0">
              <a:solidFill>
                <a:srgbClr val="000000"/>
              </a:solidFill>
              <a:uFillTx/>
              <a:latin typeface="Calibri"/>
            </a:endParaRPr>
          </a:p>
        </p:txBody>
      </p:sp>
      <p:sp>
        <p:nvSpPr>
          <p:cNvPr id="43" name="Text 41"/>
          <p:cNvSpPr/>
          <p:nvPr/>
        </p:nvSpPr>
        <p:spPr>
          <a:xfrm>
            <a:off x="3666744" y="4462272"/>
            <a:ext cx="822960"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111931"/>
                </a:solidFill>
                <a:uFillTx/>
                <a:latin typeface="Calibri" pitchFamily="34"/>
                <a:ea typeface="Calibri" pitchFamily="34"/>
                <a:cs typeface="Calibri" pitchFamily="34"/>
              </a:rPr>
              <a:t>8–16 </a:t>
            </a:r>
            <a:r>
              <a:rPr lang="en-US" sz="1100" b="0" i="0" u="none" strike="noStrike" kern="1200" cap="none" spc="0" baseline="0" dirty="0" err="1">
                <a:solidFill>
                  <a:srgbClr val="111931"/>
                </a:solidFill>
                <a:uFillTx/>
                <a:latin typeface="Calibri" pitchFamily="34"/>
                <a:ea typeface="Calibri" pitchFamily="34"/>
                <a:cs typeface="Calibri" pitchFamily="34"/>
              </a:rPr>
              <a:t>kan.</a:t>
            </a:r>
            <a:endParaRPr lang="en-US" sz="1100" b="0" i="0" u="none" strike="noStrike" kern="1200" cap="none" spc="0" baseline="0" dirty="0">
              <a:solidFill>
                <a:srgbClr val="111931"/>
              </a:solidFill>
              <a:uFillTx/>
              <a:latin typeface="Calibri"/>
            </a:endParaRPr>
          </a:p>
        </p:txBody>
      </p:sp>
      <p:sp>
        <p:nvSpPr>
          <p:cNvPr id="44" name="Text 42"/>
          <p:cNvSpPr/>
          <p:nvPr/>
        </p:nvSpPr>
        <p:spPr>
          <a:xfrm>
            <a:off x="448056" y="4681727"/>
            <a:ext cx="4059936" cy="16459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Badawczy, open-source. Python/Android API. Najlepsza jakość. $1000+.</a:t>
            </a:r>
            <a:endParaRPr lang="en-US" sz="1000" b="0" i="0" u="none" strike="noStrike" kern="1200" cap="none" spc="0" baseline="0">
              <a:solidFill>
                <a:srgbClr val="111931"/>
              </a:solidFill>
              <a:uFillTx/>
              <a:latin typeface="Calibri"/>
            </a:endParaRPr>
          </a:p>
        </p:txBody>
      </p:sp>
      <p:sp>
        <p:nvSpPr>
          <p:cNvPr id="45" name="Shape 43"/>
          <p:cNvSpPr/>
          <p:nvPr/>
        </p:nvSpPr>
        <p:spPr>
          <a:xfrm>
            <a:off x="4727448" y="4407407"/>
            <a:ext cx="4251959" cy="475488"/>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Shape 44"/>
          <p:cNvSpPr/>
          <p:nvPr/>
        </p:nvSpPr>
        <p:spPr>
          <a:xfrm>
            <a:off x="4727448" y="4407407"/>
            <a:ext cx="54864" cy="475488"/>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Text 45"/>
          <p:cNvSpPr/>
          <p:nvPr/>
        </p:nvSpPr>
        <p:spPr>
          <a:xfrm>
            <a:off x="4855464" y="4462272"/>
            <a:ext cx="128016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InteraXon Muse S</a:t>
            </a:r>
            <a:endParaRPr lang="en-US" sz="1100" b="0" i="0" u="none" strike="noStrike" kern="1200" cap="none" spc="0" baseline="0">
              <a:solidFill>
                <a:srgbClr val="000000"/>
              </a:solidFill>
              <a:uFillTx/>
              <a:latin typeface="Calibri"/>
            </a:endParaRPr>
          </a:p>
        </p:txBody>
      </p:sp>
      <p:sp>
        <p:nvSpPr>
          <p:cNvPr id="48" name="Text 46"/>
          <p:cNvSpPr/>
          <p:nvPr/>
        </p:nvSpPr>
        <p:spPr>
          <a:xfrm>
            <a:off x="8081772" y="4462272"/>
            <a:ext cx="822960"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111931"/>
                </a:solidFill>
                <a:uFillTx/>
                <a:latin typeface="Calibri" pitchFamily="34"/>
                <a:ea typeface="Calibri" pitchFamily="34"/>
                <a:cs typeface="Calibri" pitchFamily="34"/>
              </a:rPr>
              <a:t>4+1 ref.</a:t>
            </a:r>
            <a:endParaRPr lang="en-US" sz="1100" b="0" i="0" u="none" strike="noStrike" kern="1200" cap="none" spc="0" baseline="0" dirty="0">
              <a:solidFill>
                <a:srgbClr val="111931"/>
              </a:solidFill>
              <a:uFillTx/>
              <a:latin typeface="Calibri"/>
            </a:endParaRPr>
          </a:p>
        </p:txBody>
      </p:sp>
      <p:sp>
        <p:nvSpPr>
          <p:cNvPr id="49" name="Text 47"/>
          <p:cNvSpPr/>
          <p:nvPr/>
        </p:nvSpPr>
        <p:spPr>
          <a:xfrm>
            <a:off x="4855464" y="4681727"/>
            <a:ext cx="4059936" cy="16459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Sleep tracking EEG. Theta/Alpha biofeedback. Aplikacja mobilna.</a:t>
            </a:r>
            <a:endParaRPr lang="en-US" sz="1000" b="0" i="0" u="none" strike="noStrike" kern="1200" cap="none" spc="0" baseline="0">
              <a:solidFill>
                <a:srgbClr val="111931"/>
              </a:solidFill>
              <a:uFillTx/>
              <a:latin typeface="Calibri"/>
            </a:endParaRPr>
          </a:p>
        </p:txBody>
      </p:sp>
      <p:sp>
        <p:nvSpPr>
          <p:cNvPr id="54"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14</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9FF"/>
        </a:solidFill>
        <a:effectLst/>
      </p:bgPr>
    </p:bg>
    <p:spTree>
      <p:nvGrpSpPr>
        <p:cNvPr id="1" name=""/>
        <p:cNvGrpSpPr/>
        <p:nvPr/>
      </p:nvGrpSpPr>
      <p:grpSpPr>
        <a:xfrm>
          <a:off x="0" y="0"/>
          <a:ext cx="0" cy="0"/>
          <a:chOff x="0" y="0"/>
          <a:chExt cx="0" cy="0"/>
        </a:xfrm>
      </p:grpSpPr>
      <p:grpSp>
        <p:nvGrpSpPr>
          <p:cNvPr id="41" name="Grupa 40"/>
          <p:cNvGrpSpPr/>
          <p:nvPr/>
        </p:nvGrpSpPr>
        <p:grpSpPr>
          <a:xfrm>
            <a:off x="0" y="0"/>
            <a:ext cx="9144000" cy="558000"/>
            <a:chOff x="0" y="0"/>
            <a:chExt cx="9144000" cy="558000"/>
          </a:xfrm>
        </p:grpSpPr>
        <p:sp>
          <p:nvSpPr>
            <p:cNvPr id="42"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Fuzja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ultimodalna</a:t>
            </a:r>
            <a:r>
              <a:rPr lang="pl-PL" sz="2000" b="1" dirty="0" smtClean="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ł</a:t>
            </a:r>
            <a:r>
              <a:rPr lang="en-US" sz="2000" b="1" i="0" u="none" strike="noStrike" kern="1200" cap="none" spc="0" baseline="0" dirty="0" err="1" smtClean="0">
                <a:solidFill>
                  <a:srgbClr val="FFFFFF"/>
                </a:solidFill>
                <a:uFillTx/>
                <a:latin typeface="Cambria" pitchFamily="34"/>
                <a:ea typeface="Cambria" pitchFamily="34"/>
                <a:cs typeface="Cambria" pitchFamily="34"/>
              </a:rPr>
              <a:t>ączenie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w</a:t>
            </a:r>
            <a:r>
              <a:rPr lang="en-US" sz="2000" b="1" i="0" u="none" strike="noStrike" kern="1200" cap="none" spc="0" baseline="0" dirty="0" err="1" smtClean="0">
                <a:solidFill>
                  <a:srgbClr val="FFFFFF"/>
                </a:solidFill>
                <a:uFillTx/>
                <a:latin typeface="Cambria" pitchFamily="34"/>
                <a:ea typeface="Cambria" pitchFamily="34"/>
                <a:cs typeface="Cambria" pitchFamily="34"/>
              </a:rPr>
              <a:t>ielu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k</a:t>
            </a:r>
            <a:r>
              <a:rPr lang="en-US" sz="2000" b="1" i="0" u="none" strike="noStrike" kern="1200" cap="none" spc="0" baseline="0" dirty="0" err="1" smtClean="0">
                <a:solidFill>
                  <a:srgbClr val="FFFFFF"/>
                </a:solidFill>
                <a:uFillTx/>
                <a:latin typeface="Cambria" pitchFamily="34"/>
                <a:ea typeface="Cambria" pitchFamily="34"/>
                <a:cs typeface="Cambria" pitchFamily="34"/>
              </a:rPr>
              <a:t>anałów</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fektywnych</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4701540" y="749807"/>
            <a:ext cx="3992880" cy="110489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Żaden</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pojedynczy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kanał</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nie</a:t>
            </a:r>
            <a:r>
              <a:rPr lang="en-US" sz="1600" b="0" i="0" u="none" strike="noStrike" kern="1200" cap="none" spc="0" baseline="0" dirty="0">
                <a:solidFill>
                  <a:srgbClr val="111931"/>
                </a:solidFill>
                <a:uFillTx/>
                <a:latin typeface="Calibri" pitchFamily="34"/>
                <a:ea typeface="Calibri" pitchFamily="34"/>
                <a:cs typeface="Calibri" pitchFamily="34"/>
              </a:rPr>
              <a:t> jest </a:t>
            </a:r>
            <a:r>
              <a:rPr lang="en-US" sz="1600" b="0" i="0" u="none" strike="noStrike" kern="1200" cap="none" spc="0" baseline="0" dirty="0" err="1" smtClean="0">
                <a:solidFill>
                  <a:srgbClr val="111931"/>
                </a:solidFill>
                <a:uFillTx/>
                <a:latin typeface="Calibri" pitchFamily="34"/>
                <a:ea typeface="Calibri" pitchFamily="34"/>
                <a:cs typeface="Calibri" pitchFamily="34"/>
              </a:rPr>
              <a:t>wystarczający</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dirty="0" err="1" smtClean="0">
                <a:solidFill>
                  <a:srgbClr val="111931"/>
                </a:solidFill>
                <a:latin typeface="Calibri" pitchFamily="34"/>
                <a:ea typeface="Calibri" pitchFamily="34"/>
                <a:cs typeface="Calibri" pitchFamily="34"/>
              </a:rPr>
              <a:t>F</a:t>
            </a:r>
            <a:r>
              <a:rPr lang="en-US" sz="1600" b="0" i="0" u="none" strike="noStrike" kern="1200" cap="none" spc="0" baseline="0" dirty="0" err="1" smtClean="0">
                <a:solidFill>
                  <a:srgbClr val="111931"/>
                </a:solidFill>
                <a:uFillTx/>
                <a:latin typeface="Calibri" pitchFamily="34"/>
                <a:ea typeface="Calibri" pitchFamily="34"/>
                <a:cs typeface="Calibri" pitchFamily="34"/>
              </a:rPr>
              <a:t>uzja</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twarzy</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głosu</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tekstu</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fizjologii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znacząco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poprawia</a:t>
            </a:r>
            <a:r>
              <a:rPr lang="en-US" sz="1600" b="0" i="0" u="none" strike="noStrike" kern="1200" cap="none" spc="0" baseline="0" dirty="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precyzję</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
            </a:r>
            <a:br>
              <a:rPr lang="pl-PL" sz="1600" b="0" i="0" u="none" strike="noStrike" kern="1200" cap="none" spc="0" baseline="0" dirty="0" smtClean="0">
                <a:solidFill>
                  <a:srgbClr val="111931"/>
                </a:solidFill>
                <a:uFillTx/>
                <a:latin typeface="Calibri" pitchFamily="34"/>
                <a:ea typeface="Calibri" pitchFamily="34"/>
                <a:cs typeface="Calibri" pitchFamily="34"/>
              </a:rPr>
            </a:br>
            <a:r>
              <a:rPr lang="en-US" sz="1600" b="0" i="0" u="none" strike="noStrike" kern="1200" cap="none" spc="0" baseline="0" dirty="0" err="1" smtClean="0">
                <a:solidFill>
                  <a:srgbClr val="111931"/>
                </a:solidFill>
                <a:uFillTx/>
                <a:latin typeface="Calibri" pitchFamily="34"/>
                <a:ea typeface="Calibri" pitchFamily="34"/>
                <a:cs typeface="Calibri" pitchFamily="34"/>
              </a:rPr>
              <a:t>i</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odporność</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zakłócenia</a:t>
            </a:r>
            <a:endParaRPr lang="en-US" sz="1600" b="0" i="0" u="none" strike="noStrike" kern="1200" cap="none" spc="0" baseline="0" dirty="0">
              <a:solidFill>
                <a:srgbClr val="111931"/>
              </a:solidFill>
              <a:uFillTx/>
              <a:latin typeface="Calibri"/>
            </a:endParaRPr>
          </a:p>
        </p:txBody>
      </p:sp>
      <p:sp>
        <p:nvSpPr>
          <p:cNvPr id="8" name="Text 6"/>
          <p:cNvSpPr/>
          <p:nvPr/>
        </p:nvSpPr>
        <p:spPr>
          <a:xfrm>
            <a:off x="320040" y="963169"/>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Strategie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fuzji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smtClean="0">
                <a:solidFill>
                  <a:srgbClr val="1F1535"/>
                </a:solidFill>
                <a:uFillTx/>
                <a:latin typeface="Cambria" pitchFamily="34"/>
                <a:ea typeface="Cambria" pitchFamily="34"/>
                <a:cs typeface="Cambria" pitchFamily="34"/>
              </a:rPr>
              <a:t>multimodalnej</a:t>
            </a:r>
            <a:endParaRPr lang="en-US" sz="1100" b="0" i="0" u="none" strike="noStrike" kern="1200" cap="none" spc="0" baseline="0" dirty="0">
              <a:solidFill>
                <a:srgbClr val="000000"/>
              </a:solidFill>
              <a:uFillTx/>
              <a:latin typeface="Calibri"/>
            </a:endParaRPr>
          </a:p>
        </p:txBody>
      </p:sp>
      <p:grpSp>
        <p:nvGrpSpPr>
          <p:cNvPr id="48" name="Grupa 47"/>
          <p:cNvGrpSpPr/>
          <p:nvPr/>
        </p:nvGrpSpPr>
        <p:grpSpPr>
          <a:xfrm>
            <a:off x="320040" y="1194816"/>
            <a:ext cx="4160520" cy="624192"/>
            <a:chOff x="320040" y="1423416"/>
            <a:chExt cx="4160520" cy="624192"/>
          </a:xfrm>
        </p:grpSpPr>
        <p:sp>
          <p:nvSpPr>
            <p:cNvPr id="9" name="Shape 7"/>
            <p:cNvSpPr/>
            <p:nvPr/>
          </p:nvSpPr>
          <p:spPr>
            <a:xfrm>
              <a:off x="320040" y="1435608"/>
              <a:ext cx="4160520" cy="612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435608"/>
              <a:ext cx="54864" cy="612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38912" y="1438656"/>
              <a:ext cx="320040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Early Fusion (Feature Fusion)</a:t>
              </a:r>
              <a:endParaRPr lang="en-US" sz="1100" b="0" i="0" u="none" strike="noStrike" kern="1200" cap="none" spc="0" baseline="0" dirty="0">
                <a:solidFill>
                  <a:srgbClr val="000000"/>
                </a:solidFill>
                <a:uFillTx/>
                <a:latin typeface="Calibri"/>
              </a:endParaRPr>
            </a:p>
          </p:txBody>
        </p:sp>
        <p:sp>
          <p:nvSpPr>
            <p:cNvPr id="12" name="Text 10"/>
            <p:cNvSpPr/>
            <p:nvPr/>
          </p:nvSpPr>
          <p:spPr>
            <a:xfrm>
              <a:off x="3337560" y="1423416"/>
              <a:ext cx="1069847"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7C3AED"/>
                  </a:solidFill>
                  <a:uFillTx/>
                  <a:latin typeface="Cambria" pitchFamily="34"/>
                  <a:ea typeface="Cambria" pitchFamily="34"/>
                  <a:cs typeface="Cambria" pitchFamily="34"/>
                </a:rPr>
                <a:t>+</a:t>
              </a:r>
              <a:r>
                <a:rPr lang="en-US" sz="1100" b="1" i="0" u="none" strike="noStrike" kern="1200" cap="none" spc="0" baseline="0" dirty="0" err="1">
                  <a:solidFill>
                    <a:srgbClr val="7C3AED"/>
                  </a:solidFill>
                  <a:uFillTx/>
                  <a:latin typeface="Cambria" pitchFamily="34"/>
                  <a:ea typeface="Cambria" pitchFamily="34"/>
                  <a:cs typeface="Cambria" pitchFamily="34"/>
                </a:rPr>
                <a:t>acc</a:t>
              </a:r>
              <a:r>
                <a:rPr lang="en-US" sz="1100" b="1" i="0" u="none" strike="noStrike" kern="1200" cap="none" spc="0" baseline="0" dirty="0">
                  <a:solidFill>
                    <a:srgbClr val="7C3AED"/>
                  </a:solidFill>
                  <a:uFillTx/>
                  <a:latin typeface="Cambria" pitchFamily="34"/>
                  <a:ea typeface="Cambria" pitchFamily="34"/>
                  <a:cs typeface="Cambria" pitchFamily="34"/>
                </a:rPr>
                <a:t>: +5–8%</a:t>
              </a:r>
              <a:endParaRPr lang="en-US" sz="1100" b="0" i="0" u="none" strike="noStrike" kern="1200" cap="none" spc="0" baseline="0" dirty="0">
                <a:solidFill>
                  <a:srgbClr val="000000"/>
                </a:solidFill>
                <a:uFillTx/>
                <a:latin typeface="Calibri"/>
              </a:endParaRPr>
            </a:p>
          </p:txBody>
        </p:sp>
        <p:sp>
          <p:nvSpPr>
            <p:cNvPr id="13" name="Text 11"/>
            <p:cNvSpPr/>
            <p:nvPr/>
          </p:nvSpPr>
          <p:spPr>
            <a:xfrm>
              <a:off x="438912" y="1693164"/>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Konkatenacja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wektorów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cech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wszystkich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modalności</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jeden</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klasyfikator</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Prosto</a:t>
              </a:r>
              <a:r>
                <a:rPr lang="en-US" sz="1000" b="0" i="0" u="none" strike="noStrike" kern="1200" cap="none" spc="0" baseline="0" dirty="0">
                  <a:solidFill>
                    <a:srgbClr val="111931"/>
                  </a:solidFill>
                  <a:uFillTx/>
                  <a:latin typeface="Calibri" pitchFamily="34"/>
                  <a:ea typeface="Calibri" pitchFamily="34"/>
                  <a:cs typeface="Calibri" pitchFamily="34"/>
                </a:rPr>
                <a:t>, ale </a:t>
              </a:r>
              <a:r>
                <a:rPr lang="en-US" sz="1000" b="0" i="0" u="none" strike="noStrike" kern="1200" cap="none" spc="0" baseline="0" dirty="0" err="1">
                  <a:solidFill>
                    <a:srgbClr val="111931"/>
                  </a:solidFill>
                  <a:uFillTx/>
                  <a:latin typeface="Calibri" pitchFamily="34"/>
                  <a:ea typeface="Calibri" pitchFamily="34"/>
                  <a:cs typeface="Calibri" pitchFamily="34"/>
                </a:rPr>
                <a:t>wymaga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synchronizacji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czasowej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dostępu</a:t>
              </a:r>
              <a:r>
                <a:rPr lang="en-US" sz="1000" b="0" i="0" u="none" strike="noStrike" kern="1200" cap="none" spc="0" baseline="0" dirty="0">
                  <a:solidFill>
                    <a:srgbClr val="111931"/>
                  </a:solidFill>
                  <a:uFillTx/>
                  <a:latin typeface="Calibri" pitchFamily="34"/>
                  <a:ea typeface="Calibri" pitchFamily="34"/>
                  <a:cs typeface="Calibri" pitchFamily="34"/>
                </a:rPr>
                <a:t> do </a:t>
              </a:r>
              <a:r>
                <a:rPr lang="en-US" sz="1000" b="0" i="0" u="none" strike="noStrike" kern="1200" cap="none" spc="0" baseline="0" dirty="0" err="1">
                  <a:solidFill>
                    <a:srgbClr val="111931"/>
                  </a:solidFill>
                  <a:uFillTx/>
                  <a:latin typeface="Calibri" pitchFamily="34"/>
                  <a:ea typeface="Calibri" pitchFamily="34"/>
                  <a:cs typeface="Calibri" pitchFamily="34"/>
                </a:rPr>
                <a:t>wszystkich</a:t>
              </a:r>
              <a:r>
                <a:rPr lang="en-US" sz="1000" b="0" i="0" u="none" strike="noStrike" kern="1200" cap="none" spc="0" baseline="0" dirty="0">
                  <a:solidFill>
                    <a:srgbClr val="111931"/>
                  </a:solidFill>
                  <a:uFillTx/>
                  <a:latin typeface="Calibri" pitchFamily="34"/>
                  <a:ea typeface="Calibri" pitchFamily="34"/>
                  <a:cs typeface="Calibri" pitchFamily="34"/>
                </a:rPr>
                <a:t> modalities </a:t>
              </a:r>
              <a:r>
                <a:rPr lang="en-US" sz="1000" b="0" i="0" u="none" strike="noStrike" kern="1200" cap="none" spc="0" baseline="0" dirty="0" err="1">
                  <a:solidFill>
                    <a:srgbClr val="111931"/>
                  </a:solidFill>
                  <a:uFillTx/>
                  <a:latin typeface="Calibri" pitchFamily="34"/>
                  <a:ea typeface="Calibri" pitchFamily="34"/>
                  <a:cs typeface="Calibri" pitchFamily="34"/>
                </a:rPr>
                <a:t>jednocześnie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7" name="Grupa 46"/>
          <p:cNvGrpSpPr/>
          <p:nvPr/>
        </p:nvGrpSpPr>
        <p:grpSpPr>
          <a:xfrm>
            <a:off x="304800" y="1839467"/>
            <a:ext cx="4160520" cy="639433"/>
            <a:chOff x="320040" y="2167127"/>
            <a:chExt cx="4160520" cy="639433"/>
          </a:xfrm>
        </p:grpSpPr>
        <p:sp>
          <p:nvSpPr>
            <p:cNvPr id="14" name="Shape 12"/>
            <p:cNvSpPr/>
            <p:nvPr/>
          </p:nvSpPr>
          <p:spPr>
            <a:xfrm>
              <a:off x="320040" y="2194560"/>
              <a:ext cx="4160520" cy="612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Shape 13"/>
            <p:cNvSpPr/>
            <p:nvPr/>
          </p:nvSpPr>
          <p:spPr>
            <a:xfrm>
              <a:off x="320040" y="2186940"/>
              <a:ext cx="54864" cy="612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438912" y="2189987"/>
              <a:ext cx="320040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Late Fusion (Decision Fusion)</a:t>
              </a:r>
              <a:endParaRPr lang="en-US" sz="1100" b="0" i="0" u="none" strike="noStrike" kern="1200" cap="none" spc="0" baseline="0" dirty="0">
                <a:solidFill>
                  <a:srgbClr val="000000"/>
                </a:solidFill>
                <a:uFillTx/>
                <a:latin typeface="Calibri"/>
              </a:endParaRPr>
            </a:p>
          </p:txBody>
        </p:sp>
        <p:sp>
          <p:nvSpPr>
            <p:cNvPr id="17" name="Text 15"/>
            <p:cNvSpPr/>
            <p:nvPr/>
          </p:nvSpPr>
          <p:spPr>
            <a:xfrm>
              <a:off x="3337560" y="2167127"/>
              <a:ext cx="1069847"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11D48"/>
                  </a:solidFill>
                  <a:uFillTx/>
                  <a:latin typeface="Cambria" pitchFamily="34"/>
                  <a:ea typeface="Cambria" pitchFamily="34"/>
                  <a:cs typeface="Cambria" pitchFamily="34"/>
                </a:rPr>
                <a:t>+acc: +8–12%</a:t>
              </a:r>
              <a:endParaRPr lang="en-US" sz="1100" b="0" i="0" u="none" strike="noStrike" kern="1200" cap="none" spc="0" baseline="0">
                <a:solidFill>
                  <a:srgbClr val="000000"/>
                </a:solidFill>
                <a:uFillTx/>
                <a:latin typeface="Calibri"/>
              </a:endParaRPr>
            </a:p>
          </p:txBody>
        </p:sp>
        <p:sp>
          <p:nvSpPr>
            <p:cNvPr id="18" name="Text 16"/>
            <p:cNvSpPr/>
            <p:nvPr/>
          </p:nvSpPr>
          <p:spPr>
            <a:xfrm>
              <a:off x="438912" y="2444496"/>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Każda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modalność</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własny</a:t>
              </a:r>
              <a:r>
                <a:rPr lang="en-US" sz="1000" b="0" i="0" u="none" strike="noStrike" kern="1200" cap="none" spc="0" baseline="0" dirty="0">
                  <a:solidFill>
                    <a:srgbClr val="111931"/>
                  </a:solidFill>
                  <a:uFillTx/>
                  <a:latin typeface="Calibri" pitchFamily="34"/>
                  <a:ea typeface="Calibri" pitchFamily="34"/>
                  <a:cs typeface="Calibri" pitchFamily="34"/>
                </a:rPr>
                <a:t> model → </a:t>
              </a:r>
              <a:r>
                <a:rPr lang="en-US" sz="1000" b="0" i="0" u="none" strike="noStrike" kern="1200" cap="none" spc="0" baseline="0" dirty="0" err="1">
                  <a:solidFill>
                    <a:srgbClr val="111931"/>
                  </a:solidFill>
                  <a:uFillTx/>
                  <a:latin typeface="Calibri" pitchFamily="34"/>
                  <a:ea typeface="Calibri" pitchFamily="34"/>
                  <a:cs typeface="Calibri" pitchFamily="34"/>
                </a:rPr>
                <a:t>probabilistyczne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połączenie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wyników</a:t>
              </a:r>
              <a:r>
                <a:rPr lang="en-US" sz="1000" b="0" i="0" u="none" strike="noStrike" kern="1200" cap="none" spc="0" baseline="0" dirty="0">
                  <a:solidFill>
                    <a:srgbClr val="111931"/>
                  </a:solidFill>
                  <a:uFillTx/>
                  <a:latin typeface="Calibri" pitchFamily="34"/>
                  <a:ea typeface="Calibri" pitchFamily="34"/>
                  <a:cs typeface="Calibri" pitchFamily="34"/>
                </a:rPr>
                <a:t> (weighted average, voting, SVM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scores). </a:t>
              </a:r>
              <a:r>
                <a:rPr lang="en-US" sz="1000" b="0" i="0" u="none" strike="noStrike" kern="1200" cap="none" spc="0" baseline="0" dirty="0" err="1">
                  <a:solidFill>
                    <a:srgbClr val="111931"/>
                  </a:solidFill>
                  <a:uFillTx/>
                  <a:latin typeface="Calibri" pitchFamily="34"/>
                  <a:ea typeface="Calibri" pitchFamily="34"/>
                  <a:cs typeface="Calibri" pitchFamily="34"/>
                </a:rPr>
                <a:t>Elastyczne</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działa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modalność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niedostępna</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6" name="Grupa 45"/>
          <p:cNvGrpSpPr/>
          <p:nvPr/>
        </p:nvGrpSpPr>
        <p:grpSpPr>
          <a:xfrm>
            <a:off x="304800" y="2511552"/>
            <a:ext cx="4160520" cy="576000"/>
            <a:chOff x="320040" y="2877312"/>
            <a:chExt cx="4160520" cy="576000"/>
          </a:xfrm>
        </p:grpSpPr>
        <p:sp>
          <p:nvSpPr>
            <p:cNvPr id="19" name="Shape 17"/>
            <p:cNvSpPr/>
            <p:nvPr/>
          </p:nvSpPr>
          <p:spPr>
            <a:xfrm>
              <a:off x="320040" y="2877312"/>
              <a:ext cx="4160520" cy="57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Shape 18"/>
            <p:cNvSpPr/>
            <p:nvPr/>
          </p:nvSpPr>
          <p:spPr>
            <a:xfrm>
              <a:off x="320040" y="2877312"/>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Text 19"/>
            <p:cNvSpPr/>
            <p:nvPr/>
          </p:nvSpPr>
          <p:spPr>
            <a:xfrm>
              <a:off x="438912" y="2880360"/>
              <a:ext cx="320040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Hybrid Fusion</a:t>
              </a:r>
              <a:endParaRPr lang="en-US" sz="1100" b="0" i="0" u="none" strike="noStrike" kern="1200" cap="none" spc="0" baseline="0" dirty="0">
                <a:solidFill>
                  <a:srgbClr val="000000"/>
                </a:solidFill>
                <a:uFillTx/>
                <a:latin typeface="Calibri"/>
              </a:endParaRPr>
            </a:p>
          </p:txBody>
        </p:sp>
        <p:sp>
          <p:nvSpPr>
            <p:cNvPr id="22" name="Text 20"/>
            <p:cNvSpPr/>
            <p:nvPr/>
          </p:nvSpPr>
          <p:spPr>
            <a:xfrm>
              <a:off x="3337560" y="2880360"/>
              <a:ext cx="1069847"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+acc: +12–18%</a:t>
              </a:r>
              <a:endParaRPr lang="en-US" sz="1100" b="0" i="0" u="none" strike="noStrike" kern="1200" cap="none" spc="0" baseline="0">
                <a:solidFill>
                  <a:srgbClr val="000000"/>
                </a:solidFill>
                <a:uFillTx/>
                <a:latin typeface="Calibri"/>
              </a:endParaRPr>
            </a:p>
          </p:txBody>
        </p:sp>
        <p:sp>
          <p:nvSpPr>
            <p:cNvPr id="23" name="Text 21"/>
            <p:cNvSpPr/>
            <p:nvPr/>
          </p:nvSpPr>
          <p:spPr>
            <a:xfrm>
              <a:off x="438912" y="3112008"/>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Early fusion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modalności</a:t>
              </a:r>
              <a:r>
                <a:rPr lang="en-US" sz="1000" b="0" i="0" u="none" strike="noStrike" kern="1200" cap="none" spc="0" baseline="0" dirty="0">
                  <a:solidFill>
                    <a:srgbClr val="111931"/>
                  </a:solidFill>
                  <a:uFillTx/>
                  <a:latin typeface="Calibri" pitchFamily="34"/>
                  <a:ea typeface="Calibri" pitchFamily="34"/>
                  <a:cs typeface="Calibri" pitchFamily="34"/>
                </a:rPr>
                <a:t> o </a:t>
              </a:r>
              <a:r>
                <a:rPr lang="en-US" sz="1000" b="0" i="0" u="none" strike="noStrike" kern="1200" cap="none" spc="0" baseline="0" dirty="0" err="1">
                  <a:solidFill>
                    <a:srgbClr val="111931"/>
                  </a:solidFill>
                  <a:uFillTx/>
                  <a:latin typeface="Calibri" pitchFamily="34"/>
                  <a:ea typeface="Calibri" pitchFamily="34"/>
                  <a:cs typeface="Calibri" pitchFamily="34"/>
                </a:rPr>
                <a:t>podobnej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częstotliwości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face+body</a:t>
              </a:r>
              <a:r>
                <a:rPr lang="en-US" sz="1000" b="0" i="0" u="none" strike="noStrike" kern="1200" cap="none" spc="0" baseline="0" dirty="0">
                  <a:solidFill>
                    <a:srgbClr val="111931"/>
                  </a:solidFill>
                  <a:uFillTx/>
                  <a:latin typeface="Calibri" pitchFamily="34"/>
                  <a:ea typeface="Calibri" pitchFamily="34"/>
                  <a:cs typeface="Calibri" pitchFamily="34"/>
                </a:rPr>
                <a:t>), late fusion z </a:t>
              </a:r>
              <a:r>
                <a:rPr lang="en-US" sz="1000" b="0" i="0" u="none" strike="noStrike" kern="1200" cap="none" spc="0" baseline="0" dirty="0" err="1">
                  <a:solidFill>
                    <a:srgbClr val="111931"/>
                  </a:solidFill>
                  <a:uFillTx/>
                  <a:latin typeface="Calibri" pitchFamily="34"/>
                  <a:ea typeface="Calibri" pitchFamily="34"/>
                  <a:cs typeface="Calibri" pitchFamily="34"/>
                </a:rPr>
                <a:t>fizjologią</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niskiej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częstotliwości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Najlepsza</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praktyce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5" name="Grupa 44"/>
          <p:cNvGrpSpPr/>
          <p:nvPr/>
        </p:nvGrpSpPr>
        <p:grpSpPr>
          <a:xfrm>
            <a:off x="297180" y="3140964"/>
            <a:ext cx="4160520" cy="576000"/>
            <a:chOff x="320040" y="3590544"/>
            <a:chExt cx="4160520" cy="576000"/>
          </a:xfrm>
        </p:grpSpPr>
        <p:sp>
          <p:nvSpPr>
            <p:cNvPr id="24" name="Shape 22"/>
            <p:cNvSpPr/>
            <p:nvPr/>
          </p:nvSpPr>
          <p:spPr>
            <a:xfrm>
              <a:off x="320040" y="3590544"/>
              <a:ext cx="4160520" cy="57600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Shape 23"/>
            <p:cNvSpPr/>
            <p:nvPr/>
          </p:nvSpPr>
          <p:spPr>
            <a:xfrm>
              <a:off x="320040" y="3590544"/>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438912" y="3608831"/>
              <a:ext cx="320040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Attention-based Fusion (Transformer)</a:t>
              </a:r>
              <a:endParaRPr lang="en-US" sz="1100" b="0" i="0" u="none" strike="noStrike" kern="1200" cap="none" spc="0" baseline="0" dirty="0">
                <a:solidFill>
                  <a:srgbClr val="000000"/>
                </a:solidFill>
                <a:uFillTx/>
                <a:latin typeface="Calibri"/>
              </a:endParaRPr>
            </a:p>
          </p:txBody>
        </p:sp>
        <p:sp>
          <p:nvSpPr>
            <p:cNvPr id="27" name="Text 25"/>
            <p:cNvSpPr/>
            <p:nvPr/>
          </p:nvSpPr>
          <p:spPr>
            <a:xfrm>
              <a:off x="3337560" y="3593591"/>
              <a:ext cx="1069847" cy="219456"/>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0891B2"/>
                  </a:solidFill>
                  <a:uFillTx/>
                  <a:latin typeface="Cambria" pitchFamily="34"/>
                  <a:ea typeface="Cambria" pitchFamily="34"/>
                  <a:cs typeface="Cambria" pitchFamily="34"/>
                </a:rPr>
                <a:t>+</a:t>
              </a:r>
              <a:r>
                <a:rPr lang="en-US" sz="1100" b="1" i="0" u="none" strike="noStrike" kern="1200" cap="none" spc="0" baseline="0" dirty="0" err="1">
                  <a:solidFill>
                    <a:srgbClr val="0891B2"/>
                  </a:solidFill>
                  <a:uFillTx/>
                  <a:latin typeface="Cambria" pitchFamily="34"/>
                  <a:ea typeface="Cambria" pitchFamily="34"/>
                  <a:cs typeface="Cambria" pitchFamily="34"/>
                </a:rPr>
                <a:t>acc</a:t>
              </a:r>
              <a:r>
                <a:rPr lang="en-US" sz="1100" b="1" i="0" u="none" strike="noStrike" kern="1200" cap="none" spc="0" baseline="0" dirty="0">
                  <a:solidFill>
                    <a:srgbClr val="0891B2"/>
                  </a:solidFill>
                  <a:uFillTx/>
                  <a:latin typeface="Cambria" pitchFamily="34"/>
                  <a:ea typeface="Cambria" pitchFamily="34"/>
                  <a:cs typeface="Cambria" pitchFamily="34"/>
                </a:rPr>
                <a:t>: +15–22%</a:t>
              </a:r>
              <a:endParaRPr lang="en-US" sz="1100" b="0" i="0" u="none" strike="noStrike" kern="1200" cap="none" spc="0" baseline="0" dirty="0">
                <a:solidFill>
                  <a:srgbClr val="000000"/>
                </a:solidFill>
                <a:uFillTx/>
                <a:latin typeface="Calibri"/>
              </a:endParaRPr>
            </a:p>
          </p:txBody>
        </p:sp>
        <p:sp>
          <p:nvSpPr>
            <p:cNvPr id="28" name="Text 26"/>
            <p:cNvSpPr/>
            <p:nvPr/>
          </p:nvSpPr>
          <p:spPr>
            <a:xfrm>
              <a:off x="438912" y="3840480"/>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Cross-modal </a:t>
              </a:r>
              <a:r>
                <a:rPr lang="en-US" sz="1000" b="0" i="0" u="none" strike="noStrike" kern="1200" cap="none" spc="0" baseline="0" dirty="0" smtClean="0">
                  <a:solidFill>
                    <a:srgbClr val="111931"/>
                  </a:solidFill>
                  <a:uFillTx/>
                  <a:latin typeface="Calibri" pitchFamily="34"/>
                  <a:ea typeface="Calibri" pitchFamily="34"/>
                  <a:cs typeface="Calibri" pitchFamily="34"/>
                </a:rPr>
                <a:t>attention</a:t>
              </a:r>
              <a:r>
                <a:rPr lang="pl-PL" sz="1000" b="0" i="0" u="none" strike="noStrike" kern="1200" cap="none" spc="0" baseline="0" dirty="0" smtClean="0">
                  <a:solidFill>
                    <a:srgbClr val="111931"/>
                  </a:solidFill>
                  <a:uFillTx/>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model </a:t>
              </a:r>
              <a:r>
                <a:rPr lang="en-US" sz="1000" b="0" i="0" u="none" strike="noStrike" kern="1200" cap="none" spc="0" baseline="0" dirty="0" err="1">
                  <a:solidFill>
                    <a:srgbClr val="111931"/>
                  </a:solidFill>
                  <a:uFillTx/>
                  <a:latin typeface="Calibri" pitchFamily="34"/>
                  <a:ea typeface="Calibri" pitchFamily="34"/>
                  <a:cs typeface="Calibri" pitchFamily="34"/>
                </a:rPr>
                <a:t>uczy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które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modalności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ważniejsze</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
              </a:r>
              <a:br>
                <a:rPr lang="pl-PL" sz="1000" b="0" i="0" u="none" strike="noStrike" kern="1200" cap="none" spc="0" baseline="0" dirty="0" smtClean="0">
                  <a:solidFill>
                    <a:srgbClr val="111931"/>
                  </a:solidFill>
                  <a:uFillTx/>
                  <a:latin typeface="Calibri" pitchFamily="34"/>
                  <a:ea typeface="Calibri" pitchFamily="34"/>
                  <a:cs typeface="Calibri" pitchFamily="34"/>
                </a:rPr>
              </a:br>
              <a:r>
                <a:rPr lang="en-US" sz="1000" b="0" i="0" u="none" strike="noStrike" kern="1200" cap="none" spc="0" baseline="0" dirty="0" smtClean="0">
                  <a:solidFill>
                    <a:srgbClr val="111931"/>
                  </a:solidFill>
                  <a:uFillTx/>
                  <a:latin typeface="Calibri" pitchFamily="34"/>
                  <a:ea typeface="Calibri" pitchFamily="34"/>
                  <a:cs typeface="Calibri" pitchFamily="34"/>
                </a:rPr>
                <a:t>w </a:t>
              </a:r>
              <a:r>
                <a:rPr lang="en-US" sz="1000" b="0" i="0" u="none" strike="noStrike" kern="1200" cap="none" spc="0" baseline="0" dirty="0" err="1">
                  <a:solidFill>
                    <a:srgbClr val="111931"/>
                  </a:solidFill>
                  <a:uFillTx/>
                  <a:latin typeface="Calibri" pitchFamily="34"/>
                  <a:ea typeface="Calibri" pitchFamily="34"/>
                  <a:cs typeface="Calibri" pitchFamily="34"/>
                </a:rPr>
                <a:t>danym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kontekście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MulT</a:t>
              </a:r>
              <a:r>
                <a:rPr lang="en-US" sz="1000" b="0" i="0" u="none" strike="noStrike" kern="1200" cap="none" spc="0" baseline="0" dirty="0">
                  <a:solidFill>
                    <a:srgbClr val="111931"/>
                  </a:solidFill>
                  <a:uFillTx/>
                  <a:latin typeface="Calibri" pitchFamily="34"/>
                  <a:ea typeface="Calibri" pitchFamily="34"/>
                  <a:cs typeface="Calibri" pitchFamily="34"/>
                </a:rPr>
                <a:t> (Multimodal Transformer): state-of-the-art.</a:t>
              </a:r>
              <a:endParaRPr lang="en-US" sz="1000" b="0" i="0" u="none" strike="noStrike" kern="1200" cap="none" spc="0" baseline="0" dirty="0">
                <a:solidFill>
                  <a:srgbClr val="111931"/>
                </a:solidFill>
                <a:uFillTx/>
                <a:latin typeface="Calibri"/>
              </a:endParaRPr>
            </a:p>
          </p:txBody>
        </p:sp>
      </p:grpSp>
      <p:sp>
        <p:nvSpPr>
          <p:cNvPr id="29" name="Text 27"/>
          <p:cNvSpPr/>
          <p:nvPr/>
        </p:nvSpPr>
        <p:spPr>
          <a:xfrm>
            <a:off x="4701540" y="2130843"/>
            <a:ext cx="41681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Synchronizacja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smtClean="0">
                <a:solidFill>
                  <a:srgbClr val="1F1535"/>
                </a:solidFill>
                <a:uFillTx/>
                <a:latin typeface="Cambria" pitchFamily="34"/>
                <a:ea typeface="Cambria" pitchFamily="34"/>
                <a:cs typeface="Cambria" pitchFamily="34"/>
              </a:rPr>
              <a:t>temporal</a:t>
            </a:r>
            <a:r>
              <a:rPr lang="pl-PL" sz="1100" b="1" i="0" u="none" strike="noStrike" kern="1200" cap="none" spc="0" baseline="0" dirty="0" smtClean="0">
                <a:solidFill>
                  <a:srgbClr val="1F1535"/>
                </a:solidFill>
                <a:uFillTx/>
                <a:latin typeface="Cambria" pitchFamily="34"/>
                <a:ea typeface="Cambria" pitchFamily="34"/>
                <a:cs typeface="Cambria" pitchFamily="34"/>
              </a:rPr>
              <a:t>na</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smtClean="0">
                <a:solidFill>
                  <a:srgbClr val="1F1535"/>
                </a:solidFill>
                <a:uFillTx/>
                <a:latin typeface="Cambria" pitchFamily="34"/>
                <a:ea typeface="Cambria" pitchFamily="34"/>
                <a:cs typeface="Cambria" pitchFamily="34"/>
              </a:rPr>
              <a:t>architektura</a:t>
            </a:r>
            <a:endParaRPr lang="en-US" sz="1100" b="0" i="0" u="none" strike="noStrike" kern="1200" cap="none" spc="0" baseline="0" dirty="0">
              <a:solidFill>
                <a:srgbClr val="000000"/>
              </a:solidFill>
              <a:uFillTx/>
              <a:latin typeface="Calibri"/>
            </a:endParaRPr>
          </a:p>
        </p:txBody>
      </p:sp>
      <p:sp>
        <p:nvSpPr>
          <p:cNvPr id="30" name="Shape 28"/>
          <p:cNvSpPr/>
          <p:nvPr/>
        </p:nvSpPr>
        <p:spPr>
          <a:xfrm>
            <a:off x="4701540" y="2389632"/>
            <a:ext cx="4168140" cy="2543481"/>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7882128" y="2424684"/>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32" name="Text 30"/>
          <p:cNvSpPr/>
          <p:nvPr/>
        </p:nvSpPr>
        <p:spPr>
          <a:xfrm>
            <a:off x="4773169" y="2449067"/>
            <a:ext cx="4023359" cy="243078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Late fusion — weighted decision fusion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data 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ModalityResult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 String,</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confidence: Float,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available: Boolean</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fuseEmotions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face: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ModalityResult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voice: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ModalityResult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text: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ModalityResult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eda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ModalityResult</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w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mapOf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("face"-&gt;0.35f,"voice"-&gt;0.30f,</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"text"-&gt;0.25f,"eda"-&gt;0.10f)</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avail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listOf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face,voice,text,eda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.zip(</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w.values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).filter { (m,_)-&gt;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m.available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totalW</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avail.sumOf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it.second.toDouble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scores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mutableMapOf</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String,Float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avail.forEach</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m,wt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scores[</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m.emotion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(scores[</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m.emotion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]?:0f)+</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m.confidence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totalW</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toFloat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return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EmotionResult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scores.maxBy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it.value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}.key)</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grpSp>
        <p:nvGrpSpPr>
          <p:cNvPr id="44" name="Grupa 43"/>
          <p:cNvGrpSpPr/>
          <p:nvPr/>
        </p:nvGrpSpPr>
        <p:grpSpPr>
          <a:xfrm>
            <a:off x="297180" y="3768636"/>
            <a:ext cx="4151376" cy="552192"/>
            <a:chOff x="4663440" y="3630168"/>
            <a:chExt cx="4151376" cy="552192"/>
          </a:xfrm>
        </p:grpSpPr>
        <p:sp>
          <p:nvSpPr>
            <p:cNvPr id="33" name="Shape 31"/>
            <p:cNvSpPr/>
            <p:nvPr/>
          </p:nvSpPr>
          <p:spPr>
            <a:xfrm>
              <a:off x="4663440" y="3642360"/>
              <a:ext cx="4151376"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4663440" y="3642360"/>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791456" y="363016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CMU-MOSI / CMU-MOSEI Datasets</a:t>
              </a:r>
              <a:endParaRPr lang="en-US" sz="1100" b="0" i="0" u="none" strike="noStrike" kern="1200" cap="none" spc="0" baseline="0" dirty="0">
                <a:solidFill>
                  <a:srgbClr val="000000"/>
                </a:solidFill>
                <a:uFillTx/>
                <a:latin typeface="Calibri"/>
              </a:endParaRPr>
            </a:p>
          </p:txBody>
        </p:sp>
        <p:sp>
          <p:nvSpPr>
            <p:cNvPr id="36" name="Text 34"/>
            <p:cNvSpPr/>
            <p:nvPr/>
          </p:nvSpPr>
          <p:spPr>
            <a:xfrm>
              <a:off x="4791456" y="3895344"/>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Benchmark </a:t>
              </a:r>
              <a:r>
                <a:rPr lang="en-US" sz="1000" b="0" i="0" u="none" strike="noStrike" kern="1200" cap="none" spc="0" baseline="0" dirty="0" err="1">
                  <a:solidFill>
                    <a:srgbClr val="111931"/>
                  </a:solidFill>
                  <a:uFillTx/>
                  <a:latin typeface="Calibri" pitchFamily="34"/>
                  <a:ea typeface="Calibri" pitchFamily="34"/>
                  <a:cs typeface="Calibri" pitchFamily="34"/>
                </a:rPr>
                <a:t>multimodalny</a:t>
              </a:r>
              <a:r>
                <a:rPr lang="en-US" sz="1000" b="0" i="0" u="none" strike="noStrike" kern="1200" cap="none" spc="0" baseline="0" dirty="0">
                  <a:solidFill>
                    <a:srgbClr val="111931"/>
                  </a:solidFill>
                  <a:uFillTx/>
                  <a:latin typeface="Calibri" pitchFamily="34"/>
                  <a:ea typeface="Calibri" pitchFamily="34"/>
                  <a:cs typeface="Calibri" pitchFamily="34"/>
                </a:rPr>
                <a:t>: 23 485 </a:t>
              </a:r>
              <a:r>
                <a:rPr lang="en-US" sz="1000" b="0" i="0" u="none" strike="noStrike" kern="1200" cap="none" spc="0" baseline="0" dirty="0" err="1">
                  <a:solidFill>
                    <a:srgbClr val="111931"/>
                  </a:solidFill>
                  <a:uFillTx/>
                  <a:latin typeface="Calibri" pitchFamily="34"/>
                  <a:ea typeface="Calibri" pitchFamily="34"/>
                  <a:cs typeface="Calibri" pitchFamily="34"/>
                </a:rPr>
                <a:t>klipów</a:t>
              </a:r>
              <a:r>
                <a:rPr lang="en-US" sz="1000" b="0" i="0" u="none" strike="noStrike" kern="1200" cap="none" spc="0" baseline="0" dirty="0">
                  <a:solidFill>
                    <a:srgbClr val="111931"/>
                  </a:solidFill>
                  <a:uFillTx/>
                  <a:latin typeface="Calibri" pitchFamily="34"/>
                  <a:ea typeface="Calibri" pitchFamily="34"/>
                  <a:cs typeface="Calibri" pitchFamily="34"/>
                </a:rPr>
                <a:t> z </a:t>
              </a:r>
              <a:r>
                <a:rPr lang="en-US" sz="1000" b="0" i="0" u="none" strike="noStrike" kern="1200" cap="none" spc="0" baseline="0" dirty="0" err="1">
                  <a:solidFill>
                    <a:srgbClr val="111931"/>
                  </a:solidFill>
                  <a:uFillTx/>
                  <a:latin typeface="Calibri" pitchFamily="34"/>
                  <a:ea typeface="Calibri" pitchFamily="34"/>
                  <a:cs typeface="Calibri" pitchFamily="34"/>
                </a:rPr>
                <a:t>audio+wideo+tekst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Adnotacje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sentyment</a:t>
              </a:r>
              <a:r>
                <a:rPr lang="en-US" sz="1000" b="0" i="0" u="none" strike="noStrike" kern="1200" cap="none" spc="0" baseline="0" dirty="0">
                  <a:solidFill>
                    <a:srgbClr val="111931"/>
                  </a:solidFill>
                  <a:uFillTx/>
                  <a:latin typeface="Calibri" pitchFamily="34"/>
                  <a:ea typeface="Calibri" pitchFamily="34"/>
                  <a:cs typeface="Calibri" pitchFamily="34"/>
                </a:rPr>
                <a:t> (-3..+3) + 7 </a:t>
              </a:r>
              <a:r>
                <a:rPr lang="en-US" sz="1000" b="0" i="0" u="none" strike="noStrike" kern="1200" cap="none" spc="0" baseline="0" dirty="0" err="1">
                  <a:solidFill>
                    <a:srgbClr val="111931"/>
                  </a:solidFill>
                  <a:uFillTx/>
                  <a:latin typeface="Calibri" pitchFamily="34"/>
                  <a:ea typeface="Calibri" pitchFamily="34"/>
                  <a:cs typeface="Calibri" pitchFamily="34"/>
                </a:rPr>
                <a:t>emocji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Ekmana</a:t>
              </a:r>
              <a:r>
                <a:rPr lang="en-US" sz="1000" b="0" i="0" u="none" strike="noStrike" kern="1200" cap="none" spc="0" baseline="0" dirty="0">
                  <a:solidFill>
                    <a:srgbClr val="111931"/>
                  </a:solidFill>
                  <a:uFillTx/>
                  <a:latin typeface="Calibri" pitchFamily="34"/>
                  <a:ea typeface="Calibri" pitchFamily="34"/>
                  <a:cs typeface="Calibri" pitchFamily="34"/>
                </a:rPr>
                <a:t>. Standard </a:t>
              </a:r>
              <a:r>
                <a:rPr lang="en-US" sz="1000" b="0" i="0" u="none" strike="noStrike" kern="1200" cap="none" spc="0" baseline="0" dirty="0" err="1">
                  <a:solidFill>
                    <a:srgbClr val="111931"/>
                  </a:solidFill>
                  <a:uFillTx/>
                  <a:latin typeface="Calibri" pitchFamily="34"/>
                  <a:ea typeface="Calibri" pitchFamily="34"/>
                  <a:cs typeface="Calibri" pitchFamily="34"/>
                </a:rPr>
                <a:t>oceny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modeli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fuzji</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9" name="Grupa 48"/>
          <p:cNvGrpSpPr/>
          <p:nvPr/>
        </p:nvGrpSpPr>
        <p:grpSpPr>
          <a:xfrm>
            <a:off x="304800" y="4365060"/>
            <a:ext cx="4151376" cy="576000"/>
            <a:chOff x="4663440" y="4277867"/>
            <a:chExt cx="4151376" cy="576000"/>
          </a:xfrm>
        </p:grpSpPr>
        <p:sp>
          <p:nvSpPr>
            <p:cNvPr id="37" name="Shape 35"/>
            <p:cNvSpPr/>
            <p:nvPr/>
          </p:nvSpPr>
          <p:spPr>
            <a:xfrm>
              <a:off x="4663440" y="4277867"/>
              <a:ext cx="4143756"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Shape 36"/>
            <p:cNvSpPr/>
            <p:nvPr/>
          </p:nvSpPr>
          <p:spPr>
            <a:xfrm>
              <a:off x="4663440" y="4277867"/>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Text 37"/>
            <p:cNvSpPr/>
            <p:nvPr/>
          </p:nvSpPr>
          <p:spPr>
            <a:xfrm>
              <a:off x="4791456" y="428853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Wyzwanie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brakujące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modalności</a:t>
              </a:r>
              <a:endParaRPr lang="en-US" sz="1100" b="0" i="0" u="none" strike="noStrike" kern="1200" cap="none" spc="0" baseline="0" dirty="0">
                <a:solidFill>
                  <a:srgbClr val="000000"/>
                </a:solidFill>
                <a:uFillTx/>
                <a:latin typeface="Calibri"/>
              </a:endParaRPr>
            </a:p>
          </p:txBody>
        </p:sp>
        <p:sp>
          <p:nvSpPr>
            <p:cNvPr id="40" name="Text 38"/>
            <p:cNvSpPr/>
            <p:nvPr/>
          </p:nvSpPr>
          <p:spPr>
            <a:xfrm>
              <a:off x="4791456" y="4561332"/>
              <a:ext cx="402336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Robustness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missing modality — </a:t>
              </a:r>
              <a:r>
                <a:rPr lang="en-US" sz="1000" b="0" i="0" u="none" strike="noStrike" kern="1200" cap="none" spc="0" baseline="0" dirty="0" err="1">
                  <a:solidFill>
                    <a:srgbClr val="111931"/>
                  </a:solidFill>
                  <a:uFillTx/>
                  <a:latin typeface="Calibri" pitchFamily="34"/>
                  <a:ea typeface="Calibri" pitchFamily="34"/>
                  <a:cs typeface="Calibri" pitchFamily="34"/>
                </a:rPr>
                <a:t>dropoutowe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treningiem</a:t>
              </a:r>
              <a:r>
                <a:rPr lang="en-US" sz="1000" b="0" i="0" u="none" strike="noStrike" kern="1200" cap="none" spc="0" baseline="0" dirty="0">
                  <a:solidFill>
                    <a:srgbClr val="111931"/>
                  </a:solidFill>
                  <a:uFillTx/>
                  <a:latin typeface="Calibri" pitchFamily="34"/>
                  <a:ea typeface="Calibri" pitchFamily="34"/>
                  <a:cs typeface="Calibri" pitchFamily="34"/>
                </a:rPr>
                <a:t> (35% </a:t>
              </a:r>
              <a:r>
                <a:rPr lang="en-US" sz="1000" b="0" i="0" u="none" strike="noStrike" kern="1200" cap="none" spc="0" baseline="0" dirty="0" err="1">
                  <a:solidFill>
                    <a:srgbClr val="111931"/>
                  </a:solidFill>
                  <a:uFillTx/>
                  <a:latin typeface="Calibri" pitchFamily="34"/>
                  <a:ea typeface="Calibri" pitchFamily="34"/>
                  <a:cs typeface="Calibri" pitchFamily="34"/>
                </a:rPr>
                <a:t>losowe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pominięcia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podczas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treningu</a:t>
              </a:r>
              <a:r>
                <a:rPr lang="en-US" sz="1000" b="0" i="0" u="none" strike="noStrike" kern="1200" cap="none" spc="0" baseline="0" dirty="0">
                  <a:solidFill>
                    <a:srgbClr val="111931"/>
                  </a:solidFill>
                  <a:uFillTx/>
                  <a:latin typeface="Calibri" pitchFamily="34"/>
                  <a:ea typeface="Calibri" pitchFamily="34"/>
                  <a:cs typeface="Calibri" pitchFamily="34"/>
                </a:rPr>
                <a:t>). Model </a:t>
              </a:r>
              <a:r>
                <a:rPr lang="en-US" sz="1000" b="0" i="0" u="none" strike="noStrike" kern="1200" cap="none" spc="0" baseline="0" dirty="0" err="1">
                  <a:solidFill>
                    <a:srgbClr val="111931"/>
                  </a:solidFill>
                  <a:uFillTx/>
                  <a:latin typeface="Calibri" pitchFamily="34"/>
                  <a:ea typeface="Calibri" pitchFamily="34"/>
                  <a:cs typeface="Calibri" pitchFamily="34"/>
                </a:rPr>
                <a:t>musi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działać</a:t>
              </a:r>
              <a:r>
                <a:rPr lang="en-US" sz="1000" b="0" i="0" u="none" strike="noStrike" kern="1200" cap="none" spc="0" baseline="0" dirty="0">
                  <a:solidFill>
                    <a:srgbClr val="111931"/>
                  </a:solidFill>
                  <a:uFillTx/>
                  <a:latin typeface="Calibri" pitchFamily="34"/>
                  <a:ea typeface="Calibri" pitchFamily="34"/>
                  <a:cs typeface="Calibri" pitchFamily="34"/>
                </a:rPr>
                <a:t> z 1–4 </a:t>
              </a:r>
              <a:r>
                <a:rPr lang="en-US" sz="1000" b="0" i="0" u="none" strike="noStrike" kern="1200" cap="none" spc="0" baseline="0" dirty="0" err="1">
                  <a:solidFill>
                    <a:srgbClr val="111931"/>
                  </a:solidFill>
                  <a:uFillTx/>
                  <a:latin typeface="Calibri" pitchFamily="34"/>
                  <a:ea typeface="Calibri" pitchFamily="34"/>
                  <a:cs typeface="Calibri" pitchFamily="34"/>
                </a:rPr>
                <a:t>modalnościami</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50"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15</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9FF"/>
        </a:solidFill>
        <a:effectLst/>
      </p:bgPr>
    </p:bg>
    <p:spTree>
      <p:nvGrpSpPr>
        <p:cNvPr id="1" name=""/>
        <p:cNvGrpSpPr/>
        <p:nvPr/>
      </p:nvGrpSpPr>
      <p:grpSpPr>
        <a:xfrm>
          <a:off x="0" y="0"/>
          <a:ext cx="0" cy="0"/>
          <a:chOff x="0" y="0"/>
          <a:chExt cx="0" cy="0"/>
        </a:xfrm>
      </p:grpSpPr>
      <p:grpSp>
        <p:nvGrpSpPr>
          <p:cNvPr id="62" name="Grupa 61"/>
          <p:cNvGrpSpPr/>
          <p:nvPr/>
        </p:nvGrpSpPr>
        <p:grpSpPr>
          <a:xfrm>
            <a:off x="0" y="0"/>
            <a:ext cx="9144000" cy="558000"/>
            <a:chOff x="0" y="0"/>
            <a:chExt cx="9144000" cy="558000"/>
          </a:xfrm>
        </p:grpSpPr>
        <p:sp>
          <p:nvSpPr>
            <p:cNvPr id="63"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4"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Deployment </a:t>
            </a:r>
            <a:r>
              <a:rPr lang="en-US" sz="2000" b="1" i="0" u="none" strike="noStrike" kern="1200" cap="none" spc="0" baseline="0" dirty="0" smtClean="0">
                <a:solidFill>
                  <a:srgbClr val="FFFFFF"/>
                </a:solidFill>
                <a:uFillTx/>
                <a:latin typeface="Cambria" pitchFamily="34"/>
                <a:ea typeface="Cambria" pitchFamily="34"/>
                <a:cs typeface="Cambria" pitchFamily="34"/>
              </a:rPr>
              <a:t>On-Device</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TFLite</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CoreML</a:t>
            </a:r>
            <a:r>
              <a:rPr lang="en-US" sz="2000" b="1" i="0" u="none" strike="noStrike" kern="1200" cap="none" spc="0" baseline="0" dirty="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ONNX Runtime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1062990" y="692816"/>
            <a:ext cx="7200900" cy="506874"/>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Calibri" pitchFamily="34"/>
                <a:ea typeface="Calibri" pitchFamily="34"/>
                <a:cs typeface="Calibri" pitchFamily="34"/>
              </a:rPr>
              <a:t>On-device inference to </a:t>
            </a:r>
            <a:r>
              <a:rPr lang="en-US" sz="1600" b="0" i="0" u="none" strike="noStrike" kern="1200" cap="none" spc="0" baseline="0" dirty="0" err="1">
                <a:solidFill>
                  <a:srgbClr val="111931"/>
                </a:solidFill>
                <a:uFillTx/>
                <a:latin typeface="Calibri" pitchFamily="34"/>
                <a:ea typeface="Calibri" pitchFamily="34"/>
                <a:cs typeface="Calibri" pitchFamily="34"/>
              </a:rPr>
              <a:t>wymóg</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dla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aplikacji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afektywnych</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D</a:t>
            </a:r>
            <a:r>
              <a:rPr lang="en-US" sz="1600" b="0" i="0" u="none" strike="noStrike" kern="1200" cap="none" spc="0" baseline="0" dirty="0" err="1" smtClean="0">
                <a:solidFill>
                  <a:srgbClr val="111931"/>
                </a:solidFill>
                <a:uFillTx/>
                <a:latin typeface="Calibri" pitchFamily="34"/>
                <a:ea typeface="Calibri" pitchFamily="34"/>
                <a:cs typeface="Calibri" pitchFamily="34"/>
              </a:rPr>
              <a:t>ane</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użytkownika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są</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wyjątkowo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wrażliwe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powinny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opuszczać</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urządzenia</a:t>
            </a:r>
            <a:endParaRPr lang="en-US" sz="1600" b="0" i="0" u="none" strike="noStrike" kern="1200" cap="none" spc="0" baseline="0" dirty="0">
              <a:solidFill>
                <a:srgbClr val="111931"/>
              </a:solidFill>
              <a:uFillTx/>
              <a:latin typeface="Calibri"/>
            </a:endParaRPr>
          </a:p>
        </p:txBody>
      </p:sp>
      <p:grpSp>
        <p:nvGrpSpPr>
          <p:cNvPr id="65" name="Grupa 64"/>
          <p:cNvGrpSpPr/>
          <p:nvPr/>
        </p:nvGrpSpPr>
        <p:grpSpPr>
          <a:xfrm>
            <a:off x="320040" y="1458468"/>
            <a:ext cx="8503920" cy="1784604"/>
            <a:chOff x="320040" y="1115568"/>
            <a:chExt cx="8503920" cy="2395728"/>
          </a:xfrm>
        </p:grpSpPr>
        <p:sp>
          <p:nvSpPr>
            <p:cNvPr id="8" name="Shape 6"/>
            <p:cNvSpPr/>
            <p:nvPr/>
          </p:nvSpPr>
          <p:spPr>
            <a:xfrm>
              <a:off x="320040" y="1115568"/>
              <a:ext cx="8503920" cy="29260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411480" y="1152144"/>
              <a:ext cx="100584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FFFFFF"/>
                  </a:solidFill>
                  <a:uFillTx/>
                  <a:latin typeface="Cambria" pitchFamily="34"/>
                  <a:ea typeface="Cambria" pitchFamily="34"/>
                  <a:cs typeface="Cambria" pitchFamily="34"/>
                </a:rPr>
                <a:t>Framework</a:t>
              </a:r>
              <a:endParaRPr lang="en-US" sz="1000" b="0" i="0" u="none" strike="noStrike" kern="1200" cap="none" spc="0" baseline="0" dirty="0">
                <a:solidFill>
                  <a:srgbClr val="000000"/>
                </a:solidFill>
                <a:uFillTx/>
                <a:latin typeface="Calibri"/>
              </a:endParaRPr>
            </a:p>
          </p:txBody>
        </p:sp>
        <p:sp>
          <p:nvSpPr>
            <p:cNvPr id="10" name="Text 8"/>
            <p:cNvSpPr/>
            <p:nvPr/>
          </p:nvSpPr>
          <p:spPr>
            <a:xfrm>
              <a:off x="1981200" y="1152144"/>
              <a:ext cx="1005840" cy="219456"/>
            </a:xfrm>
            <a:prstGeom prst="rect">
              <a:avLst/>
            </a:prstGeom>
            <a:noFill/>
            <a:ln cap="flat">
              <a:noFill/>
              <a:prstDash val="solid"/>
            </a:ln>
          </p:spPr>
          <p:txBody>
            <a:bodyPr vert="horz" wrap="square" lIns="0" tIns="0" rIns="0" bIns="0" anchor="ctr" anchorCtr="0" compatLnSpc="1">
              <a:no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Platforma</a:t>
              </a:r>
              <a:endParaRPr lang="en-US" sz="1000" b="0" i="0" u="none" strike="noStrike" kern="1200" cap="none" spc="0" baseline="0" dirty="0">
                <a:solidFill>
                  <a:srgbClr val="000000"/>
                </a:solidFill>
                <a:uFillTx/>
                <a:latin typeface="Calibri"/>
              </a:endParaRPr>
            </a:p>
          </p:txBody>
        </p:sp>
        <p:sp>
          <p:nvSpPr>
            <p:cNvPr id="11" name="Text 9"/>
            <p:cNvSpPr/>
            <p:nvPr/>
          </p:nvSpPr>
          <p:spPr>
            <a:xfrm>
              <a:off x="3040380" y="1152144"/>
              <a:ext cx="1394460" cy="204243"/>
            </a:xfrm>
            <a:prstGeom prst="rect">
              <a:avLst/>
            </a:prstGeom>
            <a:noFill/>
            <a:ln cap="flat">
              <a:noFill/>
              <a:prstDash val="solid"/>
            </a:ln>
          </p:spPr>
          <p:txBody>
            <a:bodyPr vert="horz" wrap="square" lIns="0" tIns="0" rIns="0" bIns="0" anchor="ctr" anchorCtr="0" compatLnSpc="1">
              <a:no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Akceleracja</a:t>
              </a:r>
              <a:endParaRPr lang="en-US" sz="1000" b="0" i="0" u="none" strike="noStrike" kern="1200" cap="none" spc="0" baseline="0" dirty="0">
                <a:solidFill>
                  <a:srgbClr val="000000"/>
                </a:solidFill>
                <a:uFillTx/>
                <a:latin typeface="Calibri"/>
              </a:endParaRPr>
            </a:p>
          </p:txBody>
        </p:sp>
        <p:sp>
          <p:nvSpPr>
            <p:cNvPr id="12" name="Text 10"/>
            <p:cNvSpPr/>
            <p:nvPr/>
          </p:nvSpPr>
          <p:spPr>
            <a:xfrm>
              <a:off x="4663440" y="1152144"/>
              <a:ext cx="640080" cy="218129"/>
            </a:xfrm>
            <a:prstGeom prst="rect">
              <a:avLst/>
            </a:prstGeom>
            <a:noFill/>
            <a:ln cap="flat">
              <a:noFill/>
              <a:prstDash val="solid"/>
            </a:ln>
          </p:spPr>
          <p:txBody>
            <a:bodyPr vert="horz" wrap="square" lIns="0" tIns="0" rIns="0" bIns="0" anchor="ctr" anchorCtr="0" compatLnSpc="1">
              <a:no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FFFFFF"/>
                  </a:solidFill>
                  <a:uFillTx/>
                  <a:latin typeface="Cambria" pitchFamily="34"/>
                  <a:ea typeface="Cambria" pitchFamily="34"/>
                  <a:cs typeface="Cambria" pitchFamily="34"/>
                </a:rPr>
                <a:t>Format</a:t>
              </a:r>
              <a:endParaRPr lang="en-US" sz="1000" b="0" i="0" u="none" strike="noStrike" kern="1200" cap="none" spc="0" baseline="0" dirty="0">
                <a:solidFill>
                  <a:srgbClr val="000000"/>
                </a:solidFill>
                <a:uFillTx/>
                <a:latin typeface="Calibri"/>
              </a:endParaRPr>
            </a:p>
          </p:txBody>
        </p:sp>
        <p:sp>
          <p:nvSpPr>
            <p:cNvPr id="13" name="Text 11"/>
            <p:cNvSpPr/>
            <p:nvPr/>
          </p:nvSpPr>
          <p:spPr>
            <a:xfrm>
              <a:off x="5417819" y="1152144"/>
              <a:ext cx="1280160" cy="204243"/>
            </a:xfrm>
            <a:prstGeom prst="rect">
              <a:avLst/>
            </a:prstGeom>
            <a:noFill/>
            <a:ln cap="flat">
              <a:noFill/>
              <a:prstDash val="solid"/>
            </a:ln>
          </p:spPr>
          <p:txBody>
            <a:bodyPr vert="horz" wrap="square" lIns="0" tIns="0" rIns="0" bIns="0" anchor="ctr" anchorCtr="0" compatLnSpc="1">
              <a:no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FFFFFF"/>
                  </a:solidFill>
                  <a:uFillTx/>
                  <a:latin typeface="Cambria" pitchFamily="34"/>
                  <a:ea typeface="Cambria" pitchFamily="34"/>
                  <a:cs typeface="Cambria" pitchFamily="34"/>
                </a:rPr>
                <a:t>Quantization</a:t>
              </a:r>
              <a:endParaRPr lang="en-US" sz="1000" b="0" i="0" u="none" strike="noStrike" kern="1200" cap="none" spc="0" baseline="0" dirty="0">
                <a:solidFill>
                  <a:srgbClr val="000000"/>
                </a:solidFill>
                <a:uFillTx/>
                <a:latin typeface="Calibri"/>
              </a:endParaRPr>
            </a:p>
          </p:txBody>
        </p:sp>
        <p:sp>
          <p:nvSpPr>
            <p:cNvPr id="14" name="Text 12"/>
            <p:cNvSpPr/>
            <p:nvPr/>
          </p:nvSpPr>
          <p:spPr>
            <a:xfrm>
              <a:off x="6789420" y="1152144"/>
              <a:ext cx="1943099" cy="204243"/>
            </a:xfrm>
            <a:prstGeom prst="rect">
              <a:avLst/>
            </a:prstGeom>
            <a:noFill/>
            <a:ln cap="flat">
              <a:noFill/>
              <a:prstDash val="solid"/>
            </a:ln>
          </p:spPr>
          <p:txBody>
            <a:bodyPr vert="horz" wrap="square" lIns="0" tIns="0" rIns="0" bIns="0" anchor="ctr" anchorCtr="0" compatLnSpc="1">
              <a:no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FFFFFF"/>
                  </a:solidFill>
                  <a:uFillTx/>
                  <a:latin typeface="Cambria" pitchFamily="34"/>
                  <a:ea typeface="Cambria" pitchFamily="34"/>
                  <a:cs typeface="Cambria" pitchFamily="34"/>
                </a:rPr>
                <a:t>Użycie</a:t>
              </a:r>
              <a:endParaRPr lang="en-US" sz="1000" b="0" i="0" u="none" strike="noStrike" kern="1200" cap="none" spc="0" baseline="0" dirty="0">
                <a:solidFill>
                  <a:srgbClr val="000000"/>
                </a:solidFill>
                <a:uFillTx/>
                <a:latin typeface="Calibri"/>
              </a:endParaRPr>
            </a:p>
          </p:txBody>
        </p:sp>
        <p:sp>
          <p:nvSpPr>
            <p:cNvPr id="15" name="Shape 13"/>
            <p:cNvSpPr/>
            <p:nvPr/>
          </p:nvSpPr>
          <p:spPr>
            <a:xfrm>
              <a:off x="320040" y="1444752"/>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Shape 14"/>
            <p:cNvSpPr/>
            <p:nvPr/>
          </p:nvSpPr>
          <p:spPr>
            <a:xfrm>
              <a:off x="320040" y="1444752"/>
              <a:ext cx="54864" cy="384048"/>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Text 15"/>
            <p:cNvSpPr/>
            <p:nvPr/>
          </p:nvSpPr>
          <p:spPr>
            <a:xfrm>
              <a:off x="411480" y="1479782"/>
              <a:ext cx="1394460" cy="2758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7C3AED"/>
                  </a:solidFill>
                  <a:uFillTx/>
                  <a:latin typeface="CMU Sans Serif" panose="02000603000000000000" pitchFamily="2" charset="0"/>
                  <a:ea typeface="CMU Sans Serif" panose="02000603000000000000" pitchFamily="2" charset="0"/>
                  <a:cs typeface="CMU Sans Serif" panose="02000603000000000000" pitchFamily="2" charset="0"/>
                </a:rPr>
                <a:t>TensorFlow</a:t>
              </a:r>
              <a:r>
                <a:rPr lang="en-US" sz="1000" b="1" i="0" u="none" strike="noStrike" kern="1200" cap="none" spc="0" baseline="0" dirty="0">
                  <a:solidFill>
                    <a:srgbClr val="7C3AED"/>
                  </a:solidFill>
                  <a:uFillTx/>
                  <a:latin typeface="CMU Sans Serif" panose="02000603000000000000" pitchFamily="2" charset="0"/>
                  <a:ea typeface="CMU Sans Serif" panose="02000603000000000000" pitchFamily="2" charset="0"/>
                  <a:cs typeface="CMU Sans Serif" panose="02000603000000000000" pitchFamily="2" charset="0"/>
                </a:rPr>
                <a:t> Lite</a:t>
              </a:r>
              <a:endParaRPr lang="en-US" sz="1000" b="0" i="0" u="none" strike="noStrike" kern="1200" cap="none" spc="0" baseline="0" dirty="0">
                <a:solidFill>
                  <a:srgbClr val="000000"/>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18" name="Text 16"/>
            <p:cNvSpPr/>
            <p:nvPr/>
          </p:nvSpPr>
          <p:spPr>
            <a:xfrm>
              <a:off x="1981200" y="1517903"/>
              <a:ext cx="10058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Android, iOS</a:t>
              </a:r>
              <a:endParaRPr lang="en-US" sz="1000" b="0" i="0" u="none" strike="noStrike" kern="1200" cap="none" spc="0" baseline="0" dirty="0">
                <a:solidFill>
                  <a:srgbClr val="111931"/>
                </a:solidFill>
                <a:uFillTx/>
                <a:latin typeface="Calibri"/>
              </a:endParaRPr>
            </a:p>
          </p:txBody>
        </p:sp>
        <p:sp>
          <p:nvSpPr>
            <p:cNvPr id="19" name="Text 17"/>
            <p:cNvSpPr/>
            <p:nvPr/>
          </p:nvSpPr>
          <p:spPr>
            <a:xfrm>
              <a:off x="3040380" y="1517903"/>
              <a:ext cx="13944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NNAPI, GPU, Hexagon DSP</a:t>
              </a:r>
              <a:endParaRPr lang="en-US" sz="1000" b="0" i="0" u="none" strike="noStrike" kern="1200" cap="none" spc="0" baseline="0">
                <a:solidFill>
                  <a:srgbClr val="111931"/>
                </a:solidFill>
                <a:uFillTx/>
                <a:latin typeface="Calibri"/>
              </a:endParaRPr>
            </a:p>
          </p:txBody>
        </p:sp>
        <p:sp>
          <p:nvSpPr>
            <p:cNvPr id="20" name="Text 18"/>
            <p:cNvSpPr/>
            <p:nvPr/>
          </p:nvSpPr>
          <p:spPr>
            <a:xfrm>
              <a:off x="4663440" y="1517903"/>
              <a:ext cx="640080" cy="23630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.tflite</a:t>
              </a:r>
              <a:endParaRPr lang="en-US" sz="1000" b="0" i="0" u="none" strike="noStrike" kern="1200" cap="none" spc="0" baseline="0">
                <a:solidFill>
                  <a:srgbClr val="111931"/>
                </a:solidFill>
                <a:uFillTx/>
                <a:latin typeface="Calibri"/>
              </a:endParaRPr>
            </a:p>
          </p:txBody>
        </p:sp>
        <p:sp>
          <p:nvSpPr>
            <p:cNvPr id="21" name="Text 19"/>
            <p:cNvSpPr/>
            <p:nvPr/>
          </p:nvSpPr>
          <p:spPr>
            <a:xfrm>
              <a:off x="5417819" y="1517903"/>
              <a:ext cx="12801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INT8, FP16, dynamic</a:t>
              </a:r>
              <a:endParaRPr lang="en-US" sz="1000" b="0" i="0" u="none" strike="noStrike" kern="1200" cap="none" spc="0" baseline="0">
                <a:solidFill>
                  <a:srgbClr val="111931"/>
                </a:solidFill>
                <a:uFillTx/>
                <a:latin typeface="Calibri"/>
              </a:endParaRPr>
            </a:p>
          </p:txBody>
        </p:sp>
        <p:sp>
          <p:nvSpPr>
            <p:cNvPr id="22" name="Text 20"/>
            <p:cNvSpPr/>
            <p:nvPr/>
          </p:nvSpPr>
          <p:spPr>
            <a:xfrm>
              <a:off x="6789420" y="1479783"/>
              <a:ext cx="1943099" cy="2758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Szerokie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ekosystem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MediaPipe</a:t>
              </a:r>
              <a:endParaRPr lang="en-US" sz="1000" b="0" i="0" u="none" strike="noStrike" kern="1200" cap="none" spc="0" baseline="0" dirty="0">
                <a:solidFill>
                  <a:srgbClr val="111931"/>
                </a:solidFill>
                <a:uFillTx/>
                <a:latin typeface="Calibri"/>
              </a:endParaRPr>
            </a:p>
          </p:txBody>
        </p:sp>
        <p:sp>
          <p:nvSpPr>
            <p:cNvPr id="23" name="Shape 21"/>
            <p:cNvSpPr/>
            <p:nvPr/>
          </p:nvSpPr>
          <p:spPr>
            <a:xfrm>
              <a:off x="320040" y="1865376"/>
              <a:ext cx="8503920" cy="384049"/>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Shape 22"/>
            <p:cNvSpPr/>
            <p:nvPr/>
          </p:nvSpPr>
          <p:spPr>
            <a:xfrm>
              <a:off x="320040" y="1865376"/>
              <a:ext cx="54864" cy="38404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411480" y="1900407"/>
              <a:ext cx="1394460" cy="2758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E11D48"/>
                  </a:solidFill>
                  <a:uFillTx/>
                  <a:latin typeface="CMU Sans Serif" panose="02000603000000000000" pitchFamily="2" charset="0"/>
                  <a:ea typeface="CMU Sans Serif" panose="02000603000000000000" pitchFamily="2" charset="0"/>
                  <a:cs typeface="CMU Sans Serif" panose="02000603000000000000" pitchFamily="2" charset="0"/>
                </a:rPr>
                <a:t>CoreML</a:t>
              </a:r>
              <a:endParaRPr lang="en-US" sz="1000" b="0" i="0" u="none" strike="noStrike" kern="1200" cap="none" spc="0" baseline="0">
                <a:solidFill>
                  <a:srgbClr val="000000"/>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6" name="Text 24"/>
            <p:cNvSpPr/>
            <p:nvPr/>
          </p:nvSpPr>
          <p:spPr>
            <a:xfrm>
              <a:off x="1981200" y="1938528"/>
              <a:ext cx="10058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iOS 11+, macOS</a:t>
              </a:r>
              <a:endParaRPr lang="en-US" sz="1000" b="0" i="0" u="none" strike="noStrike" kern="1200" cap="none" spc="0" baseline="0">
                <a:solidFill>
                  <a:srgbClr val="111931"/>
                </a:solidFill>
                <a:uFillTx/>
                <a:latin typeface="Calibri"/>
              </a:endParaRPr>
            </a:p>
          </p:txBody>
        </p:sp>
        <p:sp>
          <p:nvSpPr>
            <p:cNvPr id="27" name="Text 25"/>
            <p:cNvSpPr/>
            <p:nvPr/>
          </p:nvSpPr>
          <p:spPr>
            <a:xfrm>
              <a:off x="3040380" y="1938528"/>
              <a:ext cx="13944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Neural Engine, GPU, CPU</a:t>
              </a:r>
              <a:endParaRPr lang="en-US" sz="1000" b="0" i="0" u="none" strike="noStrike" kern="1200" cap="none" spc="0" baseline="0">
                <a:solidFill>
                  <a:srgbClr val="111931"/>
                </a:solidFill>
                <a:uFillTx/>
                <a:latin typeface="Calibri"/>
              </a:endParaRPr>
            </a:p>
          </p:txBody>
        </p:sp>
        <p:sp>
          <p:nvSpPr>
            <p:cNvPr id="28" name="Text 26"/>
            <p:cNvSpPr/>
            <p:nvPr/>
          </p:nvSpPr>
          <p:spPr>
            <a:xfrm>
              <a:off x="4663440" y="1938528"/>
              <a:ext cx="640080" cy="23630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.mlmodel</a:t>
              </a:r>
              <a:endParaRPr lang="en-US" sz="1000" b="0" i="0" u="none" strike="noStrike" kern="1200" cap="none" spc="0" baseline="0">
                <a:solidFill>
                  <a:srgbClr val="111931"/>
                </a:solidFill>
                <a:uFillTx/>
                <a:latin typeface="Calibri"/>
              </a:endParaRPr>
            </a:p>
          </p:txBody>
        </p:sp>
        <p:sp>
          <p:nvSpPr>
            <p:cNvPr id="29" name="Text 27"/>
            <p:cNvSpPr/>
            <p:nvPr/>
          </p:nvSpPr>
          <p:spPr>
            <a:xfrm>
              <a:off x="5417819" y="1938528"/>
              <a:ext cx="12801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INT8, FP16, palettized</a:t>
              </a:r>
              <a:endParaRPr lang="en-US" sz="1000" b="0" i="0" u="none" strike="noStrike" kern="1200" cap="none" spc="0" baseline="0">
                <a:solidFill>
                  <a:srgbClr val="111931"/>
                </a:solidFill>
                <a:uFillTx/>
                <a:latin typeface="Calibri"/>
              </a:endParaRPr>
            </a:p>
          </p:txBody>
        </p:sp>
        <p:sp>
          <p:nvSpPr>
            <p:cNvPr id="30" name="Text 28"/>
            <p:cNvSpPr/>
            <p:nvPr/>
          </p:nvSpPr>
          <p:spPr>
            <a:xfrm>
              <a:off x="6789420" y="1900408"/>
              <a:ext cx="1943099" cy="2758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Natywna iOS, Xcode tools</a:t>
              </a:r>
              <a:endParaRPr lang="en-US" sz="1000" b="0" i="0" u="none" strike="noStrike" kern="1200" cap="none" spc="0" baseline="0">
                <a:solidFill>
                  <a:srgbClr val="111931"/>
                </a:solidFill>
                <a:uFillTx/>
                <a:latin typeface="Calibri"/>
              </a:endParaRPr>
            </a:p>
          </p:txBody>
        </p:sp>
        <p:sp>
          <p:nvSpPr>
            <p:cNvPr id="31" name="Shape 29"/>
            <p:cNvSpPr/>
            <p:nvPr/>
          </p:nvSpPr>
          <p:spPr>
            <a:xfrm>
              <a:off x="320040" y="2286000"/>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Shape 30"/>
            <p:cNvSpPr/>
            <p:nvPr/>
          </p:nvSpPr>
          <p:spPr>
            <a:xfrm>
              <a:off x="320040" y="2286000"/>
              <a:ext cx="54864" cy="384048"/>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411480" y="2321030"/>
              <a:ext cx="1394460" cy="2758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D97706"/>
                  </a:solidFill>
                  <a:uFillTx/>
                  <a:latin typeface="CMU Sans Serif" panose="02000603000000000000" pitchFamily="2" charset="0"/>
                  <a:ea typeface="CMU Sans Serif" panose="02000603000000000000" pitchFamily="2" charset="0"/>
                  <a:cs typeface="CMU Sans Serif" panose="02000603000000000000" pitchFamily="2" charset="0"/>
                </a:rPr>
                <a:t>ONNX Runtime Mobile</a:t>
              </a:r>
              <a:endParaRPr lang="en-US" sz="1000" b="0" i="0" u="none" strike="noStrike" kern="1200" cap="none" spc="0" baseline="0" dirty="0">
                <a:solidFill>
                  <a:srgbClr val="000000"/>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34" name="Text 32"/>
            <p:cNvSpPr/>
            <p:nvPr/>
          </p:nvSpPr>
          <p:spPr>
            <a:xfrm>
              <a:off x="1981200" y="2359152"/>
              <a:ext cx="10058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Android, iOS</a:t>
              </a:r>
              <a:endParaRPr lang="en-US" sz="1000" b="0" i="0" u="none" strike="noStrike" kern="1200" cap="none" spc="0" baseline="0">
                <a:solidFill>
                  <a:srgbClr val="111931"/>
                </a:solidFill>
                <a:uFillTx/>
                <a:latin typeface="Calibri"/>
              </a:endParaRPr>
            </a:p>
          </p:txBody>
        </p:sp>
        <p:sp>
          <p:nvSpPr>
            <p:cNvPr id="35" name="Text 33"/>
            <p:cNvSpPr/>
            <p:nvPr/>
          </p:nvSpPr>
          <p:spPr>
            <a:xfrm>
              <a:off x="3040380" y="2359152"/>
              <a:ext cx="13944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NNAPI, CoreML backend</a:t>
              </a:r>
              <a:endParaRPr lang="en-US" sz="1000" b="0" i="0" u="none" strike="noStrike" kern="1200" cap="none" spc="0" baseline="0">
                <a:solidFill>
                  <a:srgbClr val="111931"/>
                </a:solidFill>
                <a:uFillTx/>
                <a:latin typeface="Calibri"/>
              </a:endParaRPr>
            </a:p>
          </p:txBody>
        </p:sp>
        <p:sp>
          <p:nvSpPr>
            <p:cNvPr id="36" name="Text 34"/>
            <p:cNvSpPr/>
            <p:nvPr/>
          </p:nvSpPr>
          <p:spPr>
            <a:xfrm>
              <a:off x="4663440" y="2359152"/>
              <a:ext cx="640080" cy="23630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.onnx</a:t>
              </a:r>
              <a:endParaRPr lang="en-US" sz="1000" b="0" i="0" u="none" strike="noStrike" kern="1200" cap="none" spc="0" baseline="0">
                <a:solidFill>
                  <a:srgbClr val="111931"/>
                </a:solidFill>
                <a:uFillTx/>
                <a:latin typeface="Calibri"/>
              </a:endParaRPr>
            </a:p>
          </p:txBody>
        </p:sp>
        <p:sp>
          <p:nvSpPr>
            <p:cNvPr id="37" name="Text 35"/>
            <p:cNvSpPr/>
            <p:nvPr/>
          </p:nvSpPr>
          <p:spPr>
            <a:xfrm>
              <a:off x="5417819" y="2359152"/>
              <a:ext cx="12801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INT8, FP16, QDQ</a:t>
              </a:r>
              <a:endParaRPr lang="en-US" sz="1000" b="0" i="0" u="none" strike="noStrike" kern="1200" cap="none" spc="0" baseline="0">
                <a:solidFill>
                  <a:srgbClr val="111931"/>
                </a:solidFill>
                <a:uFillTx/>
                <a:latin typeface="Calibri"/>
              </a:endParaRPr>
            </a:p>
          </p:txBody>
        </p:sp>
        <p:sp>
          <p:nvSpPr>
            <p:cNvPr id="38" name="Text 36"/>
            <p:cNvSpPr/>
            <p:nvPr/>
          </p:nvSpPr>
          <p:spPr>
            <a:xfrm>
              <a:off x="6789420" y="2321032"/>
              <a:ext cx="1943099" cy="2758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Cross-platform z PyTorch/HF</a:t>
              </a:r>
              <a:endParaRPr lang="en-US" sz="1000" b="0" i="0" u="none" strike="noStrike" kern="1200" cap="none" spc="0" baseline="0">
                <a:solidFill>
                  <a:srgbClr val="111931"/>
                </a:solidFill>
                <a:uFillTx/>
                <a:latin typeface="Calibri"/>
              </a:endParaRPr>
            </a:p>
          </p:txBody>
        </p:sp>
        <p:sp>
          <p:nvSpPr>
            <p:cNvPr id="39" name="Shape 37"/>
            <p:cNvSpPr/>
            <p:nvPr/>
          </p:nvSpPr>
          <p:spPr>
            <a:xfrm>
              <a:off x="320040" y="2706624"/>
              <a:ext cx="8503920" cy="384048"/>
            </a:xfrm>
            <a:prstGeom prst="rect">
              <a:avLst/>
            </a:prstGeom>
            <a:solidFill>
              <a:srgbClr val="D1E3F3"/>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Shape 38"/>
            <p:cNvSpPr/>
            <p:nvPr/>
          </p:nvSpPr>
          <p:spPr>
            <a:xfrm>
              <a:off x="320040" y="2706624"/>
              <a:ext cx="54864" cy="38404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Text 39"/>
            <p:cNvSpPr/>
            <p:nvPr/>
          </p:nvSpPr>
          <p:spPr>
            <a:xfrm>
              <a:off x="411480" y="2741655"/>
              <a:ext cx="1394460" cy="2758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0891B2"/>
                  </a:solidFill>
                  <a:uFillTx/>
                  <a:latin typeface="CMU Sans Serif" panose="02000603000000000000" pitchFamily="2" charset="0"/>
                  <a:ea typeface="CMU Sans Serif" panose="02000603000000000000" pitchFamily="2" charset="0"/>
                  <a:cs typeface="CMU Sans Serif" panose="02000603000000000000" pitchFamily="2" charset="0"/>
                </a:rPr>
                <a:t>MediaPipe</a:t>
              </a:r>
              <a:endParaRPr lang="en-US" sz="1000" b="0" i="0" u="none" strike="noStrike" kern="1200" cap="none" spc="0" baseline="0">
                <a:solidFill>
                  <a:srgbClr val="000000"/>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42" name="Text 40"/>
            <p:cNvSpPr/>
            <p:nvPr/>
          </p:nvSpPr>
          <p:spPr>
            <a:xfrm>
              <a:off x="1981200" y="2779776"/>
              <a:ext cx="10058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Android, iOS, Web</a:t>
              </a:r>
              <a:endParaRPr lang="en-US" sz="1000" b="0" i="0" u="none" strike="noStrike" kern="1200" cap="none" spc="0" baseline="0">
                <a:solidFill>
                  <a:srgbClr val="111931"/>
                </a:solidFill>
                <a:uFillTx/>
                <a:latin typeface="Calibri"/>
              </a:endParaRPr>
            </a:p>
          </p:txBody>
        </p:sp>
        <p:sp>
          <p:nvSpPr>
            <p:cNvPr id="43" name="Text 41"/>
            <p:cNvSpPr/>
            <p:nvPr/>
          </p:nvSpPr>
          <p:spPr>
            <a:xfrm>
              <a:off x="3040380" y="2779776"/>
              <a:ext cx="13944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GPU, Vulkan, Metal</a:t>
              </a:r>
              <a:endParaRPr lang="en-US" sz="1000" b="0" i="0" u="none" strike="noStrike" kern="1200" cap="none" spc="0" baseline="0">
                <a:solidFill>
                  <a:srgbClr val="111931"/>
                </a:solidFill>
                <a:uFillTx/>
                <a:latin typeface="Calibri"/>
              </a:endParaRPr>
            </a:p>
          </p:txBody>
        </p:sp>
        <p:sp>
          <p:nvSpPr>
            <p:cNvPr id="44" name="Text 42"/>
            <p:cNvSpPr/>
            <p:nvPr/>
          </p:nvSpPr>
          <p:spPr>
            <a:xfrm>
              <a:off x="4663440" y="2779776"/>
              <a:ext cx="640080" cy="23630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task bundle</a:t>
              </a:r>
              <a:endParaRPr lang="en-US" sz="1000" b="0" i="0" u="none" strike="noStrike" kern="1200" cap="none" spc="0" baseline="0">
                <a:solidFill>
                  <a:srgbClr val="111931"/>
                </a:solidFill>
                <a:uFillTx/>
                <a:latin typeface="Calibri"/>
              </a:endParaRPr>
            </a:p>
          </p:txBody>
        </p:sp>
        <p:sp>
          <p:nvSpPr>
            <p:cNvPr id="45" name="Text 43"/>
            <p:cNvSpPr/>
            <p:nvPr/>
          </p:nvSpPr>
          <p:spPr>
            <a:xfrm>
              <a:off x="5417819" y="2779776"/>
              <a:ext cx="12801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INT8</a:t>
              </a:r>
              <a:endParaRPr lang="en-US" sz="1000" b="0" i="0" u="none" strike="noStrike" kern="1200" cap="none" spc="0" baseline="0">
                <a:solidFill>
                  <a:srgbClr val="111931"/>
                </a:solidFill>
                <a:uFillTx/>
                <a:latin typeface="Calibri"/>
              </a:endParaRPr>
            </a:p>
          </p:txBody>
        </p:sp>
        <p:sp>
          <p:nvSpPr>
            <p:cNvPr id="46" name="Text 44"/>
            <p:cNvSpPr/>
            <p:nvPr/>
          </p:nvSpPr>
          <p:spPr>
            <a:xfrm>
              <a:off x="6789420" y="2741656"/>
              <a:ext cx="1943099" cy="2758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Gotowe solucje (face, pose)</a:t>
              </a:r>
              <a:endParaRPr lang="en-US" sz="1000" b="0" i="0" u="none" strike="noStrike" kern="1200" cap="none" spc="0" baseline="0">
                <a:solidFill>
                  <a:srgbClr val="111931"/>
                </a:solidFill>
                <a:uFillTx/>
                <a:latin typeface="Calibri"/>
              </a:endParaRPr>
            </a:p>
          </p:txBody>
        </p:sp>
        <p:sp>
          <p:nvSpPr>
            <p:cNvPr id="47" name="Shape 45"/>
            <p:cNvSpPr/>
            <p:nvPr/>
          </p:nvSpPr>
          <p:spPr>
            <a:xfrm>
              <a:off x="320040" y="3127248"/>
              <a:ext cx="8503920" cy="384048"/>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Shape 46"/>
            <p:cNvSpPr/>
            <p:nvPr/>
          </p:nvSpPr>
          <p:spPr>
            <a:xfrm>
              <a:off x="320040" y="3127248"/>
              <a:ext cx="54864" cy="384048"/>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Text 47"/>
            <p:cNvSpPr/>
            <p:nvPr/>
          </p:nvSpPr>
          <p:spPr>
            <a:xfrm>
              <a:off x="411480" y="3162278"/>
              <a:ext cx="1394460" cy="2758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err="1">
                  <a:solidFill>
                    <a:srgbClr val="059669"/>
                  </a:solidFill>
                  <a:uFillTx/>
                  <a:latin typeface="CMU Sans Serif" panose="02000603000000000000" pitchFamily="2" charset="0"/>
                  <a:ea typeface="CMU Sans Serif" panose="02000603000000000000" pitchFamily="2" charset="0"/>
                  <a:cs typeface="CMU Sans Serif" panose="02000603000000000000" pitchFamily="2" charset="0"/>
                </a:rPr>
                <a:t>ExecuTorch</a:t>
              </a:r>
              <a:r>
                <a:rPr lang="en-US" sz="1000" b="1" i="0" u="none" strike="noStrike" kern="1200" cap="none" spc="0" baseline="0" dirty="0">
                  <a:solidFill>
                    <a:srgbClr val="059669"/>
                  </a:solidFill>
                  <a:uFillTx/>
                  <a:latin typeface="CMU Sans Serif" panose="02000603000000000000" pitchFamily="2" charset="0"/>
                  <a:ea typeface="CMU Sans Serif" panose="02000603000000000000" pitchFamily="2" charset="0"/>
                  <a:cs typeface="CMU Sans Serif" panose="02000603000000000000" pitchFamily="2" charset="0"/>
                </a:rPr>
                <a:t> (Meta)</a:t>
              </a:r>
              <a:endParaRPr lang="en-US" sz="1000" b="0" i="0" u="none" strike="noStrike" kern="1200" cap="none" spc="0" baseline="0" dirty="0">
                <a:solidFill>
                  <a:srgbClr val="000000"/>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50" name="Text 48"/>
            <p:cNvSpPr/>
            <p:nvPr/>
          </p:nvSpPr>
          <p:spPr>
            <a:xfrm>
              <a:off x="1981200" y="3200400"/>
              <a:ext cx="10058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Android, iOS</a:t>
              </a:r>
              <a:endParaRPr lang="en-US" sz="1000" b="0" i="0" u="none" strike="noStrike" kern="1200" cap="none" spc="0" baseline="0">
                <a:solidFill>
                  <a:srgbClr val="111931"/>
                </a:solidFill>
                <a:uFillTx/>
                <a:latin typeface="Calibri"/>
              </a:endParaRPr>
            </a:p>
          </p:txBody>
        </p:sp>
        <p:sp>
          <p:nvSpPr>
            <p:cNvPr id="51" name="Text 49"/>
            <p:cNvSpPr/>
            <p:nvPr/>
          </p:nvSpPr>
          <p:spPr>
            <a:xfrm>
              <a:off x="3040380" y="3200400"/>
              <a:ext cx="13944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XNNPACK, Vulkan, MPS</a:t>
              </a:r>
              <a:endParaRPr lang="en-US" sz="1000" b="0" i="0" u="none" strike="noStrike" kern="1200" cap="none" spc="0" baseline="0">
                <a:solidFill>
                  <a:srgbClr val="111931"/>
                </a:solidFill>
                <a:uFillTx/>
                <a:latin typeface="Calibri"/>
              </a:endParaRPr>
            </a:p>
          </p:txBody>
        </p:sp>
        <p:sp>
          <p:nvSpPr>
            <p:cNvPr id="52" name="Text 50"/>
            <p:cNvSpPr/>
            <p:nvPr/>
          </p:nvSpPr>
          <p:spPr>
            <a:xfrm>
              <a:off x="4663440" y="3200400"/>
              <a:ext cx="640080" cy="23630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.pte</a:t>
              </a:r>
              <a:endParaRPr lang="en-US" sz="1000" b="0" i="0" u="none" strike="noStrike" kern="1200" cap="none" spc="0" baseline="0">
                <a:solidFill>
                  <a:srgbClr val="111931"/>
                </a:solidFill>
                <a:uFillTx/>
                <a:latin typeface="Calibri"/>
              </a:endParaRPr>
            </a:p>
          </p:txBody>
        </p:sp>
        <p:sp>
          <p:nvSpPr>
            <p:cNvPr id="53" name="Text 51"/>
            <p:cNvSpPr/>
            <p:nvPr/>
          </p:nvSpPr>
          <p:spPr>
            <a:xfrm>
              <a:off x="5417819" y="3200400"/>
              <a:ext cx="1280160" cy="2212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INT8, INT4</a:t>
              </a:r>
              <a:endParaRPr lang="en-US" sz="1000" b="0" i="0" u="none" strike="noStrike" kern="1200" cap="none" spc="0" baseline="0">
                <a:solidFill>
                  <a:srgbClr val="111931"/>
                </a:solidFill>
                <a:uFillTx/>
                <a:latin typeface="Calibri"/>
              </a:endParaRPr>
            </a:p>
          </p:txBody>
        </p:sp>
        <p:sp>
          <p:nvSpPr>
            <p:cNvPr id="54" name="Text 52"/>
            <p:cNvSpPr/>
            <p:nvPr/>
          </p:nvSpPr>
          <p:spPr>
            <a:xfrm>
              <a:off x="6789420" y="3162280"/>
              <a:ext cx="1943099" cy="27586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PyTorch native, Llama mobile</a:t>
              </a:r>
              <a:endParaRPr lang="en-US" sz="1000" b="0" i="0" u="none" strike="noStrike" kern="1200" cap="none" spc="0" baseline="0">
                <a:solidFill>
                  <a:srgbClr val="111931"/>
                </a:solidFill>
                <a:uFillTx/>
                <a:latin typeface="Calibri"/>
              </a:endParaRPr>
            </a:p>
          </p:txBody>
        </p:sp>
      </p:grpSp>
      <p:sp>
        <p:nvSpPr>
          <p:cNvPr id="55" name="Text 53"/>
          <p:cNvSpPr/>
          <p:nvPr/>
        </p:nvSpPr>
        <p:spPr>
          <a:xfrm>
            <a:off x="329184" y="332900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dirty="0" err="1">
                <a:solidFill>
                  <a:srgbClr val="1F1535"/>
                </a:solidFill>
                <a:uFillTx/>
                <a:latin typeface="Cambria" pitchFamily="34"/>
                <a:ea typeface="Cambria" pitchFamily="34"/>
                <a:cs typeface="Cambria" pitchFamily="34"/>
              </a:rPr>
              <a:t>Kwantyzacja</a:t>
            </a:r>
            <a:r>
              <a:rPr lang="en-US" sz="1300" b="1" i="0" u="none" strike="noStrike" kern="1200" cap="none" spc="0" baseline="0" dirty="0">
                <a:solidFill>
                  <a:srgbClr val="1F1535"/>
                </a:solidFill>
                <a:uFillTx/>
                <a:latin typeface="Cambria" pitchFamily="34"/>
                <a:ea typeface="Cambria" pitchFamily="34"/>
                <a:cs typeface="Cambria" pitchFamily="34"/>
              </a:rPr>
              <a:t> </a:t>
            </a:r>
            <a:r>
              <a:rPr lang="en-US" sz="1300" b="1" i="0" u="none" strike="noStrike" kern="1200" cap="none" spc="0" baseline="0" dirty="0" err="1">
                <a:solidFill>
                  <a:srgbClr val="1F1535"/>
                </a:solidFill>
                <a:uFillTx/>
                <a:latin typeface="Cambria" pitchFamily="34"/>
                <a:ea typeface="Cambria" pitchFamily="34"/>
                <a:cs typeface="Cambria" pitchFamily="34"/>
              </a:rPr>
              <a:t>modeli</a:t>
            </a:r>
            <a:r>
              <a:rPr lang="en-US" sz="1300" b="1" i="0" u="none" strike="noStrike" kern="1200" cap="none" spc="0" baseline="0" dirty="0">
                <a:solidFill>
                  <a:srgbClr val="1F1535"/>
                </a:solidFill>
                <a:uFillTx/>
                <a:latin typeface="Cambria" pitchFamily="34"/>
                <a:ea typeface="Cambria" pitchFamily="34"/>
                <a:cs typeface="Cambria" pitchFamily="34"/>
              </a:rPr>
              <a:t> </a:t>
            </a:r>
            <a:r>
              <a:rPr lang="en-US" sz="1300" b="1" i="0" u="none" strike="noStrike" kern="1200" cap="none" spc="0" baseline="0" dirty="0" err="1" smtClean="0">
                <a:solidFill>
                  <a:srgbClr val="1F1535"/>
                </a:solidFill>
                <a:uFillTx/>
                <a:latin typeface="Cambria" pitchFamily="34"/>
                <a:ea typeface="Cambria" pitchFamily="34"/>
                <a:cs typeface="Cambria" pitchFamily="34"/>
              </a:rPr>
              <a:t>afektywnych</a:t>
            </a:r>
            <a:endParaRPr lang="en-US" sz="1300" b="0" i="0" u="none" strike="noStrike" kern="1200" cap="none" spc="0" baseline="0" dirty="0">
              <a:solidFill>
                <a:srgbClr val="000000"/>
              </a:solidFill>
              <a:uFillTx/>
              <a:latin typeface="Calibri"/>
            </a:endParaRPr>
          </a:p>
        </p:txBody>
      </p:sp>
      <p:sp>
        <p:nvSpPr>
          <p:cNvPr id="56" name="Shape 54"/>
          <p:cNvSpPr/>
          <p:nvPr/>
        </p:nvSpPr>
        <p:spPr>
          <a:xfrm>
            <a:off x="320040" y="3592440"/>
            <a:ext cx="4160520" cy="1226448"/>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7" name="Text 55"/>
          <p:cNvSpPr/>
          <p:nvPr/>
        </p:nvSpPr>
        <p:spPr>
          <a:xfrm>
            <a:off x="3493008" y="3610356"/>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Python</a:t>
            </a:r>
          </a:p>
        </p:txBody>
      </p:sp>
      <p:sp>
        <p:nvSpPr>
          <p:cNvPr id="58" name="Text 56"/>
          <p:cNvSpPr/>
          <p:nvPr/>
        </p:nvSpPr>
        <p:spPr>
          <a:xfrm>
            <a:off x="411480" y="3652688"/>
            <a:ext cx="3995928" cy="1079332"/>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Post-training quantization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INT8</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converter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tf.lite.TFLiteConverter.from_saved_model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model_path</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converter.optimizations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tf.lite.Optimize.DEFAULT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Calibration dataset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dla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representative inputs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converter.representative_dataset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representative_emotion_data</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converter.target_spec.supported_ops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[tf.lite.OpsSet.TFLITE_BUILTINS_INT8]</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tflite_quant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converter.convert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FER model: 45MB FP32 → 11.5MB INT8,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acc</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drop &lt; 1.5%</a:t>
            </a:r>
          </a:p>
        </p:txBody>
      </p:sp>
      <p:sp>
        <p:nvSpPr>
          <p:cNvPr id="59" name="Shape 57"/>
          <p:cNvSpPr/>
          <p:nvPr/>
        </p:nvSpPr>
        <p:spPr>
          <a:xfrm>
            <a:off x="4663440" y="3329008"/>
            <a:ext cx="4206240" cy="1489879"/>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0" name="Text 58"/>
          <p:cNvSpPr/>
          <p:nvPr/>
        </p:nvSpPr>
        <p:spPr>
          <a:xfrm>
            <a:off x="7909560" y="3360200"/>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/Swift</a:t>
            </a:r>
          </a:p>
        </p:txBody>
      </p:sp>
      <p:sp>
        <p:nvSpPr>
          <p:cNvPr id="61" name="Text 59"/>
          <p:cNvSpPr/>
          <p:nvPr/>
        </p:nvSpPr>
        <p:spPr>
          <a:xfrm>
            <a:off x="4754880" y="3378265"/>
            <a:ext cx="4041648" cy="1382506"/>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Android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TFLite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Interpreter z GPU delegate</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options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Interpreter.Options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().apply {</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addDelegate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GpuDelegate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lub</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NnApiDelegate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setNumThreads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(2)</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interpreter = Interpreter(</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FileUtil.loadMappedFile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(context, "emotion_model_int8.tflite"),</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options)</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iOS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CoreML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z Neural Engine</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config</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MLModelConfiguration</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config.computeUnits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.all  // NE + GPU + CPU fallback</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let model = try!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EmotionClassifier</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(configuration: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config</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let prediction = try!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model.prediction</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melSpectrogram</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melInput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prediction.emotionLabel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prediction.emotionLabelProbs</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66"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16</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3F9FF"/>
        </a:solidFill>
        <a:effectLst/>
      </p:bgPr>
    </p:bg>
    <p:spTree>
      <p:nvGrpSpPr>
        <p:cNvPr id="1" name=""/>
        <p:cNvGrpSpPr/>
        <p:nvPr/>
      </p:nvGrpSpPr>
      <p:grpSpPr>
        <a:xfrm>
          <a:off x="0" y="0"/>
          <a:ext cx="0" cy="0"/>
          <a:chOff x="0" y="0"/>
          <a:chExt cx="0" cy="0"/>
        </a:xfrm>
      </p:grpSpPr>
      <p:grpSp>
        <p:nvGrpSpPr>
          <p:cNvPr id="69" name="Grupa 68"/>
          <p:cNvGrpSpPr/>
          <p:nvPr/>
        </p:nvGrpSpPr>
        <p:grpSpPr>
          <a:xfrm>
            <a:off x="0" y="0"/>
            <a:ext cx="9144000" cy="558000"/>
            <a:chOff x="0" y="0"/>
            <a:chExt cx="9144000" cy="558000"/>
          </a:xfrm>
        </p:grpSpPr>
        <p:sp>
          <p:nvSpPr>
            <p:cNvPr id="70"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1"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Optymalizacja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odeli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fektywnych</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w</a:t>
            </a:r>
            <a:r>
              <a:rPr lang="en-US" sz="2000" b="1" i="0" u="none" strike="noStrike" kern="1200" cap="none" spc="0" baseline="0" dirty="0" err="1" smtClean="0">
                <a:solidFill>
                  <a:srgbClr val="FFFFFF"/>
                </a:solidFill>
                <a:uFillTx/>
                <a:latin typeface="Cambria" pitchFamily="34"/>
                <a:ea typeface="Cambria" pitchFamily="34"/>
                <a:cs typeface="Cambria" pitchFamily="34"/>
              </a:rPr>
              <a:t>ydajność</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vs </a:t>
            </a:r>
            <a:r>
              <a:rPr lang="pl-PL" sz="2000" b="1" i="0" u="none" strike="noStrike" kern="1200" cap="none" spc="0" baseline="0" dirty="0" smtClean="0">
                <a:solidFill>
                  <a:srgbClr val="FFFFFF"/>
                </a:solidFill>
                <a:uFillTx/>
                <a:latin typeface="Cambria" pitchFamily="34"/>
                <a:ea typeface="Cambria" pitchFamily="34"/>
                <a:cs typeface="Cambria" pitchFamily="34"/>
              </a:rPr>
              <a:t>d</a:t>
            </a:r>
            <a:r>
              <a:rPr lang="en-US" sz="2000" b="1" i="0" u="none" strike="noStrike" kern="1200" cap="none" spc="0" baseline="0" dirty="0" err="1" smtClean="0">
                <a:solidFill>
                  <a:srgbClr val="FFFFFF"/>
                </a:solidFill>
                <a:uFillTx/>
                <a:latin typeface="Cambria" pitchFamily="34"/>
                <a:ea typeface="Cambria" pitchFamily="34"/>
                <a:cs typeface="Cambria" pitchFamily="34"/>
              </a:rPr>
              <a:t>okładność</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8"/>
            <a:ext cx="8503920" cy="66059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Modele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afektywne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muszą</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działać</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czasie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rzeczywistym</a:t>
            </a:r>
            <a:r>
              <a:rPr lang="en-US" sz="1600" b="0" i="0" u="none" strike="noStrike" kern="1200" cap="none" spc="0" baseline="0" dirty="0">
                <a:solidFill>
                  <a:srgbClr val="111931"/>
                </a:solidFill>
                <a:uFillTx/>
                <a:latin typeface="Calibri" pitchFamily="34"/>
                <a:ea typeface="Calibri" pitchFamily="34"/>
                <a:cs typeface="Calibri" pitchFamily="34"/>
              </a:rPr>
              <a:t> bez </a:t>
            </a:r>
            <a:r>
              <a:rPr lang="en-US" sz="1600" b="0" i="0" u="none" strike="noStrike" kern="1200" cap="none" spc="0" baseline="0" dirty="0" err="1">
                <a:solidFill>
                  <a:srgbClr val="111931"/>
                </a:solidFill>
                <a:uFillTx/>
                <a:latin typeface="Calibri" pitchFamily="34"/>
                <a:ea typeface="Calibri" pitchFamily="34"/>
                <a:cs typeface="Calibri" pitchFamily="34"/>
              </a:rPr>
              <a:t>wyczerpania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baterii</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endParaRPr lang="pl-PL" sz="16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600" dirty="0" smtClean="0">
                <a:solidFill>
                  <a:srgbClr val="111931"/>
                </a:solidFill>
                <a:latin typeface="Calibri" pitchFamily="34"/>
                <a:ea typeface="Calibri" pitchFamily="34"/>
                <a:cs typeface="Calibri" pitchFamily="34"/>
              </a:rPr>
              <a:t>K</a:t>
            </a:r>
            <a:r>
              <a:rPr lang="en-US" sz="1600" b="0" i="0" u="none" strike="noStrike" kern="1200" cap="none" spc="0" baseline="0" dirty="0" err="1" smtClean="0">
                <a:solidFill>
                  <a:srgbClr val="111931"/>
                </a:solidFill>
                <a:uFillTx/>
                <a:latin typeface="Calibri" pitchFamily="34"/>
                <a:ea typeface="Calibri" pitchFamily="34"/>
                <a:cs typeface="Calibri" pitchFamily="34"/>
              </a:rPr>
              <a:t>ompromis</a:t>
            </a:r>
            <a:r>
              <a:rPr lang="en-US" sz="1600" b="0" i="0" u="none" strike="noStrike" kern="1200" cap="none" spc="0" baseline="0" dirty="0">
                <a:solidFill>
                  <a:srgbClr val="111931"/>
                </a:solidFill>
                <a:uFillTx/>
                <a:latin typeface="Calibri" pitchFamily="34"/>
                <a:ea typeface="Calibri" pitchFamily="34"/>
                <a:cs typeface="Calibri" pitchFamily="34"/>
              </a:rPr>
              <a:t>: accuracy vs latency vs model size vs power consumption</a:t>
            </a:r>
            <a:endParaRPr lang="en-US" sz="1600" b="0" i="0" u="none" strike="noStrike" kern="1200" cap="none" spc="0" baseline="0" dirty="0">
              <a:solidFill>
                <a:srgbClr val="111931"/>
              </a:solidFill>
              <a:uFillTx/>
              <a:latin typeface="Calibri"/>
            </a:endParaRPr>
          </a:p>
        </p:txBody>
      </p:sp>
      <p:grpSp>
        <p:nvGrpSpPr>
          <p:cNvPr id="72" name="Grupa 71"/>
          <p:cNvGrpSpPr/>
          <p:nvPr/>
        </p:nvGrpSpPr>
        <p:grpSpPr>
          <a:xfrm>
            <a:off x="320040" y="1591272"/>
            <a:ext cx="8503920" cy="1993175"/>
            <a:chOff x="320040" y="1115568"/>
            <a:chExt cx="8503920" cy="2468880"/>
          </a:xfrm>
        </p:grpSpPr>
        <p:sp>
          <p:nvSpPr>
            <p:cNvPr id="8" name="Text 6"/>
            <p:cNvSpPr/>
            <p:nvPr/>
          </p:nvSpPr>
          <p:spPr>
            <a:xfrm>
              <a:off x="320040" y="1115568"/>
              <a:ext cx="85039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Benchmarki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modeli</a:t>
              </a:r>
              <a:r>
                <a:rPr lang="en-US" sz="1200" b="1" i="0" u="none" strike="noStrike" kern="1200" cap="none" spc="0" baseline="0" dirty="0">
                  <a:solidFill>
                    <a:srgbClr val="1F1535"/>
                  </a:solidFill>
                  <a:uFillTx/>
                  <a:latin typeface="Cambria" pitchFamily="34"/>
                  <a:ea typeface="Cambria" pitchFamily="34"/>
                  <a:cs typeface="Cambria" pitchFamily="34"/>
                </a:rPr>
                <a:t> FER </a:t>
              </a:r>
              <a:r>
                <a:rPr lang="en-US" sz="1200" b="1" i="0" u="none" strike="noStrike" kern="1200" cap="none" spc="0" baseline="0" dirty="0" err="1">
                  <a:solidFill>
                    <a:srgbClr val="1F1535"/>
                  </a:solidFill>
                  <a:uFillTx/>
                  <a:latin typeface="Cambria" pitchFamily="34"/>
                  <a:ea typeface="Cambria" pitchFamily="34"/>
                  <a:cs typeface="Cambria" pitchFamily="34"/>
                </a:rPr>
                <a:t>na</a:t>
              </a:r>
              <a:r>
                <a:rPr lang="en-US" sz="1200" b="1" i="0" u="none" strike="noStrike" kern="1200" cap="none" spc="0" baseline="0" dirty="0">
                  <a:solidFill>
                    <a:srgbClr val="1F1535"/>
                  </a:solidFill>
                  <a:uFillTx/>
                  <a:latin typeface="Cambria" pitchFamily="34"/>
                  <a:ea typeface="Cambria" pitchFamily="34"/>
                  <a:cs typeface="Cambria" pitchFamily="34"/>
                </a:rPr>
                <a:t> Pixel 7 / iPhone </a:t>
              </a:r>
              <a:r>
                <a:rPr lang="en-US" sz="1200" b="1" i="0" u="none" strike="noStrike" kern="1200" cap="none" spc="0" baseline="0" dirty="0" smtClean="0">
                  <a:solidFill>
                    <a:srgbClr val="1F1535"/>
                  </a:solidFill>
                  <a:uFillTx/>
                  <a:latin typeface="Cambria" pitchFamily="34"/>
                  <a:ea typeface="Cambria" pitchFamily="34"/>
                  <a:cs typeface="Cambria" pitchFamily="34"/>
                </a:rPr>
                <a:t>14</a:t>
              </a:r>
              <a:endParaRPr lang="en-US" sz="1200" b="0" i="0" u="none" strike="noStrike" kern="1200" cap="none" spc="0" baseline="0" dirty="0">
                <a:solidFill>
                  <a:srgbClr val="000000"/>
                </a:solidFill>
                <a:uFillTx/>
                <a:latin typeface="Calibri"/>
              </a:endParaRPr>
            </a:p>
          </p:txBody>
        </p:sp>
        <p:sp>
          <p:nvSpPr>
            <p:cNvPr id="9" name="Shape 7"/>
            <p:cNvSpPr/>
            <p:nvPr/>
          </p:nvSpPr>
          <p:spPr>
            <a:xfrm>
              <a:off x="320040" y="1389888"/>
              <a:ext cx="8503920" cy="27432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347472" y="1426464"/>
              <a:ext cx="1417320"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dirty="0">
                  <a:solidFill>
                    <a:srgbClr val="FFFFFF"/>
                  </a:solidFill>
                  <a:uFillTx/>
                  <a:latin typeface="Cambria" pitchFamily="34"/>
                  <a:ea typeface="Cambria" pitchFamily="34"/>
                  <a:cs typeface="Cambria" pitchFamily="34"/>
                </a:rPr>
                <a:t>Model</a:t>
              </a:r>
              <a:endParaRPr lang="en-US" sz="1000" b="0" i="0" u="none" strike="noStrike" kern="1200" cap="none" spc="0" baseline="0" dirty="0">
                <a:solidFill>
                  <a:srgbClr val="000000"/>
                </a:solidFill>
                <a:uFillTx/>
                <a:latin typeface="Calibri"/>
              </a:endParaRPr>
            </a:p>
          </p:txBody>
        </p:sp>
        <p:sp>
          <p:nvSpPr>
            <p:cNvPr id="11" name="Text 9"/>
            <p:cNvSpPr/>
            <p:nvPr/>
          </p:nvSpPr>
          <p:spPr>
            <a:xfrm>
              <a:off x="1828800" y="1426464"/>
              <a:ext cx="1389888"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Accuracy FER+</a:t>
              </a:r>
              <a:endParaRPr lang="en-US" sz="1000" b="0" i="0" u="none" strike="noStrike" kern="1200" cap="none" spc="0" baseline="0">
                <a:solidFill>
                  <a:srgbClr val="000000"/>
                </a:solidFill>
                <a:uFillTx/>
                <a:latin typeface="Calibri"/>
              </a:endParaRPr>
            </a:p>
          </p:txBody>
        </p:sp>
        <p:sp>
          <p:nvSpPr>
            <p:cNvPr id="12" name="Text 10"/>
            <p:cNvSpPr/>
            <p:nvPr/>
          </p:nvSpPr>
          <p:spPr>
            <a:xfrm>
              <a:off x="3291840" y="1426464"/>
              <a:ext cx="896112"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Rozmiar</a:t>
              </a:r>
              <a:endParaRPr lang="en-US" sz="1000" b="0" i="0" u="none" strike="noStrike" kern="1200" cap="none" spc="0" baseline="0">
                <a:solidFill>
                  <a:srgbClr val="000000"/>
                </a:solidFill>
                <a:uFillTx/>
                <a:latin typeface="Calibri"/>
              </a:endParaRPr>
            </a:p>
          </p:txBody>
        </p:sp>
        <p:sp>
          <p:nvSpPr>
            <p:cNvPr id="13" name="Text 11"/>
            <p:cNvSpPr/>
            <p:nvPr/>
          </p:nvSpPr>
          <p:spPr>
            <a:xfrm>
              <a:off x="4251959" y="1426464"/>
              <a:ext cx="1170432"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Latencja (CPU)</a:t>
              </a:r>
              <a:endParaRPr lang="en-US" sz="1000" b="0" i="0" u="none" strike="noStrike" kern="1200" cap="none" spc="0" baseline="0">
                <a:solidFill>
                  <a:srgbClr val="000000"/>
                </a:solidFill>
                <a:uFillTx/>
                <a:latin typeface="Calibri"/>
              </a:endParaRPr>
            </a:p>
          </p:txBody>
        </p:sp>
        <p:sp>
          <p:nvSpPr>
            <p:cNvPr id="14" name="Text 12"/>
            <p:cNvSpPr/>
            <p:nvPr/>
          </p:nvSpPr>
          <p:spPr>
            <a:xfrm>
              <a:off x="5486400" y="1426464"/>
              <a:ext cx="1261872"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Latencja (GPU)</a:t>
              </a:r>
              <a:endParaRPr lang="en-US" sz="1000" b="0" i="0" u="none" strike="noStrike" kern="1200" cap="none" spc="0" baseline="0">
                <a:solidFill>
                  <a:srgbClr val="000000"/>
                </a:solidFill>
                <a:uFillTx/>
                <a:latin typeface="Calibri"/>
              </a:endParaRPr>
            </a:p>
          </p:txBody>
        </p:sp>
        <p:sp>
          <p:nvSpPr>
            <p:cNvPr id="15" name="Text 13"/>
            <p:cNvSpPr/>
            <p:nvPr/>
          </p:nvSpPr>
          <p:spPr>
            <a:xfrm>
              <a:off x="6812280" y="1426464"/>
              <a:ext cx="1645920" cy="201168"/>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1" i="0" u="none" strike="noStrike" kern="1200" cap="none" spc="0" baseline="0">
                  <a:solidFill>
                    <a:srgbClr val="FFFFFF"/>
                  </a:solidFill>
                  <a:uFillTx/>
                  <a:latin typeface="Cambria" pitchFamily="34"/>
                  <a:ea typeface="Cambria" pitchFamily="34"/>
                  <a:cs typeface="Cambria" pitchFamily="34"/>
                </a:rPr>
                <a:t>Bateria/h</a:t>
              </a:r>
              <a:endParaRPr lang="en-US" sz="1000" b="0" i="0" u="none" strike="noStrike" kern="1200" cap="none" spc="0" baseline="0">
                <a:solidFill>
                  <a:srgbClr val="000000"/>
                </a:solidFill>
                <a:uFillTx/>
                <a:latin typeface="Calibri"/>
              </a:endParaRPr>
            </a:p>
          </p:txBody>
        </p:sp>
        <p:sp>
          <p:nvSpPr>
            <p:cNvPr id="16" name="Shape 14"/>
            <p:cNvSpPr/>
            <p:nvPr/>
          </p:nvSpPr>
          <p:spPr>
            <a:xfrm>
              <a:off x="320040" y="1700784"/>
              <a:ext cx="8503920" cy="34747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320040" y="1700784"/>
              <a:ext cx="54864" cy="347472"/>
            </a:xfrm>
            <a:prstGeom prst="rect">
              <a:avLst/>
            </a:prstGeom>
            <a:solidFill>
              <a:srgbClr val="000000"/>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400812" y="1764792"/>
              <a:ext cx="14173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00000"/>
                  </a:solidFill>
                  <a:uFillTx/>
                  <a:latin typeface="Cambria" pitchFamily="34"/>
                  <a:ea typeface="Cambria" pitchFamily="34"/>
                  <a:cs typeface="Cambria" pitchFamily="34"/>
                </a:rPr>
                <a:t>ResNet-50 FP32</a:t>
              </a:r>
              <a:endParaRPr lang="en-US" sz="1050" b="0" i="0" u="none" strike="noStrike" kern="1200" cap="none" spc="0" baseline="0">
                <a:solidFill>
                  <a:srgbClr val="000000"/>
                </a:solidFill>
                <a:uFillTx/>
                <a:latin typeface="Calibri"/>
              </a:endParaRPr>
            </a:p>
          </p:txBody>
        </p:sp>
        <p:sp>
          <p:nvSpPr>
            <p:cNvPr id="19" name="Text 17"/>
            <p:cNvSpPr/>
            <p:nvPr/>
          </p:nvSpPr>
          <p:spPr>
            <a:xfrm>
              <a:off x="1828800" y="1764792"/>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87.3%</a:t>
              </a:r>
              <a:endParaRPr lang="en-US" sz="1050" b="0" i="0" u="none" strike="noStrike" kern="1200" cap="none" spc="0" baseline="0">
                <a:solidFill>
                  <a:srgbClr val="000000"/>
                </a:solidFill>
                <a:uFillTx/>
                <a:latin typeface="Calibri"/>
              </a:endParaRPr>
            </a:p>
          </p:txBody>
        </p:sp>
        <p:sp>
          <p:nvSpPr>
            <p:cNvPr id="20" name="Text 18"/>
            <p:cNvSpPr/>
            <p:nvPr/>
          </p:nvSpPr>
          <p:spPr>
            <a:xfrm>
              <a:off x="3291840" y="1764792"/>
              <a:ext cx="89611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97 MB</a:t>
              </a:r>
              <a:endParaRPr lang="en-US" sz="1050" b="0" i="0" u="none" strike="noStrike" kern="1200" cap="none" spc="0" baseline="0">
                <a:solidFill>
                  <a:srgbClr val="000000"/>
                </a:solidFill>
                <a:uFillTx/>
                <a:latin typeface="Calibri"/>
              </a:endParaRPr>
            </a:p>
          </p:txBody>
        </p:sp>
        <p:sp>
          <p:nvSpPr>
            <p:cNvPr id="21" name="Text 19"/>
            <p:cNvSpPr/>
            <p:nvPr/>
          </p:nvSpPr>
          <p:spPr>
            <a:xfrm>
              <a:off x="4251959" y="1764792"/>
              <a:ext cx="117043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285 ms</a:t>
              </a:r>
              <a:endParaRPr lang="en-US" sz="1050" b="0" i="0" u="none" strike="noStrike" kern="1200" cap="none" spc="0" baseline="0">
                <a:solidFill>
                  <a:srgbClr val="000000"/>
                </a:solidFill>
                <a:uFillTx/>
                <a:latin typeface="Calibri"/>
              </a:endParaRPr>
            </a:p>
          </p:txBody>
        </p:sp>
        <p:sp>
          <p:nvSpPr>
            <p:cNvPr id="22" name="Text 20"/>
            <p:cNvSpPr/>
            <p:nvPr/>
          </p:nvSpPr>
          <p:spPr>
            <a:xfrm>
              <a:off x="5486400" y="1764792"/>
              <a:ext cx="126187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38 ms</a:t>
              </a:r>
              <a:endParaRPr lang="en-US" sz="1050" b="0" i="0" u="none" strike="noStrike" kern="1200" cap="none" spc="0" baseline="0">
                <a:solidFill>
                  <a:srgbClr val="000000"/>
                </a:solidFill>
                <a:uFillTx/>
                <a:latin typeface="Calibri"/>
              </a:endParaRPr>
            </a:p>
          </p:txBody>
        </p:sp>
        <p:sp>
          <p:nvSpPr>
            <p:cNvPr id="23" name="Text 21"/>
            <p:cNvSpPr/>
            <p:nvPr/>
          </p:nvSpPr>
          <p:spPr>
            <a:xfrm>
              <a:off x="6812280" y="1764792"/>
              <a:ext cx="16459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~35%</a:t>
              </a:r>
              <a:endParaRPr lang="en-US" sz="1050" b="0" i="0" u="none" strike="noStrike" kern="1200" cap="none" spc="0" baseline="0">
                <a:solidFill>
                  <a:srgbClr val="000000"/>
                </a:solidFill>
                <a:uFillTx/>
                <a:latin typeface="Calibri"/>
              </a:endParaRPr>
            </a:p>
          </p:txBody>
        </p:sp>
        <p:sp>
          <p:nvSpPr>
            <p:cNvPr id="24" name="Shape 22"/>
            <p:cNvSpPr/>
            <p:nvPr/>
          </p:nvSpPr>
          <p:spPr>
            <a:xfrm>
              <a:off x="320040" y="2084832"/>
              <a:ext cx="8503920" cy="347472"/>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Shape 23"/>
            <p:cNvSpPr/>
            <p:nvPr/>
          </p:nvSpPr>
          <p:spPr>
            <a:xfrm>
              <a:off x="320040" y="2084832"/>
              <a:ext cx="54864" cy="347472"/>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400812" y="2148839"/>
              <a:ext cx="14173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dirty="0">
                  <a:solidFill>
                    <a:srgbClr val="D97706"/>
                  </a:solidFill>
                  <a:uFillTx/>
                  <a:latin typeface="Cambria" pitchFamily="34"/>
                  <a:ea typeface="Cambria" pitchFamily="34"/>
                  <a:cs typeface="Cambria" pitchFamily="34"/>
                </a:rPr>
                <a:t>MobileNetV3-L INT8</a:t>
              </a:r>
              <a:endParaRPr lang="en-US" sz="1050" b="0" i="0" u="none" strike="noStrike" kern="1200" cap="none" spc="0" baseline="0" dirty="0">
                <a:solidFill>
                  <a:srgbClr val="000000"/>
                </a:solidFill>
                <a:uFillTx/>
                <a:latin typeface="Calibri"/>
              </a:endParaRPr>
            </a:p>
          </p:txBody>
        </p:sp>
        <p:sp>
          <p:nvSpPr>
            <p:cNvPr id="27" name="Text 25"/>
            <p:cNvSpPr/>
            <p:nvPr/>
          </p:nvSpPr>
          <p:spPr>
            <a:xfrm>
              <a:off x="1828800" y="2148839"/>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83.1%</a:t>
              </a:r>
              <a:endParaRPr lang="en-US" sz="1050" b="0" i="0" u="none" strike="noStrike" kern="1200" cap="none" spc="0" baseline="0">
                <a:solidFill>
                  <a:srgbClr val="000000"/>
                </a:solidFill>
                <a:uFillTx/>
                <a:latin typeface="Calibri"/>
              </a:endParaRPr>
            </a:p>
          </p:txBody>
        </p:sp>
        <p:sp>
          <p:nvSpPr>
            <p:cNvPr id="28" name="Text 26"/>
            <p:cNvSpPr/>
            <p:nvPr/>
          </p:nvSpPr>
          <p:spPr>
            <a:xfrm>
              <a:off x="3291840" y="2148839"/>
              <a:ext cx="89611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8.2 MB</a:t>
              </a:r>
              <a:endParaRPr lang="en-US" sz="1050" b="0" i="0" u="none" strike="noStrike" kern="1200" cap="none" spc="0" baseline="0">
                <a:solidFill>
                  <a:srgbClr val="000000"/>
                </a:solidFill>
                <a:uFillTx/>
                <a:latin typeface="Calibri"/>
              </a:endParaRPr>
            </a:p>
          </p:txBody>
        </p:sp>
        <p:sp>
          <p:nvSpPr>
            <p:cNvPr id="29" name="Text 27"/>
            <p:cNvSpPr/>
            <p:nvPr/>
          </p:nvSpPr>
          <p:spPr>
            <a:xfrm>
              <a:off x="4251959" y="2148839"/>
              <a:ext cx="117043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28 ms</a:t>
              </a:r>
              <a:endParaRPr lang="en-US" sz="1050" b="0" i="0" u="none" strike="noStrike" kern="1200" cap="none" spc="0" baseline="0">
                <a:solidFill>
                  <a:srgbClr val="000000"/>
                </a:solidFill>
                <a:uFillTx/>
                <a:latin typeface="Calibri"/>
              </a:endParaRPr>
            </a:p>
          </p:txBody>
        </p:sp>
        <p:sp>
          <p:nvSpPr>
            <p:cNvPr id="30" name="Text 28"/>
            <p:cNvSpPr/>
            <p:nvPr/>
          </p:nvSpPr>
          <p:spPr>
            <a:xfrm>
              <a:off x="5486400" y="2148839"/>
              <a:ext cx="126187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11 ms</a:t>
              </a:r>
              <a:endParaRPr lang="en-US" sz="1050" b="0" i="0" u="none" strike="noStrike" kern="1200" cap="none" spc="0" baseline="0">
                <a:solidFill>
                  <a:srgbClr val="000000"/>
                </a:solidFill>
                <a:uFillTx/>
                <a:latin typeface="Calibri"/>
              </a:endParaRPr>
            </a:p>
          </p:txBody>
        </p:sp>
        <p:sp>
          <p:nvSpPr>
            <p:cNvPr id="31" name="Text 29"/>
            <p:cNvSpPr/>
            <p:nvPr/>
          </p:nvSpPr>
          <p:spPr>
            <a:xfrm>
              <a:off x="6812280" y="2148839"/>
              <a:ext cx="16459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a:t>
              </a:r>
              <a:endParaRPr lang="en-US" sz="1050" b="0" i="0" u="none" strike="noStrike" kern="1200" cap="none" spc="0" baseline="0">
                <a:solidFill>
                  <a:srgbClr val="000000"/>
                </a:solidFill>
                <a:uFillTx/>
                <a:latin typeface="Calibri"/>
              </a:endParaRPr>
            </a:p>
          </p:txBody>
        </p:sp>
        <p:sp>
          <p:nvSpPr>
            <p:cNvPr id="32" name="Shape 30"/>
            <p:cNvSpPr/>
            <p:nvPr/>
          </p:nvSpPr>
          <p:spPr>
            <a:xfrm>
              <a:off x="320040" y="2468880"/>
              <a:ext cx="8503920" cy="34747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Shape 31"/>
            <p:cNvSpPr/>
            <p:nvPr/>
          </p:nvSpPr>
          <p:spPr>
            <a:xfrm>
              <a:off x="320040" y="2468880"/>
              <a:ext cx="54864" cy="347472"/>
            </a:xfrm>
            <a:prstGeom prst="rect">
              <a:avLst/>
            </a:prstGeom>
            <a:solidFill>
              <a:srgbClr val="000000"/>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00812" y="2532888"/>
              <a:ext cx="14173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00000"/>
                  </a:solidFill>
                  <a:uFillTx/>
                  <a:latin typeface="Cambria" pitchFamily="34"/>
                  <a:ea typeface="Cambria" pitchFamily="34"/>
                  <a:cs typeface="Cambria" pitchFamily="34"/>
                </a:rPr>
                <a:t>EfficientNet-B0</a:t>
              </a:r>
              <a:endParaRPr lang="en-US" sz="1050" b="0" i="0" u="none" strike="noStrike" kern="1200" cap="none" spc="0" baseline="0">
                <a:solidFill>
                  <a:srgbClr val="000000"/>
                </a:solidFill>
                <a:uFillTx/>
                <a:latin typeface="Calibri"/>
              </a:endParaRPr>
            </a:p>
          </p:txBody>
        </p:sp>
        <p:sp>
          <p:nvSpPr>
            <p:cNvPr id="35" name="Text 33"/>
            <p:cNvSpPr/>
            <p:nvPr/>
          </p:nvSpPr>
          <p:spPr>
            <a:xfrm>
              <a:off x="1828800" y="2532888"/>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85.8%</a:t>
              </a:r>
              <a:endParaRPr lang="en-US" sz="1050" b="0" i="0" u="none" strike="noStrike" kern="1200" cap="none" spc="0" baseline="0">
                <a:solidFill>
                  <a:srgbClr val="000000"/>
                </a:solidFill>
                <a:uFillTx/>
                <a:latin typeface="Calibri"/>
              </a:endParaRPr>
            </a:p>
          </p:txBody>
        </p:sp>
        <p:sp>
          <p:nvSpPr>
            <p:cNvPr id="36" name="Text 34"/>
            <p:cNvSpPr/>
            <p:nvPr/>
          </p:nvSpPr>
          <p:spPr>
            <a:xfrm>
              <a:off x="3291840" y="2532888"/>
              <a:ext cx="89611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20 MB</a:t>
              </a:r>
              <a:endParaRPr lang="en-US" sz="1050" b="0" i="0" u="none" strike="noStrike" kern="1200" cap="none" spc="0" baseline="0">
                <a:solidFill>
                  <a:srgbClr val="000000"/>
                </a:solidFill>
                <a:uFillTx/>
                <a:latin typeface="Calibri"/>
              </a:endParaRPr>
            </a:p>
          </p:txBody>
        </p:sp>
        <p:sp>
          <p:nvSpPr>
            <p:cNvPr id="37" name="Text 35"/>
            <p:cNvSpPr/>
            <p:nvPr/>
          </p:nvSpPr>
          <p:spPr>
            <a:xfrm>
              <a:off x="4251959" y="2532888"/>
              <a:ext cx="117043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52 ms</a:t>
              </a:r>
              <a:endParaRPr lang="en-US" sz="1050" b="0" i="0" u="none" strike="noStrike" kern="1200" cap="none" spc="0" baseline="0">
                <a:solidFill>
                  <a:srgbClr val="000000"/>
                </a:solidFill>
                <a:uFillTx/>
                <a:latin typeface="Calibri"/>
              </a:endParaRPr>
            </a:p>
          </p:txBody>
        </p:sp>
        <p:sp>
          <p:nvSpPr>
            <p:cNvPr id="38" name="Text 36"/>
            <p:cNvSpPr/>
            <p:nvPr/>
          </p:nvSpPr>
          <p:spPr>
            <a:xfrm>
              <a:off x="5486400" y="2532888"/>
              <a:ext cx="126187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16 ms</a:t>
              </a:r>
              <a:endParaRPr lang="en-US" sz="1050" b="0" i="0" u="none" strike="noStrike" kern="1200" cap="none" spc="0" baseline="0">
                <a:solidFill>
                  <a:srgbClr val="000000"/>
                </a:solidFill>
                <a:uFillTx/>
                <a:latin typeface="Calibri"/>
              </a:endParaRPr>
            </a:p>
          </p:txBody>
        </p:sp>
        <p:sp>
          <p:nvSpPr>
            <p:cNvPr id="39" name="Text 37"/>
            <p:cNvSpPr/>
            <p:nvPr/>
          </p:nvSpPr>
          <p:spPr>
            <a:xfrm>
              <a:off x="6812280" y="2532888"/>
              <a:ext cx="16459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~12%</a:t>
              </a:r>
              <a:endParaRPr lang="en-US" sz="1050" b="0" i="0" u="none" strike="noStrike" kern="1200" cap="none" spc="0" baseline="0">
                <a:solidFill>
                  <a:srgbClr val="000000"/>
                </a:solidFill>
                <a:uFillTx/>
                <a:latin typeface="Calibri"/>
              </a:endParaRPr>
            </a:p>
          </p:txBody>
        </p:sp>
        <p:sp>
          <p:nvSpPr>
            <p:cNvPr id="40" name="Shape 38"/>
            <p:cNvSpPr/>
            <p:nvPr/>
          </p:nvSpPr>
          <p:spPr>
            <a:xfrm>
              <a:off x="320040" y="2852928"/>
              <a:ext cx="8503920" cy="347472"/>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320040" y="2852928"/>
              <a:ext cx="54864" cy="347472"/>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00812" y="2916936"/>
              <a:ext cx="14173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59669"/>
                  </a:solidFill>
                  <a:uFillTx/>
                  <a:latin typeface="Cambria" pitchFamily="34"/>
                  <a:ea typeface="Cambria" pitchFamily="34"/>
                  <a:cs typeface="Cambria" pitchFamily="34"/>
                </a:rPr>
                <a:t>MediaPipe FER task</a:t>
              </a:r>
              <a:endParaRPr lang="en-US" sz="1050" b="0" i="0" u="none" strike="noStrike" kern="1200" cap="none" spc="0" baseline="0">
                <a:solidFill>
                  <a:srgbClr val="000000"/>
                </a:solidFill>
                <a:uFillTx/>
                <a:latin typeface="Calibri"/>
              </a:endParaRPr>
            </a:p>
          </p:txBody>
        </p:sp>
        <p:sp>
          <p:nvSpPr>
            <p:cNvPr id="43" name="Text 41"/>
            <p:cNvSpPr/>
            <p:nvPr/>
          </p:nvSpPr>
          <p:spPr>
            <a:xfrm>
              <a:off x="1828800" y="2916936"/>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81.4%</a:t>
              </a:r>
              <a:endParaRPr lang="en-US" sz="1050" b="0" i="0" u="none" strike="noStrike" kern="1200" cap="none" spc="0" baseline="0">
                <a:solidFill>
                  <a:srgbClr val="000000"/>
                </a:solidFill>
                <a:uFillTx/>
                <a:latin typeface="Calibri"/>
              </a:endParaRPr>
            </a:p>
          </p:txBody>
        </p:sp>
        <p:sp>
          <p:nvSpPr>
            <p:cNvPr id="44" name="Text 42"/>
            <p:cNvSpPr/>
            <p:nvPr/>
          </p:nvSpPr>
          <p:spPr>
            <a:xfrm>
              <a:off x="3291840" y="2916936"/>
              <a:ext cx="89611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3.1 MB</a:t>
              </a:r>
              <a:endParaRPr lang="en-US" sz="1050" b="0" i="0" u="none" strike="noStrike" kern="1200" cap="none" spc="0" baseline="0">
                <a:solidFill>
                  <a:srgbClr val="000000"/>
                </a:solidFill>
                <a:uFillTx/>
                <a:latin typeface="Calibri"/>
              </a:endParaRPr>
            </a:p>
          </p:txBody>
        </p:sp>
        <p:sp>
          <p:nvSpPr>
            <p:cNvPr id="45" name="Text 43"/>
            <p:cNvSpPr/>
            <p:nvPr/>
          </p:nvSpPr>
          <p:spPr>
            <a:xfrm>
              <a:off x="4251959" y="2916936"/>
              <a:ext cx="117043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12 ms</a:t>
              </a:r>
              <a:endParaRPr lang="en-US" sz="1050" b="0" i="0" u="none" strike="noStrike" kern="1200" cap="none" spc="0" baseline="0">
                <a:solidFill>
                  <a:srgbClr val="000000"/>
                </a:solidFill>
                <a:uFillTx/>
                <a:latin typeface="Calibri"/>
              </a:endParaRPr>
            </a:p>
          </p:txBody>
        </p:sp>
        <p:sp>
          <p:nvSpPr>
            <p:cNvPr id="46" name="Text 44"/>
            <p:cNvSpPr/>
            <p:nvPr/>
          </p:nvSpPr>
          <p:spPr>
            <a:xfrm>
              <a:off x="5486400" y="2916936"/>
              <a:ext cx="126187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6 ms</a:t>
              </a:r>
              <a:endParaRPr lang="en-US" sz="1050" b="0" i="0" u="none" strike="noStrike" kern="1200" cap="none" spc="0" baseline="0">
                <a:solidFill>
                  <a:srgbClr val="000000"/>
                </a:solidFill>
                <a:uFillTx/>
                <a:latin typeface="Calibri"/>
              </a:endParaRPr>
            </a:p>
          </p:txBody>
        </p:sp>
        <p:sp>
          <p:nvSpPr>
            <p:cNvPr id="47" name="Text 45"/>
            <p:cNvSpPr/>
            <p:nvPr/>
          </p:nvSpPr>
          <p:spPr>
            <a:xfrm>
              <a:off x="6812280" y="2916936"/>
              <a:ext cx="16459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~5%</a:t>
              </a:r>
              <a:endParaRPr lang="en-US" sz="1050" b="0" i="0" u="none" strike="noStrike" kern="1200" cap="none" spc="0" baseline="0">
                <a:solidFill>
                  <a:srgbClr val="000000"/>
                </a:solidFill>
                <a:uFillTx/>
                <a:latin typeface="Calibri"/>
              </a:endParaRPr>
            </a:p>
          </p:txBody>
        </p:sp>
        <p:sp>
          <p:nvSpPr>
            <p:cNvPr id="48" name="Shape 46"/>
            <p:cNvSpPr/>
            <p:nvPr/>
          </p:nvSpPr>
          <p:spPr>
            <a:xfrm>
              <a:off x="320040" y="3236976"/>
              <a:ext cx="8503920" cy="34747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9" name="Shape 47"/>
            <p:cNvSpPr/>
            <p:nvPr/>
          </p:nvSpPr>
          <p:spPr>
            <a:xfrm>
              <a:off x="320040" y="3236976"/>
              <a:ext cx="54864" cy="347472"/>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0" name="Text 48"/>
            <p:cNvSpPr/>
            <p:nvPr/>
          </p:nvSpPr>
          <p:spPr>
            <a:xfrm>
              <a:off x="400812" y="3300984"/>
              <a:ext cx="14173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1" i="0" u="none" strike="noStrike" kern="1200" cap="none" spc="0" baseline="0">
                  <a:solidFill>
                    <a:srgbClr val="0891B2"/>
                  </a:solidFill>
                  <a:uFillTx/>
                  <a:latin typeface="Cambria" pitchFamily="34"/>
                  <a:ea typeface="Cambria" pitchFamily="34"/>
                  <a:cs typeface="Cambria" pitchFamily="34"/>
                </a:rPr>
                <a:t>Custom TinySER</a:t>
              </a:r>
              <a:endParaRPr lang="en-US" sz="1050" b="0" i="0" u="none" strike="noStrike" kern="1200" cap="none" spc="0" baseline="0">
                <a:solidFill>
                  <a:srgbClr val="000000"/>
                </a:solidFill>
                <a:uFillTx/>
                <a:latin typeface="Calibri"/>
              </a:endParaRPr>
            </a:p>
          </p:txBody>
        </p:sp>
        <p:sp>
          <p:nvSpPr>
            <p:cNvPr id="51" name="Text 49"/>
            <p:cNvSpPr/>
            <p:nvPr/>
          </p:nvSpPr>
          <p:spPr>
            <a:xfrm>
              <a:off x="1828800" y="3300984"/>
              <a:ext cx="138988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79.2%</a:t>
              </a:r>
              <a:endParaRPr lang="en-US" sz="1050" b="0" i="0" u="none" strike="noStrike" kern="1200" cap="none" spc="0" baseline="0">
                <a:solidFill>
                  <a:srgbClr val="000000"/>
                </a:solidFill>
                <a:uFillTx/>
                <a:latin typeface="Calibri"/>
              </a:endParaRPr>
            </a:p>
          </p:txBody>
        </p:sp>
        <p:sp>
          <p:nvSpPr>
            <p:cNvPr id="52" name="Text 50"/>
            <p:cNvSpPr/>
            <p:nvPr/>
          </p:nvSpPr>
          <p:spPr>
            <a:xfrm>
              <a:off x="3291840" y="3300984"/>
              <a:ext cx="89611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1.8 MB</a:t>
              </a:r>
              <a:endParaRPr lang="en-US" sz="1050" b="0" i="0" u="none" strike="noStrike" kern="1200" cap="none" spc="0" baseline="0">
                <a:solidFill>
                  <a:srgbClr val="000000"/>
                </a:solidFill>
                <a:uFillTx/>
                <a:latin typeface="Calibri"/>
              </a:endParaRPr>
            </a:p>
          </p:txBody>
        </p:sp>
        <p:sp>
          <p:nvSpPr>
            <p:cNvPr id="53" name="Text 51"/>
            <p:cNvSpPr/>
            <p:nvPr/>
          </p:nvSpPr>
          <p:spPr>
            <a:xfrm>
              <a:off x="4251959" y="3300984"/>
              <a:ext cx="117043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8 ms</a:t>
              </a:r>
              <a:endParaRPr lang="en-US" sz="1050" b="0" i="0" u="none" strike="noStrike" kern="1200" cap="none" spc="0" baseline="0">
                <a:solidFill>
                  <a:srgbClr val="000000"/>
                </a:solidFill>
                <a:uFillTx/>
                <a:latin typeface="Calibri"/>
              </a:endParaRPr>
            </a:p>
          </p:txBody>
        </p:sp>
        <p:sp>
          <p:nvSpPr>
            <p:cNvPr id="54" name="Text 52"/>
            <p:cNvSpPr/>
            <p:nvPr/>
          </p:nvSpPr>
          <p:spPr>
            <a:xfrm>
              <a:off x="5486400" y="3300984"/>
              <a:ext cx="1261872"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4 ms</a:t>
              </a:r>
              <a:endParaRPr lang="en-US" sz="1050" b="0" i="0" u="none" strike="noStrike" kern="1200" cap="none" spc="0" baseline="0">
                <a:solidFill>
                  <a:srgbClr val="000000"/>
                </a:solidFill>
                <a:uFillTx/>
                <a:latin typeface="Calibri"/>
              </a:endParaRPr>
            </a:p>
          </p:txBody>
        </p:sp>
        <p:sp>
          <p:nvSpPr>
            <p:cNvPr id="55" name="Text 53"/>
            <p:cNvSpPr/>
            <p:nvPr/>
          </p:nvSpPr>
          <p:spPr>
            <a:xfrm>
              <a:off x="6812280" y="3300984"/>
              <a:ext cx="164592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4C3D6B"/>
                  </a:solidFill>
                  <a:uFillTx/>
                  <a:latin typeface="Calibri" pitchFamily="34"/>
                  <a:ea typeface="Calibri" pitchFamily="34"/>
                  <a:cs typeface="Calibri" pitchFamily="34"/>
                </a:rPr>
                <a:t>~3%</a:t>
              </a:r>
              <a:endParaRPr lang="en-US" sz="1050" b="0" i="0" u="none" strike="noStrike" kern="1200" cap="none" spc="0" baseline="0">
                <a:solidFill>
                  <a:srgbClr val="000000"/>
                </a:solidFill>
                <a:uFillTx/>
                <a:latin typeface="Calibri"/>
              </a:endParaRPr>
            </a:p>
          </p:txBody>
        </p:sp>
      </p:grpSp>
      <p:sp>
        <p:nvSpPr>
          <p:cNvPr id="56" name="Text 54"/>
          <p:cNvSpPr/>
          <p:nvPr/>
        </p:nvSpPr>
        <p:spPr>
          <a:xfrm>
            <a:off x="320040" y="3712463"/>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Techniki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kompresji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modeli</a:t>
            </a:r>
            <a:endParaRPr lang="en-US" sz="1200" b="0" i="0" u="none" strike="noStrike" kern="1200" cap="none" spc="0" baseline="0" dirty="0">
              <a:solidFill>
                <a:srgbClr val="000000"/>
              </a:solidFill>
              <a:uFillTx/>
              <a:latin typeface="Calibri"/>
            </a:endParaRPr>
          </a:p>
        </p:txBody>
      </p:sp>
      <p:sp>
        <p:nvSpPr>
          <p:cNvPr id="57" name="Shape 55"/>
          <p:cNvSpPr/>
          <p:nvPr/>
        </p:nvSpPr>
        <p:spPr>
          <a:xfrm>
            <a:off x="320040" y="3986782"/>
            <a:ext cx="2743200" cy="867157"/>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8" name="Shape 56"/>
          <p:cNvSpPr/>
          <p:nvPr/>
        </p:nvSpPr>
        <p:spPr>
          <a:xfrm>
            <a:off x="320040" y="3986782"/>
            <a:ext cx="54864" cy="867157"/>
          </a:xfrm>
          <a:prstGeom prst="rect">
            <a:avLst/>
          </a:prstGeom>
          <a:solidFill>
            <a:schemeClr val="accent1"/>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9" name="Text 57"/>
          <p:cNvSpPr/>
          <p:nvPr/>
        </p:nvSpPr>
        <p:spPr>
          <a:xfrm>
            <a:off x="448056" y="4012692"/>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Knowledge Distillation</a:t>
            </a:r>
            <a:endParaRPr lang="en-US" sz="1150" b="0" i="0" u="none" strike="noStrike" kern="1200" cap="none" spc="0" baseline="0" dirty="0">
              <a:solidFill>
                <a:srgbClr val="000000"/>
              </a:solidFill>
              <a:uFillTx/>
              <a:latin typeface="Calibri"/>
            </a:endParaRPr>
          </a:p>
        </p:txBody>
      </p:sp>
      <p:sp>
        <p:nvSpPr>
          <p:cNvPr id="60" name="Text 58"/>
          <p:cNvSpPr/>
          <p:nvPr/>
        </p:nvSpPr>
        <p:spPr>
          <a:xfrm>
            <a:off x="448056" y="4315968"/>
            <a:ext cx="2560320" cy="4206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Student (</a:t>
            </a:r>
            <a:r>
              <a:rPr lang="en-US" sz="1000" b="0" i="0" u="none" strike="noStrike" kern="1200" cap="none" spc="0" baseline="0" dirty="0" err="1">
                <a:solidFill>
                  <a:srgbClr val="111931"/>
                </a:solidFill>
                <a:uFillTx/>
                <a:latin typeface="Calibri" pitchFamily="34"/>
                <a:ea typeface="Calibri" pitchFamily="34"/>
                <a:cs typeface="Calibri" pitchFamily="34"/>
              </a:rPr>
              <a:t>mały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uczy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od Teacher (</a:t>
            </a:r>
            <a:r>
              <a:rPr lang="en-US" sz="1000" b="0" i="0" u="none" strike="noStrike" kern="1200" cap="none" spc="0" baseline="0" dirty="0" err="1">
                <a:solidFill>
                  <a:srgbClr val="111931"/>
                </a:solidFill>
                <a:uFillTx/>
                <a:latin typeface="Calibri" pitchFamily="34"/>
                <a:ea typeface="Calibri" pitchFamily="34"/>
                <a:cs typeface="Calibri" pitchFamily="34"/>
              </a:rPr>
              <a:t>duży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EfficientFER</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jako</a:t>
            </a:r>
            <a:r>
              <a:rPr lang="en-US" sz="1000" b="0" i="0" u="none" strike="noStrike" kern="1200" cap="none" spc="0" baseline="0" dirty="0">
                <a:solidFill>
                  <a:srgbClr val="111931"/>
                </a:solidFill>
                <a:uFillTx/>
                <a:latin typeface="Calibri" pitchFamily="34"/>
                <a:ea typeface="Calibri" pitchFamily="34"/>
                <a:cs typeface="Calibri" pitchFamily="34"/>
              </a:rPr>
              <a:t> student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ResNet-50. </a:t>
            </a:r>
            <a:r>
              <a:rPr lang="en-US" sz="1000" b="0" i="0" u="none" strike="noStrike" kern="1200" cap="none" spc="0" baseline="0" dirty="0" err="1">
                <a:solidFill>
                  <a:srgbClr val="111931"/>
                </a:solidFill>
                <a:uFillTx/>
                <a:latin typeface="Calibri" pitchFamily="34"/>
                <a:ea typeface="Calibri" pitchFamily="34"/>
                <a:cs typeface="Calibri" pitchFamily="34"/>
              </a:rPr>
              <a:t>Zachowuje</a:t>
            </a:r>
            <a:r>
              <a:rPr lang="en-US" sz="1000" b="0" i="0" u="none" strike="noStrike" kern="1200" cap="none" spc="0" baseline="0" dirty="0">
                <a:solidFill>
                  <a:srgbClr val="111931"/>
                </a:solidFill>
                <a:uFillTx/>
                <a:latin typeface="Calibri" pitchFamily="34"/>
                <a:ea typeface="Calibri" pitchFamily="34"/>
                <a:cs typeface="Calibri" pitchFamily="34"/>
              </a:rPr>
              <a:t> 97% accuracy </a:t>
            </a:r>
            <a:r>
              <a:rPr lang="en-US" sz="1000" b="0" i="0" u="none" strike="noStrike" kern="1200" cap="none" spc="0" baseline="0" dirty="0" err="1">
                <a:solidFill>
                  <a:srgbClr val="111931"/>
                </a:solidFill>
                <a:uFillTx/>
                <a:latin typeface="Calibri" pitchFamily="34"/>
                <a:ea typeface="Calibri" pitchFamily="34"/>
                <a:cs typeface="Calibri" pitchFamily="34"/>
              </a:rPr>
              <a:t>przy</a:t>
            </a:r>
            <a:r>
              <a:rPr lang="en-US" sz="1000" b="0" i="0" u="none" strike="noStrike" kern="1200" cap="none" spc="0" baseline="0" dirty="0">
                <a:solidFill>
                  <a:srgbClr val="111931"/>
                </a:solidFill>
                <a:uFillTx/>
                <a:latin typeface="Calibri" pitchFamily="34"/>
                <a:ea typeface="Calibri" pitchFamily="34"/>
                <a:cs typeface="Calibri" pitchFamily="34"/>
              </a:rPr>
              <a:t> 10× </a:t>
            </a:r>
            <a:r>
              <a:rPr lang="en-US" sz="1000" b="0" i="0" u="none" strike="noStrike" kern="1200" cap="none" spc="0" baseline="0" dirty="0" err="1">
                <a:solidFill>
                  <a:srgbClr val="111931"/>
                </a:solidFill>
                <a:uFillTx/>
                <a:latin typeface="Calibri" pitchFamily="34"/>
                <a:ea typeface="Calibri" pitchFamily="34"/>
                <a:cs typeface="Calibri" pitchFamily="34"/>
              </a:rPr>
              <a:t>mniejszym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modelu</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sp>
        <p:nvSpPr>
          <p:cNvPr id="61" name="Shape 59"/>
          <p:cNvSpPr/>
          <p:nvPr/>
        </p:nvSpPr>
        <p:spPr>
          <a:xfrm>
            <a:off x="3200400" y="3986782"/>
            <a:ext cx="2743200" cy="867157"/>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2" name="Shape 60"/>
          <p:cNvSpPr/>
          <p:nvPr/>
        </p:nvSpPr>
        <p:spPr>
          <a:xfrm>
            <a:off x="3200400" y="3986782"/>
            <a:ext cx="54864" cy="867157"/>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3" name="Text 61"/>
          <p:cNvSpPr/>
          <p:nvPr/>
        </p:nvSpPr>
        <p:spPr>
          <a:xfrm>
            <a:off x="3328416" y="4012692"/>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Pruning (przycinanie)</a:t>
            </a:r>
            <a:endParaRPr lang="en-US" sz="1150" b="0" i="0" u="none" strike="noStrike" kern="1200" cap="none" spc="0" baseline="0">
              <a:solidFill>
                <a:srgbClr val="000000"/>
              </a:solidFill>
              <a:uFillTx/>
              <a:latin typeface="Calibri"/>
            </a:endParaRPr>
          </a:p>
        </p:txBody>
      </p:sp>
      <p:sp>
        <p:nvSpPr>
          <p:cNvPr id="64" name="Text 62"/>
          <p:cNvSpPr/>
          <p:nvPr/>
        </p:nvSpPr>
        <p:spPr>
          <a:xfrm>
            <a:off x="3328416" y="4315968"/>
            <a:ext cx="2560320" cy="4206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Usuwanie wag &lt; threshold. Structured pruning: całe filtry. Unstructured: indywidualne wagi. Sparse model → 60–80% wag zero.</a:t>
            </a:r>
            <a:endParaRPr lang="en-US" sz="1000" b="0" i="0" u="none" strike="noStrike" kern="1200" cap="none" spc="0" baseline="0">
              <a:solidFill>
                <a:srgbClr val="111931"/>
              </a:solidFill>
              <a:uFillTx/>
              <a:latin typeface="Calibri"/>
            </a:endParaRPr>
          </a:p>
        </p:txBody>
      </p:sp>
      <p:sp>
        <p:nvSpPr>
          <p:cNvPr id="65" name="Shape 63"/>
          <p:cNvSpPr/>
          <p:nvPr/>
        </p:nvSpPr>
        <p:spPr>
          <a:xfrm>
            <a:off x="6080759" y="3986782"/>
            <a:ext cx="2743200" cy="867157"/>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6" name="Shape 64"/>
          <p:cNvSpPr/>
          <p:nvPr/>
        </p:nvSpPr>
        <p:spPr>
          <a:xfrm>
            <a:off x="6080759" y="3986782"/>
            <a:ext cx="54864" cy="867157"/>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7" name="Text 65"/>
          <p:cNvSpPr/>
          <p:nvPr/>
        </p:nvSpPr>
        <p:spPr>
          <a:xfrm>
            <a:off x="6208776" y="4012692"/>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Neural Architecture Search</a:t>
            </a:r>
            <a:endParaRPr lang="en-US" sz="1150" b="0" i="0" u="none" strike="noStrike" kern="1200" cap="none" spc="0" baseline="0">
              <a:solidFill>
                <a:srgbClr val="000000"/>
              </a:solidFill>
              <a:uFillTx/>
              <a:latin typeface="Calibri"/>
            </a:endParaRPr>
          </a:p>
        </p:txBody>
      </p:sp>
      <p:sp>
        <p:nvSpPr>
          <p:cNvPr id="68" name="Text 66"/>
          <p:cNvSpPr/>
          <p:nvPr/>
        </p:nvSpPr>
        <p:spPr>
          <a:xfrm>
            <a:off x="6208776" y="4315968"/>
            <a:ext cx="2560320" cy="4206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AutoML: NAS optymalizuje architekturę dla mobile constraints (latency budget). MNasNet, EfficientNet-Lite projektowane pod mobile.</a:t>
            </a:r>
            <a:endParaRPr lang="en-US" sz="1000" b="0" i="0" u="none" strike="noStrike" kern="1200" cap="none" spc="0" baseline="0">
              <a:solidFill>
                <a:srgbClr val="111931"/>
              </a:solidFill>
              <a:uFillTx/>
              <a:latin typeface="Calibri"/>
            </a:endParaRPr>
          </a:p>
        </p:txBody>
      </p:sp>
      <p:sp>
        <p:nvSpPr>
          <p:cNvPr id="73"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17</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9FF"/>
        </a:solidFill>
        <a:effectLst/>
      </p:bgPr>
    </p:bg>
    <p:spTree>
      <p:nvGrpSpPr>
        <p:cNvPr id="1" name=""/>
        <p:cNvGrpSpPr/>
        <p:nvPr/>
      </p:nvGrpSpPr>
      <p:grpSpPr>
        <a:xfrm>
          <a:off x="0" y="0"/>
          <a:ext cx="0" cy="0"/>
          <a:chOff x="0" y="0"/>
          <a:chExt cx="0" cy="0"/>
        </a:xfrm>
      </p:grpSpPr>
      <p:grpSp>
        <p:nvGrpSpPr>
          <p:cNvPr id="45" name="Grupa 44"/>
          <p:cNvGrpSpPr/>
          <p:nvPr/>
        </p:nvGrpSpPr>
        <p:grpSpPr>
          <a:xfrm>
            <a:off x="0" y="0"/>
            <a:ext cx="9144000" cy="558000"/>
            <a:chOff x="0" y="0"/>
            <a:chExt cx="9144000" cy="558000"/>
          </a:xfrm>
        </p:grpSpPr>
        <p:sp>
          <p:nvSpPr>
            <p:cNvPr id="46"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Affective </a:t>
            </a:r>
            <a:r>
              <a:rPr lang="en-US" sz="2000" b="1" i="0" u="none" strike="noStrike" kern="1200" cap="none" spc="0" baseline="0" dirty="0" smtClean="0">
                <a:solidFill>
                  <a:srgbClr val="FFFFFF"/>
                </a:solidFill>
                <a:uFillTx/>
                <a:latin typeface="Cambria" pitchFamily="34"/>
                <a:ea typeface="Cambria" pitchFamily="34"/>
                <a:cs typeface="Cambria" pitchFamily="34"/>
              </a:rPr>
              <a:t>UX</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pl-PL" sz="2000" b="1" i="0" u="none" strike="noStrike" kern="1200" cap="none" spc="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daptacja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i</a:t>
            </a:r>
            <a:r>
              <a:rPr lang="en-US" sz="2000" b="1" i="0" u="none" strike="noStrike" kern="1200" cap="none" spc="0" baseline="0" dirty="0" err="1" smtClean="0">
                <a:solidFill>
                  <a:srgbClr val="FFFFFF"/>
                </a:solidFill>
                <a:uFillTx/>
                <a:latin typeface="Cambria" pitchFamily="34"/>
                <a:ea typeface="Cambria" pitchFamily="34"/>
                <a:cs typeface="Cambria" pitchFamily="34"/>
              </a:rPr>
              <a:t>nterfejsu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a:solidFill>
                  <a:srgbClr val="FFFFFF"/>
                </a:solidFill>
                <a:uFillTx/>
                <a:latin typeface="Cambria" pitchFamily="34"/>
                <a:ea typeface="Cambria" pitchFamily="34"/>
                <a:cs typeface="Cambria" pitchFamily="34"/>
              </a:rPr>
              <a:t>do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tanu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mocjonalnego</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698753" y="688518"/>
            <a:ext cx="7600189" cy="651185"/>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Affective UX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przekształca</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rozpoznane</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emocje</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w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konkretne</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modyfikacje</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smtClean="0">
                <a:solidFill>
                  <a:srgbClr val="111931"/>
                </a:solidFill>
                <a:uFillTx/>
                <a:latin typeface="Arial Nova" panose="020B0504020202020204" pitchFamily="34" charset="0"/>
                <a:ea typeface="Calibri" pitchFamily="34"/>
                <a:cs typeface="Calibri" pitchFamily="34"/>
              </a:rPr>
              <a:t>interfejsu</a:t>
            </a:r>
            <a:r>
              <a:rPr lang="pl-PL" sz="1600" dirty="0" smtClean="0">
                <a:solidFill>
                  <a:srgbClr val="111931"/>
                </a:solidFill>
                <a:latin typeface="Arial Nova" panose="020B0504020202020204" pitchFamily="34" charset="0"/>
                <a:ea typeface="Calibri" pitchFamily="34"/>
                <a:cs typeface="Calibri" pitchFamily="34"/>
              </a:rPr>
              <a:t>:</a:t>
            </a:r>
            <a:r>
              <a:rPr lang="en-US" sz="1600" b="0" i="0" u="none" strike="noStrike" kern="1200" cap="none" spc="0" baseline="0" dirty="0" smtClean="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treść</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ton,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rytm</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kolorystykę</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i</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powiadomienia</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dopasowuje</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do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nastroju</a:t>
            </a:r>
            <a:r>
              <a:rPr lang="en-US" sz="1600" b="0" i="0" u="none" strike="noStrike" kern="1200" cap="none" spc="0" baseline="0" dirty="0">
                <a:solidFill>
                  <a:srgbClr val="111931"/>
                </a:solidFill>
                <a:uFillTx/>
                <a:latin typeface="Arial Nova" panose="020B0504020202020204" pitchFamily="34" charset="0"/>
                <a:ea typeface="Calibri" pitchFamily="34"/>
                <a:cs typeface="Calibri" pitchFamily="34"/>
              </a:rPr>
              <a:t> </a:t>
            </a:r>
            <a:r>
              <a:rPr lang="en-US" sz="1600" b="0" i="0" u="none" strike="noStrike" kern="1200" cap="none" spc="0" baseline="0" dirty="0" err="1">
                <a:solidFill>
                  <a:srgbClr val="111931"/>
                </a:solidFill>
                <a:uFillTx/>
                <a:latin typeface="Arial Nova" panose="020B0504020202020204" pitchFamily="34" charset="0"/>
                <a:ea typeface="Calibri" pitchFamily="34"/>
                <a:cs typeface="Calibri" pitchFamily="34"/>
              </a:rPr>
              <a:t>użytkownika</a:t>
            </a:r>
            <a:endParaRPr lang="en-US" sz="1600" b="0" i="0" u="none" strike="noStrike" kern="1200" cap="none" spc="0" baseline="0" dirty="0">
              <a:solidFill>
                <a:srgbClr val="111931"/>
              </a:solidFill>
              <a:uFillTx/>
              <a:latin typeface="Arial Nova" panose="020B0504020202020204" pitchFamily="34" charset="0"/>
            </a:endParaRPr>
          </a:p>
        </p:txBody>
      </p:sp>
      <p:sp>
        <p:nvSpPr>
          <p:cNvPr id="8" name="Text 6"/>
          <p:cNvSpPr/>
          <p:nvPr/>
        </p:nvSpPr>
        <p:spPr>
          <a:xfrm>
            <a:off x="335280" y="1512096"/>
            <a:ext cx="85039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Strategie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adaptacji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praktyczne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przykłady</a:t>
            </a:r>
            <a:endParaRPr lang="en-US" sz="1200" b="0" i="0" u="none" strike="noStrike" kern="1200" cap="none" spc="0" baseline="0" dirty="0">
              <a:solidFill>
                <a:srgbClr val="000000"/>
              </a:solidFill>
              <a:uFillTx/>
              <a:latin typeface="Calibri"/>
            </a:endParaRPr>
          </a:p>
        </p:txBody>
      </p:sp>
      <p:grpSp>
        <p:nvGrpSpPr>
          <p:cNvPr id="48" name="Grupa 47"/>
          <p:cNvGrpSpPr/>
          <p:nvPr/>
        </p:nvGrpSpPr>
        <p:grpSpPr>
          <a:xfrm>
            <a:off x="320040" y="1783080"/>
            <a:ext cx="8659367" cy="3044952"/>
            <a:chOff x="320040" y="1389888"/>
            <a:chExt cx="8659367" cy="3438144"/>
          </a:xfrm>
        </p:grpSpPr>
        <p:sp>
          <p:nvSpPr>
            <p:cNvPr id="9" name="Shape 7"/>
            <p:cNvSpPr/>
            <p:nvPr/>
          </p:nvSpPr>
          <p:spPr>
            <a:xfrm>
              <a:off x="320040" y="1389888"/>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389888"/>
              <a:ext cx="4251959" cy="329184"/>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11480" y="1444752"/>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Stres/Lęk</a:t>
              </a:r>
              <a:endParaRPr lang="en-US" sz="1200" b="0" i="0" u="none" strike="noStrike" kern="1200" cap="none" spc="0" baseline="0">
                <a:solidFill>
                  <a:srgbClr val="000000"/>
                </a:solidFill>
                <a:uFillTx/>
                <a:latin typeface="Calibri"/>
              </a:endParaRPr>
            </a:p>
          </p:txBody>
        </p:sp>
        <p:sp>
          <p:nvSpPr>
            <p:cNvPr id="12" name="Text 10"/>
            <p:cNvSpPr/>
            <p:nvPr/>
          </p:nvSpPr>
          <p:spPr>
            <a:xfrm>
              <a:off x="3017520" y="1453896"/>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Calm, Headspace</a:t>
              </a:r>
              <a:endParaRPr lang="en-US" sz="950" b="0" i="0" u="none" strike="noStrike" kern="1200" cap="none" spc="0" baseline="0">
                <a:solidFill>
                  <a:srgbClr val="000000"/>
                </a:solidFill>
                <a:uFillTx/>
                <a:latin typeface="Calibri"/>
              </a:endParaRPr>
            </a:p>
          </p:txBody>
        </p:sp>
        <p:sp>
          <p:nvSpPr>
            <p:cNvPr id="13" name="Text 11"/>
            <p:cNvSpPr/>
            <p:nvPr/>
          </p:nvSpPr>
          <p:spPr>
            <a:xfrm>
              <a:off x="411480" y="177393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D4ED8"/>
                  </a:solidFill>
                  <a:uFillTx/>
                  <a:latin typeface="Consolas" pitchFamily="34"/>
                  <a:ea typeface="Consolas" pitchFamily="34"/>
                  <a:cs typeface="Consolas" pitchFamily="34"/>
                </a:rPr>
                <a:t>🎯 Arousal &gt; 0.7, HR &gt; 90 bpm</a:t>
              </a:r>
              <a:endParaRPr lang="en-US" sz="1050" b="0" i="0" u="none" strike="noStrike" kern="1200" cap="none" spc="0" baseline="0">
                <a:solidFill>
                  <a:srgbClr val="000000"/>
                </a:solidFill>
                <a:uFillTx/>
                <a:latin typeface="Calibri"/>
              </a:endParaRPr>
            </a:p>
          </p:txBody>
        </p:sp>
        <p:sp>
          <p:nvSpPr>
            <p:cNvPr id="14" name="Text 12"/>
            <p:cNvSpPr/>
            <p:nvPr/>
          </p:nvSpPr>
          <p:spPr>
            <a:xfrm>
              <a:off x="411480" y="1984248"/>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err="1">
                  <a:solidFill>
                    <a:srgbClr val="111931"/>
                  </a:solidFill>
                  <a:uFillTx/>
                  <a:latin typeface="Calibri" pitchFamily="34"/>
                  <a:ea typeface="Calibri" pitchFamily="34"/>
                  <a:cs typeface="Calibri" pitchFamily="34"/>
                </a:rPr>
                <a:t>Zwolnij</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animacje</a:t>
              </a:r>
              <a:r>
                <a:rPr lang="en-US" sz="1100" b="0" i="0" u="none" strike="noStrike" kern="1200" cap="none" spc="0" baseline="0" dirty="0">
                  <a:solidFill>
                    <a:srgbClr val="111931"/>
                  </a:solidFill>
                  <a:uFillTx/>
                  <a:latin typeface="Calibri" pitchFamily="34"/>
                  <a:ea typeface="Calibri" pitchFamily="34"/>
                  <a:cs typeface="Calibri" pitchFamily="34"/>
                </a:rPr>
                <a:t> (duration ×1.5), </a:t>
              </a:r>
              <a:r>
                <a:rPr lang="en-US" sz="1100" b="0" i="0" u="none" strike="noStrike" kern="1200" cap="none" spc="0" baseline="0" dirty="0" err="1">
                  <a:solidFill>
                    <a:srgbClr val="111931"/>
                  </a:solidFill>
                  <a:uFillTx/>
                  <a:latin typeface="Calibri" pitchFamily="34"/>
                  <a:ea typeface="Calibri" pitchFamily="34"/>
                  <a:cs typeface="Calibri" pitchFamily="34"/>
                </a:rPr>
                <a:t>wyłącz</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powiadomienia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uruchom</a:t>
              </a:r>
              <a:r>
                <a:rPr lang="en-US" sz="1100" b="0" i="0" u="none" strike="noStrike" kern="1200" cap="none" spc="0" baseline="0" dirty="0">
                  <a:solidFill>
                    <a:srgbClr val="111931"/>
                  </a:solidFill>
                  <a:uFillTx/>
                  <a:latin typeface="Calibri" pitchFamily="34"/>
                  <a:ea typeface="Calibri" pitchFamily="34"/>
                  <a:cs typeface="Calibri" pitchFamily="34"/>
                </a:rPr>
                <a:t> breathing exercise, </a:t>
              </a:r>
              <a:r>
                <a:rPr lang="en-US" sz="1100" b="0" i="0" u="none" strike="noStrike" kern="1200" cap="none" spc="0" baseline="0" dirty="0" err="1">
                  <a:solidFill>
                    <a:srgbClr val="111931"/>
                  </a:solidFill>
                  <a:uFillTx/>
                  <a:latin typeface="Calibri" pitchFamily="34"/>
                  <a:ea typeface="Calibri" pitchFamily="34"/>
                  <a:cs typeface="Calibri" pitchFamily="34"/>
                </a:rPr>
                <a:t>pastelowe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kolory</a:t>
              </a:r>
              <a:endParaRPr lang="en-US" sz="1100" b="0" i="0" u="none" strike="noStrike" kern="1200" cap="none" spc="0" baseline="0" dirty="0">
                <a:solidFill>
                  <a:srgbClr val="111931"/>
                </a:solidFill>
                <a:uFillTx/>
                <a:latin typeface="Calibri"/>
              </a:endParaRPr>
            </a:p>
          </p:txBody>
        </p:sp>
        <p:sp>
          <p:nvSpPr>
            <p:cNvPr id="15" name="Shape 13"/>
            <p:cNvSpPr/>
            <p:nvPr/>
          </p:nvSpPr>
          <p:spPr>
            <a:xfrm>
              <a:off x="4727448" y="1389888"/>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Shape 14"/>
            <p:cNvSpPr/>
            <p:nvPr/>
          </p:nvSpPr>
          <p:spPr>
            <a:xfrm>
              <a:off x="4727448" y="1389888"/>
              <a:ext cx="4251959" cy="329184"/>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Text 15"/>
            <p:cNvSpPr/>
            <p:nvPr/>
          </p:nvSpPr>
          <p:spPr>
            <a:xfrm>
              <a:off x="4818888" y="1444752"/>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Radość/Ekscytacja</a:t>
              </a:r>
              <a:endParaRPr lang="en-US" sz="1200" b="0" i="0" u="none" strike="noStrike" kern="1200" cap="none" spc="0" baseline="0">
                <a:solidFill>
                  <a:srgbClr val="000000"/>
                </a:solidFill>
                <a:uFillTx/>
                <a:latin typeface="Calibri"/>
              </a:endParaRPr>
            </a:p>
          </p:txBody>
        </p:sp>
        <p:sp>
          <p:nvSpPr>
            <p:cNvPr id="18" name="Text 16"/>
            <p:cNvSpPr/>
            <p:nvPr/>
          </p:nvSpPr>
          <p:spPr>
            <a:xfrm>
              <a:off x="7424927" y="1453896"/>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Duolingo streak, Fitness rings</a:t>
              </a:r>
              <a:endParaRPr lang="en-US" sz="950" b="0" i="0" u="none" strike="noStrike" kern="1200" cap="none" spc="0" baseline="0">
                <a:solidFill>
                  <a:srgbClr val="000000"/>
                </a:solidFill>
                <a:uFillTx/>
                <a:latin typeface="Calibri"/>
              </a:endParaRPr>
            </a:p>
          </p:txBody>
        </p:sp>
        <p:sp>
          <p:nvSpPr>
            <p:cNvPr id="19" name="Text 17"/>
            <p:cNvSpPr/>
            <p:nvPr/>
          </p:nvSpPr>
          <p:spPr>
            <a:xfrm>
              <a:off x="4818888" y="177393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59669"/>
                  </a:solidFill>
                  <a:uFillTx/>
                  <a:latin typeface="Consolas" pitchFamily="34"/>
                  <a:ea typeface="Consolas" pitchFamily="34"/>
                  <a:cs typeface="Consolas" pitchFamily="34"/>
                </a:rPr>
                <a:t>🎯 Valence &gt; 0.6, Arousal &gt; 0.5</a:t>
              </a:r>
              <a:endParaRPr lang="en-US" sz="1050" b="0" i="0" u="none" strike="noStrike" kern="1200" cap="none" spc="0" baseline="0">
                <a:solidFill>
                  <a:srgbClr val="000000"/>
                </a:solidFill>
                <a:uFillTx/>
                <a:latin typeface="Calibri"/>
              </a:endParaRPr>
            </a:p>
          </p:txBody>
        </p:sp>
        <p:sp>
          <p:nvSpPr>
            <p:cNvPr id="20" name="Text 18"/>
            <p:cNvSpPr/>
            <p:nvPr/>
          </p:nvSpPr>
          <p:spPr>
            <a:xfrm>
              <a:off x="4818888" y="1984248"/>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Dodaj confetti efekty, pokaż społeczne udostępnianie, intensywna kolorystyka, szybkie animacje</a:t>
              </a:r>
              <a:endParaRPr lang="en-US" sz="1100" b="0" i="0" u="none" strike="noStrike" kern="1200" cap="none" spc="0" baseline="0">
                <a:solidFill>
                  <a:srgbClr val="111931"/>
                </a:solidFill>
                <a:uFillTx/>
                <a:latin typeface="Calibri"/>
              </a:endParaRPr>
            </a:p>
          </p:txBody>
        </p:sp>
        <p:sp>
          <p:nvSpPr>
            <p:cNvPr id="21" name="Shape 19"/>
            <p:cNvSpPr/>
            <p:nvPr/>
          </p:nvSpPr>
          <p:spPr>
            <a:xfrm>
              <a:off x="320040" y="2560320"/>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2560320"/>
              <a:ext cx="4251959" cy="329184"/>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11480" y="2615184"/>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Smutek/Depresja</a:t>
              </a:r>
              <a:endParaRPr lang="en-US" sz="1200" b="0" i="0" u="none" strike="noStrike" kern="1200" cap="none" spc="0" baseline="0">
                <a:solidFill>
                  <a:srgbClr val="000000"/>
                </a:solidFill>
                <a:uFillTx/>
                <a:latin typeface="Calibri"/>
              </a:endParaRPr>
            </a:p>
          </p:txBody>
        </p:sp>
        <p:sp>
          <p:nvSpPr>
            <p:cNvPr id="24" name="Text 22"/>
            <p:cNvSpPr/>
            <p:nvPr/>
          </p:nvSpPr>
          <p:spPr>
            <a:xfrm>
              <a:off x="3017520" y="2624327"/>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Wysa crisis detection</a:t>
              </a:r>
              <a:endParaRPr lang="en-US" sz="950" b="0" i="0" u="none" strike="noStrike" kern="1200" cap="none" spc="0" baseline="0">
                <a:solidFill>
                  <a:srgbClr val="000000"/>
                </a:solidFill>
                <a:uFillTx/>
                <a:latin typeface="Calibri"/>
              </a:endParaRPr>
            </a:p>
          </p:txBody>
        </p:sp>
        <p:sp>
          <p:nvSpPr>
            <p:cNvPr id="25" name="Text 23"/>
            <p:cNvSpPr/>
            <p:nvPr/>
          </p:nvSpPr>
          <p:spPr>
            <a:xfrm>
              <a:off x="411480" y="2944368"/>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7C3AED"/>
                  </a:solidFill>
                  <a:uFillTx/>
                  <a:latin typeface="Consolas" pitchFamily="34"/>
                  <a:ea typeface="Consolas" pitchFamily="34"/>
                  <a:cs typeface="Consolas" pitchFamily="34"/>
                </a:rPr>
                <a:t>🎯 Valence &lt; −0.4 przez &gt; 10 min</a:t>
              </a:r>
              <a:endParaRPr lang="en-US" sz="1050" b="0" i="0" u="none" strike="noStrike" kern="1200" cap="none" spc="0" baseline="0">
                <a:solidFill>
                  <a:srgbClr val="000000"/>
                </a:solidFill>
                <a:uFillTx/>
                <a:latin typeface="Calibri"/>
              </a:endParaRPr>
            </a:p>
          </p:txBody>
        </p:sp>
        <p:sp>
          <p:nvSpPr>
            <p:cNvPr id="26" name="Text 24"/>
            <p:cNvSpPr/>
            <p:nvPr/>
          </p:nvSpPr>
          <p:spPr>
            <a:xfrm>
              <a:off x="411480" y="3154679"/>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Ciepłe kolory, propozycja rozmowy z przyjacielem, wstrzymaj negatywne newsy, opcja połączenia z terapeutą</a:t>
              </a:r>
              <a:endParaRPr lang="en-US" sz="1100" b="0" i="0" u="none" strike="noStrike" kern="1200" cap="none" spc="0" baseline="0">
                <a:solidFill>
                  <a:srgbClr val="111931"/>
                </a:solidFill>
                <a:uFillTx/>
                <a:latin typeface="Calibri"/>
              </a:endParaRPr>
            </a:p>
          </p:txBody>
        </p:sp>
        <p:sp>
          <p:nvSpPr>
            <p:cNvPr id="27" name="Shape 25"/>
            <p:cNvSpPr/>
            <p:nvPr/>
          </p:nvSpPr>
          <p:spPr>
            <a:xfrm>
              <a:off x="4727448" y="2560320"/>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8" name="Shape 26"/>
            <p:cNvSpPr/>
            <p:nvPr/>
          </p:nvSpPr>
          <p:spPr>
            <a:xfrm>
              <a:off x="4727448" y="2560320"/>
              <a:ext cx="4251959" cy="329184"/>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Text 27"/>
            <p:cNvSpPr/>
            <p:nvPr/>
          </p:nvSpPr>
          <p:spPr>
            <a:xfrm>
              <a:off x="4818888" y="2615184"/>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Gniew/Frustracja</a:t>
              </a:r>
              <a:endParaRPr lang="en-US" sz="1200" b="0" i="0" u="none" strike="noStrike" kern="1200" cap="none" spc="0" baseline="0">
                <a:solidFill>
                  <a:srgbClr val="000000"/>
                </a:solidFill>
                <a:uFillTx/>
                <a:latin typeface="Calibri"/>
              </a:endParaRPr>
            </a:p>
          </p:txBody>
        </p:sp>
        <p:sp>
          <p:nvSpPr>
            <p:cNvPr id="30" name="Text 28"/>
            <p:cNvSpPr/>
            <p:nvPr/>
          </p:nvSpPr>
          <p:spPr>
            <a:xfrm>
              <a:off x="7424927" y="2624327"/>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DDA w grach mobilnych</a:t>
              </a:r>
              <a:endParaRPr lang="en-US" sz="950" b="0" i="0" u="none" strike="noStrike" kern="1200" cap="none" spc="0" baseline="0">
                <a:solidFill>
                  <a:srgbClr val="000000"/>
                </a:solidFill>
                <a:uFillTx/>
                <a:latin typeface="Calibri"/>
              </a:endParaRPr>
            </a:p>
          </p:txBody>
        </p:sp>
        <p:sp>
          <p:nvSpPr>
            <p:cNvPr id="31" name="Text 29"/>
            <p:cNvSpPr/>
            <p:nvPr/>
          </p:nvSpPr>
          <p:spPr>
            <a:xfrm>
              <a:off x="4818888" y="2944368"/>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E11D48"/>
                  </a:solidFill>
                  <a:uFillTx/>
                  <a:latin typeface="Consolas" pitchFamily="34"/>
                  <a:ea typeface="Consolas" pitchFamily="34"/>
                  <a:cs typeface="Consolas" pitchFamily="34"/>
                </a:rPr>
                <a:t>🎯 Valence &lt; −0.3 + high arousal</a:t>
              </a:r>
              <a:endParaRPr lang="en-US" sz="1050" b="0" i="0" u="none" strike="noStrike" kern="1200" cap="none" spc="0" baseline="0" dirty="0">
                <a:solidFill>
                  <a:srgbClr val="000000"/>
                </a:solidFill>
                <a:uFillTx/>
                <a:latin typeface="Calibri"/>
              </a:endParaRPr>
            </a:p>
          </p:txBody>
        </p:sp>
        <p:sp>
          <p:nvSpPr>
            <p:cNvPr id="32" name="Text 30"/>
            <p:cNvSpPr/>
            <p:nvPr/>
          </p:nvSpPr>
          <p:spPr>
            <a:xfrm>
              <a:off x="4818888" y="3154679"/>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Pauza w grze, reset zamiast porażki, haptic feedback uspokajający, propozycja przerwy</a:t>
              </a:r>
              <a:endParaRPr lang="en-US" sz="1100" b="0" i="0" u="none" strike="noStrike" kern="1200" cap="none" spc="0" baseline="0">
                <a:solidFill>
                  <a:srgbClr val="111931"/>
                </a:solidFill>
                <a:uFillTx/>
                <a:latin typeface="Calibri"/>
              </a:endParaRPr>
            </a:p>
          </p:txBody>
        </p:sp>
        <p:sp>
          <p:nvSpPr>
            <p:cNvPr id="33" name="Shape 31"/>
            <p:cNvSpPr/>
            <p:nvPr/>
          </p:nvSpPr>
          <p:spPr>
            <a:xfrm>
              <a:off x="320040" y="3730752"/>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320040" y="3730752"/>
              <a:ext cx="4251959" cy="329184"/>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11480" y="3785615"/>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Zmęczenie/Senność</a:t>
              </a:r>
              <a:endParaRPr lang="en-US" sz="1200" b="0" i="0" u="none" strike="noStrike" kern="1200" cap="none" spc="0" baseline="0">
                <a:solidFill>
                  <a:srgbClr val="000000"/>
                </a:solidFill>
                <a:uFillTx/>
                <a:latin typeface="Calibri"/>
              </a:endParaRPr>
            </a:p>
          </p:txBody>
        </p:sp>
        <p:sp>
          <p:nvSpPr>
            <p:cNvPr id="36" name="Text 34"/>
            <p:cNvSpPr/>
            <p:nvPr/>
          </p:nvSpPr>
          <p:spPr>
            <a:xfrm>
              <a:off x="3017520" y="3794759"/>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Samsung wellness, Android auto</a:t>
              </a:r>
              <a:endParaRPr lang="en-US" sz="950" b="0" i="0" u="none" strike="noStrike" kern="1200" cap="none" spc="0" baseline="0">
                <a:solidFill>
                  <a:srgbClr val="000000"/>
                </a:solidFill>
                <a:uFillTx/>
                <a:latin typeface="Calibri"/>
              </a:endParaRPr>
            </a:p>
          </p:txBody>
        </p:sp>
        <p:sp>
          <p:nvSpPr>
            <p:cNvPr id="37" name="Text 35"/>
            <p:cNvSpPr/>
            <p:nvPr/>
          </p:nvSpPr>
          <p:spPr>
            <a:xfrm>
              <a:off x="411480" y="4114800"/>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D97706"/>
                  </a:solidFill>
                  <a:uFillTx/>
                  <a:latin typeface="Consolas" pitchFamily="34"/>
                  <a:ea typeface="Consolas" pitchFamily="34"/>
                  <a:cs typeface="Consolas" pitchFamily="34"/>
                </a:rPr>
                <a:t>🎯 Low arousal, blink rate ↑, head drop</a:t>
              </a:r>
              <a:endParaRPr lang="en-US" sz="1050" b="0" i="0" u="none" strike="noStrike" kern="1200" cap="none" spc="0" baseline="0">
                <a:solidFill>
                  <a:srgbClr val="000000"/>
                </a:solidFill>
                <a:uFillTx/>
                <a:latin typeface="Calibri"/>
              </a:endParaRPr>
            </a:p>
          </p:txBody>
        </p:sp>
        <p:sp>
          <p:nvSpPr>
            <p:cNvPr id="38" name="Text 36"/>
            <p:cNvSpPr/>
            <p:nvPr/>
          </p:nvSpPr>
          <p:spPr>
            <a:xfrm>
              <a:off x="411480" y="4332732"/>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solidFill>
                    <a:srgbClr val="111931"/>
                  </a:solidFill>
                  <a:uFillTx/>
                  <a:latin typeface="Calibri" pitchFamily="34"/>
                  <a:ea typeface="Calibri" pitchFamily="34"/>
                  <a:cs typeface="Calibri" pitchFamily="34"/>
                </a:rPr>
                <a:t>Reduce brightness, </a:t>
              </a:r>
              <a:r>
                <a:rPr lang="en-US" sz="1100" b="0" i="0" u="none" strike="noStrike" kern="1200" cap="none" spc="0" baseline="0" dirty="0" err="1">
                  <a:solidFill>
                    <a:srgbClr val="111931"/>
                  </a:solidFill>
                  <a:uFillTx/>
                  <a:latin typeface="Calibri" pitchFamily="34"/>
                  <a:ea typeface="Calibri" pitchFamily="34"/>
                  <a:cs typeface="Calibri" pitchFamily="34"/>
                </a:rPr>
                <a:t>większe</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czcionki</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mniej</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czynności</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na</a:t>
              </a:r>
              <a:r>
                <a:rPr lang="en-US" sz="1100" b="0" i="0" u="none" strike="noStrike" kern="1200" cap="none" spc="0" baseline="0" dirty="0">
                  <a:solidFill>
                    <a:srgbClr val="111931"/>
                  </a:solidFill>
                  <a:uFillTx/>
                  <a:latin typeface="Calibri" pitchFamily="34"/>
                  <a:ea typeface="Calibri" pitchFamily="34"/>
                  <a:cs typeface="Calibri" pitchFamily="34"/>
                </a:rPr>
                <a:t> </a:t>
              </a:r>
              <a:r>
                <a:rPr lang="en-US" sz="1100" b="0" i="0" u="none" strike="noStrike" kern="1200" cap="none" spc="0" baseline="0" dirty="0" err="1">
                  <a:solidFill>
                    <a:srgbClr val="111931"/>
                  </a:solidFill>
                  <a:uFillTx/>
                  <a:latin typeface="Calibri" pitchFamily="34"/>
                  <a:ea typeface="Calibri" pitchFamily="34"/>
                  <a:cs typeface="Calibri" pitchFamily="34"/>
                </a:rPr>
                <a:t>ekranie</a:t>
              </a:r>
              <a:r>
                <a:rPr lang="en-US" sz="1100" b="0" i="0" u="none" strike="noStrike" kern="1200" cap="none" spc="0" baseline="0" dirty="0">
                  <a:solidFill>
                    <a:srgbClr val="111931"/>
                  </a:solidFill>
                  <a:uFillTx/>
                  <a:latin typeface="Calibri" pitchFamily="34"/>
                  <a:ea typeface="Calibri" pitchFamily="34"/>
                  <a:cs typeface="Calibri" pitchFamily="34"/>
                </a:rPr>
                <a:t>, remind break/sleep</a:t>
              </a:r>
              <a:endParaRPr lang="en-US" sz="1100" b="0" i="0" u="none" strike="noStrike" kern="1200" cap="none" spc="0" baseline="0" dirty="0">
                <a:solidFill>
                  <a:srgbClr val="111931"/>
                </a:solidFill>
                <a:uFillTx/>
                <a:latin typeface="Calibri"/>
              </a:endParaRPr>
            </a:p>
          </p:txBody>
        </p:sp>
        <p:sp>
          <p:nvSpPr>
            <p:cNvPr id="39" name="Shape 37"/>
            <p:cNvSpPr/>
            <p:nvPr/>
          </p:nvSpPr>
          <p:spPr>
            <a:xfrm>
              <a:off x="4727448" y="3730752"/>
              <a:ext cx="4251959" cy="1097280"/>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Shape 38"/>
            <p:cNvSpPr/>
            <p:nvPr/>
          </p:nvSpPr>
          <p:spPr>
            <a:xfrm>
              <a:off x="4727448" y="3730752"/>
              <a:ext cx="4251959" cy="329184"/>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Text 39"/>
            <p:cNvSpPr/>
            <p:nvPr/>
          </p:nvSpPr>
          <p:spPr>
            <a:xfrm>
              <a:off x="4818888" y="3785615"/>
              <a:ext cx="25603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Skupienie/Flow</a:t>
              </a:r>
              <a:endParaRPr lang="en-US" sz="1200" b="0" i="0" u="none" strike="noStrike" kern="1200" cap="none" spc="0" baseline="0">
                <a:solidFill>
                  <a:srgbClr val="000000"/>
                </a:solidFill>
                <a:uFillTx/>
                <a:latin typeface="Calibri"/>
              </a:endParaRPr>
            </a:p>
          </p:txBody>
        </p:sp>
        <p:sp>
          <p:nvSpPr>
            <p:cNvPr id="42" name="Text 40"/>
            <p:cNvSpPr/>
            <p:nvPr/>
          </p:nvSpPr>
          <p:spPr>
            <a:xfrm>
              <a:off x="7424927" y="3794759"/>
              <a:ext cx="148132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50" b="0" i="0" u="none" strike="noStrike" kern="1200" cap="none" spc="0" baseline="0">
                  <a:solidFill>
                    <a:srgbClr val="CADCFC"/>
                  </a:solidFill>
                  <a:uFillTx/>
                  <a:latin typeface="Calibri" pitchFamily="34"/>
                  <a:ea typeface="Calibri" pitchFamily="34"/>
                  <a:cs typeface="Calibri" pitchFamily="34"/>
                </a:rPr>
                <a:t>Przykład: Forest, Focus Mode</a:t>
              </a:r>
              <a:endParaRPr lang="en-US" sz="950" b="0" i="0" u="none" strike="noStrike" kern="1200" cap="none" spc="0" baseline="0">
                <a:solidFill>
                  <a:srgbClr val="000000"/>
                </a:solidFill>
                <a:uFillTx/>
                <a:latin typeface="Calibri"/>
              </a:endParaRPr>
            </a:p>
          </p:txBody>
        </p:sp>
        <p:sp>
          <p:nvSpPr>
            <p:cNvPr id="43" name="Text 41"/>
            <p:cNvSpPr/>
            <p:nvPr/>
          </p:nvSpPr>
          <p:spPr>
            <a:xfrm>
              <a:off x="4818888" y="4114800"/>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0891B2"/>
                  </a:solidFill>
                  <a:uFillTx/>
                  <a:latin typeface="Consolas" pitchFamily="34"/>
                  <a:ea typeface="Consolas" pitchFamily="34"/>
                  <a:cs typeface="Consolas" pitchFamily="34"/>
                </a:rPr>
                <a:t>🎯 Stable low arousal, regular interaction</a:t>
              </a:r>
              <a:endParaRPr lang="en-US" sz="1050" b="0" i="0" u="none" strike="noStrike" kern="1200" cap="none" spc="0" baseline="0">
                <a:solidFill>
                  <a:srgbClr val="000000"/>
                </a:solidFill>
                <a:uFillTx/>
                <a:latin typeface="Calibri"/>
              </a:endParaRPr>
            </a:p>
          </p:txBody>
        </p:sp>
        <p:sp>
          <p:nvSpPr>
            <p:cNvPr id="44" name="Text 42"/>
            <p:cNvSpPr/>
            <p:nvPr/>
          </p:nvSpPr>
          <p:spPr>
            <a:xfrm>
              <a:off x="4818888" y="4325112"/>
              <a:ext cx="4069080" cy="4389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solidFill>
                    <a:srgbClr val="111931"/>
                  </a:solidFill>
                  <a:uFillTx/>
                  <a:latin typeface="Calibri" pitchFamily="34"/>
                  <a:ea typeface="Calibri" pitchFamily="34"/>
                  <a:cs typeface="Calibri" pitchFamily="34"/>
                </a:rPr>
                <a:t>Minimalistyczny tryb, blokada powiadomień, schowaj niepotrzebne UI, music focus mode</a:t>
              </a:r>
              <a:endParaRPr lang="en-US" sz="1100" b="0" i="0" u="none" strike="noStrike" kern="1200" cap="none" spc="0" baseline="0">
                <a:solidFill>
                  <a:srgbClr val="111931"/>
                </a:solidFill>
                <a:uFillTx/>
                <a:latin typeface="Calibri"/>
              </a:endParaRPr>
            </a:p>
          </p:txBody>
        </p:sp>
      </p:grpSp>
      <p:sp>
        <p:nvSpPr>
          <p:cNvPr id="49"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18</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9FF"/>
        </a:solidFill>
        <a:effectLst/>
      </p:bgPr>
    </p:bg>
    <p:spTree>
      <p:nvGrpSpPr>
        <p:cNvPr id="1" name=""/>
        <p:cNvGrpSpPr/>
        <p:nvPr/>
      </p:nvGrpSpPr>
      <p:grpSpPr>
        <a:xfrm>
          <a:off x="0" y="0"/>
          <a:ext cx="0" cy="0"/>
          <a:chOff x="0" y="0"/>
          <a:chExt cx="0" cy="0"/>
        </a:xfrm>
      </p:grpSpPr>
      <p:grpSp>
        <p:nvGrpSpPr>
          <p:cNvPr id="32" name="Grupa 31"/>
          <p:cNvGrpSpPr/>
          <p:nvPr/>
        </p:nvGrpSpPr>
        <p:grpSpPr>
          <a:xfrm>
            <a:off x="0" y="0"/>
            <a:ext cx="9144000" cy="558000"/>
            <a:chOff x="0" y="0"/>
            <a:chExt cx="9144000" cy="558000"/>
          </a:xfrm>
        </p:grpSpPr>
        <p:sp>
          <p:nvSpPr>
            <p:cNvPr id="33"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Affective </a:t>
            </a:r>
            <a:r>
              <a:rPr lang="en-US" sz="2000" b="1" i="0" u="none" strike="noStrike" kern="1200" cap="none" spc="0" baseline="0" dirty="0" smtClean="0">
                <a:solidFill>
                  <a:srgbClr val="FFFFFF"/>
                </a:solidFill>
                <a:uFillTx/>
                <a:latin typeface="Cambria" pitchFamily="34"/>
                <a:ea typeface="Cambria" pitchFamily="34"/>
                <a:cs typeface="Cambria" pitchFamily="34"/>
              </a:rPr>
              <a:t>UX</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i</a:t>
            </a:r>
            <a:r>
              <a:rPr lang="en-US" sz="2000" b="1" i="0" u="none" strike="noStrike" kern="1200" cap="none" spc="0" baseline="0" dirty="0" err="1" smtClean="0">
                <a:solidFill>
                  <a:srgbClr val="FFFFFF"/>
                </a:solidFill>
                <a:uFillTx/>
                <a:latin typeface="Cambria" pitchFamily="34"/>
                <a:ea typeface="Cambria" pitchFamily="34"/>
                <a:cs typeface="Cambria" pitchFamily="34"/>
              </a:rPr>
              <a:t>mplementacja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ystemu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daptacji</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4236720" y="665988"/>
            <a:ext cx="4587240" cy="74527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Architektura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systemu</a:t>
            </a:r>
            <a:r>
              <a:rPr lang="en-US" sz="1600" b="0" i="0" u="none" strike="noStrike" kern="1200" cap="none" spc="0" baseline="0" dirty="0">
                <a:solidFill>
                  <a:srgbClr val="111931"/>
                </a:solidFill>
                <a:uFillTx/>
                <a:latin typeface="Calibri" pitchFamily="34"/>
                <a:ea typeface="Calibri" pitchFamily="34"/>
                <a:cs typeface="Calibri" pitchFamily="34"/>
              </a:rPr>
              <a:t> affective UX: </a:t>
            </a:r>
            <a:r>
              <a:rPr lang="en-US" sz="1600" b="0" i="0" u="none" strike="noStrike" kern="1200" cap="none" spc="0" baseline="0" dirty="0" err="1">
                <a:solidFill>
                  <a:srgbClr val="111931"/>
                </a:solidFill>
                <a:uFillTx/>
                <a:latin typeface="Calibri" pitchFamily="34"/>
                <a:ea typeface="Calibri" pitchFamily="34"/>
                <a:cs typeface="Calibri" pitchFamily="34"/>
              </a:rPr>
              <a:t>rozpoznawanie</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stan</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emocjonalny</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reguły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adaptacji</a:t>
            </a:r>
            <a:r>
              <a:rPr lang="en-US" sz="1600" b="0" i="0" u="none" strike="noStrike" kern="1200" cap="none" spc="0" baseline="0" dirty="0">
                <a:solidFill>
                  <a:srgbClr val="111931"/>
                </a:solidFill>
                <a:uFillTx/>
                <a:latin typeface="Calibri" pitchFamily="34"/>
                <a:ea typeface="Calibri" pitchFamily="34"/>
                <a:cs typeface="Calibri" pitchFamily="34"/>
              </a:rPr>
              <a:t> → </a:t>
            </a:r>
            <a:r>
              <a:rPr lang="en-US" sz="1600" b="0" i="0" u="none" strike="noStrike" kern="1200" cap="none" spc="0" baseline="0" dirty="0" err="1">
                <a:solidFill>
                  <a:srgbClr val="111931"/>
                </a:solidFill>
                <a:uFillTx/>
                <a:latin typeface="Calibri" pitchFamily="34"/>
                <a:ea typeface="Calibri" pitchFamily="34"/>
                <a:cs typeface="Calibri" pitchFamily="34"/>
              </a:rPr>
              <a:t>modyfikacja</a:t>
            </a:r>
            <a:r>
              <a:rPr lang="en-US" sz="1600" b="0" i="0" u="none" strike="noStrike" kern="1200" cap="none" spc="0" baseline="0" dirty="0">
                <a:solidFill>
                  <a:srgbClr val="111931"/>
                </a:solidFill>
                <a:uFillTx/>
                <a:latin typeface="Calibri" pitchFamily="34"/>
                <a:ea typeface="Calibri" pitchFamily="34"/>
                <a:cs typeface="Calibri" pitchFamily="34"/>
              </a:rPr>
              <a:t> UI — </a:t>
            </a:r>
            <a:r>
              <a:rPr lang="en-US" sz="1600" b="0" i="0" u="none" strike="noStrike" kern="1200" cap="none" spc="0" baseline="0" dirty="0" err="1">
                <a:solidFill>
                  <a:srgbClr val="111931"/>
                </a:solidFill>
                <a:uFillTx/>
                <a:latin typeface="Calibri" pitchFamily="34"/>
                <a:ea typeface="Calibri" pitchFamily="34"/>
                <a:cs typeface="Calibri" pitchFamily="34"/>
              </a:rPr>
              <a:t>wszystko</a:t>
            </a:r>
            <a:r>
              <a:rPr lang="en-US" sz="1600" b="0" i="0" u="none" strike="noStrike" kern="1200" cap="none" spc="0" baseline="0" dirty="0">
                <a:solidFill>
                  <a:srgbClr val="111931"/>
                </a:solidFill>
                <a:uFillTx/>
                <a:latin typeface="Calibri" pitchFamily="34"/>
                <a:ea typeface="Calibri" pitchFamily="34"/>
                <a:cs typeface="Calibri" pitchFamily="34"/>
              </a:rPr>
              <a:t> w &lt; 500ms</a:t>
            </a:r>
            <a:endParaRPr lang="en-US" sz="1600" b="0" i="0" u="none" strike="noStrike" kern="1200" cap="none" spc="0" baseline="0" dirty="0">
              <a:solidFill>
                <a:srgbClr val="111931"/>
              </a:solidFill>
              <a:uFillTx/>
              <a:latin typeface="Calibri"/>
            </a:endParaRPr>
          </a:p>
        </p:txBody>
      </p:sp>
      <p:sp>
        <p:nvSpPr>
          <p:cNvPr id="8" name="Shape 6"/>
          <p:cNvSpPr/>
          <p:nvPr/>
        </p:nvSpPr>
        <p:spPr>
          <a:xfrm>
            <a:off x="198120" y="642684"/>
            <a:ext cx="3680460" cy="4266120"/>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2846070" y="692292"/>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10" name="Text 8"/>
          <p:cNvSpPr/>
          <p:nvPr/>
        </p:nvSpPr>
        <p:spPr>
          <a:xfrm>
            <a:off x="248412" y="714312"/>
            <a:ext cx="3481578" cy="4132008"/>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Affective State Manager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centralne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zarządzanie</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AffectiveStateManager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stateFlow</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MutableStateFlow</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EmotionalState.NEUTRAL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Historia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ostatnich</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5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minut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pomiarów</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history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CircularBuffer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EmotionReading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&gt;(300)</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updateState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newReading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EmotionReading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history.add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newReading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smoothed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history.exponentialSmooth</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(alpha=0.3f)</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classifyState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(smoothed)</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if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stateFlow.value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stateFlow.value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newState</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notifyAdaptationEngine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newState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Stan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trwały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nie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zmieniaj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UI co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klatkę</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classifyState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EmotionReading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when {</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avg.arousal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 0.7f &amp;&amp;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avg.valence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&lt; -0.2f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STRESSED</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avg.valence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 0.5f &amp;&amp;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avg.arousal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 0.4f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JOYFUL</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avg.valence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&lt; -0.5f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pl-PL" sz="900" b="0" i="0" u="none" strike="noStrike" kern="1200" cap="none" spc="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SAD</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avg.arousal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&lt; 0.2f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 TIRED</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else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-&gt; NEUTRAL</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UI Adaptation Engine</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UIAdaptationEngine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context: Context)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fun adapt(state: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when (state)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STRESSED -&gt; {</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setAnimationScale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(1.5f)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slower</a:t>
            </a:r>
          </a:p>
          <a:p>
            <a:pPr marL="0" marR="0" lvl="0" indent="0" algn="l" defTabSz="914400" rtl="0" fontAlgn="auto" hangingPunct="1">
              <a:lnSpc>
                <a:spcPts val="8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NotificationManager.silence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(30) </a:t>
            </a:r>
            <a:r>
              <a:rPr lang="pl-PL"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smtClean="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30 min</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ColorTheme.apply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(PASTEL)</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showBreathingExercise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TIRED -&gt;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WindowManager.setBrightness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(0.4f)</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TextSize.increase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(2.sp)</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DND.enable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4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JOYFUL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ColorTheme.apply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(VIBRANT)</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SAD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showSupportResources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11" name="Text 9"/>
          <p:cNvSpPr/>
          <p:nvPr/>
        </p:nvSpPr>
        <p:spPr>
          <a:xfrm>
            <a:off x="4355002" y="1626072"/>
            <a:ext cx="4514678"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Kluczowe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zasady</a:t>
            </a:r>
            <a:r>
              <a:rPr lang="en-US" sz="1200" b="1" i="0" u="none" strike="noStrike" kern="1200" cap="none" spc="0" baseline="0" dirty="0">
                <a:solidFill>
                  <a:srgbClr val="1F1535"/>
                </a:solidFill>
                <a:uFillTx/>
                <a:latin typeface="Cambria" pitchFamily="34"/>
                <a:ea typeface="Cambria" pitchFamily="34"/>
                <a:cs typeface="Cambria" pitchFamily="34"/>
              </a:rPr>
              <a:t> affective </a:t>
            </a:r>
            <a:r>
              <a:rPr lang="en-US" sz="1200" b="1" i="0" u="none" strike="noStrike" kern="1200" cap="none" spc="0" baseline="0" dirty="0" smtClean="0">
                <a:solidFill>
                  <a:srgbClr val="1F1535"/>
                </a:solidFill>
                <a:uFillTx/>
                <a:latin typeface="Cambria" pitchFamily="34"/>
                <a:ea typeface="Cambria" pitchFamily="34"/>
                <a:cs typeface="Cambria" pitchFamily="34"/>
              </a:rPr>
              <a:t>UX</a:t>
            </a:r>
            <a:endParaRPr lang="en-US" sz="1200" b="0" i="0" u="none" strike="noStrike" kern="1200" cap="none" spc="0" baseline="0" dirty="0">
              <a:solidFill>
                <a:srgbClr val="000000"/>
              </a:solidFill>
              <a:uFillTx/>
              <a:latin typeface="Calibri"/>
            </a:endParaRPr>
          </a:p>
        </p:txBody>
      </p:sp>
      <p:grpSp>
        <p:nvGrpSpPr>
          <p:cNvPr id="45" name="Grupa 44"/>
          <p:cNvGrpSpPr/>
          <p:nvPr/>
        </p:nvGrpSpPr>
        <p:grpSpPr>
          <a:xfrm>
            <a:off x="4294632" y="1877532"/>
            <a:ext cx="4628388" cy="2987004"/>
            <a:chOff x="4294632" y="1786128"/>
            <a:chExt cx="4628388" cy="3078408"/>
          </a:xfrm>
        </p:grpSpPr>
        <p:grpSp>
          <p:nvGrpSpPr>
            <p:cNvPr id="43" name="Grupa 42"/>
            <p:cNvGrpSpPr/>
            <p:nvPr/>
          </p:nvGrpSpPr>
          <p:grpSpPr>
            <a:xfrm>
              <a:off x="4294632" y="1786128"/>
              <a:ext cx="4628388" cy="576000"/>
              <a:chOff x="4111752" y="1389888"/>
              <a:chExt cx="4860000" cy="576000"/>
            </a:xfrm>
          </p:grpSpPr>
          <p:grpSp>
            <p:nvGrpSpPr>
              <p:cNvPr id="35" name="Grupa 34"/>
              <p:cNvGrpSpPr/>
              <p:nvPr/>
            </p:nvGrpSpPr>
            <p:grpSpPr>
              <a:xfrm>
                <a:off x="4111752" y="1389888"/>
                <a:ext cx="4860000" cy="576000"/>
                <a:chOff x="4663440" y="1389888"/>
                <a:chExt cx="4206240" cy="640080"/>
              </a:xfrm>
            </p:grpSpPr>
            <p:sp>
              <p:nvSpPr>
                <p:cNvPr id="12" name="Shape 10"/>
                <p:cNvSpPr/>
                <p:nvPr/>
              </p:nvSpPr>
              <p:spPr>
                <a:xfrm>
                  <a:off x="4663440" y="1389888"/>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4663440" y="1389888"/>
                  <a:ext cx="54864" cy="64008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4" name="Text 12"/>
              <p:cNvSpPr/>
              <p:nvPr/>
            </p:nvSpPr>
            <p:spPr>
              <a:xfrm>
                <a:off x="4236720" y="1400556"/>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Smoothing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nie</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reaguj</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na</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każdą</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klatkę</a:t>
                </a:r>
                <a:endParaRPr lang="en-US" sz="1150" b="0" i="0" u="none" strike="noStrike" kern="1200" cap="none" spc="0" baseline="0" dirty="0">
                  <a:solidFill>
                    <a:srgbClr val="000000"/>
                  </a:solidFill>
                  <a:uFillTx/>
                  <a:latin typeface="Calibri"/>
                </a:endParaRPr>
              </a:p>
            </p:txBody>
          </p:sp>
          <p:sp>
            <p:nvSpPr>
              <p:cNvPr id="15" name="Text 13"/>
              <p:cNvSpPr/>
              <p:nvPr/>
            </p:nvSpPr>
            <p:spPr>
              <a:xfrm>
                <a:off x="4236720" y="1665732"/>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Temporal smoothing: </a:t>
                </a:r>
                <a:r>
                  <a:rPr lang="en-US" sz="1000" b="0" i="0" u="none" strike="noStrike" kern="1200" cap="none" spc="0" baseline="0" dirty="0" err="1">
                    <a:solidFill>
                      <a:srgbClr val="111931"/>
                    </a:solidFill>
                    <a:uFillTx/>
                    <a:latin typeface="Calibri" pitchFamily="34"/>
                    <a:ea typeface="Calibri" pitchFamily="34"/>
                    <a:cs typeface="Calibri" pitchFamily="34"/>
                  </a:rPr>
                  <a:t>podejmuj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decyzje</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w oknie</a:t>
                </a:r>
                <a:r>
                  <a:rPr lang="en-US" sz="1000" b="0" i="0" u="none" strike="noStrike" kern="1200" cap="none" spc="0" baseline="0" dirty="0" smtClean="0">
                    <a:solidFill>
                      <a:srgbClr val="111931"/>
                    </a:solidFill>
                    <a:uFillTx/>
                    <a:latin typeface="Calibri" pitchFamily="34"/>
                    <a:ea typeface="Calibri" pitchFamily="34"/>
                    <a:cs typeface="Calibri" pitchFamily="34"/>
                  </a:rPr>
                  <a:t> 30–60s, </a:t>
                </a:r>
                <a:r>
                  <a:rPr lang="pl-PL" sz="1000" b="0" i="0" u="none" strike="noStrike" kern="1200" cap="none" spc="0" baseline="0" dirty="0" smtClean="0">
                    <a:solidFill>
                      <a:srgbClr val="111931"/>
                    </a:solidFill>
                    <a:uFillTx/>
                    <a:latin typeface="Calibri" pitchFamily="34"/>
                    <a:ea typeface="Calibri" pitchFamily="34"/>
                    <a:cs typeface="Calibri" pitchFamily="34"/>
                  </a:rPr>
                  <a:t>a </a:t>
                </a:r>
                <a:r>
                  <a:rPr lang="en-US" sz="1000" b="0" i="0" u="none" strike="noStrike" kern="1200" cap="none" spc="0" baseline="0" dirty="0" err="1" smtClean="0">
                    <a:solidFill>
                      <a:srgbClr val="111931"/>
                    </a:solidFill>
                    <a:uFillTx/>
                    <a:latin typeface="Calibri" pitchFamily="34"/>
                    <a:ea typeface="Calibri" pitchFamily="34"/>
                    <a:cs typeface="Calibri" pitchFamily="34"/>
                  </a:rPr>
                  <a:t>nie</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natychmiast</a:t>
                </a:r>
                <a:r>
                  <a:rPr lang="en-US" sz="1000" b="0" i="0" u="none" strike="noStrike" kern="1200" cap="none" spc="0" baseline="0" dirty="0" smtClean="0">
                    <a:solidFill>
                      <a:srgbClr val="111931"/>
                    </a:solidFill>
                    <a:uFillTx/>
                    <a:latin typeface="Calibri" pitchFamily="34"/>
                    <a:ea typeface="Calibri" pitchFamily="34"/>
                    <a:cs typeface="Calibri" pitchFamily="34"/>
                  </a:rPr>
                  <a:t>. </a:t>
                </a:r>
                <a:endParaRPr lang="pl-PL" sz="10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smtClean="0">
                    <a:solidFill>
                      <a:srgbClr val="111931"/>
                    </a:solidFill>
                    <a:uFillTx/>
                    <a:latin typeface="Calibri" pitchFamily="34"/>
                    <a:ea typeface="Calibri" pitchFamily="34"/>
                    <a:cs typeface="Calibri" pitchFamily="34"/>
                  </a:rPr>
                  <a:t>Użytkownik</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denerwuje się</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UI </a:t>
                </a:r>
                <a:r>
                  <a:rPr lang="en-US" sz="1000" b="0" i="0" u="none" strike="noStrike" kern="1200" cap="none" spc="0" baseline="0" dirty="0" err="1">
                    <a:solidFill>
                      <a:srgbClr val="111931"/>
                    </a:solidFill>
                    <a:uFillTx/>
                    <a:latin typeface="Calibri" pitchFamily="34"/>
                    <a:ea typeface="Calibri" pitchFamily="34"/>
                    <a:cs typeface="Calibri" pitchFamily="34"/>
                  </a:rPr>
                  <a:t>skacze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Deadband</a:t>
                </a:r>
                <a:r>
                  <a:rPr lang="en-US" sz="1000" b="0" i="0" u="none" strike="noStrike" kern="1200" cap="none" spc="0" baseline="0" dirty="0">
                    <a:solidFill>
                      <a:srgbClr val="111931"/>
                    </a:solidFill>
                    <a:uFillTx/>
                    <a:latin typeface="Calibri" pitchFamily="34"/>
                    <a:ea typeface="Calibri" pitchFamily="34"/>
                    <a:cs typeface="Calibri" pitchFamily="34"/>
                  </a:rPr>
                  <a:t>: ±0.1 do VAD </a:t>
                </a:r>
                <a:r>
                  <a:rPr lang="en-US" sz="1000" b="0" i="0" u="none" strike="noStrike" kern="1200" cap="none" spc="0" baseline="0" dirty="0" err="1">
                    <a:solidFill>
                      <a:srgbClr val="111931"/>
                    </a:solidFill>
                    <a:uFillTx/>
                    <a:latin typeface="Calibri" pitchFamily="34"/>
                    <a:ea typeface="Calibri" pitchFamily="34"/>
                    <a:cs typeface="Calibri" pitchFamily="34"/>
                  </a:rPr>
                  <a:t>zmiany</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2" name="Grupa 41"/>
            <p:cNvGrpSpPr/>
            <p:nvPr/>
          </p:nvGrpSpPr>
          <p:grpSpPr>
            <a:xfrm>
              <a:off x="4294632" y="2423160"/>
              <a:ext cx="4628388" cy="576000"/>
              <a:chOff x="4111752" y="2103120"/>
              <a:chExt cx="4860000" cy="576000"/>
            </a:xfrm>
          </p:grpSpPr>
          <p:grpSp>
            <p:nvGrpSpPr>
              <p:cNvPr id="36" name="Grupa 35"/>
              <p:cNvGrpSpPr/>
              <p:nvPr/>
            </p:nvGrpSpPr>
            <p:grpSpPr>
              <a:xfrm>
                <a:off x="4111752" y="2103120"/>
                <a:ext cx="4860000" cy="576000"/>
                <a:chOff x="4663440" y="2103120"/>
                <a:chExt cx="4206240" cy="640080"/>
              </a:xfrm>
            </p:grpSpPr>
            <p:sp>
              <p:nvSpPr>
                <p:cNvPr id="16" name="Shape 14"/>
                <p:cNvSpPr/>
                <p:nvPr/>
              </p:nvSpPr>
              <p:spPr>
                <a:xfrm>
                  <a:off x="4663440" y="2103120"/>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4663440" y="2103120"/>
                  <a:ext cx="54864" cy="64008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8" name="Text 16"/>
              <p:cNvSpPr/>
              <p:nvPr/>
            </p:nvSpPr>
            <p:spPr>
              <a:xfrm>
                <a:off x="4236720" y="2106167"/>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Explicability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pokaż</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dlaczego</a:t>
                </a:r>
                <a:endParaRPr lang="en-US" sz="1150" b="0" i="0" u="none" strike="noStrike" kern="1200" cap="none" spc="0" baseline="0" dirty="0">
                  <a:solidFill>
                    <a:srgbClr val="000000"/>
                  </a:solidFill>
                  <a:uFillTx/>
                  <a:latin typeface="Calibri"/>
                </a:endParaRPr>
              </a:p>
            </p:txBody>
          </p:sp>
          <p:sp>
            <p:nvSpPr>
              <p:cNvPr id="19" name="Text 17"/>
              <p:cNvSpPr/>
              <p:nvPr/>
            </p:nvSpPr>
            <p:spPr>
              <a:xfrm>
                <a:off x="4236720" y="2343912"/>
                <a:ext cx="4578096" cy="3109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Micro-copy: '</a:t>
                </a:r>
                <a:r>
                  <a:rPr lang="en-US" sz="1000" b="0" i="0" u="none" strike="noStrike" kern="1200" cap="none" spc="0" baseline="0" dirty="0" err="1">
                    <a:solidFill>
                      <a:srgbClr val="111931"/>
                    </a:solidFill>
                    <a:uFillTx/>
                    <a:latin typeface="Calibri" pitchFamily="34"/>
                    <a:ea typeface="Calibri" pitchFamily="34"/>
                    <a:cs typeface="Calibri" pitchFamily="34"/>
                  </a:rPr>
                  <a:t>Widzę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że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masz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trudny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dzień</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chcesz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wyciszyć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powiadomienia</a:t>
                </a:r>
                <a:r>
                  <a:rPr lang="en-US" sz="1000" b="0" i="0" u="none" strike="noStrike" kern="1200" cap="none" spc="0" baseline="0" dirty="0">
                    <a:solidFill>
                      <a:srgbClr val="111931"/>
                    </a:solidFill>
                    <a:uFillTx/>
                    <a:latin typeface="Calibri" pitchFamily="34"/>
                    <a:ea typeface="Calibri" pitchFamily="34"/>
                    <a:cs typeface="Calibri" pitchFamily="34"/>
                  </a:rPr>
                  <a:t>?' </a:t>
                </a:r>
                <a:endParaRPr lang="pl-PL" sz="10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solidFill>
                      <a:srgbClr val="111931"/>
                    </a:solidFill>
                    <a:uFillTx/>
                    <a:latin typeface="Calibri" pitchFamily="34"/>
                    <a:ea typeface="Calibri" pitchFamily="34"/>
                    <a:cs typeface="Calibri" pitchFamily="34"/>
                  </a:rPr>
                  <a:t>Jest </a:t>
                </a:r>
                <a:r>
                  <a:rPr lang="en-US" sz="1000" b="0" i="0" u="none" strike="noStrike" kern="1200" cap="none" spc="0" baseline="0" dirty="0" err="1">
                    <a:solidFill>
                      <a:srgbClr val="111931"/>
                    </a:solidFill>
                    <a:uFillTx/>
                    <a:latin typeface="Calibri" pitchFamily="34"/>
                    <a:ea typeface="Calibri" pitchFamily="34"/>
                    <a:cs typeface="Calibri" pitchFamily="34"/>
                  </a:rPr>
                  <a:t>transparentny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Ukryty</a:t>
                </a:r>
                <a:r>
                  <a:rPr lang="en-US" sz="1000" b="0" i="0" u="none" strike="noStrike" kern="1200" cap="none" spc="0" baseline="0" dirty="0">
                    <a:solidFill>
                      <a:srgbClr val="111931"/>
                    </a:solidFill>
                    <a:uFillTx/>
                    <a:latin typeface="Calibri" pitchFamily="34"/>
                    <a:ea typeface="Calibri" pitchFamily="34"/>
                    <a:cs typeface="Calibri" pitchFamily="34"/>
                  </a:rPr>
                  <a:t> system </a:t>
                </a:r>
                <a:r>
                  <a:rPr lang="en-US" sz="1000" b="0" i="0" u="none" strike="noStrike" kern="1200" cap="none" spc="0" baseline="0" dirty="0" err="1">
                    <a:solidFill>
                      <a:srgbClr val="111931"/>
                    </a:solidFill>
                    <a:uFillTx/>
                    <a:latin typeface="Calibri" pitchFamily="34"/>
                    <a:ea typeface="Calibri" pitchFamily="34"/>
                    <a:cs typeface="Calibri" pitchFamily="34"/>
                  </a:rPr>
                  <a:t>irytuje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Daj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kontrolę</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1" name="Grupa 40"/>
            <p:cNvGrpSpPr/>
            <p:nvPr/>
          </p:nvGrpSpPr>
          <p:grpSpPr>
            <a:xfrm>
              <a:off x="4294632" y="3044952"/>
              <a:ext cx="4628388" cy="576000"/>
              <a:chOff x="4111752" y="2816352"/>
              <a:chExt cx="4860000" cy="576000"/>
            </a:xfrm>
          </p:grpSpPr>
          <p:grpSp>
            <p:nvGrpSpPr>
              <p:cNvPr id="37" name="Grupa 36"/>
              <p:cNvGrpSpPr/>
              <p:nvPr/>
            </p:nvGrpSpPr>
            <p:grpSpPr>
              <a:xfrm>
                <a:off x="4111752" y="2816352"/>
                <a:ext cx="4860000" cy="576000"/>
                <a:chOff x="4663440" y="2816352"/>
                <a:chExt cx="4206240" cy="640080"/>
              </a:xfrm>
            </p:grpSpPr>
            <p:sp>
              <p:nvSpPr>
                <p:cNvPr id="20" name="Shape 18"/>
                <p:cNvSpPr/>
                <p:nvPr/>
              </p:nvSpPr>
              <p:spPr>
                <a:xfrm>
                  <a:off x="4663440" y="2816352"/>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4663440" y="2816352"/>
                  <a:ext cx="54864" cy="64008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2" name="Text 20"/>
              <p:cNvSpPr/>
              <p:nvPr/>
            </p:nvSpPr>
            <p:spPr>
              <a:xfrm>
                <a:off x="4236720" y="2819400"/>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User Override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zawsze</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pozwól</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nadpisać</a:t>
                </a:r>
                <a:endParaRPr lang="en-US" sz="1150" b="0" i="0" u="none" strike="noStrike" kern="1200" cap="none" spc="0" baseline="0" dirty="0">
                  <a:solidFill>
                    <a:srgbClr val="000000"/>
                  </a:solidFill>
                  <a:uFillTx/>
                  <a:latin typeface="Calibri"/>
                </a:endParaRPr>
              </a:p>
            </p:txBody>
          </p:sp>
          <p:sp>
            <p:nvSpPr>
              <p:cNvPr id="23" name="Text 21"/>
              <p:cNvSpPr/>
              <p:nvPr/>
            </p:nvSpPr>
            <p:spPr>
              <a:xfrm>
                <a:off x="4236720" y="3084576"/>
                <a:ext cx="4578096" cy="30777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Przycisk</a:t>
                </a:r>
                <a:r>
                  <a:rPr lang="en-US" sz="1000" b="0" i="0" u="none" strike="noStrike" kern="1200" cap="none" spc="0" baseline="0" dirty="0">
                    <a:solidFill>
                      <a:srgbClr val="111931"/>
                    </a:solidFill>
                    <a:uFillTx/>
                    <a:latin typeface="Calibri" pitchFamily="34"/>
                    <a:ea typeface="Calibri" pitchFamily="34"/>
                    <a:cs typeface="Calibri" pitchFamily="34"/>
                  </a:rPr>
                  <a:t> 'To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mój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nastrój</a:t>
                </a:r>
                <a:r>
                  <a:rPr lang="en-US" sz="1000" b="0" i="0" u="none" strike="noStrike" kern="1200" cap="none" spc="0" baseline="0" dirty="0">
                    <a:solidFill>
                      <a:srgbClr val="111931"/>
                    </a:solidFill>
                    <a:uFillTx/>
                    <a:latin typeface="Calibri" pitchFamily="34"/>
                    <a:ea typeface="Calibri" pitchFamily="34"/>
                    <a:cs typeface="Calibri" pitchFamily="34"/>
                  </a:rPr>
                  <a:t>' → manual control. </a:t>
                </a:r>
                <a:r>
                  <a:rPr lang="en-US" sz="1000" b="0" i="0" u="none" strike="noStrike" kern="1200" cap="none" spc="0" baseline="0" dirty="0" err="1" smtClean="0">
                    <a:solidFill>
                      <a:srgbClr val="111931"/>
                    </a:solidFill>
                    <a:uFillTx/>
                    <a:latin typeface="Calibri" pitchFamily="34"/>
                    <a:ea typeface="Calibri" pitchFamily="34"/>
                    <a:cs typeface="Calibri" pitchFamily="34"/>
                  </a:rPr>
                  <a:t>Modele</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afektywne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mylą</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
                </a:r>
                <a:br>
                  <a:rPr lang="pl-PL" sz="1000" b="0" i="0" u="none" strike="noStrike" kern="1200" cap="none" spc="0" baseline="0" dirty="0" smtClean="0">
                    <a:solidFill>
                      <a:srgbClr val="111931"/>
                    </a:solidFill>
                    <a:uFillTx/>
                    <a:latin typeface="Calibri" pitchFamily="34"/>
                    <a:ea typeface="Calibri" pitchFamily="34"/>
                    <a:cs typeface="Calibri" pitchFamily="34"/>
                  </a:rPr>
                </a:br>
                <a:r>
                  <a:rPr lang="en-US" sz="1000" b="0" i="0" u="none" strike="noStrike" kern="1200" cap="none" spc="0" baseline="0" dirty="0" smtClean="0">
                    <a:solidFill>
                      <a:srgbClr val="111931"/>
                    </a:solidFill>
                    <a:uFillTx/>
                    <a:latin typeface="Calibri" pitchFamily="34"/>
                    <a:ea typeface="Calibri" pitchFamily="34"/>
                    <a:cs typeface="Calibri" pitchFamily="34"/>
                  </a:rPr>
                  <a:t>w </a:t>
                </a:r>
                <a:r>
                  <a:rPr lang="en-US" sz="1000" b="0" i="0" u="none" strike="noStrike" kern="1200" cap="none" spc="0" baseline="0" dirty="0">
                    <a:solidFill>
                      <a:srgbClr val="111931"/>
                    </a:solidFill>
                    <a:uFillTx/>
                    <a:latin typeface="Calibri" pitchFamily="34"/>
                    <a:ea typeface="Calibri" pitchFamily="34"/>
                    <a:cs typeface="Calibri" pitchFamily="34"/>
                  </a:rPr>
                  <a:t>20–30%. </a:t>
                </a:r>
                <a:r>
                  <a:rPr lang="en-US" sz="1000" b="0" i="0" u="none" strike="noStrike" kern="1200" cap="none" spc="0" baseline="0" dirty="0" err="1">
                    <a:solidFill>
                      <a:srgbClr val="111931"/>
                    </a:solidFill>
                    <a:uFillTx/>
                    <a:latin typeface="Calibri" pitchFamily="34"/>
                    <a:ea typeface="Calibri" pitchFamily="34"/>
                    <a:cs typeface="Calibri" pitchFamily="34"/>
                  </a:rPr>
                  <a:t>Użytkownik</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musi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mieć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ostatnie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słowo</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0" name="Grupa 39"/>
            <p:cNvGrpSpPr/>
            <p:nvPr/>
          </p:nvGrpSpPr>
          <p:grpSpPr>
            <a:xfrm>
              <a:off x="4294632" y="3666744"/>
              <a:ext cx="4628388" cy="576000"/>
              <a:chOff x="4111752" y="3529584"/>
              <a:chExt cx="4860000" cy="576000"/>
            </a:xfrm>
          </p:grpSpPr>
          <p:grpSp>
            <p:nvGrpSpPr>
              <p:cNvPr id="38" name="Grupa 37"/>
              <p:cNvGrpSpPr/>
              <p:nvPr/>
            </p:nvGrpSpPr>
            <p:grpSpPr>
              <a:xfrm>
                <a:off x="4111752" y="3529584"/>
                <a:ext cx="4860000" cy="576000"/>
                <a:chOff x="4663440" y="3529584"/>
                <a:chExt cx="4206240" cy="640080"/>
              </a:xfrm>
            </p:grpSpPr>
            <p:sp>
              <p:nvSpPr>
                <p:cNvPr id="24" name="Shape 22"/>
                <p:cNvSpPr/>
                <p:nvPr/>
              </p:nvSpPr>
              <p:spPr>
                <a:xfrm>
                  <a:off x="4663440" y="3529584"/>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Shape 23"/>
                <p:cNvSpPr/>
                <p:nvPr/>
              </p:nvSpPr>
              <p:spPr>
                <a:xfrm>
                  <a:off x="4663440" y="3529584"/>
                  <a:ext cx="54864" cy="64008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6" name="Text 24"/>
              <p:cNvSpPr/>
              <p:nvPr/>
            </p:nvSpPr>
            <p:spPr>
              <a:xfrm>
                <a:off x="4236720" y="3533097"/>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Cultural Sensitivity</a:t>
                </a:r>
                <a:endParaRPr lang="en-US" sz="1150" b="0" i="0" u="none" strike="noStrike" kern="1200" cap="none" spc="0" baseline="0" dirty="0">
                  <a:solidFill>
                    <a:srgbClr val="000000"/>
                  </a:solidFill>
                  <a:uFillTx/>
                  <a:latin typeface="Calibri"/>
                </a:endParaRPr>
              </a:p>
            </p:txBody>
          </p:sp>
          <p:sp>
            <p:nvSpPr>
              <p:cNvPr id="27" name="Text 25"/>
              <p:cNvSpPr/>
              <p:nvPr/>
            </p:nvSpPr>
            <p:spPr>
              <a:xfrm>
                <a:off x="4236720" y="3770842"/>
                <a:ext cx="4578096" cy="26471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Emocja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radości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wyraża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inaczej</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Japonii</a:t>
                </a:r>
                <a:r>
                  <a:rPr lang="en-US" sz="1000" b="0" i="0" u="none" strike="noStrike" kern="1200" cap="none" spc="0" baseline="0" dirty="0">
                    <a:solidFill>
                      <a:srgbClr val="111931"/>
                    </a:solidFill>
                    <a:uFillTx/>
                    <a:latin typeface="Calibri" pitchFamily="34"/>
                    <a:ea typeface="Calibri" pitchFamily="34"/>
                    <a:cs typeface="Calibri" pitchFamily="34"/>
                  </a:rPr>
                  <a:t> (subdued) vs USA (</a:t>
                </a:r>
                <a:r>
                  <a:rPr lang="en-US" sz="1000" b="0" i="0" u="none" strike="noStrike" kern="1200" cap="none" spc="0" baseline="0" dirty="0" err="1">
                    <a:solidFill>
                      <a:srgbClr val="111931"/>
                    </a:solidFill>
                    <a:uFillTx/>
                    <a:latin typeface="Calibri" pitchFamily="34"/>
                    <a:ea typeface="Calibri" pitchFamily="34"/>
                    <a:cs typeface="Calibri" pitchFamily="34"/>
                  </a:rPr>
                  <a:t>ekspresyjny</a:t>
                </a:r>
                <a:r>
                  <a:rPr lang="en-US" sz="1000" b="0" i="0" u="none" strike="noStrike" kern="1200" cap="none" spc="0" baseline="0" dirty="0">
                    <a:solidFill>
                      <a:srgbClr val="111931"/>
                    </a:solidFill>
                    <a:uFillTx/>
                    <a:latin typeface="Calibri" pitchFamily="34"/>
                    <a:ea typeface="Calibri" pitchFamily="34"/>
                    <a:cs typeface="Calibri" pitchFamily="34"/>
                  </a:rPr>
                  <a:t>). Model </a:t>
                </a:r>
                <a:r>
                  <a:rPr lang="en-US" sz="1000" b="0" i="0" u="none" strike="noStrike" kern="1200" cap="none" spc="0" baseline="0" dirty="0" err="1">
                    <a:solidFill>
                      <a:srgbClr val="111931"/>
                    </a:solidFill>
                    <a:uFillTx/>
                    <a:latin typeface="Calibri" pitchFamily="34"/>
                    <a:ea typeface="Calibri" pitchFamily="34"/>
                    <a:cs typeface="Calibri" pitchFamily="34"/>
                  </a:rPr>
                  <a:t>trenowany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EMODB (</a:t>
                </a:r>
                <a:r>
                  <a:rPr lang="en-US" sz="1000" b="0" i="0" u="none" strike="noStrike" kern="1200" cap="none" spc="0" baseline="0" dirty="0" err="1">
                    <a:solidFill>
                      <a:srgbClr val="111931"/>
                    </a:solidFill>
                    <a:uFillTx/>
                    <a:latin typeface="Calibri" pitchFamily="34"/>
                    <a:ea typeface="Calibri" pitchFamily="34"/>
                    <a:cs typeface="Calibri" pitchFamily="34"/>
                  </a:rPr>
                  <a:t>niem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może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źle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rozpoznawać</a:t>
                </a:r>
                <a:r>
                  <a:rPr lang="en-US" sz="1000" b="0" i="0" u="none" strike="noStrike" kern="1200" cap="none" spc="0" baseline="0" dirty="0">
                    <a:solidFill>
                      <a:srgbClr val="111931"/>
                    </a:solidFill>
                    <a:uFillTx/>
                    <a:latin typeface="Calibri" pitchFamily="34"/>
                    <a:ea typeface="Calibri" pitchFamily="34"/>
                    <a:cs typeface="Calibri" pitchFamily="34"/>
                  </a:rPr>
                  <a:t> np. </a:t>
                </a:r>
                <a:r>
                  <a:rPr lang="en-US" sz="1000" b="0" i="0" u="none" strike="noStrike" kern="1200" cap="none" spc="0" baseline="0" dirty="0" err="1">
                    <a:solidFill>
                      <a:srgbClr val="111931"/>
                    </a:solidFill>
                    <a:uFillTx/>
                    <a:latin typeface="Calibri" pitchFamily="34"/>
                    <a:ea typeface="Calibri" pitchFamily="34"/>
                    <a:cs typeface="Calibri" pitchFamily="34"/>
                  </a:rPr>
                  <a:t>polskich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użytkowników</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4" name="Grupa 43"/>
            <p:cNvGrpSpPr/>
            <p:nvPr/>
          </p:nvGrpSpPr>
          <p:grpSpPr>
            <a:xfrm>
              <a:off x="4294632" y="4283964"/>
              <a:ext cx="4628388" cy="580572"/>
              <a:chOff x="4111752" y="4238244"/>
              <a:chExt cx="4860000" cy="580572"/>
            </a:xfrm>
          </p:grpSpPr>
          <p:grpSp>
            <p:nvGrpSpPr>
              <p:cNvPr id="39" name="Grupa 38"/>
              <p:cNvGrpSpPr/>
              <p:nvPr/>
            </p:nvGrpSpPr>
            <p:grpSpPr>
              <a:xfrm>
                <a:off x="4111752" y="4242816"/>
                <a:ext cx="4860000" cy="576000"/>
                <a:chOff x="4663440" y="4242816"/>
                <a:chExt cx="4206240" cy="640080"/>
              </a:xfrm>
            </p:grpSpPr>
            <p:sp>
              <p:nvSpPr>
                <p:cNvPr id="28" name="Shape 26"/>
                <p:cNvSpPr/>
                <p:nvPr/>
              </p:nvSpPr>
              <p:spPr>
                <a:xfrm>
                  <a:off x="4663440" y="4242816"/>
                  <a:ext cx="4206240" cy="64008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Shape 27"/>
                <p:cNvSpPr/>
                <p:nvPr/>
              </p:nvSpPr>
              <p:spPr>
                <a:xfrm>
                  <a:off x="4663440" y="4242816"/>
                  <a:ext cx="54864" cy="64008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30" name="Text 28"/>
              <p:cNvSpPr/>
              <p:nvPr/>
            </p:nvSpPr>
            <p:spPr>
              <a:xfrm>
                <a:off x="4236720" y="4238244"/>
                <a:ext cx="4578096"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Avoid Emotional Manipulation</a:t>
                </a:r>
                <a:endParaRPr lang="en-US" sz="1150" b="0" i="0" u="none" strike="noStrike" kern="1200" cap="none" spc="0" baseline="0" dirty="0">
                  <a:solidFill>
                    <a:srgbClr val="000000"/>
                  </a:solidFill>
                  <a:uFillTx/>
                  <a:latin typeface="Calibri"/>
                </a:endParaRPr>
              </a:p>
            </p:txBody>
          </p:sp>
          <p:sp>
            <p:nvSpPr>
              <p:cNvPr id="31" name="Text 29"/>
              <p:cNvSpPr/>
              <p:nvPr/>
            </p:nvSpPr>
            <p:spPr>
              <a:xfrm>
                <a:off x="4236720" y="4475988"/>
                <a:ext cx="4578096" cy="26517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Adaptujesz</a:t>
                </a:r>
                <a:r>
                  <a:rPr lang="en-US" sz="1000" b="0" i="0" u="none" strike="noStrike" kern="1200" cap="none" spc="0" baseline="0" dirty="0">
                    <a:solidFill>
                      <a:srgbClr val="111931"/>
                    </a:solidFill>
                    <a:uFillTx/>
                    <a:latin typeface="Calibri" pitchFamily="34"/>
                    <a:ea typeface="Calibri" pitchFamily="34"/>
                    <a:cs typeface="Calibri" pitchFamily="34"/>
                  </a:rPr>
                  <a:t> UX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korzyści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użytkownika</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zwiększenia</a:t>
                </a:r>
                <a:r>
                  <a:rPr lang="en-US" sz="1000" b="0" i="0" u="none" strike="noStrike" kern="1200" cap="none" spc="0" baseline="0" dirty="0">
                    <a:solidFill>
                      <a:srgbClr val="111931"/>
                    </a:solidFill>
                    <a:uFillTx/>
                    <a:latin typeface="Calibri" pitchFamily="34"/>
                    <a:ea typeface="Calibri" pitchFamily="34"/>
                    <a:cs typeface="Calibri" pitchFamily="34"/>
                  </a:rPr>
                  <a:t> time-in-app. </a:t>
                </a:r>
                <a:r>
                  <a:rPr lang="en-US" sz="1000" b="0" i="0" u="none" strike="noStrike" kern="1200" cap="none" spc="0" baseline="0" dirty="0" err="1">
                    <a:solidFill>
                      <a:srgbClr val="111931"/>
                    </a:solidFill>
                    <a:uFillTx/>
                    <a:latin typeface="Calibri" pitchFamily="34"/>
                    <a:ea typeface="Calibri" pitchFamily="34"/>
                    <a:cs typeface="Calibri" pitchFamily="34"/>
                  </a:rPr>
                  <a:t>Etyczna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zasada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adaptacja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musi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służyć</a:t>
                </a:r>
                <a:r>
                  <a:rPr lang="en-US" sz="1000" b="0" i="0" u="none" strike="noStrike" kern="1200" cap="none" spc="0" baseline="0" dirty="0">
                    <a:solidFill>
                      <a:srgbClr val="111931"/>
                    </a:solidFill>
                    <a:uFillTx/>
                    <a:latin typeface="Calibri" pitchFamily="34"/>
                    <a:ea typeface="Calibri" pitchFamily="34"/>
                    <a:cs typeface="Calibri" pitchFamily="34"/>
                  </a:rPr>
                  <a:t> wellbeing,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metryce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zaangażowania</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sp>
        <p:nvSpPr>
          <p:cNvPr id="46"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19</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9FF"/>
        </a:solidFill>
        <a:effectLst/>
      </p:bgPr>
    </p:bg>
    <p:spTree>
      <p:nvGrpSpPr>
        <p:cNvPr id="1" name=""/>
        <p:cNvGrpSpPr/>
        <p:nvPr/>
      </p:nvGrpSpPr>
      <p:grpSpPr>
        <a:xfrm>
          <a:off x="0" y="0"/>
          <a:ext cx="0" cy="0"/>
          <a:chOff x="0" y="0"/>
          <a:chExt cx="0" cy="0"/>
        </a:xfrm>
      </p:grpSpPr>
      <p:grpSp>
        <p:nvGrpSpPr>
          <p:cNvPr id="49" name="Grupa 48"/>
          <p:cNvGrpSpPr/>
          <p:nvPr/>
        </p:nvGrpSpPr>
        <p:grpSpPr>
          <a:xfrm>
            <a:off x="0" y="0"/>
            <a:ext cx="9144000" cy="558000"/>
            <a:chOff x="0" y="0"/>
            <a:chExt cx="9144000" cy="558000"/>
          </a:xfrm>
        </p:grpSpPr>
        <p:sp>
          <p:nvSpPr>
            <p:cNvPr id="50"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1"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z</a:t>
            </a:r>
            <a:r>
              <a:rPr lang="en-US" sz="2000" b="1" i="0" u="none" strike="noStrike" kern="1200" cap="none" spc="0" baseline="0" dirty="0" err="1" smtClean="0">
                <a:solidFill>
                  <a:srgbClr val="FFFFFF"/>
                </a:solidFill>
                <a:uFillTx/>
                <a:latin typeface="Cambria" pitchFamily="34"/>
                <a:ea typeface="Cambria" pitchFamily="34"/>
                <a:cs typeface="Cambria" pitchFamily="34"/>
              </a:rPr>
              <a:t>drowie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sychiczne</a:t>
            </a:r>
            <a:r>
              <a:rPr lang="pl-PL" sz="2000" b="1" dirty="0" smtClean="0">
                <a:solidFill>
                  <a:srgbClr val="FFFFFF"/>
                </a:solidFill>
                <a:latin typeface="Cambria" pitchFamily="34"/>
                <a:ea typeface="Cambria" pitchFamily="34"/>
                <a:cs typeface="Cambria" pitchFamily="34"/>
              </a:rPr>
              <a:t>, czyli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w</a:t>
            </a:r>
            <a:r>
              <a:rPr lang="en-US" sz="2000" b="1" i="0" u="none" strike="noStrike" kern="1200" cap="none" spc="0" baseline="0" dirty="0" err="1" smtClean="0">
                <a:solidFill>
                  <a:srgbClr val="FFFFFF"/>
                </a:solidFill>
                <a:uFillTx/>
                <a:latin typeface="Cambria" pitchFamily="34"/>
                <a:ea typeface="Cambria" pitchFamily="34"/>
                <a:cs typeface="Cambria" pitchFamily="34"/>
              </a:rPr>
              <a:t>irtualna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t</a:t>
            </a:r>
            <a:r>
              <a:rPr lang="en-US" sz="2000" b="1" i="0" u="none" strike="noStrike" kern="1200" cap="none" spc="0" baseline="0" dirty="0" err="1" smtClean="0">
                <a:solidFill>
                  <a:srgbClr val="FFFFFF"/>
                </a:solidFill>
                <a:uFillTx/>
                <a:latin typeface="Cambria" pitchFamily="34"/>
                <a:ea typeface="Cambria" pitchFamily="34"/>
                <a:cs typeface="Cambria" pitchFamily="34"/>
              </a:rPr>
              <a:t>erapia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onitoring</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933449" y="693420"/>
            <a:ext cx="7277100" cy="43434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Calibri" pitchFamily="34"/>
                <a:ea typeface="Calibri" pitchFamily="34"/>
                <a:cs typeface="Calibri" pitchFamily="34"/>
              </a:rPr>
              <a:t>Mental health to </a:t>
            </a:r>
            <a:r>
              <a:rPr lang="en-US" sz="1600" b="0" i="0" u="none" strike="noStrike" kern="1200" cap="none" spc="0" baseline="0" dirty="0" err="1">
                <a:solidFill>
                  <a:srgbClr val="111931"/>
                </a:solidFill>
                <a:uFillTx/>
                <a:latin typeface="Calibri" pitchFamily="34"/>
                <a:ea typeface="Calibri" pitchFamily="34"/>
                <a:cs typeface="Calibri" pitchFamily="34"/>
              </a:rPr>
              <a:t>najbardziej</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obiecujące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zastosowanie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informatyki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afektywnej</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
            </a:r>
            <a:br>
              <a:rPr lang="pl-PL" sz="1600" b="0" i="0" u="none" strike="noStrike" kern="1200" cap="none" spc="0" baseline="0" dirty="0" smtClean="0">
                <a:solidFill>
                  <a:srgbClr val="111931"/>
                </a:solidFill>
                <a:uFillTx/>
                <a:latin typeface="Calibri" pitchFamily="34"/>
                <a:ea typeface="Calibri" pitchFamily="34"/>
                <a:cs typeface="Calibri" pitchFamily="34"/>
              </a:rPr>
            </a:br>
            <a:r>
              <a:rPr lang="en-US" sz="1600" b="0" i="0" u="none" strike="noStrike" kern="1200" cap="none" spc="0" baseline="0" dirty="0" smtClean="0">
                <a:solidFill>
                  <a:srgbClr val="111931"/>
                </a:solidFill>
                <a:uFillTx/>
                <a:latin typeface="Calibri" pitchFamily="34"/>
                <a:ea typeface="Calibri" pitchFamily="34"/>
                <a:cs typeface="Calibri" pitchFamily="34"/>
              </a:rPr>
              <a:t>1 </a:t>
            </a:r>
            <a:r>
              <a:rPr lang="en-US" sz="1600" b="0" i="0" u="none" strike="noStrike" kern="1200" cap="none" spc="0" baseline="0" dirty="0" err="1">
                <a:solidFill>
                  <a:srgbClr val="111931"/>
                </a:solidFill>
                <a:uFillTx/>
                <a:latin typeface="Calibri" pitchFamily="34"/>
                <a:ea typeface="Calibri" pitchFamily="34"/>
                <a:cs typeface="Calibri" pitchFamily="34"/>
              </a:rPr>
              <a:t>miliard</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ludzi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smtClean="0">
                <a:solidFill>
                  <a:srgbClr val="111931"/>
                </a:solidFill>
                <a:uFillTx/>
                <a:latin typeface="Calibri" pitchFamily="34"/>
                <a:ea typeface="Calibri" pitchFamily="34"/>
                <a:cs typeface="Calibri" pitchFamily="34"/>
              </a:rPr>
              <a:t>z </a:t>
            </a:r>
            <a:r>
              <a:rPr lang="en-US" sz="1600" b="0" i="0" u="none" strike="noStrike" kern="1200" cap="none" spc="0" baseline="0" dirty="0" err="1">
                <a:solidFill>
                  <a:srgbClr val="111931"/>
                </a:solidFill>
                <a:uFillTx/>
                <a:latin typeface="Calibri" pitchFamily="34"/>
                <a:ea typeface="Calibri" pitchFamily="34"/>
                <a:cs typeface="Calibri" pitchFamily="34"/>
              </a:rPr>
              <a:t>zaburzeniami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psychicznymi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dostęp</a:t>
            </a:r>
            <a:r>
              <a:rPr lang="en-US" sz="1600" b="0" i="0" u="none" strike="noStrike" kern="1200" cap="none" spc="0" baseline="0" dirty="0">
                <a:solidFill>
                  <a:srgbClr val="111931"/>
                </a:solidFill>
                <a:uFillTx/>
                <a:latin typeface="Calibri" pitchFamily="34"/>
                <a:ea typeface="Calibri" pitchFamily="34"/>
                <a:cs typeface="Calibri" pitchFamily="34"/>
              </a:rPr>
              <a:t> do </a:t>
            </a:r>
            <a:r>
              <a:rPr lang="en-US" sz="1600" b="0" i="0" u="none" strike="noStrike" kern="1200" cap="none" spc="0" baseline="0" dirty="0" err="1">
                <a:solidFill>
                  <a:srgbClr val="111931"/>
                </a:solidFill>
                <a:uFillTx/>
                <a:latin typeface="Calibri" pitchFamily="34"/>
                <a:ea typeface="Calibri" pitchFamily="34"/>
                <a:cs typeface="Calibri" pitchFamily="34"/>
              </a:rPr>
              <a:t>terapii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ograniczony</a:t>
            </a:r>
            <a:endParaRPr lang="en-US" sz="1600" b="0" i="0" u="none" strike="noStrike" kern="1200" cap="none" spc="0" baseline="0" dirty="0">
              <a:solidFill>
                <a:srgbClr val="111931"/>
              </a:solidFill>
              <a:uFillTx/>
              <a:latin typeface="Calibri"/>
            </a:endParaRPr>
          </a:p>
        </p:txBody>
      </p:sp>
      <p:sp>
        <p:nvSpPr>
          <p:cNvPr id="8" name="Shape 6"/>
          <p:cNvSpPr/>
          <p:nvPr/>
        </p:nvSpPr>
        <p:spPr>
          <a:xfrm>
            <a:off x="320040" y="1427988"/>
            <a:ext cx="2011680" cy="93268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 y="1427988"/>
            <a:ext cx="2011680" cy="4572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320040" y="1435608"/>
            <a:ext cx="2011680" cy="53035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7C3AED"/>
                </a:solidFill>
                <a:uFillTx/>
                <a:latin typeface="Cambria" pitchFamily="34"/>
                <a:ea typeface="Cambria" pitchFamily="34"/>
                <a:cs typeface="Cambria" pitchFamily="34"/>
              </a:rPr>
              <a:t>1B+</a:t>
            </a:r>
            <a:endParaRPr lang="en-US" sz="2200" b="0" i="0" u="none" strike="noStrike" kern="1200" cap="none" spc="0" baseline="0">
              <a:solidFill>
                <a:srgbClr val="000000"/>
              </a:solidFill>
              <a:uFillTx/>
              <a:latin typeface="Calibri"/>
            </a:endParaRPr>
          </a:p>
        </p:txBody>
      </p:sp>
      <p:sp>
        <p:nvSpPr>
          <p:cNvPr id="11" name="Text 9"/>
          <p:cNvSpPr/>
          <p:nvPr/>
        </p:nvSpPr>
        <p:spPr>
          <a:xfrm>
            <a:off x="320040" y="1871472"/>
            <a:ext cx="2011680" cy="40233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osób z zaburzeniami</a:t>
            </a:r>
            <a:endParaRPr lang="en-US" sz="1000" b="0" i="0" u="none" strike="noStrike" kern="1200" cap="none" spc="0" baseline="0">
              <a:solidFill>
                <a:schemeClr val="accent5">
                  <a:lumMod val="20000"/>
                  <a:lumOff val="80000"/>
                </a:schemeClr>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psychicznymi (WHO)</a:t>
            </a:r>
            <a:endParaRPr lang="en-US" sz="1000" b="0" i="0" u="none" strike="noStrike" kern="1200" cap="none" spc="0" baseline="0">
              <a:solidFill>
                <a:schemeClr val="accent5">
                  <a:lumMod val="20000"/>
                  <a:lumOff val="80000"/>
                </a:schemeClr>
              </a:solidFill>
              <a:uFillTx/>
              <a:latin typeface="Calibri"/>
            </a:endParaRPr>
          </a:p>
        </p:txBody>
      </p:sp>
      <p:sp>
        <p:nvSpPr>
          <p:cNvPr id="12" name="Shape 10"/>
          <p:cNvSpPr/>
          <p:nvPr/>
        </p:nvSpPr>
        <p:spPr>
          <a:xfrm>
            <a:off x="2423160" y="1427988"/>
            <a:ext cx="2011680" cy="93268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2423160" y="1427988"/>
            <a:ext cx="2011680" cy="4572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2423160" y="1435608"/>
            <a:ext cx="2011680" cy="53035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E11D48"/>
                </a:solidFill>
                <a:uFillTx/>
                <a:latin typeface="Cambria" pitchFamily="34"/>
                <a:ea typeface="Cambria" pitchFamily="34"/>
                <a:cs typeface="Cambria" pitchFamily="34"/>
              </a:rPr>
              <a:t>75%</a:t>
            </a:r>
            <a:endParaRPr lang="en-US" sz="2200" b="0" i="0" u="none" strike="noStrike" kern="1200" cap="none" spc="0" baseline="0">
              <a:solidFill>
                <a:srgbClr val="000000"/>
              </a:solidFill>
              <a:uFillTx/>
              <a:latin typeface="Calibri"/>
            </a:endParaRPr>
          </a:p>
        </p:txBody>
      </p:sp>
      <p:sp>
        <p:nvSpPr>
          <p:cNvPr id="15" name="Text 13"/>
          <p:cNvSpPr/>
          <p:nvPr/>
        </p:nvSpPr>
        <p:spPr>
          <a:xfrm>
            <a:off x="2423160" y="1871472"/>
            <a:ext cx="2011680" cy="40233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braku dostępu do</a:t>
            </a:r>
            <a:endParaRPr lang="en-US" sz="1000" b="0" i="0" u="none" strike="noStrike" kern="1200" cap="none" spc="0" baseline="0">
              <a:solidFill>
                <a:schemeClr val="accent5">
                  <a:lumMod val="20000"/>
                  <a:lumOff val="80000"/>
                </a:schemeClr>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profesjonalnej pomocy</a:t>
            </a:r>
            <a:endParaRPr lang="en-US" sz="1000" b="0" i="0" u="none" strike="noStrike" kern="1200" cap="none" spc="0" baseline="0">
              <a:solidFill>
                <a:schemeClr val="accent5">
                  <a:lumMod val="20000"/>
                  <a:lumOff val="80000"/>
                </a:schemeClr>
              </a:solidFill>
              <a:uFillTx/>
              <a:latin typeface="Calibri"/>
            </a:endParaRPr>
          </a:p>
        </p:txBody>
      </p:sp>
      <p:sp>
        <p:nvSpPr>
          <p:cNvPr id="16" name="Shape 14"/>
          <p:cNvSpPr/>
          <p:nvPr/>
        </p:nvSpPr>
        <p:spPr>
          <a:xfrm>
            <a:off x="4526280" y="1427988"/>
            <a:ext cx="2011680" cy="93268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4526280" y="1427988"/>
            <a:ext cx="2011680" cy="4572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4526280" y="1435608"/>
            <a:ext cx="2011680" cy="53035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D97706"/>
                </a:solidFill>
                <a:uFillTx/>
                <a:latin typeface="Cambria" pitchFamily="34"/>
                <a:ea typeface="Cambria" pitchFamily="34"/>
                <a:cs typeface="Cambria" pitchFamily="34"/>
              </a:rPr>
              <a:t>3× tańszy</a:t>
            </a:r>
            <a:endParaRPr lang="en-US" sz="2200" b="0" i="0" u="none" strike="noStrike" kern="1200" cap="none" spc="0" baseline="0">
              <a:solidFill>
                <a:srgbClr val="000000"/>
              </a:solidFill>
              <a:uFillTx/>
              <a:latin typeface="Calibri"/>
            </a:endParaRPr>
          </a:p>
        </p:txBody>
      </p:sp>
      <p:sp>
        <p:nvSpPr>
          <p:cNvPr id="19" name="Text 17"/>
          <p:cNvSpPr/>
          <p:nvPr/>
        </p:nvSpPr>
        <p:spPr>
          <a:xfrm>
            <a:off x="4526280" y="1871472"/>
            <a:ext cx="2011680" cy="40233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CBT chatbot vs</a:t>
            </a:r>
            <a:endParaRPr lang="en-US" sz="1000" b="0" i="0" u="none" strike="noStrike" kern="1200" cap="none" spc="0" baseline="0">
              <a:solidFill>
                <a:schemeClr val="accent5">
                  <a:lumMod val="20000"/>
                  <a:lumOff val="80000"/>
                </a:schemeClr>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accent5">
                    <a:lumMod val="20000"/>
                    <a:lumOff val="80000"/>
                  </a:schemeClr>
                </a:solidFill>
                <a:uFillTx/>
                <a:latin typeface="Calibri" pitchFamily="34"/>
                <a:ea typeface="Calibri" pitchFamily="34"/>
                <a:cs typeface="Calibri" pitchFamily="34"/>
              </a:rPr>
              <a:t>terapia indywidualna</a:t>
            </a:r>
            <a:endParaRPr lang="en-US" sz="1000" b="0" i="0" u="none" strike="noStrike" kern="1200" cap="none" spc="0" baseline="0">
              <a:solidFill>
                <a:schemeClr val="accent5">
                  <a:lumMod val="20000"/>
                  <a:lumOff val="80000"/>
                </a:schemeClr>
              </a:solidFill>
              <a:uFillTx/>
              <a:latin typeface="Calibri"/>
            </a:endParaRPr>
          </a:p>
        </p:txBody>
      </p:sp>
      <p:sp>
        <p:nvSpPr>
          <p:cNvPr id="20" name="Shape 18"/>
          <p:cNvSpPr/>
          <p:nvPr/>
        </p:nvSpPr>
        <p:spPr>
          <a:xfrm>
            <a:off x="6629400" y="1427988"/>
            <a:ext cx="2011680" cy="932688"/>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6629400" y="1427988"/>
            <a:ext cx="2011680" cy="4572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6629400" y="1435608"/>
            <a:ext cx="2011680" cy="53035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a:solidFill>
                  <a:srgbClr val="0891B2"/>
                </a:solidFill>
                <a:uFillTx/>
                <a:latin typeface="Cambria" pitchFamily="34"/>
                <a:ea typeface="Cambria" pitchFamily="34"/>
                <a:cs typeface="Cambria" pitchFamily="34"/>
              </a:rPr>
              <a:t>68%</a:t>
            </a:r>
            <a:endParaRPr lang="en-US" sz="2200" b="0" i="0" u="none" strike="noStrike" kern="1200" cap="none" spc="0" baseline="0">
              <a:solidFill>
                <a:srgbClr val="000000"/>
              </a:solidFill>
              <a:uFillTx/>
              <a:latin typeface="Calibri"/>
            </a:endParaRPr>
          </a:p>
        </p:txBody>
      </p:sp>
      <p:sp>
        <p:nvSpPr>
          <p:cNvPr id="23" name="Text 21"/>
          <p:cNvSpPr/>
          <p:nvPr/>
        </p:nvSpPr>
        <p:spPr>
          <a:xfrm>
            <a:off x="6629400" y="1871472"/>
            <a:ext cx="2011680" cy="40233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chemeClr val="accent5">
                    <a:lumMod val="20000"/>
                    <a:lumOff val="80000"/>
                  </a:schemeClr>
                </a:solidFill>
                <a:uFillTx/>
                <a:latin typeface="Calibri" pitchFamily="34"/>
                <a:ea typeface="Calibri" pitchFamily="34"/>
                <a:cs typeface="Calibri" pitchFamily="34"/>
              </a:rPr>
              <a:t>redukcja</a:t>
            </a:r>
            <a:r>
              <a:rPr lang="en-US" sz="1000" b="0" i="0" u="none" strike="noStrike" kern="1200" cap="none" spc="0" baseline="0" dirty="0">
                <a:solidFill>
                  <a:schemeClr val="accent5">
                    <a:lumMod val="20000"/>
                    <a:lumOff val="80000"/>
                  </a:schemeClr>
                </a:solidFill>
                <a:uFillTx/>
                <a:latin typeface="Calibri" pitchFamily="34"/>
                <a:ea typeface="Calibri" pitchFamily="34"/>
                <a:cs typeface="Calibri" pitchFamily="34"/>
              </a:rPr>
              <a:t> </a:t>
            </a:r>
            <a:r>
              <a:rPr lang="en-US" sz="1000" b="0" i="0" u="none" strike="noStrike" kern="1200" cap="none" spc="0" baseline="0" dirty="0" err="1">
                <a:solidFill>
                  <a:schemeClr val="accent5">
                    <a:lumMod val="20000"/>
                    <a:lumOff val="80000"/>
                  </a:schemeClr>
                </a:solidFill>
                <a:uFillTx/>
                <a:latin typeface="Calibri" pitchFamily="34"/>
                <a:ea typeface="Calibri" pitchFamily="34"/>
                <a:cs typeface="Calibri" pitchFamily="34"/>
              </a:rPr>
              <a:t>objawów</a:t>
            </a:r>
            <a:endParaRPr lang="en-US" sz="1000" b="0" i="0" u="none" strike="noStrike" kern="1200" cap="none" spc="0" baseline="0" dirty="0">
              <a:solidFill>
                <a:schemeClr val="accent5">
                  <a:lumMod val="20000"/>
                  <a:lumOff val="80000"/>
                </a:schemeClr>
              </a:solidFill>
              <a:uFillTx/>
              <a:latin typeface="Calibri"/>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chemeClr val="accent5">
                    <a:lumMod val="20000"/>
                    <a:lumOff val="80000"/>
                  </a:schemeClr>
                </a:solidFill>
                <a:uFillTx/>
                <a:latin typeface="Calibri" pitchFamily="34"/>
                <a:ea typeface="Calibri" pitchFamily="34"/>
                <a:cs typeface="Calibri" pitchFamily="34"/>
              </a:rPr>
              <a:t>(</a:t>
            </a:r>
            <a:r>
              <a:rPr lang="en-US" sz="1000" b="0" i="0" u="none" strike="noStrike" kern="1200" cap="none" spc="0" baseline="0" dirty="0" err="1">
                <a:solidFill>
                  <a:schemeClr val="accent5">
                    <a:lumMod val="20000"/>
                    <a:lumOff val="80000"/>
                  </a:schemeClr>
                </a:solidFill>
                <a:uFillTx/>
                <a:latin typeface="Calibri" pitchFamily="34"/>
                <a:ea typeface="Calibri" pitchFamily="34"/>
                <a:cs typeface="Calibri" pitchFamily="34"/>
              </a:rPr>
              <a:t>Woebot</a:t>
            </a:r>
            <a:r>
              <a:rPr lang="en-US" sz="1000" b="0" i="0" u="none" strike="noStrike" kern="1200" cap="none" spc="0" baseline="0" dirty="0">
                <a:solidFill>
                  <a:schemeClr val="accent5">
                    <a:lumMod val="20000"/>
                    <a:lumOff val="80000"/>
                  </a:schemeClr>
                </a:solidFill>
                <a:uFillTx/>
                <a:latin typeface="Calibri" pitchFamily="34"/>
                <a:ea typeface="Calibri" pitchFamily="34"/>
                <a:cs typeface="Calibri" pitchFamily="34"/>
              </a:rPr>
              <a:t> RCT, 2017)</a:t>
            </a:r>
            <a:endParaRPr lang="en-US" sz="1000" b="0" i="0" u="none" strike="noStrike" kern="1200" cap="none" spc="0" baseline="0" dirty="0">
              <a:solidFill>
                <a:schemeClr val="accent5">
                  <a:lumMod val="20000"/>
                  <a:lumOff val="80000"/>
                </a:schemeClr>
              </a:solidFill>
              <a:uFillTx/>
              <a:latin typeface="Calibri"/>
            </a:endParaRPr>
          </a:p>
        </p:txBody>
      </p:sp>
      <p:sp>
        <p:nvSpPr>
          <p:cNvPr id="24" name="Text 22"/>
          <p:cNvSpPr/>
          <p:nvPr/>
        </p:nvSpPr>
        <p:spPr>
          <a:xfrm>
            <a:off x="320040" y="2484120"/>
            <a:ext cx="85039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11931"/>
                </a:solidFill>
                <a:uFillTx/>
                <a:latin typeface="Cambria" pitchFamily="34"/>
                <a:ea typeface="Cambria" pitchFamily="34"/>
                <a:cs typeface="Cambria" pitchFamily="34"/>
              </a:rPr>
              <a:t>Rzeczywiste</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a:solidFill>
                  <a:srgbClr val="111931"/>
                </a:solidFill>
                <a:uFillTx/>
                <a:latin typeface="Cambria" pitchFamily="34"/>
                <a:ea typeface="Cambria" pitchFamily="34"/>
                <a:cs typeface="Cambria" pitchFamily="34"/>
              </a:rPr>
              <a:t>aplikacje</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a:solidFill>
                  <a:srgbClr val="111931"/>
                </a:solidFill>
                <a:uFillTx/>
                <a:latin typeface="Cambria" pitchFamily="34"/>
                <a:ea typeface="Cambria" pitchFamily="34"/>
                <a:cs typeface="Cambria" pitchFamily="34"/>
              </a:rPr>
              <a:t>i</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a:solidFill>
                  <a:srgbClr val="111931"/>
                </a:solidFill>
                <a:uFillTx/>
                <a:latin typeface="Cambria" pitchFamily="34"/>
                <a:ea typeface="Cambria" pitchFamily="34"/>
                <a:cs typeface="Cambria" pitchFamily="34"/>
              </a:rPr>
              <a:t>ich</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a:solidFill>
                  <a:srgbClr val="111931"/>
                </a:solidFill>
                <a:uFillTx/>
                <a:latin typeface="Cambria" pitchFamily="34"/>
                <a:ea typeface="Cambria" pitchFamily="34"/>
                <a:cs typeface="Cambria" pitchFamily="34"/>
              </a:rPr>
              <a:t>architektura</a:t>
            </a:r>
            <a:r>
              <a:rPr lang="en-US" sz="1200" b="1" i="0" u="none" strike="noStrike" kern="1200" cap="none" spc="0" baseline="0" dirty="0">
                <a:solidFill>
                  <a:srgbClr val="111931"/>
                </a:solidFill>
                <a:uFillTx/>
                <a:latin typeface="Cambria" pitchFamily="34"/>
                <a:ea typeface="Cambria" pitchFamily="34"/>
                <a:cs typeface="Cambria" pitchFamily="34"/>
              </a:rPr>
              <a:t> </a:t>
            </a:r>
            <a:r>
              <a:rPr lang="en-US" sz="1200" b="1" i="0" u="none" strike="noStrike" kern="1200" cap="none" spc="0" baseline="0" dirty="0" err="1" smtClean="0">
                <a:solidFill>
                  <a:srgbClr val="111931"/>
                </a:solidFill>
                <a:uFillTx/>
                <a:latin typeface="Cambria" pitchFamily="34"/>
                <a:ea typeface="Cambria" pitchFamily="34"/>
                <a:cs typeface="Cambria" pitchFamily="34"/>
              </a:rPr>
              <a:t>afektywna</a:t>
            </a:r>
            <a:endParaRPr lang="en-US" sz="1200" b="0" i="0" u="none" strike="noStrike" kern="1200" cap="none" spc="0" baseline="0" dirty="0">
              <a:solidFill>
                <a:srgbClr val="111931"/>
              </a:solidFill>
              <a:uFillTx/>
              <a:latin typeface="Calibri"/>
            </a:endParaRPr>
          </a:p>
        </p:txBody>
      </p:sp>
      <p:sp>
        <p:nvSpPr>
          <p:cNvPr id="25" name="Shape 23"/>
          <p:cNvSpPr/>
          <p:nvPr/>
        </p:nvSpPr>
        <p:spPr>
          <a:xfrm>
            <a:off x="320040" y="2756916"/>
            <a:ext cx="4251959" cy="1030224"/>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2743200"/>
            <a:ext cx="4251959" cy="252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11480" y="2753867"/>
            <a:ext cx="404164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Woebot (US FDA Authorized)</a:t>
            </a:r>
            <a:endParaRPr lang="en-US" sz="1200" b="0" i="0" u="none" strike="noStrike" kern="1200" cap="none" spc="0" baseline="0">
              <a:solidFill>
                <a:srgbClr val="000000"/>
              </a:solidFill>
              <a:uFillTx/>
              <a:latin typeface="Calibri"/>
            </a:endParaRPr>
          </a:p>
        </p:txBody>
      </p:sp>
      <p:sp>
        <p:nvSpPr>
          <p:cNvPr id="28" name="Text 26"/>
          <p:cNvSpPr/>
          <p:nvPr/>
        </p:nvSpPr>
        <p:spPr>
          <a:xfrm>
            <a:off x="411480" y="3035808"/>
            <a:ext cx="4041648" cy="1828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7C3AED"/>
                </a:solidFill>
                <a:uFillTx/>
                <a:latin typeface="Calibri" pitchFamily="34"/>
                <a:ea typeface="Calibri" pitchFamily="34"/>
                <a:cs typeface="Calibri" pitchFamily="34"/>
              </a:rPr>
              <a:t>📡 NLP (</a:t>
            </a:r>
            <a:r>
              <a:rPr lang="en-US" sz="1000" b="0" i="0" u="none" strike="noStrike" kern="1200" cap="none" spc="0" baseline="0" dirty="0" err="1">
                <a:solidFill>
                  <a:srgbClr val="7C3AED"/>
                </a:solidFill>
                <a:uFillTx/>
                <a:latin typeface="Calibri" pitchFamily="34"/>
                <a:ea typeface="Calibri" pitchFamily="34"/>
                <a:cs typeface="Calibri" pitchFamily="34"/>
              </a:rPr>
              <a:t>tekst</a:t>
            </a:r>
            <a:r>
              <a:rPr lang="en-US" sz="1000" b="0" i="0" u="none" strike="noStrike" kern="1200" cap="none" spc="0" baseline="0" dirty="0">
                <a:solidFill>
                  <a:srgbClr val="7C3AED"/>
                </a:solidFill>
                <a:uFillTx/>
                <a:latin typeface="Calibri" pitchFamily="34"/>
                <a:ea typeface="Calibri" pitchFamily="34"/>
                <a:cs typeface="Calibri" pitchFamily="34"/>
              </a:rPr>
              <a:t>), PHQ-9 </a:t>
            </a:r>
            <a:r>
              <a:rPr lang="en-US" sz="1000" b="0" i="0" u="none" strike="noStrike" kern="1200" cap="none" spc="0" baseline="0" dirty="0" err="1">
                <a:solidFill>
                  <a:srgbClr val="7C3AED"/>
                </a:solidFill>
                <a:uFillTx/>
                <a:latin typeface="Calibri" pitchFamily="34"/>
                <a:ea typeface="Calibri" pitchFamily="34"/>
                <a:cs typeface="Calibri" pitchFamily="34"/>
              </a:rPr>
              <a:t>ankieta</a:t>
            </a:r>
            <a:endParaRPr lang="en-US" sz="1000" b="0" i="0" u="none" strike="noStrike" kern="1200" cap="none" spc="0" baseline="0" dirty="0">
              <a:solidFill>
                <a:srgbClr val="000000"/>
              </a:solidFill>
              <a:uFillTx/>
              <a:latin typeface="Calibri"/>
            </a:endParaRPr>
          </a:p>
        </p:txBody>
      </p:sp>
      <p:sp>
        <p:nvSpPr>
          <p:cNvPr id="29" name="Text 27"/>
          <p:cNvSpPr/>
          <p:nvPr/>
        </p:nvSpPr>
        <p:spPr>
          <a:xfrm>
            <a:off x="411480" y="3265930"/>
            <a:ext cx="4041648" cy="28346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solidFill>
                  <a:srgbClr val="4C3D6B"/>
                </a:solidFill>
                <a:uFillTx/>
                <a:latin typeface="Calibri" pitchFamily="34"/>
                <a:ea typeface="Calibri" pitchFamily="34"/>
                <a:cs typeface="Calibri" pitchFamily="34"/>
              </a:rPr>
              <a:t>⚙ </a:t>
            </a:r>
            <a:r>
              <a:rPr lang="en-US" sz="1000" b="0" i="0" u="none" strike="noStrike" kern="1200" cap="none" spc="0" baseline="0" dirty="0">
                <a:solidFill>
                  <a:srgbClr val="4C3D6B"/>
                </a:solidFill>
                <a:uFillTx/>
                <a:latin typeface="Calibri" pitchFamily="34"/>
                <a:ea typeface="Calibri" pitchFamily="34"/>
                <a:cs typeface="Calibri" pitchFamily="34"/>
              </a:rPr>
              <a:t>GPT fine-tuned CBT + rule-based crisis detection. Human escalation </a:t>
            </a:r>
            <a:r>
              <a:rPr lang="en-US" sz="1000" b="0" i="0" u="none" strike="noStrike" kern="1200" cap="none" spc="0" baseline="0" dirty="0" err="1">
                <a:solidFill>
                  <a:srgbClr val="4C3D6B"/>
                </a:solidFill>
                <a:uFillTx/>
                <a:latin typeface="Calibri" pitchFamily="34"/>
                <a:ea typeface="Calibri" pitchFamily="34"/>
                <a:cs typeface="Calibri" pitchFamily="34"/>
              </a:rPr>
              <a:t>gdy</a:t>
            </a:r>
            <a:r>
              <a:rPr lang="en-US" sz="1000" b="0" i="0" u="none" strike="noStrike" kern="1200" cap="none" spc="0" baseline="0" dirty="0">
                <a:solidFill>
                  <a:srgbClr val="4C3D6B"/>
                </a:solidFill>
                <a:uFillTx/>
                <a:latin typeface="Calibri" pitchFamily="34"/>
                <a:ea typeface="Calibri" pitchFamily="34"/>
                <a:cs typeface="Calibri" pitchFamily="34"/>
              </a:rPr>
              <a:t> crisis flag.</a:t>
            </a:r>
            <a:endParaRPr lang="en-US" sz="1000" b="0" i="0" u="none" strike="noStrike" kern="1200" cap="none" spc="0" baseline="0" dirty="0">
              <a:solidFill>
                <a:srgbClr val="000000"/>
              </a:solidFill>
              <a:uFillTx/>
              <a:latin typeface="Calibri"/>
            </a:endParaRPr>
          </a:p>
        </p:txBody>
      </p:sp>
      <p:sp>
        <p:nvSpPr>
          <p:cNvPr id="30" name="Text 28"/>
          <p:cNvSpPr/>
          <p:nvPr/>
        </p:nvSpPr>
        <p:spPr>
          <a:xfrm>
            <a:off x="411480" y="3531107"/>
            <a:ext cx="4041648" cy="23774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Badanie</a:t>
            </a:r>
            <a:r>
              <a:rPr lang="en-US" sz="1000" b="0" i="0" u="none" strike="noStrike" kern="1200" cap="none" spc="0" baseline="0" dirty="0">
                <a:solidFill>
                  <a:srgbClr val="1F1535"/>
                </a:solidFill>
                <a:uFillTx/>
                <a:latin typeface="Calibri" pitchFamily="34"/>
                <a:ea typeface="Calibri" pitchFamily="34"/>
                <a:cs typeface="Calibri" pitchFamily="34"/>
              </a:rPr>
              <a:t> RCT: −28% </a:t>
            </a:r>
            <a:r>
              <a:rPr lang="en-US" sz="1000" b="0" i="0" u="none" strike="noStrike" kern="1200" cap="none" spc="0" baseline="0" dirty="0" err="1">
                <a:solidFill>
                  <a:srgbClr val="1F1535"/>
                </a:solidFill>
                <a:uFillTx/>
                <a:latin typeface="Calibri" pitchFamily="34"/>
                <a:ea typeface="Calibri" pitchFamily="34"/>
                <a:cs typeface="Calibri" pitchFamily="34"/>
              </a:rPr>
              <a:t>depresja</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po</a:t>
            </a:r>
            <a:r>
              <a:rPr lang="en-US" sz="1000" b="0" i="0" u="none" strike="noStrike" kern="1200" cap="none" spc="0" baseline="0" dirty="0">
                <a:solidFill>
                  <a:srgbClr val="1F1535"/>
                </a:solidFill>
                <a:uFillTx/>
                <a:latin typeface="Calibri" pitchFamily="34"/>
                <a:ea typeface="Calibri" pitchFamily="34"/>
                <a:cs typeface="Calibri" pitchFamily="34"/>
              </a:rPr>
              <a:t> 2 </a:t>
            </a:r>
            <a:r>
              <a:rPr lang="en-US" sz="1000" b="0" i="0" u="none" strike="noStrike" kern="1200" cap="none" spc="0" baseline="0" dirty="0" err="1">
                <a:solidFill>
                  <a:srgbClr val="1F1535"/>
                </a:solidFill>
                <a:uFillTx/>
                <a:latin typeface="Calibri" pitchFamily="34"/>
                <a:ea typeface="Calibri" pitchFamily="34"/>
                <a:cs typeface="Calibri" pitchFamily="34"/>
              </a:rPr>
              <a:t>tygodniach</a:t>
            </a:r>
            <a:r>
              <a:rPr lang="en-US" sz="1000" b="0" i="0" u="none" strike="noStrike" kern="1200" cap="none" spc="0" baseline="0" dirty="0">
                <a:solidFill>
                  <a:srgbClr val="1F1535"/>
                </a:solidFill>
                <a:uFillTx/>
                <a:latin typeface="Calibri" pitchFamily="34"/>
                <a:ea typeface="Calibri" pitchFamily="34"/>
                <a:cs typeface="Calibri" pitchFamily="34"/>
              </a:rPr>
              <a:t>. 50M+ </a:t>
            </a:r>
            <a:r>
              <a:rPr lang="en-US" sz="1000" b="0" i="0" u="none" strike="noStrike" kern="1200" cap="none" spc="0" baseline="0" dirty="0" err="1">
                <a:solidFill>
                  <a:srgbClr val="1F1535"/>
                </a:solidFill>
                <a:uFillTx/>
                <a:latin typeface="Calibri" pitchFamily="34"/>
                <a:ea typeface="Calibri" pitchFamily="34"/>
                <a:cs typeface="Calibri" pitchFamily="34"/>
              </a:rPr>
              <a:t>konwersacji</a:t>
            </a:r>
            <a:r>
              <a:rPr lang="en-US" sz="1000" b="0" i="0" u="none" strike="noStrike" kern="1200" cap="none" spc="0" baseline="0" dirty="0">
                <a:solidFill>
                  <a:srgbClr val="1F1535"/>
                </a:solidFill>
                <a:uFillTx/>
                <a:latin typeface="Calibri" pitchFamily="34"/>
                <a:ea typeface="Calibri" pitchFamily="34"/>
                <a:cs typeface="Calibri" pitchFamily="34"/>
              </a:rPr>
              <a:t>.</a:t>
            </a:r>
            <a:endParaRPr lang="en-US" sz="1000" b="0" i="0" u="none" strike="noStrike" kern="1200" cap="none" spc="0" baseline="0" dirty="0">
              <a:solidFill>
                <a:srgbClr val="000000"/>
              </a:solidFill>
              <a:uFillTx/>
              <a:latin typeface="Calibri"/>
            </a:endParaRPr>
          </a:p>
        </p:txBody>
      </p:sp>
      <p:sp>
        <p:nvSpPr>
          <p:cNvPr id="31" name="Shape 29"/>
          <p:cNvSpPr/>
          <p:nvPr/>
        </p:nvSpPr>
        <p:spPr>
          <a:xfrm>
            <a:off x="4727448" y="2756916"/>
            <a:ext cx="4251959" cy="1030224"/>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Shape 30"/>
          <p:cNvSpPr/>
          <p:nvPr/>
        </p:nvSpPr>
        <p:spPr>
          <a:xfrm>
            <a:off x="4727448" y="2743200"/>
            <a:ext cx="4251959" cy="252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4818888" y="2753867"/>
            <a:ext cx="404164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Wysa</a:t>
            </a:r>
            <a:r>
              <a:rPr lang="en-US" sz="1200" b="1" i="0" u="none" strike="noStrike" kern="1200" cap="none" spc="0" baseline="0" dirty="0">
                <a:solidFill>
                  <a:srgbClr val="FFFFFF"/>
                </a:solidFill>
                <a:uFillTx/>
                <a:latin typeface="Cambria" pitchFamily="34"/>
                <a:ea typeface="Cambria" pitchFamily="34"/>
                <a:cs typeface="Cambria" pitchFamily="34"/>
              </a:rPr>
              <a:t> (UK, India)</a:t>
            </a:r>
            <a:endParaRPr lang="en-US" sz="1200" b="0" i="0" u="none" strike="noStrike" kern="1200" cap="none" spc="0" baseline="0" dirty="0">
              <a:solidFill>
                <a:srgbClr val="000000"/>
              </a:solidFill>
              <a:uFillTx/>
              <a:latin typeface="Calibri"/>
            </a:endParaRPr>
          </a:p>
        </p:txBody>
      </p:sp>
      <p:sp>
        <p:nvSpPr>
          <p:cNvPr id="34" name="Text 32"/>
          <p:cNvSpPr/>
          <p:nvPr/>
        </p:nvSpPr>
        <p:spPr>
          <a:xfrm>
            <a:off x="4818888" y="3035808"/>
            <a:ext cx="4041648" cy="1828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E11D48"/>
                </a:solidFill>
                <a:uFillTx/>
                <a:latin typeface="Calibri" pitchFamily="34"/>
                <a:ea typeface="Calibri" pitchFamily="34"/>
                <a:cs typeface="Calibri" pitchFamily="34"/>
              </a:rPr>
              <a:t>📡 </a:t>
            </a:r>
            <a:r>
              <a:rPr lang="en-US" sz="1000" b="0" i="0" u="none" strike="noStrike" kern="1200" cap="none" spc="0" baseline="0" dirty="0" err="1">
                <a:solidFill>
                  <a:srgbClr val="E11D48"/>
                </a:solidFill>
                <a:uFillTx/>
                <a:latin typeface="Calibri" pitchFamily="34"/>
                <a:ea typeface="Calibri" pitchFamily="34"/>
                <a:cs typeface="Calibri" pitchFamily="34"/>
              </a:rPr>
              <a:t>Tekst</a:t>
            </a:r>
            <a:r>
              <a:rPr lang="en-US" sz="1000" b="0" i="0" u="none" strike="noStrike" kern="1200" cap="none" spc="0" baseline="0" dirty="0">
                <a:solidFill>
                  <a:srgbClr val="E11D48"/>
                </a:solidFill>
                <a:uFillTx/>
                <a:latin typeface="Calibri" pitchFamily="34"/>
                <a:ea typeface="Calibri" pitchFamily="34"/>
                <a:cs typeface="Calibri" pitchFamily="34"/>
              </a:rPr>
              <a:t> NLP + voice + </a:t>
            </a:r>
            <a:r>
              <a:rPr lang="en-US" sz="1000" b="0" i="0" u="none" strike="noStrike" kern="1200" cap="none" spc="0" baseline="0" dirty="0" err="1">
                <a:solidFill>
                  <a:srgbClr val="E11D48"/>
                </a:solidFill>
                <a:uFillTx/>
                <a:latin typeface="Calibri" pitchFamily="34"/>
                <a:ea typeface="Calibri" pitchFamily="34"/>
                <a:cs typeface="Calibri" pitchFamily="34"/>
              </a:rPr>
              <a:t>Wysa</a:t>
            </a:r>
            <a:r>
              <a:rPr lang="en-US" sz="1000" b="0" i="0" u="none" strike="noStrike" kern="1200" cap="none" spc="0" baseline="0" dirty="0">
                <a:solidFill>
                  <a:srgbClr val="E11D48"/>
                </a:solidFill>
                <a:uFillTx/>
                <a:latin typeface="Calibri" pitchFamily="34"/>
                <a:ea typeface="Calibri" pitchFamily="34"/>
                <a:cs typeface="Calibri" pitchFamily="34"/>
              </a:rPr>
              <a:t> Score (</a:t>
            </a:r>
            <a:r>
              <a:rPr lang="en-US" sz="1000" b="0" i="0" u="none" strike="noStrike" kern="1200" cap="none" spc="0" baseline="0" dirty="0" err="1">
                <a:solidFill>
                  <a:srgbClr val="E11D48"/>
                </a:solidFill>
                <a:uFillTx/>
                <a:latin typeface="Calibri" pitchFamily="34"/>
                <a:ea typeface="Calibri" pitchFamily="34"/>
                <a:cs typeface="Calibri" pitchFamily="34"/>
              </a:rPr>
              <a:t>aktywność</a:t>
            </a:r>
            <a:r>
              <a:rPr lang="en-US" sz="1000" b="0" i="0" u="none" strike="noStrike" kern="1200" cap="none" spc="0" baseline="0" dirty="0">
                <a:solidFill>
                  <a:srgbClr val="E11D48"/>
                </a:solidFill>
                <a:uFillTx/>
                <a:latin typeface="Calibri" pitchFamily="34"/>
                <a:ea typeface="Calibri" pitchFamily="34"/>
                <a:cs typeface="Calibri" pitchFamily="34"/>
              </a:rPr>
              <a:t>)</a:t>
            </a:r>
            <a:endParaRPr lang="en-US" sz="1000" b="0" i="0" u="none" strike="noStrike" kern="1200" cap="none" spc="0" baseline="0" dirty="0">
              <a:solidFill>
                <a:srgbClr val="000000"/>
              </a:solidFill>
              <a:uFillTx/>
              <a:latin typeface="Calibri"/>
            </a:endParaRPr>
          </a:p>
        </p:txBody>
      </p:sp>
      <p:sp>
        <p:nvSpPr>
          <p:cNvPr id="35" name="Text 33"/>
          <p:cNvSpPr/>
          <p:nvPr/>
        </p:nvSpPr>
        <p:spPr>
          <a:xfrm>
            <a:off x="4818888" y="3265930"/>
            <a:ext cx="4041648" cy="26060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solidFill>
                  <a:srgbClr val="4C3D6B"/>
                </a:solidFill>
                <a:uFillTx/>
                <a:latin typeface="Calibri" pitchFamily="34"/>
                <a:ea typeface="Calibri" pitchFamily="34"/>
                <a:cs typeface="Calibri" pitchFamily="34"/>
              </a:rPr>
              <a:t>⚙ </a:t>
            </a:r>
            <a:r>
              <a:rPr lang="en-US" sz="1000" b="0" i="0" u="none" strike="noStrike" kern="1200" cap="none" spc="0" baseline="0" dirty="0">
                <a:solidFill>
                  <a:srgbClr val="4C3D6B"/>
                </a:solidFill>
                <a:uFillTx/>
                <a:latin typeface="Calibri" pitchFamily="34"/>
                <a:ea typeface="Calibri" pitchFamily="34"/>
                <a:cs typeface="Calibri" pitchFamily="34"/>
              </a:rPr>
              <a:t>BERT </a:t>
            </a:r>
            <a:r>
              <a:rPr lang="en-US" sz="1000" b="0" i="0" u="none" strike="noStrike" kern="1200" cap="none" spc="0" baseline="0" dirty="0" err="1">
                <a:solidFill>
                  <a:srgbClr val="4C3D6B"/>
                </a:solidFill>
                <a:uFillTx/>
                <a:latin typeface="Calibri" pitchFamily="34"/>
                <a:ea typeface="Calibri" pitchFamily="34"/>
                <a:cs typeface="Calibri" pitchFamily="34"/>
              </a:rPr>
              <a:t>sentyment</a:t>
            </a:r>
            <a:r>
              <a:rPr lang="en-US" sz="1000" b="0" i="0" u="none" strike="noStrike" kern="1200" cap="none" spc="0" baseline="0" dirty="0">
                <a:solidFill>
                  <a:srgbClr val="4C3D6B"/>
                </a:solidFill>
                <a:uFillTx/>
                <a:latin typeface="Calibri" pitchFamily="34"/>
                <a:ea typeface="Calibri" pitchFamily="34"/>
                <a:cs typeface="Calibri" pitchFamily="34"/>
              </a:rPr>
              <a:t>, SER z </a:t>
            </a:r>
            <a:r>
              <a:rPr lang="en-US" sz="1000" b="0" i="0" u="none" strike="noStrike" kern="1200" cap="none" spc="0" baseline="0" dirty="0" err="1">
                <a:solidFill>
                  <a:srgbClr val="4C3D6B"/>
                </a:solidFill>
                <a:uFillTx/>
                <a:latin typeface="Calibri" pitchFamily="34"/>
                <a:ea typeface="Calibri" pitchFamily="34"/>
                <a:cs typeface="Calibri" pitchFamily="34"/>
              </a:rPr>
              <a:t>głosu</a:t>
            </a:r>
            <a:r>
              <a:rPr lang="en-US" sz="1000" b="0" i="0" u="none" strike="noStrike" kern="1200" cap="none" spc="0" baseline="0" dirty="0">
                <a:solidFill>
                  <a:srgbClr val="4C3D6B"/>
                </a:solidFill>
                <a:uFillTx/>
                <a:latin typeface="Calibri" pitchFamily="34"/>
                <a:ea typeface="Calibri" pitchFamily="34"/>
                <a:cs typeface="Calibri" pitchFamily="34"/>
              </a:rPr>
              <a:t>, IMU </a:t>
            </a:r>
            <a:r>
              <a:rPr lang="en-US" sz="1000" b="0" i="0" u="none" strike="noStrike" kern="1200" cap="none" spc="0" baseline="0" dirty="0" err="1">
                <a:solidFill>
                  <a:srgbClr val="4C3D6B"/>
                </a:solidFill>
                <a:uFillTx/>
                <a:latin typeface="Calibri" pitchFamily="34"/>
                <a:ea typeface="Calibri" pitchFamily="34"/>
                <a:cs typeface="Calibri" pitchFamily="34"/>
              </a:rPr>
              <a:t>aktywność</a:t>
            </a:r>
            <a:r>
              <a:rPr lang="en-US" sz="1000" b="0" i="0" u="none" strike="noStrike" kern="1200" cap="none" spc="0" baseline="0" dirty="0">
                <a:solidFill>
                  <a:srgbClr val="4C3D6B"/>
                </a:solidFill>
                <a:uFillTx/>
                <a:latin typeface="Calibri" pitchFamily="34"/>
                <a:ea typeface="Calibri" pitchFamily="34"/>
                <a:cs typeface="Calibri" pitchFamily="34"/>
              </a:rPr>
              <a:t> → composite mood score. HIPAA.</a:t>
            </a:r>
            <a:endParaRPr lang="en-US" sz="1000" b="0" i="0" u="none" strike="noStrike" kern="1200" cap="none" spc="0" baseline="0" dirty="0">
              <a:solidFill>
                <a:srgbClr val="000000"/>
              </a:solidFill>
              <a:uFillTx/>
              <a:latin typeface="Calibri"/>
            </a:endParaRPr>
          </a:p>
        </p:txBody>
      </p:sp>
      <p:sp>
        <p:nvSpPr>
          <p:cNvPr id="36" name="Text 34"/>
          <p:cNvSpPr/>
          <p:nvPr/>
        </p:nvSpPr>
        <p:spPr>
          <a:xfrm>
            <a:off x="4818888" y="3531108"/>
            <a:ext cx="4041648" cy="23774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F1535"/>
                </a:solidFill>
                <a:uFillTx/>
                <a:latin typeface="Calibri" pitchFamily="34"/>
                <a:ea typeface="Calibri" pitchFamily="34"/>
                <a:cs typeface="Calibri" pitchFamily="34"/>
              </a:rPr>
              <a:t>📊 NHS UK partnership. 5M+ </a:t>
            </a:r>
            <a:r>
              <a:rPr lang="en-US" sz="1000" b="0" i="0" u="none" strike="noStrike" kern="1200" cap="none" spc="0" baseline="0" dirty="0" err="1">
                <a:solidFill>
                  <a:srgbClr val="1F1535"/>
                </a:solidFill>
                <a:uFillTx/>
                <a:latin typeface="Calibri" pitchFamily="34"/>
                <a:ea typeface="Calibri" pitchFamily="34"/>
                <a:cs typeface="Calibri" pitchFamily="34"/>
              </a:rPr>
              <a:t>użytkowników</a:t>
            </a:r>
            <a:r>
              <a:rPr lang="en-US" sz="1000" b="0" i="0" u="none" strike="noStrike" kern="1200" cap="none" spc="0" baseline="0" dirty="0">
                <a:solidFill>
                  <a:srgbClr val="1F1535"/>
                </a:solidFill>
                <a:uFillTx/>
                <a:latin typeface="Calibri" pitchFamily="34"/>
                <a:ea typeface="Calibri" pitchFamily="34"/>
                <a:cs typeface="Calibri" pitchFamily="34"/>
              </a:rPr>
              <a:t>. 98% </a:t>
            </a:r>
            <a:r>
              <a:rPr lang="en-US" sz="1000" b="0" i="0" u="none" strike="noStrike" kern="1200" cap="none" spc="0" baseline="0" dirty="0" err="1">
                <a:solidFill>
                  <a:srgbClr val="1F1535"/>
                </a:solidFill>
                <a:uFillTx/>
                <a:latin typeface="Calibri" pitchFamily="34"/>
                <a:ea typeface="Calibri" pitchFamily="34"/>
                <a:cs typeface="Calibri" pitchFamily="34"/>
              </a:rPr>
              <a:t>wskazań</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dostępność</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bariery</a:t>
            </a:r>
            <a:r>
              <a:rPr lang="en-US" sz="1000" b="0" i="0" u="none" strike="noStrike" kern="1200" cap="none" spc="0" baseline="0" dirty="0">
                <a:solidFill>
                  <a:srgbClr val="1F1535"/>
                </a:solidFill>
                <a:uFillTx/>
                <a:latin typeface="Calibri" pitchFamily="34"/>
                <a:ea typeface="Calibri" pitchFamily="34"/>
                <a:cs typeface="Calibri" pitchFamily="34"/>
              </a:rPr>
              <a:t>.</a:t>
            </a:r>
            <a:endParaRPr lang="en-US" sz="1000" b="0" i="0" u="none" strike="noStrike" kern="1200" cap="none" spc="0" baseline="0" dirty="0">
              <a:solidFill>
                <a:srgbClr val="000000"/>
              </a:solidFill>
              <a:uFillTx/>
              <a:latin typeface="Calibri"/>
            </a:endParaRPr>
          </a:p>
        </p:txBody>
      </p:sp>
      <p:sp>
        <p:nvSpPr>
          <p:cNvPr id="37" name="Shape 35"/>
          <p:cNvSpPr/>
          <p:nvPr/>
        </p:nvSpPr>
        <p:spPr>
          <a:xfrm>
            <a:off x="320040" y="3881628"/>
            <a:ext cx="4251959" cy="999744"/>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Shape 36"/>
          <p:cNvSpPr/>
          <p:nvPr/>
        </p:nvSpPr>
        <p:spPr>
          <a:xfrm>
            <a:off x="320040" y="3864864"/>
            <a:ext cx="4251959" cy="252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Text 37"/>
          <p:cNvSpPr/>
          <p:nvPr/>
        </p:nvSpPr>
        <p:spPr>
          <a:xfrm>
            <a:off x="411480" y="3848099"/>
            <a:ext cx="404164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Mindstrong</a:t>
            </a:r>
            <a:r>
              <a:rPr lang="en-US" sz="1200" b="1" i="0" u="none" strike="noStrike" kern="1200" cap="none" spc="0" baseline="0" dirty="0">
                <a:solidFill>
                  <a:srgbClr val="FFFFFF"/>
                </a:solidFill>
                <a:uFillTx/>
                <a:latin typeface="Cambria" pitchFamily="34"/>
                <a:ea typeface="Cambria" pitchFamily="34"/>
                <a:cs typeface="Cambria" pitchFamily="34"/>
              </a:rPr>
              <a:t> </a:t>
            </a:r>
            <a:r>
              <a:rPr lang="en-US" sz="1200" b="1" i="0" u="none" strike="noStrike" kern="1200" cap="none" spc="0" baseline="0" dirty="0" smtClean="0">
                <a:solidFill>
                  <a:srgbClr val="FFFFFF"/>
                </a:solidFill>
                <a:uFillTx/>
                <a:latin typeface="Cambria" pitchFamily="34"/>
                <a:ea typeface="Cambria" pitchFamily="34"/>
                <a:cs typeface="Cambria" pitchFamily="34"/>
              </a:rPr>
              <a:t>Health</a:t>
            </a:r>
            <a:endParaRPr lang="en-US" sz="1200" b="0" i="0" u="none" strike="noStrike" kern="1200" cap="none" spc="0" baseline="0" dirty="0">
              <a:solidFill>
                <a:srgbClr val="000000"/>
              </a:solidFill>
              <a:uFillTx/>
              <a:latin typeface="Calibri"/>
            </a:endParaRPr>
          </a:p>
        </p:txBody>
      </p:sp>
      <p:sp>
        <p:nvSpPr>
          <p:cNvPr id="40" name="Text 38"/>
          <p:cNvSpPr/>
          <p:nvPr/>
        </p:nvSpPr>
        <p:spPr>
          <a:xfrm>
            <a:off x="411480" y="4130040"/>
            <a:ext cx="4041648" cy="1828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D97706"/>
                </a:solidFill>
                <a:uFillTx/>
                <a:latin typeface="Calibri" pitchFamily="34"/>
                <a:ea typeface="Calibri" pitchFamily="34"/>
                <a:cs typeface="Calibri" pitchFamily="34"/>
              </a:rPr>
              <a:t>📡 Smartphone behavioral markers: typing, swipes, app use patterns</a:t>
            </a:r>
            <a:endParaRPr lang="en-US" sz="1000" b="0" i="0" u="none" strike="noStrike" kern="1200" cap="none" spc="0" baseline="0" dirty="0">
              <a:solidFill>
                <a:srgbClr val="000000"/>
              </a:solidFill>
              <a:uFillTx/>
              <a:latin typeface="Calibri"/>
            </a:endParaRPr>
          </a:p>
        </p:txBody>
      </p:sp>
      <p:sp>
        <p:nvSpPr>
          <p:cNvPr id="41" name="Text 39"/>
          <p:cNvSpPr/>
          <p:nvPr/>
        </p:nvSpPr>
        <p:spPr>
          <a:xfrm>
            <a:off x="411480" y="4360164"/>
            <a:ext cx="4041648" cy="28194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solidFill>
                  <a:srgbClr val="4C3D6B"/>
                </a:solidFill>
                <a:uFillTx/>
                <a:latin typeface="Calibri" pitchFamily="34"/>
                <a:ea typeface="Calibri" pitchFamily="34"/>
                <a:cs typeface="Calibri" pitchFamily="34"/>
              </a:rPr>
              <a:t>⚙ </a:t>
            </a:r>
            <a:r>
              <a:rPr lang="en-US" sz="1000" b="0" i="0" u="none" strike="noStrike" kern="1200" cap="none" spc="0" baseline="0" dirty="0">
                <a:solidFill>
                  <a:srgbClr val="4C3D6B"/>
                </a:solidFill>
                <a:uFillTx/>
                <a:latin typeface="Calibri" pitchFamily="34"/>
                <a:ea typeface="Calibri" pitchFamily="34"/>
                <a:cs typeface="Calibri" pitchFamily="34"/>
              </a:rPr>
              <a:t>Digital phenotyping: NLP+IMU → biomarkers </a:t>
            </a:r>
            <a:r>
              <a:rPr lang="en-US" sz="1000" b="0" i="0" u="none" strike="noStrike" kern="1200" cap="none" spc="0" baseline="0" dirty="0" err="1">
                <a:solidFill>
                  <a:srgbClr val="4C3D6B"/>
                </a:solidFill>
                <a:uFillTx/>
                <a:latin typeface="Calibri" pitchFamily="34"/>
                <a:ea typeface="Calibri" pitchFamily="34"/>
                <a:cs typeface="Calibri" pitchFamily="34"/>
              </a:rPr>
              <a:t>depresji</a:t>
            </a:r>
            <a:r>
              <a:rPr lang="en-US" sz="1000" b="0" i="0" u="none" strike="noStrike" kern="1200" cap="none" spc="0" baseline="0" dirty="0">
                <a:solidFill>
                  <a:srgbClr val="4C3D6B"/>
                </a:solidFill>
                <a:uFillTx/>
                <a:latin typeface="Calibri" pitchFamily="34"/>
                <a:ea typeface="Calibri" pitchFamily="34"/>
                <a:cs typeface="Calibri" pitchFamily="34"/>
              </a:rPr>
              <a:t>/</a:t>
            </a:r>
            <a:r>
              <a:rPr lang="en-US" sz="1000" b="0" i="0" u="none" strike="noStrike" kern="1200" cap="none" spc="0" baseline="0" dirty="0" err="1">
                <a:solidFill>
                  <a:srgbClr val="4C3D6B"/>
                </a:solidFill>
                <a:uFillTx/>
                <a:latin typeface="Calibri" pitchFamily="34"/>
                <a:ea typeface="Calibri" pitchFamily="34"/>
                <a:cs typeface="Calibri" pitchFamily="34"/>
              </a:rPr>
              <a:t>maniakalności</a:t>
            </a:r>
            <a:r>
              <a:rPr lang="en-US" sz="1000" b="0" i="0" u="none" strike="noStrike" kern="1200" cap="none" spc="0" baseline="0" dirty="0">
                <a:solidFill>
                  <a:srgbClr val="4C3D6B"/>
                </a:solidFill>
                <a:uFillTx/>
                <a:latin typeface="Calibri" pitchFamily="34"/>
                <a:ea typeface="Calibri" pitchFamily="34"/>
                <a:cs typeface="Calibri" pitchFamily="34"/>
              </a:rPr>
              <a:t>. Physician dashboard.</a:t>
            </a:r>
            <a:endParaRPr lang="en-US" sz="1000" b="0" i="0" u="none" strike="noStrike" kern="1200" cap="none" spc="0" baseline="0" dirty="0">
              <a:solidFill>
                <a:srgbClr val="000000"/>
              </a:solidFill>
              <a:uFillTx/>
              <a:latin typeface="Calibri"/>
            </a:endParaRPr>
          </a:p>
        </p:txBody>
      </p:sp>
      <p:sp>
        <p:nvSpPr>
          <p:cNvPr id="42" name="Text 40"/>
          <p:cNvSpPr/>
          <p:nvPr/>
        </p:nvSpPr>
        <p:spPr>
          <a:xfrm>
            <a:off x="411480" y="4625340"/>
            <a:ext cx="4041648"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F1535"/>
                </a:solidFill>
                <a:uFillTx/>
                <a:latin typeface="Calibri" pitchFamily="34"/>
                <a:ea typeface="Calibri" pitchFamily="34"/>
                <a:cs typeface="Calibri" pitchFamily="34"/>
              </a:rPr>
              <a:t>📊 Partnership z CDC. </a:t>
            </a:r>
            <a:r>
              <a:rPr lang="en-US" sz="1000" b="0" i="0" u="none" strike="noStrike" kern="1200" cap="none" spc="0" baseline="0" dirty="0" err="1">
                <a:solidFill>
                  <a:srgbClr val="1F1535"/>
                </a:solidFill>
                <a:uFillTx/>
                <a:latin typeface="Calibri" pitchFamily="34"/>
                <a:ea typeface="Calibri" pitchFamily="34"/>
                <a:cs typeface="Calibri" pitchFamily="34"/>
              </a:rPr>
              <a:t>Wykrywa</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nawrót</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schizofrenii</a:t>
            </a:r>
            <a:r>
              <a:rPr lang="en-US" sz="1000" b="0" i="0" u="none" strike="noStrike" kern="1200" cap="none" spc="0" baseline="0" dirty="0">
                <a:solidFill>
                  <a:srgbClr val="1F1535"/>
                </a:solidFill>
                <a:uFillTx/>
                <a:latin typeface="Calibri" pitchFamily="34"/>
                <a:ea typeface="Calibri" pitchFamily="34"/>
                <a:cs typeface="Calibri" pitchFamily="34"/>
              </a:rPr>
              <a:t> 3 </a:t>
            </a:r>
            <a:r>
              <a:rPr lang="en-US" sz="1000" b="0" i="0" u="none" strike="noStrike" kern="1200" cap="none" spc="0" baseline="0" dirty="0" err="1">
                <a:solidFill>
                  <a:srgbClr val="1F1535"/>
                </a:solidFill>
                <a:uFillTx/>
                <a:latin typeface="Calibri" pitchFamily="34"/>
                <a:ea typeface="Calibri" pitchFamily="34"/>
                <a:cs typeface="Calibri" pitchFamily="34"/>
              </a:rPr>
              <a:t>tygodnie</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wcześniej</a:t>
            </a:r>
            <a:r>
              <a:rPr lang="en-US" sz="1000" b="0" i="0" u="none" strike="noStrike" kern="1200" cap="none" spc="0" baseline="0" dirty="0">
                <a:solidFill>
                  <a:srgbClr val="1F1535"/>
                </a:solidFill>
                <a:uFillTx/>
                <a:latin typeface="Calibri" pitchFamily="34"/>
                <a:ea typeface="Calibri" pitchFamily="34"/>
                <a:cs typeface="Calibri" pitchFamily="34"/>
              </a:rPr>
              <a:t>.</a:t>
            </a:r>
            <a:endParaRPr lang="en-US" sz="1000" b="0" i="0" u="none" strike="noStrike" kern="1200" cap="none" spc="0" baseline="0" dirty="0">
              <a:solidFill>
                <a:srgbClr val="000000"/>
              </a:solidFill>
              <a:uFillTx/>
              <a:latin typeface="Calibri"/>
            </a:endParaRPr>
          </a:p>
        </p:txBody>
      </p:sp>
      <p:sp>
        <p:nvSpPr>
          <p:cNvPr id="43" name="Shape 41"/>
          <p:cNvSpPr/>
          <p:nvPr/>
        </p:nvSpPr>
        <p:spPr>
          <a:xfrm>
            <a:off x="4727448" y="3881628"/>
            <a:ext cx="4251959" cy="999744"/>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Shape 42"/>
          <p:cNvSpPr/>
          <p:nvPr/>
        </p:nvSpPr>
        <p:spPr>
          <a:xfrm>
            <a:off x="4727448" y="3864864"/>
            <a:ext cx="4251959" cy="252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5" name="Text 43"/>
          <p:cNvSpPr/>
          <p:nvPr/>
        </p:nvSpPr>
        <p:spPr>
          <a:xfrm>
            <a:off x="4818888" y="3848099"/>
            <a:ext cx="4041648"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Calm (meditation)</a:t>
            </a:r>
            <a:endParaRPr lang="en-US" sz="1200" b="0" i="0" u="none" strike="noStrike" kern="1200" cap="none" spc="0" baseline="0">
              <a:solidFill>
                <a:srgbClr val="000000"/>
              </a:solidFill>
              <a:uFillTx/>
              <a:latin typeface="Calibri"/>
            </a:endParaRPr>
          </a:p>
        </p:txBody>
      </p:sp>
      <p:sp>
        <p:nvSpPr>
          <p:cNvPr id="46" name="Text 44"/>
          <p:cNvSpPr/>
          <p:nvPr/>
        </p:nvSpPr>
        <p:spPr>
          <a:xfrm>
            <a:off x="4818888" y="4114800"/>
            <a:ext cx="4041648" cy="1828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891B2"/>
                </a:solidFill>
                <a:uFillTx/>
                <a:latin typeface="Calibri" pitchFamily="34"/>
                <a:ea typeface="Calibri" pitchFamily="34"/>
                <a:cs typeface="Calibri" pitchFamily="34"/>
              </a:rPr>
              <a:t>📡 HRV z Apple Watch + interaction patterns</a:t>
            </a:r>
            <a:endParaRPr lang="en-US" sz="1000" b="0" i="0" u="none" strike="noStrike" kern="1200" cap="none" spc="0" baseline="0" dirty="0">
              <a:solidFill>
                <a:srgbClr val="000000"/>
              </a:solidFill>
              <a:uFillTx/>
              <a:latin typeface="Calibri"/>
            </a:endParaRPr>
          </a:p>
        </p:txBody>
      </p:sp>
      <p:sp>
        <p:nvSpPr>
          <p:cNvPr id="47" name="Text 45"/>
          <p:cNvSpPr/>
          <p:nvPr/>
        </p:nvSpPr>
        <p:spPr>
          <a:xfrm>
            <a:off x="4818888" y="4360164"/>
            <a:ext cx="4041648" cy="2606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solidFill>
                  <a:srgbClr val="4C3D6B"/>
                </a:solidFill>
                <a:uFillTx/>
                <a:latin typeface="Calibri" pitchFamily="34"/>
                <a:ea typeface="Calibri" pitchFamily="34"/>
                <a:cs typeface="Calibri" pitchFamily="34"/>
              </a:rPr>
              <a:t>⚙ </a:t>
            </a:r>
            <a:r>
              <a:rPr lang="en-US" sz="1000" b="0" i="0" u="none" strike="noStrike" kern="1200" cap="none" spc="0" baseline="0" dirty="0">
                <a:solidFill>
                  <a:srgbClr val="4C3D6B"/>
                </a:solidFill>
                <a:uFillTx/>
                <a:latin typeface="Calibri" pitchFamily="34"/>
                <a:ea typeface="Calibri" pitchFamily="34"/>
                <a:cs typeface="Calibri" pitchFamily="34"/>
              </a:rPr>
              <a:t>HRV coherence score → </a:t>
            </a:r>
            <a:r>
              <a:rPr lang="en-US" sz="1000" b="0" i="0" u="none" strike="noStrike" kern="1200" cap="none" spc="0" baseline="0" dirty="0" err="1">
                <a:solidFill>
                  <a:srgbClr val="4C3D6B"/>
                </a:solidFill>
                <a:uFillTx/>
                <a:latin typeface="Calibri" pitchFamily="34"/>
                <a:ea typeface="Calibri" pitchFamily="34"/>
                <a:cs typeface="Calibri" pitchFamily="34"/>
              </a:rPr>
              <a:t>personalizacja</a:t>
            </a:r>
            <a:r>
              <a:rPr lang="en-US" sz="1000" b="0" i="0" u="none" strike="noStrike" kern="1200" cap="none" spc="0" baseline="0" dirty="0">
                <a:solidFill>
                  <a:srgbClr val="4C3D6B"/>
                </a:solidFill>
                <a:uFillTx/>
                <a:latin typeface="Calibri" pitchFamily="34"/>
                <a:ea typeface="Calibri" pitchFamily="34"/>
                <a:cs typeface="Calibri" pitchFamily="34"/>
              </a:rPr>
              <a:t> </a:t>
            </a:r>
            <a:r>
              <a:rPr lang="en-US" sz="1000" b="0" i="0" u="none" strike="noStrike" kern="1200" cap="none" spc="0" baseline="0" dirty="0" err="1">
                <a:solidFill>
                  <a:srgbClr val="4C3D6B"/>
                </a:solidFill>
                <a:uFillTx/>
                <a:latin typeface="Calibri" pitchFamily="34"/>
                <a:ea typeface="Calibri" pitchFamily="34"/>
                <a:cs typeface="Calibri" pitchFamily="34"/>
              </a:rPr>
              <a:t>sesji</a:t>
            </a:r>
            <a:r>
              <a:rPr lang="en-US" sz="1000" b="0" i="0" u="none" strike="noStrike" kern="1200" cap="none" spc="0" baseline="0" dirty="0">
                <a:solidFill>
                  <a:srgbClr val="4C3D6B"/>
                </a:solidFill>
                <a:uFillTx/>
                <a:latin typeface="Calibri" pitchFamily="34"/>
                <a:ea typeface="Calibri" pitchFamily="34"/>
                <a:cs typeface="Calibri" pitchFamily="34"/>
              </a:rPr>
              <a:t> </a:t>
            </a:r>
            <a:r>
              <a:rPr lang="en-US" sz="1000" b="0" i="0" u="none" strike="noStrike" kern="1200" cap="none" spc="0" baseline="0" dirty="0" err="1">
                <a:solidFill>
                  <a:srgbClr val="4C3D6B"/>
                </a:solidFill>
                <a:uFillTx/>
                <a:latin typeface="Calibri" pitchFamily="34"/>
                <a:ea typeface="Calibri" pitchFamily="34"/>
                <a:cs typeface="Calibri" pitchFamily="34"/>
              </a:rPr>
              <a:t>medytacji</a:t>
            </a:r>
            <a:r>
              <a:rPr lang="en-US" sz="1000" b="0" i="0" u="none" strike="noStrike" kern="1200" cap="none" spc="0" baseline="0" dirty="0">
                <a:solidFill>
                  <a:srgbClr val="4C3D6B"/>
                </a:solidFill>
                <a:uFillTx/>
                <a:latin typeface="Calibri" pitchFamily="34"/>
                <a:ea typeface="Calibri" pitchFamily="34"/>
                <a:cs typeface="Calibri" pitchFamily="34"/>
              </a:rPr>
              <a:t>. </a:t>
            </a:r>
            <a:r>
              <a:rPr lang="en-US" sz="1000" b="0" i="0" u="none" strike="noStrike" kern="1200" cap="none" spc="0" baseline="0" dirty="0" err="1">
                <a:solidFill>
                  <a:srgbClr val="4C3D6B"/>
                </a:solidFill>
                <a:uFillTx/>
                <a:latin typeface="Calibri" pitchFamily="34"/>
                <a:ea typeface="Calibri" pitchFamily="34"/>
                <a:cs typeface="Calibri" pitchFamily="34"/>
              </a:rPr>
              <a:t>Tętno</a:t>
            </a:r>
            <a:r>
              <a:rPr lang="en-US" sz="1000" b="0" i="0" u="none" strike="noStrike" kern="1200" cap="none" spc="0" baseline="0" dirty="0">
                <a:solidFill>
                  <a:srgbClr val="4C3D6B"/>
                </a:solidFill>
                <a:uFillTx/>
                <a:latin typeface="Calibri" pitchFamily="34"/>
                <a:ea typeface="Calibri" pitchFamily="34"/>
                <a:cs typeface="Calibri" pitchFamily="34"/>
              </a:rPr>
              <a:t> </a:t>
            </a:r>
            <a:r>
              <a:rPr lang="en-US" sz="1000" b="0" i="0" u="none" strike="noStrike" kern="1200" cap="none" spc="0" baseline="0" dirty="0" err="1">
                <a:solidFill>
                  <a:srgbClr val="4C3D6B"/>
                </a:solidFill>
                <a:uFillTx/>
                <a:latin typeface="Calibri" pitchFamily="34"/>
                <a:ea typeface="Calibri" pitchFamily="34"/>
                <a:cs typeface="Calibri" pitchFamily="34"/>
              </a:rPr>
              <a:t>po</a:t>
            </a:r>
            <a:r>
              <a:rPr lang="en-US" sz="1000" b="0" i="0" u="none" strike="noStrike" kern="1200" cap="none" spc="0" baseline="0" dirty="0">
                <a:solidFill>
                  <a:srgbClr val="4C3D6B"/>
                </a:solidFill>
                <a:uFillTx/>
                <a:latin typeface="Calibri" pitchFamily="34"/>
                <a:ea typeface="Calibri" pitchFamily="34"/>
                <a:cs typeface="Calibri" pitchFamily="34"/>
              </a:rPr>
              <a:t> </a:t>
            </a:r>
            <a:r>
              <a:rPr lang="en-US" sz="1000" b="0" i="0" u="none" strike="noStrike" kern="1200" cap="none" spc="0" baseline="0" dirty="0" err="1">
                <a:solidFill>
                  <a:srgbClr val="4C3D6B"/>
                </a:solidFill>
                <a:uFillTx/>
                <a:latin typeface="Calibri" pitchFamily="34"/>
                <a:ea typeface="Calibri" pitchFamily="34"/>
                <a:cs typeface="Calibri" pitchFamily="34"/>
              </a:rPr>
              <a:t>sesji</a:t>
            </a:r>
            <a:r>
              <a:rPr lang="en-US" sz="1000" b="0" i="0" u="none" strike="noStrike" kern="1200" cap="none" spc="0" baseline="0" dirty="0">
                <a:solidFill>
                  <a:srgbClr val="4C3D6B"/>
                </a:solidFill>
                <a:uFillTx/>
                <a:latin typeface="Calibri" pitchFamily="34"/>
                <a:ea typeface="Calibri" pitchFamily="34"/>
                <a:cs typeface="Calibri" pitchFamily="34"/>
              </a:rPr>
              <a:t> feedback loop.</a:t>
            </a:r>
            <a:endParaRPr lang="en-US" sz="1000" b="0" i="0" u="none" strike="noStrike" kern="1200" cap="none" spc="0" baseline="0" dirty="0">
              <a:solidFill>
                <a:srgbClr val="000000"/>
              </a:solidFill>
              <a:uFillTx/>
              <a:latin typeface="Calibri"/>
            </a:endParaRPr>
          </a:p>
        </p:txBody>
      </p:sp>
      <p:sp>
        <p:nvSpPr>
          <p:cNvPr id="48" name="Text 46"/>
          <p:cNvSpPr/>
          <p:nvPr/>
        </p:nvSpPr>
        <p:spPr>
          <a:xfrm>
            <a:off x="4818888" y="4625340"/>
            <a:ext cx="4041648"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F1535"/>
                </a:solidFill>
                <a:uFillTx/>
                <a:latin typeface="Calibri" pitchFamily="34"/>
                <a:ea typeface="Calibri" pitchFamily="34"/>
                <a:cs typeface="Calibri" pitchFamily="34"/>
              </a:rPr>
              <a:t>📊 25M+ </a:t>
            </a:r>
            <a:r>
              <a:rPr lang="en-US" sz="1000" b="0" i="0" u="none" strike="noStrike" kern="1200" cap="none" spc="0" baseline="0" dirty="0" err="1">
                <a:solidFill>
                  <a:srgbClr val="1F1535"/>
                </a:solidFill>
                <a:uFillTx/>
                <a:latin typeface="Calibri" pitchFamily="34"/>
                <a:ea typeface="Calibri" pitchFamily="34"/>
                <a:cs typeface="Calibri" pitchFamily="34"/>
              </a:rPr>
              <a:t>użytkowników</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Kliniczne</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wyniki</a:t>
            </a:r>
            <a:r>
              <a:rPr lang="en-US" sz="1000" b="0" i="0" u="none" strike="noStrike" kern="1200" cap="none" spc="0" baseline="0" dirty="0">
                <a:solidFill>
                  <a:srgbClr val="1F1535"/>
                </a:solidFill>
                <a:uFillTx/>
                <a:latin typeface="Calibri" pitchFamily="34"/>
                <a:ea typeface="Calibri" pitchFamily="34"/>
                <a:cs typeface="Calibri" pitchFamily="34"/>
              </a:rPr>
              <a:t>: −27% </a:t>
            </a:r>
            <a:r>
              <a:rPr lang="en-US" sz="1000" b="0" i="0" u="none" strike="noStrike" kern="1200" cap="none" spc="0" baseline="0" dirty="0" err="1">
                <a:solidFill>
                  <a:srgbClr val="1F1535"/>
                </a:solidFill>
                <a:uFillTx/>
                <a:latin typeface="Calibri" pitchFamily="34"/>
                <a:ea typeface="Calibri" pitchFamily="34"/>
                <a:cs typeface="Calibri" pitchFamily="34"/>
              </a:rPr>
              <a:t>kortyzol</a:t>
            </a:r>
            <a:r>
              <a:rPr lang="en-US" sz="1000" b="0" i="0" u="none" strike="noStrike" kern="1200" cap="none" spc="0" baseline="0" dirty="0">
                <a:solidFill>
                  <a:srgbClr val="1F1535"/>
                </a:solidFill>
                <a:uFillTx/>
                <a:latin typeface="Calibri" pitchFamily="34"/>
                <a:ea typeface="Calibri" pitchFamily="34"/>
                <a:cs typeface="Calibri" pitchFamily="34"/>
              </a:rPr>
              <a:t> (</a:t>
            </a:r>
            <a:r>
              <a:rPr lang="en-US" sz="1000" b="0" i="0" u="none" strike="noStrike" kern="1200" cap="none" spc="0" baseline="0" dirty="0" err="1">
                <a:solidFill>
                  <a:srgbClr val="1F1535"/>
                </a:solidFill>
                <a:uFillTx/>
                <a:latin typeface="Calibri" pitchFamily="34"/>
                <a:ea typeface="Calibri" pitchFamily="34"/>
                <a:cs typeface="Calibri" pitchFamily="34"/>
              </a:rPr>
              <a:t>badanie</a:t>
            </a:r>
            <a:r>
              <a:rPr lang="en-US" sz="1000" b="0" i="0" u="none" strike="noStrike" kern="1200" cap="none" spc="0" baseline="0" dirty="0">
                <a:solidFill>
                  <a:srgbClr val="1F1535"/>
                </a:solidFill>
                <a:uFillTx/>
                <a:latin typeface="Calibri" pitchFamily="34"/>
                <a:ea typeface="Calibri" pitchFamily="34"/>
                <a:cs typeface="Calibri" pitchFamily="34"/>
              </a:rPr>
              <a:t> Stanford).</a:t>
            </a:r>
            <a:endParaRPr lang="en-US" sz="1000" b="0" i="0" u="none" strike="noStrike" kern="1200" cap="none" spc="0" baseline="0" dirty="0">
              <a:solidFill>
                <a:srgbClr val="000000"/>
              </a:solidFill>
              <a:uFillTx/>
              <a:latin typeface="Calibri"/>
            </a:endParaRPr>
          </a:p>
        </p:txBody>
      </p:sp>
      <p:sp>
        <p:nvSpPr>
          <p:cNvPr id="52"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20</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9FF"/>
        </a:solidFill>
        <a:effectLst/>
      </p:bgPr>
    </p:bg>
    <p:spTree>
      <p:nvGrpSpPr>
        <p:cNvPr id="1" name=""/>
        <p:cNvGrpSpPr/>
        <p:nvPr/>
      </p:nvGrpSpPr>
      <p:grpSpPr>
        <a:xfrm>
          <a:off x="0" y="0"/>
          <a:ext cx="0" cy="0"/>
          <a:chOff x="0" y="0"/>
          <a:chExt cx="0" cy="0"/>
        </a:xfrm>
      </p:grpSpPr>
      <p:grpSp>
        <p:nvGrpSpPr>
          <p:cNvPr id="39" name="Grupa 38"/>
          <p:cNvGrpSpPr/>
          <p:nvPr/>
        </p:nvGrpSpPr>
        <p:grpSpPr>
          <a:xfrm>
            <a:off x="0" y="0"/>
            <a:ext cx="9144000" cy="558000"/>
            <a:chOff x="0" y="0"/>
            <a:chExt cx="9144000" cy="558000"/>
          </a:xfrm>
        </p:grpSpPr>
        <p:sp>
          <p:nvSpPr>
            <p:cNvPr id="40"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smtClean="0">
                <a:solidFill>
                  <a:srgbClr val="FFFFFF"/>
                </a:solidFill>
                <a:uFillTx/>
                <a:latin typeface="Cambria" pitchFamily="34"/>
                <a:ea typeface="Cambria" pitchFamily="34"/>
                <a:cs typeface="Cambria" pitchFamily="34"/>
              </a:rPr>
              <a:t>-</a:t>
            </a:r>
            <a:r>
              <a:rPr lang="pl-PL" sz="2000" b="1" i="0" u="none" strike="noStrike" kern="1200" cap="none" spc="0" baseline="0" dirty="0" smtClean="0">
                <a:solidFill>
                  <a:srgbClr val="FFFFFF"/>
                </a:solidFill>
                <a:uFillTx/>
                <a:latin typeface="Cambria" pitchFamily="34"/>
                <a:ea typeface="Cambria" pitchFamily="34"/>
                <a:cs typeface="Cambria" pitchFamily="34"/>
              </a:rPr>
              <a:t>l</a:t>
            </a:r>
            <a:r>
              <a:rPr lang="en-US" sz="2000" b="1" i="0" u="none" strike="noStrike" kern="1200" cap="none" spc="0" baseline="0" dirty="0" smtClean="0">
                <a:solidFill>
                  <a:srgbClr val="FFFFFF"/>
                </a:solidFill>
                <a:uFillTx/>
                <a:latin typeface="Cambria" pitchFamily="34"/>
                <a:ea typeface="Cambria" pitchFamily="34"/>
                <a:cs typeface="Cambria" pitchFamily="34"/>
              </a:rPr>
              <a:t>earning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fektywny</a:t>
            </a:r>
            <a:r>
              <a:rPr lang="pl-PL" sz="2000" b="1" dirty="0" smtClean="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ersonalizacja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n</a:t>
            </a:r>
            <a:r>
              <a:rPr lang="en-US" sz="2000" b="1" i="0" u="none" strike="noStrike" kern="1200" cap="none" spc="0" baseline="0" dirty="0" err="1" smtClean="0">
                <a:solidFill>
                  <a:srgbClr val="FFFFFF"/>
                </a:solidFill>
                <a:uFillTx/>
                <a:latin typeface="Cambria" pitchFamily="34"/>
                <a:ea typeface="Cambria" pitchFamily="34"/>
                <a:cs typeface="Cambria" pitchFamily="34"/>
              </a:rPr>
              <a:t>auki</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1449324" y="672372"/>
            <a:ext cx="6635496" cy="70725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Systemy</a:t>
            </a:r>
            <a:r>
              <a:rPr lang="en-US" sz="1600" b="0" i="0" u="none" strike="noStrike" kern="1200" cap="none" spc="0" baseline="0" dirty="0">
                <a:solidFill>
                  <a:srgbClr val="111931"/>
                </a:solidFill>
                <a:uFillTx/>
                <a:latin typeface="Calibri" pitchFamily="34"/>
                <a:ea typeface="Calibri" pitchFamily="34"/>
                <a:cs typeface="Calibri" pitchFamily="34"/>
              </a:rPr>
              <a:t> e-learning </a:t>
            </a:r>
            <a:r>
              <a:rPr lang="en-US" sz="1600" b="0" i="0" u="none" strike="noStrike" kern="1200" cap="none" spc="0" baseline="0" dirty="0" err="1">
                <a:solidFill>
                  <a:srgbClr val="111931"/>
                </a:solidFill>
                <a:uFillTx/>
                <a:latin typeface="Calibri" pitchFamily="34"/>
                <a:ea typeface="Calibri" pitchFamily="34"/>
                <a:cs typeface="Calibri" pitchFamily="34"/>
              </a:rPr>
              <a:t>afektywne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wykrywają</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zaangażowanie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frustację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konfuzję</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adaptują</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treści</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czasie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rzeczywistym</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poprawiając</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retencję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wiedzy</a:t>
            </a:r>
            <a:endParaRPr lang="en-US" sz="1600" b="0" i="0" u="none" strike="noStrike" kern="1200" cap="none" spc="0" baseline="0" dirty="0">
              <a:solidFill>
                <a:srgbClr val="111931"/>
              </a:solidFill>
              <a:uFillTx/>
              <a:latin typeface="Calibri"/>
            </a:endParaRPr>
          </a:p>
        </p:txBody>
      </p:sp>
      <p:sp>
        <p:nvSpPr>
          <p:cNvPr id="8" name="Text 6"/>
          <p:cNvSpPr/>
          <p:nvPr/>
        </p:nvSpPr>
        <p:spPr>
          <a:xfrm>
            <a:off x="320040" y="1595628"/>
            <a:ext cx="85039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Stany</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afektywne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istotne</a:t>
            </a:r>
            <a:r>
              <a:rPr lang="en-US" sz="1200" b="1" i="0" u="none" strike="noStrike" kern="1200" cap="none" spc="0" baseline="0" dirty="0">
                <a:solidFill>
                  <a:srgbClr val="1F1535"/>
                </a:solidFill>
                <a:uFillTx/>
                <a:latin typeface="Cambria" pitchFamily="34"/>
                <a:ea typeface="Cambria" pitchFamily="34"/>
                <a:cs typeface="Cambria" pitchFamily="34"/>
              </a:rPr>
              <a:t> w </a:t>
            </a:r>
            <a:r>
              <a:rPr lang="en-US" sz="1200" b="1" i="0" u="none" strike="noStrike" kern="1200" cap="none" spc="0" baseline="0" dirty="0" err="1">
                <a:solidFill>
                  <a:srgbClr val="1F1535"/>
                </a:solidFill>
                <a:uFillTx/>
                <a:latin typeface="Cambria" pitchFamily="34"/>
                <a:ea typeface="Cambria" pitchFamily="34"/>
                <a:cs typeface="Cambria" pitchFamily="34"/>
              </a:rPr>
              <a:t>uczeniu</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się</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Graesser</a:t>
            </a:r>
            <a:r>
              <a:rPr lang="en-US" sz="1200" b="1" i="0" u="none" strike="noStrike" kern="1200" cap="none" spc="0" baseline="0" dirty="0">
                <a:solidFill>
                  <a:srgbClr val="1F1535"/>
                </a:solidFill>
                <a:uFillTx/>
                <a:latin typeface="Cambria" pitchFamily="34"/>
                <a:ea typeface="Cambria" pitchFamily="34"/>
                <a:cs typeface="Cambria" pitchFamily="34"/>
              </a:rPr>
              <a:t> 2006</a:t>
            </a:r>
            <a:r>
              <a:rPr lang="en-US" sz="1200" b="1" i="0" u="none" strike="noStrike" kern="1200" cap="none" spc="0" baseline="0" dirty="0" smtClean="0">
                <a:solidFill>
                  <a:srgbClr val="1F1535"/>
                </a:solidFill>
                <a:uFillTx/>
                <a:latin typeface="Cambria" pitchFamily="34"/>
                <a:ea typeface="Cambria" pitchFamily="34"/>
                <a:cs typeface="Cambria" pitchFamily="34"/>
              </a:rPr>
              <a:t>)</a:t>
            </a:r>
            <a:endParaRPr lang="en-US" sz="1200" b="0" i="0" u="none" strike="noStrike" kern="1200" cap="none" spc="0" baseline="0" dirty="0">
              <a:solidFill>
                <a:srgbClr val="000000"/>
              </a:solidFill>
              <a:uFillTx/>
              <a:latin typeface="Calibri"/>
            </a:endParaRPr>
          </a:p>
        </p:txBody>
      </p:sp>
      <p:grpSp>
        <p:nvGrpSpPr>
          <p:cNvPr id="51" name="Grupa 50"/>
          <p:cNvGrpSpPr/>
          <p:nvPr/>
        </p:nvGrpSpPr>
        <p:grpSpPr>
          <a:xfrm>
            <a:off x="320040" y="1853184"/>
            <a:ext cx="8503920" cy="360000"/>
            <a:chOff x="320040" y="1434084"/>
            <a:chExt cx="8503920" cy="360000"/>
          </a:xfrm>
        </p:grpSpPr>
        <p:grpSp>
          <p:nvGrpSpPr>
            <p:cNvPr id="46" name="Grupa 45"/>
            <p:cNvGrpSpPr/>
            <p:nvPr/>
          </p:nvGrpSpPr>
          <p:grpSpPr>
            <a:xfrm>
              <a:off x="320040" y="1434084"/>
              <a:ext cx="8503920" cy="360000"/>
              <a:chOff x="320040" y="1426464"/>
              <a:chExt cx="8503920" cy="457200"/>
            </a:xfrm>
          </p:grpSpPr>
          <p:sp>
            <p:nvSpPr>
              <p:cNvPr id="9" name="Shape 7"/>
              <p:cNvSpPr/>
              <p:nvPr/>
            </p:nvSpPr>
            <p:spPr>
              <a:xfrm>
                <a:off x="320040" y="1426464"/>
                <a:ext cx="8503920" cy="4572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426464"/>
                <a:ext cx="54864" cy="4572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1" name="Text 9"/>
            <p:cNvSpPr/>
            <p:nvPr/>
          </p:nvSpPr>
          <p:spPr>
            <a:xfrm>
              <a:off x="438912" y="1481328"/>
              <a:ext cx="22860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059669"/>
                  </a:solidFill>
                  <a:uFillTx/>
                  <a:latin typeface="Cambria" pitchFamily="34"/>
                  <a:ea typeface="Cambria" pitchFamily="34"/>
                  <a:cs typeface="Cambria" pitchFamily="34"/>
                </a:rPr>
                <a:t>Zaangażowanie</a:t>
              </a:r>
              <a:r>
                <a:rPr lang="en-US" sz="1100" b="1" i="0" u="none" strike="noStrike" kern="1200" cap="none" spc="0" baseline="0" dirty="0">
                  <a:solidFill>
                    <a:srgbClr val="059669"/>
                  </a:solidFill>
                  <a:uFillTx/>
                  <a:latin typeface="Cambria" pitchFamily="34"/>
                  <a:ea typeface="Cambria" pitchFamily="34"/>
                  <a:cs typeface="Cambria" pitchFamily="34"/>
                </a:rPr>
                <a:t> (Engagement)</a:t>
              </a:r>
              <a:endParaRPr lang="en-US" sz="1100" b="0" i="0" u="none" strike="noStrike" kern="1200" cap="none" spc="0" baseline="0" dirty="0">
                <a:solidFill>
                  <a:srgbClr val="000000"/>
                </a:solidFill>
                <a:uFillTx/>
                <a:latin typeface="Calibri"/>
              </a:endParaRPr>
            </a:p>
          </p:txBody>
        </p:sp>
        <p:sp>
          <p:nvSpPr>
            <p:cNvPr id="12" name="Text 10"/>
            <p:cNvSpPr/>
            <p:nvPr/>
          </p:nvSpPr>
          <p:spPr>
            <a:xfrm>
              <a:off x="2552700" y="1499616"/>
              <a:ext cx="6207252"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Uśmiech</a:t>
              </a:r>
              <a:r>
                <a:rPr lang="en-US" sz="1050" b="0" i="0" u="none" strike="noStrike" kern="1200" cap="none" spc="0" baseline="0" dirty="0">
                  <a:solidFill>
                    <a:srgbClr val="111931"/>
                  </a:solidFill>
                  <a:uFillTx/>
                  <a:latin typeface="Calibri" pitchFamily="34"/>
                  <a:ea typeface="Calibri" pitchFamily="34"/>
                  <a:cs typeface="Calibri" pitchFamily="34"/>
                </a:rPr>
                <a:t>, forward lean, regular interaction, </a:t>
              </a:r>
              <a:r>
                <a:rPr lang="en-US" sz="1050" b="0" i="0" u="none" strike="noStrike" kern="1200" cap="none" spc="0" baseline="0" dirty="0" err="1">
                  <a:solidFill>
                    <a:srgbClr val="111931"/>
                  </a:solidFill>
                  <a:uFillTx/>
                  <a:latin typeface="Calibri" pitchFamily="34"/>
                  <a:ea typeface="Calibri" pitchFamily="34"/>
                  <a:cs typeface="Calibri" pitchFamily="34"/>
                </a:rPr>
                <a:t>mała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wariancja</a:t>
              </a:r>
              <a:r>
                <a:rPr lang="en-US" sz="1050" b="0" i="0" u="none" strike="noStrike" kern="1200" cap="none" spc="0" baseline="0" dirty="0">
                  <a:solidFill>
                    <a:srgbClr val="111931"/>
                  </a:solidFill>
                  <a:uFillTx/>
                  <a:latin typeface="Calibri" pitchFamily="34"/>
                  <a:ea typeface="Calibri" pitchFamily="34"/>
                  <a:cs typeface="Calibri" pitchFamily="34"/>
                </a:rPr>
                <a:t> EDA → </a:t>
              </a:r>
              <a:r>
                <a:rPr lang="en-US" sz="1050" b="0" i="0" u="none" strike="noStrike" kern="1200" cap="none" spc="0" baseline="0" dirty="0" err="1">
                  <a:solidFill>
                    <a:srgbClr val="111931"/>
                  </a:solidFill>
                  <a:uFillTx/>
                  <a:latin typeface="Calibri" pitchFamily="34"/>
                  <a:ea typeface="Calibri" pitchFamily="34"/>
                  <a:cs typeface="Calibri" pitchFamily="34"/>
                </a:rPr>
                <a:t>kontynuuj</a:t>
              </a:r>
              <a:r>
                <a:rPr lang="en-US" sz="1050" b="0" i="0" u="none" strike="noStrike" kern="1200" cap="none" spc="0" baseline="0" dirty="0">
                  <a:solidFill>
                    <a:srgbClr val="111931"/>
                  </a:solidFill>
                  <a:uFillTx/>
                  <a:latin typeface="Calibri" pitchFamily="34"/>
                  <a:ea typeface="Calibri" pitchFamily="34"/>
                  <a:cs typeface="Calibri" pitchFamily="34"/>
                </a:rPr>
                <a:t> tempo, </a:t>
              </a:r>
              <a:r>
                <a:rPr lang="en-US" sz="1050" b="0" i="0" u="none" strike="noStrike" kern="1200" cap="none" spc="0" baseline="0" dirty="0" err="1">
                  <a:solidFill>
                    <a:srgbClr val="111931"/>
                  </a:solidFill>
                  <a:uFillTx/>
                  <a:latin typeface="Calibri" pitchFamily="34"/>
                  <a:ea typeface="Calibri" pitchFamily="34"/>
                  <a:cs typeface="Calibri" pitchFamily="34"/>
                </a:rPr>
                <a:t>nie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przeszkadzaj</a:t>
              </a:r>
              <a:endParaRPr lang="en-US" sz="1050" b="0" i="0" u="none" strike="noStrike" kern="1200" cap="none" spc="0" baseline="0" dirty="0">
                <a:solidFill>
                  <a:srgbClr val="111931"/>
                </a:solidFill>
                <a:uFillTx/>
                <a:latin typeface="Calibri"/>
              </a:endParaRPr>
            </a:p>
          </p:txBody>
        </p:sp>
      </p:grpSp>
      <p:grpSp>
        <p:nvGrpSpPr>
          <p:cNvPr id="50" name="Grupa 49"/>
          <p:cNvGrpSpPr/>
          <p:nvPr/>
        </p:nvGrpSpPr>
        <p:grpSpPr>
          <a:xfrm>
            <a:off x="320040" y="2273808"/>
            <a:ext cx="8503920" cy="360000"/>
            <a:chOff x="320040" y="1938528"/>
            <a:chExt cx="8503920" cy="360000"/>
          </a:xfrm>
        </p:grpSpPr>
        <p:grpSp>
          <p:nvGrpSpPr>
            <p:cNvPr id="45" name="Grupa 44"/>
            <p:cNvGrpSpPr/>
            <p:nvPr/>
          </p:nvGrpSpPr>
          <p:grpSpPr>
            <a:xfrm>
              <a:off x="320040" y="1938528"/>
              <a:ext cx="8503920" cy="360000"/>
              <a:chOff x="320040" y="1938528"/>
              <a:chExt cx="8503920" cy="360000"/>
            </a:xfrm>
          </p:grpSpPr>
          <p:sp>
            <p:nvSpPr>
              <p:cNvPr id="13" name="Shape 11"/>
              <p:cNvSpPr/>
              <p:nvPr/>
            </p:nvSpPr>
            <p:spPr>
              <a:xfrm>
                <a:off x="320040" y="1938528"/>
                <a:ext cx="8503920" cy="360000"/>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1938528"/>
                <a:ext cx="54864" cy="360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5" name="Text 13"/>
            <p:cNvSpPr/>
            <p:nvPr/>
          </p:nvSpPr>
          <p:spPr>
            <a:xfrm>
              <a:off x="438912" y="1993392"/>
              <a:ext cx="22860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D97706"/>
                  </a:solidFill>
                  <a:uFillTx/>
                  <a:latin typeface="Cambria" pitchFamily="34"/>
                  <a:ea typeface="Cambria" pitchFamily="34"/>
                  <a:cs typeface="Cambria" pitchFamily="34"/>
                </a:rPr>
                <a:t>Konfuzja</a:t>
              </a:r>
              <a:r>
                <a:rPr lang="en-US" sz="1100" b="1" i="0" u="none" strike="noStrike" kern="1200" cap="none" spc="0" baseline="0" dirty="0">
                  <a:solidFill>
                    <a:srgbClr val="D97706"/>
                  </a:solidFill>
                  <a:uFillTx/>
                  <a:latin typeface="Cambria" pitchFamily="34"/>
                  <a:ea typeface="Cambria" pitchFamily="34"/>
                  <a:cs typeface="Cambria" pitchFamily="34"/>
                </a:rPr>
                <a:t> (Confusion)</a:t>
              </a:r>
              <a:endParaRPr lang="en-US" sz="1100" b="0" i="0" u="none" strike="noStrike" kern="1200" cap="none" spc="0" baseline="0" dirty="0">
                <a:solidFill>
                  <a:srgbClr val="000000"/>
                </a:solidFill>
                <a:uFillTx/>
                <a:latin typeface="Calibri"/>
              </a:endParaRPr>
            </a:p>
          </p:txBody>
        </p:sp>
        <p:sp>
          <p:nvSpPr>
            <p:cNvPr id="16" name="Text 14"/>
            <p:cNvSpPr/>
            <p:nvPr/>
          </p:nvSpPr>
          <p:spPr>
            <a:xfrm>
              <a:off x="2552700" y="2011680"/>
              <a:ext cx="6207252"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Zmarszczone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brwi</a:t>
              </a:r>
              <a:r>
                <a:rPr lang="en-US" sz="1050" b="0" i="0" u="none" strike="noStrike" kern="1200" cap="none" spc="0" baseline="0" dirty="0">
                  <a:solidFill>
                    <a:srgbClr val="111931"/>
                  </a:solidFill>
                  <a:uFillTx/>
                  <a:latin typeface="Calibri" pitchFamily="34"/>
                  <a:ea typeface="Calibri" pitchFamily="34"/>
                  <a:cs typeface="Calibri" pitchFamily="34"/>
                </a:rPr>
                <a:t> (AU04), </a:t>
              </a:r>
              <a:r>
                <a:rPr lang="en-US" sz="1050" b="0" i="0" u="none" strike="noStrike" kern="1200" cap="none" spc="0" baseline="0" dirty="0" err="1">
                  <a:solidFill>
                    <a:srgbClr val="111931"/>
                  </a:solidFill>
                  <a:uFillTx/>
                  <a:latin typeface="Calibri" pitchFamily="34"/>
                  <a:ea typeface="Calibri" pitchFamily="34"/>
                  <a:cs typeface="Calibri" pitchFamily="34"/>
                </a:rPr>
                <a:t>dłuższy</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czas</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na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odpowiedź</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wsteczne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przewijanie</a:t>
              </a:r>
              <a:r>
                <a:rPr lang="en-US" sz="1050" b="0" i="0" u="none" strike="noStrike" kern="1200" cap="none" spc="0" baseline="0" dirty="0">
                  <a:solidFill>
                    <a:srgbClr val="111931"/>
                  </a:solidFill>
                  <a:uFillTx/>
                  <a:latin typeface="Calibri" pitchFamily="34"/>
                  <a:ea typeface="Calibri" pitchFamily="34"/>
                  <a:cs typeface="Calibri" pitchFamily="34"/>
                </a:rPr>
                <a:t> → </a:t>
              </a:r>
              <a:r>
                <a:rPr lang="en-US" sz="1050" b="0" i="0" u="none" strike="noStrike" kern="1200" cap="none" spc="0" baseline="0" dirty="0" err="1">
                  <a:solidFill>
                    <a:srgbClr val="111931"/>
                  </a:solidFill>
                  <a:uFillTx/>
                  <a:latin typeface="Calibri" pitchFamily="34"/>
                  <a:ea typeface="Calibri" pitchFamily="34"/>
                  <a:cs typeface="Calibri" pitchFamily="34"/>
                </a:rPr>
                <a:t>dodaj</a:t>
              </a:r>
              <a:r>
                <a:rPr lang="en-US" sz="1050" b="0" i="0" u="none" strike="noStrike" kern="1200" cap="none" spc="0" baseline="0" dirty="0">
                  <a:solidFill>
                    <a:srgbClr val="111931"/>
                  </a:solidFill>
                  <a:uFillTx/>
                  <a:latin typeface="Calibri" pitchFamily="34"/>
                  <a:ea typeface="Calibri" pitchFamily="34"/>
                  <a:cs typeface="Calibri" pitchFamily="34"/>
                </a:rPr>
                <a:t> hint, </a:t>
              </a:r>
              <a:r>
                <a:rPr lang="en-US" sz="1050" b="0" i="0" u="none" strike="noStrike" kern="1200" cap="none" spc="0" baseline="0" dirty="0" err="1">
                  <a:solidFill>
                    <a:srgbClr val="111931"/>
                  </a:solidFill>
                  <a:uFillTx/>
                  <a:latin typeface="Calibri" pitchFamily="34"/>
                  <a:ea typeface="Calibri" pitchFamily="34"/>
                  <a:cs typeface="Calibri" pitchFamily="34"/>
                </a:rPr>
                <a:t>powtórz</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wyjaśnienie</a:t>
              </a:r>
              <a:endParaRPr lang="en-US" sz="1050" b="0" i="0" u="none" strike="noStrike" kern="1200" cap="none" spc="0" baseline="0" dirty="0">
                <a:solidFill>
                  <a:srgbClr val="111931"/>
                </a:solidFill>
                <a:uFillTx/>
                <a:latin typeface="Calibri"/>
              </a:endParaRPr>
            </a:p>
          </p:txBody>
        </p:sp>
      </p:grpSp>
      <p:grpSp>
        <p:nvGrpSpPr>
          <p:cNvPr id="49" name="Grupa 48"/>
          <p:cNvGrpSpPr/>
          <p:nvPr/>
        </p:nvGrpSpPr>
        <p:grpSpPr>
          <a:xfrm>
            <a:off x="320040" y="2671572"/>
            <a:ext cx="8503920" cy="360000"/>
            <a:chOff x="320040" y="2450592"/>
            <a:chExt cx="8503920" cy="360000"/>
          </a:xfrm>
        </p:grpSpPr>
        <p:grpSp>
          <p:nvGrpSpPr>
            <p:cNvPr id="44" name="Grupa 43"/>
            <p:cNvGrpSpPr/>
            <p:nvPr/>
          </p:nvGrpSpPr>
          <p:grpSpPr>
            <a:xfrm>
              <a:off x="320040" y="2450592"/>
              <a:ext cx="8503920" cy="360000"/>
              <a:chOff x="320040" y="2450592"/>
              <a:chExt cx="8503920" cy="360000"/>
            </a:xfrm>
          </p:grpSpPr>
          <p:sp>
            <p:nvSpPr>
              <p:cNvPr id="17" name="Shape 15"/>
              <p:cNvSpPr/>
              <p:nvPr/>
            </p:nvSpPr>
            <p:spPr>
              <a:xfrm>
                <a:off x="320040" y="2450592"/>
                <a:ext cx="8503920" cy="3600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450592"/>
                <a:ext cx="54864" cy="36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19" name="Text 17"/>
            <p:cNvSpPr/>
            <p:nvPr/>
          </p:nvSpPr>
          <p:spPr>
            <a:xfrm>
              <a:off x="438912" y="2505456"/>
              <a:ext cx="22860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11D48"/>
                  </a:solidFill>
                  <a:uFillTx/>
                  <a:latin typeface="Cambria" pitchFamily="34"/>
                  <a:ea typeface="Cambria" pitchFamily="34"/>
                  <a:cs typeface="Cambria" pitchFamily="34"/>
                </a:rPr>
                <a:t>Frustracja (Frustration)</a:t>
              </a:r>
              <a:endParaRPr lang="en-US" sz="1100" b="0" i="0" u="none" strike="noStrike" kern="1200" cap="none" spc="0" baseline="0">
                <a:solidFill>
                  <a:srgbClr val="000000"/>
                </a:solidFill>
                <a:uFillTx/>
                <a:latin typeface="Calibri"/>
              </a:endParaRPr>
            </a:p>
          </p:txBody>
        </p:sp>
        <p:sp>
          <p:nvSpPr>
            <p:cNvPr id="20" name="Text 18"/>
            <p:cNvSpPr/>
            <p:nvPr/>
          </p:nvSpPr>
          <p:spPr>
            <a:xfrm>
              <a:off x="2552700" y="2523744"/>
              <a:ext cx="6207252"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Gniew (AU23+AU04), szybkie tapnięcia, wiele błędów → upraszcza ćwiczenie, pozytywne wzmocnienie</a:t>
              </a:r>
              <a:endParaRPr lang="en-US" sz="1050" b="0" i="0" u="none" strike="noStrike" kern="1200" cap="none" spc="0" baseline="0">
                <a:solidFill>
                  <a:srgbClr val="111931"/>
                </a:solidFill>
                <a:uFillTx/>
                <a:latin typeface="Calibri"/>
              </a:endParaRPr>
            </a:p>
          </p:txBody>
        </p:sp>
      </p:grpSp>
      <p:grpSp>
        <p:nvGrpSpPr>
          <p:cNvPr id="48" name="Grupa 47"/>
          <p:cNvGrpSpPr/>
          <p:nvPr/>
        </p:nvGrpSpPr>
        <p:grpSpPr>
          <a:xfrm>
            <a:off x="320040" y="3092196"/>
            <a:ext cx="8503920" cy="360000"/>
            <a:chOff x="320040" y="2962656"/>
            <a:chExt cx="8503920" cy="360000"/>
          </a:xfrm>
        </p:grpSpPr>
        <p:grpSp>
          <p:nvGrpSpPr>
            <p:cNvPr id="43" name="Grupa 42"/>
            <p:cNvGrpSpPr/>
            <p:nvPr/>
          </p:nvGrpSpPr>
          <p:grpSpPr>
            <a:xfrm>
              <a:off x="320040" y="2962656"/>
              <a:ext cx="8503920" cy="360000"/>
              <a:chOff x="320040" y="2962656"/>
              <a:chExt cx="8503920" cy="360000"/>
            </a:xfrm>
          </p:grpSpPr>
          <p:sp>
            <p:nvSpPr>
              <p:cNvPr id="21" name="Shape 19"/>
              <p:cNvSpPr/>
              <p:nvPr/>
            </p:nvSpPr>
            <p:spPr>
              <a:xfrm>
                <a:off x="320040" y="2962656"/>
                <a:ext cx="8503920" cy="360000"/>
              </a:xfrm>
              <a:prstGeom prst="rect">
                <a:avLst/>
              </a:prstGeom>
              <a:solidFill>
                <a:schemeClr val="accent1">
                  <a:lumMod val="20000"/>
                  <a:lumOff val="80000"/>
                </a:schemeClr>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2962656"/>
                <a:ext cx="54864" cy="360000"/>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3" name="Text 21"/>
            <p:cNvSpPr/>
            <p:nvPr/>
          </p:nvSpPr>
          <p:spPr>
            <a:xfrm>
              <a:off x="438912" y="3017520"/>
              <a:ext cx="22860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D4ED8"/>
                  </a:solidFill>
                  <a:uFillTx/>
                  <a:latin typeface="Cambria" pitchFamily="34"/>
                  <a:ea typeface="Cambria" pitchFamily="34"/>
                  <a:cs typeface="Cambria" pitchFamily="34"/>
                </a:rPr>
                <a:t>Znudzenie</a:t>
              </a:r>
              <a:r>
                <a:rPr lang="en-US" sz="1100" b="1" i="0" u="none" strike="noStrike" kern="1200" cap="none" spc="0" baseline="0" dirty="0">
                  <a:solidFill>
                    <a:srgbClr val="1D4ED8"/>
                  </a:solidFill>
                  <a:uFillTx/>
                  <a:latin typeface="Cambria" pitchFamily="34"/>
                  <a:ea typeface="Cambria" pitchFamily="34"/>
                  <a:cs typeface="Cambria" pitchFamily="34"/>
                </a:rPr>
                <a:t> (Boredom)</a:t>
              </a:r>
              <a:endParaRPr lang="en-US" sz="1100" b="0" i="0" u="none" strike="noStrike" kern="1200" cap="none" spc="0" baseline="0" dirty="0">
                <a:solidFill>
                  <a:srgbClr val="000000"/>
                </a:solidFill>
                <a:uFillTx/>
                <a:latin typeface="Calibri"/>
              </a:endParaRPr>
            </a:p>
          </p:txBody>
        </p:sp>
        <p:sp>
          <p:nvSpPr>
            <p:cNvPr id="24" name="Text 22"/>
            <p:cNvSpPr/>
            <p:nvPr/>
          </p:nvSpPr>
          <p:spPr>
            <a:xfrm>
              <a:off x="2552700" y="3035808"/>
              <a:ext cx="6207252"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Brak</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mimiki</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rzadkie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tapnięcia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odwrócenie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wzroku</a:t>
              </a:r>
              <a:r>
                <a:rPr lang="en-US" sz="1050" b="0" i="0" u="none" strike="noStrike" kern="1200" cap="none" spc="0" baseline="0" dirty="0">
                  <a:solidFill>
                    <a:srgbClr val="111931"/>
                  </a:solidFill>
                  <a:uFillTx/>
                  <a:latin typeface="Calibri" pitchFamily="34"/>
                  <a:ea typeface="Calibri" pitchFamily="34"/>
                  <a:cs typeface="Calibri" pitchFamily="34"/>
                </a:rPr>
                <a:t> → </a:t>
              </a:r>
              <a:r>
                <a:rPr lang="en-US" sz="1050" b="0" i="0" u="none" strike="noStrike" kern="1200" cap="none" spc="0" baseline="0" dirty="0" err="1">
                  <a:solidFill>
                    <a:srgbClr val="111931"/>
                  </a:solidFill>
                  <a:uFillTx/>
                  <a:latin typeface="Calibri" pitchFamily="34"/>
                  <a:ea typeface="Calibri" pitchFamily="34"/>
                  <a:cs typeface="Calibri" pitchFamily="34"/>
                </a:rPr>
                <a:t>zmień</a:t>
              </a:r>
              <a:r>
                <a:rPr lang="en-US" sz="1050" b="0" i="0" u="none" strike="noStrike" kern="1200" cap="none" spc="0" baseline="0" dirty="0">
                  <a:solidFill>
                    <a:srgbClr val="111931"/>
                  </a:solidFill>
                  <a:uFillTx/>
                  <a:latin typeface="Calibri" pitchFamily="34"/>
                  <a:ea typeface="Calibri" pitchFamily="34"/>
                  <a:cs typeface="Calibri" pitchFamily="34"/>
                </a:rPr>
                <a:t> format (</a:t>
              </a:r>
              <a:r>
                <a:rPr lang="en-US" sz="1050" b="0" i="0" u="none" strike="noStrike" kern="1200" cap="none" spc="0" baseline="0" dirty="0" err="1">
                  <a:solidFill>
                    <a:srgbClr val="111931"/>
                  </a:solidFill>
                  <a:uFillTx/>
                  <a:latin typeface="Calibri" pitchFamily="34"/>
                  <a:ea typeface="Calibri" pitchFamily="34"/>
                  <a:cs typeface="Calibri" pitchFamily="34"/>
                </a:rPr>
                <a:t>video→quiz</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podbij</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trudność</a:t>
              </a:r>
              <a:endParaRPr lang="en-US" sz="1050" b="0" i="0" u="none" strike="noStrike" kern="1200" cap="none" spc="0" baseline="0" dirty="0">
                <a:solidFill>
                  <a:srgbClr val="111931"/>
                </a:solidFill>
                <a:uFillTx/>
                <a:latin typeface="Calibri"/>
              </a:endParaRPr>
            </a:p>
          </p:txBody>
        </p:sp>
      </p:grpSp>
      <p:grpSp>
        <p:nvGrpSpPr>
          <p:cNvPr id="47" name="Grupa 46"/>
          <p:cNvGrpSpPr/>
          <p:nvPr/>
        </p:nvGrpSpPr>
        <p:grpSpPr>
          <a:xfrm>
            <a:off x="320040" y="3494316"/>
            <a:ext cx="8503920" cy="360000"/>
            <a:chOff x="320040" y="3494316"/>
            <a:chExt cx="8503920" cy="360000"/>
          </a:xfrm>
        </p:grpSpPr>
        <p:grpSp>
          <p:nvGrpSpPr>
            <p:cNvPr id="42" name="Grupa 41"/>
            <p:cNvGrpSpPr/>
            <p:nvPr/>
          </p:nvGrpSpPr>
          <p:grpSpPr>
            <a:xfrm>
              <a:off x="320040" y="3494316"/>
              <a:ext cx="8503920" cy="360000"/>
              <a:chOff x="320040" y="3474720"/>
              <a:chExt cx="8503920" cy="457200"/>
            </a:xfrm>
          </p:grpSpPr>
          <p:sp>
            <p:nvSpPr>
              <p:cNvPr id="25" name="Shape 23"/>
              <p:cNvSpPr/>
              <p:nvPr/>
            </p:nvSpPr>
            <p:spPr>
              <a:xfrm>
                <a:off x="320040" y="3474720"/>
                <a:ext cx="8503920" cy="457200"/>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3474720"/>
                <a:ext cx="54864" cy="4572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27" name="Text 25"/>
            <p:cNvSpPr/>
            <p:nvPr/>
          </p:nvSpPr>
          <p:spPr>
            <a:xfrm>
              <a:off x="438912" y="3529584"/>
              <a:ext cx="228600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0891B2"/>
                  </a:solidFill>
                  <a:uFillTx/>
                  <a:latin typeface="Cambria" pitchFamily="34"/>
                  <a:ea typeface="Cambria" pitchFamily="34"/>
                  <a:cs typeface="Cambria" pitchFamily="34"/>
                </a:rPr>
                <a:t>Przepływ</a:t>
              </a:r>
              <a:r>
                <a:rPr lang="en-US" sz="1100" b="1" i="0" u="none" strike="noStrike" kern="1200" cap="none" spc="0" baseline="0" dirty="0">
                  <a:solidFill>
                    <a:srgbClr val="0891B2"/>
                  </a:solidFill>
                  <a:uFillTx/>
                  <a:latin typeface="Cambria" pitchFamily="34"/>
                  <a:ea typeface="Cambria" pitchFamily="34"/>
                  <a:cs typeface="Cambria" pitchFamily="34"/>
                </a:rPr>
                <a:t> (Flow)</a:t>
              </a:r>
              <a:endParaRPr lang="en-US" sz="1100" b="0" i="0" u="none" strike="noStrike" kern="1200" cap="none" spc="0" baseline="0" dirty="0">
                <a:solidFill>
                  <a:srgbClr val="000000"/>
                </a:solidFill>
                <a:uFillTx/>
                <a:latin typeface="Calibri"/>
              </a:endParaRPr>
            </a:p>
          </p:txBody>
        </p:sp>
        <p:sp>
          <p:nvSpPr>
            <p:cNvPr id="28" name="Text 26"/>
            <p:cNvSpPr/>
            <p:nvPr/>
          </p:nvSpPr>
          <p:spPr>
            <a:xfrm>
              <a:off x="2552700" y="3547872"/>
              <a:ext cx="6207252"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11931"/>
                  </a:solidFill>
                  <a:uFillTx/>
                  <a:latin typeface="Calibri" pitchFamily="34"/>
                  <a:ea typeface="Calibri" pitchFamily="34"/>
                  <a:cs typeface="Calibri" pitchFamily="34"/>
                </a:rPr>
                <a:t>Skupienie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regularne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odpowiedzi</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niska</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aktywacja</a:t>
              </a:r>
              <a:r>
                <a:rPr lang="en-US" sz="1050" b="0" i="0" u="none" strike="noStrike" kern="1200" cap="none" spc="0" baseline="0" dirty="0">
                  <a:solidFill>
                    <a:srgbClr val="111931"/>
                  </a:solidFill>
                  <a:uFillTx/>
                  <a:latin typeface="Calibri" pitchFamily="34"/>
                  <a:ea typeface="Calibri" pitchFamily="34"/>
                  <a:cs typeface="Calibri" pitchFamily="34"/>
                </a:rPr>
                <a:t> EDA → </a:t>
              </a:r>
              <a:r>
                <a:rPr lang="en-US" sz="1050" b="0" i="0" u="none" strike="noStrike" kern="1200" cap="none" spc="0" baseline="0" dirty="0" err="1">
                  <a:solidFill>
                    <a:srgbClr val="111931"/>
                  </a:solidFill>
                  <a:uFillTx/>
                  <a:latin typeface="Calibri" pitchFamily="34"/>
                  <a:ea typeface="Calibri" pitchFamily="34"/>
                  <a:cs typeface="Calibri" pitchFamily="34"/>
                </a:rPr>
                <a:t>nie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przerywaj</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kontynuuj</a:t>
              </a:r>
              <a:r>
                <a:rPr lang="en-US" sz="1050" b="0" i="0" u="none" strike="noStrike" kern="1200" cap="none" spc="0" baseline="0" dirty="0">
                  <a:solidFill>
                    <a:srgbClr val="111931"/>
                  </a:solidFill>
                  <a:uFillTx/>
                  <a:latin typeface="Calibri" pitchFamily="34"/>
                  <a:ea typeface="Calibri" pitchFamily="34"/>
                  <a:cs typeface="Calibri" pitchFamily="34"/>
                </a:rPr>
                <a:t> tempo, </a:t>
              </a:r>
              <a:r>
                <a:rPr lang="en-US" sz="1050" b="0" i="0" u="none" strike="noStrike" kern="1200" cap="none" spc="0" baseline="0" dirty="0" err="1">
                  <a:solidFill>
                    <a:srgbClr val="111931"/>
                  </a:solidFill>
                  <a:uFillTx/>
                  <a:latin typeface="Calibri" pitchFamily="34"/>
                  <a:ea typeface="Calibri" pitchFamily="34"/>
                  <a:cs typeface="Calibri" pitchFamily="34"/>
                </a:rPr>
                <a:t>maksymalizuj</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sesję</a:t>
              </a:r>
              <a:endParaRPr lang="en-US" sz="1050" b="0" i="0" u="none" strike="noStrike" kern="1200" cap="none" spc="0" baseline="0" dirty="0">
                <a:solidFill>
                  <a:srgbClr val="111931"/>
                </a:solidFill>
                <a:uFillTx/>
                <a:latin typeface="Calibri"/>
              </a:endParaRPr>
            </a:p>
          </p:txBody>
        </p:sp>
      </p:grpSp>
      <p:sp>
        <p:nvSpPr>
          <p:cNvPr id="29" name="Text 27"/>
          <p:cNvSpPr/>
          <p:nvPr/>
        </p:nvSpPr>
        <p:spPr>
          <a:xfrm>
            <a:off x="320040" y="3970020"/>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Przykłady</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smtClean="0">
                <a:solidFill>
                  <a:srgbClr val="1F1535"/>
                </a:solidFill>
                <a:uFillTx/>
                <a:latin typeface="Cambria" pitchFamily="34"/>
                <a:ea typeface="Cambria" pitchFamily="34"/>
                <a:cs typeface="Cambria" pitchFamily="34"/>
              </a:rPr>
              <a:t>wdrożeń</a:t>
            </a:r>
            <a:endParaRPr lang="en-US" sz="1100" b="0" i="0" u="none" strike="noStrike" kern="1200" cap="none" spc="0" baseline="0" dirty="0">
              <a:solidFill>
                <a:srgbClr val="000000"/>
              </a:solidFill>
              <a:uFillTx/>
              <a:latin typeface="Calibri"/>
            </a:endParaRPr>
          </a:p>
        </p:txBody>
      </p:sp>
      <p:sp>
        <p:nvSpPr>
          <p:cNvPr id="30" name="Shape 28"/>
          <p:cNvSpPr/>
          <p:nvPr/>
        </p:nvSpPr>
        <p:spPr>
          <a:xfrm>
            <a:off x="320040" y="4227912"/>
            <a:ext cx="4160520" cy="701568"/>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320040" y="4227912"/>
            <a:ext cx="54864" cy="701568"/>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48056" y="423976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Duolingo</a:t>
            </a:r>
            <a:r>
              <a:rPr lang="en-US" sz="1150" b="1" i="0" u="none" strike="noStrike" kern="1200" cap="none" spc="0" baseline="0" dirty="0">
                <a:solidFill>
                  <a:srgbClr val="1F1535"/>
                </a:solidFill>
                <a:uFillTx/>
                <a:latin typeface="Cambria" pitchFamily="34"/>
                <a:ea typeface="Cambria" pitchFamily="34"/>
                <a:cs typeface="Cambria" pitchFamily="34"/>
              </a:rPr>
              <a:t> + face tracking (patent)</a:t>
            </a:r>
            <a:endParaRPr lang="en-US" sz="1150" b="0" i="0" u="none" strike="noStrike" kern="1200" cap="none" spc="0" baseline="0" dirty="0">
              <a:solidFill>
                <a:srgbClr val="000000"/>
              </a:solidFill>
              <a:uFillTx/>
              <a:latin typeface="Calibri"/>
            </a:endParaRPr>
          </a:p>
        </p:txBody>
      </p:sp>
      <p:sp>
        <p:nvSpPr>
          <p:cNvPr id="33" name="Text 31"/>
          <p:cNvSpPr/>
          <p:nvPr/>
        </p:nvSpPr>
        <p:spPr>
          <a:xfrm>
            <a:off x="461772" y="4549140"/>
            <a:ext cx="3977639" cy="30632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Śledzi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uśmiech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zmarszczenie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podczas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ćwiczeń</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personalizuje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trudność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
            </a:r>
            <a:br>
              <a:rPr lang="pl-PL" sz="1000" b="0" i="0" u="none" strike="noStrike" kern="1200" cap="none" spc="0" baseline="0" dirty="0" smtClean="0">
                <a:solidFill>
                  <a:srgbClr val="111931"/>
                </a:solidFill>
                <a:uFillTx/>
                <a:latin typeface="Calibri" pitchFamily="34"/>
                <a:ea typeface="Calibri" pitchFamily="34"/>
                <a:cs typeface="Calibri" pitchFamily="34"/>
              </a:rPr>
            </a:br>
            <a:r>
              <a:rPr lang="en-US" sz="1000" b="0" i="0" u="none" strike="noStrike" kern="1200" cap="none" spc="0" baseline="0" dirty="0" err="1" smtClean="0">
                <a:solidFill>
                  <a:srgbClr val="111931"/>
                </a:solidFill>
                <a:uFillTx/>
                <a:latin typeface="Calibri" pitchFamily="34"/>
                <a:ea typeface="Calibri" pitchFamily="34"/>
                <a:cs typeface="Calibri" pitchFamily="34"/>
              </a:rPr>
              <a:t>i</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dobiera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ekstatyczne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animacje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pozytywny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nastrój</a:t>
            </a:r>
            <a:r>
              <a:rPr lang="en-US" sz="1000" b="0" i="0" u="none" strike="noStrike" kern="1200" cap="none" spc="0" baseline="0" dirty="0">
                <a:solidFill>
                  <a:srgbClr val="111931"/>
                </a:solidFill>
                <a:uFillTx/>
                <a:latin typeface="Calibri" pitchFamily="34"/>
                <a:ea typeface="Calibri" pitchFamily="34"/>
                <a:cs typeface="Calibri" pitchFamily="34"/>
              </a:rPr>
              <a:t>. Patent US11257382B2.</a:t>
            </a:r>
            <a:endParaRPr lang="en-US" sz="1000" b="0" i="0" u="none" strike="noStrike" kern="1200" cap="none" spc="0" baseline="0" dirty="0">
              <a:solidFill>
                <a:srgbClr val="111931"/>
              </a:solidFill>
              <a:uFillTx/>
              <a:latin typeface="Calibri"/>
            </a:endParaRPr>
          </a:p>
        </p:txBody>
      </p:sp>
      <p:sp>
        <p:nvSpPr>
          <p:cNvPr id="34" name="Text 32"/>
          <p:cNvSpPr/>
          <p:nvPr/>
        </p:nvSpPr>
        <p:spPr>
          <a:xfrm>
            <a:off x="4663440" y="3970020"/>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Case </a:t>
            </a:r>
            <a:r>
              <a:rPr lang="en-US" sz="1100" b="1" i="0" u="none" strike="noStrike" kern="1200" cap="none" spc="0" baseline="0" dirty="0" smtClean="0">
                <a:solidFill>
                  <a:srgbClr val="1F1535"/>
                </a:solidFill>
                <a:uFillTx/>
                <a:latin typeface="Cambria" pitchFamily="34"/>
                <a:ea typeface="Cambria" pitchFamily="34"/>
                <a:cs typeface="Cambria" pitchFamily="34"/>
              </a:rPr>
              <a:t>study</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Affectiva</a:t>
            </a:r>
            <a:r>
              <a:rPr lang="en-US" sz="1100" b="1" i="0" u="none" strike="noStrike" kern="1200" cap="none" spc="0" baseline="0" dirty="0">
                <a:solidFill>
                  <a:srgbClr val="1F1535"/>
                </a:solidFill>
                <a:uFillTx/>
                <a:latin typeface="Cambria" pitchFamily="34"/>
                <a:ea typeface="Cambria" pitchFamily="34"/>
                <a:cs typeface="Cambria" pitchFamily="34"/>
              </a:rPr>
              <a:t> w </a:t>
            </a:r>
            <a:r>
              <a:rPr lang="en-US" sz="1100" b="1" i="0" u="none" strike="noStrike" kern="1200" cap="none" spc="0" baseline="0" dirty="0" err="1">
                <a:solidFill>
                  <a:srgbClr val="1F1535"/>
                </a:solidFill>
                <a:uFillTx/>
                <a:latin typeface="Cambria" pitchFamily="34"/>
                <a:ea typeface="Cambria" pitchFamily="34"/>
                <a:cs typeface="Cambria" pitchFamily="34"/>
              </a:rPr>
              <a:t>kursach</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smtClean="0">
                <a:solidFill>
                  <a:srgbClr val="1F1535"/>
                </a:solidFill>
                <a:uFillTx/>
                <a:latin typeface="Cambria" pitchFamily="34"/>
                <a:ea typeface="Cambria" pitchFamily="34"/>
                <a:cs typeface="Cambria" pitchFamily="34"/>
              </a:rPr>
              <a:t>online</a:t>
            </a:r>
            <a:endParaRPr lang="en-US" sz="1100" b="0" i="0" u="none" strike="noStrike" kern="1200" cap="none" spc="0" baseline="0" dirty="0">
              <a:solidFill>
                <a:srgbClr val="000000"/>
              </a:solidFill>
              <a:uFillTx/>
              <a:latin typeface="Calibri"/>
            </a:endParaRPr>
          </a:p>
        </p:txBody>
      </p:sp>
      <p:sp>
        <p:nvSpPr>
          <p:cNvPr id="35" name="Shape 33"/>
          <p:cNvSpPr/>
          <p:nvPr/>
        </p:nvSpPr>
        <p:spPr>
          <a:xfrm>
            <a:off x="4663440" y="4227912"/>
            <a:ext cx="4206240" cy="701568"/>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Shape 34"/>
          <p:cNvSpPr/>
          <p:nvPr/>
        </p:nvSpPr>
        <p:spPr>
          <a:xfrm>
            <a:off x="4663440" y="4227912"/>
            <a:ext cx="54864" cy="701568"/>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4791456" y="423214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Harvard </a:t>
            </a:r>
            <a:r>
              <a:rPr lang="en-US" sz="1150" b="1" i="0" u="none" strike="noStrike" kern="1200" cap="none" spc="0" baseline="0" dirty="0" err="1">
                <a:solidFill>
                  <a:srgbClr val="1F1535"/>
                </a:solidFill>
                <a:uFillTx/>
                <a:latin typeface="Cambria" pitchFamily="34"/>
                <a:ea typeface="Cambria" pitchFamily="34"/>
                <a:cs typeface="Cambria" pitchFamily="34"/>
              </a:rPr>
              <a:t>edX</a:t>
            </a:r>
            <a:r>
              <a:rPr lang="en-US" sz="1150" b="1" i="0" u="none" strike="noStrike" kern="1200" cap="none" spc="0" baseline="0" dirty="0">
                <a:solidFill>
                  <a:srgbClr val="1F1535"/>
                </a:solidFill>
                <a:uFillTx/>
                <a:latin typeface="Cambria" pitchFamily="34"/>
                <a:ea typeface="Cambria" pitchFamily="34"/>
                <a:cs typeface="Cambria" pitchFamily="34"/>
              </a:rPr>
              <a:t> — emotion-aware MOOC</a:t>
            </a:r>
            <a:endParaRPr lang="en-US" sz="1150" b="0" i="0" u="none" strike="noStrike" kern="1200" cap="none" spc="0" baseline="0" dirty="0">
              <a:solidFill>
                <a:srgbClr val="000000"/>
              </a:solidFill>
              <a:uFillTx/>
              <a:latin typeface="Calibri"/>
            </a:endParaRPr>
          </a:p>
        </p:txBody>
      </p:sp>
      <p:sp>
        <p:nvSpPr>
          <p:cNvPr id="38" name="Text 36"/>
          <p:cNvSpPr/>
          <p:nvPr/>
        </p:nvSpPr>
        <p:spPr>
          <a:xfrm>
            <a:off x="4791456" y="4507776"/>
            <a:ext cx="4023360" cy="3568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Analiza</a:t>
            </a:r>
            <a:r>
              <a:rPr lang="en-US" sz="1000" b="0" i="0" u="none" strike="noStrike" kern="1200" cap="none" spc="0" baseline="0" dirty="0">
                <a:solidFill>
                  <a:srgbClr val="111931"/>
                </a:solidFill>
                <a:uFillTx/>
                <a:latin typeface="Calibri" pitchFamily="34"/>
                <a:ea typeface="Calibri" pitchFamily="34"/>
                <a:cs typeface="Calibri" pitchFamily="34"/>
              </a:rPr>
              <a:t> facial expressions 80k </a:t>
            </a:r>
            <a:r>
              <a:rPr lang="en-US" sz="1000" b="0" i="0" u="none" strike="noStrike" kern="1200" cap="none" spc="0" baseline="0" dirty="0" err="1">
                <a:solidFill>
                  <a:srgbClr val="111931"/>
                </a:solidFill>
                <a:uFillTx/>
                <a:latin typeface="Calibri" pitchFamily="34"/>
                <a:ea typeface="Calibri" pitchFamily="34"/>
                <a:cs typeface="Calibri" pitchFamily="34"/>
              </a:rPr>
              <a:t>studentów</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identyfikacja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najtrudniejszych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konceptów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przez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wzrost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konfuzji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Reorganizacja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treści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podwoiła</a:t>
            </a:r>
            <a:r>
              <a:rPr lang="en-US" sz="1000" b="0" i="0" u="none" strike="noStrike" kern="1200" cap="none" spc="0" baseline="0" dirty="0">
                <a:solidFill>
                  <a:srgbClr val="111931"/>
                </a:solidFill>
                <a:uFillTx/>
                <a:latin typeface="Calibri" pitchFamily="34"/>
                <a:ea typeface="Calibri" pitchFamily="34"/>
                <a:cs typeface="Calibri" pitchFamily="34"/>
              </a:rPr>
              <a:t> completion rate.</a:t>
            </a:r>
            <a:endParaRPr lang="en-US" sz="1000" b="0" i="0" u="none" strike="noStrike" kern="1200" cap="none" spc="0" baseline="0" dirty="0">
              <a:solidFill>
                <a:srgbClr val="111931"/>
              </a:solidFill>
              <a:uFillTx/>
              <a:latin typeface="Calibri"/>
            </a:endParaRPr>
          </a:p>
        </p:txBody>
      </p:sp>
      <p:sp>
        <p:nvSpPr>
          <p:cNvPr id="52"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21</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9FF"/>
        </a:solidFill>
        <a:effectLst/>
      </p:bgPr>
    </p:bg>
    <p:spTree>
      <p:nvGrpSpPr>
        <p:cNvPr id="1" name=""/>
        <p:cNvGrpSpPr/>
        <p:nvPr/>
      </p:nvGrpSpPr>
      <p:grpSpPr>
        <a:xfrm>
          <a:off x="0" y="0"/>
          <a:ext cx="0" cy="0"/>
          <a:chOff x="0" y="0"/>
          <a:chExt cx="0" cy="0"/>
        </a:xfrm>
      </p:grpSpPr>
      <p:grpSp>
        <p:nvGrpSpPr>
          <p:cNvPr id="48" name="Grupa 47"/>
          <p:cNvGrpSpPr/>
          <p:nvPr/>
        </p:nvGrpSpPr>
        <p:grpSpPr>
          <a:xfrm>
            <a:off x="0" y="0"/>
            <a:ext cx="9144000" cy="558000"/>
            <a:chOff x="0" y="0"/>
            <a:chExt cx="9144000" cy="558000"/>
          </a:xfrm>
        </p:grpSpPr>
        <p:sp>
          <p:nvSpPr>
            <p:cNvPr id="49"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0"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utomotive</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b</a:t>
            </a:r>
            <a:r>
              <a:rPr lang="en-US" sz="2000" b="1" i="0" u="none" strike="noStrike" kern="1200" cap="none" spc="0" baseline="0" dirty="0" err="1" smtClean="0">
                <a:solidFill>
                  <a:srgbClr val="FFFFFF"/>
                </a:solidFill>
                <a:uFillTx/>
                <a:latin typeface="Cambria" pitchFamily="34"/>
                <a:ea typeface="Cambria" pitchFamily="34"/>
                <a:cs typeface="Cambria" pitchFamily="34"/>
              </a:rPr>
              <a:t>ezpieczeństwo</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DMS</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7"/>
            <a:ext cx="8503920" cy="43433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111931"/>
                </a:solidFill>
                <a:uFillTx/>
                <a:latin typeface="Calibri" pitchFamily="34"/>
                <a:ea typeface="Calibri" pitchFamily="34"/>
                <a:cs typeface="Calibri" pitchFamily="34"/>
              </a:rPr>
              <a:t>Driver Monitoring Systems (DMS) </a:t>
            </a:r>
            <a:r>
              <a:rPr lang="en-US" sz="1600" b="0" i="0" u="none" strike="noStrike" kern="1200" cap="none" spc="0" baseline="0" dirty="0" err="1">
                <a:solidFill>
                  <a:srgbClr val="111931"/>
                </a:solidFill>
                <a:uFillTx/>
                <a:latin typeface="Calibri" pitchFamily="34"/>
                <a:ea typeface="Calibri" pitchFamily="34"/>
                <a:cs typeface="Calibri" pitchFamily="34"/>
              </a:rPr>
              <a:t>stały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się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obowiązkowe</a:t>
            </a:r>
            <a:r>
              <a:rPr lang="en-US" sz="1600" b="0" i="0" u="none" strike="noStrike" kern="1200" cap="none" spc="0" baseline="0" dirty="0">
                <a:solidFill>
                  <a:srgbClr val="111931"/>
                </a:solidFill>
                <a:uFillTx/>
                <a:latin typeface="Calibri" pitchFamily="34"/>
                <a:ea typeface="Calibri" pitchFamily="34"/>
                <a:cs typeface="Calibri" pitchFamily="34"/>
              </a:rPr>
              <a:t> w EU (UNECE R79, Euro NCAP 2024</a:t>
            </a:r>
            <a:r>
              <a:rPr lang="en-US" sz="1600" b="0" i="0" u="none" strike="noStrike" kern="1200" cap="none" spc="0" baseline="0" dirty="0" smtClean="0">
                <a:solidFill>
                  <a:srgbClr val="111931"/>
                </a:solidFill>
                <a:uFillTx/>
                <a:latin typeface="Calibri" pitchFamily="34"/>
                <a:ea typeface="Calibri" pitchFamily="34"/>
                <a:cs typeface="Calibri" pitchFamily="34"/>
              </a:rPr>
              <a:t>)</a:t>
            </a:r>
            <a:r>
              <a:rPr lang="pl-PL" sz="1600" b="0" i="0" u="none" strike="noStrike" kern="1200" cap="none" spc="0" baseline="0" dirty="0" smtClean="0">
                <a:solidFill>
                  <a:srgbClr val="111931"/>
                </a:solidFill>
                <a:uFillTx/>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R</a:t>
            </a:r>
            <a:r>
              <a:rPr lang="en-US" sz="1600" b="0" i="0" u="none" strike="noStrike" kern="1200" cap="none" spc="0" baseline="0" dirty="0" err="1" smtClean="0">
                <a:solidFill>
                  <a:srgbClr val="111931"/>
                </a:solidFill>
                <a:uFillTx/>
                <a:latin typeface="Calibri" pitchFamily="34"/>
                <a:ea typeface="Calibri" pitchFamily="34"/>
                <a:cs typeface="Calibri" pitchFamily="34"/>
              </a:rPr>
              <a:t>ozpoznawanie</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senności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rozproszenia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kierowcy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ratuje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życie</a:t>
            </a:r>
            <a:endParaRPr lang="en-US" sz="1600" b="0" i="0" u="none" strike="noStrike" kern="1200" cap="none" spc="0" baseline="0" dirty="0">
              <a:solidFill>
                <a:srgbClr val="111931"/>
              </a:solidFill>
              <a:uFillTx/>
              <a:latin typeface="Calibri"/>
            </a:endParaRPr>
          </a:p>
        </p:txBody>
      </p:sp>
      <p:grpSp>
        <p:nvGrpSpPr>
          <p:cNvPr id="54" name="Grupa 53"/>
          <p:cNvGrpSpPr/>
          <p:nvPr/>
        </p:nvGrpSpPr>
        <p:grpSpPr>
          <a:xfrm>
            <a:off x="320040" y="1443228"/>
            <a:ext cx="4160520" cy="576000"/>
            <a:chOff x="320040" y="1191768"/>
            <a:chExt cx="4160520" cy="576000"/>
          </a:xfrm>
        </p:grpSpPr>
        <p:sp>
          <p:nvSpPr>
            <p:cNvPr id="8" name="Shape 6"/>
            <p:cNvSpPr/>
            <p:nvPr/>
          </p:nvSpPr>
          <p:spPr>
            <a:xfrm>
              <a:off x="320040" y="119176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 y="119176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448056" y="120243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PERCLOS (</a:t>
              </a:r>
              <a:r>
                <a:rPr lang="en-US" sz="1100" b="1" i="0" u="none" strike="noStrike" kern="1200" cap="none" spc="0" baseline="0" dirty="0" err="1">
                  <a:solidFill>
                    <a:srgbClr val="1F1535"/>
                  </a:solidFill>
                  <a:uFillTx/>
                  <a:latin typeface="Cambria" pitchFamily="34"/>
                  <a:ea typeface="Cambria" pitchFamily="34"/>
                  <a:cs typeface="Cambria" pitchFamily="34"/>
                </a:rPr>
                <a:t>PERcentage</a:t>
              </a:r>
              <a:r>
                <a:rPr lang="en-US" sz="1100" b="1" i="0" u="none" strike="noStrike" kern="1200" cap="none" spc="0" baseline="0" dirty="0">
                  <a:solidFill>
                    <a:srgbClr val="1F1535"/>
                  </a:solidFill>
                  <a:uFillTx/>
                  <a:latin typeface="Cambria" pitchFamily="34"/>
                  <a:ea typeface="Cambria" pitchFamily="34"/>
                  <a:cs typeface="Cambria" pitchFamily="34"/>
                </a:rPr>
                <a:t> of eyelid </a:t>
              </a:r>
              <a:r>
                <a:rPr lang="en-US" sz="1100" b="1" i="0" u="none" strike="noStrike" kern="1200" cap="none" spc="0" baseline="0" dirty="0" err="1">
                  <a:solidFill>
                    <a:srgbClr val="1F1535"/>
                  </a:solidFill>
                  <a:uFillTx/>
                  <a:latin typeface="Cambria" pitchFamily="34"/>
                  <a:ea typeface="Cambria" pitchFamily="34"/>
                  <a:cs typeface="Cambria" pitchFamily="34"/>
                </a:rPr>
                <a:t>CLOSure</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11" name="Text 9"/>
            <p:cNvSpPr/>
            <p:nvPr/>
          </p:nvSpPr>
          <p:spPr>
            <a:xfrm>
              <a:off x="448056" y="1444752"/>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Standard </a:t>
              </a:r>
              <a:r>
                <a:rPr lang="en-US" sz="1000" b="0" i="0" u="none" strike="noStrike" kern="1200" cap="none" spc="0" baseline="0" dirty="0" smtClean="0">
                  <a:solidFill>
                    <a:srgbClr val="111931"/>
                  </a:solidFill>
                  <a:uFillTx/>
                  <a:latin typeface="Calibri" pitchFamily="34"/>
                  <a:ea typeface="Calibri" pitchFamily="34"/>
                  <a:cs typeface="Calibri" pitchFamily="34"/>
                </a:rPr>
                <a:t>NASA</a:t>
              </a:r>
              <a:r>
                <a:rPr lang="pl-PL" sz="1000" dirty="0">
                  <a:solidFill>
                    <a:srgbClr val="111931"/>
                  </a:solidFill>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czasu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powieki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zamknięte</a:t>
              </a:r>
              <a:r>
                <a:rPr lang="en-US" sz="1000" b="0" i="0" u="none" strike="noStrike" kern="1200" cap="none" spc="0" baseline="0" dirty="0">
                  <a:solidFill>
                    <a:srgbClr val="111931"/>
                  </a:solidFill>
                  <a:uFillTx/>
                  <a:latin typeface="Calibri" pitchFamily="34"/>
                  <a:ea typeface="Calibri" pitchFamily="34"/>
                  <a:cs typeface="Calibri" pitchFamily="34"/>
                </a:rPr>
                <a:t> &gt; 80%. PERCLOS &gt; 0.15 → </a:t>
              </a:r>
              <a:r>
                <a:rPr lang="en-US" sz="1000" b="0" i="0" u="none" strike="noStrike" kern="1200" cap="none" spc="0" baseline="0" dirty="0" err="1">
                  <a:solidFill>
                    <a:srgbClr val="111931"/>
                  </a:solidFill>
                  <a:uFillTx/>
                  <a:latin typeface="Calibri" pitchFamily="34"/>
                  <a:ea typeface="Calibri" pitchFamily="34"/>
                  <a:cs typeface="Calibri" pitchFamily="34"/>
                </a:rPr>
                <a:t>senność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Kamera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podczerwień</a:t>
              </a:r>
              <a:r>
                <a:rPr lang="en-US" sz="1000" b="0" i="0" u="none" strike="noStrike" kern="1200" cap="none" spc="0" baseline="0" dirty="0">
                  <a:solidFill>
                    <a:srgbClr val="111931"/>
                  </a:solidFill>
                  <a:uFillTx/>
                  <a:latin typeface="Calibri" pitchFamily="34"/>
                  <a:ea typeface="Calibri" pitchFamily="34"/>
                  <a:cs typeface="Calibri" pitchFamily="34"/>
                </a:rPr>
                <a:t> (NIR)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kierownicy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Działanie</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ciemności</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5" name="Grupa 54"/>
          <p:cNvGrpSpPr/>
          <p:nvPr/>
        </p:nvGrpSpPr>
        <p:grpSpPr>
          <a:xfrm>
            <a:off x="320040" y="2069592"/>
            <a:ext cx="4160520" cy="583620"/>
            <a:chOff x="320040" y="1894332"/>
            <a:chExt cx="4160520" cy="583620"/>
          </a:xfrm>
        </p:grpSpPr>
        <p:sp>
          <p:nvSpPr>
            <p:cNvPr id="12" name="Shape 10"/>
            <p:cNvSpPr/>
            <p:nvPr/>
          </p:nvSpPr>
          <p:spPr>
            <a:xfrm>
              <a:off x="320040" y="190195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320040" y="1894332"/>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448056" y="1904999"/>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Head Pose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Gaze Estimation</a:t>
              </a:r>
              <a:endParaRPr lang="en-US" sz="1100" b="0" i="0" u="none" strike="noStrike" kern="1200" cap="none" spc="0" baseline="0" dirty="0">
                <a:solidFill>
                  <a:srgbClr val="000000"/>
                </a:solidFill>
                <a:uFillTx/>
                <a:latin typeface="Calibri"/>
              </a:endParaRPr>
            </a:p>
          </p:txBody>
        </p:sp>
        <p:sp>
          <p:nvSpPr>
            <p:cNvPr id="15" name="Text 13"/>
            <p:cNvSpPr/>
            <p:nvPr/>
          </p:nvSpPr>
          <p:spPr>
            <a:xfrm>
              <a:off x="448056" y="2139696"/>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Odchylenie głowy od osi przód &gt; 20° przez 2s → rozproszenie. Gaze off-road &gt; 2s → ostrzeżenie. Modele: FSA-Net, HopeNet dla head pose.</a:t>
              </a:r>
              <a:endParaRPr lang="en-US" sz="1000" b="0" i="0" u="none" strike="noStrike" kern="1200" cap="none" spc="0" baseline="0">
                <a:solidFill>
                  <a:srgbClr val="111931"/>
                </a:solidFill>
                <a:uFillTx/>
                <a:latin typeface="Calibri"/>
              </a:endParaRPr>
            </a:p>
          </p:txBody>
        </p:sp>
      </p:grpSp>
      <p:grpSp>
        <p:nvGrpSpPr>
          <p:cNvPr id="53" name="Grupa 52"/>
          <p:cNvGrpSpPr/>
          <p:nvPr/>
        </p:nvGrpSpPr>
        <p:grpSpPr>
          <a:xfrm>
            <a:off x="320040" y="2703576"/>
            <a:ext cx="4160520" cy="576000"/>
            <a:chOff x="320040" y="2566416"/>
            <a:chExt cx="4160520" cy="576000"/>
          </a:xfrm>
        </p:grpSpPr>
        <p:sp>
          <p:nvSpPr>
            <p:cNvPr id="16" name="Shape 14"/>
            <p:cNvSpPr/>
            <p:nvPr/>
          </p:nvSpPr>
          <p:spPr>
            <a:xfrm>
              <a:off x="320040" y="2566416"/>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320040" y="2566416"/>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448056" y="256946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Wykrywanie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senności</a:t>
              </a:r>
              <a:r>
                <a:rPr lang="en-US" sz="1100" b="1" i="0" u="none" strike="noStrike" kern="1200" cap="none" spc="0" baseline="0" dirty="0">
                  <a:solidFill>
                    <a:srgbClr val="1F1535"/>
                  </a:solidFill>
                  <a:uFillTx/>
                  <a:latin typeface="Cambria" pitchFamily="34"/>
                  <a:ea typeface="Cambria" pitchFamily="34"/>
                  <a:cs typeface="Cambria" pitchFamily="34"/>
                </a:rPr>
                <a:t> (drowsiness)</a:t>
              </a:r>
              <a:endParaRPr lang="en-US" sz="1100" b="0" i="0" u="none" strike="noStrike" kern="1200" cap="none" spc="0" baseline="0" dirty="0">
                <a:solidFill>
                  <a:srgbClr val="000000"/>
                </a:solidFill>
                <a:uFillTx/>
                <a:latin typeface="Calibri"/>
              </a:endParaRPr>
            </a:p>
          </p:txBody>
        </p:sp>
        <p:sp>
          <p:nvSpPr>
            <p:cNvPr id="19" name="Text 17"/>
            <p:cNvSpPr/>
            <p:nvPr/>
          </p:nvSpPr>
          <p:spPr>
            <a:xfrm>
              <a:off x="448056" y="2834640"/>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MAR (Mouth Aspect Ratio) dla ziewnięcia. PERCLOS + blink rate + head nod → SVM lub LSTM. Alert haptyczny i dźwiękowy. Slow-down suggestion.</a:t>
              </a:r>
              <a:endParaRPr lang="en-US" sz="1000" b="0" i="0" u="none" strike="noStrike" kern="1200" cap="none" spc="0" baseline="0">
                <a:solidFill>
                  <a:srgbClr val="111931"/>
                </a:solidFill>
                <a:uFillTx/>
                <a:latin typeface="Calibri"/>
              </a:endParaRPr>
            </a:p>
          </p:txBody>
        </p:sp>
      </p:grpSp>
      <p:grpSp>
        <p:nvGrpSpPr>
          <p:cNvPr id="52" name="Grupa 51"/>
          <p:cNvGrpSpPr/>
          <p:nvPr/>
        </p:nvGrpSpPr>
        <p:grpSpPr>
          <a:xfrm>
            <a:off x="320040" y="3348228"/>
            <a:ext cx="4160520" cy="631812"/>
            <a:chOff x="320040" y="3249168"/>
            <a:chExt cx="4160520" cy="631812"/>
          </a:xfrm>
        </p:grpSpPr>
        <p:sp>
          <p:nvSpPr>
            <p:cNvPr id="20" name="Shape 18"/>
            <p:cNvSpPr/>
            <p:nvPr/>
          </p:nvSpPr>
          <p:spPr>
            <a:xfrm>
              <a:off x="320040" y="3268980"/>
              <a:ext cx="416052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320040" y="3268980"/>
              <a:ext cx="54864" cy="612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448056" y="324916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Emocje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kierowcy</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DDA</a:t>
              </a:r>
              <a:endParaRPr lang="en-US" sz="1100" b="0" i="0" u="none" strike="noStrike" kern="1200" cap="none" spc="0" baseline="0" dirty="0">
                <a:solidFill>
                  <a:srgbClr val="000000"/>
                </a:solidFill>
                <a:uFillTx/>
                <a:latin typeface="Calibri"/>
              </a:endParaRPr>
            </a:p>
          </p:txBody>
        </p:sp>
        <p:sp>
          <p:nvSpPr>
            <p:cNvPr id="23" name="Text 21"/>
            <p:cNvSpPr/>
            <p:nvPr/>
          </p:nvSpPr>
          <p:spPr>
            <a:xfrm>
              <a:off x="448056" y="3544824"/>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Gniew</a:t>
              </a:r>
              <a:r>
                <a:rPr lang="en-US" sz="1000" b="0" i="0" u="none" strike="noStrike" kern="1200" cap="none" spc="0" baseline="0" dirty="0">
                  <a:solidFill>
                    <a:srgbClr val="111931"/>
                  </a:solidFill>
                  <a:uFillTx/>
                  <a:latin typeface="Calibri" pitchFamily="34"/>
                  <a:ea typeface="Calibri" pitchFamily="34"/>
                  <a:cs typeface="Calibri" pitchFamily="34"/>
                </a:rPr>
                <a:t> (road rage) → </a:t>
              </a:r>
              <a:r>
                <a:rPr lang="en-US" sz="1000" b="0" i="0" u="none" strike="noStrike" kern="1200" cap="none" spc="0" baseline="0" dirty="0" err="1">
                  <a:solidFill>
                    <a:srgbClr val="111931"/>
                  </a:solidFill>
                  <a:uFillTx/>
                  <a:latin typeface="Calibri" pitchFamily="34"/>
                  <a:ea typeface="Calibri" pitchFamily="34"/>
                  <a:cs typeface="Calibri" pitchFamily="34"/>
                </a:rPr>
                <a:t>adaptacja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systemu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nawigacji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unikaj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korków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sugeruj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przerwy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Stres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zmniejsz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głośność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muzyki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wycisz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powiadomienia</a:t>
              </a:r>
              <a:r>
                <a:rPr lang="en-US" sz="1000" b="0" i="0" u="none" strike="noStrike" kern="1200" cap="none" spc="0" baseline="0" dirty="0">
                  <a:solidFill>
                    <a:srgbClr val="111931"/>
                  </a:solidFill>
                  <a:uFillTx/>
                  <a:latin typeface="Calibri" pitchFamily="34"/>
                  <a:ea typeface="Calibri" pitchFamily="34"/>
                  <a:cs typeface="Calibri" pitchFamily="34"/>
                </a:rPr>
                <a:t>. BMW affective AI 2024.</a:t>
              </a:r>
              <a:endParaRPr lang="en-US" sz="1000" b="0" i="0" u="none" strike="noStrike" kern="1200" cap="none" spc="0" baseline="0" dirty="0">
                <a:solidFill>
                  <a:srgbClr val="111931"/>
                </a:solidFill>
                <a:uFillTx/>
                <a:latin typeface="Calibri"/>
              </a:endParaRPr>
            </a:p>
          </p:txBody>
        </p:sp>
      </p:grpSp>
      <p:grpSp>
        <p:nvGrpSpPr>
          <p:cNvPr id="51" name="Grupa 50"/>
          <p:cNvGrpSpPr/>
          <p:nvPr/>
        </p:nvGrpSpPr>
        <p:grpSpPr>
          <a:xfrm>
            <a:off x="320040" y="4070604"/>
            <a:ext cx="4160520" cy="786384"/>
            <a:chOff x="320040" y="3910584"/>
            <a:chExt cx="4160520" cy="786384"/>
          </a:xfrm>
        </p:grpSpPr>
        <p:sp>
          <p:nvSpPr>
            <p:cNvPr id="24" name="Shape 22"/>
            <p:cNvSpPr/>
            <p:nvPr/>
          </p:nvSpPr>
          <p:spPr>
            <a:xfrm>
              <a:off x="320040" y="3910584"/>
              <a:ext cx="4160520" cy="786384"/>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Text 23"/>
            <p:cNvSpPr/>
            <p:nvPr/>
          </p:nvSpPr>
          <p:spPr>
            <a:xfrm>
              <a:off x="3474720" y="3941063"/>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p>
          </p:txBody>
        </p:sp>
        <p:sp>
          <p:nvSpPr>
            <p:cNvPr id="26" name="Text 24"/>
            <p:cNvSpPr/>
            <p:nvPr/>
          </p:nvSpPr>
          <p:spPr>
            <a:xfrm>
              <a:off x="411480" y="3977640"/>
              <a:ext cx="3995928" cy="64008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PERCLOS z ML Kit face landmarks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fun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computePERCLOS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eyeProbs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List&lt;Float&gt;): Float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closed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eyeProbs.count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it &lt; 0.2f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return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closed.toFloat</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eyeProbs.size</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&gt; 0.15 → alert, &gt; 0.25 → emergency stop</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grpSp>
      <p:sp>
        <p:nvSpPr>
          <p:cNvPr id="27" name="Text 25"/>
          <p:cNvSpPr/>
          <p:nvPr/>
        </p:nvSpPr>
        <p:spPr>
          <a:xfrm>
            <a:off x="4663440" y="1382268"/>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Wdrożenia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przemysłowe</a:t>
            </a:r>
            <a:endParaRPr lang="en-US" sz="1200" b="0" i="0" u="none" strike="noStrike" kern="1200" cap="none" spc="0" baseline="0" dirty="0">
              <a:solidFill>
                <a:srgbClr val="000000"/>
              </a:solidFill>
              <a:uFillTx/>
              <a:latin typeface="Calibri"/>
            </a:endParaRPr>
          </a:p>
        </p:txBody>
      </p:sp>
      <p:grpSp>
        <p:nvGrpSpPr>
          <p:cNvPr id="56" name="Grupa 55"/>
          <p:cNvGrpSpPr/>
          <p:nvPr/>
        </p:nvGrpSpPr>
        <p:grpSpPr>
          <a:xfrm>
            <a:off x="4663440" y="1641348"/>
            <a:ext cx="4206240" cy="612000"/>
            <a:chOff x="4663440" y="1435608"/>
            <a:chExt cx="4206240" cy="612000"/>
          </a:xfrm>
        </p:grpSpPr>
        <p:sp>
          <p:nvSpPr>
            <p:cNvPr id="28" name="Shape 26"/>
            <p:cNvSpPr/>
            <p:nvPr/>
          </p:nvSpPr>
          <p:spPr>
            <a:xfrm>
              <a:off x="4663440" y="1435608"/>
              <a:ext cx="420624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Shape 27"/>
            <p:cNvSpPr/>
            <p:nvPr/>
          </p:nvSpPr>
          <p:spPr>
            <a:xfrm>
              <a:off x="4663440" y="1435608"/>
              <a:ext cx="54864" cy="612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Text 28"/>
            <p:cNvSpPr/>
            <p:nvPr/>
          </p:nvSpPr>
          <p:spPr>
            <a:xfrm>
              <a:off x="4791456" y="145389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Seeing Machines (OEM)</a:t>
              </a:r>
              <a:endParaRPr lang="en-US" sz="1150" b="0" i="0" u="none" strike="noStrike" kern="1200" cap="none" spc="0" baseline="0">
                <a:solidFill>
                  <a:srgbClr val="000000"/>
                </a:solidFill>
                <a:uFillTx/>
                <a:latin typeface="Calibri"/>
              </a:endParaRPr>
            </a:p>
          </p:txBody>
        </p:sp>
        <p:sp>
          <p:nvSpPr>
            <p:cNvPr id="31" name="Text 29"/>
            <p:cNvSpPr/>
            <p:nvPr/>
          </p:nvSpPr>
          <p:spPr>
            <a:xfrm>
              <a:off x="4791456" y="171907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OEM DMS w Volvo, Subaru, GM. NIR 940nm kamera. Real-time 30fps gaze + head + PERCLOS. Certified NCAP 2024.</a:t>
              </a:r>
              <a:endParaRPr lang="en-US" sz="1050" b="0" i="0" u="none" strike="noStrike" kern="1200" cap="none" spc="0" baseline="0">
                <a:solidFill>
                  <a:srgbClr val="111931"/>
                </a:solidFill>
                <a:uFillTx/>
                <a:latin typeface="Calibri"/>
              </a:endParaRPr>
            </a:p>
          </p:txBody>
        </p:sp>
      </p:grpSp>
      <p:grpSp>
        <p:nvGrpSpPr>
          <p:cNvPr id="57" name="Grupa 56"/>
          <p:cNvGrpSpPr/>
          <p:nvPr/>
        </p:nvGrpSpPr>
        <p:grpSpPr>
          <a:xfrm>
            <a:off x="4663440" y="2311908"/>
            <a:ext cx="4206240" cy="612000"/>
            <a:chOff x="4663440" y="2182368"/>
            <a:chExt cx="4206240" cy="612000"/>
          </a:xfrm>
        </p:grpSpPr>
        <p:sp>
          <p:nvSpPr>
            <p:cNvPr id="32" name="Shape 30"/>
            <p:cNvSpPr/>
            <p:nvPr/>
          </p:nvSpPr>
          <p:spPr>
            <a:xfrm>
              <a:off x="4663440" y="2182368"/>
              <a:ext cx="420624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Shape 31"/>
            <p:cNvSpPr/>
            <p:nvPr/>
          </p:nvSpPr>
          <p:spPr>
            <a:xfrm>
              <a:off x="4663440" y="2182368"/>
              <a:ext cx="54864" cy="612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791456" y="2185415"/>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Smart Eye (aviation→auto)</a:t>
              </a:r>
              <a:endParaRPr lang="en-US" sz="1150" b="0" i="0" u="none" strike="noStrike" kern="1200" cap="none" spc="0" baseline="0">
                <a:solidFill>
                  <a:srgbClr val="000000"/>
                </a:solidFill>
                <a:uFillTx/>
                <a:latin typeface="Calibri"/>
              </a:endParaRPr>
            </a:p>
          </p:txBody>
        </p:sp>
        <p:sp>
          <p:nvSpPr>
            <p:cNvPr id="35" name="Text 33"/>
            <p:cNvSpPr/>
            <p:nvPr/>
          </p:nvSpPr>
          <p:spPr>
            <a:xfrm>
              <a:off x="4791456" y="245059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111931"/>
                  </a:solidFill>
                  <a:uFillTx/>
                  <a:latin typeface="Calibri" pitchFamily="34"/>
                  <a:ea typeface="Calibri" pitchFamily="34"/>
                  <a:cs typeface="Calibri" pitchFamily="34"/>
                </a:rPr>
                <a:t>Aerospace heritage. BMW, Daimler. Multi-camera DMS. </a:t>
              </a:r>
              <a:r>
                <a:rPr lang="en-US" sz="1050" b="0" i="0" u="none" strike="noStrike" kern="1200" cap="none" spc="0" baseline="0" dirty="0" err="1">
                  <a:solidFill>
                    <a:srgbClr val="111931"/>
                  </a:solidFill>
                  <a:uFillTx/>
                  <a:latin typeface="Calibri" pitchFamily="34"/>
                  <a:ea typeface="Calibri" pitchFamily="34"/>
                  <a:cs typeface="Calibri" pitchFamily="34"/>
                </a:rPr>
                <a:t>Emocje</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gniew</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stres</a:t>
              </a:r>
              <a:r>
                <a:rPr lang="en-US" sz="1050" b="0" i="0" u="none" strike="noStrike" kern="1200" cap="none" spc="0" baseline="0" dirty="0">
                  <a:solidFill>
                    <a:srgbClr val="111931"/>
                  </a:solidFill>
                  <a:uFillTx/>
                  <a:latin typeface="Calibri" pitchFamily="34"/>
                  <a:ea typeface="Calibri" pitchFamily="34"/>
                  <a:cs typeface="Calibri" pitchFamily="34"/>
                </a:rPr>
                <a:t> </a:t>
              </a:r>
              <a:r>
                <a:rPr lang="en-US" sz="1050" b="0" i="0" u="none" strike="noStrike" kern="1200" cap="none" spc="0" baseline="0" dirty="0" err="1">
                  <a:solidFill>
                    <a:srgbClr val="111931"/>
                  </a:solidFill>
                  <a:uFillTx/>
                  <a:latin typeface="Calibri" pitchFamily="34"/>
                  <a:ea typeface="Calibri" pitchFamily="34"/>
                  <a:cs typeface="Calibri" pitchFamily="34"/>
                </a:rPr>
                <a:t>przez</a:t>
              </a:r>
              <a:r>
                <a:rPr lang="en-US" sz="1050" b="0" i="0" u="none" strike="noStrike" kern="1200" cap="none" spc="0" baseline="0" dirty="0">
                  <a:solidFill>
                    <a:srgbClr val="111931"/>
                  </a:solidFill>
                  <a:uFillTx/>
                  <a:latin typeface="Calibri" pitchFamily="34"/>
                  <a:ea typeface="Calibri" pitchFamily="34"/>
                  <a:cs typeface="Calibri" pitchFamily="34"/>
                </a:rPr>
                <a:t> VAD z </a:t>
              </a:r>
              <a:r>
                <a:rPr lang="en-US" sz="1050" b="0" i="0" u="none" strike="noStrike" kern="1200" cap="none" spc="0" baseline="0" dirty="0" err="1">
                  <a:solidFill>
                    <a:srgbClr val="111931"/>
                  </a:solidFill>
                  <a:uFillTx/>
                  <a:latin typeface="Calibri" pitchFamily="34"/>
                  <a:ea typeface="Calibri" pitchFamily="34"/>
                  <a:cs typeface="Calibri" pitchFamily="34"/>
                </a:rPr>
                <a:t>twarzy</a:t>
              </a:r>
              <a:r>
                <a:rPr lang="en-US" sz="1050" b="0" i="0" u="none" strike="noStrike" kern="1200" cap="none" spc="0" baseline="0" dirty="0">
                  <a:solidFill>
                    <a:srgbClr val="111931"/>
                  </a:solidFill>
                  <a:uFillTx/>
                  <a:latin typeface="Calibri" pitchFamily="34"/>
                  <a:ea typeface="Calibri" pitchFamily="34"/>
                  <a:cs typeface="Calibri" pitchFamily="34"/>
                </a:rPr>
                <a:t>. Vehicle speed adaptation.</a:t>
              </a:r>
              <a:endParaRPr lang="en-US" sz="1050" b="0" i="0" u="none" strike="noStrike" kern="1200" cap="none" spc="0" baseline="0" dirty="0">
                <a:solidFill>
                  <a:srgbClr val="111931"/>
                </a:solidFill>
                <a:uFillTx/>
                <a:latin typeface="Calibri"/>
              </a:endParaRPr>
            </a:p>
          </p:txBody>
        </p:sp>
      </p:grpSp>
      <p:grpSp>
        <p:nvGrpSpPr>
          <p:cNvPr id="58" name="Grupa 57"/>
          <p:cNvGrpSpPr/>
          <p:nvPr/>
        </p:nvGrpSpPr>
        <p:grpSpPr>
          <a:xfrm>
            <a:off x="4663440" y="2982468"/>
            <a:ext cx="4206240" cy="612000"/>
            <a:chOff x="4663440" y="2906268"/>
            <a:chExt cx="4206240" cy="612000"/>
          </a:xfrm>
        </p:grpSpPr>
        <p:sp>
          <p:nvSpPr>
            <p:cNvPr id="36" name="Shape 34"/>
            <p:cNvSpPr/>
            <p:nvPr/>
          </p:nvSpPr>
          <p:spPr>
            <a:xfrm>
              <a:off x="4663440" y="2906268"/>
              <a:ext cx="420624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Shape 35"/>
            <p:cNvSpPr/>
            <p:nvPr/>
          </p:nvSpPr>
          <p:spPr>
            <a:xfrm>
              <a:off x="4663440" y="2906268"/>
              <a:ext cx="54864" cy="612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Text 36"/>
            <p:cNvSpPr/>
            <p:nvPr/>
          </p:nvSpPr>
          <p:spPr>
            <a:xfrm>
              <a:off x="4791456" y="291693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Tobii DX (eye tracking)</a:t>
              </a:r>
              <a:endParaRPr lang="en-US" sz="1150" b="0" i="0" u="none" strike="noStrike" kern="1200" cap="none" spc="0" baseline="0">
                <a:solidFill>
                  <a:srgbClr val="000000"/>
                </a:solidFill>
                <a:uFillTx/>
                <a:latin typeface="Calibri"/>
              </a:endParaRPr>
            </a:p>
          </p:txBody>
        </p:sp>
        <p:sp>
          <p:nvSpPr>
            <p:cNvPr id="39" name="Text 37"/>
            <p:cNvSpPr/>
            <p:nvPr/>
          </p:nvSpPr>
          <p:spPr>
            <a:xfrm>
              <a:off x="4791456" y="318211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Eye tracking w Subaru Solterra. Gaze heatmapy dla wnętrza. Poziom skupienia na drodze vs na ekranie.</a:t>
              </a:r>
              <a:endParaRPr lang="en-US" sz="1050" b="0" i="0" u="none" strike="noStrike" kern="1200" cap="none" spc="0" baseline="0">
                <a:solidFill>
                  <a:srgbClr val="111931"/>
                </a:solidFill>
                <a:uFillTx/>
                <a:latin typeface="Calibri"/>
              </a:endParaRPr>
            </a:p>
          </p:txBody>
        </p:sp>
      </p:grpSp>
      <p:grpSp>
        <p:nvGrpSpPr>
          <p:cNvPr id="59" name="Grupa 58"/>
          <p:cNvGrpSpPr/>
          <p:nvPr/>
        </p:nvGrpSpPr>
        <p:grpSpPr>
          <a:xfrm>
            <a:off x="4663440" y="3675888"/>
            <a:ext cx="4206240" cy="612000"/>
            <a:chOff x="4663440" y="3645408"/>
            <a:chExt cx="4206240" cy="612000"/>
          </a:xfrm>
        </p:grpSpPr>
        <p:sp>
          <p:nvSpPr>
            <p:cNvPr id="40" name="Shape 38"/>
            <p:cNvSpPr/>
            <p:nvPr/>
          </p:nvSpPr>
          <p:spPr>
            <a:xfrm>
              <a:off x="4663440" y="3645408"/>
              <a:ext cx="420624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4663440" y="3645408"/>
              <a:ext cx="54864" cy="612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791456" y="364845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NavInfo (China, Baidu)</a:t>
              </a:r>
              <a:endParaRPr lang="en-US" sz="1150" b="0" i="0" u="none" strike="noStrike" kern="1200" cap="none" spc="0" baseline="0">
                <a:solidFill>
                  <a:srgbClr val="000000"/>
                </a:solidFill>
                <a:uFillTx/>
                <a:latin typeface="Calibri"/>
              </a:endParaRPr>
            </a:p>
          </p:txBody>
        </p:sp>
        <p:sp>
          <p:nvSpPr>
            <p:cNvPr id="43" name="Text 41"/>
            <p:cNvSpPr/>
            <p:nvPr/>
          </p:nvSpPr>
          <p:spPr>
            <a:xfrm>
              <a:off x="4791456" y="391363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5G connected DMS + cloud emotion analytics. Dane flotowe. ADAS integration: pre-brake gdy sen detektowany.</a:t>
              </a:r>
              <a:endParaRPr lang="en-US" sz="1050" b="0" i="0" u="none" strike="noStrike" kern="1200" cap="none" spc="0" baseline="0">
                <a:solidFill>
                  <a:srgbClr val="111931"/>
                </a:solidFill>
                <a:uFillTx/>
                <a:latin typeface="Calibri"/>
              </a:endParaRPr>
            </a:p>
          </p:txBody>
        </p:sp>
      </p:grpSp>
      <p:grpSp>
        <p:nvGrpSpPr>
          <p:cNvPr id="60" name="Grupa 59"/>
          <p:cNvGrpSpPr/>
          <p:nvPr/>
        </p:nvGrpSpPr>
        <p:grpSpPr>
          <a:xfrm>
            <a:off x="4663440" y="4361688"/>
            <a:ext cx="4206240" cy="576000"/>
            <a:chOff x="4663440" y="4376928"/>
            <a:chExt cx="4206240" cy="576000"/>
          </a:xfrm>
        </p:grpSpPr>
        <p:sp>
          <p:nvSpPr>
            <p:cNvPr id="44" name="Shape 42"/>
            <p:cNvSpPr/>
            <p:nvPr/>
          </p:nvSpPr>
          <p:spPr>
            <a:xfrm>
              <a:off x="4663440" y="437692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5" name="Shape 43"/>
            <p:cNvSpPr/>
            <p:nvPr/>
          </p:nvSpPr>
          <p:spPr>
            <a:xfrm>
              <a:off x="4663440" y="4376928"/>
              <a:ext cx="54864" cy="57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Text 44"/>
            <p:cNvSpPr/>
            <p:nvPr/>
          </p:nvSpPr>
          <p:spPr>
            <a:xfrm>
              <a:off x="4791456" y="437997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a:solidFill>
                    <a:srgbClr val="1F1535"/>
                  </a:solidFill>
                  <a:uFillTx/>
                  <a:latin typeface="Cambria" pitchFamily="34"/>
                  <a:ea typeface="Cambria" pitchFamily="34"/>
                  <a:cs typeface="Cambria" pitchFamily="34"/>
                </a:rPr>
                <a:t>Bosch DMS Gen2 (Android)</a:t>
              </a:r>
              <a:endParaRPr lang="en-US" sz="1150" b="0" i="0" u="none" strike="noStrike" kern="1200" cap="none" spc="0" baseline="0">
                <a:solidFill>
                  <a:srgbClr val="000000"/>
                </a:solidFill>
                <a:uFillTx/>
                <a:latin typeface="Calibri"/>
              </a:endParaRPr>
            </a:p>
          </p:txBody>
        </p:sp>
        <p:sp>
          <p:nvSpPr>
            <p:cNvPr id="47" name="Text 45"/>
            <p:cNvSpPr/>
            <p:nvPr/>
          </p:nvSpPr>
          <p:spPr>
            <a:xfrm>
              <a:off x="4791456" y="464515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a:solidFill>
                    <a:srgbClr val="111931"/>
                  </a:solidFill>
                  <a:uFillTx/>
                  <a:latin typeface="Calibri" pitchFamily="34"/>
                  <a:ea typeface="Calibri" pitchFamily="34"/>
                  <a:cs typeface="Calibri" pitchFamily="34"/>
                </a:rPr>
                <a:t>Android Automotive OS + Bosch SDK. On-device TFLite INT8. Head + eyes + mouth w jednym modelu 3.2MB.</a:t>
              </a:r>
              <a:endParaRPr lang="en-US" sz="1050" b="0" i="0" u="none" strike="noStrike" kern="1200" cap="none" spc="0" baseline="0">
                <a:solidFill>
                  <a:srgbClr val="111931"/>
                </a:solidFill>
                <a:uFillTx/>
                <a:latin typeface="Calibri"/>
              </a:endParaRPr>
            </a:p>
          </p:txBody>
        </p:sp>
      </p:grpSp>
      <p:sp>
        <p:nvSpPr>
          <p:cNvPr id="61"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22</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3F9FF"/>
        </a:solidFill>
        <a:effectLst/>
      </p:bgPr>
    </p:bg>
    <p:spTree>
      <p:nvGrpSpPr>
        <p:cNvPr id="1" name=""/>
        <p:cNvGrpSpPr/>
        <p:nvPr/>
      </p:nvGrpSpPr>
      <p:grpSpPr>
        <a:xfrm>
          <a:off x="0" y="0"/>
          <a:ext cx="0" cy="0"/>
          <a:chOff x="0" y="0"/>
          <a:chExt cx="0" cy="0"/>
        </a:xfrm>
      </p:grpSpPr>
      <p:grpSp>
        <p:nvGrpSpPr>
          <p:cNvPr id="41" name="Grupa 40"/>
          <p:cNvGrpSpPr/>
          <p:nvPr/>
        </p:nvGrpSpPr>
        <p:grpSpPr>
          <a:xfrm>
            <a:off x="0" y="0"/>
            <a:ext cx="9144000" cy="558000"/>
            <a:chOff x="0" y="0"/>
            <a:chExt cx="9144000" cy="558000"/>
          </a:xfrm>
        </p:grpSpPr>
        <p:sp>
          <p:nvSpPr>
            <p:cNvPr id="42"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g</a:t>
            </a:r>
            <a:r>
              <a:rPr lang="en-US" sz="2000" b="1" i="0" u="none" strike="noStrike" kern="1200" cap="none" spc="0" baseline="0" dirty="0" err="1" smtClean="0">
                <a:solidFill>
                  <a:srgbClr val="FFFFFF"/>
                </a:solidFill>
                <a:uFillTx/>
                <a:latin typeface="Cambria" pitchFamily="34"/>
                <a:ea typeface="Cambria" pitchFamily="34"/>
                <a:cs typeface="Cambria" pitchFamily="34"/>
              </a:rPr>
              <a:t>ry</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obilne</a:t>
            </a:r>
            <a:r>
              <a:rPr lang="pl-PL" sz="2000" b="1" dirty="0" smtClean="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ffective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g</a:t>
            </a:r>
            <a:r>
              <a:rPr lang="en-US" sz="2000" b="1" i="0" u="none" strike="noStrike" kern="1200" cap="none" spc="0" baseline="0" dirty="0" err="1" smtClean="0">
                <a:solidFill>
                  <a:srgbClr val="FFFFFF"/>
                </a:solidFill>
                <a:uFillTx/>
                <a:latin typeface="Cambria" pitchFamily="34"/>
                <a:ea typeface="Cambria" pitchFamily="34"/>
                <a:cs typeface="Cambria" pitchFamily="34"/>
              </a:rPr>
              <a:t>aming</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DDA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mocjonalne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360420" y="669538"/>
            <a:ext cx="5166360" cy="700549"/>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Gry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mobilne</a:t>
            </a:r>
            <a:r>
              <a:rPr lang="en-US" sz="1600" b="0" i="0" u="none" strike="noStrike" kern="1200" cap="none" spc="0" baseline="0" dirty="0">
                <a:solidFill>
                  <a:srgbClr val="111931"/>
                </a:solidFill>
                <a:uFillTx/>
                <a:latin typeface="Calibri" pitchFamily="34"/>
                <a:ea typeface="Calibri" pitchFamily="34"/>
                <a:cs typeface="Calibri" pitchFamily="34"/>
              </a:rPr>
              <a:t> to </a:t>
            </a:r>
            <a:r>
              <a:rPr lang="en-US" sz="1600" b="0" i="0" u="none" strike="noStrike" kern="1200" cap="none" spc="0" baseline="0" dirty="0" err="1">
                <a:solidFill>
                  <a:srgbClr val="111931"/>
                </a:solidFill>
                <a:uFillTx/>
                <a:latin typeface="Calibri" pitchFamily="34"/>
                <a:ea typeface="Calibri" pitchFamily="34"/>
                <a:cs typeface="Calibri" pitchFamily="34"/>
              </a:rPr>
              <a:t>naturalne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laboratorium</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dla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informatyki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afektywnej</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dirty="0" err="1" smtClean="0">
                <a:solidFill>
                  <a:srgbClr val="111931"/>
                </a:solidFill>
                <a:latin typeface="Calibri" pitchFamily="34"/>
                <a:ea typeface="Calibri" pitchFamily="34"/>
                <a:cs typeface="Calibri" pitchFamily="34"/>
              </a:rPr>
              <a:t>K</a:t>
            </a:r>
            <a:r>
              <a:rPr lang="en-US" sz="1600" b="0" i="0" u="none" strike="noStrike" kern="1200" cap="none" spc="0" baseline="0" dirty="0" err="1" smtClean="0">
                <a:solidFill>
                  <a:srgbClr val="111931"/>
                </a:solidFill>
                <a:uFillTx/>
                <a:latin typeface="Calibri" pitchFamily="34"/>
                <a:ea typeface="Calibri" pitchFamily="34"/>
                <a:cs typeface="Calibri" pitchFamily="34"/>
              </a:rPr>
              <a:t>ontroler</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gry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może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reagować</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strach</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gracza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jego</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nudę</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i</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ekscytację</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czasie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rzeczywistym</a:t>
            </a:r>
            <a:endParaRPr lang="en-US" sz="1600" b="0" i="0" u="none" strike="noStrike" kern="1200" cap="none" spc="0" baseline="0" dirty="0">
              <a:solidFill>
                <a:srgbClr val="111931"/>
              </a:solidFill>
              <a:uFillTx/>
              <a:latin typeface="Calibri"/>
            </a:endParaRPr>
          </a:p>
        </p:txBody>
      </p:sp>
      <p:sp>
        <p:nvSpPr>
          <p:cNvPr id="8" name="Text 6"/>
          <p:cNvSpPr/>
          <p:nvPr/>
        </p:nvSpPr>
        <p:spPr>
          <a:xfrm>
            <a:off x="129464" y="592043"/>
            <a:ext cx="3032911"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Sygnały</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afektywne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dostępne</a:t>
            </a:r>
            <a:r>
              <a:rPr lang="en-US" sz="1100" b="1" i="0" u="none" strike="noStrike" kern="1200" cap="none" spc="0" baseline="0" dirty="0">
                <a:solidFill>
                  <a:srgbClr val="1F1535"/>
                </a:solidFill>
                <a:uFillTx/>
                <a:latin typeface="Cambria" pitchFamily="34"/>
                <a:ea typeface="Cambria" pitchFamily="34"/>
                <a:cs typeface="Cambria" pitchFamily="34"/>
              </a:rPr>
              <a:t> w </a:t>
            </a:r>
            <a:r>
              <a:rPr lang="en-US" sz="1100" b="1" i="0" u="none" strike="noStrike" kern="1200" cap="none" spc="0" baseline="0" dirty="0" err="1" smtClean="0">
                <a:solidFill>
                  <a:srgbClr val="1F1535"/>
                </a:solidFill>
                <a:uFillTx/>
                <a:latin typeface="Cambria" pitchFamily="34"/>
                <a:ea typeface="Cambria" pitchFamily="34"/>
                <a:cs typeface="Cambria" pitchFamily="34"/>
              </a:rPr>
              <a:t>grach</a:t>
            </a:r>
            <a:endParaRPr lang="en-US" sz="1100" b="0" i="0" u="none" strike="noStrike" kern="1200" cap="none" spc="0" baseline="0" dirty="0">
              <a:solidFill>
                <a:srgbClr val="000000"/>
              </a:solidFill>
              <a:uFillTx/>
              <a:latin typeface="Calibri"/>
            </a:endParaRPr>
          </a:p>
        </p:txBody>
      </p:sp>
      <p:grpSp>
        <p:nvGrpSpPr>
          <p:cNvPr id="51" name="Grupa 50"/>
          <p:cNvGrpSpPr/>
          <p:nvPr/>
        </p:nvGrpSpPr>
        <p:grpSpPr>
          <a:xfrm>
            <a:off x="106755" y="832835"/>
            <a:ext cx="3055620" cy="2655955"/>
            <a:chOff x="106755" y="831185"/>
            <a:chExt cx="3055620" cy="2943474"/>
          </a:xfrm>
        </p:grpSpPr>
        <p:sp>
          <p:nvSpPr>
            <p:cNvPr id="9" name="Shape 7"/>
            <p:cNvSpPr/>
            <p:nvPr/>
          </p:nvSpPr>
          <p:spPr>
            <a:xfrm>
              <a:off x="106755" y="852647"/>
              <a:ext cx="30556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106755" y="852647"/>
              <a:ext cx="45719"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212732" y="831185"/>
              <a:ext cx="269818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Kamera</a:t>
              </a:r>
              <a:r>
                <a:rPr lang="en-US" sz="1100" b="1" i="0" u="none" strike="noStrike" kern="1200" cap="none" spc="0" baseline="0" dirty="0">
                  <a:solidFill>
                    <a:srgbClr val="1F1535"/>
                  </a:solidFill>
                  <a:uFillTx/>
                  <a:latin typeface="Cambria" pitchFamily="34"/>
                  <a:ea typeface="Cambria" pitchFamily="34"/>
                  <a:cs typeface="Cambria" pitchFamily="34"/>
                </a:rPr>
                <a:t> selfie</a:t>
              </a:r>
              <a:endParaRPr lang="en-US" sz="1100" b="0" i="0" u="none" strike="noStrike" kern="1200" cap="none" spc="0" baseline="0" dirty="0">
                <a:solidFill>
                  <a:srgbClr val="000000"/>
                </a:solidFill>
                <a:uFillTx/>
                <a:latin typeface="Calibri"/>
              </a:endParaRPr>
            </a:p>
          </p:txBody>
        </p:sp>
        <p:sp>
          <p:nvSpPr>
            <p:cNvPr id="12" name="Text 10"/>
            <p:cNvSpPr/>
            <p:nvPr/>
          </p:nvSpPr>
          <p:spPr>
            <a:xfrm>
              <a:off x="212732" y="1085819"/>
              <a:ext cx="2850583" cy="2103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Wyraz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podczas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smtClean="0">
                  <a:solidFill>
                    <a:srgbClr val="111931"/>
                  </a:solidFill>
                  <a:uFillTx/>
                  <a:latin typeface="Calibri" pitchFamily="34"/>
                  <a:ea typeface="Calibri" pitchFamily="34"/>
                  <a:cs typeface="Calibri" pitchFamily="34"/>
                </a:rPr>
                <a:t>gameplayu</a:t>
              </a:r>
              <a:r>
                <a:rPr lang="pl-PL" sz="1000" dirty="0" smtClean="0">
                  <a:solidFill>
                    <a:srgbClr val="111931"/>
                  </a:solidFill>
                  <a:latin typeface="Calibri" pitchFamily="34"/>
                  <a:ea typeface="Calibri" pitchFamily="34"/>
                  <a:cs typeface="Calibri" pitchFamily="34"/>
                </a:rPr>
                <a: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strach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ekscytacja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konfuzja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frustracja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ARKit</a:t>
              </a:r>
              <a:r>
                <a:rPr lang="en-US" sz="1000" b="0" i="0" u="none" strike="noStrike" kern="1200" cap="none" spc="0" baseline="0" dirty="0">
                  <a:solidFill>
                    <a:srgbClr val="111931"/>
                  </a:solidFill>
                  <a:uFillTx/>
                  <a:latin typeface="Calibri" pitchFamily="34"/>
                  <a:ea typeface="Calibri" pitchFamily="34"/>
                  <a:cs typeface="Calibri" pitchFamily="34"/>
                </a:rPr>
                <a:t> w iOS.</a:t>
              </a:r>
              <a:endParaRPr lang="en-US" sz="1000" b="0" i="0" u="none" strike="noStrike" kern="1200" cap="none" spc="0" baseline="0" dirty="0">
                <a:solidFill>
                  <a:srgbClr val="111931"/>
                </a:solidFill>
                <a:uFillTx/>
                <a:latin typeface="Calibri"/>
              </a:endParaRPr>
            </a:p>
          </p:txBody>
        </p:sp>
        <p:sp>
          <p:nvSpPr>
            <p:cNvPr id="13" name="Shape 11"/>
            <p:cNvSpPr/>
            <p:nvPr/>
          </p:nvSpPr>
          <p:spPr>
            <a:xfrm>
              <a:off x="106755" y="1450880"/>
              <a:ext cx="30556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106755" y="1450880"/>
              <a:ext cx="45719"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212732" y="1452278"/>
              <a:ext cx="2698183" cy="19557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smtClean="0">
                  <a:solidFill>
                    <a:srgbClr val="1F1535"/>
                  </a:solidFill>
                  <a:uFillTx/>
                  <a:latin typeface="Cambria" pitchFamily="34"/>
                  <a:ea typeface="Cambria" pitchFamily="34"/>
                  <a:cs typeface="Cambria" pitchFamily="34"/>
                </a:rPr>
                <a:t>Mikrofon</a:t>
              </a:r>
              <a:endParaRPr lang="en-US" sz="1100" b="0" i="0" u="none" strike="noStrike" kern="1200" cap="none" spc="0" baseline="0" dirty="0">
                <a:solidFill>
                  <a:srgbClr val="000000"/>
                </a:solidFill>
                <a:uFillTx/>
                <a:latin typeface="Calibri"/>
              </a:endParaRPr>
            </a:p>
          </p:txBody>
        </p:sp>
        <p:sp>
          <p:nvSpPr>
            <p:cNvPr id="16" name="Text 14"/>
            <p:cNvSpPr/>
            <p:nvPr/>
          </p:nvSpPr>
          <p:spPr>
            <a:xfrm>
              <a:off x="212732" y="1680683"/>
              <a:ext cx="2698183" cy="22962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Okrzyki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śmiech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przekleństwa</a:t>
              </a:r>
              <a:r>
                <a:rPr lang="en-US" sz="1000" b="0" i="0" u="none" strike="noStrike" kern="1200" cap="none" spc="0" baseline="0" dirty="0">
                  <a:solidFill>
                    <a:srgbClr val="111931"/>
                  </a:solidFill>
                  <a:uFillTx/>
                  <a:latin typeface="Calibri" pitchFamily="34"/>
                  <a:ea typeface="Calibri" pitchFamily="34"/>
                  <a:cs typeface="Calibri" pitchFamily="34"/>
                </a:rPr>
                <a:t> → SER w </a:t>
              </a:r>
              <a:r>
                <a:rPr lang="en-US" sz="1000" b="0" i="0" u="none" strike="noStrike" kern="1200" cap="none" spc="0" baseline="0" dirty="0" err="1">
                  <a:solidFill>
                    <a:srgbClr val="111931"/>
                  </a:solidFill>
                  <a:uFillTx/>
                  <a:latin typeface="Calibri" pitchFamily="34"/>
                  <a:ea typeface="Calibri" pitchFamily="34"/>
                  <a:cs typeface="Calibri" pitchFamily="34"/>
                </a:rPr>
                <a:t>czasie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rzeczywistym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Tylko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zgodą</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użytkownika</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sp>
          <p:nvSpPr>
            <p:cNvPr id="17" name="Shape 15"/>
            <p:cNvSpPr/>
            <p:nvPr/>
          </p:nvSpPr>
          <p:spPr>
            <a:xfrm>
              <a:off x="106755" y="2039843"/>
              <a:ext cx="30556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106755" y="2039843"/>
              <a:ext cx="45719" cy="540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212732" y="2042066"/>
              <a:ext cx="2583883" cy="18745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Touchscreen pressure &amp; speed</a:t>
              </a:r>
              <a:endParaRPr lang="en-US" sz="1100" b="0" i="0" u="none" strike="noStrike" kern="1200" cap="none" spc="0" baseline="0" dirty="0">
                <a:solidFill>
                  <a:srgbClr val="000000"/>
                </a:solidFill>
                <a:uFillTx/>
                <a:latin typeface="Calibri"/>
              </a:endParaRPr>
            </a:p>
          </p:txBody>
        </p:sp>
        <p:sp>
          <p:nvSpPr>
            <p:cNvPr id="20" name="Text 18"/>
            <p:cNvSpPr/>
            <p:nvPr/>
          </p:nvSpPr>
          <p:spPr>
            <a:xfrm>
              <a:off x="212732" y="2239487"/>
              <a:ext cx="2774383" cy="2590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Gwałtowne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tapnięcia</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frustracja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smtClean="0">
                  <a:solidFill>
                    <a:srgbClr val="111931"/>
                  </a:solidFill>
                  <a:uFillTx/>
                  <a:latin typeface="Calibri" pitchFamily="34"/>
                  <a:ea typeface="Calibri" pitchFamily="34"/>
                  <a:cs typeface="Calibri" pitchFamily="34"/>
                </a:rPr>
                <a:t>Spokojne</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zaangażowanie</a:t>
              </a:r>
              <a:r>
                <a:rPr lang="en-US" sz="1000" b="0" i="0" u="none" strike="noStrike" kern="1200" cap="none" spc="0" baseline="0" dirty="0">
                  <a:solidFill>
                    <a:srgbClr val="111931"/>
                  </a:solidFill>
                  <a:uFillTx/>
                  <a:latin typeface="Calibri" pitchFamily="34"/>
                  <a:ea typeface="Calibri" pitchFamily="34"/>
                  <a:cs typeface="Calibri" pitchFamily="34"/>
                </a:rPr>
                <a:t>. Android </a:t>
              </a:r>
              <a:r>
                <a:rPr lang="en-US" sz="1000" b="0" i="0" u="none" strike="noStrike" kern="1200" cap="none" spc="0" baseline="0" dirty="0" err="1">
                  <a:solidFill>
                    <a:srgbClr val="111931"/>
                  </a:solidFill>
                  <a:uFillTx/>
                  <a:latin typeface="Calibri" pitchFamily="34"/>
                  <a:ea typeface="Calibri" pitchFamily="34"/>
                  <a:cs typeface="Calibri" pitchFamily="34"/>
                </a:rPr>
                <a:t>MotionEvent.pressure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sp>
          <p:nvSpPr>
            <p:cNvPr id="21" name="Shape 19"/>
            <p:cNvSpPr/>
            <p:nvPr/>
          </p:nvSpPr>
          <p:spPr>
            <a:xfrm>
              <a:off x="106755" y="2637251"/>
              <a:ext cx="30556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106755" y="2637251"/>
              <a:ext cx="45719" cy="540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212732" y="2608994"/>
              <a:ext cx="2583883"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Czas</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reakcji</a:t>
              </a:r>
              <a:endParaRPr lang="en-US" sz="1100" b="0" i="0" u="none" strike="noStrike" kern="1200" cap="none" spc="0" baseline="0" dirty="0">
                <a:solidFill>
                  <a:srgbClr val="000000"/>
                </a:solidFill>
                <a:uFillTx/>
                <a:latin typeface="Calibri"/>
              </a:endParaRPr>
            </a:p>
          </p:txBody>
        </p:sp>
        <p:sp>
          <p:nvSpPr>
            <p:cNvPr id="24" name="Text 22"/>
            <p:cNvSpPr/>
            <p:nvPr/>
          </p:nvSpPr>
          <p:spPr>
            <a:xfrm>
              <a:off x="212732" y="2864327"/>
              <a:ext cx="2850583" cy="23164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Długi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czas</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trudność</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konfuzja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Zbyt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krótki</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automatyzm</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nuda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Optymalne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okno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wg</a:t>
              </a:r>
              <a:r>
                <a:rPr lang="en-US" sz="1000" b="0" i="0" u="none" strike="noStrike" kern="1200" cap="none" spc="0" baseline="0" dirty="0">
                  <a:solidFill>
                    <a:srgbClr val="111931"/>
                  </a:solidFill>
                  <a:uFillTx/>
                  <a:latin typeface="Calibri" pitchFamily="34"/>
                  <a:ea typeface="Calibri" pitchFamily="34"/>
                  <a:cs typeface="Calibri" pitchFamily="34"/>
                </a:rPr>
                <a:t> flow theory.</a:t>
              </a:r>
              <a:endParaRPr lang="en-US" sz="1000" b="0" i="0" u="none" strike="noStrike" kern="1200" cap="none" spc="0" baseline="0" dirty="0">
                <a:solidFill>
                  <a:srgbClr val="111931"/>
                </a:solidFill>
                <a:uFillTx/>
                <a:latin typeface="Calibri"/>
              </a:endParaRPr>
            </a:p>
          </p:txBody>
        </p:sp>
        <p:sp>
          <p:nvSpPr>
            <p:cNvPr id="25" name="Shape 23"/>
            <p:cNvSpPr/>
            <p:nvPr/>
          </p:nvSpPr>
          <p:spPr>
            <a:xfrm>
              <a:off x="106755" y="3234659"/>
              <a:ext cx="30556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106755" y="3234659"/>
              <a:ext cx="45719" cy="540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212732" y="3237707"/>
              <a:ext cx="2454343" cy="20980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IMU </a:t>
              </a:r>
              <a:r>
                <a:rPr lang="en-US" sz="1100" b="1" i="0" u="none" strike="noStrike" kern="1200" cap="none" spc="0" baseline="0" dirty="0" err="1">
                  <a:solidFill>
                    <a:srgbClr val="1F1535"/>
                  </a:solidFill>
                  <a:uFillTx/>
                  <a:latin typeface="Cambria" pitchFamily="34"/>
                  <a:ea typeface="Cambria" pitchFamily="34"/>
                  <a:cs typeface="Cambria" pitchFamily="34"/>
                </a:rPr>
                <a:t>telefonu</a:t>
              </a:r>
              <a:endParaRPr lang="en-US" sz="1100" b="0" i="0" u="none" strike="noStrike" kern="1200" cap="none" spc="0" baseline="0" dirty="0">
                <a:solidFill>
                  <a:srgbClr val="000000"/>
                </a:solidFill>
                <a:uFillTx/>
                <a:latin typeface="Calibri"/>
              </a:endParaRPr>
            </a:p>
          </p:txBody>
        </p:sp>
        <p:sp>
          <p:nvSpPr>
            <p:cNvPr id="28" name="Text 26"/>
            <p:cNvSpPr/>
            <p:nvPr/>
          </p:nvSpPr>
          <p:spPr>
            <a:xfrm>
              <a:off x="212732" y="3455834"/>
              <a:ext cx="2774383" cy="2291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Trzęsące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ręce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podczas</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napięcia</a:t>
              </a:r>
              <a:r>
                <a:rPr lang="en-US" sz="1000" b="0" i="0" u="none" strike="noStrike" kern="1200" cap="none" spc="0" baseline="0" dirty="0">
                  <a:solidFill>
                    <a:srgbClr val="111931"/>
                  </a:solidFill>
                  <a:uFillTx/>
                  <a:latin typeface="Calibri" pitchFamily="34"/>
                  <a:ea typeface="Calibri" pitchFamily="34"/>
                  <a:cs typeface="Calibri" pitchFamily="34"/>
                </a:rPr>
                <a:t>. </a:t>
              </a:r>
              <a:endParaRPr lang="pl-PL" sz="10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smtClean="0">
                  <a:solidFill>
                    <a:srgbClr val="111931"/>
                  </a:solidFill>
                  <a:uFillTx/>
                  <a:latin typeface="Calibri" pitchFamily="34"/>
                  <a:ea typeface="Calibri" pitchFamily="34"/>
                  <a:cs typeface="Calibri" pitchFamily="34"/>
                </a:rPr>
                <a:t>Rzucenie</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telefonem</a:t>
              </a:r>
              <a:r>
                <a:rPr lang="en-US" sz="1000" b="0" i="0" u="none" strike="noStrike" kern="1200" cap="none" spc="0" baseline="0" dirty="0">
                  <a:solidFill>
                    <a:srgbClr val="111931"/>
                  </a:solidFill>
                  <a:uFillTx/>
                  <a:latin typeface="Calibri" pitchFamily="34"/>
                  <a:ea typeface="Calibri" pitchFamily="34"/>
                  <a:cs typeface="Calibri" pitchFamily="34"/>
                </a:rPr>
                <a:t> → rage quit (&gt; 5g </a:t>
              </a:r>
              <a:r>
                <a:rPr lang="en-US" sz="1000" b="0" i="0" u="none" strike="noStrike" kern="1200" cap="none" spc="0" baseline="0" dirty="0" err="1">
                  <a:solidFill>
                    <a:srgbClr val="111931"/>
                  </a:solidFill>
                  <a:uFillTx/>
                  <a:latin typeface="Calibri" pitchFamily="34"/>
                  <a:ea typeface="Calibri" pitchFamily="34"/>
                  <a:cs typeface="Calibri" pitchFamily="34"/>
                </a:rPr>
                <a:t>szarpnięcie</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29" name="Text 27"/>
          <p:cNvSpPr/>
          <p:nvPr/>
        </p:nvSpPr>
        <p:spPr>
          <a:xfrm>
            <a:off x="5501640" y="1469459"/>
            <a:ext cx="33223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Emotional DDA (Dynamic Difficulty Adjustment</a:t>
            </a:r>
            <a:r>
              <a:rPr lang="en-US" sz="1100" b="1" i="0" u="none" strike="noStrike" kern="1200" cap="none" spc="0" baseline="0" dirty="0" smtClean="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30" name="Shape 28"/>
          <p:cNvSpPr/>
          <p:nvPr/>
        </p:nvSpPr>
        <p:spPr>
          <a:xfrm>
            <a:off x="5501640" y="1707038"/>
            <a:ext cx="3368040" cy="3222441"/>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7882128" y="1707039"/>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p>
        </p:txBody>
      </p:sp>
      <p:sp>
        <p:nvSpPr>
          <p:cNvPr id="32" name="Text 30"/>
          <p:cNvSpPr/>
          <p:nvPr/>
        </p:nvSpPr>
        <p:spPr>
          <a:xfrm>
            <a:off x="5542862" y="1740401"/>
            <a:ext cx="3253665" cy="3158947"/>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Emotional DDA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reaguj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stan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emocjonalny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gracza</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EmotionalDDA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game: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GameEngine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EmotionalState.NEUTRAL</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Reguły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adaptacji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Csikszentmihalyi</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Flow</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fun adapt(state: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EmotionalState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level: Level)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when (state)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BORED -&gt;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level.increaseEnemySpeed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(1.1f)</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level.addMiniChallenge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Boredom: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zbyt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łatwe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podnieś</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trudność</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FRUSTRATED -&gt;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level.decreaseEnemyDamage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(0.85f)</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level.showHint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Frustration: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zbyt</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trudne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ułatw</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SCARED -&gt;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Strach</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zaangażowanie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Nie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zmieniaj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level.addAmbientSound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potęguj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tension</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JOYFUL -&gt; {</a:t>
            </a: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Flow state!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Utrzymaj</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wyzwanie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umiejętności</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level.matchDifficultyToSkill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grpSp>
        <p:nvGrpSpPr>
          <p:cNvPr id="45" name="Grupa 44"/>
          <p:cNvGrpSpPr/>
          <p:nvPr/>
        </p:nvGrpSpPr>
        <p:grpSpPr>
          <a:xfrm>
            <a:off x="106755" y="3764988"/>
            <a:ext cx="4206240" cy="544573"/>
            <a:chOff x="4663440" y="3502151"/>
            <a:chExt cx="4206240" cy="544573"/>
          </a:xfrm>
        </p:grpSpPr>
        <p:sp>
          <p:nvSpPr>
            <p:cNvPr id="33" name="Shape 31"/>
            <p:cNvSpPr/>
            <p:nvPr/>
          </p:nvSpPr>
          <p:spPr>
            <a:xfrm>
              <a:off x="4663440" y="3506724"/>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Shape 32"/>
            <p:cNvSpPr/>
            <p:nvPr/>
          </p:nvSpPr>
          <p:spPr>
            <a:xfrm>
              <a:off x="4663440" y="3506724"/>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4791456" y="3502151"/>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Resident Evil biofeedback (Capcom)</a:t>
              </a:r>
              <a:endParaRPr lang="en-US" sz="1100" b="0" i="0" u="none" strike="noStrike" kern="1200" cap="none" spc="0" baseline="0" dirty="0">
                <a:solidFill>
                  <a:srgbClr val="000000"/>
                </a:solidFill>
                <a:uFillTx/>
                <a:latin typeface="Calibri"/>
              </a:endParaRPr>
            </a:p>
          </p:txBody>
        </p:sp>
        <p:sp>
          <p:nvSpPr>
            <p:cNvPr id="36" name="Text 34"/>
            <p:cNvSpPr/>
            <p:nvPr/>
          </p:nvSpPr>
          <p:spPr>
            <a:xfrm>
              <a:off x="4754880" y="3729227"/>
              <a:ext cx="411480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Prototyp</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E3 2019: EDA z wearable → </a:t>
              </a:r>
              <a:r>
                <a:rPr lang="en-US" sz="1000" b="0" i="0" u="none" strike="noStrike" kern="1200" cap="none" spc="0" baseline="0" dirty="0" err="1">
                  <a:solidFill>
                    <a:srgbClr val="111931"/>
                  </a:solidFill>
                  <a:uFillTx/>
                  <a:latin typeface="Calibri" pitchFamily="34"/>
                  <a:ea typeface="Calibri" pitchFamily="34"/>
                  <a:cs typeface="Calibri" pitchFamily="34"/>
                </a:rPr>
                <a:t>im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bardziej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przerażony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gracz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tym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ciemniejsze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pomieszczenia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wolniejszy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ruch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postaci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Strach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jako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mechanika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gry</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44" name="Grupa 43"/>
          <p:cNvGrpSpPr/>
          <p:nvPr/>
        </p:nvGrpSpPr>
        <p:grpSpPr>
          <a:xfrm>
            <a:off x="106755" y="4344109"/>
            <a:ext cx="4206240" cy="540000"/>
            <a:chOff x="4663440" y="4180332"/>
            <a:chExt cx="4206240" cy="540000"/>
          </a:xfrm>
        </p:grpSpPr>
        <p:sp>
          <p:nvSpPr>
            <p:cNvPr id="37" name="Shape 35"/>
            <p:cNvSpPr/>
            <p:nvPr/>
          </p:nvSpPr>
          <p:spPr>
            <a:xfrm>
              <a:off x="4663440" y="4180332"/>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Shape 36"/>
            <p:cNvSpPr/>
            <p:nvPr/>
          </p:nvSpPr>
          <p:spPr>
            <a:xfrm>
              <a:off x="4663440" y="4180332"/>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Text 37"/>
            <p:cNvSpPr/>
            <p:nvPr/>
          </p:nvSpPr>
          <p:spPr>
            <a:xfrm>
              <a:off x="4791456" y="418338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Nevermind</a:t>
              </a:r>
              <a:r>
                <a:rPr lang="en-US" sz="1100" b="1" i="0" u="none" strike="noStrike" kern="1200" cap="none" spc="0" baseline="0" dirty="0">
                  <a:solidFill>
                    <a:srgbClr val="1F1535"/>
                  </a:solidFill>
                  <a:uFillTx/>
                  <a:latin typeface="Cambria" pitchFamily="34"/>
                  <a:ea typeface="Cambria" pitchFamily="34"/>
                  <a:cs typeface="Cambria" pitchFamily="34"/>
                </a:rPr>
                <a:t> (2015, </a:t>
              </a:r>
              <a:r>
                <a:rPr lang="en-US" sz="1100" b="1" i="0" u="none" strike="noStrike" kern="1200" cap="none" spc="0" baseline="0" dirty="0" err="1">
                  <a:solidFill>
                    <a:srgbClr val="1F1535"/>
                  </a:solidFill>
                  <a:uFillTx/>
                  <a:latin typeface="Cambria" pitchFamily="34"/>
                  <a:ea typeface="Cambria" pitchFamily="34"/>
                  <a:cs typeface="Cambria" pitchFamily="34"/>
                </a:rPr>
                <a:t>PC→Mobile</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40" name="Text 38"/>
            <p:cNvSpPr/>
            <p:nvPr/>
          </p:nvSpPr>
          <p:spPr>
            <a:xfrm>
              <a:off x="4791456" y="4425696"/>
              <a:ext cx="4023360" cy="2194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Gra</a:t>
              </a:r>
              <a:r>
                <a:rPr lang="en-US" sz="1000" b="0" i="0" u="none" strike="noStrike" kern="1200" cap="none" spc="0" baseline="0" dirty="0">
                  <a:solidFill>
                    <a:srgbClr val="111931"/>
                  </a:solidFill>
                  <a:uFillTx/>
                  <a:latin typeface="Calibri" pitchFamily="34"/>
                  <a:ea typeface="Calibri" pitchFamily="34"/>
                  <a:cs typeface="Calibri" pitchFamily="34"/>
                </a:rPr>
                <a:t> horror </a:t>
              </a:r>
              <a:r>
                <a:rPr lang="en-US" sz="1000" b="0" i="0" u="none" strike="noStrike" kern="1200" cap="none" spc="0" baseline="0" dirty="0" err="1">
                  <a:solidFill>
                    <a:srgbClr val="111931"/>
                  </a:solidFill>
                  <a:uFillTx/>
                  <a:latin typeface="Calibri" pitchFamily="34"/>
                  <a:ea typeface="Calibri" pitchFamily="34"/>
                  <a:cs typeface="Calibri" pitchFamily="34"/>
                </a:rPr>
                <a:t>gdzie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strach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mierzony</a:t>
              </a:r>
              <a:r>
                <a:rPr lang="en-US" sz="1000" b="0" i="0" u="none" strike="noStrike" kern="1200" cap="none" spc="0" baseline="0" dirty="0">
                  <a:solidFill>
                    <a:srgbClr val="111931"/>
                  </a:solidFill>
                  <a:uFillTx/>
                  <a:latin typeface="Calibri" pitchFamily="34"/>
                  <a:ea typeface="Calibri" pitchFamily="34"/>
                  <a:cs typeface="Calibri" pitchFamily="34"/>
                </a:rPr>
                <a:t> HRV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EDA → </a:t>
              </a:r>
              <a:r>
                <a:rPr lang="en-US" sz="1000" b="0" i="0" u="none" strike="noStrike" kern="1200" cap="none" spc="0" baseline="0" dirty="0" err="1">
                  <a:solidFill>
                    <a:srgbClr val="111931"/>
                  </a:solidFill>
                  <a:uFillTx/>
                  <a:latin typeface="Calibri" pitchFamily="34"/>
                  <a:ea typeface="Calibri" pitchFamily="34"/>
                  <a:cs typeface="Calibri" pitchFamily="34"/>
                </a:rPr>
                <a:t>poziom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trudności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rosnący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zrelaksujesz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się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Cel</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nauka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regulacji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emocjonalnej</a:t>
              </a:r>
              <a:r>
                <a:rPr lang="en-US" sz="1000" b="0" i="0" u="none" strike="noStrike" kern="1200" cap="none" spc="0" baseline="0" dirty="0">
                  <a:solidFill>
                    <a:srgbClr val="111931"/>
                  </a:solidFill>
                  <a:uFillTx/>
                  <a:latin typeface="Calibri" pitchFamily="34"/>
                  <a:ea typeface="Calibri" pitchFamily="34"/>
                  <a:cs typeface="Calibri" pitchFamily="34"/>
                </a:rPr>
                <a:t>. Research game.</a:t>
              </a:r>
              <a:endParaRPr lang="en-US" sz="1000" b="0" i="0" u="none" strike="noStrike" kern="1200" cap="none" spc="0" baseline="0" dirty="0">
                <a:solidFill>
                  <a:srgbClr val="111931"/>
                </a:solidFill>
                <a:uFillTx/>
                <a:latin typeface="Calibri"/>
              </a:endParaRPr>
            </a:p>
          </p:txBody>
        </p:sp>
      </p:grpSp>
      <p:cxnSp>
        <p:nvCxnSpPr>
          <p:cNvPr id="53" name="Łącznik prosty 52"/>
          <p:cNvCxnSpPr/>
          <p:nvPr/>
        </p:nvCxnSpPr>
        <p:spPr>
          <a:xfrm>
            <a:off x="106755" y="3649980"/>
            <a:ext cx="3116505" cy="0"/>
          </a:xfrm>
          <a:prstGeom prst="line">
            <a:avLst/>
          </a:prstGeom>
          <a:ln w="12700">
            <a:solidFill>
              <a:srgbClr val="2053C6"/>
            </a:solidFill>
          </a:ln>
        </p:spPr>
        <p:style>
          <a:lnRef idx="1">
            <a:schemeClr val="accent1"/>
          </a:lnRef>
          <a:fillRef idx="0">
            <a:schemeClr val="accent1"/>
          </a:fillRef>
          <a:effectRef idx="0">
            <a:schemeClr val="accent1"/>
          </a:effectRef>
          <a:fontRef idx="minor">
            <a:schemeClr val="tx1"/>
          </a:fontRef>
        </p:style>
      </p:cxnSp>
      <p:sp>
        <p:nvSpPr>
          <p:cNvPr id="54"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23</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9FF"/>
        </a:solidFill>
        <a:effectLst/>
      </p:bgPr>
    </p:bg>
    <p:spTree>
      <p:nvGrpSpPr>
        <p:cNvPr id="1" name=""/>
        <p:cNvGrpSpPr/>
        <p:nvPr/>
      </p:nvGrpSpPr>
      <p:grpSpPr>
        <a:xfrm>
          <a:off x="0" y="0"/>
          <a:ext cx="0" cy="0"/>
          <a:chOff x="0" y="0"/>
          <a:chExt cx="0" cy="0"/>
        </a:xfrm>
      </p:grpSpPr>
      <p:grpSp>
        <p:nvGrpSpPr>
          <p:cNvPr id="50" name="Grupa 49"/>
          <p:cNvGrpSpPr/>
          <p:nvPr/>
        </p:nvGrpSpPr>
        <p:grpSpPr>
          <a:xfrm>
            <a:off x="0" y="0"/>
            <a:ext cx="9144000" cy="558000"/>
            <a:chOff x="0" y="0"/>
            <a:chExt cx="9144000" cy="558000"/>
          </a:xfrm>
        </p:grpSpPr>
        <p:sp>
          <p:nvSpPr>
            <p:cNvPr id="51"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2"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HR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r</a:t>
            </a:r>
            <a:r>
              <a:rPr lang="en-US" sz="2000" b="1" i="0" u="none" strike="noStrike" kern="1200" cap="none" spc="0" baseline="0" dirty="0" err="1" smtClean="0">
                <a:solidFill>
                  <a:srgbClr val="FFFFFF"/>
                </a:solidFill>
                <a:uFillTx/>
                <a:latin typeface="Cambria" pitchFamily="34"/>
                <a:ea typeface="Cambria" pitchFamily="34"/>
                <a:cs typeface="Cambria" pitchFamily="34"/>
              </a:rPr>
              <a:t>ekrutacja</a:t>
            </a:r>
            <a:r>
              <a:rPr lang="pl-PL" sz="2000" b="1" dirty="0" smtClean="0">
                <a:solidFill>
                  <a:srgbClr val="FFFFFF"/>
                </a:solidFill>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k</a:t>
            </a:r>
            <a:r>
              <a:rPr lang="en-US" sz="2000" b="1" i="0" u="none" strike="noStrike" kern="1200" cap="none" spc="0" baseline="0" dirty="0" err="1" smtClean="0">
                <a:solidFill>
                  <a:srgbClr val="FFFFFF"/>
                </a:solidFill>
                <a:uFillTx/>
                <a:latin typeface="Cambria" pitchFamily="34"/>
                <a:ea typeface="Cambria" pitchFamily="34"/>
                <a:cs typeface="Cambria" pitchFamily="34"/>
              </a:rPr>
              <a:t>ontrowersje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e</a:t>
            </a:r>
            <a:r>
              <a:rPr lang="en-US" sz="2000" b="1" i="0" u="none" strike="noStrike" kern="1200" cap="none" spc="0" baseline="0" dirty="0" err="1" smtClean="0">
                <a:solidFill>
                  <a:srgbClr val="FFFFFF"/>
                </a:solidFill>
                <a:uFillTx/>
                <a:latin typeface="Cambria" pitchFamily="34"/>
                <a:ea typeface="Cambria" pitchFamily="34"/>
                <a:cs typeface="Cambria" pitchFamily="34"/>
              </a:rPr>
              <a:t>tyka</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95160"/>
            <a:ext cx="8503920" cy="547188"/>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uFillTx/>
                <a:latin typeface="Calibri" pitchFamily="34"/>
                <a:ea typeface="Calibri" pitchFamily="34"/>
                <a:cs typeface="Calibri" pitchFamily="34"/>
              </a:rPr>
              <a:t>Analiza</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emocji</a:t>
            </a:r>
            <a:r>
              <a:rPr lang="en-US" sz="1600" b="0" i="0" u="none" strike="noStrike" kern="1200" cap="none" spc="0" baseline="0" dirty="0">
                <a:uFillTx/>
                <a:latin typeface="Calibri" pitchFamily="34"/>
                <a:ea typeface="Calibri" pitchFamily="34"/>
                <a:cs typeface="Calibri" pitchFamily="34"/>
              </a:rPr>
              <a:t> w </a:t>
            </a:r>
            <a:r>
              <a:rPr lang="en-US" sz="1600" b="0" i="0" u="none" strike="noStrike" kern="1200" cap="none" spc="0" baseline="0" dirty="0" err="1">
                <a:uFillTx/>
                <a:latin typeface="Calibri" pitchFamily="34"/>
                <a:ea typeface="Calibri" pitchFamily="34"/>
                <a:cs typeface="Calibri" pitchFamily="34"/>
              </a:rPr>
              <a:t>rekrutacji</a:t>
            </a:r>
            <a:r>
              <a:rPr lang="en-US" sz="1600" b="0" i="0" u="none" strike="noStrike" kern="1200" cap="none" spc="0" baseline="0" dirty="0">
                <a:uFillTx/>
                <a:latin typeface="Calibri" pitchFamily="34"/>
                <a:ea typeface="Calibri" pitchFamily="34"/>
                <a:cs typeface="Calibri" pitchFamily="34"/>
              </a:rPr>
              <a:t> to </a:t>
            </a:r>
            <a:r>
              <a:rPr lang="en-US" sz="1600" b="0" i="0" u="none" strike="noStrike" kern="1200" cap="none" spc="0" baseline="0" dirty="0" err="1">
                <a:uFillTx/>
                <a:latin typeface="Calibri" pitchFamily="34"/>
                <a:ea typeface="Calibri" pitchFamily="34"/>
                <a:cs typeface="Calibri" pitchFamily="34"/>
              </a:rPr>
              <a:t>jedno</a:t>
            </a:r>
            <a:r>
              <a:rPr lang="en-US" sz="1600" b="0" i="0" u="none" strike="noStrike" kern="1200" cap="none" spc="0" baseline="0" dirty="0">
                <a:uFillTx/>
                <a:latin typeface="Calibri" pitchFamily="34"/>
                <a:ea typeface="Calibri" pitchFamily="34"/>
                <a:cs typeface="Calibri" pitchFamily="34"/>
              </a:rPr>
              <a:t> z </a:t>
            </a:r>
            <a:r>
              <a:rPr lang="en-US" sz="1600" b="0" i="0" u="none" strike="noStrike" kern="1200" cap="none" spc="0" baseline="0" dirty="0" err="1">
                <a:uFillTx/>
                <a:latin typeface="Calibri" pitchFamily="34"/>
                <a:ea typeface="Calibri" pitchFamily="34"/>
                <a:cs typeface="Calibri" pitchFamily="34"/>
              </a:rPr>
              <a:t>najbardziej</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kontrowersyjnych</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smtClean="0">
                <a:uFillTx/>
                <a:latin typeface="Calibri" pitchFamily="34"/>
                <a:ea typeface="Calibri" pitchFamily="34"/>
                <a:cs typeface="Calibri" pitchFamily="34"/>
              </a:rPr>
              <a:t>zastosowań</a:t>
            </a:r>
            <a:r>
              <a:rPr lang="pl-PL" sz="1600" dirty="0" smtClean="0">
                <a:latin typeface="Calibri" pitchFamily="34"/>
                <a:ea typeface="Calibri" pitchFamily="34"/>
                <a:cs typeface="Calibri" pitchFamily="34"/>
              </a:rPr>
              <a:t>.</a:t>
            </a:r>
            <a:r>
              <a:rPr lang="en-US" sz="1600" b="0" i="0" u="none" strike="noStrike" kern="1200" cap="none" spc="0" baseline="0" dirty="0" smtClean="0">
                <a:uFillTx/>
                <a:latin typeface="Calibri" pitchFamily="34"/>
                <a:ea typeface="Calibri" pitchFamily="34"/>
                <a:cs typeface="Calibri" pitchFamily="34"/>
              </a:rPr>
              <a:t> </a:t>
            </a:r>
            <a:endParaRPr lang="pl-PL" sz="1600" b="0" i="0" u="none" strike="noStrike" kern="1200" cap="none" spc="0" baseline="0" dirty="0" smtClean="0">
              <a:uFillTx/>
              <a:latin typeface="Calibri" pitchFamily="34"/>
              <a:ea typeface="Calibri" pitchFamily="34"/>
              <a:cs typeface="Calibri" pitchFamily="34"/>
            </a:endParaRPr>
          </a:p>
          <a:p>
            <a:pPr marL="0" marR="0" lvl="0" indent="0" algn="ctr" defTabSz="914400" rtl="0" fontAlgn="auto" hangingPunct="1">
              <a:lnSpc>
                <a:spcPct val="150000"/>
              </a:lnSpc>
              <a:spcBef>
                <a:spcPts val="0"/>
              </a:spcBef>
              <a:spcAft>
                <a:spcPts val="0"/>
              </a:spcAft>
              <a:buNone/>
              <a:tabLst/>
              <a:defRPr sz="1800" b="0" i="0" u="none" strike="noStrike" kern="0" cap="none" spc="0" baseline="0">
                <a:solidFill>
                  <a:srgbClr val="000000"/>
                </a:solidFill>
                <a:uFillTx/>
              </a:defRPr>
            </a:pPr>
            <a:r>
              <a:rPr lang="pl-PL" sz="1600" b="0" i="0" u="none" strike="noStrike" kern="1200" cap="none" spc="0" baseline="0" dirty="0" smtClean="0">
                <a:uFillTx/>
                <a:latin typeface="Calibri" pitchFamily="34"/>
                <a:ea typeface="Calibri" pitchFamily="34"/>
                <a:cs typeface="Calibri" pitchFamily="34"/>
              </a:rPr>
              <a:t>P</a:t>
            </a:r>
            <a:r>
              <a:rPr lang="en-US" sz="1600" b="0" i="0" u="none" strike="noStrike" kern="1200" cap="none" spc="0" baseline="0" dirty="0" err="1" smtClean="0">
                <a:uFillTx/>
                <a:latin typeface="Calibri" pitchFamily="34"/>
                <a:ea typeface="Calibri" pitchFamily="34"/>
                <a:cs typeface="Calibri" pitchFamily="34"/>
              </a:rPr>
              <a:t>otencjalne</a:t>
            </a:r>
            <a:r>
              <a:rPr lang="en-US" sz="1600" b="0" i="0" u="none" strike="noStrike" kern="1200" cap="none" spc="0" baseline="0" dirty="0" smtClean="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korzyści</a:t>
            </a:r>
            <a:r>
              <a:rPr lang="en-US" sz="1600" b="0" i="0" u="none" strike="noStrike" kern="1200" cap="none" spc="0" baseline="0" dirty="0">
                <a:uFillTx/>
                <a:latin typeface="Calibri" pitchFamily="34"/>
                <a:ea typeface="Calibri" pitchFamily="34"/>
                <a:cs typeface="Calibri" pitchFamily="34"/>
              </a:rPr>
              <a:t> vs </a:t>
            </a:r>
            <a:r>
              <a:rPr lang="en-US" sz="1600" b="0" i="0" u="none" strike="noStrike" kern="1200" cap="none" spc="0" baseline="0" dirty="0" err="1">
                <a:uFillTx/>
                <a:latin typeface="Calibri" pitchFamily="34"/>
                <a:ea typeface="Calibri" pitchFamily="34"/>
                <a:cs typeface="Calibri" pitchFamily="34"/>
              </a:rPr>
              <a:t>poważne</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zagrożenia</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dyskryminacji</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i</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błędów</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algorytmu</a:t>
            </a:r>
            <a:endParaRPr lang="en-US" sz="1600" b="0" i="0" u="none" strike="noStrike" kern="1200" cap="none" spc="0" baseline="0" dirty="0">
              <a:uFillTx/>
              <a:latin typeface="Calibri"/>
            </a:endParaRPr>
          </a:p>
        </p:txBody>
      </p:sp>
      <p:sp>
        <p:nvSpPr>
          <p:cNvPr id="8" name="Text 6"/>
          <p:cNvSpPr/>
          <p:nvPr/>
        </p:nvSpPr>
        <p:spPr>
          <a:xfrm>
            <a:off x="289560" y="158800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Technologia</a:t>
            </a:r>
            <a:r>
              <a:rPr lang="en-US" sz="1300" b="1" i="0" u="none" strike="noStrike" kern="1200" cap="none" spc="0" baseline="0" dirty="0">
                <a:solidFill>
                  <a:srgbClr val="1F1535"/>
                </a:solidFill>
                <a:uFillTx/>
                <a:latin typeface="Cambria" pitchFamily="34"/>
                <a:ea typeface="Cambria" pitchFamily="34"/>
                <a:cs typeface="Cambria" pitchFamily="34"/>
              </a:rPr>
              <a:t> </a:t>
            </a:r>
            <a:r>
              <a:rPr lang="en-US" sz="1300" b="1" i="0" u="none" strike="noStrike" kern="1200" cap="none" spc="0" baseline="0" dirty="0" err="1">
                <a:solidFill>
                  <a:srgbClr val="1F1535"/>
                </a:solidFill>
                <a:uFillTx/>
                <a:latin typeface="Cambria" pitchFamily="34"/>
                <a:ea typeface="Cambria" pitchFamily="34"/>
                <a:cs typeface="Cambria" pitchFamily="34"/>
              </a:rPr>
              <a:t>i</a:t>
            </a:r>
            <a:r>
              <a:rPr lang="en-US" sz="1300" b="1" i="0" u="none" strike="noStrike" kern="1200" cap="none" spc="0" baseline="0" dirty="0">
                <a:solidFill>
                  <a:srgbClr val="1F1535"/>
                </a:solidFill>
                <a:uFillTx/>
                <a:latin typeface="Cambria" pitchFamily="34"/>
                <a:ea typeface="Cambria" pitchFamily="34"/>
                <a:cs typeface="Cambria" pitchFamily="34"/>
              </a:rPr>
              <a:t> </a:t>
            </a:r>
            <a:r>
              <a:rPr lang="en-US" sz="1300" b="1" i="0" u="none" strike="noStrike" kern="1200" cap="none" spc="0" baseline="0" dirty="0" err="1" smtClean="0">
                <a:solidFill>
                  <a:srgbClr val="1F1535"/>
                </a:solidFill>
                <a:uFillTx/>
                <a:latin typeface="Cambria" pitchFamily="34"/>
                <a:ea typeface="Cambria" pitchFamily="34"/>
                <a:cs typeface="Cambria" pitchFamily="34"/>
              </a:rPr>
              <a:t>firmy</a:t>
            </a:r>
            <a:endParaRPr lang="en-US" sz="1300" b="0" i="0" u="none" strike="noStrike" kern="1200" cap="none" spc="0" baseline="0" dirty="0">
              <a:solidFill>
                <a:srgbClr val="000000"/>
              </a:solidFill>
              <a:uFillTx/>
              <a:latin typeface="Calibri"/>
            </a:endParaRPr>
          </a:p>
        </p:txBody>
      </p:sp>
      <p:grpSp>
        <p:nvGrpSpPr>
          <p:cNvPr id="57" name="Grupa 56"/>
          <p:cNvGrpSpPr/>
          <p:nvPr/>
        </p:nvGrpSpPr>
        <p:grpSpPr>
          <a:xfrm>
            <a:off x="205740" y="1834896"/>
            <a:ext cx="4274820" cy="580572"/>
            <a:chOff x="320040" y="1423416"/>
            <a:chExt cx="4160520" cy="580572"/>
          </a:xfrm>
        </p:grpSpPr>
        <p:sp>
          <p:nvSpPr>
            <p:cNvPr id="9" name="Shape 7"/>
            <p:cNvSpPr/>
            <p:nvPr/>
          </p:nvSpPr>
          <p:spPr>
            <a:xfrm>
              <a:off x="320040" y="142798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42798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48056" y="142341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HireVue</a:t>
              </a:r>
              <a:r>
                <a:rPr lang="en-US" sz="1100" b="1" i="0" u="none" strike="noStrike" kern="1200" cap="none" spc="0" baseline="0" dirty="0">
                  <a:solidFill>
                    <a:srgbClr val="1F1535"/>
                  </a:solidFill>
                  <a:uFillTx/>
                  <a:latin typeface="Cambria" pitchFamily="34"/>
                  <a:ea typeface="Cambria" pitchFamily="34"/>
                  <a:cs typeface="Cambria" pitchFamily="34"/>
                </a:rPr>
                <a:t> (NYSE: SHL)</a:t>
              </a:r>
              <a:endParaRPr lang="en-US" sz="1100" b="0" i="0" u="none" strike="noStrike" kern="1200" cap="none" spc="0" baseline="0" dirty="0">
                <a:solidFill>
                  <a:srgbClr val="000000"/>
                </a:solidFill>
                <a:uFillTx/>
                <a:latin typeface="Calibri"/>
              </a:endParaRPr>
            </a:p>
          </p:txBody>
        </p:sp>
        <p:sp>
          <p:nvSpPr>
            <p:cNvPr id="12" name="Text 10"/>
            <p:cNvSpPr/>
            <p:nvPr/>
          </p:nvSpPr>
          <p:spPr>
            <a:xfrm>
              <a:off x="448056" y="1665732"/>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Video interview platform — </a:t>
              </a:r>
              <a:r>
                <a:rPr lang="en-US" sz="1000" b="0" i="0" u="none" strike="noStrike" kern="1200" cap="none" spc="0" baseline="0" dirty="0" err="1">
                  <a:solidFill>
                    <a:srgbClr val="111931"/>
                  </a:solidFill>
                  <a:uFillTx/>
                  <a:latin typeface="Calibri" pitchFamily="34"/>
                  <a:ea typeface="Calibri" pitchFamily="34"/>
                  <a:cs typeface="Calibri" pitchFamily="34"/>
                </a:rPr>
                <a:t>analiza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głosu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treści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odpowiedzi</a:t>
              </a:r>
              <a:r>
                <a:rPr lang="en-US" sz="1000" b="0" i="0" u="none" strike="noStrike" kern="1200" cap="none" spc="0" baseline="0" dirty="0">
                  <a:solidFill>
                    <a:srgbClr val="111931"/>
                  </a:solidFill>
                  <a:uFillTx/>
                  <a:latin typeface="Calibri" pitchFamily="34"/>
                  <a:ea typeface="Calibri" pitchFamily="34"/>
                  <a:cs typeface="Calibri" pitchFamily="34"/>
                </a:rPr>
                <a:t>. 700+ </a:t>
              </a:r>
              <a:r>
                <a:rPr lang="en-US" sz="1000" b="0" i="0" u="none" strike="noStrike" kern="1200" cap="none" spc="0" baseline="0" dirty="0" err="1">
                  <a:solidFill>
                    <a:srgbClr val="111931"/>
                  </a:solidFill>
                  <a:uFillTx/>
                  <a:latin typeface="Calibri" pitchFamily="34"/>
                  <a:ea typeface="Calibri" pitchFamily="34"/>
                  <a:cs typeface="Calibri" pitchFamily="34"/>
                </a:rPr>
                <a:t>klientów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korporacyjnych</a:t>
              </a:r>
              <a:r>
                <a:rPr lang="en-US" sz="1000" b="0" i="0" u="none" strike="noStrike" kern="1200" cap="none" spc="0" baseline="0" dirty="0">
                  <a:solidFill>
                    <a:srgbClr val="111931"/>
                  </a:solidFill>
                  <a:uFillTx/>
                  <a:latin typeface="Calibri" pitchFamily="34"/>
                  <a:ea typeface="Calibri" pitchFamily="34"/>
                  <a:cs typeface="Calibri" pitchFamily="34"/>
                </a:rPr>
                <a:t>. AI score → shortlist. Unilever, Goldman Sachs, Delta.</a:t>
              </a:r>
              <a:endParaRPr lang="en-US" sz="1000" b="0" i="0" u="none" strike="noStrike" kern="1200" cap="none" spc="0" baseline="0" dirty="0">
                <a:solidFill>
                  <a:srgbClr val="111931"/>
                </a:solidFill>
                <a:uFillTx/>
                <a:latin typeface="Calibri"/>
              </a:endParaRPr>
            </a:p>
          </p:txBody>
        </p:sp>
      </p:grpSp>
      <p:grpSp>
        <p:nvGrpSpPr>
          <p:cNvPr id="56" name="Grupa 55"/>
          <p:cNvGrpSpPr/>
          <p:nvPr/>
        </p:nvGrpSpPr>
        <p:grpSpPr>
          <a:xfrm>
            <a:off x="205740" y="2467356"/>
            <a:ext cx="4274820" cy="576000"/>
            <a:chOff x="320040" y="2185416"/>
            <a:chExt cx="4160520" cy="576000"/>
          </a:xfrm>
        </p:grpSpPr>
        <p:sp>
          <p:nvSpPr>
            <p:cNvPr id="13" name="Shape 11"/>
            <p:cNvSpPr/>
            <p:nvPr/>
          </p:nvSpPr>
          <p:spPr>
            <a:xfrm>
              <a:off x="320040" y="2185416"/>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2185416"/>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48056" y="221132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Pymetrics</a:t>
              </a:r>
              <a:r>
                <a:rPr lang="en-US" sz="1100" b="1" i="0" u="none" strike="noStrike" kern="1200" cap="none" spc="0" baseline="0" dirty="0">
                  <a:solidFill>
                    <a:srgbClr val="1F1535"/>
                  </a:solidFill>
                  <a:uFillTx/>
                  <a:latin typeface="Cambria" pitchFamily="34"/>
                  <a:ea typeface="Cambria" pitchFamily="34"/>
                  <a:cs typeface="Cambria" pitchFamily="34"/>
                </a:rPr>
                <a:t> (Harriet AI)</a:t>
              </a:r>
              <a:endParaRPr lang="en-US" sz="1100" b="0" i="0" u="none" strike="noStrike" kern="1200" cap="none" spc="0" baseline="0" dirty="0">
                <a:solidFill>
                  <a:srgbClr val="000000"/>
                </a:solidFill>
                <a:uFillTx/>
                <a:latin typeface="Calibri"/>
              </a:endParaRPr>
            </a:p>
          </p:txBody>
        </p:sp>
        <p:sp>
          <p:nvSpPr>
            <p:cNvPr id="16" name="Text 14"/>
            <p:cNvSpPr/>
            <p:nvPr/>
          </p:nvSpPr>
          <p:spPr>
            <a:xfrm>
              <a:off x="448056" y="2438400"/>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Gry neuronaukowe mierzące poznawcze i emocjonalne reakcje. Analiza: czas reakcji, risk aversion, attention, EDA. Match do job profiles.</a:t>
              </a:r>
              <a:endParaRPr lang="en-US" sz="1000" b="0" i="0" u="none" strike="noStrike" kern="1200" cap="none" spc="0" baseline="0">
                <a:solidFill>
                  <a:srgbClr val="111931"/>
                </a:solidFill>
                <a:uFillTx/>
                <a:latin typeface="Calibri"/>
              </a:endParaRPr>
            </a:p>
          </p:txBody>
        </p:sp>
      </p:grpSp>
      <p:grpSp>
        <p:nvGrpSpPr>
          <p:cNvPr id="55" name="Grupa 54"/>
          <p:cNvGrpSpPr/>
          <p:nvPr/>
        </p:nvGrpSpPr>
        <p:grpSpPr>
          <a:xfrm>
            <a:off x="205740" y="3095244"/>
            <a:ext cx="4274820" cy="576000"/>
            <a:chOff x="320040" y="2927604"/>
            <a:chExt cx="4160520" cy="576000"/>
          </a:xfrm>
        </p:grpSpPr>
        <p:sp>
          <p:nvSpPr>
            <p:cNvPr id="17" name="Shape 15"/>
            <p:cNvSpPr/>
            <p:nvPr/>
          </p:nvSpPr>
          <p:spPr>
            <a:xfrm>
              <a:off x="320040" y="2927604"/>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927604"/>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48056" y="294589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Crystal Knows / </a:t>
              </a:r>
              <a:r>
                <a:rPr lang="en-US" sz="1100" b="1" i="0" u="none" strike="noStrike" kern="1200" cap="none" spc="0" baseline="0" dirty="0" err="1">
                  <a:solidFill>
                    <a:srgbClr val="1F1535"/>
                  </a:solidFill>
                  <a:uFillTx/>
                  <a:latin typeface="Cambria" pitchFamily="34"/>
                  <a:ea typeface="Cambria" pitchFamily="34"/>
                  <a:cs typeface="Cambria" pitchFamily="34"/>
                </a:rPr>
                <a:t>Humantic</a:t>
              </a:r>
              <a:r>
                <a:rPr lang="en-US" sz="1100" b="1" i="0" u="none" strike="noStrike" kern="1200" cap="none" spc="0" baseline="0" dirty="0">
                  <a:solidFill>
                    <a:srgbClr val="1F1535"/>
                  </a:solidFill>
                  <a:uFillTx/>
                  <a:latin typeface="Cambria" pitchFamily="34"/>
                  <a:ea typeface="Cambria" pitchFamily="34"/>
                  <a:cs typeface="Cambria" pitchFamily="34"/>
                </a:rPr>
                <a:t> AI</a:t>
              </a:r>
              <a:endParaRPr lang="en-US" sz="1100" b="0" i="0" u="none" strike="noStrike" kern="1200" cap="none" spc="0" baseline="0" dirty="0">
                <a:solidFill>
                  <a:srgbClr val="000000"/>
                </a:solidFill>
                <a:uFillTx/>
                <a:latin typeface="Calibri"/>
              </a:endParaRPr>
            </a:p>
          </p:txBody>
        </p:sp>
        <p:sp>
          <p:nvSpPr>
            <p:cNvPr id="20" name="Text 18"/>
            <p:cNvSpPr/>
            <p:nvPr/>
          </p:nvSpPr>
          <p:spPr>
            <a:xfrm>
              <a:off x="448056" y="3172968"/>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NLP z </a:t>
              </a:r>
              <a:r>
                <a:rPr lang="en-US" sz="1000" b="0" i="0" u="none" strike="noStrike" kern="1200" cap="none" spc="0" baseline="0" dirty="0" err="1">
                  <a:solidFill>
                    <a:srgbClr val="111931"/>
                  </a:solidFill>
                  <a:uFillTx/>
                  <a:latin typeface="Calibri" pitchFamily="34"/>
                  <a:ea typeface="Calibri" pitchFamily="34"/>
                  <a:cs typeface="Calibri" pitchFamily="34"/>
                </a:rPr>
                <a:t>tekstów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publicznych</a:t>
              </a:r>
              <a:r>
                <a:rPr lang="en-US" sz="1000" b="0" i="0" u="none" strike="noStrike" kern="1200" cap="none" spc="0" baseline="0" dirty="0">
                  <a:solidFill>
                    <a:srgbClr val="111931"/>
                  </a:solidFill>
                  <a:uFillTx/>
                  <a:latin typeface="Calibri" pitchFamily="34"/>
                  <a:ea typeface="Calibri" pitchFamily="34"/>
                  <a:cs typeface="Calibri" pitchFamily="34"/>
                </a:rPr>
                <a:t> (LinkedIn, email) → </a:t>
              </a:r>
              <a:r>
                <a:rPr lang="en-US" sz="1000" b="0" i="0" u="none" strike="noStrike" kern="1200" cap="none" spc="0" baseline="0" dirty="0" err="1">
                  <a:solidFill>
                    <a:srgbClr val="111931"/>
                  </a:solidFill>
                  <a:uFillTx/>
                  <a:latin typeface="Calibri" pitchFamily="34"/>
                  <a:ea typeface="Calibri" pitchFamily="34"/>
                  <a:cs typeface="Calibri" pitchFamily="34"/>
                </a:rPr>
                <a:t>osobowość</a:t>
              </a:r>
              <a:r>
                <a:rPr lang="en-US" sz="1000" b="0" i="0" u="none" strike="noStrike" kern="1200" cap="none" spc="0" baseline="0" dirty="0">
                  <a:solidFill>
                    <a:srgbClr val="111931"/>
                  </a:solidFill>
                  <a:uFillTx/>
                  <a:latin typeface="Calibri" pitchFamily="34"/>
                  <a:ea typeface="Calibri" pitchFamily="34"/>
                  <a:cs typeface="Calibri" pitchFamily="34"/>
                </a:rPr>
                <a:t> DISC. Emotional intelligence score.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pisz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zbyt</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dużo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emocji</a:t>
              </a:r>
              <a:r>
                <a:rPr lang="en-US" sz="1000" b="0" i="0" u="none" strike="noStrike" kern="1200" cap="none" spc="0" baseline="0" dirty="0">
                  <a:solidFill>
                    <a:srgbClr val="111931"/>
                  </a:solidFill>
                  <a:uFillTx/>
                  <a:latin typeface="Calibri" pitchFamily="34"/>
                  <a:ea typeface="Calibri" pitchFamily="34"/>
                  <a:cs typeface="Calibri" pitchFamily="34"/>
                </a:rPr>
                <a:t> w CV do </a:t>
              </a:r>
              <a:r>
                <a:rPr lang="en-US" sz="1000" b="0" i="0" u="none" strike="noStrike" kern="1200" cap="none" spc="0" baseline="0" dirty="0" err="1">
                  <a:solidFill>
                    <a:srgbClr val="111931"/>
                  </a:solidFill>
                  <a:uFillTx/>
                  <a:latin typeface="Calibri" pitchFamily="34"/>
                  <a:ea typeface="Calibri" pitchFamily="34"/>
                  <a:cs typeface="Calibri" pitchFamily="34"/>
                </a:rPr>
                <a:t>tej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firmy</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3" name="Grupa 52"/>
          <p:cNvGrpSpPr/>
          <p:nvPr/>
        </p:nvGrpSpPr>
        <p:grpSpPr>
          <a:xfrm>
            <a:off x="205740" y="3723132"/>
            <a:ext cx="4274820" cy="576000"/>
            <a:chOff x="320040" y="3685032"/>
            <a:chExt cx="4160520" cy="576000"/>
          </a:xfrm>
        </p:grpSpPr>
        <p:sp>
          <p:nvSpPr>
            <p:cNvPr id="21" name="Shape 19"/>
            <p:cNvSpPr/>
            <p:nvPr/>
          </p:nvSpPr>
          <p:spPr>
            <a:xfrm>
              <a:off x="320040" y="368503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685032"/>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48056" y="368808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Cognizin</a:t>
              </a:r>
              <a:r>
                <a:rPr lang="en-US" sz="1100" b="1" i="0" u="none" strike="noStrike" kern="1200" cap="none" spc="0" baseline="0" dirty="0">
                  <a:solidFill>
                    <a:srgbClr val="1F1535"/>
                  </a:solidFill>
                  <a:uFillTx/>
                  <a:latin typeface="Cambria" pitchFamily="34"/>
                  <a:ea typeface="Cambria" pitchFamily="34"/>
                  <a:cs typeface="Cambria" pitchFamily="34"/>
                </a:rPr>
                <a:t> / </a:t>
              </a:r>
              <a:r>
                <a:rPr lang="en-US" sz="1100" b="1" i="0" u="none" strike="noStrike" kern="1200" cap="none" spc="0" baseline="0" dirty="0" err="1">
                  <a:solidFill>
                    <a:srgbClr val="1F1535"/>
                  </a:solidFill>
                  <a:uFillTx/>
                  <a:latin typeface="Cambria" pitchFamily="34"/>
                  <a:ea typeface="Cambria" pitchFamily="34"/>
                  <a:cs typeface="Cambria" pitchFamily="34"/>
                </a:rPr>
                <a:t>Uniphore</a:t>
              </a:r>
              <a:endParaRPr lang="en-US" sz="1100" b="0" i="0" u="none" strike="noStrike" kern="1200" cap="none" spc="0" baseline="0" dirty="0">
                <a:solidFill>
                  <a:srgbClr val="000000"/>
                </a:solidFill>
                <a:uFillTx/>
                <a:latin typeface="Calibri"/>
              </a:endParaRPr>
            </a:p>
          </p:txBody>
        </p:sp>
        <p:sp>
          <p:nvSpPr>
            <p:cNvPr id="24" name="Text 22"/>
            <p:cNvSpPr/>
            <p:nvPr/>
          </p:nvSpPr>
          <p:spPr>
            <a:xfrm>
              <a:off x="448056" y="3930396"/>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Call </a:t>
              </a:r>
              <a:r>
                <a:rPr lang="en-US" sz="1000" b="0" i="0" u="none" strike="noStrike" kern="1200" cap="none" spc="0" baseline="0" dirty="0" err="1">
                  <a:solidFill>
                    <a:srgbClr val="111931"/>
                  </a:solidFill>
                  <a:uFillTx/>
                  <a:latin typeface="Calibri" pitchFamily="34"/>
                  <a:ea typeface="Calibri" pitchFamily="34"/>
                  <a:cs typeface="Calibri" pitchFamily="34"/>
                </a:rPr>
                <a:t>centre</a:t>
              </a:r>
              <a:r>
                <a:rPr lang="en-US" sz="1000" b="0" i="0" u="none" strike="noStrike" kern="1200" cap="none" spc="0" baseline="0" dirty="0">
                  <a:solidFill>
                    <a:srgbClr val="111931"/>
                  </a:solidFill>
                  <a:uFillTx/>
                  <a:latin typeface="Calibri" pitchFamily="34"/>
                  <a:ea typeface="Calibri" pitchFamily="34"/>
                  <a:cs typeface="Calibri" pitchFamily="34"/>
                </a:rPr>
                <a:t> analytics — </a:t>
              </a:r>
              <a:r>
                <a:rPr lang="en-US" sz="1000" b="0" i="0" u="none" strike="noStrike" kern="1200" cap="none" spc="0" baseline="0" dirty="0" err="1">
                  <a:solidFill>
                    <a:srgbClr val="111931"/>
                  </a:solidFill>
                  <a:uFillTx/>
                  <a:latin typeface="Calibri" pitchFamily="34"/>
                  <a:ea typeface="Calibri" pitchFamily="34"/>
                  <a:cs typeface="Calibri" pitchFamily="34"/>
                </a:rPr>
                <a:t>emocje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klienta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agenta</a:t>
              </a:r>
              <a:r>
                <a:rPr lang="en-US" sz="1000" b="0" i="0" u="none" strike="noStrike" kern="1200" cap="none" spc="0" baseline="0" dirty="0">
                  <a:solidFill>
                    <a:srgbClr val="111931"/>
                  </a:solidFill>
                  <a:uFillTx/>
                  <a:latin typeface="Calibri" pitchFamily="34"/>
                  <a:ea typeface="Calibri" pitchFamily="34"/>
                  <a:cs typeface="Calibri" pitchFamily="34"/>
                </a:rPr>
                <a:t> w </a:t>
              </a:r>
              <a:r>
                <a:rPr lang="en-US" sz="1000" b="0" i="0" u="none" strike="noStrike" kern="1200" cap="none" spc="0" baseline="0" dirty="0" err="1">
                  <a:solidFill>
                    <a:srgbClr val="111931"/>
                  </a:solidFill>
                  <a:uFillTx/>
                  <a:latin typeface="Calibri" pitchFamily="34"/>
                  <a:ea typeface="Calibri" pitchFamily="34"/>
                  <a:cs typeface="Calibri" pitchFamily="34"/>
                </a:rPr>
                <a:t>czasie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rzeczywistym</a:t>
              </a:r>
              <a:r>
                <a:rPr lang="en-US" sz="1000" b="0" i="0" u="none" strike="noStrike" kern="1200" cap="none" spc="0" baseline="0" dirty="0">
                  <a:solidFill>
                    <a:srgbClr val="111931"/>
                  </a:solidFill>
                  <a:uFillTx/>
                  <a:latin typeface="Calibri" pitchFamily="34"/>
                  <a:ea typeface="Calibri" pitchFamily="34"/>
                  <a:cs typeface="Calibri" pitchFamily="34"/>
                </a:rPr>
                <a:t>. Supervisor alert </a:t>
              </a:r>
              <a:r>
                <a:rPr lang="en-US" sz="1000" b="0" i="0" u="none" strike="noStrike" kern="1200" cap="none" spc="0" baseline="0" dirty="0" err="1">
                  <a:solidFill>
                    <a:srgbClr val="111931"/>
                  </a:solidFill>
                  <a:uFillTx/>
                  <a:latin typeface="Calibri" pitchFamily="34"/>
                  <a:ea typeface="Calibri" pitchFamily="34"/>
                  <a:cs typeface="Calibri" pitchFamily="34"/>
                </a:rPr>
                <a:t>gdy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frustracja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klienta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wysoka</a:t>
              </a:r>
              <a:r>
                <a:rPr lang="en-US" sz="1000" b="0" i="0" u="none" strike="noStrike" kern="1200" cap="none" spc="0" baseline="0" dirty="0">
                  <a:solidFill>
                    <a:srgbClr val="111931"/>
                  </a:solidFill>
                  <a:uFillTx/>
                  <a:latin typeface="Calibri" pitchFamily="34"/>
                  <a:ea typeface="Calibri" pitchFamily="34"/>
                  <a:cs typeface="Calibri" pitchFamily="34"/>
                </a:rPr>
                <a:t>. Real-time coaching.</a:t>
              </a:r>
              <a:endParaRPr lang="en-US" sz="1000" b="0" i="0" u="none" strike="noStrike" kern="1200" cap="none" spc="0" baseline="0" dirty="0">
                <a:solidFill>
                  <a:srgbClr val="111931"/>
                </a:solidFill>
                <a:uFillTx/>
                <a:latin typeface="Calibri"/>
              </a:endParaRPr>
            </a:p>
          </p:txBody>
        </p:sp>
      </p:grpSp>
      <p:grpSp>
        <p:nvGrpSpPr>
          <p:cNvPr id="54" name="Grupa 53"/>
          <p:cNvGrpSpPr/>
          <p:nvPr/>
        </p:nvGrpSpPr>
        <p:grpSpPr>
          <a:xfrm>
            <a:off x="205740" y="4366260"/>
            <a:ext cx="4274820" cy="576000"/>
            <a:chOff x="320040" y="4366260"/>
            <a:chExt cx="4160520" cy="576000"/>
          </a:xfrm>
        </p:grpSpPr>
        <p:sp>
          <p:nvSpPr>
            <p:cNvPr id="25" name="Shape 23"/>
            <p:cNvSpPr/>
            <p:nvPr/>
          </p:nvSpPr>
          <p:spPr>
            <a:xfrm>
              <a:off x="320040" y="4366260"/>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4366260"/>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48056" y="438454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AI Act (EU) — </a:t>
              </a:r>
              <a:r>
                <a:rPr lang="en-US" sz="1100" b="1" i="0" u="none" strike="noStrike" kern="1200" cap="none" spc="0" baseline="0" dirty="0" err="1">
                  <a:solidFill>
                    <a:srgbClr val="1F1535"/>
                  </a:solidFill>
                  <a:uFillTx/>
                  <a:latin typeface="Cambria" pitchFamily="34"/>
                  <a:ea typeface="Cambria" pitchFamily="34"/>
                  <a:cs typeface="Cambria" pitchFamily="34"/>
                </a:rPr>
                <a:t>zakaz</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emocji</a:t>
              </a:r>
              <a:r>
                <a:rPr lang="en-US" sz="1100" b="1" i="0" u="none" strike="noStrike" kern="1200" cap="none" spc="0" baseline="0" dirty="0">
                  <a:solidFill>
                    <a:srgbClr val="1F1535"/>
                  </a:solidFill>
                  <a:uFillTx/>
                  <a:latin typeface="Cambria" pitchFamily="34"/>
                  <a:ea typeface="Cambria" pitchFamily="34"/>
                  <a:cs typeface="Cambria" pitchFamily="34"/>
                </a:rPr>
                <a:t> w </a:t>
              </a:r>
              <a:r>
                <a:rPr lang="en-US" sz="1100" b="1" i="0" u="none" strike="noStrike" kern="1200" cap="none" spc="0" baseline="0" dirty="0" err="1">
                  <a:solidFill>
                    <a:srgbClr val="1F1535"/>
                  </a:solidFill>
                  <a:uFillTx/>
                  <a:latin typeface="Cambria" pitchFamily="34"/>
                  <a:ea typeface="Cambria" pitchFamily="34"/>
                  <a:cs typeface="Cambria" pitchFamily="34"/>
                </a:rPr>
                <a:t>rekrutacji</a:t>
              </a:r>
              <a:endParaRPr lang="en-US" sz="1100" b="0" i="0" u="none" strike="noStrike" kern="1200" cap="none" spc="0" baseline="0" dirty="0">
                <a:solidFill>
                  <a:srgbClr val="000000"/>
                </a:solidFill>
                <a:uFillTx/>
                <a:latin typeface="Calibri"/>
              </a:endParaRPr>
            </a:p>
          </p:txBody>
        </p:sp>
        <p:sp>
          <p:nvSpPr>
            <p:cNvPr id="28" name="Text 26"/>
            <p:cNvSpPr/>
            <p:nvPr/>
          </p:nvSpPr>
          <p:spPr>
            <a:xfrm>
              <a:off x="448056" y="4631436"/>
              <a:ext cx="3977639" cy="233171"/>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AI Act Art. 6: </a:t>
              </a:r>
              <a:r>
                <a:rPr lang="en-US" sz="1000" b="0" i="0" u="none" strike="noStrike" kern="1200" cap="none" spc="0" baseline="0" dirty="0" err="1">
                  <a:solidFill>
                    <a:srgbClr val="111931"/>
                  </a:solidFill>
                  <a:uFillTx/>
                  <a:latin typeface="Calibri" pitchFamily="34"/>
                  <a:ea typeface="Calibri" pitchFamily="34"/>
                  <a:cs typeface="Calibri" pitchFamily="34"/>
                </a:rPr>
                <a:t>systemy</a:t>
              </a:r>
              <a:r>
                <a:rPr lang="en-US" sz="1000" b="0" i="0" u="none" strike="noStrike" kern="1200" cap="none" spc="0" baseline="0" dirty="0">
                  <a:solidFill>
                    <a:srgbClr val="111931"/>
                  </a:solidFill>
                  <a:uFillTx/>
                  <a:latin typeface="Calibri" pitchFamily="34"/>
                  <a:ea typeface="Calibri" pitchFamily="34"/>
                  <a:cs typeface="Calibri" pitchFamily="34"/>
                </a:rPr>
                <a:t> AI do </a:t>
              </a:r>
              <a:r>
                <a:rPr lang="en-US" sz="1000" b="0" i="0" u="none" strike="noStrike" kern="1200" cap="none" spc="0" baseline="0" dirty="0" err="1">
                  <a:solidFill>
                    <a:srgbClr val="111931"/>
                  </a:solidFill>
                  <a:uFillTx/>
                  <a:latin typeface="Calibri" pitchFamily="34"/>
                  <a:ea typeface="Calibri" pitchFamily="34"/>
                  <a:cs typeface="Calibri" pitchFamily="34"/>
                </a:rPr>
                <a:t>ewaluacji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kandydatów</a:t>
              </a:r>
              <a:r>
                <a:rPr lang="en-US" sz="1000" b="0" i="0" u="none" strike="noStrike" kern="1200" cap="none" spc="0" baseline="0" dirty="0">
                  <a:solidFill>
                    <a:srgbClr val="111931"/>
                  </a:solidFill>
                  <a:uFillTx/>
                  <a:latin typeface="Calibri" pitchFamily="34"/>
                  <a:ea typeface="Calibri" pitchFamily="34"/>
                  <a:cs typeface="Calibri" pitchFamily="34"/>
                </a:rPr>
                <a:t> = High Risk. </a:t>
              </a:r>
              <a:endParaRPr lang="pl-PL" sz="10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sng" strike="noStrike" kern="1200" cap="none" spc="0" baseline="0" dirty="0" smtClean="0">
                  <a:solidFill>
                    <a:srgbClr val="111931"/>
                  </a:solidFill>
                  <a:uFillTx/>
                  <a:latin typeface="Calibri" pitchFamily="34"/>
                  <a:ea typeface="Calibri" pitchFamily="34"/>
                  <a:cs typeface="Calibri" pitchFamily="34"/>
                </a:rPr>
                <a:t>Art</a:t>
              </a:r>
              <a:r>
                <a:rPr lang="en-US" sz="1000" b="0" i="0" u="sng" strike="noStrike" kern="1200" cap="none" spc="0" baseline="0" dirty="0">
                  <a:solidFill>
                    <a:srgbClr val="111931"/>
                  </a:solidFill>
                  <a:uFillTx/>
                  <a:latin typeface="Calibri" pitchFamily="34"/>
                  <a:ea typeface="Calibri" pitchFamily="34"/>
                  <a:cs typeface="Calibri" pitchFamily="34"/>
                </a:rPr>
                <a:t>. 50: ban emotion recognition w </a:t>
              </a:r>
              <a:r>
                <a:rPr lang="en-US" sz="1000" b="0" i="0" u="sng" strike="noStrike" kern="1200" cap="none" spc="0" baseline="0" dirty="0" err="1">
                  <a:solidFill>
                    <a:srgbClr val="111931"/>
                  </a:solidFill>
                  <a:uFillTx/>
                  <a:latin typeface="Calibri" pitchFamily="34"/>
                  <a:ea typeface="Calibri" pitchFamily="34"/>
                  <a:cs typeface="Calibri" pitchFamily="34"/>
                </a:rPr>
                <a:t>rekrutacji</a:t>
              </a:r>
              <a:r>
                <a:rPr lang="en-US" sz="1000" b="0" i="0" u="sng" strike="noStrike" kern="1200" cap="none" spc="0" baseline="0" dirty="0">
                  <a:solidFill>
                    <a:srgbClr val="111931"/>
                  </a:solidFill>
                  <a:uFillTx/>
                  <a:latin typeface="Calibri" pitchFamily="34"/>
                  <a:ea typeface="Calibri" pitchFamily="34"/>
                  <a:cs typeface="Calibri" pitchFamily="34"/>
                </a:rPr>
                <a:t> od 2026 w EU</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29" name="Text 27"/>
          <p:cNvSpPr/>
          <p:nvPr/>
        </p:nvSpPr>
        <p:spPr>
          <a:xfrm>
            <a:off x="4663440" y="1588008"/>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Krytyka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dokumentowane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problemy</a:t>
            </a:r>
            <a:endParaRPr lang="en-US" sz="1200" b="0" i="0" u="none" strike="noStrike" kern="1200" cap="none" spc="0" baseline="0" dirty="0">
              <a:solidFill>
                <a:srgbClr val="000000"/>
              </a:solidFill>
              <a:uFillTx/>
              <a:latin typeface="Calibri"/>
            </a:endParaRPr>
          </a:p>
        </p:txBody>
      </p:sp>
      <p:grpSp>
        <p:nvGrpSpPr>
          <p:cNvPr id="62" name="Grupa 61"/>
          <p:cNvGrpSpPr/>
          <p:nvPr/>
        </p:nvGrpSpPr>
        <p:grpSpPr>
          <a:xfrm>
            <a:off x="4663440" y="1847088"/>
            <a:ext cx="4206240" cy="576000"/>
            <a:chOff x="4663440" y="1412748"/>
            <a:chExt cx="4206240" cy="576000"/>
          </a:xfrm>
        </p:grpSpPr>
        <p:sp>
          <p:nvSpPr>
            <p:cNvPr id="30" name="Shape 28"/>
            <p:cNvSpPr/>
            <p:nvPr/>
          </p:nvSpPr>
          <p:spPr>
            <a:xfrm>
              <a:off x="4663440" y="141274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4663440" y="1412748"/>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791456" y="1415796"/>
              <a:ext cx="4023360" cy="237744"/>
            </a:xfrm>
            <a:prstGeom prst="rect">
              <a:avLst/>
            </a:prstGeom>
            <a:noFill/>
            <a:ln cap="flat">
              <a:noFill/>
              <a:prstDash val="solid"/>
            </a:ln>
          </p:spPr>
          <p:txBody>
            <a:bodyPr vert="horz" wrap="square" lIns="0" tIns="0" rIns="0" bIns="0" anchor="ctr" anchorCtr="0" compatLnSpc="1">
              <a:noAutofit/>
            </a:bodyPr>
            <a:lstStyle/>
            <a:p>
              <a:pPr lvl="0">
                <a:defRPr sz="1800" b="0" i="0" u="none" strike="noStrike" kern="0" cap="none" spc="0" baseline="0">
                  <a:solidFill>
                    <a:srgbClr val="000000"/>
                  </a:solidFill>
                  <a:uFillTx/>
                </a:defRPr>
              </a:pPr>
              <a:r>
                <a:rPr lang="pl-PL" sz="1100" b="1" i="0" u="none" strike="noStrike" kern="1200" cap="none" spc="0" baseline="0" dirty="0" smtClean="0">
                  <a:solidFill>
                    <a:srgbClr val="1F1535"/>
                  </a:solidFill>
                  <a:uFillTx/>
                  <a:latin typeface="Cambria" pitchFamily="34"/>
                  <a:ea typeface="Cambria" pitchFamily="34"/>
                  <a:cs typeface="Cambria" pitchFamily="34"/>
                </a:rPr>
                <a:t>R</a:t>
              </a:r>
              <a:r>
                <a:rPr lang="en-US" sz="1100" b="1" i="0" u="none" strike="noStrike" kern="1200" cap="none" spc="0" baseline="0" dirty="0" err="1" smtClean="0">
                  <a:solidFill>
                    <a:srgbClr val="1F1535"/>
                  </a:solidFill>
                  <a:uFillTx/>
                  <a:latin typeface="Cambria" pitchFamily="34"/>
                  <a:ea typeface="Cambria" pitchFamily="34"/>
                  <a:cs typeface="Cambria" pitchFamily="34"/>
                </a:rPr>
                <a:t>asowy</a:t>
              </a:r>
              <a:r>
                <a:rPr lang="pl-PL" sz="1100" b="1" i="0" u="none" strike="noStrike" kern="1200" cap="none" spc="0" baseline="0" dirty="0" smtClean="0">
                  <a:solidFill>
                    <a:srgbClr val="1F1535"/>
                  </a:solidFill>
                  <a:uFillTx/>
                  <a:latin typeface="Cambria" pitchFamily="34"/>
                  <a:ea typeface="Cambria" pitchFamily="34"/>
                  <a:cs typeface="Cambria" pitchFamily="34"/>
                </a:rPr>
                <a:t> b</a:t>
              </a:r>
              <a:r>
                <a:rPr lang="en-US" sz="1100" b="1" dirty="0" err="1" smtClean="0">
                  <a:solidFill>
                    <a:srgbClr val="1F1535"/>
                  </a:solidFill>
                  <a:latin typeface="Cambria" pitchFamily="34"/>
                  <a:ea typeface="Cambria" pitchFamily="34"/>
                  <a:cs typeface="Cambria" pitchFamily="34"/>
                </a:rPr>
                <a:t>ias</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w FER</a:t>
              </a:r>
              <a:endParaRPr lang="en-US" sz="1100" b="0" i="0" u="none" strike="noStrike" kern="1200" cap="none" spc="0" baseline="0" dirty="0">
                <a:solidFill>
                  <a:srgbClr val="000000"/>
                </a:solidFill>
                <a:uFillTx/>
                <a:latin typeface="Calibri"/>
              </a:endParaRPr>
            </a:p>
          </p:txBody>
        </p:sp>
        <p:sp>
          <p:nvSpPr>
            <p:cNvPr id="33" name="Text 31"/>
            <p:cNvSpPr/>
            <p:nvPr/>
          </p:nvSpPr>
          <p:spPr>
            <a:xfrm>
              <a:off x="4791456" y="168859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MIT study (Joy </a:t>
              </a:r>
              <a:r>
                <a:rPr lang="en-US" sz="1000" b="0" i="0" u="none" strike="noStrike" kern="1200" cap="none" spc="0" baseline="0" dirty="0" err="1">
                  <a:solidFill>
                    <a:srgbClr val="111931"/>
                  </a:solidFill>
                  <a:uFillTx/>
                  <a:latin typeface="Calibri" pitchFamily="34"/>
                  <a:ea typeface="Calibri" pitchFamily="34"/>
                  <a:cs typeface="Calibri" pitchFamily="34"/>
                </a:rPr>
                <a:t>Buolamwini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celność</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dla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ciemniejszych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karnacji</a:t>
              </a:r>
              <a:r>
                <a:rPr lang="en-US" sz="1000" b="0" i="0" u="none" strike="noStrike" kern="1200" cap="none" spc="0" baseline="0" dirty="0">
                  <a:solidFill>
                    <a:srgbClr val="111931"/>
                  </a:solidFill>
                  <a:uFillTx/>
                  <a:latin typeface="Calibri" pitchFamily="34"/>
                  <a:ea typeface="Calibri" pitchFamily="34"/>
                  <a:cs typeface="Calibri" pitchFamily="34"/>
                </a:rPr>
                <a:t> o 34% </a:t>
              </a:r>
              <a:r>
                <a:rPr lang="en-US" sz="1000" b="0" i="0" u="none" strike="noStrike" kern="1200" cap="none" spc="0" baseline="0" dirty="0" err="1">
                  <a:solidFill>
                    <a:srgbClr val="111931"/>
                  </a:solidFill>
                  <a:uFillTx/>
                  <a:latin typeface="Calibri" pitchFamily="34"/>
                  <a:ea typeface="Calibri" pitchFamily="34"/>
                  <a:cs typeface="Calibri" pitchFamily="34"/>
                </a:rPr>
                <a:t>niższa</a:t>
              </a:r>
              <a:r>
                <a:rPr lang="en-US" sz="1000" b="0" i="0" u="none" strike="noStrike" kern="1200" cap="none" spc="0" baseline="0" dirty="0">
                  <a:solidFill>
                    <a:srgbClr val="111931"/>
                  </a:solidFill>
                  <a:uFillTx/>
                  <a:latin typeface="Calibri" pitchFamily="34"/>
                  <a:ea typeface="Calibri" pitchFamily="34"/>
                  <a:cs typeface="Calibri" pitchFamily="34"/>
                </a:rPr>
                <a:t>. Microsoft, Amazon, IBM FER API — </a:t>
              </a:r>
              <a:r>
                <a:rPr lang="en-US" sz="1000" b="0" i="0" u="none" strike="noStrike" kern="1200" cap="none" spc="0" baseline="0" dirty="0" err="1">
                  <a:solidFill>
                    <a:srgbClr val="111931"/>
                  </a:solidFill>
                  <a:uFillTx/>
                  <a:latin typeface="Calibri" pitchFamily="34"/>
                  <a:ea typeface="Calibri" pitchFamily="34"/>
                  <a:cs typeface="Calibri" pitchFamily="34"/>
                </a:rPr>
                <a:t>udokumentowane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FaceApp</a:t>
              </a:r>
              <a:r>
                <a:rPr lang="en-US" sz="1000" b="0" i="0" u="none" strike="noStrike" kern="1200" cap="none" spc="0" baseline="0" dirty="0">
                  <a:solidFill>
                    <a:srgbClr val="111931"/>
                  </a:solidFill>
                  <a:uFillTx/>
                  <a:latin typeface="Calibri" pitchFamily="34"/>
                  <a:ea typeface="Calibri" pitchFamily="34"/>
                  <a:cs typeface="Calibri" pitchFamily="34"/>
                </a:rPr>
                <a:t> controversy.</a:t>
              </a:r>
              <a:endParaRPr lang="en-US" sz="1000" b="0" i="0" u="none" strike="noStrike" kern="1200" cap="none" spc="0" baseline="0" dirty="0">
                <a:solidFill>
                  <a:srgbClr val="111931"/>
                </a:solidFill>
                <a:uFillTx/>
                <a:latin typeface="Calibri"/>
              </a:endParaRPr>
            </a:p>
          </p:txBody>
        </p:sp>
      </p:grpSp>
      <p:grpSp>
        <p:nvGrpSpPr>
          <p:cNvPr id="61" name="Grupa 60"/>
          <p:cNvGrpSpPr/>
          <p:nvPr/>
        </p:nvGrpSpPr>
        <p:grpSpPr>
          <a:xfrm>
            <a:off x="4663440" y="2471928"/>
            <a:ext cx="4206240" cy="576000"/>
            <a:chOff x="4663440" y="2151888"/>
            <a:chExt cx="4206240" cy="576000"/>
          </a:xfrm>
        </p:grpSpPr>
        <p:sp>
          <p:nvSpPr>
            <p:cNvPr id="34" name="Shape 32"/>
            <p:cNvSpPr/>
            <p:nvPr/>
          </p:nvSpPr>
          <p:spPr>
            <a:xfrm>
              <a:off x="4663440" y="215188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Shape 33"/>
            <p:cNvSpPr/>
            <p:nvPr/>
          </p:nvSpPr>
          <p:spPr>
            <a:xfrm>
              <a:off x="4663440" y="2151888"/>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Text 34"/>
            <p:cNvSpPr/>
            <p:nvPr/>
          </p:nvSpPr>
          <p:spPr>
            <a:xfrm>
              <a:off x="4791456" y="2162555"/>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Neurodiversity discrimination</a:t>
              </a:r>
              <a:endParaRPr lang="en-US" sz="1100" b="0" i="0" u="none" strike="noStrike" kern="1200" cap="none" spc="0" baseline="0" dirty="0">
                <a:solidFill>
                  <a:srgbClr val="000000"/>
                </a:solidFill>
                <a:uFillTx/>
                <a:latin typeface="Calibri"/>
              </a:endParaRPr>
            </a:p>
          </p:txBody>
        </p:sp>
        <p:sp>
          <p:nvSpPr>
            <p:cNvPr id="37" name="Text 35"/>
            <p:cNvSpPr/>
            <p:nvPr/>
          </p:nvSpPr>
          <p:spPr>
            <a:xfrm>
              <a:off x="4791456" y="242011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Osoby autystyczne nie wyrażają emocji 'normatywnie' — system może je odrzucić. ADHD: zmienna mimika. Parkinson: twarzowe spowolnienie.</a:t>
              </a:r>
              <a:endParaRPr lang="en-US" sz="1000" b="0" i="0" u="none" strike="noStrike" kern="1200" cap="none" spc="0" baseline="0">
                <a:solidFill>
                  <a:srgbClr val="111931"/>
                </a:solidFill>
                <a:uFillTx/>
                <a:latin typeface="Calibri"/>
              </a:endParaRPr>
            </a:p>
          </p:txBody>
        </p:sp>
      </p:grpSp>
      <p:grpSp>
        <p:nvGrpSpPr>
          <p:cNvPr id="60" name="Grupa 59"/>
          <p:cNvGrpSpPr/>
          <p:nvPr/>
        </p:nvGrpSpPr>
        <p:grpSpPr>
          <a:xfrm>
            <a:off x="4663440" y="3127248"/>
            <a:ext cx="4206240" cy="576000"/>
            <a:chOff x="4663440" y="2883408"/>
            <a:chExt cx="4206240" cy="576000"/>
          </a:xfrm>
        </p:grpSpPr>
        <p:sp>
          <p:nvSpPr>
            <p:cNvPr id="38" name="Shape 36"/>
            <p:cNvSpPr/>
            <p:nvPr/>
          </p:nvSpPr>
          <p:spPr>
            <a:xfrm>
              <a:off x="4663440" y="288340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37"/>
            <p:cNvSpPr/>
            <p:nvPr/>
          </p:nvSpPr>
          <p:spPr>
            <a:xfrm>
              <a:off x="4663440" y="288340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791456" y="288645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Kulturowa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różnorodność</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wyrazu</a:t>
              </a:r>
              <a:endParaRPr lang="en-US" sz="1100" b="0" i="0" u="none" strike="noStrike" kern="1200" cap="none" spc="0" baseline="0" dirty="0">
                <a:solidFill>
                  <a:srgbClr val="000000"/>
                </a:solidFill>
                <a:uFillTx/>
                <a:latin typeface="Calibri"/>
              </a:endParaRPr>
            </a:p>
          </p:txBody>
        </p:sp>
        <p:sp>
          <p:nvSpPr>
            <p:cNvPr id="41" name="Text 39"/>
            <p:cNvSpPr/>
            <p:nvPr/>
          </p:nvSpPr>
          <p:spPr>
            <a:xfrm>
              <a:off x="4791456" y="315163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rgbClr val="111931"/>
                  </a:solidFill>
                  <a:uFillTx/>
                  <a:latin typeface="Calibri" pitchFamily="34"/>
                  <a:ea typeface="Calibri" pitchFamily="34"/>
                  <a:cs typeface="Calibri" pitchFamily="34"/>
                </a:rPr>
                <a:t>Uśmiech w Japonii ≠ radość (może oznaczać dyskomfort). Kontakt wzrokowy w kulturach arabskich. Modele trenowane na zachodzie.</a:t>
              </a:r>
              <a:endParaRPr lang="en-US" sz="1000" b="0" i="0" u="none" strike="noStrike" kern="1200" cap="none" spc="0" baseline="0">
                <a:solidFill>
                  <a:srgbClr val="111931"/>
                </a:solidFill>
                <a:uFillTx/>
                <a:latin typeface="Calibri"/>
              </a:endParaRPr>
            </a:p>
          </p:txBody>
        </p:sp>
      </p:grpSp>
      <p:grpSp>
        <p:nvGrpSpPr>
          <p:cNvPr id="59" name="Grupa 58"/>
          <p:cNvGrpSpPr/>
          <p:nvPr/>
        </p:nvGrpSpPr>
        <p:grpSpPr>
          <a:xfrm>
            <a:off x="4663440" y="3752088"/>
            <a:ext cx="4206240" cy="576000"/>
            <a:chOff x="4663440" y="3599688"/>
            <a:chExt cx="4206240" cy="576000"/>
          </a:xfrm>
        </p:grpSpPr>
        <p:sp>
          <p:nvSpPr>
            <p:cNvPr id="42" name="Shape 40"/>
            <p:cNvSpPr/>
            <p:nvPr/>
          </p:nvSpPr>
          <p:spPr>
            <a:xfrm>
              <a:off x="4663440" y="359968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41"/>
            <p:cNvSpPr/>
            <p:nvPr/>
          </p:nvSpPr>
          <p:spPr>
            <a:xfrm>
              <a:off x="4663440" y="3599688"/>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Text 42"/>
            <p:cNvSpPr/>
            <p:nvPr/>
          </p:nvSpPr>
          <p:spPr>
            <a:xfrm>
              <a:off x="4791456" y="361035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Brak</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validacji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naukowej</a:t>
              </a:r>
              <a:endParaRPr lang="en-US" sz="1100" b="0" i="0" u="none" strike="noStrike" kern="1200" cap="none" spc="0" baseline="0" dirty="0">
                <a:solidFill>
                  <a:srgbClr val="000000"/>
                </a:solidFill>
                <a:uFillTx/>
                <a:latin typeface="Calibri"/>
              </a:endParaRPr>
            </a:p>
          </p:txBody>
        </p:sp>
        <p:sp>
          <p:nvSpPr>
            <p:cNvPr id="45" name="Text 43"/>
            <p:cNvSpPr/>
            <p:nvPr/>
          </p:nvSpPr>
          <p:spPr>
            <a:xfrm>
              <a:off x="4791456" y="386029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Science (2019, Barrett et al.): </a:t>
              </a:r>
              <a:r>
                <a:rPr lang="en-US" sz="1000" b="0" i="0" u="none" strike="noStrike" kern="1200" cap="none" spc="0" baseline="0" dirty="0" err="1">
                  <a:solidFill>
                    <a:srgbClr val="111931"/>
                  </a:solidFill>
                  <a:uFillTx/>
                  <a:latin typeface="Calibri" pitchFamily="34"/>
                  <a:ea typeface="Calibri" pitchFamily="34"/>
                  <a:cs typeface="Calibri" pitchFamily="34"/>
                </a:rPr>
                <a:t>brak</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naukowych</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podstaw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że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wyrazy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emocje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wewnętrzne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HireVue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opublikował</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metodologii</a:t>
              </a:r>
              <a:r>
                <a:rPr lang="en-US" sz="1000" b="0" i="0" u="none" strike="noStrike" kern="1200" cap="none" spc="0" baseline="0" dirty="0">
                  <a:solidFill>
                    <a:srgbClr val="111931"/>
                  </a:solidFill>
                  <a:uFillTx/>
                  <a:latin typeface="Calibri" pitchFamily="34"/>
                  <a:ea typeface="Calibri" pitchFamily="34"/>
                  <a:cs typeface="Calibri" pitchFamily="34"/>
                </a:rPr>
                <a:t> do 2021.</a:t>
              </a:r>
              <a:endParaRPr lang="en-US" sz="1000" b="0" i="0" u="none" strike="noStrike" kern="1200" cap="none" spc="0" baseline="0" dirty="0">
                <a:solidFill>
                  <a:srgbClr val="111931"/>
                </a:solidFill>
                <a:uFillTx/>
                <a:latin typeface="Calibri"/>
              </a:endParaRPr>
            </a:p>
          </p:txBody>
        </p:sp>
      </p:grpSp>
      <p:grpSp>
        <p:nvGrpSpPr>
          <p:cNvPr id="58" name="Grupa 57"/>
          <p:cNvGrpSpPr/>
          <p:nvPr/>
        </p:nvGrpSpPr>
        <p:grpSpPr>
          <a:xfrm>
            <a:off x="4663440" y="4376928"/>
            <a:ext cx="4206240" cy="583620"/>
            <a:chOff x="4663440" y="4376928"/>
            <a:chExt cx="4206240" cy="583620"/>
          </a:xfrm>
        </p:grpSpPr>
        <p:sp>
          <p:nvSpPr>
            <p:cNvPr id="46" name="Shape 44"/>
            <p:cNvSpPr/>
            <p:nvPr/>
          </p:nvSpPr>
          <p:spPr>
            <a:xfrm>
              <a:off x="4663440" y="437692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Shape 45"/>
            <p:cNvSpPr/>
            <p:nvPr/>
          </p:nvSpPr>
          <p:spPr>
            <a:xfrm>
              <a:off x="4663440" y="4384548"/>
              <a:ext cx="54864" cy="57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Text 46"/>
            <p:cNvSpPr/>
            <p:nvPr/>
          </p:nvSpPr>
          <p:spPr>
            <a:xfrm>
              <a:off x="4791456" y="437997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GDPR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dane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biometryczne</a:t>
              </a:r>
              <a:endParaRPr lang="en-US" sz="1100" b="0" i="0" u="none" strike="noStrike" kern="1200" cap="none" spc="0" baseline="0" dirty="0">
                <a:solidFill>
                  <a:srgbClr val="000000"/>
                </a:solidFill>
                <a:uFillTx/>
                <a:latin typeface="Calibri"/>
              </a:endParaRPr>
            </a:p>
          </p:txBody>
        </p:sp>
        <p:sp>
          <p:nvSpPr>
            <p:cNvPr id="49" name="Text 47"/>
            <p:cNvSpPr/>
            <p:nvPr/>
          </p:nvSpPr>
          <p:spPr>
            <a:xfrm>
              <a:off x="4791456" y="4614672"/>
              <a:ext cx="4023360" cy="256032"/>
            </a:xfrm>
            <a:prstGeom prst="rect">
              <a:avLst/>
            </a:prstGeom>
            <a:noFill/>
            <a:ln cap="flat">
              <a:noFill/>
              <a:prstDash val="solid"/>
            </a:ln>
          </p:spPr>
          <p:txBody>
            <a:bodyPr vert="horz" wrap="square" lIns="0" tIns="0" rIns="0" bIns="0" anchor="ctr" anchorCtr="0" compatLnSpc="1">
              <a:noAutofit/>
            </a:bodyPr>
            <a:lstStyle/>
            <a:p>
              <a:pPr lvl="0">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Dane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dane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biometryczne</a:t>
              </a:r>
              <a:r>
                <a:rPr lang="en-US" sz="1000" b="0" i="0" u="none" strike="noStrike" kern="1200" cap="none" spc="0" baseline="0" dirty="0">
                  <a:solidFill>
                    <a:srgbClr val="111931"/>
                  </a:solidFill>
                  <a:uFillTx/>
                  <a:latin typeface="Calibri" pitchFamily="34"/>
                  <a:ea typeface="Calibri" pitchFamily="34"/>
                  <a:cs typeface="Calibri" pitchFamily="34"/>
                </a:rPr>
                <a:t> (Art. 9 GDPR). </a:t>
              </a:r>
              <a:r>
                <a:rPr lang="en-US" sz="1000" dirty="0" err="1">
                  <a:solidFill>
                    <a:srgbClr val="111931"/>
                  </a:solidFill>
                  <a:latin typeface="Calibri" pitchFamily="34"/>
                  <a:ea typeface="Calibri" pitchFamily="34"/>
                  <a:cs typeface="Calibri" pitchFamily="34"/>
                </a:rPr>
                <a:t>Wymagana</a:t>
              </a:r>
              <a:r>
                <a:rPr lang="en-US" sz="1000" dirty="0">
                  <a:solidFill>
                    <a:srgbClr val="111931"/>
                  </a:solidFill>
                  <a:latin typeface="Calibri" pitchFamily="34"/>
                  <a:ea typeface="Calibri" pitchFamily="34"/>
                  <a:cs typeface="Calibri" pitchFamily="34"/>
                </a:rPr>
                <a:t> jest </a:t>
              </a:r>
              <a:r>
                <a:rPr lang="en-US" sz="1000" dirty="0" err="1">
                  <a:solidFill>
                    <a:srgbClr val="111931"/>
                  </a:solidFill>
                  <a:latin typeface="Calibri" pitchFamily="34"/>
                  <a:ea typeface="Calibri" pitchFamily="34"/>
                  <a:cs typeface="Calibri" pitchFamily="34"/>
                </a:rPr>
                <a:t>wyraźna</a:t>
              </a:r>
              <a:r>
                <a:rPr lang="en-US" sz="1000" dirty="0">
                  <a:solidFill>
                    <a:srgbClr val="111931"/>
                  </a:solidFill>
                  <a:latin typeface="Calibri" pitchFamily="34"/>
                  <a:ea typeface="Calibri" pitchFamily="34"/>
                  <a:cs typeface="Calibri" pitchFamily="34"/>
                </a:rPr>
                <a:t> </a:t>
              </a:r>
              <a:r>
                <a:rPr lang="en-US" sz="1000" dirty="0" err="1">
                  <a:solidFill>
                    <a:srgbClr val="111931"/>
                  </a:solidFill>
                  <a:latin typeface="Calibri" pitchFamily="34"/>
                  <a:ea typeface="Calibri" pitchFamily="34"/>
                  <a:cs typeface="Calibri" pitchFamily="34"/>
                </a:rPr>
                <a:t>zgoda</a:t>
              </a:r>
              <a:r>
                <a:rPr lang="en-US" sz="1000" dirty="0">
                  <a:solidFill>
                    <a:srgbClr val="111931"/>
                  </a:solidFill>
                  <a:latin typeface="Calibri" pitchFamily="34"/>
                  <a:ea typeface="Calibri" pitchFamily="34"/>
                  <a:cs typeface="Calibri" pitchFamily="34"/>
                </a:rPr>
                <a:t>. </a:t>
              </a:r>
              <a:r>
                <a:rPr lang="en-US" sz="1000" dirty="0" err="1">
                  <a:solidFill>
                    <a:srgbClr val="111931"/>
                  </a:solidFill>
                  <a:latin typeface="Calibri" pitchFamily="34"/>
                  <a:ea typeface="Calibri" pitchFamily="34"/>
                  <a:cs typeface="Calibri" pitchFamily="34"/>
                </a:rPr>
                <a:t>Przetwarzanie</a:t>
              </a:r>
              <a:r>
                <a:rPr lang="en-US" sz="1000" dirty="0">
                  <a:solidFill>
                    <a:srgbClr val="111931"/>
                  </a:solidFill>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cel</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rekrutacji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wymaga</a:t>
              </a:r>
              <a:r>
                <a:rPr lang="en-US" sz="1000" b="0" i="0" u="none" strike="noStrike" kern="1200" cap="none" spc="0" baseline="0" dirty="0">
                  <a:solidFill>
                    <a:srgbClr val="111931"/>
                  </a:solidFill>
                  <a:uFillTx/>
                  <a:latin typeface="Calibri" pitchFamily="34"/>
                  <a:ea typeface="Calibri" pitchFamily="34"/>
                  <a:cs typeface="Calibri" pitchFamily="34"/>
                </a:rPr>
                <a:t> DPA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DPIA.</a:t>
              </a:r>
              <a:endParaRPr lang="en-US" sz="1000" b="0" i="0" u="none" strike="noStrike" kern="1200" cap="none" spc="0" baseline="0" dirty="0">
                <a:solidFill>
                  <a:srgbClr val="111931"/>
                </a:solidFill>
                <a:uFillTx/>
                <a:latin typeface="Calibri"/>
              </a:endParaRPr>
            </a:p>
          </p:txBody>
        </p:sp>
      </p:grpSp>
      <p:sp>
        <p:nvSpPr>
          <p:cNvPr id="63"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24</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9FF"/>
        </a:solidFill>
        <a:effectLst/>
      </p:bgPr>
    </p:bg>
    <p:spTree>
      <p:nvGrpSpPr>
        <p:cNvPr id="1" name=""/>
        <p:cNvGrpSpPr/>
        <p:nvPr/>
      </p:nvGrpSpPr>
      <p:grpSpPr>
        <a:xfrm>
          <a:off x="0" y="0"/>
          <a:ext cx="0" cy="0"/>
          <a:chOff x="0" y="0"/>
          <a:chExt cx="0" cy="0"/>
        </a:xfrm>
      </p:grpSpPr>
      <p:grpSp>
        <p:nvGrpSpPr>
          <p:cNvPr id="44" name="Grupa 43"/>
          <p:cNvGrpSpPr/>
          <p:nvPr/>
        </p:nvGrpSpPr>
        <p:grpSpPr>
          <a:xfrm>
            <a:off x="0" y="0"/>
            <a:ext cx="9144000" cy="558000"/>
            <a:chOff x="0" y="0"/>
            <a:chExt cx="9144000" cy="558000"/>
          </a:xfrm>
        </p:grpSpPr>
        <p:sp>
          <p:nvSpPr>
            <p:cNvPr id="45"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6"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Zastosowanie</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systenci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g</a:t>
            </a:r>
            <a:r>
              <a:rPr lang="en-US" sz="2000" b="1" i="0" u="none" strike="noStrike" kern="1200" cap="none" spc="0" baseline="0" dirty="0" err="1" smtClean="0">
                <a:solidFill>
                  <a:srgbClr val="FFFFFF"/>
                </a:solidFill>
                <a:uFillTx/>
                <a:latin typeface="Cambria" pitchFamily="34"/>
                <a:ea typeface="Cambria" pitchFamily="34"/>
                <a:cs typeface="Cambria" pitchFamily="34"/>
              </a:rPr>
              <a:t>łosowi</a:t>
            </a:r>
            <a:r>
              <a:rPr lang="pl-PL" sz="2000" b="1" dirty="0" smtClean="0">
                <a:solidFill>
                  <a:srgbClr val="FFFFFF"/>
                </a:solidFill>
                <a:latin typeface="Cambria" pitchFamily="34"/>
                <a:ea typeface="Cambria" pitchFamily="34"/>
                <a:cs typeface="Cambria" pitchFamily="34"/>
              </a:rPr>
              <a:t>,</a:t>
            </a:r>
            <a:r>
              <a:rPr lang="en-US" sz="2000" b="1" dirty="0">
                <a:solidFill>
                  <a:srgbClr val="FFFFFF"/>
                </a:solidFill>
                <a:latin typeface="Cambria" pitchFamily="34"/>
                <a:ea typeface="Cambria" pitchFamily="34"/>
                <a:cs typeface="Cambria" pitchFamily="34"/>
              </a:rPr>
              <a:t> </a:t>
            </a:r>
            <a:r>
              <a:rPr lang="pl-PL" sz="2000" b="1" dirty="0">
                <a:solidFill>
                  <a:srgbClr val="FFFFFF"/>
                </a:solidFill>
                <a:latin typeface="Cambria" pitchFamily="34"/>
                <a:ea typeface="Cambria" pitchFamily="34"/>
                <a:cs typeface="Cambria" pitchFamily="34"/>
              </a:rPr>
              <a:t>e</a:t>
            </a:r>
            <a:r>
              <a:rPr lang="en-US" sz="2000" b="1" dirty="0" err="1">
                <a:solidFill>
                  <a:srgbClr val="FFFFFF"/>
                </a:solidFill>
                <a:latin typeface="Cambria" pitchFamily="34"/>
                <a:ea typeface="Cambria" pitchFamily="34"/>
                <a:cs typeface="Cambria" pitchFamily="34"/>
              </a:rPr>
              <a:t>mpatyczne</a:t>
            </a:r>
            <a:r>
              <a:rPr lang="en-US" sz="2000" b="1" dirty="0">
                <a:solidFill>
                  <a:srgbClr val="FFFFFF"/>
                </a:solidFill>
                <a:latin typeface="Cambria" pitchFamily="34"/>
                <a:ea typeface="Cambria" pitchFamily="34"/>
                <a:cs typeface="Cambria" pitchFamily="34"/>
              </a:rPr>
              <a:t> </a:t>
            </a:r>
            <a:r>
              <a:rPr lang="en-US" sz="2000" b="1" dirty="0" smtClean="0">
                <a:solidFill>
                  <a:srgbClr val="FFFFFF"/>
                </a:solidFill>
                <a:latin typeface="Cambria" pitchFamily="34"/>
                <a:ea typeface="Cambria" pitchFamily="34"/>
                <a:cs typeface="Cambria" pitchFamily="34"/>
              </a:rPr>
              <a:t>AI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smtClean="0">
                <a:solidFill>
                  <a:srgbClr val="FFFFFF"/>
                </a:solidFill>
                <a:uFillTx/>
                <a:latin typeface="Cambria" pitchFamily="34"/>
                <a:ea typeface="Cambria" pitchFamily="34"/>
                <a:cs typeface="Cambria" pitchFamily="34"/>
              </a:rPr>
              <a:t>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smtClean="0">
                <a:solidFill>
                  <a:srgbClr val="FFFFFF"/>
                </a:solidFill>
                <a:uFillTx/>
                <a:latin typeface="Cambria" pitchFamily="34"/>
                <a:ea typeface="Cambria" pitchFamily="34"/>
                <a:cs typeface="Cambria" pitchFamily="34"/>
              </a:rPr>
              <a:t>Metaverse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46392"/>
            <a:ext cx="8503920" cy="50785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Asystenci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głosowi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avatary</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metaverse</a:t>
            </a:r>
            <a:r>
              <a:rPr lang="en-US" sz="1600" b="0" i="0" u="none" strike="noStrike" kern="1200" cap="none" spc="0" baseline="0" dirty="0">
                <a:solidFill>
                  <a:srgbClr val="111931"/>
                </a:solidFill>
                <a:uFillTx/>
                <a:latin typeface="Calibri" pitchFamily="34"/>
                <a:ea typeface="Calibri" pitchFamily="34"/>
                <a:cs typeface="Calibri" pitchFamily="34"/>
              </a:rPr>
              <a:t> to </a:t>
            </a:r>
            <a:r>
              <a:rPr lang="en-US" sz="1600" b="0" i="0" u="none" strike="noStrike" kern="1200" cap="none" spc="0" baseline="0" dirty="0" err="1">
                <a:solidFill>
                  <a:srgbClr val="111931"/>
                </a:solidFill>
                <a:uFillTx/>
                <a:latin typeface="Calibri" pitchFamily="34"/>
                <a:ea typeface="Calibri" pitchFamily="34"/>
                <a:cs typeface="Calibri" pitchFamily="34"/>
              </a:rPr>
              <a:t>nowa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fronstera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informatyki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afektywnej</a:t>
            </a:r>
            <a:r>
              <a:rPr lang="pl-PL" sz="1600" kern="0" dirty="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endParaRPr lang="pl-PL" sz="16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600" dirty="0" smtClean="0">
                <a:solidFill>
                  <a:srgbClr val="111931"/>
                </a:solidFill>
                <a:latin typeface="Calibri" pitchFamily="34"/>
                <a:ea typeface="Calibri" pitchFamily="34"/>
                <a:cs typeface="Calibri" pitchFamily="34"/>
              </a:rPr>
              <a:t>S</a:t>
            </a:r>
            <a:r>
              <a:rPr lang="en-US" sz="1600" b="0" i="0" u="none" strike="noStrike" kern="1200" cap="none" spc="0" baseline="0" dirty="0" err="1" smtClean="0">
                <a:solidFill>
                  <a:srgbClr val="111931"/>
                </a:solidFill>
                <a:uFillTx/>
                <a:latin typeface="Calibri" pitchFamily="34"/>
                <a:ea typeface="Calibri" pitchFamily="34"/>
                <a:cs typeface="Calibri" pitchFamily="34"/>
              </a:rPr>
              <a:t>ystem</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musi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rozpoznawać</a:t>
            </a:r>
            <a:r>
              <a:rPr lang="en-US" sz="1600" b="0" i="0" u="none" strike="noStrike" kern="1200" cap="none" spc="0" baseline="0" dirty="0">
                <a:solidFill>
                  <a:srgbClr val="111931"/>
                </a:solidFill>
                <a:uFillTx/>
                <a:latin typeface="Calibri" pitchFamily="34"/>
                <a:ea typeface="Calibri" pitchFamily="34"/>
                <a:cs typeface="Calibri" pitchFamily="34"/>
              </a:rPr>
              <a:t> </a:t>
            </a:r>
            <a:r>
              <a:rPr lang="pl-PL" sz="1600" b="0" i="0" u="none" strike="noStrike" kern="1200" cap="none" spc="0" baseline="0" dirty="0" smtClean="0">
                <a:solidFill>
                  <a:srgbClr val="111931"/>
                </a:solidFill>
                <a:uFillTx/>
                <a:latin typeface="Calibri" pitchFamily="34"/>
                <a:ea typeface="Calibri" pitchFamily="34"/>
                <a:cs typeface="Calibri" pitchFamily="34"/>
              </a:rPr>
              <a:t>i</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generować</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emocje</a:t>
            </a:r>
            <a:r>
              <a:rPr lang="en-US" sz="1600" b="0" i="0" u="none" strike="noStrike" kern="1200" cap="none" spc="0" baseline="0" dirty="0">
                <a:solidFill>
                  <a:srgbClr val="111931"/>
                </a:solidFill>
                <a:uFillTx/>
                <a:latin typeface="Calibri" pitchFamily="34"/>
                <a:ea typeface="Calibri" pitchFamily="34"/>
                <a:cs typeface="Calibri" pitchFamily="34"/>
              </a:rPr>
              <a:t> w </a:t>
            </a:r>
            <a:r>
              <a:rPr lang="en-US" sz="1600" b="0" i="0" u="none" strike="noStrike" kern="1200" cap="none" spc="0" baseline="0" dirty="0" err="1">
                <a:solidFill>
                  <a:srgbClr val="111931"/>
                </a:solidFill>
                <a:uFillTx/>
                <a:latin typeface="Calibri" pitchFamily="34"/>
                <a:ea typeface="Calibri" pitchFamily="34"/>
                <a:cs typeface="Calibri" pitchFamily="34"/>
              </a:rPr>
              <a:t>dialogu</a:t>
            </a:r>
            <a:endParaRPr lang="en-US" sz="1600" b="0" i="0" u="none" strike="noStrike" kern="1200" cap="none" spc="0" baseline="0" dirty="0">
              <a:solidFill>
                <a:srgbClr val="111931"/>
              </a:solidFill>
              <a:uFillTx/>
              <a:latin typeface="Calibri"/>
            </a:endParaRPr>
          </a:p>
        </p:txBody>
      </p:sp>
      <p:grpSp>
        <p:nvGrpSpPr>
          <p:cNvPr id="51" name="Grupa 50"/>
          <p:cNvGrpSpPr/>
          <p:nvPr/>
        </p:nvGrpSpPr>
        <p:grpSpPr>
          <a:xfrm>
            <a:off x="114300" y="1530096"/>
            <a:ext cx="4366260" cy="595812"/>
            <a:chOff x="320040" y="1141476"/>
            <a:chExt cx="4160520" cy="595812"/>
          </a:xfrm>
        </p:grpSpPr>
        <p:sp>
          <p:nvSpPr>
            <p:cNvPr id="8" name="Shape 6"/>
            <p:cNvSpPr/>
            <p:nvPr/>
          </p:nvSpPr>
          <p:spPr>
            <a:xfrm>
              <a:off x="320040" y="1161288"/>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 y="116128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448056" y="114147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Apple Siri </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Emotional Intelligence</a:t>
              </a:r>
              <a:endParaRPr lang="en-US" sz="1100" b="0" i="0" u="none" strike="noStrike" kern="1200" cap="none" spc="0" baseline="0" dirty="0">
                <a:solidFill>
                  <a:srgbClr val="000000"/>
                </a:solidFill>
                <a:uFillTx/>
                <a:latin typeface="Calibri"/>
              </a:endParaRPr>
            </a:p>
          </p:txBody>
        </p:sp>
        <p:sp>
          <p:nvSpPr>
            <p:cNvPr id="11" name="Text 9"/>
            <p:cNvSpPr/>
            <p:nvPr/>
          </p:nvSpPr>
          <p:spPr>
            <a:xfrm>
              <a:off x="448056" y="1368552"/>
              <a:ext cx="3977639" cy="355092"/>
            </a:xfrm>
            <a:prstGeom prst="rect">
              <a:avLst/>
            </a:prstGeom>
            <a:noFill/>
            <a:ln cap="flat">
              <a:noFill/>
              <a:prstDash val="solid"/>
            </a:ln>
          </p:spPr>
          <p:txBody>
            <a:bodyPr vert="horz" wrap="square" lIns="0" tIns="0" rIns="0" bIns="0" anchor="ctr" anchorCtr="0" compatLnSpc="1">
              <a:noAutofit/>
            </a:bodyPr>
            <a:lstStyle/>
            <a:p>
              <a:pPr lvl="0">
                <a:lnSpc>
                  <a:spcPts val="1000"/>
                </a:lnSpc>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iOS 17: Siri </a:t>
              </a:r>
              <a:r>
                <a:rPr lang="en-US" sz="1000" b="0" i="0" u="none" strike="noStrike" kern="1200" cap="none" spc="0" baseline="0" dirty="0" err="1">
                  <a:solidFill>
                    <a:srgbClr val="111931"/>
                  </a:solidFill>
                  <a:uFillTx/>
                  <a:latin typeface="Calibri" pitchFamily="34"/>
                  <a:ea typeface="Calibri" pitchFamily="34"/>
                  <a:cs typeface="Calibri" pitchFamily="34"/>
                </a:rPr>
                <a:t>analizuje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tonację</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głosu</a:t>
              </a:r>
              <a:r>
                <a:rPr lang="en-US" sz="1000" b="0" i="0" u="none" strike="noStrike" kern="1200" cap="none" spc="0" baseline="0" dirty="0">
                  <a:solidFill>
                    <a:srgbClr val="111931"/>
                  </a:solidFill>
                  <a:uFillTx/>
                  <a:latin typeface="Calibri" pitchFamily="34"/>
                  <a:ea typeface="Calibri" pitchFamily="34"/>
                  <a:cs typeface="Calibri" pitchFamily="34"/>
                </a:rPr>
                <a:t> → adapts tone </a:t>
              </a:r>
              <a:r>
                <a:rPr lang="en-US" sz="1000" b="0" i="0" u="none" strike="noStrike" kern="1200" cap="none" spc="0" baseline="0" dirty="0" err="1">
                  <a:solidFill>
                    <a:srgbClr val="111931"/>
                  </a:solidFill>
                  <a:uFillTx/>
                  <a:latin typeface="Calibri" pitchFamily="34"/>
                  <a:ea typeface="Calibri" pitchFamily="34"/>
                  <a:cs typeface="Calibri" pitchFamily="34"/>
                </a:rPr>
                <a:t>odpowiedzi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Smutek</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
              </a:r>
              <a:br>
                <a:rPr lang="pl-PL" sz="1000" b="0" i="0" u="none" strike="noStrike" kern="1200" cap="none" spc="0" baseline="0" dirty="0" smtClean="0">
                  <a:solidFill>
                    <a:srgbClr val="111931"/>
                  </a:solidFill>
                  <a:uFillTx/>
                  <a:latin typeface="Calibri" pitchFamily="34"/>
                  <a:ea typeface="Calibri" pitchFamily="34"/>
                  <a:cs typeface="Calibri" pitchFamily="34"/>
                </a:rPr>
              </a:br>
              <a:r>
                <a:rPr lang="en-US" sz="1000" b="0" i="0" u="none" strike="noStrike" kern="1200" cap="none" spc="0" baseline="0" dirty="0" smtClean="0">
                  <a:solidFill>
                    <a:srgbClr val="111931"/>
                  </a:solidFill>
                  <a:uFillTx/>
                  <a:latin typeface="Calibri" pitchFamily="34"/>
                  <a:ea typeface="Calibri" pitchFamily="34"/>
                  <a:cs typeface="Calibri" pitchFamily="34"/>
                </a:rPr>
                <a:t>w </a:t>
              </a:r>
              <a:r>
                <a:rPr lang="en-US" sz="1000" b="0" i="0" u="none" strike="noStrike" kern="1200" cap="none" spc="0" baseline="0" dirty="0" err="1">
                  <a:solidFill>
                    <a:srgbClr val="111931"/>
                  </a:solidFill>
                  <a:uFillTx/>
                  <a:latin typeface="Calibri" pitchFamily="34"/>
                  <a:ea typeface="Calibri" pitchFamily="34"/>
                  <a:cs typeface="Calibri" pitchFamily="34"/>
                </a:rPr>
                <a:t>głosie</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bardziej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łagodna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empatyczna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odpowiedź</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dirty="0">
                  <a:solidFill>
                    <a:srgbClr val="111931"/>
                  </a:solidFill>
                  <a:latin typeface="Calibri" pitchFamily="34"/>
                  <a:ea typeface="Calibri" pitchFamily="34"/>
                  <a:cs typeface="Calibri" pitchFamily="34"/>
                </a:rPr>
                <a:t>Proaktywne bodźce promujące zdrowy tryb życia</a:t>
              </a:r>
              <a:r>
                <a:rPr lang="en-US" sz="1000" b="0" i="0" u="none" strike="noStrike" kern="1200" cap="none" spc="0" baseline="0" dirty="0" smtClean="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0" name="Grupa 49"/>
          <p:cNvGrpSpPr/>
          <p:nvPr/>
        </p:nvGrpSpPr>
        <p:grpSpPr>
          <a:xfrm>
            <a:off x="114300" y="2156459"/>
            <a:ext cx="4366260" cy="588193"/>
            <a:chOff x="320040" y="1798319"/>
            <a:chExt cx="4160520" cy="588193"/>
          </a:xfrm>
        </p:grpSpPr>
        <p:sp>
          <p:nvSpPr>
            <p:cNvPr id="12" name="Shape 10"/>
            <p:cNvSpPr/>
            <p:nvPr/>
          </p:nvSpPr>
          <p:spPr>
            <a:xfrm>
              <a:off x="320040" y="181051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320040" y="1810512"/>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448056" y="1798319"/>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Google Assistant </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Emotions in TTS</a:t>
              </a:r>
              <a:endParaRPr lang="en-US" sz="1100" b="0" i="0" u="none" strike="noStrike" kern="1200" cap="none" spc="0" baseline="0" dirty="0">
                <a:solidFill>
                  <a:srgbClr val="000000"/>
                </a:solidFill>
                <a:uFillTx/>
                <a:latin typeface="Calibri"/>
              </a:endParaRPr>
            </a:p>
          </p:txBody>
        </p:sp>
        <p:sp>
          <p:nvSpPr>
            <p:cNvPr id="15" name="Text 13"/>
            <p:cNvSpPr/>
            <p:nvPr/>
          </p:nvSpPr>
          <p:spPr>
            <a:xfrm>
              <a:off x="448056" y="2028443"/>
              <a:ext cx="3977639" cy="336080"/>
            </a:xfrm>
            <a:prstGeom prst="rect">
              <a:avLst/>
            </a:prstGeom>
            <a:noFill/>
            <a:ln cap="flat">
              <a:noFill/>
              <a:prstDash val="solid"/>
            </a:ln>
          </p:spPr>
          <p:txBody>
            <a:bodyPr vert="horz" wrap="square" lIns="0" tIns="0" rIns="0" bIns="0" anchor="ctr" anchorCtr="0" compatLnSpc="1">
              <a:noAutofit/>
            </a:bodyPr>
            <a:lstStyle/>
            <a:p>
              <a:pPr lvl="0">
                <a:lnSpc>
                  <a:spcPts val="1000"/>
                </a:lnSpc>
                <a:defRPr sz="1800" b="0" i="0" u="none" strike="noStrike" kern="0" cap="none" spc="0" baseline="0">
                  <a:solidFill>
                    <a:srgbClr val="000000"/>
                  </a:solidFill>
                  <a:uFillTx/>
                </a:defRPr>
              </a:pPr>
              <a:r>
                <a:rPr lang="pl-PL" sz="1000" b="0" i="0" u="none" strike="noStrike" kern="1200" cap="none" spc="0" baseline="0" dirty="0" smtClean="0">
                  <a:solidFill>
                    <a:srgbClr val="111931"/>
                  </a:solidFill>
                  <a:uFillTx/>
                  <a:latin typeface="Calibri" pitchFamily="34"/>
                  <a:ea typeface="Calibri" pitchFamily="34"/>
                  <a:cs typeface="Calibri" pitchFamily="34"/>
                </a:rPr>
                <a:t>System TTS </a:t>
              </a:r>
              <a:r>
                <a:rPr lang="en-US" sz="1000" b="0" i="0" u="none" strike="noStrike" kern="1200" cap="none" spc="0" baseline="0" dirty="0" err="1" smtClean="0">
                  <a:solidFill>
                    <a:srgbClr val="111931"/>
                  </a:solidFill>
                  <a:uFillTx/>
                  <a:latin typeface="Calibri" pitchFamily="34"/>
                  <a:ea typeface="Calibri" pitchFamily="34"/>
                  <a:cs typeface="Calibri" pitchFamily="34"/>
                </a:rPr>
                <a:t>WaveNet</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SoundStorm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smtClean="0">
                  <a:solidFill>
                    <a:srgbClr val="111931"/>
                  </a:solidFill>
                  <a:uFillTx/>
                  <a:latin typeface="Calibri" pitchFamily="34"/>
                  <a:ea typeface="Calibri" pitchFamily="34"/>
                  <a:cs typeface="Calibri" pitchFamily="34"/>
                </a:rPr>
                <a:t>generuje</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pl-PL" sz="1000" dirty="0">
                  <a:solidFill>
                    <a:srgbClr val="111931"/>
                  </a:solidFill>
                  <a:latin typeface="Calibri" pitchFamily="34"/>
                  <a:ea typeface="Calibri" pitchFamily="34"/>
                  <a:cs typeface="Calibri" pitchFamily="34"/>
                </a:rPr>
                <a:t>generuje głos o bogatej gamie emocji. „Podekscytowany” ton w przypadku dobrych wiadomości. Tryb „współczujący” po wykryciu smutku.</a:t>
              </a:r>
              <a:endParaRPr lang="en-US" sz="1000" b="0" i="0" u="none" strike="noStrike" kern="1200" cap="none" spc="0" baseline="0" dirty="0">
                <a:solidFill>
                  <a:srgbClr val="111931"/>
                </a:solidFill>
                <a:uFillTx/>
                <a:latin typeface="Calibri"/>
              </a:endParaRPr>
            </a:p>
          </p:txBody>
        </p:sp>
      </p:grpSp>
      <p:grpSp>
        <p:nvGrpSpPr>
          <p:cNvPr id="49" name="Grupa 48"/>
          <p:cNvGrpSpPr/>
          <p:nvPr/>
        </p:nvGrpSpPr>
        <p:grpSpPr>
          <a:xfrm>
            <a:off x="114300" y="2759963"/>
            <a:ext cx="4366260" cy="631813"/>
            <a:chOff x="320040" y="2554223"/>
            <a:chExt cx="4160520" cy="631813"/>
          </a:xfrm>
        </p:grpSpPr>
        <p:sp>
          <p:nvSpPr>
            <p:cNvPr id="16" name="Shape 14"/>
            <p:cNvSpPr/>
            <p:nvPr/>
          </p:nvSpPr>
          <p:spPr>
            <a:xfrm>
              <a:off x="320040" y="2574036"/>
              <a:ext cx="416052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320040" y="2574036"/>
              <a:ext cx="54864" cy="612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448056" y="2554223"/>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Amazon Alexa </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Emotion Detection</a:t>
              </a:r>
              <a:endParaRPr lang="en-US" sz="1100" b="0" i="0" u="none" strike="noStrike" kern="1200" cap="none" spc="0" baseline="0" dirty="0">
                <a:solidFill>
                  <a:srgbClr val="000000"/>
                </a:solidFill>
                <a:uFillTx/>
                <a:latin typeface="Calibri"/>
              </a:endParaRPr>
            </a:p>
          </p:txBody>
        </p:sp>
        <p:sp>
          <p:nvSpPr>
            <p:cNvPr id="19" name="Text 17"/>
            <p:cNvSpPr/>
            <p:nvPr/>
          </p:nvSpPr>
          <p:spPr>
            <a:xfrm>
              <a:off x="448056" y="2771208"/>
              <a:ext cx="3977639" cy="386520"/>
            </a:xfrm>
            <a:prstGeom prst="rect">
              <a:avLst/>
            </a:prstGeom>
            <a:noFill/>
            <a:ln cap="flat">
              <a:noFill/>
              <a:prstDash val="solid"/>
            </a:ln>
          </p:spPr>
          <p:txBody>
            <a:bodyPr vert="horz" wrap="square" lIns="0" tIns="0" rIns="0" bIns="0" anchor="ctr" anchorCtr="0" compatLnSpc="1">
              <a:noAutofit/>
            </a:bodyPr>
            <a:lstStyle/>
            <a:p>
              <a:pPr lvl="0">
                <a:lnSpc>
                  <a:spcPts val="1000"/>
                </a:lnSpc>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Alexa Voice Service: Frustration Detection — </a:t>
              </a:r>
              <a:r>
                <a:rPr lang="en-US" sz="1000" b="0" i="0" u="none" strike="noStrike" kern="1200" cap="none" spc="0" baseline="0" dirty="0" err="1">
                  <a:solidFill>
                    <a:srgbClr val="111931"/>
                  </a:solidFill>
                  <a:uFillTx/>
                  <a:latin typeface="Calibri" pitchFamily="34"/>
                  <a:ea typeface="Calibri" pitchFamily="34"/>
                  <a:cs typeface="Calibri" pitchFamily="34"/>
                </a:rPr>
                <a:t>rozpoznaje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frustrację</a:t>
              </a:r>
              <a:r>
                <a:rPr lang="en-US" sz="1000" b="0" i="0" u="none" strike="noStrike" kern="1200" cap="none" spc="0" baseline="0" dirty="0">
                  <a:solidFill>
                    <a:srgbClr val="111931"/>
                  </a:solidFill>
                  <a:uFillTx/>
                  <a:latin typeface="Calibri" pitchFamily="34"/>
                  <a:ea typeface="Calibri" pitchFamily="34"/>
                  <a:cs typeface="Calibri" pitchFamily="34"/>
                </a:rPr>
                <a:t> z </a:t>
              </a:r>
              <a:r>
                <a:rPr lang="en-US" sz="1000" b="0" i="0" u="none" strike="noStrike" kern="1200" cap="none" spc="0" baseline="0" dirty="0" err="1">
                  <a:solidFill>
                    <a:srgbClr val="111931"/>
                  </a:solidFill>
                  <a:uFillTx/>
                  <a:latin typeface="Calibri" pitchFamily="34"/>
                  <a:ea typeface="Calibri" pitchFamily="34"/>
                  <a:cs typeface="Calibri" pitchFamily="34"/>
                </a:rPr>
                <a:t>głosu</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Przepraszam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że</a:t>
              </a:r>
              <a:r>
                <a:rPr lang="en-US" sz="1000" b="0" i="0" u="none" strike="noStrike" kern="1200" cap="none" spc="0" baseline="0" dirty="0">
                  <a:solidFill>
                    <a:srgbClr val="111931"/>
                  </a:solidFill>
                  <a:uFillTx/>
                  <a:latin typeface="Calibri" pitchFamily="34"/>
                  <a:ea typeface="Calibri" pitchFamily="34"/>
                  <a:cs typeface="Calibri" pitchFamily="34"/>
                </a:rPr>
                <a:t> to </a:t>
              </a:r>
              <a:r>
                <a:rPr lang="en-US" sz="1000" b="0" i="0" u="none" strike="noStrike" kern="1200" cap="none" spc="0" baseline="0" dirty="0" err="1">
                  <a:solidFill>
                    <a:srgbClr val="111931"/>
                  </a:solidFill>
                  <a:uFillTx/>
                  <a:latin typeface="Calibri" pitchFamily="34"/>
                  <a:ea typeface="Calibri" pitchFamily="34"/>
                  <a:cs typeface="Calibri" pitchFamily="34"/>
                </a:rPr>
                <a:t>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zadziałało</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chcesz</a:t>
              </a:r>
              <a:r>
                <a:rPr lang="en-US" sz="1000" b="0" i="0" u="none" strike="noStrike" kern="1200" cap="none" spc="0" baseline="0" dirty="0">
                  <a:solidFill>
                    <a:srgbClr val="111931"/>
                  </a:solidFill>
                  <a:uFillTx/>
                  <a:latin typeface="Calibri" pitchFamily="34"/>
                  <a:ea typeface="Calibri" pitchFamily="34"/>
                  <a:cs typeface="Calibri" pitchFamily="34"/>
                </a:rPr>
                <a:t> aby </a:t>
              </a:r>
              <a:r>
                <a:rPr lang="en-US" sz="1000" b="0" i="0" u="none" strike="noStrike" kern="1200" cap="none" spc="0" baseline="0" dirty="0" err="1">
                  <a:solidFill>
                    <a:srgbClr val="111931"/>
                  </a:solidFill>
                  <a:uFillTx/>
                  <a:latin typeface="Calibri" pitchFamily="34"/>
                  <a:ea typeface="Calibri" pitchFamily="34"/>
                  <a:cs typeface="Calibri" pitchFamily="34"/>
                </a:rPr>
                <a:t>spróbowałam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inaczej</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dirty="0">
                  <a:solidFill>
                    <a:srgbClr val="111931"/>
                  </a:solidFill>
                  <a:latin typeface="Calibri" pitchFamily="34"/>
                  <a:ea typeface="Calibri" pitchFamily="34"/>
                  <a:cs typeface="Calibri" pitchFamily="34"/>
                </a:rPr>
                <a:t>O 45% mniejszy wskaźnik rezygnacji.</a:t>
              </a:r>
              <a:endParaRPr lang="en-US" sz="1000" b="0" i="0" u="none" strike="noStrike" kern="1200" cap="none" spc="0" baseline="0" dirty="0">
                <a:solidFill>
                  <a:srgbClr val="111931"/>
                </a:solidFill>
                <a:uFillTx/>
                <a:latin typeface="Calibri"/>
              </a:endParaRPr>
            </a:p>
          </p:txBody>
        </p:sp>
      </p:grpSp>
      <p:grpSp>
        <p:nvGrpSpPr>
          <p:cNvPr id="47" name="Grupa 46"/>
          <p:cNvGrpSpPr/>
          <p:nvPr/>
        </p:nvGrpSpPr>
        <p:grpSpPr>
          <a:xfrm>
            <a:off x="114300" y="3436620"/>
            <a:ext cx="4366260" cy="576000"/>
            <a:chOff x="320040" y="3268980"/>
            <a:chExt cx="4160520" cy="576000"/>
          </a:xfrm>
        </p:grpSpPr>
        <p:sp>
          <p:nvSpPr>
            <p:cNvPr id="20" name="Shape 18"/>
            <p:cNvSpPr/>
            <p:nvPr/>
          </p:nvSpPr>
          <p:spPr>
            <a:xfrm>
              <a:off x="320040" y="3268980"/>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320040" y="3268980"/>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448056" y="3279648"/>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Inworld</a:t>
              </a:r>
              <a:r>
                <a:rPr lang="en-US" sz="1100" b="1" i="0" u="none" strike="noStrike" kern="1200" cap="none" spc="0" baseline="0" dirty="0">
                  <a:solidFill>
                    <a:srgbClr val="1F1535"/>
                  </a:solidFill>
                  <a:uFillTx/>
                  <a:latin typeface="Cambria" pitchFamily="34"/>
                  <a:ea typeface="Cambria" pitchFamily="34"/>
                  <a:cs typeface="Cambria" pitchFamily="34"/>
                </a:rPr>
                <a:t> AI / </a:t>
              </a:r>
              <a:r>
                <a:rPr lang="en-US" sz="1100" b="1" i="0" u="none" strike="noStrike" kern="1200" cap="none" spc="0" baseline="0" dirty="0" err="1">
                  <a:solidFill>
                    <a:srgbClr val="1F1535"/>
                  </a:solidFill>
                  <a:uFillTx/>
                  <a:latin typeface="Cambria" pitchFamily="34"/>
                  <a:ea typeface="Cambria" pitchFamily="34"/>
                  <a:cs typeface="Cambria" pitchFamily="34"/>
                </a:rPr>
                <a:t>Convai</a:t>
              </a:r>
              <a:r>
                <a:rPr lang="en-US" sz="1100" b="1" i="0" u="none" strike="noStrike" kern="1200" cap="none" spc="0" baseline="0" dirty="0">
                  <a:solidFill>
                    <a:srgbClr val="1F1535"/>
                  </a:solidFill>
                  <a:uFillTx/>
                  <a:latin typeface="Cambria" pitchFamily="34"/>
                  <a:ea typeface="Cambria" pitchFamily="34"/>
                  <a:cs typeface="Cambria" pitchFamily="34"/>
                </a:rPr>
                <a:t> (NPC w </a:t>
              </a:r>
              <a:r>
                <a:rPr lang="en-US" sz="1100" b="1" i="0" u="none" strike="noStrike" kern="1200" cap="none" spc="0" baseline="0" dirty="0" err="1">
                  <a:solidFill>
                    <a:srgbClr val="1F1535"/>
                  </a:solidFill>
                  <a:uFillTx/>
                  <a:latin typeface="Cambria" pitchFamily="34"/>
                  <a:ea typeface="Cambria" pitchFamily="34"/>
                  <a:cs typeface="Cambria" pitchFamily="34"/>
                </a:rPr>
                <a:t>grach</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23" name="Text 21"/>
            <p:cNvSpPr/>
            <p:nvPr/>
          </p:nvSpPr>
          <p:spPr>
            <a:xfrm>
              <a:off x="448056" y="3537204"/>
              <a:ext cx="3977639"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LLM + SER + TTS z </a:t>
              </a:r>
              <a:r>
                <a:rPr lang="en-US" sz="1000" b="0" i="0" u="none" strike="noStrike" kern="1200" cap="none" spc="0" baseline="0" dirty="0" err="1">
                  <a:solidFill>
                    <a:srgbClr val="111931"/>
                  </a:solidFill>
                  <a:uFillTx/>
                  <a:latin typeface="Calibri" pitchFamily="34"/>
                  <a:ea typeface="Calibri" pitchFamily="34"/>
                  <a:cs typeface="Calibri" pitchFamily="34"/>
                </a:rPr>
                <a:t>emocjami</a:t>
              </a:r>
              <a:r>
                <a:rPr lang="en-US" sz="1000" b="0" i="0" u="none" strike="noStrike" kern="1200" cap="none" spc="0" baseline="0" dirty="0">
                  <a:solidFill>
                    <a:srgbClr val="111931"/>
                  </a:solidFill>
                  <a:uFillTx/>
                  <a:latin typeface="Calibri" pitchFamily="34"/>
                  <a:ea typeface="Calibri" pitchFamily="34"/>
                  <a:cs typeface="Calibri" pitchFamily="34"/>
                </a:rPr>
                <a:t> = NPC </a:t>
              </a:r>
              <a:r>
                <a:rPr lang="en-US" sz="1000" b="0" i="0" u="none" strike="noStrike" kern="1200" cap="none" spc="0" baseline="0" dirty="0" err="1">
                  <a:solidFill>
                    <a:srgbClr val="111931"/>
                  </a:solidFill>
                  <a:uFillTx/>
                  <a:latin typeface="Calibri" pitchFamily="34"/>
                  <a:ea typeface="Calibri" pitchFamily="34"/>
                  <a:cs typeface="Calibri" pitchFamily="34"/>
                </a:rPr>
                <a:t>czujące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emocje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gracza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reagujące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empatycznie</a:t>
              </a:r>
              <a:r>
                <a:rPr lang="en-US" sz="1000" b="0" i="0" u="none" strike="noStrike" kern="1200" cap="none" spc="0" baseline="0" dirty="0">
                  <a:solidFill>
                    <a:srgbClr val="111931"/>
                  </a:solidFill>
                  <a:uFillTx/>
                  <a:latin typeface="Calibri" pitchFamily="34"/>
                  <a:ea typeface="Calibri" pitchFamily="34"/>
                  <a:cs typeface="Calibri" pitchFamily="34"/>
                </a:rPr>
                <a:t>. Minecraft, </a:t>
              </a:r>
              <a:r>
                <a:rPr lang="en-US" sz="1000" b="0" i="0" u="none" strike="noStrike" kern="1200" cap="none" spc="0" baseline="0" dirty="0" err="1">
                  <a:solidFill>
                    <a:srgbClr val="111931"/>
                  </a:solidFill>
                  <a:uFillTx/>
                  <a:latin typeface="Calibri" pitchFamily="34"/>
                  <a:ea typeface="Calibri" pitchFamily="34"/>
                  <a:cs typeface="Calibri" pitchFamily="34"/>
                </a:rPr>
                <a:t>Roblox</a:t>
              </a:r>
              <a:r>
                <a:rPr lang="en-US" sz="1000" b="0" i="0" u="none" strike="noStrike" kern="1200" cap="none" spc="0" baseline="0" dirty="0">
                  <a:solidFill>
                    <a:srgbClr val="111931"/>
                  </a:solidFill>
                  <a:uFillTx/>
                  <a:latin typeface="Calibri" pitchFamily="34"/>
                  <a:ea typeface="Calibri" pitchFamily="34"/>
                  <a:cs typeface="Calibri" pitchFamily="34"/>
                </a:rPr>
                <a:t>, AAA games. </a:t>
              </a:r>
              <a:r>
                <a:rPr lang="en-US" sz="1000" b="0" i="0" u="none" strike="noStrike" kern="1200" cap="none" spc="0" baseline="0" dirty="0" err="1">
                  <a:solidFill>
                    <a:srgbClr val="111931"/>
                  </a:solidFill>
                  <a:uFillTx/>
                  <a:latin typeface="Calibri" pitchFamily="34"/>
                  <a:ea typeface="Calibri" pitchFamily="34"/>
                  <a:cs typeface="Calibri" pitchFamily="34"/>
                </a:rPr>
                <a:t>Pionierzy</a:t>
              </a:r>
              <a:r>
                <a:rPr lang="en-US" sz="1000" b="0" i="0" u="none" strike="noStrike" kern="1200" cap="none" spc="0" baseline="0" dirty="0">
                  <a:solidFill>
                    <a:srgbClr val="111931"/>
                  </a:solidFill>
                  <a:uFillTx/>
                  <a:latin typeface="Calibri" pitchFamily="34"/>
                  <a:ea typeface="Calibri" pitchFamily="34"/>
                  <a:cs typeface="Calibri" pitchFamily="34"/>
                </a:rPr>
                <a:t> affective NPC.</a:t>
              </a:r>
              <a:endParaRPr lang="en-US" sz="1000" b="0" i="0" u="none" strike="noStrike" kern="1200" cap="none" spc="0" baseline="0" dirty="0">
                <a:solidFill>
                  <a:srgbClr val="111931"/>
                </a:solidFill>
                <a:uFillTx/>
                <a:latin typeface="Calibri"/>
              </a:endParaRPr>
            </a:p>
          </p:txBody>
        </p:sp>
      </p:grpSp>
      <p:sp>
        <p:nvSpPr>
          <p:cNvPr id="24" name="Text 22"/>
          <p:cNvSpPr/>
          <p:nvPr/>
        </p:nvSpPr>
        <p:spPr>
          <a:xfrm>
            <a:off x="114300" y="4023360"/>
            <a:ext cx="436626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Empatyczna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synteza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mowy</a:t>
            </a:r>
            <a:r>
              <a:rPr lang="en-US" sz="1100" b="1" i="0" u="none" strike="noStrike" kern="1200" cap="none" spc="0" baseline="0" dirty="0">
                <a:solidFill>
                  <a:srgbClr val="1F1535"/>
                </a:solidFill>
                <a:uFillTx/>
                <a:latin typeface="Cambria" pitchFamily="34"/>
                <a:ea typeface="Cambria" pitchFamily="34"/>
                <a:cs typeface="Cambria" pitchFamily="34"/>
              </a:rPr>
              <a:t> (Emotional TTS</a:t>
            </a:r>
            <a:r>
              <a:rPr lang="en-US" sz="1100" b="1" i="0" u="none" strike="noStrike" kern="1200" cap="none" spc="0" baseline="0" dirty="0" smtClean="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25" name="Shape 23"/>
          <p:cNvSpPr/>
          <p:nvPr/>
        </p:nvSpPr>
        <p:spPr>
          <a:xfrm>
            <a:off x="114300" y="4248984"/>
            <a:ext cx="4366260" cy="661344"/>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3474720" y="4251959"/>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p>
        </p:txBody>
      </p:sp>
      <p:sp>
        <p:nvSpPr>
          <p:cNvPr id="27" name="Text 25"/>
          <p:cNvSpPr/>
          <p:nvPr/>
        </p:nvSpPr>
        <p:spPr>
          <a:xfrm>
            <a:off x="171877" y="4290059"/>
            <a:ext cx="4235531" cy="609599"/>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Emotional TTS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ElevenLabs</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Google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SoundStorm</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tts.synthesize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Rozumiem</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to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musi</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być</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trudne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style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EmotionalStyle.EMPATHETIC</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stability = 0.6f,   //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więcej</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ekspresji</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speakingRate</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0.9f)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wolniej</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empatyczniej</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8" name="Text 26"/>
          <p:cNvSpPr/>
          <p:nvPr/>
        </p:nvSpPr>
        <p:spPr>
          <a:xfrm>
            <a:off x="4663440" y="1397508"/>
            <a:ext cx="4206240" cy="237744"/>
          </a:xfrm>
          <a:prstGeom prst="rect">
            <a:avLst/>
          </a:prstGeom>
          <a:noFill/>
          <a:ln cap="flat">
            <a:noFill/>
            <a:prstDash val="solid"/>
          </a:ln>
        </p:spPr>
        <p:txBody>
          <a:bodyPr vert="horz" wrap="square" lIns="0" tIns="0" rIns="0" bIns="0" anchor="ctr" anchorCtr="0" compatLnSpc="1">
            <a:noAutofit/>
          </a:bodyPr>
          <a:lstStyle/>
          <a:p>
            <a:pPr lvl="0" algn="ctr">
              <a:defRPr sz="1800" b="0" i="0" u="none" strike="noStrike" kern="0" cap="none" spc="0" baseline="0">
                <a:solidFill>
                  <a:srgbClr val="000000"/>
                </a:solidFill>
                <a:uFillTx/>
              </a:defRPr>
            </a:pPr>
            <a:r>
              <a:rPr lang="en-US" sz="1100" b="1" dirty="0" err="1" smtClean="0">
                <a:solidFill>
                  <a:srgbClr val="1F1535"/>
                </a:solidFill>
                <a:latin typeface="Cambria" pitchFamily="34"/>
                <a:ea typeface="Cambria" pitchFamily="34"/>
                <a:cs typeface="Cambria" pitchFamily="34"/>
              </a:rPr>
              <a:t>Emocjonalny</a:t>
            </a:r>
            <a:r>
              <a:rPr lang="en-US" sz="1100" b="1" dirty="0" smtClean="0">
                <a:solidFill>
                  <a:srgbClr val="1F1535"/>
                </a:solidFill>
                <a:latin typeface="Cambria" pitchFamily="34"/>
                <a:ea typeface="Cambria" pitchFamily="34"/>
                <a:cs typeface="Cambria" pitchFamily="34"/>
              </a:rPr>
              <a:t> </a:t>
            </a:r>
            <a:r>
              <a:rPr lang="pl-PL" sz="1100" b="1" dirty="0">
                <a:solidFill>
                  <a:srgbClr val="1F1535"/>
                </a:solidFill>
                <a:latin typeface="Cambria" pitchFamily="34"/>
                <a:ea typeface="Cambria" pitchFamily="34"/>
                <a:cs typeface="Cambria" pitchFamily="34"/>
              </a:rPr>
              <a:t>a</a:t>
            </a:r>
            <a:r>
              <a:rPr lang="en-US" sz="1100" b="1" dirty="0" err="1" smtClean="0">
                <a:solidFill>
                  <a:srgbClr val="1F1535"/>
                </a:solidFill>
                <a:latin typeface="Cambria" pitchFamily="34"/>
                <a:ea typeface="Cambria" pitchFamily="34"/>
                <a:cs typeface="Cambria" pitchFamily="34"/>
              </a:rPr>
              <a:t>vatar</a:t>
            </a:r>
            <a:r>
              <a:rPr lang="pl-PL" sz="1100" b="1" dirty="0" smtClean="0">
                <a:solidFill>
                  <a:srgbClr val="1F1535"/>
                </a:solidFill>
                <a:latin typeface="Cambria" pitchFamily="34"/>
                <a:ea typeface="Cambria" pitchFamily="34"/>
                <a:cs typeface="Cambria" pitchFamily="34"/>
              </a:rPr>
              <a:t>: </a:t>
            </a:r>
            <a:r>
              <a:rPr lang="en-US" sz="1100" b="1" i="0" u="none" strike="noStrike" kern="1200" cap="none" spc="0" baseline="0" dirty="0" smtClean="0">
                <a:solidFill>
                  <a:srgbClr val="1F1535"/>
                </a:solidFill>
                <a:uFillTx/>
                <a:latin typeface="Cambria" pitchFamily="34"/>
                <a:ea typeface="Cambria" pitchFamily="34"/>
                <a:cs typeface="Cambria" pitchFamily="34"/>
              </a:rPr>
              <a:t>Affective </a:t>
            </a:r>
            <a:r>
              <a:rPr lang="en-US" sz="1100" b="1" i="0" u="none" strike="noStrike" kern="1200" cap="none" spc="0" baseline="0" dirty="0" err="1" smtClean="0">
                <a:solidFill>
                  <a:srgbClr val="1F1535"/>
                </a:solidFill>
                <a:uFillTx/>
                <a:latin typeface="Cambria" pitchFamily="34"/>
                <a:ea typeface="Cambria" pitchFamily="34"/>
                <a:cs typeface="Cambria" pitchFamily="34"/>
              </a:rPr>
              <a:t>Metaverse</a:t>
            </a:r>
            <a:endParaRPr lang="en-US" sz="1100" b="0" i="0" u="none" strike="noStrike" kern="1200" cap="none" spc="0" baseline="0" dirty="0">
              <a:solidFill>
                <a:srgbClr val="000000"/>
              </a:solidFill>
              <a:uFillTx/>
              <a:latin typeface="Calibri"/>
            </a:endParaRPr>
          </a:p>
        </p:txBody>
      </p:sp>
      <p:sp>
        <p:nvSpPr>
          <p:cNvPr id="29" name="Shape 27"/>
          <p:cNvSpPr/>
          <p:nvPr/>
        </p:nvSpPr>
        <p:spPr>
          <a:xfrm>
            <a:off x="4663440" y="1637796"/>
            <a:ext cx="4206240" cy="1504692"/>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Text 28"/>
          <p:cNvSpPr/>
          <p:nvPr/>
        </p:nvSpPr>
        <p:spPr>
          <a:xfrm>
            <a:off x="7918704" y="1659636"/>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r>
              <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/Swift</a:t>
            </a:r>
          </a:p>
        </p:txBody>
      </p:sp>
      <p:sp>
        <p:nvSpPr>
          <p:cNvPr id="31" name="Text 29"/>
          <p:cNvSpPr/>
          <p:nvPr/>
        </p:nvSpPr>
        <p:spPr>
          <a:xfrm>
            <a:off x="4754880" y="1709928"/>
            <a:ext cx="4041648" cy="1411224"/>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Meta Quest — Face Tracking → Avatar Expression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Meta Movement SDK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OpenXR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extension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XR_FB_face_tracking</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FaceExpressionTracker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(session)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faceTracker.subscribe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expressions -&gt;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expressions: Map&lt;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FaceExpression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Float&gt;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&gt; 100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blendshapes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na</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Meta Quest Pro</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avatar.updateBlendShapes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(expressions)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Też</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dostępne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eye gaze, tongue, cheeks</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Apple Vision Pro</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ARView.session.addAnchor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ARBodyAnchor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trackingEnabled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true))</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52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ARFaceAnchor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blendshapes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Reality Kit avatar</a:t>
            </a:r>
          </a:p>
        </p:txBody>
      </p:sp>
      <p:grpSp>
        <p:nvGrpSpPr>
          <p:cNvPr id="52" name="Grupa 51"/>
          <p:cNvGrpSpPr/>
          <p:nvPr/>
        </p:nvGrpSpPr>
        <p:grpSpPr>
          <a:xfrm>
            <a:off x="4663440" y="3197352"/>
            <a:ext cx="4206240" cy="540000"/>
            <a:chOff x="4663440" y="3083052"/>
            <a:chExt cx="4206240" cy="540000"/>
          </a:xfrm>
        </p:grpSpPr>
        <p:sp>
          <p:nvSpPr>
            <p:cNvPr id="32" name="Shape 30"/>
            <p:cNvSpPr/>
            <p:nvPr/>
          </p:nvSpPr>
          <p:spPr>
            <a:xfrm>
              <a:off x="4663440" y="3083052"/>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Shape 31"/>
            <p:cNvSpPr/>
            <p:nvPr/>
          </p:nvSpPr>
          <p:spPr>
            <a:xfrm>
              <a:off x="4663440" y="3083052"/>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4" name="Text 32"/>
            <p:cNvSpPr/>
            <p:nvPr/>
          </p:nvSpPr>
          <p:spPr>
            <a:xfrm>
              <a:off x="4791456" y="3093719"/>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Oculus/Meta </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Empathy Research</a:t>
              </a:r>
              <a:endParaRPr lang="en-US" sz="1100" b="0" i="0" u="none" strike="noStrike" kern="1200" cap="none" spc="0" baseline="0" dirty="0">
                <a:solidFill>
                  <a:srgbClr val="000000"/>
                </a:solidFill>
                <a:uFillTx/>
                <a:latin typeface="Calibri"/>
              </a:endParaRPr>
            </a:p>
          </p:txBody>
        </p:sp>
        <p:sp>
          <p:nvSpPr>
            <p:cNvPr id="35" name="Text 33"/>
            <p:cNvSpPr/>
            <p:nvPr/>
          </p:nvSpPr>
          <p:spPr>
            <a:xfrm>
              <a:off x="4760976" y="3328416"/>
              <a:ext cx="4055364"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Meta Social VR: </a:t>
              </a:r>
              <a:r>
                <a:rPr lang="en-US" sz="1000" b="0" i="0" u="none" strike="noStrike" kern="1200" cap="none" spc="0" baseline="0" dirty="0" err="1">
                  <a:solidFill>
                    <a:srgbClr val="111931"/>
                  </a:solidFill>
                  <a:uFillTx/>
                  <a:latin typeface="Calibri" pitchFamily="34"/>
                  <a:ea typeface="Calibri" pitchFamily="34"/>
                  <a:cs typeface="Calibri" pitchFamily="34"/>
                </a:rPr>
                <a:t>poczucie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połączenia</a:t>
              </a:r>
              <a:r>
                <a:rPr lang="en-US" sz="1000" b="0" i="0" u="none" strike="noStrike" kern="1200" cap="none" spc="0" baseline="0" dirty="0">
                  <a:solidFill>
                    <a:srgbClr val="111931"/>
                  </a:solidFill>
                  <a:uFillTx/>
                  <a:latin typeface="Calibri" pitchFamily="34"/>
                  <a:ea typeface="Calibri" pitchFamily="34"/>
                  <a:cs typeface="Calibri" pitchFamily="34"/>
                </a:rPr>
                <a:t> z </a:t>
              </a:r>
              <a:r>
                <a:rPr lang="en-US" sz="1000" b="0" i="0" u="none" strike="noStrike" kern="1200" cap="none" spc="0" baseline="0" dirty="0" err="1">
                  <a:solidFill>
                    <a:srgbClr val="111931"/>
                  </a:solidFill>
                  <a:uFillTx/>
                  <a:latin typeface="Calibri" pitchFamily="34"/>
                  <a:ea typeface="Calibri" pitchFamily="34"/>
                  <a:cs typeface="Calibri" pitchFamily="34"/>
                </a:rPr>
                <a:t>innymi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dzięki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expresyjnym</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avatarom</a:t>
              </a:r>
              <a:r>
                <a:rPr lang="en-US" sz="1000" b="0" i="0" u="none" strike="noStrike" kern="1200" cap="none" spc="0" baseline="0" dirty="0">
                  <a:solidFill>
                    <a:srgbClr val="111931"/>
                  </a:solidFill>
                  <a:uFillTx/>
                  <a:latin typeface="Calibri" pitchFamily="34"/>
                  <a:ea typeface="Calibri" pitchFamily="34"/>
                  <a:cs typeface="Calibri" pitchFamily="34"/>
                </a:rPr>
                <a:t> jest 3× </a:t>
              </a:r>
              <a:r>
                <a:rPr lang="en-US" sz="1000" b="0" i="0" u="none" strike="noStrike" kern="1200" cap="none" spc="0" baseline="0" dirty="0" err="1">
                  <a:solidFill>
                    <a:srgbClr val="111931"/>
                  </a:solidFill>
                  <a:uFillTx/>
                  <a:latin typeface="Calibri" pitchFamily="34"/>
                  <a:ea typeface="Calibri" pitchFamily="34"/>
                  <a:cs typeface="Calibri" pitchFamily="34"/>
                </a:rPr>
                <a:t>wyższe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niż</a:t>
              </a:r>
              <a:r>
                <a:rPr lang="en-US" sz="1000" b="0" i="0" u="none" strike="noStrike" kern="1200" cap="none" spc="0" baseline="0" dirty="0">
                  <a:solidFill>
                    <a:srgbClr val="111931"/>
                  </a:solidFill>
                  <a:uFillTx/>
                  <a:latin typeface="Calibri" pitchFamily="34"/>
                  <a:ea typeface="Calibri" pitchFamily="34"/>
                  <a:cs typeface="Calibri" pitchFamily="34"/>
                </a:rPr>
                <a:t> bez </a:t>
              </a:r>
              <a:r>
                <a:rPr lang="en-US" sz="1000" b="0" i="0" u="none" strike="noStrike" kern="1200" cap="none" spc="0" baseline="0" dirty="0" err="1">
                  <a:solidFill>
                    <a:srgbClr val="111931"/>
                  </a:solidFill>
                  <a:uFillTx/>
                  <a:latin typeface="Calibri" pitchFamily="34"/>
                  <a:ea typeface="Calibri" pitchFamily="34"/>
                  <a:cs typeface="Calibri" pitchFamily="34"/>
                </a:rPr>
                <a:t>śledzenia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Badania</a:t>
              </a:r>
              <a:r>
                <a:rPr lang="en-US" sz="1000" b="0" i="0" u="none" strike="noStrike" kern="1200" cap="none" spc="0" baseline="0" dirty="0">
                  <a:solidFill>
                    <a:srgbClr val="111931"/>
                  </a:solidFill>
                  <a:uFillTx/>
                  <a:latin typeface="Calibri" pitchFamily="34"/>
                  <a:ea typeface="Calibri" pitchFamily="34"/>
                  <a:cs typeface="Calibri" pitchFamily="34"/>
                </a:rPr>
                <a:t> CSAIL MIT </a:t>
              </a:r>
              <a:r>
                <a:rPr lang="en-US" sz="1000" b="0" i="0" u="none" strike="noStrike" kern="1200" cap="none" spc="0" baseline="0" dirty="0" err="1">
                  <a:solidFill>
                    <a:srgbClr val="111931"/>
                  </a:solidFill>
                  <a:uFillTx/>
                  <a:latin typeface="Calibri" pitchFamily="34"/>
                  <a:ea typeface="Calibri" pitchFamily="34"/>
                  <a:cs typeface="Calibri" pitchFamily="34"/>
                </a:rPr>
                <a:t>i</a:t>
              </a:r>
              <a:r>
                <a:rPr lang="en-US" sz="1000" b="0" i="0" u="none" strike="noStrike" kern="1200" cap="none" spc="0" baseline="0" dirty="0">
                  <a:solidFill>
                    <a:srgbClr val="111931"/>
                  </a:solidFill>
                  <a:uFillTx/>
                  <a:latin typeface="Calibri" pitchFamily="34"/>
                  <a:ea typeface="Calibri" pitchFamily="34"/>
                  <a:cs typeface="Calibri" pitchFamily="34"/>
                </a:rPr>
                <a:t> Meta Reality Labs.</a:t>
              </a:r>
              <a:endParaRPr lang="en-US" sz="1000" b="0" i="0" u="none" strike="noStrike" kern="1200" cap="none" spc="0" baseline="0" dirty="0">
                <a:solidFill>
                  <a:srgbClr val="111931"/>
                </a:solidFill>
                <a:uFillTx/>
                <a:latin typeface="Calibri"/>
              </a:endParaRPr>
            </a:p>
          </p:txBody>
        </p:sp>
      </p:grpSp>
      <p:grpSp>
        <p:nvGrpSpPr>
          <p:cNvPr id="53" name="Grupa 52"/>
          <p:cNvGrpSpPr/>
          <p:nvPr/>
        </p:nvGrpSpPr>
        <p:grpSpPr>
          <a:xfrm>
            <a:off x="4663440" y="3793236"/>
            <a:ext cx="4206240" cy="540000"/>
            <a:chOff x="4663440" y="3755136"/>
            <a:chExt cx="4206240" cy="540000"/>
          </a:xfrm>
        </p:grpSpPr>
        <p:sp>
          <p:nvSpPr>
            <p:cNvPr id="36" name="Shape 34"/>
            <p:cNvSpPr/>
            <p:nvPr/>
          </p:nvSpPr>
          <p:spPr>
            <a:xfrm>
              <a:off x="4663440" y="3755136"/>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Shape 35"/>
            <p:cNvSpPr/>
            <p:nvPr/>
          </p:nvSpPr>
          <p:spPr>
            <a:xfrm>
              <a:off x="4663440" y="3755136"/>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8" name="Text 36"/>
            <p:cNvSpPr/>
            <p:nvPr/>
          </p:nvSpPr>
          <p:spPr>
            <a:xfrm>
              <a:off x="4791456" y="3781043"/>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Digital Humans (Unreal </a:t>
              </a:r>
              <a:r>
                <a:rPr lang="en-US" sz="1100" b="1" i="0" u="none" strike="noStrike" kern="1200" cap="none" spc="0" baseline="0" dirty="0" err="1">
                  <a:solidFill>
                    <a:srgbClr val="1F1535"/>
                  </a:solidFill>
                  <a:uFillTx/>
                  <a:latin typeface="Cambria" pitchFamily="34"/>
                  <a:ea typeface="Cambria" pitchFamily="34"/>
                  <a:cs typeface="Cambria" pitchFamily="34"/>
                </a:rPr>
                <a:t>MetaHuman</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39" name="Text 37"/>
            <p:cNvSpPr/>
            <p:nvPr/>
          </p:nvSpPr>
          <p:spPr>
            <a:xfrm>
              <a:off x="4754880" y="4018787"/>
              <a:ext cx="4059936" cy="26060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Photorealistic </a:t>
              </a:r>
              <a:r>
                <a:rPr lang="en-US" sz="1000" b="0" i="0" u="none" strike="noStrike" kern="1200" cap="none" spc="0" baseline="0" dirty="0" err="1">
                  <a:solidFill>
                    <a:srgbClr val="111931"/>
                  </a:solidFill>
                  <a:uFillTx/>
                  <a:latin typeface="Calibri" pitchFamily="34"/>
                  <a:ea typeface="Calibri" pitchFamily="34"/>
                  <a:cs typeface="Calibri" pitchFamily="34"/>
                </a:rPr>
                <a:t>avatary</a:t>
              </a:r>
              <a:r>
                <a:rPr lang="en-US" sz="1000" b="0" i="0" u="none" strike="noStrike" kern="1200" cap="none" spc="0" baseline="0" dirty="0">
                  <a:solidFill>
                    <a:srgbClr val="111931"/>
                  </a:solidFill>
                  <a:uFillTx/>
                  <a:latin typeface="Calibri" pitchFamily="34"/>
                  <a:ea typeface="Calibri" pitchFamily="34"/>
                  <a:cs typeface="Calibri" pitchFamily="34"/>
                </a:rPr>
                <a:t> z FACS-based animation. Unreal Engine 5 </a:t>
              </a:r>
              <a:r>
                <a:rPr lang="en-US" sz="1000" b="0" i="0" u="none" strike="noStrike" kern="1200" cap="none" spc="0" baseline="0" dirty="0" err="1">
                  <a:solidFill>
                    <a:srgbClr val="111931"/>
                  </a:solidFill>
                  <a:uFillTx/>
                  <a:latin typeface="Calibri" pitchFamily="34"/>
                  <a:ea typeface="Calibri" pitchFamily="34"/>
                  <a:cs typeface="Calibri" pitchFamily="34"/>
                </a:rPr>
                <a:t>MetaHuman</a:t>
              </a:r>
              <a:r>
                <a:rPr lang="en-US" sz="1000" b="0" i="0" u="none" strike="noStrike" kern="1200" cap="none" spc="0" baseline="0" dirty="0">
                  <a:solidFill>
                    <a:srgbClr val="111931"/>
                  </a:solidFill>
                  <a:uFillTx/>
                  <a:latin typeface="Calibri" pitchFamily="34"/>
                  <a:ea typeface="Calibri" pitchFamily="34"/>
                  <a:cs typeface="Calibri" pitchFamily="34"/>
                </a:rPr>
                <a:t> + Apple </a:t>
              </a:r>
              <a:r>
                <a:rPr lang="en-US" sz="1000" b="0" i="0" u="none" strike="noStrike" kern="1200" cap="none" spc="0" baseline="0" dirty="0" err="1">
                  <a:solidFill>
                    <a:srgbClr val="111931"/>
                  </a:solidFill>
                  <a:uFillTx/>
                  <a:latin typeface="Calibri" pitchFamily="34"/>
                  <a:ea typeface="Calibri" pitchFamily="34"/>
                  <a:cs typeface="Calibri" pitchFamily="34"/>
                </a:rPr>
                <a:t>ARKit</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smtClean="0">
                  <a:solidFill>
                    <a:srgbClr val="111931"/>
                  </a:solidFill>
                  <a:uFillTx/>
                  <a:latin typeface="Calibri" pitchFamily="34"/>
                  <a:ea typeface="Calibri" pitchFamily="34"/>
                  <a:cs typeface="Calibri" pitchFamily="34"/>
                </a:rPr>
                <a:t>realistic emotional </a:t>
              </a:r>
              <a:r>
                <a:rPr lang="en-US" sz="1000" b="0" i="0" u="none" strike="noStrike" kern="1200" cap="none" spc="0" baseline="0" dirty="0">
                  <a:solidFill>
                    <a:srgbClr val="111931"/>
                  </a:solidFill>
                  <a:uFillTx/>
                  <a:latin typeface="Calibri" pitchFamily="34"/>
                  <a:ea typeface="Calibri" pitchFamily="34"/>
                  <a:cs typeface="Calibri" pitchFamily="34"/>
                </a:rPr>
                <a:t>expression. Standard w produkcji </a:t>
              </a:r>
              <a:r>
                <a:rPr lang="en-US" sz="1000" b="0" i="0" u="none" strike="noStrike" kern="1200" cap="none" spc="0" baseline="0" dirty="0" err="1">
                  <a:solidFill>
                    <a:srgbClr val="111931"/>
                  </a:solidFill>
                  <a:uFillTx/>
                  <a:latin typeface="Calibri" pitchFamily="34"/>
                  <a:ea typeface="Calibri" pitchFamily="34"/>
                  <a:cs typeface="Calibri" pitchFamily="34"/>
                </a:rPr>
                <a:t>filmowej</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4" name="Grupa 53"/>
          <p:cNvGrpSpPr/>
          <p:nvPr/>
        </p:nvGrpSpPr>
        <p:grpSpPr>
          <a:xfrm>
            <a:off x="4663440" y="4404360"/>
            <a:ext cx="4206240" cy="521208"/>
            <a:chOff x="4663440" y="4389120"/>
            <a:chExt cx="4206240" cy="521208"/>
          </a:xfrm>
        </p:grpSpPr>
        <p:sp>
          <p:nvSpPr>
            <p:cNvPr id="40" name="Shape 38"/>
            <p:cNvSpPr/>
            <p:nvPr/>
          </p:nvSpPr>
          <p:spPr>
            <a:xfrm>
              <a:off x="4663440" y="4389120"/>
              <a:ext cx="4206240" cy="521208"/>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1" name="Shape 39"/>
            <p:cNvSpPr/>
            <p:nvPr/>
          </p:nvSpPr>
          <p:spPr>
            <a:xfrm>
              <a:off x="4663440" y="4389120"/>
              <a:ext cx="54864" cy="521208"/>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2" name="Text 40"/>
            <p:cNvSpPr/>
            <p:nvPr/>
          </p:nvSpPr>
          <p:spPr>
            <a:xfrm>
              <a:off x="4791456" y="439216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Microsoft Mesh </a:t>
              </a:r>
              <a:r>
                <a:rPr lang="pl-PL" sz="1100" b="1" i="0" u="none" strike="noStrike" kern="1200" cap="none" spc="0" baseline="0" dirty="0" smtClean="0">
                  <a:solidFill>
                    <a:srgbClr val="1F1535"/>
                  </a:solidFill>
                  <a:uFillTx/>
                  <a:latin typeface="Cambria" pitchFamily="34"/>
                  <a:ea typeface="Cambria" pitchFamily="34"/>
                  <a:cs typeface="Cambria" pitchFamily="34"/>
                </a:rPr>
                <a:t>-</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a:solidFill>
                    <a:srgbClr val="1F1535"/>
                  </a:solidFill>
                  <a:uFillTx/>
                  <a:latin typeface="Cambria" pitchFamily="34"/>
                  <a:ea typeface="Cambria" pitchFamily="34"/>
                  <a:cs typeface="Cambria" pitchFamily="34"/>
                </a:rPr>
                <a:t>Affective Spaces</a:t>
              </a:r>
              <a:endParaRPr lang="en-US" sz="1100" b="0" i="0" u="none" strike="noStrike" kern="1200" cap="none" spc="0" baseline="0" dirty="0">
                <a:solidFill>
                  <a:srgbClr val="000000"/>
                </a:solidFill>
                <a:uFillTx/>
                <a:latin typeface="Calibri"/>
              </a:endParaRPr>
            </a:p>
          </p:txBody>
        </p:sp>
        <p:sp>
          <p:nvSpPr>
            <p:cNvPr id="43" name="Text 41"/>
            <p:cNvSpPr/>
            <p:nvPr/>
          </p:nvSpPr>
          <p:spPr>
            <a:xfrm>
              <a:off x="4791456" y="4657344"/>
              <a:ext cx="4023360" cy="18897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Hybrid meetings z </a:t>
              </a:r>
              <a:r>
                <a:rPr lang="en-US" sz="1000" b="0" i="0" u="none" strike="noStrike" kern="1200" cap="none" spc="0" baseline="0" dirty="0" err="1">
                  <a:solidFill>
                    <a:srgbClr val="111931"/>
                  </a:solidFill>
                  <a:uFillTx/>
                  <a:latin typeface="Calibri" pitchFamily="34"/>
                  <a:ea typeface="Calibri" pitchFamily="34"/>
                  <a:cs typeface="Calibri" pitchFamily="34"/>
                </a:rPr>
                <a:t>emocjonalnymi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avataramii</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automatyczna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animacja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twarzy</a:t>
              </a:r>
              <a:r>
                <a:rPr lang="en-US" sz="1000" b="0" i="0" u="none" strike="noStrike" kern="1200" cap="none" spc="0" baseline="0" dirty="0">
                  <a:solidFill>
                    <a:srgbClr val="111931"/>
                  </a:solidFill>
                  <a:uFillTx/>
                  <a:latin typeface="Calibri" pitchFamily="34"/>
                  <a:ea typeface="Calibri" pitchFamily="34"/>
                  <a:cs typeface="Calibri" pitchFamily="34"/>
                </a:rPr>
                <a:t> z </a:t>
              </a:r>
              <a:r>
                <a:rPr lang="en-US" sz="1000" b="0" i="0" u="none" strike="noStrike" kern="1200" cap="none" spc="0" baseline="0" dirty="0" err="1">
                  <a:solidFill>
                    <a:srgbClr val="111931"/>
                  </a:solidFill>
                  <a:uFillTx/>
                  <a:latin typeface="Calibri" pitchFamily="34"/>
                  <a:ea typeface="Calibri" pitchFamily="34"/>
                  <a:cs typeface="Calibri" pitchFamily="34"/>
                </a:rPr>
                <a:t>kamerki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Zmniejsza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zmęczenie</a:t>
              </a:r>
              <a:r>
                <a:rPr lang="en-US" sz="1000" b="0" i="0" u="none" strike="noStrike" kern="1200" cap="none" spc="0" baseline="0" dirty="0">
                  <a:solidFill>
                    <a:srgbClr val="111931"/>
                  </a:solidFill>
                  <a:uFillTx/>
                  <a:latin typeface="Calibri" pitchFamily="34"/>
                  <a:ea typeface="Calibri" pitchFamily="34"/>
                  <a:cs typeface="Calibri" pitchFamily="34"/>
                </a:rPr>
                <a:t> video-call </a:t>
              </a:r>
              <a:r>
                <a:rPr lang="en-US" sz="1000" b="0" i="0" u="none" strike="noStrike" kern="1200" cap="none" spc="0" baseline="0" dirty="0" err="1">
                  <a:solidFill>
                    <a:srgbClr val="111931"/>
                  </a:solidFill>
                  <a:uFillTx/>
                  <a:latin typeface="Calibri" pitchFamily="34"/>
                  <a:ea typeface="Calibri" pitchFamily="34"/>
                  <a:cs typeface="Calibri" pitchFamily="34"/>
                </a:rPr>
                <a:t>poprzez</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naturalne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wyrazy</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55"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25</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9FF"/>
        </a:solidFill>
        <a:effectLst/>
      </p:bgPr>
    </p:bg>
    <p:spTree>
      <p:nvGrpSpPr>
        <p:cNvPr id="1" name=""/>
        <p:cNvGrpSpPr/>
        <p:nvPr/>
      </p:nvGrpSpPr>
      <p:grpSpPr>
        <a:xfrm>
          <a:off x="0" y="0"/>
          <a:ext cx="0" cy="0"/>
          <a:chOff x="0" y="0"/>
          <a:chExt cx="0" cy="0"/>
        </a:xfrm>
      </p:grpSpPr>
      <p:grpSp>
        <p:nvGrpSpPr>
          <p:cNvPr id="35" name="Grupa 34"/>
          <p:cNvGrpSpPr/>
          <p:nvPr/>
        </p:nvGrpSpPr>
        <p:grpSpPr>
          <a:xfrm>
            <a:off x="0" y="0"/>
            <a:ext cx="9144000" cy="558000"/>
            <a:chOff x="0" y="0"/>
            <a:chExt cx="9144000" cy="558000"/>
          </a:xfrm>
        </p:grpSpPr>
        <p:sp>
          <p:nvSpPr>
            <p:cNvPr id="36"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err="1">
                <a:solidFill>
                  <a:srgbClr val="FFFFFF"/>
                </a:solidFill>
                <a:uFillTx/>
                <a:latin typeface="Cambria" pitchFamily="34"/>
                <a:ea typeface="Cambria" pitchFamily="34"/>
                <a:cs typeface="Cambria" pitchFamily="34"/>
              </a:rPr>
              <a:t>Etyka</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i</a:t>
            </a:r>
            <a:r>
              <a:rPr lang="en-US" sz="2000" b="1" i="0" u="none" strike="noStrike" kern="1200" cap="none" spc="0" baseline="0" dirty="0" err="1" smtClean="0">
                <a:solidFill>
                  <a:srgbClr val="FFFFFF"/>
                </a:solidFill>
                <a:uFillTx/>
                <a:latin typeface="Cambria" pitchFamily="34"/>
                <a:ea typeface="Cambria" pitchFamily="34"/>
                <a:cs typeface="Cambria" pitchFamily="34"/>
              </a:rPr>
              <a:t>nformatyki</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fektywnej</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b</a:t>
            </a:r>
            <a:r>
              <a:rPr lang="en-US" sz="2000" b="1" i="0" u="none" strike="noStrike" kern="1200" cap="none" spc="0" baseline="0" dirty="0" err="1" smtClean="0">
                <a:solidFill>
                  <a:srgbClr val="FFFFFF"/>
                </a:solidFill>
                <a:uFillTx/>
                <a:latin typeface="Cambria" pitchFamily="34"/>
                <a:ea typeface="Cambria" pitchFamily="34"/>
                <a:cs typeface="Cambria" pitchFamily="34"/>
              </a:rPr>
              <a:t>ias</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rawa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anipulacja</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749808"/>
            <a:ext cx="8503920" cy="34747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1" u="none" strike="noStrike" kern="1200" cap="none" spc="0" baseline="0" dirty="0">
                <a:solidFill>
                  <a:srgbClr val="0070C0"/>
                </a:solidFill>
                <a:uFillTx/>
                <a:latin typeface="Cambria" pitchFamily="34"/>
                <a:ea typeface="Cambria" pitchFamily="34"/>
                <a:cs typeface="Cambria" pitchFamily="34"/>
              </a:rPr>
              <a:t>"</a:t>
            </a:r>
            <a:r>
              <a:rPr lang="en-US" sz="1600" b="1" i="1" u="none" strike="noStrike" kern="1200" cap="none" spc="0" baseline="0" dirty="0">
                <a:solidFill>
                  <a:srgbClr val="0070C0"/>
                </a:solidFill>
                <a:uFillTx/>
                <a:latin typeface="Cambria" pitchFamily="34"/>
                <a:ea typeface="Cambria" pitchFamily="34"/>
                <a:cs typeface="Cambria" pitchFamily="34"/>
              </a:rPr>
              <a:t>The idea that we can reliably read emotions from faces is not supported by the science</a:t>
            </a:r>
            <a:r>
              <a:rPr lang="en-US" sz="1600" b="0" i="1" u="none" strike="noStrike" kern="1200" cap="none" spc="0" baseline="0" dirty="0">
                <a:solidFill>
                  <a:srgbClr val="0070C0"/>
                </a:solidFill>
                <a:uFillTx/>
                <a:latin typeface="Cambria" pitchFamily="34"/>
                <a:ea typeface="Cambria" pitchFamily="34"/>
                <a:cs typeface="Cambria" pitchFamily="34"/>
              </a:rPr>
              <a:t>" — Lisa Feldman Barrett, Northeastern University, Science 2019</a:t>
            </a:r>
            <a:endParaRPr lang="en-US" sz="1600" b="0" i="0" u="none" strike="noStrike" kern="1200" cap="none" spc="0" baseline="0" dirty="0">
              <a:solidFill>
                <a:srgbClr val="0070C0"/>
              </a:solidFill>
              <a:uFillTx/>
              <a:latin typeface="Calibri"/>
            </a:endParaRPr>
          </a:p>
        </p:txBody>
      </p:sp>
      <p:sp>
        <p:nvSpPr>
          <p:cNvPr id="9" name="Shape 7"/>
          <p:cNvSpPr/>
          <p:nvPr/>
        </p:nvSpPr>
        <p:spPr>
          <a:xfrm>
            <a:off x="175260" y="1520952"/>
            <a:ext cx="4251959" cy="1088136"/>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175260" y="1520952"/>
            <a:ext cx="4251959" cy="27432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259080" y="1566672"/>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Algorytmiczny</a:t>
            </a:r>
            <a:r>
              <a:rPr lang="en-US" sz="1200" b="1" i="0" u="none" strike="noStrike" kern="1200" cap="none" spc="0" baseline="0" dirty="0">
                <a:solidFill>
                  <a:srgbClr val="FFFFFF"/>
                </a:solidFill>
                <a:uFillTx/>
                <a:latin typeface="Cambria" pitchFamily="34"/>
                <a:ea typeface="Cambria" pitchFamily="34"/>
                <a:cs typeface="Cambria" pitchFamily="34"/>
              </a:rPr>
              <a:t> bias (Systemic)</a:t>
            </a:r>
            <a:endParaRPr lang="en-US" sz="1200" b="0" i="0" u="none" strike="noStrike" kern="1200" cap="none" spc="0" baseline="0" dirty="0">
              <a:solidFill>
                <a:srgbClr val="000000"/>
              </a:solidFill>
              <a:uFillTx/>
              <a:latin typeface="Calibri"/>
            </a:endParaRPr>
          </a:p>
        </p:txBody>
      </p:sp>
      <p:sp>
        <p:nvSpPr>
          <p:cNvPr id="12" name="Text 10"/>
          <p:cNvSpPr/>
          <p:nvPr/>
        </p:nvSpPr>
        <p:spPr>
          <a:xfrm>
            <a:off x="220979" y="1831848"/>
            <a:ext cx="4160519" cy="45110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1F1535"/>
                </a:solidFill>
                <a:uFillTx/>
                <a:latin typeface="Calibri" pitchFamily="34"/>
                <a:ea typeface="Calibri" pitchFamily="34"/>
                <a:cs typeface="Calibri" pitchFamily="34"/>
              </a:rPr>
              <a:t>FER </a:t>
            </a:r>
            <a:r>
              <a:rPr lang="en-US" sz="1050" b="0" i="0" u="none" strike="noStrike" kern="1200" cap="none" spc="0" baseline="0" dirty="0" err="1">
                <a:solidFill>
                  <a:srgbClr val="1F1535"/>
                </a:solidFill>
                <a:uFillTx/>
                <a:latin typeface="Calibri" pitchFamily="34"/>
                <a:ea typeface="Calibri" pitchFamily="34"/>
                <a:cs typeface="Calibri" pitchFamily="34"/>
              </a:rPr>
              <a:t>modele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trenowane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na</a:t>
            </a:r>
            <a:r>
              <a:rPr lang="en-US" sz="1050" b="0" i="0" u="none" strike="noStrike" kern="1200" cap="none" spc="0" baseline="0" dirty="0">
                <a:solidFill>
                  <a:srgbClr val="1F1535"/>
                </a:solidFill>
                <a:uFillTx/>
                <a:latin typeface="Calibri" pitchFamily="34"/>
                <a:ea typeface="Calibri" pitchFamily="34"/>
                <a:cs typeface="Calibri" pitchFamily="34"/>
              </a:rPr>
              <a:t> EMODB (German actors) / </a:t>
            </a:r>
            <a:r>
              <a:rPr lang="en-US" sz="1050" b="0" i="0" u="none" strike="noStrike" kern="1200" cap="none" spc="0" baseline="0" dirty="0" err="1">
                <a:solidFill>
                  <a:srgbClr val="1F1535"/>
                </a:solidFill>
                <a:uFillTx/>
                <a:latin typeface="Calibri" pitchFamily="34"/>
                <a:ea typeface="Calibri" pitchFamily="34"/>
                <a:cs typeface="Calibri" pitchFamily="34"/>
              </a:rPr>
              <a:t>AffectNet</a:t>
            </a:r>
            <a:r>
              <a:rPr lang="en-US" sz="1050" b="0" i="0" u="none" strike="noStrike" kern="1200" cap="none" spc="0" baseline="0" dirty="0">
                <a:solidFill>
                  <a:srgbClr val="1F1535"/>
                </a:solidFill>
                <a:uFillTx/>
                <a:latin typeface="Calibri" pitchFamily="34"/>
                <a:ea typeface="Calibri" pitchFamily="34"/>
                <a:cs typeface="Calibri" pitchFamily="34"/>
              </a:rPr>
              <a:t> (westerners) → </a:t>
            </a:r>
            <a:r>
              <a:rPr lang="en-US" sz="1050" b="0" i="0" u="none" strike="noStrike" kern="1200" cap="none" spc="0" baseline="0" dirty="0" err="1">
                <a:solidFill>
                  <a:srgbClr val="1F1535"/>
                </a:solidFill>
                <a:uFillTx/>
                <a:latin typeface="Calibri" pitchFamily="34"/>
                <a:ea typeface="Calibri" pitchFamily="34"/>
                <a:cs typeface="Calibri" pitchFamily="34"/>
              </a:rPr>
              <a:t>gorsza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celność</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dla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ciemnych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karnacji</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kobiet</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starszych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kultur</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azjatyckich</a:t>
            </a:r>
            <a:r>
              <a:rPr lang="en-US" sz="1050" b="0" i="0" u="none" strike="noStrike" kern="1200" cap="none" spc="0" baseline="0" dirty="0">
                <a:solidFill>
                  <a:srgbClr val="1F1535"/>
                </a:solidFill>
                <a:uFillTx/>
                <a:latin typeface="Calibri" pitchFamily="34"/>
                <a:ea typeface="Calibri" pitchFamily="34"/>
                <a:cs typeface="Calibri" pitchFamily="34"/>
              </a:rPr>
              <a:t>.</a:t>
            </a:r>
            <a:endParaRPr lang="en-US" sz="1050" b="0" i="0" u="none" strike="noStrike" kern="1200" cap="none" spc="0" baseline="0" dirty="0">
              <a:solidFill>
                <a:srgbClr val="000000"/>
              </a:solidFill>
              <a:uFillTx/>
              <a:latin typeface="Calibri"/>
            </a:endParaRPr>
          </a:p>
        </p:txBody>
      </p:sp>
      <p:sp>
        <p:nvSpPr>
          <p:cNvPr id="13" name="Text 11"/>
          <p:cNvSpPr/>
          <p:nvPr/>
        </p:nvSpPr>
        <p:spPr>
          <a:xfrm>
            <a:off x="259080" y="233781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E11D48"/>
                </a:solidFill>
                <a:uFillTx/>
                <a:latin typeface="Calibri" pitchFamily="34"/>
                <a:ea typeface="Calibri" pitchFamily="34"/>
                <a:cs typeface="Calibri" pitchFamily="34"/>
              </a:rPr>
              <a:t>⚠ </a:t>
            </a:r>
            <a:r>
              <a:rPr lang="en-US" sz="1000" b="0" i="0" u="none" strike="noStrike" kern="1200" cap="none" spc="0" baseline="0" dirty="0" err="1">
                <a:solidFill>
                  <a:srgbClr val="E11D48"/>
                </a:solidFill>
                <a:uFillTx/>
                <a:latin typeface="Calibri" pitchFamily="34"/>
                <a:ea typeface="Calibri" pitchFamily="34"/>
                <a:cs typeface="Calibri" pitchFamily="34"/>
              </a:rPr>
              <a:t>Dyskryminacja</a:t>
            </a:r>
            <a:r>
              <a:rPr lang="en-US" sz="1000" b="0" i="0" u="none" strike="noStrike" kern="1200" cap="none" spc="0" baseline="0" dirty="0">
                <a:solidFill>
                  <a:srgbClr val="E11D48"/>
                </a:solidFill>
                <a:uFillTx/>
                <a:latin typeface="Calibri" pitchFamily="34"/>
                <a:ea typeface="Calibri" pitchFamily="34"/>
                <a:cs typeface="Calibri" pitchFamily="34"/>
              </a:rPr>
              <a:t> w </a:t>
            </a:r>
            <a:r>
              <a:rPr lang="en-US" sz="1000" b="0" i="0" u="none" strike="noStrike" kern="1200" cap="none" spc="0" baseline="0" dirty="0" err="1">
                <a:solidFill>
                  <a:srgbClr val="E11D48"/>
                </a:solidFill>
                <a:uFillTx/>
                <a:latin typeface="Calibri" pitchFamily="34"/>
                <a:ea typeface="Calibri" pitchFamily="34"/>
                <a:cs typeface="Calibri" pitchFamily="34"/>
              </a:rPr>
              <a:t>rekrutacji</a:t>
            </a:r>
            <a:r>
              <a:rPr lang="en-US" sz="1000" b="0" i="0" u="none" strike="noStrike" kern="1200" cap="none" spc="0" baseline="0" dirty="0">
                <a:solidFill>
                  <a:srgbClr val="E11D48"/>
                </a:solidFill>
                <a:uFillTx/>
                <a:latin typeface="Calibri" pitchFamily="34"/>
                <a:ea typeface="Calibri" pitchFamily="34"/>
                <a:cs typeface="Calibri" pitchFamily="34"/>
              </a:rPr>
              <a:t>, </a:t>
            </a:r>
            <a:r>
              <a:rPr lang="en-US" sz="1000" b="0" i="0" u="none" strike="noStrike" kern="1200" cap="none" spc="0" baseline="0" dirty="0" err="1">
                <a:solidFill>
                  <a:srgbClr val="E11D48"/>
                </a:solidFill>
                <a:uFillTx/>
                <a:latin typeface="Calibri" pitchFamily="34"/>
                <a:ea typeface="Calibri" pitchFamily="34"/>
                <a:cs typeface="Calibri" pitchFamily="34"/>
              </a:rPr>
              <a:t>samochodach</a:t>
            </a:r>
            <a:r>
              <a:rPr lang="en-US" sz="1000" b="0" i="0" u="none" strike="noStrike" kern="1200" cap="none" spc="0" baseline="0" dirty="0">
                <a:solidFill>
                  <a:srgbClr val="E11D48"/>
                </a:solidFill>
                <a:uFillTx/>
                <a:latin typeface="Calibri" pitchFamily="34"/>
                <a:ea typeface="Calibri" pitchFamily="34"/>
                <a:cs typeface="Calibri" pitchFamily="34"/>
              </a:rPr>
              <a:t>, </a:t>
            </a:r>
            <a:r>
              <a:rPr lang="en-US" sz="1000" b="0" i="0" u="none" strike="noStrike" kern="1200" cap="none" spc="0" baseline="0" dirty="0" err="1">
                <a:solidFill>
                  <a:srgbClr val="E11D48"/>
                </a:solidFill>
                <a:uFillTx/>
                <a:latin typeface="Calibri" pitchFamily="34"/>
                <a:ea typeface="Calibri" pitchFamily="34"/>
                <a:cs typeface="Calibri" pitchFamily="34"/>
              </a:rPr>
              <a:t>systemach</a:t>
            </a:r>
            <a:r>
              <a:rPr lang="en-US" sz="1000" b="0" i="0" u="none" strike="noStrike" kern="1200" cap="none" spc="0" baseline="0" dirty="0">
                <a:solidFill>
                  <a:srgbClr val="E11D48"/>
                </a:solidFill>
                <a:uFillTx/>
                <a:latin typeface="Calibri" pitchFamily="34"/>
                <a:ea typeface="Calibri" pitchFamily="34"/>
                <a:cs typeface="Calibri" pitchFamily="34"/>
              </a:rPr>
              <a:t> </a:t>
            </a:r>
            <a:r>
              <a:rPr lang="en-US" sz="1000" b="0" i="0" u="none" strike="noStrike" kern="1200" cap="none" spc="0" baseline="0" dirty="0" err="1">
                <a:solidFill>
                  <a:srgbClr val="E11D48"/>
                </a:solidFill>
                <a:uFillTx/>
                <a:latin typeface="Calibri" pitchFamily="34"/>
                <a:ea typeface="Calibri" pitchFamily="34"/>
                <a:cs typeface="Calibri" pitchFamily="34"/>
              </a:rPr>
              <a:t>edukacyjnych</a:t>
            </a:r>
            <a:endParaRPr lang="en-US" sz="1000" b="0" i="0" u="none" strike="noStrike" kern="1200" cap="none" spc="0" baseline="0" dirty="0">
              <a:solidFill>
                <a:srgbClr val="000000"/>
              </a:solidFill>
              <a:uFillTx/>
              <a:latin typeface="Calibri"/>
            </a:endParaRPr>
          </a:p>
        </p:txBody>
      </p:sp>
      <p:sp>
        <p:nvSpPr>
          <p:cNvPr id="14" name="Shape 12"/>
          <p:cNvSpPr/>
          <p:nvPr/>
        </p:nvSpPr>
        <p:spPr>
          <a:xfrm>
            <a:off x="4511040" y="1520952"/>
            <a:ext cx="4427220" cy="1088136"/>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Shape 13"/>
          <p:cNvSpPr/>
          <p:nvPr/>
        </p:nvSpPr>
        <p:spPr>
          <a:xfrm>
            <a:off x="4511040" y="1520952"/>
            <a:ext cx="4427220" cy="27432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4636008" y="1566672"/>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FFFFFF"/>
                </a:solidFill>
                <a:uFillTx/>
                <a:latin typeface="Cambria" pitchFamily="34"/>
                <a:ea typeface="Cambria" pitchFamily="34"/>
                <a:cs typeface="Cambria" pitchFamily="34"/>
              </a:rPr>
              <a:t>Informed Consent</a:t>
            </a:r>
            <a:endParaRPr lang="en-US" sz="1200" b="0" i="0" u="none" strike="noStrike" kern="1200" cap="none" spc="0" baseline="0" dirty="0">
              <a:solidFill>
                <a:srgbClr val="000000"/>
              </a:solidFill>
              <a:uFillTx/>
              <a:latin typeface="Calibri"/>
            </a:endParaRPr>
          </a:p>
        </p:txBody>
      </p:sp>
      <p:sp>
        <p:nvSpPr>
          <p:cNvPr id="17" name="Text 15"/>
          <p:cNvSpPr/>
          <p:nvPr/>
        </p:nvSpPr>
        <p:spPr>
          <a:xfrm>
            <a:off x="4613147" y="1831848"/>
            <a:ext cx="4279393" cy="49377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F1535"/>
                </a:solidFill>
                <a:uFillTx/>
                <a:latin typeface="Calibri" pitchFamily="34"/>
                <a:ea typeface="Calibri" pitchFamily="34"/>
                <a:cs typeface="Calibri" pitchFamily="34"/>
              </a:rPr>
              <a:t>Użytkownicy</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nie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wiedzą</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że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są</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analizowani</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emocjonalnie</a:t>
            </a:r>
            <a:r>
              <a:rPr lang="en-US" sz="1050" b="0" i="0" u="none" strike="noStrike" kern="1200" cap="none" spc="0" baseline="0" dirty="0">
                <a:solidFill>
                  <a:srgbClr val="1F1535"/>
                </a:solidFill>
                <a:uFillTx/>
                <a:latin typeface="Calibri" pitchFamily="34"/>
                <a:ea typeface="Calibri" pitchFamily="34"/>
                <a:cs typeface="Calibri" pitchFamily="34"/>
              </a:rPr>
              <a:t>. GDPR </a:t>
            </a:r>
            <a:r>
              <a:rPr lang="en-US" sz="1050" b="0" i="0" u="none" strike="noStrike" kern="1200" cap="none" spc="0" baseline="0" dirty="0" err="1">
                <a:solidFill>
                  <a:srgbClr val="1F1535"/>
                </a:solidFill>
                <a:uFillTx/>
                <a:latin typeface="Calibri" pitchFamily="34"/>
                <a:ea typeface="Calibri" pitchFamily="34"/>
                <a:cs typeface="Calibri" pitchFamily="34"/>
              </a:rPr>
              <a:t>wymaga</a:t>
            </a:r>
            <a:r>
              <a:rPr lang="en-US" sz="1050" b="0" i="0" u="none" strike="noStrike" kern="1200" cap="none" spc="0" baseline="0" dirty="0">
                <a:solidFill>
                  <a:srgbClr val="1F1535"/>
                </a:solidFill>
                <a:uFillTx/>
                <a:latin typeface="Calibri" pitchFamily="34"/>
                <a:ea typeface="Calibri" pitchFamily="34"/>
                <a:cs typeface="Calibri" pitchFamily="34"/>
              </a:rPr>
              <a:t> explicit consent </a:t>
            </a:r>
            <a:r>
              <a:rPr lang="en-US" sz="1050" b="0" i="0" u="none" strike="noStrike" kern="1200" cap="none" spc="0" baseline="0" dirty="0" err="1">
                <a:solidFill>
                  <a:srgbClr val="1F1535"/>
                </a:solidFill>
                <a:uFillTx/>
                <a:latin typeface="Calibri" pitchFamily="34"/>
                <a:ea typeface="Calibri" pitchFamily="34"/>
                <a:cs typeface="Calibri" pitchFamily="34"/>
              </a:rPr>
              <a:t>dla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danych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biometrycznych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TikTok</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smtClean="0">
                <a:solidFill>
                  <a:srgbClr val="1F1535"/>
                </a:solidFill>
                <a:uFillTx/>
                <a:latin typeface="Calibri" pitchFamily="34"/>
                <a:ea typeface="Calibri" pitchFamily="34"/>
                <a:cs typeface="Calibri" pitchFamily="34"/>
              </a:rPr>
              <a:t>FaceFilter</a:t>
            </a:r>
            <a:r>
              <a:rPr lang="pl-PL" sz="1050" dirty="0" smtClean="0">
                <a:solidFill>
                  <a:srgbClr val="1F1535"/>
                </a:solidFill>
                <a:latin typeface="Calibri" pitchFamily="34"/>
                <a:ea typeface="Calibri" pitchFamily="34"/>
                <a:cs typeface="Calibri" pitchFamily="34"/>
              </a:rPr>
              <a:t>,</a:t>
            </a:r>
            <a:r>
              <a:rPr lang="en-US" sz="1050" b="0" i="0" u="none" strike="noStrike" kern="1200" cap="none" spc="0" baseline="0" dirty="0" smtClean="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gdzie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idą</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dane</a:t>
            </a:r>
            <a:r>
              <a:rPr lang="en-US" sz="1050" b="0" i="0" u="none" strike="noStrike" kern="1200" cap="none" spc="0" baseline="0" dirty="0">
                <a:solidFill>
                  <a:srgbClr val="1F1535"/>
                </a:solidFill>
                <a:uFillTx/>
                <a:latin typeface="Calibri" pitchFamily="34"/>
                <a:ea typeface="Calibri" pitchFamily="34"/>
                <a:cs typeface="Calibri" pitchFamily="34"/>
              </a:rPr>
              <a:t>?</a:t>
            </a:r>
            <a:endParaRPr lang="en-US" sz="1050" b="0" i="0" u="none" strike="noStrike" kern="1200" cap="none" spc="0" baseline="0" dirty="0">
              <a:solidFill>
                <a:srgbClr val="000000"/>
              </a:solidFill>
              <a:uFillTx/>
              <a:latin typeface="Calibri"/>
            </a:endParaRPr>
          </a:p>
        </p:txBody>
      </p:sp>
      <p:sp>
        <p:nvSpPr>
          <p:cNvPr id="18" name="Text 16"/>
          <p:cNvSpPr/>
          <p:nvPr/>
        </p:nvSpPr>
        <p:spPr>
          <a:xfrm>
            <a:off x="4666488" y="234543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Naruszenie</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prywatności</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brak</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autonomii</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sprzedaż</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profili</a:t>
            </a:r>
            <a:r>
              <a:rPr lang="en-US" sz="1000" b="0" i="0" u="none" strike="noStrike" kern="1200" cap="none" spc="0" baseline="0" dirty="0">
                <a:solidFill>
                  <a:srgbClr val="D97706"/>
                </a:solidFill>
                <a:uFillTx/>
                <a:latin typeface="Calibri" pitchFamily="34"/>
                <a:ea typeface="Calibri" pitchFamily="34"/>
                <a:cs typeface="Calibri" pitchFamily="34"/>
              </a:rPr>
              <a:t> </a:t>
            </a:r>
            <a:r>
              <a:rPr lang="en-US" sz="1000" b="0" i="0" u="none" strike="noStrike" kern="1200" cap="none" spc="0" baseline="0" dirty="0" err="1">
                <a:solidFill>
                  <a:srgbClr val="D97706"/>
                </a:solidFill>
                <a:uFillTx/>
                <a:latin typeface="Calibri" pitchFamily="34"/>
                <a:ea typeface="Calibri" pitchFamily="34"/>
                <a:cs typeface="Calibri" pitchFamily="34"/>
              </a:rPr>
              <a:t>emocjonalnych</a:t>
            </a:r>
            <a:endParaRPr lang="en-US" sz="1000" b="0" i="0" u="none" strike="noStrike" kern="1200" cap="none" spc="0" baseline="0" dirty="0">
              <a:solidFill>
                <a:srgbClr val="000000"/>
              </a:solidFill>
              <a:uFillTx/>
              <a:latin typeface="Calibri"/>
            </a:endParaRPr>
          </a:p>
        </p:txBody>
      </p:sp>
      <p:sp>
        <p:nvSpPr>
          <p:cNvPr id="19" name="Shape 17"/>
          <p:cNvSpPr/>
          <p:nvPr/>
        </p:nvSpPr>
        <p:spPr>
          <a:xfrm>
            <a:off x="175260" y="2686812"/>
            <a:ext cx="4251959" cy="1088136"/>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Shape 18"/>
          <p:cNvSpPr/>
          <p:nvPr/>
        </p:nvSpPr>
        <p:spPr>
          <a:xfrm>
            <a:off x="175260" y="2686812"/>
            <a:ext cx="4251959" cy="27432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Text 19"/>
          <p:cNvSpPr/>
          <p:nvPr/>
        </p:nvSpPr>
        <p:spPr>
          <a:xfrm>
            <a:off x="259080" y="2732532"/>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Emotional Manipulation</a:t>
            </a:r>
            <a:endParaRPr lang="en-US" sz="1200" b="0" i="0" u="none" strike="noStrike" kern="1200" cap="none" spc="0" baseline="0">
              <a:solidFill>
                <a:srgbClr val="000000"/>
              </a:solidFill>
              <a:uFillTx/>
              <a:latin typeface="Calibri"/>
            </a:endParaRPr>
          </a:p>
        </p:txBody>
      </p:sp>
      <p:sp>
        <p:nvSpPr>
          <p:cNvPr id="22" name="Text 20"/>
          <p:cNvSpPr/>
          <p:nvPr/>
        </p:nvSpPr>
        <p:spPr>
          <a:xfrm>
            <a:off x="259080" y="3066288"/>
            <a:ext cx="4069080" cy="39319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F1535"/>
                </a:solidFill>
                <a:uFillTx/>
                <a:latin typeface="Calibri" pitchFamily="34"/>
                <a:ea typeface="Calibri" pitchFamily="34"/>
                <a:cs typeface="Calibri" pitchFamily="34"/>
              </a:rPr>
              <a:t>Systemy</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mogą</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używać</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emocji</a:t>
            </a:r>
            <a:r>
              <a:rPr lang="en-US" sz="1050" b="0" i="0" u="none" strike="noStrike" kern="1200" cap="none" spc="0" baseline="0" dirty="0">
                <a:solidFill>
                  <a:srgbClr val="1F1535"/>
                </a:solidFill>
                <a:uFillTx/>
                <a:latin typeface="Calibri" pitchFamily="34"/>
                <a:ea typeface="Calibri" pitchFamily="34"/>
                <a:cs typeface="Calibri" pitchFamily="34"/>
              </a:rPr>
              <a:t> do </a:t>
            </a:r>
            <a:r>
              <a:rPr lang="en-US" sz="1050" b="0" i="0" u="none" strike="noStrike" kern="1200" cap="none" spc="0" baseline="0" dirty="0" err="1">
                <a:solidFill>
                  <a:srgbClr val="1F1535"/>
                </a:solidFill>
                <a:uFillTx/>
                <a:latin typeface="Calibri" pitchFamily="34"/>
                <a:ea typeface="Calibri" pitchFamily="34"/>
                <a:cs typeface="Calibri" pitchFamily="34"/>
              </a:rPr>
              <a:t>manipulacji</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kiedy</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jesteś</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smutny</a:t>
            </a:r>
            <a:r>
              <a:rPr lang="en-US" sz="1050" b="0" i="0" u="none" strike="noStrike" kern="1200" cap="none" spc="0" baseline="0" dirty="0">
                <a:solidFill>
                  <a:srgbClr val="1F1535"/>
                </a:solidFill>
                <a:uFillTx/>
                <a:latin typeface="Calibri" pitchFamily="34"/>
                <a:ea typeface="Calibri" pitchFamily="34"/>
                <a:cs typeface="Calibri" pitchFamily="34"/>
              </a:rPr>
              <a:t> → </a:t>
            </a:r>
            <a:r>
              <a:rPr lang="en-US" sz="1050" b="0" i="0" u="none" strike="noStrike" kern="1200" cap="none" spc="0" baseline="0" dirty="0" err="1">
                <a:solidFill>
                  <a:srgbClr val="1F1535"/>
                </a:solidFill>
                <a:uFillTx/>
                <a:latin typeface="Calibri" pitchFamily="34"/>
                <a:ea typeface="Calibri" pitchFamily="34"/>
                <a:cs typeface="Calibri" pitchFamily="34"/>
              </a:rPr>
              <a:t>pokaż</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płatne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treści</a:t>
            </a:r>
            <a:r>
              <a:rPr lang="en-US" sz="1050" b="0" i="0" u="none" strike="noStrike" kern="1200" cap="none" spc="0" baseline="0" dirty="0">
                <a:solidFill>
                  <a:srgbClr val="1F1535"/>
                </a:solidFill>
                <a:uFillTx/>
                <a:latin typeface="Calibri" pitchFamily="34"/>
                <a:ea typeface="Calibri" pitchFamily="34"/>
                <a:cs typeface="Calibri" pitchFamily="34"/>
              </a:rPr>
              <a:t>. Social media feed </a:t>
            </a:r>
            <a:r>
              <a:rPr lang="en-US" sz="1050" b="0" i="0" u="none" strike="noStrike" kern="1200" cap="none" spc="0" baseline="0" dirty="0" err="1">
                <a:solidFill>
                  <a:srgbClr val="1F1535"/>
                </a:solidFill>
                <a:uFillTx/>
                <a:latin typeface="Calibri" pitchFamily="34"/>
                <a:ea typeface="Calibri" pitchFamily="34"/>
                <a:cs typeface="Calibri" pitchFamily="34"/>
              </a:rPr>
              <a:t>optymalizowany</a:t>
            </a:r>
            <a:r>
              <a:rPr lang="en-US" sz="1050" b="0" i="0" u="none" strike="noStrike" kern="1200" cap="none" spc="0" baseline="0" dirty="0">
                <a:solidFill>
                  <a:srgbClr val="1F1535"/>
                </a:solidFill>
                <a:uFillTx/>
                <a:latin typeface="Calibri" pitchFamily="34"/>
                <a:ea typeface="Calibri" pitchFamily="34"/>
                <a:cs typeface="Calibri" pitchFamily="34"/>
              </a:rPr>
              <a:t> pod </a:t>
            </a:r>
            <a:r>
              <a:rPr lang="en-US" sz="1050" b="0" i="0" u="none" strike="noStrike" kern="1200" cap="none" spc="0" baseline="0" dirty="0" err="1">
                <a:solidFill>
                  <a:srgbClr val="1F1535"/>
                </a:solidFill>
                <a:uFillTx/>
                <a:latin typeface="Calibri" pitchFamily="34"/>
                <a:ea typeface="Calibri" pitchFamily="34"/>
                <a:cs typeface="Calibri" pitchFamily="34"/>
              </a:rPr>
              <a:t>gniew</a:t>
            </a:r>
            <a:r>
              <a:rPr lang="en-US" sz="1050" b="0" i="0" u="none" strike="noStrike" kern="1200" cap="none" spc="0" baseline="0" dirty="0">
                <a:solidFill>
                  <a:srgbClr val="1F1535"/>
                </a:solidFill>
                <a:uFillTx/>
                <a:latin typeface="Calibri" pitchFamily="34"/>
                <a:ea typeface="Calibri" pitchFamily="34"/>
                <a:cs typeface="Calibri" pitchFamily="34"/>
              </a:rPr>
              <a:t> (Facebook internal docs 2021).</a:t>
            </a:r>
            <a:endParaRPr lang="en-US" sz="1050" b="0" i="0" u="none" strike="noStrike" kern="1200" cap="none" spc="0" baseline="0" dirty="0">
              <a:solidFill>
                <a:srgbClr val="000000"/>
              </a:solidFill>
              <a:uFillTx/>
              <a:latin typeface="Calibri"/>
            </a:endParaRPr>
          </a:p>
        </p:txBody>
      </p:sp>
      <p:sp>
        <p:nvSpPr>
          <p:cNvPr id="23" name="Text 21"/>
          <p:cNvSpPr/>
          <p:nvPr/>
        </p:nvSpPr>
        <p:spPr>
          <a:xfrm>
            <a:off x="259080" y="351129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7C3AED"/>
                </a:solidFill>
                <a:uFillTx/>
                <a:latin typeface="Calibri" pitchFamily="34"/>
                <a:ea typeface="Calibri" pitchFamily="34"/>
                <a:cs typeface="Calibri" pitchFamily="34"/>
              </a:rPr>
              <a:t>⚠ </a:t>
            </a:r>
            <a:r>
              <a:rPr lang="en-US" sz="1000" b="0" i="0" u="none" strike="noStrike" kern="1200" cap="none" spc="0" baseline="0" dirty="0" err="1">
                <a:solidFill>
                  <a:srgbClr val="7C3AED"/>
                </a:solidFill>
                <a:uFillTx/>
                <a:latin typeface="Calibri" pitchFamily="34"/>
                <a:ea typeface="Calibri" pitchFamily="34"/>
                <a:cs typeface="Calibri" pitchFamily="34"/>
              </a:rPr>
              <a:t>Uzależnienie</a:t>
            </a:r>
            <a:r>
              <a:rPr lang="en-US" sz="1000" b="0" i="0" u="none" strike="noStrike" kern="1200" cap="none" spc="0" baseline="0" dirty="0">
                <a:solidFill>
                  <a:srgbClr val="7C3AED"/>
                </a:solidFill>
                <a:uFillTx/>
                <a:latin typeface="Calibri" pitchFamily="34"/>
                <a:ea typeface="Calibri" pitchFamily="34"/>
                <a:cs typeface="Calibri" pitchFamily="34"/>
              </a:rPr>
              <a:t>, </a:t>
            </a:r>
            <a:r>
              <a:rPr lang="en-US" sz="1000" b="0" i="0" u="none" strike="noStrike" kern="1200" cap="none" spc="0" baseline="0" dirty="0" err="1">
                <a:solidFill>
                  <a:srgbClr val="7C3AED"/>
                </a:solidFill>
                <a:uFillTx/>
                <a:latin typeface="Calibri" pitchFamily="34"/>
                <a:ea typeface="Calibri" pitchFamily="34"/>
                <a:cs typeface="Calibri" pitchFamily="34"/>
              </a:rPr>
              <a:t>polaryzacja</a:t>
            </a:r>
            <a:r>
              <a:rPr lang="en-US" sz="1000" b="0" i="0" u="none" strike="noStrike" kern="1200" cap="none" spc="0" baseline="0" dirty="0">
                <a:solidFill>
                  <a:srgbClr val="7C3AED"/>
                </a:solidFill>
                <a:uFillTx/>
                <a:latin typeface="Calibri" pitchFamily="34"/>
                <a:ea typeface="Calibri" pitchFamily="34"/>
                <a:cs typeface="Calibri" pitchFamily="34"/>
              </a:rPr>
              <a:t>, </a:t>
            </a:r>
            <a:r>
              <a:rPr lang="en-US" sz="1000" b="0" i="0" u="none" strike="noStrike" kern="1200" cap="none" spc="0" baseline="0" dirty="0" err="1">
                <a:solidFill>
                  <a:srgbClr val="7C3AED"/>
                </a:solidFill>
                <a:uFillTx/>
                <a:latin typeface="Calibri" pitchFamily="34"/>
                <a:ea typeface="Calibri" pitchFamily="34"/>
                <a:cs typeface="Calibri" pitchFamily="34"/>
              </a:rPr>
              <a:t>eksploatacja</a:t>
            </a:r>
            <a:r>
              <a:rPr lang="en-US" sz="1000" b="0" i="0" u="none" strike="noStrike" kern="1200" cap="none" spc="0" baseline="0" dirty="0">
                <a:solidFill>
                  <a:srgbClr val="7C3AED"/>
                </a:solidFill>
                <a:uFillTx/>
                <a:latin typeface="Calibri" pitchFamily="34"/>
                <a:ea typeface="Calibri" pitchFamily="34"/>
                <a:cs typeface="Calibri" pitchFamily="34"/>
              </a:rPr>
              <a:t> </a:t>
            </a:r>
            <a:r>
              <a:rPr lang="en-US" sz="1000" b="0" i="0" u="none" strike="noStrike" kern="1200" cap="none" spc="0" baseline="0" dirty="0" err="1">
                <a:solidFill>
                  <a:srgbClr val="7C3AED"/>
                </a:solidFill>
                <a:uFillTx/>
                <a:latin typeface="Calibri" pitchFamily="34"/>
                <a:ea typeface="Calibri" pitchFamily="34"/>
                <a:cs typeface="Calibri" pitchFamily="34"/>
              </a:rPr>
              <a:t>stanów</a:t>
            </a:r>
            <a:r>
              <a:rPr lang="en-US" sz="1000" b="0" i="0" u="none" strike="noStrike" kern="1200" cap="none" spc="0" baseline="0" dirty="0">
                <a:solidFill>
                  <a:srgbClr val="7C3AED"/>
                </a:solidFill>
                <a:uFillTx/>
                <a:latin typeface="Calibri" pitchFamily="34"/>
                <a:ea typeface="Calibri" pitchFamily="34"/>
                <a:cs typeface="Calibri" pitchFamily="34"/>
              </a:rPr>
              <a:t> </a:t>
            </a:r>
            <a:r>
              <a:rPr lang="en-US" sz="1000" b="0" i="0" u="none" strike="noStrike" kern="1200" cap="none" spc="0" baseline="0" dirty="0" err="1">
                <a:solidFill>
                  <a:srgbClr val="7C3AED"/>
                </a:solidFill>
                <a:uFillTx/>
                <a:latin typeface="Calibri" pitchFamily="34"/>
                <a:ea typeface="Calibri" pitchFamily="34"/>
                <a:cs typeface="Calibri" pitchFamily="34"/>
              </a:rPr>
              <a:t>emocjonalnych</a:t>
            </a:r>
            <a:endParaRPr lang="en-US" sz="1000" b="0" i="0" u="none" strike="noStrike" kern="1200" cap="none" spc="0" baseline="0" dirty="0">
              <a:solidFill>
                <a:srgbClr val="000000"/>
              </a:solidFill>
              <a:uFillTx/>
              <a:latin typeface="Calibri"/>
            </a:endParaRPr>
          </a:p>
        </p:txBody>
      </p:sp>
      <p:sp>
        <p:nvSpPr>
          <p:cNvPr id="24" name="Shape 22"/>
          <p:cNvSpPr/>
          <p:nvPr/>
        </p:nvSpPr>
        <p:spPr>
          <a:xfrm>
            <a:off x="4511040" y="2686812"/>
            <a:ext cx="4427220" cy="1088136"/>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Shape 23"/>
          <p:cNvSpPr/>
          <p:nvPr/>
        </p:nvSpPr>
        <p:spPr>
          <a:xfrm>
            <a:off x="4511040" y="2686812"/>
            <a:ext cx="4427220" cy="27432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4636008" y="2732532"/>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a:solidFill>
                  <a:srgbClr val="FFFFFF"/>
                </a:solidFill>
                <a:uFillTx/>
                <a:latin typeface="Cambria" pitchFamily="34"/>
                <a:ea typeface="Cambria" pitchFamily="34"/>
                <a:cs typeface="Cambria" pitchFamily="34"/>
              </a:rPr>
              <a:t>Naukowe podstawy</a:t>
            </a:r>
            <a:endParaRPr lang="en-US" sz="1200" b="0" i="0" u="none" strike="noStrike" kern="1200" cap="none" spc="0" baseline="0">
              <a:solidFill>
                <a:srgbClr val="000000"/>
              </a:solidFill>
              <a:uFillTx/>
              <a:latin typeface="Calibri"/>
            </a:endParaRPr>
          </a:p>
        </p:txBody>
      </p:sp>
      <p:sp>
        <p:nvSpPr>
          <p:cNvPr id="27" name="Text 25"/>
          <p:cNvSpPr/>
          <p:nvPr/>
        </p:nvSpPr>
        <p:spPr>
          <a:xfrm>
            <a:off x="4613146" y="3066288"/>
            <a:ext cx="4226053" cy="39624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solidFill>
                  <a:srgbClr val="1F1535"/>
                </a:solidFill>
                <a:uFillTx/>
                <a:latin typeface="Calibri" pitchFamily="34"/>
                <a:ea typeface="Calibri" pitchFamily="34"/>
                <a:cs typeface="Calibri" pitchFamily="34"/>
              </a:rPr>
              <a:t>Barrett (2019) w Science: </a:t>
            </a:r>
            <a:r>
              <a:rPr lang="en-US" sz="1050" b="0" i="0" u="none" strike="noStrike" kern="1200" cap="none" spc="0" baseline="0" dirty="0" err="1">
                <a:solidFill>
                  <a:srgbClr val="1F1535"/>
                </a:solidFill>
                <a:uFillTx/>
                <a:latin typeface="Calibri" pitchFamily="34"/>
                <a:ea typeface="Calibri" pitchFamily="34"/>
                <a:cs typeface="Calibri" pitchFamily="34"/>
              </a:rPr>
              <a:t>wyrazy</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twarzy</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nie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mapują</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się</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jednoznacznie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na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emocje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wewnętrzne</a:t>
            </a:r>
            <a:r>
              <a:rPr lang="en-US" sz="1050" b="0" i="0" u="none" strike="noStrike" kern="1200" cap="none" spc="0" baseline="0" dirty="0">
                <a:solidFill>
                  <a:srgbClr val="1F1535"/>
                </a:solidFill>
                <a:uFillTx/>
                <a:latin typeface="Calibri" pitchFamily="34"/>
                <a:ea typeface="Calibri" pitchFamily="34"/>
                <a:cs typeface="Calibri" pitchFamily="34"/>
              </a:rPr>
              <a:t>. Ekman 6 </a:t>
            </a:r>
            <a:r>
              <a:rPr lang="en-US" sz="1050" b="0" i="0" u="none" strike="noStrike" kern="1200" cap="none" spc="0" baseline="0" dirty="0" err="1">
                <a:solidFill>
                  <a:srgbClr val="1F1535"/>
                </a:solidFill>
                <a:uFillTx/>
                <a:latin typeface="Calibri" pitchFamily="34"/>
                <a:ea typeface="Calibri" pitchFamily="34"/>
                <a:cs typeface="Calibri" pitchFamily="34"/>
              </a:rPr>
              <a:t>emocji</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krytykowane</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jako</a:t>
            </a:r>
            <a:r>
              <a:rPr lang="en-US" sz="1050" b="0" i="0" u="none" strike="noStrike" kern="1200" cap="none" spc="0" baseline="0" dirty="0">
                <a:solidFill>
                  <a:srgbClr val="1F1535"/>
                </a:solidFill>
                <a:uFillTx/>
                <a:latin typeface="Calibri" pitchFamily="34"/>
                <a:ea typeface="Calibri" pitchFamily="34"/>
                <a:cs typeface="Calibri" pitchFamily="34"/>
              </a:rPr>
              <a:t> oversimplification </a:t>
            </a:r>
            <a:r>
              <a:rPr lang="en-US" sz="1050" b="0" i="0" u="none" strike="noStrike" kern="1200" cap="none" spc="0" baseline="0" dirty="0" err="1">
                <a:solidFill>
                  <a:srgbClr val="1F1535"/>
                </a:solidFill>
                <a:uFillTx/>
                <a:latin typeface="Calibri" pitchFamily="34"/>
                <a:ea typeface="Calibri" pitchFamily="34"/>
                <a:cs typeface="Calibri" pitchFamily="34"/>
              </a:rPr>
              <a:t>aktualnie</a:t>
            </a:r>
            <a:r>
              <a:rPr lang="en-US" sz="1050" b="0" i="0" u="none" strike="noStrike" kern="1200" cap="none" spc="0" baseline="0" dirty="0">
                <a:solidFill>
                  <a:srgbClr val="1F1535"/>
                </a:solidFill>
                <a:uFillTx/>
                <a:latin typeface="Calibri" pitchFamily="34"/>
                <a:ea typeface="Calibri" pitchFamily="34"/>
                <a:cs typeface="Calibri" pitchFamily="34"/>
              </a:rPr>
              <a:t>.</a:t>
            </a:r>
            <a:endParaRPr lang="en-US" sz="1050" b="0" i="0" u="none" strike="noStrike" kern="1200" cap="none" spc="0" baseline="0" dirty="0">
              <a:solidFill>
                <a:srgbClr val="000000"/>
              </a:solidFill>
              <a:uFillTx/>
              <a:latin typeface="Calibri"/>
            </a:endParaRPr>
          </a:p>
        </p:txBody>
      </p:sp>
      <p:sp>
        <p:nvSpPr>
          <p:cNvPr id="28" name="Text 26"/>
          <p:cNvSpPr/>
          <p:nvPr/>
        </p:nvSpPr>
        <p:spPr>
          <a:xfrm>
            <a:off x="4666487" y="3518916"/>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Fałszywe</a:t>
            </a: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decyzje</a:t>
            </a: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bazowane</a:t>
            </a: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na</a:t>
            </a: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pseudonaukowych</a:t>
            </a:r>
            <a:r>
              <a:rPr lang="en-US" sz="1000" b="0" i="0" u="none" strike="noStrike" kern="1200" cap="none" spc="0" baseline="0" dirty="0">
                <a:solidFill>
                  <a:srgbClr val="0891B2"/>
                </a:solidFill>
                <a:uFillTx/>
                <a:latin typeface="Calibri" pitchFamily="34"/>
                <a:ea typeface="Calibri" pitchFamily="34"/>
                <a:cs typeface="Calibri" pitchFamily="34"/>
              </a:rPr>
              <a:t> </a:t>
            </a:r>
            <a:r>
              <a:rPr lang="en-US" sz="1000" b="0" i="0" u="none" strike="noStrike" kern="1200" cap="none" spc="0" baseline="0" dirty="0" err="1">
                <a:solidFill>
                  <a:srgbClr val="0891B2"/>
                </a:solidFill>
                <a:uFillTx/>
                <a:latin typeface="Calibri" pitchFamily="34"/>
                <a:ea typeface="Calibri" pitchFamily="34"/>
                <a:cs typeface="Calibri" pitchFamily="34"/>
              </a:rPr>
              <a:t>podstawach</a:t>
            </a:r>
            <a:endParaRPr lang="en-US" sz="1000" b="0" i="0" u="none" strike="noStrike" kern="1200" cap="none" spc="0" baseline="0" dirty="0">
              <a:solidFill>
                <a:srgbClr val="000000"/>
              </a:solidFill>
              <a:uFillTx/>
              <a:latin typeface="Calibri"/>
            </a:endParaRPr>
          </a:p>
        </p:txBody>
      </p:sp>
      <p:sp>
        <p:nvSpPr>
          <p:cNvPr id="29" name="Shape 27"/>
          <p:cNvSpPr/>
          <p:nvPr/>
        </p:nvSpPr>
        <p:spPr>
          <a:xfrm>
            <a:off x="2432304" y="3995928"/>
            <a:ext cx="4547616" cy="917448"/>
          </a:xfrm>
          <a:prstGeom prst="rect">
            <a:avLst/>
          </a:prstGeom>
          <a:solidFill>
            <a:srgbClr val="FFFFFF"/>
          </a:solidFill>
          <a:ln w="12701"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Shape 28"/>
          <p:cNvSpPr/>
          <p:nvPr/>
        </p:nvSpPr>
        <p:spPr>
          <a:xfrm>
            <a:off x="2432304" y="3965448"/>
            <a:ext cx="4547616" cy="27432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2523743" y="3992118"/>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a:solidFill>
                  <a:srgbClr val="FFFFFF"/>
                </a:solidFill>
                <a:uFillTx/>
                <a:latin typeface="Cambria" pitchFamily="34"/>
                <a:ea typeface="Cambria" pitchFamily="34"/>
                <a:cs typeface="Cambria" pitchFamily="34"/>
              </a:rPr>
              <a:t>Power Imbalance</a:t>
            </a:r>
            <a:endParaRPr lang="en-US" sz="1200" b="0" i="0" u="none" strike="noStrike" kern="1200" cap="none" spc="0" baseline="0" dirty="0">
              <a:solidFill>
                <a:srgbClr val="000000"/>
              </a:solidFill>
              <a:uFillTx/>
              <a:latin typeface="Calibri"/>
            </a:endParaRPr>
          </a:p>
        </p:txBody>
      </p:sp>
      <p:sp>
        <p:nvSpPr>
          <p:cNvPr id="32" name="Text 30"/>
          <p:cNvSpPr/>
          <p:nvPr/>
        </p:nvSpPr>
        <p:spPr>
          <a:xfrm>
            <a:off x="2523744" y="4276344"/>
            <a:ext cx="4357116" cy="32461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solidFill>
                  <a:srgbClr val="1F1535"/>
                </a:solidFill>
                <a:uFillTx/>
                <a:latin typeface="Calibri" pitchFamily="34"/>
                <a:ea typeface="Calibri" pitchFamily="34"/>
                <a:cs typeface="Calibri" pitchFamily="34"/>
              </a:rPr>
              <a:t>Pracodawca</a:t>
            </a:r>
            <a:r>
              <a:rPr lang="en-US" sz="1050" b="0" i="0" u="none" strike="noStrike" kern="1200" cap="none" spc="0" baseline="0" dirty="0">
                <a:solidFill>
                  <a:srgbClr val="1F1535"/>
                </a:solidFill>
                <a:uFillTx/>
                <a:latin typeface="Calibri" pitchFamily="34"/>
                <a:ea typeface="Calibri" pitchFamily="34"/>
                <a:cs typeface="Calibri" pitchFamily="34"/>
              </a:rPr>
              <a:t>/</a:t>
            </a:r>
            <a:r>
              <a:rPr lang="en-US" sz="1050" b="0" i="0" u="none" strike="noStrike" kern="1200" cap="none" spc="0" baseline="0" dirty="0" err="1">
                <a:solidFill>
                  <a:srgbClr val="1F1535"/>
                </a:solidFill>
                <a:uFillTx/>
                <a:latin typeface="Calibri" pitchFamily="34"/>
                <a:ea typeface="Calibri" pitchFamily="34"/>
                <a:cs typeface="Calibri" pitchFamily="34"/>
              </a:rPr>
              <a:t>rząd</a:t>
            </a:r>
            <a:r>
              <a:rPr lang="en-US" sz="1050" b="0" i="0" u="none" strike="noStrike" kern="1200" cap="none" spc="0" baseline="0" dirty="0">
                <a:solidFill>
                  <a:srgbClr val="1F1535"/>
                </a:solidFill>
                <a:uFillTx/>
                <a:latin typeface="Calibri" pitchFamily="34"/>
                <a:ea typeface="Calibri" pitchFamily="34"/>
                <a:cs typeface="Calibri" pitchFamily="34"/>
              </a:rPr>
              <a:t>/</a:t>
            </a:r>
            <a:r>
              <a:rPr lang="en-US" sz="1050" b="0" i="0" u="none" strike="noStrike" kern="1200" cap="none" spc="0" baseline="0" dirty="0" err="1">
                <a:solidFill>
                  <a:srgbClr val="1F1535"/>
                </a:solidFill>
                <a:uFillTx/>
                <a:latin typeface="Calibri" pitchFamily="34"/>
                <a:ea typeface="Calibri" pitchFamily="34"/>
                <a:cs typeface="Calibri" pitchFamily="34"/>
              </a:rPr>
              <a:t>platforma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zbiera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emocje</a:t>
            </a:r>
            <a:r>
              <a:rPr lang="en-US" sz="1050" b="0" i="0" u="none" strike="noStrike" kern="1200" cap="none" spc="0" baseline="0" dirty="0">
                <a:solidFill>
                  <a:srgbClr val="1F1535"/>
                </a:solidFill>
                <a:uFillTx/>
                <a:latin typeface="Calibri" pitchFamily="34"/>
                <a:ea typeface="Calibri" pitchFamily="34"/>
                <a:cs typeface="Calibri" pitchFamily="34"/>
              </a:rPr>
              <a:t> → </a:t>
            </a:r>
            <a:r>
              <a:rPr lang="en-US" sz="1050" b="0" i="0" u="none" strike="noStrike" kern="1200" cap="none" spc="0" baseline="0" dirty="0" err="1">
                <a:solidFill>
                  <a:srgbClr val="1F1535"/>
                </a:solidFill>
                <a:uFillTx/>
                <a:latin typeface="Calibri" pitchFamily="34"/>
                <a:ea typeface="Calibri" pitchFamily="34"/>
                <a:cs typeface="Calibri" pitchFamily="34"/>
              </a:rPr>
              <a:t>asymetria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wiedzy</a:t>
            </a:r>
            <a:r>
              <a:rPr lang="en-US" sz="1050" b="0" i="0" u="none" strike="noStrike" kern="1200" cap="none" spc="0" baseline="0" dirty="0">
                <a:solidFill>
                  <a:srgbClr val="1F1535"/>
                </a:solidFill>
                <a:uFillTx/>
                <a:latin typeface="Calibri" pitchFamily="34"/>
                <a:ea typeface="Calibri" pitchFamily="34"/>
                <a:cs typeface="Calibri" pitchFamily="34"/>
              </a:rPr>
              <a:t>. User </a:t>
            </a:r>
            <a:r>
              <a:rPr lang="en-US" sz="1050" b="0" i="0" u="none" strike="noStrike" kern="1200" cap="none" spc="0" baseline="0" dirty="0" err="1">
                <a:solidFill>
                  <a:srgbClr val="1F1535"/>
                </a:solidFill>
                <a:uFillTx/>
                <a:latin typeface="Calibri" pitchFamily="34"/>
                <a:ea typeface="Calibri" pitchFamily="34"/>
                <a:cs typeface="Calibri" pitchFamily="34"/>
              </a:rPr>
              <a:t>nie</a:t>
            </a:r>
            <a:r>
              <a:rPr lang="en-US" sz="1050" b="0" i="0" u="none" strike="noStrike" kern="1200" cap="none" spc="0" baseline="0" dirty="0">
                <a:solidFill>
                  <a:srgbClr val="1F1535"/>
                </a:solidFill>
                <a:uFillTx/>
                <a:latin typeface="Calibri" pitchFamily="34"/>
                <a:ea typeface="Calibri" pitchFamily="34"/>
                <a:cs typeface="Calibri" pitchFamily="34"/>
              </a:rPr>
              <a:t> ma </a:t>
            </a:r>
            <a:r>
              <a:rPr lang="en-US" sz="1050" b="0" i="0" u="none" strike="noStrike" kern="1200" cap="none" spc="0" baseline="0" dirty="0" err="1">
                <a:solidFill>
                  <a:srgbClr val="1F1535"/>
                </a:solidFill>
                <a:uFillTx/>
                <a:latin typeface="Calibri" pitchFamily="34"/>
                <a:ea typeface="Calibri" pitchFamily="34"/>
                <a:cs typeface="Calibri" pitchFamily="34"/>
              </a:rPr>
              <a:t>dostępu</a:t>
            </a:r>
            <a:r>
              <a:rPr lang="en-US" sz="1050" b="0" i="0" u="none" strike="noStrike" kern="1200" cap="none" spc="0" baseline="0" dirty="0">
                <a:solidFill>
                  <a:srgbClr val="1F1535"/>
                </a:solidFill>
                <a:uFillTx/>
                <a:latin typeface="Calibri" pitchFamily="34"/>
                <a:ea typeface="Calibri" pitchFamily="34"/>
                <a:cs typeface="Calibri" pitchFamily="34"/>
              </a:rPr>
              <a:t> do </a:t>
            </a:r>
            <a:r>
              <a:rPr lang="en-US" sz="1050" b="0" i="0" u="none" strike="noStrike" kern="1200" cap="none" spc="0" baseline="0" dirty="0" err="1">
                <a:solidFill>
                  <a:srgbClr val="1F1535"/>
                </a:solidFill>
                <a:uFillTx/>
                <a:latin typeface="Calibri" pitchFamily="34"/>
                <a:ea typeface="Calibri" pitchFamily="34"/>
                <a:cs typeface="Calibri" pitchFamily="34"/>
              </a:rPr>
              <a:t>swoich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danych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emocjonalnych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ani</a:t>
            </a:r>
            <a:r>
              <a:rPr lang="en-US" sz="1050" b="0" i="0" u="none" strike="noStrike" kern="1200" cap="none" spc="0" baseline="0" dirty="0">
                <a:solidFill>
                  <a:srgbClr val="1F1535"/>
                </a:solidFill>
                <a:uFillTx/>
                <a:latin typeface="Calibri" pitchFamily="34"/>
                <a:ea typeface="Calibri" pitchFamily="34"/>
                <a:cs typeface="Calibri" pitchFamily="34"/>
              </a:rPr>
              <a:t> do </a:t>
            </a:r>
            <a:r>
              <a:rPr lang="en-US" sz="1050" b="0" i="0" u="none" strike="noStrike" kern="1200" cap="none" spc="0" baseline="0" dirty="0" err="1">
                <a:solidFill>
                  <a:srgbClr val="1F1535"/>
                </a:solidFill>
                <a:uFillTx/>
                <a:latin typeface="Calibri" pitchFamily="34"/>
                <a:ea typeface="Calibri" pitchFamily="34"/>
                <a:cs typeface="Calibri" pitchFamily="34"/>
              </a:rPr>
              <a:t>decyzji</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na</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ich</a:t>
            </a:r>
            <a:r>
              <a:rPr lang="en-US" sz="1050" b="0" i="0" u="none" strike="noStrike" kern="1200" cap="none" spc="0" baseline="0" dirty="0">
                <a:solidFill>
                  <a:srgbClr val="1F1535"/>
                </a:solidFill>
                <a:uFillTx/>
                <a:latin typeface="Calibri" pitchFamily="34"/>
                <a:ea typeface="Calibri" pitchFamily="34"/>
                <a:cs typeface="Calibri" pitchFamily="34"/>
              </a:rPr>
              <a:t> </a:t>
            </a:r>
            <a:r>
              <a:rPr lang="en-US" sz="1050" b="0" i="0" u="none" strike="noStrike" kern="1200" cap="none" spc="0" baseline="0" dirty="0" err="1">
                <a:solidFill>
                  <a:srgbClr val="1F1535"/>
                </a:solidFill>
                <a:uFillTx/>
                <a:latin typeface="Calibri" pitchFamily="34"/>
                <a:ea typeface="Calibri" pitchFamily="34"/>
                <a:cs typeface="Calibri" pitchFamily="34"/>
              </a:rPr>
              <a:t>podstawie</a:t>
            </a:r>
            <a:r>
              <a:rPr lang="en-US" sz="1050" b="0" i="0" u="none" strike="noStrike" kern="1200" cap="none" spc="0" baseline="0" dirty="0">
                <a:solidFill>
                  <a:srgbClr val="1F1535"/>
                </a:solidFill>
                <a:uFillTx/>
                <a:latin typeface="Calibri" pitchFamily="34"/>
                <a:ea typeface="Calibri" pitchFamily="34"/>
                <a:cs typeface="Calibri" pitchFamily="34"/>
              </a:rPr>
              <a:t>.</a:t>
            </a:r>
            <a:endParaRPr lang="en-US" sz="1050" b="0" i="0" u="none" strike="noStrike" kern="1200" cap="none" spc="0" baseline="0" dirty="0">
              <a:solidFill>
                <a:srgbClr val="000000"/>
              </a:solidFill>
              <a:uFillTx/>
              <a:latin typeface="Calibri"/>
            </a:endParaRPr>
          </a:p>
        </p:txBody>
      </p:sp>
      <p:sp>
        <p:nvSpPr>
          <p:cNvPr id="33" name="Text 31"/>
          <p:cNvSpPr/>
          <p:nvPr/>
        </p:nvSpPr>
        <p:spPr>
          <a:xfrm>
            <a:off x="2523744" y="4652772"/>
            <a:ext cx="406908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059669"/>
                </a:solidFill>
                <a:uFillTx/>
                <a:latin typeface="Calibri" pitchFamily="34"/>
                <a:ea typeface="Calibri" pitchFamily="34"/>
                <a:cs typeface="Calibri" pitchFamily="34"/>
              </a:rPr>
              <a:t>⚠ Surveillance capitalism, social credit, manipulation at scale</a:t>
            </a:r>
            <a:endParaRPr lang="en-US" sz="1000" b="0" i="0" u="none" strike="noStrike" kern="1200" cap="none" spc="0" baseline="0" dirty="0">
              <a:solidFill>
                <a:srgbClr val="000000"/>
              </a:solidFill>
              <a:uFillTx/>
              <a:latin typeface="Calibri"/>
            </a:endParaRPr>
          </a:p>
        </p:txBody>
      </p:sp>
      <p:sp>
        <p:nvSpPr>
          <p:cNvPr id="38"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26</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9FF"/>
        </a:solidFill>
        <a:effectLst/>
      </p:bgPr>
    </p:bg>
    <p:spTree>
      <p:nvGrpSpPr>
        <p:cNvPr id="1" name=""/>
        <p:cNvGrpSpPr/>
        <p:nvPr/>
      </p:nvGrpSpPr>
      <p:grpSpPr>
        <a:xfrm>
          <a:off x="0" y="0"/>
          <a:ext cx="0" cy="0"/>
          <a:chOff x="0" y="0"/>
          <a:chExt cx="0" cy="0"/>
        </a:xfrm>
      </p:grpSpPr>
      <p:grpSp>
        <p:nvGrpSpPr>
          <p:cNvPr id="50" name="Grupa 49"/>
          <p:cNvGrpSpPr/>
          <p:nvPr/>
        </p:nvGrpSpPr>
        <p:grpSpPr>
          <a:xfrm>
            <a:off x="0" y="0"/>
            <a:ext cx="9144000" cy="558000"/>
            <a:chOff x="0" y="0"/>
            <a:chExt cx="9144000" cy="558000"/>
          </a:xfrm>
        </p:grpSpPr>
        <p:sp>
          <p:nvSpPr>
            <p:cNvPr id="51"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2"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RODO, AI Act </a:t>
            </a:r>
            <a:r>
              <a:rPr lang="en-US" sz="2000" b="1" i="0" u="none" strike="noStrike" kern="1200" cap="none" spc="0" baseline="0" dirty="0" err="1">
                <a:solidFill>
                  <a:srgbClr val="FFFFFF"/>
                </a:solidFill>
                <a:uFillTx/>
                <a:latin typeface="Cambria" pitchFamily="34"/>
                <a:ea typeface="Cambria" pitchFamily="34"/>
                <a:cs typeface="Cambria" pitchFamily="34"/>
              </a:rPr>
              <a:t>i</a:t>
            </a:r>
            <a:r>
              <a:rPr lang="en-US" sz="2000" b="1" i="0" u="none" strike="noStrike" kern="1200" cap="none" spc="0" baseline="0" dirty="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r</a:t>
            </a:r>
            <a:r>
              <a:rPr lang="en-US" sz="2000" b="1" i="0" u="none" strike="noStrike" kern="1200" cap="none" spc="0" baseline="0" dirty="0" err="1" smtClean="0">
                <a:solidFill>
                  <a:srgbClr val="FFFFFF"/>
                </a:solidFill>
                <a:uFillTx/>
                <a:latin typeface="Cambria" pitchFamily="34"/>
                <a:ea typeface="Cambria" pitchFamily="34"/>
                <a:cs typeface="Cambria" pitchFamily="34"/>
              </a:rPr>
              <a:t>egulacje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rawne</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548640" y="780429"/>
            <a:ext cx="7863840" cy="386706"/>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ts val="22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uFillTx/>
                <a:latin typeface="Calibri" pitchFamily="34"/>
                <a:ea typeface="Calibri" pitchFamily="34"/>
                <a:cs typeface="Calibri" pitchFamily="34"/>
              </a:rPr>
              <a:t>Dane </a:t>
            </a:r>
            <a:r>
              <a:rPr lang="en-US" sz="1600" b="0" i="0" u="none" strike="noStrike" kern="1200" cap="none" spc="0" baseline="0" dirty="0" err="1">
                <a:uFillTx/>
                <a:latin typeface="Calibri" pitchFamily="34"/>
                <a:ea typeface="Calibri" pitchFamily="34"/>
                <a:cs typeface="Calibri" pitchFamily="34"/>
              </a:rPr>
              <a:t>afektywne</a:t>
            </a:r>
            <a:r>
              <a:rPr lang="en-US" sz="1600" b="0" i="0" u="none" strike="noStrike" kern="1200" cap="none" spc="0" baseline="0" dirty="0">
                <a:uFillTx/>
                <a:latin typeface="Calibri" pitchFamily="34"/>
                <a:ea typeface="Calibri" pitchFamily="34"/>
                <a:cs typeface="Calibri" pitchFamily="34"/>
              </a:rPr>
              <a:t> = </a:t>
            </a:r>
            <a:r>
              <a:rPr lang="en-US" sz="1600" b="0" i="0" u="none" strike="noStrike" kern="1200" cap="none" spc="0" baseline="0" dirty="0" err="1">
                <a:uFillTx/>
                <a:latin typeface="Calibri" pitchFamily="34"/>
                <a:ea typeface="Calibri" pitchFamily="34"/>
                <a:cs typeface="Calibri" pitchFamily="34"/>
              </a:rPr>
              <a:t>dane</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biometryczne</a:t>
            </a:r>
            <a:r>
              <a:rPr lang="en-US" sz="1600" b="0" i="0" u="none" strike="noStrike" kern="1200" cap="none" spc="0" baseline="0" dirty="0">
                <a:uFillTx/>
                <a:latin typeface="Calibri" pitchFamily="34"/>
                <a:ea typeface="Calibri" pitchFamily="34"/>
                <a:cs typeface="Calibri" pitchFamily="34"/>
              </a:rPr>
              <a:t> + </a:t>
            </a:r>
            <a:r>
              <a:rPr lang="en-US" sz="1600" b="0" i="0" u="none" strike="noStrike" kern="1200" cap="none" spc="0" baseline="0" dirty="0" err="1">
                <a:uFillTx/>
                <a:latin typeface="Calibri" pitchFamily="34"/>
                <a:ea typeface="Calibri" pitchFamily="34"/>
                <a:cs typeface="Calibri" pitchFamily="34"/>
              </a:rPr>
              <a:t>dane</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zdrowotne</a:t>
            </a:r>
            <a:r>
              <a:rPr lang="en-US" sz="1600" b="0" i="0" u="none" strike="noStrike" kern="1200" cap="none" spc="0" baseline="0" dirty="0">
                <a:uFillTx/>
                <a:latin typeface="Calibri" pitchFamily="34"/>
                <a:ea typeface="Calibri" pitchFamily="34"/>
                <a:cs typeface="Calibri" pitchFamily="34"/>
              </a:rPr>
              <a:t> = </a:t>
            </a:r>
            <a:r>
              <a:rPr lang="en-US" sz="1600" b="0" i="0" u="none" strike="noStrike" kern="1200" cap="none" spc="0" baseline="0" dirty="0" err="1">
                <a:uFillTx/>
                <a:latin typeface="Calibri" pitchFamily="34"/>
                <a:ea typeface="Calibri" pitchFamily="34"/>
                <a:cs typeface="Calibri" pitchFamily="34"/>
              </a:rPr>
              <a:t>najwyższy</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poziom</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ochrony</a:t>
            </a:r>
            <a:r>
              <a:rPr lang="en-US" sz="1600" b="0" i="0" u="none" strike="noStrike" kern="1200" cap="none" spc="0" baseline="0" dirty="0">
                <a:uFillTx/>
                <a:latin typeface="Calibri" pitchFamily="34"/>
                <a:ea typeface="Calibri" pitchFamily="34"/>
                <a:cs typeface="Calibri" pitchFamily="34"/>
              </a:rPr>
              <a:t> RODO. </a:t>
            </a:r>
            <a:endParaRPr lang="pl-PL" sz="1600" b="0" i="0" u="none" strike="noStrike" kern="1200" cap="none" spc="0" baseline="0" dirty="0" smtClean="0">
              <a:uFillTx/>
              <a:latin typeface="Calibri" pitchFamily="34"/>
              <a:ea typeface="Calibri" pitchFamily="34"/>
              <a:cs typeface="Calibri" pitchFamily="34"/>
            </a:endParaRPr>
          </a:p>
          <a:p>
            <a:pPr marL="0" marR="0" lvl="0" indent="0" algn="ctr" defTabSz="914400" rtl="0" fontAlgn="auto" hangingPunct="1">
              <a:lnSpc>
                <a:spcPts val="22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smtClean="0">
                <a:uFillTx/>
                <a:latin typeface="Calibri" pitchFamily="34"/>
                <a:ea typeface="Calibri" pitchFamily="34"/>
                <a:cs typeface="Calibri" pitchFamily="34"/>
              </a:rPr>
              <a:t>AI </a:t>
            </a:r>
            <a:r>
              <a:rPr lang="en-US" sz="1600" b="0" i="0" u="none" strike="noStrike" kern="1200" cap="none" spc="0" baseline="0" dirty="0">
                <a:uFillTx/>
                <a:latin typeface="Calibri" pitchFamily="34"/>
                <a:ea typeface="Calibri" pitchFamily="34"/>
                <a:cs typeface="Calibri" pitchFamily="34"/>
              </a:rPr>
              <a:t>Act </a:t>
            </a:r>
            <a:r>
              <a:rPr lang="en-US" sz="1600" b="0" i="0" u="none" strike="noStrike" kern="1200" cap="none" spc="0" baseline="0" dirty="0" err="1">
                <a:uFillTx/>
                <a:latin typeface="Calibri" pitchFamily="34"/>
                <a:ea typeface="Calibri" pitchFamily="34"/>
                <a:cs typeface="Calibri" pitchFamily="34"/>
              </a:rPr>
              <a:t>dodatkowo</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klasyfikuje</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systemy</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emocjonalne</a:t>
            </a:r>
            <a:r>
              <a:rPr lang="en-US" sz="1600" b="0" i="0" u="none" strike="noStrike" kern="1200" cap="none" spc="0" baseline="0" dirty="0">
                <a:uFillTx/>
                <a:latin typeface="Calibri" pitchFamily="34"/>
                <a:ea typeface="Calibri" pitchFamily="34"/>
                <a:cs typeface="Calibri" pitchFamily="34"/>
              </a:rPr>
              <a:t> </a:t>
            </a:r>
            <a:r>
              <a:rPr lang="en-US" sz="1600" b="0" i="0" u="none" strike="noStrike" kern="1200" cap="none" spc="0" baseline="0" dirty="0" err="1">
                <a:uFillTx/>
                <a:latin typeface="Calibri" pitchFamily="34"/>
                <a:ea typeface="Calibri" pitchFamily="34"/>
                <a:cs typeface="Calibri" pitchFamily="34"/>
              </a:rPr>
              <a:t>jako</a:t>
            </a:r>
            <a:r>
              <a:rPr lang="en-US" sz="1600" b="0" i="0" u="none" strike="noStrike" kern="1200" cap="none" spc="0" baseline="0" dirty="0">
                <a:uFillTx/>
                <a:latin typeface="Calibri" pitchFamily="34"/>
                <a:ea typeface="Calibri" pitchFamily="34"/>
                <a:cs typeface="Calibri" pitchFamily="34"/>
              </a:rPr>
              <a:t> High Risk.</a:t>
            </a:r>
            <a:endParaRPr lang="en-US" sz="1600" b="0" i="0" u="none" strike="noStrike" kern="1200" cap="none" spc="0" baseline="0" dirty="0">
              <a:uFillTx/>
              <a:latin typeface="Calibri"/>
            </a:endParaRPr>
          </a:p>
        </p:txBody>
      </p:sp>
      <p:sp>
        <p:nvSpPr>
          <p:cNvPr id="8" name="Text 6"/>
          <p:cNvSpPr/>
          <p:nvPr/>
        </p:nvSpPr>
        <p:spPr>
          <a:xfrm>
            <a:off x="106680" y="141313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dirty="0" err="1">
                <a:solidFill>
                  <a:srgbClr val="1F1535"/>
                </a:solidFill>
                <a:uFillTx/>
                <a:latin typeface="Cambria" pitchFamily="34"/>
                <a:ea typeface="Cambria" pitchFamily="34"/>
                <a:cs typeface="Cambria" pitchFamily="34"/>
              </a:rPr>
              <a:t>Ramy</a:t>
            </a:r>
            <a:r>
              <a:rPr lang="en-US" sz="1300" b="1" i="0" u="none" strike="noStrike" kern="1200" cap="none" spc="0" baseline="0" dirty="0">
                <a:solidFill>
                  <a:srgbClr val="1F1535"/>
                </a:solidFill>
                <a:uFillTx/>
                <a:latin typeface="Cambria" pitchFamily="34"/>
                <a:ea typeface="Cambria" pitchFamily="34"/>
                <a:cs typeface="Cambria" pitchFamily="34"/>
              </a:rPr>
              <a:t> </a:t>
            </a:r>
            <a:r>
              <a:rPr lang="en-US" sz="1300" b="1" i="0" u="none" strike="noStrike" kern="1200" cap="none" spc="0" baseline="0" dirty="0" err="1" smtClean="0">
                <a:solidFill>
                  <a:srgbClr val="1F1535"/>
                </a:solidFill>
                <a:uFillTx/>
                <a:latin typeface="Cambria" pitchFamily="34"/>
                <a:ea typeface="Cambria" pitchFamily="34"/>
                <a:cs typeface="Cambria" pitchFamily="34"/>
              </a:rPr>
              <a:t>prawne</a:t>
            </a:r>
            <a:endParaRPr lang="en-US" sz="1300" b="0" i="0" u="none" strike="noStrike" kern="1200" cap="none" spc="0" baseline="0" dirty="0">
              <a:solidFill>
                <a:srgbClr val="000000"/>
              </a:solidFill>
              <a:uFillTx/>
              <a:latin typeface="Calibri"/>
            </a:endParaRPr>
          </a:p>
        </p:txBody>
      </p:sp>
      <p:grpSp>
        <p:nvGrpSpPr>
          <p:cNvPr id="61" name="Grupa 60"/>
          <p:cNvGrpSpPr/>
          <p:nvPr/>
        </p:nvGrpSpPr>
        <p:grpSpPr>
          <a:xfrm>
            <a:off x="106680" y="1664208"/>
            <a:ext cx="4373880" cy="713232"/>
            <a:chOff x="320040" y="1389888"/>
            <a:chExt cx="4160520" cy="713232"/>
          </a:xfrm>
        </p:grpSpPr>
        <p:sp>
          <p:nvSpPr>
            <p:cNvPr id="9" name="Shape 7"/>
            <p:cNvSpPr/>
            <p:nvPr/>
          </p:nvSpPr>
          <p:spPr>
            <a:xfrm>
              <a:off x="320040" y="1389888"/>
              <a:ext cx="4160520" cy="713232"/>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389888"/>
              <a:ext cx="54864" cy="713232"/>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48056" y="140929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RODO Art. 9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Kategorie</a:t>
              </a:r>
              <a:r>
                <a:rPr lang="en-US" sz="1150" b="1" i="0" u="none" strike="noStrike" kern="1200" cap="none" spc="0" baseline="0" dirty="0">
                  <a:solidFill>
                    <a:srgbClr val="1F1535"/>
                  </a:solidFill>
                  <a:uFillTx/>
                  <a:latin typeface="Cambria" pitchFamily="34"/>
                  <a:ea typeface="Cambria" pitchFamily="34"/>
                  <a:cs typeface="Cambria" pitchFamily="34"/>
                </a:rPr>
                <a:t> </a:t>
              </a:r>
              <a:r>
                <a:rPr lang="en-US" sz="1150" b="1" i="0" u="none" strike="noStrike" kern="1200" cap="none" spc="0" baseline="0" dirty="0" err="1">
                  <a:solidFill>
                    <a:srgbClr val="1F1535"/>
                  </a:solidFill>
                  <a:uFillTx/>
                  <a:latin typeface="Cambria" pitchFamily="34"/>
                  <a:ea typeface="Cambria" pitchFamily="34"/>
                  <a:cs typeface="Cambria" pitchFamily="34"/>
                </a:rPr>
                <a:t>szczególne</a:t>
              </a:r>
              <a:endParaRPr lang="en-US" sz="1150" b="0" i="0" u="none" strike="noStrike" kern="1200" cap="none" spc="0" baseline="0" dirty="0">
                <a:solidFill>
                  <a:srgbClr val="000000"/>
                </a:solidFill>
                <a:uFillTx/>
                <a:latin typeface="Calibri"/>
              </a:endParaRPr>
            </a:p>
          </p:txBody>
        </p:sp>
        <p:sp>
          <p:nvSpPr>
            <p:cNvPr id="12" name="Text 10"/>
            <p:cNvSpPr/>
            <p:nvPr/>
          </p:nvSpPr>
          <p:spPr>
            <a:xfrm>
              <a:off x="448056" y="1703832"/>
              <a:ext cx="3977639" cy="318978"/>
            </a:xfrm>
            <a:prstGeom prst="rect">
              <a:avLst/>
            </a:prstGeom>
            <a:noFill/>
            <a:ln cap="flat">
              <a:noFill/>
              <a:prstDash val="solid"/>
            </a:ln>
          </p:spPr>
          <p:txBody>
            <a:bodyPr vert="horz" wrap="square" lIns="0" tIns="0" rIns="0" bIns="0" anchor="ctr" anchorCtr="0" compatLnSpc="1">
              <a:noAutofit/>
            </a:bodyPr>
            <a:lstStyle/>
            <a:p>
              <a:pPr lvl="0">
                <a:defRPr sz="1800" b="0" i="0" u="none" strike="noStrike" kern="0" cap="none" spc="0" baseline="0">
                  <a:solidFill>
                    <a:srgbClr val="000000"/>
                  </a:solidFill>
                  <a:uFillTx/>
                </a:defRPr>
              </a:pPr>
              <a:r>
                <a:rPr lang="en-US" sz="1000" b="0" i="0" u="none" strike="noStrike" kern="1200" cap="none" spc="0" baseline="0" dirty="0">
                  <a:uFillTx/>
                  <a:latin typeface="Calibri" pitchFamily="34"/>
                  <a:ea typeface="Calibri" pitchFamily="34"/>
                  <a:cs typeface="Calibri" pitchFamily="34"/>
                </a:rPr>
                <a:t>Dane </a:t>
              </a:r>
              <a:r>
                <a:rPr lang="en-US" sz="1000" b="0" i="0" u="none" strike="noStrike" kern="1200" cap="none" spc="0" baseline="0" dirty="0" err="1">
                  <a:uFillTx/>
                  <a:latin typeface="Calibri" pitchFamily="34"/>
                  <a:ea typeface="Calibri" pitchFamily="34"/>
                  <a:cs typeface="Calibri" pitchFamily="34"/>
                </a:rPr>
                <a:t>biometryczne</a:t>
              </a:r>
              <a:r>
                <a:rPr lang="en-US" sz="1000" b="0" i="0" u="none" strike="noStrike" kern="1200" cap="none" spc="0" baseline="0" dirty="0">
                  <a:uFillTx/>
                  <a:latin typeface="Calibri" pitchFamily="34"/>
                  <a:ea typeface="Calibri" pitchFamily="34"/>
                  <a:cs typeface="Calibri" pitchFamily="34"/>
                </a:rPr>
                <a:t> do </a:t>
              </a:r>
              <a:r>
                <a:rPr lang="en-US" sz="1000" b="0" i="0" u="none" strike="noStrike" kern="1200" cap="none" spc="0" baseline="0" dirty="0" err="1">
                  <a:uFillTx/>
                  <a:latin typeface="Calibri" pitchFamily="34"/>
                  <a:ea typeface="Calibri" pitchFamily="34"/>
                  <a:cs typeface="Calibri" pitchFamily="34"/>
                </a:rPr>
                <a:t>identyfikacji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twarz</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tęczówka</a:t>
              </a:r>
              <a:r>
                <a:rPr lang="en-US" sz="1000" b="0" i="0" u="none" strike="noStrike" kern="1200" cap="none" spc="0" baseline="0" dirty="0">
                  <a:uFillTx/>
                  <a:latin typeface="Calibri" pitchFamily="34"/>
                  <a:ea typeface="Calibri" pitchFamily="34"/>
                  <a:cs typeface="Calibri" pitchFamily="34"/>
                </a:rPr>
                <a:t>) = </a:t>
              </a:r>
              <a:r>
                <a:rPr lang="en-US" sz="1000" b="0" i="0" u="none" strike="noStrike" kern="1200" cap="none" spc="0" baseline="0" dirty="0" err="1">
                  <a:uFillTx/>
                  <a:latin typeface="Calibri" pitchFamily="34"/>
                  <a:ea typeface="Calibri" pitchFamily="34"/>
                  <a:cs typeface="Calibri" pitchFamily="34"/>
                </a:rPr>
                <a:t>kategoria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szczególna</a:t>
              </a:r>
              <a:r>
                <a:rPr lang="en-US" sz="1000" b="0" i="0" u="none" strike="noStrike" kern="1200" cap="none" spc="0" baseline="0" dirty="0">
                  <a:uFillTx/>
                  <a:latin typeface="Calibri" pitchFamily="34"/>
                  <a:ea typeface="Calibri" pitchFamily="34"/>
                  <a:cs typeface="Calibri" pitchFamily="34"/>
                </a:rPr>
                <a:t>. </a:t>
              </a:r>
              <a:r>
                <a:rPr lang="pl-PL" sz="1000" dirty="0">
                  <a:latin typeface="Calibri" pitchFamily="34"/>
                  <a:ea typeface="Calibri" pitchFamily="34"/>
                  <a:cs typeface="Calibri" pitchFamily="34"/>
                </a:rPr>
                <a:t>Przetwarzanie danych wymaga: wyraźnej zgody LUB istotnego interesu publicznego LUB interesu niezbędnego do zachowania życia.</a:t>
              </a:r>
              <a:endParaRPr lang="en-US" sz="1000" b="0" i="0" u="none" strike="noStrike" kern="1200" cap="none" spc="0" baseline="0" dirty="0">
                <a:uFillTx/>
                <a:latin typeface="Calibri"/>
              </a:endParaRPr>
            </a:p>
          </p:txBody>
        </p:sp>
      </p:grpSp>
      <p:grpSp>
        <p:nvGrpSpPr>
          <p:cNvPr id="62" name="Grupa 61"/>
          <p:cNvGrpSpPr/>
          <p:nvPr/>
        </p:nvGrpSpPr>
        <p:grpSpPr>
          <a:xfrm>
            <a:off x="106680" y="2436876"/>
            <a:ext cx="4373880" cy="612000"/>
            <a:chOff x="320040" y="2231136"/>
            <a:chExt cx="4160520" cy="612000"/>
          </a:xfrm>
        </p:grpSpPr>
        <p:sp>
          <p:nvSpPr>
            <p:cNvPr id="13" name="Shape 11"/>
            <p:cNvSpPr/>
            <p:nvPr/>
          </p:nvSpPr>
          <p:spPr>
            <a:xfrm>
              <a:off x="320040" y="2231136"/>
              <a:ext cx="416052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2231136"/>
              <a:ext cx="54864" cy="612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48056" y="2257787"/>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RODO Art. 22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Automated decisions</a:t>
              </a:r>
              <a:endParaRPr lang="en-US" sz="1150" b="0" i="0" u="none" strike="noStrike" kern="1200" cap="none" spc="0" baseline="0" dirty="0">
                <a:solidFill>
                  <a:srgbClr val="000000"/>
                </a:solidFill>
                <a:uFillTx/>
                <a:latin typeface="Calibri"/>
              </a:endParaRPr>
            </a:p>
          </p:txBody>
        </p:sp>
        <p:sp>
          <p:nvSpPr>
            <p:cNvPr id="16" name="Text 14"/>
            <p:cNvSpPr/>
            <p:nvPr/>
          </p:nvSpPr>
          <p:spPr>
            <a:xfrm>
              <a:off x="448056" y="2476500"/>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sng" strike="noStrike" kern="1200" cap="none" spc="0" baseline="0" dirty="0" err="1">
                  <a:uFillTx/>
                  <a:latin typeface="Calibri" pitchFamily="34"/>
                  <a:ea typeface="Calibri" pitchFamily="34"/>
                  <a:cs typeface="Calibri" pitchFamily="34"/>
                </a:rPr>
                <a:t>Zakaz</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decyzji</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opartych</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wyłącznie</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na</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zautomatyzowanym</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przetwarzaniu</a:t>
              </a:r>
              <a:r>
                <a:rPr lang="en-US" sz="1000" b="0" i="0" u="sng" strike="noStrike" kern="1200" cap="none" spc="0" baseline="0" dirty="0">
                  <a:uFillTx/>
                  <a:latin typeface="Calibri" pitchFamily="34"/>
                  <a:ea typeface="Calibri" pitchFamily="34"/>
                  <a:cs typeface="Calibri" pitchFamily="34"/>
                </a:rPr>
                <a:t> </a:t>
              </a:r>
              <a:r>
                <a:rPr lang="en-US" sz="1000" b="0" i="0" u="none" strike="noStrike" kern="1200" cap="none" spc="0" baseline="0" dirty="0">
                  <a:uFillTx/>
                  <a:latin typeface="Calibri" pitchFamily="34"/>
                  <a:ea typeface="Calibri" pitchFamily="34"/>
                  <a:cs typeface="Calibri" pitchFamily="34"/>
                </a:rPr>
                <a:t>(w </a:t>
              </a:r>
              <a:r>
                <a:rPr lang="en-US" sz="1000" b="0" i="0" u="none" strike="noStrike" kern="1200" cap="none" spc="0" baseline="0" dirty="0" err="1">
                  <a:uFillTx/>
                  <a:latin typeface="Calibri" pitchFamily="34"/>
                  <a:ea typeface="Calibri" pitchFamily="34"/>
                  <a:cs typeface="Calibri" pitchFamily="34"/>
                </a:rPr>
                <a:t>tym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analizie</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emocji</a:t>
              </a:r>
              <a:r>
                <a:rPr lang="en-US" sz="1000" b="0" i="0" u="none" strike="noStrike" kern="1200" cap="none" spc="0" baseline="0" dirty="0">
                  <a:uFillTx/>
                  <a:latin typeface="Calibri" pitchFamily="34"/>
                  <a:ea typeface="Calibri" pitchFamily="34"/>
                  <a:cs typeface="Calibri" pitchFamily="34"/>
                </a:rPr>
                <a:t>) bez </a:t>
              </a:r>
              <a:r>
                <a:rPr lang="en-US" sz="1000" b="0" i="0" u="none" strike="noStrike" kern="1200" cap="none" spc="0" baseline="0" dirty="0" err="1">
                  <a:uFillTx/>
                  <a:latin typeface="Calibri" pitchFamily="34"/>
                  <a:ea typeface="Calibri" pitchFamily="34"/>
                  <a:cs typeface="Calibri" pitchFamily="34"/>
                </a:rPr>
                <a:t>możliwości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odwołania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ingerencji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człowieka</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grpSp>
        <p:nvGrpSpPr>
          <p:cNvPr id="58" name="Grupa 57"/>
          <p:cNvGrpSpPr/>
          <p:nvPr/>
        </p:nvGrpSpPr>
        <p:grpSpPr>
          <a:xfrm>
            <a:off x="106680" y="3095244"/>
            <a:ext cx="4373880" cy="612000"/>
            <a:chOff x="320040" y="2988564"/>
            <a:chExt cx="4160520" cy="612000"/>
          </a:xfrm>
        </p:grpSpPr>
        <p:sp>
          <p:nvSpPr>
            <p:cNvPr id="17" name="Shape 15"/>
            <p:cNvSpPr/>
            <p:nvPr/>
          </p:nvSpPr>
          <p:spPr>
            <a:xfrm>
              <a:off x="320040" y="2988564"/>
              <a:ext cx="4160520" cy="612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988564"/>
              <a:ext cx="54864" cy="612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48056" y="301521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AI Act Art. 50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Emotion </a:t>
              </a:r>
              <a:r>
                <a:rPr lang="pl-PL" sz="1150" b="1" i="0" u="none" strike="noStrike" kern="1200" cap="none" spc="0" baseline="0" dirty="0" smtClean="0">
                  <a:solidFill>
                    <a:srgbClr val="1F1535"/>
                  </a:solidFill>
                  <a:uFillTx/>
                  <a:latin typeface="Cambria" pitchFamily="34"/>
                  <a:ea typeface="Cambria" pitchFamily="34"/>
                  <a:cs typeface="Cambria" pitchFamily="34"/>
                </a:rPr>
                <a:t>r</a:t>
              </a:r>
              <a:r>
                <a:rPr lang="en-US" sz="1150" b="1" i="0" u="none" strike="noStrike" kern="1200" cap="none" spc="0" baseline="0" dirty="0" err="1" smtClean="0">
                  <a:solidFill>
                    <a:srgbClr val="1F1535"/>
                  </a:solidFill>
                  <a:uFillTx/>
                  <a:latin typeface="Cambria" pitchFamily="34"/>
                  <a:ea typeface="Cambria" pitchFamily="34"/>
                  <a:cs typeface="Cambria" pitchFamily="34"/>
                </a:rPr>
                <a:t>ecognition</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pl-PL" sz="1150" b="1" i="0" u="none" strike="noStrike" kern="1200" cap="none" spc="0" baseline="0" dirty="0" smtClean="0">
                  <a:solidFill>
                    <a:srgbClr val="1F1535"/>
                  </a:solidFill>
                  <a:uFillTx/>
                  <a:latin typeface="Cambria" pitchFamily="34"/>
                  <a:ea typeface="Cambria" pitchFamily="34"/>
                  <a:cs typeface="Cambria" pitchFamily="34"/>
                </a:rPr>
                <a:t>b</a:t>
              </a:r>
              <a:r>
                <a:rPr lang="en-US" sz="1150" b="1" i="0" u="none" strike="noStrike" kern="1200" cap="none" spc="0" baseline="0" dirty="0" smtClean="0">
                  <a:solidFill>
                    <a:srgbClr val="1F1535"/>
                  </a:solidFill>
                  <a:uFillTx/>
                  <a:latin typeface="Cambria" pitchFamily="34"/>
                  <a:ea typeface="Cambria" pitchFamily="34"/>
                  <a:cs typeface="Cambria" pitchFamily="34"/>
                </a:rPr>
                <a:t>an</a:t>
              </a:r>
              <a:endParaRPr lang="en-US" sz="1150" b="0" i="0" u="none" strike="noStrike" kern="1200" cap="none" spc="0" baseline="0" dirty="0">
                <a:solidFill>
                  <a:srgbClr val="000000"/>
                </a:solidFill>
                <a:uFillTx/>
                <a:latin typeface="Calibri"/>
              </a:endParaRPr>
            </a:p>
          </p:txBody>
        </p:sp>
        <p:sp>
          <p:nvSpPr>
            <p:cNvPr id="20" name="Text 18"/>
            <p:cNvSpPr/>
            <p:nvPr/>
          </p:nvSpPr>
          <p:spPr>
            <a:xfrm>
              <a:off x="448056" y="3218688"/>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Zakaz</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systemów</a:t>
              </a:r>
              <a:r>
                <a:rPr lang="en-US" sz="1000" b="0" i="0" u="none" strike="noStrike" kern="1200" cap="none" spc="0" baseline="0" dirty="0">
                  <a:uFillTx/>
                  <a:latin typeface="Calibri" pitchFamily="34"/>
                  <a:ea typeface="Calibri" pitchFamily="34"/>
                  <a:cs typeface="Calibri" pitchFamily="34"/>
                </a:rPr>
                <a:t> AI do </a:t>
              </a:r>
              <a:r>
                <a:rPr lang="en-US" sz="1000" b="0" i="0" u="sng" strike="noStrike" kern="1200" cap="none" spc="0" baseline="0" dirty="0" err="1">
                  <a:uFillTx/>
                  <a:latin typeface="Calibri" pitchFamily="34"/>
                  <a:ea typeface="Calibri" pitchFamily="34"/>
                  <a:cs typeface="Calibri" pitchFamily="34"/>
                </a:rPr>
                <a:t>rozpoznawania</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emocji</a:t>
              </a:r>
              <a:r>
                <a:rPr lang="en-US" sz="1000" b="0" i="0" u="sng" strike="noStrike" kern="1200" cap="none" spc="0" baseline="0" dirty="0">
                  <a:uFillTx/>
                  <a:latin typeface="Calibri" pitchFamily="34"/>
                  <a:ea typeface="Calibri" pitchFamily="34"/>
                  <a:cs typeface="Calibri" pitchFamily="34"/>
                </a:rPr>
                <a:t> w: </a:t>
              </a:r>
              <a:r>
                <a:rPr lang="en-US" sz="1000" b="0" i="0" u="sng" strike="noStrike" kern="1200" cap="none" spc="0" baseline="0" dirty="0" err="1">
                  <a:uFillTx/>
                  <a:latin typeface="Calibri" pitchFamily="34"/>
                  <a:ea typeface="Calibri" pitchFamily="34"/>
                  <a:cs typeface="Calibri" pitchFamily="34"/>
                </a:rPr>
                <a:t>miejscu</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pracy</a:t>
              </a:r>
              <a:r>
                <a:rPr lang="en-US" sz="1000" b="0" i="0" u="sng" strike="noStrike" kern="1200" cap="none" spc="0" baseline="0" dirty="0">
                  <a:uFillTx/>
                  <a:latin typeface="Calibri" pitchFamily="34"/>
                  <a:ea typeface="Calibri" pitchFamily="34"/>
                  <a:cs typeface="Calibri" pitchFamily="34"/>
                </a:rPr>
                <a:t>, </a:t>
              </a:r>
              <a:r>
                <a:rPr lang="en-US" sz="1000" b="0" i="0" u="sng" strike="noStrike" kern="1200" cap="none" spc="0" baseline="0" dirty="0" err="1">
                  <a:uFillTx/>
                  <a:latin typeface="Calibri" pitchFamily="34"/>
                  <a:ea typeface="Calibri" pitchFamily="34"/>
                  <a:cs typeface="Calibri" pitchFamily="34"/>
                </a:rPr>
                <a:t>edukacji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Wyjątki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bezpieczeństwo</a:t>
              </a:r>
              <a:r>
                <a:rPr lang="en-US" sz="1000" b="0" i="0" u="none" strike="noStrike" kern="1200" cap="none" spc="0" baseline="0" dirty="0">
                  <a:uFillTx/>
                  <a:latin typeface="Calibri" pitchFamily="34"/>
                  <a:ea typeface="Calibri" pitchFamily="34"/>
                  <a:cs typeface="Calibri" pitchFamily="34"/>
                </a:rPr>
                <a:t> (DMS w </a:t>
              </a:r>
              <a:r>
                <a:rPr lang="en-US" sz="1000" b="0" i="0" u="none" strike="noStrike" kern="1200" cap="none" spc="0" baseline="0" dirty="0" err="1">
                  <a:uFillTx/>
                  <a:latin typeface="Calibri" pitchFamily="34"/>
                  <a:ea typeface="Calibri" pitchFamily="34"/>
                  <a:cs typeface="Calibri" pitchFamily="34"/>
                </a:rPr>
                <a:t>samochodach</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medycyna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Obowiązuje</a:t>
              </a:r>
              <a:r>
                <a:rPr lang="en-US" sz="1000" b="0" i="0" u="none" strike="noStrike" kern="1200" cap="none" spc="0" baseline="0" dirty="0">
                  <a:uFillTx/>
                  <a:latin typeface="Calibri" pitchFamily="34"/>
                  <a:ea typeface="Calibri" pitchFamily="34"/>
                  <a:cs typeface="Calibri" pitchFamily="34"/>
                </a:rPr>
                <a:t> od 2026.</a:t>
              </a:r>
              <a:endParaRPr lang="en-US" sz="1000" b="0" i="0" u="none" strike="noStrike" kern="1200" cap="none" spc="0" baseline="0" dirty="0">
                <a:uFillTx/>
                <a:latin typeface="Calibri"/>
              </a:endParaRPr>
            </a:p>
          </p:txBody>
        </p:sp>
      </p:grpSp>
      <p:grpSp>
        <p:nvGrpSpPr>
          <p:cNvPr id="59" name="Grupa 58"/>
          <p:cNvGrpSpPr/>
          <p:nvPr/>
        </p:nvGrpSpPr>
        <p:grpSpPr>
          <a:xfrm>
            <a:off x="106680" y="3761232"/>
            <a:ext cx="4373880" cy="576000"/>
            <a:chOff x="320040" y="3761232"/>
            <a:chExt cx="4160520" cy="576000"/>
          </a:xfrm>
        </p:grpSpPr>
        <p:sp>
          <p:nvSpPr>
            <p:cNvPr id="21" name="Shape 19"/>
            <p:cNvSpPr/>
            <p:nvPr/>
          </p:nvSpPr>
          <p:spPr>
            <a:xfrm>
              <a:off x="320040" y="3761232"/>
              <a:ext cx="416052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761232"/>
              <a:ext cx="54864" cy="576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48056" y="3765024"/>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AI Act Art. 6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High Risk AI</a:t>
              </a:r>
              <a:endParaRPr lang="en-US" sz="1150" b="0" i="0" u="none" strike="noStrike" kern="1200" cap="none" spc="0" baseline="0" dirty="0">
                <a:solidFill>
                  <a:srgbClr val="000000"/>
                </a:solidFill>
                <a:uFillTx/>
                <a:latin typeface="Calibri"/>
              </a:endParaRPr>
            </a:p>
          </p:txBody>
        </p:sp>
        <p:sp>
          <p:nvSpPr>
            <p:cNvPr id="24" name="Text 22"/>
            <p:cNvSpPr/>
            <p:nvPr/>
          </p:nvSpPr>
          <p:spPr>
            <a:xfrm>
              <a:off x="448056" y="3968496"/>
              <a:ext cx="3977639" cy="31089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Systemy</a:t>
              </a:r>
              <a:r>
                <a:rPr lang="en-US" sz="1000" b="0" i="0" u="none" strike="noStrike" kern="1200" cap="none" spc="0" baseline="0" dirty="0">
                  <a:uFillTx/>
                  <a:latin typeface="Calibri" pitchFamily="34"/>
                  <a:ea typeface="Calibri" pitchFamily="34"/>
                  <a:cs typeface="Calibri" pitchFamily="34"/>
                </a:rPr>
                <a:t> do </a:t>
              </a:r>
              <a:r>
                <a:rPr lang="en-US" sz="1000" b="0" i="0" u="none" strike="noStrike" kern="1200" cap="none" spc="0" baseline="0" dirty="0" err="1">
                  <a:uFillTx/>
                  <a:latin typeface="Calibri" pitchFamily="34"/>
                  <a:ea typeface="Calibri" pitchFamily="34"/>
                  <a:cs typeface="Calibri" pitchFamily="34"/>
                </a:rPr>
                <a:t>ewaluacji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rekrutacja</a:t>
              </a:r>
              <a:r>
                <a:rPr lang="en-US" sz="1000" b="0" i="0" u="none" strike="noStrike" kern="1200" cap="none" spc="0" baseline="0" dirty="0">
                  <a:uFillTx/>
                  <a:latin typeface="Calibri" pitchFamily="34"/>
                  <a:ea typeface="Calibri" pitchFamily="34"/>
                  <a:cs typeface="Calibri" pitchFamily="34"/>
                </a:rPr>
                <a:t>, credit scoring, </a:t>
              </a:r>
              <a:r>
                <a:rPr lang="en-US" sz="1000" b="0" i="0" u="none" strike="noStrike" kern="1200" cap="none" spc="0" baseline="0" dirty="0" err="1">
                  <a:uFillTx/>
                  <a:latin typeface="Calibri" pitchFamily="34"/>
                  <a:ea typeface="Calibri" pitchFamily="34"/>
                  <a:cs typeface="Calibri" pitchFamily="34"/>
                </a:rPr>
                <a:t>prawo</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edukacja</a:t>
              </a:r>
              <a:r>
                <a:rPr lang="en-US" sz="1000" b="0" i="0" u="none" strike="noStrike" kern="1200" cap="none" spc="0" baseline="0" dirty="0">
                  <a:uFillTx/>
                  <a:latin typeface="Calibri" pitchFamily="34"/>
                  <a:ea typeface="Calibri" pitchFamily="34"/>
                  <a:cs typeface="Calibri" pitchFamily="34"/>
                </a:rPr>
                <a:t> = High Risk. </a:t>
              </a:r>
              <a:r>
                <a:rPr lang="en-US" sz="1000" b="0" i="0" u="none" strike="noStrike" kern="1200" cap="none" spc="0" baseline="0" dirty="0" err="1">
                  <a:uFillTx/>
                  <a:latin typeface="Calibri" pitchFamily="34"/>
                  <a:ea typeface="Calibri" pitchFamily="34"/>
                  <a:cs typeface="Calibri" pitchFamily="34"/>
                </a:rPr>
                <a:t>Wymaga</a:t>
              </a:r>
              <a:r>
                <a:rPr lang="en-US" sz="1000" b="0" i="0" u="none" strike="noStrike" kern="1200" cap="none" spc="0" baseline="0" dirty="0">
                  <a:uFillTx/>
                  <a:latin typeface="Calibri" pitchFamily="34"/>
                  <a:ea typeface="Calibri" pitchFamily="34"/>
                  <a:cs typeface="Calibri" pitchFamily="34"/>
                </a:rPr>
                <a:t>: conformity assessment, transparency report, human oversight.</a:t>
              </a:r>
              <a:endParaRPr lang="en-US" sz="1000" b="0" i="0" u="none" strike="noStrike" kern="1200" cap="none" spc="0" baseline="0" dirty="0">
                <a:uFillTx/>
                <a:latin typeface="Calibri"/>
              </a:endParaRPr>
            </a:p>
          </p:txBody>
        </p:sp>
      </p:grpSp>
      <p:grpSp>
        <p:nvGrpSpPr>
          <p:cNvPr id="60" name="Grupa 59"/>
          <p:cNvGrpSpPr/>
          <p:nvPr/>
        </p:nvGrpSpPr>
        <p:grpSpPr>
          <a:xfrm>
            <a:off x="106680" y="4401090"/>
            <a:ext cx="4373880" cy="515334"/>
            <a:chOff x="320040" y="4401090"/>
            <a:chExt cx="4160520" cy="515334"/>
          </a:xfrm>
        </p:grpSpPr>
        <p:sp>
          <p:nvSpPr>
            <p:cNvPr id="25" name="Shape 23"/>
            <p:cNvSpPr/>
            <p:nvPr/>
          </p:nvSpPr>
          <p:spPr>
            <a:xfrm>
              <a:off x="320040" y="4404360"/>
              <a:ext cx="4160520" cy="512064"/>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4404360"/>
              <a:ext cx="54864" cy="512064"/>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48056" y="4401090"/>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FTC / US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BIPA Illinois</a:t>
              </a:r>
              <a:endParaRPr lang="en-US" sz="1150" b="0" i="0" u="none" strike="noStrike" kern="1200" cap="none" spc="0" baseline="0" dirty="0">
                <a:solidFill>
                  <a:srgbClr val="000000"/>
                </a:solidFill>
                <a:uFillTx/>
                <a:latin typeface="Calibri"/>
              </a:endParaRPr>
            </a:p>
          </p:txBody>
        </p:sp>
        <p:sp>
          <p:nvSpPr>
            <p:cNvPr id="28" name="Text 26"/>
            <p:cNvSpPr/>
            <p:nvPr/>
          </p:nvSpPr>
          <p:spPr>
            <a:xfrm>
              <a:off x="448056" y="4600920"/>
              <a:ext cx="3977639" cy="30940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uFillTx/>
                  <a:latin typeface="Calibri" pitchFamily="34"/>
                  <a:ea typeface="Calibri" pitchFamily="34"/>
                  <a:cs typeface="Calibri" pitchFamily="34"/>
                </a:rPr>
                <a:t>Illinois BIPA: consent </a:t>
              </a:r>
              <a:r>
                <a:rPr lang="en-US" sz="1000" b="0" i="0" u="none" strike="noStrike" kern="1200" cap="none" spc="0" baseline="0" dirty="0" err="1">
                  <a:uFillTx/>
                  <a:latin typeface="Calibri" pitchFamily="34"/>
                  <a:ea typeface="Calibri" pitchFamily="34"/>
                  <a:cs typeface="Calibri" pitchFamily="34"/>
                </a:rPr>
                <a:t>przed</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zbiorem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biometrii</a:t>
              </a:r>
              <a:r>
                <a:rPr lang="en-US" sz="1000" b="0" i="0" u="none" strike="noStrike" kern="1200" cap="none" spc="0" baseline="0" dirty="0">
                  <a:uFillTx/>
                  <a:latin typeface="Calibri" pitchFamily="34"/>
                  <a:ea typeface="Calibri" pitchFamily="34"/>
                  <a:cs typeface="Calibri" pitchFamily="34"/>
                </a:rPr>
                <a:t> + $1000/violation. </a:t>
              </a:r>
              <a:endParaRPr lang="pl-PL" sz="1000" b="0" i="0" u="none" strike="noStrike" kern="1200" cap="none" spc="0" baseline="0" dirty="0" smtClean="0">
                <a:uFillTx/>
                <a:latin typeface="Calibri" pitchFamily="34"/>
                <a:ea typeface="Calibri" pitchFamily="34"/>
                <a:cs typeface="Calibri" pitchFamily="34"/>
              </a:endParaRP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smtClean="0">
                  <a:uFillTx/>
                  <a:latin typeface="Calibri" pitchFamily="34"/>
                  <a:ea typeface="Calibri" pitchFamily="34"/>
                  <a:cs typeface="Calibri" pitchFamily="34"/>
                </a:rPr>
                <a:t>FTC</a:t>
              </a:r>
              <a:r>
                <a:rPr lang="en-US" sz="1000" b="0" i="0" u="none" strike="noStrike" kern="1200" cap="none" spc="0" baseline="0" dirty="0">
                  <a:uFillTx/>
                  <a:latin typeface="Calibri" pitchFamily="34"/>
                  <a:ea typeface="Calibri" pitchFamily="34"/>
                  <a:cs typeface="Calibri" pitchFamily="34"/>
                </a:rPr>
                <a:t>: unfair/deceptive practices w emotion tech.</a:t>
              </a:r>
              <a:endParaRPr lang="en-US" sz="1000" b="0" i="0" u="none" strike="noStrike" kern="1200" cap="none" spc="0" baseline="0" dirty="0">
                <a:uFillTx/>
                <a:latin typeface="Calibri"/>
              </a:endParaRPr>
            </a:p>
          </p:txBody>
        </p:sp>
      </p:grpSp>
      <p:sp>
        <p:nvSpPr>
          <p:cNvPr id="29" name="Text 27"/>
          <p:cNvSpPr/>
          <p:nvPr/>
        </p:nvSpPr>
        <p:spPr>
          <a:xfrm>
            <a:off x="4663440" y="1586040"/>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300" b="1" i="0" u="none" strike="noStrike" kern="1200" cap="none" spc="0" baseline="0" dirty="0">
                <a:solidFill>
                  <a:srgbClr val="1F1535"/>
                </a:solidFill>
                <a:uFillTx/>
                <a:latin typeface="Cambria" pitchFamily="34"/>
                <a:ea typeface="Cambria" pitchFamily="34"/>
                <a:cs typeface="Cambria" pitchFamily="34"/>
              </a:rPr>
              <a:t>Compliance </a:t>
            </a:r>
            <a:r>
              <a:rPr lang="en-US" sz="1300" b="1" i="0" u="none" strike="noStrike" kern="1200" cap="none" spc="0" baseline="0" dirty="0" err="1" smtClean="0">
                <a:solidFill>
                  <a:srgbClr val="1F1535"/>
                </a:solidFill>
                <a:uFillTx/>
                <a:latin typeface="Cambria" pitchFamily="34"/>
                <a:ea typeface="Cambria" pitchFamily="34"/>
                <a:cs typeface="Cambria" pitchFamily="34"/>
              </a:rPr>
              <a:t>techniczn</a:t>
            </a:r>
            <a:r>
              <a:rPr lang="pl-PL" sz="1300" b="1" i="0" u="none" strike="noStrike" kern="1200" cap="none" spc="0" baseline="0" dirty="0" smtClean="0">
                <a:solidFill>
                  <a:srgbClr val="1F1535"/>
                </a:solidFill>
                <a:uFillTx/>
                <a:latin typeface="Cambria" pitchFamily="34"/>
                <a:ea typeface="Cambria" pitchFamily="34"/>
                <a:cs typeface="Cambria" pitchFamily="34"/>
              </a:rPr>
              <a:t>e</a:t>
            </a:r>
            <a:endParaRPr lang="en-US" sz="1300" b="0" i="0" u="none" strike="noStrike" kern="1200" cap="none" spc="0" baseline="0" dirty="0">
              <a:solidFill>
                <a:srgbClr val="000000"/>
              </a:solidFill>
              <a:uFillTx/>
              <a:latin typeface="Calibri"/>
            </a:endParaRPr>
          </a:p>
        </p:txBody>
      </p:sp>
      <p:grpSp>
        <p:nvGrpSpPr>
          <p:cNvPr id="54" name="Grupa 53"/>
          <p:cNvGrpSpPr/>
          <p:nvPr/>
        </p:nvGrpSpPr>
        <p:grpSpPr>
          <a:xfrm>
            <a:off x="4663440" y="1831848"/>
            <a:ext cx="4206240" cy="576000"/>
            <a:chOff x="4663440" y="1481328"/>
            <a:chExt cx="4206240" cy="576000"/>
          </a:xfrm>
        </p:grpSpPr>
        <p:sp>
          <p:nvSpPr>
            <p:cNvPr id="30" name="Shape 28"/>
            <p:cNvSpPr/>
            <p:nvPr/>
          </p:nvSpPr>
          <p:spPr>
            <a:xfrm>
              <a:off x="4663440" y="148132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4663440" y="1481328"/>
              <a:ext cx="54864" cy="576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791456" y="1485492"/>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Privacy by </a:t>
              </a:r>
              <a:r>
                <a:rPr lang="en-US" sz="1150" b="1" i="0" u="none" strike="noStrike" kern="1200" cap="none" spc="0" baseline="0" dirty="0" smtClean="0">
                  <a:solidFill>
                    <a:srgbClr val="1F1535"/>
                  </a:solidFill>
                  <a:uFillTx/>
                  <a:latin typeface="Cambria" pitchFamily="34"/>
                  <a:ea typeface="Cambria" pitchFamily="34"/>
                  <a:cs typeface="Cambria" pitchFamily="34"/>
                </a:rPr>
                <a:t>Design</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pl-PL" sz="1150" b="1" i="0" u="none" strike="noStrike" kern="1200" cap="none" spc="0" dirty="0" smtClean="0">
                  <a:solidFill>
                    <a:srgbClr val="1F1535"/>
                  </a:solidFill>
                  <a:uFillTx/>
                  <a:latin typeface="Cambria" pitchFamily="34"/>
                  <a:ea typeface="Cambria" pitchFamily="34"/>
                  <a:cs typeface="Cambria" pitchFamily="34"/>
                </a:rPr>
                <a:t> czyli</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on-device</a:t>
              </a:r>
              <a:endParaRPr lang="en-US" sz="1150" b="0" i="0" u="none" strike="noStrike" kern="1200" cap="none" spc="0" baseline="0" dirty="0">
                <a:solidFill>
                  <a:srgbClr val="000000"/>
                </a:solidFill>
                <a:uFillTx/>
                <a:latin typeface="Calibri"/>
              </a:endParaRPr>
            </a:p>
          </p:txBody>
        </p:sp>
        <p:sp>
          <p:nvSpPr>
            <p:cNvPr id="33" name="Text 31"/>
            <p:cNvSpPr/>
            <p:nvPr/>
          </p:nvSpPr>
          <p:spPr>
            <a:xfrm>
              <a:off x="4791456" y="171907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uFillTx/>
                  <a:latin typeface="Calibri" pitchFamily="34"/>
                  <a:ea typeface="Calibri" pitchFamily="34"/>
                  <a:cs typeface="Calibri" pitchFamily="34"/>
                </a:rPr>
                <a:t>Processuj dane emocjonalne lokalnie. Nigdy nie wysyłaj twarzy ani surowych sygnałów do serwera. Wysyłaj TYLKO wynikową emocję jeśli niezbędne.</a:t>
              </a:r>
              <a:endParaRPr lang="en-US" sz="1000" b="0" i="0" u="none" strike="noStrike" kern="1200" cap="none" spc="0" baseline="0">
                <a:uFillTx/>
                <a:latin typeface="Calibri"/>
              </a:endParaRPr>
            </a:p>
          </p:txBody>
        </p:sp>
      </p:grpSp>
      <p:grpSp>
        <p:nvGrpSpPr>
          <p:cNvPr id="53" name="Grupa 52"/>
          <p:cNvGrpSpPr/>
          <p:nvPr/>
        </p:nvGrpSpPr>
        <p:grpSpPr>
          <a:xfrm>
            <a:off x="4663440" y="2461037"/>
            <a:ext cx="4206240" cy="579271"/>
            <a:chOff x="4663440" y="2194337"/>
            <a:chExt cx="4206240" cy="579271"/>
          </a:xfrm>
        </p:grpSpPr>
        <p:sp>
          <p:nvSpPr>
            <p:cNvPr id="34" name="Shape 32"/>
            <p:cNvSpPr/>
            <p:nvPr/>
          </p:nvSpPr>
          <p:spPr>
            <a:xfrm>
              <a:off x="4663440" y="219760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Shape 33"/>
            <p:cNvSpPr/>
            <p:nvPr/>
          </p:nvSpPr>
          <p:spPr>
            <a:xfrm>
              <a:off x="4663440" y="2197608"/>
              <a:ext cx="54864" cy="576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Text 34"/>
            <p:cNvSpPr/>
            <p:nvPr/>
          </p:nvSpPr>
          <p:spPr>
            <a:xfrm>
              <a:off x="4791456" y="2194337"/>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Data </a:t>
              </a:r>
              <a:r>
                <a:rPr lang="pl-PL" sz="1150" b="1" i="0" u="none" strike="noStrike" kern="1200" cap="none" spc="0" baseline="0" dirty="0" smtClean="0">
                  <a:solidFill>
                    <a:srgbClr val="1F1535"/>
                  </a:solidFill>
                  <a:uFillTx/>
                  <a:latin typeface="Cambria" pitchFamily="34"/>
                  <a:ea typeface="Cambria" pitchFamily="34"/>
                  <a:cs typeface="Cambria" pitchFamily="34"/>
                </a:rPr>
                <a:t>m</a:t>
              </a:r>
              <a:r>
                <a:rPr lang="en-US" sz="1150" b="1" i="0" u="none" strike="noStrike" kern="1200" cap="none" spc="0" baseline="0" dirty="0" err="1" smtClean="0">
                  <a:solidFill>
                    <a:srgbClr val="1F1535"/>
                  </a:solidFill>
                  <a:uFillTx/>
                  <a:latin typeface="Cambria" pitchFamily="34"/>
                  <a:ea typeface="Cambria" pitchFamily="34"/>
                  <a:cs typeface="Cambria" pitchFamily="34"/>
                </a:rPr>
                <a:t>inimization</a:t>
              </a:r>
              <a:endParaRPr lang="en-US" sz="1150" b="0" i="0" u="none" strike="noStrike" kern="1200" cap="none" spc="0" baseline="0" dirty="0">
                <a:solidFill>
                  <a:srgbClr val="000000"/>
                </a:solidFill>
                <a:uFillTx/>
                <a:latin typeface="Calibri"/>
              </a:endParaRPr>
            </a:p>
          </p:txBody>
        </p:sp>
        <p:sp>
          <p:nvSpPr>
            <p:cNvPr id="37" name="Text 35"/>
            <p:cNvSpPr/>
            <p:nvPr/>
          </p:nvSpPr>
          <p:spPr>
            <a:xfrm>
              <a:off x="4791456" y="245059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uFillTx/>
                  <a:latin typeface="Calibri" pitchFamily="34"/>
                  <a:ea typeface="Calibri" pitchFamily="34"/>
                  <a:cs typeface="Calibri" pitchFamily="34"/>
                </a:rPr>
                <a:t>Zbieraj tylko emocję wynikową (np. 'engaged'), nie surowe wektory cech. Czas przechowywania: sesja lub max 24h bez re-consent.</a:t>
              </a:r>
              <a:endParaRPr lang="en-US" sz="1000" b="0" i="0" u="none" strike="noStrike" kern="1200" cap="none" spc="0" baseline="0">
                <a:uFillTx/>
                <a:latin typeface="Calibri"/>
              </a:endParaRPr>
            </a:p>
          </p:txBody>
        </p:sp>
      </p:grpSp>
      <p:grpSp>
        <p:nvGrpSpPr>
          <p:cNvPr id="55" name="Grupa 54"/>
          <p:cNvGrpSpPr/>
          <p:nvPr/>
        </p:nvGrpSpPr>
        <p:grpSpPr>
          <a:xfrm>
            <a:off x="4663440" y="3101118"/>
            <a:ext cx="4206240" cy="579270"/>
            <a:chOff x="4663440" y="2925858"/>
            <a:chExt cx="4206240" cy="579270"/>
          </a:xfrm>
        </p:grpSpPr>
        <p:sp>
          <p:nvSpPr>
            <p:cNvPr id="38" name="Shape 36"/>
            <p:cNvSpPr/>
            <p:nvPr/>
          </p:nvSpPr>
          <p:spPr>
            <a:xfrm>
              <a:off x="4663440" y="292912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37"/>
            <p:cNvSpPr/>
            <p:nvPr/>
          </p:nvSpPr>
          <p:spPr>
            <a:xfrm>
              <a:off x="4663440" y="2929128"/>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791456" y="292585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Consent UX </a:t>
              </a:r>
              <a:r>
                <a:rPr lang="pl-PL" sz="1150" b="1" i="0" u="none" strike="noStrike" kern="1200" cap="none" spc="0" baseline="0" dirty="0" smtClean="0">
                  <a:solidFill>
                    <a:srgbClr val="1F1535"/>
                  </a:solidFill>
                  <a:uFillTx/>
                  <a:latin typeface="Cambria" pitchFamily="34"/>
                  <a:ea typeface="Cambria" pitchFamily="34"/>
                  <a:cs typeface="Cambria" pitchFamily="34"/>
                </a:rPr>
                <a:t>-</a:t>
              </a:r>
              <a:r>
                <a:rPr lang="en-US" sz="1150" b="1" i="0" u="none" strike="noStrike" kern="1200" cap="none" spc="0" baseline="0" dirty="0" smtClean="0">
                  <a:solidFill>
                    <a:srgbClr val="1F1535"/>
                  </a:solidFill>
                  <a:uFillTx/>
                  <a:latin typeface="Cambria" pitchFamily="34"/>
                  <a:ea typeface="Cambria" pitchFamily="34"/>
                  <a:cs typeface="Cambria" pitchFamily="34"/>
                </a:rPr>
                <a:t> </a:t>
              </a:r>
              <a:r>
                <a:rPr lang="en-US" sz="1150" b="1" i="0" u="none" strike="noStrike" kern="1200" cap="none" spc="0" baseline="0" dirty="0">
                  <a:solidFill>
                    <a:srgbClr val="1F1535"/>
                  </a:solidFill>
                  <a:uFillTx/>
                  <a:latin typeface="Cambria" pitchFamily="34"/>
                  <a:ea typeface="Cambria" pitchFamily="34"/>
                  <a:cs typeface="Cambria" pitchFamily="34"/>
                </a:rPr>
                <a:t>granular</a:t>
              </a:r>
              <a:endParaRPr lang="en-US" sz="1150" b="0" i="0" u="none" strike="noStrike" kern="1200" cap="none" spc="0" baseline="0" dirty="0">
                <a:solidFill>
                  <a:srgbClr val="000000"/>
                </a:solidFill>
                <a:uFillTx/>
                <a:latin typeface="Calibri"/>
              </a:endParaRPr>
            </a:p>
          </p:txBody>
        </p:sp>
        <p:sp>
          <p:nvSpPr>
            <p:cNvPr id="41" name="Text 39"/>
            <p:cNvSpPr/>
            <p:nvPr/>
          </p:nvSpPr>
          <p:spPr>
            <a:xfrm>
              <a:off x="4791456" y="318211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uFillTx/>
                  <a:latin typeface="Calibri" pitchFamily="34"/>
                  <a:ea typeface="Calibri" pitchFamily="34"/>
                  <a:cs typeface="Calibri" pitchFamily="34"/>
                </a:rPr>
                <a:t>Osobna zgoda na każdy kanał: 'Czy mogę analizować wyraz twarzy? [Tak/Nie]'. 'Głos? [Tak/Nie]'. Łatwa revokacja. Nie bundluj z ToS.</a:t>
              </a:r>
              <a:endParaRPr lang="en-US" sz="1000" b="0" i="0" u="none" strike="noStrike" kern="1200" cap="none" spc="0" baseline="0">
                <a:uFillTx/>
                <a:latin typeface="Calibri"/>
              </a:endParaRPr>
            </a:p>
          </p:txBody>
        </p:sp>
      </p:grpSp>
      <p:grpSp>
        <p:nvGrpSpPr>
          <p:cNvPr id="56" name="Grupa 55"/>
          <p:cNvGrpSpPr/>
          <p:nvPr/>
        </p:nvGrpSpPr>
        <p:grpSpPr>
          <a:xfrm>
            <a:off x="4663440" y="3741198"/>
            <a:ext cx="4206240" cy="543270"/>
            <a:chOff x="4663440" y="3672618"/>
            <a:chExt cx="4206240" cy="543270"/>
          </a:xfrm>
        </p:grpSpPr>
        <p:sp>
          <p:nvSpPr>
            <p:cNvPr id="42" name="Shape 40"/>
            <p:cNvSpPr/>
            <p:nvPr/>
          </p:nvSpPr>
          <p:spPr>
            <a:xfrm>
              <a:off x="4663440" y="3675888"/>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41"/>
            <p:cNvSpPr/>
            <p:nvPr/>
          </p:nvSpPr>
          <p:spPr>
            <a:xfrm>
              <a:off x="4663440" y="3675888"/>
              <a:ext cx="54864" cy="540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Text 42"/>
            <p:cNvSpPr/>
            <p:nvPr/>
          </p:nvSpPr>
          <p:spPr>
            <a:xfrm>
              <a:off x="4791456" y="3672618"/>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err="1">
                  <a:solidFill>
                    <a:srgbClr val="1F1535"/>
                  </a:solidFill>
                  <a:uFillTx/>
                  <a:latin typeface="Cambria" pitchFamily="34"/>
                  <a:ea typeface="Cambria" pitchFamily="34"/>
                  <a:cs typeface="Cambria" pitchFamily="34"/>
                </a:rPr>
                <a:t>Explainability</a:t>
              </a:r>
              <a:r>
                <a:rPr lang="en-US" sz="1150" b="1" i="0" u="none" strike="noStrike" kern="1200" cap="none" spc="0" baseline="0" dirty="0">
                  <a:solidFill>
                    <a:srgbClr val="1F1535"/>
                  </a:solidFill>
                  <a:uFillTx/>
                  <a:latin typeface="Cambria" pitchFamily="34"/>
                  <a:ea typeface="Cambria" pitchFamily="34"/>
                  <a:cs typeface="Cambria" pitchFamily="34"/>
                </a:rPr>
                <a:t> (XAI)</a:t>
              </a:r>
              <a:endParaRPr lang="en-US" sz="1150" b="0" i="0" u="none" strike="noStrike" kern="1200" cap="none" spc="0" baseline="0" dirty="0">
                <a:solidFill>
                  <a:srgbClr val="000000"/>
                </a:solidFill>
                <a:uFillTx/>
                <a:latin typeface="Calibri"/>
              </a:endParaRPr>
            </a:p>
          </p:txBody>
        </p:sp>
        <p:sp>
          <p:nvSpPr>
            <p:cNvPr id="45" name="Text 43"/>
            <p:cNvSpPr/>
            <p:nvPr/>
          </p:nvSpPr>
          <p:spPr>
            <a:xfrm>
              <a:off x="4791456" y="3913632"/>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uFillTx/>
                  <a:latin typeface="Calibri" pitchFamily="34"/>
                  <a:ea typeface="Calibri" pitchFamily="34"/>
                  <a:cs typeface="Calibri" pitchFamily="34"/>
                </a:rPr>
                <a:t>Użytkownik może zapytać: 'Dlaczego dostosowałeś UI?' → wyjaśnienie modelu. SHAP values lub simpler human-readable explanation.</a:t>
              </a:r>
              <a:endParaRPr lang="en-US" sz="1000" b="0" i="0" u="none" strike="noStrike" kern="1200" cap="none" spc="0" baseline="0">
                <a:uFillTx/>
                <a:latin typeface="Calibri"/>
              </a:endParaRPr>
            </a:p>
          </p:txBody>
        </p:sp>
      </p:grpSp>
      <p:grpSp>
        <p:nvGrpSpPr>
          <p:cNvPr id="57" name="Grupa 56"/>
          <p:cNvGrpSpPr/>
          <p:nvPr/>
        </p:nvGrpSpPr>
        <p:grpSpPr>
          <a:xfrm>
            <a:off x="4663440" y="4331208"/>
            <a:ext cx="4206240" cy="576000"/>
            <a:chOff x="4663440" y="4331208"/>
            <a:chExt cx="4206240" cy="576000"/>
          </a:xfrm>
        </p:grpSpPr>
        <p:sp>
          <p:nvSpPr>
            <p:cNvPr id="46" name="Shape 44"/>
            <p:cNvSpPr/>
            <p:nvPr/>
          </p:nvSpPr>
          <p:spPr>
            <a:xfrm>
              <a:off x="4663440" y="4331208"/>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Shape 45"/>
            <p:cNvSpPr/>
            <p:nvPr/>
          </p:nvSpPr>
          <p:spPr>
            <a:xfrm>
              <a:off x="4663440" y="4331208"/>
              <a:ext cx="54864" cy="576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Text 46"/>
            <p:cNvSpPr/>
            <p:nvPr/>
          </p:nvSpPr>
          <p:spPr>
            <a:xfrm>
              <a:off x="4791456" y="4350240"/>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50" b="1" i="0" u="none" strike="noStrike" kern="1200" cap="none" spc="0" baseline="0" dirty="0">
                  <a:solidFill>
                    <a:srgbClr val="1F1535"/>
                  </a:solidFill>
                  <a:uFillTx/>
                  <a:latin typeface="Cambria" pitchFamily="34"/>
                  <a:ea typeface="Cambria" pitchFamily="34"/>
                  <a:cs typeface="Cambria" pitchFamily="34"/>
                </a:rPr>
                <a:t>DPIA (Data Protection Impact)</a:t>
              </a:r>
              <a:endParaRPr lang="en-US" sz="1150" b="0" i="0" u="none" strike="noStrike" kern="1200" cap="none" spc="0" baseline="0" dirty="0">
                <a:solidFill>
                  <a:srgbClr val="000000"/>
                </a:solidFill>
                <a:uFillTx/>
                <a:latin typeface="Calibri"/>
              </a:endParaRPr>
            </a:p>
          </p:txBody>
        </p:sp>
        <p:sp>
          <p:nvSpPr>
            <p:cNvPr id="49" name="Text 47"/>
            <p:cNvSpPr/>
            <p:nvPr/>
          </p:nvSpPr>
          <p:spPr>
            <a:xfrm>
              <a:off x="4791456" y="4585680"/>
              <a:ext cx="402336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Przed</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wdrożeniem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systemu</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emocjonalnego</a:t>
              </a:r>
              <a:r>
                <a:rPr lang="en-US" sz="1000" b="0" i="0" u="none" strike="noStrike" kern="1200" cap="none" spc="0" baseline="0" dirty="0">
                  <a:uFillTx/>
                  <a:latin typeface="Calibri" pitchFamily="34"/>
                  <a:ea typeface="Calibri" pitchFamily="34"/>
                  <a:cs typeface="Calibri" pitchFamily="34"/>
                </a:rPr>
                <a:t>: DPIA </a:t>
              </a:r>
              <a:r>
                <a:rPr lang="en-US" sz="1000" b="0" i="0" u="none" strike="noStrike" kern="1200" cap="none" spc="0" baseline="0" dirty="0" err="1">
                  <a:uFillTx/>
                  <a:latin typeface="Calibri" pitchFamily="34"/>
                  <a:ea typeface="Calibri" pitchFamily="34"/>
                  <a:cs typeface="Calibri" pitchFamily="34"/>
                </a:rPr>
                <a:t>obowiązkowe</a:t>
              </a:r>
              <a:r>
                <a:rPr lang="en-US" sz="1000" b="0" i="0" u="none" strike="noStrike" kern="1200" cap="none" spc="0" baseline="0" dirty="0">
                  <a:uFillTx/>
                  <a:latin typeface="Calibri" pitchFamily="34"/>
                  <a:ea typeface="Calibri" pitchFamily="34"/>
                  <a:cs typeface="Calibri" pitchFamily="34"/>
                </a:rPr>
                <a:t> (RODO Art. 35). </a:t>
              </a:r>
              <a:r>
                <a:rPr lang="en-US" sz="1000" b="0" i="0" u="none" strike="noStrike" kern="1200" cap="none" spc="0" baseline="0" dirty="0" err="1">
                  <a:uFillTx/>
                  <a:latin typeface="Calibri" pitchFamily="34"/>
                  <a:ea typeface="Calibri" pitchFamily="34"/>
                  <a:cs typeface="Calibri" pitchFamily="34"/>
                </a:rPr>
                <a:t>Ocena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ryzyka</a:t>
              </a:r>
              <a:r>
                <a:rPr lang="en-US" sz="1000" b="0" i="0" u="none" strike="noStrike" kern="1200" cap="none" spc="0" baseline="0" dirty="0">
                  <a:uFillTx/>
                  <a:latin typeface="Calibri" pitchFamily="34"/>
                  <a:ea typeface="Calibri" pitchFamily="34"/>
                  <a:cs typeface="Calibri" pitchFamily="34"/>
                </a:rPr>
                <a:t> + </a:t>
              </a:r>
              <a:r>
                <a:rPr lang="en-US" sz="1000" b="0" i="0" u="none" strike="noStrike" kern="1200" cap="none" spc="0" baseline="0" dirty="0" err="1">
                  <a:uFillTx/>
                  <a:latin typeface="Calibri" pitchFamily="34"/>
                  <a:ea typeface="Calibri" pitchFamily="34"/>
                  <a:cs typeface="Calibri" pitchFamily="34"/>
                </a:rPr>
                <a:t>środki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zaradcze</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dokumentowane</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sp>
        <p:nvSpPr>
          <p:cNvPr id="63"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27</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3F9FF"/>
        </a:solidFill>
        <a:effectLst/>
      </p:bgPr>
    </p:bg>
    <p:spTree>
      <p:nvGrpSpPr>
        <p:cNvPr id="1" name=""/>
        <p:cNvGrpSpPr/>
        <p:nvPr/>
      </p:nvGrpSpPr>
      <p:grpSpPr>
        <a:xfrm>
          <a:off x="0" y="0"/>
          <a:ext cx="0" cy="0"/>
          <a:chOff x="0" y="0"/>
          <a:chExt cx="0" cy="0"/>
        </a:xfrm>
      </p:grpSpPr>
      <p:grpSp>
        <p:nvGrpSpPr>
          <p:cNvPr id="51" name="Grupa 50"/>
          <p:cNvGrpSpPr/>
          <p:nvPr/>
        </p:nvGrpSpPr>
        <p:grpSpPr>
          <a:xfrm>
            <a:off x="0" y="0"/>
            <a:ext cx="9144000" cy="558000"/>
            <a:chOff x="0" y="0"/>
            <a:chExt cx="9144000" cy="558000"/>
          </a:xfrm>
        </p:grpSpPr>
        <p:sp>
          <p:nvSpPr>
            <p:cNvPr id="52"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3"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Digital </a:t>
            </a:r>
            <a:r>
              <a:rPr lang="en-US" sz="2000" b="1" i="0" u="none" strike="noStrike" kern="1200" cap="none" spc="0" baseline="0" dirty="0" smtClean="0">
                <a:solidFill>
                  <a:srgbClr val="FFFFFF"/>
                </a:solidFill>
                <a:uFillTx/>
                <a:latin typeface="Cambria" pitchFamily="34"/>
                <a:ea typeface="Cambria" pitchFamily="34"/>
                <a:cs typeface="Cambria" pitchFamily="34"/>
              </a:rPr>
              <a:t>Phenotyping</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asywne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m</a:t>
            </a:r>
            <a:r>
              <a:rPr lang="en-US" sz="2000" b="1" i="0" u="none" strike="noStrike" kern="1200" cap="none" spc="0" baseline="0" dirty="0" err="1" smtClean="0">
                <a:solidFill>
                  <a:srgbClr val="FFFFFF"/>
                </a:solidFill>
                <a:uFillTx/>
                <a:latin typeface="Cambria" pitchFamily="34"/>
                <a:ea typeface="Cambria" pitchFamily="34"/>
                <a:cs typeface="Cambria" pitchFamily="34"/>
              </a:rPr>
              <a:t>onitorowanie</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z</a:t>
            </a:r>
            <a:r>
              <a:rPr lang="en-US" sz="2000" b="1" i="0" u="none" strike="noStrike" kern="1200" cap="none" spc="0" baseline="0" dirty="0" err="1" smtClean="0">
                <a:solidFill>
                  <a:srgbClr val="FFFFFF"/>
                </a:solidFill>
                <a:uFillTx/>
                <a:latin typeface="Cambria" pitchFamily="34"/>
                <a:ea typeface="Cambria" pitchFamily="34"/>
                <a:cs typeface="Cambria" pitchFamily="34"/>
              </a:rPr>
              <a:t>drowia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p</a:t>
            </a:r>
            <a:r>
              <a:rPr lang="en-US" sz="2000" b="1" i="0" u="none" strike="noStrike" kern="1200" cap="none" spc="0" baseline="0" dirty="0" err="1" smtClean="0">
                <a:solidFill>
                  <a:srgbClr val="FFFFFF"/>
                </a:solidFill>
                <a:uFillTx/>
                <a:latin typeface="Cambria" pitchFamily="34"/>
                <a:ea typeface="Cambria" pitchFamily="34"/>
                <a:cs typeface="Cambria" pitchFamily="34"/>
              </a:rPr>
              <a:t>sychicznego</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54012"/>
            <a:ext cx="8503920" cy="525275"/>
          </a:xfrm>
          <a:prstGeom prst="rect">
            <a:avLst/>
          </a:prstGeom>
          <a:noFill/>
          <a:ln cap="flat">
            <a:noFill/>
            <a:prstDash val="solid"/>
          </a:ln>
        </p:spPr>
        <p:txBody>
          <a:bodyPr vert="horz" wrap="square" lIns="91440" tIns="45720" rIns="91440" bIns="45720" anchor="ctr" anchorCtr="1" compatLnSpc="1">
            <a:noAutofit/>
          </a:bodyPr>
          <a:lstStyle/>
          <a:p>
            <a:pPr algn="ctr">
              <a:defRPr sz="1800" b="0" i="0" u="none" strike="noStrike" kern="0" cap="none" spc="0" baseline="0">
                <a:solidFill>
                  <a:srgbClr val="000000"/>
                </a:solidFill>
                <a:uFillTx/>
              </a:defRPr>
            </a:pPr>
            <a:r>
              <a:rPr lang="en-US" sz="1600" b="0" i="0" u="none" strike="noStrike" kern="1200" cap="none" spc="0" baseline="0" dirty="0">
                <a:solidFill>
                  <a:srgbClr val="111931"/>
                </a:solidFill>
                <a:uFillTx/>
                <a:ea typeface="CMU Sans Serif" panose="02000603000000000000" pitchFamily="2" charset="0"/>
                <a:cs typeface="CMU Sans Serif" panose="02000603000000000000" pitchFamily="2" charset="0"/>
              </a:rPr>
              <a:t>Digital </a:t>
            </a:r>
            <a:r>
              <a:rPr lang="en-US" sz="1600" b="0" i="0" u="none" strike="noStrike" kern="1200" cap="none" spc="0" baseline="0" dirty="0" smtClean="0">
                <a:solidFill>
                  <a:srgbClr val="111931"/>
                </a:solidFill>
                <a:uFillTx/>
                <a:ea typeface="CMU Sans Serif" panose="02000603000000000000" pitchFamily="2" charset="0"/>
                <a:cs typeface="CMU Sans Serif" panose="02000603000000000000" pitchFamily="2" charset="0"/>
              </a:rPr>
              <a:t>phenotyping</a:t>
            </a:r>
            <a:r>
              <a:rPr lang="pl-PL" sz="1600" b="0" i="0" u="none" strike="noStrike" kern="1200" cap="none" spc="0" baseline="0" dirty="0" smtClean="0">
                <a:solidFill>
                  <a:srgbClr val="111931"/>
                </a:solidFill>
                <a:uFillTx/>
                <a:ea typeface="CMU Sans Serif" panose="02000603000000000000" pitchFamily="2" charset="0"/>
                <a:cs typeface="CMU Sans Serif" panose="02000603000000000000" pitchFamily="2" charset="0"/>
              </a:rPr>
              <a:t> (</a:t>
            </a:r>
            <a:r>
              <a:rPr lang="pl-PL" sz="1600" dirty="0" smtClean="0">
                <a:effectLst/>
                <a:ea typeface="CMU Sans Serif" panose="02000603000000000000" pitchFamily="2" charset="0"/>
                <a:cs typeface="CMU Sans Serif" panose="02000603000000000000" pitchFamily="2" charset="0"/>
              </a:rPr>
              <a:t>fenotypowanie cyfrowe</a:t>
            </a:r>
            <a:r>
              <a:rPr lang="pl-PL" sz="1600" b="0" i="0" u="none" strike="noStrike" kern="1200" cap="none" spc="0" baseline="0" dirty="0" smtClean="0">
                <a:solidFill>
                  <a:srgbClr val="111931"/>
                </a:solidFill>
                <a:uFillTx/>
                <a:ea typeface="CMU Sans Serif" panose="02000603000000000000" pitchFamily="2" charset="0"/>
                <a:cs typeface="CMU Sans Serif" panose="02000603000000000000" pitchFamily="2" charset="0"/>
              </a:rPr>
              <a:t>) </a:t>
            </a:r>
            <a:r>
              <a:rPr lang="pl-PL" sz="1600" dirty="0" smtClean="0">
                <a:effectLst/>
                <a:ea typeface="CMU Sans Serif" panose="02000603000000000000" pitchFamily="2" charset="0"/>
                <a:cs typeface="CMU Sans Serif" panose="02000603000000000000" pitchFamily="2" charset="0"/>
              </a:rPr>
              <a:t>to </a:t>
            </a:r>
            <a:r>
              <a:rPr lang="pl-PL" sz="1600" dirty="0" smtClean="0">
                <a:ea typeface="CMU Sans Serif" panose="02000603000000000000" pitchFamily="2" charset="0"/>
                <a:cs typeface="CMU Sans Serif" panose="02000603000000000000" pitchFamily="2" charset="0"/>
              </a:rPr>
              <a:t>proces gromadzenia i analizy obserwowalnych, mierzalnych cech fizycznych lub behawioralnych organizmu przy użyciu technologii cyfrowych</a:t>
            </a:r>
          </a:p>
        </p:txBody>
      </p:sp>
      <p:grpSp>
        <p:nvGrpSpPr>
          <p:cNvPr id="65" name="Grupa 64"/>
          <p:cNvGrpSpPr/>
          <p:nvPr/>
        </p:nvGrpSpPr>
        <p:grpSpPr>
          <a:xfrm>
            <a:off x="320040" y="1417320"/>
            <a:ext cx="3947160" cy="3491988"/>
            <a:chOff x="320040" y="1176528"/>
            <a:chExt cx="4160520" cy="3732780"/>
          </a:xfrm>
        </p:grpSpPr>
        <p:sp>
          <p:nvSpPr>
            <p:cNvPr id="8" name="Text 6"/>
            <p:cNvSpPr/>
            <p:nvPr/>
          </p:nvSpPr>
          <p:spPr>
            <a:xfrm>
              <a:off x="320040" y="1176528"/>
              <a:ext cx="416052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Cyfrowe</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biomarkery</a:t>
              </a:r>
              <a:endParaRPr lang="en-US" sz="1200" b="0" i="0" u="none" strike="noStrike" kern="1200" cap="none" spc="0" baseline="0" dirty="0">
                <a:solidFill>
                  <a:srgbClr val="000000"/>
                </a:solidFill>
                <a:uFillTx/>
                <a:latin typeface="Calibri"/>
              </a:endParaRPr>
            </a:p>
          </p:txBody>
        </p:sp>
        <p:grpSp>
          <p:nvGrpSpPr>
            <p:cNvPr id="63" name="Grupa 62"/>
            <p:cNvGrpSpPr/>
            <p:nvPr/>
          </p:nvGrpSpPr>
          <p:grpSpPr>
            <a:xfrm>
              <a:off x="320040" y="1420368"/>
              <a:ext cx="4160520" cy="540000"/>
              <a:chOff x="320040" y="1389888"/>
              <a:chExt cx="4160520" cy="540000"/>
            </a:xfrm>
          </p:grpSpPr>
          <p:sp>
            <p:nvSpPr>
              <p:cNvPr id="9" name="Shape 7"/>
              <p:cNvSpPr/>
              <p:nvPr/>
            </p:nvSpPr>
            <p:spPr>
              <a:xfrm>
                <a:off x="320040" y="1389888"/>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Shape 8"/>
              <p:cNvSpPr/>
              <p:nvPr/>
            </p:nvSpPr>
            <p:spPr>
              <a:xfrm>
                <a:off x="320040" y="1389888"/>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Text 9"/>
              <p:cNvSpPr/>
              <p:nvPr/>
            </p:nvSpPr>
            <p:spPr>
              <a:xfrm>
                <a:off x="448056" y="139293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Aktywność</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fizyczna</a:t>
                </a:r>
                <a:r>
                  <a:rPr lang="en-US" sz="1100" b="1" i="0" u="none" strike="noStrike" kern="1200" cap="none" spc="0" baseline="0" dirty="0">
                    <a:solidFill>
                      <a:srgbClr val="1F1535"/>
                    </a:solidFill>
                    <a:uFillTx/>
                    <a:latin typeface="Cambria" pitchFamily="34"/>
                    <a:ea typeface="Cambria" pitchFamily="34"/>
                    <a:cs typeface="Cambria" pitchFamily="34"/>
                  </a:rPr>
                  <a:t> (ACC)</a:t>
                </a:r>
                <a:endParaRPr lang="en-US" sz="1100" b="0" i="0" u="none" strike="noStrike" kern="1200" cap="none" spc="0" baseline="0" dirty="0">
                  <a:solidFill>
                    <a:srgbClr val="000000"/>
                  </a:solidFill>
                  <a:uFillTx/>
                  <a:latin typeface="Calibri"/>
                </a:endParaRPr>
              </a:p>
            </p:txBody>
          </p:sp>
          <p:sp>
            <p:nvSpPr>
              <p:cNvPr id="12" name="Text 10"/>
              <p:cNvSpPr/>
              <p:nvPr/>
            </p:nvSpPr>
            <p:spPr>
              <a:xfrm>
                <a:off x="448056" y="1622021"/>
                <a:ext cx="3977639" cy="2961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Depresja</a:t>
                </a:r>
                <a:r>
                  <a:rPr lang="en-US" sz="1000" b="0" i="0" u="none" strike="noStrike" kern="1200" cap="none" spc="0" baseline="0" dirty="0">
                    <a:solidFill>
                      <a:srgbClr val="111931"/>
                    </a:solidFill>
                    <a:uFillTx/>
                    <a:latin typeface="Calibri" pitchFamily="34"/>
                    <a:ea typeface="Calibri" pitchFamily="34"/>
                    <a:cs typeface="Calibri" pitchFamily="34"/>
                  </a:rPr>
                  <a:t>: &lt; 2000 </a:t>
                </a:r>
                <a:r>
                  <a:rPr lang="en-US" sz="1000" b="0" i="0" u="none" strike="noStrike" kern="1200" cap="none" spc="0" baseline="0" dirty="0" err="1">
                    <a:solidFill>
                      <a:srgbClr val="111931"/>
                    </a:solidFill>
                    <a:uFillTx/>
                    <a:latin typeface="Calibri" pitchFamily="34"/>
                    <a:ea typeface="Calibri" pitchFamily="34"/>
                    <a:cs typeface="Calibri" pitchFamily="34"/>
                  </a:rPr>
                  <a:t>kroków</a:t>
                </a:r>
                <a:r>
                  <a:rPr lang="en-US" sz="1000" b="0" i="0" u="none" strike="noStrike" kern="1200" cap="none" spc="0" baseline="0" dirty="0">
                    <a:solidFill>
                      <a:srgbClr val="111931"/>
                    </a:solidFill>
                    <a:uFillTx/>
                    <a:latin typeface="Calibri" pitchFamily="34"/>
                    <a:ea typeface="Calibri" pitchFamily="34"/>
                    <a:cs typeface="Calibri" pitchFamily="34"/>
                  </a:rPr>
                  <a:t>/</a:t>
                </a:r>
                <a:r>
                  <a:rPr lang="en-US" sz="1000" b="0" i="0" u="none" strike="noStrike" kern="1200" cap="none" spc="0" baseline="0" dirty="0" err="1">
                    <a:solidFill>
                      <a:srgbClr val="111931"/>
                    </a:solidFill>
                    <a:uFillTx/>
                    <a:latin typeface="Calibri" pitchFamily="34"/>
                    <a:ea typeface="Calibri" pitchFamily="34"/>
                    <a:cs typeface="Calibri" pitchFamily="34"/>
                  </a:rPr>
                  <a:t>dzień</a:t>
                </a:r>
                <a:r>
                  <a:rPr lang="en-US" sz="1000" b="0" i="0" u="none" strike="noStrike" kern="1200" cap="none" spc="0" baseline="0" dirty="0">
                    <a:solidFill>
                      <a:srgbClr val="111931"/>
                    </a:solidFill>
                    <a:uFillTx/>
                    <a:latin typeface="Calibri" pitchFamily="34"/>
                    <a:ea typeface="Calibri" pitchFamily="34"/>
                    <a:cs typeface="Calibri" pitchFamily="34"/>
                  </a:rPr>
                  <a:t>. Mania: &gt; 15 000 </a:t>
                </a:r>
                <a:r>
                  <a:rPr lang="en-US" sz="1000" b="0" i="0" u="none" strike="noStrike" kern="1200" cap="none" spc="0" baseline="0" dirty="0" err="1">
                    <a:solidFill>
                      <a:srgbClr val="111931"/>
                    </a:solidFill>
                    <a:uFillTx/>
                    <a:latin typeface="Calibri" pitchFamily="34"/>
                    <a:ea typeface="Calibri" pitchFamily="34"/>
                    <a:cs typeface="Calibri" pitchFamily="34"/>
                  </a:rPr>
                  <a:t>kroków</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smtClean="0">
                    <a:solidFill>
                      <a:srgbClr val="111931"/>
                    </a:solidFill>
                    <a:uFillTx/>
                    <a:latin typeface="Calibri" pitchFamily="34"/>
                    <a:ea typeface="Calibri" pitchFamily="34"/>
                    <a:cs typeface="Calibri" pitchFamily="34"/>
                  </a:rPr>
                  <a:t>Niepokój</a:t>
                </a:r>
                <a:r>
                  <a:rPr lang="pl-PL" sz="1000" b="0" i="0" u="none" strike="noStrike" kern="1200" cap="none" spc="0" baseline="0" dirty="0" smtClean="0">
                    <a:solidFill>
                      <a:srgbClr val="111931"/>
                    </a:solidFill>
                    <a:uFillTx/>
                    <a:latin typeface="Calibri" pitchFamily="34"/>
                    <a:ea typeface="Calibri" pitchFamily="34"/>
                    <a:cs typeface="Calibri" pitchFamily="34"/>
                  </a:rPr>
                  <a:t>: czas nocny </a:t>
                </a:r>
                <a:r>
                  <a:rPr lang="en-US" sz="1000" b="0" i="0" u="none" strike="noStrike" kern="1200" cap="none" spc="0" baseline="0" dirty="0" err="1" smtClean="0">
                    <a:solidFill>
                      <a:srgbClr val="111931"/>
                    </a:solidFill>
                    <a:uFillTx/>
                    <a:latin typeface="Calibri" pitchFamily="34"/>
                    <a:ea typeface="Calibri" pitchFamily="34"/>
                    <a:cs typeface="Calibri" pitchFamily="34"/>
                  </a:rPr>
                  <a:t>agitacja</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62" name="Grupa 61"/>
            <p:cNvGrpSpPr/>
            <p:nvPr/>
          </p:nvGrpSpPr>
          <p:grpSpPr>
            <a:xfrm>
              <a:off x="320040" y="2028444"/>
              <a:ext cx="4160520" cy="540000"/>
              <a:chOff x="320040" y="1975104"/>
              <a:chExt cx="4160520" cy="540000"/>
            </a:xfrm>
          </p:grpSpPr>
          <p:sp>
            <p:nvSpPr>
              <p:cNvPr id="13" name="Shape 11"/>
              <p:cNvSpPr/>
              <p:nvPr/>
            </p:nvSpPr>
            <p:spPr>
              <a:xfrm>
                <a:off x="320040" y="1975104"/>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Shape 12"/>
              <p:cNvSpPr/>
              <p:nvPr/>
            </p:nvSpPr>
            <p:spPr>
              <a:xfrm>
                <a:off x="320040" y="1975104"/>
                <a:ext cx="54864" cy="540000"/>
              </a:xfrm>
              <a:prstGeom prst="rect">
                <a:avLst/>
              </a:prstGeom>
              <a:solidFill>
                <a:srgbClr val="1D4ED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Text 13"/>
              <p:cNvSpPr/>
              <p:nvPr/>
            </p:nvSpPr>
            <p:spPr>
              <a:xfrm>
                <a:off x="448056" y="1978152"/>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Wzorce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snu</a:t>
                </a:r>
                <a:r>
                  <a:rPr lang="en-US" sz="1100" b="1" i="0" u="none" strike="noStrike" kern="1200" cap="none" spc="0" baseline="0" dirty="0">
                    <a:solidFill>
                      <a:srgbClr val="1F1535"/>
                    </a:solidFill>
                    <a:uFillTx/>
                    <a:latin typeface="Cambria" pitchFamily="34"/>
                    <a:ea typeface="Cambria" pitchFamily="34"/>
                    <a:cs typeface="Cambria" pitchFamily="34"/>
                  </a:rPr>
                  <a:t> (IMU + light)</a:t>
                </a:r>
                <a:endParaRPr lang="en-US" sz="1100" b="0" i="0" u="none" strike="noStrike" kern="1200" cap="none" spc="0" baseline="0" dirty="0">
                  <a:solidFill>
                    <a:srgbClr val="000000"/>
                  </a:solidFill>
                  <a:uFillTx/>
                  <a:latin typeface="Calibri"/>
                </a:endParaRPr>
              </a:p>
            </p:txBody>
          </p:sp>
          <p:sp>
            <p:nvSpPr>
              <p:cNvPr id="16" name="Text 14"/>
              <p:cNvSpPr/>
              <p:nvPr/>
            </p:nvSpPr>
            <p:spPr>
              <a:xfrm>
                <a:off x="448056" y="2224042"/>
                <a:ext cx="3977639" cy="23418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Depresja</a:t>
                </a:r>
                <a:r>
                  <a:rPr lang="en-US" sz="1000" b="0" i="0" u="none" strike="noStrike" kern="1200" cap="none" spc="0" baseline="0" dirty="0">
                    <a:solidFill>
                      <a:srgbClr val="111931"/>
                    </a:solidFill>
                    <a:uFillTx/>
                    <a:latin typeface="Calibri" pitchFamily="34"/>
                    <a:ea typeface="Calibri" pitchFamily="34"/>
                    <a:cs typeface="Calibri" pitchFamily="34"/>
                  </a:rPr>
                  <a:t>: → &gt; 9h </a:t>
                </a:r>
                <a:r>
                  <a:rPr lang="en-US" sz="1000" b="0" i="0" u="none" strike="noStrike" kern="1200" cap="none" spc="0" baseline="0" dirty="0" err="1">
                    <a:solidFill>
                      <a:srgbClr val="111931"/>
                    </a:solidFill>
                    <a:uFillTx/>
                    <a:latin typeface="Calibri" pitchFamily="34"/>
                    <a:ea typeface="Calibri" pitchFamily="34"/>
                    <a:cs typeface="Calibri" pitchFamily="34"/>
                  </a:rPr>
                  <a:t>lub</a:t>
                </a:r>
                <a:r>
                  <a:rPr lang="en-US" sz="1000" b="0" i="0" u="none" strike="noStrike" kern="1200" cap="none" spc="0" baseline="0" dirty="0">
                    <a:solidFill>
                      <a:srgbClr val="111931"/>
                    </a:solidFill>
                    <a:uFillTx/>
                    <a:latin typeface="Calibri" pitchFamily="34"/>
                    <a:ea typeface="Calibri" pitchFamily="34"/>
                    <a:cs typeface="Calibri" pitchFamily="34"/>
                  </a:rPr>
                  <a:t> &lt; 5h </a:t>
                </a:r>
                <a:r>
                  <a:rPr lang="en-US" sz="1000" b="0" i="0" u="none" strike="noStrike" kern="1200" cap="none" spc="0" baseline="0" dirty="0" err="1">
                    <a:solidFill>
                      <a:srgbClr val="111931"/>
                    </a:solidFill>
                    <a:uFillTx/>
                    <a:latin typeface="Calibri" pitchFamily="34"/>
                    <a:ea typeface="Calibri" pitchFamily="34"/>
                    <a:cs typeface="Calibri" pitchFamily="34"/>
                  </a:rPr>
                  <a:t>snu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fragmentacja</a:t>
                </a:r>
                <a:r>
                  <a:rPr lang="en-US" sz="1000" b="0" i="0" u="none" strike="noStrike" kern="1200" cap="none" spc="0" baseline="0" dirty="0">
                    <a:solidFill>
                      <a:srgbClr val="111931"/>
                    </a:solidFill>
                    <a:uFillTx/>
                    <a:latin typeface="Calibri" pitchFamily="34"/>
                    <a:ea typeface="Calibri" pitchFamily="34"/>
                    <a:cs typeface="Calibri" pitchFamily="34"/>
                  </a:rPr>
                  <a:t>. Mania: &gt; 5-dniowy </a:t>
                </a:r>
                <a:r>
                  <a:rPr lang="en-US" sz="1000" b="0" i="0" u="none" strike="noStrike" kern="1200" cap="none" spc="0" baseline="0" dirty="0" err="1" smtClean="0">
                    <a:solidFill>
                      <a:srgbClr val="111931"/>
                    </a:solidFill>
                    <a:uFillTx/>
                    <a:latin typeface="Calibri" pitchFamily="34"/>
                    <a:ea typeface="Calibri" pitchFamily="34"/>
                    <a:cs typeface="Calibri" pitchFamily="34"/>
                  </a:rPr>
                  <a:t>deficyt</a:t>
                </a:r>
                <a:r>
                  <a:rPr lang="pl-PL" sz="1000" b="0" i="0" u="none" strike="noStrike" kern="1200" cap="none" spc="0" baseline="0" dirty="0" smtClean="0">
                    <a:solidFill>
                      <a:srgbClr val="111931"/>
                    </a:solidFill>
                    <a:uFillTx/>
                    <a:latin typeface="Calibri" pitchFamily="34"/>
                    <a:ea typeface="Calibri" pitchFamily="34"/>
                    <a:cs typeface="Calibri" pitchFamily="34"/>
                  </a:rPr>
                  <a:t> snu</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pl-PL" sz="1000" b="0" i="0" u="none" strike="noStrike" kern="1200" cap="none" spc="0" baseline="0" dirty="0" err="1" smtClean="0">
                    <a:solidFill>
                      <a:srgbClr val="111931"/>
                    </a:solidFill>
                    <a:uFillTx/>
                    <a:latin typeface="Calibri" pitchFamily="34"/>
                    <a:ea typeface="Calibri" pitchFamily="34"/>
                    <a:cs typeface="Calibri" pitchFamily="34"/>
                  </a:rPr>
                  <a:t>Nier</a:t>
                </a:r>
                <a:r>
                  <a:rPr lang="en-US" sz="1000" b="0" i="0" u="none" strike="noStrike" kern="1200" cap="none" spc="0" baseline="0" dirty="0" err="1" smtClean="0">
                    <a:solidFill>
                      <a:srgbClr val="111931"/>
                    </a:solidFill>
                    <a:uFillTx/>
                    <a:latin typeface="Calibri" pitchFamily="34"/>
                    <a:ea typeface="Calibri" pitchFamily="34"/>
                    <a:cs typeface="Calibri" pitchFamily="34"/>
                  </a:rPr>
                  <a:t>egularność</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rytmu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dobowego</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61" name="Grupa 60"/>
            <p:cNvGrpSpPr/>
            <p:nvPr/>
          </p:nvGrpSpPr>
          <p:grpSpPr>
            <a:xfrm>
              <a:off x="320040" y="2606040"/>
              <a:ext cx="4160520" cy="540000"/>
              <a:chOff x="320040" y="2560320"/>
              <a:chExt cx="4160520" cy="540000"/>
            </a:xfrm>
          </p:grpSpPr>
          <p:sp>
            <p:nvSpPr>
              <p:cNvPr id="17" name="Shape 15"/>
              <p:cNvSpPr/>
              <p:nvPr/>
            </p:nvSpPr>
            <p:spPr>
              <a:xfrm>
                <a:off x="320040" y="2560320"/>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Shape 16"/>
              <p:cNvSpPr/>
              <p:nvPr/>
            </p:nvSpPr>
            <p:spPr>
              <a:xfrm>
                <a:off x="320040" y="2560320"/>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Text 17"/>
              <p:cNvSpPr/>
              <p:nvPr/>
            </p:nvSpPr>
            <p:spPr>
              <a:xfrm>
                <a:off x="448056" y="2563367"/>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Wzorce</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komunikacji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metadane</a:t>
                </a:r>
                <a:r>
                  <a:rPr lang="en-US" sz="1100" b="1" i="0" u="none" strike="noStrike" kern="1200" cap="none" spc="0" baseline="0" dirty="0">
                    <a:solidFill>
                      <a:srgbClr val="1F1535"/>
                    </a:solidFill>
                    <a:uFillTx/>
                    <a:latin typeface="Cambria" pitchFamily="34"/>
                    <a:ea typeface="Cambria" pitchFamily="34"/>
                    <a:cs typeface="Cambria" pitchFamily="34"/>
                  </a:rPr>
                  <a:t>)</a:t>
                </a:r>
                <a:endParaRPr lang="en-US" sz="1100" b="0" i="0" u="none" strike="noStrike" kern="1200" cap="none" spc="0" baseline="0" dirty="0">
                  <a:solidFill>
                    <a:srgbClr val="000000"/>
                  </a:solidFill>
                  <a:uFillTx/>
                  <a:latin typeface="Calibri"/>
                </a:endParaRPr>
              </a:p>
            </p:txBody>
          </p:sp>
          <p:sp>
            <p:nvSpPr>
              <p:cNvPr id="20" name="Text 18"/>
              <p:cNvSpPr/>
              <p:nvPr/>
            </p:nvSpPr>
            <p:spPr>
              <a:xfrm>
                <a:off x="448056" y="2801111"/>
                <a:ext cx="3977639" cy="2448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Izolacja</a:t>
                </a:r>
                <a:r>
                  <a:rPr lang="en-US" sz="1000" b="0" i="0" u="none" strike="noStrike" kern="1200" cap="none" spc="0" baseline="0" dirty="0">
                    <a:solidFill>
                      <a:srgbClr val="111931"/>
                    </a:solidFill>
                    <a:uFillTx/>
                    <a:latin typeface="Calibri" pitchFamily="34"/>
                    <a:ea typeface="Calibri" pitchFamily="34"/>
                    <a:cs typeface="Calibri" pitchFamily="34"/>
                  </a:rPr>
                  <a:t> → &lt; 3 outgoing call/</a:t>
                </a:r>
                <a:r>
                  <a:rPr lang="en-US" sz="1000" b="0" i="0" u="none" strike="noStrike" kern="1200" cap="none" spc="0" baseline="0" dirty="0" err="1">
                    <a:solidFill>
                      <a:srgbClr val="111931"/>
                    </a:solidFill>
                    <a:uFillTx/>
                    <a:latin typeface="Calibri" pitchFamily="34"/>
                    <a:ea typeface="Calibri" pitchFamily="34"/>
                    <a:cs typeface="Calibri" pitchFamily="34"/>
                  </a:rPr>
                  <a:t>tyg</a:t>
                </a:r>
                <a:r>
                  <a:rPr lang="en-US" sz="1000" b="0" i="0" u="none" strike="noStrike" kern="1200" cap="none" spc="0" baseline="0" dirty="0">
                    <a:solidFill>
                      <a:srgbClr val="111931"/>
                    </a:solidFill>
                    <a:uFillTx/>
                    <a:latin typeface="Calibri" pitchFamily="34"/>
                    <a:ea typeface="Calibri" pitchFamily="34"/>
                    <a:cs typeface="Calibri" pitchFamily="34"/>
                  </a:rPr>
                  <a:t>. Mania → &gt; 50 messages/h. NLP </a:t>
                </a:r>
                <a:r>
                  <a:rPr lang="en-US" sz="1000" b="0" i="0" u="none" strike="noStrike" kern="1200" cap="none" spc="0" baseline="0" dirty="0" err="1">
                    <a:solidFill>
                      <a:srgbClr val="111931"/>
                    </a:solidFill>
                    <a:uFillTx/>
                    <a:latin typeface="Calibri" pitchFamily="34"/>
                    <a:ea typeface="Calibri" pitchFamily="34"/>
                    <a:cs typeface="Calibri" pitchFamily="34"/>
                  </a:rPr>
                  <a:t>sentymentu</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wiadomości</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zgodą</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60" name="Grupa 59"/>
            <p:cNvGrpSpPr/>
            <p:nvPr/>
          </p:nvGrpSpPr>
          <p:grpSpPr>
            <a:xfrm>
              <a:off x="320040" y="3191256"/>
              <a:ext cx="4160520" cy="540000"/>
              <a:chOff x="320040" y="3145536"/>
              <a:chExt cx="4160520" cy="540000"/>
            </a:xfrm>
          </p:grpSpPr>
          <p:sp>
            <p:nvSpPr>
              <p:cNvPr id="21" name="Shape 19"/>
              <p:cNvSpPr/>
              <p:nvPr/>
            </p:nvSpPr>
            <p:spPr>
              <a:xfrm>
                <a:off x="320040" y="3145536"/>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Shape 20"/>
              <p:cNvSpPr/>
              <p:nvPr/>
            </p:nvSpPr>
            <p:spPr>
              <a:xfrm>
                <a:off x="320040" y="3145536"/>
                <a:ext cx="54864" cy="540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Text 21"/>
              <p:cNvSpPr/>
              <p:nvPr/>
            </p:nvSpPr>
            <p:spPr>
              <a:xfrm>
                <a:off x="448056" y="3148584"/>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Lokalizacja GPS</a:t>
                </a:r>
                <a:endParaRPr lang="en-US" sz="1100" b="0" i="0" u="none" strike="noStrike" kern="1200" cap="none" spc="0" baseline="0">
                  <a:solidFill>
                    <a:srgbClr val="000000"/>
                  </a:solidFill>
                  <a:uFillTx/>
                  <a:latin typeface="Calibri"/>
                </a:endParaRPr>
              </a:p>
            </p:txBody>
          </p:sp>
          <p:sp>
            <p:nvSpPr>
              <p:cNvPr id="24" name="Text 22"/>
              <p:cNvSpPr/>
              <p:nvPr/>
            </p:nvSpPr>
            <p:spPr>
              <a:xfrm>
                <a:off x="448056" y="3386327"/>
                <a:ext cx="3977639" cy="27381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Home dwell time &gt; 20h/</a:t>
                </a:r>
                <a:r>
                  <a:rPr lang="en-US" sz="1000" b="0" i="0" u="none" strike="noStrike" kern="1200" cap="none" spc="0" baseline="0" dirty="0" err="1">
                    <a:solidFill>
                      <a:srgbClr val="111931"/>
                    </a:solidFill>
                    <a:uFillTx/>
                    <a:latin typeface="Calibri" pitchFamily="34"/>
                    <a:ea typeface="Calibri" pitchFamily="34"/>
                    <a:cs typeface="Calibri" pitchFamily="34"/>
                  </a:rPr>
                  <a:t>dzień</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depresja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agorafobia</a:t>
                </a:r>
                <a:r>
                  <a:rPr lang="en-US" sz="1000" b="0" i="0" u="none" strike="noStrike" kern="1200" cap="none" spc="0" baseline="0" dirty="0">
                    <a:solidFill>
                      <a:srgbClr val="111931"/>
                    </a:solidFill>
                    <a:uFillTx/>
                    <a:latin typeface="Calibri" pitchFamily="34"/>
                    <a:ea typeface="Calibri" pitchFamily="34"/>
                    <a:cs typeface="Calibri" pitchFamily="34"/>
                  </a:rPr>
                  <a:t>. </a:t>
                </a:r>
                <a:r>
                  <a:rPr lang="pl-PL" sz="1000" b="0" i="0" u="none" strike="noStrike" kern="1200" cap="none" spc="0" baseline="0" dirty="0" smtClean="0">
                    <a:solidFill>
                      <a:srgbClr val="111931"/>
                    </a:solidFill>
                    <a:uFillTx/>
                    <a:latin typeface="Calibri" pitchFamily="34"/>
                    <a:ea typeface="Calibri" pitchFamily="34"/>
                    <a:cs typeface="Calibri" pitchFamily="34"/>
                  </a:rPr>
                  <a:t>Nocne zmiany lokalizacji</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 mania, </a:t>
                </a:r>
                <a:r>
                  <a:rPr lang="pl-PL" sz="1000" b="0" i="0" u="none" strike="noStrike" kern="1200" cap="none" spc="0" baseline="0" dirty="0" smtClean="0">
                    <a:solidFill>
                      <a:srgbClr val="111931"/>
                    </a:solidFill>
                    <a:uFillTx/>
                    <a:latin typeface="Calibri" pitchFamily="34"/>
                    <a:ea typeface="Calibri" pitchFamily="34"/>
                    <a:cs typeface="Calibri" pitchFamily="34"/>
                  </a:rPr>
                  <a:t>używanie substancji</a:t>
                </a:r>
                <a:r>
                  <a:rPr lang="en-US" sz="1000" b="0" i="0" u="none" strike="noStrike" kern="1200" cap="none" spc="0" baseline="0" dirty="0" smtClean="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9" name="Grupa 58"/>
            <p:cNvGrpSpPr/>
            <p:nvPr/>
          </p:nvGrpSpPr>
          <p:grpSpPr>
            <a:xfrm>
              <a:off x="320040" y="3776472"/>
              <a:ext cx="4160520" cy="540000"/>
              <a:chOff x="320040" y="3730752"/>
              <a:chExt cx="4160520" cy="540000"/>
            </a:xfrm>
          </p:grpSpPr>
          <p:sp>
            <p:nvSpPr>
              <p:cNvPr id="25" name="Shape 23"/>
              <p:cNvSpPr/>
              <p:nvPr/>
            </p:nvSpPr>
            <p:spPr>
              <a:xfrm>
                <a:off x="320040" y="3730752"/>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Shape 24"/>
              <p:cNvSpPr/>
              <p:nvPr/>
            </p:nvSpPr>
            <p:spPr>
              <a:xfrm>
                <a:off x="320040" y="3730752"/>
                <a:ext cx="54864" cy="540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448056" y="3733799"/>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pl-PL" sz="1100" b="1" i="0" u="none" strike="noStrike" kern="1200" cap="none" spc="0" baseline="0" dirty="0" smtClean="0">
                    <a:solidFill>
                      <a:srgbClr val="1F1535"/>
                    </a:solidFill>
                    <a:uFillTx/>
                    <a:latin typeface="Cambria" pitchFamily="34"/>
                    <a:ea typeface="Cambria" pitchFamily="34"/>
                    <a:cs typeface="Cambria" pitchFamily="34"/>
                  </a:rPr>
                  <a:t>Użycie </a:t>
                </a:r>
                <a:r>
                  <a:rPr lang="pl-PL" sz="1100" b="1" i="0" u="none" strike="noStrike" kern="1200" cap="none" spc="0" baseline="0" dirty="0" err="1" smtClean="0">
                    <a:solidFill>
                      <a:srgbClr val="1F1535"/>
                    </a:solidFill>
                    <a:uFillTx/>
                    <a:latin typeface="Cambria" pitchFamily="34"/>
                    <a:ea typeface="Cambria" pitchFamily="34"/>
                    <a:cs typeface="Cambria" pitchFamily="34"/>
                  </a:rPr>
                  <a:t>ek</a:t>
                </a:r>
                <a:r>
                  <a:rPr lang="en-US" sz="1100" b="1" i="0" u="none" strike="noStrike" kern="1200" cap="none" spc="0" baseline="0" dirty="0" smtClean="0">
                    <a:solidFill>
                      <a:srgbClr val="1F1535"/>
                    </a:solidFill>
                    <a:uFillTx/>
                    <a:latin typeface="Cambria" pitchFamily="34"/>
                    <a:ea typeface="Cambria" pitchFamily="34"/>
                    <a:cs typeface="Cambria" pitchFamily="34"/>
                  </a:rPr>
                  <a:t>ran</a:t>
                </a:r>
                <a:r>
                  <a:rPr lang="pl-PL" sz="1100" b="1" i="0" u="none" strike="noStrike" kern="1200" cap="none" spc="0" baseline="0" dirty="0" smtClean="0">
                    <a:solidFill>
                      <a:srgbClr val="1F1535"/>
                    </a:solidFill>
                    <a:uFillTx/>
                    <a:latin typeface="Cambria" pitchFamily="34"/>
                    <a:ea typeface="Cambria" pitchFamily="34"/>
                    <a:cs typeface="Cambria" pitchFamily="34"/>
                  </a:rPr>
                  <a:t>u</a:t>
                </a:r>
                <a:r>
                  <a:rPr lang="en-US" sz="1100" b="1" i="0" u="none" strike="noStrike" kern="1200" cap="none" spc="0" baseline="0" dirty="0" smtClean="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i</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smtClean="0">
                    <a:solidFill>
                      <a:srgbClr val="1F1535"/>
                    </a:solidFill>
                    <a:uFillTx/>
                    <a:latin typeface="Cambria" pitchFamily="34"/>
                    <a:ea typeface="Cambria" pitchFamily="34"/>
                    <a:cs typeface="Cambria" pitchFamily="34"/>
                  </a:rPr>
                  <a:t>telefon</a:t>
                </a:r>
                <a:r>
                  <a:rPr lang="pl-PL" sz="1100" b="1" i="0" u="none" strike="noStrike" kern="1200" cap="none" spc="0" baseline="0" dirty="0" smtClean="0">
                    <a:solidFill>
                      <a:srgbClr val="1F1535"/>
                    </a:solidFill>
                    <a:uFillTx/>
                    <a:latin typeface="Cambria" pitchFamily="34"/>
                    <a:ea typeface="Cambria" pitchFamily="34"/>
                    <a:cs typeface="Cambria" pitchFamily="34"/>
                  </a:rPr>
                  <a:t>u</a:t>
                </a:r>
                <a:endParaRPr lang="en-US" sz="1100" b="0" i="0" u="none" strike="noStrike" kern="1200" cap="none" spc="0" baseline="0" dirty="0">
                  <a:solidFill>
                    <a:srgbClr val="000000"/>
                  </a:solidFill>
                  <a:uFillTx/>
                  <a:latin typeface="Calibri"/>
                </a:endParaRPr>
              </a:p>
            </p:txBody>
          </p:sp>
          <p:sp>
            <p:nvSpPr>
              <p:cNvPr id="28" name="Text 26"/>
              <p:cNvSpPr/>
              <p:nvPr/>
            </p:nvSpPr>
            <p:spPr>
              <a:xfrm>
                <a:off x="448056" y="3971543"/>
                <a:ext cx="3977639" cy="27275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Phone pick-ups &gt; 200/</a:t>
                </a:r>
                <a:r>
                  <a:rPr lang="en-US" sz="1000" b="0" i="0" u="none" strike="noStrike" kern="1200" cap="none" spc="0" baseline="0" dirty="0" err="1">
                    <a:solidFill>
                      <a:srgbClr val="111931"/>
                    </a:solidFill>
                    <a:uFillTx/>
                    <a:latin typeface="Calibri" pitchFamily="34"/>
                    <a:ea typeface="Calibri" pitchFamily="34"/>
                    <a:cs typeface="Calibri" pitchFamily="34"/>
                  </a:rPr>
                  <a:t>dzień</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lęk</a:t>
                </a:r>
                <a:r>
                  <a:rPr lang="en-US" sz="1000" b="0" i="0" u="none" strike="noStrike" kern="1200" cap="none" spc="0" baseline="0" dirty="0">
                    <a:solidFill>
                      <a:srgbClr val="111931"/>
                    </a:solidFill>
                    <a:uFillTx/>
                    <a:latin typeface="Calibri" pitchFamily="34"/>
                    <a:ea typeface="Calibri" pitchFamily="34"/>
                    <a:cs typeface="Calibri" pitchFamily="34"/>
                  </a:rPr>
                  <a:t>. App usage patterns: media vs social → isolation biomarker.</a:t>
                </a:r>
                <a:endParaRPr lang="en-US" sz="1000" b="0" i="0" u="none" strike="noStrike" kern="1200" cap="none" spc="0" baseline="0" dirty="0">
                  <a:solidFill>
                    <a:srgbClr val="111931"/>
                  </a:solidFill>
                  <a:uFillTx/>
                  <a:latin typeface="Calibri"/>
                </a:endParaRPr>
              </a:p>
            </p:txBody>
          </p:sp>
        </p:grpSp>
        <p:grpSp>
          <p:nvGrpSpPr>
            <p:cNvPr id="58" name="Grupa 57"/>
            <p:cNvGrpSpPr/>
            <p:nvPr/>
          </p:nvGrpSpPr>
          <p:grpSpPr>
            <a:xfrm>
              <a:off x="320040" y="4369308"/>
              <a:ext cx="4160520" cy="540000"/>
              <a:chOff x="320040" y="4315968"/>
              <a:chExt cx="4160520" cy="540000"/>
            </a:xfrm>
          </p:grpSpPr>
          <p:sp>
            <p:nvSpPr>
              <p:cNvPr id="29" name="Shape 27"/>
              <p:cNvSpPr/>
              <p:nvPr/>
            </p:nvSpPr>
            <p:spPr>
              <a:xfrm>
                <a:off x="320040" y="4315968"/>
                <a:ext cx="416052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0" name="Shape 28"/>
              <p:cNvSpPr/>
              <p:nvPr/>
            </p:nvSpPr>
            <p:spPr>
              <a:xfrm>
                <a:off x="320040" y="4315968"/>
                <a:ext cx="54864" cy="540000"/>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448056" y="4319016"/>
                <a:ext cx="3977639"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Klawiatura (keystroke dynamics)</a:t>
                </a:r>
                <a:endParaRPr lang="en-US" sz="1100" b="0" i="0" u="none" strike="noStrike" kern="1200" cap="none" spc="0" baseline="0">
                  <a:solidFill>
                    <a:srgbClr val="000000"/>
                  </a:solidFill>
                  <a:uFillTx/>
                  <a:latin typeface="Calibri"/>
                </a:endParaRPr>
              </a:p>
            </p:txBody>
          </p:sp>
          <p:sp>
            <p:nvSpPr>
              <p:cNvPr id="32" name="Text 30"/>
              <p:cNvSpPr/>
              <p:nvPr/>
            </p:nvSpPr>
            <p:spPr>
              <a:xfrm>
                <a:off x="448056" y="4549140"/>
                <a:ext cx="3977639" cy="23622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Typing speed variance → </a:t>
                </a:r>
                <a:r>
                  <a:rPr lang="en-US" sz="1000" b="0" i="0" u="none" strike="noStrike" kern="1200" cap="none" spc="0" baseline="0" dirty="0" err="1">
                    <a:solidFill>
                      <a:srgbClr val="111931"/>
                    </a:solidFill>
                    <a:uFillTx/>
                    <a:latin typeface="Calibri" pitchFamily="34"/>
                    <a:ea typeface="Calibri" pitchFamily="34"/>
                    <a:cs typeface="Calibri" pitchFamily="34"/>
                  </a:rPr>
                  <a:t>emocjonalna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nierównowaga</a:t>
                </a:r>
                <a:r>
                  <a:rPr lang="en-US" sz="1000" b="0" i="0" u="none" strike="noStrike" kern="1200" cap="none" spc="0" baseline="0" dirty="0">
                    <a:solidFill>
                      <a:srgbClr val="111931"/>
                    </a:solidFill>
                    <a:uFillTx/>
                    <a:latin typeface="Calibri" pitchFamily="34"/>
                    <a:ea typeface="Calibri" pitchFamily="34"/>
                    <a:cs typeface="Calibri" pitchFamily="34"/>
                  </a:rPr>
                  <a:t>. Deletion rate </a:t>
                </a:r>
                <a:r>
                  <a:rPr lang="en-US" sz="1000" b="0" i="0" u="none" strike="noStrike" kern="1200" cap="none" spc="0" baseline="0" dirty="0" err="1">
                    <a:solidFill>
                      <a:srgbClr val="111931"/>
                    </a:solidFill>
                    <a:uFillTx/>
                    <a:latin typeface="Calibri" pitchFamily="34"/>
                    <a:ea typeface="Calibri" pitchFamily="34"/>
                    <a:cs typeface="Calibri" pitchFamily="34"/>
                  </a:rPr>
                  <a:t>wzrost</a:t>
                </a:r>
                <a:r>
                  <a:rPr lang="en-US" sz="1000" b="0" i="0" u="none" strike="noStrike" kern="1200" cap="none" spc="0" baseline="0" dirty="0">
                    <a:solidFill>
                      <a:srgbClr val="111931"/>
                    </a:solidFill>
                    <a:uFillTx/>
                    <a:latin typeface="Calibri" pitchFamily="34"/>
                    <a:ea typeface="Calibri" pitchFamily="34"/>
                    <a:cs typeface="Calibri" pitchFamily="34"/>
                  </a:rPr>
                  <a:t> → </a:t>
                </a:r>
                <a:r>
                  <a:rPr lang="en-US" sz="1000" b="0" i="0" u="none" strike="noStrike" kern="1200" cap="none" spc="0" baseline="0" dirty="0" err="1">
                    <a:solidFill>
                      <a:srgbClr val="111931"/>
                    </a:solidFill>
                    <a:uFillTx/>
                    <a:latin typeface="Calibri" pitchFamily="34"/>
                    <a:ea typeface="Calibri" pitchFamily="34"/>
                    <a:cs typeface="Calibri" pitchFamily="34"/>
                  </a:rPr>
                  <a:t>ruminacja</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niepewność</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sp>
        <p:nvSpPr>
          <p:cNvPr id="33" name="Text 31"/>
          <p:cNvSpPr/>
          <p:nvPr/>
        </p:nvSpPr>
        <p:spPr>
          <a:xfrm>
            <a:off x="4663440" y="1690600"/>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Badania</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a:solidFill>
                  <a:srgbClr val="1F1535"/>
                </a:solidFill>
                <a:uFillTx/>
                <a:latin typeface="Cambria" pitchFamily="34"/>
                <a:ea typeface="Cambria" pitchFamily="34"/>
                <a:cs typeface="Cambria" pitchFamily="34"/>
              </a:rPr>
              <a:t>i</a:t>
            </a:r>
            <a:r>
              <a:rPr lang="en-US" sz="1200" b="1" i="0" u="none" strike="noStrike" kern="1200" cap="none" spc="0" baseline="0" dirty="0">
                <a:solidFill>
                  <a:srgbClr val="1F1535"/>
                </a:solidFill>
                <a:uFillTx/>
                <a:latin typeface="Cambria" pitchFamily="34"/>
                <a:ea typeface="Cambria" pitchFamily="34"/>
                <a:cs typeface="Cambria" pitchFamily="34"/>
              </a:rPr>
              <a:t> </a:t>
            </a:r>
            <a:r>
              <a:rPr lang="en-US" sz="1200" b="1" i="0" u="none" strike="noStrike" kern="1200" cap="none" spc="0" baseline="0" dirty="0" err="1" smtClean="0">
                <a:solidFill>
                  <a:srgbClr val="1F1535"/>
                </a:solidFill>
                <a:uFillTx/>
                <a:latin typeface="Cambria" pitchFamily="34"/>
                <a:ea typeface="Cambria" pitchFamily="34"/>
                <a:cs typeface="Cambria" pitchFamily="34"/>
              </a:rPr>
              <a:t>wdrożenia</a:t>
            </a:r>
            <a:endParaRPr lang="en-US" sz="1200" b="0" i="0" u="none" strike="noStrike" kern="1200" cap="none" spc="0" baseline="0" dirty="0">
              <a:solidFill>
                <a:srgbClr val="000000"/>
              </a:solidFill>
              <a:uFillTx/>
              <a:latin typeface="Calibri"/>
            </a:endParaRPr>
          </a:p>
        </p:txBody>
      </p:sp>
      <p:grpSp>
        <p:nvGrpSpPr>
          <p:cNvPr id="57" name="Grupa 56"/>
          <p:cNvGrpSpPr/>
          <p:nvPr/>
        </p:nvGrpSpPr>
        <p:grpSpPr>
          <a:xfrm>
            <a:off x="4663440" y="1948681"/>
            <a:ext cx="4206240" cy="554736"/>
            <a:chOff x="4663440" y="1530096"/>
            <a:chExt cx="4206240" cy="554736"/>
          </a:xfrm>
        </p:grpSpPr>
        <p:sp>
          <p:nvSpPr>
            <p:cNvPr id="34" name="Shape 32"/>
            <p:cNvSpPr/>
            <p:nvPr/>
          </p:nvSpPr>
          <p:spPr>
            <a:xfrm>
              <a:off x="4663440" y="1534668"/>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Shape 33"/>
            <p:cNvSpPr/>
            <p:nvPr/>
          </p:nvSpPr>
          <p:spPr>
            <a:xfrm>
              <a:off x="4663440" y="1534668"/>
              <a:ext cx="54864" cy="540000"/>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Text 34"/>
            <p:cNvSpPr/>
            <p:nvPr/>
          </p:nvSpPr>
          <p:spPr>
            <a:xfrm>
              <a:off x="4782312" y="1530096"/>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Mindstrong</a:t>
              </a:r>
              <a:r>
                <a:rPr lang="en-US" sz="1100" b="1" i="0" u="none" strike="noStrike" kern="1200" cap="none" spc="0" baseline="0" dirty="0">
                  <a:solidFill>
                    <a:srgbClr val="1F1535"/>
                  </a:solidFill>
                  <a:uFillTx/>
                  <a:latin typeface="Cambria" pitchFamily="34"/>
                  <a:ea typeface="Cambria" pitchFamily="34"/>
                  <a:cs typeface="Cambria" pitchFamily="34"/>
                </a:rPr>
                <a:t> Health (</a:t>
              </a:r>
              <a:r>
                <a:rPr lang="en-US" sz="1100" b="1" i="0" u="none" strike="noStrike" kern="1200" cap="none" spc="0" baseline="0" dirty="0" err="1">
                  <a:solidFill>
                    <a:srgbClr val="1F1535"/>
                  </a:solidFill>
                  <a:uFillTx/>
                  <a:latin typeface="Cambria" pitchFamily="34"/>
                  <a:ea typeface="Cambria" pitchFamily="34"/>
                  <a:cs typeface="Cambria" pitchFamily="34"/>
                </a:rPr>
                <a:t>Dror</a:t>
              </a:r>
              <a:r>
                <a:rPr lang="en-US" sz="1100" b="1" i="0" u="none" strike="noStrike" kern="1200" cap="none" spc="0" baseline="0" dirty="0">
                  <a:solidFill>
                    <a:srgbClr val="1F1535"/>
                  </a:solidFill>
                  <a:uFillTx/>
                  <a:latin typeface="Cambria" pitchFamily="34"/>
                  <a:ea typeface="Cambria" pitchFamily="34"/>
                  <a:cs typeface="Cambria" pitchFamily="34"/>
                </a:rPr>
                <a:t> Ben-</a:t>
              </a:r>
              <a:r>
                <a:rPr lang="en-US" sz="1100" b="1" i="0" u="none" strike="noStrike" kern="1200" cap="none" spc="0" baseline="0" dirty="0" err="1">
                  <a:solidFill>
                    <a:srgbClr val="1F1535"/>
                  </a:solidFill>
                  <a:uFillTx/>
                  <a:latin typeface="Cambria" pitchFamily="34"/>
                  <a:ea typeface="Cambria" pitchFamily="34"/>
                  <a:cs typeface="Cambria" pitchFamily="34"/>
                </a:rPr>
                <a:t>Zeev</a:t>
              </a:r>
              <a:r>
                <a:rPr lang="en-US" sz="1100" b="1" i="0" u="none" strike="noStrike" kern="1200" cap="none" spc="0" baseline="0" dirty="0">
                  <a:solidFill>
                    <a:srgbClr val="1F1535"/>
                  </a:solidFill>
                  <a:uFillTx/>
                  <a:latin typeface="Cambria" pitchFamily="34"/>
                  <a:ea typeface="Cambria" pitchFamily="34"/>
                  <a:cs typeface="Cambria" pitchFamily="34"/>
                </a:rPr>
                <a:t>, Dartmouth)</a:t>
              </a:r>
              <a:endParaRPr lang="en-US" sz="1100" b="0" i="0" u="none" strike="noStrike" kern="1200" cap="none" spc="0" baseline="0" dirty="0">
                <a:solidFill>
                  <a:srgbClr val="000000"/>
                </a:solidFill>
                <a:uFillTx/>
                <a:latin typeface="Calibri"/>
              </a:endParaRPr>
            </a:p>
          </p:txBody>
        </p:sp>
        <p:sp>
          <p:nvSpPr>
            <p:cNvPr id="37" name="Text 35"/>
            <p:cNvSpPr/>
            <p:nvPr/>
          </p:nvSpPr>
          <p:spPr>
            <a:xfrm>
              <a:off x="4791456" y="1719072"/>
              <a:ext cx="4023360" cy="36576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rgbClr val="111931"/>
                  </a:solidFill>
                  <a:uFillTx/>
                  <a:latin typeface="Calibri" pitchFamily="34"/>
                  <a:ea typeface="Calibri" pitchFamily="34"/>
                  <a:cs typeface="Calibri" pitchFamily="34"/>
                </a:rPr>
                <a:t>BiAffect</a:t>
              </a:r>
              <a:r>
                <a:rPr lang="en-US" sz="1000" b="0" i="0" u="none" strike="noStrike" kern="1200" cap="none" spc="0" baseline="0" dirty="0">
                  <a:solidFill>
                    <a:srgbClr val="111931"/>
                  </a:solidFill>
                  <a:uFillTx/>
                  <a:latin typeface="Calibri" pitchFamily="34"/>
                  <a:ea typeface="Calibri" pitchFamily="34"/>
                  <a:cs typeface="Calibri" pitchFamily="34"/>
                </a:rPr>
                <a:t> keyboard study: 500+ </a:t>
              </a:r>
              <a:r>
                <a:rPr lang="en-US" sz="1000" b="0" i="0" u="none" strike="noStrike" kern="1200" cap="none" spc="0" baseline="0" dirty="0" err="1">
                  <a:solidFill>
                    <a:srgbClr val="111931"/>
                  </a:solidFill>
                  <a:uFillTx/>
                  <a:latin typeface="Calibri" pitchFamily="34"/>
                  <a:ea typeface="Calibri" pitchFamily="34"/>
                  <a:cs typeface="Calibri" pitchFamily="34"/>
                </a:rPr>
                <a:t>uczestników</a:t>
              </a:r>
              <a:r>
                <a:rPr lang="en-US" sz="1000" b="0" i="0" u="none" strike="noStrike" kern="1200" cap="none" spc="0" baseline="0" dirty="0">
                  <a:solidFill>
                    <a:srgbClr val="111931"/>
                  </a:solidFill>
                  <a:uFillTx/>
                  <a:latin typeface="Calibri" pitchFamily="34"/>
                  <a:ea typeface="Calibri" pitchFamily="34"/>
                  <a:cs typeface="Calibri" pitchFamily="34"/>
                </a:rPr>
                <a:t>, schizophrenia + bipolar. Typing dynamics </a:t>
              </a:r>
              <a:r>
                <a:rPr lang="en-US" sz="1000" b="0" i="0" u="none" strike="noStrike" kern="1200" cap="none" spc="0" baseline="0" dirty="0" err="1">
                  <a:solidFill>
                    <a:srgbClr val="111931"/>
                  </a:solidFill>
                  <a:uFillTx/>
                  <a:latin typeface="Calibri" pitchFamily="34"/>
                  <a:ea typeface="Calibri" pitchFamily="34"/>
                  <a:cs typeface="Calibri" pitchFamily="34"/>
                </a:rPr>
                <a:t>przewidują</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epizody</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maniakalne</a:t>
              </a:r>
              <a:r>
                <a:rPr lang="en-US" sz="1000" b="0" i="0" u="none" strike="noStrike" kern="1200" cap="none" spc="0" baseline="0" dirty="0">
                  <a:solidFill>
                    <a:srgbClr val="111931"/>
                  </a:solidFill>
                  <a:uFillTx/>
                  <a:latin typeface="Calibri" pitchFamily="34"/>
                  <a:ea typeface="Calibri" pitchFamily="34"/>
                  <a:cs typeface="Calibri" pitchFamily="34"/>
                </a:rPr>
                <a:t> z 3-tygodniowym </a:t>
              </a:r>
              <a:r>
                <a:rPr lang="en-US" sz="1000" b="0" i="0" u="none" strike="noStrike" kern="1200" cap="none" spc="0" baseline="0" dirty="0" err="1">
                  <a:solidFill>
                    <a:srgbClr val="111931"/>
                  </a:solidFill>
                  <a:uFillTx/>
                  <a:latin typeface="Calibri" pitchFamily="34"/>
                  <a:ea typeface="Calibri" pitchFamily="34"/>
                  <a:cs typeface="Calibri" pitchFamily="34"/>
                </a:rPr>
                <a:t>wyprzedzeniem</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6" name="Grupa 55"/>
          <p:cNvGrpSpPr/>
          <p:nvPr/>
        </p:nvGrpSpPr>
        <p:grpSpPr>
          <a:xfrm>
            <a:off x="4663440" y="2551690"/>
            <a:ext cx="4206240" cy="540000"/>
            <a:chOff x="4663440" y="2360676"/>
            <a:chExt cx="4206240" cy="540000"/>
          </a:xfrm>
        </p:grpSpPr>
        <p:sp>
          <p:nvSpPr>
            <p:cNvPr id="38" name="Shape 36"/>
            <p:cNvSpPr/>
            <p:nvPr/>
          </p:nvSpPr>
          <p:spPr>
            <a:xfrm>
              <a:off x="4663440" y="2360676"/>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37"/>
            <p:cNvSpPr/>
            <p:nvPr/>
          </p:nvSpPr>
          <p:spPr>
            <a:xfrm>
              <a:off x="4663440" y="2360676"/>
              <a:ext cx="54864" cy="540000"/>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800600" y="2386584"/>
              <a:ext cx="4023360" cy="176783"/>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1F1535"/>
                  </a:solidFill>
                  <a:uFillTx/>
                  <a:latin typeface="Cambria" pitchFamily="34"/>
                  <a:ea typeface="Cambria" pitchFamily="34"/>
                  <a:cs typeface="Cambria" pitchFamily="34"/>
                </a:rPr>
                <a:t>AWARE Framework (Cambridge)</a:t>
              </a:r>
              <a:endParaRPr lang="en-US" sz="1100" b="0" i="0" u="none" strike="noStrike" kern="1200" cap="none" spc="0" baseline="0" dirty="0">
                <a:solidFill>
                  <a:srgbClr val="000000"/>
                </a:solidFill>
                <a:uFillTx/>
                <a:latin typeface="Calibri"/>
              </a:endParaRPr>
            </a:p>
          </p:txBody>
        </p:sp>
        <p:sp>
          <p:nvSpPr>
            <p:cNvPr id="41" name="Text 39"/>
            <p:cNvSpPr/>
            <p:nvPr/>
          </p:nvSpPr>
          <p:spPr>
            <a:xfrm>
              <a:off x="4791456" y="2560320"/>
              <a:ext cx="4023360" cy="32715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Open-source library do digital phenotyping. </a:t>
              </a:r>
              <a:r>
                <a:rPr lang="en-US" sz="1000" b="0" i="0" u="none" strike="noStrike" kern="1200" cap="none" spc="0" baseline="0" dirty="0" err="1">
                  <a:solidFill>
                    <a:srgbClr val="111931"/>
                  </a:solidFill>
                  <a:uFillTx/>
                  <a:latin typeface="Calibri" pitchFamily="34"/>
                  <a:ea typeface="Calibri" pitchFamily="34"/>
                  <a:cs typeface="Calibri" pitchFamily="34"/>
                </a:rPr>
                <a:t>Zbiera</a:t>
              </a:r>
              <a:r>
                <a:rPr lang="en-US" sz="1000" b="0" i="0" u="none" strike="noStrike" kern="1200" cap="none" spc="0" baseline="0" dirty="0">
                  <a:solidFill>
                    <a:srgbClr val="111931"/>
                  </a:solidFill>
                  <a:uFillTx/>
                  <a:latin typeface="Calibri" pitchFamily="34"/>
                  <a:ea typeface="Calibri" pitchFamily="34"/>
                  <a:cs typeface="Calibri" pitchFamily="34"/>
                </a:rPr>
                <a:t>: accelerometer, location, screen, battery, calls (metadata), notifications. </a:t>
              </a:r>
              <a:r>
                <a:rPr lang="en-US" sz="1000" b="0" i="0" u="none" strike="noStrike" kern="1200" cap="none" spc="0" baseline="0" dirty="0" err="1">
                  <a:solidFill>
                    <a:srgbClr val="111931"/>
                  </a:solidFill>
                  <a:uFillTx/>
                  <a:latin typeface="Calibri" pitchFamily="34"/>
                  <a:ea typeface="Calibri" pitchFamily="34"/>
                  <a:cs typeface="Calibri" pitchFamily="34"/>
                </a:rPr>
                <a:t>Używane</a:t>
              </a:r>
              <a:r>
                <a:rPr lang="en-US" sz="1000" b="0" i="0" u="none" strike="noStrike" kern="1200" cap="none" spc="0" baseline="0" dirty="0">
                  <a:solidFill>
                    <a:srgbClr val="111931"/>
                  </a:solidFill>
                  <a:uFillTx/>
                  <a:latin typeface="Calibri" pitchFamily="34"/>
                  <a:ea typeface="Calibri" pitchFamily="34"/>
                  <a:cs typeface="Calibri" pitchFamily="34"/>
                </a:rPr>
                <a:t> w 200+ </a:t>
              </a:r>
              <a:r>
                <a:rPr lang="en-US" sz="1000" b="0" i="0" u="none" strike="noStrike" kern="1200" cap="none" spc="0" baseline="0" dirty="0" err="1">
                  <a:solidFill>
                    <a:srgbClr val="111931"/>
                  </a:solidFill>
                  <a:uFillTx/>
                  <a:latin typeface="Calibri" pitchFamily="34"/>
                  <a:ea typeface="Calibri" pitchFamily="34"/>
                  <a:cs typeface="Calibri" pitchFamily="34"/>
                </a:rPr>
                <a:t>badaniach</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5" name="Grupa 54"/>
          <p:cNvGrpSpPr/>
          <p:nvPr/>
        </p:nvGrpSpPr>
        <p:grpSpPr>
          <a:xfrm>
            <a:off x="4663440" y="3140964"/>
            <a:ext cx="4206240" cy="540000"/>
            <a:chOff x="4663440" y="3140964"/>
            <a:chExt cx="4206240" cy="540000"/>
          </a:xfrm>
        </p:grpSpPr>
        <p:sp>
          <p:nvSpPr>
            <p:cNvPr id="42" name="Shape 40"/>
            <p:cNvSpPr/>
            <p:nvPr/>
          </p:nvSpPr>
          <p:spPr>
            <a:xfrm>
              <a:off x="4663440" y="3140964"/>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41"/>
            <p:cNvSpPr/>
            <p:nvPr/>
          </p:nvSpPr>
          <p:spPr>
            <a:xfrm>
              <a:off x="4663440" y="3140964"/>
              <a:ext cx="54864" cy="540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Text 42"/>
            <p:cNvSpPr/>
            <p:nvPr/>
          </p:nvSpPr>
          <p:spPr>
            <a:xfrm>
              <a:off x="4791456" y="3153155"/>
              <a:ext cx="4023360" cy="182879"/>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CrossCheck</a:t>
              </a:r>
              <a:r>
                <a:rPr lang="en-US" sz="1100" b="1" i="0" u="none" strike="noStrike" kern="1200" cap="none" spc="0" baseline="0" dirty="0">
                  <a:solidFill>
                    <a:srgbClr val="1F1535"/>
                  </a:solidFill>
                  <a:uFillTx/>
                  <a:latin typeface="Cambria" pitchFamily="34"/>
                  <a:ea typeface="Cambria" pitchFamily="34"/>
                  <a:cs typeface="Cambria" pitchFamily="34"/>
                </a:rPr>
                <a:t> (Cornell + Columbia)</a:t>
              </a:r>
              <a:endParaRPr lang="en-US" sz="1100" b="0" i="0" u="none" strike="noStrike" kern="1200" cap="none" spc="0" baseline="0" dirty="0">
                <a:solidFill>
                  <a:srgbClr val="000000"/>
                </a:solidFill>
                <a:uFillTx/>
                <a:latin typeface="Calibri"/>
              </a:endParaRPr>
            </a:p>
          </p:txBody>
        </p:sp>
        <p:sp>
          <p:nvSpPr>
            <p:cNvPr id="45" name="Text 43"/>
            <p:cNvSpPr/>
            <p:nvPr/>
          </p:nvSpPr>
          <p:spPr>
            <a:xfrm>
              <a:off x="4791456" y="3294888"/>
              <a:ext cx="4023360" cy="381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Schizophrenia monitoring: GPS + calls + screen + surveys → ML classifier </a:t>
              </a:r>
              <a:endParaRPr lang="pl-PL" sz="1000" b="0" i="0" u="none" strike="noStrike" kern="1200" cap="none" spc="0" baseline="0" dirty="0" smtClean="0">
                <a:solidFill>
                  <a:srgbClr val="111931"/>
                </a:solidFill>
                <a:uFillTx/>
                <a:latin typeface="Calibri" pitchFamily="34"/>
                <a:ea typeface="Calibri" pitchFamily="34"/>
                <a:cs typeface="Calibri" pitchFamily="34"/>
              </a:endParaRPr>
            </a:p>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smtClean="0">
                  <a:solidFill>
                    <a:srgbClr val="111931"/>
                  </a:solidFill>
                  <a:uFillTx/>
                  <a:latin typeface="Calibri" pitchFamily="34"/>
                  <a:ea typeface="Calibri" pitchFamily="34"/>
                  <a:cs typeface="Calibri" pitchFamily="34"/>
                </a:rPr>
                <a:t>dla</a:t>
              </a:r>
              <a:r>
                <a:rPr lang="en-US" sz="1000" b="0" i="0" u="none" strike="noStrike" kern="1200" cap="none" spc="0" baseline="0" dirty="0" smtClean="0">
                  <a:solidFill>
                    <a:srgbClr val="111931"/>
                  </a:solidFill>
                  <a:uFillTx/>
                  <a:latin typeface="Calibri" pitchFamily="34"/>
                  <a:ea typeface="Calibri" pitchFamily="34"/>
                  <a:cs typeface="Calibri" pitchFamily="34"/>
                </a:rPr>
                <a:t> </a:t>
              </a:r>
              <a:r>
                <a:rPr lang="en-US" sz="1000" b="0" i="0" u="none" strike="noStrike" kern="1200" cap="none" spc="0" baseline="0" dirty="0">
                  <a:solidFill>
                    <a:srgbClr val="111931"/>
                  </a:solidFill>
                  <a:uFillTx/>
                  <a:latin typeface="Calibri" pitchFamily="34"/>
                  <a:ea typeface="Calibri" pitchFamily="34"/>
                  <a:cs typeface="Calibri" pitchFamily="34"/>
                </a:rPr>
                <a:t>relapse detection. 75% sensitivity 2 </a:t>
              </a:r>
              <a:r>
                <a:rPr lang="en-US" sz="1000" b="0" i="0" u="none" strike="noStrike" kern="1200" cap="none" spc="0" baseline="0" dirty="0" err="1">
                  <a:solidFill>
                    <a:srgbClr val="111931"/>
                  </a:solidFill>
                  <a:uFillTx/>
                  <a:latin typeface="Calibri" pitchFamily="34"/>
                  <a:ea typeface="Calibri" pitchFamily="34"/>
                  <a:cs typeface="Calibri" pitchFamily="34"/>
                </a:rPr>
                <a:t>tygodnie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przed</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nawrotem</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grpSp>
        <p:nvGrpSpPr>
          <p:cNvPr id="54" name="Grupa 53"/>
          <p:cNvGrpSpPr/>
          <p:nvPr/>
        </p:nvGrpSpPr>
        <p:grpSpPr>
          <a:xfrm>
            <a:off x="4663440" y="3708911"/>
            <a:ext cx="4206240" cy="552193"/>
            <a:chOff x="4663440" y="3931919"/>
            <a:chExt cx="4206240" cy="552193"/>
          </a:xfrm>
        </p:grpSpPr>
        <p:sp>
          <p:nvSpPr>
            <p:cNvPr id="46" name="Shape 44"/>
            <p:cNvSpPr/>
            <p:nvPr/>
          </p:nvSpPr>
          <p:spPr>
            <a:xfrm>
              <a:off x="4663440" y="3944112"/>
              <a:ext cx="4206240" cy="540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7" name="Shape 45"/>
            <p:cNvSpPr/>
            <p:nvPr/>
          </p:nvSpPr>
          <p:spPr>
            <a:xfrm>
              <a:off x="4663440" y="3944112"/>
              <a:ext cx="54864" cy="540000"/>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Text 46"/>
            <p:cNvSpPr/>
            <p:nvPr/>
          </p:nvSpPr>
          <p:spPr>
            <a:xfrm>
              <a:off x="4791456" y="3931919"/>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1F1535"/>
                  </a:solidFill>
                  <a:uFillTx/>
                  <a:latin typeface="Cambria" pitchFamily="34"/>
                  <a:ea typeface="Cambria" pitchFamily="34"/>
                  <a:cs typeface="Cambria" pitchFamily="34"/>
                </a:rPr>
                <a:t>NetHealth (Notre Dame)</a:t>
              </a:r>
              <a:endParaRPr lang="en-US" sz="1100" b="0" i="0" u="none" strike="noStrike" kern="1200" cap="none" spc="0" baseline="0">
                <a:solidFill>
                  <a:srgbClr val="000000"/>
                </a:solidFill>
                <a:uFillTx/>
                <a:latin typeface="Calibri"/>
              </a:endParaRPr>
            </a:p>
          </p:txBody>
        </p:sp>
        <p:sp>
          <p:nvSpPr>
            <p:cNvPr id="49" name="Text 47"/>
            <p:cNvSpPr/>
            <p:nvPr/>
          </p:nvSpPr>
          <p:spPr>
            <a:xfrm>
              <a:off x="4791456" y="4096512"/>
              <a:ext cx="4078224" cy="36576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ts val="11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rgbClr val="111931"/>
                  </a:solidFill>
                  <a:uFillTx/>
                  <a:latin typeface="Calibri" pitchFamily="34"/>
                  <a:ea typeface="Calibri" pitchFamily="34"/>
                  <a:cs typeface="Calibri" pitchFamily="34"/>
                </a:rPr>
                <a:t>5-year longitudinal study 700+ students. Wearable + phone → wellbeing, socialization, depression prediction. </a:t>
              </a:r>
              <a:r>
                <a:rPr lang="en-US" sz="1000" b="0" i="0" u="none" strike="noStrike" kern="1200" cap="none" spc="0" baseline="0" dirty="0" err="1">
                  <a:solidFill>
                    <a:srgbClr val="111931"/>
                  </a:solidFill>
                  <a:uFillTx/>
                  <a:latin typeface="Calibri" pitchFamily="34"/>
                  <a:ea typeface="Calibri" pitchFamily="34"/>
                  <a:cs typeface="Calibri" pitchFamily="34"/>
                </a:rPr>
                <a:t>Najdłuższe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badanie</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cyfrowej</a:t>
              </a:r>
              <a:r>
                <a:rPr lang="en-US" sz="1000" b="0" i="0" u="none" strike="noStrike" kern="1200" cap="none" spc="0" baseline="0" dirty="0">
                  <a:solidFill>
                    <a:srgbClr val="111931"/>
                  </a:solidFill>
                  <a:uFillTx/>
                  <a:latin typeface="Calibri" pitchFamily="34"/>
                  <a:ea typeface="Calibri" pitchFamily="34"/>
                  <a:cs typeface="Calibri" pitchFamily="34"/>
                </a:rPr>
                <a:t> </a:t>
              </a:r>
              <a:r>
                <a:rPr lang="en-US" sz="1000" b="0" i="0" u="none" strike="noStrike" kern="1200" cap="none" spc="0" baseline="0" dirty="0" err="1">
                  <a:solidFill>
                    <a:srgbClr val="111931"/>
                  </a:solidFill>
                  <a:uFillTx/>
                  <a:latin typeface="Calibri" pitchFamily="34"/>
                  <a:ea typeface="Calibri" pitchFamily="34"/>
                  <a:cs typeface="Calibri" pitchFamily="34"/>
                </a:rPr>
                <a:t>fenotipizacji</a:t>
              </a:r>
              <a:r>
                <a:rPr lang="en-US" sz="1000" b="0" i="0" u="none" strike="noStrike" kern="1200" cap="none" spc="0" baseline="0" dirty="0">
                  <a:solidFill>
                    <a:srgbClr val="111931"/>
                  </a:solidFill>
                  <a:uFillTx/>
                  <a:latin typeface="Calibri" pitchFamily="34"/>
                  <a:ea typeface="Calibri" pitchFamily="34"/>
                  <a:cs typeface="Calibri" pitchFamily="34"/>
                </a:rPr>
                <a:t>.</a:t>
              </a:r>
              <a:endParaRPr lang="en-US" sz="1000" b="0" i="0" u="none" strike="noStrike" kern="1200" cap="none" spc="0" baseline="0" dirty="0">
                <a:solidFill>
                  <a:srgbClr val="111931"/>
                </a:solidFill>
                <a:uFillTx/>
                <a:latin typeface="Calibri"/>
              </a:endParaRPr>
            </a:p>
          </p:txBody>
        </p:sp>
      </p:grpSp>
      <p:sp>
        <p:nvSpPr>
          <p:cNvPr id="50" name="Text 48"/>
          <p:cNvSpPr/>
          <p:nvPr/>
        </p:nvSpPr>
        <p:spPr>
          <a:xfrm>
            <a:off x="4347972" y="4321812"/>
            <a:ext cx="4620768" cy="579120"/>
          </a:xfrm>
          <a:prstGeom prst="rect">
            <a:avLst/>
          </a:prstGeom>
          <a:noFill/>
          <a:ln cap="flat">
            <a:noFill/>
            <a:prstDash val="solid"/>
          </a:ln>
        </p:spPr>
        <p:txBody>
          <a:bodyPr vert="horz" wrap="square" lIns="91440" tIns="45720" rIns="91440" bIns="45720" anchor="ctr" anchorCtr="0" compatLnSpc="1">
            <a:noAutofit/>
          </a:bodyPr>
          <a:lstStyle/>
          <a:p>
            <a:pPr lvl="0">
              <a:defRPr sz="1800" b="0" i="0" u="none" strike="noStrike" kern="0" cap="none" spc="0" baseline="0">
                <a:solidFill>
                  <a:srgbClr val="000000"/>
                </a:solidFill>
                <a:uFillTx/>
              </a:defRPr>
            </a:pPr>
            <a:r>
              <a:rPr lang="en-US" sz="1100" b="0" i="0" u="none" strike="noStrike" kern="1200" cap="none" spc="0" baseline="0" dirty="0">
                <a:solidFill>
                  <a:srgbClr val="E11D48"/>
                </a:solidFill>
                <a:uFillTx/>
                <a:latin typeface="Calibri" pitchFamily="34"/>
                <a:ea typeface="Calibri" pitchFamily="34"/>
                <a:cs typeface="Calibri" pitchFamily="34"/>
              </a:rPr>
              <a:t>⚠ </a:t>
            </a:r>
            <a:r>
              <a:rPr lang="en-US" sz="1100" b="0" i="0" u="none" strike="noStrike" kern="1200" cap="none" spc="0" baseline="0" dirty="0" err="1">
                <a:solidFill>
                  <a:srgbClr val="E11D48"/>
                </a:solidFill>
                <a:uFillTx/>
                <a:latin typeface="Calibri" pitchFamily="34"/>
                <a:ea typeface="Calibri" pitchFamily="34"/>
                <a:cs typeface="Calibri" pitchFamily="34"/>
              </a:rPr>
              <a:t>Wyzwanie</a:t>
            </a:r>
            <a:r>
              <a:rPr lang="en-US" sz="1100" b="0" i="0" u="none" strike="noStrike" kern="1200" cap="none" spc="0" baseline="0" dirty="0">
                <a:solidFill>
                  <a:srgbClr val="E11D48"/>
                </a:solidFill>
                <a:uFillTx/>
                <a:latin typeface="Calibri" pitchFamily="34"/>
                <a:ea typeface="Calibri" pitchFamily="34"/>
                <a:cs typeface="Calibri" pitchFamily="34"/>
              </a:rPr>
              <a:t> </a:t>
            </a:r>
            <a:r>
              <a:rPr lang="en-US" sz="1100" b="0" i="0" u="none" strike="noStrike" kern="1200" cap="none" spc="0" baseline="0" dirty="0" err="1">
                <a:solidFill>
                  <a:srgbClr val="E11D48"/>
                </a:solidFill>
                <a:uFillTx/>
                <a:latin typeface="Calibri" pitchFamily="34"/>
                <a:ea typeface="Calibri" pitchFamily="34"/>
                <a:cs typeface="Calibri" pitchFamily="34"/>
              </a:rPr>
              <a:t>etyczne</a:t>
            </a:r>
            <a:r>
              <a:rPr lang="en-US" sz="1100" b="0" i="0" u="none" strike="noStrike" kern="1200" cap="none" spc="0" baseline="0" dirty="0">
                <a:solidFill>
                  <a:srgbClr val="E11D48"/>
                </a:solidFill>
                <a:uFillTx/>
                <a:latin typeface="Calibri" pitchFamily="34"/>
                <a:ea typeface="Calibri" pitchFamily="34"/>
                <a:cs typeface="Calibri" pitchFamily="34"/>
              </a:rPr>
              <a:t>: </a:t>
            </a:r>
            <a:r>
              <a:rPr lang="en-US" sz="1100" b="0" i="0" u="none" strike="noStrike" kern="1200" cap="none" spc="0" baseline="0" dirty="0" err="1">
                <a:solidFill>
                  <a:srgbClr val="E11D48"/>
                </a:solidFill>
                <a:uFillTx/>
                <a:latin typeface="Calibri" pitchFamily="34"/>
                <a:ea typeface="Calibri" pitchFamily="34"/>
                <a:cs typeface="Calibri" pitchFamily="34"/>
              </a:rPr>
              <a:t>kto</a:t>
            </a:r>
            <a:r>
              <a:rPr lang="en-US" sz="1100" b="0" i="0" u="none" strike="noStrike" kern="1200" cap="none" spc="0" baseline="0" dirty="0">
                <a:solidFill>
                  <a:srgbClr val="E11D48"/>
                </a:solidFill>
                <a:uFillTx/>
                <a:latin typeface="Calibri" pitchFamily="34"/>
                <a:ea typeface="Calibri" pitchFamily="34"/>
                <a:cs typeface="Calibri" pitchFamily="34"/>
              </a:rPr>
              <a:t> ma </a:t>
            </a:r>
            <a:r>
              <a:rPr lang="en-US" sz="1100" b="0" i="0" u="none" strike="noStrike" kern="1200" cap="none" spc="0" baseline="0" dirty="0" err="1">
                <a:solidFill>
                  <a:srgbClr val="E11D48"/>
                </a:solidFill>
                <a:uFillTx/>
                <a:latin typeface="Calibri" pitchFamily="34"/>
                <a:ea typeface="Calibri" pitchFamily="34"/>
                <a:cs typeface="Calibri" pitchFamily="34"/>
              </a:rPr>
              <a:t>dostęp</a:t>
            </a:r>
            <a:r>
              <a:rPr lang="en-US" sz="1100" b="0" i="0" u="none" strike="noStrike" kern="1200" cap="none" spc="0" baseline="0" dirty="0">
                <a:solidFill>
                  <a:srgbClr val="E11D48"/>
                </a:solidFill>
                <a:uFillTx/>
                <a:latin typeface="Calibri" pitchFamily="34"/>
                <a:ea typeface="Calibri" pitchFamily="34"/>
                <a:cs typeface="Calibri" pitchFamily="34"/>
              </a:rPr>
              <a:t>? </a:t>
            </a:r>
            <a:r>
              <a:rPr lang="en-US" sz="1100" b="0" i="0" u="none" strike="noStrike" kern="1200" cap="none" spc="0" baseline="0" dirty="0" err="1" smtClean="0">
                <a:solidFill>
                  <a:srgbClr val="E11D48"/>
                </a:solidFill>
                <a:uFillTx/>
                <a:latin typeface="Calibri" pitchFamily="34"/>
                <a:ea typeface="Calibri" pitchFamily="34"/>
                <a:cs typeface="Calibri" pitchFamily="34"/>
              </a:rPr>
              <a:t>Uczelnia</a:t>
            </a:r>
            <a:r>
              <a:rPr lang="pl-PL" sz="1100" b="0" i="0" u="none" strike="noStrike" kern="1200" cap="none" spc="0" baseline="0" dirty="0" smtClean="0">
                <a:solidFill>
                  <a:srgbClr val="E11D48"/>
                </a:solidFill>
                <a:uFillTx/>
                <a:latin typeface="Calibri" pitchFamily="34"/>
                <a:ea typeface="Calibri" pitchFamily="34"/>
                <a:cs typeface="Calibri" pitchFamily="34"/>
              </a:rPr>
              <a:t>,</a:t>
            </a:r>
            <a:r>
              <a:rPr lang="en-US" sz="1100" b="0" i="0" u="none" strike="noStrike" kern="1200" cap="none" spc="0" baseline="0" dirty="0" smtClean="0">
                <a:solidFill>
                  <a:srgbClr val="E11D48"/>
                </a:solidFill>
                <a:uFillTx/>
                <a:latin typeface="Calibri" pitchFamily="34"/>
                <a:ea typeface="Calibri" pitchFamily="34"/>
                <a:cs typeface="Calibri" pitchFamily="34"/>
              </a:rPr>
              <a:t> </a:t>
            </a:r>
            <a:r>
              <a:rPr lang="pl-PL" sz="1100" dirty="0">
                <a:solidFill>
                  <a:srgbClr val="E11D48"/>
                </a:solidFill>
                <a:latin typeface="Calibri" pitchFamily="34"/>
                <a:ea typeface="Calibri" pitchFamily="34"/>
                <a:cs typeface="Calibri" pitchFamily="34"/>
              </a:rPr>
              <a:t>p</a:t>
            </a:r>
            <a:r>
              <a:rPr lang="en-US" sz="1100" b="0" i="0" u="none" strike="noStrike" kern="1200" cap="none" spc="0" baseline="0" dirty="0" err="1" smtClean="0">
                <a:solidFill>
                  <a:srgbClr val="E11D48"/>
                </a:solidFill>
                <a:uFillTx/>
                <a:latin typeface="Calibri" pitchFamily="34"/>
                <a:ea typeface="Calibri" pitchFamily="34"/>
                <a:cs typeface="Calibri" pitchFamily="34"/>
              </a:rPr>
              <a:t>racodawca</a:t>
            </a:r>
            <a:r>
              <a:rPr lang="pl-PL" sz="1100" b="0" i="0" u="none" strike="noStrike" kern="1200" cap="none" spc="0" baseline="0" dirty="0" smtClean="0">
                <a:solidFill>
                  <a:srgbClr val="E11D48"/>
                </a:solidFill>
                <a:uFillTx/>
                <a:latin typeface="Calibri" pitchFamily="34"/>
                <a:ea typeface="Calibri" pitchFamily="34"/>
                <a:cs typeface="Calibri" pitchFamily="34"/>
              </a:rPr>
              <a:t>,</a:t>
            </a:r>
            <a:r>
              <a:rPr lang="pl-PL" sz="1100" b="0" i="0" u="none" strike="noStrike" kern="1200" cap="none" spc="0" dirty="0" smtClean="0">
                <a:solidFill>
                  <a:srgbClr val="E11D48"/>
                </a:solidFill>
                <a:uFillTx/>
                <a:latin typeface="Calibri" pitchFamily="34"/>
                <a:ea typeface="Calibri" pitchFamily="34"/>
                <a:cs typeface="Calibri" pitchFamily="34"/>
              </a:rPr>
              <a:t> </a:t>
            </a:r>
            <a:r>
              <a:rPr lang="pl-PL" sz="1100" b="0" i="0" u="none" strike="noStrike" kern="1200" cap="none" spc="0" baseline="0" dirty="0" smtClean="0">
                <a:solidFill>
                  <a:srgbClr val="E11D48"/>
                </a:solidFill>
                <a:uFillTx/>
                <a:latin typeface="Calibri" pitchFamily="34"/>
                <a:ea typeface="Calibri" pitchFamily="34"/>
                <a:cs typeface="Calibri" pitchFamily="34"/>
              </a:rPr>
              <a:t>u</a:t>
            </a:r>
            <a:r>
              <a:rPr lang="en-US" sz="1100" b="0" i="0" u="none" strike="noStrike" kern="1200" cap="none" spc="0" baseline="0" dirty="0" err="1" smtClean="0">
                <a:solidFill>
                  <a:srgbClr val="E11D48"/>
                </a:solidFill>
                <a:uFillTx/>
                <a:latin typeface="Calibri" pitchFamily="34"/>
                <a:ea typeface="Calibri" pitchFamily="34"/>
                <a:cs typeface="Calibri" pitchFamily="34"/>
              </a:rPr>
              <a:t>bezpieczyciel</a:t>
            </a:r>
            <a:r>
              <a:rPr lang="en-US" sz="1100" b="0" i="0" u="none" strike="noStrike" kern="1200" cap="none" spc="0" baseline="0" dirty="0">
                <a:solidFill>
                  <a:srgbClr val="E11D48"/>
                </a:solidFill>
                <a:uFillTx/>
                <a:latin typeface="Calibri" pitchFamily="34"/>
                <a:ea typeface="Calibri" pitchFamily="34"/>
                <a:cs typeface="Calibri" pitchFamily="34"/>
              </a:rPr>
              <a:t>? Digital phenotyping </a:t>
            </a:r>
            <a:r>
              <a:rPr lang="pl-PL" sz="1100" dirty="0">
                <a:solidFill>
                  <a:srgbClr val="E11D48"/>
                </a:solidFill>
                <a:latin typeface="Calibri" pitchFamily="34"/>
                <a:ea typeface="Calibri" pitchFamily="34"/>
                <a:cs typeface="Calibri" pitchFamily="34"/>
              </a:rPr>
              <a:t>wymaga rygorystycznych zasad zarządzania oraz wyraźnej zgody użytkownika w odniesieniu do każdego markera.</a:t>
            </a:r>
            <a:endParaRPr lang="en-US" sz="1100" b="0" i="0" u="none" strike="noStrike" kern="1200" cap="none" spc="0" baseline="0" dirty="0">
              <a:solidFill>
                <a:srgbClr val="000000"/>
              </a:solidFill>
              <a:uFillTx/>
              <a:latin typeface="Calibri"/>
            </a:endParaRPr>
          </a:p>
        </p:txBody>
      </p:sp>
      <p:sp>
        <p:nvSpPr>
          <p:cNvPr id="66"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28</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3F9FF"/>
        </a:solidFill>
        <a:effectLst/>
      </p:bgPr>
    </p:bg>
    <p:spTree>
      <p:nvGrpSpPr>
        <p:cNvPr id="1" name=""/>
        <p:cNvGrpSpPr/>
        <p:nvPr/>
      </p:nvGrpSpPr>
      <p:grpSpPr>
        <a:xfrm>
          <a:off x="0" y="0"/>
          <a:ext cx="0" cy="0"/>
          <a:chOff x="0" y="0"/>
          <a:chExt cx="0" cy="0"/>
        </a:xfrm>
      </p:grpSpPr>
      <p:grpSp>
        <p:nvGrpSpPr>
          <p:cNvPr id="46" name="Grupa 45"/>
          <p:cNvGrpSpPr/>
          <p:nvPr/>
        </p:nvGrpSpPr>
        <p:grpSpPr>
          <a:xfrm>
            <a:off x="0" y="0"/>
            <a:ext cx="9144000" cy="558000"/>
            <a:chOff x="0" y="0"/>
            <a:chExt cx="9144000" cy="558000"/>
          </a:xfrm>
        </p:grpSpPr>
        <p:sp>
          <p:nvSpPr>
            <p:cNvPr id="47"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8"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503920" cy="504000"/>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1" i="0" u="none" strike="noStrike" kern="1200" cap="none" spc="0" baseline="0" dirty="0">
                <a:solidFill>
                  <a:srgbClr val="FFFFFF"/>
                </a:solidFill>
                <a:uFillTx/>
                <a:latin typeface="Cambria" pitchFamily="34"/>
                <a:ea typeface="Cambria" pitchFamily="34"/>
                <a:cs typeface="Cambria" pitchFamily="34"/>
              </a:rPr>
              <a:t>Case </a:t>
            </a:r>
            <a:r>
              <a:rPr lang="en-US" sz="2000" b="1" i="0" u="none" strike="noStrike" kern="1200" cap="none" spc="0" baseline="0" dirty="0" smtClean="0">
                <a:solidFill>
                  <a:srgbClr val="FFFFFF"/>
                </a:solidFill>
                <a:uFillTx/>
                <a:latin typeface="Cambria" pitchFamily="34"/>
                <a:ea typeface="Cambria" pitchFamily="34"/>
                <a:cs typeface="Cambria" pitchFamily="34"/>
              </a:rPr>
              <a:t>Study</a:t>
            </a:r>
            <a:r>
              <a:rPr lang="pl-PL" sz="2000" b="1" i="0" u="none" strike="noStrike" kern="1200" cap="none" spc="0" baseline="0" dirty="0" smtClean="0">
                <a:solidFill>
                  <a:srgbClr val="FFFFFF"/>
                </a:solidFill>
                <a:uFillTx/>
                <a:latin typeface="Cambria" pitchFamily="34"/>
                <a:ea typeface="Cambria" pitchFamily="34"/>
                <a:cs typeface="Cambria" pitchFamily="34"/>
              </a:rPr>
              <a:t>:</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k</a:t>
            </a:r>
            <a:r>
              <a:rPr lang="en-US" sz="2000" b="1" i="0" u="none" strike="noStrike" kern="1200" cap="none" spc="0" baseline="0" dirty="0" err="1" smtClean="0">
                <a:solidFill>
                  <a:srgbClr val="FFFFFF"/>
                </a:solidFill>
                <a:uFillTx/>
                <a:latin typeface="Cambria" pitchFamily="34"/>
                <a:ea typeface="Cambria" pitchFamily="34"/>
                <a:cs typeface="Cambria" pitchFamily="34"/>
              </a:rPr>
              <a:t>ompletna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i</a:t>
            </a:r>
            <a:r>
              <a:rPr lang="en-US" sz="2000" b="1" i="0" u="none" strike="noStrike" kern="1200" cap="none" spc="0" baseline="0" dirty="0" err="1" smtClean="0">
                <a:solidFill>
                  <a:srgbClr val="FFFFFF"/>
                </a:solidFill>
                <a:uFillTx/>
                <a:latin typeface="Cambria" pitchFamily="34"/>
                <a:ea typeface="Cambria" pitchFamily="34"/>
                <a:cs typeface="Cambria" pitchFamily="34"/>
              </a:rPr>
              <a:t>mplementacja</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s</a:t>
            </a:r>
            <a:r>
              <a:rPr lang="en-US" sz="2000" b="1" i="0" u="none" strike="noStrike" kern="1200" cap="none" spc="0" baseline="0" dirty="0" err="1" smtClean="0">
                <a:solidFill>
                  <a:srgbClr val="FFFFFF"/>
                </a:solidFill>
                <a:uFillTx/>
                <a:latin typeface="Cambria" pitchFamily="34"/>
                <a:ea typeface="Cambria" pitchFamily="34"/>
                <a:cs typeface="Cambria" pitchFamily="34"/>
              </a:rPr>
              <a:t>ystemu</a:t>
            </a:r>
            <a:r>
              <a:rPr lang="en-US" sz="2000" b="1" i="0" u="none" strike="noStrike" kern="1200" cap="none" spc="0" baseline="0" dirty="0" smtClean="0">
                <a:solidFill>
                  <a:srgbClr val="FFFFFF"/>
                </a:solidFill>
                <a:uFillTx/>
                <a:latin typeface="Cambria" pitchFamily="34"/>
                <a:ea typeface="Cambria" pitchFamily="34"/>
                <a:cs typeface="Cambria" pitchFamily="34"/>
              </a:rPr>
              <a:t> </a:t>
            </a:r>
            <a:r>
              <a:rPr lang="pl-PL" sz="2000" b="1" i="0" u="none" strike="noStrike" kern="1200" cap="none" spc="0" baseline="0" dirty="0" smtClean="0">
                <a:solidFill>
                  <a:srgbClr val="FFFFFF"/>
                </a:solidFill>
                <a:uFillTx/>
                <a:latin typeface="Cambria" pitchFamily="34"/>
                <a:ea typeface="Cambria" pitchFamily="34"/>
                <a:cs typeface="Cambria" pitchFamily="34"/>
              </a:rPr>
              <a:t>a</a:t>
            </a:r>
            <a:r>
              <a:rPr lang="en-US" sz="2000" b="1" i="0" u="none" strike="noStrike" kern="1200" cap="none" spc="0" baseline="0" dirty="0" err="1" smtClean="0">
                <a:solidFill>
                  <a:srgbClr val="FFFFFF"/>
                </a:solidFill>
                <a:uFillTx/>
                <a:latin typeface="Cambria" pitchFamily="34"/>
                <a:ea typeface="Cambria" pitchFamily="34"/>
                <a:cs typeface="Cambria" pitchFamily="34"/>
              </a:rPr>
              <a:t>fektywnego</a:t>
            </a:r>
            <a:endParaRPr lang="en-US" sz="2000" b="0" i="0" u="none" strike="noStrike" kern="1200" cap="none" spc="0" baseline="0" dirty="0">
              <a:solidFill>
                <a:srgbClr val="000000"/>
              </a:solidFill>
              <a:uFillTx/>
              <a:latin typeface="Calibri"/>
            </a:endParaRPr>
          </a:p>
        </p:txBody>
      </p:sp>
      <p:sp>
        <p:nvSpPr>
          <p:cNvPr id="5" name="Shape 3"/>
          <p:cNvSpPr/>
          <p:nvPr/>
        </p:nvSpPr>
        <p:spPr>
          <a:xfrm>
            <a:off x="0" y="4983480"/>
            <a:ext cx="9144000" cy="160020"/>
          </a:xfrm>
          <a:prstGeom prst="rect">
            <a:avLst/>
          </a:prstGeom>
          <a:solidFill>
            <a:srgbClr val="0F0A1A"/>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 name="Text 5"/>
          <p:cNvSpPr/>
          <p:nvPr/>
        </p:nvSpPr>
        <p:spPr>
          <a:xfrm>
            <a:off x="320040" y="653618"/>
            <a:ext cx="8503920" cy="461594"/>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err="1">
                <a:solidFill>
                  <a:srgbClr val="111931"/>
                </a:solidFill>
                <a:uFillTx/>
                <a:latin typeface="Calibri" pitchFamily="34"/>
                <a:ea typeface="Calibri" pitchFamily="34"/>
                <a:cs typeface="Calibri" pitchFamily="34"/>
              </a:rPr>
              <a:t>Projekt</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afektywna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aplikacja</a:t>
            </a:r>
            <a:r>
              <a:rPr lang="en-US" sz="1600" b="0" i="0" u="none" strike="noStrike" kern="1200" cap="none" spc="0" baseline="0" dirty="0">
                <a:solidFill>
                  <a:srgbClr val="111931"/>
                </a:solidFill>
                <a:uFillTx/>
                <a:latin typeface="Calibri" pitchFamily="34"/>
                <a:ea typeface="Calibri" pitchFamily="34"/>
                <a:cs typeface="Calibri" pitchFamily="34"/>
              </a:rPr>
              <a:t> wellness </a:t>
            </a:r>
            <a:r>
              <a:rPr lang="en-US" sz="1600" b="0" i="0" u="none" strike="noStrike" kern="1200" cap="none" spc="0" baseline="0" dirty="0" err="1">
                <a:solidFill>
                  <a:srgbClr val="111931"/>
                </a:solidFill>
                <a:uFillTx/>
                <a:latin typeface="Calibri" pitchFamily="34"/>
                <a:ea typeface="Calibri" pitchFamily="34"/>
                <a:cs typeface="Calibri" pitchFamily="34"/>
              </a:rPr>
              <a:t>dla</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smtClean="0">
                <a:solidFill>
                  <a:srgbClr val="111931"/>
                </a:solidFill>
                <a:uFillTx/>
                <a:latin typeface="Calibri" pitchFamily="34"/>
                <a:ea typeface="Calibri" pitchFamily="34"/>
                <a:cs typeface="Calibri" pitchFamily="34"/>
              </a:rPr>
              <a:t>studentów</a:t>
            </a:r>
            <a:r>
              <a:rPr lang="pl-PL" sz="1600" dirty="0" smtClean="0">
                <a:solidFill>
                  <a:srgbClr val="111931"/>
                </a:solidFill>
                <a:latin typeface="Calibri" pitchFamily="34"/>
                <a:ea typeface="Calibri" pitchFamily="34"/>
                <a:cs typeface="Calibri" pitchFamily="34"/>
              </a:rPr>
              <a:t>.</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pl-PL" sz="1600" dirty="0" smtClean="0">
                <a:solidFill>
                  <a:srgbClr val="111931"/>
                </a:solidFill>
                <a:latin typeface="Calibri" pitchFamily="34"/>
                <a:ea typeface="Calibri" pitchFamily="34"/>
                <a:cs typeface="Calibri" pitchFamily="34"/>
              </a:rPr>
              <a:t>M</a:t>
            </a:r>
            <a:r>
              <a:rPr lang="en-US" sz="1600" b="0" i="0" u="none" strike="noStrike" kern="1200" cap="none" spc="0" baseline="0" dirty="0" err="1" smtClean="0">
                <a:solidFill>
                  <a:srgbClr val="111931"/>
                </a:solidFill>
                <a:uFillTx/>
                <a:latin typeface="Calibri" pitchFamily="34"/>
                <a:ea typeface="Calibri" pitchFamily="34"/>
                <a:cs typeface="Calibri" pitchFamily="34"/>
              </a:rPr>
              <a:t>onitoring</a:t>
            </a:r>
            <a:r>
              <a:rPr lang="en-US" sz="1600" b="0" i="0" u="none" strike="noStrike" kern="1200" cap="none" spc="0" baseline="0" dirty="0" smtClean="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nastroju</a:t>
            </a:r>
            <a:r>
              <a:rPr lang="en-US" sz="1600" b="0" i="0" u="none" strike="noStrike" kern="1200" cap="none" spc="0" baseline="0" dirty="0">
                <a:solidFill>
                  <a:srgbClr val="111931"/>
                </a:solidFill>
                <a:uFillTx/>
                <a:latin typeface="Calibri" pitchFamily="34"/>
                <a:ea typeface="Calibri" pitchFamily="34"/>
                <a:cs typeface="Calibri" pitchFamily="34"/>
              </a:rPr>
              <a:t> z </a:t>
            </a:r>
            <a:r>
              <a:rPr lang="en-US" sz="1600" b="0" i="0" u="none" strike="noStrike" kern="1200" cap="none" spc="0" baseline="0" dirty="0" err="1">
                <a:solidFill>
                  <a:srgbClr val="111931"/>
                </a:solidFill>
                <a:uFillTx/>
                <a:latin typeface="Calibri" pitchFamily="34"/>
                <a:ea typeface="Calibri" pitchFamily="34"/>
                <a:cs typeface="Calibri" pitchFamily="34"/>
              </a:rPr>
              <a:t>tekstu</a:t>
            </a:r>
            <a:r>
              <a:rPr lang="en-US" sz="1600" b="0" i="0" u="none" strike="noStrike" kern="1200" cap="none" spc="0" baseline="0" dirty="0">
                <a:solidFill>
                  <a:srgbClr val="111931"/>
                </a:solidFill>
                <a:uFillTx/>
                <a:latin typeface="Calibri" pitchFamily="34"/>
                <a:ea typeface="Calibri" pitchFamily="34"/>
                <a:cs typeface="Calibri" pitchFamily="34"/>
              </a:rPr>
              <a:t> + HRV </a:t>
            </a:r>
            <a:r>
              <a:rPr lang="en-US" sz="1600" b="0" i="0" u="none" strike="noStrike" kern="1200" cap="none" spc="0" baseline="0" dirty="0" err="1">
                <a:solidFill>
                  <a:srgbClr val="111931"/>
                </a:solidFill>
                <a:uFillTx/>
                <a:latin typeface="Calibri" pitchFamily="34"/>
                <a:ea typeface="Calibri" pitchFamily="34"/>
                <a:cs typeface="Calibri" pitchFamily="34"/>
              </a:rPr>
              <a:t>ze</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smartwatcha</a:t>
            </a:r>
            <a:r>
              <a:rPr lang="en-US" sz="1600" b="0" i="0" u="none" strike="noStrike" kern="1200" cap="none" spc="0" baseline="0" dirty="0">
                <a:solidFill>
                  <a:srgbClr val="111931"/>
                </a:solidFill>
                <a:uFillTx/>
                <a:latin typeface="Calibri" pitchFamily="34"/>
                <a:ea typeface="Calibri" pitchFamily="34"/>
                <a:cs typeface="Calibri" pitchFamily="34"/>
              </a:rPr>
              <a:t> + IMU </a:t>
            </a:r>
            <a:r>
              <a:rPr lang="en-US" sz="1600" b="0" i="0" u="none" strike="noStrike" kern="1200" cap="none" spc="0" baseline="0" dirty="0" err="1">
                <a:solidFill>
                  <a:srgbClr val="111931"/>
                </a:solidFill>
                <a:uFillTx/>
                <a:latin typeface="Calibri" pitchFamily="34"/>
                <a:ea typeface="Calibri" pitchFamily="34"/>
                <a:cs typeface="Calibri" pitchFamily="34"/>
              </a:rPr>
              <a:t>pasywny</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smtClean="0">
                <a:solidFill>
                  <a:srgbClr val="111931"/>
                </a:solidFill>
                <a:uFillTx/>
                <a:latin typeface="Calibri" pitchFamily="34"/>
                <a:ea typeface="Calibri" pitchFamily="34"/>
                <a:cs typeface="Calibri" pitchFamily="34"/>
              </a:rPr>
              <a:t>z </a:t>
            </a:r>
            <a:r>
              <a:rPr lang="en-US" sz="1600" b="0" i="0" u="none" strike="noStrike" kern="1200" cap="none" spc="0" baseline="0" dirty="0" err="1">
                <a:solidFill>
                  <a:srgbClr val="111931"/>
                </a:solidFill>
                <a:uFillTx/>
                <a:latin typeface="Calibri" pitchFamily="34"/>
                <a:ea typeface="Calibri" pitchFamily="34"/>
                <a:cs typeface="Calibri" pitchFamily="34"/>
              </a:rPr>
              <a:t>adaptowanymi</a:t>
            </a:r>
            <a:r>
              <a:rPr lang="en-US" sz="1600" b="0" i="0" u="none" strike="noStrike" kern="1200" cap="none" spc="0" baseline="0" dirty="0">
                <a:solidFill>
                  <a:srgbClr val="111931"/>
                </a:solidFill>
                <a:uFillTx/>
                <a:latin typeface="Calibri" pitchFamily="34"/>
                <a:ea typeface="Calibri" pitchFamily="34"/>
                <a:cs typeface="Calibri" pitchFamily="34"/>
              </a:rPr>
              <a:t> </a:t>
            </a:r>
            <a:r>
              <a:rPr lang="en-US" sz="1600" b="0" i="0" u="none" strike="noStrike" kern="1200" cap="none" spc="0" baseline="0" dirty="0" err="1">
                <a:solidFill>
                  <a:srgbClr val="111931"/>
                </a:solidFill>
                <a:uFillTx/>
                <a:latin typeface="Calibri" pitchFamily="34"/>
                <a:ea typeface="Calibri" pitchFamily="34"/>
                <a:cs typeface="Calibri" pitchFamily="34"/>
              </a:rPr>
              <a:t>rekomendacjami</a:t>
            </a:r>
            <a:endParaRPr lang="en-US" sz="1600" b="0" i="0" u="none" strike="noStrike" kern="1200" cap="none" spc="0" baseline="0" dirty="0">
              <a:solidFill>
                <a:srgbClr val="111931"/>
              </a:solidFill>
              <a:uFillTx/>
              <a:latin typeface="Calibri"/>
            </a:endParaRPr>
          </a:p>
        </p:txBody>
      </p:sp>
      <p:sp>
        <p:nvSpPr>
          <p:cNvPr id="8" name="Shape 6"/>
          <p:cNvSpPr/>
          <p:nvPr/>
        </p:nvSpPr>
        <p:spPr>
          <a:xfrm>
            <a:off x="320040" y="1298448"/>
            <a:ext cx="8503920" cy="189857"/>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Text 7"/>
          <p:cNvSpPr/>
          <p:nvPr/>
        </p:nvSpPr>
        <p:spPr>
          <a:xfrm>
            <a:off x="420624" y="1303508"/>
            <a:ext cx="8229600" cy="134017"/>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FFFFFF"/>
                </a:solidFill>
                <a:uFillTx/>
                <a:latin typeface="Cambria" pitchFamily="34"/>
                <a:ea typeface="Cambria" pitchFamily="34"/>
                <a:cs typeface="Cambria" pitchFamily="34"/>
              </a:rPr>
              <a:t>Architektura</a:t>
            </a:r>
            <a:r>
              <a:rPr lang="en-US" sz="1200" b="1" i="0" u="none" strike="noStrike" kern="1200" cap="none" spc="0" baseline="0" dirty="0">
                <a:solidFill>
                  <a:srgbClr val="FFFFFF"/>
                </a:solidFill>
                <a:uFillTx/>
                <a:latin typeface="Cambria" pitchFamily="34"/>
                <a:ea typeface="Cambria" pitchFamily="34"/>
                <a:cs typeface="Cambria" pitchFamily="34"/>
              </a:rPr>
              <a:t> </a:t>
            </a:r>
            <a:r>
              <a:rPr lang="en-US" sz="1200" b="1" i="0" u="none" strike="noStrike" kern="1200" cap="none" spc="0" baseline="0" dirty="0" err="1" smtClean="0">
                <a:solidFill>
                  <a:srgbClr val="FFFFFF"/>
                </a:solidFill>
                <a:uFillTx/>
                <a:latin typeface="Cambria" pitchFamily="34"/>
                <a:ea typeface="Cambria" pitchFamily="34"/>
                <a:cs typeface="Cambria" pitchFamily="34"/>
              </a:rPr>
              <a:t>systemu</a:t>
            </a:r>
            <a:endParaRPr lang="en-US" sz="1200" b="0" i="0" u="none" strike="noStrike" kern="1200" cap="none" spc="0" baseline="0" dirty="0">
              <a:solidFill>
                <a:srgbClr val="000000"/>
              </a:solidFill>
              <a:uFillTx/>
              <a:latin typeface="Calibri"/>
            </a:endParaRPr>
          </a:p>
        </p:txBody>
      </p:sp>
      <p:grpSp>
        <p:nvGrpSpPr>
          <p:cNvPr id="50" name="Grupa 49"/>
          <p:cNvGrpSpPr/>
          <p:nvPr/>
        </p:nvGrpSpPr>
        <p:grpSpPr>
          <a:xfrm>
            <a:off x="320040" y="1510641"/>
            <a:ext cx="8503920" cy="763561"/>
            <a:chOff x="320040" y="1403961"/>
            <a:chExt cx="8503920" cy="1217319"/>
          </a:xfrm>
        </p:grpSpPr>
        <p:sp>
          <p:nvSpPr>
            <p:cNvPr id="10" name="Shape 8"/>
            <p:cNvSpPr/>
            <p:nvPr/>
          </p:nvSpPr>
          <p:spPr>
            <a:xfrm>
              <a:off x="320040" y="1403961"/>
              <a:ext cx="8503920" cy="27920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1" name="Shape 9"/>
            <p:cNvSpPr/>
            <p:nvPr/>
          </p:nvSpPr>
          <p:spPr>
            <a:xfrm>
              <a:off x="320040" y="1403961"/>
              <a:ext cx="54864" cy="279202"/>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2" name="Text 10"/>
            <p:cNvSpPr/>
            <p:nvPr/>
          </p:nvSpPr>
          <p:spPr>
            <a:xfrm>
              <a:off x="438912" y="1470970"/>
              <a:ext cx="1828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7C3AED"/>
                  </a:solidFill>
                  <a:uFillTx/>
                  <a:latin typeface="Cambria" pitchFamily="34"/>
                  <a:ea typeface="Cambria" pitchFamily="34"/>
                  <a:cs typeface="Cambria" pitchFamily="34"/>
                </a:rPr>
                <a:t>Data Collection</a:t>
              </a:r>
              <a:endParaRPr lang="en-US" sz="1100" b="0" i="0" u="none" strike="noStrike" kern="1200" cap="none" spc="0" baseline="0">
                <a:solidFill>
                  <a:srgbClr val="000000"/>
                </a:solidFill>
                <a:uFillTx/>
                <a:latin typeface="Calibri"/>
              </a:endParaRPr>
            </a:p>
          </p:txBody>
        </p:sp>
        <p:sp>
          <p:nvSpPr>
            <p:cNvPr id="13" name="Text 11"/>
            <p:cNvSpPr/>
            <p:nvPr/>
          </p:nvSpPr>
          <p:spPr>
            <a:xfrm>
              <a:off x="2340864" y="1470970"/>
              <a:ext cx="6400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uFillTx/>
                  <a:latin typeface="Calibri" pitchFamily="34"/>
                  <a:ea typeface="Calibri" pitchFamily="34"/>
                  <a:cs typeface="Calibri" pitchFamily="34"/>
                </a:rPr>
                <a:t>NLP z dziennika (keyboard) | HRV z Wear OS | IMU pasywny | GPS home dwell</a:t>
              </a:r>
              <a:endParaRPr lang="en-US" sz="1100" b="0" i="0" u="none" strike="noStrike" kern="1200" cap="none" spc="0" baseline="0">
                <a:uFillTx/>
                <a:latin typeface="Calibri"/>
              </a:endParaRPr>
            </a:p>
          </p:txBody>
        </p:sp>
        <p:sp>
          <p:nvSpPr>
            <p:cNvPr id="14" name="Shape 12"/>
            <p:cNvSpPr/>
            <p:nvPr/>
          </p:nvSpPr>
          <p:spPr>
            <a:xfrm>
              <a:off x="320040" y="1716667"/>
              <a:ext cx="8503920" cy="279202"/>
            </a:xfrm>
            <a:prstGeom prst="rect">
              <a:avLst/>
            </a:prstGeom>
            <a:solidFill>
              <a:srgbClr val="D3DEF1"/>
            </a:solidFill>
            <a:ln w="6345" cap="flat">
              <a:solidFill>
                <a:srgbClr val="EAEBEE"/>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5" name="Shape 13"/>
            <p:cNvSpPr/>
            <p:nvPr/>
          </p:nvSpPr>
          <p:spPr>
            <a:xfrm>
              <a:off x="320040" y="1716667"/>
              <a:ext cx="54864" cy="279202"/>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6" name="Text 14"/>
            <p:cNvSpPr/>
            <p:nvPr/>
          </p:nvSpPr>
          <p:spPr>
            <a:xfrm>
              <a:off x="438912" y="1783675"/>
              <a:ext cx="1828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E11D48"/>
                  </a:solidFill>
                  <a:uFillTx/>
                  <a:latin typeface="Cambria" pitchFamily="34"/>
                  <a:ea typeface="Cambria" pitchFamily="34"/>
                  <a:cs typeface="Cambria" pitchFamily="34"/>
                </a:rPr>
                <a:t>On-Device ML</a:t>
              </a:r>
              <a:endParaRPr lang="en-US" sz="1100" b="0" i="0" u="none" strike="noStrike" kern="1200" cap="none" spc="0" baseline="0">
                <a:solidFill>
                  <a:srgbClr val="000000"/>
                </a:solidFill>
                <a:uFillTx/>
                <a:latin typeface="Calibri"/>
              </a:endParaRPr>
            </a:p>
          </p:txBody>
        </p:sp>
        <p:sp>
          <p:nvSpPr>
            <p:cNvPr id="17" name="Text 15"/>
            <p:cNvSpPr/>
            <p:nvPr/>
          </p:nvSpPr>
          <p:spPr>
            <a:xfrm>
              <a:off x="2340864" y="1783675"/>
              <a:ext cx="6400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a:uFillTx/>
                  <a:latin typeface="Calibri" pitchFamily="34"/>
                  <a:ea typeface="Calibri" pitchFamily="34"/>
                  <a:cs typeface="Calibri" pitchFamily="34"/>
                </a:rPr>
                <a:t>DistilBERT TFLite 25MB | HRV feature extraction | Activity classifier | Late fusion weighted</a:t>
              </a:r>
              <a:endParaRPr lang="en-US" sz="1100" b="0" i="0" u="none" strike="noStrike" kern="1200" cap="none" spc="0" baseline="0">
                <a:uFillTx/>
                <a:latin typeface="Calibri"/>
              </a:endParaRPr>
            </a:p>
          </p:txBody>
        </p:sp>
        <p:sp>
          <p:nvSpPr>
            <p:cNvPr id="18" name="Shape 16"/>
            <p:cNvSpPr/>
            <p:nvPr/>
          </p:nvSpPr>
          <p:spPr>
            <a:xfrm>
              <a:off x="320040" y="2029373"/>
              <a:ext cx="8503920" cy="27920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9" name="Shape 17"/>
            <p:cNvSpPr/>
            <p:nvPr/>
          </p:nvSpPr>
          <p:spPr>
            <a:xfrm>
              <a:off x="320040" y="2029373"/>
              <a:ext cx="54864" cy="279202"/>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0" name="Text 18"/>
            <p:cNvSpPr/>
            <p:nvPr/>
          </p:nvSpPr>
          <p:spPr>
            <a:xfrm>
              <a:off x="438912" y="2096381"/>
              <a:ext cx="1828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D97706"/>
                  </a:solidFill>
                  <a:uFillTx/>
                  <a:latin typeface="Cambria" pitchFamily="34"/>
                  <a:ea typeface="Cambria" pitchFamily="34"/>
                  <a:cs typeface="Cambria" pitchFamily="34"/>
                </a:rPr>
                <a:t>Affective State Engine</a:t>
              </a:r>
              <a:endParaRPr lang="en-US" sz="1100" b="0" i="0" u="none" strike="noStrike" kern="1200" cap="none" spc="0" baseline="0">
                <a:solidFill>
                  <a:srgbClr val="000000"/>
                </a:solidFill>
                <a:uFillTx/>
                <a:latin typeface="Calibri"/>
              </a:endParaRPr>
            </a:p>
          </p:txBody>
        </p:sp>
        <p:sp>
          <p:nvSpPr>
            <p:cNvPr id="21" name="Text 19"/>
            <p:cNvSpPr/>
            <p:nvPr/>
          </p:nvSpPr>
          <p:spPr>
            <a:xfrm>
              <a:off x="2340864" y="2096381"/>
              <a:ext cx="6400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uFillTx/>
                  <a:latin typeface="Calibri" pitchFamily="34"/>
                  <a:ea typeface="Calibri" pitchFamily="34"/>
                  <a:cs typeface="Calibri" pitchFamily="34"/>
                </a:rPr>
                <a:t>Smoothed VAD state | Temporal pattern (7-day window) | Crisis detection rule-based</a:t>
              </a:r>
              <a:endParaRPr lang="en-US" sz="1100" b="0" i="0" u="none" strike="noStrike" kern="1200" cap="none" spc="0" baseline="0" dirty="0">
                <a:uFillTx/>
                <a:latin typeface="Calibri"/>
              </a:endParaRPr>
            </a:p>
          </p:txBody>
        </p:sp>
        <p:sp>
          <p:nvSpPr>
            <p:cNvPr id="22" name="Shape 20"/>
            <p:cNvSpPr/>
            <p:nvPr/>
          </p:nvSpPr>
          <p:spPr>
            <a:xfrm>
              <a:off x="320040" y="2342078"/>
              <a:ext cx="8503920" cy="279202"/>
            </a:xfrm>
            <a:prstGeom prst="rect">
              <a:avLst/>
            </a:prstGeom>
            <a:solidFill>
              <a:srgbClr val="D3DEF1"/>
            </a:solidFill>
            <a:ln w="6345" cap="flat">
              <a:solidFill>
                <a:srgbClr val="EAEBEE"/>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3" name="Shape 21"/>
            <p:cNvSpPr/>
            <p:nvPr/>
          </p:nvSpPr>
          <p:spPr>
            <a:xfrm>
              <a:off x="320040" y="2342078"/>
              <a:ext cx="54864" cy="279202"/>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4" name="Text 22"/>
            <p:cNvSpPr/>
            <p:nvPr/>
          </p:nvSpPr>
          <p:spPr>
            <a:xfrm>
              <a:off x="438912" y="2409087"/>
              <a:ext cx="1828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0891B2"/>
                  </a:solidFill>
                  <a:uFillTx/>
                  <a:latin typeface="Cambria" pitchFamily="34"/>
                  <a:ea typeface="Cambria" pitchFamily="34"/>
                  <a:cs typeface="Cambria" pitchFamily="34"/>
                </a:rPr>
                <a:t>Intervention Logic</a:t>
              </a:r>
              <a:endParaRPr lang="en-US" sz="1100" b="0" i="0" u="none" strike="noStrike" kern="1200" cap="none" spc="0" baseline="0" dirty="0">
                <a:solidFill>
                  <a:srgbClr val="000000"/>
                </a:solidFill>
                <a:uFillTx/>
                <a:latin typeface="Calibri"/>
              </a:endParaRPr>
            </a:p>
          </p:txBody>
        </p:sp>
        <p:sp>
          <p:nvSpPr>
            <p:cNvPr id="25" name="Text 23"/>
            <p:cNvSpPr/>
            <p:nvPr/>
          </p:nvSpPr>
          <p:spPr>
            <a:xfrm>
              <a:off x="2340864" y="2409087"/>
              <a:ext cx="6400800" cy="145185"/>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0" i="0" u="none" strike="noStrike" kern="1200" cap="none" spc="0" baseline="0" dirty="0">
                  <a:uFillTx/>
                  <a:latin typeface="Calibri" pitchFamily="34"/>
                  <a:ea typeface="Calibri" pitchFamily="34"/>
                  <a:cs typeface="Calibri" pitchFamily="34"/>
                </a:rPr>
                <a:t>CBT micro-intervention library | Breathing exercises | Push notification timing | Escalation to human</a:t>
              </a:r>
              <a:endParaRPr lang="en-US" sz="1100" b="0" i="0" u="none" strike="noStrike" kern="1200" cap="none" spc="0" baseline="0" dirty="0">
                <a:uFillTx/>
                <a:latin typeface="Calibri"/>
              </a:endParaRPr>
            </a:p>
          </p:txBody>
        </p:sp>
      </p:grpSp>
      <p:sp>
        <p:nvSpPr>
          <p:cNvPr id="26" name="Shape 24"/>
          <p:cNvSpPr/>
          <p:nvPr/>
        </p:nvSpPr>
        <p:spPr>
          <a:xfrm>
            <a:off x="320040" y="2356402"/>
            <a:ext cx="4160520" cy="2573077"/>
          </a:xfrm>
          <a:prstGeom prst="rect">
            <a:avLst/>
          </a:prstGeom>
          <a:solidFill>
            <a:srgbClr val="0D0A14"/>
          </a:solidFill>
          <a:ln w="12701" cap="flat">
            <a:solidFill>
              <a:srgbClr val="2D2040"/>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7" name="Text 25"/>
          <p:cNvSpPr/>
          <p:nvPr/>
        </p:nvSpPr>
        <p:spPr>
          <a:xfrm>
            <a:off x="3493008" y="2374499"/>
            <a:ext cx="914400" cy="164592"/>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85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Kotlin</a:t>
            </a:r>
            <a:endParaRPr lang="en-US" sz="85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p:txBody>
      </p:sp>
      <p:sp>
        <p:nvSpPr>
          <p:cNvPr id="28" name="Text 26"/>
          <p:cNvSpPr/>
          <p:nvPr/>
        </p:nvSpPr>
        <p:spPr>
          <a:xfrm>
            <a:off x="411480" y="2398287"/>
            <a:ext cx="3995928" cy="2478513"/>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Kompletny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flow wellness app</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class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WellnessEngine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nlpAnalyzer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NLPEmotionAnalyzer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hrvTracker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HRVTracker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activityTracker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ActivityTracker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private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interventionLibrary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CBTInterventions</a:t>
            </a:r>
            <a:endPar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endParaRP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suspend fun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dailyCheck</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journalEntry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String): Intervention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textEmotion</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nlpAnalyzer.analyze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journalEntry</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hrvScore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hrvTracker.getLastHour</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activity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activityTracker.getDailySteps</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Late fusion</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val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moodScore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textEmotion.valence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0.5f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hrvScore.normalized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0.3f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activity.normalized</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 0.2f</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return when {</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moodScore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&lt; -0.6f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interventionLibrary.crisisProtocol</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moodScore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&lt; -0.3f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interventionLibrary.cbtExercise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moodScore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&gt; 0.5f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interventionLibrary.maintainFlow</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9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else               -&gt; </a:t>
            </a:r>
            <a:r>
              <a:rPr lang="en-US" sz="900" b="0" i="0" u="none" strike="noStrike" kern="1200" cap="none" spc="0" baseline="0" dirty="0" err="1">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interventionLibrary.minorNudge</a:t>
            </a: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5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    }</a:t>
            </a:r>
          </a:p>
          <a:p>
            <a:pPr marL="0" marR="0" lvl="0" indent="0" algn="l" defTabSz="914400" rtl="0" fontAlgn="auto" hangingPunct="1">
              <a:lnSpc>
                <a:spcPts val="7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a:solidFill>
                  <a:schemeClr val="accent5">
                    <a:lumMod val="20000"/>
                    <a:lumOff val="80000"/>
                  </a:schemeClr>
                </a:solidFill>
                <a:uFillTx/>
                <a:latin typeface="CMU Sans Serif" panose="02000603000000000000" pitchFamily="2" charset="0"/>
                <a:ea typeface="CMU Sans Serif" panose="02000603000000000000" pitchFamily="2" charset="0"/>
                <a:cs typeface="CMU Sans Serif" panose="02000603000000000000" pitchFamily="2" charset="0"/>
              </a:rPr>
              <a:t>}</a:t>
            </a:r>
          </a:p>
        </p:txBody>
      </p:sp>
      <p:sp>
        <p:nvSpPr>
          <p:cNvPr id="29" name="Text 27"/>
          <p:cNvSpPr/>
          <p:nvPr/>
        </p:nvSpPr>
        <p:spPr>
          <a:xfrm>
            <a:off x="4617720" y="2354580"/>
            <a:ext cx="4206240" cy="237744"/>
          </a:xfrm>
          <a:prstGeom prst="rect">
            <a:avLst/>
          </a:prstGeom>
          <a:noFill/>
          <a:ln cap="flat">
            <a:noFill/>
            <a:prstDash val="solid"/>
          </a:ln>
        </p:spPr>
        <p:txBody>
          <a:bodyPr vert="horz" wrap="square" lIns="0" tIns="0" rIns="0" bIns="0" anchor="ctr" anchorCtr="0"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1" i="0" u="none" strike="noStrike" kern="1200" cap="none" spc="0" baseline="0" dirty="0" err="1">
                <a:solidFill>
                  <a:srgbClr val="1F1535"/>
                </a:solidFill>
                <a:uFillTx/>
                <a:latin typeface="Cambria" pitchFamily="34"/>
                <a:ea typeface="Cambria" pitchFamily="34"/>
                <a:cs typeface="Cambria" pitchFamily="34"/>
              </a:rPr>
              <a:t>Wyniki</a:t>
            </a:r>
            <a:r>
              <a:rPr lang="en-US" sz="1200" b="1" i="0" u="none" strike="noStrike" kern="1200" cap="none" spc="0" baseline="0" dirty="0">
                <a:solidFill>
                  <a:srgbClr val="1F1535"/>
                </a:solidFill>
                <a:uFillTx/>
                <a:latin typeface="Cambria" pitchFamily="34"/>
                <a:ea typeface="Cambria" pitchFamily="34"/>
                <a:cs typeface="Cambria" pitchFamily="34"/>
              </a:rPr>
              <a:t> </a:t>
            </a:r>
            <a:r>
              <a:rPr lang="pl-PL" sz="1200" b="1" i="0" u="none" strike="noStrike" kern="1200" cap="none" spc="0" baseline="0" dirty="0" smtClean="0">
                <a:solidFill>
                  <a:srgbClr val="1F1535"/>
                </a:solidFill>
                <a:uFillTx/>
                <a:latin typeface="Cambria" pitchFamily="34"/>
                <a:ea typeface="Cambria" pitchFamily="34"/>
                <a:cs typeface="Cambria" pitchFamily="34"/>
              </a:rPr>
              <a:t>i wnioski</a:t>
            </a:r>
            <a:endParaRPr lang="en-US" sz="1200" b="0" i="0" u="none" strike="noStrike" kern="1200" cap="none" spc="0" baseline="0" dirty="0">
              <a:solidFill>
                <a:srgbClr val="000000"/>
              </a:solidFill>
              <a:uFillTx/>
              <a:latin typeface="Calibri"/>
            </a:endParaRPr>
          </a:p>
        </p:txBody>
      </p:sp>
      <p:grpSp>
        <p:nvGrpSpPr>
          <p:cNvPr id="51" name="Grupa 50"/>
          <p:cNvGrpSpPr/>
          <p:nvPr/>
        </p:nvGrpSpPr>
        <p:grpSpPr>
          <a:xfrm>
            <a:off x="4617720" y="2632180"/>
            <a:ext cx="4206240" cy="347472"/>
            <a:chOff x="4663440" y="3822191"/>
            <a:chExt cx="4206240" cy="347472"/>
          </a:xfrm>
        </p:grpSpPr>
        <p:sp>
          <p:nvSpPr>
            <p:cNvPr id="30" name="Shape 28"/>
            <p:cNvSpPr/>
            <p:nvPr/>
          </p:nvSpPr>
          <p:spPr>
            <a:xfrm>
              <a:off x="4663440" y="3822191"/>
              <a:ext cx="4206240" cy="34747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Shape 29"/>
            <p:cNvSpPr/>
            <p:nvPr/>
          </p:nvSpPr>
          <p:spPr>
            <a:xfrm>
              <a:off x="4663440" y="3822191"/>
              <a:ext cx="54864" cy="347472"/>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2" name="Text 30"/>
            <p:cNvSpPr/>
            <p:nvPr/>
          </p:nvSpPr>
          <p:spPr>
            <a:xfrm>
              <a:off x="4773168" y="3895344"/>
              <a:ext cx="274320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a:uFillTx/>
                  <a:latin typeface="Calibri" pitchFamily="34"/>
                  <a:ea typeface="Calibri" pitchFamily="34"/>
                  <a:cs typeface="Calibri" pitchFamily="34"/>
                </a:rPr>
                <a:t>MAE </a:t>
              </a:r>
              <a:r>
                <a:rPr lang="en-US" sz="1050" b="0" i="0" u="none" strike="noStrike" kern="1200" cap="none" spc="0" baseline="0" dirty="0" err="1">
                  <a:uFillTx/>
                  <a:latin typeface="Calibri" pitchFamily="34"/>
                  <a:ea typeface="Calibri" pitchFamily="34"/>
                  <a:cs typeface="Calibri" pitchFamily="34"/>
                </a:rPr>
                <a:t>nastroju</a:t>
              </a:r>
              <a:r>
                <a:rPr lang="en-US" sz="1050" b="0" i="0" u="none" strike="noStrike" kern="1200" cap="none" spc="0" baseline="0" dirty="0">
                  <a:uFillTx/>
                  <a:latin typeface="Calibri" pitchFamily="34"/>
                  <a:ea typeface="Calibri" pitchFamily="34"/>
                  <a:cs typeface="Calibri" pitchFamily="34"/>
                </a:rPr>
                <a:t> (</a:t>
              </a:r>
              <a:r>
                <a:rPr lang="en-US" sz="1050" b="0" i="0" u="none" strike="noStrike" kern="1200" cap="none" spc="0" baseline="0" dirty="0" err="1">
                  <a:uFillTx/>
                  <a:latin typeface="Calibri" pitchFamily="34"/>
                  <a:ea typeface="Calibri" pitchFamily="34"/>
                  <a:cs typeface="Calibri" pitchFamily="34"/>
                </a:rPr>
                <a:t>predykcja</a:t>
              </a:r>
              <a:r>
                <a:rPr lang="en-US" sz="1050" b="0" i="0" u="none" strike="noStrike" kern="1200" cap="none" spc="0" baseline="0" dirty="0">
                  <a:uFillTx/>
                  <a:latin typeface="Calibri" pitchFamily="34"/>
                  <a:ea typeface="Calibri" pitchFamily="34"/>
                  <a:cs typeface="Calibri" pitchFamily="34"/>
                </a:rPr>
                <a:t> vs </a:t>
              </a:r>
              <a:r>
                <a:rPr lang="en-US" sz="1050" b="0" i="0" u="none" strike="noStrike" kern="1200" cap="none" spc="0" baseline="0" dirty="0" err="1">
                  <a:uFillTx/>
                  <a:latin typeface="Calibri" pitchFamily="34"/>
                  <a:ea typeface="Calibri" pitchFamily="34"/>
                  <a:cs typeface="Calibri" pitchFamily="34"/>
                </a:rPr>
                <a:t>samoocena</a:t>
              </a:r>
              <a:r>
                <a:rPr lang="en-US" sz="1050" b="0" i="0" u="none" strike="noStrike" kern="1200" cap="none" spc="0" baseline="0" dirty="0">
                  <a:uFillTx/>
                  <a:latin typeface="Calibri" pitchFamily="34"/>
                  <a:ea typeface="Calibri" pitchFamily="34"/>
                  <a:cs typeface="Calibri" pitchFamily="34"/>
                </a:rPr>
                <a:t>)</a:t>
              </a:r>
              <a:endParaRPr lang="en-US" sz="1050" b="0" i="0" u="none" strike="noStrike" kern="1200" cap="none" spc="0" baseline="0" dirty="0">
                <a:uFillTx/>
                <a:latin typeface="Calibri"/>
              </a:endParaRPr>
            </a:p>
          </p:txBody>
        </p:sp>
        <p:sp>
          <p:nvSpPr>
            <p:cNvPr id="33" name="Text 31"/>
            <p:cNvSpPr/>
            <p:nvPr/>
          </p:nvSpPr>
          <p:spPr>
            <a:xfrm>
              <a:off x="7589520" y="3895344"/>
              <a:ext cx="120700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891B2"/>
                  </a:solidFill>
                  <a:uFillTx/>
                  <a:latin typeface="Cambria" pitchFamily="34"/>
                  <a:ea typeface="Cambria" pitchFamily="34"/>
                  <a:cs typeface="Cambria" pitchFamily="34"/>
                </a:rPr>
                <a:t>0.82 (Skala 1–10)</a:t>
              </a:r>
              <a:endParaRPr lang="en-US" sz="1100" b="0" i="0" u="none" strike="noStrike" kern="1200" cap="none" spc="0" baseline="0">
                <a:solidFill>
                  <a:srgbClr val="000000"/>
                </a:solidFill>
                <a:uFillTx/>
                <a:latin typeface="Calibri"/>
              </a:endParaRPr>
            </a:p>
          </p:txBody>
        </p:sp>
      </p:grpSp>
      <p:grpSp>
        <p:nvGrpSpPr>
          <p:cNvPr id="53" name="Grupa 52"/>
          <p:cNvGrpSpPr/>
          <p:nvPr/>
        </p:nvGrpSpPr>
        <p:grpSpPr>
          <a:xfrm>
            <a:off x="4614672" y="3061919"/>
            <a:ext cx="4206240" cy="347472"/>
            <a:chOff x="4663440" y="4206240"/>
            <a:chExt cx="4206240" cy="347472"/>
          </a:xfrm>
        </p:grpSpPr>
        <p:sp>
          <p:nvSpPr>
            <p:cNvPr id="34" name="Shape 32"/>
            <p:cNvSpPr/>
            <p:nvPr/>
          </p:nvSpPr>
          <p:spPr>
            <a:xfrm>
              <a:off x="4663440" y="4206240"/>
              <a:ext cx="4206240" cy="347472"/>
            </a:xfrm>
            <a:prstGeom prst="rect">
              <a:avLst/>
            </a:prstGeom>
            <a:solidFill>
              <a:schemeClr val="bg1"/>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Shape 33"/>
            <p:cNvSpPr/>
            <p:nvPr/>
          </p:nvSpPr>
          <p:spPr>
            <a:xfrm>
              <a:off x="4663440" y="4206240"/>
              <a:ext cx="54864" cy="347472"/>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6" name="Text 34"/>
            <p:cNvSpPr/>
            <p:nvPr/>
          </p:nvSpPr>
          <p:spPr>
            <a:xfrm>
              <a:off x="4773168" y="4279392"/>
              <a:ext cx="274320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uFillTx/>
                  <a:latin typeface="Calibri" pitchFamily="34"/>
                  <a:ea typeface="Calibri" pitchFamily="34"/>
                  <a:cs typeface="Calibri" pitchFamily="34"/>
                </a:rPr>
                <a:t>Czas</a:t>
              </a:r>
              <a:r>
                <a:rPr lang="en-US" sz="1050" b="0" i="0" u="none" strike="noStrike" kern="1200" cap="none" spc="0" baseline="0" dirty="0">
                  <a:uFillTx/>
                  <a:latin typeface="Calibri" pitchFamily="34"/>
                  <a:ea typeface="Calibri" pitchFamily="34"/>
                  <a:cs typeface="Calibri" pitchFamily="34"/>
                </a:rPr>
                <a:t> </a:t>
              </a:r>
              <a:r>
                <a:rPr lang="en-US" sz="1050" b="0" i="0" u="none" strike="noStrike" kern="1200" cap="none" spc="0" baseline="0" dirty="0" err="1">
                  <a:uFillTx/>
                  <a:latin typeface="Calibri" pitchFamily="34"/>
                  <a:ea typeface="Calibri" pitchFamily="34"/>
                  <a:cs typeface="Calibri" pitchFamily="34"/>
                </a:rPr>
                <a:t>interwencji</a:t>
              </a:r>
              <a:r>
                <a:rPr lang="en-US" sz="1050" b="0" i="0" u="none" strike="noStrike" kern="1200" cap="none" spc="0" baseline="0" dirty="0">
                  <a:uFillTx/>
                  <a:latin typeface="Calibri" pitchFamily="34"/>
                  <a:ea typeface="Calibri" pitchFamily="34"/>
                  <a:cs typeface="Calibri" pitchFamily="34"/>
                </a:rPr>
                <a:t> od </a:t>
              </a:r>
              <a:r>
                <a:rPr lang="en-US" sz="1050" b="0" i="0" u="none" strike="noStrike" kern="1200" cap="none" spc="0" baseline="0" dirty="0" err="1">
                  <a:uFillTx/>
                  <a:latin typeface="Calibri" pitchFamily="34"/>
                  <a:ea typeface="Calibri" pitchFamily="34"/>
                  <a:cs typeface="Calibri" pitchFamily="34"/>
                </a:rPr>
                <a:t>detekcji</a:t>
              </a:r>
              <a:r>
                <a:rPr lang="en-US" sz="1050" b="0" i="0" u="none" strike="noStrike" kern="1200" cap="none" spc="0" baseline="0" dirty="0">
                  <a:uFillTx/>
                  <a:latin typeface="Calibri" pitchFamily="34"/>
                  <a:ea typeface="Calibri" pitchFamily="34"/>
                  <a:cs typeface="Calibri" pitchFamily="34"/>
                </a:rPr>
                <a:t> </a:t>
              </a:r>
              <a:r>
                <a:rPr lang="en-US" sz="1050" b="0" i="0" u="none" strike="noStrike" kern="1200" cap="none" spc="0" baseline="0" dirty="0" err="1">
                  <a:uFillTx/>
                  <a:latin typeface="Calibri" pitchFamily="34"/>
                  <a:ea typeface="Calibri" pitchFamily="34"/>
                  <a:cs typeface="Calibri" pitchFamily="34"/>
                </a:rPr>
                <a:t>kryzysu</a:t>
              </a:r>
              <a:endParaRPr lang="en-US" sz="1050" b="0" i="0" u="none" strike="noStrike" kern="1200" cap="none" spc="0" baseline="0" dirty="0">
                <a:uFillTx/>
                <a:latin typeface="Calibri"/>
              </a:endParaRPr>
            </a:p>
          </p:txBody>
        </p:sp>
        <p:sp>
          <p:nvSpPr>
            <p:cNvPr id="37" name="Text 35"/>
            <p:cNvSpPr/>
            <p:nvPr/>
          </p:nvSpPr>
          <p:spPr>
            <a:xfrm>
              <a:off x="7589520" y="4279392"/>
              <a:ext cx="120700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a:solidFill>
                    <a:srgbClr val="059669"/>
                  </a:solidFill>
                  <a:uFillTx/>
                  <a:latin typeface="Cambria" pitchFamily="34"/>
                  <a:ea typeface="Cambria" pitchFamily="34"/>
                  <a:cs typeface="Cambria" pitchFamily="34"/>
                </a:rPr>
                <a:t>&lt; 2 min </a:t>
              </a:r>
              <a:endParaRPr lang="en-US" sz="1100" b="0" i="0" u="none" strike="noStrike" kern="1200" cap="none" spc="0" baseline="0">
                <a:solidFill>
                  <a:srgbClr val="000000"/>
                </a:solidFill>
                <a:uFillTx/>
                <a:latin typeface="Calibri"/>
              </a:endParaRPr>
            </a:p>
          </p:txBody>
        </p:sp>
      </p:grpSp>
      <p:grpSp>
        <p:nvGrpSpPr>
          <p:cNvPr id="54" name="Grupa 53"/>
          <p:cNvGrpSpPr/>
          <p:nvPr/>
        </p:nvGrpSpPr>
        <p:grpSpPr>
          <a:xfrm>
            <a:off x="4614672" y="3481048"/>
            <a:ext cx="4206240" cy="347472"/>
            <a:chOff x="4663440" y="4590288"/>
            <a:chExt cx="4206240" cy="347472"/>
          </a:xfrm>
        </p:grpSpPr>
        <p:sp>
          <p:nvSpPr>
            <p:cNvPr id="38" name="Shape 36"/>
            <p:cNvSpPr/>
            <p:nvPr/>
          </p:nvSpPr>
          <p:spPr>
            <a:xfrm>
              <a:off x="4663440" y="4590288"/>
              <a:ext cx="4206240" cy="347472"/>
            </a:xfrm>
            <a:prstGeom prst="rect">
              <a:avLst/>
            </a:prstGeom>
            <a:solidFill>
              <a:srgbClr val="FFFFFF"/>
            </a:solidFill>
            <a:ln w="6345" cap="flat">
              <a:solidFill>
                <a:srgbClr val="E5E7EB"/>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9" name="Shape 37"/>
            <p:cNvSpPr/>
            <p:nvPr/>
          </p:nvSpPr>
          <p:spPr>
            <a:xfrm>
              <a:off x="4663440" y="4590288"/>
              <a:ext cx="54864" cy="347472"/>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0" name="Text 38"/>
            <p:cNvSpPr/>
            <p:nvPr/>
          </p:nvSpPr>
          <p:spPr>
            <a:xfrm>
              <a:off x="4773168" y="4663440"/>
              <a:ext cx="2743200" cy="20116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50" b="0" i="0" u="none" strike="noStrike" kern="1200" cap="none" spc="0" baseline="0" dirty="0" err="1">
                  <a:uFillTx/>
                  <a:latin typeface="Calibri" pitchFamily="34"/>
                  <a:ea typeface="Calibri" pitchFamily="34"/>
                  <a:cs typeface="Calibri" pitchFamily="34"/>
                </a:rPr>
                <a:t>Retencja</a:t>
              </a:r>
              <a:r>
                <a:rPr lang="en-US" sz="1050" b="0" i="0" u="none" strike="noStrike" kern="1200" cap="none" spc="0" baseline="0" dirty="0">
                  <a:uFillTx/>
                  <a:latin typeface="Calibri" pitchFamily="34"/>
                  <a:ea typeface="Calibri" pitchFamily="34"/>
                  <a:cs typeface="Calibri" pitchFamily="34"/>
                </a:rPr>
                <a:t> </a:t>
              </a:r>
              <a:r>
                <a:rPr lang="en-US" sz="1050" b="0" i="0" u="none" strike="noStrike" kern="1200" cap="none" spc="0" baseline="0" dirty="0" err="1">
                  <a:uFillTx/>
                  <a:latin typeface="Calibri" pitchFamily="34"/>
                  <a:ea typeface="Calibri" pitchFamily="34"/>
                  <a:cs typeface="Calibri" pitchFamily="34"/>
                </a:rPr>
                <a:t>użytkowników</a:t>
              </a:r>
              <a:r>
                <a:rPr lang="en-US" sz="1050" b="0" i="0" u="none" strike="noStrike" kern="1200" cap="none" spc="0" baseline="0" dirty="0">
                  <a:uFillTx/>
                  <a:latin typeface="Calibri" pitchFamily="34"/>
                  <a:ea typeface="Calibri" pitchFamily="34"/>
                  <a:cs typeface="Calibri" pitchFamily="34"/>
                </a:rPr>
                <a:t> (30 </a:t>
              </a:r>
              <a:r>
                <a:rPr lang="en-US" sz="1050" b="0" i="0" u="none" strike="noStrike" kern="1200" cap="none" spc="0" baseline="0" dirty="0" err="1">
                  <a:uFillTx/>
                  <a:latin typeface="Calibri" pitchFamily="34"/>
                  <a:ea typeface="Calibri" pitchFamily="34"/>
                  <a:cs typeface="Calibri" pitchFamily="34"/>
                </a:rPr>
                <a:t>dni</a:t>
              </a:r>
              <a:r>
                <a:rPr lang="en-US" sz="1050" b="0" i="0" u="none" strike="noStrike" kern="1200" cap="none" spc="0" baseline="0" dirty="0">
                  <a:uFillTx/>
                  <a:latin typeface="Calibri" pitchFamily="34"/>
                  <a:ea typeface="Calibri" pitchFamily="34"/>
                  <a:cs typeface="Calibri" pitchFamily="34"/>
                </a:rPr>
                <a:t>)</a:t>
              </a:r>
              <a:endParaRPr lang="en-US" sz="1050" b="0" i="0" u="none" strike="noStrike" kern="1200" cap="none" spc="0" baseline="0" dirty="0">
                <a:uFillTx/>
                <a:latin typeface="Calibri"/>
              </a:endParaRPr>
            </a:p>
          </p:txBody>
        </p:sp>
        <p:sp>
          <p:nvSpPr>
            <p:cNvPr id="41" name="Text 39"/>
            <p:cNvSpPr/>
            <p:nvPr/>
          </p:nvSpPr>
          <p:spPr>
            <a:xfrm>
              <a:off x="7155180" y="4663440"/>
              <a:ext cx="1641348" cy="201168"/>
            </a:xfrm>
            <a:prstGeom prst="rect">
              <a:avLst/>
            </a:prstGeom>
            <a:noFill/>
            <a:ln cap="flat">
              <a:noFill/>
              <a:prstDash val="solid"/>
            </a:ln>
          </p:spPr>
          <p:txBody>
            <a:bodyPr vert="horz" wrap="square" lIns="0" tIns="0" rIns="0" bIns="0" anchor="ctr" anchorCtr="0" compatLnSpc="1">
              <a:no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a:solidFill>
                    <a:srgbClr val="7C3AED"/>
                  </a:solidFill>
                  <a:uFillTx/>
                  <a:latin typeface="Cambria" pitchFamily="34"/>
                  <a:ea typeface="Cambria" pitchFamily="34"/>
                  <a:cs typeface="Cambria" pitchFamily="34"/>
                </a:rPr>
                <a:t>71% (vs 34% baseline)</a:t>
              </a:r>
              <a:endParaRPr lang="en-US" sz="1100" b="0" i="0" u="none" strike="noStrike" kern="1200" cap="none" spc="0" baseline="0" dirty="0">
                <a:solidFill>
                  <a:srgbClr val="000000"/>
                </a:solidFill>
                <a:uFillTx/>
                <a:latin typeface="Calibri"/>
              </a:endParaRPr>
            </a:p>
          </p:txBody>
        </p:sp>
      </p:grpSp>
      <p:grpSp>
        <p:nvGrpSpPr>
          <p:cNvPr id="52" name="Grupa 51"/>
          <p:cNvGrpSpPr/>
          <p:nvPr/>
        </p:nvGrpSpPr>
        <p:grpSpPr>
          <a:xfrm>
            <a:off x="4614672" y="3898509"/>
            <a:ext cx="4206240" cy="580571"/>
            <a:chOff x="4663440" y="4256532"/>
            <a:chExt cx="4206240" cy="580571"/>
          </a:xfrm>
        </p:grpSpPr>
        <p:sp>
          <p:nvSpPr>
            <p:cNvPr id="42" name="Shape 40"/>
            <p:cNvSpPr/>
            <p:nvPr/>
          </p:nvSpPr>
          <p:spPr>
            <a:xfrm>
              <a:off x="4663440" y="4261103"/>
              <a:ext cx="4206240" cy="576000"/>
            </a:xfrm>
            <a:prstGeom prst="rect">
              <a:avLst/>
            </a:prstGeom>
            <a:solidFill>
              <a:srgbClr val="FFFFFF"/>
            </a:solidFill>
            <a:ln w="12701" cap="flat">
              <a:solidFill>
                <a:srgbClr val="E5E7EB"/>
              </a:solidFill>
              <a:prstDash val="solid"/>
              <a:miter/>
            </a:ln>
            <a:effectLst>
              <a:outerShdw dist="25396" dir="8100000" algn="tl">
                <a:srgbClr val="000000">
                  <a:alpha val="6000"/>
                </a:srgbClr>
              </a:outerShdw>
            </a:effectLst>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3" name="Shape 41"/>
            <p:cNvSpPr/>
            <p:nvPr/>
          </p:nvSpPr>
          <p:spPr>
            <a:xfrm>
              <a:off x="4663440" y="4261103"/>
              <a:ext cx="54864" cy="576000"/>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44" name="Text 42"/>
            <p:cNvSpPr/>
            <p:nvPr/>
          </p:nvSpPr>
          <p:spPr>
            <a:xfrm>
              <a:off x="4791456" y="4256532"/>
              <a:ext cx="4023360"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100" b="1" i="0" u="none" strike="noStrike" kern="1200" cap="none" spc="0" baseline="0" dirty="0" err="1">
                  <a:solidFill>
                    <a:srgbClr val="1F1535"/>
                  </a:solidFill>
                  <a:uFillTx/>
                  <a:latin typeface="Cambria" pitchFamily="34"/>
                  <a:ea typeface="Cambria" pitchFamily="34"/>
                  <a:cs typeface="Cambria" pitchFamily="34"/>
                </a:rPr>
                <a:t>Kluczowa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lekcja</a:t>
              </a:r>
              <a:r>
                <a:rPr lang="en-US" sz="1100" b="1" i="0" u="none" strike="noStrike" kern="1200" cap="none" spc="0" baseline="0" dirty="0">
                  <a:solidFill>
                    <a:srgbClr val="1F1535"/>
                  </a:solidFill>
                  <a:uFillTx/>
                  <a:latin typeface="Cambria" pitchFamily="34"/>
                  <a:ea typeface="Cambria" pitchFamily="34"/>
                  <a:cs typeface="Cambria" pitchFamily="34"/>
                </a:rPr>
                <a:t>: </a:t>
              </a:r>
              <a:r>
                <a:rPr lang="en-US" sz="1100" b="1" i="0" u="none" strike="noStrike" kern="1200" cap="none" spc="0" baseline="0" dirty="0" err="1">
                  <a:solidFill>
                    <a:srgbClr val="1F1535"/>
                  </a:solidFill>
                  <a:uFillTx/>
                  <a:latin typeface="Cambria" pitchFamily="34"/>
                  <a:ea typeface="Cambria" pitchFamily="34"/>
                  <a:cs typeface="Cambria" pitchFamily="34"/>
                </a:rPr>
                <a:t>transparentność</a:t>
              </a:r>
              <a:endParaRPr lang="en-US" sz="1100" b="1" i="0" u="none" strike="noStrike" kern="1200" cap="none" spc="0" baseline="0" dirty="0">
                <a:solidFill>
                  <a:srgbClr val="000000"/>
                </a:solidFill>
                <a:uFillTx/>
                <a:latin typeface="Calibri"/>
              </a:endParaRPr>
            </a:p>
          </p:txBody>
        </p:sp>
        <p:sp>
          <p:nvSpPr>
            <p:cNvPr id="45" name="Text 43"/>
            <p:cNvSpPr/>
            <p:nvPr/>
          </p:nvSpPr>
          <p:spPr>
            <a:xfrm>
              <a:off x="4791456" y="4524756"/>
              <a:ext cx="4023360" cy="211836"/>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uFillTx/>
                  <a:latin typeface="Calibri" pitchFamily="34"/>
                  <a:ea typeface="Calibri" pitchFamily="34"/>
                  <a:cs typeface="Calibri" pitchFamily="34"/>
                </a:rPr>
                <a:t>Użytkownicy</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którzy</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rozumieli</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jak</a:t>
              </a:r>
              <a:r>
                <a:rPr lang="en-US" sz="1000" b="0" i="0" u="none" strike="noStrike" kern="1200" cap="none" spc="0" baseline="0" dirty="0">
                  <a:uFillTx/>
                  <a:latin typeface="Calibri" pitchFamily="34"/>
                  <a:ea typeface="Calibri" pitchFamily="34"/>
                  <a:cs typeface="Calibri" pitchFamily="34"/>
                </a:rPr>
                <a:t> system </a:t>
              </a:r>
              <a:r>
                <a:rPr lang="en-US" sz="1000" b="0" i="0" u="none" strike="noStrike" kern="1200" cap="none" spc="0" baseline="0" dirty="0" err="1">
                  <a:uFillTx/>
                  <a:latin typeface="Calibri" pitchFamily="34"/>
                  <a:ea typeface="Calibri" pitchFamily="34"/>
                  <a:cs typeface="Calibri" pitchFamily="34"/>
                </a:rPr>
                <a:t>działa</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mieli</a:t>
              </a:r>
              <a:r>
                <a:rPr lang="en-US" sz="1000" b="0" i="0" u="none" strike="noStrike" kern="1200" cap="none" spc="0" baseline="0" dirty="0">
                  <a:uFillTx/>
                  <a:latin typeface="Calibri" pitchFamily="34"/>
                  <a:ea typeface="Calibri" pitchFamily="34"/>
                  <a:cs typeface="Calibri" pitchFamily="34"/>
                </a:rPr>
                <a:t> 2× </a:t>
              </a:r>
              <a:r>
                <a:rPr lang="en-US" sz="1000" b="0" i="0" u="none" strike="noStrike" kern="1200" cap="none" spc="0" baseline="0" dirty="0" err="1">
                  <a:uFillTx/>
                  <a:latin typeface="Calibri" pitchFamily="34"/>
                  <a:ea typeface="Calibri" pitchFamily="34"/>
                  <a:cs typeface="Calibri" pitchFamily="34"/>
                </a:rPr>
                <a:t>wyższe</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zaangażowanie</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Wyjaśniaj</a:t>
              </a:r>
              <a:r>
                <a:rPr lang="en-US" sz="1000" b="0" i="0" u="none" strike="noStrike" kern="1200" cap="none" spc="0" baseline="0" dirty="0">
                  <a:uFillTx/>
                  <a:latin typeface="Calibri" pitchFamily="34"/>
                  <a:ea typeface="Calibri" pitchFamily="34"/>
                  <a:cs typeface="Calibri" pitchFamily="34"/>
                </a:rPr>
                <a:t> co </a:t>
              </a:r>
              <a:r>
                <a:rPr lang="en-US" sz="1000" b="0" i="0" u="none" strike="noStrike" kern="1200" cap="none" spc="0" baseline="0" dirty="0" err="1">
                  <a:uFillTx/>
                  <a:latin typeface="Calibri" pitchFamily="34"/>
                  <a:ea typeface="Calibri" pitchFamily="34"/>
                  <a:cs typeface="Calibri" pitchFamily="34"/>
                </a:rPr>
                <a:t>mierzysz</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po</a:t>
              </a:r>
              <a:r>
                <a:rPr lang="en-US" sz="1000" b="0" i="0" u="none" strike="noStrike" kern="1200" cap="none" spc="0" baseline="0" dirty="0">
                  <a:uFillTx/>
                  <a:latin typeface="Calibri" pitchFamily="34"/>
                  <a:ea typeface="Calibri" pitchFamily="34"/>
                  <a:cs typeface="Calibri" pitchFamily="34"/>
                </a:rPr>
                <a:t> co, co z </a:t>
              </a:r>
              <a:r>
                <a:rPr lang="en-US" sz="1000" b="0" i="0" u="none" strike="noStrike" kern="1200" cap="none" spc="0" baseline="0" dirty="0" err="1">
                  <a:uFillTx/>
                  <a:latin typeface="Calibri" pitchFamily="34"/>
                  <a:ea typeface="Calibri" pitchFamily="34"/>
                  <a:cs typeface="Calibri" pitchFamily="34"/>
                </a:rPr>
                <a:t>tym</a:t>
              </a:r>
              <a:r>
                <a:rPr lang="en-US" sz="1000" b="0" i="0" u="none" strike="noStrike" kern="1200" cap="none" spc="0" baseline="0" dirty="0">
                  <a:uFillTx/>
                  <a:latin typeface="Calibri" pitchFamily="34"/>
                  <a:ea typeface="Calibri" pitchFamily="34"/>
                  <a:cs typeface="Calibri" pitchFamily="34"/>
                </a:rPr>
                <a:t> </a:t>
              </a:r>
              <a:r>
                <a:rPr lang="en-US" sz="1000" b="0" i="0" u="none" strike="noStrike" kern="1200" cap="none" spc="0" baseline="0" dirty="0" err="1">
                  <a:uFillTx/>
                  <a:latin typeface="Calibri" pitchFamily="34"/>
                  <a:ea typeface="Calibri" pitchFamily="34"/>
                  <a:cs typeface="Calibri" pitchFamily="34"/>
                </a:rPr>
                <a:t>robisz</a:t>
              </a:r>
              <a:r>
                <a:rPr lang="en-US" sz="1000" b="0" i="0" u="none" strike="noStrike" kern="1200" cap="none" spc="0" baseline="0" dirty="0">
                  <a:uFillTx/>
                  <a:latin typeface="Calibri" pitchFamily="34"/>
                  <a:ea typeface="Calibri" pitchFamily="34"/>
                  <a:cs typeface="Calibri" pitchFamily="34"/>
                </a:rPr>
                <a:t>.</a:t>
              </a:r>
              <a:endParaRPr lang="en-US" sz="1000" b="0" i="0" u="none" strike="noStrike" kern="1200" cap="none" spc="0" baseline="0" dirty="0">
                <a:uFillTx/>
                <a:latin typeface="Calibri"/>
              </a:endParaRPr>
            </a:p>
          </p:txBody>
        </p:sp>
      </p:grpSp>
      <p:sp>
        <p:nvSpPr>
          <p:cNvPr id="55"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29</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8" name="Grupa 67"/>
          <p:cNvGrpSpPr/>
          <p:nvPr/>
        </p:nvGrpSpPr>
        <p:grpSpPr>
          <a:xfrm>
            <a:off x="0" y="0"/>
            <a:ext cx="9144000" cy="558000"/>
            <a:chOff x="0" y="0"/>
            <a:chExt cx="9144000" cy="558000"/>
          </a:xfrm>
        </p:grpSpPr>
        <p:sp>
          <p:nvSpPr>
            <p:cNvPr id="69" name="Shape 0"/>
            <p:cNvSpPr/>
            <p:nvPr/>
          </p:nvSpPr>
          <p:spPr>
            <a:xfrm>
              <a:off x="0" y="0"/>
              <a:ext cx="9144000" cy="540000"/>
            </a:xfrm>
            <a:prstGeom prst="rect">
              <a:avLst/>
            </a:prstGeom>
            <a:solidFill>
              <a:srgbClr val="120A1E"/>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70" name="Shape 1"/>
            <p:cNvSpPr/>
            <p:nvPr/>
          </p:nvSpPr>
          <p:spPr>
            <a:xfrm>
              <a:off x="0" y="522000"/>
              <a:ext cx="9144000" cy="36000"/>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grpSp>
      <p:sp>
        <p:nvSpPr>
          <p:cNvPr id="4" name="Text 2"/>
          <p:cNvSpPr/>
          <p:nvPr/>
        </p:nvSpPr>
        <p:spPr>
          <a:xfrm>
            <a:off x="320040" y="0"/>
            <a:ext cx="8280000" cy="504000"/>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ct val="100000"/>
              </a:lnSpc>
              <a:spcBef>
                <a:spcPts val="0"/>
              </a:spcBef>
              <a:spcAft>
                <a:spcPts val="0"/>
              </a:spcAft>
              <a:buNone/>
              <a:tabLst>
                <a:tab pos="0" algn="l"/>
              </a:tabLst>
              <a:defRPr lang="pl-PL" sz="1800" b="0" i="0" u="none" strike="noStrike" kern="0" cap="none" spc="0" baseline="0">
                <a:solidFill>
                  <a:srgbClr val="000000"/>
                </a:solidFill>
                <a:uFillTx/>
              </a:defRPr>
            </a:pPr>
            <a:r>
              <a:rPr lang="pl-PL" sz="2000" b="1" i="0" u="none" strike="noStrike" kern="0" cap="none" spc="0" baseline="0" dirty="0" smtClean="0">
                <a:solidFill>
                  <a:srgbClr val="FFFFFF"/>
                </a:solidFill>
                <a:uFillTx/>
                <a:latin typeface="Cambria"/>
                <a:ea typeface="Cambria"/>
                <a:cs typeface="Noto Sans Devanagari"/>
              </a:rPr>
              <a:t>Przykładowe pytania zaliczeniowe</a:t>
            </a:r>
            <a:endParaRPr lang="pl-PL" sz="1800" b="0" i="0" u="none" strike="noStrike" kern="0" cap="none" spc="0" baseline="0" dirty="0">
              <a:solidFill>
                <a:srgbClr val="000000"/>
              </a:solidFill>
              <a:uFillTx/>
              <a:latin typeface="Calibri"/>
            </a:endParaRPr>
          </a:p>
        </p:txBody>
      </p:sp>
      <p:sp>
        <p:nvSpPr>
          <p:cNvPr id="5" name="Shape 3"/>
          <p:cNvSpPr/>
          <p:nvPr/>
        </p:nvSpPr>
        <p:spPr>
          <a:xfrm>
            <a:off x="0" y="4983480"/>
            <a:ext cx="9143277" cy="159480"/>
          </a:xfrm>
          <a:prstGeom prst="rect">
            <a:avLst/>
          </a:prstGeom>
          <a:solidFill>
            <a:srgbClr val="080F1E"/>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6" name="Text 4"/>
          <p:cNvSpPr/>
          <p:nvPr/>
        </p:nvSpPr>
        <p:spPr>
          <a:xfrm>
            <a:off x="274320" y="4992477"/>
            <a:ext cx="8594637" cy="145444"/>
          </a:xfrm>
          <a:prstGeom prst="rect">
            <a:avLst/>
          </a:prstGeom>
          <a:noFill/>
          <a:ln cap="flat">
            <a:noFill/>
            <a:prstDash val="solid"/>
          </a:ln>
        </p:spPr>
        <p:txBody>
          <a:bodyPr vert="horz" wrap="square" lIns="0" tIns="0" rIns="0" bIns="0" anchor="ctr" anchorCtr="0" compatLnSpc="0">
            <a:noAutofit/>
          </a:bodyPr>
          <a:lstStyle/>
          <a:p>
            <a:pPr marL="0" marR="0" lvl="0" indent="0" algn="l" defTabSz="914400" rtl="0" fontAlgn="auto" hangingPunct="1">
              <a:lnSpc>
                <a:spcPct val="100000"/>
              </a:lnSpc>
              <a:spcBef>
                <a:spcPts val="0"/>
              </a:spcBef>
              <a:spcAft>
                <a:spcPts val="0"/>
              </a:spcAft>
              <a:buNone/>
              <a:tabLst>
                <a:tab pos="0" algn="l"/>
              </a:tabLst>
              <a:defRPr lang="pl-PL" sz="1800" b="0" i="0" u="none" strike="noStrike" kern="0" cap="none" spc="0" baseline="0">
                <a:solidFill>
                  <a:srgbClr val="000000"/>
                </a:solidFill>
                <a:uFillTx/>
              </a:defRPr>
            </a:pPr>
            <a:r>
              <a:rPr lang="pl-PL" sz="900" b="0" i="0" u="none" strike="noStrike" kern="0" cap="none" spc="0" baseline="0">
                <a:solidFill>
                  <a:srgbClr val="2A4A6A"/>
                </a:solidFill>
                <a:uFillTx/>
                <a:latin typeface="Calibri" pitchFamily="18"/>
                <a:ea typeface="Calibri" pitchFamily="2"/>
                <a:cs typeface="Noto Sans Devanagari" pitchFamily="2"/>
              </a:rPr>
              <a:t>Architektura i Budowa Urządzeń Mobilnych  | Informatyka</a:t>
            </a:r>
          </a:p>
        </p:txBody>
      </p:sp>
      <p:grpSp>
        <p:nvGrpSpPr>
          <p:cNvPr id="7" name="Grupa 47"/>
          <p:cNvGrpSpPr/>
          <p:nvPr/>
        </p:nvGrpSpPr>
        <p:grpSpPr>
          <a:xfrm>
            <a:off x="180000" y="612000"/>
            <a:ext cx="2880003" cy="1008000"/>
            <a:chOff x="214134" y="757717"/>
            <a:chExt cx="2880003" cy="973707"/>
          </a:xfrm>
        </p:grpSpPr>
        <p:sp>
          <p:nvSpPr>
            <p:cNvPr id="8" name="Shape 19"/>
            <p:cNvSpPr/>
            <p:nvPr/>
          </p:nvSpPr>
          <p:spPr>
            <a:xfrm>
              <a:off x="214134" y="757717"/>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9" name="Shape 20"/>
            <p:cNvSpPr/>
            <p:nvPr/>
          </p:nvSpPr>
          <p:spPr>
            <a:xfrm>
              <a:off x="214134" y="757717"/>
              <a:ext cx="36594" cy="971998"/>
            </a:xfrm>
            <a:prstGeom prst="rect">
              <a:avLst/>
            </a:prstGeom>
            <a:solidFill>
              <a:srgbClr val="00B4C5"/>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0" name="Text 21"/>
            <p:cNvSpPr/>
            <p:nvPr/>
          </p:nvSpPr>
          <p:spPr>
            <a:xfrm>
              <a:off x="301139" y="784911"/>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stwierdzenia najlepiej uzasadniają przewagę ciągłych modeli emocji nad klasyfikacją dyskretną?</a:t>
              </a:r>
              <a:endParaRPr lang="pl-PL" sz="850" b="1" i="0" u="none" strike="noStrike" kern="0" cap="none" spc="0" baseline="0" dirty="0">
                <a:solidFill>
                  <a:srgbClr val="000000"/>
                </a:solidFill>
                <a:uFillTx/>
                <a:latin typeface="Arial Nova" pitchFamily="34"/>
                <a:ea typeface="Calibri"/>
                <a:cs typeface="Calibri"/>
              </a:endParaRPr>
            </a:p>
          </p:txBody>
        </p:sp>
        <p:sp>
          <p:nvSpPr>
            <p:cNvPr id="11" name="Text 22"/>
            <p:cNvSpPr/>
            <p:nvPr/>
          </p:nvSpPr>
          <p:spPr>
            <a:xfrm>
              <a:off x="324209" y="1119426"/>
              <a:ext cx="2690173" cy="611998"/>
            </a:xfrm>
            <a:prstGeom prst="rect">
              <a:avLst/>
            </a:prstGeom>
            <a:noFill/>
            <a:ln cap="flat">
              <a:noFill/>
              <a:prstDash val="solid"/>
            </a:ln>
          </p:spPr>
          <p:txBody>
            <a:bodyPr vert="horz" wrap="square" lIns="0" tIns="0" rIns="0" bIns="0" anchor="ctr" anchorCtr="0" compatLnSpc="0">
              <a:noAutofit/>
            </a:bodyPr>
            <a:lstStyle/>
            <a:p>
              <a:pPr marL="108000" lvl="0" indent="-1080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Nie </a:t>
              </a:r>
              <a:r>
                <a:rPr lang="pl-PL" sz="800" kern="0" spc="-31" dirty="0">
                  <a:solidFill>
                    <a:srgbClr val="3B5168"/>
                  </a:solidFill>
                  <a:ea typeface="Calibri"/>
                  <a:cs typeface="Calibri"/>
                </a:rPr>
                <a:t>wymagają etykiet </a:t>
              </a:r>
              <a:r>
                <a:rPr lang="pl-PL" sz="800" kern="0" spc="-31" dirty="0" smtClean="0">
                  <a:solidFill>
                    <a:srgbClr val="3B5168"/>
                  </a:solidFill>
                  <a:ea typeface="Calibri"/>
                  <a:cs typeface="Calibri"/>
                </a:rPr>
                <a:t>danych</a:t>
              </a:r>
            </a:p>
            <a:p>
              <a:pPr marL="108000" lvl="0" indent="-1080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Zawsze </a:t>
              </a:r>
              <a:r>
                <a:rPr lang="pl-PL" sz="800" kern="0" spc="-31" dirty="0">
                  <a:solidFill>
                    <a:srgbClr val="3B5168"/>
                  </a:solidFill>
                  <a:ea typeface="Calibri"/>
                  <a:cs typeface="Calibri"/>
                </a:rPr>
                <a:t>są </a:t>
              </a:r>
              <a:r>
                <a:rPr lang="pl-PL" sz="800" kern="0" spc="-31" dirty="0" smtClean="0">
                  <a:solidFill>
                    <a:srgbClr val="3B5168"/>
                  </a:solidFill>
                  <a:ea typeface="Calibri"/>
                  <a:cs typeface="Calibri"/>
                </a:rPr>
                <a:t>dokładniejsze</a:t>
              </a:r>
            </a:p>
            <a:p>
              <a:pPr marL="108000" lvl="0" indent="-1080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Opisują </a:t>
              </a:r>
              <a:r>
                <a:rPr lang="pl-PL" sz="800" kern="0" spc="-31" dirty="0" err="1">
                  <a:ea typeface="Calibri"/>
                  <a:cs typeface="Calibri"/>
                </a:rPr>
                <a:t>valence</a:t>
              </a:r>
              <a:r>
                <a:rPr lang="pl-PL" sz="800" kern="0" spc="-31" dirty="0">
                  <a:ea typeface="Calibri"/>
                  <a:cs typeface="Calibri"/>
                </a:rPr>
                <a:t> i </a:t>
              </a:r>
              <a:r>
                <a:rPr lang="pl-PL" sz="800" kern="0" spc="-31" dirty="0" err="1" smtClean="0">
                  <a:ea typeface="Calibri"/>
                  <a:cs typeface="Calibri"/>
                </a:rPr>
                <a:t>arousal</a:t>
              </a:r>
              <a:endParaRPr lang="pl-PL" sz="800" kern="0" spc="-31" dirty="0" smtClean="0">
                <a:ea typeface="Calibri"/>
                <a:cs typeface="Calibri"/>
              </a:endParaRPr>
            </a:p>
            <a:p>
              <a:pPr marL="108000" lvl="0" indent="-1080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Lepiej </a:t>
              </a:r>
              <a:r>
                <a:rPr lang="pl-PL" sz="800" kern="0" spc="-31" dirty="0">
                  <a:ea typeface="Calibri"/>
                  <a:cs typeface="Calibri"/>
                </a:rPr>
                <a:t>modelują stany </a:t>
              </a:r>
              <a:r>
                <a:rPr lang="pl-PL" sz="800" kern="0" spc="-31" dirty="0" smtClean="0">
                  <a:ea typeface="Calibri"/>
                  <a:cs typeface="Calibri"/>
                </a:rPr>
                <a:t>pośrednie</a:t>
              </a:r>
              <a:endParaRPr lang="pl-PL" sz="800" kern="0" spc="-31" dirty="0">
                <a:solidFill>
                  <a:srgbClr val="3B5168"/>
                </a:solidFill>
                <a:ea typeface="Calibri"/>
                <a:cs typeface="Calibri"/>
              </a:endParaRPr>
            </a:p>
          </p:txBody>
        </p:sp>
      </p:grpSp>
      <p:sp>
        <p:nvSpPr>
          <p:cNvPr id="12" name="pole tekstowe 49"/>
          <p:cNvSpPr txBox="1"/>
          <p:nvPr/>
        </p:nvSpPr>
        <p:spPr>
          <a:xfrm>
            <a:off x="8657283" y="4985674"/>
            <a:ext cx="486003" cy="181014"/>
          </a:xfrm>
          <a:prstGeom prst="rect">
            <a:avLst/>
          </a:prstGeom>
          <a:noFill/>
          <a:ln cap="flat">
            <a:noFill/>
          </a:ln>
        </p:spPr>
        <p:txBody>
          <a:bodyPr vert="horz" wrap="square" lIns="91440" tIns="45720" rIns="91440" bIns="45720" anchor="ctr" anchorCtr="0" compatLnSpc="0">
            <a:spAutoFit/>
          </a:bodyPr>
          <a:lstStyle/>
          <a:p>
            <a:pPr marL="0" marR="0" lvl="0" indent="0" algn="r" defTabSz="914400" rtl="0" fontAlgn="auto" hangingPunct="1">
              <a:lnSpc>
                <a:spcPts val="600"/>
              </a:lnSpc>
              <a:spcBef>
                <a:spcPts val="0"/>
              </a:spcBef>
              <a:spcAft>
                <a:spcPts val="0"/>
              </a:spcAft>
              <a:buNone/>
              <a:tabLst/>
              <a:defRPr sz="1800" b="0" i="0" u="none" strike="noStrike" kern="0" cap="none" spc="0" baseline="0">
                <a:solidFill>
                  <a:srgbClr val="000000"/>
                </a:solidFill>
                <a:uFillTx/>
              </a:defRPr>
            </a:pPr>
            <a:fld id="{DE859098-6C48-4921-B037-9D6CF7DCCE3F}" type="slidenum">
              <a:t>30</a:t>
            </a:fld>
            <a:r>
              <a:rPr lang="pl-PL" sz="900" b="0" i="0" u="none" strike="noStrike" kern="1200" cap="none" spc="0" baseline="0">
                <a:solidFill>
                  <a:srgbClr val="FFFFFF"/>
                </a:solidFill>
                <a:uFillTx/>
                <a:latin typeface="Calibri" pitchFamily="18"/>
                <a:ea typeface="Noto Sans CJK SC" pitchFamily="2"/>
                <a:cs typeface="Noto Sans Devanagari" pitchFamily="2"/>
              </a:rPr>
              <a:t>/30</a:t>
            </a:r>
          </a:p>
        </p:txBody>
      </p:sp>
      <p:grpSp>
        <p:nvGrpSpPr>
          <p:cNvPr id="13" name="Grupa 47"/>
          <p:cNvGrpSpPr/>
          <p:nvPr/>
        </p:nvGrpSpPr>
        <p:grpSpPr>
          <a:xfrm>
            <a:off x="180000" y="1692000"/>
            <a:ext cx="2893142" cy="1008000"/>
            <a:chOff x="180000" y="1805162"/>
            <a:chExt cx="2893142" cy="973698"/>
          </a:xfrm>
        </p:grpSpPr>
        <p:sp>
          <p:nvSpPr>
            <p:cNvPr id="14" name="Shape 19"/>
            <p:cNvSpPr/>
            <p:nvPr/>
          </p:nvSpPr>
          <p:spPr>
            <a:xfrm>
              <a:off x="180000" y="1805162"/>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5" name="Shape 20"/>
            <p:cNvSpPr/>
            <p:nvPr/>
          </p:nvSpPr>
          <p:spPr>
            <a:xfrm>
              <a:off x="180000" y="1805162"/>
              <a:ext cx="36594" cy="971998"/>
            </a:xfrm>
            <a:prstGeom prst="rect">
              <a:avLst/>
            </a:prstGeom>
            <a:solidFill>
              <a:srgbClr val="ED7D31"/>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16" name="Text 21"/>
            <p:cNvSpPr/>
            <p:nvPr/>
          </p:nvSpPr>
          <p:spPr>
            <a:xfrm>
              <a:off x="301139" y="1825672"/>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cechy sprawiają, że EDA/GSR jest użytecznym kanałem afektywnym?</a:t>
              </a:r>
              <a:endParaRPr lang="pl-PL" sz="850" b="1" i="0" u="none" strike="noStrike" kern="0" cap="none" spc="0" baseline="0" dirty="0">
                <a:solidFill>
                  <a:srgbClr val="000000"/>
                </a:solidFill>
                <a:uFillTx/>
                <a:latin typeface="Arial Nova" pitchFamily="34"/>
                <a:ea typeface="Calibri"/>
                <a:cs typeface="Calibri"/>
              </a:endParaRPr>
            </a:p>
          </p:txBody>
        </p:sp>
        <p:sp>
          <p:nvSpPr>
            <p:cNvPr id="17" name="Text 22"/>
            <p:cNvSpPr/>
            <p:nvPr/>
          </p:nvSpPr>
          <p:spPr>
            <a:xfrm>
              <a:off x="324209" y="2166862"/>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Rozróżnia wszystkie </a:t>
              </a:r>
              <a:r>
                <a:rPr lang="pl-PL" sz="800" kern="0" spc="-31" dirty="0" smtClean="0">
                  <a:solidFill>
                    <a:srgbClr val="3B5168"/>
                  </a:solidFill>
                  <a:ea typeface="Calibri"/>
                  <a:cs typeface="Calibri"/>
                </a:rPr>
                <a:t>emocje</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Nie </a:t>
              </a:r>
              <a:r>
                <a:rPr lang="pl-PL" sz="800" kern="0" spc="-31" dirty="0">
                  <a:solidFill>
                    <a:srgbClr val="3B5168"/>
                  </a:solidFill>
                  <a:ea typeface="Calibri"/>
                  <a:cs typeface="Calibri"/>
                </a:rPr>
                <a:t>wymaga </a:t>
              </a:r>
              <a:r>
                <a:rPr lang="pl-PL" sz="800" kern="0" spc="-31" dirty="0" smtClean="0">
                  <a:solidFill>
                    <a:srgbClr val="3B5168"/>
                  </a:solidFill>
                  <a:ea typeface="Calibri"/>
                  <a:cs typeface="Calibri"/>
                </a:rPr>
                <a:t>kalibracji</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Wiąże </a:t>
              </a:r>
              <a:r>
                <a:rPr lang="pl-PL" sz="800" kern="0" spc="-31" dirty="0">
                  <a:ea typeface="Calibri"/>
                  <a:cs typeface="Calibri"/>
                </a:rPr>
                <a:t>się z </a:t>
              </a:r>
              <a:r>
                <a:rPr lang="pl-PL" sz="800" kern="0" spc="-31" dirty="0" smtClean="0">
                  <a:ea typeface="Calibri"/>
                  <a:cs typeface="Calibri"/>
                </a:rPr>
                <a:t>pobudzeniem</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Umożliwia </a:t>
              </a:r>
              <a:r>
                <a:rPr lang="pl-PL" sz="800" kern="0" spc="-31" dirty="0">
                  <a:ea typeface="Calibri"/>
                  <a:cs typeface="Calibri"/>
                </a:rPr>
                <a:t>analizę tonic i </a:t>
              </a:r>
              <a:r>
                <a:rPr lang="pl-PL" sz="800" kern="0" spc="-31" dirty="0" err="1" smtClean="0">
                  <a:ea typeface="Calibri"/>
                  <a:cs typeface="Calibri"/>
                </a:rPr>
                <a:t>phasic</a:t>
              </a:r>
              <a:endParaRPr lang="en-US" sz="800" b="0" i="0" u="none" strike="noStrike" kern="0" cap="none" spc="-31" baseline="0" dirty="0">
                <a:solidFill>
                  <a:srgbClr val="000000"/>
                </a:solidFill>
                <a:uFillTx/>
                <a:latin typeface="Calibri"/>
                <a:ea typeface="Calibri"/>
                <a:cs typeface="Calibri"/>
              </a:endParaRPr>
            </a:p>
          </p:txBody>
        </p:sp>
      </p:grpSp>
      <p:grpSp>
        <p:nvGrpSpPr>
          <p:cNvPr id="18" name="Grupa 47"/>
          <p:cNvGrpSpPr/>
          <p:nvPr/>
        </p:nvGrpSpPr>
        <p:grpSpPr>
          <a:xfrm>
            <a:off x="180000" y="2772000"/>
            <a:ext cx="2880003" cy="1008000"/>
            <a:chOff x="214134" y="2809969"/>
            <a:chExt cx="2880003" cy="988210"/>
          </a:xfrm>
        </p:grpSpPr>
        <p:sp>
          <p:nvSpPr>
            <p:cNvPr id="19" name="Shape 19"/>
            <p:cNvSpPr/>
            <p:nvPr/>
          </p:nvSpPr>
          <p:spPr>
            <a:xfrm>
              <a:off x="214134" y="2809969"/>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0" name="Shape 20"/>
            <p:cNvSpPr/>
            <p:nvPr/>
          </p:nvSpPr>
          <p:spPr>
            <a:xfrm>
              <a:off x="214134" y="2809969"/>
              <a:ext cx="36000" cy="971998"/>
            </a:xfrm>
            <a:prstGeom prst="rect">
              <a:avLst/>
            </a:prstGeom>
            <a:solidFill>
              <a:srgbClr val="548235"/>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1" name="Text 21"/>
            <p:cNvSpPr/>
            <p:nvPr/>
          </p:nvSpPr>
          <p:spPr>
            <a:xfrm>
              <a:off x="301139" y="2850504"/>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Dlaczego mimika twarzy nie powinna być traktowana jako prosty odczyt emocji?</a:t>
              </a:r>
              <a:endParaRPr lang="pl-PL" sz="850" b="1" i="0" u="none" strike="noStrike" kern="0" cap="none" spc="0" baseline="0" dirty="0">
                <a:solidFill>
                  <a:srgbClr val="000000"/>
                </a:solidFill>
                <a:uFillTx/>
                <a:latin typeface="Arial Nova" pitchFamily="34"/>
                <a:ea typeface="Calibri"/>
                <a:cs typeface="Calibri"/>
              </a:endParaRPr>
            </a:p>
          </p:txBody>
        </p:sp>
        <p:sp>
          <p:nvSpPr>
            <p:cNvPr id="22" name="Text 22"/>
            <p:cNvSpPr/>
            <p:nvPr/>
          </p:nvSpPr>
          <p:spPr>
            <a:xfrm>
              <a:off x="324209" y="3186181"/>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Jest całkowicie </a:t>
              </a:r>
              <a:r>
                <a:rPr lang="pl-PL" sz="800" kern="0" spc="-31" dirty="0" smtClean="0">
                  <a:solidFill>
                    <a:srgbClr val="3B5168"/>
                  </a:solidFill>
                  <a:ea typeface="Calibri"/>
                  <a:cs typeface="Calibri"/>
                </a:rPr>
                <a:t>obiektywna</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Ma </a:t>
              </a:r>
              <a:r>
                <a:rPr lang="pl-PL" sz="800" kern="0" spc="-31" dirty="0">
                  <a:solidFill>
                    <a:srgbClr val="3B5168"/>
                  </a:solidFill>
                  <a:ea typeface="Calibri"/>
                  <a:cs typeface="Calibri"/>
                </a:rPr>
                <a:t>uniwersalne </a:t>
              </a:r>
              <a:r>
                <a:rPr lang="pl-PL" sz="800" kern="0" spc="-31" dirty="0" smtClean="0">
                  <a:solidFill>
                    <a:srgbClr val="3B5168"/>
                  </a:solidFill>
                  <a:ea typeface="Calibri"/>
                  <a:cs typeface="Calibri"/>
                </a:rPr>
                <a:t>znaczenie</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Zależy </a:t>
              </a:r>
              <a:r>
                <a:rPr lang="pl-PL" sz="800" kern="0" spc="-31" dirty="0">
                  <a:ea typeface="Calibri"/>
                  <a:cs typeface="Calibri"/>
                </a:rPr>
                <a:t>od osoby i </a:t>
              </a:r>
              <a:r>
                <a:rPr lang="pl-PL" sz="800" kern="0" spc="-31" dirty="0" smtClean="0">
                  <a:ea typeface="Calibri"/>
                  <a:cs typeface="Calibri"/>
                </a:rPr>
                <a:t>kultury</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Nie </a:t>
              </a:r>
              <a:r>
                <a:rPr lang="pl-PL" sz="800" kern="0" spc="-31" dirty="0">
                  <a:ea typeface="Calibri"/>
                  <a:cs typeface="Calibri"/>
                </a:rPr>
                <a:t>zawsze odzwierciedla stan </a:t>
              </a:r>
              <a:r>
                <a:rPr lang="pl-PL" sz="800" kern="0" spc="-31" dirty="0" smtClean="0">
                  <a:ea typeface="Calibri"/>
                  <a:cs typeface="Calibri"/>
                </a:rPr>
                <a:t>wewnętrzny</a:t>
              </a:r>
              <a:endParaRPr lang="pl-PL" sz="800" b="0" i="0" u="none" strike="noStrike" kern="0" cap="none" spc="-31" baseline="0" dirty="0">
                <a:solidFill>
                  <a:srgbClr val="000000"/>
                </a:solidFill>
                <a:uFillTx/>
                <a:latin typeface="Calibri"/>
                <a:ea typeface="Calibri"/>
                <a:cs typeface="Calibri"/>
              </a:endParaRPr>
            </a:p>
          </p:txBody>
        </p:sp>
      </p:grpSp>
      <p:grpSp>
        <p:nvGrpSpPr>
          <p:cNvPr id="23" name="Grupa 47"/>
          <p:cNvGrpSpPr/>
          <p:nvPr/>
        </p:nvGrpSpPr>
        <p:grpSpPr>
          <a:xfrm>
            <a:off x="180000" y="3852000"/>
            <a:ext cx="2893142" cy="1008000"/>
            <a:chOff x="180000" y="3841613"/>
            <a:chExt cx="2893142" cy="973698"/>
          </a:xfrm>
        </p:grpSpPr>
        <p:sp>
          <p:nvSpPr>
            <p:cNvPr id="24" name="Shape 19"/>
            <p:cNvSpPr/>
            <p:nvPr/>
          </p:nvSpPr>
          <p:spPr>
            <a:xfrm>
              <a:off x="180000" y="3841613"/>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5" name="Shape 20"/>
            <p:cNvSpPr/>
            <p:nvPr/>
          </p:nvSpPr>
          <p:spPr>
            <a:xfrm>
              <a:off x="180000" y="3841613"/>
              <a:ext cx="36000" cy="971998"/>
            </a:xfrm>
            <a:prstGeom prst="rect">
              <a:avLst/>
            </a:prstGeom>
            <a:solidFill>
              <a:srgbClr val="AF218A"/>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26" name="Text 21"/>
            <p:cNvSpPr/>
            <p:nvPr/>
          </p:nvSpPr>
          <p:spPr>
            <a:xfrm>
              <a:off x="301139" y="3868798"/>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decyzje są uzasadnione przy projektowaniu mobilnego systemu SER?</a:t>
              </a:r>
              <a:endParaRPr lang="pl-PL" sz="850" b="1" i="0" u="none" strike="noStrike" kern="0" cap="none" spc="0" baseline="0" dirty="0">
                <a:solidFill>
                  <a:srgbClr val="000000"/>
                </a:solidFill>
                <a:uFillTx/>
                <a:latin typeface="Arial Nova" pitchFamily="34"/>
                <a:ea typeface="Calibri"/>
                <a:cs typeface="Calibri"/>
              </a:endParaRPr>
            </a:p>
          </p:txBody>
        </p:sp>
        <p:sp>
          <p:nvSpPr>
            <p:cNvPr id="27" name="Text 22"/>
            <p:cNvSpPr/>
            <p:nvPr/>
          </p:nvSpPr>
          <p:spPr>
            <a:xfrm>
              <a:off x="324209" y="4203313"/>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Należy używać tylko </a:t>
              </a:r>
              <a:r>
                <a:rPr lang="pl-PL" sz="800" kern="0" spc="-31" dirty="0" smtClean="0">
                  <a:solidFill>
                    <a:srgbClr val="3B5168"/>
                  </a:solidFill>
                  <a:ea typeface="Calibri"/>
                  <a:cs typeface="Calibri"/>
                </a:rPr>
                <a:t>PCM</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Prozodia </a:t>
              </a:r>
              <a:r>
                <a:rPr lang="pl-PL" sz="800" kern="0" spc="-31" dirty="0">
                  <a:solidFill>
                    <a:srgbClr val="3B5168"/>
                  </a:solidFill>
                  <a:ea typeface="Calibri"/>
                  <a:cs typeface="Calibri"/>
                </a:rPr>
                <a:t>i tekst to ten sam </a:t>
              </a:r>
              <a:r>
                <a:rPr lang="pl-PL" sz="800" kern="0" spc="-31" dirty="0" smtClean="0">
                  <a:solidFill>
                    <a:srgbClr val="3B5168"/>
                  </a:solidFill>
                  <a:ea typeface="Calibri"/>
                  <a:cs typeface="Calibri"/>
                </a:rPr>
                <a:t>kanał</a:t>
              </a:r>
              <a:endParaRPr lang="pl-PL" sz="800" kern="0" spc="-31" dirty="0">
                <a:solidFill>
                  <a:srgbClr val="3B5168"/>
                </a:solidFill>
                <a:ea typeface="Calibri"/>
                <a:cs typeface="Calibri"/>
              </a:endParaRP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Warto </a:t>
              </a:r>
              <a:r>
                <a:rPr lang="pl-PL" sz="800" kern="0" spc="-31" dirty="0">
                  <a:ea typeface="Calibri"/>
                  <a:cs typeface="Calibri"/>
                </a:rPr>
                <a:t>używać MFCC lub </a:t>
              </a:r>
              <a:r>
                <a:rPr lang="pl-PL" sz="800" kern="0" spc="-31" dirty="0" err="1" smtClean="0">
                  <a:ea typeface="Calibri"/>
                  <a:cs typeface="Calibri"/>
                </a:rPr>
                <a:t>mel</a:t>
              </a:r>
              <a:r>
                <a:rPr lang="pl-PL" sz="800" kern="0" spc="-31" dirty="0" smtClean="0">
                  <a:ea typeface="Calibri"/>
                  <a:cs typeface="Calibri"/>
                </a:rPr>
                <a:t>-spektrogramów</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Warto </a:t>
              </a:r>
              <a:r>
                <a:rPr lang="pl-PL" sz="800" kern="0" spc="-31" dirty="0">
                  <a:ea typeface="Calibri"/>
                  <a:cs typeface="Calibri"/>
                </a:rPr>
                <a:t>stosować małe modele </a:t>
              </a:r>
              <a:r>
                <a:rPr lang="pl-PL" sz="800" kern="0" spc="-31" dirty="0" smtClean="0">
                  <a:ea typeface="Calibri"/>
                  <a:cs typeface="Calibri"/>
                </a:rPr>
                <a:t>mobilne</a:t>
              </a:r>
              <a:endParaRPr lang="pl-PL" sz="800" b="0" i="0" u="none" strike="noStrike" kern="0" cap="none" spc="-31" baseline="0" dirty="0">
                <a:uFillTx/>
                <a:latin typeface="Calibri"/>
                <a:ea typeface="Calibri"/>
                <a:cs typeface="Calibri"/>
              </a:endParaRPr>
            </a:p>
          </p:txBody>
        </p:sp>
      </p:grpSp>
      <p:grpSp>
        <p:nvGrpSpPr>
          <p:cNvPr id="28" name="Grupa 47"/>
          <p:cNvGrpSpPr/>
          <p:nvPr/>
        </p:nvGrpSpPr>
        <p:grpSpPr>
          <a:xfrm>
            <a:off x="3150000" y="612000"/>
            <a:ext cx="2880003" cy="1008000"/>
            <a:chOff x="3159279" y="756016"/>
            <a:chExt cx="2880003" cy="973707"/>
          </a:xfrm>
        </p:grpSpPr>
        <p:sp>
          <p:nvSpPr>
            <p:cNvPr id="29" name="Shape 19"/>
            <p:cNvSpPr/>
            <p:nvPr/>
          </p:nvSpPr>
          <p:spPr>
            <a:xfrm>
              <a:off x="3159279" y="756016"/>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0" name="Shape 20"/>
            <p:cNvSpPr/>
            <p:nvPr/>
          </p:nvSpPr>
          <p:spPr>
            <a:xfrm>
              <a:off x="3163129" y="756016"/>
              <a:ext cx="36594" cy="971998"/>
            </a:xfrm>
            <a:prstGeom prst="rect">
              <a:avLst/>
            </a:prstGeom>
            <a:solidFill>
              <a:srgbClr val="F1A069"/>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1" name="Text 21"/>
            <p:cNvSpPr/>
            <p:nvPr/>
          </p:nvSpPr>
          <p:spPr>
            <a:xfrm>
              <a:off x="3250134" y="783211"/>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stwierdzenia o LLM w analizie afektywnej są trafne?</a:t>
              </a:r>
              <a:endParaRPr lang="pl-PL" sz="850" b="1" i="0" u="none" strike="noStrike" kern="0" cap="none" spc="0" baseline="0" dirty="0">
                <a:solidFill>
                  <a:srgbClr val="000000"/>
                </a:solidFill>
                <a:uFillTx/>
                <a:latin typeface="Arial Nova" pitchFamily="34"/>
                <a:ea typeface="Calibri"/>
                <a:cs typeface="Calibri"/>
              </a:endParaRPr>
            </a:p>
          </p:txBody>
        </p:sp>
        <p:sp>
          <p:nvSpPr>
            <p:cNvPr id="32" name="Text 22"/>
            <p:cNvSpPr/>
            <p:nvPr/>
          </p:nvSpPr>
          <p:spPr>
            <a:xfrm>
              <a:off x="3273204" y="1117725"/>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Nadają się do każdej pętli czasu </a:t>
              </a:r>
              <a:r>
                <a:rPr lang="pl-PL" sz="800" kern="0" spc="-31" dirty="0" smtClean="0">
                  <a:solidFill>
                    <a:srgbClr val="3B5168"/>
                  </a:solidFill>
                  <a:ea typeface="Calibri"/>
                  <a:cs typeface="Calibri"/>
                </a:rPr>
                <a:t>rzeczywistego</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Nie </a:t>
              </a:r>
              <a:r>
                <a:rPr lang="pl-PL" sz="800" kern="0" spc="-31" dirty="0">
                  <a:solidFill>
                    <a:srgbClr val="3B5168"/>
                  </a:solidFill>
                  <a:ea typeface="Calibri"/>
                  <a:cs typeface="Calibri"/>
                </a:rPr>
                <a:t>potrzebują dodatkowej </a:t>
              </a:r>
              <a:r>
                <a:rPr lang="pl-PL" sz="800" kern="0" spc="-31" dirty="0" smtClean="0">
                  <a:solidFill>
                    <a:srgbClr val="3B5168"/>
                  </a:solidFill>
                  <a:ea typeface="Calibri"/>
                  <a:cs typeface="Calibri"/>
                </a:rPr>
                <a:t>orkiestracji</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Dobrze </a:t>
              </a:r>
              <a:r>
                <a:rPr lang="pl-PL" sz="800" kern="0" spc="-31" dirty="0">
                  <a:ea typeface="Calibri"/>
                  <a:cs typeface="Calibri"/>
                </a:rPr>
                <a:t>wykorzystują kontekst </a:t>
              </a:r>
              <a:r>
                <a:rPr lang="pl-PL" sz="800" kern="0" spc="-31" dirty="0" smtClean="0">
                  <a:ea typeface="Calibri"/>
                  <a:cs typeface="Calibri"/>
                </a:rPr>
                <a:t>wypowiedzi</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Architektura </a:t>
              </a:r>
              <a:r>
                <a:rPr lang="pl-PL" sz="800" kern="0" spc="-31" dirty="0">
                  <a:ea typeface="Calibri"/>
                  <a:cs typeface="Calibri"/>
                </a:rPr>
                <a:t>hybrydowa bywa </a:t>
              </a:r>
              <a:r>
                <a:rPr lang="pl-PL" sz="800" kern="0" spc="-31" dirty="0" smtClean="0">
                  <a:ea typeface="Calibri"/>
                  <a:cs typeface="Calibri"/>
                </a:rPr>
                <a:t>praktyczna</a:t>
              </a:r>
              <a:endParaRPr lang="pl-PL" sz="800" b="0" i="0" u="none" strike="noStrike" kern="0" cap="none" spc="-31" baseline="0" dirty="0">
                <a:uFillTx/>
                <a:latin typeface="Calibri"/>
                <a:ea typeface="Calibri"/>
                <a:cs typeface="Calibri"/>
              </a:endParaRPr>
            </a:p>
          </p:txBody>
        </p:sp>
      </p:grpSp>
      <p:grpSp>
        <p:nvGrpSpPr>
          <p:cNvPr id="33" name="Grupa 47"/>
          <p:cNvGrpSpPr/>
          <p:nvPr/>
        </p:nvGrpSpPr>
        <p:grpSpPr>
          <a:xfrm>
            <a:off x="3150000" y="1692000"/>
            <a:ext cx="2880003" cy="1008000"/>
            <a:chOff x="3163129" y="1803461"/>
            <a:chExt cx="2880003" cy="973699"/>
          </a:xfrm>
        </p:grpSpPr>
        <p:sp>
          <p:nvSpPr>
            <p:cNvPr id="34" name="Shape 19"/>
            <p:cNvSpPr/>
            <p:nvPr/>
          </p:nvSpPr>
          <p:spPr>
            <a:xfrm>
              <a:off x="3163129" y="1803461"/>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5" name="Shape 20"/>
            <p:cNvSpPr/>
            <p:nvPr/>
          </p:nvSpPr>
          <p:spPr>
            <a:xfrm>
              <a:off x="3163129" y="1803461"/>
              <a:ext cx="36594" cy="971998"/>
            </a:xfrm>
            <a:prstGeom prst="rect">
              <a:avLst/>
            </a:prstGeom>
            <a:solidFill>
              <a:srgbClr val="2E75B6"/>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36" name="Text 21"/>
            <p:cNvSpPr/>
            <p:nvPr/>
          </p:nvSpPr>
          <p:spPr>
            <a:xfrm>
              <a:off x="3250134" y="1823971"/>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smtClean="0">
                  <a:solidFill>
                    <a:srgbClr val="182030"/>
                  </a:solidFill>
                  <a:latin typeface="Arial Nova" pitchFamily="34"/>
                  <a:ea typeface="Calibri"/>
                  <a:cs typeface="Calibri"/>
                </a:rPr>
                <a:t>Które </a:t>
              </a:r>
              <a:r>
                <a:rPr lang="pl-PL" sz="850" b="1" kern="0" dirty="0">
                  <a:solidFill>
                    <a:srgbClr val="182030"/>
                  </a:solidFill>
                  <a:latin typeface="Arial Nova" pitchFamily="34"/>
                  <a:ea typeface="Calibri"/>
                  <a:cs typeface="Calibri"/>
                </a:rPr>
                <a:t>zalety ma </a:t>
              </a:r>
              <a:r>
                <a:rPr lang="pl-PL" sz="850" b="1" kern="0" dirty="0" err="1">
                  <a:solidFill>
                    <a:srgbClr val="182030"/>
                  </a:solidFill>
                  <a:latin typeface="Arial Nova" pitchFamily="34"/>
                  <a:ea typeface="Calibri"/>
                  <a:cs typeface="Calibri"/>
                </a:rPr>
                <a:t>late</a:t>
              </a:r>
              <a:r>
                <a:rPr lang="pl-PL" sz="850" b="1" kern="0" dirty="0">
                  <a:solidFill>
                    <a:srgbClr val="182030"/>
                  </a:solidFill>
                  <a:latin typeface="Arial Nova" pitchFamily="34"/>
                  <a:ea typeface="Calibri"/>
                  <a:cs typeface="Calibri"/>
                </a:rPr>
                <a:t> </a:t>
              </a:r>
              <a:r>
                <a:rPr lang="pl-PL" sz="850" b="1" kern="0" dirty="0" err="1">
                  <a:solidFill>
                    <a:srgbClr val="182030"/>
                  </a:solidFill>
                  <a:latin typeface="Arial Nova" pitchFamily="34"/>
                  <a:ea typeface="Calibri"/>
                  <a:cs typeface="Calibri"/>
                </a:rPr>
                <a:t>fusion</a:t>
              </a:r>
              <a:r>
                <a:rPr lang="pl-PL" sz="850" b="1" kern="0" dirty="0">
                  <a:solidFill>
                    <a:srgbClr val="182030"/>
                  </a:solidFill>
                  <a:latin typeface="Arial Nova" pitchFamily="34"/>
                  <a:ea typeface="Calibri"/>
                  <a:cs typeface="Calibri"/>
                </a:rPr>
                <a:t> w systemach multimodalnych?</a:t>
              </a:r>
              <a:endParaRPr lang="pl-PL" sz="850" b="1" i="0" u="none" strike="noStrike" kern="0" cap="none" spc="0" baseline="0" dirty="0">
                <a:solidFill>
                  <a:srgbClr val="000000"/>
                </a:solidFill>
                <a:uFillTx/>
                <a:latin typeface="Arial Nova" pitchFamily="34"/>
                <a:ea typeface="Calibri"/>
                <a:cs typeface="Calibri"/>
              </a:endParaRPr>
            </a:p>
          </p:txBody>
        </p:sp>
        <p:sp>
          <p:nvSpPr>
            <p:cNvPr id="37" name="Text 22"/>
            <p:cNvSpPr/>
            <p:nvPr/>
          </p:nvSpPr>
          <p:spPr>
            <a:xfrm>
              <a:off x="3273204" y="2165162"/>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Wymaga </a:t>
              </a:r>
              <a:r>
                <a:rPr lang="pl-PL" sz="800" kern="0" spc="-31" dirty="0">
                  <a:solidFill>
                    <a:srgbClr val="3B5168"/>
                  </a:solidFill>
                  <a:ea typeface="Calibri"/>
                  <a:cs typeface="Calibri"/>
                </a:rPr>
                <a:t>pełnej synchronizacji </a:t>
              </a:r>
              <a:r>
                <a:rPr lang="pl-PL" sz="800" kern="0" spc="-31" dirty="0" smtClean="0">
                  <a:solidFill>
                    <a:srgbClr val="3B5168"/>
                  </a:solidFill>
                  <a:ea typeface="Calibri"/>
                  <a:cs typeface="Calibri"/>
                </a:rPr>
                <a:t>ramek</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Zawsze </a:t>
              </a:r>
              <a:r>
                <a:rPr lang="pl-PL" sz="800" kern="0" spc="-31" dirty="0">
                  <a:solidFill>
                    <a:srgbClr val="3B5168"/>
                  </a:solidFill>
                  <a:ea typeface="Calibri"/>
                  <a:cs typeface="Calibri"/>
                </a:rPr>
                <a:t>przewyższa </a:t>
              </a:r>
              <a:r>
                <a:rPr lang="pl-PL" sz="800" kern="0" spc="-31" dirty="0" err="1">
                  <a:solidFill>
                    <a:srgbClr val="3B5168"/>
                  </a:solidFill>
                  <a:ea typeface="Calibri"/>
                  <a:cs typeface="Calibri"/>
                </a:rPr>
                <a:t>attention</a:t>
              </a:r>
              <a:r>
                <a:rPr lang="pl-PL" sz="800" kern="0" spc="-31" dirty="0">
                  <a:solidFill>
                    <a:srgbClr val="3B5168"/>
                  </a:solidFill>
                  <a:ea typeface="Calibri"/>
                  <a:cs typeface="Calibri"/>
                </a:rPr>
                <a:t> </a:t>
              </a:r>
              <a:r>
                <a:rPr lang="pl-PL" sz="800" kern="0" spc="-31" dirty="0" smtClean="0">
                  <a:solidFill>
                    <a:srgbClr val="3B5168"/>
                  </a:solidFill>
                  <a:ea typeface="Calibri"/>
                  <a:cs typeface="Calibri"/>
                </a:rPr>
                <a:t>Fusion</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Działa </a:t>
              </a:r>
              <a:r>
                <a:rPr lang="pl-PL" sz="800" kern="0" spc="-31" dirty="0">
                  <a:ea typeface="Calibri"/>
                  <a:cs typeface="Calibri"/>
                </a:rPr>
                <a:t>mimo braku części </a:t>
              </a:r>
              <a:r>
                <a:rPr lang="pl-PL" sz="800" kern="0" spc="-31" dirty="0" err="1" smtClean="0">
                  <a:ea typeface="Calibri"/>
                  <a:cs typeface="Calibri"/>
                </a:rPr>
                <a:t>modalnośc</a:t>
              </a:r>
              <a:endParaRPr lang="pl-PL" sz="800" kern="0" spc="-31" dirty="0" smtClean="0">
                <a:ea typeface="Calibri"/>
                <a:cs typeface="Calibri"/>
              </a:endParaRP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Pozwala </a:t>
              </a:r>
              <a:r>
                <a:rPr lang="pl-PL" sz="800" kern="0" spc="-31" dirty="0">
                  <a:ea typeface="Calibri"/>
                  <a:cs typeface="Calibri"/>
                </a:rPr>
                <a:t>łączyć wyniki osobnych modeli.</a:t>
              </a:r>
              <a:endParaRPr lang="pl-PL" sz="800" b="0" i="0" u="none" strike="noStrike" kern="0" cap="none" spc="-31" baseline="0" dirty="0">
                <a:uFillTx/>
                <a:latin typeface="Calibri"/>
                <a:ea typeface="Calibri"/>
                <a:cs typeface="Calibri"/>
              </a:endParaRPr>
            </a:p>
          </p:txBody>
        </p:sp>
      </p:grpSp>
      <p:grpSp>
        <p:nvGrpSpPr>
          <p:cNvPr id="38" name="Grupa 47"/>
          <p:cNvGrpSpPr/>
          <p:nvPr/>
        </p:nvGrpSpPr>
        <p:grpSpPr>
          <a:xfrm>
            <a:off x="3150000" y="2772000"/>
            <a:ext cx="2880003" cy="1008000"/>
            <a:chOff x="3163129" y="2808268"/>
            <a:chExt cx="2880003" cy="973698"/>
          </a:xfrm>
        </p:grpSpPr>
        <p:sp>
          <p:nvSpPr>
            <p:cNvPr id="39" name="Shape 19"/>
            <p:cNvSpPr/>
            <p:nvPr/>
          </p:nvSpPr>
          <p:spPr>
            <a:xfrm>
              <a:off x="3163129" y="2808268"/>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0" name="Shape 20"/>
            <p:cNvSpPr/>
            <p:nvPr/>
          </p:nvSpPr>
          <p:spPr>
            <a:xfrm>
              <a:off x="3163129" y="2808268"/>
              <a:ext cx="36594" cy="971998"/>
            </a:xfrm>
            <a:prstGeom prst="rect">
              <a:avLst/>
            </a:prstGeom>
            <a:solidFill>
              <a:srgbClr val="FFD966"/>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1" name="Text 21"/>
            <p:cNvSpPr/>
            <p:nvPr/>
          </p:nvSpPr>
          <p:spPr>
            <a:xfrm>
              <a:off x="3250134" y="2848804"/>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zasady są kluczowe dla </a:t>
              </a:r>
              <a:r>
                <a:rPr lang="pl-PL" sz="850" b="1" kern="0" dirty="0" err="1">
                  <a:solidFill>
                    <a:srgbClr val="182030"/>
                  </a:solidFill>
                  <a:latin typeface="Arial Nova" pitchFamily="34"/>
                  <a:ea typeface="Calibri"/>
                  <a:cs typeface="Calibri"/>
                </a:rPr>
                <a:t>affective</a:t>
              </a:r>
              <a:r>
                <a:rPr lang="pl-PL" sz="850" b="1" kern="0" dirty="0">
                  <a:solidFill>
                    <a:srgbClr val="182030"/>
                  </a:solidFill>
                  <a:latin typeface="Arial Nova" pitchFamily="34"/>
                  <a:ea typeface="Calibri"/>
                  <a:cs typeface="Calibri"/>
                </a:rPr>
                <a:t> UX?</a:t>
              </a:r>
              <a:endParaRPr lang="pl-PL" sz="850" b="1" i="0" u="none" strike="noStrike" kern="0" cap="none" spc="0" baseline="0" dirty="0">
                <a:solidFill>
                  <a:srgbClr val="000000"/>
                </a:solidFill>
                <a:uFillTx/>
                <a:latin typeface="Arial Nova" pitchFamily="34"/>
                <a:ea typeface="Calibri"/>
                <a:cs typeface="Calibri"/>
              </a:endParaRPr>
            </a:p>
          </p:txBody>
        </p:sp>
        <p:sp>
          <p:nvSpPr>
            <p:cNvPr id="42" name="Text 22"/>
            <p:cNvSpPr/>
            <p:nvPr/>
          </p:nvSpPr>
          <p:spPr>
            <a:xfrm>
              <a:off x="3273204" y="3169968"/>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Interfejs powinien reagować na każdą zmianę </a:t>
              </a:r>
              <a:r>
                <a:rPr lang="pl-PL" sz="800" kern="0" spc="-31" dirty="0" smtClean="0">
                  <a:solidFill>
                    <a:srgbClr val="3B5168"/>
                  </a:solidFill>
                  <a:ea typeface="Calibri"/>
                  <a:cs typeface="Calibri"/>
                </a:rPr>
                <a:t>emocji</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Adaptacja </a:t>
              </a:r>
              <a:r>
                <a:rPr lang="pl-PL" sz="800" kern="0" spc="-31" dirty="0">
                  <a:solidFill>
                    <a:srgbClr val="3B5168"/>
                  </a:solidFill>
                  <a:ea typeface="Calibri"/>
                  <a:cs typeface="Calibri"/>
                </a:rPr>
                <a:t>powinna być </a:t>
              </a:r>
              <a:r>
                <a:rPr lang="pl-PL" sz="800" kern="0" spc="-31" dirty="0" smtClean="0">
                  <a:solidFill>
                    <a:srgbClr val="3B5168"/>
                  </a:solidFill>
                  <a:ea typeface="Calibri"/>
                  <a:cs typeface="Calibri"/>
                </a:rPr>
                <a:t>ukryta</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Użytkownik </a:t>
              </a:r>
              <a:r>
                <a:rPr lang="pl-PL" sz="800" kern="0" spc="-31" dirty="0">
                  <a:ea typeface="Calibri"/>
                  <a:cs typeface="Calibri"/>
                </a:rPr>
                <a:t>powinien móc skorygować </a:t>
              </a:r>
              <a:r>
                <a:rPr lang="pl-PL" sz="800" kern="0" spc="-31" dirty="0" smtClean="0">
                  <a:ea typeface="Calibri"/>
                  <a:cs typeface="Calibri"/>
                </a:rPr>
                <a:t>system</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System </a:t>
              </a:r>
              <a:r>
                <a:rPr lang="pl-PL" sz="800" kern="0" spc="-31" dirty="0">
                  <a:ea typeface="Calibri"/>
                  <a:cs typeface="Calibri"/>
                </a:rPr>
                <a:t>nie powinien reagować zbyt </a:t>
              </a:r>
              <a:r>
                <a:rPr lang="pl-PL" sz="800" kern="0" spc="-31" dirty="0" smtClean="0">
                  <a:ea typeface="Calibri"/>
                  <a:cs typeface="Calibri"/>
                </a:rPr>
                <a:t>gwałtownie</a:t>
              </a:r>
              <a:endParaRPr lang="pl-PL" sz="800" b="0" i="0" u="none" strike="noStrike" kern="0" cap="none" spc="-31" baseline="0" dirty="0">
                <a:uFillTx/>
                <a:latin typeface="Calibri"/>
                <a:ea typeface="Calibri"/>
                <a:cs typeface="Calibri"/>
              </a:endParaRPr>
            </a:p>
          </p:txBody>
        </p:sp>
      </p:grpSp>
      <p:grpSp>
        <p:nvGrpSpPr>
          <p:cNvPr id="43" name="Grupa 47"/>
          <p:cNvGrpSpPr/>
          <p:nvPr/>
        </p:nvGrpSpPr>
        <p:grpSpPr>
          <a:xfrm>
            <a:off x="3150000" y="3852000"/>
            <a:ext cx="2880003" cy="1008000"/>
            <a:chOff x="3163129" y="3839903"/>
            <a:chExt cx="2880003" cy="973708"/>
          </a:xfrm>
        </p:grpSpPr>
        <p:sp>
          <p:nvSpPr>
            <p:cNvPr id="44" name="Shape 19"/>
            <p:cNvSpPr/>
            <p:nvPr/>
          </p:nvSpPr>
          <p:spPr>
            <a:xfrm>
              <a:off x="3163129" y="3839903"/>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5" name="Shape 20"/>
            <p:cNvSpPr/>
            <p:nvPr/>
          </p:nvSpPr>
          <p:spPr>
            <a:xfrm>
              <a:off x="3163129" y="3839903"/>
              <a:ext cx="36594" cy="971998"/>
            </a:xfrm>
            <a:prstGeom prst="rect">
              <a:avLst/>
            </a:prstGeom>
            <a:solidFill>
              <a:srgbClr val="333F5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46" name="Text 21"/>
            <p:cNvSpPr/>
            <p:nvPr/>
          </p:nvSpPr>
          <p:spPr>
            <a:xfrm>
              <a:off x="3250134" y="3867098"/>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sygnały należą do typowych cyfrowych biomarkerów w </a:t>
              </a:r>
              <a:r>
                <a:rPr lang="pl-PL" sz="850" b="1" kern="0" dirty="0" err="1">
                  <a:solidFill>
                    <a:srgbClr val="182030"/>
                  </a:solidFill>
                  <a:latin typeface="Arial Nova" pitchFamily="34"/>
                  <a:ea typeface="Calibri"/>
                  <a:cs typeface="Calibri"/>
                </a:rPr>
                <a:t>psychoinformatyce</a:t>
              </a:r>
              <a:r>
                <a:rPr lang="pl-PL" sz="850" b="1" kern="0" dirty="0">
                  <a:solidFill>
                    <a:srgbClr val="182030"/>
                  </a:solidFill>
                  <a:latin typeface="Arial Nova" pitchFamily="34"/>
                  <a:ea typeface="Calibri"/>
                  <a:cs typeface="Calibri"/>
                </a:rPr>
                <a:t>?</a:t>
              </a:r>
              <a:endParaRPr lang="pl-PL" sz="850" b="1" i="0" u="none" strike="noStrike" kern="0" cap="none" spc="0" baseline="0" dirty="0">
                <a:solidFill>
                  <a:srgbClr val="000000"/>
                </a:solidFill>
                <a:uFillTx/>
                <a:latin typeface="Arial Nova" pitchFamily="34"/>
                <a:ea typeface="Calibri"/>
                <a:cs typeface="Calibri"/>
              </a:endParaRPr>
            </a:p>
          </p:txBody>
        </p:sp>
        <p:sp>
          <p:nvSpPr>
            <p:cNvPr id="47" name="Text 22"/>
            <p:cNvSpPr/>
            <p:nvPr/>
          </p:nvSpPr>
          <p:spPr>
            <a:xfrm>
              <a:off x="3273204" y="4201613"/>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Ankiety kliniczne</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Wyłącznie </a:t>
              </a:r>
              <a:r>
                <a:rPr lang="pl-PL" sz="800" kern="0" spc="-31" dirty="0">
                  <a:solidFill>
                    <a:srgbClr val="3B5168"/>
                  </a:solidFill>
                  <a:ea typeface="Calibri"/>
                  <a:cs typeface="Calibri"/>
                </a:rPr>
                <a:t>historia </a:t>
              </a:r>
              <a:r>
                <a:rPr lang="pl-PL" sz="800" kern="0" spc="-31" dirty="0" smtClean="0">
                  <a:solidFill>
                    <a:srgbClr val="3B5168"/>
                  </a:solidFill>
                  <a:ea typeface="Calibri"/>
                  <a:cs typeface="Calibri"/>
                </a:rPr>
                <a:t>GPS</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Wzorce </a:t>
              </a:r>
              <a:r>
                <a:rPr lang="pl-PL" sz="800" kern="0" spc="-31" dirty="0">
                  <a:ea typeface="Calibri"/>
                  <a:cs typeface="Calibri"/>
                </a:rPr>
                <a:t>snu i rytmu </a:t>
              </a:r>
              <a:r>
                <a:rPr lang="pl-PL" sz="800" kern="0" spc="-31" dirty="0" smtClean="0">
                  <a:ea typeface="Calibri"/>
                  <a:cs typeface="Calibri"/>
                </a:rPr>
                <a:t>dobowego</a:t>
              </a:r>
            </a:p>
            <a:p>
              <a:pPr marL="228600" lvl="0" indent="-228600">
                <a:buSzPct val="100000"/>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Metadane komunikacyjne</a:t>
              </a:r>
              <a:endParaRPr lang="pl-PL" sz="800" b="0" i="0" u="none" strike="noStrike" kern="0" cap="none" spc="-31" baseline="0" dirty="0">
                <a:uFillTx/>
                <a:latin typeface="Calibri"/>
                <a:ea typeface="Calibri"/>
                <a:cs typeface="Calibri"/>
              </a:endParaRPr>
            </a:p>
          </p:txBody>
        </p:sp>
      </p:grpSp>
      <p:grpSp>
        <p:nvGrpSpPr>
          <p:cNvPr id="48" name="Grupa 47"/>
          <p:cNvGrpSpPr/>
          <p:nvPr/>
        </p:nvGrpSpPr>
        <p:grpSpPr>
          <a:xfrm>
            <a:off x="6119027" y="612000"/>
            <a:ext cx="2880003" cy="1008000"/>
            <a:chOff x="6119027" y="768946"/>
            <a:chExt cx="2880003" cy="973698"/>
          </a:xfrm>
        </p:grpSpPr>
        <p:sp>
          <p:nvSpPr>
            <p:cNvPr id="49" name="Shape 19"/>
            <p:cNvSpPr/>
            <p:nvPr/>
          </p:nvSpPr>
          <p:spPr>
            <a:xfrm>
              <a:off x="6119027" y="768946"/>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0" name="Shape 20"/>
            <p:cNvSpPr/>
            <p:nvPr/>
          </p:nvSpPr>
          <p:spPr>
            <a:xfrm>
              <a:off x="6119027" y="768946"/>
              <a:ext cx="36594" cy="971998"/>
            </a:xfrm>
            <a:prstGeom prst="rect">
              <a:avLst/>
            </a:prstGeom>
            <a:solidFill>
              <a:srgbClr val="7030A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1" name="Text 21"/>
            <p:cNvSpPr/>
            <p:nvPr/>
          </p:nvSpPr>
          <p:spPr>
            <a:xfrm>
              <a:off x="6206032" y="796131"/>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stwierdzenia najlepiej </a:t>
              </a:r>
              <a:r>
                <a:rPr lang="pl-PL" sz="850" b="1" kern="0" dirty="0" smtClean="0">
                  <a:solidFill>
                    <a:srgbClr val="182030"/>
                  </a:solidFill>
                  <a:latin typeface="Arial Nova" pitchFamily="34"/>
                  <a:ea typeface="Calibri"/>
                  <a:cs typeface="Calibri"/>
                </a:rPr>
                <a:t>opisują </a:t>
              </a:r>
              <a:r>
                <a:rPr lang="pl-PL" sz="850" b="1" kern="0" dirty="0">
                  <a:solidFill>
                    <a:srgbClr val="182030"/>
                  </a:solidFill>
                  <a:latin typeface="Arial Nova" pitchFamily="34"/>
                  <a:ea typeface="Calibri"/>
                  <a:cs typeface="Calibri"/>
                </a:rPr>
                <a:t>cyfrowe</a:t>
              </a:r>
              <a:r>
                <a:rPr lang="pl-PL" sz="850" b="1" kern="0" dirty="0" smtClean="0">
                  <a:solidFill>
                    <a:srgbClr val="182030"/>
                  </a:solidFill>
                  <a:latin typeface="Arial Nova" pitchFamily="34"/>
                  <a:ea typeface="Calibri"/>
                  <a:cs typeface="Calibri"/>
                </a:rPr>
                <a:t> fenotypowanie?</a:t>
              </a:r>
              <a:endParaRPr lang="pl-PL" sz="850" b="1" i="0" u="none" strike="noStrike" kern="0" cap="none" spc="0" baseline="0" dirty="0">
                <a:solidFill>
                  <a:srgbClr val="000000"/>
                </a:solidFill>
                <a:uFillTx/>
                <a:latin typeface="Arial Nova" pitchFamily="34"/>
                <a:ea typeface="Calibri"/>
                <a:cs typeface="Calibri"/>
              </a:endParaRPr>
            </a:p>
          </p:txBody>
        </p:sp>
        <p:sp>
          <p:nvSpPr>
            <p:cNvPr id="52" name="Text 22"/>
            <p:cNvSpPr/>
            <p:nvPr/>
          </p:nvSpPr>
          <p:spPr>
            <a:xfrm>
              <a:off x="6229103" y="1130646"/>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Zastępuje </a:t>
              </a:r>
              <a:r>
                <a:rPr lang="pl-PL" sz="800" kern="0" spc="-31" dirty="0">
                  <a:solidFill>
                    <a:srgbClr val="3B5168"/>
                  </a:solidFill>
                  <a:ea typeface="Calibri"/>
                  <a:cs typeface="Calibri"/>
                </a:rPr>
                <a:t>diagnozę </a:t>
              </a:r>
              <a:r>
                <a:rPr lang="pl-PL" sz="800" kern="0" spc="-31" dirty="0" smtClean="0">
                  <a:solidFill>
                    <a:srgbClr val="3B5168"/>
                  </a:solidFill>
                  <a:ea typeface="Calibri"/>
                  <a:cs typeface="Calibri"/>
                </a:rPr>
                <a:t>kliniczną</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Nie </a:t>
              </a:r>
              <a:r>
                <a:rPr lang="pl-PL" sz="800" kern="0" spc="-31" dirty="0">
                  <a:solidFill>
                    <a:srgbClr val="3B5168"/>
                  </a:solidFill>
                  <a:ea typeface="Calibri"/>
                  <a:cs typeface="Calibri"/>
                </a:rPr>
                <a:t>rodzi problemów </a:t>
              </a:r>
              <a:r>
                <a:rPr lang="pl-PL" sz="800" kern="0" spc="-31" dirty="0" smtClean="0">
                  <a:solidFill>
                    <a:srgbClr val="3B5168"/>
                  </a:solidFill>
                  <a:ea typeface="Calibri"/>
                  <a:cs typeface="Calibri"/>
                </a:rPr>
                <a:t>etycznych</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Opiera </a:t>
              </a:r>
              <a:r>
                <a:rPr lang="pl-PL" sz="800" kern="0" spc="-31" dirty="0">
                  <a:ea typeface="Calibri"/>
                  <a:cs typeface="Calibri"/>
                </a:rPr>
                <a:t>się na pasywnym zbieraniu </a:t>
              </a:r>
              <a:r>
                <a:rPr lang="pl-PL" sz="800" kern="0" spc="-31" dirty="0" smtClean="0">
                  <a:ea typeface="Calibri"/>
                  <a:cs typeface="Calibri"/>
                </a:rPr>
                <a:t>danych</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Może </a:t>
              </a:r>
              <a:r>
                <a:rPr lang="pl-PL" sz="800" kern="0" spc="-31" dirty="0">
                  <a:ea typeface="Calibri"/>
                  <a:cs typeface="Calibri"/>
                </a:rPr>
                <a:t>wspierać wczesne wykrywanie zmian </a:t>
              </a:r>
              <a:r>
                <a:rPr lang="pl-PL" sz="800" kern="0" spc="-31" dirty="0" smtClean="0">
                  <a:ea typeface="Calibri"/>
                  <a:cs typeface="Calibri"/>
                </a:rPr>
                <a:t>stanu</a:t>
              </a:r>
              <a:endParaRPr lang="pl-PL" sz="800" b="0" i="0" u="none" strike="noStrike" kern="0" cap="none" spc="-31" baseline="0" dirty="0">
                <a:uFillTx/>
                <a:latin typeface="Calibri"/>
                <a:ea typeface="Calibri"/>
                <a:cs typeface="Calibri"/>
              </a:endParaRPr>
            </a:p>
          </p:txBody>
        </p:sp>
      </p:grpSp>
      <p:grpSp>
        <p:nvGrpSpPr>
          <p:cNvPr id="53" name="Grupa 47"/>
          <p:cNvGrpSpPr/>
          <p:nvPr/>
        </p:nvGrpSpPr>
        <p:grpSpPr>
          <a:xfrm>
            <a:off x="6119027" y="1692000"/>
            <a:ext cx="2880003" cy="1008000"/>
            <a:chOff x="6119027" y="1816382"/>
            <a:chExt cx="2880003" cy="973698"/>
          </a:xfrm>
        </p:grpSpPr>
        <p:sp>
          <p:nvSpPr>
            <p:cNvPr id="54" name="Shape 19"/>
            <p:cNvSpPr/>
            <p:nvPr/>
          </p:nvSpPr>
          <p:spPr>
            <a:xfrm>
              <a:off x="6119027" y="1816382"/>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5" name="Shape 20"/>
            <p:cNvSpPr/>
            <p:nvPr/>
          </p:nvSpPr>
          <p:spPr>
            <a:xfrm>
              <a:off x="6119027" y="1816382"/>
              <a:ext cx="36594" cy="971998"/>
            </a:xfrm>
            <a:prstGeom prst="rect">
              <a:avLst/>
            </a:prstGeom>
            <a:solidFill>
              <a:srgbClr val="7C7C7C"/>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56" name="Text 21"/>
            <p:cNvSpPr/>
            <p:nvPr/>
          </p:nvSpPr>
          <p:spPr>
            <a:xfrm>
              <a:off x="6206032" y="1850242"/>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stwierdzenia o wdrożeniach on-</a:t>
              </a:r>
              <a:r>
                <a:rPr lang="pl-PL" sz="850" b="1" kern="0" dirty="0" err="1">
                  <a:solidFill>
                    <a:srgbClr val="182030"/>
                  </a:solidFill>
                  <a:latin typeface="Arial Nova" pitchFamily="34"/>
                  <a:ea typeface="Calibri"/>
                  <a:cs typeface="Calibri"/>
                </a:rPr>
                <a:t>device</a:t>
              </a:r>
              <a:r>
                <a:rPr lang="pl-PL" sz="850" b="1" kern="0" dirty="0">
                  <a:solidFill>
                    <a:srgbClr val="182030"/>
                  </a:solidFill>
                  <a:latin typeface="Arial Nova" pitchFamily="34"/>
                  <a:ea typeface="Calibri"/>
                  <a:cs typeface="Calibri"/>
                </a:rPr>
                <a:t> są poprawne?</a:t>
              </a:r>
              <a:endParaRPr lang="pl-PL" sz="850" b="1" i="0" u="none" strike="noStrike" kern="0" cap="none" spc="0" baseline="0" dirty="0">
                <a:solidFill>
                  <a:srgbClr val="000000"/>
                </a:solidFill>
                <a:uFillTx/>
                <a:latin typeface="Arial Nova" pitchFamily="34"/>
                <a:ea typeface="Calibri"/>
                <a:cs typeface="Calibri"/>
              </a:endParaRPr>
            </a:p>
          </p:txBody>
        </p:sp>
        <p:sp>
          <p:nvSpPr>
            <p:cNvPr id="57" name="Text 22"/>
            <p:cNvSpPr/>
            <p:nvPr/>
          </p:nvSpPr>
          <p:spPr>
            <a:xfrm>
              <a:off x="6229103" y="2178082"/>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Chmura </a:t>
              </a:r>
              <a:r>
                <a:rPr lang="pl-PL" sz="800" kern="0" spc="-31" dirty="0">
                  <a:solidFill>
                    <a:srgbClr val="3B5168"/>
                  </a:solidFill>
                  <a:ea typeface="Calibri"/>
                  <a:cs typeface="Calibri"/>
                </a:rPr>
                <a:t>zawsze lepiej chroni </a:t>
              </a:r>
              <a:r>
                <a:rPr lang="pl-PL" sz="800" kern="0" spc="-31" dirty="0" smtClean="0">
                  <a:solidFill>
                    <a:srgbClr val="3B5168"/>
                  </a:solidFill>
                  <a:ea typeface="Calibri"/>
                  <a:cs typeface="Calibri"/>
                </a:rPr>
                <a:t>prywatność</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Akceleracja </a:t>
              </a:r>
              <a:r>
                <a:rPr lang="pl-PL" sz="800" kern="0" spc="-31" dirty="0">
                  <a:solidFill>
                    <a:srgbClr val="3B5168"/>
                  </a:solidFill>
                  <a:ea typeface="Calibri"/>
                  <a:cs typeface="Calibri"/>
                </a:rPr>
                <a:t>mobilna nie jest </a:t>
              </a:r>
              <a:r>
                <a:rPr lang="pl-PL" sz="800" kern="0" spc="-31" dirty="0" smtClean="0">
                  <a:solidFill>
                    <a:srgbClr val="3B5168"/>
                  </a:solidFill>
                  <a:ea typeface="Calibri"/>
                  <a:cs typeface="Calibri"/>
                </a:rPr>
                <a:t>wspierana</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Przetwarzanie </a:t>
              </a:r>
              <a:r>
                <a:rPr lang="pl-PL" sz="800" kern="0" spc="-31" dirty="0">
                  <a:ea typeface="Calibri"/>
                  <a:cs typeface="Calibri"/>
                </a:rPr>
                <a:t>lokalne sprzyja ochronie </a:t>
              </a:r>
              <a:r>
                <a:rPr lang="pl-PL" sz="800" kern="0" spc="-31" dirty="0" smtClean="0">
                  <a:ea typeface="Calibri"/>
                  <a:cs typeface="Calibri"/>
                </a:rPr>
                <a:t>danych</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Kwantyzacja </a:t>
              </a:r>
              <a:r>
                <a:rPr lang="pl-PL" sz="800" kern="0" spc="-31" dirty="0">
                  <a:ea typeface="Calibri"/>
                  <a:cs typeface="Calibri"/>
                </a:rPr>
                <a:t>zmniejsza rozmiar i </a:t>
              </a:r>
              <a:r>
                <a:rPr lang="pl-PL" sz="800" kern="0" spc="-31" dirty="0" smtClean="0">
                  <a:ea typeface="Calibri"/>
                  <a:cs typeface="Calibri"/>
                </a:rPr>
                <a:t>opóźnienie</a:t>
              </a:r>
              <a:endParaRPr lang="pl-PL" sz="800" b="0" i="0" u="none" strike="noStrike" kern="0" cap="none" spc="-31" baseline="0" dirty="0">
                <a:uFillTx/>
                <a:latin typeface="Calibri"/>
                <a:ea typeface="Calibri"/>
                <a:cs typeface="Calibri"/>
              </a:endParaRPr>
            </a:p>
          </p:txBody>
        </p:sp>
      </p:grpSp>
      <p:grpSp>
        <p:nvGrpSpPr>
          <p:cNvPr id="58" name="Grupa 47"/>
          <p:cNvGrpSpPr/>
          <p:nvPr/>
        </p:nvGrpSpPr>
        <p:grpSpPr>
          <a:xfrm>
            <a:off x="6119027" y="2772000"/>
            <a:ext cx="2880003" cy="1008000"/>
            <a:chOff x="6119027" y="2821189"/>
            <a:chExt cx="2880003" cy="973698"/>
          </a:xfrm>
        </p:grpSpPr>
        <p:sp>
          <p:nvSpPr>
            <p:cNvPr id="59" name="Shape 19"/>
            <p:cNvSpPr/>
            <p:nvPr/>
          </p:nvSpPr>
          <p:spPr>
            <a:xfrm>
              <a:off x="6119027" y="2821189"/>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60" name="Shape 20"/>
            <p:cNvSpPr/>
            <p:nvPr/>
          </p:nvSpPr>
          <p:spPr>
            <a:xfrm>
              <a:off x="6119027" y="2821189"/>
              <a:ext cx="36594" cy="971998"/>
            </a:xfrm>
            <a:prstGeom prst="rect">
              <a:avLst/>
            </a:prstGeom>
            <a:solidFill>
              <a:srgbClr val="92D05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61" name="Text 21"/>
            <p:cNvSpPr/>
            <p:nvPr/>
          </p:nvSpPr>
          <p:spPr>
            <a:xfrm>
              <a:off x="6206032" y="2861724"/>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zastosowania są etycznie i regulacyjnie najbardziej problematyczne?</a:t>
              </a:r>
              <a:endParaRPr lang="pl-PL" sz="850" b="1" i="0" u="none" strike="noStrike" kern="0" cap="none" spc="0" baseline="0" dirty="0">
                <a:solidFill>
                  <a:srgbClr val="000000"/>
                </a:solidFill>
                <a:uFillTx/>
                <a:latin typeface="Arial Nova" pitchFamily="34"/>
                <a:ea typeface="Calibri"/>
                <a:cs typeface="Calibri"/>
              </a:endParaRPr>
            </a:p>
          </p:txBody>
        </p:sp>
        <p:sp>
          <p:nvSpPr>
            <p:cNvPr id="62" name="Text 22"/>
            <p:cNvSpPr/>
            <p:nvPr/>
          </p:nvSpPr>
          <p:spPr>
            <a:xfrm>
              <a:off x="6229103" y="3182889"/>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Lokalna </a:t>
              </a:r>
              <a:r>
                <a:rPr lang="pl-PL" sz="800" kern="0" spc="-31" dirty="0">
                  <a:solidFill>
                    <a:srgbClr val="3B5168"/>
                  </a:solidFill>
                  <a:ea typeface="Calibri"/>
                  <a:cs typeface="Calibri"/>
                </a:rPr>
                <a:t>redukcja powiadomień za zgodą </a:t>
              </a:r>
              <a:r>
                <a:rPr lang="pl-PL" sz="800" kern="0" spc="-31" dirty="0" smtClean="0">
                  <a:solidFill>
                    <a:srgbClr val="3B5168"/>
                  </a:solidFill>
                  <a:ea typeface="Calibri"/>
                  <a:cs typeface="Calibri"/>
                </a:rPr>
                <a:t>użytkownika</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Aplikacja </a:t>
              </a:r>
              <a:r>
                <a:rPr lang="pl-PL" sz="800" kern="0" spc="-31" dirty="0" err="1">
                  <a:solidFill>
                    <a:srgbClr val="3B5168"/>
                  </a:solidFill>
                  <a:ea typeface="Calibri"/>
                  <a:cs typeface="Calibri"/>
                </a:rPr>
                <a:t>wellness</a:t>
              </a:r>
              <a:r>
                <a:rPr lang="pl-PL" sz="800" kern="0" spc="-31" dirty="0">
                  <a:solidFill>
                    <a:srgbClr val="3B5168"/>
                  </a:solidFill>
                  <a:ea typeface="Calibri"/>
                  <a:cs typeface="Calibri"/>
                </a:rPr>
                <a:t> działająca </a:t>
              </a:r>
              <a:r>
                <a:rPr lang="pl-PL" sz="800" kern="0" spc="-31" dirty="0" smtClean="0">
                  <a:solidFill>
                    <a:srgbClr val="3B5168"/>
                  </a:solidFill>
                  <a:ea typeface="Calibri"/>
                  <a:cs typeface="Calibri"/>
                </a:rPr>
                <a:t>offline</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Analiza </a:t>
              </a:r>
              <a:r>
                <a:rPr lang="pl-PL" sz="800" kern="0" spc="-31" dirty="0">
                  <a:ea typeface="Calibri"/>
                  <a:cs typeface="Calibri"/>
                </a:rPr>
                <a:t>emocji w </a:t>
              </a:r>
              <a:r>
                <a:rPr lang="pl-PL" sz="800" kern="0" spc="-31" dirty="0" smtClean="0">
                  <a:ea typeface="Calibri"/>
                  <a:cs typeface="Calibri"/>
                </a:rPr>
                <a:t>rekrutacji</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Profilowanie </a:t>
              </a:r>
              <a:r>
                <a:rPr lang="pl-PL" sz="800" kern="0" spc="-31" dirty="0">
                  <a:ea typeface="Calibri"/>
                  <a:cs typeface="Calibri"/>
                </a:rPr>
                <a:t>emocjonalne bez </a:t>
              </a:r>
              <a:r>
                <a:rPr lang="pl-PL" sz="800" kern="0" spc="-31" dirty="0" smtClean="0">
                  <a:ea typeface="Calibri"/>
                  <a:cs typeface="Calibri"/>
                </a:rPr>
                <a:t>zgody</a:t>
              </a:r>
              <a:endParaRPr lang="pl-PL" sz="800" b="0" i="0" u="none" strike="noStrike" kern="0" cap="none" spc="-31" baseline="0" dirty="0">
                <a:uFillTx/>
                <a:latin typeface="Calibri"/>
                <a:ea typeface="Calibri"/>
                <a:cs typeface="Calibri"/>
              </a:endParaRPr>
            </a:p>
          </p:txBody>
        </p:sp>
      </p:grpSp>
      <p:grpSp>
        <p:nvGrpSpPr>
          <p:cNvPr id="63" name="Grupa 47"/>
          <p:cNvGrpSpPr/>
          <p:nvPr/>
        </p:nvGrpSpPr>
        <p:grpSpPr>
          <a:xfrm>
            <a:off x="6119027" y="3852000"/>
            <a:ext cx="2880003" cy="1008000"/>
            <a:chOff x="6119027" y="3852833"/>
            <a:chExt cx="2880003" cy="973698"/>
          </a:xfrm>
        </p:grpSpPr>
        <p:sp>
          <p:nvSpPr>
            <p:cNvPr id="64" name="Shape 19"/>
            <p:cNvSpPr/>
            <p:nvPr/>
          </p:nvSpPr>
          <p:spPr>
            <a:xfrm>
              <a:off x="6119027" y="3852833"/>
              <a:ext cx="2880003" cy="971998"/>
            </a:xfrm>
            <a:prstGeom prst="rect">
              <a:avLst/>
            </a:prstGeom>
            <a:solidFill>
              <a:srgbClr val="FFFFFF"/>
            </a:solidFill>
            <a:ln w="12600" cap="flat">
              <a:solidFill>
                <a:srgbClr val="CBD5E5"/>
              </a:solidFill>
              <a:prstDash val="solid"/>
              <a:round/>
            </a:ln>
            <a:effectLst>
              <a:outerShdw dist="25462" dir="8100000" algn="tl">
                <a:srgbClr val="000000">
                  <a:alpha val="6000"/>
                </a:srgbClr>
              </a:outerShdw>
            </a:effectLst>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65" name="Shape 20"/>
            <p:cNvSpPr/>
            <p:nvPr/>
          </p:nvSpPr>
          <p:spPr>
            <a:xfrm>
              <a:off x="6119027" y="3852833"/>
              <a:ext cx="36594" cy="971998"/>
            </a:xfrm>
            <a:prstGeom prst="rect">
              <a:avLst/>
            </a:prstGeom>
            <a:solidFill>
              <a:srgbClr val="0070C0"/>
            </a:solidFill>
            <a:ln cap="flat">
              <a:noFill/>
              <a:prstDash val="solid"/>
            </a:ln>
          </p:spPr>
          <p:txBody>
            <a:bodyPr vert="horz" wrap="square" lIns="90004" tIns="44997" rIns="90004" bIns="44997" anchor="t" anchorCtr="0" compatLnSpc="0">
              <a:noAutofit/>
            </a:bodyPr>
            <a:lstStyle/>
            <a:p>
              <a:pPr marL="0" marR="0" lvl="0" indent="0" algn="l"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Liberation Sans" pitchFamily="18"/>
                <a:ea typeface="Noto Sans CJK SC" pitchFamily="2"/>
                <a:cs typeface="Noto Sans Devanagari" pitchFamily="2"/>
              </a:endParaRPr>
            </a:p>
          </p:txBody>
        </p:sp>
        <p:sp>
          <p:nvSpPr>
            <p:cNvPr id="66" name="Text 21"/>
            <p:cNvSpPr/>
            <p:nvPr/>
          </p:nvSpPr>
          <p:spPr>
            <a:xfrm>
              <a:off x="6206032" y="3880018"/>
              <a:ext cx="2772003" cy="359999"/>
            </a:xfrm>
            <a:prstGeom prst="rect">
              <a:avLst/>
            </a:prstGeom>
            <a:noFill/>
            <a:ln cap="flat">
              <a:noFill/>
              <a:prstDash val="solid"/>
            </a:ln>
          </p:spPr>
          <p:txBody>
            <a:bodyPr vert="horz" wrap="square" lIns="0" tIns="0" rIns="0" bIns="0" anchor="ctr" anchorCtr="0" compatLnSpc="0">
              <a:noAutofit/>
            </a:bodyPr>
            <a:lstStyle/>
            <a:p>
              <a:pPr lvl="0">
                <a:lnSpc>
                  <a:spcPts val="900"/>
                </a:lnSpc>
                <a:tabLst>
                  <a:tab pos="0" algn="l"/>
                </a:tabLst>
                <a:defRPr lang="pl-PL" sz="1800" b="0" i="0" u="none" strike="noStrike" kern="0" cap="none" spc="0" baseline="0">
                  <a:solidFill>
                    <a:srgbClr val="000000"/>
                  </a:solidFill>
                  <a:uFillTx/>
                </a:defRPr>
              </a:pPr>
              <a:r>
                <a:rPr lang="pl-PL" sz="850" b="1" kern="0" dirty="0">
                  <a:solidFill>
                    <a:srgbClr val="182030"/>
                  </a:solidFill>
                  <a:latin typeface="Arial Nova" pitchFamily="34"/>
                  <a:ea typeface="Calibri"/>
                  <a:cs typeface="Calibri"/>
                </a:rPr>
                <a:t>Które wymagania wynikają z podejścia </a:t>
              </a:r>
              <a:r>
                <a:rPr lang="pl-PL" sz="850" b="1" kern="0" dirty="0" err="1">
                  <a:solidFill>
                    <a:srgbClr val="182030"/>
                  </a:solidFill>
                  <a:latin typeface="Arial Nova" pitchFamily="34"/>
                  <a:ea typeface="Calibri"/>
                  <a:cs typeface="Calibri"/>
                </a:rPr>
                <a:t>privacy-first</a:t>
              </a:r>
              <a:r>
                <a:rPr lang="pl-PL" sz="850" b="1" kern="0" dirty="0">
                  <a:solidFill>
                    <a:srgbClr val="182030"/>
                  </a:solidFill>
                  <a:latin typeface="Arial Nova" pitchFamily="34"/>
                  <a:ea typeface="Calibri"/>
                  <a:cs typeface="Calibri"/>
                </a:rPr>
                <a:t> </a:t>
              </a:r>
              <a:r>
                <a:rPr lang="pl-PL" sz="850" b="1" kern="0" dirty="0" smtClean="0">
                  <a:solidFill>
                    <a:srgbClr val="182030"/>
                  </a:solidFill>
                  <a:latin typeface="Arial Nova" pitchFamily="34"/>
                  <a:ea typeface="Calibri"/>
                  <a:cs typeface="Calibri"/>
                </a:rPr>
                <a:t/>
              </a:r>
              <a:br>
                <a:rPr lang="pl-PL" sz="850" b="1" kern="0" dirty="0" smtClean="0">
                  <a:solidFill>
                    <a:srgbClr val="182030"/>
                  </a:solidFill>
                  <a:latin typeface="Arial Nova" pitchFamily="34"/>
                  <a:ea typeface="Calibri"/>
                  <a:cs typeface="Calibri"/>
                </a:rPr>
              </a:br>
              <a:r>
                <a:rPr lang="pl-PL" sz="850" b="1" kern="0" dirty="0" smtClean="0">
                  <a:solidFill>
                    <a:srgbClr val="182030"/>
                  </a:solidFill>
                  <a:latin typeface="Arial Nova" pitchFamily="34"/>
                  <a:ea typeface="Calibri"/>
                  <a:cs typeface="Calibri"/>
                </a:rPr>
                <a:t>i </a:t>
              </a:r>
              <a:r>
                <a:rPr lang="pl-PL" sz="850" b="1" kern="0" dirty="0">
                  <a:solidFill>
                    <a:srgbClr val="182030"/>
                  </a:solidFill>
                  <a:latin typeface="Arial Nova" pitchFamily="34"/>
                  <a:ea typeface="Calibri"/>
                  <a:cs typeface="Calibri"/>
                </a:rPr>
                <a:t>regulacji dotyczących AI?</a:t>
              </a:r>
              <a:endParaRPr lang="pl-PL" sz="850" b="1" i="0" u="none" strike="noStrike" kern="0" cap="none" spc="0" baseline="0" dirty="0">
                <a:solidFill>
                  <a:srgbClr val="000000"/>
                </a:solidFill>
                <a:uFillTx/>
                <a:latin typeface="Arial Nova" pitchFamily="34"/>
                <a:ea typeface="Calibri"/>
                <a:cs typeface="Calibri"/>
              </a:endParaRPr>
            </a:p>
          </p:txBody>
        </p:sp>
        <p:sp>
          <p:nvSpPr>
            <p:cNvPr id="67" name="Text 22"/>
            <p:cNvSpPr/>
            <p:nvPr/>
          </p:nvSpPr>
          <p:spPr>
            <a:xfrm>
              <a:off x="6229103" y="4214533"/>
              <a:ext cx="2690173" cy="611998"/>
            </a:xfrm>
            <a:prstGeom prst="rect">
              <a:avLst/>
            </a:prstGeom>
            <a:noFill/>
            <a:ln cap="flat">
              <a:noFill/>
              <a:prstDash val="solid"/>
            </a:ln>
          </p:spPr>
          <p:txBody>
            <a:bodyPr vert="horz" wrap="square" lIns="0" tIns="0" rIns="0" bIns="0" anchor="ctr" anchorCtr="0" compatLnSpc="0">
              <a:noAutofit/>
            </a:bodyPr>
            <a:lstStyle/>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a:solidFill>
                    <a:srgbClr val="3B5168"/>
                  </a:solidFill>
                  <a:ea typeface="Calibri"/>
                  <a:cs typeface="Calibri"/>
                </a:rPr>
                <a:t>A. Wystarczy ogólna zgoda w </a:t>
              </a:r>
              <a:r>
                <a:rPr lang="pl-PL" sz="800" kern="0" spc="-31" dirty="0" smtClean="0">
                  <a:solidFill>
                    <a:srgbClr val="3B5168"/>
                  </a:solidFill>
                  <a:ea typeface="Calibri"/>
                  <a:cs typeface="Calibri"/>
                </a:rPr>
                <a:t>regulaminie</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solidFill>
                    <a:srgbClr val="3B5168"/>
                  </a:solidFill>
                  <a:ea typeface="Calibri"/>
                  <a:cs typeface="Calibri"/>
                </a:rPr>
                <a:t>Nie </a:t>
              </a:r>
              <a:r>
                <a:rPr lang="pl-PL" sz="800" kern="0" spc="-31" dirty="0">
                  <a:solidFill>
                    <a:srgbClr val="3B5168"/>
                  </a:solidFill>
                  <a:ea typeface="Calibri"/>
                  <a:cs typeface="Calibri"/>
                </a:rPr>
                <a:t>trzeba minimalizować </a:t>
              </a:r>
              <a:r>
                <a:rPr lang="pl-PL" sz="800" kern="0" spc="-31" dirty="0" smtClean="0">
                  <a:solidFill>
                    <a:srgbClr val="3B5168"/>
                  </a:solidFill>
                  <a:ea typeface="Calibri"/>
                  <a:cs typeface="Calibri"/>
                </a:rPr>
                <a:t>danych</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Należy </a:t>
              </a:r>
              <a:r>
                <a:rPr lang="pl-PL" sz="800" kern="0" spc="-31" dirty="0">
                  <a:ea typeface="Calibri"/>
                  <a:cs typeface="Calibri"/>
                </a:rPr>
                <a:t>stosować zgodę </a:t>
              </a:r>
              <a:r>
                <a:rPr lang="pl-PL" sz="800" kern="0" spc="-31" dirty="0" err="1" smtClean="0">
                  <a:ea typeface="Calibri"/>
                  <a:cs typeface="Calibri"/>
                </a:rPr>
                <a:t>granularną</a:t>
              </a:r>
              <a:r>
                <a:rPr lang="pl-PL" sz="800" kern="0" spc="-31" dirty="0" smtClean="0">
                  <a:ea typeface="Calibri"/>
                  <a:cs typeface="Calibri"/>
                </a:rPr>
                <a:t> (szczegółową)</a:t>
              </a:r>
            </a:p>
            <a:p>
              <a:pPr marL="228600" lvl="0" indent="-228600">
                <a:buSzPct val="100000"/>
                <a:buFont typeface="Calibri Light"/>
                <a:buAutoNum type="alphaUcPeriod"/>
                <a:tabLst>
                  <a:tab pos="0" algn="l"/>
                </a:tabLst>
                <a:defRPr lang="pl-PL" sz="1800" b="0" i="0" u="none" strike="noStrike" kern="0" cap="none" spc="0" baseline="0">
                  <a:solidFill>
                    <a:srgbClr val="000000"/>
                  </a:solidFill>
                  <a:uFillTx/>
                </a:defRPr>
              </a:pPr>
              <a:r>
                <a:rPr lang="pl-PL" sz="800" kern="0" spc="-31" dirty="0" smtClean="0">
                  <a:ea typeface="Calibri"/>
                  <a:cs typeface="Calibri"/>
                </a:rPr>
                <a:t>Należy </a:t>
              </a:r>
              <a:r>
                <a:rPr lang="pl-PL" sz="800" kern="0" spc="-31" dirty="0">
                  <a:ea typeface="Calibri"/>
                  <a:cs typeface="Calibri"/>
                </a:rPr>
                <a:t>preferować przetwarzanie </a:t>
              </a:r>
              <a:r>
                <a:rPr lang="pl-PL" sz="800" kern="0" spc="-31" dirty="0" smtClean="0">
                  <a:ea typeface="Calibri"/>
                  <a:cs typeface="Calibri"/>
                </a:rPr>
                <a:t>lokalne</a:t>
              </a:r>
              <a:endParaRPr lang="pl-PL" sz="800" b="0" i="0" u="none" strike="noStrike" kern="0" cap="none" spc="-31" baseline="0" dirty="0">
                <a:uFillTx/>
                <a:latin typeface="Calibri"/>
                <a:ea typeface="Calibri"/>
                <a:cs typeface="Calibri"/>
              </a:endParaRPr>
            </a:p>
          </p:txBody>
        </p:sp>
      </p:grpSp>
    </p:spTree>
    <p:extLst>
      <p:ext uri="{BB962C8B-B14F-4D97-AF65-F5344CB8AC3E}">
        <p14:creationId xmlns:p14="http://schemas.microsoft.com/office/powerpoint/2010/main" val="42762635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20A1E"/>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 name="Text 1"/>
          <p:cNvSpPr/>
          <p:nvPr/>
        </p:nvSpPr>
        <p:spPr>
          <a:xfrm>
            <a:off x="365760" y="36000"/>
            <a:ext cx="8412480" cy="468000"/>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200" b="1" i="0" u="none" strike="noStrike" kern="1200" cap="none" spc="0" baseline="0" dirty="0" err="1" smtClean="0">
                <a:solidFill>
                  <a:srgbClr val="FFFFFF"/>
                </a:solidFill>
                <a:uFillTx/>
                <a:latin typeface="Cambria" pitchFamily="34"/>
                <a:ea typeface="Cambria" pitchFamily="34"/>
                <a:cs typeface="Cambria" pitchFamily="34"/>
              </a:rPr>
              <a:t>Podsumowanie</a:t>
            </a:r>
            <a:r>
              <a:rPr lang="pl-PL" sz="2200" b="1" i="0" u="none" strike="noStrike" kern="1200" cap="none" spc="0" baseline="0" dirty="0" smtClean="0">
                <a:solidFill>
                  <a:srgbClr val="FFFFFF"/>
                </a:solidFill>
                <a:uFillTx/>
                <a:latin typeface="Cambria" pitchFamily="34"/>
                <a:ea typeface="Cambria" pitchFamily="34"/>
                <a:cs typeface="Cambria" pitchFamily="34"/>
              </a:rPr>
              <a:t> i trendy na przyszłość</a:t>
            </a:r>
            <a:endParaRPr lang="en-US" sz="2200" b="0" i="0" u="none" strike="noStrike" kern="1200" cap="none" spc="0" baseline="0" dirty="0">
              <a:solidFill>
                <a:srgbClr val="000000"/>
              </a:solidFill>
              <a:uFillTx/>
              <a:latin typeface="Calibri"/>
            </a:endParaRPr>
          </a:p>
        </p:txBody>
      </p:sp>
      <p:sp>
        <p:nvSpPr>
          <p:cNvPr id="4" name="Shape 2"/>
          <p:cNvSpPr/>
          <p:nvPr/>
        </p:nvSpPr>
        <p:spPr>
          <a:xfrm>
            <a:off x="215590" y="658368"/>
            <a:ext cx="2847650" cy="914400"/>
          </a:xfrm>
          <a:prstGeom prst="rect">
            <a:avLst/>
          </a:prstGeom>
          <a:solidFill>
            <a:srgbClr val="1C1130"/>
          </a:solidFill>
          <a:ln w="12701" cap="flat">
            <a:solidFill>
              <a:srgbClr val="7C3AED"/>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5" name="Shape 3"/>
          <p:cNvSpPr/>
          <p:nvPr/>
        </p:nvSpPr>
        <p:spPr>
          <a:xfrm>
            <a:off x="215590" y="658368"/>
            <a:ext cx="2847650" cy="36576"/>
          </a:xfrm>
          <a:prstGeom prst="rect">
            <a:avLst/>
          </a:prstGeom>
          <a:solidFill>
            <a:srgbClr val="7C3AED"/>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6" name="Text 4"/>
          <p:cNvSpPr/>
          <p:nvPr/>
        </p:nvSpPr>
        <p:spPr>
          <a:xfrm>
            <a:off x="320040" y="719328"/>
            <a:ext cx="2688336"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dirty="0">
                <a:solidFill>
                  <a:srgbClr val="9C85C1"/>
                </a:solidFill>
                <a:uFillTx/>
                <a:latin typeface="Cambria" pitchFamily="34"/>
                <a:ea typeface="Cambria" pitchFamily="34"/>
                <a:cs typeface="Cambria" pitchFamily="34"/>
              </a:rPr>
              <a:t>LLM + Affective Fusion</a:t>
            </a:r>
            <a:endParaRPr lang="en-US" sz="1400" b="0" i="0" u="none" strike="noStrike" kern="1200" cap="none" spc="0" baseline="0" dirty="0">
              <a:solidFill>
                <a:srgbClr val="9C85C1"/>
              </a:solidFill>
              <a:uFillTx/>
              <a:latin typeface="Calibri"/>
            </a:endParaRPr>
          </a:p>
        </p:txBody>
      </p:sp>
      <p:sp>
        <p:nvSpPr>
          <p:cNvPr id="7" name="Text 5"/>
          <p:cNvSpPr/>
          <p:nvPr/>
        </p:nvSpPr>
        <p:spPr>
          <a:xfrm>
            <a:off x="320040" y="1042416"/>
            <a:ext cx="2688336"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chemeClr val="bg1"/>
                </a:solidFill>
                <a:uFillTx/>
                <a:latin typeface="Calibri" pitchFamily="34"/>
                <a:ea typeface="Calibri" pitchFamily="34"/>
                <a:cs typeface="Calibri" pitchFamily="34"/>
              </a:rPr>
              <a:t>GPT-4o / Gemini 1.5 </a:t>
            </a:r>
            <a:r>
              <a:rPr lang="en-US" sz="1000" b="0" i="0" u="none" strike="noStrike" kern="1200" cap="none" spc="0" baseline="0" dirty="0" err="1">
                <a:solidFill>
                  <a:schemeClr val="bg1"/>
                </a:solidFill>
                <a:uFillTx/>
                <a:latin typeface="Calibri" pitchFamily="34"/>
                <a:ea typeface="Calibri" pitchFamily="34"/>
                <a:cs typeface="Calibri" pitchFamily="34"/>
              </a:rPr>
              <a:t>rozumieją</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emocje</a:t>
            </a:r>
            <a:r>
              <a:rPr lang="en-US" sz="1000" b="0" i="0" u="none" strike="noStrike" kern="1200" cap="none" spc="0" baseline="0" dirty="0">
                <a:solidFill>
                  <a:schemeClr val="bg1"/>
                </a:solidFill>
                <a:uFillTx/>
                <a:latin typeface="Calibri" pitchFamily="34"/>
                <a:ea typeface="Calibri" pitchFamily="34"/>
                <a:cs typeface="Calibri" pitchFamily="34"/>
              </a:rPr>
              <a:t> z </a:t>
            </a:r>
            <a:r>
              <a:rPr lang="en-US" sz="1000" b="0" i="0" u="none" strike="noStrike" kern="1200" cap="none" spc="0" baseline="0" dirty="0" err="1">
                <a:solidFill>
                  <a:schemeClr val="bg1"/>
                </a:solidFill>
                <a:uFillTx/>
                <a:latin typeface="Calibri" pitchFamily="34"/>
                <a:ea typeface="Calibri" pitchFamily="34"/>
                <a:cs typeface="Calibri" pitchFamily="34"/>
              </a:rPr>
              <a:t>tekstu</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obrazu</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i</a:t>
            </a:r>
            <a:r>
              <a:rPr lang="en-US" sz="1000" b="0" i="0" u="none" strike="noStrike" kern="1200" cap="none" spc="0" baseline="0" dirty="0">
                <a:solidFill>
                  <a:schemeClr val="bg1"/>
                </a:solidFill>
                <a:uFillTx/>
                <a:latin typeface="Calibri" pitchFamily="34"/>
                <a:ea typeface="Calibri" pitchFamily="34"/>
                <a:cs typeface="Calibri" pitchFamily="34"/>
              </a:rPr>
              <a:t> audio </a:t>
            </a:r>
            <a:r>
              <a:rPr lang="en-US" sz="1000" b="0" i="0" u="none" strike="noStrike" kern="1200" cap="none" spc="0" baseline="0" dirty="0" err="1">
                <a:solidFill>
                  <a:schemeClr val="bg1"/>
                </a:solidFill>
                <a:uFillTx/>
                <a:latin typeface="Calibri" pitchFamily="34"/>
                <a:ea typeface="Calibri" pitchFamily="34"/>
                <a:cs typeface="Calibri" pitchFamily="34"/>
              </a:rPr>
              <a:t>jednocześnie</a:t>
            </a:r>
            <a:r>
              <a:rPr lang="en-US" sz="1000" b="0" i="0" u="none" strike="noStrike" kern="1200" cap="none" spc="0" baseline="0" dirty="0">
                <a:solidFill>
                  <a:schemeClr val="bg1"/>
                </a:solidFill>
                <a:uFillTx/>
                <a:latin typeface="Calibri" pitchFamily="34"/>
                <a:ea typeface="Calibri" pitchFamily="34"/>
                <a:cs typeface="Calibri" pitchFamily="34"/>
              </a:rPr>
              <a:t>. Multimodal LLMs </a:t>
            </a:r>
            <a:r>
              <a:rPr lang="en-US" sz="1000" b="0" i="0" u="none" strike="noStrike" kern="1200" cap="none" spc="0" baseline="0" dirty="0" err="1">
                <a:solidFill>
                  <a:schemeClr val="bg1"/>
                </a:solidFill>
                <a:uFillTx/>
                <a:latin typeface="Calibri" pitchFamily="34"/>
                <a:ea typeface="Calibri" pitchFamily="34"/>
                <a:cs typeface="Calibri" pitchFamily="34"/>
              </a:rPr>
              <a:t>rewolucjonizują</a:t>
            </a:r>
            <a:r>
              <a:rPr lang="en-US" sz="1000" b="0" i="0" u="none" strike="noStrike" kern="1200" cap="none" spc="0" baseline="0" dirty="0">
                <a:solidFill>
                  <a:schemeClr val="bg1"/>
                </a:solidFill>
                <a:uFillTx/>
                <a:latin typeface="Calibri" pitchFamily="34"/>
                <a:ea typeface="Calibri" pitchFamily="34"/>
                <a:cs typeface="Calibri" pitchFamily="34"/>
              </a:rPr>
              <a:t> SER </a:t>
            </a:r>
            <a:r>
              <a:rPr lang="en-US" sz="1000" b="0" i="0" u="none" strike="noStrike" kern="1200" cap="none" spc="0" baseline="0" dirty="0" err="1">
                <a:solidFill>
                  <a:schemeClr val="bg1"/>
                </a:solidFill>
                <a:uFillTx/>
                <a:latin typeface="Calibri" pitchFamily="34"/>
                <a:ea typeface="Calibri" pitchFamily="34"/>
                <a:cs typeface="Calibri" pitchFamily="34"/>
              </a:rPr>
              <a:t>i</a:t>
            </a:r>
            <a:r>
              <a:rPr lang="en-US" sz="1000" b="0" i="0" u="none" strike="noStrike" kern="1200" cap="none" spc="0" baseline="0" dirty="0">
                <a:solidFill>
                  <a:schemeClr val="bg1"/>
                </a:solidFill>
                <a:uFillTx/>
                <a:latin typeface="Calibri" pitchFamily="34"/>
                <a:ea typeface="Calibri" pitchFamily="34"/>
                <a:cs typeface="Calibri" pitchFamily="34"/>
              </a:rPr>
              <a:t> FER.</a:t>
            </a:r>
            <a:endParaRPr lang="en-US" sz="1000" b="0" i="0" u="none" strike="noStrike" kern="1200" cap="none" spc="0" baseline="0" dirty="0">
              <a:solidFill>
                <a:schemeClr val="bg1"/>
              </a:solidFill>
              <a:uFillTx/>
              <a:latin typeface="Calibri"/>
            </a:endParaRPr>
          </a:p>
        </p:txBody>
      </p:sp>
      <p:sp>
        <p:nvSpPr>
          <p:cNvPr id="8" name="Shape 6"/>
          <p:cNvSpPr/>
          <p:nvPr/>
        </p:nvSpPr>
        <p:spPr>
          <a:xfrm>
            <a:off x="3200400" y="658368"/>
            <a:ext cx="2743200" cy="914400"/>
          </a:xfrm>
          <a:prstGeom prst="rect">
            <a:avLst/>
          </a:prstGeom>
          <a:solidFill>
            <a:srgbClr val="1C1130"/>
          </a:solidFill>
          <a:ln w="12701" cap="flat">
            <a:solidFill>
              <a:srgbClr val="E11D48"/>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9" name="Shape 7"/>
          <p:cNvSpPr/>
          <p:nvPr/>
        </p:nvSpPr>
        <p:spPr>
          <a:xfrm>
            <a:off x="3200400" y="658368"/>
            <a:ext cx="2743200" cy="36576"/>
          </a:xfrm>
          <a:prstGeom prst="rect">
            <a:avLst/>
          </a:prstGeom>
          <a:solidFill>
            <a:srgbClr val="E11D48"/>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0" name="Text 8"/>
          <p:cNvSpPr/>
          <p:nvPr/>
        </p:nvSpPr>
        <p:spPr>
          <a:xfrm>
            <a:off x="3310128" y="719328"/>
            <a:ext cx="2578608"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dirty="0" err="1">
                <a:solidFill>
                  <a:srgbClr val="E11D48"/>
                </a:solidFill>
                <a:uFillTx/>
                <a:latin typeface="Cambria" pitchFamily="34"/>
                <a:ea typeface="Cambria" pitchFamily="34"/>
                <a:cs typeface="Cambria" pitchFamily="34"/>
              </a:rPr>
              <a:t>Generatywna</a:t>
            </a:r>
            <a:r>
              <a:rPr lang="en-US" sz="1400" b="1" i="0" u="none" strike="noStrike" kern="1200" cap="none" spc="0" baseline="0" dirty="0">
                <a:solidFill>
                  <a:srgbClr val="E11D48"/>
                </a:solidFill>
                <a:uFillTx/>
                <a:latin typeface="Cambria" pitchFamily="34"/>
                <a:ea typeface="Cambria" pitchFamily="34"/>
                <a:cs typeface="Cambria" pitchFamily="34"/>
              </a:rPr>
              <a:t> </a:t>
            </a:r>
            <a:r>
              <a:rPr lang="en-US" sz="1400" b="1" i="0" u="none" strike="noStrike" kern="1200" cap="none" spc="0" baseline="0" dirty="0" err="1">
                <a:solidFill>
                  <a:srgbClr val="E11D48"/>
                </a:solidFill>
                <a:uFillTx/>
                <a:latin typeface="Cambria" pitchFamily="34"/>
                <a:ea typeface="Cambria" pitchFamily="34"/>
                <a:cs typeface="Cambria" pitchFamily="34"/>
              </a:rPr>
              <a:t>Empatia</a:t>
            </a:r>
            <a:endParaRPr lang="en-US" sz="1400" b="0" i="0" u="none" strike="noStrike" kern="1200" cap="none" spc="0" baseline="0" dirty="0">
              <a:solidFill>
                <a:srgbClr val="000000"/>
              </a:solidFill>
              <a:uFillTx/>
              <a:latin typeface="Calibri"/>
            </a:endParaRPr>
          </a:p>
        </p:txBody>
      </p:sp>
      <p:sp>
        <p:nvSpPr>
          <p:cNvPr id="11" name="Text 9"/>
          <p:cNvSpPr/>
          <p:nvPr/>
        </p:nvSpPr>
        <p:spPr>
          <a:xfrm>
            <a:off x="3253740" y="1042416"/>
            <a:ext cx="2634996"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chemeClr val="bg1"/>
                </a:solidFill>
                <a:uFillTx/>
                <a:latin typeface="Calibri" pitchFamily="34"/>
                <a:ea typeface="Calibri" pitchFamily="34"/>
                <a:cs typeface="Calibri" pitchFamily="34"/>
              </a:rPr>
              <a:t>AI </a:t>
            </a:r>
            <a:r>
              <a:rPr lang="en-US" sz="1000" b="0" i="0" u="none" strike="noStrike" kern="1200" cap="none" spc="0" baseline="0" dirty="0" err="1">
                <a:solidFill>
                  <a:schemeClr val="bg1"/>
                </a:solidFill>
                <a:uFillTx/>
                <a:latin typeface="Calibri" pitchFamily="34"/>
                <a:ea typeface="Calibri" pitchFamily="34"/>
                <a:cs typeface="Calibri" pitchFamily="34"/>
              </a:rPr>
              <a:t>generuje</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empatyczne</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odpowiedzi</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dostosowane</a:t>
            </a:r>
            <a:r>
              <a:rPr lang="en-US" sz="1000" b="0" i="0" u="none" strike="noStrike" kern="1200" cap="none" spc="0" baseline="0" dirty="0">
                <a:solidFill>
                  <a:schemeClr val="bg1"/>
                </a:solidFill>
                <a:uFillTx/>
                <a:latin typeface="Calibri" pitchFamily="34"/>
                <a:ea typeface="Calibri" pitchFamily="34"/>
                <a:cs typeface="Calibri" pitchFamily="34"/>
              </a:rPr>
              <a:t> do </a:t>
            </a:r>
            <a:r>
              <a:rPr lang="en-US" sz="1000" b="0" i="0" u="none" strike="noStrike" kern="1200" cap="none" spc="0" baseline="0" dirty="0" err="1">
                <a:solidFill>
                  <a:schemeClr val="bg1"/>
                </a:solidFill>
                <a:uFillTx/>
                <a:latin typeface="Calibri" pitchFamily="34"/>
                <a:ea typeface="Calibri" pitchFamily="34"/>
                <a:cs typeface="Calibri" pitchFamily="34"/>
              </a:rPr>
              <a:t>emocji</a:t>
            </a:r>
            <a:r>
              <a:rPr lang="en-US" sz="1000" b="0" i="0" u="none" strike="noStrike" kern="1200" cap="none" spc="0" baseline="0" dirty="0">
                <a:solidFill>
                  <a:schemeClr val="bg1"/>
                </a:solidFill>
                <a:uFillTx/>
                <a:latin typeface="Calibri" pitchFamily="34"/>
                <a:ea typeface="Calibri" pitchFamily="34"/>
                <a:cs typeface="Calibri" pitchFamily="34"/>
              </a:rPr>
              <a:t> </a:t>
            </a:r>
            <a:r>
              <a:rPr lang="pl-PL" sz="1000" b="0" i="0" u="none" strike="noStrike" kern="1200" cap="none" spc="0" baseline="0" dirty="0" smtClean="0">
                <a:solidFill>
                  <a:schemeClr val="bg1"/>
                </a:solidFill>
                <a:uFillTx/>
                <a:latin typeface="Calibri" pitchFamily="34"/>
                <a:ea typeface="Calibri" pitchFamily="34"/>
                <a:cs typeface="Calibri" pitchFamily="34"/>
              </a:rPr>
              <a:t>-</a:t>
            </a:r>
            <a:r>
              <a:rPr lang="en-US" sz="1000" b="0" i="0" u="none" strike="noStrike" kern="1200" cap="none" spc="0" baseline="0" dirty="0" smtClean="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nie</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tylko</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rozpoznaje</a:t>
            </a:r>
            <a:r>
              <a:rPr lang="en-US" sz="1000" b="0" i="0" u="none" strike="noStrike" kern="1200" cap="none" spc="0" baseline="0" dirty="0">
                <a:solidFill>
                  <a:schemeClr val="bg1"/>
                </a:solidFill>
                <a:uFillTx/>
                <a:latin typeface="Calibri" pitchFamily="34"/>
                <a:ea typeface="Calibri" pitchFamily="34"/>
                <a:cs typeface="Calibri" pitchFamily="34"/>
              </a:rPr>
              <a:t>, ale ODPOWIADA </a:t>
            </a:r>
            <a:r>
              <a:rPr lang="en-US" sz="1000" b="0" i="0" u="none" strike="noStrike" kern="1200" cap="none" spc="0" baseline="0" dirty="0" err="1">
                <a:solidFill>
                  <a:schemeClr val="bg1"/>
                </a:solidFill>
                <a:uFillTx/>
                <a:latin typeface="Calibri" pitchFamily="34"/>
                <a:ea typeface="Calibri" pitchFamily="34"/>
                <a:cs typeface="Calibri" pitchFamily="34"/>
              </a:rPr>
              <a:t>emocjonalnie</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Replika</a:t>
            </a:r>
            <a:r>
              <a:rPr lang="en-US" sz="1000" b="0" i="0" u="none" strike="noStrike" kern="1200" cap="none" spc="0" baseline="0" dirty="0">
                <a:solidFill>
                  <a:schemeClr val="bg1"/>
                </a:solidFill>
                <a:uFillTx/>
                <a:latin typeface="Calibri" pitchFamily="34"/>
                <a:ea typeface="Calibri" pitchFamily="34"/>
                <a:cs typeface="Calibri" pitchFamily="34"/>
              </a:rPr>
              <a:t>, Pi, Claude).</a:t>
            </a:r>
            <a:endParaRPr lang="en-US" sz="1000" b="0" i="0" u="none" strike="noStrike" kern="1200" cap="none" spc="0" baseline="0" dirty="0">
              <a:solidFill>
                <a:schemeClr val="bg1"/>
              </a:solidFill>
              <a:uFillTx/>
              <a:latin typeface="Calibri"/>
            </a:endParaRPr>
          </a:p>
        </p:txBody>
      </p:sp>
      <p:sp>
        <p:nvSpPr>
          <p:cNvPr id="12" name="Shape 10"/>
          <p:cNvSpPr/>
          <p:nvPr/>
        </p:nvSpPr>
        <p:spPr>
          <a:xfrm>
            <a:off x="6080759" y="658368"/>
            <a:ext cx="2743200" cy="914400"/>
          </a:xfrm>
          <a:prstGeom prst="rect">
            <a:avLst/>
          </a:prstGeom>
          <a:solidFill>
            <a:srgbClr val="1C1130"/>
          </a:solidFill>
          <a:ln w="12701" cap="flat">
            <a:solidFill>
              <a:srgbClr val="D97706"/>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3" name="Shape 11"/>
          <p:cNvSpPr/>
          <p:nvPr/>
        </p:nvSpPr>
        <p:spPr>
          <a:xfrm>
            <a:off x="6080759" y="658368"/>
            <a:ext cx="2743200" cy="36576"/>
          </a:xfrm>
          <a:prstGeom prst="rect">
            <a:avLst/>
          </a:prstGeom>
          <a:solidFill>
            <a:srgbClr val="D97706"/>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4" name="Text 12"/>
          <p:cNvSpPr/>
          <p:nvPr/>
        </p:nvSpPr>
        <p:spPr>
          <a:xfrm>
            <a:off x="6167628" y="719328"/>
            <a:ext cx="2578608" cy="256032"/>
          </a:xfrm>
          <a:prstGeom prst="rect">
            <a:avLst/>
          </a:prstGeom>
          <a:noFill/>
          <a:ln cap="flat">
            <a:noFill/>
            <a:prstDash val="solid"/>
          </a:ln>
        </p:spPr>
        <p:txBody>
          <a:bodyPr vert="horz" wrap="square" lIns="0" tIns="0" rIns="0" bIns="0" anchor="ctr" anchorCtr="0" compatLnSpc="1">
            <a:noAutofit/>
          </a:bodyPr>
          <a:lstStyle/>
          <a:p>
            <a:pPr lvl="0">
              <a:defRPr sz="1800" b="0" i="0" u="none" strike="noStrike" kern="0" cap="none" spc="0" baseline="0">
                <a:solidFill>
                  <a:srgbClr val="000000"/>
                </a:solidFill>
                <a:uFillTx/>
              </a:defRPr>
            </a:pPr>
            <a:r>
              <a:rPr lang="en-US" sz="1400" b="1" dirty="0" err="1">
                <a:solidFill>
                  <a:srgbClr val="D97706"/>
                </a:solidFill>
                <a:latin typeface="Cambria" pitchFamily="34"/>
                <a:ea typeface="Cambria" pitchFamily="34"/>
                <a:cs typeface="Cambria" pitchFamily="34"/>
              </a:rPr>
              <a:t>Ciągłe</a:t>
            </a:r>
            <a:r>
              <a:rPr lang="en-US" sz="1400" b="1" dirty="0">
                <a:solidFill>
                  <a:srgbClr val="D97706"/>
                </a:solidFill>
                <a:latin typeface="Cambria" pitchFamily="34"/>
                <a:ea typeface="Cambria" pitchFamily="34"/>
                <a:cs typeface="Cambria" pitchFamily="34"/>
              </a:rPr>
              <a:t> </a:t>
            </a:r>
            <a:r>
              <a:rPr lang="en-US" sz="1400" b="1" dirty="0" err="1">
                <a:solidFill>
                  <a:srgbClr val="D97706"/>
                </a:solidFill>
                <a:latin typeface="Cambria" pitchFamily="34"/>
                <a:ea typeface="Cambria" pitchFamily="34"/>
                <a:cs typeface="Cambria" pitchFamily="34"/>
              </a:rPr>
              <a:t>pasywne</a:t>
            </a:r>
            <a:r>
              <a:rPr lang="en-US" sz="1400" b="1" dirty="0">
                <a:solidFill>
                  <a:srgbClr val="D97706"/>
                </a:solidFill>
                <a:latin typeface="Cambria" pitchFamily="34"/>
                <a:ea typeface="Cambria" pitchFamily="34"/>
                <a:cs typeface="Cambria" pitchFamily="34"/>
              </a:rPr>
              <a:t> </a:t>
            </a:r>
            <a:r>
              <a:rPr lang="en-US" sz="1400" b="1" dirty="0" err="1">
                <a:solidFill>
                  <a:srgbClr val="D97706"/>
                </a:solidFill>
                <a:latin typeface="Cambria" pitchFamily="34"/>
                <a:ea typeface="Cambria" pitchFamily="34"/>
                <a:cs typeface="Cambria" pitchFamily="34"/>
              </a:rPr>
              <a:t>monitorowanie</a:t>
            </a:r>
            <a:endParaRPr lang="en-US" sz="1400" b="0" i="0" u="none" strike="noStrike" kern="1200" cap="none" spc="0" baseline="0" dirty="0">
              <a:solidFill>
                <a:srgbClr val="000000"/>
              </a:solidFill>
              <a:uFillTx/>
              <a:latin typeface="Calibri"/>
            </a:endParaRPr>
          </a:p>
        </p:txBody>
      </p:sp>
      <p:sp>
        <p:nvSpPr>
          <p:cNvPr id="15" name="Text 13"/>
          <p:cNvSpPr/>
          <p:nvPr/>
        </p:nvSpPr>
        <p:spPr>
          <a:xfrm>
            <a:off x="6190488" y="1042416"/>
            <a:ext cx="2578608"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a:solidFill>
                  <a:schemeClr val="bg1"/>
                </a:solidFill>
                <a:uFillTx/>
                <a:latin typeface="Calibri" pitchFamily="34"/>
                <a:ea typeface="Calibri" pitchFamily="34"/>
                <a:cs typeface="Calibri" pitchFamily="34"/>
              </a:rPr>
              <a:t>Smartwatch + ring (Oura, Samsung Ring) → 24/7 EDA, HRV, temperatura. Digital phenotyping bez jawnego działania użytkownika.</a:t>
            </a:r>
            <a:endParaRPr lang="en-US" sz="1000" b="0" i="0" u="none" strike="noStrike" kern="1200" cap="none" spc="0" baseline="0">
              <a:solidFill>
                <a:schemeClr val="bg1"/>
              </a:solidFill>
              <a:uFillTx/>
              <a:latin typeface="Calibri"/>
            </a:endParaRPr>
          </a:p>
        </p:txBody>
      </p:sp>
      <p:sp>
        <p:nvSpPr>
          <p:cNvPr id="16" name="Shape 14"/>
          <p:cNvSpPr/>
          <p:nvPr/>
        </p:nvSpPr>
        <p:spPr>
          <a:xfrm>
            <a:off x="215590" y="1682496"/>
            <a:ext cx="2847650" cy="914400"/>
          </a:xfrm>
          <a:prstGeom prst="rect">
            <a:avLst/>
          </a:prstGeom>
          <a:solidFill>
            <a:srgbClr val="1C1130"/>
          </a:solidFill>
          <a:ln w="12701" cap="flat">
            <a:solidFill>
              <a:srgbClr val="0891B2"/>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7" name="Shape 15"/>
          <p:cNvSpPr/>
          <p:nvPr/>
        </p:nvSpPr>
        <p:spPr>
          <a:xfrm>
            <a:off x="215590" y="1682496"/>
            <a:ext cx="2847650" cy="36576"/>
          </a:xfrm>
          <a:prstGeom prst="rect">
            <a:avLst/>
          </a:prstGeom>
          <a:solidFill>
            <a:srgbClr val="0891B2"/>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18" name="Text 16"/>
          <p:cNvSpPr/>
          <p:nvPr/>
        </p:nvSpPr>
        <p:spPr>
          <a:xfrm>
            <a:off x="320040" y="1743456"/>
            <a:ext cx="2688336"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dirty="0" err="1">
                <a:solidFill>
                  <a:srgbClr val="0891B2"/>
                </a:solidFill>
                <a:uFillTx/>
                <a:latin typeface="Cambria" pitchFamily="34"/>
                <a:ea typeface="Cambria" pitchFamily="34"/>
                <a:cs typeface="Cambria" pitchFamily="34"/>
              </a:rPr>
              <a:t>Neurosymboliczne</a:t>
            </a:r>
            <a:r>
              <a:rPr lang="en-US" sz="1400" b="1" i="0" u="none" strike="noStrike" kern="1200" cap="none" spc="0" baseline="0" dirty="0">
                <a:solidFill>
                  <a:srgbClr val="0891B2"/>
                </a:solidFill>
                <a:uFillTx/>
                <a:latin typeface="Cambria" pitchFamily="34"/>
                <a:ea typeface="Cambria" pitchFamily="34"/>
                <a:cs typeface="Cambria" pitchFamily="34"/>
              </a:rPr>
              <a:t> AI</a:t>
            </a:r>
            <a:endParaRPr lang="en-US" sz="1400" b="0" i="0" u="none" strike="noStrike" kern="1200" cap="none" spc="0" baseline="0" dirty="0">
              <a:solidFill>
                <a:srgbClr val="000000"/>
              </a:solidFill>
              <a:uFillTx/>
              <a:latin typeface="Calibri"/>
            </a:endParaRPr>
          </a:p>
        </p:txBody>
      </p:sp>
      <p:sp>
        <p:nvSpPr>
          <p:cNvPr id="19" name="Text 17"/>
          <p:cNvSpPr/>
          <p:nvPr/>
        </p:nvSpPr>
        <p:spPr>
          <a:xfrm>
            <a:off x="274320" y="2066544"/>
            <a:ext cx="2734056"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chemeClr val="bg1"/>
                </a:solidFill>
                <a:uFillTx/>
                <a:latin typeface="Calibri" pitchFamily="34"/>
                <a:ea typeface="Calibri" pitchFamily="34"/>
                <a:cs typeface="Calibri" pitchFamily="34"/>
              </a:rPr>
              <a:t>Połączenie</a:t>
            </a:r>
            <a:r>
              <a:rPr lang="en-US" sz="1000" b="0" i="0" u="none" strike="noStrike" kern="1200" cap="none" spc="0" baseline="0" dirty="0">
                <a:solidFill>
                  <a:schemeClr val="bg1"/>
                </a:solidFill>
                <a:uFillTx/>
                <a:latin typeface="Calibri" pitchFamily="34"/>
                <a:ea typeface="Calibri" pitchFamily="34"/>
                <a:cs typeface="Calibri" pitchFamily="34"/>
              </a:rPr>
              <a:t> neural nets z </a:t>
            </a:r>
            <a:r>
              <a:rPr lang="en-US" sz="1000" b="0" i="0" u="none" strike="noStrike" kern="1200" cap="none" spc="0" baseline="0" dirty="0" err="1">
                <a:solidFill>
                  <a:schemeClr val="bg1"/>
                </a:solidFill>
                <a:uFillTx/>
                <a:latin typeface="Calibri" pitchFamily="34"/>
                <a:ea typeface="Calibri" pitchFamily="34"/>
                <a:cs typeface="Calibri" pitchFamily="34"/>
              </a:rPr>
              <a:t>regułami</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smtClean="0">
                <a:solidFill>
                  <a:schemeClr val="bg1"/>
                </a:solidFill>
                <a:uFillTx/>
                <a:latin typeface="Calibri" pitchFamily="34"/>
                <a:ea typeface="Calibri" pitchFamily="34"/>
                <a:cs typeface="Calibri" pitchFamily="34"/>
              </a:rPr>
              <a:t>psychologicznymi</a:t>
            </a:r>
            <a:r>
              <a:rPr lang="pl-PL" sz="1000" dirty="0" smtClean="0">
                <a:solidFill>
                  <a:schemeClr val="bg1"/>
                </a:solidFill>
                <a:latin typeface="Calibri" pitchFamily="34"/>
                <a:ea typeface="Calibri" pitchFamily="34"/>
                <a:cs typeface="Calibri" pitchFamily="34"/>
              </a:rPr>
              <a:t>.</a:t>
            </a:r>
            <a:r>
              <a:rPr lang="en-US" sz="1000" b="0" i="0" u="none" strike="noStrike" kern="1200" cap="none" spc="0" baseline="0" dirty="0" smtClean="0">
                <a:solidFill>
                  <a:schemeClr val="bg1"/>
                </a:solidFill>
                <a:uFillTx/>
                <a:latin typeface="Calibri" pitchFamily="34"/>
                <a:ea typeface="Calibri" pitchFamily="34"/>
                <a:cs typeface="Calibri" pitchFamily="34"/>
              </a:rPr>
              <a:t> </a:t>
            </a:r>
            <a:r>
              <a:rPr lang="pl-PL" sz="1000" dirty="0" err="1" smtClean="0">
                <a:solidFill>
                  <a:schemeClr val="bg1"/>
                </a:solidFill>
                <a:latin typeface="Calibri" pitchFamily="34"/>
                <a:ea typeface="Calibri" pitchFamily="34"/>
                <a:cs typeface="Calibri" pitchFamily="34"/>
              </a:rPr>
              <a:t>M</a:t>
            </a:r>
            <a:r>
              <a:rPr lang="en-US" sz="1000" b="0" i="0" u="none" strike="noStrike" kern="1200" cap="none" spc="0" baseline="0" dirty="0" err="1" smtClean="0">
                <a:solidFill>
                  <a:schemeClr val="bg1"/>
                </a:solidFill>
                <a:uFillTx/>
                <a:latin typeface="Calibri" pitchFamily="34"/>
                <a:ea typeface="Calibri" pitchFamily="34"/>
                <a:cs typeface="Calibri" pitchFamily="34"/>
              </a:rPr>
              <a:t>odele</a:t>
            </a:r>
            <a:r>
              <a:rPr lang="en-US" sz="1000" b="0" i="0" u="none" strike="noStrike" kern="1200" cap="none" spc="0" baseline="0" dirty="0" smtClean="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zdolne</a:t>
            </a:r>
            <a:r>
              <a:rPr lang="en-US" sz="1000" b="0" i="0" u="none" strike="noStrike" kern="1200" cap="none" spc="0" baseline="0" dirty="0">
                <a:solidFill>
                  <a:schemeClr val="bg1"/>
                </a:solidFill>
                <a:uFillTx/>
                <a:latin typeface="Calibri" pitchFamily="34"/>
                <a:ea typeface="Calibri" pitchFamily="34"/>
                <a:cs typeface="Calibri" pitchFamily="34"/>
              </a:rPr>
              <a:t> do </a:t>
            </a:r>
            <a:r>
              <a:rPr lang="en-US" sz="1000" b="0" i="0" u="none" strike="noStrike" kern="1200" cap="none" spc="0" baseline="0" dirty="0" err="1">
                <a:solidFill>
                  <a:schemeClr val="bg1"/>
                </a:solidFill>
                <a:uFillTx/>
                <a:latin typeface="Calibri" pitchFamily="34"/>
                <a:ea typeface="Calibri" pitchFamily="34"/>
                <a:cs typeface="Calibri" pitchFamily="34"/>
              </a:rPr>
              <a:t>wnioskowania</a:t>
            </a:r>
            <a:r>
              <a:rPr lang="en-US" sz="1000" b="0" i="0" u="none" strike="noStrike" kern="1200" cap="none" spc="0" baseline="0" dirty="0">
                <a:solidFill>
                  <a:schemeClr val="bg1"/>
                </a:solidFill>
                <a:uFillTx/>
                <a:latin typeface="Calibri" pitchFamily="34"/>
                <a:ea typeface="Calibri" pitchFamily="34"/>
                <a:cs typeface="Calibri" pitchFamily="34"/>
              </a:rPr>
              <a:t> o </a:t>
            </a:r>
            <a:r>
              <a:rPr lang="en-US" sz="1000" b="0" i="0" u="none" strike="noStrike" kern="1200" cap="none" spc="0" baseline="0" dirty="0" err="1">
                <a:solidFill>
                  <a:schemeClr val="bg1"/>
                </a:solidFill>
                <a:uFillTx/>
                <a:latin typeface="Calibri" pitchFamily="34"/>
                <a:ea typeface="Calibri" pitchFamily="34"/>
                <a:cs typeface="Calibri" pitchFamily="34"/>
              </a:rPr>
              <a:t>emocjach</a:t>
            </a:r>
            <a:r>
              <a:rPr lang="en-US" sz="1000" b="0" i="0" u="none" strike="noStrike" kern="1200" cap="none" spc="0" baseline="0" dirty="0">
                <a:solidFill>
                  <a:schemeClr val="bg1"/>
                </a:solidFill>
                <a:uFillTx/>
                <a:latin typeface="Calibri" pitchFamily="34"/>
                <a:ea typeface="Calibri" pitchFamily="34"/>
                <a:cs typeface="Calibri" pitchFamily="34"/>
              </a:rPr>
              <a:t> </a:t>
            </a:r>
            <a:r>
              <a:rPr lang="pl-PL" sz="1000" b="0" i="0" u="none" strike="noStrike" kern="1200" cap="none" spc="0" baseline="0" dirty="0" smtClean="0">
                <a:solidFill>
                  <a:schemeClr val="bg1"/>
                </a:solidFill>
                <a:uFillTx/>
                <a:latin typeface="Calibri" pitchFamily="34"/>
                <a:ea typeface="Calibri" pitchFamily="34"/>
                <a:cs typeface="Calibri" pitchFamily="34"/>
              </a:rPr>
              <a:t/>
            </a:r>
            <a:br>
              <a:rPr lang="pl-PL" sz="1000" b="0" i="0" u="none" strike="noStrike" kern="1200" cap="none" spc="0" baseline="0" dirty="0" smtClean="0">
                <a:solidFill>
                  <a:schemeClr val="bg1"/>
                </a:solidFill>
                <a:uFillTx/>
                <a:latin typeface="Calibri" pitchFamily="34"/>
                <a:ea typeface="Calibri" pitchFamily="34"/>
                <a:cs typeface="Calibri" pitchFamily="34"/>
              </a:rPr>
            </a:br>
            <a:r>
              <a:rPr lang="en-US" sz="1000" b="0" i="0" u="none" strike="noStrike" kern="1200" cap="none" spc="0" baseline="0" dirty="0" smtClean="0">
                <a:solidFill>
                  <a:schemeClr val="bg1"/>
                </a:solidFill>
                <a:uFillTx/>
                <a:latin typeface="Calibri" pitchFamily="34"/>
                <a:ea typeface="Calibri" pitchFamily="34"/>
                <a:cs typeface="Calibri" pitchFamily="34"/>
              </a:rPr>
              <a:t>z </a:t>
            </a:r>
            <a:r>
              <a:rPr lang="en-US" sz="1000" b="0" i="0" u="none" strike="noStrike" kern="1200" cap="none" spc="0" baseline="0" dirty="0" err="1">
                <a:solidFill>
                  <a:schemeClr val="bg1"/>
                </a:solidFill>
                <a:uFillTx/>
                <a:latin typeface="Calibri" pitchFamily="34"/>
                <a:ea typeface="Calibri" pitchFamily="34"/>
                <a:cs typeface="Calibri" pitchFamily="34"/>
              </a:rPr>
              <a:t>kontekstu</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kulturowego</a:t>
            </a:r>
            <a:r>
              <a:rPr lang="en-US" sz="1000" b="0" i="0" u="none" strike="noStrike" kern="1200" cap="none" spc="0" baseline="0" dirty="0">
                <a:solidFill>
                  <a:schemeClr val="bg1"/>
                </a:solidFill>
                <a:uFillTx/>
                <a:latin typeface="Calibri" pitchFamily="34"/>
                <a:ea typeface="Calibri" pitchFamily="34"/>
                <a:cs typeface="Calibri" pitchFamily="34"/>
              </a:rPr>
              <a:t>.</a:t>
            </a:r>
            <a:endParaRPr lang="en-US" sz="1000" b="0" i="0" u="none" strike="noStrike" kern="1200" cap="none" spc="0" baseline="0" dirty="0">
              <a:solidFill>
                <a:schemeClr val="bg1"/>
              </a:solidFill>
              <a:uFillTx/>
              <a:latin typeface="Calibri"/>
            </a:endParaRPr>
          </a:p>
        </p:txBody>
      </p:sp>
      <p:sp>
        <p:nvSpPr>
          <p:cNvPr id="20" name="Shape 18"/>
          <p:cNvSpPr/>
          <p:nvPr/>
        </p:nvSpPr>
        <p:spPr>
          <a:xfrm>
            <a:off x="3200400" y="1682496"/>
            <a:ext cx="2743200" cy="914400"/>
          </a:xfrm>
          <a:prstGeom prst="rect">
            <a:avLst/>
          </a:prstGeom>
          <a:solidFill>
            <a:srgbClr val="1C1130"/>
          </a:solidFill>
          <a:ln w="12701" cap="flat">
            <a:solidFill>
              <a:srgbClr val="059669"/>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1" name="Shape 19"/>
          <p:cNvSpPr/>
          <p:nvPr/>
        </p:nvSpPr>
        <p:spPr>
          <a:xfrm>
            <a:off x="3200400" y="1682496"/>
            <a:ext cx="2743200" cy="36576"/>
          </a:xfrm>
          <a:prstGeom prst="rect">
            <a:avLst/>
          </a:prstGeom>
          <a:solidFill>
            <a:srgbClr val="059669"/>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2" name="Text 20"/>
          <p:cNvSpPr/>
          <p:nvPr/>
        </p:nvSpPr>
        <p:spPr>
          <a:xfrm>
            <a:off x="3310128" y="1743456"/>
            <a:ext cx="2578608"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a:solidFill>
                  <a:srgbClr val="059669"/>
                </a:solidFill>
                <a:uFillTx/>
                <a:latin typeface="Cambria" pitchFamily="34"/>
                <a:ea typeface="Cambria" pitchFamily="34"/>
                <a:cs typeface="Cambria" pitchFamily="34"/>
              </a:rPr>
              <a:t>EU AI Act → Etyczny Design</a:t>
            </a:r>
            <a:endParaRPr lang="en-US" sz="1400" b="0" i="0" u="none" strike="noStrike" kern="1200" cap="none" spc="0" baseline="0">
              <a:solidFill>
                <a:srgbClr val="000000"/>
              </a:solidFill>
              <a:uFillTx/>
              <a:latin typeface="Calibri"/>
            </a:endParaRPr>
          </a:p>
        </p:txBody>
      </p:sp>
      <p:sp>
        <p:nvSpPr>
          <p:cNvPr id="23" name="Text 21"/>
          <p:cNvSpPr/>
          <p:nvPr/>
        </p:nvSpPr>
        <p:spPr>
          <a:xfrm>
            <a:off x="3310128" y="2066544"/>
            <a:ext cx="2578608"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err="1">
                <a:solidFill>
                  <a:schemeClr val="bg1"/>
                </a:solidFill>
                <a:uFillTx/>
                <a:latin typeface="Calibri" pitchFamily="34"/>
                <a:ea typeface="Calibri" pitchFamily="34"/>
                <a:cs typeface="Calibri" pitchFamily="34"/>
              </a:rPr>
              <a:t>Zakaz</a:t>
            </a:r>
            <a:r>
              <a:rPr lang="en-US" sz="1000" b="0" i="0" u="none" strike="noStrike" kern="1200" cap="none" spc="0" baseline="0" dirty="0">
                <a:solidFill>
                  <a:schemeClr val="bg1"/>
                </a:solidFill>
                <a:uFillTx/>
                <a:latin typeface="Calibri" pitchFamily="34"/>
                <a:ea typeface="Calibri" pitchFamily="34"/>
                <a:cs typeface="Calibri" pitchFamily="34"/>
              </a:rPr>
              <a:t> emotion recognition w </a:t>
            </a:r>
            <a:r>
              <a:rPr lang="en-US" sz="1000" b="0" i="0" u="none" strike="noStrike" kern="1200" cap="none" spc="0" baseline="0" dirty="0" err="1">
                <a:solidFill>
                  <a:schemeClr val="bg1"/>
                </a:solidFill>
                <a:uFillTx/>
                <a:latin typeface="Calibri" pitchFamily="34"/>
                <a:ea typeface="Calibri" pitchFamily="34"/>
                <a:cs typeface="Calibri" pitchFamily="34"/>
              </a:rPr>
              <a:t>rekrutacji</a:t>
            </a:r>
            <a:r>
              <a:rPr lang="en-US" sz="1000" b="0" i="0" u="none" strike="noStrike" kern="1200" cap="none" spc="0" baseline="0" dirty="0">
                <a:solidFill>
                  <a:schemeClr val="bg1"/>
                </a:solidFill>
                <a:uFillTx/>
                <a:latin typeface="Calibri" pitchFamily="34"/>
                <a:ea typeface="Calibri" pitchFamily="34"/>
                <a:cs typeface="Calibri" pitchFamily="34"/>
              </a:rPr>
              <a:t> od 2026. </a:t>
            </a:r>
            <a:r>
              <a:rPr lang="en-US" sz="1000" b="0" i="0" u="none" strike="noStrike" kern="1200" cap="none" spc="0" baseline="0" dirty="0" err="1">
                <a:solidFill>
                  <a:schemeClr val="bg1"/>
                </a:solidFill>
                <a:uFillTx/>
                <a:latin typeface="Calibri" pitchFamily="34"/>
                <a:ea typeface="Calibri" pitchFamily="34"/>
                <a:cs typeface="Calibri" pitchFamily="34"/>
              </a:rPr>
              <a:t>Wymusz</a:t>
            </a:r>
            <a:r>
              <a:rPr lang="en-US" sz="1000" b="0" i="0" u="none" strike="noStrike" kern="1200" cap="none" spc="0" baseline="0" dirty="0">
                <a:solidFill>
                  <a:schemeClr val="bg1"/>
                </a:solidFill>
                <a:uFillTx/>
                <a:latin typeface="Calibri" pitchFamily="34"/>
                <a:ea typeface="Calibri" pitchFamily="34"/>
                <a:cs typeface="Calibri" pitchFamily="34"/>
              </a:rPr>
              <a:t> re-design </a:t>
            </a:r>
            <a:r>
              <a:rPr lang="en-US" sz="1000" b="0" i="0" u="none" strike="noStrike" kern="1200" cap="none" spc="0" baseline="0" dirty="0" err="1">
                <a:solidFill>
                  <a:schemeClr val="bg1"/>
                </a:solidFill>
                <a:uFillTx/>
                <a:latin typeface="Calibri" pitchFamily="34"/>
                <a:ea typeface="Calibri" pitchFamily="34"/>
                <a:cs typeface="Calibri" pitchFamily="34"/>
              </a:rPr>
              <a:t>systemów</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afektywnych</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na</a:t>
            </a:r>
            <a:r>
              <a:rPr lang="en-US" sz="1000" b="0" i="0" u="none" strike="noStrike" kern="1200" cap="none" spc="0" baseline="0" dirty="0">
                <a:solidFill>
                  <a:schemeClr val="bg1"/>
                </a:solidFill>
                <a:uFillTx/>
                <a:latin typeface="Calibri" pitchFamily="34"/>
                <a:ea typeface="Calibri" pitchFamily="34"/>
                <a:cs typeface="Calibri" pitchFamily="34"/>
              </a:rPr>
              <a:t> Explainable + Privacy-First.</a:t>
            </a:r>
            <a:endParaRPr lang="en-US" sz="1000" b="0" i="0" u="none" strike="noStrike" kern="1200" cap="none" spc="0" baseline="0" dirty="0">
              <a:solidFill>
                <a:schemeClr val="bg1"/>
              </a:solidFill>
              <a:uFillTx/>
              <a:latin typeface="Calibri"/>
            </a:endParaRPr>
          </a:p>
        </p:txBody>
      </p:sp>
      <p:sp>
        <p:nvSpPr>
          <p:cNvPr id="24" name="Shape 22"/>
          <p:cNvSpPr/>
          <p:nvPr/>
        </p:nvSpPr>
        <p:spPr>
          <a:xfrm>
            <a:off x="6080759" y="1682496"/>
            <a:ext cx="2743200" cy="914400"/>
          </a:xfrm>
          <a:prstGeom prst="rect">
            <a:avLst/>
          </a:prstGeom>
          <a:solidFill>
            <a:srgbClr val="1C1130"/>
          </a:solidFill>
          <a:ln w="12701" cap="flat">
            <a:solidFill>
              <a:srgbClr val="DB2777"/>
            </a:solidFill>
            <a:prstDash val="solid"/>
            <a:miter/>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5" name="Shape 23"/>
          <p:cNvSpPr/>
          <p:nvPr/>
        </p:nvSpPr>
        <p:spPr>
          <a:xfrm>
            <a:off x="6080759" y="1682496"/>
            <a:ext cx="2743200" cy="36576"/>
          </a:xfrm>
          <a:prstGeom prst="rect">
            <a:avLst/>
          </a:prstGeom>
          <a:solidFill>
            <a:srgbClr val="DB2777"/>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6" name="Text 24"/>
          <p:cNvSpPr/>
          <p:nvPr/>
        </p:nvSpPr>
        <p:spPr>
          <a:xfrm>
            <a:off x="6190488" y="1743456"/>
            <a:ext cx="2578608"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a:solidFill>
                  <a:srgbClr val="DB2777"/>
                </a:solidFill>
                <a:uFillTx/>
                <a:latin typeface="Cambria" pitchFamily="34"/>
                <a:ea typeface="Cambria" pitchFamily="34"/>
                <a:cs typeface="Cambria" pitchFamily="34"/>
              </a:rPr>
              <a:t>Spatial Computing (Vision Pro)</a:t>
            </a:r>
            <a:endParaRPr lang="en-US" sz="1400" b="0" i="0" u="none" strike="noStrike" kern="1200" cap="none" spc="0" baseline="0">
              <a:solidFill>
                <a:srgbClr val="000000"/>
              </a:solidFill>
              <a:uFillTx/>
              <a:latin typeface="Calibri"/>
            </a:endParaRPr>
          </a:p>
        </p:txBody>
      </p:sp>
      <p:sp>
        <p:nvSpPr>
          <p:cNvPr id="27" name="Text 25"/>
          <p:cNvSpPr/>
          <p:nvPr/>
        </p:nvSpPr>
        <p:spPr>
          <a:xfrm>
            <a:off x="6190488" y="2066544"/>
            <a:ext cx="2578608" cy="475488"/>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000" b="0" i="0" u="none" strike="noStrike" kern="1200" cap="none" spc="0" baseline="0" dirty="0">
                <a:solidFill>
                  <a:schemeClr val="bg1"/>
                </a:solidFill>
                <a:uFillTx/>
                <a:latin typeface="Calibri" pitchFamily="34"/>
                <a:ea typeface="Calibri" pitchFamily="34"/>
                <a:cs typeface="Calibri" pitchFamily="34"/>
              </a:rPr>
              <a:t>Meta Quest + Vision Pro → 6DoF + </a:t>
            </a:r>
            <a:r>
              <a:rPr lang="en-US" sz="1000" b="0" i="0" u="none" strike="noStrike" kern="1200" cap="none" spc="0" baseline="0" dirty="0" err="1">
                <a:solidFill>
                  <a:schemeClr val="bg1"/>
                </a:solidFill>
                <a:uFillTx/>
                <a:latin typeface="Calibri" pitchFamily="34"/>
                <a:ea typeface="Calibri" pitchFamily="34"/>
                <a:cs typeface="Calibri" pitchFamily="34"/>
              </a:rPr>
              <a:t>kamera</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twarzy</a:t>
            </a:r>
            <a:r>
              <a:rPr lang="en-US" sz="1000" b="0" i="0" u="none" strike="noStrike" kern="1200" cap="none" spc="0" baseline="0" dirty="0">
                <a:solidFill>
                  <a:schemeClr val="bg1"/>
                </a:solidFill>
                <a:uFillTx/>
                <a:latin typeface="Calibri" pitchFamily="34"/>
                <a:ea typeface="Calibri" pitchFamily="34"/>
                <a:cs typeface="Calibri" pitchFamily="34"/>
              </a:rPr>
              <a:t>. Avatar </a:t>
            </a:r>
            <a:r>
              <a:rPr lang="en-US" sz="1000" b="0" i="0" u="none" strike="noStrike" kern="1200" cap="none" spc="0" baseline="0" dirty="0" err="1">
                <a:solidFill>
                  <a:schemeClr val="bg1"/>
                </a:solidFill>
                <a:uFillTx/>
                <a:latin typeface="Calibri" pitchFamily="34"/>
                <a:ea typeface="Calibri" pitchFamily="34"/>
                <a:cs typeface="Calibri" pitchFamily="34"/>
              </a:rPr>
              <a:t>emocjonalny</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staje</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się</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a:solidFill>
                  <a:schemeClr val="bg1"/>
                </a:solidFill>
                <a:uFillTx/>
                <a:latin typeface="Calibri" pitchFamily="34"/>
                <a:ea typeface="Calibri" pitchFamily="34"/>
                <a:cs typeface="Calibri" pitchFamily="34"/>
              </a:rPr>
              <a:t>naturalną</a:t>
            </a:r>
            <a:r>
              <a:rPr lang="en-US" sz="1000" b="0" i="0" u="none" strike="noStrike" kern="1200" cap="none" spc="0" baseline="0" dirty="0">
                <a:solidFill>
                  <a:schemeClr val="bg1"/>
                </a:solidFill>
                <a:uFillTx/>
                <a:latin typeface="Calibri" pitchFamily="34"/>
                <a:ea typeface="Calibri" pitchFamily="34"/>
                <a:cs typeface="Calibri" pitchFamily="34"/>
              </a:rPr>
              <a:t> </a:t>
            </a:r>
            <a:r>
              <a:rPr lang="en-US" sz="1000" b="0" i="0" u="none" strike="noStrike" kern="1200" cap="none" spc="0" baseline="0" dirty="0" err="1" smtClean="0">
                <a:solidFill>
                  <a:schemeClr val="bg1"/>
                </a:solidFill>
                <a:uFillTx/>
                <a:latin typeface="Calibri" pitchFamily="34"/>
                <a:ea typeface="Calibri" pitchFamily="34"/>
                <a:cs typeface="Calibri" pitchFamily="34"/>
              </a:rPr>
              <a:t>formą</a:t>
            </a:r>
            <a:r>
              <a:rPr lang="pl-PL" sz="1000" b="0" i="0" u="none" strike="noStrike" kern="1200" cap="none" spc="0" baseline="0" dirty="0" smtClean="0">
                <a:solidFill>
                  <a:schemeClr val="bg1"/>
                </a:solidFill>
                <a:uFillTx/>
                <a:latin typeface="Calibri" pitchFamily="34"/>
                <a:ea typeface="Calibri" pitchFamily="34"/>
                <a:cs typeface="Calibri" pitchFamily="34"/>
              </a:rPr>
              <a:t> zdalnej</a:t>
            </a:r>
            <a:r>
              <a:rPr lang="en-US" sz="1000" b="0" i="0" u="none" strike="noStrike" kern="1200" cap="none" spc="0" baseline="0" dirty="0" smtClean="0">
                <a:solidFill>
                  <a:schemeClr val="bg1"/>
                </a:solidFill>
                <a:uFillTx/>
                <a:latin typeface="Calibri" pitchFamily="34"/>
                <a:ea typeface="Calibri" pitchFamily="34"/>
                <a:cs typeface="Calibri" pitchFamily="34"/>
              </a:rPr>
              <a:t> </a:t>
            </a:r>
            <a:r>
              <a:rPr lang="en-US" sz="1000" b="0" i="0" u="none" strike="noStrike" kern="1200" cap="none" spc="0" baseline="0" dirty="0" err="1" smtClean="0">
                <a:solidFill>
                  <a:schemeClr val="bg1"/>
                </a:solidFill>
                <a:uFillTx/>
                <a:latin typeface="Calibri" pitchFamily="34"/>
                <a:ea typeface="Calibri" pitchFamily="34"/>
                <a:cs typeface="Calibri" pitchFamily="34"/>
              </a:rPr>
              <a:t>komunikacji</a:t>
            </a:r>
            <a:r>
              <a:rPr lang="en-US" sz="1000" b="0" i="0" u="none" strike="noStrike" kern="1200" cap="none" spc="0" baseline="0" dirty="0" smtClean="0">
                <a:solidFill>
                  <a:schemeClr val="bg1"/>
                </a:solidFill>
                <a:uFillTx/>
                <a:latin typeface="Calibri" pitchFamily="34"/>
                <a:ea typeface="Calibri" pitchFamily="34"/>
                <a:cs typeface="Calibri" pitchFamily="34"/>
              </a:rPr>
              <a:t>.</a:t>
            </a:r>
            <a:endParaRPr lang="en-US" sz="1000" b="0" i="0" u="none" strike="noStrike" kern="1200" cap="none" spc="0" baseline="0" dirty="0">
              <a:solidFill>
                <a:schemeClr val="bg1"/>
              </a:solidFill>
              <a:uFillTx/>
              <a:latin typeface="Calibri"/>
            </a:endParaRPr>
          </a:p>
        </p:txBody>
      </p:sp>
      <p:sp>
        <p:nvSpPr>
          <p:cNvPr id="28" name="Shape 26"/>
          <p:cNvSpPr/>
          <p:nvPr/>
        </p:nvSpPr>
        <p:spPr>
          <a:xfrm>
            <a:off x="320040" y="2706624"/>
            <a:ext cx="8503920" cy="36576"/>
          </a:xfrm>
          <a:prstGeom prst="rect">
            <a:avLst/>
          </a:pr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29" name="Text 27"/>
          <p:cNvSpPr/>
          <p:nvPr/>
        </p:nvSpPr>
        <p:spPr>
          <a:xfrm>
            <a:off x="320040" y="2779776"/>
            <a:ext cx="8503920" cy="256032"/>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400" b="1" i="0" u="none" strike="noStrike" kern="1200" cap="none" spc="0" baseline="0">
                <a:solidFill>
                  <a:srgbClr val="FFFFFF"/>
                </a:solidFill>
                <a:uFillTx/>
                <a:latin typeface="Cambria" pitchFamily="34"/>
                <a:ea typeface="Cambria" pitchFamily="34"/>
                <a:cs typeface="Cambria" pitchFamily="34"/>
              </a:rPr>
              <a:t>Kluczowe wnioski:</a:t>
            </a:r>
            <a:endParaRPr lang="en-US" sz="1400" b="0" i="0" u="none" strike="noStrike" kern="1200" cap="none" spc="0" baseline="0">
              <a:solidFill>
                <a:srgbClr val="000000"/>
              </a:solidFill>
              <a:uFillTx/>
              <a:latin typeface="Calibri"/>
            </a:endParaRPr>
          </a:p>
        </p:txBody>
      </p:sp>
      <p:sp>
        <p:nvSpPr>
          <p:cNvPr id="30" name="Shape 28"/>
          <p:cNvSpPr/>
          <p:nvPr/>
        </p:nvSpPr>
        <p:spPr>
          <a:xfrm>
            <a:off x="320040" y="313564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1" name="Text 29"/>
          <p:cNvSpPr/>
          <p:nvPr/>
        </p:nvSpPr>
        <p:spPr>
          <a:xfrm>
            <a:off x="521208" y="3072384"/>
            <a:ext cx="82936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FFFFFF"/>
                </a:solidFill>
                <a:uFillTx/>
                <a:latin typeface="Calibri" pitchFamily="34"/>
                <a:ea typeface="Calibri" pitchFamily="34"/>
                <a:cs typeface="Calibri" pitchFamily="34"/>
              </a:rPr>
              <a:t>Emocje</a:t>
            </a:r>
            <a:r>
              <a:rPr lang="en-US" sz="1200" b="0" i="0" u="none" strike="noStrike" kern="1200" cap="none" spc="0" baseline="0" dirty="0">
                <a:solidFill>
                  <a:srgbClr val="FFFFFF"/>
                </a:solidFill>
                <a:uFillTx/>
                <a:latin typeface="Calibri" pitchFamily="34"/>
                <a:ea typeface="Calibri" pitchFamily="34"/>
                <a:cs typeface="Calibri" pitchFamily="34"/>
              </a:rPr>
              <a:t> to </a:t>
            </a:r>
            <a:r>
              <a:rPr lang="en-US" sz="1200" b="0" i="0" u="none" strike="noStrike" kern="1200" cap="none" spc="0" baseline="0" dirty="0" err="1">
                <a:solidFill>
                  <a:srgbClr val="FFFFFF"/>
                </a:solidFill>
                <a:uFillTx/>
                <a:latin typeface="Calibri" pitchFamily="34"/>
                <a:ea typeface="Calibri" pitchFamily="34"/>
                <a:cs typeface="Calibri" pitchFamily="34"/>
              </a:rPr>
              <a:t>dane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wielowymiarowe</a:t>
            </a:r>
            <a:r>
              <a:rPr lang="en-US" sz="1200" b="0" i="0" u="none" strike="noStrike" kern="1200" cap="none" spc="0" baseline="0" dirty="0">
                <a:solidFill>
                  <a:srgbClr val="FFFFFF"/>
                </a:solidFill>
                <a:uFillTx/>
                <a:latin typeface="Calibri" pitchFamily="34"/>
                <a:ea typeface="Calibri" pitchFamily="34"/>
                <a:cs typeface="Calibri" pitchFamily="34"/>
              </a:rPr>
              <a:t> </a:t>
            </a:r>
            <a:r>
              <a:rPr lang="pl-PL" sz="1200" b="0" i="0" u="none" strike="noStrike" kern="1200" cap="none" spc="0" baseline="0" dirty="0" smtClean="0">
                <a:solidFill>
                  <a:srgbClr val="FFFFFF"/>
                </a:solidFill>
                <a:uFillTx/>
                <a:latin typeface="Calibri" pitchFamily="34"/>
                <a:ea typeface="Calibri" pitchFamily="34"/>
                <a:cs typeface="Calibri" pitchFamily="34"/>
              </a:rPr>
              <a:t>-</a:t>
            </a:r>
            <a:r>
              <a:rPr lang="en-US" sz="1200" b="0" i="0" u="none" strike="noStrike" kern="1200" cap="none" spc="0" baseline="0" dirty="0" smtClean="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używaj</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modelu</a:t>
            </a:r>
            <a:r>
              <a:rPr lang="en-US" sz="1200" b="0" i="0" u="none" strike="noStrike" kern="1200" cap="none" spc="0" baseline="0" dirty="0">
                <a:solidFill>
                  <a:srgbClr val="FFFFFF"/>
                </a:solidFill>
                <a:uFillTx/>
                <a:latin typeface="Calibri" pitchFamily="34"/>
                <a:ea typeface="Calibri" pitchFamily="34"/>
                <a:cs typeface="Calibri" pitchFamily="34"/>
              </a:rPr>
              <a:t> VAD </a:t>
            </a:r>
            <a:r>
              <a:rPr lang="en-US" sz="1200" b="0" i="0" u="none" strike="noStrike" kern="1200" cap="none" spc="0" baseline="0" dirty="0" err="1">
                <a:solidFill>
                  <a:srgbClr val="FFFFFF"/>
                </a:solidFill>
                <a:uFillTx/>
                <a:latin typeface="Calibri" pitchFamily="34"/>
                <a:ea typeface="Calibri" pitchFamily="34"/>
                <a:cs typeface="Calibri" pitchFamily="34"/>
              </a:rPr>
              <a:t>lub</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Plutchika</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nie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tylko</a:t>
            </a:r>
            <a:r>
              <a:rPr lang="en-US" sz="1200" b="0" i="0" u="none" strike="noStrike" kern="1200" cap="none" spc="0" baseline="0" dirty="0">
                <a:solidFill>
                  <a:srgbClr val="FFFFFF"/>
                </a:solidFill>
                <a:uFillTx/>
                <a:latin typeface="Calibri" pitchFamily="34"/>
                <a:ea typeface="Calibri" pitchFamily="34"/>
                <a:cs typeface="Calibri" pitchFamily="34"/>
              </a:rPr>
              <a:t> 6 </a:t>
            </a:r>
            <a:r>
              <a:rPr lang="en-US" sz="1200" b="0" i="0" u="none" strike="noStrike" kern="1200" cap="none" spc="0" baseline="0" dirty="0" err="1">
                <a:solidFill>
                  <a:srgbClr val="FFFFFF"/>
                </a:solidFill>
                <a:uFillTx/>
                <a:latin typeface="Calibri" pitchFamily="34"/>
                <a:ea typeface="Calibri" pitchFamily="34"/>
                <a:cs typeface="Calibri" pitchFamily="34"/>
              </a:rPr>
              <a:t>klas</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Ekmana</a:t>
            </a:r>
            <a:endParaRPr lang="en-US" sz="1200" b="0" i="0" u="none" strike="noStrike" kern="1200" cap="none" spc="0" baseline="0" dirty="0">
              <a:solidFill>
                <a:srgbClr val="000000"/>
              </a:solidFill>
              <a:uFillTx/>
              <a:latin typeface="Calibri"/>
            </a:endParaRPr>
          </a:p>
        </p:txBody>
      </p:sp>
      <p:sp>
        <p:nvSpPr>
          <p:cNvPr id="32" name="Shape 30"/>
          <p:cNvSpPr/>
          <p:nvPr/>
        </p:nvSpPr>
        <p:spPr>
          <a:xfrm>
            <a:off x="320040" y="340996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3" name="Text 31"/>
          <p:cNvSpPr/>
          <p:nvPr/>
        </p:nvSpPr>
        <p:spPr>
          <a:xfrm>
            <a:off x="521208" y="3346704"/>
            <a:ext cx="82936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a:solidFill>
                  <a:srgbClr val="FFFFFF"/>
                </a:solidFill>
                <a:uFillTx/>
                <a:latin typeface="Calibri" pitchFamily="34"/>
                <a:ea typeface="Calibri" pitchFamily="34"/>
                <a:cs typeface="Calibri" pitchFamily="34"/>
              </a:rPr>
              <a:t>On-device inference to </a:t>
            </a:r>
            <a:r>
              <a:rPr lang="en-US" sz="1200" b="0" i="0" u="none" strike="noStrike" kern="1200" cap="none" spc="0" baseline="0" dirty="0" err="1">
                <a:solidFill>
                  <a:srgbClr val="FFFFFF"/>
                </a:solidFill>
                <a:uFillTx/>
                <a:latin typeface="Calibri" pitchFamily="34"/>
                <a:ea typeface="Calibri" pitchFamily="34"/>
                <a:cs typeface="Calibri" pitchFamily="34"/>
              </a:rPr>
              <a:t>wymóg</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nie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opcja</a:t>
            </a:r>
            <a:r>
              <a:rPr lang="en-US" sz="1200" b="0" i="0" u="none" strike="noStrike" kern="1200" cap="none" spc="0" baseline="0" dirty="0">
                <a:solidFill>
                  <a:srgbClr val="FFFFFF"/>
                </a:solidFill>
                <a:uFillTx/>
                <a:latin typeface="Calibri" pitchFamily="34"/>
                <a:ea typeface="Calibri" pitchFamily="34"/>
                <a:cs typeface="Calibri" pitchFamily="34"/>
              </a:rPr>
              <a:t> </a:t>
            </a:r>
            <a:r>
              <a:rPr lang="pl-PL" sz="1200" b="0" i="0" u="none" strike="noStrike" kern="1200" cap="none" spc="0" baseline="0" dirty="0" smtClean="0">
                <a:solidFill>
                  <a:srgbClr val="FFFFFF"/>
                </a:solidFill>
                <a:uFillTx/>
                <a:latin typeface="Calibri" pitchFamily="34"/>
                <a:ea typeface="Calibri" pitchFamily="34"/>
                <a:cs typeface="Calibri" pitchFamily="34"/>
              </a:rPr>
              <a:t>-</a:t>
            </a:r>
            <a:r>
              <a:rPr lang="en-US" sz="1200" b="0" i="0" u="none" strike="noStrike" kern="1200" cap="none" spc="0" baseline="0" dirty="0" smtClean="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dane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afektywne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są</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wrażliwsze</a:t>
            </a:r>
            <a:r>
              <a:rPr lang="en-US" sz="1200" b="0" i="0" u="none" strike="noStrike" kern="1200" cap="none" spc="0" baseline="0" dirty="0">
                <a:solidFill>
                  <a:srgbClr val="FFFFFF"/>
                </a:solidFill>
                <a:uFillTx/>
                <a:latin typeface="Calibri" pitchFamily="34"/>
                <a:ea typeface="Calibri" pitchFamily="34"/>
                <a:cs typeface="Calibri" pitchFamily="34"/>
              </a:rPr>
              <a:t> od </a:t>
            </a:r>
            <a:r>
              <a:rPr lang="en-US" sz="1200" b="0" i="0" u="none" strike="noStrike" kern="1200" cap="none" spc="0" baseline="0" dirty="0" err="1">
                <a:solidFill>
                  <a:srgbClr val="FFFFFF"/>
                </a:solidFill>
                <a:uFillTx/>
                <a:latin typeface="Calibri" pitchFamily="34"/>
                <a:ea typeface="Calibri" pitchFamily="34"/>
                <a:cs typeface="Calibri" pitchFamily="34"/>
              </a:rPr>
              <a:t>lokalizacji</a:t>
            </a:r>
            <a:r>
              <a:rPr lang="en-US" sz="1200" b="0" i="0" u="none" strike="noStrike" kern="1200" cap="none" spc="0" baseline="0" dirty="0">
                <a:solidFill>
                  <a:srgbClr val="FFFFFF"/>
                </a:solidFill>
                <a:uFillTx/>
                <a:latin typeface="Calibri" pitchFamily="34"/>
                <a:ea typeface="Calibri" pitchFamily="34"/>
                <a:cs typeface="Calibri" pitchFamily="34"/>
              </a:rPr>
              <a:t> GPS</a:t>
            </a:r>
            <a:endParaRPr lang="en-US" sz="1200" b="0" i="0" u="none" strike="noStrike" kern="1200" cap="none" spc="0" baseline="0" dirty="0">
              <a:solidFill>
                <a:srgbClr val="000000"/>
              </a:solidFill>
              <a:uFillTx/>
              <a:latin typeface="Calibri"/>
            </a:endParaRPr>
          </a:p>
        </p:txBody>
      </p:sp>
      <p:sp>
        <p:nvSpPr>
          <p:cNvPr id="34" name="Shape 32"/>
          <p:cNvSpPr/>
          <p:nvPr/>
        </p:nvSpPr>
        <p:spPr>
          <a:xfrm>
            <a:off x="320040" y="368428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5" name="Text 33"/>
          <p:cNvSpPr/>
          <p:nvPr/>
        </p:nvSpPr>
        <p:spPr>
          <a:xfrm>
            <a:off x="521208" y="3621024"/>
            <a:ext cx="82936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FFFFFF"/>
                </a:solidFill>
                <a:uFillTx/>
                <a:latin typeface="Calibri" pitchFamily="34"/>
                <a:ea typeface="Calibri" pitchFamily="34"/>
                <a:cs typeface="Calibri" pitchFamily="34"/>
              </a:rPr>
              <a:t>Fuzja</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multimodalna</a:t>
            </a:r>
            <a:r>
              <a:rPr lang="en-US" sz="1200" b="0" i="0" u="none" strike="noStrike" kern="1200" cap="none" spc="0" baseline="0" dirty="0">
                <a:solidFill>
                  <a:srgbClr val="FFFFFF"/>
                </a:solidFill>
                <a:uFillTx/>
                <a:latin typeface="Calibri" pitchFamily="34"/>
                <a:ea typeface="Calibri" pitchFamily="34"/>
                <a:cs typeface="Calibri" pitchFamily="34"/>
              </a:rPr>
              <a:t> jest </a:t>
            </a:r>
            <a:r>
              <a:rPr lang="en-US" sz="1200" b="0" i="0" u="none" strike="noStrike" kern="1200" cap="none" spc="0" baseline="0" dirty="0" err="1">
                <a:solidFill>
                  <a:srgbClr val="FFFFFF"/>
                </a:solidFill>
                <a:uFillTx/>
                <a:latin typeface="Calibri" pitchFamily="34"/>
                <a:ea typeface="Calibri" pitchFamily="34"/>
                <a:cs typeface="Calibri" pitchFamily="34"/>
              </a:rPr>
              <a:t>kluczowa</a:t>
            </a:r>
            <a:r>
              <a:rPr lang="en-US" sz="1200" b="0" i="0" u="none" strike="noStrike" kern="1200" cap="none" spc="0" baseline="0" dirty="0">
                <a:solidFill>
                  <a:srgbClr val="FFFFFF"/>
                </a:solidFill>
                <a:uFillTx/>
                <a:latin typeface="Calibri" pitchFamily="34"/>
                <a:ea typeface="Calibri" pitchFamily="34"/>
                <a:cs typeface="Calibri" pitchFamily="34"/>
              </a:rPr>
              <a:t> </a:t>
            </a:r>
            <a:r>
              <a:rPr lang="pl-PL" sz="1200" b="0" i="0" u="none" strike="noStrike" kern="1200" cap="none" spc="0" baseline="0" dirty="0" smtClean="0">
                <a:solidFill>
                  <a:srgbClr val="FFFFFF"/>
                </a:solidFill>
                <a:uFillTx/>
                <a:latin typeface="Calibri" pitchFamily="34"/>
                <a:ea typeface="Calibri" pitchFamily="34"/>
                <a:cs typeface="Calibri" pitchFamily="34"/>
              </a:rPr>
              <a:t>-</a:t>
            </a:r>
            <a:r>
              <a:rPr lang="en-US" sz="1200" b="0" i="0" u="none" strike="noStrike" kern="1200" cap="none" spc="0" baseline="0" dirty="0" smtClean="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żaden</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pojedynczy</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sygnał</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nie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osiąga</a:t>
            </a:r>
            <a:r>
              <a:rPr lang="en-US" sz="1200" b="0" i="0" u="none" strike="noStrike" kern="1200" cap="none" spc="0" baseline="0" dirty="0">
                <a:solidFill>
                  <a:srgbClr val="FFFFFF"/>
                </a:solidFill>
                <a:uFillTx/>
                <a:latin typeface="Calibri" pitchFamily="34"/>
                <a:ea typeface="Calibri" pitchFamily="34"/>
                <a:cs typeface="Calibri" pitchFamily="34"/>
              </a:rPr>
              <a:t> &gt; 80% </a:t>
            </a:r>
            <a:r>
              <a:rPr lang="en-US" sz="1200" b="0" i="0" u="none" strike="noStrike" kern="1200" cap="none" spc="0" baseline="0" dirty="0" err="1">
                <a:solidFill>
                  <a:srgbClr val="FFFFFF"/>
                </a:solidFill>
                <a:uFillTx/>
                <a:latin typeface="Calibri" pitchFamily="34"/>
                <a:ea typeface="Calibri" pitchFamily="34"/>
                <a:cs typeface="Calibri" pitchFamily="34"/>
              </a:rPr>
              <a:t>celności</a:t>
            </a:r>
            <a:r>
              <a:rPr lang="en-US" sz="1200" b="0" i="0" u="none" strike="noStrike" kern="1200" cap="none" spc="0" baseline="0" dirty="0">
                <a:solidFill>
                  <a:srgbClr val="FFFFFF"/>
                </a:solidFill>
                <a:uFillTx/>
                <a:latin typeface="Calibri" pitchFamily="34"/>
                <a:ea typeface="Calibri" pitchFamily="34"/>
                <a:cs typeface="Calibri" pitchFamily="34"/>
              </a:rPr>
              <a:t> bez </a:t>
            </a:r>
            <a:r>
              <a:rPr lang="en-US" sz="1200" b="0" i="0" u="none" strike="noStrike" kern="1200" cap="none" spc="0" baseline="0" dirty="0" err="1">
                <a:solidFill>
                  <a:srgbClr val="FFFFFF"/>
                </a:solidFill>
                <a:uFillTx/>
                <a:latin typeface="Calibri" pitchFamily="34"/>
                <a:ea typeface="Calibri" pitchFamily="34"/>
                <a:cs typeface="Calibri" pitchFamily="34"/>
              </a:rPr>
              <a:t>kontekstu</a:t>
            </a:r>
            <a:endParaRPr lang="en-US" sz="1200" b="0" i="0" u="none" strike="noStrike" kern="1200" cap="none" spc="0" baseline="0" dirty="0">
              <a:solidFill>
                <a:srgbClr val="000000"/>
              </a:solidFill>
              <a:uFillTx/>
              <a:latin typeface="Calibri"/>
            </a:endParaRPr>
          </a:p>
        </p:txBody>
      </p:sp>
      <p:sp>
        <p:nvSpPr>
          <p:cNvPr id="36" name="Shape 34"/>
          <p:cNvSpPr/>
          <p:nvPr/>
        </p:nvSpPr>
        <p:spPr>
          <a:xfrm>
            <a:off x="320040" y="3958608"/>
            <a:ext cx="128016" cy="128016"/>
          </a:xfrm>
          <a:custGeom>
            <a:avLst/>
            <a:gdLst>
              <a:gd name="f0" fmla="val 21600000"/>
              <a:gd name="f1" fmla="val 10800000"/>
              <a:gd name="f2" fmla="val 5400000"/>
              <a:gd name="f3" fmla="val 180"/>
              <a:gd name="f4" fmla="val w"/>
              <a:gd name="f5" fmla="val h"/>
              <a:gd name="f6" fmla="val ss"/>
              <a:gd name="f7" fmla="val 0"/>
              <a:gd name="f8" fmla="*/ 5419351 1 1725033"/>
              <a:gd name="f9" fmla="+- 0 0 -360"/>
              <a:gd name="f10" fmla="+- 0 0 -180"/>
              <a:gd name="f11" fmla="abs f4"/>
              <a:gd name="f12" fmla="abs f5"/>
              <a:gd name="f13" fmla="abs f6"/>
              <a:gd name="f14" fmla="+- 2700000 f2 0"/>
              <a:gd name="f15" fmla="*/ f9 f1 1"/>
              <a:gd name="f16" fmla="*/ f10 f1 1"/>
              <a:gd name="f17" fmla="?: f11 f4 1"/>
              <a:gd name="f18" fmla="?: f12 f5 1"/>
              <a:gd name="f19" fmla="?: f13 f6 1"/>
              <a:gd name="f20" fmla="+- f14 0 f2"/>
              <a:gd name="f21" fmla="*/ f15 1 f3"/>
              <a:gd name="f22" fmla="*/ f16 1 f3"/>
              <a:gd name="f23" fmla="*/ f17 1 21600"/>
              <a:gd name="f24" fmla="*/ f18 1 21600"/>
              <a:gd name="f25" fmla="*/ 21600 f17 1"/>
              <a:gd name="f26" fmla="*/ 21600 f18 1"/>
              <a:gd name="f27" fmla="+- f20 f2 0"/>
              <a:gd name="f28" fmla="+- f21 0 f2"/>
              <a:gd name="f29" fmla="+- f22 0 f2"/>
              <a:gd name="f30" fmla="min f24 f23"/>
              <a:gd name="f31" fmla="*/ f25 1 f19"/>
              <a:gd name="f32" fmla="*/ f26 1 f19"/>
              <a:gd name="f33" fmla="*/ f27 f8 1"/>
              <a:gd name="f34" fmla="val f31"/>
              <a:gd name="f35" fmla="val f32"/>
              <a:gd name="f36" fmla="*/ f33 1 f1"/>
              <a:gd name="f37" fmla="*/ f7 f30 1"/>
              <a:gd name="f38" fmla="+- f35 0 f7"/>
              <a:gd name="f39" fmla="+- f34 0 f7"/>
              <a:gd name="f40" fmla="+- 0 0 f36"/>
              <a:gd name="f41" fmla="*/ f38 1 2"/>
              <a:gd name="f42" fmla="*/ f39 1 2"/>
              <a:gd name="f43" fmla="+- 0 0 f40"/>
              <a:gd name="f44" fmla="+- f7 f41 0"/>
              <a:gd name="f45" fmla="+- f7 f42 0"/>
              <a:gd name="f46" fmla="*/ f43 f1 1"/>
              <a:gd name="f47" fmla="*/ f42 f30 1"/>
              <a:gd name="f48" fmla="*/ f41 f30 1"/>
              <a:gd name="f49" fmla="*/ f46 1 f8"/>
              <a:gd name="f50" fmla="*/ f44 f30 1"/>
              <a:gd name="f51" fmla="+- f49 0 f2"/>
              <a:gd name="f52" fmla="cos 1 f51"/>
              <a:gd name="f53" fmla="sin 1 f51"/>
              <a:gd name="f54" fmla="+- 0 0 f52"/>
              <a:gd name="f55" fmla="+- 0 0 f53"/>
              <a:gd name="f56" fmla="+- 0 0 f54"/>
              <a:gd name="f57" fmla="+- 0 0 f55"/>
              <a:gd name="f58" fmla="val f56"/>
              <a:gd name="f59" fmla="val f57"/>
              <a:gd name="f60" fmla="*/ f58 f42 1"/>
              <a:gd name="f61" fmla="*/ f59 f41 1"/>
              <a:gd name="f62" fmla="+- f45 0 f60"/>
              <a:gd name="f63" fmla="+- f45 f60 0"/>
              <a:gd name="f64" fmla="+- f44 0 f61"/>
              <a:gd name="f65" fmla="+- f44 f61 0"/>
              <a:gd name="f66" fmla="*/ f62 f30 1"/>
              <a:gd name="f67" fmla="*/ f64 f30 1"/>
              <a:gd name="f68" fmla="*/ f63 f30 1"/>
              <a:gd name="f69" fmla="*/ f65 f30 1"/>
            </a:gdLst>
            <a:ahLst/>
            <a:cxnLst>
              <a:cxn ang="3cd4">
                <a:pos x="hc" y="t"/>
              </a:cxn>
              <a:cxn ang="0">
                <a:pos x="r" y="vc"/>
              </a:cxn>
              <a:cxn ang="cd4">
                <a:pos x="hc" y="b"/>
              </a:cxn>
              <a:cxn ang="cd2">
                <a:pos x="l" y="vc"/>
              </a:cxn>
              <a:cxn ang="f28">
                <a:pos x="f66" y="f67"/>
              </a:cxn>
              <a:cxn ang="f29">
                <a:pos x="f66" y="f69"/>
              </a:cxn>
              <a:cxn ang="f29">
                <a:pos x="f68" y="f69"/>
              </a:cxn>
              <a:cxn ang="f28">
                <a:pos x="f68" y="f67"/>
              </a:cxn>
            </a:cxnLst>
            <a:rect l="f66" t="f67" r="f68" b="f69"/>
            <a:pathLst>
              <a:path>
                <a:moveTo>
                  <a:pt x="f37" y="f50"/>
                </a:moveTo>
                <a:arcTo wR="f47" hR="f48" stAng="f1" swAng="f0"/>
                <a:close/>
              </a:path>
            </a:pathLst>
          </a:custGeom>
          <a:solidFill>
            <a:srgbClr val="3976EF"/>
          </a:solid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pl-PL" sz="1800" b="0" i="0" u="none" strike="noStrike" kern="1200" cap="none" spc="0" baseline="0">
              <a:solidFill>
                <a:srgbClr val="000000"/>
              </a:solidFill>
              <a:uFillTx/>
              <a:latin typeface="Calibri"/>
            </a:endParaRPr>
          </a:p>
        </p:txBody>
      </p:sp>
      <p:sp>
        <p:nvSpPr>
          <p:cNvPr id="37" name="Text 35"/>
          <p:cNvSpPr/>
          <p:nvPr/>
        </p:nvSpPr>
        <p:spPr>
          <a:xfrm>
            <a:off x="521208" y="3895344"/>
            <a:ext cx="8293608" cy="237744"/>
          </a:xfrm>
          <a:prstGeom prst="rect">
            <a:avLst/>
          </a:prstGeom>
          <a:noFill/>
          <a:ln cap="flat">
            <a:noFill/>
            <a:prstDash val="solid"/>
          </a:ln>
        </p:spPr>
        <p:txBody>
          <a:bodyPr vert="horz" wrap="square" lIns="0" tIns="0" rIns="0" bIns="0" anchor="ctr"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dirty="0" err="1">
                <a:solidFill>
                  <a:srgbClr val="FFFFFF"/>
                </a:solidFill>
                <a:uFillTx/>
                <a:latin typeface="Calibri" pitchFamily="34"/>
                <a:ea typeface="Calibri" pitchFamily="34"/>
                <a:cs typeface="Calibri" pitchFamily="34"/>
              </a:rPr>
              <a:t>Etyka</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i</a:t>
            </a:r>
            <a:r>
              <a:rPr lang="en-US" sz="1200" b="0" i="0" u="none" strike="noStrike" kern="1200" cap="none" spc="0" baseline="0" dirty="0">
                <a:solidFill>
                  <a:srgbClr val="FFFFFF"/>
                </a:solidFill>
                <a:uFillTx/>
                <a:latin typeface="Calibri" pitchFamily="34"/>
                <a:ea typeface="Calibri" pitchFamily="34"/>
                <a:cs typeface="Calibri" pitchFamily="34"/>
              </a:rPr>
              <a:t> RODO to </a:t>
            </a:r>
            <a:r>
              <a:rPr lang="en-US" sz="1200" b="0" i="0" u="none" strike="noStrike" kern="1200" cap="none" spc="0" baseline="0" dirty="0" err="1">
                <a:solidFill>
                  <a:srgbClr val="FFFFFF"/>
                </a:solidFill>
                <a:uFillTx/>
                <a:latin typeface="Calibri" pitchFamily="34"/>
                <a:ea typeface="Calibri" pitchFamily="34"/>
                <a:cs typeface="Calibri" pitchFamily="34"/>
              </a:rPr>
              <a:t>nie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opcja</a:t>
            </a:r>
            <a:r>
              <a:rPr lang="en-US" sz="1200" b="0" i="0" u="none" strike="noStrike" kern="1200" cap="none" spc="0" baseline="0" dirty="0">
                <a:solidFill>
                  <a:srgbClr val="FFFFFF"/>
                </a:solidFill>
                <a:uFillTx/>
                <a:latin typeface="Calibri" pitchFamily="34"/>
                <a:ea typeface="Calibri" pitchFamily="34"/>
                <a:cs typeface="Calibri" pitchFamily="34"/>
              </a:rPr>
              <a:t> </a:t>
            </a:r>
            <a:r>
              <a:rPr lang="pl-PL" sz="1200" b="0" i="0" u="none" strike="noStrike" kern="1200" cap="none" spc="0" baseline="0" dirty="0" smtClean="0">
                <a:solidFill>
                  <a:srgbClr val="FFFFFF"/>
                </a:solidFill>
                <a:uFillTx/>
                <a:latin typeface="Calibri" pitchFamily="34"/>
                <a:ea typeface="Calibri" pitchFamily="34"/>
                <a:cs typeface="Calibri" pitchFamily="34"/>
              </a:rPr>
              <a:t>-</a:t>
            </a:r>
            <a:r>
              <a:rPr lang="en-US" sz="1200" b="0" i="0" u="none" strike="noStrike" kern="1200" cap="none" spc="0" baseline="0" dirty="0" smtClean="0">
                <a:solidFill>
                  <a:srgbClr val="FFFFFF"/>
                </a:solidFill>
                <a:uFillTx/>
                <a:latin typeface="Calibri" pitchFamily="34"/>
                <a:ea typeface="Calibri" pitchFamily="34"/>
                <a:cs typeface="Calibri" pitchFamily="34"/>
              </a:rPr>
              <a:t> </a:t>
            </a:r>
            <a:r>
              <a:rPr lang="en-US" sz="1200" b="0" i="0" u="none" strike="noStrike" kern="1200" cap="none" spc="0" baseline="0" dirty="0">
                <a:solidFill>
                  <a:srgbClr val="FFFFFF"/>
                </a:solidFill>
                <a:uFillTx/>
                <a:latin typeface="Calibri" pitchFamily="34"/>
                <a:ea typeface="Calibri" pitchFamily="34"/>
                <a:cs typeface="Calibri" pitchFamily="34"/>
              </a:rPr>
              <a:t>AI Act </a:t>
            </a:r>
            <a:r>
              <a:rPr lang="en-US" sz="1200" b="0" i="0" u="none" strike="noStrike" kern="1200" cap="none" spc="0" baseline="0" dirty="0" err="1">
                <a:solidFill>
                  <a:srgbClr val="FFFFFF"/>
                </a:solidFill>
                <a:uFillTx/>
                <a:latin typeface="Calibri" pitchFamily="34"/>
                <a:ea typeface="Calibri" pitchFamily="34"/>
                <a:cs typeface="Calibri" pitchFamily="34"/>
              </a:rPr>
              <a:t>zakazuje</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systemów</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emocjonalnych</a:t>
            </a:r>
            <a:r>
              <a:rPr lang="en-US" sz="1200" b="0" i="0" u="none" strike="noStrike" kern="1200" cap="none" spc="0" baseline="0" dirty="0">
                <a:solidFill>
                  <a:srgbClr val="FFFFFF"/>
                </a:solidFill>
                <a:uFillTx/>
                <a:latin typeface="Calibri" pitchFamily="34"/>
                <a:ea typeface="Calibri" pitchFamily="34"/>
                <a:cs typeface="Calibri" pitchFamily="34"/>
              </a:rPr>
              <a:t> w HR </a:t>
            </a:r>
            <a:r>
              <a:rPr lang="en-US" sz="1200" b="0" i="0" u="none" strike="noStrike" kern="1200" cap="none" spc="0" baseline="0" dirty="0" err="1">
                <a:solidFill>
                  <a:srgbClr val="FFFFFF"/>
                </a:solidFill>
                <a:uFillTx/>
                <a:latin typeface="Calibri" pitchFamily="34"/>
                <a:ea typeface="Calibri" pitchFamily="34"/>
                <a:cs typeface="Calibri" pitchFamily="34"/>
              </a:rPr>
              <a:t>i</a:t>
            </a:r>
            <a:r>
              <a:rPr lang="en-US" sz="1200" b="0" i="0" u="none" strike="noStrike" kern="1200" cap="none" spc="0" baseline="0" dirty="0">
                <a:solidFill>
                  <a:srgbClr val="FFFFFF"/>
                </a:solidFill>
                <a:uFillTx/>
                <a:latin typeface="Calibri" pitchFamily="34"/>
                <a:ea typeface="Calibri" pitchFamily="34"/>
                <a:cs typeface="Calibri" pitchFamily="34"/>
              </a:rPr>
              <a:t> </a:t>
            </a:r>
            <a:r>
              <a:rPr lang="en-US" sz="1200" b="0" i="0" u="none" strike="noStrike" kern="1200" cap="none" spc="0" baseline="0" dirty="0" err="1">
                <a:solidFill>
                  <a:srgbClr val="FFFFFF"/>
                </a:solidFill>
                <a:uFillTx/>
                <a:latin typeface="Calibri" pitchFamily="34"/>
                <a:ea typeface="Calibri" pitchFamily="34"/>
                <a:cs typeface="Calibri" pitchFamily="34"/>
              </a:rPr>
              <a:t>edukacji</a:t>
            </a:r>
            <a:r>
              <a:rPr lang="en-US" sz="1200" b="0" i="0" u="none" strike="noStrike" kern="1200" cap="none" spc="0" baseline="0" dirty="0">
                <a:solidFill>
                  <a:srgbClr val="FFFFFF"/>
                </a:solidFill>
                <a:uFillTx/>
                <a:latin typeface="Calibri" pitchFamily="34"/>
                <a:ea typeface="Calibri" pitchFamily="34"/>
                <a:cs typeface="Calibri" pitchFamily="34"/>
              </a:rPr>
              <a:t> od 2026</a:t>
            </a:r>
            <a:endParaRPr lang="en-US" sz="1200" b="0" i="0" u="none" strike="noStrike" kern="1200" cap="none" spc="0" baseline="0" dirty="0">
              <a:solidFill>
                <a:srgbClr val="000000"/>
              </a:solidFill>
              <a:uFillTx/>
              <a:latin typeface="Calibri"/>
            </a:endParaRPr>
          </a:p>
        </p:txBody>
      </p:sp>
      <p:sp>
        <p:nvSpPr>
          <p:cNvPr id="38" name="Shape 36"/>
          <p:cNvSpPr/>
          <p:nvPr/>
        </p:nvSpPr>
        <p:spPr>
          <a:xfrm>
            <a:off x="3200400" y="4544568"/>
            <a:ext cx="2743200" cy="310896"/>
          </a:xfrm>
          <a:prstGeom prst="rect">
            <a:avLst/>
          </a:prstGeom>
          <a:solidFill>
            <a:srgbClr val="3976EF"/>
          </a:solidFill>
          <a:ln cap="flat">
            <a:noFill/>
            <a:prstDash val="solid"/>
          </a:ln>
        </p:spPr>
        <p:txBody>
          <a:bodyPr vert="horz" wrap="square" lIns="0" tIns="0" rIns="0" bIns="0" anchor="ctr" anchorCtr="0" compatLnSpc="1">
            <a:noAutofit/>
          </a:bodyPr>
          <a:lstStyle/>
          <a:p>
            <a:pPr lvl="0" algn="ctr">
              <a:defRPr sz="1800" b="0" i="0" u="none" strike="noStrike" kern="0" cap="none" spc="0" baseline="0">
                <a:solidFill>
                  <a:srgbClr val="000000"/>
                </a:solidFill>
                <a:uFillTx/>
              </a:defRPr>
            </a:pPr>
            <a:r>
              <a:rPr lang="en-US" sz="1400" b="1" dirty="0" err="1">
                <a:solidFill>
                  <a:srgbClr val="FFFFFF"/>
                </a:solidFill>
                <a:latin typeface="Cambria" pitchFamily="34"/>
                <a:ea typeface="Cambria" pitchFamily="34"/>
                <a:cs typeface="Cambria" pitchFamily="34"/>
              </a:rPr>
              <a:t>Pytania</a:t>
            </a:r>
            <a:r>
              <a:rPr lang="pl-PL" sz="1400" b="1" dirty="0">
                <a:solidFill>
                  <a:srgbClr val="FFFFFF"/>
                </a:solidFill>
                <a:latin typeface="Cambria" pitchFamily="34"/>
                <a:ea typeface="Cambria" pitchFamily="34"/>
                <a:cs typeface="Cambria" pitchFamily="34"/>
              </a:rPr>
              <a:t>, d</a:t>
            </a:r>
            <a:r>
              <a:rPr lang="en-US" sz="1400" b="1" dirty="0" err="1">
                <a:solidFill>
                  <a:srgbClr val="FFFFFF"/>
                </a:solidFill>
                <a:latin typeface="Cambria" pitchFamily="34"/>
                <a:ea typeface="Cambria" pitchFamily="34"/>
                <a:cs typeface="Cambria" pitchFamily="34"/>
              </a:rPr>
              <a:t>yskusja</a:t>
            </a:r>
            <a:r>
              <a:rPr lang="pl-PL" sz="1400" b="1" dirty="0">
                <a:solidFill>
                  <a:srgbClr val="FFFFFF"/>
                </a:solidFill>
                <a:latin typeface="Cambria" pitchFamily="34"/>
                <a:ea typeface="Cambria" pitchFamily="34"/>
                <a:cs typeface="Cambria" pitchFamily="34"/>
              </a:rPr>
              <a:t> i koniec</a:t>
            </a:r>
            <a:endParaRPr lang="en-US" sz="1400" dirty="0">
              <a:solidFill>
                <a:srgbClr val="000000"/>
              </a:solidFill>
            </a:endParaRPr>
          </a:p>
        </p:txBody>
      </p:sp>
      <p:sp>
        <p:nvSpPr>
          <p:cNvPr id="41" name="Text 39"/>
          <p:cNvSpPr/>
          <p:nvPr/>
        </p:nvSpPr>
        <p:spPr>
          <a:xfrm>
            <a:off x="1508760" y="4968834"/>
            <a:ext cx="5861304" cy="180000"/>
          </a:xfrm>
          <a:prstGeom prst="rect">
            <a:avLst/>
          </a:prstGeom>
          <a:noFill/>
          <a:ln cap="flat">
            <a:noFill/>
            <a:prstDash val="solid"/>
          </a:ln>
        </p:spPr>
        <p:txBody>
          <a:bodyPr vert="horz" wrap="square" lIns="0" tIns="0" rIns="0" bIns="0" anchor="ctr" anchorCtr="1" compatLnSpc="1">
            <a:no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900" b="0" i="0" u="none" strike="noStrike" kern="1200" cap="none" spc="0" baseline="0" dirty="0" err="1">
                <a:solidFill>
                  <a:srgbClr val="152543"/>
                </a:solidFill>
                <a:uFillTx/>
                <a:latin typeface="Calibri" pitchFamily="34"/>
                <a:ea typeface="Calibri" pitchFamily="34"/>
                <a:cs typeface="Calibri" pitchFamily="34"/>
              </a:rPr>
              <a:t>Informatyka</a:t>
            </a:r>
            <a:r>
              <a:rPr lang="en-US" sz="900" b="0" i="0" u="none" strike="noStrike" kern="1200" cap="none" spc="0" baseline="0" dirty="0">
                <a:solidFill>
                  <a:srgbClr val="152543"/>
                </a:solidFill>
                <a:uFillTx/>
                <a:latin typeface="Calibri" pitchFamily="34"/>
                <a:ea typeface="Calibri" pitchFamily="34"/>
                <a:cs typeface="Calibri" pitchFamily="34"/>
              </a:rPr>
              <a:t> </a:t>
            </a:r>
            <a:r>
              <a:rPr lang="en-US" sz="900" b="0" i="0" u="none" strike="noStrike" kern="1200" cap="none" spc="0" baseline="0" dirty="0" err="1">
                <a:solidFill>
                  <a:srgbClr val="152543"/>
                </a:solidFill>
                <a:uFillTx/>
                <a:latin typeface="Calibri" pitchFamily="34"/>
                <a:ea typeface="Calibri" pitchFamily="34"/>
                <a:cs typeface="Calibri" pitchFamily="34"/>
              </a:rPr>
              <a:t>Afektywna</a:t>
            </a:r>
            <a:r>
              <a:rPr lang="en-US" sz="900" b="0" i="0" u="none" strike="noStrike" kern="1200" cap="none" spc="0" baseline="0" dirty="0">
                <a:solidFill>
                  <a:srgbClr val="152543"/>
                </a:solidFill>
                <a:uFillTx/>
                <a:latin typeface="Calibri" pitchFamily="34"/>
                <a:ea typeface="Calibri" pitchFamily="34"/>
                <a:cs typeface="Calibri" pitchFamily="34"/>
              </a:rPr>
              <a:t> w </a:t>
            </a:r>
            <a:r>
              <a:rPr lang="en-US" sz="900" b="0" i="0" u="none" strike="noStrike" kern="1200" cap="none" spc="0" baseline="0" dirty="0" err="1">
                <a:solidFill>
                  <a:srgbClr val="152543"/>
                </a:solidFill>
                <a:uFillTx/>
                <a:latin typeface="Calibri" pitchFamily="34"/>
                <a:ea typeface="Calibri" pitchFamily="34"/>
                <a:cs typeface="Calibri" pitchFamily="34"/>
              </a:rPr>
              <a:t>Aplikacjach</a:t>
            </a:r>
            <a:r>
              <a:rPr lang="en-US" sz="900" b="0" i="0" u="none" strike="noStrike" kern="1200" cap="none" spc="0" baseline="0" dirty="0">
                <a:solidFill>
                  <a:srgbClr val="152543"/>
                </a:solidFill>
                <a:uFillTx/>
                <a:latin typeface="Calibri" pitchFamily="34"/>
                <a:ea typeface="Calibri" pitchFamily="34"/>
                <a:cs typeface="Calibri" pitchFamily="34"/>
              </a:rPr>
              <a:t> </a:t>
            </a:r>
            <a:r>
              <a:rPr lang="en-US" sz="900" b="0" i="0" u="none" strike="noStrike" kern="1200" cap="none" spc="0" baseline="0" dirty="0" err="1">
                <a:solidFill>
                  <a:srgbClr val="152543"/>
                </a:solidFill>
                <a:uFillTx/>
                <a:latin typeface="Calibri" pitchFamily="34"/>
                <a:ea typeface="Calibri" pitchFamily="34"/>
                <a:cs typeface="Calibri" pitchFamily="34"/>
              </a:rPr>
              <a:t>Mobilnych</a:t>
            </a:r>
            <a:r>
              <a:rPr lang="en-US" sz="900" b="0" i="0" u="none" strike="noStrike" kern="1200" cap="none" spc="0" baseline="0" dirty="0">
                <a:solidFill>
                  <a:srgbClr val="152543"/>
                </a:solidFill>
                <a:uFillTx/>
                <a:latin typeface="Calibri" pitchFamily="34"/>
                <a:ea typeface="Calibri" pitchFamily="34"/>
                <a:cs typeface="Calibri" pitchFamily="34"/>
              </a:rPr>
              <a:t>  |  </a:t>
            </a:r>
            <a:r>
              <a:rPr lang="en-US" sz="900" b="0" i="0" u="none" strike="noStrike" kern="1200" cap="none" spc="0" baseline="0" dirty="0" smtClean="0">
                <a:solidFill>
                  <a:srgbClr val="152543"/>
                </a:solidFill>
                <a:uFillTx/>
                <a:latin typeface="Calibri" pitchFamily="34"/>
                <a:ea typeface="Calibri" pitchFamily="34"/>
                <a:cs typeface="Calibri" pitchFamily="34"/>
              </a:rPr>
              <a:t>© </a:t>
            </a:r>
            <a:r>
              <a:rPr lang="en-US" sz="900" b="0" i="0" u="none" strike="noStrike" kern="1200" cap="none" spc="0" baseline="0" dirty="0" err="1">
                <a:solidFill>
                  <a:srgbClr val="152543"/>
                </a:solidFill>
                <a:uFillTx/>
                <a:latin typeface="Calibri" pitchFamily="34"/>
                <a:ea typeface="Calibri" pitchFamily="34"/>
                <a:cs typeface="Calibri" pitchFamily="34"/>
              </a:rPr>
              <a:t>Katedra</a:t>
            </a:r>
            <a:r>
              <a:rPr lang="en-US" sz="900" b="0" i="0" u="none" strike="noStrike" kern="1200" cap="none" spc="0" baseline="0" dirty="0">
                <a:solidFill>
                  <a:srgbClr val="152543"/>
                </a:solidFill>
                <a:uFillTx/>
                <a:latin typeface="Calibri" pitchFamily="34"/>
                <a:ea typeface="Calibri" pitchFamily="34"/>
                <a:cs typeface="Calibri" pitchFamily="34"/>
              </a:rPr>
              <a:t> </a:t>
            </a:r>
            <a:r>
              <a:rPr lang="en-US" sz="900" b="0" i="0" u="none" strike="noStrike" kern="1200" cap="none" spc="0" baseline="0" dirty="0" err="1" smtClean="0">
                <a:solidFill>
                  <a:srgbClr val="152543"/>
                </a:solidFill>
                <a:uFillTx/>
                <a:latin typeface="Calibri" pitchFamily="34"/>
                <a:ea typeface="Calibri" pitchFamily="34"/>
                <a:cs typeface="Calibri" pitchFamily="34"/>
              </a:rPr>
              <a:t>Informatyki</a:t>
            </a:r>
            <a:r>
              <a:rPr lang="pl-PL" sz="900" b="0" i="0" u="none" strike="noStrike" kern="1200" cap="none" spc="0" baseline="0" dirty="0" smtClean="0">
                <a:solidFill>
                  <a:srgbClr val="152543"/>
                </a:solidFill>
                <a:uFillTx/>
                <a:latin typeface="Calibri" pitchFamily="34"/>
                <a:ea typeface="Calibri" pitchFamily="34"/>
                <a:cs typeface="Calibri" pitchFamily="34"/>
              </a:rPr>
              <a:t> i Automatyki</a:t>
            </a:r>
            <a:endParaRPr lang="en-US" sz="900" b="0" i="0" u="none" strike="noStrike" kern="1200" cap="none" spc="0" baseline="0" dirty="0">
              <a:solidFill>
                <a:srgbClr val="152543"/>
              </a:solidFill>
              <a:uFillTx/>
              <a:latin typeface="Calibri"/>
            </a:endParaRPr>
          </a:p>
        </p:txBody>
      </p:sp>
      <p:sp>
        <p:nvSpPr>
          <p:cNvPr id="42" name="pole tekstowe 41">
            <a:hlinkClick r:id="rId3"/>
          </p:cNvPr>
          <p:cNvSpPr txBox="1"/>
          <p:nvPr/>
        </p:nvSpPr>
        <p:spPr>
          <a:xfrm>
            <a:off x="80436" y="4878834"/>
            <a:ext cx="720000" cy="180000"/>
          </a:xfrm>
          <a:prstGeom prst="rect">
            <a:avLst/>
          </a:prstGeom>
          <a:solidFill>
            <a:srgbClr val="112543"/>
          </a:solidFill>
          <a:ln w="9525" cap="flat">
            <a:solidFill>
              <a:schemeClr val="accent1">
                <a:lumMod val="50000"/>
              </a:schemeClr>
            </a:solidFill>
            <a:prstDash val="solid"/>
            <a:miter/>
          </a:ln>
          <a:effectLst>
            <a:outerShdw blurRad="50800" dist="38100" dir="8100000" algn="tr" rotWithShape="0">
              <a:schemeClr val="accent5">
                <a:lumMod val="50000"/>
                <a:alpha val="40000"/>
              </a:schemeClr>
            </a:outerShdw>
          </a:effectLst>
        </p:spPr>
        <p:txBody>
          <a:bodyPr vert="horz" wrap="square" lIns="90004" tIns="44997" rIns="90004" bIns="44997" anchor="t" anchorCtr="1" compatLnSpc="0">
            <a:noAutofit/>
          </a:bodyPr>
          <a:lstStyle/>
          <a:p>
            <a:pPr marL="0" marR="0" lvl="0" indent="0" algn="ctr" defTabSz="914400" rtl="0" fontAlgn="auto" hangingPunct="0">
              <a:lnSpc>
                <a:spcPct val="100000"/>
              </a:lnSpc>
              <a:spcBef>
                <a:spcPts val="0"/>
              </a:spcBef>
              <a:spcAft>
                <a:spcPts val="0"/>
              </a:spcAft>
              <a:buNone/>
              <a:tabLst/>
              <a:defRPr sz="1800" b="0" i="0" u="none" strike="noStrike" kern="0" cap="none" spc="0" baseline="0">
                <a:solidFill>
                  <a:srgbClr val="000000"/>
                </a:solidFill>
                <a:uFillTx/>
              </a:defRPr>
            </a:pPr>
            <a:r>
              <a:rPr lang="pl-PL" sz="800" b="1" i="1" u="none" strike="noStrike" kern="1200" cap="none" spc="0" baseline="0" dirty="0">
                <a:solidFill>
                  <a:srgbClr val="CCCCCC"/>
                </a:solidFill>
                <a:uFillTx/>
                <a:latin typeface="Georgia Pro Light" panose="02040302050405020303" pitchFamily="18" charset="0"/>
                <a:ea typeface="Noto Sans CJK SC" pitchFamily="2"/>
                <a:cs typeface="Noto Sans Devanagari"/>
              </a:rPr>
              <a:t>W E B</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akiet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13022</Words>
  <Application>Microsoft Office PowerPoint</Application>
  <PresentationFormat>Panoramiczny</PresentationFormat>
  <Paragraphs>1229</Paragraphs>
  <Slides>31</Slides>
  <Notes>31</Notes>
  <HiddenSlides>0</HiddenSlides>
  <MMClips>0</MMClips>
  <ScaleCrop>false</ScaleCrop>
  <HeadingPairs>
    <vt:vector size="6" baseType="variant">
      <vt:variant>
        <vt:lpstr>Używane czcionki</vt:lpstr>
      </vt:variant>
      <vt:variant>
        <vt:i4>13</vt:i4>
      </vt:variant>
      <vt:variant>
        <vt:lpstr>Motyw</vt:lpstr>
      </vt:variant>
      <vt:variant>
        <vt:i4>1</vt:i4>
      </vt:variant>
      <vt:variant>
        <vt:lpstr>Tytuły slajdów</vt:lpstr>
      </vt:variant>
      <vt:variant>
        <vt:i4>31</vt:i4>
      </vt:variant>
    </vt:vector>
  </HeadingPairs>
  <TitlesOfParts>
    <vt:vector size="45" baseType="lpstr">
      <vt:lpstr>Arial</vt:lpstr>
      <vt:lpstr>Arial Nova</vt:lpstr>
      <vt:lpstr>Calibri</vt:lpstr>
      <vt:lpstr>Calibri Light</vt:lpstr>
      <vt:lpstr>Cambria</vt:lpstr>
      <vt:lpstr>CMU Sans Serif</vt:lpstr>
      <vt:lpstr>Consolas</vt:lpstr>
      <vt:lpstr>DejaVu Sans</vt:lpstr>
      <vt:lpstr>Georgia Pro Light</vt:lpstr>
      <vt:lpstr>Liberation Sans</vt:lpstr>
      <vt:lpstr>Noto Sans CJK SC</vt:lpstr>
      <vt:lpstr>Noto Sans Devanagari</vt:lpstr>
      <vt:lpstr>Times New Roman</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Informatyka Afektywna w Aplikacjach Mobilnych</dc:title>
  <dc:subject>PptxGenJS Presentation</dc:subject>
  <dc:creator>Katedra Informatyki</dc:creator>
  <cp:lastModifiedBy>Mateusz Pomianek</cp:lastModifiedBy>
  <cp:revision>14</cp:revision>
  <dcterms:created xsi:type="dcterms:W3CDTF">2026-02-23T03:19:39Z</dcterms:created>
  <dcterms:modified xsi:type="dcterms:W3CDTF">2026-03-13T23:10:52Z</dcterms:modified>
</cp:coreProperties>
</file>