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87B0FD-EC3A-499F-99BD-E7D87A9541C2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l-PL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Kliknij, aby przesunąć slajd</a:t>
            </a:r>
            <a:endParaRPr lang="pl-PL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8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Kliknij, aby edytować style wzorca tekstu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Drugi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Trzeci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Czwarty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Piąty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l-PL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Kliknij, aby przesunąć slajd</a:t>
            </a:r>
            <a:endParaRPr lang="pl-PL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Kliknij, aby edytować format notatek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dt" idx="2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9"/>
          <p:cNvSpPr>
            <a:spLocks noGrp="1"/>
          </p:cNvSpPr>
          <p:nvPr>
            <p:ph type="ftr" idx="2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10"/>
          <p:cNvSpPr>
            <a:spLocks noGrp="1"/>
          </p:cNvSpPr>
          <p:nvPr>
            <p:ph type="sldNum" idx="2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163D1B-B47C-4DD8-A449-6F7F56F3E5C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11"/>
          <p:cNvSpPr>
            <a:spLocks noGrp="1"/>
          </p:cNvSpPr>
          <p:nvPr>
            <p:ph type="ftr" idx="29"/>
          </p:nvPr>
        </p:nvSpPr>
        <p:spPr>
          <a:xfrm>
            <a:off x="0" y="868536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12"/>
          <p:cNvSpPr>
            <a:spLocks noGrp="1"/>
          </p:cNvSpPr>
          <p:nvPr>
            <p:ph type="sldNum" idx="30"/>
          </p:nvPr>
        </p:nvSpPr>
        <p:spPr>
          <a:xfrm>
            <a:off x="2913120" y="868536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12A01D-B5E5-4F33-B474-E806A065CA9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13"/>
          <p:cNvSpPr>
            <a:spLocks noGrp="1"/>
          </p:cNvSpPr>
          <p:nvPr>
            <p:ph type="hdr"/>
          </p:nvPr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14"/>
          <p:cNvSpPr>
            <a:spLocks noGrp="1"/>
          </p:cNvSpPr>
          <p:nvPr>
            <p:ph type="dt" idx="31"/>
          </p:nvPr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177E25-DB91-437C-8951-BF01CC0F780B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15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40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l-PL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Kliknij, aby przesunąć slajd</a:t>
            </a:r>
            <a:endParaRPr lang="pl-PL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6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8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Kliknij, aby edytować style wzorca tekstu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Drugi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Trzeci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Czwarty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Piąty poziom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7"/>
          <p:cNvSpPr>
            <a:spLocks noGrp="1"/>
          </p:cNvSpPr>
          <p:nvPr>
            <p:ph type="ftr" idx="32"/>
          </p:nvPr>
        </p:nvSpPr>
        <p:spPr>
          <a:xfrm>
            <a:off x="0" y="868536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18"/>
          <p:cNvSpPr>
            <a:spLocks noGrp="1"/>
          </p:cNvSpPr>
          <p:nvPr>
            <p:ph type="sldNum" idx="33"/>
          </p:nvPr>
        </p:nvSpPr>
        <p:spPr>
          <a:xfrm>
            <a:off x="2913120" y="8685360"/>
            <a:ext cx="222876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68CA3B-5237-43F8-9BB5-C28B6173FF19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41C38612-662F-40AC-857B-D6B1B5A02B11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F2F1D38-8CF5-40A4-A6ED-D83EE055FB5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B543B7A-C0CD-4F01-AD6E-5FE3194DC1E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 początku warto uświadomić studentom, że współczesny smartfon nie jest już prostym telefonem, lecz pełnoprawnym systemem komputerowym. W praktyce można go traktować jako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komputer osobisty klasy embedded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dodatkowo posiada rozbudowane możliwości komunikacyjne i bardzo zaawansowane sensory.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architekturze mobilnej kluczowa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integracja wielu funkcji w jednym układzie scalonym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w System on Chip. W komputerach stacjonarnych mamy oddzielne komponenty – procesor, kartę graficzną, kontrolery I/O czy modem. W urządzeniach mobilnych wszystko to jest zintegrowane w jednym chipie. Taka integracja ma ogromne znaczenie z trzech powodów: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 pierwsze zmniejsza zużycie energii. Każda komunikacja między oddzielnymi chipami wymaga więcej energii niż komunikacja wewnątrz jednego układu.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 drugie zmniejsza opóźnienia komunikacyjne. Dane mogą być przekazywane przez wewnętrzne magistrale SoC, które są znacznie szybsze niż magistrale między układami.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 trzecie zmniejsza rozmiar urządzenia, co jest kluczowe w elektronice mobilnej.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trakcie tego wykładu przeanalizujemy architekturę urządzeń mobilnych w sposób warstwowy: od sprzętu, przez firmware i system operacyjny, aż do poziomu aplikacji mobilnych.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AE573FF6-32CC-4E69-AC7D-8AB38A4CD0C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1C4DF36-FA6A-4AB1-AF8E-A5C31F7BB71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30C6A5C3-A470-4BAF-8558-EC4F55394B75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F77E915-7537-460E-8A5A-00CA7CD55E5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3184AEB-C04F-47AF-9956-5BEFD1A910AD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Warto zwrócić uwagę studentów, że architektura urządzeń mobilnych obejmuje bardzo szeroki zakres zagadnień.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Pierwsza część wykładu dotyczy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ewolucji technologii mobilnych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Jest to istotne, ponieważ wiele decyzji projektowych w nowoczesnych systemach wynika z ograniczeń technologicznych z przeszłości.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Druga część koncentruje się na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architekturze sprzętowej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komponentach takich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procesory CPU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układy graficzne GPU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akceleratory AI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pamięci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systemy wyświetlania i kamer.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Trzecia część dotyczy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systemów operacyjnych i architektury oprogramowania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w szczególności Androida i iOS.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Ostatnia część wykładu omawia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trendy technologiczne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będą kształtować przyszłość urządzeń mobilnych – między innymi sztuczną inteligencję działającą bezpośrednio na urządzeniu oraz nowe technologie półprzewodnikowe.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45C283E-D127-43E3-AB5F-559E3E7F643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5C19D62-8AF5-4FA9-B2F3-7979835E0BD1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2A73F392-74BC-4313-B623-29CF3445AFA8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8E98D24-6445-4E75-83D4-9A1D96F36DF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FF8D488-320F-416A-B61A-4F0B6A4F193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Historia urządzeń mobilnych pokazuje, jak bardzo zmieniła się ta branża w ciągu ostatnich 30 lat.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Pierwsze urządzenia mobilne były w zasadzie eksperymentalnymi komputerami kieszonkowymi. IBM Simon z początku lat 90. był jednym z pierwszych urządzeń, które łączyły funkcje telefonu i komputera PDA.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drugiej połowie lat 90. ogromną popularność zdobyły urządzenia Palm Pilot. Wprowadziły one wiele koncepcji interfejsu użytkownika, które są stosowane do dziś, takich jak zarządzanie kontaktami czy kalendarzem.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 początku XXI wieku dominowały tzw. feature phones. Urządzenia te oferowały podstawowe funkcje komunikacyjne, takie jak SMS czy połączenia głosowe, ale ich możliwości obliczeniowe były bardzo ograniczone.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Przełom nastąpił w 2007 roku wraz z premierą iPhone’a. Apple wprowadziło wtedy kilka fundamentalnych zmian: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interfejs multi-touch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pełnoprawną przeglądarkę internetową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sklep z aplikacjami.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Od tego momentu smartfony zaczęły rozwijać się bardzo szybko, a kolejne lata przyniosły: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Android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64-bitowe procesory mobilne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sieci 5G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akceleratory sztucznej inteligencji.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F65C7FD-3C7B-47F7-B8F2-175E4E82C2C7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995FE77-5FB6-4575-9459-07926D8CCE2E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32ADF78F-7F21-48AE-93D0-292266A513E5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3319B3B-07EA-4509-923D-D1E4FD49893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00C0212-1607-4DC9-BFD8-CCCDA645D86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on Chip to centralny element architektury urządzenia mobilnego.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Jest to układ scalony, który integruje wiele komponentów systemu komputerowego w jednym chipie. W typowym SoC znajdują się: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CPU – główny procesor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GPU – procesor graficzny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NPU – akcelerator AI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ISP – procesor obrazu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kontrolery pamięci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modem sieciowy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moduły bezpieczeństwa.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Tak wysoka integracja jest możliwa dzięki postępowi w technologii półprzewodnikowej. Nowoczesne układy produkowane są w procesach technologicznych rzędu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na jednym chipie można zmieścić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dziesiątki miliardów tranzystorów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Największymi producentami SoC są obecnie: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Qualcomm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MediaTek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Samsung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Google.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Każda z tych firm stosuje nieco inną filozofię projektowania układów.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347163D4-746D-4100-A633-E63E5D29D80F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50A14A5-8CAF-4029-8F35-B192D38551C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BEF12B7C-35F7-4663-8E34-C7779FD4EBC0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168E75F-680D-40C6-AD03-D5FCBE4F9E9F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CBB25BD-7568-4899-93DD-8C618DF80B01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Procesory mobilne są oparte na architekturze ARM.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Architektura ARM została zaprojektowana jako architektura RISC, czyli Reduced Instruction Set Computing. Oznacza to, że zestaw instrukcji procesora jest stosunkowo prosty, co pozwala zmniejszyć zużycie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Jedną z najważniejszych technik stosowanych w procesorach mobilnych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big.LITTLE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Polega ona na zastosowaniu dwóch typów rdzeni: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rdzenie wydajne – które oferują bardzo wysoką moc obliczeniową, ale zużywają więcej energii,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rdzenie energooszczędne – które są wolniejsze, ale znacznie bardziej efektywne energetycznie.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operacyjny dynamicznie przenosi zadania między tymi rdzeniami w zależności od aktualnego obciążenia.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Procesory mobilne wykorzystują również wiele zaawansowanych technik mikroarchitekturalnych: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wykonywanie instrukcji poza kolejnością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spekulacyjne wykonywanie instrukcji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wielopoziomowe cache.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Procesory mobilne bazują na architekturze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ARM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została zaprojektowana z myślą o wysokiej efektywności energetycznej.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Jedną z najważniejszych technik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big.LITTLE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użycie dwóch typów rdzeni: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rdzeni wydajnych (performance cores)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rdzeni energooszczędnych (efficiency cores).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operacyjny dynamicznie przydziela zadania do odpowiednich rdzeni w zależności od zapotrzebowania na moc obliczeniową.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Procesory mobilne wykorzystują również zaawansowane mechanizmy mikroarchitekturalne, takie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wykonywanie poza kolejnością (out-of-order execution)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predykcja skoków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wielopoziomowe cache.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nowoczesne CPU mobilne osiągają bardzo wysoką wydajność przy niewielkim zużyciu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4C5EB3F-E4ED-41B3-864F-87ADA3ECF59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800BB65-3AC2-47D8-A6B7-CC72CE3C2BA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F1D5661-82A3-4BAD-91E1-CFFCB7D1E576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834E8A1-0A20-4E8E-A414-A4C3A4CB7B1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14F782D-4DB3-493E-B2FD-FE553356BEE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Procesory graficzne w smartfonach mają zupełnie inną architekturę niż GPU w komputerach stacjonarnych.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Najważniejszą różnicą jest sposób renderowania grafiki.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komputerach PC stosowany jest model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Immediate Mode Rendering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natomiast w GPU mobilnych stosuje się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Tile Based Deferred Rendering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Polega on na tym, że ekran dzielony jest na małe fragmenty, zwane kafelkami. Każdy kafelek renderowany jest w szybkim buforze pamięci znajdującym się bezpośrednio w GPU.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zmniejsza się liczba operacji na pamięci DRAM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zmniejsza się zużycie energii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zwiększa się wydajność.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GPU w urządzeniach mobilnych odpowiada za rendering grafiki 3D oraz przyspieszanie obliczeń równoległych.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przeciwieństwie do komputerów PC mobilne GPU stosują architekturę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Tile-Based Deferred Rendering (TBDR)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Polega ona na podziale obrazu na małe fragmenty – tzw. kafelki. Każdy kafelek jest renderowany w szybkim buforze pamięci znajdującym się bezpośrednio na chipie.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zmniejsza się liczba odwołań do pamięci DRAM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obniża się zużycie energii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zwiększa się wydajność.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mobilne architektury GPU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GPU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Qualcomm Adreno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ARM Mali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Samsung Xclipse.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27C823A-DDA7-4AAE-ACAA-8FE8AF1800E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2B5860E-EBB4-43DF-962A-97DA9C78357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DE3EE6AA-CE31-4398-85FD-B95B59EE96BD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C8F2534-6E96-423E-8E12-1282E0F2078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2121ACF-3755-413F-BFDA-F1F86BBA3ABE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NPU to specjalizowany procesor przeznaczony do wykonywania obliczeń związanych ze sztuczną inteligencją.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ostatnich latach znaczenie tych układów bardzo wzrosło.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Wiele funkcji smartfonów wykorzystuje obecnie uczenie maszynowe: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rozpoznawanie mowy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rozpoznawanie twarzy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przetwarzanie obrazu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tłumaczenia językowe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generatywne modele AI.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NPU jest znacznie bardziej efektywne energetycznie niż CPU lub GPU przy wykonywaniu obliczeń macierzowych.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NPU (Neural Processing Unit) to specjalizowany akcelerator przeznaczony do wykonywania obliczeń związanych z uczeniem maszynowym.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Jego głównym zadaniem jest przyspieszanie operacji macierzowych, takich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mnożenie macierzy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konwolucje w sieciach neuronowych.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porównaniu z CPU i GPU NPU oferuje znacznie wyższą efektywność energetyczną przy wykonywaniu obliczeń AI.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Typowe zastosowania NPU w smartfonach: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rozpoznawanie mowy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analiza obrazu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generatywne modele AI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tłumaczenie w czasie rzeczywistym.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807C3223-AB2D-4E27-8FF2-03B42E359F67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1F4648F-EAAE-4C5E-8BDA-559558E219D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3A863229-F7B6-41F7-9212-8D06241761E1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9F7C68D-D756-428A-B94F-9367C41CE4E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E88DFE2-5443-4D9B-951B-2996E37FE9A0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urządzeniach mobilnych stosuje się dwa główne typy pamięci: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pamięć operacyjną oraz pamięć masową.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Pamięć operacyjna w smartfonach to najczęściej LPDDR. Jest to specjalna wersja pamięci DDR zaprojektowana z myślą o niskim zużyciu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Pamięć masowa oparta jest obecnie głównie na standardzie UFS.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UFS oferuje znacznie większą przepustowość niż starsze standardy, takie jak eMMC.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Smartfony korzystają z kilku rodzajów pamięci.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z nich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RAM (LPDDR)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– pamięć operacyjna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UFS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– pamięć masowa.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Nowoczesne urządzenia używają pamięci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LPDDR5X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zapewnia bardzo wysoką przepustowość przy niskim zużyciu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Pamięć masowa oparta jest zwykle na standardzie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UFS 4.0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oferuje wielokrotnie większą prędkość niż starsze eMMC.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Dodatkowo w systemie Android stosowana jest technika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zRAM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kompresuje dane w pamięci w celu zwiększenia efektywnej ilości RAM.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95D1F71-DEFC-4EDA-BC9A-C3DFEFD4084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9E3E522-24B5-49DC-96DF-7187BFE77FE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FFED4D5B-5437-47DF-AC7C-14633CEBD82A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188AE61-970D-49FD-BF2B-F7AC7D5EEB90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CA165F3-0DE2-47E9-A76C-01E167ACB96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Wyświetlacz jest jednym z najbardziej energochłonnych elementów smartfona.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Najczęściej stosowaną technologią jest obecnie OLED.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przeciwieństwie do ekranów LCD każdy piksel w OLED jest niezależnym źródłem światła.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Pozwala to uzyskać bardzo wysoki kontrast oraz znacznie lepszą efektywność energetyczną przy wyświetlaniu ciemnych kolorów.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Wyświetlacz jest jednym z najbardziej energochłonnych elementów smartfona.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Najpopularniejszą technologią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OLED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w której każdy piksel emituje własne światło.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Zalety OLED: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bardzo wysoki kontrast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możliwość wyświetlania idealnej czerni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mniejsze zużycie energii przy ciemnym interfejsie.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Nowoczesne wyświetlacze stosują technologię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LTPO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pozwala dynamicznie zmieniać częstotliwość odświeżania w zakresie od 1 Hz do 120 Hz.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D351224-5806-47B0-9524-8D20CB79D00E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AC6CBD-3DD4-43AF-84C6-DBD7A34044FD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8408A052-3503-44B0-828E-54BED1CD2587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532E8BC-E598-4C25-AF38-89B923FEB6D7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60A8119-F132-4955-9AA8-7E11A6C2C65B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kamer w nowoczesnym smartfonie jest jednym z najbardziej zaawansowanych elementów całego urządzenia. Wbrew pozorom jakość zdjęcia nie zależy wyłącznie od sensora czy liczby megapikseli. W rzeczywistości najważniejszą rolę odgrywa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połączenie optyki, sensora oraz algorytmów przetwarzania obrazu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Pierwszym elementem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układ optyczny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zestaw soczewek znajdujących się przed sensorem. W smartfonach stosuje się zwykle od 5 do 9 soczewek, często wykonanych ze specjalnych materiałów optycznych redukujących aberrację chromatyczną. Parametr przysłony oznaczany jako f/1.8 czy f/2.2 określa ilość światła docierającego do sensora. Im mniejsza liczba f, tym więcej światła może zostać zarejestrowane.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elementem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sensor obrazu CMOS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Współczesne sensory często wykorzystują technologię BSI – back-side illumination. W klasycznych sensorach metalowe ścieżki znajdowały się nad fotodiodami, częściowo blokując światło. W BSI struktura została odwrócona, dzięki czemu więcej fotonów dociera do elementu światłoczułego.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Trzecim elementem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ISP – Image Signal Processor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procesor przetwarzający obraz. Jego zadaniem jest przekształcenie surowych danych z sensora w gotowe zdjęcie. Proces ten obejmuje wiele etapów: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usuwanie szumów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demosaicing (rekonstrukcja kolorów z filtra Bayera)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balans bieli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korekcję ekspozycji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łączenie wielu ekspozycji HDR.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Bardzo ważną rolę odgrywa dziś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computational photography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W praktyce oznacza to, że smartfon wykonuje kilka lub kilkanaście zdjęć o różnych parametrach i łączy je w jeden obraz przy użyciu algorytmów uczenia maszynowego. Dzięki temu możliwe jest uzyskanie dobrej jakości zdjęć nawet przy bardzo małej matrycy.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Nowoczesne aparaty w smartfonach wykorzystują zaawansowane przetwarzanie obrazu.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kamer składa się z kilku elementów: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Optyki (układu optycznego)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sensora obrazu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procesora ISP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algorytmów computational photography.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Współczesna fotografia mobilna opiera się głównie na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algorytmach przetwarzania obrazu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łączą wiele ekspozycji w jedno zdjęcie o wysokiej jakości.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BA098BF-87F2-4AEA-8600-4F1297140069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E0109C0-2FEF-41A7-8D8D-A865988C505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186CAF7B-0678-4A34-80DB-CFF48E3333F4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AC4F0A0-BA57-4F25-A7A9-D126A78B751D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40BF011-8C3C-4624-9373-1577C3D91B37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Nowoczesny smartfon zawiera wiele różnych systemów komunikacji bezprzewodowej. Każdy z nich został zaprojektowany z myślą o innym scenariuszu użycia.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Najbardziej znanym standardem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5G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piąta generacja sieci komórkowych. 5G oferuje znacznie większą przepustowość niż LTE oraz bardzo niskie opóźnienia. Technologia ta wykorzystuje dwa główne zakresy częstotliwości: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pasma sub-6 GHz o dużym zasięgu,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pasma mmWave oferujące bardzo wysokie prędkości transmisji, ale znacznie mniejszy zasięg.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standardem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WiFi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służy do komunikacji w sieciach lokalnych. Najnowszy standard WiFi 7 pozwala osiągać bardzo wysokie prędkości transmisji dzięki wykorzystaniu wielu kanałów jednocześnie.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Bluetooth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jest natomiast technologią przeznaczoną do komunikacji na krótkim dystansie, szczególnie z urządzeniami peryferyjnymi takimi jak słuchawki czy zegarki.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NFC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umożliwia komunikację na bardzo małą odległość – zwykle kilka centymetrów. Technologia ta jest wykorzystywana głównie w płatnościach mobilnych.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UWB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Ultra Wideband, jest stosunkowo nową technologią umożliwiającą bardzo dokładne określenie odległości między urządzeniami. Dzięki temu można np. zlokalizować zagubiony przedmiot z dokładnością kilku centymetrów.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Ostatnim ważnym elementem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GPS oraz inne systemy GNSS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umożliwiają określenie położenia urządzenia na podstawie sygnałów satelitarnych.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Smartfony obsługują wiele standardów komunikacji bezprzewodowej.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z nich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5G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WiFi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Bluetooth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NFC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UWB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GPS.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Każdy z tych systemów wykorzystuje inne pasma częstotliwości i inne protokoły komunikacyjne.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77A8C8C-3ED7-443C-BD55-C15005CF9F76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A78C289-ADB5-4126-8D4F-CC43A01BE81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D97CDE83-EE63-43EE-AF89-475C17A735A6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6401DF5-9F3E-4281-8B21-65069E590DD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9AC9E6E-08CD-49E2-A889-01E113305CA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Bateria jest jednym z najważniejszych elementów każdego urządzenia mobilnego. Współczesne smartfony korzystają niemal wyłącznie z baterii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litowo-jonowych lub litowo-polimerowych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 ładowania takich baterii odbywa się według algorytmu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CC-CV (Constant Current – Constant Voltage)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pierwszej fazie bateria ładowana jest stałym prądem. W tej fazie napięcie stopniowo rośnie. Po osiągnięciu maksymalnego napięcia rozpoczyna się druga faza, w której napięcie jest utrzymywane na stałym poziomie, a prąd stopniowo maleje.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smartfonach bardzo ważną rolę odgrywa również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PMIC – Power Management Integrated Circuit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Jest to układ odpowiedzialny za zarządzanie energią w całym urządzeniu. PMIC kontroluje: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napięcia zasilania procesora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ładowanie baterii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dystrybucję energii do różnych komponentów.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Baterie w smartfonach są najczęściej oparte na technologii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litowo-jonowej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lub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litowo-polimerowej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 ładowania odbywa się według algorytmu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CC-CV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składa się z dwóch etapów: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ładowanie stałym prądem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ładowanie stałym napięciem.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55959A2-222A-4489-ABC0-7968F589B70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F0465D1-0BA1-4072-8D63-4146CD121BE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DDB0523F-BB80-4485-BABC-535FA5526098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38D4297-82FC-40D4-931A-BAAF5F15AC0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339EA4B-8475-4585-859B-90437A5631C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Bezpieczeństwo w urządzeniach mobilnych zaczyna się na poziomie sprzętu.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procesorach ARM stosowana jest technologia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TrustZone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dzieli system na dwa środowiska: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normal world – gdzie działa system operacyjny,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secure world – gdzie wykonywane są operacje kryptograficzne.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Secure world jest całkowicie izolowany od reszty systemu, dzięki czemu nawet jeśli system operacyjny zostanie zainfekowany złośliwym oprogramowaniem, klucze kryptograficzne pozostają bezpieczne.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urządzeniach Apple stosowany jest dodatkowy koprocesor bezpieczeństwa zwany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Secure Enclave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Przechowuje on dane biometryczne oraz klucze szyfrujące używane przez system.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Nowoczesne smartfony wykorzystują izolowane środowiska wykonawcze, takie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ARM TrustZone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Secure Enclave.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Ich zadaniem jest ochrona kluczy kryptograficznych oraz danych biometrycznych.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AFF8517F-7AC9-4BF6-846D-6EF115234ECB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461CABD-E7B5-4463-8E7C-1A3104052BD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C0DE4464-4A7E-4A23-B90F-0A0E7653ECA3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C64E68C-7AA5-4316-A1B9-EDE4811B5B2A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566E5D9-05A1-474C-B3DC-49F349EE035C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Chain of Trust to koncepcja bezpieczeństwa polegająca na tym, że każdy etap uruchamiania systemu operacyjnego weryfikuje podpis cyfrowy kolejnego etapu.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 rozpoczyna się w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Boot ROM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jest zapisany bezpośrednio w chipie i nie może zostać zmodyfikowany.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Boot ROM sprawdza podpis pierwszego bootloadera. Następnie bootloader weryfikuje kernel systemu operacyjnego.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możliwe jest wykrycie każdej próby modyfikacji systemu operacyjnego przez nieautoryzowane oprogramowanie.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 uruchamiania systemu operacyjnego jest zabezpieczony przez tzw.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łańcuch zaufania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Każdy etap bootowania weryfikuje podpis kryptograficzny kolejnego etapu.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złośliwe oprogramowanie nie może zmodyfikować systemu operacyjnego bez wykrycia.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7D590A9-BB52-406F-B3C2-BF893E4AD09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E95EAB5-058E-4510-84C5-5BF1C90B9C3C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CF4E5BAE-4CBB-4991-A63B-3EC27D2DF758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D1A480E-6E3C-4B10-95AB-AFBC67AC68F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4080BD9-2F91-4BC8-BF97-F5D765A0685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jest systemem operacyjnym opartym na jądrze Linux i posiada architekturę warstwową.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Najniższą warstwą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kernel Linux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odpowiada za zarządzanie pamięcią, procesami oraz sterownikami sprzętowymi.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Nad jądrem znajduje się warstwa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HAL – Hardware Abstraction Layer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umożliwia komunikację między systemem operacyjnym a sprzętem.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Kolejna warstwa to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Runtime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odpowiada za uruchamianie aplikacji napisanych w językach Java lub Kotlin.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 najwyższym poziomie znajduje się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framework Androida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oraz aplikacje użytkownika.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jest systemem warstwowym.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warstwy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Linux kernel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HAL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natywne biblioteki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Runtime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framework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aplikacje.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8C8EA13-70C5-4F51-BB19-76626DBD200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1DF3D08-8B1C-4DFF-B43D-F7D29DB223C0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5016C46D-0014-4274-913F-9D95284B109F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61A47EE-AB81-4707-94EB-5A829EE9EA5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3829DA4-2906-498D-A127-E80EB8B2104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iOS opiera się na jądrze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XNU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jest hybrydą mikrojądra Mach oraz systemu BSD.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Architektura iOS jest silnie zintegrowana z hardwarem Apple. Firma projektuje zarówno procesory, jak i system operacyjny, co pozwala osiągnąć bardzo wysoką optymalizację.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iOS wykorzystuje mechanizmy takie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sandboxing aplikacji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podpisy cyfrowe aplikacji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kontrola uprawnień.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platforma jest stosunkowo odporna na złośliwe oprogramowanie.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iOS opiera się na jądrze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XNU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łączy elementy mikrojądra Mach oraz systemu BSD.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stosuje silnie kontrolowany ekosystem, co zwiększa bezpieczeństwo i stabilność systemu.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0551F87-4AEF-4BC8-9AC0-44B4A1319BB5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6E8EE5A-3ADD-4F8D-BBA1-F3E200F41FC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78157933-8FC0-45E4-AAB3-A4D2FC8DFF4D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5A47920-ADF9-4ACD-A233-BD6ECDCDE81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531BF6C-1871-4404-963D-6533B33E1A6F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operacyjny w smartfonie musi bardzo agresywnie zarządzać zużyciem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systemie Android stosowany jest mechanizm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Doze Mode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Gdy urządzenie przez dłuższy czas pozostaje nieruchome i ekran jest wyłączony, system ogranicza dostęp aplikacji do sieci oraz innych zasobów.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iOS stosowane są podobne mechanizmy zarządzania zadaniami w tle. System może ograniczać aktywność aplikacji, które zużywają zbyt dużo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Systemy mobilne stosują zaawansowane mechanizmy ograniczania aktywności aplikacji w tle.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Przykłady: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Doze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iOS Background Tasks.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4CA67FC-1B30-480D-849A-C07C4A13D82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4C70AC0-08D6-4960-8AF4-79171D45B9D1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B829A1D4-1885-4E38-A91B-380A0899563E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1C8BD6A-2EE6-42DF-BB50-1B617497A5BA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A54569B-3CE0-45EE-918A-192788851B5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Smartfony nie posiadają aktywnych systemów chłodzenia, takich jak wentylatory. Z tego powodu zarządzanie temperaturą jest bardzo trudnym problemem.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Najczęściej stosowane są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komory parowe (vapor chamber)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oraz arkusze grafitowe rozprowadzające ciepło po obudowie urządzenia.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Dodatkowo system operacyjny może ograniczać częstotliwość pracy procesora w celu zmniejszenia temperatury. Zjawisko to nazywane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thermal throttling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Smartfony nie posiadają aktywnego chłodzenia.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Zamiast tego stosowane są: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komory parowe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arkusze grafitowe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materiały przewodzące ciepło.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909FC8A-493F-466F-B7BB-37A04383D6F6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B43D16-647D-49FE-A97F-24C3EB4703F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FE3B0F9-33AE-4449-AA4B-75F5E6532921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04B51AAF-8E00-4E7C-94C5-0412696AE80E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823035A-5339-4666-89D1-02FE4911BF5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Produkcja nowoczesnych chipów jest jednym z najbardziej zaawansowanych procesów technologicznych na świecie.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Układy scalone produkowane są na krzemowych waflach o średnicy 300 mm. Na jednym waflu może znajdować się kilkaset chipów.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Najbardziej zaawansowanym etapem produkcji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fotolitografia EUV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pozwala tworzyć struktury o rozmiarach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 produkcji obejmuje setki etapów, takich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depozycja materiałów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trawienie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implantacja jonów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testowanie chipów.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Produkcja nowoczesnych chipów jest jednym z najbardziej zaawansowanych procesów technologicznych na świecie.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etapy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fotolitografia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trawienie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implantacja jonów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pakowanie chipów.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0111ED2-8CCB-4651-BF09-F2A3248F20A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86C594D-67D9-488D-ADC6-9E289F27A7AD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9221B11-BFF2-44A9-A322-4ECFF8588CB3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67C673E-924D-459D-9501-DC53F0B3DDB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71D70C5-B273-4F2E-AEE1-471069B17EF7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projektuje zarówno sprzęt, jak i system operacyjny.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tym miejscu warto przejść od ogólnej architektury urządzeń mobilnych do konkretnego przykładu. Analiza rzeczywistego urządzenia pozwala studentom lepiej zrozumieć, jak wszystkie omówione wcześniej komponenty współpracują w praktyce.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iPhone jest szczególnie interesującym przypadkiem, ponieważ Apple stosuje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pełnej integracji pionowej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Oznacza to, że jedna firma projektuje: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procesor (Apple Silicon),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operacyjny (iOS),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większość kluczowych komponentów sprzętowych,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także narzędzia programistyczne.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Apple ma pełną kontrolę nad optymalizacją całego systemu.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iPhonie centralnym elementem jest układ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A-series SoC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integruje CPU, GPU, Neural Engine oraz procesor obrazu ISP. W przeciwieństwie do wielu producentów Androida Apple nie korzysta z gotowych rdzeni ARM Cortex w czystej postaci, lecz projektuje własne mikroarchitektury rdzeni CPU.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Jednym z kluczowych elementów architektury Apple jest również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wysoka przepustowość pamięci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Procesory Apple mają bardzo duże cache oraz szeroką magistralę pamięci, co pozwala osiągnąć bardzo wysoką wydajność jednowątkową.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Warto podkreślić, że w architekturze iPhone’a szczególną rolę odgrywa także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Secure Enclave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dedykowany koprocesor bezpieczeństwa odpowiedzialny za obsługę danych biometrycznych i kluczy kryptograficznych.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747D5FE-1E55-4C65-98EE-63F79E35298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7720A6E-133C-4A7D-9735-C926DAA7EC2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66173FB6-B477-44DE-96DC-D031462395B4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107B67F-680C-4587-8187-638D046F335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22F98C7-C393-44A0-89DD-167E94B8F55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1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przykładem jest flagowy smartfon z systemem Android. W tym przypadku architektura systemu jest nieco inna, ponieważ ekosystem Androida jest znacznie bardziej otwarty.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Producenci urządzeń mobilnych korzystają z gotowych platform SoC, takich jak Snapdragon lub MediaTek, a następnie integrują je z własnym oprogramowaniem oraz komponentami sprzętowymi.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smartfonach Samsung Galaxy najczęściej stosowany jest procesor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Snapdragon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integruje: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CPU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GPU Adreno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modem 5G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akcelerator AI Hexagon.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Jedną z charakterystycznych cech flagowych smartfonów Samsung jest bardzo rozbudowany system kamer. Współczesne urządzenia często wykorzystują kilka sensorów o różnych ogniskowych, np.: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kamera główna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kamera ultraszerokokątna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teleobiektyw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kamera peryskopowa.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Każdy z tych modułów jest zoptymalizowany do innego typu fotografii.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Warto również zwrócić uwagę na duże baterie oraz rozbudowane systemy chłodzenia stosowane w nowoczesnych smartfonach Android.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DC399CF-D69A-43B4-BEB7-CC4958D5945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964F3853-4D6B-41EA-9C45-2ADD6E54978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8F90A154-6410-4A88-887C-941E722124E5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360618B-5796-4DFE-8909-48D498A3759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4F99614-6406-4400-83FA-A2316DAE66A7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Porównanie różnych układów SoC pozwala zrozumieć różne strategie projektowe stosowane przez producentów.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koncentruje się przede wszystkim na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wydajności jednowątkowej oraz efektywności energetycznej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Dzięki temu aplikacje działają bardzo płynnie, a system operacyjny może wykonywać wiele zadań przy stosunkowo niewielkim zużyciu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Qualcomm natomiast kładzie większy nacisk na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uniwersalność platformy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Układy Snapdragon są projektowane tak, aby mogły być wykorzystywane przez wielu producentów urządzeń.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ostatnich latach coraz większe znaczenie ma również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wydajność akceleratorów AI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czyli NPU. Nowoczesne układy mobilne osiągają już dziesiątki teraoperacji na sekundę.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praktyce oznacza to, że wiele zadań związanych z uczeniem maszynowym może być wykonywanych bezpośrednio na urządzeniu, bez konieczności korzystania z chmury.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Porównanie procesorów Apple i Qualcomm pokazuje różnice w filozofii projektowania.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Apple koncentruje się na wydajności jednowątkowej i efektywności energetycznej.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Qualcomm stawia większy nacisk na akcelerację AI.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D0FF33B-5AD8-429C-A44E-0A62DF86ECC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C7AAC6D2-0469-4E7F-9734-8A6656483D50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EA85B273-6E0B-4CF8-9DC5-9D05A00CB5E8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8F232C0-CA91-49D1-AF00-2560934D7D9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135D33C-0137-43C1-B5BB-29EB64F8D44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Urządzenia typu wearable stanowią bardzo ważną kategorię urządzeń mobilnych.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 tej grupy należą między innymi: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smartwatche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słuchawki bezprzewodowe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inteligentne okulary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opaski fitness.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Architektura takich urządzeń różni się znacząco od architektury smartfonów, ponieważ ograniczenia energetyczne są znacznie większe.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Bateria w smartwatchu ma często pojemność mniejszą niż 300 mAh, dlatego wszystkie komponenty muszą być ekstremalnie energooszczędne.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smartwatchach stosuje się specjalne układy SoC zoptymalizowane pod kątem bardzo niskiego zużycia energii. Wiele zadań wykonywanych jest przez dedykowane procesory pomocnicze, które mogą działać przy minimalnym poborze energii.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Ważnym elementem takich urządzeń są również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sensory zdrowotne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takie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czujniki tętna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czujniki natlenienia krwi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akcelerometry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żyroskopy.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Urządzenia typu wearable charakteryzują się bardzo ograniczoną przestrzenią i baterią.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Dlatego wymagają specjalnych, bardzo energooszczędnych układów SoC.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94334CF-9B3D-4B87-9275-A8310691BE89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7DE3341-3D2E-44EE-837F-41F84CE98C6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487CDE53-4439-4DB8-8ED4-805725B538C0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06C0F6B-E695-42FE-B004-EC78A2DE929A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1F4A171-DE63-4D07-8227-E1C58FC88DC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Tablety różnią się od smartfonów przede wszystkim większym ekranem oraz większym budżetem energetycznym.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Większa bateria oraz większa powierzchnia obudowy pozwalają stosować bardziej wydajne procesory oraz bardziej zaawansowane systemy chłodzenia.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Warto również wspomnieć o innych specjalnych kategoriach urządzeń mobilnych: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urządzenia rugged przeznaczone do pracy w trudnych warunkach,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smartfony gamingowe,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składane urządzenia mobilne.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Każda z tych kategorii ma nieco inną architekturę sprzętową dostosowaną do specyficznych zastosowań.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Tablety różnią się od smartfonów większymi ekranami oraz wyższym limitem energetycznym.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Pozwala to stosować bardziej wydajne procesory.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4699972E-B4C4-468D-B829-9E6789540D55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452196C-4695-413E-BE08-47107B3DF6F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24E68C85-781A-469C-BE5B-23548D97C914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D6B71723-7DA7-4AF7-BF92-82A2A59FA04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F8121B9-8857-46CF-9A0E-39E5FDD0EC2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 Treble jest jedną z najważniejszych zmian w architekturze Androida.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Celem tego projektu było oddzielenie warstwy systemu operacyjnego od warstwy sprzętowej.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starszych wersjach Androida producenci urządzeń musieli modyfikować dużą część systemu operacyjnego, aby dostosować go do konkretnego sprzętu. Powodowało to ogromne opóźnienia w aktualizacjach systemu.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 Treble wprowadził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warstwę HAL – Hardware Abstraction Layer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oddziela system operacyjny od sterowników sprzętowych.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Google może aktualizować system Android niezależnie od producentów sprzętu.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Project Treble oddziela warstwę sprzętową od systemu operacyjnego.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temu aktualizacje Androida mogą być wdrażane szybciej.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192BDF2-23C4-4D3E-948E-3AB1CF671A5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9673DA5-97EA-4960-BEC5-98911763373E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9114DF99-AF1D-449C-8EB5-502C7C62114C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A1BC8D1-579B-4046-AC78-E7CCD7551A8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C31C6F2-6AB2-4589-8D4A-9B9E1271EFBA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Chociaż większość aplikacji mobilnych jest tworzona w językach wysokiego poziomu, takich jak Kotlin czy Swift, w niektórych przypadkach konieczne jest użycie kodu natywnego.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systemie Android służy do tego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NDK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NDK umożliwia tworzenie bibliotek w językach C lub C++, które mogą być wywoływane z aplikacji Java lub Kotlin przy użyciu mechanizmu JNI.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Kod natywny jest często wykorzystywany w aplikacjach wymagających bardzo wysokiej wydajności, takich jak: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silniki gier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przetwarzanie obrazu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kodeki audio i wideo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algorytmy sztucznej inteligencji.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Android umożliwia tworzenie kodu natywnego przy użyciu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NDK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Kod C/C++ jest używany w sytuacjach wymagających wysokiej wydajności.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E721EFB-07EB-4964-A315-8A52B3822F3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9731220-9BD5-4EE4-AD49-082204A768F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96ACD73D-66AE-469B-9E23-18C0270D66E5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8BBB0C4-5CD4-4738-B840-19F890D7B250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6905C1A-882D-4901-846F-18183323262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Zanim urządzenie mobilne trafi na rynek, musi przejść wiele procesów certyfikacyjnych.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z nich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certyfikacja CE w Europie,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certyfikacja FCC w Stanach Zjednoczonych,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testy SAR określające poziom promieniowania radiowego.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Dodatkowo urządzenia muszą spełniać wymagania dotyczące bezpieczeństwa elektrycznego oraz kompatybilności elektromagnetycznej.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Certyfikacja jest bardzo kosztownym procesem, ale jest niezbędna, aby urządzenie mogło być legalnie sprzedawane.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Każde urządzenie mobilne musi spełniać liczne normy techniczne.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z nich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FCC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SAR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IP rating.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9E4C8F4-D13A-484C-B589-81A16B09101A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D40F238-E1B6-4DD7-A509-785FBF69258A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1ABAE885-C16B-405E-B243-620FE3DC0BA9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11A178C-7DAF-4796-9357-28A4C99756FB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A3676A2-EA2A-48A6-B43C-16B6CFB2B45C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Składane smartfony są jedną z najnowszych kategorii urządzeń mobilnych.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Ich kluczowym elementem jest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elastyczny wyświetlacz OLED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który może być wielokrotnie zginany bez uszkodzenia.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Aby chronić taki ekran, stosuje się specjalne szkło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UTG – Ultra Thin Glass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które ma grubość kilkudziesięciu mikrometrów.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elementem jest mechanizm zawiasu. Musi on wytrzymać setki tysięcy cykli zginania bez utraty stabilności.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Jednym z największych wyzwań w tej technologii jest zapewnienie odpowiedniej trwałości oraz odporności na kurz.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Składane smartfony wykorzystują elastyczne wyświetlacze OLED oraz specjalne zawiasy.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Technologia ta rozwija się bardzo szybko, choć nadal jest droższa od tradycyjnych konstrukcji.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3A5BD015-F987-4A4B-A160-FE5AF3AF6F4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E44E632-F347-4FE8-A318-7546C150C01B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8A8C9B5E-2A94-4F5E-B8E1-8D33BBFCA353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A45BB0D-D3EC-4F38-ACD7-24AE28CF0268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0403F56-074D-4D0D-B70B-3469E8CB9AF6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Najważniejszym trendem w rozwoju urządzeń mobilnych jest obecnie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sztuczna inteligencja działająca bezpośrednio na urządzeniu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coraz bardziej wydajnym akceleratorom AI możliwe jest uruchamianie modeli językowych oraz modeli generatywnych bezpośrednio na smartfonie.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trendem jest dalsza miniaturyzacja układów scalonych. Nowoczesne procesory mobilne są produkowane w procesach technologicznych rzędu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Rozwijają się również technologie komunikacyjne, w tym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łączność satelitarna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umożliwia wysyłanie wiadomości nawet poza zasięgiem sieci komórkowych.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trendy rozwoju technologii mobilnych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działające bezpośrednio na urządzeniu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szybsze ładowanie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nowe technologie półprzewodnikowe.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9522DF6-08D7-45BC-AA8E-433226B5BBDF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B6BDD62E-924B-4456-A21A-FEB72A59A363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59BCC6B8-5FA5-412E-8714-EF3810DC6A2C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E13DCAF-6439-4962-9C51-93751128212D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F5C5521-EF64-4858-A551-5C74C436287C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Najważniejszym trendem w rozwoju urządzeń mobilnych jest obecnie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sztuczna inteligencja działająca bezpośrednio na urządzeniu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coraz bardziej wydajnym akceleratorom AI możliwe jest uruchamianie modeli językowych oraz modeli generatywnych bezpośrednio na smartfonie.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trendem jest dalsza miniaturyzacja układów scalonych. Nowoczesne procesory mobilne są produkowane w procesach technologicznych rzędu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Rozwijają się również technologie komunikacyjne, w tym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łączność satelitarna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umożliwia wysyłanie wiadomości nawet poza zasięgiem sieci komórkowych.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trendy rozwoju technologii mobilnych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działające bezpośrednio na urządzeniu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szybsze ładowanie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nowe technologie półprzewodnikowe.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AB7717E-DF6B-48DC-B412-D1DE14905AF2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7DE0016-F6AE-4789-AB2A-D68E485E2FC4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CC305328-FE64-4C02-BDCA-45D2D9EF5E4B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5E200BFC-6D58-43EE-BBC1-2F4473CB129D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28D2A32-8212-40A1-909C-86A51BBD99DC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Najważniejszym trendem w rozwoju urządzeń mobilnych jest obecnie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sztuczna inteligencja działająca bezpośrednio na urządzeniu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coraz bardziej wydajnym akceleratorom AI możliwe jest uruchamianie modeli językowych oraz modeli generatywnych bezpośrednio na smartfonie.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trendem jest dalsza miniaturyzacja układów scalonych. Nowoczesne procesory mobilne są produkowane w procesach technologicznych rzędu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Rozwijają się również technologie komunikacyjne, w tym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łączność satelitarna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umożliwia wysyłanie wiadomości nawet poza zasięgiem sieci komórkowych.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trendy rozwoju technologii mobilnych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działające bezpośrednio na urządzeniu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szybsze ładowanie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nowe technologie półprzewodnikowe.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E98C431-EFEF-441B-B77A-DA6C068FFA4A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001C41C-A26B-4F9E-A83E-A2344F193452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851EB550-DCA1-44B2-B617-690100F820ED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8EB3A35-3330-4A96-A625-01161E7C2C8B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EE4B898-6FA3-439D-BD19-B62251D59AA2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Najważniejszym trendem w rozwoju urządzeń mobilnych jest obecnie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sztuczna inteligencja działająca bezpośrednio na urządzeniu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coraz bardziej wydajnym akceleratorom AI możliwe jest uruchamianie modeli językowych oraz modeli generatywnych bezpośrednio na smartfonie.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trendem jest dalsza miniaturyzacja układów scalonych. Nowoczesne procesory mobilne są produkowane w procesach technologicznych rzędu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Rozwijają się również technologie komunikacyjne, w tym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łączność satelitarna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umożliwia wysyłanie wiadomości nawet poza zasięgiem sieci komórkowych.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trendy rozwoju technologii mobilnych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działające bezpośrednio na urządzeniu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szybsze ładowanie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nowe technologie półprzewodnikowe.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D4BD150-4F35-489E-BBF1-E862313DFD9F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1968570-C205-464E-9E7C-63AF68886A4C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17001BF0-AA27-42BC-992C-388A76C6B7E5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F5BFA329-CBF0-4476-A695-001F99406DAE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DEF0A21-960D-4401-BB9C-8922D7031198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Najważniejszym trendem w rozwoju urządzeń mobilnych jest obecnie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sztuczna inteligencja działająca bezpośrednio na urządzeniu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Dzięki coraz bardziej wydajnym akceleratorom AI możliwe jest uruchamianie modeli językowych oraz modeli generatywnych bezpośrednio na smartfonie.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Drugim ważnym trendem jest dalsza miniaturyzacja układów scalonych. Nowoczesne procesory mobilne są produkowane w procesach technologicznych rzędu kilku nanometrów.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Rozwijają się również technologie komunikacyjne, w tym </a:t>
            </a:r>
            <a:r>
              <a:rPr lang="pl-PL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łączność satelitarna</a:t>
            </a: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która umożliwia wysyłanie wiadomości nawet poza zasięgiem sieci komórkowych.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Najważniejsze trendy rozwoju technologii mobilnych to: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działające bezpośrednio na urządzeniu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szybsze ładowanie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nowe technologie półprzewodnikowe.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AFD4138-2682-4AFE-9B55-BC84CEE8ECFD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403748C3-45E9-4C93-B28D-2AC8A3A58649}" type="slidenum"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&lt;numer&gt;</a:t>
            </a:fld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Symbol zastępczy daty 2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C74DDBFB-451E-4533-B553-4FFC5465C39F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15.04.2026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5" name="PlaceHolder 3"/>
          <p:cNvSpPr txBox="1"/>
          <p:nvPr/>
        </p:nvSpPr>
        <p:spPr>
          <a:xfrm>
            <a:off x="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6" name="PlaceHolder 4"/>
          <p:cNvSpPr txBox="1"/>
          <p:nvPr/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7" name="PlaceHolder 5"/>
          <p:cNvSpPr txBox="1"/>
          <p:nvPr/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8" name="PlaceHolder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FAD5DD6-2C53-4335-9E71-9A0706BA6345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9" name="Symbol zastępczy numeru slajdu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98C3511-161F-4886-BAD4-02219522713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5920"/>
          </a:xfrm>
          <a:prstGeom prst="rect">
            <a:avLst/>
          </a:prstGeom>
          <a:ln w="0">
            <a:noFill/>
          </a:ln>
        </p:spPr>
      </p:sp>
      <p:sp>
        <p:nvSpPr>
          <p:cNvPr id="2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Podsumowując cały wykład, można zauważyć, że architektura urządzeń mobilnych jest wynikiem połączenia wielu dziedzin technologii.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Smartfony integrują w jednym urządzeniu: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zaawansowane procesory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systemy komunikacji bezprzewodowej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sensory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systemy operacyjne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algorytmy sztucznej inteligencji.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Rozwój tych technologii sprawia, że smartfony stają się jedną z najważniejszych platform obliczeniowych współczesnego świata.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Dla programistów oznacza to konieczność zrozumienia nie tylko samego programowania aplikacji, ale również podstaw architektury sprzętowej i systemowej urządzeń mobilnych.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_______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Architektura mobilna łączy wiele dziedzin informatyki i elektroniki: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mikroarchitekturę procesorów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systemy operacyjne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komunikację bezprzewodową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sztuczną inteligencję.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Rozwój tych technologii powoduje, że smartfony stają się jedną z najważniejszych platform komputerowych współczesnego świata.</a:t>
            </a: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pl-PL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2" name="PlaceHolder 3"/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A89E65A-5699-4968-B9CA-B44C0F6E44DA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3" name="Symbol zastępczy numeru slajdu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A15E2FC-BCB7-4863-A9EA-60B3868BED47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Office-The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880" cy="994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lang="pl-PL" sz="33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880" cy="32634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Drugi poziom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Trzeci poziom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Czwarty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Piąty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C3FCDD5-C513-4A64-9322-F99043C8B2B2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B37EB3-9E2E-497C-9BA7-79A53C8FF144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Slajd-tytułow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8000" cy="1790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pl-PL" sz="45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80B3FCA-A4D6-4A1D-B2D7-22A1D3066BB7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0814EE-6033-4D42-BE9C-62260B81F7C8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2-obj-Tytuł-i-zawartoś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880" cy="994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lang="pl-PL" sz="33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628560" y="1369080"/>
            <a:ext cx="7886880" cy="32634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Drugi poziom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Trzeci poziom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Czwarty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Piąty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7A527F4-D738-4D48-9C6F-2633C4ACD3CE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98FCAC-4CAA-43C0-B908-B366B10DC2D2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3-secHead-Nagłówek-sekcj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880" cy="21394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lang="pl-PL" sz="45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880" cy="1125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13FE178-66BB-4155-AA7D-80C791E79567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551F0D-B1B5-4081-AB4E-15A5CBD51054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4-twoObj-Dwa-elementy-zawartośc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880" cy="994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lang="pl-PL" sz="33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28560" y="1369080"/>
            <a:ext cx="3886200" cy="32634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Drugi poziom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Trzeci poziom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Czwarty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Piąty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4629240" y="1369080"/>
            <a:ext cx="3886200" cy="32634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Drugi poziom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Trzeci poziom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Czwarty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Piąty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7E489F4-96B5-4027-87DE-838AC97E1506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4C7730-7382-41EB-B0E7-626DF5E2F82E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5-twoTxTwoObj-Porównan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880" cy="994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lang="pl-PL" sz="33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8200" cy="617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marL="432000" indent="-324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630000" y="1878840"/>
            <a:ext cx="3868200" cy="2763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Drugi poziom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Trzeci poziom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Czwarty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Piąty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7280" cy="617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spcBef>
                <a:spcPts val="751"/>
              </a:spcBef>
            </a:pPr>
            <a:r>
              <a:rPr lang="pl-PL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title"/>
          </p:nvPr>
        </p:nvSpPr>
        <p:spPr>
          <a:xfrm>
            <a:off x="4629240" y="1878840"/>
            <a:ext cx="3887280" cy="2763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Edytuj style wzorca tekstu</a:t>
            </a:r>
            <a:endParaRPr lang="pl-P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Drugi poziom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Trzeci poziom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Czwarty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l-PL" sz="13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Piąty poziom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BB8E8DF-6AC6-44FF-8658-FCF7070E831B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54694B-4B4B-4343-85BD-1B48CC504ED7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6-titleOnly-Tylko-tytu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880" cy="994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lang="pl-PL" sz="33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Noto Sans CJK SC"/>
              </a:rPr>
              <a:t>Kliknij, aby edytować styl</a:t>
            </a:r>
            <a:endParaRPr lang="pl-PL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177D314-8046-4D97-8D2B-739D5F600AF2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30D447-BEAB-4C38-9351-A4C3DD21773A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7-blank-Pus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38E3C52-448E-4DEE-ADE3-D4B36F2B442B}" type="datetime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4/15/26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92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7400" cy="2739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9FDED2-FE2C-4E11-A856-86CAF606360B}" type="slidenum">
              <a:rPr lang="en-US" sz="9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11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3.xml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280" cy="54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5166360" y="0"/>
            <a:ext cx="3976920" cy="514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f1e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5148000" y="0"/>
            <a:ext cx="45000" cy="514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48640" y="658440"/>
            <a:ext cx="4388400" cy="328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400" b="1" u="none" spc="499" strike="noStrike">
                <a:solidFill>
                  <a:srgbClr val="00b4c5"/>
                </a:solidFill>
                <a:effectLst/>
                <a:uFillTx/>
                <a:latin typeface="Calibri"/>
                <a:ea typeface="Calibri"/>
              </a:rPr>
              <a:t>WYKŁAD 2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432720" y="1024200"/>
            <a:ext cx="4388400" cy="2010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Architektura </a:t>
            </a:r>
            <a:br>
              <a:rPr sz="3600"/>
            </a:br>
            <a:r>
              <a:rPr lang="pl-PL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 budowa urządzeń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mobilnych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548640" y="3108960"/>
            <a:ext cx="1279440" cy="36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548640" y="3200400"/>
            <a:ext cx="438840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0" u="none" strike="noStrike">
                <a:solidFill>
                  <a:srgbClr val="a8d0e8"/>
                </a:solidFill>
                <a:effectLst/>
                <a:uFillTx/>
                <a:latin typeface="Calibri"/>
                <a:ea typeface="Calibri"/>
              </a:rPr>
              <a:t>Przedmiot: Programowanie aplikacji mobilnych</a:t>
            </a:r>
            <a:endParaRPr lang="pl-P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48640" y="3456360"/>
            <a:ext cx="438840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0" u="none" strike="noStrike">
                <a:solidFill>
                  <a:srgbClr val="a8d0e8"/>
                </a:solidFill>
                <a:effectLst/>
                <a:uFillTx/>
                <a:latin typeface="Calibri"/>
                <a:ea typeface="Calibri"/>
              </a:rPr>
              <a:t>Studia: Informatyka</a:t>
            </a:r>
            <a:endParaRPr lang="pl-P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548640" y="3749040"/>
            <a:ext cx="438840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SoC · ARM · 5G · OLED · Bezpieczeństwo · Android/iOS</a:t>
            </a:r>
            <a:endParaRPr lang="pl-PL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5376600" y="777240"/>
            <a:ext cx="4500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5541120" y="777240"/>
            <a:ext cx="338256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1" action="ppaction://hlinksldjump"/>
              </a:rPr>
              <a:t>SoC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2" action="ppaction://hlinksldjump"/>
              </a:rPr>
              <a:t>: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3" action="ppaction://hlinksldjump"/>
              </a:rPr>
              <a:t>CPU, GPU, NPU, pamięć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5376600" y="1527120"/>
            <a:ext cx="4500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600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5541120" y="1527120"/>
            <a:ext cx="338256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4" action="ppaction://hlinksldjump"/>
              </a:rPr>
              <a:t>Wyświetlacze i kamery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5376600" y="2277000"/>
            <a:ext cx="4500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e9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5541120" y="2277000"/>
            <a:ext cx="338256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5" action="ppaction://hlinksldjump"/>
              </a:rPr>
              <a:t>Łączność 5G, WiFi 7, UWB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5376600" y="3026520"/>
            <a:ext cx="4500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5541120" y="3026520"/>
            <a:ext cx="338256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6" action="ppaction://hlinksldjump"/>
              </a:rPr>
              <a:t>Stos systemowy</a:t>
            </a: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7" action="ppaction://hlinksldjump"/>
              </a:rPr>
              <a:t>Android / iOS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7"/>
          <p:cNvSpPr/>
          <p:nvPr/>
        </p:nvSpPr>
        <p:spPr>
          <a:xfrm>
            <a:off x="5376600" y="3776400"/>
            <a:ext cx="4500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47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5541120" y="3776400"/>
            <a:ext cx="3382560" cy="40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8" action="ppaction://hlinksldjump"/>
              </a:rPr>
              <a:t>Bezpieczeństwo i przyszłość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0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144000" y="4992480"/>
            <a:ext cx="4860000" cy="144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1a3a5a"/>
                </a:solidFill>
                <a:effectLst/>
                <a:uFillTx/>
                <a:latin typeface="Calibri"/>
                <a:ea typeface="Calibri"/>
              </a:rPr>
              <a:t>© Katedra Informatyki i Automatyki - Architektura i budowa urządzeń mobilnych -</a:t>
            </a:r>
            <a:r>
              <a:rPr lang="pl-PL" sz="900" b="0" u="none" strike="noStrike">
                <a:solidFill>
                  <a:srgbClr val="1a3a5a"/>
                </a:solidFill>
                <a:effectLst/>
                <a:uFillTx/>
                <a:latin typeface="Calibri"/>
                <a:ea typeface="Calibri"/>
              </a:rPr>
              <a:t> v1.8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ole tekstowe 22"/>
          <p:cNvSpPr txBox="1"/>
          <p:nvPr/>
        </p:nvSpPr>
        <p:spPr>
          <a:xfrm>
            <a:off x="180000" y="4590360"/>
            <a:ext cx="900000" cy="235800"/>
          </a:xfrm>
          <a:prstGeom prst="rect">
            <a:avLst/>
          </a:prstGeom>
          <a:solidFill>
            <a:srgbClr val="112543"/>
          </a:solidFill>
          <a:ln w="9360">
            <a:solidFill>
              <a:srgbClr val="1f4e79"/>
            </a:solidFill>
            <a:miter/>
          </a:ln>
          <a:effectLst>
            <a:outerShdw dist="19080" dir="5400000" rotWithShape="0">
              <a:srgbClr val="000000">
                <a:alpha val="63000"/>
              </a:srgbClr>
            </a:outerShdw>
          </a:effectLst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pl-PL" sz="900" b="1" u="none" strike="noStrike">
                <a:solidFill>
                  <a:srgbClr val="cccccc"/>
                </a:solidFill>
                <a:effectLst/>
                <a:uFillTx/>
                <a:latin typeface="Arial"/>
                <a:ea typeface="Noto Sans CJK SC"/>
              </a:rPr>
              <a:t>W E B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ole tekstowe 23"/>
          <p:cNvSpPr txBox="1"/>
          <p:nvPr/>
        </p:nvSpPr>
        <p:spPr>
          <a:xfrm>
            <a:off x="1260000" y="4590360"/>
            <a:ext cx="900000" cy="235800"/>
          </a:xfrm>
          <a:prstGeom prst="rect">
            <a:avLst/>
          </a:prstGeom>
          <a:solidFill>
            <a:srgbClr val="112543"/>
          </a:solidFill>
          <a:ln w="9360">
            <a:solidFill>
              <a:srgbClr val="1f4e79"/>
            </a:solidFill>
            <a:miter/>
          </a:ln>
          <a:effectLst>
            <a:outerShdw dist="19080" dir="5400000" rotWithShape="0">
              <a:srgbClr val="000000">
                <a:alpha val="63000"/>
              </a:srgbClr>
            </a:outerShdw>
          </a:effectLst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pl-PL" sz="900" b="1" u="none" strike="noStrike">
                <a:solidFill>
                  <a:srgbClr val="cccccc"/>
                </a:solidFill>
                <a:effectLst/>
                <a:uFillTx/>
                <a:latin typeface="Arial"/>
                <a:ea typeface="Noto Sans CJK SC"/>
              </a:rPr>
              <a:t>A P P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Plan wykładu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Grupa 1"/>
          <p:cNvGrpSpPr/>
          <p:nvPr/>
        </p:nvGrpSpPr>
        <p:grpSpPr>
          <a:xfrm>
            <a:off x="320040" y="804600"/>
            <a:ext cx="8658720" cy="4133160"/>
            <a:chOff x="320040" y="804600"/>
            <a:chExt cx="8658720" cy="4133160"/>
          </a:xfrm>
        </p:grpSpPr>
        <p:sp>
          <p:nvSpPr>
            <p:cNvPr id="91" name="Shape 5"/>
            <p:cNvSpPr/>
            <p:nvPr/>
          </p:nvSpPr>
          <p:spPr>
            <a:xfrm>
              <a:off x="320040" y="80460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Shape 6"/>
            <p:cNvSpPr/>
            <p:nvPr/>
          </p:nvSpPr>
          <p:spPr>
            <a:xfrm>
              <a:off x="320040" y="80460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 7"/>
            <p:cNvSpPr/>
            <p:nvPr/>
          </p:nvSpPr>
          <p:spPr>
            <a:xfrm>
              <a:off x="448200" y="83988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00b4c5"/>
                  </a:solidFill>
                  <a:effectLst/>
                  <a:uFillTx/>
                  <a:latin typeface="Calibri"/>
                  <a:ea typeface="Calibri"/>
                </a:rPr>
                <a:t>Sl. 1–3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Shape 9"/>
            <p:cNvSpPr/>
            <p:nvPr/>
          </p:nvSpPr>
          <p:spPr>
            <a:xfrm>
              <a:off x="4727520" y="80460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Shape 10"/>
            <p:cNvSpPr/>
            <p:nvPr/>
          </p:nvSpPr>
          <p:spPr>
            <a:xfrm>
              <a:off x="4727520" y="80460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 8"/>
            <p:cNvSpPr/>
            <p:nvPr/>
          </p:nvSpPr>
          <p:spPr>
            <a:xfrm>
              <a:off x="448200" y="101484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Historia, ekosystem i klasyfikacja urządzeń mobilnych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Text 11"/>
            <p:cNvSpPr/>
            <p:nvPr/>
          </p:nvSpPr>
          <p:spPr>
            <a:xfrm>
              <a:off x="4855320" y="83988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d6006a"/>
                  </a:solidFill>
                  <a:effectLst/>
                  <a:uFillTx/>
                  <a:latin typeface="Calibri"/>
                  <a:ea typeface="Calibri"/>
                </a:rPr>
                <a:t>Sl. 4–5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Shape 13"/>
            <p:cNvSpPr/>
            <p:nvPr/>
          </p:nvSpPr>
          <p:spPr>
            <a:xfrm>
              <a:off x="320040" y="133020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Shape 14"/>
            <p:cNvSpPr/>
            <p:nvPr/>
          </p:nvSpPr>
          <p:spPr>
            <a:xfrm>
              <a:off x="320040" y="133020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Text 12"/>
            <p:cNvSpPr/>
            <p:nvPr/>
          </p:nvSpPr>
          <p:spPr>
            <a:xfrm>
              <a:off x="4855320" y="101484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SoC — System on Chip, architektura i producenci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 15"/>
            <p:cNvSpPr/>
            <p:nvPr/>
          </p:nvSpPr>
          <p:spPr>
            <a:xfrm>
              <a:off x="448200" y="136512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0e9a6b"/>
                  </a:solidFill>
                  <a:effectLst/>
                  <a:uFillTx/>
                  <a:latin typeface="Calibri"/>
                  <a:ea typeface="Calibri"/>
                </a:rPr>
                <a:t>Sl. 6–7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Shape 17"/>
            <p:cNvSpPr/>
            <p:nvPr/>
          </p:nvSpPr>
          <p:spPr>
            <a:xfrm>
              <a:off x="4727520" y="133020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Shape 18"/>
            <p:cNvSpPr/>
            <p:nvPr/>
          </p:nvSpPr>
          <p:spPr>
            <a:xfrm>
              <a:off x="4727520" y="133020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Text 16"/>
            <p:cNvSpPr/>
            <p:nvPr/>
          </p:nvSpPr>
          <p:spPr>
            <a:xfrm>
              <a:off x="448200" y="154044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CPU mobilny — ARM, big.LITTLE, ISA, predykcja gałęzi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Text 19"/>
            <p:cNvSpPr/>
            <p:nvPr/>
          </p:nvSpPr>
          <p:spPr>
            <a:xfrm>
              <a:off x="4855320" y="136512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6d28d9"/>
                  </a:solidFill>
                  <a:effectLst/>
                  <a:uFillTx/>
                  <a:latin typeface="Calibri"/>
                  <a:ea typeface="Calibri"/>
                </a:rPr>
                <a:t>Sl. 8–9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Shape 21"/>
            <p:cNvSpPr/>
            <p:nvPr/>
          </p:nvSpPr>
          <p:spPr>
            <a:xfrm>
              <a:off x="320040" y="185544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Shape 22"/>
            <p:cNvSpPr/>
            <p:nvPr/>
          </p:nvSpPr>
          <p:spPr>
            <a:xfrm>
              <a:off x="320040" y="185544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Text 20"/>
            <p:cNvSpPr/>
            <p:nvPr/>
          </p:nvSpPr>
          <p:spPr>
            <a:xfrm>
              <a:off x="4855320" y="154044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GPU i NPU — grafika, TBDR, AI akceleratory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 23"/>
            <p:cNvSpPr/>
            <p:nvPr/>
          </p:nvSpPr>
          <p:spPr>
            <a:xfrm>
              <a:off x="448200" y="189072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c47a00"/>
                  </a:solidFill>
                  <a:effectLst/>
                  <a:uFillTx/>
                  <a:latin typeface="Calibri"/>
                  <a:ea typeface="Calibri"/>
                </a:rPr>
                <a:t>Sl. 10–11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Shape 25"/>
            <p:cNvSpPr/>
            <p:nvPr/>
          </p:nvSpPr>
          <p:spPr>
            <a:xfrm>
              <a:off x="4727520" y="185544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Shape 26"/>
            <p:cNvSpPr/>
            <p:nvPr/>
          </p:nvSpPr>
          <p:spPr>
            <a:xfrm>
              <a:off x="4727520" y="185544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5db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Text 24"/>
            <p:cNvSpPr/>
            <p:nvPr/>
          </p:nvSpPr>
          <p:spPr>
            <a:xfrm>
              <a:off x="448200" y="206604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Pamięć — LPDDR5X, UFS 4.0, PoP, Flash NAND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Text 27"/>
            <p:cNvSpPr/>
            <p:nvPr/>
          </p:nvSpPr>
          <p:spPr>
            <a:xfrm>
              <a:off x="4855320" y="189072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1a5db5"/>
                  </a:solidFill>
                  <a:effectLst/>
                  <a:uFillTx/>
                  <a:latin typeface="Calibri"/>
                  <a:ea typeface="Calibri"/>
                </a:rPr>
                <a:t>Sl. 12–13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Shape 29"/>
            <p:cNvSpPr/>
            <p:nvPr/>
          </p:nvSpPr>
          <p:spPr>
            <a:xfrm>
              <a:off x="320040" y="238104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Shape 30"/>
            <p:cNvSpPr/>
            <p:nvPr/>
          </p:nvSpPr>
          <p:spPr>
            <a:xfrm>
              <a:off x="320040" y="238104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Text 28"/>
            <p:cNvSpPr/>
            <p:nvPr/>
          </p:nvSpPr>
          <p:spPr>
            <a:xfrm>
              <a:off x="4855320" y="206604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Wyświetlacze — OLED, LTPO, ProMotion, HDR, AOD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 31"/>
            <p:cNvSpPr/>
            <p:nvPr/>
          </p:nvSpPr>
          <p:spPr>
            <a:xfrm>
              <a:off x="448200" y="241632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00b4c5"/>
                  </a:solidFill>
                  <a:effectLst/>
                  <a:uFillTx/>
                  <a:latin typeface="Calibri"/>
                  <a:ea typeface="Calibri"/>
                </a:rPr>
                <a:t>Sl. 14–15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Shape 33"/>
            <p:cNvSpPr/>
            <p:nvPr/>
          </p:nvSpPr>
          <p:spPr>
            <a:xfrm>
              <a:off x="4727520" y="238104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Shape 34"/>
            <p:cNvSpPr/>
            <p:nvPr/>
          </p:nvSpPr>
          <p:spPr>
            <a:xfrm>
              <a:off x="4727520" y="238104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 32"/>
            <p:cNvSpPr/>
            <p:nvPr/>
          </p:nvSpPr>
          <p:spPr>
            <a:xfrm>
              <a:off x="448200" y="259128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Kamery — sensor, ISP, OIS, computational photo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 35"/>
            <p:cNvSpPr/>
            <p:nvPr/>
          </p:nvSpPr>
          <p:spPr>
            <a:xfrm>
              <a:off x="4855320" y="241632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d6006a"/>
                  </a:solidFill>
                  <a:effectLst/>
                  <a:uFillTx/>
                  <a:latin typeface="Calibri"/>
                  <a:ea typeface="Calibri"/>
                </a:rPr>
                <a:t>Sl. 16–17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37"/>
            <p:cNvSpPr/>
            <p:nvPr/>
          </p:nvSpPr>
          <p:spPr>
            <a:xfrm>
              <a:off x="320040" y="290664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Shape 38"/>
            <p:cNvSpPr/>
            <p:nvPr/>
          </p:nvSpPr>
          <p:spPr>
            <a:xfrm>
              <a:off x="320040" y="290664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Text 36"/>
            <p:cNvSpPr/>
            <p:nvPr/>
          </p:nvSpPr>
          <p:spPr>
            <a:xfrm>
              <a:off x="4855320" y="259128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Łączność — 5G, WiFi 7, BT 5.4, NFC, UWB, GPS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ext 39"/>
            <p:cNvSpPr/>
            <p:nvPr/>
          </p:nvSpPr>
          <p:spPr>
            <a:xfrm>
              <a:off x="448200" y="294156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0e9a6b"/>
                  </a:solidFill>
                  <a:effectLst/>
                  <a:uFillTx/>
                  <a:latin typeface="Calibri"/>
                  <a:ea typeface="Calibri"/>
                </a:rPr>
                <a:t>Sl. 18–19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Shape 41"/>
            <p:cNvSpPr/>
            <p:nvPr/>
          </p:nvSpPr>
          <p:spPr>
            <a:xfrm>
              <a:off x="4727520" y="290664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Shape 42"/>
            <p:cNvSpPr/>
            <p:nvPr/>
          </p:nvSpPr>
          <p:spPr>
            <a:xfrm>
              <a:off x="4727520" y="290664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 40"/>
            <p:cNvSpPr/>
            <p:nvPr/>
          </p:nvSpPr>
          <p:spPr>
            <a:xfrm>
              <a:off x="448200" y="311688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Bateria, PMIC, GaN i zarządzanie energią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Text 43"/>
            <p:cNvSpPr/>
            <p:nvPr/>
          </p:nvSpPr>
          <p:spPr>
            <a:xfrm>
              <a:off x="4855320" y="294156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6d28d9"/>
                  </a:solidFill>
                  <a:effectLst/>
                  <a:uFillTx/>
                  <a:latin typeface="Calibri"/>
                  <a:ea typeface="Calibri"/>
                </a:rPr>
                <a:t>Sl. 20–21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Shape 45"/>
            <p:cNvSpPr/>
            <p:nvPr/>
          </p:nvSpPr>
          <p:spPr>
            <a:xfrm>
              <a:off x="320040" y="343188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Shape 46"/>
            <p:cNvSpPr/>
            <p:nvPr/>
          </p:nvSpPr>
          <p:spPr>
            <a:xfrm>
              <a:off x="320040" y="343188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 44"/>
            <p:cNvSpPr/>
            <p:nvPr/>
          </p:nvSpPr>
          <p:spPr>
            <a:xfrm>
              <a:off x="4855320" y="311688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Bezpieczeństwo — Secure Enclave, TrustZone, TEE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Text 47"/>
            <p:cNvSpPr/>
            <p:nvPr/>
          </p:nvSpPr>
          <p:spPr>
            <a:xfrm>
              <a:off x="448200" y="346716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c47a00"/>
                  </a:solidFill>
                  <a:effectLst/>
                  <a:uFillTx/>
                  <a:latin typeface="Calibri"/>
                  <a:ea typeface="Calibri"/>
                </a:rPr>
                <a:t>Sl. 22–23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Shape 49"/>
            <p:cNvSpPr/>
            <p:nvPr/>
          </p:nvSpPr>
          <p:spPr>
            <a:xfrm>
              <a:off x="4727520" y="343188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Shape 50"/>
            <p:cNvSpPr/>
            <p:nvPr/>
          </p:nvSpPr>
          <p:spPr>
            <a:xfrm>
              <a:off x="4727520" y="343188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5db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Text 48"/>
            <p:cNvSpPr/>
            <p:nvPr/>
          </p:nvSpPr>
          <p:spPr>
            <a:xfrm>
              <a:off x="448200" y="364248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Chain of Trust — bootloader, kernel, HAL, AIDL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 51"/>
            <p:cNvSpPr/>
            <p:nvPr/>
          </p:nvSpPr>
          <p:spPr>
            <a:xfrm>
              <a:off x="4855320" y="346716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1a5db5"/>
                  </a:solidFill>
                  <a:effectLst/>
                  <a:uFillTx/>
                  <a:latin typeface="Calibri"/>
                  <a:ea typeface="Calibri"/>
                </a:rPr>
                <a:t>Sl. 24–25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Shape 53"/>
            <p:cNvSpPr/>
            <p:nvPr/>
          </p:nvSpPr>
          <p:spPr>
            <a:xfrm>
              <a:off x="320040" y="395748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Shape 54"/>
            <p:cNvSpPr/>
            <p:nvPr/>
          </p:nvSpPr>
          <p:spPr>
            <a:xfrm>
              <a:off x="320040" y="395748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 52"/>
            <p:cNvSpPr/>
            <p:nvPr/>
          </p:nvSpPr>
          <p:spPr>
            <a:xfrm>
              <a:off x="4855320" y="364248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Stos Android AOSP i iOS XNU — architektura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 55"/>
            <p:cNvSpPr/>
            <p:nvPr/>
          </p:nvSpPr>
          <p:spPr>
            <a:xfrm>
              <a:off x="448200" y="399276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00b4c5"/>
                  </a:solidFill>
                  <a:effectLst/>
                  <a:uFillTx/>
                  <a:latin typeface="Calibri"/>
                  <a:ea typeface="Calibri"/>
                </a:rPr>
                <a:t>Sl. 26–27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Shape 57"/>
            <p:cNvSpPr/>
            <p:nvPr/>
          </p:nvSpPr>
          <p:spPr>
            <a:xfrm>
              <a:off x="4727520" y="395748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Shape 58"/>
            <p:cNvSpPr/>
            <p:nvPr/>
          </p:nvSpPr>
          <p:spPr>
            <a:xfrm>
              <a:off x="4727520" y="395748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 56"/>
            <p:cNvSpPr/>
            <p:nvPr/>
          </p:nvSpPr>
          <p:spPr>
            <a:xfrm>
              <a:off x="448200" y="416772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Zarządzanie energią software — Doze, BGTask, thermal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 59"/>
            <p:cNvSpPr/>
            <p:nvPr/>
          </p:nvSpPr>
          <p:spPr>
            <a:xfrm>
              <a:off x="4855320" y="399276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d6006a"/>
                  </a:solidFill>
                  <a:effectLst/>
                  <a:uFillTx/>
                  <a:latin typeface="Calibri"/>
                  <a:ea typeface="Calibri"/>
                </a:rPr>
                <a:t>Sl. 28–29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Shape 61"/>
            <p:cNvSpPr/>
            <p:nvPr/>
          </p:nvSpPr>
          <p:spPr>
            <a:xfrm>
              <a:off x="320040" y="4483080"/>
              <a:ext cx="425124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Shape 62"/>
            <p:cNvSpPr/>
            <p:nvPr/>
          </p:nvSpPr>
          <p:spPr>
            <a:xfrm>
              <a:off x="320040" y="4483080"/>
              <a:ext cx="54000" cy="454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 60"/>
            <p:cNvSpPr/>
            <p:nvPr/>
          </p:nvSpPr>
          <p:spPr>
            <a:xfrm>
              <a:off x="4855320" y="416772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Termika, mechanika, produkcja TSMC 3nm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 63"/>
            <p:cNvSpPr/>
            <p:nvPr/>
          </p:nvSpPr>
          <p:spPr>
            <a:xfrm>
              <a:off x="448200" y="4518000"/>
              <a:ext cx="776520" cy="156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1" u="none" strike="noStrike">
                  <a:solidFill>
                    <a:srgbClr val="0e9a6b"/>
                  </a:solidFill>
                  <a:effectLst/>
                  <a:uFillTx/>
                  <a:latin typeface="Calibri"/>
                  <a:ea typeface="Calibri"/>
                </a:rPr>
                <a:t>Sl. 30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 64"/>
            <p:cNvSpPr/>
            <p:nvPr/>
          </p:nvSpPr>
          <p:spPr>
            <a:xfrm>
              <a:off x="448200" y="4693320"/>
              <a:ext cx="4041000" cy="20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Trendy, składane, AI Phone, 300W, Foundation Models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" name="pole tekstowe 67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455A0149-8CC4-44C0-894E-86ED173F09DD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pull dir="l"/>
      </p:transition>
    </mc:Choice>
    <mc:Fallback>
      <p:transition spd="slow">
        <p:pull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Historia urządzeń mobilnych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od PDA do AI Phone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274320" y="4992480"/>
            <a:ext cx="4214520" cy="151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320040" y="766800"/>
            <a:ext cx="8503200" cy="407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Urządzenie mobilne = komputer kieszonkowy z łącznością bezprzewodową?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Rewolucja 2007 (iPhone) → 2023 (on-device AI) → 2025 (spatial computing).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" name="Grupa 1"/>
          <p:cNvGrpSpPr/>
          <p:nvPr/>
        </p:nvGrpSpPr>
        <p:grpSpPr>
          <a:xfrm>
            <a:off x="320040" y="1322640"/>
            <a:ext cx="8658720" cy="3583800"/>
            <a:chOff x="320040" y="1322640"/>
            <a:chExt cx="8658720" cy="3583800"/>
          </a:xfrm>
        </p:grpSpPr>
        <p:sp>
          <p:nvSpPr>
            <p:cNvPr id="159" name="Shape 6"/>
            <p:cNvSpPr/>
            <p:nvPr/>
          </p:nvSpPr>
          <p:spPr>
            <a:xfrm>
              <a:off x="320040" y="132264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Shape 7"/>
            <p:cNvSpPr/>
            <p:nvPr/>
          </p:nvSpPr>
          <p:spPr>
            <a:xfrm>
              <a:off x="320040" y="132264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f61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 8"/>
            <p:cNvSpPr/>
            <p:nvPr/>
          </p:nvSpPr>
          <p:spPr>
            <a:xfrm>
              <a:off x="320040" y="132264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1992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Text 9"/>
            <p:cNvSpPr/>
            <p:nvPr/>
          </p:nvSpPr>
          <p:spPr>
            <a:xfrm>
              <a:off x="1051560" y="137736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IBM Simon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Text 10"/>
            <p:cNvSpPr/>
            <p:nvPr/>
          </p:nvSpPr>
          <p:spPr>
            <a:xfrm>
              <a:off x="1051560" y="159696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Pierwszy smartfon (touchscreen!). 1MB RAM. PCMCIA slot. 2400 baud modem. Waga 510g.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Shape 11"/>
            <p:cNvSpPr/>
            <p:nvPr/>
          </p:nvSpPr>
          <p:spPr>
            <a:xfrm>
              <a:off x="4727520" y="132264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Shape 12"/>
            <p:cNvSpPr/>
            <p:nvPr/>
          </p:nvSpPr>
          <p:spPr>
            <a:xfrm>
              <a:off x="4727520" y="132264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f61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Text 13"/>
            <p:cNvSpPr/>
            <p:nvPr/>
          </p:nvSpPr>
          <p:spPr>
            <a:xfrm>
              <a:off x="4727520" y="132264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1996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Text 14"/>
            <p:cNvSpPr/>
            <p:nvPr/>
          </p:nvSpPr>
          <p:spPr>
            <a:xfrm>
              <a:off x="5459040" y="137736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Palm Pilot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Text 15"/>
            <p:cNvSpPr/>
            <p:nvPr/>
          </p:nvSpPr>
          <p:spPr>
            <a:xfrm>
              <a:off x="5459040" y="159696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PDA + Graffiti handwriting. 128KB RAM. Infrared sync. 5M+ użytkowników. Definiuje erę PDA.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Shape 16"/>
            <p:cNvSpPr/>
            <p:nvPr/>
          </p:nvSpPr>
          <p:spPr>
            <a:xfrm>
              <a:off x="320040" y="205416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Shape 17"/>
            <p:cNvSpPr/>
            <p:nvPr/>
          </p:nvSpPr>
          <p:spPr>
            <a:xfrm>
              <a:off x="320040" y="205416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f61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 18"/>
            <p:cNvSpPr/>
            <p:nvPr/>
          </p:nvSpPr>
          <p:spPr>
            <a:xfrm>
              <a:off x="320040" y="205416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2000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Text 19"/>
            <p:cNvSpPr/>
            <p:nvPr/>
          </p:nvSpPr>
          <p:spPr>
            <a:xfrm>
              <a:off x="1051560" y="210888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Nokia 3310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Text 20"/>
            <p:cNvSpPr/>
            <p:nvPr/>
          </p:nvSpPr>
          <p:spPr>
            <a:xfrm>
              <a:off x="1051560" y="232848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Feature phone — 4MB, 2.5G GPRS. 400M+ sprzedanych. Masowa adopcja telefonii komórkowej.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Shape 21"/>
            <p:cNvSpPr/>
            <p:nvPr/>
          </p:nvSpPr>
          <p:spPr>
            <a:xfrm>
              <a:off x="4727520" y="205416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Shape 22"/>
            <p:cNvSpPr/>
            <p:nvPr/>
          </p:nvSpPr>
          <p:spPr>
            <a:xfrm>
              <a:off x="4727520" y="205416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Text 23"/>
            <p:cNvSpPr/>
            <p:nvPr/>
          </p:nvSpPr>
          <p:spPr>
            <a:xfrm>
              <a:off x="4727520" y="205416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2007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Text 24"/>
            <p:cNvSpPr/>
            <p:nvPr/>
          </p:nvSpPr>
          <p:spPr>
            <a:xfrm>
              <a:off x="5459040" y="210888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iPhone (1gen)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Text 25"/>
            <p:cNvSpPr/>
            <p:nvPr/>
          </p:nvSpPr>
          <p:spPr>
            <a:xfrm>
              <a:off x="5459040" y="232848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Multi-touch, Safari, 3.5" 160dpi, Samsung ARM 620MHz, 128MB RAM. Rewolucja interfejsu.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Shape 26"/>
            <p:cNvSpPr/>
            <p:nvPr/>
          </p:nvSpPr>
          <p:spPr>
            <a:xfrm>
              <a:off x="320040" y="278568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Shape 27"/>
            <p:cNvSpPr/>
            <p:nvPr/>
          </p:nvSpPr>
          <p:spPr>
            <a:xfrm>
              <a:off x="320040" y="278568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Text 28"/>
            <p:cNvSpPr/>
            <p:nvPr/>
          </p:nvSpPr>
          <p:spPr>
            <a:xfrm>
              <a:off x="320040" y="278568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2008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Text 29"/>
            <p:cNvSpPr/>
            <p:nvPr/>
          </p:nvSpPr>
          <p:spPr>
            <a:xfrm>
              <a:off x="1051560" y="284040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Android 1.0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Text 30"/>
            <p:cNvSpPr/>
            <p:nvPr/>
          </p:nvSpPr>
          <p:spPr>
            <a:xfrm>
              <a:off x="1051560" y="306000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T-Mobile G1 (HTC Dream). Open-source. ARM926 528MHz, 192MB RAM. Pierwsze cupcake.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Shape 31"/>
            <p:cNvSpPr/>
            <p:nvPr/>
          </p:nvSpPr>
          <p:spPr>
            <a:xfrm>
              <a:off x="4727520" y="278568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Shape 32"/>
            <p:cNvSpPr/>
            <p:nvPr/>
          </p:nvSpPr>
          <p:spPr>
            <a:xfrm>
              <a:off x="4727520" y="278568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Text 33"/>
            <p:cNvSpPr/>
            <p:nvPr/>
          </p:nvSpPr>
          <p:spPr>
            <a:xfrm>
              <a:off x="4727520" y="278568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2010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 34"/>
            <p:cNvSpPr/>
            <p:nvPr/>
          </p:nvSpPr>
          <p:spPr>
            <a:xfrm>
              <a:off x="5459040" y="284040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iPad (1gen)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Text 35"/>
            <p:cNvSpPr/>
            <p:nvPr/>
          </p:nvSpPr>
          <p:spPr>
            <a:xfrm>
              <a:off x="5459040" y="306000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A4 SoC (Apple+Samsung). 256MB RAM, IPS 1024×768. Definiuje kategorię tabletów.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Shape 36"/>
            <p:cNvSpPr/>
            <p:nvPr/>
          </p:nvSpPr>
          <p:spPr>
            <a:xfrm>
              <a:off x="320040" y="351720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Shape 37"/>
            <p:cNvSpPr/>
            <p:nvPr/>
          </p:nvSpPr>
          <p:spPr>
            <a:xfrm>
              <a:off x="320040" y="351720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Text 38"/>
            <p:cNvSpPr/>
            <p:nvPr/>
          </p:nvSpPr>
          <p:spPr>
            <a:xfrm>
              <a:off x="320040" y="351720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2013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Text 39"/>
            <p:cNvSpPr/>
            <p:nvPr/>
          </p:nvSpPr>
          <p:spPr>
            <a:xfrm>
              <a:off x="1051560" y="357192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64-bit mobile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 40"/>
            <p:cNvSpPr/>
            <p:nvPr/>
          </p:nvSpPr>
          <p:spPr>
            <a:xfrm>
              <a:off x="1051560" y="379152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Apple A7 — pierwszy 64-bit SoC w smartfonie. 2× wydajność. Wymusiło migrację całej branży.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Shape 41"/>
            <p:cNvSpPr/>
            <p:nvPr/>
          </p:nvSpPr>
          <p:spPr>
            <a:xfrm>
              <a:off x="4727520" y="351720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Shape 42"/>
            <p:cNvSpPr/>
            <p:nvPr/>
          </p:nvSpPr>
          <p:spPr>
            <a:xfrm>
              <a:off x="4727520" y="351720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43"/>
            <p:cNvSpPr/>
            <p:nvPr/>
          </p:nvSpPr>
          <p:spPr>
            <a:xfrm>
              <a:off x="4727520" y="351720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2019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Text 44"/>
            <p:cNvSpPr/>
            <p:nvPr/>
          </p:nvSpPr>
          <p:spPr>
            <a:xfrm>
              <a:off x="5459040" y="357192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5G era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 45"/>
            <p:cNvSpPr/>
            <p:nvPr/>
          </p:nvSpPr>
          <p:spPr>
            <a:xfrm>
              <a:off x="5459040" y="379152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Snapdragon 855 + X50 modem. mmWave i sub-6GHz. 10 Gbit/s teorii. Nowa era łączności.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Shape 46"/>
            <p:cNvSpPr/>
            <p:nvPr/>
          </p:nvSpPr>
          <p:spPr>
            <a:xfrm>
              <a:off x="320040" y="424872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Shape 47"/>
            <p:cNvSpPr/>
            <p:nvPr/>
          </p:nvSpPr>
          <p:spPr>
            <a:xfrm>
              <a:off x="320040" y="424872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 48"/>
            <p:cNvSpPr/>
            <p:nvPr/>
          </p:nvSpPr>
          <p:spPr>
            <a:xfrm>
              <a:off x="320040" y="424872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2022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 49"/>
            <p:cNvSpPr/>
            <p:nvPr/>
          </p:nvSpPr>
          <p:spPr>
            <a:xfrm>
              <a:off x="1051560" y="430344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AI on-device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50"/>
            <p:cNvSpPr/>
            <p:nvPr/>
          </p:nvSpPr>
          <p:spPr>
            <a:xfrm>
              <a:off x="1051560" y="452304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Apple A16 Neural Engine 17 TOPS. Stable Diffusion na telefonie. On-device LLM 3B params.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Shape 51"/>
            <p:cNvSpPr/>
            <p:nvPr/>
          </p:nvSpPr>
          <p:spPr>
            <a:xfrm>
              <a:off x="4727520" y="4248720"/>
              <a:ext cx="425124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Shape 52"/>
            <p:cNvSpPr/>
            <p:nvPr/>
          </p:nvSpPr>
          <p:spPr>
            <a:xfrm>
              <a:off x="4727520" y="424872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53"/>
            <p:cNvSpPr/>
            <p:nvPr/>
          </p:nvSpPr>
          <p:spPr>
            <a:xfrm>
              <a:off x="4727520" y="4248720"/>
              <a:ext cx="657720" cy="65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2025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54"/>
            <p:cNvSpPr/>
            <p:nvPr/>
          </p:nvSpPr>
          <p:spPr>
            <a:xfrm>
              <a:off x="5459040" y="4303440"/>
              <a:ext cx="343728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AI Phone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 55"/>
            <p:cNvSpPr/>
            <p:nvPr/>
          </p:nvSpPr>
          <p:spPr>
            <a:xfrm>
              <a:off x="5459040" y="4523040"/>
              <a:ext cx="3437280" cy="34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Snapdragon 8 Elite 80 TOPS NPU. Gemini Nano natively. Vision Pro spatial computing. 300W.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9" name="pole tekstowe 5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467B536F-7ABC-4A68-91B9-2414D0E488D0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System on Chip (SoC): Architektura i kluczowi producenci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320040" y="749880"/>
            <a:ext cx="85032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SoC to serce urządzenia mobilnego — CPU, GPU, NPU, modem, ISP i dziesiątki innych bloków IP na jednym krzemowym chipie.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320040" y="1042560"/>
            <a:ext cx="4159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Bloki funkcjonalne SoC (A18 Pro):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7" name="Grupa 54"/>
          <p:cNvGrpSpPr/>
          <p:nvPr/>
        </p:nvGrpSpPr>
        <p:grpSpPr>
          <a:xfrm>
            <a:off x="320040" y="1306440"/>
            <a:ext cx="4159800" cy="558360"/>
            <a:chOff x="320040" y="1306440"/>
            <a:chExt cx="4159800" cy="558360"/>
          </a:xfrm>
        </p:grpSpPr>
        <p:sp>
          <p:nvSpPr>
            <p:cNvPr id="218" name="Shape 7"/>
            <p:cNvSpPr/>
            <p:nvPr/>
          </p:nvSpPr>
          <p:spPr>
            <a:xfrm>
              <a:off x="320040" y="1316880"/>
              <a:ext cx="4159800" cy="547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Shape 8"/>
            <p:cNvSpPr/>
            <p:nvPr/>
          </p:nvSpPr>
          <p:spPr>
            <a:xfrm>
              <a:off x="320040" y="1316880"/>
              <a:ext cx="54000" cy="547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 9"/>
            <p:cNvSpPr/>
            <p:nvPr/>
          </p:nvSpPr>
          <p:spPr>
            <a:xfrm>
              <a:off x="448200" y="1306440"/>
              <a:ext cx="39769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CPU Cluster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Text 10"/>
            <p:cNvSpPr/>
            <p:nvPr/>
          </p:nvSpPr>
          <p:spPr>
            <a:xfrm>
              <a:off x="448200" y="1512000"/>
              <a:ext cx="3976920" cy="297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6 rdzeni ARM: 2× Everest (performance 4GHz) + 4× Sawtooth (efficiency 2.4GHz). big.LITTLE Async. Instrukcje NEON/SVE2. OOO 8-wide issue.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2" name="Shape 11"/>
          <p:cNvSpPr/>
          <p:nvPr/>
        </p:nvSpPr>
        <p:spPr>
          <a:xfrm>
            <a:off x="320040" y="1938600"/>
            <a:ext cx="41598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320040" y="1938600"/>
            <a:ext cx="540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600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448200" y="1928160"/>
            <a:ext cx="397692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GPU (6-core Apple)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448200" y="2190240"/>
            <a:ext cx="3976920" cy="249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4.5 TFLOPS FP32. Metal API. Ray tracing hardware. AV1 decode. Mesh shaders. Tile-Based Deferred Rendering.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320040" y="2560320"/>
            <a:ext cx="41598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6"/>
          <p:cNvSpPr/>
          <p:nvPr/>
        </p:nvSpPr>
        <p:spPr>
          <a:xfrm>
            <a:off x="320040" y="2560320"/>
            <a:ext cx="540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448200" y="2565000"/>
            <a:ext cx="3976920" cy="21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Neural Engine (16-core ANE)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448200" y="2788920"/>
            <a:ext cx="39769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38 TOPS. CoreML → ANE bytecode. Prywatna architektura Apple. Stable Diffusion &lt; 10s. Nie dostępne przez Metal.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9"/>
          <p:cNvSpPr/>
          <p:nvPr/>
        </p:nvSpPr>
        <p:spPr>
          <a:xfrm>
            <a:off x="320040" y="3183840"/>
            <a:ext cx="41598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320040" y="3182040"/>
            <a:ext cx="540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e9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448200" y="3171960"/>
            <a:ext cx="397692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Image Signal Processor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2"/>
          <p:cNvSpPr/>
          <p:nvPr/>
        </p:nvSpPr>
        <p:spPr>
          <a:xfrm>
            <a:off x="448200" y="3417120"/>
            <a:ext cx="3976920" cy="24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Photonic Engine. 4K ProRes 120fps, HDR, Deep Fusion, computational RAW. Dedykowany real-time pipeline.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3"/>
          <p:cNvSpPr/>
          <p:nvPr/>
        </p:nvSpPr>
        <p:spPr>
          <a:xfrm>
            <a:off x="320040" y="3803760"/>
            <a:ext cx="41598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4"/>
          <p:cNvSpPr/>
          <p:nvPr/>
        </p:nvSpPr>
        <p:spPr>
          <a:xfrm>
            <a:off x="320040" y="3803760"/>
            <a:ext cx="540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47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448200" y="3791880"/>
            <a:ext cx="397692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Secure Enclave (SEP)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6"/>
          <p:cNvSpPr/>
          <p:nvPr/>
        </p:nvSpPr>
        <p:spPr>
          <a:xfrm>
            <a:off x="448200" y="4037040"/>
            <a:ext cx="3976920" cy="25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Dedykowany koprocesor bezpieczeństwa. Klucze AES/RSA/ECC. Biometria Face ID. Odizolowany własny boot ROM.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7"/>
          <p:cNvSpPr/>
          <p:nvPr/>
        </p:nvSpPr>
        <p:spPr>
          <a:xfrm>
            <a:off x="320040" y="4419000"/>
            <a:ext cx="41598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8"/>
          <p:cNvSpPr/>
          <p:nvPr/>
        </p:nvSpPr>
        <p:spPr>
          <a:xfrm>
            <a:off x="320040" y="4419000"/>
            <a:ext cx="54000" cy="54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5d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9"/>
          <p:cNvSpPr/>
          <p:nvPr/>
        </p:nvSpPr>
        <p:spPr>
          <a:xfrm>
            <a:off x="448200" y="4413600"/>
            <a:ext cx="397692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Modem + RF combo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0"/>
          <p:cNvSpPr/>
          <p:nvPr/>
        </p:nvSpPr>
        <p:spPr>
          <a:xfrm>
            <a:off x="448200" y="4636080"/>
            <a:ext cx="3976920" cy="273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Apple C1 (iPhone 16e). Qualcomm X75 (16 Pro). Sub-6GHz + mmWave 5G. WiFi 7 + BT 5.4 combo chip.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1"/>
          <p:cNvSpPr/>
          <p:nvPr/>
        </p:nvSpPr>
        <p:spPr>
          <a:xfrm>
            <a:off x="4663440" y="1042560"/>
            <a:ext cx="42055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Producenci SoC (2024–2025):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2"/>
          <p:cNvSpPr/>
          <p:nvPr/>
        </p:nvSpPr>
        <p:spPr>
          <a:xfrm>
            <a:off x="4663440" y="1316880"/>
            <a:ext cx="420552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3"/>
          <p:cNvSpPr/>
          <p:nvPr/>
        </p:nvSpPr>
        <p:spPr>
          <a:xfrm>
            <a:off x="4663440" y="1316880"/>
            <a:ext cx="5400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4"/>
          <p:cNvSpPr/>
          <p:nvPr/>
        </p:nvSpPr>
        <p:spPr>
          <a:xfrm>
            <a:off x="4791600" y="1329480"/>
            <a:ext cx="402264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Apple A18 Pro (TSMC N3E)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4791600" y="1636920"/>
            <a:ext cx="4022640" cy="291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5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6-core CPU, 6-core GPU, 16-core ANE 38 TOPS. 19 mld tranzystorów. Die ~82mm². Exkluzywny — tylko iPhone 16 Pro. Najlepszy CPU single-core.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6"/>
          <p:cNvSpPr/>
          <p:nvPr/>
        </p:nvSpPr>
        <p:spPr>
          <a:xfrm>
            <a:off x="4663440" y="2066400"/>
            <a:ext cx="420552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7"/>
          <p:cNvSpPr/>
          <p:nvPr/>
        </p:nvSpPr>
        <p:spPr>
          <a:xfrm>
            <a:off x="4663440" y="2066400"/>
            <a:ext cx="5400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600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8"/>
          <p:cNvSpPr/>
          <p:nvPr/>
        </p:nvSpPr>
        <p:spPr>
          <a:xfrm>
            <a:off x="4791600" y="2071080"/>
            <a:ext cx="402264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Snapdragon 8 Elite (TSMC N3E)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9"/>
          <p:cNvSpPr/>
          <p:nvPr/>
        </p:nvSpPr>
        <p:spPr>
          <a:xfrm>
            <a:off x="4791600" y="2386440"/>
            <a:ext cx="4022640" cy="291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2× Oryon Prime @4.47GHz + 6× Oryon Perf. Adreno 830. Hexagon NPU 80 TOPS. All-big-core design. Flagship Android 2025.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40"/>
          <p:cNvSpPr/>
          <p:nvPr/>
        </p:nvSpPr>
        <p:spPr>
          <a:xfrm>
            <a:off x="4663440" y="2816280"/>
            <a:ext cx="420552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1"/>
          <p:cNvSpPr/>
          <p:nvPr/>
        </p:nvSpPr>
        <p:spPr>
          <a:xfrm>
            <a:off x="4663440" y="2816280"/>
            <a:ext cx="5400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e9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2"/>
          <p:cNvSpPr/>
          <p:nvPr/>
        </p:nvSpPr>
        <p:spPr>
          <a:xfrm>
            <a:off x="4791600" y="2837880"/>
            <a:ext cx="402264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Google Tensor G4 (Samsung 4nm)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3"/>
          <p:cNvSpPr/>
          <p:nvPr/>
        </p:nvSpPr>
        <p:spPr>
          <a:xfrm>
            <a:off x="4791600" y="3136320"/>
            <a:ext cx="4022640" cy="291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Własna architektura. Dedykowany TPU dla AI features. Pixel 9 Pro. Priorytet: speech/ML on-device privacy.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4"/>
          <p:cNvSpPr/>
          <p:nvPr/>
        </p:nvSpPr>
        <p:spPr>
          <a:xfrm>
            <a:off x="4663440" y="3566160"/>
            <a:ext cx="420552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5"/>
          <p:cNvSpPr/>
          <p:nvPr/>
        </p:nvSpPr>
        <p:spPr>
          <a:xfrm>
            <a:off x="4663440" y="3566160"/>
            <a:ext cx="54000" cy="67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6"/>
          <p:cNvSpPr/>
          <p:nvPr/>
        </p:nvSpPr>
        <p:spPr>
          <a:xfrm>
            <a:off x="4791600" y="3578760"/>
            <a:ext cx="402264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MediaTek Dimensity 9400 (TSMC N3E)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7"/>
          <p:cNvSpPr/>
          <p:nvPr/>
        </p:nvSpPr>
        <p:spPr>
          <a:xfrm>
            <a:off x="4791600" y="3877920"/>
            <a:ext cx="4022640" cy="291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All-big-core: 1+3+4. APU 890 — 50 TOPS. Imagiq 1090 ISP. On-device LLM 7B. Flagship performance w niższej cenie.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8"/>
          <p:cNvSpPr/>
          <p:nvPr/>
        </p:nvSpPr>
        <p:spPr>
          <a:xfrm>
            <a:off x="4663440" y="4316040"/>
            <a:ext cx="4205520" cy="64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9"/>
          <p:cNvSpPr/>
          <p:nvPr/>
        </p:nvSpPr>
        <p:spPr>
          <a:xfrm>
            <a:off x="4663440" y="4316040"/>
            <a:ext cx="54000" cy="64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47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0"/>
          <p:cNvSpPr/>
          <p:nvPr/>
        </p:nvSpPr>
        <p:spPr>
          <a:xfrm>
            <a:off x="4791600" y="4328640"/>
            <a:ext cx="402264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5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Samsung Exynos 2500 (SF3 GAA)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1"/>
          <p:cNvSpPr/>
          <p:nvPr/>
        </p:nvSpPr>
        <p:spPr>
          <a:xfrm>
            <a:off x="4791600" y="4636080"/>
            <a:ext cx="4022640" cy="291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GAAFET 3nm. 10-core CPU. Xclipse 950 GPU (AMD RDNA 3.5). Pierwszy RDNA w telefonie. Galaxy S25 w wybranych rynkach.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ole tekstowe 54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0AFD9529-78DF-4F6F-A5C0-A962C1EE00DA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CPU Mobilny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ARM ISA, big.LITTLE i architektury rdzeni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4642920" y="757440"/>
            <a:ext cx="4167720" cy="99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Ebrima"/>
                <a:ea typeface="Ebrima"/>
              </a:rPr>
              <a:t>Procesory mobilne używają architektur ARM (Advanced RISC Machine). Heterogeniczne klastry + DVFS = maksymalna wydajność przy minimalnym zużyciu energii.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60560" y="749880"/>
            <a:ext cx="4159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ARM ISA: instrukcje i rozszerzenia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160560" y="1026360"/>
            <a:ext cx="4159800" cy="286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3333600" y="106704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AArch64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226800" y="1078920"/>
            <a:ext cx="3995280" cy="279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ARM64 (AArch64) — kluczowe zestawy instrukcji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Base ISA ARMv8-A/v9: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31 rejestrów 64-bit X0-X30 + SP + PC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Fixed-width 32-bit encoding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ADRP/LDR: dostęp page-relative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NEON (Advanced SIMD):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32 rejestry 128-bit (V0-V31)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FMLA V0.4S, V1.4S, V2.4S  ; 4x FP32 FMA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Kluczowe: DSP, kodeki, ML inference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SVE2 (Scalable Vector Extension v2):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Wektory 128–2048 bit (chip-defined width)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Apple A18: 128-bit SVE2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Qualcomm Oryon: 512-bit SVE2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ARMv9.2 nowości (A18 Everest / Cortex-X4):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SME (Scalable Matrix Extension) — ML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MTE (Memory Tagging Extension) — CVE mitigation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BTI (Branch Target Ident.) — ROP protection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PACV2 — Pointer Authentication codes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Cache hierarchy (Apple Everest):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L1i: 192KB, L1d: 128KB @ 4-cycle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L2:  16MB per cluster @ 12-cycle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L3 (SLC): 32MB shared @ 35-cycle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SemiLight"/>
                <a:ea typeface="Consolas"/>
              </a:rPr>
              <a:t>#   DRAM: LPDDR5X ~100ns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4" name="Grupa 45"/>
          <p:cNvGrpSpPr/>
          <p:nvPr/>
        </p:nvGrpSpPr>
        <p:grpSpPr>
          <a:xfrm>
            <a:off x="160560" y="3934800"/>
            <a:ext cx="4159800" cy="511560"/>
            <a:chOff x="160560" y="3934800"/>
            <a:chExt cx="4159800" cy="511560"/>
          </a:xfrm>
        </p:grpSpPr>
        <p:sp>
          <p:nvSpPr>
            <p:cNvPr id="275" name="Shape 10"/>
            <p:cNvSpPr/>
            <p:nvPr/>
          </p:nvSpPr>
          <p:spPr>
            <a:xfrm>
              <a:off x="160560" y="3958560"/>
              <a:ext cx="4159800" cy="487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Shape 11"/>
            <p:cNvSpPr/>
            <p:nvPr/>
          </p:nvSpPr>
          <p:spPr>
            <a:xfrm>
              <a:off x="160560" y="3958560"/>
              <a:ext cx="54000" cy="487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Text 12"/>
            <p:cNvSpPr/>
            <p:nvPr/>
          </p:nvSpPr>
          <p:spPr>
            <a:xfrm>
              <a:off x="288720" y="3934800"/>
              <a:ext cx="39769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big.LITTLE / DynamIQ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Text 13"/>
            <p:cNvSpPr/>
            <p:nvPr/>
          </p:nvSpPr>
          <p:spPr>
            <a:xfrm>
              <a:off x="288720" y="4206960"/>
              <a:ext cx="397692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Heterogeniczne klastry w jednym DSU. EAS (Energy-Aware Scheduler): schedutil governor. DVFS per-cluster. 0.5V core voltage range. Krok freq co 50MHz.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9" name="Grupa 44"/>
          <p:cNvGrpSpPr/>
          <p:nvPr/>
        </p:nvGrpSpPr>
        <p:grpSpPr>
          <a:xfrm>
            <a:off x="160560" y="4462560"/>
            <a:ext cx="4159800" cy="489960"/>
            <a:chOff x="160560" y="4462560"/>
            <a:chExt cx="4159800" cy="489960"/>
          </a:xfrm>
        </p:grpSpPr>
        <p:sp>
          <p:nvSpPr>
            <p:cNvPr id="280" name="Shape 14"/>
            <p:cNvSpPr/>
            <p:nvPr/>
          </p:nvSpPr>
          <p:spPr>
            <a:xfrm>
              <a:off x="160560" y="4481280"/>
              <a:ext cx="4159800" cy="471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Shape 15"/>
            <p:cNvSpPr/>
            <p:nvPr/>
          </p:nvSpPr>
          <p:spPr>
            <a:xfrm>
              <a:off x="160560" y="4481280"/>
              <a:ext cx="54000" cy="471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Text 16"/>
            <p:cNvSpPr/>
            <p:nvPr/>
          </p:nvSpPr>
          <p:spPr>
            <a:xfrm>
              <a:off x="288720" y="4462560"/>
              <a:ext cx="39769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OOO i Branch Prediction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Text 17"/>
            <p:cNvSpPr/>
            <p:nvPr/>
          </p:nvSpPr>
          <p:spPr>
            <a:xfrm>
              <a:off x="288720" y="4733280"/>
              <a:ext cx="3976920" cy="17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8-wide issue (Apple Everest). ROB 600+ entries. TAGE hybrid predictor &gt;99% hit. BTB 50k entries. Superscalar + OOO = IPC &gt;5.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4" name="Text 18"/>
          <p:cNvSpPr/>
          <p:nvPr/>
        </p:nvSpPr>
        <p:spPr>
          <a:xfrm>
            <a:off x="4386600" y="1968480"/>
            <a:ext cx="448236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Konfiguracje rdzeni 2024–2025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5" name="Grupa 43"/>
          <p:cNvGrpSpPr/>
          <p:nvPr/>
        </p:nvGrpSpPr>
        <p:grpSpPr>
          <a:xfrm>
            <a:off x="4386600" y="2196720"/>
            <a:ext cx="4482360" cy="549360"/>
            <a:chOff x="4386600" y="2196720"/>
            <a:chExt cx="4482360" cy="549360"/>
          </a:xfrm>
        </p:grpSpPr>
        <p:sp>
          <p:nvSpPr>
            <p:cNvPr id="286" name="Shape 19"/>
            <p:cNvSpPr/>
            <p:nvPr/>
          </p:nvSpPr>
          <p:spPr>
            <a:xfrm>
              <a:off x="4386600" y="2214000"/>
              <a:ext cx="4482360" cy="532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Shape 20"/>
            <p:cNvSpPr/>
            <p:nvPr/>
          </p:nvSpPr>
          <p:spPr>
            <a:xfrm>
              <a:off x="4386600" y="2214000"/>
              <a:ext cx="57600" cy="532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Text 21"/>
            <p:cNvSpPr/>
            <p:nvPr/>
          </p:nvSpPr>
          <p:spPr>
            <a:xfrm>
              <a:off x="4523400" y="2196720"/>
              <a:ext cx="428724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Apple A18 Pro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Text 22"/>
            <p:cNvSpPr/>
            <p:nvPr/>
          </p:nvSpPr>
          <p:spPr>
            <a:xfrm>
              <a:off x="4523400" y="2420280"/>
              <a:ext cx="42872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2× Everest @4.0GHz (P-cores) + 4× Sawtooth @2.4GHz (E-cores). 6.2 TFLOPS int8. OOO 8-wide. 192KB L1i per P-core.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0" name="Grupa 42"/>
          <p:cNvGrpSpPr/>
          <p:nvPr/>
        </p:nvGrpSpPr>
        <p:grpSpPr>
          <a:xfrm>
            <a:off x="4386600" y="2762280"/>
            <a:ext cx="4482360" cy="549000"/>
            <a:chOff x="4386600" y="2762280"/>
            <a:chExt cx="4482360" cy="549000"/>
          </a:xfrm>
        </p:grpSpPr>
        <p:sp>
          <p:nvSpPr>
            <p:cNvPr id="291" name="Shape 23"/>
            <p:cNvSpPr/>
            <p:nvPr/>
          </p:nvSpPr>
          <p:spPr>
            <a:xfrm>
              <a:off x="4386600" y="2779200"/>
              <a:ext cx="4482360" cy="531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Shape 24"/>
            <p:cNvSpPr/>
            <p:nvPr/>
          </p:nvSpPr>
          <p:spPr>
            <a:xfrm>
              <a:off x="4386600" y="2779200"/>
              <a:ext cx="57600" cy="531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Text 25"/>
            <p:cNvSpPr/>
            <p:nvPr/>
          </p:nvSpPr>
          <p:spPr>
            <a:xfrm>
              <a:off x="4523400" y="2762280"/>
              <a:ext cx="428724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Snapdragon 8 Elite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Text 26"/>
            <p:cNvSpPr/>
            <p:nvPr/>
          </p:nvSpPr>
          <p:spPr>
            <a:xfrm>
              <a:off x="4489920" y="2934720"/>
              <a:ext cx="4287240" cy="37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2× Oryon Prime @4.47GHz + 6× Oryon Perf @3.53GHz. Brak małych rdzeni (all-big). 40% perf vs 8 Gen 3. Qualcomm własna architektura (nie ARM Cortex).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5" name="Grupa 40"/>
          <p:cNvGrpSpPr/>
          <p:nvPr/>
        </p:nvGrpSpPr>
        <p:grpSpPr>
          <a:xfrm>
            <a:off x="4386600" y="3337920"/>
            <a:ext cx="4482360" cy="565560"/>
            <a:chOff x="4386600" y="3337920"/>
            <a:chExt cx="4482360" cy="565560"/>
          </a:xfrm>
        </p:grpSpPr>
        <p:sp>
          <p:nvSpPr>
            <p:cNvPr id="296" name="Shape 27"/>
            <p:cNvSpPr/>
            <p:nvPr/>
          </p:nvSpPr>
          <p:spPr>
            <a:xfrm>
              <a:off x="4386600" y="3337920"/>
              <a:ext cx="4482360" cy="565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Shape 28"/>
            <p:cNvSpPr/>
            <p:nvPr/>
          </p:nvSpPr>
          <p:spPr>
            <a:xfrm>
              <a:off x="4386600" y="3337920"/>
              <a:ext cx="57600" cy="565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Text 29"/>
            <p:cNvSpPr/>
            <p:nvPr/>
          </p:nvSpPr>
          <p:spPr>
            <a:xfrm>
              <a:off x="4523400" y="3344400"/>
              <a:ext cx="428724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Dimensity 9400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 30"/>
            <p:cNvSpPr/>
            <p:nvPr/>
          </p:nvSpPr>
          <p:spPr>
            <a:xfrm>
              <a:off x="4523400" y="3567240"/>
              <a:ext cx="42872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1× Cortex-X925 @3.62GHz + 3× X4 @3.28GHz + 4× A720 @2.4GHz. Tri-cluster big.LITTLE.L+. 3nm N3E TSMC.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0" name="Grupa 41"/>
          <p:cNvGrpSpPr/>
          <p:nvPr/>
        </p:nvGrpSpPr>
        <p:grpSpPr>
          <a:xfrm>
            <a:off x="4386600" y="3900960"/>
            <a:ext cx="4482360" cy="540360"/>
            <a:chOff x="4386600" y="3900960"/>
            <a:chExt cx="4482360" cy="540360"/>
          </a:xfrm>
        </p:grpSpPr>
        <p:sp>
          <p:nvSpPr>
            <p:cNvPr id="301" name="Shape 31"/>
            <p:cNvSpPr/>
            <p:nvPr/>
          </p:nvSpPr>
          <p:spPr>
            <a:xfrm>
              <a:off x="4386600" y="3943440"/>
              <a:ext cx="4482360" cy="497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Shape 32"/>
            <p:cNvSpPr/>
            <p:nvPr/>
          </p:nvSpPr>
          <p:spPr>
            <a:xfrm>
              <a:off x="4386600" y="3943440"/>
              <a:ext cx="57600" cy="497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 33"/>
            <p:cNvSpPr/>
            <p:nvPr/>
          </p:nvSpPr>
          <p:spPr>
            <a:xfrm>
              <a:off x="4523400" y="3900960"/>
              <a:ext cx="428724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Exynos 2500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Text 34"/>
            <p:cNvSpPr/>
            <p:nvPr/>
          </p:nvSpPr>
          <p:spPr>
            <a:xfrm>
              <a:off x="4523400" y="4124160"/>
              <a:ext cx="42872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1× Cortex-X5 @3.3GHz + 4× X4 @2.55GHz + 5× A725 @1.8GHz. 10-core total. GAAFET GAA transistor Samsung SF3.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5" name="Grupa 46"/>
          <p:cNvGrpSpPr/>
          <p:nvPr/>
        </p:nvGrpSpPr>
        <p:grpSpPr>
          <a:xfrm>
            <a:off x="4386600" y="4449240"/>
            <a:ext cx="4482360" cy="512280"/>
            <a:chOff x="4386600" y="4449240"/>
            <a:chExt cx="4482360" cy="512280"/>
          </a:xfrm>
        </p:grpSpPr>
        <p:sp>
          <p:nvSpPr>
            <p:cNvPr id="306" name="Shape 35"/>
            <p:cNvSpPr/>
            <p:nvPr/>
          </p:nvSpPr>
          <p:spPr>
            <a:xfrm>
              <a:off x="4386600" y="4483440"/>
              <a:ext cx="4482360" cy="478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Shape 36"/>
            <p:cNvSpPr/>
            <p:nvPr/>
          </p:nvSpPr>
          <p:spPr>
            <a:xfrm>
              <a:off x="4386600" y="4483440"/>
              <a:ext cx="57600" cy="478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Text 37"/>
            <p:cNvSpPr/>
            <p:nvPr/>
          </p:nvSpPr>
          <p:spPr>
            <a:xfrm>
              <a:off x="4523400" y="4449240"/>
              <a:ext cx="428724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DVFS w Linux (Android)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Text 38"/>
            <p:cNvSpPr/>
            <p:nvPr/>
          </p:nvSpPr>
          <p:spPr>
            <a:xfrm>
              <a:off x="4523400" y="4653720"/>
              <a:ext cx="42872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Governor schedutil: CPU util → freq mapowanie. ondemand (legacy). powersave. performance. PELT (Per-Entity Load Tracking) per-task.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0" name="pole tekstowe 48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8484B97F-FC79-48BA-AE3E-75F9CDB4818A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GPU Mobilne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Tile-Based Deferred Rendering i architektury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566640" y="749880"/>
            <a:ext cx="8010360" cy="509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Mobilne GPU używają TBDR (Tile-Based Deferred Rendering) zamiast Immediate Mode — dzieli ekran na kafelki renderowane w szybkiej pamięci on-chip, oszczędzając DRAM BW.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7" name="Grupa 49"/>
          <p:cNvGrpSpPr/>
          <p:nvPr/>
        </p:nvGrpSpPr>
        <p:grpSpPr>
          <a:xfrm>
            <a:off x="320040" y="1442880"/>
            <a:ext cx="8548920" cy="3153600"/>
            <a:chOff x="320040" y="1442880"/>
            <a:chExt cx="8548920" cy="3153600"/>
          </a:xfrm>
        </p:grpSpPr>
        <p:sp>
          <p:nvSpPr>
            <p:cNvPr id="318" name="Text 6"/>
            <p:cNvSpPr/>
            <p:nvPr/>
          </p:nvSpPr>
          <p:spPr>
            <a:xfrm>
              <a:off x="320040" y="1442880"/>
              <a:ext cx="4159800" cy="22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TBDR</a:t>
              </a:r>
              <a:r>
                <a:rPr lang="pl-PL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:</a:t>
              </a:r>
              <a:r>
                <a:rPr lang="en-US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 fazy renderowania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9" name="Grupa 48"/>
            <p:cNvGrpSpPr/>
            <p:nvPr/>
          </p:nvGrpSpPr>
          <p:grpSpPr>
            <a:xfrm>
              <a:off x="320040" y="1686240"/>
              <a:ext cx="4159800" cy="2910240"/>
              <a:chOff x="320040" y="1686240"/>
              <a:chExt cx="4159800" cy="2910240"/>
            </a:xfrm>
          </p:grpSpPr>
          <p:sp>
            <p:nvSpPr>
              <p:cNvPr id="320" name="Shape 7"/>
              <p:cNvSpPr/>
              <p:nvPr/>
            </p:nvSpPr>
            <p:spPr>
              <a:xfrm>
                <a:off x="320040" y="1686240"/>
                <a:ext cx="41598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Shape 8"/>
              <p:cNvSpPr/>
              <p:nvPr/>
            </p:nvSpPr>
            <p:spPr>
              <a:xfrm>
                <a:off x="320040" y="1686240"/>
                <a:ext cx="540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Text 9"/>
              <p:cNvSpPr/>
              <p:nvPr/>
            </p:nvSpPr>
            <p:spPr>
              <a:xfrm>
                <a:off x="448200" y="1737000"/>
                <a:ext cx="3976920" cy="219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1. Vertex + Tiling pass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Text 10"/>
              <p:cNvSpPr/>
              <p:nvPr/>
            </p:nvSpPr>
            <p:spPr>
              <a:xfrm>
                <a:off x="448200" y="1982520"/>
                <a:ext cx="3976920" cy="320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Wszystkie wierzchołki przetworzone. Ekran podzielony na kafelki 16×16 lub 32×32 px. Prymitywy przypisane do kafelków — lista na chip.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Shape 11"/>
              <p:cNvSpPr/>
              <p:nvPr/>
            </p:nvSpPr>
            <p:spPr>
              <a:xfrm>
                <a:off x="320040" y="2431080"/>
                <a:ext cx="41598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Shape 12"/>
              <p:cNvSpPr/>
              <p:nvPr/>
            </p:nvSpPr>
            <p:spPr>
              <a:xfrm>
                <a:off x="320040" y="2431080"/>
                <a:ext cx="540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Text 13"/>
              <p:cNvSpPr/>
              <p:nvPr/>
            </p:nvSpPr>
            <p:spPr>
              <a:xfrm>
                <a:off x="448200" y="2481480"/>
                <a:ext cx="3976920" cy="219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2. Hidden Surface Removal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Text 14"/>
              <p:cNvSpPr/>
              <p:nvPr/>
            </p:nvSpPr>
            <p:spPr>
              <a:xfrm>
                <a:off x="448200" y="2727000"/>
                <a:ext cx="3976920" cy="320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HSR eliminuje niewidoczne fragmenty PRZED shader. Oszczędza ~50% ALU. PowerVR Imagination: wynalazca HSR 1993. Apple/IMG SoC.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Shape 15"/>
              <p:cNvSpPr/>
              <p:nvPr/>
            </p:nvSpPr>
            <p:spPr>
              <a:xfrm>
                <a:off x="320040" y="3175560"/>
                <a:ext cx="41598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Shape 16"/>
              <p:cNvSpPr/>
              <p:nvPr/>
            </p:nvSpPr>
            <p:spPr>
              <a:xfrm>
                <a:off x="320040" y="3175560"/>
                <a:ext cx="540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Text 17"/>
              <p:cNvSpPr/>
              <p:nvPr/>
            </p:nvSpPr>
            <p:spPr>
              <a:xfrm>
                <a:off x="448200" y="3225960"/>
                <a:ext cx="3976920" cy="219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3. Fragment shading (per-tile)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Text 18"/>
              <p:cNvSpPr/>
              <p:nvPr/>
            </p:nvSpPr>
            <p:spPr>
              <a:xfrm>
                <a:off x="448200" y="3471480"/>
                <a:ext cx="3976920" cy="320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Kafelek renderowany w całości w TILE RAM (on-chip ~256KB). Fullscreen quads → cache-friendly access. Fill rate ×4 vs IMR.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Shape 19"/>
              <p:cNvSpPr/>
              <p:nvPr/>
            </p:nvSpPr>
            <p:spPr>
              <a:xfrm>
                <a:off x="320040" y="3920040"/>
                <a:ext cx="41598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Shape 20"/>
              <p:cNvSpPr/>
              <p:nvPr/>
            </p:nvSpPr>
            <p:spPr>
              <a:xfrm>
                <a:off x="320040" y="3920040"/>
                <a:ext cx="54000" cy="67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Text 21"/>
              <p:cNvSpPr/>
              <p:nvPr/>
            </p:nvSpPr>
            <p:spPr>
              <a:xfrm>
                <a:off x="448200" y="3971160"/>
                <a:ext cx="3976920" cy="219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4. Memory writeback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Text 22"/>
              <p:cNvSpPr/>
              <p:nvPr/>
            </p:nvSpPr>
            <p:spPr>
              <a:xfrm>
                <a:off x="448200" y="4216320"/>
                <a:ext cx="3976920" cy="320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Gotowy kafelek zapisywany do DRAM framebuffer. Tylko raz, bez Z-buffer readback. BW savings: 60–80% vs Immediate Mode Rendering.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6" name="Text 23"/>
            <p:cNvSpPr/>
            <p:nvPr/>
          </p:nvSpPr>
          <p:spPr>
            <a:xfrm>
              <a:off x="4663440" y="1442880"/>
              <a:ext cx="4205520" cy="22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producenci </a:t>
              </a:r>
              <a:r>
                <a:rPr lang="en-US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GPU mobiln</a:t>
              </a:r>
              <a:r>
                <a:rPr lang="pl-PL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ych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7" name="Grupa 47"/>
            <p:cNvGrpSpPr/>
            <p:nvPr/>
          </p:nvGrpSpPr>
          <p:grpSpPr>
            <a:xfrm>
              <a:off x="4663440" y="1686240"/>
              <a:ext cx="4205520" cy="2910240"/>
              <a:chOff x="4663440" y="1686240"/>
              <a:chExt cx="4205520" cy="2910240"/>
            </a:xfrm>
          </p:grpSpPr>
          <p:grpSp>
            <p:nvGrpSpPr>
              <p:cNvPr id="338" name="Grupa 46"/>
              <p:cNvGrpSpPr/>
              <p:nvPr/>
            </p:nvGrpSpPr>
            <p:grpSpPr>
              <a:xfrm>
                <a:off x="4663440" y="1686240"/>
                <a:ext cx="4205520" cy="669960"/>
                <a:chOff x="4663440" y="1686240"/>
                <a:chExt cx="4205520" cy="669960"/>
              </a:xfrm>
            </p:grpSpPr>
            <p:sp>
              <p:nvSpPr>
                <p:cNvPr id="339" name="Shape 24"/>
                <p:cNvSpPr/>
                <p:nvPr/>
              </p:nvSpPr>
              <p:spPr>
                <a:xfrm>
                  <a:off x="4663440" y="1686240"/>
                  <a:ext cx="420552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  <a:effectLst>
                  <a:outerShdw dist="25455" dir="8100000" rotWithShape="0">
                    <a:srgbClr val="000000">
                      <a:alpha val="6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0" name="Shape 25"/>
                <p:cNvSpPr/>
                <p:nvPr/>
              </p:nvSpPr>
              <p:spPr>
                <a:xfrm>
                  <a:off x="4663440" y="1686240"/>
                  <a:ext cx="5400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00b4c5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1" name="Text 26"/>
                <p:cNvSpPr/>
                <p:nvPr/>
              </p:nvSpPr>
              <p:spPr>
                <a:xfrm>
                  <a:off x="4791600" y="1706760"/>
                  <a:ext cx="4022640" cy="1972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150" b="1" u="none" strike="noStrike">
                      <a:solidFill>
                        <a:srgbClr val="182030"/>
                      </a:solidFill>
                      <a:effectLst/>
                      <a:uFillTx/>
                      <a:latin typeface="Cambria"/>
                      <a:ea typeface="Cambria"/>
                    </a:rPr>
                    <a:t>Apple GPU (6-core, A18 Pro)</a:t>
                  </a:r>
                  <a:endParaRPr lang="pl-PL" sz="11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2" name="Text 27"/>
                <p:cNvSpPr/>
                <p:nvPr/>
              </p:nvSpPr>
              <p:spPr>
                <a:xfrm>
                  <a:off x="4791600" y="1953000"/>
                  <a:ext cx="4022640" cy="34992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050" b="0" u="none" strike="noStrike">
                      <a:solidFill>
                        <a:srgbClr val="3b5168"/>
                      </a:solidFill>
                      <a:effectLst/>
                      <a:uFillTx/>
                      <a:latin typeface="Calibri"/>
                      <a:ea typeface="Calibri"/>
                    </a:rPr>
                    <a:t>Custom TBDR. 4.5 TFLOPS FP32. Metal API. Hardware ray tracing (BVH traversal). Mesh shaders. AV1 HW decode. Najlepsza efektywność energetyczna.</a:t>
                  </a:r>
                  <a:endParaRPr lang="pl-PL" sz="10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3" name="Grupa 45"/>
              <p:cNvGrpSpPr/>
              <p:nvPr/>
            </p:nvGrpSpPr>
            <p:grpSpPr>
              <a:xfrm>
                <a:off x="4663440" y="2432880"/>
                <a:ext cx="4205520" cy="669960"/>
                <a:chOff x="4663440" y="2432880"/>
                <a:chExt cx="4205520" cy="669960"/>
              </a:xfrm>
            </p:grpSpPr>
            <p:sp>
              <p:nvSpPr>
                <p:cNvPr id="344" name="Shape 28"/>
                <p:cNvSpPr/>
                <p:nvPr/>
              </p:nvSpPr>
              <p:spPr>
                <a:xfrm>
                  <a:off x="4663440" y="2432880"/>
                  <a:ext cx="420552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  <a:effectLst>
                  <a:outerShdw dist="25455" dir="8100000" rotWithShape="0">
                    <a:srgbClr val="000000">
                      <a:alpha val="6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Shape 29"/>
                <p:cNvSpPr/>
                <p:nvPr/>
              </p:nvSpPr>
              <p:spPr>
                <a:xfrm>
                  <a:off x="4663440" y="2432880"/>
                  <a:ext cx="5400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d6006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Text 30"/>
                <p:cNvSpPr/>
                <p:nvPr/>
              </p:nvSpPr>
              <p:spPr>
                <a:xfrm>
                  <a:off x="4791600" y="2478600"/>
                  <a:ext cx="4022640" cy="1972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150" b="1" u="none" strike="noStrike">
                      <a:solidFill>
                        <a:srgbClr val="182030"/>
                      </a:solidFill>
                      <a:effectLst/>
                      <a:uFillTx/>
                      <a:latin typeface="Cambria"/>
                      <a:ea typeface="Cambria"/>
                    </a:rPr>
                    <a:t>Adreno 830 (SD 8 Elite)</a:t>
                  </a:r>
                  <a:endParaRPr lang="pl-PL" sz="11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Text 31"/>
                <p:cNvSpPr/>
                <p:nvPr/>
              </p:nvSpPr>
              <p:spPr>
                <a:xfrm>
                  <a:off x="4791600" y="2699640"/>
                  <a:ext cx="4022640" cy="34992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050" b="0" u="none" strike="noStrike">
                      <a:solidFill>
                        <a:srgbClr val="3b5168"/>
                      </a:solidFill>
                      <a:effectLst/>
                      <a:uFillTx/>
                      <a:latin typeface="Calibri"/>
                      <a:ea typeface="Calibri"/>
                    </a:rPr>
                    <a:t>Qualcomm TBDR. Vulkan 1.3, OpenGL ES 3.2. UBWC lossless compression. Predictive Rendering. HW ray tracing. 3.8 TFLOPS. +40% vs prev gen.</a:t>
                  </a:r>
                  <a:endParaRPr lang="pl-PL" sz="10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8" name="Grupa 44"/>
              <p:cNvGrpSpPr/>
              <p:nvPr/>
            </p:nvGrpSpPr>
            <p:grpSpPr>
              <a:xfrm>
                <a:off x="4663440" y="3179880"/>
                <a:ext cx="4205520" cy="669960"/>
                <a:chOff x="4663440" y="3179880"/>
                <a:chExt cx="4205520" cy="669960"/>
              </a:xfrm>
            </p:grpSpPr>
            <p:sp>
              <p:nvSpPr>
                <p:cNvPr id="349" name="Shape 32"/>
                <p:cNvSpPr/>
                <p:nvPr/>
              </p:nvSpPr>
              <p:spPr>
                <a:xfrm>
                  <a:off x="4663440" y="3179880"/>
                  <a:ext cx="420552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  <a:effectLst>
                  <a:outerShdw dist="25455" dir="8100000" rotWithShape="0">
                    <a:srgbClr val="000000">
                      <a:alpha val="6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0" name="Shape 33"/>
                <p:cNvSpPr/>
                <p:nvPr/>
              </p:nvSpPr>
              <p:spPr>
                <a:xfrm>
                  <a:off x="4663440" y="3179880"/>
                  <a:ext cx="5400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0e9a6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Text 34"/>
                <p:cNvSpPr/>
                <p:nvPr/>
              </p:nvSpPr>
              <p:spPr>
                <a:xfrm>
                  <a:off x="4791600" y="3225240"/>
                  <a:ext cx="4022640" cy="1972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150" b="1" u="none" strike="noStrike">
                      <a:solidFill>
                        <a:srgbClr val="182030"/>
                      </a:solidFill>
                      <a:effectLst/>
                      <a:uFillTx/>
                      <a:latin typeface="Cambria"/>
                      <a:ea typeface="Cambria"/>
                    </a:rPr>
                    <a:t>Xclipse 950 (Exynos 2500)</a:t>
                  </a:r>
                  <a:endParaRPr lang="pl-PL" sz="11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Text 35"/>
                <p:cNvSpPr/>
                <p:nvPr/>
              </p:nvSpPr>
              <p:spPr>
                <a:xfrm>
                  <a:off x="4791600" y="3446280"/>
                  <a:ext cx="4022640" cy="34992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050" b="0" u="none" strike="noStrike">
                      <a:solidFill>
                        <a:srgbClr val="3b5168"/>
                      </a:solidFill>
                      <a:effectLst/>
                      <a:uFillTx/>
                      <a:latin typeface="Calibri"/>
                      <a:ea typeface="Calibri"/>
                    </a:rPr>
                    <a:t>AMD RDNA 3.5 licencja. Pełne ray tracing hardware. FidelityFX Super Resolution. Vulkan 1.3. Pierwszy RDNA w telefonie (Galaxy S25 EU).</a:t>
                  </a:r>
                  <a:endParaRPr lang="pl-PL" sz="10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3" name="Grupa 43"/>
              <p:cNvGrpSpPr/>
              <p:nvPr/>
            </p:nvGrpSpPr>
            <p:grpSpPr>
              <a:xfrm>
                <a:off x="4663440" y="3926520"/>
                <a:ext cx="4205520" cy="669960"/>
                <a:chOff x="4663440" y="3926520"/>
                <a:chExt cx="4205520" cy="669960"/>
              </a:xfrm>
            </p:grpSpPr>
            <p:sp>
              <p:nvSpPr>
                <p:cNvPr id="354" name="Shape 36"/>
                <p:cNvSpPr/>
                <p:nvPr/>
              </p:nvSpPr>
              <p:spPr>
                <a:xfrm>
                  <a:off x="4663440" y="3926520"/>
                  <a:ext cx="420552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  <a:effectLst>
                  <a:outerShdw dist="25455" dir="8100000" rotWithShape="0">
                    <a:srgbClr val="000000">
                      <a:alpha val="6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5" name="Shape 37"/>
                <p:cNvSpPr/>
                <p:nvPr/>
              </p:nvSpPr>
              <p:spPr>
                <a:xfrm>
                  <a:off x="4663440" y="3926520"/>
                  <a:ext cx="54000" cy="669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6d28d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6" name="Text 38"/>
                <p:cNvSpPr/>
                <p:nvPr/>
              </p:nvSpPr>
              <p:spPr>
                <a:xfrm>
                  <a:off x="4791600" y="3938760"/>
                  <a:ext cx="4022640" cy="1972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150" b="1" u="none" strike="noStrike">
                      <a:solidFill>
                        <a:srgbClr val="182030"/>
                      </a:solidFill>
                      <a:effectLst/>
                      <a:uFillTx/>
                      <a:latin typeface="Cambria"/>
                      <a:ea typeface="Cambria"/>
                    </a:rPr>
                    <a:t>Mali G925 (ARM architecture)</a:t>
                  </a:r>
                  <a:endParaRPr lang="pl-PL" sz="11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7" name="Text 39"/>
                <p:cNvSpPr/>
                <p:nvPr/>
              </p:nvSpPr>
              <p:spPr>
                <a:xfrm>
                  <a:off x="4791600" y="4193280"/>
                  <a:ext cx="4022640" cy="34992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lang="en-US" sz="1050" b="0" u="none" strike="noStrike">
                      <a:solidFill>
                        <a:srgbClr val="3b5168"/>
                      </a:solidFill>
                      <a:effectLst/>
                      <a:uFillTx/>
                      <a:latin typeface="Calibri"/>
                      <a:ea typeface="Calibri"/>
                    </a:rPr>
                    <a:t>Valhall 5 architektura. 16-core config. Asahi Linux driver open-source. OpenCL 3.0. Used mid-range MediaTek/Samsung. Imaginiation PowerVR powraca w Pixel.</a:t>
                  </a:r>
                  <a:endParaRPr lang="pl-PL" sz="10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358" name="Shape 40"/>
          <p:cNvSpPr/>
          <p:nvPr/>
        </p:nvSpPr>
        <p:spPr>
          <a:xfrm>
            <a:off x="100080" y="4678920"/>
            <a:ext cx="8983800" cy="258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0f7fa"/>
          </a:solidFill>
          <a:ln w="12600">
            <a:solidFill>
              <a:srgbClr val="00b4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1"/>
          <p:cNvSpPr/>
          <p:nvPr/>
        </p:nvSpPr>
        <p:spPr>
          <a:xfrm>
            <a:off x="153360" y="4705560"/>
            <a:ext cx="8930520" cy="203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Metal (iOS) i Vulkan (Android) to niskopoziomowe API GPU. Vulkan: explicit memory management, render passes = TBDR-friendly explicit tiling. Metal: podobny model z mniejszą verbosity.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ole tekstowe 51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B32D1F37-132F-4F0D-BD61-5EE1E99C4DD0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NPU: Neural Processing Unit i akceleratory AI On-Device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4350960" y="729000"/>
            <a:ext cx="4758840" cy="889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NPU to dedykowany akcelerator ML: 10–100× efektywniejszy energetycznie niż CPU/GPU dla operacji macierzowych (GEMM/Conv2D). Standard w każdym flagowym SoC.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133200" y="698040"/>
            <a:ext cx="242316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Jak działa NPU, Systolic Array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133200" y="953280"/>
            <a:ext cx="4159800" cy="288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3287880" y="118224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Python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224640" y="1014840"/>
            <a:ext cx="3995280" cy="278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NPU — operacje i dataflow (uproszczony)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Dominująca op: Conv2D = GEMM (matmul)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Output[N,H,W,Co] = sum(Input*Kernel)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Systolic Array (n×n MAC array):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Wagi preładowane → dane przepływają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Każdy PE: 1 MAC/cycle → n² MAC/cycle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INT8 Quantization — klucz do TOPS: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FP32 (32-bit) → INT8 (8-bit)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4× mniejszy model, 4× szybsze MAC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QAT (Quantization-Aware Training): &lt; 1% drop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Post-Training Quant (PTQ): szybsze, gorsze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TOPS = GOPS×10^-3 (tera operations/s INT8)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Apple A18 Pro ANE: 38 TOPS INT8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Efektywność: ~10 TOPS/W (NPU)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          ~1-3 TOPS/W (GPU)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          ~0.1 TOPS/W (CPU)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CoreML deployment: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import coremltools as ct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model = ct.convert(torch_model,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inputs=[ct.TensorType(shape=(1,3,224,224))],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compute_units=ct.ComputeUnit.ALL)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ALL = ANE + GPU + CPU fallback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model.save("model.mlpackage")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1" name="Grupa 51"/>
          <p:cNvGrpSpPr/>
          <p:nvPr/>
        </p:nvGrpSpPr>
        <p:grpSpPr>
          <a:xfrm>
            <a:off x="133200" y="3844080"/>
            <a:ext cx="4159800" cy="606960"/>
            <a:chOff x="133200" y="3844080"/>
            <a:chExt cx="4159800" cy="606960"/>
          </a:xfrm>
        </p:grpSpPr>
        <p:grpSp>
          <p:nvGrpSpPr>
            <p:cNvPr id="372" name="Grupa 50"/>
            <p:cNvGrpSpPr/>
            <p:nvPr/>
          </p:nvGrpSpPr>
          <p:grpSpPr>
            <a:xfrm>
              <a:off x="133200" y="3885120"/>
              <a:ext cx="4159800" cy="532440"/>
              <a:chOff x="133200" y="3885120"/>
              <a:chExt cx="4159800" cy="532440"/>
            </a:xfrm>
          </p:grpSpPr>
          <p:sp>
            <p:nvSpPr>
              <p:cNvPr id="373" name="Shape 10"/>
              <p:cNvSpPr/>
              <p:nvPr/>
            </p:nvSpPr>
            <p:spPr>
              <a:xfrm>
                <a:off x="133200" y="3885120"/>
                <a:ext cx="4159800" cy="532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Shape 11"/>
              <p:cNvSpPr/>
              <p:nvPr/>
            </p:nvSpPr>
            <p:spPr>
              <a:xfrm>
                <a:off x="133200" y="3885120"/>
                <a:ext cx="54000" cy="532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5" name="Text 12"/>
            <p:cNvSpPr/>
            <p:nvPr/>
          </p:nvSpPr>
          <p:spPr>
            <a:xfrm>
              <a:off x="261360" y="3844080"/>
              <a:ext cx="39769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NNAPI (Android Neural Networks API)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Text 13"/>
            <p:cNvSpPr/>
            <p:nvPr/>
          </p:nvSpPr>
          <p:spPr>
            <a:xfrm>
              <a:off x="261360" y="4030560"/>
              <a:ext cx="3976920" cy="420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Kieruje inference na NPU/GPU/DSP automatycznie. Delegates: NNAPIDelegate, GPUDelegate, HexagonDelegate (DSP), XNNPackDelegate (CPU SIMD). TFLite wbudowane.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7" name="Grupa 45"/>
          <p:cNvGrpSpPr/>
          <p:nvPr/>
        </p:nvGrpSpPr>
        <p:grpSpPr>
          <a:xfrm>
            <a:off x="133200" y="4435200"/>
            <a:ext cx="4159800" cy="502200"/>
            <a:chOff x="133200" y="4435200"/>
            <a:chExt cx="4159800" cy="502200"/>
          </a:xfrm>
        </p:grpSpPr>
        <p:sp>
          <p:nvSpPr>
            <p:cNvPr id="378" name="Shape 14"/>
            <p:cNvSpPr/>
            <p:nvPr/>
          </p:nvSpPr>
          <p:spPr>
            <a:xfrm>
              <a:off x="133200" y="4453200"/>
              <a:ext cx="4159800" cy="482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Shape 15"/>
            <p:cNvSpPr/>
            <p:nvPr/>
          </p:nvSpPr>
          <p:spPr>
            <a:xfrm>
              <a:off x="133200" y="4455000"/>
              <a:ext cx="54000" cy="482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Text 16"/>
            <p:cNvSpPr/>
            <p:nvPr/>
          </p:nvSpPr>
          <p:spPr>
            <a:xfrm>
              <a:off x="261360" y="4435200"/>
              <a:ext cx="3976920" cy="232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Efektywność NPU vs CPU vs GPU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Text 17"/>
            <p:cNvSpPr/>
            <p:nvPr/>
          </p:nvSpPr>
          <p:spPr>
            <a:xfrm>
              <a:off x="261360" y="4673520"/>
              <a:ext cx="3976920" cy="218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NPU: ~10 TOPS/W · GPU: 1–3 TOPS/W · CPU: 0.1–0.5 TOPS/W. NPU 20–100× bardziej efektywne energetycznie niż CPU dla konwolucji.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2" name="Grupa 49"/>
          <p:cNvGrpSpPr/>
          <p:nvPr/>
        </p:nvGrpSpPr>
        <p:grpSpPr>
          <a:xfrm>
            <a:off x="4421160" y="1802160"/>
            <a:ext cx="4615920" cy="3119400"/>
            <a:chOff x="4421160" y="1802160"/>
            <a:chExt cx="4615920" cy="3119400"/>
          </a:xfrm>
        </p:grpSpPr>
        <p:sp>
          <p:nvSpPr>
            <p:cNvPr id="383" name="Text 18"/>
            <p:cNvSpPr/>
            <p:nvPr/>
          </p:nvSpPr>
          <p:spPr>
            <a:xfrm>
              <a:off x="4421160" y="1802160"/>
              <a:ext cx="4615920" cy="23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Porównanie NPU 2024–2025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84" name="Grupa 48"/>
            <p:cNvGrpSpPr/>
            <p:nvPr/>
          </p:nvGrpSpPr>
          <p:grpSpPr>
            <a:xfrm>
              <a:off x="4421160" y="2040120"/>
              <a:ext cx="4615920" cy="574200"/>
              <a:chOff x="4421160" y="2040120"/>
              <a:chExt cx="4615920" cy="574200"/>
            </a:xfrm>
          </p:grpSpPr>
          <p:sp>
            <p:nvSpPr>
              <p:cNvPr id="385" name="Shape 19"/>
              <p:cNvSpPr/>
              <p:nvPr/>
            </p:nvSpPr>
            <p:spPr>
              <a:xfrm>
                <a:off x="4421160" y="2040120"/>
                <a:ext cx="4615920" cy="5742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Shape 20"/>
              <p:cNvSpPr/>
              <p:nvPr/>
            </p:nvSpPr>
            <p:spPr>
              <a:xfrm>
                <a:off x="4421160" y="2040120"/>
                <a:ext cx="59400" cy="5742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Text 21"/>
              <p:cNvSpPr/>
              <p:nvPr/>
            </p:nvSpPr>
            <p:spPr>
              <a:xfrm>
                <a:off x="4561920" y="2059560"/>
                <a:ext cx="4415400" cy="21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Apple ANE — A18 Pro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Text 22"/>
              <p:cNvSpPr/>
              <p:nvPr/>
            </p:nvSpPr>
            <p:spPr>
              <a:xfrm>
                <a:off x="4561920" y="2301480"/>
                <a:ext cx="4415400" cy="266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pc="-20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16-core ANE. CoreML wyłączny. Najlepsze TOPS/W dla iOS. Stable Diffusion &lt; 10s.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Text 23"/>
              <p:cNvSpPr/>
              <p:nvPr/>
            </p:nvSpPr>
            <p:spPr>
              <a:xfrm>
                <a:off x="7432200" y="2059560"/>
                <a:ext cx="1504800" cy="21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00b4c5"/>
                    </a:solidFill>
                    <a:effectLst/>
                    <a:uFillTx/>
                    <a:latin typeface="Cambria"/>
                    <a:ea typeface="Cambria"/>
                  </a:rPr>
                  <a:t>38 TOPS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0" name="Grupa 47"/>
            <p:cNvGrpSpPr/>
            <p:nvPr/>
          </p:nvGrpSpPr>
          <p:grpSpPr>
            <a:xfrm>
              <a:off x="4421160" y="2664360"/>
              <a:ext cx="4615920" cy="559080"/>
              <a:chOff x="4421160" y="2664360"/>
              <a:chExt cx="4615920" cy="559080"/>
            </a:xfrm>
          </p:grpSpPr>
          <p:sp>
            <p:nvSpPr>
              <p:cNvPr id="391" name="Shape 24"/>
              <p:cNvSpPr/>
              <p:nvPr/>
            </p:nvSpPr>
            <p:spPr>
              <a:xfrm>
                <a:off x="4421160" y="2664360"/>
                <a:ext cx="4615920" cy="559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Shape 25"/>
              <p:cNvSpPr/>
              <p:nvPr/>
            </p:nvSpPr>
            <p:spPr>
              <a:xfrm>
                <a:off x="4421160" y="2664360"/>
                <a:ext cx="59400" cy="559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Text 26"/>
              <p:cNvSpPr/>
              <p:nvPr/>
            </p:nvSpPr>
            <p:spPr>
              <a:xfrm>
                <a:off x="4561920" y="2670480"/>
                <a:ext cx="4415400" cy="21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Qualcomm Hexagon — 8 Elite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Text 27"/>
              <p:cNvSpPr/>
              <p:nvPr/>
            </p:nvSpPr>
            <p:spPr>
              <a:xfrm>
                <a:off x="4561920" y="2912400"/>
                <a:ext cx="4415400" cy="266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Hexagon v75 + Tensor Accelerator. QNN SDK otwarty. Najwięcej surowych TOPS Android 2025.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Text 28"/>
              <p:cNvSpPr/>
              <p:nvPr/>
            </p:nvSpPr>
            <p:spPr>
              <a:xfrm>
                <a:off x="7432200" y="2670480"/>
                <a:ext cx="1504800" cy="21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d6006a"/>
                    </a:solidFill>
                    <a:effectLst/>
                    <a:uFillTx/>
                    <a:latin typeface="Cambria"/>
                    <a:ea typeface="Cambria"/>
                  </a:rPr>
                  <a:t>80 TOPS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6" name="Grupa 46"/>
            <p:cNvGrpSpPr/>
            <p:nvPr/>
          </p:nvGrpSpPr>
          <p:grpSpPr>
            <a:xfrm>
              <a:off x="4421160" y="3281040"/>
              <a:ext cx="4615920" cy="585000"/>
              <a:chOff x="4421160" y="3281040"/>
              <a:chExt cx="4615920" cy="585000"/>
            </a:xfrm>
          </p:grpSpPr>
          <p:sp>
            <p:nvSpPr>
              <p:cNvPr id="397" name="Shape 29"/>
              <p:cNvSpPr/>
              <p:nvPr/>
            </p:nvSpPr>
            <p:spPr>
              <a:xfrm>
                <a:off x="4421160" y="3281040"/>
                <a:ext cx="4615920" cy="585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Shape 30"/>
              <p:cNvSpPr/>
              <p:nvPr/>
            </p:nvSpPr>
            <p:spPr>
              <a:xfrm>
                <a:off x="4421160" y="3281040"/>
                <a:ext cx="59400" cy="585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Text 31"/>
              <p:cNvSpPr/>
              <p:nvPr/>
            </p:nvSpPr>
            <p:spPr>
              <a:xfrm>
                <a:off x="4561920" y="3305880"/>
                <a:ext cx="4415400" cy="21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Google TPU — Tensor G4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Text 32"/>
              <p:cNvSpPr/>
              <p:nvPr/>
            </p:nvSpPr>
            <p:spPr>
              <a:xfrm>
                <a:off x="4561920" y="3547440"/>
                <a:ext cx="4415400" cy="266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Dedykowany TPU: Call Screening, Photo Unblur, Magic Eraser. On-device privacy pierwszorzędna.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Text 33"/>
              <p:cNvSpPr/>
              <p:nvPr/>
            </p:nvSpPr>
            <p:spPr>
              <a:xfrm>
                <a:off x="7432200" y="3305880"/>
                <a:ext cx="1504800" cy="21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0e9a6b"/>
                    </a:solidFill>
                    <a:effectLst/>
                    <a:uFillTx/>
                    <a:latin typeface="Cambria"/>
                    <a:ea typeface="Cambria"/>
                  </a:rPr>
                  <a:t>~20 TOPS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2" name="Shape 34"/>
            <p:cNvSpPr/>
            <p:nvPr/>
          </p:nvSpPr>
          <p:spPr>
            <a:xfrm>
              <a:off x="4421160" y="3927600"/>
              <a:ext cx="4615920" cy="44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Shape 35"/>
            <p:cNvSpPr/>
            <p:nvPr/>
          </p:nvSpPr>
          <p:spPr>
            <a:xfrm>
              <a:off x="4421160" y="3927600"/>
              <a:ext cx="59400" cy="44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Text 36"/>
            <p:cNvSpPr/>
            <p:nvPr/>
          </p:nvSpPr>
          <p:spPr>
            <a:xfrm>
              <a:off x="4561920" y="3934800"/>
              <a:ext cx="4415400" cy="21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MediaTek APU 890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Text 37"/>
            <p:cNvSpPr/>
            <p:nvPr/>
          </p:nvSpPr>
          <p:spPr>
            <a:xfrm>
              <a:off x="4528440" y="4110120"/>
              <a:ext cx="4448880" cy="26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pc="-5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Dimensity 9400. NeuroPilot SDK. On-device LLM 7B. Generative AI background generation.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Text 38"/>
            <p:cNvSpPr/>
            <p:nvPr/>
          </p:nvSpPr>
          <p:spPr>
            <a:xfrm>
              <a:off x="7432200" y="3934800"/>
              <a:ext cx="1504800" cy="21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6d28d9"/>
                  </a:solidFill>
                  <a:effectLst/>
                  <a:uFillTx/>
                  <a:latin typeface="Cambria"/>
                  <a:ea typeface="Cambria"/>
                </a:rPr>
                <a:t>50 TOPS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Shape 39"/>
            <p:cNvSpPr/>
            <p:nvPr/>
          </p:nvSpPr>
          <p:spPr>
            <a:xfrm>
              <a:off x="4421160" y="4423320"/>
              <a:ext cx="4615920" cy="497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Shape 40"/>
            <p:cNvSpPr/>
            <p:nvPr/>
          </p:nvSpPr>
          <p:spPr>
            <a:xfrm>
              <a:off x="4421160" y="4423680"/>
              <a:ext cx="59400" cy="497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Text 41"/>
            <p:cNvSpPr/>
            <p:nvPr/>
          </p:nvSpPr>
          <p:spPr>
            <a:xfrm>
              <a:off x="4561920" y="4435920"/>
              <a:ext cx="4415400" cy="21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Samsung MX NPU — Exynos 2500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Text 42"/>
            <p:cNvSpPr/>
            <p:nvPr/>
          </p:nvSpPr>
          <p:spPr>
            <a:xfrm>
              <a:off x="4521600" y="4677840"/>
              <a:ext cx="4455360" cy="185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MDNIE AI display, SceneOptimizer, Real-Time Eye Tracking AI. ARM Ethos-U</a:t>
              </a:r>
              <a:r>
                <a:rPr lang="pl-PL" sz="105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05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komponent.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Text 43"/>
            <p:cNvSpPr/>
            <p:nvPr/>
          </p:nvSpPr>
          <p:spPr>
            <a:xfrm>
              <a:off x="7432200" y="4435920"/>
              <a:ext cx="1504800" cy="21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c47a00"/>
                  </a:solidFill>
                  <a:effectLst/>
                  <a:uFillTx/>
                  <a:latin typeface="Cambria"/>
                  <a:ea typeface="Cambria"/>
                </a:rPr>
                <a:t>~34 TOPS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2" name="pole tekstowe 53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674418B0-758C-4FD8-95E6-94B76723F301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Pamięć mobilna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LPDDR5X, UFS 4.0, PoP i Flash NAND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120240" y="754560"/>
            <a:ext cx="4891320" cy="748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Urządzenie mobilne używa kilku typów pamięci: RAM (LPDDR) do bieżącej pracy, Flash (UFS) do przechowywania. Organizacja PoP minimalizuje zajętość PCB i latencję.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9" name="Grupa 61"/>
          <p:cNvGrpSpPr/>
          <p:nvPr/>
        </p:nvGrpSpPr>
        <p:grpSpPr>
          <a:xfrm>
            <a:off x="120240" y="1566000"/>
            <a:ext cx="4892400" cy="2742120"/>
            <a:chOff x="120240" y="1566000"/>
            <a:chExt cx="4892400" cy="2742120"/>
          </a:xfrm>
        </p:grpSpPr>
        <p:grpSp>
          <p:nvGrpSpPr>
            <p:cNvPr id="420" name="Grupa 57"/>
            <p:cNvGrpSpPr/>
            <p:nvPr/>
          </p:nvGrpSpPr>
          <p:grpSpPr>
            <a:xfrm>
              <a:off x="120240" y="1566000"/>
              <a:ext cx="4892400" cy="476280"/>
              <a:chOff x="120240" y="1566000"/>
              <a:chExt cx="4892400" cy="476280"/>
            </a:xfrm>
          </p:grpSpPr>
          <p:sp>
            <p:nvSpPr>
              <p:cNvPr id="421" name="Shape 6"/>
              <p:cNvSpPr/>
              <p:nvPr/>
            </p:nvSpPr>
            <p:spPr>
              <a:xfrm>
                <a:off x="120240" y="1566000"/>
                <a:ext cx="4892400" cy="47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Shape 7"/>
              <p:cNvSpPr/>
              <p:nvPr/>
            </p:nvSpPr>
            <p:spPr>
              <a:xfrm>
                <a:off x="120240" y="1566000"/>
                <a:ext cx="63360" cy="47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Text 8"/>
              <p:cNvSpPr/>
              <p:nvPr/>
            </p:nvSpPr>
            <p:spPr>
              <a:xfrm>
                <a:off x="270720" y="1578960"/>
                <a:ext cx="4677120" cy="160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LPDDR5X — RAM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Text 9"/>
              <p:cNvSpPr/>
              <p:nvPr/>
            </p:nvSpPr>
            <p:spPr>
              <a:xfrm>
                <a:off x="270720" y="1768680"/>
                <a:ext cx="4677120" cy="238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Szerokość szyny 64 lub 128-bit. BW do 136 GB/s (128-bit). Napięcie 0.5V core. 8H (8-High) stack → 16GB w 1 pakiecie. PoP: die bezpośrednio na SoC.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Text 26"/>
              <p:cNvSpPr/>
              <p:nvPr/>
            </p:nvSpPr>
            <p:spPr>
              <a:xfrm>
                <a:off x="2862360" y="1566360"/>
                <a:ext cx="2042640" cy="163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950" b="1" u="none" strike="noStrike">
                    <a:solidFill>
                      <a:srgbClr val="00b4c5"/>
                    </a:solidFill>
                    <a:effectLst/>
                    <a:uFillTx/>
                    <a:latin typeface="Consolas"/>
                    <a:ea typeface="Consolas"/>
                  </a:rPr>
                  <a:t>136 GB/s</a:t>
                </a:r>
                <a:endParaRPr lang="pl-PL" sz="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6" name="Grupa 56"/>
            <p:cNvGrpSpPr/>
            <p:nvPr/>
          </p:nvGrpSpPr>
          <p:grpSpPr>
            <a:xfrm>
              <a:off x="120240" y="2098080"/>
              <a:ext cx="4892400" cy="544320"/>
              <a:chOff x="120240" y="2098080"/>
              <a:chExt cx="4892400" cy="544320"/>
            </a:xfrm>
          </p:grpSpPr>
          <p:sp>
            <p:nvSpPr>
              <p:cNvPr id="427" name="Shape 10"/>
              <p:cNvSpPr/>
              <p:nvPr/>
            </p:nvSpPr>
            <p:spPr>
              <a:xfrm>
                <a:off x="120240" y="2098080"/>
                <a:ext cx="4892400" cy="544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Shape 11"/>
              <p:cNvSpPr/>
              <p:nvPr/>
            </p:nvSpPr>
            <p:spPr>
              <a:xfrm>
                <a:off x="120240" y="2098080"/>
                <a:ext cx="63360" cy="544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Text 12"/>
              <p:cNvSpPr/>
              <p:nvPr/>
            </p:nvSpPr>
            <p:spPr>
              <a:xfrm>
                <a:off x="270720" y="2109600"/>
                <a:ext cx="4677120" cy="190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UFS 4.0 — pamięć masowa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Text 13"/>
              <p:cNvSpPr/>
              <p:nvPr/>
            </p:nvSpPr>
            <p:spPr>
              <a:xfrm>
                <a:off x="270720" y="2336040"/>
                <a:ext cx="4677120" cy="235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Universal Flash Storage. M-PHY HS-G5 (2×11.6 Gbps linie). Seq. odczyt 4.2 GB/s, zapis 2.8 GB/s. Random 4K IOPS: 1M. Wewnętrznie TLC NAND (3 bity/cell).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Text 27"/>
              <p:cNvSpPr/>
              <p:nvPr/>
            </p:nvSpPr>
            <p:spPr>
              <a:xfrm>
                <a:off x="2862360" y="2117520"/>
                <a:ext cx="2042640" cy="161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950" b="1" u="none" strike="noStrike">
                    <a:solidFill>
                      <a:srgbClr val="d6006a"/>
                    </a:solidFill>
                    <a:effectLst/>
                    <a:uFillTx/>
                    <a:latin typeface="Consolas"/>
                    <a:ea typeface="Consolas"/>
                  </a:rPr>
                  <a:t>4200 MB/s</a:t>
                </a:r>
                <a:endParaRPr lang="pl-PL" sz="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32" name="Grupa 55"/>
            <p:cNvGrpSpPr/>
            <p:nvPr/>
          </p:nvGrpSpPr>
          <p:grpSpPr>
            <a:xfrm>
              <a:off x="120240" y="2691360"/>
              <a:ext cx="4892400" cy="491760"/>
              <a:chOff x="120240" y="2691360"/>
              <a:chExt cx="4892400" cy="491760"/>
            </a:xfrm>
          </p:grpSpPr>
          <p:sp>
            <p:nvSpPr>
              <p:cNvPr id="433" name="Shape 14"/>
              <p:cNvSpPr/>
              <p:nvPr/>
            </p:nvSpPr>
            <p:spPr>
              <a:xfrm>
                <a:off x="120240" y="2698920"/>
                <a:ext cx="4892400" cy="4842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Shape 15"/>
              <p:cNvSpPr/>
              <p:nvPr/>
            </p:nvSpPr>
            <p:spPr>
              <a:xfrm>
                <a:off x="120240" y="2698920"/>
                <a:ext cx="63360" cy="4842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Text 16"/>
              <p:cNvSpPr/>
              <p:nvPr/>
            </p:nvSpPr>
            <p:spPr>
              <a:xfrm>
                <a:off x="270720" y="2691360"/>
                <a:ext cx="4677120" cy="193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eMMC 5.1 — budżet/midrange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Text 17"/>
              <p:cNvSpPr/>
              <p:nvPr/>
            </p:nvSpPr>
            <p:spPr>
              <a:xfrm>
                <a:off x="270720" y="2901240"/>
                <a:ext cx="4677120" cy="238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1 lane HS400. Seq. odczyt 400 MB/s. Brak CMD queue. Tańszy. </a:t>
                </a:r>
                <a:br>
                  <a:rPr sz="1000"/>
                </a:b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Używany w telefonach &lt;$300. Jeden interfejs vs UFS (dwa równoległe).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Text 28"/>
              <p:cNvSpPr/>
              <p:nvPr/>
            </p:nvSpPr>
            <p:spPr>
              <a:xfrm>
                <a:off x="2862360" y="2716560"/>
                <a:ext cx="2042640" cy="163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950" b="1" u="none" strike="noStrike">
                    <a:solidFill>
                      <a:srgbClr val="0e9a6b"/>
                    </a:solidFill>
                    <a:effectLst/>
                    <a:uFillTx/>
                    <a:latin typeface="Consolas"/>
                    <a:ea typeface="Consolas"/>
                  </a:rPr>
                  <a:t>400 MB/s</a:t>
                </a:r>
                <a:endParaRPr lang="pl-PL" sz="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38" name="Grupa 53"/>
            <p:cNvGrpSpPr/>
            <p:nvPr/>
          </p:nvGrpSpPr>
          <p:grpSpPr>
            <a:xfrm>
              <a:off x="120240" y="3242520"/>
              <a:ext cx="4892400" cy="510480"/>
              <a:chOff x="120240" y="3242520"/>
              <a:chExt cx="4892400" cy="510480"/>
            </a:xfrm>
          </p:grpSpPr>
          <p:sp>
            <p:nvSpPr>
              <p:cNvPr id="439" name="Shape 18"/>
              <p:cNvSpPr/>
              <p:nvPr/>
            </p:nvSpPr>
            <p:spPr>
              <a:xfrm>
                <a:off x="120240" y="3245400"/>
                <a:ext cx="4892400" cy="507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Shape 19"/>
              <p:cNvSpPr/>
              <p:nvPr/>
            </p:nvSpPr>
            <p:spPr>
              <a:xfrm>
                <a:off x="120240" y="3245400"/>
                <a:ext cx="63360" cy="507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Text 20"/>
              <p:cNvSpPr/>
              <p:nvPr/>
            </p:nvSpPr>
            <p:spPr>
              <a:xfrm>
                <a:off x="270720" y="3242520"/>
                <a:ext cx="4677120" cy="193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PoP (Package on Package)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Text 21"/>
              <p:cNvSpPr/>
              <p:nvPr/>
            </p:nvSpPr>
            <p:spPr>
              <a:xfrm>
                <a:off x="270720" y="3458880"/>
                <a:ext cx="4677120" cy="238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LPDDR die bezpośrednio na SoC die w jednym pakiecie. &lt; 1mm odległość → minimalna latencja i parazytyczna pojemność. Obowiązkowy w mobilnym.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Text 29"/>
              <p:cNvSpPr/>
              <p:nvPr/>
            </p:nvSpPr>
            <p:spPr>
              <a:xfrm>
                <a:off x="2862360" y="3251520"/>
                <a:ext cx="2042640" cy="163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950" b="1" u="none" strike="noStrike">
                    <a:solidFill>
                      <a:srgbClr val="6d28d9"/>
                    </a:solidFill>
                    <a:effectLst/>
                    <a:uFillTx/>
                    <a:latin typeface="Consolas"/>
                    <a:ea typeface="Consolas"/>
                  </a:rPr>
                  <a:t>1 ns latencja</a:t>
                </a:r>
                <a:endParaRPr lang="pl-PL" sz="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44" name="Grupa 54"/>
            <p:cNvGrpSpPr/>
            <p:nvPr/>
          </p:nvGrpSpPr>
          <p:grpSpPr>
            <a:xfrm>
              <a:off x="120240" y="3800520"/>
              <a:ext cx="4892400" cy="507600"/>
              <a:chOff x="120240" y="3800520"/>
              <a:chExt cx="4892400" cy="507600"/>
            </a:xfrm>
          </p:grpSpPr>
          <p:sp>
            <p:nvSpPr>
              <p:cNvPr id="445" name="Shape 22"/>
              <p:cNvSpPr/>
              <p:nvPr/>
            </p:nvSpPr>
            <p:spPr>
              <a:xfrm>
                <a:off x="120240" y="3800520"/>
                <a:ext cx="4892400" cy="507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6" name="Shape 23"/>
              <p:cNvSpPr/>
              <p:nvPr/>
            </p:nvSpPr>
            <p:spPr>
              <a:xfrm>
                <a:off x="120240" y="3800520"/>
                <a:ext cx="63360" cy="507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c47a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Text 24"/>
              <p:cNvSpPr/>
              <p:nvPr/>
            </p:nvSpPr>
            <p:spPr>
              <a:xfrm>
                <a:off x="270720" y="3818520"/>
                <a:ext cx="4677120" cy="174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15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zRAM + wirtualny RAM</a:t>
                </a:r>
                <a:endParaRPr lang="pl-PL" sz="11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Text 25"/>
              <p:cNvSpPr/>
              <p:nvPr/>
            </p:nvSpPr>
            <p:spPr>
              <a:xfrm>
                <a:off x="270720" y="4026600"/>
                <a:ext cx="4677120" cy="246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Android 11+: zRAM (kompresja LZ4/ZSTD ~60% skuteczna). Samsung/Xiaomi marketing 'virtual RAM'. Realnie: UFS swap = 5–10× wolniejszy od DRAM.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Text 30"/>
              <p:cNvSpPr/>
              <p:nvPr/>
            </p:nvSpPr>
            <p:spPr>
              <a:xfrm>
                <a:off x="2862360" y="3822840"/>
                <a:ext cx="2042640" cy="163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950" b="1" u="none" strike="noStrike">
                    <a:solidFill>
                      <a:srgbClr val="c47a00"/>
                    </a:solidFill>
                    <a:effectLst/>
                    <a:uFillTx/>
                    <a:latin typeface="Consolas"/>
                    <a:ea typeface="Consolas"/>
                  </a:rPr>
                  <a:t>~3 GB extra</a:t>
                </a:r>
                <a:endParaRPr lang="pl-PL" sz="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0" name="Text 31"/>
          <p:cNvSpPr/>
          <p:nvPr/>
        </p:nvSpPr>
        <p:spPr>
          <a:xfrm>
            <a:off x="5119920" y="975960"/>
            <a:ext cx="374904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Odczyt info o pamięci (Android)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32"/>
          <p:cNvSpPr/>
          <p:nvPr/>
        </p:nvSpPr>
        <p:spPr>
          <a:xfrm>
            <a:off x="5119920" y="1233720"/>
            <a:ext cx="3857400" cy="2646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33"/>
          <p:cNvSpPr/>
          <p:nvPr/>
        </p:nvSpPr>
        <p:spPr>
          <a:xfrm>
            <a:off x="7930440" y="124920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Shell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4"/>
          <p:cNvSpPr/>
          <p:nvPr/>
        </p:nvSpPr>
        <p:spPr>
          <a:xfrm>
            <a:off x="5177160" y="1279800"/>
            <a:ext cx="4041000" cy="2549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$ adb shell cat /proc/meminfo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MemTotal:     12218020 kB  # 12GB LPDDR5X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MemAvailable:  4832156 kB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SwapTotal:     6291456 kB  # 6GB zRAM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$ adb shell getprop ro.boot.hardware.ufs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samsung,ufs4   # UFS 4.0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$ adb shell df -h /data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256G  95G  161G 37% /data  # eUFS 4.0 NAND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LPDDR5X specyfika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- PMIC zarządza VDD per rank (0.5V core)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- DBI (Data Bus Inversion) → mniej przełączeń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- Write leveling, CA training przy boot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UFS 4.0 vs NVMe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UFS: M-PHY transport, SCSI-based (UTP)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NVMe: PCIe transport, NVMe protocol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Porównywalne throughput, NVMe mniejsza latencja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4" name="Grupa 61"/>
          <p:cNvGrpSpPr/>
          <p:nvPr/>
        </p:nvGrpSpPr>
        <p:grpSpPr>
          <a:xfrm>
            <a:off x="5119920" y="3958920"/>
            <a:ext cx="3857400" cy="981720"/>
            <a:chOff x="5119920" y="3958920"/>
            <a:chExt cx="3857400" cy="981720"/>
          </a:xfrm>
        </p:grpSpPr>
        <p:sp>
          <p:nvSpPr>
            <p:cNvPr id="455" name="Shape 35"/>
            <p:cNvSpPr/>
            <p:nvPr/>
          </p:nvSpPr>
          <p:spPr>
            <a:xfrm>
              <a:off x="5119920" y="3958920"/>
              <a:ext cx="3857400" cy="981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Shape 36"/>
            <p:cNvSpPr/>
            <p:nvPr/>
          </p:nvSpPr>
          <p:spPr>
            <a:xfrm>
              <a:off x="5119920" y="401400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Text 37"/>
            <p:cNvSpPr/>
            <p:nvPr/>
          </p:nvSpPr>
          <p:spPr>
            <a:xfrm>
              <a:off x="5119920" y="401400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LPDDR5X Die ×8 (8H stack)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Shape 38"/>
            <p:cNvSpPr/>
            <p:nvPr/>
          </p:nvSpPr>
          <p:spPr>
            <a:xfrm>
              <a:off x="5119920" y="423324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Text 39"/>
            <p:cNvSpPr/>
            <p:nvPr/>
          </p:nvSpPr>
          <p:spPr>
            <a:xfrm>
              <a:off x="5119920" y="423324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Interposer / Top Package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Shape 40"/>
            <p:cNvSpPr/>
            <p:nvPr/>
          </p:nvSpPr>
          <p:spPr>
            <a:xfrm>
              <a:off x="5119920" y="445284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Text 41"/>
            <p:cNvSpPr/>
            <p:nvPr/>
          </p:nvSpPr>
          <p:spPr>
            <a:xfrm>
              <a:off x="5119920" y="445284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SoC Die (CPU+GPU+NPU+ISP)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Shape 42"/>
            <p:cNvSpPr/>
            <p:nvPr/>
          </p:nvSpPr>
          <p:spPr>
            <a:xfrm>
              <a:off x="5119920" y="467208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f61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Text 43"/>
            <p:cNvSpPr/>
            <p:nvPr/>
          </p:nvSpPr>
          <p:spPr>
            <a:xfrm>
              <a:off x="5119920" y="4672080"/>
              <a:ext cx="385740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PCB Substrate (BGA balls)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4" name="Grupa 58"/>
          <p:cNvGrpSpPr/>
          <p:nvPr/>
        </p:nvGrpSpPr>
        <p:grpSpPr>
          <a:xfrm>
            <a:off x="315720" y="4358880"/>
            <a:ext cx="2154960" cy="582840"/>
            <a:chOff x="315720" y="4358880"/>
            <a:chExt cx="2154960" cy="582840"/>
          </a:xfrm>
        </p:grpSpPr>
        <p:sp>
          <p:nvSpPr>
            <p:cNvPr id="465" name="Shape 44"/>
            <p:cNvSpPr/>
            <p:nvPr/>
          </p:nvSpPr>
          <p:spPr>
            <a:xfrm>
              <a:off x="315720" y="4358880"/>
              <a:ext cx="2154960" cy="582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Shape 45"/>
            <p:cNvSpPr/>
            <p:nvPr/>
          </p:nvSpPr>
          <p:spPr>
            <a:xfrm>
              <a:off x="315720" y="4358880"/>
              <a:ext cx="2154960" cy="24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" bIns="72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Text 46"/>
            <p:cNvSpPr/>
            <p:nvPr/>
          </p:nvSpPr>
          <p:spPr>
            <a:xfrm>
              <a:off x="315720" y="4408560"/>
              <a:ext cx="2154960" cy="286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2200" b="1" u="none" strike="noStrike">
                  <a:solidFill>
                    <a:srgbClr val="00b4c5"/>
                  </a:solidFill>
                  <a:effectLst/>
                  <a:uFillTx/>
                  <a:latin typeface="Cambria"/>
                  <a:ea typeface="Cambria"/>
                </a:rPr>
                <a:t>136 GB/s</a:t>
              </a:r>
              <a:endParaRPr lang="pl-PL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Text 47"/>
            <p:cNvSpPr/>
            <p:nvPr/>
          </p:nvSpPr>
          <p:spPr>
            <a:xfrm>
              <a:off x="315720" y="4709880"/>
              <a:ext cx="2154960" cy="21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8bbad0"/>
                  </a:solidFill>
                  <a:effectLst/>
                  <a:uFillTx/>
                  <a:latin typeface="Calibri"/>
                  <a:ea typeface="Calibri"/>
                </a:rPr>
                <a:t>LPDDR5X BW</a:t>
              </a:r>
              <a:r>
                <a: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Noto Sans CJK SC"/>
                </a:rPr>
                <a:t> </a:t>
              </a:r>
              <a:r>
                <a:rPr lang="en-US" sz="1000" b="0" u="none" strike="noStrike">
                  <a:solidFill>
                    <a:srgbClr val="8bbad0"/>
                  </a:solidFill>
                  <a:effectLst/>
                  <a:uFillTx/>
                  <a:latin typeface="Calibri"/>
                  <a:ea typeface="Calibri"/>
                </a:rPr>
                <a:t>(128-bit)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9" name="Grupa 59"/>
          <p:cNvGrpSpPr/>
          <p:nvPr/>
        </p:nvGrpSpPr>
        <p:grpSpPr>
          <a:xfrm>
            <a:off x="2643120" y="4358880"/>
            <a:ext cx="2134800" cy="582840"/>
            <a:chOff x="2643120" y="4358880"/>
            <a:chExt cx="2134800" cy="582840"/>
          </a:xfrm>
        </p:grpSpPr>
        <p:sp>
          <p:nvSpPr>
            <p:cNvPr id="470" name="Shape 48"/>
            <p:cNvSpPr/>
            <p:nvPr/>
          </p:nvSpPr>
          <p:spPr>
            <a:xfrm>
              <a:off x="2643120" y="4358880"/>
              <a:ext cx="2134800" cy="582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Shape 49"/>
            <p:cNvSpPr/>
            <p:nvPr/>
          </p:nvSpPr>
          <p:spPr>
            <a:xfrm>
              <a:off x="2643120" y="4358880"/>
              <a:ext cx="2134800" cy="24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" bIns="72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Text 50"/>
            <p:cNvSpPr/>
            <p:nvPr/>
          </p:nvSpPr>
          <p:spPr>
            <a:xfrm>
              <a:off x="2643120" y="4408560"/>
              <a:ext cx="2134800" cy="286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2200" b="1" u="none" strike="noStrike">
                  <a:solidFill>
                    <a:srgbClr val="d6006a"/>
                  </a:solidFill>
                  <a:effectLst/>
                  <a:uFillTx/>
                  <a:latin typeface="Cambria"/>
                  <a:ea typeface="Cambria"/>
                </a:rPr>
                <a:t>4200 MB/s</a:t>
              </a:r>
              <a:endParaRPr lang="pl-PL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Text 51"/>
            <p:cNvSpPr/>
            <p:nvPr/>
          </p:nvSpPr>
          <p:spPr>
            <a:xfrm>
              <a:off x="2643120" y="4709880"/>
              <a:ext cx="2134800" cy="21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8bbad0"/>
                  </a:solidFill>
                  <a:effectLst/>
                  <a:uFillTx/>
                  <a:latin typeface="Calibri"/>
                  <a:ea typeface="Calibri"/>
                </a:rPr>
                <a:t>UFS 4.0</a:t>
              </a:r>
              <a:r>
                <a: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Noto Sans CJK SC"/>
                </a:rPr>
                <a:t> </a:t>
              </a:r>
              <a:r>
                <a:rPr lang="en-US" sz="1000" b="0" u="none" strike="noStrike">
                  <a:solidFill>
                    <a:srgbClr val="8bbad0"/>
                  </a:solidFill>
                  <a:effectLst/>
                  <a:uFillTx/>
                  <a:latin typeface="Calibri"/>
                  <a:ea typeface="Calibri"/>
                </a:rPr>
                <a:t>seq. odczyt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4" name="pole tekstowe 63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4B1CF9C9-26D6-44B9-825D-5103E576626D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Wyświetlacze urządzeń mobilnych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OLED, LTPO, ProMotion i HDR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"/>
          <p:cNvSpPr/>
          <p:nvPr/>
        </p:nvSpPr>
        <p:spPr>
          <a:xfrm>
            <a:off x="79920" y="901800"/>
            <a:ext cx="4458600" cy="670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Georgia Pro Cond"/>
                <a:ea typeface="Calibri"/>
              </a:rPr>
              <a:t>Wyświetlacz to największy konsument energii (40–60% baterii). Technologia panelu, odświeżanie i sterowanie PWM determinują zarówno jakość jak i żywotność baterii.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155880" y="1876320"/>
            <a:ext cx="4159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Technologie paneli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2" name="Grupa 57"/>
          <p:cNvGrpSpPr/>
          <p:nvPr/>
        </p:nvGrpSpPr>
        <p:grpSpPr>
          <a:xfrm>
            <a:off x="113400" y="2139120"/>
            <a:ext cx="4366440" cy="567000"/>
            <a:chOff x="113400" y="2139120"/>
            <a:chExt cx="4366440" cy="567000"/>
          </a:xfrm>
        </p:grpSpPr>
        <p:grpSp>
          <p:nvGrpSpPr>
            <p:cNvPr id="483" name="Grupa 56"/>
            <p:cNvGrpSpPr/>
            <p:nvPr/>
          </p:nvGrpSpPr>
          <p:grpSpPr>
            <a:xfrm>
              <a:off x="113400" y="2139120"/>
              <a:ext cx="4366440" cy="560880"/>
              <a:chOff x="113400" y="2139120"/>
              <a:chExt cx="4366440" cy="560880"/>
            </a:xfrm>
          </p:grpSpPr>
          <p:sp>
            <p:nvSpPr>
              <p:cNvPr id="484" name="Shape 7"/>
              <p:cNvSpPr/>
              <p:nvPr/>
            </p:nvSpPr>
            <p:spPr>
              <a:xfrm>
                <a:off x="113400" y="2143440"/>
                <a:ext cx="4366440" cy="556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Shape 8"/>
              <p:cNvSpPr/>
              <p:nvPr/>
            </p:nvSpPr>
            <p:spPr>
              <a:xfrm>
                <a:off x="113400" y="2139120"/>
                <a:ext cx="56520" cy="560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6" name="Text 9"/>
            <p:cNvSpPr/>
            <p:nvPr/>
          </p:nvSpPr>
          <p:spPr>
            <a:xfrm>
              <a:off x="248040" y="213912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AMOLED / Super AMOLED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Text 10"/>
            <p:cNvSpPr/>
            <p:nvPr/>
          </p:nvSpPr>
          <p:spPr>
            <a:xfrm>
              <a:off x="248040" y="2304360"/>
              <a:ext cx="4174560" cy="40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Active Matrix OLED. Każdy piksel = OLED dioda (R,G,B lub RGBW PenTile). Czarny = wyłączony = 0W. Kontrast ∞. Samsung produkuje ~70% rynku OLED.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8" name="Grupa 55"/>
          <p:cNvGrpSpPr/>
          <p:nvPr/>
        </p:nvGrpSpPr>
        <p:grpSpPr>
          <a:xfrm>
            <a:off x="113400" y="2764440"/>
            <a:ext cx="4366440" cy="590760"/>
            <a:chOff x="113400" y="2764440"/>
            <a:chExt cx="4366440" cy="590760"/>
          </a:xfrm>
        </p:grpSpPr>
        <p:grpSp>
          <p:nvGrpSpPr>
            <p:cNvPr id="489" name="Grupa 54"/>
            <p:cNvGrpSpPr/>
            <p:nvPr/>
          </p:nvGrpSpPr>
          <p:grpSpPr>
            <a:xfrm>
              <a:off x="113400" y="2764440"/>
              <a:ext cx="4366440" cy="590760"/>
              <a:chOff x="113400" y="2764440"/>
              <a:chExt cx="4366440" cy="590760"/>
            </a:xfrm>
          </p:grpSpPr>
          <p:sp>
            <p:nvSpPr>
              <p:cNvPr id="490" name="Shape 11"/>
              <p:cNvSpPr/>
              <p:nvPr/>
            </p:nvSpPr>
            <p:spPr>
              <a:xfrm>
                <a:off x="113400" y="2764440"/>
                <a:ext cx="4366440" cy="590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Shape 12"/>
              <p:cNvSpPr/>
              <p:nvPr/>
            </p:nvSpPr>
            <p:spPr>
              <a:xfrm>
                <a:off x="113400" y="2764440"/>
                <a:ext cx="56520" cy="590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2" name="Text 13"/>
            <p:cNvSpPr/>
            <p:nvPr/>
          </p:nvSpPr>
          <p:spPr>
            <a:xfrm>
              <a:off x="248040" y="2788920"/>
              <a:ext cx="4174560" cy="20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LTPO OLED (Low Temp Poly-Si Oxide)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Text 14"/>
            <p:cNvSpPr/>
            <p:nvPr/>
          </p:nvSpPr>
          <p:spPr>
            <a:xfrm>
              <a:off x="248040" y="2968560"/>
              <a:ext cx="4174560" cy="346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Tranzystory LTPS (szybkie) + IGZO (do 1Hz odświeżanie). Dynamiczny refresh 1–120Hz. Samsung E7 panel: iPhone 16 Pro, Galaxy S25 Ultra.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4" name="Grupa 53"/>
          <p:cNvGrpSpPr/>
          <p:nvPr/>
        </p:nvGrpSpPr>
        <p:grpSpPr>
          <a:xfrm>
            <a:off x="113400" y="3409200"/>
            <a:ext cx="4366440" cy="554400"/>
            <a:chOff x="113400" y="3409200"/>
            <a:chExt cx="4366440" cy="554400"/>
          </a:xfrm>
        </p:grpSpPr>
        <p:sp>
          <p:nvSpPr>
            <p:cNvPr id="495" name="Shape 15"/>
            <p:cNvSpPr/>
            <p:nvPr/>
          </p:nvSpPr>
          <p:spPr>
            <a:xfrm>
              <a:off x="113400" y="3409200"/>
              <a:ext cx="4366440" cy="554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Shape 16"/>
            <p:cNvSpPr/>
            <p:nvPr/>
          </p:nvSpPr>
          <p:spPr>
            <a:xfrm>
              <a:off x="113400" y="3409200"/>
              <a:ext cx="45720" cy="554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Text 17"/>
            <p:cNvSpPr/>
            <p:nvPr/>
          </p:nvSpPr>
          <p:spPr>
            <a:xfrm>
              <a:off x="248040" y="340920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Tandem OLED (iPad Pro M4)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Text 18"/>
            <p:cNvSpPr/>
            <p:nvPr/>
          </p:nvSpPr>
          <p:spPr>
            <a:xfrm>
              <a:off x="248040" y="3607560"/>
              <a:ext cx="4174560" cy="298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2 warstwy OLED w stos: 2× jasność przy tym samym prądzie lub ta sama jasność przy połowie prądu → dłuższa żywotność. Pierwsze masowe tandem OLED.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9" name="Grupa 52"/>
          <p:cNvGrpSpPr/>
          <p:nvPr/>
        </p:nvGrpSpPr>
        <p:grpSpPr>
          <a:xfrm>
            <a:off x="113400" y="4009320"/>
            <a:ext cx="4366440" cy="575640"/>
            <a:chOff x="113400" y="4009320"/>
            <a:chExt cx="4366440" cy="575640"/>
          </a:xfrm>
        </p:grpSpPr>
        <p:sp>
          <p:nvSpPr>
            <p:cNvPr id="500" name="Shape 19"/>
            <p:cNvSpPr/>
            <p:nvPr/>
          </p:nvSpPr>
          <p:spPr>
            <a:xfrm>
              <a:off x="113400" y="4009320"/>
              <a:ext cx="4366440" cy="575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Shape 20"/>
            <p:cNvSpPr/>
            <p:nvPr/>
          </p:nvSpPr>
          <p:spPr>
            <a:xfrm>
              <a:off x="113400" y="4009320"/>
              <a:ext cx="56520" cy="575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Text 21"/>
            <p:cNvSpPr/>
            <p:nvPr/>
          </p:nvSpPr>
          <p:spPr>
            <a:xfrm>
              <a:off x="248040" y="401616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IPS LCD (budżet/iPad mini)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Text 22"/>
            <p:cNvSpPr/>
            <p:nvPr/>
          </p:nvSpPr>
          <p:spPr>
            <a:xfrm>
              <a:off x="248040" y="4214520"/>
              <a:ext cx="4174560" cy="356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In-Plane Switching. Stałe podświetlenie → wyższe zużycie (zawsze 100% BL). Brak true black. Tańszy, mniej burn-in. iPad mini 6, iPhone SE 3.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4" name="Text 23"/>
          <p:cNvSpPr/>
          <p:nvPr/>
        </p:nvSpPr>
        <p:spPr>
          <a:xfrm>
            <a:off x="4663440" y="1042560"/>
            <a:ext cx="42055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Parametry i ich znaczenie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4"/>
          <p:cNvSpPr/>
          <p:nvPr/>
        </p:nvSpPr>
        <p:spPr>
          <a:xfrm>
            <a:off x="4663440" y="1316880"/>
            <a:ext cx="420552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5"/>
          <p:cNvSpPr/>
          <p:nvPr/>
        </p:nvSpPr>
        <p:spPr>
          <a:xfrm>
            <a:off x="4663440" y="1316880"/>
            <a:ext cx="5400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6"/>
          <p:cNvSpPr/>
          <p:nvPr/>
        </p:nvSpPr>
        <p:spPr>
          <a:xfrm>
            <a:off x="4791600" y="1338120"/>
            <a:ext cx="228528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PPI — rozdzielczość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7"/>
          <p:cNvSpPr/>
          <p:nvPr/>
        </p:nvSpPr>
        <p:spPr>
          <a:xfrm>
            <a:off x="7772400" y="1371600"/>
            <a:ext cx="100512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00b4c5"/>
                </a:solidFill>
                <a:effectLst/>
                <a:uFillTx/>
                <a:latin typeface="Consolas"/>
                <a:ea typeface="Consolas"/>
              </a:rPr>
              <a:t>460 ppi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8"/>
          <p:cNvSpPr/>
          <p:nvPr/>
        </p:nvSpPr>
        <p:spPr>
          <a:xfrm>
            <a:off x="4791600" y="1569240"/>
            <a:ext cx="39859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iPhone 16 Pro: 460 PPI. Retina = &gt;300 PPI z typowej odległości. Samsung Galaxy S25: 505 PPI (QHD+). 4K tablet: ~200 PPI (widziany dalej).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9"/>
          <p:cNvSpPr/>
          <p:nvPr/>
        </p:nvSpPr>
        <p:spPr>
          <a:xfrm>
            <a:off x="4663440" y="1974960"/>
            <a:ext cx="420552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30"/>
          <p:cNvSpPr/>
          <p:nvPr/>
        </p:nvSpPr>
        <p:spPr>
          <a:xfrm>
            <a:off x="4663440" y="1974960"/>
            <a:ext cx="5400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600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31"/>
          <p:cNvSpPr/>
          <p:nvPr/>
        </p:nvSpPr>
        <p:spPr>
          <a:xfrm>
            <a:off x="4791600" y="2030040"/>
            <a:ext cx="228528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LTPO — adaptacyjny refresh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2"/>
          <p:cNvSpPr/>
          <p:nvPr/>
        </p:nvSpPr>
        <p:spPr>
          <a:xfrm>
            <a:off x="7772400" y="2030040"/>
            <a:ext cx="100512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d6006a"/>
                </a:solidFill>
                <a:effectLst/>
                <a:uFillTx/>
                <a:latin typeface="Consolas"/>
                <a:ea typeface="Consolas"/>
              </a:rPr>
              <a:t>1–120 Hz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33"/>
          <p:cNvSpPr/>
          <p:nvPr/>
        </p:nvSpPr>
        <p:spPr>
          <a:xfrm>
            <a:off x="4791600" y="2267640"/>
            <a:ext cx="39859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AOD przy 1Hz. ScrolluUI 120Hz. Wideo 60Hz. Oszczędność 30–40% energii vs stałe 120Hz. iOS ProMotion; Android High Refresh Rate UI.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4"/>
          <p:cNvSpPr/>
          <p:nvPr/>
        </p:nvSpPr>
        <p:spPr>
          <a:xfrm>
            <a:off x="4663440" y="2633400"/>
            <a:ext cx="420552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5"/>
          <p:cNvSpPr/>
          <p:nvPr/>
        </p:nvSpPr>
        <p:spPr>
          <a:xfrm>
            <a:off x="4663440" y="2633400"/>
            <a:ext cx="5400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e9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36"/>
          <p:cNvSpPr/>
          <p:nvPr/>
        </p:nvSpPr>
        <p:spPr>
          <a:xfrm>
            <a:off x="4791600" y="2688480"/>
            <a:ext cx="228528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Peak brightness i HDR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7"/>
          <p:cNvSpPr/>
          <p:nvPr/>
        </p:nvSpPr>
        <p:spPr>
          <a:xfrm>
            <a:off x="7772400" y="2688480"/>
            <a:ext cx="100512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0e9a6b"/>
                </a:solidFill>
                <a:effectLst/>
                <a:uFillTx/>
                <a:latin typeface="Consolas"/>
                <a:ea typeface="Consolas"/>
              </a:rPr>
              <a:t>2000–4000 nit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8"/>
          <p:cNvSpPr/>
          <p:nvPr/>
        </p:nvSpPr>
        <p:spPr>
          <a:xfrm>
            <a:off x="4791600" y="2926080"/>
            <a:ext cx="39859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HDR10+, Dolby Vision. Peak 2000–4000 nit outdoor. SDR 600–800 nit. Apple Super Retina: 2000 nit peak HDR.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9"/>
          <p:cNvSpPr/>
          <p:nvPr/>
        </p:nvSpPr>
        <p:spPr>
          <a:xfrm>
            <a:off x="4663440" y="3291840"/>
            <a:ext cx="420552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40"/>
          <p:cNvSpPr/>
          <p:nvPr/>
        </p:nvSpPr>
        <p:spPr>
          <a:xfrm>
            <a:off x="4663440" y="3291840"/>
            <a:ext cx="5400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41"/>
          <p:cNvSpPr/>
          <p:nvPr/>
        </p:nvSpPr>
        <p:spPr>
          <a:xfrm>
            <a:off x="4791600" y="3346560"/>
            <a:ext cx="228528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Delta-E i gamut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42"/>
          <p:cNvSpPr/>
          <p:nvPr/>
        </p:nvSpPr>
        <p:spPr>
          <a:xfrm>
            <a:off x="7772400" y="3346560"/>
            <a:ext cx="100512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6d28d9"/>
                </a:solidFill>
                <a:effectLst/>
                <a:uFillTx/>
                <a:latin typeface="Consolas"/>
                <a:ea typeface="Consolas"/>
              </a:rPr>
              <a:t>ΔE &lt; 1, P3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43"/>
          <p:cNvSpPr/>
          <p:nvPr/>
        </p:nvSpPr>
        <p:spPr>
          <a:xfrm>
            <a:off x="4791600" y="3584520"/>
            <a:ext cx="39859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ΔE&lt;1: niezauważalna różnica kolorów dla oka. P3 Wide Color (25% więcej niż sRGB). Kalibracja fabryczna per-device na Apple.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44"/>
          <p:cNvSpPr/>
          <p:nvPr/>
        </p:nvSpPr>
        <p:spPr>
          <a:xfrm>
            <a:off x="4663440" y="3950280"/>
            <a:ext cx="420552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5"/>
          <p:cNvSpPr/>
          <p:nvPr/>
        </p:nvSpPr>
        <p:spPr>
          <a:xfrm>
            <a:off x="4663440" y="3950280"/>
            <a:ext cx="54000" cy="58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47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46"/>
          <p:cNvSpPr/>
          <p:nvPr/>
        </p:nvSpPr>
        <p:spPr>
          <a:xfrm>
            <a:off x="4791600" y="4005000"/>
            <a:ext cx="228528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PWM dimming i AOD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47"/>
          <p:cNvSpPr/>
          <p:nvPr/>
        </p:nvSpPr>
        <p:spPr>
          <a:xfrm>
            <a:off x="7772400" y="4005000"/>
            <a:ext cx="1005120" cy="200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c47a00"/>
                </a:solidFill>
                <a:effectLst/>
                <a:uFillTx/>
                <a:latin typeface="Consolas"/>
                <a:ea typeface="Consolas"/>
              </a:rPr>
              <a:t>&gt;1440 Hz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48"/>
          <p:cNvSpPr/>
          <p:nvPr/>
        </p:nvSpPr>
        <p:spPr>
          <a:xfrm>
            <a:off x="4791600" y="4242960"/>
            <a:ext cx="39859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PWM &lt;240Hz → migotanie widoczne przy niskiej jasności. Flagship: 1440Hz+ lub DC dimming powyżej 20%. AOD = 1Hz LTPO + wyłączone RGB = &lt;5mW.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49"/>
          <p:cNvSpPr/>
          <p:nvPr/>
        </p:nvSpPr>
        <p:spPr>
          <a:xfrm>
            <a:off x="320040" y="4700520"/>
            <a:ext cx="8503200" cy="236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0f7fa"/>
          </a:solidFill>
          <a:ln w="12600">
            <a:solidFill>
              <a:srgbClr val="00b4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0"/>
          <p:cNvSpPr/>
          <p:nvPr/>
        </p:nvSpPr>
        <p:spPr>
          <a:xfrm>
            <a:off x="457200" y="4735800"/>
            <a:ext cx="8320320" cy="146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💡</a:t>
            </a:r>
            <a:r>
              <a:rPr lang="pl-PL" sz="900" b="0" u="none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  LTPO E7 (Samsung) używa IGZO TFT — może utrzymać stan piksela bez odświeżania (charge retention). To umożliwia 1Hz AOD bez zużycia prądu przełączania.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ole tekstowe 5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9DA5C2CC-D95A-4DB4-92F0-120895A3CC89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System kamer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Sensor Stack, ISP, OIS i Computational Photography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5"/>
          <p:cNvSpPr/>
          <p:nvPr/>
        </p:nvSpPr>
        <p:spPr>
          <a:xfrm>
            <a:off x="170280" y="736200"/>
            <a:ext cx="4101480" cy="888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Georgia Pro Cond"/>
                <a:ea typeface="Calibri"/>
              </a:rPr>
              <a:t>Aparat to główny wyróżnik flagowych smartfonów. Kluczem nie jest sam sensor, to ISP i algorytmy computational photography decydują o jakości finalnego zdjęcia.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190440" y="1945800"/>
            <a:ext cx="4231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Stos systemu kamer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0" name="Grupa 52"/>
          <p:cNvGrpSpPr/>
          <p:nvPr/>
        </p:nvGrpSpPr>
        <p:grpSpPr>
          <a:xfrm>
            <a:off x="113400" y="2176920"/>
            <a:ext cx="4366440" cy="546120"/>
            <a:chOff x="113400" y="2176920"/>
            <a:chExt cx="4366440" cy="546120"/>
          </a:xfrm>
        </p:grpSpPr>
        <p:sp>
          <p:nvSpPr>
            <p:cNvPr id="541" name="Shape 7"/>
            <p:cNvSpPr/>
            <p:nvPr/>
          </p:nvSpPr>
          <p:spPr>
            <a:xfrm>
              <a:off x="113400" y="2183760"/>
              <a:ext cx="4366440" cy="539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Shape 8"/>
            <p:cNvSpPr/>
            <p:nvPr/>
          </p:nvSpPr>
          <p:spPr>
            <a:xfrm>
              <a:off x="113400" y="2183760"/>
              <a:ext cx="56520" cy="539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Text 9"/>
            <p:cNvSpPr/>
            <p:nvPr/>
          </p:nvSpPr>
          <p:spPr>
            <a:xfrm>
              <a:off x="248040" y="217692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Optyka (soczewka, apertura, AF)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Text 10"/>
            <p:cNvSpPr/>
            <p:nvPr/>
          </p:nvSpPr>
          <p:spPr>
            <a:xfrm>
              <a:off x="248040" y="2415240"/>
              <a:ext cx="4174560" cy="273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f/1.6 – f/4.9. 5–9 soczewek szklanych (ED, aspheryczne). Laser AF + PDAF (phase detect). Peryskop: 5–10× optyczny. Mniejsza f-liczba = więcej światła.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5" name="Grupa 51"/>
          <p:cNvGrpSpPr/>
          <p:nvPr/>
        </p:nvGrpSpPr>
        <p:grpSpPr>
          <a:xfrm>
            <a:off x="113400" y="2763720"/>
            <a:ext cx="4366440" cy="523080"/>
            <a:chOff x="113400" y="2763720"/>
            <a:chExt cx="4366440" cy="523080"/>
          </a:xfrm>
        </p:grpSpPr>
        <p:sp>
          <p:nvSpPr>
            <p:cNvPr id="546" name="Shape 11"/>
            <p:cNvSpPr/>
            <p:nvPr/>
          </p:nvSpPr>
          <p:spPr>
            <a:xfrm>
              <a:off x="113400" y="2768040"/>
              <a:ext cx="4366440" cy="518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Shape 12"/>
            <p:cNvSpPr/>
            <p:nvPr/>
          </p:nvSpPr>
          <p:spPr>
            <a:xfrm>
              <a:off x="113400" y="2768040"/>
              <a:ext cx="56520" cy="518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Text 13"/>
            <p:cNvSpPr/>
            <p:nvPr/>
          </p:nvSpPr>
          <p:spPr>
            <a:xfrm>
              <a:off x="248040" y="276372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Sensor CMOS (BSI, Stacked DRAM)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Text 14"/>
            <p:cNvSpPr/>
            <p:nvPr/>
          </p:nvSpPr>
          <p:spPr>
            <a:xfrm>
              <a:off x="190440" y="2979000"/>
              <a:ext cx="4231800" cy="268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Sony IMX/Samsung GN. BSI (</a:t>
              </a:r>
              <a:r>
                <a:rPr lang="pl-PL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</a:t>
              </a: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ack-</a:t>
              </a:r>
              <a:r>
                <a:rPr lang="pl-PL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</a:t>
              </a: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ide Illum</a:t>
              </a:r>
              <a:r>
                <a:rPr lang="pl-PL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.</a:t>
              </a: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): fotodiody bliżej soczewki → 35% więcej fotonów. Stacked: DRAM layer pod sensorem → szybki readout bez rolling shutter.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0" name="Grupa 48"/>
          <p:cNvGrpSpPr/>
          <p:nvPr/>
        </p:nvGrpSpPr>
        <p:grpSpPr>
          <a:xfrm>
            <a:off x="113400" y="3324240"/>
            <a:ext cx="4366440" cy="523080"/>
            <a:chOff x="113400" y="3324240"/>
            <a:chExt cx="4366440" cy="523080"/>
          </a:xfrm>
        </p:grpSpPr>
        <p:sp>
          <p:nvSpPr>
            <p:cNvPr id="551" name="Shape 15"/>
            <p:cNvSpPr/>
            <p:nvPr/>
          </p:nvSpPr>
          <p:spPr>
            <a:xfrm>
              <a:off x="113400" y="3324240"/>
              <a:ext cx="4366440" cy="523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Shape 16"/>
            <p:cNvSpPr/>
            <p:nvPr/>
          </p:nvSpPr>
          <p:spPr>
            <a:xfrm>
              <a:off x="113400" y="3324240"/>
              <a:ext cx="56520" cy="523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3" name="Text 17"/>
            <p:cNvSpPr/>
            <p:nvPr/>
          </p:nvSpPr>
          <p:spPr>
            <a:xfrm>
              <a:off x="248040" y="332424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ISP (Image Signal Processor)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Text 18"/>
            <p:cNvSpPr/>
            <p:nvPr/>
          </p:nvSpPr>
          <p:spPr>
            <a:xfrm>
              <a:off x="248040" y="3543120"/>
              <a:ext cx="4174560" cy="273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Hardware pipeline: BLC → Demosaic (Bayer→RGB) → NR → AWB → AE → AF → Sharpening → HDR → Encode. 4K60fps: 800 Mpix/s processing.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5" name="Grupa 49"/>
          <p:cNvGrpSpPr/>
          <p:nvPr/>
        </p:nvGrpSpPr>
        <p:grpSpPr>
          <a:xfrm>
            <a:off x="113400" y="3888000"/>
            <a:ext cx="4366440" cy="492480"/>
            <a:chOff x="113400" y="3888000"/>
            <a:chExt cx="4366440" cy="492480"/>
          </a:xfrm>
        </p:grpSpPr>
        <p:sp>
          <p:nvSpPr>
            <p:cNvPr id="556" name="Shape 19"/>
            <p:cNvSpPr/>
            <p:nvPr/>
          </p:nvSpPr>
          <p:spPr>
            <a:xfrm>
              <a:off x="113400" y="3898080"/>
              <a:ext cx="4366440" cy="482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Shape 20"/>
            <p:cNvSpPr/>
            <p:nvPr/>
          </p:nvSpPr>
          <p:spPr>
            <a:xfrm>
              <a:off x="113400" y="3898080"/>
              <a:ext cx="56520" cy="482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Text 21"/>
            <p:cNvSpPr/>
            <p:nvPr/>
          </p:nvSpPr>
          <p:spPr>
            <a:xfrm>
              <a:off x="248040" y="3888000"/>
              <a:ext cx="4174560" cy="216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Computational Photography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Text 22"/>
            <p:cNvSpPr/>
            <p:nvPr/>
          </p:nvSpPr>
          <p:spPr>
            <a:xfrm>
              <a:off x="248040" y="4096080"/>
              <a:ext cx="4174560" cy="250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Deep Fusion (Apple): wielokrotna ekspozycja + ML merge przed kompresją. Night Sight (Google): wiele klatek + align + NR. HDR+: tone mapping neural.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0" name="Grupa 50"/>
          <p:cNvGrpSpPr/>
          <p:nvPr/>
        </p:nvGrpSpPr>
        <p:grpSpPr>
          <a:xfrm>
            <a:off x="113400" y="4404600"/>
            <a:ext cx="4366440" cy="537840"/>
            <a:chOff x="113400" y="4404600"/>
            <a:chExt cx="4366440" cy="537840"/>
          </a:xfrm>
        </p:grpSpPr>
        <p:sp>
          <p:nvSpPr>
            <p:cNvPr id="561" name="Shape 23"/>
            <p:cNvSpPr/>
            <p:nvPr/>
          </p:nvSpPr>
          <p:spPr>
            <a:xfrm>
              <a:off x="113400" y="4408560"/>
              <a:ext cx="4366440" cy="52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Shape 24"/>
            <p:cNvSpPr/>
            <p:nvPr/>
          </p:nvSpPr>
          <p:spPr>
            <a:xfrm>
              <a:off x="113400" y="4416840"/>
              <a:ext cx="56520" cy="52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Text 25"/>
            <p:cNvSpPr/>
            <p:nvPr/>
          </p:nvSpPr>
          <p:spPr>
            <a:xfrm>
              <a:off x="248040" y="4404600"/>
              <a:ext cx="41745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Kodek i zapis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Text 26"/>
            <p:cNvSpPr/>
            <p:nvPr/>
          </p:nvSpPr>
          <p:spPr>
            <a:xfrm>
              <a:off x="248040" y="4629600"/>
              <a:ext cx="4174560" cy="273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HEIF (H.265 bazowany): 50% mniejszy vs JPEG przy tej samej jakości. Apple Log / HLG HDR video. ProRes RAW 12-bit 48MP. ProRes 4K120fps.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5" name="Text 27"/>
          <p:cNvSpPr/>
          <p:nvPr/>
        </p:nvSpPr>
        <p:spPr>
          <a:xfrm>
            <a:off x="4685400" y="655920"/>
            <a:ext cx="418356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OIS i sensor systemów kamer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8"/>
          <p:cNvSpPr/>
          <p:nvPr/>
        </p:nvSpPr>
        <p:spPr>
          <a:xfrm>
            <a:off x="4685400" y="917640"/>
            <a:ext cx="4183560" cy="2204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9"/>
          <p:cNvSpPr/>
          <p:nvPr/>
        </p:nvSpPr>
        <p:spPr>
          <a:xfrm>
            <a:off x="7923600" y="959400"/>
            <a:ext cx="913680" cy="18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scadia Code Light"/>
                <a:ea typeface="Calibri"/>
              </a:rPr>
              <a:t>Kotlin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30"/>
          <p:cNvSpPr/>
          <p:nvPr/>
        </p:nvSpPr>
        <p:spPr>
          <a:xfrm>
            <a:off x="4757400" y="937440"/>
            <a:ext cx="4001040" cy="2030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OIS — Optical Image Stabilization (HW)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Żyroskop IMU @8000Hz → drganie → korekta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Aktuator magnetyczny: soczewka lub sensor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Kompensacja: ±2–3° angular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Latencja: &lt; 10ms (hardware closed-loop)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Sensor-Shift OIS (iPhone 13+):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Sensor porusza się (nie soczewka) — 5000×/s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Zakres: ±2mm — kompensuje ruchy ciała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EIS (Electronic — software):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Bufor 120% FOV → crop 100% (1.2× overhead)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Gyro-fused per-frame warp: homografia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Apple Action Mode = hybrid OIS+EIS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ProRes RAW pipeline: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48MP RAW Bayer → minimal ISP (no NR)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→ lossless compression → .DNG/ProRes RAW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85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Pełna kontrola post-production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9" name="Grupa 56"/>
          <p:cNvGrpSpPr/>
          <p:nvPr/>
        </p:nvGrpSpPr>
        <p:grpSpPr>
          <a:xfrm>
            <a:off x="4685400" y="3163680"/>
            <a:ext cx="4183560" cy="440280"/>
            <a:chOff x="4685400" y="3163680"/>
            <a:chExt cx="4183560" cy="440280"/>
          </a:xfrm>
        </p:grpSpPr>
        <p:sp>
          <p:nvSpPr>
            <p:cNvPr id="570" name="Shape 31"/>
            <p:cNvSpPr/>
            <p:nvPr/>
          </p:nvSpPr>
          <p:spPr>
            <a:xfrm>
              <a:off x="4685400" y="3164040"/>
              <a:ext cx="4183560" cy="439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Shape 32"/>
            <p:cNvSpPr/>
            <p:nvPr/>
          </p:nvSpPr>
          <p:spPr>
            <a:xfrm>
              <a:off x="4685400" y="3163680"/>
              <a:ext cx="48600" cy="440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Text 33"/>
            <p:cNvSpPr/>
            <p:nvPr/>
          </p:nvSpPr>
          <p:spPr>
            <a:xfrm>
              <a:off x="4803120" y="3170880"/>
              <a:ext cx="4001400" cy="171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Sony IMX989 (1-cal sensor)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Text 34"/>
            <p:cNvSpPr/>
            <p:nvPr/>
          </p:nvSpPr>
          <p:spPr>
            <a:xfrm>
              <a:off x="4812840" y="3366720"/>
              <a:ext cx="4001400" cy="210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Xiaomi 13 Ultra. 1" sensor, większy od pełnoramkowych kompaktów. ISO 6400 f/1.9. 8K video. Większy piksel = więcej fotonów = lepsze zdjęcia nocne.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4" name="Grupa 55"/>
          <p:cNvGrpSpPr/>
          <p:nvPr/>
        </p:nvGrpSpPr>
        <p:grpSpPr>
          <a:xfrm>
            <a:off x="4685400" y="3612240"/>
            <a:ext cx="4183560" cy="453960"/>
            <a:chOff x="4685400" y="3612240"/>
            <a:chExt cx="4183560" cy="453960"/>
          </a:xfrm>
        </p:grpSpPr>
        <p:sp>
          <p:nvSpPr>
            <p:cNvPr id="575" name="Shape 35"/>
            <p:cNvSpPr/>
            <p:nvPr/>
          </p:nvSpPr>
          <p:spPr>
            <a:xfrm>
              <a:off x="4685400" y="3626280"/>
              <a:ext cx="4183560" cy="439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Shape 36"/>
            <p:cNvSpPr/>
            <p:nvPr/>
          </p:nvSpPr>
          <p:spPr>
            <a:xfrm>
              <a:off x="4685400" y="3626280"/>
              <a:ext cx="53640" cy="439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Text 37"/>
            <p:cNvSpPr/>
            <p:nvPr/>
          </p:nvSpPr>
          <p:spPr>
            <a:xfrm>
              <a:off x="4812840" y="3612240"/>
              <a:ext cx="4001400" cy="21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Samsung 200MP HP9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Text 38"/>
            <p:cNvSpPr/>
            <p:nvPr/>
          </p:nvSpPr>
          <p:spPr>
            <a:xfrm>
              <a:off x="4812840" y="3829320"/>
              <a:ext cx="4001400" cy="209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0.56μm pixel. Nona-Binning (9→1): 200MP → 12.5MP w ciemności. ISOCELL DTI: isolation między pikselami → brak crosstalk.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9" name="Grupa 54"/>
          <p:cNvGrpSpPr/>
          <p:nvPr/>
        </p:nvGrpSpPr>
        <p:grpSpPr>
          <a:xfrm>
            <a:off x="4685400" y="4080960"/>
            <a:ext cx="4183560" cy="420840"/>
            <a:chOff x="4685400" y="4080960"/>
            <a:chExt cx="4183560" cy="420840"/>
          </a:xfrm>
        </p:grpSpPr>
        <p:sp>
          <p:nvSpPr>
            <p:cNvPr id="580" name="Shape 39"/>
            <p:cNvSpPr/>
            <p:nvPr/>
          </p:nvSpPr>
          <p:spPr>
            <a:xfrm>
              <a:off x="4685400" y="4093200"/>
              <a:ext cx="4183560" cy="408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Shape 40"/>
            <p:cNvSpPr/>
            <p:nvPr/>
          </p:nvSpPr>
          <p:spPr>
            <a:xfrm>
              <a:off x="4685400" y="4093200"/>
              <a:ext cx="53640" cy="408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Text 41"/>
            <p:cNvSpPr/>
            <p:nvPr/>
          </p:nvSpPr>
          <p:spPr>
            <a:xfrm>
              <a:off x="4812840" y="4080960"/>
              <a:ext cx="4001400" cy="17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Peryskop teleobiektyw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Text 42"/>
            <p:cNvSpPr/>
            <p:nvPr/>
          </p:nvSpPr>
          <p:spPr>
            <a:xfrm>
              <a:off x="4812840" y="4285080"/>
              <a:ext cx="4001400" cy="185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Fold: 5–10× optical. Huawei P60 Pro: 10× optical 300mm equiv. Ciągły zoom elektroniczny F1.4–F4.0 regulowana przesłona. OIS wbudowany.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4" name="Grupa 53"/>
          <p:cNvGrpSpPr/>
          <p:nvPr/>
        </p:nvGrpSpPr>
        <p:grpSpPr>
          <a:xfrm>
            <a:off x="4685400" y="4528800"/>
            <a:ext cx="4183560" cy="401760"/>
            <a:chOff x="4685400" y="4528800"/>
            <a:chExt cx="4183560" cy="401760"/>
          </a:xfrm>
        </p:grpSpPr>
        <p:sp>
          <p:nvSpPr>
            <p:cNvPr id="585" name="Shape 43"/>
            <p:cNvSpPr/>
            <p:nvPr/>
          </p:nvSpPr>
          <p:spPr>
            <a:xfrm>
              <a:off x="4685400" y="4528800"/>
              <a:ext cx="4183560" cy="40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Shape 44"/>
            <p:cNvSpPr/>
            <p:nvPr/>
          </p:nvSpPr>
          <p:spPr>
            <a:xfrm>
              <a:off x="4685400" y="4528800"/>
              <a:ext cx="53640" cy="40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Text 45"/>
            <p:cNvSpPr/>
            <p:nvPr/>
          </p:nvSpPr>
          <p:spPr>
            <a:xfrm>
              <a:off x="4812840" y="4544280"/>
              <a:ext cx="4001400" cy="144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LiDAR Scanner (iPhone Pro)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Text 46"/>
            <p:cNvSpPr/>
            <p:nvPr/>
          </p:nvSpPr>
          <p:spPr>
            <a:xfrm>
              <a:off x="4812840" y="4689000"/>
              <a:ext cx="4001400" cy="227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dToF: czas lotu fotonów IR. Zasięg 5m. AR plane detection &lt; 1s. Portrety </a:t>
              </a:r>
              <a:br>
                <a:rPr sz="1000"/>
              </a:b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w ciemności (głębokość AI AF). Spatial 3D scanning aplikacje.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9" name="pole tekstowe 5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7F2554E8-1E6A-4243-AF07-31110C38EB2A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Łączność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5G, WiFi 7, Bluetooth 5.4, NFC i UWB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5"/>
          <p:cNvSpPr/>
          <p:nvPr/>
        </p:nvSpPr>
        <p:spPr>
          <a:xfrm>
            <a:off x="623880" y="819720"/>
            <a:ext cx="7560000" cy="828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ts val="2200"/>
              </a:lnSpc>
              <a:tabLst>
                <a:tab algn="l" pos="0"/>
              </a:tabLst>
            </a:pPr>
            <a:r>
              <a:rPr lang="pl-PL" sz="1800" b="0" u="none" spc="-20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Nowoczesny smartfon zawiera 7+ modułów bezprzewodowych. Zarządzanie ich współpracą (coexistence: BT+WiFi+5G na tej samej antenie) to złożony problem inżynierski.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6" name="Grupa 46"/>
          <p:cNvGrpSpPr/>
          <p:nvPr/>
        </p:nvGrpSpPr>
        <p:grpSpPr>
          <a:xfrm>
            <a:off x="79920" y="1935360"/>
            <a:ext cx="4323960" cy="948240"/>
            <a:chOff x="79920" y="1935360"/>
            <a:chExt cx="4323960" cy="948240"/>
          </a:xfrm>
        </p:grpSpPr>
        <p:sp>
          <p:nvSpPr>
            <p:cNvPr id="597" name="Shape 6"/>
            <p:cNvSpPr/>
            <p:nvPr/>
          </p:nvSpPr>
          <p:spPr>
            <a:xfrm>
              <a:off x="79920" y="1935360"/>
              <a:ext cx="4323960" cy="94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Shape 7"/>
            <p:cNvSpPr/>
            <p:nvPr/>
          </p:nvSpPr>
          <p:spPr>
            <a:xfrm>
              <a:off x="79920" y="1935360"/>
              <a:ext cx="55080" cy="94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Text 8"/>
            <p:cNvSpPr/>
            <p:nvPr/>
          </p:nvSpPr>
          <p:spPr>
            <a:xfrm>
              <a:off x="210600" y="1977120"/>
              <a:ext cx="2789280" cy="183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5G NR (New Radio)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Text 9"/>
            <p:cNvSpPr/>
            <p:nvPr/>
          </p:nvSpPr>
          <p:spPr>
            <a:xfrm>
              <a:off x="3149280" y="1977120"/>
              <a:ext cx="1152720" cy="183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4 Gbit/s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Text 10"/>
            <p:cNvSpPr/>
            <p:nvPr/>
          </p:nvSpPr>
          <p:spPr>
            <a:xfrm>
              <a:off x="210600" y="2203560"/>
              <a:ext cx="3998160" cy="150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alibri"/>
                  <a:ea typeface="Calibri"/>
                </a:rPr>
                <a:t>📡 Sub-6GHz + mmWave</a:t>
              </a: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0" u="none" strike="noStrike">
                  <a:solidFill>
                    <a:srgbClr val="00b4c5"/>
                  </a:solidFill>
                  <a:effectLst/>
                  <a:uFillTx/>
                  <a:latin typeface="Calibri"/>
                  <a:ea typeface="Calibri"/>
                </a:rPr>
                <a:t> ⏱ &lt; 1ms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Text 11"/>
            <p:cNvSpPr/>
            <p:nvPr/>
          </p:nvSpPr>
          <p:spPr>
            <a:xfrm>
              <a:off x="210600" y="2389680"/>
              <a:ext cx="4091400" cy="46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pc="-1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3GPP Release 15–18. Sub-6: 700MHz–6GHz do 1 Gbit/s. mmWave: 24–100GHz, 10 Gbit/s, zasięg &lt;200m. SA vs NSA. Modem X75 / Apple C1.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3" name="Grupa 45"/>
          <p:cNvGrpSpPr/>
          <p:nvPr/>
        </p:nvGrpSpPr>
        <p:grpSpPr>
          <a:xfrm>
            <a:off x="4511160" y="1935360"/>
            <a:ext cx="4538880" cy="948240"/>
            <a:chOff x="4511160" y="1935360"/>
            <a:chExt cx="4538880" cy="948240"/>
          </a:xfrm>
        </p:grpSpPr>
        <p:sp>
          <p:nvSpPr>
            <p:cNvPr id="604" name="Shape 12"/>
            <p:cNvSpPr/>
            <p:nvPr/>
          </p:nvSpPr>
          <p:spPr>
            <a:xfrm>
              <a:off x="4511160" y="1935360"/>
              <a:ext cx="4538880" cy="94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Shape 13"/>
            <p:cNvSpPr/>
            <p:nvPr/>
          </p:nvSpPr>
          <p:spPr>
            <a:xfrm>
              <a:off x="4511160" y="1935360"/>
              <a:ext cx="57600" cy="94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Text 14"/>
            <p:cNvSpPr/>
            <p:nvPr/>
          </p:nvSpPr>
          <p:spPr>
            <a:xfrm>
              <a:off x="4647600" y="1973520"/>
              <a:ext cx="2928240" cy="168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WiFi 7 (802.11be)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Text 15"/>
            <p:cNvSpPr/>
            <p:nvPr/>
          </p:nvSpPr>
          <p:spPr>
            <a:xfrm>
              <a:off x="8092800" y="1973520"/>
              <a:ext cx="835200" cy="168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46 Gbit/s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Text 16"/>
            <p:cNvSpPr/>
            <p:nvPr/>
          </p:nvSpPr>
          <p:spPr>
            <a:xfrm>
              <a:off x="4647600" y="2181600"/>
              <a:ext cx="4197240" cy="137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d6006a"/>
                  </a:solidFill>
                  <a:effectLst/>
                  <a:uFillTx/>
                  <a:latin typeface="Calibri"/>
                  <a:ea typeface="Calibri"/>
                </a:rPr>
                <a:t>📡 2.4 / 5 / 6 GHz</a:t>
              </a:r>
              <a:r>
                <a:rPr lang="pl-PL" sz="950" b="0" u="none" strike="noStrike">
                  <a:solidFill>
                    <a:srgbClr val="d6006a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0" u="none" strike="noStrike">
                  <a:solidFill>
                    <a:srgbClr val="d6006a"/>
                  </a:solidFill>
                  <a:effectLst/>
                  <a:uFillTx/>
                  <a:latin typeface="Calibri"/>
                  <a:ea typeface="Calibri"/>
                </a:rPr>
                <a:t> ⏱ &lt; 5ms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Text 17"/>
            <p:cNvSpPr/>
            <p:nvPr/>
          </p:nvSpPr>
          <p:spPr>
            <a:xfrm>
              <a:off x="4647600" y="2319840"/>
              <a:ext cx="4295160" cy="510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Multi-Link Operation (MLO): jednoczesny odbiór na kilku pasmach. 4096-QAM. 320MHz kanały. HARQ retransmission. Wymaga WiFi 7 router.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0" name="Grupa 47"/>
          <p:cNvGrpSpPr/>
          <p:nvPr/>
        </p:nvGrpSpPr>
        <p:grpSpPr>
          <a:xfrm>
            <a:off x="79920" y="2977920"/>
            <a:ext cx="4323960" cy="947520"/>
            <a:chOff x="79920" y="2977920"/>
            <a:chExt cx="4323960" cy="947520"/>
          </a:xfrm>
        </p:grpSpPr>
        <p:sp>
          <p:nvSpPr>
            <p:cNvPr id="611" name="Shape 18"/>
            <p:cNvSpPr/>
            <p:nvPr/>
          </p:nvSpPr>
          <p:spPr>
            <a:xfrm>
              <a:off x="79920" y="2977920"/>
              <a:ext cx="4323960" cy="947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Shape 19"/>
            <p:cNvSpPr/>
            <p:nvPr/>
          </p:nvSpPr>
          <p:spPr>
            <a:xfrm>
              <a:off x="79920" y="2977920"/>
              <a:ext cx="55080" cy="947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Text 20"/>
            <p:cNvSpPr/>
            <p:nvPr/>
          </p:nvSpPr>
          <p:spPr>
            <a:xfrm>
              <a:off x="210600" y="3014640"/>
              <a:ext cx="2789280" cy="16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Bluetooth 5.4 / LE Audio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Text 21"/>
            <p:cNvSpPr/>
            <p:nvPr/>
          </p:nvSpPr>
          <p:spPr>
            <a:xfrm>
              <a:off x="3149280" y="3014640"/>
              <a:ext cx="1152720" cy="16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0e9a6b"/>
                  </a:solidFill>
                  <a:effectLst/>
                  <a:uFillTx/>
                  <a:latin typeface="Consolas"/>
                  <a:ea typeface="Consolas"/>
                </a:rPr>
                <a:t>2 Mbit/s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Text 22"/>
            <p:cNvSpPr/>
            <p:nvPr/>
          </p:nvSpPr>
          <p:spPr>
            <a:xfrm>
              <a:off x="210600" y="3214800"/>
              <a:ext cx="3998160" cy="132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e9a6b"/>
                  </a:solidFill>
                  <a:effectLst/>
                  <a:uFillTx/>
                  <a:latin typeface="Calibri"/>
                  <a:ea typeface="Calibri"/>
                </a:rPr>
                <a:t>📡 2.4 GHz</a:t>
              </a:r>
              <a:r>
                <a:rPr lang="pl-PL" sz="950" b="0" u="none" strike="noStrike">
                  <a:solidFill>
                    <a:srgbClr val="0e9a6b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0" u="none" strike="noStrike">
                  <a:solidFill>
                    <a:srgbClr val="0e9a6b"/>
                  </a:solidFill>
                  <a:effectLst/>
                  <a:uFillTx/>
                  <a:latin typeface="Calibri"/>
                  <a:ea typeface="Calibri"/>
                </a:rPr>
                <a:t> ⏱ &lt; 10ms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Text 23"/>
            <p:cNvSpPr/>
            <p:nvPr/>
          </p:nvSpPr>
          <p:spPr>
            <a:xfrm>
              <a:off x="210600" y="3433320"/>
              <a:ext cx="4091400" cy="40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LE Audio: LC3 kodek</a:t>
              </a:r>
              <a:r>
                <a:rPr lang="pl-PL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,</a:t>
              </a: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lepsza jakość przy 50% mniejszym rozmiarze. Auracast broadcasting 1→N odbiorców. BIS dla hearing aids standardowych.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7" name="Grupa 44"/>
          <p:cNvGrpSpPr/>
          <p:nvPr/>
        </p:nvGrpSpPr>
        <p:grpSpPr>
          <a:xfrm>
            <a:off x="4511160" y="2976840"/>
            <a:ext cx="4538880" cy="948240"/>
            <a:chOff x="4511160" y="2976840"/>
            <a:chExt cx="4538880" cy="948240"/>
          </a:xfrm>
        </p:grpSpPr>
        <p:sp>
          <p:nvSpPr>
            <p:cNvPr id="618" name="Shape 24"/>
            <p:cNvSpPr/>
            <p:nvPr/>
          </p:nvSpPr>
          <p:spPr>
            <a:xfrm>
              <a:off x="4511160" y="2976840"/>
              <a:ext cx="4538880" cy="94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Shape 25"/>
            <p:cNvSpPr/>
            <p:nvPr/>
          </p:nvSpPr>
          <p:spPr>
            <a:xfrm>
              <a:off x="4511160" y="2976840"/>
              <a:ext cx="57600" cy="94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Text 26"/>
            <p:cNvSpPr/>
            <p:nvPr/>
          </p:nvSpPr>
          <p:spPr>
            <a:xfrm>
              <a:off x="4647600" y="3013920"/>
              <a:ext cx="2928240" cy="162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NFC (Near Field Comm.)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Text 27"/>
            <p:cNvSpPr/>
            <p:nvPr/>
          </p:nvSpPr>
          <p:spPr>
            <a:xfrm rot="21550800">
              <a:off x="8057880" y="3007080"/>
              <a:ext cx="907200" cy="162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6d28d9"/>
                  </a:solidFill>
                  <a:effectLst/>
                  <a:uFillTx/>
                  <a:latin typeface="Consolas"/>
                  <a:ea typeface="Consolas"/>
                </a:rPr>
                <a:t>424 kbit/s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Text 28"/>
            <p:cNvSpPr/>
            <p:nvPr/>
          </p:nvSpPr>
          <p:spPr>
            <a:xfrm>
              <a:off x="4647600" y="3214440"/>
              <a:ext cx="4197240" cy="132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6d28d9"/>
                  </a:solidFill>
                  <a:effectLst/>
                  <a:uFillTx/>
                  <a:latin typeface="Calibri"/>
                  <a:ea typeface="Calibri"/>
                </a:rPr>
                <a:t>📡 13.56 MHz</a:t>
              </a:r>
              <a:r>
                <a:rPr lang="pl-PL" sz="950" b="0" u="none" strike="noStrike">
                  <a:solidFill>
                    <a:srgbClr val="6d28d9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0" u="none" strike="noStrike">
                  <a:solidFill>
                    <a:srgbClr val="6d28d9"/>
                  </a:solidFill>
                  <a:effectLst/>
                  <a:uFillTx/>
                  <a:latin typeface="Calibri"/>
                  <a:ea typeface="Calibri"/>
                </a:rPr>
                <a:t> ⏱ &lt; 0ms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Text 29"/>
            <p:cNvSpPr/>
            <p:nvPr/>
          </p:nvSpPr>
          <p:spPr>
            <a:xfrm>
              <a:off x="4647600" y="3432960"/>
              <a:ext cx="4295160" cy="406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ISO/IEC 14443. Passive i active mode. Zasięg 1–5cm. Apple Pay / Google Pay / NDEF tags. Secure Element + Host Card Emulation (HCE).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4" name="Grupa 48"/>
          <p:cNvGrpSpPr/>
          <p:nvPr/>
        </p:nvGrpSpPr>
        <p:grpSpPr>
          <a:xfrm>
            <a:off x="79920" y="3993480"/>
            <a:ext cx="4323960" cy="947520"/>
            <a:chOff x="79920" y="3993480"/>
            <a:chExt cx="4323960" cy="947520"/>
          </a:xfrm>
        </p:grpSpPr>
        <p:sp>
          <p:nvSpPr>
            <p:cNvPr id="625" name="Shape 30"/>
            <p:cNvSpPr/>
            <p:nvPr/>
          </p:nvSpPr>
          <p:spPr>
            <a:xfrm>
              <a:off x="79920" y="3993480"/>
              <a:ext cx="4323960" cy="947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Shape 31"/>
            <p:cNvSpPr/>
            <p:nvPr/>
          </p:nvSpPr>
          <p:spPr>
            <a:xfrm>
              <a:off x="79920" y="3993480"/>
              <a:ext cx="55080" cy="947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Text 32"/>
            <p:cNvSpPr/>
            <p:nvPr/>
          </p:nvSpPr>
          <p:spPr>
            <a:xfrm>
              <a:off x="210600" y="4030560"/>
              <a:ext cx="2789280" cy="16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UWB (Ultra-Wideband)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Text 33"/>
            <p:cNvSpPr/>
            <p:nvPr/>
          </p:nvSpPr>
          <p:spPr>
            <a:xfrm>
              <a:off x="3149280" y="4030560"/>
              <a:ext cx="1152720" cy="16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c47a00"/>
                  </a:solidFill>
                  <a:effectLst/>
                  <a:uFillTx/>
                  <a:latin typeface="Consolas"/>
                  <a:ea typeface="Consolas"/>
                </a:rPr>
                <a:t>27 Mbit/s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Text 34"/>
            <p:cNvSpPr/>
            <p:nvPr/>
          </p:nvSpPr>
          <p:spPr>
            <a:xfrm>
              <a:off x="210600" y="4230360"/>
              <a:ext cx="3998160" cy="132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c47a00"/>
                  </a:solidFill>
                  <a:effectLst/>
                  <a:uFillTx/>
                  <a:latin typeface="Calibri"/>
                  <a:ea typeface="Calibri"/>
                </a:rPr>
                <a:t>📡 6.5–10.6 GHz</a:t>
              </a:r>
              <a:r>
                <a:rPr lang="pl-PL" sz="950" b="0" u="none" strike="noStrike">
                  <a:solidFill>
                    <a:srgbClr val="c47a00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0" u="none" strike="noStrike">
                  <a:solidFill>
                    <a:srgbClr val="c47a00"/>
                  </a:solidFill>
                  <a:effectLst/>
                  <a:uFillTx/>
                  <a:latin typeface="Calibri"/>
                  <a:ea typeface="Calibri"/>
                </a:rPr>
                <a:t> ⏱ ns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Text 35"/>
            <p:cNvSpPr/>
            <p:nvPr/>
          </p:nvSpPr>
          <p:spPr>
            <a:xfrm>
              <a:off x="210600" y="4407480"/>
              <a:ext cx="4091400" cy="489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IEEE 802.15.4z. Pomiar czasu lotu (ToF) z dokładnością &lt; 10cm. Apple U2 chip / Samsung Uwing. CarKey, AirDrop direction, Precision Finding.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1" name="Grupa 43"/>
          <p:cNvGrpSpPr/>
          <p:nvPr/>
        </p:nvGrpSpPr>
        <p:grpSpPr>
          <a:xfrm>
            <a:off x="4511160" y="3989880"/>
            <a:ext cx="4538880" cy="951120"/>
            <a:chOff x="4511160" y="3989880"/>
            <a:chExt cx="4538880" cy="951120"/>
          </a:xfrm>
        </p:grpSpPr>
        <p:sp>
          <p:nvSpPr>
            <p:cNvPr id="632" name="Shape 36"/>
            <p:cNvSpPr/>
            <p:nvPr/>
          </p:nvSpPr>
          <p:spPr>
            <a:xfrm>
              <a:off x="4511160" y="3989880"/>
              <a:ext cx="4538880" cy="951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Shape 37"/>
            <p:cNvSpPr/>
            <p:nvPr/>
          </p:nvSpPr>
          <p:spPr>
            <a:xfrm>
              <a:off x="4511160" y="3989880"/>
              <a:ext cx="57600" cy="951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5db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Text 38"/>
            <p:cNvSpPr/>
            <p:nvPr/>
          </p:nvSpPr>
          <p:spPr>
            <a:xfrm>
              <a:off x="4647600" y="4026960"/>
              <a:ext cx="2928240" cy="163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GPS / Multi-GNSS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Text 39"/>
            <p:cNvSpPr/>
            <p:nvPr/>
          </p:nvSpPr>
          <p:spPr>
            <a:xfrm>
              <a:off x="7588800" y="4026960"/>
              <a:ext cx="1209960" cy="163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1a5db5"/>
                  </a:solidFill>
                  <a:effectLst/>
                  <a:uFillTx/>
                  <a:latin typeface="Consolas"/>
                  <a:ea typeface="Consolas"/>
                </a:rPr>
                <a:t>n/a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Text 40"/>
            <p:cNvSpPr/>
            <p:nvPr/>
          </p:nvSpPr>
          <p:spPr>
            <a:xfrm>
              <a:off x="4647600" y="4241160"/>
              <a:ext cx="4197240" cy="133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1a5db5"/>
                  </a:solidFill>
                  <a:effectLst/>
                  <a:uFillTx/>
                  <a:latin typeface="Calibri"/>
                  <a:ea typeface="Calibri"/>
                </a:rPr>
                <a:t>📡 L1/L2/L5</a:t>
              </a:r>
              <a:r>
                <a:rPr lang="pl-PL" sz="950" b="0" u="none" strike="noStrike">
                  <a:solidFill>
                    <a:srgbClr val="1a5db5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0" u="none" strike="noStrike">
                  <a:solidFill>
                    <a:srgbClr val="1a5db5"/>
                  </a:solidFill>
                  <a:effectLst/>
                  <a:uFillTx/>
                  <a:latin typeface="Calibri"/>
                  <a:ea typeface="Calibri"/>
                </a:rPr>
                <a:t> ⏱ &lt; 30s TTFF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Text 41"/>
            <p:cNvSpPr/>
            <p:nvPr/>
          </p:nvSpPr>
          <p:spPr>
            <a:xfrm>
              <a:off x="4647600" y="4440240"/>
              <a:ext cx="4295160" cy="45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GPS + Galileo + GLONASS + BeiDou. Dual-frequency L1+L5: ±1m (ionospheric). Snapdragon X75: L5 4-constellation. RTK extension via 5G NTRIP.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8" name="pole tekstowe 51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7618E2D9-7DBE-49A7-929F-B72013895F23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Bateria i zarządzanie energią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PMIC, GaN i Fast Charging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5"/>
          <p:cNvSpPr/>
          <p:nvPr/>
        </p:nvSpPr>
        <p:spPr>
          <a:xfrm>
            <a:off x="171720" y="749880"/>
            <a:ext cx="8651520" cy="554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Bateria Li-Ion / Li-Po to jeden z najmniej zmienionych komponentów przez 15 lat. Postęp pochodzi z PMIC algorytmów ładowania oraz technologii GaN ładowarek.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6"/>
          <p:cNvSpPr/>
          <p:nvPr/>
        </p:nvSpPr>
        <p:spPr>
          <a:xfrm>
            <a:off x="171720" y="1390680"/>
            <a:ext cx="4159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Algorytm ładowania CC-CV i PMIC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7"/>
          <p:cNvSpPr/>
          <p:nvPr/>
        </p:nvSpPr>
        <p:spPr>
          <a:xfrm>
            <a:off x="171720" y="1635120"/>
            <a:ext cx="4159800" cy="269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8"/>
          <p:cNvSpPr/>
          <p:nvPr/>
        </p:nvSpPr>
        <p:spPr>
          <a:xfrm>
            <a:off x="3326400" y="165024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Python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9"/>
          <p:cNvSpPr/>
          <p:nvPr/>
        </p:nvSpPr>
        <p:spPr>
          <a:xfrm>
            <a:off x="263160" y="1680480"/>
            <a:ext cx="3995280" cy="2606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PMIC funkcje (Qualcomm PM8998 / Apple PMIC)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1. Buck Converter (DC-DC step-down):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VIN = 3.7V batt → VOUT = 0.5V CPU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Wydajność: &gt;95% (PWM synchronous)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Częst. przełączania: 2–8 MHz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2. LDO (Low-Dropout Regulator):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Niski ripple → RF, audio, MIPI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Wydajność = VOUT/VIN (może &lt;80%)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3. Fuel Gauge (coulomb counter):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SOC = ∫I·dt (State of Charge)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BMS: OVP, OTP, Short-circuit protection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4. CC-CV ładowanie: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Phase 1: CC (Constant Current) → 1C rate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         Xiaomi 300W: ~80A(!) przez 1min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Phase 2: CV (Constant Voltage) → 4.35V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Phase 3: Trickle (utrzymanie 100%)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Cutoff: &lt;0°C lub &gt;45°C → STOP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5. Optimized Charging (iOS/Android):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Uczy harmonogramu użytkownika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Zatrzymaj na 80%, dobiegnij do 100% rano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5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 Cel: mniej cykli na 100% = dłuższa żywotność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9" name="Grupa 37"/>
          <p:cNvGrpSpPr/>
          <p:nvPr/>
        </p:nvGrpSpPr>
        <p:grpSpPr>
          <a:xfrm>
            <a:off x="173160" y="4365720"/>
            <a:ext cx="4159800" cy="548280"/>
            <a:chOff x="173160" y="4365720"/>
            <a:chExt cx="4159800" cy="548280"/>
          </a:xfrm>
        </p:grpSpPr>
        <p:grpSp>
          <p:nvGrpSpPr>
            <p:cNvPr id="650" name="Grupa 36"/>
            <p:cNvGrpSpPr/>
            <p:nvPr/>
          </p:nvGrpSpPr>
          <p:grpSpPr>
            <a:xfrm>
              <a:off x="173160" y="4383720"/>
              <a:ext cx="4159800" cy="530280"/>
              <a:chOff x="173160" y="4383720"/>
              <a:chExt cx="4159800" cy="530280"/>
            </a:xfrm>
          </p:grpSpPr>
          <p:sp>
            <p:nvSpPr>
              <p:cNvPr id="651" name="Shape 10"/>
              <p:cNvSpPr/>
              <p:nvPr/>
            </p:nvSpPr>
            <p:spPr>
              <a:xfrm>
                <a:off x="173160" y="4383720"/>
                <a:ext cx="4159800" cy="530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Shape 11"/>
              <p:cNvSpPr/>
              <p:nvPr/>
            </p:nvSpPr>
            <p:spPr>
              <a:xfrm>
                <a:off x="173160" y="4383720"/>
                <a:ext cx="54000" cy="530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3" name="Text 12"/>
            <p:cNvSpPr/>
            <p:nvPr/>
          </p:nvSpPr>
          <p:spPr>
            <a:xfrm>
              <a:off x="301320" y="4365720"/>
              <a:ext cx="39769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GaN (Gallium Nitride) ładowarki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Text 13"/>
            <p:cNvSpPr/>
            <p:nvPr/>
          </p:nvSpPr>
          <p:spPr>
            <a:xfrm>
              <a:off x="301320" y="4597920"/>
              <a:ext cx="3976920" cy="246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GaN vs Si: 10× mniejszy chip, 3× szybsze przełączanie, mniejsza strata ciepła. 65W GaN &lt; połowa wielkości 45W Si. Anker Nano, Baseus GaN3 Pro.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5" name="Text 14"/>
          <p:cNvSpPr/>
          <p:nvPr/>
        </p:nvSpPr>
        <p:spPr>
          <a:xfrm>
            <a:off x="4394160" y="1535040"/>
            <a:ext cx="4474800" cy="19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Technologie szybkiego ładowania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6" name="Grupa 46"/>
          <p:cNvGrpSpPr/>
          <p:nvPr/>
        </p:nvGrpSpPr>
        <p:grpSpPr>
          <a:xfrm>
            <a:off x="4422960" y="1725480"/>
            <a:ext cx="4446000" cy="578160"/>
            <a:chOff x="4422960" y="1725480"/>
            <a:chExt cx="4446000" cy="578160"/>
          </a:xfrm>
        </p:grpSpPr>
        <p:grpSp>
          <p:nvGrpSpPr>
            <p:cNvPr id="657" name="Grupa 45"/>
            <p:cNvGrpSpPr/>
            <p:nvPr/>
          </p:nvGrpSpPr>
          <p:grpSpPr>
            <a:xfrm>
              <a:off x="4422960" y="1726560"/>
              <a:ext cx="4446000" cy="577080"/>
              <a:chOff x="4422960" y="1726560"/>
              <a:chExt cx="4446000" cy="577080"/>
            </a:xfrm>
          </p:grpSpPr>
          <p:sp>
            <p:nvSpPr>
              <p:cNvPr id="658" name="Shape 15"/>
              <p:cNvSpPr/>
              <p:nvPr/>
            </p:nvSpPr>
            <p:spPr>
              <a:xfrm>
                <a:off x="4422960" y="1726560"/>
                <a:ext cx="4446000" cy="57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Shape 16"/>
              <p:cNvSpPr/>
              <p:nvPr/>
            </p:nvSpPr>
            <p:spPr>
              <a:xfrm>
                <a:off x="4422960" y="1726560"/>
                <a:ext cx="57240" cy="57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0" name="Text 17"/>
            <p:cNvSpPr/>
            <p:nvPr/>
          </p:nvSpPr>
          <p:spPr>
            <a:xfrm>
              <a:off x="4558680" y="1725480"/>
              <a:ext cx="4252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USB Power Delivery 3.1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Text 18"/>
            <p:cNvSpPr/>
            <p:nvPr/>
          </p:nvSpPr>
          <p:spPr>
            <a:xfrm>
              <a:off x="4558680" y="1990800"/>
              <a:ext cx="425232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Standard JEDEC/USB-IF. Do 48V/5A = 240W EPR. iPhone 15 Pro: 20W PD. MacBook: 140W USB PD. Certyfikat USB-IF wymagany.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2" name="Grupa 42"/>
          <p:cNvGrpSpPr/>
          <p:nvPr/>
        </p:nvGrpSpPr>
        <p:grpSpPr>
          <a:xfrm>
            <a:off x="4422960" y="2360880"/>
            <a:ext cx="4446000" cy="602640"/>
            <a:chOff x="4422960" y="2360880"/>
            <a:chExt cx="4446000" cy="602640"/>
          </a:xfrm>
        </p:grpSpPr>
        <p:grpSp>
          <p:nvGrpSpPr>
            <p:cNvPr id="663" name="Grupa 41"/>
            <p:cNvGrpSpPr/>
            <p:nvPr/>
          </p:nvGrpSpPr>
          <p:grpSpPr>
            <a:xfrm>
              <a:off x="4422960" y="2360880"/>
              <a:ext cx="4446000" cy="602640"/>
              <a:chOff x="4422960" y="2360880"/>
              <a:chExt cx="4446000" cy="602640"/>
            </a:xfrm>
          </p:grpSpPr>
          <p:sp>
            <p:nvSpPr>
              <p:cNvPr id="664" name="Shape 19"/>
              <p:cNvSpPr/>
              <p:nvPr/>
            </p:nvSpPr>
            <p:spPr>
              <a:xfrm>
                <a:off x="4422960" y="2360880"/>
                <a:ext cx="4446000" cy="602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Shape 20"/>
              <p:cNvSpPr/>
              <p:nvPr/>
            </p:nvSpPr>
            <p:spPr>
              <a:xfrm>
                <a:off x="4422960" y="2360880"/>
                <a:ext cx="57240" cy="602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6" name="Text 21"/>
            <p:cNvSpPr/>
            <p:nvPr/>
          </p:nvSpPr>
          <p:spPr>
            <a:xfrm>
              <a:off x="4558680" y="2378880"/>
              <a:ext cx="4252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Qualcomm Quick Charge 5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7" name="Text 22"/>
            <p:cNvSpPr/>
            <p:nvPr/>
          </p:nvSpPr>
          <p:spPr>
            <a:xfrm>
              <a:off x="4558680" y="2644200"/>
              <a:ext cx="425232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45–100W. Dual-cell + buck-boost. 0→50% w 5 minut (Xiaomi). Ochrona: termometr per-cell + algorytm CC-CV. Temp cutoff 45°C.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8" name="Grupa 40"/>
          <p:cNvGrpSpPr/>
          <p:nvPr/>
        </p:nvGrpSpPr>
        <p:grpSpPr>
          <a:xfrm>
            <a:off x="4422960" y="3011760"/>
            <a:ext cx="4446000" cy="606600"/>
            <a:chOff x="4422960" y="3011760"/>
            <a:chExt cx="4446000" cy="606600"/>
          </a:xfrm>
        </p:grpSpPr>
        <p:sp>
          <p:nvSpPr>
            <p:cNvPr id="669" name="Shape 23"/>
            <p:cNvSpPr/>
            <p:nvPr/>
          </p:nvSpPr>
          <p:spPr>
            <a:xfrm>
              <a:off x="4422960" y="3018600"/>
              <a:ext cx="4446000" cy="59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Shape 24"/>
            <p:cNvSpPr/>
            <p:nvPr/>
          </p:nvSpPr>
          <p:spPr>
            <a:xfrm>
              <a:off x="4422960" y="3011760"/>
              <a:ext cx="57240" cy="59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Text 25"/>
            <p:cNvSpPr/>
            <p:nvPr/>
          </p:nvSpPr>
          <p:spPr>
            <a:xfrm>
              <a:off x="4558680" y="3036240"/>
              <a:ext cx="4252320" cy="263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Xiaomi HyperCharge (300W)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Text 26"/>
            <p:cNvSpPr/>
            <p:nvPr/>
          </p:nvSpPr>
          <p:spPr>
            <a:xfrm>
              <a:off x="4558680" y="3291480"/>
              <a:ext cx="4252320" cy="284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3 komory baterii równolegle + tri-port ładowanie. Temperatura &lt; 43°C. 0→100% w 5 minut. Dedykowany chip w kablu. Limitowane rynki.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3" name="Grupa 43"/>
          <p:cNvGrpSpPr/>
          <p:nvPr/>
        </p:nvGrpSpPr>
        <p:grpSpPr>
          <a:xfrm>
            <a:off x="4422960" y="3675600"/>
            <a:ext cx="4446000" cy="584640"/>
            <a:chOff x="4422960" y="3675600"/>
            <a:chExt cx="4446000" cy="584640"/>
          </a:xfrm>
        </p:grpSpPr>
        <p:grpSp>
          <p:nvGrpSpPr>
            <p:cNvPr id="674" name="Grupa 38"/>
            <p:cNvGrpSpPr/>
            <p:nvPr/>
          </p:nvGrpSpPr>
          <p:grpSpPr>
            <a:xfrm>
              <a:off x="4422960" y="3675600"/>
              <a:ext cx="4446000" cy="584640"/>
              <a:chOff x="4422960" y="3675600"/>
              <a:chExt cx="4446000" cy="584640"/>
            </a:xfrm>
          </p:grpSpPr>
          <p:sp>
            <p:nvSpPr>
              <p:cNvPr id="675" name="Shape 27"/>
              <p:cNvSpPr/>
              <p:nvPr/>
            </p:nvSpPr>
            <p:spPr>
              <a:xfrm>
                <a:off x="4422960" y="3675600"/>
                <a:ext cx="4446000" cy="584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Shape 28"/>
              <p:cNvSpPr/>
              <p:nvPr/>
            </p:nvSpPr>
            <p:spPr>
              <a:xfrm>
                <a:off x="4422960" y="3675600"/>
                <a:ext cx="57240" cy="584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7" name="Text 29"/>
            <p:cNvSpPr/>
            <p:nvPr/>
          </p:nvSpPr>
          <p:spPr>
            <a:xfrm>
              <a:off x="4558680" y="3675960"/>
              <a:ext cx="4252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MagSafe / Qi2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Text 30"/>
            <p:cNvSpPr/>
            <p:nvPr/>
          </p:nvSpPr>
          <p:spPr>
            <a:xfrm>
              <a:off x="4558680" y="3940920"/>
              <a:ext cx="425232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MagSafe: 15–25W z magnetyczną koilą. Qi2 = standard kompatybilny z MagSafe. Reverse wireless: Pixel 8 → smartwatch 4.5W.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9" name="Grupa 44"/>
          <p:cNvGrpSpPr/>
          <p:nvPr/>
        </p:nvGrpSpPr>
        <p:grpSpPr>
          <a:xfrm>
            <a:off x="4422960" y="4324680"/>
            <a:ext cx="4446000" cy="592560"/>
            <a:chOff x="4422960" y="4324680"/>
            <a:chExt cx="4446000" cy="592560"/>
          </a:xfrm>
        </p:grpSpPr>
        <p:grpSp>
          <p:nvGrpSpPr>
            <p:cNvPr id="680" name="Grupa 39"/>
            <p:cNvGrpSpPr/>
            <p:nvPr/>
          </p:nvGrpSpPr>
          <p:grpSpPr>
            <a:xfrm>
              <a:off x="4422960" y="4324680"/>
              <a:ext cx="4446000" cy="592560"/>
              <a:chOff x="4422960" y="4324680"/>
              <a:chExt cx="4446000" cy="592560"/>
            </a:xfrm>
          </p:grpSpPr>
          <p:sp>
            <p:nvSpPr>
              <p:cNvPr id="681" name="Shape 31"/>
              <p:cNvSpPr/>
              <p:nvPr/>
            </p:nvSpPr>
            <p:spPr>
              <a:xfrm>
                <a:off x="4422960" y="4324680"/>
                <a:ext cx="4446000" cy="584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Shape 32"/>
              <p:cNvSpPr/>
              <p:nvPr/>
            </p:nvSpPr>
            <p:spPr>
              <a:xfrm>
                <a:off x="4422960" y="4332600"/>
                <a:ext cx="56520" cy="584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c47a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3" name="Text 33"/>
            <p:cNvSpPr/>
            <p:nvPr/>
          </p:nvSpPr>
          <p:spPr>
            <a:xfrm>
              <a:off x="4558680" y="4324680"/>
              <a:ext cx="4252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Bateria Silicon Anode (Li-Si)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Text 34"/>
            <p:cNvSpPr/>
            <p:nvPr/>
          </p:nvSpPr>
          <p:spPr>
            <a:xfrm>
              <a:off x="4558680" y="4589640"/>
              <a:ext cx="425232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Krzemowa anoda: 10× wyższa pojemność vs grafit. Problem: ekspansja 300%. Rozwiązanie: nano-Si cząstki. Samsung SDI: +15% energy density 2025.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5" name="pole tekstowe 48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9E083A7F-7373-4B6B-9693-6D31918742F1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Bezpieczeństwo sprzętowe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Secure Enclave, TrustZone i TEE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5"/>
          <p:cNvSpPr/>
          <p:nvPr/>
        </p:nvSpPr>
        <p:spPr>
          <a:xfrm>
            <a:off x="380520" y="749880"/>
            <a:ext cx="8242920" cy="71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Bezpieczeństwo mobilne zaczyna się w sprzęcie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.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 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I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zolowane środowiska wykonania chronią klucze kryptograficzne i dane biometryczne nawet gdy OS jest skompromitowany.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6"/>
          <p:cNvSpPr/>
          <p:nvPr/>
        </p:nvSpPr>
        <p:spPr>
          <a:xfrm>
            <a:off x="113400" y="1593000"/>
            <a:ext cx="36241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ARM TrustZone</a:t>
            </a: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 dual-world model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7"/>
          <p:cNvSpPr/>
          <p:nvPr/>
        </p:nvSpPr>
        <p:spPr>
          <a:xfrm>
            <a:off x="106560" y="1830240"/>
            <a:ext cx="3695760" cy="3089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8"/>
          <p:cNvSpPr/>
          <p:nvPr/>
        </p:nvSpPr>
        <p:spPr>
          <a:xfrm>
            <a:off x="2978640" y="1855080"/>
            <a:ext cx="75060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9"/>
          <p:cNvSpPr/>
          <p:nvPr/>
        </p:nvSpPr>
        <p:spPr>
          <a:xfrm>
            <a:off x="140040" y="2048760"/>
            <a:ext cx="3624120" cy="2807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ARM TrustZone — dual-world execution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NORMAL WORLD (Rich OS — Android/iOS):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Linux kernel, apps, services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NS bit = 1 (Non-Secure)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Pełny dostęp do zasobów NS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SECURE WORLD (TEE — Trusted Execution Env.):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Osobny OS: OP-TEE / Samsung Kinibi / Qualcomm QTEE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NS bit = 0 (Secure)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Izolowana pamięć (TrustZone DRAM protect)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Osobny interrupt controller (GICv3 S-IRQ)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Przełączenie: SMC (Secure Monitor Call)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NW → SW: SMC #0 → EL3 monitor → TEE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TEE use cases: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Klucze kryptograficzne (AES, RSA, ECDH)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Biometria (fingerprint template verify)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DRM (Widevine L1 → 4K Netflix offline)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Android Keystore → HSM-backed keys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FIDO2 / WebAuthn platform authenticator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eSIM provisioning (SGP.22 RSP)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6" name="Grupa 32"/>
          <p:cNvGrpSpPr/>
          <p:nvPr/>
        </p:nvGrpSpPr>
        <p:grpSpPr>
          <a:xfrm>
            <a:off x="3905280" y="1617120"/>
            <a:ext cx="5158800" cy="3295440"/>
            <a:chOff x="3905280" y="1617120"/>
            <a:chExt cx="5158800" cy="3295440"/>
          </a:xfrm>
        </p:grpSpPr>
        <p:sp>
          <p:nvSpPr>
            <p:cNvPr id="697" name="Text 10"/>
            <p:cNvSpPr/>
            <p:nvPr/>
          </p:nvSpPr>
          <p:spPr>
            <a:xfrm>
              <a:off x="3905280" y="1617120"/>
              <a:ext cx="5158800" cy="213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Apple Secure Enclave (SEP)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8" name="Shape 11"/>
            <p:cNvSpPr/>
            <p:nvPr/>
          </p:nvSpPr>
          <p:spPr>
            <a:xfrm>
              <a:off x="3905280" y="1846080"/>
              <a:ext cx="515880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Shape 12"/>
            <p:cNvSpPr/>
            <p:nvPr/>
          </p:nvSpPr>
          <p:spPr>
            <a:xfrm>
              <a:off x="3905280" y="1846080"/>
              <a:ext cx="6624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Text 13"/>
            <p:cNvSpPr/>
            <p:nvPr/>
          </p:nvSpPr>
          <p:spPr>
            <a:xfrm>
              <a:off x="4062600" y="1878480"/>
              <a:ext cx="4934520" cy="19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Architektura SEP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Text 14"/>
            <p:cNvSpPr/>
            <p:nvPr/>
          </p:nvSpPr>
          <p:spPr>
            <a:xfrm>
              <a:off x="4062600" y="2099880"/>
              <a:ext cx="4934520" cy="243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Oddzielny koprocesor Apple. Własny boot ROM, kernel, RAM. Izolowany od Application Processor. Własny klucz UID (unikalny per-device, nieeksportowalny).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Shape 15"/>
            <p:cNvSpPr/>
            <p:nvPr/>
          </p:nvSpPr>
          <p:spPr>
            <a:xfrm>
              <a:off x="3905280" y="2471400"/>
              <a:ext cx="515880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Shape 16"/>
            <p:cNvSpPr/>
            <p:nvPr/>
          </p:nvSpPr>
          <p:spPr>
            <a:xfrm>
              <a:off x="3905280" y="2471400"/>
              <a:ext cx="6624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Text 17"/>
            <p:cNvSpPr/>
            <p:nvPr/>
          </p:nvSpPr>
          <p:spPr>
            <a:xfrm>
              <a:off x="4062600" y="2504160"/>
              <a:ext cx="4934520" cy="19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Biometria</a:t>
              </a:r>
              <a:r>
                <a:rPr lang="pl-PL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:</a:t>
              </a: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 Face ID / Touch ID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Text 18"/>
            <p:cNvSpPr/>
            <p:nvPr/>
          </p:nvSpPr>
          <p:spPr>
            <a:xfrm>
              <a:off x="4062600" y="2738520"/>
              <a:ext cx="4934520" cy="243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Szablon biometryczny NIGDY nie opuszcza SEP. Porównanie wewnątrz SEP → zwraca tylko bool do iOS. Żadna app ani iOS nie ma dostępu do surowych danych.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Shape 19"/>
            <p:cNvSpPr/>
            <p:nvPr/>
          </p:nvSpPr>
          <p:spPr>
            <a:xfrm>
              <a:off x="3905280" y="3097080"/>
              <a:ext cx="515880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Shape 20"/>
            <p:cNvSpPr/>
            <p:nvPr/>
          </p:nvSpPr>
          <p:spPr>
            <a:xfrm>
              <a:off x="3905280" y="3097080"/>
              <a:ext cx="6624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Text 21"/>
            <p:cNvSpPr/>
            <p:nvPr/>
          </p:nvSpPr>
          <p:spPr>
            <a:xfrm>
              <a:off x="4062600" y="3123000"/>
              <a:ext cx="4934520" cy="19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Hierarchia kluczy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Text 22"/>
            <p:cNvSpPr/>
            <p:nvPr/>
          </p:nvSpPr>
          <p:spPr>
            <a:xfrm>
              <a:off x="4062600" y="3364200"/>
              <a:ext cx="4934520" cy="243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UID → File Encryption Key (FEK) → File. Passcode chroniony w SEP: 10 błędnych prób → wipe. Usunięcie SEP = utrata wszystkich danych na zawsze.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Shape 23"/>
            <p:cNvSpPr/>
            <p:nvPr/>
          </p:nvSpPr>
          <p:spPr>
            <a:xfrm>
              <a:off x="3905280" y="3722760"/>
              <a:ext cx="515880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Shape 24"/>
            <p:cNvSpPr/>
            <p:nvPr/>
          </p:nvSpPr>
          <p:spPr>
            <a:xfrm>
              <a:off x="3905280" y="3722760"/>
              <a:ext cx="6624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Text 25"/>
            <p:cNvSpPr/>
            <p:nvPr/>
          </p:nvSpPr>
          <p:spPr>
            <a:xfrm>
              <a:off x="4062600" y="3748320"/>
              <a:ext cx="4934520" cy="19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Secure Boot Chain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Text 26"/>
            <p:cNvSpPr/>
            <p:nvPr/>
          </p:nvSpPr>
          <p:spPr>
            <a:xfrm>
              <a:off x="4062600" y="3969720"/>
              <a:ext cx="4934520" cy="243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Boot ROM (immutable) → LLB → iBoot → iOS kernel. Każdy etap podpisany kluczem Apple. Jailbreak = złamanie jednego ogniwa. Rollback prevention.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Shape 27"/>
            <p:cNvSpPr/>
            <p:nvPr/>
          </p:nvSpPr>
          <p:spPr>
            <a:xfrm>
              <a:off x="3905280" y="4348440"/>
              <a:ext cx="515880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Shape 28"/>
            <p:cNvSpPr/>
            <p:nvPr/>
          </p:nvSpPr>
          <p:spPr>
            <a:xfrm>
              <a:off x="3905280" y="4348440"/>
              <a:ext cx="66240" cy="564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Text 29"/>
            <p:cNvSpPr/>
            <p:nvPr/>
          </p:nvSpPr>
          <p:spPr>
            <a:xfrm>
              <a:off x="4062600" y="4380480"/>
              <a:ext cx="4934520" cy="197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Android StrongBox + Titan M2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Text 30"/>
            <p:cNvSpPr/>
            <p:nvPr/>
          </p:nvSpPr>
          <p:spPr>
            <a:xfrm>
              <a:off x="4062600" y="4608720"/>
              <a:ext cx="4934520" cy="243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StrongBox HSM: certyfikat FIPS 140-2 Level 2+. Google Pixel Titan M2: dedykowany koprocesor. KeyAttestation: certyfikat kryptograficzny że klucz jest sprzętowy.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8" name="pole tekstowe 34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C347BF60-3911-4096-BBB0-A84ADF374068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Chain of Trust Bootloader, AVB i sekwencja Bootowania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5"/>
          <p:cNvSpPr/>
          <p:nvPr/>
        </p:nvSpPr>
        <p:spPr>
          <a:xfrm>
            <a:off x="320040" y="765000"/>
            <a:ext cx="8503200" cy="605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Od naciśnięcia przycisku zasilania do uruchomienia aplikacji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.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 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K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ażdy etap weryfikuje kolejny. Złamanie któregokolwiek ogniwa 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to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 zagrożenie bezpieczeństwa.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6"/>
          <p:cNvSpPr/>
          <p:nvPr/>
        </p:nvSpPr>
        <p:spPr>
          <a:xfrm>
            <a:off x="365760" y="1543320"/>
            <a:ext cx="8452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Sekwencja bootowania Android (Qualcomm)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6" name="Grupa 44"/>
          <p:cNvGrpSpPr/>
          <p:nvPr/>
        </p:nvGrpSpPr>
        <p:grpSpPr>
          <a:xfrm>
            <a:off x="315360" y="1830960"/>
            <a:ext cx="8503200" cy="450000"/>
            <a:chOff x="315360" y="1830960"/>
            <a:chExt cx="8503200" cy="450000"/>
          </a:xfrm>
        </p:grpSpPr>
        <p:sp>
          <p:nvSpPr>
            <p:cNvPr id="727" name="Shape 7"/>
            <p:cNvSpPr/>
            <p:nvPr/>
          </p:nvSpPr>
          <p:spPr>
            <a:xfrm>
              <a:off x="315360" y="1830960"/>
              <a:ext cx="850320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Shape 8"/>
            <p:cNvSpPr/>
            <p:nvPr/>
          </p:nvSpPr>
          <p:spPr>
            <a:xfrm>
              <a:off x="315360" y="1830960"/>
              <a:ext cx="45648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0</a:t>
              </a:r>
              <a:r>
                <a:rPr lang="pl-PL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1</a:t>
              </a:r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Text 10"/>
            <p:cNvSpPr/>
            <p:nvPr/>
          </p:nvSpPr>
          <p:spPr>
            <a:xfrm>
              <a:off x="818280" y="1873080"/>
              <a:ext cx="3199680" cy="154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ROM / PBL (Primary BL)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Text 11"/>
            <p:cNvSpPr/>
            <p:nvPr/>
          </p:nvSpPr>
          <p:spPr>
            <a:xfrm>
              <a:off x="3794760" y="1873080"/>
              <a:ext cx="4978080" cy="351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Immutable ROM w SoC. Weryfikuje XBL podpisem OEM. Inicjalizuje DRAM. Nie może być nadpisany. Fallback EDL mode (Qualcomm download).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1" name="Text 12"/>
          <p:cNvSpPr/>
          <p:nvPr/>
        </p:nvSpPr>
        <p:spPr>
          <a:xfrm>
            <a:off x="426600" y="2267640"/>
            <a:ext cx="27360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2" name="Grupa 43"/>
          <p:cNvGrpSpPr/>
          <p:nvPr/>
        </p:nvGrpSpPr>
        <p:grpSpPr>
          <a:xfrm>
            <a:off x="315360" y="2359440"/>
            <a:ext cx="8503200" cy="450000"/>
            <a:chOff x="315360" y="2359440"/>
            <a:chExt cx="8503200" cy="450000"/>
          </a:xfrm>
        </p:grpSpPr>
        <p:sp>
          <p:nvSpPr>
            <p:cNvPr id="733" name="Shape 13"/>
            <p:cNvSpPr/>
            <p:nvPr/>
          </p:nvSpPr>
          <p:spPr>
            <a:xfrm>
              <a:off x="315360" y="2359440"/>
              <a:ext cx="850320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Shape 14"/>
            <p:cNvSpPr/>
            <p:nvPr/>
          </p:nvSpPr>
          <p:spPr>
            <a:xfrm>
              <a:off x="315360" y="2359440"/>
              <a:ext cx="45648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0</a:t>
              </a:r>
              <a:r>
                <a:rPr lang="pl-PL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2</a:t>
              </a:r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Text 16"/>
            <p:cNvSpPr/>
            <p:nvPr/>
          </p:nvSpPr>
          <p:spPr>
            <a:xfrm>
              <a:off x="818280" y="2401920"/>
              <a:ext cx="3199680" cy="154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XBL (Extensible Boot Loader)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Text 17"/>
            <p:cNvSpPr/>
            <p:nvPr/>
          </p:nvSpPr>
          <p:spPr>
            <a:xfrm>
              <a:off x="3794760" y="2401920"/>
              <a:ext cx="4978080" cy="351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Qualcomm UEFI. Weryfikuje ABOOT/ABL. Konfiguruje peryferia. Secure Boot enforcement. Tryb fastboot/EDL.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7" name="Text 18"/>
          <p:cNvSpPr/>
          <p:nvPr/>
        </p:nvSpPr>
        <p:spPr>
          <a:xfrm>
            <a:off x="426600" y="2811600"/>
            <a:ext cx="27360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8" name="Grupa 42"/>
          <p:cNvGrpSpPr/>
          <p:nvPr/>
        </p:nvGrpSpPr>
        <p:grpSpPr>
          <a:xfrm>
            <a:off x="320040" y="2910600"/>
            <a:ext cx="8503200" cy="450000"/>
            <a:chOff x="320040" y="2910600"/>
            <a:chExt cx="8503200" cy="450000"/>
          </a:xfrm>
        </p:grpSpPr>
        <p:sp>
          <p:nvSpPr>
            <p:cNvPr id="739" name="Shape 19"/>
            <p:cNvSpPr/>
            <p:nvPr/>
          </p:nvSpPr>
          <p:spPr>
            <a:xfrm>
              <a:off x="320040" y="2910600"/>
              <a:ext cx="850320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Shape 20"/>
            <p:cNvSpPr/>
            <p:nvPr/>
          </p:nvSpPr>
          <p:spPr>
            <a:xfrm>
              <a:off x="320040" y="2910600"/>
              <a:ext cx="45648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0</a:t>
              </a:r>
              <a:r>
                <a:rPr lang="pl-PL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3</a:t>
              </a:r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Text 22"/>
            <p:cNvSpPr/>
            <p:nvPr/>
          </p:nvSpPr>
          <p:spPr>
            <a:xfrm>
              <a:off x="822960" y="2953080"/>
              <a:ext cx="3199680" cy="154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ABL / Android Boot Loader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Text 23"/>
            <p:cNvSpPr/>
            <p:nvPr/>
          </p:nvSpPr>
          <p:spPr>
            <a:xfrm>
              <a:off x="3794760" y="2953080"/>
              <a:ext cx="4982760" cy="351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Fastboot protocol. Weryfikuje boot.img (AVB 2.0 signature). dm-verity setup. Unlock bootoloadera = nonce reset + czerwony ekran.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3" name="Text 24"/>
          <p:cNvSpPr/>
          <p:nvPr/>
        </p:nvSpPr>
        <p:spPr>
          <a:xfrm>
            <a:off x="419040" y="3371040"/>
            <a:ext cx="27360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4" name="Grupa 41"/>
          <p:cNvGrpSpPr/>
          <p:nvPr/>
        </p:nvGrpSpPr>
        <p:grpSpPr>
          <a:xfrm>
            <a:off x="320040" y="3466440"/>
            <a:ext cx="8503200" cy="449280"/>
            <a:chOff x="320040" y="3466440"/>
            <a:chExt cx="8503200" cy="449280"/>
          </a:xfrm>
        </p:grpSpPr>
        <p:sp>
          <p:nvSpPr>
            <p:cNvPr id="745" name="Shape 25"/>
            <p:cNvSpPr/>
            <p:nvPr/>
          </p:nvSpPr>
          <p:spPr>
            <a:xfrm>
              <a:off x="320040" y="3466440"/>
              <a:ext cx="8503200" cy="447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Shape 26"/>
            <p:cNvSpPr/>
            <p:nvPr/>
          </p:nvSpPr>
          <p:spPr>
            <a:xfrm>
              <a:off x="320040" y="3467880"/>
              <a:ext cx="456480" cy="447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04</a:t>
              </a:r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Text 28"/>
            <p:cNvSpPr/>
            <p:nvPr/>
          </p:nvSpPr>
          <p:spPr>
            <a:xfrm>
              <a:off x="822960" y="3508560"/>
              <a:ext cx="3199680" cy="153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Linux Kernel + ramdisk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Text 29"/>
            <p:cNvSpPr/>
            <p:nvPr/>
          </p:nvSpPr>
          <p:spPr>
            <a:xfrm>
              <a:off x="3794760" y="3508560"/>
              <a:ext cx="4982760" cy="349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Dekompresja kernela. initramfs → init. Device tree loading. SELinux: permissive → enforcing. Montowanie partycji: system/vendor/product.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9" name="Text 30"/>
          <p:cNvSpPr/>
          <p:nvPr/>
        </p:nvSpPr>
        <p:spPr>
          <a:xfrm>
            <a:off x="411480" y="3915360"/>
            <a:ext cx="27360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0" name="Grupa 45"/>
          <p:cNvGrpSpPr/>
          <p:nvPr/>
        </p:nvGrpSpPr>
        <p:grpSpPr>
          <a:xfrm>
            <a:off x="320040" y="4012920"/>
            <a:ext cx="8503200" cy="450000"/>
            <a:chOff x="320040" y="4012920"/>
            <a:chExt cx="8503200" cy="450000"/>
          </a:xfrm>
        </p:grpSpPr>
        <p:sp>
          <p:nvSpPr>
            <p:cNvPr id="751" name="Shape 31"/>
            <p:cNvSpPr/>
            <p:nvPr/>
          </p:nvSpPr>
          <p:spPr>
            <a:xfrm>
              <a:off x="320040" y="4012920"/>
              <a:ext cx="850320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Shape 32"/>
            <p:cNvSpPr/>
            <p:nvPr/>
          </p:nvSpPr>
          <p:spPr>
            <a:xfrm>
              <a:off x="320040" y="4012920"/>
              <a:ext cx="456480" cy="45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0</a:t>
              </a:r>
              <a:r>
                <a:rPr lang="pl-PL" sz="18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5</a:t>
              </a:r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Text 34"/>
            <p:cNvSpPr/>
            <p:nvPr/>
          </p:nvSpPr>
          <p:spPr>
            <a:xfrm>
              <a:off x="822960" y="4055040"/>
              <a:ext cx="3199680" cy="154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Android Init + Zygote → System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Text 35"/>
            <p:cNvSpPr/>
            <p:nvPr/>
          </p:nvSpPr>
          <p:spPr>
            <a:xfrm>
              <a:off x="3794760" y="4055040"/>
              <a:ext cx="4982760" cy="351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init.rc: property service, ueventd. Zygote: fork model dla apps. SystemServer: AMS, WMS, PMS. boot complete broadcast po ~30s.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5" name="Shape 36"/>
          <p:cNvSpPr/>
          <p:nvPr/>
        </p:nvSpPr>
        <p:spPr>
          <a:xfrm>
            <a:off x="320040" y="4572000"/>
            <a:ext cx="8503200" cy="365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0f7fa"/>
          </a:solidFill>
          <a:ln w="12600">
            <a:solidFill>
              <a:srgbClr val="00b4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37"/>
          <p:cNvSpPr/>
          <p:nvPr/>
        </p:nvSpPr>
        <p:spPr>
          <a:xfrm>
            <a:off x="457200" y="4608720"/>
            <a:ext cx="8320320" cy="273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50" b="0" u="none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💡</a:t>
            </a:r>
            <a:r>
              <a:rPr lang="pl-PL" sz="1050" b="0" u="none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  AVB 2.0 (Android Verified Boot): dm-verity chroni partycje system/vendor. Modyfikacja = czerwony ekran ostrzeżenia. Vbmeta digest w TEE → rollback protection przez anti-rollback index.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ole tekstowe 40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CBF4A159-6E19-40D4-8603-0148D90AA671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Architektura Android AOSP: 6 warstw od Kernela do aplikacji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5"/>
          <p:cNvSpPr/>
          <p:nvPr/>
        </p:nvSpPr>
        <p:spPr>
          <a:xfrm>
            <a:off x="320040" y="749880"/>
            <a:ext cx="8503200" cy="519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Android AOSP to 6-warstwowy stos. Project Treble (Android 8.0) separuje vendor HAL od framework → szybsze aktualizacje bezpieczeństwa bez udziału OEM.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4" name="Grupa 60"/>
          <p:cNvGrpSpPr/>
          <p:nvPr/>
        </p:nvGrpSpPr>
        <p:grpSpPr>
          <a:xfrm>
            <a:off x="320040" y="1466280"/>
            <a:ext cx="8503200" cy="424080"/>
            <a:chOff x="320040" y="1466280"/>
            <a:chExt cx="8503200" cy="424080"/>
          </a:xfrm>
        </p:grpSpPr>
        <p:grpSp>
          <p:nvGrpSpPr>
            <p:cNvPr id="765" name="Grupa 54"/>
            <p:cNvGrpSpPr/>
            <p:nvPr/>
          </p:nvGrpSpPr>
          <p:grpSpPr>
            <a:xfrm>
              <a:off x="320040" y="1466280"/>
              <a:ext cx="8503200" cy="411480"/>
              <a:chOff x="320040" y="1466280"/>
              <a:chExt cx="8503200" cy="411480"/>
            </a:xfrm>
          </p:grpSpPr>
          <p:sp>
            <p:nvSpPr>
              <p:cNvPr id="766" name="Shape 6"/>
              <p:cNvSpPr/>
              <p:nvPr/>
            </p:nvSpPr>
            <p:spPr>
              <a:xfrm>
                <a:off x="320040" y="1466280"/>
                <a:ext cx="850320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Shape 7"/>
              <p:cNvSpPr/>
              <p:nvPr/>
            </p:nvSpPr>
            <p:spPr>
              <a:xfrm>
                <a:off x="320040" y="1466280"/>
                <a:ext cx="6336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Shape 8"/>
              <p:cNvSpPr/>
              <p:nvPr/>
            </p:nvSpPr>
            <p:spPr>
              <a:xfrm>
                <a:off x="320040" y="1466280"/>
                <a:ext cx="8503200" cy="2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Text 9"/>
            <p:cNvSpPr/>
            <p:nvPr/>
          </p:nvSpPr>
          <p:spPr>
            <a:xfrm>
              <a:off x="466200" y="1488960"/>
              <a:ext cx="310824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Aplikacje (APK/AAB)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Text 10"/>
            <p:cNvSpPr/>
            <p:nvPr/>
          </p:nvSpPr>
          <p:spPr>
            <a:xfrm>
              <a:off x="3886200" y="1470600"/>
              <a:ext cx="4845600" cy="41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SystemUI · Apps · Google Play Services · GMS (Google Mobile Services) · WebView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1" name="Text 11"/>
          <p:cNvSpPr/>
          <p:nvPr/>
        </p:nvSpPr>
        <p:spPr>
          <a:xfrm>
            <a:off x="4206240" y="1888560"/>
            <a:ext cx="36504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↑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2" name="Grupa 59"/>
          <p:cNvGrpSpPr/>
          <p:nvPr/>
        </p:nvGrpSpPr>
        <p:grpSpPr>
          <a:xfrm>
            <a:off x="320040" y="2011680"/>
            <a:ext cx="8503200" cy="424080"/>
            <a:chOff x="320040" y="2011680"/>
            <a:chExt cx="8503200" cy="424080"/>
          </a:xfrm>
        </p:grpSpPr>
        <p:grpSp>
          <p:nvGrpSpPr>
            <p:cNvPr id="773" name="Grupa 53"/>
            <p:cNvGrpSpPr/>
            <p:nvPr/>
          </p:nvGrpSpPr>
          <p:grpSpPr>
            <a:xfrm>
              <a:off x="320040" y="2011680"/>
              <a:ext cx="8503200" cy="411480"/>
              <a:chOff x="320040" y="2011680"/>
              <a:chExt cx="8503200" cy="411480"/>
            </a:xfrm>
          </p:grpSpPr>
          <p:sp>
            <p:nvSpPr>
              <p:cNvPr id="774" name="Shape 12"/>
              <p:cNvSpPr/>
              <p:nvPr/>
            </p:nvSpPr>
            <p:spPr>
              <a:xfrm>
                <a:off x="320040" y="2011680"/>
                <a:ext cx="850320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Shape 13"/>
              <p:cNvSpPr/>
              <p:nvPr/>
            </p:nvSpPr>
            <p:spPr>
              <a:xfrm>
                <a:off x="320040" y="2011680"/>
                <a:ext cx="6336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Shape 14"/>
              <p:cNvSpPr/>
              <p:nvPr/>
            </p:nvSpPr>
            <p:spPr>
              <a:xfrm>
                <a:off x="320040" y="2011680"/>
                <a:ext cx="8503200" cy="2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7" name="Text 15"/>
            <p:cNvSpPr/>
            <p:nvPr/>
          </p:nvSpPr>
          <p:spPr>
            <a:xfrm>
              <a:off x="466200" y="2034720"/>
              <a:ext cx="310824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Framework (Java/Kotlin)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Text 16"/>
            <p:cNvSpPr/>
            <p:nvPr/>
          </p:nvSpPr>
          <p:spPr>
            <a:xfrm>
              <a:off x="3886200" y="2016000"/>
              <a:ext cx="4845600" cy="41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ActivityManager · WindowManager · PackageManager · ContentProvider · BroadcastReceiver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9" name="Text 17"/>
          <p:cNvSpPr/>
          <p:nvPr/>
        </p:nvSpPr>
        <p:spPr>
          <a:xfrm>
            <a:off x="4206240" y="2433960"/>
            <a:ext cx="36504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↑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0" name="Grupa 58"/>
          <p:cNvGrpSpPr/>
          <p:nvPr/>
        </p:nvGrpSpPr>
        <p:grpSpPr>
          <a:xfrm>
            <a:off x="320040" y="2541960"/>
            <a:ext cx="8503200" cy="424080"/>
            <a:chOff x="320040" y="2541960"/>
            <a:chExt cx="8503200" cy="424080"/>
          </a:xfrm>
        </p:grpSpPr>
        <p:grpSp>
          <p:nvGrpSpPr>
            <p:cNvPr id="781" name="Grupa 52"/>
            <p:cNvGrpSpPr/>
            <p:nvPr/>
          </p:nvGrpSpPr>
          <p:grpSpPr>
            <a:xfrm>
              <a:off x="320040" y="2541960"/>
              <a:ext cx="8503200" cy="411480"/>
              <a:chOff x="320040" y="2541960"/>
              <a:chExt cx="8503200" cy="411480"/>
            </a:xfrm>
          </p:grpSpPr>
          <p:sp>
            <p:nvSpPr>
              <p:cNvPr id="782" name="Shape 18"/>
              <p:cNvSpPr/>
              <p:nvPr/>
            </p:nvSpPr>
            <p:spPr>
              <a:xfrm>
                <a:off x="320040" y="2541960"/>
                <a:ext cx="850320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Shape 19"/>
              <p:cNvSpPr/>
              <p:nvPr/>
            </p:nvSpPr>
            <p:spPr>
              <a:xfrm>
                <a:off x="320040" y="2541960"/>
                <a:ext cx="6336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Shape 20"/>
              <p:cNvSpPr/>
              <p:nvPr/>
            </p:nvSpPr>
            <p:spPr>
              <a:xfrm>
                <a:off x="320040" y="2541960"/>
                <a:ext cx="8503200" cy="2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5" name="Text 21"/>
            <p:cNvSpPr/>
            <p:nvPr/>
          </p:nvSpPr>
          <p:spPr>
            <a:xfrm>
              <a:off x="466200" y="2564640"/>
              <a:ext cx="310824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Android Runtime (ART)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Text 22"/>
            <p:cNvSpPr/>
            <p:nvPr/>
          </p:nvSpPr>
          <p:spPr>
            <a:xfrm>
              <a:off x="3886200" y="2546280"/>
              <a:ext cx="4845600" cy="41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0e9a6b"/>
                  </a:solidFill>
                  <a:effectLst/>
                  <a:uFillTx/>
                  <a:latin typeface="Consolas"/>
                  <a:ea typeface="Consolas"/>
                </a:rPr>
                <a:t>AoT + JIT compilation · Generational GC · JVMTI · Core Libraries (OpenJDK 17)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7" name="Text 23"/>
          <p:cNvSpPr/>
          <p:nvPr/>
        </p:nvSpPr>
        <p:spPr>
          <a:xfrm>
            <a:off x="4206240" y="2971800"/>
            <a:ext cx="36504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↑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8" name="Grupa 57"/>
          <p:cNvGrpSpPr/>
          <p:nvPr/>
        </p:nvGrpSpPr>
        <p:grpSpPr>
          <a:xfrm>
            <a:off x="320040" y="3072240"/>
            <a:ext cx="8503200" cy="424800"/>
            <a:chOff x="320040" y="3072240"/>
            <a:chExt cx="8503200" cy="424800"/>
          </a:xfrm>
        </p:grpSpPr>
        <p:grpSp>
          <p:nvGrpSpPr>
            <p:cNvPr id="789" name="Grupa 51"/>
            <p:cNvGrpSpPr/>
            <p:nvPr/>
          </p:nvGrpSpPr>
          <p:grpSpPr>
            <a:xfrm>
              <a:off x="320040" y="3072240"/>
              <a:ext cx="8503200" cy="411480"/>
              <a:chOff x="320040" y="3072240"/>
              <a:chExt cx="8503200" cy="411480"/>
            </a:xfrm>
          </p:grpSpPr>
          <p:sp>
            <p:nvSpPr>
              <p:cNvPr id="790" name="Shape 24"/>
              <p:cNvSpPr/>
              <p:nvPr/>
            </p:nvSpPr>
            <p:spPr>
              <a:xfrm>
                <a:off x="320040" y="3072240"/>
                <a:ext cx="850320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Shape 25"/>
              <p:cNvSpPr/>
              <p:nvPr/>
            </p:nvSpPr>
            <p:spPr>
              <a:xfrm>
                <a:off x="320040" y="3072240"/>
                <a:ext cx="6336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Shape 26"/>
              <p:cNvSpPr/>
              <p:nvPr/>
            </p:nvSpPr>
            <p:spPr>
              <a:xfrm>
                <a:off x="320040" y="3072240"/>
                <a:ext cx="8503200" cy="2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Text 27"/>
            <p:cNvSpPr/>
            <p:nvPr/>
          </p:nvSpPr>
          <p:spPr>
            <a:xfrm>
              <a:off x="466200" y="3094920"/>
              <a:ext cx="310824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Natywne biblioteki (C/C++)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Text 28"/>
            <p:cNvSpPr/>
            <p:nvPr/>
          </p:nvSpPr>
          <p:spPr>
            <a:xfrm>
              <a:off x="3886200" y="3077280"/>
              <a:ext cx="4845600" cy="41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6d28d9"/>
                  </a:solidFill>
                  <a:effectLst/>
                  <a:uFillTx/>
                  <a:latin typeface="Consolas"/>
                  <a:ea typeface="Consolas"/>
                </a:rPr>
                <a:t>Bionic libc · OpenGL ES (libEGL) · SQLite · WebKit (Chromium) · MediaCodec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5" name="Text 29"/>
          <p:cNvSpPr/>
          <p:nvPr/>
        </p:nvSpPr>
        <p:spPr>
          <a:xfrm>
            <a:off x="4206240" y="3479040"/>
            <a:ext cx="36504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↑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6" name="Grupa 56"/>
          <p:cNvGrpSpPr/>
          <p:nvPr/>
        </p:nvGrpSpPr>
        <p:grpSpPr>
          <a:xfrm>
            <a:off x="320040" y="3587760"/>
            <a:ext cx="8503200" cy="424080"/>
            <a:chOff x="320040" y="3587760"/>
            <a:chExt cx="8503200" cy="424080"/>
          </a:xfrm>
        </p:grpSpPr>
        <p:grpSp>
          <p:nvGrpSpPr>
            <p:cNvPr id="797" name="Grupa 50"/>
            <p:cNvGrpSpPr/>
            <p:nvPr/>
          </p:nvGrpSpPr>
          <p:grpSpPr>
            <a:xfrm>
              <a:off x="320040" y="3587760"/>
              <a:ext cx="8503200" cy="411480"/>
              <a:chOff x="320040" y="3587760"/>
              <a:chExt cx="8503200" cy="411480"/>
            </a:xfrm>
          </p:grpSpPr>
          <p:sp>
            <p:nvSpPr>
              <p:cNvPr id="798" name="Shape 30"/>
              <p:cNvSpPr/>
              <p:nvPr/>
            </p:nvSpPr>
            <p:spPr>
              <a:xfrm>
                <a:off x="320040" y="3587760"/>
                <a:ext cx="850320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Shape 31"/>
              <p:cNvSpPr/>
              <p:nvPr/>
            </p:nvSpPr>
            <p:spPr>
              <a:xfrm>
                <a:off x="320040" y="3587760"/>
                <a:ext cx="63360" cy="411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c47a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Shape 32"/>
              <p:cNvSpPr/>
              <p:nvPr/>
            </p:nvSpPr>
            <p:spPr>
              <a:xfrm>
                <a:off x="320040" y="3587760"/>
                <a:ext cx="8503200" cy="2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c47a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1" name="Text 33"/>
            <p:cNvSpPr/>
            <p:nvPr/>
          </p:nvSpPr>
          <p:spPr>
            <a:xfrm>
              <a:off x="466200" y="3610440"/>
              <a:ext cx="3108240" cy="20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HAL 2.0 (AIDL stable)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Text 34"/>
            <p:cNvSpPr/>
            <p:nvPr/>
          </p:nvSpPr>
          <p:spPr>
            <a:xfrm>
              <a:off x="3886200" y="3592080"/>
              <a:ext cx="4845600" cy="41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c47a00"/>
                  </a:solidFill>
                  <a:effectLst/>
                  <a:uFillTx/>
                  <a:latin typeface="Consolas"/>
                  <a:ea typeface="Consolas"/>
                </a:rPr>
                <a:t>Camera HAL · Audio HAL · Sensor HAL · Bluetooth HAL · Graphics (EGL/Vulkan)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3" name="Text 35"/>
          <p:cNvSpPr/>
          <p:nvPr/>
        </p:nvSpPr>
        <p:spPr>
          <a:xfrm>
            <a:off x="4206240" y="4001760"/>
            <a:ext cx="365040" cy="9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4f6177"/>
                </a:solidFill>
                <a:effectLst/>
                <a:uFillTx/>
                <a:latin typeface="Calibri"/>
                <a:ea typeface="Calibri"/>
              </a:rPr>
              <a:t>↑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4" name="Grupa 55"/>
          <p:cNvGrpSpPr/>
          <p:nvPr/>
        </p:nvGrpSpPr>
        <p:grpSpPr>
          <a:xfrm>
            <a:off x="320040" y="4118040"/>
            <a:ext cx="8503200" cy="357840"/>
            <a:chOff x="320040" y="4118040"/>
            <a:chExt cx="8503200" cy="357840"/>
          </a:xfrm>
        </p:grpSpPr>
        <p:grpSp>
          <p:nvGrpSpPr>
            <p:cNvPr id="805" name="Grupa 45"/>
            <p:cNvGrpSpPr/>
            <p:nvPr/>
          </p:nvGrpSpPr>
          <p:grpSpPr>
            <a:xfrm>
              <a:off x="320040" y="4118040"/>
              <a:ext cx="8503200" cy="347400"/>
              <a:chOff x="320040" y="4118040"/>
              <a:chExt cx="8503200" cy="347400"/>
            </a:xfrm>
          </p:grpSpPr>
          <p:sp>
            <p:nvSpPr>
              <p:cNvPr id="806" name="Shape 36"/>
              <p:cNvSpPr/>
              <p:nvPr/>
            </p:nvSpPr>
            <p:spPr>
              <a:xfrm>
                <a:off x="320040" y="4118040"/>
                <a:ext cx="8503200" cy="347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Shape 37"/>
              <p:cNvSpPr/>
              <p:nvPr/>
            </p:nvSpPr>
            <p:spPr>
              <a:xfrm>
                <a:off x="320040" y="4118040"/>
                <a:ext cx="63360" cy="347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1a5db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Shape 38"/>
              <p:cNvSpPr/>
              <p:nvPr/>
            </p:nvSpPr>
            <p:spPr>
              <a:xfrm>
                <a:off x="320040" y="4118040"/>
                <a:ext cx="8503200" cy="2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1a5db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9" name="Text 39"/>
            <p:cNvSpPr/>
            <p:nvPr/>
          </p:nvSpPr>
          <p:spPr>
            <a:xfrm>
              <a:off x="466200" y="4137120"/>
              <a:ext cx="3108240" cy="169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Linux Kernel (GKI)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Text 40"/>
            <p:cNvSpPr/>
            <p:nvPr/>
          </p:nvSpPr>
          <p:spPr>
            <a:xfrm>
              <a:off x="3886200" y="4121640"/>
              <a:ext cx="4845600" cy="354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1a5db5"/>
                  </a:solidFill>
                  <a:effectLst/>
                  <a:uFillTx/>
                  <a:latin typeface="Consolas"/>
                  <a:ea typeface="Consolas"/>
                </a:rPr>
                <a:t>Binder IPC · ION/DMA-BUF · Wakelocks · cpufreq/schedutil · SELinux · eBPF · GKI modules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1" name="Shape 41"/>
          <p:cNvSpPr/>
          <p:nvPr/>
        </p:nvSpPr>
        <p:spPr>
          <a:xfrm>
            <a:off x="320040" y="4571280"/>
            <a:ext cx="8503200" cy="35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42"/>
          <p:cNvSpPr/>
          <p:nvPr/>
        </p:nvSpPr>
        <p:spPr>
          <a:xfrm>
            <a:off x="7873200" y="451692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Shell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43"/>
          <p:cNvSpPr/>
          <p:nvPr/>
        </p:nvSpPr>
        <p:spPr>
          <a:xfrm>
            <a:off x="411480" y="4604760"/>
            <a:ext cx="8338680" cy="31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# Treble: /system (Google update) i /vendor (OEM) osobno. AIDL stable HAL: wersjonowane interfejsy, binderized procesy.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onsolas"/>
                <a:ea typeface="Consolas"/>
              </a:rPr>
              <a:t>GKI: jeden kernel image dla wszystkich SoC od Android 12.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ole tekstowe 58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261FD25D-5533-48F2-AA5E-8B4DFC4B9437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Architektura iOS: XNU Kernel, Frameworks i Swift Runtime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5"/>
          <p:cNvSpPr/>
          <p:nvPr/>
        </p:nvSpPr>
        <p:spPr>
          <a:xfrm>
            <a:off x="144000" y="749880"/>
            <a:ext cx="4428000" cy="78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iOS oparty na XNU (X is Not Unix): hybrid kernel </a:t>
            </a:r>
            <a:br>
              <a:rPr sz="1300"/>
            </a:br>
            <a:r>
              <a:rPr lang="pl-PL" sz="13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z Mach microkernel + BSD UNIX. Zamknięty ekosystem = ścisła kontrola jakości i bezpieczeństwa.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6"/>
          <p:cNvSpPr/>
          <p:nvPr/>
        </p:nvSpPr>
        <p:spPr>
          <a:xfrm>
            <a:off x="144000" y="1591200"/>
            <a:ext cx="386424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XNU, hybrid kernel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7"/>
          <p:cNvSpPr/>
          <p:nvPr/>
        </p:nvSpPr>
        <p:spPr>
          <a:xfrm>
            <a:off x="144000" y="1857960"/>
            <a:ext cx="3864240" cy="3079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8"/>
          <p:cNvSpPr/>
          <p:nvPr/>
        </p:nvSpPr>
        <p:spPr>
          <a:xfrm>
            <a:off x="3043800" y="186048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C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9"/>
          <p:cNvSpPr/>
          <p:nvPr/>
        </p:nvSpPr>
        <p:spPr>
          <a:xfrm>
            <a:off x="199080" y="1923480"/>
            <a:ext cx="3435840" cy="296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XNU = Mach + BSD + IOKit + libkern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Architektura hybrydowa: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BSD Layer (POSIX API):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VFS, Sockets, Signals, syscalls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Mach Layer (microkernel core):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Mach Messages + Ports (IPC)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Virtual Memory (Mach VM)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Tasks, Threads, Scheduling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IOKit (C++ device drivers):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DriverKit (userspace, iOS 16) — XPC drivers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XPC (Cross-Process Communication):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Type-safe (NSDictionary/Codable)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Sandbox enforcement per XPC service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Zastępuje Mach messages dla apps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dyld (dynamic linker):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dyld_shared_cache: pre-linked frameworks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dlopen() dla plugins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LC_LOAD_DYLIB → rezolucja symboli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ARC (Automatic Reference Counting):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Kompilator wstawia retain/release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  Swift: ARC + optional weak/unowned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5" name="Grupa 42"/>
          <p:cNvGrpSpPr/>
          <p:nvPr/>
        </p:nvGrpSpPr>
        <p:grpSpPr>
          <a:xfrm>
            <a:off x="4869000" y="1068120"/>
            <a:ext cx="4205880" cy="510480"/>
            <a:chOff x="4869000" y="1068120"/>
            <a:chExt cx="4205880" cy="510480"/>
          </a:xfrm>
        </p:grpSpPr>
        <p:grpSp>
          <p:nvGrpSpPr>
            <p:cNvPr id="826" name="Grupa 40"/>
            <p:cNvGrpSpPr/>
            <p:nvPr/>
          </p:nvGrpSpPr>
          <p:grpSpPr>
            <a:xfrm>
              <a:off x="4869000" y="1068120"/>
              <a:ext cx="4205520" cy="510480"/>
              <a:chOff x="4869000" y="1068120"/>
              <a:chExt cx="4205520" cy="510480"/>
            </a:xfrm>
          </p:grpSpPr>
          <p:sp>
            <p:nvSpPr>
              <p:cNvPr id="827" name="Shape 10"/>
              <p:cNvSpPr/>
              <p:nvPr/>
            </p:nvSpPr>
            <p:spPr>
              <a:xfrm>
                <a:off x="4869000" y="1075680"/>
                <a:ext cx="4205520" cy="502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Shape 11"/>
              <p:cNvSpPr/>
              <p:nvPr/>
            </p:nvSpPr>
            <p:spPr>
              <a:xfrm>
                <a:off x="4869000" y="1068120"/>
                <a:ext cx="54720" cy="510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d9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9" name="Text 12"/>
            <p:cNvSpPr/>
            <p:nvPr/>
          </p:nvSpPr>
          <p:spPr>
            <a:xfrm>
              <a:off x="4998600" y="1080720"/>
              <a:ext cx="4020480" cy="15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Sandbox i App Container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Text 13"/>
            <p:cNvSpPr/>
            <p:nvPr/>
          </p:nvSpPr>
          <p:spPr>
            <a:xfrm>
              <a:off x="4997520" y="1276560"/>
              <a:ext cx="4077360" cy="302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Każda app: własny kontener ~/Documents. MAC (Mandatory Access Control): sandbox profile. Entitlements: lista uprawnień podpisana Apple. SIP (</a:t>
              </a:r>
              <a:r>
                <a:rPr lang="pl-PL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</a:t>
              </a: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ys</a:t>
              </a:r>
              <a:r>
                <a:rPr lang="pl-PL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.i</a:t>
              </a: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nteg</a:t>
              </a:r>
              <a:r>
                <a:rPr lang="pl-PL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.p</a:t>
              </a: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rot</a:t>
              </a:r>
              <a:r>
                <a:rPr lang="pl-PL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.</a:t>
              </a: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).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1" name="Grupa 43"/>
          <p:cNvGrpSpPr/>
          <p:nvPr/>
        </p:nvGrpSpPr>
        <p:grpSpPr>
          <a:xfrm>
            <a:off x="4869000" y="4396320"/>
            <a:ext cx="4205520" cy="519480"/>
            <a:chOff x="4869000" y="4396320"/>
            <a:chExt cx="4205520" cy="519480"/>
          </a:xfrm>
        </p:grpSpPr>
        <p:grpSp>
          <p:nvGrpSpPr>
            <p:cNvPr id="832" name="Grupa 41"/>
            <p:cNvGrpSpPr/>
            <p:nvPr/>
          </p:nvGrpSpPr>
          <p:grpSpPr>
            <a:xfrm>
              <a:off x="4869000" y="4396320"/>
              <a:ext cx="4205520" cy="519480"/>
              <a:chOff x="4869000" y="4396320"/>
              <a:chExt cx="4205520" cy="519480"/>
            </a:xfrm>
          </p:grpSpPr>
          <p:sp>
            <p:nvSpPr>
              <p:cNvPr id="833" name="Shape 14"/>
              <p:cNvSpPr/>
              <p:nvPr/>
            </p:nvSpPr>
            <p:spPr>
              <a:xfrm>
                <a:off x="4869000" y="4396320"/>
                <a:ext cx="4205520" cy="511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Shape 15"/>
              <p:cNvSpPr/>
              <p:nvPr/>
            </p:nvSpPr>
            <p:spPr>
              <a:xfrm>
                <a:off x="4869000" y="4403880"/>
                <a:ext cx="54720" cy="511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5" name="Text 16"/>
            <p:cNvSpPr/>
            <p:nvPr/>
          </p:nvSpPr>
          <p:spPr>
            <a:xfrm>
              <a:off x="4998600" y="4401720"/>
              <a:ext cx="4020480" cy="203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Swift Concurrency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Text 17"/>
            <p:cNvSpPr/>
            <p:nvPr/>
          </p:nvSpPr>
          <p:spPr>
            <a:xfrm>
              <a:off x="4998600" y="4633200"/>
              <a:ext cx="4020480" cy="218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async/await → Continuations na GCD. Actors: isolated mutable state. @MainActor: UI thread safety. Structured concurrency (async let, TaskGroup).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7" name="Text 18"/>
          <p:cNvSpPr/>
          <p:nvPr/>
        </p:nvSpPr>
        <p:spPr>
          <a:xfrm>
            <a:off x="4869000" y="810720"/>
            <a:ext cx="42055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iOS Framework Stack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8" name="Grupa 45"/>
          <p:cNvGrpSpPr/>
          <p:nvPr/>
        </p:nvGrpSpPr>
        <p:grpSpPr>
          <a:xfrm>
            <a:off x="4869000" y="1618920"/>
            <a:ext cx="4205520" cy="520560"/>
            <a:chOff x="4869000" y="1618920"/>
            <a:chExt cx="4205520" cy="520560"/>
          </a:xfrm>
        </p:grpSpPr>
        <p:grpSp>
          <p:nvGrpSpPr>
            <p:cNvPr id="839" name="Grupa 44"/>
            <p:cNvGrpSpPr/>
            <p:nvPr/>
          </p:nvGrpSpPr>
          <p:grpSpPr>
            <a:xfrm>
              <a:off x="4869000" y="1618920"/>
              <a:ext cx="4205520" cy="520560"/>
              <a:chOff x="4869000" y="1618920"/>
              <a:chExt cx="4205520" cy="520560"/>
            </a:xfrm>
          </p:grpSpPr>
          <p:sp>
            <p:nvSpPr>
              <p:cNvPr id="840" name="Shape 19"/>
              <p:cNvSpPr/>
              <p:nvPr/>
            </p:nvSpPr>
            <p:spPr>
              <a:xfrm>
                <a:off x="4869000" y="1618920"/>
                <a:ext cx="4205520" cy="520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Shape 20"/>
              <p:cNvSpPr/>
              <p:nvPr/>
            </p:nvSpPr>
            <p:spPr>
              <a:xfrm>
                <a:off x="4869000" y="1618920"/>
                <a:ext cx="54000" cy="520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2" name="Text 21"/>
            <p:cNvSpPr/>
            <p:nvPr/>
          </p:nvSpPr>
          <p:spPr>
            <a:xfrm>
              <a:off x="4997520" y="1638360"/>
              <a:ext cx="4022640" cy="182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Cocoa Touch (UIKit, SwiftUI)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Text 22"/>
            <p:cNvSpPr/>
            <p:nvPr/>
          </p:nvSpPr>
          <p:spPr>
            <a:xfrm>
              <a:off x="4997520" y="1865520"/>
              <a:ext cx="4022640" cy="225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UIApplication, UIViewController, UIView, CALayer, Core Animation. SwiftUI: declarative, state-driven, @Observable.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4" name="Grupa 46"/>
          <p:cNvGrpSpPr/>
          <p:nvPr/>
        </p:nvGrpSpPr>
        <p:grpSpPr>
          <a:xfrm>
            <a:off x="4869000" y="2202480"/>
            <a:ext cx="4205520" cy="460080"/>
            <a:chOff x="4869000" y="2202480"/>
            <a:chExt cx="4205520" cy="460080"/>
          </a:xfrm>
        </p:grpSpPr>
        <p:sp>
          <p:nvSpPr>
            <p:cNvPr id="845" name="Shape 23"/>
            <p:cNvSpPr/>
            <p:nvPr/>
          </p:nvSpPr>
          <p:spPr>
            <a:xfrm>
              <a:off x="4869000" y="2202480"/>
              <a:ext cx="4205520" cy="46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Shape 24"/>
            <p:cNvSpPr/>
            <p:nvPr/>
          </p:nvSpPr>
          <p:spPr>
            <a:xfrm>
              <a:off x="4869000" y="2202480"/>
              <a:ext cx="54000" cy="46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Text 25"/>
            <p:cNvSpPr/>
            <p:nvPr/>
          </p:nvSpPr>
          <p:spPr>
            <a:xfrm>
              <a:off x="4997520" y="2224800"/>
              <a:ext cx="4022640" cy="161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Media (AVFoundation, Metal)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Text 26"/>
            <p:cNvSpPr/>
            <p:nvPr/>
          </p:nvSpPr>
          <p:spPr>
            <a:xfrm>
              <a:off x="4997520" y="2420280"/>
              <a:ext cx="4022640" cy="198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AVPlayer, AVCaptureSession, Metal 3. Core Image GPU filters. ARKit, RealityKit, Vision (CoreML). Spatial Audio.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9" name="Grupa 47"/>
          <p:cNvGrpSpPr/>
          <p:nvPr/>
        </p:nvGrpSpPr>
        <p:grpSpPr>
          <a:xfrm>
            <a:off x="4869000" y="2713320"/>
            <a:ext cx="4205520" cy="480600"/>
            <a:chOff x="4869000" y="2713320"/>
            <a:chExt cx="4205520" cy="480600"/>
          </a:xfrm>
        </p:grpSpPr>
        <p:sp>
          <p:nvSpPr>
            <p:cNvPr id="850" name="Shape 27"/>
            <p:cNvSpPr/>
            <p:nvPr/>
          </p:nvSpPr>
          <p:spPr>
            <a:xfrm>
              <a:off x="4869000" y="2713320"/>
              <a:ext cx="4205520" cy="48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Shape 28"/>
            <p:cNvSpPr/>
            <p:nvPr/>
          </p:nvSpPr>
          <p:spPr>
            <a:xfrm>
              <a:off x="4869000" y="2713320"/>
              <a:ext cx="54000" cy="48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Text 29"/>
            <p:cNvSpPr/>
            <p:nvPr/>
          </p:nvSpPr>
          <p:spPr>
            <a:xfrm>
              <a:off x="4997520" y="2729880"/>
              <a:ext cx="4022640" cy="168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Core Services (Foundation)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Text 30"/>
            <p:cNvSpPr/>
            <p:nvPr/>
          </p:nvSpPr>
          <p:spPr>
            <a:xfrm>
              <a:off x="4997520" y="2940840"/>
              <a:ext cx="4022640" cy="207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URLSession, CoreData, CloudKit, CoreLocation, HealthKit, CryptoKit. Combine reactive framework.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4" name="Grupa 48"/>
          <p:cNvGrpSpPr/>
          <p:nvPr/>
        </p:nvGrpSpPr>
        <p:grpSpPr>
          <a:xfrm>
            <a:off x="4869000" y="3267360"/>
            <a:ext cx="4205520" cy="510480"/>
            <a:chOff x="4869000" y="3267360"/>
            <a:chExt cx="4205520" cy="510480"/>
          </a:xfrm>
        </p:grpSpPr>
        <p:sp>
          <p:nvSpPr>
            <p:cNvPr id="855" name="Shape 31"/>
            <p:cNvSpPr/>
            <p:nvPr/>
          </p:nvSpPr>
          <p:spPr>
            <a:xfrm>
              <a:off x="4869000" y="3267360"/>
              <a:ext cx="4205520" cy="510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Shape 32"/>
            <p:cNvSpPr/>
            <p:nvPr/>
          </p:nvSpPr>
          <p:spPr>
            <a:xfrm>
              <a:off x="4869000" y="3267360"/>
              <a:ext cx="54000" cy="510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Text 33"/>
            <p:cNvSpPr/>
            <p:nvPr/>
          </p:nvSpPr>
          <p:spPr>
            <a:xfrm>
              <a:off x="4997520" y="3285720"/>
              <a:ext cx="4022640" cy="178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Core OS (Darwin / XNU)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Text 34"/>
            <p:cNvSpPr/>
            <p:nvPr/>
          </p:nvSpPr>
          <p:spPr>
            <a:xfrm>
              <a:off x="4997520" y="3508920"/>
              <a:ext cx="4022640" cy="220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POSIX threads, BSD sockets, mmap, kqueue. libSystem. Grand Central Dispatch (GCD). DispatchSource.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9" name="Grupa 49"/>
          <p:cNvGrpSpPr/>
          <p:nvPr/>
        </p:nvGrpSpPr>
        <p:grpSpPr>
          <a:xfrm>
            <a:off x="4869000" y="3840480"/>
            <a:ext cx="4205520" cy="501480"/>
            <a:chOff x="4869000" y="3840480"/>
            <a:chExt cx="4205520" cy="501480"/>
          </a:xfrm>
        </p:grpSpPr>
        <p:sp>
          <p:nvSpPr>
            <p:cNvPr id="860" name="Shape 35"/>
            <p:cNvSpPr/>
            <p:nvPr/>
          </p:nvSpPr>
          <p:spPr>
            <a:xfrm>
              <a:off x="4869000" y="3840480"/>
              <a:ext cx="4205520" cy="501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Shape 36"/>
            <p:cNvSpPr/>
            <p:nvPr/>
          </p:nvSpPr>
          <p:spPr>
            <a:xfrm>
              <a:off x="4869000" y="3840480"/>
              <a:ext cx="54000" cy="501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Text 37"/>
            <p:cNvSpPr/>
            <p:nvPr/>
          </p:nvSpPr>
          <p:spPr>
            <a:xfrm>
              <a:off x="4997520" y="3858120"/>
              <a:ext cx="4022640" cy="175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Hardware Abstraction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Text 38"/>
            <p:cNvSpPr/>
            <p:nvPr/>
          </p:nvSpPr>
          <p:spPr>
            <a:xfrm>
              <a:off x="4997520" y="4077720"/>
              <a:ext cx="4022640" cy="216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IOKit drivers. SEP Interface. ANE via CoreML. GPU via Metal. BLE/NFC/UWB API. Core Haptics.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4" name="pole tekstowe 51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940E64ED-7E4D-4416-AA5B-9EFDAE174F67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Software energy management: Android Doze, iOS Background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5"/>
          <p:cNvSpPr/>
          <p:nvPr/>
        </p:nvSpPr>
        <p:spPr>
          <a:xfrm>
            <a:off x="436680" y="705240"/>
            <a:ext cx="8623440" cy="583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Software energy management jest równie ważny jak hardware. Systemy mobilne muszą agresywnie ograniczać tło bez degradacji UX — to wymaga precyzyjnych mechanizmów systemowych.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1" name="Grupa 31"/>
          <p:cNvGrpSpPr/>
          <p:nvPr/>
        </p:nvGrpSpPr>
        <p:grpSpPr>
          <a:xfrm>
            <a:off x="106560" y="1277640"/>
            <a:ext cx="4169160" cy="3590640"/>
            <a:chOff x="106560" y="1277640"/>
            <a:chExt cx="4169160" cy="3590640"/>
          </a:xfrm>
        </p:grpSpPr>
        <p:sp>
          <p:nvSpPr>
            <p:cNvPr id="872" name="Text 6"/>
            <p:cNvSpPr/>
            <p:nvPr/>
          </p:nvSpPr>
          <p:spPr>
            <a:xfrm>
              <a:off x="115920" y="1277640"/>
              <a:ext cx="4159800" cy="24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Android Doze Mode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Shape 7"/>
            <p:cNvSpPr/>
            <p:nvPr/>
          </p:nvSpPr>
          <p:spPr>
            <a:xfrm>
              <a:off x="106560" y="1533240"/>
              <a:ext cx="4159800" cy="3335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70d1a"/>
            </a:solidFill>
            <a:ln w="12600">
              <a:solidFill>
                <a:srgbClr val="1a2e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Text 8"/>
            <p:cNvSpPr/>
            <p:nvPr/>
          </p:nvSpPr>
          <p:spPr>
            <a:xfrm>
              <a:off x="3284280" y="1548000"/>
              <a:ext cx="913680" cy="158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50" b="0" u="none" strike="noStrike">
                  <a:solidFill>
                    <a:srgbClr val="4a7a9b"/>
                  </a:solidFill>
                  <a:effectLst/>
                  <a:uFillTx/>
                  <a:latin typeface="Calibri"/>
                  <a:ea typeface="Calibri"/>
                </a:rPr>
                <a:t>Kotlin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Text 9"/>
            <p:cNvSpPr/>
            <p:nvPr/>
          </p:nvSpPr>
          <p:spPr>
            <a:xfrm>
              <a:off x="198000" y="1617120"/>
              <a:ext cx="3995280" cy="3202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Android Doze — fazy i ograniczenia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Warunek: screen OFF + batt + nieruchomy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Light Doze: screen off, dowolna pozycja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✗ Network sync ograniczony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✓ Alarmy normalne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Deep Doze: screen off + nierucho. + ~30min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✗ Sieć (WiFi i cellular OFF)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✗ Wakelocks ignorowane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✗ AlarmManager (tylko EXEMPTED)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✗ GPS (LocationManager suspended)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✓ FCM high-priority push (wyjątek!)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</a:t>
              </a: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✓ CHRE sensory (step counter wciąż)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Maintenance window: ~1min/kilka godzin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WorkManager (poprawny sposób zadań):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val request = PeriodicWorkRequestBuilder&lt;SyncWorker&gt;(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  repeatInterval = 15, TimeUnit.MINUTES)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  .setConstraints(Constraints.Builder()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      .setRequiredNetworkType(CONNECTED)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      .setRequiresBatteryNotLow(true)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      .build())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  .build()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WorkManager.getInstance(ctx).enqueue(request)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WorkManager respektuje Doze constraints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6" name="Grupa 32"/>
          <p:cNvGrpSpPr/>
          <p:nvPr/>
        </p:nvGrpSpPr>
        <p:grpSpPr>
          <a:xfrm>
            <a:off x="4367160" y="1441440"/>
            <a:ext cx="4692960" cy="2602080"/>
            <a:chOff x="4367160" y="1441440"/>
            <a:chExt cx="4692960" cy="2602080"/>
          </a:xfrm>
        </p:grpSpPr>
        <p:sp>
          <p:nvSpPr>
            <p:cNvPr id="877" name="Text 10"/>
            <p:cNvSpPr/>
            <p:nvPr/>
          </p:nvSpPr>
          <p:spPr>
            <a:xfrm>
              <a:off x="4367160" y="1441440"/>
              <a:ext cx="4692960" cy="23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iOS Background Modes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Shape 11"/>
            <p:cNvSpPr/>
            <p:nvPr/>
          </p:nvSpPr>
          <p:spPr>
            <a:xfrm>
              <a:off x="4367160" y="1675080"/>
              <a:ext cx="4692960" cy="56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Shape 12"/>
            <p:cNvSpPr/>
            <p:nvPr/>
          </p:nvSpPr>
          <p:spPr>
            <a:xfrm>
              <a:off x="4367160" y="1675080"/>
              <a:ext cx="60120" cy="56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Text 13"/>
            <p:cNvSpPr/>
            <p:nvPr/>
          </p:nvSpPr>
          <p:spPr>
            <a:xfrm>
              <a:off x="4510080" y="1683360"/>
              <a:ext cx="4488840" cy="218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Background App Refresh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Text 14"/>
            <p:cNvSpPr/>
            <p:nvPr/>
          </p:nvSpPr>
          <p:spPr>
            <a:xfrm>
              <a:off x="4510080" y="1840320"/>
              <a:ext cx="4488840" cy="374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OS budzi app gdy transfer gotowy. App nie kontroluje timingu. BGAppRefreshTask: 30s limit. Thermal + battery → OS może opóźnić indefinitely.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Shape 15"/>
            <p:cNvSpPr/>
            <p:nvPr/>
          </p:nvSpPr>
          <p:spPr>
            <a:xfrm>
              <a:off x="4367160" y="2296440"/>
              <a:ext cx="4692960" cy="529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Shape 16"/>
            <p:cNvSpPr/>
            <p:nvPr/>
          </p:nvSpPr>
          <p:spPr>
            <a:xfrm>
              <a:off x="4367160" y="2296440"/>
              <a:ext cx="60120" cy="529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Text 17"/>
            <p:cNvSpPr/>
            <p:nvPr/>
          </p:nvSpPr>
          <p:spPr>
            <a:xfrm>
              <a:off x="4510080" y="2289600"/>
              <a:ext cx="4488840" cy="218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APNs + Silent Push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Text 18"/>
            <p:cNvSpPr/>
            <p:nvPr/>
          </p:nvSpPr>
          <p:spPr>
            <a:xfrm>
              <a:off x="4510080" y="2510640"/>
              <a:ext cx="4488840" cy="302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Apple Push Notification Service. Silent notification (content-available:1) → background fetch trigger. Priority 5 (throttled) vs 10 (immediate).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Shape 19"/>
            <p:cNvSpPr/>
            <p:nvPr/>
          </p:nvSpPr>
          <p:spPr>
            <a:xfrm>
              <a:off x="4367160" y="2878560"/>
              <a:ext cx="4692960" cy="582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Shape 20"/>
            <p:cNvSpPr/>
            <p:nvPr/>
          </p:nvSpPr>
          <p:spPr>
            <a:xfrm>
              <a:off x="4367160" y="2871000"/>
              <a:ext cx="60120" cy="582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Text 21"/>
            <p:cNvSpPr/>
            <p:nvPr/>
          </p:nvSpPr>
          <p:spPr>
            <a:xfrm>
              <a:off x="4510080" y="2880720"/>
              <a:ext cx="4488840" cy="218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BGProcessingTask (iOS 13+)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Text 22"/>
            <p:cNvSpPr/>
            <p:nvPr/>
          </p:nvSpPr>
          <p:spPr>
            <a:xfrm>
              <a:off x="4510080" y="3101760"/>
              <a:ext cx="4488840" cy="302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Długie przetwarzanie gdy ładowanie + WiFi. OS decyduje kiedy — setEarliestBeginDate = hint. Max ~10 minut. CoreML training w tle.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Shape 23"/>
            <p:cNvSpPr/>
            <p:nvPr/>
          </p:nvSpPr>
          <p:spPr>
            <a:xfrm>
              <a:off x="4367160" y="3497400"/>
              <a:ext cx="4692960" cy="54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Shape 24"/>
            <p:cNvSpPr/>
            <p:nvPr/>
          </p:nvSpPr>
          <p:spPr>
            <a:xfrm>
              <a:off x="4367160" y="3497400"/>
              <a:ext cx="60120" cy="54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Text 25"/>
            <p:cNvSpPr/>
            <p:nvPr/>
          </p:nvSpPr>
          <p:spPr>
            <a:xfrm>
              <a:off x="4510080" y="3484080"/>
              <a:ext cx="4488840" cy="218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Thermal State API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Text 26"/>
            <p:cNvSpPr/>
            <p:nvPr/>
          </p:nvSpPr>
          <p:spPr>
            <a:xfrm>
              <a:off x="4510080" y="3695400"/>
              <a:ext cx="4488840" cy="302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ProcessInfo.thermalState: nominal→fair→serious→critical. Poważny: obniż FPS, zatrzymaj heavy work. Krytyczny: OS może zakończyć app.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4" name="Shape 27"/>
          <p:cNvSpPr/>
          <p:nvPr/>
        </p:nvSpPr>
        <p:spPr>
          <a:xfrm>
            <a:off x="4367160" y="4121280"/>
            <a:ext cx="4692960" cy="81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28"/>
          <p:cNvSpPr/>
          <p:nvPr/>
        </p:nvSpPr>
        <p:spPr>
          <a:xfrm>
            <a:off x="7958520" y="4154760"/>
            <a:ext cx="1019520" cy="218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Swift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29"/>
          <p:cNvSpPr/>
          <p:nvPr/>
        </p:nvSpPr>
        <p:spPr>
          <a:xfrm>
            <a:off x="4397400" y="4177080"/>
            <a:ext cx="4041000" cy="697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5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NotificationCenter.default.addObserver(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5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forName: .thermalStateDidChange) { _ in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5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let state = ProcessInfo.processInfo.thermalState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5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if state == .serious { reduceSamplingRate() }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5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if state == .critical { stopBackgroundWork() }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5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ole tekstowe 34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096EEA7E-C072-436A-9263-E117485CEF7C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Mechanika i termika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chłodzenie, materiały i IP Rating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5"/>
          <p:cNvSpPr/>
          <p:nvPr/>
        </p:nvSpPr>
        <p:spPr>
          <a:xfrm>
            <a:off x="320040" y="749880"/>
            <a:ext cx="8503200" cy="677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Urządzenie mobilne nie ma aktywnego chłodzenia. Zarządzanie ciepłem to problem materiałowy </a:t>
            </a:r>
            <a:br>
              <a:rPr sz="1600"/>
            </a:b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i systemowy — throttling to kompromis temperature vs performance.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6"/>
          <p:cNvSpPr/>
          <p:nvPr/>
        </p:nvSpPr>
        <p:spPr>
          <a:xfrm>
            <a:off x="145800" y="1923480"/>
            <a:ext cx="4159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Metody chłodzenia pasywnego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5" name="Grupa 53"/>
          <p:cNvGrpSpPr/>
          <p:nvPr/>
        </p:nvGrpSpPr>
        <p:grpSpPr>
          <a:xfrm>
            <a:off x="117360" y="2168640"/>
            <a:ext cx="4362480" cy="713880"/>
            <a:chOff x="117360" y="2168640"/>
            <a:chExt cx="4362480" cy="713880"/>
          </a:xfrm>
        </p:grpSpPr>
        <p:sp>
          <p:nvSpPr>
            <p:cNvPr id="906" name="Shape 7"/>
            <p:cNvSpPr/>
            <p:nvPr/>
          </p:nvSpPr>
          <p:spPr>
            <a:xfrm>
              <a:off x="117360" y="2178720"/>
              <a:ext cx="4362480" cy="703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Shape 8"/>
            <p:cNvSpPr/>
            <p:nvPr/>
          </p:nvSpPr>
          <p:spPr>
            <a:xfrm>
              <a:off x="117360" y="2178720"/>
              <a:ext cx="56520" cy="703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Text 9"/>
            <p:cNvSpPr/>
            <p:nvPr/>
          </p:nvSpPr>
          <p:spPr>
            <a:xfrm>
              <a:off x="252000" y="2168640"/>
              <a:ext cx="417060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Vapor Chamber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Text 10"/>
            <p:cNvSpPr/>
            <p:nvPr/>
          </p:nvSpPr>
          <p:spPr>
            <a:xfrm>
              <a:off x="252000" y="2433960"/>
              <a:ext cx="4170600" cy="40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Płaski hermetyczny pojemnik z cieczą (woda/etanol). Para od SoC → skrapla na zimnym końcu → kapilarą wraca. Przewodność &gt;50× lepsza od miedzi. Samsung S25: 5,100mm² VC.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0" name="Grupa 52"/>
          <p:cNvGrpSpPr/>
          <p:nvPr/>
        </p:nvGrpSpPr>
        <p:grpSpPr>
          <a:xfrm>
            <a:off x="117360" y="2928960"/>
            <a:ext cx="4362480" cy="609120"/>
            <a:chOff x="117360" y="2928960"/>
            <a:chExt cx="4362480" cy="609120"/>
          </a:xfrm>
        </p:grpSpPr>
        <p:sp>
          <p:nvSpPr>
            <p:cNvPr id="911" name="Shape 11"/>
            <p:cNvSpPr/>
            <p:nvPr/>
          </p:nvSpPr>
          <p:spPr>
            <a:xfrm>
              <a:off x="117360" y="2945520"/>
              <a:ext cx="4362480" cy="592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Shape 12"/>
            <p:cNvSpPr/>
            <p:nvPr/>
          </p:nvSpPr>
          <p:spPr>
            <a:xfrm>
              <a:off x="117360" y="2945520"/>
              <a:ext cx="56520" cy="592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Text 13"/>
            <p:cNvSpPr/>
            <p:nvPr/>
          </p:nvSpPr>
          <p:spPr>
            <a:xfrm>
              <a:off x="252000" y="2928960"/>
              <a:ext cx="417060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Graphite / Graphene Sheet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Text 14"/>
            <p:cNvSpPr/>
            <p:nvPr/>
          </p:nvSpPr>
          <p:spPr>
            <a:xfrm>
              <a:off x="252000" y="3118680"/>
              <a:ext cx="4170600" cy="40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Arkusze grafitu 0.1mm. Anizotropowy: 700–1500 W/mK w płaszczyźnie (Cu: 400 W/mK), ale tylko 5 W/mK w osi Z. Między SoC a obudową. Tanie i cienkie.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5" name="Grupa 51"/>
          <p:cNvGrpSpPr/>
          <p:nvPr/>
        </p:nvGrpSpPr>
        <p:grpSpPr>
          <a:xfrm>
            <a:off x="117360" y="3578040"/>
            <a:ext cx="4362480" cy="564840"/>
            <a:chOff x="117360" y="3578040"/>
            <a:chExt cx="4362480" cy="564840"/>
          </a:xfrm>
        </p:grpSpPr>
        <p:sp>
          <p:nvSpPr>
            <p:cNvPr id="916" name="Shape 15"/>
            <p:cNvSpPr/>
            <p:nvPr/>
          </p:nvSpPr>
          <p:spPr>
            <a:xfrm>
              <a:off x="117360" y="3578040"/>
              <a:ext cx="4362480" cy="56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7" name="Shape 16"/>
            <p:cNvSpPr/>
            <p:nvPr/>
          </p:nvSpPr>
          <p:spPr>
            <a:xfrm>
              <a:off x="117360" y="3578040"/>
              <a:ext cx="56520" cy="56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Text 17"/>
            <p:cNvSpPr/>
            <p:nvPr/>
          </p:nvSpPr>
          <p:spPr>
            <a:xfrm>
              <a:off x="252000" y="3588840"/>
              <a:ext cx="417060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TIM (Thermal Interface Material)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9" name="Text 18"/>
            <p:cNvSpPr/>
            <p:nvPr/>
          </p:nvSpPr>
          <p:spPr>
            <a:xfrm>
              <a:off x="252000" y="3772080"/>
              <a:ext cx="4170600" cy="357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Między SoC a komorą: indium foil (5 W/mK) lub ciekły metal (70 W/mK — używa Apple w M-series laptopach). W telefonach: pasta termalna lub foil.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0" name="Grupa 50"/>
          <p:cNvGrpSpPr/>
          <p:nvPr/>
        </p:nvGrpSpPr>
        <p:grpSpPr>
          <a:xfrm>
            <a:off x="117360" y="4197960"/>
            <a:ext cx="4362480" cy="713880"/>
            <a:chOff x="117360" y="4197960"/>
            <a:chExt cx="4362480" cy="713880"/>
          </a:xfrm>
        </p:grpSpPr>
        <p:sp>
          <p:nvSpPr>
            <p:cNvPr id="921" name="Shape 19"/>
            <p:cNvSpPr/>
            <p:nvPr/>
          </p:nvSpPr>
          <p:spPr>
            <a:xfrm>
              <a:off x="117360" y="4197960"/>
              <a:ext cx="4362480" cy="713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Shape 20"/>
            <p:cNvSpPr/>
            <p:nvPr/>
          </p:nvSpPr>
          <p:spPr>
            <a:xfrm>
              <a:off x="117360" y="4197960"/>
              <a:ext cx="56520" cy="713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Text 21"/>
            <p:cNvSpPr/>
            <p:nvPr/>
          </p:nvSpPr>
          <p:spPr>
            <a:xfrm>
              <a:off x="252000" y="4197960"/>
              <a:ext cx="417060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DTPM (Dynamic Thermal Power Management)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Text 22"/>
            <p:cNvSpPr/>
            <p:nvPr/>
          </p:nvSpPr>
          <p:spPr>
            <a:xfrm>
              <a:off x="252000" y="4463280"/>
              <a:ext cx="4170600" cy="40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5–20 termistorów NTC w telefonie. Co 1°C wzrostu → redukcja CPU freq o 10%. Cel: &lt;45°C na obudowie zewnętrznej. Thermal budget dzielony między SoC+modem+wyświetlacz.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5" name="Text 23"/>
          <p:cNvSpPr/>
          <p:nvPr/>
        </p:nvSpPr>
        <p:spPr>
          <a:xfrm>
            <a:off x="4691880" y="1645920"/>
            <a:ext cx="42055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Materiały obudowy i certyfikacja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6" name="Grupa 49"/>
          <p:cNvGrpSpPr/>
          <p:nvPr/>
        </p:nvGrpSpPr>
        <p:grpSpPr>
          <a:xfrm>
            <a:off x="4663440" y="1908360"/>
            <a:ext cx="4413600" cy="571320"/>
            <a:chOff x="4663440" y="1908360"/>
            <a:chExt cx="4413600" cy="571320"/>
          </a:xfrm>
        </p:grpSpPr>
        <p:sp>
          <p:nvSpPr>
            <p:cNvPr id="927" name="Shape 24"/>
            <p:cNvSpPr/>
            <p:nvPr/>
          </p:nvSpPr>
          <p:spPr>
            <a:xfrm>
              <a:off x="4663440" y="1917000"/>
              <a:ext cx="4413600" cy="56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Shape 25"/>
            <p:cNvSpPr/>
            <p:nvPr/>
          </p:nvSpPr>
          <p:spPr>
            <a:xfrm>
              <a:off x="4663440" y="1917000"/>
              <a:ext cx="56520" cy="56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Text 26"/>
            <p:cNvSpPr/>
            <p:nvPr/>
          </p:nvSpPr>
          <p:spPr>
            <a:xfrm>
              <a:off x="4798080" y="1908360"/>
              <a:ext cx="42213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Aluminium 7000 series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Text 27"/>
            <p:cNvSpPr/>
            <p:nvPr/>
          </p:nvSpPr>
          <p:spPr>
            <a:xfrm>
              <a:off x="4798080" y="2148480"/>
              <a:ext cx="42213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CNC machined. Anodyzacja (kolor + twardość Al₂O₃). Przewodnik ciepła. Waga 2.7 g/cm³. iPhone 15/16 base, MacBook. Tańszy od tytanu.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1" name="Grupa 45"/>
          <p:cNvGrpSpPr/>
          <p:nvPr/>
        </p:nvGrpSpPr>
        <p:grpSpPr>
          <a:xfrm>
            <a:off x="4663440" y="2524320"/>
            <a:ext cx="4413600" cy="578880"/>
            <a:chOff x="4663440" y="2524320"/>
            <a:chExt cx="4413600" cy="578880"/>
          </a:xfrm>
        </p:grpSpPr>
        <p:sp>
          <p:nvSpPr>
            <p:cNvPr id="932" name="Shape 28"/>
            <p:cNvSpPr/>
            <p:nvPr/>
          </p:nvSpPr>
          <p:spPr>
            <a:xfrm>
              <a:off x="4663440" y="2537280"/>
              <a:ext cx="4413600" cy="565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Shape 29"/>
            <p:cNvSpPr/>
            <p:nvPr/>
          </p:nvSpPr>
          <p:spPr>
            <a:xfrm>
              <a:off x="4663440" y="2537280"/>
              <a:ext cx="56520" cy="565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Text 30"/>
            <p:cNvSpPr/>
            <p:nvPr/>
          </p:nvSpPr>
          <p:spPr>
            <a:xfrm>
              <a:off x="4798080" y="2524320"/>
              <a:ext cx="42213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Tytan Grade 5 (Ti-6Al-4V)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Text 31"/>
            <p:cNvSpPr/>
            <p:nvPr/>
          </p:nvSpPr>
          <p:spPr>
            <a:xfrm>
              <a:off x="4798080" y="2764080"/>
              <a:ext cx="42213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iPhone 16 Pro: brushed titanium frame. 3× twardszy, 40% lżejszy niż stal. Nie magnetyczny (MagSafe OK). Drogi CNC. S25 Ultra też tytan.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6" name="Grupa 46"/>
          <p:cNvGrpSpPr/>
          <p:nvPr/>
        </p:nvGrpSpPr>
        <p:grpSpPr>
          <a:xfrm>
            <a:off x="4663440" y="3106080"/>
            <a:ext cx="4413600" cy="555480"/>
            <a:chOff x="4663440" y="3106080"/>
            <a:chExt cx="4413600" cy="555480"/>
          </a:xfrm>
        </p:grpSpPr>
        <p:sp>
          <p:nvSpPr>
            <p:cNvPr id="937" name="Shape 32"/>
            <p:cNvSpPr/>
            <p:nvPr/>
          </p:nvSpPr>
          <p:spPr>
            <a:xfrm>
              <a:off x="4663440" y="3143520"/>
              <a:ext cx="4413600" cy="518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Shape 33"/>
            <p:cNvSpPr/>
            <p:nvPr/>
          </p:nvSpPr>
          <p:spPr>
            <a:xfrm>
              <a:off x="4663440" y="3143520"/>
              <a:ext cx="56520" cy="518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Text 34"/>
            <p:cNvSpPr/>
            <p:nvPr/>
          </p:nvSpPr>
          <p:spPr>
            <a:xfrm>
              <a:off x="4798080" y="3106080"/>
              <a:ext cx="42213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Gorilla Glass Victus 3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Text 35"/>
            <p:cNvSpPr/>
            <p:nvPr/>
          </p:nvSpPr>
          <p:spPr>
            <a:xfrm>
              <a:off x="4798080" y="3310200"/>
              <a:ext cx="4221360" cy="336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Corning aluminosilicate. 1.5m drop na twardej powierzchni. Anti-smudge oleophobic. AGC Dragontrail (Sony). Ceramic Shield Apple: nano-ceramic 4× twardszy.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1" name="Grupa 47"/>
          <p:cNvGrpSpPr/>
          <p:nvPr/>
        </p:nvGrpSpPr>
        <p:grpSpPr>
          <a:xfrm>
            <a:off x="4663440" y="3687840"/>
            <a:ext cx="4413600" cy="571680"/>
            <a:chOff x="4663440" y="3687840"/>
            <a:chExt cx="4413600" cy="571680"/>
          </a:xfrm>
        </p:grpSpPr>
        <p:sp>
          <p:nvSpPr>
            <p:cNvPr id="942" name="Shape 36"/>
            <p:cNvSpPr/>
            <p:nvPr/>
          </p:nvSpPr>
          <p:spPr>
            <a:xfrm>
              <a:off x="4663440" y="3708720"/>
              <a:ext cx="4413600" cy="550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3" name="Shape 37"/>
            <p:cNvSpPr/>
            <p:nvPr/>
          </p:nvSpPr>
          <p:spPr>
            <a:xfrm>
              <a:off x="4663440" y="3708720"/>
              <a:ext cx="56520" cy="550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4" name="Text 38"/>
            <p:cNvSpPr/>
            <p:nvPr/>
          </p:nvSpPr>
          <p:spPr>
            <a:xfrm>
              <a:off x="4798080" y="3687840"/>
              <a:ext cx="42213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IP68 / IP69K sealing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5" name="Text 39"/>
            <p:cNvSpPr/>
            <p:nvPr/>
          </p:nvSpPr>
          <p:spPr>
            <a:xfrm>
              <a:off x="4798080" y="3911400"/>
              <a:ext cx="42213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IP6X: pełna ochrona przed pyłem. IPX8: zanurzenie &gt; 1m OEM-defined. IPX9K (S25 Ultra): ciśnieniowe strumienie 8MPa. Uszczelki silikonowe, hydrophobic PCB.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6" name="Grupa 48"/>
          <p:cNvGrpSpPr/>
          <p:nvPr/>
        </p:nvGrpSpPr>
        <p:grpSpPr>
          <a:xfrm>
            <a:off x="4663440" y="4316040"/>
            <a:ext cx="4413600" cy="595080"/>
            <a:chOff x="4663440" y="4316040"/>
            <a:chExt cx="4413600" cy="595080"/>
          </a:xfrm>
        </p:grpSpPr>
        <p:sp>
          <p:nvSpPr>
            <p:cNvPr id="947" name="Shape 40"/>
            <p:cNvSpPr/>
            <p:nvPr/>
          </p:nvSpPr>
          <p:spPr>
            <a:xfrm>
              <a:off x="4663440" y="4316040"/>
              <a:ext cx="4413600" cy="59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Shape 41"/>
            <p:cNvSpPr/>
            <p:nvPr/>
          </p:nvSpPr>
          <p:spPr>
            <a:xfrm>
              <a:off x="4663440" y="4316040"/>
              <a:ext cx="56520" cy="59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Text 42"/>
            <p:cNvSpPr/>
            <p:nvPr/>
          </p:nvSpPr>
          <p:spPr>
            <a:xfrm>
              <a:off x="4798080" y="4337280"/>
              <a:ext cx="42213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MIL-STD-810H (rugged)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0" name="Text 43"/>
            <p:cNvSpPr/>
            <p:nvPr/>
          </p:nvSpPr>
          <p:spPr>
            <a:xfrm>
              <a:off x="4798080" y="4577400"/>
              <a:ext cx="42213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Military Standard: temperatura -40°C do +71°C, wibracje, upadki, wilgoć, ciśnienie. Zebra/CAT rugged phones. 26 różnych metod testowych.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1" name="pole tekstowe 56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A3F284BE-90D0-4AA8-A724-7955A273ECA5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Produkcja chipów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,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TSMC 3nm, fotolitografia EUV i pakowanie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5"/>
          <p:cNvSpPr/>
          <p:nvPr/>
        </p:nvSpPr>
        <p:spPr>
          <a:xfrm>
            <a:off x="4579560" y="749880"/>
            <a:ext cx="4442400" cy="1028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Produkcja mobilnych SoC to szczyt ludzkiej technologii. Tolerancje &lt; 1nm, niewyobrażalna czystość klasy ISO 1 (&lt; 10 cząstek/m³). Fabryka kosztuje &gt;$20 miliardów.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6"/>
          <p:cNvSpPr/>
          <p:nvPr/>
        </p:nvSpPr>
        <p:spPr>
          <a:xfrm>
            <a:off x="339480" y="766440"/>
            <a:ext cx="41598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Proces litograficzny</a:t>
            </a: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,</a:t>
            </a: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 kroki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9" name="Grupa 78"/>
          <p:cNvGrpSpPr/>
          <p:nvPr/>
        </p:nvGrpSpPr>
        <p:grpSpPr>
          <a:xfrm>
            <a:off x="320040" y="1041840"/>
            <a:ext cx="4159800" cy="3584160"/>
            <a:chOff x="320040" y="1041840"/>
            <a:chExt cx="4159800" cy="3584160"/>
          </a:xfrm>
        </p:grpSpPr>
        <p:sp>
          <p:nvSpPr>
            <p:cNvPr id="960" name="Shape 7"/>
            <p:cNvSpPr/>
            <p:nvPr/>
          </p:nvSpPr>
          <p:spPr>
            <a:xfrm>
              <a:off x="320040" y="1041840"/>
              <a:ext cx="41598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Shape 8"/>
            <p:cNvSpPr/>
            <p:nvPr/>
          </p:nvSpPr>
          <p:spPr>
            <a:xfrm>
              <a:off x="320040" y="1041840"/>
              <a:ext cx="540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2" name="Text 9"/>
            <p:cNvSpPr/>
            <p:nvPr/>
          </p:nvSpPr>
          <p:spPr>
            <a:xfrm>
              <a:off x="448200" y="1055520"/>
              <a:ext cx="3976920" cy="25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1. Wafer preparation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Text 10"/>
            <p:cNvSpPr/>
            <p:nvPr/>
          </p:nvSpPr>
          <p:spPr>
            <a:xfrm>
              <a:off x="448200" y="1380960"/>
              <a:ext cx="3976920" cy="23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Krzem monokrystaliczny (Czochralski). Wafer 300mm. Czystość 99.9999999%. CMP polish do Ra &lt; 0.1nm (atomowa gładkość).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Shape 11"/>
            <p:cNvSpPr/>
            <p:nvPr/>
          </p:nvSpPr>
          <p:spPr>
            <a:xfrm>
              <a:off x="320040" y="1774440"/>
              <a:ext cx="41598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Shape 12"/>
            <p:cNvSpPr/>
            <p:nvPr/>
          </p:nvSpPr>
          <p:spPr>
            <a:xfrm>
              <a:off x="320040" y="1774440"/>
              <a:ext cx="540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Text 13"/>
            <p:cNvSpPr/>
            <p:nvPr/>
          </p:nvSpPr>
          <p:spPr>
            <a:xfrm>
              <a:off x="448200" y="1788480"/>
              <a:ext cx="3976920" cy="25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2. Deposycja (CVD/ALD)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Text 14"/>
            <p:cNvSpPr/>
            <p:nvPr/>
          </p:nvSpPr>
          <p:spPr>
            <a:xfrm>
              <a:off x="448200" y="2113560"/>
              <a:ext cx="3976920" cy="23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CVD: SiO₂, Si₃N₄. ALD (Atomic Layer Deposition): HfO₂ gate dielectric 5Å</a:t>
              </a:r>
              <a:r>
                <a:rPr lang="pl-PL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,</a:t>
              </a:r>
              <a:r>
                <a:rPr lang="en-US" sz="11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mono-layer precyzja. High-K metal gate.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8" name="Shape 15"/>
            <p:cNvSpPr/>
            <p:nvPr/>
          </p:nvSpPr>
          <p:spPr>
            <a:xfrm>
              <a:off x="320040" y="2507400"/>
              <a:ext cx="41598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Shape 16"/>
            <p:cNvSpPr/>
            <p:nvPr/>
          </p:nvSpPr>
          <p:spPr>
            <a:xfrm>
              <a:off x="320040" y="2507400"/>
              <a:ext cx="540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Text 17"/>
            <p:cNvSpPr/>
            <p:nvPr/>
          </p:nvSpPr>
          <p:spPr>
            <a:xfrm>
              <a:off x="448200" y="2521080"/>
              <a:ext cx="3976920" cy="25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3. EUV fotolitografia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Text 18"/>
            <p:cNvSpPr/>
            <p:nvPr/>
          </p:nvSpPr>
          <p:spPr>
            <a:xfrm>
              <a:off x="448200" y="2846520"/>
              <a:ext cx="3976920" cy="23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ASML EUV: λ=13.5nm. Tin droplet + laser → plasma → EUV. Reticle (mask) 4:1 reduction. 20+ warstw. Skanowanie 120 waferów/h.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2" name="Shape 19"/>
            <p:cNvSpPr/>
            <p:nvPr/>
          </p:nvSpPr>
          <p:spPr>
            <a:xfrm>
              <a:off x="320040" y="3240360"/>
              <a:ext cx="41598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3" name="Shape 20"/>
            <p:cNvSpPr/>
            <p:nvPr/>
          </p:nvSpPr>
          <p:spPr>
            <a:xfrm>
              <a:off x="320040" y="3240360"/>
              <a:ext cx="540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4" name="Text 21"/>
            <p:cNvSpPr/>
            <p:nvPr/>
          </p:nvSpPr>
          <p:spPr>
            <a:xfrm>
              <a:off x="448200" y="3254040"/>
              <a:ext cx="3976920" cy="25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4. Trawienie i implantacja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Text 22"/>
            <p:cNvSpPr/>
            <p:nvPr/>
          </p:nvSpPr>
          <p:spPr>
            <a:xfrm>
              <a:off x="448200" y="3579120"/>
              <a:ext cx="3976920" cy="23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Plasma etch CF₄+O₂: anizotropowe ściany. Ion implantation: B/P/As doping. ALE (Atomic Layer Etch) mono-layer precision.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6" name="Shape 23"/>
            <p:cNvSpPr/>
            <p:nvPr/>
          </p:nvSpPr>
          <p:spPr>
            <a:xfrm>
              <a:off x="320040" y="3973320"/>
              <a:ext cx="41598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7" name="Shape 24"/>
            <p:cNvSpPr/>
            <p:nvPr/>
          </p:nvSpPr>
          <p:spPr>
            <a:xfrm>
              <a:off x="320040" y="3973320"/>
              <a:ext cx="54000" cy="652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Text 25"/>
            <p:cNvSpPr/>
            <p:nvPr/>
          </p:nvSpPr>
          <p:spPr>
            <a:xfrm>
              <a:off x="448200" y="3994560"/>
              <a:ext cx="3976920" cy="256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5. Test, dicing i pakowanie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Text 26"/>
            <p:cNvSpPr/>
            <p:nvPr/>
          </p:nvSpPr>
          <p:spPr>
            <a:xfrm>
              <a:off x="448200" y="4312440"/>
              <a:ext cx="3976920" cy="23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199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E-test na waferze. KGD (Known Good Die). Laser dicing. PoP stacking. Yield ~70–80% dla N3E. Koszt = wafer / (dies × yield).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0" name="Grupa 79"/>
          <p:cNvGrpSpPr/>
          <p:nvPr/>
        </p:nvGrpSpPr>
        <p:grpSpPr>
          <a:xfrm>
            <a:off x="4663440" y="2045160"/>
            <a:ext cx="4290120" cy="1757880"/>
            <a:chOff x="4663440" y="2045160"/>
            <a:chExt cx="4290120" cy="1757880"/>
          </a:xfrm>
        </p:grpSpPr>
        <p:sp>
          <p:nvSpPr>
            <p:cNvPr id="981" name="Text 27"/>
            <p:cNvSpPr/>
            <p:nvPr/>
          </p:nvSpPr>
          <p:spPr>
            <a:xfrm>
              <a:off x="4663440" y="2045160"/>
              <a:ext cx="4205520" cy="19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Porównanie węzłów technologicznych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Shape 28"/>
            <p:cNvSpPr/>
            <p:nvPr/>
          </p:nvSpPr>
          <p:spPr>
            <a:xfrm>
              <a:off x="4663440" y="2232000"/>
              <a:ext cx="4290120" cy="23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3" name="Text 29"/>
            <p:cNvSpPr/>
            <p:nvPr/>
          </p:nvSpPr>
          <p:spPr>
            <a:xfrm>
              <a:off x="4663440" y="2242440"/>
              <a:ext cx="1661040" cy="215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Węzeł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Text 30"/>
            <p:cNvSpPr/>
            <p:nvPr/>
          </p:nvSpPr>
          <p:spPr>
            <a:xfrm>
              <a:off x="6324480" y="2242080"/>
              <a:ext cx="1066680" cy="216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Gęstość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Text 31"/>
            <p:cNvSpPr/>
            <p:nvPr/>
          </p:nvSpPr>
          <p:spPr>
            <a:xfrm>
              <a:off x="7426440" y="2242080"/>
              <a:ext cx="810720" cy="216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Zużycie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Text 32"/>
            <p:cNvSpPr/>
            <p:nvPr/>
          </p:nvSpPr>
          <p:spPr>
            <a:xfrm>
              <a:off x="8416800" y="2247480"/>
              <a:ext cx="536400" cy="201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Perf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Shape 33"/>
            <p:cNvSpPr/>
            <p:nvPr/>
          </p:nvSpPr>
          <p:spPr>
            <a:xfrm>
              <a:off x="4663440" y="2502000"/>
              <a:ext cx="1620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00b4c5"/>
                  </a:solidFill>
                  <a:effectLst/>
                  <a:uFillTx/>
                  <a:latin typeface="Cambria"/>
                  <a:ea typeface="Cambria"/>
                </a:rPr>
                <a:t>TSMC N3E </a:t>
              </a:r>
              <a:r>
                <a:rPr lang="en-US" sz="1100" b="0" u="none" strike="noStrike">
                  <a:solidFill>
                    <a:srgbClr val="00b4c5"/>
                  </a:solidFill>
                  <a:effectLst/>
                  <a:uFillTx/>
                  <a:latin typeface="Cambria"/>
                  <a:ea typeface="Cambria"/>
                </a:rPr>
                <a:t>(3nm class)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Shape 35"/>
            <p:cNvSpPr/>
            <p:nvPr/>
          </p:nvSpPr>
          <p:spPr>
            <a:xfrm>
              <a:off x="6309360" y="2502000"/>
              <a:ext cx="1008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19 mld/cm²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Shape 37"/>
            <p:cNvSpPr/>
            <p:nvPr/>
          </p:nvSpPr>
          <p:spPr>
            <a:xfrm>
              <a:off x="7342560" y="2502000"/>
              <a:ext cx="1044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-30% vs N5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Shape 39"/>
            <p:cNvSpPr/>
            <p:nvPr/>
          </p:nvSpPr>
          <p:spPr>
            <a:xfrm>
              <a:off x="8416800" y="2502000"/>
              <a:ext cx="5364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+18%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Shape 41"/>
            <p:cNvSpPr/>
            <p:nvPr/>
          </p:nvSpPr>
          <p:spPr>
            <a:xfrm>
              <a:off x="4663440" y="2842560"/>
              <a:ext cx="1620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d6006a"/>
                  </a:solidFill>
                  <a:effectLst/>
                  <a:uFillTx/>
                  <a:latin typeface="Cambria"/>
                  <a:ea typeface="Cambria"/>
                </a:rPr>
                <a:t>TSMC N4P </a:t>
              </a:r>
              <a:r>
                <a:rPr lang="en-US" sz="1100" b="0" u="none" strike="noStrike">
                  <a:solidFill>
                    <a:srgbClr val="d6006a"/>
                  </a:solidFill>
                  <a:effectLst/>
                  <a:uFillTx/>
                  <a:latin typeface="Cambria"/>
                  <a:ea typeface="Cambria"/>
                </a:rPr>
                <a:t>(4nm)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Shape 43"/>
            <p:cNvSpPr/>
            <p:nvPr/>
          </p:nvSpPr>
          <p:spPr>
            <a:xfrm>
              <a:off x="6309360" y="2842560"/>
              <a:ext cx="1008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15 mld/cm²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Shape 45"/>
            <p:cNvSpPr/>
            <p:nvPr/>
          </p:nvSpPr>
          <p:spPr>
            <a:xfrm>
              <a:off x="7342560" y="2842560"/>
              <a:ext cx="1044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-22% vs N5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Shape 47"/>
            <p:cNvSpPr/>
            <p:nvPr/>
          </p:nvSpPr>
          <p:spPr>
            <a:xfrm>
              <a:off x="8416800" y="2842560"/>
              <a:ext cx="5364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+11%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5" name="Shape 49"/>
            <p:cNvSpPr/>
            <p:nvPr/>
          </p:nvSpPr>
          <p:spPr>
            <a:xfrm>
              <a:off x="4663440" y="3169080"/>
              <a:ext cx="1620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1" u="none" spc="-20" strike="noStrike">
                  <a:solidFill>
                    <a:srgbClr val="0e9a6b"/>
                  </a:solidFill>
                  <a:effectLst/>
                  <a:uFillTx/>
                  <a:latin typeface="Cambria"/>
                  <a:ea typeface="Cambria"/>
                </a:rPr>
                <a:t>Samsung SF3 </a:t>
              </a:r>
              <a:r>
                <a:rPr lang="en-US" sz="1050" b="0" u="none" spc="-20" strike="noStrike">
                  <a:solidFill>
                    <a:srgbClr val="0e9a6b"/>
                  </a:solidFill>
                  <a:effectLst/>
                  <a:uFillTx/>
                  <a:latin typeface="Cambria"/>
                  <a:ea typeface="Cambria"/>
                </a:rPr>
                <a:t>GAA (3nm)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Shape 51"/>
            <p:cNvSpPr/>
            <p:nvPr/>
          </p:nvSpPr>
          <p:spPr>
            <a:xfrm>
              <a:off x="6309360" y="3169080"/>
              <a:ext cx="1008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17 mld/cm²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Shape 53"/>
            <p:cNvSpPr/>
            <p:nvPr/>
          </p:nvSpPr>
          <p:spPr>
            <a:xfrm>
              <a:off x="7342560" y="3169080"/>
              <a:ext cx="1044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-45% vs 5nm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Shape 55"/>
            <p:cNvSpPr/>
            <p:nvPr/>
          </p:nvSpPr>
          <p:spPr>
            <a:xfrm>
              <a:off x="8416800" y="3169080"/>
              <a:ext cx="5364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+23%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Shape 57"/>
            <p:cNvSpPr/>
            <p:nvPr/>
          </p:nvSpPr>
          <p:spPr>
            <a:xfrm>
              <a:off x="4663440" y="3502440"/>
              <a:ext cx="1620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1" u="none" strike="noStrike">
                  <a:solidFill>
                    <a:srgbClr val="6d28d9"/>
                  </a:solidFill>
                  <a:effectLst/>
                  <a:uFillTx/>
                  <a:latin typeface="Cambria"/>
                  <a:ea typeface="Cambria"/>
                </a:rPr>
                <a:t>TSMC </a:t>
              </a:r>
              <a:r>
                <a:rPr lang="en-US" sz="1050" b="0" u="none" strike="noStrike">
                  <a:solidFill>
                    <a:srgbClr val="6d28d9"/>
                  </a:solidFill>
                  <a:effectLst/>
                  <a:uFillTx/>
                  <a:latin typeface="Cambria"/>
                  <a:ea typeface="Cambria"/>
                </a:rPr>
                <a:t>N2 (2nm, 2025+)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Shape 59"/>
            <p:cNvSpPr/>
            <p:nvPr/>
          </p:nvSpPr>
          <p:spPr>
            <a:xfrm>
              <a:off x="6309360" y="3502440"/>
              <a:ext cx="1008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~25 mld/cm²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Shape 61"/>
            <p:cNvSpPr/>
            <p:nvPr/>
          </p:nvSpPr>
          <p:spPr>
            <a:xfrm>
              <a:off x="7342560" y="3502440"/>
              <a:ext cx="10440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pc="-31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-25–30% vs N3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Shape 63"/>
            <p:cNvSpPr/>
            <p:nvPr/>
          </p:nvSpPr>
          <p:spPr>
            <a:xfrm>
              <a:off x="8416800" y="3502440"/>
              <a:ext cx="536400" cy="30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afafa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3b5168"/>
                  </a:solidFill>
                  <a:effectLst/>
                  <a:uFillTx/>
                  <a:latin typeface="Consolas"/>
                  <a:ea typeface="Consolas"/>
                </a:rPr>
                <a:t>+10%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03" name="Grupa 76"/>
          <p:cNvGrpSpPr/>
          <p:nvPr/>
        </p:nvGrpSpPr>
        <p:grpSpPr>
          <a:xfrm>
            <a:off x="4654800" y="3867840"/>
            <a:ext cx="2088000" cy="767160"/>
            <a:chOff x="4654800" y="3867840"/>
            <a:chExt cx="2088000" cy="767160"/>
          </a:xfrm>
        </p:grpSpPr>
        <p:sp>
          <p:nvSpPr>
            <p:cNvPr id="1004" name="Shape 65"/>
            <p:cNvSpPr/>
            <p:nvPr/>
          </p:nvSpPr>
          <p:spPr>
            <a:xfrm>
              <a:off x="4654800" y="3867840"/>
              <a:ext cx="2088000" cy="767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Shape 66"/>
            <p:cNvSpPr/>
            <p:nvPr/>
          </p:nvSpPr>
          <p:spPr>
            <a:xfrm>
              <a:off x="4654800" y="3867840"/>
              <a:ext cx="2088000" cy="40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" bIns="72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6" name="Text 67"/>
          <p:cNvSpPr/>
          <p:nvPr/>
        </p:nvSpPr>
        <p:spPr>
          <a:xfrm>
            <a:off x="4654800" y="3937680"/>
            <a:ext cx="2088000" cy="283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2200" b="1" u="none" strike="noStrike">
                <a:solidFill>
                  <a:srgbClr val="00b4c5"/>
                </a:solidFill>
                <a:effectLst/>
                <a:uFillTx/>
                <a:latin typeface="Cambria"/>
                <a:ea typeface="Cambria"/>
              </a:rPr>
              <a:t>$20B+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68"/>
          <p:cNvSpPr/>
          <p:nvPr/>
        </p:nvSpPr>
        <p:spPr>
          <a:xfrm>
            <a:off x="4654800" y="4276440"/>
            <a:ext cx="2088000" cy="32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8bbad0"/>
                </a:solidFill>
                <a:effectLst/>
                <a:uFillTx/>
                <a:latin typeface="Calibri"/>
                <a:ea typeface="Calibri"/>
              </a:rPr>
              <a:t>Koszt fabryki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8bbad0"/>
                </a:solidFill>
                <a:effectLst/>
                <a:uFillTx/>
                <a:latin typeface="Calibri"/>
                <a:ea typeface="Calibri"/>
              </a:rPr>
              <a:t>TSMC fab 21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8" name="Grupa 77"/>
          <p:cNvGrpSpPr/>
          <p:nvPr/>
        </p:nvGrpSpPr>
        <p:grpSpPr>
          <a:xfrm>
            <a:off x="6865560" y="3877920"/>
            <a:ext cx="2088000" cy="767160"/>
            <a:chOff x="6865560" y="3877920"/>
            <a:chExt cx="2088000" cy="767160"/>
          </a:xfrm>
        </p:grpSpPr>
        <p:sp>
          <p:nvSpPr>
            <p:cNvPr id="1009" name="Shape 69"/>
            <p:cNvSpPr/>
            <p:nvPr/>
          </p:nvSpPr>
          <p:spPr>
            <a:xfrm>
              <a:off x="6865560" y="3877920"/>
              <a:ext cx="2088000" cy="767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Shape 70"/>
            <p:cNvSpPr/>
            <p:nvPr/>
          </p:nvSpPr>
          <p:spPr>
            <a:xfrm>
              <a:off x="6865560" y="3877920"/>
              <a:ext cx="2088000" cy="40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" bIns="72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1" name="Text 71"/>
          <p:cNvSpPr/>
          <p:nvPr/>
        </p:nvSpPr>
        <p:spPr>
          <a:xfrm>
            <a:off x="6865560" y="3936960"/>
            <a:ext cx="2088000" cy="283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2200" b="1" u="none" strike="noStrike">
                <a:solidFill>
                  <a:srgbClr val="d6006a"/>
                </a:solidFill>
                <a:effectLst/>
                <a:uFillTx/>
                <a:latin typeface="Cambria"/>
                <a:ea typeface="Cambria"/>
              </a:rPr>
              <a:t>3.5 km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72"/>
          <p:cNvSpPr/>
          <p:nvPr/>
        </p:nvSpPr>
        <p:spPr>
          <a:xfrm>
            <a:off x="6865560" y="4275720"/>
            <a:ext cx="2088000" cy="32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8bbad0"/>
                </a:solidFill>
                <a:effectLst/>
                <a:uFillTx/>
                <a:latin typeface="Calibri"/>
                <a:ea typeface="Calibri"/>
              </a:rPr>
              <a:t>Ścieżka fotonów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8bbad0"/>
                </a:solidFill>
                <a:effectLst/>
                <a:uFillTx/>
                <a:latin typeface="Calibri"/>
                <a:ea typeface="Calibri"/>
              </a:rPr>
              <a:t>EUV optical path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73"/>
          <p:cNvSpPr/>
          <p:nvPr/>
        </p:nvSpPr>
        <p:spPr>
          <a:xfrm>
            <a:off x="320040" y="4699800"/>
            <a:ext cx="8633520" cy="237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0f7fa"/>
          </a:solidFill>
          <a:ln w="12600">
            <a:solidFill>
              <a:srgbClr val="00b4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 74"/>
          <p:cNvSpPr/>
          <p:nvPr/>
        </p:nvSpPr>
        <p:spPr>
          <a:xfrm>
            <a:off x="457200" y="4720320"/>
            <a:ext cx="8411760" cy="19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000" b="0" u="none" spc="-20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CoWoS (Chip-on-Wafer-on-Substrate) i InFO_PoP: TSMC integruje LPDDR + SoC w jednym pakiecie. To samo co PoP ale nowsza wersja. Używany w iPhone SoC od A10.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ole tekstowe 65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109819D3-4C53-4681-B44B-F1CCE0CC448F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Studium przypadku: Apple iPhone 16 Pro (A18 Pro, 2024)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5"/>
          <p:cNvSpPr/>
          <p:nvPr/>
        </p:nvSpPr>
        <p:spPr>
          <a:xfrm>
            <a:off x="767880" y="864000"/>
            <a:ext cx="7607520" cy="93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800" b="0" u="none" strike="noStrike">
                <a:solidFill>
                  <a:srgbClr val="3b5168"/>
                </a:solidFill>
                <a:effectLst/>
                <a:uFillTx/>
                <a:latin typeface="CMU Sans Serif"/>
                <a:ea typeface="CMU Sans Serif"/>
              </a:rPr>
              <a:t>iPhone 16 Pro to szczyt integracji pionowej Apple.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800" b="0" u="none" strike="noStrike">
                <a:solidFill>
                  <a:srgbClr val="3b5168"/>
                </a:solidFill>
                <a:effectLst/>
                <a:uFillTx/>
                <a:latin typeface="CMU Sans Serif"/>
                <a:ea typeface="CMU Sans Serif"/>
              </a:rPr>
              <a:t> </a:t>
            </a:r>
            <a:r>
              <a:rPr lang="pl-PL" sz="1800" b="0" u="none" strike="noStrike">
                <a:solidFill>
                  <a:srgbClr val="3b5168"/>
                </a:solidFill>
                <a:effectLst/>
                <a:uFillTx/>
                <a:latin typeface="CMU Sans Serif"/>
                <a:ea typeface="CMU Sans Serif"/>
              </a:rPr>
              <a:t>W</a:t>
            </a:r>
            <a:r>
              <a:rPr lang="pl-PL" sz="1800" b="0" u="none" strike="noStrike">
                <a:solidFill>
                  <a:srgbClr val="3b5168"/>
                </a:solidFill>
                <a:effectLst/>
                <a:uFillTx/>
                <a:latin typeface="CMU Sans Serif"/>
                <a:ea typeface="CMU Sans Serif"/>
              </a:rPr>
              <a:t>łasny SoC, własny modem (C1 od 16e), własne oprogramowanie.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800" b="0" u="none" strike="noStrike">
                <a:solidFill>
                  <a:srgbClr val="3b5168"/>
                </a:solidFill>
                <a:effectLst/>
                <a:uFillTx/>
                <a:latin typeface="CMU Sans Serif"/>
                <a:ea typeface="CMU Sans Serif"/>
              </a:rPr>
              <a:t>Każdy komponent zaprojektowany razem.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2" name="Grupa 31"/>
          <p:cNvGrpSpPr/>
          <p:nvPr/>
        </p:nvGrpSpPr>
        <p:grpSpPr>
          <a:xfrm>
            <a:off x="274320" y="2301480"/>
            <a:ext cx="4251240" cy="795600"/>
            <a:chOff x="274320" y="2301480"/>
            <a:chExt cx="4251240" cy="795600"/>
          </a:xfrm>
        </p:grpSpPr>
        <p:sp>
          <p:nvSpPr>
            <p:cNvPr id="1023" name="Shape 6"/>
            <p:cNvSpPr/>
            <p:nvPr/>
          </p:nvSpPr>
          <p:spPr>
            <a:xfrm>
              <a:off x="274320" y="2301480"/>
              <a:ext cx="425124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Shape 7"/>
            <p:cNvSpPr/>
            <p:nvPr/>
          </p:nvSpPr>
          <p:spPr>
            <a:xfrm>
              <a:off x="274320" y="2301480"/>
              <a:ext cx="5400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Text 8"/>
            <p:cNvSpPr/>
            <p:nvPr/>
          </p:nvSpPr>
          <p:spPr>
            <a:xfrm>
              <a:off x="402480" y="2381400"/>
              <a:ext cx="4068360" cy="151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SoC — Apple A18 Pro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Text 9"/>
            <p:cNvSpPr/>
            <p:nvPr/>
          </p:nvSpPr>
          <p:spPr>
            <a:xfrm>
              <a:off x="402480" y="2506320"/>
              <a:ext cx="4068360" cy="55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TSMC N3E. 6-core CPU (2P+4E). 6-core GPU. 16-core ANE 38 TOPS. 19 mld tranzystorów. Die ~82mm². 8GB LPDDR5X PoP. Razem na jednym pakiecie.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7" name="Grupa 36"/>
          <p:cNvGrpSpPr/>
          <p:nvPr/>
        </p:nvGrpSpPr>
        <p:grpSpPr>
          <a:xfrm>
            <a:off x="4681800" y="2301480"/>
            <a:ext cx="4251240" cy="795600"/>
            <a:chOff x="4681800" y="2301480"/>
            <a:chExt cx="4251240" cy="795600"/>
          </a:xfrm>
        </p:grpSpPr>
        <p:sp>
          <p:nvSpPr>
            <p:cNvPr id="1028" name="Shape 10"/>
            <p:cNvSpPr/>
            <p:nvPr/>
          </p:nvSpPr>
          <p:spPr>
            <a:xfrm>
              <a:off x="4681800" y="2301480"/>
              <a:ext cx="425124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Shape 11"/>
            <p:cNvSpPr/>
            <p:nvPr/>
          </p:nvSpPr>
          <p:spPr>
            <a:xfrm>
              <a:off x="4681800" y="2301480"/>
              <a:ext cx="5400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Text 12"/>
            <p:cNvSpPr/>
            <p:nvPr/>
          </p:nvSpPr>
          <p:spPr>
            <a:xfrm>
              <a:off x="4809600" y="2372400"/>
              <a:ext cx="4068360" cy="151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Wyświetlacz — Super Retina XDR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Text 13"/>
            <p:cNvSpPr/>
            <p:nvPr/>
          </p:nvSpPr>
          <p:spPr>
            <a:xfrm>
              <a:off x="4809600" y="2506320"/>
              <a:ext cx="4068360" cy="55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6.3" LTPO3 OLED 2622×1206 @460ppi. ProMotion 1–120Hz. 2000 nit HDR / 4000 nit outdoor. Always-On. Ceramic Shield szkło. 10-bit P3.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2" name="Grupa 32"/>
          <p:cNvGrpSpPr/>
          <p:nvPr/>
        </p:nvGrpSpPr>
        <p:grpSpPr>
          <a:xfrm>
            <a:off x="274320" y="3207600"/>
            <a:ext cx="4251240" cy="795600"/>
            <a:chOff x="274320" y="3207600"/>
            <a:chExt cx="4251240" cy="795600"/>
          </a:xfrm>
        </p:grpSpPr>
        <p:sp>
          <p:nvSpPr>
            <p:cNvPr id="1033" name="Shape 14"/>
            <p:cNvSpPr/>
            <p:nvPr/>
          </p:nvSpPr>
          <p:spPr>
            <a:xfrm>
              <a:off x="274320" y="3207600"/>
              <a:ext cx="425124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4" name="Shape 15"/>
            <p:cNvSpPr/>
            <p:nvPr/>
          </p:nvSpPr>
          <p:spPr>
            <a:xfrm>
              <a:off x="274320" y="3207600"/>
              <a:ext cx="5400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" name="Text 16"/>
            <p:cNvSpPr/>
            <p:nvPr/>
          </p:nvSpPr>
          <p:spPr>
            <a:xfrm>
              <a:off x="402480" y="3287520"/>
              <a:ext cx="4068360" cy="151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Kamera — 48MP + 48MP + 12MP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Text 17"/>
            <p:cNvSpPr/>
            <p:nvPr/>
          </p:nvSpPr>
          <p:spPr>
            <a:xfrm>
              <a:off x="402480" y="3412800"/>
              <a:ext cx="4068360" cy="55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Główna 48MP f/1.78 OIS (sensor-shift 5th gen). Ultra-wide 48MP f/2.2 AF. Tele 12MP f/2.8 5× peryskop. LiDAR. 4K120fps ProRes Log.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7" name="Grupa 35"/>
          <p:cNvGrpSpPr/>
          <p:nvPr/>
        </p:nvGrpSpPr>
        <p:grpSpPr>
          <a:xfrm>
            <a:off x="4681800" y="3207600"/>
            <a:ext cx="4251240" cy="795600"/>
            <a:chOff x="4681800" y="3207600"/>
            <a:chExt cx="4251240" cy="795600"/>
          </a:xfrm>
        </p:grpSpPr>
        <p:sp>
          <p:nvSpPr>
            <p:cNvPr id="1038" name="Shape 18"/>
            <p:cNvSpPr/>
            <p:nvPr/>
          </p:nvSpPr>
          <p:spPr>
            <a:xfrm>
              <a:off x="4681800" y="3207600"/>
              <a:ext cx="425124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9" name="Shape 19"/>
            <p:cNvSpPr/>
            <p:nvPr/>
          </p:nvSpPr>
          <p:spPr>
            <a:xfrm>
              <a:off x="4681800" y="3207600"/>
              <a:ext cx="54000" cy="79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0" name="Text 20"/>
            <p:cNvSpPr/>
            <p:nvPr/>
          </p:nvSpPr>
          <p:spPr>
            <a:xfrm>
              <a:off x="4809600" y="3278520"/>
              <a:ext cx="4068360" cy="151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Bateria i ładowanie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Text 21"/>
            <p:cNvSpPr/>
            <p:nvPr/>
          </p:nvSpPr>
          <p:spPr>
            <a:xfrm>
              <a:off x="4809600" y="3412800"/>
              <a:ext cx="4068360" cy="550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3582 mAh LiPo. USB-C PD 20W. MagSafe 25W. Qi2 15W. 27h video playback. Apple Silicon efficiency. PMIC 3 rails.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42" name="Grupa 33"/>
          <p:cNvGrpSpPr/>
          <p:nvPr/>
        </p:nvGrpSpPr>
        <p:grpSpPr>
          <a:xfrm>
            <a:off x="274320" y="4069440"/>
            <a:ext cx="4251240" cy="736560"/>
            <a:chOff x="274320" y="4069440"/>
            <a:chExt cx="4251240" cy="736560"/>
          </a:xfrm>
        </p:grpSpPr>
        <p:sp>
          <p:nvSpPr>
            <p:cNvPr id="1043" name="Shape 22"/>
            <p:cNvSpPr/>
            <p:nvPr/>
          </p:nvSpPr>
          <p:spPr>
            <a:xfrm>
              <a:off x="274320" y="4069440"/>
              <a:ext cx="4251240" cy="73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4" name="Shape 23"/>
            <p:cNvSpPr/>
            <p:nvPr/>
          </p:nvSpPr>
          <p:spPr>
            <a:xfrm>
              <a:off x="274320" y="4069440"/>
              <a:ext cx="54000" cy="73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5" name="Text 24"/>
            <p:cNvSpPr/>
            <p:nvPr/>
          </p:nvSpPr>
          <p:spPr>
            <a:xfrm>
              <a:off x="402480" y="4137480"/>
              <a:ext cx="4068360" cy="140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Łączność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Text 25"/>
            <p:cNvSpPr/>
            <p:nvPr/>
          </p:nvSpPr>
          <p:spPr>
            <a:xfrm>
              <a:off x="402480" y="4259160"/>
              <a:ext cx="4068360" cy="509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5G sub-6GHz + mmWave (US). WiFi 7 (802.11be). BT 5.3. NFC Apple Pay. UWB U2 chip. GPS+Galileo+BeiDou L1+L5 dual-band.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47" name="Grupa 34"/>
          <p:cNvGrpSpPr/>
          <p:nvPr/>
        </p:nvGrpSpPr>
        <p:grpSpPr>
          <a:xfrm>
            <a:off x="4681800" y="4069440"/>
            <a:ext cx="4251240" cy="736560"/>
            <a:chOff x="4681800" y="4069440"/>
            <a:chExt cx="4251240" cy="736560"/>
          </a:xfrm>
        </p:grpSpPr>
        <p:sp>
          <p:nvSpPr>
            <p:cNvPr id="1048" name="Shape 26"/>
            <p:cNvSpPr/>
            <p:nvPr/>
          </p:nvSpPr>
          <p:spPr>
            <a:xfrm>
              <a:off x="4681800" y="4069440"/>
              <a:ext cx="4251240" cy="73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9" name="Shape 27"/>
            <p:cNvSpPr/>
            <p:nvPr/>
          </p:nvSpPr>
          <p:spPr>
            <a:xfrm>
              <a:off x="4681800" y="4069440"/>
              <a:ext cx="54000" cy="73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5db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Text 28"/>
            <p:cNvSpPr/>
            <p:nvPr/>
          </p:nvSpPr>
          <p:spPr>
            <a:xfrm>
              <a:off x="4809600" y="4128480"/>
              <a:ext cx="4068360" cy="140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Bezpieczeństwo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Text 29"/>
            <p:cNvSpPr/>
            <p:nvPr/>
          </p:nvSpPr>
          <p:spPr>
            <a:xfrm>
              <a:off x="4809600" y="4259160"/>
              <a:ext cx="4068360" cy="509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SEP koprocesor. Face ID TrueDepth infrared dot projector. Titanium chassis. IP68 (6m/30min). Emergency SOS via satellite Globalstar.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2" name="pole tekstowe 38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275570F3-770D-427A-8CF9-57BA32369C8B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Studium przypadku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: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Samsung Galaxy S25 Ultra (SD 8 Elite, 2025)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5"/>
          <p:cNvSpPr/>
          <p:nvPr/>
        </p:nvSpPr>
        <p:spPr>
          <a:xfrm>
            <a:off x="876600" y="891360"/>
            <a:ext cx="7475400" cy="90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2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Galaxy S25 Ultra, czyli flagowy Android 2025. Snapdragon 8 Elite globalnie (koniec Exynos w Ultra). 200MP + AI features + S-Pen ekosystem + tytan chassis.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9" name="Grupa 39"/>
          <p:cNvGrpSpPr/>
          <p:nvPr/>
        </p:nvGrpSpPr>
        <p:grpSpPr>
          <a:xfrm>
            <a:off x="175320" y="2315880"/>
            <a:ext cx="4251240" cy="735480"/>
            <a:chOff x="175320" y="2315880"/>
            <a:chExt cx="4251240" cy="735480"/>
          </a:xfrm>
        </p:grpSpPr>
        <p:grpSp>
          <p:nvGrpSpPr>
            <p:cNvPr id="1060" name="Grupa 34"/>
            <p:cNvGrpSpPr/>
            <p:nvPr/>
          </p:nvGrpSpPr>
          <p:grpSpPr>
            <a:xfrm>
              <a:off x="175320" y="2315880"/>
              <a:ext cx="4251240" cy="735480"/>
              <a:chOff x="175320" y="2315880"/>
              <a:chExt cx="4251240" cy="735480"/>
            </a:xfrm>
          </p:grpSpPr>
          <p:sp>
            <p:nvSpPr>
              <p:cNvPr id="1061" name="Shape 6"/>
              <p:cNvSpPr/>
              <p:nvPr/>
            </p:nvSpPr>
            <p:spPr>
              <a:xfrm>
                <a:off x="175320" y="2315880"/>
                <a:ext cx="4251240" cy="735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2" name="Shape 7"/>
              <p:cNvSpPr/>
              <p:nvPr/>
            </p:nvSpPr>
            <p:spPr>
              <a:xfrm>
                <a:off x="175320" y="2315880"/>
                <a:ext cx="54000" cy="735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3" name="Text 8"/>
            <p:cNvSpPr/>
            <p:nvPr/>
          </p:nvSpPr>
          <p:spPr>
            <a:xfrm>
              <a:off x="303480" y="2345400"/>
              <a:ext cx="4068360" cy="240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SoC</a:t>
              </a:r>
              <a:r>
                <a:rPr lang="pl-PL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:</a:t>
              </a: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 Snapdragon 8 Elite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Text 9"/>
            <p:cNvSpPr/>
            <p:nvPr/>
          </p:nvSpPr>
          <p:spPr>
            <a:xfrm>
              <a:off x="272880" y="2652480"/>
              <a:ext cx="4068360" cy="336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pc="-6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TSMC N3E. 2× Oryon Prime @4.47GHz + 6× Oryon Perf. Adreno 830. Hexagon NPU 80 TOPS. 16GB LPDDR5X. Brak małych rdzeni</a:t>
              </a:r>
              <a:r>
                <a:rPr lang="pl-PL" sz="1200" b="0" u="none" spc="-6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,</a:t>
              </a:r>
              <a:r>
                <a:rPr lang="en-US" sz="1200" b="0" u="none" spc="-6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all-big design.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5" name="Grupa 38"/>
          <p:cNvGrpSpPr/>
          <p:nvPr/>
        </p:nvGrpSpPr>
        <p:grpSpPr>
          <a:xfrm>
            <a:off x="4556880" y="2331000"/>
            <a:ext cx="4518720" cy="735480"/>
            <a:chOff x="4556880" y="2331000"/>
            <a:chExt cx="4518720" cy="735480"/>
          </a:xfrm>
        </p:grpSpPr>
        <p:grpSp>
          <p:nvGrpSpPr>
            <p:cNvPr id="1066" name="Grupa 35"/>
            <p:cNvGrpSpPr/>
            <p:nvPr/>
          </p:nvGrpSpPr>
          <p:grpSpPr>
            <a:xfrm>
              <a:off x="4556880" y="2331000"/>
              <a:ext cx="4518720" cy="735480"/>
              <a:chOff x="4556880" y="2331000"/>
              <a:chExt cx="4518720" cy="735480"/>
            </a:xfrm>
          </p:grpSpPr>
          <p:sp>
            <p:nvSpPr>
              <p:cNvPr id="1067" name="Shape 10"/>
              <p:cNvSpPr/>
              <p:nvPr/>
            </p:nvSpPr>
            <p:spPr>
              <a:xfrm>
                <a:off x="4556880" y="2331000"/>
                <a:ext cx="4518720" cy="735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Shape 11"/>
              <p:cNvSpPr/>
              <p:nvPr/>
            </p:nvSpPr>
            <p:spPr>
              <a:xfrm>
                <a:off x="4556880" y="2331000"/>
                <a:ext cx="57240" cy="735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9" name="Text 12"/>
            <p:cNvSpPr/>
            <p:nvPr/>
          </p:nvSpPr>
          <p:spPr>
            <a:xfrm>
              <a:off x="4692600" y="2350080"/>
              <a:ext cx="375660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Wyświetlacz</a:t>
              </a:r>
              <a:r>
                <a:rPr lang="pl-PL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:</a:t>
              </a: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 </a:t>
              </a:r>
              <a:r>
                <a:rPr lang="pl-PL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d</a:t>
              </a: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ynamic AMOLED 2X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Text 13"/>
            <p:cNvSpPr/>
            <p:nvPr/>
          </p:nvSpPr>
          <p:spPr>
            <a:xfrm>
              <a:off x="4682880" y="2650680"/>
              <a:ext cx="4266000" cy="390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6.9" LTPO E7 OLED 3088×1440 @505ppi. 1–120Hz. Vision Booster 2600 nit outdoor. AOD. Gorilla Glass Armor 2. Bez curvature (płaski ekran).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1" name="Grupa 40"/>
          <p:cNvGrpSpPr/>
          <p:nvPr/>
        </p:nvGrpSpPr>
        <p:grpSpPr>
          <a:xfrm>
            <a:off x="175320" y="3107520"/>
            <a:ext cx="4251240" cy="768240"/>
            <a:chOff x="175320" y="3107520"/>
            <a:chExt cx="4251240" cy="768240"/>
          </a:xfrm>
        </p:grpSpPr>
        <p:grpSp>
          <p:nvGrpSpPr>
            <p:cNvPr id="1072" name="Grupa 33"/>
            <p:cNvGrpSpPr/>
            <p:nvPr/>
          </p:nvGrpSpPr>
          <p:grpSpPr>
            <a:xfrm>
              <a:off x="175320" y="3107520"/>
              <a:ext cx="4251240" cy="768240"/>
              <a:chOff x="175320" y="3107520"/>
              <a:chExt cx="4251240" cy="768240"/>
            </a:xfrm>
          </p:grpSpPr>
          <p:sp>
            <p:nvSpPr>
              <p:cNvPr id="1073" name="Shape 14"/>
              <p:cNvSpPr/>
              <p:nvPr/>
            </p:nvSpPr>
            <p:spPr>
              <a:xfrm>
                <a:off x="175320" y="3107520"/>
                <a:ext cx="4251240" cy="768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4" name="Shape 15"/>
              <p:cNvSpPr/>
              <p:nvPr/>
            </p:nvSpPr>
            <p:spPr>
              <a:xfrm>
                <a:off x="175320" y="3107520"/>
                <a:ext cx="54000" cy="768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5" name="Text 16"/>
            <p:cNvSpPr/>
            <p:nvPr/>
          </p:nvSpPr>
          <p:spPr>
            <a:xfrm>
              <a:off x="303480" y="3168000"/>
              <a:ext cx="403776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Kamera</a:t>
              </a:r>
              <a:r>
                <a:rPr lang="pl-PL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:</a:t>
              </a: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 200MP+50MP+10MP+50MP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Text 17"/>
            <p:cNvSpPr/>
            <p:nvPr/>
          </p:nvSpPr>
          <p:spPr>
            <a:xfrm>
              <a:off x="320040" y="3468600"/>
              <a:ext cx="4068360" cy="389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200MP f/1.7 OIS HP9 Nona-Binning. Ultra-wide 50MP f/1.9. Tele 10MP f/2.4 3× + 50MP f/3.4 5× peryskop. ProVisual Engine ISP.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7" name="Grupa 43"/>
          <p:cNvGrpSpPr/>
          <p:nvPr/>
        </p:nvGrpSpPr>
        <p:grpSpPr>
          <a:xfrm>
            <a:off x="4556880" y="3130200"/>
            <a:ext cx="4518720" cy="750960"/>
            <a:chOff x="4556880" y="3130200"/>
            <a:chExt cx="4518720" cy="750960"/>
          </a:xfrm>
        </p:grpSpPr>
        <p:grpSp>
          <p:nvGrpSpPr>
            <p:cNvPr id="1078" name="Grupa 32"/>
            <p:cNvGrpSpPr/>
            <p:nvPr/>
          </p:nvGrpSpPr>
          <p:grpSpPr>
            <a:xfrm>
              <a:off x="4556880" y="3130200"/>
              <a:ext cx="4518720" cy="750960"/>
              <a:chOff x="4556880" y="3130200"/>
              <a:chExt cx="4518720" cy="750960"/>
            </a:xfrm>
          </p:grpSpPr>
          <p:sp>
            <p:nvSpPr>
              <p:cNvPr id="1079" name="Shape 18"/>
              <p:cNvSpPr/>
              <p:nvPr/>
            </p:nvSpPr>
            <p:spPr>
              <a:xfrm>
                <a:off x="4556880" y="3130200"/>
                <a:ext cx="4518720" cy="750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Shape 19"/>
              <p:cNvSpPr/>
              <p:nvPr/>
            </p:nvSpPr>
            <p:spPr>
              <a:xfrm>
                <a:off x="4556880" y="3130200"/>
                <a:ext cx="57240" cy="750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1" name="Text 20"/>
            <p:cNvSpPr/>
            <p:nvPr/>
          </p:nvSpPr>
          <p:spPr>
            <a:xfrm>
              <a:off x="4692600" y="3165120"/>
              <a:ext cx="4324320" cy="224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Bateria i ładowanie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2" name="Text 21"/>
            <p:cNvSpPr/>
            <p:nvPr/>
          </p:nvSpPr>
          <p:spPr>
            <a:xfrm>
              <a:off x="4692600" y="3453120"/>
              <a:ext cx="4324320" cy="381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5000 mAh. 45W SuperVOOC wired. 15W wireless Qi2. 4.5W reverse wireless. Vapor Chamber 5100mm². Cooltech+ 7-layer cooling.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3" name="Grupa 41"/>
          <p:cNvGrpSpPr/>
          <p:nvPr/>
        </p:nvGrpSpPr>
        <p:grpSpPr>
          <a:xfrm>
            <a:off x="175320" y="3939480"/>
            <a:ext cx="4251240" cy="797400"/>
            <a:chOff x="175320" y="3939480"/>
            <a:chExt cx="4251240" cy="797400"/>
          </a:xfrm>
        </p:grpSpPr>
        <p:grpSp>
          <p:nvGrpSpPr>
            <p:cNvPr id="1084" name="Grupa 36"/>
            <p:cNvGrpSpPr/>
            <p:nvPr/>
          </p:nvGrpSpPr>
          <p:grpSpPr>
            <a:xfrm>
              <a:off x="175320" y="3939480"/>
              <a:ext cx="4251240" cy="797400"/>
              <a:chOff x="175320" y="3939480"/>
              <a:chExt cx="4251240" cy="797400"/>
            </a:xfrm>
          </p:grpSpPr>
          <p:sp>
            <p:nvSpPr>
              <p:cNvPr id="1085" name="Shape 22"/>
              <p:cNvSpPr/>
              <p:nvPr/>
            </p:nvSpPr>
            <p:spPr>
              <a:xfrm>
                <a:off x="175320" y="3939480"/>
                <a:ext cx="4251240" cy="797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Shape 23"/>
              <p:cNvSpPr/>
              <p:nvPr/>
            </p:nvSpPr>
            <p:spPr>
              <a:xfrm>
                <a:off x="175320" y="3939480"/>
                <a:ext cx="54000" cy="797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c47a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7" name="Text 24"/>
            <p:cNvSpPr/>
            <p:nvPr/>
          </p:nvSpPr>
          <p:spPr>
            <a:xfrm>
              <a:off x="303480" y="3985200"/>
              <a:ext cx="4037760" cy="210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S-Pen i Galaxy AI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Text 25"/>
            <p:cNvSpPr/>
            <p:nvPr/>
          </p:nvSpPr>
          <p:spPr>
            <a:xfrm>
              <a:off x="303480" y="4328280"/>
              <a:ext cx="4068360" cy="37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pc="-6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S-Pen latencja &lt; 2.8ms. 4096 poziomów nacisku. Galaxy AI: Live Translate, Generative Edit, Note Assist. Gemini Nano on-device 80 TOPS certified.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9" name="Grupa 42"/>
          <p:cNvGrpSpPr/>
          <p:nvPr/>
        </p:nvGrpSpPr>
        <p:grpSpPr>
          <a:xfrm>
            <a:off x="4556880" y="3947040"/>
            <a:ext cx="4518720" cy="789840"/>
            <a:chOff x="4556880" y="3947040"/>
            <a:chExt cx="4518720" cy="789840"/>
          </a:xfrm>
        </p:grpSpPr>
        <p:grpSp>
          <p:nvGrpSpPr>
            <p:cNvPr id="1090" name="Grupa 37"/>
            <p:cNvGrpSpPr/>
            <p:nvPr/>
          </p:nvGrpSpPr>
          <p:grpSpPr>
            <a:xfrm>
              <a:off x="4556880" y="3947040"/>
              <a:ext cx="4518720" cy="789840"/>
              <a:chOff x="4556880" y="3947040"/>
              <a:chExt cx="4518720" cy="789840"/>
            </a:xfrm>
          </p:grpSpPr>
          <p:sp>
            <p:nvSpPr>
              <p:cNvPr id="1091" name="Shape 26"/>
              <p:cNvSpPr/>
              <p:nvPr/>
            </p:nvSpPr>
            <p:spPr>
              <a:xfrm>
                <a:off x="4556880" y="3947040"/>
                <a:ext cx="4518720" cy="789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Shape 27"/>
              <p:cNvSpPr/>
              <p:nvPr/>
            </p:nvSpPr>
            <p:spPr>
              <a:xfrm>
                <a:off x="4556880" y="3947040"/>
                <a:ext cx="57240" cy="789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1a5db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3" name="Text 28"/>
            <p:cNvSpPr/>
            <p:nvPr/>
          </p:nvSpPr>
          <p:spPr>
            <a:xfrm>
              <a:off x="4692600" y="3977640"/>
              <a:ext cx="4324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Bezpieczeństwo i łączność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4" name="Text 29"/>
            <p:cNvSpPr/>
            <p:nvPr/>
          </p:nvSpPr>
          <p:spPr>
            <a:xfrm>
              <a:off x="4692600" y="4328280"/>
              <a:ext cx="4324320" cy="354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Samsung Knox Vault (StrongBox). Tytan chassis. IP68+IP69K. WiFi 7. </a:t>
              </a:r>
              <a:br>
                <a:rPr sz="1200"/>
              </a:br>
              <a:r>
                <a:rPr lang="en-US" sz="1200" b="0" u="none" spc="-4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BT 5.4. UWB. Satellite SOS via Iridium. Android 15 + One UI 7.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5" name="pole tekstowe 44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EACAF467-50DF-4143-8B4F-69375D5FD9E1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A18 Pro vs Snapdragon 8 Elite: benchmarki i analiza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5"/>
          <p:cNvSpPr/>
          <p:nvPr/>
        </p:nvSpPr>
        <p:spPr>
          <a:xfrm>
            <a:off x="320040" y="749880"/>
            <a:ext cx="8503200" cy="319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Bezpośrednie porównanie Apple vs Qualcomm 2024–2025. Różne architektury, różne priorytety.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Apple: max single-core + efektywność energetyczna. Qualcomm: multi-core + NPU + 5G.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2" name="Grupa 94"/>
          <p:cNvGrpSpPr/>
          <p:nvPr/>
        </p:nvGrpSpPr>
        <p:grpSpPr>
          <a:xfrm>
            <a:off x="320040" y="1143000"/>
            <a:ext cx="8228880" cy="3512160"/>
            <a:chOff x="320040" y="1143000"/>
            <a:chExt cx="8228880" cy="3512160"/>
          </a:xfrm>
        </p:grpSpPr>
        <p:sp>
          <p:nvSpPr>
            <p:cNvPr id="1103" name="Shape 6"/>
            <p:cNvSpPr/>
            <p:nvPr/>
          </p:nvSpPr>
          <p:spPr>
            <a:xfrm>
              <a:off x="320040" y="1143000"/>
              <a:ext cx="8228880" cy="238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a1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" name="Text 7"/>
            <p:cNvSpPr/>
            <p:nvPr/>
          </p:nvSpPr>
          <p:spPr>
            <a:xfrm>
              <a:off x="320040" y="1143000"/>
              <a:ext cx="2651040" cy="238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Test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" name="Text 8"/>
            <p:cNvSpPr/>
            <p:nvPr/>
          </p:nvSpPr>
          <p:spPr>
            <a:xfrm>
              <a:off x="3017520" y="1143000"/>
              <a:ext cx="1828080" cy="238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Apple A18 Pro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Text 9"/>
            <p:cNvSpPr/>
            <p:nvPr/>
          </p:nvSpPr>
          <p:spPr>
            <a:xfrm>
              <a:off x="4892040" y="1143000"/>
              <a:ext cx="2010960" cy="238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Snapdragon 8 Elite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Text 10"/>
            <p:cNvSpPr/>
            <p:nvPr/>
          </p:nvSpPr>
          <p:spPr>
            <a:xfrm>
              <a:off x="7004160" y="1143000"/>
              <a:ext cx="1484640" cy="238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22d3ee"/>
                  </a:solidFill>
                  <a:effectLst/>
                  <a:uFillTx/>
                  <a:latin typeface="Cambria"/>
                  <a:ea typeface="Cambria"/>
                </a:rPr>
                <a:t>Lepszy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Shape 11"/>
            <p:cNvSpPr/>
            <p:nvPr/>
          </p:nvSpPr>
          <p:spPr>
            <a:xfrm>
              <a:off x="320040" y="140076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Text 12"/>
            <p:cNvSpPr/>
            <p:nvPr/>
          </p:nvSpPr>
          <p:spPr>
            <a:xfrm>
              <a:off x="374760" y="140076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CPU Single-core (GB6)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Shape 13"/>
            <p:cNvSpPr/>
            <p:nvPr/>
          </p:nvSpPr>
          <p:spPr>
            <a:xfrm>
              <a:off x="3017520" y="140076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Text 14"/>
            <p:cNvSpPr/>
            <p:nvPr/>
          </p:nvSpPr>
          <p:spPr>
            <a:xfrm>
              <a:off x="3072240" y="140076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3,561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Shape 15"/>
            <p:cNvSpPr/>
            <p:nvPr/>
          </p:nvSpPr>
          <p:spPr>
            <a:xfrm>
              <a:off x="4892040" y="140076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Text 16"/>
            <p:cNvSpPr/>
            <p:nvPr/>
          </p:nvSpPr>
          <p:spPr>
            <a:xfrm>
              <a:off x="4946760" y="140076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2,810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Shape 17"/>
            <p:cNvSpPr/>
            <p:nvPr/>
          </p:nvSpPr>
          <p:spPr>
            <a:xfrm>
              <a:off x="6949440" y="140076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5" name="Text 18"/>
            <p:cNvSpPr/>
            <p:nvPr/>
          </p:nvSpPr>
          <p:spPr>
            <a:xfrm>
              <a:off x="7004160" y="140076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🍎 Apple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6" name="Shape 19"/>
            <p:cNvSpPr/>
            <p:nvPr/>
          </p:nvSpPr>
          <p:spPr>
            <a:xfrm>
              <a:off x="320040" y="172980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7" name="Text 20"/>
            <p:cNvSpPr/>
            <p:nvPr/>
          </p:nvSpPr>
          <p:spPr>
            <a:xfrm>
              <a:off x="374760" y="172980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CPU Multi-core (GB6)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Shape 21"/>
            <p:cNvSpPr/>
            <p:nvPr/>
          </p:nvSpPr>
          <p:spPr>
            <a:xfrm>
              <a:off x="3017520" y="172980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Text 22"/>
            <p:cNvSpPr/>
            <p:nvPr/>
          </p:nvSpPr>
          <p:spPr>
            <a:xfrm>
              <a:off x="3072240" y="172980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14,000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Shape 23"/>
            <p:cNvSpPr/>
            <p:nvPr/>
          </p:nvSpPr>
          <p:spPr>
            <a:xfrm>
              <a:off x="4892040" y="172980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Text 24"/>
            <p:cNvSpPr/>
            <p:nvPr/>
          </p:nvSpPr>
          <p:spPr>
            <a:xfrm>
              <a:off x="4946760" y="172980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10,400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Shape 25"/>
            <p:cNvSpPr/>
            <p:nvPr/>
          </p:nvSpPr>
          <p:spPr>
            <a:xfrm>
              <a:off x="6949440" y="172980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Text 26"/>
            <p:cNvSpPr/>
            <p:nvPr/>
          </p:nvSpPr>
          <p:spPr>
            <a:xfrm>
              <a:off x="7004160" y="172980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🍎 Apple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Shape 27"/>
            <p:cNvSpPr/>
            <p:nvPr/>
          </p:nvSpPr>
          <p:spPr>
            <a:xfrm>
              <a:off x="320040" y="205884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Text 28"/>
            <p:cNvSpPr/>
            <p:nvPr/>
          </p:nvSpPr>
          <p:spPr>
            <a:xfrm>
              <a:off x="374760" y="205884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GPU (Metal / Vulkan)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Shape 29"/>
            <p:cNvSpPr/>
            <p:nvPr/>
          </p:nvSpPr>
          <p:spPr>
            <a:xfrm>
              <a:off x="3017520" y="205884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Text 30"/>
            <p:cNvSpPr/>
            <p:nvPr/>
          </p:nvSpPr>
          <p:spPr>
            <a:xfrm>
              <a:off x="3072240" y="205884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46,200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Shape 31"/>
            <p:cNvSpPr/>
            <p:nvPr/>
          </p:nvSpPr>
          <p:spPr>
            <a:xfrm>
              <a:off x="4892040" y="205884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Text 32"/>
            <p:cNvSpPr/>
            <p:nvPr/>
          </p:nvSpPr>
          <p:spPr>
            <a:xfrm>
              <a:off x="4946760" y="205884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30,100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Shape 33"/>
            <p:cNvSpPr/>
            <p:nvPr/>
          </p:nvSpPr>
          <p:spPr>
            <a:xfrm>
              <a:off x="6949440" y="205884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Text 34"/>
            <p:cNvSpPr/>
            <p:nvPr/>
          </p:nvSpPr>
          <p:spPr>
            <a:xfrm>
              <a:off x="7004160" y="205884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🍎 Apple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Shape 35"/>
            <p:cNvSpPr/>
            <p:nvPr/>
          </p:nvSpPr>
          <p:spPr>
            <a:xfrm>
              <a:off x="320040" y="238824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Text 36"/>
            <p:cNvSpPr/>
            <p:nvPr/>
          </p:nvSpPr>
          <p:spPr>
            <a:xfrm>
              <a:off x="374760" y="238824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NPU (TOPS INT8)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4" name="Shape 37"/>
            <p:cNvSpPr/>
            <p:nvPr/>
          </p:nvSpPr>
          <p:spPr>
            <a:xfrm>
              <a:off x="3017520" y="238824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Text 38"/>
            <p:cNvSpPr/>
            <p:nvPr/>
          </p:nvSpPr>
          <p:spPr>
            <a:xfrm>
              <a:off x="3072240" y="238824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38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6" name="Shape 39"/>
            <p:cNvSpPr/>
            <p:nvPr/>
          </p:nvSpPr>
          <p:spPr>
            <a:xfrm>
              <a:off x="4892040" y="238824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Text 40"/>
            <p:cNvSpPr/>
            <p:nvPr/>
          </p:nvSpPr>
          <p:spPr>
            <a:xfrm>
              <a:off x="4946760" y="238824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80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Shape 41"/>
            <p:cNvSpPr/>
            <p:nvPr/>
          </p:nvSpPr>
          <p:spPr>
            <a:xfrm>
              <a:off x="6949440" y="238824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Text 42"/>
            <p:cNvSpPr/>
            <p:nvPr/>
          </p:nvSpPr>
          <p:spPr>
            <a:xfrm>
              <a:off x="7004160" y="238824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🤖 Qualcomm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Shape 43"/>
            <p:cNvSpPr/>
            <p:nvPr/>
          </p:nvSpPr>
          <p:spPr>
            <a:xfrm>
              <a:off x="320040" y="271728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Text 44"/>
            <p:cNvSpPr/>
            <p:nvPr/>
          </p:nvSpPr>
          <p:spPr>
            <a:xfrm>
              <a:off x="374760" y="271728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RAM Bandwidth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2" name="Shape 45"/>
            <p:cNvSpPr/>
            <p:nvPr/>
          </p:nvSpPr>
          <p:spPr>
            <a:xfrm>
              <a:off x="3017520" y="271728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3" name="Text 46"/>
            <p:cNvSpPr/>
            <p:nvPr/>
          </p:nvSpPr>
          <p:spPr>
            <a:xfrm>
              <a:off x="3072240" y="271728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136 GB/s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Shape 47"/>
            <p:cNvSpPr/>
            <p:nvPr/>
          </p:nvSpPr>
          <p:spPr>
            <a:xfrm>
              <a:off x="4892040" y="271728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Text 48"/>
            <p:cNvSpPr/>
            <p:nvPr/>
          </p:nvSpPr>
          <p:spPr>
            <a:xfrm>
              <a:off x="4946760" y="271728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68 GB/s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Shape 49"/>
            <p:cNvSpPr/>
            <p:nvPr/>
          </p:nvSpPr>
          <p:spPr>
            <a:xfrm>
              <a:off x="6949440" y="271728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7" name="Text 50"/>
            <p:cNvSpPr/>
            <p:nvPr/>
          </p:nvSpPr>
          <p:spPr>
            <a:xfrm>
              <a:off x="7004160" y="271728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🍎 Apple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Shape 51"/>
            <p:cNvSpPr/>
            <p:nvPr/>
          </p:nvSpPr>
          <p:spPr>
            <a:xfrm>
              <a:off x="320040" y="304668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Text 52"/>
            <p:cNvSpPr/>
            <p:nvPr/>
          </p:nvSpPr>
          <p:spPr>
            <a:xfrm>
              <a:off x="374760" y="304668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Thermal sustained (5min)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Shape 53"/>
            <p:cNvSpPr/>
            <p:nvPr/>
          </p:nvSpPr>
          <p:spPr>
            <a:xfrm>
              <a:off x="3017520" y="304668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Text 54"/>
            <p:cNvSpPr/>
            <p:nvPr/>
          </p:nvSpPr>
          <p:spPr>
            <a:xfrm>
              <a:off x="3072240" y="304668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94%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2" name="Shape 55"/>
            <p:cNvSpPr/>
            <p:nvPr/>
          </p:nvSpPr>
          <p:spPr>
            <a:xfrm>
              <a:off x="4892040" y="304668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3" name="Text 56"/>
            <p:cNvSpPr/>
            <p:nvPr/>
          </p:nvSpPr>
          <p:spPr>
            <a:xfrm>
              <a:off x="4946760" y="304668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72%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Shape 57"/>
            <p:cNvSpPr/>
            <p:nvPr/>
          </p:nvSpPr>
          <p:spPr>
            <a:xfrm>
              <a:off x="6949440" y="304668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Text 58"/>
            <p:cNvSpPr/>
            <p:nvPr/>
          </p:nvSpPr>
          <p:spPr>
            <a:xfrm>
              <a:off x="7004160" y="304668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🍎 Apple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Shape 59"/>
            <p:cNvSpPr/>
            <p:nvPr/>
          </p:nvSpPr>
          <p:spPr>
            <a:xfrm>
              <a:off x="320040" y="337572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Text 60"/>
            <p:cNvSpPr/>
            <p:nvPr/>
          </p:nvSpPr>
          <p:spPr>
            <a:xfrm>
              <a:off x="374760" y="337572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Battery life (video)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Shape 61"/>
            <p:cNvSpPr/>
            <p:nvPr/>
          </p:nvSpPr>
          <p:spPr>
            <a:xfrm>
              <a:off x="3017520" y="337572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Text 62"/>
            <p:cNvSpPr/>
            <p:nvPr/>
          </p:nvSpPr>
          <p:spPr>
            <a:xfrm>
              <a:off x="3072240" y="337572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27h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Shape 63"/>
            <p:cNvSpPr/>
            <p:nvPr/>
          </p:nvSpPr>
          <p:spPr>
            <a:xfrm>
              <a:off x="4892040" y="337572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Text 64"/>
            <p:cNvSpPr/>
            <p:nvPr/>
          </p:nvSpPr>
          <p:spPr>
            <a:xfrm>
              <a:off x="4946760" y="337572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23h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Shape 65"/>
            <p:cNvSpPr/>
            <p:nvPr/>
          </p:nvSpPr>
          <p:spPr>
            <a:xfrm>
              <a:off x="6949440" y="337572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Text 66"/>
            <p:cNvSpPr/>
            <p:nvPr/>
          </p:nvSpPr>
          <p:spPr>
            <a:xfrm>
              <a:off x="7004160" y="337572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00b4c5"/>
                  </a:solidFill>
                  <a:effectLst/>
                  <a:uFillTx/>
                  <a:latin typeface="Consolas"/>
                  <a:ea typeface="Consolas"/>
                </a:rPr>
                <a:t>🍎 Apple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Shape 67"/>
            <p:cNvSpPr/>
            <p:nvPr/>
          </p:nvSpPr>
          <p:spPr>
            <a:xfrm>
              <a:off x="320040" y="370476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Text 68"/>
            <p:cNvSpPr/>
            <p:nvPr/>
          </p:nvSpPr>
          <p:spPr>
            <a:xfrm>
              <a:off x="374760" y="370476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Modem 5G mmWave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Shape 69"/>
            <p:cNvSpPr/>
            <p:nvPr/>
          </p:nvSpPr>
          <p:spPr>
            <a:xfrm>
              <a:off x="3017520" y="370476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Text 70"/>
            <p:cNvSpPr/>
            <p:nvPr/>
          </p:nvSpPr>
          <p:spPr>
            <a:xfrm>
              <a:off x="3072240" y="370476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C1 (brak mmWave w base)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Shape 71"/>
            <p:cNvSpPr/>
            <p:nvPr/>
          </p:nvSpPr>
          <p:spPr>
            <a:xfrm>
              <a:off x="4892040" y="370476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Text 72"/>
            <p:cNvSpPr/>
            <p:nvPr/>
          </p:nvSpPr>
          <p:spPr>
            <a:xfrm>
              <a:off x="4946760" y="370476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X75 full mmWave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Shape 73"/>
            <p:cNvSpPr/>
            <p:nvPr/>
          </p:nvSpPr>
          <p:spPr>
            <a:xfrm>
              <a:off x="6949440" y="370476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Text 74"/>
            <p:cNvSpPr/>
            <p:nvPr/>
          </p:nvSpPr>
          <p:spPr>
            <a:xfrm>
              <a:off x="7004160" y="370476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🤖 Qualcomm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Shape 75"/>
            <p:cNvSpPr/>
            <p:nvPr/>
          </p:nvSpPr>
          <p:spPr>
            <a:xfrm>
              <a:off x="320040" y="403416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" name="Text 76"/>
            <p:cNvSpPr/>
            <p:nvPr/>
          </p:nvSpPr>
          <p:spPr>
            <a:xfrm>
              <a:off x="374760" y="403416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AI benchmark (ETH AI)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Shape 77"/>
            <p:cNvSpPr/>
            <p:nvPr/>
          </p:nvSpPr>
          <p:spPr>
            <a:xfrm>
              <a:off x="3017520" y="403416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Text 78"/>
            <p:cNvSpPr/>
            <p:nvPr/>
          </p:nvSpPr>
          <p:spPr>
            <a:xfrm>
              <a:off x="3072240" y="403416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~45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Shape 79"/>
            <p:cNvSpPr/>
            <p:nvPr/>
          </p:nvSpPr>
          <p:spPr>
            <a:xfrm>
              <a:off x="4892040" y="403416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Text 80"/>
            <p:cNvSpPr/>
            <p:nvPr/>
          </p:nvSpPr>
          <p:spPr>
            <a:xfrm>
              <a:off x="4946760" y="403416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1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4850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Shape 81"/>
            <p:cNvSpPr/>
            <p:nvPr/>
          </p:nvSpPr>
          <p:spPr>
            <a:xfrm>
              <a:off x="6949440" y="403416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7fa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Text 82"/>
            <p:cNvSpPr/>
            <p:nvPr/>
          </p:nvSpPr>
          <p:spPr>
            <a:xfrm>
              <a:off x="7004160" y="403416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50" b="0" u="none" strike="noStrike">
                  <a:solidFill>
                    <a:srgbClr val="d6006a"/>
                  </a:solidFill>
                  <a:effectLst/>
                  <a:uFillTx/>
                  <a:latin typeface="Consolas"/>
                  <a:ea typeface="Consolas"/>
                </a:rPr>
                <a:t>🤖 Qualcomm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Shape 83"/>
            <p:cNvSpPr/>
            <p:nvPr/>
          </p:nvSpPr>
          <p:spPr>
            <a:xfrm>
              <a:off x="320040" y="4363200"/>
              <a:ext cx="26510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Text 84"/>
            <p:cNvSpPr/>
            <p:nvPr/>
          </p:nvSpPr>
          <p:spPr>
            <a:xfrm>
              <a:off x="374760" y="4363200"/>
              <a:ext cx="255960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82030"/>
                  </a:solidFill>
                  <a:effectLst/>
                  <a:uFillTx/>
                  <a:latin typeface="Calibri"/>
                  <a:ea typeface="Calibri"/>
                </a:rPr>
                <a:t>4K encode capability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Shape 85"/>
            <p:cNvSpPr/>
            <p:nvPr/>
          </p:nvSpPr>
          <p:spPr>
            <a:xfrm>
              <a:off x="3017520" y="4363200"/>
              <a:ext cx="18280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Text 86"/>
            <p:cNvSpPr/>
            <p:nvPr/>
          </p:nvSpPr>
          <p:spPr>
            <a:xfrm>
              <a:off x="3072240" y="4363200"/>
              <a:ext cx="1736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ProRes RAW 4K120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Shape 87"/>
            <p:cNvSpPr/>
            <p:nvPr/>
          </p:nvSpPr>
          <p:spPr>
            <a:xfrm>
              <a:off x="4892040" y="4363200"/>
              <a:ext cx="201096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Text 88"/>
            <p:cNvSpPr/>
            <p:nvPr/>
          </p:nvSpPr>
          <p:spPr>
            <a:xfrm>
              <a:off x="4946760" y="4363200"/>
              <a:ext cx="191952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182030"/>
                  </a:solidFill>
                  <a:effectLst/>
                  <a:uFillTx/>
                  <a:latin typeface="Consolas"/>
                  <a:ea typeface="Consolas"/>
                </a:rPr>
                <a:t>8K@30fps H.265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Shape 89"/>
            <p:cNvSpPr/>
            <p:nvPr/>
          </p:nvSpPr>
          <p:spPr>
            <a:xfrm>
              <a:off x="6949440" y="4363200"/>
              <a:ext cx="159948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6480">
              <a:solidFill>
                <a:srgbClr val="cbd5e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Text 90"/>
            <p:cNvSpPr/>
            <p:nvPr/>
          </p:nvSpPr>
          <p:spPr>
            <a:xfrm>
              <a:off x="7004160" y="4363200"/>
              <a:ext cx="1484640" cy="291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trike="noStrike">
                  <a:solidFill>
                    <a:srgbClr val="4f6177"/>
                  </a:solidFill>
                  <a:effectLst/>
                  <a:uFillTx/>
                  <a:latin typeface="Consolas"/>
                  <a:ea typeface="Consolas"/>
                </a:rPr>
                <a:t>— Remis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8" name="Shape 91"/>
          <p:cNvSpPr/>
          <p:nvPr/>
        </p:nvSpPr>
        <p:spPr>
          <a:xfrm>
            <a:off x="99000" y="4710600"/>
            <a:ext cx="8953560" cy="226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0f7fa"/>
          </a:solidFill>
          <a:ln w="12600">
            <a:solidFill>
              <a:srgbClr val="00b4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92"/>
          <p:cNvSpPr/>
          <p:nvPr/>
        </p:nvSpPr>
        <p:spPr>
          <a:xfrm>
            <a:off x="160200" y="4710600"/>
            <a:ext cx="8823960" cy="217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182030"/>
                </a:solidFill>
                <a:effectLst/>
                <a:uFillTx/>
                <a:latin typeface="Calibri"/>
                <a:ea typeface="Calibri"/>
              </a:rPr>
              <a:t>Apple dominuje CPU/GPU raw performance i efektywność energetyczną. Qualcomm: 2× więcej TOPS NPU, lepszy 5G modem mmWave i bardziej otwarty ekosystem AI tools (QNN SDK).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pole tekstowe 96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5F98EBA2-44D8-47DF-9242-42220931E8AC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Wearables: Apple Watch, Galaxy Watch i kategorie specjalne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5"/>
          <p:cNvSpPr/>
          <p:nvPr/>
        </p:nvSpPr>
        <p:spPr>
          <a:xfrm>
            <a:off x="180000" y="780480"/>
            <a:ext cx="8803440" cy="803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8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Wearables: ekstremalne ograniczenia — &lt; 1 cm³, bateria &lt; 300 mAh, IP68, całodobowe noszenie. SoC i architektura całkowicie inne niż smartfon.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7" name="Grupa 59"/>
          <p:cNvGrpSpPr/>
          <p:nvPr/>
        </p:nvGrpSpPr>
        <p:grpSpPr>
          <a:xfrm>
            <a:off x="180000" y="1593000"/>
            <a:ext cx="8803440" cy="3254040"/>
            <a:chOff x="180000" y="1593000"/>
            <a:chExt cx="8803440" cy="3254040"/>
          </a:xfrm>
        </p:grpSpPr>
        <p:sp>
          <p:nvSpPr>
            <p:cNvPr id="1198" name="Text 6"/>
            <p:cNvSpPr/>
            <p:nvPr/>
          </p:nvSpPr>
          <p:spPr>
            <a:xfrm>
              <a:off x="243720" y="2173680"/>
              <a:ext cx="4259520" cy="26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Apple Watch Ultra 2</a:t>
              </a:r>
              <a:r>
                <a:rPr lang="pl-PL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,</a:t>
              </a: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 architektura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9" name="Grupa 51"/>
            <p:cNvGrpSpPr/>
            <p:nvPr/>
          </p:nvGrpSpPr>
          <p:grpSpPr>
            <a:xfrm>
              <a:off x="180000" y="2453040"/>
              <a:ext cx="4320000" cy="561960"/>
              <a:chOff x="180000" y="2453040"/>
              <a:chExt cx="4320000" cy="561960"/>
            </a:xfrm>
          </p:grpSpPr>
          <p:sp>
            <p:nvSpPr>
              <p:cNvPr id="1200" name="Shape 7"/>
              <p:cNvSpPr/>
              <p:nvPr/>
            </p:nvSpPr>
            <p:spPr>
              <a:xfrm>
                <a:off x="180000" y="2453040"/>
                <a:ext cx="432000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Shape 8"/>
              <p:cNvSpPr/>
              <p:nvPr/>
            </p:nvSpPr>
            <p:spPr>
              <a:xfrm>
                <a:off x="180000" y="2453040"/>
                <a:ext cx="5616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Text 9"/>
              <p:cNvSpPr/>
              <p:nvPr/>
            </p:nvSpPr>
            <p:spPr>
              <a:xfrm>
                <a:off x="313200" y="2477520"/>
                <a:ext cx="4129920" cy="217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SoC </a:t>
                </a:r>
                <a:r>
                  <a:rPr lang="pl-PL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-</a:t>
                </a: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 Apple S9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Text 10"/>
              <p:cNvSpPr/>
              <p:nvPr/>
            </p:nvSpPr>
            <p:spPr>
              <a:xfrm>
                <a:off x="296640" y="2686320"/>
                <a:ext cx="4162320" cy="2995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99"/>
                  </a:lnSpc>
                  <a:tabLst>
                    <a:tab algn="l" pos="0"/>
                  </a:tabLst>
                </a:pPr>
                <a:r>
                  <a:rPr lang="en-US" sz="1100" b="0" u="none" spc="-31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64-bit dual-core. Neural Engine 4-core (60% szybszy vs S8). Ultra Wideband </a:t>
                </a:r>
                <a:br>
                  <a:rPr sz="1100"/>
                </a:br>
                <a:r>
                  <a:rPr lang="en-US" sz="1100" b="0" u="none" spc="-31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U2 chip. 64GB flash. LPDDR4X. Zużycie &lt; 200mW spoczynkowe.</a:t>
                </a:r>
                <a:endParaRPr lang="pl-PL" sz="11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04" name="Grupa 50"/>
            <p:cNvGrpSpPr/>
            <p:nvPr/>
          </p:nvGrpSpPr>
          <p:grpSpPr>
            <a:xfrm>
              <a:off x="180000" y="3055320"/>
              <a:ext cx="4320000" cy="561600"/>
              <a:chOff x="180000" y="3055320"/>
              <a:chExt cx="4320000" cy="561600"/>
            </a:xfrm>
          </p:grpSpPr>
          <p:grpSp>
            <p:nvGrpSpPr>
              <p:cNvPr id="1205" name="Grupa 49"/>
              <p:cNvGrpSpPr/>
              <p:nvPr/>
            </p:nvGrpSpPr>
            <p:grpSpPr>
              <a:xfrm>
                <a:off x="180000" y="3055320"/>
                <a:ext cx="4320000" cy="550440"/>
                <a:chOff x="180000" y="3055320"/>
                <a:chExt cx="4320000" cy="550440"/>
              </a:xfrm>
            </p:grpSpPr>
            <p:sp>
              <p:nvSpPr>
                <p:cNvPr id="1206" name="Shape 11"/>
                <p:cNvSpPr/>
                <p:nvPr/>
              </p:nvSpPr>
              <p:spPr>
                <a:xfrm>
                  <a:off x="180000" y="3055320"/>
                  <a:ext cx="4320000" cy="55044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  <a:effectLst>
                  <a:outerShdw dist="25455" dir="8100000" rotWithShape="0">
                    <a:srgbClr val="000000">
                      <a:alpha val="6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7" name="Shape 12"/>
                <p:cNvSpPr/>
                <p:nvPr/>
              </p:nvSpPr>
              <p:spPr>
                <a:xfrm>
                  <a:off x="180000" y="3055320"/>
                  <a:ext cx="56160" cy="55044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d6006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208" name="Text 13"/>
              <p:cNvSpPr/>
              <p:nvPr/>
            </p:nvSpPr>
            <p:spPr>
              <a:xfrm>
                <a:off x="303120" y="3070800"/>
                <a:ext cx="4129920" cy="198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Zdrowie (sensory)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Text 14"/>
              <p:cNvSpPr/>
              <p:nvPr/>
            </p:nvSpPr>
            <p:spPr>
              <a:xfrm>
                <a:off x="313200" y="3205800"/>
                <a:ext cx="4129920" cy="411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99"/>
                  </a:lnSpc>
                  <a:tabLst>
                    <a:tab algn="l" pos="0"/>
                  </a:tabLst>
                </a:pPr>
                <a:r>
                  <a:rPr lang="en-US" sz="1100" b="0" u="none" spc="-20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EKG AFib clearance FDA. Optical PPG: SpO₂, HR continous. Temperatura skóry noc. Akcelerometr crash detection 256g.</a:t>
                </a:r>
                <a:r>
                  <a:rPr lang="pl-PL" sz="1100" b="0" u="none" spc="-20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 </a:t>
                </a:r>
                <a:r>
                  <a:rPr lang="en-US" sz="1100" b="0" u="none" spc="-20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Barometr.</a:t>
                </a:r>
                <a:endParaRPr lang="pl-PL" sz="11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0" name="Grupa 48"/>
            <p:cNvGrpSpPr/>
            <p:nvPr/>
          </p:nvGrpSpPr>
          <p:grpSpPr>
            <a:xfrm>
              <a:off x="180000" y="3657240"/>
              <a:ext cx="4320000" cy="561960"/>
              <a:chOff x="180000" y="3657240"/>
              <a:chExt cx="4320000" cy="561960"/>
            </a:xfrm>
          </p:grpSpPr>
          <p:sp>
            <p:nvSpPr>
              <p:cNvPr id="1211" name="Shape 15"/>
              <p:cNvSpPr/>
              <p:nvPr/>
            </p:nvSpPr>
            <p:spPr>
              <a:xfrm>
                <a:off x="180000" y="3657240"/>
                <a:ext cx="432000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Shape 16"/>
              <p:cNvSpPr/>
              <p:nvPr/>
            </p:nvSpPr>
            <p:spPr>
              <a:xfrm>
                <a:off x="180000" y="3657240"/>
                <a:ext cx="5616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Text 17"/>
              <p:cNvSpPr/>
              <p:nvPr/>
            </p:nvSpPr>
            <p:spPr>
              <a:xfrm>
                <a:off x="313200" y="3680280"/>
                <a:ext cx="4129920" cy="185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Display LTPO OLED 1Hz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Text 18"/>
              <p:cNvSpPr/>
              <p:nvPr/>
            </p:nvSpPr>
            <p:spPr>
              <a:xfrm>
                <a:off x="313200" y="3880800"/>
                <a:ext cx="4140000" cy="302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1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49mm 2000 nit OLED LTPO. 1Hz AOD. Zafirowe szkło (9 Mohs). </a:t>
                </a:r>
                <a:br>
                  <a:rPr sz="1100"/>
                </a:br>
                <a:r>
                  <a:rPr lang="en-US" sz="11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GPS L1+L5 dual-band (Ultra). 36h+ bateria z optymalizacją.</a:t>
                </a:r>
                <a:endParaRPr lang="pl-PL" sz="11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5" name="Grupa 47"/>
            <p:cNvGrpSpPr/>
            <p:nvPr/>
          </p:nvGrpSpPr>
          <p:grpSpPr>
            <a:xfrm>
              <a:off x="181440" y="4262760"/>
              <a:ext cx="4320000" cy="584280"/>
              <a:chOff x="181440" y="4262760"/>
              <a:chExt cx="4320000" cy="584280"/>
            </a:xfrm>
          </p:grpSpPr>
          <p:sp>
            <p:nvSpPr>
              <p:cNvPr id="1216" name="Shape 19"/>
              <p:cNvSpPr/>
              <p:nvPr/>
            </p:nvSpPr>
            <p:spPr>
              <a:xfrm>
                <a:off x="181440" y="4262760"/>
                <a:ext cx="4320000" cy="5587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Shape 20"/>
              <p:cNvSpPr/>
              <p:nvPr/>
            </p:nvSpPr>
            <p:spPr>
              <a:xfrm>
                <a:off x="181440" y="4267800"/>
                <a:ext cx="54720" cy="555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Text 21"/>
              <p:cNvSpPr/>
              <p:nvPr/>
            </p:nvSpPr>
            <p:spPr>
              <a:xfrm>
                <a:off x="314280" y="4267800"/>
                <a:ext cx="4129920" cy="2134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watchOS i API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Text 22"/>
              <p:cNvSpPr/>
              <p:nvPr/>
            </p:nvSpPr>
            <p:spPr>
              <a:xfrm>
                <a:off x="324000" y="4451760"/>
                <a:ext cx="4146480" cy="395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100" b="0" u="none" spc="-40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SwiftUI Watch API. HealthKit 100+ parametrów. Workout routes GPS. ECG waveform API. CoreMotion Watch. WKExtendedRuntimeSession background.</a:t>
                </a:r>
                <a:endParaRPr lang="pl-PL" sz="11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0" name="Text 23"/>
            <p:cNvSpPr/>
            <p:nvPr/>
          </p:nvSpPr>
          <p:spPr>
            <a:xfrm>
              <a:off x="4717440" y="1593000"/>
              <a:ext cx="426600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Kategorie wearables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1" name="Grupa 56"/>
            <p:cNvGrpSpPr/>
            <p:nvPr/>
          </p:nvGrpSpPr>
          <p:grpSpPr>
            <a:xfrm>
              <a:off x="4663440" y="1850760"/>
              <a:ext cx="4320000" cy="561960"/>
              <a:chOff x="4663440" y="1850760"/>
              <a:chExt cx="4320000" cy="561960"/>
            </a:xfrm>
          </p:grpSpPr>
          <p:sp>
            <p:nvSpPr>
              <p:cNvPr id="1222" name="Shape 24"/>
              <p:cNvSpPr/>
              <p:nvPr/>
            </p:nvSpPr>
            <p:spPr>
              <a:xfrm>
                <a:off x="4663440" y="1850760"/>
                <a:ext cx="432000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Shape 25"/>
              <p:cNvSpPr/>
              <p:nvPr/>
            </p:nvSpPr>
            <p:spPr>
              <a:xfrm>
                <a:off x="4663440" y="1850760"/>
                <a:ext cx="5544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Text 26"/>
              <p:cNvSpPr/>
              <p:nvPr/>
            </p:nvSpPr>
            <p:spPr>
              <a:xfrm>
                <a:off x="4795200" y="1896480"/>
                <a:ext cx="4132080" cy="174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TWS Earbuds (AirPods Pro 2)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Text 27"/>
              <p:cNvSpPr/>
              <p:nvPr/>
            </p:nvSpPr>
            <p:spPr>
              <a:xfrm>
                <a:off x="4795200" y="2116800"/>
                <a:ext cx="4132080" cy="242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1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Apple H2 chip. ANC: 2× szybszy procesor, 48kHz real-time. Spatial Audio: head tracking. Transparency mode. Adaptive Touch sterowanie.</a:t>
                </a:r>
                <a:endParaRPr lang="pl-PL" sz="11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6" name="Grupa 55"/>
            <p:cNvGrpSpPr/>
            <p:nvPr/>
          </p:nvGrpSpPr>
          <p:grpSpPr>
            <a:xfrm>
              <a:off x="4663440" y="2453040"/>
              <a:ext cx="4320000" cy="561960"/>
              <a:chOff x="4663440" y="2453040"/>
              <a:chExt cx="4320000" cy="561960"/>
            </a:xfrm>
          </p:grpSpPr>
          <p:sp>
            <p:nvSpPr>
              <p:cNvPr id="1227" name="Shape 28"/>
              <p:cNvSpPr/>
              <p:nvPr/>
            </p:nvSpPr>
            <p:spPr>
              <a:xfrm>
                <a:off x="4663440" y="2453040"/>
                <a:ext cx="432000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Shape 29"/>
              <p:cNvSpPr/>
              <p:nvPr/>
            </p:nvSpPr>
            <p:spPr>
              <a:xfrm>
                <a:off x="4663440" y="2453040"/>
                <a:ext cx="5544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Text 30"/>
              <p:cNvSpPr/>
              <p:nvPr/>
            </p:nvSpPr>
            <p:spPr>
              <a:xfrm>
                <a:off x="4795200" y="2466360"/>
                <a:ext cx="4132080" cy="203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Smart Glasses (Ray-Ban Meta)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Text 31"/>
              <p:cNvSpPr/>
              <p:nvPr/>
            </p:nvSpPr>
            <p:spPr>
              <a:xfrm>
                <a:off x="4795200" y="2701440"/>
                <a:ext cx="4132080" cy="29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Snapdragon AR1. Kamera 12MP. Meta AI voice. Bateria 154mAh → 6h. Open-ear głośnik. NFC charging. Waga 49g.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31" name="Grupa 54"/>
            <p:cNvGrpSpPr/>
            <p:nvPr/>
          </p:nvGrpSpPr>
          <p:grpSpPr>
            <a:xfrm>
              <a:off x="4663440" y="3055320"/>
              <a:ext cx="4320000" cy="561960"/>
              <a:chOff x="4663440" y="3055320"/>
              <a:chExt cx="4320000" cy="561960"/>
            </a:xfrm>
          </p:grpSpPr>
          <p:grpSp>
            <p:nvGrpSpPr>
              <p:cNvPr id="1232" name="Grupa 53"/>
              <p:cNvGrpSpPr/>
              <p:nvPr/>
            </p:nvGrpSpPr>
            <p:grpSpPr>
              <a:xfrm>
                <a:off x="4663440" y="3055320"/>
                <a:ext cx="4320000" cy="561960"/>
                <a:chOff x="4663440" y="3055320"/>
                <a:chExt cx="4320000" cy="561960"/>
              </a:xfrm>
            </p:grpSpPr>
            <p:sp>
              <p:nvSpPr>
                <p:cNvPr id="1233" name="Shape 32"/>
                <p:cNvSpPr/>
                <p:nvPr/>
              </p:nvSpPr>
              <p:spPr>
                <a:xfrm>
                  <a:off x="4663440" y="3055320"/>
                  <a:ext cx="4320000" cy="561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  <a:effectLst>
                  <a:outerShdw dist="25455" dir="8100000" rotWithShape="0">
                    <a:srgbClr val="000000">
                      <a:alpha val="6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4" name="Shape 33"/>
                <p:cNvSpPr/>
                <p:nvPr/>
              </p:nvSpPr>
              <p:spPr>
                <a:xfrm>
                  <a:off x="4663440" y="3055320"/>
                  <a:ext cx="55440" cy="561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0e9a6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235" name="Text 34"/>
              <p:cNvSpPr/>
              <p:nvPr/>
            </p:nvSpPr>
            <p:spPr>
              <a:xfrm>
                <a:off x="4795200" y="3068640"/>
                <a:ext cx="4132080" cy="212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AR Headset (Apple Vision Pro)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Text 35"/>
              <p:cNvSpPr/>
              <p:nvPr/>
            </p:nvSpPr>
            <p:spPr>
              <a:xfrm>
                <a:off x="4795200" y="3286440"/>
                <a:ext cx="4132080" cy="29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M2 + R1 chip. R1: 12 kamer + 5 sensorów → display latencja 12ms. </a:t>
                </a:r>
                <a:br>
                  <a:rPr sz="1050"/>
                </a:b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12Mpx per eye. visionOS: Eye/hand gestures.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37" name="Grupa 58"/>
            <p:cNvGrpSpPr/>
            <p:nvPr/>
          </p:nvGrpSpPr>
          <p:grpSpPr>
            <a:xfrm>
              <a:off x="4663440" y="3657240"/>
              <a:ext cx="4320000" cy="570240"/>
              <a:chOff x="4663440" y="3657240"/>
              <a:chExt cx="4320000" cy="570240"/>
            </a:xfrm>
          </p:grpSpPr>
          <p:sp>
            <p:nvSpPr>
              <p:cNvPr id="1238" name="Shape 36"/>
              <p:cNvSpPr/>
              <p:nvPr/>
            </p:nvSpPr>
            <p:spPr>
              <a:xfrm>
                <a:off x="4680000" y="3657240"/>
                <a:ext cx="4303440" cy="562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Shape 37"/>
              <p:cNvSpPr/>
              <p:nvPr/>
            </p:nvSpPr>
            <p:spPr>
              <a:xfrm>
                <a:off x="4663440" y="3665160"/>
                <a:ext cx="53640" cy="5623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Text 38"/>
              <p:cNvSpPr/>
              <p:nvPr/>
            </p:nvSpPr>
            <p:spPr>
              <a:xfrm>
                <a:off x="4791240" y="3688920"/>
                <a:ext cx="4007160" cy="160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Fitness tracker (Garmin)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Text 39"/>
              <p:cNvSpPr/>
              <p:nvPr/>
            </p:nvSpPr>
            <p:spPr>
              <a:xfrm>
                <a:off x="4791240" y="3883320"/>
                <a:ext cx="4007160" cy="2962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Ultra-low-power SoC. Bateria solar → 60+ dni. GPS multi-band. VO₂ max ML. Training Readiness. Mapy topograficzne 16GB.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42" name="Grupa 52"/>
            <p:cNvGrpSpPr/>
            <p:nvPr/>
          </p:nvGrpSpPr>
          <p:grpSpPr>
            <a:xfrm>
              <a:off x="4663440" y="4259520"/>
              <a:ext cx="4320000" cy="561960"/>
              <a:chOff x="4663440" y="4259520"/>
              <a:chExt cx="4320000" cy="561960"/>
            </a:xfrm>
          </p:grpSpPr>
          <p:sp>
            <p:nvSpPr>
              <p:cNvPr id="1243" name="Shape 40"/>
              <p:cNvSpPr/>
              <p:nvPr/>
            </p:nvSpPr>
            <p:spPr>
              <a:xfrm>
                <a:off x="4663440" y="4259520"/>
                <a:ext cx="432000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4" name="Shape 41"/>
              <p:cNvSpPr/>
              <p:nvPr/>
            </p:nvSpPr>
            <p:spPr>
              <a:xfrm>
                <a:off x="4663440" y="4259520"/>
                <a:ext cx="55440" cy="561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c47a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5" name="Text 42"/>
              <p:cNvSpPr/>
              <p:nvPr/>
            </p:nvSpPr>
            <p:spPr>
              <a:xfrm>
                <a:off x="4795200" y="4278240"/>
                <a:ext cx="4132080" cy="155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Medical wearables (CGM)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Text 43"/>
              <p:cNvSpPr/>
              <p:nvPr/>
            </p:nvSpPr>
            <p:spPr>
              <a:xfrm>
                <a:off x="4795200" y="4496400"/>
                <a:ext cx="4132080" cy="2840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Abbott FreeStyle Libre 3: elektrochemiczny sensor 14 dni. FDA cleared.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5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BLE co 1 min. Withings ScanWatch: EKG/SpO₂ 30 dni.</a:t>
                </a:r>
                <a:endParaRPr lang="pl-PL" sz="10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47" name="pole tekstowe 58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60185B84-0EA0-4CDF-B393-26D6373BECB4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9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Tablety, eReadery i specjalne kategorie urządzeń mobilnych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5"/>
          <p:cNvSpPr/>
          <p:nvPr/>
        </p:nvSpPr>
        <p:spPr>
          <a:xfrm>
            <a:off x="1240200" y="833400"/>
            <a:ext cx="6974640" cy="835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Tablet ≠ duży smartfon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.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 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I</a:t>
            </a: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nne SoC thermal envelope, USB4/Thunderbolt, Display Port. iPad Pro z M4 to de facto przenośny laptop.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Rugged, gaming i składane to są oddzielne kategorie.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4" name="Grupa 31"/>
          <p:cNvGrpSpPr/>
          <p:nvPr/>
        </p:nvGrpSpPr>
        <p:grpSpPr>
          <a:xfrm>
            <a:off x="320040" y="1806120"/>
            <a:ext cx="4251240" cy="915120"/>
            <a:chOff x="320040" y="1806120"/>
            <a:chExt cx="4251240" cy="915120"/>
          </a:xfrm>
        </p:grpSpPr>
        <p:sp>
          <p:nvSpPr>
            <p:cNvPr id="1255" name="Shape 6"/>
            <p:cNvSpPr/>
            <p:nvPr/>
          </p:nvSpPr>
          <p:spPr>
            <a:xfrm>
              <a:off x="320040" y="1806120"/>
              <a:ext cx="425124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Shape 7"/>
            <p:cNvSpPr/>
            <p:nvPr/>
          </p:nvSpPr>
          <p:spPr>
            <a:xfrm>
              <a:off x="320040" y="1806120"/>
              <a:ext cx="5400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Text 8"/>
            <p:cNvSpPr/>
            <p:nvPr/>
          </p:nvSpPr>
          <p:spPr>
            <a:xfrm>
              <a:off x="448200" y="1846080"/>
              <a:ext cx="4068360" cy="174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iPad Pro 13" M4 (2024)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8" name="Text 9"/>
            <p:cNvSpPr/>
            <p:nvPr/>
          </p:nvSpPr>
          <p:spPr>
            <a:xfrm>
              <a:off x="448200" y="2138760"/>
              <a:ext cx="4068360" cy="535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Apple M4 (TSMC N3E): 10-core CPU, 10-core GPU, 38 TOPS ANE. Tandem OLED 264ppi (2× OLED stack). Thunderbolt 4 (40Gbps). 16GB RAM. Najszybszy tablet.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9" name="Grupa 34"/>
          <p:cNvGrpSpPr/>
          <p:nvPr/>
        </p:nvGrpSpPr>
        <p:grpSpPr>
          <a:xfrm>
            <a:off x="4727520" y="1806120"/>
            <a:ext cx="4251240" cy="915120"/>
            <a:chOff x="4727520" y="1806120"/>
            <a:chExt cx="4251240" cy="915120"/>
          </a:xfrm>
        </p:grpSpPr>
        <p:sp>
          <p:nvSpPr>
            <p:cNvPr id="1260" name="Shape 10"/>
            <p:cNvSpPr/>
            <p:nvPr/>
          </p:nvSpPr>
          <p:spPr>
            <a:xfrm>
              <a:off x="4727520" y="1806120"/>
              <a:ext cx="425124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Shape 11"/>
            <p:cNvSpPr/>
            <p:nvPr/>
          </p:nvSpPr>
          <p:spPr>
            <a:xfrm>
              <a:off x="4727520" y="1806120"/>
              <a:ext cx="5400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Text 12"/>
            <p:cNvSpPr/>
            <p:nvPr/>
          </p:nvSpPr>
          <p:spPr>
            <a:xfrm>
              <a:off x="4855320" y="1846080"/>
              <a:ext cx="4068360" cy="174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Samsung Galaxy Tab S10 Ultra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Text 13"/>
            <p:cNvSpPr/>
            <p:nvPr/>
          </p:nvSpPr>
          <p:spPr>
            <a:xfrm>
              <a:off x="4855320" y="2151000"/>
              <a:ext cx="4068360" cy="523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Snapdragon 8 Gen 3. 14.6" AMOLED 2X 120Hz. S-Pen. 12GB LPDDR5X. USB-C 3.2 Gen2 (10Gbps). DeX mode = PC experience. 11200mAh.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4" name="Grupa 32"/>
          <p:cNvGrpSpPr/>
          <p:nvPr/>
        </p:nvGrpSpPr>
        <p:grpSpPr>
          <a:xfrm>
            <a:off x="320040" y="2801160"/>
            <a:ext cx="4251240" cy="915120"/>
            <a:chOff x="320040" y="2801160"/>
            <a:chExt cx="4251240" cy="915120"/>
          </a:xfrm>
        </p:grpSpPr>
        <p:sp>
          <p:nvSpPr>
            <p:cNvPr id="1265" name="Shape 14"/>
            <p:cNvSpPr/>
            <p:nvPr/>
          </p:nvSpPr>
          <p:spPr>
            <a:xfrm>
              <a:off x="320040" y="2801160"/>
              <a:ext cx="425124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Shape 15"/>
            <p:cNvSpPr/>
            <p:nvPr/>
          </p:nvSpPr>
          <p:spPr>
            <a:xfrm>
              <a:off x="320040" y="2801160"/>
              <a:ext cx="5400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Text 16"/>
            <p:cNvSpPr/>
            <p:nvPr/>
          </p:nvSpPr>
          <p:spPr>
            <a:xfrm>
              <a:off x="448200" y="2841480"/>
              <a:ext cx="4068360" cy="174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Amazon Kindle Scribe (eReader)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Text 17"/>
            <p:cNvSpPr/>
            <p:nvPr/>
          </p:nvSpPr>
          <p:spPr>
            <a:xfrm>
              <a:off x="448200" y="3146400"/>
              <a:ext cx="4068360" cy="522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E-Ink Carta 1300 (300dpi). 35% szybsze odświeżanie vs poprz. Mediatek low-power. Tygodnie bateria. Pismo odręczne (Pen). Ciepłe/zimne podświetlenie.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9" name="Grupa 35"/>
          <p:cNvGrpSpPr/>
          <p:nvPr/>
        </p:nvGrpSpPr>
        <p:grpSpPr>
          <a:xfrm>
            <a:off x="4727520" y="2813040"/>
            <a:ext cx="4251240" cy="915120"/>
            <a:chOff x="4727520" y="2813040"/>
            <a:chExt cx="4251240" cy="915120"/>
          </a:xfrm>
        </p:grpSpPr>
        <p:sp>
          <p:nvSpPr>
            <p:cNvPr id="1270" name="Shape 18"/>
            <p:cNvSpPr/>
            <p:nvPr/>
          </p:nvSpPr>
          <p:spPr>
            <a:xfrm>
              <a:off x="4727520" y="2813040"/>
              <a:ext cx="425124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Shape 19"/>
            <p:cNvSpPr/>
            <p:nvPr/>
          </p:nvSpPr>
          <p:spPr>
            <a:xfrm>
              <a:off x="4727520" y="2813040"/>
              <a:ext cx="5400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Text 20"/>
            <p:cNvSpPr/>
            <p:nvPr/>
          </p:nvSpPr>
          <p:spPr>
            <a:xfrm>
              <a:off x="4855320" y="2853720"/>
              <a:ext cx="4068360" cy="174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Rugged (Zebra TC57x / CAT S75)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Text 21"/>
            <p:cNvSpPr/>
            <p:nvPr/>
          </p:nvSpPr>
          <p:spPr>
            <a:xfrm>
              <a:off x="4855320" y="3146400"/>
              <a:ext cx="4068360" cy="534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MIL-STD-810H. IP68+IP69K. Gorilla Glass DX. Snapdragon industrial. Barcode scanner Zebra SE4770. Walkie-talkie PTT. Przemysłowy Android.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4" name="Grupa 36"/>
          <p:cNvGrpSpPr/>
          <p:nvPr/>
        </p:nvGrpSpPr>
        <p:grpSpPr>
          <a:xfrm>
            <a:off x="4727520" y="3790440"/>
            <a:ext cx="4251240" cy="915120"/>
            <a:chOff x="4727520" y="3790440"/>
            <a:chExt cx="4251240" cy="915120"/>
          </a:xfrm>
        </p:grpSpPr>
        <p:sp>
          <p:nvSpPr>
            <p:cNvPr id="1275" name="Shape 26"/>
            <p:cNvSpPr/>
            <p:nvPr/>
          </p:nvSpPr>
          <p:spPr>
            <a:xfrm>
              <a:off x="4727520" y="3790440"/>
              <a:ext cx="425124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Shape 27"/>
            <p:cNvSpPr/>
            <p:nvPr/>
          </p:nvSpPr>
          <p:spPr>
            <a:xfrm>
              <a:off x="4727520" y="3790440"/>
              <a:ext cx="54000" cy="915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5db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Text 28"/>
            <p:cNvSpPr/>
            <p:nvPr/>
          </p:nvSpPr>
          <p:spPr>
            <a:xfrm>
              <a:off x="4855320" y="3830400"/>
              <a:ext cx="4068360" cy="174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Składany (Galaxy Z Fold 6)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Text 29"/>
            <p:cNvSpPr/>
            <p:nvPr/>
          </p:nvSpPr>
          <p:spPr>
            <a:xfrm>
              <a:off x="4855320" y="4191120"/>
              <a:ext cx="4068360" cy="467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Snapdragon 8 Gen 3. Foldable UTG inner 7.6". Cover 6.3". IPX8 (brak IP dla pyłu). 200k cykli hinge. S-Pen w Fold 6 Slim edition.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9" name="Grupa 37"/>
          <p:cNvGrpSpPr/>
          <p:nvPr/>
        </p:nvGrpSpPr>
        <p:grpSpPr>
          <a:xfrm>
            <a:off x="320040" y="3778200"/>
            <a:ext cx="4251240" cy="915120"/>
            <a:chOff x="320040" y="3778200"/>
            <a:chExt cx="4251240" cy="915120"/>
          </a:xfrm>
        </p:grpSpPr>
        <p:grpSp>
          <p:nvGrpSpPr>
            <p:cNvPr id="1280" name="Grupa 33"/>
            <p:cNvGrpSpPr/>
            <p:nvPr/>
          </p:nvGrpSpPr>
          <p:grpSpPr>
            <a:xfrm>
              <a:off x="320040" y="3778200"/>
              <a:ext cx="4251240" cy="915120"/>
              <a:chOff x="320040" y="3778200"/>
              <a:chExt cx="4251240" cy="915120"/>
            </a:xfrm>
          </p:grpSpPr>
          <p:sp>
            <p:nvSpPr>
              <p:cNvPr id="1281" name="Shape 22"/>
              <p:cNvSpPr/>
              <p:nvPr/>
            </p:nvSpPr>
            <p:spPr>
              <a:xfrm>
                <a:off x="320040" y="3778200"/>
                <a:ext cx="4251240" cy="915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2" name="Text 24"/>
              <p:cNvSpPr/>
              <p:nvPr/>
            </p:nvSpPr>
            <p:spPr>
              <a:xfrm>
                <a:off x="448200" y="3818520"/>
                <a:ext cx="4068360" cy="174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Gaming Phone (Asus ROG 8 Pro)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3" name="Text 25"/>
              <p:cNvSpPr/>
              <p:nvPr/>
            </p:nvSpPr>
            <p:spPr>
              <a:xfrm>
                <a:off x="448200" y="4123080"/>
                <a:ext cx="4068360" cy="523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Snapdragon 8 Gen 3 + vapor chamber MASSIVE. 165Hz AMOLED. AeroActive Cooler 5 (aktywny wentylator). AirTrigger shoulder buttons. 6000mAh.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84" name="Shape 23"/>
            <p:cNvSpPr/>
            <p:nvPr/>
          </p:nvSpPr>
          <p:spPr>
            <a:xfrm>
              <a:off x="320040" y="3790440"/>
              <a:ext cx="54000" cy="899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5" name="pole tekstowe 3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2E5FAC32-237B-43A3-A9AF-9E70D81B205B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HAL, AIDL i Project Treble: interfejsy sprzętu z systemem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Text 5"/>
          <p:cNvSpPr/>
          <p:nvPr/>
        </p:nvSpPr>
        <p:spPr>
          <a:xfrm>
            <a:off x="762120" y="713160"/>
            <a:ext cx="7056000" cy="511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HAL izoluje OS od konkretnego sprzętu. Project Treble (Android 8) separuje system </a:t>
            </a:r>
            <a:br>
              <a:rPr sz="1600"/>
            </a:b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framework od vendor HAL, umożliwiając aktualizacje OS bez udziału OEM.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Text 6"/>
          <p:cNvSpPr/>
          <p:nvPr/>
        </p:nvSpPr>
        <p:spPr>
          <a:xfrm>
            <a:off x="114480" y="1371240"/>
            <a:ext cx="3589200" cy="225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AIDL Camera HAL: interfejs i implementacja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Shape 7"/>
          <p:cNvSpPr/>
          <p:nvPr/>
        </p:nvSpPr>
        <p:spPr>
          <a:xfrm>
            <a:off x="114480" y="1608480"/>
            <a:ext cx="3589200" cy="332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Text 8"/>
          <p:cNvSpPr/>
          <p:nvPr/>
        </p:nvSpPr>
        <p:spPr>
          <a:xfrm>
            <a:off x="2710080" y="1628640"/>
            <a:ext cx="913680" cy="150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C++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9"/>
          <p:cNvSpPr/>
          <p:nvPr/>
        </p:nvSpPr>
        <p:spPr>
          <a:xfrm>
            <a:off x="205920" y="1750320"/>
            <a:ext cx="3497760" cy="3108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AIDL (Android Interface Def. Language)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stable AIDL = HAL standard od Android 11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ICameraProvider.aidl (interfejs):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interface ICameraProvider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CameraIdAndStreamCombination[]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getCameraIdList();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ICameraDevice getCameraDevice(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in String cameraId);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void setCallback(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in ICameraProviderCallback callback);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Implementacja w HAL (vendor partition):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class CameraProvider : public ICameraProvider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ndk::ScopedAStatus getCameraIdList(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vector&lt;CameraIdAndStreamCombination&gt;* ids)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override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// Wywołaj V4L2 / libcamera driver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*ids = enumerateConnectedSensors();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return ndk::ScopedAStatus::ok();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};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Rejestracja (vendor manifest.xml):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android.hardware.camera.provider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Binder RPC: /dev/binder → system isolation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10"/>
          <p:cNvSpPr/>
          <p:nvPr/>
        </p:nvSpPr>
        <p:spPr>
          <a:xfrm>
            <a:off x="3794760" y="1371240"/>
            <a:ext cx="5249520" cy="227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Project Treble i modularyzacja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7" name="Grupa 32"/>
          <p:cNvGrpSpPr/>
          <p:nvPr/>
        </p:nvGrpSpPr>
        <p:grpSpPr>
          <a:xfrm>
            <a:off x="3794760" y="2819880"/>
            <a:ext cx="5249520" cy="515880"/>
            <a:chOff x="3794760" y="2819880"/>
            <a:chExt cx="5249520" cy="515880"/>
          </a:xfrm>
        </p:grpSpPr>
        <p:grpSp>
          <p:nvGrpSpPr>
            <p:cNvPr id="1298" name="Grupa 31"/>
            <p:cNvGrpSpPr/>
            <p:nvPr/>
          </p:nvGrpSpPr>
          <p:grpSpPr>
            <a:xfrm>
              <a:off x="3794760" y="2825640"/>
              <a:ext cx="5249520" cy="510120"/>
              <a:chOff x="3794760" y="2825640"/>
              <a:chExt cx="5249520" cy="510120"/>
            </a:xfrm>
          </p:grpSpPr>
          <p:sp>
            <p:nvSpPr>
              <p:cNvPr id="1299" name="Shape 11"/>
              <p:cNvSpPr/>
              <p:nvPr/>
            </p:nvSpPr>
            <p:spPr>
              <a:xfrm>
                <a:off x="3794760" y="2825640"/>
                <a:ext cx="5249520" cy="503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Shape 12"/>
              <p:cNvSpPr/>
              <p:nvPr/>
            </p:nvSpPr>
            <p:spPr>
              <a:xfrm>
                <a:off x="3794760" y="2832120"/>
                <a:ext cx="57240" cy="5036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Text 13"/>
            <p:cNvSpPr/>
            <p:nvPr/>
          </p:nvSpPr>
          <p:spPr>
            <a:xfrm>
              <a:off x="3954600" y="2819880"/>
              <a:ext cx="5021280" cy="199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Project Treble (Android 8.0+)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Text 14"/>
            <p:cNvSpPr/>
            <p:nvPr/>
          </p:nvSpPr>
          <p:spPr>
            <a:xfrm>
              <a:off x="3954600" y="3034080"/>
              <a:ext cx="5021280" cy="267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5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Separacja /system (Google) od /vendor (OEM). HAL w osobnych procesach (binderized). System update BEZ rebuildowania vendor. CDD obowiązkowe.</a:t>
              </a:r>
              <a:endParaRPr lang="pl-PL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3" name="Grupa 34"/>
          <p:cNvGrpSpPr/>
          <p:nvPr/>
        </p:nvGrpSpPr>
        <p:grpSpPr>
          <a:xfrm>
            <a:off x="3794760" y="3364560"/>
            <a:ext cx="5249520" cy="530280"/>
            <a:chOff x="3794760" y="3364560"/>
            <a:chExt cx="5249520" cy="530280"/>
          </a:xfrm>
        </p:grpSpPr>
        <p:grpSp>
          <p:nvGrpSpPr>
            <p:cNvPr id="1304" name="Grupa 33"/>
            <p:cNvGrpSpPr/>
            <p:nvPr/>
          </p:nvGrpSpPr>
          <p:grpSpPr>
            <a:xfrm>
              <a:off x="3794760" y="3378960"/>
              <a:ext cx="5249520" cy="515880"/>
              <a:chOff x="3794760" y="3378960"/>
              <a:chExt cx="5249520" cy="515880"/>
            </a:xfrm>
          </p:grpSpPr>
          <p:sp>
            <p:nvSpPr>
              <p:cNvPr id="1305" name="Shape 15"/>
              <p:cNvSpPr/>
              <p:nvPr/>
            </p:nvSpPr>
            <p:spPr>
              <a:xfrm>
                <a:off x="3794760" y="3378960"/>
                <a:ext cx="5249520" cy="515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Shape 16"/>
              <p:cNvSpPr/>
              <p:nvPr/>
            </p:nvSpPr>
            <p:spPr>
              <a:xfrm>
                <a:off x="3794760" y="3385800"/>
                <a:ext cx="61560" cy="496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7" name="Text 17"/>
            <p:cNvSpPr/>
            <p:nvPr/>
          </p:nvSpPr>
          <p:spPr>
            <a:xfrm>
              <a:off x="3954600" y="3364560"/>
              <a:ext cx="5021280" cy="213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Generic Kernel Image (GKI)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8" name="Text 18"/>
            <p:cNvSpPr/>
            <p:nvPr/>
          </p:nvSpPr>
          <p:spPr>
            <a:xfrm>
              <a:off x="3954600" y="3576600"/>
              <a:ext cx="4980240" cy="298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Android 12+: jeden kernel image dla wszystkich SoC. Vendor modules (.ko) ładowane dynamicznie. Szybsze Security Updates</a:t>
              </a: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,</a:t>
              </a: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OEM nie dotyka kernela.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9" name="Grupa 35"/>
          <p:cNvGrpSpPr/>
          <p:nvPr/>
        </p:nvGrpSpPr>
        <p:grpSpPr>
          <a:xfrm>
            <a:off x="3794760" y="3922920"/>
            <a:ext cx="5249520" cy="481680"/>
            <a:chOff x="3794760" y="3922920"/>
            <a:chExt cx="5249520" cy="481680"/>
          </a:xfrm>
        </p:grpSpPr>
        <p:sp>
          <p:nvSpPr>
            <p:cNvPr id="1310" name="Shape 19"/>
            <p:cNvSpPr/>
            <p:nvPr/>
          </p:nvSpPr>
          <p:spPr>
            <a:xfrm>
              <a:off x="3794760" y="3922920"/>
              <a:ext cx="5249520" cy="48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1" name="Shape 20"/>
            <p:cNvSpPr/>
            <p:nvPr/>
          </p:nvSpPr>
          <p:spPr>
            <a:xfrm>
              <a:off x="3794760" y="3922920"/>
              <a:ext cx="67320" cy="48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2" name="Text 21"/>
            <p:cNvSpPr/>
            <p:nvPr/>
          </p:nvSpPr>
          <p:spPr>
            <a:xfrm>
              <a:off x="3954600" y="3928680"/>
              <a:ext cx="5021280" cy="188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APEX — modular system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3" name="Text 22"/>
            <p:cNvSpPr/>
            <p:nvPr/>
          </p:nvSpPr>
          <p:spPr>
            <a:xfrm>
              <a:off x="3954600" y="4123080"/>
              <a:ext cx="4975200" cy="267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Android 10+: system components jako APEX pakiety (jak APK dla systemu). </a:t>
              </a:r>
              <a:br>
                <a:rPr sz="1000"/>
              </a:b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Google Play aktualizuje ART, ICU, tzdata, OpenSSL bez pełnego OTA.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14" name="Grupa 37"/>
          <p:cNvGrpSpPr/>
          <p:nvPr/>
        </p:nvGrpSpPr>
        <p:grpSpPr>
          <a:xfrm>
            <a:off x="3794760" y="4457880"/>
            <a:ext cx="5249520" cy="480600"/>
            <a:chOff x="3794760" y="4457880"/>
            <a:chExt cx="5249520" cy="480600"/>
          </a:xfrm>
        </p:grpSpPr>
        <p:grpSp>
          <p:nvGrpSpPr>
            <p:cNvPr id="1315" name="Grupa 36"/>
            <p:cNvGrpSpPr/>
            <p:nvPr/>
          </p:nvGrpSpPr>
          <p:grpSpPr>
            <a:xfrm>
              <a:off x="3794760" y="4457880"/>
              <a:ext cx="5249520" cy="479880"/>
              <a:chOff x="3794760" y="4457880"/>
              <a:chExt cx="5249520" cy="479880"/>
            </a:xfrm>
          </p:grpSpPr>
          <p:sp>
            <p:nvSpPr>
              <p:cNvPr id="1316" name="Shape 23"/>
              <p:cNvSpPr/>
              <p:nvPr/>
            </p:nvSpPr>
            <p:spPr>
              <a:xfrm>
                <a:off x="3794760" y="4457880"/>
                <a:ext cx="5249520" cy="479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7" name="Shape 24"/>
              <p:cNvSpPr/>
              <p:nvPr/>
            </p:nvSpPr>
            <p:spPr>
              <a:xfrm>
                <a:off x="3794760" y="4457880"/>
                <a:ext cx="67320" cy="479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6d28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18" name="Text 25"/>
            <p:cNvSpPr/>
            <p:nvPr/>
          </p:nvSpPr>
          <p:spPr>
            <a:xfrm>
              <a:off x="3954600" y="4458600"/>
              <a:ext cx="5021280" cy="191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5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Mainline modules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9" name="Text 26"/>
            <p:cNvSpPr/>
            <p:nvPr/>
          </p:nvSpPr>
          <p:spPr>
            <a:xfrm>
              <a:off x="3954600" y="4665240"/>
              <a:ext cx="5021280" cy="273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Google kontroluje bezpośrednio: WiFi, Bluetooth, DNS resolver, NFC, neural networks. </a:t>
              </a:r>
              <a:br>
                <a:rPr sz="1000"/>
              </a:b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~30 APEX modułów. Security patches co miesiąc.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0" name="Grupa 38"/>
          <p:cNvGrpSpPr/>
          <p:nvPr/>
        </p:nvGrpSpPr>
        <p:grpSpPr>
          <a:xfrm>
            <a:off x="3794760" y="1608480"/>
            <a:ext cx="5249520" cy="1134720"/>
            <a:chOff x="3794760" y="1608480"/>
            <a:chExt cx="5249520" cy="1134720"/>
          </a:xfrm>
        </p:grpSpPr>
        <p:sp>
          <p:nvSpPr>
            <p:cNvPr id="1321" name="Shape 27"/>
            <p:cNvSpPr/>
            <p:nvPr/>
          </p:nvSpPr>
          <p:spPr>
            <a:xfrm>
              <a:off x="3794760" y="1608480"/>
              <a:ext cx="5249520" cy="1134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70d1a"/>
            </a:solidFill>
            <a:ln w="12600">
              <a:solidFill>
                <a:srgbClr val="1a2e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2" name="Text 28"/>
            <p:cNvSpPr/>
            <p:nvPr/>
          </p:nvSpPr>
          <p:spPr>
            <a:xfrm>
              <a:off x="8078040" y="1649160"/>
              <a:ext cx="913680" cy="20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50" b="0" u="none" strike="noStrike">
                  <a:solidFill>
                    <a:srgbClr val="4a7a9b"/>
                  </a:solidFill>
                  <a:effectLst/>
                  <a:uFillTx/>
                  <a:latin typeface="Calibri"/>
                  <a:ea typeface="Calibri"/>
                </a:rPr>
                <a:t>Shell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3" name="Text 29"/>
            <p:cNvSpPr/>
            <p:nvPr/>
          </p:nvSpPr>
          <p:spPr>
            <a:xfrm>
              <a:off x="3844800" y="1703160"/>
              <a:ext cx="4895280" cy="966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Sprawdź HAL na urządzeniu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$ adb shell hwservicemanager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android.hardware.camera.provider@2.7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android.hardware.audio@7.0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  android.hardware.bluetooth@1.1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Treble VTS test: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ts val="1100"/>
                </a:lnSpc>
                <a:tabLst>
                  <a:tab algn="l" pos="0"/>
                </a:tabLst>
              </a:pPr>
              <a:r>
                <a:rPr lang="en-US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$ adb shell vts-tradefed run vts    -m VtsHalCameraProviderV2_4Target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4" name="pole tekstowe 40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56613905-CDF7-4CDD-BF20-EF8D43D949D5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Programowanie niskopoziomowe: NDK, JNI i Binder IPC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 5"/>
          <p:cNvSpPr/>
          <p:nvPr/>
        </p:nvSpPr>
        <p:spPr>
          <a:xfrm>
            <a:off x="98640" y="1026720"/>
            <a:ext cx="2755440" cy="156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Android NDK = pisanie kodu C/C++ wywoływanego z Kotlin/Java przez JNI. Niezbędne dla silników graficznych, kodeków audio, ML inference, DSP i wydajności krytycznej.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 6"/>
          <p:cNvSpPr/>
          <p:nvPr/>
        </p:nvSpPr>
        <p:spPr>
          <a:xfrm>
            <a:off x="3020760" y="789120"/>
            <a:ext cx="2998800" cy="21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JNI</a:t>
            </a: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,</a:t>
            </a: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 Java Native Interface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Shape 7"/>
          <p:cNvSpPr/>
          <p:nvPr/>
        </p:nvSpPr>
        <p:spPr>
          <a:xfrm>
            <a:off x="3020760" y="1026720"/>
            <a:ext cx="2998800" cy="3911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8"/>
          <p:cNvSpPr/>
          <p:nvPr/>
        </p:nvSpPr>
        <p:spPr>
          <a:xfrm>
            <a:off x="4865760" y="102672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C++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 9"/>
          <p:cNvSpPr/>
          <p:nvPr/>
        </p:nvSpPr>
        <p:spPr>
          <a:xfrm>
            <a:off x="3076920" y="1209960"/>
            <a:ext cx="2912040" cy="3646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Kotlin side — deklaracja native function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class AudioDSP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external fun applyFilter(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input: FloatArray, sampleRate: Int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): FloatArray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companion object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init { System.loadLibrary("audio_dsp")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C++ side — jni/audio_dsp.cpp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#include &lt;jni.h&gt;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extern "C" JNIEXPORT jfloatArray JNICALL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Java_com_example_AudioDSP_applyFilter(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JNIEnv* env, jobject thiz,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jfloatArray input, jint sr)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jsize len = env-&gt;GetArrayLength(input);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jfloat* data = env-&gt;GetFloatArrayElements(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input, nullptr);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// DSP w C++ — bezpośredni NEON SIMD access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auto result = biquadFilter(data, len, sr);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env-&gt;ReleaseFloatArrayElements(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input, data, JNI_ABORT);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jfloatArray out = env-&gt;NewFloatArray(len);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env-&gt;SetFloatArrayRegion(out,0,len,result.data());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return out;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5" name="Grupa 23"/>
          <p:cNvGrpSpPr/>
          <p:nvPr/>
        </p:nvGrpSpPr>
        <p:grpSpPr>
          <a:xfrm>
            <a:off x="45720" y="3312360"/>
            <a:ext cx="2914560" cy="799200"/>
            <a:chOff x="45720" y="3312360"/>
            <a:chExt cx="2914560" cy="799200"/>
          </a:xfrm>
        </p:grpSpPr>
        <p:sp>
          <p:nvSpPr>
            <p:cNvPr id="1336" name="Shape 10"/>
            <p:cNvSpPr/>
            <p:nvPr/>
          </p:nvSpPr>
          <p:spPr>
            <a:xfrm>
              <a:off x="45720" y="3380040"/>
              <a:ext cx="2914560" cy="731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Shape 11"/>
            <p:cNvSpPr/>
            <p:nvPr/>
          </p:nvSpPr>
          <p:spPr>
            <a:xfrm>
              <a:off x="45720" y="3380040"/>
              <a:ext cx="51120" cy="731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8" name="Text 12"/>
            <p:cNvSpPr/>
            <p:nvPr/>
          </p:nvSpPr>
          <p:spPr>
            <a:xfrm>
              <a:off x="135360" y="3312360"/>
              <a:ext cx="2786400" cy="357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NDK kluczowe biblioteki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Text 13"/>
            <p:cNvSpPr/>
            <p:nvPr/>
          </p:nvSpPr>
          <p:spPr>
            <a:xfrm>
              <a:off x="135360" y="3600360"/>
              <a:ext cx="2786400" cy="461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Bionic libc, libandroid (assets), AAudio (zastąpiło OpenSL ES), Vulkan NDK, OpenCL-CLHPP. CMake lub ndk-build. ABI: arm64-v8a, x86_64.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0" name="Grupa 24"/>
          <p:cNvGrpSpPr/>
          <p:nvPr/>
        </p:nvGrpSpPr>
        <p:grpSpPr>
          <a:xfrm>
            <a:off x="45720" y="4159800"/>
            <a:ext cx="2914560" cy="777960"/>
            <a:chOff x="45720" y="4159800"/>
            <a:chExt cx="2914560" cy="777960"/>
          </a:xfrm>
        </p:grpSpPr>
        <p:sp>
          <p:nvSpPr>
            <p:cNvPr id="1341" name="Shape 14"/>
            <p:cNvSpPr/>
            <p:nvPr/>
          </p:nvSpPr>
          <p:spPr>
            <a:xfrm>
              <a:off x="45720" y="4194000"/>
              <a:ext cx="2914560" cy="74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Shape 15"/>
            <p:cNvSpPr/>
            <p:nvPr/>
          </p:nvSpPr>
          <p:spPr>
            <a:xfrm>
              <a:off x="45720" y="4194000"/>
              <a:ext cx="37800" cy="74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Text 16"/>
            <p:cNvSpPr/>
            <p:nvPr/>
          </p:nvSpPr>
          <p:spPr>
            <a:xfrm>
              <a:off x="144360" y="4159800"/>
              <a:ext cx="2786400" cy="264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Vulkan Compute (zastąpiło Renderscript)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Text 17"/>
            <p:cNvSpPr/>
            <p:nvPr/>
          </p:nvSpPr>
          <p:spPr>
            <a:xfrm>
              <a:off x="135360" y="4416120"/>
              <a:ext cx="2786400" cy="440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Renderscript deprecated Android 12. Vulkan compute shaders (GLSL/SPIR-V): parallel GPU computation. OpenCL via extension. NNAPI dla ML inference.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45" name="Text 18"/>
          <p:cNvSpPr/>
          <p:nvPr/>
        </p:nvSpPr>
        <p:spPr>
          <a:xfrm>
            <a:off x="6057720" y="789120"/>
            <a:ext cx="2964240" cy="21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Binder IPC i System Services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Shape 19"/>
          <p:cNvSpPr/>
          <p:nvPr/>
        </p:nvSpPr>
        <p:spPr>
          <a:xfrm>
            <a:off x="6057720" y="1027080"/>
            <a:ext cx="2964240" cy="3903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 20"/>
          <p:cNvSpPr/>
          <p:nvPr/>
        </p:nvSpPr>
        <p:spPr>
          <a:xfrm>
            <a:off x="8077320" y="1050120"/>
            <a:ext cx="913680" cy="16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Java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Text 21"/>
          <p:cNvSpPr/>
          <p:nvPr/>
        </p:nvSpPr>
        <p:spPr>
          <a:xfrm>
            <a:off x="6103800" y="1215000"/>
            <a:ext cx="2902320" cy="3612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Własny System Service (AIDL + Binder)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1. IMyService.aidl: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interface IMyService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int getThermalZone(in String zone);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void registerCallback(IMyCallback cb);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2. Implementacja w SystemServer: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class MyServiceImpl extends IMyService.Stub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@Override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public int getThermalZone(String zone)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// Odczyt /sys/class/thermal/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    return thermalManager.getTemp(zone);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3. Rejestracja: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ServiceManager.addService("myservice",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    new MyServiceImpl());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4. Klient w App: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IBinder b = ServiceManager.getService("myservice");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IMyService svc = IMyService.Stub.asInterface(b);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int temp = svc.getThermalZone("cpu-cluster0");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Binder: zero-copy przez /dev/binder mmap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8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// Max payload: 1MB (Binder transaction limit)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pole tekstowe 26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47B44CAC-D804-46AC-834D-802F77A600E5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Certyfikacja i standardy: IP, SAR, CE, FCC i produkcja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 5"/>
          <p:cNvSpPr/>
          <p:nvPr/>
        </p:nvSpPr>
        <p:spPr>
          <a:xfrm>
            <a:off x="1504440" y="784800"/>
            <a:ext cx="6499800" cy="117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20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Przed sprzedażą urządzenie musi przejść dziesiątki certyfikacji. Brak certyfikacji = brak dostępu do rynku.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2000" b="0" u="none" strike="noStrike">
                <a:solidFill>
                  <a:srgbClr val="3b5168"/>
                </a:solidFill>
                <a:effectLst/>
                <a:uFillTx/>
                <a:latin typeface="CMU Concrete"/>
                <a:ea typeface="CMU Concrete"/>
              </a:rPr>
              <a:t>Każdy kraj ma własne wymagania.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6" name="Grupa 49"/>
          <p:cNvGrpSpPr/>
          <p:nvPr/>
        </p:nvGrpSpPr>
        <p:grpSpPr>
          <a:xfrm>
            <a:off x="83880" y="2302920"/>
            <a:ext cx="8894880" cy="2525400"/>
            <a:chOff x="83880" y="2302920"/>
            <a:chExt cx="8894880" cy="2525400"/>
          </a:xfrm>
        </p:grpSpPr>
        <p:grpSp>
          <p:nvGrpSpPr>
            <p:cNvPr id="1357" name="Grupa 45"/>
            <p:cNvGrpSpPr/>
            <p:nvPr/>
          </p:nvGrpSpPr>
          <p:grpSpPr>
            <a:xfrm>
              <a:off x="83880" y="2302920"/>
              <a:ext cx="4487400" cy="757080"/>
              <a:chOff x="83880" y="2302920"/>
              <a:chExt cx="4487400" cy="757080"/>
            </a:xfrm>
          </p:grpSpPr>
          <p:grpSp>
            <p:nvGrpSpPr>
              <p:cNvPr id="1358" name="Grupa 39"/>
              <p:cNvGrpSpPr/>
              <p:nvPr/>
            </p:nvGrpSpPr>
            <p:grpSpPr>
              <a:xfrm>
                <a:off x="83880" y="2302920"/>
                <a:ext cx="4487400" cy="757080"/>
                <a:chOff x="83880" y="2302920"/>
                <a:chExt cx="4487400" cy="757080"/>
              </a:xfrm>
            </p:grpSpPr>
            <p:sp>
              <p:nvSpPr>
                <p:cNvPr id="1359" name="Shape 6"/>
                <p:cNvSpPr/>
                <p:nvPr/>
              </p:nvSpPr>
              <p:spPr>
                <a:xfrm>
                  <a:off x="83880" y="2302920"/>
                  <a:ext cx="4487400" cy="7570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0" name="Shape 7"/>
                <p:cNvSpPr/>
                <p:nvPr/>
              </p:nvSpPr>
              <p:spPr>
                <a:xfrm>
                  <a:off x="83880" y="2302920"/>
                  <a:ext cx="56880" cy="7570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00b4c5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61" name="Text 8"/>
              <p:cNvSpPr/>
              <p:nvPr/>
            </p:nvSpPr>
            <p:spPr>
              <a:xfrm>
                <a:off x="219240" y="2330640"/>
                <a:ext cx="4149720" cy="236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IP Rating (IEC 60529)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Text 9"/>
              <p:cNvSpPr/>
              <p:nvPr/>
            </p:nvSpPr>
            <p:spPr>
              <a:xfrm>
                <a:off x="219240" y="2530080"/>
                <a:ext cx="4149720" cy="177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00b4c5"/>
                    </a:solidFill>
                    <a:effectLst/>
                    <a:uFillTx/>
                    <a:latin typeface="Calibri"/>
                    <a:ea typeface="Calibri"/>
                  </a:rPr>
                  <a:t>Ochrona przed pyłem i wodą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Text 10"/>
              <p:cNvSpPr/>
              <p:nvPr/>
            </p:nvSpPr>
            <p:spPr>
              <a:xfrm>
                <a:off x="214560" y="2730960"/>
                <a:ext cx="4285080" cy="295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00" b="0" u="none" spc="-20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IP6X: pełna ochrona przed pyłem. IPX8: zanurzenie &gt;1m (OEM definiuje głębokość). IPX9K: ciśnieniowe strumienie 8MPa@80°C. Test: 30min w komorze.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4" name="Grupa 46"/>
            <p:cNvGrpSpPr/>
            <p:nvPr/>
          </p:nvGrpSpPr>
          <p:grpSpPr>
            <a:xfrm>
              <a:off x="4727520" y="2302920"/>
              <a:ext cx="4251240" cy="757080"/>
              <a:chOff x="4727520" y="2302920"/>
              <a:chExt cx="4251240" cy="757080"/>
            </a:xfrm>
          </p:grpSpPr>
          <p:grpSp>
            <p:nvGrpSpPr>
              <p:cNvPr id="1365" name="Grupa 40"/>
              <p:cNvGrpSpPr/>
              <p:nvPr/>
            </p:nvGrpSpPr>
            <p:grpSpPr>
              <a:xfrm>
                <a:off x="4727520" y="2302920"/>
                <a:ext cx="4251240" cy="757080"/>
                <a:chOff x="4727520" y="2302920"/>
                <a:chExt cx="4251240" cy="757080"/>
              </a:xfrm>
            </p:grpSpPr>
            <p:sp>
              <p:nvSpPr>
                <p:cNvPr id="1366" name="Shape 11"/>
                <p:cNvSpPr/>
                <p:nvPr/>
              </p:nvSpPr>
              <p:spPr>
                <a:xfrm>
                  <a:off x="4727520" y="2302920"/>
                  <a:ext cx="4251240" cy="7570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7" name="Shape 12"/>
                <p:cNvSpPr/>
                <p:nvPr/>
              </p:nvSpPr>
              <p:spPr>
                <a:xfrm>
                  <a:off x="4727520" y="2302920"/>
                  <a:ext cx="54000" cy="7570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d6006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68" name="Text 13"/>
              <p:cNvSpPr/>
              <p:nvPr/>
            </p:nvSpPr>
            <p:spPr>
              <a:xfrm>
                <a:off x="4855320" y="2305800"/>
                <a:ext cx="3931200" cy="231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SAR (Specific Absorption Rate)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9" name="Text 14"/>
              <p:cNvSpPr/>
              <p:nvPr/>
            </p:nvSpPr>
            <p:spPr>
              <a:xfrm>
                <a:off x="4855320" y="2525400"/>
                <a:ext cx="3931200" cy="1735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d6006a"/>
                    </a:solidFill>
                    <a:effectLst/>
                    <a:uFillTx/>
                    <a:latin typeface="Calibri"/>
                    <a:ea typeface="Calibri"/>
                  </a:rPr>
                  <a:t>Promieniowanie RF wchłaniane przez ciało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0" name="Text 15"/>
              <p:cNvSpPr/>
              <p:nvPr/>
            </p:nvSpPr>
            <p:spPr>
              <a:xfrm>
                <a:off x="4855320" y="2713680"/>
                <a:ext cx="4013640" cy="289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EU: &lt; 2.0 W/kg (głowa+tułów). US FCC: &lt; 1.6 W/kg (1g tkanki). Test: antena przy ciele 5mm. SAR raportowany publicznie dla każdego urządzenia.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1" name="Grupa 44"/>
            <p:cNvGrpSpPr/>
            <p:nvPr/>
          </p:nvGrpSpPr>
          <p:grpSpPr>
            <a:xfrm>
              <a:off x="83880" y="3181680"/>
              <a:ext cx="4487400" cy="767160"/>
              <a:chOff x="83880" y="3181680"/>
              <a:chExt cx="4487400" cy="767160"/>
            </a:xfrm>
          </p:grpSpPr>
          <p:grpSp>
            <p:nvGrpSpPr>
              <p:cNvPr id="1372" name="Grupa 38"/>
              <p:cNvGrpSpPr/>
              <p:nvPr/>
            </p:nvGrpSpPr>
            <p:grpSpPr>
              <a:xfrm>
                <a:off x="83880" y="3181680"/>
                <a:ext cx="4487400" cy="767160"/>
                <a:chOff x="83880" y="3181680"/>
                <a:chExt cx="4487400" cy="767160"/>
              </a:xfrm>
            </p:grpSpPr>
            <p:sp>
              <p:nvSpPr>
                <p:cNvPr id="1373" name="Shape 16"/>
                <p:cNvSpPr/>
                <p:nvPr/>
              </p:nvSpPr>
              <p:spPr>
                <a:xfrm>
                  <a:off x="83880" y="3181680"/>
                  <a:ext cx="4487400" cy="7671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4" name="Shape 17"/>
                <p:cNvSpPr/>
                <p:nvPr/>
              </p:nvSpPr>
              <p:spPr>
                <a:xfrm>
                  <a:off x="83880" y="3181680"/>
                  <a:ext cx="56880" cy="7671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0e9a6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75" name="Text 18"/>
              <p:cNvSpPr/>
              <p:nvPr/>
            </p:nvSpPr>
            <p:spPr>
              <a:xfrm>
                <a:off x="219240" y="3189960"/>
                <a:ext cx="4149720" cy="236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CE (Conformité Européenne)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6" name="Text 19"/>
              <p:cNvSpPr/>
              <p:nvPr/>
            </p:nvSpPr>
            <p:spPr>
              <a:xfrm>
                <a:off x="219240" y="3405600"/>
                <a:ext cx="4149720" cy="177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0e9a6b"/>
                    </a:solidFill>
                    <a:effectLst/>
                    <a:uFillTx/>
                    <a:latin typeface="Calibri"/>
                    <a:ea typeface="Calibri"/>
                  </a:rPr>
                  <a:t>Dyrektywy EU</a:t>
                </a:r>
                <a:r>
                  <a:rPr lang="pl-PL" sz="1000" b="0" u="none" strike="noStrike">
                    <a:solidFill>
                      <a:srgbClr val="0e9a6b"/>
                    </a:solidFill>
                    <a:effectLst/>
                    <a:uFillTx/>
                    <a:latin typeface="Calibri"/>
                    <a:ea typeface="Calibri"/>
                  </a:rPr>
                  <a:t>.</a:t>
                </a:r>
                <a:r>
                  <a:rPr lang="en-US" sz="1000" b="0" u="none" strike="noStrike">
                    <a:solidFill>
                      <a:srgbClr val="0e9a6b"/>
                    </a:solidFill>
                    <a:effectLst/>
                    <a:uFillTx/>
                    <a:latin typeface="Calibri"/>
                    <a:ea typeface="Calibri"/>
                  </a:rPr>
                  <a:t> bezpieczeństwo i EMC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7" name="Text 20"/>
              <p:cNvSpPr/>
              <p:nvPr/>
            </p:nvSpPr>
            <p:spPr>
              <a:xfrm>
                <a:off x="219240" y="3565440"/>
                <a:ext cx="4149720" cy="3452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RED (Radio Equipment Directive): RF emisje. ROHS: ograniczenie substancji niebezp. LVD: bezpieczeństwo niskiego napięcia. GDPR: dane personalne.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8" name="Grupa 47"/>
            <p:cNvGrpSpPr/>
            <p:nvPr/>
          </p:nvGrpSpPr>
          <p:grpSpPr>
            <a:xfrm>
              <a:off x="4727520" y="3189960"/>
              <a:ext cx="4251240" cy="750960"/>
              <a:chOff x="4727520" y="3189960"/>
              <a:chExt cx="4251240" cy="750960"/>
            </a:xfrm>
          </p:grpSpPr>
          <p:grpSp>
            <p:nvGrpSpPr>
              <p:cNvPr id="1379" name="Grupa 41"/>
              <p:cNvGrpSpPr/>
              <p:nvPr/>
            </p:nvGrpSpPr>
            <p:grpSpPr>
              <a:xfrm>
                <a:off x="4727520" y="3189960"/>
                <a:ext cx="4251240" cy="750960"/>
                <a:chOff x="4727520" y="3189960"/>
                <a:chExt cx="4251240" cy="750960"/>
              </a:xfrm>
            </p:grpSpPr>
            <p:sp>
              <p:nvSpPr>
                <p:cNvPr id="1380" name="Shape 21"/>
                <p:cNvSpPr/>
                <p:nvPr/>
              </p:nvSpPr>
              <p:spPr>
                <a:xfrm>
                  <a:off x="4727520" y="3189960"/>
                  <a:ext cx="4251240" cy="750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1" name="Shape 22"/>
                <p:cNvSpPr/>
                <p:nvPr/>
              </p:nvSpPr>
              <p:spPr>
                <a:xfrm>
                  <a:off x="4727520" y="3189960"/>
                  <a:ext cx="54000" cy="750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6d28d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82" name="Text 23"/>
              <p:cNvSpPr/>
              <p:nvPr/>
            </p:nvSpPr>
            <p:spPr>
              <a:xfrm>
                <a:off x="4855320" y="3198240"/>
                <a:ext cx="3931200" cy="239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FCC (US Federal Comm. Comm.)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3" name="Text 24"/>
              <p:cNvSpPr/>
              <p:nvPr/>
            </p:nvSpPr>
            <p:spPr>
              <a:xfrm>
                <a:off x="4855320" y="3407760"/>
                <a:ext cx="3931200" cy="1789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6d28d9"/>
                    </a:solidFill>
                    <a:effectLst/>
                    <a:uFillTx/>
                    <a:latin typeface="Calibri"/>
                    <a:ea typeface="Calibri"/>
                  </a:rPr>
                  <a:t>Emisje RF i certyfikacja USA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4" name="Text 25"/>
              <p:cNvSpPr/>
              <p:nvPr/>
            </p:nvSpPr>
            <p:spPr>
              <a:xfrm>
                <a:off x="4855320" y="3611520"/>
                <a:ext cx="4013640" cy="3157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FCC ID: każde urządzenie RF w USA. Part 15B: emisje niezamierzone. Part 22/24/27: sieci komórkowe. Rejestracja OET: baza danych publiczna.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85" name="Grupa 43"/>
            <p:cNvGrpSpPr/>
            <p:nvPr/>
          </p:nvGrpSpPr>
          <p:grpSpPr>
            <a:xfrm>
              <a:off x="83880" y="4058640"/>
              <a:ext cx="4487400" cy="769680"/>
              <a:chOff x="83880" y="4058640"/>
              <a:chExt cx="4487400" cy="769680"/>
            </a:xfrm>
          </p:grpSpPr>
          <p:grpSp>
            <p:nvGrpSpPr>
              <p:cNvPr id="1386" name="Grupa 37"/>
              <p:cNvGrpSpPr/>
              <p:nvPr/>
            </p:nvGrpSpPr>
            <p:grpSpPr>
              <a:xfrm>
                <a:off x="83880" y="4058640"/>
                <a:ext cx="4487400" cy="769680"/>
                <a:chOff x="83880" y="4058640"/>
                <a:chExt cx="4487400" cy="769680"/>
              </a:xfrm>
            </p:grpSpPr>
            <p:sp>
              <p:nvSpPr>
                <p:cNvPr id="1387" name="Shape 26"/>
                <p:cNvSpPr/>
                <p:nvPr/>
              </p:nvSpPr>
              <p:spPr>
                <a:xfrm>
                  <a:off x="83880" y="4058640"/>
                  <a:ext cx="4487400" cy="7696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8" name="Shape 27"/>
                <p:cNvSpPr/>
                <p:nvPr/>
              </p:nvSpPr>
              <p:spPr>
                <a:xfrm>
                  <a:off x="83880" y="4058640"/>
                  <a:ext cx="56880" cy="7696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47a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89" name="Text 28"/>
              <p:cNvSpPr/>
              <p:nvPr/>
            </p:nvSpPr>
            <p:spPr>
              <a:xfrm>
                <a:off x="219240" y="4074120"/>
                <a:ext cx="4149720" cy="236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MIL-STD-810H / MIL-SPEC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0" name="Text 29"/>
              <p:cNvSpPr/>
              <p:nvPr/>
            </p:nvSpPr>
            <p:spPr>
              <a:xfrm>
                <a:off x="219240" y="4281480"/>
                <a:ext cx="4149720" cy="177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c47a00"/>
                    </a:solidFill>
                    <a:effectLst/>
                    <a:uFillTx/>
                    <a:latin typeface="Calibri"/>
                    <a:ea typeface="Calibri"/>
                  </a:rPr>
                  <a:t>Odporność mechaniczna i środowiskowa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1" name="Text 30"/>
              <p:cNvSpPr/>
              <p:nvPr/>
            </p:nvSpPr>
            <p:spPr>
              <a:xfrm>
                <a:off x="219240" y="4457880"/>
                <a:ext cx="4280400" cy="326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-40°C do +71°C, wibracje, upadki, wilgoć, sol fog, ciśnienie. 26 metod testowych. Zebra/CAT/Panasonic rugged. Certyfikat wymaga pełnych testów lab.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2" name="Grupa 48"/>
            <p:cNvGrpSpPr/>
            <p:nvPr/>
          </p:nvGrpSpPr>
          <p:grpSpPr>
            <a:xfrm>
              <a:off x="4727520" y="4058640"/>
              <a:ext cx="4251240" cy="769680"/>
              <a:chOff x="4727520" y="4058640"/>
              <a:chExt cx="4251240" cy="769680"/>
            </a:xfrm>
          </p:grpSpPr>
          <p:grpSp>
            <p:nvGrpSpPr>
              <p:cNvPr id="1393" name="Grupa 42"/>
              <p:cNvGrpSpPr/>
              <p:nvPr/>
            </p:nvGrpSpPr>
            <p:grpSpPr>
              <a:xfrm>
                <a:off x="4727520" y="4058640"/>
                <a:ext cx="4251240" cy="769680"/>
                <a:chOff x="4727520" y="4058640"/>
                <a:chExt cx="4251240" cy="769680"/>
              </a:xfrm>
            </p:grpSpPr>
            <p:sp>
              <p:nvSpPr>
                <p:cNvPr id="1394" name="Shape 31"/>
                <p:cNvSpPr/>
                <p:nvPr/>
              </p:nvSpPr>
              <p:spPr>
                <a:xfrm>
                  <a:off x="4727520" y="4058640"/>
                  <a:ext cx="4251240" cy="7696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600">
                  <a:solidFill>
                    <a:srgbClr val="cbd5e5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5" name="Shape 32"/>
                <p:cNvSpPr/>
                <p:nvPr/>
              </p:nvSpPr>
              <p:spPr>
                <a:xfrm>
                  <a:off x="4727520" y="4058640"/>
                  <a:ext cx="54000" cy="7696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1a5db5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lang="pl-PL" sz="180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396" name="Text 33"/>
              <p:cNvSpPr/>
              <p:nvPr/>
            </p:nvSpPr>
            <p:spPr>
              <a:xfrm>
                <a:off x="4855320" y="4077000"/>
                <a:ext cx="3931200" cy="2322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200" b="1" u="none" strike="noStrike">
                    <a:solidFill>
                      <a:srgbClr val="182030"/>
                    </a:solidFill>
                    <a:effectLst/>
                    <a:uFillTx/>
                    <a:latin typeface="Cambria"/>
                    <a:ea typeface="Cambria"/>
                  </a:rPr>
                  <a:t>Widevine L1 / HDCP</a:t>
                </a:r>
                <a:endParaRPr lang="pl-PL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7" name="Text 34"/>
              <p:cNvSpPr/>
              <p:nvPr/>
            </p:nvSpPr>
            <p:spPr>
              <a:xfrm>
                <a:off x="4855320" y="4304160"/>
                <a:ext cx="3931200" cy="173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1a5db5"/>
                    </a:solidFill>
                    <a:effectLst/>
                    <a:uFillTx/>
                    <a:latin typeface="Calibri"/>
                    <a:ea typeface="Calibri"/>
                  </a:rPr>
                  <a:t>DRM</a:t>
                </a:r>
                <a:r>
                  <a:rPr lang="pl-PL" sz="1000" b="0" u="none" strike="noStrike">
                    <a:solidFill>
                      <a:srgbClr val="1a5db5"/>
                    </a:solidFill>
                    <a:effectLst/>
                    <a:uFillTx/>
                    <a:latin typeface="Calibri"/>
                    <a:ea typeface="Calibri"/>
                  </a:rPr>
                  <a:t>,</a:t>
                </a:r>
                <a:r>
                  <a:rPr lang="en-US" sz="1000" b="0" u="none" strike="noStrike">
                    <a:solidFill>
                      <a:srgbClr val="1a5db5"/>
                    </a:solidFill>
                    <a:effectLst/>
                    <a:uFillTx/>
                    <a:latin typeface="Calibri"/>
                    <a:ea typeface="Calibri"/>
                  </a:rPr>
                  <a:t> cyfrowe prawa autorskie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8" name="Text 35"/>
              <p:cNvSpPr/>
              <p:nvPr/>
            </p:nvSpPr>
            <p:spPr>
              <a:xfrm>
                <a:off x="4855320" y="4484880"/>
                <a:ext cx="4013640" cy="3196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ts val="1100"/>
                  </a:lnSpc>
                  <a:tabLst>
                    <a:tab algn="l" pos="0"/>
                  </a:tabLst>
                </a:pPr>
                <a:r>
                  <a:rPr lang="en-US" sz="1000" b="0" u="none" strike="noStrike">
                    <a:solidFill>
                      <a:srgbClr val="3b5168"/>
                    </a:solidFill>
                    <a:effectLst/>
                    <a:uFillTx/>
                    <a:latin typeface="Calibri"/>
                    <a:ea typeface="Calibri"/>
                  </a:rPr>
                  <a:t>Widevine L1: TEE-based DRM → 4K Netflix/Disney+. L3: software-only → max 720p. HDCP 2.3: szyfrowanie HDMI/DisplayPort dla 4K content.</a:t>
                </a:r>
                <a:endParaRPr lang="pl-PL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99" name="pole tekstowe 51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58887916-EC88-40E8-BAC6-11CE2D3AB2E7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Składane, Rollable i Nowe Form-Factory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,</a:t>
            </a: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technologie ekranów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Text 5"/>
          <p:cNvSpPr/>
          <p:nvPr/>
        </p:nvSpPr>
        <p:spPr>
          <a:xfrm>
            <a:off x="3893760" y="749880"/>
            <a:ext cx="5101560" cy="771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Składane smartfony to nowa kategoria od 2019. UTG (Ultra Thin Glass) + nowe zawiasy umożliwiają elastyczność. Technologia dojrzała, 200k+ cykli bez degradacji.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06" name="Grupa 42"/>
          <p:cNvGrpSpPr/>
          <p:nvPr/>
        </p:nvGrpSpPr>
        <p:grpSpPr>
          <a:xfrm>
            <a:off x="76320" y="783360"/>
            <a:ext cx="3817800" cy="2846880"/>
            <a:chOff x="76320" y="783360"/>
            <a:chExt cx="3817800" cy="2846880"/>
          </a:xfrm>
        </p:grpSpPr>
        <p:sp>
          <p:nvSpPr>
            <p:cNvPr id="1407" name="Text 6"/>
            <p:cNvSpPr/>
            <p:nvPr/>
          </p:nvSpPr>
          <p:spPr>
            <a:xfrm>
              <a:off x="76320" y="783360"/>
              <a:ext cx="353556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3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UTG: Ultra Thin Glass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8" name="Shape 7"/>
            <p:cNvSpPr/>
            <p:nvPr/>
          </p:nvSpPr>
          <p:spPr>
            <a:xfrm>
              <a:off x="76320" y="1038600"/>
              <a:ext cx="3817800" cy="2591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70d1a"/>
            </a:solidFill>
            <a:ln w="12600">
              <a:solidFill>
                <a:srgbClr val="1a2e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9" name="Text 8"/>
            <p:cNvSpPr/>
            <p:nvPr/>
          </p:nvSpPr>
          <p:spPr>
            <a:xfrm>
              <a:off x="2960280" y="1036800"/>
              <a:ext cx="913680" cy="163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850" b="0" u="none" strike="noStrike">
                  <a:solidFill>
                    <a:srgbClr val="4a7a9b"/>
                  </a:solidFill>
                  <a:effectLst/>
                  <a:uFillTx/>
                  <a:latin typeface="Calibri"/>
                  <a:ea typeface="Calibri"/>
                </a:rPr>
                <a:t>Shell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0" name="Text 9"/>
            <p:cNvSpPr/>
            <p:nvPr/>
          </p:nvSpPr>
          <p:spPr>
            <a:xfrm>
              <a:off x="125640" y="1082880"/>
              <a:ext cx="3690720" cy="2547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UTG właściwości (Samsung/Schott UTG):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Grubość: 30–80 micrometrów (cienki jak papier)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Materiał: borosilicate lub alkali-alumino-silicate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Elastyczność: promień gięcia R = 1.4mm (Z Fold 6)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Twardość: ~7H (twarde, ale zarysowania łatwiejsze)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Transmisja optyczna: &gt;95% w visible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Hinge technology: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Samsung WaterDrop hinge (S25 Fold/Flip):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Teardrop cross-section przy zwinięciu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Pozwala większy promień gięcia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- 200k cykli = 100x/dzień przez 5 lat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Muffler: dźwięk "snap" celowy feedback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Rollable (LG patent, OPPO X 2021):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OLED na gumowym substracie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Rolka + motor → wysuwanie ekranu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900" b="0" u="none" strike="noStrike">
                  <a:solidFill>
                    <a:srgbClr val="7dd3fc"/>
                  </a:solidFill>
                  <a:effectLst/>
                  <a:uFillTx/>
                  <a:latin typeface="Cascadia Code Light"/>
                  <a:ea typeface="Consolas"/>
                </a:rPr>
                <a:t>#   - Wyzwanie: kurvatura naprężenia vs wrinkle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1" name="Grupa 40"/>
          <p:cNvGrpSpPr/>
          <p:nvPr/>
        </p:nvGrpSpPr>
        <p:grpSpPr>
          <a:xfrm>
            <a:off x="68760" y="3740760"/>
            <a:ext cx="4411080" cy="564480"/>
            <a:chOff x="68760" y="3740760"/>
            <a:chExt cx="4411080" cy="564480"/>
          </a:xfrm>
        </p:grpSpPr>
        <p:sp>
          <p:nvSpPr>
            <p:cNvPr id="1412" name="Shape 10"/>
            <p:cNvSpPr/>
            <p:nvPr/>
          </p:nvSpPr>
          <p:spPr>
            <a:xfrm>
              <a:off x="74880" y="3751200"/>
              <a:ext cx="4404960" cy="554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3" name="Shape 11"/>
            <p:cNvSpPr/>
            <p:nvPr/>
          </p:nvSpPr>
          <p:spPr>
            <a:xfrm>
              <a:off x="68760" y="3751200"/>
              <a:ext cx="57240" cy="554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4" name="Text 12"/>
            <p:cNvSpPr/>
            <p:nvPr/>
          </p:nvSpPr>
          <p:spPr>
            <a:xfrm>
              <a:off x="210600" y="3740760"/>
              <a:ext cx="421128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Wyzwania składanych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5" name="Text 13"/>
            <p:cNvSpPr/>
            <p:nvPr/>
          </p:nvSpPr>
          <p:spPr>
            <a:xfrm>
              <a:off x="210600" y="3939840"/>
              <a:ext cx="4211280" cy="327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1. Kreska w miejscu gięcia (crease). 2. Grubość złożona &gt; smartfon. 3. IPX8 bez IP dla pyłu (hinge). 4. Cena 2–3× wyższa. Dojrzewanie generacja po generacji.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6" name="Grupa 41"/>
          <p:cNvGrpSpPr/>
          <p:nvPr/>
        </p:nvGrpSpPr>
        <p:grpSpPr>
          <a:xfrm>
            <a:off x="68760" y="4349160"/>
            <a:ext cx="4411080" cy="551520"/>
            <a:chOff x="68760" y="4349160"/>
            <a:chExt cx="4411080" cy="551520"/>
          </a:xfrm>
        </p:grpSpPr>
        <p:sp>
          <p:nvSpPr>
            <p:cNvPr id="1417" name="Shape 14"/>
            <p:cNvSpPr/>
            <p:nvPr/>
          </p:nvSpPr>
          <p:spPr>
            <a:xfrm>
              <a:off x="74880" y="4350240"/>
              <a:ext cx="4404960" cy="550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8" name="Shape 15"/>
            <p:cNvSpPr/>
            <p:nvPr/>
          </p:nvSpPr>
          <p:spPr>
            <a:xfrm>
              <a:off x="68760" y="4350240"/>
              <a:ext cx="57240" cy="550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9" name="Text 16"/>
            <p:cNvSpPr/>
            <p:nvPr/>
          </p:nvSpPr>
          <p:spPr>
            <a:xfrm>
              <a:off x="210600" y="4349160"/>
              <a:ext cx="4211280" cy="216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Flip vs Fold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0" name="Text 17"/>
            <p:cNvSpPr/>
            <p:nvPr/>
          </p:nvSpPr>
          <p:spPr>
            <a:xfrm>
              <a:off x="210600" y="4587840"/>
              <a:ext cx="4211280" cy="265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Flip (Z Flip 6): kompaktowy, Cover screen 3.4". Social media. Fold (Z Fold 6): tablet 7.6" → phone 6.3". Produktywność. S-Pen. DeX mode.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1" name="Text 18"/>
          <p:cNvSpPr/>
          <p:nvPr/>
        </p:nvSpPr>
        <p:spPr>
          <a:xfrm>
            <a:off x="4797360" y="1659240"/>
            <a:ext cx="407160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3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Rynek i ekosystem składanych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2" name="Grupa 50"/>
          <p:cNvGrpSpPr/>
          <p:nvPr/>
        </p:nvGrpSpPr>
        <p:grpSpPr>
          <a:xfrm>
            <a:off x="4663440" y="1915200"/>
            <a:ext cx="4389120" cy="568800"/>
            <a:chOff x="4663440" y="1915200"/>
            <a:chExt cx="4389120" cy="568800"/>
          </a:xfrm>
        </p:grpSpPr>
        <p:grpSp>
          <p:nvGrpSpPr>
            <p:cNvPr id="1423" name="Grupa 49"/>
            <p:cNvGrpSpPr/>
            <p:nvPr/>
          </p:nvGrpSpPr>
          <p:grpSpPr>
            <a:xfrm>
              <a:off x="4663440" y="1928880"/>
              <a:ext cx="4389120" cy="555120"/>
              <a:chOff x="4663440" y="1928880"/>
              <a:chExt cx="4389120" cy="555120"/>
            </a:xfrm>
          </p:grpSpPr>
          <p:sp>
            <p:nvSpPr>
              <p:cNvPr id="1424" name="Shape 19"/>
              <p:cNvSpPr/>
              <p:nvPr/>
            </p:nvSpPr>
            <p:spPr>
              <a:xfrm>
                <a:off x="4663440" y="1928880"/>
                <a:ext cx="4389120" cy="555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5" name="Shape 20"/>
              <p:cNvSpPr/>
              <p:nvPr/>
            </p:nvSpPr>
            <p:spPr>
              <a:xfrm>
                <a:off x="4663440" y="1928880"/>
                <a:ext cx="56520" cy="55512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4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26" name="Text 21"/>
            <p:cNvSpPr/>
            <p:nvPr/>
          </p:nvSpPr>
          <p:spPr>
            <a:xfrm>
              <a:off x="4797360" y="1915200"/>
              <a:ext cx="4198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Samsung Galaxy Z Fold 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7" name="Text 22"/>
            <p:cNvSpPr/>
            <p:nvPr/>
          </p:nvSpPr>
          <p:spPr>
            <a:xfrm>
              <a:off x="4797360" y="2146320"/>
              <a:ext cx="4198320" cy="273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Snapdragon 8 Gen 3. Wewnętrzny 7.6" LTPO AMOLED. Zewnętrzny 6.3". Hinge 200k. IPX8. S-Pen (bez gniazda w base). 12GB/256GB od €1,899.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8" name="Grupa 48"/>
          <p:cNvGrpSpPr/>
          <p:nvPr/>
        </p:nvGrpSpPr>
        <p:grpSpPr>
          <a:xfrm>
            <a:off x="4663440" y="2518920"/>
            <a:ext cx="4389120" cy="573120"/>
            <a:chOff x="4663440" y="2518920"/>
            <a:chExt cx="4389120" cy="573120"/>
          </a:xfrm>
        </p:grpSpPr>
        <p:grpSp>
          <p:nvGrpSpPr>
            <p:cNvPr id="1429" name="Grupa 47"/>
            <p:cNvGrpSpPr/>
            <p:nvPr/>
          </p:nvGrpSpPr>
          <p:grpSpPr>
            <a:xfrm>
              <a:off x="4663440" y="2536200"/>
              <a:ext cx="4389120" cy="555840"/>
              <a:chOff x="4663440" y="2536200"/>
              <a:chExt cx="4389120" cy="555840"/>
            </a:xfrm>
          </p:grpSpPr>
          <p:sp>
            <p:nvSpPr>
              <p:cNvPr id="1430" name="Shape 23"/>
              <p:cNvSpPr/>
              <p:nvPr/>
            </p:nvSpPr>
            <p:spPr>
              <a:xfrm>
                <a:off x="4663440" y="2536200"/>
                <a:ext cx="4389120" cy="555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1" name="Shape 24"/>
              <p:cNvSpPr/>
              <p:nvPr/>
            </p:nvSpPr>
            <p:spPr>
              <a:xfrm>
                <a:off x="4663440" y="2536200"/>
                <a:ext cx="56520" cy="555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32" name="Text 25"/>
            <p:cNvSpPr/>
            <p:nvPr/>
          </p:nvSpPr>
          <p:spPr>
            <a:xfrm>
              <a:off x="4797360" y="2518920"/>
              <a:ext cx="419832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Google Pixel 9 Pro Fold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3" name="Text 26"/>
            <p:cNvSpPr/>
            <p:nvPr/>
          </p:nvSpPr>
          <p:spPr>
            <a:xfrm>
              <a:off x="4797360" y="2741760"/>
              <a:ext cx="4198320" cy="273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Tensor G4. 8" inner. Grubość rozłożona 5.1mm (najcieńszy Fold). Kamera Pixel jakość. Pixel AI features. Android 15 day-one.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4" name="Grupa 46"/>
          <p:cNvGrpSpPr/>
          <p:nvPr/>
        </p:nvGrpSpPr>
        <p:grpSpPr>
          <a:xfrm>
            <a:off x="4663440" y="3156480"/>
            <a:ext cx="4389120" cy="532440"/>
            <a:chOff x="4663440" y="3156480"/>
            <a:chExt cx="4389120" cy="532440"/>
          </a:xfrm>
        </p:grpSpPr>
        <p:grpSp>
          <p:nvGrpSpPr>
            <p:cNvPr id="1435" name="Grupa 45"/>
            <p:cNvGrpSpPr/>
            <p:nvPr/>
          </p:nvGrpSpPr>
          <p:grpSpPr>
            <a:xfrm>
              <a:off x="4663440" y="3156480"/>
              <a:ext cx="4389120" cy="532440"/>
              <a:chOff x="4663440" y="3156480"/>
              <a:chExt cx="4389120" cy="532440"/>
            </a:xfrm>
          </p:grpSpPr>
          <p:sp>
            <p:nvSpPr>
              <p:cNvPr id="1436" name="Shape 27"/>
              <p:cNvSpPr/>
              <p:nvPr/>
            </p:nvSpPr>
            <p:spPr>
              <a:xfrm>
                <a:off x="4663440" y="3156480"/>
                <a:ext cx="4389120" cy="532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7" name="Shape 28"/>
              <p:cNvSpPr/>
              <p:nvPr/>
            </p:nvSpPr>
            <p:spPr>
              <a:xfrm>
                <a:off x="4663440" y="3156480"/>
                <a:ext cx="56520" cy="532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e9a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38" name="Text 29"/>
            <p:cNvSpPr/>
            <p:nvPr/>
          </p:nvSpPr>
          <p:spPr>
            <a:xfrm>
              <a:off x="4797360" y="3181320"/>
              <a:ext cx="4198320" cy="183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Motorola Razr 50 Ultra (Flip)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9" name="Text 30"/>
            <p:cNvSpPr/>
            <p:nvPr/>
          </p:nvSpPr>
          <p:spPr>
            <a:xfrm>
              <a:off x="4797360" y="3366720"/>
              <a:ext cx="4198320" cy="273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Snapdragon 8s Gen 3. Flip form. Cover screen pHaOLED 4". 6.9" inner FHD+. AI actions na cover display. 3500mAh 45W.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40" name="Grupa 44"/>
          <p:cNvGrpSpPr/>
          <p:nvPr/>
        </p:nvGrpSpPr>
        <p:grpSpPr>
          <a:xfrm>
            <a:off x="4663440" y="3740760"/>
            <a:ext cx="4389120" cy="559440"/>
            <a:chOff x="4663440" y="3740760"/>
            <a:chExt cx="4389120" cy="559440"/>
          </a:xfrm>
        </p:grpSpPr>
        <p:sp>
          <p:nvSpPr>
            <p:cNvPr id="1441" name="Shape 31"/>
            <p:cNvSpPr/>
            <p:nvPr/>
          </p:nvSpPr>
          <p:spPr>
            <a:xfrm>
              <a:off x="4663440" y="3740760"/>
              <a:ext cx="4389120" cy="559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Shape 32"/>
            <p:cNvSpPr/>
            <p:nvPr/>
          </p:nvSpPr>
          <p:spPr>
            <a:xfrm>
              <a:off x="4663440" y="3747960"/>
              <a:ext cx="56520" cy="545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Text 33"/>
            <p:cNvSpPr/>
            <p:nvPr/>
          </p:nvSpPr>
          <p:spPr>
            <a:xfrm>
              <a:off x="4797360" y="3763080"/>
              <a:ext cx="4198320" cy="19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OPPO Find N3 Flip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Text 34"/>
            <p:cNvSpPr/>
            <p:nvPr/>
          </p:nvSpPr>
          <p:spPr>
            <a:xfrm>
              <a:off x="4797360" y="4013280"/>
              <a:ext cx="4198320" cy="226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Dimensity 9200. 3.26" cover AMOLED. 6.8" inner 120Hz. IPX4. Hasselblad camera collab. Dostępny w Chinach/EU.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45" name="Grupa 43"/>
          <p:cNvGrpSpPr/>
          <p:nvPr/>
        </p:nvGrpSpPr>
        <p:grpSpPr>
          <a:xfrm>
            <a:off x="4663440" y="4349160"/>
            <a:ext cx="4389120" cy="551520"/>
            <a:chOff x="4663440" y="4349160"/>
            <a:chExt cx="4389120" cy="551520"/>
          </a:xfrm>
        </p:grpSpPr>
        <p:sp>
          <p:nvSpPr>
            <p:cNvPr id="1446" name="Shape 35"/>
            <p:cNvSpPr/>
            <p:nvPr/>
          </p:nvSpPr>
          <p:spPr>
            <a:xfrm>
              <a:off x="4663440" y="4359240"/>
              <a:ext cx="4389120" cy="541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7" name="Shape 36"/>
            <p:cNvSpPr/>
            <p:nvPr/>
          </p:nvSpPr>
          <p:spPr>
            <a:xfrm>
              <a:off x="4663440" y="4359240"/>
              <a:ext cx="56520" cy="541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Text 37"/>
            <p:cNvSpPr/>
            <p:nvPr/>
          </p:nvSpPr>
          <p:spPr>
            <a:xfrm>
              <a:off x="4797360" y="4349160"/>
              <a:ext cx="4198320" cy="230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Rynek składanych 2024–2025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9" name="Text 38"/>
            <p:cNvSpPr/>
            <p:nvPr/>
          </p:nvSpPr>
          <p:spPr>
            <a:xfrm>
              <a:off x="4797360" y="4587840"/>
              <a:ext cx="4198320" cy="265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15M+ składanych sprzedanych 2024 (4% smartfonów). Samsung ~80% rynku. Ceny spadają: Pixel 9 Fold od €1,799. Mainstream za 3–5 lat gdy &lt;$800.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0" name="pole tekstowe 52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2081DC46-9409-4811-9611-FADE2D7E03CA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2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Przyszłość: AI Phone, Foundation Models On-Device i 300W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Text 5"/>
          <p:cNvSpPr/>
          <p:nvPr/>
        </p:nvSpPr>
        <p:spPr>
          <a:xfrm>
            <a:off x="4549320" y="749880"/>
            <a:ext cx="4465440" cy="997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2025–2030: smartfon staje się platformą AI. Foundation models na urządzeniu (1–7B param), 300W ładowanie, satelitarna łączność </a:t>
            </a:r>
            <a:br>
              <a:rPr sz="1600"/>
            </a:br>
            <a:r>
              <a:rPr lang="pl-PL" sz="16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i biometryczna tożsamość.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Text 6"/>
          <p:cNvSpPr/>
          <p:nvPr/>
        </p:nvSpPr>
        <p:spPr>
          <a:xfrm>
            <a:off x="161280" y="701640"/>
            <a:ext cx="361836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Generatywne AI on-device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Shape 7"/>
          <p:cNvSpPr/>
          <p:nvPr/>
        </p:nvSpPr>
        <p:spPr>
          <a:xfrm>
            <a:off x="122040" y="956880"/>
            <a:ext cx="3909240" cy="2841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0d1a"/>
          </a:solidFill>
          <a:ln w="12600">
            <a:solidFill>
              <a:srgbClr val="1a2e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 8"/>
          <p:cNvSpPr/>
          <p:nvPr/>
        </p:nvSpPr>
        <p:spPr>
          <a:xfrm>
            <a:off x="3024000" y="934920"/>
            <a:ext cx="965880" cy="174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pl-PL" sz="850" b="0" u="none" strike="noStrike">
                <a:solidFill>
                  <a:srgbClr val="4a7a9b"/>
                </a:solidFill>
                <a:effectLst/>
                <a:uFillTx/>
                <a:latin typeface="Calibri"/>
                <a:ea typeface="Calibri"/>
              </a:rPr>
              <a:t>Python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Text 9"/>
          <p:cNvSpPr/>
          <p:nvPr/>
        </p:nvSpPr>
        <p:spPr>
          <a:xfrm>
            <a:off x="172440" y="1014120"/>
            <a:ext cx="3858480" cy="2679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On-device LLM deployment (2024–2025)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Model: Gemini Nano (1.8B) / Llama 3.2 (3B)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Runtime: ExecuTorch / ONNX Runtime Mobile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Quantizacja — klucz do urządzeń mobilnych: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FP32: 7B × 4B = 28GB (niemożliwe na phone)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INT4 (4-bit): 7B × 0.5B = 3.5GB ✓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INT4 AWQ: accuracy drop &lt; 1% dla top-7B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Android AICore (Android 14):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GoogleAIEdge: HostsGeminiNano via system API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from ai_edge_torch.generative.layers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Import attention, ff, normalization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Llama 3.2 1B na Snapdragon 8 Elite: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Prefill: ~450 tokens/s (NPU accelerated)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Decode: ~60 tokens/s (acceptable)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RAM usage: ~800MB (INT4 quant)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Latencja TTFT: ~200ms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Apple Intelligence (iOS 18):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On-device model: ~3B params, ANE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Server model: Private Cloud Compute (Apple M4)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7dd3fc"/>
                </a:solidFill>
                <a:effectLst/>
                <a:uFillTx/>
                <a:latin typeface="Cascadia Code Light"/>
                <a:ea typeface="Consolas"/>
              </a:rPr>
              <a:t># Privacy: server nie zachowuje danych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1" name="Grupa 40"/>
          <p:cNvGrpSpPr/>
          <p:nvPr/>
        </p:nvGrpSpPr>
        <p:grpSpPr>
          <a:xfrm>
            <a:off x="115920" y="3866040"/>
            <a:ext cx="4357800" cy="501840"/>
            <a:chOff x="115920" y="3866040"/>
            <a:chExt cx="4357800" cy="501840"/>
          </a:xfrm>
        </p:grpSpPr>
        <p:sp>
          <p:nvSpPr>
            <p:cNvPr id="1462" name="Shape 10"/>
            <p:cNvSpPr/>
            <p:nvPr/>
          </p:nvSpPr>
          <p:spPr>
            <a:xfrm>
              <a:off x="115920" y="3867480"/>
              <a:ext cx="4357800" cy="500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Shape 11"/>
            <p:cNvSpPr/>
            <p:nvPr/>
          </p:nvSpPr>
          <p:spPr>
            <a:xfrm>
              <a:off x="117360" y="3867480"/>
              <a:ext cx="55080" cy="500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Text 12"/>
            <p:cNvSpPr/>
            <p:nvPr/>
          </p:nvSpPr>
          <p:spPr>
            <a:xfrm>
              <a:off x="250200" y="3866040"/>
              <a:ext cx="4166280" cy="19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Apple Intelligence (iOS 18)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Text 13"/>
            <p:cNvSpPr/>
            <p:nvPr/>
          </p:nvSpPr>
          <p:spPr>
            <a:xfrm>
              <a:off x="242640" y="4062240"/>
              <a:ext cx="4166280" cy="272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On-device ~3B model na ANE. Private Cloud Compute: Apple M4 serwery, zero retention. Siri 2.0: deep app integration. Writing tools, Image Playground, Memory.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6" name="Grupa 42"/>
          <p:cNvGrpSpPr/>
          <p:nvPr/>
        </p:nvGrpSpPr>
        <p:grpSpPr>
          <a:xfrm>
            <a:off x="122040" y="4404600"/>
            <a:ext cx="4357800" cy="521640"/>
            <a:chOff x="122040" y="4404600"/>
            <a:chExt cx="4357800" cy="521640"/>
          </a:xfrm>
        </p:grpSpPr>
        <p:grpSp>
          <p:nvGrpSpPr>
            <p:cNvPr id="1467" name="Grupa 41"/>
            <p:cNvGrpSpPr/>
            <p:nvPr/>
          </p:nvGrpSpPr>
          <p:grpSpPr>
            <a:xfrm>
              <a:off x="122040" y="4411800"/>
              <a:ext cx="4357800" cy="514440"/>
              <a:chOff x="122040" y="4411800"/>
              <a:chExt cx="4357800" cy="514440"/>
            </a:xfrm>
          </p:grpSpPr>
          <p:sp>
            <p:nvSpPr>
              <p:cNvPr id="1468" name="Shape 14"/>
              <p:cNvSpPr/>
              <p:nvPr/>
            </p:nvSpPr>
            <p:spPr>
              <a:xfrm>
                <a:off x="122040" y="4411800"/>
                <a:ext cx="4357800" cy="514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600">
                <a:solidFill>
                  <a:srgbClr val="cbd5e5"/>
                </a:solidFill>
                <a:round/>
              </a:ln>
              <a:effectLst>
                <a:outerShdw dist="25455" dir="8100000" rotWithShape="0">
                  <a:srgbClr val="000000">
                    <a:alpha val="6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9" name="Shape 15"/>
              <p:cNvSpPr/>
              <p:nvPr/>
            </p:nvSpPr>
            <p:spPr>
              <a:xfrm>
                <a:off x="122040" y="4411800"/>
                <a:ext cx="50400" cy="5144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600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pl-PL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0" name="Text 16"/>
            <p:cNvSpPr/>
            <p:nvPr/>
          </p:nvSpPr>
          <p:spPr>
            <a:xfrm>
              <a:off x="256320" y="4404600"/>
              <a:ext cx="4166280" cy="202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Samsung / Google Galaxy AI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Text 17"/>
            <p:cNvSpPr/>
            <p:nvPr/>
          </p:nvSpPr>
          <p:spPr>
            <a:xfrm>
              <a:off x="256320" y="4606920"/>
              <a:ext cx="4166280" cy="264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Gemini Nano on-device. Circle to Search. Live Translate. Generative Edit (inpainting). Note Assist. Real-time interpreter. Photo Unblur.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2" name="Text 18"/>
          <p:cNvSpPr/>
          <p:nvPr/>
        </p:nvSpPr>
        <p:spPr>
          <a:xfrm>
            <a:off x="4564440" y="1958400"/>
            <a:ext cx="4434840" cy="237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Trendy sprzętowe 2025–2028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73" name="Grupa 47"/>
          <p:cNvGrpSpPr/>
          <p:nvPr/>
        </p:nvGrpSpPr>
        <p:grpSpPr>
          <a:xfrm>
            <a:off x="4549320" y="2196000"/>
            <a:ext cx="4465440" cy="515880"/>
            <a:chOff x="4549320" y="2196000"/>
            <a:chExt cx="4465440" cy="515880"/>
          </a:xfrm>
        </p:grpSpPr>
        <p:sp>
          <p:nvSpPr>
            <p:cNvPr id="1474" name="Shape 19"/>
            <p:cNvSpPr/>
            <p:nvPr/>
          </p:nvSpPr>
          <p:spPr>
            <a:xfrm>
              <a:off x="4549320" y="2196000"/>
              <a:ext cx="4465440" cy="515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Shape 20"/>
            <p:cNvSpPr/>
            <p:nvPr/>
          </p:nvSpPr>
          <p:spPr>
            <a:xfrm>
              <a:off x="4549320" y="2196000"/>
              <a:ext cx="57240" cy="515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Text 21"/>
            <p:cNvSpPr/>
            <p:nvPr/>
          </p:nvSpPr>
          <p:spPr>
            <a:xfrm>
              <a:off x="4685400" y="2199960"/>
              <a:ext cx="4271040" cy="188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300W Hyper Charging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Text 22"/>
            <p:cNvSpPr/>
            <p:nvPr/>
          </p:nvSpPr>
          <p:spPr>
            <a:xfrm>
              <a:off x="4663440" y="2406600"/>
              <a:ext cx="4277520" cy="286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95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Xiaomi 300W: 0→100% w 5 min. Tri-cell bateria. Temperatura &lt; 43°C przez chip </a:t>
              </a:r>
              <a:br>
                <a:rPr sz="950"/>
              </a:br>
              <a:r>
                <a:rPr lang="en-US" sz="95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w kablu. GaN ładowarka 300W = rozmiar paczki kart. Przewidywany standard premium ~2027.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8" name="Grupa 46"/>
          <p:cNvGrpSpPr/>
          <p:nvPr/>
        </p:nvGrpSpPr>
        <p:grpSpPr>
          <a:xfrm>
            <a:off x="4549320" y="2775240"/>
            <a:ext cx="4465440" cy="509760"/>
            <a:chOff x="4549320" y="2775240"/>
            <a:chExt cx="4465440" cy="509760"/>
          </a:xfrm>
        </p:grpSpPr>
        <p:sp>
          <p:nvSpPr>
            <p:cNvPr id="1479" name="Shape 23"/>
            <p:cNvSpPr/>
            <p:nvPr/>
          </p:nvSpPr>
          <p:spPr>
            <a:xfrm>
              <a:off x="4549320" y="2775240"/>
              <a:ext cx="4465440" cy="50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0" name="Shape 24"/>
            <p:cNvSpPr/>
            <p:nvPr/>
          </p:nvSpPr>
          <p:spPr>
            <a:xfrm>
              <a:off x="4549320" y="2775240"/>
              <a:ext cx="57240" cy="509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1" name="Text 25"/>
            <p:cNvSpPr/>
            <p:nvPr/>
          </p:nvSpPr>
          <p:spPr>
            <a:xfrm>
              <a:off x="4685400" y="2782800"/>
              <a:ext cx="4271040" cy="204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2nm SoC (TSMC N2)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2" name="Text 26"/>
            <p:cNvSpPr/>
            <p:nvPr/>
          </p:nvSpPr>
          <p:spPr>
            <a:xfrm>
              <a:off x="4685400" y="3003840"/>
              <a:ext cx="427104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TSMC N2: produkcja 2025. Apple A19 (iPhone 17 Pro). 25 mld tranzystorów. </a:t>
              </a:r>
              <a:br>
                <a:rPr sz="1000"/>
              </a:br>
              <a:r>
                <a:rPr lang="pl-PL" sz="1000" b="0" u="none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-25–30% energii vs N3E. +10–15% perf. SRAM density +5%.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3" name="Grupa 45"/>
          <p:cNvGrpSpPr/>
          <p:nvPr/>
        </p:nvGrpSpPr>
        <p:grpSpPr>
          <a:xfrm>
            <a:off x="4549320" y="3312360"/>
            <a:ext cx="4465440" cy="504000"/>
            <a:chOff x="4549320" y="3312360"/>
            <a:chExt cx="4465440" cy="504000"/>
          </a:xfrm>
        </p:grpSpPr>
        <p:sp>
          <p:nvSpPr>
            <p:cNvPr id="1484" name="Shape 27"/>
            <p:cNvSpPr/>
            <p:nvPr/>
          </p:nvSpPr>
          <p:spPr>
            <a:xfrm>
              <a:off x="4549320" y="3332160"/>
              <a:ext cx="4465440" cy="484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5" name="Shape 28"/>
            <p:cNvSpPr/>
            <p:nvPr/>
          </p:nvSpPr>
          <p:spPr>
            <a:xfrm>
              <a:off x="4549320" y="3330000"/>
              <a:ext cx="60840" cy="486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6" name="Text 29"/>
            <p:cNvSpPr/>
            <p:nvPr/>
          </p:nvSpPr>
          <p:spPr>
            <a:xfrm>
              <a:off x="4669920" y="3312360"/>
              <a:ext cx="4271040" cy="236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1" u="none" strike="noStrike">
                  <a:solidFill>
                    <a:srgbClr val="182030"/>
                  </a:solidFill>
                  <a:effectLst/>
                  <a:uFillTx/>
                  <a:latin typeface="Cambria"/>
                  <a:ea typeface="Cambria"/>
                </a:rPr>
                <a:t>Satellite 2-way (snapdragon sat)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Text 30"/>
            <p:cNvSpPr/>
            <p:nvPr/>
          </p:nvSpPr>
          <p:spPr>
            <a:xfrm>
              <a:off x="4663440" y="3542760"/>
              <a:ext cx="4293000" cy="255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001"/>
                </a:lnSpc>
                <a:tabLst>
                  <a:tab algn="l" pos="0"/>
                </a:tabLst>
              </a:pP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Qualcomm Snapdragon Satellite: dwukierunkowa łączność przez Iridium. SOS + messaging + data w 2025. Nie wymaga osobnego modemu</a:t>
              </a:r>
              <a:r>
                <a:rPr lang="pl-PL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,</a:t>
              </a:r>
              <a:r>
                <a:rPr lang="en-US" sz="1000" b="0" u="none" spc="-20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wbudowane w X75/X80.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8" name="Grupa 44"/>
          <p:cNvGrpSpPr/>
          <p:nvPr/>
        </p:nvGrpSpPr>
        <p:grpSpPr>
          <a:xfrm>
            <a:off x="4549320" y="3866040"/>
            <a:ext cx="4465440" cy="481680"/>
            <a:chOff x="4549320" y="3866040"/>
            <a:chExt cx="4465440" cy="481680"/>
          </a:xfrm>
        </p:grpSpPr>
        <p:sp>
          <p:nvSpPr>
            <p:cNvPr id="1489" name="Shape 31"/>
            <p:cNvSpPr/>
            <p:nvPr/>
          </p:nvSpPr>
          <p:spPr>
            <a:xfrm>
              <a:off x="4549320" y="3866040"/>
              <a:ext cx="4465440" cy="48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Shape 32"/>
            <p:cNvSpPr/>
            <p:nvPr/>
          </p:nvSpPr>
          <p:spPr>
            <a:xfrm>
              <a:off x="4549320" y="3866040"/>
              <a:ext cx="56880" cy="48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1" name="Text 33"/>
          <p:cNvSpPr/>
          <p:nvPr/>
        </p:nvSpPr>
        <p:spPr>
          <a:xfrm>
            <a:off x="4663440" y="3840840"/>
            <a:ext cx="402264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In-display Face ID + fingerprint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Text 34"/>
          <p:cNvSpPr/>
          <p:nvPr/>
        </p:nvSpPr>
        <p:spPr>
          <a:xfrm>
            <a:off x="4626720" y="4029120"/>
            <a:ext cx="4350960" cy="327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Qualcomm 3D Sonic Max: ultrasonic fingerprint pod całym ekranem. Qualcomm 3D Depth Sensing: Face ID pod ekranem 2025–2026. Brak notch w przyszłości.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3" name="Grupa 43"/>
          <p:cNvGrpSpPr/>
          <p:nvPr/>
        </p:nvGrpSpPr>
        <p:grpSpPr>
          <a:xfrm>
            <a:off x="4549320" y="4411800"/>
            <a:ext cx="4479480" cy="513360"/>
            <a:chOff x="4549320" y="4411800"/>
            <a:chExt cx="4479480" cy="513360"/>
          </a:xfrm>
        </p:grpSpPr>
        <p:sp>
          <p:nvSpPr>
            <p:cNvPr id="1494" name="Shape 35"/>
            <p:cNvSpPr/>
            <p:nvPr/>
          </p:nvSpPr>
          <p:spPr>
            <a:xfrm>
              <a:off x="4549320" y="4411800"/>
              <a:ext cx="4479480" cy="51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5" name="Shape 36"/>
            <p:cNvSpPr/>
            <p:nvPr/>
          </p:nvSpPr>
          <p:spPr>
            <a:xfrm>
              <a:off x="4549320" y="4411800"/>
              <a:ext cx="57600" cy="513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6" name="Text 37"/>
          <p:cNvSpPr/>
          <p:nvPr/>
        </p:nvSpPr>
        <p:spPr>
          <a:xfrm>
            <a:off x="4668480" y="4400640"/>
            <a:ext cx="4101120" cy="23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182030"/>
                </a:solidFill>
                <a:effectLst/>
                <a:uFillTx/>
                <a:latin typeface="Cambria"/>
                <a:ea typeface="Cambria"/>
              </a:rPr>
              <a:t>SoC z HBM3E dla AI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 38"/>
          <p:cNvSpPr/>
          <p:nvPr/>
        </p:nvSpPr>
        <p:spPr>
          <a:xfrm>
            <a:off x="4676040" y="4620960"/>
            <a:ext cx="4338360" cy="28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001"/>
              </a:lnSpc>
              <a:tabLst>
                <a:tab algn="l" pos="0"/>
              </a:tabLst>
            </a:pPr>
            <a:r>
              <a:rPr lang="pl-PL" sz="1000" b="0" u="none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TSMC CoWoS: HBM3E (memory bandwidth 1TB/s) + SoC. Dla mobilnych AI workloadów. Podobnie jak Apple M-series → przeniesione do phone SoC ~2027.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ole tekstowe 4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5DB19CC9-4483-42F6-889E-A72773A21C4D}" type="slidenum"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&lt;numer&gt;</a:t>
            </a:fld>
            <a:r>
              <a:rPr lang="pl-PL" sz="900" b="0" u="none" strike="noStrike">
                <a:solidFill>
                  <a:srgbClr val="e7e6e6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0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Pytania 1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Shape 19"/>
          <p:cNvSpPr/>
          <p:nvPr/>
        </p:nvSpPr>
        <p:spPr>
          <a:xfrm>
            <a:off x="214200" y="75780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Shape 20"/>
          <p:cNvSpPr/>
          <p:nvPr/>
        </p:nvSpPr>
        <p:spPr>
          <a:xfrm>
            <a:off x="214200" y="75780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Text 21"/>
          <p:cNvSpPr/>
          <p:nvPr/>
        </p:nvSpPr>
        <p:spPr>
          <a:xfrm>
            <a:off x="300960" y="78480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problemy architektoniczne są szczególnie istotne przy projektowaniu aplikacji mobilnych w porównaniu z aplikacjami desktopowymi?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Text 22"/>
          <p:cNvSpPr/>
          <p:nvPr/>
        </p:nvSpPr>
        <p:spPr>
          <a:xfrm>
            <a:off x="367920" y="111960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brak wielozadaniowości systemu operacyjnego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brak systemów plików w urządzeniach mobilnych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niestabilność połączenia sieciowego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ograniczona dostępność energii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pole tekstowe 4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54494A62-1C50-40F3-ADB0-7F48615A5755}" type="slidenum"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&lt;numer&gt;</a:t>
            </a:fld>
            <a:r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Shape 19"/>
          <p:cNvSpPr/>
          <p:nvPr/>
        </p:nvSpPr>
        <p:spPr>
          <a:xfrm>
            <a:off x="214200" y="180504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Shape 20"/>
          <p:cNvSpPr/>
          <p:nvPr/>
        </p:nvSpPr>
        <p:spPr>
          <a:xfrm>
            <a:off x="214200" y="180504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d7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1" name="Text 21"/>
          <p:cNvSpPr/>
          <p:nvPr/>
        </p:nvSpPr>
        <p:spPr>
          <a:xfrm>
            <a:off x="300960" y="182556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czynniki mają największy wpływ na fragmentację platformy Android z punktu widzenia projektowania aplikacji?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Text 22"/>
          <p:cNvSpPr/>
          <p:nvPr/>
        </p:nvSpPr>
        <p:spPr>
          <a:xfrm>
            <a:off x="367920" y="216684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otwartość kodu źródłowego systemu Android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obecność wielu języków programowania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różnorodność konfiguracji sprzętowych urządzeń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różnorodność producentów sprzętu i konfiguracji hardware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Shape 19"/>
          <p:cNvSpPr/>
          <p:nvPr/>
        </p:nvSpPr>
        <p:spPr>
          <a:xfrm>
            <a:off x="214200" y="280980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Shape 20"/>
          <p:cNvSpPr/>
          <p:nvPr/>
        </p:nvSpPr>
        <p:spPr>
          <a:xfrm>
            <a:off x="214200" y="280980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8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5" name="Text 21"/>
          <p:cNvSpPr/>
          <p:nvPr/>
        </p:nvSpPr>
        <p:spPr>
          <a:xfrm>
            <a:off x="300960" y="285048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elementy architektury aplikacji mobilnej zmniejszają sprzężenie między warstwą UI, a logiką biznesową?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Text 22"/>
          <p:cNvSpPr/>
          <p:nvPr/>
        </p:nvSpPr>
        <p:spPr>
          <a:xfrm>
            <a:off x="367920" y="317160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bezpośrednie wywoływanie zapytań do bazy danych z Activity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umieszczanie logiki biznesowej w klasach widoku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zastosowanie architektury MVVM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wykorzystanie warstwy repozytorium (repository pattern)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Shape 19"/>
          <p:cNvSpPr/>
          <p:nvPr/>
        </p:nvSpPr>
        <p:spPr>
          <a:xfrm>
            <a:off x="214200" y="384156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Shape 20"/>
          <p:cNvSpPr/>
          <p:nvPr/>
        </p:nvSpPr>
        <p:spPr>
          <a:xfrm>
            <a:off x="214200" y="384156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9" name="Text 21"/>
          <p:cNvSpPr/>
          <p:nvPr/>
        </p:nvSpPr>
        <p:spPr>
          <a:xfrm>
            <a:off x="300960" y="388224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mechanizmy systemu Android umożliwiają komunikację między komponentami aplikacji lub między aplikacjami?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Text 22"/>
          <p:cNvSpPr/>
          <p:nvPr/>
        </p:nvSpPr>
        <p:spPr>
          <a:xfrm>
            <a:off x="367920" y="420336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ViewModel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Fragment transactions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Binder IPC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Intents</a:t>
            </a: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Shape 19"/>
          <p:cNvSpPr/>
          <p:nvPr/>
        </p:nvSpPr>
        <p:spPr>
          <a:xfrm>
            <a:off x="3159360" y="75600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Shape 20"/>
          <p:cNvSpPr/>
          <p:nvPr/>
        </p:nvSpPr>
        <p:spPr>
          <a:xfrm>
            <a:off x="3162960" y="75600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 21"/>
          <p:cNvSpPr/>
          <p:nvPr/>
        </p:nvSpPr>
        <p:spPr>
          <a:xfrm>
            <a:off x="3250080" y="78336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czynniki mają największy wpływ </a:t>
            </a:r>
            <a:br>
              <a:rPr sz="850"/>
            </a:b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na zużycie energii przez aplikację mobilną?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 22"/>
          <p:cNvSpPr/>
          <p:nvPr/>
        </p:nvSpPr>
        <p:spPr>
          <a:xfrm>
            <a:off x="3316680" y="111780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liczba bibliotek Gradle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liczba klas w projekcie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intensywne użycie GPU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częste operacje sieciowe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Shape 19"/>
          <p:cNvSpPr/>
          <p:nvPr/>
        </p:nvSpPr>
        <p:spPr>
          <a:xfrm>
            <a:off x="3162960" y="180360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Shape 20"/>
          <p:cNvSpPr/>
          <p:nvPr/>
        </p:nvSpPr>
        <p:spPr>
          <a:xfrm>
            <a:off x="3162960" y="180360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 21"/>
          <p:cNvSpPr/>
          <p:nvPr/>
        </p:nvSpPr>
        <p:spPr>
          <a:xfrm>
            <a:off x="3250080" y="182412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cechy architektury offline-first są kluczowe </a:t>
            </a:r>
            <a:br>
              <a:rPr sz="850"/>
            </a:b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dla aplikacji mobilnych?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Text 22"/>
          <p:cNvSpPr/>
          <p:nvPr/>
        </p:nvSpPr>
        <p:spPr>
          <a:xfrm>
            <a:off x="3316680" y="216504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blokowanie UI w przypadku braku połączenia z siecią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przechowywanie danych wyłącznie w pamięci RAM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mechanizmy synchronizacji konfliktów danych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lokalna baza danych synchronizowana z serwerem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Shape 19"/>
          <p:cNvSpPr/>
          <p:nvPr/>
        </p:nvSpPr>
        <p:spPr>
          <a:xfrm>
            <a:off x="3162960" y="280836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Shape 20"/>
          <p:cNvSpPr/>
          <p:nvPr/>
        </p:nvSpPr>
        <p:spPr>
          <a:xfrm>
            <a:off x="3162960" y="280836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d9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 21"/>
          <p:cNvSpPr/>
          <p:nvPr/>
        </p:nvSpPr>
        <p:spPr>
          <a:xfrm>
            <a:off x="3250080" y="284868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czynniki wpływają na decyzję o wyborze </a:t>
            </a:r>
            <a:br>
              <a:rPr sz="850"/>
            </a:b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native development zamiast cross-platform?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Text 22"/>
          <p:cNvSpPr/>
          <p:nvPr/>
        </p:nvSpPr>
        <p:spPr>
          <a:xfrm>
            <a:off x="3316680" y="316980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brak interfejsu użytkownika w aplikacji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brak potrzeby publikacji w sklepach aplikacji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maksymalizacja wydajności aplikacji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potrzeba dostępu do zaawansowanych API sprzętowych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Shape 19"/>
          <p:cNvSpPr/>
          <p:nvPr/>
        </p:nvSpPr>
        <p:spPr>
          <a:xfrm>
            <a:off x="3162960" y="383976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Shape 20"/>
          <p:cNvSpPr/>
          <p:nvPr/>
        </p:nvSpPr>
        <p:spPr>
          <a:xfrm>
            <a:off x="3162960" y="383976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33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Text 21"/>
          <p:cNvSpPr/>
          <p:nvPr/>
        </p:nvSpPr>
        <p:spPr>
          <a:xfrm>
            <a:off x="3250080" y="386712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elementy procesu CI/CD są szczególnie istotne</a:t>
            </a:r>
            <a:br>
              <a:rPr sz="850"/>
            </a:b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 dla projektów mobilnych?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Text 22"/>
          <p:cNvSpPr/>
          <p:nvPr/>
        </p:nvSpPr>
        <p:spPr>
          <a:xfrm>
            <a:off x="3316680" y="420156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ograniczona pamięć ROM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brak wielowątkowości w systemie operacyjnym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operacje sieciowe o wysokiej latencji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automatyczne budowanie aplikacji dla wielu architektur CPU</a:t>
            </a: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 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Shape 19"/>
          <p:cNvSpPr/>
          <p:nvPr/>
        </p:nvSpPr>
        <p:spPr>
          <a:xfrm>
            <a:off x="6118920" y="76896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Shape 20"/>
          <p:cNvSpPr/>
          <p:nvPr/>
        </p:nvSpPr>
        <p:spPr>
          <a:xfrm>
            <a:off x="6118920" y="76896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5e0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Text 21"/>
          <p:cNvSpPr/>
          <p:nvPr/>
        </p:nvSpPr>
        <p:spPr>
          <a:xfrm>
            <a:off x="6206040" y="79596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Georgia Pro Cond"/>
                <a:ea typeface="Calibri"/>
              </a:rPr>
              <a:t>Które elementy są typowymi komponentami architektury aplikacji mobilnej opartej na Clean Architecture?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Text 22"/>
          <p:cNvSpPr/>
          <p:nvPr/>
        </p:nvSpPr>
        <p:spPr>
          <a:xfrm>
            <a:off x="6272640" y="113076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warstwa kernel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pl-PL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warstwa HAL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warstwa data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warstwa domain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Shape 19"/>
          <p:cNvSpPr/>
          <p:nvPr/>
        </p:nvSpPr>
        <p:spPr>
          <a:xfrm>
            <a:off x="6118920" y="181656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Shape 20"/>
          <p:cNvSpPr/>
          <p:nvPr/>
        </p:nvSpPr>
        <p:spPr>
          <a:xfrm>
            <a:off x="6118920" y="181656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c7c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3" name="Text 21"/>
          <p:cNvSpPr/>
          <p:nvPr/>
        </p:nvSpPr>
        <p:spPr>
          <a:xfrm>
            <a:off x="6206040" y="183708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cechy architektury aplikacji mobilnych poprawiają skalowalność i testowalność kodu?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Text 22"/>
          <p:cNvSpPr/>
          <p:nvPr/>
        </p:nvSpPr>
        <p:spPr>
          <a:xfrm>
            <a:off x="6272640" y="217800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globalne zmienne stanu aplikacji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bezpośredni dostęp UI do bazy danych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dependency injection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separacja warstw (domain / data / presentation)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Shape 19"/>
          <p:cNvSpPr/>
          <p:nvPr/>
        </p:nvSpPr>
        <p:spPr>
          <a:xfrm>
            <a:off x="6118920" y="282132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Shape 20"/>
          <p:cNvSpPr/>
          <p:nvPr/>
        </p:nvSpPr>
        <p:spPr>
          <a:xfrm>
            <a:off x="6118920" y="282132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Text 21"/>
          <p:cNvSpPr/>
          <p:nvPr/>
        </p:nvSpPr>
        <p:spPr>
          <a:xfrm>
            <a:off x="6206040" y="286164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mechanizmy systemowe ograniczają aktywność aplikacji w tle w Androidzie?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Text 22"/>
          <p:cNvSpPr/>
          <p:nvPr/>
        </p:nvSpPr>
        <p:spPr>
          <a:xfrm>
            <a:off x="6272640" y="318276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Garbage collector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Fragment lifecycle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Doze mode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App Standby buckets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Shape 19"/>
          <p:cNvSpPr/>
          <p:nvPr/>
        </p:nvSpPr>
        <p:spPr>
          <a:xfrm>
            <a:off x="6118920" y="3852720"/>
            <a:ext cx="288000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cbd5e5"/>
            </a:solidFill>
            <a:round/>
          </a:ln>
          <a:effectLst>
            <a:outerShdw dist="25455" dir="810000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Shape 20"/>
          <p:cNvSpPr/>
          <p:nvPr/>
        </p:nvSpPr>
        <p:spPr>
          <a:xfrm>
            <a:off x="6118920" y="3852720"/>
            <a:ext cx="36720" cy="97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Text 21"/>
          <p:cNvSpPr/>
          <p:nvPr/>
        </p:nvSpPr>
        <p:spPr>
          <a:xfrm>
            <a:off x="6206040" y="3880080"/>
            <a:ext cx="2772000" cy="360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901"/>
              </a:lnSpc>
              <a:tabLst>
                <a:tab algn="l" pos="0"/>
              </a:tabLst>
            </a:pPr>
            <a:r>
              <a:rPr lang="pl-PL" sz="850" b="1" u="none" strike="noStrike">
                <a:solidFill>
                  <a:srgbClr val="182030"/>
                </a:solidFill>
                <a:effectLst/>
                <a:uFillTx/>
                <a:latin typeface="Arial Nova"/>
                <a:ea typeface="Calibri"/>
              </a:rPr>
              <a:t>Które mechanizmy pozwalają aplikacjom Android korzystać z kodów natywnych (C/C++)?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Text 22"/>
          <p:cNvSpPr/>
          <p:nvPr/>
        </p:nvSpPr>
        <p:spPr>
          <a:xfrm>
            <a:off x="6272640" y="4214520"/>
            <a:ext cx="2596320" cy="612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Binder IPC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3b5168"/>
                </a:solidFill>
                <a:effectLst/>
                <a:uFillTx/>
                <a:latin typeface="Calibri"/>
                <a:ea typeface="Calibri"/>
              </a:rPr>
              <a:t>ART bytecode verifier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Android NDK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  <a:tabLst>
                <a:tab algn="l" pos="-228600"/>
              </a:tabLst>
            </a:pPr>
            <a:r>
              <a:rPr lang="en-US" sz="8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JNI (Java Native Interface)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Pytania 2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7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58" name="Grupa 47"/>
          <p:cNvGrpSpPr/>
          <p:nvPr/>
        </p:nvGrpSpPr>
        <p:grpSpPr>
          <a:xfrm>
            <a:off x="214200" y="757800"/>
            <a:ext cx="2880000" cy="973800"/>
            <a:chOff x="214200" y="757800"/>
            <a:chExt cx="2880000" cy="973800"/>
          </a:xfrm>
        </p:grpSpPr>
        <p:sp>
          <p:nvSpPr>
            <p:cNvPr id="1559" name="Shape 19"/>
            <p:cNvSpPr/>
            <p:nvPr/>
          </p:nvSpPr>
          <p:spPr>
            <a:xfrm>
              <a:off x="214200" y="7578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Shape 20"/>
            <p:cNvSpPr/>
            <p:nvPr/>
          </p:nvSpPr>
          <p:spPr>
            <a:xfrm>
              <a:off x="214200" y="7578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Text 21"/>
            <p:cNvSpPr/>
            <p:nvPr/>
          </p:nvSpPr>
          <p:spPr>
            <a:xfrm>
              <a:off x="300960" y="78480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komponenty są zazwyczaj zintegrowane </a:t>
              </a:r>
              <a:br>
                <a:rPr sz="850"/>
              </a:b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w nowoczesnym System on Chip (SoC)?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Text 22"/>
            <p:cNvSpPr/>
            <p:nvPr/>
          </p:nvSpPr>
          <p:spPr>
            <a:xfrm>
              <a:off x="324360" y="11196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zasilacz impulsowyCPU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ekran dotykowy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GPU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3" name="pole tekstowe 4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C350A5C8-A536-4C7C-BB1E-2DCCC29CC22F}" type="slidenum"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&lt;numer&gt;</a:t>
            </a:fld>
            <a:r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4" name="Grupa 47"/>
          <p:cNvGrpSpPr/>
          <p:nvPr/>
        </p:nvGrpSpPr>
        <p:grpSpPr>
          <a:xfrm>
            <a:off x="214200" y="1805040"/>
            <a:ext cx="2880000" cy="973800"/>
            <a:chOff x="214200" y="1805040"/>
            <a:chExt cx="2880000" cy="973800"/>
          </a:xfrm>
        </p:grpSpPr>
        <p:sp>
          <p:nvSpPr>
            <p:cNvPr id="1565" name="Shape 19"/>
            <p:cNvSpPr/>
            <p:nvPr/>
          </p:nvSpPr>
          <p:spPr>
            <a:xfrm>
              <a:off x="214200" y="180504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Shape 20"/>
            <p:cNvSpPr/>
            <p:nvPr/>
          </p:nvSpPr>
          <p:spPr>
            <a:xfrm>
              <a:off x="214200" y="180504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d7d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Text 21"/>
            <p:cNvSpPr/>
            <p:nvPr/>
          </p:nvSpPr>
          <p:spPr>
            <a:xfrm>
              <a:off x="300960" y="18255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cechy architektury ARM big.LITTLE poprawiają efektywność energetyczną systemu?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Text 22"/>
            <p:cNvSpPr/>
            <p:nvPr/>
          </p:nvSpPr>
          <p:spPr>
            <a:xfrm>
              <a:off x="324360" y="216684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pamięci cache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wykonywanie instrukcji wyłącznie sekwencyjnie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heterogeniczne klastry rdzeni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dynamiczne przenoszenie wątków między klastrami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9" name="Grupa 47"/>
          <p:cNvGrpSpPr/>
          <p:nvPr/>
        </p:nvGrpSpPr>
        <p:grpSpPr>
          <a:xfrm>
            <a:off x="214200" y="2809800"/>
            <a:ext cx="2880000" cy="973800"/>
            <a:chOff x="214200" y="2809800"/>
            <a:chExt cx="2880000" cy="973800"/>
          </a:xfrm>
        </p:grpSpPr>
        <p:sp>
          <p:nvSpPr>
            <p:cNvPr id="1570" name="Shape 19"/>
            <p:cNvSpPr/>
            <p:nvPr/>
          </p:nvSpPr>
          <p:spPr>
            <a:xfrm>
              <a:off x="214200" y="28098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1" name="Shape 20"/>
            <p:cNvSpPr/>
            <p:nvPr/>
          </p:nvSpPr>
          <p:spPr>
            <a:xfrm>
              <a:off x="214200" y="28098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482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2" name="Text 21"/>
            <p:cNvSpPr/>
            <p:nvPr/>
          </p:nvSpPr>
          <p:spPr>
            <a:xfrm>
              <a:off x="300960" y="28504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komponenty SoC są najczęściej wykorzystywane do przyspieszania obliczeń AI?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Text 22"/>
            <p:cNvSpPr/>
            <p:nvPr/>
          </p:nvSpPr>
          <p:spPr>
            <a:xfrm>
              <a:off x="324360" y="31716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modem 5G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kontroler pamięci DRAM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GPU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4" name="Grupa 47"/>
          <p:cNvGrpSpPr/>
          <p:nvPr/>
        </p:nvGrpSpPr>
        <p:grpSpPr>
          <a:xfrm>
            <a:off x="214200" y="3841560"/>
            <a:ext cx="2880000" cy="973800"/>
            <a:chOff x="214200" y="3841560"/>
            <a:chExt cx="2880000" cy="973800"/>
          </a:xfrm>
        </p:grpSpPr>
        <p:sp>
          <p:nvSpPr>
            <p:cNvPr id="1575" name="Shape 19"/>
            <p:cNvSpPr/>
            <p:nvPr/>
          </p:nvSpPr>
          <p:spPr>
            <a:xfrm>
              <a:off x="214200" y="38415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6" name="Shape 20"/>
            <p:cNvSpPr/>
            <p:nvPr/>
          </p:nvSpPr>
          <p:spPr>
            <a:xfrm>
              <a:off x="214200" y="38415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03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7" name="Text 21"/>
            <p:cNvSpPr/>
            <p:nvPr/>
          </p:nvSpPr>
          <p:spPr>
            <a:xfrm>
              <a:off x="300960" y="38689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cechy pamięci LPDDR są kluczowe dla urządzeń mobilnych?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8" name="Text 22"/>
            <p:cNvSpPr/>
            <p:nvPr/>
          </p:nvSpPr>
          <p:spPr>
            <a:xfrm>
              <a:off x="324360" y="42033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potrzeby kontrolera pamięci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mechaniczna odporność na wstrząsy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wysoka przepustowość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niskie zużycie energii</a:t>
              </a: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 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9" name="Grupa 47"/>
          <p:cNvGrpSpPr/>
          <p:nvPr/>
        </p:nvGrpSpPr>
        <p:grpSpPr>
          <a:xfrm>
            <a:off x="3159360" y="756000"/>
            <a:ext cx="2880000" cy="973800"/>
            <a:chOff x="3159360" y="756000"/>
            <a:chExt cx="2880000" cy="973800"/>
          </a:xfrm>
        </p:grpSpPr>
        <p:sp>
          <p:nvSpPr>
            <p:cNvPr id="1580" name="Shape 19"/>
            <p:cNvSpPr/>
            <p:nvPr/>
          </p:nvSpPr>
          <p:spPr>
            <a:xfrm>
              <a:off x="3159360" y="7560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1" name="Shape 20"/>
            <p:cNvSpPr/>
            <p:nvPr/>
          </p:nvSpPr>
          <p:spPr>
            <a:xfrm>
              <a:off x="3162960" y="7560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4b18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2" name="Text 21"/>
            <p:cNvSpPr/>
            <p:nvPr/>
          </p:nvSpPr>
          <p:spPr>
            <a:xfrm>
              <a:off x="3250080" y="7833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są częścią łańcucha zaufania (chain of trust) podczas uruchamiania urządzenia mobilnego?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3" name="Text 22"/>
            <p:cNvSpPr/>
            <p:nvPr/>
          </p:nvSpPr>
          <p:spPr>
            <a:xfrm>
              <a:off x="3273120" y="11178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aplikacje użytkownika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GPU driver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Bootloader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Boot ROM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4" name="Grupa 47"/>
          <p:cNvGrpSpPr/>
          <p:nvPr/>
        </p:nvGrpSpPr>
        <p:grpSpPr>
          <a:xfrm>
            <a:off x="3162960" y="1803600"/>
            <a:ext cx="2880000" cy="973440"/>
            <a:chOff x="3162960" y="1803600"/>
            <a:chExt cx="2880000" cy="973440"/>
          </a:xfrm>
        </p:grpSpPr>
        <p:sp>
          <p:nvSpPr>
            <p:cNvPr id="1585" name="Shape 19"/>
            <p:cNvSpPr/>
            <p:nvPr/>
          </p:nvSpPr>
          <p:spPr>
            <a:xfrm>
              <a:off x="3162960" y="18036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6" name="Shape 20"/>
            <p:cNvSpPr/>
            <p:nvPr/>
          </p:nvSpPr>
          <p:spPr>
            <a:xfrm>
              <a:off x="3162960" y="18036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e75b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7" name="Text 21"/>
            <p:cNvSpPr/>
            <p:nvPr/>
          </p:nvSpPr>
          <p:spPr>
            <a:xfrm>
              <a:off x="3250080" y="18241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technologie są wykorzystywane do izolacji </a:t>
              </a:r>
              <a:br>
                <a:rPr sz="850"/>
              </a:b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i ochrony danych kryptograficznych w smartfonach?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8" name="Text 22"/>
            <p:cNvSpPr/>
            <p:nvPr/>
          </p:nvSpPr>
          <p:spPr>
            <a:xfrm>
              <a:off x="3273120" y="216504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Binder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HAL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Secure Enclave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ARM TrustZone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9" name="Grupa 47"/>
          <p:cNvGrpSpPr/>
          <p:nvPr/>
        </p:nvGrpSpPr>
        <p:grpSpPr>
          <a:xfrm>
            <a:off x="3162960" y="2808360"/>
            <a:ext cx="2880000" cy="973440"/>
            <a:chOff x="3162960" y="2808360"/>
            <a:chExt cx="2880000" cy="973440"/>
          </a:xfrm>
        </p:grpSpPr>
        <p:sp>
          <p:nvSpPr>
            <p:cNvPr id="1590" name="Shape 19"/>
            <p:cNvSpPr/>
            <p:nvPr/>
          </p:nvSpPr>
          <p:spPr>
            <a:xfrm>
              <a:off x="3162960" y="28083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1" name="Shape 20"/>
            <p:cNvSpPr/>
            <p:nvPr/>
          </p:nvSpPr>
          <p:spPr>
            <a:xfrm>
              <a:off x="3162960" y="28083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2" name="Text 21"/>
            <p:cNvSpPr/>
            <p:nvPr/>
          </p:nvSpPr>
          <p:spPr>
            <a:xfrm>
              <a:off x="3250080" y="28486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architektury Android odpowiadają za komunikację między procesami?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Text 22"/>
            <p:cNvSpPr/>
            <p:nvPr/>
          </p:nvSpPr>
          <p:spPr>
            <a:xfrm>
              <a:off x="3273120" y="31698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GPU driver 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HAL scheduler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Binder IPC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system services 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4" name="Grupa 47"/>
          <p:cNvGrpSpPr/>
          <p:nvPr/>
        </p:nvGrpSpPr>
        <p:grpSpPr>
          <a:xfrm>
            <a:off x="3162960" y="3839760"/>
            <a:ext cx="2880000" cy="973800"/>
            <a:chOff x="3162960" y="3839760"/>
            <a:chExt cx="2880000" cy="973800"/>
          </a:xfrm>
        </p:grpSpPr>
        <p:sp>
          <p:nvSpPr>
            <p:cNvPr id="1595" name="Shape 19"/>
            <p:cNvSpPr/>
            <p:nvPr/>
          </p:nvSpPr>
          <p:spPr>
            <a:xfrm>
              <a:off x="3162960" y="38397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6" name="Shape 20"/>
            <p:cNvSpPr/>
            <p:nvPr/>
          </p:nvSpPr>
          <p:spPr>
            <a:xfrm>
              <a:off x="3162960" y="38397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33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7" name="Text 21"/>
            <p:cNvSpPr/>
            <p:nvPr/>
          </p:nvSpPr>
          <p:spPr>
            <a:xfrm>
              <a:off x="3250080" y="38671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zadania są typowo wykonywane przez GPU </a:t>
              </a:r>
              <a:br>
                <a:rPr sz="850"/>
              </a:b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w systemach mobilnych?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8" name="Text 22"/>
            <p:cNvSpPr/>
            <p:nvPr/>
          </p:nvSpPr>
          <p:spPr>
            <a:xfrm>
              <a:off x="3273120" y="42015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zarządzanie procesami systemu operacyjnego 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obsługa stosu TCP/IP 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przetwarzanie równoległych obliczeń numerycznych 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renderowanie grafiki 3D </a:t>
              </a: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 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9" name="Grupa 47"/>
          <p:cNvGrpSpPr/>
          <p:nvPr/>
        </p:nvGrpSpPr>
        <p:grpSpPr>
          <a:xfrm>
            <a:off x="6118920" y="768960"/>
            <a:ext cx="2880000" cy="973800"/>
            <a:chOff x="6118920" y="768960"/>
            <a:chExt cx="2880000" cy="973800"/>
          </a:xfrm>
        </p:grpSpPr>
        <p:sp>
          <p:nvSpPr>
            <p:cNvPr id="1600" name="Shape 19"/>
            <p:cNvSpPr/>
            <p:nvPr/>
          </p:nvSpPr>
          <p:spPr>
            <a:xfrm>
              <a:off x="6118920" y="7689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1" name="Shape 20"/>
            <p:cNvSpPr/>
            <p:nvPr/>
          </p:nvSpPr>
          <p:spPr>
            <a:xfrm>
              <a:off x="6118920" y="7689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5e0b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2" name="Text 21"/>
            <p:cNvSpPr/>
            <p:nvPr/>
          </p:nvSpPr>
          <p:spPr>
            <a:xfrm>
              <a:off x="6206040" y="7959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systemu Android są częścią </a:t>
              </a:r>
              <a:br>
                <a:rPr sz="850"/>
              </a:b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warstwy Application Framework?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3" name="Text 22"/>
            <p:cNvSpPr/>
            <p:nvPr/>
          </p:nvSpPr>
          <p:spPr>
            <a:xfrm>
              <a:off x="6229080" y="11307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Linux kernel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bootloader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Activity Manager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Window Manager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4" name="Grupa 47"/>
          <p:cNvGrpSpPr/>
          <p:nvPr/>
        </p:nvGrpSpPr>
        <p:grpSpPr>
          <a:xfrm>
            <a:off x="6118920" y="1816560"/>
            <a:ext cx="2880000" cy="973440"/>
            <a:chOff x="6118920" y="1816560"/>
            <a:chExt cx="2880000" cy="973440"/>
          </a:xfrm>
        </p:grpSpPr>
        <p:sp>
          <p:nvSpPr>
            <p:cNvPr id="1605" name="Shape 19"/>
            <p:cNvSpPr/>
            <p:nvPr/>
          </p:nvSpPr>
          <p:spPr>
            <a:xfrm>
              <a:off x="6118920" y="18165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6" name="Shape 20"/>
            <p:cNvSpPr/>
            <p:nvPr/>
          </p:nvSpPr>
          <p:spPr>
            <a:xfrm>
              <a:off x="6118920" y="18165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c7c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7" name="Text 21"/>
            <p:cNvSpPr/>
            <p:nvPr/>
          </p:nvSpPr>
          <p:spPr>
            <a:xfrm>
              <a:off x="6206040" y="185040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trendy technologiczne w architekturze urządzeń mobilnych wpływają bezpośrednio na projektowanie aplikacji?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8" name="Text 22"/>
            <p:cNvSpPr/>
            <p:nvPr/>
          </p:nvSpPr>
          <p:spPr>
            <a:xfrm>
              <a:off x="6229080" y="21780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zmniejszenie liczby sensorów w urządzeniach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zwiększenie liczby portów USB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wzrost wydajności GPU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integracja akceleratorów AI w SoC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9" name="Grupa 47"/>
          <p:cNvGrpSpPr/>
          <p:nvPr/>
        </p:nvGrpSpPr>
        <p:grpSpPr>
          <a:xfrm>
            <a:off x="6118920" y="2821320"/>
            <a:ext cx="2880000" cy="973440"/>
            <a:chOff x="6118920" y="2821320"/>
            <a:chExt cx="2880000" cy="973440"/>
          </a:xfrm>
        </p:grpSpPr>
        <p:sp>
          <p:nvSpPr>
            <p:cNvPr id="1610" name="Shape 19"/>
            <p:cNvSpPr/>
            <p:nvPr/>
          </p:nvSpPr>
          <p:spPr>
            <a:xfrm>
              <a:off x="6118920" y="282132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1" name="Shape 20"/>
            <p:cNvSpPr/>
            <p:nvPr/>
          </p:nvSpPr>
          <p:spPr>
            <a:xfrm>
              <a:off x="6118920" y="282132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92d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2" name="Text 21"/>
            <p:cNvSpPr/>
            <p:nvPr/>
          </p:nvSpPr>
          <p:spPr>
            <a:xfrm>
              <a:off x="6206040" y="286164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trendy w architekturze mobilnej mają największy wpływ na przyszłe aplikacje mobilne?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3" name="Text 22"/>
            <p:cNvSpPr/>
            <p:nvPr/>
          </p:nvSpPr>
          <p:spPr>
            <a:xfrm>
              <a:off x="6229080" y="31827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zwiększenie liczby przycisków fizycznych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zmniejszenie pojemności baterii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akceleratory AI w SoC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rosnąca liczba rdzeni GPU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4" name="Grupa 47"/>
          <p:cNvGrpSpPr/>
          <p:nvPr/>
        </p:nvGrpSpPr>
        <p:grpSpPr>
          <a:xfrm>
            <a:off x="6118920" y="3852720"/>
            <a:ext cx="2880000" cy="973800"/>
            <a:chOff x="6118920" y="3852720"/>
            <a:chExt cx="2880000" cy="973800"/>
          </a:xfrm>
        </p:grpSpPr>
        <p:sp>
          <p:nvSpPr>
            <p:cNvPr id="1615" name="Shape 19"/>
            <p:cNvSpPr/>
            <p:nvPr/>
          </p:nvSpPr>
          <p:spPr>
            <a:xfrm>
              <a:off x="6118920" y="385272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6" name="Shape 20"/>
            <p:cNvSpPr/>
            <p:nvPr/>
          </p:nvSpPr>
          <p:spPr>
            <a:xfrm>
              <a:off x="6118920" y="385272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7" name="Text 21"/>
            <p:cNvSpPr/>
            <p:nvPr/>
          </p:nvSpPr>
          <p:spPr>
            <a:xfrm>
              <a:off x="6206040" y="38800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właściwości architektury GPU umożliwiają wysoką wydajność w przetwarzaniu grafiki?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8" name="Text 22"/>
            <p:cNvSpPr/>
            <p:nvPr/>
          </p:nvSpPr>
          <p:spPr>
            <a:xfrm>
              <a:off x="6229080" y="421452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sekwencyjne wykonywanie instrukcji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pamięci cache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masowa równoległość wątków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wysoka przepustowość pamięci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Pytania 3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3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24" name="Grupa 47"/>
          <p:cNvGrpSpPr/>
          <p:nvPr/>
        </p:nvGrpSpPr>
        <p:grpSpPr>
          <a:xfrm>
            <a:off x="214200" y="757800"/>
            <a:ext cx="2880000" cy="973800"/>
            <a:chOff x="214200" y="757800"/>
            <a:chExt cx="2880000" cy="973800"/>
          </a:xfrm>
        </p:grpSpPr>
        <p:sp>
          <p:nvSpPr>
            <p:cNvPr id="1625" name="Shape 19"/>
            <p:cNvSpPr/>
            <p:nvPr/>
          </p:nvSpPr>
          <p:spPr>
            <a:xfrm>
              <a:off x="214200" y="7578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6" name="Shape 20"/>
            <p:cNvSpPr/>
            <p:nvPr/>
          </p:nvSpPr>
          <p:spPr>
            <a:xfrm>
              <a:off x="214200" y="7578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7" name="Text 21"/>
            <p:cNvSpPr/>
            <p:nvPr/>
          </p:nvSpPr>
          <p:spPr>
            <a:xfrm>
              <a:off x="300960" y="78480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czynniki najbardziej wpływają na postrzeganą responsywność interfejsu mobilnego?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8" name="Text 22"/>
            <p:cNvSpPr/>
            <p:nvPr/>
          </p:nvSpPr>
          <p:spPr>
            <a:xfrm>
              <a:off x="324360" y="11196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a) liczba ekranów w aplikacji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b) 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rozdzielczość ekranu urządzenia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c) 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zastosowanie skeleton screens lub progressive loading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d)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czas odpowiedzi poniżej 100 ms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9" name="pole tekstowe 4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BDCE98EE-614D-4DAE-B8F7-49DACCDA3F4C}" type="slidenum"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&lt;numer&gt;</a:t>
            </a:fld>
            <a:r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30" name="Grupa 47"/>
          <p:cNvGrpSpPr/>
          <p:nvPr/>
        </p:nvGrpSpPr>
        <p:grpSpPr>
          <a:xfrm>
            <a:off x="214200" y="1805040"/>
            <a:ext cx="2880000" cy="973800"/>
            <a:chOff x="214200" y="1805040"/>
            <a:chExt cx="2880000" cy="973800"/>
          </a:xfrm>
        </p:grpSpPr>
        <p:sp>
          <p:nvSpPr>
            <p:cNvPr id="1631" name="Shape 19"/>
            <p:cNvSpPr/>
            <p:nvPr/>
          </p:nvSpPr>
          <p:spPr>
            <a:xfrm>
              <a:off x="214200" y="180504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2" name="Shape 20"/>
            <p:cNvSpPr/>
            <p:nvPr/>
          </p:nvSpPr>
          <p:spPr>
            <a:xfrm>
              <a:off x="214200" y="180504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d7d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3" name="Text 21"/>
            <p:cNvSpPr/>
            <p:nvPr/>
          </p:nvSpPr>
          <p:spPr>
            <a:xfrm>
              <a:off x="300960" y="18255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zasady wynikające z prawa Fittsa (Fitts' Law) mają bezpośrednie zastosowanie w projektowaniu UI mobilnego?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4" name="Text 22"/>
            <p:cNvSpPr/>
            <p:nvPr/>
          </p:nvSpPr>
          <p:spPr>
            <a:xfrm>
              <a:off x="324360" y="216684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a) 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minimalizowanie liczby kolorów w interfejsie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b)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ograniczenie liczby wątków w aplikacji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umieszczanie ważnych elementów blisko naturalnego zasięgu kciuka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d)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powiększanie interaktywnych elementów UI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5" name="Grupa 47"/>
          <p:cNvGrpSpPr/>
          <p:nvPr/>
        </p:nvGrpSpPr>
        <p:grpSpPr>
          <a:xfrm>
            <a:off x="214200" y="2809800"/>
            <a:ext cx="2880000" cy="988560"/>
            <a:chOff x="214200" y="2809800"/>
            <a:chExt cx="2880000" cy="988560"/>
          </a:xfrm>
        </p:grpSpPr>
        <p:sp>
          <p:nvSpPr>
            <p:cNvPr id="1636" name="Shape 19"/>
            <p:cNvSpPr/>
            <p:nvPr/>
          </p:nvSpPr>
          <p:spPr>
            <a:xfrm>
              <a:off x="214200" y="28098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7" name="Shape 20"/>
            <p:cNvSpPr/>
            <p:nvPr/>
          </p:nvSpPr>
          <p:spPr>
            <a:xfrm>
              <a:off x="214200" y="28098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482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8" name="Text 21"/>
            <p:cNvSpPr/>
            <p:nvPr/>
          </p:nvSpPr>
          <p:spPr>
            <a:xfrm>
              <a:off x="300960" y="28504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architektury informacji aplikacji mobilnej zmniejszają obciążenie poznawcze użytkownika (cognitive load)?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9" name="Text 22"/>
            <p:cNvSpPr/>
            <p:nvPr/>
          </p:nvSpPr>
          <p:spPr>
            <a:xfrm>
              <a:off x="324360" y="31863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a) 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zwiększenie liczby opcji konfiguracyjnych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b) dynamiczna zmiana layoutu bez animacji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c) 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progresywne ujawnianie funkcji (progressive disclosure)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d) hierarchiczna struktura nawigacji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0" name="Grupa 47"/>
          <p:cNvGrpSpPr/>
          <p:nvPr/>
        </p:nvGrpSpPr>
        <p:grpSpPr>
          <a:xfrm>
            <a:off x="214200" y="3841560"/>
            <a:ext cx="2880000" cy="973800"/>
            <a:chOff x="214200" y="3841560"/>
            <a:chExt cx="2880000" cy="973800"/>
          </a:xfrm>
        </p:grpSpPr>
        <p:sp>
          <p:nvSpPr>
            <p:cNvPr id="1641" name="Shape 19"/>
            <p:cNvSpPr/>
            <p:nvPr/>
          </p:nvSpPr>
          <p:spPr>
            <a:xfrm>
              <a:off x="214200" y="38415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2" name="Shape 20"/>
            <p:cNvSpPr/>
            <p:nvPr/>
          </p:nvSpPr>
          <p:spPr>
            <a:xfrm>
              <a:off x="214200" y="38415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03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3" name="Text 21"/>
            <p:cNvSpPr/>
            <p:nvPr/>
          </p:nvSpPr>
          <p:spPr>
            <a:xfrm>
              <a:off x="300960" y="38689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wskaźniki są najczęściej używane do ilościowej oceny UX aplikacji mobilnych?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4" name="Text 22"/>
            <p:cNvSpPr/>
            <p:nvPr/>
          </p:nvSpPr>
          <p:spPr>
            <a:xfrm>
              <a:off x="324360" y="42033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a) 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dynamiczna zmiana layoutu bez animacji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b) 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zwiększenie liczby opcji konfiguracyjnych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c) liczba commitów w repozytorium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d)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liczba linii kodu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5" name="Grupa 47"/>
          <p:cNvGrpSpPr/>
          <p:nvPr/>
        </p:nvGrpSpPr>
        <p:grpSpPr>
          <a:xfrm>
            <a:off x="3159360" y="756000"/>
            <a:ext cx="2880000" cy="973800"/>
            <a:chOff x="3159360" y="756000"/>
            <a:chExt cx="2880000" cy="973800"/>
          </a:xfrm>
        </p:grpSpPr>
        <p:sp>
          <p:nvSpPr>
            <p:cNvPr id="1646" name="Shape 19"/>
            <p:cNvSpPr/>
            <p:nvPr/>
          </p:nvSpPr>
          <p:spPr>
            <a:xfrm>
              <a:off x="3159360" y="7560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7" name="Shape 20"/>
            <p:cNvSpPr/>
            <p:nvPr/>
          </p:nvSpPr>
          <p:spPr>
            <a:xfrm>
              <a:off x="3162960" y="7560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4b18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8" name="Text 21"/>
            <p:cNvSpPr/>
            <p:nvPr/>
          </p:nvSpPr>
          <p:spPr>
            <a:xfrm>
              <a:off x="3250080" y="7833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heurystyki Nielsena odnoszą się bezpośrednio do projektowania interfejsów mobilnych?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9" name="Text 22"/>
            <p:cNvSpPr/>
            <p:nvPr/>
          </p:nvSpPr>
          <p:spPr>
            <a:xfrm>
              <a:off x="3273120" y="11178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maksymalizacja liczby funkcji w interfejsie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minimalizacja liczby komponentów UI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visibility of system status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consistency and standards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50" name="Grupa 47"/>
          <p:cNvGrpSpPr/>
          <p:nvPr/>
        </p:nvGrpSpPr>
        <p:grpSpPr>
          <a:xfrm>
            <a:off x="3162960" y="1803600"/>
            <a:ext cx="2880000" cy="973440"/>
            <a:chOff x="3162960" y="1803600"/>
            <a:chExt cx="2880000" cy="973440"/>
          </a:xfrm>
        </p:grpSpPr>
        <p:sp>
          <p:nvSpPr>
            <p:cNvPr id="1651" name="Shape 19"/>
            <p:cNvSpPr/>
            <p:nvPr/>
          </p:nvSpPr>
          <p:spPr>
            <a:xfrm>
              <a:off x="3162960" y="18036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2" name="Shape 20"/>
            <p:cNvSpPr/>
            <p:nvPr/>
          </p:nvSpPr>
          <p:spPr>
            <a:xfrm>
              <a:off x="3162960" y="18036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e75b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3" name="Text 21"/>
            <p:cNvSpPr/>
            <p:nvPr/>
          </p:nvSpPr>
          <p:spPr>
            <a:xfrm>
              <a:off x="3250080" y="18241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strategie projektowania nawigacji mobilnej najlepiej skalują się dla dużych aplikacji?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4" name="Text 22"/>
            <p:cNvSpPr/>
            <p:nvPr/>
          </p:nvSpPr>
          <p:spPr>
            <a:xfrm>
              <a:off x="3273120" y="216504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pojedynczy ekran z wszystkimi funkcjami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struktury nawigacyjnej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hierarchiczna nawigacja typu drill-down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kombinacja bottom navigation + deep navigation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55" name="Grupa 47"/>
          <p:cNvGrpSpPr/>
          <p:nvPr/>
        </p:nvGrpSpPr>
        <p:grpSpPr>
          <a:xfrm>
            <a:off x="3162960" y="2808360"/>
            <a:ext cx="2880000" cy="973440"/>
            <a:chOff x="3162960" y="2808360"/>
            <a:chExt cx="2880000" cy="973440"/>
          </a:xfrm>
        </p:grpSpPr>
        <p:sp>
          <p:nvSpPr>
            <p:cNvPr id="1656" name="Shape 19"/>
            <p:cNvSpPr/>
            <p:nvPr/>
          </p:nvSpPr>
          <p:spPr>
            <a:xfrm>
              <a:off x="3162960" y="28083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7" name="Shape 20"/>
            <p:cNvSpPr/>
            <p:nvPr/>
          </p:nvSpPr>
          <p:spPr>
            <a:xfrm>
              <a:off x="3162960" y="28083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8" name="Text 21"/>
            <p:cNvSpPr/>
            <p:nvPr/>
          </p:nvSpPr>
          <p:spPr>
            <a:xfrm>
              <a:off x="3250080" y="28486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wpływają na ergonomię obsługi smartfona jedną ręką?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9" name="Text 22"/>
            <p:cNvSpPr/>
            <p:nvPr/>
          </p:nvSpPr>
          <p:spPr>
            <a:xfrm>
              <a:off x="3273120" y="31698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zwiększenie liczby gestów wielodotykowych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zmniejszenie kontrastu UI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umieszczanie elementów w strefie thumb zone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ograniczenie elementów w górnej części ekranu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0" name="Grupa 47"/>
          <p:cNvGrpSpPr/>
          <p:nvPr/>
        </p:nvGrpSpPr>
        <p:grpSpPr>
          <a:xfrm>
            <a:off x="3162960" y="3839760"/>
            <a:ext cx="2880000" cy="973800"/>
            <a:chOff x="3162960" y="3839760"/>
            <a:chExt cx="2880000" cy="973800"/>
          </a:xfrm>
        </p:grpSpPr>
        <p:sp>
          <p:nvSpPr>
            <p:cNvPr id="1661" name="Shape 19"/>
            <p:cNvSpPr/>
            <p:nvPr/>
          </p:nvSpPr>
          <p:spPr>
            <a:xfrm>
              <a:off x="3162960" y="38397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2" name="Shape 20"/>
            <p:cNvSpPr/>
            <p:nvPr/>
          </p:nvSpPr>
          <p:spPr>
            <a:xfrm>
              <a:off x="3162960" y="38397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33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3" name="Text 21"/>
            <p:cNvSpPr/>
            <p:nvPr/>
          </p:nvSpPr>
          <p:spPr>
            <a:xfrm>
              <a:off x="3250080" y="38671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techniki poprawiają perceived performance aplikacji mobilnej?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4" name="Text 22"/>
            <p:cNvSpPr/>
            <p:nvPr/>
          </p:nvSpPr>
          <p:spPr>
            <a:xfrm>
              <a:off x="3273120" y="42015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zwiększenie liczby animacji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synchronizacja wszystkich danych przy starcie aplikacji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optimistic UI updates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lazy loading danych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5" name="Grupa 47"/>
          <p:cNvGrpSpPr/>
          <p:nvPr/>
        </p:nvGrpSpPr>
        <p:grpSpPr>
          <a:xfrm>
            <a:off x="6118920" y="768960"/>
            <a:ext cx="2880000" cy="973800"/>
            <a:chOff x="6118920" y="768960"/>
            <a:chExt cx="2880000" cy="973800"/>
          </a:xfrm>
        </p:grpSpPr>
        <p:sp>
          <p:nvSpPr>
            <p:cNvPr id="1666" name="Shape 19"/>
            <p:cNvSpPr/>
            <p:nvPr/>
          </p:nvSpPr>
          <p:spPr>
            <a:xfrm>
              <a:off x="6118920" y="7689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7" name="Shape 20"/>
            <p:cNvSpPr/>
            <p:nvPr/>
          </p:nvSpPr>
          <p:spPr>
            <a:xfrm>
              <a:off x="6118920" y="7689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5e0b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8" name="Text 21"/>
            <p:cNvSpPr/>
            <p:nvPr/>
          </p:nvSpPr>
          <p:spPr>
            <a:xfrm>
              <a:off x="6206040" y="7959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metody badawcze są eksperymentalne </a:t>
              </a:r>
              <a:br>
                <a:rPr sz="850"/>
              </a:b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i ilościowe w analizie UX?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9" name="Text 22"/>
            <p:cNvSpPr/>
            <p:nvPr/>
          </p:nvSpPr>
          <p:spPr>
            <a:xfrm>
              <a:off x="6229080" y="11307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wywiady pogłębione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 heurystyczna analiza ekspercka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A/B testing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analiza telemetryczna zachowania użytkowników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0" name="Grupa 47"/>
          <p:cNvGrpSpPr/>
          <p:nvPr/>
        </p:nvGrpSpPr>
        <p:grpSpPr>
          <a:xfrm>
            <a:off x="6118920" y="1816560"/>
            <a:ext cx="2880000" cy="973440"/>
            <a:chOff x="6118920" y="1816560"/>
            <a:chExt cx="2880000" cy="973440"/>
          </a:xfrm>
        </p:grpSpPr>
        <p:sp>
          <p:nvSpPr>
            <p:cNvPr id="1671" name="Shape 19"/>
            <p:cNvSpPr/>
            <p:nvPr/>
          </p:nvSpPr>
          <p:spPr>
            <a:xfrm>
              <a:off x="6118920" y="18165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2" name="Shape 20"/>
            <p:cNvSpPr/>
            <p:nvPr/>
          </p:nvSpPr>
          <p:spPr>
            <a:xfrm>
              <a:off x="6118920" y="18165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c7c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3" name="Text 21"/>
            <p:cNvSpPr/>
            <p:nvPr/>
          </p:nvSpPr>
          <p:spPr>
            <a:xfrm>
              <a:off x="6206040" y="185040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czynniki najczęściej powodują usunięcie aplikacji przez użytkowników?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4" name="Text 22"/>
            <p:cNvSpPr/>
            <p:nvPr/>
          </p:nvSpPr>
          <p:spPr>
            <a:xfrm>
              <a:off x="6229080" y="21780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animacji w UI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trybu ciemnego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niska wydajność i długie czasy reakcji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LcParenR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zbyt duże zużycie baterii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5" name="Grupa 47"/>
          <p:cNvGrpSpPr/>
          <p:nvPr/>
        </p:nvGrpSpPr>
        <p:grpSpPr>
          <a:xfrm>
            <a:off x="6118920" y="2821320"/>
            <a:ext cx="2880000" cy="973440"/>
            <a:chOff x="6118920" y="2821320"/>
            <a:chExt cx="2880000" cy="973440"/>
          </a:xfrm>
        </p:grpSpPr>
        <p:sp>
          <p:nvSpPr>
            <p:cNvPr id="1676" name="Shape 19"/>
            <p:cNvSpPr/>
            <p:nvPr/>
          </p:nvSpPr>
          <p:spPr>
            <a:xfrm>
              <a:off x="6118920" y="282132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7" name="Shape 20"/>
            <p:cNvSpPr/>
            <p:nvPr/>
          </p:nvSpPr>
          <p:spPr>
            <a:xfrm>
              <a:off x="6118920" y="282132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92d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8" name="Text 21"/>
            <p:cNvSpPr/>
            <p:nvPr/>
          </p:nvSpPr>
          <p:spPr>
            <a:xfrm>
              <a:off x="6206040" y="286164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900" b="1" u="none" strike="noStrike">
                  <a:solidFill>
                    <a:srgbClr val="182030"/>
                  </a:solidFill>
                  <a:effectLst/>
                  <a:uFillTx/>
                  <a:latin typeface="Georgia Pro Cond"/>
                  <a:ea typeface="Calibri"/>
                </a:rPr>
                <a:t>.…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9" name="Text 22"/>
            <p:cNvSpPr/>
            <p:nvPr/>
          </p:nvSpPr>
          <p:spPr>
            <a:xfrm>
              <a:off x="6229080" y="31827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a) 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b) 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c)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d)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0" name="Grupa 47"/>
          <p:cNvGrpSpPr/>
          <p:nvPr/>
        </p:nvGrpSpPr>
        <p:grpSpPr>
          <a:xfrm>
            <a:off x="6118920" y="3852720"/>
            <a:ext cx="2880000" cy="973800"/>
            <a:chOff x="6118920" y="3852720"/>
            <a:chExt cx="2880000" cy="973800"/>
          </a:xfrm>
        </p:grpSpPr>
        <p:sp>
          <p:nvSpPr>
            <p:cNvPr id="1681" name="Shape 19"/>
            <p:cNvSpPr/>
            <p:nvPr/>
          </p:nvSpPr>
          <p:spPr>
            <a:xfrm>
              <a:off x="6118920" y="385272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2" name="Shape 20"/>
            <p:cNvSpPr/>
            <p:nvPr/>
          </p:nvSpPr>
          <p:spPr>
            <a:xfrm>
              <a:off x="6118920" y="385272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3" name="Text 21"/>
            <p:cNvSpPr/>
            <p:nvPr/>
          </p:nvSpPr>
          <p:spPr>
            <a:xfrm>
              <a:off x="6206040" y="38800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900" b="1" u="none" strike="noStrike">
                  <a:solidFill>
                    <a:srgbClr val="182030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Text 22"/>
            <p:cNvSpPr/>
            <p:nvPr/>
          </p:nvSpPr>
          <p:spPr>
            <a:xfrm>
              <a:off x="6229080" y="421452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a)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 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b) </a:t>
              </a: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c) 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…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d)</a:t>
              </a: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 …</a:t>
              </a: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Georgia Pro Cond"/>
                  <a:ea typeface="Calibri"/>
                </a:rPr>
                <a:t> 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Shape 0"/>
          <p:cNvSpPr/>
          <p:nvPr/>
        </p:nvSpPr>
        <p:spPr>
          <a:xfrm>
            <a:off x="0" y="0"/>
            <a:ext cx="9143280" cy="657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a16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6" name="Shape 1"/>
          <p:cNvSpPr/>
          <p:nvPr/>
        </p:nvSpPr>
        <p:spPr>
          <a:xfrm>
            <a:off x="0" y="658440"/>
            <a:ext cx="9143280" cy="45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2"/>
          <p:cNvSpPr/>
          <p:nvPr/>
        </p:nvSpPr>
        <p:spPr>
          <a:xfrm>
            <a:off x="320040" y="54720"/>
            <a:ext cx="8503200" cy="56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Pytania 4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Shape 3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 4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0" name="Grupa 47"/>
          <p:cNvGrpSpPr/>
          <p:nvPr/>
        </p:nvGrpSpPr>
        <p:grpSpPr>
          <a:xfrm>
            <a:off x="214200" y="757800"/>
            <a:ext cx="2880000" cy="973800"/>
            <a:chOff x="214200" y="757800"/>
            <a:chExt cx="2880000" cy="973800"/>
          </a:xfrm>
        </p:grpSpPr>
        <p:sp>
          <p:nvSpPr>
            <p:cNvPr id="1691" name="Shape 19"/>
            <p:cNvSpPr/>
            <p:nvPr/>
          </p:nvSpPr>
          <p:spPr>
            <a:xfrm>
              <a:off x="214200" y="7578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Shape 20"/>
            <p:cNvSpPr/>
            <p:nvPr/>
          </p:nvSpPr>
          <p:spPr>
            <a:xfrm>
              <a:off x="214200" y="7578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3" name="Text 21"/>
            <p:cNvSpPr/>
            <p:nvPr/>
          </p:nvSpPr>
          <p:spPr>
            <a:xfrm>
              <a:off x="300960" y="78480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architektury React Native odpowiadają za komunikację między kodem JavaScript a natywnymi komponentami?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4" name="Text 22"/>
            <p:cNvSpPr/>
            <p:nvPr/>
          </p:nvSpPr>
          <p:spPr>
            <a:xfrm>
              <a:off x="324360" y="11196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Skia rendering engine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Dart VM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bridge (mostek JS–native)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native modules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5" name="pole tekstowe 49"/>
          <p:cNvSpPr txBox="1"/>
          <p:nvPr/>
        </p:nvSpPr>
        <p:spPr>
          <a:xfrm>
            <a:off x="8657280" y="4915800"/>
            <a:ext cx="486000" cy="320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spAutoFit/>
          </a:bodyPr>
          <a:p>
            <a:pPr algn="r">
              <a:lnSpc>
                <a:spcPts val="601"/>
              </a:lnSpc>
            </a:pPr>
            <a:fld id="{78D17B7E-F204-4090-8F65-5CBF3B89F510}" type="slidenum"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&lt;numer&gt;</a:t>
            </a:fld>
            <a:r>
              <a:rPr lang="pl-PL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/30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6" name="Grupa 47"/>
          <p:cNvGrpSpPr/>
          <p:nvPr/>
        </p:nvGrpSpPr>
        <p:grpSpPr>
          <a:xfrm>
            <a:off x="214200" y="1805040"/>
            <a:ext cx="2880000" cy="973800"/>
            <a:chOff x="214200" y="1805040"/>
            <a:chExt cx="2880000" cy="973800"/>
          </a:xfrm>
        </p:grpSpPr>
        <p:sp>
          <p:nvSpPr>
            <p:cNvPr id="1697" name="Shape 19"/>
            <p:cNvSpPr/>
            <p:nvPr/>
          </p:nvSpPr>
          <p:spPr>
            <a:xfrm>
              <a:off x="214200" y="180504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8" name="Shape 20"/>
            <p:cNvSpPr/>
            <p:nvPr/>
          </p:nvSpPr>
          <p:spPr>
            <a:xfrm>
              <a:off x="214200" y="180504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d7d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9" name="Text 21"/>
            <p:cNvSpPr/>
            <p:nvPr/>
          </p:nvSpPr>
          <p:spPr>
            <a:xfrm>
              <a:off x="300960" y="18255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komponenty należą do architektury Fluttera?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0" name="Text 22"/>
            <p:cNvSpPr/>
            <p:nvPr/>
          </p:nvSpPr>
          <p:spPr>
            <a:xfrm>
              <a:off x="324360" y="216684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WebView container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JVM runtime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framework layer w Dart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engine layer w C++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1" name="Grupa 47"/>
          <p:cNvGrpSpPr/>
          <p:nvPr/>
        </p:nvGrpSpPr>
        <p:grpSpPr>
          <a:xfrm>
            <a:off x="214200" y="2809800"/>
            <a:ext cx="2880000" cy="988560"/>
            <a:chOff x="214200" y="2809800"/>
            <a:chExt cx="2880000" cy="988560"/>
          </a:xfrm>
        </p:grpSpPr>
        <p:sp>
          <p:nvSpPr>
            <p:cNvPr id="1702" name="Shape 19"/>
            <p:cNvSpPr/>
            <p:nvPr/>
          </p:nvSpPr>
          <p:spPr>
            <a:xfrm>
              <a:off x="214200" y="28098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3" name="Shape 20"/>
            <p:cNvSpPr/>
            <p:nvPr/>
          </p:nvSpPr>
          <p:spPr>
            <a:xfrm>
              <a:off x="214200" y="28098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482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4" name="Text 21"/>
            <p:cNvSpPr/>
            <p:nvPr/>
          </p:nvSpPr>
          <p:spPr>
            <a:xfrm>
              <a:off x="300960" y="28504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właściwości Fluttera wpływają na wysoką wydajność renderowania UI?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5" name="Text 22"/>
            <p:cNvSpPr/>
            <p:nvPr/>
          </p:nvSpPr>
          <p:spPr>
            <a:xfrm>
              <a:off x="324360" y="31863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użycie WebView do renderowania UI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interpretacja kodu JavaScript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kompilacja AOT do kodu maszynowego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własny silnik renderujący Skia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6" name="Grupa 47"/>
          <p:cNvGrpSpPr/>
          <p:nvPr/>
        </p:nvGrpSpPr>
        <p:grpSpPr>
          <a:xfrm>
            <a:off x="214200" y="3841560"/>
            <a:ext cx="2880000" cy="973800"/>
            <a:chOff x="214200" y="3841560"/>
            <a:chExt cx="2880000" cy="973800"/>
          </a:xfrm>
        </p:grpSpPr>
        <p:sp>
          <p:nvSpPr>
            <p:cNvPr id="1707" name="Shape 19"/>
            <p:cNvSpPr/>
            <p:nvPr/>
          </p:nvSpPr>
          <p:spPr>
            <a:xfrm>
              <a:off x="214200" y="38415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8" name="Shape 20"/>
            <p:cNvSpPr/>
            <p:nvPr/>
          </p:nvSpPr>
          <p:spPr>
            <a:xfrm>
              <a:off x="214200" y="38415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03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9" name="Text 21"/>
            <p:cNvSpPr/>
            <p:nvPr/>
          </p:nvSpPr>
          <p:spPr>
            <a:xfrm>
              <a:off x="300960" y="38689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elementy stanowią podstawowe komponenty PWA?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0" name="Text 22"/>
            <p:cNvSpPr/>
            <p:nvPr/>
          </p:nvSpPr>
          <p:spPr>
            <a:xfrm>
              <a:off x="324360" y="42033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Android Activity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iOS ViewController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Service Worker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Web App Manifest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1" name="Grupa 47"/>
          <p:cNvGrpSpPr/>
          <p:nvPr/>
        </p:nvGrpSpPr>
        <p:grpSpPr>
          <a:xfrm>
            <a:off x="3159360" y="756000"/>
            <a:ext cx="2880000" cy="973800"/>
            <a:chOff x="3159360" y="756000"/>
            <a:chExt cx="2880000" cy="973800"/>
          </a:xfrm>
        </p:grpSpPr>
        <p:sp>
          <p:nvSpPr>
            <p:cNvPr id="1712" name="Shape 19"/>
            <p:cNvSpPr/>
            <p:nvPr/>
          </p:nvSpPr>
          <p:spPr>
            <a:xfrm>
              <a:off x="3159360" y="7560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3" name="Shape 20"/>
            <p:cNvSpPr/>
            <p:nvPr/>
          </p:nvSpPr>
          <p:spPr>
            <a:xfrm>
              <a:off x="3162960" y="7560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4b18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4" name="Text 21"/>
            <p:cNvSpPr/>
            <p:nvPr/>
          </p:nvSpPr>
          <p:spPr>
            <a:xfrm>
              <a:off x="3250080" y="7833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funkcje Service Worker umożliwiają działanie aplikacji offline?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5" name="Text 22"/>
            <p:cNvSpPr/>
            <p:nvPr/>
          </p:nvSpPr>
          <p:spPr>
            <a:xfrm>
              <a:off x="3273120" y="11178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bezpośredni dostęp do GPU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zarządzanie schedulerem systemu operacyjnego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cache interception w fetch handler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lokalne przechowywanie zasobów aplikacji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6" name="Grupa 47"/>
          <p:cNvGrpSpPr/>
          <p:nvPr/>
        </p:nvGrpSpPr>
        <p:grpSpPr>
          <a:xfrm>
            <a:off x="3162960" y="1803600"/>
            <a:ext cx="2880000" cy="973440"/>
            <a:chOff x="3162960" y="1803600"/>
            <a:chExt cx="2880000" cy="973440"/>
          </a:xfrm>
        </p:grpSpPr>
        <p:sp>
          <p:nvSpPr>
            <p:cNvPr id="1717" name="Shape 19"/>
            <p:cNvSpPr/>
            <p:nvPr/>
          </p:nvSpPr>
          <p:spPr>
            <a:xfrm>
              <a:off x="3162960" y="180360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8" name="Shape 20"/>
            <p:cNvSpPr/>
            <p:nvPr/>
          </p:nvSpPr>
          <p:spPr>
            <a:xfrm>
              <a:off x="3162960" y="180360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e75b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9" name="Text 21"/>
            <p:cNvSpPr/>
            <p:nvPr/>
          </p:nvSpPr>
          <p:spPr>
            <a:xfrm>
              <a:off x="3250080" y="18241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ograniczenia PWA są szczególnie widoczne na platformie iOS?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0" name="Text 22"/>
            <p:cNvSpPr/>
            <p:nvPr/>
          </p:nvSpPr>
          <p:spPr>
            <a:xfrm>
              <a:off x="3273120" y="216504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wsparcia HTTPS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wsparcia JavaScript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ograniczony dostęp do sprzętu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brak background sync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1" name="Grupa 47"/>
          <p:cNvGrpSpPr/>
          <p:nvPr/>
        </p:nvGrpSpPr>
        <p:grpSpPr>
          <a:xfrm>
            <a:off x="3162960" y="2808360"/>
            <a:ext cx="2880000" cy="973440"/>
            <a:chOff x="3162960" y="2808360"/>
            <a:chExt cx="2880000" cy="973440"/>
          </a:xfrm>
        </p:grpSpPr>
        <p:sp>
          <p:nvSpPr>
            <p:cNvPr id="1722" name="Shape 19"/>
            <p:cNvSpPr/>
            <p:nvPr/>
          </p:nvSpPr>
          <p:spPr>
            <a:xfrm>
              <a:off x="3162960" y="28083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3" name="Shape 20"/>
            <p:cNvSpPr/>
            <p:nvPr/>
          </p:nvSpPr>
          <p:spPr>
            <a:xfrm>
              <a:off x="3162960" y="28083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4" name="Text 21"/>
            <p:cNvSpPr/>
            <p:nvPr/>
          </p:nvSpPr>
          <p:spPr>
            <a:xfrm>
              <a:off x="3250080" y="28486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mechanizmy w React Native New Architecture eliminują wąskie gardła mostka?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5" name="Text 22"/>
            <p:cNvSpPr/>
            <p:nvPr/>
          </p:nvSpPr>
          <p:spPr>
            <a:xfrm>
              <a:off x="3273120" y="31698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WebView renderer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DOM reconciliation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JSI (JavaScript Interface)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Fabric renderer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6" name="Grupa 47"/>
          <p:cNvGrpSpPr/>
          <p:nvPr/>
        </p:nvGrpSpPr>
        <p:grpSpPr>
          <a:xfrm>
            <a:off x="3162960" y="3839760"/>
            <a:ext cx="2880000" cy="973800"/>
            <a:chOff x="3162960" y="3839760"/>
            <a:chExt cx="2880000" cy="973800"/>
          </a:xfrm>
        </p:grpSpPr>
        <p:sp>
          <p:nvSpPr>
            <p:cNvPr id="1727" name="Shape 19"/>
            <p:cNvSpPr/>
            <p:nvPr/>
          </p:nvSpPr>
          <p:spPr>
            <a:xfrm>
              <a:off x="3162960" y="38397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8" name="Shape 20"/>
            <p:cNvSpPr/>
            <p:nvPr/>
          </p:nvSpPr>
          <p:spPr>
            <a:xfrm>
              <a:off x="3162960" y="38397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33f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9" name="Text 21"/>
            <p:cNvSpPr/>
            <p:nvPr/>
          </p:nvSpPr>
          <p:spPr>
            <a:xfrm>
              <a:off x="3250080" y="386712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cechy podejścia cross-platformowego zmniejszają koszty rozwoju aplikacji?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0" name="Text 22"/>
            <p:cNvSpPr/>
            <p:nvPr/>
          </p:nvSpPr>
          <p:spPr>
            <a:xfrm>
              <a:off x="3273120" y="42015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kompilacja tylko na jedną architekturę CPU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potrzeby testowania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wspólna baza kodu dla wielu platform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jeden zespół developerski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31" name="Grupa 47"/>
          <p:cNvGrpSpPr/>
          <p:nvPr/>
        </p:nvGrpSpPr>
        <p:grpSpPr>
          <a:xfrm>
            <a:off x="6118920" y="768960"/>
            <a:ext cx="2880000" cy="973800"/>
            <a:chOff x="6118920" y="768960"/>
            <a:chExt cx="2880000" cy="973800"/>
          </a:xfrm>
        </p:grpSpPr>
        <p:sp>
          <p:nvSpPr>
            <p:cNvPr id="1732" name="Shape 19"/>
            <p:cNvSpPr/>
            <p:nvPr/>
          </p:nvSpPr>
          <p:spPr>
            <a:xfrm>
              <a:off x="6118920" y="7689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3" name="Shape 20"/>
            <p:cNvSpPr/>
            <p:nvPr/>
          </p:nvSpPr>
          <p:spPr>
            <a:xfrm>
              <a:off x="6118920" y="7689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5e0b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4" name="Text 21"/>
            <p:cNvSpPr/>
            <p:nvPr/>
          </p:nvSpPr>
          <p:spPr>
            <a:xfrm>
              <a:off x="6206040" y="79596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technologie umożliwiają integrację kodu natywnego w Flutterze?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5" name="Text 22"/>
            <p:cNvSpPr/>
            <p:nvPr/>
          </p:nvSpPr>
          <p:spPr>
            <a:xfrm>
              <a:off x="6229080" y="11307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Android WebView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Service Worker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Dart FFI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platform channels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36" name="Grupa 47"/>
          <p:cNvGrpSpPr/>
          <p:nvPr/>
        </p:nvGrpSpPr>
        <p:grpSpPr>
          <a:xfrm>
            <a:off x="6118920" y="1816560"/>
            <a:ext cx="2880000" cy="973440"/>
            <a:chOff x="6118920" y="1816560"/>
            <a:chExt cx="2880000" cy="973440"/>
          </a:xfrm>
        </p:grpSpPr>
        <p:sp>
          <p:nvSpPr>
            <p:cNvPr id="1737" name="Shape 19"/>
            <p:cNvSpPr/>
            <p:nvPr/>
          </p:nvSpPr>
          <p:spPr>
            <a:xfrm>
              <a:off x="6118920" y="181656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8" name="Shape 20"/>
            <p:cNvSpPr/>
            <p:nvPr/>
          </p:nvSpPr>
          <p:spPr>
            <a:xfrm>
              <a:off x="6118920" y="181656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c7c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9" name="Text 21"/>
            <p:cNvSpPr/>
            <p:nvPr/>
          </p:nvSpPr>
          <p:spPr>
            <a:xfrm>
              <a:off x="6206040" y="185040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scenariusze najlepiej uzasadniają wybór architektury cross-platformowej zamiast natywnej?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0" name="Text 22"/>
            <p:cNvSpPr/>
            <p:nvPr/>
          </p:nvSpPr>
          <p:spPr>
            <a:xfrm>
              <a:off x="6229080" y="217800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gry 3D o wysokiej wydajności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aplikacje AR/VR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szybkie MVP startupu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aplikacje treściowe lub e-commerce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1" name="Grupa 47"/>
          <p:cNvGrpSpPr/>
          <p:nvPr/>
        </p:nvGrpSpPr>
        <p:grpSpPr>
          <a:xfrm>
            <a:off x="6118920" y="2821320"/>
            <a:ext cx="2880000" cy="973440"/>
            <a:chOff x="6118920" y="2821320"/>
            <a:chExt cx="2880000" cy="973440"/>
          </a:xfrm>
        </p:grpSpPr>
        <p:sp>
          <p:nvSpPr>
            <p:cNvPr id="1742" name="Shape 19"/>
            <p:cNvSpPr/>
            <p:nvPr/>
          </p:nvSpPr>
          <p:spPr>
            <a:xfrm>
              <a:off x="6118920" y="282132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3" name="Shape 20"/>
            <p:cNvSpPr/>
            <p:nvPr/>
          </p:nvSpPr>
          <p:spPr>
            <a:xfrm>
              <a:off x="6118920" y="282132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92d0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4" name="Text 21"/>
            <p:cNvSpPr/>
            <p:nvPr/>
          </p:nvSpPr>
          <p:spPr>
            <a:xfrm>
              <a:off x="6206040" y="286164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mechanizmy systemu Android są bezpośrednio odpowiedzialne za izolację aplikacji w modelu sandbox?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5" name="Text 22"/>
            <p:cNvSpPr/>
            <p:nvPr/>
          </p:nvSpPr>
          <p:spPr>
            <a:xfrm>
              <a:off x="6229080" y="318276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kompilacja aplikacji do natywnego kodu ARM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system Activity lifecycle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oddzielny UID systemowy dla każdej aplikacji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pl-PL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wykorzystanie mechanizmu SELinux w trybie enforcing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6" name="Grupa 47"/>
          <p:cNvGrpSpPr/>
          <p:nvPr/>
        </p:nvGrpSpPr>
        <p:grpSpPr>
          <a:xfrm>
            <a:off x="6118920" y="3852720"/>
            <a:ext cx="2880000" cy="973800"/>
            <a:chOff x="6118920" y="3852720"/>
            <a:chExt cx="2880000" cy="973800"/>
          </a:xfrm>
        </p:grpSpPr>
        <p:sp>
          <p:nvSpPr>
            <p:cNvPr id="1747" name="Shape 19"/>
            <p:cNvSpPr/>
            <p:nvPr/>
          </p:nvSpPr>
          <p:spPr>
            <a:xfrm>
              <a:off x="6118920" y="3852720"/>
              <a:ext cx="288000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cbd5e5"/>
              </a:solidFill>
              <a:round/>
            </a:ln>
            <a:effectLst>
              <a:outerShdw dist="25455" dir="8100000" rotWithShape="0">
                <a:srgbClr val="000000">
                  <a:alpha val="6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8" name="Shape 20"/>
            <p:cNvSpPr/>
            <p:nvPr/>
          </p:nvSpPr>
          <p:spPr>
            <a:xfrm>
              <a:off x="6118920" y="3852720"/>
              <a:ext cx="36720" cy="97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9" name="Text 21"/>
            <p:cNvSpPr/>
            <p:nvPr/>
          </p:nvSpPr>
          <p:spPr>
            <a:xfrm>
              <a:off x="6206040" y="3880080"/>
              <a:ext cx="2772000" cy="3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901"/>
                </a:lnSpc>
                <a:tabLst>
                  <a:tab algn="l" pos="0"/>
                </a:tabLst>
              </a:pPr>
              <a:r>
                <a:rPr lang="pl-PL" sz="850" b="1" u="none" strike="noStrike">
                  <a:solidFill>
                    <a:srgbClr val="182030"/>
                  </a:solidFill>
                  <a:effectLst/>
                  <a:uFillTx/>
                  <a:latin typeface="Arial Nova"/>
                  <a:ea typeface="Calibri"/>
                </a:rPr>
                <a:t>Które czynniki w architekturze Androida powodują, że operacje I/O nie powinny być wykonywane w głównym wątku UI?</a:t>
              </a:r>
              <a:endParaRPr lang="pl-PL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0" name="Text 22"/>
            <p:cNvSpPr/>
            <p:nvPr/>
          </p:nvSpPr>
          <p:spPr>
            <a:xfrm>
              <a:off x="6229080" y="4214520"/>
              <a:ext cx="2690280" cy="61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ograniczenia liczby rdzeni CPU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3b5168"/>
                  </a:solidFill>
                  <a:effectLst/>
                  <a:uFillTx/>
                  <a:latin typeface="Calibri"/>
                  <a:ea typeface="Calibri"/>
                </a:rPr>
                <a:t>brak schedulerów w kernelu Linux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model jednowątkowej pętli zdarzeń UI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28600" indent="-228600">
                <a:lnSpc>
                  <a:spcPct val="100000"/>
                </a:lnSpc>
                <a:buClr>
                  <a:srgbClr val="000000"/>
                </a:buClr>
                <a:buFont typeface="OpenSymbol"/>
                <a:buAutoNum type="alphaUcPeriod"/>
                <a:tabLst>
                  <a:tab algn="l" pos="-228600"/>
                </a:tabLst>
              </a:pPr>
              <a:r>
                <a:rPr lang="en-US" sz="800" b="0" u="none" spc="-31" strike="noStrike">
                  <a:solidFill>
                    <a:srgbClr val="000000"/>
                  </a:solidFill>
                  <a:effectLst/>
                  <a:uFillTx/>
                  <a:latin typeface="Calibri"/>
                  <a:ea typeface="Calibri"/>
                </a:rPr>
                <a:t>watchdog ANR monitorujący blokady wątku głównego</a:t>
              </a:r>
              <a:endParaRPr lang="pl-PL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Shape 0"/>
          <p:cNvSpPr/>
          <p:nvPr/>
        </p:nvSpPr>
        <p:spPr>
          <a:xfrm>
            <a:off x="0" y="0"/>
            <a:ext cx="9143280" cy="7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Text 1"/>
          <p:cNvSpPr/>
          <p:nvPr/>
        </p:nvSpPr>
        <p:spPr>
          <a:xfrm>
            <a:off x="320040" y="128160"/>
            <a:ext cx="8503200" cy="474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Podsumowanie i </a:t>
            </a:r>
            <a:r>
              <a:rPr lang="pl-PL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trendy </a:t>
            </a:r>
            <a:r>
              <a:rPr lang="pl-PL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, czyli przyszłość architektury mobilnej</a:t>
            </a:r>
            <a:endParaRPr lang="pl-PL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3" name="Shape 2"/>
          <p:cNvSpPr/>
          <p:nvPr/>
        </p:nvSpPr>
        <p:spPr>
          <a:xfrm>
            <a:off x="0" y="658440"/>
            <a:ext cx="9143280" cy="36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54" name="Grupa 1252"/>
          <p:cNvGrpSpPr/>
          <p:nvPr/>
        </p:nvGrpSpPr>
        <p:grpSpPr>
          <a:xfrm>
            <a:off x="221040" y="804600"/>
            <a:ext cx="8724600" cy="2044080"/>
            <a:chOff x="221040" y="804600"/>
            <a:chExt cx="8724600" cy="2044080"/>
          </a:xfrm>
        </p:grpSpPr>
        <p:sp>
          <p:nvSpPr>
            <p:cNvPr id="1755" name="Shape 3"/>
            <p:cNvSpPr/>
            <p:nvPr/>
          </p:nvSpPr>
          <p:spPr>
            <a:xfrm>
              <a:off x="221040" y="804600"/>
              <a:ext cx="2819160" cy="1016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f1e38"/>
            </a:solidFill>
            <a:ln w="25560">
              <a:solidFill>
                <a:srgbClr val="00b4c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6" name="Shape 4"/>
            <p:cNvSpPr/>
            <p:nvPr/>
          </p:nvSpPr>
          <p:spPr>
            <a:xfrm>
              <a:off x="221040" y="804600"/>
              <a:ext cx="2819160" cy="4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b4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7" name="Text 5"/>
            <p:cNvSpPr/>
            <p:nvPr/>
          </p:nvSpPr>
          <p:spPr>
            <a:xfrm>
              <a:off x="327240" y="910440"/>
              <a:ext cx="260676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2000" b="1" u="none" strike="noStrike">
                  <a:solidFill>
                    <a:srgbClr val="00b4c5"/>
                  </a:solidFill>
                  <a:effectLst/>
                  <a:uFillTx/>
                  <a:latin typeface="Cambria"/>
                  <a:ea typeface="Cambria"/>
                </a:rPr>
                <a:t>AI Phone Era</a:t>
              </a:r>
              <a:endParaRPr lang="pl-PL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8" name="Text 6"/>
            <p:cNvSpPr/>
            <p:nvPr/>
          </p:nvSpPr>
          <p:spPr>
            <a:xfrm>
              <a:off x="275760" y="1303560"/>
              <a:ext cx="2713320" cy="40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>
                <a:lnSpc>
                  <a:spcPts val="1100"/>
                </a:lnSpc>
                <a:tabLst>
                  <a:tab algn="l" pos="0"/>
                </a:tabLst>
              </a:pPr>
              <a:r>
                <a:rPr lang="pl-PL" sz="1100" b="0" u="none" spc="-20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On-device LLM 1–7B, Apple Intelligence, Gemini Nano. NPU &gt; 50 TOPS standard. Foundation models zastępują task-specific ML.</a:t>
              </a:r>
              <a:endParaRPr lang="pl-PL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9" name="Shape 7"/>
            <p:cNvSpPr/>
            <p:nvPr/>
          </p:nvSpPr>
          <p:spPr>
            <a:xfrm>
              <a:off x="3174120" y="804600"/>
              <a:ext cx="2818800" cy="1023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f1e38"/>
            </a:solidFill>
            <a:ln w="25560">
              <a:solidFill>
                <a:srgbClr val="d6006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0" name="Shape 8"/>
            <p:cNvSpPr/>
            <p:nvPr/>
          </p:nvSpPr>
          <p:spPr>
            <a:xfrm>
              <a:off x="3174120" y="804600"/>
              <a:ext cx="2818800" cy="4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600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1" name="Text 9"/>
            <p:cNvSpPr/>
            <p:nvPr/>
          </p:nvSpPr>
          <p:spPr>
            <a:xfrm>
              <a:off x="3280320" y="910440"/>
              <a:ext cx="260640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2000" b="1" u="none" strike="noStrike">
                  <a:solidFill>
                    <a:srgbClr val="d6006a"/>
                  </a:solidFill>
                  <a:effectLst/>
                  <a:uFillTx/>
                  <a:latin typeface="Cambria"/>
                  <a:ea typeface="Cambria"/>
                </a:rPr>
                <a:t>TSMC 2nm (2025+)</a:t>
              </a:r>
              <a:endParaRPr lang="pl-PL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2" name="Text 10"/>
            <p:cNvSpPr/>
            <p:nvPr/>
          </p:nvSpPr>
          <p:spPr>
            <a:xfrm>
              <a:off x="3225600" y="1303560"/>
              <a:ext cx="2728080" cy="40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1100" b="0" u="none" spc="-40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Apple A19, Snapdragon 8s Elite. +10–15% perf, </a:t>
              </a:r>
              <a:br>
                <a:rPr sz="1100"/>
              </a:br>
              <a:r>
                <a:rPr lang="pl-PL" sz="1100" b="0" u="none" spc="-40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-25% power. CoWoS z HBM3E dla AI inference BW.</a:t>
              </a:r>
              <a:endParaRPr lang="pl-PL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3" name="Shape 11"/>
            <p:cNvSpPr/>
            <p:nvPr/>
          </p:nvSpPr>
          <p:spPr>
            <a:xfrm>
              <a:off x="6126480" y="804600"/>
              <a:ext cx="2819160" cy="1023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f1e38"/>
            </a:solidFill>
            <a:ln w="25560">
              <a:solidFill>
                <a:srgbClr val="0e9a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4" name="Shape 12"/>
            <p:cNvSpPr/>
            <p:nvPr/>
          </p:nvSpPr>
          <p:spPr>
            <a:xfrm>
              <a:off x="6126480" y="804600"/>
              <a:ext cx="2819160" cy="4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e9a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5" name="Text 13"/>
            <p:cNvSpPr/>
            <p:nvPr/>
          </p:nvSpPr>
          <p:spPr>
            <a:xfrm>
              <a:off x="6179760" y="910440"/>
              <a:ext cx="266004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2000" b="1" u="none" strike="noStrike">
                  <a:solidFill>
                    <a:srgbClr val="0e9a6b"/>
                  </a:solidFill>
                  <a:effectLst/>
                  <a:uFillTx/>
                  <a:latin typeface="Cambria"/>
                  <a:ea typeface="Cambria"/>
                </a:rPr>
                <a:t>300W + Silicon Anode</a:t>
              </a:r>
              <a:endParaRPr lang="pl-PL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6" name="Text 14"/>
            <p:cNvSpPr/>
            <p:nvPr/>
          </p:nvSpPr>
          <p:spPr>
            <a:xfrm>
              <a:off x="6179760" y="1327680"/>
              <a:ext cx="2713320" cy="381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>
                <a:lnSpc>
                  <a:spcPts val="1100"/>
                </a:lnSpc>
                <a:tabLst>
                  <a:tab algn="l" pos="0"/>
                </a:tabLst>
              </a:pPr>
              <a:r>
                <a:rPr lang="pl-PL" sz="1100" b="0" u="none" spc="-20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Ładowanie 0→100% w 5 min. Li-Si anoda +15% pojemność. GaN ładowarki ultra-kompaktowe.</a:t>
              </a:r>
              <a:endParaRPr lang="pl-PL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Shape 15"/>
            <p:cNvSpPr/>
            <p:nvPr/>
          </p:nvSpPr>
          <p:spPr>
            <a:xfrm>
              <a:off x="221040" y="1942560"/>
              <a:ext cx="2819160" cy="90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f1e38"/>
            </a:solidFill>
            <a:ln w="25560">
              <a:solidFill>
                <a:srgbClr val="6d28d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8" name="Shape 16"/>
            <p:cNvSpPr/>
            <p:nvPr/>
          </p:nvSpPr>
          <p:spPr>
            <a:xfrm>
              <a:off x="221040" y="1942560"/>
              <a:ext cx="2819160" cy="4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d28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9" name="Text 17"/>
            <p:cNvSpPr/>
            <p:nvPr/>
          </p:nvSpPr>
          <p:spPr>
            <a:xfrm>
              <a:off x="275760" y="2048400"/>
              <a:ext cx="265860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2000" b="1" u="none" strike="noStrike">
                  <a:solidFill>
                    <a:srgbClr val="cc0099"/>
                  </a:solidFill>
                  <a:effectLst/>
                  <a:uFillTx/>
                  <a:latin typeface="Cambria"/>
                  <a:ea typeface="Cambria"/>
                </a:rPr>
                <a:t>Składane mainstream</a:t>
              </a:r>
              <a:endParaRPr lang="pl-PL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0" name="Text 18"/>
            <p:cNvSpPr/>
            <p:nvPr/>
          </p:nvSpPr>
          <p:spPr>
            <a:xfrm>
              <a:off x="327240" y="2343240"/>
              <a:ext cx="2606760" cy="463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>
                <a:lnSpc>
                  <a:spcPts val="1100"/>
                </a:lnSpc>
                <a:tabLst>
                  <a:tab algn="l" pos="0"/>
                </a:tabLst>
              </a:pPr>
              <a:r>
                <a:rPr lang="pl-PL" sz="1100" b="0" u="none" spc="-40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Samsung Fold/Flip. UTG 30μm. 200k cykli. Cena spada do $800 do 2027. 15% rynku premium.</a:t>
              </a:r>
              <a:endParaRPr lang="pl-PL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1" name="Shape 19"/>
            <p:cNvSpPr/>
            <p:nvPr/>
          </p:nvSpPr>
          <p:spPr>
            <a:xfrm>
              <a:off x="3174120" y="1942560"/>
              <a:ext cx="2818800" cy="90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f1e38"/>
            </a:solidFill>
            <a:ln w="25560">
              <a:solidFill>
                <a:srgbClr val="c47a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2" name="Shape 20"/>
            <p:cNvSpPr/>
            <p:nvPr/>
          </p:nvSpPr>
          <p:spPr>
            <a:xfrm>
              <a:off x="3174120" y="1942560"/>
              <a:ext cx="2818800" cy="4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47a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Text 21"/>
            <p:cNvSpPr/>
            <p:nvPr/>
          </p:nvSpPr>
          <p:spPr>
            <a:xfrm>
              <a:off x="3280320" y="2048400"/>
              <a:ext cx="260640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2000" b="1" u="none" strike="noStrike">
                  <a:solidFill>
                    <a:srgbClr val="c47a00"/>
                  </a:solidFill>
                  <a:effectLst/>
                  <a:uFillTx/>
                  <a:latin typeface="Cambria"/>
                  <a:ea typeface="Cambria"/>
                </a:rPr>
                <a:t>Satelitarna łączność</a:t>
              </a:r>
              <a:endParaRPr lang="pl-PL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4" name="Text 22"/>
            <p:cNvSpPr/>
            <p:nvPr/>
          </p:nvSpPr>
          <p:spPr>
            <a:xfrm>
              <a:off x="3225600" y="2424600"/>
              <a:ext cx="2728080" cy="305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>
                <a:lnSpc>
                  <a:spcPts val="1100"/>
                </a:lnSpc>
                <a:tabLst>
                  <a:tab algn="l" pos="0"/>
                </a:tabLst>
              </a:pPr>
              <a:r>
                <a:rPr lang="pl-PL" sz="1100" b="0" u="none" spc="-51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Snapdragon Sat 2-way. Apple Emergency SOS. Starlink Direct-to-Cell (T-Mobile). Zawsze połączony.</a:t>
              </a:r>
              <a:endParaRPr lang="pl-PL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5" name="Shape 23"/>
            <p:cNvSpPr/>
            <p:nvPr/>
          </p:nvSpPr>
          <p:spPr>
            <a:xfrm>
              <a:off x="6126480" y="1942560"/>
              <a:ext cx="2819160" cy="90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f1e38"/>
            </a:solidFill>
            <a:ln w="25560">
              <a:solidFill>
                <a:srgbClr val="1a5db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6" name="Shape 24"/>
            <p:cNvSpPr/>
            <p:nvPr/>
          </p:nvSpPr>
          <p:spPr>
            <a:xfrm>
              <a:off x="6126480" y="1942560"/>
              <a:ext cx="2819160" cy="41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5db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7" name="Text 25"/>
            <p:cNvSpPr/>
            <p:nvPr/>
          </p:nvSpPr>
          <p:spPr>
            <a:xfrm>
              <a:off x="6233040" y="2048400"/>
              <a:ext cx="260676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pl-PL" sz="2000" b="1" u="none" strike="noStrike">
                  <a:solidFill>
                    <a:srgbClr val="9dc3e6"/>
                  </a:solidFill>
                  <a:effectLst/>
                  <a:uFillTx/>
                  <a:latin typeface="Cambria"/>
                  <a:ea typeface="Cambria"/>
                </a:rPr>
                <a:t>In-display biometria</a:t>
              </a:r>
              <a:endParaRPr lang="pl-PL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8" name="Text 26"/>
            <p:cNvSpPr/>
            <p:nvPr/>
          </p:nvSpPr>
          <p:spPr>
            <a:xfrm>
              <a:off x="6179760" y="2398320"/>
              <a:ext cx="2713320" cy="408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just">
                <a:lnSpc>
                  <a:spcPts val="1100"/>
                </a:lnSpc>
                <a:tabLst>
                  <a:tab algn="l" pos="0"/>
                </a:tabLst>
              </a:pPr>
              <a:r>
                <a:rPr lang="pl-PL" sz="1100" b="0" u="none" spc="-60" strike="noStrike">
                  <a:solidFill>
                    <a:srgbClr val="c0d8f0"/>
                  </a:solidFill>
                  <a:effectLst/>
                  <a:uFillTx/>
                  <a:latin typeface="Calibri"/>
                  <a:ea typeface="Calibri"/>
                </a:rPr>
                <a:t>3D Sonic fingerprint cały ekran. Face ID pod ekranem 2026. Brak notch/hole-punch. Czysty front.</a:t>
              </a:r>
              <a:endParaRPr lang="pl-PL" sz="1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9" name="Text 27"/>
          <p:cNvSpPr/>
          <p:nvPr/>
        </p:nvSpPr>
        <p:spPr>
          <a:xfrm>
            <a:off x="690840" y="3030840"/>
            <a:ext cx="2697120" cy="25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Kluczowe wnioski wykładu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 29"/>
          <p:cNvSpPr/>
          <p:nvPr/>
        </p:nvSpPr>
        <p:spPr>
          <a:xfrm>
            <a:off x="523440" y="3358080"/>
            <a:ext cx="8072640" cy="1108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>
              <a:lnSpc>
                <a:spcPct val="150000"/>
              </a:lnSpc>
              <a:buSzPct val="100000"/>
              <a:buBlip>
                <a:blip r:embed="rId1"/>
              </a:buBlip>
              <a:tabLst>
                <a:tab algn="l" pos="-171360"/>
              </a:tabLst>
            </a:pPr>
            <a:r>
              <a:rPr lang="pl-PL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SoC integruje CPU+GPU+NPU+ISP w jednym chipie</a:t>
            </a:r>
            <a:r>
              <a:rPr lang="pl-PL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pl-PL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heterogeneous computing to standard mobilny, nie przyszłość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50000"/>
              </a:lnSpc>
              <a:buSzPct val="100000"/>
              <a:buBlip>
                <a:blip r:embed="rId2"/>
              </a:buBlip>
              <a:tabLst>
                <a:tab algn="l" pos="-171360"/>
              </a:tabLst>
            </a:pPr>
            <a:r>
              <a:rPr lang="pl-PL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OLED LTPO z adaptacyjnym odświeżaniem 1–120Hz i bezpieczeństwo sprzętowe (SEP/TrustZone) to fundamenty flagowców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50000"/>
              </a:lnSpc>
              <a:buSzPct val="100000"/>
              <a:buBlip>
                <a:blip r:embed="rId3"/>
              </a:buBlip>
              <a:tabLst>
                <a:tab algn="l" pos="-171360"/>
              </a:tabLst>
            </a:pPr>
            <a:r>
              <a:rPr lang="pl-PL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Treble i AIDL HAL umożliwiają szybkie aktualizacje bezpieczeństwa, architektura androidowa ważna dla programisty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50000"/>
              </a:lnSpc>
              <a:buSzPct val="100000"/>
              <a:buBlip>
                <a:blip r:embed="rId4"/>
              </a:buBlip>
              <a:tabLst>
                <a:tab algn="l" pos="-171360"/>
              </a:tabLst>
            </a:pPr>
            <a:r>
              <a:rPr lang="pl-PL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On-device AI (NPU 38–80 TOPS) zmienia paradygmat aplikacji mobilnych, AI nie wymaga chmury w 2025+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1" name="Shape 36"/>
          <p:cNvSpPr/>
          <p:nvPr/>
        </p:nvSpPr>
        <p:spPr>
          <a:xfrm>
            <a:off x="3200400" y="4679640"/>
            <a:ext cx="2453760" cy="199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4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ts val="2001"/>
              </a:lnSpc>
            </a:pPr>
            <a:r>
              <a:rPr lang="pl-PL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Koniec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Shape 38"/>
          <p:cNvSpPr/>
          <p:nvPr/>
        </p:nvSpPr>
        <p:spPr>
          <a:xfrm>
            <a:off x="0" y="4983480"/>
            <a:ext cx="9143280" cy="159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40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 39"/>
          <p:cNvSpPr/>
          <p:nvPr/>
        </p:nvSpPr>
        <p:spPr>
          <a:xfrm>
            <a:off x="274320" y="4992480"/>
            <a:ext cx="8594640" cy="145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pl-PL" sz="900" b="0" u="none" strike="noStrike">
                <a:solidFill>
                  <a:srgbClr val="2a4a6a"/>
                </a:solidFill>
                <a:effectLst/>
                <a:uFillTx/>
                <a:latin typeface="Calibri"/>
                <a:ea typeface="Calibri"/>
              </a:rPr>
              <a:t>Architektura i Budowa Urządzeń Mobilnych  | Informatyka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LibreOffice/25.8.6.2$Linux_X86_64 LibreOffice_project/580$Build-2</Application>
  <AppVersion>15.0000</AppVersion>
  <Words>15976</Words>
  <Paragraphs>2020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2026-02-23T21:34:05Z</dcterms:created>
  <dc:creator>Katedra Informatyki</dc:creator>
  <dc:description/>
  <dc:language>pl-PL</dc:language>
  <cp:lastModifiedBy>Mateusz Pomianek</cp:lastModifiedBy>
  <dcterms:modified xsi:type="dcterms:W3CDTF">2026-03-13T17:48:49Z</dcterms:modified>
  <cp:revision>31</cp:revision>
  <dc:subject>PptxGenJS Presentation</dc:subject>
  <dc:title>Architektura i Budowa Urządzeń Mobilnych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</Properties>
</file>