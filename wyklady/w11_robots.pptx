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7431A-8DE4-5B09-4D10-9E30385A11A3}" v="42" dt="2026-02-23T11:26:20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317431A-8DE4-5B09-4D10-9E30385A11A3}"/>
    <pc:docChg chg="modSld">
      <pc:chgData name="" userId="" providerId="" clId="Web-{0317431A-8DE4-5B09-4D10-9E30385A11A3}" dt="2026-02-23T11:26:20.220" v="41" actId="1076"/>
      <pc:docMkLst>
        <pc:docMk/>
      </pc:docMkLst>
      <pc:sldChg chg="modSp">
        <pc:chgData name="" userId="" providerId="" clId="Web-{0317431A-8DE4-5B09-4D10-9E30385A11A3}" dt="2026-02-23T11:22:57.971" v="3" actId="20577"/>
        <pc:sldMkLst>
          <pc:docMk/>
          <pc:sldMk cId="0" sldId="272"/>
        </pc:sldMkLst>
        <pc:spChg chg="mod">
          <ac:chgData name="" userId="" providerId="" clId="Web-{0317431A-8DE4-5B09-4D10-9E30385A11A3}" dt="2026-02-23T11:22:41.018" v="0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" userId="" providerId="" clId="Web-{0317431A-8DE4-5B09-4D10-9E30385A11A3}" dt="2026-02-23T11:22:57.971" v="3" actId="20577"/>
          <ac:spMkLst>
            <pc:docMk/>
            <pc:sldMk cId="0" sldId="272"/>
            <ac:spMk id="11" creationId="{00000000-0000-0000-0000-000000000000}"/>
          </ac:spMkLst>
        </pc:spChg>
      </pc:sldChg>
      <pc:sldChg chg="modSp">
        <pc:chgData name="" userId="" providerId="" clId="Web-{0317431A-8DE4-5B09-4D10-9E30385A11A3}" dt="2026-02-23T11:23:36.299" v="11" actId="14100"/>
        <pc:sldMkLst>
          <pc:docMk/>
          <pc:sldMk cId="0" sldId="275"/>
        </pc:sldMkLst>
        <pc:spChg chg="mod">
          <ac:chgData name="" userId="" providerId="" clId="Web-{0317431A-8DE4-5B09-4D10-9E30385A11A3}" dt="2026-02-23T11:23:36.299" v="11" actId="14100"/>
          <ac:spMkLst>
            <pc:docMk/>
            <pc:sldMk cId="0" sldId="275"/>
            <ac:spMk id="27" creationId="{00000000-0000-0000-0000-000000000000}"/>
          </ac:spMkLst>
        </pc:spChg>
      </pc:sldChg>
      <pc:sldChg chg="modSp">
        <pc:chgData name="" userId="" providerId="" clId="Web-{0317431A-8DE4-5B09-4D10-9E30385A11A3}" dt="2026-02-23T11:23:49.861" v="13" actId="20577"/>
        <pc:sldMkLst>
          <pc:docMk/>
          <pc:sldMk cId="0" sldId="277"/>
        </pc:sldMkLst>
        <pc:spChg chg="mod">
          <ac:chgData name="" userId="" providerId="" clId="Web-{0317431A-8DE4-5B09-4D10-9E30385A11A3}" dt="2026-02-23T11:23:49.861" v="13" actId="20577"/>
          <ac:spMkLst>
            <pc:docMk/>
            <pc:sldMk cId="0" sldId="277"/>
            <ac:spMk id="28" creationId="{00000000-0000-0000-0000-000000000000}"/>
          </ac:spMkLst>
        </pc:spChg>
      </pc:sldChg>
      <pc:sldChg chg="modSp">
        <pc:chgData name="" userId="" providerId="" clId="Web-{0317431A-8DE4-5B09-4D10-9E30385A11A3}" dt="2026-02-23T11:24:06.174" v="16" actId="20577"/>
        <pc:sldMkLst>
          <pc:docMk/>
          <pc:sldMk cId="0" sldId="278"/>
        </pc:sldMkLst>
        <pc:spChg chg="mod">
          <ac:chgData name="" userId="" providerId="" clId="Web-{0317431A-8DE4-5B09-4D10-9E30385A11A3}" dt="2026-02-23T11:24:06.174" v="16" actId="20577"/>
          <ac:spMkLst>
            <pc:docMk/>
            <pc:sldMk cId="0" sldId="278"/>
            <ac:spMk id="11" creationId="{00000000-0000-0000-0000-000000000000}"/>
          </ac:spMkLst>
        </pc:spChg>
      </pc:sldChg>
      <pc:sldChg chg="modSp">
        <pc:chgData name="" userId="" providerId="" clId="Web-{0317431A-8DE4-5B09-4D10-9E30385A11A3}" dt="2026-02-23T11:24:19.018" v="18" actId="20577"/>
        <pc:sldMkLst>
          <pc:docMk/>
          <pc:sldMk cId="0" sldId="281"/>
        </pc:sldMkLst>
        <pc:spChg chg="mod">
          <ac:chgData name="" userId="" providerId="" clId="Web-{0317431A-8DE4-5B09-4D10-9E30385A11A3}" dt="2026-02-23T11:24:19.018" v="18" actId="20577"/>
          <ac:spMkLst>
            <pc:docMk/>
            <pc:sldMk cId="0" sldId="281"/>
            <ac:spMk id="32" creationId="{00000000-0000-0000-0000-000000000000}"/>
          </ac:spMkLst>
        </pc:spChg>
      </pc:sldChg>
      <pc:sldChg chg="modSp">
        <pc:chgData name="" userId="" providerId="" clId="Web-{0317431A-8DE4-5B09-4D10-9E30385A11A3}" dt="2026-02-23T11:24:42.189" v="21" actId="20577"/>
        <pc:sldMkLst>
          <pc:docMk/>
          <pc:sldMk cId="0" sldId="284"/>
        </pc:sldMkLst>
        <pc:spChg chg="mod">
          <ac:chgData name="" userId="" providerId="" clId="Web-{0317431A-8DE4-5B09-4D10-9E30385A11A3}" dt="2026-02-23T11:24:42.189" v="21" actId="20577"/>
          <ac:spMkLst>
            <pc:docMk/>
            <pc:sldMk cId="0" sldId="284"/>
            <ac:spMk id="32" creationId="{00000000-0000-0000-0000-000000000000}"/>
          </ac:spMkLst>
        </pc:spChg>
      </pc:sldChg>
      <pc:sldChg chg="addSp delSp modSp">
        <pc:chgData name="" userId="" providerId="" clId="Web-{0317431A-8DE4-5B09-4D10-9E30385A11A3}" dt="2026-02-23T11:26:20.220" v="41" actId="1076"/>
        <pc:sldMkLst>
          <pc:docMk/>
          <pc:sldMk cId="0" sldId="285"/>
        </pc:sldMkLst>
        <pc:spChg chg="mod">
          <ac:chgData name="" userId="" providerId="" clId="Web-{0317431A-8DE4-5B09-4D10-9E30385A11A3}" dt="2026-02-23T11:26:20.220" v="41" actId="107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" userId="" providerId="" clId="Web-{0317431A-8DE4-5B09-4D10-9E30385A11A3}" dt="2026-02-23T11:25:19.627" v="31" actId="1076"/>
          <ac:spMkLst>
            <pc:docMk/>
            <pc:sldMk cId="0" sldId="285"/>
            <ac:spMk id="18" creationId="{00000000-0000-0000-0000-000000000000}"/>
          </ac:spMkLst>
        </pc:spChg>
        <pc:spChg chg="mod">
          <ac:chgData name="" userId="" providerId="" clId="Web-{0317431A-8DE4-5B09-4D10-9E30385A11A3}" dt="2026-02-23T11:25:19.627" v="30" actId="1076"/>
          <ac:spMkLst>
            <pc:docMk/>
            <pc:sldMk cId="0" sldId="285"/>
            <ac:spMk id="19" creationId="{00000000-0000-0000-0000-000000000000}"/>
          </ac:spMkLst>
        </pc:spChg>
        <pc:spChg chg="mod">
          <ac:chgData name="" userId="" providerId="" clId="Web-{0317431A-8DE4-5B09-4D10-9E30385A11A3}" dt="2026-02-23T11:25:19.627" v="29" actId="1076"/>
          <ac:spMkLst>
            <pc:docMk/>
            <pc:sldMk cId="0" sldId="285"/>
            <ac:spMk id="20" creationId="{00000000-0000-0000-0000-000000000000}"/>
          </ac:spMkLst>
        </pc:spChg>
        <pc:spChg chg="topLvl">
          <ac:chgData name="" userId="" providerId="" clId="Web-{0317431A-8DE4-5B09-4D10-9E30385A11A3}" dt="2026-02-23T11:25:48.767" v="36"/>
          <ac:spMkLst>
            <pc:docMk/>
            <pc:sldMk cId="0" sldId="285"/>
            <ac:spMk id="21" creationId="{00000000-0000-0000-0000-000000000000}"/>
          </ac:spMkLst>
        </pc:spChg>
        <pc:spChg chg="topLvl">
          <ac:chgData name="" userId="" providerId="" clId="Web-{0317431A-8DE4-5B09-4D10-9E30385A11A3}" dt="2026-02-23T11:25:48.767" v="36"/>
          <ac:spMkLst>
            <pc:docMk/>
            <pc:sldMk cId="0" sldId="285"/>
            <ac:spMk id="23" creationId="{00000000-0000-0000-0000-000000000000}"/>
          </ac:spMkLst>
        </pc:spChg>
        <pc:spChg chg="topLvl">
          <ac:chgData name="" userId="" providerId="" clId="Web-{0317431A-8DE4-5B09-4D10-9E30385A11A3}" dt="2026-02-23T11:25:48.767" v="36"/>
          <ac:spMkLst>
            <pc:docMk/>
            <pc:sldMk cId="0" sldId="285"/>
            <ac:spMk id="24" creationId="{00000000-0000-0000-0000-000000000000}"/>
          </ac:spMkLst>
        </pc:spChg>
        <pc:grpChg chg="add">
          <ac:chgData name="" userId="" providerId="" clId="Web-{0317431A-8DE4-5B09-4D10-9E30385A11A3}" dt="2026-02-23T11:24:52.986" v="22"/>
          <ac:grpSpMkLst>
            <pc:docMk/>
            <pc:sldMk cId="0" sldId="285"/>
            <ac:grpSpMk id="42" creationId="{F42F7052-9C90-AC94-D309-03C1152E7965}"/>
          </ac:grpSpMkLst>
        </pc:grpChg>
        <pc:grpChg chg="add mod">
          <ac:chgData name="" userId="" providerId="" clId="Web-{0317431A-8DE4-5B09-4D10-9E30385A11A3}" dt="2026-02-23T11:26:13.970" v="39" actId="1076"/>
          <ac:grpSpMkLst>
            <pc:docMk/>
            <pc:sldMk cId="0" sldId="285"/>
            <ac:grpSpMk id="43" creationId="{A44714A7-ADB4-3B39-68D6-F991C4EDF29B}"/>
          </ac:grpSpMkLst>
        </pc:grpChg>
        <pc:grpChg chg="add del mod">
          <ac:chgData name="" userId="" providerId="" clId="Web-{0317431A-8DE4-5B09-4D10-9E30385A11A3}" dt="2026-02-23T11:25:48.767" v="36"/>
          <ac:grpSpMkLst>
            <pc:docMk/>
            <pc:sldMk cId="0" sldId="285"/>
            <ac:grpSpMk id="44" creationId="{B2C99D25-CC2F-CA08-4B38-5CABF353E7E5}"/>
          </ac:grpSpMkLst>
        </pc:grpChg>
        <pc:grpChg chg="add">
          <ac:chgData name="" userId="" providerId="" clId="Web-{0317431A-8DE4-5B09-4D10-9E30385A11A3}" dt="2026-02-23T11:25:13.548" v="25"/>
          <ac:grpSpMkLst>
            <pc:docMk/>
            <pc:sldMk cId="0" sldId="285"/>
            <ac:grpSpMk id="45" creationId="{6D595FAE-9F24-F93D-3E2C-71F475C15C94}"/>
          </ac:grpSpMkLst>
        </pc:grpChg>
        <pc:grpChg chg="add">
          <ac:chgData name="" userId="" providerId="" clId="Web-{0317431A-8DE4-5B09-4D10-9E30385A11A3}" dt="2026-02-23T11:25:25.095" v="32"/>
          <ac:grpSpMkLst>
            <pc:docMk/>
            <pc:sldMk cId="0" sldId="285"/>
            <ac:grpSpMk id="46" creationId="{A3C507C3-7CEF-0F22-0408-5CE38B7B195C}"/>
          </ac:grpSpMkLst>
        </pc:grpChg>
        <pc:grpChg chg="add">
          <ac:chgData name="" userId="" providerId="" clId="Web-{0317431A-8DE4-5B09-4D10-9E30385A11A3}" dt="2026-02-23T11:25:32.126" v="33"/>
          <ac:grpSpMkLst>
            <pc:docMk/>
            <pc:sldMk cId="0" sldId="285"/>
            <ac:grpSpMk id="47" creationId="{3A0E1FD0-4AA0-BDBD-F5A5-2602D8828C4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31474-A415-43DF-AB5C-C66A24003E05}" type="datetimeFigureOut">
              <a:t>16.03.2026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C69CC-8DC9-46E3-94A0-4C64A03FF0D0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334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0"/>
            <a:ext cx="3977640" cy="5143500"/>
          </a:xfrm>
          <a:prstGeom prst="rect">
            <a:avLst/>
          </a:prstGeom>
          <a:solidFill>
            <a:srgbClr val="131E2F"/>
          </a:solidFill>
          <a:ln/>
        </p:spPr>
      </p:sp>
      <p:sp>
        <p:nvSpPr>
          <p:cNvPr id="4" name="Shape 2"/>
          <p:cNvSpPr/>
          <p:nvPr/>
        </p:nvSpPr>
        <p:spPr>
          <a:xfrm>
            <a:off x="5148072" y="0"/>
            <a:ext cx="45720" cy="514350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658368"/>
            <a:ext cx="440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 smtClean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</a:t>
            </a:r>
            <a:r>
              <a:rPr lang="pl-PL" sz="1100" b="1" kern="0" spc="500" dirty="0" smtClean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Programowanie</a:t>
            </a:r>
            <a:endParaRPr lang="en-US" sz="3400" dirty="0"/>
          </a:p>
          <a:p>
            <a:pPr marL="0" indent="0">
              <a:buNone/>
            </a:pPr>
            <a:r>
              <a:rPr lang="pl-PL" sz="3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3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utonomicznych</a:t>
            </a:r>
            <a:endParaRPr lang="en-US" sz="3400" dirty="0"/>
          </a:p>
          <a:p>
            <a:r>
              <a:rPr lang="pl-PL" sz="3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3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obotów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1188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186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Robotyka i Systemy Autonomiczne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50" dirty="0" smtClean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SLAM · Python/C++ · Gazebo · Nav2 · MoveIt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76672" y="777240"/>
            <a:ext cx="45720" cy="40233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2" name="Text 10"/>
          <p:cNvSpPr/>
          <p:nvPr/>
        </p:nvSpPr>
        <p:spPr>
          <a:xfrm>
            <a:off x="5541264" y="777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systemów i ROS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76672" y="1527048"/>
            <a:ext cx="45720" cy="40233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5541264" y="15270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 — LiDAR, kamera, SLAM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76672" y="2276856"/>
            <a:ext cx="45720" cy="40233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541264" y="22768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ścieżki i nawigacja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76672" y="3026664"/>
            <a:ext cx="45720" cy="40233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5541264" y="30266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Sterowanie — PID, BT, RL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76672" y="3776472"/>
            <a:ext cx="45720" cy="40233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0" name="Text 18"/>
          <p:cNvSpPr/>
          <p:nvPr/>
        </p:nvSpPr>
        <p:spPr>
          <a:xfrm>
            <a:off x="5541264" y="37764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standardy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80C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Katedra Informatyki — Programowanie Autonomicznych Robotów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Wykładu — 30 Slajdów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804672"/>
            <a:ext cx="54864" cy="47548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8412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4–5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10241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Kinematyka — DH, forward/inverse kinematics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135331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353312"/>
            <a:ext cx="54864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13898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8–9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5464" y="15727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robotów — LiDAR, stereo, IMU, enkodery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27448" y="190195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1901952"/>
            <a:ext cx="54864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12–13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55464" y="212140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— Simultaneous Localization and Mapping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27448" y="245059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2450592"/>
            <a:ext cx="54864" cy="47548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7" name="Text 35"/>
          <p:cNvSpPr/>
          <p:nvPr/>
        </p:nvSpPr>
        <p:spPr>
          <a:xfrm>
            <a:off x="4855464" y="24871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16–17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55464" y="26700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Sterowanie — PID, maszyny stanów, Behavior Trees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27448" y="299923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2999232"/>
            <a:ext cx="54864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20–21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55464" y="32186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ze wzmocnieniem — PPO, SAC, Sim2Real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27448" y="354787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27448" y="3547872"/>
            <a:ext cx="54864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4855464" y="35844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24–25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55464" y="37673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— Gazebo, Webots, NVIDIA Isaac Sim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27448" y="409651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27448" y="4096512"/>
            <a:ext cx="54864" cy="47548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61" name="Text 59"/>
          <p:cNvSpPr/>
          <p:nvPr/>
        </p:nvSpPr>
        <p:spPr>
          <a:xfrm>
            <a:off x="4855464" y="4133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28–29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55464" y="43159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 przypadku — robot dostawczy i AV</a:t>
            </a:r>
            <a:endParaRPr lang="en-US" sz="1100" dirty="0"/>
          </a:p>
        </p:txBody>
      </p:sp>
      <p:grpSp>
        <p:nvGrpSpPr>
          <p:cNvPr id="67" name="Grupa 66"/>
          <p:cNvGrpSpPr/>
          <p:nvPr/>
        </p:nvGrpSpPr>
        <p:grpSpPr>
          <a:xfrm>
            <a:off x="320040" y="804672"/>
            <a:ext cx="4251960" cy="4041648"/>
            <a:chOff x="320040" y="804672"/>
            <a:chExt cx="4251960" cy="4315968"/>
          </a:xfrm>
        </p:grpSpPr>
        <p:sp>
          <p:nvSpPr>
            <p:cNvPr id="7" name="Shape 5"/>
            <p:cNvSpPr/>
            <p:nvPr/>
          </p:nvSpPr>
          <p:spPr>
            <a:xfrm>
              <a:off x="320040" y="80467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320040" y="804672"/>
              <a:ext cx="54864" cy="47548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48056" y="84124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A6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1–3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48056" y="102412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Wprowadzenie — autonomia, architektury i ekosystem ROS 2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0040" y="135331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20040" y="1353312"/>
              <a:ext cx="54864" cy="475488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48056" y="138988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A8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6–7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48056" y="157276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 2 — węzły, topiki, serwisy, akcje (Python/C++)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20040" y="190195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20040" y="1901952"/>
              <a:ext cx="54864" cy="475488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48056" y="193852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D7F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10–11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48056" y="212140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Percepcja 3D — chmury punktów, PCL, YOLO dla robotów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20040" y="245059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320040" y="2450592"/>
              <a:ext cx="54864" cy="47548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448056" y="248716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A6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14–15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48056" y="267004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Planowanie ścieżki — A*, RRT*, Dijkstra, Nav2</a:t>
              </a:r>
              <a:endParaRPr lang="en-US" sz="11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20040" y="299923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320040" y="2999232"/>
              <a:ext cx="54864" cy="475488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41" name="Text 39"/>
            <p:cNvSpPr/>
            <p:nvPr/>
          </p:nvSpPr>
          <p:spPr>
            <a:xfrm>
              <a:off x="448056" y="303580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A8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18–19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48056" y="321868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MoveIt 2 — manipulatory, trajektorie, IK</a:t>
              </a:r>
              <a:endParaRPr lang="en-US" sz="11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320040" y="354787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320040" y="3547872"/>
              <a:ext cx="54864" cy="475488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448056" y="358444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D7F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22–23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448056" y="376732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Systemy wbudowane — STM32, RTOS, komunikacja CAN/I²C</a:t>
              </a:r>
              <a:endParaRPr lang="en-US" sz="11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320040" y="409651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56" name="Shape 54"/>
            <p:cNvSpPr/>
            <p:nvPr/>
          </p:nvSpPr>
          <p:spPr>
            <a:xfrm>
              <a:off x="320040" y="4096512"/>
              <a:ext cx="54864" cy="47548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448056" y="413308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A6D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26–27</a:t>
              </a:r>
              <a:endParaRPr lang="en-US" sz="9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448056" y="431596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Bezpieczeństwo i standardy — ISO 10218, ISO 26262</a:t>
              </a:r>
              <a:endParaRPr lang="en-US" sz="11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20040" y="4645152"/>
              <a:ext cx="425196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64" name="Shape 62"/>
            <p:cNvSpPr/>
            <p:nvPr/>
          </p:nvSpPr>
          <p:spPr>
            <a:xfrm>
              <a:off x="320040" y="4645152"/>
              <a:ext cx="54864" cy="475488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448056" y="4681728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A8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Sl. 30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448056" y="4864608"/>
              <a:ext cx="404164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Trendy — Embodied AI, Foundation Models, ROS 3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utonomiczny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efinicja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oziomy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utonomii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87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robot is any automatically operated machine that replaces human effort, though it may not resemble human beings in appearance or perform functions in a humanlike manner." — IEEE Standard 610.3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219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Trzy filary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autonomicznego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robota</a:t>
            </a:r>
            <a:endParaRPr lang="en-US" sz="1200" dirty="0"/>
          </a:p>
        </p:txBody>
      </p:sp>
      <p:grpSp>
        <p:nvGrpSpPr>
          <p:cNvPr id="52" name="Grupa 51"/>
          <p:cNvGrpSpPr/>
          <p:nvPr/>
        </p:nvGrpSpPr>
        <p:grpSpPr>
          <a:xfrm>
            <a:off x="184150" y="1796288"/>
            <a:ext cx="4380119" cy="2212848"/>
            <a:chOff x="320040" y="1796288"/>
            <a:chExt cx="4160520" cy="2212848"/>
          </a:xfrm>
        </p:grpSpPr>
        <p:sp>
          <p:nvSpPr>
            <p:cNvPr id="9" name="Shape 7"/>
            <p:cNvSpPr/>
            <p:nvPr/>
          </p:nvSpPr>
          <p:spPr>
            <a:xfrm>
              <a:off x="320040" y="1796288"/>
              <a:ext cx="416052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0040" y="1796288"/>
              <a:ext cx="54864" cy="71323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48056" y="1825752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Percepcja (Sensing)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48056" y="2090928"/>
              <a:ext cx="3977640" cy="354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Zbieranie danych o świecie: LiDAR, kamera, IMU, enkodery, dotyk. Kluczowe: jakość danych i kalibracja sensorów. Garbage in → garbage out.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2546096"/>
              <a:ext cx="416052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20040" y="2546096"/>
              <a:ext cx="54864" cy="71323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48056" y="2562860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Przetwarzanie (Processing)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8056" y="2828036"/>
              <a:ext cx="3977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Interpretacja sensorów → model świata → decyzja. Pipeline: percepcja → lokalizacja → planowanie → sterowanie. Często w czasie rzeczywistym.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3295904"/>
              <a:ext cx="416052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20040" y="3295904"/>
              <a:ext cx="54864" cy="71323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48056" y="3350768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Działanie (Actuation)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48056" y="3615944"/>
              <a:ext cx="3977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Silniki, serwomechanizmy, napędy, chwytaki. Pętla zwrotna: encoder → PID → PWM → silnik → enkoder. Dokładność ≈ pędnia napędowa.</a:t>
              </a:r>
              <a:endParaRPr lang="en-US" sz="105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4801870" y="1406051"/>
            <a:ext cx="4081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Poziomy autonomii (SAE J3016 + robotics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grpSp>
        <p:nvGrpSpPr>
          <p:cNvPr id="53" name="Grupa 52"/>
          <p:cNvGrpSpPr/>
          <p:nvPr/>
        </p:nvGrpSpPr>
        <p:grpSpPr>
          <a:xfrm>
            <a:off x="4847590" y="1675384"/>
            <a:ext cx="4036060" cy="3167888"/>
            <a:chOff x="4663440" y="1389888"/>
            <a:chExt cx="4206240" cy="3456432"/>
          </a:xfrm>
        </p:grpSpPr>
        <p:sp>
          <p:nvSpPr>
            <p:cNvPr id="22" name="Shape 20"/>
            <p:cNvSpPr/>
            <p:nvPr/>
          </p:nvSpPr>
          <p:spPr>
            <a:xfrm>
              <a:off x="4663440" y="1389888"/>
              <a:ext cx="420624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4663440" y="1389888"/>
              <a:ext cx="475488" cy="530352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663440" y="1435608"/>
              <a:ext cx="47548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L0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212080" y="1426464"/>
              <a:ext cx="3566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Brak autonomii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212080" y="164592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Człowiek wykonuje wszystko. Teleoperacja. Pilot drona z joystickiem.</a:t>
              </a:r>
              <a:endParaRPr lang="en-US" sz="10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663440" y="1975104"/>
              <a:ext cx="420624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4663440" y="1975104"/>
              <a:ext cx="475488" cy="530352"/>
            </a:xfrm>
            <a:prstGeom prst="rect">
              <a:avLst/>
            </a:prstGeom>
            <a:solidFill>
              <a:srgbClr val="B45309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663440" y="2020824"/>
              <a:ext cx="47548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L1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212080" y="2011680"/>
              <a:ext cx="3566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Wspomaganie</a:t>
              </a:r>
              <a:endParaRPr lang="en-US" sz="11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212080" y="2231136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 asystuje w jednym wymiarze. Serwonapęd stabilizujący kamerę.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663440" y="2560320"/>
              <a:ext cx="420624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4663440" y="2560320"/>
              <a:ext cx="475488" cy="53035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4663440" y="2606040"/>
              <a:ext cx="47548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L2</a:t>
              </a:r>
              <a:endParaRPr lang="en-US" sz="1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212080" y="2596896"/>
              <a:ext cx="3566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Częściowa</a:t>
              </a:r>
              <a:endParaRPr lang="en-US" sz="11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212080" y="2816352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 kontroluje kilka osi, człowiek nadzoruje. Cobot assist.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663440" y="3145536"/>
              <a:ext cx="420624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4663440" y="3145536"/>
              <a:ext cx="475488" cy="53035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663440" y="3191256"/>
              <a:ext cx="47548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L3</a:t>
              </a:r>
              <a:endParaRPr lang="en-US" sz="1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212080" y="3182112"/>
              <a:ext cx="3566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Warunkowa</a:t>
              </a:r>
              <a:endParaRPr lang="en-US" sz="11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5212080" y="3401568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 autonomiczny w określonych warunkach. Warehouse AMR.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663440" y="3730752"/>
              <a:ext cx="420624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4663440" y="3730752"/>
              <a:ext cx="475488" cy="53035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663440" y="3776472"/>
              <a:ext cx="47548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L4</a:t>
              </a:r>
              <a:endParaRPr lang="en-US" sz="12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212080" y="3767328"/>
              <a:ext cx="3566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Wysoka</a:t>
              </a:r>
              <a:endParaRPr lang="en-US" sz="11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212080" y="3986784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Pełna autonomia w zdefiniowanym obszarze ODD. Delivery robot.</a:t>
              </a:r>
              <a:endParaRPr lang="en-US" sz="10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663440" y="4315968"/>
              <a:ext cx="420624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8" name="Shape 46"/>
            <p:cNvSpPr/>
            <p:nvPr/>
          </p:nvSpPr>
          <p:spPr>
            <a:xfrm>
              <a:off x="4663440" y="4315968"/>
              <a:ext cx="475488" cy="530352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4663440" y="4361688"/>
              <a:ext cx="47548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L5</a:t>
              </a:r>
              <a:endParaRPr lang="en-US" sz="12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212080" y="4352544"/>
              <a:ext cx="3566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Pełna autonomia</a:t>
              </a:r>
              <a:endParaRPr lang="en-US" sz="11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212080" y="457200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Dowolne warunki, dowolne środowisko. Naukowy cel—nie osiągnięty.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Kinematyka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obotów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Denavit-Hartenberg i Transformacje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18304" y="749808"/>
            <a:ext cx="4105656" cy="92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Kinematyka opisuje ruch robota geometrycznie, bez rozważania sił. Parametry DH to standard opisu łańcucha kinematycznego.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688086"/>
            <a:ext cx="41605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Macierze transformacji i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notacja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897941"/>
            <a:ext cx="4160520" cy="25767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94869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010411"/>
            <a:ext cx="3995928" cy="243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Parametry DH: a, d, alpha, theta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     = długość członu (X-axis)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      = przesunięcie (Z-axis)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alpha  = skręt osi Z (X-axis)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theta  = kąt obrotu (Z-axis)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dh_matrix(a, d, alpha, theta):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ct, st = np.cos(theta), np.sin(theta)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ca, sa = np.cos(alpha), np.sin(alpha)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np.array([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[ct, -st*ca,  st*sa, a*ct],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[st,  ct*ca, -ct*sa, a*st],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[ 0,     sa,     ca,    d],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[ 0,      0,      0,    1]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kinematics: T_0_n = T01 @ T12 @ ... @ T(n-1)n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forward_kinematics(dh_params, q):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np.eye(4)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i,(a,d,alpha) in enumerate(dh_params):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T @ dh_matrix(a, d, alpha, q[i])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  # pozycja i orientacja end-effector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51129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11296"/>
            <a:ext cx="54864" cy="603504"/>
          </a:xfrm>
          <a:prstGeom prst="rect">
            <a:avLst/>
          </a:prstGeom>
          <a:solidFill>
            <a:srgbClr val="1A6DB5"/>
          </a:solidFill>
          <a:ln/>
        </p:spPr>
      </p:sp>
      <p:grpSp>
        <p:nvGrpSpPr>
          <p:cNvPr id="39" name="Grupa 38"/>
          <p:cNvGrpSpPr/>
          <p:nvPr/>
        </p:nvGrpSpPr>
        <p:grpSpPr>
          <a:xfrm>
            <a:off x="320040" y="3528068"/>
            <a:ext cx="4160520" cy="989076"/>
            <a:chOff x="320040" y="3518537"/>
            <a:chExt cx="4160520" cy="1236343"/>
          </a:xfrm>
        </p:grpSpPr>
        <p:sp>
          <p:nvSpPr>
            <p:cNvPr id="14" name="Text 12"/>
            <p:cNvSpPr/>
            <p:nvPr/>
          </p:nvSpPr>
          <p:spPr>
            <a:xfrm>
              <a:off x="448056" y="3518537"/>
              <a:ext cx="3977640" cy="23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Przestrzeń stawów vs. przestrzeń kartezjańska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48056" y="3783712"/>
              <a:ext cx="39776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 ∈ ℝⁿ (kąty/przemieszczenia stawów) ↔ x ∈ SE(3) (poza+orientacja). FK: q→x prosta. IK: x→q wieloznaczna lub niemożliwa.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4151376"/>
              <a:ext cx="4160520" cy="60350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4151376"/>
              <a:ext cx="54864" cy="603504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4158616"/>
              <a:ext cx="397764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l-PL" sz="1150" b="1" dirty="0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Osobliwości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4431729"/>
              <a:ext cx="39776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Konfiguracje gdy Jacobian J traci rząd → robot traci DOF. Np. wyciągnięte ramię. Wykrywanie: det(J·Jᵀ) &lt; ε → alarm.</a:t>
              </a:r>
              <a:endParaRPr lang="en-US" sz="10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4663440" y="175925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metody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kinematyk</a:t>
            </a:r>
            <a:r>
              <a:rPr lang="pl-PL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</a:t>
            </a:r>
            <a:r>
              <a:rPr lang="pl-PL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dwrotn</a:t>
            </a:r>
            <a:r>
              <a:rPr lang="pl-PL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</a:t>
            </a:r>
            <a:r>
              <a:rPr lang="en-US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(IK</a:t>
            </a:r>
            <a:r>
              <a:rPr lang="en-US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00" dirty="0"/>
          </a:p>
        </p:txBody>
      </p:sp>
      <p:grpSp>
        <p:nvGrpSpPr>
          <p:cNvPr id="42" name="Grupa 41"/>
          <p:cNvGrpSpPr/>
          <p:nvPr/>
        </p:nvGrpSpPr>
        <p:grpSpPr>
          <a:xfrm>
            <a:off x="4663440" y="2062530"/>
            <a:ext cx="4206240" cy="573024"/>
            <a:chOff x="4663440" y="1929180"/>
            <a:chExt cx="4206240" cy="573024"/>
          </a:xfrm>
        </p:grpSpPr>
        <p:sp>
          <p:nvSpPr>
            <p:cNvPr id="21" name="Shape 19"/>
            <p:cNvSpPr/>
            <p:nvPr/>
          </p:nvSpPr>
          <p:spPr>
            <a:xfrm>
              <a:off x="4663440" y="1929180"/>
              <a:ext cx="4206240" cy="573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663440" y="1929180"/>
              <a:ext cx="54864" cy="573024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791456" y="192918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Analityczna (closed-form)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91456" y="2202280"/>
              <a:ext cx="4023360" cy="235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Dokładna, deterministyczna. Możliwa tylko dla robotów ≤6-DOF z uproszczonymi geometriami (np. PUMA 560). Wzory algebraiczne.</a:t>
              </a:r>
              <a:endParaRPr lang="en-US" sz="1050" dirty="0"/>
            </a:p>
          </p:txBody>
        </p:sp>
      </p:grpSp>
      <p:grpSp>
        <p:nvGrpSpPr>
          <p:cNvPr id="41" name="Grupa 40"/>
          <p:cNvGrpSpPr/>
          <p:nvPr/>
        </p:nvGrpSpPr>
        <p:grpSpPr>
          <a:xfrm>
            <a:off x="4663440" y="2668066"/>
            <a:ext cx="4206240" cy="595377"/>
            <a:chOff x="4663440" y="2286000"/>
            <a:chExt cx="4206240" cy="595377"/>
          </a:xfrm>
        </p:grpSpPr>
        <p:sp>
          <p:nvSpPr>
            <p:cNvPr id="25" name="Shape 23"/>
            <p:cNvSpPr/>
            <p:nvPr/>
          </p:nvSpPr>
          <p:spPr>
            <a:xfrm>
              <a:off x="4663440" y="2315261"/>
              <a:ext cx="4206240" cy="5661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663440" y="2315261"/>
              <a:ext cx="54864" cy="56611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791456" y="22860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Jacobian Inverse / DLS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82312" y="2482699"/>
              <a:ext cx="4023360" cy="353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J⁺ = Jᵀ(JJᵀ)⁻¹. Numeryczna iteracja Δq = J⁺·Δx. DLS (Damped Least Squares) — odporny na singularności.</a:t>
              </a:r>
              <a:endParaRPr lang="en-US" sz="1050" dirty="0"/>
            </a:p>
          </p:txBody>
        </p:sp>
      </p:grpSp>
      <p:grpSp>
        <p:nvGrpSpPr>
          <p:cNvPr id="43" name="Grupa 42"/>
          <p:cNvGrpSpPr/>
          <p:nvPr/>
        </p:nvGrpSpPr>
        <p:grpSpPr>
          <a:xfrm>
            <a:off x="4663440" y="3310636"/>
            <a:ext cx="4206240" cy="575818"/>
            <a:chOff x="4663440" y="3310636"/>
            <a:chExt cx="4206240" cy="575818"/>
          </a:xfrm>
        </p:grpSpPr>
        <p:sp>
          <p:nvSpPr>
            <p:cNvPr id="29" name="Shape 27"/>
            <p:cNvSpPr/>
            <p:nvPr/>
          </p:nvSpPr>
          <p:spPr>
            <a:xfrm>
              <a:off x="4663440" y="3310636"/>
              <a:ext cx="4206240" cy="56001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663440" y="3310636"/>
              <a:ext cx="54864" cy="560019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91456" y="332105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FABRIK</a:t>
              </a:r>
              <a:endParaRPr lang="en-US" sz="11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791456" y="3465830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Forward And Backward Reaching Inverse Kinematics. Iteracyjny, szybki, naturalnie unika singularności. Standard w animacji i cobotach.</a:t>
              </a:r>
              <a:endParaRPr lang="en-US" sz="1050" dirty="0"/>
            </a:p>
          </p:txBody>
        </p:sp>
      </p:grpSp>
      <p:grpSp>
        <p:nvGrpSpPr>
          <p:cNvPr id="40" name="Grupa 39"/>
          <p:cNvGrpSpPr/>
          <p:nvPr/>
        </p:nvGrpSpPr>
        <p:grpSpPr>
          <a:xfrm>
            <a:off x="4663440" y="3933596"/>
            <a:ext cx="4206240" cy="577901"/>
            <a:chOff x="4663440" y="4133088"/>
            <a:chExt cx="4206240" cy="577901"/>
          </a:xfrm>
        </p:grpSpPr>
        <p:sp>
          <p:nvSpPr>
            <p:cNvPr id="33" name="Shape 31"/>
            <p:cNvSpPr/>
            <p:nvPr/>
          </p:nvSpPr>
          <p:spPr>
            <a:xfrm>
              <a:off x="4663440" y="4133088"/>
              <a:ext cx="4206240" cy="57790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4133088"/>
              <a:ext cx="54864" cy="577901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91456" y="4137760"/>
              <a:ext cx="4023360" cy="2147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Optymalizacyjna (NLP)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818888" y="4331614"/>
              <a:ext cx="4023360" cy="3480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IK jako minimalizacja ||FK(q)-x_des||². Dodatkowe więzy: joint limits, kolizje, min torque. Używana w MoveIt 2 (TRAC-IK, KDL).</a:t>
              </a:r>
              <a:endParaRPr lang="en-US" sz="1050" dirty="0"/>
            </a:p>
          </p:txBody>
        </p:sp>
      </p:grpSp>
      <p:sp>
        <p:nvSpPr>
          <p:cNvPr id="37" name="Shape 35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IK analityczna jest szybsza 100× od numerycznej, ale MoveIt 2 domyślnie używa KDL (numerycznej). Dla cobotów real-time → TRAC-IK lub analityczna dedykowana.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Kinematyka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obotów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obilnych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odel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dometria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718304" y="749807"/>
            <a:ext cx="4105656" cy="832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 mobilne różnią się od </a:t>
            </a: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manipulatorów</a:t>
            </a:r>
            <a:r>
              <a:rPr lang="pl-PL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Nie mają </a:t>
            </a: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sztywnego</a:t>
            </a: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połączenia z bazą. Model kinematyczny + odometria = podstawa nawigacji.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" y="710159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Napęd różnicowy (differential drive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975335"/>
            <a:ext cx="4160520" cy="277751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000227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053542"/>
            <a:ext cx="3995928" cy="2622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# Kinematyka napędu różnicowego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# v_L, v_R — prędkości lewego/prawego koła [m/s]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# L = rozstaw kół, R = promień koła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class DiffDriveKinematics: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def __init__(self, wheel_radius, wheel_base):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self.R = wheel_radius   # promień koła [m]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self.L = wheel_base     # rozstaw kół [m]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def forward(self, w_L, w_R):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"""omega [rad/s] → (v, omega_robot)"""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v_L = w_L * self.R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v_R = w_R * self.R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v   = (v_R + v_L) / 2.0       # prędkość liniowa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w   = (v_R - v_L) / self.L    # prędkość kątowa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return v, w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def odometry(self, x, y, theta, v, w, dt):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"""Całkowanie pozy po czasie dt"""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theta_new = theta + w * dt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x_new = x + v * np.cos(theta) * dt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y_new = y + v * np.sin(theta) * dt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return x_new, y_new, theta_new</a:t>
            </a:r>
            <a:endParaRPr lang="en-US" sz="850" dirty="0">
              <a:latin typeface="Consolas" panose="020B0609020204030204" pitchFamily="49" charset="0"/>
            </a:endParaRPr>
          </a:p>
        </p:txBody>
      </p:sp>
      <p:grpSp>
        <p:nvGrpSpPr>
          <p:cNvPr id="43" name="Grupa 42"/>
          <p:cNvGrpSpPr/>
          <p:nvPr/>
        </p:nvGrpSpPr>
        <p:grpSpPr>
          <a:xfrm>
            <a:off x="320040" y="3792982"/>
            <a:ext cx="4160520" cy="558246"/>
            <a:chOff x="320040" y="3697732"/>
            <a:chExt cx="4160520" cy="558246"/>
          </a:xfrm>
        </p:grpSpPr>
        <p:sp>
          <p:nvSpPr>
            <p:cNvPr id="12" name="Shape 10"/>
            <p:cNvSpPr/>
            <p:nvPr/>
          </p:nvSpPr>
          <p:spPr>
            <a:xfrm>
              <a:off x="320040" y="3719068"/>
              <a:ext cx="4160520" cy="5369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0040" y="3719068"/>
              <a:ext cx="54864" cy="536910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48056" y="3697732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Błędy odometrii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48056" y="3962908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Poślizg kół, nierówności terenu, niedokładność enkoderów. Błąd akumuluje się O(√n). Korekcja: fuzja z LiDAR/IMU (EKF) lub korekcja pęta.</a:t>
              </a:r>
              <a:endParaRPr lang="en-US" sz="1000" dirty="0"/>
            </a:p>
          </p:txBody>
        </p:sp>
      </p:grpSp>
      <p:grpSp>
        <p:nvGrpSpPr>
          <p:cNvPr id="44" name="Grupa 43"/>
          <p:cNvGrpSpPr/>
          <p:nvPr/>
        </p:nvGrpSpPr>
        <p:grpSpPr>
          <a:xfrm>
            <a:off x="320040" y="4376674"/>
            <a:ext cx="4160520" cy="519455"/>
            <a:chOff x="320040" y="4281424"/>
            <a:chExt cx="4160520" cy="519455"/>
          </a:xfrm>
        </p:grpSpPr>
        <p:sp>
          <p:nvSpPr>
            <p:cNvPr id="16" name="Shape 14"/>
            <p:cNvSpPr/>
            <p:nvPr/>
          </p:nvSpPr>
          <p:spPr>
            <a:xfrm>
              <a:off x="320040" y="4296410"/>
              <a:ext cx="4160520" cy="50446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4296410"/>
              <a:ext cx="54864" cy="504469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4281424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Holonomiczne vs. nieholonomiczne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4513301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Różnicowe i Ackermann: nieholonomiczne — nie mogą jechać bokiem. Mecanum/omnidirectional: holonomiczne — pełna swoboda w płaszczyźnie.</a:t>
              </a:r>
              <a:endParaRPr lang="en-US" sz="1000" dirty="0"/>
            </a:p>
          </p:txBody>
        </p:sp>
      </p:grpSp>
      <p:grpSp>
        <p:nvGrpSpPr>
          <p:cNvPr id="42" name="Grupa 41"/>
          <p:cNvGrpSpPr/>
          <p:nvPr/>
        </p:nvGrpSpPr>
        <p:grpSpPr>
          <a:xfrm>
            <a:off x="4663440" y="1683056"/>
            <a:ext cx="4206240" cy="3200093"/>
            <a:chOff x="4663440" y="1042416"/>
            <a:chExt cx="4206240" cy="3950208"/>
          </a:xfrm>
        </p:grpSpPr>
        <p:sp>
          <p:nvSpPr>
            <p:cNvPr id="20" name="Text 18"/>
            <p:cNvSpPr/>
            <p:nvPr/>
          </p:nvSpPr>
          <p:spPr>
            <a:xfrm>
              <a:off x="4663440" y="1042416"/>
              <a:ext cx="4206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Typy </a:t>
              </a:r>
              <a:r>
                <a:rPr lang="en-US" sz="1200" b="1" dirty="0" err="1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kinematyk</a:t>
              </a: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200" b="1" dirty="0" err="1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mobilnych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663440" y="1316736"/>
              <a:ext cx="420624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663440" y="1316736"/>
              <a:ext cx="54864" cy="67665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791456" y="13716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Differential Drive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91456" y="1636776"/>
              <a:ext cx="4023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napędowe koła + 1–2 castery. Proste sterowanie, tanie. Turtlebot, Roomba. R₁≡prosto, R₂≡obrót w miejscu.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663440" y="2066544"/>
              <a:ext cx="420624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663440" y="2066544"/>
              <a:ext cx="54864" cy="67665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791456" y="2121408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Ackermann (auto)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91456" y="2386584"/>
              <a:ext cx="4023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Przednie koła skrętne (jak auto). Minimalny promień skrętu. Lidar-based AGV, samochody autonomiczne.</a:t>
              </a:r>
              <a:endParaRPr lang="en-US" sz="10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63440" y="2816352"/>
              <a:ext cx="420624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663440" y="2816352"/>
              <a:ext cx="54864" cy="67665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91456" y="2871216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Mecanum / Omni</a:t>
              </a:r>
              <a:endParaRPr lang="en-US" sz="11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791456" y="3136392"/>
              <a:ext cx="4023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Rolkowe koła 45°. Pełny ruch w płaszczyźnie XY + obrót. Wysokie koszty, wrażliwe na podłoże. Magazyny KUKA.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663440" y="3566160"/>
              <a:ext cx="420624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3566160"/>
              <a:ext cx="54864" cy="67665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91456" y="3621024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Tracked (gąsienice)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791456" y="3886200"/>
              <a:ext cx="4023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Wysokie tarcie i stabilność. Terenowe. Brak poślizgu. Stosowany w robotach ratowniczych i militarnych.</a:t>
              </a:r>
              <a:endParaRPr lang="en-US" sz="10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663440" y="4315968"/>
              <a:ext cx="420624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4663440" y="4315968"/>
              <a:ext cx="54864" cy="676656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791456" y="4370832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Legged (nóżkowy)</a:t>
              </a:r>
              <a:endParaRPr lang="en-US" sz="11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791456" y="4636008"/>
              <a:ext cx="4023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Spot (Boston Dynamics): 4 nogi, MPC+RL. Niezwykła lokomocja. Trudne sterowanie — aktywny obszar badań.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Operating System 2, Architektura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600" y="773878"/>
            <a:ext cx="7086600" cy="525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to middleware </a:t>
            </a:r>
            <a:r>
              <a:rPr lang="en-US" sz="1400" dirty="0" err="1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robotów</a:t>
            </a:r>
            <a:r>
              <a:rPr lang="pl-PL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operacyjny, lecz zbiór narzędzi, bibliotek i konwencji opartych o DDS (Data Distribution Service).</a:t>
            </a:r>
            <a:endParaRPr lang="en-US" sz="1400" dirty="0"/>
          </a:p>
        </p:txBody>
      </p:sp>
      <p:grpSp>
        <p:nvGrpSpPr>
          <p:cNvPr id="39" name="Grupa 38"/>
          <p:cNvGrpSpPr/>
          <p:nvPr/>
        </p:nvGrpSpPr>
        <p:grpSpPr>
          <a:xfrm>
            <a:off x="320040" y="1466850"/>
            <a:ext cx="8503920" cy="2849118"/>
            <a:chOff x="320040" y="1115568"/>
            <a:chExt cx="8503920" cy="3200400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850392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64008" cy="56692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320040" y="1115568"/>
              <a:ext cx="8503920" cy="3657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66344" y="1207008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Aplikacja (węzły)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628900" y="1272114"/>
              <a:ext cx="6103620" cy="337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6DB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rclpy / rclcpp · lifecycle nodes · composable nodes · executor · callback groups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389120" y="1653964"/>
              <a:ext cx="3657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0040" y="1773936"/>
              <a:ext cx="850392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320040" y="1773936"/>
              <a:ext cx="64008" cy="566928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320040" y="1773936"/>
              <a:ext cx="8503920" cy="3657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466344" y="1865376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Middleware kliencka (rmw)</a:t>
              </a:r>
              <a:endParaRPr lang="en-US" sz="11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628900" y="1930481"/>
              <a:ext cx="6103620" cy="337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A6C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rmw_fastrtps_cpp · rmw_cyclonedds · rmw_connextdds — wymienne przez env var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389120" y="2312332"/>
              <a:ext cx="3657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20040" y="2432304"/>
              <a:ext cx="850392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20040" y="2432304"/>
              <a:ext cx="64008" cy="566928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320040" y="2432304"/>
              <a:ext cx="8503920" cy="3657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66344" y="252374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DDS / RTPS Transport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628900" y="2588849"/>
              <a:ext cx="6103620" cy="337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8A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Fast-DDS (domyślny) · CycloneDDS · RTI Connext · QoS: reliability/durability/history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389120" y="2970700"/>
              <a:ext cx="3657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20040" y="3090672"/>
              <a:ext cx="850392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320040" y="3090672"/>
              <a:ext cx="64008" cy="566928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8" name="Shape 26"/>
            <p:cNvSpPr/>
            <p:nvPr/>
          </p:nvSpPr>
          <p:spPr>
            <a:xfrm>
              <a:off x="320040" y="3090672"/>
              <a:ext cx="8503920" cy="3657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466344" y="3182112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Sieć / OS Layer</a:t>
              </a:r>
              <a:endParaRPr lang="en-US" sz="11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628900" y="3247218"/>
              <a:ext cx="6103620" cy="337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D28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UDP multicast (local) / TCP unicast (remote) · Linux / macOS / Windows · POSIX realtime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389120" y="3629069"/>
              <a:ext cx="36576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20040" y="3749040"/>
              <a:ext cx="850392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320040" y="3749040"/>
              <a:ext cx="64008" cy="566928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4" name="Shape 32"/>
            <p:cNvSpPr/>
            <p:nvPr/>
          </p:nvSpPr>
          <p:spPr>
            <a:xfrm>
              <a:off x="320040" y="3749040"/>
              <a:ext cx="8503920" cy="36576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66344" y="384048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Narzędzia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628900" y="3905586"/>
              <a:ext cx="6103620" cy="337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D7F8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colcon build · ros2 topic/service/action · rviz2 · rqt · ros2bag · foxglove studio</a:t>
              </a:r>
              <a:endParaRPr lang="en-US" sz="1000" dirty="0"/>
            </a:p>
          </p:txBody>
        </p:sp>
      </p:grpSp>
      <p:sp>
        <p:nvSpPr>
          <p:cNvPr id="37" name="Shape 35"/>
          <p:cNvSpPr/>
          <p:nvPr/>
        </p:nvSpPr>
        <p:spPr>
          <a:xfrm>
            <a:off x="320040" y="4507992"/>
            <a:ext cx="8503920" cy="420624"/>
          </a:xfrm>
          <a:prstGeom prst="rect">
            <a:avLst/>
          </a:prstGeom>
          <a:solidFill>
            <a:srgbClr val="E8F4FD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ROS 2 vs ROS 1: brak Master node (discovery rozproszone przez DDS) · QoS reliability · nowe typy: Actions (preemptable) · native Windows/Mac · lifecycle nodes · Executors (multi-thread) · security (SROS 2).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Publisher, Subscriber, Serwis i Akcja (Python/C++)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Komunikacja w ROS 2: Topic (pub/sub, 1:N) · Service (req/resp, synchroniczny) · Action (długie zadanie z feedbackiem, cancelable).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 &amp; Subscriber (Python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5"/>
            <a:ext cx="4160520" cy="282730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373886"/>
            <a:ext cx="3995928" cy="270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rclpy.node import Node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std_msgs.msg import Float32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geometry_msgs.msg import Twist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VelocityPublisher(Node):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super().__init__("vel_pub")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self.pub = self.create_publisher(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Twist, "/cmd_vel", 10)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QoS depth=10 (ostatnie 10 wiadomości)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self.timer = self.create_timer(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0.1, self.publish_vel)  # 10 Hz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publish_vel(self):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Twist()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msg.linear.x  = 0.3  # [m/s]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msg.angular.z = 0.1  # [rad/s]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self.pub.publish(msg)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self.get_logger().info(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f"v={msg.linear.x:.2f}")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rclpy.init()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rclpy.spin(VelocityPublisher())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rclpy.shutdown()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Server (nawigacja do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16735"/>
            <a:ext cx="4206240" cy="282730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373886"/>
            <a:ext cx="4041648" cy="270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nav2_msgs.action import NavigateToPose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rclpy.action import ActionClient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rclpy.node import Node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NavClient(Node):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super().__init__("nav_client")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self._client = ActionClient(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self, NavigateToPose,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"navigate_to_pose")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send_goal(self, x, y, yaw=0.0):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 = NavigateToPose.Goal()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goal.pose.header.frame_id = "map"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goal.pose.pose.position.x = x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goal.pose.pose.position.y = y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self._client.wait_for_server()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future = self._client.send_goal_async(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goal,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feedback_callback=self.feedback_cb)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future.add_done_callback(self.goal_response)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feedback_cb(self, feedback):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 = feedback.feedback.distance_remaining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self.get_logger().info(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f"Dystans: {dist:.2f} m")</a:t>
            </a:r>
            <a:endParaRPr lang="en-US" sz="850" dirty="0"/>
          </a:p>
        </p:txBody>
      </p:sp>
      <p:grpSp>
        <p:nvGrpSpPr>
          <p:cNvPr id="26" name="Grupa 25"/>
          <p:cNvGrpSpPr/>
          <p:nvPr/>
        </p:nvGrpSpPr>
        <p:grpSpPr>
          <a:xfrm>
            <a:off x="328930" y="4185409"/>
            <a:ext cx="8549640" cy="423931"/>
            <a:chOff x="320040" y="3850643"/>
            <a:chExt cx="8549640" cy="501901"/>
          </a:xfrm>
        </p:grpSpPr>
        <p:sp>
          <p:nvSpPr>
            <p:cNvPr id="16" name="Shape 14"/>
            <p:cNvSpPr/>
            <p:nvPr/>
          </p:nvSpPr>
          <p:spPr>
            <a:xfrm>
              <a:off x="320040" y="3858768"/>
              <a:ext cx="4160520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3858768"/>
              <a:ext cx="54864" cy="49377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3865679"/>
              <a:ext cx="3977640" cy="1567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QoS Profile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4079494"/>
              <a:ext cx="3977640" cy="261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900"/>
                </a:lnSpc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RELIABLE+VOLATILE (domyślny) · BEST_EFFORT dla sensora · TRANSIENT_LOCAL+RELIABLE dla /map. Mismatch → brak połączenia.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663440" y="3858768"/>
              <a:ext cx="4206240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663440" y="3858768"/>
              <a:ext cx="54864" cy="49377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791456" y="3850643"/>
              <a:ext cx="4023360" cy="165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ros2 launch</a:t>
              </a:r>
              <a:endParaRPr lang="en-US" sz="11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91456" y="4070633"/>
              <a:ext cx="4023360" cy="217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900"/>
                </a:lnSpc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Startuj wiele węzłów: LaunchDescription + Node(). Grupy log, remapowania, parametry z YAML, composable containers.</a:t>
              </a:r>
              <a:endParaRPr lang="en-US" sz="105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20040" y="4675886"/>
            <a:ext cx="8503920" cy="261874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99508"/>
            <a:ext cx="8321040" cy="183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spc="-3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Używaj lifecycle nodes dla krytycznych węzłów — gwarantuje poprawną inicjalizację i cleanup. Nav2 używa lifecycle zarządzanego przez lifecycle_manager.</a:t>
            </a:r>
            <a:endParaRPr lang="en-US" sz="1000" spc="-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Sensory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obotów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LiDAR, Kamera, IMU i Enkodery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58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sensorów determinuje możliwości i koszty robota. Nie istnieje jeden sensor do wszystkiego — fuzja multimodalna jest konieczna.</a:t>
            </a:r>
            <a:endParaRPr lang="en-US" sz="1400" dirty="0"/>
          </a:p>
        </p:txBody>
      </p:sp>
      <p:grpSp>
        <p:nvGrpSpPr>
          <p:cNvPr id="32" name="Grupa 31"/>
          <p:cNvGrpSpPr/>
          <p:nvPr/>
        </p:nvGrpSpPr>
        <p:grpSpPr>
          <a:xfrm>
            <a:off x="320040" y="1492250"/>
            <a:ext cx="8659368" cy="3207766"/>
            <a:chOff x="320040" y="1115568"/>
            <a:chExt cx="8659368" cy="3584448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4251960" cy="11338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54864" cy="113385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48056" y="11704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LiDAR 3D (VLP-16/Ouster OS1)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8056" y="1435608"/>
              <a:ext cx="40690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Time-of-flight: laser 905/1550nm, pomiar czasu lotu. Zasięg 100m, dokładność ±2cm. 16–128 linii skanujących. Chmura 700k pkt/s. Slabe: deszcz, mgła, lustrzane powierzchnie.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27448" y="1115568"/>
              <a:ext cx="4251960" cy="11338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27448" y="1115568"/>
              <a:ext cx="54864" cy="113385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855464" y="11704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LiDAR 2D (RPLIDAR/Hokuyo)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55464" y="1435608"/>
              <a:ext cx="40690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Skanowanie 360° w jednej płaszczyźnie. Zasięg 12–25m, 0.33° rozdzielczość. Tani (RPLIDAR A3: 400$). Podstawa SLAM 2D — Turtlebot, AMR magazynowy.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2340864"/>
              <a:ext cx="4251960" cy="11338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2340864"/>
              <a:ext cx="54864" cy="113385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2395728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Kamera stereo (ZED 2/RealSense)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2660904"/>
              <a:ext cx="40690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Triangulacja: 2 kamery → mapa głębokości RGB-D. ZED 2: 20m depth, 120 FPS, SDK z VO. Intel D435: 10m, 90 FPS, VGA depth. IMU wbudowany.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27448" y="2340864"/>
              <a:ext cx="4251960" cy="11338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27448" y="2340864"/>
              <a:ext cx="54864" cy="113385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55464" y="2395728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IMU (VN-100, ICM-42688)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55464" y="2660904"/>
              <a:ext cx="40690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Accelerometr + żyroskop + (mag). 500–8000 Hz. Niezbędny dla EKF. VN-100: przemysłowy, EKF on-chip. Błąd integracji drift ~0.1°/s → potrzebna fuzja.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566160"/>
              <a:ext cx="4251960" cy="11338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" y="3566160"/>
              <a:ext cx="54864" cy="1133856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48056" y="3621024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Enkodery (absolutne/inkrementalne)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48056" y="3886200"/>
              <a:ext cx="40690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Inkrementalny: impulsy na obrót. Absolutny: unikalna pozycja bez referencji (Grey code). AMT102: 8192 CPR, 7$. Kluczowe dla odometrii i PID.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27448" y="3566160"/>
              <a:ext cx="4251960" cy="11338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727448" y="3566160"/>
              <a:ext cx="54864" cy="1133856"/>
            </a:xfrm>
            <a:prstGeom prst="rect">
              <a:avLst/>
            </a:prstGeom>
            <a:solidFill>
              <a:srgbClr val="B45309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855464" y="3621024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Inne: ToF, sonar, dotyk, GPS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55464" y="3886200"/>
              <a:ext cx="406908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HC-SR04 ultrasonic: 2–400cm, ±3mm. ToF (VL53L5CX): macierz 8×8. GPS RTK: ±2cm (outdoor). Czujniki siły/momentu: FT300 (Robotiq) do cobot compliance.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hmury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unktów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PCL i PointNet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Chmura punktów to zbiór P = {(x,y,z,i)ₙ} — nieuporządkowany, setek tysięcy punktów per ramka. PCL (Point Cloud Library) to standard.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" y="13152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PCL pipeline — filtrowanie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segmentacja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1244"/>
            <a:ext cx="4160520" cy="27904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712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636776"/>
            <a:ext cx="399592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&lt;pcl/point_cloud.h&gt;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&lt;pcl/filters/voxel_grid.h&gt;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&lt;pcl/segmentation/sac_segmentation.h&gt;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&lt;pcl/filters/extract_indices.h&gt;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Voxel grid downsampling (100k→5k pkt)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pcl::VoxelGrid&lt;pcl::PointXYZ&gt; vg;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vg.setInputCloud(cloud_raw);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vg.setLeafSize(0.05f, 0.05f, 0.05f); // 5cm voxel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vg.filter(*cloud_filtered);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RANSAC plane segmentation (usuwanie podłogi)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pcl::SACSegmentation&lt;pcl::PointXYZ&gt; seg;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seg.setModelType(pcl::SACMODEL_PLANE);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seg.setMethodType(pcl::SAC_RANSAC);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seg.setDistanceThreshold(0.02); // 2cm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seg.setInputCloud(cloud_filtered);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pcl::ModelCoefficients::Ptr coeff(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pcl::ModelCoefficients);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pcl::PointIndices::Ptr inliers(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pcl::PointIndices);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seg.segment(*inliers, *coeff);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coeff-&gt;values = [a,b,c,d] (równanie ax+by+cz+d=0)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3152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Sieci neuronowe dla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chmur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punktów</a:t>
            </a:r>
            <a:endParaRPr lang="en-US" sz="1300" dirty="0"/>
          </a:p>
        </p:txBody>
      </p:sp>
      <p:grpSp>
        <p:nvGrpSpPr>
          <p:cNvPr id="31" name="Grupa 30"/>
          <p:cNvGrpSpPr/>
          <p:nvPr/>
        </p:nvGrpSpPr>
        <p:grpSpPr>
          <a:xfrm>
            <a:off x="4663440" y="1571244"/>
            <a:ext cx="4206240" cy="2854452"/>
            <a:chOff x="4663440" y="1316736"/>
            <a:chExt cx="4206240" cy="3108960"/>
          </a:xfrm>
        </p:grpSpPr>
        <p:sp>
          <p:nvSpPr>
            <p:cNvPr id="13" name="Shape 11"/>
            <p:cNvSpPr/>
            <p:nvPr/>
          </p:nvSpPr>
          <p:spPr>
            <a:xfrm>
              <a:off x="4663440" y="1316736"/>
              <a:ext cx="420624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663440" y="1316736"/>
              <a:ext cx="54864" cy="74980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791456" y="13335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PointNet (Qi et al., 2017)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791456" y="1598676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Pierwsza sieć bezpośrednio na {(x,y,z)}: MLP per point → max pooling → global descriptor. Permutation invariant. 89.2% mAP ModelNet40. Podstawa wszystkich następnych.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63440" y="2103120"/>
              <a:ext cx="420624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663440" y="2103120"/>
              <a:ext cx="54864" cy="749808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791456" y="2119884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PointNet++ (2017)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91456" y="2385060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Hierarchiczne próbkowanie: farthest point sampling → local region → mini-PointNet. Lepsze na gęstych chmurach. Używany w autonomicznych samochodach.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663440" y="2889504"/>
              <a:ext cx="420624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663440" y="2889504"/>
              <a:ext cx="54864" cy="749808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791456" y="2906268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VoxelNet / PointPillars (2018)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91456" y="3171444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Voxelizacja → 3D CNN. PointPillars: voxele w kolumny 2D → 2D CNN → SSD detection head. 62 FPS na GPU. Waymo i Tesla używają podobnych architektur.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663440" y="3675888"/>
              <a:ext cx="420624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663440" y="3675888"/>
              <a:ext cx="54864" cy="749808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791456" y="3692652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Open3D i ROS 2 pointcloud2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91456" y="3957828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sensor_msgs/PointCloud2 w ROS 2. Open3D Python API: o3d.geometry.PointCloud → visualize, ICP registration, DBSCAN clustering. Interoperuje z NumPy.</a:t>
              </a:r>
              <a:endParaRPr lang="en-US" sz="105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320040" y="4691380"/>
            <a:ext cx="8503920" cy="22098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16780"/>
            <a:ext cx="8321040" cy="166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spc="-3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Kalibruj LiDAR i kamerę wspólnie używając szachownicy 3D (ros2_camera_lidar_calibration). Bez kalibracji fuzja sensorów da błędne wyniki projekcji.</a:t>
            </a:r>
            <a:endParaRPr lang="en-US" sz="1050" spc="-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obotów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etekcja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egmentacja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łębokość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91318" y="749808"/>
            <a:ext cx="4411014" cy="932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to najtańszy, najbogatszy informacyjnie sensor. Robot musi zamienić piksele w semantyczną </a:t>
            </a:r>
            <a:r>
              <a:rPr lang="en-US" sz="1400" dirty="0" err="1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wiedzę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robotów</a:t>
            </a:r>
            <a:r>
              <a:rPr lang="pl-PL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detekcja w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czasie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rzeczywistym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5"/>
            <a:ext cx="4160520" cy="230179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380744"/>
            <a:ext cx="399592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sensor_msgs.msg import Image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cv_bridge import CvBridge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YOLODetector(Node):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super().__init__("yolo_detector")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= YOLO("yolov8n.pt")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Dla robotyki: yolov8n &lt; 3ms na Jetson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self.bridge = CvBridge()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self.sub = self.create_subscription(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Image, "/camera/image_raw",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self.image_cb, 10)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image_cb(self, msg):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 = self.bridge.imgmsg_to_cv2(msg)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self.model(img, conf=0.5)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box in results[0].boxes: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box.xyxy, box.cls, box.conf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self.process_detection(box)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39" y="3680412"/>
            <a:ext cx="4165369" cy="62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680412"/>
            <a:ext cx="54928" cy="62136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703665"/>
            <a:ext cx="3982276" cy="180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Estymacja głębokości (monocular)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969523"/>
            <a:ext cx="3982276" cy="24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/ Depth Anything: relative depth z 1 kamery. ~25 FPS Jetson. </a:t>
            </a:r>
            <a:r>
              <a:rPr lang="en-US" sz="1000" dirty="0" err="1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Dokładność</a:t>
            </a: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relatywna</a:t>
            </a:r>
            <a:r>
              <a:rPr lang="pl-PL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kalibracji skalowej z LiDAR. Dobra dla planowania ścieżki.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39" y="4361687"/>
            <a:ext cx="4165369" cy="5366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361687"/>
            <a:ext cx="54928" cy="5366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4338334"/>
            <a:ext cx="3982276" cy="242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Segmentacja semantyczna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604193"/>
            <a:ext cx="3982276" cy="24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(Meta) + YOLOv8-seg: real-time instance segmentation. DINOv2 jako backbone — zero-shot transfer na nowe klasy obiektów.</a:t>
            </a:r>
            <a:endParaRPr lang="en-US" sz="1000" dirty="0"/>
          </a:p>
        </p:txBody>
      </p:sp>
      <p:grpSp>
        <p:nvGrpSpPr>
          <p:cNvPr id="37" name="Grupa 36"/>
          <p:cNvGrpSpPr/>
          <p:nvPr/>
        </p:nvGrpSpPr>
        <p:grpSpPr>
          <a:xfrm>
            <a:off x="4663440" y="1848117"/>
            <a:ext cx="4206240" cy="3045338"/>
            <a:chOff x="4663440" y="1042416"/>
            <a:chExt cx="4206240" cy="3767328"/>
          </a:xfrm>
        </p:grpSpPr>
        <p:sp>
          <p:nvSpPr>
            <p:cNvPr id="20" name="Text 18"/>
            <p:cNvSpPr/>
            <p:nvPr/>
          </p:nvSpPr>
          <p:spPr>
            <a:xfrm>
              <a:off x="4663440" y="1042416"/>
              <a:ext cx="4206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Metody detekcji i </a:t>
              </a:r>
              <a:r>
                <a:rPr lang="en-US" sz="1200" b="1" dirty="0" err="1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ich</a:t>
              </a: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200" b="1" dirty="0" err="1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cechy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663440" y="1316736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663440" y="1316736"/>
              <a:ext cx="54864" cy="80467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791456" y="13716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YOLOv8 / YOLOv11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91456" y="1636776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One-stage, anchor-free. 3–6ms GPU, 15ms Jetson AGX. COCO mAP 53. Najszybsze dla real-time robotyki. Model nano (3.2MB) na Raspberry Pi.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663440" y="2212848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663440" y="2212848"/>
              <a:ext cx="54864" cy="80467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791456" y="2267712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RT-DETR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91456" y="2532888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Transformer-based, bez NMS. 54.8 mAP COCO. Wyższa dokładność niż YOLO. 9ms A100. Dobry gdy ważność &gt; szybkość.</a:t>
              </a:r>
              <a:endParaRPr lang="en-US" sz="10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63440" y="3108960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663440" y="3108960"/>
              <a:ext cx="54864" cy="80467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91456" y="3163824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DINO / GroundedSAM</a:t>
              </a:r>
              <a:endParaRPr lang="en-US" sz="11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791456" y="3429000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Open-vocabulary detection: 'find all bottles'. Zero-shot bez fine-tuningu. 5–10FPS — dla robotyki manipulacyjnej, nie nawigacji.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663440" y="4005072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4005072"/>
              <a:ext cx="54864" cy="804672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91456" y="4059936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ArUco / AprilTag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791456" y="4325112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Fiducial markers — deterministyczne, latencja &lt; 1ms. Dokładność pozycji &lt; 1mm przy kalibrowanej kamerze. Standard dla pick-and-place.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Localization and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5042078" y="749807"/>
            <a:ext cx="3781881" cy="928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rozwiązuje problem jajka i kury: zbuduj mapę żeby się zlokalizować, zlokalizuj się żeby budować mapę. Centralny problem robotyki mobilnej.</a:t>
            </a:r>
            <a:endParaRPr lang="en-US" sz="1400" dirty="0"/>
          </a:p>
        </p:txBody>
      </p:sp>
      <p:grpSp>
        <p:nvGrpSpPr>
          <p:cNvPr id="64" name="Grupa 63"/>
          <p:cNvGrpSpPr/>
          <p:nvPr/>
        </p:nvGrpSpPr>
        <p:grpSpPr>
          <a:xfrm>
            <a:off x="320040" y="810600"/>
            <a:ext cx="4160520" cy="1047750"/>
            <a:chOff x="320040" y="1042416"/>
            <a:chExt cx="4160520" cy="1047750"/>
          </a:xfrm>
        </p:grpSpPr>
        <p:sp>
          <p:nvSpPr>
            <p:cNvPr id="8" name="Text 6"/>
            <p:cNvSpPr/>
            <p:nvPr/>
          </p:nvSpPr>
          <p:spPr>
            <a:xfrm>
              <a:off x="320040" y="1042416"/>
              <a:ext cx="4160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Problem SLAM </a:t>
              </a:r>
              <a:r>
                <a:rPr lang="en-US" sz="1200" b="1" dirty="0" err="1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formalnie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0040" y="1316736"/>
              <a:ext cx="4160520" cy="446178"/>
            </a:xfrm>
            <a:prstGeom prst="rect">
              <a:avLst/>
            </a:prstGeom>
            <a:solidFill>
              <a:srgbClr val="0C1420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20040" y="1316736"/>
              <a:ext cx="4160520" cy="3950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9731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p(x₁:ₜ, m | z₁:ₜ, u₁:ₜ)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" y="1776241"/>
              <a:ext cx="4160520" cy="3139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Dany: obserwacje z₁:ₜ (sensory), sterowania u₁:ₜ. Szukaj: trajektoria robotax₁:ₜ + mapa m.</a:t>
              </a:r>
              <a:endParaRPr lang="en-US" sz="1050" dirty="0"/>
            </a:p>
          </p:txBody>
        </p:sp>
      </p:grpSp>
      <p:grpSp>
        <p:nvGrpSpPr>
          <p:cNvPr id="63" name="Grupa 62"/>
          <p:cNvGrpSpPr/>
          <p:nvPr/>
        </p:nvGrpSpPr>
        <p:grpSpPr>
          <a:xfrm>
            <a:off x="210577" y="2019184"/>
            <a:ext cx="4458016" cy="2668453"/>
            <a:chOff x="320040" y="2148586"/>
            <a:chExt cx="4160520" cy="2539051"/>
          </a:xfrm>
        </p:grpSpPr>
        <p:sp>
          <p:nvSpPr>
            <p:cNvPr id="12" name="Shape 10"/>
            <p:cNvSpPr/>
            <p:nvPr/>
          </p:nvSpPr>
          <p:spPr>
            <a:xfrm>
              <a:off x="320040" y="2176272"/>
              <a:ext cx="4160520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0040" y="2176272"/>
              <a:ext cx="54864" cy="49377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48056" y="2148586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EKF-SLAM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48056" y="2394445"/>
              <a:ext cx="3977640" cy="1989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Extended Kalman Filter. Stan = [robot_pose, landmarks]. O(n²) </a:t>
              </a:r>
              <a:r>
                <a:rPr lang="en-US" sz="1000" dirty="0" err="1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złożoność</a:t>
              </a:r>
              <a:r>
                <a:rPr lang="pl-PL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</a:t>
              </a:r>
              <a:r>
                <a:rPr lang="en-US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nie skaluje się. Historia, ale ważny baseline.</a:t>
              </a:r>
              <a:endParaRPr lang="en-US" sz="1000" dirty="0"/>
            </a:p>
          </p:txBody>
        </p:sp>
        <p:grpSp>
          <p:nvGrpSpPr>
            <p:cNvPr id="61" name="Grupa 60"/>
            <p:cNvGrpSpPr/>
            <p:nvPr/>
          </p:nvGrpSpPr>
          <p:grpSpPr>
            <a:xfrm>
              <a:off x="320040" y="2665179"/>
              <a:ext cx="4160520" cy="530206"/>
              <a:chOff x="320040" y="2715514"/>
              <a:chExt cx="4160520" cy="527901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20040" y="2749639"/>
                <a:ext cx="4160520" cy="49377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17" name="Shape 15"/>
              <p:cNvSpPr/>
              <p:nvPr/>
            </p:nvSpPr>
            <p:spPr>
              <a:xfrm>
                <a:off x="320040" y="2743200"/>
                <a:ext cx="54864" cy="493776"/>
              </a:xfrm>
              <a:prstGeom prst="rect">
                <a:avLst/>
              </a:prstGeom>
              <a:solidFill>
                <a:srgbClr val="EA6C00"/>
              </a:solidFill>
              <a:ln/>
            </p:spPr>
          </p:sp>
          <p:sp>
            <p:nvSpPr>
              <p:cNvPr id="18" name="Text 16"/>
              <p:cNvSpPr/>
              <p:nvPr/>
            </p:nvSpPr>
            <p:spPr>
              <a:xfrm>
                <a:off x="448056" y="2715514"/>
                <a:ext cx="39776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GMapping / Gmapping (ROS)</a:t>
                </a:r>
                <a:endParaRPr lang="en-US" sz="115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448056" y="2980689"/>
                <a:ext cx="3977640" cy="2080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Particle filter SLAM. 2D LiDAR. Dobry dla małych środowisk. Nadal </a:t>
                </a:r>
                <a:r>
                  <a:rPr lang="en-US" sz="1000" dirty="0" err="1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używany</a:t>
                </a: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pl-PL" sz="1000" dirty="0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pl-PL" sz="1000" dirty="0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</a:br>
                <a:r>
                  <a:rPr lang="en-US" sz="1000" dirty="0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 </a:t>
                </a: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Turtlebot3 demos.</a:t>
                </a:r>
                <a:endParaRPr lang="en-US" sz="1000" dirty="0"/>
              </a:p>
            </p:txBody>
          </p:sp>
        </p:grpSp>
        <p:grpSp>
          <p:nvGrpSpPr>
            <p:cNvPr id="58" name="Grupa 57"/>
            <p:cNvGrpSpPr/>
            <p:nvPr/>
          </p:nvGrpSpPr>
          <p:grpSpPr>
            <a:xfrm>
              <a:off x="320040" y="3208714"/>
              <a:ext cx="4160520" cy="523739"/>
              <a:chOff x="320040" y="3282442"/>
              <a:chExt cx="4160520" cy="52146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320040" y="3310128"/>
                <a:ext cx="4160520" cy="49377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1" name="Shape 19"/>
              <p:cNvSpPr/>
              <p:nvPr/>
            </p:nvSpPr>
            <p:spPr>
              <a:xfrm>
                <a:off x="320040" y="3310128"/>
                <a:ext cx="54864" cy="493776"/>
              </a:xfrm>
              <a:prstGeom prst="rect">
                <a:avLst/>
              </a:prstGeom>
              <a:solidFill>
                <a:srgbClr val="1A8A4A"/>
              </a:solidFill>
              <a:ln/>
            </p:spPr>
          </p:sp>
          <p:sp>
            <p:nvSpPr>
              <p:cNvPr id="22" name="Text 20"/>
              <p:cNvSpPr/>
              <p:nvPr/>
            </p:nvSpPr>
            <p:spPr>
              <a:xfrm>
                <a:off x="448056" y="3282442"/>
                <a:ext cx="39776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Cartographer (Google)</a:t>
                </a:r>
                <a:endParaRPr lang="en-US" sz="115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448056" y="3547618"/>
                <a:ext cx="3977640" cy="198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Sparse pose graph + scan matching (CSM). 2D i 3D LiDAR. Submaps + loop closure. Przemysłowy standard dla AGV.</a:t>
                </a:r>
                <a:endParaRPr lang="en-US" sz="1000" dirty="0"/>
              </a:p>
            </p:txBody>
          </p:sp>
        </p:grpSp>
        <p:grpSp>
          <p:nvGrpSpPr>
            <p:cNvPr id="59" name="Grupa 58"/>
            <p:cNvGrpSpPr/>
            <p:nvPr/>
          </p:nvGrpSpPr>
          <p:grpSpPr>
            <a:xfrm>
              <a:off x="320040" y="3745780"/>
              <a:ext cx="4160520" cy="480626"/>
              <a:chOff x="320040" y="3849370"/>
              <a:chExt cx="4160520" cy="478536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320040" y="3877056"/>
                <a:ext cx="4160520" cy="4508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5" name="Shape 23"/>
              <p:cNvSpPr/>
              <p:nvPr/>
            </p:nvSpPr>
            <p:spPr>
              <a:xfrm>
                <a:off x="320040" y="3877056"/>
                <a:ext cx="54864" cy="450850"/>
              </a:xfrm>
              <a:prstGeom prst="rect">
                <a:avLst/>
              </a:prstGeom>
              <a:solidFill>
                <a:srgbClr val="6D28D9"/>
              </a:solidFill>
              <a:ln/>
            </p:spPr>
          </p:sp>
          <p:sp>
            <p:nvSpPr>
              <p:cNvPr id="26" name="Text 24"/>
              <p:cNvSpPr/>
              <p:nvPr/>
            </p:nvSpPr>
            <p:spPr>
              <a:xfrm>
                <a:off x="448056" y="3849370"/>
                <a:ext cx="39776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RTAB-Map</a:t>
                </a:r>
                <a:endParaRPr lang="en-US" sz="105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448056" y="4089366"/>
                <a:ext cx="3977640" cy="1847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RGB-D + LiDAR SLAM. Loop closure z bag-of-words (visual). Eksportuje mapę 3D do Nav2. Bardzo kompletne rozwiązanie.</a:t>
                </a:r>
                <a:endParaRPr lang="en-US" sz="1000" dirty="0"/>
              </a:p>
            </p:txBody>
          </p:sp>
        </p:grpSp>
        <p:grpSp>
          <p:nvGrpSpPr>
            <p:cNvPr id="60" name="Grupa 59"/>
            <p:cNvGrpSpPr/>
            <p:nvPr/>
          </p:nvGrpSpPr>
          <p:grpSpPr>
            <a:xfrm>
              <a:off x="320040" y="4248888"/>
              <a:ext cx="4160520" cy="438749"/>
              <a:chOff x="320040" y="4433609"/>
              <a:chExt cx="4160520" cy="436841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320040" y="4443984"/>
                <a:ext cx="4160520" cy="42646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9" name="Shape 27"/>
              <p:cNvSpPr/>
              <p:nvPr/>
            </p:nvSpPr>
            <p:spPr>
              <a:xfrm>
                <a:off x="320040" y="4443984"/>
                <a:ext cx="54864" cy="426466"/>
              </a:xfrm>
              <a:prstGeom prst="rect">
                <a:avLst/>
              </a:prstGeom>
              <a:solidFill>
                <a:srgbClr val="0D7F8F"/>
              </a:solidFill>
              <a:ln/>
            </p:spPr>
          </p:sp>
          <p:sp>
            <p:nvSpPr>
              <p:cNvPr id="30" name="Text 28"/>
              <p:cNvSpPr/>
              <p:nvPr/>
            </p:nvSpPr>
            <p:spPr>
              <a:xfrm>
                <a:off x="448056" y="4433609"/>
                <a:ext cx="3977640" cy="1978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ORB-SLAM 3</a:t>
                </a:r>
                <a:endParaRPr lang="en-US" sz="105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448056" y="4633089"/>
                <a:ext cx="3977640" cy="18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Visual SLAM (kamera): ORB feature extraction → pose graph. Monocular/stereo/RGB-D. Stan akademickiego art. 2021.</a:t>
                </a:r>
                <a:endParaRPr lang="en-US" sz="1000" dirty="0"/>
              </a:p>
            </p:txBody>
          </p:sp>
        </p:grpSp>
      </p:grpSp>
      <p:sp>
        <p:nvSpPr>
          <p:cNvPr id="32" name="Text 30"/>
          <p:cNvSpPr/>
          <p:nvPr/>
        </p:nvSpPr>
        <p:spPr>
          <a:xfrm>
            <a:off x="5200044" y="1767724"/>
            <a:ext cx="3669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r>
              <a:rPr lang="pl-PL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komponenty</a:t>
            </a:r>
            <a:endParaRPr lang="en-US" sz="1200" dirty="0"/>
          </a:p>
        </p:txBody>
      </p:sp>
      <p:grpSp>
        <p:nvGrpSpPr>
          <p:cNvPr id="54" name="Grupa 53"/>
          <p:cNvGrpSpPr/>
          <p:nvPr/>
        </p:nvGrpSpPr>
        <p:grpSpPr>
          <a:xfrm>
            <a:off x="5009086" y="2019184"/>
            <a:ext cx="4012565" cy="658368"/>
            <a:chOff x="4663440" y="1362456"/>
            <a:chExt cx="4206240" cy="658368"/>
          </a:xfrm>
        </p:grpSpPr>
        <p:sp>
          <p:nvSpPr>
            <p:cNvPr id="33" name="Shape 31"/>
            <p:cNvSpPr/>
            <p:nvPr/>
          </p:nvSpPr>
          <p:spPr>
            <a:xfrm>
              <a:off x="4663440" y="1362456"/>
              <a:ext cx="420624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1362456"/>
              <a:ext cx="54864" cy="65836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91456" y="13716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Odometria (front-end)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791456" y="1636776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Scan matching (ICP/NDT) lub visual odometry. Estymacja ruchu między klatkami. Szybkie (&lt; 10ms), ale akumuluje błąd.</a:t>
              </a:r>
              <a:endParaRPr lang="en-US" sz="1000" dirty="0"/>
            </a:p>
          </p:txBody>
        </p:sp>
      </p:grpSp>
      <p:grpSp>
        <p:nvGrpSpPr>
          <p:cNvPr id="53" name="Grupa 52"/>
          <p:cNvGrpSpPr/>
          <p:nvPr/>
        </p:nvGrpSpPr>
        <p:grpSpPr>
          <a:xfrm>
            <a:off x="5009086" y="2721494"/>
            <a:ext cx="4012565" cy="601980"/>
            <a:chOff x="4663440" y="2222754"/>
            <a:chExt cx="4206240" cy="601980"/>
          </a:xfrm>
        </p:grpSpPr>
        <p:sp>
          <p:nvSpPr>
            <p:cNvPr id="37" name="Shape 35"/>
            <p:cNvSpPr/>
            <p:nvPr/>
          </p:nvSpPr>
          <p:spPr>
            <a:xfrm>
              <a:off x="4663440" y="2231136"/>
              <a:ext cx="4206240" cy="59359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4663440" y="2231136"/>
              <a:ext cx="54864" cy="593598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791456" y="2222754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Loop Closure</a:t>
              </a:r>
              <a:endParaRPr lang="en-US" sz="11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782312" y="2442210"/>
              <a:ext cx="4023360" cy="3101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Wykrycie wizyty w poprzednio odwiedzonej lokalizacji. Feature matching lub place recognition (NetVLAD, Scan Context). Koryguje drift.</a:t>
              </a:r>
              <a:endParaRPr lang="en-US" sz="1000" dirty="0"/>
            </a:p>
          </p:txBody>
        </p:sp>
      </p:grpSp>
      <p:grpSp>
        <p:nvGrpSpPr>
          <p:cNvPr id="52" name="Grupa 51"/>
          <p:cNvGrpSpPr/>
          <p:nvPr/>
        </p:nvGrpSpPr>
        <p:grpSpPr>
          <a:xfrm>
            <a:off x="5009086" y="3368813"/>
            <a:ext cx="4012565" cy="665734"/>
            <a:chOff x="4663440" y="3183636"/>
            <a:chExt cx="4206240" cy="665734"/>
          </a:xfrm>
        </p:grpSpPr>
        <p:sp>
          <p:nvSpPr>
            <p:cNvPr id="41" name="Shape 39"/>
            <p:cNvSpPr/>
            <p:nvPr/>
          </p:nvSpPr>
          <p:spPr>
            <a:xfrm>
              <a:off x="4663440" y="3183636"/>
              <a:ext cx="4206240" cy="66573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2" name="Shape 40"/>
            <p:cNvSpPr/>
            <p:nvPr/>
          </p:nvSpPr>
          <p:spPr>
            <a:xfrm>
              <a:off x="4663440" y="3183636"/>
              <a:ext cx="54864" cy="665734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4791456" y="32004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Graph Optimization (back-end)</a:t>
              </a:r>
              <a:endParaRPr lang="en-US" sz="115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791456" y="3465576"/>
              <a:ext cx="402336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Pose graph: węzły=pozy, krawędzie=ograniczenia. Minimalizacja sumy kwadratów błędów. g2o, GTSAM, iSAM2. Rzadka macierz informacji.</a:t>
              </a:r>
              <a:endParaRPr lang="en-US" sz="1000" dirty="0"/>
            </a:p>
          </p:txBody>
        </p:sp>
      </p:grpSp>
      <p:grpSp>
        <p:nvGrpSpPr>
          <p:cNvPr id="51" name="Grupa 50"/>
          <p:cNvGrpSpPr/>
          <p:nvPr/>
        </p:nvGrpSpPr>
        <p:grpSpPr>
          <a:xfrm>
            <a:off x="5009086" y="4100968"/>
            <a:ext cx="4012565" cy="576072"/>
            <a:chOff x="4663440" y="4059936"/>
            <a:chExt cx="4206240" cy="576072"/>
          </a:xfrm>
        </p:grpSpPr>
        <p:sp>
          <p:nvSpPr>
            <p:cNvPr id="45" name="Shape 43"/>
            <p:cNvSpPr/>
            <p:nvPr/>
          </p:nvSpPr>
          <p:spPr>
            <a:xfrm>
              <a:off x="4663440" y="4059936"/>
              <a:ext cx="4206240" cy="5760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6" name="Shape 44"/>
            <p:cNvSpPr/>
            <p:nvPr/>
          </p:nvSpPr>
          <p:spPr>
            <a:xfrm>
              <a:off x="4663440" y="4059936"/>
              <a:ext cx="54864" cy="576072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4791456" y="4114800"/>
              <a:ext cx="40233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Mapa</a:t>
              </a:r>
              <a:endParaRPr lang="en-US" sz="115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4791456" y="4291076"/>
              <a:ext cx="402336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Occupancy grid (2D: 0/1/unknown), voxel map (OctoMap 3D), landmark map (punkty 3D), topologiczna (węzły+krawędzie).</a:t>
              </a:r>
              <a:endParaRPr lang="en-US" sz="1000" dirty="0"/>
            </a:p>
          </p:txBody>
        </p:sp>
      </p:grpSp>
      <p:grpSp>
        <p:nvGrpSpPr>
          <p:cNvPr id="56" name="Grupa 55"/>
          <p:cNvGrpSpPr/>
          <p:nvPr/>
        </p:nvGrpSpPr>
        <p:grpSpPr>
          <a:xfrm>
            <a:off x="210576" y="4752668"/>
            <a:ext cx="8613384" cy="185092"/>
            <a:chOff x="320040" y="4688078"/>
            <a:chExt cx="8503920" cy="249682"/>
          </a:xfrm>
        </p:grpSpPr>
        <p:sp>
          <p:nvSpPr>
            <p:cNvPr id="49" name="Shape 47"/>
            <p:cNvSpPr/>
            <p:nvPr/>
          </p:nvSpPr>
          <p:spPr>
            <a:xfrm>
              <a:off x="320040" y="4688078"/>
              <a:ext cx="8503920" cy="249682"/>
            </a:xfrm>
            <a:prstGeom prst="rect">
              <a:avLst/>
            </a:prstGeom>
            <a:solidFill>
              <a:srgbClr val="FFF4E6"/>
            </a:solidFill>
            <a:ln w="12700">
              <a:solidFill>
                <a:srgbClr val="EA6C00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457200" y="4699762"/>
              <a:ext cx="8321040" cy="1831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Dla robotów indoor uruchom: ros2 launch slam_toolbox online_async_launch.py — gotowy SLAM 2D. Dla 3D outdoor: Cartographer z LiDAR 3D.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cieżki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A*, RRT*, Dijkstra i Optymalizacja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57750" y="749807"/>
            <a:ext cx="3966210" cy="1128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Planer ścieżki odpowiada na pytanie: jak </a:t>
            </a:r>
            <a:r>
              <a:rPr lang="en-US" sz="1400" dirty="0" err="1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dojść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l-PL" sz="1400" dirty="0" smtClean="0">
              <a:solidFill>
                <a:srgbClr val="3D51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punktu A do B unikając przeszkód? Dwa poziomy: global planner + local planner.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7132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</a:t>
            </a:r>
            <a:r>
              <a:rPr lang="en-US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heurystyki</a:t>
            </a:r>
            <a:r>
              <a:rPr lang="pl-PL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69264"/>
            <a:ext cx="4160520" cy="2542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2133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996696"/>
            <a:ext cx="356997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a_star(grid, start, goal):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heurystyka: odległość Manhattan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lambda n: abs(n[0]-goal[0])+abs(n[1]-goal[1])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open_set = [(h(start), start)]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g_score  = {start: 0}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came_from = {}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open_set: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_, cur = heapq.heappop(open_set)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 == goal: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 = []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cur in came_from: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path.append(cur); cur=came_from[cur]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path[::-1]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dx,dy in [(-1,0),(1,0),(0,-1),(0,1)]: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nb = (cur[0]+dx, cur[1]+dy)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grid[nb[0]][nb[1]] == 0:  # wolna komórka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 = g_score[cur] + 1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g &lt; g_score.get(nb, float('inf')):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g_score[nb] = g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came_from[nb] = cur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heapq.heappush(open_set,(g+h(nb),nb))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  # brak ścieżki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64947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649472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6662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Potencjalne pola (Potential Fields)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9314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= atraktor, przeszkody = repulsory. Szybkie, reaktywne. Wada: lokalne minima (robot utyka). Używane w local planner jako składowa.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27126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271264"/>
            <a:ext cx="54864" cy="58521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42880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 layer — costmap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5532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Przeszkody paddinowane buforem (robot_radius + margin). A* planuje z uwzględnieniem. NavStack costmap2d obsługuje automatycznie.</a:t>
            </a:r>
            <a:endParaRPr lang="en-US" sz="1050" dirty="0"/>
          </a:p>
        </p:txBody>
      </p:sp>
      <p:grpSp>
        <p:nvGrpSpPr>
          <p:cNvPr id="46" name="Grupa 45"/>
          <p:cNvGrpSpPr/>
          <p:nvPr/>
        </p:nvGrpSpPr>
        <p:grpSpPr>
          <a:xfrm>
            <a:off x="4663440" y="1878711"/>
            <a:ext cx="4404360" cy="2965831"/>
            <a:chOff x="4663440" y="1196213"/>
            <a:chExt cx="4206240" cy="3132074"/>
          </a:xfrm>
        </p:grpSpPr>
        <p:sp>
          <p:nvSpPr>
            <p:cNvPr id="20" name="Text 18"/>
            <p:cNvSpPr/>
            <p:nvPr/>
          </p:nvSpPr>
          <p:spPr>
            <a:xfrm>
              <a:off x="4663440" y="1196213"/>
              <a:ext cx="4206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Algorytmy i </a:t>
              </a:r>
              <a:r>
                <a:rPr lang="en-US" sz="1200" b="1" dirty="0" err="1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ich</a:t>
              </a: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200" b="1" dirty="0" err="1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porównanie</a:t>
              </a:r>
              <a:endParaRPr lang="en-US" sz="1200" dirty="0"/>
            </a:p>
          </p:txBody>
        </p:sp>
        <p:grpSp>
          <p:nvGrpSpPr>
            <p:cNvPr id="45" name="Grupa 44"/>
            <p:cNvGrpSpPr/>
            <p:nvPr/>
          </p:nvGrpSpPr>
          <p:grpSpPr>
            <a:xfrm>
              <a:off x="4663440" y="1428750"/>
              <a:ext cx="4206240" cy="551942"/>
              <a:chOff x="4663440" y="1428750"/>
              <a:chExt cx="4206240" cy="551942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663440" y="1444752"/>
                <a:ext cx="4206240" cy="5359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2" name="Shape 20"/>
              <p:cNvSpPr/>
              <p:nvPr/>
            </p:nvSpPr>
            <p:spPr>
              <a:xfrm>
                <a:off x="4663440" y="1444752"/>
                <a:ext cx="54864" cy="535940"/>
              </a:xfrm>
              <a:prstGeom prst="rect">
                <a:avLst/>
              </a:prstGeom>
              <a:solidFill>
                <a:srgbClr val="1A6DB5"/>
              </a:solidFill>
              <a:ln/>
            </p:spPr>
          </p:sp>
          <p:sp>
            <p:nvSpPr>
              <p:cNvPr id="23" name="Text 21"/>
              <p:cNvSpPr/>
              <p:nvPr/>
            </p:nvSpPr>
            <p:spPr>
              <a:xfrm>
                <a:off x="4791456" y="1428750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Dijkstra</a:t>
                </a:r>
                <a:endParaRPr lang="en-US" sz="115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791456" y="1636776"/>
                <a:ext cx="40233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A* z h=0. Gwarantuje optymalność. Wolniejszy niż A*. Podstawa dla wielu wariantów. O((V+E)log V).</a:t>
                </a:r>
                <a:endParaRPr lang="en-US" sz="1050" dirty="0"/>
              </a:p>
            </p:txBody>
          </p:sp>
        </p:grpSp>
        <p:grpSp>
          <p:nvGrpSpPr>
            <p:cNvPr id="41" name="Grupa 40"/>
            <p:cNvGrpSpPr/>
            <p:nvPr/>
          </p:nvGrpSpPr>
          <p:grpSpPr>
            <a:xfrm>
              <a:off x="4663440" y="2011934"/>
              <a:ext cx="4206240" cy="534924"/>
              <a:chOff x="4663440" y="2195576"/>
              <a:chExt cx="4206240" cy="534924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4663440" y="2209292"/>
                <a:ext cx="4206240" cy="52120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6" name="Shape 24"/>
              <p:cNvSpPr/>
              <p:nvPr/>
            </p:nvSpPr>
            <p:spPr>
              <a:xfrm>
                <a:off x="4663440" y="2209292"/>
                <a:ext cx="54864" cy="521208"/>
              </a:xfrm>
              <a:prstGeom prst="rect">
                <a:avLst/>
              </a:prstGeom>
              <a:solidFill>
                <a:srgbClr val="EA6C00"/>
              </a:solidFill>
              <a:ln/>
            </p:spPr>
          </p:sp>
          <p:sp>
            <p:nvSpPr>
              <p:cNvPr id="27" name="Text 25"/>
              <p:cNvSpPr/>
              <p:nvPr/>
            </p:nvSpPr>
            <p:spPr>
              <a:xfrm>
                <a:off x="4791456" y="2195576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A* (A-star)</a:t>
                </a:r>
                <a:endParaRPr lang="en-US" sz="115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4791456" y="2405634"/>
                <a:ext cx="40233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Najszybszy kompletny dla grid map. h=Manhattan (4-conn) lub Chebyshev (8-conn). Admissible heuristic → optymalny.</a:t>
                </a:r>
                <a:endParaRPr lang="en-US" sz="1050" dirty="0"/>
              </a:p>
            </p:txBody>
          </p:sp>
        </p:grpSp>
        <p:grpSp>
          <p:nvGrpSpPr>
            <p:cNvPr id="42" name="Grupa 41"/>
            <p:cNvGrpSpPr/>
            <p:nvPr/>
          </p:nvGrpSpPr>
          <p:grpSpPr>
            <a:xfrm>
              <a:off x="4663440" y="2566416"/>
              <a:ext cx="4206240" cy="577596"/>
              <a:chOff x="4663440" y="2566416"/>
              <a:chExt cx="4206240" cy="577596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4663440" y="2587752"/>
                <a:ext cx="4206240" cy="5562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30" name="Shape 28"/>
              <p:cNvSpPr/>
              <p:nvPr/>
            </p:nvSpPr>
            <p:spPr>
              <a:xfrm>
                <a:off x="4663440" y="2587752"/>
                <a:ext cx="54864" cy="556260"/>
              </a:xfrm>
              <a:prstGeom prst="rect">
                <a:avLst/>
              </a:prstGeom>
              <a:solidFill>
                <a:srgbClr val="1A8A4A"/>
              </a:solidFill>
              <a:ln/>
            </p:spPr>
          </p:sp>
          <p:sp>
            <p:nvSpPr>
              <p:cNvPr id="31" name="Text 29"/>
              <p:cNvSpPr/>
              <p:nvPr/>
            </p:nvSpPr>
            <p:spPr>
              <a:xfrm>
                <a:off x="4791456" y="2566416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D* Lite</a:t>
                </a:r>
                <a:endParaRPr lang="en-US" sz="115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4791456" y="2780792"/>
                <a:ext cx="40233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Dynamic A* — replanning gdy zmienia się mapa. Świetny dla środowisk dynamicznych. Standard NASA Mars Rover.</a:t>
                </a:r>
                <a:endParaRPr lang="en-US" sz="1050" dirty="0"/>
              </a:p>
            </p:txBody>
          </p:sp>
        </p:grpSp>
        <p:grpSp>
          <p:nvGrpSpPr>
            <p:cNvPr id="43" name="Grupa 42"/>
            <p:cNvGrpSpPr/>
            <p:nvPr/>
          </p:nvGrpSpPr>
          <p:grpSpPr>
            <a:xfrm>
              <a:off x="4663440" y="3159760"/>
              <a:ext cx="4206240" cy="546100"/>
              <a:chOff x="4663440" y="3589274"/>
              <a:chExt cx="4206240" cy="546100"/>
            </a:xfrm>
          </p:grpSpPr>
          <p:sp>
            <p:nvSpPr>
              <p:cNvPr id="33" name="Shape 31"/>
              <p:cNvSpPr/>
              <p:nvPr/>
            </p:nvSpPr>
            <p:spPr>
              <a:xfrm>
                <a:off x="4663440" y="3616960"/>
                <a:ext cx="4206240" cy="51841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34" name="Shape 32"/>
              <p:cNvSpPr/>
              <p:nvPr/>
            </p:nvSpPr>
            <p:spPr>
              <a:xfrm>
                <a:off x="4663440" y="3616960"/>
                <a:ext cx="54864" cy="518414"/>
              </a:xfrm>
              <a:prstGeom prst="rect">
                <a:avLst/>
              </a:prstGeom>
              <a:solidFill>
                <a:srgbClr val="6D28D9"/>
              </a:solidFill>
              <a:ln/>
            </p:spPr>
          </p:sp>
          <p:sp>
            <p:nvSpPr>
              <p:cNvPr id="35" name="Text 33"/>
              <p:cNvSpPr/>
              <p:nvPr/>
            </p:nvSpPr>
            <p:spPr>
              <a:xfrm>
                <a:off x="4791456" y="3589274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RRT / RRT*</a:t>
                </a:r>
                <a:endParaRPr lang="en-US" sz="115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4791456" y="3803650"/>
                <a:ext cx="40233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spc="-3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Szybkie drzewo losowych próbek. RRT*: asymptotycznie optymalny. Dobry dla wysokich DOF (6-DOF arm). Nie daje optymalnej ścieżki dla 2D nav.</a:t>
                </a:r>
                <a:endParaRPr lang="en-US" sz="1050" spc="-30" dirty="0"/>
              </a:p>
            </p:txBody>
          </p:sp>
        </p:grpSp>
        <p:grpSp>
          <p:nvGrpSpPr>
            <p:cNvPr id="44" name="Grupa 43"/>
            <p:cNvGrpSpPr/>
            <p:nvPr/>
          </p:nvGrpSpPr>
          <p:grpSpPr>
            <a:xfrm>
              <a:off x="4663440" y="3725545"/>
              <a:ext cx="4206240" cy="602742"/>
              <a:chOff x="4663440" y="4000500"/>
              <a:chExt cx="4206240" cy="602742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4663440" y="4018788"/>
                <a:ext cx="4206240" cy="58445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38" name="Shape 36"/>
              <p:cNvSpPr/>
              <p:nvPr/>
            </p:nvSpPr>
            <p:spPr>
              <a:xfrm>
                <a:off x="4663440" y="4018788"/>
                <a:ext cx="54864" cy="584454"/>
              </a:xfrm>
              <a:prstGeom prst="rect">
                <a:avLst/>
              </a:prstGeom>
              <a:solidFill>
                <a:srgbClr val="0D7F8F"/>
              </a:solidFill>
              <a:ln/>
            </p:spPr>
          </p:sp>
          <p:sp>
            <p:nvSpPr>
              <p:cNvPr id="39" name="Text 37"/>
              <p:cNvSpPr/>
              <p:nvPr/>
            </p:nvSpPr>
            <p:spPr>
              <a:xfrm>
                <a:off x="4791456" y="4000500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Nav2 Smac Planner</a:t>
                </a:r>
                <a:endParaRPr lang="en-US" sz="115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4791456" y="4265676"/>
                <a:ext cx="40233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A* na lattice / Hybrid-A* dla kinematic constraints (Ackermann). NavFn (Dijkstra-based). Oficjalny planer ROS 2.</a:t>
                </a:r>
                <a:endParaRPr lang="en-US" sz="1050" dirty="0"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Nav2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Stack ROS 2,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rchitektura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onfiguracja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to kompletny system nawigacji dla ROS 2. </a:t>
            </a: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Zastępuje</a:t>
            </a: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move_base z ROS 1. </a:t>
            </a:r>
            <a:endParaRPr lang="pl-PL" sz="1400" dirty="0" smtClean="0">
              <a:solidFill>
                <a:srgbClr val="3D51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Modularny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lifecycle-managed, BehaviorTree-based.</a:t>
            </a:r>
            <a:endParaRPr lang="en-US" sz="1400" dirty="0"/>
          </a:p>
        </p:txBody>
      </p:sp>
      <p:grpSp>
        <p:nvGrpSpPr>
          <p:cNvPr id="35" name="Grupa 34"/>
          <p:cNvGrpSpPr/>
          <p:nvPr/>
        </p:nvGrpSpPr>
        <p:grpSpPr>
          <a:xfrm>
            <a:off x="320040" y="1773936"/>
            <a:ext cx="8659368" cy="2295144"/>
            <a:chOff x="320040" y="1957832"/>
            <a:chExt cx="8659368" cy="2111248"/>
          </a:xfrm>
        </p:grpSpPr>
        <p:sp>
          <p:nvSpPr>
            <p:cNvPr id="8" name="Shape 6"/>
            <p:cNvSpPr/>
            <p:nvPr/>
          </p:nvSpPr>
          <p:spPr>
            <a:xfrm>
              <a:off x="320040" y="1957832"/>
              <a:ext cx="4251960" cy="6436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957832"/>
              <a:ext cx="54864" cy="64363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48056" y="19832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BT Navigator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8056" y="2134108"/>
              <a:ext cx="4069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Orchestrator oparty o Behavior Tree (BehaviorTree.CPP). Koordynuje recovery behaviors, planner, controller.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27448" y="1957832"/>
              <a:ext cx="4251960" cy="6436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27448" y="1957832"/>
              <a:ext cx="54864" cy="64363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855464" y="19832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Planner Server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55464" y="2134108"/>
              <a:ext cx="4069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Uruchamia global planner (NavFn/Smac). Wejście: /goal_pose → wyjście: /plan (ścieżka na mapie).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2654808"/>
              <a:ext cx="4251960" cy="6436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2654808"/>
              <a:ext cx="54864" cy="64363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2680208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Controller Server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2831084"/>
              <a:ext cx="4069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planner (DWB/MPPI/TEB). Śledzi globalną ścieżkę wysyłając /cmd_vel. Unika lokalnych przeszkód.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27448" y="2654808"/>
              <a:ext cx="4251960" cy="6436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27448" y="2654808"/>
              <a:ext cx="54864" cy="64363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55464" y="2680208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Costmap 2D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55464" y="2831084"/>
              <a:ext cx="4069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Global costmap (statyczna mapa + inflation) + Local costmap (sliding window 5×5m sensor data).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362452"/>
              <a:ext cx="4251960" cy="6436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" y="3362452"/>
              <a:ext cx="54864" cy="643636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48056" y="338785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AMCL (Localization)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48056" y="3538728"/>
              <a:ext cx="4069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Adaptive Monte Carlo Localization — particle filter na gotowej mapie. 500–2000 cząstek. Wymaga map_server.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27448" y="3362452"/>
              <a:ext cx="4251960" cy="6436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727448" y="3362452"/>
              <a:ext cx="54864" cy="643636"/>
            </a:xfrm>
            <a:prstGeom prst="rect">
              <a:avLst/>
            </a:prstGeom>
            <a:solidFill>
              <a:srgbClr val="B45309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855464" y="338785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Recovery Behaviors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55464" y="3538728"/>
              <a:ext cx="4069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Spin · Backup · Clear costmap · Wait. Uruchamiane gdy robot utknął. Zdefiniowane w BT XML.</a:t>
              </a:r>
              <a:endParaRPr lang="en-US" sz="1100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7939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9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nav2_bringup navigation_launch.py  map:=/path/to/map.yaml  use_sim_time:=True  params_file:=nav2_params.yaml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" y="464972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pub /goal_pose geometry_msgs/PoseStamped '{header:{frame_id:"map"}, pose:{position:{x:3.0,y:1.5}}}'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obotem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PID,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egulatory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ętla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wrotna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21670" y="749807"/>
            <a:ext cx="5077880" cy="1062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(Proportional-Integral-Derivative) to najpowszechniejszy regulator w robotyce. Szacuje się, że 95% pętli sterowania w przemyśle to regulatory PID lub PI.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704088"/>
            <a:ext cx="3442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 PID z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anti-windup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345186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3990" y="99736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3125470" cy="382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PIDController: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Kp, Ki, Kd,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output_limits=(-1.0,1.0)):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self.Kp, self.Ki, self.Kd = Kp, Ki, Kd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self.integral   = 0.0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self.prev_error = 0.0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self.limits = output_limits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compute(self, setpoint, measured, dt):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     = setpoint - measured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Anti-windup: nie sumuj gdy na limicie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p_out = self.Kp * error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d_out = self.Kd * (error-self.prev_error)/dt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Sprawdź limity przed integrowaniem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p_out + self.Ki*self.integral + d_out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self.limits[0] &lt; raw &lt; self.limits[1]: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self.integral += error * dt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i_out = self.Ki * self.integral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 = p_out + i_out + d_out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self.prev_error = error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Clamp output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max(self.limits[0],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min(self.limits[1], output))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Zastosowanie: prędkość koła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= PIDController(Kp=1.2, Ki=0.5, Kd=0.05)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pid.compute(target_rpm, encoder_rpm, dt)</a:t>
            </a:r>
            <a:endParaRPr lang="en-US" sz="850" dirty="0"/>
          </a:p>
        </p:txBody>
      </p:sp>
      <p:grpSp>
        <p:nvGrpSpPr>
          <p:cNvPr id="33" name="Grupa 32"/>
          <p:cNvGrpSpPr/>
          <p:nvPr/>
        </p:nvGrpSpPr>
        <p:grpSpPr>
          <a:xfrm>
            <a:off x="3863340" y="1931795"/>
            <a:ext cx="5236210" cy="2894205"/>
            <a:chOff x="4654296" y="1328801"/>
            <a:chExt cx="4233672" cy="3178683"/>
          </a:xfrm>
        </p:grpSpPr>
        <p:sp>
          <p:nvSpPr>
            <p:cNvPr id="12" name="Text 10"/>
            <p:cNvSpPr/>
            <p:nvPr/>
          </p:nvSpPr>
          <p:spPr>
            <a:xfrm>
              <a:off x="4681728" y="1328801"/>
              <a:ext cx="4206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Metody </a:t>
              </a:r>
              <a:r>
                <a:rPr lang="en-US" sz="1300" b="1" dirty="0" err="1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strojenia</a:t>
              </a:r>
              <a:r>
                <a:rPr lang="en-US" sz="13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300" b="1" dirty="0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PID</a:t>
              </a:r>
              <a:endParaRPr lang="en-US" sz="13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663440" y="1646428"/>
              <a:ext cx="4206240" cy="5237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663440" y="1646428"/>
              <a:ext cx="54864" cy="52374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791456" y="162560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Ziegler-Nichols (Z-N)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791456" y="1830070"/>
              <a:ext cx="4023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Zwiększaj Kp do oscylacji → Ku, Tu. Oblicz: Kp=0.6Ku, Ti=0.5Tu, Td=0.125Tu. Szybka metoda — może być zbyt agresywna.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63440" y="2217166"/>
              <a:ext cx="4206240" cy="5199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663440" y="2217166"/>
              <a:ext cx="54864" cy="519938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791456" y="2210816"/>
              <a:ext cx="4023360" cy="1927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Tryb manualny + iteracyjny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91456" y="2381504"/>
              <a:ext cx="4023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Start: Kp mały, Ki=Kd=0. Zwiększaj Kp do oscylacji. Dodaj Ki dla steady-state error. Dodaj Kd dla tłumienia. Praktycznie najczęstszy.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663440" y="2779776"/>
              <a:ext cx="4206240" cy="56819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663440" y="2779776"/>
              <a:ext cx="54864" cy="568198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791456" y="279019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Auto-tuning (relay feedback)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82312" y="2986532"/>
              <a:ext cx="4023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Wbudowany w sterowniki Beckhoff/Siemens. Układ przełączający (relay) → oscylacje kontrolowane → auto-oblicza Ku, Tu.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663440" y="3390646"/>
              <a:ext cx="4206240" cy="56819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4663440" y="3390646"/>
              <a:ext cx="54864" cy="568198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791456" y="3420110"/>
              <a:ext cx="4023360" cy="1541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Cascade PID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91456" y="3574288"/>
              <a:ext cx="4023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Zewnętrzna pętla pozycji → setpoint wewnętrznej pętli prędkości → setpoint pętli prądu. Szybsze pętle wewnętrzne (1kHz current, 100Hz velocity).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54296" y="4004564"/>
              <a:ext cx="420624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654296" y="4004564"/>
              <a:ext cx="54864" cy="502920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82312" y="4052570"/>
              <a:ext cx="4023360" cy="1358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Zaawansowane: LQR, MPC</a:t>
              </a:r>
              <a:endParaRPr lang="en-US" sz="11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782312" y="4150868"/>
              <a:ext cx="4023360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 Quadratic </a:t>
              </a:r>
              <a:r>
                <a:rPr lang="en-US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Regulator</a:t>
              </a:r>
              <a:r>
                <a:rPr lang="pl-PL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</a:t>
              </a:r>
              <a:r>
                <a:rPr lang="en-US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optymalne przy modelowaniu stanu. MPC (Model Predictive Control</a:t>
              </a:r>
              <a:r>
                <a:rPr lang="en-US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r>
                <a:rPr lang="pl-PL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</a:t>
              </a:r>
              <a:r>
                <a:rPr lang="en-US" sz="1000" dirty="0" smtClean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predykcja N kroków. Standard w cobotach i AV.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Maszyny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tanów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Behavior 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rchitektura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ecyzyjna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21250" y="837139"/>
            <a:ext cx="3902710" cy="953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Decyzja: co robot ma teraz robić? </a:t>
            </a:r>
            <a:endParaRPr lang="pl-PL" sz="1400" dirty="0" smtClean="0">
              <a:solidFill>
                <a:srgbClr val="3D51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Maszyna</a:t>
            </a: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stanów to dobry start, ale Behavior Trees (BT) skalują się lepiej dla złożonego zachowania.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795107"/>
            <a:ext cx="4160520" cy="168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</a:t>
            </a:r>
            <a:r>
              <a:rPr lang="pl-PL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</a:t>
            </a:r>
            <a:r>
              <a:rPr lang="pl-PL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993140"/>
            <a:ext cx="4160520" cy="36703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973278"/>
            <a:ext cx="914400" cy="16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046242"/>
            <a:ext cx="3995928" cy="357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py_trees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Liście (Behaviours)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CheckBattery(py_trees.behaviour.Behaviour):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update(self):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battery_level &gt; 20: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py_trees.common.Status.SUCCESS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py_trees.common.Status.FAILURE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NavigateToGoal(py_trees.behaviour.Behaviour):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update(self):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nav_complete: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py_trees.common.Status.SUCCESS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py_trees.common.Status.RUNNING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Drzewo: Sequence = AND, Selector = OR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py_trees.composites.Selector(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"Root", memory=False)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 = py_trees.composites.Sequence(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"Patrol", memory=False)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patrol.add_children([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CheckBattery(),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NavigateToGoal(),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PickObject()])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recharge = py_trees.composites.Sequence(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"Recharge", memory=False)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recharge.add_children([GoToCharger(), Charge()])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root.add_children([patrol, recharge])</a:t>
            </a:r>
            <a:endParaRPr lang="en-US" sz="850" dirty="0"/>
          </a:p>
        </p:txBody>
      </p:sp>
      <p:grpSp>
        <p:nvGrpSpPr>
          <p:cNvPr id="51" name="Grupa 50"/>
          <p:cNvGrpSpPr/>
          <p:nvPr/>
        </p:nvGrpSpPr>
        <p:grpSpPr>
          <a:xfrm>
            <a:off x="4663440" y="1974850"/>
            <a:ext cx="4242816" cy="2610612"/>
            <a:chOff x="4663440" y="1284478"/>
            <a:chExt cx="4242816" cy="3269234"/>
          </a:xfrm>
        </p:grpSpPr>
        <p:sp>
          <p:nvSpPr>
            <p:cNvPr id="12" name="Text 10"/>
            <p:cNvSpPr/>
            <p:nvPr/>
          </p:nvSpPr>
          <p:spPr>
            <a:xfrm>
              <a:off x="4663440" y="1284478"/>
              <a:ext cx="42062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 err="1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Porównanie</a:t>
              </a:r>
              <a:r>
                <a:rPr lang="en-US" sz="1200" b="1" dirty="0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FSM vs Behavior </a:t>
              </a:r>
              <a:r>
                <a:rPr lang="en-US" sz="1200" b="1" dirty="0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Trees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663440" y="1495044"/>
              <a:ext cx="1170432" cy="315468"/>
            </a:xfrm>
            <a:prstGeom prst="rect">
              <a:avLst/>
            </a:prstGeom>
            <a:solidFill>
              <a:srgbClr val="0C1420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718304" y="1463040"/>
              <a:ext cx="107899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9731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Aspekt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833872" y="1495044"/>
              <a:ext cx="1536192" cy="315468"/>
            </a:xfrm>
            <a:prstGeom prst="rect">
              <a:avLst/>
            </a:prstGeom>
            <a:solidFill>
              <a:srgbClr val="0C1420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888736" y="1463040"/>
              <a:ext cx="144475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9731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FSM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70064" y="1495044"/>
              <a:ext cx="1536192" cy="315468"/>
            </a:xfrm>
            <a:prstGeom prst="rect">
              <a:avLst/>
            </a:prstGeom>
            <a:solidFill>
              <a:srgbClr val="0C1420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424928" y="1495044"/>
              <a:ext cx="1444752" cy="3154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9731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Behavior Tree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663440" y="1865376"/>
              <a:ext cx="117043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718304" y="1865376"/>
              <a:ext cx="107899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Skalowalność</a:t>
              </a:r>
              <a:endParaRPr lang="en-US" sz="9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33872" y="186537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88736" y="186537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Eksplozja liczby stanów/tranzycji przy złożoności O(n²)</a:t>
              </a:r>
              <a:endParaRPr lang="en-US" sz="9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70064" y="186537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424928" y="186537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Hierarchiczna, modułowa — dodaj poddrzewo bez zmian istniejącego</a:t>
              </a:r>
              <a:endParaRPr lang="en-US" sz="9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663440" y="2414016"/>
              <a:ext cx="117043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718304" y="2414016"/>
              <a:ext cx="107899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Czytelność</a:t>
              </a:r>
              <a:endParaRPr lang="en-US" sz="9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833872" y="241401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888736" y="241401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Diagram stanów czytelny do ~20 stanów</a:t>
              </a:r>
              <a:endParaRPr lang="en-US" sz="9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370064" y="241401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424928" y="241401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XML/graficzny, narzędzia (Groot2) — wizualizacja w runtime</a:t>
              </a:r>
              <a:endParaRPr lang="en-US" sz="9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663440" y="2962656"/>
              <a:ext cx="117043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718304" y="2962656"/>
              <a:ext cx="107899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Reaktywność</a:t>
              </a:r>
              <a:endParaRPr lang="en-US" sz="9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833872" y="296265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5888736" y="296265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Trudna zmiana priorytetu — wymaga nowych tranzycji</a:t>
              </a:r>
              <a:endParaRPr lang="en-US" sz="9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7370064" y="296265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424928" y="296265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Selector re-evaluuje każdy tick — naturalny priorytet</a:t>
              </a:r>
              <a:endParaRPr lang="en-US" sz="9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663440" y="3511296"/>
              <a:ext cx="117043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718304" y="3511296"/>
              <a:ext cx="107899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Współbieżność</a:t>
              </a:r>
              <a:endParaRPr lang="en-US" sz="9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833872" y="351129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888736" y="351129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Wymaga przebudowy na Statecharts</a:t>
              </a:r>
              <a:endParaRPr lang="en-US" sz="9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370064" y="351129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7424928" y="351129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Parallel composite — wbudowana równoległość</a:t>
              </a:r>
              <a:endParaRPr lang="en-US" sz="9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663440" y="4059936"/>
              <a:ext cx="117043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718304" y="4059936"/>
              <a:ext cx="107899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Debugging</a:t>
              </a:r>
              <a:endParaRPr lang="en-US" sz="9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833872" y="405993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888736" y="405993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 tranzycji stanów</a:t>
              </a:r>
              <a:endParaRPr lang="en-US" sz="9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370064" y="4059936"/>
              <a:ext cx="1536192" cy="4937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7424928" y="4059936"/>
              <a:ext cx="1444752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Groot2 live visualization, każdy node status kolorowany</a:t>
              </a:r>
              <a:endParaRPr lang="en-US" sz="950" dirty="0"/>
            </a:p>
          </p:txBody>
        </p:sp>
      </p:grpSp>
      <p:sp>
        <p:nvSpPr>
          <p:cNvPr id="49" name="Shape 47"/>
          <p:cNvSpPr/>
          <p:nvPr/>
        </p:nvSpPr>
        <p:spPr>
          <a:xfrm>
            <a:off x="320040" y="4727712"/>
            <a:ext cx="8503920" cy="210048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00600"/>
            <a:ext cx="832104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spc="-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Nav2 używa BehaviorTree.CPP v4 z gotowymi BT XML. Otwórz Groot2 IDE → Live Monitor podczas nawigacji, by zobaczyć aktywny węzeł drzewa w czasie rzeczywistym.</a:t>
            </a:r>
            <a:endParaRPr lang="en-US" sz="1000" spc="-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MoveIt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 Ruchu Manipulatorów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to de facto standard planowania ruchu dla ramion robotycznych w ROS 2. Integruje IK, kolizje, trajektorie i sterowanie.</a:t>
            </a:r>
            <a:endParaRPr lang="en-US" sz="1200" dirty="0"/>
          </a:p>
        </p:txBody>
      </p:sp>
      <p:grpSp>
        <p:nvGrpSpPr>
          <p:cNvPr id="30" name="Grupa 29"/>
          <p:cNvGrpSpPr/>
          <p:nvPr/>
        </p:nvGrpSpPr>
        <p:grpSpPr>
          <a:xfrm>
            <a:off x="320040" y="1115568"/>
            <a:ext cx="8659368" cy="1170432"/>
            <a:chOff x="320040" y="1115568"/>
            <a:chExt cx="8659368" cy="1664208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425196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54864" cy="786384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48056" y="11704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MoveGroup Interface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8056" y="1435608"/>
              <a:ext cx="40690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Główne API. move_group.setPoseTarget() → plan() → execute(). Proste zadania w kilku linijkach Pythona/C++.</a:t>
              </a:r>
              <a:endParaRPr lang="en-US" sz="10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27448" y="1115568"/>
              <a:ext cx="425196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27448" y="1115568"/>
              <a:ext cx="54864" cy="786384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855464" y="11704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OMPL (planery)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55464" y="1435608"/>
              <a:ext cx="40690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Motion Planning Library: RRT*, PRM*, BIT*, LBTRRT. Każdy obsługuje 6-DOF w sekundach. Domyślny: RRT Connect.</a:t>
              </a:r>
              <a:endParaRPr lang="en-US" sz="10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1993392"/>
              <a:ext cx="425196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1993392"/>
              <a:ext cx="54864" cy="786384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2048256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FCL Collision Check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2313432"/>
              <a:ext cx="40690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Flexible Collision Library: sphere/box/mesh primitives. Sprawdza self-collision i environment. &lt; 1ms per check.</a:t>
              </a:r>
              <a:endParaRPr lang="en-US" sz="10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27448" y="1993392"/>
              <a:ext cx="425196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27448" y="1993392"/>
              <a:ext cx="54864" cy="786384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55464" y="2048256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KDL / TRAC-IK</a:t>
              </a:r>
              <a:endParaRPr lang="en-US" sz="11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55464" y="2313432"/>
              <a:ext cx="40690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Kinematics solver. TRAC-IK 3× szybszy i bardziej niezawodny niż KDL (78% → 99% success rate). Zawsze używaj TRAC-IK.</a:t>
              </a:r>
              <a:endParaRPr lang="en-US" sz="105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320040" y="23058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 chwytania obiektów (pick and place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580132"/>
            <a:ext cx="8503920" cy="193700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6258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2625852"/>
            <a:ext cx="83393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MoveIt 2 Python interface — pick &amp; place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moveit2 import MoveIt2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= MoveIt2(node, joint_names=["j1","j2","j3","j4","j5","j6"],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base_link="base_link", end_effector="tool0",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group_name="manipulator")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Zaplanuj do pozycji w przestrzeni kartezjańskiej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arm.set_pose_goal(position=[0.4, 0.2, 0.3],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quat_xyzw=[0, 0.707, 0, 0.707])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= arm.plan()        # OMPL planning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success: arm.execute()   # wysyła do ros2_control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Trajektoria kartezjańska (linearna, nie joint-space)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waypoints = [[0.4,0.2,0.3],[0.4,0.2,0.1],[0.4,0.3,0.1]]</a:t>
            </a:r>
            <a:endParaRPr lang="en-US" sz="850" dirty="0"/>
          </a:p>
          <a:p>
            <a:pPr marL="0" indent="0">
              <a:lnSpc>
                <a:spcPts val="1000"/>
              </a:lnSpc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arm.set_cartesian_path_goal(waypoints, max_step=0.005)  # 5mm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Uruchom MoveIt Setup Assistant (ros2 launch moveit_setup_assistant setup_assistant.launch.py) — generuje automatycznie SRDF, konfigurację collision matrix i launch files.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Uczenie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zmocnieniem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PPO, SAC i Sim2Real Transfer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dla robotów: zamiast programować zachowanie, robot uczy się go przez próby i błędy w symulacji. Sim2Real: przenieś nauczoną politykę na prawdziwy hardware.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61129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dla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sterowania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robotem</a:t>
            </a:r>
            <a:r>
              <a:rPr lang="pl-PL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Stable-Baselines3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223" y="1631202"/>
            <a:ext cx="4202337" cy="300469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5635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1000" y="1692290"/>
            <a:ext cx="4009867" cy="28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stable_baselines3 import PPO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stable_baselines3.common.env_util import (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make_vec_env)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import gymnasium as gym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Tworzenie środowiska (Gym / Gymnasium API)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env = make_vec_env("HalfCheetah-v4", n_envs=8)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n_envs=8: równoległe środowiska → szybsze próbkowanie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model = PPO(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"MlpPolicy",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env,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learning_rate=3e-4,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n_steps=2048,    # kroków zbieranych przed update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batch_size=64,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n_epochs=10,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gamma=0.99,      # discount factor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gae_lambda=0.95, # GAE advantage estimation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ent_coef=0.01,   # entropia → eksploracja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verbose=1)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model.learn(total_timesteps=1_000_000)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model.save("ppo_cheetah")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Inferencja: obs, _ = env.reset()</a:t>
            </a:r>
            <a:endParaRPr lang="en-US" sz="80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900"/>
              </a:lnSpc>
              <a:buNone/>
            </a:pPr>
            <a:r>
              <a:rPr lang="en-US" sz="80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action, _ = model.predict(obs, deterministic=True)</a:t>
            </a:r>
            <a:endParaRPr lang="en-US" sz="800" dirty="0">
              <a:latin typeface="Consolas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52833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Algorytmy RL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robotów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7475"/>
            <a:ext cx="4206240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27475"/>
            <a:ext cx="54864" cy="57785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825189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(Proximal Policy Optimization)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91456" y="2014165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On-policy. Stabilne, sample-efficient. Clip ratio ε=0.2. Złoty standard. Spot (BD) locomotion, OpenAI Dexterous Hand nauczyły się PPO.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42409"/>
            <a:ext cx="4206240" cy="58304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42409"/>
            <a:ext cx="54864" cy="58304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440123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(Soft Actor-Critic)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91456" y="2700981"/>
            <a:ext cx="4023360" cy="264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pc="-2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Off-policy, maximum entropy RL. Automatyczny tuning temperatury. Bardziej sample-efficient niż PPO. Dobry dla ciągłych przestrzeni akcji (ramię).</a:t>
            </a:r>
            <a:endParaRPr lang="en-US" sz="1050" spc="-20" dirty="0"/>
          </a:p>
        </p:txBody>
      </p:sp>
      <p:sp>
        <p:nvSpPr>
          <p:cNvPr id="21" name="Shape 19"/>
          <p:cNvSpPr/>
          <p:nvPr/>
        </p:nvSpPr>
        <p:spPr>
          <a:xfrm>
            <a:off x="4663440" y="308349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83490"/>
            <a:ext cx="54864" cy="7498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31066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Sim2Real Transfer </a:t>
            </a:r>
            <a:r>
              <a:rPr lang="pl-PL" sz="115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lang="en-US" sz="115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Randomization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3380924"/>
            <a:ext cx="4023360" cy="3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sim2real gap (tarcie, masa, opóźnienia różne). Rozwiązanie: randomizuj parametry w symulacji → polityka uodporniona na wariancję. NVIDIA używa Isaac Gym + DR.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86987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869874"/>
            <a:ext cx="54864" cy="7498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8929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Isaac Lab / IsaacGym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418991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GPU-accelerated: 4096 środowisk równolegle na 1 GPU. 10× szybsze niż Gazebo. PyTorch natywnie. Robot learning state-of-art. AnyBotics ANYmal trenowany w Isaac.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709810"/>
            <a:ext cx="8549640" cy="24700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91456"/>
            <a:ext cx="8321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spc="-3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Zacznij od Gymnasium MuJoCo envs (HalfCheetah, Ant, Humanoid) — stabilne benchmarki. Dopiero gdy polityka działa w symie, przenoś na hardware.</a:t>
            </a:r>
            <a:endParaRPr lang="en-US" sz="1050" spc="-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budowane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STM32, Raspberry Pi, Jetson i RTOS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to hierarchia komputerów: mikrokontroler (&lt; 1μs, PWM/SPI) → komputer pokładowy (nawigacja) → PC (planowanie, ML). Każdy poziom ma inne wymagania.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83250" y="1604930"/>
            <a:ext cx="3186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Operating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83250" y="1873034"/>
            <a:ext cx="3186430" cy="301807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1952925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35650" y="1993550"/>
            <a:ext cx="2960878" cy="283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FreeRTOS — sterowanie silnikiem, STM32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"FreeRTOS.h"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"task.h"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motor_control_task(void *pvParam)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TickType_t last_wake = xTaskGetTickCount();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for(;;)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Odczyt enkodera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pos = encoder_get_count();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PID: setpoint → PWM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pwm = pid_compute(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target_pos, pos, 0.001f); // dt=1ms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motor_set_pwm(pwm);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Precyzyjne 1kHz (1ms period)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vTaskDelayUntil(&amp;last_wake,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pdMS_TO_TICKS(1));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Priorytet: motor_task(5) &gt; nav_task(3) &gt; log(1)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xTaskCreate(motor_control_task, "motor",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256, NULL, 5, NULL);</a:t>
            </a:r>
            <a:endParaRPr lang="en-US" sz="850" dirty="0"/>
          </a:p>
        </p:txBody>
      </p:sp>
      <p:grpSp>
        <p:nvGrpSpPr>
          <p:cNvPr id="47" name="Grupa 46"/>
          <p:cNvGrpSpPr/>
          <p:nvPr/>
        </p:nvGrpSpPr>
        <p:grpSpPr>
          <a:xfrm>
            <a:off x="101600" y="1311910"/>
            <a:ext cx="5520980" cy="3625849"/>
            <a:chOff x="320040" y="1049904"/>
            <a:chExt cx="4160520" cy="3987805"/>
          </a:xfrm>
        </p:grpSpPr>
        <p:grpSp>
          <p:nvGrpSpPr>
            <p:cNvPr id="41" name="Grupa 40"/>
            <p:cNvGrpSpPr/>
            <p:nvPr/>
          </p:nvGrpSpPr>
          <p:grpSpPr>
            <a:xfrm>
              <a:off x="320040" y="1049904"/>
              <a:ext cx="4160520" cy="539496"/>
              <a:chOff x="320040" y="1168776"/>
              <a:chExt cx="4160520" cy="539496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320040" y="1168776"/>
                <a:ext cx="4160520" cy="53949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9" name="Shape 7"/>
              <p:cNvSpPr/>
              <p:nvPr/>
            </p:nvSpPr>
            <p:spPr>
              <a:xfrm>
                <a:off x="320040" y="1168776"/>
                <a:ext cx="54864" cy="539496"/>
              </a:xfrm>
              <a:prstGeom prst="rect">
                <a:avLst/>
              </a:prstGeom>
              <a:solidFill>
                <a:srgbClr val="1A6DB5"/>
              </a:solidFill>
              <a:ln/>
            </p:spPr>
          </p:sp>
          <p:sp>
            <p:nvSpPr>
              <p:cNvPr id="10" name="Text 8"/>
              <p:cNvSpPr/>
              <p:nvPr/>
            </p:nvSpPr>
            <p:spPr>
              <a:xfrm>
                <a:off x="448056" y="1205352"/>
                <a:ext cx="3977640" cy="1554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STM32F4/G4 (low-level ctrl)</a:t>
                </a:r>
                <a:endParaRPr lang="en-US" sz="115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448056" y="1397376"/>
                <a:ext cx="397764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spc="-3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Cortex-M4/M7, 168MHz. Sterowanie silnikami PWM, SPI do IMU, UART do czujników. Opóźnienie &lt; 1μs. FreeRTOS lub bare-metal. micro-ROS → DDS agent.</a:t>
                </a:r>
                <a:endParaRPr lang="en-US" sz="1000" spc="-30" dirty="0"/>
              </a:p>
            </p:txBody>
          </p:sp>
        </p:grpSp>
        <p:grpSp>
          <p:nvGrpSpPr>
            <p:cNvPr id="40" name="Grupa 39"/>
            <p:cNvGrpSpPr/>
            <p:nvPr/>
          </p:nvGrpSpPr>
          <p:grpSpPr>
            <a:xfrm>
              <a:off x="320040" y="1636898"/>
              <a:ext cx="4160520" cy="531368"/>
              <a:chOff x="320040" y="2009008"/>
              <a:chExt cx="4160520" cy="531368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20040" y="2009008"/>
                <a:ext cx="4160520" cy="53136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13" name="Shape 11"/>
              <p:cNvSpPr/>
              <p:nvPr/>
            </p:nvSpPr>
            <p:spPr>
              <a:xfrm>
                <a:off x="320040" y="2009008"/>
                <a:ext cx="54864" cy="531368"/>
              </a:xfrm>
              <a:prstGeom prst="rect">
                <a:avLst/>
              </a:prstGeom>
              <a:solidFill>
                <a:srgbClr val="EA6C00"/>
              </a:solidFill>
              <a:ln/>
            </p:spPr>
          </p:sp>
          <p:sp>
            <p:nvSpPr>
              <p:cNvPr id="14" name="Text 12"/>
              <p:cNvSpPr/>
              <p:nvPr/>
            </p:nvSpPr>
            <p:spPr>
              <a:xfrm>
                <a:off x="448056" y="2010024"/>
                <a:ext cx="3977640" cy="1965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Raspberry Pi 4/5 (mid-level)</a:t>
                </a:r>
                <a:endParaRPr lang="en-US" sz="115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448056" y="2190870"/>
                <a:ext cx="397764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ARM Cortex-A72, 4-core, 8GB RAM. ROS 2 natively. Brak gwarancji real-time (Linux). Dobry dla perception, planning. USB3 → kamera, WiFi, BT.</a:t>
                </a:r>
                <a:endParaRPr lang="en-US" sz="1000" dirty="0"/>
              </a:p>
            </p:txBody>
          </p:sp>
        </p:grpSp>
        <p:grpSp>
          <p:nvGrpSpPr>
            <p:cNvPr id="43" name="Grupa 42"/>
            <p:cNvGrpSpPr/>
            <p:nvPr/>
          </p:nvGrpSpPr>
          <p:grpSpPr>
            <a:xfrm>
              <a:off x="320040" y="2220399"/>
              <a:ext cx="4160520" cy="534105"/>
              <a:chOff x="320040" y="2783517"/>
              <a:chExt cx="4160520" cy="534105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20040" y="2783517"/>
                <a:ext cx="4160520" cy="53410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17" name="Shape 15"/>
              <p:cNvSpPr/>
              <p:nvPr/>
            </p:nvSpPr>
            <p:spPr>
              <a:xfrm>
                <a:off x="320040" y="2783517"/>
                <a:ext cx="54864" cy="534105"/>
              </a:xfrm>
              <a:prstGeom prst="rect">
                <a:avLst/>
              </a:prstGeom>
              <a:solidFill>
                <a:srgbClr val="1A8A4A"/>
              </a:solidFill>
              <a:ln/>
            </p:spPr>
          </p:sp>
          <p:sp>
            <p:nvSpPr>
              <p:cNvPr id="18" name="Text 16"/>
              <p:cNvSpPr/>
              <p:nvPr/>
            </p:nvSpPr>
            <p:spPr>
              <a:xfrm>
                <a:off x="448056" y="2809614"/>
                <a:ext cx="39776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NVIDIA Jetson Orin (AGX/NX)</a:t>
                </a:r>
                <a:endParaRPr lang="en-US" sz="115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448056" y="2997322"/>
                <a:ext cx="3977640" cy="302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spc="-3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12 TOPS NVDLA + GPU 1792 CUDA + ARM A78. Dedykowany robot AI. TensorRT inference YOLOv8 &lt; 3ms. Sterowanie robotem + ML na jednym modulu.</a:t>
                </a:r>
                <a:endParaRPr lang="en-US" sz="1000" spc="-30" dirty="0"/>
              </a:p>
            </p:txBody>
          </p:sp>
        </p:grpSp>
        <p:grpSp>
          <p:nvGrpSpPr>
            <p:cNvPr id="42" name="Grupa 41"/>
            <p:cNvGrpSpPr/>
            <p:nvPr/>
          </p:nvGrpSpPr>
          <p:grpSpPr>
            <a:xfrm>
              <a:off x="320040" y="2807081"/>
              <a:ext cx="4160520" cy="551942"/>
              <a:chOff x="320040" y="3580384"/>
              <a:chExt cx="4160520" cy="55194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320040" y="3580384"/>
                <a:ext cx="4160520" cy="55194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1" name="Shape 19"/>
              <p:cNvSpPr/>
              <p:nvPr/>
            </p:nvSpPr>
            <p:spPr>
              <a:xfrm>
                <a:off x="320040" y="3580384"/>
                <a:ext cx="54864" cy="551942"/>
              </a:xfrm>
              <a:prstGeom prst="rect">
                <a:avLst/>
              </a:prstGeom>
              <a:solidFill>
                <a:srgbClr val="6D28D9"/>
              </a:solidFill>
              <a:ln/>
            </p:spPr>
          </p:sp>
          <p:sp>
            <p:nvSpPr>
              <p:cNvPr id="22" name="Text 20"/>
              <p:cNvSpPr/>
              <p:nvPr/>
            </p:nvSpPr>
            <p:spPr>
              <a:xfrm>
                <a:off x="448056" y="3584448"/>
                <a:ext cx="397764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BeagleBone Blue / OpenCR</a:t>
                </a:r>
                <a:endParaRPr lang="en-US" sz="115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438912" y="3858635"/>
                <a:ext cx="3977640" cy="2075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Specjalizowane do robotów: OpenCR (Turtlebot3) – STM32 + IMU + motor drivers na jednej płycie. BeagleBone: PRU (200MHz real-time coprocessors).</a:t>
                </a:r>
                <a:endParaRPr lang="en-US" sz="1000" dirty="0"/>
              </a:p>
            </p:txBody>
          </p:sp>
        </p:grpSp>
        <p:grpSp>
          <p:nvGrpSpPr>
            <p:cNvPr id="44" name="Grupa 43"/>
            <p:cNvGrpSpPr/>
            <p:nvPr/>
          </p:nvGrpSpPr>
          <p:grpSpPr>
            <a:xfrm>
              <a:off x="320040" y="3391789"/>
              <a:ext cx="4160520" cy="511741"/>
              <a:chOff x="320040" y="4415282"/>
              <a:chExt cx="4160520" cy="511741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320040" y="4415282"/>
                <a:ext cx="4160520" cy="48380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25" name="Shape 23"/>
              <p:cNvSpPr/>
              <p:nvPr/>
            </p:nvSpPr>
            <p:spPr>
              <a:xfrm>
                <a:off x="320040" y="4415282"/>
                <a:ext cx="54864" cy="483806"/>
              </a:xfrm>
              <a:prstGeom prst="rect">
                <a:avLst/>
              </a:prstGeom>
              <a:solidFill>
                <a:srgbClr val="0D7F8F"/>
              </a:solidFill>
              <a:ln/>
            </p:spPr>
          </p:sp>
          <p:sp>
            <p:nvSpPr>
              <p:cNvPr id="26" name="Text 24"/>
              <p:cNvSpPr/>
              <p:nvPr/>
            </p:nvSpPr>
            <p:spPr>
              <a:xfrm>
                <a:off x="448056" y="4425696"/>
                <a:ext cx="3977640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micro-ROS</a:t>
                </a:r>
                <a:endParaRPr lang="en-US" sz="115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448056" y="4540055"/>
                <a:ext cx="3977640" cy="3869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1000" spc="-5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ROS 2 na mikrokontrolerach (STM32/ESP32). micro-ROS Agent na RPi/PC. Topiki, serwisy przez XRCE-DDS (UDP/UART/CAN). STM32 + FreeRTOS oficjalnie wspierany.</a:t>
                </a:r>
                <a:endParaRPr lang="en-US" sz="1000" spc="-50" dirty="0"/>
              </a:p>
            </p:txBody>
          </p:sp>
        </p:grpSp>
        <p:grpSp>
          <p:nvGrpSpPr>
            <p:cNvPr id="45" name="Grupa 44"/>
            <p:cNvGrpSpPr/>
            <p:nvPr/>
          </p:nvGrpSpPr>
          <p:grpSpPr>
            <a:xfrm>
              <a:off x="320040" y="3913759"/>
              <a:ext cx="4160520" cy="542290"/>
              <a:chOff x="4663440" y="3419856"/>
              <a:chExt cx="4160520" cy="54229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4663440" y="3429000"/>
                <a:ext cx="4160520" cy="5331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33" name="Shape 31"/>
              <p:cNvSpPr/>
              <p:nvPr/>
            </p:nvSpPr>
            <p:spPr>
              <a:xfrm>
                <a:off x="4663440" y="3429000"/>
                <a:ext cx="54864" cy="533146"/>
              </a:xfrm>
              <a:prstGeom prst="rect">
                <a:avLst/>
              </a:prstGeom>
              <a:solidFill>
                <a:srgbClr val="1A6DB5"/>
              </a:solidFill>
              <a:ln/>
            </p:spPr>
          </p:sp>
          <p:sp>
            <p:nvSpPr>
              <p:cNvPr id="34" name="Text 32"/>
              <p:cNvSpPr/>
              <p:nvPr/>
            </p:nvSpPr>
            <p:spPr>
              <a:xfrm>
                <a:off x="4791456" y="3419856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CAN Bus w robotach</a:t>
                </a:r>
                <a:endParaRPr lang="en-US" sz="115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4791456" y="3685032"/>
                <a:ext cx="402336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ISO 11898, 1Mbit/s. Odporny na zakłócenia. Multi-master. Sterowniki silników ESCON/ODrive/VESC komunikują przez CAN. ROS 2: ros2_socketcan.</a:t>
                </a:r>
                <a:endParaRPr lang="en-US" sz="1000" dirty="0"/>
              </a:p>
            </p:txBody>
          </p:sp>
        </p:grpSp>
        <p:grpSp>
          <p:nvGrpSpPr>
            <p:cNvPr id="46" name="Grupa 45"/>
            <p:cNvGrpSpPr/>
            <p:nvPr/>
          </p:nvGrpSpPr>
          <p:grpSpPr>
            <a:xfrm>
              <a:off x="320040" y="4501769"/>
              <a:ext cx="4160520" cy="535940"/>
              <a:chOff x="4663440" y="4059936"/>
              <a:chExt cx="4160520" cy="535940"/>
            </a:xfrm>
          </p:grpSpPr>
          <p:sp>
            <p:nvSpPr>
              <p:cNvPr id="36" name="Shape 34"/>
              <p:cNvSpPr/>
              <p:nvPr/>
            </p:nvSpPr>
            <p:spPr>
              <a:xfrm>
                <a:off x="4663440" y="4059936"/>
                <a:ext cx="4160520" cy="5359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37" name="Shape 35"/>
              <p:cNvSpPr/>
              <p:nvPr/>
            </p:nvSpPr>
            <p:spPr>
              <a:xfrm>
                <a:off x="4663440" y="4059936"/>
                <a:ext cx="54864" cy="535940"/>
              </a:xfrm>
              <a:prstGeom prst="rect">
                <a:avLst/>
              </a:prstGeom>
              <a:solidFill>
                <a:srgbClr val="EA6C00"/>
              </a:solidFill>
              <a:ln/>
            </p:spPr>
          </p:sp>
          <p:sp>
            <p:nvSpPr>
              <p:cNvPr id="38" name="Text 36"/>
              <p:cNvSpPr/>
              <p:nvPr/>
            </p:nvSpPr>
            <p:spPr>
              <a:xfrm>
                <a:off x="4791456" y="4059936"/>
                <a:ext cx="4023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ROS 2 real-time (Apex.OS)</a:t>
                </a:r>
                <a:endParaRPr lang="en-US" sz="115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4791456" y="4311144"/>
                <a:ext cx="402336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Apex.OS = certyfikowana ASIL-D dystrybucja ROS 2 z gwarancjami real-time. </a:t>
                </a:r>
                <a:r>
                  <a:rPr lang="pl-PL" sz="1000" dirty="0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pl-PL" sz="1000" dirty="0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</a:br>
                <a:r>
                  <a:rPr lang="en-US" sz="1000" dirty="0" err="1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Używana</a:t>
                </a:r>
                <a:r>
                  <a:rPr lang="en-US" sz="1000" dirty="0" smtClean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 autonomicznych wózkach widłowych STILL.</a:t>
                </a:r>
                <a:endParaRPr lang="en-US" sz="1000" dirty="0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Komunikacja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iskopoziomowa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CAN, UART, SPI, I²C, EtherCAT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protokół ma swoje zastosowanie. Dobry inżynier robotyki wybiera protokół pasujący do wymagań: przepustowość, dystans, real-time, koszty.</a:t>
            </a:r>
            <a:endParaRPr lang="en-US" sz="1400" dirty="0"/>
          </a:p>
        </p:txBody>
      </p:sp>
      <p:grpSp>
        <p:nvGrpSpPr>
          <p:cNvPr id="44" name="Grupa 43"/>
          <p:cNvGrpSpPr/>
          <p:nvPr/>
        </p:nvGrpSpPr>
        <p:grpSpPr>
          <a:xfrm>
            <a:off x="320040" y="1627632"/>
            <a:ext cx="8659368" cy="3182112"/>
            <a:chOff x="320040" y="1115568"/>
            <a:chExt cx="8659368" cy="3694176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54864" cy="117043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48056" y="1170432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CAN Bus (ISO 11898)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8056" y="1426464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6DB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⚡ 1 Mbit/s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874520" y="1426464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728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📡 40m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48056" y="1645920"/>
              <a:ext cx="39319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Sterowniki silników (ODrive, VESC), IMU przemysłowy. Multi-master, priorytetyzacja. Samochody od 1986.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27448" y="1115568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727448" y="1115568"/>
              <a:ext cx="54864" cy="117043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4855464" y="1170432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UART / RS-485</a:t>
              </a:r>
              <a:endParaRPr lang="en-US" sz="11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855464" y="1426464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A6C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⚡ 4 Mbit/s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81928" y="1426464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728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📡 1200m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55464" y="1645920"/>
              <a:ext cx="39319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modemy, LiDAR (RPLIDAR UART), debug console. Punkt-punkt lub multi-drop (RS-485). Asynchroniczny.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20040" y="2377440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20040" y="2377440"/>
              <a:ext cx="54864" cy="117043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48056" y="2432304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SPI</a:t>
              </a:r>
              <a:endParaRPr lang="en-US" sz="11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48056" y="2688336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8A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⚡ 50 Mbit/s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874520" y="2688336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728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📡 30cm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48056" y="2907792"/>
              <a:ext cx="39319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IMU (ICM-42688 10MHz SPI), Flash, enkodery absolutne. Full-duplex, synchroniczny. Master-slave.</a:t>
              </a:r>
              <a:endParaRPr lang="en-US" sz="14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727448" y="2377440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4727448" y="2377440"/>
              <a:ext cx="54864" cy="1170432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4855464" y="2432304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I²C</a:t>
              </a:r>
              <a:endParaRPr lang="en-US" sz="11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855464" y="2688336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D28D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⚡ 3.4 Mbit/s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281928" y="2688336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728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📡 1m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55464" y="2907792"/>
              <a:ext cx="39319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Czujniki dystansu, ekspandery GPIO, OLED display. Tylko 2 przewody (SDA+SCL). Adresowanie 7-bit.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20040" y="3639312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320040" y="3639312"/>
              <a:ext cx="54864" cy="1170432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448056" y="3694176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EtherCAT</a:t>
              </a:r>
              <a:endParaRPr lang="en-US" sz="11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48056" y="3950208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D7F8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⚡ 100 Mbit/s</a:t>
              </a:r>
              <a:endParaRPr lang="en-US" sz="1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874520" y="395020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728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📡 100m</a:t>
              </a:r>
              <a:endParaRPr lang="en-US" sz="14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48056" y="4169664"/>
              <a:ext cx="39319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Przemysłowe serwonapędy (Beckhoff AX5000). Jitter &lt; 1μs. Każdy slave przetwarza ramkę w locie.</a:t>
              </a:r>
              <a:endParaRPr lang="en-US" sz="14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727448" y="3639312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4727448" y="3639312"/>
              <a:ext cx="54864" cy="1170432"/>
            </a:xfrm>
            <a:prstGeom prst="rect">
              <a:avLst/>
            </a:prstGeom>
            <a:solidFill>
              <a:srgbClr val="B45309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855464" y="3694176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USB 3 / PCIe</a:t>
              </a:r>
              <a:endParaRPr lang="en-US" sz="11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4855464" y="3950208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B4530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⚡ 5 Gbit/s</a:t>
              </a:r>
              <a:endParaRPr lang="en-US" sz="14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281928" y="395020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728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📡 5m</a:t>
              </a:r>
              <a:endParaRPr lang="en-US" sz="14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855464" y="4169664"/>
              <a:ext cx="39319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Kamery RGB-D (ZED, RealSense), LiDAR 3D (Ouster). Wysoka przepustowość danych.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Symulacja — Gazebo Harmonic, Webots i NVIDIA Isaac Sim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skraca czas developmentu 10×: testuj algorytmy bez ryzyka uszkodzenia hardware. Wierność symulacji to klucz do skutecznego Sim2Real.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98755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Gazebo Harmonic (nowy Gazebo)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Następca Gazebo Classic. Zbudowany od zera: Ignition/gz-sim. Lepszy multi-robot, pluginy w Ignition Transport, OGRE 2 rendering. Integracja Nav2/MoveIt 2 przez ros_gz_bridge. Standard ROS 2.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39696"/>
            <a:ext cx="54864" cy="74980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2194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Webots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2459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WSL-friendly. Prostszy start niż Gazebo. Wbudowane modele: TIAGo, Spot, UR10. Python supervisor API. Dobry dla dydaktyki.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54864" cy="7498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980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CoppeliaSim (V-REP)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3246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Profesjonalny, komercyjny. Wbudowana odwrotna kinematyka IKfast, siły kontaktu, przenośnik taśmowy. Zbliżony do rzeczywistości fizycznej.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12464"/>
            <a:ext cx="54864" cy="7498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37673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Isaac Sim (Omniverse)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8056" y="40325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scene format. PhysX 5 physics. Fotorealistyczny rendering Lumen. 4096 równoległych środowisk GPU. Domain Randomization wbudowany. Przyszłość robotyki AI.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Gazebo — SDF i uruchamianie świata: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316736"/>
            <a:ext cx="4206240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92980" y="1408176"/>
            <a:ext cx="402640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launch/simulation.launch.py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launch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LaunchDescription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launch_ros.actions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import Node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launch.actions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IncludeLaunchDescription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generate_launch_description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LaunchDescription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# Gazebo z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customowym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światem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IncludeLaunchDescription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PythonLaunchDescriptionSource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gz_sim_pkg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"/launch/gz_sim.launch.py"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]),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launch_arguments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={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gz_args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my_world.sdf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-r"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}.items()),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# Bridge ROS 2 ↔ Gazebo Topics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Node(package="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ros_gz_bridge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executable="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parameter_bridge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arguments=[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cmd_vel@geometry_msgs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/msg/Twist"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"@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gz.msgs.Twist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scan@sensor_msgs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/msg/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LaserScan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"@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gz.msgs.LaserScan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]),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])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401568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URDF / SDF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91456" y="37216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(XML): links, joints, visual, collision, inertia. xacro: makra i parametry. SDF: Gazebo native, więcej właściwości fizycznych. Eksport z Fusion 360 / SolidWorks.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023360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4023360"/>
            <a:ext cx="54864" cy="5852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0782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ros2_control + Gazebo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91456" y="4343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hardware_interface::SystemInterface → Gazebo Plugin. Jeden kod kontrolera działa w symie i na hardware. Kluczowy wzorzec ROS 2.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Integracja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ełny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tack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awigacyjny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 AMR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7"/>
            <a:ext cx="8503920" cy="441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(Autonomous Mobile Robot) w magazynie: cel = dotarcie do punktu, podniesienie towaru, powrót. Wymaga integracji wszystkich komponentów.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9880" y="135891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Pełny stack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nawigacyjny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r>
              <a:rPr lang="pl-PL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r>
              <a:rPr lang="en-US" sz="13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przepływ danych:</a:t>
            </a:r>
            <a:endParaRPr lang="en-US" sz="1300" dirty="0"/>
          </a:p>
        </p:txBody>
      </p:sp>
      <p:grpSp>
        <p:nvGrpSpPr>
          <p:cNvPr id="38" name="Grupa 37"/>
          <p:cNvGrpSpPr/>
          <p:nvPr/>
        </p:nvGrpSpPr>
        <p:grpSpPr>
          <a:xfrm>
            <a:off x="320040" y="1644650"/>
            <a:ext cx="8503920" cy="2914548"/>
            <a:chOff x="320040" y="1316736"/>
            <a:chExt cx="8503920" cy="3401568"/>
          </a:xfrm>
        </p:grpSpPr>
        <p:sp>
          <p:nvSpPr>
            <p:cNvPr id="9" name="Shape 7"/>
            <p:cNvSpPr/>
            <p:nvPr/>
          </p:nvSpPr>
          <p:spPr>
            <a:xfrm>
              <a:off x="320040" y="1316736"/>
              <a:ext cx="1097280" cy="621792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20040" y="1316736"/>
              <a:ext cx="109728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Misja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417320" y="1316736"/>
              <a:ext cx="7406640" cy="621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536192" y="1353312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Fleet Manager / REST API → cel (x,y,yaw) lub lista waypointów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85800" y="1938528"/>
              <a:ext cx="457200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↕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0040" y="2011680"/>
              <a:ext cx="1097280" cy="62179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320040" y="2011680"/>
              <a:ext cx="109728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Planowanie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417320" y="2011680"/>
              <a:ext cx="7406640" cy="621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536192" y="2048256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Nav2 BT Navigator → Smac Planner (global) + DWB/MPPI (local) → /cmd_vel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2633472"/>
              <a:ext cx="457200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↕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20040" y="2706624"/>
              <a:ext cx="1097280" cy="62179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320040" y="2706624"/>
              <a:ext cx="109728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Lokalizacja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417320" y="2706624"/>
              <a:ext cx="7406640" cy="621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536192" y="2743200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AMCL na mapie OR Cartographer SLAM (dynamiczne środowisko) → /tf: map→odom→base_link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85800" y="3328416"/>
              <a:ext cx="457200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↕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401568"/>
              <a:ext cx="1097280" cy="62179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20040" y="3401568"/>
              <a:ext cx="109728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Percepcja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1417320" y="3401568"/>
              <a:ext cx="7406640" cy="621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1536192" y="3438144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LiDAR 2D (RPLIDAR) → LaserScan → costmap. Kamera → YOLO → obstacle avoidance layer</a:t>
              </a:r>
              <a:endParaRPr lang="en-US" sz="11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85800" y="4023360"/>
              <a:ext cx="457200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5F72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↕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20040" y="4096512"/>
              <a:ext cx="1097280" cy="621792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20040" y="4096512"/>
              <a:ext cx="109728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Sterowanie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417320" y="4096512"/>
              <a:ext cx="7406640" cy="6217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1536192" y="413308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ros2_control: diff_drive_controller → PID PWM → silniki DC. Enkodery → odometria</a:t>
              </a:r>
              <a:endParaRPr lang="en-US" sz="1100" dirty="0"/>
            </a:p>
          </p:txBody>
        </p:sp>
      </p:grpSp>
      <p:sp>
        <p:nvSpPr>
          <p:cNvPr id="33" name="Shape 31"/>
          <p:cNvSpPr/>
          <p:nvPr/>
        </p:nvSpPr>
        <p:spPr>
          <a:xfrm>
            <a:off x="320040" y="4773168"/>
            <a:ext cx="8503920" cy="91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001768"/>
            <a:ext cx="83393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grpSp>
        <p:nvGrpSpPr>
          <p:cNvPr id="37" name="Grupa 36"/>
          <p:cNvGrpSpPr/>
          <p:nvPr/>
        </p:nvGrpSpPr>
        <p:grpSpPr>
          <a:xfrm>
            <a:off x="309880" y="4682236"/>
            <a:ext cx="8503920" cy="210312"/>
            <a:chOff x="320040" y="4727448"/>
            <a:chExt cx="8503920" cy="210312"/>
          </a:xfrm>
        </p:grpSpPr>
        <p:sp>
          <p:nvSpPr>
            <p:cNvPr id="35" name="Shape 33"/>
            <p:cNvSpPr/>
            <p:nvPr/>
          </p:nvSpPr>
          <p:spPr>
            <a:xfrm>
              <a:off x="320040" y="4727448"/>
              <a:ext cx="8503920" cy="210312"/>
            </a:xfrm>
            <a:prstGeom prst="rect">
              <a:avLst/>
            </a:prstGeom>
            <a:solidFill>
              <a:srgbClr val="FFF4E6"/>
            </a:solidFill>
            <a:ln w="12700">
              <a:solidFill>
                <a:srgbClr val="EA6C0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57200" y="4773168"/>
              <a:ext cx="8321040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spc="-2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Diagnoza: ros2 topic hz /scan (sprawdź 10Hz LiDAR) · ros2 topic echo /tf (sprawdź transformacje) · rviz2 → Add → TF · rqt_graph → sprawdź połączenia węzłów</a:t>
              </a:r>
              <a:endParaRPr lang="en-US" sz="1000" spc="-2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Coboty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ezpieczeństwo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10218, Power and Force Limiting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 (collaborative robot) = robot pracujący bezpiecznie obok człowieka bez fizycznej bariery. Wymaga certyfikacji i analizy ryzyka.</a:t>
            </a:r>
            <a:endParaRPr lang="en-US" sz="1200" dirty="0"/>
          </a:p>
        </p:txBody>
      </p:sp>
      <p:grpSp>
        <p:nvGrpSpPr>
          <p:cNvPr id="39" name="Grupa 38"/>
          <p:cNvGrpSpPr/>
          <p:nvPr/>
        </p:nvGrpSpPr>
        <p:grpSpPr>
          <a:xfrm>
            <a:off x="320040" y="1156716"/>
            <a:ext cx="4160520" cy="3474720"/>
            <a:chOff x="320040" y="1042416"/>
            <a:chExt cx="4160520" cy="3694176"/>
          </a:xfrm>
        </p:grpSpPr>
        <p:sp>
          <p:nvSpPr>
            <p:cNvPr id="8" name="Text 6"/>
            <p:cNvSpPr/>
            <p:nvPr/>
          </p:nvSpPr>
          <p:spPr>
            <a:xfrm>
              <a:off x="320040" y="1042416"/>
              <a:ext cx="4160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Tryby pracy cobota (ISO/TS 15066</a:t>
              </a:r>
              <a:r>
                <a:rPr lang="en-US" sz="1200" b="1" dirty="0" smtClean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0040" y="1316736"/>
              <a:ext cx="416052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0040" y="1316736"/>
              <a:ext cx="54864" cy="786384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48056" y="1371600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SSM — Speed &amp; Separation Monitoring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48056" y="1636776"/>
              <a:ext cx="39776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Kamera/LiDAR monitoruje dystans człowiek-robot. Prędkość robota spada proporcjonalnie do zbliżenia. Zatrzymanie przy &lt;100mm.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2194560"/>
              <a:ext cx="416052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20040" y="2194560"/>
              <a:ext cx="54864" cy="786384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48056" y="2249424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PFL — Power &amp; Force Limiting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8056" y="2514600"/>
              <a:ext cx="39776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Czujniki siły/momentu w każdym stawie. Zatrzymanie gdy F&gt;150N lub moment&gt;80Nm. UR/KUKA/Fanuc cobots.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3072384"/>
              <a:ext cx="416052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20040" y="3072384"/>
              <a:ext cx="54864" cy="786384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48056" y="3127248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HGP — Hand Guiding Port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48056" y="3392424"/>
              <a:ext cx="39776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Człowiek prowadzi ramię ręcznie (gravity compensation). Teach-by-demonstration. FT sensor na flanszu.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0040" y="3950208"/>
              <a:ext cx="4160520" cy="786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320040" y="3950208"/>
              <a:ext cx="54864" cy="786384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48056" y="4005072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STO — Safe Torque Off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48056" y="4270248"/>
              <a:ext cx="39776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Stop kategorii 0: natychmiastowe odcięcie napędu. Relay bezpieczeństwa + SIL 2. Zawsze jako ostateczność.</a:t>
              </a:r>
              <a:endParaRPr lang="en-US" sz="11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komunikacja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r>
              <a:rPr lang="pl-PL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UR10e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316736"/>
            <a:ext cx="4206240" cy="20015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1343406"/>
            <a:ext cx="4041648" cy="186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UR10e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przez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ur_robot_driver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(ROS 2)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Prędkość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max: 1m/s (safety-limited)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Payload: 12.5kg, Reach: 1300mm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joint_trajectory_controller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→ 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joint_trajectory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control_msgs.action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FollowJointTrajectory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trajectory_msgs.msg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JointTrajectoryPoint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point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JointTrajectoryPoint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point.positions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[0.0, -1.57, 1.57,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  -1.57, -1.57, 0.0]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[base, shoulder, elbow, w1, w2, w3] rad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point.time_from_start.sec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2  # 2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sekundy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Safety: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tool_contact_threshold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50N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Jeśli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FT sensor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przekroczy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→ E-STOP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Konfiguracja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w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PolyScope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Safety Panel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grpSp>
        <p:nvGrpSpPr>
          <p:cNvPr id="40" name="Grupa 39"/>
          <p:cNvGrpSpPr/>
          <p:nvPr/>
        </p:nvGrpSpPr>
        <p:grpSpPr>
          <a:xfrm>
            <a:off x="4663440" y="3363996"/>
            <a:ext cx="4206240" cy="1244580"/>
            <a:chOff x="4663440" y="3255264"/>
            <a:chExt cx="4206240" cy="1353312"/>
          </a:xfrm>
        </p:grpSpPr>
        <p:sp>
          <p:nvSpPr>
            <p:cNvPr id="29" name="Shape 27"/>
            <p:cNvSpPr/>
            <p:nvPr/>
          </p:nvSpPr>
          <p:spPr>
            <a:xfrm>
              <a:off x="4663440" y="3255264"/>
              <a:ext cx="420624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663440" y="3255264"/>
              <a:ext cx="54864" cy="694944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791456" y="3257109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Analiza ryzyka (ISO 12100)</a:t>
              </a:r>
              <a:endParaRPr lang="en-US" sz="11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791456" y="3577523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Identyfikacja zagrożeń → ocena ryzyka (Severity × Probability × Avoidability) → redukcja przez design → ostrzeżenia → PPE. Dokumentacja obowiązkowa dla CE.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663440" y="3984358"/>
              <a:ext cx="4206240" cy="6242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3984358"/>
              <a:ext cx="54864" cy="624218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91456" y="3984358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Popularne coboty 2024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791456" y="4284058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UR10e (Universal Robots) · KUKA LBR iisy · Fanuc CRX · ABB GoFa/Swifti · Franka Emika Panda (research standard) · Techman TM14.</a:t>
              </a:r>
              <a:endParaRPr lang="en-US" sz="1050" dirty="0"/>
            </a:p>
          </p:txBody>
        </p:sp>
      </p:grpSp>
      <p:sp>
        <p:nvSpPr>
          <p:cNvPr id="37" name="Shape 35"/>
          <p:cNvSpPr/>
          <p:nvPr/>
        </p:nvSpPr>
        <p:spPr>
          <a:xfrm>
            <a:off x="320040" y="4736592"/>
            <a:ext cx="8503920" cy="201168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57420"/>
            <a:ext cx="83210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NEVER connect cobot directly to ROS 2 without safety controller in the loop. Używaj certified safety PLC (e.g. Pilz PNOZ) jako hardware guard.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ielorobotowe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Koordynacja, Rój i Fleet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Wiele robotów może robić więcej niż jeden — ale koordynacja to nowy problem: unikanie kolizji, rozdzielanie zadań, komunikacja.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w ROS 2 (namespace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2128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371098"/>
            <a:ext cx="3995928" cy="2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Każdy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robot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osobna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przestrzeń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nazw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robot_1/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cmd_vel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robot_2/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cmd_vel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robot_1/scan, robot_2/scan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launch/multi_robot.launch.py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robots = 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{"name":"robot_1","x":0.0,"y":0.0},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{"name":"robot_2","x":2.0,"y":0.0},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{"name":"robot_3","x":4.0,"y":0.0},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]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for robot in robots: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ld.add_action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(Node(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package="nav2_bringup",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executable="bringup_launch.py",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namespace=robot["name"],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parameters=[{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use_namespace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True,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robot_name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robot["name"],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}]))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MAPF: Multi-Agent Path Finding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CBS (Conflict-Based Search)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dla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optymalności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4640" y="361010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4640" y="3610102"/>
            <a:ext cx="54864" cy="60350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22656" y="361416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MAPF — planowanie wielu agentów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2656" y="387934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Conflict-Based Search (CBS): dekompozycja na single-agent + tree konfliktów. Suboptymalne: WHCA* (windowed). Amazon Robotics: 750k robotów w magazynach.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4640" y="427939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4640" y="4279392"/>
            <a:ext cx="54864" cy="60350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22656" y="42834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Management System (FMS)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2656" y="45486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allocation (aukcja, Hungarian method). Traffic management (virtual lanes, traffic lights). Open-source: OpenRMF. Komercyjny: MiR Fleet, OTTO Fleet.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roju (Swarm Robotics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16736"/>
            <a:ext cx="54864" cy="71323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131445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Flocking (Craig Reynolds Boids)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157962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reguły: Separation (unikaj sąsiadów) + Alignment (wyrównaj prędkość) + Cohesion (trzymaj się grupy). Emergentne zachowanie z prostych reguł lokalnych.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6654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066544"/>
            <a:ext cx="54864" cy="7132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0452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Stigmergy — komunikacja przez środowisko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23103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mrówki: zostawiaj ślad (virtual pheromone). Robot czyta/pisze do shared map. Nie wymaga bezpośredniej komunikacji. Skalowalny do tysięcy agentów.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1635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16352"/>
            <a:ext cx="54864" cy="713232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285216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Kilobot / e-puck / Crazyflie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11734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Kilobot (Harvard): 3cm, IR komunikacja, 1024 roju. e-puck 2: edukacyjny. Crazyflie 2.1: nano-dron, swarm flights z Crazyswarm2 ROS 2 package.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66160"/>
            <a:ext cx="54864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5829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Przeszkody: komunikacja i skalowanie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38481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 N² wiadomości dla all-to-all. Rozwiązanie: broadcast lokal. Konsensus (Raft/Paxos) przy centralizowanym FMS. ROS 2 DDS ograniczone do ~50 robotów bez tuningu.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4315968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4315968"/>
            <a:ext cx="54864" cy="6035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4370832"/>
            <a:ext cx="4023360" cy="1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Robotics / Kiva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00600" y="4530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robotów Proteus w centrach dystrybucji. Siatka 30cm — roboty przywożą półki do człowieka. 3× szybszy fulfillment. $775M akwizycja Kiva 2012.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Studium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rzypadku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utonomiczny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amochód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(SAE L4)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(Autonomous Vehicle) to najbardziej wymagające wdrożenie robotyki: pełne bezpieczeństwo życia, każdy edge case musi być obsłużony.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85953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128-line (Luminar Iris) + kamera 360° (8×) + radar 4D (Continental ARS540). Sensor fusion: BEV (Bird's Eye View) representation.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0965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54864" cy="85953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Predykcja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55464" y="14356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Przewidywanie zachowania pieszych/aut na 5s. Transformer-based (Wayformer, MTR). Multiple hypotheses z probability distribution.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075688"/>
            <a:ext cx="54864" cy="85953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1305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2395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prediction: reguły drogowe + optymalizacja trajektorii. </a:t>
            </a:r>
            <a:r>
              <a:rPr lang="pl-PL" sz="105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5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</a:t>
            </a: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constraint satisfaction. Waymo używa Monte Carlo rollouts.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075688"/>
            <a:ext cx="40965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075688"/>
            <a:ext cx="54864" cy="85953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1305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395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/ Pure Pursuit + MPC dla śledzenia ścieżki. Lat/Lon control: kierownica + gaz/hamulec. Aktuatory by-wire (EPS + EBS).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3580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35808"/>
            <a:ext cx="54864" cy="85953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0906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 Mapa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335584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Centrymetrowa mapa 3D z liniami, znakami, sygnalizacją, semantyką. Offline budowana przez mapping vehicles. Online: lokalizacja w mapie.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03580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35808"/>
            <a:ext cx="54864" cy="71323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" y="30906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Sprzęt obliczeniowy — NVIDIA DRIVE Thor / Orin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8056" y="335584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Orin: 254 TOPS. DRIVE Thor (2025): 2000 TOPS. Redundancja 2+1: primary compute + safety monitor + lockstep. Fail-operational: 3s maneuver po awarii compute.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822192"/>
            <a:ext cx="8503920" cy="310896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587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🏎  Porównanie 2024: Waymo One (L4, 25 miast USA) · Baidu Apollo Go · WeRide · Tesla FSD Beta (L2+, ADAS). Waymo: 0 fatalities / 10M km. Ludzie: 1.37 deaths / 100M km.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87952"/>
            <a:ext cx="8503920" cy="310896"/>
          </a:xfrm>
          <a:prstGeom prst="rect">
            <a:avLst/>
          </a:prstGeom>
          <a:solidFill>
            <a:srgbClr val="E8F4FD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245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Apollo Open Platform: Baidu open-source AV stack. GitHub: ApolloAuto/apollo. 100+ modułów, własny simulator (Dreamview). Używany przez 200+ firm.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Robot dostawczy (studium przypadku sl. 29) jest lepszym projektem niż AV — niższe prędkości (&lt;20km/h), mniejsze ODD, bardziej osiągalny jako projekt studencki.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Standardy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ezpieczeństwa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10218, ISO 26262, IEC 61508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robotów to wymóg prawny (CE marking, OSHA) i etyczny. Systemy autonomiczne muszą dowieść bezpieczeństwa formalnie.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Hierarchia </a:t>
            </a:r>
            <a:r>
              <a:rPr lang="en-US" sz="13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standardów</a:t>
            </a: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bezpieczeństwa</a:t>
            </a:r>
            <a:endParaRPr lang="en-US" sz="1300" dirty="0"/>
          </a:p>
        </p:txBody>
      </p:sp>
      <p:grpSp>
        <p:nvGrpSpPr>
          <p:cNvPr id="46" name="Grupa 45"/>
          <p:cNvGrpSpPr/>
          <p:nvPr/>
        </p:nvGrpSpPr>
        <p:grpSpPr>
          <a:xfrm>
            <a:off x="320040" y="1591056"/>
            <a:ext cx="8503920" cy="2903647"/>
            <a:chOff x="320040" y="1316736"/>
            <a:chExt cx="8503920" cy="3174173"/>
          </a:xfrm>
        </p:grpSpPr>
        <p:sp>
          <p:nvSpPr>
            <p:cNvPr id="9" name="Shape 7"/>
            <p:cNvSpPr/>
            <p:nvPr/>
          </p:nvSpPr>
          <p:spPr>
            <a:xfrm>
              <a:off x="320040" y="1316736"/>
              <a:ext cx="8503920" cy="5852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20040" y="1316736"/>
              <a:ext cx="54864" cy="58521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57200" y="1353312"/>
              <a:ext cx="13716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6D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IEC 61508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920240" y="1353312"/>
              <a:ext cx="27432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Elektryczne/elektroniczne systemy safety-critical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54880" y="1408176"/>
              <a:ext cx="914400" cy="40233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754880" y="1408176"/>
              <a:ext cx="9144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SIL 1–4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60720" y="1353312"/>
              <a:ext cx="30175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nadrzędny. Definiuje SIL (Safety Integrity Level). Podstawa dla ISO 26262 i ISO 10218.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1975104"/>
              <a:ext cx="8503920" cy="5852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20040" y="1975104"/>
              <a:ext cx="54864" cy="58521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57200" y="2011680"/>
              <a:ext cx="13716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EA6C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ISO 10218-1/2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920240" y="2011680"/>
              <a:ext cx="27432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Roboty przemysłowe i komórki robotyczne</a:t>
              </a:r>
              <a:endParaRPr lang="en-US" sz="10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2066544"/>
              <a:ext cx="914400" cy="402336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4754880" y="2066544"/>
              <a:ext cx="9144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PLd/SIL2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760720" y="2011680"/>
              <a:ext cx="30175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Część 1: robot. Część 2: instalacja. Definiuje PL (Performance Level) a-e według EN ISO 13849-1.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20040" y="2633472"/>
              <a:ext cx="8503920" cy="5852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20040" y="2633472"/>
              <a:ext cx="54864" cy="58521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457200" y="2670048"/>
              <a:ext cx="13716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8A4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ISO/TS 15066</a:t>
              </a:r>
              <a:endParaRPr lang="en-US" sz="11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920240" y="2670048"/>
              <a:ext cx="27432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Roboty współpracujące (coboty)</a:t>
              </a:r>
              <a:endParaRPr lang="en-US" sz="10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754880" y="2724912"/>
              <a:ext cx="914400" cy="402336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4754880" y="2724912"/>
              <a:ext cx="9144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PLd/SIL2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760720" y="2670048"/>
              <a:ext cx="30175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Uszczegółowia 10218 dla cobotów: SSM, PFL, HGP tryby. BioMechanical Limit Tables dla sił zderzenia.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20040" y="3291840"/>
              <a:ext cx="8503920" cy="5852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320040" y="3291840"/>
              <a:ext cx="54864" cy="58521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457200" y="3328416"/>
              <a:ext cx="13716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6D28D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ISO 26262</a:t>
              </a:r>
              <a:endParaRPr lang="en-US" sz="11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920240" y="3328416"/>
              <a:ext cx="27432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Automotive ASIL (pojazdy drogowe)</a:t>
              </a:r>
              <a:endParaRPr lang="en-US" sz="10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754880" y="3383280"/>
              <a:ext cx="914400" cy="40233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54880" y="3383280"/>
              <a:ext cx="9144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ASIL A–D</a:t>
              </a:r>
              <a:endParaRPr lang="en-US" sz="1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760720" y="3328416"/>
              <a:ext cx="30175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ASIL D = najwyższy. Dotyczy AV, systemów ADAS. Deterministic failure rate 10⁻⁸/h dla ASIL D.</a:t>
              </a:r>
              <a:endParaRPr lang="en-US" sz="10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20040" y="3957149"/>
              <a:ext cx="8503920" cy="533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320040" y="3957149"/>
              <a:ext cx="54864" cy="533760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57200" y="4014551"/>
              <a:ext cx="1371600" cy="436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0D7F8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UL 4600 (AV)</a:t>
              </a:r>
              <a:endParaRPr lang="en-US" sz="11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920240" y="3986784"/>
              <a:ext cx="2743200" cy="4586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26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Pojazdy autonomiczne — brak kierowcy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754880" y="4020823"/>
              <a:ext cx="914400" cy="402336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4754880" y="4041648"/>
              <a:ext cx="914400" cy="3697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Safety Case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760720" y="3986784"/>
              <a:ext cx="3017520" cy="4641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oparty o Safety Case (argumentacja). AWS, Waymo pracują z UL 4600. USA/CA AV regulations.</a:t>
              </a:r>
              <a:endParaRPr lang="en-US" sz="1000" dirty="0"/>
            </a:p>
          </p:txBody>
        </p:sp>
      </p:grpSp>
      <p:sp>
        <p:nvSpPr>
          <p:cNvPr id="44" name="Shape 42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Dla projektu studenckiego: przeprowadź uproszczoną analizę ryzyka (FMEA: co może pójść źle → skutek → zabezpieczenie). Minimum: E-STOP sprzętowy + ogranicznik prędkości.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Studium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rzypadku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utonomiczny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ostawczy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7"/>
            <a:ext cx="8503920" cy="3614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Technologies, Nuro, Amazon Scout: roboty trotuar-level delivery. </a:t>
            </a:r>
            <a:endParaRPr lang="pl-PL" sz="1400" dirty="0" smtClean="0">
              <a:solidFill>
                <a:srgbClr val="3D51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w ograniczonym ODD (trotuary, maks 20km/h, geofence).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2644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Starship (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uproszczona</a:t>
            </a:r>
            <a:r>
              <a:rPr lang="en-US" sz="1200" b="1" dirty="0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00" dirty="0"/>
          </a:p>
        </p:txBody>
      </p:sp>
      <p:grpSp>
        <p:nvGrpSpPr>
          <p:cNvPr id="51" name="Grupa 50"/>
          <p:cNvGrpSpPr/>
          <p:nvPr/>
        </p:nvGrpSpPr>
        <p:grpSpPr>
          <a:xfrm>
            <a:off x="320040" y="1537208"/>
            <a:ext cx="4160520" cy="3081528"/>
            <a:chOff x="320040" y="1316736"/>
            <a:chExt cx="4160520" cy="3493008"/>
          </a:xfrm>
        </p:grpSpPr>
        <p:sp>
          <p:nvSpPr>
            <p:cNvPr id="9" name="Shape 7"/>
            <p:cNvSpPr/>
            <p:nvPr/>
          </p:nvSpPr>
          <p:spPr>
            <a:xfrm>
              <a:off x="320040" y="1316736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0040" y="1316736"/>
              <a:ext cx="54864" cy="640080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48056" y="1321215"/>
              <a:ext cx="397764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Sensory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48056" y="1600786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 kamer + LiDAR 2D + ultrasonic + GPS RTK. Kamera 360° główna. GPS RTK ±2cm dla fine localization przy skrzyżowaniach.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2029968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20040" y="2029968"/>
              <a:ext cx="54864" cy="640080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48056" y="2034446"/>
              <a:ext cx="397764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Mapa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8056" y="2314018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Wstępna mapa: HD survey vehicle. Update: każdy robot aktualizuje shared cloud map. Waypoints to trotuary, miejsca dostawy.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743200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20040" y="2743200"/>
              <a:ext cx="54864" cy="640080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48056" y="2747679"/>
              <a:ext cx="397764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Percepcja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48056" y="3027250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Detekcja pieszych: kamera + depth estimation. Bariera 50cm → zatrzymanie. Cloud-assisted dla edge cases (video streaming).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0040" y="3456432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320040" y="3456432"/>
              <a:ext cx="54864" cy="640080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48056" y="3460911"/>
              <a:ext cx="397764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Nawigacja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48056" y="3740483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A* po graphie trotuarowym (pre-mapped). Local: DWA. Skrzyżowanie: oczekiwanie na zielone (detekcja sygnalizacji YOLO).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4169664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320040" y="4169664"/>
              <a:ext cx="54864" cy="640080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48056" y="4174142"/>
              <a:ext cx="3977640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Fleet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48056" y="4453714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1000+ robotów w 100+ miastach. Centrala widzi wszystkie roboty real-time. Teleoperator interweniuje dla &lt; 1% dostaw.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663440" y="1245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metryki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wyzwania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519936"/>
            <a:ext cx="4206240" cy="157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5656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1573276"/>
            <a:ext cx="40416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Specyfikacja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techniczna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(Starship Gen 3)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robot_specs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{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masa_kg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   : 50,          # + 10kg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ładunek</a:t>
            </a:r>
            <a:endParaRPr lang="en-US" sz="75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max_speed_kmh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6,          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trotuar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-safe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bateria_Wh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: 450,         # ~6h / 20km range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"sensory"     : "9 cam + LiDAR + USS + GPS RTK",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"compute"     : "NVIDIA Jetson Orin NX",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"lockbox"     : "code unlock via mobile app",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# KPI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produkcyjne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delivery_success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0.998,   # 99.8%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kompletnych</a:t>
            </a:r>
            <a:endParaRPr lang="en-US" sz="75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teleop_rate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   : 0.008,   # 0.8% z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interwencją</a:t>
            </a:r>
            <a:endParaRPr lang="en-US" sz="75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mtbf_hours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    : 500,     # mean time between failure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</a:t>
            </a:r>
            <a:endParaRPr lang="en-US" sz="750">
              <a:latin typeface="Consolas"/>
              <a:ea typeface="Calibri"/>
              <a:cs typeface="Calibri"/>
            </a:endParaRPr>
          </a:p>
        </p:txBody>
      </p:sp>
      <p:grpSp>
        <p:nvGrpSpPr>
          <p:cNvPr id="53" name="Grupa 52"/>
          <p:cNvGrpSpPr/>
          <p:nvPr/>
        </p:nvGrpSpPr>
        <p:grpSpPr>
          <a:xfrm>
            <a:off x="4663440" y="3167866"/>
            <a:ext cx="4206240" cy="1450869"/>
            <a:chOff x="4663440" y="3064873"/>
            <a:chExt cx="4206240" cy="1781447"/>
          </a:xfrm>
        </p:grpSpPr>
        <p:sp>
          <p:nvSpPr>
            <p:cNvPr id="33" name="Shape 31"/>
            <p:cNvSpPr/>
            <p:nvPr/>
          </p:nvSpPr>
          <p:spPr>
            <a:xfrm>
              <a:off x="4663440" y="3072384"/>
              <a:ext cx="2029968" cy="8412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3072384"/>
              <a:ext cx="54864" cy="841248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791456" y="3088264"/>
              <a:ext cx="1847088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Stairs &amp; kerbs</a:t>
              </a:r>
              <a:endParaRPr lang="en-US" sz="11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791456" y="3392424"/>
              <a:ext cx="1847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9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Nie może wchodzić po schodach — musi omijać. HD mapa: predefiniowane przejścia dla pieszych z ramą.</a:t>
              </a:r>
              <a:endParaRPr lang="en-US" sz="9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839712" y="3072384"/>
              <a:ext cx="2029968" cy="8412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6839712" y="3072384"/>
              <a:ext cx="54864" cy="841248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6967728" y="3064873"/>
              <a:ext cx="1847088" cy="2377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Agresywne dzieci</a:t>
              </a:r>
              <a:endParaRPr lang="en-US" sz="11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967728" y="3392424"/>
              <a:ext cx="184708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9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Rzeczywisty problem! Monitoring kamery + remote intervention. Stalowe obudowanie kół. Brak danych osobowych.</a:t>
              </a:r>
              <a:endParaRPr lang="en-US" sz="900" dirty="0"/>
            </a:p>
          </p:txBody>
        </p:sp>
        <p:grpSp>
          <p:nvGrpSpPr>
            <p:cNvPr id="52" name="Grupa 51"/>
            <p:cNvGrpSpPr/>
            <p:nvPr/>
          </p:nvGrpSpPr>
          <p:grpSpPr>
            <a:xfrm>
              <a:off x="4663440" y="3997561"/>
              <a:ext cx="4206240" cy="848759"/>
              <a:chOff x="4663440" y="3997561"/>
              <a:chExt cx="4206240" cy="848759"/>
            </a:xfrm>
          </p:grpSpPr>
          <p:sp>
            <p:nvSpPr>
              <p:cNvPr id="41" name="Shape 39"/>
              <p:cNvSpPr/>
              <p:nvPr/>
            </p:nvSpPr>
            <p:spPr>
              <a:xfrm>
                <a:off x="4663440" y="4005072"/>
                <a:ext cx="2029968" cy="8412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42" name="Shape 40"/>
              <p:cNvSpPr/>
              <p:nvPr/>
            </p:nvSpPr>
            <p:spPr>
              <a:xfrm>
                <a:off x="4663440" y="4005072"/>
                <a:ext cx="54864" cy="841248"/>
              </a:xfrm>
              <a:prstGeom prst="rect">
                <a:avLst/>
              </a:prstGeom>
              <a:solidFill>
                <a:srgbClr val="EA6C00"/>
              </a:solidFill>
              <a:ln/>
            </p:spPr>
          </p:sp>
          <p:sp>
            <p:nvSpPr>
              <p:cNvPr id="43" name="Text 41"/>
              <p:cNvSpPr/>
              <p:nvPr/>
            </p:nvSpPr>
            <p:spPr>
              <a:xfrm>
                <a:off x="4791456" y="3997561"/>
                <a:ext cx="1847088" cy="2377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Pogoda</a:t>
                </a:r>
                <a:endParaRPr lang="en-US" sz="1150" dirty="0"/>
              </a:p>
            </p:txBody>
          </p:sp>
          <p:sp>
            <p:nvSpPr>
              <p:cNvPr id="44" name="Text 42"/>
              <p:cNvSpPr/>
              <p:nvPr/>
            </p:nvSpPr>
            <p:spPr>
              <a:xfrm>
                <a:off x="4791456" y="4325112"/>
                <a:ext cx="184708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9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Deszcz i śnieg degradują kamery. IP65 obudowa. LiDAR odporny. Grzałki przednia kamera / koła w opcji.</a:t>
                </a:r>
                <a:endParaRPr lang="en-US" sz="900" dirty="0"/>
              </a:p>
            </p:txBody>
          </p:sp>
          <p:sp>
            <p:nvSpPr>
              <p:cNvPr id="45" name="Shape 43"/>
              <p:cNvSpPr/>
              <p:nvPr/>
            </p:nvSpPr>
            <p:spPr>
              <a:xfrm>
                <a:off x="6839712" y="4005072"/>
                <a:ext cx="2029968" cy="8412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9E4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6000"/>
                  </a:srgbClr>
                </a:outerShdw>
              </a:effectLst>
            </p:spPr>
          </p:sp>
          <p:sp>
            <p:nvSpPr>
              <p:cNvPr id="46" name="Shape 44"/>
              <p:cNvSpPr/>
              <p:nvPr/>
            </p:nvSpPr>
            <p:spPr>
              <a:xfrm>
                <a:off x="6839712" y="4005072"/>
                <a:ext cx="54864" cy="841248"/>
              </a:xfrm>
              <a:prstGeom prst="rect">
                <a:avLst/>
              </a:prstGeom>
              <a:solidFill>
                <a:srgbClr val="6D28D9"/>
              </a:solidFill>
              <a:ln/>
            </p:spPr>
          </p:sp>
          <p:sp>
            <p:nvSpPr>
              <p:cNvPr id="47" name="Text 45"/>
              <p:cNvSpPr/>
              <p:nvPr/>
            </p:nvSpPr>
            <p:spPr>
              <a:xfrm>
                <a:off x="6967728" y="4028748"/>
                <a:ext cx="1847088" cy="237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b="1" dirty="0">
                    <a:solidFill>
                      <a:srgbClr val="1A2637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Regulacje</a:t>
                </a:r>
                <a:endParaRPr lang="en-US" sz="1150" dirty="0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6967728" y="4325112"/>
                <a:ext cx="184708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ts val="1000"/>
                  </a:lnSpc>
                  <a:buNone/>
                </a:pPr>
                <a:r>
                  <a:rPr lang="en-US" sz="900" dirty="0">
                    <a:solidFill>
                      <a:srgbClr val="3D516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Różne przepisy miasto/kraj. UK: Micromobility law. USA: state-by-state. EU: NIS2 dla connected robots.</a:t>
                </a:r>
                <a:endParaRPr lang="en-US" sz="900" dirty="0"/>
              </a:p>
            </p:txBody>
          </p:sp>
        </p:grpSp>
      </p:grpSp>
      <p:sp>
        <p:nvSpPr>
          <p:cNvPr id="49" name="Shape 47"/>
          <p:cNvSpPr/>
          <p:nvPr/>
        </p:nvSpPr>
        <p:spPr>
          <a:xfrm>
            <a:off x="320040" y="4702400"/>
            <a:ext cx="8503920" cy="2353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02400"/>
            <a:ext cx="8321040" cy="180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spc="-4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Projekt studencki: zbuduj mini delivery robot na ROS 2 + Nav2. Hardware: Turtlebot4 (€1200) lub samodzielnie RPi4 + RPLIDAR + DC motors + enkodery.</a:t>
            </a:r>
            <a:endParaRPr lang="en-US" sz="1050" spc="-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Trendy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Embodied AI, Foundation Models i ROS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Rewolucja 2023–2025: Large Language Models + robotyka = roboty rozumiejące polecenia naturalne. </a:t>
            </a:r>
            <a:r>
              <a:rPr lang="pl-PL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OpenAI, Tesla wchodzą w robotykę.</a:t>
            </a:r>
            <a:endParaRPr lang="en-US" sz="1400" dirty="0"/>
          </a:p>
        </p:txBody>
      </p:sp>
      <p:grpSp>
        <p:nvGrpSpPr>
          <p:cNvPr id="32" name="Grupa 31"/>
          <p:cNvGrpSpPr/>
          <p:nvPr/>
        </p:nvGrpSpPr>
        <p:grpSpPr>
          <a:xfrm>
            <a:off x="320040" y="1435608"/>
            <a:ext cx="8659368" cy="3374136"/>
            <a:chOff x="320040" y="1115568"/>
            <a:chExt cx="8659368" cy="3694176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54864" cy="117043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48056" y="11704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RT-2 / RT-X (Google DeepMind)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48056" y="1435608"/>
              <a:ext cx="406908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Robotics Transformer: VLM (Visual-Language Model) end-to-end. Input: obraz + tekst polecenia. Output: akcje robota. Zero-shot transfer między robotami. Open X-Embodiment dataset 1M epizodów.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27448" y="1115568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27448" y="1115568"/>
              <a:ext cx="54864" cy="117043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855464" y="1170432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π₀ — Physical Intelligence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55464" y="1435608"/>
              <a:ext cx="406908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Foundation model dla humanoidów. Pre-trained na danych fizycznych → fine-tuned na task. Figure 01 / Boston Dynamics Atlas z LLM. 2025: pierwsze produktywne humanoidale w fabrykach.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2377440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2377440"/>
              <a:ext cx="54864" cy="117043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48056" y="2432304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Diffusion Policy / ACT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48056" y="2697480"/>
              <a:ext cx="406908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Imitation learning z demonstracji ludzkich: 30min demo → polityka robota. ACT: Action Chunking Transformer (Tony Zhao, Stanford). Mobile ALOHA: sprzątanie, gotowanie.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27448" y="2377440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27448" y="2377440"/>
              <a:ext cx="54864" cy="1170432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55464" y="2432304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OpenVLA / Octo (open-source)</a:t>
              </a:r>
              <a:endParaRPr lang="en-US" sz="11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55464" y="2697480"/>
              <a:ext cx="406908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Open-source foundation models dla robotów. Octo (UC Berkeley): 800k demonstrations, fine-tunable. OpenVLA 7B: pełna waga dostępna. Jak HuggingFace dla robotów.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639312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" y="3639312"/>
              <a:ext cx="54864" cy="1170432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48056" y="3694176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ROS 3 / ROS 2 Iron+</a:t>
              </a:r>
              <a:endParaRPr lang="en-US" sz="11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48056" y="3959352"/>
              <a:ext cx="406908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 2 Iron (LTS 2023): stable. Jazzy (2024). Kilpatrick (2026). ROS 3 w dyskusji: Rust-based communication, unified IDL, native TypeScript. micro-ROS 2.0 dla MCU.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27448" y="3639312"/>
              <a:ext cx="4251960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727448" y="3639312"/>
              <a:ext cx="54864" cy="1170432"/>
            </a:xfrm>
            <a:prstGeom prst="rect">
              <a:avLst/>
            </a:prstGeom>
            <a:solidFill>
              <a:srgbClr val="B45309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855464" y="3694176"/>
              <a:ext cx="40690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Humanoidale (2025–2030)</a:t>
              </a:r>
              <a:endParaRPr lang="en-US" sz="11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55464" y="3959352"/>
              <a:ext cx="4069080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Figure 01/02 (Figure AI) · Optimus Gen 2 (Tesla) · Atlas (BD) · Unitree H1. Cena target: $20k (jak samochód). BYD używa Unitree G1 w fabrykach. AGI w ciele fizycznym.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emestralny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ymagania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" y="9635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Wymagania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obligatoryjne</a:t>
            </a:r>
            <a:endParaRPr lang="en-US" sz="1200" dirty="0"/>
          </a:p>
        </p:txBody>
      </p:sp>
      <p:grpSp>
        <p:nvGrpSpPr>
          <p:cNvPr id="59" name="Grupa 58"/>
          <p:cNvGrpSpPr/>
          <p:nvPr/>
        </p:nvGrpSpPr>
        <p:grpSpPr>
          <a:xfrm>
            <a:off x="320040" y="1272286"/>
            <a:ext cx="4105656" cy="3145536"/>
            <a:chOff x="320040" y="1316736"/>
            <a:chExt cx="4160520" cy="3493008"/>
          </a:xfrm>
        </p:grpSpPr>
        <p:sp>
          <p:nvSpPr>
            <p:cNvPr id="9" name="Shape 7"/>
            <p:cNvSpPr/>
            <p:nvPr/>
          </p:nvSpPr>
          <p:spPr>
            <a:xfrm>
              <a:off x="320040" y="1316736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0040" y="1316736"/>
              <a:ext cx="54864" cy="640080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48056" y="1371600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Platform ROS 2 (Jazzy/Iron)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48056" y="1636776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4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Turtlebot4 / własna platforma. Działające węzły, launch files, parametry YAML.</a:t>
              </a:r>
              <a:endParaRPr lang="en-US" sz="1000" spc="-4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2029968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20040" y="2029968"/>
              <a:ext cx="54864" cy="640080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48056" y="2084832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SLAM + Mapa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8056" y="2350008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4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Kartografowanie budynku. Zapis mapy (map_saver). Lokalizacja AMCL na mapie.</a:t>
              </a:r>
              <a:endParaRPr lang="en-US" sz="1000" spc="-4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743200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20040" y="2743200"/>
              <a:ext cx="54864" cy="640080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48056" y="2798064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Autonomiczna nawigacja (Nav2)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48056" y="3063240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Dojazd do 3 waypointów bez kolizji. Recovery behaviors działające.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0040" y="3456432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320040" y="3456432"/>
              <a:ext cx="54864" cy="640080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48056" y="3511296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Percepcja obiektów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48056" y="3776472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YOLOv8 lub detector ArUco. Wykrycie i klasyfikacja celu misji.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4169664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320040" y="4169664"/>
              <a:ext cx="54864" cy="640080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48056" y="4224528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Raport techniczny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48056" y="4489704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Architektura, wyniki, metryki (success rate, avg time, collisions), wnioski.</a:t>
              </a:r>
              <a:endParaRPr lang="en-US" sz="10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608576" y="1071667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Kryteria oceny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harmonogram</a:t>
            </a:r>
            <a:endParaRPr lang="en-US" sz="1200" dirty="0"/>
          </a:p>
        </p:txBody>
      </p:sp>
      <p:grpSp>
        <p:nvGrpSpPr>
          <p:cNvPr id="61" name="Grupa 60"/>
          <p:cNvGrpSpPr/>
          <p:nvPr/>
        </p:nvGrpSpPr>
        <p:grpSpPr>
          <a:xfrm>
            <a:off x="4663440" y="1316736"/>
            <a:ext cx="4206240" cy="2144268"/>
            <a:chOff x="4663440" y="1316736"/>
            <a:chExt cx="4206240" cy="2596896"/>
          </a:xfrm>
        </p:grpSpPr>
        <p:sp>
          <p:nvSpPr>
            <p:cNvPr id="30" name="Shape 28"/>
            <p:cNvSpPr/>
            <p:nvPr/>
          </p:nvSpPr>
          <p:spPr>
            <a:xfrm>
              <a:off x="4663440" y="1316736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4663440" y="1316736"/>
              <a:ext cx="54864" cy="804672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4791456" y="1386980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Funkcjonalność (40%)</a:t>
              </a:r>
              <a:endParaRPr lang="en-US" sz="11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791456" y="1636776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Czy robot wykonuje zadanie? Success rate &gt; 80% = pełne punkty.</a:t>
              </a:r>
              <a:endParaRPr lang="en-US" sz="10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663440" y="2212848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4663440" y="2212848"/>
              <a:ext cx="54864" cy="804672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791456" y="2267712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Architektura (25%)</a:t>
              </a:r>
              <a:endParaRPr lang="en-US" sz="11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791456" y="2532888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Czysty kod, właściwe nazewnictwo, launch files, parametry nie w kodzie.</a:t>
              </a:r>
              <a:endParaRPr lang="en-US" sz="10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663440" y="3108960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9" name="Shape 37"/>
            <p:cNvSpPr/>
            <p:nvPr/>
          </p:nvSpPr>
          <p:spPr>
            <a:xfrm>
              <a:off x="4663440" y="3108960"/>
              <a:ext cx="54864" cy="804672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791456" y="3163824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Raport (20%)</a:t>
              </a:r>
              <a:endParaRPr lang="en-US" sz="11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4791456" y="3429000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Metryki ilościowe, wykresy, analiza błędów, wnioski, filmik demo.</a:t>
              </a:r>
              <a:endParaRPr lang="en-US" sz="1050" dirty="0"/>
            </a:p>
          </p:txBody>
        </p:sp>
      </p:grpSp>
      <p:grpSp>
        <p:nvGrpSpPr>
          <p:cNvPr id="60" name="Grupa 59"/>
          <p:cNvGrpSpPr/>
          <p:nvPr/>
        </p:nvGrpSpPr>
        <p:grpSpPr>
          <a:xfrm>
            <a:off x="4663440" y="3516122"/>
            <a:ext cx="4206240" cy="914400"/>
            <a:chOff x="4663440" y="3986784"/>
            <a:chExt cx="4206240" cy="914400"/>
          </a:xfrm>
        </p:grpSpPr>
        <p:sp>
          <p:nvSpPr>
            <p:cNvPr id="42" name="Shape 40"/>
            <p:cNvSpPr/>
            <p:nvPr/>
          </p:nvSpPr>
          <p:spPr>
            <a:xfrm>
              <a:off x="4663440" y="4005072"/>
              <a:ext cx="420624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4663440" y="4005072"/>
              <a:ext cx="54864" cy="804672"/>
            </a:xfrm>
            <a:prstGeom prst="rect">
              <a:avLst/>
            </a:prstGeom>
            <a:solidFill>
              <a:srgbClr val="B45309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791456" y="4059936"/>
              <a:ext cx="4023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Bonus (15%)</a:t>
              </a:r>
              <a:endParaRPr lang="en-US" sz="11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791456" y="4325112"/>
              <a:ext cx="40233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Manipulator + pick, swarm ≥2 robotów, RL policy, real hardware.</a:t>
              </a:r>
              <a:endParaRPr lang="en-US" sz="10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663440" y="3986784"/>
              <a:ext cx="4206240" cy="914400"/>
            </a:xfrm>
            <a:prstGeom prst="rect">
              <a:avLst/>
            </a:prstGeom>
            <a:solidFill>
              <a:srgbClr val="0C1420"/>
            </a:solidFill>
            <a:ln/>
          </p:spPr>
        </p:sp>
        <p:sp>
          <p:nvSpPr>
            <p:cNvPr id="47" name="Shape 45"/>
            <p:cNvSpPr/>
            <p:nvPr/>
          </p:nvSpPr>
          <p:spPr>
            <a:xfrm>
              <a:off x="4707890" y="4029710"/>
              <a:ext cx="768096" cy="822960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48" name="Text 46"/>
            <p:cNvSpPr/>
            <p:nvPr/>
          </p:nvSpPr>
          <p:spPr>
            <a:xfrm>
              <a:off x="4663440" y="4023360"/>
              <a:ext cx="768096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Tydz. 2–4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Platforma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ROS 2</a:t>
              </a:r>
              <a:endParaRPr lang="en-US" sz="8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542788" y="4029710"/>
              <a:ext cx="768096" cy="822960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5504688" y="4023360"/>
              <a:ext cx="768096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Tydz. 5–7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SLAM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Mapa</a:t>
              </a:r>
              <a:endParaRPr lang="en-US" sz="8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384036" y="4029710"/>
              <a:ext cx="768096" cy="822960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52" name="Text 50"/>
            <p:cNvSpPr/>
            <p:nvPr/>
          </p:nvSpPr>
          <p:spPr>
            <a:xfrm>
              <a:off x="6345936" y="4023360"/>
              <a:ext cx="768096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Tydz. 8–10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Nav2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Percepcja</a:t>
              </a:r>
              <a:endParaRPr lang="en-US" sz="8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7225284" y="4029710"/>
              <a:ext cx="768096" cy="822960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7187184" y="4023360"/>
              <a:ext cx="768096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Tydz. 11–13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Misja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Testy</a:t>
              </a:r>
              <a:endParaRPr lang="en-US" sz="85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8066532" y="4029710"/>
              <a:ext cx="768096" cy="822960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8028432" y="4023360"/>
              <a:ext cx="768096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Tydz. 14–15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 Raport</a:t>
              </a:r>
              <a:endParaRPr lang="en-US" sz="850" dirty="0"/>
            </a:p>
          </p:txBody>
        </p:sp>
      </p:grpSp>
      <p:sp>
        <p:nvSpPr>
          <p:cNvPr id="57" name="Shape 55"/>
          <p:cNvSpPr/>
          <p:nvPr/>
        </p:nvSpPr>
        <p:spPr>
          <a:xfrm>
            <a:off x="320040" y="4670573"/>
            <a:ext cx="8503920" cy="267187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18050"/>
            <a:ext cx="8321040" cy="1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spc="-4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Zacznij w symulatorze Gazebo. Działający kod w simie → przenoś na hardware. Filmik demo jest </a:t>
            </a:r>
            <a:r>
              <a:rPr lang="en-US" sz="1000" spc="-40" dirty="0" err="1" smtClean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obowiązkowy</a:t>
            </a:r>
            <a:r>
              <a:rPr lang="pl-PL" sz="1000" spc="-40" dirty="0" smtClean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spc="-40" dirty="0" smtClean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4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nagraj nawigację autonomiczną i detekcję obiektu.</a:t>
            </a:r>
            <a:endParaRPr lang="en-US" sz="1000" spc="-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Testowanie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iagnostyka</a:t>
            </a:r>
            <a:r>
              <a:rPr lang="pl-PL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etryki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rviz2 i rosbag2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54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robot to testowany robot. Zdefiniuj metryki przed implementacją — nie po. </a:t>
            </a:r>
            <a:endParaRPr lang="pl-PL" sz="1400" dirty="0" smtClean="0">
              <a:solidFill>
                <a:srgbClr val="3D51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Nagrywaj</a:t>
            </a:r>
            <a:r>
              <a:rPr lang="en-US" sz="1400" dirty="0" smtClean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do późniejszej analizy.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1289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narzędzia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diagnostyczne</a:t>
            </a:r>
            <a:endParaRPr lang="en-US" sz="1200" dirty="0"/>
          </a:p>
        </p:txBody>
      </p:sp>
      <p:grpSp>
        <p:nvGrpSpPr>
          <p:cNvPr id="39" name="Grupa 38"/>
          <p:cNvGrpSpPr/>
          <p:nvPr/>
        </p:nvGrpSpPr>
        <p:grpSpPr>
          <a:xfrm>
            <a:off x="237490" y="1477136"/>
            <a:ext cx="4036060" cy="3040000"/>
            <a:chOff x="320040" y="1316736"/>
            <a:chExt cx="4160520" cy="3493008"/>
          </a:xfrm>
        </p:grpSpPr>
        <p:sp>
          <p:nvSpPr>
            <p:cNvPr id="9" name="Shape 7"/>
            <p:cNvSpPr/>
            <p:nvPr/>
          </p:nvSpPr>
          <p:spPr>
            <a:xfrm>
              <a:off x="320040" y="1316736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0040" y="1316736"/>
              <a:ext cx="54864" cy="640080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48056" y="1343878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rviz2</a:t>
              </a:r>
              <a:endParaRPr lang="en-US" sz="11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48056" y="1609053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Wizualizacja: TF tree, costmap, LaserScan, plan, path, markers. Niezbędny do debugowania percepcji i nawigacji.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2029968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20040" y="2029968"/>
              <a:ext cx="54864" cy="640080"/>
            </a:xfrm>
            <a:prstGeom prst="rect">
              <a:avLst/>
            </a:prstGeom>
            <a:solidFill>
              <a:srgbClr val="EA6C0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48056" y="2057110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rqt_graph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48056" y="2322286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Graf węzłów i połączeń. Widoczne publisher/subscriber. Szybka diagnoza: czy topic istnieje? Kto publikuje?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743200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20040" y="2743200"/>
              <a:ext cx="54864" cy="640080"/>
            </a:xfrm>
            <a:prstGeom prst="rect">
              <a:avLst/>
            </a:prstGeom>
            <a:solidFill>
              <a:srgbClr val="1A8A4A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48056" y="2777273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ros2bag2</a:t>
              </a:r>
              <a:endParaRPr lang="en-US" sz="11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48056" y="3042448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Nagrywaj wszystkie topiki: ros2 bag record -a. Replay: ros2 bag play. Analiza post-mortem awarii i benchmarking.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0040" y="3456432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320040" y="3456432"/>
              <a:ext cx="54864" cy="640080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48056" y="3490505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PlotJuggler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48056" y="3755680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plot topików numerycznych. Lepszy niż rqt_plot. CSV eksport. Niezbędny dla strojenia PID i analizy trajektorii.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4169664"/>
              <a:ext cx="416052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9E4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26" name="Shape 24"/>
            <p:cNvSpPr/>
            <p:nvPr/>
          </p:nvSpPr>
          <p:spPr>
            <a:xfrm>
              <a:off x="320040" y="4169664"/>
              <a:ext cx="54864" cy="640080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48056" y="4203736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A2637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Foxglove Studio</a:t>
              </a:r>
              <a:endParaRPr lang="en-US" sz="11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48056" y="4468913"/>
              <a:ext cx="3977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D516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Nowoczesny rviz2 z przeglądarki. WebSocket bridge. Najlepszy UX dla prezentacji i remote debugging.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663440" y="11335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Metryki ewaluacji </a:t>
            </a:r>
            <a:r>
              <a:rPr lang="en-US" sz="1200" b="1" dirty="0" err="1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robota</a:t>
            </a:r>
            <a:r>
              <a:rPr lang="en-US" sz="12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nawigacyjnego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2436"/>
            <a:ext cx="4206240" cy="253777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14771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18634" y="1476756"/>
            <a:ext cx="397789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Skrypt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ewaluacji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nawigacji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rclpy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yaml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nav2_simple_commander.robot_navigator import 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BasicNavigator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TaskResult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evaluate_navigation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(waypoints,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n_trials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=10):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nav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BasicNavigator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results = {"success":0,"collisions":0,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"times":[],"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path_lengths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":[]}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for trial in range(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n_trials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for wp in waypoints: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start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time.time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nav.goToPose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(wp)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while not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nav.isTaskComplete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time.sleep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(0.1)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result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nav.getResult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elapsed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time.time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 - start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if result ==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TaskResult.SUCCEEDED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results["success"] += 1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results["times"].append(elapsed)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results["collisions"] += 1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# KPI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results["success"]/(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n_trials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(waypoints))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f"Success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Rate: {sr:.1%}")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f"Avg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Time: {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np.mean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(results['times']):.1f}s")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return results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63440" y="398678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986784"/>
            <a:ext cx="54864" cy="54864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4041648"/>
            <a:ext cx="4023360" cy="16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Metryki nawigacji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422452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(SR) · Average Time To Goal (ATTG) · Average Path Length (APL) · Path Length Ratio (PLR = actual/optimal) · Collision Rate per km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Złota zasada: zawsze miej E-STOP w ręku podczas testów na hardware. Zanim puścisz robota, sprawdź: max_vel &lt; 0.5m/s, costmap inflation_radius &gt; robot_radius.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Przyszłość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utonomicznych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obotów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A6C00"/>
          </a:solidFill>
          <a:ln/>
        </p:spPr>
      </p:sp>
      <p:grpSp>
        <p:nvGrpSpPr>
          <p:cNvPr id="44" name="Grupa 43"/>
          <p:cNvGrpSpPr/>
          <p:nvPr/>
        </p:nvGrpSpPr>
        <p:grpSpPr>
          <a:xfrm>
            <a:off x="174430" y="807974"/>
            <a:ext cx="8779578" cy="2359152"/>
            <a:chOff x="66040" y="807974"/>
            <a:chExt cx="8997696" cy="235915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A0E1FD0-4AA0-BDBD-F5A5-2602D8828C4F}"/>
                </a:ext>
              </a:extLst>
            </p:cNvPr>
            <p:cNvGrpSpPr/>
            <p:nvPr/>
          </p:nvGrpSpPr>
          <p:grpSpPr>
            <a:xfrm>
              <a:off x="66040" y="807974"/>
              <a:ext cx="2907792" cy="1115568"/>
              <a:chOff x="320040" y="822960"/>
              <a:chExt cx="2907792" cy="1115568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320040" y="822960"/>
                <a:ext cx="2907792" cy="1115568"/>
              </a:xfrm>
              <a:prstGeom prst="rect">
                <a:avLst/>
              </a:prstGeom>
              <a:solidFill>
                <a:srgbClr val="131E2F"/>
              </a:solidFill>
              <a:ln w="25400">
                <a:solidFill>
                  <a:srgbClr val="1A6DB5"/>
                </a:solidFill>
                <a:prstDash val="solid"/>
              </a:ln>
            </p:spPr>
          </p:sp>
          <p:sp>
            <p:nvSpPr>
              <p:cNvPr id="6" name="Shape 4"/>
              <p:cNvSpPr/>
              <p:nvPr/>
            </p:nvSpPr>
            <p:spPr>
              <a:xfrm>
                <a:off x="320040" y="822960"/>
                <a:ext cx="2907792" cy="36576"/>
              </a:xfrm>
              <a:prstGeom prst="rect">
                <a:avLst/>
              </a:prstGeom>
              <a:solidFill>
                <a:srgbClr val="1A6DB5"/>
              </a:solidFill>
              <a:ln/>
            </p:spPr>
          </p:sp>
          <p:sp>
            <p:nvSpPr>
              <p:cNvPr id="7" name="Text 5"/>
              <p:cNvSpPr/>
              <p:nvPr/>
            </p:nvSpPr>
            <p:spPr>
              <a:xfrm>
                <a:off x="429768" y="914400"/>
                <a:ext cx="268833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A6DB5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Embodied AI</a:t>
                </a:r>
                <a:endParaRPr lang="en-US" sz="14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429768" y="1225296"/>
                <a:ext cx="2688336" cy="6766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C0D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LLM + Vision + robot = instrukcje językiem naturalnym. RT-2, OpenVLA, π₀. Zero-shot task transfer.</a:t>
                </a:r>
                <a:endParaRPr lang="en-US" sz="1050" dirty="0"/>
              </a:p>
            </p:txBody>
          </p:sp>
        </p:grpSp>
        <p:sp>
          <p:nvSpPr>
            <p:cNvPr id="10" name="Shape 8"/>
            <p:cNvSpPr/>
            <p:nvPr/>
          </p:nvSpPr>
          <p:spPr>
            <a:xfrm>
              <a:off x="3110992" y="807974"/>
              <a:ext cx="2907792" cy="36576"/>
            </a:xfrm>
            <a:prstGeom prst="rect">
              <a:avLst/>
            </a:prstGeom>
            <a:solidFill>
              <a:srgbClr val="EA6C00"/>
            </a:solidFill>
            <a:ln/>
          </p:spPr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D595FAE-9F24-F93D-3E2C-71F475C15C94}"/>
                </a:ext>
              </a:extLst>
            </p:cNvPr>
            <p:cNvGrpSpPr/>
            <p:nvPr/>
          </p:nvGrpSpPr>
          <p:grpSpPr>
            <a:xfrm>
              <a:off x="3110992" y="807974"/>
              <a:ext cx="2907792" cy="1115568"/>
              <a:chOff x="3364992" y="822960"/>
              <a:chExt cx="2907792" cy="1115568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3364992" y="822960"/>
                <a:ext cx="2907792" cy="1115568"/>
              </a:xfrm>
              <a:prstGeom prst="rect">
                <a:avLst/>
              </a:prstGeom>
              <a:solidFill>
                <a:srgbClr val="131E2F"/>
              </a:solidFill>
              <a:ln w="25400">
                <a:solidFill>
                  <a:srgbClr val="EA6C00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3474720" y="914400"/>
                <a:ext cx="268833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EA6C0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Humanoidale</a:t>
                </a:r>
                <a:endParaRPr lang="en-US" sz="1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3474720" y="1225296"/>
                <a:ext cx="2688336" cy="6766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C0D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Figure 02, Tesla Optimus, Atlas — do fabryki 2025–2027. Cena docelowa &lt;$20k. AGI w ciele fizycznym.</a:t>
                </a:r>
                <a:endParaRPr lang="en-US" sz="1050" dirty="0"/>
              </a:p>
            </p:txBody>
          </p:sp>
        </p:grpSp>
        <p:sp>
          <p:nvSpPr>
            <p:cNvPr id="14" name="Shape 12"/>
            <p:cNvSpPr/>
            <p:nvPr/>
          </p:nvSpPr>
          <p:spPr>
            <a:xfrm>
              <a:off x="6155944" y="807974"/>
              <a:ext cx="2907792" cy="36576"/>
            </a:xfrm>
            <a:prstGeom prst="rect">
              <a:avLst/>
            </a:prstGeom>
            <a:solidFill>
              <a:srgbClr val="1A8A4A"/>
            </a:solidFill>
            <a:ln/>
          </p:spPr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44714A7-ADB4-3B39-68D6-F991C4EDF29B}"/>
                </a:ext>
              </a:extLst>
            </p:cNvPr>
            <p:cNvGrpSpPr/>
            <p:nvPr/>
          </p:nvGrpSpPr>
          <p:grpSpPr>
            <a:xfrm>
              <a:off x="6155944" y="846074"/>
              <a:ext cx="2907792" cy="1115568"/>
              <a:chOff x="6409944" y="822960"/>
              <a:chExt cx="2907792" cy="1115568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6409944" y="822960"/>
                <a:ext cx="2907792" cy="1115568"/>
              </a:xfrm>
              <a:prstGeom prst="rect">
                <a:avLst/>
              </a:prstGeom>
              <a:solidFill>
                <a:srgbClr val="131E2F"/>
              </a:solidFill>
              <a:ln w="25400">
                <a:solidFill>
                  <a:srgbClr val="1A8A4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519672" y="914400"/>
                <a:ext cx="268833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A8A4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Swarm &amp; Fleet</a:t>
                </a:r>
                <a:endParaRPr lang="en-US" sz="14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6519672" y="1225296"/>
                <a:ext cx="2688336" cy="6766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C0D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1M+ robotów Amazon, DHL. Open-source Fleet: OpenRMF. ROS 2 wspiera multi-robot out-of-box.</a:t>
                </a:r>
                <a:endParaRPr lang="en-US" sz="1050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C507C3-7CEF-0F22-0408-5CE38B7B195C}"/>
                </a:ext>
              </a:extLst>
            </p:cNvPr>
            <p:cNvGrpSpPr/>
            <p:nvPr/>
          </p:nvGrpSpPr>
          <p:grpSpPr>
            <a:xfrm>
              <a:off x="66040" y="2051558"/>
              <a:ext cx="2907792" cy="1115568"/>
              <a:chOff x="320040" y="2066544"/>
              <a:chExt cx="2907792" cy="1115568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320040" y="2066544"/>
                <a:ext cx="2907792" cy="1115568"/>
              </a:xfrm>
              <a:prstGeom prst="rect">
                <a:avLst/>
              </a:prstGeom>
              <a:solidFill>
                <a:srgbClr val="131E2F"/>
              </a:solidFill>
              <a:ln w="25400">
                <a:solidFill>
                  <a:srgbClr val="6D28D9"/>
                </a:solidFill>
                <a:prstDash val="solid"/>
              </a:ln>
            </p:spPr>
          </p:sp>
          <p:sp>
            <p:nvSpPr>
              <p:cNvPr id="18" name="Shape 16"/>
              <p:cNvSpPr/>
              <p:nvPr/>
            </p:nvSpPr>
            <p:spPr>
              <a:xfrm>
                <a:off x="320040" y="2066544"/>
                <a:ext cx="2907792" cy="36576"/>
              </a:xfrm>
              <a:prstGeom prst="rect">
                <a:avLst/>
              </a:prstGeom>
              <a:solidFill>
                <a:srgbClr val="6D28D9"/>
              </a:solidFill>
              <a:ln/>
            </p:spPr>
          </p:sp>
          <p:sp>
            <p:nvSpPr>
              <p:cNvPr id="19" name="Text 17"/>
              <p:cNvSpPr/>
              <p:nvPr/>
            </p:nvSpPr>
            <p:spPr>
              <a:xfrm>
                <a:off x="429768" y="2157984"/>
                <a:ext cx="268833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6D28D9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Sim2Real (GPU)</a:t>
                </a:r>
                <a:endParaRPr lang="en-US" sz="14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429768" y="2468880"/>
                <a:ext cx="2688336" cy="6766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C0D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Isaac Lab: 4096 środowisk/GPU. Domain randomization → zero-shot transfer. PPO polityka w 1h treningu.</a:t>
                </a:r>
                <a:endParaRPr lang="en-US" sz="1050" dirty="0"/>
              </a:p>
            </p:txBody>
          </p:sp>
        </p:grpSp>
        <p:sp>
          <p:nvSpPr>
            <p:cNvPr id="22" name="Shape 20"/>
            <p:cNvSpPr/>
            <p:nvPr/>
          </p:nvSpPr>
          <p:spPr>
            <a:xfrm>
              <a:off x="3110992" y="2051558"/>
              <a:ext cx="2907792" cy="36576"/>
            </a:xfrm>
            <a:prstGeom prst="rect">
              <a:avLst/>
            </a:prstGeom>
            <a:solidFill>
              <a:srgbClr val="0D7F8F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3110992" y="2051558"/>
              <a:ext cx="2907792" cy="1115568"/>
            </a:xfrm>
            <a:prstGeom prst="rect">
              <a:avLst/>
            </a:prstGeom>
            <a:solidFill>
              <a:srgbClr val="131E2F"/>
            </a:solidFill>
            <a:ln w="25400">
              <a:solidFill>
                <a:srgbClr val="0D7F8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220720" y="2142998"/>
              <a:ext cx="26883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D7F8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Safety &amp; Trust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220720" y="2453894"/>
              <a:ext cx="268833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0D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UL 4600, ISO 26262 ASIL-D. Formal verification (TLA+, Coq). Explainable AI dla robotów bezpiecznych.</a:t>
              </a:r>
              <a:endParaRPr lang="en-US" sz="10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155944" y="2051558"/>
              <a:ext cx="2907792" cy="36576"/>
            </a:xfrm>
            <a:prstGeom prst="rect">
              <a:avLst/>
            </a:prstGeom>
            <a:solidFill>
              <a:srgbClr val="B45309"/>
            </a:solidFill>
            <a:ln/>
          </p:spPr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42F7052-9C90-AC94-D309-03C1152E7965}"/>
                </a:ext>
              </a:extLst>
            </p:cNvPr>
            <p:cNvGrpSpPr/>
            <p:nvPr/>
          </p:nvGrpSpPr>
          <p:grpSpPr>
            <a:xfrm>
              <a:off x="6155944" y="2051558"/>
              <a:ext cx="2907792" cy="1115568"/>
              <a:chOff x="6409944" y="2066544"/>
              <a:chExt cx="2907792" cy="1115568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6409944" y="2066544"/>
                <a:ext cx="2907792" cy="1115568"/>
              </a:xfrm>
              <a:prstGeom prst="rect">
                <a:avLst/>
              </a:prstGeom>
              <a:solidFill>
                <a:srgbClr val="131E2F"/>
              </a:solidFill>
              <a:ln w="25400">
                <a:solidFill>
                  <a:srgbClr val="B45309"/>
                </a:solidFill>
                <a:prstDash val="solid"/>
              </a:ln>
            </p:spPr>
          </p:sp>
          <p:sp>
            <p:nvSpPr>
              <p:cNvPr id="27" name="Text 25"/>
              <p:cNvSpPr/>
              <p:nvPr/>
            </p:nvSpPr>
            <p:spPr>
              <a:xfrm>
                <a:off x="6519672" y="2157984"/>
                <a:ext cx="268833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B45309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ROS 2 → Future</a:t>
                </a:r>
                <a:endParaRPr lang="en-US" sz="140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6519672" y="2468880"/>
                <a:ext cx="2688336" cy="6766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C0D8F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Jazzy LTS stabilne. ROS 3 w planowaniu (Rust-based). micro-ROS 2.0 STM32. ROS-Industrial standard.</a:t>
                </a:r>
                <a:endParaRPr lang="en-US" sz="1050" dirty="0"/>
              </a:p>
            </p:txBody>
          </p:sp>
        </p:grpSp>
      </p:grpSp>
      <p:sp>
        <p:nvSpPr>
          <p:cNvPr id="29" name="Text 27"/>
          <p:cNvSpPr/>
          <p:nvPr/>
        </p:nvSpPr>
        <p:spPr>
          <a:xfrm>
            <a:off x="320040" y="325526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</a:t>
            </a:r>
            <a:r>
              <a:rPr lang="en-US" sz="1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wnioski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wykładu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529584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47040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+ Nav2 + MoveIt 2 to produkcyjny ekosystem — opanuj go, a skalujesz na dowolnego robota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765042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37058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i planowanie ścieżki to rozwiązane problemy — kluczowe jest dobra inżynieria integracji i kalibracja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006850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39476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nie jest opcją — E-STOP, analiza ryzyka i standardy ISO są częścią projektu, nie dodatkiem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61358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2021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Sim2Real: zawsze testuj w symulacji najpierw. Gazebo + Isaac Lab skracają development 10×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4672584"/>
            <a:ext cx="2743200" cy="28346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4690872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Pytania</a:t>
            </a:r>
            <a:r>
              <a:rPr lang="pl-PL" sz="1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pl-PL" sz="1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4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yskusja</a:t>
            </a:r>
            <a:r>
              <a:rPr lang="pl-PL" sz="1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koniec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80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8811</Words>
  <Application>Microsoft Office PowerPoint</Application>
  <PresentationFormat>Pokaz na ekranie (16:9)</PresentationFormat>
  <Paragraphs>1026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Autonomicznych Robotów</dc:title>
  <dc:subject>PptxGenJS Presentation</dc:subject>
  <dc:creator>Katedra Informatyki</dc:creator>
  <cp:lastModifiedBy>Mateusz Pomianek</cp:lastModifiedBy>
  <cp:revision>119</cp:revision>
  <dcterms:created xsi:type="dcterms:W3CDTF">2026-02-23T11:13:55Z</dcterms:created>
  <dcterms:modified xsi:type="dcterms:W3CDTF">2026-03-16T00:35:43Z</dcterms:modified>
</cp:coreProperties>
</file>