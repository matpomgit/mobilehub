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17431A-8DE4-5B09-4D10-9E30385A11A3}" v="42" dt="2026-02-23T11:26:20.2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0317431A-8DE4-5B09-4D10-9E30385A11A3}"/>
    <pc:docChg chg="modSld">
      <pc:chgData name="" userId="" providerId="" clId="Web-{0317431A-8DE4-5B09-4D10-9E30385A11A3}" dt="2026-02-23T11:26:20.220" v="41" actId="1076"/>
      <pc:docMkLst>
        <pc:docMk/>
      </pc:docMkLst>
      <pc:sldChg chg="modSp">
        <pc:chgData name="" userId="" providerId="" clId="Web-{0317431A-8DE4-5B09-4D10-9E30385A11A3}" dt="2026-02-23T11:22:57.971" v="3" actId="20577"/>
        <pc:sldMkLst>
          <pc:docMk/>
          <pc:sldMk cId="0" sldId="272"/>
        </pc:sldMkLst>
        <pc:spChg chg="mod">
          <ac:chgData name="" userId="" providerId="" clId="Web-{0317431A-8DE4-5B09-4D10-9E30385A11A3}" dt="2026-02-23T11:22:41.018" v="0" actId="14100"/>
          <ac:spMkLst>
            <pc:docMk/>
            <pc:sldMk cId="0" sldId="272"/>
            <ac:spMk id="9" creationId="{00000000-0000-0000-0000-000000000000}"/>
          </ac:spMkLst>
        </pc:spChg>
        <pc:spChg chg="mod">
          <ac:chgData name="" userId="" providerId="" clId="Web-{0317431A-8DE4-5B09-4D10-9E30385A11A3}" dt="2026-02-23T11:22:57.971" v="3" actId="20577"/>
          <ac:spMkLst>
            <pc:docMk/>
            <pc:sldMk cId="0" sldId="272"/>
            <ac:spMk id="11" creationId="{00000000-0000-0000-0000-000000000000}"/>
          </ac:spMkLst>
        </pc:spChg>
      </pc:sldChg>
      <pc:sldChg chg="modSp">
        <pc:chgData name="" userId="" providerId="" clId="Web-{0317431A-8DE4-5B09-4D10-9E30385A11A3}" dt="2026-02-23T11:23:36.299" v="11" actId="14100"/>
        <pc:sldMkLst>
          <pc:docMk/>
          <pc:sldMk cId="0" sldId="275"/>
        </pc:sldMkLst>
        <pc:spChg chg="mod">
          <ac:chgData name="" userId="" providerId="" clId="Web-{0317431A-8DE4-5B09-4D10-9E30385A11A3}" dt="2026-02-23T11:23:36.299" v="11" actId="14100"/>
          <ac:spMkLst>
            <pc:docMk/>
            <pc:sldMk cId="0" sldId="275"/>
            <ac:spMk id="27" creationId="{00000000-0000-0000-0000-000000000000}"/>
          </ac:spMkLst>
        </pc:spChg>
      </pc:sldChg>
      <pc:sldChg chg="modSp">
        <pc:chgData name="" userId="" providerId="" clId="Web-{0317431A-8DE4-5B09-4D10-9E30385A11A3}" dt="2026-02-23T11:23:49.861" v="13" actId="20577"/>
        <pc:sldMkLst>
          <pc:docMk/>
          <pc:sldMk cId="0" sldId="277"/>
        </pc:sldMkLst>
        <pc:spChg chg="mod">
          <ac:chgData name="" userId="" providerId="" clId="Web-{0317431A-8DE4-5B09-4D10-9E30385A11A3}" dt="2026-02-23T11:23:49.861" v="13" actId="20577"/>
          <ac:spMkLst>
            <pc:docMk/>
            <pc:sldMk cId="0" sldId="277"/>
            <ac:spMk id="28" creationId="{00000000-0000-0000-0000-000000000000}"/>
          </ac:spMkLst>
        </pc:spChg>
      </pc:sldChg>
      <pc:sldChg chg="modSp">
        <pc:chgData name="" userId="" providerId="" clId="Web-{0317431A-8DE4-5B09-4D10-9E30385A11A3}" dt="2026-02-23T11:24:06.174" v="16" actId="20577"/>
        <pc:sldMkLst>
          <pc:docMk/>
          <pc:sldMk cId="0" sldId="278"/>
        </pc:sldMkLst>
        <pc:spChg chg="mod">
          <ac:chgData name="" userId="" providerId="" clId="Web-{0317431A-8DE4-5B09-4D10-9E30385A11A3}" dt="2026-02-23T11:24:06.174" v="16" actId="20577"/>
          <ac:spMkLst>
            <pc:docMk/>
            <pc:sldMk cId="0" sldId="278"/>
            <ac:spMk id="11" creationId="{00000000-0000-0000-0000-000000000000}"/>
          </ac:spMkLst>
        </pc:spChg>
      </pc:sldChg>
      <pc:sldChg chg="modSp">
        <pc:chgData name="" userId="" providerId="" clId="Web-{0317431A-8DE4-5B09-4D10-9E30385A11A3}" dt="2026-02-23T11:24:19.018" v="18" actId="20577"/>
        <pc:sldMkLst>
          <pc:docMk/>
          <pc:sldMk cId="0" sldId="281"/>
        </pc:sldMkLst>
        <pc:spChg chg="mod">
          <ac:chgData name="" userId="" providerId="" clId="Web-{0317431A-8DE4-5B09-4D10-9E30385A11A3}" dt="2026-02-23T11:24:19.018" v="18" actId="20577"/>
          <ac:spMkLst>
            <pc:docMk/>
            <pc:sldMk cId="0" sldId="281"/>
            <ac:spMk id="32" creationId="{00000000-0000-0000-0000-000000000000}"/>
          </ac:spMkLst>
        </pc:spChg>
      </pc:sldChg>
      <pc:sldChg chg="modSp">
        <pc:chgData name="" userId="" providerId="" clId="Web-{0317431A-8DE4-5B09-4D10-9E30385A11A3}" dt="2026-02-23T11:24:42.189" v="21" actId="20577"/>
        <pc:sldMkLst>
          <pc:docMk/>
          <pc:sldMk cId="0" sldId="284"/>
        </pc:sldMkLst>
        <pc:spChg chg="mod">
          <ac:chgData name="" userId="" providerId="" clId="Web-{0317431A-8DE4-5B09-4D10-9E30385A11A3}" dt="2026-02-23T11:24:42.189" v="21" actId="20577"/>
          <ac:spMkLst>
            <pc:docMk/>
            <pc:sldMk cId="0" sldId="284"/>
            <ac:spMk id="32" creationId="{00000000-0000-0000-0000-000000000000}"/>
          </ac:spMkLst>
        </pc:spChg>
      </pc:sldChg>
      <pc:sldChg chg="addSp delSp modSp">
        <pc:chgData name="" userId="" providerId="" clId="Web-{0317431A-8DE4-5B09-4D10-9E30385A11A3}" dt="2026-02-23T11:26:20.220" v="41" actId="1076"/>
        <pc:sldMkLst>
          <pc:docMk/>
          <pc:sldMk cId="0" sldId="285"/>
        </pc:sldMkLst>
        <pc:spChg chg="mod">
          <ac:chgData name="" userId="" providerId="" clId="Web-{0317431A-8DE4-5B09-4D10-9E30385A11A3}" dt="2026-02-23T11:26:20.220" v="41" actId="1076"/>
          <ac:spMkLst>
            <pc:docMk/>
            <pc:sldMk cId="0" sldId="285"/>
            <ac:spMk id="13" creationId="{00000000-0000-0000-0000-000000000000}"/>
          </ac:spMkLst>
        </pc:spChg>
        <pc:spChg chg="mod">
          <ac:chgData name="" userId="" providerId="" clId="Web-{0317431A-8DE4-5B09-4D10-9E30385A11A3}" dt="2026-02-23T11:25:19.627" v="31" actId="1076"/>
          <ac:spMkLst>
            <pc:docMk/>
            <pc:sldMk cId="0" sldId="285"/>
            <ac:spMk id="18" creationId="{00000000-0000-0000-0000-000000000000}"/>
          </ac:spMkLst>
        </pc:spChg>
        <pc:spChg chg="mod">
          <ac:chgData name="" userId="" providerId="" clId="Web-{0317431A-8DE4-5B09-4D10-9E30385A11A3}" dt="2026-02-23T11:25:19.627" v="30" actId="1076"/>
          <ac:spMkLst>
            <pc:docMk/>
            <pc:sldMk cId="0" sldId="285"/>
            <ac:spMk id="19" creationId="{00000000-0000-0000-0000-000000000000}"/>
          </ac:spMkLst>
        </pc:spChg>
        <pc:spChg chg="mod">
          <ac:chgData name="" userId="" providerId="" clId="Web-{0317431A-8DE4-5B09-4D10-9E30385A11A3}" dt="2026-02-23T11:25:19.627" v="29" actId="1076"/>
          <ac:spMkLst>
            <pc:docMk/>
            <pc:sldMk cId="0" sldId="285"/>
            <ac:spMk id="20" creationId="{00000000-0000-0000-0000-000000000000}"/>
          </ac:spMkLst>
        </pc:spChg>
        <pc:spChg chg="topLvl">
          <ac:chgData name="" userId="" providerId="" clId="Web-{0317431A-8DE4-5B09-4D10-9E30385A11A3}" dt="2026-02-23T11:25:48.767" v="36"/>
          <ac:spMkLst>
            <pc:docMk/>
            <pc:sldMk cId="0" sldId="285"/>
            <ac:spMk id="21" creationId="{00000000-0000-0000-0000-000000000000}"/>
          </ac:spMkLst>
        </pc:spChg>
        <pc:spChg chg="topLvl">
          <ac:chgData name="" userId="" providerId="" clId="Web-{0317431A-8DE4-5B09-4D10-9E30385A11A3}" dt="2026-02-23T11:25:48.767" v="36"/>
          <ac:spMkLst>
            <pc:docMk/>
            <pc:sldMk cId="0" sldId="285"/>
            <ac:spMk id="23" creationId="{00000000-0000-0000-0000-000000000000}"/>
          </ac:spMkLst>
        </pc:spChg>
        <pc:spChg chg="topLvl">
          <ac:chgData name="" userId="" providerId="" clId="Web-{0317431A-8DE4-5B09-4D10-9E30385A11A3}" dt="2026-02-23T11:25:48.767" v="36"/>
          <ac:spMkLst>
            <pc:docMk/>
            <pc:sldMk cId="0" sldId="285"/>
            <ac:spMk id="24" creationId="{00000000-0000-0000-0000-000000000000}"/>
          </ac:spMkLst>
        </pc:spChg>
        <pc:grpChg chg="add">
          <ac:chgData name="" userId="" providerId="" clId="Web-{0317431A-8DE4-5B09-4D10-9E30385A11A3}" dt="2026-02-23T11:24:52.986" v="22"/>
          <ac:grpSpMkLst>
            <pc:docMk/>
            <pc:sldMk cId="0" sldId="285"/>
            <ac:grpSpMk id="42" creationId="{F42F7052-9C90-AC94-D309-03C1152E7965}"/>
          </ac:grpSpMkLst>
        </pc:grpChg>
        <pc:grpChg chg="add mod">
          <ac:chgData name="" userId="" providerId="" clId="Web-{0317431A-8DE4-5B09-4D10-9E30385A11A3}" dt="2026-02-23T11:26:13.970" v="39" actId="1076"/>
          <ac:grpSpMkLst>
            <pc:docMk/>
            <pc:sldMk cId="0" sldId="285"/>
            <ac:grpSpMk id="43" creationId="{A44714A7-ADB4-3B39-68D6-F991C4EDF29B}"/>
          </ac:grpSpMkLst>
        </pc:grpChg>
        <pc:grpChg chg="add del mod">
          <ac:chgData name="" userId="" providerId="" clId="Web-{0317431A-8DE4-5B09-4D10-9E30385A11A3}" dt="2026-02-23T11:25:48.767" v="36"/>
          <ac:grpSpMkLst>
            <pc:docMk/>
            <pc:sldMk cId="0" sldId="285"/>
            <ac:grpSpMk id="44" creationId="{B2C99D25-CC2F-CA08-4B38-5CABF353E7E5}"/>
          </ac:grpSpMkLst>
        </pc:grpChg>
        <pc:grpChg chg="add">
          <ac:chgData name="" userId="" providerId="" clId="Web-{0317431A-8DE4-5B09-4D10-9E30385A11A3}" dt="2026-02-23T11:25:13.548" v="25"/>
          <ac:grpSpMkLst>
            <pc:docMk/>
            <pc:sldMk cId="0" sldId="285"/>
            <ac:grpSpMk id="45" creationId="{6D595FAE-9F24-F93D-3E2C-71F475C15C94}"/>
          </ac:grpSpMkLst>
        </pc:grpChg>
        <pc:grpChg chg="add">
          <ac:chgData name="" userId="" providerId="" clId="Web-{0317431A-8DE4-5B09-4D10-9E30385A11A3}" dt="2026-02-23T11:25:25.095" v="32"/>
          <ac:grpSpMkLst>
            <pc:docMk/>
            <pc:sldMk cId="0" sldId="285"/>
            <ac:grpSpMk id="46" creationId="{A3C507C3-7CEF-0F22-0408-5CE38B7B195C}"/>
          </ac:grpSpMkLst>
        </pc:grpChg>
        <pc:grpChg chg="add">
          <ac:chgData name="" userId="" providerId="" clId="Web-{0317431A-8DE4-5B09-4D10-9E30385A11A3}" dt="2026-02-23T11:25:32.126" v="33"/>
          <ac:grpSpMkLst>
            <pc:docMk/>
            <pc:sldMk cId="0" sldId="285"/>
            <ac:grpSpMk id="47" creationId="{3A0E1FD0-4AA0-BDBD-F5A5-2602D8828C4F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31474-A415-43DF-AB5C-C66A24003E05}" type="datetimeFigureOut">
              <a:t>2/23/2026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C69CC-8DC9-46E3-94A0-4C64A03FF0D0}" type="slidenum"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73346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3" name="Shape 1"/>
          <p:cNvSpPr/>
          <p:nvPr/>
        </p:nvSpPr>
        <p:spPr>
          <a:xfrm>
            <a:off x="5166360" y="0"/>
            <a:ext cx="3977640" cy="5143500"/>
          </a:xfrm>
          <a:prstGeom prst="rect">
            <a:avLst/>
          </a:prstGeom>
          <a:solidFill>
            <a:srgbClr val="131E2F"/>
          </a:solidFill>
          <a:ln/>
        </p:spPr>
      </p:sp>
      <p:sp>
        <p:nvSpPr>
          <p:cNvPr id="4" name="Shape 2"/>
          <p:cNvSpPr/>
          <p:nvPr/>
        </p:nvSpPr>
        <p:spPr>
          <a:xfrm>
            <a:off x="5148072" y="0"/>
            <a:ext cx="45720" cy="514350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5836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A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WYKŁAD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Programowanie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Autonomicznych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Robotów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3127248"/>
            <a:ext cx="118872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1868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Przedmiot: Robotyka i Systemy Autonomiczne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4747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Studia Magisterskie Informatyki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7673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SLAM · Python/C++ · Gazebo · Nav2 · MoveIt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76672" y="777240"/>
            <a:ext cx="45720" cy="402336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2" name="Text 10"/>
          <p:cNvSpPr/>
          <p:nvPr/>
        </p:nvSpPr>
        <p:spPr>
          <a:xfrm>
            <a:off x="5541264" y="77724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systemów i ROS 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376672" y="1527048"/>
            <a:ext cx="45720" cy="402336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4" name="Text 12"/>
          <p:cNvSpPr/>
          <p:nvPr/>
        </p:nvSpPr>
        <p:spPr>
          <a:xfrm>
            <a:off x="5541264" y="15270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Percepcja — LiDAR, kamera, SLAM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376672" y="2276856"/>
            <a:ext cx="45720" cy="402336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6" name="Text 14"/>
          <p:cNvSpPr/>
          <p:nvPr/>
        </p:nvSpPr>
        <p:spPr>
          <a:xfrm>
            <a:off x="5541264" y="227685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ścieżki i nawigacja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376672" y="3026664"/>
            <a:ext cx="45720" cy="40233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8" name="Text 16"/>
          <p:cNvSpPr/>
          <p:nvPr/>
        </p:nvSpPr>
        <p:spPr>
          <a:xfrm>
            <a:off x="5541264" y="3026664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Sterowanie — PID, BT, RL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376672" y="3776472"/>
            <a:ext cx="45720" cy="40233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20" name="Text 18"/>
          <p:cNvSpPr/>
          <p:nvPr/>
        </p:nvSpPr>
        <p:spPr>
          <a:xfrm>
            <a:off x="5541264" y="3776472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i standardy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80C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4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Katedra Informatyki — Programowanie Autonomicznych Robotów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Wykładu — 30 Slajdów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04672"/>
            <a:ext cx="54864" cy="475488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" y="84124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1–3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" y="102412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Wprowadzenie — autonomia, architektury i ekosystem ROS 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27448" y="80467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27448" y="804672"/>
            <a:ext cx="54864" cy="475488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3" name="Text 11"/>
          <p:cNvSpPr/>
          <p:nvPr/>
        </p:nvSpPr>
        <p:spPr>
          <a:xfrm>
            <a:off x="4855464" y="84124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4–5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102412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Kinematyka — DH, forward/inverse kinematics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35331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353312"/>
            <a:ext cx="54864" cy="475488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" y="138988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6–7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" y="15727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— węzły, topiki, serwisy, akcje (Python/C++)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27448" y="135331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27448" y="1353312"/>
            <a:ext cx="54864" cy="47548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1" name="Text 19"/>
          <p:cNvSpPr/>
          <p:nvPr/>
        </p:nvSpPr>
        <p:spPr>
          <a:xfrm>
            <a:off x="4855464" y="138988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8–9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55464" y="15727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robotów — LiDAR, stereo, IMU, enkodery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190195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1901952"/>
            <a:ext cx="54864" cy="475488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" y="1938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10–11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056" y="212140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Percepcja 3D — chmury punktów, PCL, YOLO dla robotów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27448" y="190195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27448" y="1901952"/>
            <a:ext cx="54864" cy="4754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4855464" y="1938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12–13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55464" y="212140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— Simultaneous Localization and Mapping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245059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2450592"/>
            <a:ext cx="54864" cy="475488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33" name="Text 31"/>
          <p:cNvSpPr/>
          <p:nvPr/>
        </p:nvSpPr>
        <p:spPr>
          <a:xfrm>
            <a:off x="448056" y="248716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14–15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8056" y="267004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Planowanie ścieżki — A*, RRT*, Dijkstra, Nav2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27448" y="245059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27448" y="2450592"/>
            <a:ext cx="54864" cy="475488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37" name="Text 35"/>
          <p:cNvSpPr/>
          <p:nvPr/>
        </p:nvSpPr>
        <p:spPr>
          <a:xfrm>
            <a:off x="4855464" y="248716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16–17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55464" y="267004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Sterowanie — PID, maszyny stanów, Behavior Trees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299923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2999232"/>
            <a:ext cx="54864" cy="475488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41" name="Text 39"/>
          <p:cNvSpPr/>
          <p:nvPr/>
        </p:nvSpPr>
        <p:spPr>
          <a:xfrm>
            <a:off x="448056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18–19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48056" y="321868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 2 — manipulatory, trajektorie, IK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27448" y="299923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27448" y="2999232"/>
            <a:ext cx="54864" cy="47548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5" name="Text 43"/>
          <p:cNvSpPr/>
          <p:nvPr/>
        </p:nvSpPr>
        <p:spPr>
          <a:xfrm>
            <a:off x="4855464" y="303580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20–21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55464" y="321868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Uczenie ze wzmocnieniem — PPO, SAC, Sim2Real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" y="354787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3547872"/>
            <a:ext cx="54864" cy="475488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49" name="Text 47"/>
          <p:cNvSpPr/>
          <p:nvPr/>
        </p:nvSpPr>
        <p:spPr>
          <a:xfrm>
            <a:off x="448056" y="358444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22–23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48056" y="376732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Systemy wbudowane — STM32, RTOS, komunikacja CAN/I²C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27448" y="354787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27448" y="3547872"/>
            <a:ext cx="54864" cy="47548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3" name="Text 51"/>
          <p:cNvSpPr/>
          <p:nvPr/>
        </p:nvSpPr>
        <p:spPr>
          <a:xfrm>
            <a:off x="4855464" y="358444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24–25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55464" y="376732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Symulacja — Gazebo, Webots, NVIDIA Isaac Sim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20040" y="409651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0040" y="4096512"/>
            <a:ext cx="54864" cy="475488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57" name="Text 55"/>
          <p:cNvSpPr/>
          <p:nvPr/>
        </p:nvSpPr>
        <p:spPr>
          <a:xfrm>
            <a:off x="448056" y="413308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6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26–27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48056" y="43159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i standardy — ISO 10218, ISO 26262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727448" y="409651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27448" y="4096512"/>
            <a:ext cx="54864" cy="475488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61" name="Text 59"/>
          <p:cNvSpPr/>
          <p:nvPr/>
        </p:nvSpPr>
        <p:spPr>
          <a:xfrm>
            <a:off x="4855464" y="413308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6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28–29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855464" y="43159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Studium przypadku — robot dostawczy i AV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20040" y="4645152"/>
            <a:ext cx="4251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20040" y="4645152"/>
            <a:ext cx="54864" cy="475488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65" name="Text 63"/>
          <p:cNvSpPr/>
          <p:nvPr/>
        </p:nvSpPr>
        <p:spPr>
          <a:xfrm>
            <a:off x="448056" y="46817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30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48056" y="486460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— Embodied AI, Foundation Models, ROS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Czym jest Robot Autonomiczny? — Definicja i Poziomy Autonomii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6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robot is any automatically operated machine that replaces human effort, though it may not resemble human beings in appearance or perform functions in a humanlike manner." — IEEE Standard 610.3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Trzy filary autonomicznego robota: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8988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89888"/>
            <a:ext cx="54864" cy="713232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" y="144475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Percepcja (Sensing)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8056" y="170992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Zbieranie danych o świecie: LiDAR, kamera, IMU, enkodery, dotyk. Kluczowe: jakość danych i kalibracja sensorów. Garbage in → garbage out.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139696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39696"/>
            <a:ext cx="54864" cy="713232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" y="21945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Przetwarzanie (Processing)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" y="245973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Interpretacja sensorów → model świata → decyzja. Pipeline: percepcja → lokalizacja → planowanie → sterowanie. Często w czasie rzeczywistym.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889504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89504"/>
            <a:ext cx="54864" cy="713232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" y="29443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Działanie (Actuation)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8056" y="320954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Silniki, serwomechanizmy, napędy, chwytaki. Pętla zwrotna: encoder → PID → PWM → silnik → enkoder. Dokładność ≈ pędnia napędowa.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1115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Poziomy autonomii (SAE J3016 + robotics):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389888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1389888"/>
            <a:ext cx="475488" cy="5303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4663440" y="143560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14264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Brak autonomii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16459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Człowiek wykonuje wszystko. Teleoperacja. Pilot drona z joystickiem.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1975104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975104"/>
            <a:ext cx="475488" cy="5303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2020824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2080" y="2011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Wspomaganie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22311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asystuje w jednym wymiarze. Serwonapęd stabilizujący kamerę.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256032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2560320"/>
            <a:ext cx="475488" cy="530352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2606040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12080" y="25968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Częściowa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28163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kontroluje kilka osi, człowiek nadzoruje. Cobot assist.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145536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145536"/>
            <a:ext cx="475488" cy="530352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3191256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12080" y="31821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Warunkowa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34015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autonomiczny w określonych warunkach. Warehouse AMR.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730752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3730752"/>
            <a:ext cx="475488" cy="530352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3776472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212080" y="37673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Wysoka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12080" y="398678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Pełna autonomia w zdefiniowanym obszarze ODD. Delivery robot.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4315968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4315968"/>
            <a:ext cx="475488" cy="53035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9" name="Text 47"/>
          <p:cNvSpPr/>
          <p:nvPr/>
        </p:nvSpPr>
        <p:spPr>
          <a:xfrm>
            <a:off x="4663440" y="436168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212080" y="43525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Pełna autonomia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12080" y="45720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Dowolne warunki, dowolne środowisko. Naukowy cel—nie osiągnięty.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Kinematyka Robotów — Denavit-Hartenberg i Transformacje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Kinematyka opisuje ruch robota geometrycznie, bez rozważania sił. Parametry DH to standard opisu łańcucha kinematycznego.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Macierze transformacji i notacja DH: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4160520" cy="215798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45336"/>
            <a:ext cx="3995928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Parametry DH: a, d, alpha, theta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     = długość członu (X-axis)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      = przesunięcie (Z-axis)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alpha  = skręt osi Z (X-axis)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theta  = kąt obrotu (Z-axis)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dh_matrix(a, d, alpha, theta):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ct, st = np.cos(theta), np.sin(theta)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ca, sa = np.cos(alpha), np.sin(alpha)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np.array([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[ct, -st*ca,  st*sa, a*ct],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[st,  ct*ca, -ct*sa, a*st],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[ 0,     sa,     ca,    d],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[ 0,      0,      0,    1]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Forward kinematics: T_0_n = T01 @ T12 @ ... @ T(n-1)n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forward_kinematics(dh_params, q):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np.eye(4)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i,(a,d,alpha) in enumerate(dh_params):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 = T @ dh_matrix(a, d, alpha, q[i])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  # pozycja i orientacja end-effector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3511296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511296"/>
            <a:ext cx="54864" cy="603504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" y="35661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Przestrzeń stawów vs. przestrzeń kartezjańska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" y="383133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∈ ℝⁿ (kąty/przemieszczenia stawów) ↔ x ∈ SE(3) (poza+orientacja). FK: q→x prosta. IK: x→q wieloznaczna lub niemożliwa.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4151376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151376"/>
            <a:ext cx="54864" cy="60350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420624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Singularności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447141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Konfiguracje gdy Jacobian J traci rząd → robot traci DOF. Np. wyciągnięte ramię. Wykrywanie: det(J·Jᵀ) &lt; ε → alarm.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Odwrotna kinematyka (IK) — metody: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31673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316736"/>
            <a:ext cx="54864" cy="804672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13716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Analityczna (closed-form)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91456" y="163677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Dokładna, deterministyczna. Możliwa tylko dla robotów ≤6-DOF z uproszczonymi geometriami (np. PUMA 560). Wzory algebraiczne.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23113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231136"/>
            <a:ext cx="54864" cy="804672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22860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Jacobian Inverse / DLS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91456" y="255117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J⁺ = Jᵀ(JJᵀ)⁻¹. Numeryczna iteracja Δq = J⁺·Δx. DLS (Damped Least Squares) — odporny na singularności.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14553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145536"/>
            <a:ext cx="54864" cy="804672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31" name="Text 29"/>
          <p:cNvSpPr/>
          <p:nvPr/>
        </p:nvSpPr>
        <p:spPr>
          <a:xfrm>
            <a:off x="4791456" y="32004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91456" y="346557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And Backward Reaching Inverse Kinematics. Iteracyjny, szybki, naturalnie unika singularności. Standard w animacji i cobotach.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405993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4059936"/>
            <a:ext cx="54864" cy="80467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41148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Optymalizacyjna (NLP)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91456" y="437997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jako minimalizacja ||FK(q)-x_des||². Dodatkowe więzy: joint limits, kolizje, min torque. Używana w MoveIt 2 (TRAC-IK, KDL).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IK analityczna jest szybsza 100× od numerycznej, ale MoveIt 2 domyślnie używa KDL (numerycznej). Dla cobotów real-time → TRAC-IK lub analityczna dedykowana.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Kinematyka Robotów Mobilnych — Model i Odometria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 mobilne różnią się od manipulatorów — brak sztywnego połączenia z bazą. Model kinematyczny + odometria = podstawa nawigacji.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Napęd różnicowy (differential drive):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4160520" cy="20482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45336"/>
            <a:ext cx="399592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Kinematyka napędu różnicowego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v_L, v_R — prędkości lewego/prawego koła [m/s]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 = rozstaw kół, R = promień koła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DiffDriveKinematics: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wheel_radius, wheel_base):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self.R = wheel_radius   # promień koła [m]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 = wheel_base     # rozstaw kół [m]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forward(self, w_L, w_R):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"""omega [rad/s] → (v, omega_robot)"""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v_L = w_L * self.R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v_R = w_R * self.R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   = (v_R + v_L) / 2.0       # prędkość liniowa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   = (v_R - v_L) / self.L    # prędkość kątowa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v, w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odometry(self, x, y, theta, v, w, dt):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"""Całkowanie pozy po czasie dt"""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theta_new = theta + w * dt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x_new = x + v * np.cos(theta) * dt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y_new = y + v * np.sin(theta) * dt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x_new, y_new, theta_new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3401568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401568"/>
            <a:ext cx="54864" cy="585216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" y="345643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Błędy odometrii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" y="37216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Poślizg kół, nierówności terenu, niedokładność enkoderów. Błąd akumuluje się O(√n). Korekcja: fuzja z LiDAR/IMU (EKF) lub korekcja pęta.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4023360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023360"/>
            <a:ext cx="54864" cy="58521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407822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Holonomiczne vs. nieholonomiczne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43434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Różnicowe i Ackermann: nieholonomiczne — nie mogą jechać bokiem. Mecanum/omnidirectional: holonomiczne — pełna swoboda w płaszczyźnie.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Typy kinematyk mobilnych: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316736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316736"/>
            <a:ext cx="54864" cy="676656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13716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Drive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91456" y="16367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napędowe koła + 1–2 castery. Proste sterowanie, tanie. Turtlebot, Roomba. R₁≡prosto, R₂≡obrót w miejscu.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066544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066544"/>
            <a:ext cx="54864" cy="676656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21214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Ackermann (auto)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91456" y="23865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Przednie koła skrętne (jak auto). Minimalny promień skrętu. Lidar-based AGV, samochody autonomiczne.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816352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816352"/>
            <a:ext cx="54864" cy="676656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31" name="Text 29"/>
          <p:cNvSpPr/>
          <p:nvPr/>
        </p:nvSpPr>
        <p:spPr>
          <a:xfrm>
            <a:off x="4791456" y="28712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Mecanum / Omni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91456" y="31363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Rolkowe koła 45°. Pełny ruch w płaszczyźnie XY + obrót. Wysokie koszty, wrażliwe na podłoże. Magazyny KUKA.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566160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566160"/>
            <a:ext cx="54864" cy="67665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36210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Tracked (gąsienice)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91456" y="38862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Wysokie tarcie i stabilność. Terenowe. Brak poślizgu. Stosowany w robotach ratowniczych i militarnych.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4315968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4315968"/>
            <a:ext cx="54864" cy="67665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39" name="Text 37"/>
          <p:cNvSpPr/>
          <p:nvPr/>
        </p:nvSpPr>
        <p:spPr>
          <a:xfrm>
            <a:off x="4791456" y="43708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Legged (nóżkowy)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91456" y="46360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(Boston Dynamics): 4 nogi, MPC+RL. Niezwykła lokomocja. Trudne sterowanie — aktywny obszar badań.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 2 — Robot Operating System 2, Architektura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to middleware dla robotów — nie system operacyjny, lecz zbiór narzędzi, bibliotek i konwencji opartych o DDS (Data Distribution Service).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15568"/>
            <a:ext cx="64008" cy="566928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115568"/>
            <a:ext cx="8503920" cy="36576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" y="12070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Aplikacja (węzły)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977640" y="118872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rclpy / rclcpp · lifecycle nodes · composable nodes · executor · callback groups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1682496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773936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773936"/>
            <a:ext cx="64008" cy="566928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1773936"/>
            <a:ext cx="8503920" cy="36576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" y="18653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 kliencka (rmw)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977640" y="184708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6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rmw_fastrtps_cpp · rmw_cyclonedds · rmw_connextdds — wymienne przez env var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2340864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432304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432304"/>
            <a:ext cx="64008" cy="566928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2432304"/>
            <a:ext cx="8503920" cy="36576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" y="25237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DDS / RTPS Transport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977640" y="250545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8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Fast-DDS (domyślny) · CycloneDDS · RTI Connext · QoS: reliability/durability/history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0" y="2999232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090672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090672"/>
            <a:ext cx="64008" cy="5669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3090672"/>
            <a:ext cx="8503920" cy="3657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" y="31821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Sieć / OS Layer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977640" y="31638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UDP multicast (local) / TCP unicast (remote) · Linux / macOS / Windows · POSIX realtime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0" y="3657600"/>
            <a:ext cx="365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F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749040"/>
            <a:ext cx="8503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749040"/>
            <a:ext cx="64008" cy="566928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" y="3749040"/>
            <a:ext cx="8503920" cy="3657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" y="38404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Narzędzia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977640" y="382219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colcon build · ros2 topic/service/action · rviz2 · rqt · ros2bag · foxglove studio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4507992"/>
            <a:ext cx="8503920" cy="420624"/>
          </a:xfrm>
          <a:prstGeom prst="rect">
            <a:avLst/>
          </a:prstGeom>
          <a:solidFill>
            <a:srgbClr val="E8F4FD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544568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ROS 2 vs ROS 1: brak Master node (discovery rozproszone przez DDS) · QoS reliability · nowe typy: Actions (preemptable) · native Windows/Mac · lifecycle nodes · Executors (multi-thread) · security (SROS 2).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 2 — Publisher, Subscriber, Serwis i Akcja (Python/C++)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Komunikacja w ROS 2: Topic (pub/sub, 1:N) · Service (req/resp, synchroniczny) · Action (długie zadanie z feedbackiem, cancelable).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Publisher &amp; Subscriber (Python):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4160520" cy="2487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45336"/>
            <a:ext cx="39959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rclpy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rclpy.node import Node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std_msgs.msg import Float32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geometry_msgs.msg import Twist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VelocityPublisher(Node):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super().__init__("vel_pub")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self.pub = self.create_publisher(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Twist, "/cmd_vel", 10)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QoS depth=10 (ostatnie 10 wiadomości)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self.timer = self.create_timer(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0.1, self.publish_vel)  # 10 Hz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publish_vel(self):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 = Twist()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msg.linear.x  = 0.3  # [m/s]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msg.angular.z = 0.1  # [rad/s]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self.pub.publish(msg)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self.get_logger().info(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f"v={msg.linear.x:.2f}")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rclpy.init()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rclpy.spin(VelocityPublisher())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rclpy.shutdown()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Server (nawigacja do celu):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316736"/>
            <a:ext cx="4206240" cy="2487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1545336"/>
            <a:ext cx="40416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nav2_msgs.action import NavigateToPose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rclpy.action import ActionClient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rclpy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rclpy.node import Node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NavClient(Node):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super().__init__("nav_client")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self._client = ActionClient(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self, NavigateToPose,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"navigate_to_pose")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send_goal(self, x, y, yaw=0.0):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goal = NavigateToPose.Goal()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goal.pose.header.frame_id = "map"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goal.pose.pose.position.x = x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goal.pose.pose.position.y = 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self._client.wait_for_server()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future = self._client.send_goal_async(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goal,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feedback_callback=self.feedback_cb)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future.add_done_callback(self.goal_response)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feedback_cb(self, feedback):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dist = feedback.feedback.distance_remaining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self.get_logger().info(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f"Dystans: {dist:.2f} m")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858768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858768"/>
            <a:ext cx="54864" cy="493776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391363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QoS Profile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4178808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RELIABLE+VOLATILE (domyślny) · BEST_EFFORT dla sensora · TRANSIENT_LOCAL+RELIABLE dla /map. Mismatch → brak połączenia.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858768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858768"/>
            <a:ext cx="54864" cy="493776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22" name="Text 20"/>
          <p:cNvSpPr/>
          <p:nvPr/>
        </p:nvSpPr>
        <p:spPr>
          <a:xfrm>
            <a:off x="4791456" y="39136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ros2 launch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91456" y="417880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Startuj wiele węzłów: LaunchDescription + Node(). Grupy log, remapowania, parametry z YAML, composable containers.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Używaj lifecycle nodes dla krytycznych węzłów — gwarantuje poprawną inicjalizację i cleanup. Nav2 używa lifecycle zarządzanego przez lifecycle_manager.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Sensory Robotów — LiDAR, Kamera, IMU i Enkodery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sensorów determinuje możliwości i koszty robota. Nie istnieje jeden sensor do wszystkiego — fuzja multimodalna jest konieczna.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54864" cy="1133856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" y="11704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LiDAR 3D (VLP-16/Ouster OS1)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" y="1435608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Time-of-flight: laser 905/1550nm, pomiar czasu lotu. Zasięg 100m, dokładność ±2cm. 16–128 linii skanujących. Chmura 700k pkt/s. Slabe: deszcz, mgła, lustrzane powierzchnie.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27448" y="1115568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15568"/>
            <a:ext cx="54864" cy="1133856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55464" y="11704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LiDAR 2D (RPLIDAR/Hokuyo)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55464" y="1435608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Skanowanie 360° w jednej płaszczyźnie. Zasięg 12–25m, 0.33° rozdzielczość. Tani (RPLIDAR A3: 400$). Podstawa SLAM 2D — Turtlebot, AMR magazynowy.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340864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40864"/>
            <a:ext cx="54864" cy="1133856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23957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Kamera stereo (ZED 2/RealSense)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266090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Triangulacja: 2 kamery → mapa głębokości RGB-D. ZED 2: 20m depth, 120 FPS, SDK z VO. Intel D435: 10m, 90 FPS, VGA depth. IMU wbudowany.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27448" y="2340864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340864"/>
            <a:ext cx="54864" cy="113385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2" name="Text 20"/>
          <p:cNvSpPr/>
          <p:nvPr/>
        </p:nvSpPr>
        <p:spPr>
          <a:xfrm>
            <a:off x="4855464" y="23957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IMU (VN-100, ICM-42688)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55464" y="266090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Accelerometr + żyroskop + (mag). 500–8000 Hz. Niezbędny dla EKF. VN-100: przemysłowy, EKF on-chip. Błąd integracji drift ~0.1°/s → potrzebna fuzja.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566160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566160"/>
            <a:ext cx="54864" cy="113385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" y="362102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Enkodery (absolutne/inkrementalne)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48056" y="3886200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Inkrementalny: impulsy na obrót. Absolutny: unikalna pozycja bez referencji (Grey code). AMT102: 8192 CPR, 7$. Kluczowe dla odometrii i PID.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27448" y="3566160"/>
            <a:ext cx="4251960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27448" y="3566160"/>
            <a:ext cx="54864" cy="113385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0" name="Text 28"/>
          <p:cNvSpPr/>
          <p:nvPr/>
        </p:nvSpPr>
        <p:spPr>
          <a:xfrm>
            <a:off x="4855464" y="362102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Inne: ToF, sonar, dotyk, GPS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55464" y="3886200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ultrasonic: 2–400cm, ±3mm. ToF (VL53L5CX): macierz 8×8. GPS RTK: ±2cm (outdoor). Czujniki siły/momentu: FT300 (Robotiq) do cobot compliance.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Percepcja 3D — Chmury Punktów, PCL i PointNet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Chmura punktów to zbiór P = {(x,y,z,i)ₙ} — nieuporządkowany, setek tysięcy punktów per ramka. PCL (Point Cloud Library) to standard.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PCL pipeline — filtrowanie i segmentacja: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4160520" cy="2377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45336"/>
            <a:ext cx="399592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&lt;pcl/point_cloud.h&gt;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&lt;pcl/filters/voxel_grid.h&gt;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&lt;pcl/segmentation/sac_segmentation.h&gt;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&lt;pcl/filters/extract_indices.h&gt;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Voxel grid downsampling (100k→5k pkt)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pcl::VoxelGrid&lt;pcl::PointXYZ&gt; vg;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vg.setInputCloud(cloud_raw);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vg.setLeafSize(0.05f, 0.05f, 0.05f); // 5cm voxel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vg.filter(*cloud_filtered);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RANSAC plane segmentation (usuwanie podłogi)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pcl::SACSegmentation&lt;pcl::PointXYZ&gt; seg;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seg.setModelType(pcl::SACMODEL_PLANE);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seg.setMethodType(pcl::SAC_RANSAC);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seg.setDistanceThreshold(0.02); // 2cm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seg.setInputCloud(cloud_filtered);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pcl::ModelCoefficients::Ptr coeff(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pcl::ModelCoefficients);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pcl::PointIndices::Ptr inliers(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pcl::PointIndices);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seg.segment(*inliers, *coeff);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coeff-&gt;values = [a,b,c,d] (równanie ax+by+cz+d=0)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Sieci neuronowe dla chmur punktów: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31673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16736"/>
            <a:ext cx="54864" cy="749808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456" y="13716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PointNet (Qi et al., 2017)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91456" y="16367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Pierwsza sieć bezpośrednio na {(x,y,z)}: MLP per point → max pooling → global descriptor. Permutation invariant. 89.2% mAP ModelNet40. Podstawa wszystkich następnych.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1031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103120"/>
            <a:ext cx="54864" cy="749808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9" name="Text 17"/>
          <p:cNvSpPr/>
          <p:nvPr/>
        </p:nvSpPr>
        <p:spPr>
          <a:xfrm>
            <a:off x="4791456" y="21579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PointNet++ (2017)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91456" y="2423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Hierarchiczne próbkowanie: farthest point sampling → local region → mini-PointNet. Lepsze na gęstych chmurach. Używany w autonomicznych samochodach.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88950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889504"/>
            <a:ext cx="54864" cy="749808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29443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VoxelNet / PointPillars (2018)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91456" y="32095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Voxelizacja → 3D CNN. PointPillars: voxele w kolumny 2D → 2D CNN → SSD detection head. 62 FPS na GPU. Waymo i Tesla używają podobnych architektur.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675888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675888"/>
            <a:ext cx="54864" cy="74980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37307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Open3D i ROS 2 pointcloud2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91456" y="3995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sensor_msgs/PointCloud2 w ROS 2. Open3D Python API: o3d.geometry.PointCloud → visualize, ICP registration, DBSCAN clustering. Interoperuje z NumPy.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Kalibruj LiDAR i kamerę wspólnie używając szachownicy 3D (ros2_camera_lidar_calibration). Bez kalibracji fuzja sensorów da błędne wyniki projekcji.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 dla Robotów — Detekcja, Segmentacja, Głębokość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to najtańszy, najbogatszy informacyjnie sensor. Robot musi zamienić piksele w semantyczną wiedzę o środowisku.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 dla robotów — detekcja w czasie rzeczywistym: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4160520" cy="20482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45336"/>
            <a:ext cx="399592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rclpy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sensor_msgs.msg import Image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cv_bridge import CvBridge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YOLODetector(Node):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super().__init__("yolo_detector")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self.model = YOLO("yolov8n.pt")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Dla robotyki: yolov8n &lt; 3ms na Jetson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self.bridge = CvBridge()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self.sub = self.create_subscription(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Image, "/camera/image_raw",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self.image_cb, 10)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image_cb(self, msg):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img = self.bridge.imgmsg_to_cv2(msg)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 = self.model(img, conf=0.5)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box in results[0].boxes: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box.xyxy, box.cls, box.conf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self.process_detection(box)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3401568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401568"/>
            <a:ext cx="54864" cy="58521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" y="345643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Estymacja głębokości (monocular)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" y="37216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 / Depth Anything: relative depth z 1 kamery. ~25 FPS Jetson. Dokładność relatywna — wymaga kalibracji skalowej z LiDAR. Dobra dla planowania ścieżki.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4023360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023360"/>
            <a:ext cx="54864" cy="58521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407822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Segmentacja semantyczna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43434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2 (Meta) + YOLOv8-seg: real-time instance segmentation. DINOv2 jako backbone — zero-shot transfer na nowe klasy obiektów.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Metody detekcji i ich cechy: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31673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316736"/>
            <a:ext cx="54864" cy="804672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13716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YOLOv8 / YOLOv11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91456" y="163677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One-stage, anchor-free. 3–6ms GPU, 15ms Jetson AGX. COCO mAP 53. Najszybsze dla real-time robotyki. Model nano (3.2MB) na Raspberry Pi.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21284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212848"/>
            <a:ext cx="54864" cy="804672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22677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RT-DETR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91456" y="253288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Transformer-based, bez NMS. 54.8 mAP COCO. Wyższa dokładność niż YOLO. 9ms A100. Dobry gdy ważność &gt; szybkość.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10896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108960"/>
            <a:ext cx="54864" cy="804672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31" name="Text 29"/>
          <p:cNvSpPr/>
          <p:nvPr/>
        </p:nvSpPr>
        <p:spPr>
          <a:xfrm>
            <a:off x="4791456" y="31638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DINO / GroundedSAM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91456" y="342900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Open-vocabulary detection: 'find all bottles'. Zero-shot bez fine-tuningu. 5–10FPS — dla robotyki manipulacyjnej, nie nawigacji.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400507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4005072"/>
            <a:ext cx="54864" cy="80467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40599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ArUco / AprilTag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91456" y="432511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Fiducial markers — deterministyczne, latencja &lt; 1ms. Dokładność pozycji &lt; 1mm przy kalibrowanej kamerze. Standard dla pick-and-place.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SLAM — Simultaneous Localization and Mapping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rozwiązuje problem jajka i kury: zbuduj mapę żeby się zlokalizować, zlokalizuj się żeby budować mapę. Centralny problem robotyki mobilnej.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SLAM formalnie: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4160520" cy="512064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316736"/>
            <a:ext cx="4160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p(x₁:ₜ, m | z₁:ₜ, u₁:ₜ)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0040" y="184708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Dany: obserwacje z₁:ₜ (sensory), sterowania u₁:ₜ. Szukaj: trajektoria robotax₁:ₜ + mapa 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76272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76272"/>
            <a:ext cx="54864" cy="493776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" y="223113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EKF-SLAM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" y="2496312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Kalman Filter. Stan = [robot_pose, landmarks]. O(n²) złożoność — nie skaluje się. Historia, ale ważny baseline.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43200"/>
            <a:ext cx="54864" cy="493776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279806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GMapping / Gmapping (ROS)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3063240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filter SLAM. 2D LiDAR. Dobry dla małych środowisk. Nadal używany w Turtlebot3 demos.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310128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310128"/>
            <a:ext cx="54864" cy="493776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" y="336499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Cartographer (Google)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8056" y="3630168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pose graph + scan matching (CSM). 2D i 3D LiDAR. Submaps + loop closure. Przemysłowy standard dla AGV.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877056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877056"/>
            <a:ext cx="54864" cy="49377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" y="39319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RTAB-Map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48056" y="4197096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RGB-D + LiDAR SLAM. Loop closure z bag-of-words (visual). Eksportuje mapę 3D do Nav2. Bardzo kompletne rozwiązanie.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443984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443984"/>
            <a:ext cx="54864" cy="49377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" y="449884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ORB-SLAM 3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48056" y="4764024"/>
            <a:ext cx="3977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SLAM (kamera): ORB feature extraction → pose graph. Monocular/stereo/RGB-D. Stan akademickiego art. 2021.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SLAM pipeline — kluczowe komponenty: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1316736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316736"/>
            <a:ext cx="54864" cy="822960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13716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Odometria (front-end)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91456" y="163677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matching (ICP/NDT) lub visual odometry. Estymacja ruchu między klatkami. Szybkie (&lt; 10ms), ale akumuluje błąd.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2231136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2231136"/>
            <a:ext cx="54864" cy="82296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39" name="Text 37"/>
          <p:cNvSpPr/>
          <p:nvPr/>
        </p:nvSpPr>
        <p:spPr>
          <a:xfrm>
            <a:off x="4791456" y="22860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Closure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91456" y="255117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Wykrycie wizyty w poprzednio odwiedzonej lokalizacji. Feature matching lub place recognition (NetVLAD, Scan Context). Koryguje drift.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3145536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3145536"/>
            <a:ext cx="54864" cy="822960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43" name="Text 41"/>
          <p:cNvSpPr/>
          <p:nvPr/>
        </p:nvSpPr>
        <p:spPr>
          <a:xfrm>
            <a:off x="4791456" y="32004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 Optimization (back-end)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791456" y="346557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graph: węzły=pozy, krawędzie=ograniczenia. Minimalizacja sumy kwadratów błędów. g2o, GTSAM, iSAM2. Rzadka macierz informacji.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63440" y="4059936"/>
            <a:ext cx="4206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4059936"/>
            <a:ext cx="54864" cy="82296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7" name="Text 45"/>
          <p:cNvSpPr/>
          <p:nvPr/>
        </p:nvSpPr>
        <p:spPr>
          <a:xfrm>
            <a:off x="4791456" y="41148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791456" y="4379976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grid (2D: 0/1/unknown), voxel map (OctoMap 3D), landmark map (punkty 3D), topologiczna (węzły+krawędzie).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Dla robotów indoor uruchom: ros2 launch slam_toolbox online_async_launch.py — gotowy SLAM 2D. Dla 3D outdoor: Cartographer z LiDAR 3D.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Planowanie Ścieżki — A*, RRT*, Dijkstra i Optymalizacja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Planer ścieżki odpowiada na pytanie: jak dojść z punktu A do B unikając przeszkód? Dwa poziomy: global planner + local planner.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— implementacja i heurystyki: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4160520" cy="21945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45336"/>
            <a:ext cx="399592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heapq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a_star(grid, start, goal):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heurystyka: odległość Manhattan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= lambda n: abs(n[0]-goal[0])+abs(n[1]-goal[1])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open_set = [(h(start), start)]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g_score  = {start: 0}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came_from = {}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open_set: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_, cur = heapq.heappop(open_set)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cur == goal: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path = []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while cur in came_from: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path.append(cur); cur=came_from[cur]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path[::-1]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dx,dy in [(-1,0),(1,0),(0,-1),(0,1)]: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nb = (cur[0]+dx, cur[1]+dy)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grid[nb[0]][nb[1]] == 0:  # wolna komórka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g = g_score[cur] + 1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g &lt; g_score.get(nb, float('inf')):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g_score[nb] = 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came_from[nb] = cur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heapq.heappush(open_set,(g+h(nb),nb))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None  # brak ścieżki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3547872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547872"/>
            <a:ext cx="54864" cy="58521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" y="360273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Potencjalne pola (Potential Fields)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" y="38679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 = atraktor, przeszkody = repulsory. Szybkie, reaktywne. Wada: lokalne minima (robot utyka). Używane w local planner jako składowa.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4169664"/>
            <a:ext cx="41605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4169664"/>
            <a:ext cx="54864" cy="585216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42245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Inflation layer — costmap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44897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Przeszkody paddinowane buforem (robot_radius + margin). A* planuje z uwzględnieniem. NavStack costmap2d obsługuje automatycznie.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Algorytmy i ich porównanie: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316736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316736"/>
            <a:ext cx="54864" cy="676656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13716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Dijkstra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91456" y="163677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z h=0. Gwarantuje optymalność. Wolniejszy niż A*. Podstawa dla wielu wariantów. O((V+E)log V).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066544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066544"/>
            <a:ext cx="54864" cy="676656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21214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 (A-star)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91456" y="23865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Najszybszy kompletny dla grid map. h=Manhattan (4-conn) lub Chebyshev (8-conn). Admissible heuristic → optymalny.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816352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816352"/>
            <a:ext cx="54864" cy="676656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31" name="Text 29"/>
          <p:cNvSpPr/>
          <p:nvPr/>
        </p:nvSpPr>
        <p:spPr>
          <a:xfrm>
            <a:off x="4791456" y="28712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D* Lite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91456" y="31363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A* — replanning gdy zmienia się mapa. Świetny dla środowisk dynamicznych. Standard NASA Mars Rover.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566160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566160"/>
            <a:ext cx="54864" cy="67665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36210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RRT / RRT*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91456" y="38862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Szybkie drzewo losowych próbek. RRT*: asymptotycznie optymalny. Dobry dla wysokich DOF (6-DOF arm). Nie daje optymalnej ścieżki dla 2D nav.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4315968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4315968"/>
            <a:ext cx="54864" cy="67665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39" name="Text 37"/>
          <p:cNvSpPr/>
          <p:nvPr/>
        </p:nvSpPr>
        <p:spPr>
          <a:xfrm>
            <a:off x="4791456" y="43708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Nav2 Smac Planner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91456" y="46360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na lattice / Hybrid-A* dla kinematic constraints (Ackermann). NavFn (Dijkstra-based). Oficjalny planer ROS 2.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Nav2 — Navigation Stack ROS 2, Architektura i Konfiguracja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to kompletny system nawigacji dla ROS 2. Zastępuje move_base z ROS 1. Modularny, lifecycle-managed, BehaviorTree-based.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54864" cy="914400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" y="11704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 Navigator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" y="143560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oparty o Behavior Tree (BehaviorTree.CPP). Koordynuje recovery behaviors, planner, controller.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27448" y="1115568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15568"/>
            <a:ext cx="54864" cy="91440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55464" y="11704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 Server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55464" y="143560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Uruchamia global planner (NavFn/Smac). Wejście: /goal_pose → wyjście: /plan (ścieżka na mapie).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167128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167128"/>
            <a:ext cx="54864" cy="914400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222199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 Server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248716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planner (DWB/MPPI/TEB). Śledzi globalną ścieżkę wysyłając /cmd_vel. Unika lokalnych przeszkód.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27448" y="2167128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167128"/>
            <a:ext cx="54864" cy="9144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2" name="Text 20"/>
          <p:cNvSpPr/>
          <p:nvPr/>
        </p:nvSpPr>
        <p:spPr>
          <a:xfrm>
            <a:off x="4855464" y="222199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Costmap 2D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55464" y="248716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costmap (statyczna mapa + inflation) + Local costmap (sliding window 5×5m sensor data).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218688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218688"/>
            <a:ext cx="54864" cy="914400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" y="327355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AMCL (Localization)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48056" y="353872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Monte Carlo Localization — particle filter na gotowej mapie. 500–2000 cząstek. Wymaga map_server.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27448" y="3218688"/>
            <a:ext cx="4251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27448" y="3218688"/>
            <a:ext cx="54864" cy="914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0" name="Text 28"/>
          <p:cNvSpPr/>
          <p:nvPr/>
        </p:nvSpPr>
        <p:spPr>
          <a:xfrm>
            <a:off x="4855464" y="327355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 Behaviors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55464" y="353872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· Backup · Clear costmap · Wait. Uruchamiane gdy robot utknął. Zdefiniowane w BT XML.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206240"/>
            <a:ext cx="8503920" cy="713232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2793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B9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launch nav2_bringup navigation_launch.py  map:=/path/to/map.yaml  use_sim_time:=True  params_file:=nav2_params.yaml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4805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ros2 topic pub /goal_pose geometry_msgs/PoseStamped '{header:{frame_id:"map"}, pose:{position:{x:3.0,y:1.5}}}'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Sterowanie Robotem — PID, Regulatory i Pętla Zwrotna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(Proportional-Integral-Derivative) to najpowszechniejszy regulator w robotyce. Szacuje się, że 95% pętli sterowania w przemyśle to regulatory PID lub PI.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Implementacja PID z anti-windup: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4160520" cy="2670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45336"/>
            <a:ext cx="39959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PIDController: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Kp, Ki, Kd,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output_limits=(-1.0,1.0)):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self.Kp, self.Ki, self.Kd = Kp, Ki, Kd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self.integral   = 0.0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self.prev_error = 0.0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self.limits = output_limits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compute(self, setpoint, measured, dt):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error      = setpoint - measured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Anti-windup: nie sumuj gdy na limicie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p_out = self.Kp * error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d_out = self.Kd * (error-self.prev_error)/dt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Sprawdź limity przed integrowaniem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raw = p_out + self.Ki*self.integral + d_out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self.limits[0] &lt; raw &lt; self.limits[1]: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self.integral += error * dt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i_out = self.Ki * self.integral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output = p_out + i_out + d_out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self.prev_error = error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Clamp output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max(self.limits[0],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min(self.limits[1], output))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Zastosowanie: prędkość koła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= PIDController(Kp=1.2, Ki=0.5, Kd=0.05)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= pid.compute(target_rpm, encoder_rpm, dt)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Metody strojenia PID: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316736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16736"/>
            <a:ext cx="54864" cy="694944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456" y="13716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Ziegler-Nichols (Z-N)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91456" y="16367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Zwiększaj Kp do oscylacji → Ku, Tu. Oblicz: Kp=0.6Ku, Ti=0.5Tu, Td=0.125Tu. Szybka metoda — może być zbyt agresywna.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048256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048256"/>
            <a:ext cx="54864" cy="694944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9" name="Text 17"/>
          <p:cNvSpPr/>
          <p:nvPr/>
        </p:nvSpPr>
        <p:spPr>
          <a:xfrm>
            <a:off x="4791456" y="21031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Tryb manualny + iteracyjny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91456" y="23682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Kp mały, Ki=Kd=0. Zwiększaj Kp do oscylacji. Dodaj Ki dla steady-state error. Dodaj Kd dla tłumienia. Praktycznie najczęstszy.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779776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779776"/>
            <a:ext cx="54864" cy="694944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28346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Auto-tuning (relay feedback)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91456" y="309981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Wbudowany w sterowniki Beckhoff/Siemens. Układ przełączający (relay) → oscylacje kontrolowane → auto-oblicza Ku, Tu.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511296"/>
            <a:ext cx="42062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511296"/>
            <a:ext cx="54864" cy="69494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35661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Cascade PID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91456" y="383133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Zewnętrzna pętla pozycji → setpoint wewnętrznej pętli prędkości → setpoint pętli prądu. Szybsze pętle wewnętrzne (1kHz current, 100Hz velocity).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4242816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4242816"/>
            <a:ext cx="54864" cy="566928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31" name="Text 29"/>
          <p:cNvSpPr/>
          <p:nvPr/>
        </p:nvSpPr>
        <p:spPr>
          <a:xfrm>
            <a:off x="4791456" y="429768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Zaawansowane: LQR, MPC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91456" y="456285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Quadratic Regulator — optymalne przy modelowaniu stanu. MPC (Model Predictive Control) — predykcja N kroków. Standard w cobotach i AV.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Maszyny Stanów i Behavior Trees — Architektura Decyzyjna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Decyzja: co robot ma teraz robić? Maszyna stanów to dobry start, ale Behavior Trees (BT) skalują się lepiej dla złożonego zachowania.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Tree — implementacja Python: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4160520" cy="248716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545336"/>
            <a:ext cx="39959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py_trees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Liście (Behaviours)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CheckBattery(py_trees.behaviour.Behaviour):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update(self):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battery_level &gt; 20: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py_trees.common.Status.SUCCESS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py_trees.common.Status.FAILURE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NavigateToGoal(py_trees.behaviour.Behaviour):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update(self):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nav_complete: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py_trees.common.Status.SUCCESS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py_trees.common.Status.RUNNING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Drzewo: Sequence = AND, Selector = 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py_trees.composites.Selector(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"Root", memory=False)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patrol = py_trees.composites.Sequence(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"Patrol", memory=False)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patrol.add_children([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CheckBattery(),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NavigateToGoal(),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PickObject()])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recharge = py_trees.composites.Sequence(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"Recharge", memory=False)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recharge.add_children([GoToCharger(), Charge()])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root.add_children([patrol, recharge])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Porównanie: FSM vs Behavior Trees: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316736"/>
            <a:ext cx="1170432" cy="493776"/>
          </a:xfrm>
          <a:prstGeom prst="rect">
            <a:avLst/>
          </a:prstGeom>
          <a:solidFill>
            <a:srgbClr val="0C1420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1316736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Aspekt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33872" y="1316736"/>
            <a:ext cx="1536192" cy="493776"/>
          </a:xfrm>
          <a:prstGeom prst="rect">
            <a:avLst/>
          </a:prstGeom>
          <a:solidFill>
            <a:srgbClr val="0C1420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88736" y="1316736"/>
            <a:ext cx="1444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70064" y="1316736"/>
            <a:ext cx="1536192" cy="493776"/>
          </a:xfrm>
          <a:prstGeom prst="rect">
            <a:avLst/>
          </a:prstGeom>
          <a:solidFill>
            <a:srgbClr val="0C1420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4928" y="1316736"/>
            <a:ext cx="1444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Tree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865376"/>
            <a:ext cx="117043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1865376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Skalowalność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833872" y="1865376"/>
            <a:ext cx="153619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88736" y="1865376"/>
            <a:ext cx="1444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Eksplozja liczby stanów/tranzycji przy złożoności O(n²)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70064" y="1865376"/>
            <a:ext cx="153619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24928" y="1865376"/>
            <a:ext cx="1444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Hierarchiczna, modułowa — dodaj poddrzewo bez zmian istniejącego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414016"/>
            <a:ext cx="117043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2414016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Czytelność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33872" y="2414016"/>
            <a:ext cx="153619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88736" y="2414016"/>
            <a:ext cx="1444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stanów czytelny do ~20 stanów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70064" y="2414016"/>
            <a:ext cx="153619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24928" y="2414016"/>
            <a:ext cx="1444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XML/graficzny, narzędzia (Groot2) — wizualizacja w runtime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962656"/>
            <a:ext cx="117043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2962656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Reaktywność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33872" y="2962656"/>
            <a:ext cx="153619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88736" y="2962656"/>
            <a:ext cx="1444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Trudna zmiana priorytetu — wymaga nowych tranzycji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70064" y="2962656"/>
            <a:ext cx="153619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24928" y="2962656"/>
            <a:ext cx="1444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re-evaluuje każdy tick — naturalny priorytet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511296"/>
            <a:ext cx="117043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3511296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Współbieżność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833872" y="3511296"/>
            <a:ext cx="153619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88736" y="3511296"/>
            <a:ext cx="1444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Wymaga przebudowy na Statecharts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370064" y="3511296"/>
            <a:ext cx="153619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24928" y="3511296"/>
            <a:ext cx="1444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composite — wbudowana równoległość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4059936"/>
            <a:ext cx="117043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4059936"/>
            <a:ext cx="1078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33872" y="4059936"/>
            <a:ext cx="153619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88736" y="4059936"/>
            <a:ext cx="1444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 tranzycji stanów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370064" y="4059936"/>
            <a:ext cx="1536192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24928" y="4059936"/>
            <a:ext cx="1444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Groot2 live visualization, każdy node status kolorowany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Nav2 używa BehaviorTree.CPP v4 z gotowymi BT XML. Otwórz Groot2 IDE → Live Monitor podczas nawigacji, by zobaczyć aktywny węzeł drzewa w czasie rzeczywistym.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MoveIt 2 — Planowanie Ruchu Manipulatorów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MoveIt 2 to de facto standard planowania ruchu dla ramion robotycznych w ROS 2. Integruje IK, kolizje, trajektorie i sterowanie.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54864" cy="786384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" y="11704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MoveGroup Interface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" y="143560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Główne API. move_group.setPoseTarget() → plan() → execute(). Proste zadania w kilku linijkach Pythona/C++.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27448" y="1115568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15568"/>
            <a:ext cx="54864" cy="786384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55464" y="11704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OMPL (planery)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55464" y="143560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Motion Planning Library: RRT*, PRM*, BIT*, LBTRRT. Każdy obsługuje 6-DOF w sekundach. Domyślny: RRT Connect.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93392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993392"/>
            <a:ext cx="54864" cy="786384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204825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FCL Collision Check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2313432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Collision Library: sphere/box/mesh primitives. Sprawdza self-collision i environment. &lt; 1ms per check.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27448" y="1993392"/>
            <a:ext cx="42519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1993392"/>
            <a:ext cx="54864" cy="7863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2" name="Text 20"/>
          <p:cNvSpPr/>
          <p:nvPr/>
        </p:nvSpPr>
        <p:spPr>
          <a:xfrm>
            <a:off x="4855464" y="204825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KDL / TRAC-IK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55464" y="2313432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Kinematics solver. TRAC-IK 3× szybszy i bardziej niezawodny niż KDL (78% → 99% success rate). Zawsze używaj TRAC-IK.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2944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Planowanie chwytania obiektów (pick and place):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218688"/>
            <a:ext cx="850392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326440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3447288"/>
            <a:ext cx="83393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MoveIt 2 Python interface — pick &amp; place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moveit2 import MoveIt2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 = MoveIt2(node, joint_names=["j1","j2","j3","j4","j5","j6"],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base_link="base_link", end_effector="tool0",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group_name="manipulator")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Zaplanuj do pozycji w przestrzeni kartezjańskiej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arm.set_pose_goal(position=[0.4, 0.2, 0.3],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quat_xyzw=[0, 0.707, 0, 0.707])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 = arm.plan()        # OMPL planning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success: arm.execute()   # wysyła do ros2_control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Trajektoria kartezjańska (linearna, nie joint-space)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waypoints = [[0.4,0.2,0.3],[0.4,0.2,0.1],[0.4,0.3,0.1]]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arm.set_cartesian_path_goal(waypoints, max_step=0.005)  # 5mm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Uruchom MoveIt Setup Assistant (ros2 launch moveit_setup_assistant setup_assistant.launch.py) — generuje automatycznie SRDF, konfigurację collision matrix i launch files.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Uczenie ze Wzmocnieniem — PPO, SAC i Sim2Real Transfer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dla robotów: zamiast programować zachowanie, robot uczy się go przez próby i błędy w symulacji. Sim2Real: przenieś nauczoną politykę na prawdziwy hardware.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 dla sterowania robotem — Stable-Baselines3: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223" y="1295828"/>
            <a:ext cx="4202337" cy="31214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1000" y="1369425"/>
            <a:ext cx="4009867" cy="2891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from stable_baselines3 import PPO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from stable_baselines3.common.env_util import (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make_vec_env)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import gymnasium as gym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75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Tworzenie środowiska (Gym / Gymnasium API)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env = make_vec_env("HalfCheetah-v4", n_envs=8)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n_envs=8: równoległe środowiska → szybsze próbkowanie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75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model = PPO(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"MlpPolicy",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env,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learning_rate=3e-4,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n_steps=2048,    # kroków zbieranych przed update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batch_size=64,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n_epochs=10,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gamma=0.99,      # discount factor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gae_lambda=0.95, # GAE advantage estimation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ent_coef=0.01,   # entropia → eksploracja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verbose=1)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75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model.learn(total_timesteps=1_000_000)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model.save("ppo_cheetah")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Inferencja: obs, _ = env.reset()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action, _ = model.predict(obs, deterministic=True)</a:t>
            </a:r>
            <a:endParaRPr lang="en-US" sz="750" dirty="0">
              <a:latin typeface="Consolas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Algorytmy RL dla robotów: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316736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316736"/>
            <a:ext cx="54864" cy="749808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5" name="Text 13"/>
          <p:cNvSpPr/>
          <p:nvPr/>
        </p:nvSpPr>
        <p:spPr>
          <a:xfrm>
            <a:off x="4791456" y="13716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 (Proximal Policy Optimization)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91456" y="16367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On-policy. Stabilne, sample-efficient. Clip ratio ε=0.2. Złoty standard. Spot (BD) locomotion, OpenAI Dexterous Hand nauczyły się PPO.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103120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103120"/>
            <a:ext cx="54864" cy="749808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9" name="Text 17"/>
          <p:cNvSpPr/>
          <p:nvPr/>
        </p:nvSpPr>
        <p:spPr>
          <a:xfrm>
            <a:off x="4791456" y="21579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SAC (Soft Actor-Critic)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91456" y="2423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Off-policy, maximum entropy RL. Automatyczny tuning temperatury. Bardziej sample-efficient niż PPO. Dobry dla ciągłych przestrzeni akcji (ramię).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889504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889504"/>
            <a:ext cx="54864" cy="749808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29443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Sim2Real Transfer — Domain Randomization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91456" y="32095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sim2real gap (tarcie, masa, opóźnienia różne). Rozwiązanie: randomizuj parametry w symulacji → polityka uodporniona na wariancję. NVIDIA używa Isaac Gym + DR.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3675888"/>
            <a:ext cx="4206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675888"/>
            <a:ext cx="54864" cy="74980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373075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Isaac Lab / IsaacGym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91456" y="39959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GPU-accelerated: 4096 środowisk równolegle na 1 GPU. 10× szybsze niż Gazebo. PyTorch natywnie. Robot learning state-of-art. AnyBotics ANYmal trenowany w Isaac.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Zacznij od Gymnasium MuJoCo envs (HalfCheetah, Ant, Humanoid) — stabilne benchmarki. Dopiero gdy polityka działa w symie, przenoś na hardware.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Systemy Wbudowane — STM32, Raspberry Pi, Jetson i RTOS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to hierarchia komputerów: mikrokontroler (&lt; 1μs, PWM/SPI) → komputer pokładowy (nawigacja) → PC (planowanie, ML). Każdy poziom ma inne wymagania.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54864" cy="713232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" y="117043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STM32F4/G4 (low-level ctrl)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" y="143560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Cortex-M4/M7, 168MHz. Sterowanie silnikami PWM, SPI do IMU, UART do czujników. Opóźnienie &lt; 1μs. FreeRTOS lub bare-metal. micro-ROS → DDS agent.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92024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20240"/>
            <a:ext cx="54864" cy="713232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" y="197510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Raspberry Pi 4/5 (mid-level)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" y="224028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Cortex-A72, 4-core, 8GB RAM. ROS 2 natively. Brak gwarancji real-time (Linux). Dobry dla perception, planning. USB3 → kamera, WiFi, BT.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724912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24912"/>
            <a:ext cx="54864" cy="713232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277977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Jetson Orin (AGX/NX)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304495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TOPS NVDLA + GPU 1792 CUDA + ARM A78. Dedykowany robot AI. TensorRT inference YOLOv8 &lt; 3ms. Sterowanie robotem + ML na jednym modulu.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529584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529584"/>
            <a:ext cx="54864" cy="71323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" y="358444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BeagleBone Blue / OpenCR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8056" y="384962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Specjalizowane do robotów: OpenCR (Turtlebot3) – STM32 + IMU + motor drivers na jednej płycie. BeagleBone: PRU (200MHz real-time coprocessors).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370832"/>
            <a:ext cx="4160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370832"/>
            <a:ext cx="54864" cy="566928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" y="442569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micro-ROS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48056" y="469087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na mikrokontrolerach (STM32/ESP32). micro-ROS Agent na RPi/PC. Topiki, serwisy przez XRCE-DDS (UDP/UART/CAN). STM32 + FreeRTOS oficjalnie wspierany.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Operating Systems: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1316736"/>
            <a:ext cx="4206240" cy="2011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0" y="1545336"/>
            <a:ext cx="404164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FreeRTOS — sterowanie silnikiem, STM32 */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"FreeRTOS.h"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"task.h"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motor_control_task(void *pvParam)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TickType_t last_wake = xTaskGetTickCount();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for(;;) {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Odczyt enkodera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int32_t pos = encoder_get_count();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PID: setpoint → PWM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float pwm = pid_compute(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target_pos, pos, 0.001f); // dt=1ms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motor_set_pwm(pwm);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Precyzyjne 1kHz (1ms period)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vTaskDelayUntil(&amp;last_wake,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pdMS_TO_TICKS(1));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Priorytet: motor_task(5) &gt; nav_task(3) &gt; log(1)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xTaskCreate(motor_control_task, "motor",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0B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256, NULL, 5, NULL);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3364992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3364992"/>
            <a:ext cx="54864" cy="603504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34" name="Text 32"/>
          <p:cNvSpPr/>
          <p:nvPr/>
        </p:nvSpPr>
        <p:spPr>
          <a:xfrm>
            <a:off x="4791456" y="341985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Bus w robotach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91456" y="368503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11898, 1Mbit/s. Odporny na zakłócenia. Multi-master. Sterowniki silników ESCON/ODrive/VESC komunikują przez CAN. ROS 2: ros2_socketcan.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4005072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4005072"/>
            <a:ext cx="54864" cy="603504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38" name="Text 36"/>
          <p:cNvSpPr/>
          <p:nvPr/>
        </p:nvSpPr>
        <p:spPr>
          <a:xfrm>
            <a:off x="4791456" y="40599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 2 real-time (Apex.OS)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791456" y="432511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Apex.OS = certyfikowana ASIL-D dystrybucja ROS 2 z gwarancjami real-time. Używana w autonomicznych wózkach widłowych STILL.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Komunikacja Niskopoziomowa — CAN, UART, SPI, I²C, EtherCAT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Każdy protokół ma swoje zastosowanie. Dobry inżynier robotyki wybiera protokół pasujący do wymagań: przepustowość, dystans, real-time, koszty.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115568"/>
            <a:ext cx="54864" cy="1170432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" y="11704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Bus (ISO 11898)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" y="14264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6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1 Mbit/s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74520" y="1426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2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📡 40m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" y="16459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Sterowniki silników (ODrive, VESC), IMU przemysłowy. Multi-master, priorytetyzacja. Samochody od 1986.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27448" y="111556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27448" y="1115568"/>
            <a:ext cx="54864" cy="1170432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6" name="Text 14"/>
          <p:cNvSpPr/>
          <p:nvPr/>
        </p:nvSpPr>
        <p:spPr>
          <a:xfrm>
            <a:off x="4855464" y="11704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UART / RS-485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55464" y="14264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6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4 Mbit/s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81928" y="1426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2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📡 1200m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55464" y="164592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modemy, LiDAR (RPLIDAR UART), debug console. Punkt-punkt lub multi-drop (RS-485). Asynchroniczny.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377440"/>
            <a:ext cx="54864" cy="1170432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" y="24323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8056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8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50 Mbit/s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74520" y="26883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2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📡 30cm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" y="29077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(ICM-42688 10MHz SPI), Flash, enkodery absolutne. Full-duplex, synchroniczny. Master-slave.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27448" y="237744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27448" y="2377440"/>
            <a:ext cx="54864" cy="117043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8" name="Text 26"/>
          <p:cNvSpPr/>
          <p:nvPr/>
        </p:nvSpPr>
        <p:spPr>
          <a:xfrm>
            <a:off x="4855464" y="243230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I²C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5546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3.4 Mbit/s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81928" y="26883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2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📡 1m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55464" y="290779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Czujniki dystansu, ekspandery GPIO, OLED display. Tylko 2 przewody (SDA+SCL). Adresowanie 7-bit.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639312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639312"/>
            <a:ext cx="54864" cy="1170432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34" name="Text 32"/>
          <p:cNvSpPr/>
          <p:nvPr/>
        </p:nvSpPr>
        <p:spPr>
          <a:xfrm>
            <a:off x="448056" y="36941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EtherCAT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48056" y="3950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7F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100 Mbit/s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74520" y="3950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2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📡 100m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48056" y="416966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Przemysłowe serwonapędy (Beckhoff AX5000). Jitter &lt; 1μs. Każdy slave przetwarza ramkę w locie.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27448" y="3639312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27448" y="3639312"/>
            <a:ext cx="54864" cy="1170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0" name="Text 38"/>
          <p:cNvSpPr/>
          <p:nvPr/>
        </p:nvSpPr>
        <p:spPr>
          <a:xfrm>
            <a:off x="4855464" y="36941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USB 3 / PCIe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855464" y="3950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5 Gbit/s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81928" y="3950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2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📡 5m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55464" y="416966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Kamery RGB-D (ZED, RealSense), LiDAR 3D (Ouster). Wysoka przepustowość danych.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Symulacja — Gazebo Harmonic, Webots i NVIDIA Isaac Sim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Symulacja skraca czas developmentu 10×: testuj algorytmy bez ryzyka uszkodzenia hardware. Wierność symulacji to klucz do skutecznego Sim2Real.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1605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54864" cy="987552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" y="117043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Gazebo Harmonic (nowy Gazebo)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" y="1435608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Następca Gazebo Classic. Zbudowany od zera: Ignition/gz-sim. Lepszy multi-robot, pluginy w Ignition Transport, OGRE 2 rendering. Integracja Nav2/MoveIt 2 przez ros_gz_bridge. Standard ROS 2.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13969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39696"/>
            <a:ext cx="54864" cy="749808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" y="21945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Webots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" y="245973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WSL-friendly. Prostszy start niż Gazebo. Wbudowane modele: TIAGo, Spot, UR10. Python supervisor API. Dobry dla dydaktyki.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26080"/>
            <a:ext cx="54864" cy="749808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298094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CoppeliaSim (V-REP)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32461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Profesjonalny, komercyjny. Wbudowana odwrotna kinematyka IKfast, siły kontaktu, przenośnik taśmowy. Zbliżony do rzeczywistości fizycznej.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71246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12464"/>
            <a:ext cx="54864" cy="74980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" y="37673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NVIDIA Isaac Sim (Omniverse)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8056" y="403250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scene format. PhysX 5 physics. Fotorealistyczny rendering Lumen. 4096 równoległych środowisk GPU. Domain Randomization wbudowany. Przyszłość robotyki AI.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Gazebo — SDF i uruchamianie świata: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1316736"/>
            <a:ext cx="4206240" cy="2048256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92980" y="1408176"/>
            <a:ext cx="4026408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launch/simulation.launch.py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from launch import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LaunchDescription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launch_ros.actions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import Node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launch.actions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import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IncludeLaunchDescription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75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generate_launch_description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():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LaunchDescription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([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# Gazebo z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customowym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światem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IncludeLaunchDescription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PythonLaunchDescriptionSource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([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gz_sim_pkg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, "/launch/gz_sim.launch.py"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]),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launch_arguments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={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gz_args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":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my_world.sdf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-r"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}.items()),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# Bridge ROS 2 ↔ Gazebo Topics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Node(package="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ros_gz_bridge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executable="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parameter_bridge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arguments=[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 "/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cmd_vel@geometry_msgs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/msg/Twist"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 "@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gz.msgs.Twist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 "/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scan@sensor_msgs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/msg/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LaserScan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 "@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gz.msgs.LaserScan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]),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])</a:t>
            </a:r>
            <a:endParaRPr lang="en-US" sz="750" dirty="0">
              <a:latin typeface="Consolas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401568"/>
            <a:ext cx="54864" cy="58521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30" name="Text 28"/>
          <p:cNvSpPr/>
          <p:nvPr/>
        </p:nvSpPr>
        <p:spPr>
          <a:xfrm>
            <a:off x="4791456" y="34564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Modele URDF / SDF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791456" y="37216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URDF (XML): links, joints, visual, collision, inertia. xacro: makra i parametry. SDF: Gazebo native, więcej właściwości fizycznych. Eksport z Fusion 360 / SolidWorks.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4023360"/>
            <a:ext cx="4206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4023360"/>
            <a:ext cx="54864" cy="58521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Text 32"/>
          <p:cNvSpPr/>
          <p:nvPr/>
        </p:nvSpPr>
        <p:spPr>
          <a:xfrm>
            <a:off x="4791456" y="40782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ros2_control + Gazebo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91456" y="434340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hardware_interface::SystemInterface → Gazebo Plugin. Jeden kod kontrolera działa w symie i na hardware. Kluczowy wzorzec ROS 2.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Integracja — Pełny Stack Nawigacyjny dla AMR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(Autonomous Mobile Robot) w magazynie: cel = dotarcie do punktu, podniesienie towaru, powrót. Wymaga integracji wszystkich komponentów.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Pełny stack nawigacyjny — przepływ danych: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1097280" cy="62179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31673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Misja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17320" y="1316736"/>
            <a:ext cx="7406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6192" y="1353312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Manager / REST API → cel (x,y,yaw) lub lista waypointów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1938528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011680"/>
            <a:ext cx="1097280" cy="621792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01168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Planowanie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417320" y="2011680"/>
            <a:ext cx="7406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36192" y="2048256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 BT Navigator → Smac Planner (global) + DWB/MPPI (local) → /cmd_vel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633472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706624"/>
            <a:ext cx="1097280" cy="621792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70662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Lokalizacja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417320" y="2706624"/>
            <a:ext cx="7406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27432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AMCL na mapie OR Cartographer SLAM (dynamiczne środowisko) → /tf: map→odom→base_link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328416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401568"/>
            <a:ext cx="1097280" cy="621792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40156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Percepcja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417320" y="3401568"/>
            <a:ext cx="7406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36192" y="3438144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2D (RPLIDAR) → LaserScan → costmap. Kamera → YOLO → obstacle avoidance layer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4023360"/>
            <a:ext cx="457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4096512"/>
            <a:ext cx="1097280" cy="621792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0965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Sterowanie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417320" y="4096512"/>
            <a:ext cx="7406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133088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ros2_control: diff_drive_controller → PID PWM → silniki DC. Enkodery → odometria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4773168"/>
            <a:ext cx="8503920" cy="914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5001768"/>
            <a:ext cx="833932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Diagnoza: ros2 topic hz /scan (sprawdź 10Hz LiDAR) · ros2 topic echo /tf (sprawdź transformacje) · rviz2 → Add → TF · rqt_graph → sprawdź połączenia węzłów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Coboty i Bezpieczeństwo — ISO 10218, Power and Force Limiting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Cobot (collaborative robot) = robot pracujący bezpiecznie obok człowieka bez fizycznej bariery. Wymaga certyfikacji i analizy ryzyka.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Tryby pracy cobota (ISO/TS 15066):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16736"/>
            <a:ext cx="54864" cy="786384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" y="137160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SSM — Speed &amp; Separation Monitoring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8056" y="163677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Kamera/LiDAR monitoruje dystans człowiek-robot. Prędkość robota spada proporcjonalnie do zbliżenia. Zatrzymanie przy &lt;100mm.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194560"/>
            <a:ext cx="54864" cy="786384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" y="224942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PFL — Power &amp; Force Limiting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" y="251460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Czujniki siły/momentu w każdym stawie. Zatrzymanie gdy F&gt;150N lub moment&gt;80Nm. UR/KUKA/Fanuc cobots.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072384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72384"/>
            <a:ext cx="54864" cy="786384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" y="312724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HGP — Hand Guiding Port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8056" y="339242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Człowiek prowadzi ramię ręcznie (gravity compensation). Teach-by-demonstration. FT sensor na flanszu.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950208"/>
            <a:ext cx="4160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950208"/>
            <a:ext cx="54864" cy="7863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" y="400507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 — Safe Torque Off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8056" y="427024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kategorii 0: natychmiastowe odcięcie napędu. Relay bezpieczeństwa + SIL 2. Zawsze jako ostateczność.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UR10e — komunikacja i safety: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316736"/>
            <a:ext cx="4206240" cy="19019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54880" y="1362456"/>
            <a:ext cx="404164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UR10e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przez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ur_robot_driver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(ROS 2)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Prędkość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max: 1m/s (safety-limited)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Payload: 12.5kg, Reach: 1300mm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75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joint_trajectory_controller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→ /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joint_trajectory</a:t>
            </a:r>
            <a:endParaRPr lang="en-US" sz="750" dirty="0" err="1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control_msgs.action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import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FollowJointTrajectory</a:t>
            </a:r>
            <a:endParaRPr lang="en-US" sz="750" dirty="0" err="1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from trajectory_msgs.msg import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JointTrajectoryPoint</a:t>
            </a:r>
            <a:endParaRPr lang="en-US" sz="750" dirty="0" err="1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75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point =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JointTrajectoryPoint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point.positions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[0.0, -1.57, 1.57,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   -1.57, -1.57, 0.0]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[base, shoulder, elbow, w1, w2, w3] rad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point.time_from_start.sec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2  # 2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sekundy</a:t>
            </a:r>
            <a:endParaRPr lang="en-US" sz="750" dirty="0" err="1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75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Safety: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tool_contact_threshold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50N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Jeśli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FT sensor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przekroczy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→ E-STOP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Konfiguracja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w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PolyScope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Safety Panel</a:t>
            </a:r>
            <a:endParaRPr lang="en-US" sz="750" dirty="0">
              <a:latin typeface="Consolas"/>
              <a:ea typeface="Calibri"/>
              <a:cs typeface="Calibri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63440" y="325526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255264"/>
            <a:ext cx="54864" cy="65836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1" name="Text 29"/>
          <p:cNvSpPr/>
          <p:nvPr/>
        </p:nvSpPr>
        <p:spPr>
          <a:xfrm>
            <a:off x="4791456" y="33101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 ryzyka (ISO 12100)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91456" y="3575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Identyfikacja zagrożeń → ocena ryzyka (Severity × Probability × Avoidability) → redukcja przez design → ostrzeżenia → PPE. Dokumentacja obowiązkowa dla CE.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95020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950208"/>
            <a:ext cx="54864" cy="658368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40050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Popularne coboty 2024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91456" y="4270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UR10e (Universal Robots) · KUKA LBR iisy · Fanuc CRX · ABB GoFa/Swifti · Franka Emika Panda (research standard) · Techman TM14.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NEVER connect cobot directly to ROS 2 without safety controller in the loop. Używaj certified safety PLC (e.g. Pilz PNOZ) jako hardware guard.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Systemy Wielorobotowe — Koordynacja, Rój i Fleet Management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Wiele robotów może robić więcej niż jeden — ale koordynacja to nowy problem: unikanie kolizji, rozdzielanie zadań, komunikacja.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Multi-robot w ROS 2 (namespace):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4160520" cy="190195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371098"/>
            <a:ext cx="399592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Każdy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robot =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osobna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przestrzeń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nazw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robot_1/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cmd_vel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, robot_2/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cmd_vel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robot_1/scan, robot_2/scan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75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launch/multi_robot.launch.py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robots = [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{"name":"robot_1","x":0.0,"y":0.0},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{"name":"robot_2","x":2.0,"y":0.0},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{"name":"robot_3","x":4.0,"y":0.0},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]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for robot in robots: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ld.add_action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(Node(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package="nav2_bringup",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executable="bringup_launch.py",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namespace=robot["name"],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parameters=[{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use_namespace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": True,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robot_name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": robot["name"],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}]))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75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MAPF: Multi-Agent Path Finding</a:t>
            </a:r>
            <a:endParaRPr lang="en-US" sz="750" dirty="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CBS (Conflict-Based Search)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dla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optymalności</a:t>
            </a:r>
            <a:endParaRPr lang="en-US" sz="750" dirty="0">
              <a:latin typeface="Consolas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3255264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255264"/>
            <a:ext cx="54864" cy="603504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" y="33101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MAPF — planowanie wielu agentów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" y="357530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Conflict-Based Search (CBS): dekompozycja na single-agent + tree konfliktów. Suboptymalne: WHCA* (windowed). Amazon Robotics: 750k robotów w magazynach.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895344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895344"/>
            <a:ext cx="54864" cy="603504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39502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Management System (FMS)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421538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allocation (aukcja, Hungarian method). Traffic management (virtual lanes, traffic lights). Open-source: OpenRMF. Komercyjny: MiR Fleet, OTTO Fleet.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Robotics roju (Swarm Robotics):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316736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316736"/>
            <a:ext cx="54864" cy="713232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791456" y="13716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Flocking (Craig Reynolds Boids)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91456" y="163677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Trzy reguły: Separation (unikaj sąsiadów) + Alignment (wyrównaj prędkość) + Cohesion (trzymaj się grupy). Emergentne zachowanie z prostych reguł lokalnych.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066544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066544"/>
            <a:ext cx="54864" cy="71323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21214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Stigmergy — komunikacja przez środowisko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91456" y="23865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mrówki: zostawiaj ślad (virtual pheromone). Robot czyta/pisze do shared map. Nie wymaga bezpośredniej komunikacji. Skalowalny do tysięcy agentów.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81635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816352"/>
            <a:ext cx="54864" cy="713232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31" name="Text 29"/>
          <p:cNvSpPr/>
          <p:nvPr/>
        </p:nvSpPr>
        <p:spPr>
          <a:xfrm>
            <a:off x="4791456" y="287121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Kilobot / e-puck / Crazyflie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91456" y="31363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Kilobot (Harvard): 3cm, IR komunikacja, 1024 roju. e-puck 2: edukacyjny. Crazyflie 2.1: nano-dron, swarm flights z Crazyswarm2 ROS 2 package.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356616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566160"/>
            <a:ext cx="54864" cy="7132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36210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Przeszkody: komunikacja i skalowanie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91456" y="38862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Bandwidth: N² wiadomości dla all-to-all. Rozwiązanie: broadcast lokal. Konsensus (Raft/Paxos) przy centralizowanym FMS. ROS 2 DDS ograniczone do ~50 robotów bez tuningu.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63440" y="4315968"/>
            <a:ext cx="42062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4315968"/>
            <a:ext cx="54864" cy="49377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4791456" y="43708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Robotics / Kiva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91456" y="4636008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750k robotów Proteus w centrach dystrybucji. Siatka 30cm — roboty przywożą półki do człowieka. 3× szybszy fulfillment. $775M akwizycja Kiva 2012.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Studium Przypadku — Autonomiczny Samochód (SAE L4)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(Autonomous Vehicle) to najbardziej wymagające wdrożenie robotyki: pełne bezpieczeństwo życia, każdy edge case musi być obsłużony.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251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54864" cy="859536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" y="11704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Percepcja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" y="143560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128-line (Luminar Iris) + kamera 360° (8×) + radar 4D (Continental ARS540). Sensor fusion: BEV (Bird's Eye View) representation.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27448" y="1115568"/>
            <a:ext cx="4251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15568"/>
            <a:ext cx="54864" cy="859536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55464" y="11704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Predykcja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55464" y="143560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Przewidywanie zachowania pieszych/aut na 5s. Transformer-based (Wayformer, MTR). Multiple hypotheses z probability distribution.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075688"/>
            <a:ext cx="4251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075688"/>
            <a:ext cx="54864" cy="859536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213055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Planowanie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239572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prediction: reguły drogowe + optymalizacja trajektorii. MPC z constraint satisfaction. Waymo używa Monte Carlo rollouts.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27448" y="2075688"/>
            <a:ext cx="4251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075688"/>
            <a:ext cx="54864" cy="85953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2" name="Text 20"/>
          <p:cNvSpPr/>
          <p:nvPr/>
        </p:nvSpPr>
        <p:spPr>
          <a:xfrm>
            <a:off x="4855464" y="213055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Sterowanie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55464" y="239572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Stanley / Pure Pursuit + MPC dla śledzenia ścieżki. Lat/Lon control: kierownica + gaz/hamulec. Aktuatory by-wire (EPS + EBS).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035808"/>
            <a:ext cx="4251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035808"/>
            <a:ext cx="54864" cy="85953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" y="309067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HD Mapa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48056" y="335584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Centrymetrowa mapa 3D z liniami, znakami, sygnalizacją, semantyką. Offline budowana przez mapping vehicles. Online: lokalizacja w mapie.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035808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035808"/>
            <a:ext cx="54864" cy="713232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30" name="Text 28"/>
          <p:cNvSpPr/>
          <p:nvPr/>
        </p:nvSpPr>
        <p:spPr>
          <a:xfrm>
            <a:off x="448056" y="309067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Sprzęt obliczeniowy — NVIDIA DRIVE Thor / Orin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48056" y="335584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Orin: 254 TOPS. DRIVE Thor (2025): 2000 TOPS. Redundancja 2+1: primary compute + safety monitor + lockstep. Fail-operational: 3s maneuver po awarii compute.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822192"/>
            <a:ext cx="8503920" cy="310896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85876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🏎  Porównanie 2024: Waymo One (L4, 25 miast USA) · Baidu Apollo Go · WeRide · Tesla FSD Beta (L2+, ADAS). Waymo: 0 fatalities / 10M km. Ludzie: 1.37 deaths / 100M km.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187952"/>
            <a:ext cx="8503920" cy="310896"/>
          </a:xfrm>
          <a:prstGeom prst="rect">
            <a:avLst/>
          </a:prstGeom>
          <a:solidFill>
            <a:srgbClr val="E8F4FD"/>
          </a:solidFill>
          <a:ln w="12700">
            <a:solidFill>
              <a:srgbClr val="1A6D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22452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Apollo Open Platform: Baidu open-source AV stack. GitHub: ApolloAuto/apollo. 100+ modułów, własny simulator (Dreamview). Używany przez 200+ firm.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Robot dostawczy (studium przypadku sl. 29) jest lepszym projektem niż AV — niższe prędkości (&lt;20km/h), mniejsze ODD, bardziej osiągalny jako projekt studencki.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Standardy Bezpieczeństwa — ISO 10218, ISO 26262, IEC 61508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robotów to wymóg prawny (CE marking, OSHA) i etyczny. Systemy autonomiczne muszą dowieść bezpieczeństwa formalnie.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Hierarchia standardów bezpieczeństwa: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85039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316736"/>
            <a:ext cx="54864" cy="585216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5331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6D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IEC 61508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920240" y="135331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Elektryczne/elektroniczne systemy safety-critical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408176"/>
            <a:ext cx="914400" cy="402336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0817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 1–4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135331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nadrzędny. Definiuje SIL (Safety Integrity Level). Podstawa dla ISO 26262 i ISO 10218.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975104"/>
            <a:ext cx="85039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975104"/>
            <a:ext cx="54864" cy="585216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01168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6C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10218-1/2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920240" y="201168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 przemysłowe i komórki robotyczne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066544"/>
            <a:ext cx="914400" cy="402336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06654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PLd/SIL2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201168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1: robot. Część 2: instalacja. Definiuje PL (Performance Level) a-e według EN ISO 13849-1.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633472"/>
            <a:ext cx="85039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2633472"/>
            <a:ext cx="54864" cy="585216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67004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8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ISO/TS 15066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920240" y="267004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Roboty współpracujące (coboty)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724912"/>
            <a:ext cx="914400" cy="402336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72491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PLd/SIL2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267004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Uszczegółowia 10218 dla cobotów: SSM, PFL, HGP tryby. BioMechanical Limit Tables dla sił zderzenia.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291840"/>
            <a:ext cx="85039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291840"/>
            <a:ext cx="54864" cy="58521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332841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26262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920240" y="33284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ASIL (pojazdy drogowe)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383280"/>
            <a:ext cx="914400" cy="402336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38328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ASIL A–D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0" y="332841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 D = najwyższy. Dotyczy AV, systemów ADAS. Deterministic failure rate 10⁻⁸/h dla ASIL 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950208"/>
            <a:ext cx="85039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3950208"/>
            <a:ext cx="54864" cy="58521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986784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7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 4600 (AV)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920240" y="398678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Pojazdy autonomiczne — brak kierowcy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54880" y="4041648"/>
            <a:ext cx="914400" cy="40233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40416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Case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60720" y="398678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oparty o Safety Case (argumentacja). AWS, Waymo pracują z UL 4600. USA/CA AV regulations.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Dla projektu studenckiego: przeprowadź uproszczoną analizę ryzyka (FMEA: co może pójść źle → skutek → zabezpieczenie). Minimum: E-STOP sprzętowy + ogranicznik prędkości.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Studium Przypadku — Autonomiczny Robot Dostawczy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Starship Technologies, Nuro, Amazon Scout: roboty trotuar-level delivery. SAE L4 w ograniczonym ODD (trotuary, maks 20km/h, geofence).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Architektura Starship (uproszczona):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16736"/>
            <a:ext cx="54864" cy="640080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" y="137160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8056" y="163677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kamer + LiDAR 2D + ultrasonic + GPS RTK. Kamera 360° główna. GPS RTK ±2cm dla fine localization przy skrzyżowaniach.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029968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29968"/>
            <a:ext cx="54864" cy="64008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" y="208483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" y="23500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Wstępna mapa: HD survey vehicle. Update: każdy robot aktualizuje shared cloud map. Waypoints to trotuary, miejsca dostawy.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43200"/>
            <a:ext cx="54864" cy="640080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" y="279806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Percepcja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8056" y="30632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Detekcja pieszych: kamera + depth estimation. Bariera 50cm → zatrzymanie. Cloud-assisted dla edge cases (video streaming).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456432"/>
            <a:ext cx="54864" cy="6400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" y="351129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Nawigacja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8056" y="37764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po graphie trotuarowym (pre-mapped). Local: DWA. Skrzyżowanie: oczekiwanie na zielone (detekcja sygnalizacji YOLO).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169664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169664"/>
            <a:ext cx="54864" cy="640080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" y="42245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48056" y="44897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robotów w 100+ miastach. Centrala widzi wszystkie roboty real-time. Teleoperator interweniuje dla &lt; 1% dostaw.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metryki i wyzwania: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1316736"/>
            <a:ext cx="4206240" cy="17190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1370076"/>
            <a:ext cx="404164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Specyfikacja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techniczna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(Starship Gen 3)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robot_specs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{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masa_kg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     : 50,          # + 10kg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ładunek</a:t>
            </a:r>
            <a:endParaRPr lang="en-US" sz="750" err="1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max_speed_kmh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": 6,          #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trotuar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-safe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bateria_Wh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  : 450,         # ~6h / 20km range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"sensory"     : "9 cam + LiDAR + USS + GPS RTK",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"compute"     : "NVIDIA Jetson Orin NX",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"lockbox"     : "code unlock via mobile app",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# KPI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produkcyjne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: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delivery_success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": 0.998,   # 99.8%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kompletnych</a:t>
            </a:r>
            <a:endParaRPr lang="en-US" sz="750" err="1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teleop_rate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     : 0.008,   # 0.8% z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interwencją</a:t>
            </a:r>
            <a:endParaRPr lang="en-US" sz="750" err="1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mtbf_hours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      : 500,     # mean time between failure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}</a:t>
            </a:r>
            <a:endParaRPr lang="en-US" sz="750">
              <a:latin typeface="Consolas"/>
              <a:ea typeface="Calibri"/>
              <a:cs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663440" y="3072384"/>
            <a:ext cx="20299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072384"/>
            <a:ext cx="54864" cy="841248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312724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Stairs &amp; kerbs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91456" y="339242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może wchodzić po schodach — musi omijać. HD mapa: predefiniowane przejścia dla pieszych z ramą.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839712" y="3072384"/>
            <a:ext cx="20299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839712" y="3072384"/>
            <a:ext cx="54864" cy="8412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6967728" y="3127248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Agresywne dzieci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967728" y="339242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Rzeczywisty problem! Monitoring kamery + remote intervention. Stalowe obudowanie kół. Brak danych osobowych.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63440" y="4005072"/>
            <a:ext cx="20299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4005072"/>
            <a:ext cx="54864" cy="841248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3" name="Text 41"/>
          <p:cNvSpPr/>
          <p:nvPr/>
        </p:nvSpPr>
        <p:spPr>
          <a:xfrm>
            <a:off x="4791456" y="40599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Pogoda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791456" y="432511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Deszcz i śnieg degradują kamery. IP65 obudowa. LiDAR odporny. Grzałki przednia kamera / koła w opcji.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839712" y="4005072"/>
            <a:ext cx="202996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39712" y="4005072"/>
            <a:ext cx="54864" cy="84124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7" name="Text 45"/>
          <p:cNvSpPr/>
          <p:nvPr/>
        </p:nvSpPr>
        <p:spPr>
          <a:xfrm>
            <a:off x="6967728" y="405993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Regulacje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967728" y="432511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Różne przepisy miasto/kraj. UK: Micromobility law. USA: state-by-state. EU: NIS2 dla connected robots.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Projekt studencki: zbuduj mini delivery robot na ROS 2 + Nav2. Hardware: Turtlebot4 (€1200) lub samodzielnie RPi4 + RPLIDAR + DC motors + enkodery.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Trendy — Embodied AI, Foundation Models i ROS 3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Rewolucja 2023–2025: Large Language Models + robotyka = roboty rozumiejące polecenia naturalne. Google, OpenAI, Tesla wchodzą w robotykę.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15568"/>
            <a:ext cx="54864" cy="1170432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" y="11704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RT-2 / RT-X (Google DeepMind)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" y="1435608"/>
            <a:ext cx="4069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Transformer: VLM (Visual-Language Model) end-to-end. Input: obraz + tekst polecenia. Output: akcje robota. Zero-shot transfer między robotami. Open X-Embodiment dataset 1M epizodów.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27448" y="1115568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15568"/>
            <a:ext cx="54864" cy="1170432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4" name="Text 12"/>
          <p:cNvSpPr/>
          <p:nvPr/>
        </p:nvSpPr>
        <p:spPr>
          <a:xfrm>
            <a:off x="4855464" y="11704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π₀ — Physical Intelligence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55464" y="1435608"/>
            <a:ext cx="4069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 dla humanoidów. Pre-trained na danych fizycznych → fine-tuned na task. Figure 01 / Boston Dynamics Atlas z LLM. 2025: pierwsze produktywne humanoidale w fabrykach.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37744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377440"/>
            <a:ext cx="54864" cy="1170432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" y="243230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 Policy / ACT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" y="2697480"/>
            <a:ext cx="4069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Imitation learning z demonstracji ludzkich: 30min demo → polityka robota. ACT: Action Chunking Transformer (Tony Zhao, Stanford). Mobile ALOHA: sprzątanie, gotowanie.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27448" y="237744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377440"/>
            <a:ext cx="54864" cy="117043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2" name="Text 20"/>
          <p:cNvSpPr/>
          <p:nvPr/>
        </p:nvSpPr>
        <p:spPr>
          <a:xfrm>
            <a:off x="4855464" y="243230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OpenVLA / Octo (open-source)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55464" y="2697480"/>
            <a:ext cx="4069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foundation models dla robotów. Octo (UC Berkeley): 800k demonstrations, fine-tunable. OpenVLA 7B: pełna waga dostępna. Jak HuggingFace dla robotów.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39312"/>
            <a:ext cx="54864" cy="1170432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" y="369417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 3 / ROS 2 Iron+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48056" y="3959352"/>
            <a:ext cx="4069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Iron (LTS 2023): stable. Jazzy (2024). Kilpatrick (2026). ROS 3 w dyskusji: Rust-based communication, unified IDL, native TypeScript. micro-ROS 2.0 dla MCU.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27448" y="3639312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27448" y="3639312"/>
            <a:ext cx="54864" cy="1170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0" name="Text 28"/>
          <p:cNvSpPr/>
          <p:nvPr/>
        </p:nvSpPr>
        <p:spPr>
          <a:xfrm>
            <a:off x="4855464" y="369417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Humanoidale (2025–2030)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55464" y="3959352"/>
            <a:ext cx="4069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01/02 (Figure AI) · Optimus Gen 2 (Tesla) · Atlas (BD) · Unitree H1. Cena target: $20k (jak samochód). BYD używa Unitree G1 w fabrykach. AGI w ciele fizycznym.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Projekt Semestralny — Wymagania i Ocena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laboratoryjny: zaprojektuj i zaimplementuj autonomicznego robota mobilnego z pełnym stackiem nawigacyjnym i zadaniem domenowym.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Wymagania obligatoryjne: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16736"/>
            <a:ext cx="54864" cy="640080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" y="137160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ROS 2 (Jazzy/Iron)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8056" y="163677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Turtlebot4 / własna platforma. Działające węzły, launch files, parametry YAML.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029968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29968"/>
            <a:ext cx="54864" cy="64008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" y="208483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SLAM + Mapa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" y="23500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Kartografowanie budynku. Zapis mapy (map_saver). Lokalizacja AMCL na mapie.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43200"/>
            <a:ext cx="54864" cy="640080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" y="279806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Autonomiczna nawigacja (Nav2)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8056" y="30632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Dojazd do 3 waypointów bez kolizji. Recovery behaviors działające.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456432"/>
            <a:ext cx="54864" cy="6400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" y="351129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Percepcja obiektów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8056" y="37764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lub detector ArUco. Wykrycie i klasyfikacja celu misji.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169664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169664"/>
            <a:ext cx="54864" cy="640080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" y="42245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Raport techniczny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48056" y="44897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Architektura, wyniki, metryki (success rate, avg time, collisions), wnioski.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Kryteria oceny i harmonogram: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131673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316736"/>
            <a:ext cx="54864" cy="804672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32" name="Text 30"/>
          <p:cNvSpPr/>
          <p:nvPr/>
        </p:nvSpPr>
        <p:spPr>
          <a:xfrm>
            <a:off x="4791456" y="13716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Funkcjonalność (40%)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91456" y="163677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robot wykonuje zadanie? Success rate &gt; 80% = pełne punkty.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2212848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212848"/>
            <a:ext cx="54864" cy="804672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36" name="Text 34"/>
          <p:cNvSpPr/>
          <p:nvPr/>
        </p:nvSpPr>
        <p:spPr>
          <a:xfrm>
            <a:off x="4791456" y="22677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Architektura (25%)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791456" y="253288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Czysty kod, właściwe nazewnictwo, launch files, parametry nie w kodzie.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310896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108960"/>
            <a:ext cx="54864" cy="804672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40" name="Text 38"/>
          <p:cNvSpPr/>
          <p:nvPr/>
        </p:nvSpPr>
        <p:spPr>
          <a:xfrm>
            <a:off x="4791456" y="31638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Raport (20%)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791456" y="342900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Metryki ilościowe, wykresy, analiza błędów, wnioski, filmik demo.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63440" y="400507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4005072"/>
            <a:ext cx="54864" cy="8046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4" name="Text 42"/>
          <p:cNvSpPr/>
          <p:nvPr/>
        </p:nvSpPr>
        <p:spPr>
          <a:xfrm>
            <a:off x="4791456" y="40599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 (15%)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791456" y="432511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Manipulator + pick, swarm ≥2 robotów, RL policy, real hardware.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63440" y="3986784"/>
            <a:ext cx="4206240" cy="914400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47" name="Shape 45"/>
          <p:cNvSpPr/>
          <p:nvPr/>
        </p:nvSpPr>
        <p:spPr>
          <a:xfrm>
            <a:off x="4663440" y="4023360"/>
            <a:ext cx="768096" cy="822960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4023360"/>
            <a:ext cx="768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Tydz. 2–4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ROS 2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504688" y="4023360"/>
            <a:ext cx="768096" cy="82296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50" name="Text 48"/>
          <p:cNvSpPr/>
          <p:nvPr/>
        </p:nvSpPr>
        <p:spPr>
          <a:xfrm>
            <a:off x="5504688" y="4023360"/>
            <a:ext cx="768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Tydz. 5–7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Mapa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345936" y="4023360"/>
            <a:ext cx="768096" cy="822960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52" name="Text 50"/>
          <p:cNvSpPr/>
          <p:nvPr/>
        </p:nvSpPr>
        <p:spPr>
          <a:xfrm>
            <a:off x="6345936" y="4023360"/>
            <a:ext cx="768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Tydz. 8–10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Percepcja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187184" y="4023360"/>
            <a:ext cx="768096" cy="82296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4" name="Text 52"/>
          <p:cNvSpPr/>
          <p:nvPr/>
        </p:nvSpPr>
        <p:spPr>
          <a:xfrm>
            <a:off x="7187184" y="4023360"/>
            <a:ext cx="768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Tydz. 11–13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Misja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Testy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028432" y="4023360"/>
            <a:ext cx="768096" cy="822960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56" name="Text 54"/>
          <p:cNvSpPr/>
          <p:nvPr/>
        </p:nvSpPr>
        <p:spPr>
          <a:xfrm>
            <a:off x="8028432" y="4023360"/>
            <a:ext cx="768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Tydz. 14–15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Raport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Zacznij w symulatorze Gazebo. Działający kod w simie → przenoś na hardware. Filmik demo jest obowiązkowy — nagraj nawigację autonomiczną i detekcję obiektu.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F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C14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Testowanie i Diagnostyka — Metryki, rviz2 i rosbag2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Dobry robot to testowany robot. Zdefiniuj metryki przed implementacją — nie po. Nagrywaj dane do późniejszej analizy.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narzędzia diagnostyczne: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16736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316736"/>
            <a:ext cx="54864" cy="640080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" y="137160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rviz2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48056" y="163677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Wizualizacja: TF tree, costmap, LaserScan, plan, path, markers. Niezbędny do debugowania percepcji i nawigacji.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029968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029968"/>
            <a:ext cx="54864" cy="640080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" y="208483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rqt_graph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48056" y="23500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węzłów i połączeń. Widoczne publisher/subscriber. Szybka diagnoza: czy topic istnieje? Kto publikuje?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43200"/>
            <a:ext cx="54864" cy="640080"/>
          </a:xfrm>
          <a:prstGeom prst="rect">
            <a:avLst/>
          </a:prstGeom>
          <a:solidFill>
            <a:srgbClr val="1A8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" y="279806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ros2bag2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8056" y="30632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Nagrywaj wszystkie topiki: ros2 bag record -a. Replay: ros2 bag play. Analiza post-mortem awarii i benchmarking.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456432"/>
            <a:ext cx="54864" cy="6400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" y="351129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PlotJuggler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8056" y="37764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plot topików numerycznych. Lepszy niż rqt_plot. CSV eksport. Niezbędny dla strojenia PID i analizy trajektorii.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169664"/>
            <a:ext cx="41605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169664"/>
            <a:ext cx="54864" cy="640080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" y="42245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Foxglove Studio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48056" y="44897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Nowoczesny rviz2 z przeglądarki. WebSocket bridge. Najlepszy UX dla prezentacji i remote debugging.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3440" y="10424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Metryki ewaluacji robota nawigacyjnego: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63440" y="1316736"/>
            <a:ext cx="4206240" cy="263347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136245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8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54880" y="1362456"/>
            <a:ext cx="404164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#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Skrypt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ewaluacji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nawigacji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rclpy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yaml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from nav2_simple_commander.robot_navigator import (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BasicNavigator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TaskResult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)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endParaRPr lang="en-US" sz="75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evaluate_navigation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(waypoints,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n_trials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=10):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nav =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BasicNavigator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results = {"success":0,"collisions":0,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"times":[],"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path_lengths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":[]}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for trial in range(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n_trials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):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for wp in waypoints: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start =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time.time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nav.goToPose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(wp)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while not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nav.isTaskComplete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():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time.sleep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(0.1)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result =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nav.getResult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elapsed =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time.time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() - start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if result ==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TaskResult.SUCCEEDED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: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results["success"] += 1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results["times"].append(elapsed)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            results["collisions"] += 1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# KPI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sr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= results["success"]/(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n_trials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len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(waypoints))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f"Success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Rate: {sr:.1%}")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print(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f"Avg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Time: {</a:t>
            </a:r>
            <a:r>
              <a:rPr lang="en-US" sz="750" dirty="0" err="1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np.mean</a:t>
            </a: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(results['times']):.1f}s")</a:t>
            </a:r>
            <a:endParaRPr lang="en-US" sz="750">
              <a:latin typeface="Consolas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750" dirty="0">
                <a:solidFill>
                  <a:srgbClr val="80BFFF"/>
                </a:solidFill>
                <a:latin typeface="Consolas"/>
                <a:ea typeface="Consolas" pitchFamily="34" charset="-122"/>
                <a:cs typeface="Consolas" pitchFamily="34" charset="-120"/>
              </a:rPr>
              <a:t>    return results</a:t>
            </a:r>
            <a:endParaRPr lang="en-US" sz="750">
              <a:latin typeface="Consolas"/>
              <a:ea typeface="Calibri"/>
              <a:cs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663440" y="3986784"/>
            <a:ext cx="42062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4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986784"/>
            <a:ext cx="54864" cy="548640"/>
          </a:xfrm>
          <a:prstGeom prst="rect">
            <a:avLst/>
          </a:prstGeom>
          <a:solidFill>
            <a:srgbClr val="1A6DB5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40416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6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Metryki nawigacji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91456" y="430682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5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(SR) · Average Time To Goal (ATTG) · Average Path Length (APL) · Path Length Ratio (PLR = actual/optimal) · Collision Rate per km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4572000"/>
            <a:ext cx="8503920" cy="365760"/>
          </a:xfrm>
          <a:prstGeom prst="rect">
            <a:avLst/>
          </a:prstGeom>
          <a:solidFill>
            <a:srgbClr val="FFF4E6"/>
          </a:solidFill>
          <a:ln w="12700">
            <a:solidFill>
              <a:srgbClr val="EA6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08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6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Złota zasada: zawsze miej E-STOP w ręku podczas testów na hardware. Zanim puścisz robota, sprawdź: max_vel &lt; 0.5m/s, costmap inflation_radius &gt; robot_radius.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Trendy i Podsumowanie — Przyszłość Autonomicznych Robotów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A6C00"/>
          </a:solidFill>
          <a:ln/>
        </p:spPr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A0E1FD0-4AA0-BDBD-F5A5-2602D8828C4F}"/>
              </a:ext>
            </a:extLst>
          </p:cNvPr>
          <p:cNvGrpSpPr/>
          <p:nvPr/>
        </p:nvGrpSpPr>
        <p:grpSpPr>
          <a:xfrm>
            <a:off x="320040" y="822960"/>
            <a:ext cx="2907792" cy="1115568"/>
            <a:chOff x="320040" y="822960"/>
            <a:chExt cx="2907792" cy="1115568"/>
          </a:xfrm>
        </p:grpSpPr>
        <p:sp>
          <p:nvSpPr>
            <p:cNvPr id="5" name="Shape 3"/>
            <p:cNvSpPr/>
            <p:nvPr/>
          </p:nvSpPr>
          <p:spPr>
            <a:xfrm>
              <a:off x="320040" y="822960"/>
              <a:ext cx="2907792" cy="1115568"/>
            </a:xfrm>
            <a:prstGeom prst="rect">
              <a:avLst/>
            </a:prstGeom>
            <a:solidFill>
              <a:srgbClr val="131E2F"/>
            </a:solidFill>
            <a:ln w="25400">
              <a:solidFill>
                <a:srgbClr val="1A6DB5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320040" y="822960"/>
              <a:ext cx="2907792" cy="36576"/>
            </a:xfrm>
            <a:prstGeom prst="rect">
              <a:avLst/>
            </a:prstGeom>
            <a:solidFill>
              <a:srgbClr val="1A6DB5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429768" y="914400"/>
              <a:ext cx="26883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6DB5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Embodied AI</a:t>
              </a:r>
              <a:endParaRPr lang="en-US" sz="13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429768" y="1225296"/>
              <a:ext cx="2688336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C0D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LLM + Vision + robot = instrukcje językiem naturalnym. RT-2, OpenVLA, π₀. Zero-shot task transfer.</a:t>
              </a:r>
              <a:endParaRPr lang="en-US" sz="1050" dirty="0"/>
            </a:p>
          </p:txBody>
        </p:sp>
      </p:grpSp>
      <p:sp>
        <p:nvSpPr>
          <p:cNvPr id="10" name="Shape 8"/>
          <p:cNvSpPr/>
          <p:nvPr/>
        </p:nvSpPr>
        <p:spPr>
          <a:xfrm>
            <a:off x="3364992" y="822960"/>
            <a:ext cx="2907792" cy="36576"/>
          </a:xfrm>
          <a:prstGeom prst="rect">
            <a:avLst/>
          </a:prstGeom>
          <a:solidFill>
            <a:srgbClr val="EA6C00"/>
          </a:solidFill>
          <a:ln/>
        </p:spPr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D595FAE-9F24-F93D-3E2C-71F475C15C94}"/>
              </a:ext>
            </a:extLst>
          </p:cNvPr>
          <p:cNvGrpSpPr/>
          <p:nvPr/>
        </p:nvGrpSpPr>
        <p:grpSpPr>
          <a:xfrm>
            <a:off x="3364992" y="822960"/>
            <a:ext cx="2907792" cy="1115568"/>
            <a:chOff x="3364992" y="822960"/>
            <a:chExt cx="2907792" cy="1115568"/>
          </a:xfrm>
        </p:grpSpPr>
        <p:sp>
          <p:nvSpPr>
            <p:cNvPr id="9" name="Shape 7"/>
            <p:cNvSpPr/>
            <p:nvPr/>
          </p:nvSpPr>
          <p:spPr>
            <a:xfrm>
              <a:off x="3364992" y="822960"/>
              <a:ext cx="2907792" cy="1115568"/>
            </a:xfrm>
            <a:prstGeom prst="rect">
              <a:avLst/>
            </a:prstGeom>
            <a:solidFill>
              <a:srgbClr val="131E2F"/>
            </a:solidFill>
            <a:ln w="25400">
              <a:solidFill>
                <a:srgbClr val="EA6C00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474720" y="914400"/>
              <a:ext cx="26883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EA6C0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Humanoidale</a:t>
              </a:r>
              <a:endParaRPr lang="en-US" sz="13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474720" y="1225296"/>
              <a:ext cx="2688336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C0D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Figure 02, Tesla Optimus, Atlas — do fabryki 2025–2027. Cena docelowa &lt;$20k. AGI w ciele fizycznym.</a:t>
              </a:r>
              <a:endParaRPr lang="en-US" sz="1050" dirty="0"/>
            </a:p>
          </p:txBody>
        </p:sp>
      </p:grpSp>
      <p:sp>
        <p:nvSpPr>
          <p:cNvPr id="14" name="Shape 12"/>
          <p:cNvSpPr/>
          <p:nvPr/>
        </p:nvSpPr>
        <p:spPr>
          <a:xfrm>
            <a:off x="6409944" y="822960"/>
            <a:ext cx="2907792" cy="36576"/>
          </a:xfrm>
          <a:prstGeom prst="rect">
            <a:avLst/>
          </a:prstGeom>
          <a:solidFill>
            <a:srgbClr val="1A8A4A"/>
          </a:solidFill>
          <a:ln/>
        </p:spPr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44714A7-ADB4-3B39-68D6-F991C4EDF29B}"/>
              </a:ext>
            </a:extLst>
          </p:cNvPr>
          <p:cNvGrpSpPr/>
          <p:nvPr/>
        </p:nvGrpSpPr>
        <p:grpSpPr>
          <a:xfrm>
            <a:off x="6409944" y="861060"/>
            <a:ext cx="2907792" cy="1115568"/>
            <a:chOff x="6409944" y="822960"/>
            <a:chExt cx="2907792" cy="1115568"/>
          </a:xfrm>
        </p:grpSpPr>
        <p:sp>
          <p:nvSpPr>
            <p:cNvPr id="13" name="Shape 11"/>
            <p:cNvSpPr/>
            <p:nvPr/>
          </p:nvSpPr>
          <p:spPr>
            <a:xfrm>
              <a:off x="6409944" y="822960"/>
              <a:ext cx="2907792" cy="1115568"/>
            </a:xfrm>
            <a:prstGeom prst="rect">
              <a:avLst/>
            </a:prstGeom>
            <a:solidFill>
              <a:srgbClr val="131E2F"/>
            </a:solidFill>
            <a:ln w="25400">
              <a:solidFill>
                <a:srgbClr val="1A8A4A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6519672" y="914400"/>
              <a:ext cx="26883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8A4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Swarm &amp; Fleet</a:t>
              </a:r>
              <a:endParaRPr lang="en-US" sz="13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519672" y="1225296"/>
              <a:ext cx="2688336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C0D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1M+ robotów Amazon, DHL. Open-source Fleet: OpenRMF. ROS 2 wspiera multi-robot out-of-box.</a:t>
              </a:r>
              <a:endParaRPr lang="en-US" sz="105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3C507C3-7CEF-0F22-0408-5CE38B7B195C}"/>
              </a:ext>
            </a:extLst>
          </p:cNvPr>
          <p:cNvGrpSpPr/>
          <p:nvPr/>
        </p:nvGrpSpPr>
        <p:grpSpPr>
          <a:xfrm>
            <a:off x="320040" y="2066544"/>
            <a:ext cx="2907792" cy="1115568"/>
            <a:chOff x="320040" y="2066544"/>
            <a:chExt cx="2907792" cy="1115568"/>
          </a:xfrm>
        </p:grpSpPr>
        <p:sp>
          <p:nvSpPr>
            <p:cNvPr id="17" name="Shape 15"/>
            <p:cNvSpPr/>
            <p:nvPr/>
          </p:nvSpPr>
          <p:spPr>
            <a:xfrm>
              <a:off x="320040" y="2066544"/>
              <a:ext cx="2907792" cy="1115568"/>
            </a:xfrm>
            <a:prstGeom prst="rect">
              <a:avLst/>
            </a:prstGeom>
            <a:solidFill>
              <a:srgbClr val="131E2F"/>
            </a:solidFill>
            <a:ln w="25400">
              <a:solidFill>
                <a:srgbClr val="6D28D9"/>
              </a:solidFill>
              <a:prstDash val="solid"/>
            </a:ln>
          </p:spPr>
        </p:sp>
        <p:sp>
          <p:nvSpPr>
            <p:cNvPr id="18" name="Shape 16"/>
            <p:cNvSpPr/>
            <p:nvPr/>
          </p:nvSpPr>
          <p:spPr>
            <a:xfrm>
              <a:off x="320040" y="2066544"/>
              <a:ext cx="2907792" cy="36576"/>
            </a:xfrm>
            <a:prstGeom prst="rect">
              <a:avLst/>
            </a:prstGeom>
            <a:solidFill>
              <a:srgbClr val="6D28D9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429768" y="2157984"/>
              <a:ext cx="26883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6D28D9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Sim2Real (GPU)</a:t>
              </a:r>
              <a:endParaRPr lang="en-US" sz="13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29768" y="2468880"/>
              <a:ext cx="2688336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C0D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Isaac Lab: 4096 środowisk/GPU. Domain randomization → zero-shot transfer. PPO polityka w 1h treningu.</a:t>
              </a:r>
              <a:endParaRPr lang="en-US" sz="1050" dirty="0"/>
            </a:p>
          </p:txBody>
        </p:sp>
      </p:grpSp>
      <p:sp>
        <p:nvSpPr>
          <p:cNvPr id="22" name="Shape 20"/>
          <p:cNvSpPr/>
          <p:nvPr/>
        </p:nvSpPr>
        <p:spPr>
          <a:xfrm>
            <a:off x="3364992" y="2066544"/>
            <a:ext cx="2907792" cy="36576"/>
          </a:xfrm>
          <a:prstGeom prst="rect">
            <a:avLst/>
          </a:prstGeom>
          <a:solidFill>
            <a:srgbClr val="0D7F8F"/>
          </a:solidFill>
          <a:ln/>
        </p:spPr>
      </p:sp>
      <p:sp>
        <p:nvSpPr>
          <p:cNvPr id="21" name="Shape 19"/>
          <p:cNvSpPr/>
          <p:nvPr/>
        </p:nvSpPr>
        <p:spPr>
          <a:xfrm>
            <a:off x="3364992" y="2066544"/>
            <a:ext cx="2907792" cy="1115568"/>
          </a:xfrm>
          <a:prstGeom prst="rect">
            <a:avLst/>
          </a:prstGeom>
          <a:solidFill>
            <a:srgbClr val="131E2F"/>
          </a:solidFill>
          <a:ln w="25400">
            <a:solidFill>
              <a:srgbClr val="0D7F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157984"/>
            <a:ext cx="2688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F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Trust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2468880"/>
            <a:ext cx="2688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 4600, ISO 26262 ASIL-D. Formal verification (TLA+, Coq). Explainable AI dla robotów bezpiecznych.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9944" y="2066544"/>
            <a:ext cx="2907792" cy="36576"/>
          </a:xfrm>
          <a:prstGeom prst="rect">
            <a:avLst/>
          </a:prstGeom>
          <a:solidFill>
            <a:srgbClr val="B45309"/>
          </a:solidFill>
          <a:ln/>
        </p:spPr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42F7052-9C90-AC94-D309-03C1152E7965}"/>
              </a:ext>
            </a:extLst>
          </p:cNvPr>
          <p:cNvGrpSpPr/>
          <p:nvPr/>
        </p:nvGrpSpPr>
        <p:grpSpPr>
          <a:xfrm>
            <a:off x="6409944" y="2066544"/>
            <a:ext cx="2907792" cy="1115568"/>
            <a:chOff x="6409944" y="2066544"/>
            <a:chExt cx="2907792" cy="1115568"/>
          </a:xfrm>
        </p:grpSpPr>
        <p:sp>
          <p:nvSpPr>
            <p:cNvPr id="25" name="Shape 23"/>
            <p:cNvSpPr/>
            <p:nvPr/>
          </p:nvSpPr>
          <p:spPr>
            <a:xfrm>
              <a:off x="6409944" y="2066544"/>
              <a:ext cx="2907792" cy="1115568"/>
            </a:xfrm>
            <a:prstGeom prst="rect">
              <a:avLst/>
            </a:prstGeom>
            <a:solidFill>
              <a:srgbClr val="131E2F"/>
            </a:solidFill>
            <a:ln w="25400">
              <a:solidFill>
                <a:srgbClr val="B45309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6519672" y="2157984"/>
              <a:ext cx="2688336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B45309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ROS 2 → Future</a:t>
              </a:r>
              <a:endParaRPr lang="en-US" sz="13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6519672" y="2468880"/>
              <a:ext cx="2688336" cy="6766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C0D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Jazzy LTS stabilne. ROS 3 w planowaniu (Rust-based). micro-ROS 2.0 STM32. ROS-Industrial standard.</a:t>
              </a:r>
              <a:endParaRPr lang="en-US" sz="105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320040" y="325526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wnioski wykładu: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20040" y="3529584"/>
            <a:ext cx="128016" cy="128016"/>
          </a:xfrm>
          <a:prstGeom prst="ellipse">
            <a:avLst/>
          </a:prstGeom>
          <a:solidFill>
            <a:srgbClr val="EA6C00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" y="35021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+ Nav2 + MoveIt 2 to produkcyjny ekosystem — opanuj go, a skalujesz na dowolnego robota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3822192"/>
            <a:ext cx="128016" cy="128016"/>
          </a:xfrm>
          <a:prstGeom prst="ellipse">
            <a:avLst/>
          </a:prstGeom>
          <a:solidFill>
            <a:srgbClr val="EA6C00"/>
          </a:solidFill>
          <a:ln/>
        </p:spPr>
      </p:sp>
      <p:sp>
        <p:nvSpPr>
          <p:cNvPr id="33" name="Text 31"/>
          <p:cNvSpPr/>
          <p:nvPr/>
        </p:nvSpPr>
        <p:spPr>
          <a:xfrm>
            <a:off x="530352" y="37947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SLAM i planowanie ścieżki to rozwiązane problemy — kluczowe jest dobra inżynieria integracji i kalibracja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4114800"/>
            <a:ext cx="128016" cy="128016"/>
          </a:xfrm>
          <a:prstGeom prst="ellipse">
            <a:avLst/>
          </a:prstGeom>
          <a:solidFill>
            <a:srgbClr val="EA6C00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" y="4087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Bezpieczeństwo nie jest opcją — E-STOP, analiza ryzyka i standardy ISO są częścią projektu, nie dodatkiem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407408"/>
            <a:ext cx="128016" cy="128016"/>
          </a:xfrm>
          <a:prstGeom prst="ellipse">
            <a:avLst/>
          </a:prstGeom>
          <a:solidFill>
            <a:srgbClr val="EA6C00"/>
          </a:solidFill>
          <a:ln/>
        </p:spPr>
      </p:sp>
      <p:sp>
        <p:nvSpPr>
          <p:cNvPr id="37" name="Text 35"/>
          <p:cNvSpPr/>
          <p:nvPr/>
        </p:nvSpPr>
        <p:spPr>
          <a:xfrm>
            <a:off x="530352" y="437997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Sim2Real: zawsze testuj w symulacji najpierw. Gazebo + Isaac Lab skracają development 10×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00400" y="4645152"/>
            <a:ext cx="2743200" cy="310896"/>
          </a:xfrm>
          <a:prstGeom prst="rect">
            <a:avLst/>
          </a:prstGeom>
          <a:solidFill>
            <a:srgbClr val="EA6C00"/>
          </a:solidFill>
          <a:ln/>
        </p:spPr>
      </p:sp>
      <p:sp>
        <p:nvSpPr>
          <p:cNvPr id="39" name="Text 37"/>
          <p:cNvSpPr/>
          <p:nvPr/>
        </p:nvSpPr>
        <p:spPr>
          <a:xfrm>
            <a:off x="3200400" y="46451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Pytania i Dyskusja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6080A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9926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74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Programowanie Autonomicznych Robotów  |  Studia Magisterskie Informatyki  |  © Katedra Informatyki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Programowanie Autonomicznych Robotów</dc:title>
  <dc:subject>PptxGenJS Presentation</dc:subject>
  <dc:creator>Katedra Informatyki</dc:creator>
  <cp:lastModifiedBy>Katedra Informatyki</cp:lastModifiedBy>
  <cp:revision>29</cp:revision>
  <dcterms:created xsi:type="dcterms:W3CDTF">2026-02-23T11:13:55Z</dcterms:created>
  <dcterms:modified xsi:type="dcterms:W3CDTF">2026-02-23T11:26:23Z</dcterms:modified>
</cp:coreProperties>
</file>