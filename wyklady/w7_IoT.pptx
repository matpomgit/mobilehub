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7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przesunąć slajd</a:t>
            </a:r>
            <a:endParaRPr lang="pl-PL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Kliknij, aby edytować format notatek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A0F175D-C305-4FCA-9E2A-3B3BBF803389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PlaceHolder 1"/>
          <p:cNvSpPr>
            <a:spLocks noGrp="1"/>
          </p:cNvSpPr>
          <p:nvPr>
            <p:ph type="sldNum" idx="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EC4D2C-F7AE-4BAD-BBBF-7E898EEB9E93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PlaceHolder 2"/>
          <p:cNvSpPr>
            <a:spLocks noGrp="1"/>
          </p:cNvSpPr>
          <p:nvPr>
            <p:ph type="dt" idx="5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346327-84E2-47BA-8CBD-07A874B7B17A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PlaceHolder 3"/>
          <p:cNvSpPr>
            <a:spLocks noGrp="1"/>
          </p:cNvSpPr>
          <p:nvPr>
            <p:ph type="sldNum" idx="6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90BBC1-24E6-47FB-9937-E1690BD3353C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2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PlaceHolder 1"/>
          <p:cNvSpPr>
            <a:spLocks noGrp="1"/>
          </p:cNvSpPr>
          <p:nvPr>
            <p:ph type="sldNum" idx="7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0D325C-3104-4D4B-AA04-9B9A82720D90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PlaceHolder 2"/>
          <p:cNvSpPr>
            <a:spLocks noGrp="1"/>
          </p:cNvSpPr>
          <p:nvPr>
            <p:ph type="dt" idx="8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47EE96-979B-4B02-8D6F-8656218F4E4D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PlaceHolder 3"/>
          <p:cNvSpPr>
            <a:spLocks noGrp="1"/>
          </p:cNvSpPr>
          <p:nvPr>
            <p:ph type="sldNum" idx="9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718750-57A0-415C-AFE4-EECBEBC358E1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7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PlaceHolder 1"/>
          <p:cNvSpPr>
            <a:spLocks noGrp="1"/>
          </p:cNvSpPr>
          <p:nvPr>
            <p:ph type="sldNum" idx="10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B9CDDF-906F-42B1-96B8-2D91B47FC6BD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PlaceHolder 2"/>
          <p:cNvSpPr>
            <a:spLocks noGrp="1"/>
          </p:cNvSpPr>
          <p:nvPr>
            <p:ph type="dt" idx="11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B5759B-D4B7-4DC6-9E90-5238F8817C3C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PlaceHolder 3"/>
          <p:cNvSpPr>
            <a:spLocks noGrp="1"/>
          </p:cNvSpPr>
          <p:nvPr>
            <p:ph type="sldNum" idx="12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D3C468-36DF-4B77-A635-2A9B1BCD4748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2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PlaceHolder 1"/>
          <p:cNvSpPr>
            <a:spLocks noGrp="1"/>
          </p:cNvSpPr>
          <p:nvPr>
            <p:ph type="sldNum" idx="13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2D181B-FC4E-4B02-B95E-0F89383D5432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PlaceHolder 2"/>
          <p:cNvSpPr>
            <a:spLocks noGrp="1"/>
          </p:cNvSpPr>
          <p:nvPr>
            <p:ph type="dt" idx="14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D5DC8B-C323-4F46-A39C-E9495D61055A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PlaceHolder 3"/>
          <p:cNvSpPr>
            <a:spLocks noGrp="1"/>
          </p:cNvSpPr>
          <p:nvPr>
            <p:ph type="sldNum" idx="1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1FB52C-072B-4B32-B027-F18E0CD17743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7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PlaceHolder 1"/>
          <p:cNvSpPr>
            <a:spLocks noGrp="1"/>
          </p:cNvSpPr>
          <p:nvPr>
            <p:ph type="sldNum" idx="16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2BDAE1-10B1-4B50-8F6D-0C7B062A7327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PlaceHolder 2"/>
          <p:cNvSpPr>
            <a:spLocks noGrp="1"/>
          </p:cNvSpPr>
          <p:nvPr>
            <p:ph type="dt" idx="17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C1CE10-DEB2-4E40-A993-278A5E407C32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PlaceHolder 3"/>
          <p:cNvSpPr>
            <a:spLocks noGrp="1"/>
          </p:cNvSpPr>
          <p:nvPr>
            <p:ph type="sldNum" idx="18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85D6A1-D964-472E-A657-EBC7A326D670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2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PlaceHolder 1"/>
          <p:cNvSpPr>
            <a:spLocks noGrp="1"/>
          </p:cNvSpPr>
          <p:nvPr>
            <p:ph type="sldNum" idx="19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A65162-B159-4835-B2D4-A9C77893CEDF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PlaceHolder 2"/>
          <p:cNvSpPr>
            <a:spLocks noGrp="1"/>
          </p:cNvSpPr>
          <p:nvPr>
            <p:ph type="dt" idx="20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25B766-92A2-4C3E-B612-CEF625B3D07D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PlaceHolder 3"/>
          <p:cNvSpPr>
            <a:spLocks noGrp="1"/>
          </p:cNvSpPr>
          <p:nvPr>
            <p:ph type="sldNum" idx="21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F9654A-2F25-4242-A079-2FF0BB08AEC0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7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PlaceHolder 1"/>
          <p:cNvSpPr>
            <a:spLocks noGrp="1"/>
          </p:cNvSpPr>
          <p:nvPr>
            <p:ph type="sldNum" idx="22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D504C4-151D-4617-A985-9B6D9A363B24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PlaceHolder 2"/>
          <p:cNvSpPr>
            <a:spLocks noGrp="1"/>
          </p:cNvSpPr>
          <p:nvPr>
            <p:ph type="dt" idx="23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D51713-00C6-47BA-99E1-35FFF53F8EA8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PlaceHolder 3"/>
          <p:cNvSpPr>
            <a:spLocks noGrp="1"/>
          </p:cNvSpPr>
          <p:nvPr>
            <p:ph type="sldNum" idx="2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F26B72-E93F-4D08-956B-0CC748EC62A8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2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PlaceHolder 1"/>
          <p:cNvSpPr>
            <a:spLocks noGrp="1"/>
          </p:cNvSpPr>
          <p:nvPr>
            <p:ph type="sldNum" idx="2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3FFCE7-700C-44C7-9C4F-C2F513576B24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PlaceHolder 2"/>
          <p:cNvSpPr>
            <a:spLocks noGrp="1"/>
          </p:cNvSpPr>
          <p:nvPr>
            <p:ph type="dt" idx="26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3C438F-CD16-4BF3-A157-273485E8ED2F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PlaceHolder 3"/>
          <p:cNvSpPr>
            <a:spLocks noGrp="1"/>
          </p:cNvSpPr>
          <p:nvPr>
            <p:ph type="sldNum" idx="27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CDAF2D-92A8-4F75-ABC9-C08C8BF1D8AE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7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PlaceHolder 1"/>
          <p:cNvSpPr>
            <a:spLocks noGrp="1"/>
          </p:cNvSpPr>
          <p:nvPr>
            <p:ph type="sldNum" idx="28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956580-555D-4E8E-B98F-7DEF77CDA47C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PlaceHolder 2"/>
          <p:cNvSpPr>
            <a:spLocks noGrp="1"/>
          </p:cNvSpPr>
          <p:nvPr>
            <p:ph type="dt" idx="29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3507F9-D69C-4970-B64F-3A9C33560652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PlaceHolder 3"/>
          <p:cNvSpPr>
            <a:spLocks noGrp="1"/>
          </p:cNvSpPr>
          <p:nvPr>
            <p:ph type="sldNum" idx="30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8A76FF-D279-4C2C-8D51-CF3C49A750C8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2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PlaceHolder 1"/>
          <p:cNvSpPr>
            <a:spLocks noGrp="1"/>
          </p:cNvSpPr>
          <p:nvPr>
            <p:ph type="sldNum" idx="31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B483E8-4B64-461E-B10F-04E86C5A56D5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PlaceHolder 2"/>
          <p:cNvSpPr>
            <a:spLocks noGrp="1"/>
          </p:cNvSpPr>
          <p:nvPr>
            <p:ph type="dt" idx="32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9BB8A0-FE92-459D-8AE6-594D0D120ACC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PlaceHolder 3"/>
          <p:cNvSpPr>
            <a:spLocks noGrp="1"/>
          </p:cNvSpPr>
          <p:nvPr>
            <p:ph type="sldNum" idx="33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276F16-A9A0-4184-AFF6-912D00BBE32C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7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PlaceHolder 1"/>
          <p:cNvSpPr>
            <a:spLocks noGrp="1"/>
          </p:cNvSpPr>
          <p:nvPr>
            <p:ph type="sldNum" idx="3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9AD339-6D82-458C-A378-EF40736004C0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PlaceHolder 2"/>
          <p:cNvSpPr>
            <a:spLocks noGrp="1"/>
          </p:cNvSpPr>
          <p:nvPr>
            <p:ph type="dt" idx="35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5A5F61-AFA3-44F7-B14C-1D03ABEADA8C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PlaceHolder 3"/>
          <p:cNvSpPr>
            <a:spLocks noGrp="1"/>
          </p:cNvSpPr>
          <p:nvPr>
            <p:ph type="sldNum" idx="36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03D2A8-49E1-4F51-A531-D81297EB2395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2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PlaceHolder 1"/>
          <p:cNvSpPr>
            <a:spLocks noGrp="1"/>
          </p:cNvSpPr>
          <p:nvPr>
            <p:ph type="sldNum" idx="37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C6E15D-96B1-44B6-9612-5024A6657683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PlaceHolder 2"/>
          <p:cNvSpPr>
            <a:spLocks noGrp="1"/>
          </p:cNvSpPr>
          <p:nvPr>
            <p:ph type="dt" idx="38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08F6F4-D037-4C52-8A98-C3986E247D76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PlaceHolder 3"/>
          <p:cNvSpPr>
            <a:spLocks noGrp="1"/>
          </p:cNvSpPr>
          <p:nvPr>
            <p:ph type="sldNum" idx="39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199939-A4EB-470D-A7C9-B5A4FE7BE0F5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7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PlaceHolder 1"/>
          <p:cNvSpPr>
            <a:spLocks noGrp="1"/>
          </p:cNvSpPr>
          <p:nvPr>
            <p:ph type="sldNum" idx="40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0CD9C3-86D9-4851-8C36-7769FEB671B8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PlaceHolder 2"/>
          <p:cNvSpPr>
            <a:spLocks noGrp="1"/>
          </p:cNvSpPr>
          <p:nvPr>
            <p:ph type="dt" idx="41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9A9055-BC63-4ADB-85C2-6AA2BCE04E06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PlaceHolder 3"/>
          <p:cNvSpPr>
            <a:spLocks noGrp="1"/>
          </p:cNvSpPr>
          <p:nvPr>
            <p:ph type="sldNum" idx="42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80EDA3-54C8-4B92-8F77-73AC4AAEB6BD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2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PlaceHolder 1"/>
          <p:cNvSpPr>
            <a:spLocks noGrp="1"/>
          </p:cNvSpPr>
          <p:nvPr>
            <p:ph type="sldNum" idx="43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12BE9B-D1FA-4114-8DE8-3EE50BE6C33A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PlaceHolder 2"/>
          <p:cNvSpPr>
            <a:spLocks noGrp="1"/>
          </p:cNvSpPr>
          <p:nvPr>
            <p:ph type="dt" idx="44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45F6A9-7D0D-4252-B0AF-E6D05B26EC8F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PlaceHolder 3"/>
          <p:cNvSpPr>
            <a:spLocks noGrp="1"/>
          </p:cNvSpPr>
          <p:nvPr>
            <p:ph type="sldNum" idx="4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A390CB-147C-4979-BCDD-A4E93410D88C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7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PlaceHolder 1"/>
          <p:cNvSpPr>
            <a:spLocks noGrp="1"/>
          </p:cNvSpPr>
          <p:nvPr>
            <p:ph type="sldNum" idx="46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17147A-EFFE-4B0A-AE24-78CB8E4E1D9D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PlaceHolder 2"/>
          <p:cNvSpPr>
            <a:spLocks noGrp="1"/>
          </p:cNvSpPr>
          <p:nvPr>
            <p:ph type="dt" idx="47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8AAC81-83E0-434C-8AA4-B28A27F732A0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PlaceHolder 3"/>
          <p:cNvSpPr>
            <a:spLocks noGrp="1"/>
          </p:cNvSpPr>
          <p:nvPr>
            <p:ph type="sldNum" idx="48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51BEDB-E4F1-438B-AD1A-A733FB47D8F3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2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PlaceHolder 1"/>
          <p:cNvSpPr>
            <a:spLocks noGrp="1"/>
          </p:cNvSpPr>
          <p:nvPr>
            <p:ph type="sldNum" idx="49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BD1005-7BEA-4F6E-A2FB-CE81C3B29AAB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PlaceHolder 2"/>
          <p:cNvSpPr>
            <a:spLocks noGrp="1"/>
          </p:cNvSpPr>
          <p:nvPr>
            <p:ph type="dt" idx="50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91E199-C3BC-48C7-994B-7ECA9E541A5C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PlaceHolder 3"/>
          <p:cNvSpPr>
            <a:spLocks noGrp="1"/>
          </p:cNvSpPr>
          <p:nvPr>
            <p:ph type="sldNum" idx="51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4EF75D-1F81-4FAA-9B43-91EF8649D004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7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PlaceHolder 1"/>
          <p:cNvSpPr>
            <a:spLocks noGrp="1"/>
          </p:cNvSpPr>
          <p:nvPr>
            <p:ph type="sldNum" idx="52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09B31D-FEAD-4603-8865-935FB1E0A469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PlaceHolder 2"/>
          <p:cNvSpPr>
            <a:spLocks noGrp="1"/>
          </p:cNvSpPr>
          <p:nvPr>
            <p:ph type="dt" idx="53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648D98-1734-41AE-B256-409E9C7A973E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PlaceHolder 3"/>
          <p:cNvSpPr>
            <a:spLocks noGrp="1"/>
          </p:cNvSpPr>
          <p:nvPr>
            <p:ph type="sldNum" idx="5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BEA0C2-76AC-43A9-BE17-AA5C35579B2D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2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PlaceHolder 1"/>
          <p:cNvSpPr>
            <a:spLocks noGrp="1"/>
          </p:cNvSpPr>
          <p:nvPr>
            <p:ph type="sldNum" idx="5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C35C15-2311-43DB-B0F7-E3C8BCA8C333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PlaceHolder 2"/>
          <p:cNvSpPr>
            <a:spLocks noGrp="1"/>
          </p:cNvSpPr>
          <p:nvPr>
            <p:ph type="dt" idx="56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49D016-8655-410F-9084-BB896D462ECA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PlaceHolder 3"/>
          <p:cNvSpPr>
            <a:spLocks noGrp="1"/>
          </p:cNvSpPr>
          <p:nvPr>
            <p:ph type="sldNum" idx="57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65F88D-F711-4E8A-B465-31E3CC1A4232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7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PlaceHolder 1"/>
          <p:cNvSpPr>
            <a:spLocks noGrp="1"/>
          </p:cNvSpPr>
          <p:nvPr>
            <p:ph type="sldNum" idx="58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C90872-CB72-492E-81E1-70005046E3D0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PlaceHolder 2"/>
          <p:cNvSpPr>
            <a:spLocks noGrp="1"/>
          </p:cNvSpPr>
          <p:nvPr>
            <p:ph type="dt" idx="59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216517-097D-4B83-BEDB-15F0418AE6A8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PlaceHolder 3"/>
          <p:cNvSpPr>
            <a:spLocks noGrp="1"/>
          </p:cNvSpPr>
          <p:nvPr>
            <p:ph type="sldNum" idx="60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9C87E5-8272-4A6D-BF7A-B39ADD11C78F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2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PlaceHolder 1"/>
          <p:cNvSpPr>
            <a:spLocks noGrp="1"/>
          </p:cNvSpPr>
          <p:nvPr>
            <p:ph type="sldNum" idx="61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888D6B-1B9F-4FE7-BCB5-C13F99D48CDB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PlaceHolder 2"/>
          <p:cNvSpPr>
            <a:spLocks noGrp="1"/>
          </p:cNvSpPr>
          <p:nvPr>
            <p:ph type="dt" idx="62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543337-8934-4D3B-A6B2-9E9C34E6DC4F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PlaceHolder 3"/>
          <p:cNvSpPr>
            <a:spLocks noGrp="1"/>
          </p:cNvSpPr>
          <p:nvPr>
            <p:ph type="sldNum" idx="63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F3A7DF-192D-440B-94EE-AA948EDACC31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7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PlaceHolder 1"/>
          <p:cNvSpPr>
            <a:spLocks noGrp="1"/>
          </p:cNvSpPr>
          <p:nvPr>
            <p:ph type="sldNum" idx="6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6C1637-F50C-40F9-93F4-70A4F040978D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PlaceHolder 2"/>
          <p:cNvSpPr>
            <a:spLocks noGrp="1"/>
          </p:cNvSpPr>
          <p:nvPr>
            <p:ph type="dt" idx="65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AF6ACA-CC22-43AB-8939-E3AB6EEE56F2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PlaceHolder 3"/>
          <p:cNvSpPr>
            <a:spLocks noGrp="1"/>
          </p:cNvSpPr>
          <p:nvPr>
            <p:ph type="sldNum" idx="66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EF2B19-729F-4E5A-A05D-C6F043DABB54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2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PlaceHolder 1"/>
          <p:cNvSpPr>
            <a:spLocks noGrp="1"/>
          </p:cNvSpPr>
          <p:nvPr>
            <p:ph type="sldNum" idx="67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5FFF93-4AFF-4C35-8211-8C4D6E30177A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PlaceHolder 2"/>
          <p:cNvSpPr>
            <a:spLocks noGrp="1"/>
          </p:cNvSpPr>
          <p:nvPr>
            <p:ph type="dt" idx="68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23ED94-ED97-4B9F-92D2-8865506570B4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PlaceHolder 3"/>
          <p:cNvSpPr>
            <a:spLocks noGrp="1"/>
          </p:cNvSpPr>
          <p:nvPr>
            <p:ph type="sldNum" idx="69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632DAF-13EB-43A2-9142-9BBB5DF9F129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47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PlaceHolder 1"/>
          <p:cNvSpPr>
            <a:spLocks noGrp="1"/>
          </p:cNvSpPr>
          <p:nvPr>
            <p:ph type="sldNum" idx="70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1D984B-5E27-4C34-BA95-3647B7E2895F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PlaceHolder 2"/>
          <p:cNvSpPr>
            <a:spLocks noGrp="1"/>
          </p:cNvSpPr>
          <p:nvPr>
            <p:ph type="dt" idx="71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19A250-C6E6-47DA-A503-DC7C9D7DA150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PlaceHolder 3"/>
          <p:cNvSpPr>
            <a:spLocks noGrp="1"/>
          </p:cNvSpPr>
          <p:nvPr>
            <p:ph type="sldNum" idx="72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B69932-9B18-4651-A872-2336C3F0DD22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2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PlaceHolder 1"/>
          <p:cNvSpPr>
            <a:spLocks noGrp="1"/>
          </p:cNvSpPr>
          <p:nvPr>
            <p:ph type="sldNum" idx="73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59D1EA4-CE1A-4055-B5CD-EB8CD0FC4876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PlaceHolder 2"/>
          <p:cNvSpPr>
            <a:spLocks noGrp="1"/>
          </p:cNvSpPr>
          <p:nvPr>
            <p:ph type="dt" idx="74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06C73F-72B1-4C69-9EEF-A3BABC8F3D8B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PlaceHolder 3"/>
          <p:cNvSpPr>
            <a:spLocks noGrp="1"/>
          </p:cNvSpPr>
          <p:nvPr>
            <p:ph type="sldNum" idx="7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3D252F-900A-42BA-B6C1-7651E0479610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57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PlaceHolder 1"/>
          <p:cNvSpPr>
            <a:spLocks noGrp="1"/>
          </p:cNvSpPr>
          <p:nvPr>
            <p:ph type="sldNum" idx="76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7D68C5D-6AA3-42FC-9129-565C2E5773B2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PlaceHolder 2"/>
          <p:cNvSpPr>
            <a:spLocks noGrp="1"/>
          </p:cNvSpPr>
          <p:nvPr>
            <p:ph type="dt" idx="77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81D52E-BE17-4B1A-9A55-6F31424E5734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PlaceHolder 3"/>
          <p:cNvSpPr>
            <a:spLocks noGrp="1"/>
          </p:cNvSpPr>
          <p:nvPr>
            <p:ph type="sldNum" idx="78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9CB0DE-4C0A-40CA-8F13-51CDFC7EC9E1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2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PlaceHolder 1"/>
          <p:cNvSpPr>
            <a:spLocks noGrp="1"/>
          </p:cNvSpPr>
          <p:nvPr>
            <p:ph type="sldNum" idx="79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BD901D4-D9B4-4101-8538-3EE26032CBC6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PlaceHolder 2"/>
          <p:cNvSpPr>
            <a:spLocks noGrp="1"/>
          </p:cNvSpPr>
          <p:nvPr>
            <p:ph type="dt" idx="80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A468BA-3827-4F4B-9F8D-3079E5040CC1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PlaceHolder 3"/>
          <p:cNvSpPr>
            <a:spLocks noGrp="1"/>
          </p:cNvSpPr>
          <p:nvPr>
            <p:ph type="sldNum" idx="81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9C2516-60E0-4BE8-80C3-78560F0FCD68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7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PlaceHolder 1"/>
          <p:cNvSpPr>
            <a:spLocks noGrp="1"/>
          </p:cNvSpPr>
          <p:nvPr>
            <p:ph type="sldNum" idx="82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DAC5B33-30C6-4AB9-9B43-17F3D21D83D1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PlaceHolder 2"/>
          <p:cNvSpPr>
            <a:spLocks noGrp="1"/>
          </p:cNvSpPr>
          <p:nvPr>
            <p:ph type="dt" idx="83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9DDC79-53BF-4510-B8FD-E15AFCCF3182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PlaceHolder 3"/>
          <p:cNvSpPr>
            <a:spLocks noGrp="1"/>
          </p:cNvSpPr>
          <p:nvPr>
            <p:ph type="sldNum" idx="84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B01231-9082-4BAB-B914-B93189C34898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2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PlaceHolder 1"/>
          <p:cNvSpPr>
            <a:spLocks noGrp="1"/>
          </p:cNvSpPr>
          <p:nvPr>
            <p:ph type="sldNum" idx="85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47B05AC-08AB-4DA7-91FE-AAFFE259E762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PlaceHolder 2"/>
          <p:cNvSpPr>
            <a:spLocks noGrp="1"/>
          </p:cNvSpPr>
          <p:nvPr>
            <p:ph type="dt" idx="86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8C15F0-A16F-43B2-AB63-D9F8D9140930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PlaceHolder 3"/>
          <p:cNvSpPr>
            <a:spLocks noGrp="1"/>
          </p:cNvSpPr>
          <p:nvPr>
            <p:ph type="sldNum" idx="87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8FDE1D-59F2-4F9B-B6D6-8FC6DB7919F2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77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PlaceHolder 1"/>
          <p:cNvSpPr>
            <a:spLocks noGrp="1"/>
          </p:cNvSpPr>
          <p:nvPr>
            <p:ph type="sldNum" idx="88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330F31-22A7-4037-B702-5AD78BC3E81D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PlaceHolder 2"/>
          <p:cNvSpPr>
            <a:spLocks noGrp="1"/>
          </p:cNvSpPr>
          <p:nvPr>
            <p:ph type="dt" idx="89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F887EB-B26C-42A1-A61A-365631FF640F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PlaceHolder 3"/>
          <p:cNvSpPr>
            <a:spLocks noGrp="1"/>
          </p:cNvSpPr>
          <p:nvPr>
            <p:ph type="sldNum" idx="90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AD70AE-5815-4700-BC09-E9351DF4BAFF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2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PlaceHolder 1"/>
          <p:cNvSpPr>
            <a:spLocks noGrp="1"/>
          </p:cNvSpPr>
          <p:nvPr>
            <p:ph type="sldNum" idx="91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434A47-995E-4A7B-A385-CD00989B0474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PlaceHolder 2"/>
          <p:cNvSpPr>
            <a:spLocks noGrp="1"/>
          </p:cNvSpPr>
          <p:nvPr>
            <p:ph type="dt" idx="92"/>
          </p:nvPr>
        </p:nvSpPr>
        <p:spPr>
          <a:xfrm>
            <a:off x="2913120" y="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B386F3-6628-4BC4-BBD4-86F3202004C2}" type="datetime1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8.04.2026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PlaceHolder 3"/>
          <p:cNvSpPr>
            <a:spLocks noGrp="1"/>
          </p:cNvSpPr>
          <p:nvPr>
            <p:ph type="sldNum" idx="93"/>
          </p:nvPr>
        </p:nvSpPr>
        <p:spPr>
          <a:xfrm>
            <a:off x="2913120" y="8685360"/>
            <a:ext cx="222840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C93195C-DBD8-4977-8F77-24A13FBB962B}" type="slidenum">
              <a:rPr lang="pl-PL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&lt;numer&gt;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PlaceHolder 4"/>
          <p:cNvSpPr>
            <a:spLocks noGrp="1"/>
          </p:cNvSpPr>
          <p:nvPr>
            <p:ph type="sldImg"/>
          </p:nvPr>
        </p:nvSpPr>
        <p:spPr>
          <a:xfrm>
            <a:off x="-17136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87" name="PlaceHolder 5"/>
          <p:cNvSpPr>
            <a:spLocks noGrp="1"/>
          </p:cNvSpPr>
          <p:nvPr>
            <p:ph type="body"/>
          </p:nvPr>
        </p:nvSpPr>
        <p:spPr>
          <a:xfrm>
            <a:off x="514440" y="4400640"/>
            <a:ext cx="41144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pl-PL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tytułu</a:t>
            </a:r>
            <a:endParaRPr lang="pl-PL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konspektu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Drugi poziom konspektu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Trzeci poziom konspektu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Czwarty poziom konspektu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Piąty poziom konspektu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Szósty poziom konspektu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Siódmy poziom konspektu</a:t>
            </a:r>
            <a:endParaRPr lang="pl-PL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5029200" y="0"/>
            <a:ext cx="4114440" cy="514296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010840" y="0"/>
            <a:ext cx="45360" cy="51429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0000" y="540000"/>
            <a:ext cx="3599640" cy="3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pc="499" strike="noStrike">
                <a:solidFill>
                  <a:srgbClr val="0ea5e9"/>
                </a:solidFill>
                <a:effectLst/>
                <a:uFillTx/>
                <a:latin typeface="Calibri"/>
                <a:ea typeface="Calibri"/>
              </a:rPr>
              <a:t>WYKŁAD 7</a:t>
            </a:r>
            <a:endParaRPr lang="pl-PL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1143000"/>
            <a:ext cx="42058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Programowanie aplikacji mobilnych</a:t>
            </a:r>
            <a:endParaRPr lang="pl-PL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współpracujących </a:t>
            </a:r>
            <a:br>
              <a:rPr sz="1800"/>
            </a:b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z IoT</a:t>
            </a:r>
            <a:endParaRPr lang="pl-PL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548640" y="3017520"/>
            <a:ext cx="1096920" cy="36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48640" y="31546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Przedmiot: Programowanie Aplikacji Mobilnych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548640" y="34290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Kierunek: Informatyka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548640" y="37490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Internet of Things — Technologie i architektura</a:t>
            </a:r>
            <a:endParaRPr lang="pl-PL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5257800" y="914400"/>
            <a:ext cx="45360" cy="3654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5257800" y="1600200"/>
            <a:ext cx="45360" cy="3654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5257800" y="2286000"/>
            <a:ext cx="45360" cy="3654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5257800" y="2971800"/>
            <a:ext cx="45360" cy="3654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5440680" y="9144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Protokoły komunikacji</a:t>
            </a:r>
            <a:endParaRPr lang="pl-PL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7"/>
          <p:cNvSpPr/>
          <p:nvPr/>
        </p:nvSpPr>
        <p:spPr>
          <a:xfrm>
            <a:off x="5257800" y="3657600"/>
            <a:ext cx="45360" cy="3654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5440680" y="16002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Android &amp; iOS + IoT</a:t>
            </a:r>
            <a:endParaRPr lang="pl-PL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7" name="Text 14"/>
          <p:cNvSpPr/>
          <p:nvPr/>
        </p:nvSpPr>
        <p:spPr>
          <a:xfrm>
            <a:off x="5440680" y="22860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Platforms</a:t>
            </a:r>
            <a:endParaRPr lang="pl-PL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274320" y="4992480"/>
            <a:ext cx="478188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445577"/>
                </a:solidFill>
                <a:effectLst/>
                <a:uFillTx/>
                <a:latin typeface="Calibri"/>
                <a:ea typeface="Calibri"/>
              </a:rPr>
              <a:t>© Katedra Informatyki I Automatyki — Programowanie Aplikacji Mobilnych || v.1.</a:t>
            </a:r>
            <a:r>
              <a:rPr lang="pl-PL" sz="900" b="0" u="none" strike="noStrike">
                <a:solidFill>
                  <a:srgbClr val="445577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6"/>
          <p:cNvSpPr/>
          <p:nvPr/>
        </p:nvSpPr>
        <p:spPr>
          <a:xfrm>
            <a:off x="5440680" y="29718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Bezpieczeństwo</a:t>
            </a:r>
            <a:endParaRPr lang="pl-PL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8"/>
          <p:cNvSpPr/>
          <p:nvPr/>
        </p:nvSpPr>
        <p:spPr>
          <a:xfrm>
            <a:off x="5440680" y="36576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Case Studies</a:t>
            </a:r>
            <a:endParaRPr lang="pl-PL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0" y="0"/>
            <a:ext cx="9143640" cy="53964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2" name="Shape 1"/>
          <p:cNvSpPr/>
          <p:nvPr/>
        </p:nvSpPr>
        <p:spPr>
          <a:xfrm>
            <a:off x="0" y="540000"/>
            <a:ext cx="9143640" cy="716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0" bIns="36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3" name="Text 2"/>
          <p:cNvSpPr/>
          <p:nvPr/>
        </p:nvSpPr>
        <p:spPr>
          <a:xfrm>
            <a:off x="360000" y="0"/>
            <a:ext cx="841212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Plan wykładu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5" name="Shape 5"/>
          <p:cNvSpPr/>
          <p:nvPr/>
        </p:nvSpPr>
        <p:spPr>
          <a:xfrm>
            <a:off x="365760" y="868680"/>
            <a:ext cx="411444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6" name="Shape 6"/>
          <p:cNvSpPr/>
          <p:nvPr/>
        </p:nvSpPr>
        <p:spPr>
          <a:xfrm>
            <a:off x="365760" y="868680"/>
            <a:ext cx="54360" cy="80424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7" name="Text 7"/>
          <p:cNvSpPr/>
          <p:nvPr/>
        </p:nvSpPr>
        <p:spPr>
          <a:xfrm>
            <a:off x="511920" y="91440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e5fa8"/>
                </a:solidFill>
                <a:effectLst/>
                <a:uFillTx/>
                <a:latin typeface="Calibri"/>
                <a:ea typeface="Calibri"/>
              </a:rPr>
              <a:t>Slajdy 1–4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511920" y="1143000"/>
            <a:ext cx="379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Wprowadzenie do IoT i rola aplikacji mobilnych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9"/>
          <p:cNvSpPr/>
          <p:nvPr/>
        </p:nvSpPr>
        <p:spPr>
          <a:xfrm>
            <a:off x="365760" y="1828800"/>
            <a:ext cx="411444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0" name="Shape 10"/>
          <p:cNvSpPr/>
          <p:nvPr/>
        </p:nvSpPr>
        <p:spPr>
          <a:xfrm>
            <a:off x="365760" y="1828800"/>
            <a:ext cx="54360" cy="804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511920" y="18745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Slajdy 5–8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511920" y="2103120"/>
            <a:ext cx="379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Protokoły komunikacji (MQTT, CoAP, REST, WebSocket)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3"/>
          <p:cNvSpPr/>
          <p:nvPr/>
        </p:nvSpPr>
        <p:spPr>
          <a:xfrm>
            <a:off x="365760" y="2788920"/>
            <a:ext cx="411444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4" name="Shape 14"/>
          <p:cNvSpPr/>
          <p:nvPr/>
        </p:nvSpPr>
        <p:spPr>
          <a:xfrm>
            <a:off x="365760" y="2788920"/>
            <a:ext cx="54360" cy="8042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511920" y="28346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a5e9"/>
                </a:solidFill>
                <a:effectLst/>
                <a:uFillTx/>
                <a:latin typeface="Calibri"/>
                <a:ea typeface="Calibri"/>
              </a:rPr>
              <a:t>Slajdy 9–12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511920" y="3063240"/>
            <a:ext cx="379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Łączność bezprzewodowa (BLE, Wi-Fi, Zigbee)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7"/>
          <p:cNvSpPr/>
          <p:nvPr/>
        </p:nvSpPr>
        <p:spPr>
          <a:xfrm>
            <a:off x="365760" y="3749040"/>
            <a:ext cx="411444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8" name="Shape 18"/>
          <p:cNvSpPr/>
          <p:nvPr/>
        </p:nvSpPr>
        <p:spPr>
          <a:xfrm>
            <a:off x="365760" y="3749040"/>
            <a:ext cx="54360" cy="8042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9" name="Text 19"/>
          <p:cNvSpPr/>
          <p:nvPr/>
        </p:nvSpPr>
        <p:spPr>
          <a:xfrm>
            <a:off x="511920" y="379476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Slajdy 13–17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511920" y="4023360"/>
            <a:ext cx="379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Programowanie Android &amp; iOS dla IoT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1"/>
          <p:cNvSpPr/>
          <p:nvPr/>
        </p:nvSpPr>
        <p:spPr>
          <a:xfrm>
            <a:off x="4754880" y="868680"/>
            <a:ext cx="411444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2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2" name="Shape 22"/>
          <p:cNvSpPr/>
          <p:nvPr/>
        </p:nvSpPr>
        <p:spPr>
          <a:xfrm>
            <a:off x="4754880" y="868680"/>
            <a:ext cx="54360" cy="8042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3" name="Text 23"/>
          <p:cNvSpPr/>
          <p:nvPr/>
        </p:nvSpPr>
        <p:spPr>
          <a:xfrm>
            <a:off x="4901040" y="91440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Slajdy 18–21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4"/>
          <p:cNvSpPr/>
          <p:nvPr/>
        </p:nvSpPr>
        <p:spPr>
          <a:xfrm>
            <a:off x="4901040" y="1143000"/>
            <a:ext cx="379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Platformy chmurowe i przetwarzanie danych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5"/>
          <p:cNvSpPr/>
          <p:nvPr/>
        </p:nvSpPr>
        <p:spPr>
          <a:xfrm>
            <a:off x="4754880" y="1828800"/>
            <a:ext cx="411444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6" name="Shape 26"/>
          <p:cNvSpPr/>
          <p:nvPr/>
        </p:nvSpPr>
        <p:spPr>
          <a:xfrm>
            <a:off x="4754880" y="1828800"/>
            <a:ext cx="54360" cy="8042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7" name="Text 27"/>
          <p:cNvSpPr/>
          <p:nvPr/>
        </p:nvSpPr>
        <p:spPr>
          <a:xfrm>
            <a:off x="4901040" y="18745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Slajdy 22–25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8"/>
          <p:cNvSpPr/>
          <p:nvPr/>
        </p:nvSpPr>
        <p:spPr>
          <a:xfrm>
            <a:off x="4901040" y="2103120"/>
            <a:ext cx="379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Bezpieczeństwo i zarządzanie urządzeniami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9"/>
          <p:cNvSpPr/>
          <p:nvPr/>
        </p:nvSpPr>
        <p:spPr>
          <a:xfrm>
            <a:off x="4754880" y="2788920"/>
            <a:ext cx="411444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0" name="Shape 30"/>
          <p:cNvSpPr/>
          <p:nvPr/>
        </p:nvSpPr>
        <p:spPr>
          <a:xfrm>
            <a:off x="4754880" y="2788920"/>
            <a:ext cx="54360" cy="804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1" name="Text 31"/>
          <p:cNvSpPr/>
          <p:nvPr/>
        </p:nvSpPr>
        <p:spPr>
          <a:xfrm>
            <a:off x="4901040" y="28346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Slajdy 26–28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2"/>
          <p:cNvSpPr/>
          <p:nvPr/>
        </p:nvSpPr>
        <p:spPr>
          <a:xfrm>
            <a:off x="4901040" y="3063240"/>
            <a:ext cx="379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Testowanie i optymalizacja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33"/>
          <p:cNvSpPr/>
          <p:nvPr/>
        </p:nvSpPr>
        <p:spPr>
          <a:xfrm>
            <a:off x="4754880" y="3749040"/>
            <a:ext cx="411444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24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4" name="Shape 34"/>
          <p:cNvSpPr/>
          <p:nvPr/>
        </p:nvSpPr>
        <p:spPr>
          <a:xfrm>
            <a:off x="4754880" y="3749040"/>
            <a:ext cx="54360" cy="80424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5" name="Text 35"/>
          <p:cNvSpPr/>
          <p:nvPr/>
        </p:nvSpPr>
        <p:spPr>
          <a:xfrm>
            <a:off x="4901040" y="379476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547"/>
                </a:solidFill>
                <a:effectLst/>
                <a:uFillTx/>
                <a:latin typeface="Calibri"/>
                <a:ea typeface="Calibri"/>
              </a:rPr>
              <a:t>Slajdy 29–30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6"/>
          <p:cNvSpPr/>
          <p:nvPr/>
        </p:nvSpPr>
        <p:spPr>
          <a:xfrm>
            <a:off x="4901040" y="4023360"/>
            <a:ext cx="3794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Case Studies i podsumowanie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0" y="0"/>
            <a:ext cx="9143640" cy="53964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8" name="Shape 1"/>
          <p:cNvSpPr/>
          <p:nvPr/>
        </p:nvSpPr>
        <p:spPr>
          <a:xfrm>
            <a:off x="0" y="514440"/>
            <a:ext cx="9143640" cy="356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000" bIns="18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9" name="Text 2"/>
          <p:cNvSpPr/>
          <p:nvPr/>
        </p:nvSpPr>
        <p:spPr>
          <a:xfrm>
            <a:off x="365760" y="-3528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Definicja i ekosystem Internetu Rzeczy (IoT)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1" name="Text 5"/>
          <p:cNvSpPr/>
          <p:nvPr/>
        </p:nvSpPr>
        <p:spPr>
          <a:xfrm>
            <a:off x="457200" y="633240"/>
            <a:ext cx="8229240" cy="62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i="1" u="none" strike="noStrike">
                <a:solidFill>
                  <a:srgbClr val="1e5fa8"/>
                </a:solidFill>
                <a:effectLst/>
                <a:uFillTx/>
                <a:latin typeface="Cambria"/>
                <a:ea typeface="Cambria"/>
              </a:rPr>
              <a:t>"Sieć urządzeń fizycznych wyposażonych w czujniki, oprogramowanie </a:t>
            </a:r>
            <a:br>
              <a:rPr sz="2000"/>
            </a:br>
            <a:r>
              <a:rPr lang="en-US" sz="2000" b="0" i="1" u="none" strike="noStrike">
                <a:solidFill>
                  <a:srgbClr val="1e5fa8"/>
                </a:solidFill>
                <a:effectLst/>
                <a:uFillTx/>
                <a:latin typeface="Cambria"/>
                <a:ea typeface="Cambria"/>
              </a:rPr>
              <a:t>i łączność umożliwiającą wymianę danych bez udziału człowieka"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365760" y="1600200"/>
            <a:ext cx="1919880" cy="137124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365760" y="1600200"/>
            <a:ext cx="191988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4" name="Text 8"/>
          <p:cNvSpPr/>
          <p:nvPr/>
        </p:nvSpPr>
        <p:spPr>
          <a:xfrm>
            <a:off x="365760" y="173736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75 mld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365760" y="235908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Urządzeń IoT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do 2030 r.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0"/>
          <p:cNvSpPr/>
          <p:nvPr/>
        </p:nvSpPr>
        <p:spPr>
          <a:xfrm>
            <a:off x="2468880" y="1600200"/>
            <a:ext cx="1919880" cy="137124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2468880" y="1600200"/>
            <a:ext cx="191988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2468880" y="173736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4.6 TB/dzień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2468880" y="235908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Danych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generowanych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4"/>
          <p:cNvSpPr/>
          <p:nvPr/>
        </p:nvSpPr>
        <p:spPr>
          <a:xfrm>
            <a:off x="4572000" y="1600200"/>
            <a:ext cx="1919880" cy="137124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1" name="Shape 15"/>
          <p:cNvSpPr/>
          <p:nvPr/>
        </p:nvSpPr>
        <p:spPr>
          <a:xfrm>
            <a:off x="4572000" y="1600200"/>
            <a:ext cx="191988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4572000" y="173736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11 tys. USD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7"/>
          <p:cNvSpPr/>
          <p:nvPr/>
        </p:nvSpPr>
        <p:spPr>
          <a:xfrm>
            <a:off x="4572000" y="235908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Wydatki na IoT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na firmę/rok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8"/>
          <p:cNvSpPr/>
          <p:nvPr/>
        </p:nvSpPr>
        <p:spPr>
          <a:xfrm>
            <a:off x="6675120" y="1600200"/>
            <a:ext cx="1919880" cy="137124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22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5" name="Shape 19"/>
          <p:cNvSpPr/>
          <p:nvPr/>
        </p:nvSpPr>
        <p:spPr>
          <a:xfrm>
            <a:off x="6675120" y="1600200"/>
            <a:ext cx="191988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6" name="Text 20"/>
          <p:cNvSpPr/>
          <p:nvPr/>
        </p:nvSpPr>
        <p:spPr>
          <a:xfrm>
            <a:off x="6675120" y="173736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18.5%</a:t>
            </a:r>
            <a:endParaRPr lang="pl-PL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1"/>
          <p:cNvSpPr/>
          <p:nvPr/>
        </p:nvSpPr>
        <p:spPr>
          <a:xfrm>
            <a:off x="6675120" y="2359080"/>
            <a:ext cx="1919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CAGR rynku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IoT 2024–2030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2"/>
          <p:cNvSpPr/>
          <p:nvPr/>
        </p:nvSpPr>
        <p:spPr>
          <a:xfrm>
            <a:off x="385200" y="3180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Warstwy ekosystemu IoT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3"/>
          <p:cNvSpPr/>
          <p:nvPr/>
        </p:nvSpPr>
        <p:spPr>
          <a:xfrm>
            <a:off x="365760" y="3456360"/>
            <a:ext cx="1965600" cy="12798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0" name="Text 24"/>
          <p:cNvSpPr/>
          <p:nvPr/>
        </p:nvSpPr>
        <p:spPr>
          <a:xfrm>
            <a:off x="365760" y="352044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Urządzenia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5"/>
          <p:cNvSpPr/>
          <p:nvPr/>
        </p:nvSpPr>
        <p:spPr>
          <a:xfrm>
            <a:off x="365760" y="3858840"/>
            <a:ext cx="1965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Czujniki, aktuatory, mikrokontrolery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6"/>
          <p:cNvSpPr/>
          <p:nvPr/>
        </p:nvSpPr>
        <p:spPr>
          <a:xfrm>
            <a:off x="2331720" y="365760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1a254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7"/>
          <p:cNvSpPr/>
          <p:nvPr/>
        </p:nvSpPr>
        <p:spPr>
          <a:xfrm>
            <a:off x="2514600" y="3456360"/>
            <a:ext cx="1965600" cy="127980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4" name="Text 28"/>
          <p:cNvSpPr/>
          <p:nvPr/>
        </p:nvSpPr>
        <p:spPr>
          <a:xfrm>
            <a:off x="2514600" y="352044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Łączność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9"/>
          <p:cNvSpPr/>
          <p:nvPr/>
        </p:nvSpPr>
        <p:spPr>
          <a:xfrm>
            <a:off x="2514600" y="3858840"/>
            <a:ext cx="1965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Protokoły, sieci bezprzewodowe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0"/>
          <p:cNvSpPr/>
          <p:nvPr/>
        </p:nvSpPr>
        <p:spPr>
          <a:xfrm>
            <a:off x="4480560" y="365760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1a254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31"/>
          <p:cNvSpPr/>
          <p:nvPr/>
        </p:nvSpPr>
        <p:spPr>
          <a:xfrm>
            <a:off x="4663440" y="3456360"/>
            <a:ext cx="1965600" cy="127980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8" name="Text 32"/>
          <p:cNvSpPr/>
          <p:nvPr/>
        </p:nvSpPr>
        <p:spPr>
          <a:xfrm>
            <a:off x="4663440" y="352044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Platforma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3"/>
          <p:cNvSpPr/>
          <p:nvPr/>
        </p:nvSpPr>
        <p:spPr>
          <a:xfrm>
            <a:off x="4663440" y="3858840"/>
            <a:ext cx="1965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Cloud, analityka, storage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4"/>
          <p:cNvSpPr/>
          <p:nvPr/>
        </p:nvSpPr>
        <p:spPr>
          <a:xfrm>
            <a:off x="6629400" y="365760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1a2547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5"/>
          <p:cNvSpPr/>
          <p:nvPr/>
        </p:nvSpPr>
        <p:spPr>
          <a:xfrm>
            <a:off x="6812280" y="3456360"/>
            <a:ext cx="1965600" cy="12798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26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2" name="Text 36"/>
          <p:cNvSpPr/>
          <p:nvPr/>
        </p:nvSpPr>
        <p:spPr>
          <a:xfrm>
            <a:off x="6812280" y="352044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Aplikacje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7"/>
          <p:cNvSpPr/>
          <p:nvPr/>
        </p:nvSpPr>
        <p:spPr>
          <a:xfrm>
            <a:off x="6812280" y="3858840"/>
            <a:ext cx="1965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Mobilne, webowe, dashboardy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5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6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Rola Aplikacji Mobilnych w Systemach IoT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320040" y="822960"/>
            <a:ext cx="4160160" cy="1261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9" name="Shape 6"/>
          <p:cNvSpPr/>
          <p:nvPr/>
        </p:nvSpPr>
        <p:spPr>
          <a:xfrm>
            <a:off x="320040" y="822960"/>
            <a:ext cx="63720" cy="126144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457200" y="89604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Interfejs użytkownika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8"/>
          <p:cNvSpPr/>
          <p:nvPr/>
        </p:nvSpPr>
        <p:spPr>
          <a:xfrm>
            <a:off x="457200" y="1207080"/>
            <a:ext cx="3977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Wizualizacja danych z czujników, sterowanie urządzeniami w czasie rzeczywistym, powiadomienia push.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9"/>
          <p:cNvSpPr/>
          <p:nvPr/>
        </p:nvSpPr>
        <p:spPr>
          <a:xfrm>
            <a:off x="4709160" y="822960"/>
            <a:ext cx="4160160" cy="1261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3" name="Shape 10"/>
          <p:cNvSpPr/>
          <p:nvPr/>
        </p:nvSpPr>
        <p:spPr>
          <a:xfrm>
            <a:off x="4709160" y="822960"/>
            <a:ext cx="63720" cy="1261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4846320" y="89604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Brama komunikacyjna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2"/>
          <p:cNvSpPr/>
          <p:nvPr/>
        </p:nvSpPr>
        <p:spPr>
          <a:xfrm>
            <a:off x="4846320" y="1207080"/>
            <a:ext cx="3977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Telefon jako lokalny hub IoT — agregacja danych z urządzeń BLE/Zigbee przed wysłaniem do chmury.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3"/>
          <p:cNvSpPr/>
          <p:nvPr/>
        </p:nvSpPr>
        <p:spPr>
          <a:xfrm>
            <a:off x="320040" y="2212920"/>
            <a:ext cx="4160160" cy="1261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7" name="Shape 14"/>
          <p:cNvSpPr/>
          <p:nvPr/>
        </p:nvSpPr>
        <p:spPr>
          <a:xfrm>
            <a:off x="320040" y="2212920"/>
            <a:ext cx="63720" cy="12614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457200" y="228600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Przetwarzanie lokalne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6"/>
          <p:cNvSpPr/>
          <p:nvPr/>
        </p:nvSpPr>
        <p:spPr>
          <a:xfrm>
            <a:off x="457200" y="2597040"/>
            <a:ext cx="3977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Edge computing na urządzeniu mobilnym — preprocessing danych przed transmisją, redukcja latencji.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7"/>
          <p:cNvSpPr/>
          <p:nvPr/>
        </p:nvSpPr>
        <p:spPr>
          <a:xfrm>
            <a:off x="4709160" y="2212920"/>
            <a:ext cx="4160160" cy="1261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21" name="Shape 18"/>
          <p:cNvSpPr/>
          <p:nvPr/>
        </p:nvSpPr>
        <p:spPr>
          <a:xfrm>
            <a:off x="4709160" y="2212920"/>
            <a:ext cx="63720" cy="12614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22" name="Text 19"/>
          <p:cNvSpPr/>
          <p:nvPr/>
        </p:nvSpPr>
        <p:spPr>
          <a:xfrm>
            <a:off x="4846320" y="228600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Zarządzanie urządzeniami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0"/>
          <p:cNvSpPr/>
          <p:nvPr/>
        </p:nvSpPr>
        <p:spPr>
          <a:xfrm>
            <a:off x="4846320" y="2597040"/>
            <a:ext cx="3977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Provisioning, konfiguracja OTA, monitoring stanu urządzeń, zarządzanie aktualizacjami firmware.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1"/>
          <p:cNvSpPr/>
          <p:nvPr/>
        </p:nvSpPr>
        <p:spPr>
          <a:xfrm>
            <a:off x="320040" y="3602880"/>
            <a:ext cx="4160160" cy="1261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25" name="Shape 22"/>
          <p:cNvSpPr/>
          <p:nvPr/>
        </p:nvSpPr>
        <p:spPr>
          <a:xfrm>
            <a:off x="320040" y="3602880"/>
            <a:ext cx="63720" cy="1261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26" name="Text 23"/>
          <p:cNvSpPr/>
          <p:nvPr/>
        </p:nvSpPr>
        <p:spPr>
          <a:xfrm>
            <a:off x="457200" y="367596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Analityka i raporty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4"/>
          <p:cNvSpPr/>
          <p:nvPr/>
        </p:nvSpPr>
        <p:spPr>
          <a:xfrm>
            <a:off x="457200" y="3986640"/>
            <a:ext cx="3977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Dashboardy, trendy historyczne, alerty progowe, eksport danych do systemów BI.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5"/>
          <p:cNvSpPr/>
          <p:nvPr/>
        </p:nvSpPr>
        <p:spPr>
          <a:xfrm>
            <a:off x="4709160" y="3602880"/>
            <a:ext cx="4160160" cy="1261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29" name="Shape 26"/>
          <p:cNvSpPr/>
          <p:nvPr/>
        </p:nvSpPr>
        <p:spPr>
          <a:xfrm>
            <a:off x="4709160" y="3602880"/>
            <a:ext cx="63720" cy="12614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30" name="Text 27"/>
          <p:cNvSpPr/>
          <p:nvPr/>
        </p:nvSpPr>
        <p:spPr>
          <a:xfrm>
            <a:off x="4846320" y="367596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Bezpieczeństwo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8"/>
          <p:cNvSpPr/>
          <p:nvPr/>
        </p:nvSpPr>
        <p:spPr>
          <a:xfrm>
            <a:off x="4846320" y="3986640"/>
            <a:ext cx="3977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Autentykacja użytkownika, autoryzacja dostępu do urządzeń, szyfrowanie komunikacji end-to-end.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33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Architektura Systemu IoT z aplikacją mobilną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36" name="Shape 5"/>
          <p:cNvSpPr/>
          <p:nvPr/>
        </p:nvSpPr>
        <p:spPr>
          <a:xfrm>
            <a:off x="274320" y="914400"/>
            <a:ext cx="1645560" cy="822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347400" y="9784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Urządzenia IoT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347400" y="1261800"/>
            <a:ext cx="1554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Czujniki, aktuatory,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mikrokontrolery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2377440" y="914400"/>
            <a:ext cx="1645560" cy="82260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2450520" y="9784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Brama (Gateway)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2450520" y="1261800"/>
            <a:ext cx="1554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Lokalna brama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lub router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1"/>
          <p:cNvSpPr/>
          <p:nvPr/>
        </p:nvSpPr>
        <p:spPr>
          <a:xfrm>
            <a:off x="4480560" y="800640"/>
            <a:ext cx="1645560" cy="82260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4553640" y="8647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Cloud Platform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4553640" y="1148040"/>
            <a:ext cx="15541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AWS IoT, Azure,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Google Cloud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5" name="Grupa 15"/>
          <p:cNvGrpSpPr/>
          <p:nvPr/>
        </p:nvGrpSpPr>
        <p:grpSpPr>
          <a:xfrm>
            <a:off x="4474080" y="1783080"/>
            <a:ext cx="1645560" cy="822600"/>
            <a:chOff x="4474080" y="1783080"/>
            <a:chExt cx="1645560" cy="822600"/>
          </a:xfrm>
        </p:grpSpPr>
        <p:sp>
          <p:nvSpPr>
            <p:cNvPr id="146" name="Shape 14"/>
            <p:cNvSpPr/>
            <p:nvPr/>
          </p:nvSpPr>
          <p:spPr>
            <a:xfrm>
              <a:off x="4474080" y="1783080"/>
              <a:ext cx="1645560" cy="822600"/>
            </a:xfrm>
            <a:prstGeom prst="rect">
              <a:avLst/>
            </a:prstGeom>
            <a:solidFill>
              <a:srgbClr val="24357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147" name="Text 15"/>
            <p:cNvSpPr/>
            <p:nvPr/>
          </p:nvSpPr>
          <p:spPr>
            <a:xfrm>
              <a:off x="4547160" y="1847160"/>
              <a:ext cx="155412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MQTT Broker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Text 16"/>
            <p:cNvSpPr/>
            <p:nvPr/>
          </p:nvSpPr>
          <p:spPr>
            <a:xfrm>
              <a:off x="4547160" y="2130480"/>
              <a:ext cx="1554120" cy="43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Eclipse Mosquitto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HiveMQ, AWS IoT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9" name="Shape 17"/>
          <p:cNvSpPr/>
          <p:nvPr/>
        </p:nvSpPr>
        <p:spPr>
          <a:xfrm>
            <a:off x="6675120" y="795600"/>
            <a:ext cx="1580760" cy="182808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50" name="Text 18"/>
          <p:cNvSpPr/>
          <p:nvPr/>
        </p:nvSpPr>
        <p:spPr>
          <a:xfrm>
            <a:off x="6748200" y="1057320"/>
            <a:ext cx="140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Aplikacja Mobilna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9"/>
          <p:cNvSpPr/>
          <p:nvPr/>
        </p:nvSpPr>
        <p:spPr>
          <a:xfrm>
            <a:off x="6761520" y="1304640"/>
            <a:ext cx="1327680" cy="8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Android / iOS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Flutter, React Native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Kotlin, Swift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0"/>
          <p:cNvSpPr/>
          <p:nvPr/>
        </p:nvSpPr>
        <p:spPr>
          <a:xfrm>
            <a:off x="1920240" y="1325880"/>
            <a:ext cx="456840" cy="360"/>
          </a:xfrm>
          <a:custGeom>
            <a:avLst/>
            <a:gdLst>
              <a:gd name="textAreaLeft" fmla="*/ 0 w 456840"/>
              <a:gd name="textAreaRight" fmla="*/ 457200 w 456840"/>
              <a:gd name="textAreaTop" fmla="*/ 0 h 360"/>
              <a:gd name="textAreaBottom" fmla="*/ 720 h 36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270" h="31">
                <a:moveTo>
                  <a:pt x="0" y="0"/>
                </a:moveTo>
                <a:lnTo>
                  <a:pt x="1270" y="2"/>
                </a:lnTo>
              </a:path>
            </a:pathLst>
          </a:custGeom>
          <a:noFill/>
          <a:ln w="25560">
            <a:solidFill>
              <a:srgbClr val="64748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600" rIns="10260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53" name="Shape 21"/>
          <p:cNvSpPr/>
          <p:nvPr/>
        </p:nvSpPr>
        <p:spPr>
          <a:xfrm>
            <a:off x="4023360" y="1325880"/>
            <a:ext cx="456840" cy="360"/>
          </a:xfrm>
          <a:custGeom>
            <a:avLst/>
            <a:gdLst>
              <a:gd name="textAreaLeft" fmla="*/ 0 w 456840"/>
              <a:gd name="textAreaRight" fmla="*/ 457200 w 456840"/>
              <a:gd name="textAreaTop" fmla="*/ 0 h 360"/>
              <a:gd name="textAreaBottom" fmla="*/ 720 h 36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270" h="31">
                <a:moveTo>
                  <a:pt x="0" y="0"/>
                </a:moveTo>
                <a:lnTo>
                  <a:pt x="1270" y="2"/>
                </a:lnTo>
              </a:path>
            </a:pathLst>
          </a:custGeom>
          <a:noFill/>
          <a:ln w="25560">
            <a:solidFill>
              <a:srgbClr val="64748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600" rIns="10260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54" name="Shape 22"/>
          <p:cNvSpPr/>
          <p:nvPr/>
        </p:nvSpPr>
        <p:spPr>
          <a:xfrm>
            <a:off x="6126480" y="960120"/>
            <a:ext cx="548280" cy="360"/>
          </a:xfrm>
          <a:custGeom>
            <a:avLst/>
            <a:gdLst>
              <a:gd name="textAreaLeft" fmla="*/ 0 w 548280"/>
              <a:gd name="textAreaRight" fmla="*/ 548640 w 548280"/>
              <a:gd name="textAreaTop" fmla="*/ 0 h 360"/>
              <a:gd name="textAreaBottom" fmla="*/ 720 h 36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4" h="31">
                <a:moveTo>
                  <a:pt x="0" y="0"/>
                </a:moveTo>
                <a:lnTo>
                  <a:pt x="1524" y="2"/>
                </a:lnTo>
              </a:path>
            </a:pathLst>
          </a:custGeom>
          <a:noFill/>
          <a:ln w="25560">
            <a:solidFill>
              <a:srgbClr val="64748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600" rIns="10260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55" name="Shape 23"/>
          <p:cNvSpPr/>
          <p:nvPr/>
        </p:nvSpPr>
        <p:spPr>
          <a:xfrm>
            <a:off x="6126480" y="2148840"/>
            <a:ext cx="548280" cy="360"/>
          </a:xfrm>
          <a:custGeom>
            <a:avLst/>
            <a:gdLst>
              <a:gd name="textAreaLeft" fmla="*/ 0 w 548280"/>
              <a:gd name="textAreaRight" fmla="*/ 548640 w 548280"/>
              <a:gd name="textAreaTop" fmla="*/ 0 h 360"/>
              <a:gd name="textAreaBottom" fmla="*/ 720 h 36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4" h="31">
                <a:moveTo>
                  <a:pt x="0" y="0"/>
                </a:moveTo>
                <a:lnTo>
                  <a:pt x="1524" y="2"/>
                </a:lnTo>
              </a:path>
            </a:pathLst>
          </a:custGeom>
          <a:noFill/>
          <a:ln w="25560">
            <a:solidFill>
              <a:srgbClr val="64748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600" rIns="10260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56" name="Text 24"/>
          <p:cNvSpPr/>
          <p:nvPr/>
        </p:nvSpPr>
        <p:spPr>
          <a:xfrm>
            <a:off x="2377440" y="1783080"/>
            <a:ext cx="1840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Protokół: MQTT / CoAP / HTTP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5"/>
          <p:cNvSpPr/>
          <p:nvPr/>
        </p:nvSpPr>
        <p:spPr>
          <a:xfrm>
            <a:off x="274320" y="2880360"/>
            <a:ext cx="8595000" cy="4536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58" name="Text 26"/>
          <p:cNvSpPr/>
          <p:nvPr/>
        </p:nvSpPr>
        <p:spPr>
          <a:xfrm>
            <a:off x="274320" y="3017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Przepływ danych: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7"/>
          <p:cNvSpPr/>
          <p:nvPr/>
        </p:nvSpPr>
        <p:spPr>
          <a:xfrm>
            <a:off x="274320" y="3383280"/>
            <a:ext cx="1554120" cy="1325520"/>
          </a:xfrm>
          <a:custGeom>
            <a:avLst/>
            <a:gdLst>
              <a:gd name="textAreaLeft" fmla="*/ 21240 w 1554120"/>
              <a:gd name="textAreaRight" fmla="*/ 1532880 w 1554120"/>
              <a:gd name="textAreaTop" fmla="*/ 21240 h 1325520"/>
              <a:gd name="textAreaBottom" fmla="*/ 1304280 h 132552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4318" h="3773">
                <a:moveTo>
                  <a:pt x="203" y="0"/>
                </a:moveTo>
                <a:arcTo wR="203.247037037037" hR="203.247037037037" stAng="16200000" swAng="-5400000"/>
                <a:lnTo>
                  <a:pt x="0" y="3480"/>
                </a:lnTo>
                <a:arcTo wR="203.247037037037" hR="203.247037037037" stAng="10800000" swAng="-5400000"/>
                <a:lnTo>
                  <a:pt x="4115" y="3683"/>
                </a:lnTo>
                <a:arcTo wR="203.247037037037" hR="203.247037037037" stAng="5400000" swAng="-5400000"/>
                <a:lnTo>
                  <a:pt x="4318" y="203"/>
                </a:lnTo>
                <a:arcTo wR="203.247037037037" hR="203.247037037037" stAng="0" swAng="-5400000"/>
                <a:close/>
              </a:path>
            </a:pathLst>
          </a:cu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60" name="Text 28"/>
          <p:cNvSpPr/>
          <p:nvPr/>
        </p:nvSpPr>
        <p:spPr>
          <a:xfrm>
            <a:off x="274320" y="345636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9"/>
          <p:cNvSpPr/>
          <p:nvPr/>
        </p:nvSpPr>
        <p:spPr>
          <a:xfrm>
            <a:off x="320040" y="3776400"/>
            <a:ext cx="1462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Czujnik zbiera dane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0"/>
          <p:cNvSpPr/>
          <p:nvPr/>
        </p:nvSpPr>
        <p:spPr>
          <a:xfrm>
            <a:off x="1810440" y="374904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1"/>
          <p:cNvSpPr/>
          <p:nvPr/>
        </p:nvSpPr>
        <p:spPr>
          <a:xfrm>
            <a:off x="1993320" y="3383280"/>
            <a:ext cx="1554120" cy="1325520"/>
          </a:xfrm>
          <a:custGeom>
            <a:avLst/>
            <a:gdLst>
              <a:gd name="textAreaLeft" fmla="*/ 21240 w 1554120"/>
              <a:gd name="textAreaRight" fmla="*/ 1532880 w 1554120"/>
              <a:gd name="textAreaTop" fmla="*/ 21240 h 1325520"/>
              <a:gd name="textAreaBottom" fmla="*/ 1304280 h 132552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4318" h="3773">
                <a:moveTo>
                  <a:pt x="203" y="0"/>
                </a:moveTo>
                <a:arcTo wR="203.247037037037" hR="203.247037037037" stAng="16200000" swAng="-5400000"/>
                <a:lnTo>
                  <a:pt x="0" y="3480"/>
                </a:lnTo>
                <a:arcTo wR="203.247037037037" hR="203.247037037037" stAng="10800000" swAng="-5400000"/>
                <a:lnTo>
                  <a:pt x="4115" y="3683"/>
                </a:lnTo>
                <a:arcTo wR="203.247037037037" hR="203.247037037037" stAng="5400000" swAng="-5400000"/>
                <a:lnTo>
                  <a:pt x="4318" y="203"/>
                </a:lnTo>
                <a:arcTo wR="203.247037037037" hR="203.247037037037" stAng="0" swAng="-5400000"/>
                <a:close/>
              </a:path>
            </a:pathLst>
          </a:cu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64" name="Text 32"/>
          <p:cNvSpPr/>
          <p:nvPr/>
        </p:nvSpPr>
        <p:spPr>
          <a:xfrm>
            <a:off x="1993320" y="345636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3"/>
          <p:cNvSpPr/>
          <p:nvPr/>
        </p:nvSpPr>
        <p:spPr>
          <a:xfrm>
            <a:off x="2039040" y="3776400"/>
            <a:ext cx="1462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Dane przesyłane przez MQTT/CoAP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4"/>
          <p:cNvSpPr/>
          <p:nvPr/>
        </p:nvSpPr>
        <p:spPr>
          <a:xfrm>
            <a:off x="3529440" y="374904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5"/>
          <p:cNvSpPr/>
          <p:nvPr/>
        </p:nvSpPr>
        <p:spPr>
          <a:xfrm>
            <a:off x="3712320" y="3383280"/>
            <a:ext cx="1554120" cy="1325520"/>
          </a:xfrm>
          <a:custGeom>
            <a:avLst/>
            <a:gdLst>
              <a:gd name="textAreaLeft" fmla="*/ 21240 w 1554120"/>
              <a:gd name="textAreaRight" fmla="*/ 1532880 w 1554120"/>
              <a:gd name="textAreaTop" fmla="*/ 21240 h 1325520"/>
              <a:gd name="textAreaBottom" fmla="*/ 1304280 h 132552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4318" h="3773">
                <a:moveTo>
                  <a:pt x="203" y="0"/>
                </a:moveTo>
                <a:arcTo wR="203.247037037037" hR="203.247037037037" stAng="16200000" swAng="-5400000"/>
                <a:lnTo>
                  <a:pt x="0" y="3480"/>
                </a:lnTo>
                <a:arcTo wR="203.247037037037" hR="203.247037037037" stAng="10800000" swAng="-5400000"/>
                <a:lnTo>
                  <a:pt x="4115" y="3683"/>
                </a:lnTo>
                <a:arcTo wR="203.247037037037" hR="203.247037037037" stAng="5400000" swAng="-5400000"/>
                <a:lnTo>
                  <a:pt x="4318" y="203"/>
                </a:lnTo>
                <a:arcTo wR="203.247037037037" hR="203.247037037037" stAng="0" swAng="-5400000"/>
                <a:close/>
              </a:path>
            </a:pathLst>
          </a:cu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68" name="Text 36"/>
          <p:cNvSpPr/>
          <p:nvPr/>
        </p:nvSpPr>
        <p:spPr>
          <a:xfrm>
            <a:off x="3712320" y="345636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37"/>
          <p:cNvSpPr/>
          <p:nvPr/>
        </p:nvSpPr>
        <p:spPr>
          <a:xfrm>
            <a:off x="3758040" y="3776400"/>
            <a:ext cx="1462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Broker przekazuje wiadomości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8"/>
          <p:cNvSpPr/>
          <p:nvPr/>
        </p:nvSpPr>
        <p:spPr>
          <a:xfrm>
            <a:off x="5248800" y="374904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39"/>
          <p:cNvSpPr/>
          <p:nvPr/>
        </p:nvSpPr>
        <p:spPr>
          <a:xfrm>
            <a:off x="5431680" y="3383280"/>
            <a:ext cx="1554120" cy="1325520"/>
          </a:xfrm>
          <a:custGeom>
            <a:avLst/>
            <a:gdLst>
              <a:gd name="textAreaLeft" fmla="*/ 21240 w 1554120"/>
              <a:gd name="textAreaRight" fmla="*/ 1532880 w 1554120"/>
              <a:gd name="textAreaTop" fmla="*/ 21240 h 1325520"/>
              <a:gd name="textAreaBottom" fmla="*/ 1304280 h 132552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4318" h="3773">
                <a:moveTo>
                  <a:pt x="203" y="0"/>
                </a:moveTo>
                <a:arcTo wR="203.247037037037" hR="203.247037037037" stAng="16200000" swAng="-5400000"/>
                <a:lnTo>
                  <a:pt x="0" y="3480"/>
                </a:lnTo>
                <a:arcTo wR="203.247037037037" hR="203.247037037037" stAng="10800000" swAng="-5400000"/>
                <a:lnTo>
                  <a:pt x="4115" y="3683"/>
                </a:lnTo>
                <a:arcTo wR="203.247037037037" hR="203.247037037037" stAng="5400000" swAng="-5400000"/>
                <a:lnTo>
                  <a:pt x="4318" y="203"/>
                </a:lnTo>
                <a:arcTo wR="203.247037037037" hR="203.247037037037" stAng="0" swAng="-5400000"/>
                <a:close/>
              </a:path>
            </a:pathLst>
          </a:cu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72" name="Text 40"/>
          <p:cNvSpPr/>
          <p:nvPr/>
        </p:nvSpPr>
        <p:spPr>
          <a:xfrm>
            <a:off x="5431680" y="345636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1"/>
          <p:cNvSpPr/>
          <p:nvPr/>
        </p:nvSpPr>
        <p:spPr>
          <a:xfrm>
            <a:off x="5477400" y="3776400"/>
            <a:ext cx="1462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Cloud przetwarza i przechowuje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42"/>
          <p:cNvSpPr/>
          <p:nvPr/>
        </p:nvSpPr>
        <p:spPr>
          <a:xfrm>
            <a:off x="6967800" y="374904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43"/>
          <p:cNvSpPr/>
          <p:nvPr/>
        </p:nvSpPr>
        <p:spPr>
          <a:xfrm>
            <a:off x="7150680" y="3383280"/>
            <a:ext cx="1554120" cy="1325520"/>
          </a:xfrm>
          <a:custGeom>
            <a:avLst/>
            <a:gdLst>
              <a:gd name="textAreaLeft" fmla="*/ 21240 w 1554120"/>
              <a:gd name="textAreaRight" fmla="*/ 1532880 w 1554120"/>
              <a:gd name="textAreaTop" fmla="*/ 21240 h 1325520"/>
              <a:gd name="textAreaBottom" fmla="*/ 1304280 h 132552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4318" h="3773">
                <a:moveTo>
                  <a:pt x="203" y="0"/>
                </a:moveTo>
                <a:arcTo wR="203.247037037037" hR="203.247037037037" stAng="16200000" swAng="-5400000"/>
                <a:lnTo>
                  <a:pt x="0" y="3480"/>
                </a:lnTo>
                <a:arcTo wR="203.247037037037" hR="203.247037037037" stAng="10800000" swAng="-5400000"/>
                <a:lnTo>
                  <a:pt x="4115" y="3683"/>
                </a:lnTo>
                <a:arcTo wR="203.247037037037" hR="203.247037037037" stAng="5400000" swAng="-5400000"/>
                <a:lnTo>
                  <a:pt x="4318" y="203"/>
                </a:lnTo>
                <a:arcTo wR="203.247037037037" hR="203.247037037037" stAng="0" swAng="-5400000"/>
                <a:close/>
              </a:path>
            </a:pathLst>
          </a:cu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76" name="Text 44"/>
          <p:cNvSpPr/>
          <p:nvPr/>
        </p:nvSpPr>
        <p:spPr>
          <a:xfrm>
            <a:off x="7150680" y="345636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5"/>
          <p:cNvSpPr/>
          <p:nvPr/>
        </p:nvSpPr>
        <p:spPr>
          <a:xfrm>
            <a:off x="7196400" y="3776400"/>
            <a:ext cx="1462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Aplikacja mobilna prezentuje dane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79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Protokoły komunikacji w IoT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457200" y="749880"/>
            <a:ext cx="8229240" cy="68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Wybór protokołu determinuje wydajność, niezawodność </a:t>
            </a:r>
            <a:br>
              <a:rPr sz="2000"/>
            </a:br>
            <a:r>
              <a:rPr lang="en-US" sz="2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i skalowalność całego systemu IoT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3" name="Tabela 7"/>
          <p:cNvGraphicFramePr/>
          <p:nvPr/>
        </p:nvGraphicFramePr>
        <p:xfrm>
          <a:off x="274320" y="1656720"/>
          <a:ext cx="8545320" cy="2350440"/>
        </p:xfrm>
        <a:graphic>
          <a:graphicData uri="http://schemas.openxmlformats.org/drawingml/2006/table">
            <a:tbl>
              <a:tblPr/>
              <a:tblGrid>
                <a:gridCol w="1481760"/>
                <a:gridCol w="1131120"/>
                <a:gridCol w="1559520"/>
                <a:gridCol w="954000"/>
                <a:gridCol w="3418920"/>
              </a:tblGrid>
              <a:tr h="258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Protokół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Transport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Model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QoS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Zastosowanie IoT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e5fa8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MQTT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TCP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Pub/Sub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0, 1, 2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Telemetria, smart home, przemysł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e5fa8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CoAP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UDP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Request/Response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0, 1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Urządzenia z ograniczonymi zasobami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e5fa8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HTTP/REST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TCP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Request/Response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brak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API, integracje, webowe dashboardy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e5fa8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WebSocket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TCP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Full-duplex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brak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Real-time UI, streaming danych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88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e5fa8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AMQP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TCP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Pub/Sub + Queuing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0, 1, 2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Systemy korporacyjne, kolejki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6064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e5fa8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DDS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UDP/TCP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Pub/Sub P2P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0–5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Robotyka, systemy krytyczne</a:t>
                      </a:r>
                      <a:endParaRPr lang="pl-PL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4" name="Text 6"/>
          <p:cNvSpPr/>
          <p:nvPr/>
        </p:nvSpPr>
        <p:spPr>
          <a:xfrm>
            <a:off x="274320" y="4753440"/>
            <a:ext cx="859500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1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★ </a:t>
            </a:r>
            <a:r>
              <a:rPr lang="en-US" sz="11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 Rekomendowany dla nowych projektów IoT: MQTT (lekki, asynchroniczny, obsługa słabego łącza)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86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MQTT: Message Queuing Telemetry Transport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320040" y="77724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Kluczowe koncepcje MQTT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6"/>
          <p:cNvSpPr/>
          <p:nvPr/>
        </p:nvSpPr>
        <p:spPr>
          <a:xfrm>
            <a:off x="320040" y="804600"/>
            <a:ext cx="4023000" cy="8956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91" name="Shape 7"/>
          <p:cNvSpPr/>
          <p:nvPr/>
        </p:nvSpPr>
        <p:spPr>
          <a:xfrm>
            <a:off x="320040" y="804600"/>
            <a:ext cx="63720" cy="89568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457200" y="8776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Broker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9"/>
          <p:cNvSpPr/>
          <p:nvPr/>
        </p:nvSpPr>
        <p:spPr>
          <a:xfrm>
            <a:off x="457200" y="1188720"/>
            <a:ext cx="384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Centralny serwer pośredniczący (Mosquitto, HiveMQ, AWS IoT Core). Zarządza topicami i subskrypcjami.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0"/>
          <p:cNvSpPr/>
          <p:nvPr/>
        </p:nvSpPr>
        <p:spPr>
          <a:xfrm>
            <a:off x="320040" y="1792080"/>
            <a:ext cx="4023000" cy="8956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95" name="Shape 11"/>
          <p:cNvSpPr/>
          <p:nvPr/>
        </p:nvSpPr>
        <p:spPr>
          <a:xfrm>
            <a:off x="320040" y="1792080"/>
            <a:ext cx="63720" cy="8956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96" name="Text 12"/>
          <p:cNvSpPr/>
          <p:nvPr/>
        </p:nvSpPr>
        <p:spPr>
          <a:xfrm>
            <a:off x="457200" y="18655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Publisher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3"/>
          <p:cNvSpPr/>
          <p:nvPr/>
        </p:nvSpPr>
        <p:spPr>
          <a:xfrm>
            <a:off x="457200" y="2176200"/>
            <a:ext cx="384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Urządzenie IoT publikujące dane na dany temat (topic). Np. sensor/temperatura/salon.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4"/>
          <p:cNvSpPr/>
          <p:nvPr/>
        </p:nvSpPr>
        <p:spPr>
          <a:xfrm>
            <a:off x="320040" y="2779920"/>
            <a:ext cx="4023000" cy="8956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99" name="Shape 15"/>
          <p:cNvSpPr/>
          <p:nvPr/>
        </p:nvSpPr>
        <p:spPr>
          <a:xfrm>
            <a:off x="320040" y="2779920"/>
            <a:ext cx="63720" cy="89568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00" name="Text 16"/>
          <p:cNvSpPr/>
          <p:nvPr/>
        </p:nvSpPr>
        <p:spPr>
          <a:xfrm>
            <a:off x="457200" y="27810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Subscriber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7"/>
          <p:cNvSpPr/>
          <p:nvPr/>
        </p:nvSpPr>
        <p:spPr>
          <a:xfrm>
            <a:off x="457200" y="3163680"/>
            <a:ext cx="384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Klient (app mobilna) subskrybujący topic. Odbiera wiadomości w trybie push.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8"/>
          <p:cNvSpPr/>
          <p:nvPr/>
        </p:nvSpPr>
        <p:spPr>
          <a:xfrm>
            <a:off x="320040" y="3839400"/>
            <a:ext cx="4023000" cy="1020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22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03" name="Shape 19"/>
          <p:cNvSpPr/>
          <p:nvPr/>
        </p:nvSpPr>
        <p:spPr>
          <a:xfrm>
            <a:off x="320040" y="3767400"/>
            <a:ext cx="63720" cy="8956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04" name="Text 20"/>
          <p:cNvSpPr/>
          <p:nvPr/>
        </p:nvSpPr>
        <p:spPr>
          <a:xfrm>
            <a:off x="457200" y="38764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QoS Levels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1"/>
          <p:cNvSpPr/>
          <p:nvPr/>
        </p:nvSpPr>
        <p:spPr>
          <a:xfrm>
            <a:off x="457200" y="4223520"/>
            <a:ext cx="384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0 – at most once (fire &amp; forget)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1 – at least once (potwierdzenie)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2 – exactly once (pełna gwarancja)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2"/>
          <p:cNvSpPr/>
          <p:nvPr/>
        </p:nvSpPr>
        <p:spPr>
          <a:xfrm>
            <a:off x="5580000" y="777240"/>
            <a:ext cx="3243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Przykład: Android (Kotlin + MQTT)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3"/>
          <p:cNvSpPr/>
          <p:nvPr/>
        </p:nvSpPr>
        <p:spPr>
          <a:xfrm>
            <a:off x="5400000" y="1097280"/>
            <a:ext cx="3423600" cy="257256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08" name="Text 24"/>
          <p:cNvSpPr/>
          <p:nvPr/>
        </p:nvSpPr>
        <p:spPr>
          <a:xfrm>
            <a:off x="5661720" y="1143000"/>
            <a:ext cx="3121920" cy="24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val client = MqttAndroidClient(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context, "tcp://broker.hivemq.com:1883",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MqttClient.generateClientId()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val opts = MqttConnectOptions()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opts.isCleanSession = true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client.connect(opts, null, object : IMqttActionListener {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override fun onSuccess(token: IMqttToken?) {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  client.subscribe("sensor/#", 1)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})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client.setCallback(object : MqttCallback {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override fun messageArrived(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  topic: String, msg: MqttMessage) {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  val payload = msg.toString()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  // aktualizuj UI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})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5"/>
          <p:cNvSpPr/>
          <p:nvPr/>
        </p:nvSpPr>
        <p:spPr>
          <a:xfrm>
            <a:off x="4526280" y="3670200"/>
            <a:ext cx="429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Hierarchia tematów (Topic Tree)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6"/>
          <p:cNvSpPr/>
          <p:nvPr/>
        </p:nvSpPr>
        <p:spPr>
          <a:xfrm>
            <a:off x="4526280" y="3960000"/>
            <a:ext cx="4297320" cy="8676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11" name="Text 27"/>
          <p:cNvSpPr/>
          <p:nvPr/>
        </p:nvSpPr>
        <p:spPr>
          <a:xfrm>
            <a:off x="4663440" y="3960000"/>
            <a:ext cx="4023000" cy="9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2547"/>
                </a:solidFill>
                <a:effectLst/>
                <a:uFillTx/>
                <a:latin typeface="Source Code Pro Medium"/>
                <a:ea typeface="Consolas"/>
              </a:rPr>
              <a:t>home/ ─ korytarz/ ─ temp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2547"/>
                </a:solidFill>
                <a:effectLst/>
                <a:uFillTx/>
                <a:latin typeface="Source Code Pro Medium"/>
                <a:ea typeface="Consolas"/>
              </a:rPr>
              <a:t>              └─ ruch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2547"/>
                </a:solidFill>
                <a:effectLst/>
                <a:uFillTx/>
                <a:latin typeface="Source Code Pro Medium"/>
                <a:ea typeface="Consolas"/>
              </a:rPr>
              <a:t>       └─ salon/ ─ temp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2547"/>
                </a:solidFill>
                <a:effectLst/>
                <a:uFillTx/>
                <a:latin typeface="Source Code Pro Medium"/>
                <a:ea typeface="Consolas"/>
              </a:rPr>
              <a:t>                 └─ wilgotnosc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a2547"/>
                </a:solidFill>
                <a:effectLst/>
                <a:uFillTx/>
                <a:latin typeface="Source Code Pro Medium"/>
                <a:ea typeface="Consolas"/>
              </a:rPr>
              <a:t>       └─ kuchnia/ ─ temp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13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CoAP: Constrained Application Protocol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180000" y="777240"/>
            <a:ext cx="8819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RFC 7252 — zaprojektowany specjalnie dla urządzeń embedded z ograniczonymi zasobami (RAM, CPU, energia)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6"/>
          <p:cNvSpPr/>
          <p:nvPr/>
        </p:nvSpPr>
        <p:spPr>
          <a:xfrm>
            <a:off x="365760" y="12344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MQTT vs CoAP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7"/>
          <p:cNvSpPr/>
          <p:nvPr/>
        </p:nvSpPr>
        <p:spPr>
          <a:xfrm>
            <a:off x="320040" y="1524960"/>
            <a:ext cx="8503560" cy="34704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22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19" name="Text 8"/>
          <p:cNvSpPr/>
          <p:nvPr/>
        </p:nvSpPr>
        <p:spPr>
          <a:xfrm>
            <a:off x="411480" y="15706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Cecha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9"/>
          <p:cNvSpPr/>
          <p:nvPr/>
        </p:nvSpPr>
        <p:spPr>
          <a:xfrm>
            <a:off x="2971800" y="157068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MQTT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0"/>
          <p:cNvSpPr/>
          <p:nvPr/>
        </p:nvSpPr>
        <p:spPr>
          <a:xfrm>
            <a:off x="5760720" y="157068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0d9488"/>
                </a:solidFill>
                <a:effectLst/>
                <a:uFillTx/>
                <a:latin typeface="Cambria"/>
                <a:ea typeface="Cambria"/>
              </a:rPr>
              <a:t>CoAP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1"/>
          <p:cNvSpPr/>
          <p:nvPr/>
        </p:nvSpPr>
        <p:spPr>
          <a:xfrm>
            <a:off x="320040" y="1918080"/>
            <a:ext cx="8503560" cy="34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23" name="Text 12"/>
          <p:cNvSpPr/>
          <p:nvPr/>
        </p:nvSpPr>
        <p:spPr>
          <a:xfrm>
            <a:off x="411480" y="198216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Transport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3"/>
          <p:cNvSpPr/>
          <p:nvPr/>
        </p:nvSpPr>
        <p:spPr>
          <a:xfrm>
            <a:off x="2971800" y="19821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TCP (niezawodny)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4"/>
          <p:cNvSpPr/>
          <p:nvPr/>
        </p:nvSpPr>
        <p:spPr>
          <a:xfrm>
            <a:off x="5760720" y="198216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UDP (lekki, zawodny)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5"/>
          <p:cNvSpPr/>
          <p:nvPr/>
        </p:nvSpPr>
        <p:spPr>
          <a:xfrm>
            <a:off x="320040" y="2293200"/>
            <a:ext cx="8503560" cy="347040"/>
          </a:xfrm>
          <a:prstGeom prst="rect">
            <a:avLst/>
          </a:prstGeom>
          <a:solidFill>
            <a:srgbClr val="f0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27" name="Text 16"/>
          <p:cNvSpPr/>
          <p:nvPr/>
        </p:nvSpPr>
        <p:spPr>
          <a:xfrm>
            <a:off x="411480" y="235692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Model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7"/>
          <p:cNvSpPr/>
          <p:nvPr/>
        </p:nvSpPr>
        <p:spPr>
          <a:xfrm>
            <a:off x="2971800" y="23569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Pub/Sub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8"/>
          <p:cNvSpPr/>
          <p:nvPr/>
        </p:nvSpPr>
        <p:spPr>
          <a:xfrm>
            <a:off x="5760720" y="23569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Request/Response (REST-like)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9"/>
          <p:cNvSpPr/>
          <p:nvPr/>
        </p:nvSpPr>
        <p:spPr>
          <a:xfrm>
            <a:off x="320040" y="2667960"/>
            <a:ext cx="8503560" cy="34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31" name="Text 20"/>
          <p:cNvSpPr/>
          <p:nvPr/>
        </p:nvSpPr>
        <p:spPr>
          <a:xfrm>
            <a:off x="411480" y="273204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Rozmiar nagłówka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1"/>
          <p:cNvSpPr/>
          <p:nvPr/>
        </p:nvSpPr>
        <p:spPr>
          <a:xfrm>
            <a:off x="2971800" y="27320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2 bajty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2"/>
          <p:cNvSpPr/>
          <p:nvPr/>
        </p:nvSpPr>
        <p:spPr>
          <a:xfrm>
            <a:off x="5760720" y="273204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4 bajty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23"/>
          <p:cNvSpPr/>
          <p:nvPr/>
        </p:nvSpPr>
        <p:spPr>
          <a:xfrm>
            <a:off x="320040" y="3042720"/>
            <a:ext cx="8503560" cy="347040"/>
          </a:xfrm>
          <a:prstGeom prst="rect">
            <a:avLst/>
          </a:prstGeom>
          <a:solidFill>
            <a:srgbClr val="f0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35" name="Text 24"/>
          <p:cNvSpPr/>
          <p:nvPr/>
        </p:nvSpPr>
        <p:spPr>
          <a:xfrm>
            <a:off x="411480" y="310680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Multicast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5"/>
          <p:cNvSpPr/>
          <p:nvPr/>
        </p:nvSpPr>
        <p:spPr>
          <a:xfrm>
            <a:off x="2971800" y="310680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Nie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6"/>
          <p:cNvSpPr/>
          <p:nvPr/>
        </p:nvSpPr>
        <p:spPr>
          <a:xfrm>
            <a:off x="5760720" y="310680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Tak (UDP multicast)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7"/>
          <p:cNvSpPr/>
          <p:nvPr/>
        </p:nvSpPr>
        <p:spPr>
          <a:xfrm>
            <a:off x="320040" y="3417840"/>
            <a:ext cx="8503560" cy="347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39" name="Text 28"/>
          <p:cNvSpPr/>
          <p:nvPr/>
        </p:nvSpPr>
        <p:spPr>
          <a:xfrm>
            <a:off x="411480" y="348192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Observe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9"/>
          <p:cNvSpPr/>
          <p:nvPr/>
        </p:nvSpPr>
        <p:spPr>
          <a:xfrm>
            <a:off x="2971800" y="34819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Subskrypcja na topic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0"/>
          <p:cNvSpPr/>
          <p:nvPr/>
        </p:nvSpPr>
        <p:spPr>
          <a:xfrm>
            <a:off x="5760720" y="34819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CoAP Observe option (RFC 7641)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31"/>
          <p:cNvSpPr/>
          <p:nvPr/>
        </p:nvSpPr>
        <p:spPr>
          <a:xfrm>
            <a:off x="320040" y="3792600"/>
            <a:ext cx="8503560" cy="347040"/>
          </a:xfrm>
          <a:prstGeom prst="rect">
            <a:avLst/>
          </a:prstGeom>
          <a:solidFill>
            <a:srgbClr val="f0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22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43" name="Text 32"/>
          <p:cNvSpPr/>
          <p:nvPr/>
        </p:nvSpPr>
        <p:spPr>
          <a:xfrm>
            <a:off x="411480" y="3856680"/>
            <a:ext cx="2468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Energia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33"/>
          <p:cNvSpPr/>
          <p:nvPr/>
        </p:nvSpPr>
        <p:spPr>
          <a:xfrm>
            <a:off x="2971800" y="385668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Wyższe zużycie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4"/>
          <p:cNvSpPr/>
          <p:nvPr/>
        </p:nvSpPr>
        <p:spPr>
          <a:xfrm>
            <a:off x="5760720" y="38566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Niższe (UDP, uśpienie)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35"/>
          <p:cNvSpPr/>
          <p:nvPr/>
        </p:nvSpPr>
        <p:spPr>
          <a:xfrm>
            <a:off x="360000" y="4150800"/>
            <a:ext cx="8503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Kiedy używać CoAP?  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Urządzenia z baterią → mała pamięć RAM (&lt; 10 KB) → sieci z dużą utratą pakietów → wymagana multicast discovery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36"/>
          <p:cNvSpPr/>
          <p:nvPr/>
        </p:nvSpPr>
        <p:spPr>
          <a:xfrm>
            <a:off x="320040" y="4680000"/>
            <a:ext cx="8503560" cy="2545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Urządzenia z baterią  ·  RAM &lt; 10 KB  ·  Sieci z dużą utratą pakietów  ·  Wymagana multicast discovery</a:t>
            </a:r>
            <a:endParaRPr lang="pl-PL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49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REST API dla IoT: HTTP i RESTful Services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52" name="Text 5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Projektowanie REST API dla systemów IoT wymaga szczególnej uwagi na skalowalność i efektywność danych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320040" y="1170360"/>
            <a:ext cx="3459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Typowe endpointy REST API dla IoT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7"/>
          <p:cNvSpPr/>
          <p:nvPr/>
        </p:nvSpPr>
        <p:spPr>
          <a:xfrm>
            <a:off x="320040" y="1481400"/>
            <a:ext cx="3459600" cy="260568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55" name="Text 8"/>
          <p:cNvSpPr/>
          <p:nvPr/>
        </p:nvSpPr>
        <p:spPr>
          <a:xfrm>
            <a:off x="411480" y="1554480"/>
            <a:ext cx="3188160" cy="248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GET  /api/v1/devices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GET  /api/v1/devices/{id}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POST /api/v1/devices/{id}/command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GET  /api/v1/sensors/data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?from=2024-01-01&amp;to=2024-12-31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&amp;deviceId=dev001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&amp;metric=temperature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GET  /api/v1/devices/{id}/telemetry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?limit=100&amp;offset=0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POST /api/v1/alerts/rules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PUT  /api/v1/devices/{id}/config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DEL  /api/v1/devices/{id}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9"/>
          <p:cNvSpPr/>
          <p:nvPr/>
        </p:nvSpPr>
        <p:spPr>
          <a:xfrm>
            <a:off x="4709160" y="11703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Dobre praktyki REST dla IoT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0"/>
          <p:cNvSpPr/>
          <p:nvPr/>
        </p:nvSpPr>
        <p:spPr>
          <a:xfrm>
            <a:off x="4124880" y="1481400"/>
            <a:ext cx="4925520" cy="5299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58" name="Shape 11"/>
          <p:cNvSpPr/>
          <p:nvPr/>
        </p:nvSpPr>
        <p:spPr>
          <a:xfrm>
            <a:off x="4124880" y="1481400"/>
            <a:ext cx="76320" cy="52992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59" name="Text 12"/>
          <p:cNvSpPr/>
          <p:nvPr/>
        </p:nvSpPr>
        <p:spPr>
          <a:xfrm>
            <a:off x="4289040" y="1477800"/>
            <a:ext cx="470664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Paginacja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3"/>
          <p:cNvSpPr/>
          <p:nvPr/>
        </p:nvSpPr>
        <p:spPr>
          <a:xfrm>
            <a:off x="4289040" y="1692000"/>
            <a:ext cx="47066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limit/offset lub cursor-based</a:t>
            </a:r>
            <a:r>
              <a:rPr lang="pl-PL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.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pl-PL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iezbędne przy dużych zbiorach danych telemetrycznych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4"/>
          <p:cNvSpPr/>
          <p:nvPr/>
        </p:nvSpPr>
        <p:spPr>
          <a:xfrm>
            <a:off x="4124880" y="2084760"/>
            <a:ext cx="4925520" cy="5299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62" name="Shape 15"/>
          <p:cNvSpPr/>
          <p:nvPr/>
        </p:nvSpPr>
        <p:spPr>
          <a:xfrm>
            <a:off x="4124880" y="2084760"/>
            <a:ext cx="76320" cy="52992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63" name="Text 16"/>
          <p:cNvSpPr/>
          <p:nvPr/>
        </p:nvSpPr>
        <p:spPr>
          <a:xfrm>
            <a:off x="4289040" y="2095200"/>
            <a:ext cx="470664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Kompresja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7"/>
          <p:cNvSpPr/>
          <p:nvPr/>
        </p:nvSpPr>
        <p:spPr>
          <a:xfrm>
            <a:off x="4289040" y="2359800"/>
            <a:ext cx="47066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GZIP/Brotli — zmniejszenie danych do 80%, kluczowe dla urządzeń mobilnych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18"/>
          <p:cNvSpPr/>
          <p:nvPr/>
        </p:nvSpPr>
        <p:spPr>
          <a:xfrm>
            <a:off x="4124880" y="2688480"/>
            <a:ext cx="4925520" cy="5299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66" name="Shape 19"/>
          <p:cNvSpPr/>
          <p:nvPr/>
        </p:nvSpPr>
        <p:spPr>
          <a:xfrm>
            <a:off x="4124880" y="2688480"/>
            <a:ext cx="76320" cy="52992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67" name="Text 20"/>
          <p:cNvSpPr/>
          <p:nvPr/>
        </p:nvSpPr>
        <p:spPr>
          <a:xfrm>
            <a:off x="4289040" y="2721600"/>
            <a:ext cx="47066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Wersjonowanie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21"/>
          <p:cNvSpPr/>
          <p:nvPr/>
        </p:nvSpPr>
        <p:spPr>
          <a:xfrm>
            <a:off x="4289040" y="2941200"/>
            <a:ext cx="470664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URI versioning (/v1/, /v2/) — kompatybilność wsteczna podczas aktualizacji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2"/>
          <p:cNvSpPr/>
          <p:nvPr/>
        </p:nvSpPr>
        <p:spPr>
          <a:xfrm>
            <a:off x="4124880" y="3291840"/>
            <a:ext cx="4925520" cy="5299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70" name="Shape 23"/>
          <p:cNvSpPr/>
          <p:nvPr/>
        </p:nvSpPr>
        <p:spPr>
          <a:xfrm>
            <a:off x="4124880" y="3291840"/>
            <a:ext cx="76320" cy="52992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71" name="Text 24"/>
          <p:cNvSpPr/>
          <p:nvPr/>
        </p:nvSpPr>
        <p:spPr>
          <a:xfrm>
            <a:off x="4289040" y="3338280"/>
            <a:ext cx="470664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Rate Limiting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5"/>
          <p:cNvSpPr/>
          <p:nvPr/>
        </p:nvSpPr>
        <p:spPr>
          <a:xfrm>
            <a:off x="4289040" y="3538080"/>
            <a:ext cx="470664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Throttling żądań (np. 1000 req/min) — ochrona serwera przed przeciążeniem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6"/>
          <p:cNvSpPr/>
          <p:nvPr/>
        </p:nvSpPr>
        <p:spPr>
          <a:xfrm>
            <a:off x="4124880" y="3895200"/>
            <a:ext cx="4925520" cy="5299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74" name="Shape 27"/>
          <p:cNvSpPr/>
          <p:nvPr/>
        </p:nvSpPr>
        <p:spPr>
          <a:xfrm>
            <a:off x="4124880" y="3895200"/>
            <a:ext cx="76320" cy="52992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75" name="Text 28"/>
          <p:cNvSpPr/>
          <p:nvPr/>
        </p:nvSpPr>
        <p:spPr>
          <a:xfrm>
            <a:off x="4289040" y="3913920"/>
            <a:ext cx="470664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HATEOAS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9"/>
          <p:cNvSpPr/>
          <p:nvPr/>
        </p:nvSpPr>
        <p:spPr>
          <a:xfrm>
            <a:off x="4289040" y="4140000"/>
            <a:ext cx="4706640" cy="1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Linki nawigacji w odpowiedzi — samoopisowe API zmniejszające coupling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30"/>
          <p:cNvSpPr/>
          <p:nvPr/>
        </p:nvSpPr>
        <p:spPr>
          <a:xfrm>
            <a:off x="320040" y="4498560"/>
            <a:ext cx="8503560" cy="483840"/>
          </a:xfrm>
          <a:prstGeom prst="rect">
            <a:avLst/>
          </a:prstGeom>
          <a:solidFill>
            <a:srgbClr val="f0f4fa"/>
          </a:solidFill>
          <a:ln w="12600">
            <a:noFill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REST vs MQTT: HTTP jest lepszy dla operacji CRUD i integracji z systemami zewnętrznymi,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natomiast MQTT przewyższa HTTP przy ciągłej telemetrii i urządzeniach z ograniczonymi zasobami.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79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80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WebSocket: komunikacja dwukierunkowa w czasie rzeczywistym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905760" y="777240"/>
            <a:ext cx="7733880" cy="6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WebSocket (RFC 6455) umożliwia pełnodupleksową komunikację przez pojedyncze połączenie TCP, idealne dla real-time dashboardów IoT.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360000" y="1656000"/>
            <a:ext cx="40744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Nawiązanie połączenia WebSocket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4" name="Grupa 8"/>
          <p:cNvGrpSpPr/>
          <p:nvPr/>
        </p:nvGrpSpPr>
        <p:grpSpPr>
          <a:xfrm>
            <a:off x="320040" y="1946880"/>
            <a:ext cx="4160160" cy="1040760"/>
            <a:chOff x="320040" y="1946880"/>
            <a:chExt cx="4160160" cy="1040760"/>
          </a:xfrm>
        </p:grpSpPr>
        <p:sp>
          <p:nvSpPr>
            <p:cNvPr id="285" name="Shape 7"/>
            <p:cNvSpPr/>
            <p:nvPr/>
          </p:nvSpPr>
          <p:spPr>
            <a:xfrm>
              <a:off x="320040" y="1946880"/>
              <a:ext cx="4160160" cy="104076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e2e8f0"/>
              </a:solidFill>
              <a:miter/>
            </a:ln>
            <a:effectLst>
              <a:outerShdw algn="tl" dir="8100000" dist="25455">
                <a:srgbClr val="000000">
                  <a:alpha val="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51120" bIns="51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286" name="Shape 8"/>
            <p:cNvSpPr/>
            <p:nvPr/>
          </p:nvSpPr>
          <p:spPr>
            <a:xfrm>
              <a:off x="320040" y="1946880"/>
              <a:ext cx="63720" cy="1040760"/>
            </a:xfrm>
            <a:prstGeom prst="rect">
              <a:avLst/>
            </a:prstGeom>
            <a:solidFill>
              <a:srgbClr val="1e5fa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</p:grpSp>
      <p:sp>
        <p:nvSpPr>
          <p:cNvPr id="287" name="Text 9"/>
          <p:cNvSpPr/>
          <p:nvPr/>
        </p:nvSpPr>
        <p:spPr>
          <a:xfrm>
            <a:off x="457200" y="1910880"/>
            <a:ext cx="397728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1. HTTP Upgrade Request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0"/>
          <p:cNvSpPr/>
          <p:nvPr/>
        </p:nvSpPr>
        <p:spPr>
          <a:xfrm>
            <a:off x="457200" y="2236320"/>
            <a:ext cx="3977280" cy="63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GET /ws HTTP/1.1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Upgrade: websocket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Connection: Upgrade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Sec-WebSocket-Key: dGhlIHNhbXBsZQ==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9" name="Grupa 13"/>
          <p:cNvGrpSpPr/>
          <p:nvPr/>
        </p:nvGrpSpPr>
        <p:grpSpPr>
          <a:xfrm>
            <a:off x="320040" y="3060000"/>
            <a:ext cx="4160160" cy="795240"/>
            <a:chOff x="320040" y="3060000"/>
            <a:chExt cx="4160160" cy="795240"/>
          </a:xfrm>
        </p:grpSpPr>
        <p:sp>
          <p:nvSpPr>
            <p:cNvPr id="290" name="Shape 11"/>
            <p:cNvSpPr/>
            <p:nvPr/>
          </p:nvSpPr>
          <p:spPr>
            <a:xfrm>
              <a:off x="320040" y="3060000"/>
              <a:ext cx="4160160" cy="7952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e2e8f0"/>
              </a:solidFill>
              <a:miter/>
            </a:ln>
            <a:effectLst>
              <a:outerShdw algn="tl" dir="8100000" dist="25455">
                <a:srgbClr val="000000">
                  <a:alpha val="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51120" bIns="51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291" name="Shape 12"/>
            <p:cNvSpPr/>
            <p:nvPr/>
          </p:nvSpPr>
          <p:spPr>
            <a:xfrm>
              <a:off x="320040" y="3060000"/>
              <a:ext cx="63720" cy="795240"/>
            </a:xfrm>
            <a:prstGeom prst="rect">
              <a:avLst/>
            </a:prstGeom>
            <a:solidFill>
              <a:srgbClr val="0d94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</p:grpSp>
      <p:sp>
        <p:nvSpPr>
          <p:cNvPr id="292" name="Text 13"/>
          <p:cNvSpPr/>
          <p:nvPr/>
        </p:nvSpPr>
        <p:spPr>
          <a:xfrm>
            <a:off x="457200" y="3012840"/>
            <a:ext cx="397728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2. Server 101 Switching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4"/>
          <p:cNvSpPr/>
          <p:nvPr/>
        </p:nvSpPr>
        <p:spPr>
          <a:xfrm>
            <a:off x="457200" y="3306600"/>
            <a:ext cx="397728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HTTP/1.1 101 Switching Protocols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Upgrade: websocket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Sec-WebSocket-Accept: s3pPL...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4" name="Grupa 18"/>
          <p:cNvGrpSpPr/>
          <p:nvPr/>
        </p:nvGrpSpPr>
        <p:grpSpPr>
          <a:xfrm>
            <a:off x="320040" y="3960000"/>
            <a:ext cx="4160160" cy="853200"/>
            <a:chOff x="320040" y="3960000"/>
            <a:chExt cx="4160160" cy="853200"/>
          </a:xfrm>
        </p:grpSpPr>
        <p:sp>
          <p:nvSpPr>
            <p:cNvPr id="295" name="Shape 15"/>
            <p:cNvSpPr/>
            <p:nvPr/>
          </p:nvSpPr>
          <p:spPr>
            <a:xfrm>
              <a:off x="320040" y="3960000"/>
              <a:ext cx="4160160" cy="85320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e2e8f0"/>
              </a:solidFill>
              <a:miter/>
            </a:ln>
            <a:effectLst>
              <a:outerShdw algn="tl" dir="8100000" dist="25455">
                <a:srgbClr val="000000">
                  <a:alpha val="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51120" bIns="51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296" name="Shape 16"/>
            <p:cNvSpPr/>
            <p:nvPr/>
          </p:nvSpPr>
          <p:spPr>
            <a:xfrm>
              <a:off x="320040" y="3960000"/>
              <a:ext cx="63720" cy="853200"/>
            </a:xfrm>
            <a:prstGeom prst="rect">
              <a:avLst/>
            </a:prstGeom>
            <a:solidFill>
              <a:srgbClr val="10b98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</p:grpSp>
      <p:sp>
        <p:nvSpPr>
          <p:cNvPr id="297" name="Text 17"/>
          <p:cNvSpPr/>
          <p:nvPr/>
        </p:nvSpPr>
        <p:spPr>
          <a:xfrm>
            <a:off x="457200" y="3960000"/>
            <a:ext cx="397728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3. Full-duplex channel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8"/>
          <p:cNvSpPr/>
          <p:nvPr/>
        </p:nvSpPr>
        <p:spPr>
          <a:xfrm>
            <a:off x="457200" y="4230720"/>
            <a:ext cx="397728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Obie strony mogą wysyłać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ramki WebSocket w dowolnej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chwili bez nowych żądań HTTP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9"/>
          <p:cNvSpPr/>
          <p:nvPr/>
        </p:nvSpPr>
        <p:spPr>
          <a:xfrm>
            <a:off x="5580000" y="1522440"/>
            <a:ext cx="3239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Implementacja w Kotlin (OkHttp)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20"/>
          <p:cNvSpPr/>
          <p:nvPr/>
        </p:nvSpPr>
        <p:spPr>
          <a:xfrm>
            <a:off x="5580000" y="1800000"/>
            <a:ext cx="3239640" cy="309564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01" name="Text 21"/>
          <p:cNvSpPr/>
          <p:nvPr/>
        </p:nvSpPr>
        <p:spPr>
          <a:xfrm>
            <a:off x="5688000" y="1844280"/>
            <a:ext cx="3063600" cy="270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val client = OkHttpClient.Builder()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.readTimeout(0, TimeUnit.MILLISECONDS)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.build()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val request = Request.Builder()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.url("wss://iot-hub.example.com/ws")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.build()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val ws = client.newWebSocket(request,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object : WebSocketListener() {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override fun onMessage(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  ws: WebSocket, text: String) {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  val data = Json.decodeFromString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      &lt;SensorData&gt;(text)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  _uiState.value = UiState.Data(data)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override fun onFailure(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  ws: WebSocket, t: Throwable,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  response: Response?) {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  // reconnect logic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})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// Wysyłanie komendy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992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ws.send("""{"cmd":"setTemp","val":22}""")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03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04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Bluetooth Low Energy (BLE): łączność krótkiego zasięgu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06" name="Text 5"/>
          <p:cNvSpPr/>
          <p:nvPr/>
        </p:nvSpPr>
        <p:spPr>
          <a:xfrm>
            <a:off x="365760" y="849240"/>
            <a:ext cx="8412120" cy="5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BLE (Bluetooth 4.0+) jest dominującym protokołem dla IoT krótkiego zasięgu: wearables, czujniki medyczne, smart home.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6"/>
          <p:cNvSpPr/>
          <p:nvPr/>
        </p:nvSpPr>
        <p:spPr>
          <a:xfrm>
            <a:off x="320040" y="1467000"/>
            <a:ext cx="4179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Model GATT (Generic Attribute Profile)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8" name="Grupa 8"/>
          <p:cNvGrpSpPr/>
          <p:nvPr/>
        </p:nvGrpSpPr>
        <p:grpSpPr>
          <a:xfrm>
            <a:off x="320040" y="1787040"/>
            <a:ext cx="4179600" cy="719640"/>
            <a:chOff x="320040" y="1787040"/>
            <a:chExt cx="4179600" cy="719640"/>
          </a:xfrm>
        </p:grpSpPr>
        <p:sp>
          <p:nvSpPr>
            <p:cNvPr id="309" name="Shape 7"/>
            <p:cNvSpPr/>
            <p:nvPr/>
          </p:nvSpPr>
          <p:spPr>
            <a:xfrm>
              <a:off x="320040" y="1787040"/>
              <a:ext cx="4179600" cy="7196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e2e8f0"/>
              </a:solidFill>
              <a:miter/>
            </a:ln>
            <a:effectLst>
              <a:outerShdw algn="tl" dir="8100000" dist="25455">
                <a:srgbClr val="000000">
                  <a:alpha val="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51120" bIns="51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310" name="Shape 8"/>
            <p:cNvSpPr/>
            <p:nvPr/>
          </p:nvSpPr>
          <p:spPr>
            <a:xfrm>
              <a:off x="320040" y="1787040"/>
              <a:ext cx="64080" cy="719640"/>
            </a:xfrm>
            <a:prstGeom prst="rect">
              <a:avLst/>
            </a:prstGeom>
            <a:solidFill>
              <a:srgbClr val="1e5fa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311" name="Text 9"/>
            <p:cNvSpPr/>
            <p:nvPr/>
          </p:nvSpPr>
          <p:spPr>
            <a:xfrm>
              <a:off x="457920" y="1788120"/>
              <a:ext cx="399564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1" u="none" strike="noStrike">
                  <a:solidFill>
                    <a:srgbClr val="0f172a"/>
                  </a:solidFill>
                  <a:effectLst/>
                  <a:uFillTx/>
                  <a:latin typeface="Cambria"/>
                  <a:ea typeface="Cambria"/>
                </a:rPr>
                <a:t>Profile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Text 10"/>
            <p:cNvSpPr/>
            <p:nvPr/>
          </p:nvSpPr>
          <p:spPr>
            <a:xfrm>
              <a:off x="457920" y="2099160"/>
              <a:ext cx="3995640" cy="28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Zestaw usług dla danego zastosowania (HR Profile, Battery Service, Custom IoT Profile)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3" name="Grupa 13"/>
          <p:cNvGrpSpPr/>
          <p:nvPr/>
        </p:nvGrpSpPr>
        <p:grpSpPr>
          <a:xfrm>
            <a:off x="320040" y="2583000"/>
            <a:ext cx="4179600" cy="719640"/>
            <a:chOff x="320040" y="2583000"/>
            <a:chExt cx="4179600" cy="719640"/>
          </a:xfrm>
        </p:grpSpPr>
        <p:grpSp>
          <p:nvGrpSpPr>
            <p:cNvPr id="314" name="Grupa 14"/>
            <p:cNvGrpSpPr/>
            <p:nvPr/>
          </p:nvGrpSpPr>
          <p:grpSpPr>
            <a:xfrm>
              <a:off x="320040" y="2583000"/>
              <a:ext cx="4179600" cy="719640"/>
              <a:chOff x="320040" y="2583000"/>
              <a:chExt cx="4179600" cy="719640"/>
            </a:xfrm>
          </p:grpSpPr>
          <p:sp>
            <p:nvSpPr>
              <p:cNvPr id="315" name="Shape 11"/>
              <p:cNvSpPr/>
              <p:nvPr/>
            </p:nvSpPr>
            <p:spPr>
              <a:xfrm>
                <a:off x="320040" y="2583000"/>
                <a:ext cx="4179600" cy="719640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e2e8f0"/>
                </a:solidFill>
                <a:miter/>
              </a:ln>
              <a:effectLst>
                <a:outerShdw algn="tl" dir="8100000" dist="25455">
                  <a:srgbClr val="000000">
                    <a:alpha val="8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6120" rIns="96120" tIns="51120" bIns="5112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pl-PL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Noto Sans CJK SC"/>
                </a:endParaRPr>
              </a:p>
            </p:txBody>
          </p:sp>
          <p:sp>
            <p:nvSpPr>
              <p:cNvPr id="316" name="Shape 12"/>
              <p:cNvSpPr/>
              <p:nvPr/>
            </p:nvSpPr>
            <p:spPr>
              <a:xfrm>
                <a:off x="320040" y="2583000"/>
                <a:ext cx="64080" cy="719640"/>
              </a:xfrm>
              <a:prstGeom prst="rect">
                <a:avLst/>
              </a:prstGeom>
              <a:solidFill>
                <a:srgbClr val="1e5fa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pl-PL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Noto Sans CJK SC"/>
                </a:endParaRPr>
              </a:p>
            </p:txBody>
          </p:sp>
        </p:grpSp>
        <p:sp>
          <p:nvSpPr>
            <p:cNvPr id="317" name="Text 13"/>
            <p:cNvSpPr/>
            <p:nvPr/>
          </p:nvSpPr>
          <p:spPr>
            <a:xfrm>
              <a:off x="457920" y="2620440"/>
              <a:ext cx="399564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1" u="none" strike="noStrike">
                  <a:solidFill>
                    <a:srgbClr val="0f172a"/>
                  </a:solidFill>
                  <a:effectLst/>
                  <a:uFillTx/>
                  <a:latin typeface="Cambria"/>
                  <a:ea typeface="Cambria"/>
                </a:rPr>
                <a:t>Service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Text 14"/>
            <p:cNvSpPr/>
            <p:nvPr/>
          </p:nvSpPr>
          <p:spPr>
            <a:xfrm>
              <a:off x="457920" y="2931120"/>
              <a:ext cx="3995640" cy="28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Zestaw powiązanych charakterystyk — identyfikowany przez UUID (np. 0x180D = Heart Rate Service)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9" name="Grupa 19"/>
          <p:cNvGrpSpPr/>
          <p:nvPr/>
        </p:nvGrpSpPr>
        <p:grpSpPr>
          <a:xfrm>
            <a:off x="320040" y="3379320"/>
            <a:ext cx="4179600" cy="719640"/>
            <a:chOff x="320040" y="3379320"/>
            <a:chExt cx="4179600" cy="719640"/>
          </a:xfrm>
        </p:grpSpPr>
        <p:grpSp>
          <p:nvGrpSpPr>
            <p:cNvPr id="320" name="Grupa 20"/>
            <p:cNvGrpSpPr/>
            <p:nvPr/>
          </p:nvGrpSpPr>
          <p:grpSpPr>
            <a:xfrm>
              <a:off x="320040" y="3379320"/>
              <a:ext cx="4179600" cy="719640"/>
              <a:chOff x="320040" y="3379320"/>
              <a:chExt cx="4179600" cy="719640"/>
            </a:xfrm>
          </p:grpSpPr>
          <p:sp>
            <p:nvSpPr>
              <p:cNvPr id="321" name="Shape 15"/>
              <p:cNvSpPr/>
              <p:nvPr/>
            </p:nvSpPr>
            <p:spPr>
              <a:xfrm>
                <a:off x="320040" y="3379320"/>
                <a:ext cx="4179600" cy="719640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e2e8f0"/>
                </a:solidFill>
                <a:miter/>
              </a:ln>
              <a:effectLst>
                <a:outerShdw algn="tl" dir="8100000" dist="25455">
                  <a:srgbClr val="000000">
                    <a:alpha val="8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6120" rIns="96120" tIns="51120" bIns="5112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pl-PL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Noto Sans CJK SC"/>
                </a:endParaRPr>
              </a:p>
            </p:txBody>
          </p:sp>
          <p:sp>
            <p:nvSpPr>
              <p:cNvPr id="322" name="Shape 16"/>
              <p:cNvSpPr/>
              <p:nvPr/>
            </p:nvSpPr>
            <p:spPr>
              <a:xfrm>
                <a:off x="320040" y="3379320"/>
                <a:ext cx="64080" cy="719640"/>
              </a:xfrm>
              <a:prstGeom prst="rect">
                <a:avLst/>
              </a:prstGeom>
              <a:solidFill>
                <a:srgbClr val="1e5fa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pl-PL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Noto Sans CJK SC"/>
                </a:endParaRPr>
              </a:p>
            </p:txBody>
          </p:sp>
        </p:grpSp>
        <p:sp>
          <p:nvSpPr>
            <p:cNvPr id="323" name="Text 17"/>
            <p:cNvSpPr/>
            <p:nvPr/>
          </p:nvSpPr>
          <p:spPr>
            <a:xfrm>
              <a:off x="457920" y="3380400"/>
              <a:ext cx="399564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1" u="none" strike="noStrike">
                  <a:solidFill>
                    <a:srgbClr val="0f172a"/>
                  </a:solidFill>
                  <a:effectLst/>
                  <a:uFillTx/>
                  <a:latin typeface="Cambria"/>
                  <a:ea typeface="Cambria"/>
                </a:rPr>
                <a:t>Characteristic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Text 18"/>
            <p:cNvSpPr/>
            <p:nvPr/>
          </p:nvSpPr>
          <p:spPr>
            <a:xfrm>
              <a:off x="457920" y="3691440"/>
              <a:ext cx="3995640" cy="28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Pojedyncza wartość danych — odczyt (Read), zapis (Write), powiadomienia (Notify, Indicate)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5" name="Grupa 25"/>
          <p:cNvGrpSpPr/>
          <p:nvPr/>
        </p:nvGrpSpPr>
        <p:grpSpPr>
          <a:xfrm>
            <a:off x="320040" y="4140360"/>
            <a:ext cx="4179600" cy="719640"/>
            <a:chOff x="320040" y="4140360"/>
            <a:chExt cx="4179600" cy="719640"/>
          </a:xfrm>
        </p:grpSpPr>
        <p:grpSp>
          <p:nvGrpSpPr>
            <p:cNvPr id="326" name="Grupa 26"/>
            <p:cNvGrpSpPr/>
            <p:nvPr/>
          </p:nvGrpSpPr>
          <p:grpSpPr>
            <a:xfrm>
              <a:off x="320040" y="4140360"/>
              <a:ext cx="4179600" cy="719640"/>
              <a:chOff x="320040" y="4140360"/>
              <a:chExt cx="4179600" cy="719640"/>
            </a:xfrm>
          </p:grpSpPr>
          <p:sp>
            <p:nvSpPr>
              <p:cNvPr id="327" name="Shape 19"/>
              <p:cNvSpPr/>
              <p:nvPr/>
            </p:nvSpPr>
            <p:spPr>
              <a:xfrm>
                <a:off x="320040" y="4140360"/>
                <a:ext cx="4179600" cy="719640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e2e8f0"/>
                </a:solidFill>
                <a:miter/>
              </a:ln>
              <a:effectLst>
                <a:outerShdw algn="tl" dir="8100000" dist="25455">
                  <a:srgbClr val="000000">
                    <a:alpha val="8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6120" rIns="96120" tIns="51120" bIns="5112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pl-PL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Noto Sans CJK SC"/>
                </a:endParaRPr>
              </a:p>
            </p:txBody>
          </p:sp>
          <p:sp>
            <p:nvSpPr>
              <p:cNvPr id="328" name="Shape 20"/>
              <p:cNvSpPr/>
              <p:nvPr/>
            </p:nvSpPr>
            <p:spPr>
              <a:xfrm>
                <a:off x="320040" y="4140360"/>
                <a:ext cx="64080" cy="719640"/>
              </a:xfrm>
              <a:prstGeom prst="rect">
                <a:avLst/>
              </a:prstGeom>
              <a:solidFill>
                <a:srgbClr val="1e5fa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pl-PL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Noto Sans CJK SC"/>
                </a:endParaRPr>
              </a:p>
            </p:txBody>
          </p:sp>
        </p:grpSp>
        <p:sp>
          <p:nvSpPr>
            <p:cNvPr id="329" name="Text 21"/>
            <p:cNvSpPr/>
            <p:nvPr/>
          </p:nvSpPr>
          <p:spPr>
            <a:xfrm>
              <a:off x="457920" y="4140360"/>
              <a:ext cx="399564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1" u="none" strike="noStrike">
                  <a:solidFill>
                    <a:srgbClr val="0f172a"/>
                  </a:solidFill>
                  <a:effectLst/>
                  <a:uFillTx/>
                  <a:latin typeface="Cambria"/>
                  <a:ea typeface="Cambria"/>
                </a:rPr>
                <a:t>Descriptor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Text 22"/>
            <p:cNvSpPr/>
            <p:nvPr/>
          </p:nvSpPr>
          <p:spPr>
            <a:xfrm>
              <a:off x="457920" y="4451400"/>
              <a:ext cx="3995640" cy="28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Metadane charakterystyki — CCCD (włączenie notyfikacji), User Description, Format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1" name="Text 23"/>
          <p:cNvSpPr/>
          <p:nvPr/>
        </p:nvSpPr>
        <p:spPr>
          <a:xfrm>
            <a:off x="5599440" y="1323000"/>
            <a:ext cx="322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Skanowanie i połączenie (Android)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24"/>
          <p:cNvSpPr/>
          <p:nvPr/>
        </p:nvSpPr>
        <p:spPr>
          <a:xfrm>
            <a:off x="5580000" y="1607040"/>
            <a:ext cx="3289320" cy="285660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33" name="Text 25"/>
          <p:cNvSpPr/>
          <p:nvPr/>
        </p:nvSpPr>
        <p:spPr>
          <a:xfrm>
            <a:off x="5690880" y="1644120"/>
            <a:ext cx="294876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// Skanowanie BLE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val scanner = bluetoothAdapter.bluetoothLeScanner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val settings = ScanSettings.Builder()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.setScanMode(SCAN_MODE_LOW_LATENCY).build()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scanner.startScan(null, settings, callback)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// Połączenie z urządzeniem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device.connectGatt(context, false, object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: BluetoothGattCallback() {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override fun onServicesDiscovered(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gatt: BluetoothGatt, status: Int) {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val svc = gatt.getService(SENSOR_UUID)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val char = svc.getCharacteristic(TEMP_UUID)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gatt.setCharacteristicNotification(char,true)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override fun onCharacteristicChanged(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gatt: BluetoothGatt,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char: BluetoothGattCharacteristic) {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val temp = char.getIntValue(FORMAT_SINT16,0)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updateTemperatureUI(temp / 100.0f)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})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6"/>
          <p:cNvSpPr/>
          <p:nvPr/>
        </p:nvSpPr>
        <p:spPr>
          <a:xfrm>
            <a:off x="5400000" y="4327920"/>
            <a:ext cx="3829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BLE vs Classic Bluetooth: BLE zużywa ~10× mniej energii, zasięg do 100 m (BLE 5.0), przepustowość do 2 Mbps.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36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37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Technologie łączności bezprzewodowej w IoT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39" name="Shape 5"/>
          <p:cNvSpPr/>
          <p:nvPr/>
        </p:nvSpPr>
        <p:spPr>
          <a:xfrm>
            <a:off x="320040" y="804600"/>
            <a:ext cx="4160160" cy="12798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40" name="Shape 6"/>
          <p:cNvSpPr/>
          <p:nvPr/>
        </p:nvSpPr>
        <p:spPr>
          <a:xfrm>
            <a:off x="320040" y="804600"/>
            <a:ext cx="4160160" cy="34704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41" name="Text 7"/>
          <p:cNvSpPr/>
          <p:nvPr/>
        </p:nvSpPr>
        <p:spPr>
          <a:xfrm>
            <a:off x="411480" y="8596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Wi-Fi 802.11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8"/>
          <p:cNvSpPr/>
          <p:nvPr/>
        </p:nvSpPr>
        <p:spPr>
          <a:xfrm>
            <a:off x="411480" y="120708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Zasięg: 50–100 m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9"/>
          <p:cNvSpPr/>
          <p:nvPr/>
        </p:nvSpPr>
        <p:spPr>
          <a:xfrm>
            <a:off x="411480" y="139896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Pasmo: do 9.6 Gbps (Wi-Fi 6)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0"/>
          <p:cNvSpPr/>
          <p:nvPr/>
        </p:nvSpPr>
        <p:spPr>
          <a:xfrm>
            <a:off x="411480" y="159120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e5fa8"/>
                </a:solidFill>
                <a:effectLst/>
                <a:uFillTx/>
                <a:latin typeface="Calibri"/>
                <a:ea typeface="Calibri"/>
              </a:rPr>
              <a:t>Energia: Wysokie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1"/>
          <p:cNvSpPr/>
          <p:nvPr/>
        </p:nvSpPr>
        <p:spPr>
          <a:xfrm>
            <a:off x="411480" y="177408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Kamery IP, bramy sieciowe, routery IoT, urządzenia strumieniujące wideo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2"/>
          <p:cNvSpPr/>
          <p:nvPr/>
        </p:nvSpPr>
        <p:spPr>
          <a:xfrm>
            <a:off x="4709160" y="804600"/>
            <a:ext cx="4160160" cy="12798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47" name="Shape 13"/>
          <p:cNvSpPr/>
          <p:nvPr/>
        </p:nvSpPr>
        <p:spPr>
          <a:xfrm>
            <a:off x="4709160" y="804600"/>
            <a:ext cx="4160160" cy="3470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48" name="Text 14"/>
          <p:cNvSpPr/>
          <p:nvPr/>
        </p:nvSpPr>
        <p:spPr>
          <a:xfrm>
            <a:off x="4800600" y="8596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Zigbee (802.15.4)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5"/>
          <p:cNvSpPr/>
          <p:nvPr/>
        </p:nvSpPr>
        <p:spPr>
          <a:xfrm>
            <a:off x="4800600" y="120708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Zasięg: 10–100 m (mesh)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6"/>
          <p:cNvSpPr/>
          <p:nvPr/>
        </p:nvSpPr>
        <p:spPr>
          <a:xfrm>
            <a:off x="4800600" y="139896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Pasmo: 250 kbps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7"/>
          <p:cNvSpPr/>
          <p:nvPr/>
        </p:nvSpPr>
        <p:spPr>
          <a:xfrm>
            <a:off x="4800600" y="159120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Energia: Bardzo niskie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8"/>
          <p:cNvSpPr/>
          <p:nvPr/>
        </p:nvSpPr>
        <p:spPr>
          <a:xfrm>
            <a:off x="4800600" y="177408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Smart home (żarówki, zamki, czujniki), siatki mesh, Philips Hue, Amazon Echo Plus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9"/>
          <p:cNvSpPr/>
          <p:nvPr/>
        </p:nvSpPr>
        <p:spPr>
          <a:xfrm>
            <a:off x="320040" y="2203560"/>
            <a:ext cx="4160160" cy="12798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54" name="Shape 20"/>
          <p:cNvSpPr/>
          <p:nvPr/>
        </p:nvSpPr>
        <p:spPr>
          <a:xfrm>
            <a:off x="320040" y="2203560"/>
            <a:ext cx="4160160" cy="3470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55" name="Text 21"/>
          <p:cNvSpPr/>
          <p:nvPr/>
        </p:nvSpPr>
        <p:spPr>
          <a:xfrm>
            <a:off x="411480" y="22586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Z-Wave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2"/>
          <p:cNvSpPr/>
          <p:nvPr/>
        </p:nvSpPr>
        <p:spPr>
          <a:xfrm>
            <a:off x="411480" y="260604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Zasięg: 30 m (max 4 hopy)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3"/>
          <p:cNvSpPr/>
          <p:nvPr/>
        </p:nvSpPr>
        <p:spPr>
          <a:xfrm>
            <a:off x="411480" y="279792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Pasmo: 100 kbps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4"/>
          <p:cNvSpPr/>
          <p:nvPr/>
        </p:nvSpPr>
        <p:spPr>
          <a:xfrm>
            <a:off x="411480" y="299016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Energia: Niskie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5"/>
          <p:cNvSpPr/>
          <p:nvPr/>
        </p:nvSpPr>
        <p:spPr>
          <a:xfrm>
            <a:off x="411480" y="317304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Smart home — mniejsze zakłócenia od Wi-Fi, dedykowany ekosystem (do 232 urządzeń)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6"/>
          <p:cNvSpPr/>
          <p:nvPr/>
        </p:nvSpPr>
        <p:spPr>
          <a:xfrm>
            <a:off x="4709160" y="2203560"/>
            <a:ext cx="4160160" cy="12798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61" name="Shape 27"/>
          <p:cNvSpPr/>
          <p:nvPr/>
        </p:nvSpPr>
        <p:spPr>
          <a:xfrm>
            <a:off x="4709160" y="2203560"/>
            <a:ext cx="4160160" cy="3470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62" name="Text 28"/>
          <p:cNvSpPr/>
          <p:nvPr/>
        </p:nvSpPr>
        <p:spPr>
          <a:xfrm>
            <a:off x="4800600" y="22586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Thread (OpenThread)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9"/>
          <p:cNvSpPr/>
          <p:nvPr/>
        </p:nvSpPr>
        <p:spPr>
          <a:xfrm>
            <a:off x="4800600" y="260604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Zasięg: Mesh — wiele hopów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30"/>
          <p:cNvSpPr/>
          <p:nvPr/>
        </p:nvSpPr>
        <p:spPr>
          <a:xfrm>
            <a:off x="4800600" y="279792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Pasmo: 250 kbps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1"/>
          <p:cNvSpPr/>
          <p:nvPr/>
        </p:nvSpPr>
        <p:spPr>
          <a:xfrm>
            <a:off x="4800600" y="299016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Energia: Bardzo niskie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2"/>
          <p:cNvSpPr/>
          <p:nvPr/>
        </p:nvSpPr>
        <p:spPr>
          <a:xfrm>
            <a:off x="4800600" y="317304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Matter (Apple/Google/Amazon) — nowy standard smart home, urządzenia IPv6-native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33"/>
          <p:cNvSpPr/>
          <p:nvPr/>
        </p:nvSpPr>
        <p:spPr>
          <a:xfrm>
            <a:off x="320040" y="3602880"/>
            <a:ext cx="4160160" cy="12798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68" name="Shape 34"/>
          <p:cNvSpPr/>
          <p:nvPr/>
        </p:nvSpPr>
        <p:spPr>
          <a:xfrm>
            <a:off x="320040" y="3602880"/>
            <a:ext cx="4160160" cy="3470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69" name="Text 35"/>
          <p:cNvSpPr/>
          <p:nvPr/>
        </p:nvSpPr>
        <p:spPr>
          <a:xfrm>
            <a:off x="411480" y="365760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LoRaWAN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36"/>
          <p:cNvSpPr/>
          <p:nvPr/>
        </p:nvSpPr>
        <p:spPr>
          <a:xfrm>
            <a:off x="411480" y="400500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Zasięg: do 15 km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37"/>
          <p:cNvSpPr/>
          <p:nvPr/>
        </p:nvSpPr>
        <p:spPr>
          <a:xfrm>
            <a:off x="411480" y="41972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Pasmo: 0.3–50 kbps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38"/>
          <p:cNvSpPr/>
          <p:nvPr/>
        </p:nvSpPr>
        <p:spPr>
          <a:xfrm>
            <a:off x="411480" y="438912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0ea5e9"/>
                </a:solidFill>
                <a:effectLst/>
                <a:uFillTx/>
                <a:latin typeface="Calibri"/>
                <a:ea typeface="Calibri"/>
              </a:rPr>
              <a:t>Energia: Ekstremalnie niskie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39"/>
          <p:cNvSpPr/>
          <p:nvPr/>
        </p:nvSpPr>
        <p:spPr>
          <a:xfrm>
            <a:off x="411480" y="457200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Monitoring infrastruktury, rolnictwo precision, smart city, urządzenia bateryjne na lata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40"/>
          <p:cNvSpPr/>
          <p:nvPr/>
        </p:nvSpPr>
        <p:spPr>
          <a:xfrm>
            <a:off x="4709160" y="3602880"/>
            <a:ext cx="4160160" cy="12798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75" name="Shape 41"/>
          <p:cNvSpPr/>
          <p:nvPr/>
        </p:nvSpPr>
        <p:spPr>
          <a:xfrm>
            <a:off x="4709160" y="3602880"/>
            <a:ext cx="4160160" cy="34704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76" name="Text 42"/>
          <p:cNvSpPr/>
          <p:nvPr/>
        </p:nvSpPr>
        <p:spPr>
          <a:xfrm>
            <a:off x="4800600" y="365760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NB-IoT / LTE-M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43"/>
          <p:cNvSpPr/>
          <p:nvPr/>
        </p:nvSpPr>
        <p:spPr>
          <a:xfrm>
            <a:off x="4800600" y="400500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Zasięg: Sieć komórkowa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44"/>
          <p:cNvSpPr/>
          <p:nvPr/>
        </p:nvSpPr>
        <p:spPr>
          <a:xfrm>
            <a:off x="4800600" y="41972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Pasmo: 200 kbps / 1 Mbps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45"/>
          <p:cNvSpPr/>
          <p:nvPr/>
        </p:nvSpPr>
        <p:spPr>
          <a:xfrm>
            <a:off x="4800600" y="438912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a2547"/>
                </a:solidFill>
                <a:effectLst/>
                <a:uFillTx/>
                <a:latin typeface="Calibri"/>
                <a:ea typeface="Calibri"/>
              </a:rPr>
              <a:t>Energia: Niskie–średnie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46"/>
          <p:cNvSpPr/>
          <p:nvPr/>
        </p:nvSpPr>
        <p:spPr>
          <a:xfrm>
            <a:off x="4800600" y="457200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Liczniki mediów, tracking pojazdów, monitoring obszarów bez Wi-Fi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82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83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Android Development dla IoT: architektura MVVM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385" name="Text 5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Rekomendowana architektura aplikacji Android IoT oparta na Jetpack i Clean Architecture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6" name="Grupa 7"/>
          <p:cNvGrpSpPr/>
          <p:nvPr/>
        </p:nvGrpSpPr>
        <p:grpSpPr>
          <a:xfrm>
            <a:off x="140040" y="1260720"/>
            <a:ext cx="2011320" cy="2323440"/>
            <a:chOff x="140040" y="1260720"/>
            <a:chExt cx="2011320" cy="2323440"/>
          </a:xfrm>
        </p:grpSpPr>
        <p:sp>
          <p:nvSpPr>
            <p:cNvPr id="387" name="Shape 6"/>
            <p:cNvSpPr/>
            <p:nvPr/>
          </p:nvSpPr>
          <p:spPr>
            <a:xfrm>
              <a:off x="140040" y="1260720"/>
              <a:ext cx="2011320" cy="327600"/>
            </a:xfrm>
            <a:prstGeom prst="rect">
              <a:avLst/>
            </a:prstGeom>
            <a:solidFill>
              <a:srgbClr val="0ea5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UI Layer (View)</a:t>
              </a:r>
              <a:endParaRPr lang="pl-PL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Shape 8"/>
            <p:cNvSpPr/>
            <p:nvPr/>
          </p:nvSpPr>
          <p:spPr>
            <a:xfrm>
              <a:off x="140040" y="1572840"/>
              <a:ext cx="2011320" cy="201132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e2e8f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6120" rIns="96120" tIns="51120" bIns="51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389" name="Text 10"/>
            <p:cNvSpPr/>
            <p:nvPr/>
          </p:nvSpPr>
          <p:spPr>
            <a:xfrm>
              <a:off x="322920" y="1664280"/>
              <a:ext cx="1782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Compose / XML Layouts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Text 12"/>
            <p:cNvSpPr/>
            <p:nvPr/>
          </p:nvSpPr>
          <p:spPr>
            <a:xfrm>
              <a:off x="322920" y="2121480"/>
              <a:ext cx="1782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ViewModel (StateFlow)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Text 14"/>
            <p:cNvSpPr/>
            <p:nvPr/>
          </p:nvSpPr>
          <p:spPr>
            <a:xfrm>
              <a:off x="322920" y="2578680"/>
              <a:ext cx="1782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Navigation Component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Text 16"/>
            <p:cNvSpPr/>
            <p:nvPr/>
          </p:nvSpPr>
          <p:spPr>
            <a:xfrm>
              <a:off x="322920" y="3035880"/>
              <a:ext cx="1782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DataBinding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Shape 9"/>
            <p:cNvSpPr/>
            <p:nvPr/>
          </p:nvSpPr>
          <p:spPr>
            <a:xfrm>
              <a:off x="231480" y="1645920"/>
              <a:ext cx="36360" cy="273960"/>
            </a:xfrm>
            <a:prstGeom prst="rect">
              <a:avLst/>
            </a:prstGeom>
            <a:solidFill>
              <a:srgbClr val="0ea5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394" name="Shape 11"/>
            <p:cNvSpPr/>
            <p:nvPr/>
          </p:nvSpPr>
          <p:spPr>
            <a:xfrm>
              <a:off x="231480" y="2103120"/>
              <a:ext cx="36360" cy="273960"/>
            </a:xfrm>
            <a:prstGeom prst="rect">
              <a:avLst/>
            </a:prstGeom>
            <a:solidFill>
              <a:srgbClr val="0ea5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395" name="Shape 13"/>
            <p:cNvSpPr/>
            <p:nvPr/>
          </p:nvSpPr>
          <p:spPr>
            <a:xfrm>
              <a:off x="231480" y="2560320"/>
              <a:ext cx="36360" cy="273960"/>
            </a:xfrm>
            <a:prstGeom prst="rect">
              <a:avLst/>
            </a:prstGeom>
            <a:solidFill>
              <a:srgbClr val="0ea5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396" name="Shape 15"/>
            <p:cNvSpPr/>
            <p:nvPr/>
          </p:nvSpPr>
          <p:spPr>
            <a:xfrm>
              <a:off x="231480" y="3017520"/>
              <a:ext cx="36360" cy="273960"/>
            </a:xfrm>
            <a:prstGeom prst="rect">
              <a:avLst/>
            </a:prstGeom>
            <a:solidFill>
              <a:srgbClr val="0ea5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</p:grpSp>
      <p:sp>
        <p:nvSpPr>
          <p:cNvPr id="397" name="Shape 17"/>
          <p:cNvSpPr/>
          <p:nvPr/>
        </p:nvSpPr>
        <p:spPr>
          <a:xfrm>
            <a:off x="2259720" y="2578680"/>
            <a:ext cx="118440" cy="360"/>
          </a:xfrm>
          <a:custGeom>
            <a:avLst/>
            <a:gdLst>
              <a:gd name="textAreaLeft" fmla="*/ 0 w 118440"/>
              <a:gd name="textAreaRight" fmla="*/ 118800 w 118440"/>
              <a:gd name="textAreaTop" fmla="*/ 0 h 360"/>
              <a:gd name="textAreaBottom" fmla="*/ 720 h 36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330" h="31">
                <a:moveTo>
                  <a:pt x="0" y="0"/>
                </a:moveTo>
                <a:lnTo>
                  <a:pt x="330" y="2"/>
                </a:lnTo>
              </a:path>
            </a:pathLst>
          </a:custGeom>
          <a:noFill/>
          <a:ln w="25560">
            <a:solidFill>
              <a:srgbClr val="64748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600" rIns="10260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grpSp>
        <p:nvGrpSpPr>
          <p:cNvPr id="398" name="Grupa 19"/>
          <p:cNvGrpSpPr/>
          <p:nvPr/>
        </p:nvGrpSpPr>
        <p:grpSpPr>
          <a:xfrm>
            <a:off x="2414520" y="1260720"/>
            <a:ext cx="2011320" cy="2323440"/>
            <a:chOff x="2414520" y="1260720"/>
            <a:chExt cx="2011320" cy="2323440"/>
          </a:xfrm>
        </p:grpSpPr>
        <p:sp>
          <p:nvSpPr>
            <p:cNvPr id="399" name="Shape 18"/>
            <p:cNvSpPr/>
            <p:nvPr/>
          </p:nvSpPr>
          <p:spPr>
            <a:xfrm>
              <a:off x="2414520" y="1260720"/>
              <a:ext cx="2011320" cy="327600"/>
            </a:xfrm>
            <a:prstGeom prst="rect">
              <a:avLst/>
            </a:prstGeom>
            <a:solidFill>
              <a:srgbClr val="1e5fa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Domain Layer</a:t>
              </a:r>
              <a:endParaRPr lang="pl-PL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Shape 20"/>
            <p:cNvSpPr/>
            <p:nvPr/>
          </p:nvSpPr>
          <p:spPr>
            <a:xfrm>
              <a:off x="2414520" y="1572840"/>
              <a:ext cx="2011320" cy="201132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e2e8f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6120" rIns="96120" tIns="51120" bIns="51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401" name="Text 22"/>
            <p:cNvSpPr/>
            <p:nvPr/>
          </p:nvSpPr>
          <p:spPr>
            <a:xfrm>
              <a:off x="2597400" y="1664280"/>
              <a:ext cx="1782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UseCases / Interactors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Text 24"/>
            <p:cNvSpPr/>
            <p:nvPr/>
          </p:nvSpPr>
          <p:spPr>
            <a:xfrm>
              <a:off x="2597400" y="2121480"/>
              <a:ext cx="1782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Domain Models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Text 26"/>
            <p:cNvSpPr/>
            <p:nvPr/>
          </p:nvSpPr>
          <p:spPr>
            <a:xfrm>
              <a:off x="2597400" y="2578680"/>
              <a:ext cx="1782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Repository Interfaces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Text 28"/>
            <p:cNvSpPr/>
            <p:nvPr/>
          </p:nvSpPr>
          <p:spPr>
            <a:xfrm>
              <a:off x="2597400" y="3035880"/>
              <a:ext cx="1782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Business Logic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Shape 21"/>
            <p:cNvSpPr/>
            <p:nvPr/>
          </p:nvSpPr>
          <p:spPr>
            <a:xfrm>
              <a:off x="2505960" y="1645920"/>
              <a:ext cx="36360" cy="273960"/>
            </a:xfrm>
            <a:prstGeom prst="rect">
              <a:avLst/>
            </a:prstGeom>
            <a:solidFill>
              <a:srgbClr val="1e5fa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406" name="Shape 23"/>
            <p:cNvSpPr/>
            <p:nvPr/>
          </p:nvSpPr>
          <p:spPr>
            <a:xfrm>
              <a:off x="2505960" y="2103120"/>
              <a:ext cx="36360" cy="273960"/>
            </a:xfrm>
            <a:prstGeom prst="rect">
              <a:avLst/>
            </a:prstGeom>
            <a:solidFill>
              <a:srgbClr val="1e5fa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407" name="Shape 25"/>
            <p:cNvSpPr/>
            <p:nvPr/>
          </p:nvSpPr>
          <p:spPr>
            <a:xfrm>
              <a:off x="2505960" y="2560320"/>
              <a:ext cx="36360" cy="273960"/>
            </a:xfrm>
            <a:prstGeom prst="rect">
              <a:avLst/>
            </a:prstGeom>
            <a:solidFill>
              <a:srgbClr val="1e5fa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408" name="Shape 27"/>
            <p:cNvSpPr/>
            <p:nvPr/>
          </p:nvSpPr>
          <p:spPr>
            <a:xfrm>
              <a:off x="2505960" y="3017520"/>
              <a:ext cx="36360" cy="273960"/>
            </a:xfrm>
            <a:prstGeom prst="rect">
              <a:avLst/>
            </a:prstGeom>
            <a:solidFill>
              <a:srgbClr val="1e5fa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</p:grpSp>
      <p:sp>
        <p:nvSpPr>
          <p:cNvPr id="409" name="Shape 29"/>
          <p:cNvSpPr/>
          <p:nvPr/>
        </p:nvSpPr>
        <p:spPr>
          <a:xfrm>
            <a:off x="4462200" y="2578680"/>
            <a:ext cx="118440" cy="360"/>
          </a:xfrm>
          <a:custGeom>
            <a:avLst/>
            <a:gdLst>
              <a:gd name="textAreaLeft" fmla="*/ 0 w 118440"/>
              <a:gd name="textAreaRight" fmla="*/ 118800 w 118440"/>
              <a:gd name="textAreaTop" fmla="*/ 0 h 360"/>
              <a:gd name="textAreaBottom" fmla="*/ 720 h 36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330" h="31">
                <a:moveTo>
                  <a:pt x="0" y="0"/>
                </a:moveTo>
                <a:lnTo>
                  <a:pt x="330" y="2"/>
                </a:lnTo>
              </a:path>
            </a:pathLst>
          </a:custGeom>
          <a:noFill/>
          <a:ln w="25560">
            <a:solidFill>
              <a:srgbClr val="64748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600" rIns="10260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grpSp>
        <p:nvGrpSpPr>
          <p:cNvPr id="410" name="Grupa 31"/>
          <p:cNvGrpSpPr/>
          <p:nvPr/>
        </p:nvGrpSpPr>
        <p:grpSpPr>
          <a:xfrm>
            <a:off x="4653000" y="1260720"/>
            <a:ext cx="2011320" cy="2323440"/>
            <a:chOff x="4653000" y="1260720"/>
            <a:chExt cx="2011320" cy="2323440"/>
          </a:xfrm>
        </p:grpSpPr>
        <p:sp>
          <p:nvSpPr>
            <p:cNvPr id="411" name="Shape 30"/>
            <p:cNvSpPr/>
            <p:nvPr/>
          </p:nvSpPr>
          <p:spPr>
            <a:xfrm>
              <a:off x="4653000" y="1260720"/>
              <a:ext cx="2011320" cy="327600"/>
            </a:xfrm>
            <a:prstGeom prst="rect">
              <a:avLst/>
            </a:prstGeom>
            <a:solidFill>
              <a:srgbClr val="0d94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Data Layer</a:t>
              </a:r>
              <a:endParaRPr lang="pl-PL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Shape 32"/>
            <p:cNvSpPr/>
            <p:nvPr/>
          </p:nvSpPr>
          <p:spPr>
            <a:xfrm>
              <a:off x="4653000" y="1572840"/>
              <a:ext cx="2011320" cy="201132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e2e8f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6120" rIns="96120" tIns="51120" bIns="51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413" name="Text 34"/>
            <p:cNvSpPr/>
            <p:nvPr/>
          </p:nvSpPr>
          <p:spPr>
            <a:xfrm>
              <a:off x="4835880" y="1664280"/>
              <a:ext cx="1782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Repository Impl.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Text 36"/>
            <p:cNvSpPr/>
            <p:nvPr/>
          </p:nvSpPr>
          <p:spPr>
            <a:xfrm>
              <a:off x="4835880" y="2121480"/>
              <a:ext cx="1782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Remote (Retrofit/MQTT)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Text 38"/>
            <p:cNvSpPr/>
            <p:nvPr/>
          </p:nvSpPr>
          <p:spPr>
            <a:xfrm>
              <a:off x="4835880" y="2578680"/>
              <a:ext cx="1782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Local (Room Database)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Text 40"/>
            <p:cNvSpPr/>
            <p:nvPr/>
          </p:nvSpPr>
          <p:spPr>
            <a:xfrm>
              <a:off x="4835880" y="3035880"/>
              <a:ext cx="1782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WorkManager (background)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Shape 33"/>
            <p:cNvSpPr/>
            <p:nvPr/>
          </p:nvSpPr>
          <p:spPr>
            <a:xfrm>
              <a:off x="4708440" y="1645920"/>
              <a:ext cx="36360" cy="273960"/>
            </a:xfrm>
            <a:prstGeom prst="rect">
              <a:avLst/>
            </a:prstGeom>
            <a:solidFill>
              <a:srgbClr val="0d94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418" name="Shape 35"/>
            <p:cNvSpPr/>
            <p:nvPr/>
          </p:nvSpPr>
          <p:spPr>
            <a:xfrm>
              <a:off x="4708440" y="2103120"/>
              <a:ext cx="36360" cy="273960"/>
            </a:xfrm>
            <a:prstGeom prst="rect">
              <a:avLst/>
            </a:prstGeom>
            <a:solidFill>
              <a:srgbClr val="0d94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419" name="Shape 37"/>
            <p:cNvSpPr/>
            <p:nvPr/>
          </p:nvSpPr>
          <p:spPr>
            <a:xfrm>
              <a:off x="4708440" y="2560320"/>
              <a:ext cx="36360" cy="273960"/>
            </a:xfrm>
            <a:prstGeom prst="rect">
              <a:avLst/>
            </a:prstGeom>
            <a:solidFill>
              <a:srgbClr val="0d94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420" name="Shape 39"/>
            <p:cNvSpPr/>
            <p:nvPr/>
          </p:nvSpPr>
          <p:spPr>
            <a:xfrm>
              <a:off x="4708440" y="3017520"/>
              <a:ext cx="36360" cy="273960"/>
            </a:xfrm>
            <a:prstGeom prst="rect">
              <a:avLst/>
            </a:prstGeom>
            <a:solidFill>
              <a:srgbClr val="0d94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</p:grpSp>
      <p:sp>
        <p:nvSpPr>
          <p:cNvPr id="421" name="Shape 41"/>
          <p:cNvSpPr/>
          <p:nvPr/>
        </p:nvSpPr>
        <p:spPr>
          <a:xfrm>
            <a:off x="6700680" y="2578680"/>
            <a:ext cx="118440" cy="360"/>
          </a:xfrm>
          <a:custGeom>
            <a:avLst/>
            <a:gdLst>
              <a:gd name="textAreaLeft" fmla="*/ 0 w 118440"/>
              <a:gd name="textAreaRight" fmla="*/ 118800 w 118440"/>
              <a:gd name="textAreaTop" fmla="*/ 0 h 360"/>
              <a:gd name="textAreaBottom" fmla="*/ 720 h 36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330" h="31">
                <a:moveTo>
                  <a:pt x="0" y="0"/>
                </a:moveTo>
                <a:lnTo>
                  <a:pt x="330" y="2"/>
                </a:lnTo>
              </a:path>
            </a:pathLst>
          </a:custGeom>
          <a:noFill/>
          <a:ln w="25560">
            <a:solidFill>
              <a:srgbClr val="64748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600" rIns="102600" tIns="360" bIns="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grpSp>
        <p:nvGrpSpPr>
          <p:cNvPr id="422" name="Grupa 43"/>
          <p:cNvGrpSpPr/>
          <p:nvPr/>
        </p:nvGrpSpPr>
        <p:grpSpPr>
          <a:xfrm>
            <a:off x="6891840" y="1260720"/>
            <a:ext cx="2011320" cy="2323440"/>
            <a:chOff x="6891840" y="1260720"/>
            <a:chExt cx="2011320" cy="2323440"/>
          </a:xfrm>
        </p:grpSpPr>
        <p:sp>
          <p:nvSpPr>
            <p:cNvPr id="423" name="Shape 42"/>
            <p:cNvSpPr/>
            <p:nvPr/>
          </p:nvSpPr>
          <p:spPr>
            <a:xfrm>
              <a:off x="6891840" y="1260720"/>
              <a:ext cx="2011320" cy="327600"/>
            </a:xfrm>
            <a:prstGeom prst="rect">
              <a:avLst/>
            </a:prstGeom>
            <a:solidFill>
              <a:srgbClr val="1a254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600" b="1" u="none" strike="noStrike">
                  <a:solidFill>
                    <a:srgbClr val="ffffff"/>
                  </a:solidFill>
                  <a:effectLst/>
                  <a:uFillTx/>
                  <a:latin typeface="Cambria"/>
                  <a:ea typeface="Cambria"/>
                </a:rPr>
                <a:t>IoT Integration</a:t>
              </a:r>
              <a:endParaRPr lang="pl-PL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Shape 44"/>
            <p:cNvSpPr/>
            <p:nvPr/>
          </p:nvSpPr>
          <p:spPr>
            <a:xfrm>
              <a:off x="6891840" y="1572840"/>
              <a:ext cx="2011320" cy="201132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e2e8f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6120" rIns="96120" tIns="51120" bIns="51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425" name="Shape 45"/>
            <p:cNvSpPr/>
            <p:nvPr/>
          </p:nvSpPr>
          <p:spPr>
            <a:xfrm>
              <a:off x="6983280" y="1645920"/>
              <a:ext cx="36360" cy="273960"/>
            </a:xfrm>
            <a:prstGeom prst="rect">
              <a:avLst/>
            </a:prstGeom>
            <a:solidFill>
              <a:srgbClr val="1a254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426" name="Text 46"/>
            <p:cNvSpPr/>
            <p:nvPr/>
          </p:nvSpPr>
          <p:spPr>
            <a:xfrm>
              <a:off x="7074720" y="1664280"/>
              <a:ext cx="1782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BLE Manager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Shape 47"/>
            <p:cNvSpPr/>
            <p:nvPr/>
          </p:nvSpPr>
          <p:spPr>
            <a:xfrm>
              <a:off x="6983280" y="2103120"/>
              <a:ext cx="36360" cy="273960"/>
            </a:xfrm>
            <a:prstGeom prst="rect">
              <a:avLst/>
            </a:prstGeom>
            <a:solidFill>
              <a:srgbClr val="1a254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428" name="Text 48"/>
            <p:cNvSpPr/>
            <p:nvPr/>
          </p:nvSpPr>
          <p:spPr>
            <a:xfrm>
              <a:off x="7074720" y="2121480"/>
              <a:ext cx="1782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MQTT Client Service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9" name="Shape 49"/>
            <p:cNvSpPr/>
            <p:nvPr/>
          </p:nvSpPr>
          <p:spPr>
            <a:xfrm>
              <a:off x="6983280" y="2560320"/>
              <a:ext cx="36360" cy="273960"/>
            </a:xfrm>
            <a:prstGeom prst="rect">
              <a:avLst/>
            </a:prstGeom>
            <a:solidFill>
              <a:srgbClr val="1a254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430" name="Text 50"/>
            <p:cNvSpPr/>
            <p:nvPr/>
          </p:nvSpPr>
          <p:spPr>
            <a:xfrm>
              <a:off x="7074720" y="2578680"/>
              <a:ext cx="1782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Sensor Data Parser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1" name="Shape 51"/>
            <p:cNvSpPr/>
            <p:nvPr/>
          </p:nvSpPr>
          <p:spPr>
            <a:xfrm>
              <a:off x="6983280" y="3017520"/>
              <a:ext cx="36360" cy="273960"/>
            </a:xfrm>
            <a:prstGeom prst="rect">
              <a:avLst/>
            </a:prstGeom>
            <a:solidFill>
              <a:srgbClr val="1a254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432" name="Text 52"/>
            <p:cNvSpPr/>
            <p:nvPr/>
          </p:nvSpPr>
          <p:spPr>
            <a:xfrm>
              <a:off x="7074720" y="3035880"/>
              <a:ext cx="178272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3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OTA Update Manager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3" name="Text 53"/>
          <p:cNvSpPr/>
          <p:nvPr/>
        </p:nvSpPr>
        <p:spPr>
          <a:xfrm>
            <a:off x="320040" y="370332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Kluczowe biblioteki Jetpack dla IoT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54"/>
          <p:cNvSpPr/>
          <p:nvPr/>
        </p:nvSpPr>
        <p:spPr>
          <a:xfrm>
            <a:off x="320040" y="4041720"/>
            <a:ext cx="1325520" cy="658080"/>
          </a:xfrm>
          <a:custGeom>
            <a:avLst/>
            <a:gdLst>
              <a:gd name="textAreaLeft" fmla="*/ 21240 w 1325520"/>
              <a:gd name="textAreaRight" fmla="*/ 1304280 w 1325520"/>
              <a:gd name="textAreaTop" fmla="*/ 21240 h 658080"/>
              <a:gd name="textAreaBottom" fmla="*/ 636840 h 65808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683" h="1919">
                <a:moveTo>
                  <a:pt x="203" y="0"/>
                </a:moveTo>
                <a:arcTo wR="203.222222222222" hR="203.222222222222" stAng="16200000" swAng="-5400000"/>
                <a:lnTo>
                  <a:pt x="0" y="1626"/>
                </a:lnTo>
                <a:arcTo wR="203.222222222222" hR="203.222222222222" stAng="10800000" swAng="-5400000"/>
                <a:lnTo>
                  <a:pt x="3480" y="1829"/>
                </a:lnTo>
                <a:arcTo wR="203.222222222222" hR="203.222222222222" stAng="5400000" swAng="-5400000"/>
                <a:lnTo>
                  <a:pt x="3683" y="203"/>
                </a:lnTo>
                <a:arcTo wR="203.222222222222" hR="203.222222222222" stAng="0" swAng="-5400000"/>
                <a:close/>
              </a:path>
            </a:pathLst>
          </a:cu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35" name="Text 55"/>
          <p:cNvSpPr/>
          <p:nvPr/>
        </p:nvSpPr>
        <p:spPr>
          <a:xfrm>
            <a:off x="320040" y="41058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Hilt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56"/>
          <p:cNvSpPr/>
          <p:nvPr/>
        </p:nvSpPr>
        <p:spPr>
          <a:xfrm>
            <a:off x="320040" y="436176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57"/>
          <p:cNvSpPr/>
          <p:nvPr/>
        </p:nvSpPr>
        <p:spPr>
          <a:xfrm>
            <a:off x="1737360" y="4041720"/>
            <a:ext cx="1325520" cy="658080"/>
          </a:xfrm>
          <a:custGeom>
            <a:avLst/>
            <a:gdLst>
              <a:gd name="textAreaLeft" fmla="*/ 21240 w 1325520"/>
              <a:gd name="textAreaRight" fmla="*/ 1304280 w 1325520"/>
              <a:gd name="textAreaTop" fmla="*/ 21240 h 658080"/>
              <a:gd name="textAreaBottom" fmla="*/ 636840 h 65808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683" h="1919">
                <a:moveTo>
                  <a:pt x="203" y="0"/>
                </a:moveTo>
                <a:arcTo wR="203.222222222222" hR="203.222222222222" stAng="16200000" swAng="-5400000"/>
                <a:lnTo>
                  <a:pt x="0" y="1626"/>
                </a:lnTo>
                <a:arcTo wR="203.222222222222" hR="203.222222222222" stAng="10800000" swAng="-5400000"/>
                <a:lnTo>
                  <a:pt x="3480" y="1829"/>
                </a:lnTo>
                <a:arcTo wR="203.222222222222" hR="203.222222222222" stAng="5400000" swAng="-5400000"/>
                <a:lnTo>
                  <a:pt x="3683" y="203"/>
                </a:lnTo>
                <a:arcTo wR="203.222222222222" hR="203.222222222222" stAng="0" swAng="-5400000"/>
                <a:close/>
              </a:path>
            </a:pathLst>
          </a:cu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38" name="Text 58"/>
          <p:cNvSpPr/>
          <p:nvPr/>
        </p:nvSpPr>
        <p:spPr>
          <a:xfrm>
            <a:off x="1737360" y="41058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Coroutines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59"/>
          <p:cNvSpPr/>
          <p:nvPr/>
        </p:nvSpPr>
        <p:spPr>
          <a:xfrm>
            <a:off x="1737360" y="436176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Async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60"/>
          <p:cNvSpPr/>
          <p:nvPr/>
        </p:nvSpPr>
        <p:spPr>
          <a:xfrm>
            <a:off x="3154680" y="4041720"/>
            <a:ext cx="1325520" cy="658080"/>
          </a:xfrm>
          <a:custGeom>
            <a:avLst/>
            <a:gdLst>
              <a:gd name="textAreaLeft" fmla="*/ 21240 w 1325520"/>
              <a:gd name="textAreaRight" fmla="*/ 1304280 w 1325520"/>
              <a:gd name="textAreaTop" fmla="*/ 21240 h 658080"/>
              <a:gd name="textAreaBottom" fmla="*/ 636840 h 65808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683" h="1919">
                <a:moveTo>
                  <a:pt x="203" y="0"/>
                </a:moveTo>
                <a:arcTo wR="203.222222222222" hR="203.222222222222" stAng="16200000" swAng="-5400000"/>
                <a:lnTo>
                  <a:pt x="0" y="1626"/>
                </a:lnTo>
                <a:arcTo wR="203.222222222222" hR="203.222222222222" stAng="10800000" swAng="-5400000"/>
                <a:lnTo>
                  <a:pt x="3480" y="1829"/>
                </a:lnTo>
                <a:arcTo wR="203.222222222222" hR="203.222222222222" stAng="5400000" swAng="-5400000"/>
                <a:lnTo>
                  <a:pt x="3683" y="203"/>
                </a:lnTo>
                <a:arcTo wR="203.222222222222" hR="203.222222222222" stAng="0" swAng="-5400000"/>
                <a:close/>
              </a:path>
            </a:pathLst>
          </a:cu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41" name="Text 61"/>
          <p:cNvSpPr/>
          <p:nvPr/>
        </p:nvSpPr>
        <p:spPr>
          <a:xfrm>
            <a:off x="3154680" y="41058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Room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62"/>
          <p:cNvSpPr/>
          <p:nvPr/>
        </p:nvSpPr>
        <p:spPr>
          <a:xfrm>
            <a:off x="3154680" y="436176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Lokalna DB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63"/>
          <p:cNvSpPr/>
          <p:nvPr/>
        </p:nvSpPr>
        <p:spPr>
          <a:xfrm>
            <a:off x="4572000" y="4041720"/>
            <a:ext cx="1325520" cy="658080"/>
          </a:xfrm>
          <a:custGeom>
            <a:avLst/>
            <a:gdLst>
              <a:gd name="textAreaLeft" fmla="*/ 21240 w 1325520"/>
              <a:gd name="textAreaRight" fmla="*/ 1304280 w 1325520"/>
              <a:gd name="textAreaTop" fmla="*/ 21240 h 658080"/>
              <a:gd name="textAreaBottom" fmla="*/ 636840 h 65808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683" h="1919">
                <a:moveTo>
                  <a:pt x="203" y="0"/>
                </a:moveTo>
                <a:arcTo wR="203.222222222222" hR="203.222222222222" stAng="16200000" swAng="-5400000"/>
                <a:lnTo>
                  <a:pt x="0" y="1626"/>
                </a:lnTo>
                <a:arcTo wR="203.222222222222" hR="203.222222222222" stAng="10800000" swAng="-5400000"/>
                <a:lnTo>
                  <a:pt x="3480" y="1829"/>
                </a:lnTo>
                <a:arcTo wR="203.222222222222" hR="203.222222222222" stAng="5400000" swAng="-5400000"/>
                <a:lnTo>
                  <a:pt x="3683" y="203"/>
                </a:lnTo>
                <a:arcTo wR="203.222222222222" hR="203.222222222222" stAng="0" swAng="-5400000"/>
                <a:close/>
              </a:path>
            </a:pathLst>
          </a:cu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44" name="Text 64"/>
          <p:cNvSpPr/>
          <p:nvPr/>
        </p:nvSpPr>
        <p:spPr>
          <a:xfrm>
            <a:off x="4572000" y="41058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WorkManager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65"/>
          <p:cNvSpPr/>
          <p:nvPr/>
        </p:nvSpPr>
        <p:spPr>
          <a:xfrm>
            <a:off x="4572000" y="436176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Background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66"/>
          <p:cNvSpPr/>
          <p:nvPr/>
        </p:nvSpPr>
        <p:spPr>
          <a:xfrm>
            <a:off x="5989320" y="4041720"/>
            <a:ext cx="1325520" cy="658080"/>
          </a:xfrm>
          <a:custGeom>
            <a:avLst/>
            <a:gdLst>
              <a:gd name="textAreaLeft" fmla="*/ 21240 w 1325520"/>
              <a:gd name="textAreaRight" fmla="*/ 1304280 w 1325520"/>
              <a:gd name="textAreaTop" fmla="*/ 21240 h 658080"/>
              <a:gd name="textAreaBottom" fmla="*/ 636840 h 65808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683" h="1919">
                <a:moveTo>
                  <a:pt x="203" y="0"/>
                </a:moveTo>
                <a:arcTo wR="203.222222222222" hR="203.222222222222" stAng="16200000" swAng="-5400000"/>
                <a:lnTo>
                  <a:pt x="0" y="1626"/>
                </a:lnTo>
                <a:arcTo wR="203.222222222222" hR="203.222222222222" stAng="10800000" swAng="-5400000"/>
                <a:lnTo>
                  <a:pt x="3480" y="1829"/>
                </a:lnTo>
                <a:arcTo wR="203.222222222222" hR="203.222222222222" stAng="5400000" swAng="-5400000"/>
                <a:lnTo>
                  <a:pt x="3683" y="203"/>
                </a:lnTo>
                <a:arcTo wR="203.222222222222" hR="203.222222222222" stAng="0" swAng="-5400000"/>
                <a:close/>
              </a:path>
            </a:pathLst>
          </a:cu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47" name="Text 67"/>
          <p:cNvSpPr/>
          <p:nvPr/>
        </p:nvSpPr>
        <p:spPr>
          <a:xfrm>
            <a:off x="5989320" y="41058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DataStore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68"/>
          <p:cNvSpPr/>
          <p:nvPr/>
        </p:nvSpPr>
        <p:spPr>
          <a:xfrm>
            <a:off x="5989320" y="436176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Preferences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69"/>
          <p:cNvSpPr/>
          <p:nvPr/>
        </p:nvSpPr>
        <p:spPr>
          <a:xfrm>
            <a:off x="7406640" y="4041720"/>
            <a:ext cx="1325520" cy="658080"/>
          </a:xfrm>
          <a:custGeom>
            <a:avLst/>
            <a:gdLst>
              <a:gd name="textAreaLeft" fmla="*/ 21240 w 1325520"/>
              <a:gd name="textAreaRight" fmla="*/ 1304280 w 1325520"/>
              <a:gd name="textAreaTop" fmla="*/ 21240 h 658080"/>
              <a:gd name="textAreaBottom" fmla="*/ 636840 h 65808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683" h="1919">
                <a:moveTo>
                  <a:pt x="203" y="0"/>
                </a:moveTo>
                <a:arcTo wR="203.222222222222" hR="203.222222222222" stAng="16200000" swAng="-5400000"/>
                <a:lnTo>
                  <a:pt x="0" y="1626"/>
                </a:lnTo>
                <a:arcTo wR="203.222222222222" hR="203.222222222222" stAng="10800000" swAng="-5400000"/>
                <a:lnTo>
                  <a:pt x="3480" y="1829"/>
                </a:lnTo>
                <a:arcTo wR="203.222222222222" hR="203.222222222222" stAng="5400000" swAng="-5400000"/>
                <a:lnTo>
                  <a:pt x="3683" y="203"/>
                </a:lnTo>
                <a:arcTo wR="203.222222222222" hR="203.222222222222" stAng="0" swAng="-5400000"/>
                <a:close/>
              </a:path>
            </a:pathLst>
          </a:cu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50" name="Text 70"/>
          <p:cNvSpPr/>
          <p:nvPr/>
        </p:nvSpPr>
        <p:spPr>
          <a:xfrm>
            <a:off x="7406640" y="410580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CameraX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71"/>
          <p:cNvSpPr/>
          <p:nvPr/>
        </p:nvSpPr>
        <p:spPr>
          <a:xfrm>
            <a:off x="7406640" y="4361760"/>
            <a:ext cx="132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AR/Vision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53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54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iOS Development dla IoT, Swift i Apple Frameworks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56" name="Text 5"/>
          <p:cNvSpPr/>
          <p:nvPr/>
        </p:nvSpPr>
        <p:spPr>
          <a:xfrm>
            <a:off x="320040" y="77724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Frameworki Apple dla IoT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6"/>
          <p:cNvSpPr/>
          <p:nvPr/>
        </p:nvSpPr>
        <p:spPr>
          <a:xfrm>
            <a:off x="320040" y="1097280"/>
            <a:ext cx="4160160" cy="694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58" name="Shape 7"/>
          <p:cNvSpPr/>
          <p:nvPr/>
        </p:nvSpPr>
        <p:spPr>
          <a:xfrm>
            <a:off x="320040" y="1097280"/>
            <a:ext cx="63720" cy="69444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59" name="Text 8"/>
          <p:cNvSpPr/>
          <p:nvPr/>
        </p:nvSpPr>
        <p:spPr>
          <a:xfrm>
            <a:off x="457200" y="109836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HomeKit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9"/>
          <p:cNvSpPr/>
          <p:nvPr/>
        </p:nvSpPr>
        <p:spPr>
          <a:xfrm>
            <a:off x="457200" y="1373400"/>
            <a:ext cx="3977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Oficjalne API Apple dla smart home — bezpieczna komunikacja z urządzeniami certyfikowanymi przez Apple (MFi)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10"/>
          <p:cNvSpPr/>
          <p:nvPr/>
        </p:nvSpPr>
        <p:spPr>
          <a:xfrm>
            <a:off x="320040" y="1865520"/>
            <a:ext cx="4160160" cy="694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62" name="Shape 11"/>
          <p:cNvSpPr/>
          <p:nvPr/>
        </p:nvSpPr>
        <p:spPr>
          <a:xfrm>
            <a:off x="320040" y="1865520"/>
            <a:ext cx="63720" cy="694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63" name="Text 12"/>
          <p:cNvSpPr/>
          <p:nvPr/>
        </p:nvSpPr>
        <p:spPr>
          <a:xfrm>
            <a:off x="457200" y="190260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CoreBluetooth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3"/>
          <p:cNvSpPr/>
          <p:nvPr/>
        </p:nvSpPr>
        <p:spPr>
          <a:xfrm>
            <a:off x="457200" y="2141280"/>
            <a:ext cx="397728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BLE scanning, pairing, GATT services discovery — pełna kontrola połączeń BLE na poziomie systemu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14"/>
          <p:cNvSpPr/>
          <p:nvPr/>
        </p:nvSpPr>
        <p:spPr>
          <a:xfrm>
            <a:off x="320040" y="2633400"/>
            <a:ext cx="4160160" cy="694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66" name="Shape 15"/>
          <p:cNvSpPr/>
          <p:nvPr/>
        </p:nvSpPr>
        <p:spPr>
          <a:xfrm>
            <a:off x="320040" y="2633400"/>
            <a:ext cx="63720" cy="6944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67" name="Text 16"/>
          <p:cNvSpPr/>
          <p:nvPr/>
        </p:nvSpPr>
        <p:spPr>
          <a:xfrm>
            <a:off x="457200" y="263448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Network.framework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7"/>
          <p:cNvSpPr/>
          <p:nvPr/>
        </p:nvSpPr>
        <p:spPr>
          <a:xfrm>
            <a:off x="457200" y="2909520"/>
            <a:ext cx="39772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TLS, TCP/UDP sockets, WebSocket — zastępuje BSD sockets nowoczesnym Swift API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8"/>
          <p:cNvSpPr/>
          <p:nvPr/>
        </p:nvSpPr>
        <p:spPr>
          <a:xfrm>
            <a:off x="320040" y="3401640"/>
            <a:ext cx="4160160" cy="694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70" name="Shape 19"/>
          <p:cNvSpPr/>
          <p:nvPr/>
        </p:nvSpPr>
        <p:spPr>
          <a:xfrm>
            <a:off x="320040" y="3401640"/>
            <a:ext cx="63720" cy="694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71" name="Text 20"/>
          <p:cNvSpPr/>
          <p:nvPr/>
        </p:nvSpPr>
        <p:spPr>
          <a:xfrm>
            <a:off x="457200" y="340272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Combine / async-await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21"/>
          <p:cNvSpPr/>
          <p:nvPr/>
        </p:nvSpPr>
        <p:spPr>
          <a:xfrm>
            <a:off x="457200" y="3677760"/>
            <a:ext cx="3977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Reaktywne strumienie danych z urządzeń IoT, asynchroniczne operacje sieciowe (URLSession async)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22"/>
          <p:cNvSpPr/>
          <p:nvPr/>
        </p:nvSpPr>
        <p:spPr>
          <a:xfrm>
            <a:off x="320040" y="4169520"/>
            <a:ext cx="4160160" cy="694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74" name="Shape 23"/>
          <p:cNvSpPr/>
          <p:nvPr/>
        </p:nvSpPr>
        <p:spPr>
          <a:xfrm>
            <a:off x="320040" y="4169520"/>
            <a:ext cx="63720" cy="69444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75" name="Text 24"/>
          <p:cNvSpPr/>
          <p:nvPr/>
        </p:nvSpPr>
        <p:spPr>
          <a:xfrm>
            <a:off x="457200" y="417096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Core Data + CloudKit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25"/>
          <p:cNvSpPr/>
          <p:nvPr/>
        </p:nvSpPr>
        <p:spPr>
          <a:xfrm>
            <a:off x="457200" y="4445640"/>
            <a:ext cx="397728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Lokalne przechowywanie danych telemetrycznych + synchronizacja z iCloud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26"/>
          <p:cNvSpPr/>
          <p:nvPr/>
        </p:nvSpPr>
        <p:spPr>
          <a:xfrm>
            <a:off x="5040000" y="777240"/>
            <a:ext cx="3829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Przykład CoreBluetooth (Swift)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27"/>
          <p:cNvSpPr/>
          <p:nvPr/>
        </p:nvSpPr>
        <p:spPr>
          <a:xfrm>
            <a:off x="5040000" y="1097280"/>
            <a:ext cx="3829320" cy="376236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79" name="Text 28"/>
          <p:cNvSpPr/>
          <p:nvPr/>
        </p:nvSpPr>
        <p:spPr>
          <a:xfrm>
            <a:off x="5220000" y="1170360"/>
            <a:ext cx="3603600" cy="33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class IoTManager: NSObject, CBCentralManagerDelegate,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CBPeripheralDelegate {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var centralManager: CBCentralManager!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var peripheral: CBPeripheral?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let sensorServiceUUID = CBUUID(string: "180D")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let tempCharUUID = CBUUID(string: "2A1C")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func centralManagerDidUpdateState(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_ central: CBCentralManager) {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if central.state == .poweredOn {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central.scanForPeripherals(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  withServices: [sensorServiceUUID])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func peripheral(_ peripheral: CBPeripheral,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didUpdateValueFor char: CBCharacteristic,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error: Error?) {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if let data = char.value {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let temp = data.withUnsafeBytes {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  $0.load(as: Int16.self)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}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DispatchQueue.main.async {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  self.temperature = Double(temp) / 100.0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}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81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82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Programowanie Cross-Platform dla IoT: Flutter i React Native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84" name="Text 5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Jedna baza kodu dla Android i iOS — kluczowe zalety przy ograniczonych zasobach zespołowych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6"/>
          <p:cNvSpPr/>
          <p:nvPr/>
        </p:nvSpPr>
        <p:spPr>
          <a:xfrm>
            <a:off x="320040" y="1170360"/>
            <a:ext cx="2742840" cy="38376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86" name="Text 7"/>
          <p:cNvSpPr/>
          <p:nvPr/>
        </p:nvSpPr>
        <p:spPr>
          <a:xfrm>
            <a:off x="320040" y="12160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Flutter (Dart)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8"/>
          <p:cNvSpPr/>
          <p:nvPr/>
        </p:nvSpPr>
        <p:spPr>
          <a:xfrm>
            <a:off x="320040" y="1554480"/>
            <a:ext cx="2742840" cy="30171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88" name="Shape 9"/>
          <p:cNvSpPr/>
          <p:nvPr/>
        </p:nvSpPr>
        <p:spPr>
          <a:xfrm>
            <a:off x="429840" y="16642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89" name="Text 10"/>
          <p:cNvSpPr/>
          <p:nvPr/>
        </p:nvSpPr>
        <p:spPr>
          <a:xfrm>
            <a:off x="621720" y="16459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Silnik Skia/Impeller — własne renderowanie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11"/>
          <p:cNvSpPr/>
          <p:nvPr/>
        </p:nvSpPr>
        <p:spPr>
          <a:xfrm>
            <a:off x="429840" y="21214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91" name="Text 12"/>
          <p:cNvSpPr/>
          <p:nvPr/>
        </p:nvSpPr>
        <p:spPr>
          <a:xfrm>
            <a:off x="621720" y="21031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Hot reload — szybkie iteracje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13"/>
          <p:cNvSpPr/>
          <p:nvPr/>
        </p:nvSpPr>
        <p:spPr>
          <a:xfrm>
            <a:off x="429840" y="25786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93" name="Text 14"/>
          <p:cNvSpPr/>
          <p:nvPr/>
        </p:nvSpPr>
        <p:spPr>
          <a:xfrm>
            <a:off x="621720" y="25603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flutter_blue_plus (BLE)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15"/>
          <p:cNvSpPr/>
          <p:nvPr/>
        </p:nvSpPr>
        <p:spPr>
          <a:xfrm>
            <a:off x="429840" y="30358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95" name="Text 16"/>
          <p:cNvSpPr/>
          <p:nvPr/>
        </p:nvSpPr>
        <p:spPr>
          <a:xfrm>
            <a:off x="621720" y="30175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mqtt_client package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17"/>
          <p:cNvSpPr/>
          <p:nvPr/>
        </p:nvSpPr>
        <p:spPr>
          <a:xfrm>
            <a:off x="429840" y="34930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97" name="Text 18"/>
          <p:cNvSpPr/>
          <p:nvPr/>
        </p:nvSpPr>
        <p:spPr>
          <a:xfrm>
            <a:off x="621720" y="34747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Doskonała wydajność UI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9"/>
          <p:cNvSpPr/>
          <p:nvPr/>
        </p:nvSpPr>
        <p:spPr>
          <a:xfrm>
            <a:off x="429840" y="39502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99" name="Text 20"/>
          <p:cNvSpPr/>
          <p:nvPr/>
        </p:nvSpPr>
        <p:spPr>
          <a:xfrm>
            <a:off x="621720" y="39319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Rosnące wsparcie IoT ecosystem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21"/>
          <p:cNvSpPr/>
          <p:nvPr/>
        </p:nvSpPr>
        <p:spPr>
          <a:xfrm>
            <a:off x="3200400" y="1170360"/>
            <a:ext cx="2742840" cy="3837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01" name="Text 22"/>
          <p:cNvSpPr/>
          <p:nvPr/>
        </p:nvSpPr>
        <p:spPr>
          <a:xfrm>
            <a:off x="3200400" y="12160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React Native (JS/TS)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23"/>
          <p:cNvSpPr/>
          <p:nvPr/>
        </p:nvSpPr>
        <p:spPr>
          <a:xfrm>
            <a:off x="3200400" y="1554480"/>
            <a:ext cx="2742840" cy="30171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03" name="Shape 24"/>
          <p:cNvSpPr/>
          <p:nvPr/>
        </p:nvSpPr>
        <p:spPr>
          <a:xfrm>
            <a:off x="3310200" y="16642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04" name="Text 25"/>
          <p:cNvSpPr/>
          <p:nvPr/>
        </p:nvSpPr>
        <p:spPr>
          <a:xfrm>
            <a:off x="3502080" y="16459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Bridge → JSI → Native Modules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6"/>
          <p:cNvSpPr/>
          <p:nvPr/>
        </p:nvSpPr>
        <p:spPr>
          <a:xfrm>
            <a:off x="3310200" y="21214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06" name="Text 27"/>
          <p:cNvSpPr/>
          <p:nvPr/>
        </p:nvSpPr>
        <p:spPr>
          <a:xfrm>
            <a:off x="3502080" y="21031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Ogromny ekosystem npm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Shape 28"/>
          <p:cNvSpPr/>
          <p:nvPr/>
        </p:nvSpPr>
        <p:spPr>
          <a:xfrm>
            <a:off x="3310200" y="25786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08" name="Text 29"/>
          <p:cNvSpPr/>
          <p:nvPr/>
        </p:nvSpPr>
        <p:spPr>
          <a:xfrm>
            <a:off x="3502080" y="25603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react-native-ble-plx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30"/>
          <p:cNvSpPr/>
          <p:nvPr/>
        </p:nvSpPr>
        <p:spPr>
          <a:xfrm>
            <a:off x="3310200" y="30358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10" name="Text 31"/>
          <p:cNvSpPr/>
          <p:nvPr/>
        </p:nvSpPr>
        <p:spPr>
          <a:xfrm>
            <a:off x="3502080" y="30175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Łatwiejsze dla web developerów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32"/>
          <p:cNvSpPr/>
          <p:nvPr/>
        </p:nvSpPr>
        <p:spPr>
          <a:xfrm>
            <a:off x="3310200" y="34930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12" name="Text 33"/>
          <p:cNvSpPr/>
          <p:nvPr/>
        </p:nvSpPr>
        <p:spPr>
          <a:xfrm>
            <a:off x="3502080" y="34747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Hermes engine (szybki JS)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34"/>
          <p:cNvSpPr/>
          <p:nvPr/>
        </p:nvSpPr>
        <p:spPr>
          <a:xfrm>
            <a:off x="3310200" y="39502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14" name="Text 35"/>
          <p:cNvSpPr/>
          <p:nvPr/>
        </p:nvSpPr>
        <p:spPr>
          <a:xfrm>
            <a:off x="3502080" y="39319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Expo — szybki start projektu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36"/>
          <p:cNvSpPr/>
          <p:nvPr/>
        </p:nvSpPr>
        <p:spPr>
          <a:xfrm>
            <a:off x="6080760" y="1170360"/>
            <a:ext cx="2742840" cy="3837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16" name="Text 37"/>
          <p:cNvSpPr/>
          <p:nvPr/>
        </p:nvSpPr>
        <p:spPr>
          <a:xfrm>
            <a:off x="6080760" y="12160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Kotlin Multiplatform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38"/>
          <p:cNvSpPr/>
          <p:nvPr/>
        </p:nvSpPr>
        <p:spPr>
          <a:xfrm>
            <a:off x="6080760" y="1554480"/>
            <a:ext cx="2742840" cy="30171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18" name="Shape 39"/>
          <p:cNvSpPr/>
          <p:nvPr/>
        </p:nvSpPr>
        <p:spPr>
          <a:xfrm>
            <a:off x="6190560" y="16642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19" name="Text 40"/>
          <p:cNvSpPr/>
          <p:nvPr/>
        </p:nvSpPr>
        <p:spPr>
          <a:xfrm>
            <a:off x="6382440" y="16459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Współdzielona logika biznesowa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41"/>
          <p:cNvSpPr/>
          <p:nvPr/>
        </p:nvSpPr>
        <p:spPr>
          <a:xfrm>
            <a:off x="6190560" y="21214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21" name="Text 42"/>
          <p:cNvSpPr/>
          <p:nvPr/>
        </p:nvSpPr>
        <p:spPr>
          <a:xfrm>
            <a:off x="6382440" y="21031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Native UI (Compose/SwiftUI)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43"/>
          <p:cNvSpPr/>
          <p:nvPr/>
        </p:nvSpPr>
        <p:spPr>
          <a:xfrm>
            <a:off x="6190560" y="25786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23" name="Text 44"/>
          <p:cNvSpPr/>
          <p:nvPr/>
        </p:nvSpPr>
        <p:spPr>
          <a:xfrm>
            <a:off x="6382440" y="25603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Ktor klient HTTP/WebSocket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45"/>
          <p:cNvSpPr/>
          <p:nvPr/>
        </p:nvSpPr>
        <p:spPr>
          <a:xfrm>
            <a:off x="6190560" y="30358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25" name="Text 46"/>
          <p:cNvSpPr/>
          <p:nvPr/>
        </p:nvSpPr>
        <p:spPr>
          <a:xfrm>
            <a:off x="6382440" y="30175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100% dostęp do natywnych API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47"/>
          <p:cNvSpPr/>
          <p:nvPr/>
        </p:nvSpPr>
        <p:spPr>
          <a:xfrm>
            <a:off x="6190560" y="34930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27" name="Text 48"/>
          <p:cNvSpPr/>
          <p:nvPr/>
        </p:nvSpPr>
        <p:spPr>
          <a:xfrm>
            <a:off x="6382440" y="34747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Najlepszy wybór dla krytycznych zastosowań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49"/>
          <p:cNvSpPr/>
          <p:nvPr/>
        </p:nvSpPr>
        <p:spPr>
          <a:xfrm>
            <a:off x="6190560" y="3950280"/>
            <a:ext cx="127800" cy="127800"/>
          </a:xfrm>
          <a:custGeom>
            <a:avLst/>
            <a:gdLst>
              <a:gd name="textAreaLeft" fmla="*/ 18720 w 127800"/>
              <a:gd name="textAreaRight" fmla="*/ 109080 w 127800"/>
              <a:gd name="textAreaTop" fmla="*/ 18720 h 127800"/>
              <a:gd name="textAreaBottom" fmla="*/ 109080 h 127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80" h="360">
                <a:moveTo>
                  <a:pt x="0" y="178"/>
                </a:moveTo>
                <a:arcTo wR="178" hR="178" stAng="10800000" swAng="21600000"/>
                <a:close/>
              </a:path>
            </a:pathLst>
          </a:cu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29" name="Text 50"/>
          <p:cNvSpPr/>
          <p:nvPr/>
        </p:nvSpPr>
        <p:spPr>
          <a:xfrm>
            <a:off x="6382440" y="393192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Wsparcie JetBrains + Google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51"/>
          <p:cNvSpPr/>
          <p:nvPr/>
        </p:nvSpPr>
        <p:spPr>
          <a:xfrm>
            <a:off x="320040" y="4617720"/>
            <a:ext cx="8503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Wskazówka: Dla projektu z intensywnym BLE i wymaganą wysoką wydajnością → Flutter lub KMP. Dla szybkich prototypów i dużych zespołów webowych → React Native.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32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33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Przetwarzanie Danych z Czujników w aplikacji mobilnej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35" name="Text 5"/>
          <p:cNvSpPr/>
          <p:nvPr/>
        </p:nvSpPr>
        <p:spPr>
          <a:xfrm>
            <a:off x="320040" y="7772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Pipeline przetwarzania danych IoT: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6"/>
          <p:cNvSpPr/>
          <p:nvPr/>
        </p:nvSpPr>
        <p:spPr>
          <a:xfrm>
            <a:off x="320040" y="1143000"/>
            <a:ext cx="2742840" cy="1261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37" name="Shape 7"/>
          <p:cNvSpPr/>
          <p:nvPr/>
        </p:nvSpPr>
        <p:spPr>
          <a:xfrm>
            <a:off x="320040" y="1143000"/>
            <a:ext cx="2742840" cy="3837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38" name="Text 8"/>
          <p:cNvSpPr/>
          <p:nvPr/>
        </p:nvSpPr>
        <p:spPr>
          <a:xfrm>
            <a:off x="411480" y="120708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1. Odbiór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9"/>
          <p:cNvSpPr/>
          <p:nvPr/>
        </p:nvSpPr>
        <p:spPr>
          <a:xfrm>
            <a:off x="411480" y="1600200"/>
            <a:ext cx="2605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BLE Callback / MQTT onMessage / WebSocket onMessage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10"/>
          <p:cNvSpPr/>
          <p:nvPr/>
        </p:nvSpPr>
        <p:spPr>
          <a:xfrm>
            <a:off x="3017520" y="150876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11"/>
          <p:cNvSpPr/>
          <p:nvPr/>
        </p:nvSpPr>
        <p:spPr>
          <a:xfrm>
            <a:off x="3200400" y="1143000"/>
            <a:ext cx="2742840" cy="1261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42" name="Shape 12"/>
          <p:cNvSpPr/>
          <p:nvPr/>
        </p:nvSpPr>
        <p:spPr>
          <a:xfrm>
            <a:off x="3200400" y="1143000"/>
            <a:ext cx="2742840" cy="38376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43" name="Text 13"/>
          <p:cNvSpPr/>
          <p:nvPr/>
        </p:nvSpPr>
        <p:spPr>
          <a:xfrm>
            <a:off x="3291840" y="120708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2. Parsowanie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14"/>
          <p:cNvSpPr/>
          <p:nvPr/>
        </p:nvSpPr>
        <p:spPr>
          <a:xfrm>
            <a:off x="3291840" y="1600200"/>
            <a:ext cx="2605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Deserializacja JSON/Protocol Buffers/CBOR → obiekt domenowy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15"/>
          <p:cNvSpPr/>
          <p:nvPr/>
        </p:nvSpPr>
        <p:spPr>
          <a:xfrm>
            <a:off x="5897880" y="150876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16"/>
          <p:cNvSpPr/>
          <p:nvPr/>
        </p:nvSpPr>
        <p:spPr>
          <a:xfrm>
            <a:off x="6080760" y="1143000"/>
            <a:ext cx="2742840" cy="1261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47" name="Shape 17"/>
          <p:cNvSpPr/>
          <p:nvPr/>
        </p:nvSpPr>
        <p:spPr>
          <a:xfrm>
            <a:off x="6080760" y="1143000"/>
            <a:ext cx="2742840" cy="3837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48" name="Text 18"/>
          <p:cNvSpPr/>
          <p:nvPr/>
        </p:nvSpPr>
        <p:spPr>
          <a:xfrm>
            <a:off x="6172200" y="120708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3. Walidacja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9"/>
          <p:cNvSpPr/>
          <p:nvPr/>
        </p:nvSpPr>
        <p:spPr>
          <a:xfrm>
            <a:off x="6172200" y="1600200"/>
            <a:ext cx="2605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Zakres wartości, timestamp, integralność danych, outlier detection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20"/>
          <p:cNvSpPr/>
          <p:nvPr/>
        </p:nvSpPr>
        <p:spPr>
          <a:xfrm>
            <a:off x="320040" y="2560320"/>
            <a:ext cx="2742840" cy="1261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51" name="Shape 21"/>
          <p:cNvSpPr/>
          <p:nvPr/>
        </p:nvSpPr>
        <p:spPr>
          <a:xfrm>
            <a:off x="320040" y="2560320"/>
            <a:ext cx="2742840" cy="3837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52" name="Text 22"/>
          <p:cNvSpPr/>
          <p:nvPr/>
        </p:nvSpPr>
        <p:spPr>
          <a:xfrm>
            <a:off x="411480" y="262440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4. Filtrowanie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23"/>
          <p:cNvSpPr/>
          <p:nvPr/>
        </p:nvSpPr>
        <p:spPr>
          <a:xfrm>
            <a:off x="411480" y="3017520"/>
            <a:ext cx="2605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Kalmański, moving average, Savitzky-Golay — redukcja szumu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24"/>
          <p:cNvSpPr/>
          <p:nvPr/>
        </p:nvSpPr>
        <p:spPr>
          <a:xfrm>
            <a:off x="3017520" y="292608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25"/>
          <p:cNvSpPr/>
          <p:nvPr/>
        </p:nvSpPr>
        <p:spPr>
          <a:xfrm>
            <a:off x="3200400" y="2560320"/>
            <a:ext cx="2742840" cy="1261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56" name="Shape 26"/>
          <p:cNvSpPr/>
          <p:nvPr/>
        </p:nvSpPr>
        <p:spPr>
          <a:xfrm>
            <a:off x="3200400" y="2560320"/>
            <a:ext cx="2742840" cy="3837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57" name="Text 27"/>
          <p:cNvSpPr/>
          <p:nvPr/>
        </p:nvSpPr>
        <p:spPr>
          <a:xfrm>
            <a:off x="3291840" y="262440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5. Agregacja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28"/>
          <p:cNvSpPr/>
          <p:nvPr/>
        </p:nvSpPr>
        <p:spPr>
          <a:xfrm>
            <a:off x="3291840" y="3017520"/>
            <a:ext cx="2605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Min/Max/Avg w oknie czasowym, downsampling przed wizualizacją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29"/>
          <p:cNvSpPr/>
          <p:nvPr/>
        </p:nvSpPr>
        <p:spPr>
          <a:xfrm>
            <a:off x="5897880" y="292608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›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30"/>
          <p:cNvSpPr/>
          <p:nvPr/>
        </p:nvSpPr>
        <p:spPr>
          <a:xfrm>
            <a:off x="6080760" y="2560320"/>
            <a:ext cx="2742840" cy="1261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61" name="Shape 31"/>
          <p:cNvSpPr/>
          <p:nvPr/>
        </p:nvSpPr>
        <p:spPr>
          <a:xfrm>
            <a:off x="6080760" y="2560320"/>
            <a:ext cx="2742840" cy="38376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62" name="Text 32"/>
          <p:cNvSpPr/>
          <p:nvPr/>
        </p:nvSpPr>
        <p:spPr>
          <a:xfrm>
            <a:off x="6172200" y="262440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6. Wizualizacja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33"/>
          <p:cNvSpPr/>
          <p:nvPr/>
        </p:nvSpPr>
        <p:spPr>
          <a:xfrm>
            <a:off x="6172200" y="3017520"/>
            <a:ext cx="2605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Wykres real-time (MPAndroidChart, Charts dla iOS), dashboard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34"/>
          <p:cNvSpPr/>
          <p:nvPr/>
        </p:nvSpPr>
        <p:spPr>
          <a:xfrm>
            <a:off x="320040" y="4298040"/>
            <a:ext cx="8503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Kluczowe formaty serializacji: JSON (czytelny, duże rozmiary) · Protocol Buffers (kompaktowy, schematowany) · CBOR (binarny JSON, standardowy dla CoAP) · MessagePack (wydajny)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66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67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Edge Computing w aplikacjach mobilnych IoT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69" name="Text 5"/>
          <p:cNvSpPr/>
          <p:nvPr/>
        </p:nvSpPr>
        <p:spPr>
          <a:xfrm>
            <a:off x="180000" y="777240"/>
            <a:ext cx="8597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Przetwarzanie danych bliżej źródła. Na urządzeniu mobilnym lub lokalnej bramie, zamiast w chmurze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6"/>
          <p:cNvSpPr/>
          <p:nvPr/>
        </p:nvSpPr>
        <p:spPr>
          <a:xfrm>
            <a:off x="320040" y="1458360"/>
            <a:ext cx="3819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Zalety edge computing dla IoT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71" name="Grupa 8"/>
          <p:cNvGrpSpPr/>
          <p:nvPr/>
        </p:nvGrpSpPr>
        <p:grpSpPr>
          <a:xfrm>
            <a:off x="320040" y="1760760"/>
            <a:ext cx="3819600" cy="719640"/>
            <a:chOff x="320040" y="1760760"/>
            <a:chExt cx="3819600" cy="719640"/>
          </a:xfrm>
        </p:grpSpPr>
        <p:grpSp>
          <p:nvGrpSpPr>
            <p:cNvPr id="572" name="Grupa 9"/>
            <p:cNvGrpSpPr/>
            <p:nvPr/>
          </p:nvGrpSpPr>
          <p:grpSpPr>
            <a:xfrm>
              <a:off x="320040" y="1760760"/>
              <a:ext cx="3819600" cy="719640"/>
              <a:chOff x="320040" y="1760760"/>
              <a:chExt cx="3819600" cy="719640"/>
            </a:xfrm>
          </p:grpSpPr>
          <p:sp>
            <p:nvSpPr>
              <p:cNvPr id="573" name="Shape 7"/>
              <p:cNvSpPr/>
              <p:nvPr/>
            </p:nvSpPr>
            <p:spPr>
              <a:xfrm>
                <a:off x="320040" y="1760760"/>
                <a:ext cx="3819600" cy="719640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e2e8f0"/>
                </a:solidFill>
                <a:miter/>
              </a:ln>
              <a:effectLst>
                <a:outerShdw algn="tl" dir="8100000" dist="25455">
                  <a:srgbClr val="000000">
                    <a:alpha val="8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6120" rIns="96120" tIns="51120" bIns="5112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pl-PL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Noto Sans CJK SC"/>
                </a:endParaRPr>
              </a:p>
            </p:txBody>
          </p:sp>
          <p:sp>
            <p:nvSpPr>
              <p:cNvPr id="574" name="Shape 8"/>
              <p:cNvSpPr/>
              <p:nvPr/>
            </p:nvSpPr>
            <p:spPr>
              <a:xfrm>
                <a:off x="320040" y="1760760"/>
                <a:ext cx="58320" cy="719640"/>
              </a:xfrm>
              <a:prstGeom prst="rect">
                <a:avLst/>
              </a:prstGeom>
              <a:solidFill>
                <a:srgbClr val="1e5fa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pl-PL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Noto Sans CJK SC"/>
                </a:endParaRPr>
              </a:p>
            </p:txBody>
          </p:sp>
        </p:grpSp>
        <p:sp>
          <p:nvSpPr>
            <p:cNvPr id="575" name="Text 9"/>
            <p:cNvSpPr/>
            <p:nvPr/>
          </p:nvSpPr>
          <p:spPr>
            <a:xfrm>
              <a:off x="446040" y="1761840"/>
              <a:ext cx="3651480" cy="26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500" b="1" u="none" strike="noStrike">
                  <a:solidFill>
                    <a:srgbClr val="0f172a"/>
                  </a:solidFill>
                  <a:effectLst/>
                  <a:uFillTx/>
                  <a:latin typeface="Cambria"/>
                  <a:ea typeface="Cambria"/>
                </a:rPr>
                <a:t>Niskie opóźnienie</a:t>
              </a:r>
              <a:endParaRPr lang="pl-PL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" name="Text 10"/>
            <p:cNvSpPr/>
            <p:nvPr/>
          </p:nvSpPr>
          <p:spPr>
            <a:xfrm>
              <a:off x="446040" y="2072880"/>
              <a:ext cx="365148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Przetwarzanie lokalne → latencja &lt; 10 ms vs. 50-200 ms dla chmury — krytyczne dla sterowania w czasie rzeczywistym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77" name="Grupa 14"/>
          <p:cNvGrpSpPr/>
          <p:nvPr/>
        </p:nvGrpSpPr>
        <p:grpSpPr>
          <a:xfrm>
            <a:off x="320040" y="2547720"/>
            <a:ext cx="3819600" cy="719640"/>
            <a:chOff x="320040" y="2547720"/>
            <a:chExt cx="3819600" cy="719640"/>
          </a:xfrm>
        </p:grpSpPr>
        <p:grpSp>
          <p:nvGrpSpPr>
            <p:cNvPr id="578" name="Grupa 15"/>
            <p:cNvGrpSpPr/>
            <p:nvPr/>
          </p:nvGrpSpPr>
          <p:grpSpPr>
            <a:xfrm>
              <a:off x="320040" y="2547720"/>
              <a:ext cx="3819600" cy="719640"/>
              <a:chOff x="320040" y="2547720"/>
              <a:chExt cx="3819600" cy="719640"/>
            </a:xfrm>
          </p:grpSpPr>
          <p:sp>
            <p:nvSpPr>
              <p:cNvPr id="579" name="Shape 11"/>
              <p:cNvSpPr/>
              <p:nvPr/>
            </p:nvSpPr>
            <p:spPr>
              <a:xfrm>
                <a:off x="320040" y="2547720"/>
                <a:ext cx="3819600" cy="719640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e2e8f0"/>
                </a:solidFill>
                <a:miter/>
              </a:ln>
              <a:effectLst>
                <a:outerShdw algn="tl" dir="8100000" dist="25455">
                  <a:srgbClr val="000000">
                    <a:alpha val="8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6120" rIns="96120" tIns="51120" bIns="5112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pl-PL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Noto Sans CJK SC"/>
                </a:endParaRPr>
              </a:p>
            </p:txBody>
          </p:sp>
          <p:sp>
            <p:nvSpPr>
              <p:cNvPr id="580" name="Shape 12"/>
              <p:cNvSpPr/>
              <p:nvPr/>
            </p:nvSpPr>
            <p:spPr>
              <a:xfrm>
                <a:off x="320040" y="2547720"/>
                <a:ext cx="58320" cy="719640"/>
              </a:xfrm>
              <a:prstGeom prst="rect">
                <a:avLst/>
              </a:prstGeom>
              <a:solidFill>
                <a:srgbClr val="0d948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pl-PL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Noto Sans CJK SC"/>
                </a:endParaRPr>
              </a:p>
            </p:txBody>
          </p:sp>
        </p:grpSp>
        <p:sp>
          <p:nvSpPr>
            <p:cNvPr id="581" name="Text 13"/>
            <p:cNvSpPr/>
            <p:nvPr/>
          </p:nvSpPr>
          <p:spPr>
            <a:xfrm>
              <a:off x="446040" y="2548800"/>
              <a:ext cx="3651480" cy="26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500" b="1" u="none" strike="noStrike">
                  <a:solidFill>
                    <a:srgbClr val="0f172a"/>
                  </a:solidFill>
                  <a:effectLst/>
                  <a:uFillTx/>
                  <a:latin typeface="Cambria"/>
                  <a:ea typeface="Cambria"/>
                </a:rPr>
                <a:t>Praca offline</a:t>
              </a:r>
              <a:endParaRPr lang="pl-PL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2" name="Text 14"/>
            <p:cNvSpPr/>
            <p:nvPr/>
          </p:nvSpPr>
          <p:spPr>
            <a:xfrm>
              <a:off x="446040" y="2859840"/>
              <a:ext cx="365148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Aplikacja działa bez połączenia z internetem — lokalna baza danych buforuje dane, synchronizacja przy przywróceniu łącza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83" name="Grupa 20"/>
          <p:cNvGrpSpPr/>
          <p:nvPr/>
        </p:nvGrpSpPr>
        <p:grpSpPr>
          <a:xfrm>
            <a:off x="320040" y="3334680"/>
            <a:ext cx="3819600" cy="719640"/>
            <a:chOff x="320040" y="3334680"/>
            <a:chExt cx="3819600" cy="719640"/>
          </a:xfrm>
        </p:grpSpPr>
        <p:grpSp>
          <p:nvGrpSpPr>
            <p:cNvPr id="584" name="Grupa 21"/>
            <p:cNvGrpSpPr/>
            <p:nvPr/>
          </p:nvGrpSpPr>
          <p:grpSpPr>
            <a:xfrm>
              <a:off x="320040" y="3334680"/>
              <a:ext cx="3819600" cy="719640"/>
              <a:chOff x="320040" y="3334680"/>
              <a:chExt cx="3819600" cy="719640"/>
            </a:xfrm>
          </p:grpSpPr>
          <p:sp>
            <p:nvSpPr>
              <p:cNvPr id="585" name="Shape 15"/>
              <p:cNvSpPr/>
              <p:nvPr/>
            </p:nvSpPr>
            <p:spPr>
              <a:xfrm>
                <a:off x="320040" y="3334680"/>
                <a:ext cx="3819600" cy="719640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e2e8f0"/>
                </a:solidFill>
                <a:miter/>
              </a:ln>
              <a:effectLst>
                <a:outerShdw algn="tl" dir="8100000" dist="25455">
                  <a:srgbClr val="000000">
                    <a:alpha val="8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6120" rIns="96120" tIns="51120" bIns="5112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pl-PL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Noto Sans CJK SC"/>
                </a:endParaRPr>
              </a:p>
            </p:txBody>
          </p:sp>
          <p:sp>
            <p:nvSpPr>
              <p:cNvPr id="586" name="Shape 16"/>
              <p:cNvSpPr/>
              <p:nvPr/>
            </p:nvSpPr>
            <p:spPr>
              <a:xfrm>
                <a:off x="320040" y="3334680"/>
                <a:ext cx="58320" cy="719640"/>
              </a:xfrm>
              <a:prstGeom prst="rect">
                <a:avLst/>
              </a:prstGeom>
              <a:solidFill>
                <a:srgbClr val="1e5fa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pl-PL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Noto Sans CJK SC"/>
                </a:endParaRPr>
              </a:p>
            </p:txBody>
          </p:sp>
        </p:grpSp>
        <p:sp>
          <p:nvSpPr>
            <p:cNvPr id="587" name="Text 17"/>
            <p:cNvSpPr/>
            <p:nvPr/>
          </p:nvSpPr>
          <p:spPr>
            <a:xfrm>
              <a:off x="446040" y="3335760"/>
              <a:ext cx="3651480" cy="27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500" b="1" u="none" strike="noStrike">
                  <a:solidFill>
                    <a:srgbClr val="0f172a"/>
                  </a:solidFill>
                  <a:effectLst/>
                  <a:uFillTx/>
                  <a:latin typeface="Cambria"/>
                  <a:ea typeface="Cambria"/>
                </a:rPr>
                <a:t>Prywatność danych</a:t>
              </a:r>
              <a:endParaRPr lang="pl-PL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8" name="Text 18"/>
            <p:cNvSpPr/>
            <p:nvPr/>
          </p:nvSpPr>
          <p:spPr>
            <a:xfrm>
              <a:off x="446040" y="3646800"/>
              <a:ext cx="365148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Wrażliwe dane (np. medyczne) nie opuszczają lokalnej sieci — zgodność z RODO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89" name="Grupa 26"/>
          <p:cNvGrpSpPr/>
          <p:nvPr/>
        </p:nvGrpSpPr>
        <p:grpSpPr>
          <a:xfrm>
            <a:off x="320040" y="4157640"/>
            <a:ext cx="3819600" cy="719640"/>
            <a:chOff x="320040" y="4157640"/>
            <a:chExt cx="3819600" cy="719640"/>
          </a:xfrm>
        </p:grpSpPr>
        <p:grpSp>
          <p:nvGrpSpPr>
            <p:cNvPr id="590" name="Grupa 27"/>
            <p:cNvGrpSpPr/>
            <p:nvPr/>
          </p:nvGrpSpPr>
          <p:grpSpPr>
            <a:xfrm>
              <a:off x="320040" y="4157640"/>
              <a:ext cx="3819600" cy="719640"/>
              <a:chOff x="320040" y="4157640"/>
              <a:chExt cx="3819600" cy="719640"/>
            </a:xfrm>
          </p:grpSpPr>
          <p:sp>
            <p:nvSpPr>
              <p:cNvPr id="591" name="Shape 19"/>
              <p:cNvSpPr/>
              <p:nvPr/>
            </p:nvSpPr>
            <p:spPr>
              <a:xfrm>
                <a:off x="320040" y="4157640"/>
                <a:ext cx="3819600" cy="719640"/>
              </a:xfrm>
              <a:prstGeom prst="rect">
                <a:avLst/>
              </a:prstGeom>
              <a:solidFill>
                <a:srgbClr val="ffffff"/>
              </a:solidFill>
              <a:ln w="12600">
                <a:solidFill>
                  <a:srgbClr val="e2e8f0"/>
                </a:solidFill>
                <a:miter/>
              </a:ln>
              <a:effectLst>
                <a:outerShdw algn="tl" dir="8100000" dist="25455">
                  <a:srgbClr val="000000">
                    <a:alpha val="8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6120" rIns="96120" tIns="51120" bIns="5112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pl-PL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Noto Sans CJK SC"/>
                </a:endParaRPr>
              </a:p>
            </p:txBody>
          </p:sp>
          <p:sp>
            <p:nvSpPr>
              <p:cNvPr id="592" name="Shape 20"/>
              <p:cNvSpPr/>
              <p:nvPr/>
            </p:nvSpPr>
            <p:spPr>
              <a:xfrm>
                <a:off x="320040" y="4157640"/>
                <a:ext cx="58320" cy="719640"/>
              </a:xfrm>
              <a:prstGeom prst="rect">
                <a:avLst/>
              </a:prstGeom>
              <a:solidFill>
                <a:srgbClr val="0d948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lang="pl-PL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Noto Sans CJK SC"/>
                </a:endParaRPr>
              </a:p>
            </p:txBody>
          </p:sp>
        </p:grpSp>
        <p:sp>
          <p:nvSpPr>
            <p:cNvPr id="593" name="Text 21"/>
            <p:cNvSpPr/>
            <p:nvPr/>
          </p:nvSpPr>
          <p:spPr>
            <a:xfrm>
              <a:off x="446040" y="4158720"/>
              <a:ext cx="365148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500" b="1" u="none" strike="noStrike">
                  <a:solidFill>
                    <a:srgbClr val="0f172a"/>
                  </a:solidFill>
                  <a:effectLst/>
                  <a:uFillTx/>
                  <a:latin typeface="Cambria"/>
                  <a:ea typeface="Cambria"/>
                </a:rPr>
                <a:t>Oszczędność pasma</a:t>
              </a:r>
              <a:endParaRPr lang="pl-PL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4" name="Text 22"/>
            <p:cNvSpPr/>
            <p:nvPr/>
          </p:nvSpPr>
          <p:spPr>
            <a:xfrm>
              <a:off x="446040" y="4505760"/>
              <a:ext cx="3651480" cy="27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Przesyłanie tylko zagregowanych wyników lub anomalii zamiast surowych danych — redukcja kosztów transmisji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5" name="Text 23"/>
          <p:cNvSpPr/>
          <p:nvPr/>
        </p:nvSpPr>
        <p:spPr>
          <a:xfrm>
            <a:off x="5760000" y="1170360"/>
            <a:ext cx="3239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ML na urządzeniu (TensorFlow Lite)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24"/>
          <p:cNvSpPr/>
          <p:nvPr/>
        </p:nvSpPr>
        <p:spPr>
          <a:xfrm>
            <a:off x="5940000" y="1436760"/>
            <a:ext cx="2929320" cy="210276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97" name="Text 25"/>
          <p:cNvSpPr/>
          <p:nvPr/>
        </p:nvSpPr>
        <p:spPr>
          <a:xfrm>
            <a:off x="6120000" y="1509840"/>
            <a:ext cx="2703600" cy="19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// Anomaly detection na urządzeniu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val model = TFLiteModel.newInstance(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context, "anomaly_detector.tflite")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fun detectAnomaly(sensorData: FloatArray)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: Boolean {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val input = TensorBuffer.createFixedSize(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intArrayOf(1, sensorData.size),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DataType.FLOAT32)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input.loadArray(sensorData)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val outputs = model.process(input)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val score = outputs.outputFeature0AsFloatArray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return score[0] &gt; ANOMALY_THRESHOLD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// Zwalniaj zasoby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lang="en-US" sz="85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model.close()</a:t>
            </a:r>
            <a:endParaRPr lang="pl-PL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26"/>
          <p:cNvSpPr/>
          <p:nvPr/>
        </p:nvSpPr>
        <p:spPr>
          <a:xfrm>
            <a:off x="4663440" y="3667320"/>
            <a:ext cx="4205880" cy="3654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599" name="Shape 27"/>
          <p:cNvSpPr/>
          <p:nvPr/>
        </p:nvSpPr>
        <p:spPr>
          <a:xfrm>
            <a:off x="4663440" y="3703320"/>
            <a:ext cx="63720" cy="36540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00" name="Text 28"/>
          <p:cNvSpPr/>
          <p:nvPr/>
        </p:nvSpPr>
        <p:spPr>
          <a:xfrm>
            <a:off x="4800600" y="36324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Detekcja anomalii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29"/>
          <p:cNvSpPr/>
          <p:nvPr/>
        </p:nvSpPr>
        <p:spPr>
          <a:xfrm>
            <a:off x="4800600" y="3881880"/>
            <a:ext cx="402300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Modele klasyfikacji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30"/>
          <p:cNvSpPr/>
          <p:nvPr/>
        </p:nvSpPr>
        <p:spPr>
          <a:xfrm>
            <a:off x="4663440" y="4142160"/>
            <a:ext cx="4205880" cy="3654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03" name="Shape 31"/>
          <p:cNvSpPr/>
          <p:nvPr/>
        </p:nvSpPr>
        <p:spPr>
          <a:xfrm>
            <a:off x="4663440" y="4142160"/>
            <a:ext cx="63720" cy="36540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04" name="Text 32"/>
          <p:cNvSpPr/>
          <p:nvPr/>
        </p:nvSpPr>
        <p:spPr>
          <a:xfrm>
            <a:off x="4800600" y="407124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Przetwarzanie obrazu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33"/>
          <p:cNvSpPr/>
          <p:nvPr/>
        </p:nvSpPr>
        <p:spPr>
          <a:xfrm>
            <a:off x="4800600" y="4294440"/>
            <a:ext cx="4023000" cy="2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Object detection (YOLO)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34"/>
          <p:cNvSpPr/>
          <p:nvPr/>
        </p:nvSpPr>
        <p:spPr>
          <a:xfrm>
            <a:off x="4663440" y="4581000"/>
            <a:ext cx="4205880" cy="3654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07" name="Shape 35"/>
          <p:cNvSpPr/>
          <p:nvPr/>
        </p:nvSpPr>
        <p:spPr>
          <a:xfrm>
            <a:off x="4663440" y="4581000"/>
            <a:ext cx="63720" cy="36540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08" name="Text 36"/>
          <p:cNvSpPr/>
          <p:nvPr/>
        </p:nvSpPr>
        <p:spPr>
          <a:xfrm>
            <a:off x="4800600" y="4578840"/>
            <a:ext cx="4023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NLP na urządzeniu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37"/>
          <p:cNvSpPr/>
          <p:nvPr/>
        </p:nvSpPr>
        <p:spPr>
          <a:xfrm>
            <a:off x="4800600" y="4780080"/>
            <a:ext cx="4023000" cy="1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Rozpoznawanie komend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11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12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Platformy Chmurowe dla IoT: AWS, Azure, Google Cloud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14" name="Shape 5"/>
          <p:cNvSpPr/>
          <p:nvPr/>
        </p:nvSpPr>
        <p:spPr>
          <a:xfrm>
            <a:off x="320040" y="777240"/>
            <a:ext cx="2742840" cy="3837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15" name="Text 6"/>
          <p:cNvSpPr/>
          <p:nvPr/>
        </p:nvSpPr>
        <p:spPr>
          <a:xfrm>
            <a:off x="320040" y="8229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AWS IoT Core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7"/>
          <p:cNvSpPr/>
          <p:nvPr/>
        </p:nvSpPr>
        <p:spPr>
          <a:xfrm>
            <a:off x="320040" y="1161360"/>
            <a:ext cx="2742840" cy="21484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17" name="Shape 8"/>
          <p:cNvSpPr/>
          <p:nvPr/>
        </p:nvSpPr>
        <p:spPr>
          <a:xfrm>
            <a:off x="411480" y="1261800"/>
            <a:ext cx="45360" cy="2282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18" name="Text 9"/>
          <p:cNvSpPr/>
          <p:nvPr/>
        </p:nvSpPr>
        <p:spPr>
          <a:xfrm>
            <a:off x="521280" y="125280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IoT Core — MQTT/HTTP broker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10"/>
          <p:cNvSpPr/>
          <p:nvPr/>
        </p:nvSpPr>
        <p:spPr>
          <a:xfrm>
            <a:off x="411480" y="1654920"/>
            <a:ext cx="45360" cy="2282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20" name="Text 11"/>
          <p:cNvSpPr/>
          <p:nvPr/>
        </p:nvSpPr>
        <p:spPr>
          <a:xfrm>
            <a:off x="521280" y="164592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Greengrass — edge computing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12"/>
          <p:cNvSpPr/>
          <p:nvPr/>
        </p:nvSpPr>
        <p:spPr>
          <a:xfrm>
            <a:off x="411480" y="2048400"/>
            <a:ext cx="45360" cy="2282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22" name="Text 13"/>
          <p:cNvSpPr/>
          <p:nvPr/>
        </p:nvSpPr>
        <p:spPr>
          <a:xfrm>
            <a:off x="521280" y="20390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IoT Analytics — przetwarzanie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Shape 14"/>
          <p:cNvSpPr/>
          <p:nvPr/>
        </p:nvSpPr>
        <p:spPr>
          <a:xfrm>
            <a:off x="411480" y="2441520"/>
            <a:ext cx="45360" cy="2282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24" name="Text 15"/>
          <p:cNvSpPr/>
          <p:nvPr/>
        </p:nvSpPr>
        <p:spPr>
          <a:xfrm>
            <a:off x="521280" y="243216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IoT Device Defender — security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16"/>
          <p:cNvSpPr/>
          <p:nvPr/>
        </p:nvSpPr>
        <p:spPr>
          <a:xfrm>
            <a:off x="411480" y="2834640"/>
            <a:ext cx="45360" cy="2282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26" name="Text 17"/>
          <p:cNvSpPr/>
          <p:nvPr/>
        </p:nvSpPr>
        <p:spPr>
          <a:xfrm>
            <a:off x="521280" y="28256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AWS Lambda — serverless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18"/>
          <p:cNvSpPr/>
          <p:nvPr/>
        </p:nvSpPr>
        <p:spPr>
          <a:xfrm>
            <a:off x="320040" y="3310200"/>
            <a:ext cx="2742840" cy="383760"/>
          </a:xfrm>
          <a:prstGeom prst="rect">
            <a:avLst/>
          </a:prstGeom>
          <a:solidFill>
            <a:srgbClr val="f0f4fa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28" name="Text 19"/>
          <p:cNvSpPr/>
          <p:nvPr/>
        </p:nvSpPr>
        <p:spPr>
          <a:xfrm>
            <a:off x="411480" y="335592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1a2547"/>
                </a:solidFill>
                <a:effectLst/>
                <a:uFillTx/>
                <a:latin typeface="Consolas"/>
                <a:ea typeface="Consolas"/>
              </a:rPr>
              <a:t>SDK: aws-iot-device-sdk-android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20"/>
          <p:cNvSpPr/>
          <p:nvPr/>
        </p:nvSpPr>
        <p:spPr>
          <a:xfrm>
            <a:off x="3200400" y="777240"/>
            <a:ext cx="2742840" cy="38376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30" name="Text 21"/>
          <p:cNvSpPr/>
          <p:nvPr/>
        </p:nvSpPr>
        <p:spPr>
          <a:xfrm>
            <a:off x="3200400" y="8229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Azure IoT Hub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22"/>
          <p:cNvSpPr/>
          <p:nvPr/>
        </p:nvSpPr>
        <p:spPr>
          <a:xfrm>
            <a:off x="3200400" y="1161360"/>
            <a:ext cx="2742840" cy="21484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32" name="Shape 23"/>
          <p:cNvSpPr/>
          <p:nvPr/>
        </p:nvSpPr>
        <p:spPr>
          <a:xfrm>
            <a:off x="3291840" y="1261800"/>
            <a:ext cx="45360" cy="22824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33" name="Text 24"/>
          <p:cNvSpPr/>
          <p:nvPr/>
        </p:nvSpPr>
        <p:spPr>
          <a:xfrm>
            <a:off x="3401640" y="125280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IoT Hub — centralny broker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25"/>
          <p:cNvSpPr/>
          <p:nvPr/>
        </p:nvSpPr>
        <p:spPr>
          <a:xfrm>
            <a:off x="3291840" y="1654920"/>
            <a:ext cx="45360" cy="22824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35" name="Text 26"/>
          <p:cNvSpPr/>
          <p:nvPr/>
        </p:nvSpPr>
        <p:spPr>
          <a:xfrm>
            <a:off x="3401640" y="164592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IoT Edge — local processing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27"/>
          <p:cNvSpPr/>
          <p:nvPr/>
        </p:nvSpPr>
        <p:spPr>
          <a:xfrm>
            <a:off x="3291840" y="2048400"/>
            <a:ext cx="45360" cy="22824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37" name="Text 28"/>
          <p:cNvSpPr/>
          <p:nvPr/>
        </p:nvSpPr>
        <p:spPr>
          <a:xfrm>
            <a:off x="3401640" y="20390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Digital Twins — wirtualne modele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29"/>
          <p:cNvSpPr/>
          <p:nvPr/>
        </p:nvSpPr>
        <p:spPr>
          <a:xfrm>
            <a:off x="3291840" y="2441520"/>
            <a:ext cx="45360" cy="22824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39" name="Text 30"/>
          <p:cNvSpPr/>
          <p:nvPr/>
        </p:nvSpPr>
        <p:spPr>
          <a:xfrm>
            <a:off x="3401640" y="243216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Azure Stream Analytics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31"/>
          <p:cNvSpPr/>
          <p:nvPr/>
        </p:nvSpPr>
        <p:spPr>
          <a:xfrm>
            <a:off x="3291840" y="2834640"/>
            <a:ext cx="45360" cy="22824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41" name="Text 32"/>
          <p:cNvSpPr/>
          <p:nvPr/>
        </p:nvSpPr>
        <p:spPr>
          <a:xfrm>
            <a:off x="3401640" y="28256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Time Series Insights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33"/>
          <p:cNvSpPr/>
          <p:nvPr/>
        </p:nvSpPr>
        <p:spPr>
          <a:xfrm>
            <a:off x="3200400" y="3310200"/>
            <a:ext cx="2742840" cy="383760"/>
          </a:xfrm>
          <a:prstGeom prst="rect">
            <a:avLst/>
          </a:prstGeom>
          <a:solidFill>
            <a:srgbClr val="f0f4fa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43" name="Text 34"/>
          <p:cNvSpPr/>
          <p:nvPr/>
        </p:nvSpPr>
        <p:spPr>
          <a:xfrm>
            <a:off x="3291840" y="335592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1a2547"/>
                </a:solidFill>
                <a:effectLst/>
                <a:uFillTx/>
                <a:latin typeface="Consolas"/>
                <a:ea typeface="Consolas"/>
              </a:rPr>
              <a:t>SDK: azure-iot-sdk-java (Android)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35"/>
          <p:cNvSpPr/>
          <p:nvPr/>
        </p:nvSpPr>
        <p:spPr>
          <a:xfrm>
            <a:off x="6080760" y="777240"/>
            <a:ext cx="2742840" cy="3837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45" name="Text 36"/>
          <p:cNvSpPr/>
          <p:nvPr/>
        </p:nvSpPr>
        <p:spPr>
          <a:xfrm>
            <a:off x="6080760" y="8229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Google Cloud IoT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37"/>
          <p:cNvSpPr/>
          <p:nvPr/>
        </p:nvSpPr>
        <p:spPr>
          <a:xfrm>
            <a:off x="6080760" y="1161360"/>
            <a:ext cx="2742840" cy="21484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47" name="Shape 38"/>
          <p:cNvSpPr/>
          <p:nvPr/>
        </p:nvSpPr>
        <p:spPr>
          <a:xfrm>
            <a:off x="6172200" y="1261800"/>
            <a:ext cx="45360" cy="228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48" name="Text 39"/>
          <p:cNvSpPr/>
          <p:nvPr/>
        </p:nvSpPr>
        <p:spPr>
          <a:xfrm>
            <a:off x="6282000" y="125280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Cloud IoT Core (→ deprecated)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40"/>
          <p:cNvSpPr/>
          <p:nvPr/>
        </p:nvSpPr>
        <p:spPr>
          <a:xfrm>
            <a:off x="6172200" y="1654920"/>
            <a:ext cx="45360" cy="228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50" name="Text 41"/>
          <p:cNvSpPr/>
          <p:nvPr/>
        </p:nvSpPr>
        <p:spPr>
          <a:xfrm>
            <a:off x="6282000" y="164592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Pub/Sub — messaging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42"/>
          <p:cNvSpPr/>
          <p:nvPr/>
        </p:nvSpPr>
        <p:spPr>
          <a:xfrm>
            <a:off x="6172200" y="2048400"/>
            <a:ext cx="45360" cy="228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52" name="Text 43"/>
          <p:cNvSpPr/>
          <p:nvPr/>
        </p:nvSpPr>
        <p:spPr>
          <a:xfrm>
            <a:off x="6282000" y="20390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BigQuery — analityka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44"/>
          <p:cNvSpPr/>
          <p:nvPr/>
        </p:nvSpPr>
        <p:spPr>
          <a:xfrm>
            <a:off x="6172200" y="2441520"/>
            <a:ext cx="45360" cy="228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54" name="Text 45"/>
          <p:cNvSpPr/>
          <p:nvPr/>
        </p:nvSpPr>
        <p:spPr>
          <a:xfrm>
            <a:off x="6282000" y="243216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Vertex AI — ML pipeline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46"/>
          <p:cNvSpPr/>
          <p:nvPr/>
        </p:nvSpPr>
        <p:spPr>
          <a:xfrm>
            <a:off x="6172200" y="2834640"/>
            <a:ext cx="45360" cy="228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56" name="Text 47"/>
          <p:cNvSpPr/>
          <p:nvPr/>
        </p:nvSpPr>
        <p:spPr>
          <a:xfrm>
            <a:off x="6282000" y="28256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Firebase Realtime Database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48"/>
          <p:cNvSpPr/>
          <p:nvPr/>
        </p:nvSpPr>
        <p:spPr>
          <a:xfrm>
            <a:off x="6080760" y="3310200"/>
            <a:ext cx="2742840" cy="383760"/>
          </a:xfrm>
          <a:prstGeom prst="rect">
            <a:avLst/>
          </a:prstGeom>
          <a:solidFill>
            <a:srgbClr val="f0f4fa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58" name="Text 49"/>
          <p:cNvSpPr/>
          <p:nvPr/>
        </p:nvSpPr>
        <p:spPr>
          <a:xfrm>
            <a:off x="6172200" y="335592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1a2547"/>
                </a:solidFill>
                <a:effectLst/>
                <a:uFillTx/>
                <a:latin typeface="Consolas"/>
                <a:ea typeface="Consolas"/>
              </a:rPr>
              <a:t>SDK: google-cloud-iot-core + Firebase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50"/>
          <p:cNvSpPr/>
          <p:nvPr/>
        </p:nvSpPr>
        <p:spPr>
          <a:xfrm>
            <a:off x="320040" y="396612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Kluczowe kryteria wyboru platformy IoT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51"/>
          <p:cNvSpPr/>
          <p:nvPr/>
        </p:nvSpPr>
        <p:spPr>
          <a:xfrm>
            <a:off x="320040" y="4376520"/>
            <a:ext cx="200880" cy="200880"/>
          </a:xfrm>
          <a:custGeom>
            <a:avLst/>
            <a:gdLst>
              <a:gd name="textAreaLeft" fmla="*/ 29160 w 200880"/>
              <a:gd name="textAreaRight" fmla="*/ 171720 w 200880"/>
              <a:gd name="textAreaTop" fmla="*/ 29160 h 200880"/>
              <a:gd name="textAreaBottom" fmla="*/ 171720 h 20088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280" h="360">
                <a:moveTo>
                  <a:pt x="0" y="280"/>
                </a:moveTo>
                <a:arcTo wR="279.5" hR="279.5" stAng="10800000" swAng="21600000"/>
                <a:close/>
              </a:path>
            </a:pathLst>
          </a:cu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61" name="Text 52"/>
          <p:cNvSpPr/>
          <p:nvPr/>
        </p:nvSpPr>
        <p:spPr>
          <a:xfrm>
            <a:off x="594360" y="428616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Liczba urządzeń </a:t>
            </a:r>
            <a:br>
              <a:rPr sz="1300"/>
            </a:b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 skalowalność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53"/>
          <p:cNvSpPr/>
          <p:nvPr/>
        </p:nvSpPr>
        <p:spPr>
          <a:xfrm>
            <a:off x="2011680" y="4376520"/>
            <a:ext cx="200880" cy="200880"/>
          </a:xfrm>
          <a:custGeom>
            <a:avLst/>
            <a:gdLst>
              <a:gd name="textAreaLeft" fmla="*/ 29160 w 200880"/>
              <a:gd name="textAreaRight" fmla="*/ 171720 w 200880"/>
              <a:gd name="textAreaTop" fmla="*/ 29160 h 200880"/>
              <a:gd name="textAreaBottom" fmla="*/ 171720 h 20088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280" h="360">
                <a:moveTo>
                  <a:pt x="0" y="280"/>
                </a:moveTo>
                <a:arcTo wR="279.5" hR="279.5" stAng="10800000" swAng="21600000"/>
                <a:close/>
              </a:path>
            </a:pathLst>
          </a:cu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63" name="Text 54"/>
          <p:cNvSpPr/>
          <p:nvPr/>
        </p:nvSpPr>
        <p:spPr>
          <a:xfrm>
            <a:off x="2286000" y="4286160"/>
            <a:ext cx="1313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Koszt (per-message vs. flat fee)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55"/>
          <p:cNvSpPr/>
          <p:nvPr/>
        </p:nvSpPr>
        <p:spPr>
          <a:xfrm>
            <a:off x="3703320" y="4376520"/>
            <a:ext cx="200880" cy="200880"/>
          </a:xfrm>
          <a:custGeom>
            <a:avLst/>
            <a:gdLst>
              <a:gd name="textAreaLeft" fmla="*/ 29160 w 200880"/>
              <a:gd name="textAreaRight" fmla="*/ 171720 w 200880"/>
              <a:gd name="textAreaTop" fmla="*/ 29160 h 200880"/>
              <a:gd name="textAreaBottom" fmla="*/ 171720 h 20088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280" h="360">
                <a:moveTo>
                  <a:pt x="0" y="280"/>
                </a:moveTo>
                <a:arcTo wR="279.5" hR="279.5" stAng="10800000" swAng="21600000"/>
                <a:close/>
              </a:path>
            </a:pathLst>
          </a:cu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65" name="Text 56"/>
          <p:cNvSpPr/>
          <p:nvPr/>
        </p:nvSpPr>
        <p:spPr>
          <a:xfrm>
            <a:off x="3977640" y="4286160"/>
            <a:ext cx="14220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Geolokalizacja danych (RODO)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57"/>
          <p:cNvSpPr/>
          <p:nvPr/>
        </p:nvSpPr>
        <p:spPr>
          <a:xfrm>
            <a:off x="5394960" y="4376520"/>
            <a:ext cx="200880" cy="200880"/>
          </a:xfrm>
          <a:custGeom>
            <a:avLst/>
            <a:gdLst>
              <a:gd name="textAreaLeft" fmla="*/ 29160 w 200880"/>
              <a:gd name="textAreaRight" fmla="*/ 171720 w 200880"/>
              <a:gd name="textAreaTop" fmla="*/ 29160 h 200880"/>
              <a:gd name="textAreaBottom" fmla="*/ 171720 h 20088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280" h="360">
                <a:moveTo>
                  <a:pt x="0" y="280"/>
                </a:moveTo>
                <a:arcTo wR="279.5" hR="279.5" stAng="10800000" swAng="21600000"/>
                <a:close/>
              </a:path>
            </a:pathLst>
          </a:cu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67" name="Text 58"/>
          <p:cNvSpPr/>
          <p:nvPr/>
        </p:nvSpPr>
        <p:spPr>
          <a:xfrm>
            <a:off x="5669280" y="4286160"/>
            <a:ext cx="1170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Obsługiwane protokoły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59"/>
          <p:cNvSpPr/>
          <p:nvPr/>
        </p:nvSpPr>
        <p:spPr>
          <a:xfrm>
            <a:off x="7086600" y="4376520"/>
            <a:ext cx="200880" cy="200880"/>
          </a:xfrm>
          <a:custGeom>
            <a:avLst/>
            <a:gdLst>
              <a:gd name="textAreaLeft" fmla="*/ 29160 w 200880"/>
              <a:gd name="textAreaRight" fmla="*/ 171720 w 200880"/>
              <a:gd name="textAreaTop" fmla="*/ 29160 h 200880"/>
              <a:gd name="textAreaBottom" fmla="*/ 171720 h 20088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280" h="360">
                <a:moveTo>
                  <a:pt x="0" y="280"/>
                </a:moveTo>
                <a:arcTo wR="279.5" hR="279.5" stAng="10800000" swAng="21600000"/>
                <a:close/>
              </a:path>
            </a:pathLst>
          </a:cu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69" name="Text 60"/>
          <p:cNvSpPr/>
          <p:nvPr/>
        </p:nvSpPr>
        <p:spPr>
          <a:xfrm>
            <a:off x="7360920" y="428616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SLA i dostępność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0" name="Grupa 1"/>
          <p:cNvGrpSpPr/>
          <p:nvPr/>
        </p:nvGrpSpPr>
        <p:grpSpPr>
          <a:xfrm>
            <a:off x="320040" y="3151800"/>
            <a:ext cx="8502840" cy="1079640"/>
            <a:chOff x="320040" y="3151800"/>
            <a:chExt cx="8502840" cy="1079640"/>
          </a:xfrm>
        </p:grpSpPr>
        <p:sp>
          <p:nvSpPr>
            <p:cNvPr id="671" name="Shape 21"/>
            <p:cNvSpPr/>
            <p:nvPr/>
          </p:nvSpPr>
          <p:spPr>
            <a:xfrm>
              <a:off x="320040" y="3151800"/>
              <a:ext cx="8502840" cy="10796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e2e8f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6120" rIns="96120" tIns="51120" bIns="51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672" name="Shape 22"/>
            <p:cNvSpPr/>
            <p:nvPr/>
          </p:nvSpPr>
          <p:spPr>
            <a:xfrm>
              <a:off x="320040" y="3151800"/>
              <a:ext cx="63720" cy="1079640"/>
            </a:xfrm>
            <a:prstGeom prst="rect">
              <a:avLst/>
            </a:prstGeom>
            <a:solidFill>
              <a:srgbClr val="10b98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</p:grpSp>
      <p:sp>
        <p:nvSpPr>
          <p:cNvPr id="673" name="Shape 13"/>
          <p:cNvSpPr/>
          <p:nvPr/>
        </p:nvSpPr>
        <p:spPr>
          <a:xfrm>
            <a:off x="320040" y="1996200"/>
            <a:ext cx="8502840" cy="10796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74" name="Shape 14"/>
          <p:cNvSpPr/>
          <p:nvPr/>
        </p:nvSpPr>
        <p:spPr>
          <a:xfrm>
            <a:off x="320040" y="1996200"/>
            <a:ext cx="63720" cy="10796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75" name="Text 15"/>
          <p:cNvSpPr/>
          <p:nvPr/>
        </p:nvSpPr>
        <p:spPr>
          <a:xfrm>
            <a:off x="502920" y="214128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REST + WebSocket Hybrid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16"/>
          <p:cNvSpPr/>
          <p:nvPr/>
        </p:nvSpPr>
        <p:spPr>
          <a:xfrm>
            <a:off x="502920" y="2334600"/>
            <a:ext cx="54860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REST API dla operacji CRUD i historycznych danych. WebSocket lub SSE (Server-Sent Events) dla live updates. Łatwe cachowanie przez CDN.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Shape 17"/>
          <p:cNvSpPr/>
          <p:nvPr/>
        </p:nvSpPr>
        <p:spPr>
          <a:xfrm>
            <a:off x="5989320" y="2106000"/>
            <a:ext cx="2697120" cy="392760"/>
          </a:xfrm>
          <a:prstGeom prst="rect">
            <a:avLst/>
          </a:prstGeom>
          <a:solidFill>
            <a:srgbClr val="ecfd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78" name="Text 18"/>
          <p:cNvSpPr/>
          <p:nvPr/>
        </p:nvSpPr>
        <p:spPr>
          <a:xfrm>
            <a:off x="6085800" y="2133360"/>
            <a:ext cx="2552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4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✓ Cacheable, skalowalny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19"/>
          <p:cNvSpPr/>
          <p:nvPr/>
        </p:nvSpPr>
        <p:spPr>
          <a:xfrm>
            <a:off x="5989320" y="2608200"/>
            <a:ext cx="2697120" cy="392760"/>
          </a:xfrm>
          <a:prstGeom prst="rect">
            <a:avLst/>
          </a:prstGeom>
          <a:solidFill>
            <a:srgbClr val="fe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80" name="Text 20"/>
          <p:cNvSpPr/>
          <p:nvPr/>
        </p:nvSpPr>
        <p:spPr>
          <a:xfrm>
            <a:off x="6085800" y="2599920"/>
            <a:ext cx="2552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400" b="0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✗ Wyższe opóźnienia niż MQTT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82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83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Integracja aplikacji z chmurą: wzorce i architektura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85" name="Shape 5"/>
          <p:cNvSpPr/>
          <p:nvPr/>
        </p:nvSpPr>
        <p:spPr>
          <a:xfrm>
            <a:off x="320040" y="840600"/>
            <a:ext cx="8502840" cy="10796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86" name="Shape 6"/>
          <p:cNvSpPr/>
          <p:nvPr/>
        </p:nvSpPr>
        <p:spPr>
          <a:xfrm>
            <a:off x="320040" y="840600"/>
            <a:ext cx="63720" cy="107964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87" name="Text 7"/>
          <p:cNvSpPr/>
          <p:nvPr/>
        </p:nvSpPr>
        <p:spPr>
          <a:xfrm>
            <a:off x="502920" y="87768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Direct MQTT Connection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8"/>
          <p:cNvSpPr/>
          <p:nvPr/>
        </p:nvSpPr>
        <p:spPr>
          <a:xfrm>
            <a:off x="502920" y="1143000"/>
            <a:ext cx="5256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Aplikacja mobilna łączy się bezpośrednio z brokerem MQTT (AWS IoT Core, HiveMQ Cloud). Prosta implementacja, ale wymaga zarządzania połączeniem w tle i obsługi reconnect.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9"/>
          <p:cNvSpPr/>
          <p:nvPr/>
        </p:nvSpPr>
        <p:spPr>
          <a:xfrm>
            <a:off x="5940000" y="950400"/>
            <a:ext cx="2746440" cy="392760"/>
          </a:xfrm>
          <a:prstGeom prst="rect">
            <a:avLst/>
          </a:prstGeom>
          <a:solidFill>
            <a:srgbClr val="ecfd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24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90" name="Text 10"/>
          <p:cNvSpPr/>
          <p:nvPr/>
        </p:nvSpPr>
        <p:spPr>
          <a:xfrm>
            <a:off x="5989320" y="97776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4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✓ Niskie opóźnienia, real-time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11"/>
          <p:cNvSpPr/>
          <p:nvPr/>
        </p:nvSpPr>
        <p:spPr>
          <a:xfrm>
            <a:off x="5940000" y="1380600"/>
            <a:ext cx="2746440" cy="392760"/>
          </a:xfrm>
          <a:prstGeom prst="rect">
            <a:avLst/>
          </a:prstGeom>
          <a:solidFill>
            <a:srgbClr val="fe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92" name="Text 12"/>
          <p:cNvSpPr/>
          <p:nvPr/>
        </p:nvSpPr>
        <p:spPr>
          <a:xfrm>
            <a:off x="5989320" y="140832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400" b="0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✗ Bateria, zarządzanie połączeniem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25"/>
          <p:cNvSpPr/>
          <p:nvPr/>
        </p:nvSpPr>
        <p:spPr>
          <a:xfrm>
            <a:off x="6126480" y="3261600"/>
            <a:ext cx="2559960" cy="392760"/>
          </a:xfrm>
          <a:prstGeom prst="rect">
            <a:avLst/>
          </a:prstGeom>
          <a:solidFill>
            <a:srgbClr val="ecfd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94" name="Shape 27"/>
          <p:cNvSpPr/>
          <p:nvPr/>
        </p:nvSpPr>
        <p:spPr>
          <a:xfrm>
            <a:off x="6126480" y="3727800"/>
            <a:ext cx="2559960" cy="392760"/>
          </a:xfrm>
          <a:prstGeom prst="rect">
            <a:avLst/>
          </a:prstGeom>
          <a:solidFill>
            <a:srgbClr val="fe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695" name="Text 23"/>
          <p:cNvSpPr/>
          <p:nvPr/>
        </p:nvSpPr>
        <p:spPr>
          <a:xfrm>
            <a:off x="502920" y="326088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Firebase Realtime / Firestore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24"/>
          <p:cNvSpPr/>
          <p:nvPr/>
        </p:nvSpPr>
        <p:spPr>
          <a:xfrm>
            <a:off x="468000" y="3490200"/>
            <a:ext cx="5628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Firebase jako pośrednik — Cloud Functions reagują na dane IoT w MQTT </a:t>
            </a:r>
            <a:br>
              <a:rPr sz="1400"/>
            </a:br>
            <a:r>
              <a:rPr lang="en-US" sz="14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i zapisują do Firestore. Aplikacja używa Firebase SDK z lokalnym cache offline.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26"/>
          <p:cNvSpPr/>
          <p:nvPr/>
        </p:nvSpPr>
        <p:spPr>
          <a:xfrm>
            <a:off x="6217920" y="328896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400" b="0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✓ Offline first, prosty SDK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28"/>
          <p:cNvSpPr/>
          <p:nvPr/>
        </p:nvSpPr>
        <p:spPr>
          <a:xfrm>
            <a:off x="6217920" y="375552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400" b="0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✗ Vendor lock-in Google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29"/>
          <p:cNvSpPr/>
          <p:nvPr/>
        </p:nvSpPr>
        <p:spPr>
          <a:xfrm>
            <a:off x="320040" y="4303440"/>
            <a:ext cx="8503560" cy="58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Wybór wzorca zależy od wymagań: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latencja krytyczna → MQTT Direct | łatwy start → Firebase | skalowalność enterprise → REST+WS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01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02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Zagrożenia i ochrona aplikacji mobilnych IoT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04" name="Text 5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i="1" u="none" strike="noStrike">
                <a:solidFill>
                  <a:srgbClr val="1e5fa8"/>
                </a:solidFill>
                <a:effectLst/>
                <a:uFillTx/>
                <a:latin typeface="Calibri"/>
                <a:ea typeface="Calibri"/>
              </a:rPr>
              <a:t>"Security by Design" — bezpieczeństwo wbudowane od początku projektu, nie dodane na końcu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6"/>
          <p:cNvSpPr/>
          <p:nvPr/>
        </p:nvSpPr>
        <p:spPr>
          <a:xfrm>
            <a:off x="180000" y="1170360"/>
            <a:ext cx="4300200" cy="34704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06" name="Text 7"/>
          <p:cNvSpPr/>
          <p:nvPr/>
        </p:nvSpPr>
        <p:spPr>
          <a:xfrm>
            <a:off x="274680" y="1180080"/>
            <a:ext cx="4063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⚠ Zagrożenia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8"/>
          <p:cNvSpPr/>
          <p:nvPr/>
        </p:nvSpPr>
        <p:spPr>
          <a:xfrm>
            <a:off x="4663440" y="1170360"/>
            <a:ext cx="4336200" cy="3470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08" name="Text 9"/>
          <p:cNvSpPr/>
          <p:nvPr/>
        </p:nvSpPr>
        <p:spPr>
          <a:xfrm>
            <a:off x="4758840" y="1180080"/>
            <a:ext cx="409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✓ Środki ochrony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Shape 10"/>
          <p:cNvSpPr/>
          <p:nvPr/>
        </p:nvSpPr>
        <p:spPr>
          <a:xfrm>
            <a:off x="180000" y="1581840"/>
            <a:ext cx="4301640" cy="5396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10" name="Text 11"/>
          <p:cNvSpPr/>
          <p:nvPr/>
        </p:nvSpPr>
        <p:spPr>
          <a:xfrm>
            <a:off x="321840" y="1591560"/>
            <a:ext cx="3969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mbria"/>
                <a:ea typeface="Cambria"/>
              </a:rPr>
              <a:t>Man-in-the-Middle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12"/>
          <p:cNvSpPr/>
          <p:nvPr/>
        </p:nvSpPr>
        <p:spPr>
          <a:xfrm>
            <a:off x="321840" y="1801800"/>
            <a:ext cx="3969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Przechwycenie niezaszyfrowanej komunikacji MQTT/HTTP między app, a brokerem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13"/>
          <p:cNvSpPr/>
          <p:nvPr/>
        </p:nvSpPr>
        <p:spPr>
          <a:xfrm>
            <a:off x="4663440" y="1581840"/>
            <a:ext cx="4337640" cy="5036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13" name="Text 14"/>
          <p:cNvSpPr/>
          <p:nvPr/>
        </p:nvSpPr>
        <p:spPr>
          <a:xfrm>
            <a:off x="4806360" y="1627560"/>
            <a:ext cx="400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mbria"/>
                <a:ea typeface="Cambria"/>
              </a:rPr>
              <a:t>TLS 1.3 + MQTT over TLS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15"/>
          <p:cNvSpPr/>
          <p:nvPr/>
        </p:nvSpPr>
        <p:spPr>
          <a:xfrm>
            <a:off x="4806360" y="1837800"/>
            <a:ext cx="400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Szyfrowanie E2E, weryfikacja certyfikatu serwera (certificate pinning)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16"/>
          <p:cNvSpPr/>
          <p:nvPr/>
        </p:nvSpPr>
        <p:spPr>
          <a:xfrm>
            <a:off x="180000" y="2203560"/>
            <a:ext cx="4301640" cy="539640"/>
          </a:xfrm>
          <a:prstGeom prst="rect">
            <a:avLst/>
          </a:prstGeom>
          <a:solidFill>
            <a:srgbClr val="fef2f2"/>
          </a:solidFill>
          <a:ln w="648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16" name="Text 17"/>
          <p:cNvSpPr/>
          <p:nvPr/>
        </p:nvSpPr>
        <p:spPr>
          <a:xfrm>
            <a:off x="321840" y="2249280"/>
            <a:ext cx="3969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mbria"/>
                <a:ea typeface="Cambria"/>
              </a:rPr>
              <a:t>Device Spoofing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18"/>
          <p:cNvSpPr/>
          <p:nvPr/>
        </p:nvSpPr>
        <p:spPr>
          <a:xfrm>
            <a:off x="321840" y="2459880"/>
            <a:ext cx="3969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Fałszywe urządzenie podszywające się pod legalny sensor w sieci IoT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19"/>
          <p:cNvSpPr/>
          <p:nvPr/>
        </p:nvSpPr>
        <p:spPr>
          <a:xfrm>
            <a:off x="4663440" y="2275560"/>
            <a:ext cx="4337640" cy="503640"/>
          </a:xfrm>
          <a:prstGeom prst="rect">
            <a:avLst/>
          </a:prstGeom>
          <a:solidFill>
            <a:srgbClr val="ecfdf5"/>
          </a:solidFill>
          <a:ln w="648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19" name="Text 20"/>
          <p:cNvSpPr/>
          <p:nvPr/>
        </p:nvSpPr>
        <p:spPr>
          <a:xfrm>
            <a:off x="4806360" y="2249280"/>
            <a:ext cx="400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mbria"/>
                <a:ea typeface="Cambria"/>
              </a:rPr>
              <a:t>Mutual TLS (mTLS)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21"/>
          <p:cNvSpPr/>
          <p:nvPr/>
        </p:nvSpPr>
        <p:spPr>
          <a:xfrm>
            <a:off x="4806360" y="2459880"/>
            <a:ext cx="400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Certyfikaty X.509 dla każdego urządzenia, obustronnieuwe uwierzytelnienie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22"/>
          <p:cNvSpPr/>
          <p:nvPr/>
        </p:nvSpPr>
        <p:spPr>
          <a:xfrm>
            <a:off x="180000" y="2808000"/>
            <a:ext cx="4301640" cy="5396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22" name="Text 23"/>
          <p:cNvSpPr/>
          <p:nvPr/>
        </p:nvSpPr>
        <p:spPr>
          <a:xfrm>
            <a:off x="321840" y="2871360"/>
            <a:ext cx="3969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mbria"/>
                <a:ea typeface="Cambria"/>
              </a:rPr>
              <a:t>Replay Attack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24"/>
          <p:cNvSpPr/>
          <p:nvPr/>
        </p:nvSpPr>
        <p:spPr>
          <a:xfrm>
            <a:off x="321840" y="3081600"/>
            <a:ext cx="4177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Ponowne wysłanie przechwyconych pakietów sterowania urządzeniem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25"/>
          <p:cNvSpPr/>
          <p:nvPr/>
        </p:nvSpPr>
        <p:spPr>
          <a:xfrm>
            <a:off x="4663440" y="2897640"/>
            <a:ext cx="4337640" cy="5036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25" name="Text 26"/>
          <p:cNvSpPr/>
          <p:nvPr/>
        </p:nvSpPr>
        <p:spPr>
          <a:xfrm>
            <a:off x="4806360" y="2871360"/>
            <a:ext cx="400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mbria"/>
                <a:ea typeface="Cambria"/>
              </a:rPr>
              <a:t>Timestamp + Nonce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27"/>
          <p:cNvSpPr/>
          <p:nvPr/>
        </p:nvSpPr>
        <p:spPr>
          <a:xfrm>
            <a:off x="4806360" y="3081600"/>
            <a:ext cx="400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Każda wiadomość zawiera timestamp i jednorazowy nonce, blokuje replay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28"/>
          <p:cNvSpPr/>
          <p:nvPr/>
        </p:nvSpPr>
        <p:spPr>
          <a:xfrm>
            <a:off x="180000" y="3447360"/>
            <a:ext cx="4301640" cy="539640"/>
          </a:xfrm>
          <a:prstGeom prst="rect">
            <a:avLst/>
          </a:prstGeom>
          <a:solidFill>
            <a:srgbClr val="fef2f2"/>
          </a:solidFill>
          <a:ln w="648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28" name="Text 29"/>
          <p:cNvSpPr/>
          <p:nvPr/>
        </p:nvSpPr>
        <p:spPr>
          <a:xfrm>
            <a:off x="321840" y="3493080"/>
            <a:ext cx="3969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mbria"/>
                <a:ea typeface="Cambria"/>
              </a:rPr>
              <a:t>Insecure Storage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30"/>
          <p:cNvSpPr/>
          <p:nvPr/>
        </p:nvSpPr>
        <p:spPr>
          <a:xfrm>
            <a:off x="321840" y="3703320"/>
            <a:ext cx="3969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Tokeny i certyfikaty w logach, SharedPreferences bez szyfrowania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31"/>
          <p:cNvSpPr/>
          <p:nvPr/>
        </p:nvSpPr>
        <p:spPr>
          <a:xfrm>
            <a:off x="4663440" y="3555360"/>
            <a:ext cx="4337640" cy="503640"/>
          </a:xfrm>
          <a:prstGeom prst="rect">
            <a:avLst/>
          </a:prstGeom>
          <a:solidFill>
            <a:srgbClr val="ecfdf5"/>
          </a:solidFill>
          <a:ln w="648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31" name="Text 32"/>
          <p:cNvSpPr/>
          <p:nvPr/>
        </p:nvSpPr>
        <p:spPr>
          <a:xfrm>
            <a:off x="4806360" y="3529080"/>
            <a:ext cx="400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mbria"/>
                <a:ea typeface="Cambria"/>
              </a:rPr>
              <a:t>Android Keystore / iOS Secure Enclave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33"/>
          <p:cNvSpPr/>
          <p:nvPr/>
        </p:nvSpPr>
        <p:spPr>
          <a:xfrm>
            <a:off x="4806360" y="3703320"/>
            <a:ext cx="400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Przechowywanie kluczy w hardware — niedostępne dla innych aplikacji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34"/>
          <p:cNvSpPr/>
          <p:nvPr/>
        </p:nvSpPr>
        <p:spPr>
          <a:xfrm>
            <a:off x="180000" y="4105080"/>
            <a:ext cx="4301640" cy="5396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34" name="Text 35"/>
          <p:cNvSpPr/>
          <p:nvPr/>
        </p:nvSpPr>
        <p:spPr>
          <a:xfrm>
            <a:off x="321840" y="4150800"/>
            <a:ext cx="3969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mbria"/>
                <a:ea typeface="Cambria"/>
              </a:rPr>
              <a:t>OTA Poisoning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36"/>
          <p:cNvSpPr/>
          <p:nvPr/>
        </p:nvSpPr>
        <p:spPr>
          <a:xfrm>
            <a:off x="321840" y="4325040"/>
            <a:ext cx="3969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Podmiana firmware podczas aktualizacji Over-the-Air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37"/>
          <p:cNvSpPr/>
          <p:nvPr/>
        </p:nvSpPr>
        <p:spPr>
          <a:xfrm>
            <a:off x="4663440" y="4105080"/>
            <a:ext cx="4337640" cy="50364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37" name="Text 38"/>
          <p:cNvSpPr/>
          <p:nvPr/>
        </p:nvSpPr>
        <p:spPr>
          <a:xfrm>
            <a:off x="4806360" y="4114800"/>
            <a:ext cx="400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mbria"/>
                <a:ea typeface="Cambria"/>
              </a:rPr>
              <a:t>Podpis cyfrowy firmware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39"/>
          <p:cNvSpPr/>
          <p:nvPr/>
        </p:nvSpPr>
        <p:spPr>
          <a:xfrm>
            <a:off x="4806360" y="4325040"/>
            <a:ext cx="400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Weryfikacja podpisu ECDSA przed instalacją aktualizacji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40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41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Autentykacja i autoryzacja w systemach IoT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43" name="Text 5"/>
          <p:cNvSpPr/>
          <p:nvPr/>
        </p:nvSpPr>
        <p:spPr>
          <a:xfrm>
            <a:off x="320040" y="77724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Metody uwierzytelniania: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6"/>
          <p:cNvSpPr/>
          <p:nvPr/>
        </p:nvSpPr>
        <p:spPr>
          <a:xfrm>
            <a:off x="320040" y="1097280"/>
            <a:ext cx="4160160" cy="694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45" name="Shape 7"/>
          <p:cNvSpPr/>
          <p:nvPr/>
        </p:nvSpPr>
        <p:spPr>
          <a:xfrm>
            <a:off x="320040" y="1097280"/>
            <a:ext cx="63720" cy="69444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46" name="Text 8"/>
          <p:cNvSpPr/>
          <p:nvPr/>
        </p:nvSpPr>
        <p:spPr>
          <a:xfrm>
            <a:off x="457200" y="109836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Username/Password + TLS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9"/>
          <p:cNvSpPr/>
          <p:nvPr/>
        </p:nvSpPr>
        <p:spPr>
          <a:xfrm>
            <a:off x="457200" y="1409400"/>
            <a:ext cx="3977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Podstawowa metoda — niewystarczająca dla produkcji. Hasła muszą być silne i przechowywane jako hash (bcrypt).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10"/>
          <p:cNvSpPr/>
          <p:nvPr/>
        </p:nvSpPr>
        <p:spPr>
          <a:xfrm>
            <a:off x="320040" y="1793520"/>
            <a:ext cx="4160160" cy="694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49" name="Shape 11"/>
          <p:cNvSpPr/>
          <p:nvPr/>
        </p:nvSpPr>
        <p:spPr>
          <a:xfrm>
            <a:off x="320040" y="1865520"/>
            <a:ext cx="63720" cy="6944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50" name="Text 12"/>
          <p:cNvSpPr/>
          <p:nvPr/>
        </p:nvSpPr>
        <p:spPr>
          <a:xfrm>
            <a:off x="457200" y="186660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API Key / Token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 13"/>
          <p:cNvSpPr/>
          <p:nvPr/>
        </p:nvSpPr>
        <p:spPr>
          <a:xfrm>
            <a:off x="457200" y="2177280"/>
            <a:ext cx="3977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Statyczny klucz przypisany do urządzenia. Prosty, ale bez expiry i trudny do rotacji w dużych flotach.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4"/>
          <p:cNvSpPr/>
          <p:nvPr/>
        </p:nvSpPr>
        <p:spPr>
          <a:xfrm>
            <a:off x="320040" y="2633400"/>
            <a:ext cx="4160160" cy="694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53" name="Shape 15"/>
          <p:cNvSpPr/>
          <p:nvPr/>
        </p:nvSpPr>
        <p:spPr>
          <a:xfrm>
            <a:off x="320040" y="2633400"/>
            <a:ext cx="63720" cy="69444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54" name="Text 16"/>
          <p:cNvSpPr/>
          <p:nvPr/>
        </p:nvSpPr>
        <p:spPr>
          <a:xfrm>
            <a:off x="457200" y="263448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JWT (JSON Web Tokens)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17"/>
          <p:cNvSpPr/>
          <p:nvPr/>
        </p:nvSpPr>
        <p:spPr>
          <a:xfrm>
            <a:off x="457200" y="2945520"/>
            <a:ext cx="3977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Tokeny z expiry, podpisane kluczem (RS256/ES256). Aplikacja mobilna przechowuje refresh token, wymienia na access token.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18"/>
          <p:cNvSpPr/>
          <p:nvPr/>
        </p:nvSpPr>
        <p:spPr>
          <a:xfrm>
            <a:off x="320040" y="3401640"/>
            <a:ext cx="4160160" cy="694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57" name="Shape 19"/>
          <p:cNvSpPr/>
          <p:nvPr/>
        </p:nvSpPr>
        <p:spPr>
          <a:xfrm>
            <a:off x="320040" y="3401640"/>
            <a:ext cx="63720" cy="6944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58" name="Text 20"/>
          <p:cNvSpPr/>
          <p:nvPr/>
        </p:nvSpPr>
        <p:spPr>
          <a:xfrm>
            <a:off x="457200" y="340272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OAuth 2.0 / OIDC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21"/>
          <p:cNvSpPr/>
          <p:nvPr/>
        </p:nvSpPr>
        <p:spPr>
          <a:xfrm>
            <a:off x="457200" y="3713760"/>
            <a:ext cx="3977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Delegacja uprawnień — użytkownik autoryzuje apkę do dostępu do swoich urządzeń bez podawania hasła.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22"/>
          <p:cNvSpPr/>
          <p:nvPr/>
        </p:nvSpPr>
        <p:spPr>
          <a:xfrm>
            <a:off x="320040" y="4097520"/>
            <a:ext cx="4160160" cy="694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61" name="Shape 23"/>
          <p:cNvSpPr/>
          <p:nvPr/>
        </p:nvSpPr>
        <p:spPr>
          <a:xfrm>
            <a:off x="320040" y="4169520"/>
            <a:ext cx="63720" cy="6944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62" name="Text 24"/>
          <p:cNvSpPr/>
          <p:nvPr/>
        </p:nvSpPr>
        <p:spPr>
          <a:xfrm>
            <a:off x="457200" y="409896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mTLS + X.509 Certs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25"/>
          <p:cNvSpPr/>
          <p:nvPr/>
        </p:nvSpPr>
        <p:spPr>
          <a:xfrm>
            <a:off x="457200" y="4409640"/>
            <a:ext cx="3977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Certyfikaty per urządzenie — gold standard dla produkcji IoT. AWS IoT Core, Azure IoT Hub.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26"/>
          <p:cNvSpPr/>
          <p:nvPr/>
        </p:nvSpPr>
        <p:spPr>
          <a:xfrm>
            <a:off x="4663440" y="77724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JWT Flow w aplikacji mobilnej: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Shape 27"/>
          <p:cNvSpPr/>
          <p:nvPr/>
        </p:nvSpPr>
        <p:spPr>
          <a:xfrm>
            <a:off x="4663440" y="1097280"/>
            <a:ext cx="420588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66" name="Shape 28"/>
          <p:cNvSpPr/>
          <p:nvPr/>
        </p:nvSpPr>
        <p:spPr>
          <a:xfrm>
            <a:off x="4754880" y="1161360"/>
            <a:ext cx="273960" cy="273960"/>
          </a:xfrm>
          <a:custGeom>
            <a:avLst/>
            <a:gdLst>
              <a:gd name="textAreaLeft" fmla="*/ 39960 w 273960"/>
              <a:gd name="textAreaRight" fmla="*/ 234000 w 273960"/>
              <a:gd name="textAreaTop" fmla="*/ 39960 h 273960"/>
              <a:gd name="textAreaBottom" fmla="*/ 234000 h 27396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381" h="381">
                <a:moveTo>
                  <a:pt x="0" y="381"/>
                </a:moveTo>
                <a:arcTo wR="381" hR="381" stAng="10800000" swAng="21600000"/>
                <a:close/>
              </a:path>
            </a:pathLst>
          </a:cu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67" name="Text 29"/>
          <p:cNvSpPr/>
          <p:nvPr/>
        </p:nvSpPr>
        <p:spPr>
          <a:xfrm>
            <a:off x="4754880" y="11613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30"/>
          <p:cNvSpPr/>
          <p:nvPr/>
        </p:nvSpPr>
        <p:spPr>
          <a:xfrm>
            <a:off x="5102280" y="1143000"/>
            <a:ext cx="3702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Login (email/pwd) → Auth Server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Shape 31"/>
          <p:cNvSpPr/>
          <p:nvPr/>
        </p:nvSpPr>
        <p:spPr>
          <a:xfrm>
            <a:off x="4663440" y="1664280"/>
            <a:ext cx="4205880" cy="502560"/>
          </a:xfrm>
          <a:prstGeom prst="rect">
            <a:avLst/>
          </a:prstGeom>
          <a:solidFill>
            <a:srgbClr val="f0f4fa"/>
          </a:solidFill>
          <a:ln w="648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70" name="Shape 32"/>
          <p:cNvSpPr/>
          <p:nvPr/>
        </p:nvSpPr>
        <p:spPr>
          <a:xfrm>
            <a:off x="4754880" y="1728360"/>
            <a:ext cx="273960" cy="273960"/>
          </a:xfrm>
          <a:custGeom>
            <a:avLst/>
            <a:gdLst>
              <a:gd name="textAreaLeft" fmla="*/ 39960 w 273960"/>
              <a:gd name="textAreaRight" fmla="*/ 234000 w 273960"/>
              <a:gd name="textAreaTop" fmla="*/ 39960 h 273960"/>
              <a:gd name="textAreaBottom" fmla="*/ 234000 h 27396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381" h="381">
                <a:moveTo>
                  <a:pt x="0" y="381"/>
                </a:moveTo>
                <a:arcTo wR="381" hR="381" stAng="10800000" swAng="21600000"/>
                <a:close/>
              </a:path>
            </a:pathLst>
          </a:cu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71" name="Text 33"/>
          <p:cNvSpPr/>
          <p:nvPr/>
        </p:nvSpPr>
        <p:spPr>
          <a:xfrm>
            <a:off x="4754880" y="17283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34"/>
          <p:cNvSpPr/>
          <p:nvPr/>
        </p:nvSpPr>
        <p:spPr>
          <a:xfrm>
            <a:off x="5102280" y="1710000"/>
            <a:ext cx="3702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Serwer zwraca access_token (1h) + refresh_token (30d)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35"/>
          <p:cNvSpPr/>
          <p:nvPr/>
        </p:nvSpPr>
        <p:spPr>
          <a:xfrm>
            <a:off x="4663440" y="2231280"/>
            <a:ext cx="420588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74" name="Shape 36"/>
          <p:cNvSpPr/>
          <p:nvPr/>
        </p:nvSpPr>
        <p:spPr>
          <a:xfrm>
            <a:off x="4754880" y="2295000"/>
            <a:ext cx="273960" cy="273960"/>
          </a:xfrm>
          <a:custGeom>
            <a:avLst/>
            <a:gdLst>
              <a:gd name="textAreaLeft" fmla="*/ 39960 w 273960"/>
              <a:gd name="textAreaRight" fmla="*/ 234000 w 273960"/>
              <a:gd name="textAreaTop" fmla="*/ 39960 h 273960"/>
              <a:gd name="textAreaBottom" fmla="*/ 234000 h 27396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381" h="381">
                <a:moveTo>
                  <a:pt x="0" y="381"/>
                </a:moveTo>
                <a:arcTo wR="381" hR="381" stAng="10800000" swAng="21600000"/>
                <a:close/>
              </a:path>
            </a:pathLst>
          </a:cu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75" name="Text 37"/>
          <p:cNvSpPr/>
          <p:nvPr/>
        </p:nvSpPr>
        <p:spPr>
          <a:xfrm>
            <a:off x="4754880" y="22950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38"/>
          <p:cNvSpPr/>
          <p:nvPr/>
        </p:nvSpPr>
        <p:spPr>
          <a:xfrm>
            <a:off x="5102280" y="2277000"/>
            <a:ext cx="3702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App dołącza Bearer token do każdego żądania HTTP / MQTT username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Shape 39"/>
          <p:cNvSpPr/>
          <p:nvPr/>
        </p:nvSpPr>
        <p:spPr>
          <a:xfrm>
            <a:off x="4663440" y="2797920"/>
            <a:ext cx="4205880" cy="502560"/>
          </a:xfrm>
          <a:prstGeom prst="rect">
            <a:avLst/>
          </a:prstGeom>
          <a:solidFill>
            <a:srgbClr val="f0f4fa"/>
          </a:solidFill>
          <a:ln w="648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78" name="Shape 40"/>
          <p:cNvSpPr/>
          <p:nvPr/>
        </p:nvSpPr>
        <p:spPr>
          <a:xfrm>
            <a:off x="4754880" y="2862000"/>
            <a:ext cx="273960" cy="273960"/>
          </a:xfrm>
          <a:custGeom>
            <a:avLst/>
            <a:gdLst>
              <a:gd name="textAreaLeft" fmla="*/ 39960 w 273960"/>
              <a:gd name="textAreaRight" fmla="*/ 234000 w 273960"/>
              <a:gd name="textAreaTop" fmla="*/ 39960 h 273960"/>
              <a:gd name="textAreaBottom" fmla="*/ 234000 h 27396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381" h="381">
                <a:moveTo>
                  <a:pt x="0" y="381"/>
                </a:moveTo>
                <a:arcTo wR="381" hR="381" stAng="10800000" swAng="21600000"/>
                <a:close/>
              </a:path>
            </a:pathLst>
          </a:cu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79" name="Text 41"/>
          <p:cNvSpPr/>
          <p:nvPr/>
        </p:nvSpPr>
        <p:spPr>
          <a:xfrm>
            <a:off x="4754880" y="28620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42"/>
          <p:cNvSpPr/>
          <p:nvPr/>
        </p:nvSpPr>
        <p:spPr>
          <a:xfrm>
            <a:off x="5102280" y="2843640"/>
            <a:ext cx="3702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Po wygaśnięciu: refresh_token → nowy access_token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43"/>
          <p:cNvSpPr/>
          <p:nvPr/>
        </p:nvSpPr>
        <p:spPr>
          <a:xfrm>
            <a:off x="4663440" y="3364920"/>
            <a:ext cx="4205880" cy="502560"/>
          </a:xfrm>
          <a:prstGeom prst="rect">
            <a:avLst/>
          </a:prstGeom>
          <a:solidFill>
            <a:srgbClr val="ffffff"/>
          </a:solidFill>
          <a:ln w="648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82" name="Shape 44"/>
          <p:cNvSpPr/>
          <p:nvPr/>
        </p:nvSpPr>
        <p:spPr>
          <a:xfrm>
            <a:off x="4754880" y="3429000"/>
            <a:ext cx="273960" cy="273960"/>
          </a:xfrm>
          <a:custGeom>
            <a:avLst/>
            <a:gdLst>
              <a:gd name="textAreaLeft" fmla="*/ 39960 w 273960"/>
              <a:gd name="textAreaRight" fmla="*/ 234000 w 273960"/>
              <a:gd name="textAreaTop" fmla="*/ 39960 h 273960"/>
              <a:gd name="textAreaBottom" fmla="*/ 234000 h 27396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381" h="381">
                <a:moveTo>
                  <a:pt x="0" y="381"/>
                </a:moveTo>
                <a:arcTo wR="381" hR="381" stAng="10800000" swAng="21600000"/>
                <a:close/>
              </a:path>
            </a:pathLst>
          </a:cu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83" name="Text 45"/>
          <p:cNvSpPr/>
          <p:nvPr/>
        </p:nvSpPr>
        <p:spPr>
          <a:xfrm>
            <a:off x="4754880" y="34290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46"/>
          <p:cNvSpPr/>
          <p:nvPr/>
        </p:nvSpPr>
        <p:spPr>
          <a:xfrm>
            <a:off x="5102280" y="3410640"/>
            <a:ext cx="3702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Refresh token rotacja — zmniejsza ryzyko kradzieży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47"/>
          <p:cNvSpPr/>
          <p:nvPr/>
        </p:nvSpPr>
        <p:spPr>
          <a:xfrm>
            <a:off x="4663440" y="395028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Role-Based Access Control (RBAC)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48"/>
          <p:cNvSpPr/>
          <p:nvPr/>
        </p:nvSpPr>
        <p:spPr>
          <a:xfrm>
            <a:off x="4663440" y="4279320"/>
            <a:ext cx="1325520" cy="5299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87" name="Text 49"/>
          <p:cNvSpPr/>
          <p:nvPr/>
        </p:nvSpPr>
        <p:spPr>
          <a:xfrm>
            <a:off x="4663440" y="432504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Admin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50"/>
          <p:cNvSpPr/>
          <p:nvPr/>
        </p:nvSpPr>
        <p:spPr>
          <a:xfrm>
            <a:off x="4663440" y="455364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Pełny dostęp + zarządzanie flotą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51"/>
          <p:cNvSpPr/>
          <p:nvPr/>
        </p:nvSpPr>
        <p:spPr>
          <a:xfrm>
            <a:off x="6062400" y="4279320"/>
            <a:ext cx="1325520" cy="52992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90" name="Text 52"/>
          <p:cNvSpPr/>
          <p:nvPr/>
        </p:nvSpPr>
        <p:spPr>
          <a:xfrm>
            <a:off x="6062400" y="432504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Operator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53"/>
          <p:cNvSpPr/>
          <p:nvPr/>
        </p:nvSpPr>
        <p:spPr>
          <a:xfrm>
            <a:off x="6062400" y="455364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Sterowanie i monitoring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Shape 54"/>
          <p:cNvSpPr/>
          <p:nvPr/>
        </p:nvSpPr>
        <p:spPr>
          <a:xfrm>
            <a:off x="7461360" y="4279320"/>
            <a:ext cx="1325520" cy="5299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93" name="Text 55"/>
          <p:cNvSpPr/>
          <p:nvPr/>
        </p:nvSpPr>
        <p:spPr>
          <a:xfrm>
            <a:off x="7461360" y="432504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Viewer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56"/>
          <p:cNvSpPr/>
          <p:nvPr/>
        </p:nvSpPr>
        <p:spPr>
          <a:xfrm>
            <a:off x="7461360" y="4553640"/>
            <a:ext cx="1325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Tylko odczyt danych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96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97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Persystencja danych i synchronizacja offline-first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799" name="Text 5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Aplikacje IoT muszą działać przy słabym lub braku połączenia — strategia offline-first jest kluczowa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6"/>
          <p:cNvSpPr/>
          <p:nvPr/>
        </p:nvSpPr>
        <p:spPr>
          <a:xfrm>
            <a:off x="320040" y="117036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Lokalne bazy danych: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Shape 7"/>
          <p:cNvSpPr/>
          <p:nvPr/>
        </p:nvSpPr>
        <p:spPr>
          <a:xfrm>
            <a:off x="320040" y="1508760"/>
            <a:ext cx="4160160" cy="7311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02" name="Shape 8"/>
          <p:cNvSpPr/>
          <p:nvPr/>
        </p:nvSpPr>
        <p:spPr>
          <a:xfrm>
            <a:off x="320040" y="1508760"/>
            <a:ext cx="63720" cy="73116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03" name="Text 9"/>
          <p:cNvSpPr/>
          <p:nvPr/>
        </p:nvSpPr>
        <p:spPr>
          <a:xfrm>
            <a:off x="457200" y="1541880"/>
            <a:ext cx="3977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Room (Android)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10"/>
          <p:cNvSpPr/>
          <p:nvPr/>
        </p:nvSpPr>
        <p:spPr>
          <a:xfrm>
            <a:off x="457200" y="189288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SQLite wrapper z walidacją schema w compile-time, obsługa Flows dla reaktywnych zapytań, migracje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11"/>
          <p:cNvSpPr/>
          <p:nvPr/>
        </p:nvSpPr>
        <p:spPr>
          <a:xfrm>
            <a:off x="320040" y="2313360"/>
            <a:ext cx="4160160" cy="7311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06" name="Shape 12"/>
          <p:cNvSpPr/>
          <p:nvPr/>
        </p:nvSpPr>
        <p:spPr>
          <a:xfrm>
            <a:off x="320040" y="2313360"/>
            <a:ext cx="63720" cy="7311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07" name="Text 13"/>
          <p:cNvSpPr/>
          <p:nvPr/>
        </p:nvSpPr>
        <p:spPr>
          <a:xfrm>
            <a:off x="457200" y="2346480"/>
            <a:ext cx="3977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Core Data (iOS)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14"/>
          <p:cNvSpPr/>
          <p:nvPr/>
        </p:nvSpPr>
        <p:spPr>
          <a:xfrm>
            <a:off x="457200" y="269748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Managed Object Context, persistent stores, NSFetchedResultsController do reaktywnych list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15"/>
          <p:cNvSpPr/>
          <p:nvPr/>
        </p:nvSpPr>
        <p:spPr>
          <a:xfrm>
            <a:off x="320040" y="3117960"/>
            <a:ext cx="4160160" cy="73116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10" name="Shape 16"/>
          <p:cNvSpPr/>
          <p:nvPr/>
        </p:nvSpPr>
        <p:spPr>
          <a:xfrm>
            <a:off x="320040" y="3117960"/>
            <a:ext cx="63720" cy="7311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11" name="Text 17"/>
          <p:cNvSpPr/>
          <p:nvPr/>
        </p:nvSpPr>
        <p:spPr>
          <a:xfrm>
            <a:off x="457200" y="3151440"/>
            <a:ext cx="3977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SQLite.swift / GRDB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18"/>
          <p:cNvSpPr/>
          <p:nvPr/>
        </p:nvSpPr>
        <p:spPr>
          <a:xfrm>
            <a:off x="457200" y="350208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Cross-platform (KMP), typesafety, FTS (full-text search) dla historii danych IoT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13" name="Grupa 20"/>
          <p:cNvGrpSpPr/>
          <p:nvPr/>
        </p:nvGrpSpPr>
        <p:grpSpPr>
          <a:xfrm>
            <a:off x="320040" y="3958920"/>
            <a:ext cx="4161240" cy="719640"/>
            <a:chOff x="320040" y="3958920"/>
            <a:chExt cx="4161240" cy="719640"/>
          </a:xfrm>
        </p:grpSpPr>
        <p:sp>
          <p:nvSpPr>
            <p:cNvPr id="814" name="Shape 19"/>
            <p:cNvSpPr/>
            <p:nvPr/>
          </p:nvSpPr>
          <p:spPr>
            <a:xfrm>
              <a:off x="320040" y="3958920"/>
              <a:ext cx="4161240" cy="71964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e2e8f0"/>
              </a:solidFill>
              <a:miter/>
            </a:ln>
            <a:effectLst>
              <a:outerShdw algn="tl" dir="8100000" dist="25455">
                <a:srgbClr val="000000">
                  <a:alpha val="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51120" bIns="51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815" name="Shape 20"/>
            <p:cNvSpPr/>
            <p:nvPr/>
          </p:nvSpPr>
          <p:spPr>
            <a:xfrm>
              <a:off x="320040" y="3958920"/>
              <a:ext cx="63720" cy="719640"/>
            </a:xfrm>
            <a:prstGeom prst="rect">
              <a:avLst/>
            </a:prstGeom>
            <a:solidFill>
              <a:srgbClr val="f59e0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</p:grpSp>
      <p:sp>
        <p:nvSpPr>
          <p:cNvPr id="816" name="Text 21"/>
          <p:cNvSpPr/>
          <p:nvPr/>
        </p:nvSpPr>
        <p:spPr>
          <a:xfrm>
            <a:off x="457200" y="3956040"/>
            <a:ext cx="39772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Realm Database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22"/>
          <p:cNvSpPr/>
          <p:nvPr/>
        </p:nvSpPr>
        <p:spPr>
          <a:xfrm>
            <a:off x="457200" y="430668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Mobilna baza obiektowa — szybka, reaktywna, z synchronizacją Atlas Sync (MongoDB)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23"/>
          <p:cNvSpPr/>
          <p:nvPr/>
        </p:nvSpPr>
        <p:spPr>
          <a:xfrm>
            <a:off x="4663440" y="117036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Strategia synchronizacji: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24"/>
          <p:cNvSpPr/>
          <p:nvPr/>
        </p:nvSpPr>
        <p:spPr>
          <a:xfrm>
            <a:off x="4663440" y="1508760"/>
            <a:ext cx="4205880" cy="201132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20" name="Text 25"/>
          <p:cNvSpPr/>
          <p:nvPr/>
        </p:nvSpPr>
        <p:spPr>
          <a:xfrm>
            <a:off x="4754880" y="1581840"/>
            <a:ext cx="4068720" cy="19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// Offline queue pattern (Kotlin)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class IoTDataRepository(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private val localDb: SensorDao,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private val remoteApi: IoTApiService,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private val networkMonitor: NetworkMonitor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) {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fun saveMeasurement(data: SensorData) {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localDb.insert(data.copy(synced = false))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if (networkMonitor.isConnected) {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syncPending()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private fun syncPending() {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val unsynced = localDb.getUnsynced()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unsynced.forEach { data -&gt;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remoteApi.upload(data).onSuccess {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  localDb.markSynced(data.id)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  }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  }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709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a5d6a7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l-PL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26"/>
          <p:cNvSpPr/>
          <p:nvPr/>
        </p:nvSpPr>
        <p:spPr>
          <a:xfrm>
            <a:off x="4663440" y="361188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Wzorce konfliktu synchronizacji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Shape 27"/>
          <p:cNvSpPr/>
          <p:nvPr/>
        </p:nvSpPr>
        <p:spPr>
          <a:xfrm>
            <a:off x="4663440" y="3931920"/>
            <a:ext cx="4205880" cy="2923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23" name="Shape 28"/>
          <p:cNvSpPr/>
          <p:nvPr/>
        </p:nvSpPr>
        <p:spPr>
          <a:xfrm>
            <a:off x="4663440" y="3931920"/>
            <a:ext cx="63720" cy="29232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24" name="Text 29"/>
          <p:cNvSpPr/>
          <p:nvPr/>
        </p:nvSpPr>
        <p:spPr>
          <a:xfrm>
            <a:off x="4800600" y="3940920"/>
            <a:ext cx="402300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Last-Write-Wins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30"/>
          <p:cNvSpPr/>
          <p:nvPr/>
        </p:nvSpPr>
        <p:spPr>
          <a:xfrm>
            <a:off x="4800600" y="4316040"/>
            <a:ext cx="4023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Prosta, może tracić dane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Shape 31"/>
          <p:cNvSpPr/>
          <p:nvPr/>
        </p:nvSpPr>
        <p:spPr>
          <a:xfrm>
            <a:off x="4663440" y="4270320"/>
            <a:ext cx="4205880" cy="2923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27" name="Shape 32"/>
          <p:cNvSpPr/>
          <p:nvPr/>
        </p:nvSpPr>
        <p:spPr>
          <a:xfrm>
            <a:off x="4663440" y="4270320"/>
            <a:ext cx="63720" cy="29232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28" name="Text 33"/>
          <p:cNvSpPr/>
          <p:nvPr/>
        </p:nvSpPr>
        <p:spPr>
          <a:xfrm>
            <a:off x="4800600" y="4306680"/>
            <a:ext cx="402300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CRDT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 34"/>
          <p:cNvSpPr/>
          <p:nvPr/>
        </p:nvSpPr>
        <p:spPr>
          <a:xfrm>
            <a:off x="4800600" y="4654440"/>
            <a:ext cx="4023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Bez konfliktów, złożona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Shape 35"/>
          <p:cNvSpPr/>
          <p:nvPr/>
        </p:nvSpPr>
        <p:spPr>
          <a:xfrm>
            <a:off x="4663440" y="4608720"/>
            <a:ext cx="4205880" cy="29232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31" name="Shape 36"/>
          <p:cNvSpPr/>
          <p:nvPr/>
        </p:nvSpPr>
        <p:spPr>
          <a:xfrm>
            <a:off x="4663440" y="4608720"/>
            <a:ext cx="63720" cy="29232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32" name="Text 37"/>
          <p:cNvSpPr/>
          <p:nvPr/>
        </p:nvSpPr>
        <p:spPr>
          <a:xfrm>
            <a:off x="4800600" y="4617720"/>
            <a:ext cx="402300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Server-Authoritative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 38"/>
          <p:cNvSpPr/>
          <p:nvPr/>
        </p:nvSpPr>
        <p:spPr>
          <a:xfrm>
            <a:off x="4800600" y="4776480"/>
            <a:ext cx="402300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Serwer rozstrzyga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35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36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Przetwarzanie w tle i powiadomienia push w IoT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38" name="Text 5"/>
          <p:cNvSpPr/>
          <p:nvPr/>
        </p:nvSpPr>
        <p:spPr>
          <a:xfrm>
            <a:off x="320040" y="77724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Android: Background Processing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Shape 6"/>
          <p:cNvSpPr/>
          <p:nvPr/>
        </p:nvSpPr>
        <p:spPr>
          <a:xfrm>
            <a:off x="320040" y="1115640"/>
            <a:ext cx="416016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40" name="Shape 7"/>
          <p:cNvSpPr/>
          <p:nvPr/>
        </p:nvSpPr>
        <p:spPr>
          <a:xfrm>
            <a:off x="320040" y="1115640"/>
            <a:ext cx="63720" cy="80424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41" name="Text 8"/>
          <p:cNvSpPr/>
          <p:nvPr/>
        </p:nvSpPr>
        <p:spPr>
          <a:xfrm>
            <a:off x="457200" y="118872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Foreground Service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Text 9"/>
          <p:cNvSpPr/>
          <p:nvPr/>
        </p:nvSpPr>
        <p:spPr>
          <a:xfrm>
            <a:off x="457200" y="1499760"/>
            <a:ext cx="3977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MQTT connection utrzymywana przez Foreground Service — widoczna notyfikacja wymagana przez OS. Najlepsza opcja dla ciągłego IoT.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Shape 10"/>
          <p:cNvSpPr/>
          <p:nvPr/>
        </p:nvSpPr>
        <p:spPr>
          <a:xfrm>
            <a:off x="320040" y="2002680"/>
            <a:ext cx="416016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44" name="Shape 11"/>
          <p:cNvSpPr/>
          <p:nvPr/>
        </p:nvSpPr>
        <p:spPr>
          <a:xfrm>
            <a:off x="320040" y="2002680"/>
            <a:ext cx="63720" cy="804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45" name="Text 12"/>
          <p:cNvSpPr/>
          <p:nvPr/>
        </p:nvSpPr>
        <p:spPr>
          <a:xfrm>
            <a:off x="457200" y="207576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WorkManager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 13"/>
          <p:cNvSpPr/>
          <p:nvPr/>
        </p:nvSpPr>
        <p:spPr>
          <a:xfrm>
            <a:off x="457200" y="2386440"/>
            <a:ext cx="3977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Zadania periodyczne (synchronizacja, raportowanie). Gwarancja wykonania nawet po restarcie. Obsługuje Doze Mode.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14"/>
          <p:cNvSpPr/>
          <p:nvPr/>
        </p:nvSpPr>
        <p:spPr>
          <a:xfrm>
            <a:off x="320040" y="2889360"/>
            <a:ext cx="416016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48" name="Shape 15"/>
          <p:cNvSpPr/>
          <p:nvPr/>
        </p:nvSpPr>
        <p:spPr>
          <a:xfrm>
            <a:off x="320040" y="2889360"/>
            <a:ext cx="63720" cy="8042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49" name="Text 16"/>
          <p:cNvSpPr/>
          <p:nvPr/>
        </p:nvSpPr>
        <p:spPr>
          <a:xfrm>
            <a:off x="457200" y="296280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AlarmManager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17"/>
          <p:cNvSpPr/>
          <p:nvPr/>
        </p:nvSpPr>
        <p:spPr>
          <a:xfrm>
            <a:off x="457200" y="3273480"/>
            <a:ext cx="3977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Dokładne timingi (np. próbkowanie co 1 min). Wymaga pozwolenia SCHEDULE_EXACT_ALARM (Android 12+).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18"/>
          <p:cNvSpPr/>
          <p:nvPr/>
        </p:nvSpPr>
        <p:spPr>
          <a:xfrm>
            <a:off x="320040" y="3776400"/>
            <a:ext cx="416016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52" name="Shape 19"/>
          <p:cNvSpPr/>
          <p:nvPr/>
        </p:nvSpPr>
        <p:spPr>
          <a:xfrm>
            <a:off x="320040" y="3776400"/>
            <a:ext cx="63720" cy="8042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53" name="Text 20"/>
          <p:cNvSpPr/>
          <p:nvPr/>
        </p:nvSpPr>
        <p:spPr>
          <a:xfrm>
            <a:off x="457200" y="384948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JobScheduler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21"/>
          <p:cNvSpPr/>
          <p:nvPr/>
        </p:nvSpPr>
        <p:spPr>
          <a:xfrm>
            <a:off x="457200" y="4160520"/>
            <a:ext cx="3977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Elastyczne warunki (sieć, ładowanie). Wbudowany w system — nie wymaga Wake Locks.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Text 22"/>
          <p:cNvSpPr/>
          <p:nvPr/>
        </p:nvSpPr>
        <p:spPr>
          <a:xfrm>
            <a:off x="4663440" y="77724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IOS: Background Modes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23"/>
          <p:cNvSpPr/>
          <p:nvPr/>
        </p:nvSpPr>
        <p:spPr>
          <a:xfrm>
            <a:off x="4663440" y="1115640"/>
            <a:ext cx="420588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57" name="Shape 24"/>
          <p:cNvSpPr/>
          <p:nvPr/>
        </p:nvSpPr>
        <p:spPr>
          <a:xfrm>
            <a:off x="4663440" y="1115640"/>
            <a:ext cx="63720" cy="804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58" name="Text 25"/>
          <p:cNvSpPr/>
          <p:nvPr/>
        </p:nvSpPr>
        <p:spPr>
          <a:xfrm>
            <a:off x="4800600" y="118872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Background Fetch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26"/>
          <p:cNvSpPr/>
          <p:nvPr/>
        </p:nvSpPr>
        <p:spPr>
          <a:xfrm>
            <a:off x="4800600" y="1499760"/>
            <a:ext cx="4023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System wywołuje apkę co jakiś czas (≥15 min) — ograniczone, system decyduje o częstotliwości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Shape 27"/>
          <p:cNvSpPr/>
          <p:nvPr/>
        </p:nvSpPr>
        <p:spPr>
          <a:xfrm>
            <a:off x="4663440" y="2002680"/>
            <a:ext cx="420588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61" name="Shape 28"/>
          <p:cNvSpPr/>
          <p:nvPr/>
        </p:nvSpPr>
        <p:spPr>
          <a:xfrm>
            <a:off x="4663440" y="2002680"/>
            <a:ext cx="63720" cy="804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62" name="Text 29"/>
          <p:cNvSpPr/>
          <p:nvPr/>
        </p:nvSpPr>
        <p:spPr>
          <a:xfrm>
            <a:off x="4800600" y="207576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Push to Sync (Silent Push)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 30"/>
          <p:cNvSpPr/>
          <p:nvPr/>
        </p:nvSpPr>
        <p:spPr>
          <a:xfrm>
            <a:off x="4800600" y="2386440"/>
            <a:ext cx="4023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Serwer wysyła APNs silent notification → apka budzi się i synchronizuje (30s limit)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Shape 31"/>
          <p:cNvSpPr/>
          <p:nvPr/>
        </p:nvSpPr>
        <p:spPr>
          <a:xfrm>
            <a:off x="4663440" y="2889360"/>
            <a:ext cx="420588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65" name="Shape 32"/>
          <p:cNvSpPr/>
          <p:nvPr/>
        </p:nvSpPr>
        <p:spPr>
          <a:xfrm>
            <a:off x="4663440" y="2889360"/>
            <a:ext cx="63720" cy="804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66" name="Text 33"/>
          <p:cNvSpPr/>
          <p:nvPr/>
        </p:nvSpPr>
        <p:spPr>
          <a:xfrm>
            <a:off x="4800600" y="296280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Background URLSession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 34"/>
          <p:cNvSpPr/>
          <p:nvPr/>
        </p:nvSpPr>
        <p:spPr>
          <a:xfrm>
            <a:off x="4800600" y="3273480"/>
            <a:ext cx="4023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Pobieranie/wysyłanie dużych danych w tle — transfer kontynuowany po zawieszeniu apki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Shape 35"/>
          <p:cNvSpPr/>
          <p:nvPr/>
        </p:nvSpPr>
        <p:spPr>
          <a:xfrm>
            <a:off x="4663440" y="3776400"/>
            <a:ext cx="4205880" cy="8042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69" name="Shape 36"/>
          <p:cNvSpPr/>
          <p:nvPr/>
        </p:nvSpPr>
        <p:spPr>
          <a:xfrm>
            <a:off x="4663440" y="3776400"/>
            <a:ext cx="63720" cy="8042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70" name="Text 37"/>
          <p:cNvSpPr/>
          <p:nvPr/>
        </p:nvSpPr>
        <p:spPr>
          <a:xfrm>
            <a:off x="4800600" y="384948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CoreBluetooth CBManager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Text 38"/>
          <p:cNvSpPr/>
          <p:nvPr/>
        </p:nvSpPr>
        <p:spPr>
          <a:xfrm>
            <a:off x="4800600" y="4160520"/>
            <a:ext cx="4023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Stan.restoration — odtworzenie połączeń BLE po restarcie apki, stała łączność z urządzeniami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 39"/>
          <p:cNvSpPr/>
          <p:nvPr/>
        </p:nvSpPr>
        <p:spPr>
          <a:xfrm>
            <a:off x="248040" y="4645080"/>
            <a:ext cx="8679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Push Notifications dla IoT — FCM (Android) / APNs (iOS): alerty progowe, alarmy bezpieczeństwa, statusy urządzeń, raporty agregowane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74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75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Optymalizacja zużycia energii w aplikacjach IoT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877" name="Text 5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Urządzenia IoT są często zasilane bateryjnie — optymalizacja energetyczna jest wymaganiem niefunkcjonalnym pierwszej klasy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78" name="Grupa 7"/>
          <p:cNvGrpSpPr/>
          <p:nvPr/>
        </p:nvGrpSpPr>
        <p:grpSpPr>
          <a:xfrm>
            <a:off x="320040" y="1224720"/>
            <a:ext cx="8503560" cy="2374920"/>
            <a:chOff x="320040" y="1224720"/>
            <a:chExt cx="8503560" cy="2374920"/>
          </a:xfrm>
        </p:grpSpPr>
        <p:sp>
          <p:nvSpPr>
            <p:cNvPr id="879" name="Text 6"/>
            <p:cNvSpPr/>
            <p:nvPr/>
          </p:nvSpPr>
          <p:spPr>
            <a:xfrm>
              <a:off x="320040" y="1224720"/>
              <a:ext cx="8503560" cy="21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400" b="1" u="none" strike="noStrike">
                  <a:solidFill>
                    <a:srgbClr val="1a2547"/>
                  </a:solidFill>
                  <a:effectLst/>
                  <a:uFillTx/>
                  <a:latin typeface="Cambria"/>
                  <a:ea typeface="Cambria"/>
                </a:rPr>
                <a:t>Główne konsumenci energii</a:t>
              </a:r>
              <a:endParaRPr lang="pl-PL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0" name="Text 7"/>
            <p:cNvSpPr/>
            <p:nvPr/>
          </p:nvSpPr>
          <p:spPr>
            <a:xfrm>
              <a:off x="320040" y="1514160"/>
              <a:ext cx="2011320" cy="27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BLE/Wi-Fi Radio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1" name="Shape 8"/>
            <p:cNvSpPr/>
            <p:nvPr/>
          </p:nvSpPr>
          <p:spPr>
            <a:xfrm>
              <a:off x="2423160" y="1557720"/>
              <a:ext cx="3885840" cy="202320"/>
            </a:xfrm>
            <a:prstGeom prst="rect">
              <a:avLst/>
            </a:prstGeom>
            <a:solidFill>
              <a:srgbClr val="ef44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882" name="Text 9"/>
            <p:cNvSpPr/>
            <p:nvPr/>
          </p:nvSpPr>
          <p:spPr>
            <a:xfrm>
              <a:off x="7132320" y="1514160"/>
              <a:ext cx="456840" cy="27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85%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Text 10"/>
            <p:cNvSpPr/>
            <p:nvPr/>
          </p:nvSpPr>
          <p:spPr>
            <a:xfrm>
              <a:off x="320040" y="1876320"/>
              <a:ext cx="2011320" cy="27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CPU Processing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4" name="Shape 11"/>
            <p:cNvSpPr/>
            <p:nvPr/>
          </p:nvSpPr>
          <p:spPr>
            <a:xfrm>
              <a:off x="2423160" y="1919880"/>
              <a:ext cx="3200040" cy="202320"/>
            </a:xfrm>
            <a:prstGeom prst="rect">
              <a:avLst/>
            </a:prstGeom>
            <a:solidFill>
              <a:srgbClr val="ef44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885" name="Text 12"/>
            <p:cNvSpPr/>
            <p:nvPr/>
          </p:nvSpPr>
          <p:spPr>
            <a:xfrm>
              <a:off x="7132320" y="1876320"/>
              <a:ext cx="456840" cy="27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70%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6" name="Text 13"/>
            <p:cNvSpPr/>
            <p:nvPr/>
          </p:nvSpPr>
          <p:spPr>
            <a:xfrm>
              <a:off x="320040" y="2238840"/>
              <a:ext cx="201132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Screen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7" name="Shape 14"/>
            <p:cNvSpPr/>
            <p:nvPr/>
          </p:nvSpPr>
          <p:spPr>
            <a:xfrm>
              <a:off x="2423160" y="2281680"/>
              <a:ext cx="2742840" cy="202680"/>
            </a:xfrm>
            <a:prstGeom prst="rect">
              <a:avLst/>
            </a:prstGeom>
            <a:solidFill>
              <a:srgbClr val="f59e0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888" name="Text 15"/>
            <p:cNvSpPr/>
            <p:nvPr/>
          </p:nvSpPr>
          <p:spPr>
            <a:xfrm>
              <a:off x="7132320" y="2238840"/>
              <a:ext cx="45684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60%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Text 16"/>
            <p:cNvSpPr/>
            <p:nvPr/>
          </p:nvSpPr>
          <p:spPr>
            <a:xfrm>
              <a:off x="320040" y="2600640"/>
              <a:ext cx="201132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GPS/Location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0" name="Shape 17"/>
            <p:cNvSpPr/>
            <p:nvPr/>
          </p:nvSpPr>
          <p:spPr>
            <a:xfrm>
              <a:off x="2423160" y="2643840"/>
              <a:ext cx="2285640" cy="202680"/>
            </a:xfrm>
            <a:prstGeom prst="rect">
              <a:avLst/>
            </a:prstGeom>
            <a:solidFill>
              <a:srgbClr val="f59e0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891" name="Text 18"/>
            <p:cNvSpPr/>
            <p:nvPr/>
          </p:nvSpPr>
          <p:spPr>
            <a:xfrm>
              <a:off x="7132320" y="2600640"/>
              <a:ext cx="45684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50%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2" name="Text 19"/>
            <p:cNvSpPr/>
            <p:nvPr/>
          </p:nvSpPr>
          <p:spPr>
            <a:xfrm>
              <a:off x="320040" y="2962800"/>
              <a:ext cx="201132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MQTT Keep-Alive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" name="Shape 20"/>
            <p:cNvSpPr/>
            <p:nvPr/>
          </p:nvSpPr>
          <p:spPr>
            <a:xfrm>
              <a:off x="2423160" y="3006000"/>
              <a:ext cx="1371240" cy="202320"/>
            </a:xfrm>
            <a:prstGeom prst="rect">
              <a:avLst/>
            </a:prstGeom>
            <a:solidFill>
              <a:srgbClr val="10b98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894" name="Text 21"/>
            <p:cNvSpPr/>
            <p:nvPr/>
          </p:nvSpPr>
          <p:spPr>
            <a:xfrm>
              <a:off x="7132320" y="2962800"/>
              <a:ext cx="45684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30%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5" name="Text 22"/>
            <p:cNvSpPr/>
            <p:nvPr/>
          </p:nvSpPr>
          <p:spPr>
            <a:xfrm>
              <a:off x="320040" y="3324960"/>
              <a:ext cx="201132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1e293b"/>
                  </a:solidFill>
                  <a:effectLst/>
                  <a:uFillTx/>
                  <a:latin typeface="Calibri"/>
                  <a:ea typeface="Calibri"/>
                </a:rPr>
                <a:t>Sensor Reading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6" name="Shape 23"/>
            <p:cNvSpPr/>
            <p:nvPr/>
          </p:nvSpPr>
          <p:spPr>
            <a:xfrm>
              <a:off x="2423160" y="3368160"/>
              <a:ext cx="685440" cy="202320"/>
            </a:xfrm>
            <a:prstGeom prst="rect">
              <a:avLst/>
            </a:prstGeom>
            <a:solidFill>
              <a:srgbClr val="10b98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897" name="Text 24"/>
            <p:cNvSpPr/>
            <p:nvPr/>
          </p:nvSpPr>
          <p:spPr>
            <a:xfrm>
              <a:off x="7132320" y="3324960"/>
              <a:ext cx="45684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1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15%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8" name="Text 25"/>
          <p:cNvSpPr/>
          <p:nvPr/>
        </p:nvSpPr>
        <p:spPr>
          <a:xfrm>
            <a:off x="320040" y="399996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Techniki optymalizacji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Shape 26"/>
          <p:cNvSpPr/>
          <p:nvPr/>
        </p:nvSpPr>
        <p:spPr>
          <a:xfrm>
            <a:off x="320040" y="4320000"/>
            <a:ext cx="164160" cy="164160"/>
          </a:xfrm>
          <a:custGeom>
            <a:avLst/>
            <a:gdLst>
              <a:gd name="textAreaLeft" fmla="*/ 23760 w 164160"/>
              <a:gd name="textAreaRight" fmla="*/ 140400 w 164160"/>
              <a:gd name="textAreaTop" fmla="*/ 23760 h 164160"/>
              <a:gd name="textAreaBottom" fmla="*/ 140400 h 16416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228" h="360">
                <a:moveTo>
                  <a:pt x="0" y="228"/>
                </a:moveTo>
                <a:arcTo wR="228.5" hR="228.5" stAng="10800000" swAng="21600000"/>
                <a:close/>
              </a:path>
            </a:pathLst>
          </a:cu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00" name="Text 27"/>
          <p:cNvSpPr/>
          <p:nvPr/>
        </p:nvSpPr>
        <p:spPr>
          <a:xfrm>
            <a:off x="548640" y="431100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Adaptive polling — rzadsze próbkowanie gdy dane stabilne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28"/>
          <p:cNvSpPr/>
          <p:nvPr/>
        </p:nvSpPr>
        <p:spPr>
          <a:xfrm>
            <a:off x="4709160" y="4320000"/>
            <a:ext cx="164160" cy="164160"/>
          </a:xfrm>
          <a:custGeom>
            <a:avLst/>
            <a:gdLst>
              <a:gd name="textAreaLeft" fmla="*/ 23760 w 164160"/>
              <a:gd name="textAreaRight" fmla="*/ 140400 w 164160"/>
              <a:gd name="textAreaTop" fmla="*/ 23760 h 164160"/>
              <a:gd name="textAreaBottom" fmla="*/ 140400 h 16416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228" h="360">
                <a:moveTo>
                  <a:pt x="0" y="228"/>
                </a:moveTo>
                <a:arcTo wR="228.5" hR="228.5" stAng="10800000" swAng="21600000"/>
                <a:close/>
              </a:path>
            </a:pathLst>
          </a:cu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02" name="Text 29"/>
          <p:cNvSpPr/>
          <p:nvPr/>
        </p:nvSpPr>
        <p:spPr>
          <a:xfrm>
            <a:off x="4937760" y="431100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BLE connection interval tuning — dłuższe interwały przy nieaktywności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Shape 30"/>
          <p:cNvSpPr/>
          <p:nvPr/>
        </p:nvSpPr>
        <p:spPr>
          <a:xfrm>
            <a:off x="320040" y="4557600"/>
            <a:ext cx="164160" cy="164160"/>
          </a:xfrm>
          <a:custGeom>
            <a:avLst/>
            <a:gdLst>
              <a:gd name="textAreaLeft" fmla="*/ 23760 w 164160"/>
              <a:gd name="textAreaRight" fmla="*/ 140400 w 164160"/>
              <a:gd name="textAreaTop" fmla="*/ 23760 h 164160"/>
              <a:gd name="textAreaBottom" fmla="*/ 140400 h 16416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228" h="360">
                <a:moveTo>
                  <a:pt x="0" y="228"/>
                </a:moveTo>
                <a:arcTo wR="228.5" hR="228.5" stAng="10800000" swAng="21600000"/>
                <a:close/>
              </a:path>
            </a:pathLst>
          </a:cu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04" name="Text 31"/>
          <p:cNvSpPr/>
          <p:nvPr/>
        </p:nvSpPr>
        <p:spPr>
          <a:xfrm>
            <a:off x="548640" y="454860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Batch uploads — grupowanie danych i wysyłka rzadko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Shape 32"/>
          <p:cNvSpPr/>
          <p:nvPr/>
        </p:nvSpPr>
        <p:spPr>
          <a:xfrm>
            <a:off x="4709160" y="4557600"/>
            <a:ext cx="164160" cy="164160"/>
          </a:xfrm>
          <a:custGeom>
            <a:avLst/>
            <a:gdLst>
              <a:gd name="textAreaLeft" fmla="*/ 23760 w 164160"/>
              <a:gd name="textAreaRight" fmla="*/ 140400 w 164160"/>
              <a:gd name="textAreaTop" fmla="*/ 23760 h 164160"/>
              <a:gd name="textAreaBottom" fmla="*/ 140400 h 16416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228" h="360">
                <a:moveTo>
                  <a:pt x="0" y="228"/>
                </a:moveTo>
                <a:arcTo wR="228.5" hR="228.5" stAng="10800000" swAng="21600000"/>
                <a:close/>
              </a:path>
            </a:pathLst>
          </a:cu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06" name="Text 33"/>
          <p:cNvSpPr/>
          <p:nvPr/>
        </p:nvSpPr>
        <p:spPr>
          <a:xfrm>
            <a:off x="4937760" y="4548600"/>
            <a:ext cx="39315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Data compression przed transmisją — mniejsze pakiety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08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09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Projektowanie UX/UI dla aplikacji mobilnych IoT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11" name="Text 5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Dobre UI/UX dla IoT musi priorytetyzować szybkość dostępu do informacji krytycznych i intuicyjność sterowania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Shape 6"/>
          <p:cNvSpPr/>
          <p:nvPr/>
        </p:nvSpPr>
        <p:spPr>
          <a:xfrm>
            <a:off x="320040" y="1170360"/>
            <a:ext cx="2742840" cy="15998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13" name="Shape 7"/>
          <p:cNvSpPr/>
          <p:nvPr/>
        </p:nvSpPr>
        <p:spPr>
          <a:xfrm>
            <a:off x="320040" y="1170360"/>
            <a:ext cx="2742840" cy="38376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14" name="Text 8"/>
          <p:cNvSpPr/>
          <p:nvPr/>
        </p:nvSpPr>
        <p:spPr>
          <a:xfrm>
            <a:off x="411480" y="124344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① Hierarchia informacji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Text 9"/>
          <p:cNvSpPr/>
          <p:nvPr/>
        </p:nvSpPr>
        <p:spPr>
          <a:xfrm>
            <a:off x="411480" y="1627560"/>
            <a:ext cx="26056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Krytyczne alerty na pierwszym planie. Dashboard ze statusem wszystkich urządzeń na głównym ekranie. Szczegóły na 2. poziomie nawigacji.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Shape 10"/>
          <p:cNvSpPr/>
          <p:nvPr/>
        </p:nvSpPr>
        <p:spPr>
          <a:xfrm>
            <a:off x="3200400" y="1170360"/>
            <a:ext cx="2742840" cy="15998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17" name="Shape 11"/>
          <p:cNvSpPr/>
          <p:nvPr/>
        </p:nvSpPr>
        <p:spPr>
          <a:xfrm>
            <a:off x="3200400" y="1170360"/>
            <a:ext cx="2742840" cy="3837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18" name="Text 12"/>
          <p:cNvSpPr/>
          <p:nvPr/>
        </p:nvSpPr>
        <p:spPr>
          <a:xfrm>
            <a:off x="3291840" y="124344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② Status w czasie rzeczywistym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Text 13"/>
          <p:cNvSpPr/>
          <p:nvPr/>
        </p:nvSpPr>
        <p:spPr>
          <a:xfrm>
            <a:off x="3291840" y="1627560"/>
            <a:ext cx="26056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Wskaźniki online/offline dla każdego urządzenia. Timestamp ostatniego odczytu. Animowane zmiany wartości (nie tylko suche liczby).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Shape 14"/>
          <p:cNvSpPr/>
          <p:nvPr/>
        </p:nvSpPr>
        <p:spPr>
          <a:xfrm>
            <a:off x="6080760" y="1170360"/>
            <a:ext cx="2742840" cy="15998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21" name="Shape 15"/>
          <p:cNvSpPr/>
          <p:nvPr/>
        </p:nvSpPr>
        <p:spPr>
          <a:xfrm>
            <a:off x="6080760" y="1170360"/>
            <a:ext cx="2742840" cy="3837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22" name="Text 16"/>
          <p:cNvSpPr/>
          <p:nvPr/>
        </p:nvSpPr>
        <p:spPr>
          <a:xfrm>
            <a:off x="6172200" y="124344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③ Kontrolki dotykowe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 17"/>
          <p:cNvSpPr/>
          <p:nvPr/>
        </p:nvSpPr>
        <p:spPr>
          <a:xfrm>
            <a:off x="6172200" y="1627560"/>
            <a:ext cx="26056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Przyciski sterowania minimum 44×44dp (Android) / 44pt (iOS). Toggle switches zamiast pól tekstowych dla stanu ON/OFF.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Shape 18"/>
          <p:cNvSpPr/>
          <p:nvPr/>
        </p:nvSpPr>
        <p:spPr>
          <a:xfrm>
            <a:off x="320040" y="2907720"/>
            <a:ext cx="2742840" cy="15998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25" name="Shape 19"/>
          <p:cNvSpPr/>
          <p:nvPr/>
        </p:nvSpPr>
        <p:spPr>
          <a:xfrm>
            <a:off x="320040" y="2907720"/>
            <a:ext cx="2742840" cy="3837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26" name="Text 20"/>
          <p:cNvSpPr/>
          <p:nvPr/>
        </p:nvSpPr>
        <p:spPr>
          <a:xfrm>
            <a:off x="411480" y="298080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④ Obsługa błędów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Text 21"/>
          <p:cNvSpPr/>
          <p:nvPr/>
        </p:nvSpPr>
        <p:spPr>
          <a:xfrm>
            <a:off x="411480" y="3364920"/>
            <a:ext cx="26056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Wyraźna informacja o utracie połączenia. Pokazuj ostatnią znana wartość z timestampem. Retry mechcanism z exponential backoff.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Shape 22"/>
          <p:cNvSpPr/>
          <p:nvPr/>
        </p:nvSpPr>
        <p:spPr>
          <a:xfrm>
            <a:off x="3200400" y="2907720"/>
            <a:ext cx="2742840" cy="15998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29" name="Shape 23"/>
          <p:cNvSpPr/>
          <p:nvPr/>
        </p:nvSpPr>
        <p:spPr>
          <a:xfrm>
            <a:off x="3200400" y="2907720"/>
            <a:ext cx="2742840" cy="3837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30" name="Text 24"/>
          <p:cNvSpPr/>
          <p:nvPr/>
        </p:nvSpPr>
        <p:spPr>
          <a:xfrm>
            <a:off x="3291840" y="298080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⑤ Powiadomienia kontekstowe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 25"/>
          <p:cNvSpPr/>
          <p:nvPr/>
        </p:nvSpPr>
        <p:spPr>
          <a:xfrm>
            <a:off x="3291840" y="3364920"/>
            <a:ext cx="26056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Alerty z kontekstem — nie tylko 'Alarm!' ale 'Temperatura w salonie: 38°C (próg: 30°C) — 14:32'. Możliwość wyciszenia z ekranu powiadomienia.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Shape 26"/>
          <p:cNvSpPr/>
          <p:nvPr/>
        </p:nvSpPr>
        <p:spPr>
          <a:xfrm>
            <a:off x="6080760" y="2907720"/>
            <a:ext cx="2742840" cy="15998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33" name="Shape 27"/>
          <p:cNvSpPr/>
          <p:nvPr/>
        </p:nvSpPr>
        <p:spPr>
          <a:xfrm>
            <a:off x="6080760" y="2907720"/>
            <a:ext cx="2742840" cy="38376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34" name="Text 28"/>
          <p:cNvSpPr/>
          <p:nvPr/>
        </p:nvSpPr>
        <p:spPr>
          <a:xfrm>
            <a:off x="6172200" y="298080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⑥ Dark Mode i dostępność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 29"/>
          <p:cNvSpPr/>
          <p:nvPr/>
        </p:nvSpPr>
        <p:spPr>
          <a:xfrm>
            <a:off x="6172200" y="3364920"/>
            <a:ext cx="26056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Dark Mode ważny dla urządzeń przemysłowych (słaby kontrast w jasnych warunkach). Wsparcie TalkBack/VoiceOver, minimalny kontrast 4.5:1.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37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38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 Strategie i narzędzia testowania aplikacji IoT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40" name="Text 5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Piramida testów IoT: testy jednostkowe dominują, integracyjne pokrywają protokoły, E2E walidują scenariusze użytkownika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Shape 6"/>
          <p:cNvSpPr/>
          <p:nvPr/>
        </p:nvSpPr>
        <p:spPr>
          <a:xfrm>
            <a:off x="2926080" y="1234440"/>
            <a:ext cx="3291480" cy="7128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42" name="Text 7"/>
          <p:cNvSpPr/>
          <p:nvPr/>
        </p:nvSpPr>
        <p:spPr>
          <a:xfrm>
            <a:off x="3063240" y="120816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E2E Tests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Text 8"/>
          <p:cNvSpPr/>
          <p:nvPr/>
        </p:nvSpPr>
        <p:spPr>
          <a:xfrm>
            <a:off x="3063240" y="1509840"/>
            <a:ext cx="3017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Espresso, UI Automator (Android)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XCUITest (iOS), Maestro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Shape 9"/>
          <p:cNvSpPr/>
          <p:nvPr/>
        </p:nvSpPr>
        <p:spPr>
          <a:xfrm>
            <a:off x="1828800" y="1993320"/>
            <a:ext cx="5486040" cy="719640"/>
          </a:xfrm>
          <a:prstGeom prst="rect">
            <a:avLst/>
          </a:prstGeom>
          <a:solidFill>
            <a:srgbClr val="3465a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45" name="Text 10"/>
          <p:cNvSpPr/>
          <p:nvPr/>
        </p:nvSpPr>
        <p:spPr>
          <a:xfrm>
            <a:off x="1965960" y="1967040"/>
            <a:ext cx="5211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Integration Tests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11"/>
          <p:cNvSpPr/>
          <p:nvPr/>
        </p:nvSpPr>
        <p:spPr>
          <a:xfrm>
            <a:off x="1965960" y="2268720"/>
            <a:ext cx="5211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MockWebServer (OkHttp), WireMock, Fake MQTT broker (Mosquitto in-memory)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Shape 12"/>
          <p:cNvSpPr/>
          <p:nvPr/>
        </p:nvSpPr>
        <p:spPr>
          <a:xfrm>
            <a:off x="640080" y="2752200"/>
            <a:ext cx="7863480" cy="7128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48" name="Text 13"/>
          <p:cNvSpPr/>
          <p:nvPr/>
        </p:nvSpPr>
        <p:spPr>
          <a:xfrm>
            <a:off x="777240" y="2725920"/>
            <a:ext cx="7589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Unit Tests</a:t>
            </a:r>
            <a:endParaRPr lang="pl-PL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Text 14"/>
          <p:cNvSpPr/>
          <p:nvPr/>
        </p:nvSpPr>
        <p:spPr>
          <a:xfrm>
            <a:off x="777240" y="3027960"/>
            <a:ext cx="7589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JUnit5 + Mockito (Android), XCTest + Quick/Nimble (iOS), Kotlin Coroutines TestScope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Text 15"/>
          <p:cNvSpPr/>
          <p:nvPr/>
        </p:nvSpPr>
        <p:spPr>
          <a:xfrm>
            <a:off x="320040" y="358452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Specyfika testowania IoT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Shape 16"/>
          <p:cNvSpPr/>
          <p:nvPr/>
        </p:nvSpPr>
        <p:spPr>
          <a:xfrm>
            <a:off x="320040" y="3913560"/>
            <a:ext cx="2011320" cy="8956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52" name="Shape 17"/>
          <p:cNvSpPr/>
          <p:nvPr/>
        </p:nvSpPr>
        <p:spPr>
          <a:xfrm>
            <a:off x="320040" y="3913560"/>
            <a:ext cx="2011320" cy="5436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53" name="Text 18"/>
          <p:cNvSpPr/>
          <p:nvPr/>
        </p:nvSpPr>
        <p:spPr>
          <a:xfrm>
            <a:off x="411480" y="398664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e5fa8"/>
                </a:solidFill>
                <a:effectLst/>
                <a:uFillTx/>
                <a:latin typeface="Cambria"/>
                <a:ea typeface="Cambria"/>
              </a:rPr>
              <a:t>Symulacja urządzeń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Text 19"/>
          <p:cNvSpPr/>
          <p:nvPr/>
        </p:nvSpPr>
        <p:spPr>
          <a:xfrm>
            <a:off x="411480" y="4251960"/>
            <a:ext cx="1874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Wirtualny sensor w Dockerze </a:t>
            </a:r>
            <a:br>
              <a:rPr sz="1100"/>
            </a:b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z MQTT, generowanie danych testowych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Shape 20"/>
          <p:cNvSpPr/>
          <p:nvPr/>
        </p:nvSpPr>
        <p:spPr>
          <a:xfrm>
            <a:off x="2468880" y="3913560"/>
            <a:ext cx="2011320" cy="8956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56" name="Shape 21"/>
          <p:cNvSpPr/>
          <p:nvPr/>
        </p:nvSpPr>
        <p:spPr>
          <a:xfrm>
            <a:off x="2468880" y="3913560"/>
            <a:ext cx="2011320" cy="54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57" name="Text 22"/>
          <p:cNvSpPr/>
          <p:nvPr/>
        </p:nvSpPr>
        <p:spPr>
          <a:xfrm>
            <a:off x="2560320" y="398664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d9488"/>
                </a:solidFill>
                <a:effectLst/>
                <a:uFillTx/>
                <a:latin typeface="Cambria"/>
                <a:ea typeface="Cambria"/>
              </a:rPr>
              <a:t>Testy połączenia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Text 23"/>
          <p:cNvSpPr/>
          <p:nvPr/>
        </p:nvSpPr>
        <p:spPr>
          <a:xfrm>
            <a:off x="2560320" y="4251960"/>
            <a:ext cx="1874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Symulacja utraty sieci, wolnego łącza (Charles Proxy, tc netem)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Shape 24"/>
          <p:cNvSpPr/>
          <p:nvPr/>
        </p:nvSpPr>
        <p:spPr>
          <a:xfrm>
            <a:off x="4617720" y="3913560"/>
            <a:ext cx="2011320" cy="8956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60" name="Shape 25"/>
          <p:cNvSpPr/>
          <p:nvPr/>
        </p:nvSpPr>
        <p:spPr>
          <a:xfrm>
            <a:off x="4617720" y="3913560"/>
            <a:ext cx="2011320" cy="54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61" name="Text 26"/>
          <p:cNvSpPr/>
          <p:nvPr/>
        </p:nvSpPr>
        <p:spPr>
          <a:xfrm>
            <a:off x="4709160" y="398664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Cambria"/>
                <a:ea typeface="Cambria"/>
              </a:rPr>
              <a:t>Testy protokołów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Text 27"/>
          <p:cNvSpPr/>
          <p:nvPr/>
        </p:nvSpPr>
        <p:spPr>
          <a:xfrm>
            <a:off x="4709160" y="4251960"/>
            <a:ext cx="1874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Walidacja poprawności wiadomości MQTT/CoAP, sprawdzanie QoS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Shape 28"/>
          <p:cNvSpPr/>
          <p:nvPr/>
        </p:nvSpPr>
        <p:spPr>
          <a:xfrm>
            <a:off x="6766560" y="3913560"/>
            <a:ext cx="2011320" cy="89568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21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64" name="Shape 29"/>
          <p:cNvSpPr/>
          <p:nvPr/>
        </p:nvSpPr>
        <p:spPr>
          <a:xfrm>
            <a:off x="6766560" y="3913560"/>
            <a:ext cx="2011320" cy="5436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65" name="Text 30"/>
          <p:cNvSpPr/>
          <p:nvPr/>
        </p:nvSpPr>
        <p:spPr>
          <a:xfrm>
            <a:off x="6858000" y="3986640"/>
            <a:ext cx="1874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ef4444"/>
                </a:solidFill>
                <a:effectLst/>
                <a:uFillTx/>
                <a:latin typeface="Cambria"/>
                <a:ea typeface="Cambria"/>
              </a:rPr>
              <a:t>Testy bezpieczeństwa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Text 31"/>
          <p:cNvSpPr/>
          <p:nvPr/>
        </p:nvSpPr>
        <p:spPr>
          <a:xfrm>
            <a:off x="6858000" y="4251960"/>
            <a:ext cx="1874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Penetration testing (OWASP Mobile), Zed Attack Proxy (ZAP)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68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69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Zarządzanie flotą urządzeń IoT z aplikacji mobilnej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71" name="Text 5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Device Management obejmuje cały lifecycle urządzenia — od provisioning po decommissioning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Shape 6"/>
          <p:cNvSpPr/>
          <p:nvPr/>
        </p:nvSpPr>
        <p:spPr>
          <a:xfrm>
            <a:off x="320040" y="1170360"/>
            <a:ext cx="1298160" cy="47520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73" name="Text 7"/>
          <p:cNvSpPr/>
          <p:nvPr/>
        </p:nvSpPr>
        <p:spPr>
          <a:xfrm>
            <a:off x="320040" y="1216080"/>
            <a:ext cx="129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Provisioning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Text 8"/>
          <p:cNvSpPr/>
          <p:nvPr/>
        </p:nvSpPr>
        <p:spPr>
          <a:xfrm>
            <a:off x="1591200" y="1261800"/>
            <a:ext cx="14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Shape 9"/>
          <p:cNvSpPr/>
          <p:nvPr/>
        </p:nvSpPr>
        <p:spPr>
          <a:xfrm>
            <a:off x="1737360" y="1170360"/>
            <a:ext cx="1298160" cy="47520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76" name="Text 10"/>
          <p:cNvSpPr/>
          <p:nvPr/>
        </p:nvSpPr>
        <p:spPr>
          <a:xfrm>
            <a:off x="1737360" y="1216080"/>
            <a:ext cx="129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Rejestracja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Text 11"/>
          <p:cNvSpPr/>
          <p:nvPr/>
        </p:nvSpPr>
        <p:spPr>
          <a:xfrm>
            <a:off x="3008520" y="1261800"/>
            <a:ext cx="14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Shape 12"/>
          <p:cNvSpPr/>
          <p:nvPr/>
        </p:nvSpPr>
        <p:spPr>
          <a:xfrm>
            <a:off x="3154680" y="1170360"/>
            <a:ext cx="1298160" cy="4752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79" name="Text 13"/>
          <p:cNvSpPr/>
          <p:nvPr/>
        </p:nvSpPr>
        <p:spPr>
          <a:xfrm>
            <a:off x="3154680" y="1216080"/>
            <a:ext cx="129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Monitoring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 14"/>
          <p:cNvSpPr/>
          <p:nvPr/>
        </p:nvSpPr>
        <p:spPr>
          <a:xfrm>
            <a:off x="4425840" y="1261800"/>
            <a:ext cx="14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Shape 15"/>
          <p:cNvSpPr/>
          <p:nvPr/>
        </p:nvSpPr>
        <p:spPr>
          <a:xfrm>
            <a:off x="4572000" y="1170360"/>
            <a:ext cx="1298160" cy="4752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82" name="Text 16"/>
          <p:cNvSpPr/>
          <p:nvPr/>
        </p:nvSpPr>
        <p:spPr>
          <a:xfrm>
            <a:off x="4572000" y="1216080"/>
            <a:ext cx="129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Aktualizacja (OTA)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Text 17"/>
          <p:cNvSpPr/>
          <p:nvPr/>
        </p:nvSpPr>
        <p:spPr>
          <a:xfrm>
            <a:off x="5843160" y="1261800"/>
            <a:ext cx="14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Shape 18"/>
          <p:cNvSpPr/>
          <p:nvPr/>
        </p:nvSpPr>
        <p:spPr>
          <a:xfrm>
            <a:off x="5989320" y="1170360"/>
            <a:ext cx="1298160" cy="4752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85" name="Text 19"/>
          <p:cNvSpPr/>
          <p:nvPr/>
        </p:nvSpPr>
        <p:spPr>
          <a:xfrm>
            <a:off x="5989320" y="1216080"/>
            <a:ext cx="129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Diagnostyka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Text 20"/>
          <p:cNvSpPr/>
          <p:nvPr/>
        </p:nvSpPr>
        <p:spPr>
          <a:xfrm>
            <a:off x="7260480" y="1261800"/>
            <a:ext cx="14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Shape 21"/>
          <p:cNvSpPr/>
          <p:nvPr/>
        </p:nvSpPr>
        <p:spPr>
          <a:xfrm>
            <a:off x="7406640" y="1170360"/>
            <a:ext cx="1298160" cy="47520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88" name="Text 22"/>
          <p:cNvSpPr/>
          <p:nvPr/>
        </p:nvSpPr>
        <p:spPr>
          <a:xfrm>
            <a:off x="7406640" y="1216080"/>
            <a:ext cx="1298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Decommission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Shape 23"/>
          <p:cNvSpPr/>
          <p:nvPr/>
        </p:nvSpPr>
        <p:spPr>
          <a:xfrm>
            <a:off x="320040" y="1828800"/>
            <a:ext cx="4160160" cy="1261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90" name="Shape 24"/>
          <p:cNvSpPr/>
          <p:nvPr/>
        </p:nvSpPr>
        <p:spPr>
          <a:xfrm>
            <a:off x="320040" y="1828800"/>
            <a:ext cx="63720" cy="1261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91" name="Text 25"/>
          <p:cNvSpPr/>
          <p:nvPr/>
        </p:nvSpPr>
        <p:spPr>
          <a:xfrm>
            <a:off x="457200" y="190188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Provisioning (QR Code / BLE)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Text 26"/>
          <p:cNvSpPr/>
          <p:nvPr/>
        </p:nvSpPr>
        <p:spPr>
          <a:xfrm>
            <a:off x="457200" y="2212920"/>
            <a:ext cx="3977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Użytkownik skanuje QR kod na urządzeniu → aplikacja wysyła dane Wi-Fi i certyfikat X.509 przez BLE (secure channel) → urządzenie łączy się z brokerem IoT. Użycie: AWS IoT Just-in-Time-Provisioning.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Shape 27"/>
          <p:cNvSpPr/>
          <p:nvPr/>
        </p:nvSpPr>
        <p:spPr>
          <a:xfrm>
            <a:off x="4709160" y="1828800"/>
            <a:ext cx="4160160" cy="1261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94" name="Shape 28"/>
          <p:cNvSpPr/>
          <p:nvPr/>
        </p:nvSpPr>
        <p:spPr>
          <a:xfrm>
            <a:off x="4709160" y="1828800"/>
            <a:ext cx="63720" cy="126144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95" name="Text 29"/>
          <p:cNvSpPr/>
          <p:nvPr/>
        </p:nvSpPr>
        <p:spPr>
          <a:xfrm>
            <a:off x="4846320" y="190188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Over-The-Air (OTA) Update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Text 30"/>
          <p:cNvSpPr/>
          <p:nvPr/>
        </p:nvSpPr>
        <p:spPr>
          <a:xfrm>
            <a:off x="4846320" y="2212920"/>
            <a:ext cx="3977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Aplikacja mobilna pobiera manifest aktualizacji z serwera (wersja, URL, hash SHA-256 firmware). Weryfikacja podpisu cyfrowego. Wysłanie URL przez MQTT do urządzenia. Monitorowanie postępu w czasie rzeczywistym.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Shape 31"/>
          <p:cNvSpPr/>
          <p:nvPr/>
        </p:nvSpPr>
        <p:spPr>
          <a:xfrm>
            <a:off x="320040" y="3218760"/>
            <a:ext cx="4160160" cy="1261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98" name="Shape 32"/>
          <p:cNvSpPr/>
          <p:nvPr/>
        </p:nvSpPr>
        <p:spPr>
          <a:xfrm>
            <a:off x="320040" y="3218760"/>
            <a:ext cx="63720" cy="126144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999" name="Text 33"/>
          <p:cNvSpPr/>
          <p:nvPr/>
        </p:nvSpPr>
        <p:spPr>
          <a:xfrm>
            <a:off x="457200" y="329184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Remote Diagnostics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Text 34"/>
          <p:cNvSpPr/>
          <p:nvPr/>
        </p:nvSpPr>
        <p:spPr>
          <a:xfrm>
            <a:off x="457200" y="3602880"/>
            <a:ext cx="3977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Shadow Device / Device Twin — wirtualna kopia stanu urządzenia w chmurze. Różnica między stanem reported (rzeczywistym) a desired (oczekiwanym) uruchamia akcję naprawczą. Logi urządzeń przez MQTT diagnostics topic.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Shape 35"/>
          <p:cNvSpPr/>
          <p:nvPr/>
        </p:nvSpPr>
        <p:spPr>
          <a:xfrm>
            <a:off x="4709160" y="3218760"/>
            <a:ext cx="4160160" cy="126144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02" name="Shape 36"/>
          <p:cNvSpPr/>
          <p:nvPr/>
        </p:nvSpPr>
        <p:spPr>
          <a:xfrm>
            <a:off x="4709160" y="3218760"/>
            <a:ext cx="63720" cy="126144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03" name="Text 37"/>
          <p:cNvSpPr/>
          <p:nvPr/>
        </p:nvSpPr>
        <p:spPr>
          <a:xfrm>
            <a:off x="4846320" y="329184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Fleet Analytics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Text 38"/>
          <p:cNvSpPr/>
          <p:nvPr/>
        </p:nvSpPr>
        <p:spPr>
          <a:xfrm>
            <a:off x="4846320" y="3602880"/>
            <a:ext cx="39772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Dashboard z agregowanymi statystykami: dostępność urządzeń (%), średnia latencja, liczba błędów, zużycie baterii floty. Alerty gdy &gt; X% urządzeń offline. Eksport danych CSV/PDF z aplikacji.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06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07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Case Study 1: Aplikacja Smart Home z IoT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Text 4"/>
          <p:cNvSpPr/>
          <p:nvPr/>
        </p:nvSpPr>
        <p:spPr>
          <a:xfrm>
            <a:off x="274320" y="4992480"/>
            <a:ext cx="8595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8899bb"/>
                </a:solidFill>
                <a:effectLst/>
                <a:uFillTx/>
                <a:latin typeface="Calibri"/>
                <a:ea typeface="Calibri"/>
              </a:rPr>
              <a:t>Programowanie Aplikacji Mobilnych z IoT  |  Studia Magisterskie Informatyki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Text 5"/>
          <p:cNvSpPr/>
          <p:nvPr/>
        </p:nvSpPr>
        <p:spPr>
          <a:xfrm>
            <a:off x="320040" y="77724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Architektura systemu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Shape 6"/>
          <p:cNvSpPr/>
          <p:nvPr/>
        </p:nvSpPr>
        <p:spPr>
          <a:xfrm>
            <a:off x="320040" y="1115640"/>
            <a:ext cx="4160160" cy="83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11" name="Shape 7"/>
          <p:cNvSpPr/>
          <p:nvPr/>
        </p:nvSpPr>
        <p:spPr>
          <a:xfrm>
            <a:off x="320040" y="1115640"/>
            <a:ext cx="63720" cy="8316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12" name="Text 8"/>
          <p:cNvSpPr/>
          <p:nvPr/>
        </p:nvSpPr>
        <p:spPr>
          <a:xfrm>
            <a:off x="457200" y="118872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Urządzenia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Text 9"/>
          <p:cNvSpPr/>
          <p:nvPr/>
        </p:nvSpPr>
        <p:spPr>
          <a:xfrm>
            <a:off x="457200" y="1499760"/>
            <a:ext cx="39772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Czujniki temp/wilg (Zigbee), żarówki Hue, zamek Z-Wave, kamera IP, termostat Z-Wave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Shape 10"/>
          <p:cNvSpPr/>
          <p:nvPr/>
        </p:nvSpPr>
        <p:spPr>
          <a:xfrm>
            <a:off x="320040" y="2030040"/>
            <a:ext cx="4160160" cy="83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15" name="Shape 11"/>
          <p:cNvSpPr/>
          <p:nvPr/>
        </p:nvSpPr>
        <p:spPr>
          <a:xfrm>
            <a:off x="320040" y="2030040"/>
            <a:ext cx="63720" cy="83160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16" name="Text 12"/>
          <p:cNvSpPr/>
          <p:nvPr/>
        </p:nvSpPr>
        <p:spPr>
          <a:xfrm>
            <a:off x="457200" y="210312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Hub lokalny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 13"/>
          <p:cNvSpPr/>
          <p:nvPr/>
        </p:nvSpPr>
        <p:spPr>
          <a:xfrm>
            <a:off x="457200" y="2414160"/>
            <a:ext cx="39772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Raspberry Pi 4 + Home Assistant + Mosquitto MQTT Broker. Brama do chmury przez VPN.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Shape 14"/>
          <p:cNvSpPr/>
          <p:nvPr/>
        </p:nvSpPr>
        <p:spPr>
          <a:xfrm>
            <a:off x="320040" y="2944440"/>
            <a:ext cx="4160160" cy="83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19" name="Shape 15"/>
          <p:cNvSpPr/>
          <p:nvPr/>
        </p:nvSpPr>
        <p:spPr>
          <a:xfrm>
            <a:off x="320040" y="2944440"/>
            <a:ext cx="63720" cy="83160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20" name="Text 16"/>
          <p:cNvSpPr/>
          <p:nvPr/>
        </p:nvSpPr>
        <p:spPr>
          <a:xfrm>
            <a:off x="457200" y="301752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Chmura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Text 17"/>
          <p:cNvSpPr/>
          <p:nvPr/>
        </p:nvSpPr>
        <p:spPr>
          <a:xfrm>
            <a:off x="457200" y="3328560"/>
            <a:ext cx="39772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AWS IoT Core jako MQTT broker w chmurze, DynamoDB (historia), Lambda (automatyzacje), SNS (alerty)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Shape 18"/>
          <p:cNvSpPr/>
          <p:nvPr/>
        </p:nvSpPr>
        <p:spPr>
          <a:xfrm>
            <a:off x="320040" y="3858840"/>
            <a:ext cx="4160160" cy="831600"/>
          </a:xfrm>
          <a:prstGeom prst="rect">
            <a:avLst/>
          </a:prstGeom>
          <a:solidFill>
            <a:srgbClr val="ffffff"/>
          </a:solidFill>
          <a:ln w="12600">
            <a:solidFill>
              <a:srgbClr val="e2e8f0"/>
            </a:solidFill>
            <a:miter/>
          </a:ln>
          <a:effectLst>
            <a:outerShdw algn="tl" dir="8100000" dist="25455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23" name="Shape 19"/>
          <p:cNvSpPr/>
          <p:nvPr/>
        </p:nvSpPr>
        <p:spPr>
          <a:xfrm>
            <a:off x="320040" y="3858840"/>
            <a:ext cx="63720" cy="83160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24" name="Text 20"/>
          <p:cNvSpPr/>
          <p:nvPr/>
        </p:nvSpPr>
        <p:spPr>
          <a:xfrm>
            <a:off x="457200" y="3931920"/>
            <a:ext cx="3977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ambria"/>
                <a:ea typeface="Cambria"/>
              </a:rPr>
              <a:t>Aplikacja mobilna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5" name="Text 21"/>
          <p:cNvSpPr/>
          <p:nvPr/>
        </p:nvSpPr>
        <p:spPr>
          <a:xfrm>
            <a:off x="457200" y="4242960"/>
            <a:ext cx="39772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Flutter — Android + iOS z jednej bazy kodu. Material You design. Offline support z Hive DB.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Text 22"/>
          <p:cNvSpPr/>
          <p:nvPr/>
        </p:nvSpPr>
        <p:spPr>
          <a:xfrm>
            <a:off x="4663440" y="77724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Funkcjonalności i wyzwania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Text 23"/>
          <p:cNvSpPr/>
          <p:nvPr/>
        </p:nvSpPr>
        <p:spPr>
          <a:xfrm>
            <a:off x="4663440" y="11430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9488"/>
                </a:solidFill>
                <a:effectLst/>
                <a:uFillTx/>
                <a:latin typeface="Cambria"/>
                <a:ea typeface="Cambria"/>
              </a:rPr>
              <a:t>Zaimplementowane funkcje: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Shape 24"/>
          <p:cNvSpPr/>
          <p:nvPr/>
        </p:nvSpPr>
        <p:spPr>
          <a:xfrm>
            <a:off x="4663440" y="1417320"/>
            <a:ext cx="145800" cy="145800"/>
          </a:xfrm>
          <a:custGeom>
            <a:avLst/>
            <a:gdLst>
              <a:gd name="textAreaLeft" fmla="*/ 21240 w 145800"/>
              <a:gd name="textAreaRight" fmla="*/ 124560 w 145800"/>
              <a:gd name="textAreaTop" fmla="*/ 21240 h 145800"/>
              <a:gd name="textAreaBottom" fmla="*/ 124560 h 145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203" h="360">
                <a:moveTo>
                  <a:pt x="0" y="203"/>
                </a:moveTo>
                <a:arcTo wR="203" hR="203" stAng="10800000" swAng="21600000"/>
                <a:close/>
              </a:path>
            </a:pathLst>
          </a:cu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29" name="Text 25"/>
          <p:cNvSpPr/>
          <p:nvPr/>
        </p:nvSpPr>
        <p:spPr>
          <a:xfrm>
            <a:off x="4873680" y="132840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Dashboard z wszystkimi urządzeniami (live status)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Shape 26"/>
          <p:cNvSpPr/>
          <p:nvPr/>
        </p:nvSpPr>
        <p:spPr>
          <a:xfrm>
            <a:off x="4663440" y="1783080"/>
            <a:ext cx="145800" cy="145800"/>
          </a:xfrm>
          <a:custGeom>
            <a:avLst/>
            <a:gdLst>
              <a:gd name="textAreaLeft" fmla="*/ 21240 w 145800"/>
              <a:gd name="textAreaRight" fmla="*/ 124560 w 145800"/>
              <a:gd name="textAreaTop" fmla="*/ 21240 h 145800"/>
              <a:gd name="textAreaBottom" fmla="*/ 124560 h 145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203" h="360">
                <a:moveTo>
                  <a:pt x="0" y="203"/>
                </a:moveTo>
                <a:arcTo wR="203" hR="203" stAng="10800000" swAng="21600000"/>
                <a:close/>
              </a:path>
            </a:pathLst>
          </a:cu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31" name="Text 27"/>
          <p:cNvSpPr/>
          <p:nvPr/>
        </p:nvSpPr>
        <p:spPr>
          <a:xfrm>
            <a:off x="4873680" y="169416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Automatyzacje (jeśli temp &gt; 25°C → włącz AC)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Shape 28"/>
          <p:cNvSpPr/>
          <p:nvPr/>
        </p:nvSpPr>
        <p:spPr>
          <a:xfrm>
            <a:off x="4663440" y="2148840"/>
            <a:ext cx="145800" cy="145800"/>
          </a:xfrm>
          <a:custGeom>
            <a:avLst/>
            <a:gdLst>
              <a:gd name="textAreaLeft" fmla="*/ 21240 w 145800"/>
              <a:gd name="textAreaRight" fmla="*/ 124560 w 145800"/>
              <a:gd name="textAreaTop" fmla="*/ 21240 h 145800"/>
              <a:gd name="textAreaBottom" fmla="*/ 124560 h 145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203" h="360">
                <a:moveTo>
                  <a:pt x="0" y="203"/>
                </a:moveTo>
                <a:arcTo wR="203" hR="203" stAng="10800000" swAng="21600000"/>
                <a:close/>
              </a:path>
            </a:pathLst>
          </a:cu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33" name="Text 29"/>
          <p:cNvSpPr/>
          <p:nvPr/>
        </p:nvSpPr>
        <p:spPr>
          <a:xfrm>
            <a:off x="4873680" y="205992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Historia danych — wykresy 24h / 7d / 30d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Shape 30"/>
          <p:cNvSpPr/>
          <p:nvPr/>
        </p:nvSpPr>
        <p:spPr>
          <a:xfrm>
            <a:off x="4663440" y="2514600"/>
            <a:ext cx="145800" cy="145800"/>
          </a:xfrm>
          <a:custGeom>
            <a:avLst/>
            <a:gdLst>
              <a:gd name="textAreaLeft" fmla="*/ 21240 w 145800"/>
              <a:gd name="textAreaRight" fmla="*/ 124560 w 145800"/>
              <a:gd name="textAreaTop" fmla="*/ 21240 h 145800"/>
              <a:gd name="textAreaBottom" fmla="*/ 124560 h 145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203" h="360">
                <a:moveTo>
                  <a:pt x="0" y="203"/>
                </a:moveTo>
                <a:arcTo wR="203" hR="203" stAng="10800000" swAng="21600000"/>
                <a:close/>
              </a:path>
            </a:pathLst>
          </a:cu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35" name="Text 31"/>
          <p:cNvSpPr/>
          <p:nvPr/>
        </p:nvSpPr>
        <p:spPr>
          <a:xfrm>
            <a:off x="4873680" y="242568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Geofencing — auto zamykanie zamka po wyjeździe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Shape 32"/>
          <p:cNvSpPr/>
          <p:nvPr/>
        </p:nvSpPr>
        <p:spPr>
          <a:xfrm>
            <a:off x="4663440" y="2880360"/>
            <a:ext cx="145800" cy="145800"/>
          </a:xfrm>
          <a:custGeom>
            <a:avLst/>
            <a:gdLst>
              <a:gd name="textAreaLeft" fmla="*/ 21240 w 145800"/>
              <a:gd name="textAreaRight" fmla="*/ 124560 w 145800"/>
              <a:gd name="textAreaTop" fmla="*/ 21240 h 145800"/>
              <a:gd name="textAreaBottom" fmla="*/ 124560 h 145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203" h="360">
                <a:moveTo>
                  <a:pt x="0" y="203"/>
                </a:moveTo>
                <a:arcTo wR="203" hR="203" stAng="10800000" swAng="21600000"/>
                <a:close/>
              </a:path>
            </a:pathLst>
          </a:cu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37" name="Text 33"/>
          <p:cNvSpPr/>
          <p:nvPr/>
        </p:nvSpPr>
        <p:spPr>
          <a:xfrm>
            <a:off x="4873680" y="279144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Widgety ekranu głównego (Android 12+)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Text 34"/>
          <p:cNvSpPr/>
          <p:nvPr/>
        </p:nvSpPr>
        <p:spPr>
          <a:xfrm>
            <a:off x="4663440" y="331020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ef4444"/>
                </a:solidFill>
                <a:effectLst/>
                <a:uFillTx/>
                <a:latin typeface="Cambria"/>
                <a:ea typeface="Cambria"/>
              </a:rPr>
              <a:t>Napotkane wyzwania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Shape 35"/>
          <p:cNvSpPr/>
          <p:nvPr/>
        </p:nvSpPr>
        <p:spPr>
          <a:xfrm>
            <a:off x="4663440" y="3602880"/>
            <a:ext cx="4205880" cy="319680"/>
          </a:xfrm>
          <a:prstGeom prst="rect">
            <a:avLst/>
          </a:prstGeom>
          <a:solidFill>
            <a:srgbClr val="fe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40" name="Text 36"/>
          <p:cNvSpPr/>
          <p:nvPr/>
        </p:nvSpPr>
        <p:spPr>
          <a:xfrm>
            <a:off x="4754880" y="359676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0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⚠ Heterogeniczność protokołów: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Text 37"/>
          <p:cNvSpPr/>
          <p:nvPr/>
        </p:nvSpPr>
        <p:spPr>
          <a:xfrm>
            <a:off x="4754880" y="3768120"/>
            <a:ext cx="4023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Rozwiązanie: Home Assistant jako universal translator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Shape 38"/>
          <p:cNvSpPr/>
          <p:nvPr/>
        </p:nvSpPr>
        <p:spPr>
          <a:xfrm>
            <a:off x="4663440" y="3968640"/>
            <a:ext cx="4205880" cy="3196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43" name="Text 39"/>
          <p:cNvSpPr/>
          <p:nvPr/>
        </p:nvSpPr>
        <p:spPr>
          <a:xfrm>
            <a:off x="4754880" y="396252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0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⚠ Latencja przez VPN: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Text 40"/>
          <p:cNvSpPr/>
          <p:nvPr/>
        </p:nvSpPr>
        <p:spPr>
          <a:xfrm>
            <a:off x="4754880" y="4133880"/>
            <a:ext cx="4023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Rozwiązanie: lokalne MDNS discovery + direct LAN fallback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Shape 41"/>
          <p:cNvSpPr/>
          <p:nvPr/>
        </p:nvSpPr>
        <p:spPr>
          <a:xfrm>
            <a:off x="4663440" y="4334400"/>
            <a:ext cx="4205880" cy="319680"/>
          </a:xfrm>
          <a:prstGeom prst="rect">
            <a:avLst/>
          </a:prstGeom>
          <a:solidFill>
            <a:srgbClr val="fef2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46" name="Text 42"/>
          <p:cNvSpPr/>
          <p:nvPr/>
        </p:nvSpPr>
        <p:spPr>
          <a:xfrm>
            <a:off x="4754880" y="4361760"/>
            <a:ext cx="40230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pl-PL" sz="1000" b="1" u="none" strike="noStrik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⚠ Zarządzanie baterią: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Text 43"/>
          <p:cNvSpPr/>
          <p:nvPr/>
        </p:nvSpPr>
        <p:spPr>
          <a:xfrm>
            <a:off x="4754880" y="4489560"/>
            <a:ext cx="402300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Rozwiązanie: adaptacyjne interwały polling + push only dla alertów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49" name="Shape 1"/>
          <p:cNvSpPr/>
          <p:nvPr/>
        </p:nvSpPr>
        <p:spPr>
          <a:xfrm>
            <a:off x="0" y="658440"/>
            <a:ext cx="914364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50" name="Text 2"/>
          <p:cNvSpPr/>
          <p:nvPr/>
        </p:nvSpPr>
        <p:spPr>
          <a:xfrm>
            <a:off x="365760" y="36720"/>
            <a:ext cx="8412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Case Study 2: Przemysłowy system monitoringu maszyn (IIoT)</a:t>
            </a:r>
            <a:endParaRPr lang="pl-PL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Shape 3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2435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52" name="Text 5"/>
          <p:cNvSpPr/>
          <p:nvPr/>
        </p:nvSpPr>
        <p:spPr>
          <a:xfrm>
            <a:off x="365760" y="7772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System monitoringu parku maszynowego fabryki </a:t>
            </a:r>
            <a:r>
              <a:rPr lang="pl-PL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-</a:t>
            </a: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500 maszyn, 15 000 czujników, 200 TB danych/rok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Shape 6"/>
          <p:cNvSpPr/>
          <p:nvPr/>
        </p:nvSpPr>
        <p:spPr>
          <a:xfrm>
            <a:off x="320040" y="1170360"/>
            <a:ext cx="2011320" cy="102384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54" name="Shape 7"/>
          <p:cNvSpPr/>
          <p:nvPr/>
        </p:nvSpPr>
        <p:spPr>
          <a:xfrm>
            <a:off x="320040" y="1170360"/>
            <a:ext cx="201132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55" name="Text 8"/>
          <p:cNvSpPr/>
          <p:nvPr/>
        </p:nvSpPr>
        <p:spPr>
          <a:xfrm>
            <a:off x="320040" y="126180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&lt;5 ms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Text 9"/>
          <p:cNvSpPr/>
          <p:nvPr/>
        </p:nvSpPr>
        <p:spPr>
          <a:xfrm>
            <a:off x="320040" y="176472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Latencja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alertów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Shape 10"/>
          <p:cNvSpPr/>
          <p:nvPr/>
        </p:nvSpPr>
        <p:spPr>
          <a:xfrm>
            <a:off x="2468880" y="1170360"/>
            <a:ext cx="2011320" cy="102384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58" name="Shape 11"/>
          <p:cNvSpPr/>
          <p:nvPr/>
        </p:nvSpPr>
        <p:spPr>
          <a:xfrm>
            <a:off x="2468880" y="1170360"/>
            <a:ext cx="201132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59" name="Text 12"/>
          <p:cNvSpPr/>
          <p:nvPr/>
        </p:nvSpPr>
        <p:spPr>
          <a:xfrm>
            <a:off x="2468880" y="126180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99.99%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Text 13"/>
          <p:cNvSpPr/>
          <p:nvPr/>
        </p:nvSpPr>
        <p:spPr>
          <a:xfrm>
            <a:off x="2468880" y="176472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Dostępność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systemu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Shape 14"/>
          <p:cNvSpPr/>
          <p:nvPr/>
        </p:nvSpPr>
        <p:spPr>
          <a:xfrm>
            <a:off x="4617720" y="1170360"/>
            <a:ext cx="2011320" cy="102384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62" name="Shape 15"/>
          <p:cNvSpPr/>
          <p:nvPr/>
        </p:nvSpPr>
        <p:spPr>
          <a:xfrm>
            <a:off x="4617720" y="1170360"/>
            <a:ext cx="201132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63" name="Text 16"/>
          <p:cNvSpPr/>
          <p:nvPr/>
        </p:nvSpPr>
        <p:spPr>
          <a:xfrm>
            <a:off x="4617720" y="126180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40%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Text 17"/>
          <p:cNvSpPr/>
          <p:nvPr/>
        </p:nvSpPr>
        <p:spPr>
          <a:xfrm>
            <a:off x="4617720" y="176472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Redukcja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awarii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Shape 18"/>
          <p:cNvSpPr/>
          <p:nvPr/>
        </p:nvSpPr>
        <p:spPr>
          <a:xfrm>
            <a:off x="6766560" y="1170360"/>
            <a:ext cx="2011320" cy="102384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66" name="Shape 19"/>
          <p:cNvSpPr/>
          <p:nvPr/>
        </p:nvSpPr>
        <p:spPr>
          <a:xfrm>
            <a:off x="6766560" y="1170360"/>
            <a:ext cx="2011320" cy="45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2680" bIns="226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67" name="Text 20"/>
          <p:cNvSpPr/>
          <p:nvPr/>
        </p:nvSpPr>
        <p:spPr>
          <a:xfrm>
            <a:off x="6766560" y="126180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18 mies.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Text 21"/>
          <p:cNvSpPr/>
          <p:nvPr/>
        </p:nvSpPr>
        <p:spPr>
          <a:xfrm>
            <a:off x="6766560" y="176472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ROI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projektu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Text 22"/>
          <p:cNvSpPr/>
          <p:nvPr/>
        </p:nvSpPr>
        <p:spPr>
          <a:xfrm>
            <a:off x="320040" y="2331720"/>
            <a:ext cx="4160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Stos technologiczny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Shape 23"/>
          <p:cNvSpPr/>
          <p:nvPr/>
        </p:nvSpPr>
        <p:spPr>
          <a:xfrm>
            <a:off x="320040" y="2670120"/>
            <a:ext cx="45360" cy="27396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71" name="Text 24"/>
          <p:cNvSpPr/>
          <p:nvPr/>
        </p:nvSpPr>
        <p:spPr>
          <a:xfrm>
            <a:off x="410400" y="2688480"/>
            <a:ext cx="366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Czujniki → PLC → OPC-UA → MQTT Gateway → AWS IoT Core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Shape 25"/>
          <p:cNvSpPr/>
          <p:nvPr/>
        </p:nvSpPr>
        <p:spPr>
          <a:xfrm>
            <a:off x="320040" y="3054240"/>
            <a:ext cx="45360" cy="2739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73" name="Text 26"/>
          <p:cNvSpPr/>
          <p:nvPr/>
        </p:nvSpPr>
        <p:spPr>
          <a:xfrm>
            <a:off x="410400" y="3072240"/>
            <a:ext cx="366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TimescaleDB (PostgreSQL + time-series) dla danych historycznych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Shape 27"/>
          <p:cNvSpPr/>
          <p:nvPr/>
        </p:nvSpPr>
        <p:spPr>
          <a:xfrm>
            <a:off x="320040" y="3438000"/>
            <a:ext cx="45360" cy="2739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75" name="Text 28"/>
          <p:cNvSpPr/>
          <p:nvPr/>
        </p:nvSpPr>
        <p:spPr>
          <a:xfrm>
            <a:off x="410400" y="3456360"/>
            <a:ext cx="366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Apache Kafka dla event streaming (anomalie, alerty)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Shape 29"/>
          <p:cNvSpPr/>
          <p:nvPr/>
        </p:nvSpPr>
        <p:spPr>
          <a:xfrm>
            <a:off x="320040" y="3822120"/>
            <a:ext cx="45360" cy="2739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77" name="Text 30"/>
          <p:cNvSpPr/>
          <p:nvPr/>
        </p:nvSpPr>
        <p:spPr>
          <a:xfrm>
            <a:off x="410400" y="3840480"/>
            <a:ext cx="366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TensorFlow Lite — predictive maintenance modele na tablet Android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Shape 31"/>
          <p:cNvSpPr/>
          <p:nvPr/>
        </p:nvSpPr>
        <p:spPr>
          <a:xfrm>
            <a:off x="320040" y="4206240"/>
            <a:ext cx="45360" cy="27396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79" name="Text 32"/>
          <p:cNvSpPr/>
          <p:nvPr/>
        </p:nvSpPr>
        <p:spPr>
          <a:xfrm>
            <a:off x="410400" y="4224600"/>
            <a:ext cx="366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React Native tablet app — operator panel z AR overlay (kamera)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Text 33"/>
          <p:cNvSpPr/>
          <p:nvPr/>
        </p:nvSpPr>
        <p:spPr>
          <a:xfrm>
            <a:off x="4389120" y="2331720"/>
            <a:ext cx="448020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Kluczowe wnioski z projektu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81" name="Grupa 51"/>
          <p:cNvGrpSpPr/>
          <p:nvPr/>
        </p:nvGrpSpPr>
        <p:grpSpPr>
          <a:xfrm>
            <a:off x="4389120" y="2596680"/>
            <a:ext cx="4480200" cy="2239920"/>
            <a:chOff x="4389120" y="2596680"/>
            <a:chExt cx="4480200" cy="2239920"/>
          </a:xfrm>
        </p:grpSpPr>
        <p:sp>
          <p:nvSpPr>
            <p:cNvPr id="1082" name="Shape 34"/>
            <p:cNvSpPr/>
            <p:nvPr/>
          </p:nvSpPr>
          <p:spPr>
            <a:xfrm>
              <a:off x="4389120" y="2596680"/>
              <a:ext cx="4480200" cy="508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e2e8f0"/>
              </a:solidFill>
              <a:miter/>
            </a:ln>
            <a:effectLst>
              <a:outerShdw algn="tl" dir="8100000" dist="25455">
                <a:srgbClr val="000000">
                  <a:alpha val="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51120" bIns="51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1083" name="Shape 35"/>
            <p:cNvSpPr/>
            <p:nvPr/>
          </p:nvSpPr>
          <p:spPr>
            <a:xfrm>
              <a:off x="4389120" y="2596680"/>
              <a:ext cx="68040" cy="508680"/>
            </a:xfrm>
            <a:prstGeom prst="rect">
              <a:avLst/>
            </a:prstGeom>
            <a:solidFill>
              <a:srgbClr val="1e5fa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1084" name="Text 36"/>
            <p:cNvSpPr/>
            <p:nvPr/>
          </p:nvSpPr>
          <p:spPr>
            <a:xfrm>
              <a:off x="4535280" y="2626560"/>
              <a:ext cx="4285440" cy="135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0f172a"/>
                  </a:solidFill>
                  <a:effectLst/>
                  <a:uFillTx/>
                  <a:latin typeface="Cambria"/>
                  <a:ea typeface="Cambria"/>
                </a:rPr>
                <a:t>Protocol translation krytyczny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5" name="Text 37"/>
            <p:cNvSpPr/>
            <p:nvPr/>
          </p:nvSpPr>
          <p:spPr>
            <a:xfrm>
              <a:off x="4535280" y="2812320"/>
              <a:ext cx="4285440" cy="250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OPC-UA, Modbus, PROFINET </a:t>
              </a:r>
              <a:r>
                <a:rPr lang="pl-PL" sz="10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-</a:t>
              </a:r>
              <a:r>
                <a:rPr lang="en-US" sz="10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 każdy PLC mówi innym językiem. Gateway jest kluczowy.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" name="Shape 38"/>
            <p:cNvSpPr/>
            <p:nvPr/>
          </p:nvSpPr>
          <p:spPr>
            <a:xfrm>
              <a:off x="4389120" y="3173760"/>
              <a:ext cx="4480200" cy="508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e2e8f0"/>
              </a:solidFill>
              <a:miter/>
            </a:ln>
            <a:effectLst>
              <a:outerShdw algn="tl" dir="8100000" dist="25455">
                <a:srgbClr val="000000">
                  <a:alpha val="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51120" bIns="51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1087" name="Shape 39"/>
            <p:cNvSpPr/>
            <p:nvPr/>
          </p:nvSpPr>
          <p:spPr>
            <a:xfrm>
              <a:off x="4389120" y="3173760"/>
              <a:ext cx="68040" cy="508680"/>
            </a:xfrm>
            <a:prstGeom prst="rect">
              <a:avLst/>
            </a:prstGeom>
            <a:solidFill>
              <a:srgbClr val="0d948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1088" name="Text 40"/>
            <p:cNvSpPr/>
            <p:nvPr/>
          </p:nvSpPr>
          <p:spPr>
            <a:xfrm>
              <a:off x="4535280" y="3197160"/>
              <a:ext cx="4285440" cy="15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0f172a"/>
                  </a:solidFill>
                  <a:effectLst/>
                  <a:uFillTx/>
                  <a:latin typeface="Cambria"/>
                  <a:ea typeface="Cambria"/>
                </a:rPr>
                <a:t>Edge ML opłacalne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9" name="Text 41"/>
            <p:cNvSpPr/>
            <p:nvPr/>
          </p:nvSpPr>
          <p:spPr>
            <a:xfrm>
              <a:off x="4535280" y="3403080"/>
              <a:ext cx="4285440" cy="19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Detekcja anomalii na urządzeniu zmniejsza transmisję do chmury o 95%. Koszt: model 2 MB.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0" name="Shape 42"/>
            <p:cNvSpPr/>
            <p:nvPr/>
          </p:nvSpPr>
          <p:spPr>
            <a:xfrm>
              <a:off x="4389120" y="3750840"/>
              <a:ext cx="4480200" cy="508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e2e8f0"/>
              </a:solidFill>
              <a:miter/>
            </a:ln>
            <a:effectLst>
              <a:outerShdw algn="tl" dir="8100000" dist="25455">
                <a:srgbClr val="000000">
                  <a:alpha val="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51120" bIns="51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1091" name="Shape 43"/>
            <p:cNvSpPr/>
            <p:nvPr/>
          </p:nvSpPr>
          <p:spPr>
            <a:xfrm>
              <a:off x="4389120" y="3750840"/>
              <a:ext cx="68040" cy="508680"/>
            </a:xfrm>
            <a:prstGeom prst="rect">
              <a:avLst/>
            </a:prstGeom>
            <a:solidFill>
              <a:srgbClr val="ef44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1092" name="Text 44"/>
            <p:cNvSpPr/>
            <p:nvPr/>
          </p:nvSpPr>
          <p:spPr>
            <a:xfrm>
              <a:off x="4535280" y="3780360"/>
              <a:ext cx="4285440" cy="144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0f172a"/>
                  </a:solidFill>
                  <a:effectLst/>
                  <a:uFillTx/>
                  <a:latin typeface="Cambria"/>
                  <a:ea typeface="Cambria"/>
                </a:rPr>
                <a:t>Security compliance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3" name="Text 45"/>
            <p:cNvSpPr/>
            <p:nvPr/>
          </p:nvSpPr>
          <p:spPr>
            <a:xfrm>
              <a:off x="4535280" y="3988440"/>
              <a:ext cx="4285440" cy="186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ISO 27001 + IEC 62443</a:t>
              </a:r>
              <a:r>
                <a:rPr lang="pl-PL" sz="10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;</a:t>
              </a:r>
              <a:r>
                <a:rPr lang="en-US" sz="10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 regulatorzy przemysłowi wymagają formalnego audytu bezpieczeństwa.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4" name="Shape 46"/>
            <p:cNvSpPr/>
            <p:nvPr/>
          </p:nvSpPr>
          <p:spPr>
            <a:xfrm>
              <a:off x="4389120" y="4327920"/>
              <a:ext cx="4480200" cy="508680"/>
            </a:xfrm>
            <a:prstGeom prst="rect">
              <a:avLst/>
            </a:prstGeom>
            <a:solidFill>
              <a:srgbClr val="ffffff"/>
            </a:solidFill>
            <a:ln w="12600">
              <a:solidFill>
                <a:srgbClr val="e2e8f0"/>
              </a:solidFill>
              <a:miter/>
            </a:ln>
            <a:effectLst>
              <a:outerShdw algn="tl" dir="8100000" dist="25455">
                <a:srgbClr val="000000">
                  <a:alpha val="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6120" rIns="96120" tIns="51120" bIns="5112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1095" name="Shape 47"/>
            <p:cNvSpPr/>
            <p:nvPr/>
          </p:nvSpPr>
          <p:spPr>
            <a:xfrm>
              <a:off x="4389120" y="4327920"/>
              <a:ext cx="68040" cy="508680"/>
            </a:xfrm>
            <a:prstGeom prst="rect">
              <a:avLst/>
            </a:prstGeom>
            <a:solidFill>
              <a:srgbClr val="10b98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lang="pl-PL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Noto Sans CJK SC"/>
              </a:endParaRPr>
            </a:p>
          </p:txBody>
        </p:sp>
        <p:sp>
          <p:nvSpPr>
            <p:cNvPr id="1096" name="Text 48"/>
            <p:cNvSpPr/>
            <p:nvPr/>
          </p:nvSpPr>
          <p:spPr>
            <a:xfrm>
              <a:off x="4535280" y="4357800"/>
              <a:ext cx="4285440" cy="117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200" b="1" u="none" strike="noStrike">
                  <a:solidFill>
                    <a:srgbClr val="0f172a"/>
                  </a:solidFill>
                  <a:effectLst/>
                  <a:uFillTx/>
                  <a:latin typeface="Cambria"/>
                  <a:ea typeface="Cambria"/>
                </a:rPr>
                <a:t>Crew training kluczowy</a:t>
              </a:r>
              <a:endParaRPr lang="pl-PL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7" name="Text 49"/>
            <p:cNvSpPr/>
            <p:nvPr/>
          </p:nvSpPr>
          <p:spPr>
            <a:xfrm>
              <a:off x="4535280" y="4556880"/>
              <a:ext cx="4285440" cy="194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lang="en-US" sz="10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Najlepszy system nie zadziała bez przeszkolonego personelu</a:t>
              </a:r>
              <a:r>
                <a:rPr lang="pl-PL" sz="10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.</a:t>
              </a:r>
              <a:r>
                <a:rPr lang="en-US" sz="1000" b="0" u="none" strike="noStrike">
                  <a:solidFill>
                    <a:srgbClr val="475569"/>
                  </a:solidFill>
                  <a:effectLst/>
                  <a:uFillTx/>
                  <a:latin typeface="Calibri"/>
                  <a:ea typeface="Calibri"/>
                </a:rPr>
                <a:t> 3-miesięczny plan wdrożenia.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Shape 4"/>
          <p:cNvSpPr/>
          <p:nvPr/>
        </p:nvSpPr>
        <p:spPr>
          <a:xfrm>
            <a:off x="0" y="360"/>
            <a:ext cx="9143640" cy="658080"/>
          </a:xfrm>
          <a:prstGeom prst="rect">
            <a:avLst/>
          </a:prstGeom>
          <a:solidFill>
            <a:srgbClr val="1a25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099" name="Shape 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7360" bIns="27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00" name="Text 1"/>
          <p:cNvSpPr/>
          <p:nvPr/>
        </p:nvSpPr>
        <p:spPr>
          <a:xfrm>
            <a:off x="457200" y="748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Trendy i Podsumowanie</a:t>
            </a:r>
            <a:endParaRPr lang="pl-PL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1" name="Shape 2"/>
          <p:cNvSpPr/>
          <p:nvPr/>
        </p:nvSpPr>
        <p:spPr>
          <a:xfrm>
            <a:off x="320040" y="822960"/>
            <a:ext cx="2742840" cy="868320"/>
          </a:xfrm>
          <a:prstGeom prst="rect">
            <a:avLst/>
          </a:prstGeom>
          <a:solidFill>
            <a:srgbClr val="243570"/>
          </a:solidFill>
          <a:ln w="12600">
            <a:solidFill>
              <a:srgbClr val="0ea5e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02" name="Shape 3"/>
          <p:cNvSpPr/>
          <p:nvPr/>
        </p:nvSpPr>
        <p:spPr>
          <a:xfrm>
            <a:off x="320040" y="822960"/>
            <a:ext cx="2742840" cy="36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03" name="Text 4"/>
          <p:cNvSpPr/>
          <p:nvPr/>
        </p:nvSpPr>
        <p:spPr>
          <a:xfrm>
            <a:off x="429840" y="914400"/>
            <a:ext cx="257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ea5e9"/>
                </a:solidFill>
                <a:effectLst/>
                <a:uFillTx/>
                <a:latin typeface="Cambria"/>
                <a:ea typeface="Cambria"/>
              </a:rPr>
              <a:t>Matter Standard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4" name="Text 5"/>
          <p:cNvSpPr/>
          <p:nvPr/>
        </p:nvSpPr>
        <p:spPr>
          <a:xfrm>
            <a:off x="429840" y="1188720"/>
            <a:ext cx="2578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Nowy unified protocol (Apple/Google/Amazon/Samsung) — jeden ekosystem smart home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5" name="Shape 6"/>
          <p:cNvSpPr/>
          <p:nvPr/>
        </p:nvSpPr>
        <p:spPr>
          <a:xfrm>
            <a:off x="3200400" y="822960"/>
            <a:ext cx="2742840" cy="868320"/>
          </a:xfrm>
          <a:prstGeom prst="rect">
            <a:avLst/>
          </a:prstGeom>
          <a:solidFill>
            <a:srgbClr val="243570"/>
          </a:solidFill>
          <a:ln w="12600">
            <a:solidFill>
              <a:srgbClr val="0d94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06" name="Shape 7"/>
          <p:cNvSpPr/>
          <p:nvPr/>
        </p:nvSpPr>
        <p:spPr>
          <a:xfrm>
            <a:off x="3200400" y="822960"/>
            <a:ext cx="2742840" cy="36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07" name="Text 8"/>
          <p:cNvSpPr/>
          <p:nvPr/>
        </p:nvSpPr>
        <p:spPr>
          <a:xfrm>
            <a:off x="3310200" y="914400"/>
            <a:ext cx="257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9488"/>
                </a:solidFill>
                <a:effectLst/>
                <a:uFillTx/>
                <a:latin typeface="Cambria"/>
                <a:ea typeface="Cambria"/>
              </a:rPr>
              <a:t>AI/ML na urządzeniu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8" name="Text 9"/>
          <p:cNvSpPr/>
          <p:nvPr/>
        </p:nvSpPr>
        <p:spPr>
          <a:xfrm>
            <a:off x="3310200" y="1188720"/>
            <a:ext cx="2578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TFLite, CoreML, LiteRT — coraz potężniejsze modele działające offline na mobile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9" name="Shape 10"/>
          <p:cNvSpPr/>
          <p:nvPr/>
        </p:nvSpPr>
        <p:spPr>
          <a:xfrm>
            <a:off x="6080760" y="822960"/>
            <a:ext cx="2742840" cy="868320"/>
          </a:xfrm>
          <a:prstGeom prst="rect">
            <a:avLst/>
          </a:prstGeom>
          <a:solidFill>
            <a:srgbClr val="243570"/>
          </a:solidFill>
          <a:ln w="12600">
            <a:solidFill>
              <a:srgbClr val="10b98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10" name="Shape 11"/>
          <p:cNvSpPr/>
          <p:nvPr/>
        </p:nvSpPr>
        <p:spPr>
          <a:xfrm>
            <a:off x="6080760" y="822960"/>
            <a:ext cx="2742840" cy="3636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11" name="Text 12"/>
          <p:cNvSpPr/>
          <p:nvPr/>
        </p:nvSpPr>
        <p:spPr>
          <a:xfrm>
            <a:off x="6190560" y="914400"/>
            <a:ext cx="257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Cambria"/>
                <a:ea typeface="Cambria"/>
              </a:rPr>
              <a:t>5G + NB-IoT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2" name="Text 13"/>
          <p:cNvSpPr/>
          <p:nvPr/>
        </p:nvSpPr>
        <p:spPr>
          <a:xfrm>
            <a:off x="6190560" y="1188720"/>
            <a:ext cx="2578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Ultra-niska latencja 5G dla krytycznych zastosowań, NB-IoT dla masowych deploymentów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3" name="Shape 14"/>
          <p:cNvSpPr/>
          <p:nvPr/>
        </p:nvSpPr>
        <p:spPr>
          <a:xfrm>
            <a:off x="320040" y="1810440"/>
            <a:ext cx="2742840" cy="868320"/>
          </a:xfrm>
          <a:prstGeom prst="rect">
            <a:avLst/>
          </a:prstGeom>
          <a:solidFill>
            <a:srgbClr val="243570"/>
          </a:solidFill>
          <a:ln w="12600">
            <a:solidFill>
              <a:srgbClr val="f59e0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14" name="Shape 15"/>
          <p:cNvSpPr/>
          <p:nvPr/>
        </p:nvSpPr>
        <p:spPr>
          <a:xfrm>
            <a:off x="320040" y="1810440"/>
            <a:ext cx="2742840" cy="363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15" name="Text 16"/>
          <p:cNvSpPr/>
          <p:nvPr/>
        </p:nvSpPr>
        <p:spPr>
          <a:xfrm>
            <a:off x="429840" y="1901880"/>
            <a:ext cx="257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Cambria"/>
                <a:ea typeface="Cambria"/>
              </a:rPr>
              <a:t>Digital Twins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6" name="Text 17"/>
          <p:cNvSpPr/>
          <p:nvPr/>
        </p:nvSpPr>
        <p:spPr>
          <a:xfrm>
            <a:off x="429840" y="2176200"/>
            <a:ext cx="2578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Wirtualne repliki urządzeń fizycznych — symulacja, predykcja awarii, optymalizacja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7" name="Shape 18"/>
          <p:cNvSpPr/>
          <p:nvPr/>
        </p:nvSpPr>
        <p:spPr>
          <a:xfrm>
            <a:off x="3200400" y="1810440"/>
            <a:ext cx="2742840" cy="868320"/>
          </a:xfrm>
          <a:prstGeom prst="rect">
            <a:avLst/>
          </a:prstGeom>
          <a:solidFill>
            <a:srgbClr val="243570"/>
          </a:solidFill>
          <a:ln w="12600">
            <a:solidFill>
              <a:srgbClr val="1e5f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18" name="Shape 19"/>
          <p:cNvSpPr/>
          <p:nvPr/>
        </p:nvSpPr>
        <p:spPr>
          <a:xfrm>
            <a:off x="3200400" y="1810440"/>
            <a:ext cx="2742840" cy="36360"/>
          </a:xfrm>
          <a:prstGeom prst="rect">
            <a:avLst/>
          </a:prstGeom>
          <a:solidFill>
            <a:srgbClr val="1e5fa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19" name="Text 20"/>
          <p:cNvSpPr/>
          <p:nvPr/>
        </p:nvSpPr>
        <p:spPr>
          <a:xfrm>
            <a:off x="3310200" y="1901880"/>
            <a:ext cx="257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e5fa8"/>
                </a:solidFill>
                <a:effectLst/>
                <a:uFillTx/>
                <a:latin typeface="Cambria"/>
                <a:ea typeface="Cambria"/>
              </a:rPr>
              <a:t>Edge AI Chips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0" name="Text 21"/>
          <p:cNvSpPr/>
          <p:nvPr/>
        </p:nvSpPr>
        <p:spPr>
          <a:xfrm>
            <a:off x="3310200" y="2176200"/>
            <a:ext cx="2578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Apple Neural Engine, Google Edge TPU, ARM Ethos — dedykowany hardware AI na urządzeniach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1" name="Shape 22"/>
          <p:cNvSpPr/>
          <p:nvPr/>
        </p:nvSpPr>
        <p:spPr>
          <a:xfrm>
            <a:off x="6080760" y="1810440"/>
            <a:ext cx="2742840" cy="868320"/>
          </a:xfrm>
          <a:prstGeom prst="rect">
            <a:avLst/>
          </a:prstGeom>
          <a:solidFill>
            <a:srgbClr val="243570"/>
          </a:solidFill>
          <a:ln w="12600">
            <a:solidFill>
              <a:srgbClr val="ef444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22" name="Shape 23"/>
          <p:cNvSpPr/>
          <p:nvPr/>
        </p:nvSpPr>
        <p:spPr>
          <a:xfrm>
            <a:off x="6080760" y="1810440"/>
            <a:ext cx="2742840" cy="3636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23" name="Text 24"/>
          <p:cNvSpPr/>
          <p:nvPr/>
        </p:nvSpPr>
        <p:spPr>
          <a:xfrm>
            <a:off x="6190560" y="1901880"/>
            <a:ext cx="257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ef4444"/>
                </a:solidFill>
                <a:effectLst/>
                <a:uFillTx/>
                <a:latin typeface="Cambria"/>
                <a:ea typeface="Cambria"/>
              </a:rPr>
              <a:t>WebAssembly IoT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4" name="Text 25"/>
          <p:cNvSpPr/>
          <p:nvPr/>
        </p:nvSpPr>
        <p:spPr>
          <a:xfrm>
            <a:off x="6190560" y="2176200"/>
            <a:ext cx="25783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WASM jako universal runtime — jedna logika biznesowa na mikrokontrolery, mobile i cloud</a:t>
            </a:r>
            <a:endParaRPr lang="pl-PL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5" name="Shape 26"/>
          <p:cNvSpPr/>
          <p:nvPr/>
        </p:nvSpPr>
        <p:spPr>
          <a:xfrm>
            <a:off x="320040" y="2834640"/>
            <a:ext cx="8503560" cy="363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360" bIns="1836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26" name="Text 27"/>
          <p:cNvSpPr/>
          <p:nvPr/>
        </p:nvSpPr>
        <p:spPr>
          <a:xfrm>
            <a:off x="320040" y="2944440"/>
            <a:ext cx="8503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Kluczowe wnioski wykładu: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7" name="Shape 28"/>
          <p:cNvSpPr/>
          <p:nvPr/>
        </p:nvSpPr>
        <p:spPr>
          <a:xfrm>
            <a:off x="320040" y="3310200"/>
            <a:ext cx="136800" cy="136800"/>
          </a:xfrm>
          <a:custGeom>
            <a:avLst/>
            <a:gdLst>
              <a:gd name="textAreaLeft" fmla="*/ 19800 w 136800"/>
              <a:gd name="textAreaRight" fmla="*/ 117000 w 136800"/>
              <a:gd name="textAreaTop" fmla="*/ 19800 h 136800"/>
              <a:gd name="textAreaBottom" fmla="*/ 117000 h 136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91" h="360">
                <a:moveTo>
                  <a:pt x="0" y="191"/>
                </a:moveTo>
                <a:arcTo wR="190.5" hR="190.5" stAng="10800000" swAng="21600000"/>
                <a:close/>
              </a:path>
            </a:pathLst>
          </a:cu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28" name="Text 29"/>
          <p:cNvSpPr/>
          <p:nvPr/>
        </p:nvSpPr>
        <p:spPr>
          <a:xfrm>
            <a:off x="530280" y="329184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MQTT + TLS = fundament bezpiecznej komunikacji IoT dla aplikacji mobilnych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9" name="Shape 30"/>
          <p:cNvSpPr/>
          <p:nvPr/>
        </p:nvSpPr>
        <p:spPr>
          <a:xfrm>
            <a:off x="320040" y="3584520"/>
            <a:ext cx="136800" cy="136800"/>
          </a:xfrm>
          <a:custGeom>
            <a:avLst/>
            <a:gdLst>
              <a:gd name="textAreaLeft" fmla="*/ 19800 w 136800"/>
              <a:gd name="textAreaRight" fmla="*/ 117000 w 136800"/>
              <a:gd name="textAreaTop" fmla="*/ 19800 h 136800"/>
              <a:gd name="textAreaBottom" fmla="*/ 117000 h 136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91" h="360">
                <a:moveTo>
                  <a:pt x="0" y="191"/>
                </a:moveTo>
                <a:arcTo wR="190.5" hR="190.5" stAng="10800000" swAng="21600000"/>
                <a:close/>
              </a:path>
            </a:pathLst>
          </a:cu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30" name="Text 31"/>
          <p:cNvSpPr/>
          <p:nvPr/>
        </p:nvSpPr>
        <p:spPr>
          <a:xfrm>
            <a:off x="530280" y="356616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Architektura MVVM/Clean Architecture z offline-first to standard produkcyjny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1" name="Shape 32"/>
          <p:cNvSpPr/>
          <p:nvPr/>
        </p:nvSpPr>
        <p:spPr>
          <a:xfrm>
            <a:off x="320040" y="3858840"/>
            <a:ext cx="136800" cy="136800"/>
          </a:xfrm>
          <a:custGeom>
            <a:avLst/>
            <a:gdLst>
              <a:gd name="textAreaLeft" fmla="*/ 19800 w 136800"/>
              <a:gd name="textAreaRight" fmla="*/ 117000 w 136800"/>
              <a:gd name="textAreaTop" fmla="*/ 19800 h 136800"/>
              <a:gd name="textAreaBottom" fmla="*/ 117000 h 136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91" h="360">
                <a:moveTo>
                  <a:pt x="0" y="191"/>
                </a:moveTo>
                <a:arcTo wR="190.5" hR="190.5" stAng="10800000" swAng="21600000"/>
                <a:close/>
              </a:path>
            </a:pathLst>
          </a:cu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32" name="Text 33"/>
          <p:cNvSpPr/>
          <p:nvPr/>
        </p:nvSpPr>
        <p:spPr>
          <a:xfrm>
            <a:off x="530280" y="384048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Edge computing i ML on-device zmniejszają latencję i koszty transmisji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3" name="Shape 34"/>
          <p:cNvSpPr/>
          <p:nvPr/>
        </p:nvSpPr>
        <p:spPr>
          <a:xfrm>
            <a:off x="320040" y="4133160"/>
            <a:ext cx="136800" cy="136800"/>
          </a:xfrm>
          <a:custGeom>
            <a:avLst/>
            <a:gdLst>
              <a:gd name="textAreaLeft" fmla="*/ 19800 w 136800"/>
              <a:gd name="textAreaRight" fmla="*/ 117000 w 136800"/>
              <a:gd name="textAreaTop" fmla="*/ 19800 h 136800"/>
              <a:gd name="textAreaBottom" fmla="*/ 117000 h 136800"/>
              <a:gd name="GluePoint1X" fmla=""/>
              <a:gd name="GluePoint1Y" fmla=""/>
              <a:gd name="GluePoint2X" fmla=""/>
              <a:gd name="GluePoint2Y" fmla=""/>
              <a:gd name="GluePoint3X" fmla=""/>
              <a:gd name="GluePoint3Y" fmla=""/>
              <a:gd name="GluePoint4X" fmla=""/>
              <a:gd name="GluePoint4Y" fmla=""/>
              <a:gd name="GluePoint5X" fmla=""/>
              <a:gd name="GluePoint5Y" fmla=""/>
              <a:gd name="GluePoint6X" fmla=""/>
              <a:gd name="GluePoint6Y" fmla=""/>
              <a:gd name="GluePoint7X" fmla=""/>
              <a:gd name="GluePoint7Y" fmla=""/>
              <a:gd name="GluePoint8X" fmla=""/>
              <a:gd name="GluePoint8Y" fmla="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91" h="360">
                <a:moveTo>
                  <a:pt x="0" y="191"/>
                </a:moveTo>
                <a:arcTo wR="190.5" hR="190.5" stAng="10800000" swAng="21600000"/>
                <a:close/>
              </a:path>
            </a:pathLst>
          </a:cu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34" name="Text 35"/>
          <p:cNvSpPr/>
          <p:nvPr/>
        </p:nvSpPr>
        <p:spPr>
          <a:xfrm>
            <a:off x="530280" y="411480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Security by Design — bezpieczeństwo od pierwszego dnia projektu, nie na końcu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5" name="Shape 36"/>
          <p:cNvSpPr/>
          <p:nvPr/>
        </p:nvSpPr>
        <p:spPr>
          <a:xfrm>
            <a:off x="3200400" y="4498920"/>
            <a:ext cx="2742840" cy="43848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1136" name="Text 37"/>
          <p:cNvSpPr/>
          <p:nvPr/>
        </p:nvSpPr>
        <p:spPr>
          <a:xfrm>
            <a:off x="3200400" y="4544640"/>
            <a:ext cx="2742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a2547"/>
                </a:solidFill>
                <a:effectLst/>
                <a:uFillTx/>
                <a:latin typeface="Cambria"/>
                <a:ea typeface="Cambria"/>
              </a:rPr>
              <a:t>Pytania, dyskusja i koniec</a:t>
            </a:r>
            <a:endParaRPr lang="pl-PL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7" name="Shape 38"/>
          <p:cNvSpPr/>
          <p:nvPr/>
        </p:nvSpPr>
        <p:spPr>
          <a:xfrm>
            <a:off x="0" y="4983480"/>
            <a:ext cx="9143640" cy="159840"/>
          </a:xfrm>
          <a:prstGeom prst="rect">
            <a:avLst/>
          </a:prstGeom>
          <a:solidFill>
            <a:srgbClr val="0f17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l-PL" sz="1800" b="0" u="none" strike="noStrike">
              <a:solidFill>
                <a:schemeClr val="dk1"/>
              </a:solidFill>
              <a:effectLst/>
              <a:uFillTx/>
              <a:latin typeface="Arial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Pakiet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LibreOffice/25.8.5.2$Linux_X86_64 LibreOffice_project/580$Build-2</Application>
  <AppVersion>15.0000</AppVersion>
  <Words>4835</Words>
  <Paragraphs>886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2026-02-21T21:11:45Z</dcterms:created>
  <dc:creator>Mateusz Pomianek</dc:creator>
  <dc:description/>
  <cp:keywords>mobile</cp:keywords>
  <dc:language>pl-PL</dc:language>
  <cp:lastModifiedBy>Mateusz Pomianek</cp:lastModifiedBy>
  <dcterms:modified xsi:type="dcterms:W3CDTF">2026-04-08T08:08:35Z</dcterms:modified>
  <cp:revision>48</cp:revision>
  <dc:subject>PptxGenJS Presentation</dc:subject>
  <dc:title>Programowanie Aplikacji Mobilnych współpracujących z IoT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30</vt:i4>
  </property>
  <property fmtid="{D5CDD505-2E9C-101B-9397-08002B2CF9AE}" pid="3" name="PresentationFormat">
    <vt:lpwstr>Panoramiczny</vt:lpwstr>
  </property>
  <property fmtid="{D5CDD505-2E9C-101B-9397-08002B2CF9AE}" pid="4" name="Slides">
    <vt:i4>30</vt:i4>
  </property>
</Properties>
</file>