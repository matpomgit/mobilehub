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/>
  <p:notesSz cx="51435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232130" cy="4569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70452" tIns="35226" rIns="70452" bIns="35226" anchorCtr="0" compatLnSpc="0">
            <a:noAutofit/>
          </a:bodyPr>
          <a:lstStyle/>
          <a:p>
            <a:pPr hangingPunct="0">
              <a:defRPr sz="1400"/>
            </a:pPr>
            <a:endParaRPr lang="pl-PL" sz="1100"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ymbol zastępczy daty 2"/>
          <p:cNvSpPr txBox="1">
            <a:spLocks noGrp="1"/>
          </p:cNvSpPr>
          <p:nvPr>
            <p:ph type="dt" sz="quarter" idx="1"/>
          </p:nvPr>
        </p:nvSpPr>
        <p:spPr>
          <a:xfrm>
            <a:off x="2911346" y="0"/>
            <a:ext cx="2232130" cy="4569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70452" tIns="35226" rIns="70452" bIns="35226" anchorCtr="0" compatLnSpc="0">
            <a:noAutofit/>
          </a:bodyPr>
          <a:lstStyle/>
          <a:p>
            <a:pPr algn="r" hangingPunct="0">
              <a:defRPr sz="1400"/>
            </a:pPr>
            <a:endParaRPr lang="pl-PL" sz="1100"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Symbol zastępczy stopki 3"/>
          <p:cNvSpPr txBox="1">
            <a:spLocks noGrp="1"/>
          </p:cNvSpPr>
          <p:nvPr>
            <p:ph type="ftr" sz="quarter" idx="2"/>
          </p:nvPr>
        </p:nvSpPr>
        <p:spPr>
          <a:xfrm>
            <a:off x="0" y="8686952"/>
            <a:ext cx="2232130" cy="4569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70452" tIns="35226" rIns="70452" bIns="35226" anchor="b" anchorCtr="0" compatLnSpc="0">
            <a:noAutofit/>
          </a:bodyPr>
          <a:lstStyle/>
          <a:p>
            <a:pPr hangingPunct="0">
              <a:defRPr sz="1400"/>
            </a:pPr>
            <a:endParaRPr lang="pl-PL" sz="1100"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" name="Symbol zastępczy numeru slajdu 4"/>
          <p:cNvSpPr txBox="1">
            <a:spLocks noGrp="1"/>
          </p:cNvSpPr>
          <p:nvPr>
            <p:ph type="sldNum" sz="quarter" idx="3"/>
          </p:nvPr>
        </p:nvSpPr>
        <p:spPr>
          <a:xfrm>
            <a:off x="2911346" y="8686952"/>
            <a:ext cx="2232130" cy="4569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70452" tIns="35226" rIns="70452" bIns="35226" anchor="b" anchorCtr="0" compatLnSpc="0">
            <a:noAutofit/>
          </a:bodyPr>
          <a:lstStyle/>
          <a:p>
            <a:pPr algn="r" hangingPunct="0">
              <a:defRPr sz="1400"/>
            </a:pPr>
            <a:fld id="{799B03FF-140E-4B8F-B701-9126B10225D9}" type="slidenum">
              <a:t>‹#›</a:t>
            </a:fld>
            <a:endParaRPr lang="pl-PL" sz="1100"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7678124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228760" cy="458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>
            <a:noAutofit/>
          </a:bodyPr>
          <a:lstStyle>
            <a:lvl1pPr lvl="0" rtl="0" hangingPunct="0">
              <a:buNone/>
              <a:tabLst/>
              <a:defRPr lang="pl-PL" sz="2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pl-PL"/>
          </a:p>
        </p:txBody>
      </p:sp>
      <p:sp>
        <p:nvSpPr>
          <p:cNvPr id="3" name="Symbol zastępczy daty 2"/>
          <p:cNvSpPr txBox="1">
            <a:spLocks noGrp="1"/>
          </p:cNvSpPr>
          <p:nvPr>
            <p:ph type="dt" idx="1"/>
          </p:nvPr>
        </p:nvSpPr>
        <p:spPr>
          <a:xfrm>
            <a:off x="2913120" y="0"/>
            <a:ext cx="2228760" cy="458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 b="0" i="0" u="none" strike="noStrike" kern="1200" cap="none" spc="0" baseline="0">
                <a:solidFill>
                  <a:srgbClr val="000000"/>
                </a:solidFill>
                <a:latin typeface="Calibri"/>
                <a:ea typeface="DejaVu Sans" pitchFamily="2"/>
                <a:cs typeface="Noto Sans" pitchFamily="2"/>
              </a:defRPr>
            </a:lvl1pPr>
          </a:lstStyle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-171360" y="1143000"/>
            <a:ext cx="5486399" cy="308592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5" name="Symbol zastępczy notatek 4"/>
          <p:cNvSpPr txBox="1">
            <a:spLocks noGrp="1"/>
          </p:cNvSpPr>
          <p:nvPr>
            <p:ph type="body" sz="quarter" idx="3"/>
          </p:nvPr>
        </p:nvSpPr>
        <p:spPr>
          <a:xfrm>
            <a:off x="514439" y="4400639"/>
            <a:ext cx="4114800" cy="36003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 txBox="1">
            <a:spLocks noGrp="1"/>
          </p:cNvSpPr>
          <p:nvPr>
            <p:ph type="ftr" sz="quarter" idx="4"/>
          </p:nvPr>
        </p:nvSpPr>
        <p:spPr>
          <a:xfrm>
            <a:off x="0" y="8685360"/>
            <a:ext cx="2228760" cy="458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>
            <a:noAutofit/>
          </a:bodyPr>
          <a:lstStyle>
            <a:lvl1pPr lvl="0" rtl="0" hangingPunct="0">
              <a:buNone/>
              <a:tabLst/>
              <a:defRPr lang="pl-PL" sz="2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pl-PL"/>
          </a:p>
        </p:txBody>
      </p:sp>
      <p:sp>
        <p:nvSpPr>
          <p:cNvPr id="7" name="Symbol zastępczy numeru slajdu 6"/>
          <p:cNvSpPr txBox="1">
            <a:spLocks noGrp="1"/>
          </p:cNvSpPr>
          <p:nvPr>
            <p:ph type="sldNum" sz="quarter" idx="5"/>
          </p:nvPr>
        </p:nvSpPr>
        <p:spPr>
          <a:xfrm>
            <a:off x="2913120" y="8685360"/>
            <a:ext cx="2228760" cy="458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 b="0" i="0" u="none" strike="noStrike" kern="1200" cap="none" spc="0" baseline="0">
                <a:solidFill>
                  <a:srgbClr val="000000"/>
                </a:solidFill>
                <a:latin typeface="Calibri"/>
                <a:ea typeface="DejaVu Sans" pitchFamily="2"/>
                <a:cs typeface="Noto Sans" pitchFamily="2"/>
              </a:defRPr>
            </a:lvl1pPr>
          </a:lstStyle>
          <a:p>
            <a:pPr lvl="0"/>
            <a:fld id="{FF966B9A-A0A1-4C80-9554-EE19A4AB65D4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038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rtl="0" hangingPunct="1">
      <a:lnSpc>
        <a:spcPct val="100000"/>
      </a:lnSpc>
      <a:spcBef>
        <a:spcPts val="0"/>
      </a:spcBef>
      <a:spcAft>
        <a:spcPts val="0"/>
      </a:spcAft>
      <a:buNone/>
      <a:tabLst/>
      <a:defRPr lang="pl-PL" sz="1200" b="0" i="0" u="none" strike="noStrike" kern="1200" cap="none" spc="0" baseline="0">
        <a:ln>
          <a:noFill/>
        </a:ln>
        <a:solidFill>
          <a:srgbClr val="000000"/>
        </a:solidFill>
        <a:highlight>
          <a:scrgbClr r="0" g="0" b="0">
            <a:alpha val="0"/>
          </a:scrgbClr>
        </a:highlight>
        <a:latin typeface="Calibri" pitchFamily="18"/>
        <a:ea typeface="Noto Sans CJK SC" pitchFamily="2"/>
        <a:cs typeface="Noto Sans Devanagari" pitchFamily="2"/>
      </a:defRPr>
    </a:lvl1pPr>
    <a:lvl2pPr marL="457200" marR="0" lvl="1" indent="0" algn="l" rtl="0" hangingPunct="1">
      <a:lnSpc>
        <a:spcPct val="100000"/>
      </a:lnSpc>
      <a:spcBef>
        <a:spcPts val="0"/>
      </a:spcBef>
      <a:spcAft>
        <a:spcPts val="0"/>
      </a:spcAft>
      <a:buNone/>
      <a:tabLst/>
      <a:defRPr lang="pl-PL" sz="1200" b="0" i="0" u="none" strike="noStrike" kern="1200" cap="none" spc="0" baseline="0">
        <a:ln>
          <a:noFill/>
        </a:ln>
        <a:solidFill>
          <a:srgbClr val="000000"/>
        </a:solidFill>
        <a:highlight>
          <a:scrgbClr r="0" g="0" b="0">
            <a:alpha val="0"/>
          </a:scrgbClr>
        </a:highlight>
        <a:latin typeface="Calibri" pitchFamily="18"/>
        <a:ea typeface="Noto Sans CJK SC" pitchFamily="2"/>
        <a:cs typeface="Noto Sans Devanagari" pitchFamily="2"/>
      </a:defRPr>
    </a:lvl2pPr>
    <a:lvl3pPr marL="914400" marR="0" lvl="2" indent="0" algn="l" rtl="0" hangingPunct="1">
      <a:lnSpc>
        <a:spcPct val="100000"/>
      </a:lnSpc>
      <a:spcBef>
        <a:spcPts val="0"/>
      </a:spcBef>
      <a:spcAft>
        <a:spcPts val="0"/>
      </a:spcAft>
      <a:buNone/>
      <a:tabLst/>
      <a:defRPr lang="pl-PL" sz="1200" b="0" i="0" u="none" strike="noStrike" kern="1200" cap="none" spc="0" baseline="0">
        <a:ln>
          <a:noFill/>
        </a:ln>
        <a:solidFill>
          <a:srgbClr val="000000"/>
        </a:solidFill>
        <a:highlight>
          <a:scrgbClr r="0" g="0" b="0">
            <a:alpha val="0"/>
          </a:scrgbClr>
        </a:highlight>
        <a:latin typeface="Calibri" pitchFamily="18"/>
        <a:ea typeface="Noto Sans CJK SC" pitchFamily="2"/>
        <a:cs typeface="Noto Sans Devanagari" pitchFamily="2"/>
      </a:defRPr>
    </a:lvl3pPr>
    <a:lvl4pPr marL="1371599" marR="0" lvl="3" indent="0" algn="l" rtl="0" hangingPunct="1">
      <a:lnSpc>
        <a:spcPct val="100000"/>
      </a:lnSpc>
      <a:spcBef>
        <a:spcPts val="0"/>
      </a:spcBef>
      <a:spcAft>
        <a:spcPts val="0"/>
      </a:spcAft>
      <a:buNone/>
      <a:tabLst/>
      <a:defRPr lang="pl-PL" sz="1200" b="0" i="0" u="none" strike="noStrike" kern="1200" cap="none" spc="0" baseline="0">
        <a:ln>
          <a:noFill/>
        </a:ln>
        <a:solidFill>
          <a:srgbClr val="000000"/>
        </a:solidFill>
        <a:highlight>
          <a:scrgbClr r="0" g="0" b="0">
            <a:alpha val="0"/>
          </a:scrgbClr>
        </a:highlight>
        <a:latin typeface="Calibri" pitchFamily="18"/>
        <a:ea typeface="Noto Sans CJK SC" pitchFamily="2"/>
        <a:cs typeface="Noto Sans Devanagari" pitchFamily="2"/>
      </a:defRPr>
    </a:lvl4pPr>
    <a:lvl5pPr marL="1828800" marR="0" lvl="4" indent="0" algn="l" rtl="0" hangingPunct="1">
      <a:lnSpc>
        <a:spcPct val="100000"/>
      </a:lnSpc>
      <a:spcBef>
        <a:spcPts val="0"/>
      </a:spcBef>
      <a:spcAft>
        <a:spcPts val="0"/>
      </a:spcAft>
      <a:buNone/>
      <a:tabLst/>
      <a:defRPr lang="pl-PL" sz="1200" b="0" i="0" u="none" strike="noStrike" kern="1200" cap="none" spc="0" baseline="0">
        <a:ln>
          <a:noFill/>
        </a:ln>
        <a:solidFill>
          <a:srgbClr val="000000"/>
        </a:solidFill>
        <a:highlight>
          <a:scrgbClr r="0" g="0" b="0">
            <a:alpha val="0"/>
          </a:scrgbClr>
        </a:highlight>
        <a:latin typeface="Calibri" pitchFamily="18"/>
        <a:ea typeface="Noto Sans CJK SC" pitchFamily="2"/>
        <a:cs typeface="Noto Sans Devanagari" pitchFamily="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12D79DE7-27C7-4B60-9D4E-55DAE8AA0E32}" type="slidenum">
              <a:t>1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A8F3536C-479E-4E33-A4AD-46B52FB42FF5}" type="slidenum">
              <a:t>1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5FFE1CC7-E5B0-423B-894A-CB093D174052}" type="slidenum">
              <a:t>2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D4F0B338-E673-4A6E-9209-899BADEB90D7}" type="slidenum">
              <a:t>2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97D2B926-644C-4F9F-AB4A-A6F21CD08F98}" type="slidenum">
              <a:t>3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601E119E-ACBB-4A49-869E-7AEA3F85224A}" type="slidenum">
              <a:t>3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A00890E4-0CAC-40DA-8ECA-17BC0B1C9717}" type="slidenum">
              <a:t>4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02C5FC42-AE5B-41B5-8F3C-EDCE894EC1D0}" type="slidenum">
              <a:t>4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00EE2E7B-8AF6-459F-AD85-26AAD9624E92}" type="slidenum">
              <a:t>5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B1963BAD-09D3-4CDD-AC57-D012846D377F}" type="slidenum">
              <a:t>5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F4FE904D-B880-4EDD-8366-A901527DD340}" type="slidenum">
              <a:t>6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F0ECA118-D8FF-489E-968E-ED2D05726EEB}" type="slidenum">
              <a:t>6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CFABA621-A61A-42EB-B413-822E1978FE19}" type="slidenum">
              <a:t>7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75AFA896-9FEB-498C-8917-00EDEFF8FABE}" type="slidenum">
              <a:t>7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AC13F710-61FF-4EC1-AF78-6CE84E592CA8}" type="slidenum">
              <a:t>8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09EDBD4C-CA09-4390-A454-08D681A26CB9}" type="slidenum">
              <a:t>8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0E8438BB-25FA-4C39-86CA-DC5AA44018D0}" type="slidenum">
              <a:t>9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C410A523-0075-46EB-B879-AE6B39137710}" type="slidenum">
              <a:t>9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891C0EE3-5905-47DC-82CA-EC9ABECD9B59}" type="slidenum">
              <a:t>10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25014FAB-F16F-4F65-A1CE-5A1CDBEBCE75}" type="slidenum">
              <a:t>10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8ECB866F-D854-45BA-9186-8BED0D15614A}" type="slidenum">
              <a:t>11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5E9FDB77-2BB4-4CBD-AF0C-1FB4B7D04496}" type="slidenum">
              <a:t>11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068972BB-47D6-473B-AC6B-6B8E221163DF}" type="slidenum">
              <a:t>12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57EE439E-5F2E-430C-9BFE-B1E80755B8A1}" type="slidenum">
              <a:t>12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954181BA-FEA2-4372-A43F-56AB47E02BFF}" type="slidenum">
              <a:t>13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F36A74CB-8E54-49AF-9261-93310D804C5A}" type="slidenum">
              <a:t>13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BD93431C-6BE0-4E01-AD5A-C280BA08A8F2}" type="slidenum">
              <a:t>14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006DA88B-D0A2-42D2-B000-42D67C1F7E5E}" type="slidenum">
              <a:t>14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8960EE0C-86FD-4314-8414-3D18C28A9006}" type="slidenum">
              <a:t>15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096C6AE8-0343-4E9B-A8F6-FB7498E2F10F}" type="slidenum">
              <a:t>15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9D52D50-EFA7-4F5E-B2C5-12C6480EEF4B}" type="slidenum">
              <a:t>16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81520AC6-CF53-436F-8654-D9ACC1637C96}" type="slidenum">
              <a:t>16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F1713FAE-E6BF-454D-A557-62D378F7A512}" type="slidenum">
              <a:t>17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8AD92B76-0EEB-4F12-8813-6005BA297A39}" type="slidenum">
              <a:t>17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00752C08-0B3D-4E18-A18D-544B21B4F4FF}" type="slidenum">
              <a:t>18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D6F84044-E835-4D1D-9FEA-FE259AD1D797}" type="slidenum">
              <a:t>18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718CCAC-D79E-46E5-AA51-A7BAB31280D2}" type="slidenum">
              <a:t>19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2B4DCC9C-376C-4AA9-BB90-747CA8E0D83B}" type="slidenum">
              <a:t>19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88059928-8ECA-42C6-9922-1F8521E5C8EB}" type="slidenum">
              <a:t>20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EB443368-D064-4FF8-99D0-85AB3CBDC61C}" type="slidenum">
              <a:t>20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11C5229-CCCB-4796-99A0-F2CAB5BABAB6}" type="slidenum">
              <a:t>21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866342D4-C9B5-4DE9-BF8C-6E2CFBC19784}" type="slidenum">
              <a:t>21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C28779C9-0E61-4B49-9DEC-ECF9E2E2C1A6}" type="slidenum">
              <a:t>22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1F8D05B0-9A2A-4386-BC3C-59812E12932E}" type="slidenum">
              <a:t>22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85711C76-B40C-44DE-8A3D-7CBE94838D69}" type="slidenum">
              <a:t>23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D752B85B-2987-4D15-A860-D2AA4B5117E6}" type="slidenum">
              <a:t>23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57693B4F-5D32-4B28-B257-B515279BF5C5}" type="slidenum">
              <a:t>24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FDA0DDB6-1D56-4AF7-8F12-41EB6CFE1636}" type="slidenum">
              <a:t>24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5C187473-5990-4868-9FD7-2A7AD95663D8}" type="slidenum">
              <a:t>25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3282EA07-8962-4660-835E-3CC92EF3F0DF}" type="slidenum">
              <a:t>25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A8F608AA-DACD-40A9-BA10-55607FACD6BA}" type="slidenum">
              <a:t>26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841AEFE3-F9B3-44A7-9E81-7297F8E0A650}" type="slidenum">
              <a:t>26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F7DE39A-8F62-44D0-93EB-D60AF5F92B6E}" type="slidenum">
              <a:t>27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B6CD443B-47DD-4ACA-AD9D-E152177BD07B}" type="slidenum">
              <a:t>27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0BA41DD3-4E12-4AE5-BD9E-B5BDEA572106}" type="slidenum">
              <a:t>28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078646A0-59A2-440F-9C32-EC24AD32B427}" type="slidenum">
              <a:t>28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D76B5DEC-2916-4076-9543-A2F50F59D334}" type="slidenum">
              <a:t>29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7BE85B64-6A14-4080-9392-F3280A7235F7}" type="slidenum">
              <a:t>29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BE5CA725-45E7-4B8D-951A-5BE73974149D}" type="slidenum">
              <a:t>30</a:t>
            </a:fld>
            <a:endParaRPr lang="en-US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C83EEBC3-A0B8-42C2-8485-BC4FB6E39CDF}" type="datetime1">
              <a:rPr lang="pl-PL"/>
              <a:pPr lvl="0"/>
              <a:t>2026/3/14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D586C053-80A4-4564-B962-F43712A33390}" type="slidenum">
              <a:t>30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algn="ctr" hangingPunct="0">
              <a:tabLst/>
              <a:defRPr lang="pl-PL" b="0" i="0" u="none" strike="noStrike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</a:defRPr>
            </a:lvl1pPr>
          </a:lstStyle>
          <a:p>
            <a:endParaRPr lang="pl-PL"/>
          </a:p>
        </p:txBody>
      </p:sp>
      <p:sp>
        <p:nvSpPr>
          <p:cNvPr id="3" name="Symbol zastępczy tekstu 2"/>
          <p:cNvSpPr txBox="1">
            <a:spLocks noGrp="1"/>
          </p:cNvSpPr>
          <p:nvPr>
            <p:ph type="body" sz="quarter" idx="4294967295"/>
          </p:nvPr>
        </p:nvSpPr>
        <p:spPr>
          <a:xfrm>
            <a:off x="457200" y="1203480"/>
            <a:ext cx="8229240" cy="2982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>
            <a:lvl1pPr hangingPunct="0">
              <a:spcBef>
                <a:spcPts val="1417"/>
              </a:spcBef>
              <a:spcAft>
                <a:spcPts val="0"/>
              </a:spcAft>
              <a:tabLst/>
              <a:defRPr lang="pl-PL" sz="3200" b="0" i="0" u="none" strike="noStrike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</a:defRPr>
            </a:lvl1pPr>
          </a:lstStyle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559251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0" y="0"/>
            <a:ext cx="4114800" cy="5143320"/>
          </a:xfrm>
          <a:prstGeom prst="rect">
            <a:avLst/>
          </a:pr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10840" y="0"/>
            <a:ext cx="45720" cy="51433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0000" y="540000"/>
            <a:ext cx="3600000" cy="360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1" i="0" u="none" strike="noStrike" kern="0" cap="none" spc="499" baseline="0" dirty="0" smtClean="0">
                <a:ln>
                  <a:noFill/>
                </a:ln>
                <a:solidFill>
                  <a:srgbClr val="0EA5E9"/>
                </a:solidFill>
                <a:latin typeface="Calibri" pitchFamily="18"/>
                <a:ea typeface="Calibri" pitchFamily="2"/>
                <a:cs typeface="Calibri" pitchFamily="2"/>
              </a:rPr>
              <a:t>WYKŁAD </a:t>
            </a:r>
            <a:r>
              <a:rPr lang="en-US" sz="1600" b="1" i="0" u="none" strike="noStrike" kern="0" cap="none" spc="499" baseline="0" dirty="0">
                <a:ln>
                  <a:noFill/>
                </a:ln>
                <a:solidFill>
                  <a:srgbClr val="0EA5E9"/>
                </a:solidFill>
                <a:latin typeface="Calibri" pitchFamily="18"/>
                <a:ea typeface="Calibri" pitchFamily="2"/>
                <a:cs typeface="Calibri" pitchFamily="2"/>
              </a:rPr>
              <a:t>7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4206240" cy="1828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0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18"/>
                <a:ea typeface="Cambria" pitchFamily="2"/>
                <a:cs typeface="Cambria" pitchFamily="34"/>
              </a:rPr>
              <a:t>Programowanie aplikacji mobilnych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0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18"/>
                <a:ea typeface="Cambria" pitchFamily="2"/>
                <a:cs typeface="Cambria" pitchFamily="34"/>
              </a:rPr>
              <a:t>współpracujących </a:t>
            </a:r>
            <a:r>
              <a:rPr lang="en-US" sz="1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Noto Sans CJK SC" pitchFamily="2"/>
                <a:cs typeface="Noto Sans Devanagari" pitchFamily="2"/>
              </a:rPr>
              <a:t/>
            </a:r>
            <a:br>
              <a:rPr lang="en-US" sz="1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Noto Sans CJK SC" pitchFamily="2"/>
                <a:cs typeface="Noto Sans Devanagari" pitchFamily="2"/>
              </a:rPr>
            </a:br>
            <a:r>
              <a:rPr lang="en-US" sz="30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18"/>
                <a:ea typeface="Cambria" pitchFamily="2"/>
                <a:cs typeface="Cambria" pitchFamily="34"/>
              </a:rPr>
              <a:t>z IoT</a:t>
            </a:r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097280" cy="36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411480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CADCFC"/>
                </a:solidFill>
                <a:latin typeface="Calibri" pitchFamily="34"/>
                <a:ea typeface="Calibri" pitchFamily="34"/>
                <a:cs typeface="Calibri" pitchFamily="34"/>
              </a:rPr>
              <a:t>Przedmiot: Programowanie Aplikacji Mobilnych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411480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CADCFC"/>
                </a:solidFill>
                <a:latin typeface="Calibri" pitchFamily="34"/>
                <a:ea typeface="Calibri" pitchFamily="34"/>
                <a:cs typeface="Calibri" pitchFamily="34"/>
              </a:rPr>
              <a:t>Kierunek: Informatyka</a:t>
            </a:r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411480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i="1"/>
            </a:pPr>
            <a:r>
              <a:rPr lang="en-US" sz="1100" b="0" i="1" u="none" strike="noStrike" kern="1200" cap="none" spc="0" baseline="0">
                <a:ln>
                  <a:noFill/>
                </a:ln>
                <a:solidFill>
                  <a:srgbClr val="64748B"/>
                </a:solidFill>
                <a:latin typeface="Calibri" pitchFamily="18"/>
                <a:ea typeface="Calibri" pitchFamily="2"/>
                <a:cs typeface="Calibri" pitchFamily="2"/>
              </a:rPr>
              <a:t>Internet of Things — Technologie i architektura</a:t>
            </a:r>
          </a:p>
        </p:txBody>
      </p:sp>
      <p:sp>
        <p:nvSpPr>
          <p:cNvPr id="11" name="Shape 9"/>
          <p:cNvSpPr/>
          <p:nvPr/>
        </p:nvSpPr>
        <p:spPr>
          <a:xfrm>
            <a:off x="5257800" y="914400"/>
            <a:ext cx="45720" cy="36576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2" name="Shape 11"/>
          <p:cNvSpPr/>
          <p:nvPr/>
        </p:nvSpPr>
        <p:spPr>
          <a:xfrm>
            <a:off x="5257800" y="1600200"/>
            <a:ext cx="45720" cy="36576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5257800" y="2286000"/>
            <a:ext cx="45720" cy="36576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4" name="Shape 15"/>
          <p:cNvSpPr/>
          <p:nvPr/>
        </p:nvSpPr>
        <p:spPr>
          <a:xfrm>
            <a:off x="5257800" y="2971800"/>
            <a:ext cx="45720" cy="36576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5440680" y="914400"/>
            <a:ext cx="3474720" cy="365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1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Protokoły komunikacji</a:t>
            </a:r>
          </a:p>
        </p:txBody>
      </p:sp>
      <p:sp>
        <p:nvSpPr>
          <p:cNvPr id="16" name="Shape 17"/>
          <p:cNvSpPr/>
          <p:nvPr/>
        </p:nvSpPr>
        <p:spPr>
          <a:xfrm>
            <a:off x="5257800" y="3657600"/>
            <a:ext cx="45720" cy="36576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5440680" y="1600200"/>
            <a:ext cx="3474720" cy="365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1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Android &amp; iOS + IoT</a:t>
            </a:r>
          </a:p>
        </p:txBody>
      </p:sp>
      <p:sp>
        <p:nvSpPr>
          <p:cNvPr id="18" name="Shape 19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0F172A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5440680" y="2286000"/>
            <a:ext cx="3474720" cy="365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1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Cloud Platforms</a:t>
            </a:r>
          </a:p>
        </p:txBody>
      </p:sp>
      <p:sp>
        <p:nvSpPr>
          <p:cNvPr id="20" name="Text 20"/>
          <p:cNvSpPr/>
          <p:nvPr/>
        </p:nvSpPr>
        <p:spPr>
          <a:xfrm>
            <a:off x="274320" y="4992480"/>
            <a:ext cx="4782240" cy="1508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445577"/>
                </a:solidFill>
                <a:latin typeface="Calibri" pitchFamily="34"/>
                <a:ea typeface="Calibri" pitchFamily="34"/>
                <a:cs typeface="Calibri" pitchFamily="34"/>
              </a:rPr>
              <a:t>©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445577"/>
                </a:solidFill>
                <a:latin typeface="Calibri" pitchFamily="34"/>
                <a:ea typeface="Calibri" pitchFamily="34"/>
                <a:cs typeface="Calibri" pitchFamily="34"/>
              </a:rPr>
              <a:t>Katedra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445577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445577"/>
                </a:solidFill>
                <a:latin typeface="Calibri" pitchFamily="34"/>
                <a:ea typeface="Calibri" pitchFamily="34"/>
                <a:cs typeface="Calibri" pitchFamily="34"/>
              </a:rPr>
              <a:t>Informatyki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445577"/>
                </a:solidFill>
                <a:latin typeface="Calibri" pitchFamily="34"/>
                <a:ea typeface="Calibri" pitchFamily="34"/>
                <a:cs typeface="Calibri" pitchFamily="34"/>
              </a:rPr>
              <a:t> I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445577"/>
                </a:solidFill>
                <a:latin typeface="Calibri" pitchFamily="34"/>
                <a:ea typeface="Calibri" pitchFamily="34"/>
                <a:cs typeface="Calibri" pitchFamily="34"/>
              </a:rPr>
              <a:t>Automatyki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445577"/>
                </a:solidFill>
                <a:latin typeface="Calibri" pitchFamily="34"/>
                <a:ea typeface="Calibri" pitchFamily="34"/>
                <a:cs typeface="Calibri" pitchFamily="34"/>
              </a:rPr>
              <a:t> —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445577"/>
                </a:solidFill>
                <a:latin typeface="Calibri" pitchFamily="34"/>
                <a:ea typeface="Calibri" pitchFamily="34"/>
                <a:cs typeface="Calibri" pitchFamily="34"/>
              </a:rPr>
              <a:t>Programowanie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445577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445577"/>
                </a:solidFill>
                <a:latin typeface="Calibri" pitchFamily="34"/>
                <a:ea typeface="Calibri" pitchFamily="34"/>
                <a:cs typeface="Calibri" pitchFamily="34"/>
              </a:rPr>
              <a:t>Aplikacji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445577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445577"/>
                </a:solidFill>
                <a:latin typeface="Calibri" pitchFamily="34"/>
                <a:ea typeface="Calibri" pitchFamily="34"/>
                <a:cs typeface="Calibri" pitchFamily="34"/>
              </a:rPr>
              <a:t>Mobilnych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445577"/>
                </a:solidFill>
                <a:latin typeface="Calibri" pitchFamily="34"/>
                <a:ea typeface="Calibri" pitchFamily="34"/>
                <a:cs typeface="Calibri" pitchFamily="34"/>
              </a:rPr>
              <a:t> || </a:t>
            </a:r>
            <a:r>
              <a:rPr lang="en-US" sz="900" b="0" i="0" u="none" strike="noStrike" kern="1200" cap="none" spc="0" baseline="0" dirty="0" smtClean="0">
                <a:ln>
                  <a:noFill/>
                </a:ln>
                <a:solidFill>
                  <a:srgbClr val="445577"/>
                </a:solidFill>
                <a:latin typeface="Calibri" pitchFamily="34"/>
                <a:ea typeface="Calibri" pitchFamily="34"/>
                <a:cs typeface="Calibri" pitchFamily="34"/>
              </a:rPr>
              <a:t>v.1.</a:t>
            </a:r>
            <a:r>
              <a:rPr lang="pl-PL" sz="900" b="0" i="0" u="none" strike="noStrike" kern="1200" cap="none" spc="0" baseline="0" dirty="0" smtClean="0">
                <a:ln>
                  <a:noFill/>
                </a:ln>
                <a:solidFill>
                  <a:srgbClr val="445577"/>
                </a:solidFill>
                <a:latin typeface="Calibri" pitchFamily="34"/>
                <a:ea typeface="Calibri" pitchFamily="34"/>
                <a:cs typeface="Calibri" pitchFamily="34"/>
              </a:rPr>
              <a:t>21</a:t>
            </a:r>
            <a:endParaRPr lang="en-US" sz="900" b="0" i="0" u="none" strike="noStrike" kern="1200" cap="none" spc="0" baseline="0" dirty="0">
              <a:ln>
                <a:noFill/>
              </a:ln>
              <a:solidFill>
                <a:srgbClr val="445577"/>
              </a:solidFill>
              <a:latin typeface="Calibri" pitchFamily="34"/>
              <a:ea typeface="Calibri" pitchFamily="34"/>
              <a:cs typeface="Calibri" pitchFamily="34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5440680" y="2971800"/>
            <a:ext cx="3474720" cy="365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1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Bezpieczeństwo</a:t>
            </a:r>
          </a:p>
        </p:txBody>
      </p:sp>
      <p:sp>
        <p:nvSpPr>
          <p:cNvPr id="22" name="Text 18"/>
          <p:cNvSpPr/>
          <p:nvPr/>
        </p:nvSpPr>
        <p:spPr>
          <a:xfrm>
            <a:off x="5440680" y="3657600"/>
            <a:ext cx="3474720" cy="365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1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Case Studies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40000"/>
            <a:ext cx="9144000" cy="7200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0000" y="0"/>
            <a:ext cx="8412480" cy="540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Plan wykładu</a:t>
            </a: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868679"/>
            <a:ext cx="4114800" cy="8046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868679"/>
            <a:ext cx="54720" cy="80460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Text 7"/>
          <p:cNvSpPr/>
          <p:nvPr/>
        </p:nvSpPr>
        <p:spPr>
          <a:xfrm>
            <a:off x="511920" y="914400"/>
            <a:ext cx="36576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1E5FA8"/>
                </a:solidFill>
                <a:latin typeface="Calibri" pitchFamily="34"/>
                <a:ea typeface="Calibri" pitchFamily="34"/>
                <a:cs typeface="Calibri" pitchFamily="34"/>
              </a:rPr>
              <a:t>Slajdy 1–4</a:t>
            </a:r>
          </a:p>
        </p:txBody>
      </p:sp>
      <p:sp>
        <p:nvSpPr>
          <p:cNvPr id="10" name="Text 8"/>
          <p:cNvSpPr/>
          <p:nvPr/>
        </p:nvSpPr>
        <p:spPr>
          <a:xfrm>
            <a:off x="511920" y="1143000"/>
            <a:ext cx="3794759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Wprowadzenie do IoT i rola aplikacji mobilnych</a:t>
            </a:r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4114800" cy="8046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1828800"/>
            <a:ext cx="54720" cy="80460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11920" y="1874520"/>
            <a:ext cx="36576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0D9488"/>
                </a:solidFill>
                <a:latin typeface="Calibri" pitchFamily="34"/>
                <a:ea typeface="Calibri" pitchFamily="34"/>
                <a:cs typeface="Calibri" pitchFamily="34"/>
              </a:rPr>
              <a:t>Slajdy 5–8</a:t>
            </a:r>
          </a:p>
        </p:txBody>
      </p:sp>
      <p:sp>
        <p:nvSpPr>
          <p:cNvPr id="14" name="Text 12"/>
          <p:cNvSpPr/>
          <p:nvPr/>
        </p:nvSpPr>
        <p:spPr>
          <a:xfrm>
            <a:off x="511920" y="2103120"/>
            <a:ext cx="3794759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Protokoły komunikacji (MQTT, CoAP, REST, WebSocket)</a:t>
            </a:r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4114800" cy="8046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54720" cy="80460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11920" y="2834640"/>
            <a:ext cx="36576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0EA5E9"/>
                </a:solidFill>
                <a:latin typeface="Calibri" pitchFamily="34"/>
                <a:ea typeface="Calibri" pitchFamily="34"/>
                <a:cs typeface="Calibri" pitchFamily="34"/>
              </a:rPr>
              <a:t>Slajdy 9–12</a:t>
            </a:r>
          </a:p>
        </p:txBody>
      </p:sp>
      <p:sp>
        <p:nvSpPr>
          <p:cNvPr id="18" name="Text 16"/>
          <p:cNvSpPr/>
          <p:nvPr/>
        </p:nvSpPr>
        <p:spPr>
          <a:xfrm>
            <a:off x="511920" y="3063240"/>
            <a:ext cx="3794759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Łączność bezprzewodowa (BLE, Wi-Fi, Zigbee)</a:t>
            </a:r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4114800" cy="8046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54720" cy="804600"/>
          </a:xfrm>
          <a:prstGeom prst="rect">
            <a:avLst/>
          </a:prstGeom>
          <a:solidFill>
            <a:srgbClr val="10B981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11920" y="3794759"/>
            <a:ext cx="36576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10B981"/>
                </a:solidFill>
                <a:latin typeface="Calibri" pitchFamily="34"/>
                <a:ea typeface="Calibri" pitchFamily="34"/>
                <a:cs typeface="Calibri" pitchFamily="34"/>
              </a:rPr>
              <a:t>Slajdy 13–17</a:t>
            </a:r>
          </a:p>
        </p:txBody>
      </p:sp>
      <p:sp>
        <p:nvSpPr>
          <p:cNvPr id="22" name="Text 20"/>
          <p:cNvSpPr/>
          <p:nvPr/>
        </p:nvSpPr>
        <p:spPr>
          <a:xfrm>
            <a:off x="511920" y="4023360"/>
            <a:ext cx="3794759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Programowanie Android &amp; iOS dla IoT</a:t>
            </a:r>
          </a:p>
        </p:txBody>
      </p:sp>
      <p:sp>
        <p:nvSpPr>
          <p:cNvPr id="23" name="Shape 21"/>
          <p:cNvSpPr/>
          <p:nvPr/>
        </p:nvSpPr>
        <p:spPr>
          <a:xfrm>
            <a:off x="4754879" y="868679"/>
            <a:ext cx="4114800" cy="8046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2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54879" y="868679"/>
            <a:ext cx="54720" cy="804600"/>
          </a:xfrm>
          <a:prstGeom prst="rect">
            <a:avLst/>
          </a:prstGeom>
          <a:solidFill>
            <a:srgbClr val="F59E0B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01040" y="914400"/>
            <a:ext cx="36576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F59E0B"/>
                </a:solidFill>
                <a:latin typeface="Calibri" pitchFamily="34"/>
                <a:ea typeface="Calibri" pitchFamily="34"/>
                <a:cs typeface="Calibri" pitchFamily="34"/>
              </a:rPr>
              <a:t>Slajdy 18–21</a:t>
            </a:r>
          </a:p>
        </p:txBody>
      </p:sp>
      <p:sp>
        <p:nvSpPr>
          <p:cNvPr id="26" name="Text 24"/>
          <p:cNvSpPr/>
          <p:nvPr/>
        </p:nvSpPr>
        <p:spPr>
          <a:xfrm>
            <a:off x="4901040" y="1143000"/>
            <a:ext cx="3794759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Platformy chmurowe i przetwarzanie danych</a:t>
            </a:r>
          </a:p>
        </p:txBody>
      </p:sp>
      <p:sp>
        <p:nvSpPr>
          <p:cNvPr id="27" name="Shape 25"/>
          <p:cNvSpPr/>
          <p:nvPr/>
        </p:nvSpPr>
        <p:spPr>
          <a:xfrm>
            <a:off x="4754879" y="1828800"/>
            <a:ext cx="4114800" cy="8046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754879" y="1828800"/>
            <a:ext cx="54720" cy="804600"/>
          </a:xfrm>
          <a:prstGeom prst="rect">
            <a:avLst/>
          </a:prstGeom>
          <a:solidFill>
            <a:srgbClr val="EF4444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901040" y="1874520"/>
            <a:ext cx="36576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EF4444"/>
                </a:solidFill>
                <a:latin typeface="Calibri" pitchFamily="34"/>
                <a:ea typeface="Calibri" pitchFamily="34"/>
                <a:cs typeface="Calibri" pitchFamily="34"/>
              </a:rPr>
              <a:t>Slajdy 22–25</a:t>
            </a:r>
          </a:p>
        </p:txBody>
      </p:sp>
      <p:sp>
        <p:nvSpPr>
          <p:cNvPr id="30" name="Text 28"/>
          <p:cNvSpPr/>
          <p:nvPr/>
        </p:nvSpPr>
        <p:spPr>
          <a:xfrm>
            <a:off x="4901040" y="2103120"/>
            <a:ext cx="3794759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Bezpieczeństwo i zarządzanie urządzeniami</a:t>
            </a:r>
          </a:p>
        </p:txBody>
      </p:sp>
      <p:sp>
        <p:nvSpPr>
          <p:cNvPr id="31" name="Shape 29"/>
          <p:cNvSpPr/>
          <p:nvPr/>
        </p:nvSpPr>
        <p:spPr>
          <a:xfrm>
            <a:off x="4754879" y="2788920"/>
            <a:ext cx="4114800" cy="8046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754879" y="2788920"/>
            <a:ext cx="54720" cy="80460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901040" y="2834640"/>
            <a:ext cx="36576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0D9488"/>
                </a:solidFill>
                <a:latin typeface="Calibri" pitchFamily="34"/>
                <a:ea typeface="Calibri" pitchFamily="34"/>
                <a:cs typeface="Calibri" pitchFamily="34"/>
              </a:rPr>
              <a:t>Slajdy 26–28</a:t>
            </a:r>
          </a:p>
        </p:txBody>
      </p:sp>
      <p:sp>
        <p:nvSpPr>
          <p:cNvPr id="34" name="Text 32"/>
          <p:cNvSpPr/>
          <p:nvPr/>
        </p:nvSpPr>
        <p:spPr>
          <a:xfrm>
            <a:off x="4901040" y="3063240"/>
            <a:ext cx="3794759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Testowanie i optymalizacja</a:t>
            </a:r>
          </a:p>
        </p:txBody>
      </p:sp>
      <p:sp>
        <p:nvSpPr>
          <p:cNvPr id="35" name="Shape 33"/>
          <p:cNvSpPr/>
          <p:nvPr/>
        </p:nvSpPr>
        <p:spPr>
          <a:xfrm>
            <a:off x="4754879" y="3749040"/>
            <a:ext cx="4114800" cy="8046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754879" y="3749040"/>
            <a:ext cx="54720" cy="80460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901040" y="3794759"/>
            <a:ext cx="36576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libri" pitchFamily="34"/>
                <a:ea typeface="Calibri" pitchFamily="34"/>
                <a:cs typeface="Calibri" pitchFamily="34"/>
              </a:rPr>
              <a:t>Slajdy 29–30</a:t>
            </a:r>
          </a:p>
        </p:txBody>
      </p:sp>
      <p:sp>
        <p:nvSpPr>
          <p:cNvPr id="38" name="Text 36"/>
          <p:cNvSpPr/>
          <p:nvPr/>
        </p:nvSpPr>
        <p:spPr>
          <a:xfrm>
            <a:off x="4901040" y="4023360"/>
            <a:ext cx="3794759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Case Studies i podsumowanie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14439"/>
            <a:ext cx="9144000" cy="3600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-35280"/>
            <a:ext cx="8412480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Definicja i ekosystem Internetu Rzeczy (IoT)</a:t>
            </a: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633240"/>
            <a:ext cx="8229600" cy="62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000" b="0" i="1" u="none" strike="noStrike" kern="1200" cap="none" spc="0" baseline="0">
                <a:ln>
                  <a:noFill/>
                </a:ln>
                <a:solidFill>
                  <a:srgbClr val="1E5FA8"/>
                </a:solidFill>
                <a:latin typeface="Cambria" pitchFamily="34"/>
                <a:ea typeface="Cambria" pitchFamily="34"/>
                <a:cs typeface="Cambria" pitchFamily="34"/>
              </a:rPr>
              <a:t>"Sieć urządzeń fizycznych wyposażonych w czujniki, oprogramowanie </a:t>
            </a:r>
            <a:br>
              <a:rPr lang="en-US" sz="2000" b="0" i="1" u="none" strike="noStrike" kern="1200" cap="none" spc="0" baseline="0">
                <a:ln>
                  <a:noFill/>
                </a:ln>
                <a:solidFill>
                  <a:srgbClr val="1E5FA8"/>
                </a:solidFill>
                <a:latin typeface="Cambria" pitchFamily="34"/>
                <a:ea typeface="Cambria" pitchFamily="34"/>
                <a:cs typeface="Cambria" pitchFamily="34"/>
              </a:rPr>
            </a:br>
            <a:r>
              <a:rPr lang="en-US" sz="2000" b="0" i="1" u="none" strike="noStrike" kern="1200" cap="none" spc="0" baseline="0">
                <a:ln>
                  <a:noFill/>
                </a:ln>
                <a:solidFill>
                  <a:srgbClr val="1E5FA8"/>
                </a:solidFill>
                <a:latin typeface="Cambria" pitchFamily="34"/>
                <a:ea typeface="Cambria" pitchFamily="34"/>
                <a:cs typeface="Cambria" pitchFamily="34"/>
              </a:rPr>
              <a:t>i łączność umożliwiającą wymianę danych bez udziału człowieka"</a:t>
            </a:r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1920239" cy="1371599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1920239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1737359"/>
            <a:ext cx="1920239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800" b="1" i="0" u="none" strike="noStrike" kern="1200" cap="none" spc="0" baseline="0">
                <a:ln>
                  <a:noFill/>
                </a:ln>
                <a:solidFill>
                  <a:srgbClr val="0EA5E9"/>
                </a:solidFill>
                <a:latin typeface="Cambria" pitchFamily="34"/>
                <a:ea typeface="Cambria" pitchFamily="34"/>
                <a:cs typeface="Cambria" pitchFamily="34"/>
              </a:rPr>
              <a:t>75 mld</a:t>
            </a:r>
          </a:p>
        </p:txBody>
      </p:sp>
      <p:sp>
        <p:nvSpPr>
          <p:cNvPr id="11" name="Text 9"/>
          <p:cNvSpPr/>
          <p:nvPr/>
        </p:nvSpPr>
        <p:spPr>
          <a:xfrm>
            <a:off x="365760" y="2359080"/>
            <a:ext cx="1920239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 spc="0" baseline="0">
                <a:ln>
                  <a:noFill/>
                </a:ln>
                <a:solidFill>
                  <a:srgbClr val="CADCFC"/>
                </a:solidFill>
                <a:latin typeface="Calibri" pitchFamily="34"/>
                <a:ea typeface="Calibri" pitchFamily="34"/>
                <a:cs typeface="Calibri" pitchFamily="34"/>
              </a:rPr>
              <a:t>Urządzeń IoT</a:t>
            </a:r>
          </a:p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 spc="0" baseline="0">
                <a:ln>
                  <a:noFill/>
                </a:ln>
                <a:solidFill>
                  <a:srgbClr val="CADCFC"/>
                </a:solidFill>
                <a:latin typeface="Calibri" pitchFamily="34"/>
                <a:ea typeface="Calibri" pitchFamily="34"/>
                <a:cs typeface="Calibri" pitchFamily="34"/>
              </a:rPr>
              <a:t>do 2030 r.</a:t>
            </a:r>
          </a:p>
        </p:txBody>
      </p:sp>
      <p:sp>
        <p:nvSpPr>
          <p:cNvPr id="12" name="Shape 10"/>
          <p:cNvSpPr/>
          <p:nvPr/>
        </p:nvSpPr>
        <p:spPr>
          <a:xfrm>
            <a:off x="2468880" y="1600200"/>
            <a:ext cx="1920239" cy="1371599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468880" y="1600200"/>
            <a:ext cx="1920239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468880" y="1737359"/>
            <a:ext cx="1920239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0EA5E9"/>
                </a:solidFill>
                <a:latin typeface="Cambria" pitchFamily="34"/>
                <a:ea typeface="Cambria" pitchFamily="34"/>
                <a:cs typeface="Cambria" pitchFamily="34"/>
              </a:rPr>
              <a:t>4.6 TB/dzień</a:t>
            </a:r>
          </a:p>
        </p:txBody>
      </p:sp>
      <p:sp>
        <p:nvSpPr>
          <p:cNvPr id="15" name="Text 13"/>
          <p:cNvSpPr/>
          <p:nvPr/>
        </p:nvSpPr>
        <p:spPr>
          <a:xfrm>
            <a:off x="2468880" y="2359080"/>
            <a:ext cx="1920239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 spc="0" baseline="0">
                <a:ln>
                  <a:noFill/>
                </a:ln>
                <a:solidFill>
                  <a:srgbClr val="CADCFC"/>
                </a:solidFill>
                <a:latin typeface="Calibri" pitchFamily="34"/>
                <a:ea typeface="Calibri" pitchFamily="34"/>
                <a:cs typeface="Calibri" pitchFamily="34"/>
              </a:rPr>
              <a:t>Danych</a:t>
            </a:r>
          </a:p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 spc="0" baseline="0">
                <a:ln>
                  <a:noFill/>
                </a:ln>
                <a:solidFill>
                  <a:srgbClr val="CADCFC"/>
                </a:solidFill>
                <a:latin typeface="Calibri" pitchFamily="34"/>
                <a:ea typeface="Calibri" pitchFamily="34"/>
                <a:cs typeface="Calibri" pitchFamily="34"/>
              </a:rPr>
              <a:t>generowanych</a:t>
            </a:r>
          </a:p>
        </p:txBody>
      </p:sp>
      <p:sp>
        <p:nvSpPr>
          <p:cNvPr id="16" name="Shape 14"/>
          <p:cNvSpPr/>
          <p:nvPr/>
        </p:nvSpPr>
        <p:spPr>
          <a:xfrm>
            <a:off x="4572000" y="1600200"/>
            <a:ext cx="1920239" cy="1371599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0" y="1600200"/>
            <a:ext cx="1920239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0" y="1737359"/>
            <a:ext cx="1920239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400" b="1" i="0" u="none" strike="noStrike" kern="1200" cap="none" spc="0" baseline="0">
                <a:ln>
                  <a:noFill/>
                </a:ln>
                <a:solidFill>
                  <a:srgbClr val="0EA5E9"/>
                </a:solidFill>
                <a:latin typeface="Cambria" pitchFamily="34"/>
                <a:ea typeface="Cambria" pitchFamily="34"/>
                <a:cs typeface="Cambria" pitchFamily="34"/>
              </a:rPr>
              <a:t>11 tys. USD</a:t>
            </a:r>
          </a:p>
        </p:txBody>
      </p:sp>
      <p:sp>
        <p:nvSpPr>
          <p:cNvPr id="19" name="Text 17"/>
          <p:cNvSpPr/>
          <p:nvPr/>
        </p:nvSpPr>
        <p:spPr>
          <a:xfrm>
            <a:off x="4572000" y="2359080"/>
            <a:ext cx="1920239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 spc="0" baseline="0">
                <a:ln>
                  <a:noFill/>
                </a:ln>
                <a:solidFill>
                  <a:srgbClr val="CADCFC"/>
                </a:solidFill>
                <a:latin typeface="Calibri" pitchFamily="34"/>
                <a:ea typeface="Calibri" pitchFamily="34"/>
                <a:cs typeface="Calibri" pitchFamily="34"/>
              </a:rPr>
              <a:t>Wydatki na IoT</a:t>
            </a:r>
          </a:p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 spc="0" baseline="0">
                <a:ln>
                  <a:noFill/>
                </a:ln>
                <a:solidFill>
                  <a:srgbClr val="CADCFC"/>
                </a:solidFill>
                <a:latin typeface="Calibri" pitchFamily="34"/>
                <a:ea typeface="Calibri" pitchFamily="34"/>
                <a:cs typeface="Calibri" pitchFamily="34"/>
              </a:rPr>
              <a:t>na firmę/rok</a:t>
            </a:r>
          </a:p>
        </p:txBody>
      </p:sp>
      <p:sp>
        <p:nvSpPr>
          <p:cNvPr id="20" name="Shape 18"/>
          <p:cNvSpPr/>
          <p:nvPr/>
        </p:nvSpPr>
        <p:spPr>
          <a:xfrm>
            <a:off x="6675119" y="1600200"/>
            <a:ext cx="1920239" cy="1371599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22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675119" y="1600200"/>
            <a:ext cx="1920239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675119" y="1737359"/>
            <a:ext cx="1920239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1" i="0" u="none" strike="noStrike" kern="1200" cap="none" spc="0" baseline="0">
                <a:ln>
                  <a:noFill/>
                </a:ln>
                <a:solidFill>
                  <a:srgbClr val="0EA5E9"/>
                </a:solidFill>
                <a:latin typeface="Cambria" pitchFamily="34"/>
                <a:ea typeface="Cambria" pitchFamily="34"/>
                <a:cs typeface="Cambria" pitchFamily="34"/>
              </a:rPr>
              <a:t>18.5%</a:t>
            </a:r>
          </a:p>
        </p:txBody>
      </p:sp>
      <p:sp>
        <p:nvSpPr>
          <p:cNvPr id="23" name="Text 21"/>
          <p:cNvSpPr/>
          <p:nvPr/>
        </p:nvSpPr>
        <p:spPr>
          <a:xfrm>
            <a:off x="6675119" y="2359080"/>
            <a:ext cx="1920239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 spc="0" baseline="0">
                <a:ln>
                  <a:noFill/>
                </a:ln>
                <a:solidFill>
                  <a:srgbClr val="CADCFC"/>
                </a:solidFill>
                <a:latin typeface="Calibri" pitchFamily="34"/>
                <a:ea typeface="Calibri" pitchFamily="34"/>
                <a:cs typeface="Calibri" pitchFamily="34"/>
              </a:rPr>
              <a:t>CAGR rynku</a:t>
            </a:r>
          </a:p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 spc="0" baseline="0">
                <a:ln>
                  <a:noFill/>
                </a:ln>
                <a:solidFill>
                  <a:srgbClr val="CADCFC"/>
                </a:solidFill>
                <a:latin typeface="Calibri" pitchFamily="34"/>
                <a:ea typeface="Calibri" pitchFamily="34"/>
                <a:cs typeface="Calibri" pitchFamily="34"/>
              </a:rPr>
              <a:t>IoT 2024–2030</a:t>
            </a:r>
          </a:p>
        </p:txBody>
      </p:sp>
      <p:sp>
        <p:nvSpPr>
          <p:cNvPr id="24" name="Text 22"/>
          <p:cNvSpPr/>
          <p:nvPr/>
        </p:nvSpPr>
        <p:spPr>
          <a:xfrm>
            <a:off x="385200" y="3180960"/>
            <a:ext cx="822960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Warstwy ekosystemu IoT</a:t>
            </a:r>
          </a:p>
        </p:txBody>
      </p:sp>
      <p:sp>
        <p:nvSpPr>
          <p:cNvPr id="25" name="Shape 23"/>
          <p:cNvSpPr/>
          <p:nvPr/>
        </p:nvSpPr>
        <p:spPr>
          <a:xfrm>
            <a:off x="365760" y="3456359"/>
            <a:ext cx="1965960" cy="1280159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5760" y="3520440"/>
            <a:ext cx="196596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0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Urządzenia</a:t>
            </a:r>
          </a:p>
        </p:txBody>
      </p:sp>
      <p:sp>
        <p:nvSpPr>
          <p:cNvPr id="27" name="Text 25"/>
          <p:cNvSpPr/>
          <p:nvPr/>
        </p:nvSpPr>
        <p:spPr>
          <a:xfrm>
            <a:off x="365760" y="3858840"/>
            <a:ext cx="1965960" cy="822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Czujniki, aktuatory, mikrokontrolery</a:t>
            </a:r>
          </a:p>
        </p:txBody>
      </p:sp>
      <p:sp>
        <p:nvSpPr>
          <p:cNvPr id="28" name="Text 26"/>
          <p:cNvSpPr/>
          <p:nvPr/>
        </p:nvSpPr>
        <p:spPr>
          <a:xfrm>
            <a:off x="2331720" y="3657600"/>
            <a:ext cx="18288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libri" pitchFamily="34"/>
                <a:ea typeface="Calibri" pitchFamily="34"/>
                <a:cs typeface="Calibri" pitchFamily="34"/>
              </a:rPr>
              <a:t>→</a:t>
            </a:r>
          </a:p>
        </p:txBody>
      </p:sp>
      <p:sp>
        <p:nvSpPr>
          <p:cNvPr id="29" name="Shape 27"/>
          <p:cNvSpPr/>
          <p:nvPr/>
        </p:nvSpPr>
        <p:spPr>
          <a:xfrm>
            <a:off x="2514600" y="3456359"/>
            <a:ext cx="1965960" cy="1280159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514600" y="3520440"/>
            <a:ext cx="196596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0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Łączność</a:t>
            </a:r>
          </a:p>
        </p:txBody>
      </p:sp>
      <p:sp>
        <p:nvSpPr>
          <p:cNvPr id="31" name="Text 29"/>
          <p:cNvSpPr/>
          <p:nvPr/>
        </p:nvSpPr>
        <p:spPr>
          <a:xfrm>
            <a:off x="2514600" y="3858840"/>
            <a:ext cx="1965960" cy="822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Protokoły, sieci bezprzewodowe</a:t>
            </a:r>
          </a:p>
        </p:txBody>
      </p:sp>
      <p:sp>
        <p:nvSpPr>
          <p:cNvPr id="32" name="Text 30"/>
          <p:cNvSpPr/>
          <p:nvPr/>
        </p:nvSpPr>
        <p:spPr>
          <a:xfrm>
            <a:off x="4480560" y="3657600"/>
            <a:ext cx="18288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libri" pitchFamily="34"/>
                <a:ea typeface="Calibri" pitchFamily="34"/>
                <a:cs typeface="Calibri" pitchFamily="34"/>
              </a:rPr>
              <a:t>→</a:t>
            </a:r>
          </a:p>
        </p:txBody>
      </p:sp>
      <p:sp>
        <p:nvSpPr>
          <p:cNvPr id="33" name="Shape 31"/>
          <p:cNvSpPr/>
          <p:nvPr/>
        </p:nvSpPr>
        <p:spPr>
          <a:xfrm>
            <a:off x="4663440" y="3456359"/>
            <a:ext cx="1965960" cy="1280159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663440" y="3520440"/>
            <a:ext cx="196596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0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Platforma</a:t>
            </a:r>
          </a:p>
        </p:txBody>
      </p:sp>
      <p:sp>
        <p:nvSpPr>
          <p:cNvPr id="35" name="Text 33"/>
          <p:cNvSpPr/>
          <p:nvPr/>
        </p:nvSpPr>
        <p:spPr>
          <a:xfrm>
            <a:off x="4663440" y="3858840"/>
            <a:ext cx="1965960" cy="822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Cloud, analityka, storage</a:t>
            </a:r>
          </a:p>
        </p:txBody>
      </p:sp>
      <p:sp>
        <p:nvSpPr>
          <p:cNvPr id="36" name="Text 34"/>
          <p:cNvSpPr/>
          <p:nvPr/>
        </p:nvSpPr>
        <p:spPr>
          <a:xfrm>
            <a:off x="6629400" y="3657600"/>
            <a:ext cx="18288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libri" pitchFamily="34"/>
                <a:ea typeface="Calibri" pitchFamily="34"/>
                <a:cs typeface="Calibri" pitchFamily="34"/>
              </a:rPr>
              <a:t>→</a:t>
            </a:r>
          </a:p>
        </p:txBody>
      </p:sp>
      <p:sp>
        <p:nvSpPr>
          <p:cNvPr id="37" name="Shape 35"/>
          <p:cNvSpPr/>
          <p:nvPr/>
        </p:nvSpPr>
        <p:spPr>
          <a:xfrm>
            <a:off x="6812279" y="3456359"/>
            <a:ext cx="1965960" cy="1280159"/>
          </a:xfrm>
          <a:prstGeom prst="rect">
            <a:avLst/>
          </a:prstGeom>
          <a:solidFill>
            <a:srgbClr val="10B981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26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812279" y="3520440"/>
            <a:ext cx="196596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0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Aplikacje</a:t>
            </a:r>
          </a:p>
        </p:txBody>
      </p:sp>
      <p:sp>
        <p:nvSpPr>
          <p:cNvPr id="39" name="Text 37"/>
          <p:cNvSpPr/>
          <p:nvPr/>
        </p:nvSpPr>
        <p:spPr>
          <a:xfrm>
            <a:off x="6812279" y="3858840"/>
            <a:ext cx="1965960" cy="822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Mobilne, webowe, dashboardy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44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440"/>
            <a:ext cx="914400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36720"/>
            <a:ext cx="8412480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Rola Aplikacji Mobilnych w Systemach IoT</a:t>
            </a: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4160520" cy="12618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64080" cy="126180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896040"/>
            <a:ext cx="39776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Interfejs użytkownika</a:t>
            </a:r>
          </a:p>
        </p:txBody>
      </p:sp>
      <p:sp>
        <p:nvSpPr>
          <p:cNvPr id="10" name="Text 8"/>
          <p:cNvSpPr/>
          <p:nvPr/>
        </p:nvSpPr>
        <p:spPr>
          <a:xfrm>
            <a:off x="457200" y="1207080"/>
            <a:ext cx="3977640" cy="786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Wizualizacja danych z czujników, sterowanie urządzeniami w czasie rzeczywistym, powiadomienia push.</a:t>
            </a:r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4160520" cy="12618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09160" y="822960"/>
            <a:ext cx="64080" cy="126180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46320" y="896040"/>
            <a:ext cx="39776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Brama komunikacyjna</a:t>
            </a:r>
          </a:p>
        </p:txBody>
      </p:sp>
      <p:sp>
        <p:nvSpPr>
          <p:cNvPr id="14" name="Text 12"/>
          <p:cNvSpPr/>
          <p:nvPr/>
        </p:nvSpPr>
        <p:spPr>
          <a:xfrm>
            <a:off x="4846320" y="1207080"/>
            <a:ext cx="3977640" cy="786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Telefon jako lokalny hub IoT — agregacja danych z urządzeń BLE/Zigbee przed wysłaniem do chmury.</a:t>
            </a:r>
          </a:p>
        </p:txBody>
      </p:sp>
      <p:sp>
        <p:nvSpPr>
          <p:cNvPr id="15" name="Shape 13"/>
          <p:cNvSpPr/>
          <p:nvPr/>
        </p:nvSpPr>
        <p:spPr>
          <a:xfrm>
            <a:off x="320040" y="2212920"/>
            <a:ext cx="4160520" cy="12618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" y="2212920"/>
            <a:ext cx="64080" cy="1261800"/>
          </a:xfrm>
          <a:prstGeom prst="rect">
            <a:avLst/>
          </a:prstGeom>
          <a:solidFill>
            <a:srgbClr val="10B981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2286000"/>
            <a:ext cx="39776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Przetwarzanie lokalne</a:t>
            </a:r>
          </a:p>
        </p:txBody>
      </p:sp>
      <p:sp>
        <p:nvSpPr>
          <p:cNvPr id="18" name="Text 16"/>
          <p:cNvSpPr/>
          <p:nvPr/>
        </p:nvSpPr>
        <p:spPr>
          <a:xfrm>
            <a:off x="457200" y="2597040"/>
            <a:ext cx="3977640" cy="786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Edge computing na urządzeniu mobilnym — preprocessing danych przed transmisją, redukcja latencji.</a:t>
            </a:r>
          </a:p>
        </p:txBody>
      </p:sp>
      <p:sp>
        <p:nvSpPr>
          <p:cNvPr id="19" name="Shape 17"/>
          <p:cNvSpPr/>
          <p:nvPr/>
        </p:nvSpPr>
        <p:spPr>
          <a:xfrm>
            <a:off x="4709160" y="2212920"/>
            <a:ext cx="4160520" cy="12618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09160" y="2212920"/>
            <a:ext cx="64080" cy="1261800"/>
          </a:xfrm>
          <a:prstGeom prst="rect">
            <a:avLst/>
          </a:prstGeom>
          <a:solidFill>
            <a:srgbClr val="F59E0B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46320" y="2286000"/>
            <a:ext cx="39776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Zarządzanie urządzeniami</a:t>
            </a:r>
          </a:p>
        </p:txBody>
      </p:sp>
      <p:sp>
        <p:nvSpPr>
          <p:cNvPr id="22" name="Text 20"/>
          <p:cNvSpPr/>
          <p:nvPr/>
        </p:nvSpPr>
        <p:spPr>
          <a:xfrm>
            <a:off x="4846320" y="2597040"/>
            <a:ext cx="3977640" cy="786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Provisioning, konfiguracja OTA, monitoring stanu urządzeń, zarządzanie aktualizacjami firmware.</a:t>
            </a:r>
          </a:p>
        </p:txBody>
      </p:sp>
      <p:sp>
        <p:nvSpPr>
          <p:cNvPr id="23" name="Shape 21"/>
          <p:cNvSpPr/>
          <p:nvPr/>
        </p:nvSpPr>
        <p:spPr>
          <a:xfrm>
            <a:off x="320040" y="3602879"/>
            <a:ext cx="4160520" cy="12618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0040" y="3602879"/>
            <a:ext cx="64080" cy="126180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3675959"/>
            <a:ext cx="39776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Analityka i raporty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3986640"/>
            <a:ext cx="3977640" cy="786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Dashboardy, trendy historyczne, alerty progowe, eksport danych do systemów BI.</a:t>
            </a:r>
          </a:p>
        </p:txBody>
      </p:sp>
      <p:sp>
        <p:nvSpPr>
          <p:cNvPr id="27" name="Shape 25"/>
          <p:cNvSpPr/>
          <p:nvPr/>
        </p:nvSpPr>
        <p:spPr>
          <a:xfrm>
            <a:off x="4709160" y="3602879"/>
            <a:ext cx="4160520" cy="12618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709160" y="3602879"/>
            <a:ext cx="64080" cy="1261800"/>
          </a:xfrm>
          <a:prstGeom prst="rect">
            <a:avLst/>
          </a:prstGeom>
          <a:solidFill>
            <a:srgbClr val="EF4444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846320" y="3675959"/>
            <a:ext cx="39776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Bezpieczeństwo</a:t>
            </a:r>
          </a:p>
        </p:txBody>
      </p:sp>
      <p:sp>
        <p:nvSpPr>
          <p:cNvPr id="30" name="Text 28"/>
          <p:cNvSpPr/>
          <p:nvPr/>
        </p:nvSpPr>
        <p:spPr>
          <a:xfrm>
            <a:off x="4846320" y="3986640"/>
            <a:ext cx="3977640" cy="786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Autentykacja użytkownika, autoryzacja dostępu do urządzeń, szyfrowanie komunikacji end-to-end.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44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440"/>
            <a:ext cx="914400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36720"/>
            <a:ext cx="8412480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Architektura Systemu IoT z aplikacją mobilną</a:t>
            </a: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1645920" cy="82296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8" name="Text 6"/>
          <p:cNvSpPr/>
          <p:nvPr/>
        </p:nvSpPr>
        <p:spPr>
          <a:xfrm>
            <a:off x="347400" y="978480"/>
            <a:ext cx="155447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Urządzenia IoT</a:t>
            </a:r>
          </a:p>
        </p:txBody>
      </p:sp>
      <p:sp>
        <p:nvSpPr>
          <p:cNvPr id="9" name="Text 7"/>
          <p:cNvSpPr/>
          <p:nvPr/>
        </p:nvSpPr>
        <p:spPr>
          <a:xfrm>
            <a:off x="347400" y="1261800"/>
            <a:ext cx="1554479" cy="43883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Czujniki, aktuatory,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mikrokontrolery</a:t>
            </a:r>
          </a:p>
        </p:txBody>
      </p:sp>
      <p:sp>
        <p:nvSpPr>
          <p:cNvPr id="10" name="Shape 8"/>
          <p:cNvSpPr/>
          <p:nvPr/>
        </p:nvSpPr>
        <p:spPr>
          <a:xfrm>
            <a:off x="2377439" y="914400"/>
            <a:ext cx="1645920" cy="82296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450520" y="978480"/>
            <a:ext cx="155447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Brama (Gateway)</a:t>
            </a:r>
          </a:p>
        </p:txBody>
      </p:sp>
      <p:sp>
        <p:nvSpPr>
          <p:cNvPr id="12" name="Text 10"/>
          <p:cNvSpPr/>
          <p:nvPr/>
        </p:nvSpPr>
        <p:spPr>
          <a:xfrm>
            <a:off x="2450520" y="1261800"/>
            <a:ext cx="1554479" cy="43883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Lokalna brama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lub router</a:t>
            </a:r>
          </a:p>
        </p:txBody>
      </p:sp>
      <p:sp>
        <p:nvSpPr>
          <p:cNvPr id="13" name="Shape 11"/>
          <p:cNvSpPr/>
          <p:nvPr/>
        </p:nvSpPr>
        <p:spPr>
          <a:xfrm>
            <a:off x="4480560" y="800640"/>
            <a:ext cx="1645920" cy="82296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53640" y="864719"/>
            <a:ext cx="155447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Cloud Platform</a:t>
            </a:r>
          </a:p>
        </p:txBody>
      </p:sp>
      <p:sp>
        <p:nvSpPr>
          <p:cNvPr id="15" name="Text 13"/>
          <p:cNvSpPr/>
          <p:nvPr/>
        </p:nvSpPr>
        <p:spPr>
          <a:xfrm>
            <a:off x="4553640" y="1148040"/>
            <a:ext cx="1554479" cy="43883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AWS IoT, Azure,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Google Cloud</a:t>
            </a:r>
          </a:p>
        </p:txBody>
      </p:sp>
      <p:grpSp>
        <p:nvGrpSpPr>
          <p:cNvPr id="16" name="Grupa 15"/>
          <p:cNvGrpSpPr/>
          <p:nvPr/>
        </p:nvGrpSpPr>
        <p:grpSpPr>
          <a:xfrm>
            <a:off x="4474080" y="1783080"/>
            <a:ext cx="1645920" cy="822960"/>
            <a:chOff x="4474080" y="1783080"/>
            <a:chExt cx="1645920" cy="822960"/>
          </a:xfrm>
        </p:grpSpPr>
        <p:sp>
          <p:nvSpPr>
            <p:cNvPr id="17" name="Shape 14"/>
            <p:cNvSpPr/>
            <p:nvPr/>
          </p:nvSpPr>
          <p:spPr>
            <a:xfrm>
              <a:off x="4474080" y="1783080"/>
              <a:ext cx="1645920" cy="822960"/>
            </a:xfrm>
            <a:prstGeom prst="rect">
              <a:avLst/>
            </a:prstGeom>
            <a:solidFill>
              <a:srgbClr val="24357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8" name="Text 15"/>
            <p:cNvSpPr/>
            <p:nvPr/>
          </p:nvSpPr>
          <p:spPr>
            <a:xfrm>
              <a:off x="4547159" y="1847160"/>
              <a:ext cx="1554479" cy="2743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100" b="1" i="0" u="none" strike="noStrike" kern="1200" cap="none" spc="0" baseline="0">
                  <a:ln>
                    <a:noFill/>
                  </a:ln>
                  <a:solidFill>
                    <a:srgbClr val="FFFFFF"/>
                  </a:solidFill>
                  <a:latin typeface="Cambria" pitchFamily="34"/>
                  <a:ea typeface="Cambria" pitchFamily="34"/>
                  <a:cs typeface="Cambria" pitchFamily="34"/>
                </a:rPr>
                <a:t>MQTT Broker</a:t>
              </a:r>
            </a:p>
          </p:txBody>
        </p:sp>
        <p:sp>
          <p:nvSpPr>
            <p:cNvPr id="19" name="Text 16"/>
            <p:cNvSpPr/>
            <p:nvPr/>
          </p:nvSpPr>
          <p:spPr>
            <a:xfrm>
              <a:off x="4547159" y="2130480"/>
              <a:ext cx="1554479" cy="438839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000" b="0" i="0" u="none" strike="noStrike" kern="1200" cap="none" spc="0" baseline="0">
                  <a:ln>
                    <a:noFill/>
                  </a:ln>
                  <a:solidFill>
                    <a:srgbClr val="FFFFFF"/>
                  </a:solidFill>
                  <a:latin typeface="Calibri" pitchFamily="34"/>
                  <a:ea typeface="Calibri" pitchFamily="34"/>
                  <a:cs typeface="Calibri" pitchFamily="34"/>
                </a:rPr>
                <a:t>Eclipse Mosquitto</a:t>
              </a:r>
            </a:p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000" b="0" i="0" u="none" strike="noStrike" kern="1200" cap="none" spc="0" baseline="0">
                  <a:ln>
                    <a:noFill/>
                  </a:ln>
                  <a:solidFill>
                    <a:srgbClr val="FFFFFF"/>
                  </a:solidFill>
                  <a:latin typeface="Calibri" pitchFamily="34"/>
                  <a:ea typeface="Calibri" pitchFamily="34"/>
                  <a:cs typeface="Calibri" pitchFamily="34"/>
                </a:rPr>
                <a:t>HiveMQ, AWS IoT</a:t>
              </a:r>
            </a:p>
          </p:txBody>
        </p:sp>
      </p:grpSp>
      <p:sp>
        <p:nvSpPr>
          <p:cNvPr id="20" name="Shape 17"/>
          <p:cNvSpPr/>
          <p:nvPr/>
        </p:nvSpPr>
        <p:spPr>
          <a:xfrm>
            <a:off x="6675119" y="795600"/>
            <a:ext cx="1581179" cy="182844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748200" y="1057320"/>
            <a:ext cx="1401308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1" i="0" u="none" strike="noStrike" kern="1200" cap="none" spc="0" baseline="0" dirty="0" err="1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Aplikacja</a:t>
            </a:r>
            <a:r>
              <a:rPr lang="en-US" sz="1100" b="1" i="0" u="none" strike="noStrike" kern="1200" cap="none" spc="0" baseline="0" dirty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 </a:t>
            </a:r>
            <a:r>
              <a:rPr lang="en-US" sz="1100" b="1" i="0" u="none" strike="noStrike" kern="1200" cap="none" spc="0" baseline="0" dirty="0" err="1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Mobilna</a:t>
            </a:r>
            <a:endParaRPr lang="en-US" sz="1100" b="1" i="0" u="none" strike="noStrike" kern="1200" cap="none" spc="0" baseline="0" dirty="0">
              <a:ln>
                <a:noFill/>
              </a:ln>
              <a:solidFill>
                <a:srgbClr val="FFFFFF"/>
              </a:solidFill>
              <a:latin typeface="Cambria" pitchFamily="34"/>
              <a:ea typeface="Cambria" pitchFamily="34"/>
              <a:cs typeface="Cambria" pitchFamily="34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761547" y="1304640"/>
            <a:ext cx="1327889" cy="85031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 dirty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Android / iOS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 dirty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Flutter, React Native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 dirty="0" err="1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Kotlin</a:t>
            </a:r>
            <a:r>
              <a:rPr lang="en-US" sz="1000" b="0" i="0" u="none" strike="noStrike" kern="1200" cap="none" spc="0" baseline="0" dirty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, Swift</a:t>
            </a:r>
          </a:p>
        </p:txBody>
      </p:sp>
      <p:sp>
        <p:nvSpPr>
          <p:cNvPr id="23" name="Shape 20"/>
          <p:cNvSpPr/>
          <p:nvPr/>
        </p:nvSpPr>
        <p:spPr>
          <a:xfrm>
            <a:off x="1920239" y="1325880"/>
            <a:ext cx="457200" cy="3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0"/>
              <a:gd name="f8" fmla="abs f3"/>
              <a:gd name="f9" fmla="abs f4"/>
              <a:gd name="f10" fmla="abs f5"/>
              <a:gd name="f11" fmla="val f6"/>
              <a:gd name="f12" fmla="*/ f7 f0 1"/>
              <a:gd name="f13" fmla="?: f8 f3 1"/>
              <a:gd name="f14" fmla="?: f9 f4 1"/>
              <a:gd name="f15" fmla="?: f10 f5 1"/>
              <a:gd name="f16" fmla="*/ f12 1 f2"/>
              <a:gd name="f17" fmla="*/ f13 1 21600"/>
              <a:gd name="f18" fmla="*/ f14 1 21600"/>
              <a:gd name="f19" fmla="*/ 21600 f13 1"/>
              <a:gd name="f20" fmla="*/ 21600 f14 1"/>
              <a:gd name="f21" fmla="+- f16 0 f1"/>
              <a:gd name="f22" fmla="min f18 f17"/>
              <a:gd name="f23" fmla="*/ f19 1 f15"/>
              <a:gd name="f24" fmla="*/ f20 1 f15"/>
              <a:gd name="f25" fmla="val f23"/>
              <a:gd name="f26" fmla="val f24"/>
              <a:gd name="f27" fmla="*/ f6 f22 1"/>
              <a:gd name="f28" fmla="*/ f23 f22 1"/>
              <a:gd name="f29" fmla="*/ f24 f22 1"/>
              <a:gd name="f30" fmla="*/ f11 f22 1"/>
              <a:gd name="f31" fmla="*/ f25 f22 1"/>
              <a:gd name="f32" fmla="*/ f26 f2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1">
                <a:pos x="f30" y="f30"/>
              </a:cxn>
              <a:cxn ang="f21">
                <a:pos x="f31" y="f32"/>
              </a:cxn>
            </a:cxnLst>
            <a:rect l="f27" t="f27" r="f28" b="f29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25560" cap="flat">
            <a:solidFill>
              <a:srgbClr val="64748B"/>
            </a:solidFill>
            <a:prstDash val="solid"/>
            <a:miter/>
          </a:ln>
        </p:spPr>
        <p:txBody>
          <a:bodyPr vert="horz" wrap="square" lIns="102600" tIns="57600" rIns="102600" bIns="576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023360" y="1325880"/>
            <a:ext cx="457200" cy="3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0"/>
              <a:gd name="f8" fmla="abs f3"/>
              <a:gd name="f9" fmla="abs f4"/>
              <a:gd name="f10" fmla="abs f5"/>
              <a:gd name="f11" fmla="val f6"/>
              <a:gd name="f12" fmla="*/ f7 f0 1"/>
              <a:gd name="f13" fmla="?: f8 f3 1"/>
              <a:gd name="f14" fmla="?: f9 f4 1"/>
              <a:gd name="f15" fmla="?: f10 f5 1"/>
              <a:gd name="f16" fmla="*/ f12 1 f2"/>
              <a:gd name="f17" fmla="*/ f13 1 21600"/>
              <a:gd name="f18" fmla="*/ f14 1 21600"/>
              <a:gd name="f19" fmla="*/ 21600 f13 1"/>
              <a:gd name="f20" fmla="*/ 21600 f14 1"/>
              <a:gd name="f21" fmla="+- f16 0 f1"/>
              <a:gd name="f22" fmla="min f18 f17"/>
              <a:gd name="f23" fmla="*/ f19 1 f15"/>
              <a:gd name="f24" fmla="*/ f20 1 f15"/>
              <a:gd name="f25" fmla="val f23"/>
              <a:gd name="f26" fmla="val f24"/>
              <a:gd name="f27" fmla="*/ f6 f22 1"/>
              <a:gd name="f28" fmla="*/ f23 f22 1"/>
              <a:gd name="f29" fmla="*/ f24 f22 1"/>
              <a:gd name="f30" fmla="*/ f11 f22 1"/>
              <a:gd name="f31" fmla="*/ f25 f22 1"/>
              <a:gd name="f32" fmla="*/ f26 f2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1">
                <a:pos x="f30" y="f30"/>
              </a:cxn>
              <a:cxn ang="f21">
                <a:pos x="f31" y="f32"/>
              </a:cxn>
            </a:cxnLst>
            <a:rect l="f27" t="f27" r="f28" b="f29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25560" cap="flat">
            <a:solidFill>
              <a:srgbClr val="64748B"/>
            </a:solidFill>
            <a:prstDash val="solid"/>
            <a:miter/>
          </a:ln>
        </p:spPr>
        <p:txBody>
          <a:bodyPr vert="horz" wrap="square" lIns="102600" tIns="57600" rIns="102600" bIns="576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126480" y="960120"/>
            <a:ext cx="548640" cy="3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0"/>
              <a:gd name="f8" fmla="abs f3"/>
              <a:gd name="f9" fmla="abs f4"/>
              <a:gd name="f10" fmla="abs f5"/>
              <a:gd name="f11" fmla="val f6"/>
              <a:gd name="f12" fmla="*/ f7 f0 1"/>
              <a:gd name="f13" fmla="?: f8 f3 1"/>
              <a:gd name="f14" fmla="?: f9 f4 1"/>
              <a:gd name="f15" fmla="?: f10 f5 1"/>
              <a:gd name="f16" fmla="*/ f12 1 f2"/>
              <a:gd name="f17" fmla="*/ f13 1 21600"/>
              <a:gd name="f18" fmla="*/ f14 1 21600"/>
              <a:gd name="f19" fmla="*/ 21600 f13 1"/>
              <a:gd name="f20" fmla="*/ 21600 f14 1"/>
              <a:gd name="f21" fmla="+- f16 0 f1"/>
              <a:gd name="f22" fmla="min f18 f17"/>
              <a:gd name="f23" fmla="*/ f19 1 f15"/>
              <a:gd name="f24" fmla="*/ f20 1 f15"/>
              <a:gd name="f25" fmla="val f23"/>
              <a:gd name="f26" fmla="val f24"/>
              <a:gd name="f27" fmla="*/ f6 f22 1"/>
              <a:gd name="f28" fmla="*/ f23 f22 1"/>
              <a:gd name="f29" fmla="*/ f24 f22 1"/>
              <a:gd name="f30" fmla="*/ f11 f22 1"/>
              <a:gd name="f31" fmla="*/ f25 f22 1"/>
              <a:gd name="f32" fmla="*/ f26 f2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1">
                <a:pos x="f30" y="f30"/>
              </a:cxn>
              <a:cxn ang="f21">
                <a:pos x="f31" y="f32"/>
              </a:cxn>
            </a:cxnLst>
            <a:rect l="f27" t="f27" r="f28" b="f29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25560" cap="flat">
            <a:solidFill>
              <a:srgbClr val="64748B"/>
            </a:solidFill>
            <a:prstDash val="solid"/>
            <a:miter/>
          </a:ln>
        </p:spPr>
        <p:txBody>
          <a:bodyPr vert="horz" wrap="square" lIns="102600" tIns="57600" rIns="102600" bIns="576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126480" y="2148840"/>
            <a:ext cx="548640" cy="3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0"/>
              <a:gd name="f8" fmla="abs f3"/>
              <a:gd name="f9" fmla="abs f4"/>
              <a:gd name="f10" fmla="abs f5"/>
              <a:gd name="f11" fmla="val f6"/>
              <a:gd name="f12" fmla="*/ f7 f0 1"/>
              <a:gd name="f13" fmla="?: f8 f3 1"/>
              <a:gd name="f14" fmla="?: f9 f4 1"/>
              <a:gd name="f15" fmla="?: f10 f5 1"/>
              <a:gd name="f16" fmla="*/ f12 1 f2"/>
              <a:gd name="f17" fmla="*/ f13 1 21600"/>
              <a:gd name="f18" fmla="*/ f14 1 21600"/>
              <a:gd name="f19" fmla="*/ 21600 f13 1"/>
              <a:gd name="f20" fmla="*/ 21600 f14 1"/>
              <a:gd name="f21" fmla="+- f16 0 f1"/>
              <a:gd name="f22" fmla="min f18 f17"/>
              <a:gd name="f23" fmla="*/ f19 1 f15"/>
              <a:gd name="f24" fmla="*/ f20 1 f15"/>
              <a:gd name="f25" fmla="val f23"/>
              <a:gd name="f26" fmla="val f24"/>
              <a:gd name="f27" fmla="*/ f6 f22 1"/>
              <a:gd name="f28" fmla="*/ f23 f22 1"/>
              <a:gd name="f29" fmla="*/ f24 f22 1"/>
              <a:gd name="f30" fmla="*/ f11 f22 1"/>
              <a:gd name="f31" fmla="*/ f25 f22 1"/>
              <a:gd name="f32" fmla="*/ f26 f2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1">
                <a:pos x="f30" y="f30"/>
              </a:cxn>
              <a:cxn ang="f21">
                <a:pos x="f31" y="f32"/>
              </a:cxn>
            </a:cxnLst>
            <a:rect l="f27" t="f27" r="f28" b="f29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25560" cap="flat">
            <a:solidFill>
              <a:srgbClr val="64748B"/>
            </a:solidFill>
            <a:prstDash val="solid"/>
            <a:miter/>
          </a:ln>
        </p:spPr>
        <p:txBody>
          <a:bodyPr vert="horz" wrap="square" lIns="102600" tIns="57600" rIns="102600" bIns="576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2377439" y="1783080"/>
            <a:ext cx="1840815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 dirty="0" err="1">
                <a:ln>
                  <a:noFill/>
                </a:ln>
                <a:solidFill>
                  <a:srgbClr val="64748B"/>
                </a:solidFill>
                <a:latin typeface="Calibri" pitchFamily="34"/>
                <a:ea typeface="Calibri" pitchFamily="34"/>
                <a:cs typeface="Calibri" pitchFamily="34"/>
              </a:rPr>
              <a:t>Protokół</a:t>
            </a:r>
            <a:r>
              <a:rPr lang="en-US" sz="1000" b="0" i="0" u="none" strike="noStrike" kern="1200" cap="none" spc="0" baseline="0" dirty="0">
                <a:ln>
                  <a:noFill/>
                </a:ln>
                <a:solidFill>
                  <a:srgbClr val="64748B"/>
                </a:solidFill>
                <a:latin typeface="Calibri" pitchFamily="34"/>
                <a:ea typeface="Calibri" pitchFamily="34"/>
                <a:cs typeface="Calibri" pitchFamily="34"/>
              </a:rPr>
              <a:t>: MQTT / </a:t>
            </a:r>
            <a:r>
              <a:rPr lang="en-US" sz="1000" b="0" i="0" u="none" strike="noStrike" kern="1200" cap="none" spc="0" baseline="0" dirty="0" err="1">
                <a:ln>
                  <a:noFill/>
                </a:ln>
                <a:solidFill>
                  <a:srgbClr val="64748B"/>
                </a:solidFill>
                <a:latin typeface="Calibri" pitchFamily="34"/>
                <a:ea typeface="Calibri" pitchFamily="34"/>
                <a:cs typeface="Calibri" pitchFamily="34"/>
              </a:rPr>
              <a:t>CoAP</a:t>
            </a:r>
            <a:r>
              <a:rPr lang="en-US" sz="1000" b="0" i="0" u="none" strike="noStrike" kern="1200" cap="none" spc="0" baseline="0" dirty="0">
                <a:ln>
                  <a:noFill/>
                </a:ln>
                <a:solidFill>
                  <a:srgbClr val="64748B"/>
                </a:solidFill>
                <a:latin typeface="Calibri" pitchFamily="34"/>
                <a:ea typeface="Calibri" pitchFamily="34"/>
                <a:cs typeface="Calibri" pitchFamily="34"/>
              </a:rPr>
              <a:t> / HTTP</a:t>
            </a:r>
          </a:p>
        </p:txBody>
      </p:sp>
      <p:sp>
        <p:nvSpPr>
          <p:cNvPr id="28" name="Shape 25"/>
          <p:cNvSpPr/>
          <p:nvPr/>
        </p:nvSpPr>
        <p:spPr>
          <a:xfrm>
            <a:off x="274320" y="2880360"/>
            <a:ext cx="8595360" cy="45720"/>
          </a:xfrm>
          <a:prstGeom prst="rect">
            <a:avLst/>
          </a:prstGeom>
          <a:solidFill>
            <a:srgbClr val="E2E8F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274320" y="3017520"/>
            <a:ext cx="822960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Przepływ danych:</a:t>
            </a:r>
          </a:p>
        </p:txBody>
      </p:sp>
      <p:sp>
        <p:nvSpPr>
          <p:cNvPr id="30" name="Shape 27"/>
          <p:cNvSpPr/>
          <p:nvPr/>
        </p:nvSpPr>
        <p:spPr>
          <a:xfrm>
            <a:off x="274320" y="3383280"/>
            <a:ext cx="1554479" cy="1325880"/>
          </a:xfrm>
          <a:custGeom>
            <a:avLst>
              <a:gd name="f0" fmla="val 119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274320" y="3456359"/>
            <a:ext cx="1554479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1" i="0" u="none" strike="noStrike" kern="1200" cap="none" spc="0" baseline="0">
                <a:ln>
                  <a:noFill/>
                </a:ln>
                <a:solidFill>
                  <a:srgbClr val="0EA5E9"/>
                </a:solidFill>
                <a:latin typeface="Cambria" pitchFamily="34"/>
                <a:ea typeface="Cambria" pitchFamily="34"/>
                <a:cs typeface="Cambria" pitchFamily="34"/>
              </a:rPr>
              <a:t>1</a:t>
            </a:r>
          </a:p>
        </p:txBody>
      </p:sp>
      <p:sp>
        <p:nvSpPr>
          <p:cNvPr id="32" name="Text 29"/>
          <p:cNvSpPr/>
          <p:nvPr/>
        </p:nvSpPr>
        <p:spPr>
          <a:xfrm>
            <a:off x="320040" y="3776400"/>
            <a:ext cx="1463039" cy="8686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00"/>
            </a:pPr>
            <a:r>
              <a:rPr lang="en-US" sz="16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Czujnik zbiera dane</a:t>
            </a:r>
          </a:p>
        </p:txBody>
      </p:sp>
      <p:sp>
        <p:nvSpPr>
          <p:cNvPr id="33" name="Text 30"/>
          <p:cNvSpPr/>
          <p:nvPr/>
        </p:nvSpPr>
        <p:spPr>
          <a:xfrm>
            <a:off x="1810440" y="3749040"/>
            <a:ext cx="18288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000" b="0" i="0" u="none" strike="noStrike" kern="1200" cap="none" spc="0" baseline="0">
                <a:ln>
                  <a:noFill/>
                </a:ln>
                <a:solidFill>
                  <a:srgbClr val="64748B"/>
                </a:solidFill>
                <a:latin typeface="Calibri" pitchFamily="34"/>
                <a:ea typeface="Calibri" pitchFamily="34"/>
                <a:cs typeface="Calibri" pitchFamily="34"/>
              </a:rPr>
              <a:t>›</a:t>
            </a:r>
          </a:p>
        </p:txBody>
      </p:sp>
      <p:sp>
        <p:nvSpPr>
          <p:cNvPr id="34" name="Shape 31"/>
          <p:cNvSpPr/>
          <p:nvPr/>
        </p:nvSpPr>
        <p:spPr>
          <a:xfrm>
            <a:off x="1993320" y="3383280"/>
            <a:ext cx="1554479" cy="1325880"/>
          </a:xfrm>
          <a:custGeom>
            <a:avLst>
              <a:gd name="f0" fmla="val 119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1993320" y="3456359"/>
            <a:ext cx="1554479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1" i="0" u="none" strike="noStrike" kern="1200" cap="none" spc="0" baseline="0">
                <a:ln>
                  <a:noFill/>
                </a:ln>
                <a:solidFill>
                  <a:srgbClr val="0EA5E9"/>
                </a:solidFill>
                <a:latin typeface="Cambria" pitchFamily="34"/>
                <a:ea typeface="Cambria" pitchFamily="34"/>
                <a:cs typeface="Cambria" pitchFamily="34"/>
              </a:rPr>
              <a:t>2</a:t>
            </a:r>
          </a:p>
        </p:txBody>
      </p:sp>
      <p:sp>
        <p:nvSpPr>
          <p:cNvPr id="36" name="Text 33"/>
          <p:cNvSpPr/>
          <p:nvPr/>
        </p:nvSpPr>
        <p:spPr>
          <a:xfrm>
            <a:off x="2039039" y="3776400"/>
            <a:ext cx="1463039" cy="8686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Dane przesyłane przez MQTT/CoAP</a:t>
            </a:r>
          </a:p>
        </p:txBody>
      </p:sp>
      <p:sp>
        <p:nvSpPr>
          <p:cNvPr id="37" name="Text 34"/>
          <p:cNvSpPr/>
          <p:nvPr/>
        </p:nvSpPr>
        <p:spPr>
          <a:xfrm>
            <a:off x="3529440" y="3749040"/>
            <a:ext cx="18288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000" b="0" i="0" u="none" strike="noStrike" kern="1200" cap="none" spc="0" baseline="0">
                <a:ln>
                  <a:noFill/>
                </a:ln>
                <a:solidFill>
                  <a:srgbClr val="64748B"/>
                </a:solidFill>
                <a:latin typeface="Calibri" pitchFamily="34"/>
                <a:ea typeface="Calibri" pitchFamily="34"/>
                <a:cs typeface="Calibri" pitchFamily="34"/>
              </a:rPr>
              <a:t>›</a:t>
            </a:r>
          </a:p>
        </p:txBody>
      </p:sp>
      <p:sp>
        <p:nvSpPr>
          <p:cNvPr id="38" name="Shape 35"/>
          <p:cNvSpPr/>
          <p:nvPr/>
        </p:nvSpPr>
        <p:spPr>
          <a:xfrm>
            <a:off x="3712320" y="3383280"/>
            <a:ext cx="1554479" cy="1325880"/>
          </a:xfrm>
          <a:custGeom>
            <a:avLst>
              <a:gd name="f0" fmla="val 119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3712320" y="3456359"/>
            <a:ext cx="1554479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1" i="0" u="none" strike="noStrike" kern="1200" cap="none" spc="0" baseline="0">
                <a:ln>
                  <a:noFill/>
                </a:ln>
                <a:solidFill>
                  <a:srgbClr val="0EA5E9"/>
                </a:solidFill>
                <a:latin typeface="Cambria" pitchFamily="34"/>
                <a:ea typeface="Cambria" pitchFamily="34"/>
                <a:cs typeface="Cambria" pitchFamily="34"/>
              </a:rPr>
              <a:t>3</a:t>
            </a:r>
          </a:p>
        </p:txBody>
      </p:sp>
      <p:sp>
        <p:nvSpPr>
          <p:cNvPr id="40" name="Text 37"/>
          <p:cNvSpPr/>
          <p:nvPr/>
        </p:nvSpPr>
        <p:spPr>
          <a:xfrm>
            <a:off x="3758040" y="3776400"/>
            <a:ext cx="1463039" cy="8686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00"/>
            </a:pPr>
            <a:r>
              <a:rPr lang="en-US" sz="16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Broker przekazuje wiadomości</a:t>
            </a:r>
          </a:p>
        </p:txBody>
      </p:sp>
      <p:sp>
        <p:nvSpPr>
          <p:cNvPr id="41" name="Text 38"/>
          <p:cNvSpPr/>
          <p:nvPr/>
        </p:nvSpPr>
        <p:spPr>
          <a:xfrm>
            <a:off x="5248800" y="3749040"/>
            <a:ext cx="18288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000" b="0" i="0" u="none" strike="noStrike" kern="1200" cap="none" spc="0" baseline="0">
                <a:ln>
                  <a:noFill/>
                </a:ln>
                <a:solidFill>
                  <a:srgbClr val="64748B"/>
                </a:solidFill>
                <a:latin typeface="Calibri" pitchFamily="34"/>
                <a:ea typeface="Calibri" pitchFamily="34"/>
                <a:cs typeface="Calibri" pitchFamily="34"/>
              </a:rPr>
              <a:t>›</a:t>
            </a:r>
          </a:p>
        </p:txBody>
      </p:sp>
      <p:sp>
        <p:nvSpPr>
          <p:cNvPr id="42" name="Shape 39"/>
          <p:cNvSpPr/>
          <p:nvPr/>
        </p:nvSpPr>
        <p:spPr>
          <a:xfrm>
            <a:off x="5431680" y="3383280"/>
            <a:ext cx="1554479" cy="1325880"/>
          </a:xfrm>
          <a:custGeom>
            <a:avLst>
              <a:gd name="f0" fmla="val 119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5431680" y="3456359"/>
            <a:ext cx="1554479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1" i="0" u="none" strike="noStrike" kern="1200" cap="none" spc="0" baseline="0">
                <a:ln>
                  <a:noFill/>
                </a:ln>
                <a:solidFill>
                  <a:srgbClr val="0EA5E9"/>
                </a:solidFill>
                <a:latin typeface="Cambria" pitchFamily="34"/>
                <a:ea typeface="Cambria" pitchFamily="34"/>
                <a:cs typeface="Cambria" pitchFamily="34"/>
              </a:rPr>
              <a:t>4</a:t>
            </a:r>
          </a:p>
        </p:txBody>
      </p:sp>
      <p:sp>
        <p:nvSpPr>
          <p:cNvPr id="44" name="Text 41"/>
          <p:cNvSpPr/>
          <p:nvPr/>
        </p:nvSpPr>
        <p:spPr>
          <a:xfrm>
            <a:off x="5477400" y="3776400"/>
            <a:ext cx="1463039" cy="8686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00"/>
            </a:pPr>
            <a:r>
              <a:rPr lang="en-US" sz="16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Cloud przetwarza i przechowuje</a:t>
            </a:r>
          </a:p>
        </p:txBody>
      </p:sp>
      <p:sp>
        <p:nvSpPr>
          <p:cNvPr id="45" name="Text 42"/>
          <p:cNvSpPr/>
          <p:nvPr/>
        </p:nvSpPr>
        <p:spPr>
          <a:xfrm>
            <a:off x="6967800" y="3749040"/>
            <a:ext cx="18288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000" b="0" i="0" u="none" strike="noStrike" kern="1200" cap="none" spc="0" baseline="0">
                <a:ln>
                  <a:noFill/>
                </a:ln>
                <a:solidFill>
                  <a:srgbClr val="64748B"/>
                </a:solidFill>
                <a:latin typeface="Calibri" pitchFamily="34"/>
                <a:ea typeface="Calibri" pitchFamily="34"/>
                <a:cs typeface="Calibri" pitchFamily="34"/>
              </a:rPr>
              <a:t>›</a:t>
            </a:r>
          </a:p>
        </p:txBody>
      </p:sp>
      <p:sp>
        <p:nvSpPr>
          <p:cNvPr id="46" name="Shape 43"/>
          <p:cNvSpPr/>
          <p:nvPr/>
        </p:nvSpPr>
        <p:spPr>
          <a:xfrm>
            <a:off x="7150680" y="3383280"/>
            <a:ext cx="1554479" cy="1325880"/>
          </a:xfrm>
          <a:custGeom>
            <a:avLst>
              <a:gd name="f0" fmla="val 119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7150680" y="3456359"/>
            <a:ext cx="1554479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1" i="0" u="none" strike="noStrike" kern="1200" cap="none" spc="0" baseline="0">
                <a:ln>
                  <a:noFill/>
                </a:ln>
                <a:solidFill>
                  <a:srgbClr val="0EA5E9"/>
                </a:solidFill>
                <a:latin typeface="Cambria" pitchFamily="34"/>
                <a:ea typeface="Cambria" pitchFamily="34"/>
                <a:cs typeface="Cambria" pitchFamily="34"/>
              </a:rPr>
              <a:t>5</a:t>
            </a:r>
          </a:p>
        </p:txBody>
      </p:sp>
      <p:sp>
        <p:nvSpPr>
          <p:cNvPr id="48" name="Text 45"/>
          <p:cNvSpPr/>
          <p:nvPr/>
        </p:nvSpPr>
        <p:spPr>
          <a:xfrm>
            <a:off x="7196399" y="3776400"/>
            <a:ext cx="1463039" cy="8686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00"/>
            </a:pPr>
            <a:r>
              <a:rPr lang="en-US" sz="16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Aplikacja mobilna prezentuje dane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44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440"/>
            <a:ext cx="914400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36720"/>
            <a:ext cx="8412480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Protokoły komunikacji w IoT</a:t>
            </a: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749880"/>
            <a:ext cx="8229600" cy="69011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0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Wybór</a:t>
            </a:r>
            <a:r>
              <a:rPr lang="en-US" sz="20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20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protokołu</a:t>
            </a:r>
            <a:r>
              <a:rPr lang="en-US" sz="20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20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determinuje</a:t>
            </a:r>
            <a:r>
              <a:rPr lang="en-US" sz="20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20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wydajność</a:t>
            </a:r>
            <a:r>
              <a:rPr lang="en-US" sz="20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, </a:t>
            </a:r>
            <a:r>
              <a:rPr lang="en-US" sz="20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niezawodność</a:t>
            </a:r>
            <a:r>
              <a:rPr lang="en-US" sz="20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br>
              <a:rPr lang="en-US" sz="20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</a:br>
            <a:r>
              <a:rPr lang="en-US" sz="20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i</a:t>
            </a:r>
            <a:r>
              <a:rPr lang="en-US" sz="20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20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skalowalność</a:t>
            </a:r>
            <a:r>
              <a:rPr lang="en-US" sz="20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20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całego</a:t>
            </a:r>
            <a:r>
              <a:rPr lang="en-US" sz="20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20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systemu</a:t>
            </a:r>
            <a:r>
              <a:rPr lang="en-US" sz="20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20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IoT</a:t>
            </a:r>
            <a:endParaRPr lang="en-US" sz="2000" b="0" i="0" u="none" strike="noStrike" kern="1200" cap="none" spc="0" baseline="0" dirty="0">
              <a:ln>
                <a:noFill/>
              </a:ln>
              <a:solidFill>
                <a:srgbClr val="475569"/>
              </a:solidFill>
              <a:latin typeface="Calibri" pitchFamily="34"/>
              <a:ea typeface="Calibri" pitchFamily="34"/>
              <a:cs typeface="Calibri" pitchFamily="34"/>
            </a:endParaRP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368544"/>
              </p:ext>
            </p:extLst>
          </p:nvPr>
        </p:nvGraphicFramePr>
        <p:xfrm>
          <a:off x="274320" y="1656719"/>
          <a:ext cx="8545679" cy="2346960"/>
        </p:xfrm>
        <a:graphic>
          <a:graphicData uri="http://schemas.openxmlformats.org/drawingml/2006/table">
            <a:tbl>
              <a:tblPr/>
              <a:tblGrid>
                <a:gridCol w="1482119">
                  <a:extLst>
                    <a:ext uri="{9D8B030D-6E8A-4147-A177-3AD203B41FA5}">
                      <a16:colId xmlns:a16="http://schemas.microsoft.com/office/drawing/2014/main" val="106484559"/>
                    </a:ext>
                  </a:extLst>
                </a:gridCol>
                <a:gridCol w="1131120">
                  <a:extLst>
                    <a:ext uri="{9D8B030D-6E8A-4147-A177-3AD203B41FA5}">
                      <a16:colId xmlns:a16="http://schemas.microsoft.com/office/drawing/2014/main" val="804871180"/>
                    </a:ext>
                  </a:extLst>
                </a:gridCol>
                <a:gridCol w="1559520">
                  <a:extLst>
                    <a:ext uri="{9D8B030D-6E8A-4147-A177-3AD203B41FA5}">
                      <a16:colId xmlns:a16="http://schemas.microsoft.com/office/drawing/2014/main" val="3813634268"/>
                    </a:ext>
                  </a:extLst>
                </a:gridCol>
                <a:gridCol w="954000">
                  <a:extLst>
                    <a:ext uri="{9D8B030D-6E8A-4147-A177-3AD203B41FA5}">
                      <a16:colId xmlns:a16="http://schemas.microsoft.com/office/drawing/2014/main" val="3345900691"/>
                    </a:ext>
                  </a:extLst>
                </a:gridCol>
                <a:gridCol w="3418920">
                  <a:extLst>
                    <a:ext uri="{9D8B030D-6E8A-4147-A177-3AD203B41FA5}">
                      <a16:colId xmlns:a16="http://schemas.microsoft.com/office/drawing/2014/main" val="3868449786"/>
                    </a:ext>
                  </a:extLst>
                </a:gridCol>
              </a:tblGrid>
              <a:tr h="2588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/>
                      </a:pPr>
                      <a:r>
                        <a:rPr lang="en-US" sz="1400" b="1" i="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" pitchFamily="34"/>
                          <a:ea typeface="Cambria" pitchFamily="34"/>
                          <a:cs typeface="Cambria" pitchFamily="34"/>
                        </a:rPr>
                        <a:t>Protokół</a:t>
                      </a:r>
                      <a:endParaRPr lang="en-US" sz="1400" b="1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mbria" pitchFamily="34"/>
                        <a:ea typeface="Cambria" pitchFamily="34"/>
                        <a:cs typeface="Cambria" pitchFamily="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1" i="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" pitchFamily="34"/>
                          <a:ea typeface="Cambria" pitchFamily="34"/>
                          <a:cs typeface="Cambria" pitchFamily="34"/>
                        </a:rPr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1" i="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" pitchFamily="34"/>
                          <a:ea typeface="Cambria" pitchFamily="34"/>
                          <a:cs typeface="Cambria" pitchFamily="34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1" i="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" pitchFamily="34"/>
                          <a:ea typeface="Cambria" pitchFamily="34"/>
                          <a:cs typeface="Cambria" pitchFamily="34"/>
                        </a:rPr>
                        <a:t>QoS</a:t>
                      </a:r>
                      <a:endParaRPr lang="en-US" sz="1400" b="1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mbria" pitchFamily="34"/>
                        <a:ea typeface="Cambria" pitchFamily="34"/>
                        <a:cs typeface="Cambria" pitchFamily="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1" i="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" pitchFamily="34"/>
                          <a:ea typeface="Cambria" pitchFamily="34"/>
                          <a:cs typeface="Cambria" pitchFamily="34"/>
                        </a:rPr>
                        <a:t>Zastosowanie</a:t>
                      </a:r>
                      <a:r>
                        <a:rPr lang="en-US" sz="1400" b="1" i="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" pitchFamily="34"/>
                          <a:ea typeface="Cambria" pitchFamily="34"/>
                          <a:cs typeface="Cambria" pitchFamily="34"/>
                        </a:rPr>
                        <a:t> </a:t>
                      </a:r>
                      <a:r>
                        <a:rPr lang="en-US" sz="1400" b="1" i="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mbria" pitchFamily="34"/>
                          <a:ea typeface="Cambria" pitchFamily="34"/>
                          <a:cs typeface="Cambria" pitchFamily="34"/>
                        </a:rPr>
                        <a:t>IoT</a:t>
                      </a:r>
                      <a:endParaRPr lang="en-US" sz="1400" b="1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mbria" pitchFamily="34"/>
                        <a:ea typeface="Cambria" pitchFamily="34"/>
                        <a:cs typeface="Cambria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473774"/>
                  </a:ext>
                </a:extLst>
              </a:tr>
              <a:tr h="2588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1" i="0" u="none" strike="noStrike" kern="1200" cap="none" dirty="0">
                          <a:ln>
                            <a:noFill/>
                          </a:ln>
                          <a:solidFill>
                            <a:srgbClr val="1E5FA8"/>
                          </a:solidFill>
                          <a:latin typeface="Cambria" pitchFamily="34"/>
                          <a:ea typeface="Cambria" pitchFamily="34"/>
                          <a:cs typeface="Cambria" pitchFamily="34"/>
                        </a:rPr>
                        <a:t>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0" i="0" u="none" strike="noStrike" kern="1200" cap="none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0" i="0" u="none" strike="noStrike" kern="1200" cap="none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Pub/Sub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0" i="0" u="none" strike="noStrike" kern="1200" cap="none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0, 1, 2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0" i="0" u="none" strike="noStrike" kern="1200" cap="none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Telemetria, smart home, przemysł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768588"/>
                  </a:ext>
                </a:extLst>
              </a:tr>
              <a:tr h="2588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1" i="0" u="none" strike="noStrike" kern="1200" cap="none" dirty="0" err="1">
                          <a:ln>
                            <a:noFill/>
                          </a:ln>
                          <a:solidFill>
                            <a:srgbClr val="1E5FA8"/>
                          </a:solidFill>
                          <a:latin typeface="Cambria" pitchFamily="34"/>
                          <a:ea typeface="Cambria" pitchFamily="34"/>
                          <a:cs typeface="Cambria" pitchFamily="34"/>
                        </a:rPr>
                        <a:t>CoAP</a:t>
                      </a:r>
                      <a:endParaRPr lang="en-US" sz="1400" b="1" i="0" u="none" strike="noStrike" kern="1200" cap="none" dirty="0">
                        <a:ln>
                          <a:noFill/>
                        </a:ln>
                        <a:solidFill>
                          <a:srgbClr val="1E5FA8"/>
                        </a:solidFill>
                        <a:latin typeface="Cambria" pitchFamily="34"/>
                        <a:ea typeface="Cambria" pitchFamily="34"/>
                        <a:cs typeface="Cambria" pitchFamily="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0" i="0" u="none" strike="noStrike" kern="1200" cap="none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0" i="0" u="none" strike="noStrike" kern="1200" cap="none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Request/Response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0" i="0" u="none" strike="noStrike" kern="1200" cap="none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0, 1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0" i="0" u="none" strike="noStrike" kern="1200" cap="none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Urządzenia z ograniczonymi zasobami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500077"/>
                  </a:ext>
                </a:extLst>
              </a:tr>
              <a:tr h="2588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1" i="0" u="none" strike="noStrike" kern="1200" cap="none">
                          <a:ln>
                            <a:noFill/>
                          </a:ln>
                          <a:solidFill>
                            <a:srgbClr val="1E5FA8"/>
                          </a:solidFill>
                          <a:latin typeface="Cambria" pitchFamily="34"/>
                          <a:ea typeface="Cambria" pitchFamily="34"/>
                          <a:cs typeface="Cambria" pitchFamily="34"/>
                        </a:rPr>
                        <a:t>HTTP/REST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0" i="0" u="none" strike="noStrike" kern="1200" cap="none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0" i="0" u="none" strike="noStrike" kern="1200" cap="none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Request/Response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0" i="0" u="none" strike="noStrike" kern="1200" cap="none" dirty="0" err="1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brak</a:t>
                      </a:r>
                      <a:endParaRPr lang="en-US" sz="1400" b="0" i="0" u="none" strike="noStrike" kern="1200" cap="none" dirty="0">
                        <a:ln>
                          <a:noFill/>
                        </a:ln>
                        <a:solidFill>
                          <a:srgbClr val="1E293B"/>
                        </a:solidFill>
                        <a:latin typeface="Calibri" pitchFamily="34"/>
                        <a:ea typeface="Calibri" pitchFamily="34"/>
                        <a:cs typeface="Calibri" pitchFamily="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0" i="0" u="none" strike="noStrike" kern="1200" cap="none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API, </a:t>
                      </a:r>
                      <a:r>
                        <a:rPr lang="en-US" sz="1400" b="0" i="0" u="none" strike="noStrike" kern="1200" cap="none" dirty="0" err="1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integracje</a:t>
                      </a:r>
                      <a:r>
                        <a:rPr lang="en-US" sz="1400" b="0" i="0" u="none" strike="noStrike" kern="1200" cap="none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, </a:t>
                      </a:r>
                      <a:r>
                        <a:rPr lang="en-US" sz="1400" b="0" i="0" u="none" strike="noStrike" kern="1200" cap="none" dirty="0" err="1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webowe</a:t>
                      </a:r>
                      <a:r>
                        <a:rPr lang="en-US" sz="1400" b="0" i="0" u="none" strike="noStrike" kern="1200" cap="none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 </a:t>
                      </a:r>
                      <a:r>
                        <a:rPr lang="en-US" sz="1400" b="0" i="0" u="none" strike="noStrike" kern="1200" cap="none" dirty="0" err="1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dashboardy</a:t>
                      </a:r>
                      <a:endParaRPr lang="en-US" sz="1400" b="0" i="0" u="none" strike="noStrike" kern="1200" cap="none" dirty="0">
                        <a:ln>
                          <a:noFill/>
                        </a:ln>
                        <a:solidFill>
                          <a:srgbClr val="1E293B"/>
                        </a:solidFill>
                        <a:latin typeface="Calibri" pitchFamily="34"/>
                        <a:ea typeface="Calibri" pitchFamily="34"/>
                        <a:cs typeface="Calibri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5368193"/>
                  </a:ext>
                </a:extLst>
              </a:tr>
              <a:tr h="2588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1" i="0" u="none" strike="noStrike" kern="1200" cap="none">
                          <a:ln>
                            <a:noFill/>
                          </a:ln>
                          <a:solidFill>
                            <a:srgbClr val="1E5FA8"/>
                          </a:solidFill>
                          <a:latin typeface="Cambria" pitchFamily="34"/>
                          <a:ea typeface="Cambria" pitchFamily="34"/>
                          <a:cs typeface="Cambria" pitchFamily="34"/>
                        </a:rPr>
                        <a:t>WebSocket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0" i="0" u="none" strike="noStrike" kern="1200" cap="none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0" i="0" u="none" strike="noStrike" kern="1200" cap="none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Full-duplex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0" i="0" u="none" strike="noStrike" kern="1200" cap="none" dirty="0" err="1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brak</a:t>
                      </a:r>
                      <a:endParaRPr lang="en-US" sz="1400" b="0" i="0" u="none" strike="noStrike" kern="1200" cap="none" dirty="0">
                        <a:ln>
                          <a:noFill/>
                        </a:ln>
                        <a:solidFill>
                          <a:srgbClr val="1E293B"/>
                        </a:solidFill>
                        <a:latin typeface="Calibri" pitchFamily="34"/>
                        <a:ea typeface="Calibri" pitchFamily="34"/>
                        <a:cs typeface="Calibri" pitchFamily="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0" i="0" u="none" strike="noStrike" kern="1200" cap="none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Real-time UI, streaming </a:t>
                      </a:r>
                      <a:r>
                        <a:rPr lang="en-US" sz="1400" b="0" i="0" u="none" strike="noStrike" kern="1200" cap="none" dirty="0" err="1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danych</a:t>
                      </a:r>
                      <a:endParaRPr lang="en-US" sz="1400" b="0" i="0" u="none" strike="noStrike" kern="1200" cap="none" dirty="0">
                        <a:ln>
                          <a:noFill/>
                        </a:ln>
                        <a:solidFill>
                          <a:srgbClr val="1E293B"/>
                        </a:solidFill>
                        <a:latin typeface="Calibri" pitchFamily="34"/>
                        <a:ea typeface="Calibri" pitchFamily="34"/>
                        <a:cs typeface="Calibri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568980"/>
                  </a:ext>
                </a:extLst>
              </a:tr>
              <a:tr h="2588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1" i="0" u="none" strike="noStrike" kern="1200" cap="none">
                          <a:ln>
                            <a:noFill/>
                          </a:ln>
                          <a:solidFill>
                            <a:srgbClr val="1E5FA8"/>
                          </a:solidFill>
                          <a:latin typeface="Cambria" pitchFamily="34"/>
                          <a:ea typeface="Cambria" pitchFamily="34"/>
                          <a:cs typeface="Cambria" pitchFamily="34"/>
                        </a:rPr>
                        <a:t>AMQP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0" i="0" u="none" strike="noStrike" kern="1200" cap="none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0" i="0" u="none" strike="noStrike" kern="1200" cap="none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Pub/Sub + Queuing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0" i="0" u="none" strike="noStrike" kern="1200" cap="none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0, 1, 2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0" i="0" u="none" strike="noStrike" kern="1200" cap="none" dirty="0" err="1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Systemy</a:t>
                      </a:r>
                      <a:r>
                        <a:rPr lang="en-US" sz="1400" b="0" i="0" u="none" strike="noStrike" kern="1200" cap="none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 </a:t>
                      </a:r>
                      <a:r>
                        <a:rPr lang="en-US" sz="1400" b="0" i="0" u="none" strike="noStrike" kern="1200" cap="none" dirty="0" err="1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korporacyjne</a:t>
                      </a:r>
                      <a:r>
                        <a:rPr lang="en-US" sz="1400" b="0" i="0" u="none" strike="noStrike" kern="1200" cap="none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, </a:t>
                      </a:r>
                      <a:r>
                        <a:rPr lang="en-US" sz="1400" b="0" i="0" u="none" strike="noStrike" kern="1200" cap="none" dirty="0" err="1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kolejki</a:t>
                      </a:r>
                      <a:endParaRPr lang="en-US" sz="1400" b="0" i="0" u="none" strike="noStrike" kern="1200" cap="none" dirty="0">
                        <a:ln>
                          <a:noFill/>
                        </a:ln>
                        <a:solidFill>
                          <a:srgbClr val="1E293B"/>
                        </a:solidFill>
                        <a:latin typeface="Calibri" pitchFamily="34"/>
                        <a:ea typeface="Calibri" pitchFamily="34"/>
                        <a:cs typeface="Calibri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328462"/>
                  </a:ext>
                </a:extLst>
              </a:tr>
              <a:tr h="2606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1" i="0" u="none" strike="noStrike" kern="1200" cap="none">
                          <a:ln>
                            <a:noFill/>
                          </a:ln>
                          <a:solidFill>
                            <a:srgbClr val="1E5FA8"/>
                          </a:solidFill>
                          <a:latin typeface="Cambria" pitchFamily="34"/>
                          <a:ea typeface="Cambria" pitchFamily="34"/>
                          <a:cs typeface="Cambria" pitchFamily="34"/>
                        </a:rPr>
                        <a:t>DDS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0" i="0" u="none" strike="noStrike" kern="1200" cap="none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UDP/TCP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0" i="0" u="none" strike="noStrike" kern="1200" cap="none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Pub/Sub P2P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0" i="0" u="none" strike="noStrike" kern="1200" cap="none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0–5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600"/>
                      </a:pPr>
                      <a:r>
                        <a:rPr lang="en-US" sz="1400" b="0" i="0" u="none" strike="noStrike" kern="1200" cap="none" dirty="0" err="1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Robotyka</a:t>
                      </a:r>
                      <a:r>
                        <a:rPr lang="en-US" sz="1400" b="0" i="0" u="none" strike="noStrike" kern="1200" cap="none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, </a:t>
                      </a:r>
                      <a:r>
                        <a:rPr lang="en-US" sz="1400" b="0" i="0" u="none" strike="noStrike" kern="1200" cap="none" dirty="0" err="1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systemy</a:t>
                      </a:r>
                      <a:r>
                        <a:rPr lang="en-US" sz="1400" b="0" i="0" u="none" strike="noStrike" kern="1200" cap="none" dirty="0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 </a:t>
                      </a:r>
                      <a:r>
                        <a:rPr lang="en-US" sz="1400" b="0" i="0" u="none" strike="noStrike" kern="1200" cap="none" dirty="0" err="1">
                          <a:ln>
                            <a:noFill/>
                          </a:ln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krytyczne</a:t>
                      </a:r>
                      <a:endParaRPr lang="en-US" sz="1400" b="0" i="0" u="none" strike="noStrike" kern="1200" cap="none" dirty="0">
                        <a:ln>
                          <a:noFill/>
                        </a:ln>
                        <a:solidFill>
                          <a:srgbClr val="1E293B"/>
                        </a:solidFill>
                        <a:latin typeface="Calibri" pitchFamily="34"/>
                        <a:ea typeface="Calibri" pitchFamily="34"/>
                        <a:cs typeface="Calibri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253998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4753559"/>
            <a:ext cx="8595360" cy="15684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zh-CN" sz="1100" b="1" i="0" u="none" strike="noStrike" kern="1200" cap="none" spc="0" baseline="0">
                <a:ln>
                  <a:noFill/>
                </a:ln>
                <a:solidFill>
                  <a:srgbClr val="0D9488"/>
                </a:solidFill>
                <a:latin typeface="Calibri" pitchFamily="34"/>
                <a:ea typeface="Calibri" pitchFamily="34"/>
                <a:cs typeface="Calibri" pitchFamily="34"/>
              </a:rPr>
              <a:t>★ </a:t>
            </a:r>
            <a:r>
              <a:rPr lang="en-US" sz="1100" b="1" i="0" u="none" strike="noStrike" kern="1200" cap="none" spc="0" baseline="0">
                <a:ln>
                  <a:noFill/>
                </a:ln>
                <a:solidFill>
                  <a:srgbClr val="0D9488"/>
                </a:solidFill>
                <a:latin typeface="Calibri" pitchFamily="34"/>
                <a:ea typeface="Calibri" pitchFamily="34"/>
                <a:cs typeface="Calibri" pitchFamily="34"/>
              </a:rPr>
              <a:t> Rekomendowany dla nowych projektów IoT: MQTT (lekki, asynchroniczny, obsługa słabego łącza)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44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440"/>
            <a:ext cx="914400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36720"/>
            <a:ext cx="8412480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MQTT: Message Queuing Telemetry Transport</a:t>
            </a: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777239"/>
            <a:ext cx="411480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5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Kluczowe koncepcje MQTT</a:t>
            </a:r>
          </a:p>
        </p:txBody>
      </p:sp>
      <p:sp>
        <p:nvSpPr>
          <p:cNvPr id="8" name="Shape 6"/>
          <p:cNvSpPr/>
          <p:nvPr/>
        </p:nvSpPr>
        <p:spPr>
          <a:xfrm>
            <a:off x="320040" y="804600"/>
            <a:ext cx="4023360" cy="89604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804600"/>
            <a:ext cx="64080" cy="89604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877679"/>
            <a:ext cx="3840479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Broker</a:t>
            </a:r>
          </a:p>
        </p:txBody>
      </p:sp>
      <p:sp>
        <p:nvSpPr>
          <p:cNvPr id="11" name="Text 9"/>
          <p:cNvSpPr/>
          <p:nvPr/>
        </p:nvSpPr>
        <p:spPr>
          <a:xfrm>
            <a:off x="457200" y="1188719"/>
            <a:ext cx="3840479" cy="4204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Centralny serwer pośredniczący (Mosquitto, HiveMQ, AWS IoT Core). Zarządza topicami i subskrypcjami.</a:t>
            </a:r>
          </a:p>
        </p:txBody>
      </p:sp>
      <p:sp>
        <p:nvSpPr>
          <p:cNvPr id="12" name="Shape 10"/>
          <p:cNvSpPr/>
          <p:nvPr/>
        </p:nvSpPr>
        <p:spPr>
          <a:xfrm>
            <a:off x="320040" y="1792080"/>
            <a:ext cx="4023360" cy="89604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1792080"/>
            <a:ext cx="64080" cy="89604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1865519"/>
            <a:ext cx="3840479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Publisher</a:t>
            </a:r>
          </a:p>
        </p:txBody>
      </p:sp>
      <p:sp>
        <p:nvSpPr>
          <p:cNvPr id="15" name="Text 13"/>
          <p:cNvSpPr/>
          <p:nvPr/>
        </p:nvSpPr>
        <p:spPr>
          <a:xfrm>
            <a:off x="457200" y="2176200"/>
            <a:ext cx="3840479" cy="4204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/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Urządzenie IoT publikujące dane na dany temat (topic). Np. sensor/temperatura/salon.</a:t>
            </a:r>
          </a:p>
        </p:txBody>
      </p:sp>
      <p:sp>
        <p:nvSpPr>
          <p:cNvPr id="16" name="Shape 14"/>
          <p:cNvSpPr/>
          <p:nvPr/>
        </p:nvSpPr>
        <p:spPr>
          <a:xfrm>
            <a:off x="320040" y="2779920"/>
            <a:ext cx="4023360" cy="89604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2779920"/>
            <a:ext cx="64080" cy="896040"/>
          </a:xfrm>
          <a:prstGeom prst="rect">
            <a:avLst/>
          </a:prstGeom>
          <a:solidFill>
            <a:srgbClr val="10B981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2781000"/>
            <a:ext cx="3840479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Subscriber</a:t>
            </a:r>
          </a:p>
        </p:txBody>
      </p:sp>
      <p:sp>
        <p:nvSpPr>
          <p:cNvPr id="19" name="Text 17"/>
          <p:cNvSpPr/>
          <p:nvPr/>
        </p:nvSpPr>
        <p:spPr>
          <a:xfrm>
            <a:off x="457200" y="3163679"/>
            <a:ext cx="3840479" cy="4204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/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Klient (app mobilna) subskrybujący topic. Odbiera wiadomości w trybie push.</a:t>
            </a:r>
          </a:p>
        </p:txBody>
      </p:sp>
      <p:sp>
        <p:nvSpPr>
          <p:cNvPr id="20" name="Shape 18"/>
          <p:cNvSpPr/>
          <p:nvPr/>
        </p:nvSpPr>
        <p:spPr>
          <a:xfrm>
            <a:off x="320040" y="3839400"/>
            <a:ext cx="4023360" cy="1020599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22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" y="3767400"/>
            <a:ext cx="64080" cy="896040"/>
          </a:xfrm>
          <a:prstGeom prst="rect">
            <a:avLst/>
          </a:prstGeom>
          <a:solidFill>
            <a:srgbClr val="F59E0B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" y="3876479"/>
            <a:ext cx="3840479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QoS Levels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223520"/>
            <a:ext cx="3840479" cy="4204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/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0 – at most once (fire &amp; forget)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/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1 – at least once (potwierdzenie)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/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2 – exactly once (pełna gwarancja)</a:t>
            </a:r>
          </a:p>
        </p:txBody>
      </p:sp>
      <p:sp>
        <p:nvSpPr>
          <p:cNvPr id="24" name="Text 22"/>
          <p:cNvSpPr/>
          <p:nvPr/>
        </p:nvSpPr>
        <p:spPr>
          <a:xfrm>
            <a:off x="5580000" y="777239"/>
            <a:ext cx="324395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Przykład: Android (Kotlin + MQTT)</a:t>
            </a:r>
          </a:p>
        </p:txBody>
      </p:sp>
      <p:sp>
        <p:nvSpPr>
          <p:cNvPr id="25" name="Shape 23"/>
          <p:cNvSpPr/>
          <p:nvPr/>
        </p:nvSpPr>
        <p:spPr>
          <a:xfrm>
            <a:off x="5580000" y="1097280"/>
            <a:ext cx="3243959" cy="2572920"/>
          </a:xfrm>
          <a:prstGeom prst="rect">
            <a:avLst/>
          </a:prstGeom>
          <a:solidFill>
            <a:srgbClr val="0F172A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661719" y="1143000"/>
            <a:ext cx="3122280" cy="24569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val client = MqttAndroidClient(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context, "tcp://broker.hivemq.com:1883",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MqttClient.generateClientId()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)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val opts = MqttConnectOptions()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opts.isCleanSession = true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client.connect(opts, null, object : IMqttActionListener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override fun onSuccess(token: IMqttToken?)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  client.subscribe("sensor/#", 1)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})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client.setCallback(object : MqttCallback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override fun messageArrived(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  topic: String, msg: MqttMessage)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  val payload = msg.toString()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  // aktualizuj UI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})</a:t>
            </a:r>
          </a:p>
        </p:txBody>
      </p:sp>
      <p:sp>
        <p:nvSpPr>
          <p:cNvPr id="27" name="Text 25"/>
          <p:cNvSpPr/>
          <p:nvPr/>
        </p:nvSpPr>
        <p:spPr>
          <a:xfrm>
            <a:off x="4526280" y="3670200"/>
            <a:ext cx="429768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Hierarchia tematów (Topic Tree)</a:t>
            </a:r>
          </a:p>
        </p:txBody>
      </p:sp>
      <p:sp>
        <p:nvSpPr>
          <p:cNvPr id="28" name="Shape 26"/>
          <p:cNvSpPr/>
          <p:nvPr/>
        </p:nvSpPr>
        <p:spPr>
          <a:xfrm>
            <a:off x="4526280" y="3960000"/>
            <a:ext cx="4297680" cy="867959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663440" y="3960000"/>
            <a:ext cx="4023360" cy="9125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Source Code Pro Medium" pitchFamily="1"/>
              </a:defRPr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Source Code Pro Medium" pitchFamily="17"/>
                <a:ea typeface="Consolas" pitchFamily="34"/>
                <a:cs typeface="Consolas" pitchFamily="34"/>
              </a:rPr>
              <a:t>home/ ─ korytarz/ ─ temp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Source Code Pro Medium" pitchFamily="1"/>
              </a:defRPr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Source Code Pro Medium" pitchFamily="17"/>
                <a:ea typeface="Consolas" pitchFamily="34"/>
                <a:cs typeface="Consolas" pitchFamily="34"/>
              </a:rPr>
              <a:t>              └─ ruch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Source Code Pro Medium" pitchFamily="1"/>
              </a:defRPr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Source Code Pro Medium" pitchFamily="17"/>
                <a:ea typeface="Consolas" pitchFamily="34"/>
                <a:cs typeface="Consolas" pitchFamily="34"/>
              </a:rPr>
              <a:t>       └─ salon/ ─ temp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Source Code Pro Medium" pitchFamily="1"/>
              </a:defRPr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Source Code Pro Medium" pitchFamily="17"/>
                <a:ea typeface="Consolas" pitchFamily="34"/>
                <a:cs typeface="Consolas" pitchFamily="34"/>
              </a:rPr>
              <a:t>                 └─ wilgotnosc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Source Code Pro Medium" pitchFamily="1"/>
              </a:defRPr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Source Code Pro Medium" pitchFamily="17"/>
                <a:ea typeface="Consolas" pitchFamily="34"/>
                <a:cs typeface="Consolas" pitchFamily="34"/>
              </a:rPr>
              <a:t>       └─ kuchnia/ ─ temp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44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440"/>
            <a:ext cx="914400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36720"/>
            <a:ext cx="8412480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CoAP: Constrained Application Protocol</a:t>
            </a: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5"/>
          <p:cNvSpPr/>
          <p:nvPr/>
        </p:nvSpPr>
        <p:spPr>
          <a:xfrm>
            <a:off x="180000" y="777239"/>
            <a:ext cx="8820000" cy="365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5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RFC 7252 — zaprojektowany specjalnie dla urządzeń embedded z ograniczonymi zasobami (RAM, CPU, energia)</a:t>
            </a:r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841248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5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MQTT vs CoAP</a:t>
            </a:r>
          </a:p>
        </p:txBody>
      </p:sp>
      <p:sp>
        <p:nvSpPr>
          <p:cNvPr id="9" name="Shape 7"/>
          <p:cNvSpPr/>
          <p:nvPr/>
        </p:nvSpPr>
        <p:spPr>
          <a:xfrm>
            <a:off x="320040" y="1524960"/>
            <a:ext cx="8503920" cy="34740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22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1570679"/>
            <a:ext cx="256031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Cecha</a:t>
            </a:r>
          </a:p>
        </p:txBody>
      </p:sp>
      <p:sp>
        <p:nvSpPr>
          <p:cNvPr id="11" name="Text 9"/>
          <p:cNvSpPr/>
          <p:nvPr/>
        </p:nvSpPr>
        <p:spPr>
          <a:xfrm>
            <a:off x="2971800" y="1570679"/>
            <a:ext cx="274319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1" i="0" u="none" strike="noStrike" kern="1200" cap="none" spc="0" baseline="0">
                <a:ln>
                  <a:noFill/>
                </a:ln>
                <a:solidFill>
                  <a:srgbClr val="0EA5E9"/>
                </a:solidFill>
                <a:latin typeface="Cambria" pitchFamily="34"/>
                <a:ea typeface="Cambria" pitchFamily="34"/>
                <a:cs typeface="Cambria" pitchFamily="34"/>
              </a:rPr>
              <a:t>MQTT</a:t>
            </a:r>
          </a:p>
        </p:txBody>
      </p:sp>
      <p:sp>
        <p:nvSpPr>
          <p:cNvPr id="12" name="Text 10"/>
          <p:cNvSpPr/>
          <p:nvPr/>
        </p:nvSpPr>
        <p:spPr>
          <a:xfrm>
            <a:off x="5760720" y="1570679"/>
            <a:ext cx="292607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1" i="0" u="none" strike="noStrike" kern="1200" cap="none" spc="0" baseline="0">
                <a:ln>
                  <a:noFill/>
                </a:ln>
                <a:solidFill>
                  <a:srgbClr val="0D9488"/>
                </a:solidFill>
                <a:latin typeface="Cambria" pitchFamily="34"/>
                <a:ea typeface="Cambria" pitchFamily="34"/>
                <a:cs typeface="Cambria" pitchFamily="34"/>
              </a:rPr>
              <a:t>CoAP</a:t>
            </a:r>
          </a:p>
        </p:txBody>
      </p:sp>
      <p:sp>
        <p:nvSpPr>
          <p:cNvPr id="13" name="Shape 11"/>
          <p:cNvSpPr/>
          <p:nvPr/>
        </p:nvSpPr>
        <p:spPr>
          <a:xfrm>
            <a:off x="320040" y="1918079"/>
            <a:ext cx="8503920" cy="3474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1480" y="1982160"/>
            <a:ext cx="246888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Transport</a:t>
            </a:r>
          </a:p>
        </p:txBody>
      </p:sp>
      <p:sp>
        <p:nvSpPr>
          <p:cNvPr id="15" name="Text 13"/>
          <p:cNvSpPr/>
          <p:nvPr/>
        </p:nvSpPr>
        <p:spPr>
          <a:xfrm>
            <a:off x="2971800" y="1982160"/>
            <a:ext cx="274319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TCP (niezawodny)</a:t>
            </a:r>
          </a:p>
        </p:txBody>
      </p:sp>
      <p:sp>
        <p:nvSpPr>
          <p:cNvPr id="16" name="Text 14"/>
          <p:cNvSpPr/>
          <p:nvPr/>
        </p:nvSpPr>
        <p:spPr>
          <a:xfrm>
            <a:off x="5760720" y="1982160"/>
            <a:ext cx="292607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UDP (lekki, zawodny)</a:t>
            </a:r>
          </a:p>
        </p:txBody>
      </p:sp>
      <p:sp>
        <p:nvSpPr>
          <p:cNvPr id="17" name="Shape 15"/>
          <p:cNvSpPr/>
          <p:nvPr/>
        </p:nvSpPr>
        <p:spPr>
          <a:xfrm>
            <a:off x="320040" y="2293200"/>
            <a:ext cx="8503920" cy="347400"/>
          </a:xfrm>
          <a:prstGeom prst="rect">
            <a:avLst/>
          </a:prstGeom>
          <a:solidFill>
            <a:srgbClr val="F0F4FA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11480" y="2356920"/>
            <a:ext cx="246888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Model</a:t>
            </a:r>
          </a:p>
        </p:txBody>
      </p:sp>
      <p:sp>
        <p:nvSpPr>
          <p:cNvPr id="19" name="Text 17"/>
          <p:cNvSpPr/>
          <p:nvPr/>
        </p:nvSpPr>
        <p:spPr>
          <a:xfrm>
            <a:off x="2971800" y="2356920"/>
            <a:ext cx="274319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Pub/Sub</a:t>
            </a:r>
          </a:p>
        </p:txBody>
      </p:sp>
      <p:sp>
        <p:nvSpPr>
          <p:cNvPr id="20" name="Text 18"/>
          <p:cNvSpPr/>
          <p:nvPr/>
        </p:nvSpPr>
        <p:spPr>
          <a:xfrm>
            <a:off x="5760720" y="2356920"/>
            <a:ext cx="292607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Request/Response (REST-like)</a:t>
            </a:r>
          </a:p>
        </p:txBody>
      </p:sp>
      <p:sp>
        <p:nvSpPr>
          <p:cNvPr id="21" name="Shape 19"/>
          <p:cNvSpPr/>
          <p:nvPr/>
        </p:nvSpPr>
        <p:spPr>
          <a:xfrm>
            <a:off x="320040" y="2667960"/>
            <a:ext cx="8503920" cy="3474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11480" y="2732040"/>
            <a:ext cx="246888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Rozmiar nagłówka</a:t>
            </a:r>
          </a:p>
        </p:txBody>
      </p:sp>
      <p:sp>
        <p:nvSpPr>
          <p:cNvPr id="23" name="Text 21"/>
          <p:cNvSpPr/>
          <p:nvPr/>
        </p:nvSpPr>
        <p:spPr>
          <a:xfrm>
            <a:off x="2971800" y="2732040"/>
            <a:ext cx="274319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2 bajty</a:t>
            </a:r>
          </a:p>
        </p:txBody>
      </p:sp>
      <p:sp>
        <p:nvSpPr>
          <p:cNvPr id="24" name="Text 22"/>
          <p:cNvSpPr/>
          <p:nvPr/>
        </p:nvSpPr>
        <p:spPr>
          <a:xfrm>
            <a:off x="5760720" y="2732040"/>
            <a:ext cx="292607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4 bajty</a:t>
            </a:r>
          </a:p>
        </p:txBody>
      </p:sp>
      <p:sp>
        <p:nvSpPr>
          <p:cNvPr id="25" name="Shape 23"/>
          <p:cNvSpPr/>
          <p:nvPr/>
        </p:nvSpPr>
        <p:spPr>
          <a:xfrm>
            <a:off x="320040" y="3042720"/>
            <a:ext cx="8503920" cy="347400"/>
          </a:xfrm>
          <a:prstGeom prst="rect">
            <a:avLst/>
          </a:prstGeom>
          <a:solidFill>
            <a:srgbClr val="F0F4FA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11480" y="3106799"/>
            <a:ext cx="246888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Multicast</a:t>
            </a:r>
          </a:p>
        </p:txBody>
      </p:sp>
      <p:sp>
        <p:nvSpPr>
          <p:cNvPr id="27" name="Text 25"/>
          <p:cNvSpPr/>
          <p:nvPr/>
        </p:nvSpPr>
        <p:spPr>
          <a:xfrm>
            <a:off x="2971800" y="3106799"/>
            <a:ext cx="274319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Nie</a:t>
            </a:r>
          </a:p>
        </p:txBody>
      </p:sp>
      <p:sp>
        <p:nvSpPr>
          <p:cNvPr id="28" name="Text 26"/>
          <p:cNvSpPr/>
          <p:nvPr/>
        </p:nvSpPr>
        <p:spPr>
          <a:xfrm>
            <a:off x="5760720" y="3106799"/>
            <a:ext cx="292607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Tak (UDP multicast)</a:t>
            </a:r>
          </a:p>
        </p:txBody>
      </p:sp>
      <p:sp>
        <p:nvSpPr>
          <p:cNvPr id="29" name="Shape 27"/>
          <p:cNvSpPr/>
          <p:nvPr/>
        </p:nvSpPr>
        <p:spPr>
          <a:xfrm>
            <a:off x="320040" y="3417840"/>
            <a:ext cx="8503920" cy="3474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11480" y="3481920"/>
            <a:ext cx="246888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Observe</a:t>
            </a:r>
          </a:p>
        </p:txBody>
      </p:sp>
      <p:sp>
        <p:nvSpPr>
          <p:cNvPr id="31" name="Text 29"/>
          <p:cNvSpPr/>
          <p:nvPr/>
        </p:nvSpPr>
        <p:spPr>
          <a:xfrm>
            <a:off x="2971800" y="3481920"/>
            <a:ext cx="274319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Subskrypcja na topic</a:t>
            </a:r>
          </a:p>
        </p:txBody>
      </p:sp>
      <p:sp>
        <p:nvSpPr>
          <p:cNvPr id="32" name="Text 30"/>
          <p:cNvSpPr/>
          <p:nvPr/>
        </p:nvSpPr>
        <p:spPr>
          <a:xfrm>
            <a:off x="5760720" y="3481920"/>
            <a:ext cx="292607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CoAP Observe option (RFC 7641)</a:t>
            </a:r>
          </a:p>
        </p:txBody>
      </p:sp>
      <p:sp>
        <p:nvSpPr>
          <p:cNvPr id="33" name="Shape 31"/>
          <p:cNvSpPr/>
          <p:nvPr/>
        </p:nvSpPr>
        <p:spPr>
          <a:xfrm>
            <a:off x="320040" y="3792600"/>
            <a:ext cx="8503920" cy="347400"/>
          </a:xfrm>
          <a:prstGeom prst="rect">
            <a:avLst/>
          </a:prstGeom>
          <a:solidFill>
            <a:srgbClr val="F0F4FA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22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11480" y="3856679"/>
            <a:ext cx="246888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Energia</a:t>
            </a:r>
          </a:p>
        </p:txBody>
      </p:sp>
      <p:sp>
        <p:nvSpPr>
          <p:cNvPr id="35" name="Text 33"/>
          <p:cNvSpPr/>
          <p:nvPr/>
        </p:nvSpPr>
        <p:spPr>
          <a:xfrm>
            <a:off x="2971800" y="3856679"/>
            <a:ext cx="274319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Wyższe zużycie</a:t>
            </a:r>
          </a:p>
        </p:txBody>
      </p:sp>
      <p:sp>
        <p:nvSpPr>
          <p:cNvPr id="36" name="Text 34"/>
          <p:cNvSpPr/>
          <p:nvPr/>
        </p:nvSpPr>
        <p:spPr>
          <a:xfrm>
            <a:off x="5760720" y="3856679"/>
            <a:ext cx="292607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Niższe (UDP, uśpienie)</a:t>
            </a:r>
          </a:p>
        </p:txBody>
      </p:sp>
      <p:sp>
        <p:nvSpPr>
          <p:cNvPr id="37" name="Text 35"/>
          <p:cNvSpPr/>
          <p:nvPr/>
        </p:nvSpPr>
        <p:spPr>
          <a:xfrm>
            <a:off x="360000" y="4150800"/>
            <a:ext cx="850392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rgbClr val="000000"/>
                </a:solidFill>
              </a:defRPr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Kiedy używać CoAP?  </a:t>
            </a:r>
          </a:p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rgbClr val="000000"/>
                </a:solidFill>
              </a:defRPr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Urządzenia z baterią → mała pamięć RAM (&lt; 10 KB) → sieci z dużą utratą pakietów → wymagana multicast discovery</a:t>
            </a:r>
          </a:p>
        </p:txBody>
      </p:sp>
      <p:sp>
        <p:nvSpPr>
          <p:cNvPr id="38" name="Shape 36"/>
          <p:cNvSpPr/>
          <p:nvPr/>
        </p:nvSpPr>
        <p:spPr>
          <a:xfrm>
            <a:off x="320040" y="4680000"/>
            <a:ext cx="8503920" cy="25488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Urządzenia z baterią  ·  RAM &lt; 10 KB  ·  Sieci z dużą utratą pakietów  ·  Wymagana multicast discovery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44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440"/>
            <a:ext cx="914400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36720"/>
            <a:ext cx="8412480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REST API dla IoT: HTTP i RESTful Services</a:t>
            </a: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777239"/>
            <a:ext cx="841248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Projektowanie REST API dla systemów IoT wymaga szczególnej uwagi na skalowalność i efektywność danych</a:t>
            </a:r>
          </a:p>
        </p:txBody>
      </p:sp>
      <p:sp>
        <p:nvSpPr>
          <p:cNvPr id="8" name="Text 6"/>
          <p:cNvSpPr/>
          <p:nvPr/>
        </p:nvSpPr>
        <p:spPr>
          <a:xfrm>
            <a:off x="320040" y="1170360"/>
            <a:ext cx="345995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Typowe endpointy REST API dla IoT</a:t>
            </a:r>
          </a:p>
        </p:txBody>
      </p:sp>
      <p:sp>
        <p:nvSpPr>
          <p:cNvPr id="9" name="Shape 7"/>
          <p:cNvSpPr/>
          <p:nvPr/>
        </p:nvSpPr>
        <p:spPr>
          <a:xfrm>
            <a:off x="320040" y="1481399"/>
            <a:ext cx="3459959" cy="2606040"/>
          </a:xfrm>
          <a:prstGeom prst="rect">
            <a:avLst/>
          </a:prstGeom>
          <a:solidFill>
            <a:srgbClr val="0F172A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1554479"/>
            <a:ext cx="3188520" cy="2487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GET  /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api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/v1/devices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GET  /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api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/v1/devices/{id}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POST /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api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/v1/devices/{id}/command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GET  /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api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/v1/sensors/data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?from=2024-01-01&amp;to=2024-12-31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&amp;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deviceId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=dev001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&amp;metric=temperature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GET  /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api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/v1/devices/{id}/telemetry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?limit=100&amp;offset=0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POST /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api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/v1/alerts/rules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PUT  /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api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/v1/devices/{id}/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config</a:t>
            </a:r>
            <a:endParaRPr lang="en-US" sz="1200" b="0" i="0" u="none" strike="noStrike" kern="1200" cap="none" spc="0" baseline="0" dirty="0">
              <a:ln>
                <a:noFill/>
              </a:ln>
              <a:solidFill>
                <a:srgbClr val="A5D6A7"/>
              </a:solidFill>
              <a:latin typeface="Consolas" pitchFamily="34"/>
              <a:ea typeface="Consolas" pitchFamily="34"/>
              <a:cs typeface="Consolas" pitchFamily="34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DEL  /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api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/v1/devices/{id}</a:t>
            </a:r>
          </a:p>
        </p:txBody>
      </p:sp>
      <p:sp>
        <p:nvSpPr>
          <p:cNvPr id="11" name="Text 9"/>
          <p:cNvSpPr/>
          <p:nvPr/>
        </p:nvSpPr>
        <p:spPr>
          <a:xfrm>
            <a:off x="4709160" y="1170360"/>
            <a:ext cx="411480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Dobre praktyki REST dla IoT</a:t>
            </a:r>
          </a:p>
        </p:txBody>
      </p:sp>
      <p:sp>
        <p:nvSpPr>
          <p:cNvPr id="12" name="Shape 10"/>
          <p:cNvSpPr/>
          <p:nvPr/>
        </p:nvSpPr>
        <p:spPr>
          <a:xfrm>
            <a:off x="4124812" y="1481399"/>
            <a:ext cx="4925746" cy="53028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124812" y="1481399"/>
            <a:ext cx="76709" cy="53028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289004" y="1477716"/>
            <a:ext cx="4706824" cy="25280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 dirty="0" err="1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Paginacja</a:t>
            </a:r>
            <a:endParaRPr lang="en-US" sz="1300" b="1" i="0" u="none" strike="noStrike" kern="1200" cap="none" spc="0" baseline="0" dirty="0">
              <a:ln>
                <a:noFill/>
              </a:ln>
              <a:solidFill>
                <a:srgbClr val="0F172A"/>
              </a:solidFill>
              <a:latin typeface="Cambria" pitchFamily="34"/>
              <a:ea typeface="Cambria" pitchFamily="34"/>
              <a:cs typeface="Cambria" pitchFamily="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289004" y="1692000"/>
            <a:ext cx="4706824" cy="228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limit/offset </a:t>
            </a:r>
            <a:r>
              <a:rPr lang="en-US" sz="10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lub</a:t>
            </a:r>
            <a:r>
              <a:rPr lang="en-US" sz="10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050" b="0" i="0" u="none" strike="noStrike" kern="1200" cap="none" spc="0" baseline="0" dirty="0" smtClean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cursor-based</a:t>
            </a:r>
            <a:r>
              <a:rPr lang="pl-PL" sz="1050" b="0" i="0" u="none" strike="noStrike" kern="1200" cap="none" spc="0" baseline="0" dirty="0" smtClean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.</a:t>
            </a:r>
            <a:r>
              <a:rPr lang="en-US" sz="1050" b="0" i="0" u="none" strike="noStrike" kern="1200" cap="none" spc="0" baseline="0" dirty="0" smtClean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pl-PL" sz="1050" dirty="0" err="1"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N</a:t>
            </a:r>
            <a:r>
              <a:rPr lang="en-US" sz="1050" b="0" i="0" u="none" strike="noStrike" kern="1200" cap="none" spc="0" baseline="0" dirty="0" err="1" smtClean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iezbędne</a:t>
            </a:r>
            <a:r>
              <a:rPr lang="en-US" sz="1050" b="0" i="0" u="none" strike="noStrike" kern="1200" cap="none" spc="0" baseline="0" dirty="0" smtClean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0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przy</a:t>
            </a:r>
            <a:r>
              <a:rPr lang="en-US" sz="10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0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dużych</a:t>
            </a:r>
            <a:r>
              <a:rPr lang="en-US" sz="10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0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zbiorach</a:t>
            </a:r>
            <a:r>
              <a:rPr lang="en-US" sz="10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0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danych</a:t>
            </a:r>
            <a:r>
              <a:rPr lang="en-US" sz="10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0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telemetrycznych</a:t>
            </a:r>
            <a:endParaRPr lang="en-US" sz="1050" b="0" i="0" u="none" strike="noStrike" kern="1200" cap="none" spc="0" baseline="0" dirty="0">
              <a:ln>
                <a:noFill/>
              </a:ln>
              <a:solidFill>
                <a:srgbClr val="475569"/>
              </a:solidFill>
              <a:latin typeface="Calibri" pitchFamily="34"/>
              <a:ea typeface="Calibri" pitchFamily="34"/>
              <a:cs typeface="Calibri" pitchFamily="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24812" y="2084760"/>
            <a:ext cx="4925746" cy="53028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124812" y="2084760"/>
            <a:ext cx="76709" cy="53028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289004" y="2095143"/>
            <a:ext cx="4706824" cy="218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 dirty="0" err="1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Kompresja</a:t>
            </a:r>
            <a:endParaRPr lang="en-US" sz="1300" b="1" i="0" u="none" strike="noStrike" kern="1200" cap="none" spc="0" baseline="0" dirty="0">
              <a:ln>
                <a:noFill/>
              </a:ln>
              <a:solidFill>
                <a:srgbClr val="0F172A"/>
              </a:solidFill>
              <a:latin typeface="Cambria" pitchFamily="34"/>
              <a:ea typeface="Cambria" pitchFamily="34"/>
              <a:cs typeface="Cambria" pitchFamily="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289004" y="2359688"/>
            <a:ext cx="4706824" cy="16391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GZIP/</a:t>
            </a:r>
            <a:r>
              <a:rPr lang="en-US" sz="10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Brotli</a:t>
            </a:r>
            <a:r>
              <a:rPr lang="en-US" sz="10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— </a:t>
            </a:r>
            <a:r>
              <a:rPr lang="en-US" sz="10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zmniejszenie</a:t>
            </a:r>
            <a:r>
              <a:rPr lang="en-US" sz="10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0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danych</a:t>
            </a:r>
            <a:r>
              <a:rPr lang="en-US" sz="10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do 80%, </a:t>
            </a:r>
            <a:r>
              <a:rPr lang="en-US" sz="10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kluczowe</a:t>
            </a:r>
            <a:r>
              <a:rPr lang="en-US" sz="10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0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dla</a:t>
            </a:r>
            <a:r>
              <a:rPr lang="en-US" sz="10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0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urządzeń</a:t>
            </a:r>
            <a:r>
              <a:rPr lang="en-US" sz="10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0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mobilnych</a:t>
            </a:r>
            <a:endParaRPr lang="en-US" sz="1050" b="0" i="0" u="none" strike="noStrike" kern="1200" cap="none" spc="0" baseline="0" dirty="0">
              <a:ln>
                <a:noFill/>
              </a:ln>
              <a:solidFill>
                <a:srgbClr val="475569"/>
              </a:solidFill>
              <a:latin typeface="Calibri" pitchFamily="34"/>
              <a:ea typeface="Calibri" pitchFamily="34"/>
              <a:cs typeface="Calibri" pitchFamily="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124812" y="2688480"/>
            <a:ext cx="4925746" cy="53028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124812" y="2688480"/>
            <a:ext cx="76709" cy="53028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289004" y="2721516"/>
            <a:ext cx="4706824" cy="21887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 dirty="0" err="1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Wersjonowanie</a:t>
            </a:r>
            <a:endParaRPr lang="en-US" sz="1300" b="1" i="0" u="none" strike="noStrike" kern="1200" cap="none" spc="0" baseline="0" dirty="0">
              <a:ln>
                <a:noFill/>
              </a:ln>
              <a:solidFill>
                <a:srgbClr val="0F172A"/>
              </a:solidFill>
              <a:latin typeface="Cambria" pitchFamily="34"/>
              <a:ea typeface="Cambria" pitchFamily="34"/>
              <a:cs typeface="Cambria" pitchFamily="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289004" y="2941115"/>
            <a:ext cx="4706824" cy="1858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URI versioning (/v1/, /v2/) — </a:t>
            </a:r>
            <a:r>
              <a:rPr lang="en-US" sz="10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kompatybilność</a:t>
            </a:r>
            <a:r>
              <a:rPr lang="en-US" sz="10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0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wsteczna</a:t>
            </a:r>
            <a:r>
              <a:rPr lang="en-US" sz="10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0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podczas</a:t>
            </a:r>
            <a:r>
              <a:rPr lang="en-US" sz="10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0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aktualizacji</a:t>
            </a:r>
            <a:endParaRPr lang="en-US" sz="1050" b="0" i="0" u="none" strike="noStrike" kern="1200" cap="none" spc="0" baseline="0" dirty="0">
              <a:ln>
                <a:noFill/>
              </a:ln>
              <a:solidFill>
                <a:srgbClr val="475569"/>
              </a:solidFill>
              <a:latin typeface="Calibri" pitchFamily="34"/>
              <a:ea typeface="Calibri" pitchFamily="34"/>
              <a:cs typeface="Calibri" pitchFamily="3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124812" y="3291839"/>
            <a:ext cx="4925746" cy="53028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124812" y="3291839"/>
            <a:ext cx="76709" cy="53028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289004" y="3338224"/>
            <a:ext cx="4706824" cy="17316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 dirty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Rate Limiting</a:t>
            </a:r>
          </a:p>
        </p:txBody>
      </p:sp>
      <p:sp>
        <p:nvSpPr>
          <p:cNvPr id="27" name="Text 25"/>
          <p:cNvSpPr/>
          <p:nvPr/>
        </p:nvSpPr>
        <p:spPr>
          <a:xfrm>
            <a:off x="4289004" y="3538081"/>
            <a:ext cx="4706824" cy="19259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Throttling </a:t>
            </a:r>
            <a:r>
              <a:rPr lang="en-US" sz="10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żądań</a:t>
            </a:r>
            <a:r>
              <a:rPr lang="en-US" sz="10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(np. 1000 </a:t>
            </a:r>
            <a:r>
              <a:rPr lang="en-US" sz="10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req</a:t>
            </a:r>
            <a:r>
              <a:rPr lang="en-US" sz="10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/min) — </a:t>
            </a:r>
            <a:r>
              <a:rPr lang="en-US" sz="10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ochrona</a:t>
            </a:r>
            <a:r>
              <a:rPr lang="en-US" sz="10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0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serwera</a:t>
            </a:r>
            <a:r>
              <a:rPr lang="en-US" sz="10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0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przed</a:t>
            </a:r>
            <a:r>
              <a:rPr lang="en-US" sz="10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0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przeciążeniem</a:t>
            </a:r>
            <a:endParaRPr lang="en-US" sz="1050" b="0" i="0" u="none" strike="noStrike" kern="1200" cap="none" spc="0" baseline="0" dirty="0">
              <a:ln>
                <a:noFill/>
              </a:ln>
              <a:solidFill>
                <a:srgbClr val="475569"/>
              </a:solidFill>
              <a:latin typeface="Calibri" pitchFamily="34"/>
              <a:ea typeface="Calibri" pitchFamily="34"/>
              <a:cs typeface="Calibri" pitchFamily="3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124812" y="3895200"/>
            <a:ext cx="4925746" cy="53028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124812" y="3895200"/>
            <a:ext cx="76709" cy="53028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289004" y="3914032"/>
            <a:ext cx="4706824" cy="226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 dirty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HATEOAS</a:t>
            </a:r>
          </a:p>
        </p:txBody>
      </p:sp>
      <p:sp>
        <p:nvSpPr>
          <p:cNvPr id="31" name="Text 29"/>
          <p:cNvSpPr/>
          <p:nvPr/>
        </p:nvSpPr>
        <p:spPr>
          <a:xfrm>
            <a:off x="4289004" y="4140000"/>
            <a:ext cx="4706824" cy="194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Linki</a:t>
            </a:r>
            <a:r>
              <a:rPr lang="en-US" sz="10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0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nawigacji</a:t>
            </a:r>
            <a:r>
              <a:rPr lang="en-US" sz="10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w </a:t>
            </a:r>
            <a:r>
              <a:rPr lang="en-US" sz="10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odpowiedzi</a:t>
            </a:r>
            <a:r>
              <a:rPr lang="en-US" sz="10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— </a:t>
            </a:r>
            <a:r>
              <a:rPr lang="en-US" sz="10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samoopisowe</a:t>
            </a:r>
            <a:r>
              <a:rPr lang="en-US" sz="10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API </a:t>
            </a:r>
            <a:r>
              <a:rPr lang="en-US" sz="10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zmniejszające</a:t>
            </a:r>
            <a:r>
              <a:rPr lang="en-US" sz="10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coupling</a:t>
            </a:r>
          </a:p>
        </p:txBody>
      </p:sp>
      <p:sp>
        <p:nvSpPr>
          <p:cNvPr id="32" name="Shape 30"/>
          <p:cNvSpPr/>
          <p:nvPr/>
        </p:nvSpPr>
        <p:spPr>
          <a:xfrm>
            <a:off x="320040" y="4498561"/>
            <a:ext cx="8503920" cy="484198"/>
          </a:xfrm>
          <a:prstGeom prst="rect">
            <a:avLst/>
          </a:prstGeom>
          <a:solidFill>
            <a:srgbClr val="F0F4FA"/>
          </a:solidFill>
          <a:ln w="12600" cap="flat">
            <a:noFill/>
            <a:prstDash val="solid"/>
            <a:miter/>
          </a:ln>
        </p:spPr>
        <p:txBody>
          <a:bodyPr vert="horz" wrap="square" lIns="96120" tIns="51120" rIns="96120" bIns="51120" anchorCtr="1" compatLnSpc="0"/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 smtClean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REST 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vs MQTT: HTTP jest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lepszy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dla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operacji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 CRUD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i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integracji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 z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systemami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zewnętrznymi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,</a:t>
            </a:r>
          </a:p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natomiast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 MQTT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przewyższa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 HTTP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przy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ciągłej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telemetrii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i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urządzeniach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 z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ograniczonymi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zasobami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44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440"/>
            <a:ext cx="914400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36720"/>
            <a:ext cx="8412480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WebSocket: komunikacja dwukierunkowa w czasie rzeczywistym</a:t>
            </a: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5"/>
          <p:cNvSpPr/>
          <p:nvPr/>
        </p:nvSpPr>
        <p:spPr>
          <a:xfrm>
            <a:off x="905759" y="777239"/>
            <a:ext cx="7734239" cy="662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WebSocket (RFC 6455) umożliwia pełnodupleksową komunikację przez pojedyncze połączenie TCP, idealne dla real-time dashboardów IoT.</a:t>
            </a:r>
          </a:p>
        </p:txBody>
      </p:sp>
      <p:sp>
        <p:nvSpPr>
          <p:cNvPr id="8" name="Text 6"/>
          <p:cNvSpPr/>
          <p:nvPr/>
        </p:nvSpPr>
        <p:spPr>
          <a:xfrm>
            <a:off x="360000" y="1655999"/>
            <a:ext cx="4074840" cy="290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Nawiązanie połączenia WebSocket</a:t>
            </a:r>
          </a:p>
        </p:txBody>
      </p:sp>
      <p:grpSp>
        <p:nvGrpSpPr>
          <p:cNvPr id="9" name="Grupa 8"/>
          <p:cNvGrpSpPr/>
          <p:nvPr/>
        </p:nvGrpSpPr>
        <p:grpSpPr>
          <a:xfrm>
            <a:off x="320040" y="1946880"/>
            <a:ext cx="4160520" cy="1041119"/>
            <a:chOff x="320040" y="1946880"/>
            <a:chExt cx="4160520" cy="1041119"/>
          </a:xfrm>
        </p:grpSpPr>
        <p:sp>
          <p:nvSpPr>
            <p:cNvPr id="10" name="Shape 7"/>
            <p:cNvSpPr/>
            <p:nvPr/>
          </p:nvSpPr>
          <p:spPr>
            <a:xfrm>
              <a:off x="320040" y="1946880"/>
              <a:ext cx="4160520" cy="1041119"/>
            </a:xfrm>
            <a:prstGeom prst="rect">
              <a:avLst/>
            </a:prstGeom>
            <a:solidFill>
              <a:srgbClr val="FFFFFF"/>
            </a:solidFill>
            <a:ln w="12600" cap="flat">
              <a:solidFill>
                <a:srgbClr val="E2E8F0"/>
              </a:solidFill>
              <a:prstDash val="solid"/>
              <a:miter/>
            </a:ln>
            <a:effectLst>
              <a:outerShdw dist="25456" dir="8100000" algn="tl">
                <a:srgbClr val="000000">
                  <a:alpha val="8000"/>
                </a:srgbClr>
              </a:outerShdw>
            </a:effectLst>
          </p:spPr>
          <p:txBody>
            <a:bodyPr vert="horz" wrap="square" lIns="96120" tIns="51120" rIns="96120" bIns="5112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1" name="Shape 8"/>
            <p:cNvSpPr/>
            <p:nvPr/>
          </p:nvSpPr>
          <p:spPr>
            <a:xfrm>
              <a:off x="320040" y="1946880"/>
              <a:ext cx="64080" cy="1041119"/>
            </a:xfrm>
            <a:prstGeom prst="rect">
              <a:avLst/>
            </a:prstGeom>
            <a:solidFill>
              <a:srgbClr val="1E5FA8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</p:grpSp>
      <p:sp>
        <p:nvSpPr>
          <p:cNvPr id="12" name="Text 9"/>
          <p:cNvSpPr/>
          <p:nvPr/>
        </p:nvSpPr>
        <p:spPr>
          <a:xfrm>
            <a:off x="457200" y="1910880"/>
            <a:ext cx="3977640" cy="339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1. HTTP Upgrade Request</a:t>
            </a:r>
          </a:p>
        </p:txBody>
      </p:sp>
      <p:sp>
        <p:nvSpPr>
          <p:cNvPr id="13" name="Text 10"/>
          <p:cNvSpPr/>
          <p:nvPr/>
        </p:nvSpPr>
        <p:spPr>
          <a:xfrm>
            <a:off x="457200" y="2236320"/>
            <a:ext cx="3977640" cy="631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GET /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ws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HTTP/1.1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Upgrade: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websocket</a:t>
            </a:r>
            <a:endParaRPr lang="en-US" sz="1200" b="0" i="0" u="none" strike="noStrike" kern="1200" cap="none" spc="0" baseline="0" dirty="0">
              <a:ln>
                <a:noFill/>
              </a:ln>
              <a:solidFill>
                <a:srgbClr val="475569"/>
              </a:solidFill>
              <a:latin typeface="Calibri" pitchFamily="34"/>
              <a:ea typeface="Calibri" pitchFamily="34"/>
              <a:cs typeface="Calibri" pitchFamily="34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Connection: Upgrade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Sec-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WebSocket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-Key: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dGhlIHNhbXBsZQ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==</a:t>
            </a:r>
          </a:p>
        </p:txBody>
      </p:sp>
      <p:grpSp>
        <p:nvGrpSpPr>
          <p:cNvPr id="14" name="Grupa 13"/>
          <p:cNvGrpSpPr/>
          <p:nvPr/>
        </p:nvGrpSpPr>
        <p:grpSpPr>
          <a:xfrm>
            <a:off x="320040" y="3060000"/>
            <a:ext cx="4160520" cy="795600"/>
            <a:chOff x="320040" y="3060000"/>
            <a:chExt cx="4160520" cy="795600"/>
          </a:xfrm>
        </p:grpSpPr>
        <p:sp>
          <p:nvSpPr>
            <p:cNvPr id="15" name="Shape 11"/>
            <p:cNvSpPr/>
            <p:nvPr/>
          </p:nvSpPr>
          <p:spPr>
            <a:xfrm>
              <a:off x="320040" y="3060000"/>
              <a:ext cx="4160520" cy="795600"/>
            </a:xfrm>
            <a:prstGeom prst="rect">
              <a:avLst/>
            </a:prstGeom>
            <a:solidFill>
              <a:srgbClr val="FFFFFF"/>
            </a:solidFill>
            <a:ln w="12600" cap="flat">
              <a:solidFill>
                <a:srgbClr val="E2E8F0"/>
              </a:solidFill>
              <a:prstDash val="solid"/>
              <a:miter/>
            </a:ln>
            <a:effectLst>
              <a:outerShdw dist="25456" dir="8100000" algn="tl">
                <a:srgbClr val="000000">
                  <a:alpha val="8000"/>
                </a:srgbClr>
              </a:outerShdw>
            </a:effectLst>
          </p:spPr>
          <p:txBody>
            <a:bodyPr vert="horz" wrap="square" lIns="96120" tIns="51120" rIns="96120" bIns="5112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6" name="Shape 12"/>
            <p:cNvSpPr/>
            <p:nvPr/>
          </p:nvSpPr>
          <p:spPr>
            <a:xfrm>
              <a:off x="320040" y="3060000"/>
              <a:ext cx="64080" cy="795600"/>
            </a:xfrm>
            <a:prstGeom prst="rect">
              <a:avLst/>
            </a:prstGeom>
            <a:solidFill>
              <a:srgbClr val="0D9488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</p:grpSp>
      <p:sp>
        <p:nvSpPr>
          <p:cNvPr id="17" name="Text 13"/>
          <p:cNvSpPr/>
          <p:nvPr/>
        </p:nvSpPr>
        <p:spPr>
          <a:xfrm>
            <a:off x="457200" y="3012840"/>
            <a:ext cx="3977640" cy="339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2. Server 101 Switching</a:t>
            </a:r>
          </a:p>
        </p:txBody>
      </p:sp>
      <p:sp>
        <p:nvSpPr>
          <p:cNvPr id="18" name="Text 14"/>
          <p:cNvSpPr/>
          <p:nvPr/>
        </p:nvSpPr>
        <p:spPr>
          <a:xfrm>
            <a:off x="457200" y="3306600"/>
            <a:ext cx="3977640" cy="511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HTTP/1.1 101 Switching Protocols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Upgrade: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websocket</a:t>
            </a:r>
            <a:endParaRPr lang="en-US" sz="1200" b="0" i="0" u="none" strike="noStrike" kern="1200" cap="none" spc="0" baseline="0" dirty="0">
              <a:ln>
                <a:noFill/>
              </a:ln>
              <a:solidFill>
                <a:srgbClr val="475569"/>
              </a:solidFill>
              <a:latin typeface="Calibri" pitchFamily="34"/>
              <a:ea typeface="Calibri" pitchFamily="34"/>
              <a:cs typeface="Calibri" pitchFamily="34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Sec-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WebSocket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-Accept: s3pPL...</a:t>
            </a:r>
          </a:p>
        </p:txBody>
      </p:sp>
      <p:grpSp>
        <p:nvGrpSpPr>
          <p:cNvPr id="19" name="Grupa 18"/>
          <p:cNvGrpSpPr/>
          <p:nvPr/>
        </p:nvGrpSpPr>
        <p:grpSpPr>
          <a:xfrm>
            <a:off x="320040" y="3960000"/>
            <a:ext cx="4160520" cy="853559"/>
            <a:chOff x="320040" y="3960000"/>
            <a:chExt cx="4160520" cy="853559"/>
          </a:xfrm>
        </p:grpSpPr>
        <p:sp>
          <p:nvSpPr>
            <p:cNvPr id="20" name="Shape 15"/>
            <p:cNvSpPr/>
            <p:nvPr/>
          </p:nvSpPr>
          <p:spPr>
            <a:xfrm>
              <a:off x="320040" y="3960000"/>
              <a:ext cx="4160520" cy="853559"/>
            </a:xfrm>
            <a:prstGeom prst="rect">
              <a:avLst/>
            </a:prstGeom>
            <a:solidFill>
              <a:srgbClr val="FFFFFF"/>
            </a:solidFill>
            <a:ln w="12600" cap="flat">
              <a:solidFill>
                <a:srgbClr val="E2E8F0"/>
              </a:solidFill>
              <a:prstDash val="solid"/>
              <a:miter/>
            </a:ln>
            <a:effectLst>
              <a:outerShdw dist="25456" dir="8100000" algn="tl">
                <a:srgbClr val="000000">
                  <a:alpha val="8000"/>
                </a:srgbClr>
              </a:outerShdw>
            </a:effectLst>
          </p:spPr>
          <p:txBody>
            <a:bodyPr vert="horz" wrap="square" lIns="96120" tIns="51120" rIns="96120" bIns="5112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1" name="Shape 16"/>
            <p:cNvSpPr/>
            <p:nvPr/>
          </p:nvSpPr>
          <p:spPr>
            <a:xfrm>
              <a:off x="320040" y="3960000"/>
              <a:ext cx="64080" cy="853559"/>
            </a:xfrm>
            <a:prstGeom prst="rect">
              <a:avLst/>
            </a:prstGeom>
            <a:solidFill>
              <a:srgbClr val="10B981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</p:grpSp>
      <p:sp>
        <p:nvSpPr>
          <p:cNvPr id="22" name="Text 17"/>
          <p:cNvSpPr/>
          <p:nvPr/>
        </p:nvSpPr>
        <p:spPr>
          <a:xfrm>
            <a:off x="457200" y="3960000"/>
            <a:ext cx="3977640" cy="277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3. Full-duplex channel</a:t>
            </a:r>
          </a:p>
        </p:txBody>
      </p:sp>
      <p:sp>
        <p:nvSpPr>
          <p:cNvPr id="23" name="Text 18"/>
          <p:cNvSpPr/>
          <p:nvPr/>
        </p:nvSpPr>
        <p:spPr>
          <a:xfrm>
            <a:off x="457200" y="4230720"/>
            <a:ext cx="3977640" cy="4881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Obie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strony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mogą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wysyłać</a:t>
            </a:r>
            <a:endParaRPr lang="en-US" sz="1200" b="0" i="0" u="none" strike="noStrike" kern="1200" cap="none" spc="0" baseline="0" dirty="0">
              <a:ln>
                <a:noFill/>
              </a:ln>
              <a:solidFill>
                <a:srgbClr val="475569"/>
              </a:solidFill>
              <a:latin typeface="Calibri" pitchFamily="34"/>
              <a:ea typeface="Calibri" pitchFamily="34"/>
              <a:cs typeface="Calibri" pitchFamily="34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ramki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WebSocket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w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dowolnej</a:t>
            </a:r>
            <a:endParaRPr lang="en-US" sz="1200" b="0" i="0" u="none" strike="noStrike" kern="1200" cap="none" spc="0" baseline="0" dirty="0">
              <a:ln>
                <a:noFill/>
              </a:ln>
              <a:solidFill>
                <a:srgbClr val="475569"/>
              </a:solidFill>
              <a:latin typeface="Calibri" pitchFamily="34"/>
              <a:ea typeface="Calibri" pitchFamily="34"/>
              <a:cs typeface="Calibri" pitchFamily="34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chwili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bez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nowych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żądań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HTTP</a:t>
            </a:r>
          </a:p>
        </p:txBody>
      </p:sp>
      <p:sp>
        <p:nvSpPr>
          <p:cNvPr id="24" name="Text 19"/>
          <p:cNvSpPr/>
          <p:nvPr/>
        </p:nvSpPr>
        <p:spPr>
          <a:xfrm>
            <a:off x="5580000" y="1522440"/>
            <a:ext cx="324000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Implementacja w Kotlin (OkHttp)</a:t>
            </a:r>
          </a:p>
        </p:txBody>
      </p:sp>
      <p:sp>
        <p:nvSpPr>
          <p:cNvPr id="25" name="Shape 20"/>
          <p:cNvSpPr/>
          <p:nvPr/>
        </p:nvSpPr>
        <p:spPr>
          <a:xfrm>
            <a:off x="5580000" y="1800000"/>
            <a:ext cx="3240000" cy="3096000"/>
          </a:xfrm>
          <a:prstGeom prst="rect">
            <a:avLst/>
          </a:prstGeom>
          <a:solidFill>
            <a:srgbClr val="0F172A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5688000" y="1844279"/>
            <a:ext cx="3063959" cy="27064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0">
            <a:noAutofit/>
          </a:bodyPr>
          <a:lstStyle/>
          <a:p>
            <a:pPr marL="0" marR="0" lvl="0" indent="0" algn="l" rtl="0" hangingPunct="1">
              <a:lnSpc>
                <a:spcPts val="992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val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client =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OkHttpClient.Builder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()</a:t>
            </a:r>
          </a:p>
          <a:p>
            <a:pPr marL="0" marR="0" lvl="0" indent="0" algn="l" rtl="0" hangingPunct="1">
              <a:lnSpc>
                <a:spcPts val="992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.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readTimeout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(0,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TimeUnit.MILLISECONDS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)</a:t>
            </a:r>
          </a:p>
          <a:p>
            <a:pPr marL="0" marR="0" lvl="0" indent="0" algn="l" rtl="0" hangingPunct="1">
              <a:lnSpc>
                <a:spcPts val="992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.build()</a:t>
            </a:r>
          </a:p>
          <a:p>
            <a:pPr marL="0" marR="0" lvl="0" indent="0" algn="l" rtl="0" hangingPunct="1">
              <a:lnSpc>
                <a:spcPts val="992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850" b="0" i="0" u="none" strike="noStrike" kern="1200" cap="none" spc="0" baseline="0" dirty="0">
              <a:ln>
                <a:noFill/>
              </a:ln>
              <a:solidFill>
                <a:srgbClr val="000000"/>
              </a:solidFill>
              <a:latin typeface="Calibri" pitchFamily="18"/>
              <a:ea typeface="Noto Sans CJK SC" pitchFamily="2"/>
              <a:cs typeface="Noto Sans Devanagari" pitchFamily="2"/>
            </a:endParaRPr>
          </a:p>
          <a:p>
            <a:pPr marL="0" marR="0" lvl="0" indent="0" algn="l" rtl="0" hangingPunct="1">
              <a:lnSpc>
                <a:spcPts val="992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val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request =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Request.Builder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()</a:t>
            </a:r>
          </a:p>
          <a:p>
            <a:pPr marL="0" marR="0" lvl="0" indent="0" algn="l" rtl="0" hangingPunct="1">
              <a:lnSpc>
                <a:spcPts val="992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.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url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("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wss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://iot-hub.example.com/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ws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")</a:t>
            </a:r>
          </a:p>
          <a:p>
            <a:pPr marL="0" marR="0" lvl="0" indent="0" algn="l" rtl="0" hangingPunct="1">
              <a:lnSpc>
                <a:spcPts val="992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.build()</a:t>
            </a:r>
          </a:p>
          <a:p>
            <a:pPr marL="0" marR="0" lvl="0" indent="0" algn="l" rtl="0" hangingPunct="1">
              <a:lnSpc>
                <a:spcPts val="992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850" b="0" i="0" u="none" strike="noStrike" kern="1200" cap="none" spc="0" baseline="0" dirty="0">
              <a:ln>
                <a:noFill/>
              </a:ln>
              <a:solidFill>
                <a:srgbClr val="000000"/>
              </a:solidFill>
              <a:latin typeface="Calibri" pitchFamily="18"/>
              <a:ea typeface="Noto Sans CJK SC" pitchFamily="2"/>
              <a:cs typeface="Noto Sans Devanagari" pitchFamily="2"/>
            </a:endParaRPr>
          </a:p>
          <a:p>
            <a:pPr marL="0" marR="0" lvl="0" indent="0" algn="l" rtl="0" hangingPunct="1">
              <a:lnSpc>
                <a:spcPts val="992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val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ws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=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client.newWebSocket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(request,</a:t>
            </a:r>
          </a:p>
          <a:p>
            <a:pPr marL="0" marR="0" lvl="0" indent="0" algn="l" rtl="0" hangingPunct="1">
              <a:lnSpc>
                <a:spcPts val="992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object :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WebSocketListener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() {</a:t>
            </a:r>
          </a:p>
          <a:p>
            <a:pPr marL="0" marR="0" lvl="0" indent="0" algn="l" rtl="0" hangingPunct="1">
              <a:lnSpc>
                <a:spcPts val="992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override fun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onMessage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</a:t>
            </a:r>
          </a:p>
          <a:p>
            <a:pPr marL="0" marR="0" lvl="0" indent="0" algn="l" rtl="0" hangingPunct="1">
              <a:lnSpc>
                <a:spcPts val="992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 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ws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: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WebSocket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, text: String) {</a:t>
            </a:r>
          </a:p>
          <a:p>
            <a:pPr marL="0" marR="0" lvl="0" indent="0" algn="l" rtl="0" hangingPunct="1">
              <a:lnSpc>
                <a:spcPts val="992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 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val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data =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Json.decodeFromString</a:t>
            </a:r>
            <a:endParaRPr lang="en-US" sz="900" b="0" i="0" u="none" strike="noStrike" kern="1200" cap="none" spc="0" baseline="0" dirty="0">
              <a:ln>
                <a:noFill/>
              </a:ln>
              <a:solidFill>
                <a:srgbClr val="A5D6A7"/>
              </a:solidFill>
              <a:latin typeface="Consolas" pitchFamily="34"/>
              <a:ea typeface="Consolas" pitchFamily="34"/>
              <a:cs typeface="Consolas" pitchFamily="34"/>
            </a:endParaRPr>
          </a:p>
          <a:p>
            <a:pPr marL="0" marR="0" lvl="0" indent="0" algn="l" rtl="0" hangingPunct="1">
              <a:lnSpc>
                <a:spcPts val="992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      &lt;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SensorData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&gt;(text)</a:t>
            </a:r>
          </a:p>
          <a:p>
            <a:pPr marL="0" marR="0" lvl="0" indent="0" algn="l" rtl="0" hangingPunct="1">
              <a:lnSpc>
                <a:spcPts val="992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  _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uiState.value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=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UiState.Data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(data)</a:t>
            </a:r>
          </a:p>
          <a:p>
            <a:pPr marL="0" marR="0" lvl="0" indent="0" algn="l" rtl="0" hangingPunct="1">
              <a:lnSpc>
                <a:spcPts val="992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}</a:t>
            </a:r>
          </a:p>
          <a:p>
            <a:pPr marL="0" marR="0" lvl="0" indent="0" algn="l" rtl="0" hangingPunct="1">
              <a:lnSpc>
                <a:spcPts val="992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override fun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onFailure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</a:t>
            </a:r>
          </a:p>
          <a:p>
            <a:pPr marL="0" marR="0" lvl="0" indent="0" algn="l" rtl="0" hangingPunct="1">
              <a:lnSpc>
                <a:spcPts val="992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 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ws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: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WebSocket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, t: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Throwable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,</a:t>
            </a:r>
          </a:p>
          <a:p>
            <a:pPr marL="0" marR="0" lvl="0" indent="0" algn="l" rtl="0" hangingPunct="1">
              <a:lnSpc>
                <a:spcPts val="992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  response: Response?) {</a:t>
            </a:r>
          </a:p>
          <a:p>
            <a:pPr marL="0" marR="0" lvl="0" indent="0" algn="l" rtl="0" hangingPunct="1">
              <a:lnSpc>
                <a:spcPts val="992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  // reconnect logic</a:t>
            </a:r>
          </a:p>
          <a:p>
            <a:pPr marL="0" marR="0" lvl="0" indent="0" algn="l" rtl="0" hangingPunct="1">
              <a:lnSpc>
                <a:spcPts val="992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}</a:t>
            </a:r>
          </a:p>
          <a:p>
            <a:pPr marL="0" marR="0" lvl="0" indent="0" algn="l" rtl="0" hangingPunct="1">
              <a:lnSpc>
                <a:spcPts val="992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})</a:t>
            </a:r>
          </a:p>
          <a:p>
            <a:pPr marL="0" marR="0" lvl="0" indent="0" algn="l" rtl="0" hangingPunct="1">
              <a:lnSpc>
                <a:spcPts val="992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//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Wysyłanie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komendy</a:t>
            </a:r>
            <a:endParaRPr lang="en-US" sz="900" b="0" i="0" u="none" strike="noStrike" kern="1200" cap="none" spc="0" baseline="0" dirty="0">
              <a:ln>
                <a:noFill/>
              </a:ln>
              <a:solidFill>
                <a:srgbClr val="A5D6A7"/>
              </a:solidFill>
              <a:latin typeface="Consolas" pitchFamily="34"/>
              <a:ea typeface="Consolas" pitchFamily="34"/>
              <a:cs typeface="Consolas" pitchFamily="34"/>
            </a:endParaRPr>
          </a:p>
          <a:p>
            <a:pPr marL="0" marR="0" lvl="0" indent="0" algn="l" rtl="0" hangingPunct="1">
              <a:lnSpc>
                <a:spcPts val="992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ws.send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("""{"cmd":"setTemp","val":22}""")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44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440"/>
            <a:ext cx="914400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36720"/>
            <a:ext cx="8412480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Bluetooth Low Energy (BLE): łączność krótkiego zasięgu</a:t>
            </a: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849239"/>
            <a:ext cx="8412480" cy="590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5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BLE (Bluetooth 4.0+) jest dominującym protokołem dla IoT krótkiego zasięgu: wearables, czujniki medyczne, smart home.</a:t>
            </a:r>
          </a:p>
        </p:txBody>
      </p:sp>
      <p:sp>
        <p:nvSpPr>
          <p:cNvPr id="8" name="Text 6"/>
          <p:cNvSpPr/>
          <p:nvPr/>
        </p:nvSpPr>
        <p:spPr>
          <a:xfrm>
            <a:off x="320040" y="1467000"/>
            <a:ext cx="417995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Model GATT (Generic Attribute Profile)</a:t>
            </a:r>
          </a:p>
        </p:txBody>
      </p:sp>
      <p:grpSp>
        <p:nvGrpSpPr>
          <p:cNvPr id="9" name="Grupa 8"/>
          <p:cNvGrpSpPr/>
          <p:nvPr/>
        </p:nvGrpSpPr>
        <p:grpSpPr>
          <a:xfrm>
            <a:off x="320040" y="1787039"/>
            <a:ext cx="4179959" cy="720000"/>
            <a:chOff x="320040" y="1787039"/>
            <a:chExt cx="4179959" cy="720000"/>
          </a:xfrm>
        </p:grpSpPr>
        <p:sp>
          <p:nvSpPr>
            <p:cNvPr id="10" name="Shape 7"/>
            <p:cNvSpPr/>
            <p:nvPr/>
          </p:nvSpPr>
          <p:spPr>
            <a:xfrm>
              <a:off x="320040" y="1787039"/>
              <a:ext cx="4179959" cy="720000"/>
            </a:xfrm>
            <a:prstGeom prst="rect">
              <a:avLst/>
            </a:prstGeom>
            <a:solidFill>
              <a:srgbClr val="FFFFFF"/>
            </a:solidFill>
            <a:ln w="12600" cap="flat">
              <a:solidFill>
                <a:srgbClr val="E2E8F0"/>
              </a:solidFill>
              <a:prstDash val="solid"/>
              <a:miter/>
            </a:ln>
            <a:effectLst>
              <a:outerShdw dist="25456" dir="8100000" algn="tl">
                <a:srgbClr val="000000">
                  <a:alpha val="8000"/>
                </a:srgbClr>
              </a:outerShdw>
            </a:effectLst>
          </p:spPr>
          <p:txBody>
            <a:bodyPr vert="horz" wrap="square" lIns="96120" tIns="51120" rIns="96120" bIns="5112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1" name="Shape 8"/>
            <p:cNvSpPr/>
            <p:nvPr/>
          </p:nvSpPr>
          <p:spPr>
            <a:xfrm>
              <a:off x="320040" y="1787039"/>
              <a:ext cx="64440" cy="720000"/>
            </a:xfrm>
            <a:prstGeom prst="rect">
              <a:avLst/>
            </a:prstGeom>
            <a:solidFill>
              <a:srgbClr val="1E5FA8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2" name="Text 9"/>
            <p:cNvSpPr/>
            <p:nvPr/>
          </p:nvSpPr>
          <p:spPr>
            <a:xfrm>
              <a:off x="457920" y="1788119"/>
              <a:ext cx="3996000" cy="3200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300" b="1" i="0" u="none" strike="noStrike" kern="1200" cap="none" spc="0" baseline="0">
                  <a:ln>
                    <a:noFill/>
                  </a:ln>
                  <a:solidFill>
                    <a:srgbClr val="0F172A"/>
                  </a:solidFill>
                  <a:latin typeface="Cambria" pitchFamily="34"/>
                  <a:ea typeface="Cambria" pitchFamily="34"/>
                  <a:cs typeface="Cambria" pitchFamily="34"/>
                </a:rPr>
                <a:t>Profile</a:t>
              </a:r>
            </a:p>
          </p:txBody>
        </p:sp>
        <p:sp>
          <p:nvSpPr>
            <p:cNvPr id="13" name="Text 10"/>
            <p:cNvSpPr/>
            <p:nvPr/>
          </p:nvSpPr>
          <p:spPr>
            <a:xfrm>
              <a:off x="457920" y="2099160"/>
              <a:ext cx="3996000" cy="2833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200" b="0" i="0" u="none" strike="noStrike" kern="1200" cap="none" spc="0" baseline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Zestaw usług dla danego zastosowania (HR Profile, Battery Service, Custom IoT Profile)</a:t>
              </a:r>
            </a:p>
          </p:txBody>
        </p:sp>
      </p:grpSp>
      <p:grpSp>
        <p:nvGrpSpPr>
          <p:cNvPr id="14" name="Grupa 13"/>
          <p:cNvGrpSpPr/>
          <p:nvPr/>
        </p:nvGrpSpPr>
        <p:grpSpPr>
          <a:xfrm>
            <a:off x="320040" y="2583000"/>
            <a:ext cx="4179959" cy="720000"/>
            <a:chOff x="320040" y="2583000"/>
            <a:chExt cx="4179959" cy="720000"/>
          </a:xfrm>
        </p:grpSpPr>
        <p:grpSp>
          <p:nvGrpSpPr>
            <p:cNvPr id="15" name="Grupa 14"/>
            <p:cNvGrpSpPr/>
            <p:nvPr/>
          </p:nvGrpSpPr>
          <p:grpSpPr>
            <a:xfrm>
              <a:off x="320040" y="2583000"/>
              <a:ext cx="4179959" cy="720000"/>
              <a:chOff x="320040" y="2583000"/>
              <a:chExt cx="4179959" cy="720000"/>
            </a:xfrm>
          </p:grpSpPr>
          <p:sp>
            <p:nvSpPr>
              <p:cNvPr id="16" name="Shape 11"/>
              <p:cNvSpPr/>
              <p:nvPr/>
            </p:nvSpPr>
            <p:spPr>
              <a:xfrm>
                <a:off x="320040" y="2583000"/>
                <a:ext cx="4179959" cy="720000"/>
              </a:xfrm>
              <a:prstGeom prst="rect">
                <a:avLst/>
              </a:prstGeom>
              <a:solidFill>
                <a:srgbClr val="FFFFFF"/>
              </a:solidFill>
              <a:ln w="12600" cap="flat">
                <a:solidFill>
                  <a:srgbClr val="E2E8F0"/>
                </a:solidFill>
                <a:prstDash val="solid"/>
                <a:miter/>
              </a:ln>
              <a:effectLst>
                <a:outerShdw dist="25456" dir="8100000" algn="tl">
                  <a:srgbClr val="000000">
                    <a:alpha val="8000"/>
                  </a:srgbClr>
                </a:outerShdw>
              </a:effectLst>
            </p:spPr>
            <p:txBody>
              <a:bodyPr vert="horz" wrap="square" lIns="96120" tIns="51120" rIns="96120" bIns="51120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pl-PL" sz="1800" b="0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Noto Sans Devanagari" pitchFamily="2"/>
                </a:endParaRPr>
              </a:p>
            </p:txBody>
          </p:sp>
          <p:sp>
            <p:nvSpPr>
              <p:cNvPr id="17" name="Shape 12"/>
              <p:cNvSpPr/>
              <p:nvPr/>
            </p:nvSpPr>
            <p:spPr>
              <a:xfrm>
                <a:off x="320040" y="2583000"/>
                <a:ext cx="64440" cy="720000"/>
              </a:xfrm>
              <a:prstGeom prst="rect">
                <a:avLst/>
              </a:prstGeom>
              <a:solidFill>
                <a:srgbClr val="1E5FA8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pl-PL" sz="1800" b="0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Noto Sans Devanagari" pitchFamily="2"/>
                </a:endParaRPr>
              </a:p>
            </p:txBody>
          </p:sp>
        </p:grpSp>
        <p:sp>
          <p:nvSpPr>
            <p:cNvPr id="18" name="Text 13"/>
            <p:cNvSpPr/>
            <p:nvPr/>
          </p:nvSpPr>
          <p:spPr>
            <a:xfrm>
              <a:off x="457920" y="2620440"/>
              <a:ext cx="3996000" cy="3200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300" b="1" i="0" u="none" strike="noStrike" kern="1200" cap="none" spc="0" baseline="0">
                  <a:ln>
                    <a:noFill/>
                  </a:ln>
                  <a:solidFill>
                    <a:srgbClr val="0F172A"/>
                  </a:solidFill>
                  <a:latin typeface="Cambria" pitchFamily="34"/>
                  <a:ea typeface="Cambria" pitchFamily="34"/>
                  <a:cs typeface="Cambria" pitchFamily="34"/>
                </a:rPr>
                <a:t>Service</a:t>
              </a:r>
            </a:p>
          </p:txBody>
        </p:sp>
        <p:sp>
          <p:nvSpPr>
            <p:cNvPr id="19" name="Text 14"/>
            <p:cNvSpPr/>
            <p:nvPr/>
          </p:nvSpPr>
          <p:spPr>
            <a:xfrm>
              <a:off x="457920" y="2931120"/>
              <a:ext cx="3996000" cy="2833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200" b="0" i="0" u="none" strike="noStrike" kern="1200" cap="none" spc="0" baseline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Zestaw powiązanych charakterystyk — identyfikowany przez UUID (np. 0x180D = Heart Rate Service)</a:t>
              </a:r>
            </a:p>
          </p:txBody>
        </p:sp>
      </p:grpSp>
      <p:grpSp>
        <p:nvGrpSpPr>
          <p:cNvPr id="20" name="Grupa 19"/>
          <p:cNvGrpSpPr/>
          <p:nvPr/>
        </p:nvGrpSpPr>
        <p:grpSpPr>
          <a:xfrm>
            <a:off x="320040" y="3379320"/>
            <a:ext cx="4179959" cy="720000"/>
            <a:chOff x="320040" y="3379320"/>
            <a:chExt cx="4179959" cy="720000"/>
          </a:xfrm>
        </p:grpSpPr>
        <p:grpSp>
          <p:nvGrpSpPr>
            <p:cNvPr id="21" name="Grupa 20"/>
            <p:cNvGrpSpPr/>
            <p:nvPr/>
          </p:nvGrpSpPr>
          <p:grpSpPr>
            <a:xfrm>
              <a:off x="320040" y="3379320"/>
              <a:ext cx="4179959" cy="720000"/>
              <a:chOff x="320040" y="3379320"/>
              <a:chExt cx="4179959" cy="720000"/>
            </a:xfrm>
          </p:grpSpPr>
          <p:sp>
            <p:nvSpPr>
              <p:cNvPr id="22" name="Shape 15"/>
              <p:cNvSpPr/>
              <p:nvPr/>
            </p:nvSpPr>
            <p:spPr>
              <a:xfrm>
                <a:off x="320040" y="3379320"/>
                <a:ext cx="4179959" cy="720000"/>
              </a:xfrm>
              <a:prstGeom prst="rect">
                <a:avLst/>
              </a:prstGeom>
              <a:solidFill>
                <a:srgbClr val="FFFFFF"/>
              </a:solidFill>
              <a:ln w="12600" cap="flat">
                <a:solidFill>
                  <a:srgbClr val="E2E8F0"/>
                </a:solidFill>
                <a:prstDash val="solid"/>
                <a:miter/>
              </a:ln>
              <a:effectLst>
                <a:outerShdw dist="25456" dir="8100000" algn="tl">
                  <a:srgbClr val="000000">
                    <a:alpha val="8000"/>
                  </a:srgbClr>
                </a:outerShdw>
              </a:effectLst>
            </p:spPr>
            <p:txBody>
              <a:bodyPr vert="horz" wrap="square" lIns="96120" tIns="51120" rIns="96120" bIns="51120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pl-PL" sz="1800" b="0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Noto Sans Devanagari" pitchFamily="2"/>
                </a:endParaRPr>
              </a:p>
            </p:txBody>
          </p:sp>
          <p:sp>
            <p:nvSpPr>
              <p:cNvPr id="23" name="Shape 16"/>
              <p:cNvSpPr/>
              <p:nvPr/>
            </p:nvSpPr>
            <p:spPr>
              <a:xfrm>
                <a:off x="320040" y="3379320"/>
                <a:ext cx="64440" cy="720000"/>
              </a:xfrm>
              <a:prstGeom prst="rect">
                <a:avLst/>
              </a:prstGeom>
              <a:solidFill>
                <a:srgbClr val="1E5FA8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pl-PL" sz="1800" b="0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Noto Sans Devanagari" pitchFamily="2"/>
                </a:endParaRPr>
              </a:p>
            </p:txBody>
          </p:sp>
        </p:grpSp>
        <p:sp>
          <p:nvSpPr>
            <p:cNvPr id="24" name="Text 17"/>
            <p:cNvSpPr/>
            <p:nvPr/>
          </p:nvSpPr>
          <p:spPr>
            <a:xfrm>
              <a:off x="457920" y="3380400"/>
              <a:ext cx="3996000" cy="3200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300" b="1" i="0" u="none" strike="noStrike" kern="1200" cap="none" spc="0" baseline="0">
                  <a:ln>
                    <a:noFill/>
                  </a:ln>
                  <a:solidFill>
                    <a:srgbClr val="0F172A"/>
                  </a:solidFill>
                  <a:latin typeface="Cambria" pitchFamily="34"/>
                  <a:ea typeface="Cambria" pitchFamily="34"/>
                  <a:cs typeface="Cambria" pitchFamily="34"/>
                </a:rPr>
                <a:t>Characteristic</a:t>
              </a:r>
            </a:p>
          </p:txBody>
        </p:sp>
        <p:sp>
          <p:nvSpPr>
            <p:cNvPr id="25" name="Text 18"/>
            <p:cNvSpPr/>
            <p:nvPr/>
          </p:nvSpPr>
          <p:spPr>
            <a:xfrm>
              <a:off x="457920" y="3691440"/>
              <a:ext cx="3996000" cy="2833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200" b="0" i="0" u="none" strike="noStrike" kern="1200" cap="none" spc="0" baseline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Pojedyncza wartość danych — odczyt (Read), zapis (Write), powiadomienia (Notify, Indicate)</a:t>
              </a:r>
            </a:p>
          </p:txBody>
        </p:sp>
      </p:grpSp>
      <p:grpSp>
        <p:nvGrpSpPr>
          <p:cNvPr id="26" name="Grupa 25"/>
          <p:cNvGrpSpPr/>
          <p:nvPr/>
        </p:nvGrpSpPr>
        <p:grpSpPr>
          <a:xfrm>
            <a:off x="320040" y="4140360"/>
            <a:ext cx="4179959" cy="720000"/>
            <a:chOff x="320040" y="4140360"/>
            <a:chExt cx="4179959" cy="720000"/>
          </a:xfrm>
        </p:grpSpPr>
        <p:grpSp>
          <p:nvGrpSpPr>
            <p:cNvPr id="27" name="Grupa 26"/>
            <p:cNvGrpSpPr/>
            <p:nvPr/>
          </p:nvGrpSpPr>
          <p:grpSpPr>
            <a:xfrm>
              <a:off x="320040" y="4140360"/>
              <a:ext cx="4179959" cy="720000"/>
              <a:chOff x="320040" y="4140360"/>
              <a:chExt cx="4179959" cy="720000"/>
            </a:xfrm>
          </p:grpSpPr>
          <p:sp>
            <p:nvSpPr>
              <p:cNvPr id="28" name="Shape 19"/>
              <p:cNvSpPr/>
              <p:nvPr/>
            </p:nvSpPr>
            <p:spPr>
              <a:xfrm>
                <a:off x="320040" y="4140360"/>
                <a:ext cx="4179959" cy="720000"/>
              </a:xfrm>
              <a:prstGeom prst="rect">
                <a:avLst/>
              </a:prstGeom>
              <a:solidFill>
                <a:srgbClr val="FFFFFF"/>
              </a:solidFill>
              <a:ln w="12600" cap="flat">
                <a:solidFill>
                  <a:srgbClr val="E2E8F0"/>
                </a:solidFill>
                <a:prstDash val="solid"/>
                <a:miter/>
              </a:ln>
              <a:effectLst>
                <a:outerShdw dist="25456" dir="8100000" algn="tl">
                  <a:srgbClr val="000000">
                    <a:alpha val="8000"/>
                  </a:srgbClr>
                </a:outerShdw>
              </a:effectLst>
            </p:spPr>
            <p:txBody>
              <a:bodyPr vert="horz" wrap="square" lIns="96120" tIns="51120" rIns="96120" bIns="51120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pl-PL" sz="1800" b="0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Noto Sans Devanagari" pitchFamily="2"/>
                </a:endParaRPr>
              </a:p>
            </p:txBody>
          </p:sp>
          <p:sp>
            <p:nvSpPr>
              <p:cNvPr id="29" name="Shape 20"/>
              <p:cNvSpPr/>
              <p:nvPr/>
            </p:nvSpPr>
            <p:spPr>
              <a:xfrm>
                <a:off x="320040" y="4140360"/>
                <a:ext cx="64440" cy="720000"/>
              </a:xfrm>
              <a:prstGeom prst="rect">
                <a:avLst/>
              </a:prstGeom>
              <a:solidFill>
                <a:srgbClr val="1E5FA8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pl-PL" sz="1800" b="0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Noto Sans Devanagari" pitchFamily="2"/>
                </a:endParaRPr>
              </a:p>
            </p:txBody>
          </p:sp>
        </p:grpSp>
        <p:sp>
          <p:nvSpPr>
            <p:cNvPr id="30" name="Text 21"/>
            <p:cNvSpPr/>
            <p:nvPr/>
          </p:nvSpPr>
          <p:spPr>
            <a:xfrm>
              <a:off x="457920" y="4140360"/>
              <a:ext cx="3996000" cy="3200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300" b="1" i="0" u="none" strike="noStrike" kern="1200" cap="none" spc="0" baseline="0">
                  <a:ln>
                    <a:noFill/>
                  </a:ln>
                  <a:solidFill>
                    <a:srgbClr val="0F172A"/>
                  </a:solidFill>
                  <a:latin typeface="Cambria" pitchFamily="34"/>
                  <a:ea typeface="Cambria" pitchFamily="34"/>
                  <a:cs typeface="Cambria" pitchFamily="34"/>
                </a:rPr>
                <a:t>Descriptor</a:t>
              </a:r>
            </a:p>
          </p:txBody>
        </p:sp>
        <p:sp>
          <p:nvSpPr>
            <p:cNvPr id="31" name="Text 22"/>
            <p:cNvSpPr/>
            <p:nvPr/>
          </p:nvSpPr>
          <p:spPr>
            <a:xfrm>
              <a:off x="457920" y="4451400"/>
              <a:ext cx="3996000" cy="2833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200" b="0" i="0" u="none" strike="noStrike" kern="1200" cap="none" spc="0" baseline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Metadane charakterystyki — CCCD (włączenie notyfikacji), User Description, Format</a:t>
              </a:r>
            </a:p>
          </p:txBody>
        </p:sp>
      </p:grpSp>
      <p:sp>
        <p:nvSpPr>
          <p:cNvPr id="32" name="Text 23"/>
          <p:cNvSpPr/>
          <p:nvPr/>
        </p:nvSpPr>
        <p:spPr>
          <a:xfrm>
            <a:off x="5599440" y="1323000"/>
            <a:ext cx="322056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Skanowanie i połączenie (Android)</a:t>
            </a:r>
          </a:p>
        </p:txBody>
      </p:sp>
      <p:sp>
        <p:nvSpPr>
          <p:cNvPr id="33" name="Shape 24"/>
          <p:cNvSpPr/>
          <p:nvPr/>
        </p:nvSpPr>
        <p:spPr>
          <a:xfrm>
            <a:off x="5580000" y="1607039"/>
            <a:ext cx="3289679" cy="2856960"/>
          </a:xfrm>
          <a:prstGeom prst="rect">
            <a:avLst/>
          </a:prstGeom>
          <a:solidFill>
            <a:srgbClr val="0F172A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4" name="Text 25"/>
          <p:cNvSpPr/>
          <p:nvPr/>
        </p:nvSpPr>
        <p:spPr>
          <a:xfrm>
            <a:off x="5690880" y="1644119"/>
            <a:ext cx="2949120" cy="2286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0">
            <a:noAutofit/>
          </a:bodyPr>
          <a:lstStyle/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//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Skanowanie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BLE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val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scanner =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bluetoothAdapter.bluetoothLeScanner</a:t>
            </a:r>
            <a:endParaRPr lang="en-US" sz="900" b="0" i="0" u="none" strike="noStrike" kern="1200" cap="none" spc="0" baseline="0" dirty="0">
              <a:ln>
                <a:noFill/>
              </a:ln>
              <a:solidFill>
                <a:srgbClr val="A5D6A7"/>
              </a:solidFill>
              <a:latin typeface="Consolas" pitchFamily="34"/>
              <a:ea typeface="Consolas" pitchFamily="34"/>
              <a:cs typeface="Consolas" pitchFamily="34"/>
            </a:endParaRP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val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settings =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ScanSettings.Builder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()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.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setScanMode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(SCAN_MODE_LOW_LATENCY).build()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scanner.startScan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(null, settings, callback)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850" b="0" i="0" u="none" strike="noStrike" kern="1200" cap="none" spc="0" baseline="0" dirty="0">
              <a:ln>
                <a:noFill/>
              </a:ln>
              <a:solidFill>
                <a:srgbClr val="000000"/>
              </a:solidFill>
              <a:latin typeface="Calibri" pitchFamily="18"/>
              <a:ea typeface="Noto Sans CJK SC" pitchFamily="2"/>
              <a:cs typeface="Noto Sans Devanagari" pitchFamily="2"/>
            </a:endParaRP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//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Połączenie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z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urządzeniem</a:t>
            </a:r>
            <a:endParaRPr lang="en-US" sz="900" b="0" i="0" u="none" strike="noStrike" kern="1200" cap="none" spc="0" baseline="0" dirty="0">
              <a:ln>
                <a:noFill/>
              </a:ln>
              <a:solidFill>
                <a:srgbClr val="A5D6A7"/>
              </a:solidFill>
              <a:latin typeface="Consolas" pitchFamily="34"/>
              <a:ea typeface="Consolas" pitchFamily="34"/>
              <a:cs typeface="Consolas" pitchFamily="34"/>
            </a:endParaRP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device.connectGatt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(context, false, object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: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BluetoothGattCallback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() {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override fun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onServicesDiscovered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gatt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: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BluetoothGatt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, status: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Int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) {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val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svc =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gatt.getService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(SENSOR_UUID)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val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char =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svc.getCharacteristic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(TEMP_UUID)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gatt.setCharacteristicNotification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char,true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)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}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override fun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onCharacteristicChanged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gatt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: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BluetoothGatt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,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char: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BluetoothGattCharacteristic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) {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val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temp =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char.getIntValue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(FORMAT_SINT16,0)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</a:t>
            </a:r>
            <a:r>
              <a:rPr lang="en-US" sz="9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updateTemperatureUI</a:t>
            </a: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(temp / 100.0f)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}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})</a:t>
            </a:r>
          </a:p>
        </p:txBody>
      </p:sp>
      <p:sp>
        <p:nvSpPr>
          <p:cNvPr id="35" name="Text 26"/>
          <p:cNvSpPr/>
          <p:nvPr/>
        </p:nvSpPr>
        <p:spPr>
          <a:xfrm>
            <a:off x="5400000" y="4327920"/>
            <a:ext cx="3829679" cy="73151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BLE vs Classic Bluetooth: BLE zużywa ~10× mniej energii, zasięg do 100 m (BLE 5.0), przepustowość do 2 Mbps.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44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440"/>
            <a:ext cx="914400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36720"/>
            <a:ext cx="8412480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Technologie łączności bezprzewodowej w IoT</a:t>
            </a: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804600"/>
            <a:ext cx="4160520" cy="1280159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804600"/>
            <a:ext cx="4160520" cy="34740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859680"/>
            <a:ext cx="320040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Wi-Fi 802.11</a:t>
            </a:r>
          </a:p>
        </p:txBody>
      </p:sp>
      <p:sp>
        <p:nvSpPr>
          <p:cNvPr id="10" name="Text 8"/>
          <p:cNvSpPr/>
          <p:nvPr/>
        </p:nvSpPr>
        <p:spPr>
          <a:xfrm>
            <a:off x="411480" y="1207080"/>
            <a:ext cx="1920239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Zasięg: 50–100 m</a:t>
            </a:r>
          </a:p>
        </p:txBody>
      </p:sp>
      <p:sp>
        <p:nvSpPr>
          <p:cNvPr id="11" name="Text 9"/>
          <p:cNvSpPr/>
          <p:nvPr/>
        </p:nvSpPr>
        <p:spPr>
          <a:xfrm>
            <a:off x="411480" y="1398960"/>
            <a:ext cx="3931920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Pasmo: do 9.6 Gbps (Wi-Fi 6)</a:t>
            </a:r>
          </a:p>
        </p:txBody>
      </p:sp>
      <p:sp>
        <p:nvSpPr>
          <p:cNvPr id="12" name="Text 10"/>
          <p:cNvSpPr/>
          <p:nvPr/>
        </p:nvSpPr>
        <p:spPr>
          <a:xfrm>
            <a:off x="411480" y="1591200"/>
            <a:ext cx="3931920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1" i="0" u="none" strike="noStrike" kern="1200" cap="none" spc="0" baseline="0">
                <a:ln>
                  <a:noFill/>
                </a:ln>
                <a:solidFill>
                  <a:srgbClr val="1E5FA8"/>
                </a:solidFill>
                <a:latin typeface="Calibri" pitchFamily="34"/>
                <a:ea typeface="Calibri" pitchFamily="34"/>
                <a:cs typeface="Calibri" pitchFamily="34"/>
              </a:rPr>
              <a:t>Energia: Wysokie</a:t>
            </a:r>
          </a:p>
        </p:txBody>
      </p:sp>
      <p:sp>
        <p:nvSpPr>
          <p:cNvPr id="13" name="Text 11"/>
          <p:cNvSpPr/>
          <p:nvPr/>
        </p:nvSpPr>
        <p:spPr>
          <a:xfrm>
            <a:off x="411480" y="1774080"/>
            <a:ext cx="397764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50" b="0" i="0" u="none" strike="noStrike" kern="1200" cap="none" spc="0" baseline="0">
                <a:ln>
                  <a:noFill/>
                </a:ln>
                <a:solidFill>
                  <a:srgbClr val="64748B"/>
                </a:solidFill>
                <a:latin typeface="Calibri" pitchFamily="34"/>
                <a:ea typeface="Calibri" pitchFamily="34"/>
                <a:cs typeface="Calibri" pitchFamily="34"/>
              </a:rPr>
              <a:t>Kamery IP, bramy sieciowe, routery IoT, urządzenia strumieniujące wideo</a:t>
            </a:r>
          </a:p>
        </p:txBody>
      </p:sp>
      <p:sp>
        <p:nvSpPr>
          <p:cNvPr id="14" name="Shape 12"/>
          <p:cNvSpPr/>
          <p:nvPr/>
        </p:nvSpPr>
        <p:spPr>
          <a:xfrm>
            <a:off x="4709160" y="804600"/>
            <a:ext cx="4160520" cy="1280159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709160" y="804600"/>
            <a:ext cx="4160520" cy="34740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00600" y="859680"/>
            <a:ext cx="320040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Zigbee (802.15.4)</a:t>
            </a:r>
          </a:p>
        </p:txBody>
      </p:sp>
      <p:sp>
        <p:nvSpPr>
          <p:cNvPr id="17" name="Text 15"/>
          <p:cNvSpPr/>
          <p:nvPr/>
        </p:nvSpPr>
        <p:spPr>
          <a:xfrm>
            <a:off x="4800600" y="1207080"/>
            <a:ext cx="1920239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Zasięg: 10–100 m (mesh)</a:t>
            </a:r>
          </a:p>
        </p:txBody>
      </p:sp>
      <p:sp>
        <p:nvSpPr>
          <p:cNvPr id="18" name="Text 16"/>
          <p:cNvSpPr/>
          <p:nvPr/>
        </p:nvSpPr>
        <p:spPr>
          <a:xfrm>
            <a:off x="4800600" y="1398960"/>
            <a:ext cx="3931920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Pasmo: 250 kbps</a:t>
            </a:r>
          </a:p>
        </p:txBody>
      </p:sp>
      <p:sp>
        <p:nvSpPr>
          <p:cNvPr id="19" name="Text 17"/>
          <p:cNvSpPr/>
          <p:nvPr/>
        </p:nvSpPr>
        <p:spPr>
          <a:xfrm>
            <a:off x="4800600" y="1591200"/>
            <a:ext cx="3931920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1" i="0" u="none" strike="noStrike" kern="1200" cap="none" spc="0" baseline="0">
                <a:ln>
                  <a:noFill/>
                </a:ln>
                <a:solidFill>
                  <a:srgbClr val="0D9488"/>
                </a:solidFill>
                <a:latin typeface="Calibri" pitchFamily="34"/>
                <a:ea typeface="Calibri" pitchFamily="34"/>
                <a:cs typeface="Calibri" pitchFamily="34"/>
              </a:rPr>
              <a:t>Energia: Bardzo niskie</a:t>
            </a:r>
          </a:p>
        </p:txBody>
      </p:sp>
      <p:sp>
        <p:nvSpPr>
          <p:cNvPr id="20" name="Text 18"/>
          <p:cNvSpPr/>
          <p:nvPr/>
        </p:nvSpPr>
        <p:spPr>
          <a:xfrm>
            <a:off x="4800600" y="1774080"/>
            <a:ext cx="397764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50" b="0" i="0" u="none" strike="noStrike" kern="1200" cap="none" spc="0" baseline="0">
                <a:ln>
                  <a:noFill/>
                </a:ln>
                <a:solidFill>
                  <a:srgbClr val="64748B"/>
                </a:solidFill>
                <a:latin typeface="Calibri" pitchFamily="34"/>
                <a:ea typeface="Calibri" pitchFamily="34"/>
                <a:cs typeface="Calibri" pitchFamily="34"/>
              </a:rPr>
              <a:t>Smart home (żarówki, zamki, czujniki), siatki mesh, Philips Hue, Amazon Echo Plus</a:t>
            </a:r>
          </a:p>
        </p:txBody>
      </p:sp>
      <p:sp>
        <p:nvSpPr>
          <p:cNvPr id="21" name="Shape 19"/>
          <p:cNvSpPr/>
          <p:nvPr/>
        </p:nvSpPr>
        <p:spPr>
          <a:xfrm>
            <a:off x="320040" y="2203560"/>
            <a:ext cx="4160520" cy="1280159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0040" y="2203560"/>
            <a:ext cx="4160520" cy="347400"/>
          </a:xfrm>
          <a:prstGeom prst="rect">
            <a:avLst/>
          </a:prstGeom>
          <a:solidFill>
            <a:srgbClr val="10B981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11480" y="2258640"/>
            <a:ext cx="320040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Z-Wave</a:t>
            </a:r>
          </a:p>
        </p:txBody>
      </p:sp>
      <p:sp>
        <p:nvSpPr>
          <p:cNvPr id="24" name="Text 22"/>
          <p:cNvSpPr/>
          <p:nvPr/>
        </p:nvSpPr>
        <p:spPr>
          <a:xfrm>
            <a:off x="411480" y="2606040"/>
            <a:ext cx="1920239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Zasięg: 30 m (max 4 hopy)</a:t>
            </a:r>
          </a:p>
        </p:txBody>
      </p:sp>
      <p:sp>
        <p:nvSpPr>
          <p:cNvPr id="25" name="Text 23"/>
          <p:cNvSpPr/>
          <p:nvPr/>
        </p:nvSpPr>
        <p:spPr>
          <a:xfrm>
            <a:off x="411480" y="2797920"/>
            <a:ext cx="3931920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Pasmo: 100 kbps</a:t>
            </a:r>
          </a:p>
        </p:txBody>
      </p:sp>
      <p:sp>
        <p:nvSpPr>
          <p:cNvPr id="26" name="Text 24"/>
          <p:cNvSpPr/>
          <p:nvPr/>
        </p:nvSpPr>
        <p:spPr>
          <a:xfrm>
            <a:off x="411480" y="2990160"/>
            <a:ext cx="3931920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1" i="0" u="none" strike="noStrike" kern="1200" cap="none" spc="0" baseline="0">
                <a:ln>
                  <a:noFill/>
                </a:ln>
                <a:solidFill>
                  <a:srgbClr val="10B981"/>
                </a:solidFill>
                <a:latin typeface="Calibri" pitchFamily="34"/>
                <a:ea typeface="Calibri" pitchFamily="34"/>
                <a:cs typeface="Calibri" pitchFamily="34"/>
              </a:rPr>
              <a:t>Energia: Niskie</a:t>
            </a:r>
          </a:p>
        </p:txBody>
      </p:sp>
      <p:sp>
        <p:nvSpPr>
          <p:cNvPr id="27" name="Text 25"/>
          <p:cNvSpPr/>
          <p:nvPr/>
        </p:nvSpPr>
        <p:spPr>
          <a:xfrm>
            <a:off x="411480" y="3173040"/>
            <a:ext cx="397764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50" b="0" i="0" u="none" strike="noStrike" kern="1200" cap="none" spc="0" baseline="0">
                <a:ln>
                  <a:noFill/>
                </a:ln>
                <a:solidFill>
                  <a:srgbClr val="64748B"/>
                </a:solidFill>
                <a:latin typeface="Calibri" pitchFamily="34"/>
                <a:ea typeface="Calibri" pitchFamily="34"/>
                <a:cs typeface="Calibri" pitchFamily="34"/>
              </a:rPr>
              <a:t>Smart home — mniejsze zakłócenia od Wi-Fi, dedykowany ekosystem (do 232 urządzeń)</a:t>
            </a:r>
          </a:p>
        </p:txBody>
      </p:sp>
      <p:sp>
        <p:nvSpPr>
          <p:cNvPr id="28" name="Shape 26"/>
          <p:cNvSpPr/>
          <p:nvPr/>
        </p:nvSpPr>
        <p:spPr>
          <a:xfrm>
            <a:off x="4709160" y="2203560"/>
            <a:ext cx="4160520" cy="1280159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09160" y="2203560"/>
            <a:ext cx="4160520" cy="347400"/>
          </a:xfrm>
          <a:prstGeom prst="rect">
            <a:avLst/>
          </a:prstGeom>
          <a:solidFill>
            <a:srgbClr val="F59E0B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00600" y="2258640"/>
            <a:ext cx="320040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Thread (OpenThread)</a:t>
            </a:r>
          </a:p>
        </p:txBody>
      </p:sp>
      <p:sp>
        <p:nvSpPr>
          <p:cNvPr id="31" name="Text 29"/>
          <p:cNvSpPr/>
          <p:nvPr/>
        </p:nvSpPr>
        <p:spPr>
          <a:xfrm>
            <a:off x="4800600" y="2606040"/>
            <a:ext cx="1920239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Zasięg: Mesh — wiele hopów</a:t>
            </a:r>
          </a:p>
        </p:txBody>
      </p:sp>
      <p:sp>
        <p:nvSpPr>
          <p:cNvPr id="32" name="Text 30"/>
          <p:cNvSpPr/>
          <p:nvPr/>
        </p:nvSpPr>
        <p:spPr>
          <a:xfrm>
            <a:off x="4800600" y="2797920"/>
            <a:ext cx="3931920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Pasmo: 250 kbps</a:t>
            </a:r>
          </a:p>
        </p:txBody>
      </p:sp>
      <p:sp>
        <p:nvSpPr>
          <p:cNvPr id="33" name="Text 31"/>
          <p:cNvSpPr/>
          <p:nvPr/>
        </p:nvSpPr>
        <p:spPr>
          <a:xfrm>
            <a:off x="4800600" y="2990160"/>
            <a:ext cx="3931920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1" i="0" u="none" strike="noStrike" kern="1200" cap="none" spc="0" baseline="0">
                <a:ln>
                  <a:noFill/>
                </a:ln>
                <a:solidFill>
                  <a:srgbClr val="F59E0B"/>
                </a:solidFill>
                <a:latin typeface="Calibri" pitchFamily="34"/>
                <a:ea typeface="Calibri" pitchFamily="34"/>
                <a:cs typeface="Calibri" pitchFamily="34"/>
              </a:rPr>
              <a:t>Energia: Bardzo niskie</a:t>
            </a:r>
          </a:p>
        </p:txBody>
      </p:sp>
      <p:sp>
        <p:nvSpPr>
          <p:cNvPr id="34" name="Text 32"/>
          <p:cNvSpPr/>
          <p:nvPr/>
        </p:nvSpPr>
        <p:spPr>
          <a:xfrm>
            <a:off x="4800600" y="3173040"/>
            <a:ext cx="397764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50" b="0" i="0" u="none" strike="noStrike" kern="1200" cap="none" spc="0" baseline="0">
                <a:ln>
                  <a:noFill/>
                </a:ln>
                <a:solidFill>
                  <a:srgbClr val="64748B"/>
                </a:solidFill>
                <a:latin typeface="Calibri" pitchFamily="34"/>
                <a:ea typeface="Calibri" pitchFamily="34"/>
                <a:cs typeface="Calibri" pitchFamily="34"/>
              </a:rPr>
              <a:t>Matter (Apple/Google/Amazon) — nowy standard smart home, urządzenia IPv6-native</a:t>
            </a:r>
          </a:p>
        </p:txBody>
      </p:sp>
      <p:sp>
        <p:nvSpPr>
          <p:cNvPr id="35" name="Shape 33"/>
          <p:cNvSpPr/>
          <p:nvPr/>
        </p:nvSpPr>
        <p:spPr>
          <a:xfrm>
            <a:off x="320040" y="3602879"/>
            <a:ext cx="4160520" cy="1280159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20040" y="3602879"/>
            <a:ext cx="4160520" cy="34740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11480" y="3657600"/>
            <a:ext cx="320040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00"/>
            </a:pPr>
            <a:r>
              <a:rPr lang="en-US" sz="16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LoRaWAN</a:t>
            </a:r>
          </a:p>
        </p:txBody>
      </p:sp>
      <p:sp>
        <p:nvSpPr>
          <p:cNvPr id="38" name="Text 36"/>
          <p:cNvSpPr/>
          <p:nvPr/>
        </p:nvSpPr>
        <p:spPr>
          <a:xfrm>
            <a:off x="411480" y="4005000"/>
            <a:ext cx="1920239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Zasięg: do 15 km</a:t>
            </a:r>
          </a:p>
        </p:txBody>
      </p:sp>
      <p:sp>
        <p:nvSpPr>
          <p:cNvPr id="39" name="Text 37"/>
          <p:cNvSpPr/>
          <p:nvPr/>
        </p:nvSpPr>
        <p:spPr>
          <a:xfrm>
            <a:off x="411480" y="4197240"/>
            <a:ext cx="3931920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Pasmo: 0.3–50 kbps</a:t>
            </a:r>
          </a:p>
        </p:txBody>
      </p:sp>
      <p:sp>
        <p:nvSpPr>
          <p:cNvPr id="40" name="Text 38"/>
          <p:cNvSpPr/>
          <p:nvPr/>
        </p:nvSpPr>
        <p:spPr>
          <a:xfrm>
            <a:off x="411480" y="4389120"/>
            <a:ext cx="3931920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1" i="0" u="none" strike="noStrike" kern="1200" cap="none" spc="0" baseline="0">
                <a:ln>
                  <a:noFill/>
                </a:ln>
                <a:solidFill>
                  <a:srgbClr val="0EA5E9"/>
                </a:solidFill>
                <a:latin typeface="Calibri" pitchFamily="34"/>
                <a:ea typeface="Calibri" pitchFamily="34"/>
                <a:cs typeface="Calibri" pitchFamily="34"/>
              </a:rPr>
              <a:t>Energia: Ekstremalnie niskie</a:t>
            </a:r>
          </a:p>
        </p:txBody>
      </p:sp>
      <p:sp>
        <p:nvSpPr>
          <p:cNvPr id="41" name="Text 39"/>
          <p:cNvSpPr/>
          <p:nvPr/>
        </p:nvSpPr>
        <p:spPr>
          <a:xfrm>
            <a:off x="411480" y="4572000"/>
            <a:ext cx="397764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50" b="0" i="0" u="none" strike="noStrike" kern="1200" cap="none" spc="0" baseline="0">
                <a:ln>
                  <a:noFill/>
                </a:ln>
                <a:solidFill>
                  <a:srgbClr val="64748B"/>
                </a:solidFill>
                <a:latin typeface="Calibri" pitchFamily="34"/>
                <a:ea typeface="Calibri" pitchFamily="34"/>
                <a:cs typeface="Calibri" pitchFamily="34"/>
              </a:rPr>
              <a:t>Monitoring infrastruktury, rolnictwo precision, smart city, urządzenia bateryjne na lata</a:t>
            </a:r>
          </a:p>
        </p:txBody>
      </p:sp>
      <p:sp>
        <p:nvSpPr>
          <p:cNvPr id="42" name="Shape 40"/>
          <p:cNvSpPr/>
          <p:nvPr/>
        </p:nvSpPr>
        <p:spPr>
          <a:xfrm>
            <a:off x="4709160" y="3602879"/>
            <a:ext cx="4160520" cy="1280159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709160" y="3602879"/>
            <a:ext cx="4160520" cy="34740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800600" y="3657600"/>
            <a:ext cx="320040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NB-IoT / LTE-M</a:t>
            </a:r>
          </a:p>
        </p:txBody>
      </p:sp>
      <p:sp>
        <p:nvSpPr>
          <p:cNvPr id="45" name="Text 43"/>
          <p:cNvSpPr/>
          <p:nvPr/>
        </p:nvSpPr>
        <p:spPr>
          <a:xfrm>
            <a:off x="4800600" y="4005000"/>
            <a:ext cx="1920239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Zasięg: Sieć komórkowa</a:t>
            </a:r>
          </a:p>
        </p:txBody>
      </p:sp>
      <p:sp>
        <p:nvSpPr>
          <p:cNvPr id="46" name="Text 44"/>
          <p:cNvSpPr/>
          <p:nvPr/>
        </p:nvSpPr>
        <p:spPr>
          <a:xfrm>
            <a:off x="4800600" y="4197240"/>
            <a:ext cx="3931920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Pasmo: 200 kbps / 1 Mbps</a:t>
            </a:r>
          </a:p>
        </p:txBody>
      </p:sp>
      <p:sp>
        <p:nvSpPr>
          <p:cNvPr id="47" name="Text 45"/>
          <p:cNvSpPr/>
          <p:nvPr/>
        </p:nvSpPr>
        <p:spPr>
          <a:xfrm>
            <a:off x="4800600" y="4389120"/>
            <a:ext cx="3931920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libri" pitchFamily="34"/>
                <a:ea typeface="Calibri" pitchFamily="34"/>
                <a:cs typeface="Calibri" pitchFamily="34"/>
              </a:rPr>
              <a:t>Energia: Niskie–średnie</a:t>
            </a:r>
          </a:p>
        </p:txBody>
      </p:sp>
      <p:sp>
        <p:nvSpPr>
          <p:cNvPr id="48" name="Text 46"/>
          <p:cNvSpPr/>
          <p:nvPr/>
        </p:nvSpPr>
        <p:spPr>
          <a:xfrm>
            <a:off x="4800600" y="4572000"/>
            <a:ext cx="397764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50" b="0" i="0" u="none" strike="noStrike" kern="1200" cap="none" spc="0" baseline="0">
                <a:ln>
                  <a:noFill/>
                </a:ln>
                <a:solidFill>
                  <a:srgbClr val="64748B"/>
                </a:solidFill>
                <a:latin typeface="Calibri" pitchFamily="34"/>
                <a:ea typeface="Calibri" pitchFamily="34"/>
                <a:cs typeface="Calibri" pitchFamily="34"/>
              </a:rPr>
              <a:t>Liczniki mediów, tracking pojazdów, monitoring obszarów bez Wi-Fi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44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440"/>
            <a:ext cx="914400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36720"/>
            <a:ext cx="8412480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Android Development dla IoT: architektura MVVM</a:t>
            </a: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777239"/>
            <a:ext cx="841248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Rekomendowana architektura aplikacji Android IoT oparta na Jetpack i Clean Architecture</a:t>
            </a:r>
          </a:p>
        </p:txBody>
      </p:sp>
      <p:grpSp>
        <p:nvGrpSpPr>
          <p:cNvPr id="8" name="Grupa 7"/>
          <p:cNvGrpSpPr/>
          <p:nvPr/>
        </p:nvGrpSpPr>
        <p:grpSpPr>
          <a:xfrm>
            <a:off x="140040" y="1260720"/>
            <a:ext cx="2011680" cy="2323800"/>
            <a:chOff x="140040" y="1260720"/>
            <a:chExt cx="2011680" cy="2323800"/>
          </a:xfrm>
        </p:grpSpPr>
        <p:sp>
          <p:nvSpPr>
            <p:cNvPr id="9" name="Shape 6"/>
            <p:cNvSpPr/>
            <p:nvPr/>
          </p:nvSpPr>
          <p:spPr>
            <a:xfrm>
              <a:off x="140040" y="1260720"/>
              <a:ext cx="2011680" cy="327960"/>
            </a:xfrm>
            <a:prstGeom prst="rect">
              <a:avLst/>
            </a:prstGeom>
            <a:solidFill>
              <a:srgbClr val="0EA5E9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600" b="1" i="0" u="none" strike="noStrike" kern="1200" cap="none" spc="0" baseline="0">
                  <a:ln>
                    <a:noFill/>
                  </a:ln>
                  <a:solidFill>
                    <a:srgbClr val="FFFFFF"/>
                  </a:solidFill>
                  <a:latin typeface="Cambria" pitchFamily="34"/>
                  <a:ea typeface="Cambria" pitchFamily="34"/>
                  <a:cs typeface="Cambria" pitchFamily="34"/>
                </a:rPr>
                <a:t>UI Layer (View)</a:t>
              </a:r>
            </a:p>
          </p:txBody>
        </p:sp>
        <p:sp>
          <p:nvSpPr>
            <p:cNvPr id="10" name="Shape 8"/>
            <p:cNvSpPr/>
            <p:nvPr/>
          </p:nvSpPr>
          <p:spPr>
            <a:xfrm>
              <a:off x="140040" y="1572840"/>
              <a:ext cx="2011680" cy="2011680"/>
            </a:xfrm>
            <a:prstGeom prst="rect">
              <a:avLst/>
            </a:prstGeom>
            <a:solidFill>
              <a:srgbClr val="FFFFFF"/>
            </a:solidFill>
            <a:ln w="12600" cap="flat">
              <a:solidFill>
                <a:srgbClr val="E2E8F0"/>
              </a:solidFill>
              <a:prstDash val="solid"/>
              <a:miter/>
            </a:ln>
          </p:spPr>
          <p:txBody>
            <a:bodyPr vert="horz" wrap="square" lIns="96120" tIns="51120" rIns="96120" bIns="5112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1" name="Text 10"/>
            <p:cNvSpPr/>
            <p:nvPr/>
          </p:nvSpPr>
          <p:spPr>
            <a:xfrm>
              <a:off x="322920" y="1664279"/>
              <a:ext cx="1783080" cy="2559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300" b="0" i="0" u="none" strike="noStrike" kern="1200" cap="none" spc="0" baseline="0">
                  <a:ln>
                    <a:noFill/>
                  </a:ln>
                  <a:solidFill>
                    <a:srgbClr val="1E293B"/>
                  </a:solidFill>
                  <a:latin typeface="Calibri" pitchFamily="34"/>
                  <a:ea typeface="Calibri" pitchFamily="34"/>
                  <a:cs typeface="Calibri" pitchFamily="34"/>
                </a:rPr>
                <a:t>Compose / XML Layouts</a:t>
              </a:r>
            </a:p>
          </p:txBody>
        </p:sp>
        <p:sp>
          <p:nvSpPr>
            <p:cNvPr id="12" name="Text 12"/>
            <p:cNvSpPr/>
            <p:nvPr/>
          </p:nvSpPr>
          <p:spPr>
            <a:xfrm>
              <a:off x="322920" y="2121480"/>
              <a:ext cx="1783080" cy="2559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300" b="0" i="0" u="none" strike="noStrike" kern="1200" cap="none" spc="0" baseline="0">
                  <a:ln>
                    <a:noFill/>
                  </a:ln>
                  <a:solidFill>
                    <a:srgbClr val="1E293B"/>
                  </a:solidFill>
                  <a:latin typeface="Calibri" pitchFamily="34"/>
                  <a:ea typeface="Calibri" pitchFamily="34"/>
                  <a:cs typeface="Calibri" pitchFamily="34"/>
                </a:rPr>
                <a:t>ViewModel (StateFlow)</a:t>
              </a:r>
            </a:p>
          </p:txBody>
        </p:sp>
        <p:sp>
          <p:nvSpPr>
            <p:cNvPr id="13" name="Text 14"/>
            <p:cNvSpPr/>
            <p:nvPr/>
          </p:nvSpPr>
          <p:spPr>
            <a:xfrm>
              <a:off x="322920" y="2578680"/>
              <a:ext cx="1783080" cy="2559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300" b="0" i="0" u="none" strike="noStrike" kern="1200" cap="none" spc="0" baseline="0">
                  <a:ln>
                    <a:noFill/>
                  </a:ln>
                  <a:solidFill>
                    <a:srgbClr val="1E293B"/>
                  </a:solidFill>
                  <a:latin typeface="Calibri" pitchFamily="34"/>
                  <a:ea typeface="Calibri" pitchFamily="34"/>
                  <a:cs typeface="Calibri" pitchFamily="34"/>
                </a:rPr>
                <a:t>Navigation Component</a:t>
              </a:r>
            </a:p>
          </p:txBody>
        </p:sp>
        <p:sp>
          <p:nvSpPr>
            <p:cNvPr id="14" name="Text 16"/>
            <p:cNvSpPr/>
            <p:nvPr/>
          </p:nvSpPr>
          <p:spPr>
            <a:xfrm>
              <a:off x="322920" y="3035880"/>
              <a:ext cx="1783080" cy="2559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300" b="0" i="0" u="none" strike="noStrike" kern="1200" cap="none" spc="0" baseline="0">
                  <a:ln>
                    <a:noFill/>
                  </a:ln>
                  <a:solidFill>
                    <a:srgbClr val="1E293B"/>
                  </a:solidFill>
                  <a:latin typeface="Calibri" pitchFamily="34"/>
                  <a:ea typeface="Calibri" pitchFamily="34"/>
                  <a:cs typeface="Calibri" pitchFamily="34"/>
                </a:rPr>
                <a:t>DataBinding</a:t>
              </a:r>
            </a:p>
          </p:txBody>
        </p:sp>
        <p:sp>
          <p:nvSpPr>
            <p:cNvPr id="15" name="Shape 9"/>
            <p:cNvSpPr/>
            <p:nvPr/>
          </p:nvSpPr>
          <p:spPr>
            <a:xfrm>
              <a:off x="231480" y="1645920"/>
              <a:ext cx="36720" cy="274320"/>
            </a:xfrm>
            <a:prstGeom prst="rect">
              <a:avLst/>
            </a:prstGeom>
            <a:solidFill>
              <a:srgbClr val="0EA5E9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6" name="Shape 11"/>
            <p:cNvSpPr/>
            <p:nvPr/>
          </p:nvSpPr>
          <p:spPr>
            <a:xfrm>
              <a:off x="231480" y="2103120"/>
              <a:ext cx="36720" cy="274320"/>
            </a:xfrm>
            <a:prstGeom prst="rect">
              <a:avLst/>
            </a:prstGeom>
            <a:solidFill>
              <a:srgbClr val="0EA5E9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7" name="Shape 13"/>
            <p:cNvSpPr/>
            <p:nvPr/>
          </p:nvSpPr>
          <p:spPr>
            <a:xfrm>
              <a:off x="231480" y="2560319"/>
              <a:ext cx="36720" cy="274320"/>
            </a:xfrm>
            <a:prstGeom prst="rect">
              <a:avLst/>
            </a:prstGeom>
            <a:solidFill>
              <a:srgbClr val="0EA5E9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8" name="Shape 15"/>
            <p:cNvSpPr/>
            <p:nvPr/>
          </p:nvSpPr>
          <p:spPr>
            <a:xfrm>
              <a:off x="231480" y="3017520"/>
              <a:ext cx="36720" cy="274320"/>
            </a:xfrm>
            <a:prstGeom prst="rect">
              <a:avLst/>
            </a:prstGeom>
            <a:solidFill>
              <a:srgbClr val="0EA5E9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</p:grpSp>
      <p:sp>
        <p:nvSpPr>
          <p:cNvPr id="19" name="Shape 17"/>
          <p:cNvSpPr/>
          <p:nvPr/>
        </p:nvSpPr>
        <p:spPr>
          <a:xfrm>
            <a:off x="2259720" y="2578680"/>
            <a:ext cx="118800" cy="3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0"/>
              <a:gd name="f8" fmla="abs f3"/>
              <a:gd name="f9" fmla="abs f4"/>
              <a:gd name="f10" fmla="abs f5"/>
              <a:gd name="f11" fmla="val f6"/>
              <a:gd name="f12" fmla="*/ f7 f0 1"/>
              <a:gd name="f13" fmla="?: f8 f3 1"/>
              <a:gd name="f14" fmla="?: f9 f4 1"/>
              <a:gd name="f15" fmla="?: f10 f5 1"/>
              <a:gd name="f16" fmla="*/ f12 1 f2"/>
              <a:gd name="f17" fmla="*/ f13 1 21600"/>
              <a:gd name="f18" fmla="*/ f14 1 21600"/>
              <a:gd name="f19" fmla="*/ 21600 f13 1"/>
              <a:gd name="f20" fmla="*/ 21600 f14 1"/>
              <a:gd name="f21" fmla="+- f16 0 f1"/>
              <a:gd name="f22" fmla="min f18 f17"/>
              <a:gd name="f23" fmla="*/ f19 1 f15"/>
              <a:gd name="f24" fmla="*/ f20 1 f15"/>
              <a:gd name="f25" fmla="val f23"/>
              <a:gd name="f26" fmla="val f24"/>
              <a:gd name="f27" fmla="*/ f6 f22 1"/>
              <a:gd name="f28" fmla="*/ f23 f22 1"/>
              <a:gd name="f29" fmla="*/ f24 f22 1"/>
              <a:gd name="f30" fmla="*/ f11 f22 1"/>
              <a:gd name="f31" fmla="*/ f25 f22 1"/>
              <a:gd name="f32" fmla="*/ f26 f2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1">
                <a:pos x="f30" y="f30"/>
              </a:cxn>
              <a:cxn ang="f21">
                <a:pos x="f31" y="f32"/>
              </a:cxn>
            </a:cxnLst>
            <a:rect l="f27" t="f27" r="f28" b="f29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25560" cap="flat">
            <a:solidFill>
              <a:srgbClr val="64748B"/>
            </a:solidFill>
            <a:prstDash val="solid"/>
            <a:miter/>
          </a:ln>
        </p:spPr>
        <p:txBody>
          <a:bodyPr vert="horz" wrap="square" lIns="102600" tIns="57600" rIns="102600" bIns="576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grpSp>
        <p:nvGrpSpPr>
          <p:cNvPr id="20" name="Grupa 19"/>
          <p:cNvGrpSpPr/>
          <p:nvPr/>
        </p:nvGrpSpPr>
        <p:grpSpPr>
          <a:xfrm>
            <a:off x="2414520" y="1260720"/>
            <a:ext cx="2011680" cy="2323800"/>
            <a:chOff x="2414520" y="1260720"/>
            <a:chExt cx="2011680" cy="2323800"/>
          </a:xfrm>
        </p:grpSpPr>
        <p:sp>
          <p:nvSpPr>
            <p:cNvPr id="21" name="Shape 18"/>
            <p:cNvSpPr/>
            <p:nvPr/>
          </p:nvSpPr>
          <p:spPr>
            <a:xfrm>
              <a:off x="2414520" y="1260720"/>
              <a:ext cx="2011680" cy="327960"/>
            </a:xfrm>
            <a:prstGeom prst="rect">
              <a:avLst/>
            </a:prstGeom>
            <a:solidFill>
              <a:srgbClr val="1E5FA8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600" b="1" i="0" u="none" strike="noStrike" kern="1200" cap="none" spc="0" baseline="0">
                  <a:ln>
                    <a:noFill/>
                  </a:ln>
                  <a:solidFill>
                    <a:srgbClr val="FFFFFF"/>
                  </a:solidFill>
                  <a:latin typeface="Cambria" pitchFamily="34"/>
                  <a:ea typeface="Cambria" pitchFamily="34"/>
                  <a:cs typeface="Cambria" pitchFamily="34"/>
                </a:rPr>
                <a:t>Domain Layer</a:t>
              </a:r>
            </a:p>
          </p:txBody>
        </p:sp>
        <p:sp>
          <p:nvSpPr>
            <p:cNvPr id="22" name="Shape 20"/>
            <p:cNvSpPr/>
            <p:nvPr/>
          </p:nvSpPr>
          <p:spPr>
            <a:xfrm>
              <a:off x="2414520" y="1572840"/>
              <a:ext cx="2011680" cy="2011680"/>
            </a:xfrm>
            <a:prstGeom prst="rect">
              <a:avLst/>
            </a:prstGeom>
            <a:solidFill>
              <a:srgbClr val="FFFFFF"/>
            </a:solidFill>
            <a:ln w="12600" cap="flat">
              <a:solidFill>
                <a:srgbClr val="E2E8F0"/>
              </a:solidFill>
              <a:prstDash val="solid"/>
              <a:miter/>
            </a:ln>
          </p:spPr>
          <p:txBody>
            <a:bodyPr vert="horz" wrap="square" lIns="96120" tIns="51120" rIns="96120" bIns="5112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2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3" name="Text 22"/>
            <p:cNvSpPr/>
            <p:nvPr/>
          </p:nvSpPr>
          <p:spPr>
            <a:xfrm>
              <a:off x="2597400" y="1664279"/>
              <a:ext cx="1783080" cy="2559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300" b="0" i="0" u="none" strike="noStrike" kern="1200" cap="none" spc="0" baseline="0">
                  <a:ln>
                    <a:noFill/>
                  </a:ln>
                  <a:solidFill>
                    <a:srgbClr val="1E293B"/>
                  </a:solidFill>
                  <a:latin typeface="Calibri" pitchFamily="34"/>
                  <a:ea typeface="Calibri" pitchFamily="34"/>
                  <a:cs typeface="Calibri" pitchFamily="34"/>
                </a:rPr>
                <a:t>UseCases / Interactors</a:t>
              </a:r>
            </a:p>
          </p:txBody>
        </p:sp>
        <p:sp>
          <p:nvSpPr>
            <p:cNvPr id="24" name="Text 24"/>
            <p:cNvSpPr/>
            <p:nvPr/>
          </p:nvSpPr>
          <p:spPr>
            <a:xfrm>
              <a:off x="2597400" y="2121480"/>
              <a:ext cx="1783080" cy="2559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300" b="0" i="0" u="none" strike="noStrike" kern="1200" cap="none" spc="0" baseline="0">
                  <a:ln>
                    <a:noFill/>
                  </a:ln>
                  <a:solidFill>
                    <a:srgbClr val="1E293B"/>
                  </a:solidFill>
                  <a:latin typeface="Calibri" pitchFamily="34"/>
                  <a:ea typeface="Calibri" pitchFamily="34"/>
                  <a:cs typeface="Calibri" pitchFamily="34"/>
                </a:rPr>
                <a:t>Domain Models</a:t>
              </a:r>
            </a:p>
          </p:txBody>
        </p:sp>
        <p:sp>
          <p:nvSpPr>
            <p:cNvPr id="25" name="Text 26"/>
            <p:cNvSpPr/>
            <p:nvPr/>
          </p:nvSpPr>
          <p:spPr>
            <a:xfrm>
              <a:off x="2597400" y="2578680"/>
              <a:ext cx="1783080" cy="2559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300" b="0" i="0" u="none" strike="noStrike" kern="1200" cap="none" spc="0" baseline="0">
                  <a:ln>
                    <a:noFill/>
                  </a:ln>
                  <a:solidFill>
                    <a:srgbClr val="1E293B"/>
                  </a:solidFill>
                  <a:latin typeface="Calibri" pitchFamily="34"/>
                  <a:ea typeface="Calibri" pitchFamily="34"/>
                  <a:cs typeface="Calibri" pitchFamily="34"/>
                </a:rPr>
                <a:t>Repository Interfaces</a:t>
              </a:r>
            </a:p>
          </p:txBody>
        </p:sp>
        <p:sp>
          <p:nvSpPr>
            <p:cNvPr id="26" name="Text 28"/>
            <p:cNvSpPr/>
            <p:nvPr/>
          </p:nvSpPr>
          <p:spPr>
            <a:xfrm>
              <a:off x="2597400" y="3035880"/>
              <a:ext cx="1783080" cy="2559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300" b="0" i="0" u="none" strike="noStrike" kern="1200" cap="none" spc="0" baseline="0">
                  <a:ln>
                    <a:noFill/>
                  </a:ln>
                  <a:solidFill>
                    <a:srgbClr val="1E293B"/>
                  </a:solidFill>
                  <a:latin typeface="Calibri" pitchFamily="34"/>
                  <a:ea typeface="Calibri" pitchFamily="34"/>
                  <a:cs typeface="Calibri" pitchFamily="34"/>
                </a:rPr>
                <a:t>Business Logic</a:t>
              </a:r>
            </a:p>
          </p:txBody>
        </p:sp>
        <p:sp>
          <p:nvSpPr>
            <p:cNvPr id="27" name="Shape 21"/>
            <p:cNvSpPr/>
            <p:nvPr/>
          </p:nvSpPr>
          <p:spPr>
            <a:xfrm>
              <a:off x="2505960" y="1645920"/>
              <a:ext cx="36720" cy="274320"/>
            </a:xfrm>
            <a:prstGeom prst="rect">
              <a:avLst/>
            </a:prstGeom>
            <a:solidFill>
              <a:srgbClr val="1E5FA8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8" name="Shape 23"/>
            <p:cNvSpPr/>
            <p:nvPr/>
          </p:nvSpPr>
          <p:spPr>
            <a:xfrm>
              <a:off x="2505960" y="2103120"/>
              <a:ext cx="36720" cy="274320"/>
            </a:xfrm>
            <a:prstGeom prst="rect">
              <a:avLst/>
            </a:prstGeom>
            <a:solidFill>
              <a:srgbClr val="1E5FA8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9" name="Shape 25"/>
            <p:cNvSpPr/>
            <p:nvPr/>
          </p:nvSpPr>
          <p:spPr>
            <a:xfrm>
              <a:off x="2505960" y="2560319"/>
              <a:ext cx="36720" cy="274320"/>
            </a:xfrm>
            <a:prstGeom prst="rect">
              <a:avLst/>
            </a:prstGeom>
            <a:solidFill>
              <a:srgbClr val="1E5FA8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0" name="Shape 27"/>
            <p:cNvSpPr/>
            <p:nvPr/>
          </p:nvSpPr>
          <p:spPr>
            <a:xfrm>
              <a:off x="2505960" y="3017520"/>
              <a:ext cx="36720" cy="274320"/>
            </a:xfrm>
            <a:prstGeom prst="rect">
              <a:avLst/>
            </a:prstGeom>
            <a:solidFill>
              <a:srgbClr val="1E5FA8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</p:grpSp>
      <p:sp>
        <p:nvSpPr>
          <p:cNvPr id="31" name="Shape 29"/>
          <p:cNvSpPr/>
          <p:nvPr/>
        </p:nvSpPr>
        <p:spPr>
          <a:xfrm>
            <a:off x="4462200" y="2578680"/>
            <a:ext cx="118800" cy="3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0"/>
              <a:gd name="f8" fmla="abs f3"/>
              <a:gd name="f9" fmla="abs f4"/>
              <a:gd name="f10" fmla="abs f5"/>
              <a:gd name="f11" fmla="val f6"/>
              <a:gd name="f12" fmla="*/ f7 f0 1"/>
              <a:gd name="f13" fmla="?: f8 f3 1"/>
              <a:gd name="f14" fmla="?: f9 f4 1"/>
              <a:gd name="f15" fmla="?: f10 f5 1"/>
              <a:gd name="f16" fmla="*/ f12 1 f2"/>
              <a:gd name="f17" fmla="*/ f13 1 21600"/>
              <a:gd name="f18" fmla="*/ f14 1 21600"/>
              <a:gd name="f19" fmla="*/ 21600 f13 1"/>
              <a:gd name="f20" fmla="*/ 21600 f14 1"/>
              <a:gd name="f21" fmla="+- f16 0 f1"/>
              <a:gd name="f22" fmla="min f18 f17"/>
              <a:gd name="f23" fmla="*/ f19 1 f15"/>
              <a:gd name="f24" fmla="*/ f20 1 f15"/>
              <a:gd name="f25" fmla="val f23"/>
              <a:gd name="f26" fmla="val f24"/>
              <a:gd name="f27" fmla="*/ f6 f22 1"/>
              <a:gd name="f28" fmla="*/ f23 f22 1"/>
              <a:gd name="f29" fmla="*/ f24 f22 1"/>
              <a:gd name="f30" fmla="*/ f11 f22 1"/>
              <a:gd name="f31" fmla="*/ f25 f22 1"/>
              <a:gd name="f32" fmla="*/ f26 f2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1">
                <a:pos x="f30" y="f30"/>
              </a:cxn>
              <a:cxn ang="f21">
                <a:pos x="f31" y="f32"/>
              </a:cxn>
            </a:cxnLst>
            <a:rect l="f27" t="f27" r="f28" b="f29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25560" cap="flat">
            <a:solidFill>
              <a:srgbClr val="64748B"/>
            </a:solidFill>
            <a:prstDash val="solid"/>
            <a:miter/>
          </a:ln>
        </p:spPr>
        <p:txBody>
          <a:bodyPr vert="horz" wrap="square" lIns="102600" tIns="57600" rIns="102600" bIns="576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grpSp>
        <p:nvGrpSpPr>
          <p:cNvPr id="32" name="Grupa 31"/>
          <p:cNvGrpSpPr/>
          <p:nvPr/>
        </p:nvGrpSpPr>
        <p:grpSpPr>
          <a:xfrm>
            <a:off x="4653000" y="1260720"/>
            <a:ext cx="2011680" cy="2323800"/>
            <a:chOff x="4653000" y="1260720"/>
            <a:chExt cx="2011680" cy="2323800"/>
          </a:xfrm>
        </p:grpSpPr>
        <p:sp>
          <p:nvSpPr>
            <p:cNvPr id="33" name="Shape 30"/>
            <p:cNvSpPr/>
            <p:nvPr/>
          </p:nvSpPr>
          <p:spPr>
            <a:xfrm>
              <a:off x="4653000" y="1260720"/>
              <a:ext cx="2011680" cy="327960"/>
            </a:xfrm>
            <a:prstGeom prst="rect">
              <a:avLst/>
            </a:prstGeom>
            <a:solidFill>
              <a:srgbClr val="0D9488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600" b="1" i="0" u="none" strike="noStrike" kern="1200" cap="none" spc="0" baseline="0">
                  <a:ln>
                    <a:noFill/>
                  </a:ln>
                  <a:solidFill>
                    <a:srgbClr val="FFFFFF"/>
                  </a:solidFill>
                  <a:latin typeface="Cambria" pitchFamily="34"/>
                  <a:ea typeface="Cambria" pitchFamily="34"/>
                  <a:cs typeface="Cambria" pitchFamily="34"/>
                </a:rPr>
                <a:t>Data Layer</a:t>
              </a:r>
            </a:p>
          </p:txBody>
        </p:sp>
        <p:sp>
          <p:nvSpPr>
            <p:cNvPr id="34" name="Shape 32"/>
            <p:cNvSpPr/>
            <p:nvPr/>
          </p:nvSpPr>
          <p:spPr>
            <a:xfrm>
              <a:off x="4653000" y="1572840"/>
              <a:ext cx="2011680" cy="2011680"/>
            </a:xfrm>
            <a:prstGeom prst="rect">
              <a:avLst/>
            </a:prstGeom>
            <a:solidFill>
              <a:srgbClr val="FFFFFF"/>
            </a:solidFill>
            <a:ln w="12600" cap="flat">
              <a:solidFill>
                <a:srgbClr val="E2E8F0"/>
              </a:solidFill>
              <a:prstDash val="solid"/>
              <a:miter/>
            </a:ln>
          </p:spPr>
          <p:txBody>
            <a:bodyPr vert="horz" wrap="square" lIns="96120" tIns="51120" rIns="96120" bIns="5112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5" name="Text 34"/>
            <p:cNvSpPr/>
            <p:nvPr/>
          </p:nvSpPr>
          <p:spPr>
            <a:xfrm>
              <a:off x="4835880" y="1664279"/>
              <a:ext cx="1783080" cy="2559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300" b="0" i="0" u="none" strike="noStrike" kern="1200" cap="none" spc="0" baseline="0">
                  <a:ln>
                    <a:noFill/>
                  </a:ln>
                  <a:solidFill>
                    <a:srgbClr val="1E293B"/>
                  </a:solidFill>
                  <a:latin typeface="Calibri" pitchFamily="34"/>
                  <a:ea typeface="Calibri" pitchFamily="34"/>
                  <a:cs typeface="Calibri" pitchFamily="34"/>
                </a:rPr>
                <a:t>Repository Impl.</a:t>
              </a:r>
            </a:p>
          </p:txBody>
        </p:sp>
        <p:sp>
          <p:nvSpPr>
            <p:cNvPr id="36" name="Text 36"/>
            <p:cNvSpPr/>
            <p:nvPr/>
          </p:nvSpPr>
          <p:spPr>
            <a:xfrm>
              <a:off x="4835880" y="2121480"/>
              <a:ext cx="1783080" cy="2559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300" b="0" i="0" u="none" strike="noStrike" kern="1200" cap="none" spc="0" baseline="0">
                  <a:ln>
                    <a:noFill/>
                  </a:ln>
                  <a:solidFill>
                    <a:srgbClr val="1E293B"/>
                  </a:solidFill>
                  <a:latin typeface="Calibri" pitchFamily="34"/>
                  <a:ea typeface="Calibri" pitchFamily="34"/>
                  <a:cs typeface="Calibri" pitchFamily="34"/>
                </a:rPr>
                <a:t>Remote (Retrofit/MQTT)</a:t>
              </a:r>
            </a:p>
          </p:txBody>
        </p:sp>
        <p:sp>
          <p:nvSpPr>
            <p:cNvPr id="37" name="Text 38"/>
            <p:cNvSpPr/>
            <p:nvPr/>
          </p:nvSpPr>
          <p:spPr>
            <a:xfrm>
              <a:off x="4835880" y="2578680"/>
              <a:ext cx="1783080" cy="2559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300" b="0" i="0" u="none" strike="noStrike" kern="1200" cap="none" spc="0" baseline="0">
                  <a:ln>
                    <a:noFill/>
                  </a:ln>
                  <a:solidFill>
                    <a:srgbClr val="1E293B"/>
                  </a:solidFill>
                  <a:latin typeface="Calibri" pitchFamily="34"/>
                  <a:ea typeface="Calibri" pitchFamily="34"/>
                  <a:cs typeface="Calibri" pitchFamily="34"/>
                </a:rPr>
                <a:t>Local (Room Database)</a:t>
              </a:r>
            </a:p>
          </p:txBody>
        </p:sp>
        <p:sp>
          <p:nvSpPr>
            <p:cNvPr id="38" name="Text 40"/>
            <p:cNvSpPr/>
            <p:nvPr/>
          </p:nvSpPr>
          <p:spPr>
            <a:xfrm>
              <a:off x="4835880" y="3035880"/>
              <a:ext cx="1783080" cy="2559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300" b="0" i="0" u="none" strike="noStrike" kern="1200" cap="none" spc="0" baseline="0">
                  <a:ln>
                    <a:noFill/>
                  </a:ln>
                  <a:solidFill>
                    <a:srgbClr val="1E293B"/>
                  </a:solidFill>
                  <a:latin typeface="Calibri" pitchFamily="34"/>
                  <a:ea typeface="Calibri" pitchFamily="34"/>
                  <a:cs typeface="Calibri" pitchFamily="34"/>
                </a:rPr>
                <a:t>WorkManager (background)</a:t>
              </a:r>
            </a:p>
          </p:txBody>
        </p:sp>
        <p:sp>
          <p:nvSpPr>
            <p:cNvPr id="39" name="Shape 33"/>
            <p:cNvSpPr/>
            <p:nvPr/>
          </p:nvSpPr>
          <p:spPr>
            <a:xfrm>
              <a:off x="4708440" y="1645920"/>
              <a:ext cx="36720" cy="274320"/>
            </a:xfrm>
            <a:prstGeom prst="rect">
              <a:avLst/>
            </a:prstGeom>
            <a:solidFill>
              <a:srgbClr val="0D9488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40" name="Shape 35"/>
            <p:cNvSpPr/>
            <p:nvPr/>
          </p:nvSpPr>
          <p:spPr>
            <a:xfrm>
              <a:off x="4708440" y="2103120"/>
              <a:ext cx="36720" cy="274320"/>
            </a:xfrm>
            <a:prstGeom prst="rect">
              <a:avLst/>
            </a:prstGeom>
            <a:solidFill>
              <a:srgbClr val="0D9488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41" name="Shape 37"/>
            <p:cNvSpPr/>
            <p:nvPr/>
          </p:nvSpPr>
          <p:spPr>
            <a:xfrm>
              <a:off x="4708440" y="2560319"/>
              <a:ext cx="36720" cy="274320"/>
            </a:xfrm>
            <a:prstGeom prst="rect">
              <a:avLst/>
            </a:prstGeom>
            <a:solidFill>
              <a:srgbClr val="0D9488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42" name="Shape 39"/>
            <p:cNvSpPr/>
            <p:nvPr/>
          </p:nvSpPr>
          <p:spPr>
            <a:xfrm>
              <a:off x="4708440" y="3017520"/>
              <a:ext cx="36720" cy="274320"/>
            </a:xfrm>
            <a:prstGeom prst="rect">
              <a:avLst/>
            </a:prstGeom>
            <a:solidFill>
              <a:srgbClr val="0D9488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</p:grpSp>
      <p:sp>
        <p:nvSpPr>
          <p:cNvPr id="43" name="Shape 41"/>
          <p:cNvSpPr/>
          <p:nvPr/>
        </p:nvSpPr>
        <p:spPr>
          <a:xfrm>
            <a:off x="6700680" y="2578680"/>
            <a:ext cx="118800" cy="3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0"/>
              <a:gd name="f8" fmla="abs f3"/>
              <a:gd name="f9" fmla="abs f4"/>
              <a:gd name="f10" fmla="abs f5"/>
              <a:gd name="f11" fmla="val f6"/>
              <a:gd name="f12" fmla="*/ f7 f0 1"/>
              <a:gd name="f13" fmla="?: f8 f3 1"/>
              <a:gd name="f14" fmla="?: f9 f4 1"/>
              <a:gd name="f15" fmla="?: f10 f5 1"/>
              <a:gd name="f16" fmla="*/ f12 1 f2"/>
              <a:gd name="f17" fmla="*/ f13 1 21600"/>
              <a:gd name="f18" fmla="*/ f14 1 21600"/>
              <a:gd name="f19" fmla="*/ 21600 f13 1"/>
              <a:gd name="f20" fmla="*/ 21600 f14 1"/>
              <a:gd name="f21" fmla="+- f16 0 f1"/>
              <a:gd name="f22" fmla="min f18 f17"/>
              <a:gd name="f23" fmla="*/ f19 1 f15"/>
              <a:gd name="f24" fmla="*/ f20 1 f15"/>
              <a:gd name="f25" fmla="val f23"/>
              <a:gd name="f26" fmla="val f24"/>
              <a:gd name="f27" fmla="*/ f6 f22 1"/>
              <a:gd name="f28" fmla="*/ f23 f22 1"/>
              <a:gd name="f29" fmla="*/ f24 f22 1"/>
              <a:gd name="f30" fmla="*/ f11 f22 1"/>
              <a:gd name="f31" fmla="*/ f25 f22 1"/>
              <a:gd name="f32" fmla="*/ f26 f2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1">
                <a:pos x="f30" y="f30"/>
              </a:cxn>
              <a:cxn ang="f21">
                <a:pos x="f31" y="f32"/>
              </a:cxn>
            </a:cxnLst>
            <a:rect l="f27" t="f27" r="f28" b="f29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25560" cap="flat">
            <a:solidFill>
              <a:srgbClr val="64748B"/>
            </a:solidFill>
            <a:prstDash val="solid"/>
            <a:miter/>
          </a:ln>
        </p:spPr>
        <p:txBody>
          <a:bodyPr vert="horz" wrap="square" lIns="102600" tIns="57600" rIns="102600" bIns="576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grpSp>
        <p:nvGrpSpPr>
          <p:cNvPr id="44" name="Grupa 43"/>
          <p:cNvGrpSpPr/>
          <p:nvPr/>
        </p:nvGrpSpPr>
        <p:grpSpPr>
          <a:xfrm>
            <a:off x="6891840" y="1260720"/>
            <a:ext cx="2011680" cy="2323800"/>
            <a:chOff x="6891840" y="1260720"/>
            <a:chExt cx="2011680" cy="2323800"/>
          </a:xfrm>
        </p:grpSpPr>
        <p:sp>
          <p:nvSpPr>
            <p:cNvPr id="45" name="Shape 42"/>
            <p:cNvSpPr/>
            <p:nvPr/>
          </p:nvSpPr>
          <p:spPr>
            <a:xfrm>
              <a:off x="6891840" y="1260720"/>
              <a:ext cx="2011680" cy="327960"/>
            </a:xfrm>
            <a:prstGeom prst="rect">
              <a:avLst/>
            </a:prstGeom>
            <a:solidFill>
              <a:srgbClr val="1A254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algn="ctr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600" b="1" i="0" u="none" strike="noStrike" kern="1200" cap="none" spc="0" baseline="0">
                  <a:ln>
                    <a:noFill/>
                  </a:ln>
                  <a:solidFill>
                    <a:srgbClr val="FFFFFF"/>
                  </a:solidFill>
                  <a:latin typeface="Cambria" pitchFamily="34"/>
                  <a:ea typeface="Cambria" pitchFamily="34"/>
                  <a:cs typeface="Cambria" pitchFamily="34"/>
                </a:rPr>
                <a:t>IoT Integration</a:t>
              </a:r>
            </a:p>
          </p:txBody>
        </p:sp>
        <p:sp>
          <p:nvSpPr>
            <p:cNvPr id="46" name="Shape 44"/>
            <p:cNvSpPr/>
            <p:nvPr/>
          </p:nvSpPr>
          <p:spPr>
            <a:xfrm>
              <a:off x="6891840" y="1572840"/>
              <a:ext cx="2011680" cy="2011680"/>
            </a:xfrm>
            <a:prstGeom prst="rect">
              <a:avLst/>
            </a:prstGeom>
            <a:solidFill>
              <a:srgbClr val="FFFFFF"/>
            </a:solidFill>
            <a:ln w="12600" cap="flat">
              <a:solidFill>
                <a:srgbClr val="E2E8F0"/>
              </a:solidFill>
              <a:prstDash val="solid"/>
              <a:miter/>
            </a:ln>
          </p:spPr>
          <p:txBody>
            <a:bodyPr vert="horz" wrap="square" lIns="96120" tIns="51120" rIns="96120" bIns="5112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24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47" name="Shape 45"/>
            <p:cNvSpPr/>
            <p:nvPr/>
          </p:nvSpPr>
          <p:spPr>
            <a:xfrm>
              <a:off x="6983280" y="1645920"/>
              <a:ext cx="36720" cy="274320"/>
            </a:xfrm>
            <a:prstGeom prst="rect">
              <a:avLst/>
            </a:prstGeom>
            <a:solidFill>
              <a:srgbClr val="1A254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48" name="Text 46"/>
            <p:cNvSpPr/>
            <p:nvPr/>
          </p:nvSpPr>
          <p:spPr>
            <a:xfrm>
              <a:off x="7074720" y="1664279"/>
              <a:ext cx="1783080" cy="2559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300" b="0" i="0" u="none" strike="noStrike" kern="1200" cap="none" spc="0" baseline="0">
                  <a:ln>
                    <a:noFill/>
                  </a:ln>
                  <a:solidFill>
                    <a:srgbClr val="1E293B"/>
                  </a:solidFill>
                  <a:latin typeface="Calibri" pitchFamily="34"/>
                  <a:ea typeface="Calibri" pitchFamily="34"/>
                  <a:cs typeface="Calibri" pitchFamily="34"/>
                </a:rPr>
                <a:t>BLE Manager</a:t>
              </a:r>
            </a:p>
          </p:txBody>
        </p:sp>
        <p:sp>
          <p:nvSpPr>
            <p:cNvPr id="49" name="Shape 47"/>
            <p:cNvSpPr/>
            <p:nvPr/>
          </p:nvSpPr>
          <p:spPr>
            <a:xfrm>
              <a:off x="6983280" y="2103120"/>
              <a:ext cx="36720" cy="274320"/>
            </a:xfrm>
            <a:prstGeom prst="rect">
              <a:avLst/>
            </a:prstGeom>
            <a:solidFill>
              <a:srgbClr val="1A254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50" name="Text 48"/>
            <p:cNvSpPr/>
            <p:nvPr/>
          </p:nvSpPr>
          <p:spPr>
            <a:xfrm>
              <a:off x="7074720" y="2121480"/>
              <a:ext cx="1783080" cy="2559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300" b="0" i="0" u="none" strike="noStrike" kern="1200" cap="none" spc="0" baseline="0">
                  <a:ln>
                    <a:noFill/>
                  </a:ln>
                  <a:solidFill>
                    <a:srgbClr val="1E293B"/>
                  </a:solidFill>
                  <a:latin typeface="Calibri" pitchFamily="34"/>
                  <a:ea typeface="Calibri" pitchFamily="34"/>
                  <a:cs typeface="Calibri" pitchFamily="34"/>
                </a:rPr>
                <a:t>MQTT Client Service</a:t>
              </a:r>
            </a:p>
          </p:txBody>
        </p:sp>
        <p:sp>
          <p:nvSpPr>
            <p:cNvPr id="51" name="Shape 49"/>
            <p:cNvSpPr/>
            <p:nvPr/>
          </p:nvSpPr>
          <p:spPr>
            <a:xfrm>
              <a:off x="6983280" y="2560319"/>
              <a:ext cx="36720" cy="274320"/>
            </a:xfrm>
            <a:prstGeom prst="rect">
              <a:avLst/>
            </a:prstGeom>
            <a:solidFill>
              <a:srgbClr val="1A254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52" name="Text 50"/>
            <p:cNvSpPr/>
            <p:nvPr/>
          </p:nvSpPr>
          <p:spPr>
            <a:xfrm>
              <a:off x="7074720" y="2578680"/>
              <a:ext cx="1783080" cy="2559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300" b="0" i="0" u="none" strike="noStrike" kern="1200" cap="none" spc="0" baseline="0">
                  <a:ln>
                    <a:noFill/>
                  </a:ln>
                  <a:solidFill>
                    <a:srgbClr val="1E293B"/>
                  </a:solidFill>
                  <a:latin typeface="Calibri" pitchFamily="34"/>
                  <a:ea typeface="Calibri" pitchFamily="34"/>
                  <a:cs typeface="Calibri" pitchFamily="34"/>
                </a:rPr>
                <a:t>Sensor Data Parser</a:t>
              </a:r>
            </a:p>
          </p:txBody>
        </p:sp>
        <p:sp>
          <p:nvSpPr>
            <p:cNvPr id="53" name="Shape 51"/>
            <p:cNvSpPr/>
            <p:nvPr/>
          </p:nvSpPr>
          <p:spPr>
            <a:xfrm>
              <a:off x="6983280" y="3017520"/>
              <a:ext cx="36720" cy="274320"/>
            </a:xfrm>
            <a:prstGeom prst="rect">
              <a:avLst/>
            </a:prstGeom>
            <a:solidFill>
              <a:srgbClr val="1A254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54" name="Text 52"/>
            <p:cNvSpPr/>
            <p:nvPr/>
          </p:nvSpPr>
          <p:spPr>
            <a:xfrm>
              <a:off x="7074720" y="3035880"/>
              <a:ext cx="1783080" cy="2559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300" b="0" i="0" u="none" strike="noStrike" kern="1200" cap="none" spc="0" baseline="0">
                  <a:ln>
                    <a:noFill/>
                  </a:ln>
                  <a:solidFill>
                    <a:srgbClr val="1E293B"/>
                  </a:solidFill>
                  <a:latin typeface="Calibri" pitchFamily="34"/>
                  <a:ea typeface="Calibri" pitchFamily="34"/>
                  <a:cs typeface="Calibri" pitchFamily="34"/>
                </a:rPr>
                <a:t>OTA Update Manager</a:t>
              </a:r>
            </a:p>
          </p:txBody>
        </p:sp>
      </p:grpSp>
      <p:sp>
        <p:nvSpPr>
          <p:cNvPr id="55" name="Text 53"/>
          <p:cNvSpPr/>
          <p:nvPr/>
        </p:nvSpPr>
        <p:spPr>
          <a:xfrm>
            <a:off x="320040" y="3703319"/>
            <a:ext cx="850392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Kluczowe biblioteki Jetpack dla IoT</a:t>
            </a:r>
          </a:p>
        </p:txBody>
      </p:sp>
      <p:sp>
        <p:nvSpPr>
          <p:cNvPr id="56" name="Shape 54"/>
          <p:cNvSpPr/>
          <p:nvPr/>
        </p:nvSpPr>
        <p:spPr>
          <a:xfrm>
            <a:off x="320040" y="4041719"/>
            <a:ext cx="1325880" cy="658440"/>
          </a:xfrm>
          <a:custGeom>
            <a:avLst>
              <a:gd name="f0" fmla="val 24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320040" y="4105800"/>
            <a:ext cx="132588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0EA5E9"/>
                </a:solidFill>
                <a:latin typeface="Cambria" pitchFamily="34"/>
                <a:ea typeface="Cambria" pitchFamily="34"/>
                <a:cs typeface="Cambria" pitchFamily="34"/>
              </a:rPr>
              <a:t>Hilt</a:t>
            </a:r>
          </a:p>
        </p:txBody>
      </p:sp>
      <p:sp>
        <p:nvSpPr>
          <p:cNvPr id="58" name="Text 56"/>
          <p:cNvSpPr/>
          <p:nvPr/>
        </p:nvSpPr>
        <p:spPr>
          <a:xfrm>
            <a:off x="320040" y="4361760"/>
            <a:ext cx="132588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DI</a:t>
            </a:r>
          </a:p>
        </p:txBody>
      </p:sp>
      <p:sp>
        <p:nvSpPr>
          <p:cNvPr id="59" name="Shape 57"/>
          <p:cNvSpPr/>
          <p:nvPr/>
        </p:nvSpPr>
        <p:spPr>
          <a:xfrm>
            <a:off x="1737359" y="4041719"/>
            <a:ext cx="1325880" cy="658440"/>
          </a:xfrm>
          <a:custGeom>
            <a:avLst>
              <a:gd name="f0" fmla="val 24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737359" y="4105800"/>
            <a:ext cx="132588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0EA5E9"/>
                </a:solidFill>
                <a:latin typeface="Cambria" pitchFamily="34"/>
                <a:ea typeface="Cambria" pitchFamily="34"/>
                <a:cs typeface="Cambria" pitchFamily="34"/>
              </a:rPr>
              <a:t>Coroutines</a:t>
            </a:r>
          </a:p>
        </p:txBody>
      </p:sp>
      <p:sp>
        <p:nvSpPr>
          <p:cNvPr id="61" name="Text 59"/>
          <p:cNvSpPr/>
          <p:nvPr/>
        </p:nvSpPr>
        <p:spPr>
          <a:xfrm>
            <a:off x="1737359" y="4361760"/>
            <a:ext cx="132588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Async</a:t>
            </a:r>
          </a:p>
        </p:txBody>
      </p:sp>
      <p:sp>
        <p:nvSpPr>
          <p:cNvPr id="62" name="Shape 60"/>
          <p:cNvSpPr/>
          <p:nvPr/>
        </p:nvSpPr>
        <p:spPr>
          <a:xfrm>
            <a:off x="3154680" y="4041719"/>
            <a:ext cx="1325880" cy="658440"/>
          </a:xfrm>
          <a:custGeom>
            <a:avLst>
              <a:gd name="f0" fmla="val 24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3154680" y="4105800"/>
            <a:ext cx="132588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0EA5E9"/>
                </a:solidFill>
                <a:latin typeface="Cambria" pitchFamily="34"/>
                <a:ea typeface="Cambria" pitchFamily="34"/>
                <a:cs typeface="Cambria" pitchFamily="34"/>
              </a:rPr>
              <a:t>Room</a:t>
            </a:r>
          </a:p>
        </p:txBody>
      </p:sp>
      <p:sp>
        <p:nvSpPr>
          <p:cNvPr id="64" name="Text 62"/>
          <p:cNvSpPr/>
          <p:nvPr/>
        </p:nvSpPr>
        <p:spPr>
          <a:xfrm>
            <a:off x="3154680" y="4361760"/>
            <a:ext cx="132588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Lokalna DB</a:t>
            </a:r>
          </a:p>
        </p:txBody>
      </p:sp>
      <p:sp>
        <p:nvSpPr>
          <p:cNvPr id="65" name="Shape 63"/>
          <p:cNvSpPr/>
          <p:nvPr/>
        </p:nvSpPr>
        <p:spPr>
          <a:xfrm>
            <a:off x="4572000" y="4041719"/>
            <a:ext cx="1325880" cy="658440"/>
          </a:xfrm>
          <a:custGeom>
            <a:avLst>
              <a:gd name="f0" fmla="val 24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4572000" y="4105800"/>
            <a:ext cx="132588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0EA5E9"/>
                </a:solidFill>
                <a:latin typeface="Cambria" pitchFamily="34"/>
                <a:ea typeface="Cambria" pitchFamily="34"/>
                <a:cs typeface="Cambria" pitchFamily="34"/>
              </a:rPr>
              <a:t>WorkManager</a:t>
            </a:r>
          </a:p>
        </p:txBody>
      </p:sp>
      <p:sp>
        <p:nvSpPr>
          <p:cNvPr id="67" name="Text 65"/>
          <p:cNvSpPr/>
          <p:nvPr/>
        </p:nvSpPr>
        <p:spPr>
          <a:xfrm>
            <a:off x="4572000" y="4361760"/>
            <a:ext cx="132588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Background</a:t>
            </a:r>
          </a:p>
        </p:txBody>
      </p:sp>
      <p:sp>
        <p:nvSpPr>
          <p:cNvPr id="68" name="Shape 66"/>
          <p:cNvSpPr/>
          <p:nvPr/>
        </p:nvSpPr>
        <p:spPr>
          <a:xfrm>
            <a:off x="5989320" y="4041719"/>
            <a:ext cx="1325880" cy="658440"/>
          </a:xfrm>
          <a:custGeom>
            <a:avLst>
              <a:gd name="f0" fmla="val 24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5989320" y="4105800"/>
            <a:ext cx="132588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0EA5E9"/>
                </a:solidFill>
                <a:latin typeface="Cambria" pitchFamily="34"/>
                <a:ea typeface="Cambria" pitchFamily="34"/>
                <a:cs typeface="Cambria" pitchFamily="34"/>
              </a:rPr>
              <a:t>DataStore</a:t>
            </a:r>
          </a:p>
        </p:txBody>
      </p:sp>
      <p:sp>
        <p:nvSpPr>
          <p:cNvPr id="70" name="Text 68"/>
          <p:cNvSpPr/>
          <p:nvPr/>
        </p:nvSpPr>
        <p:spPr>
          <a:xfrm>
            <a:off x="5989320" y="4361760"/>
            <a:ext cx="132588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Preferences</a:t>
            </a:r>
          </a:p>
        </p:txBody>
      </p:sp>
      <p:sp>
        <p:nvSpPr>
          <p:cNvPr id="71" name="Shape 69"/>
          <p:cNvSpPr/>
          <p:nvPr/>
        </p:nvSpPr>
        <p:spPr>
          <a:xfrm>
            <a:off x="7406640" y="4041719"/>
            <a:ext cx="1325880" cy="658440"/>
          </a:xfrm>
          <a:custGeom>
            <a:avLst>
              <a:gd name="f0" fmla="val 24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7406640" y="4105800"/>
            <a:ext cx="132588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0EA5E9"/>
                </a:solidFill>
                <a:latin typeface="Cambria" pitchFamily="34"/>
                <a:ea typeface="Cambria" pitchFamily="34"/>
                <a:cs typeface="Cambria" pitchFamily="34"/>
              </a:rPr>
              <a:t>CameraX</a:t>
            </a:r>
          </a:p>
        </p:txBody>
      </p:sp>
      <p:sp>
        <p:nvSpPr>
          <p:cNvPr id="73" name="Text 71"/>
          <p:cNvSpPr/>
          <p:nvPr/>
        </p:nvSpPr>
        <p:spPr>
          <a:xfrm>
            <a:off x="7406640" y="4361760"/>
            <a:ext cx="132588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AR/Vision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44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440"/>
            <a:ext cx="914400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36720"/>
            <a:ext cx="8412480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iOS Development dla IoT, Swift i Apple Frameworks</a:t>
            </a: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777239"/>
            <a:ext cx="416052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Frameworki Apple dla IoT</a:t>
            </a:r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4160520" cy="6948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64080" cy="69480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1098360"/>
            <a:ext cx="39776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HomeKit</a:t>
            </a:r>
          </a:p>
        </p:txBody>
      </p:sp>
      <p:sp>
        <p:nvSpPr>
          <p:cNvPr id="11" name="Text 9"/>
          <p:cNvSpPr/>
          <p:nvPr/>
        </p:nvSpPr>
        <p:spPr>
          <a:xfrm>
            <a:off x="457200" y="1373399"/>
            <a:ext cx="3977640" cy="319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Oficjalne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API Apple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dla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smart home —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bezpieczna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komunikacja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z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urządzeniami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certyfikowanymi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przez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Apple (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MFi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)</a:t>
            </a:r>
          </a:p>
        </p:txBody>
      </p:sp>
      <p:sp>
        <p:nvSpPr>
          <p:cNvPr id="12" name="Shape 10"/>
          <p:cNvSpPr/>
          <p:nvPr/>
        </p:nvSpPr>
        <p:spPr>
          <a:xfrm>
            <a:off x="320040" y="1865519"/>
            <a:ext cx="4160520" cy="6948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1865519"/>
            <a:ext cx="64080" cy="69480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1902600"/>
            <a:ext cx="39776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CoreBluetooth</a:t>
            </a:r>
          </a:p>
        </p:txBody>
      </p:sp>
      <p:sp>
        <p:nvSpPr>
          <p:cNvPr id="15" name="Text 13"/>
          <p:cNvSpPr/>
          <p:nvPr/>
        </p:nvSpPr>
        <p:spPr>
          <a:xfrm>
            <a:off x="457200" y="2141279"/>
            <a:ext cx="3977640" cy="33875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BLE scanning, pairing, GATT services discovery —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pełna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kontrola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połączeń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BLE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na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poziomie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systemu</a:t>
            </a:r>
            <a:endParaRPr lang="en-US" sz="1200" b="0" i="0" u="none" strike="noStrike" kern="1200" cap="none" spc="0" baseline="0" dirty="0">
              <a:ln>
                <a:noFill/>
              </a:ln>
              <a:solidFill>
                <a:srgbClr val="475569"/>
              </a:solidFill>
              <a:latin typeface="Calibri" pitchFamily="34"/>
              <a:ea typeface="Calibri" pitchFamily="34"/>
              <a:cs typeface="Calibri" pitchFamily="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" y="2633400"/>
            <a:ext cx="4160520" cy="6948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2633400"/>
            <a:ext cx="64080" cy="694800"/>
          </a:xfrm>
          <a:prstGeom prst="rect">
            <a:avLst/>
          </a:prstGeom>
          <a:solidFill>
            <a:srgbClr val="10B981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2634480"/>
            <a:ext cx="39776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Network.framework</a:t>
            </a:r>
          </a:p>
        </p:txBody>
      </p:sp>
      <p:sp>
        <p:nvSpPr>
          <p:cNvPr id="19" name="Text 17"/>
          <p:cNvSpPr/>
          <p:nvPr/>
        </p:nvSpPr>
        <p:spPr>
          <a:xfrm>
            <a:off x="457200" y="2909519"/>
            <a:ext cx="3977640" cy="31752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TLS, TCP/UDP sockets,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WebSocket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—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zastępuje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BSD sockets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nowoczesnym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Swift API</a:t>
            </a:r>
          </a:p>
        </p:txBody>
      </p:sp>
      <p:sp>
        <p:nvSpPr>
          <p:cNvPr id="20" name="Shape 18"/>
          <p:cNvSpPr/>
          <p:nvPr/>
        </p:nvSpPr>
        <p:spPr>
          <a:xfrm>
            <a:off x="320040" y="3401640"/>
            <a:ext cx="4160520" cy="6948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" y="3401640"/>
            <a:ext cx="64080" cy="69480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" y="3402720"/>
            <a:ext cx="39776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Combine / async-await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3677758"/>
            <a:ext cx="3977640" cy="29268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Reaktywne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strumienie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danych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z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urządzeń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IoT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,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asynchroniczne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operacje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sieciowe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(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URLSession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async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)</a:t>
            </a:r>
          </a:p>
        </p:txBody>
      </p:sp>
      <p:sp>
        <p:nvSpPr>
          <p:cNvPr id="24" name="Shape 22"/>
          <p:cNvSpPr/>
          <p:nvPr/>
        </p:nvSpPr>
        <p:spPr>
          <a:xfrm>
            <a:off x="320040" y="4169520"/>
            <a:ext cx="4160520" cy="6948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0040" y="4169520"/>
            <a:ext cx="64080" cy="69480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7200" y="4170960"/>
            <a:ext cx="39776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Core Data + CloudKit</a:t>
            </a:r>
          </a:p>
        </p:txBody>
      </p:sp>
      <p:sp>
        <p:nvSpPr>
          <p:cNvPr id="27" name="Text 25"/>
          <p:cNvSpPr/>
          <p:nvPr/>
        </p:nvSpPr>
        <p:spPr>
          <a:xfrm>
            <a:off x="457200" y="4445639"/>
            <a:ext cx="3977640" cy="33840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Lokalne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przechowywanie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danych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telemetrycznych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+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synchronizacja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z iCloud</a:t>
            </a:r>
          </a:p>
        </p:txBody>
      </p:sp>
      <p:sp>
        <p:nvSpPr>
          <p:cNvPr id="28" name="Text 26"/>
          <p:cNvSpPr/>
          <p:nvPr/>
        </p:nvSpPr>
        <p:spPr>
          <a:xfrm>
            <a:off x="5040000" y="777239"/>
            <a:ext cx="382967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Przykład CoreBluetooth (Swift)</a:t>
            </a:r>
          </a:p>
        </p:txBody>
      </p:sp>
      <p:sp>
        <p:nvSpPr>
          <p:cNvPr id="29" name="Shape 27"/>
          <p:cNvSpPr/>
          <p:nvPr/>
        </p:nvSpPr>
        <p:spPr>
          <a:xfrm>
            <a:off x="5040000" y="1097280"/>
            <a:ext cx="3829679" cy="3762720"/>
          </a:xfrm>
          <a:prstGeom prst="rect">
            <a:avLst/>
          </a:prstGeom>
          <a:solidFill>
            <a:srgbClr val="0F172A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220000" y="1170360"/>
            <a:ext cx="3603959" cy="3355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class IoTManager: NSObject, CBCentralManagerDelegate,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CBPeripheralDelegate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var centralManager: CBCentralManager!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var peripheral: CBPeripheral?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let sensorServiceUUID = CBUUID(string: "180D")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let tempCharUUID = CBUUID(string: "2A1C")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func centralManagerDidUpdateState(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_ central: CBCentralManager)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if central.state == .poweredOn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central.scanForPeripherals(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  withServices: [sensorServiceUUID])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func peripheral(_ peripheral: CBPeripheral,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didUpdateValueFor char: CBCharacteristic,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error: Error?)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if let data = char.value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let temp = data.withUnsafeBytes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  $0.load(as: Int16.self)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DispatchQueue.main.async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  self.temperature = Double(temp) / 100.0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44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440"/>
            <a:ext cx="914400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36720"/>
            <a:ext cx="8412480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Programowanie Cross-Platform dla IoT: Flutter i React Native</a:t>
            </a: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777239"/>
            <a:ext cx="841248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Jedna baza kodu dla Android i iOS — kluczowe zalety przy ograniczonych zasobach zespołowych</a:t>
            </a:r>
          </a:p>
        </p:txBody>
      </p:sp>
      <p:sp>
        <p:nvSpPr>
          <p:cNvPr id="8" name="Shape 6"/>
          <p:cNvSpPr/>
          <p:nvPr/>
        </p:nvSpPr>
        <p:spPr>
          <a:xfrm>
            <a:off x="320040" y="1170360"/>
            <a:ext cx="2743199" cy="38412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1216079"/>
            <a:ext cx="2743199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Flutter (Dart)</a:t>
            </a:r>
          </a:p>
        </p:txBody>
      </p:sp>
      <p:sp>
        <p:nvSpPr>
          <p:cNvPr id="10" name="Shape 8"/>
          <p:cNvSpPr/>
          <p:nvPr/>
        </p:nvSpPr>
        <p:spPr>
          <a:xfrm>
            <a:off x="320040" y="1554479"/>
            <a:ext cx="2743199" cy="301752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9840" y="1664279"/>
            <a:ext cx="128160" cy="128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1720" y="1645920"/>
            <a:ext cx="2377439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Silnik Skia/Impeller — własne renderowanie</a:t>
            </a:r>
          </a:p>
        </p:txBody>
      </p:sp>
      <p:sp>
        <p:nvSpPr>
          <p:cNvPr id="13" name="Shape 11"/>
          <p:cNvSpPr/>
          <p:nvPr/>
        </p:nvSpPr>
        <p:spPr>
          <a:xfrm>
            <a:off x="429840" y="2121480"/>
            <a:ext cx="128160" cy="128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720" y="2103120"/>
            <a:ext cx="2377439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Hot reload — szybkie iteracje</a:t>
            </a:r>
          </a:p>
        </p:txBody>
      </p:sp>
      <p:sp>
        <p:nvSpPr>
          <p:cNvPr id="15" name="Shape 13"/>
          <p:cNvSpPr/>
          <p:nvPr/>
        </p:nvSpPr>
        <p:spPr>
          <a:xfrm>
            <a:off x="429840" y="2578680"/>
            <a:ext cx="128160" cy="128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1720" y="2560319"/>
            <a:ext cx="2377439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flutter_blue_plus (BLE)</a:t>
            </a:r>
          </a:p>
        </p:txBody>
      </p:sp>
      <p:sp>
        <p:nvSpPr>
          <p:cNvPr id="17" name="Shape 15"/>
          <p:cNvSpPr/>
          <p:nvPr/>
        </p:nvSpPr>
        <p:spPr>
          <a:xfrm>
            <a:off x="429840" y="3035880"/>
            <a:ext cx="128160" cy="128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1720" y="3017520"/>
            <a:ext cx="2377439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mqtt_client package</a:t>
            </a:r>
          </a:p>
        </p:txBody>
      </p:sp>
      <p:sp>
        <p:nvSpPr>
          <p:cNvPr id="19" name="Shape 17"/>
          <p:cNvSpPr/>
          <p:nvPr/>
        </p:nvSpPr>
        <p:spPr>
          <a:xfrm>
            <a:off x="429840" y="3493080"/>
            <a:ext cx="128160" cy="128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1720" y="3474720"/>
            <a:ext cx="2377439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Doskonała wydajność UI</a:t>
            </a:r>
          </a:p>
        </p:txBody>
      </p:sp>
      <p:sp>
        <p:nvSpPr>
          <p:cNvPr id="21" name="Shape 19"/>
          <p:cNvSpPr/>
          <p:nvPr/>
        </p:nvSpPr>
        <p:spPr>
          <a:xfrm>
            <a:off x="429840" y="3950280"/>
            <a:ext cx="128160" cy="128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1720" y="3931920"/>
            <a:ext cx="2377439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Rosnące wsparcie IoT ecosystem</a:t>
            </a:r>
          </a:p>
        </p:txBody>
      </p:sp>
      <p:sp>
        <p:nvSpPr>
          <p:cNvPr id="23" name="Shape 21"/>
          <p:cNvSpPr/>
          <p:nvPr/>
        </p:nvSpPr>
        <p:spPr>
          <a:xfrm>
            <a:off x="3200400" y="1170360"/>
            <a:ext cx="2743199" cy="38412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200400" y="1216079"/>
            <a:ext cx="2743199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React Native (JS/TS)</a:t>
            </a:r>
          </a:p>
        </p:txBody>
      </p:sp>
      <p:sp>
        <p:nvSpPr>
          <p:cNvPr id="25" name="Shape 23"/>
          <p:cNvSpPr/>
          <p:nvPr/>
        </p:nvSpPr>
        <p:spPr>
          <a:xfrm>
            <a:off x="3200400" y="1554479"/>
            <a:ext cx="2743199" cy="301752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310200" y="1664279"/>
            <a:ext cx="128160" cy="128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502079" y="1645920"/>
            <a:ext cx="2377439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Bridge → JSI → Native Modules</a:t>
            </a:r>
          </a:p>
        </p:txBody>
      </p:sp>
      <p:sp>
        <p:nvSpPr>
          <p:cNvPr id="28" name="Shape 26"/>
          <p:cNvSpPr/>
          <p:nvPr/>
        </p:nvSpPr>
        <p:spPr>
          <a:xfrm>
            <a:off x="3310200" y="2121480"/>
            <a:ext cx="128160" cy="128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502079" y="2103120"/>
            <a:ext cx="2377439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Ogromny ekosystem npm</a:t>
            </a:r>
          </a:p>
        </p:txBody>
      </p:sp>
      <p:sp>
        <p:nvSpPr>
          <p:cNvPr id="30" name="Shape 28"/>
          <p:cNvSpPr/>
          <p:nvPr/>
        </p:nvSpPr>
        <p:spPr>
          <a:xfrm>
            <a:off x="3310200" y="2578680"/>
            <a:ext cx="128160" cy="128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502079" y="2560319"/>
            <a:ext cx="2377439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react-native-ble-plx</a:t>
            </a:r>
          </a:p>
        </p:txBody>
      </p:sp>
      <p:sp>
        <p:nvSpPr>
          <p:cNvPr id="32" name="Shape 30"/>
          <p:cNvSpPr/>
          <p:nvPr/>
        </p:nvSpPr>
        <p:spPr>
          <a:xfrm>
            <a:off x="3310200" y="3035880"/>
            <a:ext cx="128160" cy="128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502079" y="3017520"/>
            <a:ext cx="2377439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Łatwiejsze dla web developerów</a:t>
            </a:r>
          </a:p>
        </p:txBody>
      </p:sp>
      <p:sp>
        <p:nvSpPr>
          <p:cNvPr id="34" name="Shape 32"/>
          <p:cNvSpPr/>
          <p:nvPr/>
        </p:nvSpPr>
        <p:spPr>
          <a:xfrm>
            <a:off x="3310200" y="3493080"/>
            <a:ext cx="128160" cy="128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502079" y="3474720"/>
            <a:ext cx="2377439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Hermes engine (szybki JS)</a:t>
            </a:r>
          </a:p>
        </p:txBody>
      </p:sp>
      <p:sp>
        <p:nvSpPr>
          <p:cNvPr id="36" name="Shape 34"/>
          <p:cNvSpPr/>
          <p:nvPr/>
        </p:nvSpPr>
        <p:spPr>
          <a:xfrm>
            <a:off x="3310200" y="3950280"/>
            <a:ext cx="128160" cy="128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502079" y="3931920"/>
            <a:ext cx="2377439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Expo — szybki start projektu</a:t>
            </a:r>
          </a:p>
        </p:txBody>
      </p:sp>
      <p:sp>
        <p:nvSpPr>
          <p:cNvPr id="38" name="Shape 36"/>
          <p:cNvSpPr/>
          <p:nvPr/>
        </p:nvSpPr>
        <p:spPr>
          <a:xfrm>
            <a:off x="6080760" y="1170360"/>
            <a:ext cx="2743199" cy="3841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080760" y="1216079"/>
            <a:ext cx="2743199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Kotlin Multiplatform</a:t>
            </a:r>
          </a:p>
        </p:txBody>
      </p:sp>
      <p:sp>
        <p:nvSpPr>
          <p:cNvPr id="40" name="Shape 38"/>
          <p:cNvSpPr/>
          <p:nvPr/>
        </p:nvSpPr>
        <p:spPr>
          <a:xfrm>
            <a:off x="6080760" y="1554479"/>
            <a:ext cx="2743199" cy="301752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190560" y="1664279"/>
            <a:ext cx="128160" cy="128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382440" y="1645920"/>
            <a:ext cx="2377439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Współdzielona logika biznesowa</a:t>
            </a:r>
          </a:p>
        </p:txBody>
      </p:sp>
      <p:sp>
        <p:nvSpPr>
          <p:cNvPr id="43" name="Shape 41"/>
          <p:cNvSpPr/>
          <p:nvPr/>
        </p:nvSpPr>
        <p:spPr>
          <a:xfrm>
            <a:off x="6190560" y="2121480"/>
            <a:ext cx="128160" cy="128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382440" y="2103120"/>
            <a:ext cx="2377439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Native UI (Compose/SwiftUI)</a:t>
            </a:r>
          </a:p>
        </p:txBody>
      </p:sp>
      <p:sp>
        <p:nvSpPr>
          <p:cNvPr id="45" name="Shape 43"/>
          <p:cNvSpPr/>
          <p:nvPr/>
        </p:nvSpPr>
        <p:spPr>
          <a:xfrm>
            <a:off x="6190560" y="2578680"/>
            <a:ext cx="128160" cy="128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382440" y="2560319"/>
            <a:ext cx="2377439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Ktor klient HTTP/WebSocket</a:t>
            </a:r>
          </a:p>
        </p:txBody>
      </p:sp>
      <p:sp>
        <p:nvSpPr>
          <p:cNvPr id="47" name="Shape 45"/>
          <p:cNvSpPr/>
          <p:nvPr/>
        </p:nvSpPr>
        <p:spPr>
          <a:xfrm>
            <a:off x="6190560" y="3035880"/>
            <a:ext cx="128160" cy="128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382440" y="3017520"/>
            <a:ext cx="2377439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100% dostęp do natywnych API</a:t>
            </a:r>
          </a:p>
        </p:txBody>
      </p:sp>
      <p:sp>
        <p:nvSpPr>
          <p:cNvPr id="49" name="Shape 47"/>
          <p:cNvSpPr/>
          <p:nvPr/>
        </p:nvSpPr>
        <p:spPr>
          <a:xfrm>
            <a:off x="6190560" y="3493080"/>
            <a:ext cx="128160" cy="128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382440" y="3474720"/>
            <a:ext cx="2377439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Najlepszy wybór dla krytycznych zastosowań</a:t>
            </a:r>
          </a:p>
        </p:txBody>
      </p:sp>
      <p:sp>
        <p:nvSpPr>
          <p:cNvPr id="51" name="Shape 49"/>
          <p:cNvSpPr/>
          <p:nvPr/>
        </p:nvSpPr>
        <p:spPr>
          <a:xfrm>
            <a:off x="6190560" y="3950280"/>
            <a:ext cx="128160" cy="128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382440" y="3931920"/>
            <a:ext cx="2377439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Wsparcie JetBrains + Google</a:t>
            </a:r>
          </a:p>
        </p:txBody>
      </p:sp>
      <p:sp>
        <p:nvSpPr>
          <p:cNvPr id="53" name="Text 51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Wskazówka: Dla projektu z intensywnym BLE i wymaganą wysoką wydajnością → Flutter lub KMP. Dla szybkich prototypów i dużych zespołów webowych → React Native.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44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440"/>
            <a:ext cx="914400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36720"/>
            <a:ext cx="8412480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Przetwarzanie Danych z Czujników w aplikacji mobilnej</a:t>
            </a: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777239"/>
            <a:ext cx="850392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Pipeline przetwarzania danych IoT:</a:t>
            </a:r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2743199" cy="12618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2743199" cy="3841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1207080"/>
            <a:ext cx="2606040" cy="292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1. Odbiór</a:t>
            </a:r>
          </a:p>
        </p:txBody>
      </p:sp>
      <p:sp>
        <p:nvSpPr>
          <p:cNvPr id="11" name="Text 9"/>
          <p:cNvSpPr/>
          <p:nvPr/>
        </p:nvSpPr>
        <p:spPr>
          <a:xfrm>
            <a:off x="411480" y="1600200"/>
            <a:ext cx="2606040" cy="749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BLE Callback / MQTT onMessage / WebSocket onMessage</a:t>
            </a:r>
          </a:p>
        </p:txBody>
      </p:sp>
      <p:sp>
        <p:nvSpPr>
          <p:cNvPr id="12" name="Text 10"/>
          <p:cNvSpPr/>
          <p:nvPr/>
        </p:nvSpPr>
        <p:spPr>
          <a:xfrm>
            <a:off x="3017520" y="1508760"/>
            <a:ext cx="18288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spc="0" baseline="0">
                <a:ln>
                  <a:noFill/>
                </a:ln>
                <a:solidFill>
                  <a:srgbClr val="64748B"/>
                </a:solidFill>
                <a:latin typeface="Calibri" pitchFamily="34"/>
                <a:ea typeface="Calibri" pitchFamily="34"/>
                <a:cs typeface="Calibri" pitchFamily="34"/>
              </a:rPr>
              <a:t>›</a:t>
            </a:r>
          </a:p>
        </p:txBody>
      </p:sp>
      <p:sp>
        <p:nvSpPr>
          <p:cNvPr id="13" name="Shape 11"/>
          <p:cNvSpPr/>
          <p:nvPr/>
        </p:nvSpPr>
        <p:spPr>
          <a:xfrm>
            <a:off x="3200400" y="1143000"/>
            <a:ext cx="2743199" cy="12618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0" y="1143000"/>
            <a:ext cx="2743199" cy="38412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91839" y="1207080"/>
            <a:ext cx="2606040" cy="292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2. Parsowanie</a:t>
            </a:r>
          </a:p>
        </p:txBody>
      </p:sp>
      <p:sp>
        <p:nvSpPr>
          <p:cNvPr id="16" name="Text 14"/>
          <p:cNvSpPr/>
          <p:nvPr/>
        </p:nvSpPr>
        <p:spPr>
          <a:xfrm>
            <a:off x="3291839" y="1600200"/>
            <a:ext cx="2606040" cy="749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Deserializacja JSON/Protocol Buffers/CBOR → obiekt domenowy</a:t>
            </a:r>
          </a:p>
        </p:txBody>
      </p:sp>
      <p:sp>
        <p:nvSpPr>
          <p:cNvPr id="17" name="Text 15"/>
          <p:cNvSpPr/>
          <p:nvPr/>
        </p:nvSpPr>
        <p:spPr>
          <a:xfrm>
            <a:off x="5897880" y="1508760"/>
            <a:ext cx="18288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spc="0" baseline="0">
                <a:ln>
                  <a:noFill/>
                </a:ln>
                <a:solidFill>
                  <a:srgbClr val="64748B"/>
                </a:solidFill>
                <a:latin typeface="Calibri" pitchFamily="34"/>
                <a:ea typeface="Calibri" pitchFamily="34"/>
                <a:cs typeface="Calibri" pitchFamily="34"/>
              </a:rPr>
              <a:t>›</a:t>
            </a:r>
          </a:p>
        </p:txBody>
      </p:sp>
      <p:sp>
        <p:nvSpPr>
          <p:cNvPr id="18" name="Shape 16"/>
          <p:cNvSpPr/>
          <p:nvPr/>
        </p:nvSpPr>
        <p:spPr>
          <a:xfrm>
            <a:off x="6080760" y="1143000"/>
            <a:ext cx="2743199" cy="12618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80760" y="1143000"/>
            <a:ext cx="2743199" cy="38412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72200" y="1207080"/>
            <a:ext cx="2606040" cy="292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3. Walidacja</a:t>
            </a:r>
          </a:p>
        </p:txBody>
      </p:sp>
      <p:sp>
        <p:nvSpPr>
          <p:cNvPr id="21" name="Text 19"/>
          <p:cNvSpPr/>
          <p:nvPr/>
        </p:nvSpPr>
        <p:spPr>
          <a:xfrm>
            <a:off x="6172200" y="1600200"/>
            <a:ext cx="2606040" cy="749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Zakres wartości, timestamp, integralność danych, outlier detection</a:t>
            </a:r>
          </a:p>
        </p:txBody>
      </p:sp>
      <p:sp>
        <p:nvSpPr>
          <p:cNvPr id="22" name="Shape 20"/>
          <p:cNvSpPr/>
          <p:nvPr/>
        </p:nvSpPr>
        <p:spPr>
          <a:xfrm>
            <a:off x="320040" y="2560319"/>
            <a:ext cx="2743199" cy="12618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0040" y="2560319"/>
            <a:ext cx="2743199" cy="384120"/>
          </a:xfrm>
          <a:prstGeom prst="rect">
            <a:avLst/>
          </a:prstGeom>
          <a:solidFill>
            <a:srgbClr val="10B981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11480" y="2624400"/>
            <a:ext cx="2606040" cy="292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1" i="0" u="none" strike="noStrike" kern="1200" cap="none" spc="0" baseline="0" dirty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4. </a:t>
            </a:r>
            <a:r>
              <a:rPr lang="en-US" sz="1600" b="1" i="0" u="none" strike="noStrike" kern="1200" cap="none" spc="0" baseline="0" dirty="0" err="1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Filtrowanie</a:t>
            </a:r>
            <a:endParaRPr lang="en-US" sz="1600" b="1" i="0" u="none" strike="noStrike" kern="1200" cap="none" spc="0" baseline="0" dirty="0">
              <a:ln>
                <a:noFill/>
              </a:ln>
              <a:solidFill>
                <a:srgbClr val="FFFFFF"/>
              </a:solidFill>
              <a:latin typeface="Cambria" pitchFamily="34"/>
              <a:ea typeface="Cambria" pitchFamily="34"/>
              <a:cs typeface="Cambria" pitchFamily="3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11480" y="3017520"/>
            <a:ext cx="2606040" cy="749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Kalmański, moving average, Savitzky-Golay — redukcja szumu</a:t>
            </a:r>
          </a:p>
        </p:txBody>
      </p:sp>
      <p:sp>
        <p:nvSpPr>
          <p:cNvPr id="26" name="Text 24"/>
          <p:cNvSpPr/>
          <p:nvPr/>
        </p:nvSpPr>
        <p:spPr>
          <a:xfrm>
            <a:off x="3017520" y="2926079"/>
            <a:ext cx="18288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spc="0" baseline="0">
                <a:ln>
                  <a:noFill/>
                </a:ln>
                <a:solidFill>
                  <a:srgbClr val="64748B"/>
                </a:solidFill>
                <a:latin typeface="Calibri" pitchFamily="34"/>
                <a:ea typeface="Calibri" pitchFamily="34"/>
                <a:cs typeface="Calibri" pitchFamily="34"/>
              </a:rPr>
              <a:t>›</a:t>
            </a:r>
          </a:p>
        </p:txBody>
      </p:sp>
      <p:sp>
        <p:nvSpPr>
          <p:cNvPr id="27" name="Shape 25"/>
          <p:cNvSpPr/>
          <p:nvPr/>
        </p:nvSpPr>
        <p:spPr>
          <a:xfrm>
            <a:off x="3200400" y="2560319"/>
            <a:ext cx="2743199" cy="12618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200400" y="2560319"/>
            <a:ext cx="2743199" cy="384120"/>
          </a:xfrm>
          <a:prstGeom prst="rect">
            <a:avLst/>
          </a:prstGeom>
          <a:solidFill>
            <a:srgbClr val="F59E0B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291839" y="2624400"/>
            <a:ext cx="2606040" cy="292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5. Agregacja</a:t>
            </a:r>
          </a:p>
        </p:txBody>
      </p:sp>
      <p:sp>
        <p:nvSpPr>
          <p:cNvPr id="30" name="Text 28"/>
          <p:cNvSpPr/>
          <p:nvPr/>
        </p:nvSpPr>
        <p:spPr>
          <a:xfrm>
            <a:off x="3291839" y="3017520"/>
            <a:ext cx="2606040" cy="749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Min/Max/Avg w oknie czasowym, downsampling przed wizualizacją</a:t>
            </a:r>
          </a:p>
        </p:txBody>
      </p:sp>
      <p:sp>
        <p:nvSpPr>
          <p:cNvPr id="31" name="Text 29"/>
          <p:cNvSpPr/>
          <p:nvPr/>
        </p:nvSpPr>
        <p:spPr>
          <a:xfrm>
            <a:off x="5897880" y="2926079"/>
            <a:ext cx="18288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spc="0" baseline="0">
                <a:ln>
                  <a:noFill/>
                </a:ln>
                <a:solidFill>
                  <a:srgbClr val="64748B"/>
                </a:solidFill>
                <a:latin typeface="Calibri" pitchFamily="34"/>
                <a:ea typeface="Calibri" pitchFamily="34"/>
                <a:cs typeface="Calibri" pitchFamily="34"/>
              </a:rPr>
              <a:t>›</a:t>
            </a:r>
          </a:p>
        </p:txBody>
      </p:sp>
      <p:sp>
        <p:nvSpPr>
          <p:cNvPr id="32" name="Shape 30"/>
          <p:cNvSpPr/>
          <p:nvPr/>
        </p:nvSpPr>
        <p:spPr>
          <a:xfrm>
            <a:off x="6080760" y="2560319"/>
            <a:ext cx="2743199" cy="12618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080760" y="2560319"/>
            <a:ext cx="2743199" cy="38412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72200" y="2624400"/>
            <a:ext cx="2606040" cy="292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6. Wizualizacja</a:t>
            </a:r>
          </a:p>
        </p:txBody>
      </p:sp>
      <p:sp>
        <p:nvSpPr>
          <p:cNvPr id="35" name="Text 33"/>
          <p:cNvSpPr/>
          <p:nvPr/>
        </p:nvSpPr>
        <p:spPr>
          <a:xfrm>
            <a:off x="6172200" y="3017520"/>
            <a:ext cx="2606040" cy="749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Wykres real-time (MPAndroidChart, Charts dla iOS), dashboard</a:t>
            </a:r>
          </a:p>
        </p:txBody>
      </p:sp>
      <p:sp>
        <p:nvSpPr>
          <p:cNvPr id="36" name="Text 34"/>
          <p:cNvSpPr/>
          <p:nvPr/>
        </p:nvSpPr>
        <p:spPr>
          <a:xfrm>
            <a:off x="320040" y="4297860"/>
            <a:ext cx="8503920" cy="43884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Kluczowe</a:t>
            </a:r>
            <a:r>
              <a:rPr lang="en-US" sz="14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4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formaty</a:t>
            </a:r>
            <a:r>
              <a:rPr lang="en-US" sz="14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4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serializacji</a:t>
            </a:r>
            <a:r>
              <a:rPr lang="en-US" sz="14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: JSON (</a:t>
            </a:r>
            <a:r>
              <a:rPr lang="en-US" sz="14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czytelny</a:t>
            </a:r>
            <a:r>
              <a:rPr lang="en-US" sz="14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, </a:t>
            </a:r>
            <a:r>
              <a:rPr lang="en-US" sz="14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duże</a:t>
            </a:r>
            <a:r>
              <a:rPr lang="en-US" sz="14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4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rozmiary</a:t>
            </a:r>
            <a:r>
              <a:rPr lang="en-US" sz="14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) · Protocol Buffers (</a:t>
            </a:r>
            <a:r>
              <a:rPr lang="en-US" sz="14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kompaktowy</a:t>
            </a:r>
            <a:r>
              <a:rPr lang="en-US" sz="14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, </a:t>
            </a:r>
            <a:r>
              <a:rPr lang="en-US" sz="14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schematowany</a:t>
            </a:r>
            <a:r>
              <a:rPr lang="en-US" sz="14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) · CBOR (</a:t>
            </a:r>
            <a:r>
              <a:rPr lang="en-US" sz="14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binarny</a:t>
            </a:r>
            <a:r>
              <a:rPr lang="en-US" sz="14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JSON, </a:t>
            </a:r>
            <a:r>
              <a:rPr lang="en-US" sz="14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standardowy</a:t>
            </a:r>
            <a:r>
              <a:rPr lang="en-US" sz="14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4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dla</a:t>
            </a:r>
            <a:r>
              <a:rPr lang="en-US" sz="14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4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CoAP</a:t>
            </a:r>
            <a:r>
              <a:rPr lang="en-US" sz="14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) · </a:t>
            </a:r>
            <a:r>
              <a:rPr lang="en-US" sz="14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MessagePack</a:t>
            </a:r>
            <a:r>
              <a:rPr lang="en-US" sz="14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(</a:t>
            </a:r>
            <a:r>
              <a:rPr lang="en-US" sz="14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wydajny</a:t>
            </a:r>
            <a:r>
              <a:rPr lang="en-US" sz="14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44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440"/>
            <a:ext cx="914400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36720"/>
            <a:ext cx="8412480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Edge Computing w aplikacjach mobilnych IoT</a:t>
            </a: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5"/>
          <p:cNvSpPr/>
          <p:nvPr/>
        </p:nvSpPr>
        <p:spPr>
          <a:xfrm>
            <a:off x="180000" y="777239"/>
            <a:ext cx="85982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Przetwarzanie danych bliżej źródła. Na urządzeniu mobilnym lub lokalnej bramie, zamiast w chmurze</a:t>
            </a:r>
          </a:p>
        </p:txBody>
      </p:sp>
      <p:sp>
        <p:nvSpPr>
          <p:cNvPr id="8" name="Text 6"/>
          <p:cNvSpPr/>
          <p:nvPr/>
        </p:nvSpPr>
        <p:spPr>
          <a:xfrm>
            <a:off x="320040" y="1458360"/>
            <a:ext cx="381995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Zalety edge computing dla IoT</a:t>
            </a:r>
          </a:p>
        </p:txBody>
      </p:sp>
      <p:grpSp>
        <p:nvGrpSpPr>
          <p:cNvPr id="9" name="Grupa 8"/>
          <p:cNvGrpSpPr/>
          <p:nvPr/>
        </p:nvGrpSpPr>
        <p:grpSpPr>
          <a:xfrm>
            <a:off x="320040" y="1760760"/>
            <a:ext cx="3819959" cy="720000"/>
            <a:chOff x="320040" y="1760760"/>
            <a:chExt cx="3819959" cy="720000"/>
          </a:xfrm>
        </p:grpSpPr>
        <p:grpSp>
          <p:nvGrpSpPr>
            <p:cNvPr id="10" name="Grupa 9"/>
            <p:cNvGrpSpPr/>
            <p:nvPr/>
          </p:nvGrpSpPr>
          <p:grpSpPr>
            <a:xfrm>
              <a:off x="320040" y="1760760"/>
              <a:ext cx="3819959" cy="720000"/>
              <a:chOff x="320040" y="1760760"/>
              <a:chExt cx="3819959" cy="720000"/>
            </a:xfrm>
          </p:grpSpPr>
          <p:sp>
            <p:nvSpPr>
              <p:cNvPr id="11" name="Shape 7"/>
              <p:cNvSpPr/>
              <p:nvPr/>
            </p:nvSpPr>
            <p:spPr>
              <a:xfrm>
                <a:off x="320040" y="1760760"/>
                <a:ext cx="3819959" cy="720000"/>
              </a:xfrm>
              <a:prstGeom prst="rect">
                <a:avLst/>
              </a:prstGeom>
              <a:solidFill>
                <a:srgbClr val="FFFFFF"/>
              </a:solidFill>
              <a:ln w="12600" cap="flat">
                <a:solidFill>
                  <a:srgbClr val="E2E8F0"/>
                </a:solidFill>
                <a:prstDash val="solid"/>
                <a:miter/>
              </a:ln>
              <a:effectLst>
                <a:outerShdw dist="25456" dir="8100000" algn="tl">
                  <a:srgbClr val="000000">
                    <a:alpha val="8000"/>
                  </a:srgbClr>
                </a:outerShdw>
              </a:effectLst>
            </p:spPr>
            <p:txBody>
              <a:bodyPr vert="horz" wrap="square" lIns="96120" tIns="51120" rIns="96120" bIns="51120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pl-PL" sz="1800" b="0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Noto Sans Devanagari" pitchFamily="2"/>
                </a:endParaRPr>
              </a:p>
            </p:txBody>
          </p:sp>
          <p:sp>
            <p:nvSpPr>
              <p:cNvPr id="12" name="Shape 8"/>
              <p:cNvSpPr/>
              <p:nvPr/>
            </p:nvSpPr>
            <p:spPr>
              <a:xfrm>
                <a:off x="320040" y="1760760"/>
                <a:ext cx="58680" cy="720000"/>
              </a:xfrm>
              <a:prstGeom prst="rect">
                <a:avLst/>
              </a:prstGeom>
              <a:solidFill>
                <a:srgbClr val="1E5FA8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pl-PL" sz="1800" b="0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Noto Sans Devanagari" pitchFamily="2"/>
                </a:endParaRPr>
              </a:p>
            </p:txBody>
          </p:sp>
        </p:grpSp>
        <p:sp>
          <p:nvSpPr>
            <p:cNvPr id="13" name="Text 9"/>
            <p:cNvSpPr/>
            <p:nvPr/>
          </p:nvSpPr>
          <p:spPr>
            <a:xfrm>
              <a:off x="446039" y="1761839"/>
              <a:ext cx="3651839" cy="2642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500" b="1" i="0" u="none" strike="noStrike" kern="1200" cap="none" spc="0" baseline="0" dirty="0" err="1">
                  <a:ln>
                    <a:noFill/>
                  </a:ln>
                  <a:solidFill>
                    <a:srgbClr val="0F172A"/>
                  </a:solidFill>
                  <a:latin typeface="Cambria" pitchFamily="34"/>
                  <a:ea typeface="Cambria" pitchFamily="34"/>
                  <a:cs typeface="Cambria" pitchFamily="34"/>
                </a:rPr>
                <a:t>Niskie</a:t>
              </a:r>
              <a:r>
                <a:rPr lang="en-US" sz="1500" b="1" i="0" u="none" strike="noStrike" kern="1200" cap="none" spc="0" baseline="0" dirty="0">
                  <a:ln>
                    <a:noFill/>
                  </a:ln>
                  <a:solidFill>
                    <a:srgbClr val="0F172A"/>
                  </a:solidFill>
                  <a:latin typeface="Cambria" pitchFamily="34"/>
                  <a:ea typeface="Cambria" pitchFamily="34"/>
                  <a:cs typeface="Cambria" pitchFamily="34"/>
                </a:rPr>
                <a:t> </a:t>
              </a:r>
              <a:r>
                <a:rPr lang="en-US" sz="1500" b="1" i="0" u="none" strike="noStrike" kern="1200" cap="none" spc="0" baseline="0" dirty="0" err="1">
                  <a:ln>
                    <a:noFill/>
                  </a:ln>
                  <a:solidFill>
                    <a:srgbClr val="0F172A"/>
                  </a:solidFill>
                  <a:latin typeface="Cambria" pitchFamily="34"/>
                  <a:ea typeface="Cambria" pitchFamily="34"/>
                  <a:cs typeface="Cambria" pitchFamily="34"/>
                </a:rPr>
                <a:t>opóźnienie</a:t>
              </a:r>
              <a:endParaRPr lang="en-US" sz="1500" b="1" i="0" u="none" strike="noStrike" kern="1200" cap="none" spc="0" baseline="0" dirty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endParaRPr>
            </a:p>
          </p:txBody>
        </p:sp>
        <p:sp>
          <p:nvSpPr>
            <p:cNvPr id="14" name="Text 10"/>
            <p:cNvSpPr/>
            <p:nvPr/>
          </p:nvSpPr>
          <p:spPr>
            <a:xfrm>
              <a:off x="446039" y="2072880"/>
              <a:ext cx="3651839" cy="2743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100" b="0" i="0" u="none" strike="noStrike" kern="1200" cap="none" spc="0" baseline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Przetwarzanie lokalne → latencja &lt; 10 ms vs. 50-200 ms dla chmury — krytyczne dla sterowania w czasie rzeczywistym</a:t>
              </a:r>
            </a:p>
          </p:txBody>
        </p:sp>
      </p:grpSp>
      <p:grpSp>
        <p:nvGrpSpPr>
          <p:cNvPr id="15" name="Grupa 14"/>
          <p:cNvGrpSpPr/>
          <p:nvPr/>
        </p:nvGrpSpPr>
        <p:grpSpPr>
          <a:xfrm>
            <a:off x="320040" y="2547720"/>
            <a:ext cx="3819959" cy="720000"/>
            <a:chOff x="320040" y="2547720"/>
            <a:chExt cx="3819959" cy="720000"/>
          </a:xfrm>
        </p:grpSpPr>
        <p:grpSp>
          <p:nvGrpSpPr>
            <p:cNvPr id="16" name="Grupa 15"/>
            <p:cNvGrpSpPr/>
            <p:nvPr/>
          </p:nvGrpSpPr>
          <p:grpSpPr>
            <a:xfrm>
              <a:off x="320040" y="2547720"/>
              <a:ext cx="3819959" cy="720000"/>
              <a:chOff x="320040" y="2547720"/>
              <a:chExt cx="3819959" cy="720000"/>
            </a:xfrm>
          </p:grpSpPr>
          <p:sp>
            <p:nvSpPr>
              <p:cNvPr id="17" name="Shape 11"/>
              <p:cNvSpPr/>
              <p:nvPr/>
            </p:nvSpPr>
            <p:spPr>
              <a:xfrm>
                <a:off x="320040" y="2547720"/>
                <a:ext cx="3819959" cy="720000"/>
              </a:xfrm>
              <a:prstGeom prst="rect">
                <a:avLst/>
              </a:prstGeom>
              <a:solidFill>
                <a:srgbClr val="FFFFFF"/>
              </a:solidFill>
              <a:ln w="12600" cap="flat">
                <a:solidFill>
                  <a:srgbClr val="E2E8F0"/>
                </a:solidFill>
                <a:prstDash val="solid"/>
                <a:miter/>
              </a:ln>
              <a:effectLst>
                <a:outerShdw dist="25456" dir="8100000" algn="tl">
                  <a:srgbClr val="000000">
                    <a:alpha val="8000"/>
                  </a:srgbClr>
                </a:outerShdw>
              </a:effectLst>
            </p:spPr>
            <p:txBody>
              <a:bodyPr vert="horz" wrap="square" lIns="96120" tIns="51120" rIns="96120" bIns="51120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pl-PL" sz="1800" b="0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Noto Sans Devanagari" pitchFamily="2"/>
                </a:endParaRPr>
              </a:p>
            </p:txBody>
          </p:sp>
          <p:sp>
            <p:nvSpPr>
              <p:cNvPr id="18" name="Shape 12"/>
              <p:cNvSpPr/>
              <p:nvPr/>
            </p:nvSpPr>
            <p:spPr>
              <a:xfrm>
                <a:off x="320040" y="2547720"/>
                <a:ext cx="58680" cy="720000"/>
              </a:xfrm>
              <a:prstGeom prst="rect">
                <a:avLst/>
              </a:prstGeom>
              <a:solidFill>
                <a:srgbClr val="0D9488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pl-PL" sz="1800" b="0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Noto Sans Devanagari" pitchFamily="2"/>
                </a:endParaRPr>
              </a:p>
            </p:txBody>
          </p:sp>
        </p:grpSp>
        <p:sp>
          <p:nvSpPr>
            <p:cNvPr id="19" name="Text 13"/>
            <p:cNvSpPr/>
            <p:nvPr/>
          </p:nvSpPr>
          <p:spPr>
            <a:xfrm>
              <a:off x="446039" y="2548800"/>
              <a:ext cx="3651839" cy="264239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500" b="1" i="0" u="none" strike="noStrike" kern="1200" cap="none" spc="0" baseline="0" dirty="0" err="1">
                  <a:ln>
                    <a:noFill/>
                  </a:ln>
                  <a:solidFill>
                    <a:srgbClr val="0F172A"/>
                  </a:solidFill>
                  <a:latin typeface="Cambria" pitchFamily="34"/>
                  <a:ea typeface="Cambria" pitchFamily="34"/>
                  <a:cs typeface="Cambria" pitchFamily="34"/>
                </a:rPr>
                <a:t>Praca</a:t>
              </a:r>
              <a:r>
                <a:rPr lang="en-US" sz="1500" b="1" i="0" u="none" strike="noStrike" kern="1200" cap="none" spc="0" baseline="0" dirty="0">
                  <a:ln>
                    <a:noFill/>
                  </a:ln>
                  <a:solidFill>
                    <a:srgbClr val="0F172A"/>
                  </a:solidFill>
                  <a:latin typeface="Cambria" pitchFamily="34"/>
                  <a:ea typeface="Cambria" pitchFamily="34"/>
                  <a:cs typeface="Cambria" pitchFamily="34"/>
                </a:rPr>
                <a:t> offline</a:t>
              </a:r>
            </a:p>
          </p:txBody>
        </p:sp>
        <p:sp>
          <p:nvSpPr>
            <p:cNvPr id="20" name="Text 14"/>
            <p:cNvSpPr/>
            <p:nvPr/>
          </p:nvSpPr>
          <p:spPr>
            <a:xfrm>
              <a:off x="446039" y="2859840"/>
              <a:ext cx="3651839" cy="2743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100" b="0" i="0" u="none" strike="noStrike" kern="1200" cap="none" spc="0" baseline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Aplikacja działa bez połączenia z internetem — lokalna baza danych buforuje dane, synchronizacja przy przywróceniu łącza</a:t>
              </a:r>
            </a:p>
          </p:txBody>
        </p:sp>
      </p:grpSp>
      <p:grpSp>
        <p:nvGrpSpPr>
          <p:cNvPr id="21" name="Grupa 20"/>
          <p:cNvGrpSpPr/>
          <p:nvPr/>
        </p:nvGrpSpPr>
        <p:grpSpPr>
          <a:xfrm>
            <a:off x="320040" y="3334680"/>
            <a:ext cx="3819959" cy="720000"/>
            <a:chOff x="320040" y="3334680"/>
            <a:chExt cx="3819959" cy="720000"/>
          </a:xfrm>
        </p:grpSpPr>
        <p:grpSp>
          <p:nvGrpSpPr>
            <p:cNvPr id="22" name="Grupa 21"/>
            <p:cNvGrpSpPr/>
            <p:nvPr/>
          </p:nvGrpSpPr>
          <p:grpSpPr>
            <a:xfrm>
              <a:off x="320040" y="3334680"/>
              <a:ext cx="3819959" cy="720000"/>
              <a:chOff x="320040" y="3334680"/>
              <a:chExt cx="3819959" cy="720000"/>
            </a:xfrm>
          </p:grpSpPr>
          <p:sp>
            <p:nvSpPr>
              <p:cNvPr id="23" name="Shape 15"/>
              <p:cNvSpPr/>
              <p:nvPr/>
            </p:nvSpPr>
            <p:spPr>
              <a:xfrm>
                <a:off x="320040" y="3334680"/>
                <a:ext cx="3819959" cy="720000"/>
              </a:xfrm>
              <a:prstGeom prst="rect">
                <a:avLst/>
              </a:prstGeom>
              <a:solidFill>
                <a:srgbClr val="FFFFFF"/>
              </a:solidFill>
              <a:ln w="12600" cap="flat">
                <a:solidFill>
                  <a:srgbClr val="E2E8F0"/>
                </a:solidFill>
                <a:prstDash val="solid"/>
                <a:miter/>
              </a:ln>
              <a:effectLst>
                <a:outerShdw dist="25456" dir="8100000" algn="tl">
                  <a:srgbClr val="000000">
                    <a:alpha val="8000"/>
                  </a:srgbClr>
                </a:outerShdw>
              </a:effectLst>
            </p:spPr>
            <p:txBody>
              <a:bodyPr vert="horz" wrap="square" lIns="96120" tIns="51120" rIns="96120" bIns="51120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pl-PL" sz="1800" b="0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Noto Sans Devanagari" pitchFamily="2"/>
                </a:endParaRPr>
              </a:p>
            </p:txBody>
          </p:sp>
          <p:sp>
            <p:nvSpPr>
              <p:cNvPr id="24" name="Shape 16"/>
              <p:cNvSpPr/>
              <p:nvPr/>
            </p:nvSpPr>
            <p:spPr>
              <a:xfrm>
                <a:off x="320040" y="3334680"/>
                <a:ext cx="58680" cy="720000"/>
              </a:xfrm>
              <a:prstGeom prst="rect">
                <a:avLst/>
              </a:prstGeom>
              <a:solidFill>
                <a:srgbClr val="1E5FA8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pl-PL" sz="1800" b="0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Noto Sans Devanagari" pitchFamily="2"/>
                </a:endParaRPr>
              </a:p>
            </p:txBody>
          </p:sp>
        </p:grpSp>
        <p:sp>
          <p:nvSpPr>
            <p:cNvPr id="25" name="Text 17"/>
            <p:cNvSpPr/>
            <p:nvPr/>
          </p:nvSpPr>
          <p:spPr>
            <a:xfrm>
              <a:off x="446039" y="3335760"/>
              <a:ext cx="3651839" cy="2739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500" b="1" i="0" u="none" strike="noStrike" kern="1200" cap="none" spc="0" baseline="0" dirty="0" err="1">
                  <a:ln>
                    <a:noFill/>
                  </a:ln>
                  <a:solidFill>
                    <a:srgbClr val="0F172A"/>
                  </a:solidFill>
                  <a:latin typeface="Cambria" pitchFamily="34"/>
                  <a:ea typeface="Cambria" pitchFamily="34"/>
                  <a:cs typeface="Cambria" pitchFamily="34"/>
                </a:rPr>
                <a:t>Prywatność</a:t>
              </a:r>
              <a:r>
                <a:rPr lang="en-US" sz="1500" b="1" i="0" u="none" strike="noStrike" kern="1200" cap="none" spc="0" baseline="0" dirty="0">
                  <a:ln>
                    <a:noFill/>
                  </a:ln>
                  <a:solidFill>
                    <a:srgbClr val="0F172A"/>
                  </a:solidFill>
                  <a:latin typeface="Cambria" pitchFamily="34"/>
                  <a:ea typeface="Cambria" pitchFamily="34"/>
                  <a:cs typeface="Cambria" pitchFamily="34"/>
                </a:rPr>
                <a:t> </a:t>
              </a:r>
              <a:r>
                <a:rPr lang="en-US" sz="1500" b="1" i="0" u="none" strike="noStrike" kern="1200" cap="none" spc="0" baseline="0" dirty="0" err="1">
                  <a:ln>
                    <a:noFill/>
                  </a:ln>
                  <a:solidFill>
                    <a:srgbClr val="0F172A"/>
                  </a:solidFill>
                  <a:latin typeface="Cambria" pitchFamily="34"/>
                  <a:ea typeface="Cambria" pitchFamily="34"/>
                  <a:cs typeface="Cambria" pitchFamily="34"/>
                </a:rPr>
                <a:t>danych</a:t>
              </a:r>
              <a:endParaRPr lang="en-US" sz="1500" b="1" i="0" u="none" strike="noStrike" kern="1200" cap="none" spc="0" baseline="0" dirty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endParaRPr>
            </a:p>
          </p:txBody>
        </p:sp>
        <p:sp>
          <p:nvSpPr>
            <p:cNvPr id="26" name="Text 18"/>
            <p:cNvSpPr/>
            <p:nvPr/>
          </p:nvSpPr>
          <p:spPr>
            <a:xfrm>
              <a:off x="446039" y="3646799"/>
              <a:ext cx="3651839" cy="2743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100" b="0" i="0" u="none" strike="noStrike" kern="1200" cap="none" spc="0" baseline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Wrażliwe dane (np. medyczne) nie opuszczają lokalnej sieci — zgodność z RODO</a:t>
              </a:r>
            </a:p>
          </p:txBody>
        </p:sp>
      </p:grpSp>
      <p:grpSp>
        <p:nvGrpSpPr>
          <p:cNvPr id="27" name="Grupa 26"/>
          <p:cNvGrpSpPr/>
          <p:nvPr/>
        </p:nvGrpSpPr>
        <p:grpSpPr>
          <a:xfrm>
            <a:off x="320040" y="4157640"/>
            <a:ext cx="3819959" cy="720000"/>
            <a:chOff x="320040" y="4157640"/>
            <a:chExt cx="3819959" cy="720000"/>
          </a:xfrm>
        </p:grpSpPr>
        <p:grpSp>
          <p:nvGrpSpPr>
            <p:cNvPr id="28" name="Grupa 27"/>
            <p:cNvGrpSpPr/>
            <p:nvPr/>
          </p:nvGrpSpPr>
          <p:grpSpPr>
            <a:xfrm>
              <a:off x="320040" y="4157640"/>
              <a:ext cx="3819959" cy="720000"/>
              <a:chOff x="320040" y="4157640"/>
              <a:chExt cx="3819959" cy="720000"/>
            </a:xfrm>
          </p:grpSpPr>
          <p:sp>
            <p:nvSpPr>
              <p:cNvPr id="29" name="Shape 19"/>
              <p:cNvSpPr/>
              <p:nvPr/>
            </p:nvSpPr>
            <p:spPr>
              <a:xfrm>
                <a:off x="320040" y="4157640"/>
                <a:ext cx="3819959" cy="720000"/>
              </a:xfrm>
              <a:prstGeom prst="rect">
                <a:avLst/>
              </a:prstGeom>
              <a:solidFill>
                <a:srgbClr val="FFFFFF"/>
              </a:solidFill>
              <a:ln w="12600" cap="flat">
                <a:solidFill>
                  <a:srgbClr val="E2E8F0"/>
                </a:solidFill>
                <a:prstDash val="solid"/>
                <a:miter/>
              </a:ln>
              <a:effectLst>
                <a:outerShdw dist="25456" dir="8100000" algn="tl">
                  <a:srgbClr val="000000">
                    <a:alpha val="8000"/>
                  </a:srgbClr>
                </a:outerShdw>
              </a:effectLst>
            </p:spPr>
            <p:txBody>
              <a:bodyPr vert="horz" wrap="square" lIns="96120" tIns="51120" rIns="96120" bIns="51120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pl-PL" sz="1800" b="0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Noto Sans Devanagari" pitchFamily="2"/>
                </a:endParaRPr>
              </a:p>
            </p:txBody>
          </p:sp>
          <p:sp>
            <p:nvSpPr>
              <p:cNvPr id="30" name="Shape 20"/>
              <p:cNvSpPr/>
              <p:nvPr/>
            </p:nvSpPr>
            <p:spPr>
              <a:xfrm>
                <a:off x="320040" y="4157640"/>
                <a:ext cx="58680" cy="720000"/>
              </a:xfrm>
              <a:prstGeom prst="rect">
                <a:avLst/>
              </a:prstGeom>
              <a:solidFill>
                <a:srgbClr val="0D9488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pl-PL" sz="1800" b="0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Noto Sans Devanagari" pitchFamily="2"/>
                </a:endParaRPr>
              </a:p>
            </p:txBody>
          </p:sp>
        </p:grpSp>
        <p:sp>
          <p:nvSpPr>
            <p:cNvPr id="31" name="Text 21"/>
            <p:cNvSpPr/>
            <p:nvPr/>
          </p:nvSpPr>
          <p:spPr>
            <a:xfrm>
              <a:off x="446039" y="4158720"/>
              <a:ext cx="3651839" cy="3200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500" b="1" i="0" u="none" strike="noStrike" kern="1200" cap="none" spc="0" baseline="0" dirty="0" err="1">
                  <a:ln>
                    <a:noFill/>
                  </a:ln>
                  <a:solidFill>
                    <a:srgbClr val="0F172A"/>
                  </a:solidFill>
                  <a:latin typeface="Cambria" pitchFamily="34"/>
                  <a:ea typeface="Cambria" pitchFamily="34"/>
                  <a:cs typeface="Cambria" pitchFamily="34"/>
                </a:rPr>
                <a:t>Oszczędność</a:t>
              </a:r>
              <a:r>
                <a:rPr lang="en-US" sz="1500" b="1" i="0" u="none" strike="noStrike" kern="1200" cap="none" spc="0" baseline="0" dirty="0">
                  <a:ln>
                    <a:noFill/>
                  </a:ln>
                  <a:solidFill>
                    <a:srgbClr val="0F172A"/>
                  </a:solidFill>
                  <a:latin typeface="Cambria" pitchFamily="34"/>
                  <a:ea typeface="Cambria" pitchFamily="34"/>
                  <a:cs typeface="Cambria" pitchFamily="34"/>
                </a:rPr>
                <a:t> </a:t>
              </a:r>
              <a:r>
                <a:rPr lang="en-US" sz="1500" b="1" i="0" u="none" strike="noStrike" kern="1200" cap="none" spc="0" baseline="0" dirty="0" err="1">
                  <a:ln>
                    <a:noFill/>
                  </a:ln>
                  <a:solidFill>
                    <a:srgbClr val="0F172A"/>
                  </a:solidFill>
                  <a:latin typeface="Cambria" pitchFamily="34"/>
                  <a:ea typeface="Cambria" pitchFamily="34"/>
                  <a:cs typeface="Cambria" pitchFamily="34"/>
                </a:rPr>
                <a:t>pasma</a:t>
              </a:r>
              <a:endParaRPr lang="en-US" sz="1500" b="1" i="0" u="none" strike="noStrike" kern="1200" cap="none" spc="0" baseline="0" dirty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endParaRPr>
            </a:p>
          </p:txBody>
        </p:sp>
        <p:sp>
          <p:nvSpPr>
            <p:cNvPr id="32" name="Text 22"/>
            <p:cNvSpPr/>
            <p:nvPr/>
          </p:nvSpPr>
          <p:spPr>
            <a:xfrm>
              <a:off x="446039" y="4505760"/>
              <a:ext cx="3651839" cy="2743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100" b="0" i="0" u="none" strike="noStrike" kern="1200" cap="none" spc="0" baseline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Przesyłanie tylko zagregowanych wyników lub anomalii zamiast surowych danych — redukcja kosztów transmisji</a:t>
              </a:r>
            </a:p>
          </p:txBody>
        </p:sp>
      </p:grpSp>
      <p:sp>
        <p:nvSpPr>
          <p:cNvPr id="33" name="Text 23"/>
          <p:cNvSpPr/>
          <p:nvPr/>
        </p:nvSpPr>
        <p:spPr>
          <a:xfrm>
            <a:off x="5760000" y="1170360"/>
            <a:ext cx="324000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ML na urządzeniu (TensorFlow Lite)</a:t>
            </a:r>
          </a:p>
        </p:txBody>
      </p:sp>
      <p:sp>
        <p:nvSpPr>
          <p:cNvPr id="34" name="Shape 24"/>
          <p:cNvSpPr/>
          <p:nvPr/>
        </p:nvSpPr>
        <p:spPr>
          <a:xfrm>
            <a:off x="5940000" y="1436759"/>
            <a:ext cx="2929679" cy="2103120"/>
          </a:xfrm>
          <a:prstGeom prst="rect">
            <a:avLst/>
          </a:prstGeom>
          <a:solidFill>
            <a:srgbClr val="0F172A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6120000" y="1509839"/>
            <a:ext cx="2703960" cy="198431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// Anomaly detection </a:t>
            </a:r>
            <a:r>
              <a:rPr lang="en-US" sz="85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na</a:t>
            </a: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</a:t>
            </a:r>
            <a:r>
              <a:rPr lang="en-US" sz="85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urządzeniu</a:t>
            </a:r>
            <a:endParaRPr lang="en-US" sz="850" b="0" i="0" u="none" strike="noStrike" kern="1200" cap="none" spc="0" baseline="0" dirty="0">
              <a:ln>
                <a:noFill/>
              </a:ln>
              <a:solidFill>
                <a:srgbClr val="A5D6A7"/>
              </a:solidFill>
              <a:latin typeface="Consolas" pitchFamily="34"/>
              <a:ea typeface="Consolas" pitchFamily="34"/>
              <a:cs typeface="Consolas" pitchFamily="34"/>
            </a:endParaRP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val</a:t>
            </a: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model = </a:t>
            </a:r>
            <a:r>
              <a:rPr lang="en-US" sz="85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TFLiteModel.newInstance</a:t>
            </a: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context, "</a:t>
            </a:r>
            <a:r>
              <a:rPr lang="en-US" sz="85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anomaly_detector.tflite</a:t>
            </a: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")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fun </a:t>
            </a:r>
            <a:r>
              <a:rPr lang="en-US" sz="85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detectAnomaly</a:t>
            </a: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</a:t>
            </a:r>
            <a:r>
              <a:rPr lang="en-US" sz="85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sensorData</a:t>
            </a: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: </a:t>
            </a:r>
            <a:r>
              <a:rPr lang="en-US" sz="85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FloatArray</a:t>
            </a: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)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: Boolean {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</a:t>
            </a:r>
            <a:r>
              <a:rPr lang="en-US" sz="85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val</a:t>
            </a: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input = </a:t>
            </a:r>
            <a:r>
              <a:rPr lang="en-US" sz="85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TensorBuffer.createFixedSize</a:t>
            </a: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</a:t>
            </a:r>
            <a:r>
              <a:rPr lang="en-US" sz="85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intArrayOf</a:t>
            </a: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(1, </a:t>
            </a:r>
            <a:r>
              <a:rPr lang="en-US" sz="85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sensorData.size</a:t>
            </a: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),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DataType.FLOAT32)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</a:t>
            </a:r>
            <a:r>
              <a:rPr lang="en-US" sz="85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input.loadArray</a:t>
            </a: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</a:t>
            </a:r>
            <a:r>
              <a:rPr lang="en-US" sz="85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sensorData</a:t>
            </a: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)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</a:t>
            </a:r>
            <a:r>
              <a:rPr lang="en-US" sz="85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val</a:t>
            </a: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outputs = </a:t>
            </a:r>
            <a:r>
              <a:rPr lang="en-US" sz="85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model.process</a:t>
            </a: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(input)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</a:t>
            </a:r>
            <a:r>
              <a:rPr lang="en-US" sz="85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val</a:t>
            </a: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score = outputs.outputFeature0AsFloatArray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return score[0] &gt; ANOMALY_THRESHOLD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}</a:t>
            </a: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// </a:t>
            </a:r>
            <a:r>
              <a:rPr lang="en-US" sz="85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Zwalniaj</a:t>
            </a: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</a:t>
            </a:r>
            <a:r>
              <a:rPr lang="en-US" sz="85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zasoby</a:t>
            </a:r>
            <a:endParaRPr lang="en-US" sz="850" b="0" i="0" u="none" strike="noStrike" kern="1200" cap="none" spc="0" baseline="0" dirty="0">
              <a:ln>
                <a:noFill/>
              </a:ln>
              <a:solidFill>
                <a:srgbClr val="A5D6A7"/>
              </a:solidFill>
              <a:latin typeface="Consolas" pitchFamily="34"/>
              <a:ea typeface="Consolas" pitchFamily="34"/>
              <a:cs typeface="Consolas" pitchFamily="34"/>
            </a:endParaRPr>
          </a:p>
          <a:p>
            <a:pPr marL="0" marR="0" lvl="0" indent="0" algn="l" rtl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5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model.close</a:t>
            </a:r>
            <a:r>
              <a:rPr lang="en-US" sz="85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()</a:t>
            </a:r>
          </a:p>
        </p:txBody>
      </p:sp>
      <p:sp>
        <p:nvSpPr>
          <p:cNvPr id="36" name="Shape 26"/>
          <p:cNvSpPr/>
          <p:nvPr/>
        </p:nvSpPr>
        <p:spPr>
          <a:xfrm>
            <a:off x="4663440" y="3667320"/>
            <a:ext cx="4206240" cy="36576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7" name="Shape 27"/>
          <p:cNvSpPr/>
          <p:nvPr/>
        </p:nvSpPr>
        <p:spPr>
          <a:xfrm>
            <a:off x="4663440" y="3703319"/>
            <a:ext cx="64080" cy="36576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8" name="Text 28"/>
          <p:cNvSpPr/>
          <p:nvPr/>
        </p:nvSpPr>
        <p:spPr>
          <a:xfrm>
            <a:off x="4800600" y="3632400"/>
            <a:ext cx="402336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5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Detekcja anomalii</a:t>
            </a:r>
          </a:p>
        </p:txBody>
      </p:sp>
      <p:sp>
        <p:nvSpPr>
          <p:cNvPr id="39" name="Text 29"/>
          <p:cNvSpPr/>
          <p:nvPr/>
        </p:nvSpPr>
        <p:spPr>
          <a:xfrm>
            <a:off x="4800600" y="3881881"/>
            <a:ext cx="4023360" cy="198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Modele</a:t>
            </a:r>
            <a:r>
              <a:rPr lang="en-US" sz="11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1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klasyfikacji</a:t>
            </a:r>
            <a:endParaRPr lang="en-US" sz="1100" b="0" i="0" u="none" strike="noStrike" kern="1200" cap="none" spc="0" baseline="0" dirty="0">
              <a:ln>
                <a:noFill/>
              </a:ln>
              <a:solidFill>
                <a:srgbClr val="475569"/>
              </a:solidFill>
              <a:latin typeface="Calibri" pitchFamily="34"/>
              <a:ea typeface="Calibri" pitchFamily="34"/>
              <a:cs typeface="Calibri" pitchFamily="34"/>
            </a:endParaRPr>
          </a:p>
        </p:txBody>
      </p:sp>
      <p:sp>
        <p:nvSpPr>
          <p:cNvPr id="40" name="Shape 30"/>
          <p:cNvSpPr/>
          <p:nvPr/>
        </p:nvSpPr>
        <p:spPr>
          <a:xfrm>
            <a:off x="4663440" y="4142160"/>
            <a:ext cx="4206240" cy="36576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1" name="Shape 31"/>
          <p:cNvSpPr/>
          <p:nvPr/>
        </p:nvSpPr>
        <p:spPr>
          <a:xfrm>
            <a:off x="4663440" y="4142160"/>
            <a:ext cx="64080" cy="36576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2" name="Text 32"/>
          <p:cNvSpPr/>
          <p:nvPr/>
        </p:nvSpPr>
        <p:spPr>
          <a:xfrm>
            <a:off x="4800600" y="4071240"/>
            <a:ext cx="402336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500" b="1" i="0" u="none" strike="noStrike" kern="1200" cap="none" spc="0" baseline="0" dirty="0" err="1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Przetwarzanie</a:t>
            </a:r>
            <a:r>
              <a:rPr lang="en-US" sz="1500" b="1" i="0" u="none" strike="noStrike" kern="1200" cap="none" spc="0" baseline="0" dirty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 </a:t>
            </a:r>
            <a:r>
              <a:rPr lang="en-US" sz="1500" b="1" i="0" u="none" strike="noStrike" kern="1200" cap="none" spc="0" baseline="0" dirty="0" err="1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obrazu</a:t>
            </a:r>
            <a:endParaRPr lang="en-US" sz="1500" b="1" i="0" u="none" strike="noStrike" kern="1200" cap="none" spc="0" baseline="0" dirty="0">
              <a:ln>
                <a:noFill/>
              </a:ln>
              <a:solidFill>
                <a:srgbClr val="0F172A"/>
              </a:solidFill>
              <a:latin typeface="Cambria" pitchFamily="34"/>
              <a:ea typeface="Cambria" pitchFamily="34"/>
              <a:cs typeface="Cambria" pitchFamily="34"/>
            </a:endParaRPr>
          </a:p>
        </p:txBody>
      </p:sp>
      <p:sp>
        <p:nvSpPr>
          <p:cNvPr id="43" name="Text 33"/>
          <p:cNvSpPr/>
          <p:nvPr/>
        </p:nvSpPr>
        <p:spPr>
          <a:xfrm>
            <a:off x="4800600" y="4294442"/>
            <a:ext cx="4023360" cy="23147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Object detection (YOLO)</a:t>
            </a:r>
          </a:p>
        </p:txBody>
      </p:sp>
      <p:sp>
        <p:nvSpPr>
          <p:cNvPr id="44" name="Shape 34"/>
          <p:cNvSpPr/>
          <p:nvPr/>
        </p:nvSpPr>
        <p:spPr>
          <a:xfrm>
            <a:off x="4663440" y="4581000"/>
            <a:ext cx="4206240" cy="36576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5" name="Shape 35"/>
          <p:cNvSpPr/>
          <p:nvPr/>
        </p:nvSpPr>
        <p:spPr>
          <a:xfrm>
            <a:off x="4663440" y="4581000"/>
            <a:ext cx="64080" cy="36576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6" name="Text 36"/>
          <p:cNvSpPr/>
          <p:nvPr/>
        </p:nvSpPr>
        <p:spPr>
          <a:xfrm>
            <a:off x="4800600" y="4578840"/>
            <a:ext cx="4023360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500" b="1" i="0" u="none" strike="noStrike" kern="1200" cap="none" spc="0" baseline="0" dirty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NLP </a:t>
            </a:r>
            <a:r>
              <a:rPr lang="en-US" sz="1500" b="1" i="0" u="none" strike="noStrike" kern="1200" cap="none" spc="0" baseline="0" dirty="0" err="1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na</a:t>
            </a:r>
            <a:r>
              <a:rPr lang="en-US" sz="1500" b="1" i="0" u="none" strike="noStrike" kern="1200" cap="none" spc="0" baseline="0" dirty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 </a:t>
            </a:r>
            <a:r>
              <a:rPr lang="en-US" sz="1500" b="1" i="0" u="none" strike="noStrike" kern="1200" cap="none" spc="0" baseline="0" dirty="0" err="1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urządzeniu</a:t>
            </a:r>
            <a:endParaRPr lang="en-US" sz="1500" b="1" i="0" u="none" strike="noStrike" kern="1200" cap="none" spc="0" baseline="0" dirty="0">
              <a:ln>
                <a:noFill/>
              </a:ln>
              <a:solidFill>
                <a:srgbClr val="0F172A"/>
              </a:solidFill>
              <a:latin typeface="Cambria" pitchFamily="34"/>
              <a:ea typeface="Cambria" pitchFamily="34"/>
              <a:cs typeface="Cambria" pitchFamily="34"/>
            </a:endParaRPr>
          </a:p>
        </p:txBody>
      </p:sp>
      <p:sp>
        <p:nvSpPr>
          <p:cNvPr id="47" name="Text 37"/>
          <p:cNvSpPr/>
          <p:nvPr/>
        </p:nvSpPr>
        <p:spPr>
          <a:xfrm>
            <a:off x="4800600" y="4780080"/>
            <a:ext cx="4023360" cy="1576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Rozpoznawanie komend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44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440"/>
            <a:ext cx="914400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36720"/>
            <a:ext cx="8412480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Platformy Chmurowe dla IoT: AWS, Azure, Google Cloud</a:t>
            </a: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777239"/>
            <a:ext cx="2743199" cy="384120"/>
          </a:xfrm>
          <a:prstGeom prst="rect">
            <a:avLst/>
          </a:prstGeom>
          <a:solidFill>
            <a:srgbClr val="F59E0B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" y="822960"/>
            <a:ext cx="2743199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5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AWS IoT Core</a:t>
            </a:r>
          </a:p>
        </p:txBody>
      </p:sp>
      <p:sp>
        <p:nvSpPr>
          <p:cNvPr id="9" name="Shape 7"/>
          <p:cNvSpPr/>
          <p:nvPr/>
        </p:nvSpPr>
        <p:spPr>
          <a:xfrm>
            <a:off x="320040" y="1161360"/>
            <a:ext cx="2743199" cy="214884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1480" y="1261800"/>
            <a:ext cx="45720" cy="228600"/>
          </a:xfrm>
          <a:prstGeom prst="rect">
            <a:avLst/>
          </a:prstGeom>
          <a:solidFill>
            <a:srgbClr val="F59E0B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21280" y="1252800"/>
            <a:ext cx="246888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IoT Core — MQTT/HTTP broker</a:t>
            </a:r>
          </a:p>
        </p:txBody>
      </p:sp>
      <p:sp>
        <p:nvSpPr>
          <p:cNvPr id="12" name="Shape 10"/>
          <p:cNvSpPr/>
          <p:nvPr/>
        </p:nvSpPr>
        <p:spPr>
          <a:xfrm>
            <a:off x="411480" y="1654919"/>
            <a:ext cx="45720" cy="228600"/>
          </a:xfrm>
          <a:prstGeom prst="rect">
            <a:avLst/>
          </a:prstGeom>
          <a:solidFill>
            <a:srgbClr val="F59E0B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1280" y="1645920"/>
            <a:ext cx="246888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Greengrass — edge computing</a:t>
            </a:r>
          </a:p>
        </p:txBody>
      </p:sp>
      <p:sp>
        <p:nvSpPr>
          <p:cNvPr id="14" name="Shape 12"/>
          <p:cNvSpPr/>
          <p:nvPr/>
        </p:nvSpPr>
        <p:spPr>
          <a:xfrm>
            <a:off x="411480" y="2048399"/>
            <a:ext cx="45720" cy="228600"/>
          </a:xfrm>
          <a:prstGeom prst="rect">
            <a:avLst/>
          </a:prstGeom>
          <a:solidFill>
            <a:srgbClr val="F59E0B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21280" y="2039039"/>
            <a:ext cx="246888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IoT Analytics — przetwarzanie</a:t>
            </a:r>
          </a:p>
        </p:txBody>
      </p:sp>
      <p:sp>
        <p:nvSpPr>
          <p:cNvPr id="16" name="Shape 14"/>
          <p:cNvSpPr/>
          <p:nvPr/>
        </p:nvSpPr>
        <p:spPr>
          <a:xfrm>
            <a:off x="411480" y="2441520"/>
            <a:ext cx="45720" cy="228600"/>
          </a:xfrm>
          <a:prstGeom prst="rect">
            <a:avLst/>
          </a:prstGeom>
          <a:solidFill>
            <a:srgbClr val="F59E0B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21280" y="2432160"/>
            <a:ext cx="246888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IoT Device Defender — security</a:t>
            </a:r>
          </a:p>
        </p:txBody>
      </p:sp>
      <p:sp>
        <p:nvSpPr>
          <p:cNvPr id="18" name="Shape 16"/>
          <p:cNvSpPr/>
          <p:nvPr/>
        </p:nvSpPr>
        <p:spPr>
          <a:xfrm>
            <a:off x="411480" y="2834640"/>
            <a:ext cx="45720" cy="228600"/>
          </a:xfrm>
          <a:prstGeom prst="rect">
            <a:avLst/>
          </a:prstGeom>
          <a:solidFill>
            <a:srgbClr val="F59E0B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21280" y="2825640"/>
            <a:ext cx="246888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AWS Lambda — serverless</a:t>
            </a:r>
          </a:p>
        </p:txBody>
      </p:sp>
      <p:sp>
        <p:nvSpPr>
          <p:cNvPr id="20" name="Shape 18"/>
          <p:cNvSpPr/>
          <p:nvPr/>
        </p:nvSpPr>
        <p:spPr>
          <a:xfrm>
            <a:off x="320040" y="3310200"/>
            <a:ext cx="2743199" cy="384120"/>
          </a:xfrm>
          <a:prstGeom prst="rect">
            <a:avLst/>
          </a:prstGeom>
          <a:solidFill>
            <a:srgbClr val="F0F4FA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11480" y="3355920"/>
            <a:ext cx="2606040" cy="292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50" b="0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onsolas" pitchFamily="34"/>
                <a:ea typeface="Consolas" pitchFamily="34"/>
                <a:cs typeface="Consolas" pitchFamily="34"/>
              </a:rPr>
              <a:t>SDK: aws-iot-device-sdk-android</a:t>
            </a:r>
          </a:p>
        </p:txBody>
      </p:sp>
      <p:sp>
        <p:nvSpPr>
          <p:cNvPr id="22" name="Shape 20"/>
          <p:cNvSpPr/>
          <p:nvPr/>
        </p:nvSpPr>
        <p:spPr>
          <a:xfrm>
            <a:off x="3200400" y="777239"/>
            <a:ext cx="2743199" cy="38412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200400" y="822960"/>
            <a:ext cx="2743199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5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Azure IoT Hub</a:t>
            </a:r>
          </a:p>
        </p:txBody>
      </p:sp>
      <p:sp>
        <p:nvSpPr>
          <p:cNvPr id="24" name="Shape 22"/>
          <p:cNvSpPr/>
          <p:nvPr/>
        </p:nvSpPr>
        <p:spPr>
          <a:xfrm>
            <a:off x="3200400" y="1161360"/>
            <a:ext cx="2743199" cy="214884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91839" y="1261800"/>
            <a:ext cx="45720" cy="22860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401640" y="1252800"/>
            <a:ext cx="246888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IoT Hub — centralny broker</a:t>
            </a:r>
          </a:p>
        </p:txBody>
      </p:sp>
      <p:sp>
        <p:nvSpPr>
          <p:cNvPr id="27" name="Shape 25"/>
          <p:cNvSpPr/>
          <p:nvPr/>
        </p:nvSpPr>
        <p:spPr>
          <a:xfrm>
            <a:off x="3291839" y="1654919"/>
            <a:ext cx="45720" cy="22860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401640" y="1645920"/>
            <a:ext cx="246888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IoT Edge — local processing</a:t>
            </a:r>
          </a:p>
        </p:txBody>
      </p:sp>
      <p:sp>
        <p:nvSpPr>
          <p:cNvPr id="29" name="Shape 27"/>
          <p:cNvSpPr/>
          <p:nvPr/>
        </p:nvSpPr>
        <p:spPr>
          <a:xfrm>
            <a:off x="3291839" y="2048399"/>
            <a:ext cx="45720" cy="22860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401640" y="2039039"/>
            <a:ext cx="246888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Digital Twins — wirtualne modele</a:t>
            </a:r>
          </a:p>
        </p:txBody>
      </p:sp>
      <p:sp>
        <p:nvSpPr>
          <p:cNvPr id="31" name="Shape 29"/>
          <p:cNvSpPr/>
          <p:nvPr/>
        </p:nvSpPr>
        <p:spPr>
          <a:xfrm>
            <a:off x="3291839" y="2441520"/>
            <a:ext cx="45720" cy="22860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401640" y="2432160"/>
            <a:ext cx="246888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Azure Stream Analytics</a:t>
            </a:r>
          </a:p>
        </p:txBody>
      </p:sp>
      <p:sp>
        <p:nvSpPr>
          <p:cNvPr id="33" name="Shape 31"/>
          <p:cNvSpPr/>
          <p:nvPr/>
        </p:nvSpPr>
        <p:spPr>
          <a:xfrm>
            <a:off x="3291839" y="2834640"/>
            <a:ext cx="45720" cy="22860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401640" y="2825640"/>
            <a:ext cx="246888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Time Series Insights</a:t>
            </a:r>
          </a:p>
        </p:txBody>
      </p:sp>
      <p:sp>
        <p:nvSpPr>
          <p:cNvPr id="35" name="Shape 33"/>
          <p:cNvSpPr/>
          <p:nvPr/>
        </p:nvSpPr>
        <p:spPr>
          <a:xfrm>
            <a:off x="3200400" y="3310200"/>
            <a:ext cx="2743199" cy="384120"/>
          </a:xfrm>
          <a:prstGeom prst="rect">
            <a:avLst/>
          </a:prstGeom>
          <a:solidFill>
            <a:srgbClr val="F0F4FA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291839" y="3355920"/>
            <a:ext cx="2606040" cy="292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50" b="0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onsolas" pitchFamily="34"/>
                <a:ea typeface="Consolas" pitchFamily="34"/>
                <a:cs typeface="Consolas" pitchFamily="34"/>
              </a:rPr>
              <a:t>SDK: azure-iot-sdk-java (Android)</a:t>
            </a:r>
          </a:p>
        </p:txBody>
      </p:sp>
      <p:sp>
        <p:nvSpPr>
          <p:cNvPr id="37" name="Shape 35"/>
          <p:cNvSpPr/>
          <p:nvPr/>
        </p:nvSpPr>
        <p:spPr>
          <a:xfrm>
            <a:off x="6080760" y="777239"/>
            <a:ext cx="2743199" cy="38412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080760" y="822960"/>
            <a:ext cx="2743199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5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Google Cloud IoT</a:t>
            </a:r>
          </a:p>
        </p:txBody>
      </p:sp>
      <p:sp>
        <p:nvSpPr>
          <p:cNvPr id="39" name="Shape 37"/>
          <p:cNvSpPr/>
          <p:nvPr/>
        </p:nvSpPr>
        <p:spPr>
          <a:xfrm>
            <a:off x="6080760" y="1161360"/>
            <a:ext cx="2743199" cy="214884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172200" y="1261800"/>
            <a:ext cx="45720" cy="22860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282000" y="1252800"/>
            <a:ext cx="246888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Cloud IoT Core (→ deprecated)</a:t>
            </a:r>
          </a:p>
        </p:txBody>
      </p:sp>
      <p:sp>
        <p:nvSpPr>
          <p:cNvPr id="42" name="Shape 40"/>
          <p:cNvSpPr/>
          <p:nvPr/>
        </p:nvSpPr>
        <p:spPr>
          <a:xfrm>
            <a:off x="6172200" y="1654919"/>
            <a:ext cx="45720" cy="22860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282000" y="1645920"/>
            <a:ext cx="246888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Pub/Sub — messaging</a:t>
            </a:r>
          </a:p>
        </p:txBody>
      </p:sp>
      <p:sp>
        <p:nvSpPr>
          <p:cNvPr id="44" name="Shape 42"/>
          <p:cNvSpPr/>
          <p:nvPr/>
        </p:nvSpPr>
        <p:spPr>
          <a:xfrm>
            <a:off x="6172200" y="2048399"/>
            <a:ext cx="45720" cy="22860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282000" y="2039039"/>
            <a:ext cx="246888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BigQuery — analityka</a:t>
            </a:r>
          </a:p>
        </p:txBody>
      </p:sp>
      <p:sp>
        <p:nvSpPr>
          <p:cNvPr id="46" name="Shape 44"/>
          <p:cNvSpPr/>
          <p:nvPr/>
        </p:nvSpPr>
        <p:spPr>
          <a:xfrm>
            <a:off x="6172200" y="2441520"/>
            <a:ext cx="45720" cy="22860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282000" y="2432160"/>
            <a:ext cx="246888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Vertex AI — ML pipeline</a:t>
            </a:r>
          </a:p>
        </p:txBody>
      </p:sp>
      <p:sp>
        <p:nvSpPr>
          <p:cNvPr id="48" name="Shape 46"/>
          <p:cNvSpPr/>
          <p:nvPr/>
        </p:nvSpPr>
        <p:spPr>
          <a:xfrm>
            <a:off x="6172200" y="2834640"/>
            <a:ext cx="45720" cy="22860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282000" y="2825640"/>
            <a:ext cx="246888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Firebase Realtime Database</a:t>
            </a:r>
          </a:p>
        </p:txBody>
      </p:sp>
      <p:sp>
        <p:nvSpPr>
          <p:cNvPr id="50" name="Shape 48"/>
          <p:cNvSpPr/>
          <p:nvPr/>
        </p:nvSpPr>
        <p:spPr>
          <a:xfrm>
            <a:off x="6080760" y="3310200"/>
            <a:ext cx="2743199" cy="384120"/>
          </a:xfrm>
          <a:prstGeom prst="rect">
            <a:avLst/>
          </a:prstGeom>
          <a:solidFill>
            <a:srgbClr val="F0F4FA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172200" y="3355920"/>
            <a:ext cx="2606040" cy="292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50" b="0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onsolas" pitchFamily="34"/>
                <a:ea typeface="Consolas" pitchFamily="34"/>
                <a:cs typeface="Consolas" pitchFamily="34"/>
              </a:rPr>
              <a:t>SDK: google-cloud-iot-core + Firebase</a:t>
            </a:r>
          </a:p>
        </p:txBody>
      </p:sp>
      <p:sp>
        <p:nvSpPr>
          <p:cNvPr id="52" name="Text 50"/>
          <p:cNvSpPr/>
          <p:nvPr/>
        </p:nvSpPr>
        <p:spPr>
          <a:xfrm>
            <a:off x="320040" y="3966120"/>
            <a:ext cx="850392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Kluczowe kryteria wyboru platformy IoT</a:t>
            </a:r>
          </a:p>
        </p:txBody>
      </p:sp>
      <p:sp>
        <p:nvSpPr>
          <p:cNvPr id="53" name="Shape 51"/>
          <p:cNvSpPr/>
          <p:nvPr/>
        </p:nvSpPr>
        <p:spPr>
          <a:xfrm>
            <a:off x="320040" y="4376520"/>
            <a:ext cx="201240" cy="2012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94360" y="4286160"/>
            <a:ext cx="1554479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Liczba urządzeń </a:t>
            </a:r>
            <a:br>
              <a:rPr lang="en-US" sz="13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</a:br>
            <a:r>
              <a:rPr lang="en-US" sz="13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i skalowalność</a:t>
            </a:r>
          </a:p>
        </p:txBody>
      </p:sp>
      <p:sp>
        <p:nvSpPr>
          <p:cNvPr id="55" name="Shape 53"/>
          <p:cNvSpPr/>
          <p:nvPr/>
        </p:nvSpPr>
        <p:spPr>
          <a:xfrm>
            <a:off x="2011680" y="4376520"/>
            <a:ext cx="201240" cy="2012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2286000" y="4286160"/>
            <a:ext cx="1314000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Koszt (per-message vs. flat fee)</a:t>
            </a:r>
          </a:p>
        </p:txBody>
      </p:sp>
      <p:sp>
        <p:nvSpPr>
          <p:cNvPr id="57" name="Shape 55"/>
          <p:cNvSpPr/>
          <p:nvPr/>
        </p:nvSpPr>
        <p:spPr>
          <a:xfrm>
            <a:off x="3703319" y="4376520"/>
            <a:ext cx="201240" cy="2012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3977640" y="4286160"/>
            <a:ext cx="1422359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Geolokalizacja danych (RODO)</a:t>
            </a:r>
          </a:p>
        </p:txBody>
      </p:sp>
      <p:sp>
        <p:nvSpPr>
          <p:cNvPr id="59" name="Shape 57"/>
          <p:cNvSpPr/>
          <p:nvPr/>
        </p:nvSpPr>
        <p:spPr>
          <a:xfrm>
            <a:off x="5394960" y="4376520"/>
            <a:ext cx="201240" cy="2012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5669279" y="4286160"/>
            <a:ext cx="1170720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Obsługiwane protokoły</a:t>
            </a:r>
          </a:p>
        </p:txBody>
      </p:sp>
      <p:sp>
        <p:nvSpPr>
          <p:cNvPr id="61" name="Shape 59"/>
          <p:cNvSpPr/>
          <p:nvPr/>
        </p:nvSpPr>
        <p:spPr>
          <a:xfrm>
            <a:off x="7086600" y="4376520"/>
            <a:ext cx="201240" cy="2012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7360920" y="4286160"/>
            <a:ext cx="1554479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SLA i dostępność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a 1"/>
          <p:cNvGrpSpPr/>
          <p:nvPr/>
        </p:nvGrpSpPr>
        <p:grpSpPr>
          <a:xfrm>
            <a:off x="320040" y="3151800"/>
            <a:ext cx="8503200" cy="1080000"/>
            <a:chOff x="320040" y="3151800"/>
            <a:chExt cx="8503200" cy="1080000"/>
          </a:xfrm>
        </p:grpSpPr>
        <p:sp>
          <p:nvSpPr>
            <p:cNvPr id="3" name="Shape 21"/>
            <p:cNvSpPr/>
            <p:nvPr/>
          </p:nvSpPr>
          <p:spPr>
            <a:xfrm>
              <a:off x="320040" y="3151800"/>
              <a:ext cx="8503200" cy="1080000"/>
            </a:xfrm>
            <a:prstGeom prst="rect">
              <a:avLst/>
            </a:prstGeom>
            <a:solidFill>
              <a:srgbClr val="FFFFFF"/>
            </a:solidFill>
            <a:ln w="12600" cap="flat">
              <a:solidFill>
                <a:srgbClr val="E2E8F0"/>
              </a:solidFill>
              <a:prstDash val="solid"/>
              <a:miter/>
            </a:ln>
          </p:spPr>
          <p:txBody>
            <a:bodyPr vert="horz" wrap="square" lIns="96120" tIns="51120" rIns="96120" bIns="5112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4" name="Shape 22"/>
            <p:cNvSpPr/>
            <p:nvPr/>
          </p:nvSpPr>
          <p:spPr>
            <a:xfrm>
              <a:off x="320040" y="3151800"/>
              <a:ext cx="64080" cy="1080000"/>
            </a:xfrm>
            <a:prstGeom prst="rect">
              <a:avLst/>
            </a:prstGeom>
            <a:solidFill>
              <a:srgbClr val="10B981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</p:grpSp>
      <p:sp>
        <p:nvSpPr>
          <p:cNvPr id="5" name="Shape 13"/>
          <p:cNvSpPr/>
          <p:nvPr/>
        </p:nvSpPr>
        <p:spPr>
          <a:xfrm>
            <a:off x="320040" y="1996200"/>
            <a:ext cx="8503200" cy="10800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" name="Shape 14"/>
          <p:cNvSpPr/>
          <p:nvPr/>
        </p:nvSpPr>
        <p:spPr>
          <a:xfrm>
            <a:off x="320040" y="1996200"/>
            <a:ext cx="64080" cy="108000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15"/>
          <p:cNvSpPr/>
          <p:nvPr/>
        </p:nvSpPr>
        <p:spPr>
          <a:xfrm>
            <a:off x="502920" y="2141280"/>
            <a:ext cx="457200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REST + WebSocket Hybrid</a:t>
            </a:r>
          </a:p>
        </p:txBody>
      </p:sp>
      <p:sp>
        <p:nvSpPr>
          <p:cNvPr id="8" name="Text 16"/>
          <p:cNvSpPr/>
          <p:nvPr/>
        </p:nvSpPr>
        <p:spPr>
          <a:xfrm>
            <a:off x="502920" y="2334600"/>
            <a:ext cx="5486399" cy="77723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REST API dla operacji CRUD i historycznych danych. WebSocket lub SSE (Server-Sent Events) dla live updates. Łatwe cachowanie przez CDN.</a:t>
            </a:r>
          </a:p>
        </p:txBody>
      </p:sp>
      <p:sp>
        <p:nvSpPr>
          <p:cNvPr id="9" name="Shape 17"/>
          <p:cNvSpPr/>
          <p:nvPr/>
        </p:nvSpPr>
        <p:spPr>
          <a:xfrm>
            <a:off x="5989320" y="2106000"/>
            <a:ext cx="2697480" cy="393120"/>
          </a:xfrm>
          <a:prstGeom prst="rect">
            <a:avLst/>
          </a:prstGeom>
          <a:solidFill>
            <a:srgbClr val="ECFDF5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0" name="Text 18"/>
          <p:cNvSpPr/>
          <p:nvPr/>
        </p:nvSpPr>
        <p:spPr>
          <a:xfrm>
            <a:off x="6085799" y="2133360"/>
            <a:ext cx="2552760" cy="347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zh-CN" sz="1400" b="0" i="0" u="none" strike="noStrike" kern="1200" cap="none" spc="0" baseline="0">
                <a:ln>
                  <a:noFill/>
                </a:ln>
                <a:solidFill>
                  <a:srgbClr val="0D9488"/>
                </a:solidFill>
                <a:latin typeface="Calibri" pitchFamily="34"/>
                <a:ea typeface="Calibri" pitchFamily="34"/>
                <a:cs typeface="Calibri" pitchFamily="34"/>
              </a:rPr>
              <a:t>✓ Cacheable, skalowalny</a:t>
            </a:r>
          </a:p>
        </p:txBody>
      </p:sp>
      <p:sp>
        <p:nvSpPr>
          <p:cNvPr id="11" name="Shape 19"/>
          <p:cNvSpPr/>
          <p:nvPr/>
        </p:nvSpPr>
        <p:spPr>
          <a:xfrm>
            <a:off x="5989320" y="2608200"/>
            <a:ext cx="2697480" cy="393120"/>
          </a:xfrm>
          <a:prstGeom prst="rect">
            <a:avLst/>
          </a:prstGeom>
          <a:solidFill>
            <a:srgbClr val="FEF2F2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2" name="Text 20"/>
          <p:cNvSpPr/>
          <p:nvPr/>
        </p:nvSpPr>
        <p:spPr>
          <a:xfrm>
            <a:off x="6085799" y="2599920"/>
            <a:ext cx="2552760" cy="347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zh-CN" sz="1400" b="0" i="0" u="none" strike="noStrike" kern="1200" cap="none" spc="0" baseline="0">
                <a:ln>
                  <a:noFill/>
                </a:ln>
                <a:solidFill>
                  <a:srgbClr val="EF4444"/>
                </a:solidFill>
                <a:latin typeface="Calibri" pitchFamily="34"/>
                <a:ea typeface="Calibri" pitchFamily="34"/>
                <a:cs typeface="Calibri" pitchFamily="34"/>
              </a:rPr>
              <a:t>✗ Wyższe opóźnienia niż MQTT</a:t>
            </a:r>
          </a:p>
        </p:txBody>
      </p:sp>
      <p:sp>
        <p:nvSpPr>
          <p:cNvPr id="13" name="Shape 0"/>
          <p:cNvSpPr/>
          <p:nvPr/>
        </p:nvSpPr>
        <p:spPr>
          <a:xfrm>
            <a:off x="0" y="0"/>
            <a:ext cx="9144000" cy="65844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4" name="Shape 1"/>
          <p:cNvSpPr/>
          <p:nvPr/>
        </p:nvSpPr>
        <p:spPr>
          <a:xfrm>
            <a:off x="0" y="658440"/>
            <a:ext cx="914400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5" name="Text 2"/>
          <p:cNvSpPr/>
          <p:nvPr/>
        </p:nvSpPr>
        <p:spPr>
          <a:xfrm>
            <a:off x="365760" y="36720"/>
            <a:ext cx="8412480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Integracja aplikacji z chmurą: wzorce i architektura</a:t>
            </a:r>
          </a:p>
        </p:txBody>
      </p:sp>
      <p:sp>
        <p:nvSpPr>
          <p:cNvPr id="16" name="Shape 3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8" name="Shape 5"/>
          <p:cNvSpPr/>
          <p:nvPr/>
        </p:nvSpPr>
        <p:spPr>
          <a:xfrm>
            <a:off x="320040" y="840599"/>
            <a:ext cx="8503200" cy="10800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9" name="Shape 6"/>
          <p:cNvSpPr/>
          <p:nvPr/>
        </p:nvSpPr>
        <p:spPr>
          <a:xfrm>
            <a:off x="320040" y="840599"/>
            <a:ext cx="64080" cy="108000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0" name="Text 7"/>
          <p:cNvSpPr/>
          <p:nvPr/>
        </p:nvSpPr>
        <p:spPr>
          <a:xfrm>
            <a:off x="502920" y="877679"/>
            <a:ext cx="457200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Direct MQTT Connection</a:t>
            </a:r>
          </a:p>
        </p:txBody>
      </p:sp>
      <p:sp>
        <p:nvSpPr>
          <p:cNvPr id="21" name="Text 8"/>
          <p:cNvSpPr/>
          <p:nvPr/>
        </p:nvSpPr>
        <p:spPr>
          <a:xfrm>
            <a:off x="502920" y="1143000"/>
            <a:ext cx="5257080" cy="77723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Aplikacja mobilna łączy się bezpośrednio z brokerem MQTT (AWS IoT Core, HiveMQ Cloud). Prosta implementacja, ale wymaga zarządzania połączeniem w tle i obsługi reconnect.</a:t>
            </a:r>
          </a:p>
        </p:txBody>
      </p:sp>
      <p:sp>
        <p:nvSpPr>
          <p:cNvPr id="22" name="Shape 9"/>
          <p:cNvSpPr/>
          <p:nvPr/>
        </p:nvSpPr>
        <p:spPr>
          <a:xfrm>
            <a:off x="5940000" y="950400"/>
            <a:ext cx="2746800" cy="393120"/>
          </a:xfrm>
          <a:prstGeom prst="rect">
            <a:avLst/>
          </a:prstGeom>
          <a:solidFill>
            <a:srgbClr val="ECFDF5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3" name="Text 10"/>
          <p:cNvSpPr/>
          <p:nvPr/>
        </p:nvSpPr>
        <p:spPr>
          <a:xfrm>
            <a:off x="5989320" y="977759"/>
            <a:ext cx="2651760" cy="347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zh-CN" sz="1400" b="0" i="0" u="none" strike="noStrike" kern="1200" cap="none" spc="0" baseline="0">
                <a:ln>
                  <a:noFill/>
                </a:ln>
                <a:solidFill>
                  <a:srgbClr val="0D9488"/>
                </a:solidFill>
                <a:latin typeface="Calibri" pitchFamily="34"/>
                <a:ea typeface="Calibri" pitchFamily="34"/>
                <a:cs typeface="Calibri" pitchFamily="34"/>
              </a:rPr>
              <a:t>✓ Niskie opóźnienia, real-time</a:t>
            </a:r>
          </a:p>
        </p:txBody>
      </p:sp>
      <p:sp>
        <p:nvSpPr>
          <p:cNvPr id="24" name="Shape 11"/>
          <p:cNvSpPr/>
          <p:nvPr/>
        </p:nvSpPr>
        <p:spPr>
          <a:xfrm>
            <a:off x="5940000" y="1380599"/>
            <a:ext cx="2746800" cy="393120"/>
          </a:xfrm>
          <a:prstGeom prst="rect">
            <a:avLst/>
          </a:prstGeom>
          <a:solidFill>
            <a:srgbClr val="FEF2F2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5" name="Text 12"/>
          <p:cNvSpPr/>
          <p:nvPr/>
        </p:nvSpPr>
        <p:spPr>
          <a:xfrm>
            <a:off x="5989320" y="1408319"/>
            <a:ext cx="2651760" cy="347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zh-CN" sz="1400" b="0" i="0" u="none" strike="noStrike" kern="1200" cap="none" spc="0" baseline="0">
                <a:ln>
                  <a:noFill/>
                </a:ln>
                <a:solidFill>
                  <a:srgbClr val="EF4444"/>
                </a:solidFill>
                <a:latin typeface="Calibri" pitchFamily="34"/>
                <a:ea typeface="Calibri" pitchFamily="34"/>
                <a:cs typeface="Calibri" pitchFamily="34"/>
              </a:rPr>
              <a:t>✗ Bateria, zarządzanie połączeniem</a:t>
            </a:r>
          </a:p>
        </p:txBody>
      </p:sp>
      <p:sp>
        <p:nvSpPr>
          <p:cNvPr id="26" name="Shape 25"/>
          <p:cNvSpPr/>
          <p:nvPr/>
        </p:nvSpPr>
        <p:spPr>
          <a:xfrm>
            <a:off x="6126480" y="3261600"/>
            <a:ext cx="2560319" cy="393120"/>
          </a:xfrm>
          <a:prstGeom prst="rect">
            <a:avLst/>
          </a:prstGeom>
          <a:solidFill>
            <a:srgbClr val="ECFDF5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6126480" y="3727800"/>
            <a:ext cx="2560319" cy="393120"/>
          </a:xfrm>
          <a:prstGeom prst="rect">
            <a:avLst/>
          </a:prstGeom>
          <a:solidFill>
            <a:srgbClr val="FEF2F2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502920" y="3260880"/>
            <a:ext cx="457200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Firebase Realtime / Firestore</a:t>
            </a:r>
          </a:p>
        </p:txBody>
      </p:sp>
      <p:sp>
        <p:nvSpPr>
          <p:cNvPr id="29" name="Text 24"/>
          <p:cNvSpPr/>
          <p:nvPr/>
        </p:nvSpPr>
        <p:spPr>
          <a:xfrm>
            <a:off x="468000" y="3490200"/>
            <a:ext cx="5629319" cy="77723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Firebase jako pośrednik — Cloud Functions reagują na dane IoT w MQTT </a:t>
            </a:r>
            <a:br>
              <a:rPr lang="en-US" sz="14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</a:br>
            <a:r>
              <a:rPr lang="en-US" sz="14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i zapisują do Firestore. Aplikacja używa Firebase SDK z lokalnym cache offline.</a:t>
            </a:r>
          </a:p>
        </p:txBody>
      </p:sp>
      <p:sp>
        <p:nvSpPr>
          <p:cNvPr id="30" name="Text 26"/>
          <p:cNvSpPr/>
          <p:nvPr/>
        </p:nvSpPr>
        <p:spPr>
          <a:xfrm>
            <a:off x="6217919" y="3288959"/>
            <a:ext cx="2423160" cy="347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zh-CN" sz="1400" b="0" i="0" u="none" strike="noStrike" kern="1200" cap="none" spc="0" baseline="0">
                <a:ln>
                  <a:noFill/>
                </a:ln>
                <a:solidFill>
                  <a:srgbClr val="0D9488"/>
                </a:solidFill>
                <a:latin typeface="Calibri" pitchFamily="34"/>
                <a:ea typeface="Calibri" pitchFamily="34"/>
                <a:cs typeface="Calibri" pitchFamily="34"/>
              </a:rPr>
              <a:t>✓ Offline first, prosty SDK</a:t>
            </a:r>
          </a:p>
        </p:txBody>
      </p:sp>
      <p:sp>
        <p:nvSpPr>
          <p:cNvPr id="31" name="Text 28"/>
          <p:cNvSpPr/>
          <p:nvPr/>
        </p:nvSpPr>
        <p:spPr>
          <a:xfrm>
            <a:off x="6217919" y="3755520"/>
            <a:ext cx="2423160" cy="347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r>
              <a:rPr lang="zh-CN" sz="1400" b="0" i="0" u="none" strike="noStrike" kern="1200" cap="none" spc="0" baseline="0">
                <a:ln>
                  <a:noFill/>
                </a:ln>
                <a:solidFill>
                  <a:srgbClr val="EF4444"/>
                </a:solidFill>
                <a:latin typeface="Calibri" pitchFamily="34"/>
                <a:ea typeface="Calibri" pitchFamily="34"/>
                <a:cs typeface="Calibri" pitchFamily="34"/>
              </a:rPr>
              <a:t>✗ Vendor lock-in Google</a:t>
            </a:r>
          </a:p>
        </p:txBody>
      </p:sp>
      <p:sp>
        <p:nvSpPr>
          <p:cNvPr id="32" name="Text 29"/>
          <p:cNvSpPr/>
          <p:nvPr/>
        </p:nvSpPr>
        <p:spPr>
          <a:xfrm>
            <a:off x="320040" y="4303440"/>
            <a:ext cx="8503920" cy="589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Wybór wzorca zależy od wymagań:</a:t>
            </a:r>
          </a:p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latencja krytyczna → MQTT Direct | łatwy start → Firebase | skalowalność enterprise → REST+WS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44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440"/>
            <a:ext cx="914400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36720"/>
            <a:ext cx="8412480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Zagrożenia i ochrona aplikacji mobilnych IoT</a:t>
            </a: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777239"/>
            <a:ext cx="841248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1" u="none" strike="noStrike" kern="1200" cap="none" spc="0" baseline="0">
                <a:ln>
                  <a:noFill/>
                </a:ln>
                <a:solidFill>
                  <a:srgbClr val="1E5FA8"/>
                </a:solidFill>
                <a:latin typeface="Calibri" pitchFamily="34"/>
                <a:ea typeface="Calibri" pitchFamily="34"/>
                <a:cs typeface="Calibri" pitchFamily="34"/>
              </a:rPr>
              <a:t>"Security by Design" — bezpieczeństwo wbudowane od początku projektu, nie dodane na końcu</a:t>
            </a:r>
          </a:p>
        </p:txBody>
      </p:sp>
      <p:sp>
        <p:nvSpPr>
          <p:cNvPr id="8" name="Shape 6"/>
          <p:cNvSpPr/>
          <p:nvPr/>
        </p:nvSpPr>
        <p:spPr>
          <a:xfrm>
            <a:off x="180000" y="1170360"/>
            <a:ext cx="4300560" cy="347400"/>
          </a:xfrm>
          <a:prstGeom prst="rect">
            <a:avLst/>
          </a:prstGeom>
          <a:solidFill>
            <a:srgbClr val="EF4444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4680" y="1180080"/>
            <a:ext cx="406404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zh-CN" sz="18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⚠ Zagrożenia</a:t>
            </a:r>
          </a:p>
        </p:txBody>
      </p:sp>
      <p:sp>
        <p:nvSpPr>
          <p:cNvPr id="10" name="Shape 8"/>
          <p:cNvSpPr/>
          <p:nvPr/>
        </p:nvSpPr>
        <p:spPr>
          <a:xfrm>
            <a:off x="4663440" y="1170360"/>
            <a:ext cx="4336560" cy="34740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58840" y="1180080"/>
            <a:ext cx="409824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zh-CN" sz="18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✓ Środki ochrony</a:t>
            </a:r>
          </a:p>
        </p:txBody>
      </p:sp>
      <p:sp>
        <p:nvSpPr>
          <p:cNvPr id="12" name="Shape 10"/>
          <p:cNvSpPr/>
          <p:nvPr/>
        </p:nvSpPr>
        <p:spPr>
          <a:xfrm>
            <a:off x="180000" y="1581839"/>
            <a:ext cx="4302000" cy="540000"/>
          </a:xfrm>
          <a:prstGeom prst="rect">
            <a:avLst/>
          </a:prstGeom>
          <a:solidFill>
            <a:srgbClr val="FFFFFF"/>
          </a:solidFill>
          <a:ln w="6480" cap="flat">
            <a:solidFill>
              <a:srgbClr val="E2E8F0"/>
            </a:solidFill>
            <a:prstDash val="solid"/>
            <a:miter/>
          </a:ln>
        </p:spPr>
        <p:txBody>
          <a:bodyPr vert="horz" wrap="square" lIns="93240" tIns="48240" rIns="93240" bIns="4824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1840" y="1591560"/>
            <a:ext cx="3969719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EF4444"/>
                </a:solidFill>
                <a:latin typeface="Cambria" pitchFamily="34"/>
                <a:ea typeface="Cambria" pitchFamily="34"/>
                <a:cs typeface="Cambria" pitchFamily="34"/>
              </a:rPr>
              <a:t>Man-in-the-Middle</a:t>
            </a:r>
          </a:p>
        </p:txBody>
      </p:sp>
      <p:sp>
        <p:nvSpPr>
          <p:cNvPr id="14" name="Text 12"/>
          <p:cNvSpPr/>
          <p:nvPr/>
        </p:nvSpPr>
        <p:spPr>
          <a:xfrm>
            <a:off x="321840" y="1801800"/>
            <a:ext cx="396971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Przechwycenie niezaszyfrowanej komunikacji MQTT/HTTP między app, a brokerem</a:t>
            </a:r>
          </a:p>
        </p:txBody>
      </p:sp>
      <p:sp>
        <p:nvSpPr>
          <p:cNvPr id="15" name="Shape 13"/>
          <p:cNvSpPr/>
          <p:nvPr/>
        </p:nvSpPr>
        <p:spPr>
          <a:xfrm>
            <a:off x="4663440" y="1581839"/>
            <a:ext cx="4338000" cy="503999"/>
          </a:xfrm>
          <a:prstGeom prst="rect">
            <a:avLst/>
          </a:prstGeom>
          <a:solidFill>
            <a:srgbClr val="FFFFFF"/>
          </a:solidFill>
          <a:ln w="6480" cap="flat">
            <a:solidFill>
              <a:srgbClr val="E2E8F0"/>
            </a:solidFill>
            <a:prstDash val="solid"/>
            <a:miter/>
          </a:ln>
        </p:spPr>
        <p:txBody>
          <a:bodyPr vert="horz" wrap="square" lIns="93240" tIns="48240" rIns="93240" bIns="4824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06360" y="1627560"/>
            <a:ext cx="4003199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0D9488"/>
                </a:solidFill>
                <a:latin typeface="Cambria" pitchFamily="34"/>
                <a:ea typeface="Cambria" pitchFamily="34"/>
                <a:cs typeface="Cambria" pitchFamily="34"/>
              </a:rPr>
              <a:t>TLS 1.3 + MQTT over TLS</a:t>
            </a:r>
          </a:p>
        </p:txBody>
      </p:sp>
      <p:sp>
        <p:nvSpPr>
          <p:cNvPr id="17" name="Text 15"/>
          <p:cNvSpPr/>
          <p:nvPr/>
        </p:nvSpPr>
        <p:spPr>
          <a:xfrm>
            <a:off x="4806360" y="1837799"/>
            <a:ext cx="400319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Szyfrowanie E2E, weryfikacja certyfikatu serwera (certificate pinning)</a:t>
            </a:r>
          </a:p>
        </p:txBody>
      </p:sp>
      <p:sp>
        <p:nvSpPr>
          <p:cNvPr id="18" name="Shape 16"/>
          <p:cNvSpPr/>
          <p:nvPr/>
        </p:nvSpPr>
        <p:spPr>
          <a:xfrm>
            <a:off x="180000" y="2203560"/>
            <a:ext cx="4302000" cy="540000"/>
          </a:xfrm>
          <a:prstGeom prst="rect">
            <a:avLst/>
          </a:prstGeom>
          <a:solidFill>
            <a:srgbClr val="FEF2F2"/>
          </a:solidFill>
          <a:ln w="6480" cap="flat">
            <a:solidFill>
              <a:srgbClr val="E2E8F0"/>
            </a:solidFill>
            <a:prstDash val="solid"/>
            <a:miter/>
          </a:ln>
        </p:spPr>
        <p:txBody>
          <a:bodyPr vert="horz" wrap="square" lIns="93240" tIns="48240" rIns="93240" bIns="4824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1840" y="2249280"/>
            <a:ext cx="3969719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EF4444"/>
                </a:solidFill>
                <a:latin typeface="Cambria" pitchFamily="34"/>
                <a:ea typeface="Cambria" pitchFamily="34"/>
                <a:cs typeface="Cambria" pitchFamily="34"/>
              </a:rPr>
              <a:t>Device Spoofing</a:t>
            </a:r>
          </a:p>
        </p:txBody>
      </p:sp>
      <p:sp>
        <p:nvSpPr>
          <p:cNvPr id="20" name="Text 18"/>
          <p:cNvSpPr/>
          <p:nvPr/>
        </p:nvSpPr>
        <p:spPr>
          <a:xfrm>
            <a:off x="321840" y="2459880"/>
            <a:ext cx="396971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Fałszywe urządzenie podszywające się pod legalny sensor w sieci IoT</a:t>
            </a:r>
          </a:p>
        </p:txBody>
      </p:sp>
      <p:sp>
        <p:nvSpPr>
          <p:cNvPr id="21" name="Shape 19"/>
          <p:cNvSpPr/>
          <p:nvPr/>
        </p:nvSpPr>
        <p:spPr>
          <a:xfrm>
            <a:off x="4663440" y="2275560"/>
            <a:ext cx="4338000" cy="503999"/>
          </a:xfrm>
          <a:prstGeom prst="rect">
            <a:avLst/>
          </a:prstGeom>
          <a:solidFill>
            <a:srgbClr val="ECFDF5"/>
          </a:solidFill>
          <a:ln w="6480" cap="flat">
            <a:solidFill>
              <a:srgbClr val="E2E8F0"/>
            </a:solidFill>
            <a:prstDash val="solid"/>
            <a:miter/>
          </a:ln>
        </p:spPr>
        <p:txBody>
          <a:bodyPr vert="horz" wrap="square" lIns="93240" tIns="48240" rIns="93240" bIns="4824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06360" y="2249280"/>
            <a:ext cx="4003199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0D9488"/>
                </a:solidFill>
                <a:latin typeface="Cambria" pitchFamily="34"/>
                <a:ea typeface="Cambria" pitchFamily="34"/>
                <a:cs typeface="Cambria" pitchFamily="34"/>
              </a:rPr>
              <a:t>Mutual TLS (mTLS)</a:t>
            </a:r>
          </a:p>
        </p:txBody>
      </p:sp>
      <p:sp>
        <p:nvSpPr>
          <p:cNvPr id="23" name="Text 21"/>
          <p:cNvSpPr/>
          <p:nvPr/>
        </p:nvSpPr>
        <p:spPr>
          <a:xfrm>
            <a:off x="4806360" y="2459880"/>
            <a:ext cx="400319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Certyfikaty X.509 dla każdego urządzenia, obustronnieuwe uwierzytelnienie</a:t>
            </a:r>
          </a:p>
        </p:txBody>
      </p:sp>
      <p:sp>
        <p:nvSpPr>
          <p:cNvPr id="24" name="Shape 22"/>
          <p:cNvSpPr/>
          <p:nvPr/>
        </p:nvSpPr>
        <p:spPr>
          <a:xfrm>
            <a:off x="180000" y="2808000"/>
            <a:ext cx="4302000" cy="540000"/>
          </a:xfrm>
          <a:prstGeom prst="rect">
            <a:avLst/>
          </a:prstGeom>
          <a:solidFill>
            <a:srgbClr val="FFFFFF"/>
          </a:solidFill>
          <a:ln w="6480" cap="flat">
            <a:solidFill>
              <a:srgbClr val="E2E8F0"/>
            </a:solidFill>
            <a:prstDash val="solid"/>
            <a:miter/>
          </a:ln>
        </p:spPr>
        <p:txBody>
          <a:bodyPr vert="horz" wrap="square" lIns="93240" tIns="48240" rIns="93240" bIns="4824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21840" y="2871360"/>
            <a:ext cx="3969719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EF4444"/>
                </a:solidFill>
                <a:latin typeface="Cambria" pitchFamily="34"/>
                <a:ea typeface="Cambria" pitchFamily="34"/>
                <a:cs typeface="Cambria" pitchFamily="34"/>
              </a:rPr>
              <a:t>Replay Attack</a:t>
            </a:r>
          </a:p>
        </p:txBody>
      </p:sp>
      <p:sp>
        <p:nvSpPr>
          <p:cNvPr id="26" name="Text 24"/>
          <p:cNvSpPr/>
          <p:nvPr/>
        </p:nvSpPr>
        <p:spPr>
          <a:xfrm>
            <a:off x="321840" y="3081600"/>
            <a:ext cx="417816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Ponowne wysłanie przechwyconych pakietów sterowania urządzeniem</a:t>
            </a:r>
          </a:p>
        </p:txBody>
      </p:sp>
      <p:sp>
        <p:nvSpPr>
          <p:cNvPr id="27" name="Shape 25"/>
          <p:cNvSpPr/>
          <p:nvPr/>
        </p:nvSpPr>
        <p:spPr>
          <a:xfrm>
            <a:off x="4663440" y="2897640"/>
            <a:ext cx="4338000" cy="503999"/>
          </a:xfrm>
          <a:prstGeom prst="rect">
            <a:avLst/>
          </a:prstGeom>
          <a:solidFill>
            <a:srgbClr val="FFFFFF"/>
          </a:solidFill>
          <a:ln w="6480" cap="flat">
            <a:solidFill>
              <a:srgbClr val="E2E8F0"/>
            </a:solidFill>
            <a:prstDash val="solid"/>
            <a:miter/>
          </a:ln>
        </p:spPr>
        <p:txBody>
          <a:bodyPr vert="horz" wrap="square" lIns="93240" tIns="48240" rIns="93240" bIns="4824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06360" y="2871360"/>
            <a:ext cx="4003199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0D9488"/>
                </a:solidFill>
                <a:latin typeface="Cambria" pitchFamily="34"/>
                <a:ea typeface="Cambria" pitchFamily="34"/>
                <a:cs typeface="Cambria" pitchFamily="34"/>
              </a:rPr>
              <a:t>Timestamp + Nonce</a:t>
            </a:r>
          </a:p>
        </p:txBody>
      </p:sp>
      <p:sp>
        <p:nvSpPr>
          <p:cNvPr id="29" name="Text 27"/>
          <p:cNvSpPr/>
          <p:nvPr/>
        </p:nvSpPr>
        <p:spPr>
          <a:xfrm>
            <a:off x="4806360" y="3081600"/>
            <a:ext cx="400319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Każda wiadomość zawiera timestamp i jednorazowy nonce, blokuje replay</a:t>
            </a:r>
          </a:p>
        </p:txBody>
      </p:sp>
      <p:sp>
        <p:nvSpPr>
          <p:cNvPr id="30" name="Shape 28"/>
          <p:cNvSpPr/>
          <p:nvPr/>
        </p:nvSpPr>
        <p:spPr>
          <a:xfrm>
            <a:off x="180000" y="3447360"/>
            <a:ext cx="4302000" cy="540000"/>
          </a:xfrm>
          <a:prstGeom prst="rect">
            <a:avLst/>
          </a:prstGeom>
          <a:solidFill>
            <a:srgbClr val="FEF2F2"/>
          </a:solidFill>
          <a:ln w="6480" cap="flat">
            <a:solidFill>
              <a:srgbClr val="E2E8F0"/>
            </a:solidFill>
            <a:prstDash val="solid"/>
            <a:miter/>
          </a:ln>
        </p:spPr>
        <p:txBody>
          <a:bodyPr vert="horz" wrap="square" lIns="93240" tIns="48240" rIns="93240" bIns="4824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21840" y="3493080"/>
            <a:ext cx="3969719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EF4444"/>
                </a:solidFill>
                <a:latin typeface="Cambria" pitchFamily="34"/>
                <a:ea typeface="Cambria" pitchFamily="34"/>
                <a:cs typeface="Cambria" pitchFamily="34"/>
              </a:rPr>
              <a:t>Insecure Storage</a:t>
            </a:r>
          </a:p>
        </p:txBody>
      </p:sp>
      <p:sp>
        <p:nvSpPr>
          <p:cNvPr id="32" name="Text 30"/>
          <p:cNvSpPr/>
          <p:nvPr/>
        </p:nvSpPr>
        <p:spPr>
          <a:xfrm>
            <a:off x="321840" y="3703319"/>
            <a:ext cx="396971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Tokeny i certyfikaty w logach, SharedPreferences bez szyfrowania</a:t>
            </a:r>
          </a:p>
        </p:txBody>
      </p:sp>
      <p:sp>
        <p:nvSpPr>
          <p:cNvPr id="33" name="Shape 31"/>
          <p:cNvSpPr/>
          <p:nvPr/>
        </p:nvSpPr>
        <p:spPr>
          <a:xfrm>
            <a:off x="4663440" y="3555360"/>
            <a:ext cx="4338000" cy="503999"/>
          </a:xfrm>
          <a:prstGeom prst="rect">
            <a:avLst/>
          </a:prstGeom>
          <a:solidFill>
            <a:srgbClr val="ECFDF5"/>
          </a:solidFill>
          <a:ln w="6480" cap="flat">
            <a:solidFill>
              <a:srgbClr val="E2E8F0"/>
            </a:solidFill>
            <a:prstDash val="solid"/>
            <a:miter/>
          </a:ln>
        </p:spPr>
        <p:txBody>
          <a:bodyPr vert="horz" wrap="square" lIns="93240" tIns="48240" rIns="93240" bIns="4824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806360" y="3529080"/>
            <a:ext cx="4003199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0D9488"/>
                </a:solidFill>
                <a:latin typeface="Cambria" pitchFamily="34"/>
                <a:ea typeface="Cambria" pitchFamily="34"/>
                <a:cs typeface="Cambria" pitchFamily="34"/>
              </a:rPr>
              <a:t>Android Keystore / iOS Secure Enclave</a:t>
            </a:r>
          </a:p>
        </p:txBody>
      </p:sp>
      <p:sp>
        <p:nvSpPr>
          <p:cNvPr id="35" name="Text 33"/>
          <p:cNvSpPr/>
          <p:nvPr/>
        </p:nvSpPr>
        <p:spPr>
          <a:xfrm>
            <a:off x="4806360" y="3703319"/>
            <a:ext cx="400319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Przechowywanie kluczy w hardware — niedostępne dla innych aplikacji</a:t>
            </a:r>
          </a:p>
        </p:txBody>
      </p:sp>
      <p:sp>
        <p:nvSpPr>
          <p:cNvPr id="36" name="Shape 34"/>
          <p:cNvSpPr/>
          <p:nvPr/>
        </p:nvSpPr>
        <p:spPr>
          <a:xfrm>
            <a:off x="180000" y="4105080"/>
            <a:ext cx="4302000" cy="540000"/>
          </a:xfrm>
          <a:prstGeom prst="rect">
            <a:avLst/>
          </a:prstGeom>
          <a:solidFill>
            <a:srgbClr val="FFFFFF"/>
          </a:solidFill>
          <a:ln w="6480" cap="flat">
            <a:solidFill>
              <a:srgbClr val="E2E8F0"/>
            </a:solidFill>
            <a:prstDash val="solid"/>
            <a:miter/>
          </a:ln>
        </p:spPr>
        <p:txBody>
          <a:bodyPr vert="horz" wrap="square" lIns="93240" tIns="48240" rIns="93240" bIns="4824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21840" y="4150800"/>
            <a:ext cx="3969719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EF4444"/>
                </a:solidFill>
                <a:latin typeface="Cambria" pitchFamily="34"/>
                <a:ea typeface="Cambria" pitchFamily="34"/>
                <a:cs typeface="Cambria" pitchFamily="34"/>
              </a:rPr>
              <a:t>OTA Poisoning</a:t>
            </a:r>
          </a:p>
        </p:txBody>
      </p:sp>
      <p:sp>
        <p:nvSpPr>
          <p:cNvPr id="38" name="Text 36"/>
          <p:cNvSpPr/>
          <p:nvPr/>
        </p:nvSpPr>
        <p:spPr>
          <a:xfrm>
            <a:off x="321840" y="4325040"/>
            <a:ext cx="396971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Podmiana firmware podczas aktualizacji Over-the-Air</a:t>
            </a:r>
          </a:p>
        </p:txBody>
      </p:sp>
      <p:sp>
        <p:nvSpPr>
          <p:cNvPr id="39" name="Shape 37"/>
          <p:cNvSpPr/>
          <p:nvPr/>
        </p:nvSpPr>
        <p:spPr>
          <a:xfrm>
            <a:off x="4663440" y="4105080"/>
            <a:ext cx="4338000" cy="503999"/>
          </a:xfrm>
          <a:prstGeom prst="rect">
            <a:avLst/>
          </a:prstGeom>
          <a:solidFill>
            <a:srgbClr val="FFFFFF"/>
          </a:solidFill>
          <a:ln w="6480" cap="flat">
            <a:solidFill>
              <a:srgbClr val="E2E8F0"/>
            </a:solidFill>
            <a:prstDash val="solid"/>
            <a:miter/>
          </a:ln>
        </p:spPr>
        <p:txBody>
          <a:bodyPr vert="horz" wrap="square" lIns="93240" tIns="48240" rIns="93240" bIns="4824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806360" y="4114800"/>
            <a:ext cx="4003199" cy="201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0D9488"/>
                </a:solidFill>
                <a:latin typeface="Cambria" pitchFamily="34"/>
                <a:ea typeface="Cambria" pitchFamily="34"/>
                <a:cs typeface="Cambria" pitchFamily="34"/>
              </a:rPr>
              <a:t>Podpis cyfrowy firmware</a:t>
            </a:r>
          </a:p>
        </p:txBody>
      </p:sp>
      <p:sp>
        <p:nvSpPr>
          <p:cNvPr id="41" name="Text 39"/>
          <p:cNvSpPr/>
          <p:nvPr/>
        </p:nvSpPr>
        <p:spPr>
          <a:xfrm>
            <a:off x="4806360" y="4325040"/>
            <a:ext cx="400319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Weryfikacja podpisu ECDSA przed instalacją aktualizacji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44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440"/>
            <a:ext cx="914400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36720"/>
            <a:ext cx="8412480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Autentykacja i autoryzacja w systemach IoT</a:t>
            </a: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777239"/>
            <a:ext cx="416052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Metody uwierzytelniania:</a:t>
            </a:r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4160520" cy="6948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64080" cy="694800"/>
          </a:xfrm>
          <a:prstGeom prst="rect">
            <a:avLst/>
          </a:prstGeom>
          <a:solidFill>
            <a:srgbClr val="64748B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1098360"/>
            <a:ext cx="39776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Username/Password + TLS</a:t>
            </a:r>
          </a:p>
        </p:txBody>
      </p:sp>
      <p:sp>
        <p:nvSpPr>
          <p:cNvPr id="11" name="Text 9"/>
          <p:cNvSpPr/>
          <p:nvPr/>
        </p:nvSpPr>
        <p:spPr>
          <a:xfrm>
            <a:off x="457200" y="1409399"/>
            <a:ext cx="3977640" cy="219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Podstawowa metoda — niewystarczająca dla produkcji. Hasła muszą być silne i przechowywane jako hash (bcrypt).</a:t>
            </a:r>
          </a:p>
        </p:txBody>
      </p:sp>
      <p:sp>
        <p:nvSpPr>
          <p:cNvPr id="12" name="Shape 10"/>
          <p:cNvSpPr/>
          <p:nvPr/>
        </p:nvSpPr>
        <p:spPr>
          <a:xfrm>
            <a:off x="320040" y="1793520"/>
            <a:ext cx="4160520" cy="6948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1865519"/>
            <a:ext cx="64080" cy="694800"/>
          </a:xfrm>
          <a:prstGeom prst="rect">
            <a:avLst/>
          </a:prstGeom>
          <a:solidFill>
            <a:srgbClr val="F59E0B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1866599"/>
            <a:ext cx="39776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API Key / Token</a:t>
            </a:r>
          </a:p>
        </p:txBody>
      </p:sp>
      <p:sp>
        <p:nvSpPr>
          <p:cNvPr id="15" name="Text 13"/>
          <p:cNvSpPr/>
          <p:nvPr/>
        </p:nvSpPr>
        <p:spPr>
          <a:xfrm>
            <a:off x="457200" y="2177280"/>
            <a:ext cx="3977640" cy="219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Statyczny klucz przypisany do urządzenia. Prosty, ale bez expiry i trudny do rotacji w dużych flotach.</a:t>
            </a:r>
          </a:p>
        </p:txBody>
      </p:sp>
      <p:sp>
        <p:nvSpPr>
          <p:cNvPr id="16" name="Shape 14"/>
          <p:cNvSpPr/>
          <p:nvPr/>
        </p:nvSpPr>
        <p:spPr>
          <a:xfrm>
            <a:off x="320040" y="2633400"/>
            <a:ext cx="4160520" cy="6948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2633400"/>
            <a:ext cx="64080" cy="69480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2634480"/>
            <a:ext cx="39776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JWT (JSON Web Tokens)</a:t>
            </a:r>
          </a:p>
        </p:txBody>
      </p:sp>
      <p:sp>
        <p:nvSpPr>
          <p:cNvPr id="19" name="Text 17"/>
          <p:cNvSpPr/>
          <p:nvPr/>
        </p:nvSpPr>
        <p:spPr>
          <a:xfrm>
            <a:off x="457200" y="2945520"/>
            <a:ext cx="3977640" cy="219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Tokeny z expiry, podpisane kluczem (RS256/ES256). Aplikacja mobilna przechowuje refresh token, wymienia na access token.</a:t>
            </a:r>
          </a:p>
        </p:txBody>
      </p:sp>
      <p:sp>
        <p:nvSpPr>
          <p:cNvPr id="20" name="Shape 18"/>
          <p:cNvSpPr/>
          <p:nvPr/>
        </p:nvSpPr>
        <p:spPr>
          <a:xfrm>
            <a:off x="320040" y="3401640"/>
            <a:ext cx="4160520" cy="6948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" y="3401640"/>
            <a:ext cx="64080" cy="69480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" y="3402720"/>
            <a:ext cx="39776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OAuth 2.0 / OIDC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3713760"/>
            <a:ext cx="3977640" cy="219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Delegacja uprawnień — użytkownik autoryzuje apkę do dostępu do swoich urządzeń bez podawania hasła.</a:t>
            </a:r>
          </a:p>
        </p:txBody>
      </p:sp>
      <p:sp>
        <p:nvSpPr>
          <p:cNvPr id="24" name="Shape 22"/>
          <p:cNvSpPr/>
          <p:nvPr/>
        </p:nvSpPr>
        <p:spPr>
          <a:xfrm>
            <a:off x="320040" y="4097520"/>
            <a:ext cx="4160520" cy="6948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0040" y="4169520"/>
            <a:ext cx="64080" cy="694800"/>
          </a:xfrm>
          <a:prstGeom prst="rect">
            <a:avLst/>
          </a:prstGeom>
          <a:solidFill>
            <a:srgbClr val="10B981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7200" y="4098960"/>
            <a:ext cx="39776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mTLS + X.509 Certs</a:t>
            </a:r>
          </a:p>
        </p:txBody>
      </p:sp>
      <p:sp>
        <p:nvSpPr>
          <p:cNvPr id="27" name="Text 25"/>
          <p:cNvSpPr/>
          <p:nvPr/>
        </p:nvSpPr>
        <p:spPr>
          <a:xfrm>
            <a:off x="457200" y="4409640"/>
            <a:ext cx="3977640" cy="219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Certyfikaty per urządzenie — gold standard dla produkcji IoT. AWS IoT Core, Azure IoT Hub.</a:t>
            </a:r>
          </a:p>
        </p:txBody>
      </p:sp>
      <p:sp>
        <p:nvSpPr>
          <p:cNvPr id="28" name="Text 26"/>
          <p:cNvSpPr/>
          <p:nvPr/>
        </p:nvSpPr>
        <p:spPr>
          <a:xfrm>
            <a:off x="4663440" y="777239"/>
            <a:ext cx="420624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JWT Flow w aplikacji mobilnej:</a:t>
            </a:r>
          </a:p>
        </p:txBody>
      </p:sp>
      <p:sp>
        <p:nvSpPr>
          <p:cNvPr id="29" name="Shape 27"/>
          <p:cNvSpPr/>
          <p:nvPr/>
        </p:nvSpPr>
        <p:spPr>
          <a:xfrm>
            <a:off x="4663440" y="1097280"/>
            <a:ext cx="4206240" cy="502920"/>
          </a:xfrm>
          <a:prstGeom prst="rect">
            <a:avLst/>
          </a:prstGeom>
          <a:solidFill>
            <a:srgbClr val="FFFFFF"/>
          </a:solidFill>
          <a:ln w="6480" cap="flat">
            <a:solidFill>
              <a:srgbClr val="E2E8F0"/>
            </a:solidFill>
            <a:prstDash val="solid"/>
            <a:miter/>
          </a:ln>
        </p:spPr>
        <p:txBody>
          <a:bodyPr vert="horz" wrap="square" lIns="93240" tIns="48240" rIns="93240" bIns="4824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54879" y="1161360"/>
            <a:ext cx="274320" cy="27432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754879" y="1161360"/>
            <a:ext cx="27432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1</a:t>
            </a:r>
          </a:p>
        </p:txBody>
      </p:sp>
      <p:sp>
        <p:nvSpPr>
          <p:cNvPr id="32" name="Text 30"/>
          <p:cNvSpPr/>
          <p:nvPr/>
        </p:nvSpPr>
        <p:spPr>
          <a:xfrm>
            <a:off x="5102280" y="1143000"/>
            <a:ext cx="3703319" cy="4114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Login (email/pwd) → Auth Server</a:t>
            </a:r>
          </a:p>
        </p:txBody>
      </p:sp>
      <p:sp>
        <p:nvSpPr>
          <p:cNvPr id="33" name="Shape 31"/>
          <p:cNvSpPr/>
          <p:nvPr/>
        </p:nvSpPr>
        <p:spPr>
          <a:xfrm>
            <a:off x="4663440" y="1664279"/>
            <a:ext cx="4206240" cy="502920"/>
          </a:xfrm>
          <a:prstGeom prst="rect">
            <a:avLst/>
          </a:prstGeom>
          <a:solidFill>
            <a:srgbClr val="F0F4FA"/>
          </a:solidFill>
          <a:ln w="6480" cap="flat">
            <a:solidFill>
              <a:srgbClr val="E2E8F0"/>
            </a:solidFill>
            <a:prstDash val="solid"/>
            <a:miter/>
          </a:ln>
        </p:spPr>
        <p:txBody>
          <a:bodyPr vert="horz" wrap="square" lIns="93240" tIns="48240" rIns="93240" bIns="4824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754879" y="1728360"/>
            <a:ext cx="274320" cy="27432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754879" y="1728360"/>
            <a:ext cx="27432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2</a:t>
            </a:r>
          </a:p>
        </p:txBody>
      </p:sp>
      <p:sp>
        <p:nvSpPr>
          <p:cNvPr id="36" name="Text 34"/>
          <p:cNvSpPr/>
          <p:nvPr/>
        </p:nvSpPr>
        <p:spPr>
          <a:xfrm>
            <a:off x="5102280" y="1710000"/>
            <a:ext cx="3703319" cy="4114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Serwer zwraca access_token (1h) + refresh_token (30d)</a:t>
            </a:r>
          </a:p>
        </p:txBody>
      </p:sp>
      <p:sp>
        <p:nvSpPr>
          <p:cNvPr id="37" name="Shape 35"/>
          <p:cNvSpPr/>
          <p:nvPr/>
        </p:nvSpPr>
        <p:spPr>
          <a:xfrm>
            <a:off x="4663440" y="2231280"/>
            <a:ext cx="4206240" cy="502920"/>
          </a:xfrm>
          <a:prstGeom prst="rect">
            <a:avLst/>
          </a:prstGeom>
          <a:solidFill>
            <a:srgbClr val="FFFFFF"/>
          </a:solidFill>
          <a:ln w="6480" cap="flat">
            <a:solidFill>
              <a:srgbClr val="E2E8F0"/>
            </a:solidFill>
            <a:prstDash val="solid"/>
            <a:miter/>
          </a:ln>
        </p:spPr>
        <p:txBody>
          <a:bodyPr vert="horz" wrap="square" lIns="93240" tIns="48240" rIns="93240" bIns="4824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754879" y="2295000"/>
            <a:ext cx="274320" cy="27432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754879" y="2295000"/>
            <a:ext cx="27432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3</a:t>
            </a:r>
          </a:p>
        </p:txBody>
      </p:sp>
      <p:sp>
        <p:nvSpPr>
          <p:cNvPr id="40" name="Text 38"/>
          <p:cNvSpPr/>
          <p:nvPr/>
        </p:nvSpPr>
        <p:spPr>
          <a:xfrm>
            <a:off x="5102280" y="2276999"/>
            <a:ext cx="3703319" cy="4114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App dołącza Bearer token do każdego żądania HTTP / MQTT username</a:t>
            </a:r>
          </a:p>
        </p:txBody>
      </p:sp>
      <p:sp>
        <p:nvSpPr>
          <p:cNvPr id="41" name="Shape 39"/>
          <p:cNvSpPr/>
          <p:nvPr/>
        </p:nvSpPr>
        <p:spPr>
          <a:xfrm>
            <a:off x="4663440" y="2797920"/>
            <a:ext cx="4206240" cy="502920"/>
          </a:xfrm>
          <a:prstGeom prst="rect">
            <a:avLst/>
          </a:prstGeom>
          <a:solidFill>
            <a:srgbClr val="F0F4FA"/>
          </a:solidFill>
          <a:ln w="6480" cap="flat">
            <a:solidFill>
              <a:srgbClr val="E2E8F0"/>
            </a:solidFill>
            <a:prstDash val="solid"/>
            <a:miter/>
          </a:ln>
        </p:spPr>
        <p:txBody>
          <a:bodyPr vert="horz" wrap="square" lIns="93240" tIns="48240" rIns="93240" bIns="4824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754879" y="2862000"/>
            <a:ext cx="274320" cy="27432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754879" y="2862000"/>
            <a:ext cx="27432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4</a:t>
            </a:r>
          </a:p>
        </p:txBody>
      </p:sp>
      <p:sp>
        <p:nvSpPr>
          <p:cNvPr id="44" name="Text 42"/>
          <p:cNvSpPr/>
          <p:nvPr/>
        </p:nvSpPr>
        <p:spPr>
          <a:xfrm>
            <a:off x="5102280" y="2843640"/>
            <a:ext cx="3703319" cy="4114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Po wygaśnięciu: refresh_token → nowy access_token</a:t>
            </a:r>
          </a:p>
        </p:txBody>
      </p:sp>
      <p:sp>
        <p:nvSpPr>
          <p:cNvPr id="45" name="Shape 43"/>
          <p:cNvSpPr/>
          <p:nvPr/>
        </p:nvSpPr>
        <p:spPr>
          <a:xfrm>
            <a:off x="4663440" y="3364920"/>
            <a:ext cx="4206240" cy="502920"/>
          </a:xfrm>
          <a:prstGeom prst="rect">
            <a:avLst/>
          </a:prstGeom>
          <a:solidFill>
            <a:srgbClr val="FFFFFF"/>
          </a:solidFill>
          <a:ln w="6480" cap="flat">
            <a:solidFill>
              <a:srgbClr val="E2E8F0"/>
            </a:solidFill>
            <a:prstDash val="solid"/>
            <a:miter/>
          </a:ln>
        </p:spPr>
        <p:txBody>
          <a:bodyPr vert="horz" wrap="square" lIns="93240" tIns="48240" rIns="93240" bIns="4824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754879" y="3429000"/>
            <a:ext cx="274320" cy="27432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754879" y="3429000"/>
            <a:ext cx="27432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5</a:t>
            </a:r>
          </a:p>
        </p:txBody>
      </p:sp>
      <p:sp>
        <p:nvSpPr>
          <p:cNvPr id="48" name="Text 46"/>
          <p:cNvSpPr/>
          <p:nvPr/>
        </p:nvSpPr>
        <p:spPr>
          <a:xfrm>
            <a:off x="5102280" y="3410640"/>
            <a:ext cx="3703319" cy="4114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Refresh token rotacja — zmniejsza ryzyko kradzieży</a:t>
            </a:r>
          </a:p>
        </p:txBody>
      </p:sp>
      <p:sp>
        <p:nvSpPr>
          <p:cNvPr id="49" name="Text 47"/>
          <p:cNvSpPr/>
          <p:nvPr/>
        </p:nvSpPr>
        <p:spPr>
          <a:xfrm>
            <a:off x="4663440" y="3950280"/>
            <a:ext cx="420624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Role-Based Access Control (RBAC)</a:t>
            </a:r>
          </a:p>
        </p:txBody>
      </p:sp>
      <p:sp>
        <p:nvSpPr>
          <p:cNvPr id="50" name="Shape 48"/>
          <p:cNvSpPr/>
          <p:nvPr/>
        </p:nvSpPr>
        <p:spPr>
          <a:xfrm>
            <a:off x="4663440" y="4279320"/>
            <a:ext cx="1325880" cy="530280"/>
          </a:xfrm>
          <a:prstGeom prst="rect">
            <a:avLst/>
          </a:prstGeom>
          <a:solidFill>
            <a:srgbClr val="EF4444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663440" y="4325040"/>
            <a:ext cx="132588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Admin</a:t>
            </a:r>
          </a:p>
        </p:txBody>
      </p:sp>
      <p:sp>
        <p:nvSpPr>
          <p:cNvPr id="52" name="Text 50"/>
          <p:cNvSpPr/>
          <p:nvPr/>
        </p:nvSpPr>
        <p:spPr>
          <a:xfrm>
            <a:off x="4663440" y="4553640"/>
            <a:ext cx="132588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Pełny dostęp + zarządzanie flotą</a:t>
            </a:r>
          </a:p>
        </p:txBody>
      </p:sp>
      <p:sp>
        <p:nvSpPr>
          <p:cNvPr id="53" name="Shape 51"/>
          <p:cNvSpPr/>
          <p:nvPr/>
        </p:nvSpPr>
        <p:spPr>
          <a:xfrm>
            <a:off x="6062400" y="4279320"/>
            <a:ext cx="1325880" cy="53028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062400" y="4325040"/>
            <a:ext cx="132588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Operator</a:t>
            </a:r>
          </a:p>
        </p:txBody>
      </p:sp>
      <p:sp>
        <p:nvSpPr>
          <p:cNvPr id="55" name="Text 53"/>
          <p:cNvSpPr/>
          <p:nvPr/>
        </p:nvSpPr>
        <p:spPr>
          <a:xfrm>
            <a:off x="6062400" y="4553640"/>
            <a:ext cx="132588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Sterowanie i monitoring</a:t>
            </a:r>
          </a:p>
        </p:txBody>
      </p:sp>
      <p:sp>
        <p:nvSpPr>
          <p:cNvPr id="56" name="Shape 54"/>
          <p:cNvSpPr/>
          <p:nvPr/>
        </p:nvSpPr>
        <p:spPr>
          <a:xfrm>
            <a:off x="7461360" y="4279320"/>
            <a:ext cx="1325880" cy="53028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7461360" y="4325040"/>
            <a:ext cx="132588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Viewer</a:t>
            </a:r>
          </a:p>
        </p:txBody>
      </p:sp>
      <p:sp>
        <p:nvSpPr>
          <p:cNvPr id="58" name="Text 56"/>
          <p:cNvSpPr/>
          <p:nvPr/>
        </p:nvSpPr>
        <p:spPr>
          <a:xfrm>
            <a:off x="7461360" y="4553640"/>
            <a:ext cx="132588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Tylko odczyt danych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44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440"/>
            <a:ext cx="914400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36720"/>
            <a:ext cx="8412480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Persystencja danych i synchronizacja offline-first</a:t>
            </a: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777239"/>
            <a:ext cx="841248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Aplikacje IoT muszą działać przy słabym lub braku połączenia — strategia offline-first jest kluczowa</a:t>
            </a:r>
          </a:p>
        </p:txBody>
      </p:sp>
      <p:sp>
        <p:nvSpPr>
          <p:cNvPr id="8" name="Text 6"/>
          <p:cNvSpPr/>
          <p:nvPr/>
        </p:nvSpPr>
        <p:spPr>
          <a:xfrm>
            <a:off x="320040" y="1170360"/>
            <a:ext cx="416052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Lokalne bazy danych:</a:t>
            </a:r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4160520" cy="731519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64080" cy="731519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1541795"/>
            <a:ext cx="3977640" cy="23192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Room (Android)</a:t>
            </a:r>
          </a:p>
        </p:txBody>
      </p:sp>
      <p:sp>
        <p:nvSpPr>
          <p:cNvPr id="12" name="Text 10"/>
          <p:cNvSpPr/>
          <p:nvPr/>
        </p:nvSpPr>
        <p:spPr>
          <a:xfrm>
            <a:off x="457200" y="1892880"/>
            <a:ext cx="397764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SQLite wrapper z walidacją schema w compile-time, obsługa Flows dla reaktywnych zapytań, migracje</a:t>
            </a:r>
          </a:p>
        </p:txBody>
      </p:sp>
      <p:sp>
        <p:nvSpPr>
          <p:cNvPr id="13" name="Shape 11"/>
          <p:cNvSpPr/>
          <p:nvPr/>
        </p:nvSpPr>
        <p:spPr>
          <a:xfrm>
            <a:off x="320040" y="2313360"/>
            <a:ext cx="4160520" cy="731519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2313360"/>
            <a:ext cx="64080" cy="731519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2346396"/>
            <a:ext cx="3977640" cy="23192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Core Data (iOS)</a:t>
            </a:r>
          </a:p>
        </p:txBody>
      </p:sp>
      <p:sp>
        <p:nvSpPr>
          <p:cNvPr id="16" name="Text 14"/>
          <p:cNvSpPr/>
          <p:nvPr/>
        </p:nvSpPr>
        <p:spPr>
          <a:xfrm>
            <a:off x="457200" y="2697480"/>
            <a:ext cx="397764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Managed Object Context, persistent stores, NSFetchedResultsController do reaktywnych list</a:t>
            </a:r>
          </a:p>
        </p:txBody>
      </p:sp>
      <p:sp>
        <p:nvSpPr>
          <p:cNvPr id="17" name="Shape 15"/>
          <p:cNvSpPr/>
          <p:nvPr/>
        </p:nvSpPr>
        <p:spPr>
          <a:xfrm>
            <a:off x="320040" y="3117960"/>
            <a:ext cx="4160520" cy="731519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3117960"/>
            <a:ext cx="64080" cy="731519"/>
          </a:xfrm>
          <a:prstGeom prst="rect">
            <a:avLst/>
          </a:prstGeom>
          <a:solidFill>
            <a:srgbClr val="10B981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3151356"/>
            <a:ext cx="3977640" cy="23192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SQLite.swift / GRDB</a:t>
            </a:r>
          </a:p>
        </p:txBody>
      </p:sp>
      <p:sp>
        <p:nvSpPr>
          <p:cNvPr id="20" name="Text 18"/>
          <p:cNvSpPr/>
          <p:nvPr/>
        </p:nvSpPr>
        <p:spPr>
          <a:xfrm>
            <a:off x="457200" y="3502079"/>
            <a:ext cx="397764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Cross-platform (KMP), typesafety, FTS (full-text search) dla historii danych IoT</a:t>
            </a:r>
          </a:p>
        </p:txBody>
      </p:sp>
      <p:grpSp>
        <p:nvGrpSpPr>
          <p:cNvPr id="21" name="Grupa 20"/>
          <p:cNvGrpSpPr/>
          <p:nvPr/>
        </p:nvGrpSpPr>
        <p:grpSpPr>
          <a:xfrm>
            <a:off x="320040" y="3958920"/>
            <a:ext cx="4161600" cy="720000"/>
            <a:chOff x="320040" y="3958920"/>
            <a:chExt cx="4161600" cy="720000"/>
          </a:xfrm>
        </p:grpSpPr>
        <p:sp>
          <p:nvSpPr>
            <p:cNvPr id="22" name="Shape 19"/>
            <p:cNvSpPr/>
            <p:nvPr/>
          </p:nvSpPr>
          <p:spPr>
            <a:xfrm>
              <a:off x="320040" y="3958920"/>
              <a:ext cx="4161600" cy="720000"/>
            </a:xfrm>
            <a:prstGeom prst="rect">
              <a:avLst/>
            </a:prstGeom>
            <a:solidFill>
              <a:srgbClr val="FFFFFF"/>
            </a:solidFill>
            <a:ln w="12600" cap="flat">
              <a:solidFill>
                <a:srgbClr val="E2E8F0"/>
              </a:solidFill>
              <a:prstDash val="solid"/>
              <a:miter/>
            </a:ln>
            <a:effectLst>
              <a:outerShdw dist="25456" dir="8100000" algn="tl">
                <a:srgbClr val="000000">
                  <a:alpha val="8000"/>
                </a:srgbClr>
              </a:outerShdw>
            </a:effectLst>
          </p:spPr>
          <p:txBody>
            <a:bodyPr vert="horz" wrap="square" lIns="96120" tIns="51120" rIns="96120" bIns="5112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3" name="Shape 20"/>
            <p:cNvSpPr/>
            <p:nvPr/>
          </p:nvSpPr>
          <p:spPr>
            <a:xfrm>
              <a:off x="320040" y="3958920"/>
              <a:ext cx="64080" cy="720000"/>
            </a:xfrm>
            <a:prstGeom prst="rect">
              <a:avLst/>
            </a:prstGeom>
            <a:solidFill>
              <a:srgbClr val="F59E0B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</p:grpSp>
      <p:sp>
        <p:nvSpPr>
          <p:cNvPr id="24" name="Text 21"/>
          <p:cNvSpPr/>
          <p:nvPr/>
        </p:nvSpPr>
        <p:spPr>
          <a:xfrm>
            <a:off x="457200" y="3955956"/>
            <a:ext cx="3977640" cy="23192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 dirty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Realm Database</a:t>
            </a:r>
          </a:p>
        </p:txBody>
      </p:sp>
      <p:sp>
        <p:nvSpPr>
          <p:cNvPr id="25" name="Text 22"/>
          <p:cNvSpPr/>
          <p:nvPr/>
        </p:nvSpPr>
        <p:spPr>
          <a:xfrm>
            <a:off x="457200" y="4306680"/>
            <a:ext cx="397764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Mobilna baza obiektowa — szybka, reaktywna, z synchronizacją Atlas Sync (MongoDB)</a:t>
            </a:r>
          </a:p>
        </p:txBody>
      </p:sp>
      <p:sp>
        <p:nvSpPr>
          <p:cNvPr id="26" name="Text 23"/>
          <p:cNvSpPr/>
          <p:nvPr/>
        </p:nvSpPr>
        <p:spPr>
          <a:xfrm>
            <a:off x="4663440" y="1170360"/>
            <a:ext cx="420624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Strategia synchronizacji:</a:t>
            </a:r>
          </a:p>
        </p:txBody>
      </p:sp>
      <p:sp>
        <p:nvSpPr>
          <p:cNvPr id="27" name="Shape 24"/>
          <p:cNvSpPr/>
          <p:nvPr/>
        </p:nvSpPr>
        <p:spPr>
          <a:xfrm>
            <a:off x="4663440" y="1508760"/>
            <a:ext cx="4206240" cy="2011680"/>
          </a:xfrm>
          <a:prstGeom prst="rect">
            <a:avLst/>
          </a:prstGeom>
          <a:solidFill>
            <a:srgbClr val="0F172A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754879" y="1581839"/>
            <a:ext cx="4069080" cy="1901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// Offline queue pattern (</a:t>
            </a:r>
            <a:r>
              <a:rPr lang="en-US" sz="8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Kotlin</a:t>
            </a: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)</a:t>
            </a:r>
          </a:p>
          <a:p>
            <a:pPr marL="0" marR="0" lvl="0" indent="0" algn="l" rtl="0" hangingPunct="1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class </a:t>
            </a:r>
            <a:r>
              <a:rPr lang="en-US" sz="8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IoTDataRepository</a:t>
            </a: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</a:t>
            </a:r>
          </a:p>
          <a:p>
            <a:pPr marL="0" marR="0" lvl="0" indent="0" algn="l" rtl="0" hangingPunct="1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private </a:t>
            </a:r>
            <a:r>
              <a:rPr lang="en-US" sz="8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val</a:t>
            </a: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</a:t>
            </a:r>
            <a:r>
              <a:rPr lang="en-US" sz="8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localDb</a:t>
            </a: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: </a:t>
            </a:r>
            <a:r>
              <a:rPr lang="en-US" sz="8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SensorDao</a:t>
            </a: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,</a:t>
            </a:r>
          </a:p>
          <a:p>
            <a:pPr marL="0" marR="0" lvl="0" indent="0" algn="l" rtl="0" hangingPunct="1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private </a:t>
            </a:r>
            <a:r>
              <a:rPr lang="en-US" sz="8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val</a:t>
            </a: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</a:t>
            </a:r>
            <a:r>
              <a:rPr lang="en-US" sz="8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remoteApi</a:t>
            </a: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: </a:t>
            </a:r>
            <a:r>
              <a:rPr lang="en-US" sz="8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IoTApiService</a:t>
            </a: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,</a:t>
            </a:r>
          </a:p>
          <a:p>
            <a:pPr marL="0" marR="0" lvl="0" indent="0" algn="l" rtl="0" hangingPunct="1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private </a:t>
            </a:r>
            <a:r>
              <a:rPr lang="en-US" sz="8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val</a:t>
            </a: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</a:t>
            </a:r>
            <a:r>
              <a:rPr lang="en-US" sz="8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networkMonitor</a:t>
            </a: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: </a:t>
            </a:r>
            <a:r>
              <a:rPr lang="en-US" sz="8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NetworkMonitor</a:t>
            </a:r>
            <a:endParaRPr lang="en-US" sz="800" b="0" i="0" u="none" strike="noStrike" kern="1200" cap="none" spc="0" baseline="0" dirty="0">
              <a:ln>
                <a:noFill/>
              </a:ln>
              <a:solidFill>
                <a:srgbClr val="A5D6A7"/>
              </a:solidFill>
              <a:latin typeface="Consolas" pitchFamily="34"/>
              <a:ea typeface="Consolas" pitchFamily="34"/>
              <a:cs typeface="Consolas" pitchFamily="34"/>
            </a:endParaRPr>
          </a:p>
          <a:p>
            <a:pPr marL="0" marR="0" lvl="0" indent="0" algn="l" rtl="0" hangingPunct="1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) {</a:t>
            </a:r>
          </a:p>
          <a:p>
            <a:pPr marL="0" marR="0" lvl="0" indent="0" algn="l" rtl="0" hangingPunct="1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fun </a:t>
            </a:r>
            <a:r>
              <a:rPr lang="en-US" sz="8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saveMeasurement</a:t>
            </a: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(data: </a:t>
            </a:r>
            <a:r>
              <a:rPr lang="en-US" sz="8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SensorData</a:t>
            </a: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) {</a:t>
            </a:r>
          </a:p>
          <a:p>
            <a:pPr marL="0" marR="0" lvl="0" indent="0" algn="l" rtl="0" hangingPunct="1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</a:t>
            </a:r>
            <a:r>
              <a:rPr lang="en-US" sz="8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localDb.insert</a:t>
            </a: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</a:t>
            </a:r>
            <a:r>
              <a:rPr lang="en-US" sz="8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data.copy</a:t>
            </a: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(synced = false))</a:t>
            </a:r>
          </a:p>
          <a:p>
            <a:pPr marL="0" marR="0" lvl="0" indent="0" algn="l" rtl="0" hangingPunct="1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if (</a:t>
            </a:r>
            <a:r>
              <a:rPr lang="en-US" sz="8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networkMonitor.isConnected</a:t>
            </a: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) {</a:t>
            </a:r>
          </a:p>
          <a:p>
            <a:pPr marL="0" marR="0" lvl="0" indent="0" algn="l" rtl="0" hangingPunct="1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</a:t>
            </a:r>
            <a:r>
              <a:rPr lang="en-US" sz="8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syncPending</a:t>
            </a: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()</a:t>
            </a:r>
          </a:p>
          <a:p>
            <a:pPr marL="0" marR="0" lvl="0" indent="0" algn="l" rtl="0" hangingPunct="1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}</a:t>
            </a:r>
          </a:p>
          <a:p>
            <a:pPr marL="0" marR="0" lvl="0" indent="0" algn="l" rtl="0" hangingPunct="1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}</a:t>
            </a:r>
          </a:p>
          <a:p>
            <a:pPr marL="0" marR="0" lvl="0" indent="0" algn="l" rtl="0" hangingPunct="1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</a:t>
            </a:r>
          </a:p>
          <a:p>
            <a:pPr marL="0" marR="0" lvl="0" indent="0" algn="l" rtl="0" hangingPunct="1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private fun </a:t>
            </a:r>
            <a:r>
              <a:rPr lang="en-US" sz="8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syncPending</a:t>
            </a: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() {</a:t>
            </a:r>
          </a:p>
          <a:p>
            <a:pPr marL="0" marR="0" lvl="0" indent="0" algn="l" rtl="0" hangingPunct="1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</a:t>
            </a:r>
            <a:r>
              <a:rPr lang="en-US" sz="8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val</a:t>
            </a: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</a:t>
            </a:r>
            <a:r>
              <a:rPr lang="en-US" sz="8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unsynced</a:t>
            </a: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= </a:t>
            </a:r>
            <a:r>
              <a:rPr lang="en-US" sz="8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localDb.getUnsynced</a:t>
            </a: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()</a:t>
            </a:r>
          </a:p>
          <a:p>
            <a:pPr marL="0" marR="0" lvl="0" indent="0" algn="l" rtl="0" hangingPunct="1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</a:t>
            </a:r>
            <a:r>
              <a:rPr lang="en-US" sz="8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unsynced.forEach</a:t>
            </a: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{ data -&gt;</a:t>
            </a:r>
          </a:p>
          <a:p>
            <a:pPr marL="0" marR="0" lvl="0" indent="0" algn="l" rtl="0" hangingPunct="1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</a:t>
            </a:r>
            <a:r>
              <a:rPr lang="en-US" sz="8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remoteApi.upload</a:t>
            </a: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(data).</a:t>
            </a:r>
            <a:r>
              <a:rPr lang="en-US" sz="8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onSuccess</a:t>
            </a: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{</a:t>
            </a:r>
          </a:p>
          <a:p>
            <a:pPr marL="0" marR="0" lvl="0" indent="0" algn="l" rtl="0" hangingPunct="1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  </a:t>
            </a:r>
            <a:r>
              <a:rPr lang="en-US" sz="800" b="0" i="0" u="none" strike="noStrike" kern="1200" cap="none" spc="0" baseline="0" dirty="0" err="1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localDb.markSynced</a:t>
            </a: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(data.id)</a:t>
            </a:r>
          </a:p>
          <a:p>
            <a:pPr marL="0" marR="0" lvl="0" indent="0" algn="l" rtl="0" hangingPunct="1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  }</a:t>
            </a:r>
          </a:p>
          <a:p>
            <a:pPr marL="0" marR="0" lvl="0" indent="0" algn="l" rtl="0" hangingPunct="1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  }</a:t>
            </a:r>
          </a:p>
          <a:p>
            <a:pPr marL="0" marR="0" lvl="0" indent="0" algn="l" rtl="0" hangingPunct="1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  }</a:t>
            </a:r>
          </a:p>
          <a:p>
            <a:pPr marL="0" marR="0" lvl="0" indent="0" algn="l" rtl="0" hangingPunct="1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cap="none" spc="0" baseline="0" dirty="0">
                <a:ln>
                  <a:noFill/>
                </a:ln>
                <a:solidFill>
                  <a:srgbClr val="A5D6A7"/>
                </a:solidFill>
                <a:latin typeface="Consolas" pitchFamily="34"/>
                <a:ea typeface="Consolas" pitchFamily="34"/>
                <a:cs typeface="Consolas" pitchFamily="34"/>
              </a:rPr>
              <a:t>}</a:t>
            </a:r>
          </a:p>
        </p:txBody>
      </p:sp>
      <p:sp>
        <p:nvSpPr>
          <p:cNvPr id="29" name="Text 26"/>
          <p:cNvSpPr/>
          <p:nvPr/>
        </p:nvSpPr>
        <p:spPr>
          <a:xfrm>
            <a:off x="4663440" y="3611880"/>
            <a:ext cx="420624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Wzorce konfliktu synchronizacji</a:t>
            </a:r>
          </a:p>
        </p:txBody>
      </p:sp>
      <p:sp>
        <p:nvSpPr>
          <p:cNvPr id="30" name="Shape 27"/>
          <p:cNvSpPr/>
          <p:nvPr/>
        </p:nvSpPr>
        <p:spPr>
          <a:xfrm>
            <a:off x="4663440" y="3931920"/>
            <a:ext cx="4206240" cy="29268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663440" y="3931920"/>
            <a:ext cx="64080" cy="29268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800600" y="3940920"/>
            <a:ext cx="4023360" cy="192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 dirty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Last-Write-Wins</a:t>
            </a:r>
          </a:p>
        </p:txBody>
      </p:sp>
      <p:sp>
        <p:nvSpPr>
          <p:cNvPr id="33" name="Text 30"/>
          <p:cNvSpPr/>
          <p:nvPr/>
        </p:nvSpPr>
        <p:spPr>
          <a:xfrm>
            <a:off x="4800600" y="4316040"/>
            <a:ext cx="4023360" cy="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Prosta, może tracić dane</a:t>
            </a:r>
          </a:p>
        </p:txBody>
      </p:sp>
      <p:sp>
        <p:nvSpPr>
          <p:cNvPr id="34" name="Shape 31"/>
          <p:cNvSpPr/>
          <p:nvPr/>
        </p:nvSpPr>
        <p:spPr>
          <a:xfrm>
            <a:off x="4663440" y="4270320"/>
            <a:ext cx="4206240" cy="29268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663440" y="4270320"/>
            <a:ext cx="64080" cy="29268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4800600" y="4306680"/>
            <a:ext cx="4023360" cy="165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 dirty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CRDT</a:t>
            </a:r>
          </a:p>
        </p:txBody>
      </p:sp>
      <p:sp>
        <p:nvSpPr>
          <p:cNvPr id="37" name="Text 34"/>
          <p:cNvSpPr/>
          <p:nvPr/>
        </p:nvSpPr>
        <p:spPr>
          <a:xfrm>
            <a:off x="4800600" y="4654440"/>
            <a:ext cx="4023360" cy="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Bez konfliktów, złożona</a:t>
            </a:r>
          </a:p>
        </p:txBody>
      </p:sp>
      <p:sp>
        <p:nvSpPr>
          <p:cNvPr id="38" name="Shape 35"/>
          <p:cNvSpPr/>
          <p:nvPr/>
        </p:nvSpPr>
        <p:spPr>
          <a:xfrm>
            <a:off x="4663440" y="4608720"/>
            <a:ext cx="4206240" cy="29268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4663440" y="4608720"/>
            <a:ext cx="64080" cy="29268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4800600" y="4617720"/>
            <a:ext cx="4023360" cy="158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Server-Authoritative</a:t>
            </a:r>
          </a:p>
        </p:txBody>
      </p:sp>
      <p:sp>
        <p:nvSpPr>
          <p:cNvPr id="41" name="Text 38"/>
          <p:cNvSpPr/>
          <p:nvPr/>
        </p:nvSpPr>
        <p:spPr>
          <a:xfrm>
            <a:off x="4800600" y="4776480"/>
            <a:ext cx="4023360" cy="1612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Serwer</a:t>
            </a:r>
            <a:r>
              <a:rPr lang="en-US" sz="11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1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rozstrzyga</a:t>
            </a:r>
            <a:endParaRPr lang="en-US" sz="1100" b="0" i="0" u="none" strike="noStrike" kern="1200" cap="none" spc="0" baseline="0" dirty="0">
              <a:ln>
                <a:noFill/>
              </a:ln>
              <a:solidFill>
                <a:srgbClr val="475569"/>
              </a:solidFill>
              <a:latin typeface="Calibri" pitchFamily="34"/>
              <a:ea typeface="Calibri" pitchFamily="34"/>
              <a:cs typeface="Calibri" pitchFamily="3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44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440"/>
            <a:ext cx="914400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36720"/>
            <a:ext cx="8412480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Przetwarzanie w tle i powiadomienia push w IoT</a:t>
            </a: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777239"/>
            <a:ext cx="416052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Android: Background Processing</a:t>
            </a:r>
          </a:p>
        </p:txBody>
      </p:sp>
      <p:sp>
        <p:nvSpPr>
          <p:cNvPr id="8" name="Shape 6"/>
          <p:cNvSpPr/>
          <p:nvPr/>
        </p:nvSpPr>
        <p:spPr>
          <a:xfrm>
            <a:off x="320040" y="1115640"/>
            <a:ext cx="4160520" cy="8046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1115640"/>
            <a:ext cx="64080" cy="80460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1188719"/>
            <a:ext cx="39776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Foreground Service</a:t>
            </a:r>
          </a:p>
        </p:txBody>
      </p:sp>
      <p:sp>
        <p:nvSpPr>
          <p:cNvPr id="11" name="Text 9"/>
          <p:cNvSpPr/>
          <p:nvPr/>
        </p:nvSpPr>
        <p:spPr>
          <a:xfrm>
            <a:off x="457200" y="1499759"/>
            <a:ext cx="3977640" cy="329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MQTT connection utrzymywana przez Foreground Service — widoczna notyfikacja wymagana przez OS. Najlepsza opcja dla ciągłego IoT.</a:t>
            </a:r>
          </a:p>
        </p:txBody>
      </p:sp>
      <p:sp>
        <p:nvSpPr>
          <p:cNvPr id="12" name="Shape 10"/>
          <p:cNvSpPr/>
          <p:nvPr/>
        </p:nvSpPr>
        <p:spPr>
          <a:xfrm>
            <a:off x="320040" y="2002680"/>
            <a:ext cx="4160520" cy="8046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2002680"/>
            <a:ext cx="64080" cy="80460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2075760"/>
            <a:ext cx="39776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WorkManager</a:t>
            </a:r>
          </a:p>
        </p:txBody>
      </p:sp>
      <p:sp>
        <p:nvSpPr>
          <p:cNvPr id="15" name="Text 13"/>
          <p:cNvSpPr/>
          <p:nvPr/>
        </p:nvSpPr>
        <p:spPr>
          <a:xfrm>
            <a:off x="457200" y="2386440"/>
            <a:ext cx="3977640" cy="329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Zadania periodyczne (synchronizacja, raportowanie). Gwarancja wykonania nawet po restarcie. Obsługuje Doze Mode.</a:t>
            </a:r>
          </a:p>
        </p:txBody>
      </p:sp>
      <p:sp>
        <p:nvSpPr>
          <p:cNvPr id="16" name="Shape 14"/>
          <p:cNvSpPr/>
          <p:nvPr/>
        </p:nvSpPr>
        <p:spPr>
          <a:xfrm>
            <a:off x="320040" y="2889360"/>
            <a:ext cx="4160520" cy="8046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2889360"/>
            <a:ext cx="64080" cy="804600"/>
          </a:xfrm>
          <a:prstGeom prst="rect">
            <a:avLst/>
          </a:prstGeom>
          <a:solidFill>
            <a:srgbClr val="10B981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2962799"/>
            <a:ext cx="39776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AlarmManager</a:t>
            </a:r>
          </a:p>
        </p:txBody>
      </p:sp>
      <p:sp>
        <p:nvSpPr>
          <p:cNvPr id="19" name="Text 17"/>
          <p:cNvSpPr/>
          <p:nvPr/>
        </p:nvSpPr>
        <p:spPr>
          <a:xfrm>
            <a:off x="457200" y="3273480"/>
            <a:ext cx="3977640" cy="329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Dokładne timingi (np. próbkowanie co 1 min). Wymaga pozwolenia SCHEDULE_EXACT_ALARM (Android 12+).</a:t>
            </a:r>
          </a:p>
        </p:txBody>
      </p:sp>
      <p:sp>
        <p:nvSpPr>
          <p:cNvPr id="20" name="Shape 18"/>
          <p:cNvSpPr/>
          <p:nvPr/>
        </p:nvSpPr>
        <p:spPr>
          <a:xfrm>
            <a:off x="320040" y="3776400"/>
            <a:ext cx="4160520" cy="8046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" y="3776400"/>
            <a:ext cx="64080" cy="80460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" y="3849480"/>
            <a:ext cx="39776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JobScheduler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3977640" cy="329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Elastyczne warunki (sieć, ładowanie). Wbudowany w system — nie wymaga Wake Locks.</a:t>
            </a:r>
          </a:p>
        </p:txBody>
      </p:sp>
      <p:sp>
        <p:nvSpPr>
          <p:cNvPr id="24" name="Text 22"/>
          <p:cNvSpPr/>
          <p:nvPr/>
        </p:nvSpPr>
        <p:spPr>
          <a:xfrm>
            <a:off x="4663440" y="777239"/>
            <a:ext cx="420624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IOS: Background Modes</a:t>
            </a:r>
          </a:p>
        </p:txBody>
      </p:sp>
      <p:sp>
        <p:nvSpPr>
          <p:cNvPr id="25" name="Shape 23"/>
          <p:cNvSpPr/>
          <p:nvPr/>
        </p:nvSpPr>
        <p:spPr>
          <a:xfrm>
            <a:off x="4663440" y="1115640"/>
            <a:ext cx="4206240" cy="8046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663440" y="1115640"/>
            <a:ext cx="64080" cy="80460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00600" y="1188719"/>
            <a:ext cx="402336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Background Fetch</a:t>
            </a:r>
          </a:p>
        </p:txBody>
      </p:sp>
      <p:sp>
        <p:nvSpPr>
          <p:cNvPr id="28" name="Text 26"/>
          <p:cNvSpPr/>
          <p:nvPr/>
        </p:nvSpPr>
        <p:spPr>
          <a:xfrm>
            <a:off x="4800600" y="1499759"/>
            <a:ext cx="4023360" cy="329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System wywołuje apkę co jakiś czas (≥15 min) — ograniczone, system decyduje o częstotliwości</a:t>
            </a:r>
          </a:p>
        </p:txBody>
      </p:sp>
      <p:sp>
        <p:nvSpPr>
          <p:cNvPr id="29" name="Shape 27"/>
          <p:cNvSpPr/>
          <p:nvPr/>
        </p:nvSpPr>
        <p:spPr>
          <a:xfrm>
            <a:off x="4663440" y="2002680"/>
            <a:ext cx="4206240" cy="8046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663440" y="2002680"/>
            <a:ext cx="64080" cy="80460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00600" y="2075760"/>
            <a:ext cx="402336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Push to Sync (Silent Push)</a:t>
            </a:r>
          </a:p>
        </p:txBody>
      </p:sp>
      <p:sp>
        <p:nvSpPr>
          <p:cNvPr id="32" name="Text 30"/>
          <p:cNvSpPr/>
          <p:nvPr/>
        </p:nvSpPr>
        <p:spPr>
          <a:xfrm>
            <a:off x="4800600" y="2386440"/>
            <a:ext cx="4023360" cy="329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Serwer wysyła APNs silent notification → apka budzi się i synchronizuje (30s limit)</a:t>
            </a:r>
          </a:p>
        </p:txBody>
      </p:sp>
      <p:sp>
        <p:nvSpPr>
          <p:cNvPr id="33" name="Shape 31"/>
          <p:cNvSpPr/>
          <p:nvPr/>
        </p:nvSpPr>
        <p:spPr>
          <a:xfrm>
            <a:off x="4663440" y="2889360"/>
            <a:ext cx="4206240" cy="8046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663440" y="2889360"/>
            <a:ext cx="64080" cy="80460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800600" y="2962799"/>
            <a:ext cx="402336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Background URLSession</a:t>
            </a:r>
          </a:p>
        </p:txBody>
      </p:sp>
      <p:sp>
        <p:nvSpPr>
          <p:cNvPr id="36" name="Text 34"/>
          <p:cNvSpPr/>
          <p:nvPr/>
        </p:nvSpPr>
        <p:spPr>
          <a:xfrm>
            <a:off x="4800600" y="3273480"/>
            <a:ext cx="4023360" cy="329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Pobieranie/wysyłanie dużych danych w tle — transfer kontynuowany po zawieszeniu apki</a:t>
            </a:r>
          </a:p>
        </p:txBody>
      </p:sp>
      <p:sp>
        <p:nvSpPr>
          <p:cNvPr id="37" name="Shape 35"/>
          <p:cNvSpPr/>
          <p:nvPr/>
        </p:nvSpPr>
        <p:spPr>
          <a:xfrm>
            <a:off x="4663440" y="3776400"/>
            <a:ext cx="4206240" cy="8046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663440" y="3776400"/>
            <a:ext cx="64080" cy="80460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800600" y="3849480"/>
            <a:ext cx="402336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CoreBluetooth CBManager</a:t>
            </a:r>
          </a:p>
        </p:txBody>
      </p:sp>
      <p:sp>
        <p:nvSpPr>
          <p:cNvPr id="40" name="Text 38"/>
          <p:cNvSpPr/>
          <p:nvPr/>
        </p:nvSpPr>
        <p:spPr>
          <a:xfrm>
            <a:off x="4800600" y="4160520"/>
            <a:ext cx="4023360" cy="329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Stan.restoration — odtworzenie połączeń BLE po restarcie apki, stała łączność z urządzeniami</a:t>
            </a:r>
          </a:p>
        </p:txBody>
      </p:sp>
      <p:sp>
        <p:nvSpPr>
          <p:cNvPr id="41" name="Text 39"/>
          <p:cNvSpPr/>
          <p:nvPr/>
        </p:nvSpPr>
        <p:spPr>
          <a:xfrm>
            <a:off x="248040" y="4645080"/>
            <a:ext cx="867996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Push Notifications dla IoT — FCM (Android) / APNs (iOS): alerty progowe, alarmy bezpieczeństwa, statusy urządzeń, raporty agregowane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44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440"/>
            <a:ext cx="914400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36720"/>
            <a:ext cx="8412480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Optymalizacja zużycia energii w aplikacjach IoT</a:t>
            </a: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777239"/>
            <a:ext cx="841248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Urządzenia IoT są często zasilane bateryjnie — optymalizacja energetyczna jest wymaganiem niefunkcjonalnym pierwszej klasy</a:t>
            </a:r>
          </a:p>
        </p:txBody>
      </p:sp>
      <p:grpSp>
        <p:nvGrpSpPr>
          <p:cNvPr id="8" name="Grupa 7"/>
          <p:cNvGrpSpPr/>
          <p:nvPr/>
        </p:nvGrpSpPr>
        <p:grpSpPr>
          <a:xfrm>
            <a:off x="320040" y="1224720"/>
            <a:ext cx="8503920" cy="2375279"/>
            <a:chOff x="320040" y="1224720"/>
            <a:chExt cx="8503920" cy="2375279"/>
          </a:xfrm>
        </p:grpSpPr>
        <p:sp>
          <p:nvSpPr>
            <p:cNvPr id="9" name="Text 6"/>
            <p:cNvSpPr/>
            <p:nvPr/>
          </p:nvSpPr>
          <p:spPr>
            <a:xfrm>
              <a:off x="320040" y="1224720"/>
              <a:ext cx="8503920" cy="21708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400" b="1" i="0" u="none" strike="noStrike" kern="1200" cap="none" spc="0" baseline="0">
                  <a:ln>
                    <a:noFill/>
                  </a:ln>
                  <a:solidFill>
                    <a:srgbClr val="1A2547"/>
                  </a:solidFill>
                  <a:latin typeface="Cambria" pitchFamily="34"/>
                  <a:ea typeface="Cambria" pitchFamily="34"/>
                  <a:cs typeface="Cambria" pitchFamily="34"/>
                </a:rPr>
                <a:t>Główne konsumenci energii</a:t>
              </a:r>
            </a:p>
          </p:txBody>
        </p:sp>
        <p:sp>
          <p:nvSpPr>
            <p:cNvPr id="10" name="Text 7"/>
            <p:cNvSpPr/>
            <p:nvPr/>
          </p:nvSpPr>
          <p:spPr>
            <a:xfrm>
              <a:off x="320040" y="1514160"/>
              <a:ext cx="2011680" cy="27540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100" b="0" i="0" u="none" strike="noStrike" kern="1200" cap="none" spc="0" baseline="0">
                  <a:ln>
                    <a:noFill/>
                  </a:ln>
                  <a:solidFill>
                    <a:srgbClr val="1E293B"/>
                  </a:solidFill>
                  <a:latin typeface="Calibri" pitchFamily="34"/>
                  <a:ea typeface="Calibri" pitchFamily="34"/>
                  <a:cs typeface="Calibri" pitchFamily="34"/>
                </a:rPr>
                <a:t>BLE/Wi-Fi Radio</a:t>
              </a:r>
            </a:p>
          </p:txBody>
        </p:sp>
        <p:sp>
          <p:nvSpPr>
            <p:cNvPr id="11" name="Shape 8"/>
            <p:cNvSpPr/>
            <p:nvPr/>
          </p:nvSpPr>
          <p:spPr>
            <a:xfrm>
              <a:off x="2423160" y="1557719"/>
              <a:ext cx="3886200" cy="202680"/>
            </a:xfrm>
            <a:prstGeom prst="rect">
              <a:avLst/>
            </a:prstGeom>
            <a:solidFill>
              <a:srgbClr val="EF4444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2" name="Text 9"/>
            <p:cNvSpPr/>
            <p:nvPr/>
          </p:nvSpPr>
          <p:spPr>
            <a:xfrm>
              <a:off x="7132320" y="1514160"/>
              <a:ext cx="457200" cy="27540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100" b="0" i="0" u="none" strike="noStrike" kern="1200" cap="none" spc="0" baseline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85%</a:t>
              </a:r>
            </a:p>
          </p:txBody>
        </p:sp>
        <p:sp>
          <p:nvSpPr>
            <p:cNvPr id="13" name="Text 10"/>
            <p:cNvSpPr/>
            <p:nvPr/>
          </p:nvSpPr>
          <p:spPr>
            <a:xfrm>
              <a:off x="320040" y="1876320"/>
              <a:ext cx="2011680" cy="27540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100" b="0" i="0" u="none" strike="noStrike" kern="1200" cap="none" spc="0" baseline="0">
                  <a:ln>
                    <a:noFill/>
                  </a:ln>
                  <a:solidFill>
                    <a:srgbClr val="1E293B"/>
                  </a:solidFill>
                  <a:latin typeface="Calibri" pitchFamily="34"/>
                  <a:ea typeface="Calibri" pitchFamily="34"/>
                  <a:cs typeface="Calibri" pitchFamily="34"/>
                </a:rPr>
                <a:t>CPU Processing</a:t>
              </a:r>
            </a:p>
          </p:txBody>
        </p:sp>
        <p:sp>
          <p:nvSpPr>
            <p:cNvPr id="14" name="Shape 11"/>
            <p:cNvSpPr/>
            <p:nvPr/>
          </p:nvSpPr>
          <p:spPr>
            <a:xfrm>
              <a:off x="2423160" y="1919880"/>
              <a:ext cx="3200400" cy="202680"/>
            </a:xfrm>
            <a:prstGeom prst="rect">
              <a:avLst/>
            </a:prstGeom>
            <a:solidFill>
              <a:srgbClr val="EF4444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5" name="Text 12"/>
            <p:cNvSpPr/>
            <p:nvPr/>
          </p:nvSpPr>
          <p:spPr>
            <a:xfrm>
              <a:off x="7132320" y="1876320"/>
              <a:ext cx="457200" cy="27540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100" b="0" i="0" u="none" strike="noStrike" kern="1200" cap="none" spc="0" baseline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70%</a:t>
              </a:r>
            </a:p>
          </p:txBody>
        </p:sp>
        <p:sp>
          <p:nvSpPr>
            <p:cNvPr id="16" name="Text 13"/>
            <p:cNvSpPr/>
            <p:nvPr/>
          </p:nvSpPr>
          <p:spPr>
            <a:xfrm>
              <a:off x="320040" y="2238840"/>
              <a:ext cx="2011680" cy="2750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100" b="0" i="0" u="none" strike="noStrike" kern="1200" cap="none" spc="0" baseline="0">
                  <a:ln>
                    <a:noFill/>
                  </a:ln>
                  <a:solidFill>
                    <a:srgbClr val="1E293B"/>
                  </a:solidFill>
                  <a:latin typeface="Calibri" pitchFamily="34"/>
                  <a:ea typeface="Calibri" pitchFamily="34"/>
                  <a:cs typeface="Calibri" pitchFamily="34"/>
                </a:rPr>
                <a:t>Screen</a:t>
              </a:r>
            </a:p>
          </p:txBody>
        </p:sp>
        <p:sp>
          <p:nvSpPr>
            <p:cNvPr id="17" name="Shape 14"/>
            <p:cNvSpPr/>
            <p:nvPr/>
          </p:nvSpPr>
          <p:spPr>
            <a:xfrm>
              <a:off x="2423160" y="2281680"/>
              <a:ext cx="2743199" cy="203040"/>
            </a:xfrm>
            <a:prstGeom prst="rect">
              <a:avLst/>
            </a:prstGeom>
            <a:solidFill>
              <a:srgbClr val="F59E0B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8" name="Text 15"/>
            <p:cNvSpPr/>
            <p:nvPr/>
          </p:nvSpPr>
          <p:spPr>
            <a:xfrm>
              <a:off x="7132320" y="2238840"/>
              <a:ext cx="457200" cy="2750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100" b="0" i="0" u="none" strike="noStrike" kern="1200" cap="none" spc="0" baseline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60%</a:t>
              </a:r>
            </a:p>
          </p:txBody>
        </p:sp>
        <p:sp>
          <p:nvSpPr>
            <p:cNvPr id="19" name="Text 16"/>
            <p:cNvSpPr/>
            <p:nvPr/>
          </p:nvSpPr>
          <p:spPr>
            <a:xfrm>
              <a:off x="320040" y="2600639"/>
              <a:ext cx="2011680" cy="2750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100" b="0" i="0" u="none" strike="noStrike" kern="1200" cap="none" spc="0" baseline="0">
                  <a:ln>
                    <a:noFill/>
                  </a:ln>
                  <a:solidFill>
                    <a:srgbClr val="1E293B"/>
                  </a:solidFill>
                  <a:latin typeface="Calibri" pitchFamily="34"/>
                  <a:ea typeface="Calibri" pitchFamily="34"/>
                  <a:cs typeface="Calibri" pitchFamily="34"/>
                </a:rPr>
                <a:t>GPS/Location</a:t>
              </a:r>
            </a:p>
          </p:txBody>
        </p:sp>
        <p:sp>
          <p:nvSpPr>
            <p:cNvPr id="20" name="Shape 17"/>
            <p:cNvSpPr/>
            <p:nvPr/>
          </p:nvSpPr>
          <p:spPr>
            <a:xfrm>
              <a:off x="2423160" y="2643840"/>
              <a:ext cx="2286000" cy="203040"/>
            </a:xfrm>
            <a:prstGeom prst="rect">
              <a:avLst/>
            </a:prstGeom>
            <a:solidFill>
              <a:srgbClr val="F59E0B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1" name="Text 18"/>
            <p:cNvSpPr/>
            <p:nvPr/>
          </p:nvSpPr>
          <p:spPr>
            <a:xfrm>
              <a:off x="7132320" y="2600639"/>
              <a:ext cx="457200" cy="2750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100" b="0" i="0" u="none" strike="noStrike" kern="1200" cap="none" spc="0" baseline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50%</a:t>
              </a:r>
            </a:p>
          </p:txBody>
        </p:sp>
        <p:sp>
          <p:nvSpPr>
            <p:cNvPr id="22" name="Text 19"/>
            <p:cNvSpPr/>
            <p:nvPr/>
          </p:nvSpPr>
          <p:spPr>
            <a:xfrm>
              <a:off x="320040" y="2962799"/>
              <a:ext cx="2011680" cy="2750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100" b="0" i="0" u="none" strike="noStrike" kern="1200" cap="none" spc="0" baseline="0">
                  <a:ln>
                    <a:noFill/>
                  </a:ln>
                  <a:solidFill>
                    <a:srgbClr val="1E293B"/>
                  </a:solidFill>
                  <a:latin typeface="Calibri" pitchFamily="34"/>
                  <a:ea typeface="Calibri" pitchFamily="34"/>
                  <a:cs typeface="Calibri" pitchFamily="34"/>
                </a:rPr>
                <a:t>MQTT Keep-Alive</a:t>
              </a:r>
            </a:p>
          </p:txBody>
        </p:sp>
        <p:sp>
          <p:nvSpPr>
            <p:cNvPr id="23" name="Shape 20"/>
            <p:cNvSpPr/>
            <p:nvPr/>
          </p:nvSpPr>
          <p:spPr>
            <a:xfrm>
              <a:off x="2423160" y="3006000"/>
              <a:ext cx="1371599" cy="202680"/>
            </a:xfrm>
            <a:prstGeom prst="rect">
              <a:avLst/>
            </a:prstGeom>
            <a:solidFill>
              <a:srgbClr val="10B981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4" name="Text 21"/>
            <p:cNvSpPr/>
            <p:nvPr/>
          </p:nvSpPr>
          <p:spPr>
            <a:xfrm>
              <a:off x="7132320" y="2962799"/>
              <a:ext cx="457200" cy="2750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100" b="0" i="0" u="none" strike="noStrike" kern="1200" cap="none" spc="0" baseline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30%</a:t>
              </a:r>
            </a:p>
          </p:txBody>
        </p:sp>
        <p:sp>
          <p:nvSpPr>
            <p:cNvPr id="25" name="Text 22"/>
            <p:cNvSpPr/>
            <p:nvPr/>
          </p:nvSpPr>
          <p:spPr>
            <a:xfrm>
              <a:off x="320040" y="3324959"/>
              <a:ext cx="2011680" cy="2750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100" b="0" i="0" u="none" strike="noStrike" kern="1200" cap="none" spc="0" baseline="0">
                  <a:ln>
                    <a:noFill/>
                  </a:ln>
                  <a:solidFill>
                    <a:srgbClr val="1E293B"/>
                  </a:solidFill>
                  <a:latin typeface="Calibri" pitchFamily="34"/>
                  <a:ea typeface="Calibri" pitchFamily="34"/>
                  <a:cs typeface="Calibri" pitchFamily="34"/>
                </a:rPr>
                <a:t>Sensor Reading</a:t>
              </a:r>
            </a:p>
          </p:txBody>
        </p:sp>
        <p:sp>
          <p:nvSpPr>
            <p:cNvPr id="26" name="Shape 23"/>
            <p:cNvSpPr/>
            <p:nvPr/>
          </p:nvSpPr>
          <p:spPr>
            <a:xfrm>
              <a:off x="2423160" y="3368160"/>
              <a:ext cx="685799" cy="202680"/>
            </a:xfrm>
            <a:prstGeom prst="rect">
              <a:avLst/>
            </a:prstGeom>
            <a:solidFill>
              <a:srgbClr val="10B981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7" name="Text 24"/>
            <p:cNvSpPr/>
            <p:nvPr/>
          </p:nvSpPr>
          <p:spPr>
            <a:xfrm>
              <a:off x="7132320" y="3324959"/>
              <a:ext cx="457200" cy="2750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100" b="0" i="0" u="none" strike="noStrike" kern="1200" cap="none" spc="0" baseline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15%</a:t>
              </a:r>
            </a:p>
          </p:txBody>
        </p:sp>
      </p:grpSp>
      <p:sp>
        <p:nvSpPr>
          <p:cNvPr id="28" name="Text 25"/>
          <p:cNvSpPr/>
          <p:nvPr/>
        </p:nvSpPr>
        <p:spPr>
          <a:xfrm>
            <a:off x="320040" y="3999959"/>
            <a:ext cx="850392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Techniki optymalizacji</a:t>
            </a:r>
          </a:p>
        </p:txBody>
      </p:sp>
      <p:sp>
        <p:nvSpPr>
          <p:cNvPr id="29" name="Shape 26"/>
          <p:cNvSpPr/>
          <p:nvPr/>
        </p:nvSpPr>
        <p:spPr>
          <a:xfrm>
            <a:off x="320040" y="4320000"/>
            <a:ext cx="164520" cy="16452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48640" y="4311000"/>
            <a:ext cx="3931920" cy="219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Adaptive polling — rzadsze próbkowanie gdy dane stabilne</a:t>
            </a:r>
          </a:p>
        </p:txBody>
      </p:sp>
      <p:sp>
        <p:nvSpPr>
          <p:cNvPr id="31" name="Shape 28"/>
          <p:cNvSpPr/>
          <p:nvPr/>
        </p:nvSpPr>
        <p:spPr>
          <a:xfrm>
            <a:off x="4709160" y="4320000"/>
            <a:ext cx="164520" cy="16452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937760" y="4311000"/>
            <a:ext cx="3931920" cy="219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BLE connection interval tuning — dłuższe interwały przy nieaktywności</a:t>
            </a:r>
          </a:p>
        </p:txBody>
      </p:sp>
      <p:sp>
        <p:nvSpPr>
          <p:cNvPr id="33" name="Shape 30"/>
          <p:cNvSpPr/>
          <p:nvPr/>
        </p:nvSpPr>
        <p:spPr>
          <a:xfrm>
            <a:off x="320040" y="4557600"/>
            <a:ext cx="164520" cy="16452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548640" y="4548600"/>
            <a:ext cx="3931920" cy="219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Batch uploads — grupowanie danych i wysyłka rzadko</a:t>
            </a:r>
          </a:p>
        </p:txBody>
      </p:sp>
      <p:sp>
        <p:nvSpPr>
          <p:cNvPr id="35" name="Shape 32"/>
          <p:cNvSpPr/>
          <p:nvPr/>
        </p:nvSpPr>
        <p:spPr>
          <a:xfrm>
            <a:off x="4709160" y="4557600"/>
            <a:ext cx="164520" cy="16452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4937760" y="4548600"/>
            <a:ext cx="3931920" cy="219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Data compression przed transmisją — mniejsze pakiety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44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440"/>
            <a:ext cx="914400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36720"/>
            <a:ext cx="8412480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Projektowanie UX/UI dla aplikacji mobilnych IoT</a:t>
            </a: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777239"/>
            <a:ext cx="841248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Dobre UI/UX dla IoT musi priorytetyzować szybkość dostępu do informacji krytycznych i intuicyjność sterowania</a:t>
            </a:r>
          </a:p>
        </p:txBody>
      </p:sp>
      <p:sp>
        <p:nvSpPr>
          <p:cNvPr id="8" name="Shape 6"/>
          <p:cNvSpPr/>
          <p:nvPr/>
        </p:nvSpPr>
        <p:spPr>
          <a:xfrm>
            <a:off x="320040" y="1170360"/>
            <a:ext cx="2743199" cy="16002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1170360"/>
            <a:ext cx="2743199" cy="38412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1243440"/>
            <a:ext cx="260604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zh-CN" sz="1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① Hierarchia informacji</a:t>
            </a:r>
          </a:p>
        </p:txBody>
      </p:sp>
      <p:sp>
        <p:nvSpPr>
          <p:cNvPr id="11" name="Text 9"/>
          <p:cNvSpPr/>
          <p:nvPr/>
        </p:nvSpPr>
        <p:spPr>
          <a:xfrm>
            <a:off x="411480" y="1627560"/>
            <a:ext cx="2606040" cy="10515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Krytyczne alerty na pierwszym planie. Dashboard ze statusem wszystkich urządzeń na głównym ekranie. Szczegóły na 2. poziomie nawigacji.</a:t>
            </a:r>
          </a:p>
        </p:txBody>
      </p:sp>
      <p:sp>
        <p:nvSpPr>
          <p:cNvPr id="12" name="Shape 10"/>
          <p:cNvSpPr/>
          <p:nvPr/>
        </p:nvSpPr>
        <p:spPr>
          <a:xfrm>
            <a:off x="3200400" y="1170360"/>
            <a:ext cx="2743199" cy="16002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0" y="1170360"/>
            <a:ext cx="2743199" cy="38412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91839" y="1243440"/>
            <a:ext cx="260604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zh-CN" sz="1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② Status w czasie rzeczywistym</a:t>
            </a:r>
          </a:p>
        </p:txBody>
      </p:sp>
      <p:sp>
        <p:nvSpPr>
          <p:cNvPr id="15" name="Text 13"/>
          <p:cNvSpPr/>
          <p:nvPr/>
        </p:nvSpPr>
        <p:spPr>
          <a:xfrm>
            <a:off x="3291839" y="1627560"/>
            <a:ext cx="2606040" cy="10515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Wskaźniki online/offline dla każdego urządzenia. Timestamp ostatniego odczytu. Animowane zmiany wartości (nie tylko suche liczby).</a:t>
            </a:r>
          </a:p>
        </p:txBody>
      </p:sp>
      <p:sp>
        <p:nvSpPr>
          <p:cNvPr id="16" name="Shape 14"/>
          <p:cNvSpPr/>
          <p:nvPr/>
        </p:nvSpPr>
        <p:spPr>
          <a:xfrm>
            <a:off x="6080760" y="1170360"/>
            <a:ext cx="2743199" cy="16002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80760" y="1170360"/>
            <a:ext cx="2743199" cy="384120"/>
          </a:xfrm>
          <a:prstGeom prst="rect">
            <a:avLst/>
          </a:prstGeom>
          <a:solidFill>
            <a:srgbClr val="10B981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72200" y="1243440"/>
            <a:ext cx="260604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zh-CN" sz="1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③ Kontrolki dotykowe</a:t>
            </a:r>
          </a:p>
        </p:txBody>
      </p:sp>
      <p:sp>
        <p:nvSpPr>
          <p:cNvPr id="19" name="Text 17"/>
          <p:cNvSpPr/>
          <p:nvPr/>
        </p:nvSpPr>
        <p:spPr>
          <a:xfrm>
            <a:off x="6172200" y="1627560"/>
            <a:ext cx="2606040" cy="10515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Przyciski sterowania minimum 44×44dp (Android) / 44pt (iOS). Toggle switches zamiast pól tekstowych dla stanu ON/OFF.</a:t>
            </a:r>
          </a:p>
        </p:txBody>
      </p:sp>
      <p:sp>
        <p:nvSpPr>
          <p:cNvPr id="20" name="Shape 18"/>
          <p:cNvSpPr/>
          <p:nvPr/>
        </p:nvSpPr>
        <p:spPr>
          <a:xfrm>
            <a:off x="320040" y="2907720"/>
            <a:ext cx="2743199" cy="16002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" y="2907720"/>
            <a:ext cx="2743199" cy="3841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11480" y="2980800"/>
            <a:ext cx="260604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zh-CN" sz="1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④ Obsługa błędów</a:t>
            </a:r>
          </a:p>
        </p:txBody>
      </p:sp>
      <p:sp>
        <p:nvSpPr>
          <p:cNvPr id="23" name="Text 21"/>
          <p:cNvSpPr/>
          <p:nvPr/>
        </p:nvSpPr>
        <p:spPr>
          <a:xfrm>
            <a:off x="411480" y="3364920"/>
            <a:ext cx="2606040" cy="10515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Wyraźna informacja o utracie połączenia. Pokazuj ostatnią znana wartość z timestampem. Retry mechcanism z exponential backoff.</a:t>
            </a:r>
          </a:p>
        </p:txBody>
      </p:sp>
      <p:sp>
        <p:nvSpPr>
          <p:cNvPr id="24" name="Shape 22"/>
          <p:cNvSpPr/>
          <p:nvPr/>
        </p:nvSpPr>
        <p:spPr>
          <a:xfrm>
            <a:off x="3200400" y="2907720"/>
            <a:ext cx="2743199" cy="16002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00400" y="2907720"/>
            <a:ext cx="2743199" cy="384120"/>
          </a:xfrm>
          <a:prstGeom prst="rect">
            <a:avLst/>
          </a:prstGeom>
          <a:solidFill>
            <a:srgbClr val="F59E0B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291839" y="2980800"/>
            <a:ext cx="260604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zh-CN" sz="1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⑤ Powiadomienia kontekstowe</a:t>
            </a:r>
          </a:p>
        </p:txBody>
      </p:sp>
      <p:sp>
        <p:nvSpPr>
          <p:cNvPr id="27" name="Text 25"/>
          <p:cNvSpPr/>
          <p:nvPr/>
        </p:nvSpPr>
        <p:spPr>
          <a:xfrm>
            <a:off x="3291839" y="3364920"/>
            <a:ext cx="2606040" cy="10515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Alerty z kontekstem — nie tylko 'Alarm!' ale 'Temperatura w salonie: 38°C (próg: 30°C) — 14:32'. Możliwość wyciszenia z ekranu powiadomienia.</a:t>
            </a:r>
          </a:p>
        </p:txBody>
      </p:sp>
      <p:sp>
        <p:nvSpPr>
          <p:cNvPr id="28" name="Shape 26"/>
          <p:cNvSpPr/>
          <p:nvPr/>
        </p:nvSpPr>
        <p:spPr>
          <a:xfrm>
            <a:off x="6080760" y="2907720"/>
            <a:ext cx="2743199" cy="16002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080760" y="2907720"/>
            <a:ext cx="2743199" cy="38412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172200" y="2980800"/>
            <a:ext cx="260604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zh-CN" sz="1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⑥ Dark Mode i dostępność</a:t>
            </a:r>
          </a:p>
        </p:txBody>
      </p:sp>
      <p:sp>
        <p:nvSpPr>
          <p:cNvPr id="31" name="Text 29"/>
          <p:cNvSpPr/>
          <p:nvPr/>
        </p:nvSpPr>
        <p:spPr>
          <a:xfrm>
            <a:off x="6172200" y="3364920"/>
            <a:ext cx="2606040" cy="10515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Dark Mode ważny dla urządzeń przemysłowych (słaby kontrast w jasnych warunkach). Wsparcie TalkBack/VoiceOver, minimalny kontrast 4.5:1.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44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440"/>
            <a:ext cx="914400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36720"/>
            <a:ext cx="8412480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 Strategie i narzędzia testowania aplikacji IoT</a:t>
            </a: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777239"/>
            <a:ext cx="841248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Piramida testów IoT: testy jednostkowe dominują, integracyjne pokrywają protokoły, E2E walidują scenariusze użytkownika</a:t>
            </a:r>
          </a:p>
        </p:txBody>
      </p:sp>
      <p:sp>
        <p:nvSpPr>
          <p:cNvPr id="8" name="Shape 6"/>
          <p:cNvSpPr/>
          <p:nvPr/>
        </p:nvSpPr>
        <p:spPr>
          <a:xfrm>
            <a:off x="2926079" y="1234440"/>
            <a:ext cx="3291839" cy="713160"/>
          </a:xfrm>
          <a:prstGeom prst="rect">
            <a:avLst/>
          </a:prstGeom>
          <a:solidFill>
            <a:srgbClr val="EF4444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63240" y="1208159"/>
            <a:ext cx="301752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5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E2E Tests</a:t>
            </a:r>
          </a:p>
        </p:txBody>
      </p:sp>
      <p:sp>
        <p:nvSpPr>
          <p:cNvPr id="10" name="Text 8"/>
          <p:cNvSpPr/>
          <p:nvPr/>
        </p:nvSpPr>
        <p:spPr>
          <a:xfrm>
            <a:off x="3063240" y="1509839"/>
            <a:ext cx="3017520" cy="329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Espresso, UI Automator (Android)</a:t>
            </a:r>
          </a:p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XCUITest (iOS), Maestro</a:t>
            </a:r>
          </a:p>
        </p:txBody>
      </p:sp>
      <p:sp>
        <p:nvSpPr>
          <p:cNvPr id="11" name="Shape 9"/>
          <p:cNvSpPr/>
          <p:nvPr/>
        </p:nvSpPr>
        <p:spPr>
          <a:xfrm>
            <a:off x="1828800" y="1993320"/>
            <a:ext cx="5486399" cy="720000"/>
          </a:xfrm>
          <a:prstGeom prst="rect">
            <a:avLst/>
          </a:prstGeom>
          <a:solidFill>
            <a:srgbClr val="3465A4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965960" y="1967039"/>
            <a:ext cx="521208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5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Integration Tests</a:t>
            </a:r>
          </a:p>
        </p:txBody>
      </p:sp>
      <p:sp>
        <p:nvSpPr>
          <p:cNvPr id="13" name="Text 11"/>
          <p:cNvSpPr/>
          <p:nvPr/>
        </p:nvSpPr>
        <p:spPr>
          <a:xfrm>
            <a:off x="1965960" y="2268720"/>
            <a:ext cx="5212080" cy="329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MockWebServer (OkHttp), WireMock, Fake MQTT broker (Mosquitto in-memory)</a:t>
            </a:r>
          </a:p>
        </p:txBody>
      </p:sp>
      <p:sp>
        <p:nvSpPr>
          <p:cNvPr id="14" name="Shape 12"/>
          <p:cNvSpPr/>
          <p:nvPr/>
        </p:nvSpPr>
        <p:spPr>
          <a:xfrm>
            <a:off x="640080" y="2752200"/>
            <a:ext cx="7863840" cy="71316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239" y="2725920"/>
            <a:ext cx="758951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5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Unit Tests</a:t>
            </a:r>
          </a:p>
        </p:txBody>
      </p:sp>
      <p:sp>
        <p:nvSpPr>
          <p:cNvPr id="16" name="Text 14"/>
          <p:cNvSpPr/>
          <p:nvPr/>
        </p:nvSpPr>
        <p:spPr>
          <a:xfrm>
            <a:off x="777239" y="3027960"/>
            <a:ext cx="7589519" cy="329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libri" pitchFamily="34"/>
                <a:ea typeface="Calibri" pitchFamily="34"/>
                <a:cs typeface="Calibri" pitchFamily="34"/>
              </a:rPr>
              <a:t>JUnit5 + Mockito (Android), XCTest + Quick/Nimble (iOS), Kotlin Coroutines TestScope</a:t>
            </a:r>
          </a:p>
        </p:txBody>
      </p:sp>
      <p:sp>
        <p:nvSpPr>
          <p:cNvPr id="17" name="Text 15"/>
          <p:cNvSpPr/>
          <p:nvPr/>
        </p:nvSpPr>
        <p:spPr>
          <a:xfrm>
            <a:off x="320040" y="3584520"/>
            <a:ext cx="850392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Specyfika testowania IoT</a:t>
            </a:r>
          </a:p>
        </p:txBody>
      </p:sp>
      <p:sp>
        <p:nvSpPr>
          <p:cNvPr id="18" name="Shape 16"/>
          <p:cNvSpPr/>
          <p:nvPr/>
        </p:nvSpPr>
        <p:spPr>
          <a:xfrm>
            <a:off x="320040" y="3913560"/>
            <a:ext cx="2011680" cy="89604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3913560"/>
            <a:ext cx="2011680" cy="5472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11480" y="3986640"/>
            <a:ext cx="187452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1E5FA8"/>
                </a:solidFill>
                <a:latin typeface="Cambria" pitchFamily="34"/>
                <a:ea typeface="Cambria" pitchFamily="34"/>
                <a:cs typeface="Cambria" pitchFamily="34"/>
              </a:rPr>
              <a:t>Symulacja urządzeń</a:t>
            </a:r>
          </a:p>
        </p:txBody>
      </p:sp>
      <p:sp>
        <p:nvSpPr>
          <p:cNvPr id="21" name="Text 19"/>
          <p:cNvSpPr/>
          <p:nvPr/>
        </p:nvSpPr>
        <p:spPr>
          <a:xfrm>
            <a:off x="411480" y="4251960"/>
            <a:ext cx="1874520" cy="511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Wirtualny sensor w Dockerze </a:t>
            </a:r>
            <a:b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</a:b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z MQTT, generowanie danych testowych</a:t>
            </a:r>
          </a:p>
        </p:txBody>
      </p:sp>
      <p:sp>
        <p:nvSpPr>
          <p:cNvPr id="22" name="Shape 20"/>
          <p:cNvSpPr/>
          <p:nvPr/>
        </p:nvSpPr>
        <p:spPr>
          <a:xfrm>
            <a:off x="2468880" y="3913560"/>
            <a:ext cx="2011680" cy="89604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468880" y="3913560"/>
            <a:ext cx="2011680" cy="5472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560319" y="3986640"/>
            <a:ext cx="187452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0D9488"/>
                </a:solidFill>
                <a:latin typeface="Cambria" pitchFamily="34"/>
                <a:ea typeface="Cambria" pitchFamily="34"/>
                <a:cs typeface="Cambria" pitchFamily="34"/>
              </a:rPr>
              <a:t>Testy połączenia</a:t>
            </a:r>
          </a:p>
        </p:txBody>
      </p:sp>
      <p:sp>
        <p:nvSpPr>
          <p:cNvPr id="25" name="Text 23"/>
          <p:cNvSpPr/>
          <p:nvPr/>
        </p:nvSpPr>
        <p:spPr>
          <a:xfrm>
            <a:off x="2560319" y="4251960"/>
            <a:ext cx="1874520" cy="511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Symulacja utraty sieci, wolnego łącza (Charles Proxy, tc netem)</a:t>
            </a:r>
          </a:p>
        </p:txBody>
      </p:sp>
      <p:sp>
        <p:nvSpPr>
          <p:cNvPr id="26" name="Shape 24"/>
          <p:cNvSpPr/>
          <p:nvPr/>
        </p:nvSpPr>
        <p:spPr>
          <a:xfrm>
            <a:off x="4617720" y="3913560"/>
            <a:ext cx="2011680" cy="89604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617720" y="3913560"/>
            <a:ext cx="2011680" cy="54720"/>
          </a:xfrm>
          <a:prstGeom prst="rect">
            <a:avLst/>
          </a:prstGeom>
          <a:solidFill>
            <a:srgbClr val="10B981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709160" y="3986640"/>
            <a:ext cx="187452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10B981"/>
                </a:solidFill>
                <a:latin typeface="Cambria" pitchFamily="34"/>
                <a:ea typeface="Cambria" pitchFamily="34"/>
                <a:cs typeface="Cambria" pitchFamily="34"/>
              </a:rPr>
              <a:t>Testy protokołów</a:t>
            </a:r>
          </a:p>
        </p:txBody>
      </p:sp>
      <p:sp>
        <p:nvSpPr>
          <p:cNvPr id="29" name="Text 27"/>
          <p:cNvSpPr/>
          <p:nvPr/>
        </p:nvSpPr>
        <p:spPr>
          <a:xfrm>
            <a:off x="4709160" y="4251960"/>
            <a:ext cx="1874520" cy="511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Walidacja poprawności wiadomości MQTT/CoAP, sprawdzanie QoS</a:t>
            </a:r>
          </a:p>
        </p:txBody>
      </p:sp>
      <p:sp>
        <p:nvSpPr>
          <p:cNvPr id="30" name="Shape 28"/>
          <p:cNvSpPr/>
          <p:nvPr/>
        </p:nvSpPr>
        <p:spPr>
          <a:xfrm>
            <a:off x="6766560" y="3913560"/>
            <a:ext cx="2011680" cy="89604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21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766560" y="3913560"/>
            <a:ext cx="2011680" cy="54720"/>
          </a:xfrm>
          <a:prstGeom prst="rect">
            <a:avLst/>
          </a:prstGeom>
          <a:solidFill>
            <a:srgbClr val="EF4444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858000" y="3986640"/>
            <a:ext cx="187452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EF4444"/>
                </a:solidFill>
                <a:latin typeface="Cambria" pitchFamily="34"/>
                <a:ea typeface="Cambria" pitchFamily="34"/>
                <a:cs typeface="Cambria" pitchFamily="34"/>
              </a:rPr>
              <a:t>Testy bezpieczeństwa</a:t>
            </a:r>
          </a:p>
        </p:txBody>
      </p:sp>
      <p:sp>
        <p:nvSpPr>
          <p:cNvPr id="33" name="Text 31"/>
          <p:cNvSpPr/>
          <p:nvPr/>
        </p:nvSpPr>
        <p:spPr>
          <a:xfrm>
            <a:off x="6858000" y="4251960"/>
            <a:ext cx="1874520" cy="511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Penetration testing (OWASP Mobile), Zed Attack Proxy (ZAP)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44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440"/>
            <a:ext cx="914400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36720"/>
            <a:ext cx="8412480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Zarządzanie flotą urządzeń IoT z aplikacji mobilnej</a:t>
            </a: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777239"/>
            <a:ext cx="841248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Device Management obejmuje cały lifecycle urządzenia — od provisioning po decommissioning</a:t>
            </a:r>
          </a:p>
        </p:txBody>
      </p:sp>
      <p:sp>
        <p:nvSpPr>
          <p:cNvPr id="8" name="Shape 6"/>
          <p:cNvSpPr/>
          <p:nvPr/>
        </p:nvSpPr>
        <p:spPr>
          <a:xfrm>
            <a:off x="320040" y="1170360"/>
            <a:ext cx="1298520" cy="47556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1216079"/>
            <a:ext cx="1298520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Provisioning</a:t>
            </a:r>
          </a:p>
        </p:txBody>
      </p:sp>
      <p:sp>
        <p:nvSpPr>
          <p:cNvPr id="10" name="Text 8"/>
          <p:cNvSpPr/>
          <p:nvPr/>
        </p:nvSpPr>
        <p:spPr>
          <a:xfrm>
            <a:off x="1591200" y="1261800"/>
            <a:ext cx="14616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 spc="0" baseline="0">
                <a:ln>
                  <a:noFill/>
                </a:ln>
                <a:solidFill>
                  <a:srgbClr val="64748B"/>
                </a:solidFill>
                <a:latin typeface="Calibri" pitchFamily="34"/>
                <a:ea typeface="Calibri" pitchFamily="34"/>
                <a:cs typeface="Calibri" pitchFamily="34"/>
              </a:rPr>
              <a:t>→</a:t>
            </a:r>
          </a:p>
        </p:txBody>
      </p:sp>
      <p:sp>
        <p:nvSpPr>
          <p:cNvPr id="11" name="Shape 9"/>
          <p:cNvSpPr/>
          <p:nvPr/>
        </p:nvSpPr>
        <p:spPr>
          <a:xfrm>
            <a:off x="1737359" y="1170360"/>
            <a:ext cx="1298520" cy="47556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737359" y="1216079"/>
            <a:ext cx="1298520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Rejestracja</a:t>
            </a:r>
          </a:p>
        </p:txBody>
      </p:sp>
      <p:sp>
        <p:nvSpPr>
          <p:cNvPr id="13" name="Text 11"/>
          <p:cNvSpPr/>
          <p:nvPr/>
        </p:nvSpPr>
        <p:spPr>
          <a:xfrm>
            <a:off x="3008520" y="1261800"/>
            <a:ext cx="14616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 spc="0" baseline="0">
                <a:ln>
                  <a:noFill/>
                </a:ln>
                <a:solidFill>
                  <a:srgbClr val="64748B"/>
                </a:solidFill>
                <a:latin typeface="Calibri" pitchFamily="34"/>
                <a:ea typeface="Calibri" pitchFamily="34"/>
                <a:cs typeface="Calibri" pitchFamily="34"/>
              </a:rPr>
              <a:t>→</a:t>
            </a:r>
          </a:p>
        </p:txBody>
      </p:sp>
      <p:sp>
        <p:nvSpPr>
          <p:cNvPr id="14" name="Shape 12"/>
          <p:cNvSpPr/>
          <p:nvPr/>
        </p:nvSpPr>
        <p:spPr>
          <a:xfrm>
            <a:off x="3154680" y="1170360"/>
            <a:ext cx="1298520" cy="47556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154680" y="1216079"/>
            <a:ext cx="1298520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Monitoring</a:t>
            </a:r>
          </a:p>
        </p:txBody>
      </p:sp>
      <p:sp>
        <p:nvSpPr>
          <p:cNvPr id="16" name="Text 14"/>
          <p:cNvSpPr/>
          <p:nvPr/>
        </p:nvSpPr>
        <p:spPr>
          <a:xfrm>
            <a:off x="4425840" y="1261800"/>
            <a:ext cx="14616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 spc="0" baseline="0">
                <a:ln>
                  <a:noFill/>
                </a:ln>
                <a:solidFill>
                  <a:srgbClr val="64748B"/>
                </a:solidFill>
                <a:latin typeface="Calibri" pitchFamily="34"/>
                <a:ea typeface="Calibri" pitchFamily="34"/>
                <a:cs typeface="Calibri" pitchFamily="34"/>
              </a:rPr>
              <a:t>→</a:t>
            </a:r>
          </a:p>
        </p:txBody>
      </p:sp>
      <p:sp>
        <p:nvSpPr>
          <p:cNvPr id="17" name="Shape 15"/>
          <p:cNvSpPr/>
          <p:nvPr/>
        </p:nvSpPr>
        <p:spPr>
          <a:xfrm>
            <a:off x="4572000" y="1170360"/>
            <a:ext cx="1298520" cy="475560"/>
          </a:xfrm>
          <a:prstGeom prst="rect">
            <a:avLst/>
          </a:prstGeom>
          <a:solidFill>
            <a:srgbClr val="10B981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0" y="1216079"/>
            <a:ext cx="1298520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Aktualizacja (OTA)</a:t>
            </a:r>
          </a:p>
        </p:txBody>
      </p:sp>
      <p:sp>
        <p:nvSpPr>
          <p:cNvPr id="19" name="Text 17"/>
          <p:cNvSpPr/>
          <p:nvPr/>
        </p:nvSpPr>
        <p:spPr>
          <a:xfrm>
            <a:off x="5843160" y="1261800"/>
            <a:ext cx="14616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 spc="0" baseline="0">
                <a:ln>
                  <a:noFill/>
                </a:ln>
                <a:solidFill>
                  <a:srgbClr val="64748B"/>
                </a:solidFill>
                <a:latin typeface="Calibri" pitchFamily="34"/>
                <a:ea typeface="Calibri" pitchFamily="34"/>
                <a:cs typeface="Calibri" pitchFamily="34"/>
              </a:rPr>
              <a:t>→</a:t>
            </a:r>
          </a:p>
        </p:txBody>
      </p:sp>
      <p:sp>
        <p:nvSpPr>
          <p:cNvPr id="20" name="Shape 18"/>
          <p:cNvSpPr/>
          <p:nvPr/>
        </p:nvSpPr>
        <p:spPr>
          <a:xfrm>
            <a:off x="5989320" y="1170360"/>
            <a:ext cx="1298520" cy="475560"/>
          </a:xfrm>
          <a:prstGeom prst="rect">
            <a:avLst/>
          </a:prstGeom>
          <a:solidFill>
            <a:srgbClr val="F59E0B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989320" y="1216079"/>
            <a:ext cx="1298520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Diagnostyka</a:t>
            </a:r>
          </a:p>
        </p:txBody>
      </p:sp>
      <p:sp>
        <p:nvSpPr>
          <p:cNvPr id="22" name="Text 20"/>
          <p:cNvSpPr/>
          <p:nvPr/>
        </p:nvSpPr>
        <p:spPr>
          <a:xfrm>
            <a:off x="7260480" y="1261800"/>
            <a:ext cx="14616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 spc="0" baseline="0">
                <a:ln>
                  <a:noFill/>
                </a:ln>
                <a:solidFill>
                  <a:srgbClr val="64748B"/>
                </a:solidFill>
                <a:latin typeface="Calibri" pitchFamily="34"/>
                <a:ea typeface="Calibri" pitchFamily="34"/>
                <a:cs typeface="Calibri" pitchFamily="34"/>
              </a:rPr>
              <a:t>→</a:t>
            </a:r>
          </a:p>
        </p:txBody>
      </p:sp>
      <p:sp>
        <p:nvSpPr>
          <p:cNvPr id="23" name="Shape 21"/>
          <p:cNvSpPr/>
          <p:nvPr/>
        </p:nvSpPr>
        <p:spPr>
          <a:xfrm>
            <a:off x="7406640" y="1170360"/>
            <a:ext cx="1298520" cy="475560"/>
          </a:xfrm>
          <a:prstGeom prst="rect">
            <a:avLst/>
          </a:prstGeom>
          <a:solidFill>
            <a:srgbClr val="64748B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406640" y="1216079"/>
            <a:ext cx="1298520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Decommission</a:t>
            </a:r>
          </a:p>
        </p:txBody>
      </p:sp>
      <p:sp>
        <p:nvSpPr>
          <p:cNvPr id="25" name="Shape 23"/>
          <p:cNvSpPr/>
          <p:nvPr/>
        </p:nvSpPr>
        <p:spPr>
          <a:xfrm>
            <a:off x="320040" y="1828800"/>
            <a:ext cx="4160520" cy="12618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0040" y="1828800"/>
            <a:ext cx="64080" cy="126180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" y="1901880"/>
            <a:ext cx="39776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Provisioning (QR Code / BLE)</a:t>
            </a:r>
          </a:p>
        </p:txBody>
      </p:sp>
      <p:sp>
        <p:nvSpPr>
          <p:cNvPr id="28" name="Text 26"/>
          <p:cNvSpPr/>
          <p:nvPr/>
        </p:nvSpPr>
        <p:spPr>
          <a:xfrm>
            <a:off x="457200" y="2212920"/>
            <a:ext cx="3977640" cy="786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Użytkownik skanuje QR kod na urządzeniu → aplikacja wysyła dane Wi-Fi i certyfikat X.509 przez BLE (secure channel) → urządzenie łączy się z brokerem IoT. Użycie: AWS IoT Just-in-Time-Provisioning.</a:t>
            </a:r>
          </a:p>
        </p:txBody>
      </p:sp>
      <p:sp>
        <p:nvSpPr>
          <p:cNvPr id="29" name="Shape 27"/>
          <p:cNvSpPr/>
          <p:nvPr/>
        </p:nvSpPr>
        <p:spPr>
          <a:xfrm>
            <a:off x="4709160" y="1828800"/>
            <a:ext cx="4160520" cy="12618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09160" y="1828800"/>
            <a:ext cx="64080" cy="1261800"/>
          </a:xfrm>
          <a:prstGeom prst="rect">
            <a:avLst/>
          </a:prstGeom>
          <a:solidFill>
            <a:srgbClr val="10B981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46320" y="1901880"/>
            <a:ext cx="39776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Over-The-Air (OTA) Update</a:t>
            </a:r>
          </a:p>
        </p:txBody>
      </p:sp>
      <p:sp>
        <p:nvSpPr>
          <p:cNvPr id="32" name="Text 30"/>
          <p:cNvSpPr/>
          <p:nvPr/>
        </p:nvSpPr>
        <p:spPr>
          <a:xfrm>
            <a:off x="4846320" y="2212920"/>
            <a:ext cx="3977640" cy="786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Aplikacja mobilna pobiera manifest aktualizacji z serwera (wersja, URL, hash SHA-256 firmware). Weryfikacja podpisu cyfrowego. Wysłanie URL przez MQTT do urządzenia. Monitorowanie postępu w czasie rzeczywistym.</a:t>
            </a:r>
          </a:p>
        </p:txBody>
      </p:sp>
      <p:sp>
        <p:nvSpPr>
          <p:cNvPr id="33" name="Shape 31"/>
          <p:cNvSpPr/>
          <p:nvPr/>
        </p:nvSpPr>
        <p:spPr>
          <a:xfrm>
            <a:off x="320040" y="3218759"/>
            <a:ext cx="4160520" cy="12618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20040" y="3218759"/>
            <a:ext cx="64080" cy="1261800"/>
          </a:xfrm>
          <a:prstGeom prst="rect">
            <a:avLst/>
          </a:prstGeom>
          <a:solidFill>
            <a:srgbClr val="F59E0B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57200" y="3291839"/>
            <a:ext cx="39776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Remote Diagnostics</a:t>
            </a:r>
          </a:p>
        </p:txBody>
      </p:sp>
      <p:sp>
        <p:nvSpPr>
          <p:cNvPr id="36" name="Text 34"/>
          <p:cNvSpPr/>
          <p:nvPr/>
        </p:nvSpPr>
        <p:spPr>
          <a:xfrm>
            <a:off x="457200" y="3602879"/>
            <a:ext cx="3977640" cy="786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Shadow Device / Device Twin — wirtualna kopia stanu urządzenia w chmurze. Różnica między stanem reported (rzeczywistym) a desired (oczekiwanym) uruchamia akcję naprawczą. Logi urządzeń przez MQTT diagnostics topic.</a:t>
            </a:r>
          </a:p>
        </p:txBody>
      </p:sp>
      <p:sp>
        <p:nvSpPr>
          <p:cNvPr id="37" name="Shape 35"/>
          <p:cNvSpPr/>
          <p:nvPr/>
        </p:nvSpPr>
        <p:spPr>
          <a:xfrm>
            <a:off x="4709160" y="3218759"/>
            <a:ext cx="4160520" cy="1261800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709160" y="3218759"/>
            <a:ext cx="64080" cy="126180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846320" y="3291839"/>
            <a:ext cx="39776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Fleet Analytics</a:t>
            </a:r>
          </a:p>
        </p:txBody>
      </p:sp>
      <p:sp>
        <p:nvSpPr>
          <p:cNvPr id="40" name="Text 38"/>
          <p:cNvSpPr/>
          <p:nvPr/>
        </p:nvSpPr>
        <p:spPr>
          <a:xfrm>
            <a:off x="4846320" y="3602879"/>
            <a:ext cx="3977640" cy="786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Dashboard z agregowanymi statystykami: dostępność urządzeń (%), średnia latencja, liczba błędów, zużycie baterii floty. Alerty gdy &gt; X% urządzeń offline. Eksport danych CSV/PDF z aplikacji.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44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440"/>
            <a:ext cx="914400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36720"/>
            <a:ext cx="8412480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Case Study 1: Aplikacja Smart Home z IoT</a:t>
            </a:r>
          </a:p>
        </p:txBody>
      </p:sp>
      <p:sp>
        <p:nvSpPr>
          <p:cNvPr id="6" name="Text 4"/>
          <p:cNvSpPr/>
          <p:nvPr/>
        </p:nvSpPr>
        <p:spPr>
          <a:xfrm>
            <a:off x="274320" y="4992480"/>
            <a:ext cx="8595360" cy="146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cap="none" spc="0" baseline="0">
                <a:ln>
                  <a:noFill/>
                </a:ln>
                <a:solidFill>
                  <a:srgbClr val="8899BB"/>
                </a:solidFill>
                <a:latin typeface="Calibri" pitchFamily="34"/>
                <a:ea typeface="Calibri" pitchFamily="34"/>
                <a:cs typeface="Calibri" pitchFamily="34"/>
              </a:rPr>
              <a:t>Programowanie Aplikacji Mobilnych z IoT  |  Studia Magisterskie Informatyki</a:t>
            </a:r>
          </a:p>
        </p:txBody>
      </p:sp>
      <p:sp>
        <p:nvSpPr>
          <p:cNvPr id="7" name="Text 5"/>
          <p:cNvSpPr/>
          <p:nvPr/>
        </p:nvSpPr>
        <p:spPr>
          <a:xfrm>
            <a:off x="320040" y="777239"/>
            <a:ext cx="416052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1" i="0" u="none" strike="noStrike" kern="1200" cap="none" spc="0" baseline="0" dirty="0" err="1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Architektura</a:t>
            </a:r>
            <a:r>
              <a:rPr lang="en-US" sz="1200" b="1" i="0" u="none" strike="noStrike" kern="1200" cap="none" spc="0" baseline="0" dirty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 </a:t>
            </a:r>
            <a:r>
              <a:rPr lang="en-US" sz="1200" b="1" i="0" u="none" strike="noStrike" kern="1200" cap="none" spc="0" baseline="0" dirty="0" err="1" smtClean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systemu</a:t>
            </a:r>
            <a:endParaRPr lang="en-US" sz="1200" b="1" i="0" u="none" strike="noStrike" kern="1200" cap="none" spc="0" baseline="0" dirty="0">
              <a:ln>
                <a:noFill/>
              </a:ln>
              <a:solidFill>
                <a:srgbClr val="1A2547"/>
              </a:solidFill>
              <a:latin typeface="Cambria" pitchFamily="34"/>
              <a:ea typeface="Cambria" pitchFamily="34"/>
              <a:cs typeface="Cambria" pitchFamily="3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1115640"/>
            <a:ext cx="4160520" cy="831959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1115640"/>
            <a:ext cx="64080" cy="831959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1188719"/>
            <a:ext cx="39776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Urządzenia</a:t>
            </a:r>
          </a:p>
        </p:txBody>
      </p:sp>
      <p:sp>
        <p:nvSpPr>
          <p:cNvPr id="11" name="Text 9"/>
          <p:cNvSpPr/>
          <p:nvPr/>
        </p:nvSpPr>
        <p:spPr>
          <a:xfrm>
            <a:off x="457200" y="1499759"/>
            <a:ext cx="3977640" cy="35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Czujniki temp/wilg (Zigbee), żarówki Hue, zamek Z-Wave, kamera IP, termostat Z-Wave</a:t>
            </a:r>
          </a:p>
        </p:txBody>
      </p:sp>
      <p:sp>
        <p:nvSpPr>
          <p:cNvPr id="12" name="Shape 10"/>
          <p:cNvSpPr/>
          <p:nvPr/>
        </p:nvSpPr>
        <p:spPr>
          <a:xfrm>
            <a:off x="320040" y="2030040"/>
            <a:ext cx="4160520" cy="831959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2030040"/>
            <a:ext cx="64080" cy="831959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2103120"/>
            <a:ext cx="39776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Hub lokalny</a:t>
            </a:r>
          </a:p>
        </p:txBody>
      </p:sp>
      <p:sp>
        <p:nvSpPr>
          <p:cNvPr id="15" name="Text 13"/>
          <p:cNvSpPr/>
          <p:nvPr/>
        </p:nvSpPr>
        <p:spPr>
          <a:xfrm>
            <a:off x="457200" y="2414160"/>
            <a:ext cx="3977640" cy="35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Raspberry Pi 4 + Home Assistant + Mosquitto MQTT Broker. Brama do chmury przez VPN.</a:t>
            </a:r>
          </a:p>
        </p:txBody>
      </p:sp>
      <p:sp>
        <p:nvSpPr>
          <p:cNvPr id="16" name="Shape 14"/>
          <p:cNvSpPr/>
          <p:nvPr/>
        </p:nvSpPr>
        <p:spPr>
          <a:xfrm>
            <a:off x="320040" y="2944440"/>
            <a:ext cx="4160520" cy="831959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2944440"/>
            <a:ext cx="64080" cy="831959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3017520"/>
            <a:ext cx="39776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 dirty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Chmura</a:t>
            </a:r>
          </a:p>
        </p:txBody>
      </p:sp>
      <p:sp>
        <p:nvSpPr>
          <p:cNvPr id="19" name="Text 17"/>
          <p:cNvSpPr/>
          <p:nvPr/>
        </p:nvSpPr>
        <p:spPr>
          <a:xfrm>
            <a:off x="457200" y="3328559"/>
            <a:ext cx="3977640" cy="35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AWS IoT Core jako MQTT broker w chmurze, DynamoDB (historia), Lambda (automatyzacje), SNS (alerty)</a:t>
            </a:r>
          </a:p>
        </p:txBody>
      </p:sp>
      <p:sp>
        <p:nvSpPr>
          <p:cNvPr id="20" name="Shape 18"/>
          <p:cNvSpPr/>
          <p:nvPr/>
        </p:nvSpPr>
        <p:spPr>
          <a:xfrm>
            <a:off x="320040" y="3858840"/>
            <a:ext cx="4160520" cy="831959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E2E8F0"/>
            </a:solidFill>
            <a:prstDash val="solid"/>
            <a:miter/>
          </a:ln>
          <a:effectLst>
            <a:outerShdw dist="25456" dir="8100000" algn="tl">
              <a:srgbClr val="000000">
                <a:alpha val="8000"/>
              </a:srgbClr>
            </a:outerShdw>
          </a:effectLst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" y="3858840"/>
            <a:ext cx="64080" cy="831959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397764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i="0" u="none" strike="noStrike" kern="1200" cap="none" spc="0" baseline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rPr>
              <a:t>Aplikacja mobilna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242960"/>
            <a:ext cx="3977640" cy="35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Flutter — Android + iOS z jednej bazy kodu. Material You design. Offline support z Hive DB.</a:t>
            </a:r>
          </a:p>
        </p:txBody>
      </p:sp>
      <p:sp>
        <p:nvSpPr>
          <p:cNvPr id="24" name="Text 22"/>
          <p:cNvSpPr/>
          <p:nvPr/>
        </p:nvSpPr>
        <p:spPr>
          <a:xfrm>
            <a:off x="4663440" y="777239"/>
            <a:ext cx="420624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1" i="0" u="none" strike="noStrike" kern="1200" cap="none" spc="0" baseline="0" dirty="0" err="1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Funkcjonalności</a:t>
            </a:r>
            <a:r>
              <a:rPr lang="en-US" sz="1200" b="1" i="0" u="none" strike="noStrike" kern="1200" cap="none" spc="0" baseline="0" dirty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 </a:t>
            </a:r>
            <a:r>
              <a:rPr lang="en-US" sz="1200" b="1" i="0" u="none" strike="noStrike" kern="1200" cap="none" spc="0" baseline="0" dirty="0" err="1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i</a:t>
            </a:r>
            <a:r>
              <a:rPr lang="en-US" sz="1200" b="1" i="0" u="none" strike="noStrike" kern="1200" cap="none" spc="0" baseline="0" dirty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 </a:t>
            </a:r>
            <a:r>
              <a:rPr lang="en-US" sz="1200" b="1" i="0" u="none" strike="noStrike" kern="1200" cap="none" spc="0" baseline="0" dirty="0" err="1" smtClean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wyzwania</a:t>
            </a:r>
            <a:endParaRPr lang="en-US" sz="1200" b="1" i="0" u="none" strike="noStrike" kern="1200" cap="none" spc="0" baseline="0" dirty="0">
              <a:ln>
                <a:noFill/>
              </a:ln>
              <a:solidFill>
                <a:srgbClr val="1A2547"/>
              </a:solidFill>
              <a:latin typeface="Cambria" pitchFamily="34"/>
              <a:ea typeface="Cambria" pitchFamily="34"/>
              <a:cs typeface="Cambria" pitchFamily="3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663440" y="1143000"/>
            <a:ext cx="420624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1" i="0" u="none" strike="noStrike" kern="1200" cap="none" spc="0" baseline="0">
                <a:ln>
                  <a:noFill/>
                </a:ln>
                <a:solidFill>
                  <a:srgbClr val="0D9488"/>
                </a:solidFill>
                <a:latin typeface="Cambria" pitchFamily="34"/>
                <a:ea typeface="Cambria" pitchFamily="34"/>
                <a:cs typeface="Cambria" pitchFamily="34"/>
              </a:rPr>
              <a:t>Zaimplementowane funkcje:</a:t>
            </a:r>
          </a:p>
        </p:txBody>
      </p:sp>
      <p:sp>
        <p:nvSpPr>
          <p:cNvPr id="26" name="Shape 24"/>
          <p:cNvSpPr/>
          <p:nvPr/>
        </p:nvSpPr>
        <p:spPr>
          <a:xfrm>
            <a:off x="4663440" y="1417320"/>
            <a:ext cx="146160" cy="146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73679" y="1328227"/>
            <a:ext cx="3931920" cy="292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 dirty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Dashboard z </a:t>
            </a:r>
            <a:r>
              <a:rPr lang="en-US" sz="1100" b="0" i="0" u="none" strike="noStrike" kern="1200" cap="none" spc="0" baseline="0" dirty="0" err="1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wszystkimi</a:t>
            </a:r>
            <a:r>
              <a:rPr lang="en-US" sz="1100" b="0" i="0" u="none" strike="noStrike" kern="1200" cap="none" spc="0" baseline="0" dirty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100" b="0" i="0" u="none" strike="noStrike" kern="1200" cap="none" spc="0" baseline="0" dirty="0" err="1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urządzeniami</a:t>
            </a:r>
            <a:r>
              <a:rPr lang="en-US" sz="1100" b="0" i="0" u="none" strike="noStrike" kern="1200" cap="none" spc="0" baseline="0" dirty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 (live status)</a:t>
            </a:r>
          </a:p>
        </p:txBody>
      </p:sp>
      <p:sp>
        <p:nvSpPr>
          <p:cNvPr id="28" name="Shape 26"/>
          <p:cNvSpPr/>
          <p:nvPr/>
        </p:nvSpPr>
        <p:spPr>
          <a:xfrm>
            <a:off x="4663440" y="1783080"/>
            <a:ext cx="146160" cy="146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873679" y="1693988"/>
            <a:ext cx="3931920" cy="292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Automatyzacje (jeśli temp &gt; 25°C → włącz AC)</a:t>
            </a:r>
          </a:p>
        </p:txBody>
      </p:sp>
      <p:sp>
        <p:nvSpPr>
          <p:cNvPr id="30" name="Shape 28"/>
          <p:cNvSpPr/>
          <p:nvPr/>
        </p:nvSpPr>
        <p:spPr>
          <a:xfrm>
            <a:off x="4663440" y="2148840"/>
            <a:ext cx="146160" cy="146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73679" y="2059748"/>
            <a:ext cx="3931920" cy="292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Historia danych — wykresy 24h / 7d / 30d</a:t>
            </a:r>
          </a:p>
        </p:txBody>
      </p:sp>
      <p:sp>
        <p:nvSpPr>
          <p:cNvPr id="32" name="Shape 30"/>
          <p:cNvSpPr/>
          <p:nvPr/>
        </p:nvSpPr>
        <p:spPr>
          <a:xfrm>
            <a:off x="4663440" y="2514600"/>
            <a:ext cx="146160" cy="146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73679" y="2425508"/>
            <a:ext cx="3931920" cy="292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Geofencing — auto zamykanie zamka po wyjeździe</a:t>
            </a:r>
          </a:p>
        </p:txBody>
      </p:sp>
      <p:sp>
        <p:nvSpPr>
          <p:cNvPr id="34" name="Shape 32"/>
          <p:cNvSpPr/>
          <p:nvPr/>
        </p:nvSpPr>
        <p:spPr>
          <a:xfrm>
            <a:off x="4663440" y="2880360"/>
            <a:ext cx="146160" cy="146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873679" y="2791268"/>
            <a:ext cx="3931920" cy="292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 dirty="0" err="1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Widgety</a:t>
            </a:r>
            <a:r>
              <a:rPr lang="en-US" sz="1100" b="0" i="0" u="none" strike="noStrike" kern="1200" cap="none" spc="0" baseline="0" dirty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100" b="0" i="0" u="none" strike="noStrike" kern="1200" cap="none" spc="0" baseline="0" dirty="0" err="1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ekranu</a:t>
            </a:r>
            <a:r>
              <a:rPr lang="en-US" sz="1100" b="0" i="0" u="none" strike="noStrike" kern="1200" cap="none" spc="0" baseline="0" dirty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100" b="0" i="0" u="none" strike="noStrike" kern="1200" cap="none" spc="0" baseline="0" dirty="0" err="1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głównego</a:t>
            </a:r>
            <a:r>
              <a:rPr lang="en-US" sz="1100" b="0" i="0" u="none" strike="noStrike" kern="1200" cap="none" spc="0" baseline="0" dirty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 (Android 12+)</a:t>
            </a:r>
          </a:p>
        </p:txBody>
      </p:sp>
      <p:sp>
        <p:nvSpPr>
          <p:cNvPr id="36" name="Text 34"/>
          <p:cNvSpPr/>
          <p:nvPr/>
        </p:nvSpPr>
        <p:spPr>
          <a:xfrm>
            <a:off x="4663440" y="3310200"/>
            <a:ext cx="420624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1" i="0" u="none" strike="noStrike" kern="1200" cap="none" spc="0" baseline="0" dirty="0" err="1">
                <a:ln>
                  <a:noFill/>
                </a:ln>
                <a:solidFill>
                  <a:srgbClr val="EF4444"/>
                </a:solidFill>
                <a:latin typeface="Cambria" pitchFamily="34"/>
                <a:ea typeface="Cambria" pitchFamily="34"/>
                <a:cs typeface="Cambria" pitchFamily="34"/>
              </a:rPr>
              <a:t>Napotkane</a:t>
            </a:r>
            <a:r>
              <a:rPr lang="en-US" sz="1200" b="1" i="0" u="none" strike="noStrike" kern="1200" cap="none" spc="0" baseline="0" dirty="0">
                <a:ln>
                  <a:noFill/>
                </a:ln>
                <a:solidFill>
                  <a:srgbClr val="EF4444"/>
                </a:solidFill>
                <a:latin typeface="Cambria" pitchFamily="34"/>
                <a:ea typeface="Cambria" pitchFamily="34"/>
                <a:cs typeface="Cambria" pitchFamily="34"/>
              </a:rPr>
              <a:t> </a:t>
            </a:r>
            <a:r>
              <a:rPr lang="en-US" sz="1200" b="1" i="0" u="none" strike="noStrike" kern="1200" cap="none" spc="0" baseline="0" dirty="0" err="1" smtClean="0">
                <a:ln>
                  <a:noFill/>
                </a:ln>
                <a:solidFill>
                  <a:srgbClr val="EF4444"/>
                </a:solidFill>
                <a:latin typeface="Cambria" pitchFamily="34"/>
                <a:ea typeface="Cambria" pitchFamily="34"/>
                <a:cs typeface="Cambria" pitchFamily="34"/>
              </a:rPr>
              <a:t>wyzwania</a:t>
            </a:r>
            <a:endParaRPr lang="en-US" sz="1200" b="1" i="0" u="none" strike="noStrike" kern="1200" cap="none" spc="0" baseline="0" dirty="0">
              <a:ln>
                <a:noFill/>
              </a:ln>
              <a:solidFill>
                <a:srgbClr val="EF4444"/>
              </a:solidFill>
              <a:latin typeface="Cambria" pitchFamily="34"/>
              <a:ea typeface="Cambria" pitchFamily="34"/>
              <a:cs typeface="Cambria" pitchFamily="3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663440" y="3602879"/>
            <a:ext cx="4206240" cy="320040"/>
          </a:xfrm>
          <a:prstGeom prst="rect">
            <a:avLst/>
          </a:prstGeom>
          <a:solidFill>
            <a:srgbClr val="FEF2F2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754879" y="3596870"/>
            <a:ext cx="402336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zh-CN" sz="1000" b="1" i="0" u="none" strike="noStrike" kern="1200" cap="none" spc="0" baseline="0">
                <a:ln>
                  <a:noFill/>
                </a:ln>
                <a:solidFill>
                  <a:srgbClr val="EF4444"/>
                </a:solidFill>
                <a:latin typeface="Calibri" pitchFamily="34"/>
                <a:ea typeface="Calibri" pitchFamily="34"/>
                <a:cs typeface="Calibri" pitchFamily="34"/>
              </a:rPr>
              <a:t>⚠ Heterogeniczność protokołów:</a:t>
            </a:r>
          </a:p>
        </p:txBody>
      </p:sp>
      <p:sp>
        <p:nvSpPr>
          <p:cNvPr id="39" name="Text 37"/>
          <p:cNvSpPr/>
          <p:nvPr/>
        </p:nvSpPr>
        <p:spPr>
          <a:xfrm>
            <a:off x="4754879" y="3768063"/>
            <a:ext cx="4023360" cy="1645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Rozwiązanie</a:t>
            </a:r>
            <a:r>
              <a:rPr lang="en-US" sz="9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: Home Assistant </a:t>
            </a:r>
            <a:r>
              <a:rPr lang="en-US" sz="9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jako</a:t>
            </a:r>
            <a:r>
              <a:rPr lang="en-US" sz="9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universal translator</a:t>
            </a:r>
          </a:p>
        </p:txBody>
      </p:sp>
      <p:sp>
        <p:nvSpPr>
          <p:cNvPr id="40" name="Shape 38"/>
          <p:cNvSpPr/>
          <p:nvPr/>
        </p:nvSpPr>
        <p:spPr>
          <a:xfrm>
            <a:off x="4663440" y="3968639"/>
            <a:ext cx="4206240" cy="32004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754879" y="3962630"/>
            <a:ext cx="402336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zh-CN" sz="1000" b="1" i="0" u="none" strike="noStrike" kern="1200" cap="none" spc="0" baseline="0" dirty="0">
                <a:ln>
                  <a:noFill/>
                </a:ln>
                <a:solidFill>
                  <a:srgbClr val="EF4444"/>
                </a:solidFill>
                <a:latin typeface="Calibri" pitchFamily="34"/>
                <a:ea typeface="Calibri" pitchFamily="34"/>
                <a:cs typeface="Calibri" pitchFamily="34"/>
              </a:rPr>
              <a:t>⚠ Latencja przez VPN:</a:t>
            </a:r>
          </a:p>
        </p:txBody>
      </p:sp>
      <p:sp>
        <p:nvSpPr>
          <p:cNvPr id="42" name="Text 40"/>
          <p:cNvSpPr/>
          <p:nvPr/>
        </p:nvSpPr>
        <p:spPr>
          <a:xfrm>
            <a:off x="4754879" y="4133824"/>
            <a:ext cx="4023360" cy="1645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50" b="0" i="0" u="none" strike="noStrike" kern="1200" cap="none" spc="0" baseline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Rozwiązanie: lokalne MDNS discovery + direct LAN fallback</a:t>
            </a:r>
          </a:p>
        </p:txBody>
      </p:sp>
      <p:sp>
        <p:nvSpPr>
          <p:cNvPr id="43" name="Shape 41"/>
          <p:cNvSpPr/>
          <p:nvPr/>
        </p:nvSpPr>
        <p:spPr>
          <a:xfrm>
            <a:off x="4663440" y="4334400"/>
            <a:ext cx="4206240" cy="320040"/>
          </a:xfrm>
          <a:prstGeom prst="rect">
            <a:avLst/>
          </a:prstGeom>
          <a:solidFill>
            <a:srgbClr val="FEF2F2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754879" y="4361760"/>
            <a:ext cx="4023360" cy="1645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zh-CN" sz="1000" b="1" i="0" u="none" strike="noStrike" kern="1200" cap="none" spc="0" baseline="0" dirty="0">
                <a:ln>
                  <a:noFill/>
                </a:ln>
                <a:solidFill>
                  <a:srgbClr val="EF4444"/>
                </a:solidFill>
                <a:latin typeface="Calibri" pitchFamily="34"/>
                <a:ea typeface="Calibri" pitchFamily="34"/>
                <a:cs typeface="Calibri" pitchFamily="34"/>
              </a:rPr>
              <a:t>⚠ Zarządzanie baterią:</a:t>
            </a:r>
          </a:p>
        </p:txBody>
      </p:sp>
      <p:sp>
        <p:nvSpPr>
          <p:cNvPr id="45" name="Text 43"/>
          <p:cNvSpPr/>
          <p:nvPr/>
        </p:nvSpPr>
        <p:spPr>
          <a:xfrm>
            <a:off x="4754879" y="4489560"/>
            <a:ext cx="4023360" cy="164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Rozwiązanie</a:t>
            </a:r>
            <a:r>
              <a:rPr lang="en-US" sz="9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: </a:t>
            </a:r>
            <a:r>
              <a:rPr lang="en-US" sz="9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adaptacyjne</a:t>
            </a:r>
            <a:r>
              <a:rPr lang="en-US" sz="9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9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interwały</a:t>
            </a:r>
            <a:r>
              <a:rPr lang="en-US" sz="9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polling + push only </a:t>
            </a:r>
            <a:r>
              <a:rPr lang="en-US" sz="95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dla</a:t>
            </a:r>
            <a:r>
              <a:rPr lang="en-US" sz="95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950" b="0" i="0" u="none" strike="noStrike" kern="1200" cap="none" spc="0" baseline="0" dirty="0" err="1" smtClean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alertów</a:t>
            </a:r>
            <a:endParaRPr lang="en-US" sz="950" b="0" i="0" u="none" strike="noStrike" kern="1200" cap="none" spc="0" baseline="0" dirty="0">
              <a:ln>
                <a:noFill/>
              </a:ln>
              <a:solidFill>
                <a:srgbClr val="475569"/>
              </a:solidFill>
              <a:latin typeface="Calibri" pitchFamily="34"/>
              <a:ea typeface="Calibri" pitchFamily="34"/>
              <a:cs typeface="Calibri" pitchFamily="3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44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440"/>
            <a:ext cx="914400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36720"/>
            <a:ext cx="8412480" cy="594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Case Study 2: Przemysłowy system monitoringu maszyn (IIoT)</a:t>
            </a: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24357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777239"/>
            <a:ext cx="841248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System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monitoringu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parku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maszynowego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fabryki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pl-PL" sz="1200" b="0" i="0" u="none" strike="noStrike" kern="1200" cap="none" spc="0" baseline="0" dirty="0" smtClean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-</a:t>
            </a:r>
            <a:r>
              <a:rPr lang="en-US" sz="1200" b="0" i="0" u="none" strike="noStrike" kern="1200" cap="none" spc="0" baseline="0" dirty="0" smtClean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500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maszyn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, 15 000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czujników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, 200 TB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danych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/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rgbClr val="475569"/>
                </a:solidFill>
                <a:latin typeface="Calibri" pitchFamily="34"/>
                <a:ea typeface="Calibri" pitchFamily="34"/>
                <a:cs typeface="Calibri" pitchFamily="34"/>
              </a:rPr>
              <a:t>rok</a:t>
            </a:r>
            <a:endParaRPr lang="en-US" sz="1200" b="0" i="0" u="none" strike="noStrike" kern="1200" cap="none" spc="0" baseline="0" dirty="0">
              <a:ln>
                <a:noFill/>
              </a:ln>
              <a:solidFill>
                <a:srgbClr val="475569"/>
              </a:solidFill>
              <a:latin typeface="Calibri" pitchFamily="34"/>
              <a:ea typeface="Calibri" pitchFamily="34"/>
              <a:cs typeface="Calibri" pitchFamily="3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1170360"/>
            <a:ext cx="2011680" cy="1024199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1170360"/>
            <a:ext cx="201168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" y="1261800"/>
            <a:ext cx="2011680" cy="502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400" b="1" i="0" u="none" strike="noStrike" kern="1200" cap="none" spc="0" baseline="0">
                <a:ln>
                  <a:noFill/>
                </a:ln>
                <a:solidFill>
                  <a:srgbClr val="0EA5E9"/>
                </a:solidFill>
                <a:latin typeface="Cambria" pitchFamily="34"/>
                <a:ea typeface="Cambria" pitchFamily="34"/>
                <a:cs typeface="Cambria" pitchFamily="34"/>
              </a:rPr>
              <a:t>&lt;5 ms</a:t>
            </a:r>
          </a:p>
        </p:txBody>
      </p:sp>
      <p:sp>
        <p:nvSpPr>
          <p:cNvPr id="11" name="Text 9"/>
          <p:cNvSpPr/>
          <p:nvPr/>
        </p:nvSpPr>
        <p:spPr>
          <a:xfrm>
            <a:off x="320040" y="1764720"/>
            <a:ext cx="2011680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CADCFC"/>
                </a:solidFill>
                <a:latin typeface="Calibri" pitchFamily="34"/>
                <a:ea typeface="Calibri" pitchFamily="34"/>
                <a:cs typeface="Calibri" pitchFamily="34"/>
              </a:rPr>
              <a:t>Latencja</a:t>
            </a:r>
          </a:p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CADCFC"/>
                </a:solidFill>
                <a:latin typeface="Calibri" pitchFamily="34"/>
                <a:ea typeface="Calibri" pitchFamily="34"/>
                <a:cs typeface="Calibri" pitchFamily="34"/>
              </a:rPr>
              <a:t>alertów</a:t>
            </a:r>
          </a:p>
        </p:txBody>
      </p:sp>
      <p:sp>
        <p:nvSpPr>
          <p:cNvPr id="12" name="Shape 10"/>
          <p:cNvSpPr/>
          <p:nvPr/>
        </p:nvSpPr>
        <p:spPr>
          <a:xfrm>
            <a:off x="2468880" y="1170360"/>
            <a:ext cx="2011680" cy="1024199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468880" y="1170360"/>
            <a:ext cx="201168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468880" y="1261800"/>
            <a:ext cx="2011680" cy="502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400" b="1" i="0" u="none" strike="noStrike" kern="1200" cap="none" spc="0" baseline="0">
                <a:ln>
                  <a:noFill/>
                </a:ln>
                <a:solidFill>
                  <a:srgbClr val="0EA5E9"/>
                </a:solidFill>
                <a:latin typeface="Cambria" pitchFamily="34"/>
                <a:ea typeface="Cambria" pitchFamily="34"/>
                <a:cs typeface="Cambria" pitchFamily="34"/>
              </a:rPr>
              <a:t>99.99%</a:t>
            </a:r>
          </a:p>
        </p:txBody>
      </p:sp>
      <p:sp>
        <p:nvSpPr>
          <p:cNvPr id="15" name="Text 13"/>
          <p:cNvSpPr/>
          <p:nvPr/>
        </p:nvSpPr>
        <p:spPr>
          <a:xfrm>
            <a:off x="2468880" y="1764720"/>
            <a:ext cx="2011680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CADCFC"/>
                </a:solidFill>
                <a:latin typeface="Calibri" pitchFamily="34"/>
                <a:ea typeface="Calibri" pitchFamily="34"/>
                <a:cs typeface="Calibri" pitchFamily="34"/>
              </a:rPr>
              <a:t>Dostępność</a:t>
            </a:r>
          </a:p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CADCFC"/>
                </a:solidFill>
                <a:latin typeface="Calibri" pitchFamily="34"/>
                <a:ea typeface="Calibri" pitchFamily="34"/>
                <a:cs typeface="Calibri" pitchFamily="34"/>
              </a:rPr>
              <a:t>systemu</a:t>
            </a:r>
          </a:p>
        </p:txBody>
      </p:sp>
      <p:sp>
        <p:nvSpPr>
          <p:cNvPr id="16" name="Shape 14"/>
          <p:cNvSpPr/>
          <p:nvPr/>
        </p:nvSpPr>
        <p:spPr>
          <a:xfrm>
            <a:off x="4617720" y="1170360"/>
            <a:ext cx="2011680" cy="1024199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17720" y="1170360"/>
            <a:ext cx="201168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617720" y="1261800"/>
            <a:ext cx="2011680" cy="502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400" b="1" i="0" u="none" strike="noStrike" kern="1200" cap="none" spc="0" baseline="0">
                <a:ln>
                  <a:noFill/>
                </a:ln>
                <a:solidFill>
                  <a:srgbClr val="0EA5E9"/>
                </a:solidFill>
                <a:latin typeface="Cambria" pitchFamily="34"/>
                <a:ea typeface="Cambria" pitchFamily="34"/>
                <a:cs typeface="Cambria" pitchFamily="34"/>
              </a:rPr>
              <a:t>40%</a:t>
            </a:r>
          </a:p>
        </p:txBody>
      </p:sp>
      <p:sp>
        <p:nvSpPr>
          <p:cNvPr id="19" name="Text 17"/>
          <p:cNvSpPr/>
          <p:nvPr/>
        </p:nvSpPr>
        <p:spPr>
          <a:xfrm>
            <a:off x="4617720" y="1764720"/>
            <a:ext cx="2011680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CADCFC"/>
                </a:solidFill>
                <a:latin typeface="Calibri" pitchFamily="34"/>
                <a:ea typeface="Calibri" pitchFamily="34"/>
                <a:cs typeface="Calibri" pitchFamily="34"/>
              </a:rPr>
              <a:t>Redukcja</a:t>
            </a:r>
          </a:p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CADCFC"/>
                </a:solidFill>
                <a:latin typeface="Calibri" pitchFamily="34"/>
                <a:ea typeface="Calibri" pitchFamily="34"/>
                <a:cs typeface="Calibri" pitchFamily="34"/>
              </a:rPr>
              <a:t>awarii</a:t>
            </a:r>
          </a:p>
        </p:txBody>
      </p:sp>
      <p:sp>
        <p:nvSpPr>
          <p:cNvPr id="20" name="Shape 18"/>
          <p:cNvSpPr/>
          <p:nvPr/>
        </p:nvSpPr>
        <p:spPr>
          <a:xfrm>
            <a:off x="6766560" y="1170360"/>
            <a:ext cx="2011680" cy="1024199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766560" y="1170360"/>
            <a:ext cx="2011680" cy="45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66560" y="1261800"/>
            <a:ext cx="2011680" cy="502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400" b="1" i="0" u="none" strike="noStrike" kern="1200" cap="none" spc="0" baseline="0">
                <a:ln>
                  <a:noFill/>
                </a:ln>
                <a:solidFill>
                  <a:srgbClr val="0EA5E9"/>
                </a:solidFill>
                <a:latin typeface="Cambria" pitchFamily="34"/>
                <a:ea typeface="Cambria" pitchFamily="34"/>
                <a:cs typeface="Cambria" pitchFamily="34"/>
              </a:rPr>
              <a:t>18 mies.</a:t>
            </a:r>
          </a:p>
        </p:txBody>
      </p:sp>
      <p:sp>
        <p:nvSpPr>
          <p:cNvPr id="23" name="Text 21"/>
          <p:cNvSpPr/>
          <p:nvPr/>
        </p:nvSpPr>
        <p:spPr>
          <a:xfrm>
            <a:off x="6766560" y="1764720"/>
            <a:ext cx="2011680" cy="38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CADCFC"/>
                </a:solidFill>
                <a:latin typeface="Calibri" pitchFamily="34"/>
                <a:ea typeface="Calibri" pitchFamily="34"/>
                <a:cs typeface="Calibri" pitchFamily="34"/>
              </a:rPr>
              <a:t>ROI</a:t>
            </a:r>
          </a:p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 spc="0" baseline="0">
                <a:ln>
                  <a:noFill/>
                </a:ln>
                <a:solidFill>
                  <a:srgbClr val="CADCFC"/>
                </a:solidFill>
                <a:latin typeface="Calibri" pitchFamily="34"/>
                <a:ea typeface="Calibri" pitchFamily="34"/>
                <a:cs typeface="Calibri" pitchFamily="34"/>
              </a:rPr>
              <a:t>projektu</a:t>
            </a:r>
          </a:p>
        </p:txBody>
      </p:sp>
      <p:sp>
        <p:nvSpPr>
          <p:cNvPr id="24" name="Text 22"/>
          <p:cNvSpPr/>
          <p:nvPr/>
        </p:nvSpPr>
        <p:spPr>
          <a:xfrm>
            <a:off x="320040" y="2331720"/>
            <a:ext cx="416052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1" i="0" u="none" strike="noStrike" kern="1200" cap="none" spc="0" baseline="0" dirty="0" err="1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Stos</a:t>
            </a:r>
            <a:r>
              <a:rPr lang="en-US" sz="1200" b="1" i="0" u="none" strike="noStrike" kern="1200" cap="none" spc="0" baseline="0" dirty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 </a:t>
            </a:r>
            <a:r>
              <a:rPr lang="en-US" sz="1200" b="1" i="0" u="none" strike="noStrike" kern="1200" cap="none" spc="0" baseline="0" dirty="0" err="1" smtClean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technologiczny</a:t>
            </a:r>
            <a:endParaRPr lang="en-US" sz="1200" b="1" i="0" u="none" strike="noStrike" kern="1200" cap="none" spc="0" baseline="0" dirty="0">
              <a:ln>
                <a:noFill/>
              </a:ln>
              <a:solidFill>
                <a:srgbClr val="1A2547"/>
              </a:solidFill>
              <a:latin typeface="Cambria" pitchFamily="34"/>
              <a:ea typeface="Cambria" pitchFamily="34"/>
              <a:cs typeface="Cambria" pitchFamily="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0040" y="2670120"/>
            <a:ext cx="45720" cy="27432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10483" y="2688480"/>
            <a:ext cx="3667612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 dirty="0" err="1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Czujniki</a:t>
            </a:r>
            <a:r>
              <a:rPr lang="en-US" sz="1000" b="0" i="0" u="none" strike="noStrike" kern="1200" cap="none" spc="0" baseline="0" dirty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 → PLC → OPC-UA → MQTT Gateway → AWS </a:t>
            </a:r>
            <a:r>
              <a:rPr lang="en-US" sz="1000" b="0" i="0" u="none" strike="noStrike" kern="1200" cap="none" spc="0" baseline="0" dirty="0" err="1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IoT</a:t>
            </a:r>
            <a:r>
              <a:rPr lang="en-US" sz="1000" b="0" i="0" u="none" strike="noStrike" kern="1200" cap="none" spc="0" baseline="0" dirty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 Core</a:t>
            </a:r>
          </a:p>
        </p:txBody>
      </p:sp>
      <p:sp>
        <p:nvSpPr>
          <p:cNvPr id="27" name="Shape 25"/>
          <p:cNvSpPr/>
          <p:nvPr/>
        </p:nvSpPr>
        <p:spPr>
          <a:xfrm>
            <a:off x="320040" y="3054240"/>
            <a:ext cx="45720" cy="27432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10483" y="3072239"/>
            <a:ext cx="3667612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 dirty="0" err="1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TimescaleDB</a:t>
            </a:r>
            <a:r>
              <a:rPr lang="en-US" sz="1000" b="0" i="0" u="none" strike="noStrike" kern="1200" cap="none" spc="0" baseline="0" dirty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 (PostgreSQL + time-series) </a:t>
            </a:r>
            <a:r>
              <a:rPr lang="en-US" sz="1000" b="0" i="0" u="none" strike="noStrike" kern="1200" cap="none" spc="0" baseline="0" dirty="0" err="1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dla</a:t>
            </a:r>
            <a:r>
              <a:rPr lang="en-US" sz="1000" b="0" i="0" u="none" strike="noStrike" kern="1200" cap="none" spc="0" baseline="0" dirty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000" b="0" i="0" u="none" strike="noStrike" kern="1200" cap="none" spc="0" baseline="0" dirty="0" err="1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danych</a:t>
            </a:r>
            <a:r>
              <a:rPr lang="en-US" sz="1000" b="0" i="0" u="none" strike="noStrike" kern="1200" cap="none" spc="0" baseline="0" dirty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000" b="0" i="0" u="none" strike="noStrike" kern="1200" cap="none" spc="0" baseline="0" dirty="0" err="1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historycznych</a:t>
            </a:r>
            <a:endParaRPr lang="en-US" sz="1000" b="0" i="0" u="none" strike="noStrike" kern="1200" cap="none" spc="0" baseline="0" dirty="0">
              <a:ln>
                <a:noFill/>
              </a:ln>
              <a:solidFill>
                <a:srgbClr val="1E293B"/>
              </a:solidFill>
              <a:latin typeface="Calibri" pitchFamily="34"/>
              <a:ea typeface="Calibri" pitchFamily="34"/>
              <a:cs typeface="Calibri" pitchFamily="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20040" y="3438000"/>
            <a:ext cx="45720" cy="274320"/>
          </a:xfrm>
          <a:prstGeom prst="rect">
            <a:avLst/>
          </a:prstGeom>
          <a:solidFill>
            <a:srgbClr val="10B981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10483" y="3456359"/>
            <a:ext cx="3667612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Apache Kafka dla event streaming (anomalie, alerty)</a:t>
            </a:r>
          </a:p>
        </p:txBody>
      </p:sp>
      <p:sp>
        <p:nvSpPr>
          <p:cNvPr id="31" name="Shape 29"/>
          <p:cNvSpPr/>
          <p:nvPr/>
        </p:nvSpPr>
        <p:spPr>
          <a:xfrm>
            <a:off x="320040" y="3822119"/>
            <a:ext cx="45720" cy="2743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10483" y="3840479"/>
            <a:ext cx="3667612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TensorFlow Lite — predictive maintenance modele na tablet Android</a:t>
            </a:r>
          </a:p>
        </p:txBody>
      </p:sp>
      <p:sp>
        <p:nvSpPr>
          <p:cNvPr id="33" name="Shape 31"/>
          <p:cNvSpPr/>
          <p:nvPr/>
        </p:nvSpPr>
        <p:spPr>
          <a:xfrm>
            <a:off x="320040" y="4206240"/>
            <a:ext cx="45720" cy="27432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10483" y="4224600"/>
            <a:ext cx="3667612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1E293B"/>
                </a:solidFill>
                <a:latin typeface="Calibri" pitchFamily="34"/>
                <a:ea typeface="Calibri" pitchFamily="34"/>
                <a:cs typeface="Calibri" pitchFamily="34"/>
              </a:rPr>
              <a:t>React Native tablet app — operator panel z AR overlay (kamera)</a:t>
            </a:r>
          </a:p>
        </p:txBody>
      </p:sp>
      <p:sp>
        <p:nvSpPr>
          <p:cNvPr id="35" name="Text 33"/>
          <p:cNvSpPr/>
          <p:nvPr/>
        </p:nvSpPr>
        <p:spPr>
          <a:xfrm>
            <a:off x="4389119" y="2331720"/>
            <a:ext cx="4480561" cy="22527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1" i="0" u="none" strike="noStrike" kern="1200" cap="none" spc="0" baseline="0" dirty="0" err="1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Kluczowe</a:t>
            </a:r>
            <a:r>
              <a:rPr lang="en-US" sz="1200" b="1" i="0" u="none" strike="noStrike" kern="1200" cap="none" spc="0" baseline="0" dirty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 </a:t>
            </a:r>
            <a:r>
              <a:rPr lang="en-US" sz="1200" b="1" i="0" u="none" strike="noStrike" kern="1200" cap="none" spc="0" baseline="0" dirty="0" err="1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wnioski</a:t>
            </a:r>
            <a:r>
              <a:rPr lang="en-US" sz="1200" b="1" i="0" u="none" strike="noStrike" kern="1200" cap="none" spc="0" baseline="0" dirty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 z </a:t>
            </a:r>
            <a:r>
              <a:rPr lang="en-US" sz="1200" b="1" i="0" u="none" strike="noStrike" kern="1200" cap="none" spc="0" baseline="0" dirty="0" err="1" smtClean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projektu</a:t>
            </a:r>
            <a:endParaRPr lang="en-US" sz="1200" b="1" i="0" u="none" strike="noStrike" kern="1200" cap="none" spc="0" baseline="0" dirty="0">
              <a:ln>
                <a:noFill/>
              </a:ln>
              <a:solidFill>
                <a:srgbClr val="1A2547"/>
              </a:solidFill>
              <a:latin typeface="Cambria" pitchFamily="34"/>
              <a:ea typeface="Cambria" pitchFamily="34"/>
              <a:cs typeface="Cambria" pitchFamily="34"/>
            </a:endParaRPr>
          </a:p>
        </p:txBody>
      </p:sp>
      <p:grpSp>
        <p:nvGrpSpPr>
          <p:cNvPr id="52" name="Grupa 51"/>
          <p:cNvGrpSpPr/>
          <p:nvPr/>
        </p:nvGrpSpPr>
        <p:grpSpPr>
          <a:xfrm>
            <a:off x="4389119" y="2596706"/>
            <a:ext cx="4480561" cy="2240280"/>
            <a:chOff x="4663440" y="2670120"/>
            <a:chExt cx="4206240" cy="2413800"/>
          </a:xfrm>
        </p:grpSpPr>
        <p:sp>
          <p:nvSpPr>
            <p:cNvPr id="36" name="Shape 34"/>
            <p:cNvSpPr/>
            <p:nvPr/>
          </p:nvSpPr>
          <p:spPr>
            <a:xfrm>
              <a:off x="4663440" y="2670120"/>
              <a:ext cx="4206240" cy="548640"/>
            </a:xfrm>
            <a:prstGeom prst="rect">
              <a:avLst/>
            </a:prstGeom>
            <a:solidFill>
              <a:srgbClr val="FFFFFF"/>
            </a:solidFill>
            <a:ln w="12600" cap="flat">
              <a:solidFill>
                <a:srgbClr val="E2E8F0"/>
              </a:solidFill>
              <a:prstDash val="solid"/>
              <a:miter/>
            </a:ln>
            <a:effectLst>
              <a:outerShdw dist="25456" dir="8100000" algn="tl">
                <a:srgbClr val="000000">
                  <a:alpha val="8000"/>
                </a:srgbClr>
              </a:outerShdw>
            </a:effectLst>
          </p:spPr>
          <p:txBody>
            <a:bodyPr vert="horz" wrap="square" lIns="96120" tIns="51120" rIns="96120" bIns="5112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4663440" y="2670120"/>
              <a:ext cx="64080" cy="548640"/>
            </a:xfrm>
            <a:prstGeom prst="rect">
              <a:avLst/>
            </a:prstGeom>
            <a:solidFill>
              <a:srgbClr val="1E5FA8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4800600" y="2702121"/>
              <a:ext cx="4023360" cy="146161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200" b="1" i="0" u="none" strike="noStrike" kern="1200" cap="none" spc="0" baseline="0" dirty="0">
                  <a:ln>
                    <a:noFill/>
                  </a:ln>
                  <a:solidFill>
                    <a:srgbClr val="0F172A"/>
                  </a:solidFill>
                  <a:latin typeface="Cambria" pitchFamily="34"/>
                  <a:ea typeface="Cambria" pitchFamily="34"/>
                  <a:cs typeface="Cambria" pitchFamily="34"/>
                </a:rPr>
                <a:t>Protocol translation </a:t>
              </a:r>
              <a:r>
                <a:rPr lang="en-US" sz="1200" b="1" i="0" u="none" strike="noStrike" kern="1200" cap="none" spc="0" baseline="0" dirty="0" err="1">
                  <a:ln>
                    <a:noFill/>
                  </a:ln>
                  <a:solidFill>
                    <a:srgbClr val="0F172A"/>
                  </a:solidFill>
                  <a:latin typeface="Cambria" pitchFamily="34"/>
                  <a:ea typeface="Cambria" pitchFamily="34"/>
                  <a:cs typeface="Cambria" pitchFamily="34"/>
                </a:rPr>
                <a:t>krytyczny</a:t>
              </a:r>
              <a:endParaRPr lang="en-US" sz="1200" b="1" i="0" u="none" strike="noStrike" kern="1200" cap="none" spc="0" baseline="0" dirty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4800600" y="2902375"/>
              <a:ext cx="4023360" cy="270665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000" b="0" i="0" u="none" strike="noStrike" kern="1200" cap="none" spc="0" baseline="0" dirty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OPC-UA, Modbus, PROFINET </a:t>
              </a:r>
              <a:r>
                <a:rPr lang="pl-PL" sz="1000" b="0" i="0" u="none" strike="noStrike" kern="1200" cap="none" spc="0" baseline="0" dirty="0" smtClean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-</a:t>
              </a:r>
              <a:r>
                <a:rPr lang="en-US" sz="1000" b="0" i="0" u="none" strike="noStrike" kern="1200" cap="none" spc="0" baseline="0" dirty="0" smtClean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 </a:t>
              </a:r>
              <a:r>
                <a:rPr lang="en-US" sz="1000" b="0" i="0" u="none" strike="noStrike" kern="1200" cap="none" spc="0" baseline="0" dirty="0" err="1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każdy</a:t>
              </a:r>
              <a:r>
                <a:rPr lang="en-US" sz="1000" b="0" i="0" u="none" strike="noStrike" kern="1200" cap="none" spc="0" baseline="0" dirty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 PLC </a:t>
              </a:r>
              <a:r>
                <a:rPr lang="en-US" sz="1000" b="0" i="0" u="none" strike="noStrike" kern="1200" cap="none" spc="0" baseline="0" dirty="0" err="1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mówi</a:t>
              </a:r>
              <a:r>
                <a:rPr lang="en-US" sz="1000" b="0" i="0" u="none" strike="noStrike" kern="1200" cap="none" spc="0" baseline="0" dirty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 </a:t>
              </a:r>
              <a:r>
                <a:rPr lang="en-US" sz="1000" b="0" i="0" u="none" strike="noStrike" kern="1200" cap="none" spc="0" baseline="0" dirty="0" err="1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innym</a:t>
              </a:r>
              <a:r>
                <a:rPr lang="en-US" sz="1000" b="0" i="0" u="none" strike="noStrike" kern="1200" cap="none" spc="0" baseline="0" dirty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 </a:t>
              </a:r>
              <a:r>
                <a:rPr lang="en-US" sz="1000" b="0" i="0" u="none" strike="noStrike" kern="1200" cap="none" spc="0" baseline="0" dirty="0" err="1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językiem</a:t>
              </a:r>
              <a:r>
                <a:rPr lang="en-US" sz="1000" b="0" i="0" u="none" strike="noStrike" kern="1200" cap="none" spc="0" baseline="0" dirty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. Gateway jest </a:t>
              </a:r>
              <a:r>
                <a:rPr lang="en-US" sz="1000" b="0" i="0" u="none" strike="noStrike" kern="1200" cap="none" spc="0" baseline="0" dirty="0" err="1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kluczowy</a:t>
              </a:r>
              <a:r>
                <a:rPr lang="en-US" sz="1000" b="0" i="0" u="none" strike="noStrike" kern="1200" cap="none" spc="0" baseline="0" dirty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.</a:t>
              </a:r>
            </a:p>
          </p:txBody>
        </p:sp>
        <p:sp>
          <p:nvSpPr>
            <p:cNvPr id="40" name="Shape 38"/>
            <p:cNvSpPr/>
            <p:nvPr/>
          </p:nvSpPr>
          <p:spPr>
            <a:xfrm>
              <a:off x="4663440" y="3291839"/>
              <a:ext cx="4206240" cy="548640"/>
            </a:xfrm>
            <a:prstGeom prst="rect">
              <a:avLst/>
            </a:prstGeom>
            <a:solidFill>
              <a:srgbClr val="FFFFFF"/>
            </a:solidFill>
            <a:ln w="12600" cap="flat">
              <a:solidFill>
                <a:srgbClr val="E2E8F0"/>
              </a:solidFill>
              <a:prstDash val="solid"/>
              <a:miter/>
            </a:ln>
            <a:effectLst>
              <a:outerShdw dist="25456" dir="8100000" algn="tl">
                <a:srgbClr val="000000">
                  <a:alpha val="8000"/>
                </a:srgbClr>
              </a:outerShdw>
            </a:effectLst>
          </p:spPr>
          <p:txBody>
            <a:bodyPr vert="horz" wrap="square" lIns="96120" tIns="51120" rIns="96120" bIns="5112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41" name="Shape 39"/>
            <p:cNvSpPr/>
            <p:nvPr/>
          </p:nvSpPr>
          <p:spPr>
            <a:xfrm>
              <a:off x="4663440" y="3291839"/>
              <a:ext cx="64080" cy="548640"/>
            </a:xfrm>
            <a:prstGeom prst="rect">
              <a:avLst/>
            </a:prstGeom>
            <a:solidFill>
              <a:srgbClr val="0D9488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42" name="Text 40"/>
            <p:cNvSpPr/>
            <p:nvPr/>
          </p:nvSpPr>
          <p:spPr>
            <a:xfrm>
              <a:off x="4800600" y="3317168"/>
              <a:ext cx="4023360" cy="1645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200" b="1" i="0" u="none" strike="noStrike" kern="1200" cap="none" spc="0" baseline="0" dirty="0">
                  <a:ln>
                    <a:noFill/>
                  </a:ln>
                  <a:solidFill>
                    <a:srgbClr val="0F172A"/>
                  </a:solidFill>
                  <a:latin typeface="Cambria" pitchFamily="34"/>
                  <a:ea typeface="Cambria" pitchFamily="34"/>
                  <a:cs typeface="Cambria" pitchFamily="34"/>
                </a:rPr>
                <a:t>Edge ML </a:t>
              </a:r>
              <a:r>
                <a:rPr lang="en-US" sz="1200" b="1" i="0" u="none" strike="noStrike" kern="1200" cap="none" spc="0" baseline="0" dirty="0" err="1">
                  <a:ln>
                    <a:noFill/>
                  </a:ln>
                  <a:solidFill>
                    <a:srgbClr val="0F172A"/>
                  </a:solidFill>
                  <a:latin typeface="Cambria" pitchFamily="34"/>
                  <a:ea typeface="Cambria" pitchFamily="34"/>
                  <a:cs typeface="Cambria" pitchFamily="34"/>
                </a:rPr>
                <a:t>opłacalne</a:t>
              </a:r>
              <a:endParaRPr lang="en-US" sz="1200" b="1" i="0" u="none" strike="noStrike" kern="1200" cap="none" spc="0" baseline="0" dirty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endParaRPr>
            </a:p>
          </p:txBody>
        </p:sp>
        <p:sp>
          <p:nvSpPr>
            <p:cNvPr id="43" name="Text 41"/>
            <p:cNvSpPr/>
            <p:nvPr/>
          </p:nvSpPr>
          <p:spPr>
            <a:xfrm>
              <a:off x="4800600" y="3538800"/>
              <a:ext cx="4023360" cy="210239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000" b="0" i="0" u="none" strike="noStrike" kern="1200" cap="none" spc="0" baseline="0" dirty="0" err="1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Detekcja</a:t>
              </a:r>
              <a:r>
                <a:rPr lang="en-US" sz="1000" b="0" i="0" u="none" strike="noStrike" kern="1200" cap="none" spc="0" baseline="0" dirty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 </a:t>
              </a:r>
              <a:r>
                <a:rPr lang="en-US" sz="1000" b="0" i="0" u="none" strike="noStrike" kern="1200" cap="none" spc="0" baseline="0" dirty="0" err="1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anomalii</a:t>
              </a:r>
              <a:r>
                <a:rPr lang="en-US" sz="1000" b="0" i="0" u="none" strike="noStrike" kern="1200" cap="none" spc="0" baseline="0" dirty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 </a:t>
              </a:r>
              <a:r>
                <a:rPr lang="en-US" sz="1000" b="0" i="0" u="none" strike="noStrike" kern="1200" cap="none" spc="0" baseline="0" dirty="0" err="1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na</a:t>
              </a:r>
              <a:r>
                <a:rPr lang="en-US" sz="1000" b="0" i="0" u="none" strike="noStrike" kern="1200" cap="none" spc="0" baseline="0" dirty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 </a:t>
              </a:r>
              <a:r>
                <a:rPr lang="en-US" sz="1000" b="0" i="0" u="none" strike="noStrike" kern="1200" cap="none" spc="0" baseline="0" dirty="0" err="1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urządzeniu</a:t>
              </a:r>
              <a:r>
                <a:rPr lang="en-US" sz="1000" b="0" i="0" u="none" strike="noStrike" kern="1200" cap="none" spc="0" baseline="0" dirty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 </a:t>
              </a:r>
              <a:r>
                <a:rPr lang="en-US" sz="1000" b="0" i="0" u="none" strike="noStrike" kern="1200" cap="none" spc="0" baseline="0" dirty="0" err="1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zmniejsza</a:t>
              </a:r>
              <a:r>
                <a:rPr lang="en-US" sz="1000" b="0" i="0" u="none" strike="noStrike" kern="1200" cap="none" spc="0" baseline="0" dirty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 </a:t>
              </a:r>
              <a:r>
                <a:rPr lang="en-US" sz="1000" b="0" i="0" u="none" strike="noStrike" kern="1200" cap="none" spc="0" baseline="0" dirty="0" err="1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transmisję</a:t>
              </a:r>
              <a:r>
                <a:rPr lang="en-US" sz="1000" b="0" i="0" u="none" strike="noStrike" kern="1200" cap="none" spc="0" baseline="0" dirty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 do </a:t>
              </a:r>
              <a:r>
                <a:rPr lang="en-US" sz="1000" b="0" i="0" u="none" strike="noStrike" kern="1200" cap="none" spc="0" baseline="0" dirty="0" err="1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chmury</a:t>
              </a:r>
              <a:r>
                <a:rPr lang="en-US" sz="1000" b="0" i="0" u="none" strike="noStrike" kern="1200" cap="none" spc="0" baseline="0" dirty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 o 95%. </a:t>
              </a:r>
              <a:r>
                <a:rPr lang="en-US" sz="1000" b="0" i="0" u="none" strike="noStrike" kern="1200" cap="none" spc="0" baseline="0" dirty="0" err="1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Koszt</a:t>
              </a:r>
              <a:r>
                <a:rPr lang="en-US" sz="1000" b="0" i="0" u="none" strike="noStrike" kern="1200" cap="none" spc="0" baseline="0" dirty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: model 2 MB.</a:t>
              </a:r>
            </a:p>
          </p:txBody>
        </p:sp>
        <p:sp>
          <p:nvSpPr>
            <p:cNvPr id="44" name="Shape 42"/>
            <p:cNvSpPr/>
            <p:nvPr/>
          </p:nvSpPr>
          <p:spPr>
            <a:xfrm>
              <a:off x="4663440" y="3913560"/>
              <a:ext cx="4206240" cy="548640"/>
            </a:xfrm>
            <a:prstGeom prst="rect">
              <a:avLst/>
            </a:prstGeom>
            <a:solidFill>
              <a:srgbClr val="FFFFFF"/>
            </a:solidFill>
            <a:ln w="12600" cap="flat">
              <a:solidFill>
                <a:srgbClr val="E2E8F0"/>
              </a:solidFill>
              <a:prstDash val="solid"/>
              <a:miter/>
            </a:ln>
            <a:effectLst>
              <a:outerShdw dist="25456" dir="8100000" algn="tl">
                <a:srgbClr val="000000">
                  <a:alpha val="8000"/>
                </a:srgbClr>
              </a:outerShdw>
            </a:effectLst>
          </p:spPr>
          <p:txBody>
            <a:bodyPr vert="horz" wrap="square" lIns="96120" tIns="51120" rIns="96120" bIns="5112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45" name="Shape 43"/>
            <p:cNvSpPr/>
            <p:nvPr/>
          </p:nvSpPr>
          <p:spPr>
            <a:xfrm>
              <a:off x="4663440" y="3913560"/>
              <a:ext cx="64080" cy="548640"/>
            </a:xfrm>
            <a:prstGeom prst="rect">
              <a:avLst/>
            </a:prstGeom>
            <a:solidFill>
              <a:srgbClr val="EF4444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46" name="Text 44"/>
            <p:cNvSpPr/>
            <p:nvPr/>
          </p:nvSpPr>
          <p:spPr>
            <a:xfrm>
              <a:off x="4800600" y="3945562"/>
              <a:ext cx="4023360" cy="1555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200" b="1" i="0" u="none" strike="noStrike" kern="1200" cap="none" spc="0" baseline="0" dirty="0">
                  <a:ln>
                    <a:noFill/>
                  </a:ln>
                  <a:solidFill>
                    <a:srgbClr val="0F172A"/>
                  </a:solidFill>
                  <a:latin typeface="Cambria" pitchFamily="34"/>
                  <a:ea typeface="Cambria" pitchFamily="34"/>
                  <a:cs typeface="Cambria" pitchFamily="34"/>
                </a:rPr>
                <a:t>Security compliance</a:t>
              </a:r>
            </a:p>
          </p:txBody>
        </p:sp>
        <p:sp>
          <p:nvSpPr>
            <p:cNvPr id="47" name="Text 45"/>
            <p:cNvSpPr/>
            <p:nvPr/>
          </p:nvSpPr>
          <p:spPr>
            <a:xfrm>
              <a:off x="4800600" y="4169520"/>
              <a:ext cx="4023360" cy="2012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000" b="0" i="0" u="none" strike="noStrike" kern="1200" cap="none" spc="0" baseline="0" dirty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ISO 27001 + IEC </a:t>
              </a:r>
              <a:r>
                <a:rPr lang="en-US" sz="1000" b="0" i="0" u="none" strike="noStrike" kern="1200" cap="none" spc="0" baseline="0" dirty="0" smtClean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62443</a:t>
              </a:r>
              <a:r>
                <a:rPr lang="pl-PL" sz="1000" b="0" i="0" u="none" strike="noStrike" kern="1200" cap="none" spc="0" baseline="0" dirty="0" smtClean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;</a:t>
              </a:r>
              <a:r>
                <a:rPr lang="en-US" sz="1000" b="0" i="0" u="none" strike="noStrike" kern="1200" cap="none" spc="0" baseline="0" dirty="0" smtClean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 </a:t>
              </a:r>
              <a:r>
                <a:rPr lang="en-US" sz="1000" b="0" i="0" u="none" strike="noStrike" kern="1200" cap="none" spc="0" baseline="0" dirty="0" err="1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regulatorzy</a:t>
              </a:r>
              <a:r>
                <a:rPr lang="en-US" sz="1000" b="0" i="0" u="none" strike="noStrike" kern="1200" cap="none" spc="0" baseline="0" dirty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 </a:t>
              </a:r>
              <a:r>
                <a:rPr lang="en-US" sz="1000" b="0" i="0" u="none" strike="noStrike" kern="1200" cap="none" spc="0" baseline="0" dirty="0" err="1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przemysłowi</a:t>
              </a:r>
              <a:r>
                <a:rPr lang="en-US" sz="1000" b="0" i="0" u="none" strike="noStrike" kern="1200" cap="none" spc="0" baseline="0" dirty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 </a:t>
              </a:r>
              <a:r>
                <a:rPr lang="en-US" sz="1000" b="0" i="0" u="none" strike="noStrike" kern="1200" cap="none" spc="0" baseline="0" dirty="0" err="1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wymagają</a:t>
              </a:r>
              <a:r>
                <a:rPr lang="en-US" sz="1000" b="0" i="0" u="none" strike="noStrike" kern="1200" cap="none" spc="0" baseline="0" dirty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 </a:t>
              </a:r>
              <a:r>
                <a:rPr lang="en-US" sz="1000" b="0" i="0" u="none" strike="noStrike" kern="1200" cap="none" spc="0" baseline="0" dirty="0" err="1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formalnego</a:t>
              </a:r>
              <a:r>
                <a:rPr lang="en-US" sz="1000" b="0" i="0" u="none" strike="noStrike" kern="1200" cap="none" spc="0" baseline="0" dirty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 </a:t>
              </a:r>
              <a:r>
                <a:rPr lang="en-US" sz="1000" b="0" i="0" u="none" strike="noStrike" kern="1200" cap="none" spc="0" baseline="0" dirty="0" err="1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audytu</a:t>
              </a:r>
              <a:r>
                <a:rPr lang="en-US" sz="1000" b="0" i="0" u="none" strike="noStrike" kern="1200" cap="none" spc="0" baseline="0" dirty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 </a:t>
              </a:r>
              <a:r>
                <a:rPr lang="en-US" sz="1000" b="0" i="0" u="none" strike="noStrike" kern="1200" cap="none" spc="0" baseline="0" dirty="0" err="1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bezpieczeństwa</a:t>
              </a:r>
              <a:r>
                <a:rPr lang="en-US" sz="1000" b="0" i="0" u="none" strike="noStrike" kern="1200" cap="none" spc="0" baseline="0" dirty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.</a:t>
              </a:r>
            </a:p>
          </p:txBody>
        </p:sp>
        <p:sp>
          <p:nvSpPr>
            <p:cNvPr id="48" name="Shape 46"/>
            <p:cNvSpPr/>
            <p:nvPr/>
          </p:nvSpPr>
          <p:spPr>
            <a:xfrm>
              <a:off x="4663440" y="4535280"/>
              <a:ext cx="4206240" cy="548640"/>
            </a:xfrm>
            <a:prstGeom prst="rect">
              <a:avLst/>
            </a:prstGeom>
            <a:solidFill>
              <a:srgbClr val="FFFFFF"/>
            </a:solidFill>
            <a:ln w="12600" cap="flat">
              <a:solidFill>
                <a:srgbClr val="E2E8F0"/>
              </a:solidFill>
              <a:prstDash val="solid"/>
              <a:miter/>
            </a:ln>
            <a:effectLst>
              <a:outerShdw dist="25456" dir="8100000" algn="tl">
                <a:srgbClr val="000000">
                  <a:alpha val="8000"/>
                </a:srgbClr>
              </a:outerShdw>
            </a:effectLst>
          </p:spPr>
          <p:txBody>
            <a:bodyPr vert="horz" wrap="square" lIns="96120" tIns="51120" rIns="96120" bIns="5112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49" name="Shape 47"/>
            <p:cNvSpPr/>
            <p:nvPr/>
          </p:nvSpPr>
          <p:spPr>
            <a:xfrm>
              <a:off x="4663440" y="4535280"/>
              <a:ext cx="64080" cy="548640"/>
            </a:xfrm>
            <a:prstGeom prst="rect">
              <a:avLst/>
            </a:prstGeom>
            <a:solidFill>
              <a:srgbClr val="10B981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50" name="Text 48"/>
            <p:cNvSpPr/>
            <p:nvPr/>
          </p:nvSpPr>
          <p:spPr>
            <a:xfrm>
              <a:off x="4800600" y="4567643"/>
              <a:ext cx="4023360" cy="12713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200" b="1" i="0" u="none" strike="noStrike" kern="1200" cap="none" spc="0" baseline="0" dirty="0">
                  <a:ln>
                    <a:noFill/>
                  </a:ln>
                  <a:solidFill>
                    <a:srgbClr val="0F172A"/>
                  </a:solidFill>
                  <a:latin typeface="Cambria" pitchFamily="34"/>
                  <a:ea typeface="Cambria" pitchFamily="34"/>
                  <a:cs typeface="Cambria" pitchFamily="34"/>
                </a:rPr>
                <a:t>Crew training </a:t>
              </a:r>
              <a:r>
                <a:rPr lang="en-US" sz="1200" b="1" i="0" u="none" strike="noStrike" kern="1200" cap="none" spc="0" baseline="0" dirty="0" err="1">
                  <a:ln>
                    <a:noFill/>
                  </a:ln>
                  <a:solidFill>
                    <a:srgbClr val="0F172A"/>
                  </a:solidFill>
                  <a:latin typeface="Cambria" pitchFamily="34"/>
                  <a:ea typeface="Cambria" pitchFamily="34"/>
                  <a:cs typeface="Cambria" pitchFamily="34"/>
                </a:rPr>
                <a:t>kluczowy</a:t>
              </a:r>
              <a:endParaRPr lang="en-US" sz="1200" b="1" i="0" u="none" strike="noStrike" kern="1200" cap="none" spc="0" baseline="0" dirty="0">
                <a:ln>
                  <a:noFill/>
                </a:ln>
                <a:solidFill>
                  <a:srgbClr val="0F172A"/>
                </a:solidFill>
                <a:latin typeface="Cambria" pitchFamily="34"/>
                <a:ea typeface="Cambria" pitchFamily="34"/>
                <a:cs typeface="Cambria" pitchFamily="34"/>
              </a:endParaRPr>
            </a:p>
          </p:txBody>
        </p:sp>
        <p:sp>
          <p:nvSpPr>
            <p:cNvPr id="51" name="Text 49"/>
            <p:cNvSpPr/>
            <p:nvPr/>
          </p:nvSpPr>
          <p:spPr>
            <a:xfrm>
              <a:off x="4800600" y="4782240"/>
              <a:ext cx="4023360" cy="2102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US" sz="1000" b="0" i="0" u="none" strike="noStrike" kern="1200" cap="none" spc="0" baseline="0" dirty="0" err="1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Najlepszy</a:t>
              </a:r>
              <a:r>
                <a:rPr lang="en-US" sz="1000" b="0" i="0" u="none" strike="noStrike" kern="1200" cap="none" spc="0" baseline="0" dirty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 system </a:t>
              </a:r>
              <a:r>
                <a:rPr lang="en-US" sz="1000" b="0" i="0" u="none" strike="noStrike" kern="1200" cap="none" spc="0" baseline="0" dirty="0" err="1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nie</a:t>
              </a:r>
              <a:r>
                <a:rPr lang="en-US" sz="1000" b="0" i="0" u="none" strike="noStrike" kern="1200" cap="none" spc="0" baseline="0" dirty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 </a:t>
              </a:r>
              <a:r>
                <a:rPr lang="en-US" sz="1000" b="0" i="0" u="none" strike="noStrike" kern="1200" cap="none" spc="0" baseline="0" dirty="0" err="1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zadziała</a:t>
              </a:r>
              <a:r>
                <a:rPr lang="en-US" sz="1000" b="0" i="0" u="none" strike="noStrike" kern="1200" cap="none" spc="0" baseline="0" dirty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 bez </a:t>
              </a:r>
              <a:r>
                <a:rPr lang="en-US" sz="1000" b="0" i="0" u="none" strike="noStrike" kern="1200" cap="none" spc="0" baseline="0" dirty="0" err="1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przeszkolonego</a:t>
              </a:r>
              <a:r>
                <a:rPr lang="en-US" sz="1000" b="0" i="0" u="none" strike="noStrike" kern="1200" cap="none" spc="0" baseline="0" dirty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 </a:t>
              </a:r>
              <a:r>
                <a:rPr lang="en-US" sz="1000" b="0" i="0" u="none" strike="noStrike" kern="1200" cap="none" spc="0" baseline="0" dirty="0" err="1" smtClean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personelu</a:t>
              </a:r>
              <a:r>
                <a:rPr lang="pl-PL" sz="1000" dirty="0" smtClean="0"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.</a:t>
              </a:r>
              <a:r>
                <a:rPr lang="en-US" sz="1000" b="0" i="0" u="none" strike="noStrike" kern="1200" cap="none" spc="0" baseline="0" dirty="0" smtClean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 </a:t>
              </a:r>
              <a:r>
                <a:rPr lang="en-US" sz="1000" b="0" i="0" u="none" strike="noStrike" kern="1200" cap="none" spc="0" baseline="0" dirty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3-miesięczny plan </a:t>
              </a:r>
              <a:r>
                <a:rPr lang="en-US" sz="1000" b="0" i="0" u="none" strike="noStrike" kern="1200" cap="none" spc="0" baseline="0" dirty="0" err="1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wdrożenia</a:t>
              </a:r>
              <a:r>
                <a:rPr lang="en-US" sz="1000" b="0" i="0" u="none" strike="noStrike" kern="1200" cap="none" spc="0" baseline="0" dirty="0">
                  <a:ln>
                    <a:noFill/>
                  </a:ln>
                  <a:solidFill>
                    <a:srgbClr val="475569"/>
                  </a:solidFill>
                  <a:latin typeface="Calibri" pitchFamily="34"/>
                  <a:ea typeface="Calibri" pitchFamily="34"/>
                  <a:cs typeface="Calibri" pitchFamily="34"/>
                </a:rPr>
                <a:t>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2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"/>
          <p:cNvSpPr/>
          <p:nvPr/>
        </p:nvSpPr>
        <p:spPr>
          <a:xfrm>
            <a:off x="0" y="360"/>
            <a:ext cx="9144000" cy="658440"/>
          </a:xfrm>
          <a:prstGeom prst="rect">
            <a:avLst/>
          </a:prstGeom>
          <a:solidFill>
            <a:srgbClr val="1A254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0"/>
          <p:cNvSpPr/>
          <p:nvPr/>
        </p:nvSpPr>
        <p:spPr>
          <a:xfrm>
            <a:off x="0" y="0"/>
            <a:ext cx="9144000" cy="54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4880"/>
            <a:ext cx="8229600" cy="502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1" i="0" u="none" strike="noStrike" kern="1200" cap="none" spc="0" baseline="0">
                <a:ln>
                  <a:noFill/>
                </a:ln>
                <a:solidFill>
                  <a:srgbClr val="FFFFFF"/>
                </a:solidFill>
                <a:latin typeface="Cambria" pitchFamily="34"/>
                <a:ea typeface="Cambria" pitchFamily="34"/>
                <a:cs typeface="Cambria" pitchFamily="34"/>
              </a:rPr>
              <a:t>Trendy i Podsumowanie</a:t>
            </a:r>
          </a:p>
        </p:txBody>
      </p:sp>
      <p:sp>
        <p:nvSpPr>
          <p:cNvPr id="5" name="Shape 2"/>
          <p:cNvSpPr/>
          <p:nvPr/>
        </p:nvSpPr>
        <p:spPr>
          <a:xfrm>
            <a:off x="320040" y="822960"/>
            <a:ext cx="2743199" cy="868679"/>
          </a:xfrm>
          <a:prstGeom prst="rect">
            <a:avLst/>
          </a:prstGeom>
          <a:solidFill>
            <a:srgbClr val="243570"/>
          </a:solidFill>
          <a:ln w="12600" cap="flat">
            <a:solidFill>
              <a:srgbClr val="0EA5E9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20040" y="822960"/>
            <a:ext cx="2743199" cy="36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4"/>
          <p:cNvSpPr/>
          <p:nvPr/>
        </p:nvSpPr>
        <p:spPr>
          <a:xfrm>
            <a:off x="429840" y="914400"/>
            <a:ext cx="257868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1" i="0" u="none" strike="noStrike" kern="1200" cap="none" spc="0" baseline="0">
                <a:ln>
                  <a:noFill/>
                </a:ln>
                <a:solidFill>
                  <a:srgbClr val="0EA5E9"/>
                </a:solidFill>
                <a:latin typeface="Cambria" pitchFamily="34"/>
                <a:ea typeface="Cambria" pitchFamily="34"/>
                <a:cs typeface="Cambria" pitchFamily="34"/>
              </a:rPr>
              <a:t>Matter Standard</a:t>
            </a:r>
          </a:p>
        </p:txBody>
      </p:sp>
      <p:sp>
        <p:nvSpPr>
          <p:cNvPr id="8" name="Text 5"/>
          <p:cNvSpPr/>
          <p:nvPr/>
        </p:nvSpPr>
        <p:spPr>
          <a:xfrm>
            <a:off x="429840" y="1188719"/>
            <a:ext cx="2578680" cy="43883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CADCFC"/>
                </a:solidFill>
                <a:latin typeface="Calibri" pitchFamily="34"/>
                <a:ea typeface="Calibri" pitchFamily="34"/>
                <a:cs typeface="Calibri" pitchFamily="34"/>
              </a:rPr>
              <a:t>Nowy unified protocol (Apple/Google/Amazon/Samsung) — jeden ekosystem smart home</a:t>
            </a:r>
          </a:p>
        </p:txBody>
      </p:sp>
      <p:sp>
        <p:nvSpPr>
          <p:cNvPr id="9" name="Shape 6"/>
          <p:cNvSpPr/>
          <p:nvPr/>
        </p:nvSpPr>
        <p:spPr>
          <a:xfrm>
            <a:off x="3200400" y="822960"/>
            <a:ext cx="2743199" cy="868679"/>
          </a:xfrm>
          <a:prstGeom prst="rect">
            <a:avLst/>
          </a:prstGeom>
          <a:solidFill>
            <a:srgbClr val="243570"/>
          </a:solidFill>
          <a:ln w="12600" cap="flat">
            <a:solidFill>
              <a:srgbClr val="0D9488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200400" y="822960"/>
            <a:ext cx="2743199" cy="3672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310200" y="914400"/>
            <a:ext cx="257868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1" i="0" u="none" strike="noStrike" kern="1200" cap="none" spc="0" baseline="0">
                <a:ln>
                  <a:noFill/>
                </a:ln>
                <a:solidFill>
                  <a:srgbClr val="0D9488"/>
                </a:solidFill>
                <a:latin typeface="Cambria" pitchFamily="34"/>
                <a:ea typeface="Cambria" pitchFamily="34"/>
                <a:cs typeface="Cambria" pitchFamily="34"/>
              </a:rPr>
              <a:t>AI/ML na urządzeniu</a:t>
            </a:r>
          </a:p>
        </p:txBody>
      </p:sp>
      <p:sp>
        <p:nvSpPr>
          <p:cNvPr id="12" name="Text 9"/>
          <p:cNvSpPr/>
          <p:nvPr/>
        </p:nvSpPr>
        <p:spPr>
          <a:xfrm>
            <a:off x="3310200" y="1188719"/>
            <a:ext cx="2578680" cy="43883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CADCFC"/>
                </a:solidFill>
                <a:latin typeface="Calibri" pitchFamily="34"/>
                <a:ea typeface="Calibri" pitchFamily="34"/>
                <a:cs typeface="Calibri" pitchFamily="34"/>
              </a:rPr>
              <a:t>TFLite, CoreML, LiteRT — coraz potężniejsze modele działające offline na mobile</a:t>
            </a:r>
          </a:p>
        </p:txBody>
      </p:sp>
      <p:sp>
        <p:nvSpPr>
          <p:cNvPr id="13" name="Shape 10"/>
          <p:cNvSpPr/>
          <p:nvPr/>
        </p:nvSpPr>
        <p:spPr>
          <a:xfrm>
            <a:off x="6080760" y="822960"/>
            <a:ext cx="2743199" cy="868679"/>
          </a:xfrm>
          <a:prstGeom prst="rect">
            <a:avLst/>
          </a:prstGeom>
          <a:solidFill>
            <a:srgbClr val="243570"/>
          </a:solidFill>
          <a:ln w="12600" cap="flat">
            <a:solidFill>
              <a:srgbClr val="10B981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080760" y="822960"/>
            <a:ext cx="2743199" cy="36720"/>
          </a:xfrm>
          <a:prstGeom prst="rect">
            <a:avLst/>
          </a:prstGeom>
          <a:solidFill>
            <a:srgbClr val="10B981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190560" y="914400"/>
            <a:ext cx="257868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1" i="0" u="none" strike="noStrike" kern="1200" cap="none" spc="0" baseline="0">
                <a:ln>
                  <a:noFill/>
                </a:ln>
                <a:solidFill>
                  <a:srgbClr val="10B981"/>
                </a:solidFill>
                <a:latin typeface="Cambria" pitchFamily="34"/>
                <a:ea typeface="Cambria" pitchFamily="34"/>
                <a:cs typeface="Cambria" pitchFamily="34"/>
              </a:rPr>
              <a:t>5G + NB-IoT</a:t>
            </a:r>
          </a:p>
        </p:txBody>
      </p:sp>
      <p:sp>
        <p:nvSpPr>
          <p:cNvPr id="16" name="Text 13"/>
          <p:cNvSpPr/>
          <p:nvPr/>
        </p:nvSpPr>
        <p:spPr>
          <a:xfrm>
            <a:off x="6190560" y="1188719"/>
            <a:ext cx="2578680" cy="43883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CADCFC"/>
                </a:solidFill>
                <a:latin typeface="Calibri" pitchFamily="34"/>
                <a:ea typeface="Calibri" pitchFamily="34"/>
                <a:cs typeface="Calibri" pitchFamily="34"/>
              </a:rPr>
              <a:t>Ultra-niska latencja 5G dla krytycznych zastosowań, NB-IoT dla masowych deploymentów</a:t>
            </a:r>
          </a:p>
        </p:txBody>
      </p:sp>
      <p:sp>
        <p:nvSpPr>
          <p:cNvPr id="17" name="Shape 14"/>
          <p:cNvSpPr/>
          <p:nvPr/>
        </p:nvSpPr>
        <p:spPr>
          <a:xfrm>
            <a:off x="320040" y="1810440"/>
            <a:ext cx="2743199" cy="868679"/>
          </a:xfrm>
          <a:prstGeom prst="rect">
            <a:avLst/>
          </a:prstGeom>
          <a:solidFill>
            <a:srgbClr val="243570"/>
          </a:solidFill>
          <a:ln w="12600" cap="flat">
            <a:solidFill>
              <a:srgbClr val="F59E0B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20040" y="1810440"/>
            <a:ext cx="2743199" cy="36720"/>
          </a:xfrm>
          <a:prstGeom prst="rect">
            <a:avLst/>
          </a:prstGeom>
          <a:solidFill>
            <a:srgbClr val="F59E0B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29840" y="1901880"/>
            <a:ext cx="257868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1" i="0" u="none" strike="noStrike" kern="1200" cap="none" spc="0" baseline="0">
                <a:ln>
                  <a:noFill/>
                </a:ln>
                <a:solidFill>
                  <a:srgbClr val="F59E0B"/>
                </a:solidFill>
                <a:latin typeface="Cambria" pitchFamily="34"/>
                <a:ea typeface="Cambria" pitchFamily="34"/>
                <a:cs typeface="Cambria" pitchFamily="34"/>
              </a:rPr>
              <a:t>Digital Twins</a:t>
            </a:r>
          </a:p>
        </p:txBody>
      </p:sp>
      <p:sp>
        <p:nvSpPr>
          <p:cNvPr id="20" name="Text 17"/>
          <p:cNvSpPr/>
          <p:nvPr/>
        </p:nvSpPr>
        <p:spPr>
          <a:xfrm>
            <a:off x="429840" y="2176200"/>
            <a:ext cx="2578680" cy="43883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CADCFC"/>
                </a:solidFill>
                <a:latin typeface="Calibri" pitchFamily="34"/>
                <a:ea typeface="Calibri" pitchFamily="34"/>
                <a:cs typeface="Calibri" pitchFamily="34"/>
              </a:rPr>
              <a:t>Wirtualne repliki urządzeń fizycznych — symulacja, predykcja awarii, optymalizacja</a:t>
            </a:r>
          </a:p>
        </p:txBody>
      </p:sp>
      <p:sp>
        <p:nvSpPr>
          <p:cNvPr id="21" name="Shape 18"/>
          <p:cNvSpPr/>
          <p:nvPr/>
        </p:nvSpPr>
        <p:spPr>
          <a:xfrm>
            <a:off x="3200400" y="1810440"/>
            <a:ext cx="2743199" cy="868679"/>
          </a:xfrm>
          <a:prstGeom prst="rect">
            <a:avLst/>
          </a:prstGeom>
          <a:solidFill>
            <a:srgbClr val="243570"/>
          </a:solidFill>
          <a:ln w="12600" cap="flat">
            <a:solidFill>
              <a:srgbClr val="1E5FA8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200400" y="1810440"/>
            <a:ext cx="2743199" cy="36720"/>
          </a:xfrm>
          <a:prstGeom prst="rect">
            <a:avLst/>
          </a:prstGeom>
          <a:solidFill>
            <a:srgbClr val="1E5FA8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310200" y="1901880"/>
            <a:ext cx="257868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1" i="0" u="none" strike="noStrike" kern="1200" cap="none" spc="0" baseline="0">
                <a:ln>
                  <a:noFill/>
                </a:ln>
                <a:solidFill>
                  <a:srgbClr val="1E5FA8"/>
                </a:solidFill>
                <a:latin typeface="Cambria" pitchFamily="34"/>
                <a:ea typeface="Cambria" pitchFamily="34"/>
                <a:cs typeface="Cambria" pitchFamily="34"/>
              </a:rPr>
              <a:t>Edge AI Chips</a:t>
            </a:r>
          </a:p>
        </p:txBody>
      </p:sp>
      <p:sp>
        <p:nvSpPr>
          <p:cNvPr id="24" name="Text 21"/>
          <p:cNvSpPr/>
          <p:nvPr/>
        </p:nvSpPr>
        <p:spPr>
          <a:xfrm>
            <a:off x="3310200" y="2176200"/>
            <a:ext cx="2578680" cy="43883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CADCFC"/>
                </a:solidFill>
                <a:latin typeface="Calibri" pitchFamily="34"/>
                <a:ea typeface="Calibri" pitchFamily="34"/>
                <a:cs typeface="Calibri" pitchFamily="34"/>
              </a:rPr>
              <a:t>Apple Neural Engine, Google Edge TPU, ARM Ethos — dedykowany hardware AI na urządzeniach</a:t>
            </a:r>
          </a:p>
        </p:txBody>
      </p:sp>
      <p:sp>
        <p:nvSpPr>
          <p:cNvPr id="25" name="Shape 22"/>
          <p:cNvSpPr/>
          <p:nvPr/>
        </p:nvSpPr>
        <p:spPr>
          <a:xfrm>
            <a:off x="6080760" y="1810440"/>
            <a:ext cx="2743199" cy="868679"/>
          </a:xfrm>
          <a:prstGeom prst="rect">
            <a:avLst/>
          </a:prstGeom>
          <a:solidFill>
            <a:srgbClr val="243570"/>
          </a:solidFill>
          <a:ln w="12600" cap="flat">
            <a:solidFill>
              <a:srgbClr val="EF4444"/>
            </a:solidFill>
            <a:prstDash val="solid"/>
            <a:miter/>
          </a:ln>
        </p:spPr>
        <p:txBody>
          <a:bodyPr vert="horz" wrap="square" lIns="96120" tIns="51120" rIns="96120" bIns="5112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080760" y="1810440"/>
            <a:ext cx="2743199" cy="36720"/>
          </a:xfrm>
          <a:prstGeom prst="rect">
            <a:avLst/>
          </a:prstGeom>
          <a:solidFill>
            <a:srgbClr val="EF4444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190560" y="1901880"/>
            <a:ext cx="257868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1" i="0" u="none" strike="noStrike" kern="1200" cap="none" spc="0" baseline="0">
                <a:ln>
                  <a:noFill/>
                </a:ln>
                <a:solidFill>
                  <a:srgbClr val="EF4444"/>
                </a:solidFill>
                <a:latin typeface="Cambria" pitchFamily="34"/>
                <a:ea typeface="Cambria" pitchFamily="34"/>
                <a:cs typeface="Cambria" pitchFamily="34"/>
              </a:rPr>
              <a:t>WebAssembly IoT</a:t>
            </a:r>
          </a:p>
        </p:txBody>
      </p:sp>
      <p:sp>
        <p:nvSpPr>
          <p:cNvPr id="28" name="Text 25"/>
          <p:cNvSpPr/>
          <p:nvPr/>
        </p:nvSpPr>
        <p:spPr>
          <a:xfrm>
            <a:off x="6190560" y="2176200"/>
            <a:ext cx="2578680" cy="43883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 spc="0" baseline="0">
                <a:ln>
                  <a:noFill/>
                </a:ln>
                <a:solidFill>
                  <a:srgbClr val="CADCFC"/>
                </a:solidFill>
                <a:latin typeface="Calibri" pitchFamily="34"/>
                <a:ea typeface="Calibri" pitchFamily="34"/>
                <a:cs typeface="Calibri" pitchFamily="34"/>
              </a:rPr>
              <a:t>WASM jako universal runtime — jedna logika biznesowa na mikrokontrolery, mobile i cloud</a:t>
            </a:r>
          </a:p>
        </p:txBody>
      </p:sp>
      <p:sp>
        <p:nvSpPr>
          <p:cNvPr id="29" name="Shape 26"/>
          <p:cNvSpPr/>
          <p:nvPr/>
        </p:nvSpPr>
        <p:spPr>
          <a:xfrm>
            <a:off x="320040" y="2834640"/>
            <a:ext cx="8503920" cy="36720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20040" y="2944440"/>
            <a:ext cx="850392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rgbClr val="000000"/>
                </a:solidFill>
              </a:defRPr>
            </a:pPr>
            <a:r>
              <a:rPr lang="en-US" sz="1400" b="1" i="0" u="none" strike="noStrike" kern="1200" cap="none" spc="0" baseline="0" dirty="0" err="1">
                <a:ln>
                  <a:noFill/>
                </a:ln>
                <a:solidFill>
                  <a:schemeClr val="bg1"/>
                </a:solidFill>
                <a:latin typeface="Cambria" pitchFamily="34"/>
                <a:ea typeface="Cambria" pitchFamily="34"/>
                <a:cs typeface="Cambria" pitchFamily="34"/>
              </a:rPr>
              <a:t>Kluczowe</a:t>
            </a:r>
            <a:r>
              <a:rPr lang="en-US" sz="1400" b="1" i="0" u="none" strike="noStrike" kern="1200" cap="none" spc="0" baseline="0" dirty="0">
                <a:ln>
                  <a:noFill/>
                </a:ln>
                <a:solidFill>
                  <a:schemeClr val="bg1"/>
                </a:solidFill>
                <a:latin typeface="Cambria" pitchFamily="34"/>
                <a:ea typeface="Cambria" pitchFamily="34"/>
                <a:cs typeface="Cambria" pitchFamily="34"/>
              </a:rPr>
              <a:t> </a:t>
            </a:r>
            <a:r>
              <a:rPr lang="en-US" sz="1400" b="1" i="0" u="none" strike="noStrike" kern="1200" cap="none" spc="0" baseline="0" dirty="0" err="1">
                <a:ln>
                  <a:noFill/>
                </a:ln>
                <a:solidFill>
                  <a:schemeClr val="bg1"/>
                </a:solidFill>
                <a:latin typeface="Cambria" pitchFamily="34"/>
                <a:ea typeface="Cambria" pitchFamily="34"/>
                <a:cs typeface="Cambria" pitchFamily="34"/>
              </a:rPr>
              <a:t>wnioski</a:t>
            </a:r>
            <a:r>
              <a:rPr lang="en-US" sz="1400" b="1" i="0" u="none" strike="noStrike" kern="1200" cap="none" spc="0" baseline="0" dirty="0">
                <a:ln>
                  <a:noFill/>
                </a:ln>
                <a:solidFill>
                  <a:schemeClr val="bg1"/>
                </a:solidFill>
                <a:latin typeface="Cambria" pitchFamily="34"/>
                <a:ea typeface="Cambria" pitchFamily="34"/>
                <a:cs typeface="Cambria" pitchFamily="34"/>
              </a:rPr>
              <a:t> </a:t>
            </a:r>
            <a:r>
              <a:rPr lang="en-US" sz="1400" b="1" i="0" u="none" strike="noStrike" kern="1200" cap="none" spc="0" baseline="0" dirty="0" err="1">
                <a:ln>
                  <a:noFill/>
                </a:ln>
                <a:solidFill>
                  <a:schemeClr val="bg1"/>
                </a:solidFill>
                <a:latin typeface="Cambria" pitchFamily="34"/>
                <a:ea typeface="Cambria" pitchFamily="34"/>
                <a:cs typeface="Cambria" pitchFamily="34"/>
              </a:rPr>
              <a:t>wykładu</a:t>
            </a:r>
            <a:r>
              <a:rPr lang="en-US" sz="1400" b="1" i="0" u="none" strike="noStrike" kern="1200" cap="none" spc="0" baseline="0" dirty="0">
                <a:ln>
                  <a:noFill/>
                </a:ln>
                <a:solidFill>
                  <a:schemeClr val="bg1"/>
                </a:solidFill>
                <a:latin typeface="Cambria" pitchFamily="34"/>
                <a:ea typeface="Cambria" pitchFamily="34"/>
                <a:cs typeface="Cambria" pitchFamily="34"/>
              </a:rPr>
              <a:t>:</a:t>
            </a:r>
          </a:p>
        </p:txBody>
      </p:sp>
      <p:sp>
        <p:nvSpPr>
          <p:cNvPr id="31" name="Shape 28"/>
          <p:cNvSpPr/>
          <p:nvPr/>
        </p:nvSpPr>
        <p:spPr>
          <a:xfrm>
            <a:off x="320040" y="3310200"/>
            <a:ext cx="137160" cy="137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530280" y="3291839"/>
            <a:ext cx="822960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rgbClr val="000000"/>
                </a:solidFill>
              </a:defRPr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chemeClr val="bg1"/>
                </a:solidFill>
                <a:latin typeface="Calibri" pitchFamily="34"/>
                <a:ea typeface="Calibri" pitchFamily="34"/>
                <a:cs typeface="Calibri" pitchFamily="34"/>
              </a:rPr>
              <a:t>MQTT + TLS = fundament bezpiecznej komunikacji IoT dla aplikacji mobilnych</a:t>
            </a:r>
          </a:p>
        </p:txBody>
      </p:sp>
      <p:sp>
        <p:nvSpPr>
          <p:cNvPr id="33" name="Shape 30"/>
          <p:cNvSpPr/>
          <p:nvPr/>
        </p:nvSpPr>
        <p:spPr>
          <a:xfrm>
            <a:off x="320040" y="3584520"/>
            <a:ext cx="137160" cy="137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530280" y="3566160"/>
            <a:ext cx="822960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rgbClr val="000000"/>
                </a:solidFill>
              </a:defRPr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chemeClr val="bg1"/>
                </a:solidFill>
                <a:latin typeface="Calibri" pitchFamily="34"/>
                <a:ea typeface="Calibri" pitchFamily="34"/>
                <a:cs typeface="Calibri" pitchFamily="34"/>
              </a:rPr>
              <a:t>Architektura MVVM/Clean Architecture z offline-first to standard produkcyjny</a:t>
            </a:r>
          </a:p>
        </p:txBody>
      </p:sp>
      <p:sp>
        <p:nvSpPr>
          <p:cNvPr id="35" name="Shape 32"/>
          <p:cNvSpPr/>
          <p:nvPr/>
        </p:nvSpPr>
        <p:spPr>
          <a:xfrm>
            <a:off x="320040" y="3858840"/>
            <a:ext cx="137160" cy="137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530280" y="3840479"/>
            <a:ext cx="822960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rgbClr val="000000"/>
                </a:solidFill>
              </a:defRPr>
            </a:pPr>
            <a:r>
              <a:rPr lang="en-US" sz="1200" b="0" i="0" u="none" strike="noStrike" kern="1200" cap="none" spc="0" baseline="0">
                <a:ln>
                  <a:noFill/>
                </a:ln>
                <a:solidFill>
                  <a:schemeClr val="bg1"/>
                </a:solidFill>
                <a:latin typeface="Calibri" pitchFamily="34"/>
                <a:ea typeface="Calibri" pitchFamily="34"/>
                <a:cs typeface="Calibri" pitchFamily="34"/>
              </a:rPr>
              <a:t>Edge computing i ML on-device zmniejszają latencję i koszty transmisji</a:t>
            </a:r>
          </a:p>
        </p:txBody>
      </p:sp>
      <p:sp>
        <p:nvSpPr>
          <p:cNvPr id="37" name="Shape 34"/>
          <p:cNvSpPr/>
          <p:nvPr/>
        </p:nvSpPr>
        <p:spPr>
          <a:xfrm>
            <a:off x="320040" y="4133160"/>
            <a:ext cx="137160" cy="137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0"/>
              <a:gd name="f10" fmla="abs f4"/>
              <a:gd name="f11" fmla="abs f5"/>
              <a:gd name="f12" fmla="abs f6"/>
              <a:gd name="f13" fmla="val f7"/>
              <a:gd name="f14" fmla="+- 2700000 f2 0"/>
              <a:gd name="f15" fmla="*/ f9 f1 1"/>
              <a:gd name="f16" fmla="?: f10 f4 1"/>
              <a:gd name="f17" fmla="?: f11 f5 1"/>
              <a:gd name="f18" fmla="?: f12 f6 1"/>
              <a:gd name="f19" fmla="*/ f14 f8 1"/>
              <a:gd name="f20" fmla="*/ f15 1 f3"/>
              <a:gd name="f21" fmla="*/ f16 1 21600"/>
              <a:gd name="f22" fmla="*/ f17 1 21600"/>
              <a:gd name="f23" fmla="*/ 21600 f16 1"/>
              <a:gd name="f24" fmla="*/ 21600 f17 1"/>
              <a:gd name="f25" fmla="*/ f19 1 f1"/>
              <a:gd name="f26" fmla="+- f20 0 f2"/>
              <a:gd name="f27" fmla="min f22 f21"/>
              <a:gd name="f28" fmla="*/ f23 1 f18"/>
              <a:gd name="f29" fmla="*/ f24 1 f18"/>
              <a:gd name="f30" fmla="+- 0 0 f25"/>
              <a:gd name="f31" fmla="val f28"/>
              <a:gd name="f32" fmla="val f29"/>
              <a:gd name="f33" fmla="+- 0 0 f30"/>
              <a:gd name="f34" fmla="*/ f13 f27 1"/>
              <a:gd name="f35" fmla="+- f32 0 f13"/>
              <a:gd name="f36" fmla="+- f31 0 f13"/>
              <a:gd name="f37" fmla="*/ f33 f1 1"/>
              <a:gd name="f38" fmla="*/ f35 1 2"/>
              <a:gd name="f39" fmla="*/ f36 1 2"/>
              <a:gd name="f40" fmla="*/ f37 1 f8"/>
              <a:gd name="f41" fmla="+- f13 f38 0"/>
              <a:gd name="f42" fmla="+- f13 f39 0"/>
              <a:gd name="f43" fmla="+- f40 0 f2"/>
              <a:gd name="f44" fmla="*/ f39 f27 1"/>
              <a:gd name="f45" fmla="*/ f38 f27 1"/>
              <a:gd name="f46" fmla="cos 1 f43"/>
              <a:gd name="f47" fmla="sin 1 f43"/>
              <a:gd name="f48" fmla="*/ f41 f27 1"/>
              <a:gd name="f49" fmla="+- 0 0 f46"/>
              <a:gd name="f50" fmla="+- 0 0 f47"/>
              <a:gd name="f51" fmla="+- 0 0 f49"/>
              <a:gd name="f52" fmla="+- 0 0 f50"/>
              <a:gd name="f53" fmla="*/ f51 f39 1"/>
              <a:gd name="f54" fmla="*/ f52 f38 1"/>
              <a:gd name="f55" fmla="+- f42 0 f53"/>
              <a:gd name="f56" fmla="+- f42 f53 0"/>
              <a:gd name="f57" fmla="+- f41 0 f54"/>
              <a:gd name="f58" fmla="+- f41 f54 0"/>
              <a:gd name="f59" fmla="*/ f55 f27 1"/>
              <a:gd name="f60" fmla="*/ f57 f27 1"/>
              <a:gd name="f61" fmla="*/ f56 f27 1"/>
              <a:gd name="f62" fmla="*/ f58 f2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">
                <a:pos x="f59" y="f60"/>
              </a:cxn>
              <a:cxn ang="f26">
                <a:pos x="f59" y="f62"/>
              </a:cxn>
              <a:cxn ang="f26">
                <a:pos x="f61" y="f62"/>
              </a:cxn>
              <a:cxn ang="f26">
                <a:pos x="f61" y="f60"/>
              </a:cxn>
            </a:cxnLst>
            <a:rect l="f59" t="f60" r="f61" b="f62"/>
            <a:pathLst>
              <a:path>
                <a:moveTo>
                  <a:pt x="f34" y="f48"/>
                </a:moveTo>
                <a:arcTo wR="f44" hR="f45" stAng="f1" swAng="f0"/>
                <a:close/>
              </a:path>
            </a:pathLst>
          </a:cu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530280" y="4114800"/>
            <a:ext cx="8229600" cy="255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rgbClr val="000000"/>
                </a:solidFill>
              </a:defRPr>
            </a:pP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chemeClr val="bg1"/>
                </a:solidFill>
                <a:latin typeface="Calibri" pitchFamily="34"/>
                <a:ea typeface="Calibri" pitchFamily="34"/>
                <a:cs typeface="Calibri" pitchFamily="34"/>
              </a:rPr>
              <a:t>Security by Design —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chemeClr val="bg1"/>
                </a:solidFill>
                <a:latin typeface="Calibri" pitchFamily="34"/>
                <a:ea typeface="Calibri" pitchFamily="34"/>
                <a:cs typeface="Calibri" pitchFamily="34"/>
              </a:rPr>
              <a:t>bezpieczeństwo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chemeClr val="bg1"/>
                </a:solidFill>
                <a:latin typeface="Calibri" pitchFamily="34"/>
                <a:ea typeface="Calibri" pitchFamily="34"/>
                <a:cs typeface="Calibri" pitchFamily="34"/>
              </a:rPr>
              <a:t> od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chemeClr val="bg1"/>
                </a:solidFill>
                <a:latin typeface="Calibri" pitchFamily="34"/>
                <a:ea typeface="Calibri" pitchFamily="34"/>
                <a:cs typeface="Calibri" pitchFamily="34"/>
              </a:rPr>
              <a:t>pierwszego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chemeClr val="bg1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chemeClr val="bg1"/>
                </a:solidFill>
                <a:latin typeface="Calibri" pitchFamily="34"/>
                <a:ea typeface="Calibri" pitchFamily="34"/>
                <a:cs typeface="Calibri" pitchFamily="34"/>
              </a:rPr>
              <a:t>dnia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chemeClr val="bg1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chemeClr val="bg1"/>
                </a:solidFill>
                <a:latin typeface="Calibri" pitchFamily="34"/>
                <a:ea typeface="Calibri" pitchFamily="34"/>
                <a:cs typeface="Calibri" pitchFamily="34"/>
              </a:rPr>
              <a:t>projektu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chemeClr val="bg1"/>
                </a:solidFill>
                <a:latin typeface="Calibri" pitchFamily="34"/>
                <a:ea typeface="Calibri" pitchFamily="34"/>
                <a:cs typeface="Calibri" pitchFamily="34"/>
              </a:rPr>
              <a:t>,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chemeClr val="bg1"/>
                </a:solidFill>
                <a:latin typeface="Calibri" pitchFamily="34"/>
                <a:ea typeface="Calibri" pitchFamily="34"/>
                <a:cs typeface="Calibri" pitchFamily="34"/>
              </a:rPr>
              <a:t>nie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chemeClr val="bg1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chemeClr val="bg1"/>
                </a:solidFill>
                <a:latin typeface="Calibri" pitchFamily="34"/>
                <a:ea typeface="Calibri" pitchFamily="34"/>
                <a:cs typeface="Calibri" pitchFamily="34"/>
              </a:rPr>
              <a:t>na</a:t>
            </a:r>
            <a:r>
              <a:rPr lang="en-US" sz="1200" b="0" i="0" u="none" strike="noStrike" kern="1200" cap="none" spc="0" baseline="0" dirty="0">
                <a:ln>
                  <a:noFill/>
                </a:ln>
                <a:solidFill>
                  <a:schemeClr val="bg1"/>
                </a:solidFill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00" b="0" i="0" u="none" strike="noStrike" kern="1200" cap="none" spc="0" baseline="0" dirty="0" err="1">
                <a:ln>
                  <a:noFill/>
                </a:ln>
                <a:solidFill>
                  <a:schemeClr val="bg1"/>
                </a:solidFill>
                <a:latin typeface="Calibri" pitchFamily="34"/>
                <a:ea typeface="Calibri" pitchFamily="34"/>
                <a:cs typeface="Calibri" pitchFamily="34"/>
              </a:rPr>
              <a:t>końcu</a:t>
            </a:r>
            <a:endParaRPr lang="en-US" sz="1200" b="0" i="0" u="none" strike="noStrike" kern="1200" cap="none" spc="0" baseline="0" dirty="0">
              <a:ln>
                <a:noFill/>
              </a:ln>
              <a:solidFill>
                <a:schemeClr val="bg1"/>
              </a:solidFill>
              <a:latin typeface="Calibri" pitchFamily="34"/>
              <a:ea typeface="Calibri" pitchFamily="34"/>
              <a:cs typeface="Calibri" pitchFamily="34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3200400" y="4498920"/>
            <a:ext cx="2743199" cy="438839"/>
          </a:xfrm>
          <a:prstGeom prst="rect">
            <a:avLst/>
          </a:prstGeom>
          <a:solidFill>
            <a:srgbClr val="0EA5E9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3200400" y="4544640"/>
            <a:ext cx="2743199" cy="347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1" i="0" u="none" strike="noStrike" kern="1200" cap="none" spc="0" baseline="0">
                <a:ln>
                  <a:noFill/>
                </a:ln>
                <a:solidFill>
                  <a:srgbClr val="1A2547"/>
                </a:solidFill>
                <a:latin typeface="Cambria" pitchFamily="34"/>
                <a:ea typeface="Cambria" pitchFamily="34"/>
                <a:cs typeface="Cambria" pitchFamily="34"/>
              </a:rPr>
              <a:t>Pytania, dyskusja i koniec</a:t>
            </a:r>
          </a:p>
        </p:txBody>
      </p:sp>
      <p:sp>
        <p:nvSpPr>
          <p:cNvPr id="41" name="Shape 38"/>
          <p:cNvSpPr/>
          <p:nvPr/>
        </p:nvSpPr>
        <p:spPr>
          <a:xfrm>
            <a:off x="0" y="4983480"/>
            <a:ext cx="9144000" cy="160200"/>
          </a:xfrm>
          <a:prstGeom prst="rect">
            <a:avLst/>
          </a:prstGeom>
          <a:solidFill>
            <a:srgbClr val="0F172A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4835</Words>
  <Application>Microsoft Office PowerPoint</Application>
  <PresentationFormat>Panoramiczny</PresentationFormat>
  <Paragraphs>886</Paragraphs>
  <Slides>30</Slides>
  <Notes>30</Notes>
  <HiddenSlides>0</HiddenSlides>
  <MMClips>0</MMClips>
  <ScaleCrop>false</ScaleCrop>
  <HeadingPairs>
    <vt:vector size="6" baseType="variant">
      <vt:variant>
        <vt:lpstr>Używane czcionki</vt:lpstr>
      </vt:variant>
      <vt:variant>
        <vt:i4>11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30</vt:i4>
      </vt:variant>
    </vt:vector>
  </HeadingPairs>
  <TitlesOfParts>
    <vt:vector size="42" baseType="lpstr">
      <vt:lpstr>Arial</vt:lpstr>
      <vt:lpstr>Calibri</vt:lpstr>
      <vt:lpstr>Cambria</vt:lpstr>
      <vt:lpstr>Consolas</vt:lpstr>
      <vt:lpstr>DejaVu Sans</vt:lpstr>
      <vt:lpstr>Liberation Sans</vt:lpstr>
      <vt:lpstr>Liberation Serif</vt:lpstr>
      <vt:lpstr>Noto Sans</vt:lpstr>
      <vt:lpstr>Noto Sans CJK SC</vt:lpstr>
      <vt:lpstr>Noto Sans Devanagari</vt:lpstr>
      <vt:lpstr>Source Code Pro Medium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Programowanie Aplikacji Mobilnych współpracujących z IoT</dc:title>
  <dc:subject>PptxGenJS Presentation</dc:subject>
  <dc:creator>Mateusz Pomianek</dc:creator>
  <cp:keywords>mobile</cp:keywords>
  <cp:lastModifiedBy>Mateusz Pomianek</cp:lastModifiedBy>
  <cp:revision>46</cp:revision>
  <dcterms:created xsi:type="dcterms:W3CDTF">2026-02-21T21:11:45Z</dcterms:created>
  <dcterms:modified xsi:type="dcterms:W3CDTF">2026-03-14T18:04:06Z</dcterms:modified>
</cp:coreProperties>
</file>